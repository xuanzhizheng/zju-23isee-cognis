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0" r:id="rId2"/>
    <p:sldId id="294" r:id="rId3"/>
    <p:sldId id="264" r:id="rId4"/>
    <p:sldId id="274" r:id="rId5"/>
    <p:sldId id="303" r:id="rId6"/>
    <p:sldId id="302" r:id="rId7"/>
    <p:sldId id="275" r:id="rId8"/>
    <p:sldId id="277" r:id="rId9"/>
    <p:sldId id="285" r:id="rId10"/>
    <p:sldId id="284" r:id="rId11"/>
    <p:sldId id="279" r:id="rId12"/>
    <p:sldId id="300" r:id="rId13"/>
    <p:sldId id="301" r:id="rId14"/>
    <p:sldId id="304" r:id="rId15"/>
    <p:sldId id="305" r:id="rId16"/>
    <p:sldId id="307" r:id="rId17"/>
    <p:sldId id="308" r:id="rId18"/>
    <p:sldId id="290" r:id="rId19"/>
    <p:sldId id="292" r:id="rId20"/>
    <p:sldId id="293" r:id="rId21"/>
    <p:sldId id="296" r:id="rId22"/>
    <p:sldId id="297" r:id="rId23"/>
    <p:sldId id="298" r:id="rId24"/>
    <p:sldId id="299" r:id="rId25"/>
    <p:sldId id="295" r:id="rId26"/>
    <p:sldId id="309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6.wmf"/><Relationship Id="rId1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6D138-CB73-476B-8B3B-C2999613A641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5ECFA-E260-414B-85F2-0878586CA2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331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E5ECFA-E260-414B-85F2-0878586CA23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880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E5ECFA-E260-414B-85F2-0878586CA23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836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E5ECFA-E260-414B-85F2-0878586CA23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572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E5ECFA-E260-414B-85F2-0878586CA23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661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ADFA7-8893-4024-94B8-E8C17722B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221203E-4506-4376-84B7-96AF07844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9139C3-D868-4797-B6F7-3302E6805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0EB7-065E-44CB-83DD-B67E64674AE5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D487B7-51EA-4D21-A808-DF6A44129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sunlight@zju.edu.cn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DF8DBE-45D7-4F24-89AB-D96F58B93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693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37BBB-3B85-414C-A52B-A75D84C7E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A8664A-2EEE-438D-9195-3F5AC6164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CEC4D6-7708-4CAF-B9A1-0C4D3245A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0B89-FC0D-4E1A-BC1C-1F48BC2CD5E7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8AB0A5-B045-4656-B31D-7FC8157D1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sunlight@zju.edu.cn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155A7B-9B3A-4626-A0C5-00DDBA2F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743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EB7687-B00C-4B04-A016-F95C6151F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63E829-FF02-4019-804D-F05E799FD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ADE13B-8120-40C5-89C9-7B06AD2B1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6EE9-DF72-4015-9C5C-4BE70D597518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DFF1A6-804D-4B9A-BD3E-79936D619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sunlight@zju.edu.cn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A32DF-6BF5-417C-A214-FE3D033D1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15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CDB28-3D6F-4FC8-BE6D-04E229DD8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E4659D-F8C5-411B-A91F-A14F7F2E1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39FC9D-E869-4932-BCDF-577A2FD1C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155F42-8CA9-4F8D-A1C4-6FFECBB91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98FB5-5B69-479F-9136-10EC4C00E54B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14514E-FEE7-4F5A-89FD-324F439CE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sunlight@zju.edu.cn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71D630-885E-486A-8EF2-CA077730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21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0AEC3-2087-4FEC-867A-F93A0A615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0CECA0-14BA-47F0-8697-3941B4C44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7F2E05-6973-4F1B-BE94-7D7C70FE3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4EE6F3-E732-454C-8AEE-266D3900E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0692E7-3DEC-46DA-B756-A8251082DC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5BEEF4E-177D-4330-9B6A-30E9C5266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FD93-867B-4024-9A8F-FDAD6B47BD1D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0279ABD-F719-4F70-B1F3-82A4F40E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sunlight@zju.edu.cn</a:t>
            </a: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817602-A242-4C63-9CF2-6F8B004E9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416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6A424-C552-4A59-BFBC-AA9346F9B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28C751-4781-45B7-B0FA-81A45F45F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FBEB0-93BF-484F-9E90-1B403FA1D7E8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0E8A5D-81F1-4EDA-9345-5459A842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sunlight@zju.edu.cn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E6FE07-646E-4C00-88FF-3E522B93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3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B0C796-44FF-4143-91D5-4054B5F2B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D770-B5E2-4E59-BD95-F259BC736097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8EE9CB-9DD2-4045-8464-18F125CC0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sunlight@zju.edu.cn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8B80F0-6D63-4970-96A6-8459B6D0E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234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559EFC-A207-40BC-BA4E-6D59A94DB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B49ED2-EFB6-4522-B24F-E56D5156D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DA6300-BF88-4F30-B6DB-AD26309FA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5FD565-54E8-411F-BC1F-5789FC932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EA2D-7393-48B8-8F2D-23B7DEFEA1D7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529F2F-57FC-4DEF-83A1-0AE5BDDE9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sunlight@zju.edu.cn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AC17E4-FE6D-4337-AD3F-706BBFD9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31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536839-E5D6-4A47-B681-2F39FC22C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6F74429-05F9-455D-B743-EC7259BA2F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A61427-C750-4687-BC18-13CF1EAD7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7012C0-85DC-4547-9E0D-A52D8019E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CABCD-3479-45A5-95B6-30F3CC4DFAF0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3D72A6-CF2C-430A-AC16-DC838B13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sunlight@zju.edu.cn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203C0D-AB0D-496D-9401-34B674359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0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CD26A-6B79-4121-AFDF-8C04190D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E16516-FD02-4A99-A736-B3B35A115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2C485D-CB69-45AE-B02F-869C27505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88EF-440F-4C15-B9CA-C486C2C6E792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61F25A-DD8A-4F0F-AEDE-2A6B2306B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sunlight@zju.edu.cn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1D6D28-1BFA-4C58-9171-9187B00B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593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749B7C-2963-4148-A81F-664C9C2EF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41FB9B-A715-4D76-A0DD-E6AC14B25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8EAADC-C233-464D-9C5A-B54180699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2E8E-9F56-4C75-9A21-8AC6183F4604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D101BF-BABA-4E90-8B1A-E7082F6D0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sunlight@zju.edu.cn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1303C0-484F-4EF2-9204-4CD749CFA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954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C232A93-A78A-49DB-AA57-4EB83493F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096902-01F6-4164-B678-CE475BB61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82A4CA-7163-4D7E-B6E0-BA26EA9B9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D77DF-E0A5-4FE8-A51D-6F23A9C4AB6D}" type="datetime1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22DEFF-497A-4646-AA33-28751D844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sunlight@zju.edu.cn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7922BE-C1D5-480B-B24F-D3FCA780B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9FEBF-AC71-4656-A920-65DEEE39B6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65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9.jpeg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png"/><Relationship Id="rId5" Type="http://schemas.openxmlformats.org/officeDocument/2006/relationships/image" Target="../media/image32.emf"/><Relationship Id="rId4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3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3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image" Target="../media/image39.wmf"/><Relationship Id="rId3" Type="http://schemas.openxmlformats.org/officeDocument/2006/relationships/image" Target="../media/image40.png"/><Relationship Id="rId7" Type="http://schemas.openxmlformats.org/officeDocument/2006/relationships/oleObject" Target="../embeddings/oleObject8.bin"/><Relationship Id="rId12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8.wmf"/><Relationship Id="rId11" Type="http://schemas.openxmlformats.org/officeDocument/2006/relationships/image" Target="../media/image44.png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43.png"/><Relationship Id="rId4" Type="http://schemas.openxmlformats.org/officeDocument/2006/relationships/image" Target="../media/image41.png"/><Relationship Id="rId9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48.png"/><Relationship Id="rId7" Type="http://schemas.openxmlformats.org/officeDocument/2006/relationships/image" Target="../media/image4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4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9.wmf"/><Relationship Id="rId11" Type="http://schemas.openxmlformats.org/officeDocument/2006/relationships/image" Target="../media/image51.wmf"/><Relationship Id="rId5" Type="http://schemas.openxmlformats.org/officeDocument/2006/relationships/oleObject" Target="../embeddings/oleObject15.bin"/><Relationship Id="rId10" Type="http://schemas.openxmlformats.org/officeDocument/2006/relationships/oleObject" Target="../embeddings/oleObject17.bin"/><Relationship Id="rId4" Type="http://schemas.openxmlformats.org/officeDocument/2006/relationships/image" Target="../media/image53.png"/><Relationship Id="rId9" Type="http://schemas.openxmlformats.org/officeDocument/2006/relationships/image" Target="../media/image5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7.png"/><Relationship Id="rId5" Type="http://schemas.openxmlformats.org/officeDocument/2006/relationships/image" Target="../media/image55.wmf"/><Relationship Id="rId4" Type="http://schemas.openxmlformats.org/officeDocument/2006/relationships/oleObject" Target="../embeddings/oleObject18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" y="180300"/>
            <a:ext cx="1933575" cy="6381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D01C12B-A717-4D9A-AB62-1450A70DB819}"/>
              </a:ext>
            </a:extLst>
          </p:cNvPr>
          <p:cNvSpPr/>
          <p:nvPr/>
        </p:nvSpPr>
        <p:spPr>
          <a:xfrm>
            <a:off x="2607828" y="1169265"/>
            <a:ext cx="5886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实验：示波器的使用</a:t>
            </a:r>
            <a:endParaRPr lang="zh-CN" altLang="en-US" sz="3600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82DDF4C-62CF-44F2-822E-D4203824D6CD}"/>
              </a:ext>
            </a:extLst>
          </p:cNvPr>
          <p:cNvSpPr txBox="1"/>
          <p:nvPr/>
        </p:nvSpPr>
        <p:spPr>
          <a:xfrm>
            <a:off x="2607828" y="2292627"/>
            <a:ext cx="852114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一、示波器的历史</a:t>
            </a:r>
            <a:endParaRPr lang="en-US" altLang="zh-CN" sz="3200" b="1" dirty="0">
              <a:solidFill>
                <a:srgbClr val="002060"/>
              </a:solidFill>
            </a:endParaRPr>
          </a:p>
          <a:p>
            <a:r>
              <a:rPr lang="zh-CN" altLang="en-US" sz="3200" b="1" dirty="0">
                <a:solidFill>
                  <a:srgbClr val="002060"/>
                </a:solidFill>
              </a:rPr>
              <a:t>二、示波器及应用原理</a:t>
            </a:r>
            <a:endParaRPr lang="en-US" altLang="zh-CN" sz="3200" b="1" dirty="0">
              <a:solidFill>
                <a:srgbClr val="002060"/>
              </a:solidFill>
            </a:endParaRPr>
          </a:p>
          <a:p>
            <a:r>
              <a:rPr lang="zh-CN" altLang="en-US" sz="3200" b="1" dirty="0">
                <a:solidFill>
                  <a:srgbClr val="002060"/>
                </a:solidFill>
              </a:rPr>
              <a:t>三、实验设备介绍</a:t>
            </a:r>
            <a:endParaRPr lang="en-US" altLang="zh-CN" sz="3200" b="1" dirty="0">
              <a:solidFill>
                <a:srgbClr val="002060"/>
              </a:solidFill>
            </a:endParaRPr>
          </a:p>
          <a:p>
            <a:r>
              <a:rPr lang="zh-CN" altLang="en-US" sz="3200" b="1" dirty="0">
                <a:solidFill>
                  <a:srgbClr val="002060"/>
                </a:solidFill>
              </a:rPr>
              <a:t>四、实验内容</a:t>
            </a:r>
            <a:endParaRPr lang="en-US" altLang="zh-CN" sz="3200" b="1" dirty="0">
              <a:solidFill>
                <a:srgbClr val="00206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34CC914-A00C-4EC5-A8CA-A7C21F393E62}"/>
              </a:ext>
            </a:extLst>
          </p:cNvPr>
          <p:cNvSpPr txBox="1"/>
          <p:nvPr/>
        </p:nvSpPr>
        <p:spPr>
          <a:xfrm>
            <a:off x="4174435" y="5228223"/>
            <a:ext cx="5758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浙大物理实验教学</a:t>
            </a:r>
            <a:r>
              <a:rPr lang="zh-CN" altLang="en-US" sz="28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中心</a:t>
            </a:r>
            <a:endParaRPr lang="zh-CN" altLang="en-US" sz="28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85428FE-48AE-4602-983A-271B346D0ECA}"/>
              </a:ext>
            </a:extLst>
          </p:cNvPr>
          <p:cNvCxnSpPr>
            <a:cxnSpLocks/>
          </p:cNvCxnSpPr>
          <p:nvPr/>
        </p:nvCxnSpPr>
        <p:spPr>
          <a:xfrm>
            <a:off x="4174435" y="5880531"/>
            <a:ext cx="654657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6C8B420-8EB9-4326-B694-47A72FB5545B}"/>
              </a:ext>
            </a:extLst>
          </p:cNvPr>
          <p:cNvCxnSpPr/>
          <p:nvPr/>
        </p:nvCxnSpPr>
        <p:spPr>
          <a:xfrm>
            <a:off x="4174435" y="6082748"/>
            <a:ext cx="5022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087D321-D737-46A7-B162-9279CC3DFBBE}"/>
              </a:ext>
            </a:extLst>
          </p:cNvPr>
          <p:cNvCxnSpPr>
            <a:cxnSpLocks/>
          </p:cNvCxnSpPr>
          <p:nvPr/>
        </p:nvCxnSpPr>
        <p:spPr>
          <a:xfrm>
            <a:off x="4174435" y="6294783"/>
            <a:ext cx="36045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567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428" y="565680"/>
            <a:ext cx="3684235" cy="274253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1183728"/>
            <a:ext cx="3454906" cy="229751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4204528"/>
            <a:ext cx="3586948" cy="168797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643" y="3958831"/>
            <a:ext cx="3623804" cy="217591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1" name="矩形 10"/>
          <p:cNvSpPr/>
          <p:nvPr/>
        </p:nvSpPr>
        <p:spPr>
          <a:xfrm>
            <a:off x="1027662" y="3589499"/>
            <a:ext cx="26052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Hospitalier</a:t>
            </a: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zh-CN" altLang="en-US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波形记录器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82337" y="6136738"/>
            <a:ext cx="4113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 dirty="0">
                <a:solidFill>
                  <a:srgbClr val="333333"/>
                </a:solidFill>
                <a:latin typeface="Helvetica" panose="020B0604020202020204" pitchFamily="34" charset="0"/>
              </a:rPr>
              <a:t>ART-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333333"/>
                </a:solidFill>
                <a:latin typeface="Helvetica" panose="020B0604020202020204" pitchFamily="34" charset="0"/>
              </a:rPr>
              <a:t>Analog Real Time Oscilloscopes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7805588" y="6174463"/>
            <a:ext cx="37625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 dirty="0">
                <a:solidFill>
                  <a:srgbClr val="333333"/>
                </a:solidFill>
                <a:latin typeface="Helvetica" panose="020B0604020202020204" pitchFamily="34" charset="0"/>
              </a:rPr>
              <a:t>DSO-Digital Storage Oscilloscopes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8581056" y="3365119"/>
            <a:ext cx="23775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0" i="0" dirty="0">
                <a:solidFill>
                  <a:srgbClr val="4D4D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CRT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示波器，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1950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154" y="1249392"/>
            <a:ext cx="3274764" cy="3724240"/>
          </a:xfrm>
          <a:prstGeom prst="rect">
            <a:avLst/>
          </a:prstGeom>
          <a:ln w="31750">
            <a:solidFill>
              <a:srgbClr val="FF0000"/>
            </a:solidFill>
          </a:ln>
        </p:spPr>
      </p:pic>
      <p:sp>
        <p:nvSpPr>
          <p:cNvPr id="16" name="矩形 15"/>
          <p:cNvSpPr/>
          <p:nvPr/>
        </p:nvSpPr>
        <p:spPr>
          <a:xfrm>
            <a:off x="4459603" y="5010789"/>
            <a:ext cx="2855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kern="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（</a:t>
            </a:r>
            <a:r>
              <a:rPr lang="en-US" altLang="zh-CN" b="1" kern="0" dirty="0">
                <a:solidFill>
                  <a:srgbClr val="FF0000"/>
                </a:solidFill>
                <a:latin typeface="Helvetica" panose="020B0604020202020204" pitchFamily="34" charset="0"/>
              </a:rPr>
              <a:t>Braun KF,1850-1918</a:t>
            </a:r>
            <a:r>
              <a:rPr lang="zh-CN" altLang="zh-CN" b="1" kern="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）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37A834-5909-46A6-9AEB-B4ABE958519E}"/>
              </a:ext>
            </a:extLst>
          </p:cNvPr>
          <p:cNvSpPr/>
          <p:nvPr/>
        </p:nvSpPr>
        <p:spPr>
          <a:xfrm>
            <a:off x="4795964" y="5417278"/>
            <a:ext cx="23612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诺贝尔奖获得者、德国物理学家</a:t>
            </a:r>
            <a:r>
              <a:rPr lang="en-US" altLang="zh-CN" dirty="0"/>
              <a:t>K.F.</a:t>
            </a:r>
            <a:r>
              <a:rPr lang="zh-CN" altLang="zh-CN" dirty="0"/>
              <a:t>布劳恩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01C12B-A717-4D9A-AB62-1450A70DB819}"/>
              </a:ext>
            </a:extLst>
          </p:cNvPr>
          <p:cNvSpPr/>
          <p:nvPr/>
        </p:nvSpPr>
        <p:spPr>
          <a:xfrm>
            <a:off x="382779" y="272424"/>
            <a:ext cx="61107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一、实验背景：示波器的历史</a:t>
            </a:r>
            <a:endParaRPr lang="zh-CN" altLang="en-US" sz="3200" dirty="0">
              <a:highlight>
                <a:srgbClr val="FFFF00"/>
              </a:highlight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3DB31DE-135A-4216-863C-8C0237B7A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9518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493438A-4D46-488C-8D25-527200604AD8}"/>
              </a:ext>
            </a:extLst>
          </p:cNvPr>
          <p:cNvSpPr/>
          <p:nvPr/>
        </p:nvSpPr>
        <p:spPr>
          <a:xfrm>
            <a:off x="751268" y="889334"/>
            <a:ext cx="106894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示波器能 将振荡信号以 波形（正弦波、 方波、锯齿波） 显示在荧光屏 上。它由</a:t>
            </a:r>
            <a:r>
              <a:rPr lang="zh-CN" altLang="en-US" sz="2800" dirty="0">
                <a:solidFill>
                  <a:srgbClr val="FF0000"/>
                </a:solidFill>
              </a:rPr>
              <a:t>示波管、 放大器（包括 </a:t>
            </a:r>
            <a:r>
              <a:rPr lang="en-US" altLang="zh-CN" sz="2800" dirty="0">
                <a:solidFill>
                  <a:srgbClr val="FF0000"/>
                </a:solidFill>
              </a:rPr>
              <a:t>X </a:t>
            </a:r>
            <a:r>
              <a:rPr lang="zh-CN" altLang="en-US" sz="2800" dirty="0">
                <a:solidFill>
                  <a:srgbClr val="FF0000"/>
                </a:solidFill>
              </a:rPr>
              <a:t>轴放大和 </a:t>
            </a:r>
            <a:r>
              <a:rPr lang="en-US" altLang="zh-CN" sz="2800" dirty="0">
                <a:solidFill>
                  <a:srgbClr val="FF0000"/>
                </a:solidFill>
              </a:rPr>
              <a:t>Y </a:t>
            </a:r>
            <a:r>
              <a:rPr lang="zh-CN" altLang="en-US" sz="2800" dirty="0">
                <a:solidFill>
                  <a:srgbClr val="FF0000"/>
                </a:solidFill>
              </a:rPr>
              <a:t>轴 放大）、扫描与 触发同步系统 和电源</a:t>
            </a:r>
            <a:r>
              <a:rPr lang="zh-CN" altLang="en-US" sz="2800" dirty="0"/>
              <a:t>四个基 本部分组成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83824A-2E31-46AA-BBB0-787377064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052" y="2274329"/>
            <a:ext cx="7458075" cy="382905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ADD51D4-24A4-4F81-B946-0B2ECCD575CE}"/>
              </a:ext>
            </a:extLst>
          </p:cNvPr>
          <p:cNvSpPr txBox="1"/>
          <p:nvPr/>
        </p:nvSpPr>
        <p:spPr>
          <a:xfrm>
            <a:off x="296215" y="167705"/>
            <a:ext cx="4845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二、示波器及应用原理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150E76-48B2-44AC-8215-DF2B993AC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192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3BCC7E-F8E1-4AE1-A010-2D5567384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BB1E7E-5AB6-4B6D-87A4-5A7FD95E5D94}"/>
              </a:ext>
            </a:extLst>
          </p:cNvPr>
          <p:cNvSpPr txBox="1"/>
          <p:nvPr/>
        </p:nvSpPr>
        <p:spPr>
          <a:xfrm>
            <a:off x="1096247" y="931284"/>
            <a:ext cx="4565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0000"/>
                </a:solidFill>
                <a:highlight>
                  <a:srgbClr val="FFFF00"/>
                </a:highlight>
              </a:rPr>
              <a:t>偏转系统</a:t>
            </a:r>
            <a:endParaRPr lang="zh-CN" altLang="en-US" sz="3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114697" y="452572"/>
            <a:ext cx="5467703" cy="4123857"/>
            <a:chOff x="3241140" y="2670772"/>
            <a:chExt cx="6255946" cy="4123857"/>
          </a:xfrm>
        </p:grpSpPr>
        <p:pic>
          <p:nvPicPr>
            <p:cNvPr id="13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 l="16646" t="25289" r="42698" b="17945"/>
            <a:stretch>
              <a:fillRect/>
            </a:stretch>
          </p:blipFill>
          <p:spPr bwMode="auto">
            <a:xfrm>
              <a:off x="3241140" y="2684768"/>
              <a:ext cx="6255946" cy="41098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矩形 13"/>
            <p:cNvSpPr/>
            <p:nvPr/>
          </p:nvSpPr>
          <p:spPr>
            <a:xfrm>
              <a:off x="4671588" y="2670772"/>
              <a:ext cx="2906162" cy="2172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4493438A-4D46-488C-8D25-527200604AD8}"/>
              </a:ext>
            </a:extLst>
          </p:cNvPr>
          <p:cNvSpPr/>
          <p:nvPr/>
        </p:nvSpPr>
        <p:spPr>
          <a:xfrm>
            <a:off x="1096247" y="2674041"/>
            <a:ext cx="475790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偏转</a:t>
            </a:r>
            <a:r>
              <a:rPr lang="zh-CN" altLang="en-US" sz="2800" dirty="0"/>
              <a:t>系统由一对金属板组成，板上加电压将影响电子运动轨迹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493438A-4D46-488C-8D25-527200604AD8}"/>
              </a:ext>
            </a:extLst>
          </p:cNvPr>
          <p:cNvSpPr/>
          <p:nvPr/>
        </p:nvSpPr>
        <p:spPr>
          <a:xfrm>
            <a:off x="1096247" y="4926637"/>
            <a:ext cx="98169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通过</a:t>
            </a:r>
            <a:r>
              <a:rPr lang="zh-CN" altLang="en-US" sz="2800" dirty="0"/>
              <a:t>两板之间的</a:t>
            </a:r>
            <a:r>
              <a:rPr lang="zh-CN" altLang="en-US" sz="2800" dirty="0" smtClean="0"/>
              <a:t>电子束</a:t>
            </a:r>
            <a:r>
              <a:rPr lang="zh-CN" altLang="en-US" sz="2800" dirty="0"/>
              <a:t>受电场</a:t>
            </a:r>
            <a:r>
              <a:rPr lang="zh-CN" altLang="en-US" sz="2800" dirty="0" smtClean="0"/>
              <a:t>力作</a:t>
            </a:r>
            <a:r>
              <a:rPr lang="zh-CN" altLang="en-US" sz="2800" dirty="0"/>
              <a:t>用</a:t>
            </a:r>
            <a:r>
              <a:rPr lang="zh-CN" altLang="en-US" sz="2800" dirty="0" smtClean="0"/>
              <a:t>发生</a:t>
            </a:r>
            <a:r>
              <a:rPr lang="zh-CN" altLang="en-US" sz="2800" dirty="0"/>
              <a:t>偏转，使荧光屏的亮点发生位移</a:t>
            </a:r>
            <a:r>
              <a:rPr lang="zh-CN" altLang="en-US" sz="2800" dirty="0" smtClean="0"/>
              <a:t>。</a:t>
            </a:r>
            <a:r>
              <a:rPr lang="zh-CN" altLang="en-US" sz="2800" dirty="0" smtClean="0">
                <a:solidFill>
                  <a:srgbClr val="FF0000"/>
                </a:solidFill>
              </a:rPr>
              <a:t>亮点</a:t>
            </a:r>
            <a:r>
              <a:rPr lang="zh-CN" altLang="en-US" sz="2800" dirty="0">
                <a:solidFill>
                  <a:srgbClr val="FF0000"/>
                </a:solidFill>
              </a:rPr>
              <a:t>的偏转位移与加在偏转板间的电压</a:t>
            </a:r>
            <a:r>
              <a:rPr lang="zh-CN" altLang="en-US" sz="2800" dirty="0" smtClean="0">
                <a:solidFill>
                  <a:srgbClr val="FF0000"/>
                </a:solidFill>
              </a:rPr>
              <a:t>成正比。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81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3BCC7E-F8E1-4AE1-A010-2D5567384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BB1E7E-5AB6-4B6D-87A4-5A7FD95E5D94}"/>
              </a:ext>
            </a:extLst>
          </p:cNvPr>
          <p:cNvSpPr txBox="1"/>
          <p:nvPr/>
        </p:nvSpPr>
        <p:spPr>
          <a:xfrm>
            <a:off x="1096247" y="931284"/>
            <a:ext cx="4565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0000"/>
                </a:solidFill>
                <a:highlight>
                  <a:srgbClr val="FFFF00"/>
                </a:highlight>
              </a:rPr>
              <a:t>扫描原理</a:t>
            </a:r>
            <a:endParaRPr lang="en-US" altLang="zh-CN" sz="3200" dirty="0">
              <a:solidFill>
                <a:srgbClr val="FF0000"/>
              </a:solidFill>
            </a:endParaRPr>
          </a:p>
          <a:p>
            <a:endParaRPr lang="zh-CN" altLang="en-US" sz="3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0" name="Picture 4" descr="..\AA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8274" y="2037411"/>
            <a:ext cx="5538382" cy="3505200"/>
          </a:xfrm>
          <a:prstGeom prst="rect">
            <a:avLst/>
          </a:prstGeom>
          <a:noFill/>
          <a:ln w="38100">
            <a:solidFill>
              <a:schemeClr val="accent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493438A-4D46-488C-8D25-527200604AD8}"/>
              </a:ext>
            </a:extLst>
          </p:cNvPr>
          <p:cNvSpPr/>
          <p:nvPr/>
        </p:nvSpPr>
        <p:spPr>
          <a:xfrm>
            <a:off x="798074" y="2666626"/>
            <a:ext cx="36745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在</a:t>
            </a:r>
            <a:r>
              <a:rPr lang="en-US" altLang="zh-CN" sz="2800" dirty="0"/>
              <a:t>X</a:t>
            </a:r>
            <a:r>
              <a:rPr lang="zh-CN" altLang="en-US" sz="2800" dirty="0"/>
              <a:t>通道上加有扫描电压的同时，如果在</a:t>
            </a:r>
            <a:r>
              <a:rPr lang="en-US" altLang="zh-CN" sz="2800" dirty="0"/>
              <a:t>Y</a:t>
            </a:r>
            <a:r>
              <a:rPr lang="zh-CN" altLang="en-US" sz="2800" dirty="0"/>
              <a:t>轴上加上待测的正弦变化电压</a:t>
            </a:r>
            <a:r>
              <a:rPr lang="en-US" altLang="zh-CN" sz="2800" dirty="0" smtClean="0"/>
              <a:t>U</a:t>
            </a:r>
            <a:r>
              <a:rPr lang="zh-CN" altLang="en-US" sz="2800" dirty="0" smtClean="0"/>
              <a:t>，就</a:t>
            </a:r>
            <a:r>
              <a:rPr lang="zh-CN" altLang="en-US" sz="2800" dirty="0"/>
              <a:t>可以使</a:t>
            </a:r>
            <a:r>
              <a:rPr lang="en-US" altLang="zh-CN" sz="2800" dirty="0"/>
              <a:t>U</a:t>
            </a:r>
            <a:r>
              <a:rPr lang="zh-CN" altLang="en-US" sz="2800" dirty="0"/>
              <a:t>沿水平轴展开。</a:t>
            </a:r>
          </a:p>
          <a:p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88223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61614A4-6107-42EE-B891-018D042EFD9F}"/>
              </a:ext>
            </a:extLst>
          </p:cNvPr>
          <p:cNvSpPr txBox="1"/>
          <p:nvPr/>
        </p:nvSpPr>
        <p:spPr>
          <a:xfrm>
            <a:off x="372861" y="257452"/>
            <a:ext cx="10235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信号周期为扫描周期的整数倍时，例如信号周期等于扫描周期时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90323A-DE80-403B-B307-3C8A3C4ED9F5}"/>
              </a:ext>
            </a:extLst>
          </p:cNvPr>
          <p:cNvSpPr txBox="1"/>
          <p:nvPr/>
        </p:nvSpPr>
        <p:spPr>
          <a:xfrm>
            <a:off x="574783" y="6273225"/>
            <a:ext cx="55212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理论上可行，实际上做不到！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3BCC7E-F8E1-4AE1-A010-2D5567384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BD7B777-1C36-4DBF-8F3A-D75BAC963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83" y="780672"/>
            <a:ext cx="9753600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34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787D5BE-EFA1-4769-8C05-CFDA1A926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30" y="832736"/>
            <a:ext cx="9283822" cy="3308596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0BEC4B9B-1EAE-4175-80A7-F477A29B4531}"/>
              </a:ext>
            </a:extLst>
          </p:cNvPr>
          <p:cNvGrpSpPr/>
          <p:nvPr/>
        </p:nvGrpSpPr>
        <p:grpSpPr>
          <a:xfrm>
            <a:off x="3056554" y="849250"/>
            <a:ext cx="6762146" cy="1352550"/>
            <a:chOff x="3056554" y="849250"/>
            <a:chExt cx="6762146" cy="1352550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995D1A61-D64A-473B-B93A-BA54C4716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6554" y="849250"/>
              <a:ext cx="6581775" cy="135255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5C133D6-1232-4014-B597-AAC4784CC1B9}"/>
                </a:ext>
              </a:extLst>
            </p:cNvPr>
            <p:cNvSpPr txBox="1"/>
            <p:nvPr/>
          </p:nvSpPr>
          <p:spPr>
            <a:xfrm>
              <a:off x="3848466" y="1029814"/>
              <a:ext cx="59702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1                   2                  3                   4                   5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49EAFB7-2457-4636-8849-22D5203052DC}"/>
              </a:ext>
            </a:extLst>
          </p:cNvPr>
          <p:cNvGrpSpPr/>
          <p:nvPr/>
        </p:nvGrpSpPr>
        <p:grpSpPr>
          <a:xfrm>
            <a:off x="6013115" y="3859658"/>
            <a:ext cx="3462892" cy="2925547"/>
            <a:chOff x="6048625" y="3753126"/>
            <a:chExt cx="3462892" cy="2925547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63A9A4A1-103E-43C4-95F8-F6FC3F03E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48625" y="3753126"/>
              <a:ext cx="3462892" cy="2925547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0D71B54-71D1-491D-AE0E-8BE607EA479D}"/>
                </a:ext>
              </a:extLst>
            </p:cNvPr>
            <p:cNvSpPr txBox="1"/>
            <p:nvPr/>
          </p:nvSpPr>
          <p:spPr>
            <a:xfrm>
              <a:off x="6489481" y="4177252"/>
              <a:ext cx="211298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</a:p>
            <a:p>
              <a:endParaRPr lang="en-US" altLang="zh-CN" dirty="0">
                <a:solidFill>
                  <a:srgbClr val="FF0000"/>
                </a:solidFill>
              </a:endParaRPr>
            </a:p>
            <a:p>
              <a:r>
                <a:rPr lang="en-US" altLang="zh-CN" dirty="0">
                  <a:solidFill>
                    <a:srgbClr val="FF0000"/>
                  </a:solidFill>
                </a:rPr>
                <a:t> 2</a:t>
              </a:r>
            </a:p>
            <a:p>
              <a:r>
                <a:rPr lang="en-US" altLang="zh-CN" dirty="0">
                  <a:solidFill>
                    <a:srgbClr val="FF0000"/>
                  </a:solidFill>
                </a:rPr>
                <a:t>    3</a:t>
              </a:r>
            </a:p>
            <a:p>
              <a:r>
                <a:rPr lang="en-US" altLang="zh-CN" dirty="0">
                  <a:solidFill>
                    <a:srgbClr val="FF0000"/>
                  </a:solidFill>
                </a:rPr>
                <a:t>       4</a:t>
              </a:r>
            </a:p>
            <a:p>
              <a:r>
                <a:rPr lang="en-US" altLang="zh-CN" dirty="0">
                  <a:solidFill>
                    <a:srgbClr val="FF0000"/>
                  </a:solidFill>
                </a:rPr>
                <a:t>          5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AF94920-A15F-4CB1-8081-0D19BDED06B2}"/>
              </a:ext>
            </a:extLst>
          </p:cNvPr>
          <p:cNvCxnSpPr>
            <a:cxnSpLocks/>
          </p:cNvCxnSpPr>
          <p:nvPr/>
        </p:nvCxnSpPr>
        <p:spPr>
          <a:xfrm>
            <a:off x="7146476" y="3979971"/>
            <a:ext cx="90552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28B8313D-C744-44E9-8704-6FD1B8C0307D}"/>
              </a:ext>
            </a:extLst>
          </p:cNvPr>
          <p:cNvSpPr txBox="1"/>
          <p:nvPr/>
        </p:nvSpPr>
        <p:spPr>
          <a:xfrm>
            <a:off x="372861" y="257452"/>
            <a:ext cx="10235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信号周期略大于扫描周期时，波形右移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CCCEE4-BDA2-455E-AF96-ED828278C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1130" y="4474706"/>
            <a:ext cx="1609725" cy="16954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45714DF-17DE-417F-BD78-690C2A63B6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0299" y="4418860"/>
            <a:ext cx="1514475" cy="16192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55CC5D7-3D7C-4347-B408-54BA8A25AD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0323" y="4617581"/>
            <a:ext cx="1400175" cy="12858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DFC7837-78B1-42FD-AA94-FD6184CDE1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3660" y="4665206"/>
            <a:ext cx="1333500" cy="123825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FABDE3F-4262-4D56-B5F8-29AD09AFE1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1285" y="4702654"/>
            <a:ext cx="1352550" cy="1266825"/>
          </a:xfrm>
          <a:prstGeom prst="rect">
            <a:avLst/>
          </a:prstGeom>
        </p:spPr>
      </p:pic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E2FC5BE7-B433-437B-B9C4-68FFBDF0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14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59CDCE3F-FC92-4675-A6BC-0E6899A82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897" y="705763"/>
            <a:ext cx="8705850" cy="32670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5134AFD-F5D1-43C1-A237-23179CFC0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334" y="607187"/>
            <a:ext cx="8562975" cy="32766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15AFBB0-683E-4A7D-BC62-2BB601396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6633" y="3882448"/>
            <a:ext cx="1140920" cy="11070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A696149-CBE0-4450-B21F-3D9722B50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023" y="3884250"/>
            <a:ext cx="1133104" cy="10994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B17621-8590-444C-8A68-580677BE9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300" y="3884250"/>
            <a:ext cx="1133104" cy="109944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7B6E035-55D2-4706-868B-7595F51DF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82" y="3892434"/>
            <a:ext cx="1133104" cy="109944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BE24835-41C6-4DBC-9C90-F0C5CD75E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184" y="3972838"/>
            <a:ext cx="2572528" cy="249611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1F25222-63E1-4096-B0D5-621843A1ACD6}"/>
              </a:ext>
            </a:extLst>
          </p:cNvPr>
          <p:cNvSpPr txBox="1"/>
          <p:nvPr/>
        </p:nvSpPr>
        <p:spPr>
          <a:xfrm>
            <a:off x="337350" y="22412"/>
            <a:ext cx="729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触发扫描同步，可获得稳定的波形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1C64B2-7E42-4129-89EF-B163357247BB}"/>
              </a:ext>
            </a:extLst>
          </p:cNvPr>
          <p:cNvSpPr txBox="1"/>
          <p:nvPr/>
        </p:nvSpPr>
        <p:spPr>
          <a:xfrm>
            <a:off x="3324548" y="4529757"/>
            <a:ext cx="4968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1                   2                   3                  4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0A4CD222-3EA6-442E-97A5-72341C7C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99046E-6C1E-43F9-B88E-A1686DBC3389}"/>
              </a:ext>
            </a:extLst>
          </p:cNvPr>
          <p:cNvSpPr txBox="1"/>
          <p:nvPr/>
        </p:nvSpPr>
        <p:spPr>
          <a:xfrm>
            <a:off x="1007615" y="5539666"/>
            <a:ext cx="6915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思考：获得一个稳定波形的原理？</a:t>
            </a:r>
            <a:r>
              <a:rPr lang="zh-CN" altLang="en-US" sz="2400" dirty="0">
                <a:solidFill>
                  <a:srgbClr val="FF0000"/>
                </a:solidFill>
              </a:rPr>
              <a:t>理解触发同步</a:t>
            </a:r>
          </a:p>
        </p:txBody>
      </p:sp>
    </p:spTree>
    <p:extLst>
      <p:ext uri="{BB962C8B-B14F-4D97-AF65-F5344CB8AC3E}">
        <p14:creationId xmlns:p14="http://schemas.microsoft.com/office/powerpoint/2010/main" val="172401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232FCA3-26E5-40B5-8E13-7A4315F93672}"/>
              </a:ext>
            </a:extLst>
          </p:cNvPr>
          <p:cNvSpPr txBox="1"/>
          <p:nvPr/>
        </p:nvSpPr>
        <p:spPr>
          <a:xfrm>
            <a:off x="379055" y="1027439"/>
            <a:ext cx="42381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FF0000"/>
                </a:solidFill>
              </a:rPr>
              <a:t>       </a:t>
            </a:r>
            <a:r>
              <a:rPr lang="zh-CN" altLang="en-US" sz="2000" dirty="0">
                <a:solidFill>
                  <a:srgbClr val="FF0000"/>
                </a:solidFill>
              </a:rPr>
              <a:t>相互垂直的两个振动的叠加，出现李萨如图；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12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       当相位差恒定，两者的振动频率是质数比时，可以获得一个稳定的李萨如图，可作于测量频率。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134722F-7DA0-4A2B-960C-57F8718C2A9D}"/>
                  </a:ext>
                </a:extLst>
              </p:cNvPr>
              <p:cNvSpPr txBox="1"/>
              <p:nvPr/>
            </p:nvSpPr>
            <p:spPr>
              <a:xfrm>
                <a:off x="758596" y="3233135"/>
                <a:ext cx="3508603" cy="13665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CN" sz="5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CN" sz="5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5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5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5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5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5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5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den>
                        </m:f>
                      </m:e>
                    </m:box>
                  </m:oMath>
                </a14:m>
                <a:r>
                  <a:rPr lang="en-US" altLang="zh-CN" sz="5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5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5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5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5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5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5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5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5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5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5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5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5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5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5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5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5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134722F-7DA0-4A2B-960C-57F8718C2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96" y="3233135"/>
                <a:ext cx="3508603" cy="1366593"/>
              </a:xfrm>
              <a:prstGeom prst="rect">
                <a:avLst/>
              </a:prstGeom>
              <a:blipFill>
                <a:blip r:embed="rId3"/>
                <a:stretch>
                  <a:fillRect t="-2667" b="-3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77BA5A44-9230-420D-BB64-58337BA69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87" y="238125"/>
            <a:ext cx="6372225" cy="6619875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163D49-CB4D-4C2A-A6E2-5417CED73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9</a:t>
            </a:fld>
            <a:endParaRPr lang="zh-CN" altLang="en-US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4F22CA6-30C8-420A-ABD7-3DC408847B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263002"/>
              </p:ext>
            </p:extLst>
          </p:nvPr>
        </p:nvGraphicFramePr>
        <p:xfrm>
          <a:off x="758596" y="4806692"/>
          <a:ext cx="2435177" cy="1549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7" name="Equation" r:id="rId5" imgW="698400" imgH="444240" progId="Equation.DSMT4">
                  <p:embed/>
                </p:oleObj>
              </mc:Choice>
              <mc:Fallback>
                <p:oleObj name="Equation" r:id="rId5" imgW="6984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8596" y="4806692"/>
                        <a:ext cx="2435177" cy="15496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CBB1E7E-5AB6-4B6D-87A4-5A7FD95E5D94}"/>
              </a:ext>
            </a:extLst>
          </p:cNvPr>
          <p:cNvSpPr txBox="1"/>
          <p:nvPr/>
        </p:nvSpPr>
        <p:spPr>
          <a:xfrm>
            <a:off x="311156" y="247757"/>
            <a:ext cx="4565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0000"/>
                </a:solidFill>
                <a:highlight>
                  <a:srgbClr val="FFFF00"/>
                </a:highlight>
              </a:rPr>
              <a:t>李萨如图</a:t>
            </a:r>
            <a:endParaRPr lang="zh-CN" altLang="en-US" sz="3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9419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932C36D-9B82-4E08-80E8-EC1E5EF37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08792"/>
            <a:ext cx="5513622" cy="450055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2A237B9-06C1-4D1A-82A3-3E7AABBCB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66" y="291623"/>
            <a:ext cx="5063056" cy="490052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81B54D9-236B-4E00-AEAD-4E0585CDCC6A}"/>
              </a:ext>
            </a:extLst>
          </p:cNvPr>
          <p:cNvSpPr txBox="1"/>
          <p:nvPr/>
        </p:nvSpPr>
        <p:spPr>
          <a:xfrm>
            <a:off x="870011" y="5374790"/>
            <a:ext cx="56817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A</a:t>
            </a:r>
            <a:r>
              <a:rPr lang="zh-CN" altLang="en-US" sz="3200" dirty="0">
                <a:solidFill>
                  <a:srgbClr val="FF0000"/>
                </a:solidFill>
              </a:rPr>
              <a:t>模式（</a:t>
            </a:r>
            <a:r>
              <a:rPr lang="zh-CN" altLang="en-US" sz="2800" dirty="0">
                <a:solidFill>
                  <a:srgbClr val="FF0000"/>
                </a:solidFill>
              </a:rPr>
              <a:t>扫描模式，触发源</a:t>
            </a:r>
            <a:r>
              <a:rPr lang="en-US" altLang="zh-CN" sz="2800" dirty="0">
                <a:solidFill>
                  <a:srgbClr val="FF0000"/>
                </a:solidFill>
              </a:rPr>
              <a:t>CH2</a:t>
            </a:r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CH1: </a:t>
            </a:r>
            <a:r>
              <a:rPr lang="en-US" altLang="zh-CN" sz="2400" b="1" dirty="0">
                <a:solidFill>
                  <a:srgbClr val="002060"/>
                </a:solidFill>
              </a:rPr>
              <a:t>DC/  D=2V/DIV</a:t>
            </a:r>
          </a:p>
          <a:p>
            <a:r>
              <a:rPr lang="en-US" altLang="zh-CN" sz="2400" b="1" dirty="0">
                <a:solidFill>
                  <a:srgbClr val="FF0000"/>
                </a:solidFill>
              </a:rPr>
              <a:t>CH2: </a:t>
            </a:r>
            <a:r>
              <a:rPr lang="en-US" altLang="zh-CN" sz="2400" b="1" dirty="0">
                <a:solidFill>
                  <a:srgbClr val="002060"/>
                </a:solidFill>
              </a:rPr>
              <a:t>AC/  D=1V/DIV</a:t>
            </a:r>
            <a:endParaRPr lang="zh-CN" altLang="en-US" sz="2400" b="1" dirty="0">
              <a:solidFill>
                <a:srgbClr val="00206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00A2A7-5ABF-493C-A40E-49085E0D9CDA}"/>
              </a:ext>
            </a:extLst>
          </p:cNvPr>
          <p:cNvSpPr txBox="1"/>
          <p:nvPr/>
        </p:nvSpPr>
        <p:spPr>
          <a:xfrm>
            <a:off x="6950324" y="5406280"/>
            <a:ext cx="4659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X-Y</a:t>
            </a:r>
            <a:r>
              <a:rPr lang="zh-CN" altLang="en-US" sz="3200" dirty="0">
                <a:solidFill>
                  <a:srgbClr val="FF0000"/>
                </a:solidFill>
              </a:rPr>
              <a:t>模式（李萨如图模式）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B9F9D2-B27A-47E8-8961-1A90DB4CEB3A}"/>
              </a:ext>
            </a:extLst>
          </p:cNvPr>
          <p:cNvSpPr txBox="1"/>
          <p:nvPr/>
        </p:nvSpPr>
        <p:spPr>
          <a:xfrm>
            <a:off x="4078550" y="5991055"/>
            <a:ext cx="2318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="1" dirty="0">
                <a:solidFill>
                  <a:srgbClr val="FF0000"/>
                </a:solidFill>
              </a:rPr>
              <a:t>=0.1ms/div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BCC4267-5575-43B7-ABD2-1BEAEA760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10</a:t>
            </a:fld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7EF1919-82EA-4B09-A452-883A9E3C4686}"/>
              </a:ext>
            </a:extLst>
          </p:cNvPr>
          <p:cNvCxnSpPr>
            <a:cxnSpLocks/>
          </p:cNvCxnSpPr>
          <p:nvPr/>
        </p:nvCxnSpPr>
        <p:spPr>
          <a:xfrm>
            <a:off x="3853800" y="4208016"/>
            <a:ext cx="484421" cy="204464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06DC8A9-7381-4058-8C78-69C1AB8FBA0F}"/>
              </a:ext>
            </a:extLst>
          </p:cNvPr>
          <p:cNvCxnSpPr/>
          <p:nvPr/>
        </p:nvCxnSpPr>
        <p:spPr>
          <a:xfrm>
            <a:off x="4536489" y="4208016"/>
            <a:ext cx="941033" cy="13316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730E770-6170-4239-99B3-9C7E4DAEE74D}"/>
              </a:ext>
            </a:extLst>
          </p:cNvPr>
          <p:cNvCxnSpPr>
            <a:cxnSpLocks/>
          </p:cNvCxnSpPr>
          <p:nvPr/>
        </p:nvCxnSpPr>
        <p:spPr>
          <a:xfrm flipH="1">
            <a:off x="2560468" y="4208016"/>
            <a:ext cx="173856" cy="23062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0ED43A6-60FD-48F9-BE60-881520D1E97A}"/>
              </a:ext>
            </a:extLst>
          </p:cNvPr>
          <p:cNvCxnSpPr>
            <a:cxnSpLocks/>
          </p:cNvCxnSpPr>
          <p:nvPr/>
        </p:nvCxnSpPr>
        <p:spPr>
          <a:xfrm>
            <a:off x="1509205" y="4208016"/>
            <a:ext cx="896644" cy="182849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47EE852-4CFB-4937-AE52-CC5B68B77D81}"/>
              </a:ext>
            </a:extLst>
          </p:cNvPr>
          <p:cNvCxnSpPr>
            <a:cxnSpLocks/>
          </p:cNvCxnSpPr>
          <p:nvPr/>
        </p:nvCxnSpPr>
        <p:spPr>
          <a:xfrm flipH="1">
            <a:off x="8069802" y="4598633"/>
            <a:ext cx="2450237" cy="94103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668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BCBB1E7E-5AB6-4B6D-87A4-5A7FD95E5D94}"/>
              </a:ext>
            </a:extLst>
          </p:cNvPr>
          <p:cNvSpPr txBox="1"/>
          <p:nvPr/>
        </p:nvSpPr>
        <p:spPr>
          <a:xfrm>
            <a:off x="216316" y="75383"/>
            <a:ext cx="7681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三、仪器</a:t>
            </a:r>
            <a:r>
              <a:rPr lang="zh-CN" altLang="en-US" sz="3200" dirty="0" smtClean="0">
                <a:solidFill>
                  <a:srgbClr val="FF0000"/>
                </a:solidFill>
                <a:highlight>
                  <a:srgbClr val="FFFF00"/>
                </a:highlight>
              </a:rPr>
              <a:t>介绍</a:t>
            </a:r>
            <a:endParaRPr lang="zh-CN" altLang="en-US" sz="3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7F4672DA-157E-4C7F-8E84-23843E7A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11</a:t>
            </a:fld>
            <a:endParaRPr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B0570FD-5F99-3B8C-14F4-D3D677F9A066}"/>
              </a:ext>
            </a:extLst>
          </p:cNvPr>
          <p:cNvGrpSpPr/>
          <p:nvPr/>
        </p:nvGrpSpPr>
        <p:grpSpPr>
          <a:xfrm>
            <a:off x="6335419" y="5581578"/>
            <a:ext cx="4404985" cy="707886"/>
            <a:chOff x="-2563809" y="4574816"/>
            <a:chExt cx="4404985" cy="707886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89839D2-E828-7357-D3D4-68BD75099BF1}"/>
                </a:ext>
              </a:extLst>
            </p:cNvPr>
            <p:cNvSpPr txBox="1"/>
            <p:nvPr/>
          </p:nvSpPr>
          <p:spPr>
            <a:xfrm>
              <a:off x="359773" y="4574816"/>
              <a:ext cx="1481403" cy="707886"/>
            </a:xfrm>
            <a:prstGeom prst="rect">
              <a:avLst/>
            </a:prstGeom>
            <a:noFill/>
            <a:ln w="28575">
              <a:solidFill>
                <a:schemeClr val="tx2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191919"/>
                  </a:solidFill>
                  <a:latin typeface="+mn-ea"/>
                </a:rPr>
                <a:t>信号发生器</a:t>
              </a:r>
              <a:endParaRPr lang="en-US" altLang="zh-CN" sz="2000" dirty="0">
                <a:solidFill>
                  <a:srgbClr val="191919"/>
                </a:solidFill>
                <a:latin typeface="+mn-ea"/>
              </a:endParaRPr>
            </a:p>
            <a:p>
              <a:pPr algn="ctr"/>
              <a:r>
                <a:rPr lang="zh-CN" altLang="en-US" sz="2000" dirty="0" smtClean="0">
                  <a:solidFill>
                    <a:srgbClr val="191919"/>
                  </a:solidFill>
                  <a:latin typeface="+mn-ea"/>
                </a:rPr>
                <a:t>输出</a:t>
              </a:r>
              <a:endParaRPr lang="zh-CN" altLang="en-US" sz="2000" b="0" i="0" u="none" strike="noStrike" dirty="0">
                <a:solidFill>
                  <a:srgbClr val="191919"/>
                </a:solidFill>
                <a:effectLst/>
                <a:latin typeface="+mn-ea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76234F4-23ED-0867-C8D2-6503DFCAC6A9}"/>
                </a:ext>
              </a:extLst>
            </p:cNvPr>
            <p:cNvSpPr txBox="1"/>
            <p:nvPr/>
          </p:nvSpPr>
          <p:spPr>
            <a:xfrm>
              <a:off x="-2563809" y="4737680"/>
              <a:ext cx="1485391" cy="40011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chemeClr val="tx2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191919"/>
                  </a:solidFill>
                  <a:latin typeface="+mn-ea"/>
                </a:rPr>
                <a:t>示波器</a:t>
              </a:r>
              <a:r>
                <a:rPr lang="en-US" altLang="zh-CN" sz="2000" dirty="0">
                  <a:solidFill>
                    <a:srgbClr val="191919"/>
                  </a:solidFill>
                  <a:latin typeface="+mn-ea"/>
                </a:rPr>
                <a:t>CH1</a:t>
              </a:r>
              <a:endParaRPr lang="zh-CN" altLang="en-US" sz="2000" b="0" i="0" u="none" strike="noStrike" dirty="0">
                <a:solidFill>
                  <a:srgbClr val="191919"/>
                </a:solidFill>
                <a:effectLst/>
                <a:latin typeface="+mn-ea"/>
              </a:endParaRP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A61C07AF-D8D0-45A3-D03C-1710872242B1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>
              <a:off x="-1078418" y="4928759"/>
              <a:ext cx="1438191" cy="0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66" y="1283839"/>
            <a:ext cx="9755831" cy="4104000"/>
          </a:xfrm>
          <a:prstGeom prst="rect">
            <a:avLst/>
          </a:prstGeom>
        </p:spPr>
      </p:pic>
      <p:sp>
        <p:nvSpPr>
          <p:cNvPr id="22" name="圆角矩形 21"/>
          <p:cNvSpPr/>
          <p:nvPr/>
        </p:nvSpPr>
        <p:spPr>
          <a:xfrm>
            <a:off x="2633447" y="4421393"/>
            <a:ext cx="679908" cy="57015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CBB1E7E-5AB6-4B6D-87A4-5A7FD95E5D94}"/>
              </a:ext>
            </a:extLst>
          </p:cNvPr>
          <p:cNvSpPr txBox="1"/>
          <p:nvPr/>
        </p:nvSpPr>
        <p:spPr>
          <a:xfrm>
            <a:off x="7721600" y="488650"/>
            <a:ext cx="25307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0000"/>
                </a:solidFill>
                <a:highlight>
                  <a:srgbClr val="FFFF00"/>
                </a:highlight>
              </a:rPr>
              <a:t>信号发生器</a:t>
            </a:r>
            <a:endParaRPr lang="zh-CN" altLang="en-US" sz="3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2675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7F4672DA-157E-4C7F-8E84-23843E7A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478572" y="5712558"/>
            <a:ext cx="2154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002060"/>
                </a:solidFill>
              </a:rPr>
              <a:t>看到波形：</a:t>
            </a:r>
            <a:endParaRPr lang="en-US" altLang="zh-CN" sz="3200" dirty="0">
              <a:solidFill>
                <a:srgbClr val="00206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377694" y="5310578"/>
            <a:ext cx="87750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</a:t>
            </a:r>
            <a:r>
              <a:rPr lang="zh-CN" altLang="en-US" sz="2800" b="1" dirty="0" smtClean="0"/>
              <a:t>、接线 、通道、</a:t>
            </a:r>
            <a:r>
              <a:rPr lang="en-US" altLang="zh-CN" sz="2800" b="1" dirty="0" smtClean="0"/>
              <a:t>INTEN</a:t>
            </a:r>
            <a:r>
              <a:rPr lang="zh-CN" altLang="en-US" sz="2800" b="1" dirty="0" smtClean="0"/>
              <a:t>、</a:t>
            </a:r>
            <a:r>
              <a:rPr lang="zh-CN" altLang="en-US" sz="2800" b="1" dirty="0">
                <a:solidFill>
                  <a:srgbClr val="C00000"/>
                </a:solidFill>
              </a:rPr>
              <a:t>耦合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方式</a:t>
            </a:r>
            <a:r>
              <a:rPr lang="zh-CN" altLang="en-US" sz="2800" b="1" dirty="0" smtClean="0"/>
              <a:t>、</a:t>
            </a:r>
            <a:r>
              <a:rPr lang="en-US" altLang="zh-CN" sz="2800" b="1" dirty="0" smtClean="0"/>
              <a:t>POSITION</a:t>
            </a:r>
            <a:endParaRPr lang="en-US" altLang="zh-CN" sz="2800" b="1" dirty="0"/>
          </a:p>
          <a:p>
            <a:r>
              <a:rPr lang="en-US" altLang="zh-CN" sz="2800" b="1" dirty="0" smtClean="0"/>
              <a:t>2</a:t>
            </a:r>
            <a:r>
              <a:rPr lang="zh-CN" altLang="en-US" sz="2800" b="1" dirty="0" smtClean="0"/>
              <a:t>、</a:t>
            </a:r>
            <a:r>
              <a:rPr lang="en-US" altLang="zh-CN" sz="2800" b="1" dirty="0" smtClean="0">
                <a:solidFill>
                  <a:schemeClr val="accent2"/>
                </a:solidFill>
              </a:rPr>
              <a:t>VOLTS/DIV</a:t>
            </a:r>
            <a:r>
              <a:rPr lang="en-US" altLang="zh-CN" sz="2800" b="1" dirty="0" smtClean="0"/>
              <a:t> </a:t>
            </a:r>
            <a:r>
              <a:rPr lang="zh-CN" altLang="en-US" sz="2800" b="1" dirty="0" smtClean="0"/>
              <a:t>和 </a:t>
            </a:r>
            <a:r>
              <a:rPr lang="en-US" altLang="zh-CN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TIME/DIV</a:t>
            </a:r>
            <a:r>
              <a:rPr lang="zh-CN" altLang="en-US" sz="2800" b="1" dirty="0" smtClean="0"/>
              <a:t> 设置，可与信号发生器的输出</a:t>
            </a:r>
            <a:r>
              <a:rPr lang="en-US" altLang="zh-CN" sz="2800" b="1" dirty="0" err="1" smtClean="0"/>
              <a:t>Vpp</a:t>
            </a:r>
            <a:r>
              <a:rPr lang="zh-CN" altLang="en-US" sz="2800" b="1" dirty="0" smtClean="0"/>
              <a:t>和</a:t>
            </a:r>
            <a:r>
              <a:rPr lang="en-US" altLang="zh-CN" sz="2800" b="1" dirty="0" smtClean="0"/>
              <a:t>T=1/f </a:t>
            </a:r>
            <a:r>
              <a:rPr lang="zh-CN" altLang="en-US" sz="2800" b="1" dirty="0" smtClean="0"/>
              <a:t>进行对比</a:t>
            </a:r>
            <a:endParaRPr lang="en-US" altLang="zh-CN" sz="2800" b="1" dirty="0" smtClean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CBB1E7E-5AB6-4B6D-87A4-5A7FD95E5D94}"/>
              </a:ext>
            </a:extLst>
          </p:cNvPr>
          <p:cNvSpPr txBox="1"/>
          <p:nvPr/>
        </p:nvSpPr>
        <p:spPr>
          <a:xfrm>
            <a:off x="4193328" y="193791"/>
            <a:ext cx="3751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  <a:highlight>
                  <a:srgbClr val="FFFF00"/>
                </a:highlight>
              </a:rPr>
              <a:t>GOS-6051</a:t>
            </a:r>
            <a:r>
              <a:rPr lang="zh-CN" altLang="en-US" sz="3200" dirty="0" smtClean="0">
                <a:solidFill>
                  <a:srgbClr val="FF0000"/>
                </a:solidFill>
                <a:highlight>
                  <a:srgbClr val="FFFF00"/>
                </a:highlight>
              </a:rPr>
              <a:t>示波器</a:t>
            </a:r>
            <a:endParaRPr lang="zh-CN" altLang="en-US" sz="3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8790" y="984885"/>
            <a:ext cx="10009505" cy="4091940"/>
            <a:chOff x="478790" y="984885"/>
            <a:chExt cx="10009505" cy="4091940"/>
          </a:xfrm>
        </p:grpSpPr>
        <p:grpSp>
          <p:nvGrpSpPr>
            <p:cNvPr id="20" name="组合 19"/>
            <p:cNvGrpSpPr/>
            <p:nvPr/>
          </p:nvGrpSpPr>
          <p:grpSpPr>
            <a:xfrm>
              <a:off x="478790" y="984885"/>
              <a:ext cx="10009505" cy="4091940"/>
              <a:chOff x="478790" y="984885"/>
              <a:chExt cx="10009505" cy="4091940"/>
            </a:xfrm>
          </p:grpSpPr>
          <p:grpSp>
            <p:nvGrpSpPr>
              <p:cNvPr id="21" name="组合 20"/>
              <p:cNvGrpSpPr/>
              <p:nvPr/>
            </p:nvGrpSpPr>
            <p:grpSpPr>
              <a:xfrm>
                <a:off x="478790" y="984885"/>
                <a:ext cx="10009505" cy="4091940"/>
                <a:chOff x="181838" y="204926"/>
                <a:chExt cx="11939686" cy="5671351"/>
              </a:xfrm>
            </p:grpSpPr>
            <p:pic>
              <p:nvPicPr>
                <p:cNvPr id="38" name="图片 37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81838" y="204926"/>
                  <a:ext cx="11939686" cy="5671351"/>
                </a:xfrm>
                <a:prstGeom prst="rect">
                  <a:avLst/>
                </a:prstGeom>
              </p:spPr>
            </p:pic>
            <p:sp>
              <p:nvSpPr>
                <p:cNvPr id="39" name="矩形: 圆角 2"/>
                <p:cNvSpPr/>
                <p:nvPr/>
              </p:nvSpPr>
              <p:spPr>
                <a:xfrm>
                  <a:off x="6933461" y="2201662"/>
                  <a:ext cx="3311371" cy="3524435"/>
                </a:xfrm>
                <a:prstGeom prst="roundRect">
                  <a:avLst>
                    <a:gd name="adj" fmla="val 15327"/>
                  </a:avLst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>
                  <a:off x="6161104" y="506027"/>
                  <a:ext cx="719091" cy="5069150"/>
                </a:xfrm>
                <a:prstGeom prst="rect">
                  <a:avLst/>
                </a:prstGeom>
                <a:noFill/>
                <a:ln w="38100">
                  <a:solidFill>
                    <a:srgbClr val="92D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矩形 40"/>
                <p:cNvSpPr/>
                <p:nvPr/>
              </p:nvSpPr>
              <p:spPr>
                <a:xfrm>
                  <a:off x="10280887" y="2201662"/>
                  <a:ext cx="1840637" cy="3373515"/>
                </a:xfrm>
                <a:prstGeom prst="rect">
                  <a:avLst/>
                </a:prstGeom>
                <a:noFill/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>
                  <a:off x="7350712" y="304800"/>
                  <a:ext cx="2370338" cy="1797728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矩形: 圆角 6"/>
                <p:cNvSpPr/>
                <p:nvPr/>
              </p:nvSpPr>
              <p:spPr>
                <a:xfrm>
                  <a:off x="9793160" y="513426"/>
                  <a:ext cx="2311154" cy="1713390"/>
                </a:xfrm>
                <a:prstGeom prst="roundRect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976234F4-23ED-0867-C8D2-6503DFCAC6A9}"/>
                  </a:ext>
                </a:extLst>
              </p:cNvPr>
              <p:cNvSpPr txBox="1"/>
              <p:nvPr/>
            </p:nvSpPr>
            <p:spPr>
              <a:xfrm>
                <a:off x="1429167" y="3527732"/>
                <a:ext cx="720000" cy="33855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8575">
                <a:solidFill>
                  <a:schemeClr val="tx2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dirty="0" smtClean="0">
                    <a:solidFill>
                      <a:srgbClr val="191919"/>
                    </a:solidFill>
                    <a:latin typeface="+mn-ea"/>
                  </a:rPr>
                  <a:t>CH1</a:t>
                </a: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36C9AD5-8569-E57E-AEDB-9DDE7F3863E0}"/>
                  </a:ext>
                </a:extLst>
              </p:cNvPr>
              <p:cNvSpPr txBox="1"/>
              <p:nvPr/>
            </p:nvSpPr>
            <p:spPr>
              <a:xfrm>
                <a:off x="2513473" y="3527732"/>
                <a:ext cx="720000" cy="33855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2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dirty="0" smtClean="0">
                    <a:solidFill>
                      <a:srgbClr val="191919"/>
                    </a:solidFill>
                    <a:latin typeface="+mn-ea"/>
                  </a:rPr>
                  <a:t>CH2</a:t>
                </a:r>
                <a:endParaRPr lang="zh-CN" altLang="en-US" sz="1600" b="0" i="0" u="none" strike="noStrike" dirty="0">
                  <a:solidFill>
                    <a:srgbClr val="191919"/>
                  </a:solidFill>
                  <a:effectLst/>
                  <a:latin typeface="+mn-ea"/>
                </a:endParaRPr>
              </a:p>
            </p:txBody>
          </p:sp>
          <p:cxnSp>
            <p:nvCxnSpPr>
              <p:cNvPr id="24" name="直接连接符 23"/>
              <p:cNvCxnSpPr/>
              <p:nvPr/>
            </p:nvCxnSpPr>
            <p:spPr>
              <a:xfrm>
                <a:off x="1571834" y="4137759"/>
                <a:ext cx="180000" cy="0"/>
              </a:xfrm>
              <a:prstGeom prst="line">
                <a:avLst/>
              </a:prstGeom>
              <a:ln w="285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2662300" y="4146864"/>
                <a:ext cx="180000" cy="0"/>
              </a:xfrm>
              <a:prstGeom prst="line">
                <a:avLst/>
              </a:prstGeom>
              <a:ln w="285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>
                <a:off x="830616" y="4402686"/>
                <a:ext cx="910827" cy="18984"/>
              </a:xfrm>
              <a:prstGeom prst="line">
                <a:avLst/>
              </a:prstGeom>
              <a:ln w="5715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>
                <a:off x="3582504" y="4168932"/>
                <a:ext cx="360000" cy="0"/>
              </a:xfrm>
              <a:prstGeom prst="line">
                <a:avLst/>
              </a:prstGeom>
              <a:ln w="28575"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 flipV="1">
                <a:off x="3305478" y="4402686"/>
                <a:ext cx="947695" cy="0"/>
              </a:xfrm>
              <a:prstGeom prst="line">
                <a:avLst/>
              </a:prstGeom>
              <a:ln w="57150"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文本框 28"/>
              <p:cNvSpPr txBox="1"/>
              <p:nvPr/>
            </p:nvSpPr>
            <p:spPr>
              <a:xfrm>
                <a:off x="3305478" y="4168932"/>
                <a:ext cx="9476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 smtClean="0"/>
                  <a:t>TIME/DIV</a:t>
                </a:r>
                <a:endParaRPr lang="zh-CN" altLang="en-US" sz="1400" b="1" dirty="0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739869" y="4168932"/>
                <a:ext cx="1095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 smtClean="0"/>
                  <a:t>VOLTS/DIV</a:t>
                </a:r>
                <a:endParaRPr lang="zh-CN" altLang="en-US" sz="1400" b="1" dirty="0"/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>
                <a:off x="1751913" y="4136473"/>
                <a:ext cx="180000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2852691" y="4144292"/>
                <a:ext cx="180000" cy="0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圆角矩形 32"/>
              <p:cNvSpPr/>
              <p:nvPr/>
            </p:nvSpPr>
            <p:spPr>
              <a:xfrm>
                <a:off x="6222686" y="3474721"/>
                <a:ext cx="504000" cy="969731"/>
              </a:xfrm>
              <a:prstGeom prst="roundRect">
                <a:avLst/>
              </a:prstGeom>
              <a:solidFill>
                <a:srgbClr val="C0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>
                <a:off x="7602952" y="3451939"/>
                <a:ext cx="504000" cy="969731"/>
              </a:xfrm>
              <a:prstGeom prst="roundRect">
                <a:avLst/>
              </a:prstGeom>
              <a:solidFill>
                <a:srgbClr val="C0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>
                <a:off x="6765236" y="3087239"/>
                <a:ext cx="794683" cy="1049234"/>
              </a:xfrm>
              <a:prstGeom prst="roundRect">
                <a:avLst/>
              </a:pr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>
                <a:off x="8100645" y="3074957"/>
                <a:ext cx="794683" cy="1049234"/>
              </a:xfrm>
              <a:prstGeom prst="roundRect">
                <a:avLst/>
              </a:pr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>
                <a:off x="9446256" y="3119698"/>
                <a:ext cx="1027612" cy="1004493"/>
              </a:xfrm>
              <a:prstGeom prst="roundRect">
                <a:avLst/>
              </a:prstGeom>
              <a:solidFill>
                <a:schemeClr val="accent5"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文本框 44"/>
            <p:cNvSpPr txBox="1"/>
            <p:nvPr/>
          </p:nvSpPr>
          <p:spPr>
            <a:xfrm>
              <a:off x="1723933" y="4178797"/>
              <a:ext cx="12073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/>
                <a:t>偏转因素：</a:t>
              </a:r>
              <a:r>
                <a:rPr lang="en-US" altLang="zh-CN" sz="1400" b="1" dirty="0" smtClean="0"/>
                <a:t>D</a:t>
              </a:r>
              <a:endParaRPr lang="zh-CN" altLang="en-US" sz="1400" b="1" dirty="0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4149495" y="4178797"/>
              <a:ext cx="1233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/>
                <a:t>时基因素：</a:t>
              </a:r>
              <a:r>
                <a:rPr lang="en-US" altLang="zh-CN" sz="1400" b="1" dirty="0" smtClean="0"/>
                <a:t>Q</a:t>
              </a:r>
              <a:endParaRPr lang="zh-CN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03994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7F4672DA-157E-4C7F-8E84-23843E7A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70" name="文本框 69"/>
          <p:cNvSpPr txBox="1"/>
          <p:nvPr/>
        </p:nvSpPr>
        <p:spPr>
          <a:xfrm>
            <a:off x="478572" y="5660603"/>
            <a:ext cx="31039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</a:rPr>
              <a:t>TRIGGER(</a:t>
            </a:r>
            <a:r>
              <a:rPr lang="zh-CN" altLang="en-US" sz="3200" dirty="0">
                <a:solidFill>
                  <a:srgbClr val="002060"/>
                </a:solidFill>
              </a:rPr>
              <a:t>触发</a:t>
            </a:r>
            <a:r>
              <a:rPr lang="en-US" altLang="zh-CN" sz="3200" dirty="0">
                <a:solidFill>
                  <a:srgbClr val="002060"/>
                </a:solidFill>
              </a:rPr>
              <a:t>)</a:t>
            </a:r>
            <a:r>
              <a:rPr lang="zh-CN" altLang="en-US" sz="3200" dirty="0">
                <a:solidFill>
                  <a:srgbClr val="002060"/>
                </a:solidFill>
              </a:rPr>
              <a:t>：</a:t>
            </a:r>
            <a:endParaRPr lang="en-US" altLang="zh-CN" sz="3200" dirty="0">
              <a:solidFill>
                <a:srgbClr val="002060"/>
              </a:solidFill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获得稳定波形的操作步骤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3583040" y="5356058"/>
            <a:ext cx="76179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</a:rPr>
              <a:t>SOURCE</a:t>
            </a:r>
            <a:r>
              <a:rPr lang="zh-CN" altLang="en-US" sz="2800" b="1" dirty="0">
                <a:solidFill>
                  <a:srgbClr val="FF0000"/>
                </a:solidFill>
              </a:rPr>
              <a:t>（触发源）</a:t>
            </a:r>
            <a:r>
              <a:rPr lang="en-US" altLang="zh-CN" sz="2800" dirty="0">
                <a:solidFill>
                  <a:srgbClr val="FF0000"/>
                </a:solidFill>
              </a:rPr>
              <a:t>--</a:t>
            </a:r>
            <a:r>
              <a:rPr lang="zh-CN" altLang="en-US" sz="2800" dirty="0">
                <a:solidFill>
                  <a:srgbClr val="FF0000"/>
                </a:solidFill>
              </a:rPr>
              <a:t>选</a:t>
            </a:r>
            <a:r>
              <a:rPr lang="en-US" altLang="zh-CN" sz="2800" dirty="0">
                <a:solidFill>
                  <a:srgbClr val="FF0000"/>
                </a:solidFill>
              </a:rPr>
              <a:t>CH1/CH2</a:t>
            </a:r>
          </a:p>
          <a:p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</a:rPr>
              <a:t>COUPLING</a:t>
            </a:r>
            <a:r>
              <a:rPr lang="zh-CN" altLang="en-US" sz="2800" b="1" dirty="0">
                <a:solidFill>
                  <a:srgbClr val="FF0000"/>
                </a:solidFill>
              </a:rPr>
              <a:t>（触发方式</a:t>
            </a:r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r>
              <a:rPr lang="en-US" altLang="zh-CN" sz="2800" dirty="0">
                <a:solidFill>
                  <a:srgbClr val="FF0000"/>
                </a:solidFill>
              </a:rPr>
              <a:t>--</a:t>
            </a:r>
            <a:r>
              <a:rPr lang="zh-CN" altLang="en-US" sz="2800" dirty="0">
                <a:solidFill>
                  <a:srgbClr val="FF0000"/>
                </a:solidFill>
              </a:rPr>
              <a:t>选</a:t>
            </a:r>
            <a:r>
              <a:rPr lang="en-US" altLang="zh-CN" sz="2800" dirty="0">
                <a:solidFill>
                  <a:srgbClr val="FF0000"/>
                </a:solidFill>
              </a:rPr>
              <a:t>AC</a:t>
            </a:r>
          </a:p>
          <a:p>
            <a:r>
              <a:rPr lang="en-US" altLang="zh-CN" sz="2800" b="1" dirty="0">
                <a:solidFill>
                  <a:srgbClr val="FF0000"/>
                </a:solidFill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</a:rPr>
              <a:t>LEVEL</a:t>
            </a:r>
            <a:r>
              <a:rPr lang="zh-CN" altLang="en-US" sz="2800" b="1" dirty="0">
                <a:solidFill>
                  <a:srgbClr val="FF0000"/>
                </a:solidFill>
              </a:rPr>
              <a:t>（触发电平）</a:t>
            </a:r>
            <a:r>
              <a:rPr lang="en-US" altLang="zh-CN" sz="2800" dirty="0">
                <a:solidFill>
                  <a:srgbClr val="FF0000"/>
                </a:solidFill>
              </a:rPr>
              <a:t>--</a:t>
            </a:r>
            <a:r>
              <a:rPr lang="zh-CN" altLang="en-US" sz="2800" dirty="0">
                <a:solidFill>
                  <a:srgbClr val="FF0000"/>
                </a:solidFill>
              </a:rPr>
              <a:t>旋转选择合适的电平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BCBB1E7E-5AB6-4B6D-87A4-5A7FD95E5D94}"/>
              </a:ext>
            </a:extLst>
          </p:cNvPr>
          <p:cNvSpPr txBox="1"/>
          <p:nvPr/>
        </p:nvSpPr>
        <p:spPr>
          <a:xfrm>
            <a:off x="4193328" y="193791"/>
            <a:ext cx="3751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  <a:highlight>
                  <a:srgbClr val="FFFF00"/>
                </a:highlight>
              </a:rPr>
              <a:t>GOS-6051</a:t>
            </a:r>
            <a:r>
              <a:rPr lang="zh-CN" altLang="en-US" sz="3200" dirty="0" smtClean="0">
                <a:solidFill>
                  <a:srgbClr val="FF0000"/>
                </a:solidFill>
                <a:highlight>
                  <a:srgbClr val="FFFF00"/>
                </a:highlight>
              </a:rPr>
              <a:t>示波器</a:t>
            </a:r>
            <a:endParaRPr lang="zh-CN" altLang="en-US" sz="3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790" y="984885"/>
            <a:ext cx="10009505" cy="4091940"/>
            <a:chOff x="478790" y="984885"/>
            <a:chExt cx="10009505" cy="4091940"/>
          </a:xfrm>
        </p:grpSpPr>
        <p:grpSp>
          <p:nvGrpSpPr>
            <p:cNvPr id="44" name="组合 43"/>
            <p:cNvGrpSpPr/>
            <p:nvPr/>
          </p:nvGrpSpPr>
          <p:grpSpPr>
            <a:xfrm>
              <a:off x="478790" y="984885"/>
              <a:ext cx="10009505" cy="4091940"/>
              <a:chOff x="478790" y="984885"/>
              <a:chExt cx="10009505" cy="4091940"/>
            </a:xfrm>
          </p:grpSpPr>
          <p:grpSp>
            <p:nvGrpSpPr>
              <p:cNvPr id="45" name="组合 44"/>
              <p:cNvGrpSpPr/>
              <p:nvPr/>
            </p:nvGrpSpPr>
            <p:grpSpPr>
              <a:xfrm>
                <a:off x="478790" y="984885"/>
                <a:ext cx="10009505" cy="4091940"/>
                <a:chOff x="478790" y="984885"/>
                <a:chExt cx="10009505" cy="4091940"/>
              </a:xfrm>
            </p:grpSpPr>
            <p:grpSp>
              <p:nvGrpSpPr>
                <p:cNvPr id="54" name="组合 53"/>
                <p:cNvGrpSpPr/>
                <p:nvPr/>
              </p:nvGrpSpPr>
              <p:grpSpPr>
                <a:xfrm>
                  <a:off x="478790" y="984885"/>
                  <a:ext cx="10009505" cy="4091940"/>
                  <a:chOff x="478790" y="984885"/>
                  <a:chExt cx="10009505" cy="4091940"/>
                </a:xfrm>
              </p:grpSpPr>
              <p:grpSp>
                <p:nvGrpSpPr>
                  <p:cNvPr id="59" name="组合 58"/>
                  <p:cNvGrpSpPr/>
                  <p:nvPr/>
                </p:nvGrpSpPr>
                <p:grpSpPr>
                  <a:xfrm>
                    <a:off x="478790" y="984885"/>
                    <a:ext cx="10009505" cy="4091940"/>
                    <a:chOff x="181838" y="204926"/>
                    <a:chExt cx="11939686" cy="5671351"/>
                  </a:xfrm>
                </p:grpSpPr>
                <p:pic>
                  <p:nvPicPr>
                    <p:cNvPr id="64" name="图片 63"/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181838" y="204926"/>
                      <a:ext cx="11939686" cy="567135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65" name="矩形: 圆角 2"/>
                    <p:cNvSpPr/>
                    <p:nvPr/>
                  </p:nvSpPr>
                  <p:spPr>
                    <a:xfrm>
                      <a:off x="6933461" y="2201662"/>
                      <a:ext cx="3311371" cy="3524435"/>
                    </a:xfrm>
                    <a:prstGeom prst="roundRect">
                      <a:avLst>
                        <a:gd name="adj" fmla="val 15327"/>
                      </a:avLst>
                    </a:prstGeom>
                    <a:noFill/>
                    <a:ln w="28575"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" name="矩形 65"/>
                    <p:cNvSpPr/>
                    <p:nvPr/>
                  </p:nvSpPr>
                  <p:spPr>
                    <a:xfrm>
                      <a:off x="6161104" y="506027"/>
                      <a:ext cx="719091" cy="5069150"/>
                    </a:xfrm>
                    <a:prstGeom prst="rect">
                      <a:avLst/>
                    </a:prstGeom>
                    <a:noFill/>
                    <a:ln w="38100">
                      <a:solidFill>
                        <a:srgbClr val="92D05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" name="矩形 66"/>
                    <p:cNvSpPr/>
                    <p:nvPr/>
                  </p:nvSpPr>
                  <p:spPr>
                    <a:xfrm>
                      <a:off x="10280887" y="2201662"/>
                      <a:ext cx="1840637" cy="3373515"/>
                    </a:xfrm>
                    <a:prstGeom prst="rect">
                      <a:avLst/>
                    </a:prstGeom>
                    <a:noFill/>
                    <a:ln w="38100"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" name="椭圆 67"/>
                    <p:cNvSpPr/>
                    <p:nvPr/>
                  </p:nvSpPr>
                  <p:spPr>
                    <a:xfrm>
                      <a:off x="7350712" y="304800"/>
                      <a:ext cx="2370338" cy="1797728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" name="矩形: 圆角 6"/>
                    <p:cNvSpPr/>
                    <p:nvPr/>
                  </p:nvSpPr>
                  <p:spPr>
                    <a:xfrm>
                      <a:off x="9793160" y="513426"/>
                      <a:ext cx="2311154" cy="1713390"/>
                    </a:xfrm>
                    <a:prstGeom prst="roundRect">
                      <a:avLst/>
                    </a:prstGeom>
                    <a:noFill/>
                    <a:ln w="38100"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60" name="直接连接符 59"/>
                  <p:cNvCxnSpPr/>
                  <p:nvPr/>
                </p:nvCxnSpPr>
                <p:spPr>
                  <a:xfrm>
                    <a:off x="4184725" y="4187322"/>
                    <a:ext cx="710004" cy="0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直接连接符 60"/>
                  <p:cNvCxnSpPr/>
                  <p:nvPr/>
                </p:nvCxnSpPr>
                <p:spPr>
                  <a:xfrm>
                    <a:off x="8945217" y="1908494"/>
                    <a:ext cx="396000" cy="0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直接连接符 61"/>
                  <p:cNvCxnSpPr/>
                  <p:nvPr/>
                </p:nvCxnSpPr>
                <p:spPr>
                  <a:xfrm>
                    <a:off x="8947265" y="2211501"/>
                    <a:ext cx="396000" cy="0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3" name="圆角矩形 62"/>
                  <p:cNvSpPr/>
                  <p:nvPr/>
                </p:nvSpPr>
                <p:spPr>
                  <a:xfrm>
                    <a:off x="9464756" y="1202133"/>
                    <a:ext cx="722736" cy="753091"/>
                  </a:xfrm>
                  <a:prstGeom prst="roundRect">
                    <a:avLst/>
                  </a:prstGeom>
                  <a:solidFill>
                    <a:srgbClr val="FF0000">
                      <a:alpha val="1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55" name="文本框 54"/>
                <p:cNvSpPr txBox="1"/>
                <p:nvPr/>
              </p:nvSpPr>
              <p:spPr>
                <a:xfrm>
                  <a:off x="1685035" y="4187322"/>
                  <a:ext cx="120738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 smtClean="0"/>
                    <a:t>偏转因素：</a:t>
                  </a:r>
                  <a:r>
                    <a:rPr lang="en-US" altLang="zh-CN" sz="1400" b="1" dirty="0" smtClean="0"/>
                    <a:t>D</a:t>
                  </a:r>
                  <a:endParaRPr lang="zh-CN" altLang="en-US" sz="1400" b="1" dirty="0"/>
                </a:p>
              </p:txBody>
            </p:sp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976234F4-23ED-0867-C8D2-6503DFCAC6A9}"/>
                    </a:ext>
                  </a:extLst>
                </p:cNvPr>
                <p:cNvSpPr txBox="1"/>
                <p:nvPr/>
              </p:nvSpPr>
              <p:spPr>
                <a:xfrm>
                  <a:off x="1429167" y="3527732"/>
                  <a:ext cx="720000" cy="338554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28575">
                  <a:solidFill>
                    <a:schemeClr val="tx2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600" dirty="0" smtClean="0">
                      <a:solidFill>
                        <a:srgbClr val="191919"/>
                      </a:solidFill>
                      <a:latin typeface="+mn-ea"/>
                    </a:rPr>
                    <a:t>CH1</a:t>
                  </a:r>
                </a:p>
              </p:txBody>
            </p:sp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936C9AD5-8569-E57E-AEDB-9DDE7F3863E0}"/>
                    </a:ext>
                  </a:extLst>
                </p:cNvPr>
                <p:cNvSpPr txBox="1"/>
                <p:nvPr/>
              </p:nvSpPr>
              <p:spPr>
                <a:xfrm>
                  <a:off x="2513473" y="3527732"/>
                  <a:ext cx="720000" cy="338554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28575">
                  <a:solidFill>
                    <a:schemeClr val="tx2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600" dirty="0" smtClean="0">
                      <a:solidFill>
                        <a:srgbClr val="191919"/>
                      </a:solidFill>
                      <a:latin typeface="+mn-ea"/>
                    </a:rPr>
                    <a:t>CH2</a:t>
                  </a:r>
                  <a:endParaRPr lang="zh-CN" altLang="en-US" sz="1600" b="0" i="0" u="none" strike="noStrike" dirty="0">
                    <a:solidFill>
                      <a:srgbClr val="191919"/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58" name="文本框 57"/>
                <p:cNvSpPr txBox="1"/>
                <p:nvPr/>
              </p:nvSpPr>
              <p:spPr>
                <a:xfrm>
                  <a:off x="3112044" y="4187322"/>
                  <a:ext cx="123303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 smtClean="0"/>
                    <a:t>时基因素：</a:t>
                  </a:r>
                  <a:r>
                    <a:rPr lang="en-US" altLang="zh-CN" sz="1400" b="1" dirty="0" smtClean="0"/>
                    <a:t>Q</a:t>
                  </a:r>
                  <a:endParaRPr lang="zh-CN" altLang="en-US" sz="1400" b="1" dirty="0"/>
                </a:p>
              </p:txBody>
            </p:sp>
          </p:grpSp>
          <p:cxnSp>
            <p:nvCxnSpPr>
              <p:cNvPr id="46" name="直接连接符 45"/>
              <p:cNvCxnSpPr/>
              <p:nvPr/>
            </p:nvCxnSpPr>
            <p:spPr>
              <a:xfrm>
                <a:off x="1280214" y="1955224"/>
                <a:ext cx="1091045" cy="0"/>
              </a:xfrm>
              <a:prstGeom prst="line">
                <a:avLst/>
              </a:prstGeom>
              <a:ln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1790703" y="3261749"/>
                <a:ext cx="1091045" cy="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1999322" y="1955224"/>
                <a:ext cx="0" cy="1285009"/>
              </a:xfrm>
              <a:prstGeom prst="line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49" name="文本框 48"/>
              <p:cNvSpPr txBox="1"/>
              <p:nvPr/>
            </p:nvSpPr>
            <p:spPr>
              <a:xfrm>
                <a:off x="2002479" y="2477107"/>
                <a:ext cx="333746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 smtClean="0">
                    <a:solidFill>
                      <a:schemeClr val="accent4"/>
                    </a:solidFill>
                  </a:rPr>
                  <a:t>h</a:t>
                </a:r>
                <a:endParaRPr lang="zh-CN" altLang="en-US" b="1" dirty="0">
                  <a:solidFill>
                    <a:schemeClr val="accent4"/>
                  </a:solidFill>
                </a:endParaRPr>
              </a:p>
            </p:txBody>
          </p:sp>
          <p:cxnSp>
            <p:nvCxnSpPr>
              <p:cNvPr id="50" name="直接连接符 49"/>
              <p:cNvCxnSpPr/>
              <p:nvPr/>
            </p:nvCxnSpPr>
            <p:spPr>
              <a:xfrm flipH="1">
                <a:off x="2692893" y="2443700"/>
                <a:ext cx="0" cy="680506"/>
              </a:xfrm>
              <a:prstGeom prst="line">
                <a:avLst/>
              </a:prstGeom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flipH="1">
                <a:off x="4507453" y="2425548"/>
                <a:ext cx="0" cy="680506"/>
              </a:xfrm>
              <a:prstGeom prst="line">
                <a:avLst/>
              </a:prstGeom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flipH="1">
                <a:off x="2687503" y="2669467"/>
                <a:ext cx="1819950" cy="0"/>
              </a:xfrm>
              <a:prstGeom prst="line">
                <a:avLst/>
              </a:prstGeom>
              <a:ln>
                <a:solidFill>
                  <a:schemeClr val="accent5">
                    <a:lumMod val="20000"/>
                    <a:lumOff val="80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53" name="文本框 52"/>
              <p:cNvSpPr txBox="1"/>
              <p:nvPr/>
            </p:nvSpPr>
            <p:spPr>
              <a:xfrm>
                <a:off x="3913730" y="2295944"/>
                <a:ext cx="320922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x</a:t>
                </a:r>
                <a:endParaRPr lang="zh-CN" altLang="en-US" b="1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  <p:cxnSp>
          <p:nvCxnSpPr>
            <p:cNvPr id="33" name="直接连接符 32"/>
            <p:cNvCxnSpPr/>
            <p:nvPr/>
          </p:nvCxnSpPr>
          <p:spPr>
            <a:xfrm>
              <a:off x="1571834" y="4137759"/>
              <a:ext cx="180000" cy="0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3582504" y="4168932"/>
              <a:ext cx="360000" cy="0"/>
            </a:xfrm>
            <a:prstGeom prst="line">
              <a:avLst/>
            </a:prstGeom>
            <a:ln w="28575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2701748" y="4155638"/>
              <a:ext cx="180000" cy="0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3178258" y="4450971"/>
              <a:ext cx="1104182" cy="0"/>
            </a:xfrm>
            <a:prstGeom prst="line">
              <a:avLst/>
            </a:prstGeom>
            <a:ln w="381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1751834" y="4450971"/>
              <a:ext cx="1067566" cy="0"/>
            </a:xfrm>
            <a:prstGeom prst="line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4344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14</a:t>
            </a:fld>
            <a:endParaRPr lang="zh-CN" altLang="en-US" dirty="0"/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888279" y="3401220"/>
            <a:ext cx="4926012" cy="2354263"/>
            <a:chOff x="240" y="2112"/>
            <a:chExt cx="2832" cy="1483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40" y="2640"/>
              <a:ext cx="25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D</a:t>
              </a:r>
              <a:r>
                <a:rPr lang="zh-CN" altLang="en-US" sz="2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：</a:t>
              </a:r>
              <a:r>
                <a:rPr lang="zh-CN" altLang="en-US" sz="2400" dirty="0">
                  <a:latin typeface="等线" panose="02010600030101010101" pitchFamily="2" charset="-122"/>
                  <a:ea typeface="等线" panose="02010600030101010101" pitchFamily="2" charset="-122"/>
                </a:rPr>
                <a:t>为示波器的偏转</a:t>
              </a:r>
              <a:r>
                <a:rPr lang="zh-CN" altLang="en-US" sz="2400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灵敏度 </a:t>
              </a:r>
              <a:endPara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" name="Text Box 9"/>
            <p:cNvSpPr txBox="1">
              <a:spLocks noChangeArrowheads="1"/>
            </p:cNvSpPr>
            <p:nvPr/>
          </p:nvSpPr>
          <p:spPr bwMode="auto">
            <a:xfrm>
              <a:off x="240" y="2112"/>
              <a:ext cx="220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V</a:t>
              </a:r>
              <a:r>
                <a:rPr lang="en-US" altLang="zh-CN" b="1" dirty="0">
                  <a:latin typeface="等线" panose="02010600030101010101" pitchFamily="2" charset="-122"/>
                  <a:ea typeface="等线" panose="02010600030101010101" pitchFamily="2" charset="-122"/>
                </a:rPr>
                <a:t>P-P</a:t>
              </a:r>
              <a:r>
                <a:rPr lang="zh-CN" altLang="en-US" sz="2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：</a:t>
              </a:r>
              <a:r>
                <a:rPr lang="zh-CN" altLang="en-US" sz="2400" dirty="0">
                  <a:latin typeface="等线" panose="02010600030101010101" pitchFamily="2" charset="-122"/>
                  <a:ea typeface="等线" panose="02010600030101010101" pitchFamily="2" charset="-122"/>
                </a:rPr>
                <a:t>被测电压的峰</a:t>
              </a:r>
              <a:r>
                <a:rPr lang="en-US" altLang="zh-CN" sz="2400" dirty="0">
                  <a:latin typeface="等线" panose="02010600030101010101" pitchFamily="2" charset="-122"/>
                  <a:ea typeface="等线" panose="02010600030101010101" pitchFamily="2" charset="-122"/>
                </a:rPr>
                <a:t>-</a:t>
              </a:r>
              <a:r>
                <a:rPr lang="zh-CN" altLang="en-US" sz="2400" dirty="0">
                  <a:latin typeface="等线" panose="02010600030101010101" pitchFamily="2" charset="-122"/>
                  <a:ea typeface="等线" panose="02010600030101010101" pitchFamily="2" charset="-122"/>
                </a:rPr>
                <a:t>峰值 </a:t>
              </a:r>
            </a:p>
          </p:txBody>
        </p:sp>
        <p:sp>
          <p:nvSpPr>
            <p:cNvPr id="7" name="Text Box 10"/>
            <p:cNvSpPr txBox="1">
              <a:spLocks noChangeArrowheads="1"/>
            </p:cNvSpPr>
            <p:nvPr/>
          </p:nvSpPr>
          <p:spPr bwMode="auto">
            <a:xfrm>
              <a:off x="240" y="3072"/>
              <a:ext cx="283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h</a:t>
              </a:r>
              <a:r>
                <a:rPr lang="zh-CN" altLang="en-US" sz="2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：</a:t>
              </a:r>
              <a:r>
                <a:rPr lang="zh-CN" altLang="en-US" sz="2400" dirty="0">
                  <a:latin typeface="等线" panose="02010600030101010101" pitchFamily="2" charset="-122"/>
                  <a:ea typeface="等线" panose="02010600030101010101" pitchFamily="2" charset="-122"/>
                </a:rPr>
                <a:t>表示被测量电压</a:t>
              </a:r>
              <a:r>
                <a:rPr lang="zh-CN" altLang="en-US" sz="2400" dirty="0" smtClean="0">
                  <a:latin typeface="等线" panose="02010600030101010101" pitchFamily="2" charset="-122"/>
                  <a:ea typeface="等线" panose="02010600030101010101" pitchFamily="2" charset="-122"/>
                </a:rPr>
                <a:t>波形</a:t>
              </a:r>
              <a:r>
                <a:rPr lang="zh-CN" altLang="en-US" sz="2400" dirty="0">
                  <a:latin typeface="等线" panose="02010600030101010101" pitchFamily="2" charset="-122"/>
                  <a:ea typeface="等线" panose="02010600030101010101" pitchFamily="2" charset="-122"/>
                </a:rPr>
                <a:t>的高度，即格数</a:t>
              </a:r>
            </a:p>
          </p:txBody>
        </p:sp>
      </p:grpSp>
      <p:grpSp>
        <p:nvGrpSpPr>
          <p:cNvPr id="8" name="Group 28"/>
          <p:cNvGrpSpPr>
            <a:grpSpLocks/>
          </p:cNvGrpSpPr>
          <p:nvPr/>
        </p:nvGrpSpPr>
        <p:grpSpPr bwMode="auto">
          <a:xfrm>
            <a:off x="1040679" y="718344"/>
            <a:ext cx="3965575" cy="2301875"/>
            <a:chOff x="336" y="278"/>
            <a:chExt cx="2498" cy="1450"/>
          </a:xfrm>
        </p:grpSpPr>
        <p:sp>
          <p:nvSpPr>
            <p:cNvPr id="9" name="Text Box 3"/>
            <p:cNvSpPr txBox="1">
              <a:spLocks noChangeArrowheads="1"/>
            </p:cNvSpPr>
            <p:nvPr/>
          </p:nvSpPr>
          <p:spPr bwMode="auto">
            <a:xfrm>
              <a:off x="336" y="278"/>
              <a:ext cx="2498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4000" dirty="0">
                  <a:solidFill>
                    <a:schemeClr val="tx2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1</a:t>
              </a:r>
              <a:r>
                <a:rPr lang="zh-CN" altLang="en-US" sz="4000" dirty="0">
                  <a:solidFill>
                    <a:schemeClr val="tx2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、</a:t>
              </a:r>
              <a:r>
                <a:rPr lang="zh-CN" altLang="en-US" sz="4000" b="1" dirty="0">
                  <a:solidFill>
                    <a:schemeClr val="tx2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电压</a:t>
              </a:r>
              <a:r>
                <a:rPr lang="en-US" altLang="zh-CN" sz="4000" b="1" dirty="0">
                  <a:solidFill>
                    <a:schemeClr val="tx2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V</a:t>
              </a:r>
              <a:r>
                <a:rPr lang="en-US" altLang="zh-CN" sz="2000" b="1" dirty="0">
                  <a:solidFill>
                    <a:schemeClr val="tx2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P-P</a:t>
              </a:r>
              <a:r>
                <a:rPr lang="zh-CN" altLang="en-US" sz="4000" b="1" dirty="0">
                  <a:solidFill>
                    <a:schemeClr val="tx2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测量</a:t>
              </a:r>
            </a:p>
          </p:txBody>
        </p:sp>
        <p:grpSp>
          <p:nvGrpSpPr>
            <p:cNvPr id="10" name="Group 25"/>
            <p:cNvGrpSpPr>
              <a:grpSpLocks/>
            </p:cNvGrpSpPr>
            <p:nvPr/>
          </p:nvGrpSpPr>
          <p:grpSpPr bwMode="auto">
            <a:xfrm>
              <a:off x="432" y="1152"/>
              <a:ext cx="1920" cy="576"/>
              <a:chOff x="432" y="1152"/>
              <a:chExt cx="1920" cy="576"/>
            </a:xfrm>
          </p:grpSpPr>
          <p:sp>
            <p:nvSpPr>
              <p:cNvPr id="12" name="Rectangle 24"/>
              <p:cNvSpPr>
                <a:spLocks noChangeArrowheads="1"/>
              </p:cNvSpPr>
              <p:nvPr/>
            </p:nvSpPr>
            <p:spPr bwMode="auto">
              <a:xfrm>
                <a:off x="432" y="1152"/>
                <a:ext cx="1920" cy="57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69316650"/>
                  </p:ext>
                </p:extLst>
              </p:nvPr>
            </p:nvGraphicFramePr>
            <p:xfrm>
              <a:off x="456" y="1202"/>
              <a:ext cx="1824" cy="4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32" name="Equation" r:id="rId4" imgW="774360" imgH="215640" progId="Equation.3">
                      <p:embed/>
                    </p:oleObj>
                  </mc:Choice>
                  <mc:Fallback>
                    <p:oleObj name="Equation" r:id="rId4" imgW="774360" imgH="215640" progId="Equation.3">
                      <p:embed/>
                      <p:pic>
                        <p:nvPicPr>
                          <p:cNvPr id="1331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" y="1202"/>
                            <a:ext cx="1824" cy="47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4" name="Group 26"/>
          <p:cNvGrpSpPr>
            <a:grpSpLocks/>
          </p:cNvGrpSpPr>
          <p:nvPr/>
        </p:nvGrpSpPr>
        <p:grpSpPr bwMode="auto">
          <a:xfrm>
            <a:off x="5387254" y="1752600"/>
            <a:ext cx="5303838" cy="4373564"/>
            <a:chOff x="2323" y="1248"/>
            <a:chExt cx="3341" cy="2755"/>
          </a:xfrm>
        </p:grpSpPr>
        <p:sp>
          <p:nvSpPr>
            <p:cNvPr id="15" name="Line 12"/>
            <p:cNvSpPr>
              <a:spLocks noChangeShapeType="1"/>
            </p:cNvSpPr>
            <p:nvPr/>
          </p:nvSpPr>
          <p:spPr bwMode="auto">
            <a:xfrm flipH="1">
              <a:off x="5328" y="19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pic>
          <p:nvPicPr>
            <p:cNvPr id="16" name="Picture 13" descr="I:\DCIM\100OLYMP\P5240015.JPG"/>
            <p:cNvPicPr>
              <a:picLocks noChangeAspect="1" noChangeArrowheads="1"/>
            </p:cNvPicPr>
            <p:nvPr/>
          </p:nvPicPr>
          <p:blipFill>
            <a:blip r:embed="rId6">
              <a:lum bright="-30000" contrast="6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" y="1248"/>
              <a:ext cx="2880" cy="2448"/>
            </a:xfrm>
            <a:prstGeom prst="rect">
              <a:avLst/>
            </a:prstGeom>
            <a:noFill/>
            <a:ln w="9525">
              <a:solidFill>
                <a:srgbClr val="FFFF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2323" y="3635"/>
              <a:ext cx="302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dirty="0">
                  <a:solidFill>
                    <a:schemeClr val="accent1"/>
                  </a:solidFill>
                </a:rPr>
                <a:t>D</a:t>
              </a: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3278" y="2731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h</a:t>
              </a:r>
            </a:p>
          </p:txBody>
        </p:sp>
        <p:sp>
          <p:nvSpPr>
            <p:cNvPr id="23" name="Text Box 22"/>
            <p:cNvSpPr txBox="1">
              <a:spLocks noChangeArrowheads="1"/>
            </p:cNvSpPr>
            <p:nvPr/>
          </p:nvSpPr>
          <p:spPr bwMode="auto">
            <a:xfrm>
              <a:off x="2337" y="2428"/>
              <a:ext cx="288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accent1"/>
                  </a:solidFill>
                </a:rPr>
                <a:t>h</a:t>
              </a:r>
            </a:p>
          </p:txBody>
        </p:sp>
      </p:grp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6303234" y="779968"/>
            <a:ext cx="21018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32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、直读法</a:t>
            </a:r>
          </a:p>
        </p:txBody>
      </p:sp>
      <p:sp>
        <p:nvSpPr>
          <p:cNvPr id="30" name="Line 14"/>
          <p:cNvSpPr>
            <a:spLocks noChangeShapeType="1"/>
          </p:cNvSpPr>
          <p:nvPr/>
        </p:nvSpPr>
        <p:spPr bwMode="auto">
          <a:xfrm rot="5400000" flipH="1" flipV="1">
            <a:off x="6245993" y="5169140"/>
            <a:ext cx="294283" cy="1020362"/>
          </a:xfrm>
          <a:prstGeom prst="lin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" name="Line 15"/>
          <p:cNvSpPr>
            <a:spLocks noChangeShapeType="1"/>
          </p:cNvSpPr>
          <p:nvPr/>
        </p:nvSpPr>
        <p:spPr bwMode="auto">
          <a:xfrm rot="5400000" flipH="1">
            <a:off x="7412619" y="3181378"/>
            <a:ext cx="0" cy="3806256"/>
          </a:xfrm>
          <a:prstGeom prst="lin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" name="Line 16"/>
          <p:cNvSpPr>
            <a:spLocks noChangeShapeType="1"/>
          </p:cNvSpPr>
          <p:nvPr/>
        </p:nvSpPr>
        <p:spPr bwMode="auto">
          <a:xfrm rot="5400000">
            <a:off x="7455386" y="806649"/>
            <a:ext cx="0" cy="3891790"/>
          </a:xfrm>
          <a:prstGeom prst="lin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" name="Line 17"/>
          <p:cNvSpPr>
            <a:spLocks noChangeShapeType="1"/>
          </p:cNvSpPr>
          <p:nvPr/>
        </p:nvSpPr>
        <p:spPr bwMode="auto">
          <a:xfrm rot="5400000" flipV="1">
            <a:off x="4714993" y="3909010"/>
            <a:ext cx="2343654" cy="7341"/>
          </a:xfrm>
          <a:prstGeom prst="line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6903316" y="5327765"/>
            <a:ext cx="576000" cy="252000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93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040679" y="718344"/>
            <a:ext cx="396557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00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400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zh-CN" altLang="en-US" sz="40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电压</a:t>
            </a:r>
            <a:r>
              <a:rPr lang="en-US" altLang="zh-CN" sz="40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V</a:t>
            </a:r>
            <a:r>
              <a:rPr lang="en-US" altLang="zh-CN" sz="20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P-P</a:t>
            </a:r>
            <a:r>
              <a:rPr lang="zh-CN" altLang="en-US" sz="40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测量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2222934" y="1918929"/>
            <a:ext cx="21018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</a:t>
            </a:r>
            <a:r>
              <a:rPr lang="zh-CN" altLang="en-US" sz="3200" b="1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、光标法</a:t>
            </a:r>
            <a:endParaRPr lang="zh-CN" altLang="en-US" sz="32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1" name="Rectangle 6"/>
          <p:cNvSpPr>
            <a:spLocks noChangeArrowheads="1"/>
          </p:cNvSpPr>
          <p:nvPr/>
        </p:nvSpPr>
        <p:spPr bwMode="auto">
          <a:xfrm>
            <a:off x="6172933" y="1072356"/>
            <a:ext cx="5409467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3921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操作步骤如下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zh-CN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endParaRPr lang="en-US" altLang="zh-CN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 algn="just">
              <a:buFont typeface="+mj-ea"/>
              <a:buAutoNum type="circleNumDbPlain"/>
            </a:pP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按下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ΔV-ΔT-1/ΔT-OFF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选择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ΔV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，这时会在屏上出现上下平行的两条水平光标，如图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 algn="just">
              <a:buFont typeface="+mj-ea"/>
              <a:buAutoNum type="circleNumDbPlain"/>
            </a:pP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按下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C1-C2-TRK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选择两条水平光标中的任一条（在前面会出现小亮线），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调节光标位置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移动旋钮，使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光标线到达所需位置。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 algn="just">
              <a:buFont typeface="+mj-ea"/>
              <a:buAutoNum type="circleNumDbPlain"/>
            </a:pP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再按下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C1-C2-TRK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选择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两条水平光标中的另一条，到达所需的另一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位置。两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光标之间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的电压差将直接显示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在屏幕的上方或下方。</a:t>
            </a:r>
            <a:endParaRPr lang="en-US" altLang="zh-CN" sz="20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5917" y="2844780"/>
            <a:ext cx="5443677" cy="3429000"/>
            <a:chOff x="183876" y="3109912"/>
            <a:chExt cx="5443677" cy="3429000"/>
          </a:xfrm>
        </p:grpSpPr>
        <p:pic>
          <p:nvPicPr>
            <p:cNvPr id="25" name="Picture 9" descr="I:\DCIM\100OLYMP\P5240020.JPG"/>
            <p:cNvPicPr>
              <a:picLocks noChangeAspect="1" noChangeArrowheads="1"/>
            </p:cNvPicPr>
            <p:nvPr/>
          </p:nvPicPr>
          <p:blipFill>
            <a:blip r:embed="rId4">
              <a:lum bright="-24000" contras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6553" y="3109912"/>
              <a:ext cx="4191000" cy="3429000"/>
            </a:xfrm>
            <a:prstGeom prst="rect">
              <a:avLst/>
            </a:prstGeom>
            <a:noFill/>
            <a:ln w="9525">
              <a:solidFill>
                <a:srgbClr val="FFFF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Line 11"/>
            <p:cNvSpPr>
              <a:spLocks noChangeShapeType="1"/>
            </p:cNvSpPr>
            <p:nvPr/>
          </p:nvSpPr>
          <p:spPr bwMode="auto">
            <a:xfrm>
              <a:off x="785090" y="5024582"/>
              <a:ext cx="1071419" cy="1108364"/>
            </a:xfrm>
            <a:prstGeom prst="line">
              <a:avLst/>
            </a:prstGeom>
            <a:ln w="57150">
              <a:solidFill>
                <a:schemeClr val="accent4">
                  <a:lumMod val="60000"/>
                  <a:lumOff val="40000"/>
                </a:schemeClr>
              </a:solidFill>
              <a:headEnd/>
              <a:tailEnd type="triangl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1237720"/>
                </p:ext>
              </p:extLst>
            </p:nvPr>
          </p:nvGraphicFramePr>
          <p:xfrm>
            <a:off x="183876" y="4224482"/>
            <a:ext cx="1090612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55" name="公式" r:id="rId5" imgW="291960" imgH="228600" progId="Equation.3">
                    <p:embed/>
                  </p:oleObj>
                </mc:Choice>
                <mc:Fallback>
                  <p:oleObj name="公式" r:id="rId5" imgW="291960" imgH="228600" progId="Equation.3">
                    <p:embed/>
                    <p:pic>
                      <p:nvPicPr>
                        <p:cNvPr id="13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876" y="4224482"/>
                          <a:ext cx="1090612" cy="800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9158881" y="419007"/>
            <a:ext cx="2479427" cy="1230890"/>
            <a:chOff x="9158881" y="419007"/>
            <a:chExt cx="2479427" cy="1230890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7"/>
            <a:srcRect l="57618" t="6638" r="20197" b="66421"/>
            <a:stretch/>
          </p:blipFill>
          <p:spPr>
            <a:xfrm>
              <a:off x="9158881" y="419007"/>
              <a:ext cx="2479427" cy="1230890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10614466" y="594000"/>
              <a:ext cx="1023842" cy="409852"/>
            </a:xfrm>
            <a:prstGeom prst="rect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0058400" y="1339229"/>
              <a:ext cx="278296" cy="180000"/>
            </a:xfrm>
            <a:prstGeom prst="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1571486" y="6080371"/>
            <a:ext cx="1540565" cy="0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68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16</a:t>
            </a:fld>
            <a:endParaRPr lang="zh-CN" altLang="en-US"/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7086600" y="2158734"/>
            <a:ext cx="3048000" cy="838200"/>
            <a:chOff x="3600" y="1056"/>
            <a:chExt cx="1920" cy="528"/>
          </a:xfrm>
        </p:grpSpPr>
        <p:sp>
          <p:nvSpPr>
            <p:cNvPr id="5" name="Rectangle 20"/>
            <p:cNvSpPr>
              <a:spLocks noChangeArrowheads="1"/>
            </p:cNvSpPr>
            <p:nvPr/>
          </p:nvSpPr>
          <p:spPr bwMode="auto">
            <a:xfrm>
              <a:off x="3600" y="1056"/>
              <a:ext cx="1920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" name="Object 3"/>
            <p:cNvGraphicFramePr>
              <a:graphicFrameLocks noChangeAspect="1"/>
            </p:cNvGraphicFramePr>
            <p:nvPr/>
          </p:nvGraphicFramePr>
          <p:xfrm>
            <a:off x="3648" y="1056"/>
            <a:ext cx="182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1" r:id="rId4" imgW="685502" imgH="215806" progId="Equation.3">
                    <p:embed/>
                  </p:oleObj>
                </mc:Choice>
                <mc:Fallback>
                  <p:oleObj r:id="rId4" imgW="685502" imgH="215806" progId="Equation.3">
                    <p:embed/>
                    <p:pic>
                      <p:nvPicPr>
                        <p:cNvPr id="15363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056"/>
                          <a:ext cx="1824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7112947" y="3574784"/>
            <a:ext cx="3513138" cy="2165350"/>
            <a:chOff x="3696" y="1824"/>
            <a:chExt cx="2213" cy="1364"/>
          </a:xfrm>
        </p:grpSpPr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 flipH="1">
              <a:off x="3696" y="2208"/>
              <a:ext cx="20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Q</a:t>
              </a:r>
              <a:r>
                <a:rPr lang="zh-CN" altLang="en-US" sz="28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：</a:t>
              </a:r>
              <a:r>
                <a:rPr lang="zh-CN" altLang="en-US" sz="2800" dirty="0">
                  <a:latin typeface="等线" panose="02010600030101010101" pitchFamily="2" charset="-122"/>
                  <a:ea typeface="等线" panose="02010600030101010101" pitchFamily="2" charset="-122"/>
                </a:rPr>
                <a:t>表示时基因素</a:t>
              </a:r>
              <a:r>
                <a:rPr lang="zh-CN" altLang="en-US" sz="1800" dirty="0"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696" y="1824"/>
              <a:ext cx="17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T</a:t>
              </a:r>
              <a:r>
                <a:rPr lang="en-US" altLang="zh-CN" sz="2800" b="1" baseline="-30000" dirty="0">
                  <a:latin typeface="等线" panose="02010600030101010101" pitchFamily="2" charset="-122"/>
                  <a:ea typeface="等线" panose="02010600030101010101" pitchFamily="2" charset="-122"/>
                </a:rPr>
                <a:t>X  </a:t>
              </a:r>
              <a:r>
                <a:rPr lang="zh-CN" altLang="en-US" sz="28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：</a:t>
              </a:r>
              <a:r>
                <a:rPr lang="zh-CN" altLang="en-US" sz="2800" b="1" baseline="-30000" dirty="0"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  <a:r>
                <a:rPr lang="zh-CN" altLang="en-US" sz="2800" dirty="0">
                  <a:latin typeface="等线" panose="02010600030101010101" pitchFamily="2" charset="-122"/>
                  <a:ea typeface="等线" panose="02010600030101010101" pitchFamily="2" charset="-122"/>
                </a:rPr>
                <a:t>测量周期</a:t>
              </a: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3714" y="2592"/>
              <a:ext cx="2195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X</a:t>
              </a:r>
              <a:r>
                <a:rPr lang="zh-CN" altLang="en-US" sz="28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：</a:t>
              </a:r>
              <a:r>
                <a:rPr lang="zh-CN" altLang="en-US" sz="2800" dirty="0">
                  <a:latin typeface="等线" panose="02010600030101010101" pitchFamily="2" charset="-122"/>
                  <a:ea typeface="等线" panose="02010600030101010101" pitchFamily="2" charset="-122"/>
                </a:rPr>
                <a:t>一个周期信号</a:t>
              </a:r>
            </a:p>
            <a:p>
              <a:r>
                <a:rPr lang="zh-CN" altLang="en-US" sz="2800" dirty="0">
                  <a:latin typeface="等线" panose="02010600030101010101" pitchFamily="2" charset="-122"/>
                  <a:ea typeface="等线" panose="02010600030101010101" pitchFamily="2" charset="-122"/>
                </a:rPr>
                <a:t>   占有的格数</a:t>
              </a:r>
            </a:p>
          </p:txBody>
        </p:sp>
      </p:grp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762000" y="720000"/>
            <a:ext cx="553228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400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zh-CN" altLang="en-US" sz="40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周期</a:t>
            </a:r>
            <a:r>
              <a:rPr lang="en-US" altLang="zh-CN" sz="40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40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与频率</a:t>
            </a:r>
            <a:r>
              <a:rPr lang="en-US" altLang="zh-CN" sz="40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</a:t>
            </a:r>
            <a:r>
              <a:rPr lang="zh-CN" altLang="en-US" sz="40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的测量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7938214" y="847494"/>
            <a:ext cx="21018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32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、直读法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1252331" y="1948573"/>
            <a:ext cx="4760546" cy="4511449"/>
            <a:chOff x="1252331" y="1948573"/>
            <a:chExt cx="4760546" cy="4511449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6"/>
            <a:srcRect l="8386" t="11663" r="6261" b="18066"/>
            <a:stretch/>
          </p:blipFill>
          <p:spPr>
            <a:xfrm>
              <a:off x="1252331" y="1948573"/>
              <a:ext cx="4711148" cy="3754750"/>
            </a:xfrm>
            <a:prstGeom prst="rect">
              <a:avLst/>
            </a:prstGeom>
          </p:spPr>
        </p:pic>
        <p:grpSp>
          <p:nvGrpSpPr>
            <p:cNvPr id="23" name="组合 22"/>
            <p:cNvGrpSpPr/>
            <p:nvPr/>
          </p:nvGrpSpPr>
          <p:grpSpPr>
            <a:xfrm>
              <a:off x="1754509" y="2074340"/>
              <a:ext cx="4258368" cy="4385682"/>
              <a:chOff x="2484284" y="3159273"/>
              <a:chExt cx="3584575" cy="3691744"/>
            </a:xfrm>
          </p:grpSpPr>
          <p:sp>
            <p:nvSpPr>
              <p:cNvPr id="15" name="Text Box 10"/>
              <p:cNvSpPr txBox="1">
                <a:spLocks noChangeArrowheads="1"/>
              </p:cNvSpPr>
              <p:nvPr/>
            </p:nvSpPr>
            <p:spPr bwMode="auto">
              <a:xfrm>
                <a:off x="5481484" y="6358770"/>
                <a:ext cx="587375" cy="4922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chemeClr val="accent1"/>
                    </a:solidFill>
                  </a:rPr>
                  <a:t>Q</a:t>
                </a:r>
              </a:p>
            </p:txBody>
          </p:sp>
          <p:sp>
            <p:nvSpPr>
              <p:cNvPr id="16" name="Line 14"/>
              <p:cNvSpPr>
                <a:spLocks noChangeShapeType="1"/>
              </p:cNvSpPr>
              <p:nvPr/>
            </p:nvSpPr>
            <p:spPr bwMode="auto">
              <a:xfrm flipH="1" flipV="1">
                <a:off x="4864161" y="6151711"/>
                <a:ext cx="636380" cy="438240"/>
              </a:xfrm>
              <a:prstGeom prst="line">
                <a:avLst/>
              </a:prstGeom>
              <a:noFill/>
              <a:ln w="28575">
                <a:solidFill>
                  <a:schemeClr val="accent4">
                    <a:lumMod val="60000"/>
                    <a:lumOff val="40000"/>
                  </a:schemeClr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7" name="Line 15"/>
              <p:cNvSpPr>
                <a:spLocks noChangeShapeType="1"/>
              </p:cNvSpPr>
              <p:nvPr/>
            </p:nvSpPr>
            <p:spPr bwMode="auto">
              <a:xfrm flipH="1">
                <a:off x="2484284" y="3268949"/>
                <a:ext cx="0" cy="3204000"/>
              </a:xfrm>
              <a:prstGeom prst="line">
                <a:avLst/>
              </a:prstGeom>
              <a:noFill/>
              <a:ln w="28575">
                <a:solidFill>
                  <a:schemeClr val="accent4">
                    <a:lumMod val="60000"/>
                    <a:lumOff val="40000"/>
                  </a:schemeClr>
                </a:solidFill>
                <a:prstDash val="sys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" name="Line 16"/>
              <p:cNvSpPr>
                <a:spLocks noChangeShapeType="1"/>
              </p:cNvSpPr>
              <p:nvPr/>
            </p:nvSpPr>
            <p:spPr bwMode="auto">
              <a:xfrm>
                <a:off x="4323023" y="3159273"/>
                <a:ext cx="0" cy="3276000"/>
              </a:xfrm>
              <a:prstGeom prst="line">
                <a:avLst/>
              </a:prstGeom>
              <a:noFill/>
              <a:ln w="28575">
                <a:solidFill>
                  <a:schemeClr val="accent4">
                    <a:lumMod val="60000"/>
                    <a:lumOff val="40000"/>
                  </a:schemeClr>
                </a:solidFill>
                <a:prstDash val="sys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9" name="Line 17"/>
              <p:cNvSpPr>
                <a:spLocks noChangeShapeType="1"/>
              </p:cNvSpPr>
              <p:nvPr/>
            </p:nvSpPr>
            <p:spPr bwMode="auto">
              <a:xfrm>
                <a:off x="2484284" y="6358770"/>
                <a:ext cx="1838739" cy="0"/>
              </a:xfrm>
              <a:prstGeom prst="line">
                <a:avLst/>
              </a:prstGeom>
              <a:noFill/>
              <a:ln w="28575">
                <a:solidFill>
                  <a:schemeClr val="accent4">
                    <a:lumMod val="60000"/>
                    <a:lumOff val="40000"/>
                  </a:schemeClr>
                </a:solidFill>
                <a:miter lim="800000"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" name="Text Box 18"/>
              <p:cNvSpPr txBox="1">
                <a:spLocks noChangeArrowheads="1"/>
              </p:cNvSpPr>
              <p:nvPr/>
            </p:nvSpPr>
            <p:spPr bwMode="auto">
              <a:xfrm>
                <a:off x="3229098" y="6351306"/>
                <a:ext cx="369996" cy="4922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 dirty="0">
                    <a:solidFill>
                      <a:schemeClr val="accent1"/>
                    </a:solidFill>
                  </a:rPr>
                  <a:t>X</a:t>
                </a:r>
              </a:p>
            </p:txBody>
          </p:sp>
        </p:grpSp>
        <p:sp>
          <p:nvSpPr>
            <p:cNvPr id="25" name="矩形 24"/>
            <p:cNvSpPr/>
            <p:nvPr/>
          </p:nvSpPr>
          <p:spPr>
            <a:xfrm>
              <a:off x="4263361" y="5368356"/>
              <a:ext cx="576000" cy="252000"/>
            </a:xfrm>
            <a:prstGeom prst="rect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402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3"/>
          <a:srcRect l="8386" t="11663" r="6261" b="18066"/>
          <a:stretch/>
        </p:blipFill>
        <p:spPr>
          <a:xfrm>
            <a:off x="1288245" y="2504368"/>
            <a:ext cx="4711148" cy="3754750"/>
          </a:xfrm>
          <a:prstGeom prst="rect">
            <a:avLst/>
          </a:prstGeom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6228841" y="1427886"/>
            <a:ext cx="5409467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3921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操作步骤如下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endParaRPr lang="en-US" altLang="zh-CN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/>
            <a:endParaRPr lang="en-US" altLang="zh-CN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 algn="just">
              <a:buFont typeface="+mj-ea"/>
              <a:buAutoNum type="circleNumDbPlain"/>
            </a:pP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按下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ΔV-ΔT-1/ΔT-OFF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选择</a:t>
            </a:r>
            <a:r>
              <a:rPr lang="en-US" altLang="zh-CN" dirty="0" smtClean="0">
                <a:latin typeface="等线" panose="02010600030101010101" pitchFamily="2" charset="-122"/>
                <a:ea typeface="等线" panose="02010600030101010101" pitchFamily="2" charset="-122"/>
              </a:rPr>
              <a:t>ΔT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或</a:t>
            </a:r>
            <a:r>
              <a:rPr lang="en-US" altLang="zh-CN" dirty="0" smtClean="0">
                <a:latin typeface="等线" panose="02010600030101010101" pitchFamily="2" charset="-122"/>
                <a:ea typeface="等线" panose="02010600030101010101" pitchFamily="2" charset="-122"/>
              </a:rPr>
              <a:t>1/ΔT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这时会在屏上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出现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左右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平行的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两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条垂直光标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，如图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 algn="just">
              <a:buFont typeface="+mj-ea"/>
              <a:buAutoNum type="circleNumDbPlain"/>
            </a:pP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按下</a:t>
            </a: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C1-C2-TRK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选择两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条垂直光标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中的任一条（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在上面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会出现小亮线），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调节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光标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位置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移动旋钮，使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光标线到达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所需位置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457200" indent="-457200" algn="just">
              <a:buFont typeface="+mj-ea"/>
              <a:buAutoNum type="circleNumDbPlain"/>
            </a:pP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再按下</a:t>
            </a: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C1-C2-TRK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选择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两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条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垂直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光标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中的另一条，到达所需的另一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位置。两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光标之间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的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ΔT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或</a:t>
            </a:r>
            <a:r>
              <a:rPr lang="en-US" altLang="zh-CN" dirty="0" smtClean="0">
                <a:latin typeface="等线" panose="02010600030101010101" pitchFamily="2" charset="-122"/>
                <a:ea typeface="等线" panose="02010600030101010101" pitchFamily="2" charset="-122"/>
              </a:rPr>
              <a:t>1/</a:t>
            </a:r>
            <a:r>
              <a:rPr lang="en-US" altLang="zh-CN" dirty="0" err="1" smtClean="0">
                <a:latin typeface="等线" panose="02010600030101010101" pitchFamily="2" charset="-122"/>
                <a:ea typeface="等线" panose="02010600030101010101" pitchFamily="2" charset="-122"/>
              </a:rPr>
              <a:t>Δt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的数值会直接显示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在屏幕</a:t>
            </a:r>
            <a:r>
              <a:rPr lang="zh-CN" altLang="en-US" dirty="0" smtClean="0">
                <a:latin typeface="等线" panose="02010600030101010101" pitchFamily="2" charset="-122"/>
                <a:ea typeface="等线" panose="02010600030101010101" pitchFamily="2" charset="-122"/>
              </a:rPr>
              <a:t>的上方或下方。</a:t>
            </a:r>
            <a:endParaRPr lang="en-US" altLang="zh-CN" sz="20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762000" y="720000"/>
            <a:ext cx="553228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400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zh-CN" altLang="en-US" sz="40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周期</a:t>
            </a:r>
            <a:r>
              <a:rPr lang="en-US" altLang="zh-CN" sz="40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40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与频率</a:t>
            </a:r>
            <a:r>
              <a:rPr lang="en-US" altLang="zh-CN" sz="40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</a:t>
            </a:r>
            <a:r>
              <a:rPr lang="zh-CN" altLang="en-US" sz="4000" b="1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的测量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1994334" y="1823607"/>
            <a:ext cx="21018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</a:t>
            </a:r>
            <a:r>
              <a:rPr lang="zh-CN" altLang="en-US" sz="3200" b="1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、光标法</a:t>
            </a:r>
            <a:endParaRPr lang="zh-CN" altLang="en-US" sz="3200" b="1" dirty="0">
              <a:solidFill>
                <a:schemeClr val="tx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41969" y="3632756"/>
            <a:ext cx="1447800" cy="2594385"/>
            <a:chOff x="5544436" y="5700270"/>
            <a:chExt cx="1447800" cy="2594385"/>
          </a:xfrm>
        </p:grpSpPr>
        <p:grpSp>
          <p:nvGrpSpPr>
            <p:cNvPr id="2" name="组合 1"/>
            <p:cNvGrpSpPr/>
            <p:nvPr/>
          </p:nvGrpSpPr>
          <p:grpSpPr>
            <a:xfrm>
              <a:off x="5544436" y="5700270"/>
              <a:ext cx="1447800" cy="1579286"/>
              <a:chOff x="5193445" y="5603274"/>
              <a:chExt cx="1447800" cy="1579286"/>
            </a:xfrm>
          </p:grpSpPr>
          <p:sp>
            <p:nvSpPr>
              <p:cNvPr id="26" name="Text Box 11"/>
              <p:cNvSpPr txBox="1">
                <a:spLocks noChangeArrowheads="1"/>
              </p:cNvSpPr>
              <p:nvPr/>
            </p:nvSpPr>
            <p:spPr bwMode="auto">
              <a:xfrm>
                <a:off x="5332141" y="6720895"/>
                <a:ext cx="5111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dirty="0"/>
                  <a:t>或</a:t>
                </a:r>
              </a:p>
            </p:txBody>
          </p:sp>
          <p:sp>
            <p:nvSpPr>
              <p:cNvPr id="30" name="Rectangle 10"/>
              <p:cNvSpPr>
                <a:spLocks noChangeArrowheads="1"/>
              </p:cNvSpPr>
              <p:nvPr/>
            </p:nvSpPr>
            <p:spPr bwMode="auto">
              <a:xfrm>
                <a:off x="5193445" y="5603274"/>
                <a:ext cx="1447800" cy="1006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6000" dirty="0"/>
                  <a:t>T</a:t>
                </a:r>
                <a:r>
                  <a:rPr lang="en-US" altLang="zh-CN" sz="6000" baseline="-30000" dirty="0"/>
                  <a:t>X</a:t>
                </a:r>
                <a:endParaRPr lang="en-US" altLang="zh-CN" sz="6000" dirty="0"/>
              </a:p>
            </p:txBody>
          </p:sp>
        </p:grpSp>
        <p:sp>
          <p:nvSpPr>
            <p:cNvPr id="31" name="Text Box 12"/>
            <p:cNvSpPr txBox="1">
              <a:spLocks noChangeArrowheads="1"/>
            </p:cNvSpPr>
            <p:nvPr/>
          </p:nvSpPr>
          <p:spPr bwMode="auto">
            <a:xfrm>
              <a:off x="5704740" y="6983380"/>
              <a:ext cx="522288" cy="1311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8000" dirty="0"/>
                <a:t>f</a:t>
              </a:r>
            </a:p>
          </p:txBody>
        </p:sp>
      </p:grpSp>
      <p:sp>
        <p:nvSpPr>
          <p:cNvPr id="32" name="Line 11"/>
          <p:cNvSpPr>
            <a:spLocks noChangeShapeType="1"/>
          </p:cNvSpPr>
          <p:nvPr/>
        </p:nvSpPr>
        <p:spPr bwMode="auto">
          <a:xfrm flipV="1">
            <a:off x="1058797" y="3054468"/>
            <a:ext cx="1677248" cy="2064309"/>
          </a:xfrm>
          <a:prstGeom prst="line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headEnd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33" name="Line 11"/>
          <p:cNvSpPr>
            <a:spLocks noChangeShapeType="1"/>
          </p:cNvSpPr>
          <p:nvPr/>
        </p:nvSpPr>
        <p:spPr bwMode="auto">
          <a:xfrm>
            <a:off x="1977886" y="2958481"/>
            <a:ext cx="1540565" cy="0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endParaRPr lang="zh-CN" altLang="en-US"/>
          </a:p>
        </p:txBody>
      </p:sp>
      <p:grpSp>
        <p:nvGrpSpPr>
          <p:cNvPr id="37" name="组合 36"/>
          <p:cNvGrpSpPr/>
          <p:nvPr/>
        </p:nvGrpSpPr>
        <p:grpSpPr>
          <a:xfrm>
            <a:off x="9158881" y="419007"/>
            <a:ext cx="2479427" cy="1230890"/>
            <a:chOff x="9158881" y="419007"/>
            <a:chExt cx="2479427" cy="1230890"/>
          </a:xfrm>
        </p:grpSpPr>
        <p:pic>
          <p:nvPicPr>
            <p:cNvPr id="35" name="图片 34"/>
            <p:cNvPicPr>
              <a:picLocks noChangeAspect="1"/>
            </p:cNvPicPr>
            <p:nvPr/>
          </p:nvPicPr>
          <p:blipFill rotWithShape="1">
            <a:blip r:embed="rId4"/>
            <a:srcRect l="57618" t="6638" r="20197" b="66421"/>
            <a:stretch/>
          </p:blipFill>
          <p:spPr>
            <a:xfrm>
              <a:off x="9158881" y="419007"/>
              <a:ext cx="2479427" cy="1230890"/>
            </a:xfrm>
            <a:prstGeom prst="rect">
              <a:avLst/>
            </a:prstGeom>
          </p:spPr>
        </p:pic>
        <p:sp>
          <p:nvSpPr>
            <p:cNvPr id="36" name="矩形 35"/>
            <p:cNvSpPr/>
            <p:nvPr/>
          </p:nvSpPr>
          <p:spPr>
            <a:xfrm>
              <a:off x="10614466" y="594000"/>
              <a:ext cx="1023842" cy="409852"/>
            </a:xfrm>
            <a:prstGeom prst="rect">
              <a:avLst/>
            </a:pr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0058400" y="1339229"/>
              <a:ext cx="278296" cy="180000"/>
            </a:xfrm>
            <a:prstGeom prst="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0813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BCBB1E7E-5AB6-4B6D-87A4-5A7FD95E5D94}"/>
              </a:ext>
            </a:extLst>
          </p:cNvPr>
          <p:cNvSpPr txBox="1"/>
          <p:nvPr/>
        </p:nvSpPr>
        <p:spPr>
          <a:xfrm>
            <a:off x="296215" y="167705"/>
            <a:ext cx="6779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四、实验内容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309EA4-0E10-482F-AA5F-2ACA4E8960C1}"/>
              </a:ext>
            </a:extLst>
          </p:cNvPr>
          <p:cNvSpPr txBox="1"/>
          <p:nvPr/>
        </p:nvSpPr>
        <p:spPr>
          <a:xfrm>
            <a:off x="506027" y="958788"/>
            <a:ext cx="9197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实验一、用直接测量法，光标测量法，测量信号电压</a:t>
            </a:r>
            <a:endParaRPr lang="en-US" altLang="zh-CN" dirty="0"/>
          </a:p>
          <a:p>
            <a:r>
              <a:rPr lang="zh-CN" altLang="en-US" dirty="0"/>
              <a:t>实验二：用直接测量法，光标测量法，测量信号周期或频率。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E02583-C607-4E31-9971-D89F72C7CCC8}"/>
              </a:ext>
            </a:extLst>
          </p:cNvPr>
          <p:cNvSpPr txBox="1"/>
          <p:nvPr/>
        </p:nvSpPr>
        <p:spPr>
          <a:xfrm>
            <a:off x="506027" y="2083655"/>
            <a:ext cx="3923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实验三、用比较法验证：</a:t>
            </a:r>
            <a:endParaRPr lang="en-US" altLang="zh-CN" sz="28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C3BD9DE-C11E-4D20-9C04-EEFFB9000D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053761"/>
              </p:ext>
            </p:extLst>
          </p:nvPr>
        </p:nvGraphicFramePr>
        <p:xfrm>
          <a:off x="4429957" y="2121996"/>
          <a:ext cx="1003809" cy="465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6" name="Equation" r:id="rId3" imgW="520560" imgH="241200" progId="Equation.DSMT4">
                  <p:embed/>
                </p:oleObj>
              </mc:Choice>
              <mc:Fallback>
                <p:oleObj name="Equation" r:id="rId3" imgW="5205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29957" y="2121996"/>
                        <a:ext cx="1003809" cy="465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8211F4D-0DE8-4438-B5FC-36D23871AB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203371"/>
              </p:ext>
            </p:extLst>
          </p:nvPr>
        </p:nvGraphicFramePr>
        <p:xfrm>
          <a:off x="506027" y="2724347"/>
          <a:ext cx="10856913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" name="Equation" r:id="rId5" imgW="5626080" imgH="457200" progId="Equation.DSMT4">
                  <p:embed/>
                </p:oleObj>
              </mc:Choice>
              <mc:Fallback>
                <p:oleObj name="Equation" r:id="rId5" imgW="5626080" imgH="4572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C3BD9DE-C11E-4D20-9C04-EEFFB9000D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6027" y="2724347"/>
                        <a:ext cx="10856913" cy="87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528BF3E-BF1A-493A-BC60-32756205228E}"/>
              </a:ext>
            </a:extLst>
          </p:cNvPr>
          <p:cNvSpPr txBox="1"/>
          <p:nvPr/>
        </p:nvSpPr>
        <p:spPr>
          <a:xfrm>
            <a:off x="1074196" y="1635192"/>
            <a:ext cx="9037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调整示波器和信号发性器，观察稳定的信号波形，体会触发同步；熟悉基本操作。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305E61-C7CB-454E-911B-794A58350D7B}"/>
              </a:ext>
            </a:extLst>
          </p:cNvPr>
          <p:cNvSpPr txBox="1"/>
          <p:nvPr/>
        </p:nvSpPr>
        <p:spPr>
          <a:xfrm>
            <a:off x="590364" y="5898535"/>
            <a:ext cx="10320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理解：用信号发生器检验示波器扫描时基的精度，注意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000" dirty="0">
                <a:solidFill>
                  <a:srgbClr val="FF0000"/>
                </a:solidFill>
              </a:rPr>
              <a:t>的有效位数和百分误差的位数选取。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9573DC0-40F0-48D6-A920-402ED782F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160822"/>
              </p:ext>
            </p:extLst>
          </p:nvPr>
        </p:nvGraphicFramePr>
        <p:xfrm>
          <a:off x="590364" y="3767385"/>
          <a:ext cx="1038687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839">
                  <a:extLst>
                    <a:ext uri="{9D8B030D-6E8A-4147-A177-3AD203B41FA5}">
                      <a16:colId xmlns:a16="http://schemas.microsoft.com/office/drawing/2014/main" val="1059792289"/>
                    </a:ext>
                  </a:extLst>
                </a:gridCol>
                <a:gridCol w="1483839">
                  <a:extLst>
                    <a:ext uri="{9D8B030D-6E8A-4147-A177-3AD203B41FA5}">
                      <a16:colId xmlns:a16="http://schemas.microsoft.com/office/drawing/2014/main" val="551619171"/>
                    </a:ext>
                  </a:extLst>
                </a:gridCol>
                <a:gridCol w="1483839">
                  <a:extLst>
                    <a:ext uri="{9D8B030D-6E8A-4147-A177-3AD203B41FA5}">
                      <a16:colId xmlns:a16="http://schemas.microsoft.com/office/drawing/2014/main" val="2364830963"/>
                    </a:ext>
                  </a:extLst>
                </a:gridCol>
                <a:gridCol w="1483839">
                  <a:extLst>
                    <a:ext uri="{9D8B030D-6E8A-4147-A177-3AD203B41FA5}">
                      <a16:colId xmlns:a16="http://schemas.microsoft.com/office/drawing/2014/main" val="432536700"/>
                    </a:ext>
                  </a:extLst>
                </a:gridCol>
                <a:gridCol w="1483839">
                  <a:extLst>
                    <a:ext uri="{9D8B030D-6E8A-4147-A177-3AD203B41FA5}">
                      <a16:colId xmlns:a16="http://schemas.microsoft.com/office/drawing/2014/main" val="120821064"/>
                    </a:ext>
                  </a:extLst>
                </a:gridCol>
                <a:gridCol w="1483839">
                  <a:extLst>
                    <a:ext uri="{9D8B030D-6E8A-4147-A177-3AD203B41FA5}">
                      <a16:colId xmlns:a16="http://schemas.microsoft.com/office/drawing/2014/main" val="3694485823"/>
                    </a:ext>
                  </a:extLst>
                </a:gridCol>
                <a:gridCol w="1483839">
                  <a:extLst>
                    <a:ext uri="{9D8B030D-6E8A-4147-A177-3AD203B41FA5}">
                      <a16:colId xmlns:a16="http://schemas.microsoft.com/office/drawing/2014/main" val="2666924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波形个数</a:t>
                      </a:r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774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测量</a:t>
                      </a:r>
                      <a:r>
                        <a:rPr lang="en-US" altLang="zh-C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</a:t>
                      </a:r>
                      <a:r>
                        <a:rPr lang="en-US" altLang="zh-CN" i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(Hz)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401.3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706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计算</a:t>
                      </a:r>
                      <a:r>
                        <a:rPr lang="en-US" altLang="zh-CN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i="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i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(Hz)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200.6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281772"/>
                  </a:ext>
                </a:extLst>
              </a:tr>
            </a:tbl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9A3B22E-170F-4B78-8A16-D8B5123DC4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598658"/>
              </p:ext>
            </p:extLst>
          </p:nvPr>
        </p:nvGraphicFramePr>
        <p:xfrm>
          <a:off x="575082" y="4903510"/>
          <a:ext cx="5359401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" name="Equation" r:id="rId7" imgW="2577960" imgH="457200" progId="Equation.DSMT4">
                  <p:embed/>
                </p:oleObj>
              </mc:Choice>
              <mc:Fallback>
                <p:oleObj name="Equation" r:id="rId7" imgW="25779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5082" y="4903510"/>
                        <a:ext cx="5359401" cy="949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F95146EF-2780-4864-8EA3-D32AE991B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485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2E02583-C607-4E31-9971-D89F72C7CCC8}"/>
              </a:ext>
            </a:extLst>
          </p:cNvPr>
          <p:cNvSpPr txBox="1"/>
          <p:nvPr/>
        </p:nvSpPr>
        <p:spPr>
          <a:xfrm>
            <a:off x="390617" y="457893"/>
            <a:ext cx="6779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实验四、用李萨如图测量未知信号的频率</a:t>
            </a:r>
            <a:endParaRPr lang="en-US" altLang="zh-CN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305E61-C7CB-454E-911B-794A58350D7B}"/>
              </a:ext>
            </a:extLst>
          </p:cNvPr>
          <p:cNvSpPr txBox="1"/>
          <p:nvPr/>
        </p:nvSpPr>
        <p:spPr>
          <a:xfrm>
            <a:off x="943991" y="5688998"/>
            <a:ext cx="8851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思考：测量精度可达多少位有效数字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993246-E1BA-4F18-82FE-3C710E9482A2}"/>
              </a:ext>
            </a:extLst>
          </p:cNvPr>
          <p:cNvSpPr txBox="1"/>
          <p:nvPr/>
        </p:nvSpPr>
        <p:spPr>
          <a:xfrm>
            <a:off x="634751" y="1047565"/>
            <a:ext cx="1009047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rgbClr val="FF0000"/>
                </a:solidFill>
              </a:rPr>
              <a:t>用信号发生器的</a:t>
            </a:r>
            <a:r>
              <a:rPr lang="en-US" altLang="zh-CN" sz="2400" dirty="0">
                <a:solidFill>
                  <a:srgbClr val="FF0000"/>
                </a:solidFill>
              </a:rPr>
              <a:t>CH2</a:t>
            </a:r>
            <a:r>
              <a:rPr lang="zh-CN" altLang="en-US" sz="2400" dirty="0">
                <a:solidFill>
                  <a:srgbClr val="FF0000"/>
                </a:solidFill>
              </a:rPr>
              <a:t>输出</a:t>
            </a:r>
            <a:r>
              <a:rPr lang="en-US" altLang="zh-CN" sz="2400" dirty="0">
                <a:solidFill>
                  <a:srgbClr val="FF0000"/>
                </a:solidFill>
              </a:rPr>
              <a:t>200Hz</a:t>
            </a:r>
            <a:r>
              <a:rPr lang="zh-CN" altLang="en-US" sz="2400" dirty="0">
                <a:solidFill>
                  <a:srgbClr val="FF0000"/>
                </a:solidFill>
              </a:rPr>
              <a:t>（</a:t>
            </a:r>
            <a:r>
              <a:rPr lang="zh-CN" altLang="en-US" sz="2400" dirty="0"/>
              <a:t>或</a:t>
            </a:r>
            <a:r>
              <a:rPr lang="en-US" altLang="zh-CN" sz="2400" dirty="0"/>
              <a:t>50Hz</a:t>
            </a:r>
            <a:r>
              <a:rPr lang="zh-CN" altLang="en-US" sz="2400" dirty="0">
                <a:solidFill>
                  <a:srgbClr val="FF0000"/>
                </a:solidFill>
              </a:rPr>
              <a:t>）信号作为未知信号输入示波器的“</a:t>
            </a:r>
            <a:r>
              <a:rPr lang="en-US" altLang="zh-CN" sz="2400" dirty="0">
                <a:solidFill>
                  <a:srgbClr val="FF0000"/>
                </a:solidFill>
              </a:rPr>
              <a:t>CH2</a:t>
            </a:r>
            <a:r>
              <a:rPr lang="zh-CN" altLang="en-US" sz="2400" dirty="0">
                <a:solidFill>
                  <a:srgbClr val="FF0000"/>
                </a:solidFill>
              </a:rPr>
              <a:t>”通道，作为</a:t>
            </a:r>
            <a:r>
              <a:rPr lang="en-US" altLang="zh-CN" sz="2400" dirty="0">
                <a:solidFill>
                  <a:srgbClr val="FF0000"/>
                </a:solidFill>
              </a:rPr>
              <a:t>Y</a:t>
            </a:r>
            <a:r>
              <a:rPr lang="zh-CN" altLang="en-US" sz="2400" dirty="0">
                <a:solidFill>
                  <a:srgbClr val="FF0000"/>
                </a:solidFill>
              </a:rPr>
              <a:t>信号源。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、用信号发生器的</a:t>
            </a:r>
            <a:r>
              <a:rPr lang="en-US" altLang="zh-CN" sz="2400" dirty="0"/>
              <a:t>CH1</a:t>
            </a:r>
            <a:r>
              <a:rPr lang="zh-CN" altLang="en-US" sz="2400" dirty="0"/>
              <a:t>输出信号作为频率已知的信号源，输入示波器的“</a:t>
            </a:r>
            <a:r>
              <a:rPr lang="en-US" altLang="zh-CN" sz="2400" dirty="0"/>
              <a:t>CH1</a:t>
            </a:r>
            <a:r>
              <a:rPr lang="zh-CN" altLang="en-US" sz="2400" dirty="0"/>
              <a:t>”通道，作为</a:t>
            </a:r>
            <a:r>
              <a:rPr lang="en-US" altLang="zh-CN" sz="2400" dirty="0"/>
              <a:t>X</a:t>
            </a:r>
            <a:r>
              <a:rPr lang="zh-CN" altLang="en-US" sz="2400" dirty="0"/>
              <a:t>信号源，改变信号发生器</a:t>
            </a:r>
            <a:r>
              <a:rPr lang="en-US" altLang="zh-CN" sz="2400" dirty="0"/>
              <a:t>CH1</a:t>
            </a:r>
            <a:r>
              <a:rPr lang="zh-CN" altLang="en-US" sz="2400" dirty="0"/>
              <a:t>信号的输出频率，细心调节输出频率，观察李萨如图的变化，并由此测量</a:t>
            </a:r>
            <a:r>
              <a:rPr lang="en-US" altLang="zh-CN" sz="2400" dirty="0"/>
              <a:t>Y</a:t>
            </a:r>
            <a:r>
              <a:rPr lang="zh-CN" altLang="en-US" sz="2400" dirty="0"/>
              <a:t>信号源的频率。</a:t>
            </a:r>
            <a:endParaRPr lang="en-US" altLang="zh-CN" sz="2400" dirty="0"/>
          </a:p>
          <a:p>
            <a:endParaRPr lang="zh-CN" altLang="en-US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9F31272-4EC3-4E6C-90F9-83B33C8D3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93316"/>
              </p:ext>
            </p:extLst>
          </p:nvPr>
        </p:nvGraphicFramePr>
        <p:xfrm>
          <a:off x="1068281" y="3050587"/>
          <a:ext cx="8726749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980">
                  <a:extLst>
                    <a:ext uri="{9D8B030D-6E8A-4147-A177-3AD203B41FA5}">
                      <a16:colId xmlns:a16="http://schemas.microsoft.com/office/drawing/2014/main" val="257738496"/>
                    </a:ext>
                  </a:extLst>
                </a:gridCol>
                <a:gridCol w="1291719">
                  <a:extLst>
                    <a:ext uri="{9D8B030D-6E8A-4147-A177-3AD203B41FA5}">
                      <a16:colId xmlns:a16="http://schemas.microsoft.com/office/drawing/2014/main" val="2859417989"/>
                    </a:ext>
                  </a:extLst>
                </a:gridCol>
                <a:gridCol w="1759240">
                  <a:extLst>
                    <a:ext uri="{9D8B030D-6E8A-4147-A177-3AD203B41FA5}">
                      <a16:colId xmlns:a16="http://schemas.microsoft.com/office/drawing/2014/main" val="3567372528"/>
                    </a:ext>
                  </a:extLst>
                </a:gridCol>
                <a:gridCol w="943993">
                  <a:extLst>
                    <a:ext uri="{9D8B030D-6E8A-4147-A177-3AD203B41FA5}">
                      <a16:colId xmlns:a16="http://schemas.microsoft.com/office/drawing/2014/main" val="294928039"/>
                    </a:ext>
                  </a:extLst>
                </a:gridCol>
                <a:gridCol w="1488489">
                  <a:extLst>
                    <a:ext uri="{9D8B030D-6E8A-4147-A177-3AD203B41FA5}">
                      <a16:colId xmlns:a16="http://schemas.microsoft.com/office/drawing/2014/main" val="1852324061"/>
                    </a:ext>
                  </a:extLst>
                </a:gridCol>
                <a:gridCol w="822664">
                  <a:extLst>
                    <a:ext uri="{9D8B030D-6E8A-4147-A177-3AD203B41FA5}">
                      <a16:colId xmlns:a16="http://schemas.microsoft.com/office/drawing/2014/main" val="1262871120"/>
                    </a:ext>
                  </a:extLst>
                </a:gridCol>
                <a:gridCol w="822664">
                  <a:extLst>
                    <a:ext uri="{9D8B030D-6E8A-4147-A177-3AD203B41FA5}">
                      <a16:colId xmlns:a16="http://schemas.microsoft.com/office/drawing/2014/main" val="3781338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</a:t>
                      </a:r>
                      <a:r>
                        <a:rPr lang="zh-CN" altLang="en-US" i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C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1:1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1:2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1:3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2:1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3:1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2:3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948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图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932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i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垂直交点数</a:t>
                      </a:r>
                      <a:r>
                        <a:rPr lang="en-US" altLang="zh-CN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CN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17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i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水平交点数</a:t>
                      </a:r>
                      <a:r>
                        <a:rPr lang="en-US" altLang="zh-CN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CN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938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读出</a:t>
                      </a:r>
                      <a:r>
                        <a:rPr lang="zh-CN" alt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800" i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Hz</a:t>
                      </a:r>
                      <a:r>
                        <a:rPr lang="zh-CN" alt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altLang="en-US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400.000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0.006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159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计算出</a:t>
                      </a:r>
                      <a:r>
                        <a:rPr lang="zh-CN" alt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6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1600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600" i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Hz</a:t>
                      </a:r>
                      <a:r>
                        <a:rPr lang="zh-CN" alt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endParaRPr lang="zh-CN" altLang="en-US" sz="16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200.000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0.003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168250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8145219-7FD4-4231-91E5-7E976773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821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8309EA4-0E10-482F-AA5F-2ACA4E8960C1}"/>
              </a:ext>
            </a:extLst>
          </p:cNvPr>
          <p:cNvSpPr txBox="1"/>
          <p:nvPr/>
        </p:nvSpPr>
        <p:spPr>
          <a:xfrm>
            <a:off x="889393" y="416727"/>
            <a:ext cx="9197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实验五、二极管的导通电压测量</a:t>
            </a:r>
            <a:endParaRPr lang="en-US" altLang="zh-CN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28BF3E-BF1A-493A-BC60-32756205228E}"/>
              </a:ext>
            </a:extLst>
          </p:cNvPr>
          <p:cNvSpPr txBox="1"/>
          <p:nvPr/>
        </p:nvSpPr>
        <p:spPr>
          <a:xfrm>
            <a:off x="889393" y="4800795"/>
            <a:ext cx="81230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要求：用光标测量法</a:t>
            </a:r>
            <a:r>
              <a:rPr lang="zh-CN" altLang="en-US" sz="2400" dirty="0">
                <a:solidFill>
                  <a:schemeClr val="bg2">
                    <a:lumMod val="90000"/>
                  </a:schemeClr>
                </a:solidFill>
              </a:rPr>
              <a:t>和直接测量法，并作对比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思考：（</a:t>
            </a:r>
            <a:r>
              <a:rPr lang="en-US" altLang="zh-CN" sz="2400" dirty="0"/>
              <a:t>1</a:t>
            </a:r>
            <a:r>
              <a:rPr lang="zh-CN" altLang="en-US" sz="2400" dirty="0"/>
              <a:t>）测量值与输入信号源的相关性？</a:t>
            </a:r>
            <a:endParaRPr lang="en-US" altLang="zh-CN" sz="2400" dirty="0"/>
          </a:p>
          <a:p>
            <a:r>
              <a:rPr lang="en-US" altLang="zh-CN" sz="2400" dirty="0"/>
              <a:t>           </a:t>
            </a: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）分析误差来源，如何提高测量精度？</a:t>
            </a:r>
            <a:endParaRPr lang="en-US" altLang="zh-CN" sz="2400" dirty="0"/>
          </a:p>
          <a:p>
            <a:r>
              <a:rPr lang="en-US" altLang="zh-CN" sz="2400" dirty="0"/>
              <a:t>           </a:t>
            </a: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）有效数字位数的选取</a:t>
            </a:r>
            <a:r>
              <a:rPr lang="en-US" altLang="zh-CN" sz="2400" dirty="0"/>
              <a:t>?</a:t>
            </a:r>
            <a:endParaRPr lang="zh-CN" altLang="en-US" sz="24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193F30F-C9A5-4429-A0A1-F7FB328CF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471878"/>
              </p:ext>
            </p:extLst>
          </p:nvPr>
        </p:nvGraphicFramePr>
        <p:xfrm>
          <a:off x="2238800" y="2994596"/>
          <a:ext cx="6104237" cy="120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47">
                  <a:extLst>
                    <a:ext uri="{9D8B030D-6E8A-4147-A177-3AD203B41FA5}">
                      <a16:colId xmlns:a16="http://schemas.microsoft.com/office/drawing/2014/main" val="1999710229"/>
                    </a:ext>
                  </a:extLst>
                </a:gridCol>
                <a:gridCol w="2319255">
                  <a:extLst>
                    <a:ext uri="{9D8B030D-6E8A-4147-A177-3AD203B41FA5}">
                      <a16:colId xmlns:a16="http://schemas.microsoft.com/office/drawing/2014/main" val="1343553971"/>
                    </a:ext>
                  </a:extLst>
                </a:gridCol>
                <a:gridCol w="774885">
                  <a:extLst>
                    <a:ext uri="{9D8B030D-6E8A-4147-A177-3AD203B41FA5}">
                      <a16:colId xmlns:a16="http://schemas.microsoft.com/office/drawing/2014/main" val="3079283851"/>
                    </a:ext>
                  </a:extLst>
                </a:gridCol>
                <a:gridCol w="2167750">
                  <a:extLst>
                    <a:ext uri="{9D8B030D-6E8A-4147-A177-3AD203B41FA5}">
                      <a16:colId xmlns:a16="http://schemas.microsoft.com/office/drawing/2014/main" val="1428860986"/>
                    </a:ext>
                  </a:extLst>
                </a:gridCol>
              </a:tblGrid>
              <a:tr h="400110">
                <a:tc gridSpan="2">
                  <a:txBody>
                    <a:bodyPr/>
                    <a:lstStyle/>
                    <a:p>
                      <a:r>
                        <a:rPr lang="zh-CN" altLang="en-US" dirty="0"/>
                        <a:t>光标法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i="0" dirty="0"/>
                        <a:t>直读法（</a:t>
                      </a:r>
                      <a:r>
                        <a:rPr lang="en-US" altLang="zh-C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US" altLang="zh-CN" i="1" dirty="0"/>
                        <a:t>=</a:t>
                      </a:r>
                      <a:r>
                        <a:rPr lang="en-US" altLang="zh-CN" i="1" u="sng" dirty="0"/>
                        <a:t>                  </a:t>
                      </a:r>
                      <a:r>
                        <a:rPr lang="en-US" altLang="zh-CN" i="0" dirty="0"/>
                        <a:t>)</a:t>
                      </a:r>
                      <a:endParaRPr lang="zh-CN" altLang="en-US" i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565777"/>
                  </a:ext>
                </a:extLst>
              </a:tr>
              <a:tr h="400110">
                <a:tc>
                  <a:txBody>
                    <a:bodyPr/>
                    <a:lstStyle/>
                    <a:p>
                      <a:r>
                        <a:rPr lang="zh-CN" altLang="en-US" dirty="0">
                          <a:sym typeface="Symbol" panose="05050102010706020507" pitchFamily="18" charset="2"/>
                        </a:rPr>
                        <a:t></a:t>
                      </a:r>
                      <a:r>
                        <a:rPr lang="en-US" altLang="zh-C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t</a:t>
                      </a:r>
                      <a:endParaRPr lang="zh-CN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ym typeface="Symbol" panose="05050102010706020507" pitchFamily="18" charset="2"/>
                        </a:rPr>
                        <a:t></a:t>
                      </a:r>
                      <a:r>
                        <a:rPr lang="en-US" altLang="zh-C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x</a:t>
                      </a:r>
                      <a:endParaRPr lang="zh-CN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88392"/>
                  </a:ext>
                </a:extLst>
              </a:tr>
              <a:tr h="400110">
                <a:tc>
                  <a:txBody>
                    <a:bodyPr/>
                    <a:lstStyle/>
                    <a:p>
                      <a:r>
                        <a:rPr lang="en-US" altLang="zh-C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CN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02646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0CDA63C-956A-45F3-8F0C-947FD9AE8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537191"/>
              </p:ext>
            </p:extLst>
          </p:nvPr>
        </p:nvGraphicFramePr>
        <p:xfrm>
          <a:off x="2238800" y="1064145"/>
          <a:ext cx="610423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393">
                  <a:extLst>
                    <a:ext uri="{9D8B030D-6E8A-4147-A177-3AD203B41FA5}">
                      <a16:colId xmlns:a16="http://schemas.microsoft.com/office/drawing/2014/main" val="2562202407"/>
                    </a:ext>
                  </a:extLst>
                </a:gridCol>
                <a:gridCol w="2219256">
                  <a:extLst>
                    <a:ext uri="{9D8B030D-6E8A-4147-A177-3AD203B41FA5}">
                      <a16:colId xmlns:a16="http://schemas.microsoft.com/office/drawing/2014/main" val="790108153"/>
                    </a:ext>
                  </a:extLst>
                </a:gridCol>
                <a:gridCol w="2787588">
                  <a:extLst>
                    <a:ext uri="{9D8B030D-6E8A-4147-A177-3AD203B41FA5}">
                      <a16:colId xmlns:a16="http://schemas.microsoft.com/office/drawing/2014/main" val="2688606463"/>
                    </a:ext>
                  </a:extLst>
                </a:gridCol>
              </a:tblGrid>
              <a:tr h="32749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光标法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直读法（</a:t>
                      </a:r>
                      <a:r>
                        <a:rPr lang="en-US" altLang="zh-C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CN" dirty="0"/>
                        <a:t>=</a:t>
                      </a:r>
                      <a:r>
                        <a:rPr lang="en-US" altLang="zh-CN" u="sng" dirty="0"/>
                        <a:t>                   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085990"/>
                  </a:ext>
                </a:extLst>
              </a:tr>
              <a:tr h="327498">
                <a:tc>
                  <a:txBody>
                    <a:bodyPr/>
                    <a:lstStyle/>
                    <a:p>
                      <a:r>
                        <a:rPr lang="en-US" altLang="zh-CN" dirty="0"/>
                        <a:t>U</a:t>
                      </a:r>
                      <a:r>
                        <a:rPr lang="en-US" altLang="zh-CN" baseline="-25000" dirty="0"/>
                        <a:t>1p-p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671967"/>
                  </a:ext>
                </a:extLst>
              </a:tr>
              <a:tr h="327498">
                <a:tc>
                  <a:txBody>
                    <a:bodyPr/>
                    <a:lstStyle/>
                    <a:p>
                      <a:r>
                        <a:rPr lang="en-US" altLang="zh-CN" dirty="0"/>
                        <a:t>U</a:t>
                      </a:r>
                      <a:r>
                        <a:rPr lang="en-US" altLang="zh-CN" baseline="-25000" dirty="0"/>
                        <a:t>2p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294303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98BA985-561E-4410-944C-B186CCF32777}"/>
              </a:ext>
            </a:extLst>
          </p:cNvPr>
          <p:cNvSpPr/>
          <p:nvPr/>
        </p:nvSpPr>
        <p:spPr>
          <a:xfrm>
            <a:off x="769955" y="2347178"/>
            <a:ext cx="77614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实验六：</a:t>
            </a:r>
            <a:r>
              <a:rPr lang="en-US" altLang="zh-CN" sz="2400" dirty="0"/>
              <a:t>RC</a:t>
            </a:r>
            <a:r>
              <a:rPr lang="zh-CN" altLang="en-US" sz="2400" dirty="0"/>
              <a:t>电路的相位测量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R=</a:t>
            </a:r>
            <a:r>
              <a:rPr lang="en-US" altLang="zh-CN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,C= </a:t>
            </a:r>
            <a:r>
              <a:rPr lang="en-US" altLang="zh-CN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f=</a:t>
            </a:r>
            <a:r>
              <a:rPr lang="en-US" altLang="zh-CN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002DE44-8615-4274-9E2A-B1374E87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20</a:t>
            </a:fld>
            <a:endParaRPr lang="zh-CN" altLang="en-US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BB82798-75AE-4E8E-AF21-2933507251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350100"/>
              </p:ext>
            </p:extLst>
          </p:nvPr>
        </p:nvGraphicFramePr>
        <p:xfrm>
          <a:off x="8811352" y="1342339"/>
          <a:ext cx="2550613" cy="775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0" name="Equation" r:id="rId3" imgW="1295280" imgH="393480" progId="Equation.DSMT4">
                  <p:embed/>
                </p:oleObj>
              </mc:Choice>
              <mc:Fallback>
                <p:oleObj name="Equation" r:id="rId3" imgW="1295280" imgH="3934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B4723180-A052-45A6-82C7-9428AF399C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11352" y="1342339"/>
                        <a:ext cx="2550613" cy="7751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06EF849-E411-4259-8CCD-EDAAD8ED04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221448"/>
              </p:ext>
            </p:extLst>
          </p:nvPr>
        </p:nvGraphicFramePr>
        <p:xfrm>
          <a:off x="8748252" y="2843377"/>
          <a:ext cx="3005536" cy="1502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1" name="Equation" r:id="rId5" imgW="1625400" imgH="812520" progId="Equation.DSMT4">
                  <p:embed/>
                </p:oleObj>
              </mc:Choice>
              <mc:Fallback>
                <p:oleObj name="Equation" r:id="rId5" imgW="1625400" imgH="8125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EA5480A-7871-4C78-91DC-9C1473CE17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48252" y="2843377"/>
                        <a:ext cx="3005536" cy="15027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9160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3354E47-9C29-4F09-9186-E4EC58659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317" y="1025657"/>
            <a:ext cx="4845649" cy="2299030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984E158-75D3-4021-B5FD-99345A76B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044" y="611495"/>
            <a:ext cx="4381500" cy="3362325"/>
          </a:xfrm>
          <a:prstGeom prst="rect">
            <a:avLst/>
          </a:prstGeom>
        </p:spPr>
      </p:pic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40B08B2-9BF8-4DE9-8C36-159BF60FD84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638800" y="3328988"/>
          <a:ext cx="914400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3" name="Equation" r:id="rId5" imgW="914400" imgH="198720" progId="Equation.DSMT4">
                  <p:embed/>
                </p:oleObj>
              </mc:Choice>
              <mc:Fallback>
                <p:oleObj name="Equation" r:id="rId5" imgW="914400" imgH="198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A40B08B2-9BF8-4DE9-8C36-159BF60FD8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38800" y="3328988"/>
                        <a:ext cx="914400" cy="198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4723180-A052-45A6-82C7-9428AF399CF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113016" y="5913075"/>
          <a:ext cx="2550613" cy="775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4" name="Equation" r:id="rId7" imgW="1295280" imgH="393480" progId="Equation.DSMT4">
                  <p:embed/>
                </p:oleObj>
              </mc:Choice>
              <mc:Fallback>
                <p:oleObj name="Equation" r:id="rId7" imgW="1295280" imgH="3934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B4723180-A052-45A6-82C7-9428AF399C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13016" y="5913075"/>
                        <a:ext cx="2550613" cy="7751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9C8D0D2E-D272-4396-A2DF-A163716EAB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588" y="4365640"/>
            <a:ext cx="4676775" cy="176212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6151528-A7C3-4BC3-BA95-356EEB273C0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3016" y="4282100"/>
            <a:ext cx="4552950" cy="8763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CB3897E-1BCC-471B-BAA5-F5B5EDB1C5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0616" y="4282100"/>
            <a:ext cx="4705350" cy="1714500"/>
          </a:xfrm>
          <a:prstGeom prst="rect">
            <a:avLst/>
          </a:prstGeom>
        </p:spPr>
      </p:pic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72422E79-F998-4503-8DEB-B241E1AF895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25538" y="6276975"/>
          <a:ext cx="410051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5" name="Equation" r:id="rId12" imgW="2082600" imgH="241200" progId="Equation.DSMT4">
                  <p:embed/>
                </p:oleObj>
              </mc:Choice>
              <mc:Fallback>
                <p:oleObj name="Equation" r:id="rId12" imgW="2082600" imgH="24120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72422E79-F998-4503-8DEB-B241E1AF89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25538" y="6276975"/>
                        <a:ext cx="4100512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25FA8FE3-0BD1-41A3-B991-6A24236B0AF0}"/>
              </a:ext>
            </a:extLst>
          </p:cNvPr>
          <p:cNvSpPr txBox="1"/>
          <p:nvPr/>
        </p:nvSpPr>
        <p:spPr>
          <a:xfrm>
            <a:off x="337350" y="22412"/>
            <a:ext cx="4216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二极管导通电压测量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2270EB-DF65-4F6A-BDBC-DD69BA76DD91}"/>
              </a:ext>
            </a:extLst>
          </p:cNvPr>
          <p:cNvSpPr txBox="1"/>
          <p:nvPr/>
        </p:nvSpPr>
        <p:spPr>
          <a:xfrm>
            <a:off x="142042" y="5388745"/>
            <a:ext cx="129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输入信号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096C15-4C14-41F6-BF76-0948A19D51D5}"/>
              </a:ext>
            </a:extLst>
          </p:cNvPr>
          <p:cNvSpPr txBox="1"/>
          <p:nvPr/>
        </p:nvSpPr>
        <p:spPr>
          <a:xfrm>
            <a:off x="6276513" y="5272795"/>
            <a:ext cx="127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输出信号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170FB4-697E-4FA4-ABC4-BB34CF505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573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BE4398D-CA32-4096-978B-301F9BE8D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20" y="284271"/>
            <a:ext cx="9515475" cy="4762500"/>
          </a:xfrm>
          <a:prstGeom prst="rect">
            <a:avLst/>
          </a:prstGeom>
        </p:spPr>
      </p:pic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3C50006-F32D-4F89-AEC9-4910D4CFF75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26744" y="5398301"/>
          <a:ext cx="4853376" cy="1175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7" name="Equation" r:id="rId4" imgW="1625400" imgH="393480" progId="Equation.DSMT4">
                  <p:embed/>
                </p:oleObj>
              </mc:Choice>
              <mc:Fallback>
                <p:oleObj name="Equation" r:id="rId4" imgW="1625400" imgH="393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3C50006-F32D-4F89-AEC9-4910D4CFF7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6744" y="5398301"/>
                        <a:ext cx="4853376" cy="11754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1CB412-9753-490A-8CB3-00D7A44D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22</a:t>
            </a:fld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CEACCBA-68B5-43DF-A9F0-27371C46010A}"/>
              </a:ext>
            </a:extLst>
          </p:cNvPr>
          <p:cNvCxnSpPr/>
          <p:nvPr/>
        </p:nvCxnSpPr>
        <p:spPr>
          <a:xfrm>
            <a:off x="477078" y="2981739"/>
            <a:ext cx="2252870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8BB9E4B-E89C-4695-A089-8D8E1CC920D2}"/>
              </a:ext>
            </a:extLst>
          </p:cNvPr>
          <p:cNvCxnSpPr/>
          <p:nvPr/>
        </p:nvCxnSpPr>
        <p:spPr>
          <a:xfrm flipH="1">
            <a:off x="477078" y="3465443"/>
            <a:ext cx="2531165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2BE43F7-C431-450E-804A-8B6C07BBA521}"/>
              </a:ext>
            </a:extLst>
          </p:cNvPr>
          <p:cNvCxnSpPr/>
          <p:nvPr/>
        </p:nvCxnSpPr>
        <p:spPr>
          <a:xfrm flipH="1">
            <a:off x="901148" y="1378227"/>
            <a:ext cx="221311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C160D29-C142-4A4D-9035-9A66428532A6}"/>
              </a:ext>
            </a:extLst>
          </p:cNvPr>
          <p:cNvCxnSpPr/>
          <p:nvPr/>
        </p:nvCxnSpPr>
        <p:spPr>
          <a:xfrm flipH="1">
            <a:off x="914400" y="2849217"/>
            <a:ext cx="219986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7C600F9-6050-4E10-A654-FC0D51CFF23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4787" y="1758300"/>
          <a:ext cx="1032721" cy="560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8" name="Equation" r:id="rId6" imgW="444240" imgH="241200" progId="Equation.DSMT4">
                  <p:embed/>
                </p:oleObj>
              </mc:Choice>
              <mc:Fallback>
                <p:oleObj name="Equation" r:id="rId6" imgW="444240" imgH="2412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7C600F9-6050-4E10-A654-FC0D51CFF2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4787" y="1758300"/>
                        <a:ext cx="1032721" cy="5608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620C180-3191-4565-9E94-341BBD6AA666}"/>
              </a:ext>
            </a:extLst>
          </p:cNvPr>
          <p:cNvCxnSpPr/>
          <p:nvPr/>
        </p:nvCxnSpPr>
        <p:spPr>
          <a:xfrm flipV="1">
            <a:off x="1417508" y="1378227"/>
            <a:ext cx="0" cy="14709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E8592B99-FD76-401F-98A1-B54925C0DBB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53474" y="2981739"/>
          <a:ext cx="762845" cy="483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9" name="Equation" r:id="rId8" imgW="380880" imgH="241200" progId="Equation.DSMT4">
                  <p:embed/>
                </p:oleObj>
              </mc:Choice>
              <mc:Fallback>
                <p:oleObj name="Equation" r:id="rId8" imgW="380880" imgH="2412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E8592B99-FD76-401F-98A1-B54925C0DB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3474" y="2981739"/>
                        <a:ext cx="762845" cy="4837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42967FD-CCDD-48B1-A1C3-616378C23D6A}"/>
              </a:ext>
            </a:extLst>
          </p:cNvPr>
          <p:cNvCxnSpPr/>
          <p:nvPr/>
        </p:nvCxnSpPr>
        <p:spPr>
          <a:xfrm flipV="1">
            <a:off x="1116319" y="2981739"/>
            <a:ext cx="0" cy="44726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722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60BF54D-A5D9-4075-A7F7-5C320CC6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56849"/>
            <a:ext cx="3513208" cy="2498778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CCC1B93-07F3-4105-96A1-C1306A2E4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398" y="659576"/>
            <a:ext cx="3975162" cy="3493324"/>
          </a:xfrm>
          <a:prstGeom prst="rect">
            <a:avLst/>
          </a:prstGeom>
        </p:spPr>
      </p:pic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100ACA3-EBBD-4D8D-B4D2-1B0B27F744F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24428" y="4466722"/>
          <a:ext cx="2684780" cy="1109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1" name="Equation" r:id="rId5" imgW="952200" imgH="393480" progId="Equation.DSMT4">
                  <p:embed/>
                </p:oleObj>
              </mc:Choice>
              <mc:Fallback>
                <p:oleObj name="Equation" r:id="rId5" imgW="95220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100ACA3-EBBD-4D8D-B4D2-1B0B27F744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24428" y="4466722"/>
                        <a:ext cx="2684780" cy="1109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42E6D3A8-CFA1-41E2-AD7D-BED6D50003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3837" y="4152900"/>
            <a:ext cx="4200525" cy="2705100"/>
          </a:xfrm>
          <a:prstGeom prst="rect">
            <a:avLst/>
          </a:prstGeom>
        </p:spPr>
      </p:pic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E1BC422-553D-4149-ADC6-C0999696534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340845" y="5746750"/>
          <a:ext cx="55435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2" name="Equation" r:id="rId8" imgW="1968480" imgH="215640" progId="Equation.DSMT4">
                  <p:embed/>
                </p:oleObj>
              </mc:Choice>
              <mc:Fallback>
                <p:oleObj name="Equation" r:id="rId8" imgW="1968480" imgH="2156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E1BC422-553D-4149-ADC6-C099969653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340845" y="5746750"/>
                        <a:ext cx="554355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76315AF-3C44-4D0D-ACBD-10DE3D3F644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3" name="Equation" r:id="rId10" imgW="114120" imgH="177480" progId="Equation.DSMT4">
                  <p:embed/>
                </p:oleObj>
              </mc:Choice>
              <mc:Fallback>
                <p:oleObj name="Equation" r:id="rId10" imgW="114120" imgH="177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76315AF-3C44-4D0D-ACBD-10DE3D3F64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D9612819-36C6-4037-B37C-4C04583901C2}"/>
              </a:ext>
            </a:extLst>
          </p:cNvPr>
          <p:cNvSpPr txBox="1"/>
          <p:nvPr/>
        </p:nvSpPr>
        <p:spPr>
          <a:xfrm>
            <a:off x="337350" y="22412"/>
            <a:ext cx="3975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RC</a:t>
            </a:r>
            <a:r>
              <a:rPr lang="zh-CN" altLang="en-US" sz="3200" dirty="0">
                <a:solidFill>
                  <a:srgbClr val="FF0000"/>
                </a:solidFill>
              </a:rPr>
              <a:t>电路的相位差测量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EF9805E-82B0-4CEC-A6B6-63EB5A5C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008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674BA7A-E676-41F3-8842-4C144158F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81" y="417132"/>
            <a:ext cx="6987932" cy="5610922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334D7B-ACDC-4A14-BD35-81201850E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24</a:t>
            </a:fld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6784C1E-53D6-44C0-887D-BE079B6D032D}"/>
              </a:ext>
            </a:extLst>
          </p:cNvPr>
          <p:cNvCxnSpPr/>
          <p:nvPr/>
        </p:nvCxnSpPr>
        <p:spPr>
          <a:xfrm>
            <a:off x="3220279" y="5353878"/>
            <a:ext cx="0" cy="100247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CDFF2BF-5E2A-4D57-810A-6A028FEEAF78}"/>
              </a:ext>
            </a:extLst>
          </p:cNvPr>
          <p:cNvCxnSpPr/>
          <p:nvPr/>
        </p:nvCxnSpPr>
        <p:spPr>
          <a:xfrm>
            <a:off x="5791200" y="5287617"/>
            <a:ext cx="0" cy="106873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BA1014A-A96B-4FED-8E8C-85A20259B5D3}"/>
              </a:ext>
            </a:extLst>
          </p:cNvPr>
          <p:cNvCxnSpPr>
            <a:cxnSpLocks/>
          </p:cNvCxnSpPr>
          <p:nvPr/>
        </p:nvCxnSpPr>
        <p:spPr>
          <a:xfrm>
            <a:off x="4412974" y="1351722"/>
            <a:ext cx="0" cy="18022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5B91D12-C647-43DD-85A8-E4D5A0E69B4D}"/>
              </a:ext>
            </a:extLst>
          </p:cNvPr>
          <p:cNvCxnSpPr>
            <a:cxnSpLocks/>
          </p:cNvCxnSpPr>
          <p:nvPr/>
        </p:nvCxnSpPr>
        <p:spPr>
          <a:xfrm flipV="1">
            <a:off x="4929809" y="1351724"/>
            <a:ext cx="0" cy="18022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F2214EA-B1E9-43DE-A961-FBAF84E5559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83705" y="1351722"/>
          <a:ext cx="41751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0" name="Equation" r:id="rId4" imgW="190440" imgH="177480" progId="Equation.DSMT4">
                  <p:embed/>
                </p:oleObj>
              </mc:Choice>
              <mc:Fallback>
                <p:oleObj name="Equation" r:id="rId4" imgW="190440" imgH="1774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BF2214EA-B1E9-43DE-A961-FBAF84E555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83705" y="1351722"/>
                        <a:ext cx="417513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0026985-E6A5-4449-A744-FEE01284607B}"/>
              </a:ext>
            </a:extLst>
          </p:cNvPr>
          <p:cNvCxnSpPr/>
          <p:nvPr/>
        </p:nvCxnSpPr>
        <p:spPr>
          <a:xfrm>
            <a:off x="4412974" y="1914939"/>
            <a:ext cx="51683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1FC7858-462C-45C3-A5DB-30EE5D4994E8}"/>
              </a:ext>
            </a:extLst>
          </p:cNvPr>
          <p:cNvCxnSpPr/>
          <p:nvPr/>
        </p:nvCxnSpPr>
        <p:spPr>
          <a:xfrm>
            <a:off x="3220279" y="5821983"/>
            <a:ext cx="2570921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7A752A8F-9226-43AB-9AEF-F78FEB164455}"/>
              </a:ext>
            </a:extLst>
          </p:cNvPr>
          <p:cNvSpPr txBox="1"/>
          <p:nvPr/>
        </p:nvSpPr>
        <p:spPr>
          <a:xfrm>
            <a:off x="4185600" y="5766444"/>
            <a:ext cx="715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800" b="1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893234" y="1256392"/>
            <a:ext cx="38998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触发源</a:t>
            </a:r>
            <a:r>
              <a:rPr lang="zh-CN" altLang="en-US" sz="2800" dirty="0" smtClean="0">
                <a:solidFill>
                  <a:srgbClr val="FF0000"/>
                </a:solidFill>
              </a:rPr>
              <a:t>用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CH1</a:t>
            </a:r>
            <a:r>
              <a:rPr lang="zh-CN" altLang="en-US" sz="2800" dirty="0" smtClean="0">
                <a:solidFill>
                  <a:srgbClr val="FF0000"/>
                </a:solidFill>
              </a:rPr>
              <a:t>或者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CH2</a:t>
            </a:r>
            <a:r>
              <a:rPr lang="zh-CN" altLang="en-US" sz="2800" dirty="0" smtClean="0">
                <a:solidFill>
                  <a:srgbClr val="FF0000"/>
                </a:solidFill>
              </a:rPr>
              <a:t>，不可用</a:t>
            </a:r>
            <a:r>
              <a:rPr lang="en-US" altLang="zh-CN" sz="2800" dirty="0" smtClean="0">
                <a:solidFill>
                  <a:srgbClr val="FF0000"/>
                </a:solidFill>
              </a:rPr>
              <a:t>VERT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7914246" y="2973567"/>
                <a:ext cx="3486660" cy="15295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 smtClean="0"/>
                  <a:t>光标法</a:t>
                </a:r>
                <a:r>
                  <a:rPr lang="zh-CN" altLang="en-US" sz="2400" b="0" dirty="0" smtClean="0"/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×360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altLang="zh-CN" sz="2400" dirty="0" smtClean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直读</a:t>
                </a:r>
                <a:r>
                  <a:rPr lang="zh-CN" altLang="en-US" sz="2400" dirty="0" smtClean="0"/>
                  <a:t>法</a:t>
                </a:r>
                <a:r>
                  <a:rPr lang="zh-CN" altLang="en-US" sz="2400" dirty="0"/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×360°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246" y="2973567"/>
                <a:ext cx="3486660" cy="1529586"/>
              </a:xfrm>
              <a:prstGeom prst="rect">
                <a:avLst/>
              </a:prstGeom>
              <a:blipFill>
                <a:blip r:embed="rId6"/>
                <a:stretch>
                  <a:fillRect l="-2622" b="-3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6851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0A651B0-9AF6-4AF8-9580-C05A5D2F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2C14C8-D54E-4EF3-B682-570514A82016}"/>
              </a:ext>
            </a:extLst>
          </p:cNvPr>
          <p:cNvSpPr txBox="1"/>
          <p:nvPr/>
        </p:nvSpPr>
        <p:spPr>
          <a:xfrm>
            <a:off x="1457739" y="569843"/>
            <a:ext cx="946205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“示波器的使用”</a:t>
            </a:r>
            <a:r>
              <a:rPr lang="zh-CN" altLang="en-US" sz="2800" dirty="0" smtClean="0">
                <a:solidFill>
                  <a:srgbClr val="FF0000"/>
                </a:solidFill>
              </a:rPr>
              <a:t>实验</a:t>
            </a:r>
            <a:r>
              <a:rPr lang="zh-CN" altLang="en-US" sz="2800" dirty="0">
                <a:solidFill>
                  <a:srgbClr val="FF0000"/>
                </a:solidFill>
              </a:rPr>
              <a:t>课后</a:t>
            </a:r>
            <a:r>
              <a:rPr lang="zh-CN" altLang="en-US" sz="2800" dirty="0" smtClean="0">
                <a:solidFill>
                  <a:srgbClr val="FF0000"/>
                </a:solidFill>
              </a:rPr>
              <a:t>思考：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/>
              <a:t>1</a:t>
            </a:r>
            <a:r>
              <a:rPr lang="zh-CN" altLang="en-US" sz="2800" dirty="0"/>
              <a:t>、示波器的工作原理，</a:t>
            </a:r>
            <a:r>
              <a:rPr lang="en-US" altLang="zh-CN" sz="2800" dirty="0"/>
              <a:t>CRT</a:t>
            </a:r>
            <a:r>
              <a:rPr lang="zh-CN" altLang="en-US" sz="2800" dirty="0"/>
              <a:t>的工作原理</a:t>
            </a:r>
            <a:endParaRPr lang="en-US" altLang="zh-CN" sz="2800" dirty="0"/>
          </a:p>
          <a:p>
            <a:r>
              <a:rPr lang="en-US" altLang="zh-CN" sz="2800" dirty="0"/>
              <a:t>2</a:t>
            </a:r>
            <a:r>
              <a:rPr lang="zh-CN" altLang="en-US" sz="2800" dirty="0"/>
              <a:t>、何谓“直读法”“光标法”测量电压和周期？</a:t>
            </a:r>
            <a:endParaRPr lang="en-US" altLang="zh-CN" sz="2800" dirty="0"/>
          </a:p>
          <a:p>
            <a:r>
              <a:rPr lang="en-US" altLang="zh-CN" sz="2800" dirty="0"/>
              <a:t>3</a:t>
            </a:r>
            <a:r>
              <a:rPr lang="zh-CN" altLang="en-US" sz="2800" dirty="0"/>
              <a:t>、示波器扫描信号的特征？</a:t>
            </a:r>
            <a:endParaRPr lang="en-US" altLang="zh-CN" sz="2800" dirty="0"/>
          </a:p>
          <a:p>
            <a:r>
              <a:rPr lang="en-US" altLang="zh-CN" sz="2800" dirty="0"/>
              <a:t>4</a:t>
            </a:r>
            <a:r>
              <a:rPr lang="zh-CN" altLang="en-US" sz="2800" dirty="0"/>
              <a:t>、示波器呈现稳定波形的机理？触发同步的理解</a:t>
            </a:r>
            <a:endParaRPr lang="en-US" altLang="zh-CN" sz="2800" dirty="0"/>
          </a:p>
          <a:p>
            <a:r>
              <a:rPr lang="en-US" altLang="zh-CN" sz="2800" dirty="0"/>
              <a:t>5</a:t>
            </a:r>
            <a:r>
              <a:rPr lang="zh-CN" altLang="en-US" sz="2800" dirty="0"/>
              <a:t>、有哪些方法可以检验示波器扫描时基的准确度？</a:t>
            </a:r>
            <a:endParaRPr lang="en-US" altLang="zh-CN" sz="2800" dirty="0"/>
          </a:p>
          <a:p>
            <a:r>
              <a:rPr lang="en-US" altLang="zh-CN" sz="2800" dirty="0"/>
              <a:t>6</a:t>
            </a:r>
            <a:r>
              <a:rPr lang="zh-CN" altLang="en-US" sz="2800" dirty="0"/>
              <a:t>、何谓李萨如图，什么情况下示波器可以观察到稳定的李萨如图？</a:t>
            </a:r>
            <a:endParaRPr lang="en-US" altLang="zh-CN" sz="2800" dirty="0"/>
          </a:p>
          <a:p>
            <a:r>
              <a:rPr lang="en-US" altLang="zh-CN" sz="2800" dirty="0"/>
              <a:t>7</a:t>
            </a:r>
            <a:r>
              <a:rPr lang="zh-CN" altLang="en-US" sz="2800" dirty="0"/>
              <a:t>、李萨如图测量末知信号频率的</a:t>
            </a:r>
            <a:r>
              <a:rPr lang="zh-CN" altLang="en-US" sz="2800" dirty="0" smtClean="0"/>
              <a:t>原理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5394194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9FEBF-AC71-4656-A920-65DEEE39B699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2C14C8-D54E-4EF3-B682-570514A82016}"/>
              </a:ext>
            </a:extLst>
          </p:cNvPr>
          <p:cNvSpPr txBox="1"/>
          <p:nvPr/>
        </p:nvSpPr>
        <p:spPr>
          <a:xfrm>
            <a:off x="642981" y="1082803"/>
            <a:ext cx="492458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</a:rPr>
              <a:t>拓展思考：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en-US" sz="2800" dirty="0" smtClean="0"/>
              <a:t>二极管在正向导通时也有电阻。</a:t>
            </a:r>
            <a:endParaRPr lang="en-US" altLang="zh-CN" sz="2800" dirty="0" smtClean="0"/>
          </a:p>
          <a:p>
            <a:endParaRPr lang="en-US" altLang="zh-CN" sz="2800" dirty="0"/>
          </a:p>
          <a:p>
            <a:r>
              <a:rPr lang="zh-CN" altLang="en-US" sz="2800" dirty="0" smtClean="0"/>
              <a:t>这个阻值会给二极管导通电压的测量带来误差吗？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r>
              <a:rPr lang="zh-CN" altLang="en-US" sz="2800" dirty="0"/>
              <a:t>选择</a:t>
            </a:r>
            <a:r>
              <a:rPr lang="zh-CN" altLang="en-US" sz="2800" dirty="0" smtClean="0"/>
              <a:t>不同</a:t>
            </a:r>
            <a:r>
              <a:rPr lang="zh-CN" altLang="en-US" sz="2800" dirty="0" smtClean="0"/>
              <a:t>大小的负载电阻</a:t>
            </a:r>
            <a:r>
              <a:rPr lang="en-US" altLang="zh-CN" sz="2800" dirty="0" smtClean="0"/>
              <a:t>R</a:t>
            </a:r>
            <a:r>
              <a:rPr lang="zh-CN" altLang="en-US" sz="2800" dirty="0" smtClean="0"/>
              <a:t>，以及输入电压</a:t>
            </a:r>
            <a:r>
              <a:rPr lang="en-US" altLang="zh-CN" sz="2800" dirty="0" err="1" smtClean="0"/>
              <a:t>Vp</a:t>
            </a:r>
            <a:r>
              <a:rPr lang="en-US" altLang="zh-CN" sz="2800" dirty="0" smtClean="0"/>
              <a:t>-p</a:t>
            </a:r>
            <a:r>
              <a:rPr lang="zh-CN" altLang="en-US" sz="2800" dirty="0" smtClean="0"/>
              <a:t>，会对测量</a:t>
            </a:r>
            <a:r>
              <a:rPr lang="zh-CN" altLang="en-US" sz="2800" dirty="0"/>
              <a:t>结果</a:t>
            </a:r>
            <a:r>
              <a:rPr lang="zh-CN" altLang="en-US" sz="2800" dirty="0" smtClean="0"/>
              <a:t>产生怎样的影响？</a:t>
            </a:r>
            <a:endParaRPr lang="en-US" altLang="zh-CN" sz="2800" dirty="0"/>
          </a:p>
        </p:txBody>
      </p:sp>
      <p:grpSp>
        <p:nvGrpSpPr>
          <p:cNvPr id="8" name="组合 7"/>
          <p:cNvGrpSpPr/>
          <p:nvPr/>
        </p:nvGrpSpPr>
        <p:grpSpPr>
          <a:xfrm>
            <a:off x="6499498" y="1821234"/>
            <a:ext cx="4753073" cy="3662774"/>
            <a:chOff x="6299020" y="1403916"/>
            <a:chExt cx="5512899" cy="4248305"/>
          </a:xfrm>
        </p:grpSpPr>
        <p:pic>
          <p:nvPicPr>
            <p:cNvPr id="5" name="Picture 2" descr="https://gimg2.baidu.com/image_search/src=http%3A%2F%2Fimg.diangon.com%2Fportal%2F201507%2F27%2F083221br522zmhrq2oor02.jpg&amp;refer=http%3A%2F%2Fimg.diangon.com&amp;app=2002&amp;size=f9999,10000&amp;q=a80&amp;n=0&amp;g=0n&amp;fmt=auto?sec=1670039450&amp;t=a87aa7cc9498509b9d9b79b0dc76ef4e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020" y="1403916"/>
              <a:ext cx="5512899" cy="42483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矩形 6"/>
            <p:cNvSpPr/>
            <p:nvPr/>
          </p:nvSpPr>
          <p:spPr>
            <a:xfrm>
              <a:off x="9365673" y="3639127"/>
              <a:ext cx="517236" cy="2955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9263148" y="3565429"/>
              <a:ext cx="749653" cy="4283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导通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73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1328</Words>
  <Application>Microsoft Office PowerPoint</Application>
  <PresentationFormat>宽屏</PresentationFormat>
  <Paragraphs>209</Paragraphs>
  <Slides>26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等线</vt:lpstr>
      <vt:lpstr>等线 Light</vt:lpstr>
      <vt:lpstr>黑体</vt:lpstr>
      <vt:lpstr>楷体</vt:lpstr>
      <vt:lpstr>隶书</vt:lpstr>
      <vt:lpstr>宋体</vt:lpstr>
      <vt:lpstr>Microsoft YaHei</vt:lpstr>
      <vt:lpstr>Microsoft YaHei</vt:lpstr>
      <vt:lpstr>Arial</vt:lpstr>
      <vt:lpstr>Cambria Math</vt:lpstr>
      <vt:lpstr>Helvetica</vt:lpstr>
      <vt:lpstr>Symbol</vt:lpstr>
      <vt:lpstr>Times New Roman</vt:lpstr>
      <vt:lpstr>Office 主题​​</vt:lpstr>
      <vt:lpstr>Equation</vt:lpstr>
      <vt:lpstr>公式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lenovo</cp:lastModifiedBy>
  <cp:revision>140</cp:revision>
  <dcterms:created xsi:type="dcterms:W3CDTF">2020-03-04T07:59:07Z</dcterms:created>
  <dcterms:modified xsi:type="dcterms:W3CDTF">2025-01-03T01:47:33Z</dcterms:modified>
</cp:coreProperties>
</file>