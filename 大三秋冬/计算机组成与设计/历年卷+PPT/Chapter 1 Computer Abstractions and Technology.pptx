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2"/>
  </p:handoutMasterIdLst>
  <p:sldIdLst>
    <p:sldId id="267" r:id="rId3"/>
    <p:sldId id="338" r:id="rId5"/>
    <p:sldId id="268" r:id="rId6"/>
    <p:sldId id="287" r:id="rId7"/>
    <p:sldId id="284" r:id="rId8"/>
    <p:sldId id="288" r:id="rId9"/>
    <p:sldId id="270" r:id="rId10"/>
    <p:sldId id="331" r:id="rId11"/>
    <p:sldId id="271" r:id="rId12"/>
    <p:sldId id="273" r:id="rId13"/>
    <p:sldId id="272" r:id="rId14"/>
    <p:sldId id="291" r:id="rId15"/>
    <p:sldId id="274" r:id="rId16"/>
    <p:sldId id="292" r:id="rId17"/>
    <p:sldId id="275" r:id="rId18"/>
    <p:sldId id="293" r:id="rId19"/>
    <p:sldId id="294" r:id="rId20"/>
    <p:sldId id="295" r:id="rId21"/>
    <p:sldId id="332" r:id="rId22"/>
    <p:sldId id="333" r:id="rId23"/>
    <p:sldId id="334" r:id="rId24"/>
    <p:sldId id="296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298" r:id="rId38"/>
    <p:sldId id="313" r:id="rId39"/>
    <p:sldId id="299" r:id="rId40"/>
    <p:sldId id="314" r:id="rId41"/>
    <p:sldId id="317" r:id="rId42"/>
    <p:sldId id="318" r:id="rId43"/>
    <p:sldId id="319" r:id="rId44"/>
    <p:sldId id="320" r:id="rId45"/>
    <p:sldId id="336" r:id="rId46"/>
    <p:sldId id="337" r:id="rId47"/>
    <p:sldId id="280" r:id="rId48"/>
    <p:sldId id="324" r:id="rId49"/>
    <p:sldId id="322" r:id="rId50"/>
    <p:sldId id="283" r:id="rId51"/>
  </p:sldIdLst>
  <p:sldSz cx="9144000" cy="6858000" type="screen4x3"/>
  <p:notesSz cx="7099300" cy="10234930"/>
  <p:custDataLst>
    <p:tags r:id="rId56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FFFF"/>
    <a:srgbClr val="66FF66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215"/>
    <p:restoredTop sz="94710"/>
  </p:normalViewPr>
  <p:slideViewPr>
    <p:cSldViewPr showGuides="1">
      <p:cViewPr varScale="1">
        <p:scale>
          <a:sx n="100" d="100"/>
          <a:sy n="100" d="100"/>
        </p:scale>
        <p:origin x="-8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68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6" Type="http://schemas.openxmlformats.org/officeDocument/2006/relationships/tags" Target="tags/tag6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.emf"/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页眉占位符 614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US" sz="1300"/>
              <a:t>Morgan Kaufmann Publishers</a:t>
            </a:r>
            <a:endParaRPr lang="en-US" sz="1300"/>
          </a:p>
        </p:txBody>
      </p:sp>
      <p:sp>
        <p:nvSpPr>
          <p:cNvPr id="6147" name="日期占位符 6146"/>
          <p:cNvSpPr>
            <a:spLocks noGrp="1"/>
          </p:cNvSpPr>
          <p:nvPr>
            <p:ph type="dt" sz="quarter" idx="1"/>
          </p:nvPr>
        </p:nvSpPr>
        <p:spPr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4">
              <a:rPr lang="en-US" sz="1300"/>
            </a:fld>
            <a:endParaRPr lang="en-US" sz="1300"/>
          </a:p>
        </p:txBody>
      </p:sp>
      <p:sp>
        <p:nvSpPr>
          <p:cNvPr id="6148" name="页脚占位符 6147"/>
          <p:cNvSpPr>
            <a:spLocks noGrp="1"/>
          </p:cNvSpPr>
          <p:nvPr>
            <p:ph type="ftr" sz="quarter" idx="2"/>
          </p:nvPr>
        </p:nvSpPr>
        <p:spPr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US" sz="1300"/>
              <a:t>Chapter 1 — Computer Abstractions and Technology</a:t>
            </a:r>
            <a:endParaRPr lang="en-US" sz="1300"/>
          </a:p>
        </p:txBody>
      </p:sp>
      <p:sp>
        <p:nvSpPr>
          <p:cNvPr id="6149" name="灯片编号占位符 6148"/>
          <p:cNvSpPr>
            <a:spLocks noGrp="1"/>
          </p:cNvSpPr>
          <p:nvPr>
            <p:ph type="sldNum" sz="quarter" idx="3"/>
          </p:nvPr>
        </p:nvSpPr>
        <p:spPr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sz="1300"/>
            </a:fld>
            <a:endParaRPr lang="en-US" sz="13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页眉占位符 819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8195" name="日期占位符 8194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8196" name="幻灯片图像占位符 8195"/>
          <p:cNvSpPr>
            <a:spLocks noTextEdi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文本占位符 8196"/>
          <p:cNvSpPr>
            <a:spLocks noGrp="1"/>
          </p:cNvSpPr>
          <p:nvPr>
            <p:ph type="body" sz="quarter" idx="3"/>
          </p:nvPr>
        </p:nvSpPr>
        <p:spPr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8198" name="页脚占位符 8197"/>
          <p:cNvSpPr>
            <a:spLocks noGrp="1"/>
          </p:cNvSpPr>
          <p:nvPr>
            <p:ph type="ftr" sz="quarter" idx="4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8199" name="灯片编号占位符 8198"/>
          <p:cNvSpPr>
            <a:spLocks noGrp="1"/>
          </p:cNvSpPr>
          <p:nvPr>
            <p:ph type="sldNum" sz="quarter" idx="5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lvl="0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84994" name="幻灯片图像占位符 84993"/>
          <p:cNvSpPr>
            <a:spLocks noTextEdit="1"/>
          </p:cNvSpPr>
          <p:nvPr>
            <p:ph type="sldImg"/>
          </p:nvPr>
        </p:nvSpPr>
        <p:spPr/>
      </p:sp>
      <p:sp>
        <p:nvSpPr>
          <p:cNvPr id="84995" name="文本占位符 8499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84994" name="幻灯片图像占位符 84993"/>
          <p:cNvSpPr>
            <a:spLocks noTextEdit="1"/>
          </p:cNvSpPr>
          <p:nvPr>
            <p:ph type="sldImg"/>
          </p:nvPr>
        </p:nvSpPr>
        <p:spPr/>
      </p:sp>
      <p:sp>
        <p:nvSpPr>
          <p:cNvPr id="84995" name="文本占位符 8499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187394" name="幻灯片图像占位符 187393"/>
          <p:cNvSpPr>
            <a:spLocks noTextEdit="1"/>
          </p:cNvSpPr>
          <p:nvPr>
            <p:ph type="sldImg"/>
          </p:nvPr>
        </p:nvSpPr>
        <p:spPr/>
      </p:sp>
      <p:sp>
        <p:nvSpPr>
          <p:cNvPr id="187395" name="文本占位符 18739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33474" name="幻灯片图像占位符 233473"/>
          <p:cNvSpPr>
            <a:spLocks noTextEdit="1"/>
          </p:cNvSpPr>
          <p:nvPr>
            <p:ph type="sldImg"/>
          </p:nvPr>
        </p:nvSpPr>
        <p:spPr/>
      </p:sp>
      <p:sp>
        <p:nvSpPr>
          <p:cNvPr id="233475" name="文本占位符 23347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25282" name="幻灯片图像占位符 225281"/>
          <p:cNvSpPr>
            <a:spLocks noTextEdit="1"/>
          </p:cNvSpPr>
          <p:nvPr>
            <p:ph type="sldImg"/>
          </p:nvPr>
        </p:nvSpPr>
        <p:spPr/>
      </p:sp>
      <p:sp>
        <p:nvSpPr>
          <p:cNvPr id="225283" name="文本占位符 22528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47810" name="幻灯片图像占位符 247809"/>
          <p:cNvSpPr>
            <a:spLocks noTextEdit="1"/>
          </p:cNvSpPr>
          <p:nvPr>
            <p:ph type="sldImg"/>
          </p:nvPr>
        </p:nvSpPr>
        <p:spPr/>
      </p:sp>
      <p:sp>
        <p:nvSpPr>
          <p:cNvPr id="247811" name="文本占位符 24781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192514" name="幻灯片图像占位符 192513"/>
          <p:cNvSpPr>
            <a:spLocks noTextEdit="1"/>
          </p:cNvSpPr>
          <p:nvPr>
            <p:ph type="sldImg"/>
          </p:nvPr>
        </p:nvSpPr>
        <p:spPr/>
      </p:sp>
      <p:sp>
        <p:nvSpPr>
          <p:cNvPr id="192515" name="文本占位符 19251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187394" name="幻灯片图像占位符 187393"/>
          <p:cNvSpPr>
            <a:spLocks noTextEdit="1"/>
          </p:cNvSpPr>
          <p:nvPr>
            <p:ph type="sldImg"/>
          </p:nvPr>
        </p:nvSpPr>
        <p:spPr/>
      </p:sp>
      <p:sp>
        <p:nvSpPr>
          <p:cNvPr id="187395" name="文本占位符 18739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194562" name="幻灯片图像占位符 194561"/>
          <p:cNvSpPr>
            <a:spLocks noTextEdit="1"/>
          </p:cNvSpPr>
          <p:nvPr>
            <p:ph type="sldImg"/>
          </p:nvPr>
        </p:nvSpPr>
        <p:spPr/>
      </p:sp>
      <p:sp>
        <p:nvSpPr>
          <p:cNvPr id="194563" name="文本占位符 19456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198658" name="幻灯片图像占位符 198657"/>
          <p:cNvSpPr>
            <a:spLocks noTextEdit="1"/>
          </p:cNvSpPr>
          <p:nvPr>
            <p:ph type="sldImg"/>
          </p:nvPr>
        </p:nvSpPr>
        <p:spPr/>
      </p:sp>
      <p:sp>
        <p:nvSpPr>
          <p:cNvPr id="198659" name="文本占位符 19865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199682" name="幻灯片图像占位符 199681"/>
          <p:cNvSpPr>
            <a:spLocks noTextEdit="1"/>
          </p:cNvSpPr>
          <p:nvPr>
            <p:ph type="sldImg"/>
          </p:nvPr>
        </p:nvSpPr>
        <p:spPr/>
      </p:sp>
      <p:sp>
        <p:nvSpPr>
          <p:cNvPr id="199683" name="文本占位符 19968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68290" name="幻灯片图像占位符 268289"/>
          <p:cNvSpPr>
            <a:spLocks noTextEdit="1"/>
          </p:cNvSpPr>
          <p:nvPr>
            <p:ph type="sldImg"/>
          </p:nvPr>
        </p:nvSpPr>
        <p:spPr/>
      </p:sp>
      <p:sp>
        <p:nvSpPr>
          <p:cNvPr id="268291" name="文本占位符 26829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04802" name="幻灯片图像占位符 204801"/>
          <p:cNvSpPr>
            <a:spLocks noTextEdit="1"/>
          </p:cNvSpPr>
          <p:nvPr>
            <p:ph type="sldImg"/>
          </p:nvPr>
        </p:nvSpPr>
        <p:spPr/>
      </p:sp>
      <p:sp>
        <p:nvSpPr>
          <p:cNvPr id="204803" name="文本占位符 20480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69314" name="幻灯片图像占位符 269313"/>
          <p:cNvSpPr>
            <a:spLocks noTextEdit="1"/>
          </p:cNvSpPr>
          <p:nvPr>
            <p:ph type="sldImg"/>
          </p:nvPr>
        </p:nvSpPr>
        <p:spPr/>
      </p:sp>
      <p:sp>
        <p:nvSpPr>
          <p:cNvPr id="269315" name="文本占位符 26931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06850" name="幻灯片图像占位符 206849"/>
          <p:cNvSpPr>
            <a:spLocks noTextEdit="1"/>
          </p:cNvSpPr>
          <p:nvPr>
            <p:ph type="sldImg"/>
          </p:nvPr>
        </p:nvSpPr>
        <p:spPr/>
      </p:sp>
      <p:sp>
        <p:nvSpPr>
          <p:cNvPr id="206851" name="文本占位符 20685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70338" name="幻灯片图像占位符 270337"/>
          <p:cNvSpPr>
            <a:spLocks noTextEdit="1"/>
          </p:cNvSpPr>
          <p:nvPr>
            <p:ph type="sldImg"/>
          </p:nvPr>
        </p:nvSpPr>
        <p:spPr/>
      </p:sp>
      <p:sp>
        <p:nvSpPr>
          <p:cNvPr id="270339" name="文本占位符 27033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71362" name="幻灯片图像占位符 271361"/>
          <p:cNvSpPr>
            <a:spLocks noTextEdit="1"/>
          </p:cNvSpPr>
          <p:nvPr>
            <p:ph type="sldImg"/>
          </p:nvPr>
        </p:nvSpPr>
        <p:spPr/>
      </p:sp>
      <p:sp>
        <p:nvSpPr>
          <p:cNvPr id="271363" name="文本占位符 27136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72386" name="幻灯片图像占位符 272385"/>
          <p:cNvSpPr>
            <a:spLocks noTextEdit="1"/>
          </p:cNvSpPr>
          <p:nvPr>
            <p:ph type="sldImg"/>
          </p:nvPr>
        </p:nvSpPr>
        <p:spPr/>
      </p:sp>
      <p:sp>
        <p:nvSpPr>
          <p:cNvPr id="272387" name="文本占位符 27238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08898" name="幻灯片图像占位符 208897"/>
          <p:cNvSpPr>
            <a:spLocks noTextEdit="1"/>
          </p:cNvSpPr>
          <p:nvPr>
            <p:ph type="sldImg"/>
          </p:nvPr>
        </p:nvSpPr>
        <p:spPr/>
      </p:sp>
      <p:sp>
        <p:nvSpPr>
          <p:cNvPr id="208899" name="文本占位符 20889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34850" name="幻灯片图像占位符 334849"/>
          <p:cNvSpPr>
            <a:spLocks noTextEdit="1"/>
          </p:cNvSpPr>
          <p:nvPr>
            <p:ph type="sldImg"/>
          </p:nvPr>
        </p:nvSpPr>
        <p:spPr/>
      </p:sp>
      <p:sp>
        <p:nvSpPr>
          <p:cNvPr id="334851" name="文本占位符 33485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38946" name="幻灯片图像占位符 338945"/>
          <p:cNvSpPr>
            <a:spLocks noTextEdit="1"/>
          </p:cNvSpPr>
          <p:nvPr>
            <p:ph type="sldImg"/>
          </p:nvPr>
        </p:nvSpPr>
        <p:spPr/>
      </p:sp>
      <p:sp>
        <p:nvSpPr>
          <p:cNvPr id="338947" name="文本占位符 33894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73410" name="幻灯片图像占位符 273409"/>
          <p:cNvSpPr>
            <a:spLocks noTextEdit="1"/>
          </p:cNvSpPr>
          <p:nvPr>
            <p:ph type="sldImg"/>
          </p:nvPr>
        </p:nvSpPr>
        <p:spPr/>
      </p:sp>
      <p:sp>
        <p:nvSpPr>
          <p:cNvPr id="273411" name="文本占位符 27341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02082" name="幻灯片图像占位符 302081"/>
          <p:cNvSpPr>
            <a:spLocks noTextEdit="1"/>
          </p:cNvSpPr>
          <p:nvPr>
            <p:ph type="sldImg"/>
          </p:nvPr>
        </p:nvSpPr>
        <p:spPr/>
      </p:sp>
      <p:sp>
        <p:nvSpPr>
          <p:cNvPr id="302083" name="文本占位符 30208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04130" name="幻灯片图像占位符 304129"/>
          <p:cNvSpPr>
            <a:spLocks noTextEdit="1"/>
          </p:cNvSpPr>
          <p:nvPr>
            <p:ph type="sldImg"/>
          </p:nvPr>
        </p:nvSpPr>
        <p:spPr/>
      </p:sp>
      <p:sp>
        <p:nvSpPr>
          <p:cNvPr id="304131" name="文本占位符 30413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06178" name="幻灯片图像占位符 306177"/>
          <p:cNvSpPr>
            <a:spLocks noTextEdit="1"/>
          </p:cNvSpPr>
          <p:nvPr>
            <p:ph type="sldImg"/>
          </p:nvPr>
        </p:nvSpPr>
        <p:spPr/>
      </p:sp>
      <p:sp>
        <p:nvSpPr>
          <p:cNvPr id="306179" name="文本占位符 30617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08226" name="幻灯片图像占位符 308225"/>
          <p:cNvSpPr>
            <a:spLocks noTextEdit="1"/>
          </p:cNvSpPr>
          <p:nvPr>
            <p:ph type="sldImg"/>
          </p:nvPr>
        </p:nvSpPr>
        <p:spPr/>
      </p:sp>
      <p:sp>
        <p:nvSpPr>
          <p:cNvPr id="308227" name="文本占位符 30822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10274" name="幻灯片图像占位符 310273"/>
          <p:cNvSpPr>
            <a:spLocks noTextEdit="1"/>
          </p:cNvSpPr>
          <p:nvPr>
            <p:ph type="sldImg"/>
          </p:nvPr>
        </p:nvSpPr>
        <p:spPr/>
      </p:sp>
      <p:sp>
        <p:nvSpPr>
          <p:cNvPr id="310275" name="文本占位符 31027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12322" name="幻灯片图像占位符 312321"/>
          <p:cNvSpPr>
            <a:spLocks noTextEdit="1"/>
          </p:cNvSpPr>
          <p:nvPr>
            <p:ph type="sldImg"/>
          </p:nvPr>
        </p:nvSpPr>
        <p:spPr/>
      </p:sp>
      <p:sp>
        <p:nvSpPr>
          <p:cNvPr id="312323" name="文本占位符 31232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14370" name="幻灯片图像占位符 314369"/>
          <p:cNvSpPr>
            <a:spLocks noTextEdit="1"/>
          </p:cNvSpPr>
          <p:nvPr>
            <p:ph type="sldImg"/>
          </p:nvPr>
        </p:nvSpPr>
        <p:spPr/>
      </p:sp>
      <p:sp>
        <p:nvSpPr>
          <p:cNvPr id="314371" name="文本占位符 31437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16418" name="幻灯片图像占位符 316417"/>
          <p:cNvSpPr>
            <a:spLocks noTextEdit="1"/>
          </p:cNvSpPr>
          <p:nvPr>
            <p:ph type="sldImg"/>
          </p:nvPr>
        </p:nvSpPr>
        <p:spPr/>
      </p:sp>
      <p:sp>
        <p:nvSpPr>
          <p:cNvPr id="316419" name="文本占位符 31641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18466" name="幻灯片图像占位符 318465"/>
          <p:cNvSpPr>
            <a:spLocks noTextEdit="1"/>
          </p:cNvSpPr>
          <p:nvPr>
            <p:ph type="sldImg"/>
          </p:nvPr>
        </p:nvSpPr>
        <p:spPr/>
      </p:sp>
      <p:sp>
        <p:nvSpPr>
          <p:cNvPr id="318467" name="文本占位符 31846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20514" name="幻灯片图像占位符 320513"/>
          <p:cNvSpPr>
            <a:spLocks noTextEdit="1"/>
          </p:cNvSpPr>
          <p:nvPr>
            <p:ph type="sldImg"/>
          </p:nvPr>
        </p:nvSpPr>
        <p:spPr/>
      </p:sp>
      <p:sp>
        <p:nvSpPr>
          <p:cNvPr id="320515" name="文本占位符 32051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22562" name="幻灯片图像占位符 322561"/>
          <p:cNvSpPr>
            <a:spLocks noTextEdit="1"/>
          </p:cNvSpPr>
          <p:nvPr>
            <p:ph type="sldImg"/>
          </p:nvPr>
        </p:nvSpPr>
        <p:spPr/>
      </p:sp>
      <p:sp>
        <p:nvSpPr>
          <p:cNvPr id="322563" name="文本占位符 32256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26658" name="幻灯片图像占位符 326657"/>
          <p:cNvSpPr>
            <a:spLocks noTextEdit="1"/>
          </p:cNvSpPr>
          <p:nvPr>
            <p:ph type="sldImg"/>
          </p:nvPr>
        </p:nvSpPr>
        <p:spPr/>
      </p:sp>
      <p:sp>
        <p:nvSpPr>
          <p:cNvPr id="326659" name="文本占位符 32665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75458" name="幻灯片图像占位符 275457"/>
          <p:cNvSpPr>
            <a:spLocks noTextEdit="1"/>
          </p:cNvSpPr>
          <p:nvPr>
            <p:ph type="sldImg"/>
          </p:nvPr>
        </p:nvSpPr>
        <p:spPr/>
      </p:sp>
      <p:sp>
        <p:nvSpPr>
          <p:cNvPr id="275459" name="文本占位符 275458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28706" name="幻灯片图像占位符 328705"/>
          <p:cNvSpPr>
            <a:spLocks noTextEdit="1"/>
          </p:cNvSpPr>
          <p:nvPr>
            <p:ph type="sldImg"/>
          </p:nvPr>
        </p:nvSpPr>
        <p:spPr/>
      </p:sp>
      <p:sp>
        <p:nvSpPr>
          <p:cNvPr id="328707" name="文本占位符 328706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76482" name="幻灯片图像占位符 276481"/>
          <p:cNvSpPr>
            <a:spLocks noTextEdit="1"/>
          </p:cNvSpPr>
          <p:nvPr>
            <p:ph type="sldImg"/>
          </p:nvPr>
        </p:nvSpPr>
        <p:spPr/>
      </p:sp>
      <p:sp>
        <p:nvSpPr>
          <p:cNvPr id="276483" name="文本占位符 27648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32802" name="幻灯片图像占位符 332801"/>
          <p:cNvSpPr>
            <a:spLocks noTextEdit="1"/>
          </p:cNvSpPr>
          <p:nvPr>
            <p:ph type="sldImg"/>
          </p:nvPr>
        </p:nvSpPr>
        <p:spPr/>
      </p:sp>
      <p:sp>
        <p:nvSpPr>
          <p:cNvPr id="332803" name="文本占位符 33280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40994" name="幻灯片图像占位符 340993"/>
          <p:cNvSpPr>
            <a:spLocks noTextEdit="1"/>
          </p:cNvSpPr>
          <p:nvPr>
            <p:ph type="sldImg"/>
          </p:nvPr>
        </p:nvSpPr>
        <p:spPr/>
      </p:sp>
      <p:sp>
        <p:nvSpPr>
          <p:cNvPr id="340995" name="文本占位符 34099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45090" name="幻灯片图像占位符 345089"/>
          <p:cNvSpPr>
            <a:spLocks noTextEdit="1"/>
          </p:cNvSpPr>
          <p:nvPr>
            <p:ph type="sldImg"/>
          </p:nvPr>
        </p:nvSpPr>
        <p:spPr/>
      </p:sp>
      <p:sp>
        <p:nvSpPr>
          <p:cNvPr id="345091" name="文本占位符 34509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48162" name="幻灯片图像占位符 348161"/>
          <p:cNvSpPr>
            <a:spLocks noTextEdit="1"/>
          </p:cNvSpPr>
          <p:nvPr>
            <p:ph type="sldImg"/>
          </p:nvPr>
        </p:nvSpPr>
        <p:spPr/>
      </p:sp>
      <p:sp>
        <p:nvSpPr>
          <p:cNvPr id="348163" name="文本占位符 34816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50210" name="幻灯片图像占位符 350209"/>
          <p:cNvSpPr>
            <a:spLocks noTextEdit="1"/>
          </p:cNvSpPr>
          <p:nvPr>
            <p:ph type="sldImg"/>
          </p:nvPr>
        </p:nvSpPr>
        <p:spPr/>
      </p:sp>
      <p:sp>
        <p:nvSpPr>
          <p:cNvPr id="350211" name="文本占位符 35021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48162" name="幻灯片图像占位符 348161"/>
          <p:cNvSpPr>
            <a:spLocks noTextEdit="1"/>
          </p:cNvSpPr>
          <p:nvPr>
            <p:ph type="sldImg"/>
          </p:nvPr>
        </p:nvSpPr>
        <p:spPr/>
      </p:sp>
      <p:sp>
        <p:nvSpPr>
          <p:cNvPr id="348163" name="文本占位符 34816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48162" name="幻灯片图像占位符 348161"/>
          <p:cNvSpPr>
            <a:spLocks noTextEdit="1"/>
          </p:cNvSpPr>
          <p:nvPr>
            <p:ph type="sldImg"/>
          </p:nvPr>
        </p:nvSpPr>
        <p:spPr/>
      </p:sp>
      <p:sp>
        <p:nvSpPr>
          <p:cNvPr id="348163" name="文本占位符 34816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20162" name="幻灯片图像占位符 220161"/>
          <p:cNvSpPr>
            <a:spLocks noTextEdit="1"/>
          </p:cNvSpPr>
          <p:nvPr>
            <p:ph type="sldImg"/>
          </p:nvPr>
        </p:nvSpPr>
        <p:spPr/>
      </p:sp>
      <p:sp>
        <p:nvSpPr>
          <p:cNvPr id="220163" name="文本占位符 220162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61474" name="幻灯片图像占位符 361473"/>
          <p:cNvSpPr>
            <a:spLocks noTextEdit="1"/>
          </p:cNvSpPr>
          <p:nvPr>
            <p:ph type="sldImg"/>
          </p:nvPr>
        </p:nvSpPr>
        <p:spPr/>
      </p:sp>
      <p:sp>
        <p:nvSpPr>
          <p:cNvPr id="361475" name="文本占位符 36147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355330" name="幻灯片图像占位符 355329"/>
          <p:cNvSpPr>
            <a:spLocks noTextEdit="1"/>
          </p:cNvSpPr>
          <p:nvPr>
            <p:ph type="sldImg"/>
          </p:nvPr>
        </p:nvSpPr>
        <p:spPr/>
      </p:sp>
      <p:sp>
        <p:nvSpPr>
          <p:cNvPr id="355331" name="文本占位符 355330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眉占位符 1"/>
          <p:cNvSpPr/>
          <p:nvPr>
            <p:ph type="hdr" sz="quarter" idx="2"/>
          </p:nvPr>
        </p:nvSpPr>
        <p:spPr/>
        <p:txBody>
          <a:bodyPr/>
          <a:p>
            <a:pPr lvl="0" defTabSz="967105"/>
            <a:r>
              <a:rPr lang="en-US" sz="1300" dirty="0"/>
              <a:t>Morgan Kaufmann Publishers</a:t>
            </a:r>
            <a:endParaRPr lang="en-US" sz="1300" dirty="0"/>
          </a:p>
        </p:txBody>
      </p:sp>
      <p:sp>
        <p:nvSpPr>
          <p:cNvPr id="3" name="日期占位符 2"/>
          <p:cNvSpPr/>
          <p:nvPr>
            <p:ph type="dt" idx="3"/>
          </p:nvPr>
        </p:nvSpPr>
        <p:spPr/>
        <p:txBody>
          <a:bodyPr/>
          <a:p>
            <a:pPr lvl="0" algn="r" defTabSz="967105"/>
            <a:fld id="{BB962C8B-B14F-4D97-AF65-F5344CB8AC3E}" type="datetime4">
              <a:rPr lang="en-US" sz="1300" dirty="0"/>
            </a:fld>
            <a:endParaRPr lang="en-US" sz="1300" dirty="0"/>
          </a:p>
        </p:txBody>
      </p:sp>
      <p:sp>
        <p:nvSpPr>
          <p:cNvPr id="4" name="页脚占位符 3"/>
          <p:cNvSpPr/>
          <p:nvPr>
            <p:ph type="ftr" sz="quarter" idx="4"/>
          </p:nvPr>
        </p:nvSpPr>
        <p:spPr/>
        <p:txBody>
          <a:bodyPr/>
          <a:p>
            <a:pPr lvl="0" defTabSz="967105"/>
            <a:r>
              <a:rPr lang="en-US" sz="1300" dirty="0"/>
              <a:t>Chapter 1 — Computer Abstractions and Technology</a:t>
            </a:r>
            <a:endParaRPr lang="en-US" sz="1300" dirty="0"/>
          </a:p>
        </p:txBody>
      </p:sp>
      <p:sp>
        <p:nvSpPr>
          <p:cNvPr id="5" name="灯片编号占位符 4"/>
          <p:cNvSpPr/>
          <p:nvPr>
            <p:ph type="sldNum" sz="quarter" idx="5"/>
          </p:nvPr>
        </p:nvSpPr>
        <p:spPr/>
        <p:txBody>
          <a:bodyPr/>
          <a:p>
            <a:pPr lvl="0" algn="r" defTabSz="967105"/>
            <a:fld id="{9A0DB2DC-4C9A-4742-B13C-FB6460FD3503}" type="slidenum">
              <a:rPr lang="en-US" sz="1300" dirty="0"/>
            </a:fld>
            <a:endParaRPr lang="en-US" sz="1300" dirty="0"/>
          </a:p>
        </p:txBody>
      </p:sp>
      <p:sp>
        <p:nvSpPr>
          <p:cNvPr id="223234" name="幻灯片图像占位符 223233"/>
          <p:cNvSpPr>
            <a:spLocks noTextEdit="1"/>
          </p:cNvSpPr>
          <p:nvPr>
            <p:ph type="sldImg"/>
          </p:nvPr>
        </p:nvSpPr>
        <p:spPr/>
      </p:sp>
      <p:sp>
        <p:nvSpPr>
          <p:cNvPr id="223235" name="文本占位符 223234"/>
          <p:cNvSpPr>
            <a:spLocks noGrp="1"/>
          </p:cNvSpPr>
          <p:nvPr>
            <p:ph type="body" idx="1"/>
          </p:nvPr>
        </p:nvSpPr>
        <p:spPr/>
        <p:txBody>
          <a:bodyPr lIns="96661" tIns="48331" rIns="96661" bIns="48331"/>
          <a:p>
            <a:pPr lvl="0"/>
            <a:endParaRPr lang="en-AU" altLang="x-none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5938" name="矩形 295937"/>
          <p:cNvSpPr/>
          <p:nvPr userDrawn="1"/>
        </p:nvSpPr>
        <p:spPr>
          <a:xfrm>
            <a:off x="1331595" y="1144588"/>
            <a:ext cx="28575" cy="5732462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39" name="标题 295938"/>
          <p:cNvSpPr>
            <a:spLocks noGrp="1"/>
          </p:cNvSpPr>
          <p:nvPr>
            <p:ph type="ctrTitle" hasCustomPrompt="1"/>
          </p:nvPr>
        </p:nvSpPr>
        <p:spPr>
          <a:xfrm>
            <a:off x="1864360" y="1844675"/>
            <a:ext cx="693420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lvl1pPr lvl="0">
              <a:buClrTx/>
              <a:buSzTx/>
              <a:buFontTx/>
              <a:defRPr>
                <a:latin typeface="Arial Black" panose="020B0A04020102020204" pitchFamily="34" charset="0"/>
              </a:defRPr>
            </a:lvl1pPr>
          </a:lstStyle>
          <a:p>
            <a:pPr lvl="0"/>
            <a:r>
              <a:rPr lang="en-AU" altLang="zh-CN" dirty="0"/>
              <a:t>Chapter …</a:t>
            </a:r>
            <a:endParaRPr lang="en-AU" altLang="zh-CN" dirty="0"/>
          </a:p>
        </p:txBody>
      </p:sp>
      <p:sp>
        <p:nvSpPr>
          <p:cNvPr id="295940" name="副标题 295939"/>
          <p:cNvSpPr>
            <a:spLocks noGrp="1"/>
          </p:cNvSpPr>
          <p:nvPr>
            <p:ph type="subTitle" idx="1" hasCustomPrompt="1"/>
          </p:nvPr>
        </p:nvSpPr>
        <p:spPr>
          <a:xfrm>
            <a:off x="1877060" y="2924175"/>
            <a:ext cx="692785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lvl1pPr marL="0" lvl="0" indent="0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1pPr>
            <a:lvl2pPr marL="457200" lvl="1" indent="0" algn="ctr"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2pPr>
            <a:lvl3pPr marL="914400" lvl="2" indent="0" algn="ctr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3pPr>
            <a:lvl4pPr marL="1371600" lvl="3" indent="0" algn="ctr">
              <a:buClr>
                <a:schemeClr val="accent2"/>
              </a:buClr>
              <a:buSzPct val="55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4pPr>
            <a:lvl5pPr marL="1828800" lvl="4" indent="0" algn="ctr"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5pPr>
          </a:lstStyle>
          <a:p>
            <a:pPr lvl="0"/>
            <a:r>
              <a:rPr lang="en-AU" altLang="zh-CN" dirty="0"/>
              <a:t>Subtitle</a:t>
            </a:r>
            <a:endParaRPr lang="en-AU" altLang="zh-CN" dirty="0"/>
          </a:p>
        </p:txBody>
      </p:sp>
      <p:sp>
        <p:nvSpPr>
          <p:cNvPr id="295941" name="矩形 295940"/>
          <p:cNvSpPr/>
          <p:nvPr userDrawn="1"/>
        </p:nvSpPr>
        <p:spPr>
          <a:xfrm>
            <a:off x="1619885" y="198882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2" name="矩形 295941"/>
          <p:cNvSpPr/>
          <p:nvPr userDrawn="1"/>
        </p:nvSpPr>
        <p:spPr>
          <a:xfrm>
            <a:off x="1403985" y="2708910"/>
            <a:ext cx="7491730" cy="7620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3" name="矩形 295942"/>
          <p:cNvSpPr/>
          <p:nvPr userDrawn="1"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5" name="矩形 295944"/>
          <p:cNvSpPr/>
          <p:nvPr userDrawn="1"/>
        </p:nvSpPr>
        <p:spPr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6" name="矩形 295945"/>
          <p:cNvSpPr/>
          <p:nvPr userDrawn="1"/>
        </p:nvSpPr>
        <p:spPr>
          <a:xfrm>
            <a:off x="1331595" y="568325"/>
            <a:ext cx="28575" cy="5762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5123" name="Picture 8" descr="zju-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950" y="1905"/>
            <a:ext cx="1127125" cy="112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 userDrawn="1"/>
        </p:nvSpPr>
        <p:spPr>
          <a:xfrm>
            <a:off x="1456690" y="0"/>
            <a:ext cx="75069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Computer Organization &amp; Design</a:t>
            </a:r>
            <a:br>
              <a:rPr lang="en-US" altLang="zh-CN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—The Hardware/Software Interface</a:t>
            </a:r>
            <a:br>
              <a:rPr lang="en-US" altLang="zh-CN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RISC-V EDITION</a:t>
            </a:r>
            <a:endParaRPr lang="zh-CN" alt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2729" cy="5111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02359" y="1125538"/>
            <a:ext cx="4052729" cy="5111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7369" y="146050"/>
            <a:ext cx="2067719" cy="60912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83288" cy="60912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jpeg"/><Relationship Id="rId15" Type="http://schemas.openxmlformats.org/officeDocument/2006/relationships/tags" Target="../tags/tag2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4914" name="矩形 294913"/>
          <p:cNvSpPr/>
          <p:nvPr userDrawn="1"/>
        </p:nvSpPr>
        <p:spPr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4915" name="标题 294914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 lvl="0"/>
            <a:r>
              <a:rPr lang="en-AU" altLang="zh-CN" dirty="0"/>
              <a:t>Click to edit Master title style</a:t>
            </a:r>
            <a:endParaRPr lang="en-AU" altLang="zh-CN" dirty="0"/>
          </a:p>
        </p:txBody>
      </p:sp>
      <p:sp>
        <p:nvSpPr>
          <p:cNvPr id="294916" name="文本占位符 294915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5111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AU" altLang="zh-CN" dirty="0"/>
              <a:t>Click to edit Master text styles</a:t>
            </a:r>
            <a:endParaRPr lang="en-AU" altLang="zh-CN" dirty="0"/>
          </a:p>
          <a:p>
            <a:pPr lvl="1"/>
            <a:r>
              <a:rPr lang="en-AU" altLang="zh-CN" dirty="0"/>
              <a:t>Second level</a:t>
            </a:r>
            <a:endParaRPr lang="en-AU" altLang="zh-CN" dirty="0"/>
          </a:p>
          <a:p>
            <a:pPr lvl="2"/>
            <a:r>
              <a:rPr lang="en-AU" altLang="zh-CN" dirty="0"/>
              <a:t>Third level</a:t>
            </a:r>
            <a:endParaRPr lang="en-AU" altLang="zh-CN" dirty="0"/>
          </a:p>
          <a:p>
            <a:pPr lvl="3"/>
            <a:r>
              <a:rPr lang="en-AU" altLang="zh-CN" dirty="0"/>
              <a:t>Fourth level</a:t>
            </a:r>
            <a:endParaRPr lang="en-AU" altLang="zh-CN" dirty="0"/>
          </a:p>
          <a:p>
            <a:pPr lvl="4"/>
            <a:r>
              <a:rPr lang="en-AU" altLang="zh-CN" dirty="0"/>
              <a:t>Fifth level</a:t>
            </a:r>
            <a:endParaRPr lang="en-AU" altLang="zh-CN" dirty="0"/>
          </a:p>
        </p:txBody>
      </p:sp>
      <p:sp>
        <p:nvSpPr>
          <p:cNvPr id="294917" name="页脚占位符 294916"/>
          <p:cNvSpPr>
            <a:spLocks noGrp="1"/>
          </p:cNvSpPr>
          <p:nvPr>
            <p:ph type="ftr" sz="quarter" idx="3"/>
          </p:nvPr>
        </p:nvSpPr>
        <p:spPr>
          <a:xfrm>
            <a:off x="859155" y="6381750"/>
            <a:ext cx="8105775" cy="3587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>
              <a:defRPr sz="1400" b="1">
                <a:latin typeface="Arial" panose="020B0604020202020204" pitchFamily="34" charset="0"/>
              </a:defRPr>
            </a:lvl1pPr>
          </a:lstStyle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94919" name="矩形 294918"/>
          <p:cNvSpPr/>
          <p:nvPr userDrawn="1"/>
        </p:nvSpPr>
        <p:spPr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5123" name="Picture 8" descr="zju-logo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7950" y="6324600"/>
            <a:ext cx="461645" cy="4603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tags" Target="../tags/tag4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3.e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22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1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0.emf"/><Relationship Id="rId11" Type="http://schemas.openxmlformats.org/officeDocument/2006/relationships/notesSlide" Target="../notesSlides/notesSlide23.xml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6.bin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7.bin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8.bin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wmf"/><Relationship Id="rId1" Type="http://schemas.openxmlformats.org/officeDocument/2006/relationships/oleObject" Target="../embeddings/oleObject9.bin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2.xml"/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29.wmf"/><Relationship Id="rId1" Type="http://schemas.openxmlformats.org/officeDocument/2006/relationships/oleObject" Target="../embeddings/oleObject10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wmf"/><Relationship Id="rId1" Type="http://schemas.openxmlformats.org/officeDocument/2006/relationships/oleObject" Target="../embeddings/oleObject12.bin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wmf"/><Relationship Id="rId1" Type="http://schemas.openxmlformats.org/officeDocument/2006/relationships/oleObject" Target="../embeddings/oleObject13.bin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wmf"/><Relationship Id="rId1" Type="http://schemas.openxmlformats.org/officeDocument/2006/relationships/oleObject" Target="../embeddings/oleObject14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15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16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5.xml"/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40.wmf"/><Relationship Id="rId1" Type="http://schemas.openxmlformats.org/officeDocument/2006/relationships/oleObject" Target="../embeddings/oleObject17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wmf"/><Relationship Id="rId1" Type="http://schemas.openxmlformats.org/officeDocument/2006/relationships/oleObject" Target="../embeddings/oleObject19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2" name="标题 63491"/>
          <p:cNvSpPr>
            <a:spLocks noGrp="1"/>
          </p:cNvSpPr>
          <p:nvPr>
            <p:ph type="ctrTitle"/>
          </p:nvPr>
        </p:nvSpPr>
        <p:spPr>
          <a:xfrm>
            <a:off x="1864360" y="1844675"/>
            <a:ext cx="6934200" cy="768350"/>
          </a:xfrm>
        </p:spPr>
        <p:txBody>
          <a:bodyPr anchor="t" anchorCtr="0">
            <a:spAutoFit/>
          </a:bodyPr>
          <a:p>
            <a:pPr defTabSz="914400">
              <a:buSzTx/>
              <a:buFontTx/>
              <a:buNone/>
            </a:pPr>
            <a:r>
              <a:rPr lang="zh-CN" altLang="en-US" dirty="0">
                <a:sym typeface="+mn-ea"/>
              </a:rPr>
              <a:t>成绩组成</a:t>
            </a:r>
            <a:endParaRPr lang="en-US" altLang="zh-CN" kern="1200" baseline="0">
              <a:latin typeface="Arial Black" panose="020B0A04020102020204" pitchFamily="34" charset="0"/>
            </a:endParaRPr>
          </a:p>
        </p:txBody>
      </p:sp>
      <p:sp>
        <p:nvSpPr>
          <p:cNvPr id="63493" name="副标题 63492"/>
          <p:cNvSpPr>
            <a:spLocks noGrp="1"/>
          </p:cNvSpPr>
          <p:nvPr>
            <p:ph type="subTitle" idx="1"/>
          </p:nvPr>
        </p:nvSpPr>
        <p:spPr>
          <a:xfrm>
            <a:off x="2047240" y="2924810"/>
            <a:ext cx="6751955" cy="3119120"/>
          </a:xfrm>
        </p:spPr>
        <p:txBody>
          <a:bodyPr wrap="square" anchor="t" anchorCtr="0">
            <a:spAutoFit/>
          </a:bodyPr>
          <a:p>
            <a:pPr marL="0" lvl="0" indent="152400" eaLnBrk="1" hangingPunct="1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理论课成绩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COD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152400" eaLnBrk="1" hangingPunct="1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•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Homework Sets  - 20%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152400" eaLnBrk="1" hangingPunct="1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• Two Quizzes 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随堂测验） 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- 20%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152400" eaLnBrk="1" hangingPunct="1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• Two Projects  - 20%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152400" eaLnBrk="1" hangingPunct="1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•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Finial Exam   - 40% 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marL="0" lvl="0" indent="152400" eaLnBrk="1" hangingPunct="1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《计算机组成与设计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》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总评成绩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: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152400" eaLnBrk="1" hangingPunct="1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•COD * (3.0/3.5)+ Lab score * (0.5/3.5)</a:t>
            </a:r>
            <a:endParaRPr lang="en-US" altLang="zh-CN" sz="2400" kern="1200" baseline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2" name="标题 63491"/>
          <p:cNvSpPr>
            <a:spLocks noGrp="1"/>
          </p:cNvSpPr>
          <p:nvPr>
            <p:ph type="ctrTitle"/>
          </p:nvPr>
        </p:nvSpPr>
        <p:spPr>
          <a:xfrm>
            <a:off x="1864360" y="1844675"/>
            <a:ext cx="6934200" cy="768350"/>
          </a:xfrm>
        </p:spPr>
        <p:txBody>
          <a:bodyPr anchor="t" anchorCtr="0">
            <a:spAutoFit/>
          </a:bodyPr>
          <a:p>
            <a:pPr defTabSz="914400">
              <a:buSzTx/>
              <a:buFontTx/>
              <a:buNone/>
            </a:pPr>
            <a:r>
              <a:rPr lang="en-US" altLang="zh-CN" kern="1200" baseline="0">
                <a:latin typeface="Arial Black" panose="020B0A04020102020204" pitchFamily="34" charset="0"/>
              </a:rPr>
              <a:t>Chapter 1</a:t>
            </a:r>
            <a:endParaRPr lang="en-US" altLang="zh-CN" kern="1200" baseline="0">
              <a:latin typeface="Arial Black" panose="020B0A04020102020204" pitchFamily="34" charset="0"/>
            </a:endParaRPr>
          </a:p>
        </p:txBody>
      </p:sp>
      <p:sp>
        <p:nvSpPr>
          <p:cNvPr id="63493" name="副标题 63492"/>
          <p:cNvSpPr>
            <a:spLocks noGrp="1"/>
          </p:cNvSpPr>
          <p:nvPr>
            <p:ph type="subTitle" idx="1"/>
          </p:nvPr>
        </p:nvSpPr>
        <p:spPr>
          <a:xfrm>
            <a:off x="2268538" y="3068638"/>
            <a:ext cx="5832475" cy="1076325"/>
          </a:xfrm>
        </p:spPr>
        <p:txBody>
          <a:bodyPr anchor="t" anchorCtr="0">
            <a:spAutoFit/>
          </a:bodyPr>
          <a:p>
            <a:pPr defTabSz="914400">
              <a:buSzPct val="60000"/>
            </a:pPr>
            <a:r>
              <a:rPr lang="en-US" altLang="zh-CN" kern="1200" baseline="0">
                <a:latin typeface="Arial Black" panose="020B0A04020102020204" pitchFamily="34" charset="0"/>
              </a:rPr>
              <a:t>Computer Abstractions and Technology</a:t>
            </a:r>
            <a:endParaRPr lang="en-US" altLang="zh-CN" kern="1200" baseline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186370" name="标题 18636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The Computer Revolution</a:t>
            </a:r>
            <a:endParaRPr lang="en-AU" altLang="zh-CN"/>
          </a:p>
        </p:txBody>
      </p:sp>
      <p:sp>
        <p:nvSpPr>
          <p:cNvPr id="186371" name="文本占位符 186370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Progress in computer technology</a:t>
            </a:r>
            <a:endParaRPr lang="en-US" altLang="zh-CN"/>
          </a:p>
          <a:p>
            <a:pPr lvl="1"/>
            <a:r>
              <a:rPr lang="en-US" altLang="zh-CN"/>
              <a:t>Underpinned by Moore’s Law </a:t>
            </a:r>
            <a:endParaRPr lang="en-US" altLang="zh-CN"/>
          </a:p>
          <a:p>
            <a:r>
              <a:rPr lang="en-US" altLang="zh-CN"/>
              <a:t>Makes novel applications feasible</a:t>
            </a:r>
            <a:endParaRPr lang="en-US" altLang="zh-CN"/>
          </a:p>
          <a:p>
            <a:pPr lvl="1"/>
            <a:r>
              <a:rPr lang="en-US" altLang="zh-CN"/>
              <a:t>Computers in automobiles</a:t>
            </a:r>
            <a:endParaRPr lang="en-US" altLang="zh-CN"/>
          </a:p>
          <a:p>
            <a:pPr lvl="1"/>
            <a:r>
              <a:rPr lang="en-US" altLang="zh-CN"/>
              <a:t>Cell phones</a:t>
            </a:r>
            <a:endParaRPr lang="en-US" altLang="zh-CN"/>
          </a:p>
          <a:p>
            <a:pPr lvl="1"/>
            <a:r>
              <a:rPr lang="en-US" altLang="zh-CN"/>
              <a:t>Human genome project</a:t>
            </a:r>
            <a:endParaRPr lang="en-US" altLang="zh-CN"/>
          </a:p>
          <a:p>
            <a:pPr lvl="1"/>
            <a:r>
              <a:rPr lang="en-US" altLang="zh-CN"/>
              <a:t>World Wide Web</a:t>
            </a:r>
            <a:endParaRPr lang="en-US" altLang="zh-CN"/>
          </a:p>
          <a:p>
            <a:pPr lvl="1"/>
            <a:r>
              <a:rPr lang="en-US" altLang="zh-CN"/>
              <a:t>Search Engines</a:t>
            </a:r>
            <a:endParaRPr lang="en-US" altLang="zh-CN"/>
          </a:p>
          <a:p>
            <a:r>
              <a:rPr lang="en-US" altLang="zh-CN"/>
              <a:t>Computers are pervasive</a:t>
            </a:r>
            <a:endParaRPr lang="en-US" altLang="zh-CN"/>
          </a:p>
        </p:txBody>
      </p:sp>
      <p:sp>
        <p:nvSpPr>
          <p:cNvPr id="186372" name="文本框 186371"/>
          <p:cNvSpPr txBox="1"/>
          <p:nvPr/>
        </p:nvSpPr>
        <p:spPr>
          <a:xfrm rot="5400000">
            <a:off x="8016875" y="760413"/>
            <a:ext cx="1887538" cy="36671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1.1 Introduction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32450" name="标题 23244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Classes of Computers</a:t>
            </a:r>
            <a:endParaRPr lang="en-US" altLang="zh-CN"/>
          </a:p>
        </p:txBody>
      </p:sp>
      <p:sp>
        <p:nvSpPr>
          <p:cNvPr id="232451" name="文本占位符 232450"/>
          <p:cNvSpPr>
            <a:spLocks noGrp="1"/>
          </p:cNvSpPr>
          <p:nvPr>
            <p:ph type="body" idx="1"/>
          </p:nvPr>
        </p:nvSpPr>
        <p:spPr>
          <a:xfrm>
            <a:off x="684530" y="1082675"/>
            <a:ext cx="8270875" cy="5154930"/>
          </a:xfrm>
        </p:spPr>
        <p:txBody>
          <a:bodyPr/>
          <a:p>
            <a:pPr>
              <a:lnSpc>
                <a:spcPct val="90000"/>
              </a:lnSpc>
            </a:pPr>
            <a:r>
              <a:rPr lang="en-US" altLang="zh-CN" sz="2800"/>
              <a:t>Desktop computers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General purpose, variety of software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400"/>
              <a:t>Subject to cost/performance tradeoff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en-US" altLang="zh-CN" sz="2800"/>
              <a:t>Server computers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Network based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400"/>
              <a:t>High capacity, performance, reliability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400"/>
              <a:t>Range from small servers to building sized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en-US" altLang="zh-CN" sz="2800"/>
              <a:t>Embedded computers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Hidden as components of systems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400"/>
              <a:t>Stringent power/performance/cost constraints</a:t>
            </a:r>
            <a:endParaRPr lang="en-US" altLang="zh-CN" sz="2400"/>
          </a:p>
          <a:p>
            <a:pPr lvl="0">
              <a:lnSpc>
                <a:spcPct val="90000"/>
              </a:lnSpc>
            </a:pPr>
            <a:r>
              <a:rPr lang="en-AU" altLang="zh-CN" sz="2800"/>
              <a:t>Post-PC Era</a:t>
            </a:r>
            <a:endParaRPr lang="en-AU" altLang="zh-CN" sz="2800"/>
          </a:p>
          <a:p>
            <a:pPr lvl="1">
              <a:lnSpc>
                <a:spcPct val="90000"/>
              </a:lnSpc>
            </a:pPr>
            <a:r>
              <a:rPr lang="en-AU" altLang="zh-CN" sz="2400"/>
              <a:t>personal mobile device (PMD)</a:t>
            </a:r>
            <a:endParaRPr lang="en-AU" altLang="zh-CN" sz="2400"/>
          </a:p>
          <a:p>
            <a:pPr lvl="1">
              <a:lnSpc>
                <a:spcPct val="90000"/>
              </a:lnSpc>
            </a:pPr>
            <a:r>
              <a:rPr lang="en-AU" altLang="zh-CN" sz="2400"/>
              <a:t>Cloud Computing</a:t>
            </a:r>
            <a:endParaRPr lang="en-AU" altLang="zh-CN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/>
          <a:p>
            <a:r>
              <a:rPr lang="zh-CN" altLang="en-US"/>
              <a:t>2</a:t>
            </a:r>
            <a:r>
              <a:rPr lang="zh-CN" altLang="en-US" baseline="30000">
                <a:solidFill>
                  <a:schemeClr val="tx2"/>
                </a:solidFill>
                <a:uFillTx/>
              </a:rPr>
              <a:t>X</a:t>
            </a:r>
            <a:r>
              <a:rPr lang="zh-CN" altLang="en-US"/>
              <a:t> vs. 10</a:t>
            </a:r>
            <a:r>
              <a:rPr lang="zh-CN" altLang="en-US" baseline="30000">
                <a:solidFill>
                  <a:schemeClr val="tx2"/>
                </a:solidFill>
                <a:uFillTx/>
              </a:rPr>
              <a:t>Y</a:t>
            </a:r>
            <a:r>
              <a:rPr lang="zh-CN" altLang="en-US"/>
              <a:t> bytes</a:t>
            </a:r>
            <a:r>
              <a:rPr lang="en-US" altLang="zh-CN"/>
              <a:t> </a:t>
            </a:r>
            <a:r>
              <a:rPr lang="zh-CN" altLang="en-US"/>
              <a:t>ambiguity</a:t>
            </a:r>
            <a:endParaRPr lang="zh-CN" altLang="en-US"/>
          </a:p>
        </p:txBody>
      </p:sp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59155" y="1346835"/>
            <a:ext cx="7788275" cy="36963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051685" y="5300980"/>
            <a:ext cx="5777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the full range of decimal and binary values and names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46786" name="标题 24678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AU" altLang="zh-CN"/>
              <a:t>What You Will Learn</a:t>
            </a:r>
            <a:endParaRPr lang="en-AU" altLang="zh-CN"/>
          </a:p>
        </p:txBody>
      </p:sp>
      <p:sp>
        <p:nvSpPr>
          <p:cNvPr id="246787" name="文本占位符 246786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AU" altLang="zh-CN"/>
              <a:t>How programs are translated into the machine language</a:t>
            </a:r>
            <a:endParaRPr lang="en-AU" altLang="zh-CN"/>
          </a:p>
          <a:p>
            <a:pPr lvl="1"/>
            <a:r>
              <a:rPr lang="en-AU" altLang="zh-CN"/>
              <a:t>And how the hardware executes them</a:t>
            </a:r>
            <a:endParaRPr lang="en-AU" altLang="zh-CN"/>
          </a:p>
          <a:p>
            <a:r>
              <a:rPr lang="en-AU" altLang="zh-CN"/>
              <a:t>The hardware/software interface</a:t>
            </a:r>
            <a:endParaRPr lang="en-AU" altLang="zh-CN"/>
          </a:p>
          <a:p>
            <a:r>
              <a:rPr lang="en-AU" altLang="zh-CN"/>
              <a:t>What determines program performance</a:t>
            </a:r>
            <a:endParaRPr lang="en-AU" altLang="zh-CN"/>
          </a:p>
          <a:p>
            <a:pPr lvl="1"/>
            <a:r>
              <a:rPr lang="en-AU" altLang="zh-CN"/>
              <a:t>And how it can be improved</a:t>
            </a:r>
            <a:endParaRPr lang="en-AU" altLang="zh-CN"/>
          </a:p>
          <a:p>
            <a:r>
              <a:rPr lang="en-AU" altLang="zh-CN"/>
              <a:t>How hardware designers improve performance</a:t>
            </a:r>
            <a:r>
              <a:rPr lang="en-US" altLang="en-AU"/>
              <a:t> and energy </a:t>
            </a:r>
            <a:r>
              <a:rPr lang="en-AU" altLang="zh-CN"/>
              <a:t>efficiency</a:t>
            </a:r>
            <a:endParaRPr lang="en-AU" altLang="zh-CN"/>
          </a:p>
          <a:p>
            <a:r>
              <a:rPr lang="en-AU" altLang="zh-CN"/>
              <a:t>What is parallel processing</a:t>
            </a:r>
            <a:endParaRPr lang="en-AU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190466" name="标题 19046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Understanding Performance</a:t>
            </a:r>
            <a:endParaRPr lang="en-AU" altLang="zh-CN"/>
          </a:p>
        </p:txBody>
      </p:sp>
      <p:sp>
        <p:nvSpPr>
          <p:cNvPr id="190467" name="文本占位符 190466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sz="2800"/>
              <a:t>Algorithm</a:t>
            </a:r>
            <a:endParaRPr lang="en-US" altLang="zh-CN" sz="2800"/>
          </a:p>
          <a:p>
            <a:pPr lvl="1"/>
            <a:r>
              <a:rPr lang="en-US" altLang="zh-CN" sz="2400"/>
              <a:t>Determines number of operations executed</a:t>
            </a:r>
            <a:endParaRPr lang="en-US" altLang="zh-CN" sz="2400"/>
          </a:p>
          <a:p>
            <a:r>
              <a:rPr lang="en-US" altLang="zh-CN" sz="2800"/>
              <a:t>Programming language, compiler, architecture</a:t>
            </a:r>
            <a:endParaRPr lang="en-US" altLang="zh-CN" sz="2800"/>
          </a:p>
          <a:p>
            <a:pPr lvl="1"/>
            <a:r>
              <a:rPr lang="en-US" altLang="zh-CN" sz="2400"/>
              <a:t>Determine number of machine instructions executed per operation</a:t>
            </a:r>
            <a:endParaRPr lang="en-US" altLang="zh-CN" sz="2400"/>
          </a:p>
          <a:p>
            <a:r>
              <a:rPr lang="en-US" altLang="zh-CN" sz="2800"/>
              <a:t>Processor and memory system</a:t>
            </a:r>
            <a:endParaRPr lang="en-US" altLang="zh-CN" sz="2800"/>
          </a:p>
          <a:p>
            <a:pPr lvl="1"/>
            <a:r>
              <a:rPr lang="en-US" altLang="zh-CN" sz="2400"/>
              <a:t>Determine how fast instructions are executed</a:t>
            </a:r>
            <a:endParaRPr lang="en-US" altLang="zh-CN" sz="2400"/>
          </a:p>
          <a:p>
            <a:r>
              <a:rPr lang="en-US" altLang="zh-CN" sz="2800"/>
              <a:t>I/O system (including OS)</a:t>
            </a:r>
            <a:endParaRPr lang="en-US" altLang="zh-CN" sz="2800"/>
          </a:p>
          <a:p>
            <a:pPr lvl="1"/>
            <a:r>
              <a:rPr lang="en-US" altLang="zh-CN" sz="2400"/>
              <a:t>Determines how fast I/O operations are executed</a:t>
            </a:r>
            <a:endParaRPr lang="en-AU" altLang="zh-CN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186370" name="标题 186369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anchor="b" anchorCtr="0">
            <a:spAutoFit/>
          </a:bodyPr>
          <a:p>
            <a:r>
              <a:rPr lang="en-US" altLang="zh-CN"/>
              <a:t>Seven Design Ideas</a:t>
            </a:r>
            <a:endParaRPr lang="en-US" altLang="zh-CN"/>
          </a:p>
        </p:txBody>
      </p:sp>
      <p:sp>
        <p:nvSpPr>
          <p:cNvPr id="186371" name="文本占位符 186370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Use Abstraction to Simplify Design</a:t>
            </a:r>
            <a:endParaRPr lang="en-US" altLang="zh-CN"/>
          </a:p>
          <a:p>
            <a:r>
              <a:rPr lang="en-US" altLang="zh-CN"/>
              <a:t>Make the Common Case Fast</a:t>
            </a:r>
            <a:endParaRPr lang="en-US" altLang="zh-CN"/>
          </a:p>
          <a:p>
            <a:pPr lvl="0"/>
            <a:r>
              <a:rPr lang="en-US" altLang="zh-CN"/>
              <a:t>Performance via Parallelism</a:t>
            </a:r>
            <a:endParaRPr lang="en-US" altLang="zh-CN"/>
          </a:p>
          <a:p>
            <a:pPr lvl="0"/>
            <a:r>
              <a:rPr lang="en-US" altLang="zh-CN"/>
              <a:t>Performance via Pipelining</a:t>
            </a:r>
            <a:endParaRPr lang="en-US" altLang="zh-CN"/>
          </a:p>
          <a:p>
            <a:pPr lvl="0"/>
            <a:r>
              <a:rPr lang="en-US" altLang="zh-CN"/>
              <a:t>Performance via Prediction</a:t>
            </a:r>
            <a:endParaRPr lang="en-US" altLang="zh-CN"/>
          </a:p>
          <a:p>
            <a:pPr lvl="0"/>
            <a:r>
              <a:rPr lang="en-US" altLang="zh-CN"/>
              <a:t>Hierarchy of Memories</a:t>
            </a:r>
            <a:endParaRPr lang="en-US" altLang="zh-CN"/>
          </a:p>
          <a:p>
            <a:r>
              <a:rPr lang="en-US" altLang="zh-CN"/>
              <a:t>Dependability via Redundancy</a:t>
            </a:r>
            <a:endParaRPr lang="en-US" altLang="zh-CN"/>
          </a:p>
        </p:txBody>
      </p:sp>
      <p:sp>
        <p:nvSpPr>
          <p:cNvPr id="186372" name="文本框 186371"/>
          <p:cNvSpPr txBox="1"/>
          <p:nvPr/>
        </p:nvSpPr>
        <p:spPr>
          <a:xfrm rot="5400000">
            <a:off x="6349365" y="2428875"/>
            <a:ext cx="522351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1.2 Seven Great Ideas in Computer Architecture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193538" name="标题 19353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Below Your Program</a:t>
            </a:r>
            <a:endParaRPr lang="en-AU" altLang="zh-CN"/>
          </a:p>
        </p:txBody>
      </p:sp>
      <p:sp>
        <p:nvSpPr>
          <p:cNvPr id="193542" name="文本占位符 193541"/>
          <p:cNvSpPr>
            <a:spLocks noGrp="1"/>
          </p:cNvSpPr>
          <p:nvPr>
            <p:ph type="body" sz="half" idx="2"/>
          </p:nvPr>
        </p:nvSpPr>
        <p:spPr>
          <a:xfrm>
            <a:off x="3132138" y="1125538"/>
            <a:ext cx="5822950" cy="5111750"/>
          </a:xfrm>
        </p:spPr>
        <p:txBody>
          <a:bodyPr/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/>
              <a:t>Application software</a:t>
            </a:r>
            <a:endParaRPr lang="en-US" altLang="zh-CN" sz="280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/>
              <a:t>Written in high-level language</a:t>
            </a:r>
            <a:endParaRPr lang="en-US" altLang="zh-CN" sz="2400"/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/>
              <a:t>System software</a:t>
            </a:r>
            <a:endParaRPr lang="en-US" altLang="zh-CN" sz="280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/>
              <a:t>Compiler: translates HLL code to machine code</a:t>
            </a:r>
            <a:endParaRPr lang="en-US" altLang="zh-CN" sz="240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/>
              <a:t>Operating System: service code</a:t>
            </a:r>
            <a:endParaRPr lang="en-US" altLang="zh-CN" sz="2400"/>
          </a:p>
          <a:p>
            <a:pPr lvl="2">
              <a:buClr>
                <a:schemeClr val="folHlink"/>
              </a:buClr>
              <a:buSzPct val="50000"/>
              <a:buFont typeface="Wingdings" panose="05000000000000000000" pitchFamily="2" charset="2"/>
            </a:pPr>
            <a:r>
              <a:rPr lang="en-US" altLang="zh-CN" sz="2000"/>
              <a:t>Handling input/output</a:t>
            </a:r>
            <a:endParaRPr lang="en-US" altLang="zh-CN" sz="2000"/>
          </a:p>
          <a:p>
            <a:pPr lvl="2">
              <a:buClr>
                <a:schemeClr val="folHlink"/>
              </a:buClr>
              <a:buSzPct val="50000"/>
              <a:buFont typeface="Wingdings" panose="05000000000000000000" pitchFamily="2" charset="2"/>
            </a:pPr>
            <a:r>
              <a:rPr lang="en-US" altLang="zh-CN" sz="2000"/>
              <a:t>Managing memory and storage</a:t>
            </a:r>
            <a:endParaRPr lang="en-US" altLang="zh-CN" sz="2000"/>
          </a:p>
          <a:p>
            <a:pPr lvl="2">
              <a:buClr>
                <a:schemeClr val="folHlink"/>
              </a:buClr>
              <a:buSzPct val="50000"/>
              <a:buFont typeface="Wingdings" panose="05000000000000000000" pitchFamily="2" charset="2"/>
            </a:pPr>
            <a:r>
              <a:rPr lang="en-US" altLang="zh-CN" sz="2000"/>
              <a:t>Scheduling tasks &amp; sharing resources</a:t>
            </a:r>
            <a:endParaRPr lang="en-US" altLang="zh-CN" sz="2000"/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/>
              <a:t>Hardware</a:t>
            </a:r>
            <a:endParaRPr lang="en-US" altLang="zh-CN" sz="280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/>
              <a:t>Processor, memory, I/O controllers</a:t>
            </a:r>
            <a:endParaRPr lang="en-AU" altLang="zh-CN" sz="2400"/>
          </a:p>
        </p:txBody>
      </p:sp>
      <p:sp>
        <p:nvSpPr>
          <p:cNvPr id="193543" name="文本框 193542"/>
          <p:cNvSpPr txBox="1"/>
          <p:nvPr/>
        </p:nvSpPr>
        <p:spPr>
          <a:xfrm rot="5400000">
            <a:off x="7559675" y="1216025"/>
            <a:ext cx="2773045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1.3 Below Your Program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pic>
        <p:nvPicPr>
          <p:cNvPr id="193547" name="图片 193546" descr="f01-02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2781300"/>
            <a:ext cx="2400300" cy="2400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197640" name="标题 19763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Levels of Program Code</a:t>
            </a:r>
            <a:endParaRPr lang="en-AU" altLang="zh-CN"/>
          </a:p>
        </p:txBody>
      </p:sp>
      <p:sp>
        <p:nvSpPr>
          <p:cNvPr id="197641" name="文本占位符 197640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4751387" cy="5111750"/>
          </a:xfrm>
        </p:spPr>
        <p:txBody>
          <a:bodyPr/>
          <a:p>
            <a:pPr>
              <a:lnSpc>
                <a:spcPct val="90000"/>
              </a:lnSpc>
            </a:pPr>
            <a:r>
              <a:rPr lang="en-US" altLang="zh-CN" sz="2800"/>
              <a:t>High-level language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Level of abstraction closer to problem domain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400"/>
              <a:t>Provides for productivity and portability </a:t>
            </a:r>
            <a:endParaRPr lang="en-AU" altLang="zh-CN" sz="2400"/>
          </a:p>
          <a:p>
            <a:pPr>
              <a:lnSpc>
                <a:spcPct val="90000"/>
              </a:lnSpc>
            </a:pPr>
            <a:r>
              <a:rPr lang="en-US" altLang="zh-CN" sz="2800"/>
              <a:t>Assembly language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Textual representation of instructions</a:t>
            </a:r>
            <a:endParaRPr lang="en-US" altLang="zh-CN" sz="2400"/>
          </a:p>
          <a:p>
            <a:pPr>
              <a:lnSpc>
                <a:spcPct val="90000"/>
              </a:lnSpc>
            </a:pPr>
            <a:r>
              <a:rPr lang="en-US" altLang="zh-CN" sz="2800"/>
              <a:t>Hardware representation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en-US" altLang="zh-CN" sz="2400"/>
              <a:t>Binary digits (bits)</a:t>
            </a:r>
            <a:endParaRPr lang="en-US" altLang="zh-CN" sz="2400"/>
          </a:p>
          <a:p>
            <a:pPr lvl="1">
              <a:lnSpc>
                <a:spcPct val="90000"/>
              </a:lnSpc>
            </a:pPr>
            <a:r>
              <a:rPr lang="en-US" altLang="zh-CN" sz="2400"/>
              <a:t>Encoded instructions and data</a:t>
            </a:r>
            <a:endParaRPr lang="en-US" altLang="zh-CN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6235" y="1125855"/>
            <a:ext cx="3260090" cy="51479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pic>
        <p:nvPicPr>
          <p:cNvPr id="196621" name="图片 196620" descr="f01-04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060575"/>
            <a:ext cx="3973513" cy="3403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6610" name="标题 19660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Components of a Computer</a:t>
            </a:r>
            <a:endParaRPr lang="en-AU" altLang="zh-CN"/>
          </a:p>
        </p:txBody>
      </p:sp>
      <p:sp>
        <p:nvSpPr>
          <p:cNvPr id="196615" name="文本占位符 196614"/>
          <p:cNvSpPr>
            <a:spLocks noGrp="1"/>
          </p:cNvSpPr>
          <p:nvPr>
            <p:ph type="body" sz="half" idx="2"/>
          </p:nvPr>
        </p:nvSpPr>
        <p:spPr>
          <a:xfrm>
            <a:off x="4356100" y="1125538"/>
            <a:ext cx="4598988" cy="5111750"/>
          </a:xfrm>
        </p:spPr>
        <p:txBody>
          <a:bodyPr/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/>
              <a:t>Same components for</a:t>
            </a:r>
            <a:br>
              <a:rPr lang="en-US" altLang="zh-CN" sz="2800"/>
            </a:br>
            <a:r>
              <a:rPr lang="en-US" altLang="zh-CN" sz="2800"/>
              <a:t>all kinds of computer</a:t>
            </a:r>
            <a:endParaRPr lang="en-US" altLang="zh-CN" sz="280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/>
              <a:t>Desktop, server,</a:t>
            </a:r>
            <a:br>
              <a:rPr lang="en-US" altLang="zh-CN" sz="2400"/>
            </a:br>
            <a:r>
              <a:rPr lang="en-US" altLang="zh-CN" sz="2400"/>
              <a:t>embedded,PMD</a:t>
            </a:r>
            <a:endParaRPr lang="en-US" altLang="zh-CN" sz="2400"/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/>
              <a:t>Input/output includes</a:t>
            </a:r>
            <a:endParaRPr lang="en-US" altLang="zh-CN" sz="280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/>
              <a:t>User-interface devices</a:t>
            </a:r>
            <a:endParaRPr lang="en-US" altLang="zh-CN" sz="2400"/>
          </a:p>
          <a:p>
            <a:pPr lvl="2">
              <a:buClr>
                <a:schemeClr val="folHlink"/>
              </a:buClr>
              <a:buSzPct val="50000"/>
              <a:buFont typeface="Wingdings" panose="05000000000000000000" pitchFamily="2" charset="2"/>
            </a:pPr>
            <a:r>
              <a:rPr lang="en-US" altLang="zh-CN" sz="2000"/>
              <a:t>Display, keyboard, mouse,Touchscreen</a:t>
            </a:r>
            <a:endParaRPr lang="en-US" altLang="zh-CN" sz="200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/>
              <a:t>Storage devices</a:t>
            </a:r>
            <a:endParaRPr lang="en-US" altLang="zh-CN" sz="2400"/>
          </a:p>
          <a:p>
            <a:pPr lvl="2">
              <a:buClr>
                <a:schemeClr val="folHlink"/>
              </a:buClr>
              <a:buSzPct val="50000"/>
              <a:buFont typeface="Wingdings" panose="05000000000000000000" pitchFamily="2" charset="2"/>
            </a:pPr>
            <a:r>
              <a:rPr lang="en-US" altLang="zh-CN" sz="2000"/>
              <a:t>Hard disk, CD/DVD, flash</a:t>
            </a:r>
            <a:endParaRPr lang="en-US" altLang="zh-CN" sz="200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/>
              <a:t>Network adapters</a:t>
            </a:r>
            <a:endParaRPr lang="en-US" altLang="zh-CN" sz="2400"/>
          </a:p>
          <a:p>
            <a:pPr lvl="2">
              <a:buClr>
                <a:schemeClr val="folHlink"/>
              </a:buClr>
              <a:buSzPct val="50000"/>
              <a:buFont typeface="Wingdings" panose="05000000000000000000" pitchFamily="2" charset="2"/>
            </a:pPr>
            <a:r>
              <a:rPr lang="en-US" altLang="zh-CN" sz="2000"/>
              <a:t>For communicating with other computers</a:t>
            </a:r>
            <a:endParaRPr lang="en-AU" altLang="zh-CN" sz="2000"/>
          </a:p>
        </p:txBody>
      </p:sp>
      <p:sp>
        <p:nvSpPr>
          <p:cNvPr id="196617" name="文本框 196616"/>
          <p:cNvSpPr txBox="1"/>
          <p:nvPr/>
        </p:nvSpPr>
        <p:spPr>
          <a:xfrm rot="5400000">
            <a:off x="7718425" y="1057275"/>
            <a:ext cx="248158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1.4 Under the Covers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96619" name="文本框 196618"/>
          <p:cNvSpPr txBox="1"/>
          <p:nvPr/>
        </p:nvSpPr>
        <p:spPr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b="1">
                <a:solidFill>
                  <a:schemeClr val="folHlink"/>
                </a:solidFill>
                <a:latin typeface="Arial Black" panose="020B0A04020102020204" pitchFamily="34" charset="0"/>
              </a:rPr>
              <a:t>The BIG Picture</a:t>
            </a:r>
            <a:endParaRPr lang="en-US" altLang="zh-CN" sz="2400" b="1">
              <a:solidFill>
                <a:schemeClr val="folHlink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52930" name="标题 25292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Through the Looking Glass</a:t>
            </a:r>
            <a:endParaRPr lang="en-US" altLang="zh-CN"/>
          </a:p>
        </p:txBody>
      </p:sp>
      <p:sp>
        <p:nvSpPr>
          <p:cNvPr id="252931" name="文本占位符 252930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1727200"/>
          </a:xfrm>
        </p:spPr>
        <p:txBody>
          <a:bodyPr/>
          <a:p>
            <a:r>
              <a:rPr lang="en-US" altLang="zh-CN"/>
              <a:t>LCD screen: picture elements (pixels)</a:t>
            </a:r>
            <a:endParaRPr lang="en-US" altLang="zh-CN"/>
          </a:p>
          <a:p>
            <a:pPr lvl="1"/>
            <a:r>
              <a:rPr lang="en-US" altLang="zh-CN"/>
              <a:t>Mirrors content of frame buffer memory</a:t>
            </a:r>
            <a:endParaRPr lang="en-US" altLang="zh-CN"/>
          </a:p>
        </p:txBody>
      </p:sp>
      <p:pic>
        <p:nvPicPr>
          <p:cNvPr id="252934" name="图片 252933" descr="f01-06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2636838"/>
            <a:ext cx="6248400" cy="300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02756" name="标题 20275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Opening the Box</a:t>
            </a:r>
            <a:endParaRPr lang="en-AU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15" y="2775585"/>
            <a:ext cx="5219700" cy="34201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55" y="1124585"/>
            <a:ext cx="4414520" cy="22237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83960" y="3583305"/>
            <a:ext cx="232029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/>
              <a:t>Memory : contain </a:t>
            </a:r>
            <a:r>
              <a:rPr lang="en-US" altLang="zh-CN">
                <a:sym typeface="+mn-ea"/>
              </a:rPr>
              <a:t>instructions and data of a program when running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DRAM(dynamic random-access)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53954" name="标题 253953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Inside the Processor (CPU)</a:t>
            </a:r>
            <a:endParaRPr lang="en-US" altLang="zh-CN"/>
          </a:p>
        </p:txBody>
      </p:sp>
      <p:sp>
        <p:nvSpPr>
          <p:cNvPr id="253955" name="文本占位符 25395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Datapath: performs operations on data</a:t>
            </a:r>
            <a:endParaRPr lang="en-US" altLang="zh-CN"/>
          </a:p>
          <a:p>
            <a:r>
              <a:rPr lang="en-US" altLang="zh-CN"/>
              <a:t>Control: sequences datapath, memory, ...</a:t>
            </a:r>
            <a:endParaRPr lang="en-US" altLang="zh-CN"/>
          </a:p>
          <a:p>
            <a:r>
              <a:rPr lang="en-US" altLang="zh-CN"/>
              <a:t>Cache memory</a:t>
            </a:r>
            <a:endParaRPr lang="en-US" altLang="zh-CN"/>
          </a:p>
          <a:p>
            <a:pPr lvl="1"/>
            <a:r>
              <a:rPr lang="en-US" altLang="zh-CN"/>
              <a:t>Small fast SRAM memory for immediate access to data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05826" name="标题 20582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Inside the Processor</a:t>
            </a:r>
            <a:endParaRPr lang="en-AU" altLang="zh-CN"/>
          </a:p>
        </p:txBody>
      </p:sp>
      <p:sp>
        <p:nvSpPr>
          <p:cNvPr id="205843" name="文本占位符 205842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719137"/>
          </a:xfrm>
        </p:spPr>
        <p:txBody>
          <a:bodyPr/>
          <a:p>
            <a:r>
              <a:rPr lang="en-US" altLang="zh-CN"/>
              <a:t>A12:  7-nm process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025" y="1728470"/>
            <a:ext cx="5234940" cy="44373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54978" name="标题 25497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Abstractions</a:t>
            </a:r>
            <a:endParaRPr lang="en-US" altLang="zh-CN"/>
          </a:p>
        </p:txBody>
      </p:sp>
      <p:sp>
        <p:nvSpPr>
          <p:cNvPr id="254979" name="文本占位符 254978"/>
          <p:cNvSpPr>
            <a:spLocks noGrp="1"/>
          </p:cNvSpPr>
          <p:nvPr>
            <p:ph type="body" idx="1"/>
          </p:nvPr>
        </p:nvSpPr>
        <p:spPr>
          <a:xfrm>
            <a:off x="684213" y="1700213"/>
            <a:ext cx="8270875" cy="4537075"/>
          </a:xfrm>
        </p:spPr>
        <p:txBody>
          <a:bodyPr/>
          <a:p>
            <a:r>
              <a:rPr lang="en-US" altLang="zh-CN"/>
              <a:t>Abstraction helps us deal with complexity</a:t>
            </a:r>
            <a:endParaRPr lang="en-US" altLang="zh-CN"/>
          </a:p>
          <a:p>
            <a:pPr lvl="1"/>
            <a:r>
              <a:rPr lang="en-US" altLang="zh-CN"/>
              <a:t>Hide lower-level detail</a:t>
            </a:r>
            <a:endParaRPr lang="en-US" altLang="zh-CN"/>
          </a:p>
          <a:p>
            <a:r>
              <a:rPr lang="en-US" altLang="zh-CN"/>
              <a:t>Instruction set architecture (ISA)</a:t>
            </a:r>
            <a:endParaRPr lang="en-US" altLang="zh-CN"/>
          </a:p>
          <a:p>
            <a:pPr lvl="1"/>
            <a:r>
              <a:rPr lang="en-US" altLang="zh-CN"/>
              <a:t>The hardware/software interface</a:t>
            </a:r>
            <a:endParaRPr lang="en-US" altLang="zh-CN"/>
          </a:p>
          <a:p>
            <a:r>
              <a:rPr lang="en-US" altLang="zh-CN"/>
              <a:t>Application binary interface</a:t>
            </a:r>
            <a:endParaRPr lang="en-US" altLang="zh-CN"/>
          </a:p>
          <a:p>
            <a:pPr lvl="1"/>
            <a:r>
              <a:rPr lang="en-US" altLang="zh-CN"/>
              <a:t>The ISA plus system software interface</a:t>
            </a:r>
            <a:endParaRPr lang="en-US" altLang="zh-CN"/>
          </a:p>
          <a:p>
            <a:r>
              <a:rPr lang="en-US" altLang="zh-CN"/>
              <a:t>Implementation</a:t>
            </a:r>
            <a:endParaRPr lang="en-US" altLang="zh-CN"/>
          </a:p>
          <a:p>
            <a:pPr lvl="1"/>
            <a:r>
              <a:rPr lang="en-US" altLang="zh-CN"/>
              <a:t>The details underlying and interface</a:t>
            </a:r>
            <a:endParaRPr lang="en-US" altLang="zh-CN"/>
          </a:p>
        </p:txBody>
      </p:sp>
      <p:sp>
        <p:nvSpPr>
          <p:cNvPr id="254981" name="文本框 254980"/>
          <p:cNvSpPr txBox="1"/>
          <p:nvPr/>
        </p:nvSpPr>
        <p:spPr>
          <a:xfrm>
            <a:off x="684213" y="1187450"/>
            <a:ext cx="282575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b="1">
                <a:solidFill>
                  <a:schemeClr val="folHlink"/>
                </a:solidFill>
                <a:latin typeface="Arial Black" panose="020B0A04020102020204" pitchFamily="34" charset="0"/>
              </a:rPr>
              <a:t>The BIG Picture</a:t>
            </a:r>
            <a:endParaRPr lang="en-US" altLang="zh-CN" sz="2400" b="1">
              <a:solidFill>
                <a:schemeClr val="folHlink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pic>
        <p:nvPicPr>
          <p:cNvPr id="256011" name="图片 256010" descr="flash-card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8425" y="1196975"/>
            <a:ext cx="2695575" cy="203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02" name="标题 25600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A Safe Place for Data</a:t>
            </a:r>
            <a:endParaRPr lang="en-US" altLang="zh-CN"/>
          </a:p>
        </p:txBody>
      </p:sp>
      <p:sp>
        <p:nvSpPr>
          <p:cNvPr id="256003" name="文本占位符 256002"/>
          <p:cNvSpPr>
            <a:spLocks noGrp="1"/>
          </p:cNvSpPr>
          <p:nvPr>
            <p:ph type="body" sz="half" idx="1"/>
          </p:nvPr>
        </p:nvSpPr>
        <p:spPr>
          <a:xfrm>
            <a:off x="684213" y="1125538"/>
            <a:ext cx="8270875" cy="2479675"/>
          </a:xfrm>
        </p:spPr>
        <p:txBody>
          <a:bodyPr/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/>
              <a:t>Volatile main memory</a:t>
            </a:r>
            <a:endParaRPr lang="en-US" altLang="zh-CN" sz="240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000"/>
              <a:t>Loses instructions and data when power off</a:t>
            </a:r>
            <a:endParaRPr lang="en-US" altLang="zh-CN" sz="2000"/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/>
              <a:t>Non-volatile secondary memory</a:t>
            </a:r>
            <a:endParaRPr lang="en-US" altLang="zh-CN" sz="240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000"/>
              <a:t>Magnetic disk</a:t>
            </a:r>
            <a:endParaRPr lang="en-US" altLang="zh-CN" sz="200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000"/>
              <a:t>Flash memory</a:t>
            </a:r>
            <a:endParaRPr lang="en-US" altLang="zh-CN" sz="200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000"/>
              <a:t>Optical disk (CDROM, DVD)</a:t>
            </a:r>
            <a:endParaRPr lang="en-US" altLang="zh-CN" sz="2000"/>
          </a:p>
        </p:txBody>
      </p:sp>
      <p:pic>
        <p:nvPicPr>
          <p:cNvPr id="256009" name="图片 256008" descr="hard-disk-dri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8" y="3716338"/>
            <a:ext cx="4537075" cy="25574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10" name="图片 256009" descr="flash-memory-explod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563" y="3141663"/>
            <a:ext cx="1828800" cy="1371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12" name="图片 256011" descr="dvd-dri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625" y="4797425"/>
            <a:ext cx="2454275" cy="1450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57026" name="标题 25702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Networks</a:t>
            </a:r>
            <a:endParaRPr lang="en-US" altLang="zh-CN"/>
          </a:p>
        </p:txBody>
      </p:sp>
      <p:sp>
        <p:nvSpPr>
          <p:cNvPr id="257027" name="文本占位符 257026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2879725"/>
          </a:xfrm>
        </p:spPr>
        <p:txBody>
          <a:bodyPr/>
          <a:p>
            <a:r>
              <a:rPr lang="en-US" altLang="zh-CN"/>
              <a:t>Communication and resource sharing</a:t>
            </a:r>
            <a:endParaRPr lang="en-US" altLang="zh-CN"/>
          </a:p>
          <a:p>
            <a:r>
              <a:rPr lang="en-US" altLang="zh-CN"/>
              <a:t>Local area network (LAN): Ethernet</a:t>
            </a:r>
            <a:endParaRPr lang="en-US" altLang="zh-CN"/>
          </a:p>
          <a:p>
            <a:pPr lvl="1"/>
            <a:r>
              <a:rPr lang="en-US" altLang="zh-CN"/>
              <a:t>Within a building</a:t>
            </a:r>
            <a:endParaRPr lang="en-US" altLang="zh-CN"/>
          </a:p>
          <a:p>
            <a:r>
              <a:rPr lang="en-US" altLang="zh-CN"/>
              <a:t>Wide area network (WAN): the Internet</a:t>
            </a:r>
            <a:endParaRPr lang="en-US" altLang="zh-CN"/>
          </a:p>
          <a:p>
            <a:r>
              <a:rPr lang="en-US" altLang="zh-CN"/>
              <a:t>Wireless network: WiFi, Bluetooth</a:t>
            </a:r>
            <a:endParaRPr lang="en-US" altLang="zh-CN"/>
          </a:p>
        </p:txBody>
      </p:sp>
      <p:pic>
        <p:nvPicPr>
          <p:cNvPr id="257030" name="图片 257029" descr="ethernet-cabl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6825" y="4365625"/>
            <a:ext cx="2289175" cy="1717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7032" name="图片 257031" descr="wireless-rou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3860800"/>
            <a:ext cx="2524125" cy="25923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07875" name="标题 207874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Manufacturing ICs</a:t>
            </a:r>
            <a:endParaRPr lang="en-AU" altLang="zh-CN"/>
          </a:p>
        </p:txBody>
      </p:sp>
      <p:sp>
        <p:nvSpPr>
          <p:cNvPr id="207891" name="文本占位符 207890"/>
          <p:cNvSpPr>
            <a:spLocks noGrp="1"/>
          </p:cNvSpPr>
          <p:nvPr>
            <p:ph type="body" idx="1"/>
          </p:nvPr>
        </p:nvSpPr>
        <p:spPr>
          <a:xfrm>
            <a:off x="684213" y="5300663"/>
            <a:ext cx="8270875" cy="936625"/>
          </a:xfrm>
        </p:spPr>
        <p:txBody>
          <a:bodyPr/>
          <a:p>
            <a:r>
              <a:rPr lang="en-US" altLang="zh-CN"/>
              <a:t>Yield: proportion of working dies per wafer</a:t>
            </a:r>
            <a:endParaRPr lang="en-US" altLang="zh-CN"/>
          </a:p>
        </p:txBody>
      </p:sp>
      <p:sp>
        <p:nvSpPr>
          <p:cNvPr id="207890" name="文本框 207889"/>
          <p:cNvSpPr txBox="1"/>
          <p:nvPr/>
        </p:nvSpPr>
        <p:spPr>
          <a:xfrm rot="5400000">
            <a:off x="5981700" y="2793365"/>
            <a:ext cx="5955665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1.5 Technologies for Building Processors and Memory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pic>
        <p:nvPicPr>
          <p:cNvPr id="207892" name="图片 207891" descr="f01-18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913" y="1412875"/>
            <a:ext cx="6481762" cy="3495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33828" name="标题 333827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anchor="b" anchorCtr="0">
            <a:spAutoFit/>
          </a:bodyPr>
          <a:p>
            <a:r>
              <a:rPr lang="en-AU" altLang="zh-CN"/>
              <a:t>10th Gen Intel Wafer</a:t>
            </a:r>
            <a:endParaRPr lang="en-AU" altLang="zh-CN"/>
          </a:p>
        </p:txBody>
      </p:sp>
      <p:sp>
        <p:nvSpPr>
          <p:cNvPr id="333830" name="文本占位符 333829"/>
          <p:cNvSpPr>
            <a:spLocks noGrp="1"/>
          </p:cNvSpPr>
          <p:nvPr>
            <p:ph type="body" idx="1"/>
          </p:nvPr>
        </p:nvSpPr>
        <p:spPr>
          <a:xfrm>
            <a:off x="678815" y="5221605"/>
            <a:ext cx="8270875" cy="1022985"/>
          </a:xfrm>
        </p:spPr>
        <p:txBody>
          <a:bodyPr/>
          <a:p>
            <a:r>
              <a:rPr lang="en-AU" altLang="zh-CN" sz="2800"/>
              <a:t>12-inch (300mm) wafer, </a:t>
            </a:r>
            <a:r>
              <a:rPr lang="en-US" altLang="en-AU" sz="2800"/>
              <a:t>506</a:t>
            </a:r>
            <a:r>
              <a:rPr lang="en-AU" altLang="zh-CN" sz="2800"/>
              <a:t> chips, </a:t>
            </a:r>
            <a:r>
              <a:rPr lang="en-US" altLang="en-AU" sz="2800"/>
              <a:t>1</a:t>
            </a:r>
            <a:r>
              <a:rPr lang="en-AU" altLang="zh-CN" sz="2800"/>
              <a:t>0nm technology</a:t>
            </a:r>
            <a:endParaRPr lang="en-AU" altLang="zh-CN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340" y="1097280"/>
            <a:ext cx="4425950" cy="3987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37922" name="标题 33792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AU" altLang="zh-CN"/>
              <a:t>Integrated Circuit Cost</a:t>
            </a:r>
            <a:endParaRPr lang="en-AU" altLang="zh-CN"/>
          </a:p>
        </p:txBody>
      </p:sp>
      <p:sp>
        <p:nvSpPr>
          <p:cNvPr id="337923" name="文本占位符 337922"/>
          <p:cNvSpPr>
            <a:spLocks noGrp="1"/>
          </p:cNvSpPr>
          <p:nvPr>
            <p:ph type="body" idx="1"/>
          </p:nvPr>
        </p:nvSpPr>
        <p:spPr>
          <a:xfrm>
            <a:off x="684213" y="4005263"/>
            <a:ext cx="8270875" cy="2232025"/>
          </a:xfrm>
        </p:spPr>
        <p:txBody>
          <a:bodyPr/>
          <a:p>
            <a:r>
              <a:rPr lang="en-AU" altLang="zh-CN" sz="2800"/>
              <a:t>Nonlinear relation to area and defect rate</a:t>
            </a:r>
            <a:endParaRPr lang="en-AU" altLang="zh-CN" sz="2800"/>
          </a:p>
          <a:p>
            <a:pPr lvl="1"/>
            <a:r>
              <a:rPr lang="en-AU" altLang="zh-CN" sz="2400"/>
              <a:t>Wafer cost and area are fixed</a:t>
            </a:r>
            <a:endParaRPr lang="en-AU" altLang="zh-CN" sz="2400"/>
          </a:p>
          <a:p>
            <a:pPr lvl="1"/>
            <a:r>
              <a:rPr lang="en-AU" altLang="zh-CN" sz="2400"/>
              <a:t>Defect rate determined by manufacturing process</a:t>
            </a:r>
            <a:endParaRPr lang="en-AU" altLang="zh-CN" sz="2400"/>
          </a:p>
          <a:p>
            <a:pPr lvl="1"/>
            <a:r>
              <a:rPr lang="en-AU" altLang="zh-CN" sz="2400"/>
              <a:t>Die area determined by architecture and circuit design</a:t>
            </a:r>
            <a:endParaRPr lang="en-AU" altLang="zh-CN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205" y="1268730"/>
            <a:ext cx="6896735" cy="24460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58050" name="标题 25804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Technology Trends</a:t>
            </a:r>
            <a:endParaRPr lang="en-US" altLang="zh-CN"/>
          </a:p>
        </p:txBody>
      </p:sp>
      <p:sp>
        <p:nvSpPr>
          <p:cNvPr id="258051" name="文本占位符 258050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3816350" cy="2735262"/>
          </a:xfrm>
        </p:spPr>
        <p:txBody>
          <a:bodyPr/>
          <a:p>
            <a:r>
              <a:rPr lang="en-AU" altLang="zh-CN" sz="2800"/>
              <a:t>Electronics technology continues to evolve</a:t>
            </a:r>
            <a:endParaRPr lang="en-AU" altLang="zh-CN" sz="2800"/>
          </a:p>
          <a:p>
            <a:pPr lvl="1"/>
            <a:r>
              <a:rPr lang="en-AU" altLang="zh-CN" sz="2400"/>
              <a:t>Increased capacity and performance</a:t>
            </a:r>
            <a:endParaRPr lang="en-AU" altLang="zh-CN" sz="2400"/>
          </a:p>
          <a:p>
            <a:pPr lvl="1"/>
            <a:r>
              <a:rPr lang="en-AU" altLang="zh-CN" sz="2400"/>
              <a:t>Reduced cost</a:t>
            </a:r>
            <a:endParaRPr lang="en-AU" altLang="zh-CN" sz="2400"/>
          </a:p>
        </p:txBody>
      </p:sp>
      <p:graphicFrame>
        <p:nvGraphicFramePr>
          <p:cNvPr id="258136" name="表格 258135"/>
          <p:cNvGraphicFramePr/>
          <p:nvPr>
            <p:custDataLst>
              <p:tags r:id="rId1"/>
            </p:custDataLst>
          </p:nvPr>
        </p:nvGraphicFramePr>
        <p:xfrm>
          <a:off x="755650" y="3933825"/>
          <a:ext cx="7920038" cy="2190750"/>
        </p:xfrm>
        <a:graphic>
          <a:graphicData uri="http://schemas.openxmlformats.org/drawingml/2006/table">
            <a:tbl>
              <a:tblPr/>
              <a:tblGrid>
                <a:gridCol w="865188"/>
                <a:gridCol w="3527425"/>
                <a:gridCol w="2736850"/>
                <a:gridCol w="790575"/>
              </a:tblGrid>
              <a:tr h="3651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800"/>
                        <a:t>Year</a:t>
                      </a:r>
                      <a:endParaRPr lang="en-AU" altLang="zh-CN" sz="18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800"/>
                        <a:t>Technology</a:t>
                      </a:r>
                      <a:endParaRPr lang="en-AU" altLang="zh-CN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AU" altLang="zh-CN" sz="1800"/>
                        <a:t>Relative performance/cost</a:t>
                      </a:r>
                      <a:endParaRPr lang="en-AU" altLang="zh-CN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51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800"/>
                        <a:t>1951</a:t>
                      </a:r>
                      <a:endParaRPr lang="en-AU" altLang="zh-CN" sz="18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800"/>
                        <a:t>Vacuum tube</a:t>
                      </a:r>
                      <a:endParaRPr lang="en-AU" altLang="zh-CN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800"/>
                        <a:t>1</a:t>
                      </a:r>
                      <a:endParaRPr lang="en-AU" altLang="zh-CN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endParaRPr lang="en-AU" altLang="x-none" sz="18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800"/>
                        <a:t>1965</a:t>
                      </a:r>
                      <a:endParaRPr lang="en-AU" altLang="zh-CN" sz="18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800"/>
                        <a:t>Transistor</a:t>
                      </a:r>
                      <a:endParaRPr lang="en-AU" altLang="zh-CN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800"/>
                        <a:t>35</a:t>
                      </a:r>
                      <a:endParaRPr lang="en-AU" altLang="zh-CN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endParaRPr lang="en-AU" altLang="x-none" sz="18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800"/>
                        <a:t>1975</a:t>
                      </a:r>
                      <a:endParaRPr lang="en-AU" altLang="zh-CN" sz="18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800"/>
                        <a:t>Integrated circuit (IC)</a:t>
                      </a:r>
                      <a:endParaRPr lang="en-AU" altLang="zh-CN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800"/>
                        <a:t>900</a:t>
                      </a:r>
                      <a:endParaRPr lang="en-AU" altLang="zh-CN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endParaRPr lang="en-AU" altLang="x-none" sz="18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800"/>
                        <a:t>1995</a:t>
                      </a:r>
                      <a:endParaRPr lang="en-AU" altLang="zh-CN" sz="18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800"/>
                        <a:t>Very large scale IC (VLSI)</a:t>
                      </a:r>
                      <a:endParaRPr lang="en-AU" altLang="zh-CN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800"/>
                        <a:t>2,400,000</a:t>
                      </a:r>
                      <a:endParaRPr lang="en-AU" altLang="zh-CN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endParaRPr lang="en-AU" altLang="x-none" sz="18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800"/>
                        <a:t>20</a:t>
                      </a:r>
                      <a:r>
                        <a:rPr lang="en-US" altLang="en-AU" sz="1800"/>
                        <a:t>20</a:t>
                      </a:r>
                      <a:endParaRPr lang="en-US" altLang="en-AU" sz="18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800"/>
                        <a:t>Ultra large scale IC</a:t>
                      </a:r>
                      <a:endParaRPr lang="en-AU" altLang="zh-CN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800"/>
                        <a:t>500,000,000,000</a:t>
                      </a:r>
                      <a:endParaRPr lang="en-AU" altLang="zh-CN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endParaRPr lang="en-AU" altLang="x-none" sz="18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8137" name="文本框 258136"/>
          <p:cNvSpPr txBox="1"/>
          <p:nvPr/>
        </p:nvSpPr>
        <p:spPr>
          <a:xfrm>
            <a:off x="6303963" y="3217863"/>
            <a:ext cx="1417637" cy="3143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r>
              <a:rPr lang="en-AU" altLang="zh-CN" sz="1400">
                <a:latin typeface="Arial" panose="020B0604020202020204" pitchFamily="34" charset="0"/>
              </a:rPr>
              <a:t>DRAM capacity</a:t>
            </a:r>
            <a:endParaRPr lang="en-AU" altLang="zh-CN" sz="1400"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5" y="1268730"/>
            <a:ext cx="4342130" cy="16744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01064" name="标题 301063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Defining Performance</a:t>
            </a:r>
            <a:endParaRPr lang="en-AU" altLang="zh-CN"/>
          </a:p>
        </p:txBody>
      </p:sp>
      <p:sp>
        <p:nvSpPr>
          <p:cNvPr id="301065" name="文本占位符 301064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503237"/>
          </a:xfrm>
        </p:spPr>
        <p:txBody>
          <a:bodyPr/>
          <a:p>
            <a:pPr>
              <a:lnSpc>
                <a:spcPct val="90000"/>
              </a:lnSpc>
            </a:pPr>
            <a:r>
              <a:rPr lang="en-AU" altLang="zh-CN" sz="2800"/>
              <a:t>Which airplane has the best performance?</a:t>
            </a:r>
            <a:endParaRPr lang="en-AU" altLang="zh-CN" sz="2800"/>
          </a:p>
        </p:txBody>
      </p:sp>
      <p:graphicFrame>
        <p:nvGraphicFramePr>
          <p:cNvPr id="301059" name="对象 301058"/>
          <p:cNvGraphicFramePr/>
          <p:nvPr/>
        </p:nvGraphicFramePr>
        <p:xfrm>
          <a:off x="900113" y="1839913"/>
          <a:ext cx="3167062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3860800" imgH="2562860" progId="MSGraph.Chart.8">
                  <p:embed/>
                </p:oleObj>
              </mc:Choice>
              <mc:Fallback>
                <p:oleObj name="" r:id="rId1" imgW="3860800" imgH="2562860" progId="MSGraph.Chart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1839913"/>
                        <a:ext cx="3167062" cy="2098675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0" name="对象 301059"/>
          <p:cNvGraphicFramePr/>
          <p:nvPr/>
        </p:nvGraphicFramePr>
        <p:xfrm>
          <a:off x="4356100" y="1836738"/>
          <a:ext cx="3352800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4086860" imgH="2562860" progId="MSGraph.Chart.8">
                  <p:embed/>
                </p:oleObj>
              </mc:Choice>
              <mc:Fallback>
                <p:oleObj name="" r:id="rId3" imgW="4086860" imgH="2562860" progId="MSGraph.Char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56100" y="1836738"/>
                        <a:ext cx="3352800" cy="2098675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1" name="对象 301060"/>
          <p:cNvGraphicFramePr/>
          <p:nvPr/>
        </p:nvGraphicFramePr>
        <p:xfrm>
          <a:off x="900113" y="4065588"/>
          <a:ext cx="3167062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3860800" imgH="2562860" progId="MSGraph.Chart.8">
                  <p:embed/>
                </p:oleObj>
              </mc:Choice>
              <mc:Fallback>
                <p:oleObj name="" r:id="rId5" imgW="3860800" imgH="2562860" progId="MSGraph.Char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0113" y="4065588"/>
                        <a:ext cx="3167062" cy="2098675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2" name="对象 301061"/>
          <p:cNvGraphicFramePr/>
          <p:nvPr/>
        </p:nvGraphicFramePr>
        <p:xfrm>
          <a:off x="4356100" y="4056063"/>
          <a:ext cx="3379788" cy="210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7" imgW="4097655" imgH="2562860" progId="MSGraph.Chart.8">
                  <p:embed/>
                </p:oleObj>
              </mc:Choice>
              <mc:Fallback>
                <p:oleObj name="" r:id="rId7" imgW="4097655" imgH="2562860" progId="MSGraph.Chart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56100" y="4056063"/>
                        <a:ext cx="3379788" cy="210978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63" name="文本框 301062"/>
          <p:cNvSpPr txBox="1"/>
          <p:nvPr/>
        </p:nvSpPr>
        <p:spPr>
          <a:xfrm rot="5400000">
            <a:off x="7959725" y="815975"/>
            <a:ext cx="199898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1.6 Performance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03106" name="标题 30310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 sz="4000"/>
              <a:t>Response Time and Throughput</a:t>
            </a:r>
            <a:endParaRPr lang="en-AU" altLang="zh-CN" sz="4000"/>
          </a:p>
        </p:txBody>
      </p:sp>
      <p:sp>
        <p:nvSpPr>
          <p:cNvPr id="303107" name="文本占位符 303106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sz="2800"/>
              <a:t>Response time</a:t>
            </a:r>
            <a:endParaRPr lang="en-US" altLang="zh-CN" sz="2800"/>
          </a:p>
          <a:p>
            <a:pPr lvl="1"/>
            <a:r>
              <a:rPr lang="en-US" altLang="zh-CN" sz="2400"/>
              <a:t>How long it takes to do a task</a:t>
            </a:r>
            <a:endParaRPr lang="en-US" altLang="zh-CN" sz="2400"/>
          </a:p>
          <a:p>
            <a:r>
              <a:rPr lang="en-US" altLang="zh-CN" sz="2800"/>
              <a:t>Throughput</a:t>
            </a:r>
            <a:endParaRPr lang="en-US" altLang="zh-CN" sz="2800"/>
          </a:p>
          <a:p>
            <a:pPr lvl="1"/>
            <a:r>
              <a:rPr lang="en-US" altLang="zh-CN" sz="2400"/>
              <a:t>Total work done per unit time</a:t>
            </a:r>
            <a:endParaRPr lang="en-US" altLang="zh-CN" sz="2400"/>
          </a:p>
          <a:p>
            <a:pPr lvl="2"/>
            <a:r>
              <a:rPr lang="en-US" altLang="zh-CN" sz="2000"/>
              <a:t>e.g., tasks/transactions/… per hour</a:t>
            </a:r>
            <a:endParaRPr lang="en-US" altLang="zh-CN" sz="2000"/>
          </a:p>
          <a:p>
            <a:r>
              <a:rPr lang="en-US" altLang="zh-CN" sz="2800"/>
              <a:t>How are response time and throughput affected by</a:t>
            </a:r>
            <a:endParaRPr lang="en-US" altLang="zh-CN" sz="2800"/>
          </a:p>
          <a:p>
            <a:pPr lvl="1"/>
            <a:r>
              <a:rPr lang="en-US" altLang="zh-CN" sz="2400"/>
              <a:t>Replacing the processor with a faster version?</a:t>
            </a:r>
            <a:endParaRPr lang="en-US" altLang="zh-CN" sz="2400"/>
          </a:p>
          <a:p>
            <a:pPr lvl="1"/>
            <a:r>
              <a:rPr lang="en-US" altLang="zh-CN" sz="2400"/>
              <a:t>Adding more processors?</a:t>
            </a:r>
            <a:endParaRPr lang="en-US" altLang="zh-CN" sz="2400"/>
          </a:p>
          <a:p>
            <a:r>
              <a:rPr lang="en-US" altLang="zh-CN" sz="2800"/>
              <a:t>We’ll focus on response time for now…</a:t>
            </a:r>
            <a:endParaRPr lang="en-AU" altLang="zh-CN"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05154" name="标题 305153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Relative Performance</a:t>
            </a:r>
            <a:endParaRPr lang="en-AU" altLang="zh-CN"/>
          </a:p>
        </p:txBody>
      </p:sp>
      <p:sp>
        <p:nvSpPr>
          <p:cNvPr id="305155" name="文本占位符 305154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1223962"/>
          </a:xfrm>
        </p:spPr>
        <p:txBody>
          <a:bodyPr/>
          <a:p>
            <a:r>
              <a:rPr lang="en-US" altLang="zh-CN"/>
              <a:t>Define Performance = 1/Execution Time</a:t>
            </a:r>
            <a:endParaRPr lang="en-US" altLang="zh-CN"/>
          </a:p>
          <a:p>
            <a:r>
              <a:rPr lang="en-US" altLang="zh-CN"/>
              <a:t>“X is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/>
              <a:t> time faster than Y”</a:t>
            </a:r>
            <a:endParaRPr lang="en-US" altLang="zh-CN"/>
          </a:p>
        </p:txBody>
      </p:sp>
      <p:graphicFrame>
        <p:nvGraphicFramePr>
          <p:cNvPr id="305156" name="对象 305155"/>
          <p:cNvGraphicFramePr/>
          <p:nvPr/>
        </p:nvGraphicFramePr>
        <p:xfrm>
          <a:off x="1547813" y="2420938"/>
          <a:ext cx="576580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2616200" imgH="457200" progId="Equation.3">
                  <p:embed/>
                </p:oleObj>
              </mc:Choice>
              <mc:Fallback>
                <p:oleObj name="" r:id="rId1" imgW="2616200" imgH="4572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813" y="2420938"/>
                        <a:ext cx="5765800" cy="1008062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7" name="矩形 305156"/>
          <p:cNvSpPr/>
          <p:nvPr/>
        </p:nvSpPr>
        <p:spPr>
          <a:xfrm>
            <a:off x="684213" y="3573463"/>
            <a:ext cx="8270875" cy="24479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Example: time taken to run a program</a:t>
            </a:r>
            <a:endParaRPr lang="en-US" altLang="zh-CN"/>
          </a:p>
          <a:p>
            <a:pPr lvl="1"/>
            <a:r>
              <a:rPr lang="en-US" altLang="zh-CN"/>
              <a:t>10s on A, 15s on B</a:t>
            </a:r>
            <a:endParaRPr lang="en-US" altLang="zh-CN"/>
          </a:p>
          <a:p>
            <a:pPr lvl="1"/>
            <a:r>
              <a:rPr lang="en-US" altLang="zh-CN"/>
              <a:t>Execution Time</a:t>
            </a:r>
            <a:r>
              <a:rPr lang="en-US" altLang="zh-CN" baseline="-25000"/>
              <a:t>B</a:t>
            </a:r>
            <a:r>
              <a:rPr lang="en-US" altLang="zh-CN"/>
              <a:t> / Execution Time</a:t>
            </a:r>
            <a:r>
              <a:rPr lang="en-US" altLang="zh-CN" baseline="-25000"/>
              <a:t>A</a:t>
            </a:r>
            <a:br>
              <a:rPr lang="en-US" altLang="zh-CN"/>
            </a:br>
            <a:r>
              <a:rPr lang="en-US" altLang="zh-CN"/>
              <a:t>= 15s / 10s = 1.5</a:t>
            </a:r>
            <a:endParaRPr lang="en-US" altLang="zh-CN"/>
          </a:p>
          <a:p>
            <a:pPr lvl="1"/>
            <a:r>
              <a:rPr lang="en-US" altLang="zh-CN"/>
              <a:t>So A is 1.5 times faster than B</a:t>
            </a:r>
            <a:endParaRPr lang="en-AU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07202" name="标题 30720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Measuring Execution Time</a:t>
            </a:r>
            <a:endParaRPr lang="en-AU" altLang="zh-CN"/>
          </a:p>
        </p:txBody>
      </p:sp>
      <p:sp>
        <p:nvSpPr>
          <p:cNvPr id="307203" name="文本占位符 307202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/>
              <a:t>Elapsed time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Total response time, including all aspects</a:t>
            </a:r>
            <a:endParaRPr lang="en-US" altLang="zh-CN"/>
          </a:p>
          <a:p>
            <a:pPr lvl="2">
              <a:lnSpc>
                <a:spcPct val="90000"/>
              </a:lnSpc>
            </a:pPr>
            <a:r>
              <a:rPr lang="en-US" altLang="zh-CN"/>
              <a:t>Processing, I/O, OS overhead, idle time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Determines system performance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/>
              <a:t>CPU time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Time spent processing a given job</a:t>
            </a:r>
            <a:endParaRPr lang="en-US" altLang="zh-CN"/>
          </a:p>
          <a:p>
            <a:pPr lvl="2">
              <a:lnSpc>
                <a:spcPct val="90000"/>
              </a:lnSpc>
            </a:pPr>
            <a:r>
              <a:rPr lang="en-US" altLang="zh-CN"/>
              <a:t>Discounts I/O time, other jobs’ shares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Comprises user CPU time and system CPU time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Different programs are affected differently by CPU and system performance</a:t>
            </a:r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09250" name="直接连接符 309249"/>
          <p:cNvSpPr/>
          <p:nvPr/>
        </p:nvSpPr>
        <p:spPr>
          <a:xfrm>
            <a:off x="2627313" y="2493963"/>
            <a:ext cx="17287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09251" name="直接连接符 309250"/>
          <p:cNvSpPr/>
          <p:nvPr/>
        </p:nvSpPr>
        <p:spPr>
          <a:xfrm>
            <a:off x="2627313" y="2565400"/>
            <a:ext cx="0" cy="1655763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09252" name="直接连接符 309251"/>
          <p:cNvSpPr/>
          <p:nvPr/>
        </p:nvSpPr>
        <p:spPr>
          <a:xfrm>
            <a:off x="4356100" y="2565400"/>
            <a:ext cx="0" cy="1655763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09253" name="直接连接符 309252"/>
          <p:cNvSpPr/>
          <p:nvPr/>
        </p:nvSpPr>
        <p:spPr>
          <a:xfrm>
            <a:off x="6083300" y="2565400"/>
            <a:ext cx="0" cy="1655763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09254" name="直接连接符 309253"/>
          <p:cNvSpPr/>
          <p:nvPr/>
        </p:nvSpPr>
        <p:spPr>
          <a:xfrm>
            <a:off x="7812088" y="2565400"/>
            <a:ext cx="0" cy="1655763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09255" name="标题 309254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CPU Clocking</a:t>
            </a:r>
            <a:endParaRPr lang="en-AU" altLang="zh-CN"/>
          </a:p>
        </p:txBody>
      </p:sp>
      <p:sp>
        <p:nvSpPr>
          <p:cNvPr id="309256" name="文本占位符 309255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1228725"/>
          </a:xfrm>
        </p:spPr>
        <p:txBody>
          <a:bodyPr/>
          <a:p>
            <a:r>
              <a:rPr lang="en-US" altLang="zh-CN" sz="2800"/>
              <a:t>Operation of digital hardware governed by a constant-rate clock</a:t>
            </a:r>
            <a:endParaRPr lang="en-AU" altLang="zh-CN" sz="2800"/>
          </a:p>
        </p:txBody>
      </p:sp>
      <p:sp>
        <p:nvSpPr>
          <p:cNvPr id="309258" name="直接连接符 309257"/>
          <p:cNvSpPr/>
          <p:nvPr/>
        </p:nvSpPr>
        <p:spPr>
          <a:xfrm>
            <a:off x="2627313" y="2709863"/>
            <a:ext cx="863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59" name="直接连接符 309258"/>
          <p:cNvSpPr/>
          <p:nvPr/>
        </p:nvSpPr>
        <p:spPr>
          <a:xfrm>
            <a:off x="2627313" y="2709863"/>
            <a:ext cx="0" cy="28733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60" name="直接连接符 309259"/>
          <p:cNvSpPr/>
          <p:nvPr/>
        </p:nvSpPr>
        <p:spPr>
          <a:xfrm>
            <a:off x="3490913" y="2709863"/>
            <a:ext cx="0" cy="28733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61" name="直接连接符 309260"/>
          <p:cNvSpPr/>
          <p:nvPr/>
        </p:nvSpPr>
        <p:spPr>
          <a:xfrm>
            <a:off x="3490913" y="2997200"/>
            <a:ext cx="863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62" name="直接连接符 309261"/>
          <p:cNvSpPr/>
          <p:nvPr/>
        </p:nvSpPr>
        <p:spPr>
          <a:xfrm>
            <a:off x="2339975" y="2997200"/>
            <a:ext cx="2873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63" name="直接连接符 309262"/>
          <p:cNvSpPr/>
          <p:nvPr/>
        </p:nvSpPr>
        <p:spPr>
          <a:xfrm>
            <a:off x="4356100" y="2709863"/>
            <a:ext cx="863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64" name="直接连接符 309263"/>
          <p:cNvSpPr/>
          <p:nvPr/>
        </p:nvSpPr>
        <p:spPr>
          <a:xfrm>
            <a:off x="4356100" y="2709863"/>
            <a:ext cx="0" cy="28733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65" name="直接连接符 309264"/>
          <p:cNvSpPr/>
          <p:nvPr/>
        </p:nvSpPr>
        <p:spPr>
          <a:xfrm>
            <a:off x="5219700" y="2709863"/>
            <a:ext cx="0" cy="28733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66" name="直接连接符 309265"/>
          <p:cNvSpPr/>
          <p:nvPr/>
        </p:nvSpPr>
        <p:spPr>
          <a:xfrm>
            <a:off x="5219700" y="2997200"/>
            <a:ext cx="863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67" name="直接连接符 309266"/>
          <p:cNvSpPr/>
          <p:nvPr/>
        </p:nvSpPr>
        <p:spPr>
          <a:xfrm>
            <a:off x="6083300" y="2709863"/>
            <a:ext cx="863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68" name="直接连接符 309267"/>
          <p:cNvSpPr/>
          <p:nvPr/>
        </p:nvSpPr>
        <p:spPr>
          <a:xfrm>
            <a:off x="6083300" y="2709863"/>
            <a:ext cx="0" cy="28733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69" name="直接连接符 309268"/>
          <p:cNvSpPr/>
          <p:nvPr/>
        </p:nvSpPr>
        <p:spPr>
          <a:xfrm>
            <a:off x="6946900" y="2709863"/>
            <a:ext cx="0" cy="28733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70" name="直接连接符 309269"/>
          <p:cNvSpPr/>
          <p:nvPr/>
        </p:nvSpPr>
        <p:spPr>
          <a:xfrm>
            <a:off x="6946900" y="2997200"/>
            <a:ext cx="863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71" name="直接连接符 309270"/>
          <p:cNvSpPr/>
          <p:nvPr/>
        </p:nvSpPr>
        <p:spPr>
          <a:xfrm>
            <a:off x="7812088" y="2709863"/>
            <a:ext cx="0" cy="28733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72" name="直接连接符 309271"/>
          <p:cNvSpPr/>
          <p:nvPr/>
        </p:nvSpPr>
        <p:spPr>
          <a:xfrm>
            <a:off x="7812088" y="2709863"/>
            <a:ext cx="28733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73" name="任意多边形 309272"/>
          <p:cNvSpPr/>
          <p:nvPr/>
        </p:nvSpPr>
        <p:spPr>
          <a:xfrm>
            <a:off x="4211638" y="3789363"/>
            <a:ext cx="288925" cy="287337"/>
          </a:xfrm>
          <a:custGeom>
            <a:avLst/>
            <a:gdLst/>
            <a:ahLst/>
            <a:cxnLst/>
            <a:pathLst>
              <a:path w="182" h="181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9274" name="任意多边形 309273"/>
          <p:cNvSpPr/>
          <p:nvPr/>
        </p:nvSpPr>
        <p:spPr>
          <a:xfrm>
            <a:off x="5940425" y="3789363"/>
            <a:ext cx="288925" cy="287337"/>
          </a:xfrm>
          <a:custGeom>
            <a:avLst/>
            <a:gdLst/>
            <a:ahLst/>
            <a:cxnLst/>
            <a:pathLst>
              <a:path w="182" h="181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9275" name="任意多边形 309274"/>
          <p:cNvSpPr/>
          <p:nvPr/>
        </p:nvSpPr>
        <p:spPr>
          <a:xfrm>
            <a:off x="7667625" y="3789363"/>
            <a:ext cx="288925" cy="287337"/>
          </a:xfrm>
          <a:custGeom>
            <a:avLst/>
            <a:gdLst/>
            <a:ahLst/>
            <a:cxnLst/>
            <a:pathLst>
              <a:path w="182" h="181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9276" name="直接连接符 309275"/>
          <p:cNvSpPr/>
          <p:nvPr/>
        </p:nvSpPr>
        <p:spPr>
          <a:xfrm>
            <a:off x="2339975" y="4221163"/>
            <a:ext cx="59039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9277" name="直接连接符 309276"/>
          <p:cNvSpPr/>
          <p:nvPr/>
        </p:nvSpPr>
        <p:spPr>
          <a:xfrm flipV="1">
            <a:off x="2339975" y="2565400"/>
            <a:ext cx="0" cy="16557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278" name="文本框 309277"/>
          <p:cNvSpPr txBox="1"/>
          <p:nvPr/>
        </p:nvSpPr>
        <p:spPr>
          <a:xfrm>
            <a:off x="684213" y="2714625"/>
            <a:ext cx="144780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>
                <a:latin typeface="Arial" panose="020B0604020202020204" pitchFamily="34" charset="0"/>
              </a:rPr>
              <a:t>Clock (cycles)</a:t>
            </a:r>
            <a:endParaRPr lang="en-AU" altLang="zh-CN" sz="1600">
              <a:latin typeface="Arial" panose="020B0604020202020204" pitchFamily="34" charset="0"/>
            </a:endParaRPr>
          </a:p>
        </p:txBody>
      </p:sp>
      <p:sp>
        <p:nvSpPr>
          <p:cNvPr id="309279" name="文本框 309278"/>
          <p:cNvSpPr txBox="1"/>
          <p:nvPr/>
        </p:nvSpPr>
        <p:spPr>
          <a:xfrm>
            <a:off x="684213" y="3146425"/>
            <a:ext cx="1685925" cy="5810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>
                <a:latin typeface="Arial" panose="020B0604020202020204" pitchFamily="34" charset="0"/>
              </a:rPr>
              <a:t>Data transfer</a:t>
            </a:r>
            <a:br>
              <a:rPr lang="en-US" altLang="zh-CN" sz="1600">
                <a:latin typeface="Arial" panose="020B0604020202020204" pitchFamily="34" charset="0"/>
              </a:rPr>
            </a:br>
            <a:r>
              <a:rPr lang="en-US" altLang="zh-CN" sz="1600">
                <a:latin typeface="Arial" panose="020B0604020202020204" pitchFamily="34" charset="0"/>
              </a:rPr>
              <a:t>and computation</a:t>
            </a:r>
            <a:endParaRPr lang="en-AU" altLang="zh-CN" sz="1600">
              <a:latin typeface="Arial" panose="020B0604020202020204" pitchFamily="34" charset="0"/>
            </a:endParaRPr>
          </a:p>
        </p:txBody>
      </p:sp>
      <p:sp>
        <p:nvSpPr>
          <p:cNvPr id="309280" name="文本框 309279"/>
          <p:cNvSpPr txBox="1"/>
          <p:nvPr/>
        </p:nvSpPr>
        <p:spPr>
          <a:xfrm>
            <a:off x="684213" y="3794125"/>
            <a:ext cx="133667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>
                <a:latin typeface="Arial" panose="020B0604020202020204" pitchFamily="34" charset="0"/>
              </a:rPr>
              <a:t>Update state</a:t>
            </a:r>
            <a:endParaRPr lang="en-AU" altLang="zh-CN" sz="1600">
              <a:latin typeface="Arial" panose="020B0604020202020204" pitchFamily="34" charset="0"/>
            </a:endParaRPr>
          </a:p>
        </p:txBody>
      </p:sp>
      <p:sp>
        <p:nvSpPr>
          <p:cNvPr id="309281" name="矩形 309280"/>
          <p:cNvSpPr/>
          <p:nvPr/>
        </p:nvSpPr>
        <p:spPr>
          <a:xfrm>
            <a:off x="2916238" y="2420938"/>
            <a:ext cx="1150937" cy="1444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9282" name="文本框 309281"/>
          <p:cNvSpPr txBox="1"/>
          <p:nvPr/>
        </p:nvSpPr>
        <p:spPr>
          <a:xfrm>
            <a:off x="2843213" y="2281238"/>
            <a:ext cx="131127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1600">
                <a:latin typeface="Arial" panose="020B0604020202020204" pitchFamily="34" charset="0"/>
              </a:rPr>
              <a:t>Clock period</a:t>
            </a:r>
            <a:endParaRPr lang="en-AU" altLang="zh-CN" sz="1600">
              <a:latin typeface="Arial" panose="020B0604020202020204" pitchFamily="34" charset="0"/>
            </a:endParaRPr>
          </a:p>
        </p:txBody>
      </p:sp>
      <p:sp>
        <p:nvSpPr>
          <p:cNvPr id="309283" name="矩形 309282"/>
          <p:cNvSpPr/>
          <p:nvPr/>
        </p:nvSpPr>
        <p:spPr>
          <a:xfrm>
            <a:off x="1182688" y="4437063"/>
            <a:ext cx="7772400" cy="19446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 sz="2800"/>
              <a:t>Clock period: duration of a clock cycle</a:t>
            </a:r>
            <a:endParaRPr lang="en-US" altLang="zh-CN" sz="2800"/>
          </a:p>
          <a:p>
            <a:pPr lvl="1"/>
            <a:r>
              <a:rPr lang="en-US" altLang="zh-CN" sz="2400"/>
              <a:t>e.g., 250ps = 0.25ns = 250</a:t>
            </a:r>
            <a:r>
              <a:rPr lang="en-US" altLang="zh-CN" sz="2400"/>
              <a:t>×10</a:t>
            </a:r>
            <a:r>
              <a:rPr lang="en-US" altLang="zh-CN" sz="2400" baseline="30000"/>
              <a:t>–12</a:t>
            </a:r>
            <a:r>
              <a:rPr lang="en-US" altLang="zh-CN" sz="2400"/>
              <a:t>s</a:t>
            </a:r>
            <a:endParaRPr lang="en-US" altLang="zh-CN" sz="2400"/>
          </a:p>
          <a:p>
            <a:pPr lvl="0"/>
            <a:r>
              <a:rPr lang="en-US" altLang="zh-CN" sz="2800"/>
              <a:t>Clock frequency (rate): cycles per second</a:t>
            </a:r>
            <a:endParaRPr lang="en-US" altLang="zh-CN" sz="2800"/>
          </a:p>
          <a:p>
            <a:pPr lvl="1"/>
            <a:r>
              <a:rPr lang="en-US" altLang="zh-CN" sz="2400"/>
              <a:t>e.g., 4.0GHz = 4000MHz = 4.0</a:t>
            </a:r>
            <a:r>
              <a:rPr lang="en-US" altLang="zh-CN" sz="2400"/>
              <a:t>×10</a:t>
            </a:r>
            <a:r>
              <a:rPr lang="en-US" altLang="zh-CN" sz="2400" baseline="30000"/>
              <a:t>9</a:t>
            </a:r>
            <a:r>
              <a:rPr lang="en-US" altLang="zh-CN" sz="2400"/>
              <a:t>Hz</a:t>
            </a:r>
            <a:endParaRPr lang="en-AU" altLang="zh-CN" sz="2400"/>
          </a:p>
        </p:txBody>
      </p:sp>
      <p:sp>
        <p:nvSpPr>
          <p:cNvPr id="309284" name="任意多边形 309283"/>
          <p:cNvSpPr/>
          <p:nvPr/>
        </p:nvSpPr>
        <p:spPr>
          <a:xfrm>
            <a:off x="4356100" y="3284538"/>
            <a:ext cx="1727200" cy="287337"/>
          </a:xfrm>
          <a:custGeom>
            <a:avLst/>
            <a:gdLst/>
            <a:ahLst/>
            <a:cxnLst/>
            <a:pathLst>
              <a:path w="1088" h="181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9285" name="任意多边形 309284"/>
          <p:cNvSpPr/>
          <p:nvPr/>
        </p:nvSpPr>
        <p:spPr>
          <a:xfrm>
            <a:off x="2627313" y="3284538"/>
            <a:ext cx="1727200" cy="287337"/>
          </a:xfrm>
          <a:custGeom>
            <a:avLst/>
            <a:gdLst/>
            <a:ahLst/>
            <a:cxnLst/>
            <a:pathLst>
              <a:path w="1088" h="181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9286" name="任意多边形 309285"/>
          <p:cNvSpPr/>
          <p:nvPr/>
        </p:nvSpPr>
        <p:spPr>
          <a:xfrm>
            <a:off x="6083300" y="3284538"/>
            <a:ext cx="1727200" cy="287337"/>
          </a:xfrm>
          <a:custGeom>
            <a:avLst/>
            <a:gdLst/>
            <a:ahLst/>
            <a:cxnLst/>
            <a:pathLst>
              <a:path w="1088" h="181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11298" name="标题 31129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CPU Time</a:t>
            </a:r>
            <a:endParaRPr lang="en-AU" altLang="zh-CN"/>
          </a:p>
        </p:txBody>
      </p:sp>
      <p:sp>
        <p:nvSpPr>
          <p:cNvPr id="311299" name="文本占位符 311298"/>
          <p:cNvSpPr>
            <a:spLocks noGrp="1"/>
          </p:cNvSpPr>
          <p:nvPr>
            <p:ph type="body" idx="1"/>
          </p:nvPr>
        </p:nvSpPr>
        <p:spPr>
          <a:xfrm>
            <a:off x="684213" y="2968625"/>
            <a:ext cx="8270875" cy="3268663"/>
          </a:xfrm>
        </p:spPr>
        <p:txBody>
          <a:bodyPr/>
          <a:p>
            <a:r>
              <a:rPr lang="en-US" altLang="zh-CN"/>
              <a:t>Performance improved by</a:t>
            </a:r>
            <a:endParaRPr lang="en-US" altLang="zh-CN"/>
          </a:p>
          <a:p>
            <a:pPr lvl="1"/>
            <a:r>
              <a:rPr lang="en-US" altLang="zh-CN"/>
              <a:t>Reducing number of clock cycles</a:t>
            </a:r>
            <a:endParaRPr lang="en-US" altLang="zh-CN"/>
          </a:p>
          <a:p>
            <a:pPr lvl="1"/>
            <a:r>
              <a:rPr lang="en-US" altLang="zh-CN"/>
              <a:t>Increasing clock rate</a:t>
            </a:r>
            <a:endParaRPr lang="en-US" altLang="zh-CN"/>
          </a:p>
          <a:p>
            <a:pPr lvl="1"/>
            <a:r>
              <a:rPr lang="en-US" altLang="zh-CN"/>
              <a:t>Hardware designer must often trade off clock rate against cycle count</a:t>
            </a:r>
            <a:endParaRPr lang="en-AU" altLang="zh-CN"/>
          </a:p>
        </p:txBody>
      </p:sp>
      <p:graphicFrame>
        <p:nvGraphicFramePr>
          <p:cNvPr id="311300" name="对象 311299"/>
          <p:cNvGraphicFramePr/>
          <p:nvPr/>
        </p:nvGraphicFramePr>
        <p:xfrm>
          <a:off x="1036638" y="1428750"/>
          <a:ext cx="7459662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3389630" imgH="660400" progId="Equation.3">
                  <p:embed/>
                </p:oleObj>
              </mc:Choice>
              <mc:Fallback>
                <p:oleObj name="" r:id="rId1" imgW="3389630" imgH="6604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36638" y="1428750"/>
                        <a:ext cx="7459662" cy="1452563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13346" name="标题 31334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CPU Time Example</a:t>
            </a:r>
            <a:endParaRPr lang="en-AU" altLang="zh-CN"/>
          </a:p>
        </p:txBody>
      </p:sp>
      <p:sp>
        <p:nvSpPr>
          <p:cNvPr id="313347" name="文本占位符 313346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2917825"/>
          </a:xfrm>
        </p:spPr>
        <p:txBody>
          <a:bodyPr/>
          <a:p>
            <a:r>
              <a:rPr lang="en-US" altLang="zh-CN" sz="2400"/>
              <a:t>Computer A: 2GHz clock, 10s CPU time</a:t>
            </a:r>
            <a:endParaRPr lang="en-US" altLang="zh-CN" sz="2400"/>
          </a:p>
          <a:p>
            <a:r>
              <a:rPr lang="en-US" altLang="zh-CN" sz="2400"/>
              <a:t>Designing Computer B</a:t>
            </a:r>
            <a:endParaRPr lang="en-US" altLang="zh-CN" sz="2400"/>
          </a:p>
          <a:p>
            <a:pPr lvl="1"/>
            <a:r>
              <a:rPr lang="en-US" altLang="zh-CN" sz="2000"/>
              <a:t>Aim for 6s CPU time</a:t>
            </a:r>
            <a:endParaRPr lang="en-US" altLang="zh-CN" sz="2000"/>
          </a:p>
          <a:p>
            <a:pPr lvl="1"/>
            <a:r>
              <a:rPr lang="en-US" altLang="zh-CN" sz="2000"/>
              <a:t>Can do faster clock, but causes 1.2 × clock cycles</a:t>
            </a:r>
            <a:endParaRPr lang="en-US" altLang="zh-CN" sz="2000"/>
          </a:p>
          <a:p>
            <a:r>
              <a:rPr lang="en-US" altLang="zh-CN" sz="2400"/>
              <a:t>How fast must Computer B clock be?</a:t>
            </a:r>
            <a:endParaRPr lang="en-US" altLang="zh-CN" sz="2400"/>
          </a:p>
        </p:txBody>
      </p:sp>
      <p:graphicFrame>
        <p:nvGraphicFramePr>
          <p:cNvPr id="313348" name="对象 313347"/>
          <p:cNvGraphicFramePr/>
          <p:nvPr/>
        </p:nvGraphicFramePr>
        <p:xfrm>
          <a:off x="892175" y="3284538"/>
          <a:ext cx="7135813" cy="294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3568700" imgH="1473200" progId="Equation.3">
                  <p:embed/>
                </p:oleObj>
              </mc:Choice>
              <mc:Fallback>
                <p:oleObj name="" r:id="rId1" imgW="3568700" imgH="14732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92175" y="3284538"/>
                        <a:ext cx="7135813" cy="29464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15394" name="标题 315393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Instruction Count and CPI</a:t>
            </a:r>
            <a:endParaRPr lang="en-AU" altLang="zh-CN"/>
          </a:p>
        </p:txBody>
      </p:sp>
      <p:sp>
        <p:nvSpPr>
          <p:cNvPr id="315395" name="文本占位符 315394"/>
          <p:cNvSpPr>
            <a:spLocks noGrp="1"/>
          </p:cNvSpPr>
          <p:nvPr>
            <p:ph type="body" idx="1"/>
          </p:nvPr>
        </p:nvSpPr>
        <p:spPr>
          <a:xfrm>
            <a:off x="1182688" y="3462338"/>
            <a:ext cx="7772400" cy="2774950"/>
          </a:xfrm>
        </p:spPr>
        <p:txBody>
          <a:bodyPr/>
          <a:p>
            <a:r>
              <a:rPr lang="en-US" altLang="zh-CN" sz="2800"/>
              <a:t>Instruction Count for a program</a:t>
            </a:r>
            <a:endParaRPr lang="en-US" altLang="zh-CN" sz="2800"/>
          </a:p>
          <a:p>
            <a:pPr lvl="1"/>
            <a:r>
              <a:rPr lang="en-US" altLang="zh-CN" sz="2400"/>
              <a:t>Determined by program, ISA and compiler</a:t>
            </a:r>
            <a:endParaRPr lang="en-US" altLang="zh-CN" sz="2400"/>
          </a:p>
          <a:p>
            <a:r>
              <a:rPr lang="en-US" altLang="zh-CN" sz="2800"/>
              <a:t>Average cycles per instruction</a:t>
            </a:r>
            <a:endParaRPr lang="en-US" altLang="zh-CN" sz="2800"/>
          </a:p>
          <a:p>
            <a:pPr lvl="1"/>
            <a:r>
              <a:rPr lang="en-US" altLang="zh-CN" sz="2400"/>
              <a:t>Determined by CPU hardware</a:t>
            </a:r>
            <a:endParaRPr lang="en-US" altLang="zh-CN" sz="2400"/>
          </a:p>
          <a:p>
            <a:pPr lvl="1"/>
            <a:r>
              <a:rPr lang="en-US" altLang="zh-CN" sz="2400"/>
              <a:t>If different instructions have different CPI</a:t>
            </a:r>
            <a:endParaRPr lang="en-US" altLang="zh-CN" sz="2400"/>
          </a:p>
          <a:p>
            <a:pPr lvl="2"/>
            <a:r>
              <a:rPr lang="en-US" altLang="zh-CN" sz="2000"/>
              <a:t>Average CPI affected by instruction mix</a:t>
            </a:r>
            <a:endParaRPr lang="en-AU" altLang="zh-CN" sz="2000"/>
          </a:p>
        </p:txBody>
      </p:sp>
      <p:graphicFrame>
        <p:nvGraphicFramePr>
          <p:cNvPr id="315396" name="对象 315395"/>
          <p:cNvGraphicFramePr/>
          <p:nvPr/>
        </p:nvGraphicFramePr>
        <p:xfrm>
          <a:off x="706438" y="1319213"/>
          <a:ext cx="8129587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3695700" imgH="939800" progId="Equation.3">
                  <p:embed/>
                </p:oleObj>
              </mc:Choice>
              <mc:Fallback>
                <p:oleObj name="" r:id="rId1" imgW="3695700" imgH="9398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6438" y="1319213"/>
                        <a:ext cx="8129587" cy="206375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17442" name="标题 31744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CPI Example</a:t>
            </a:r>
            <a:endParaRPr lang="en-AU" altLang="zh-CN"/>
          </a:p>
        </p:txBody>
      </p:sp>
      <p:sp>
        <p:nvSpPr>
          <p:cNvPr id="317443" name="文本占位符 317442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2016125"/>
          </a:xfrm>
        </p:spPr>
        <p:txBody>
          <a:bodyPr/>
          <a:p>
            <a:pPr>
              <a:lnSpc>
                <a:spcPct val="90000"/>
              </a:lnSpc>
            </a:pPr>
            <a:r>
              <a:rPr lang="en-US" altLang="zh-CN" sz="2800"/>
              <a:t>Computer A: Cycle Time = 250ps, CPI = 2.0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Computer B: Cycle Time = 500ps, CPI = 1.2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Same ISA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en-US" altLang="zh-CN" sz="2800"/>
              <a:t>Which is faster, and by how much?</a:t>
            </a:r>
            <a:endParaRPr lang="en-AU" altLang="zh-CN" sz="2800"/>
          </a:p>
        </p:txBody>
      </p:sp>
      <p:graphicFrame>
        <p:nvGraphicFramePr>
          <p:cNvPr id="317444" name="对象 317443"/>
          <p:cNvGraphicFramePr/>
          <p:nvPr/>
        </p:nvGraphicFramePr>
        <p:xfrm>
          <a:off x="1066800" y="3141663"/>
          <a:ext cx="7034213" cy="299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3517900" imgH="1498600" progId="Equation.3">
                  <p:embed/>
                </p:oleObj>
              </mc:Choice>
              <mc:Fallback>
                <p:oleObj name="" r:id="rId1" imgW="3517900" imgH="14986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6800" y="3141663"/>
                        <a:ext cx="7034213" cy="29972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5" name="线形标注 1 317444"/>
          <p:cNvSpPr/>
          <p:nvPr/>
        </p:nvSpPr>
        <p:spPr>
          <a:xfrm>
            <a:off x="7164388" y="3717925"/>
            <a:ext cx="1722437" cy="360363"/>
          </a:xfrm>
          <a:prstGeom prst="borderCallout1">
            <a:avLst>
              <a:gd name="adj1" fmla="val 31718"/>
              <a:gd name="adj2" fmla="val -4426"/>
              <a:gd name="adj3" fmla="val 48019"/>
              <a:gd name="adj4" fmla="val -5557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>
                <a:latin typeface="Arial" panose="020B0604020202020204" pitchFamily="34" charset="0"/>
              </a:rPr>
              <a:t>A is faster…</a:t>
            </a:r>
            <a:endParaRPr lang="en-AU" altLang="zh-CN">
              <a:latin typeface="Arial" panose="020B0604020202020204" pitchFamily="34" charset="0"/>
            </a:endParaRPr>
          </a:p>
        </p:txBody>
      </p:sp>
      <p:sp>
        <p:nvSpPr>
          <p:cNvPr id="317446" name="线形标注 1 317445"/>
          <p:cNvSpPr/>
          <p:nvPr/>
        </p:nvSpPr>
        <p:spPr>
          <a:xfrm>
            <a:off x="7164388" y="5518150"/>
            <a:ext cx="1722437" cy="360363"/>
          </a:xfrm>
          <a:prstGeom prst="borderCallout1">
            <a:avLst>
              <a:gd name="adj1" fmla="val 31718"/>
              <a:gd name="adj2" fmla="val -4426"/>
              <a:gd name="adj3" fmla="val 22468"/>
              <a:gd name="adj4" fmla="val -12940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>
                <a:latin typeface="Arial" panose="020B0604020202020204" pitchFamily="34" charset="0"/>
              </a:rPr>
              <a:t>…by this much</a:t>
            </a:r>
            <a:endParaRPr lang="en-AU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19490" name="标题 31948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CPI in More Detail</a:t>
            </a:r>
            <a:endParaRPr lang="en-AU" altLang="zh-CN"/>
          </a:p>
        </p:txBody>
      </p:sp>
      <p:sp>
        <p:nvSpPr>
          <p:cNvPr id="319491" name="文本占位符 319490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1228725"/>
          </a:xfrm>
        </p:spPr>
        <p:txBody>
          <a:bodyPr/>
          <a:p>
            <a:r>
              <a:rPr lang="en-US" altLang="zh-CN"/>
              <a:t>If different instruction classes take different numbers of cycles</a:t>
            </a:r>
            <a:endParaRPr lang="en-AU" altLang="zh-CN"/>
          </a:p>
        </p:txBody>
      </p:sp>
      <p:graphicFrame>
        <p:nvGraphicFramePr>
          <p:cNvPr id="319492" name="对象 319491"/>
          <p:cNvGraphicFramePr/>
          <p:nvPr/>
        </p:nvGraphicFramePr>
        <p:xfrm>
          <a:off x="1436688" y="2420938"/>
          <a:ext cx="642778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2919730" imgH="431800" progId="Equation.3">
                  <p:embed/>
                </p:oleObj>
              </mc:Choice>
              <mc:Fallback>
                <p:oleObj name="" r:id="rId1" imgW="2919730" imgH="4318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36688" y="2420938"/>
                        <a:ext cx="6427787" cy="949325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3" name="矩形 319492"/>
          <p:cNvSpPr/>
          <p:nvPr/>
        </p:nvSpPr>
        <p:spPr>
          <a:xfrm>
            <a:off x="1182688" y="3573463"/>
            <a:ext cx="7772400" cy="647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Weighted average CPI</a:t>
            </a:r>
            <a:endParaRPr lang="en-AU" altLang="zh-CN"/>
          </a:p>
        </p:txBody>
      </p:sp>
      <p:graphicFrame>
        <p:nvGraphicFramePr>
          <p:cNvPr id="319494" name="对象 319493"/>
          <p:cNvGraphicFramePr/>
          <p:nvPr/>
        </p:nvGraphicFramePr>
        <p:xfrm>
          <a:off x="588963" y="4292600"/>
          <a:ext cx="81057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3681095" imgH="431800" progId="Equation.3">
                  <p:embed/>
                </p:oleObj>
              </mc:Choice>
              <mc:Fallback>
                <p:oleObj name="" r:id="rId3" imgW="3681095" imgH="4318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963" y="4292600"/>
                        <a:ext cx="8105775" cy="949325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5" name="右大括号 319494"/>
          <p:cNvSpPr/>
          <p:nvPr/>
        </p:nvSpPr>
        <p:spPr>
          <a:xfrm rot="5400000">
            <a:off x="6946900" y="4292600"/>
            <a:ext cx="215900" cy="2376488"/>
          </a:xfrm>
          <a:prstGeom prst="rightBrace">
            <a:avLst>
              <a:gd name="adj1" fmla="val 9172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9496" name="文本框 319495"/>
          <p:cNvSpPr txBox="1"/>
          <p:nvPr/>
        </p:nvSpPr>
        <p:spPr>
          <a:xfrm>
            <a:off x="5994400" y="5649913"/>
            <a:ext cx="2085975" cy="3762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>
                <a:latin typeface="Arial" panose="020B0604020202020204" pitchFamily="34" charset="0"/>
              </a:rPr>
              <a:t>Relative frequency</a:t>
            </a:r>
            <a:endParaRPr lang="en-AU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21538" name="标题 32153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CPI Example</a:t>
            </a:r>
            <a:endParaRPr lang="en-AU" altLang="zh-CN"/>
          </a:p>
        </p:txBody>
      </p:sp>
      <p:sp>
        <p:nvSpPr>
          <p:cNvPr id="321539" name="文本占位符 321538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996950"/>
          </a:xfrm>
        </p:spPr>
        <p:txBody>
          <a:bodyPr/>
          <a:p>
            <a:pPr>
              <a:lnSpc>
                <a:spcPct val="90000"/>
              </a:lnSpc>
            </a:pPr>
            <a:r>
              <a:rPr lang="en-US" altLang="zh-CN" sz="2800"/>
              <a:t>Alternative compiled code sequences using instructions in classes A, B, C</a:t>
            </a:r>
            <a:endParaRPr lang="en-AU" altLang="zh-CN" sz="2800"/>
          </a:p>
        </p:txBody>
      </p:sp>
      <p:graphicFrame>
        <p:nvGraphicFramePr>
          <p:cNvPr id="321576" name="表格 321575"/>
          <p:cNvGraphicFramePr/>
          <p:nvPr/>
        </p:nvGraphicFramePr>
        <p:xfrm>
          <a:off x="1619250" y="2276475"/>
          <a:ext cx="6600825" cy="1589088"/>
        </p:xfrm>
        <a:graphic>
          <a:graphicData uri="http://schemas.openxmlformats.org/drawingml/2006/table">
            <a:tbl>
              <a:tblPr/>
              <a:tblGrid>
                <a:gridCol w="2520950"/>
                <a:gridCol w="1368425"/>
                <a:gridCol w="1368425"/>
                <a:gridCol w="1343025"/>
              </a:tblGrid>
              <a:tr h="395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Class</a:t>
                      </a:r>
                      <a:endParaRPr lang="en-AU" altLang="zh-CN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A</a:t>
                      </a:r>
                      <a:endParaRPr lang="en-AU" altLang="zh-CN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B</a:t>
                      </a:r>
                      <a:endParaRPr lang="en-AU" altLang="zh-CN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C</a:t>
                      </a:r>
                      <a:endParaRPr lang="en-AU" altLang="zh-CN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CPI for class</a:t>
                      </a:r>
                      <a:endParaRPr lang="en-AU" altLang="zh-CN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</a:t>
                      </a:r>
                      <a:endParaRPr lang="en-AU" altLang="zh-CN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2</a:t>
                      </a:r>
                      <a:endParaRPr lang="en-AU" altLang="zh-CN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3</a:t>
                      </a:r>
                      <a:endParaRPr lang="en-AU" altLang="zh-CN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IC in sequence 1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2</a:t>
                      </a:r>
                      <a:endParaRPr lang="en-AU" altLang="zh-CN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</a:t>
                      </a:r>
                      <a:endParaRPr lang="en-AU" altLang="zh-CN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2</a:t>
                      </a:r>
                      <a:endParaRPr lang="en-AU" altLang="zh-CN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32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/>
                        <a:t>IC in sequence 2</a:t>
                      </a:r>
                      <a:endParaRPr lang="en-AU" altLang="zh-CN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4</a:t>
                      </a:r>
                      <a:endParaRPr lang="en-AU" altLang="zh-CN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</a:t>
                      </a:r>
                      <a:endParaRPr lang="en-AU" altLang="zh-CN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</a:t>
                      </a:r>
                      <a:endParaRPr lang="en-AU" altLang="zh-CN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1567" name="矩形 321566"/>
          <p:cNvSpPr/>
          <p:nvPr/>
        </p:nvSpPr>
        <p:spPr>
          <a:xfrm>
            <a:off x="539750" y="4076700"/>
            <a:ext cx="3887788" cy="20891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 sz="2800"/>
              <a:t>Sequence 1: IC = 5</a:t>
            </a:r>
            <a:endParaRPr lang="en-US" altLang="zh-CN" sz="2800"/>
          </a:p>
          <a:p>
            <a:pPr lvl="1"/>
            <a:r>
              <a:rPr lang="en-US" altLang="zh-CN" sz="2400"/>
              <a:t>Clock Cycles</a:t>
            </a:r>
            <a:br>
              <a:rPr lang="en-US" altLang="zh-CN" sz="2400"/>
            </a:br>
            <a:r>
              <a:rPr lang="en-US" altLang="zh-CN" sz="2400"/>
              <a:t>= 2</a:t>
            </a:r>
            <a:r>
              <a:rPr lang="en-US" altLang="zh-CN" sz="2400"/>
              <a:t>×1 + 1×2 + 2×3</a:t>
            </a:r>
            <a:br>
              <a:rPr lang="en-US" altLang="zh-CN" sz="2400"/>
            </a:br>
            <a:r>
              <a:rPr lang="en-US" altLang="zh-CN" sz="2400"/>
              <a:t>= 10</a:t>
            </a:r>
            <a:endParaRPr lang="en-US" altLang="zh-CN" sz="2400"/>
          </a:p>
          <a:p>
            <a:pPr lvl="1"/>
            <a:r>
              <a:rPr lang="en-US" altLang="zh-CN" sz="2400"/>
              <a:t>Avg. CPI = 10/5 = 2.0</a:t>
            </a:r>
            <a:endParaRPr lang="en-US" altLang="zh-CN" sz="2400"/>
          </a:p>
        </p:txBody>
      </p:sp>
      <p:sp>
        <p:nvSpPr>
          <p:cNvPr id="321568" name="矩形 321567"/>
          <p:cNvSpPr/>
          <p:nvPr/>
        </p:nvSpPr>
        <p:spPr>
          <a:xfrm>
            <a:off x="4787900" y="4076700"/>
            <a:ext cx="3887788" cy="20891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 sz="2800"/>
              <a:t>Sequence 2: IC = 6</a:t>
            </a:r>
            <a:endParaRPr lang="en-US" altLang="zh-CN" sz="2800"/>
          </a:p>
          <a:p>
            <a:pPr lvl="1"/>
            <a:r>
              <a:rPr lang="en-US" altLang="zh-CN" sz="2400"/>
              <a:t>Clock Cycles</a:t>
            </a:r>
            <a:br>
              <a:rPr lang="en-US" altLang="zh-CN" sz="2400"/>
            </a:br>
            <a:r>
              <a:rPr lang="en-US" altLang="zh-CN" sz="2400"/>
              <a:t>= 4</a:t>
            </a:r>
            <a:r>
              <a:rPr lang="en-US" altLang="zh-CN" sz="2400"/>
              <a:t>×1 + 1×2 + 1×3</a:t>
            </a:r>
            <a:br>
              <a:rPr lang="en-US" altLang="zh-CN" sz="2400"/>
            </a:br>
            <a:r>
              <a:rPr lang="en-US" altLang="zh-CN" sz="2400"/>
              <a:t>= 9</a:t>
            </a:r>
            <a:endParaRPr lang="en-US" altLang="zh-CN" sz="2400"/>
          </a:p>
          <a:p>
            <a:pPr lvl="1"/>
            <a:r>
              <a:rPr lang="en-US" altLang="zh-CN" sz="2400"/>
              <a:t>Avg. CPI = 9/6 = 1.5</a:t>
            </a:r>
            <a:endParaRPr lang="en-US" altLang="zh-CN" sz="2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25634" name="标题 325633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AU" altLang="zh-CN"/>
              <a:t>Performance Summary</a:t>
            </a:r>
            <a:endParaRPr lang="en-AU" altLang="zh-CN"/>
          </a:p>
        </p:txBody>
      </p:sp>
      <p:sp>
        <p:nvSpPr>
          <p:cNvPr id="325635" name="文本占位符 325634"/>
          <p:cNvSpPr>
            <a:spLocks noGrp="1"/>
          </p:cNvSpPr>
          <p:nvPr>
            <p:ph type="body" idx="1"/>
          </p:nvPr>
        </p:nvSpPr>
        <p:spPr>
          <a:xfrm>
            <a:off x="684213" y="3284538"/>
            <a:ext cx="8270875" cy="2952750"/>
          </a:xfrm>
        </p:spPr>
        <p:txBody>
          <a:bodyPr/>
          <a:p>
            <a:r>
              <a:rPr lang="en-AU" altLang="zh-CN"/>
              <a:t>Performance depends on</a:t>
            </a:r>
            <a:endParaRPr lang="en-AU" altLang="zh-CN"/>
          </a:p>
          <a:p>
            <a:pPr lvl="1"/>
            <a:r>
              <a:rPr lang="en-AU" altLang="zh-CN"/>
              <a:t>Algorithm: affects IC, possibly CPI</a:t>
            </a:r>
            <a:endParaRPr lang="en-AU" altLang="zh-CN"/>
          </a:p>
          <a:p>
            <a:pPr lvl="1"/>
            <a:r>
              <a:rPr lang="en-AU" altLang="zh-CN"/>
              <a:t>Programming language: affects IC, CPI</a:t>
            </a:r>
            <a:endParaRPr lang="en-AU" altLang="zh-CN"/>
          </a:p>
          <a:p>
            <a:pPr lvl="1"/>
            <a:r>
              <a:rPr lang="en-AU" altLang="zh-CN"/>
              <a:t>Compiler: affects IC, CPI</a:t>
            </a:r>
            <a:endParaRPr lang="en-AU" altLang="zh-CN"/>
          </a:p>
          <a:p>
            <a:pPr lvl="1"/>
            <a:r>
              <a:rPr lang="en-AU" altLang="zh-CN"/>
              <a:t>Instruction set architecture: affects IC, CPI, T</a:t>
            </a:r>
            <a:r>
              <a:rPr lang="en-AU" altLang="zh-CN" baseline="-25000"/>
              <a:t>c</a:t>
            </a:r>
            <a:endParaRPr lang="en-AU" altLang="zh-CN" baseline="-25000"/>
          </a:p>
        </p:txBody>
      </p:sp>
      <p:sp>
        <p:nvSpPr>
          <p:cNvPr id="325636" name="文本框 325635"/>
          <p:cNvSpPr txBox="1"/>
          <p:nvPr/>
        </p:nvSpPr>
        <p:spPr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b="1">
                <a:solidFill>
                  <a:schemeClr val="folHlink"/>
                </a:solidFill>
                <a:latin typeface="Arial Black" panose="020B0A04020102020204" pitchFamily="34" charset="0"/>
              </a:rPr>
              <a:t>The BIG Picture</a:t>
            </a:r>
            <a:endParaRPr lang="en-US" altLang="zh-CN" sz="2400" b="1">
              <a:solidFill>
                <a:schemeClr val="folHlink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325637" name="对象 325636"/>
          <p:cNvGraphicFramePr/>
          <p:nvPr/>
        </p:nvGraphicFramePr>
        <p:xfrm>
          <a:off x="827088" y="2060575"/>
          <a:ext cx="78486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3568700" imgH="419100" progId="Equation.3">
                  <p:embed/>
                </p:oleObj>
              </mc:Choice>
              <mc:Fallback>
                <p:oleObj name="" r:id="rId1" imgW="3568700" imgH="4191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2060575"/>
                        <a:ext cx="7848600" cy="92075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60098" name="标题 26009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Power Trends</a:t>
            </a:r>
            <a:endParaRPr lang="en-US" altLang="zh-CN"/>
          </a:p>
        </p:txBody>
      </p:sp>
      <p:sp>
        <p:nvSpPr>
          <p:cNvPr id="260099" name="文本占位符 260098"/>
          <p:cNvSpPr>
            <a:spLocks noGrp="1"/>
          </p:cNvSpPr>
          <p:nvPr>
            <p:ph type="body" idx="1"/>
          </p:nvPr>
        </p:nvSpPr>
        <p:spPr>
          <a:xfrm>
            <a:off x="684213" y="4149725"/>
            <a:ext cx="8270875" cy="647700"/>
          </a:xfrm>
        </p:spPr>
        <p:txBody>
          <a:bodyPr/>
          <a:p>
            <a:r>
              <a:rPr lang="en-US" altLang="zh-CN"/>
              <a:t>In CMOS IC technology</a:t>
            </a:r>
            <a:endParaRPr lang="en-US" altLang="zh-CN"/>
          </a:p>
        </p:txBody>
      </p:sp>
      <p:sp>
        <p:nvSpPr>
          <p:cNvPr id="260100" name="文本框 260099"/>
          <p:cNvSpPr txBox="1"/>
          <p:nvPr/>
        </p:nvSpPr>
        <p:spPr>
          <a:xfrm rot="5400000">
            <a:off x="7807325" y="968375"/>
            <a:ext cx="2290445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1.7 The Power Wall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60102" name="对象 260101"/>
          <p:cNvGraphicFramePr/>
          <p:nvPr/>
        </p:nvGraphicFramePr>
        <p:xfrm>
          <a:off x="1331913" y="4941888"/>
          <a:ext cx="70818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3213100" imgH="228600" progId="Equation.3">
                  <p:embed/>
                </p:oleObj>
              </mc:Choice>
              <mc:Fallback>
                <p:oleObj name="" r:id="rId1" imgW="3213100" imgH="2286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31913" y="4941888"/>
                        <a:ext cx="7081837" cy="50323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3" name="线形标注 1 260102"/>
          <p:cNvSpPr/>
          <p:nvPr/>
        </p:nvSpPr>
        <p:spPr>
          <a:xfrm>
            <a:off x="7740650" y="5805488"/>
            <a:ext cx="1003300" cy="403225"/>
          </a:xfrm>
          <a:prstGeom prst="borderCallout1">
            <a:avLst>
              <a:gd name="adj1" fmla="val 28347"/>
              <a:gd name="adj2" fmla="val -7597"/>
              <a:gd name="adj3" fmla="val -83463"/>
              <a:gd name="adj4" fmla="val -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>
                <a:latin typeface="Arial" panose="020B0604020202020204" pitchFamily="34" charset="0"/>
              </a:rPr>
              <a:t>×</a:t>
            </a:r>
            <a:r>
              <a:rPr lang="en-AU" altLang="zh-CN">
                <a:latin typeface="Arial" panose="020B0604020202020204" pitchFamily="34" charset="0"/>
              </a:rPr>
              <a:t>1000</a:t>
            </a:r>
            <a:endParaRPr lang="en-AU" altLang="zh-CN">
              <a:latin typeface="Arial" panose="020B0604020202020204" pitchFamily="34" charset="0"/>
            </a:endParaRPr>
          </a:p>
        </p:txBody>
      </p:sp>
      <p:sp>
        <p:nvSpPr>
          <p:cNvPr id="260104" name="线形标注 1 260103"/>
          <p:cNvSpPr/>
          <p:nvPr/>
        </p:nvSpPr>
        <p:spPr>
          <a:xfrm>
            <a:off x="2051050" y="5805488"/>
            <a:ext cx="1003300" cy="403225"/>
          </a:xfrm>
          <a:prstGeom prst="borderCallout1">
            <a:avLst>
              <a:gd name="adj1" fmla="val 28347"/>
              <a:gd name="adj2" fmla="val -7597"/>
              <a:gd name="adj3" fmla="val -84250"/>
              <a:gd name="adj4" fmla="val -2927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>
                <a:latin typeface="Arial" panose="020B0604020202020204" pitchFamily="34" charset="0"/>
              </a:rPr>
              <a:t>×</a:t>
            </a:r>
            <a:r>
              <a:rPr lang="en-AU" altLang="zh-CN">
                <a:latin typeface="Arial" panose="020B0604020202020204" pitchFamily="34" charset="0"/>
              </a:rPr>
              <a:t>30</a:t>
            </a:r>
            <a:endParaRPr lang="en-AU" altLang="zh-CN">
              <a:latin typeface="Arial" panose="020B0604020202020204" pitchFamily="34" charset="0"/>
            </a:endParaRPr>
          </a:p>
        </p:txBody>
      </p:sp>
      <p:sp>
        <p:nvSpPr>
          <p:cNvPr id="260105" name="线形标注 1 260104"/>
          <p:cNvSpPr/>
          <p:nvPr/>
        </p:nvSpPr>
        <p:spPr>
          <a:xfrm>
            <a:off x="5867400" y="5805488"/>
            <a:ext cx="1223963" cy="403225"/>
          </a:xfrm>
          <a:prstGeom prst="borderCallout1">
            <a:avLst>
              <a:gd name="adj1" fmla="val 28347"/>
              <a:gd name="adj2" fmla="val -6227"/>
              <a:gd name="adj3" fmla="val -81495"/>
              <a:gd name="adj4" fmla="val -2775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US" altLang="zh-CN">
                <a:latin typeface="Arial" panose="020B0604020202020204" pitchFamily="34" charset="0"/>
              </a:rPr>
              <a:t>5V → 1V</a:t>
            </a:r>
            <a:endParaRPr lang="en-AU" altLang="zh-CN"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730" y="1196975"/>
            <a:ext cx="5591175" cy="29051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27682" name="标题 32768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AU" altLang="zh-CN"/>
              <a:t>Reducing Power</a:t>
            </a:r>
            <a:endParaRPr lang="en-AU" altLang="zh-CN"/>
          </a:p>
        </p:txBody>
      </p:sp>
      <p:sp>
        <p:nvSpPr>
          <p:cNvPr id="327683" name="文本占位符 327682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1727200"/>
          </a:xfrm>
        </p:spPr>
        <p:txBody>
          <a:bodyPr/>
          <a:p>
            <a:r>
              <a:rPr lang="en-AU" altLang="zh-CN"/>
              <a:t>Suppose a new CPU has</a:t>
            </a:r>
            <a:endParaRPr lang="en-AU" altLang="zh-CN"/>
          </a:p>
          <a:p>
            <a:pPr lvl="1"/>
            <a:r>
              <a:rPr lang="en-AU" altLang="zh-CN"/>
              <a:t>85% of capacitive load of old CPU</a:t>
            </a:r>
            <a:endParaRPr lang="en-AU" altLang="zh-CN"/>
          </a:p>
          <a:p>
            <a:pPr lvl="1"/>
            <a:r>
              <a:rPr lang="en-AU" altLang="zh-CN"/>
              <a:t>15% voltage and 15% frequency reduction</a:t>
            </a:r>
            <a:endParaRPr lang="en-AU" altLang="zh-CN"/>
          </a:p>
        </p:txBody>
      </p:sp>
      <p:graphicFrame>
        <p:nvGraphicFramePr>
          <p:cNvPr id="327684" name="对象 327683"/>
          <p:cNvGraphicFramePr/>
          <p:nvPr/>
        </p:nvGraphicFramePr>
        <p:xfrm>
          <a:off x="1187450" y="2924175"/>
          <a:ext cx="756126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3784600" imgH="469900" progId="Equation.3">
                  <p:embed/>
                </p:oleObj>
              </mc:Choice>
              <mc:Fallback>
                <p:oleObj name="" r:id="rId1" imgW="3784600" imgH="4699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7450" y="2924175"/>
                        <a:ext cx="7561263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5" name="矩形 327684"/>
          <p:cNvSpPr/>
          <p:nvPr/>
        </p:nvSpPr>
        <p:spPr>
          <a:xfrm>
            <a:off x="684213" y="3933825"/>
            <a:ext cx="8270875" cy="21605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AU" altLang="zh-CN"/>
              <a:t>The power wall</a:t>
            </a:r>
            <a:endParaRPr lang="en-AU" altLang="zh-CN"/>
          </a:p>
          <a:p>
            <a:pPr lvl="1"/>
            <a:r>
              <a:rPr lang="en-AU" altLang="zh-CN"/>
              <a:t>We can’t reduce voltage further</a:t>
            </a:r>
            <a:r>
              <a:rPr lang="en-US" altLang="en-AU"/>
              <a:t>: leakage</a:t>
            </a:r>
            <a:endParaRPr lang="en-US" altLang="en-AU"/>
          </a:p>
          <a:p>
            <a:pPr lvl="1"/>
            <a:r>
              <a:rPr lang="en-AU" altLang="zh-CN"/>
              <a:t>We can’t remove more heat</a:t>
            </a:r>
            <a:endParaRPr lang="en-AU" altLang="zh-CN"/>
          </a:p>
          <a:p>
            <a:pPr lvl="0"/>
            <a:r>
              <a:rPr lang="en-AU" altLang="zh-CN"/>
              <a:t>How else can we improve performance?</a:t>
            </a:r>
            <a:endParaRPr lang="en-AU" altLang="zh-C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0" y="1142365"/>
            <a:ext cx="7708265" cy="4140200"/>
          </a:xfrm>
          <a:prstGeom prst="rect">
            <a:avLst/>
          </a:prstGeom>
        </p:spPr>
      </p:pic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61122" name="标题 261121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Uniprocessor Performance</a:t>
            </a:r>
            <a:endParaRPr lang="en-US" altLang="zh-CN"/>
          </a:p>
        </p:txBody>
      </p:sp>
      <p:sp>
        <p:nvSpPr>
          <p:cNvPr id="261124" name="文本框 261123"/>
          <p:cNvSpPr txBox="1"/>
          <p:nvPr/>
        </p:nvSpPr>
        <p:spPr>
          <a:xfrm rot="5400000">
            <a:off x="6162675" y="2613025"/>
            <a:ext cx="558419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1.8 The Sea Change: The Switch to Multiprocessors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261127" name="线形标注 1 261126"/>
          <p:cNvSpPr/>
          <p:nvPr/>
        </p:nvSpPr>
        <p:spPr>
          <a:xfrm>
            <a:off x="1691640" y="5661025"/>
            <a:ext cx="6309360" cy="431165"/>
          </a:xfrm>
          <a:prstGeom prst="borderCallout1">
            <a:avLst>
              <a:gd name="adj1" fmla="val -5301"/>
              <a:gd name="adj2" fmla="val 58645"/>
              <a:gd name="adj3" fmla="val -193519"/>
              <a:gd name="adj4" fmla="val 6529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>
              <a:spcBef>
                <a:spcPct val="50000"/>
              </a:spcBef>
            </a:pPr>
            <a:r>
              <a:rPr lang="en-AU" altLang="zh-CN" sz="1600">
                <a:latin typeface="Arial" panose="020B0604020202020204" pitchFamily="34" charset="0"/>
              </a:rPr>
              <a:t>Constrained by power, instruction-level parallelism, memory latency</a:t>
            </a:r>
            <a:endParaRPr lang="en-AU" altLang="zh-CN" sz="16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31778" name="标题 33177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AU" altLang="zh-CN"/>
              <a:t>Multiprocessors</a:t>
            </a:r>
            <a:endParaRPr lang="en-AU" altLang="zh-CN"/>
          </a:p>
        </p:txBody>
      </p:sp>
      <p:sp>
        <p:nvSpPr>
          <p:cNvPr id="331779" name="文本占位符 331778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AU" altLang="zh-CN"/>
              <a:t>Multicore microprocessors</a:t>
            </a:r>
            <a:endParaRPr lang="en-AU" altLang="zh-CN"/>
          </a:p>
          <a:p>
            <a:pPr lvl="1"/>
            <a:r>
              <a:rPr lang="en-AU" altLang="zh-CN"/>
              <a:t>More than one processor per chip</a:t>
            </a:r>
            <a:endParaRPr lang="en-AU" altLang="zh-CN"/>
          </a:p>
          <a:p>
            <a:r>
              <a:rPr lang="en-AU" altLang="zh-CN"/>
              <a:t>Requires explicitly parallel programming</a:t>
            </a:r>
            <a:endParaRPr lang="en-AU" altLang="zh-CN"/>
          </a:p>
          <a:p>
            <a:pPr lvl="1"/>
            <a:r>
              <a:rPr lang="en-AU" altLang="zh-CN"/>
              <a:t>Compare with instruction level parallelism</a:t>
            </a:r>
            <a:endParaRPr lang="en-AU" altLang="zh-CN"/>
          </a:p>
          <a:p>
            <a:pPr lvl="2"/>
            <a:r>
              <a:rPr lang="en-AU" altLang="zh-CN"/>
              <a:t>Hardware executes multiple instructions at once</a:t>
            </a:r>
            <a:endParaRPr lang="en-AU" altLang="zh-CN"/>
          </a:p>
          <a:p>
            <a:pPr lvl="2"/>
            <a:r>
              <a:rPr lang="en-AU" altLang="zh-CN"/>
              <a:t>Hidden from the programmer</a:t>
            </a:r>
            <a:endParaRPr lang="en-AU" altLang="zh-CN"/>
          </a:p>
          <a:p>
            <a:pPr lvl="1"/>
            <a:r>
              <a:rPr lang="en-AU" altLang="zh-CN"/>
              <a:t>Hard to do</a:t>
            </a:r>
            <a:endParaRPr lang="en-AU" altLang="zh-CN"/>
          </a:p>
          <a:p>
            <a:pPr lvl="2"/>
            <a:r>
              <a:rPr lang="en-AU" altLang="zh-CN"/>
              <a:t>Programming for performance</a:t>
            </a:r>
            <a:endParaRPr lang="en-AU" altLang="zh-CN"/>
          </a:p>
          <a:p>
            <a:pPr lvl="2"/>
            <a:r>
              <a:rPr lang="en-AU" altLang="zh-CN"/>
              <a:t>Load balancing</a:t>
            </a:r>
            <a:endParaRPr lang="en-AU" altLang="zh-CN"/>
          </a:p>
          <a:p>
            <a:pPr lvl="2"/>
            <a:r>
              <a:rPr lang="en-AU" altLang="zh-CN"/>
              <a:t>Optimizing communication and synchronization</a:t>
            </a:r>
            <a:endParaRPr lang="en-AU" altLang="zh-C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39970" name="标题 33996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SPEC CPU Benchmark</a:t>
            </a:r>
            <a:endParaRPr lang="en-AU" altLang="zh-CN"/>
          </a:p>
        </p:txBody>
      </p:sp>
      <p:sp>
        <p:nvSpPr>
          <p:cNvPr id="339971" name="文本占位符 339970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3887787"/>
          </a:xfrm>
        </p:spPr>
        <p:txBody>
          <a:bodyPr/>
          <a:p>
            <a:pPr>
              <a:lnSpc>
                <a:spcPct val="80000"/>
              </a:lnSpc>
            </a:pPr>
            <a:r>
              <a:rPr lang="en-US" altLang="zh-CN" sz="2800"/>
              <a:t>Programs used to measure performance</a:t>
            </a:r>
            <a:endParaRPr lang="en-US" altLang="zh-CN" sz="2800"/>
          </a:p>
          <a:p>
            <a:pPr lvl="1">
              <a:lnSpc>
                <a:spcPct val="80000"/>
              </a:lnSpc>
            </a:pPr>
            <a:r>
              <a:rPr lang="en-US" altLang="zh-CN" sz="2400"/>
              <a:t>Supposedly typical of actual workload</a:t>
            </a:r>
            <a:endParaRPr lang="en-US" altLang="zh-CN" sz="2400"/>
          </a:p>
          <a:p>
            <a:pPr>
              <a:lnSpc>
                <a:spcPct val="80000"/>
              </a:lnSpc>
            </a:pPr>
            <a:r>
              <a:rPr lang="en-US" altLang="zh-CN" sz="2800"/>
              <a:t>Standard Performance Evaluation Corp (SPEC)</a:t>
            </a:r>
            <a:endParaRPr lang="en-US" altLang="zh-CN" sz="2800"/>
          </a:p>
          <a:p>
            <a:pPr lvl="1">
              <a:lnSpc>
                <a:spcPct val="80000"/>
              </a:lnSpc>
            </a:pPr>
            <a:r>
              <a:rPr lang="en-US" altLang="zh-CN" sz="2400"/>
              <a:t>Develops benchmarks for CPU, I/O, Web, …</a:t>
            </a:r>
            <a:endParaRPr lang="en-US" altLang="zh-CN" sz="2400"/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/>
              <a:t>SPEC CPU2017</a:t>
            </a:r>
            <a:endParaRPr lang="en-US" altLang="zh-CN" sz="2800"/>
          </a:p>
          <a:p>
            <a:pPr lvl="1">
              <a:lnSpc>
                <a:spcPct val="80000"/>
              </a:lnSpc>
            </a:pPr>
            <a:r>
              <a:rPr lang="en-US" altLang="zh-CN" sz="2400"/>
              <a:t>Elapsed time to execute a selection of programs</a:t>
            </a:r>
            <a:endParaRPr lang="en-US" altLang="zh-CN" sz="2400"/>
          </a:p>
          <a:p>
            <a:pPr lvl="2">
              <a:lnSpc>
                <a:spcPct val="80000"/>
              </a:lnSpc>
            </a:pPr>
            <a:r>
              <a:rPr lang="en-US" altLang="zh-CN" sz="2000"/>
              <a:t>Negligible I/O, so focuses on CPU performance</a:t>
            </a:r>
            <a:endParaRPr lang="en-US" altLang="zh-CN" sz="2000"/>
          </a:p>
          <a:p>
            <a:pPr lvl="1">
              <a:lnSpc>
                <a:spcPct val="80000"/>
              </a:lnSpc>
            </a:pPr>
            <a:r>
              <a:rPr lang="en-US" altLang="zh-CN" sz="2400"/>
              <a:t>Normalize relative to reference machine</a:t>
            </a:r>
            <a:endParaRPr lang="en-US" altLang="zh-CN" sz="2400"/>
          </a:p>
          <a:p>
            <a:pPr lvl="1">
              <a:lnSpc>
                <a:spcPct val="80000"/>
              </a:lnSpc>
            </a:pPr>
            <a:r>
              <a:rPr lang="en-US" altLang="zh-CN" sz="2400"/>
              <a:t>Summarize as geometric mean of performance ratios</a:t>
            </a:r>
            <a:endParaRPr lang="en-US" altLang="zh-CN" sz="2400"/>
          </a:p>
          <a:p>
            <a:pPr lvl="2">
              <a:lnSpc>
                <a:spcPct val="80000"/>
              </a:lnSpc>
            </a:pPr>
            <a:r>
              <a:rPr lang="en-US" altLang="zh-CN" sz="2000"/>
              <a:t>SPECspeed 2017 Integer and CFP2006 (floating-point)</a:t>
            </a:r>
            <a:endParaRPr lang="en-US" altLang="zh-CN" sz="2000"/>
          </a:p>
        </p:txBody>
      </p:sp>
      <p:graphicFrame>
        <p:nvGraphicFramePr>
          <p:cNvPr id="339973" name="对象 339972"/>
          <p:cNvGraphicFramePr/>
          <p:nvPr/>
        </p:nvGraphicFramePr>
        <p:xfrm>
          <a:off x="2555875" y="5157788"/>
          <a:ext cx="377190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1713865" imgH="482600" progId="Equation.3">
                  <p:embed/>
                </p:oleObj>
              </mc:Choice>
              <mc:Fallback>
                <p:oleObj name="" r:id="rId1" imgW="1713865" imgH="4826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5875" y="5157788"/>
                        <a:ext cx="3771900" cy="106203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24" name="文本框 261123"/>
          <p:cNvSpPr txBox="1"/>
          <p:nvPr/>
        </p:nvSpPr>
        <p:spPr>
          <a:xfrm rot="5400000">
            <a:off x="6861810" y="1913890"/>
            <a:ext cx="419608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1.9-1.10 Benchmark and Going Faster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44068" name="标题 344067"/>
          <p:cNvSpPr>
            <a:spLocks noGrp="1"/>
          </p:cNvSpPr>
          <p:nvPr>
            <p:ph type="title"/>
          </p:nvPr>
        </p:nvSpPr>
        <p:spPr>
          <a:xfrm>
            <a:off x="684213" y="324485"/>
            <a:ext cx="8259762" cy="583565"/>
          </a:xfrm>
        </p:spPr>
        <p:txBody>
          <a:bodyPr anchor="b" anchorCtr="0">
            <a:spAutoFit/>
          </a:bodyPr>
          <a:p>
            <a:r>
              <a:rPr lang="en-AU" altLang="zh-CN" sz="3200"/>
              <a:t>SPECspeed 2017 Integer for Intel Core i7</a:t>
            </a:r>
            <a:endParaRPr lang="en-AU" altLang="zh-CN" sz="32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412875"/>
            <a:ext cx="7905750" cy="42189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47138" name="标题 34713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AU" altLang="zh-CN"/>
              <a:t>SPEC Power Benchmark</a:t>
            </a:r>
            <a:endParaRPr lang="en-AU" altLang="zh-CN"/>
          </a:p>
        </p:txBody>
      </p:sp>
      <p:sp>
        <p:nvSpPr>
          <p:cNvPr id="347139" name="文本占位符 347138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2447925"/>
          </a:xfrm>
        </p:spPr>
        <p:txBody>
          <a:bodyPr/>
          <a:p>
            <a:r>
              <a:rPr lang="en-AU" altLang="zh-CN"/>
              <a:t>Power consumption of server at different workload levels</a:t>
            </a:r>
            <a:endParaRPr lang="en-AU" altLang="zh-CN"/>
          </a:p>
          <a:p>
            <a:pPr lvl="1"/>
            <a:r>
              <a:rPr lang="en-AU" altLang="zh-CN"/>
              <a:t>Performance: ssj_ops/sec</a:t>
            </a:r>
            <a:endParaRPr lang="en-AU" altLang="zh-CN"/>
          </a:p>
          <a:p>
            <a:pPr lvl="1"/>
            <a:r>
              <a:rPr lang="en-AU" altLang="zh-CN"/>
              <a:t>Power: Watts (Joules/sec)</a:t>
            </a:r>
            <a:endParaRPr lang="en-AU" altLang="zh-CN"/>
          </a:p>
        </p:txBody>
      </p:sp>
      <p:graphicFrame>
        <p:nvGraphicFramePr>
          <p:cNvPr id="347140" name="对象 347139"/>
          <p:cNvGraphicFramePr/>
          <p:nvPr/>
        </p:nvGraphicFramePr>
        <p:xfrm>
          <a:off x="1116013" y="3500438"/>
          <a:ext cx="72882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3644900" imgH="457200" progId="Equation.3">
                  <p:embed/>
                </p:oleObj>
              </mc:Choice>
              <mc:Fallback>
                <p:oleObj name="" r:id="rId1" imgW="3644900" imgH="4572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6013" y="3500438"/>
                        <a:ext cx="7288212" cy="9144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49186" name="标题 349185"/>
          <p:cNvSpPr>
            <a:spLocks noGrp="1"/>
          </p:cNvSpPr>
          <p:nvPr>
            <p:ph type="title"/>
          </p:nvPr>
        </p:nvSpPr>
        <p:spPr>
          <a:xfrm>
            <a:off x="684213" y="447675"/>
            <a:ext cx="8259762" cy="460375"/>
          </a:xfrm>
        </p:spPr>
        <p:txBody>
          <a:bodyPr anchor="b" anchorCtr="0">
            <a:spAutoFit/>
          </a:bodyPr>
          <a:p>
            <a:r>
              <a:rPr lang="en-AU" altLang="zh-CN" sz="2400"/>
              <a:t>SPECpower_ssj2008 for  Intel Xeon Platinum8276L</a:t>
            </a:r>
            <a:endParaRPr lang="en-AU" altLang="zh-CN" sz="2400"/>
          </a:p>
        </p:txBody>
      </p:sp>
      <p:graphicFrame>
        <p:nvGraphicFramePr>
          <p:cNvPr id="349416" name="表格 349415"/>
          <p:cNvGraphicFramePr/>
          <p:nvPr>
            <p:custDataLst>
              <p:tags r:id="rId1"/>
            </p:custDataLst>
          </p:nvPr>
        </p:nvGraphicFramePr>
        <p:xfrm>
          <a:off x="971550" y="1341438"/>
          <a:ext cx="7343775" cy="4689475"/>
        </p:xfrm>
        <a:graphic>
          <a:graphicData uri="http://schemas.openxmlformats.org/drawingml/2006/table">
            <a:tbl>
              <a:tblPr/>
              <a:tblGrid>
                <a:gridCol w="1368425"/>
                <a:gridCol w="431800"/>
                <a:gridCol w="1871663"/>
                <a:gridCol w="900112"/>
                <a:gridCol w="1620838"/>
                <a:gridCol w="1150937"/>
              </a:tblGrid>
              <a:tr h="334963">
                <a:tc gridSpan="2"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AU" altLang="zh-CN" sz="1600"/>
                        <a:t>Target Load %</a:t>
                      </a:r>
                      <a:endParaRPr lang="en-AU" altLang="zh-CN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AU" altLang="zh-CN" sz="1600"/>
                        <a:t>Performance (ssj_ops/sec)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AU" altLang="zh-CN" sz="1600"/>
                        <a:t>Average Power (Watts)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49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100%</a:t>
                      </a:r>
                      <a:endParaRPr lang="en-AU" altLang="zh-CN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4,864,136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347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90%</a:t>
                      </a:r>
                      <a:endParaRPr lang="en-AU" altLang="zh-CN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4,389,196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312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80%</a:t>
                      </a:r>
                      <a:endParaRPr lang="en-AU" altLang="zh-CN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3,905,724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278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70%</a:t>
                      </a:r>
                      <a:endParaRPr lang="en-AU" altLang="zh-CN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3,418,737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241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60%</a:t>
                      </a:r>
                      <a:endParaRPr lang="en-AU" altLang="zh-CN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2,925,811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212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50%</a:t>
                      </a:r>
                      <a:endParaRPr lang="en-AU" altLang="zh-CN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2,439,017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183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40%</a:t>
                      </a:r>
                      <a:endParaRPr lang="en-AU" altLang="zh-CN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1,951,394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160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30%</a:t>
                      </a:r>
                      <a:endParaRPr lang="en-AU" altLang="zh-CN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1,461,411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141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20%</a:t>
                      </a:r>
                      <a:endParaRPr lang="en-AU" altLang="zh-CN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974,045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128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10%</a:t>
                      </a:r>
                      <a:endParaRPr lang="en-AU" altLang="zh-CN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485,973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115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0%</a:t>
                      </a:r>
                      <a:endParaRPr lang="en-AU" altLang="zh-CN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0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US" altLang="en-AU" sz="1600"/>
                        <a:t>48</a:t>
                      </a:r>
                      <a:endParaRPr lang="en-US" altLang="en-AU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 gridSpan="2"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600"/>
                        <a:t>Overall sum</a:t>
                      </a:r>
                      <a:endParaRPr lang="en-AU" altLang="zh-CN" sz="16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26,815,444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2,165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2">
                <a:tc gridSpan="4"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AU" altLang="zh-CN" sz="1600">
                          <a:cs typeface="Arial" panose="020B0604020202020204" pitchFamily="34" charset="0"/>
                        </a:rPr>
                        <a:t>∑ssj_ops/ ∑power</a:t>
                      </a:r>
                      <a:endParaRPr lang="en-AU" altLang="zh-CN" sz="1600">
                        <a:ea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r">
                        <a:buNone/>
                      </a:pPr>
                      <a:r>
                        <a:rPr lang="en-AU" altLang="zh-CN" sz="1600"/>
                        <a:t>12,385</a:t>
                      </a:r>
                      <a:endParaRPr lang="en-AU" altLang="zh-CN" sz="16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en-AU" altLang="x-none" sz="1600"/>
                    </a:p>
                  </a:txBody>
                  <a:tcPr>
                    <a:lnL cap="flat">
                      <a:noFill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47138" name="标题 347137"/>
          <p:cNvSpPr>
            <a:spLocks noGrp="1"/>
          </p:cNvSpPr>
          <p:nvPr>
            <p:ph type="title"/>
          </p:nvPr>
        </p:nvSpPr>
        <p:spPr>
          <a:xfrm>
            <a:off x="684213" y="324485"/>
            <a:ext cx="8259762" cy="583565"/>
          </a:xfrm>
        </p:spPr>
        <p:txBody>
          <a:bodyPr anchor="b" anchorCtr="0">
            <a:spAutoFit/>
          </a:bodyPr>
          <a:p>
            <a:r>
              <a:rPr lang="en-AU" altLang="zh-CN" sz="3200"/>
              <a:t>Going Faster: Matrix Multiply in Python</a:t>
            </a:r>
            <a:endParaRPr lang="en-AU" altLang="zh-CN" sz="3200"/>
          </a:p>
        </p:txBody>
      </p:sp>
      <p:sp>
        <p:nvSpPr>
          <p:cNvPr id="4" name="文本占位符 3"/>
          <p:cNvSpPr/>
          <p:nvPr>
            <p:ph type="body" idx="1"/>
          </p:nvPr>
        </p:nvSpPr>
        <p:spPr>
          <a:xfrm>
            <a:off x="621030" y="1125855"/>
            <a:ext cx="8237855" cy="5111750"/>
          </a:xfrm>
        </p:spPr>
        <p:txBody>
          <a:bodyPr/>
          <a:p>
            <a:r>
              <a:rPr lang="zh-CN" altLang="en-US"/>
              <a:t>C version</a:t>
            </a:r>
            <a:r>
              <a:rPr lang="en-US" altLang="zh-CN"/>
              <a:t> : 200↑</a:t>
            </a:r>
            <a:endParaRPr lang="en-US" altLang="zh-CN"/>
          </a:p>
          <a:p>
            <a:r>
              <a:rPr lang="zh-CN" altLang="en-US">
                <a:sym typeface="+mn-ea"/>
              </a:rPr>
              <a:t>data-level parallelism, in Chapter 3</a:t>
            </a:r>
            <a:r>
              <a:rPr lang="en-US" altLang="zh-CN">
                <a:sym typeface="+mn-ea"/>
              </a:rPr>
              <a:t> : 8</a:t>
            </a:r>
            <a:r>
              <a:rPr lang="en-US" altLang="zh-CN">
                <a:sym typeface="+mn-ea"/>
              </a:rPr>
              <a:t>↑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instruction-level parallelism, in Chapter 4</a:t>
            </a:r>
            <a:r>
              <a:rPr lang="en-US" altLang="zh-CN">
                <a:sym typeface="+mn-ea"/>
              </a:rPr>
              <a:t> : 2</a:t>
            </a:r>
            <a:r>
              <a:rPr lang="en-US" altLang="zh-CN">
                <a:sym typeface="+mn-ea"/>
              </a:rPr>
              <a:t>↑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memory hierarchy optimization, in Chapter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5</a:t>
            </a:r>
            <a:r>
              <a:rPr lang="en-US" altLang="zh-CN">
                <a:sym typeface="+mn-ea"/>
              </a:rPr>
              <a:t> : 1.5</a:t>
            </a:r>
            <a:r>
              <a:rPr lang="en-US" altLang="zh-CN">
                <a:sym typeface="+mn-ea"/>
              </a:rPr>
              <a:t>↑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thread-level parallelism, in Chapter 6</a:t>
            </a:r>
            <a:r>
              <a:rPr lang="en-US" altLang="zh-CN">
                <a:sym typeface="+mn-ea"/>
              </a:rPr>
              <a:t> : 12 to 17</a:t>
            </a:r>
            <a:r>
              <a:rPr lang="en-US" altLang="zh-CN">
                <a:sym typeface="+mn-ea"/>
              </a:rPr>
              <a:t>↑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47138" name="标题 347137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anchor="b" anchorCtr="0">
            <a:spAutoFit/>
          </a:bodyPr>
          <a:p>
            <a:r>
              <a:rPr lang="en-AU" altLang="zh-CN"/>
              <a:t>Optimizations</a:t>
            </a:r>
            <a:endParaRPr lang="en-AU" altLang="zh-CN"/>
          </a:p>
        </p:txBody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125855"/>
            <a:ext cx="7804150" cy="51308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16066" name="标题 216065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Pitfall: Amdahl’s Law</a:t>
            </a:r>
            <a:endParaRPr lang="en-AU" altLang="zh-CN"/>
          </a:p>
        </p:txBody>
      </p:sp>
      <p:sp>
        <p:nvSpPr>
          <p:cNvPr id="216067" name="文本占位符 216066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7991475" cy="1439862"/>
          </a:xfrm>
        </p:spPr>
        <p:txBody>
          <a:bodyPr/>
          <a:p>
            <a:r>
              <a:rPr lang="en-US" altLang="zh-CN" sz="2800"/>
              <a:t>Improving an aspect of a computer and expecting a proportional improvement in overall performance</a:t>
            </a:r>
            <a:endParaRPr lang="en-US" altLang="zh-CN" sz="2800">
              <a:sym typeface="Wingdings" panose="05000000000000000000" pitchFamily="2" charset="2"/>
            </a:endParaRPr>
          </a:p>
        </p:txBody>
      </p:sp>
      <p:sp>
        <p:nvSpPr>
          <p:cNvPr id="216068" name="文本框 216067"/>
          <p:cNvSpPr txBox="1"/>
          <p:nvPr/>
        </p:nvSpPr>
        <p:spPr>
          <a:xfrm rot="5400000">
            <a:off x="7572375" y="1203325"/>
            <a:ext cx="2883535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1.11 Fallacies and Pitfalls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16069" name="对象 216068"/>
          <p:cNvGraphicFramePr/>
          <p:nvPr/>
        </p:nvGraphicFramePr>
        <p:xfrm>
          <a:off x="2987675" y="4868863"/>
          <a:ext cx="1728788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862965" imgH="393700" progId="Equation.3">
                  <p:embed/>
                </p:oleObj>
              </mc:Choice>
              <mc:Fallback>
                <p:oleObj name="" r:id="rId1" imgW="862965" imgH="3937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87675" y="4868863"/>
                        <a:ext cx="1728788" cy="788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0" name="矩形 216069"/>
          <p:cNvSpPr/>
          <p:nvPr/>
        </p:nvSpPr>
        <p:spPr>
          <a:xfrm>
            <a:off x="4787900" y="4941888"/>
            <a:ext cx="3455988" cy="5762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1"/>
            <a:r>
              <a:rPr lang="en-US" altLang="zh-CN" sz="2400"/>
              <a:t>Can’t be done!</a:t>
            </a:r>
            <a:endParaRPr lang="en-US" altLang="zh-CN" sz="2400">
              <a:ea typeface="Tahoma" panose="020B0604030504040204" pitchFamily="34" charset="0"/>
            </a:endParaRPr>
          </a:p>
        </p:txBody>
      </p:sp>
      <p:graphicFrame>
        <p:nvGraphicFramePr>
          <p:cNvPr id="216071" name="对象 216070"/>
          <p:cNvGraphicFramePr/>
          <p:nvPr/>
        </p:nvGraphicFramePr>
        <p:xfrm>
          <a:off x="1763713" y="2565400"/>
          <a:ext cx="5287962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2641600" imgH="419100" progId="Equation.3">
                  <p:embed/>
                </p:oleObj>
              </mc:Choice>
              <mc:Fallback>
                <p:oleObj name="" r:id="rId3" imgW="2641600" imgH="4191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713" y="2565400"/>
                        <a:ext cx="5287962" cy="83978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072" name="矩形 216071"/>
          <p:cNvSpPr/>
          <p:nvPr/>
        </p:nvSpPr>
        <p:spPr>
          <a:xfrm>
            <a:off x="684213" y="3500438"/>
            <a:ext cx="7991475" cy="13684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 sz="2800">
                <a:sym typeface="Wingdings" panose="05000000000000000000" pitchFamily="2" charset="2"/>
              </a:rPr>
              <a:t>Example: multiply accounts for 80s/100s</a:t>
            </a:r>
            <a:endParaRPr lang="en-US" altLang="zh-CN" sz="2800">
              <a:sym typeface="Wingdings" panose="05000000000000000000" pitchFamily="2" charset="2"/>
            </a:endParaRPr>
          </a:p>
          <a:p>
            <a:pPr lvl="1"/>
            <a:r>
              <a:rPr lang="en-US" altLang="zh-CN" sz="2400"/>
              <a:t>How much improvement in multiply performance to get 5× overall?</a:t>
            </a:r>
            <a:endParaRPr lang="en-US" altLang="zh-CN" sz="2400"/>
          </a:p>
        </p:txBody>
      </p:sp>
      <p:sp>
        <p:nvSpPr>
          <p:cNvPr id="216073" name="矩形 216072"/>
          <p:cNvSpPr/>
          <p:nvPr/>
        </p:nvSpPr>
        <p:spPr>
          <a:xfrm>
            <a:off x="684213" y="5661025"/>
            <a:ext cx="7991475" cy="5762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 sz="2800">
                <a:sym typeface="Wingdings" panose="05000000000000000000" pitchFamily="2" charset="2"/>
              </a:rPr>
              <a:t>Corollary: make the common case fast</a:t>
            </a:r>
            <a:endParaRPr lang="en-US" altLang="zh-CN" sz="280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60450" name="标题 360449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AU" altLang="zh-CN"/>
              <a:t>Fallacy: Low Power at Idle</a:t>
            </a:r>
            <a:endParaRPr lang="en-AU" altLang="zh-CN"/>
          </a:p>
        </p:txBody>
      </p:sp>
      <p:sp>
        <p:nvSpPr>
          <p:cNvPr id="360451" name="文本占位符 360450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AU" altLang="zh-CN"/>
              <a:t>Look back at Intel Xeon Platinum 8276L power benchmark</a:t>
            </a:r>
            <a:endParaRPr lang="en-AU" altLang="zh-CN"/>
          </a:p>
          <a:p>
            <a:pPr lvl="1"/>
            <a:r>
              <a:rPr lang="en-AU" altLang="zh-CN"/>
              <a:t>At 100% load: 347W</a:t>
            </a:r>
            <a:endParaRPr lang="en-AU" altLang="zh-CN"/>
          </a:p>
          <a:p>
            <a:pPr lvl="1"/>
            <a:r>
              <a:rPr lang="en-AU" altLang="zh-CN"/>
              <a:t>At </a:t>
            </a:r>
            <a:r>
              <a:rPr lang="en-US" altLang="en-AU"/>
              <a:t>3</a:t>
            </a:r>
            <a:r>
              <a:rPr lang="en-AU" altLang="zh-CN"/>
              <a:t>0% load: 1</a:t>
            </a:r>
            <a:r>
              <a:rPr lang="en-US" altLang="en-AU"/>
              <a:t>41</a:t>
            </a:r>
            <a:r>
              <a:rPr lang="en-AU" altLang="zh-CN"/>
              <a:t>W (</a:t>
            </a:r>
            <a:r>
              <a:rPr lang="en-US"/>
              <a:t>40</a:t>
            </a:r>
            <a:r>
              <a:rPr lang="en-AU" altLang="zh-CN"/>
              <a:t>%)</a:t>
            </a:r>
            <a:endParaRPr lang="en-AU" altLang="zh-CN"/>
          </a:p>
          <a:p>
            <a:pPr lvl="1"/>
            <a:r>
              <a:rPr lang="en-AU" altLang="zh-CN"/>
              <a:t>At 10% load: 115W (</a:t>
            </a:r>
            <a:r>
              <a:rPr lang="en-US" altLang="en-AU"/>
              <a:t>33</a:t>
            </a:r>
            <a:r>
              <a:rPr lang="en-AU" altLang="zh-CN"/>
              <a:t>%)</a:t>
            </a:r>
            <a:endParaRPr lang="en-AU" altLang="zh-CN"/>
          </a:p>
          <a:p>
            <a:r>
              <a:rPr lang="en-AU" altLang="zh-CN"/>
              <a:t>Google data center</a:t>
            </a:r>
            <a:endParaRPr lang="en-AU" altLang="zh-CN"/>
          </a:p>
          <a:p>
            <a:pPr lvl="1"/>
            <a:r>
              <a:rPr lang="en-AU" altLang="zh-CN"/>
              <a:t>Mostly operates at 10% </a:t>
            </a:r>
            <a:r>
              <a:rPr lang="en-AU" altLang="zh-CN">
                <a:cs typeface="Arial" panose="020B0604020202020204" pitchFamily="34" charset="0"/>
              </a:rPr>
              <a:t>– 50% load</a:t>
            </a:r>
            <a:endParaRPr lang="en-AU" altLang="zh-CN">
              <a:cs typeface="Arial" panose="020B0604020202020204" pitchFamily="34" charset="0"/>
            </a:endParaRPr>
          </a:p>
          <a:p>
            <a:pPr lvl="1"/>
            <a:r>
              <a:rPr lang="en-AU" altLang="zh-CN">
                <a:cs typeface="Arial" panose="020B0604020202020204" pitchFamily="34" charset="0"/>
              </a:rPr>
              <a:t>At 100% load less than 1% of the time</a:t>
            </a:r>
            <a:endParaRPr lang="en-AU" altLang="zh-CN">
              <a:cs typeface="Arial" panose="020B0604020202020204" pitchFamily="34" charset="0"/>
            </a:endParaRPr>
          </a:p>
          <a:p>
            <a:r>
              <a:rPr lang="en-AU" altLang="zh-CN">
                <a:cs typeface="Arial" panose="020B0604020202020204" pitchFamily="34" charset="0"/>
              </a:rPr>
              <a:t>Consider designing processors to make power proportional to load</a:t>
            </a:r>
            <a:endParaRPr lang="en-AU" altLang="zh-CN"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354306" name="标题 354305"/>
          <p:cNvSpPr>
            <a:spLocks noGrp="1"/>
          </p:cNvSpPr>
          <p:nvPr>
            <p:ph type="title"/>
          </p:nvPr>
        </p:nvSpPr>
        <p:spPr>
          <a:xfrm>
            <a:off x="684213" y="266700"/>
            <a:ext cx="8259762" cy="641350"/>
          </a:xfrm>
        </p:spPr>
        <p:txBody>
          <a:bodyPr anchor="b" anchorCtr="0">
            <a:spAutoFit/>
          </a:bodyPr>
          <a:p>
            <a:r>
              <a:rPr lang="en-US" altLang="zh-CN" sz="3600"/>
              <a:t>Pitfall: MIPS as a Performance Metric</a:t>
            </a:r>
            <a:endParaRPr lang="en-AU" altLang="zh-CN" sz="3600"/>
          </a:p>
        </p:txBody>
      </p:sp>
      <p:sp>
        <p:nvSpPr>
          <p:cNvPr id="354307" name="文本占位符 354306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2087562"/>
          </a:xfrm>
        </p:spPr>
        <p:txBody>
          <a:bodyPr/>
          <a:p>
            <a:r>
              <a:rPr lang="en-US" altLang="zh-CN"/>
              <a:t>MIPS: Millions of Instructions Per Second</a:t>
            </a:r>
            <a:endParaRPr lang="en-US" altLang="zh-CN"/>
          </a:p>
          <a:p>
            <a:pPr lvl="1"/>
            <a:r>
              <a:rPr lang="en-US" altLang="zh-CN"/>
              <a:t>Doesn’t account for</a:t>
            </a:r>
            <a:endParaRPr lang="en-US" altLang="zh-CN"/>
          </a:p>
          <a:p>
            <a:pPr lvl="2"/>
            <a:r>
              <a:rPr lang="en-US" altLang="zh-CN"/>
              <a:t>Differences in ISAs between computers</a:t>
            </a:r>
            <a:endParaRPr lang="en-US" altLang="zh-CN"/>
          </a:p>
          <a:p>
            <a:pPr lvl="2"/>
            <a:r>
              <a:rPr lang="en-US" altLang="zh-CN"/>
              <a:t>Differences in complexity between instructions</a:t>
            </a:r>
            <a:endParaRPr lang="en-US" altLang="zh-CN"/>
          </a:p>
        </p:txBody>
      </p:sp>
      <p:graphicFrame>
        <p:nvGraphicFramePr>
          <p:cNvPr id="354308" name="对象 354307"/>
          <p:cNvGraphicFramePr/>
          <p:nvPr/>
        </p:nvGraphicFramePr>
        <p:xfrm>
          <a:off x="1331913" y="3360738"/>
          <a:ext cx="6556375" cy="208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3275330" imgH="1040765" progId="Equation.3">
                  <p:embed/>
                </p:oleObj>
              </mc:Choice>
              <mc:Fallback>
                <p:oleObj name="" r:id="rId1" imgW="3275330" imgH="1040765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31913" y="3360738"/>
                        <a:ext cx="6556375" cy="2084387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09" name="矩形 354308"/>
          <p:cNvSpPr/>
          <p:nvPr/>
        </p:nvSpPr>
        <p:spPr>
          <a:xfrm>
            <a:off x="684213" y="5589588"/>
            <a:ext cx="8270875" cy="574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1"/>
            <a:r>
              <a:rPr lang="en-US" altLang="zh-CN"/>
              <a:t>CPI varies between programs on a given CPU</a:t>
            </a:r>
            <a:endParaRPr lang="en-US" altLang="zh-C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页脚占位符 1"/>
          <p:cNvSpPr/>
          <p:nvPr>
            <p:ph type="ftr" sz="quarter" idx="11"/>
          </p:nvPr>
        </p:nvSpPr>
        <p:spPr/>
        <p:txBody>
          <a:bodyPr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  <p:sp>
        <p:nvSpPr>
          <p:cNvPr id="219138" name="标题 219137"/>
          <p:cNvSpPr>
            <a:spLocks noGrp="1"/>
          </p:cNvSpPr>
          <p:nvPr>
            <p:ph type="title"/>
          </p:nvPr>
        </p:nvSpPr>
        <p:spPr/>
        <p:txBody>
          <a:bodyPr anchor="b" anchorCtr="0">
            <a:spAutoFit/>
          </a:bodyPr>
          <a:p>
            <a:r>
              <a:rPr lang="en-US" altLang="zh-CN"/>
              <a:t>Concluding Remarks</a:t>
            </a:r>
            <a:endParaRPr lang="en-AU" altLang="zh-CN"/>
          </a:p>
        </p:txBody>
      </p:sp>
      <p:sp>
        <p:nvSpPr>
          <p:cNvPr id="219139" name="文本占位符 219138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/>
              <a:t>Cost/performance is improving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Due to underlying technology development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/>
              <a:t>Hierarchical layers of abstraction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In both hardware and software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/>
              <a:t>Instruction set architecture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The hardware/software interface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/>
              <a:t>Execution time: the best performance measure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/>
              <a:t>Power is a limiting factor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en-US" altLang="zh-CN"/>
              <a:t>Use parallelism to improve performance</a:t>
            </a:r>
            <a:endParaRPr lang="en-US" altLang="zh-CN"/>
          </a:p>
        </p:txBody>
      </p:sp>
      <p:sp>
        <p:nvSpPr>
          <p:cNvPr id="219140" name="文本框 219139"/>
          <p:cNvSpPr txBox="1"/>
          <p:nvPr/>
        </p:nvSpPr>
        <p:spPr>
          <a:xfrm rot="5400000">
            <a:off x="7553325" y="1222375"/>
            <a:ext cx="293878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solidFill>
                  <a:schemeClr val="folHlink"/>
                </a:solidFill>
                <a:latin typeface="Arial" panose="020B0604020202020204" pitchFamily="34" charset="0"/>
              </a:rPr>
              <a:t>§</a:t>
            </a: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1.12 Concluding Remarks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657.5007874015746,&quot;width&quot;:2665}"/>
</p:tagLst>
</file>

<file path=ppt/tags/tag2.xml><?xml version="1.0" encoding="utf-8"?>
<p:tagLst xmlns:p="http://schemas.openxmlformats.org/presentationml/2006/main">
  <p:tag name="KSO_WM_UNIT_PLACING_PICTURE_USER_VIEWPORT" val="{&quot;height&quot;:2657.5007874015746,&quot;width&quot;:2665}"/>
</p:tagLst>
</file>

<file path=ppt/tags/tag3.xml><?xml version="1.0" encoding="utf-8"?>
<p:tagLst xmlns:p="http://schemas.openxmlformats.org/presentationml/2006/main">
  <p:tag name="KSO_WM_UNIT_PLACING_PICTURE_USER_VIEWPORT" val="{&quot;height&quot;:7090,&quot;width&quot;:17580}"/>
</p:tagLst>
</file>

<file path=ppt/tags/tag4.xml><?xml version="1.0" encoding="utf-8"?>
<p:tagLst xmlns:p="http://schemas.openxmlformats.org/presentationml/2006/main">
  <p:tag name="KSO_WM_UNIT_TABLE_BEAUTIFY" val="smartTable{751799b3-5c01-4ba8-8340-440c38b3dd6a}"/>
</p:tagLst>
</file>

<file path=ppt/tags/tag5.xml><?xml version="1.0" encoding="utf-8"?>
<p:tagLst xmlns:p="http://schemas.openxmlformats.org/presentationml/2006/main">
  <p:tag name="KSO_WM_UNIT_TABLE_BEAUTIFY" val="smartTable{8afa820b-b41d-44a0-b2ca-456e7577aba9}"/>
</p:tagLst>
</file>

<file path=ppt/tags/tag6.xml><?xml version="1.0" encoding="utf-8"?>
<p:tagLst xmlns:p="http://schemas.openxmlformats.org/presentationml/2006/main">
  <p:tag name="COMMONDATA" val="eyJoZGlkIjoiZmE0NWRmMzVhNTY5Y2FiMzY2OGM1ZWRkMzQwMWFiMzEifQ=="/>
</p:tagLst>
</file>

<file path=ppt/theme/theme1.xml><?xml version="1.0" encoding="utf-8"?>
<a:theme xmlns:a="http://schemas.openxmlformats.org/drawingml/2006/main" name="2_Blends">
  <a:themeElements>
    <a:clrScheme name="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5"/>
      </a:accent5>
      <a:accent6>
        <a:srgbClr val="ACACAC"/>
      </a:accent6>
      <a:hlink>
        <a:srgbClr val="91AFBF"/>
      </a:hlink>
      <a:folHlink>
        <a:srgbClr val="ECEAAC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12482</Words>
  <Application>WPS 演示</Application>
  <PresentationFormat>On-screen Show</PresentationFormat>
  <Paragraphs>704</Paragraphs>
  <Slides>48</Slides>
  <Notes>46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19</vt:i4>
      </vt:variant>
      <vt:variant>
        <vt:lpstr>幻灯片标题</vt:lpstr>
      </vt:variant>
      <vt:variant>
        <vt:i4>48</vt:i4>
      </vt:variant>
    </vt:vector>
  </HeadingPairs>
  <TitlesOfParts>
    <vt:vector size="77" baseType="lpstr">
      <vt:lpstr>Arial</vt:lpstr>
      <vt:lpstr>宋体</vt:lpstr>
      <vt:lpstr>Wingdings</vt:lpstr>
      <vt:lpstr>Arial Black</vt:lpstr>
      <vt:lpstr>Times New Roman</vt:lpstr>
      <vt:lpstr>微软雅黑</vt:lpstr>
      <vt:lpstr>Arial Unicode MS</vt:lpstr>
      <vt:lpstr>Tahoma</vt:lpstr>
      <vt:lpstr>Wingdings</vt:lpstr>
      <vt:lpstr>2_Blends</vt:lpstr>
      <vt:lpstr>MSGraph.Chart.8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MSGraph.Chart.8</vt:lpstr>
      <vt:lpstr>MSGraph.Chart.8</vt:lpstr>
      <vt:lpstr>MSGraph.Chart.8</vt:lpstr>
      <vt:lpstr>Equation.3</vt:lpstr>
      <vt:lpstr>Equation.3</vt:lpstr>
      <vt:lpstr>Equation.3</vt:lpstr>
      <vt:lpstr>Equation.3</vt:lpstr>
      <vt:lpstr>Equation.3</vt:lpstr>
      <vt:lpstr>Chapter 1</vt:lpstr>
      <vt:lpstr>Chapter 1</vt:lpstr>
      <vt:lpstr>The Computer Revolution</vt:lpstr>
      <vt:lpstr>Classes of Computers</vt:lpstr>
      <vt:lpstr>The Processor Market</vt:lpstr>
      <vt:lpstr>What You Will Learn</vt:lpstr>
      <vt:lpstr>Understanding Performance</vt:lpstr>
      <vt:lpstr>The Computer Revolution</vt:lpstr>
      <vt:lpstr>Below Your Program</vt:lpstr>
      <vt:lpstr>Levels of Program Code</vt:lpstr>
      <vt:lpstr>Components of a Computer</vt:lpstr>
      <vt:lpstr>Through the Looking Glass</vt:lpstr>
      <vt:lpstr>Opening the Box</vt:lpstr>
      <vt:lpstr>Inside the Processor (CPU)</vt:lpstr>
      <vt:lpstr>Inside the Processor</vt:lpstr>
      <vt:lpstr>Abstractions</vt:lpstr>
      <vt:lpstr>A Safe Place for Data</vt:lpstr>
      <vt:lpstr>Networks</vt:lpstr>
      <vt:lpstr>Manufacturing ICs</vt:lpstr>
      <vt:lpstr>AMD Opteron X2 Wafer</vt:lpstr>
      <vt:lpstr>Integrated Circuit Cost</vt:lpstr>
      <vt:lpstr>Technology Trends</vt:lpstr>
      <vt:lpstr>Defining Performance</vt:lpstr>
      <vt:lpstr>Response Time and Throughput</vt:lpstr>
      <vt:lpstr>Relative Performance</vt:lpstr>
      <vt:lpstr>Measuring Execution Time</vt:lpstr>
      <vt:lpstr>CPU Clocking</vt:lpstr>
      <vt:lpstr>CPU Time</vt:lpstr>
      <vt:lpstr>CPU Time Example</vt:lpstr>
      <vt:lpstr>Instruction Count and CPI</vt:lpstr>
      <vt:lpstr>CPI Example</vt:lpstr>
      <vt:lpstr>CPI in More Detail</vt:lpstr>
      <vt:lpstr>CPI Example</vt:lpstr>
      <vt:lpstr>Performance Summary</vt:lpstr>
      <vt:lpstr>Power Trends</vt:lpstr>
      <vt:lpstr>Reducing Power</vt:lpstr>
      <vt:lpstr>Uniprocessor Performance</vt:lpstr>
      <vt:lpstr>Multiprocessors</vt:lpstr>
      <vt:lpstr>SPEC CPU Benchmark</vt:lpstr>
      <vt:lpstr>CINT2006 for Opteron X4 2356</vt:lpstr>
      <vt:lpstr>SPEC Power Benchmark</vt:lpstr>
      <vt:lpstr>SPECpower_ssj2008 for X4</vt:lpstr>
      <vt:lpstr>SPEC Power Benchmark</vt:lpstr>
      <vt:lpstr>Going Faster: Matrix Multiply in Python</vt:lpstr>
      <vt:lpstr>Pitfall: Amdahl’s Law</vt:lpstr>
      <vt:lpstr>Fallacy: Low Power at Idle</vt:lpstr>
      <vt:lpstr>Pitfall: MIPS as a Performance Metric</vt:lpstr>
      <vt:lpstr>Concluding Remarks</vt:lpstr>
    </vt:vector>
  </TitlesOfParts>
  <Company>Ashenden Designs Pty Ltd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Rosetta Demostrator Project MASC, Adelaide University and Ashenden Designs</dc:title>
  <dc:creator>Peter J. Ashenden</dc:creator>
  <cp:lastModifiedBy>赵武锋</cp:lastModifiedBy>
  <cp:revision>124</cp:revision>
  <dcterms:created xsi:type="dcterms:W3CDTF">2001-07-25T06:45:00Z</dcterms:created>
  <dcterms:modified xsi:type="dcterms:W3CDTF">2025-09-15T08:16:28Z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4AA7EBB76C2B4C459FBD2A8E465C1866</vt:lpwstr>
  </property>
  <property fmtid="{D5CDD505-2E9C-101B-9397-08002B2CF9AE}" pid="3" name="KSOProductBuildVer">
    <vt:lpwstr>2052-11.1.0.12165</vt:lpwstr>
  </property>
</Properties>
</file>