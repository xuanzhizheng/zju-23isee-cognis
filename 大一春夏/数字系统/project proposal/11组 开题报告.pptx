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89" r:id="rId6"/>
    <p:sldId id="259" r:id="rId7"/>
    <p:sldId id="309" r:id="rId8"/>
    <p:sldId id="260" r:id="rId9"/>
    <p:sldId id="343" r:id="rId10"/>
    <p:sldId id="310" r:id="rId11"/>
    <p:sldId id="275" r:id="rId12"/>
    <p:sldId id="311" r:id="rId13"/>
    <p:sldId id="327" r:id="rId14"/>
    <p:sldId id="312" r:id="rId15"/>
    <p:sldId id="290" r:id="rId16"/>
    <p:sldId id="313" r:id="rId17"/>
    <p:sldId id="361" r:id="rId18"/>
    <p:sldId id="314" r:id="rId19"/>
    <p:sldId id="317" r:id="rId20"/>
    <p:sldId id="315" r:id="rId21"/>
    <p:sldId id="276" r:id="rId22"/>
    <p:sldId id="262" r:id="rId23"/>
    <p:sldId id="316" r:id="rId24"/>
    <p:sldId id="263" r:id="rId25"/>
    <p:sldId id="291" r:id="rId26"/>
    <p:sldId id="273" r:id="rId27"/>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一恒 王" initials="一王"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70" d="100"/>
          <a:sy n="70" d="100"/>
        </p:scale>
        <p:origin x="66" y="678"/>
      </p:cViewPr>
      <p:guideLst>
        <p:guide orient="horz" pos="2146"/>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1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80CF78D9-B71B-483D-AADA-EE9E7AE9F39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80EA1E5C-2E81-4D80-8FE8-8D47D1A1AF0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4E29651-9BC7-4EEE-AA87-F4882B75ED8B}"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62EF11-772A-4FBF-B039-954F40C5579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7" descr="C:\Documents and Settings\sqz\桌面\图片1.jpg"/>
          <p:cNvPicPr>
            <a:picLocks noChangeAspect="1" noChangeArrowheads="1"/>
          </p:cNvPicPr>
          <p:nvPr userDrawn="1"/>
        </p:nvPicPr>
        <p:blipFill>
          <a:blip r:embed="rId12">
            <a:extLst>
              <a:ext uri="{28A0092B-C50C-407E-A947-70E740481C1C}">
                <a14:useLocalDpi xmlns:a14="http://schemas.microsoft.com/office/drawing/2010/main" val="0"/>
              </a:ext>
            </a:extLst>
          </a:blip>
          <a:srcRect l="397" t="671" r="217" b="51665"/>
          <a:stretch>
            <a:fillRect/>
          </a:stretch>
        </p:blipFill>
        <p:spPr bwMode="auto">
          <a:xfrm>
            <a:off x="0" y="0"/>
            <a:ext cx="9142413"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2"/>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081337" y="6280150"/>
            <a:ext cx="911066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jpeg"/><Relationship Id="rId2" Type="http://schemas.openxmlformats.org/officeDocument/2006/relationships/tags" Target="../tags/tag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xml"/><Relationship Id="rId3" Type="http://schemas.openxmlformats.org/officeDocument/2006/relationships/image" Target="../media/image11.png"/><Relationship Id="rId2" Type="http://schemas.openxmlformats.org/officeDocument/2006/relationships/tags" Target="../tags/tag5.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330200" y="850265"/>
            <a:ext cx="11598910" cy="2254885"/>
          </a:xfrm>
          <a:prstGeom prst="rect">
            <a:avLst/>
          </a:prstGeom>
          <a:ln>
            <a:noFill/>
          </a:ln>
        </p:spPr>
        <p:txBody>
          <a:bodyPr lIns="0" anchor="b"/>
          <a:lstStyle>
            <a:lvl1pPr algn="l" defTabSz="914400" rtl="0" eaLnBrk="1" latinLnBrk="0" hangingPunct="1">
              <a:lnSpc>
                <a:spcPts val="5800"/>
              </a:lnSpc>
              <a:spcBef>
                <a:spcPct val="0"/>
              </a:spcBef>
              <a:buNone/>
              <a:defRPr sz="6000" b="1" i="0" kern="1200" cap="all" baseline="0">
                <a:solidFill>
                  <a:srgbClr val="005BBB"/>
                </a:solidFill>
                <a:latin typeface="Arial" panose="020B0604020202020204" pitchFamily="34" charset="0"/>
                <a:ea typeface="Arial" panose="020B0604020202020204" pitchFamily="34" charset="0"/>
                <a:cs typeface="Arial" panose="020B0604020202020204" pitchFamily="34" charset="0"/>
              </a:defRPr>
            </a:lvl1pPr>
          </a:lstStyle>
          <a:p>
            <a:pPr algn="ctr">
              <a:defRPr/>
            </a:pPr>
            <a:r>
              <a:rPr lang="zh-CN" altLang="en-US" sz="3600" cap="none" dirty="0">
                <a:solidFill>
                  <a:schemeClr val="accent1">
                    <a:lumMod val="75000"/>
                  </a:schemeClr>
                </a:solidFill>
                <a:latin typeface="微软雅黑" panose="020B0503020204020204" charset="-122"/>
                <a:ea typeface="微软雅黑" panose="020B0503020204020204" charset="-122"/>
                <a:cs typeface="+mn-cs"/>
              </a:rPr>
              <a:t> </a:t>
            </a:r>
            <a:endParaRPr lang="zh-CN" altLang="en-US" sz="3600" cap="none" dirty="0">
              <a:solidFill>
                <a:schemeClr val="accent1">
                  <a:lumMod val="75000"/>
                </a:schemeClr>
              </a:solidFill>
              <a:latin typeface="微软雅黑" panose="020B0503020204020204" charset="-122"/>
              <a:ea typeface="微软雅黑" panose="020B0503020204020204" charset="-122"/>
              <a:cs typeface="+mn-cs"/>
            </a:endParaRPr>
          </a:p>
          <a:p>
            <a:pPr algn="ctr"/>
            <a:r>
              <a:rPr lang="en-US" altLang="zh-CN" sz="5400" kern="100" dirty="0">
                <a:effectLst/>
                <a:latin typeface="微软雅黑" panose="020B0503020204020204" charset="-122"/>
                <a:ea typeface="微软雅黑" panose="020B0503020204020204" charset="-122"/>
                <a:cs typeface="Times New Roman" panose="02020603050405020304" pitchFamily="18" charset="0"/>
              </a:rPr>
              <a:t> </a:t>
            </a:r>
            <a:r>
              <a:rPr lang="zh-CN" altLang="zh-CN" sz="5400" kern="100" dirty="0">
                <a:effectLst/>
                <a:latin typeface="微软雅黑" panose="020B0503020204020204" charset="-122"/>
                <a:ea typeface="微软雅黑" panose="020B0503020204020204" charset="-122"/>
                <a:cs typeface="Times New Roman" panose="02020603050405020304" pitchFamily="18" charset="0"/>
              </a:rPr>
              <a:t>手势遥控音乐播放系统</a:t>
            </a:r>
            <a:endParaRPr lang="en-US" altLang="zh-CN" sz="5400" kern="100" dirty="0">
              <a:effectLst/>
              <a:latin typeface="微软雅黑" panose="020B0503020204020204" charset="-122"/>
              <a:ea typeface="微软雅黑" panose="020B0503020204020204" charset="-122"/>
              <a:cs typeface="Times New Roman" panose="02020603050405020304" pitchFamily="18" charset="0"/>
            </a:endParaRPr>
          </a:p>
          <a:p>
            <a:pPr algn="just"/>
            <a:r>
              <a:rPr lang="zh-CN" altLang="en-US" sz="3200" kern="100" dirty="0">
                <a:effectLst/>
                <a:latin typeface="微软雅黑" panose="020B0503020204020204" charset="-122"/>
                <a:ea typeface="微软雅黑" panose="020B0503020204020204" charset="-122"/>
                <a:cs typeface="Times New Roman" panose="02020603050405020304" pitchFamily="18" charset="0"/>
              </a:rPr>
              <a:t>                                                                       </a:t>
            </a:r>
            <a:r>
              <a:rPr lang="en-US" altLang="zh-CN" sz="32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3200" kern="100" dirty="0">
                <a:effectLst/>
                <a:latin typeface="微软雅黑" panose="020B0503020204020204" charset="-122"/>
                <a:ea typeface="微软雅黑" panose="020B0503020204020204" charset="-122"/>
                <a:cs typeface="Times New Roman" panose="02020603050405020304" pitchFamily="18" charset="0"/>
              </a:rPr>
              <a:t>开题报告</a:t>
            </a:r>
            <a:endParaRPr lang="zh-CN" altLang="zh-CN" sz="32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3075" name="Text Placeholder 1"/>
          <p:cNvSpPr txBox="1"/>
          <p:nvPr/>
        </p:nvSpPr>
        <p:spPr bwMode="auto">
          <a:xfrm>
            <a:off x="4221196" y="3645024"/>
            <a:ext cx="3816350" cy="9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gn="ctr" eaLnBrk="1" hangingPunct="1">
              <a:lnSpc>
                <a:spcPct val="150000"/>
              </a:lnSpc>
              <a:spcBef>
                <a:spcPct val="0"/>
              </a:spcBef>
              <a:buFontTx/>
              <a:buNone/>
            </a:pPr>
            <a:r>
              <a:rPr lang="zh-CN" altLang="en-US" sz="2400" b="1" dirty="0">
                <a:latin typeface="微软雅黑" panose="020B0503020204020204" charset="-122"/>
                <a:ea typeface="微软雅黑" panose="020B0503020204020204" charset="-122"/>
              </a:rPr>
              <a:t>汇报人：第十一组</a:t>
            </a:r>
            <a:endParaRPr lang="zh-CN" altLang="en-US" sz="2400" b="1" dirty="0">
              <a:latin typeface="微软雅黑" panose="020B0503020204020204" charset="-122"/>
              <a:ea typeface="微软雅黑" panose="020B0503020204020204" charset="-122"/>
            </a:endParaRPr>
          </a:p>
          <a:p>
            <a:pPr algn="ctr" eaLnBrk="1" hangingPunct="1">
              <a:lnSpc>
                <a:spcPct val="150000"/>
              </a:lnSpc>
              <a:spcBef>
                <a:spcPct val="0"/>
              </a:spcBef>
              <a:buFontTx/>
              <a:buNone/>
            </a:pPr>
            <a:r>
              <a:rPr lang="en-US" altLang="zh-CN" sz="1800" b="1" dirty="0">
                <a:latin typeface="微软雅黑" panose="020B0503020204020204" charset="-122"/>
                <a:ea typeface="微软雅黑" panose="020B0503020204020204" charset="-122"/>
              </a:rPr>
              <a:t>2024.5.13</a:t>
            </a:r>
            <a:endParaRPr lang="en-US" altLang="zh-CN" sz="1800"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文本框 18"/>
          <p:cNvSpPr txBox="1">
            <a:spLocks noChangeArrowheads="1"/>
          </p:cNvSpPr>
          <p:nvPr/>
        </p:nvSpPr>
        <p:spPr bwMode="auto">
          <a:xfrm>
            <a:off x="4563804" y="153263"/>
            <a:ext cx="4954846" cy="5133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marL="0" indent="0">
              <a:lnSpc>
                <a:spcPct val="200000"/>
              </a:lnSpc>
              <a:spcBef>
                <a:spcPct val="0"/>
              </a:spcBef>
              <a:buNone/>
            </a:pPr>
            <a:endParaRPr lang="en-US" altLang="zh-CN" sz="2800" b="1" dirty="0">
              <a:latin typeface="微软雅黑" panose="020B0503020204020204" charset="-122"/>
              <a:ea typeface="微软雅黑" panose="020B0503020204020204" charset="-122"/>
              <a:sym typeface="+mn-ea"/>
            </a:endParaRPr>
          </a:p>
          <a:p>
            <a:pPr>
              <a:lnSpc>
                <a:spcPct val="200000"/>
              </a:lnSpc>
              <a:spcBef>
                <a:spcPct val="0"/>
              </a:spcBef>
              <a:buFont typeface="Wingdings" panose="05000000000000000000" pitchFamily="2" charset="2"/>
              <a:buChar char="Ø"/>
            </a:pPr>
            <a:r>
              <a:rPr lang="zh-CN" altLang="en-US" sz="2800" b="1" dirty="0">
                <a:latin typeface="微软雅黑" panose="020B0503020204020204" charset="-122"/>
                <a:ea typeface="微软雅黑" panose="020B0503020204020204" charset="-122"/>
                <a:sym typeface="+mn-ea"/>
              </a:rPr>
              <a:t>   背景介绍</a:t>
            </a:r>
            <a:endParaRPr lang="en-US" altLang="zh-CN" sz="2800" b="1" dirty="0">
              <a:latin typeface="微软雅黑" panose="020B0503020204020204" charset="-122"/>
              <a:ea typeface="微软雅黑" panose="020B0503020204020204" charset="-122"/>
              <a:sym typeface="+mn-ea"/>
            </a:endParaRPr>
          </a:p>
          <a:p>
            <a:pPr>
              <a:lnSpc>
                <a:spcPct val="200000"/>
              </a:lnSpc>
              <a:spcBef>
                <a:spcPct val="0"/>
              </a:spcBef>
              <a:buFont typeface="Wingdings" panose="05000000000000000000" pitchFamily="2" charset="2"/>
              <a:buChar char="Ø"/>
            </a:pPr>
            <a:r>
              <a:rPr lang="en-US" altLang="zh-CN" sz="2800" b="1" dirty="0">
                <a:latin typeface="微软雅黑" panose="020B0503020204020204" charset="-122"/>
                <a:ea typeface="微软雅黑" panose="020B0503020204020204" charset="-122"/>
                <a:sym typeface="+mn-ea"/>
              </a:rPr>
              <a:t>   </a:t>
            </a:r>
            <a:r>
              <a:rPr lang="zh-CN" altLang="en-US" sz="2800" b="1" dirty="0">
                <a:latin typeface="微软雅黑" panose="020B0503020204020204" charset="-122"/>
                <a:ea typeface="微软雅黑" panose="020B0503020204020204" charset="-122"/>
                <a:sym typeface="+mn-ea"/>
              </a:rPr>
              <a:t>功能简介</a:t>
            </a:r>
            <a:endParaRPr lang="en-US" altLang="zh-CN" sz="2800" b="1" dirty="0">
              <a:latin typeface="微软雅黑" panose="020B0503020204020204" charset="-122"/>
              <a:ea typeface="微软雅黑" panose="020B0503020204020204" charset="-122"/>
              <a:sym typeface="+mn-ea"/>
            </a:endParaRPr>
          </a:p>
          <a:p>
            <a:pPr>
              <a:lnSpc>
                <a:spcPct val="200000"/>
              </a:lnSpc>
              <a:spcBef>
                <a:spcPct val="0"/>
              </a:spcBef>
              <a:buFont typeface="Wingdings" panose="05000000000000000000" pitchFamily="2" charset="2"/>
              <a:buChar char="Ø"/>
            </a:pPr>
            <a:r>
              <a:rPr lang="zh-CN" altLang="en-US" sz="2800" b="1" dirty="0">
                <a:latin typeface="微软雅黑" panose="020B0503020204020204" charset="-122"/>
                <a:ea typeface="微软雅黑" panose="020B0503020204020204" charset="-122"/>
              </a:rPr>
              <a:t>   </a:t>
            </a:r>
            <a:r>
              <a:rPr lang="zh-CN" altLang="en-US" sz="2800" b="1" dirty="0">
                <a:latin typeface="微软雅黑" panose="020B0503020204020204" charset="-122"/>
                <a:ea typeface="微软雅黑" panose="020B0503020204020204" charset="-122"/>
                <a:sym typeface="+mn-ea"/>
              </a:rPr>
              <a:t>核心模块</a:t>
            </a:r>
            <a:endParaRPr lang="en-US" altLang="zh-CN" sz="2800" b="1" dirty="0">
              <a:latin typeface="微软雅黑" panose="020B0503020204020204" charset="-122"/>
              <a:ea typeface="微软雅黑" panose="020B0503020204020204" charset="-122"/>
              <a:sym typeface="+mn-ea"/>
            </a:endParaRPr>
          </a:p>
          <a:p>
            <a:pPr>
              <a:lnSpc>
                <a:spcPct val="200000"/>
              </a:lnSpc>
              <a:spcBef>
                <a:spcPct val="0"/>
              </a:spcBef>
              <a:buFont typeface="Wingdings" panose="05000000000000000000" pitchFamily="2" charset="2"/>
              <a:buChar char="Ø"/>
            </a:pPr>
            <a:r>
              <a:rPr lang="zh-CN" altLang="en-US" sz="2800" b="1" dirty="0">
                <a:latin typeface="微软雅黑" panose="020B0503020204020204" charset="-122"/>
                <a:ea typeface="微软雅黑" panose="020B0503020204020204" charset="-122"/>
              </a:rPr>
              <a:t>   拓展模块</a:t>
            </a:r>
            <a:endParaRPr lang="en-US" altLang="zh-CN" sz="2800" b="1" dirty="0">
              <a:latin typeface="微软雅黑" panose="020B0503020204020204" charset="-122"/>
              <a:ea typeface="微软雅黑" panose="020B0503020204020204" charset="-122"/>
            </a:endParaRPr>
          </a:p>
          <a:p>
            <a:pPr>
              <a:lnSpc>
                <a:spcPct val="200000"/>
              </a:lnSpc>
              <a:spcBef>
                <a:spcPct val="0"/>
              </a:spcBef>
              <a:buFont typeface="Wingdings" panose="05000000000000000000" pitchFamily="2" charset="2"/>
              <a:buChar char="Ø"/>
            </a:pPr>
            <a:r>
              <a:rPr lang="zh-CN" altLang="en-US" sz="2800" b="1" dirty="0">
                <a:latin typeface="微软雅黑" panose="020B0503020204020204" charset="-122"/>
                <a:ea typeface="微软雅黑" panose="020B0503020204020204" charset="-122"/>
              </a:rPr>
              <a:t>   小组规划</a:t>
            </a:r>
            <a:endParaRPr lang="en-US" altLang="zh-CN" sz="2800"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905" y="2103120"/>
            <a:ext cx="10515600" cy="1325563"/>
          </a:xfrm>
        </p:spPr>
        <p:txBody>
          <a:bodyPr/>
          <a:lstStyle/>
          <a:p>
            <a:r>
              <a:rPr lang="en-US" altLang="zh-CN" b="1" dirty="0">
                <a:latin typeface="微软雅黑" panose="020B0503020204020204" charset="-122"/>
                <a:ea typeface="微软雅黑" panose="020B0503020204020204" charset="-122"/>
                <a:sym typeface="+mn-ea"/>
              </a:rPr>
              <a:t>                   Part1   </a:t>
            </a:r>
            <a:r>
              <a:rPr lang="zh-CN" altLang="en-US" b="1" dirty="0">
                <a:latin typeface="微软雅黑" panose="020B0503020204020204" charset="-122"/>
                <a:ea typeface="微软雅黑" panose="020B0503020204020204" charset="-122"/>
                <a:sym typeface="+mn-ea"/>
              </a:rPr>
              <a:t>背景介绍</a:t>
            </a:r>
            <a:r>
              <a:rPr lang="en-US" altLang="zh-CN" b="1" dirty="0">
                <a:latin typeface="微软雅黑" panose="020B0503020204020204" charset="-122"/>
                <a:ea typeface="微软雅黑" panose="020B0503020204020204" charset="-122"/>
                <a:sym typeface="+mn-ea"/>
              </a:rPr>
              <a:t>                      </a:t>
            </a:r>
            <a:br>
              <a:rPr lang="en-US" altLang="zh-CN" sz="4000" b="1" dirty="0">
                <a:latin typeface="宋体" pitchFamily="2" charset="-122"/>
                <a:ea typeface="宋体" pitchFamily="2" charset="-122"/>
                <a:cs typeface="宋体" pitchFamily="2" charset="-122"/>
                <a:sym typeface="+mn-ea"/>
              </a:rPr>
            </a:br>
            <a:br>
              <a:rPr lang="en-US" altLang="zh-CN" sz="4000" b="1" dirty="0">
                <a:latin typeface="宋体" pitchFamily="2" charset="-122"/>
                <a:ea typeface="宋体" pitchFamily="2" charset="-122"/>
                <a:cs typeface="宋体" pitchFamily="2" charset="-122"/>
                <a:sym typeface="+mn-ea"/>
              </a:rPr>
            </a:br>
            <a:r>
              <a:rPr lang="en-US" altLang="zh-CN" sz="4000" b="1" dirty="0">
                <a:latin typeface="宋体" pitchFamily="2" charset="-122"/>
                <a:ea typeface="宋体" pitchFamily="2" charset="-122"/>
                <a:cs typeface="宋体" pitchFamily="2" charset="-122"/>
                <a:sym typeface="+mn-ea"/>
              </a:rPr>
              <a:t>    </a:t>
            </a:r>
            <a:endParaRPr lang="en-US" altLang="zh-CN" sz="4000" b="1" dirty="0">
              <a:latin typeface="宋体" pitchFamily="2" charset="-122"/>
              <a:ea typeface="宋体" pitchFamily="2" charset="-122"/>
              <a:cs typeface="宋体"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设计背景</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文本框 11"/>
          <p:cNvSpPr txBox="1"/>
          <p:nvPr/>
        </p:nvSpPr>
        <p:spPr>
          <a:xfrm>
            <a:off x="4952365" y="5345430"/>
            <a:ext cx="4160520" cy="379095"/>
          </a:xfrm>
          <a:prstGeom prst="rect">
            <a:avLst/>
          </a:prstGeom>
          <a:noFill/>
        </p:spPr>
        <p:txBody>
          <a:bodyPr wrap="square" rtlCol="0">
            <a:noAutofit/>
          </a:bodyPr>
          <a:lstStyle/>
          <a:p>
            <a:endParaRPr lang="zh-CN" altLang="en-US" sz="1600" dirty="0"/>
          </a:p>
        </p:txBody>
      </p:sp>
      <p:sp>
        <p:nvSpPr>
          <p:cNvPr id="9" name="矩形 27"/>
          <p:cNvSpPr>
            <a:spLocks noChangeArrowheads="1"/>
          </p:cNvSpPr>
          <p:nvPr>
            <p:custDataLst>
              <p:tags r:id="rId1"/>
            </p:custDataLst>
          </p:nvPr>
        </p:nvSpPr>
        <p:spPr bwMode="auto">
          <a:xfrm>
            <a:off x="1072515" y="1388745"/>
            <a:ext cx="5602605" cy="4278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altLang="en-US" sz="2000" b="1" dirty="0">
                <a:latin typeface="微软雅黑" panose="020B0503020204020204" charset="-122"/>
                <a:ea typeface="微软雅黑" panose="020B0503020204020204" charset="-122"/>
                <a:cs typeface="Times New Roman" panose="02020603050405020304" pitchFamily="18" charset="0"/>
              </a:rPr>
              <a:t>背景介绍</a:t>
            </a:r>
            <a:endParaRPr lang="en-US" altLang="zh-CN" sz="1700" b="1" dirty="0">
              <a:latin typeface="微软雅黑" panose="020B0503020204020204" charset="-122"/>
              <a:ea typeface="微软雅黑" panose="020B0503020204020204" charset="-122"/>
              <a:cs typeface="Times New Roman" panose="02020603050405020304" pitchFamily="18" charset="0"/>
            </a:endParaRPr>
          </a:p>
          <a:p>
            <a:pPr>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defRPr/>
            </a:pPr>
            <a:r>
              <a:rPr lang="zh-CN" altLang="en-US" sz="1800" kern="100" dirty="0">
                <a:effectLst/>
                <a:latin typeface="微软雅黑" panose="020B0503020204020204" charset="-122"/>
                <a:ea typeface="微软雅黑" panose="020B0503020204020204" charset="-122"/>
                <a:cs typeface="Times New Roman" panose="02020603050405020304" pitchFamily="18" charset="0"/>
              </a:rPr>
              <a:t>随着时代的发展，数字化进程加快，传统按键遥控器遥控模式上可供选择的按键越来越多，老人使用的时候或许会有些不适应。</a:t>
            </a:r>
            <a:endParaRPr lang="zh-CN" altLang="en-US" sz="1800"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defRPr/>
            </a:pPr>
            <a:r>
              <a:rPr lang="zh-CN" altLang="en-US" sz="1800" kern="100" dirty="0">
                <a:effectLst/>
                <a:latin typeface="微软雅黑" panose="020B0503020204020204" charset="-122"/>
                <a:ea typeface="微软雅黑" panose="020B0503020204020204" charset="-122"/>
                <a:cs typeface="Times New Roman" panose="02020603050405020304" pitchFamily="18" charset="0"/>
              </a:rPr>
              <a:t>能否让老人以更简单的方式遥控其他物品？基于这个问题，我们设计了</a:t>
            </a:r>
            <a:r>
              <a:rPr lang="en-US" altLang="zh-CN" sz="18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1800" kern="100" dirty="0">
                <a:effectLst/>
                <a:latin typeface="微软雅黑" panose="020B0503020204020204" charset="-122"/>
                <a:ea typeface="微软雅黑" panose="020B0503020204020204" charset="-122"/>
                <a:cs typeface="Times New Roman" panose="02020603050405020304" pitchFamily="18" charset="0"/>
              </a:rPr>
              <a:t>手势遥控系统</a:t>
            </a:r>
            <a:r>
              <a:rPr lang="en-US" altLang="zh-CN" sz="18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1800" kern="100" dirty="0">
                <a:effectLst/>
                <a:latin typeface="微软雅黑" panose="020B0503020204020204" charset="-122"/>
                <a:ea typeface="微软雅黑" panose="020B0503020204020204" charset="-122"/>
                <a:cs typeface="Times New Roman" panose="02020603050405020304" pitchFamily="18" charset="0"/>
              </a:rPr>
              <a:t>，其中，我们将被控对象设为</a:t>
            </a:r>
            <a:r>
              <a:rPr lang="en-US" altLang="zh-CN" sz="18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1800" kern="100" dirty="0">
                <a:effectLst/>
                <a:latin typeface="微软雅黑" panose="020B0503020204020204" charset="-122"/>
                <a:ea typeface="微软雅黑" panose="020B0503020204020204" charset="-122"/>
                <a:cs typeface="Times New Roman" panose="02020603050405020304" pitchFamily="18" charset="0"/>
              </a:rPr>
              <a:t>音乐播放器</a:t>
            </a:r>
            <a:r>
              <a:rPr lang="en-US" altLang="zh-CN" sz="18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1800" kern="100" dirty="0">
                <a:effectLst/>
                <a:latin typeface="微软雅黑" panose="020B0503020204020204" charset="-122"/>
                <a:ea typeface="微软雅黑" panose="020B0503020204020204" charset="-122"/>
                <a:cs typeface="Times New Roman" panose="02020603050405020304" pitchFamily="18" charset="0"/>
              </a:rPr>
              <a:t>，以其为例，来验证我们的</a:t>
            </a:r>
            <a:r>
              <a:rPr lang="en-US" altLang="zh-CN" sz="18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1800" kern="100" dirty="0">
                <a:effectLst/>
                <a:latin typeface="微软雅黑" panose="020B0503020204020204" charset="-122"/>
                <a:ea typeface="微软雅黑" panose="020B0503020204020204" charset="-122"/>
                <a:cs typeface="Times New Roman" panose="02020603050405020304" pitchFamily="18" charset="0"/>
              </a:rPr>
              <a:t>手势遥控系统</a:t>
            </a:r>
            <a:r>
              <a:rPr lang="en-US" altLang="zh-CN" sz="18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1800" kern="100" dirty="0">
                <a:effectLst/>
                <a:latin typeface="微软雅黑" panose="020B0503020204020204" charset="-122"/>
                <a:ea typeface="微软雅黑" panose="020B0503020204020204" charset="-122"/>
                <a:cs typeface="Times New Roman" panose="02020603050405020304" pitchFamily="18" charset="0"/>
              </a:rPr>
              <a:t>的可行性</a:t>
            </a:r>
            <a:endParaRPr lang="en-US" altLang="zh-CN" sz="1800" b="1" kern="100" dirty="0">
              <a:solidFill>
                <a:srgbClr val="FF0000"/>
              </a:solidFill>
              <a:effectLst/>
              <a:latin typeface="微软雅黑" panose="020B0503020204020204" charset="-122"/>
              <a:ea typeface="微软雅黑" panose="020B0503020204020204" charset="-122"/>
              <a:cs typeface="Times New Roman" panose="02020603050405020304" pitchFamily="18" charset="0"/>
            </a:endParaRPr>
          </a:p>
        </p:txBody>
      </p:sp>
      <p:pic>
        <p:nvPicPr>
          <p:cNvPr id="100" name="图片 99"/>
          <p:cNvPicPr/>
          <p:nvPr>
            <p:custDataLst>
              <p:tags r:id="rId2"/>
            </p:custDataLst>
          </p:nvPr>
        </p:nvPicPr>
        <p:blipFill>
          <a:blip r:embed="rId3"/>
          <a:stretch>
            <a:fillRect/>
          </a:stretch>
        </p:blipFill>
        <p:spPr>
          <a:xfrm>
            <a:off x="7251700" y="1535430"/>
            <a:ext cx="3810000" cy="381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3905" y="2103120"/>
            <a:ext cx="10494645" cy="1325563"/>
          </a:xfrm>
        </p:spPr>
        <p:txBody>
          <a:bodyPr/>
          <a:lstStyle/>
          <a:p>
            <a:r>
              <a:rPr lang="en-US" altLang="zh-CN" b="1" dirty="0">
                <a:latin typeface="微软雅黑" panose="020B0503020204020204" charset="-122"/>
                <a:ea typeface="微软雅黑" panose="020B0503020204020204" charset="-122"/>
                <a:sym typeface="+mn-ea"/>
              </a:rPr>
              <a:t>                   Part2   </a:t>
            </a:r>
            <a:r>
              <a:rPr lang="zh-CN" altLang="en-US" b="1" dirty="0">
                <a:latin typeface="微软雅黑" panose="020B0503020204020204" charset="-122"/>
                <a:ea typeface="微软雅黑" panose="020B0503020204020204" charset="-122"/>
                <a:sym typeface="+mn-ea"/>
              </a:rPr>
              <a:t>功能简介</a:t>
            </a:r>
            <a:br>
              <a:rPr lang="en-US" altLang="zh-CN" b="1" dirty="0">
                <a:latin typeface="微软雅黑" panose="020B0503020204020204" charset="-122"/>
                <a:ea typeface="微软雅黑" panose="020B0503020204020204" charset="-122"/>
                <a:sym typeface="+mn-ea"/>
              </a:rPr>
            </a:br>
            <a:br>
              <a:rPr lang="en-US" altLang="zh-CN" b="1" dirty="0">
                <a:latin typeface="微软雅黑" panose="020B0503020204020204" charset="-122"/>
                <a:ea typeface="微软雅黑" panose="020B0503020204020204" charset="-122"/>
                <a:sym typeface="+mn-ea"/>
              </a:rPr>
            </a:br>
            <a:br>
              <a:rPr lang="en-US" altLang="zh-CN" b="1" dirty="0">
                <a:latin typeface="微软雅黑" panose="020B0503020204020204" charset="-122"/>
                <a:ea typeface="微软雅黑" panose="020B0503020204020204" charset="-122"/>
                <a:sym typeface="+mn-ea"/>
              </a:rPr>
            </a:br>
            <a:r>
              <a:rPr lang="en-US" altLang="zh-CN" sz="4000" b="1" dirty="0">
                <a:latin typeface="宋体" pitchFamily="2" charset="-122"/>
                <a:ea typeface="宋体" pitchFamily="2" charset="-122"/>
                <a:cs typeface="宋体" pitchFamily="2" charset="-122"/>
                <a:sym typeface="+mn-ea"/>
              </a:rPr>
              <a:t>   </a:t>
            </a:r>
            <a:endParaRPr lang="en-US" altLang="zh-CN" sz="4000" b="1" dirty="0">
              <a:latin typeface="宋体" pitchFamily="2" charset="-122"/>
              <a:ea typeface="宋体" pitchFamily="2" charset="-122"/>
              <a:cs typeface="宋体"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两种功能的简介</a:t>
              </a:r>
              <a:endParaRPr lang="zh-CN" altLang="en-US"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5073650" y="3271837"/>
            <a:ext cx="2661920" cy="2546350"/>
          </a:xfrm>
          <a:prstGeom prst="rect">
            <a:avLst/>
          </a:prstGeom>
          <a:noFill/>
        </p:spPr>
        <p:txBody>
          <a:bodyPr wrap="square" rtlCol="0">
            <a:noAutofit/>
          </a:bodyPr>
          <a:lstStyle/>
          <a:p>
            <a:r>
              <a:rPr lang="zh-CN" altLang="en-US" dirty="0">
                <a:solidFill>
                  <a:srgbClr val="005BBB"/>
                </a:solidFill>
                <a:sym typeface="+mn-ea"/>
              </a:rPr>
              <a:t>■拓展模块</a:t>
            </a:r>
            <a:endParaRPr lang="zh-CN" altLang="en-US" dirty="0">
              <a:solidFill>
                <a:srgbClr val="005BBB"/>
              </a:solidFill>
              <a:sym typeface="+mn-ea"/>
            </a:endParaRPr>
          </a:p>
          <a:p>
            <a:endParaRPr lang="zh-CN" altLang="en-US" dirty="0"/>
          </a:p>
        </p:txBody>
      </p:sp>
      <p:sp>
        <p:nvSpPr>
          <p:cNvPr id="4" name="内容占位符 3"/>
          <p:cNvSpPr>
            <a:spLocks noGrp="1"/>
          </p:cNvSpPr>
          <p:nvPr>
            <p:ph idx="1"/>
          </p:nvPr>
        </p:nvSpPr>
        <p:spPr>
          <a:xfrm>
            <a:off x="679450" y="1355090"/>
            <a:ext cx="4018280" cy="4967605"/>
          </a:xfrm>
        </p:spPr>
        <p:txBody>
          <a:bodyPr/>
          <a:lstStyle/>
          <a:p>
            <a:pPr>
              <a:lnSpc>
                <a:spcPct val="100000"/>
              </a:lnSpc>
            </a:pPr>
            <a:r>
              <a:rPr lang="zh-CN" sz="2000" dirty="0">
                <a:latin typeface="微软雅黑" panose="020B0503020204020204" charset="-122"/>
                <a:ea typeface="微软雅黑" panose="020B0503020204020204" charset="-122"/>
              </a:rPr>
              <a:t>在本次实验中，我们将先进行核心模块的连接，通过对能否实现核心功能的验证来验证各模块之间的正确性与可连接性，之后，我们将进行拓展功能的设计。</a:t>
            </a:r>
            <a:endParaRPr lang="zh-CN" sz="2000" dirty="0">
              <a:latin typeface="微软雅黑" panose="020B0503020204020204" charset="-122"/>
              <a:ea typeface="微软雅黑" panose="020B0503020204020204" charset="-122"/>
            </a:endParaRPr>
          </a:p>
          <a:p>
            <a:pPr marL="0" indent="0">
              <a:lnSpc>
                <a:spcPct val="100000"/>
              </a:lnSpc>
              <a:buNone/>
            </a:pPr>
            <a:endParaRPr lang="zh-CN" sz="2000" dirty="0">
              <a:latin typeface="微软雅黑" panose="020B0503020204020204" charset="-122"/>
              <a:ea typeface="微软雅黑" panose="020B0503020204020204" charset="-122"/>
            </a:endParaRPr>
          </a:p>
          <a:p>
            <a:pPr>
              <a:lnSpc>
                <a:spcPct val="100000"/>
              </a:lnSpc>
            </a:pPr>
            <a:r>
              <a:rPr lang="zh-CN" sz="2000" dirty="0">
                <a:latin typeface="微软雅黑" panose="020B0503020204020204" charset="-122"/>
                <a:ea typeface="微软雅黑" panose="020B0503020204020204" charset="-122"/>
              </a:rPr>
              <a:t>核心功能：监测判别监测对象是否进行了一次</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手指移动</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，若是，则播放一首音乐，否则不播放。</a:t>
            </a:r>
            <a:endParaRPr lang="zh-CN" altLang="en-US" sz="2000" dirty="0">
              <a:latin typeface="微软雅黑" panose="020B0503020204020204" charset="-122"/>
              <a:ea typeface="微软雅黑" panose="020B0503020204020204" charset="-122"/>
            </a:endParaRPr>
          </a:p>
          <a:p>
            <a:pPr>
              <a:lnSpc>
                <a:spcPct val="100000"/>
              </a:lnSpc>
            </a:pPr>
            <a:r>
              <a:rPr lang="zh-CN" altLang="en-US" sz="2000" dirty="0">
                <a:latin typeface="微软雅黑" panose="020B0503020204020204" charset="-122"/>
                <a:ea typeface="微软雅黑" panose="020B0503020204020204" charset="-122"/>
              </a:rPr>
              <a:t>拓展功能：监测判别监测对象的一个</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多手指移动</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组合，并播放该</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组合</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相对应的音乐</a:t>
            </a:r>
            <a:endParaRPr lang="en-US" altLang="zh-CN" sz="2000" dirty="0">
              <a:latin typeface="微软雅黑" panose="020B0503020204020204" charset="-122"/>
              <a:ea typeface="微软雅黑" panose="020B0503020204020204" charset="-122"/>
            </a:endParaRPr>
          </a:p>
        </p:txBody>
      </p:sp>
      <p:sp>
        <p:nvSpPr>
          <p:cNvPr id="10" name="文本框 9"/>
          <p:cNvSpPr txBox="1"/>
          <p:nvPr/>
        </p:nvSpPr>
        <p:spPr>
          <a:xfrm>
            <a:off x="5073650" y="1516804"/>
            <a:ext cx="7442200" cy="368300"/>
          </a:xfrm>
          <a:prstGeom prst="rect">
            <a:avLst/>
          </a:prstGeom>
          <a:noFill/>
        </p:spPr>
        <p:txBody>
          <a:bodyPr wrap="square">
            <a:spAutoFit/>
          </a:bodyPr>
          <a:lstStyle/>
          <a:p>
            <a:r>
              <a:rPr lang="zh-CN" altLang="en-US" dirty="0">
                <a:solidFill>
                  <a:srgbClr val="005BBB"/>
                </a:solidFill>
                <a:sym typeface="+mn-ea"/>
              </a:rPr>
              <a:t>■核心模块</a:t>
            </a:r>
            <a:endParaRPr lang="zh-CN" altLang="en-US" dirty="0"/>
          </a:p>
        </p:txBody>
      </p:sp>
      <p:pic>
        <p:nvPicPr>
          <p:cNvPr id="14" name="图片 13" descr="未命名文件 (1)"/>
          <p:cNvPicPr>
            <a:picLocks noChangeAspect="1"/>
          </p:cNvPicPr>
          <p:nvPr/>
        </p:nvPicPr>
        <p:blipFill>
          <a:blip r:embed="rId1"/>
          <a:stretch>
            <a:fillRect/>
          </a:stretch>
        </p:blipFill>
        <p:spPr>
          <a:xfrm>
            <a:off x="5101590" y="3726180"/>
            <a:ext cx="5364480" cy="2397125"/>
          </a:xfrm>
          <a:prstGeom prst="rect">
            <a:avLst/>
          </a:prstGeom>
        </p:spPr>
      </p:pic>
      <p:pic>
        <p:nvPicPr>
          <p:cNvPr id="2" name="图片 1" descr="未命名文件 (2)"/>
          <p:cNvPicPr>
            <a:picLocks noChangeAspect="1"/>
          </p:cNvPicPr>
          <p:nvPr/>
        </p:nvPicPr>
        <p:blipFill>
          <a:blip r:embed="rId2"/>
          <a:stretch>
            <a:fillRect/>
          </a:stretch>
        </p:blipFill>
        <p:spPr>
          <a:xfrm>
            <a:off x="5013960" y="2018665"/>
            <a:ext cx="6899910" cy="9975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预期成果示意图</a:t>
              </a:r>
              <a:endParaRPr lang="zh-CN" altLang="en-US"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stretch>
            <a:fillRect/>
          </a:stretch>
        </p:blipFill>
        <p:spPr>
          <a:xfrm>
            <a:off x="1070610" y="-8210550"/>
            <a:ext cx="1554304" cy="3600000"/>
          </a:xfrm>
          <a:prstGeom prst="rect">
            <a:avLst/>
          </a:prstGeom>
        </p:spPr>
      </p:pic>
      <p:pic>
        <p:nvPicPr>
          <p:cNvPr id="9" name="图片 8"/>
          <p:cNvPicPr>
            <a:picLocks noChangeAspect="1"/>
          </p:cNvPicPr>
          <p:nvPr/>
        </p:nvPicPr>
        <p:blipFill>
          <a:blip r:embed="rId1"/>
          <a:stretch>
            <a:fillRect/>
          </a:stretch>
        </p:blipFill>
        <p:spPr>
          <a:xfrm rot="16200000">
            <a:off x="3782695" y="-988695"/>
            <a:ext cx="4116070" cy="95364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4005" y="2103437"/>
            <a:ext cx="10494645" cy="1325563"/>
          </a:xfrm>
        </p:spPr>
        <p:txBody>
          <a:bodyPr/>
          <a:lstStyle/>
          <a:p>
            <a:r>
              <a:rPr lang="en-US" altLang="zh-CN" b="1" dirty="0">
                <a:latin typeface="微软雅黑" panose="020B0503020204020204" charset="-122"/>
                <a:ea typeface="微软雅黑" panose="020B0503020204020204" charset="-122"/>
                <a:sym typeface="+mn-ea"/>
              </a:rPr>
              <a:t>                   Part3   </a:t>
            </a:r>
            <a:r>
              <a:rPr lang="zh-CN" altLang="en-US" b="1" dirty="0">
                <a:latin typeface="微软雅黑" panose="020B0503020204020204" charset="-122"/>
                <a:ea typeface="微软雅黑" panose="020B0503020204020204" charset="-122"/>
                <a:sym typeface="+mn-ea"/>
              </a:rPr>
              <a:t>核心模块介绍</a:t>
            </a:r>
            <a:br>
              <a:rPr lang="en-US" altLang="zh-CN" b="1" dirty="0">
                <a:latin typeface="微软雅黑" panose="020B0503020204020204" charset="-122"/>
                <a:ea typeface="微软雅黑" panose="020B0503020204020204" charset="-122"/>
                <a:sym typeface="+mn-ea"/>
              </a:rPr>
            </a:br>
            <a:br>
              <a:rPr lang="en-US" altLang="zh-CN" b="1" dirty="0">
                <a:latin typeface="微软雅黑" panose="020B0503020204020204" charset="-122"/>
                <a:ea typeface="微软雅黑" panose="020B0503020204020204" charset="-122"/>
                <a:sym typeface="+mn-ea"/>
              </a:rPr>
            </a:br>
            <a:br>
              <a:rPr lang="en-US" altLang="zh-CN" b="1" dirty="0">
                <a:latin typeface="微软雅黑" panose="020B0503020204020204" charset="-122"/>
                <a:ea typeface="微软雅黑" panose="020B0503020204020204" charset="-122"/>
                <a:sym typeface="+mn-ea"/>
              </a:rPr>
            </a:br>
            <a:r>
              <a:rPr lang="en-US" altLang="zh-CN" sz="4000" b="1" dirty="0">
                <a:latin typeface="宋体" pitchFamily="2" charset="-122"/>
                <a:ea typeface="宋体" pitchFamily="2" charset="-122"/>
                <a:cs typeface="宋体" pitchFamily="2" charset="-122"/>
                <a:sym typeface="+mn-ea"/>
              </a:rPr>
              <a:t>   </a:t>
            </a:r>
            <a:endParaRPr lang="en-US" altLang="zh-CN" sz="4000" b="1" dirty="0">
              <a:latin typeface="宋体" pitchFamily="2" charset="-122"/>
              <a:ea typeface="宋体" pitchFamily="2" charset="-122"/>
              <a:cs typeface="宋体" pitchFamily="2" charset="-122"/>
              <a:sym typeface="+mn-ea"/>
            </a:endParaRPr>
          </a:p>
        </p:txBody>
      </p:sp>
      <p:pic>
        <p:nvPicPr>
          <p:cNvPr id="4" name="图片 3" descr="未命名文件 (2)"/>
          <p:cNvPicPr>
            <a:picLocks noChangeAspect="1"/>
          </p:cNvPicPr>
          <p:nvPr>
            <p:custDataLst>
              <p:tags r:id="rId1"/>
            </p:custDataLst>
          </p:nvPr>
        </p:nvPicPr>
        <p:blipFill>
          <a:blip r:embed="rId2"/>
          <a:stretch>
            <a:fillRect/>
          </a:stretch>
        </p:blipFill>
        <p:spPr>
          <a:xfrm>
            <a:off x="1745615" y="3110865"/>
            <a:ext cx="9380855" cy="13563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3.1</a:t>
              </a:r>
              <a:r>
                <a:rPr lang="zh-CN" altLang="en-US" sz="2400" b="1" dirty="0">
                  <a:latin typeface="微软雅黑" panose="020B0503020204020204" charset="-122"/>
                  <a:ea typeface="微软雅黑" panose="020B0503020204020204" charset="-122"/>
                </a:rPr>
                <a:t>加速度处理模块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1072515" y="1388745"/>
            <a:ext cx="3966845" cy="4278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altLang="en-US" sz="2000" b="1" dirty="0">
                <a:latin typeface="微软雅黑" panose="020B0503020204020204" charset="-122"/>
                <a:ea typeface="微软雅黑" panose="020B0503020204020204" charset="-122"/>
                <a:cs typeface="Times New Roman" panose="02020603050405020304" pitchFamily="18" charset="0"/>
              </a:rPr>
              <a:t>功能介绍</a:t>
            </a:r>
            <a:endParaRPr lang="en-US" altLang="zh-CN" sz="1700" b="1" dirty="0">
              <a:latin typeface="微软雅黑" panose="020B0503020204020204" charset="-122"/>
              <a:ea typeface="微软雅黑" panose="020B0503020204020204" charset="-122"/>
              <a:cs typeface="Times New Roman" panose="02020603050405020304" pitchFamily="18" charset="0"/>
            </a:endParaRPr>
          </a:p>
          <a:p>
            <a:pPr>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a:p>
            <a:pPr>
              <a:spcBef>
                <a:spcPct val="0"/>
              </a:spcBef>
              <a:buFontTx/>
              <a:buNone/>
              <a:defRPr/>
            </a:pPr>
            <a:r>
              <a:rPr lang="zh-CN" altLang="zh-CN" sz="1800" kern="100" dirty="0">
                <a:effectLst/>
                <a:latin typeface="微软雅黑" panose="020B0503020204020204" charset="-122"/>
                <a:ea typeface="微软雅黑" panose="020B0503020204020204" charset="-122"/>
                <a:cs typeface="Times New Roman" panose="02020603050405020304" pitchFamily="18" charset="0"/>
              </a:rPr>
              <a:t>通过判断手指加速度是否超过阈值，来判断是否进行了一次“手指移动”，若是，则输出一个时钟的高电平，否则输出低电平</a:t>
            </a:r>
            <a:r>
              <a:rPr lang="zh-CN" altLang="en-US" sz="1800" kern="100" dirty="0">
                <a:effectLst/>
                <a:latin typeface="微软雅黑" panose="020B0503020204020204" charset="-122"/>
                <a:ea typeface="微软雅黑" panose="020B0503020204020204" charset="-122"/>
                <a:cs typeface="Times New Roman" panose="02020603050405020304" pitchFamily="18" charset="0"/>
              </a:rPr>
              <a:t>。</a:t>
            </a:r>
            <a:endParaRPr lang="en-US" sz="1800" b="1"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pic>
        <p:nvPicPr>
          <p:cNvPr id="2" name="图片 1" descr="e9be787db1419771601be7b16c167ae7"/>
          <p:cNvPicPr>
            <a:picLocks noChangeAspect="1"/>
          </p:cNvPicPr>
          <p:nvPr/>
        </p:nvPicPr>
        <p:blipFill>
          <a:blip r:embed="rId1"/>
          <a:stretch>
            <a:fillRect/>
          </a:stretch>
        </p:blipFill>
        <p:spPr>
          <a:xfrm>
            <a:off x="5859145" y="1463675"/>
            <a:ext cx="3910965" cy="43326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3.1</a:t>
              </a:r>
              <a:r>
                <a:rPr lang="zh-CN" altLang="en-US" sz="2400" b="1" dirty="0">
                  <a:latin typeface="微软雅黑" panose="020B0503020204020204" charset="-122"/>
                  <a:ea typeface="微软雅黑" panose="020B0503020204020204" charset="-122"/>
                </a:rPr>
                <a:t>加速度处理模块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1072811" y="1299845"/>
            <a:ext cx="2814320" cy="3778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 </a:t>
            </a:r>
            <a:r>
              <a:rPr lang="zh-CN" altLang="zh-CN" sz="2000" b="1" kern="100" dirty="0">
                <a:effectLst/>
                <a:latin typeface="微软雅黑" panose="020B0503020204020204" charset="-122"/>
                <a:ea typeface="微软雅黑" panose="020B0503020204020204" charset="-122"/>
                <a:cs typeface="Times New Roman" panose="02020603050405020304" pitchFamily="18" charset="0"/>
              </a:rPr>
              <a:t>传感器选择</a:t>
            </a:r>
            <a:endParaRPr lang="en-US" sz="2000" b="1"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en-US" sz="1800" b="1"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1072515" y="2383790"/>
            <a:ext cx="3503295" cy="471170"/>
          </a:xfrm>
          <a:prstGeom prst="rect">
            <a:avLst/>
          </a:prstGeom>
          <a:noFill/>
        </p:spPr>
        <p:txBody>
          <a:bodyPr wrap="square" rtlCol="0">
            <a:noAutofit/>
          </a:bodyPr>
          <a:lstStyle/>
          <a:p>
            <a:r>
              <a:rPr lang="zh-CN" altLang="en-US" sz="1600" b="1" dirty="0">
                <a:latin typeface="微软雅黑" panose="020B0503020204020204" charset="-122"/>
                <a:ea typeface="微软雅黑" panose="020B0503020204020204" charset="-122"/>
                <a:cs typeface="微软雅黑" panose="020B0503020204020204" charset="-122"/>
              </a:rPr>
              <a:t> </a:t>
            </a:r>
            <a:r>
              <a:rPr lang="zh-CN" altLang="en-US" b="1" dirty="0">
                <a:latin typeface="微软雅黑" panose="020B0503020204020204" charset="-122"/>
                <a:ea typeface="微软雅黑" panose="020B0503020204020204" charset="-122"/>
                <a:cs typeface="微软雅黑" panose="020B0503020204020204" charset="-122"/>
              </a:rPr>
              <a:t>加速度传感器选择：</a:t>
            </a:r>
            <a:r>
              <a:rPr lang="en-US" altLang="zh-CN" b="1" dirty="0">
                <a:latin typeface="微软雅黑" panose="020B0503020204020204" charset="-122"/>
                <a:ea typeface="微软雅黑" panose="020B0503020204020204" charset="-122"/>
                <a:cs typeface="微软雅黑" panose="020B0503020204020204" charset="-122"/>
              </a:rPr>
              <a:t>ADXL345</a:t>
            </a:r>
            <a:endParaRPr lang="en-US" altLang="zh-CN" b="1" dirty="0">
              <a:latin typeface="微软雅黑" panose="020B0503020204020204" charset="-122"/>
              <a:ea typeface="微软雅黑" panose="020B0503020204020204" charset="-122"/>
              <a:cs typeface="微软雅黑" panose="020B0503020204020204" charset="-122"/>
            </a:endParaRPr>
          </a:p>
          <a:p>
            <a:r>
              <a:rPr lang="zh-CN" altLang="en-US" b="1" dirty="0">
                <a:latin typeface="微软雅黑" panose="020B0503020204020204" charset="-122"/>
                <a:ea typeface="微软雅黑" panose="020B0503020204020204" charset="-122"/>
                <a:cs typeface="微软雅黑" panose="020B0503020204020204" charset="-122"/>
              </a:rPr>
              <a:t>  </a:t>
            </a:r>
            <a:endParaRPr lang="en-US" altLang="zh-CN" b="1" dirty="0">
              <a:latin typeface="微软雅黑" panose="020B0503020204020204" charset="-122"/>
              <a:ea typeface="微软雅黑" panose="020B0503020204020204" charset="-122"/>
              <a:cs typeface="微软雅黑" panose="020B0503020204020204" charset="-122"/>
            </a:endParaRPr>
          </a:p>
          <a:p>
            <a:endParaRPr lang="zh-CN" altLang="en-US" sz="1600" b="1" dirty="0">
              <a:latin typeface="微软雅黑" panose="020B0503020204020204" charset="-122"/>
              <a:ea typeface="微软雅黑" panose="020B0503020204020204" charset="-122"/>
              <a:cs typeface="微软雅黑" panose="020B0503020204020204" charset="-122"/>
            </a:endParaRPr>
          </a:p>
        </p:txBody>
      </p:sp>
      <p:pic>
        <p:nvPicPr>
          <p:cNvPr id="10" name="图片 9" descr="260a544e26e91e1900a580c2c1b28f8a"/>
          <p:cNvPicPr>
            <a:picLocks noChangeAspect="1"/>
          </p:cNvPicPr>
          <p:nvPr/>
        </p:nvPicPr>
        <p:blipFill>
          <a:blip r:embed="rId1"/>
          <a:stretch>
            <a:fillRect/>
          </a:stretch>
        </p:blipFill>
        <p:spPr>
          <a:xfrm>
            <a:off x="6863715" y="1238250"/>
            <a:ext cx="5050155" cy="4968875"/>
          </a:xfrm>
          <a:prstGeom prst="rect">
            <a:avLst/>
          </a:prstGeom>
        </p:spPr>
      </p:pic>
      <p:pic>
        <p:nvPicPr>
          <p:cNvPr id="3" name="图片 2"/>
          <p:cNvPicPr>
            <a:picLocks noChangeAspect="1"/>
          </p:cNvPicPr>
          <p:nvPr/>
        </p:nvPicPr>
        <p:blipFill>
          <a:blip r:embed="rId2"/>
          <a:stretch>
            <a:fillRect/>
          </a:stretch>
        </p:blipFill>
        <p:spPr>
          <a:xfrm>
            <a:off x="234950" y="3618865"/>
            <a:ext cx="6463665" cy="2485390"/>
          </a:xfrm>
          <a:prstGeom prst="rect">
            <a:avLst/>
          </a:prstGeom>
        </p:spPr>
      </p:pic>
      <p:sp>
        <p:nvSpPr>
          <p:cNvPr id="9" name="文本框 8"/>
          <p:cNvSpPr txBox="1"/>
          <p:nvPr>
            <p:custDataLst>
              <p:tags r:id="rId3"/>
            </p:custDataLst>
          </p:nvPr>
        </p:nvSpPr>
        <p:spPr>
          <a:xfrm>
            <a:off x="1072515" y="2767965"/>
            <a:ext cx="3503295" cy="471170"/>
          </a:xfrm>
          <a:prstGeom prst="rect">
            <a:avLst/>
          </a:prstGeom>
          <a:noFill/>
        </p:spPr>
        <p:txBody>
          <a:bodyPr wrap="square" rtlCol="0">
            <a:noAutofit/>
          </a:bodyPr>
          <a:p>
            <a:r>
              <a:rPr lang="zh-CN" altLang="en-US" b="1" dirty="0">
                <a:latin typeface="微软雅黑" panose="020B0503020204020204" charset="-122"/>
                <a:ea typeface="微软雅黑" panose="020B0503020204020204" charset="-122"/>
                <a:cs typeface="微软雅黑" panose="020B0503020204020204" charset="-122"/>
              </a:rPr>
              <a:t> 模式选择：低频模式</a:t>
            </a:r>
            <a:endParaRPr lang="en-US" altLang="zh-CN" b="1" dirty="0">
              <a:latin typeface="微软雅黑" panose="020B0503020204020204" charset="-122"/>
              <a:ea typeface="微软雅黑" panose="020B0503020204020204" charset="-122"/>
              <a:cs typeface="微软雅黑" panose="020B0503020204020204" charset="-122"/>
            </a:endParaRPr>
          </a:p>
          <a:p>
            <a:r>
              <a:rPr lang="zh-CN" altLang="en-US" b="1" dirty="0">
                <a:latin typeface="微软雅黑" panose="020B0503020204020204" charset="-122"/>
                <a:ea typeface="微软雅黑" panose="020B0503020204020204" charset="-122"/>
                <a:cs typeface="微软雅黑" panose="020B0503020204020204" charset="-122"/>
              </a:rPr>
              <a:t>  </a:t>
            </a:r>
            <a:endParaRPr lang="en-US" altLang="zh-CN" b="1" dirty="0">
              <a:latin typeface="微软雅黑" panose="020B0503020204020204" charset="-122"/>
              <a:ea typeface="微软雅黑" panose="020B0503020204020204" charset="-122"/>
              <a:cs typeface="微软雅黑" panose="020B0503020204020204" charset="-122"/>
            </a:endParaRPr>
          </a:p>
          <a:p>
            <a:endParaRPr lang="zh-CN" altLang="en-US"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3.1</a:t>
              </a:r>
              <a:r>
                <a:rPr lang="zh-CN" altLang="en-US" sz="2400" b="1" dirty="0">
                  <a:latin typeface="微软雅黑" panose="020B0503020204020204" charset="-122"/>
                  <a:ea typeface="微软雅黑" panose="020B0503020204020204" charset="-122"/>
                </a:rPr>
                <a:t>加速度处理模块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1072515" y="1299845"/>
            <a:ext cx="3924935" cy="3778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 </a:t>
            </a:r>
            <a:r>
              <a:rPr lang="zh-CN" altLang="zh-CN" sz="2000" b="1" kern="100" dirty="0">
                <a:effectLst/>
                <a:latin typeface="微软雅黑" panose="020B0503020204020204" charset="-122"/>
                <a:ea typeface="微软雅黑" panose="020B0503020204020204" charset="-122"/>
                <a:cs typeface="Times New Roman" panose="02020603050405020304" pitchFamily="18" charset="0"/>
                <a:sym typeface="+mn-ea"/>
              </a:rPr>
              <a:t>通信</a:t>
            </a:r>
            <a:r>
              <a:rPr lang="zh-CN" altLang="zh-CN" sz="2000" b="1" kern="100" dirty="0">
                <a:effectLst/>
                <a:latin typeface="微软雅黑" panose="020B0503020204020204" charset="-122"/>
                <a:ea typeface="微软雅黑" panose="020B0503020204020204" charset="-122"/>
                <a:cs typeface="Times New Roman" panose="02020603050405020304" pitchFamily="18" charset="0"/>
              </a:rPr>
              <a:t>协议选择与状态图示例</a:t>
            </a:r>
            <a:endParaRPr lang="en-US" sz="2000" b="1"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en-US" sz="1800" b="1" dirty="0">
              <a:solidFill>
                <a:srgbClr val="FF0000"/>
              </a:solidFill>
              <a:latin typeface="微软雅黑" panose="020B0503020204020204" charset="-122"/>
              <a:ea typeface="微软雅黑" panose="020B0503020204020204" charset="-122"/>
              <a:cs typeface="Times New Roman" panose="02020603050405020304" pitchFamily="18" charset="0"/>
            </a:endParaRPr>
          </a:p>
        </p:txBody>
      </p:sp>
      <p:pic>
        <p:nvPicPr>
          <p:cNvPr id="3" name="图片 2" descr="1715509413420_91EC13BB-31A8-4f83-ABD9-B1F668162CDC"/>
          <p:cNvPicPr>
            <a:picLocks noChangeAspect="1"/>
          </p:cNvPicPr>
          <p:nvPr/>
        </p:nvPicPr>
        <p:blipFill>
          <a:blip r:embed="rId1"/>
          <a:stretch>
            <a:fillRect/>
          </a:stretch>
        </p:blipFill>
        <p:spPr>
          <a:xfrm>
            <a:off x="155575" y="2223150"/>
            <a:ext cx="8351483" cy="2575494"/>
          </a:xfrm>
          <a:prstGeom prst="rect">
            <a:avLst/>
          </a:prstGeom>
        </p:spPr>
      </p:pic>
      <p:sp>
        <p:nvSpPr>
          <p:cNvPr id="4" name="文本框 3"/>
          <p:cNvSpPr txBox="1"/>
          <p:nvPr/>
        </p:nvSpPr>
        <p:spPr>
          <a:xfrm>
            <a:off x="624205" y="4951095"/>
            <a:ext cx="7804150" cy="368300"/>
          </a:xfrm>
          <a:prstGeom prst="rect">
            <a:avLst/>
          </a:prstGeom>
          <a:noFill/>
        </p:spPr>
        <p:txBody>
          <a:bodyPr wrap="square" rtlCol="0">
            <a:spAutoFit/>
          </a:bodyPr>
          <a:p>
            <a:pPr algn="ctr"/>
            <a:r>
              <a:rPr lang="zh-CN" altLang="en-US" b="1" dirty="0">
                <a:latin typeface="微软雅黑" panose="020B0503020204020204" charset="-122"/>
                <a:ea typeface="微软雅黑" panose="020B0503020204020204" charset="-122"/>
                <a:cs typeface="微软雅黑" panose="020B0503020204020204" charset="-122"/>
                <a:sym typeface="+mn-ea"/>
              </a:rPr>
              <a:t>通信协议选择：</a:t>
            </a:r>
            <a:r>
              <a:rPr lang="en-US" altLang="zh-CN" b="1" dirty="0">
                <a:latin typeface="微软雅黑" panose="020B0503020204020204" charset="-122"/>
                <a:ea typeface="微软雅黑" panose="020B0503020204020204" charset="-122"/>
                <a:sym typeface="+mn-ea"/>
              </a:rPr>
              <a:t>I2C</a:t>
            </a:r>
            <a:r>
              <a:rPr lang="zh-CN" altLang="zh-CN" b="1" dirty="0">
                <a:latin typeface="微软雅黑" panose="020B0503020204020204" charset="-122"/>
                <a:ea typeface="微软雅黑" panose="020B0503020204020204" charset="-122"/>
                <a:sym typeface="+mn-ea"/>
              </a:rPr>
              <a:t>协议</a:t>
            </a:r>
            <a:endParaRPr lang="zh-CN" altLang="en-US"/>
          </a:p>
        </p:txBody>
      </p:sp>
      <p:pic>
        <p:nvPicPr>
          <p:cNvPr id="9" name="图片 3" descr="cf70b62eb80a75c6cf2df8b133d78eea"/>
          <p:cNvPicPr>
            <a:picLocks noChangeAspect="1"/>
          </p:cNvPicPr>
          <p:nvPr>
            <p:custDataLst>
              <p:tags r:id="rId2"/>
            </p:custDataLst>
          </p:nvPr>
        </p:nvPicPr>
        <p:blipFill>
          <a:blip r:embed="rId3"/>
          <a:stretch>
            <a:fillRect/>
          </a:stretch>
        </p:blipFill>
        <p:spPr>
          <a:xfrm>
            <a:off x="8611870" y="1824038"/>
            <a:ext cx="3439160" cy="3254375"/>
          </a:xfrm>
          <a:prstGeom prst="rect">
            <a:avLst/>
          </a:prstGeom>
        </p:spPr>
      </p:pic>
      <p:sp>
        <p:nvSpPr>
          <p:cNvPr id="11" name="文本框 10"/>
          <p:cNvSpPr txBox="1"/>
          <p:nvPr>
            <p:custDataLst>
              <p:tags r:id="rId4"/>
            </p:custDataLst>
          </p:nvPr>
        </p:nvSpPr>
        <p:spPr>
          <a:xfrm>
            <a:off x="8507095" y="5488940"/>
            <a:ext cx="3543935" cy="368300"/>
          </a:xfrm>
          <a:prstGeom prst="rect">
            <a:avLst/>
          </a:prstGeom>
          <a:noFill/>
        </p:spPr>
        <p:txBody>
          <a:bodyPr wrap="square" rtlCol="0">
            <a:spAutoFit/>
          </a:bodyPr>
          <a:p>
            <a:pPr algn="ctr"/>
            <a:r>
              <a:rPr lang="zh-CN" b="1" dirty="0">
                <a:latin typeface="微软雅黑" panose="020B0503020204020204" charset="-122"/>
                <a:ea typeface="微软雅黑" panose="020B0503020204020204" charset="-122"/>
                <a:cs typeface="微软雅黑" panose="020B0503020204020204" charset="-122"/>
                <a:sym typeface="+mn-ea"/>
              </a:rPr>
              <a:t>状态图举例</a:t>
            </a:r>
            <a:endParaRPr lang="zh-CN"/>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3.1</a:t>
              </a:r>
              <a:r>
                <a:rPr lang="zh-CN" altLang="en-US" sz="2400" b="1" dirty="0">
                  <a:latin typeface="微软雅黑" panose="020B0503020204020204" charset="-122"/>
                  <a:ea typeface="微软雅黑" panose="020B0503020204020204" charset="-122"/>
                </a:rPr>
                <a:t>加速度处理模块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1072811" y="1299845"/>
            <a:ext cx="2814320" cy="3778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 </a:t>
            </a:r>
            <a:r>
              <a:rPr lang="zh-CN" altLang="en-US" sz="2000" b="1" dirty="0">
                <a:latin typeface="微软雅黑" panose="020B0503020204020204" charset="-122"/>
                <a:ea typeface="微软雅黑" panose="020B0503020204020204" charset="-122"/>
              </a:rPr>
              <a:t>实现步骤</a:t>
            </a:r>
            <a:endParaRPr lang="en-US" sz="2000" b="1" dirty="0">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1746346" y="4005430"/>
            <a:ext cx="2247625" cy="1919063"/>
          </a:xfrm>
          <a:prstGeom prst="rect">
            <a:avLst/>
          </a:prstGeom>
          <a:noFill/>
        </p:spPr>
        <p:txBody>
          <a:bodyPr wrap="square" rtlCol="0">
            <a:noAutofit/>
          </a:bodyPr>
          <a:lstStyle/>
          <a:p>
            <a:r>
              <a:rPr lang="zh-CN" altLang="zh-CN" dirty="0">
                <a:latin typeface="微软雅黑" panose="020B0503020204020204" charset="-122"/>
                <a:ea typeface="微软雅黑" panose="020B0503020204020204" charset="-122"/>
              </a:rPr>
              <a:t>设计状态机串行读取</a:t>
            </a:r>
            <a:r>
              <a:rPr lang="en-US" altLang="zh-CN" dirty="0">
                <a:latin typeface="微软雅黑" panose="020B0503020204020204" charset="-122"/>
                <a:ea typeface="微软雅黑" panose="020B0503020204020204" charset="-122"/>
              </a:rPr>
              <a:t>ADXL345</a:t>
            </a:r>
            <a:r>
              <a:rPr lang="zh-CN" altLang="zh-CN" dirty="0">
                <a:latin typeface="微软雅黑" panose="020B0503020204020204" charset="-122"/>
                <a:ea typeface="微软雅黑" panose="020B0503020204020204" charset="-122"/>
              </a:rPr>
              <a:t>的输出值，并存储在相应位数的寄存器中</a:t>
            </a:r>
            <a:endParaRPr lang="zh-CN" altLang="en-US" sz="1600" b="1" dirty="0">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1841459" y="2365375"/>
            <a:ext cx="1765300" cy="9207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800" b="1" dirty="0">
                <a:latin typeface="微软雅黑" panose="020B0503020204020204" charset="-122"/>
                <a:ea typeface="微软雅黑" panose="020B0503020204020204" charset="-122"/>
              </a:rPr>
              <a:t>数据读取</a:t>
            </a:r>
            <a:endParaRPr lang="zh-CN" altLang="en-US" sz="2800" b="1" dirty="0">
              <a:latin typeface="微软雅黑" panose="020B0503020204020204" charset="-122"/>
              <a:ea typeface="微软雅黑" panose="020B0503020204020204" charset="-122"/>
            </a:endParaRPr>
          </a:p>
        </p:txBody>
      </p:sp>
      <p:sp>
        <p:nvSpPr>
          <p:cNvPr id="4" name="矩形 3"/>
          <p:cNvSpPr/>
          <p:nvPr/>
        </p:nvSpPr>
        <p:spPr>
          <a:xfrm>
            <a:off x="4905671" y="2355850"/>
            <a:ext cx="1955800" cy="9207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800" b="1" dirty="0">
                <a:latin typeface="微软雅黑" panose="020B0503020204020204" charset="-122"/>
                <a:ea typeface="微软雅黑" panose="020B0503020204020204" charset="-122"/>
              </a:rPr>
              <a:t>数据处理</a:t>
            </a:r>
            <a:endParaRPr lang="zh-CN" altLang="en-US" sz="2800" b="1" dirty="0">
              <a:latin typeface="微软雅黑" panose="020B0503020204020204" charset="-122"/>
              <a:ea typeface="微软雅黑" panose="020B0503020204020204" charset="-122"/>
            </a:endParaRPr>
          </a:p>
        </p:txBody>
      </p:sp>
      <p:sp>
        <p:nvSpPr>
          <p:cNvPr id="9" name="矩形 8"/>
          <p:cNvSpPr/>
          <p:nvPr/>
        </p:nvSpPr>
        <p:spPr>
          <a:xfrm>
            <a:off x="8140700" y="2355850"/>
            <a:ext cx="1955800" cy="9207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zh-CN" b="1" kern="100" dirty="0">
                <a:effectLst/>
                <a:latin typeface="微软雅黑" panose="020B0503020204020204" charset="-122"/>
                <a:ea typeface="微软雅黑" panose="020B0503020204020204" charset="-122"/>
                <a:cs typeface="Times New Roman" panose="02020603050405020304" pitchFamily="18" charset="0"/>
              </a:rPr>
              <a:t>阈值判别与设定</a:t>
            </a:r>
            <a:endParaRPr lang="zh-CN" altLang="en-US" b="1" dirty="0">
              <a:latin typeface="微软雅黑" panose="020B0503020204020204" charset="-122"/>
              <a:ea typeface="微软雅黑" panose="020B0503020204020204" charset="-122"/>
            </a:endParaRPr>
          </a:p>
        </p:txBody>
      </p:sp>
      <p:cxnSp>
        <p:nvCxnSpPr>
          <p:cNvPr id="13" name="直接箭头连接符 12"/>
          <p:cNvCxnSpPr>
            <a:stCxn id="2" idx="3"/>
            <a:endCxn id="4" idx="1"/>
          </p:cNvCxnSpPr>
          <p:nvPr/>
        </p:nvCxnSpPr>
        <p:spPr>
          <a:xfrm flipV="1">
            <a:off x="3606759" y="2816225"/>
            <a:ext cx="1298912" cy="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4" idx="3"/>
            <a:endCxn id="9" idx="1"/>
          </p:cNvCxnSpPr>
          <p:nvPr/>
        </p:nvCxnSpPr>
        <p:spPr>
          <a:xfrm>
            <a:off x="6861471" y="2816225"/>
            <a:ext cx="1279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759758" y="4005430"/>
            <a:ext cx="2247625" cy="2065170"/>
          </a:xfrm>
          <a:prstGeom prst="rect">
            <a:avLst/>
          </a:prstGeom>
          <a:noFill/>
        </p:spPr>
        <p:txBody>
          <a:bodyPr wrap="square" rtlCol="0">
            <a:noAutofit/>
          </a:bodyPr>
          <a:lstStyle/>
          <a:p>
            <a:r>
              <a:rPr lang="zh-CN" altLang="zh-CN" dirty="0">
                <a:latin typeface="微软雅黑" panose="020B0503020204020204" charset="-122"/>
                <a:ea typeface="微软雅黑" panose="020B0503020204020204" charset="-122"/>
              </a:rPr>
              <a:t>对加速度值进行取绝对值，同时转补码为原码</a:t>
            </a:r>
            <a:endParaRPr lang="zh-CN" altLang="en-US" sz="1600" b="1" dirty="0">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7994787" y="4018187"/>
            <a:ext cx="2546213" cy="1919062"/>
          </a:xfrm>
          <a:prstGeom prst="rect">
            <a:avLst/>
          </a:prstGeom>
          <a:noFill/>
        </p:spPr>
        <p:txBody>
          <a:bodyPr wrap="square" rtlCol="0">
            <a:noAutofit/>
          </a:bodyPr>
          <a:lstStyle/>
          <a:p>
            <a:r>
              <a:rPr lang="zh-CN" altLang="zh-CN" dirty="0">
                <a:latin typeface="微软雅黑" panose="020B0503020204020204" charset="-122"/>
                <a:ea typeface="微软雅黑" panose="020B0503020204020204" charset="-122"/>
              </a:rPr>
              <a:t>通过测试</a:t>
            </a:r>
            <a:r>
              <a:rPr lang="en-US" altLang="zh-CN" dirty="0">
                <a:latin typeface="微软雅黑" panose="020B0503020204020204" charset="-122"/>
                <a:ea typeface="微软雅黑" panose="020B0503020204020204" charset="-122"/>
              </a:rPr>
              <a:t>/</a:t>
            </a:r>
            <a:r>
              <a:rPr lang="zh-CN" altLang="zh-CN" dirty="0">
                <a:latin typeface="微软雅黑" panose="020B0503020204020204" charset="-122"/>
                <a:ea typeface="微软雅黑" panose="020B0503020204020204" charset="-122"/>
              </a:rPr>
              <a:t>监测手段来确定判别是否进行了一次“手指移动”的加速度阈值，当超过该阈值的时候，输出一个时钟的高电平，否则输出一个低电平</a:t>
            </a:r>
            <a:endParaRPr lang="zh-CN" altLang="en-US" sz="1600" b="1" dirty="0">
              <a:latin typeface="微软雅黑" panose="020B0503020204020204" charset="-122"/>
              <a:ea typeface="微软雅黑" panose="020B0503020204020204" charset="-122"/>
              <a:cs typeface="微软雅黑" panose="020B0503020204020204" charset="-122"/>
            </a:endParaRPr>
          </a:p>
        </p:txBody>
      </p:sp>
      <p:sp>
        <p:nvSpPr>
          <p:cNvPr id="35" name="箭头: 下 34"/>
          <p:cNvSpPr/>
          <p:nvPr/>
        </p:nvSpPr>
        <p:spPr>
          <a:xfrm>
            <a:off x="2479971" y="3429000"/>
            <a:ext cx="533400" cy="5891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箭头: 下 35"/>
          <p:cNvSpPr/>
          <p:nvPr/>
        </p:nvSpPr>
        <p:spPr>
          <a:xfrm>
            <a:off x="5616870" y="3416244"/>
            <a:ext cx="533400" cy="5891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下 36"/>
          <p:cNvSpPr/>
          <p:nvPr/>
        </p:nvSpPr>
        <p:spPr>
          <a:xfrm>
            <a:off x="8851900" y="3441701"/>
            <a:ext cx="533400" cy="5891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33" grpId="0"/>
      <p:bldP spid="33" grpId="1"/>
      <p:bldP spid="34" grpId="0"/>
      <p:bldP spid="3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3.2 </a:t>
              </a:r>
              <a:r>
                <a:rPr lang="zh-CN" altLang="en-US" sz="2400" b="1" dirty="0">
                  <a:latin typeface="微软雅黑" panose="020B0503020204020204" charset="-122"/>
                  <a:ea typeface="微软雅黑" panose="020B0503020204020204" charset="-122"/>
                </a:rPr>
                <a:t>过渡</a:t>
              </a:r>
              <a:r>
                <a:rPr lang="zh-CN" altLang="en-US" sz="2400" b="1" dirty="0">
                  <a:latin typeface="微软雅黑" panose="020B0503020204020204" charset="-122"/>
                  <a:ea typeface="微软雅黑" panose="020B0503020204020204" charset="-122"/>
                </a:rPr>
                <a:t>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10387965" cy="92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altLang="en-US" sz="1700" b="1" dirty="0">
                <a:latin typeface="微软雅黑" panose="020B0503020204020204" charset="-122"/>
                <a:ea typeface="微软雅黑" panose="020B0503020204020204" charset="-122"/>
                <a:cs typeface="Times New Roman" panose="02020603050405020304" pitchFamily="18" charset="0"/>
              </a:rPr>
              <a:t>过渡模块</a:t>
            </a:r>
            <a:endParaRPr lang="en-US" altLang="zh-CN" sz="1700" b="1"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r>
              <a:rPr lang="en-US" altLang="zh-CN" sz="1700" b="1" kern="100" dirty="0">
                <a:effectLst/>
                <a:latin typeface="微软雅黑" panose="020B0503020204020204" charset="-122"/>
                <a:ea typeface="微软雅黑" panose="020B0503020204020204" charset="-122"/>
                <a:cs typeface="Times New Roman" panose="02020603050405020304" pitchFamily="18" charset="0"/>
              </a:rPr>
              <a:t>    </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综合处理加速度传感器的输入，进行综合处理（时钟对齐与校正，电平处理等），输出可供通讯模块通讯的音乐播放器模块控制字</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4750435" y="2315210"/>
            <a:ext cx="5567680" cy="116903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pic>
        <p:nvPicPr>
          <p:cNvPr id="4" name="图片 3" descr="未命名文件 (2)"/>
          <p:cNvPicPr>
            <a:picLocks noChangeAspect="1"/>
          </p:cNvPicPr>
          <p:nvPr>
            <p:custDataLst>
              <p:tags r:id="rId1"/>
            </p:custDataLst>
          </p:nvPr>
        </p:nvPicPr>
        <p:blipFill>
          <a:blip r:embed="rId2"/>
          <a:stretch>
            <a:fillRect/>
          </a:stretch>
        </p:blipFill>
        <p:spPr>
          <a:xfrm>
            <a:off x="635635" y="3307715"/>
            <a:ext cx="10162540" cy="14693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3.3 </a:t>
              </a:r>
              <a:r>
                <a:rPr lang="zh-CN" altLang="en-US" sz="2400" b="1" dirty="0">
                  <a:latin typeface="微软雅黑" panose="020B0503020204020204" charset="-122"/>
                  <a:ea typeface="微软雅黑" panose="020B0503020204020204" charset="-122"/>
                </a:rPr>
                <a:t>通讯模块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4774565" cy="45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altLang="en-US" sz="1700" b="1" dirty="0">
                <a:latin typeface="微软雅黑" panose="020B0503020204020204" charset="-122"/>
                <a:ea typeface="微软雅黑" panose="020B0503020204020204" charset="-122"/>
                <a:cs typeface="Times New Roman" panose="02020603050405020304" pitchFamily="18" charset="0"/>
              </a:rPr>
              <a:t>通讯模块</a:t>
            </a:r>
            <a:r>
              <a:rPr lang="en-US" altLang="zh-CN" sz="1700" b="1" kern="100" dirty="0">
                <a:effectLst/>
                <a:latin typeface="微软雅黑" panose="020B0503020204020204" charset="-122"/>
                <a:ea typeface="微软雅黑" panose="020B0503020204020204" charset="-122"/>
                <a:cs typeface="Times New Roman" panose="02020603050405020304" pitchFamily="18" charset="0"/>
              </a:rPr>
              <a:t>    </a:t>
            </a: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r>
              <a:rPr lang="en-US" altLang="zh-CN" sz="1800" kern="100" dirty="0">
                <a:effectLst/>
                <a:latin typeface="Calibri" panose="020F0502020204030204" charset="0"/>
                <a:ea typeface="宋体" pitchFamily="2" charset="-122"/>
                <a:cs typeface="Times New Roman" panose="02020603050405020304" pitchFamily="18" charset="0"/>
              </a:rPr>
              <a:t>      </a:t>
            </a:r>
            <a:r>
              <a:rPr lang="zh-CN" altLang="zh-CN" sz="1800" kern="100" dirty="0">
                <a:effectLst/>
                <a:latin typeface="微软雅黑" panose="020B0503020204020204" charset="-122"/>
                <a:ea typeface="微软雅黑" panose="020B0503020204020204" charset="-122"/>
                <a:cs typeface="Times New Roman" panose="02020603050405020304" pitchFamily="18" charset="0"/>
              </a:rPr>
              <a:t>将过渡模块的输出无线传输至音乐播放器模块</a:t>
            </a:r>
            <a:r>
              <a:rPr lang="zh-CN" altLang="en-US" sz="1800" kern="100" dirty="0">
                <a:effectLst/>
                <a:latin typeface="微软雅黑" panose="020B0503020204020204" charset="-122"/>
                <a:ea typeface="微软雅黑" panose="020B0503020204020204" charset="-122"/>
                <a:cs typeface="Times New Roman" panose="02020603050405020304" pitchFamily="18" charset="0"/>
              </a:rPr>
              <a:t>，</a:t>
            </a:r>
            <a:r>
              <a:rPr lang="zh-CN" altLang="en-US" sz="1800" kern="100" dirty="0">
                <a:latin typeface="微软雅黑" panose="020B0503020204020204" charset="-122"/>
                <a:ea typeface="微软雅黑" panose="020B0503020204020204" charset="-122"/>
                <a:cs typeface="Times New Roman" panose="02020603050405020304" pitchFamily="18" charset="0"/>
              </a:rPr>
              <a:t>具体可采用蓝牙传输或者</a:t>
            </a:r>
            <a:r>
              <a:rPr lang="en-US" altLang="zh-CN" sz="1800" kern="100" dirty="0" err="1">
                <a:latin typeface="微软雅黑" panose="020B0503020204020204" charset="-122"/>
                <a:ea typeface="微软雅黑" panose="020B0503020204020204" charset="-122"/>
                <a:cs typeface="Times New Roman" panose="02020603050405020304" pitchFamily="18" charset="0"/>
              </a:rPr>
              <a:t>WiFi</a:t>
            </a:r>
            <a:r>
              <a:rPr lang="zh-CN" altLang="en-US" sz="1800" kern="100" dirty="0">
                <a:latin typeface="微软雅黑" panose="020B0503020204020204" charset="-122"/>
                <a:ea typeface="微软雅黑" panose="020B0503020204020204" charset="-122"/>
                <a:cs typeface="Times New Roman" panose="02020603050405020304" pitchFamily="18" charset="0"/>
              </a:rPr>
              <a:t>传输等形式进行信号的传递。</a:t>
            </a:r>
            <a:endParaRPr lang="en-US" altLang="zh-CN" sz="1800" kern="100"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r>
              <a:rPr lang="en-US" altLang="zh-CN" sz="1800" kern="100" dirty="0">
                <a:effectLst/>
                <a:latin typeface="微软雅黑" panose="020B0503020204020204" charset="-122"/>
                <a:ea typeface="微软雅黑" panose="020B0503020204020204" charset="-122"/>
                <a:cs typeface="Times New Roman" panose="02020603050405020304" pitchFamily="18" charset="0"/>
              </a:rPr>
              <a:t>     </a:t>
            </a:r>
            <a:r>
              <a:rPr lang="zh-CN" altLang="en-US" sz="1800" kern="100" dirty="0">
                <a:latin typeface="微软雅黑" panose="020B0503020204020204" charset="-122"/>
                <a:ea typeface="微软雅黑" panose="020B0503020204020204" charset="-122"/>
                <a:cs typeface="Times New Roman" panose="02020603050405020304" pitchFamily="18" charset="0"/>
              </a:rPr>
              <a:t>比如，可使用</a:t>
            </a:r>
            <a:r>
              <a:rPr lang="en-US" altLang="zh-CN" sz="1800" i="0" dirty="0">
                <a:effectLst/>
                <a:highlight>
                  <a:srgbClr val="FFFFFF"/>
                </a:highlight>
                <a:latin typeface="微软雅黑" panose="020B0503020204020204" charset="-122"/>
                <a:ea typeface="微软雅黑" panose="020B0503020204020204" charset="-122"/>
              </a:rPr>
              <a:t>ESP8266 WIFI</a:t>
            </a:r>
            <a:r>
              <a:rPr lang="zh-CN" altLang="en-US" sz="1800" i="0" dirty="0">
                <a:effectLst/>
                <a:highlight>
                  <a:srgbClr val="FFFFFF"/>
                </a:highlight>
                <a:latin typeface="微软雅黑" panose="020B0503020204020204" charset="-122"/>
                <a:ea typeface="微软雅黑" panose="020B0503020204020204" charset="-122"/>
              </a:rPr>
              <a:t>芯片来实现</a:t>
            </a:r>
            <a:r>
              <a:rPr lang="en-US" altLang="zh-CN" sz="1800" i="0" dirty="0" err="1">
                <a:effectLst/>
                <a:highlight>
                  <a:srgbClr val="FFFFFF"/>
                </a:highlight>
                <a:latin typeface="微软雅黑" panose="020B0503020204020204" charset="-122"/>
                <a:ea typeface="微软雅黑" panose="020B0503020204020204" charset="-122"/>
              </a:rPr>
              <a:t>WiFi</a:t>
            </a:r>
            <a:r>
              <a:rPr lang="zh-CN" altLang="en-US" sz="1800" i="0" dirty="0">
                <a:effectLst/>
                <a:highlight>
                  <a:srgbClr val="FFFFFF"/>
                </a:highlight>
                <a:latin typeface="微软雅黑" panose="020B0503020204020204" charset="-122"/>
                <a:ea typeface="微软雅黑" panose="020B0503020204020204" charset="-122"/>
              </a:rPr>
              <a:t>数据传输，可以利用它可以快速的搭建自己</a:t>
            </a:r>
            <a:r>
              <a:rPr lang="en-US" altLang="zh-CN" sz="1800" i="0" dirty="0" err="1">
                <a:effectLst/>
                <a:highlight>
                  <a:srgbClr val="FFFFFF"/>
                </a:highlight>
                <a:latin typeface="微软雅黑" panose="020B0503020204020204" charset="-122"/>
                <a:ea typeface="微软雅黑" panose="020B0503020204020204" charset="-122"/>
              </a:rPr>
              <a:t>wifi</a:t>
            </a:r>
            <a:r>
              <a:rPr lang="zh-CN" altLang="en-US" sz="1800" i="0" dirty="0">
                <a:effectLst/>
                <a:highlight>
                  <a:srgbClr val="FFFFFF"/>
                </a:highlight>
                <a:latin typeface="微软雅黑" panose="020B0503020204020204" charset="-122"/>
                <a:ea typeface="微软雅黑" panose="020B0503020204020204" charset="-122"/>
              </a:rPr>
              <a:t>热点，实现数据传输。</a:t>
            </a:r>
            <a:endParaRPr lang="en-US" altLang="zh-CN" sz="1800"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r>
              <a:rPr lang="en-US" altLang="zh-CN" sz="1800" kern="100" dirty="0">
                <a:latin typeface="微软雅黑" panose="020B0503020204020204" charset="-122"/>
                <a:ea typeface="微软雅黑" panose="020B0503020204020204" charset="-122"/>
                <a:cs typeface="Times New Roman" panose="02020603050405020304" pitchFamily="18" charset="0"/>
              </a:rPr>
              <a:t>    </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5621655" y="1899285"/>
            <a:ext cx="5567680" cy="116903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pic>
        <p:nvPicPr>
          <p:cNvPr id="1026" name="Picture 2" descr="8266WIFI模块外观"/>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64881" y="3945890"/>
            <a:ext cx="2481580" cy="24815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5980" y="1837055"/>
            <a:ext cx="5450408" cy="42176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p:bldP spid="11" grpId="0"/>
      <p:bldP spid="11"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3.3 </a:t>
              </a:r>
              <a:r>
                <a:rPr lang="zh-CN" altLang="en-US" sz="2400" b="1" dirty="0">
                  <a:latin typeface="微软雅黑" panose="020B0503020204020204" charset="-122"/>
                  <a:ea typeface="微软雅黑" panose="020B0503020204020204" charset="-122"/>
                </a:rPr>
                <a:t>通讯模块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4774565" cy="2136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en-US" altLang="zh-CN" sz="1700" b="1" dirty="0">
                <a:latin typeface="微软雅黑" panose="020B0503020204020204" charset="-122"/>
                <a:ea typeface="微软雅黑" panose="020B0503020204020204" charset="-122"/>
                <a:cs typeface="Times New Roman" panose="02020603050405020304" pitchFamily="18" charset="0"/>
              </a:rPr>
              <a:t>WiFi</a:t>
            </a:r>
            <a:r>
              <a:rPr lang="zh-CN" altLang="en-US" sz="1700" b="1" dirty="0">
                <a:latin typeface="微软雅黑" panose="020B0503020204020204" charset="-122"/>
                <a:ea typeface="微软雅黑" panose="020B0503020204020204" charset="-122"/>
                <a:cs typeface="Times New Roman" panose="02020603050405020304" pitchFamily="18" charset="0"/>
              </a:rPr>
              <a:t>模块工作原理</a:t>
            </a:r>
            <a:r>
              <a:rPr lang="en-US" altLang="zh-CN" sz="1700" b="1" kern="100" dirty="0">
                <a:effectLst/>
                <a:latin typeface="微软雅黑" panose="020B0503020204020204" charset="-122"/>
                <a:ea typeface="微软雅黑" panose="020B0503020204020204" charset="-122"/>
                <a:cs typeface="Times New Roman" panose="02020603050405020304" pitchFamily="18" charset="0"/>
              </a:rPr>
              <a:t>    </a:t>
            </a: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r>
              <a:rPr lang="en-US" altLang="zh-CN" sz="1800" kern="100" dirty="0">
                <a:effectLst/>
                <a:latin typeface="Calibri" panose="020F0502020204030204" charset="0"/>
                <a:ea typeface="宋体" pitchFamily="2" charset="-122"/>
                <a:cs typeface="Times New Roman" panose="02020603050405020304" pitchFamily="18" charset="0"/>
              </a:rPr>
              <a:t>      </a:t>
            </a:r>
            <a:r>
              <a:rPr lang="zh-CN" altLang="en-US" sz="1800" kern="100" dirty="0">
                <a:solidFill>
                  <a:srgbClr val="000000"/>
                </a:solidFill>
                <a:effectLst/>
                <a:latin typeface="微软雅黑" charset="0"/>
                <a:ea typeface="微软雅黑" charset="0"/>
                <a:cs typeface="微软雅黑" charset="0"/>
              </a:rPr>
              <a:t>使用</a:t>
            </a:r>
            <a:r>
              <a:rPr lang="en-US" altLang="zh-CN" sz="1800" kern="100" dirty="0">
                <a:solidFill>
                  <a:srgbClr val="000000"/>
                </a:solidFill>
                <a:effectLst/>
                <a:latin typeface="微软雅黑" charset="0"/>
                <a:ea typeface="微软雅黑" charset="0"/>
                <a:cs typeface="微软雅黑" charset="0"/>
              </a:rPr>
              <a:t>WiFi</a:t>
            </a:r>
            <a:r>
              <a:rPr lang="zh-CN" altLang="en-US" sz="1800" kern="100" dirty="0">
                <a:solidFill>
                  <a:srgbClr val="000000"/>
                </a:solidFill>
                <a:effectLst/>
                <a:latin typeface="微软雅黑" charset="0"/>
                <a:ea typeface="微软雅黑" charset="0"/>
                <a:cs typeface="微软雅黑" charset="0"/>
              </a:rPr>
              <a:t>模块进行通信，</a:t>
            </a:r>
            <a:r>
              <a:rPr lang="zh-CN" sz="1800" b="0">
                <a:solidFill>
                  <a:srgbClr val="000000"/>
                </a:solidFill>
                <a:latin typeface="微软雅黑" charset="0"/>
                <a:ea typeface="微软雅黑" charset="0"/>
                <a:cs typeface="微软雅黑" charset="0"/>
              </a:rPr>
              <a:t>需要通过AT指令对模块进行配置，比如说是AP模式，还是STA模式。AP模式就是模块作为无线 WIFI 热点，允许其他 WIFI 设备连接到本模块</a:t>
            </a:r>
            <a:r>
              <a:rPr lang="zh-CN" altLang="en-US" sz="1800" i="0" dirty="0">
                <a:solidFill>
                  <a:srgbClr val="000000"/>
                </a:solidFill>
                <a:effectLst/>
                <a:highlight>
                  <a:srgbClr val="FFFFFF"/>
                </a:highlight>
                <a:latin typeface="微软雅黑" charset="0"/>
                <a:ea typeface="微软雅黑" charset="0"/>
                <a:cs typeface="微软雅黑" charset="0"/>
              </a:rPr>
              <a:t>。</a:t>
            </a:r>
            <a:endParaRPr lang="zh-CN" altLang="en-US" sz="1800" i="0" dirty="0">
              <a:solidFill>
                <a:srgbClr val="000000"/>
              </a:solidFill>
              <a:effectLst/>
              <a:highlight>
                <a:srgbClr val="FFFFFF"/>
              </a:highlight>
              <a:latin typeface="微软雅黑" charset="0"/>
              <a:ea typeface="微软雅黑" charset="0"/>
              <a:cs typeface="微软雅黑" charset="0"/>
            </a:endParaRPr>
          </a:p>
          <a:p>
            <a:pPr>
              <a:lnSpc>
                <a:spcPct val="150000"/>
              </a:lnSpc>
              <a:spcBef>
                <a:spcPct val="0"/>
              </a:spcBef>
              <a:buFontTx/>
              <a:buNone/>
              <a:defRPr/>
            </a:pPr>
            <a:r>
              <a:rPr lang="zh-CN" altLang="en-US" sz="1800" dirty="0">
                <a:solidFill>
                  <a:srgbClr val="000000"/>
                </a:solidFill>
                <a:effectLst/>
                <a:highlight>
                  <a:srgbClr val="FFFFFF"/>
                </a:highlight>
                <a:latin typeface="微软雅黑" charset="0"/>
                <a:ea typeface="微软雅黑" charset="0"/>
                <a:cs typeface="微软雅黑" charset="0"/>
              </a:rPr>
              <a:t>    </a:t>
            </a:r>
            <a:r>
              <a:rPr lang="en-US" altLang="zh-CN" sz="1800" kern="100" dirty="0">
                <a:latin typeface="微软雅黑" panose="020B0503020204020204" charset="-122"/>
                <a:ea typeface="微软雅黑" panose="020B0503020204020204" charset="-122"/>
                <a:cs typeface="Times New Roman" panose="02020603050405020304" pitchFamily="18" charset="0"/>
              </a:rPr>
              <a:t>    </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pic>
        <p:nvPicPr>
          <p:cNvPr id="9" name="图片 8" descr="upload_post_object_v2_2890335082"/>
          <p:cNvPicPr>
            <a:picLocks noChangeAspect="1"/>
          </p:cNvPicPr>
          <p:nvPr/>
        </p:nvPicPr>
        <p:blipFill>
          <a:blip r:embed="rId1"/>
          <a:stretch>
            <a:fillRect/>
          </a:stretch>
        </p:blipFill>
        <p:spPr>
          <a:xfrm>
            <a:off x="206062" y="3671526"/>
            <a:ext cx="5922621" cy="2659045"/>
          </a:xfrm>
          <a:prstGeom prst="rect">
            <a:avLst/>
          </a:prstGeom>
        </p:spPr>
      </p:pic>
      <p:pic>
        <p:nvPicPr>
          <p:cNvPr id="10" name="图片 9" descr="upload_post_object_v2_1468566102"/>
          <p:cNvPicPr>
            <a:picLocks noChangeAspect="1"/>
          </p:cNvPicPr>
          <p:nvPr/>
        </p:nvPicPr>
        <p:blipFill>
          <a:blip r:embed="rId2"/>
          <a:stretch>
            <a:fillRect/>
          </a:stretch>
        </p:blipFill>
        <p:spPr>
          <a:xfrm>
            <a:off x="5839751" y="1581734"/>
            <a:ext cx="5938534" cy="1898885"/>
          </a:xfrm>
          <a:prstGeom prst="rect">
            <a:avLst/>
          </a:prstGeom>
        </p:spPr>
      </p:pic>
      <p:sp>
        <p:nvSpPr>
          <p:cNvPr id="13" name="文本框 12"/>
          <p:cNvSpPr txBox="1"/>
          <p:nvPr/>
        </p:nvSpPr>
        <p:spPr>
          <a:xfrm>
            <a:off x="6558343" y="3818911"/>
            <a:ext cx="4880568" cy="1337945"/>
          </a:xfrm>
          <a:prstGeom prst="rect">
            <a:avLst/>
          </a:prstGeom>
          <a:noFill/>
        </p:spPr>
        <p:txBody>
          <a:bodyPr wrap="square" rtlCol="0" anchor="t">
            <a:noAutofit/>
          </a:bodyPr>
          <a:p>
            <a:pPr algn="l">
              <a:lnSpc>
                <a:spcPct val="150000"/>
              </a:lnSpc>
              <a:buFontTx/>
              <a:buNone/>
              <a:defRPr/>
            </a:pPr>
            <a:r>
              <a:rPr lang="zh-CN" altLang="en-US" dirty="0">
                <a:solidFill>
                  <a:srgbClr val="000000"/>
                </a:solidFill>
                <a:effectLst/>
                <a:highlight>
                  <a:srgbClr val="FFFFFF"/>
                </a:highlight>
                <a:latin typeface="微软雅黑" charset="0"/>
                <a:ea typeface="微软雅黑" charset="0"/>
                <a:cs typeface="微软雅黑" charset="0"/>
                <a:sym typeface="+mn-ea"/>
              </a:rPr>
              <a:t>   </a:t>
            </a:r>
            <a:r>
              <a:rPr lang="zh-CN" altLang="en-US" dirty="0">
                <a:solidFill>
                  <a:srgbClr val="005BBB"/>
                </a:solidFill>
                <a:latin typeface="Arial" panose="020B0604020202020204" pitchFamily="34" charset="0"/>
                <a:ea typeface="宋体" pitchFamily="2" charset="-122"/>
                <a:sym typeface="+mn-ea"/>
              </a:rPr>
              <a:t>■</a:t>
            </a:r>
            <a:r>
              <a:rPr lang="zh-CN" altLang="en-US" dirty="0">
                <a:solidFill>
                  <a:srgbClr val="000000"/>
                </a:solidFill>
                <a:effectLst/>
                <a:highlight>
                  <a:srgbClr val="FFFFFF"/>
                </a:highlight>
                <a:latin typeface="微软雅黑" charset="0"/>
                <a:ea typeface="微软雅黑" charset="0"/>
                <a:cs typeface="微软雅黑" charset="0"/>
                <a:sym typeface="+mn-ea"/>
              </a:rPr>
              <a:t>在我们的设计中，两块</a:t>
            </a:r>
            <a:r>
              <a:rPr lang="en-US" altLang="zh-CN" dirty="0">
                <a:solidFill>
                  <a:srgbClr val="000000"/>
                </a:solidFill>
                <a:effectLst/>
                <a:highlight>
                  <a:srgbClr val="FFFFFF"/>
                </a:highlight>
                <a:latin typeface="微软雅黑" charset="0"/>
                <a:ea typeface="微软雅黑" charset="0"/>
                <a:cs typeface="微软雅黑" charset="0"/>
                <a:sym typeface="+mn-ea"/>
              </a:rPr>
              <a:t>FPGA</a:t>
            </a:r>
            <a:r>
              <a:rPr lang="zh-CN" altLang="en-US" dirty="0">
                <a:solidFill>
                  <a:srgbClr val="000000"/>
                </a:solidFill>
                <a:effectLst/>
                <a:highlight>
                  <a:srgbClr val="FFFFFF"/>
                </a:highlight>
                <a:latin typeface="微软雅黑" charset="0"/>
                <a:ea typeface="微软雅黑" charset="0"/>
                <a:cs typeface="微软雅黑" charset="0"/>
                <a:sym typeface="+mn-ea"/>
              </a:rPr>
              <a:t>板分别承担收发</a:t>
            </a:r>
            <a:r>
              <a:rPr lang="en-US" altLang="zh-CN" dirty="0">
                <a:solidFill>
                  <a:srgbClr val="000000"/>
                </a:solidFill>
                <a:effectLst/>
                <a:highlight>
                  <a:srgbClr val="FFFFFF"/>
                </a:highlight>
                <a:latin typeface="微软雅黑" charset="0"/>
                <a:ea typeface="微软雅黑" charset="0"/>
                <a:cs typeface="微软雅黑" charset="0"/>
                <a:sym typeface="+mn-ea"/>
              </a:rPr>
              <a:t>WiFi</a:t>
            </a:r>
            <a:r>
              <a:rPr lang="zh-CN" altLang="en-US" dirty="0">
                <a:solidFill>
                  <a:srgbClr val="000000"/>
                </a:solidFill>
                <a:effectLst/>
                <a:highlight>
                  <a:srgbClr val="FFFFFF"/>
                </a:highlight>
                <a:latin typeface="微软雅黑" charset="0"/>
                <a:ea typeface="微软雅黑" charset="0"/>
                <a:cs typeface="微软雅黑" charset="0"/>
                <a:sym typeface="+mn-ea"/>
              </a:rPr>
              <a:t>信号的作用，这就需要在顶层模块之下分别进行设计</a:t>
            </a:r>
            <a:r>
              <a:rPr lang="en-US" altLang="zh-CN" dirty="0">
                <a:solidFill>
                  <a:srgbClr val="000000"/>
                </a:solidFill>
                <a:effectLst/>
                <a:highlight>
                  <a:srgbClr val="FFFFFF"/>
                </a:highlight>
                <a:latin typeface="微软雅黑" charset="0"/>
                <a:ea typeface="微软雅黑" charset="0"/>
                <a:cs typeface="微软雅黑" charset="0"/>
                <a:sym typeface="+mn-ea"/>
              </a:rPr>
              <a:t>AT</a:t>
            </a:r>
            <a:r>
              <a:rPr lang="zh-CN" altLang="en-US" dirty="0">
                <a:solidFill>
                  <a:srgbClr val="000000"/>
                </a:solidFill>
                <a:effectLst/>
                <a:highlight>
                  <a:srgbClr val="FFFFFF"/>
                </a:highlight>
                <a:latin typeface="微软雅黑" charset="0"/>
                <a:ea typeface="微软雅黑" charset="0"/>
                <a:cs typeface="微软雅黑" charset="0"/>
                <a:sym typeface="+mn-ea"/>
              </a:rPr>
              <a:t>指令控制</a:t>
            </a:r>
            <a:r>
              <a:rPr lang="zh-CN">
                <a:solidFill>
                  <a:srgbClr val="000000"/>
                </a:solidFill>
                <a:latin typeface="微软雅黑" charset="0"/>
                <a:ea typeface="微软雅黑" charset="0"/>
                <a:cs typeface="微软雅黑" charset="0"/>
                <a:sym typeface="+mn-ea"/>
              </a:rPr>
              <a:t>UART</a:t>
            </a:r>
            <a:r>
              <a:rPr lang="zh-CN" altLang="en-US">
                <a:solidFill>
                  <a:srgbClr val="000000"/>
                </a:solidFill>
                <a:latin typeface="微软雅黑" charset="0"/>
                <a:ea typeface="微软雅黑" charset="0"/>
                <a:cs typeface="微软雅黑" charset="0"/>
                <a:sym typeface="+mn-ea"/>
              </a:rPr>
              <a:t>模块，</a:t>
            </a:r>
            <a:r>
              <a:rPr lang="zh-CN">
                <a:solidFill>
                  <a:srgbClr val="000000"/>
                </a:solidFill>
                <a:latin typeface="微软雅黑" charset="0"/>
                <a:ea typeface="微软雅黑" charset="0"/>
                <a:cs typeface="微软雅黑" charset="0"/>
                <a:sym typeface="+mn-ea"/>
              </a:rPr>
              <a:t>UART发送模块</a:t>
            </a:r>
            <a:r>
              <a:rPr lang="zh-CN" altLang="en-US">
                <a:solidFill>
                  <a:srgbClr val="000000"/>
                </a:solidFill>
                <a:latin typeface="微软雅黑" charset="0"/>
                <a:ea typeface="微软雅黑" charset="0"/>
                <a:cs typeface="微软雅黑" charset="0"/>
                <a:sym typeface="+mn-ea"/>
              </a:rPr>
              <a:t>和</a:t>
            </a:r>
            <a:r>
              <a:rPr lang="zh-CN">
                <a:solidFill>
                  <a:srgbClr val="000000"/>
                </a:solidFill>
                <a:latin typeface="微软雅黑" charset="0"/>
                <a:ea typeface="微软雅黑" charset="0"/>
                <a:cs typeface="微软雅黑" charset="0"/>
                <a:sym typeface="+mn-ea"/>
              </a:rPr>
              <a:t>UART</a:t>
            </a:r>
            <a:r>
              <a:rPr lang="zh-CN" altLang="en-US">
                <a:solidFill>
                  <a:srgbClr val="000000"/>
                </a:solidFill>
                <a:latin typeface="微软雅黑" charset="0"/>
                <a:ea typeface="微软雅黑" charset="0"/>
                <a:cs typeface="微软雅黑" charset="0"/>
                <a:sym typeface="+mn-ea"/>
              </a:rPr>
              <a:t>接收</a:t>
            </a:r>
            <a:r>
              <a:rPr lang="zh-CN">
                <a:solidFill>
                  <a:srgbClr val="000000"/>
                </a:solidFill>
                <a:latin typeface="微软雅黑" charset="0"/>
                <a:ea typeface="微软雅黑" charset="0"/>
                <a:cs typeface="微软雅黑" charset="0"/>
                <a:sym typeface="+mn-ea"/>
              </a:rPr>
              <a:t>模块</a:t>
            </a:r>
            <a:r>
              <a:rPr lang="zh-CN" altLang="en-US">
                <a:solidFill>
                  <a:srgbClr val="000000"/>
                </a:solidFill>
                <a:latin typeface="微软雅黑" charset="0"/>
                <a:ea typeface="微软雅黑" charset="0"/>
                <a:cs typeface="微软雅黑" charset="0"/>
                <a:sym typeface="+mn-ea"/>
              </a:rPr>
              <a:t>。</a:t>
            </a:r>
            <a:r>
              <a:rPr lang="zh-CN" altLang="en-US" kern="100" dirty="0">
                <a:solidFill>
                  <a:srgbClr val="000000"/>
                </a:solidFill>
                <a:effectLst/>
                <a:latin typeface="微软雅黑" charset="0"/>
                <a:ea typeface="微软雅黑" charset="0"/>
                <a:cs typeface="微软雅黑" charset="0"/>
                <a:sym typeface="+mn-ea"/>
              </a:rPr>
              <a:t>以实现</a:t>
            </a:r>
            <a:r>
              <a:rPr lang="en-US" altLang="zh-CN" kern="100" dirty="0">
                <a:solidFill>
                  <a:srgbClr val="000000"/>
                </a:solidFill>
                <a:effectLst/>
                <a:latin typeface="微软雅黑" charset="0"/>
                <a:ea typeface="微软雅黑" charset="0"/>
                <a:cs typeface="微软雅黑" charset="0"/>
                <a:sym typeface="+mn-ea"/>
              </a:rPr>
              <a:t>fpga</a:t>
            </a:r>
            <a:r>
              <a:rPr lang="zh-CN" altLang="en-US" kern="100" dirty="0">
                <a:solidFill>
                  <a:srgbClr val="000000"/>
                </a:solidFill>
                <a:effectLst/>
                <a:latin typeface="微软雅黑" charset="0"/>
                <a:ea typeface="微软雅黑" charset="0"/>
                <a:cs typeface="微软雅黑" charset="0"/>
                <a:sym typeface="+mn-ea"/>
              </a:rPr>
              <a:t>板之间的串口通信</a:t>
            </a:r>
            <a:endParaRPr lang="zh-CN" altLang="en-US">
              <a:solidFill>
                <a:srgbClr val="000000"/>
              </a:solidFill>
              <a:latin typeface="微软雅黑" charset="0"/>
              <a:ea typeface="微软雅黑" charset="0"/>
              <a:cs typeface="微软雅黑"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3.4 </a:t>
              </a:r>
              <a:r>
                <a:rPr lang="zh-CN" altLang="en-US" sz="2400" b="1" dirty="0">
                  <a:latin typeface="微软雅黑" panose="020B0503020204020204" charset="-122"/>
                  <a:ea typeface="微软雅黑" panose="020B0503020204020204" charset="-122"/>
                </a:rPr>
                <a:t>音乐播放器模块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10803255" cy="92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altLang="en-US" sz="1700" b="1" dirty="0">
                <a:latin typeface="微软雅黑" panose="020B0503020204020204" charset="-122"/>
                <a:ea typeface="微软雅黑" panose="020B0503020204020204" charset="-122"/>
                <a:cs typeface="Times New Roman" panose="02020603050405020304" pitchFamily="18" charset="0"/>
              </a:rPr>
              <a:t>功能介绍</a:t>
            </a: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None/>
              <a:defRPr/>
            </a:pPr>
            <a:r>
              <a:rPr lang="zh-CN" altLang="zh-CN" sz="1800" kern="100" dirty="0">
                <a:effectLst/>
                <a:latin typeface="微软雅黑" panose="020B0503020204020204" charset="-122"/>
                <a:ea typeface="微软雅黑" panose="020B0503020204020204" charset="-122"/>
                <a:cs typeface="Times New Roman" panose="02020603050405020304" pitchFamily="18" charset="0"/>
              </a:rPr>
              <a:t>接受通讯模块传输出的过渡模块控制字，在传输入一个时钟的高电平时播放音乐，在音乐播放完毕后结束</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6957231" y="2315210"/>
            <a:ext cx="3360884" cy="1356038"/>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00222" y="2605088"/>
            <a:ext cx="6340678" cy="3352780"/>
          </a:xfrm>
          <a:prstGeom prst="rect">
            <a:avLst/>
          </a:prstGeom>
          <a:noFill/>
          <a:ln>
            <a:noFill/>
          </a:ln>
        </p:spPr>
      </p:pic>
      <p:sp>
        <p:nvSpPr>
          <p:cNvPr id="3" name="矩形 27"/>
          <p:cNvSpPr>
            <a:spLocks noChangeArrowheads="1"/>
          </p:cNvSpPr>
          <p:nvPr/>
        </p:nvSpPr>
        <p:spPr bwMode="auto">
          <a:xfrm>
            <a:off x="6957231" y="2605088"/>
            <a:ext cx="4263701" cy="1973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altLang="en-US" sz="1700" b="1" dirty="0">
                <a:latin typeface="微软雅黑" panose="020B0503020204020204" charset="-122"/>
                <a:ea typeface="微软雅黑" panose="020B0503020204020204" charset="-122"/>
                <a:cs typeface="Times New Roman" panose="02020603050405020304" pitchFamily="18" charset="0"/>
              </a:rPr>
              <a:t>实现原理</a:t>
            </a:r>
            <a:endParaRPr lang="en-US" altLang="zh-CN" sz="1700" b="1" dirty="0">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None/>
              <a:defRPr/>
            </a:pPr>
            <a:r>
              <a:rPr lang="zh-CN" altLang="zh-CN" sz="1800" kern="100" dirty="0">
                <a:effectLst/>
                <a:latin typeface="微软雅黑" panose="020B0503020204020204" charset="-122"/>
                <a:ea typeface="微软雅黑" panose="020B0503020204020204" charset="-122"/>
                <a:cs typeface="Times New Roman" panose="02020603050405020304" pitchFamily="18" charset="0"/>
              </a:rPr>
              <a:t>不同的震动频率会产生不同的声调，通过控制输入蜂鸣器的方波信号频率，就可以发出不同音调的声音。</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en-US" altLang="zh-CN" sz="17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None/>
              <a:defRPr/>
            </a:pPr>
            <a:endParaRPr lang="zh-CN" altLang="zh-CN" sz="1800" kern="100" dirty="0">
              <a:effectLst/>
              <a:latin typeface="Calibri" panose="020F0502020204030204" charset="0"/>
              <a:ea typeface="宋体" pitchFamily="2"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1"/>
      <p:bldP spid="11" grpId="0"/>
      <p:bldP spid="11"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69192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3.4 </a:t>
              </a:r>
              <a:r>
                <a:rPr lang="zh-CN" altLang="en-US" sz="2400" b="1" dirty="0">
                  <a:latin typeface="微软雅黑" panose="020B0503020204020204" charset="-122"/>
                  <a:ea typeface="微软雅黑" panose="020B0503020204020204" charset="-122"/>
                </a:rPr>
                <a:t>音乐播放器模块</a:t>
              </a:r>
              <a:endParaRPr lang="en-US" altLang="zh-CN"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635635" y="1344295"/>
            <a:ext cx="10387965" cy="92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dirty="0">
                <a:solidFill>
                  <a:srgbClr val="005BBB"/>
                </a:solidFill>
              </a:rPr>
              <a:t>■</a:t>
            </a:r>
            <a:r>
              <a:rPr lang="zh-CN" altLang="en-US" sz="1700" b="1" dirty="0">
                <a:latin typeface="微软雅黑" panose="020B0503020204020204" charset="-122"/>
                <a:ea typeface="微软雅黑" panose="020B0503020204020204" charset="-122"/>
                <a:cs typeface="Times New Roman" panose="02020603050405020304" pitchFamily="18" charset="0"/>
              </a:rPr>
              <a:t> </a:t>
            </a:r>
            <a:r>
              <a:rPr sz="1700" b="1" dirty="0">
                <a:latin typeface="微软雅黑" panose="020B0503020204020204" charset="-122"/>
                <a:ea typeface="微软雅黑" panose="020B0503020204020204" charset="-122"/>
                <a:cs typeface="Times New Roman" panose="02020603050405020304" pitchFamily="18" charset="0"/>
              </a:rPr>
              <a:t> </a:t>
            </a:r>
            <a:r>
              <a:rPr lang="zh-CN" altLang="en-US" sz="1700" b="1" dirty="0">
                <a:latin typeface="微软雅黑" panose="020B0503020204020204" charset="-122"/>
                <a:ea typeface="微软雅黑" panose="020B0503020204020204" charset="-122"/>
                <a:cs typeface="Times New Roman" panose="02020603050405020304" pitchFamily="18" charset="0"/>
              </a:rPr>
              <a:t>实现步骤</a:t>
            </a:r>
            <a:endParaRPr lang="zh-CN" altLang="zh-CN" sz="1800" kern="100" dirty="0">
              <a:effectLst/>
              <a:latin typeface="Calibri" panose="020F0502020204030204" charset="0"/>
              <a:ea typeface="宋体" pitchFamily="2" charset="-122"/>
              <a:cs typeface="Times New Roman" panose="02020603050405020304" pitchFamily="18" charset="0"/>
            </a:endParaRPr>
          </a:p>
          <a:p>
            <a:pPr>
              <a:lnSpc>
                <a:spcPct val="150000"/>
              </a:lnSpc>
              <a:spcBef>
                <a:spcPct val="0"/>
              </a:spcBef>
              <a:buFontTx/>
              <a:buNone/>
              <a:defRPr/>
            </a:pP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2" name="文本框 11"/>
          <p:cNvSpPr txBox="1"/>
          <p:nvPr/>
        </p:nvSpPr>
        <p:spPr>
          <a:xfrm>
            <a:off x="4386580" y="5701030"/>
            <a:ext cx="7052310" cy="508635"/>
          </a:xfrm>
          <a:prstGeom prst="rect">
            <a:avLst/>
          </a:prstGeom>
          <a:noFill/>
        </p:spPr>
        <p:txBody>
          <a:bodyPr wrap="square" rtlCol="0">
            <a:noAutofit/>
          </a:bodyPr>
          <a:lstStyle/>
          <a:p>
            <a:endParaRPr lang="zh-CN" altLang="en-US" sz="16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6957231" y="2315210"/>
            <a:ext cx="3360884" cy="1356038"/>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56860" y="1959697"/>
            <a:ext cx="9355820" cy="2444771"/>
          </a:xfrm>
          <a:prstGeom prst="rect">
            <a:avLst/>
          </a:prstGeom>
          <a:noFill/>
          <a:ln>
            <a:noFill/>
          </a:ln>
        </p:spPr>
      </p:pic>
      <p:sp>
        <p:nvSpPr>
          <p:cNvPr id="9" name="文本框 8"/>
          <p:cNvSpPr txBox="1"/>
          <p:nvPr/>
        </p:nvSpPr>
        <p:spPr>
          <a:xfrm>
            <a:off x="1186787" y="5007114"/>
            <a:ext cx="2247625" cy="1919063"/>
          </a:xfrm>
          <a:prstGeom prst="rect">
            <a:avLst/>
          </a:prstGeom>
          <a:noFill/>
        </p:spPr>
        <p:txBody>
          <a:bodyPr wrap="square" rtlCol="0">
            <a:noAutofit/>
          </a:bodyPr>
          <a:lstStyle/>
          <a:p>
            <a:r>
              <a:rPr lang="zh-CN" altLang="zh-CN" dirty="0">
                <a:latin typeface="微软雅黑" panose="020B0503020204020204" charset="-122"/>
                <a:ea typeface="微软雅黑" panose="020B0503020204020204" charset="-122"/>
              </a:rPr>
              <a:t>分频器模块</a:t>
            </a:r>
            <a:endParaRPr lang="en-US" altLang="zh-CN" dirty="0">
              <a:latin typeface="微软雅黑" panose="020B0503020204020204" charset="-122"/>
              <a:ea typeface="微软雅黑" panose="020B0503020204020204" charset="-122"/>
            </a:endParaRPr>
          </a:p>
          <a:p>
            <a:r>
              <a:rPr lang="zh-CN" altLang="zh-CN" dirty="0">
                <a:latin typeface="微软雅黑" panose="020B0503020204020204" charset="-122"/>
                <a:ea typeface="微软雅黑" panose="020B0503020204020204" charset="-122"/>
              </a:rPr>
              <a:t>产生</a:t>
            </a:r>
            <a:r>
              <a:rPr lang="en-US" altLang="zh-CN" dirty="0">
                <a:latin typeface="微软雅黑" panose="020B0503020204020204" charset="-122"/>
                <a:ea typeface="微软雅黑" panose="020B0503020204020204" charset="-122"/>
              </a:rPr>
              <a:t>1/4</a:t>
            </a:r>
            <a:r>
              <a:rPr lang="zh-CN" altLang="zh-CN" dirty="0">
                <a:latin typeface="微软雅黑" panose="020B0503020204020204" charset="-122"/>
                <a:ea typeface="微软雅黑" panose="020B0503020204020204" charset="-122"/>
              </a:rPr>
              <a:t>秒为周期的脉冲</a:t>
            </a:r>
            <a:r>
              <a:rPr lang="en-US" altLang="zh-CN" dirty="0">
                <a:latin typeface="微软雅黑" panose="020B0503020204020204" charset="-122"/>
                <a:ea typeface="微软雅黑" panose="020B0503020204020204" charset="-122"/>
              </a:rPr>
              <a:t>,</a:t>
            </a:r>
            <a:r>
              <a:rPr lang="zh-CN" altLang="zh-CN" dirty="0">
                <a:latin typeface="微软雅黑" panose="020B0503020204020204" charset="-122"/>
                <a:ea typeface="微软雅黑" panose="020B0503020204020204" charset="-122"/>
              </a:rPr>
              <a:t>对应简谱中的一拍</a:t>
            </a:r>
            <a:endParaRPr lang="zh-CN" altLang="en-US" sz="1600" b="1" dirty="0">
              <a:latin typeface="微软雅黑" panose="020B0503020204020204" charset="-122"/>
              <a:ea typeface="微软雅黑" panose="020B0503020204020204" charset="-122"/>
              <a:cs typeface="微软雅黑" panose="020B0503020204020204" charset="-122"/>
            </a:endParaRPr>
          </a:p>
        </p:txBody>
      </p:sp>
      <p:sp>
        <p:nvSpPr>
          <p:cNvPr id="10" name="箭头: 下 9"/>
          <p:cNvSpPr/>
          <p:nvPr/>
        </p:nvSpPr>
        <p:spPr>
          <a:xfrm>
            <a:off x="1920412" y="4430684"/>
            <a:ext cx="533400" cy="5891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308318" y="5019119"/>
            <a:ext cx="2074193" cy="1919063"/>
          </a:xfrm>
          <a:prstGeom prst="rect">
            <a:avLst/>
          </a:prstGeom>
          <a:noFill/>
        </p:spPr>
        <p:txBody>
          <a:bodyPr wrap="square" rtlCol="0">
            <a:noAutofit/>
          </a:bodyPr>
          <a:lstStyle/>
          <a:p>
            <a:r>
              <a:rPr lang="en-US" altLang="zh-CN" dirty="0">
                <a:latin typeface="微软雅黑" panose="020B0503020204020204" charset="-122"/>
                <a:ea typeface="微软雅黑" panose="020B0503020204020204" charset="-122"/>
              </a:rPr>
              <a:t>ROM</a:t>
            </a:r>
            <a:r>
              <a:rPr lang="zh-CN" altLang="en-US" dirty="0">
                <a:latin typeface="微软雅黑" panose="020B0503020204020204" charset="-122"/>
                <a:ea typeface="微软雅黑" panose="020B0503020204020204" charset="-122"/>
              </a:rPr>
              <a:t>模块</a:t>
            </a:r>
            <a:endParaRPr lang="en-US" altLang="zh-CN" dirty="0">
              <a:latin typeface="微软雅黑" panose="020B0503020204020204" charset="-122"/>
              <a:ea typeface="微软雅黑" panose="020B0503020204020204" charset="-122"/>
            </a:endParaRPr>
          </a:p>
          <a:p>
            <a:r>
              <a:rPr lang="zh-CN" altLang="en-US" dirty="0">
                <a:latin typeface="微软雅黑" panose="020B0503020204020204" charset="-122"/>
                <a:ea typeface="微软雅黑" panose="020B0503020204020204" charset="-122"/>
                <a:cs typeface="微软雅黑" panose="020B0503020204020204" charset="-122"/>
              </a:rPr>
              <a:t>存储音符并在脉冲驱动下输出</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4" name="箭头: 下 13"/>
          <p:cNvSpPr/>
          <p:nvPr/>
        </p:nvSpPr>
        <p:spPr>
          <a:xfrm>
            <a:off x="3978194" y="4430684"/>
            <a:ext cx="533400" cy="5891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282626" y="5007114"/>
            <a:ext cx="2247625" cy="1919063"/>
          </a:xfrm>
          <a:prstGeom prst="rect">
            <a:avLst/>
          </a:prstGeom>
          <a:noFill/>
        </p:spPr>
        <p:txBody>
          <a:bodyPr wrap="square" rtlCol="0">
            <a:noAutofit/>
          </a:bodyPr>
          <a:lstStyle/>
          <a:p>
            <a:r>
              <a:rPr lang="zh-CN" altLang="en-US" dirty="0">
                <a:latin typeface="微软雅黑" panose="020B0503020204020204" charset="-122"/>
                <a:ea typeface="微软雅黑" panose="020B0503020204020204" charset="-122"/>
              </a:rPr>
              <a:t>分频比计算模块</a:t>
            </a:r>
            <a:endParaRPr lang="en-US" altLang="zh-CN" dirty="0">
              <a:latin typeface="微软雅黑" panose="020B0503020204020204" charset="-122"/>
              <a:ea typeface="微软雅黑" panose="020B0503020204020204" charset="-122"/>
            </a:endParaRPr>
          </a:p>
          <a:p>
            <a:r>
              <a:rPr lang="en-US" altLang="zh-CN" dirty="0" err="1">
                <a:latin typeface="微软雅黑" panose="020B0503020204020204" charset="-122"/>
                <a:ea typeface="微软雅黑" panose="020B0503020204020204" charset="-122"/>
                <a:cs typeface="微软雅黑" panose="020B0503020204020204" charset="-122"/>
              </a:rPr>
              <a:t>Divnum</a:t>
            </a:r>
            <a:r>
              <a:rPr lang="en-US" altLang="zh-CN" dirty="0">
                <a:latin typeface="微软雅黑" panose="020B0503020204020204" charset="-122"/>
                <a:ea typeface="微软雅黑" panose="020B0503020204020204" charset="-122"/>
                <a:cs typeface="微软雅黑" panose="020B0503020204020204" charset="-122"/>
              </a:rPr>
              <a:t>=</a:t>
            </a:r>
            <a:endParaRPr lang="en-US" altLang="zh-CN" dirty="0">
              <a:latin typeface="微软雅黑" panose="020B0503020204020204" charset="-122"/>
              <a:ea typeface="微软雅黑" panose="020B0503020204020204" charset="-122"/>
              <a:cs typeface="微软雅黑" panose="020B0503020204020204" charset="-122"/>
            </a:endParaRPr>
          </a:p>
          <a:p>
            <a:r>
              <a:rPr lang="en-US" altLang="zh-CN" dirty="0">
                <a:latin typeface="微软雅黑" panose="020B0503020204020204" charset="-122"/>
                <a:ea typeface="微软雅黑" panose="020B0503020204020204" charset="-122"/>
                <a:cs typeface="微软雅黑" panose="020B0503020204020204" charset="-122"/>
              </a:rPr>
              <a:t>50Mhz/frequency</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6" name="箭头: 下 15"/>
          <p:cNvSpPr/>
          <p:nvPr/>
        </p:nvSpPr>
        <p:spPr>
          <a:xfrm>
            <a:off x="6016251" y="4430684"/>
            <a:ext cx="533400" cy="5891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7343714" y="5019119"/>
            <a:ext cx="2247625" cy="1919063"/>
          </a:xfrm>
          <a:prstGeom prst="rect">
            <a:avLst/>
          </a:prstGeom>
          <a:noFill/>
        </p:spPr>
        <p:txBody>
          <a:bodyPr wrap="square" rtlCol="0">
            <a:noAutofit/>
          </a:bodyPr>
          <a:lstStyle/>
          <a:p>
            <a:r>
              <a:rPr lang="zh-CN" altLang="en-US" dirty="0">
                <a:latin typeface="微软雅黑" panose="020B0503020204020204" charset="-122"/>
                <a:ea typeface="微软雅黑" panose="020B0503020204020204" charset="-122"/>
              </a:rPr>
              <a:t>波形产生模块</a:t>
            </a:r>
            <a:endParaRPr lang="en-US" altLang="zh-CN" dirty="0">
              <a:latin typeface="微软雅黑" panose="020B0503020204020204" charset="-122"/>
              <a:ea typeface="微软雅黑" panose="020B0503020204020204" charset="-122"/>
            </a:endParaRPr>
          </a:p>
          <a:p>
            <a:r>
              <a:rPr lang="zh-CN" altLang="zh-CN" dirty="0">
                <a:latin typeface="微软雅黑" panose="020B0503020204020204" charset="-122"/>
                <a:ea typeface="微软雅黑" panose="020B0503020204020204" charset="-122"/>
              </a:rPr>
              <a:t>根据分频比，产生对应频率的波形输出</a:t>
            </a:r>
            <a:endParaRPr lang="zh-CN" altLang="zh-CN" dirty="0">
              <a:latin typeface="微软雅黑" panose="020B0503020204020204" charset="-122"/>
              <a:ea typeface="微软雅黑" panose="020B0503020204020204" charset="-122"/>
            </a:endParaRPr>
          </a:p>
          <a:p>
            <a:endParaRPr lang="zh-CN" altLang="en-US" sz="1600" b="1" dirty="0">
              <a:latin typeface="微软雅黑" panose="020B0503020204020204" charset="-122"/>
              <a:ea typeface="微软雅黑" panose="020B0503020204020204" charset="-122"/>
              <a:cs typeface="微软雅黑" panose="020B0503020204020204" charset="-122"/>
            </a:endParaRPr>
          </a:p>
        </p:txBody>
      </p:sp>
      <p:sp>
        <p:nvSpPr>
          <p:cNvPr id="18" name="箭头: 下 17"/>
          <p:cNvSpPr/>
          <p:nvPr/>
        </p:nvSpPr>
        <p:spPr>
          <a:xfrm>
            <a:off x="8077339" y="4442689"/>
            <a:ext cx="533400" cy="5891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p:bldP spid="11" grpId="1"/>
      <p:bldP spid="9" grpId="0"/>
      <p:bldP spid="9" grpId="1"/>
      <p:bldP spid="13" grpId="0"/>
      <p:bldP spid="13" grpId="1"/>
      <p:bldP spid="15" grpId="0"/>
      <p:bldP spid="15" grpId="1"/>
      <p:bldP spid="17" grpId="0"/>
      <p:bldP spid="17"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505" y="1931987"/>
            <a:ext cx="10494645" cy="1325563"/>
          </a:xfrm>
        </p:spPr>
        <p:txBody>
          <a:bodyPr/>
          <a:lstStyle/>
          <a:p>
            <a:r>
              <a:rPr lang="en-US" altLang="zh-CN" b="1" dirty="0">
                <a:latin typeface="微软雅黑" panose="020B0503020204020204" charset="-122"/>
                <a:ea typeface="微软雅黑" panose="020B0503020204020204" charset="-122"/>
                <a:sym typeface="+mn-ea"/>
              </a:rPr>
              <a:t>                   Part4   </a:t>
            </a:r>
            <a:r>
              <a:rPr lang="zh-CN" altLang="en-US" b="1" dirty="0">
                <a:latin typeface="微软雅黑" panose="020B0503020204020204" charset="-122"/>
                <a:ea typeface="微软雅黑" panose="020B0503020204020204" charset="-122"/>
                <a:sym typeface="+mn-ea"/>
              </a:rPr>
              <a:t>拓展模块介绍</a:t>
            </a:r>
            <a:br>
              <a:rPr lang="en-US" altLang="zh-CN" b="1" dirty="0">
                <a:latin typeface="微软雅黑" panose="020B0503020204020204" charset="-122"/>
                <a:ea typeface="微软雅黑" panose="020B0503020204020204" charset="-122"/>
                <a:sym typeface="+mn-ea"/>
              </a:rPr>
            </a:br>
            <a:br>
              <a:rPr lang="en-US" altLang="zh-CN" b="1" dirty="0">
                <a:latin typeface="微软雅黑" panose="020B0503020204020204" charset="-122"/>
                <a:ea typeface="微软雅黑" panose="020B0503020204020204" charset="-122"/>
                <a:sym typeface="+mn-ea"/>
              </a:rPr>
            </a:br>
            <a:br>
              <a:rPr lang="en-US" altLang="zh-CN" b="1" dirty="0">
                <a:latin typeface="微软雅黑" panose="020B0503020204020204" charset="-122"/>
                <a:ea typeface="微软雅黑" panose="020B0503020204020204" charset="-122"/>
                <a:sym typeface="+mn-ea"/>
              </a:rPr>
            </a:br>
            <a:r>
              <a:rPr lang="en-US" altLang="zh-CN" sz="4000" b="1" dirty="0">
                <a:latin typeface="宋体" pitchFamily="2" charset="-122"/>
                <a:ea typeface="宋体" pitchFamily="2" charset="-122"/>
                <a:cs typeface="宋体" pitchFamily="2" charset="-122"/>
                <a:sym typeface="+mn-ea"/>
              </a:rPr>
              <a:t>   </a:t>
            </a:r>
            <a:endParaRPr lang="en-US" altLang="zh-CN" sz="4000" b="1" dirty="0">
              <a:latin typeface="宋体" pitchFamily="2" charset="-122"/>
              <a:ea typeface="宋体" pitchFamily="2" charset="-122"/>
              <a:cs typeface="宋体" pitchFamily="2" charset="-122"/>
              <a:sym typeface="+mn-ea"/>
            </a:endParaRPr>
          </a:p>
        </p:txBody>
      </p:sp>
      <p:pic>
        <p:nvPicPr>
          <p:cNvPr id="4" name="图片 3" descr="未命名文件 (1)"/>
          <p:cNvPicPr>
            <a:picLocks noChangeAspect="1"/>
          </p:cNvPicPr>
          <p:nvPr/>
        </p:nvPicPr>
        <p:blipFill>
          <a:blip r:embed="rId1"/>
          <a:stretch>
            <a:fillRect/>
          </a:stretch>
        </p:blipFill>
        <p:spPr>
          <a:xfrm>
            <a:off x="2700161" y="2844800"/>
            <a:ext cx="7020600" cy="3136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2811" y="712246"/>
            <a:ext cx="10841022" cy="461962"/>
            <a:chOff x="1072811" y="691926"/>
            <a:chExt cx="10841022" cy="461962"/>
          </a:xfrm>
        </p:grpSpPr>
        <p:sp>
          <p:nvSpPr>
            <p:cNvPr id="6" name="文本框 34"/>
            <p:cNvSpPr txBox="1">
              <a:spLocks noChangeArrowheads="1"/>
            </p:cNvSpPr>
            <p:nvPr/>
          </p:nvSpPr>
          <p:spPr bwMode="auto">
            <a:xfrm>
              <a:off x="1072811" y="691926"/>
              <a:ext cx="38328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rPr>
                <a:t>4.1 </a:t>
              </a:r>
              <a:r>
                <a:rPr lang="zh-CN" altLang="en-US" sz="2400" b="1" dirty="0">
                  <a:latin typeface="微软雅黑" panose="020B0503020204020204" charset="-122"/>
                  <a:ea typeface="微软雅黑" panose="020B0503020204020204" charset="-122"/>
                </a:rPr>
                <a:t>拓展功能介绍</a:t>
              </a:r>
              <a:endParaRPr lang="zh-CN" altLang="en-US" sz="2400" b="1" dirty="0">
                <a:latin typeface="微软雅黑" panose="020B0503020204020204" charset="-122"/>
                <a:ea typeface="微软雅黑" panose="020B0503020204020204" charset="-122"/>
              </a:endParaRPr>
            </a:p>
          </p:txBody>
        </p:sp>
        <p:cxnSp>
          <p:nvCxnSpPr>
            <p:cNvPr id="7" name="直接连接符 6"/>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矩形 27"/>
          <p:cNvSpPr>
            <a:spLocks noChangeArrowheads="1"/>
          </p:cNvSpPr>
          <p:nvPr/>
        </p:nvSpPr>
        <p:spPr bwMode="auto">
          <a:xfrm>
            <a:off x="1072515" y="1366520"/>
            <a:ext cx="520128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None/>
              <a:defRPr/>
            </a:pPr>
            <a:r>
              <a:rPr lang="zh-CN" altLang="en-US" sz="1600" dirty="0">
                <a:solidFill>
                  <a:srgbClr val="005BBB"/>
                </a:solidFill>
              </a:rPr>
              <a:t>■ </a:t>
            </a:r>
            <a:r>
              <a:rPr lang="zh-CN" altLang="zh-CN" sz="1800" b="1" kern="100" dirty="0">
                <a:effectLst/>
                <a:latin typeface="微软雅黑" panose="020B0503020204020204" charset="-122"/>
                <a:ea typeface="微软雅黑" panose="020B0503020204020204" charset="-122"/>
                <a:cs typeface="Times New Roman" panose="02020603050405020304" pitchFamily="18" charset="0"/>
                <a:sym typeface="+mn-ea"/>
              </a:rPr>
              <a:t>过渡模块升级：</a:t>
            </a:r>
            <a:r>
              <a:rPr lang="zh-CN" altLang="zh-CN" sz="1800" b="1" kern="100" dirty="0">
                <a:effectLst/>
                <a:latin typeface="微软雅黑" panose="020B0503020204020204" charset="-122"/>
                <a:ea typeface="微软雅黑" panose="020B0503020204020204" charset="-122"/>
                <a:cs typeface="Times New Roman" panose="02020603050405020304" pitchFamily="18" charset="0"/>
              </a:rPr>
              <a:t>中央处理模块</a:t>
            </a:r>
            <a:endParaRPr lang="zh-CN" altLang="zh-CN" sz="18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zh-CN" altLang="en-US" sz="1800" b="1" dirty="0">
              <a:solidFill>
                <a:schemeClr val="tx1">
                  <a:lumMod val="65000"/>
                  <a:lumOff val="35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4" name="文本框 3"/>
          <p:cNvSpPr txBox="1"/>
          <p:nvPr/>
        </p:nvSpPr>
        <p:spPr>
          <a:xfrm>
            <a:off x="9331325" y="1836420"/>
            <a:ext cx="2537460" cy="81597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endParaRPr>
          </a:p>
        </p:txBody>
      </p:sp>
      <p:sp>
        <p:nvSpPr>
          <p:cNvPr id="9" name="文本框 8"/>
          <p:cNvSpPr txBox="1"/>
          <p:nvPr/>
        </p:nvSpPr>
        <p:spPr>
          <a:xfrm>
            <a:off x="9331325" y="2880995"/>
            <a:ext cx="2418080" cy="1526540"/>
          </a:xfrm>
          <a:prstGeom prst="rect">
            <a:avLst/>
          </a:prstGeom>
          <a:noFill/>
        </p:spPr>
        <p:txBody>
          <a:bodyPr wrap="square" rtlCol="0">
            <a:noAutofit/>
          </a:bodyPr>
          <a:lstStyle/>
          <a:p>
            <a:endParaRPr lang="zh-CN" altLang="en-US" dirty="0"/>
          </a:p>
        </p:txBody>
      </p:sp>
      <p:sp>
        <p:nvSpPr>
          <p:cNvPr id="3" name="矩形 27"/>
          <p:cNvSpPr>
            <a:spLocks noChangeArrowheads="1"/>
          </p:cNvSpPr>
          <p:nvPr/>
        </p:nvSpPr>
        <p:spPr bwMode="auto">
          <a:xfrm>
            <a:off x="1072515" y="2259330"/>
            <a:ext cx="603377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None/>
              <a:defRPr/>
            </a:pPr>
            <a:r>
              <a:rPr lang="zh-CN" altLang="en-US" sz="1600" dirty="0">
                <a:solidFill>
                  <a:srgbClr val="005BBB"/>
                </a:solidFill>
              </a:rPr>
              <a:t>■ </a:t>
            </a:r>
            <a:r>
              <a:rPr lang="zh-CN" altLang="en-US" sz="1800" b="1" kern="100" dirty="0">
                <a:effectLst/>
                <a:latin typeface="微软雅黑" panose="020B0503020204020204" charset="-122"/>
                <a:ea typeface="微软雅黑" panose="020B0503020204020204" charset="-122"/>
                <a:cs typeface="Times New Roman" panose="02020603050405020304" pitchFamily="18" charset="0"/>
                <a:sym typeface="+mn-ea"/>
              </a:rPr>
              <a:t>音乐播放器模块升级：</a:t>
            </a:r>
            <a:r>
              <a:rPr lang="zh-CN" altLang="zh-CN" sz="1800" b="1" kern="100" dirty="0">
                <a:effectLst/>
                <a:latin typeface="微软雅黑" panose="020B0503020204020204" charset="-122"/>
                <a:ea typeface="微软雅黑" panose="020B0503020204020204" charset="-122"/>
                <a:cs typeface="Times New Roman" panose="02020603050405020304" pitchFamily="18" charset="0"/>
              </a:rPr>
              <a:t>多路选择音乐播放器模块</a:t>
            </a:r>
            <a:r>
              <a:rPr lang="en-US" altLang="zh-CN" sz="1800" b="1" kern="100" dirty="0">
                <a:effectLst/>
                <a:latin typeface="微软雅黑" panose="020B0503020204020204" charset="-122"/>
                <a:ea typeface="微软雅黑" panose="020B0503020204020204" charset="-122"/>
                <a:cs typeface="Times New Roman" panose="02020603050405020304" pitchFamily="18" charset="0"/>
              </a:rPr>
              <a:t> </a:t>
            </a:r>
            <a:endParaRPr lang="zh-CN" altLang="zh-CN" sz="1800" b="1" kern="100" dirty="0">
              <a:effectLst/>
              <a:latin typeface="微软雅黑" panose="020B0503020204020204" charset="-122"/>
              <a:ea typeface="微软雅黑" panose="020B0503020204020204" charset="-122"/>
              <a:cs typeface="Times New Roman" panose="02020603050405020304" pitchFamily="18" charset="0"/>
            </a:endParaRPr>
          </a:p>
          <a:p>
            <a:pPr>
              <a:lnSpc>
                <a:spcPct val="150000"/>
              </a:lnSpc>
              <a:spcBef>
                <a:spcPct val="0"/>
              </a:spcBef>
              <a:buFontTx/>
              <a:buNone/>
              <a:defRPr/>
            </a:pPr>
            <a:endParaRPr lang="zh-CN" altLang="en-US" sz="1800" b="1" dirty="0">
              <a:solidFill>
                <a:schemeClr val="tx1">
                  <a:lumMod val="65000"/>
                  <a:lumOff val="35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11" name="文本框 10"/>
          <p:cNvSpPr txBox="1"/>
          <p:nvPr/>
        </p:nvSpPr>
        <p:spPr>
          <a:xfrm>
            <a:off x="1072515" y="1901190"/>
            <a:ext cx="10508615" cy="368300"/>
          </a:xfrm>
          <a:prstGeom prst="rect">
            <a:avLst/>
          </a:prstGeom>
          <a:noFill/>
        </p:spPr>
        <p:txBody>
          <a:bodyPr wrap="square">
            <a:spAutoFit/>
          </a:bodyPr>
          <a:lstStyle/>
          <a:p>
            <a:pPr indent="266700" algn="just"/>
            <a:r>
              <a:rPr lang="zh-CN" altLang="zh-CN" sz="1800" kern="100" dirty="0">
                <a:effectLst/>
                <a:latin typeface="微软雅黑" panose="020B0503020204020204" charset="-122"/>
                <a:ea typeface="微软雅黑" panose="020B0503020204020204" charset="-122"/>
                <a:cs typeface="Times New Roman" panose="02020603050405020304" pitchFamily="18" charset="0"/>
              </a:rPr>
              <a:t>综合处理多个加速度传感器的输入，进行综合处理，输出可供通讯模块通讯的音乐播放器模块控制字</a:t>
            </a:r>
            <a:endParaRPr lang="zh-CN" altLang="zh-CN" sz="1800" kern="100" dirty="0">
              <a:effectLst/>
              <a:latin typeface="微软雅黑" panose="020B0503020204020204" charset="-122"/>
              <a:ea typeface="微软雅黑" panose="020B0503020204020204" charset="-122"/>
              <a:cs typeface="Times New Roman" panose="02020603050405020304" pitchFamily="18" charset="0"/>
            </a:endParaRPr>
          </a:p>
        </p:txBody>
      </p:sp>
      <p:sp>
        <p:nvSpPr>
          <p:cNvPr id="13" name="文本框 12"/>
          <p:cNvSpPr txBox="1"/>
          <p:nvPr/>
        </p:nvSpPr>
        <p:spPr>
          <a:xfrm>
            <a:off x="1314450" y="2813050"/>
            <a:ext cx="9490075" cy="368300"/>
          </a:xfrm>
          <a:prstGeom prst="rect">
            <a:avLst/>
          </a:prstGeom>
          <a:noFill/>
        </p:spPr>
        <p:txBody>
          <a:bodyPr wrap="square">
            <a:spAutoFit/>
          </a:bodyPr>
          <a:lstStyle/>
          <a:p>
            <a:r>
              <a:rPr lang="zh-CN" altLang="zh-CN" sz="1800" kern="100" dirty="0">
                <a:effectLst/>
                <a:latin typeface="微软雅黑" panose="020B0503020204020204" charset="-122"/>
                <a:ea typeface="微软雅黑" panose="020B0503020204020204" charset="-122"/>
                <a:cs typeface="Times New Roman" panose="02020603050405020304" pitchFamily="18" charset="0"/>
              </a:rPr>
              <a:t>接受通讯模块传输出的中央处理模块控制字，在传输进一个不同的多位组合后播放不同音乐</a:t>
            </a:r>
            <a:endParaRPr lang="zh-CN" altLang="en-US" dirty="0">
              <a:latin typeface="微软雅黑" panose="020B0503020204020204" charset="-122"/>
              <a:ea typeface="微软雅黑" panose="020B0503020204020204" charset="-122"/>
            </a:endParaRPr>
          </a:p>
        </p:txBody>
      </p:sp>
      <p:pic>
        <p:nvPicPr>
          <p:cNvPr id="14" name="图片 13" descr="未命名文件 (1)"/>
          <p:cNvPicPr>
            <a:picLocks noChangeAspect="1"/>
          </p:cNvPicPr>
          <p:nvPr>
            <p:custDataLst>
              <p:tags r:id="rId1"/>
            </p:custDataLst>
          </p:nvPr>
        </p:nvPicPr>
        <p:blipFill>
          <a:blip r:embed="rId2"/>
          <a:stretch>
            <a:fillRect/>
          </a:stretch>
        </p:blipFill>
        <p:spPr>
          <a:xfrm>
            <a:off x="1072656" y="3342005"/>
            <a:ext cx="7020600" cy="3136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072810" y="691926"/>
            <a:ext cx="10841023" cy="461962"/>
            <a:chOff x="1072810" y="691926"/>
            <a:chExt cx="10841023" cy="461962"/>
          </a:xfrm>
        </p:grpSpPr>
        <p:sp>
          <p:nvSpPr>
            <p:cNvPr id="11" name="文本框 34"/>
            <p:cNvSpPr txBox="1">
              <a:spLocks noChangeArrowheads="1"/>
            </p:cNvSpPr>
            <p:nvPr/>
          </p:nvSpPr>
          <p:spPr bwMode="auto">
            <a:xfrm>
              <a:off x="1072810" y="691926"/>
              <a:ext cx="36134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en-US" altLang="zh-CN" sz="2400" b="1" dirty="0">
                  <a:latin typeface="微软雅黑" panose="020B0503020204020204" charset="-122"/>
                  <a:ea typeface="微软雅黑" panose="020B0503020204020204" charset="-122"/>
                  <a:sym typeface="+mn-ea"/>
                </a:rPr>
                <a:t>4.2 </a:t>
              </a:r>
              <a:r>
                <a:rPr lang="zh-CN" altLang="en-US" sz="2400" b="1" dirty="0">
                  <a:latin typeface="微软雅黑" panose="020B0503020204020204" charset="-122"/>
                  <a:ea typeface="微软雅黑" panose="020B0503020204020204" charset="-122"/>
                  <a:sym typeface="+mn-ea"/>
                </a:rPr>
                <a:t>进一步拓展设想</a:t>
              </a:r>
              <a:endParaRPr lang="zh-CN" altLang="en-US" sz="2400" b="1" dirty="0">
                <a:latin typeface="微软雅黑" panose="020B0503020204020204" charset="-122"/>
                <a:ea typeface="微软雅黑" panose="020B0503020204020204" charset="-122"/>
                <a:sym typeface="+mn-ea"/>
              </a:endParaRPr>
            </a:p>
          </p:txBody>
        </p:sp>
        <p:cxnSp>
          <p:nvCxnSpPr>
            <p:cNvPr id="14" name="直接连接符 13"/>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矩形 47"/>
          <p:cNvSpPr>
            <a:spLocks noChangeArrowheads="1"/>
          </p:cNvSpPr>
          <p:nvPr/>
        </p:nvSpPr>
        <p:spPr bwMode="auto">
          <a:xfrm>
            <a:off x="1170465" y="2482474"/>
            <a:ext cx="47252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defRPr/>
            </a:pPr>
            <a:r>
              <a:rPr lang="zh-CN" altLang="en-US" sz="1800" b="1" dirty="0">
                <a:latin typeface="微软雅黑" panose="020B0503020204020204" charset="-122"/>
                <a:ea typeface="微软雅黑" panose="020B0503020204020204" charset="-122"/>
                <a:cs typeface="Times New Roman" panose="02020603050405020304" pitchFamily="18" charset="0"/>
              </a:rPr>
              <a:t> </a:t>
            </a:r>
            <a:endParaRPr lang="zh-CN" altLang="en-US" sz="1800" b="1" dirty="0">
              <a:latin typeface="微软雅黑" panose="020B0503020204020204" charset="-122"/>
              <a:ea typeface="微软雅黑" panose="020B0503020204020204" charset="-122"/>
              <a:cs typeface="Times New Roman" panose="02020603050405020304" pitchFamily="18" charset="0"/>
            </a:endParaRPr>
          </a:p>
        </p:txBody>
      </p:sp>
      <p:sp>
        <p:nvSpPr>
          <p:cNvPr id="5" name="文本框 4"/>
          <p:cNvSpPr txBox="1"/>
          <p:nvPr/>
        </p:nvSpPr>
        <p:spPr>
          <a:xfrm>
            <a:off x="1072810" y="1547495"/>
            <a:ext cx="4064000" cy="4247317"/>
          </a:xfrm>
          <a:prstGeom prst="rect">
            <a:avLst/>
          </a:prstGeom>
          <a:noFill/>
        </p:spPr>
        <p:txBody>
          <a:bodyPr wrap="square" rtlCol="0">
            <a:spAutoFit/>
          </a:bodyPr>
          <a:lstStyle/>
          <a:p>
            <a:r>
              <a:rPr lang="zh-CN" altLang="en-US" dirty="0">
                <a:solidFill>
                  <a:srgbClr val="005BBB"/>
                </a:solidFill>
                <a:sym typeface="+mn-ea"/>
              </a:rPr>
              <a:t>■ </a:t>
            </a:r>
            <a:r>
              <a:rPr lang="zh-CN" altLang="en-US" dirty="0">
                <a:latin typeface="微软雅黑" panose="020B0503020204020204" charset="-122"/>
                <a:ea typeface="微软雅黑" panose="020B0503020204020204" charset="-122"/>
                <a:sym typeface="+mn-ea"/>
              </a:rPr>
              <a:t>由本设计的基本逻辑，即输入一个信号，经过中央处理后由通讯模块进行信号转换，再将信号无线传输出去进入后续模块。如果我们将思维发散开来，那么后续信号就可以不仅仅局限于音乐播放，比如可以通过改变或增加一些模块来实现视频播放。</a:t>
            </a:r>
            <a:endParaRPr lang="en-US" altLang="zh-CN" dirty="0">
              <a:latin typeface="微软雅黑" panose="020B0503020204020204" charset="-122"/>
              <a:ea typeface="微软雅黑" panose="020B0503020204020204" charset="-122"/>
              <a:sym typeface="+mn-ea"/>
            </a:endParaRPr>
          </a:p>
          <a:p>
            <a:endParaRPr lang="en-US" altLang="zh-CN" dirty="0">
              <a:latin typeface="微软雅黑" panose="020B0503020204020204" charset="-122"/>
              <a:ea typeface="微软雅黑" panose="020B0503020204020204" charset="-122"/>
              <a:sym typeface="+mn-ea"/>
            </a:endParaRPr>
          </a:p>
          <a:p>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进一步的，如果再改变加速度模块的位置或者数量，增加心率传感器或温度传感器模块，则期望可以做到监测心率并播报或报警，检测天气温度湿度。以此来实现对智慧养老的更多需求。</a:t>
            </a:r>
            <a:endParaRPr lang="en-US" altLang="zh-CN" dirty="0">
              <a:latin typeface="微软雅黑" panose="020B0503020204020204" charset="-122"/>
              <a:ea typeface="微软雅黑" panose="020B0503020204020204" charset="-122"/>
              <a:sym typeface="+mn-ea"/>
            </a:endParaRPr>
          </a:p>
          <a:p>
            <a:endParaRPr lang="zh-CN" altLang="en-US" b="1" dirty="0">
              <a:latin typeface="微软雅黑" panose="020B0503020204020204" charset="-122"/>
              <a:ea typeface="微软雅黑" panose="020B0503020204020204" charset="-122"/>
              <a:cs typeface="微软雅黑" panose="020B0503020204020204" charset="-122"/>
            </a:endParaRPr>
          </a:p>
        </p:txBody>
      </p:sp>
      <p:pic>
        <p:nvPicPr>
          <p:cNvPr id="2050" name="Picture 2" descr="在这里插入图片描述"/>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10250" y="1417133"/>
            <a:ext cx="3073400" cy="230934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在这里插入图片描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4283" y="3726476"/>
            <a:ext cx="4019550" cy="2435847"/>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6096000" y="4344803"/>
            <a:ext cx="2260940" cy="646331"/>
          </a:xfrm>
          <a:prstGeom prst="rect">
            <a:avLst/>
          </a:prstGeom>
          <a:noFill/>
        </p:spPr>
        <p:txBody>
          <a:bodyPr wrap="square" rtlCol="0">
            <a:spAutoFit/>
          </a:bodyPr>
          <a:lstStyle/>
          <a:p>
            <a:r>
              <a:rPr lang="zh-CN" altLang="en-US" dirty="0">
                <a:solidFill>
                  <a:srgbClr val="005BBB"/>
                </a:solidFill>
                <a:sym typeface="+mn-ea"/>
              </a:rPr>
              <a:t>■常见的温度传感器和心率传感器示意图</a:t>
            </a:r>
            <a:endParaRPr lang="zh-CN" altLang="en-US"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p:bldP spid="7"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7195" y="2662237"/>
            <a:ext cx="10494645" cy="1325563"/>
          </a:xfrm>
        </p:spPr>
        <p:txBody>
          <a:bodyPr/>
          <a:lstStyle/>
          <a:p>
            <a:r>
              <a:rPr lang="en-US" altLang="zh-CN" b="1" dirty="0">
                <a:latin typeface="微软雅黑" panose="020B0503020204020204" charset="-122"/>
                <a:ea typeface="微软雅黑" panose="020B0503020204020204" charset="-122"/>
                <a:sym typeface="+mn-ea"/>
              </a:rPr>
              <a:t>                   Part5  </a:t>
            </a:r>
            <a:r>
              <a:rPr lang="zh-CN" altLang="en-US" b="1" dirty="0">
                <a:latin typeface="微软雅黑" panose="020B0503020204020204" charset="-122"/>
                <a:ea typeface="微软雅黑" panose="020B0503020204020204" charset="-122"/>
                <a:sym typeface="+mn-ea"/>
              </a:rPr>
              <a:t>时间安排与组员分工</a:t>
            </a:r>
            <a:br>
              <a:rPr lang="en-US" altLang="zh-CN" b="1" dirty="0">
                <a:latin typeface="微软雅黑" panose="020B0503020204020204" charset="-122"/>
                <a:ea typeface="微软雅黑" panose="020B0503020204020204" charset="-122"/>
                <a:sym typeface="+mn-ea"/>
              </a:rPr>
            </a:br>
            <a:br>
              <a:rPr lang="en-US" altLang="zh-CN" b="1" dirty="0">
                <a:latin typeface="微软雅黑" panose="020B0503020204020204" charset="-122"/>
                <a:ea typeface="微软雅黑" panose="020B0503020204020204" charset="-122"/>
                <a:sym typeface="+mn-ea"/>
              </a:rPr>
            </a:br>
            <a:br>
              <a:rPr lang="en-US" altLang="zh-CN" b="1" dirty="0">
                <a:latin typeface="微软雅黑" panose="020B0503020204020204" charset="-122"/>
                <a:ea typeface="微软雅黑" panose="020B0503020204020204" charset="-122"/>
                <a:sym typeface="+mn-ea"/>
              </a:rPr>
            </a:br>
            <a:r>
              <a:rPr lang="en-US" altLang="zh-CN" sz="4000" b="1" dirty="0">
                <a:latin typeface="宋体" pitchFamily="2" charset="-122"/>
                <a:ea typeface="宋体" pitchFamily="2" charset="-122"/>
                <a:cs typeface="宋体" pitchFamily="2" charset="-122"/>
                <a:sym typeface="+mn-ea"/>
              </a:rPr>
              <a:t>   </a:t>
            </a:r>
            <a:endParaRPr lang="en-US" altLang="zh-CN" sz="4000" b="1" dirty="0">
              <a:latin typeface="宋体" pitchFamily="2" charset="-122"/>
              <a:ea typeface="宋体" pitchFamily="2" charset="-122"/>
              <a:cs typeface="宋体"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072811" y="691926"/>
            <a:ext cx="10841022" cy="461962"/>
            <a:chOff x="1072811" y="691926"/>
            <a:chExt cx="10841022" cy="461962"/>
          </a:xfrm>
        </p:grpSpPr>
        <p:sp>
          <p:nvSpPr>
            <p:cNvPr id="18" name="文本框 34"/>
            <p:cNvSpPr txBox="1">
              <a:spLocks noChangeArrowheads="1"/>
            </p:cNvSpPr>
            <p:nvPr/>
          </p:nvSpPr>
          <p:spPr bwMode="auto">
            <a:xfrm>
              <a:off x="1072811" y="691926"/>
              <a:ext cx="25349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时间规划</a:t>
              </a:r>
              <a:endParaRPr lang="zh-CN" altLang="en-US" sz="2400" b="1" dirty="0">
                <a:latin typeface="微软雅黑" panose="020B0503020204020204" charset="-122"/>
                <a:ea typeface="微软雅黑" panose="020B0503020204020204" charset="-122"/>
              </a:endParaRPr>
            </a:p>
          </p:txBody>
        </p:sp>
        <p:cxnSp>
          <p:nvCxnSpPr>
            <p:cNvPr id="19" name="直接连接符 1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1117600" y="1377950"/>
            <a:ext cx="10655300" cy="4154170"/>
          </a:xfrm>
          <a:prstGeom prst="rect">
            <a:avLst/>
          </a:prstGeom>
          <a:noFill/>
        </p:spPr>
        <p:txBody>
          <a:bodyPr wrap="square" rtlCol="0">
            <a:spAutoFit/>
          </a:bodyPr>
          <a:lstStyle/>
          <a:p>
            <a:pPr>
              <a:lnSpc>
                <a:spcPct val="150000"/>
              </a:lnSpc>
            </a:pPr>
            <a:r>
              <a:rPr lang="zh-CN" altLang="en-US" sz="2800" b="1" dirty="0">
                <a:latin typeface="微软雅黑" panose="020B0503020204020204" charset="-122"/>
                <a:ea typeface="微软雅黑" panose="020B0503020204020204" charset="-122"/>
              </a:rPr>
              <a:t>夏四周</a:t>
            </a:r>
            <a:r>
              <a:rPr lang="zh-CN" altLang="en-US" sz="2400" b="1" dirty="0">
                <a:latin typeface="微软雅黑" panose="020B0503020204020204" charset="-122"/>
                <a:ea typeface="微软雅黑" panose="020B0503020204020204" charset="-122"/>
              </a:rPr>
              <a:t>：</a:t>
            </a:r>
            <a:r>
              <a:rPr lang="zh-CN" altLang="en-US" sz="2400" b="0" i="0" dirty="0">
                <a:solidFill>
                  <a:srgbClr val="000000"/>
                </a:solidFill>
                <a:latin typeface="微软雅黑" panose="020B0503020204020204" charset="-122"/>
                <a:ea typeface="微软雅黑" panose="020B0503020204020204" charset="-122"/>
              </a:rPr>
              <a:t>核心模块（加速度传感模块，音乐播放器模块，通讯模块）；</a:t>
            </a:r>
            <a:r>
              <a:rPr lang="zh-CN" altLang="en-US" sz="2400" dirty="0">
                <a:latin typeface="微软雅黑" panose="020B0503020204020204" charset="-122"/>
                <a:ea typeface="微软雅黑" panose="020B0503020204020204" charset="-122"/>
              </a:rPr>
              <a:t> </a:t>
            </a:r>
            <a:endParaRPr lang="en-US" altLang="zh-CN" sz="24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夏五周</a:t>
            </a:r>
            <a:r>
              <a:rPr lang="zh-CN" altLang="en-US" sz="2400" b="1" dirty="0">
                <a:latin typeface="微软雅黑" panose="020B0503020204020204" charset="-122"/>
                <a:ea typeface="微软雅黑" panose="020B0503020204020204" charset="-122"/>
              </a:rPr>
              <a:t>：</a:t>
            </a:r>
            <a:r>
              <a:rPr lang="zh-CN" altLang="en-US" sz="2400" b="0" i="0" dirty="0">
                <a:solidFill>
                  <a:srgbClr val="000000"/>
                </a:solidFill>
                <a:latin typeface="微软雅黑" panose="020B0503020204020204" charset="-122"/>
                <a:ea typeface="微软雅黑" panose="020B0503020204020204" charset="-122"/>
              </a:rPr>
              <a:t>过渡模块，模块连接，整体装置搭建，校验调整</a:t>
            </a:r>
            <a:endParaRPr lang="en-US" altLang="zh-CN" sz="2400" b="0" i="0" dirty="0">
              <a:solidFill>
                <a:srgbClr val="000000"/>
              </a:solidFill>
              <a:latin typeface="微软雅黑" panose="020B0503020204020204" charset="-122"/>
              <a:ea typeface="微软雅黑" panose="020B0503020204020204" charset="-122"/>
            </a:endParaRPr>
          </a:p>
          <a:p>
            <a:pPr>
              <a:lnSpc>
                <a:spcPct val="150000"/>
              </a:lnSpc>
            </a:pPr>
            <a:r>
              <a:rPr lang="zh-CN" altLang="en-US" sz="2400" b="0" i="0" dirty="0">
                <a:solidFill>
                  <a:srgbClr val="000000"/>
                </a:solidFill>
                <a:latin typeface="微软雅黑" panose="020B0503020204020204" charset="-122"/>
                <a:ea typeface="微软雅黑" panose="020B0503020204020204" charset="-122"/>
              </a:rPr>
              <a:t>                 中期计划实现评估与后续计划调整</a:t>
            </a:r>
            <a:r>
              <a:rPr lang="zh-CN" altLang="en-US" sz="2400" dirty="0">
                <a:latin typeface="微软雅黑" panose="020B0503020204020204" charset="-122"/>
                <a:ea typeface="微软雅黑" panose="020B0503020204020204" charset="-122"/>
              </a:rPr>
              <a:t> </a:t>
            </a:r>
            <a:endParaRPr lang="en-US" altLang="zh-CN" sz="24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夏六周：</a:t>
            </a:r>
            <a:r>
              <a:rPr lang="zh-CN" altLang="en-US" sz="2400" b="0" i="0" dirty="0">
                <a:solidFill>
                  <a:srgbClr val="000000"/>
                </a:solidFill>
                <a:latin typeface="微软雅黑" panose="020B0503020204020204" charset="-122"/>
                <a:ea typeface="微软雅黑" panose="020B0503020204020204" charset="-122"/>
              </a:rPr>
              <a:t>拓展模块（中央处理模块，多路选择音乐播放器模块）</a:t>
            </a:r>
            <a:r>
              <a:rPr lang="zh-CN" altLang="en-US" sz="2400" dirty="0">
                <a:latin typeface="微软雅黑" panose="020B0503020204020204" charset="-122"/>
                <a:ea typeface="微软雅黑" panose="020B0503020204020204" charset="-122"/>
              </a:rPr>
              <a:t> ；</a:t>
            </a:r>
            <a:endParaRPr lang="en-US" altLang="zh-CN" sz="24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夏七周：</a:t>
            </a:r>
            <a:r>
              <a:rPr lang="zh-CN" altLang="en-US" sz="2400" dirty="0">
                <a:solidFill>
                  <a:srgbClr val="000000"/>
                </a:solidFill>
                <a:latin typeface="微软雅黑" panose="020B0503020204020204" charset="-122"/>
                <a:ea typeface="微软雅黑" panose="020B0503020204020204" charset="-122"/>
                <a:sym typeface="+mn-ea"/>
              </a:rPr>
              <a:t>模块连接，</a:t>
            </a:r>
            <a:r>
              <a:rPr lang="zh-CN" altLang="en-US" sz="2400" b="0" i="0" dirty="0">
                <a:solidFill>
                  <a:srgbClr val="000000"/>
                </a:solidFill>
                <a:latin typeface="微软雅黑" panose="020B0503020204020204" charset="-122"/>
                <a:ea typeface="微软雅黑" panose="020B0503020204020204" charset="-122"/>
              </a:rPr>
              <a:t>整体装置搭建，校验调整</a:t>
            </a:r>
            <a:r>
              <a:rPr lang="zh-CN" altLang="en-US" sz="2400"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夏八周：</a:t>
            </a:r>
            <a:r>
              <a:rPr lang="zh-CN" altLang="en-US" sz="2400" b="0" i="0" dirty="0">
                <a:solidFill>
                  <a:srgbClr val="000000"/>
                </a:solidFill>
                <a:latin typeface="微软雅黑" panose="020B0503020204020204" charset="-122"/>
                <a:ea typeface="微软雅黑" panose="020B0503020204020204" charset="-122"/>
              </a:rPr>
              <a:t>装置维护与细节优化</a:t>
            </a:r>
            <a:r>
              <a:rPr lang="zh-CN" altLang="en-US" sz="2400" dirty="0">
                <a:latin typeface="微软雅黑" panose="020B0503020204020204" charset="-122"/>
                <a:ea typeface="微软雅黑" panose="020B0503020204020204" charset="-122"/>
              </a:rPr>
              <a:t> ，结题报告，答辩。</a:t>
            </a:r>
            <a:endParaRPr lang="en-US" altLang="zh-CN" sz="2400" dirty="0">
              <a:latin typeface="微软雅黑" panose="020B0503020204020204" charset="-122"/>
              <a:ea typeface="微软雅黑" panose="020B0503020204020204" charset="-122"/>
            </a:endParaRPr>
          </a:p>
          <a:p>
            <a:endParaRPr lang="zh-CN" altLang="en-US"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072811" y="691926"/>
            <a:ext cx="10841022" cy="461962"/>
            <a:chOff x="1072811" y="691926"/>
            <a:chExt cx="10841022" cy="461962"/>
          </a:xfrm>
        </p:grpSpPr>
        <p:sp>
          <p:nvSpPr>
            <p:cNvPr id="18" name="文本框 34"/>
            <p:cNvSpPr txBox="1">
              <a:spLocks noChangeArrowheads="1"/>
            </p:cNvSpPr>
            <p:nvPr/>
          </p:nvSpPr>
          <p:spPr bwMode="auto">
            <a:xfrm>
              <a:off x="1072811" y="691926"/>
              <a:ext cx="25349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spcBef>
                  <a:spcPct val="0"/>
                </a:spcBef>
                <a:buFontTx/>
                <a:buNone/>
              </a:pPr>
              <a:r>
                <a:rPr lang="zh-CN" altLang="en-US" sz="2400" b="1" dirty="0">
                  <a:latin typeface="微软雅黑" panose="020B0503020204020204" charset="-122"/>
                  <a:ea typeface="微软雅黑" panose="020B0503020204020204" charset="-122"/>
                </a:rPr>
                <a:t>组员分工</a:t>
              </a:r>
              <a:endParaRPr lang="zh-CN" altLang="en-US" sz="2400" b="1" dirty="0">
                <a:latin typeface="微软雅黑" panose="020B0503020204020204" charset="-122"/>
                <a:ea typeface="微软雅黑" panose="020B0503020204020204" charset="-122"/>
              </a:endParaRPr>
            </a:p>
          </p:txBody>
        </p:sp>
        <p:cxnSp>
          <p:nvCxnSpPr>
            <p:cNvPr id="19" name="直接连接符 18"/>
            <p:cNvCxnSpPr/>
            <p:nvPr/>
          </p:nvCxnSpPr>
          <p:spPr>
            <a:xfrm>
              <a:off x="1072811" y="1153888"/>
              <a:ext cx="108410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6668770" y="1641475"/>
            <a:ext cx="4116070" cy="1675130"/>
          </a:xfrm>
          <a:prstGeom prst="rect">
            <a:avLst/>
          </a:prstGeom>
          <a:noFill/>
        </p:spPr>
        <p:txBody>
          <a:bodyPr wrap="square" rtlCol="0">
            <a:noAutofit/>
          </a:bodyPr>
          <a:lstStyle/>
          <a:p>
            <a:endParaRPr lang="zh-CN" altLang="en-US"/>
          </a:p>
        </p:txBody>
      </p:sp>
      <p:sp>
        <p:nvSpPr>
          <p:cNvPr id="9" name="文本框 8"/>
          <p:cNvSpPr txBox="1"/>
          <p:nvPr/>
        </p:nvSpPr>
        <p:spPr>
          <a:xfrm>
            <a:off x="6668770" y="3934460"/>
            <a:ext cx="4064000" cy="2740025"/>
          </a:xfrm>
          <a:prstGeom prst="rect">
            <a:avLst/>
          </a:prstGeom>
          <a:noFill/>
        </p:spPr>
        <p:txBody>
          <a:bodyPr wrap="square" rtlCol="0">
            <a:noAutofit/>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8819515" y="1641475"/>
            <a:ext cx="2938780" cy="4029710"/>
          </a:xfrm>
          <a:prstGeom prst="rect">
            <a:avLst/>
          </a:prstGeom>
          <a:noFill/>
        </p:spPr>
        <p:txBody>
          <a:bodyPr wrap="square" rtlCol="0" anchor="t">
            <a:noAutofit/>
          </a:bodyPr>
          <a:lstStyle/>
          <a:p>
            <a:endParaRPr lang="zh-CN" altLang="en-US" b="1" dirty="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1"/>
            </p:custDataLst>
          </p:nvPr>
        </p:nvSpPr>
        <p:spPr>
          <a:xfrm>
            <a:off x="8836025" y="3220720"/>
            <a:ext cx="3355975" cy="2740025"/>
          </a:xfrm>
          <a:prstGeom prst="rect">
            <a:avLst/>
          </a:prstGeom>
          <a:noFill/>
        </p:spPr>
        <p:txBody>
          <a:bodyPr wrap="square" rtlCol="0">
            <a:noAutofit/>
          </a:bodyPr>
          <a:lstStyle/>
          <a:p>
            <a:endParaRPr lang="zh-CN" altLang="en-US" b="1" dirty="0">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996950" y="1585490"/>
            <a:ext cx="10534650" cy="4246245"/>
          </a:xfrm>
          <a:prstGeom prst="rect">
            <a:avLst/>
          </a:prstGeom>
          <a:noFill/>
        </p:spPr>
        <p:txBody>
          <a:bodyPr wrap="square">
            <a:spAutoFit/>
          </a:bodyPr>
          <a:lstStyle/>
          <a:p>
            <a:pPr>
              <a:lnSpc>
                <a:spcPct val="150000"/>
              </a:lnSpc>
            </a:pPr>
            <a:r>
              <a:rPr lang="zh-CN" altLang="en-US" sz="2800" b="1" i="0" u="none" strike="noStrike" dirty="0">
                <a:solidFill>
                  <a:srgbClr val="000000"/>
                </a:solidFill>
                <a:effectLst/>
                <a:latin typeface="微软雅黑" panose="020B0503020204020204" charset="-122"/>
                <a:ea typeface="微软雅黑" panose="020B0503020204020204" charset="-122"/>
              </a:rPr>
              <a:t>组长：郑智瑄：</a:t>
            </a:r>
            <a:r>
              <a:rPr lang="zh-CN" altLang="en-US" sz="2400" dirty="0">
                <a:latin typeface="微软雅黑" panose="020B0503020204020204" charset="-122"/>
                <a:ea typeface="微软雅黑" panose="020B0503020204020204" charset="-122"/>
              </a:rPr>
              <a:t>负责</a:t>
            </a:r>
            <a:r>
              <a:rPr lang="zh-CN" altLang="en-US" sz="2400" b="0" i="0" u="none" strike="noStrike" dirty="0">
                <a:solidFill>
                  <a:srgbClr val="000000"/>
                </a:solidFill>
                <a:effectLst/>
                <a:latin typeface="微软雅黑" panose="020B0503020204020204" charset="-122"/>
                <a:ea typeface="微软雅黑" panose="020B0503020204020204" charset="-122"/>
              </a:rPr>
              <a:t>加速度传感模块，过渡模块（中央处理模块）</a:t>
            </a:r>
            <a:r>
              <a:rPr lang="zh-CN" altLang="en-US" sz="2400" dirty="0">
                <a:latin typeface="微软雅黑" panose="020B0503020204020204" charset="-122"/>
                <a:ea typeface="微软雅黑" panose="020B0503020204020204" charset="-122"/>
              </a:rPr>
              <a:t> ，报告中</a:t>
            </a:r>
            <a:r>
              <a:rPr lang="zh-CN" altLang="en-US" sz="2400" b="0" i="0" u="none" strike="noStrike" dirty="0">
                <a:solidFill>
                  <a:srgbClr val="000000"/>
                </a:solidFill>
                <a:effectLst/>
                <a:latin typeface="微软雅黑" panose="020B0503020204020204" charset="-122"/>
                <a:ea typeface="微软雅黑" panose="020B0503020204020204" charset="-122"/>
              </a:rPr>
              <a:t>文稿编写与图表制作</a:t>
            </a:r>
            <a:endParaRPr lang="en-US" altLang="zh-CN" sz="2400" b="0" i="0" u="none" strike="noStrike" dirty="0">
              <a:solidFill>
                <a:srgbClr val="000000"/>
              </a:solidFill>
              <a:effectLst/>
              <a:latin typeface="微软雅黑" panose="020B0503020204020204" charset="-122"/>
              <a:ea typeface="微软雅黑" panose="020B0503020204020204" charset="-122"/>
            </a:endParaRPr>
          </a:p>
          <a:p>
            <a:pPr>
              <a:lnSpc>
                <a:spcPct val="150000"/>
              </a:lnSpc>
            </a:pPr>
            <a:endParaRPr lang="en-US" altLang="zh-CN" sz="2400" b="0" i="0" u="none" strike="noStrike" dirty="0">
              <a:solidFill>
                <a:srgbClr val="000000"/>
              </a:solidFill>
              <a:effectLst/>
              <a:latin typeface="微软雅黑" panose="020B0503020204020204" charset="-122"/>
              <a:ea typeface="微软雅黑" panose="020B0503020204020204" charset="-122"/>
            </a:endParaRPr>
          </a:p>
          <a:p>
            <a:pPr>
              <a:lnSpc>
                <a:spcPct val="150000"/>
              </a:lnSpc>
            </a:pPr>
            <a:r>
              <a:rPr lang="zh-CN" altLang="en-US" sz="2800" b="1" dirty="0">
                <a:solidFill>
                  <a:srgbClr val="000000"/>
                </a:solidFill>
                <a:latin typeface="微软雅黑" panose="020B0503020204020204" charset="-122"/>
                <a:ea typeface="微软雅黑" panose="020B0503020204020204" charset="-122"/>
              </a:rPr>
              <a:t>组员：李明远：</a:t>
            </a:r>
            <a:r>
              <a:rPr lang="zh-CN" altLang="en-US" sz="2400" dirty="0">
                <a:solidFill>
                  <a:srgbClr val="000000"/>
                </a:solidFill>
                <a:latin typeface="微软雅黑" panose="020B0503020204020204" charset="-122"/>
                <a:ea typeface="微软雅黑" panose="020B0503020204020204" charset="-122"/>
              </a:rPr>
              <a:t>负责</a:t>
            </a:r>
            <a:r>
              <a:rPr lang="zh-CN" altLang="en-US" sz="2400" b="0" i="0" u="none" strike="noStrike" dirty="0">
                <a:solidFill>
                  <a:srgbClr val="000000"/>
                </a:solidFill>
                <a:effectLst/>
                <a:latin typeface="微软雅黑" panose="020B0503020204020204" charset="-122"/>
                <a:ea typeface="微软雅黑" panose="020B0503020204020204" charset="-122"/>
              </a:rPr>
              <a:t>音乐播放器模块（多路选择音乐播放器模块）</a:t>
            </a:r>
            <a:r>
              <a:rPr lang="zh-CN" altLang="en-US" sz="2400" dirty="0">
                <a:latin typeface="微软雅黑" panose="020B0503020204020204" charset="-122"/>
                <a:ea typeface="微软雅黑" panose="020B0503020204020204" charset="-122"/>
              </a:rPr>
              <a:t> ，报告中亦负责</a:t>
            </a:r>
            <a:r>
              <a:rPr lang="zh-CN" altLang="en-US" sz="2400" b="0" i="0" u="none" strike="noStrike" dirty="0">
                <a:solidFill>
                  <a:srgbClr val="000000"/>
                </a:solidFill>
                <a:effectLst/>
                <a:latin typeface="微软雅黑" panose="020B0503020204020204" charset="-122"/>
                <a:ea typeface="微软雅黑" panose="020B0503020204020204" charset="-122"/>
              </a:rPr>
              <a:t>文稿编写与图表制作</a:t>
            </a:r>
            <a:endParaRPr lang="en-US" altLang="zh-CN" sz="2400" b="0" i="0" u="none" strike="noStrike" dirty="0">
              <a:solidFill>
                <a:srgbClr val="000000"/>
              </a:solidFill>
              <a:effectLst/>
              <a:latin typeface="微软雅黑" panose="020B0503020204020204" charset="-122"/>
              <a:ea typeface="微软雅黑" panose="020B0503020204020204" charset="-122"/>
            </a:endParaRPr>
          </a:p>
          <a:p>
            <a:pPr>
              <a:lnSpc>
                <a:spcPct val="150000"/>
              </a:lnSpc>
            </a:pPr>
            <a:endParaRPr lang="en-US" altLang="zh-CN" sz="2400" b="0" i="0" u="none" strike="noStrike" dirty="0">
              <a:solidFill>
                <a:srgbClr val="000000"/>
              </a:solidFill>
              <a:effectLst/>
              <a:latin typeface="微软雅黑" panose="020B0503020204020204" charset="-122"/>
              <a:ea typeface="微软雅黑" panose="020B0503020204020204" charset="-122"/>
            </a:endParaRPr>
          </a:p>
          <a:p>
            <a:pPr>
              <a:lnSpc>
                <a:spcPct val="150000"/>
              </a:lnSpc>
            </a:pPr>
            <a:r>
              <a:rPr lang="zh-CN" altLang="en-US" sz="2800" b="1" dirty="0">
                <a:latin typeface="微软雅黑" panose="020B0503020204020204" charset="-122"/>
                <a:ea typeface="微软雅黑" panose="020B0503020204020204" charset="-122"/>
              </a:rPr>
              <a:t>组员：赵欧凯：</a:t>
            </a:r>
            <a:r>
              <a:rPr lang="zh-CN" altLang="en-US" sz="2400" dirty="0">
                <a:latin typeface="微软雅黑" panose="020B0503020204020204" charset="-122"/>
                <a:ea typeface="微软雅黑" panose="020B0503020204020204" charset="-122"/>
              </a:rPr>
              <a:t>负责</a:t>
            </a:r>
            <a:r>
              <a:rPr lang="zh-CN" altLang="en-US" sz="2400" b="0" i="0" u="none" strike="noStrike" dirty="0">
                <a:solidFill>
                  <a:srgbClr val="000000"/>
                </a:solidFill>
                <a:effectLst/>
                <a:latin typeface="微软雅黑" panose="020B0503020204020204" charset="-122"/>
                <a:ea typeface="微软雅黑" panose="020B0503020204020204" charset="-122"/>
              </a:rPr>
              <a:t>通讯模块</a:t>
            </a:r>
            <a:r>
              <a:rPr lang="zh-CN" altLang="en-US" sz="2400" dirty="0">
                <a:latin typeface="微软雅黑" panose="020B0503020204020204" charset="-122"/>
                <a:ea typeface="微软雅黑" panose="020B0503020204020204" charset="-122"/>
              </a:rPr>
              <a:t> ，报告中负责</a:t>
            </a:r>
            <a:r>
              <a:rPr lang="zh-CN" altLang="en-US" sz="2400" b="0" i="0" u="none" strike="noStrike" dirty="0">
                <a:solidFill>
                  <a:srgbClr val="000000"/>
                </a:solidFill>
                <a:effectLst/>
                <a:latin typeface="微软雅黑" panose="020B0503020204020204" charset="-122"/>
                <a:ea typeface="微软雅黑" panose="020B0503020204020204" charset="-122"/>
              </a:rPr>
              <a:t>图表优化与</a:t>
            </a:r>
            <a:r>
              <a:rPr lang="en-US" altLang="zh-CN" sz="2400" b="0" i="0" u="none" strike="noStrike" dirty="0">
                <a:solidFill>
                  <a:srgbClr val="000000"/>
                </a:solidFill>
                <a:effectLst/>
                <a:latin typeface="微软雅黑" panose="020B0503020204020204" charset="-122"/>
                <a:ea typeface="微软雅黑" panose="020B0503020204020204" charset="-122"/>
              </a:rPr>
              <a:t>PPT</a:t>
            </a:r>
            <a:r>
              <a:rPr lang="zh-CN" altLang="en-US" sz="2400" b="0" i="0" u="none" strike="noStrike" dirty="0">
                <a:solidFill>
                  <a:srgbClr val="000000"/>
                </a:solidFill>
                <a:effectLst/>
                <a:latin typeface="微软雅黑" panose="020B0503020204020204" charset="-122"/>
                <a:ea typeface="微软雅黑" panose="020B0503020204020204" charset="-122"/>
              </a:rPr>
              <a:t>制作</a:t>
            </a:r>
            <a:r>
              <a:rPr lang="zh-CN" altLang="en-US" sz="2400" dirty="0">
                <a:latin typeface="微软雅黑" panose="020B0503020204020204" charset="-122"/>
                <a:ea typeface="微软雅黑" panose="020B0503020204020204" charset="-122"/>
              </a:rPr>
              <a:t> </a:t>
            </a:r>
            <a:endParaRPr lang="zh-CN" altLang="en-US" sz="28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P spid="11" grpId="0"/>
      <p:bldP spid="11"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1"/>
          <p:cNvSpPr>
            <a:spLocks noChangeArrowheads="1"/>
          </p:cNvSpPr>
          <p:nvPr/>
        </p:nvSpPr>
        <p:spPr bwMode="auto">
          <a:xfrm>
            <a:off x="2279651" y="1052514"/>
            <a:ext cx="77501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50000"/>
              </a:lnSpc>
              <a:spcBef>
                <a:spcPct val="0"/>
              </a:spcBef>
              <a:buFontTx/>
              <a:buNone/>
            </a:pPr>
            <a:endParaRPr lang="zh-CN" altLang="zh-CN" sz="1800">
              <a:latin typeface="Palatino Linotype" panose="02040502050505030304" pitchFamily="18" charset="0"/>
            </a:endParaRPr>
          </a:p>
        </p:txBody>
      </p:sp>
      <p:sp>
        <p:nvSpPr>
          <p:cNvPr id="11268" name="文本框 34"/>
          <p:cNvSpPr txBox="1">
            <a:spLocks noChangeArrowheads="1"/>
          </p:cNvSpPr>
          <p:nvPr/>
        </p:nvSpPr>
        <p:spPr bwMode="auto">
          <a:xfrm>
            <a:off x="1377315" y="2720975"/>
            <a:ext cx="945324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gn="ctr">
              <a:spcBef>
                <a:spcPct val="0"/>
              </a:spcBef>
              <a:buFontTx/>
              <a:buNone/>
            </a:pPr>
            <a:r>
              <a:rPr lang="zh-CN" altLang="en-US" sz="5400" b="1" dirty="0">
                <a:ea typeface="微软雅黑" panose="020B0503020204020204" charset="-122"/>
                <a:cs typeface="Arial" panose="020B0604020202020204" pitchFamily="34" charset="0"/>
              </a:rPr>
              <a:t>恳请老师和同学批评指正</a:t>
            </a:r>
            <a:endParaRPr lang="zh-CN" altLang="en-US" sz="5400" b="1" dirty="0">
              <a:ea typeface="微软雅黑" panose="020B0503020204020204" charset="-122"/>
              <a:cs typeface="Arial" panose="020B0604020202020204" pitchFamily="34" charset="0"/>
            </a:endParaRPr>
          </a:p>
        </p:txBody>
      </p:sp>
      <p:sp>
        <p:nvSpPr>
          <p:cNvPr id="3075" name="Text Placeholder 1"/>
          <p:cNvSpPr txBox="1"/>
          <p:nvPr>
            <p:custDataLst>
              <p:tags r:id="rId1"/>
            </p:custDataLst>
          </p:nvPr>
        </p:nvSpPr>
        <p:spPr bwMode="auto">
          <a:xfrm>
            <a:off x="3852545" y="3512820"/>
            <a:ext cx="4144010" cy="429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gn="ctr" eaLnBrk="1" hangingPunct="1">
              <a:lnSpc>
                <a:spcPct val="150000"/>
              </a:lnSpc>
              <a:spcBef>
                <a:spcPct val="0"/>
              </a:spcBef>
              <a:buFontTx/>
              <a:buNone/>
            </a:pPr>
            <a:endParaRPr lang="zh-CN" altLang="en-US" sz="2400" b="1" dirty="0">
              <a:latin typeface="微软雅黑" panose="020B0503020204020204" charset="-122"/>
              <a:ea typeface="微软雅黑" panose="020B0503020204020204" charset="-122"/>
            </a:endParaRPr>
          </a:p>
          <a:p>
            <a:pPr algn="ctr" eaLnBrk="1" hangingPunct="1">
              <a:lnSpc>
                <a:spcPct val="150000"/>
              </a:lnSpc>
              <a:spcBef>
                <a:spcPct val="0"/>
              </a:spcBef>
              <a:buFontTx/>
              <a:buNone/>
            </a:pPr>
            <a:r>
              <a:rPr lang="zh-CN" altLang="en-US" sz="1800" b="1" dirty="0">
                <a:latin typeface="微软雅黑" panose="020B0503020204020204" charset="-122"/>
                <a:ea typeface="微软雅黑" panose="020B0503020204020204" charset="-122"/>
              </a:rPr>
              <a:t>汇报人：</a:t>
            </a:r>
            <a:r>
              <a:rPr lang="en-US" altLang="zh-CN" sz="1800" b="1" dirty="0">
                <a:latin typeface="微软雅黑" panose="020B0503020204020204" charset="-122"/>
                <a:ea typeface="微软雅黑" panose="020B0503020204020204" charset="-122"/>
              </a:rPr>
              <a:t>11</a:t>
            </a:r>
            <a:r>
              <a:rPr lang="zh-CN" altLang="en-US" sz="1800" b="1" dirty="0">
                <a:latin typeface="微软雅黑" panose="020B0503020204020204" charset="-122"/>
                <a:ea typeface="微软雅黑" panose="020B0503020204020204" charset="-122"/>
              </a:rPr>
              <a:t>组</a:t>
            </a: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郑智瑄</a:t>
            </a: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李明远</a:t>
            </a:r>
            <a:r>
              <a:rPr lang="en-US" altLang="zh-CN" sz="1800" b="1" dirty="0">
                <a:latin typeface="微软雅黑" panose="020B0503020204020204" charset="-122"/>
                <a:ea typeface="微软雅黑" panose="020B0503020204020204" charset="-122"/>
              </a:rPr>
              <a:t> </a:t>
            </a:r>
            <a:r>
              <a:rPr lang="zh-CN" altLang="en-US" sz="1800" b="1" dirty="0">
                <a:latin typeface="微软雅黑" panose="020B0503020204020204" charset="-122"/>
                <a:ea typeface="微软雅黑" panose="020B0503020204020204" charset="-122"/>
              </a:rPr>
              <a:t>赵欧凯</a:t>
            </a:r>
            <a:endParaRPr lang="en-US" altLang="zh-CN" sz="1800" b="1" dirty="0">
              <a:latin typeface="微软雅黑" panose="020B0503020204020204" charset="-122"/>
              <a:ea typeface="微软雅黑" panose="020B0503020204020204" charset="-122"/>
            </a:endParaRPr>
          </a:p>
          <a:p>
            <a:pPr algn="ctr" eaLnBrk="1" hangingPunct="1">
              <a:lnSpc>
                <a:spcPct val="150000"/>
              </a:lnSpc>
              <a:spcBef>
                <a:spcPct val="0"/>
              </a:spcBef>
              <a:buFontTx/>
              <a:buNone/>
            </a:pPr>
            <a:r>
              <a:rPr lang="en-US" altLang="zh-CN" sz="1800" b="1" dirty="0">
                <a:latin typeface="微软雅黑" panose="020B0503020204020204" charset="-122"/>
                <a:ea typeface="微软雅黑" panose="020B0503020204020204" charset="-122"/>
              </a:rPr>
              <a:t>2024.5.13</a:t>
            </a:r>
            <a:endParaRPr lang="en-US" altLang="zh-CN" sz="1800"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p:fade/>
      </p:transition>
    </mc:Choice>
    <mc:Fallback>
      <p:transition spd="slow">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COMMONDATA" val="eyJoZGlkIjoiYzcxOThhNWNmMDE4ZDZhOWVkNTFjN2Q1M2YzYmZkNGUi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2360</Words>
  <Application>WPS Office WWO_dingtalk_20240221035043-c523bba0e7</Application>
  <PresentationFormat>宽屏</PresentationFormat>
  <Paragraphs>185</Paragraphs>
  <Slides>24</Slides>
  <Notes>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24</vt:i4>
      </vt:variant>
    </vt:vector>
  </HeadingPairs>
  <TitlesOfParts>
    <vt:vector size="41" baseType="lpstr">
      <vt:lpstr>Arial</vt:lpstr>
      <vt:lpstr>宋体</vt:lpstr>
      <vt:lpstr>Wingdings</vt:lpstr>
      <vt:lpstr>微软雅黑</vt:lpstr>
      <vt:lpstr>汉仪旗黑KW 55S</vt:lpstr>
      <vt:lpstr>Times New Roman</vt:lpstr>
      <vt:lpstr>汉仪书宋二KW</vt:lpstr>
      <vt:lpstr>Kingsoft Confetti</vt:lpstr>
      <vt:lpstr>Calibri</vt:lpstr>
      <vt:lpstr>Palatino Linotype</vt:lpstr>
      <vt:lpstr>Georgia</vt:lpstr>
      <vt:lpstr>-apple-system</vt:lpstr>
      <vt:lpstr>-apple-system</vt:lpstr>
      <vt:lpstr>微软雅黑</vt:lpstr>
      <vt:lpstr>等线</vt:lpstr>
      <vt:lpstr>汉仪中等线KW</vt:lpstr>
      <vt:lpstr>1_Office 主题​​</vt:lpstr>
      <vt:lpstr>PowerPoint 演示文稿</vt:lpstr>
      <vt:lpstr>PowerPoint 演示文稿</vt:lpstr>
      <vt:lpstr>                   Part1   背景介绍                            </vt:lpstr>
      <vt:lpstr>PowerPoint 演示文稿</vt:lpstr>
      <vt:lpstr>                   Part2   功能简介      </vt:lpstr>
      <vt:lpstr>PowerPoint 演示文稿</vt:lpstr>
      <vt:lpstr>PowerPoint 演示文稿</vt:lpstr>
      <vt:lpstr>                   Part3   核心模块介绍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Part4   拓展模块介绍      </vt:lpstr>
      <vt:lpstr>PowerPoint 演示文稿</vt:lpstr>
      <vt:lpstr>PowerPoint 演示文稿</vt:lpstr>
      <vt:lpstr>                   Part5  时间安排与组员分工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秦 峰 之 王</dc:creator>
  <cp:lastModifiedBy>lxl</cp:lastModifiedBy>
  <dcterms:created xsi:type="dcterms:W3CDTF">2024-05-13T05:20:49Z</dcterms:created>
  <dcterms:modified xsi:type="dcterms:W3CDTF">2024-05-13T05:20:49Z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D106518A98D948339105A071E91CBE54_13</vt:lpwstr>
  </property>
</Properties>
</file>