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notesMasterIdLst>
    <p:notesMasterId r:id="rId5"/>
  </p:notesMasterIdLst>
  <p:sldIdLst>
    <p:sldId id="282" r:id="rId3"/>
    <p:sldId id="283" r:id="rId4"/>
    <p:sldId id="285" r:id="rId6"/>
    <p:sldId id="286" r:id="rId7"/>
    <p:sldId id="299" r:id="rId8"/>
    <p:sldId id="287" r:id="rId9"/>
    <p:sldId id="288" r:id="rId10"/>
    <p:sldId id="300" r:id="rId11"/>
    <p:sldId id="294" r:id="rId12"/>
    <p:sldId id="293" r:id="rId13"/>
    <p:sldId id="301" r:id="rId14"/>
    <p:sldId id="298" r:id="rId15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4725" autoAdjust="0"/>
  </p:normalViewPr>
  <p:slideViewPr>
    <p:cSldViewPr snapToGrid="0">
      <p:cViewPr varScale="1">
        <p:scale>
          <a:sx n="104" d="100"/>
          <a:sy n="104" d="100"/>
        </p:scale>
        <p:origin x="292" y="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B33B53-E84E-4664-8863-E0D117BCB4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ACA4F-244B-43D4-B65C-9E6B183DB61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ACA4F-244B-43D4-B65C-9E6B183DB6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ACA4F-244B-43D4-B65C-9E6B183DB6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2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9B8CCDB-65DA-4F57-BB32-EBA29EB7F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ECE36C4-A99B-4A00-803E-98DF2BC33EB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960909" y="2326767"/>
            <a:ext cx="4108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</a:rPr>
              <a:t>lab3  +  pre lab4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646770" y="600714"/>
            <a:ext cx="1160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1. lab3</a:t>
            </a:r>
            <a:endParaRPr lang="zh-CN" altLang="en-US" sz="2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3" y="1123934"/>
            <a:ext cx="5739282" cy="524021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953123" y="1207741"/>
            <a:ext cx="4543532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Lab3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不需要验收，按要求完成实验报告即可</a:t>
            </a:r>
            <a:endParaRPr lang="zh-CN" altLang="en-US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0800" y="1939290"/>
            <a:ext cx="3280410" cy="39033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335484" y="1313896"/>
            <a:ext cx="7182034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仿真分类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Behavior simulation</a:t>
            </a:r>
            <a:endParaRPr lang="en-US" altLang="zh-CN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Post-synthesis functional simulation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Post-synthesis timing simulation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Post-implementation functional simulation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Post-implementation timing simulation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1110" y="648071"/>
            <a:ext cx="914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1. lab3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1110" y="648071"/>
            <a:ext cx="20249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测试文件的写法</a:t>
            </a:r>
            <a:endParaRPr lang="zh-CN" altLang="en-US" sz="2000" dirty="0"/>
          </a:p>
        </p:txBody>
      </p:sp>
      <p:sp>
        <p:nvSpPr>
          <p:cNvPr id="9" name="文本框 8"/>
          <p:cNvSpPr txBox="1"/>
          <p:nvPr/>
        </p:nvSpPr>
        <p:spPr>
          <a:xfrm>
            <a:off x="881111" y="1048181"/>
            <a:ext cx="10785160" cy="773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timescale 1ns/100ps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：指定时间单位为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1ns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，精度为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100ps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，精度要小于最小时间单位，一般在行为级仿真中不会用到。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主干部分使用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initial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赋值语句，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initial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赋值语句只执行一次，通常不具有可综合性，一般仅用在仿真测试上。</a:t>
            </a:r>
            <a:endParaRPr lang="zh-CN" altLang="en-US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110" y="1939265"/>
            <a:ext cx="6482986" cy="393072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755" y="1932305"/>
            <a:ext cx="3308985" cy="39376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1110" y="648071"/>
            <a:ext cx="914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1. lab3</a:t>
            </a:r>
            <a:endParaRPr lang="zh-CN" altLang="en-US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1681113" y="3624606"/>
            <a:ext cx="331381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module ALU(</a:t>
            </a:r>
            <a:endParaRPr lang="zh-CN" altLang="en-US" dirty="0"/>
          </a:p>
          <a:p>
            <a:r>
              <a:rPr lang="zh-CN" altLang="en-US" dirty="0"/>
              <a:t>    input [3:0] A,</a:t>
            </a:r>
            <a:endParaRPr lang="zh-CN" altLang="en-US" dirty="0"/>
          </a:p>
          <a:p>
            <a:r>
              <a:rPr lang="zh-CN" altLang="en-US" dirty="0"/>
              <a:t>    input [3:0] B,</a:t>
            </a:r>
            <a:endParaRPr lang="zh-CN" altLang="en-US" dirty="0"/>
          </a:p>
          <a:p>
            <a:r>
              <a:rPr lang="zh-CN" altLang="en-US" dirty="0"/>
              <a:t>    input [2:0] F,</a:t>
            </a:r>
            <a:endParaRPr lang="zh-CN" altLang="en-US" dirty="0"/>
          </a:p>
          <a:p>
            <a:r>
              <a:rPr lang="zh-CN" altLang="en-US" dirty="0"/>
              <a:t>    output [3:0] R</a:t>
            </a:r>
            <a:endParaRPr lang="zh-CN" altLang="en-US" dirty="0"/>
          </a:p>
          <a:p>
            <a:r>
              <a:rPr lang="zh-CN" altLang="en-US" dirty="0"/>
              <a:t>    ); 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endmodule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7130988" y="3624606"/>
            <a:ext cx="352221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module ALU_</a:t>
            </a:r>
            <a:r>
              <a:rPr lang="en-US" altLang="zh-CN" dirty="0"/>
              <a:t>tb</a:t>
            </a:r>
            <a:r>
              <a:rPr lang="zh-CN" altLang="en-US" dirty="0"/>
              <a:t>();</a:t>
            </a:r>
            <a:endParaRPr lang="zh-CN" altLang="en-US" dirty="0"/>
          </a:p>
          <a:p>
            <a:r>
              <a:rPr lang="zh-CN" altLang="en-US" dirty="0"/>
              <a:t>   </a:t>
            </a:r>
            <a:endParaRPr lang="en-US" altLang="zh-CN" dirty="0"/>
          </a:p>
          <a:p>
            <a:r>
              <a:rPr lang="zh-CN" altLang="en-US" dirty="0"/>
              <a:t>   reg [3:0] A,B;</a:t>
            </a:r>
            <a:endParaRPr lang="zh-CN" altLang="en-US" dirty="0"/>
          </a:p>
          <a:p>
            <a:r>
              <a:rPr lang="zh-CN" altLang="en-US" dirty="0"/>
              <a:t>    reg [2:0] F;</a:t>
            </a:r>
            <a:endParaRPr lang="zh-CN" altLang="en-US" dirty="0"/>
          </a:p>
          <a:p>
            <a:r>
              <a:rPr lang="zh-CN" altLang="en-US" dirty="0"/>
              <a:t>    wire [3:0] R;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  ALU m1(</a:t>
            </a:r>
            <a:r>
              <a:rPr lang="en-US" altLang="zh-CN" dirty="0"/>
              <a:t>.</a:t>
            </a:r>
            <a:r>
              <a:rPr lang="zh-CN" altLang="en-US" dirty="0"/>
              <a:t>A</a:t>
            </a:r>
            <a:r>
              <a:rPr lang="en-US" altLang="zh-CN" dirty="0"/>
              <a:t>(A)</a:t>
            </a:r>
            <a:r>
              <a:rPr lang="zh-CN" altLang="en-US" dirty="0"/>
              <a:t>,</a:t>
            </a:r>
            <a:r>
              <a:rPr lang="en-US" altLang="zh-CN" dirty="0"/>
              <a:t>.</a:t>
            </a:r>
            <a:r>
              <a:rPr lang="zh-CN" altLang="en-US" dirty="0"/>
              <a:t>B</a:t>
            </a:r>
            <a:r>
              <a:rPr lang="en-US" altLang="zh-CN" dirty="0"/>
              <a:t>(B)</a:t>
            </a:r>
            <a:r>
              <a:rPr lang="zh-CN" altLang="en-US" dirty="0"/>
              <a:t>,</a:t>
            </a:r>
            <a:r>
              <a:rPr lang="en-US" altLang="zh-CN" dirty="0"/>
              <a:t>.</a:t>
            </a:r>
            <a:r>
              <a:rPr lang="zh-CN" altLang="en-US" dirty="0"/>
              <a:t>F</a:t>
            </a:r>
            <a:r>
              <a:rPr lang="en-US" altLang="zh-CN" dirty="0"/>
              <a:t>(F)</a:t>
            </a:r>
            <a:r>
              <a:rPr lang="zh-CN" altLang="en-US" dirty="0"/>
              <a:t>,</a:t>
            </a:r>
            <a:r>
              <a:rPr lang="en-US" altLang="zh-CN" dirty="0"/>
              <a:t>.</a:t>
            </a:r>
            <a:r>
              <a:rPr lang="zh-CN" altLang="en-US" dirty="0"/>
              <a:t>R</a:t>
            </a:r>
            <a:r>
              <a:rPr lang="en-US" altLang="zh-CN" dirty="0"/>
              <a:t>(R)</a:t>
            </a:r>
            <a:r>
              <a:rPr lang="zh-CN" altLang="en-US" dirty="0"/>
              <a:t>);</a:t>
            </a:r>
            <a:endParaRPr lang="zh-CN" altLang="en-US" dirty="0"/>
          </a:p>
          <a:p>
            <a:r>
              <a:rPr lang="zh-CN" altLang="en-US" dirty="0"/>
              <a:t>    </a:t>
            </a:r>
            <a:endParaRPr lang="zh-CN" altLang="en-US" dirty="0"/>
          </a:p>
          <a:p>
            <a:r>
              <a:rPr lang="zh-CN" altLang="en-US" dirty="0"/>
              <a:t>endmodule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1113" y="1033989"/>
            <a:ext cx="2814518" cy="260481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096000" y="1033989"/>
            <a:ext cx="3990680" cy="2308324"/>
          </a:xfrm>
          <a:prstGeom prst="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988" y="1106017"/>
            <a:ext cx="2720576" cy="2164268"/>
          </a:xfrm>
          <a:prstGeom prst="rect">
            <a:avLst/>
          </a:prstGeom>
        </p:spPr>
      </p:pic>
      <p:cxnSp>
        <p:nvCxnSpPr>
          <p:cNvPr id="12" name="直接箭头连接符 11"/>
          <p:cNvCxnSpPr/>
          <p:nvPr/>
        </p:nvCxnSpPr>
        <p:spPr>
          <a:xfrm>
            <a:off x="7871382" y="754144"/>
            <a:ext cx="0" cy="4144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8589390" y="754143"/>
            <a:ext cx="0" cy="4144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9851565" y="2205551"/>
            <a:ext cx="65932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8213889" y="3210113"/>
            <a:ext cx="0" cy="4144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6047767" y="1033989"/>
            <a:ext cx="1160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Test bench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31019" y="1330003"/>
            <a:ext cx="1729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2. Pre lab4</a:t>
            </a:r>
            <a:endParaRPr lang="zh-CN" altLang="en-US" sz="2800" dirty="0"/>
          </a:p>
        </p:txBody>
      </p:sp>
      <p:sp>
        <p:nvSpPr>
          <p:cNvPr id="3" name="文本框 2"/>
          <p:cNvSpPr txBox="1"/>
          <p:nvPr/>
        </p:nvSpPr>
        <p:spPr>
          <a:xfrm>
            <a:off x="4554501" y="2784604"/>
            <a:ext cx="38438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设计和实现 </a:t>
            </a:r>
            <a:r>
              <a:rPr lang="en-US" altLang="zh-CN" dirty="0"/>
              <a:t>ON/OFF button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考虑亚稳态（</a:t>
            </a:r>
            <a:r>
              <a:rPr lang="en-US" altLang="zh-CN" dirty="0"/>
              <a:t>metastability</a:t>
            </a:r>
            <a:r>
              <a:rPr lang="zh-CN" altLang="en-US" dirty="0"/>
              <a:t>）问题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考虑抖动（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bounce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en-US" dirty="0"/>
              <a:t>问题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考虑脉宽变换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54477" y="639193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2. Pre lab4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854477" y="1100667"/>
            <a:ext cx="107851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开关和按钮有什么区别？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开关：状态性的，开关处于拨下的状态时状态一直不变。</a:t>
            </a:r>
            <a:endParaRPr lang="en-US" altLang="zh-CN" dirty="0"/>
          </a:p>
          <a:p>
            <a:r>
              <a:rPr lang="zh-CN" altLang="en-US" dirty="0"/>
              <a:t>按钮：触发性的，重点是</a:t>
            </a:r>
            <a:r>
              <a:rPr lang="zh-CN" altLang="en-US" dirty="0">
                <a:solidFill>
                  <a:srgbClr val="FF0000"/>
                </a:solidFill>
              </a:rPr>
              <a:t>每按下“一次”按钮算作一次输入</a:t>
            </a:r>
            <a:r>
              <a:rPr lang="zh-CN" altLang="en-US" dirty="0"/>
              <a:t>。因此不管按了多久，按钮输出信号时长都不能超过一个时钟周期。</a:t>
            </a:r>
            <a:endParaRPr lang="en-US" altLang="zh-CN" dirty="0"/>
          </a:p>
        </p:txBody>
      </p:sp>
      <p:grpSp>
        <p:nvGrpSpPr>
          <p:cNvPr id="53" name="组合 52"/>
          <p:cNvGrpSpPr/>
          <p:nvPr/>
        </p:nvGrpSpPr>
        <p:grpSpPr>
          <a:xfrm>
            <a:off x="1271327" y="3059668"/>
            <a:ext cx="7008673" cy="369332"/>
            <a:chOff x="1271327" y="5040000"/>
            <a:chExt cx="7008673" cy="369332"/>
          </a:xfrm>
        </p:grpSpPr>
        <p:grpSp>
          <p:nvGrpSpPr>
            <p:cNvPr id="50" name="组合 49"/>
            <p:cNvGrpSpPr/>
            <p:nvPr/>
          </p:nvGrpSpPr>
          <p:grpSpPr>
            <a:xfrm>
              <a:off x="2520000" y="5078059"/>
              <a:ext cx="5760000" cy="288000"/>
              <a:chOff x="2520000" y="5400000"/>
              <a:chExt cx="5760000" cy="288000"/>
            </a:xfrm>
          </p:grpSpPr>
          <p:grpSp>
            <p:nvGrpSpPr>
              <p:cNvPr id="40" name="组合 39"/>
              <p:cNvGrpSpPr/>
              <p:nvPr/>
            </p:nvGrpSpPr>
            <p:grpSpPr>
              <a:xfrm>
                <a:off x="2520000" y="5400000"/>
                <a:ext cx="1440000" cy="288000"/>
                <a:chOff x="2520000" y="5400000"/>
                <a:chExt cx="1440000" cy="288000"/>
              </a:xfrm>
            </p:grpSpPr>
            <p:cxnSp>
              <p:nvCxnSpPr>
                <p:cNvPr id="37" name="连接符: 肘形 36"/>
                <p:cNvCxnSpPr/>
                <p:nvPr/>
              </p:nvCxnSpPr>
              <p:spPr>
                <a:xfrm flipV="1">
                  <a:off x="252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连接符: 肘形 38"/>
                <p:cNvCxnSpPr/>
                <p:nvPr/>
              </p:nvCxnSpPr>
              <p:spPr>
                <a:xfrm>
                  <a:off x="324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" name="组合 40"/>
              <p:cNvGrpSpPr/>
              <p:nvPr/>
            </p:nvGrpSpPr>
            <p:grpSpPr>
              <a:xfrm>
                <a:off x="3960000" y="5400000"/>
                <a:ext cx="1440000" cy="288000"/>
                <a:chOff x="2520000" y="5400000"/>
                <a:chExt cx="1440000" cy="288000"/>
              </a:xfrm>
            </p:grpSpPr>
            <p:cxnSp>
              <p:nvCxnSpPr>
                <p:cNvPr id="42" name="连接符: 肘形 41"/>
                <p:cNvCxnSpPr/>
                <p:nvPr/>
              </p:nvCxnSpPr>
              <p:spPr>
                <a:xfrm flipV="1">
                  <a:off x="252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连接符: 肘形 42"/>
                <p:cNvCxnSpPr/>
                <p:nvPr/>
              </p:nvCxnSpPr>
              <p:spPr>
                <a:xfrm>
                  <a:off x="324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4" name="组合 43"/>
              <p:cNvGrpSpPr/>
              <p:nvPr/>
            </p:nvGrpSpPr>
            <p:grpSpPr>
              <a:xfrm>
                <a:off x="5400000" y="5400000"/>
                <a:ext cx="1440000" cy="288000"/>
                <a:chOff x="2520000" y="5400000"/>
                <a:chExt cx="1440000" cy="288000"/>
              </a:xfrm>
            </p:grpSpPr>
            <p:cxnSp>
              <p:nvCxnSpPr>
                <p:cNvPr id="45" name="连接符: 肘形 44"/>
                <p:cNvCxnSpPr/>
                <p:nvPr/>
              </p:nvCxnSpPr>
              <p:spPr>
                <a:xfrm flipV="1">
                  <a:off x="252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连接符: 肘形 45"/>
                <p:cNvCxnSpPr/>
                <p:nvPr/>
              </p:nvCxnSpPr>
              <p:spPr>
                <a:xfrm>
                  <a:off x="324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" name="组合 46"/>
              <p:cNvGrpSpPr/>
              <p:nvPr/>
            </p:nvGrpSpPr>
            <p:grpSpPr>
              <a:xfrm>
                <a:off x="6840000" y="5400000"/>
                <a:ext cx="1440000" cy="288000"/>
                <a:chOff x="2520000" y="5400000"/>
                <a:chExt cx="1440000" cy="288000"/>
              </a:xfrm>
            </p:grpSpPr>
            <p:cxnSp>
              <p:nvCxnSpPr>
                <p:cNvPr id="48" name="连接符: 肘形 47"/>
                <p:cNvCxnSpPr/>
                <p:nvPr/>
              </p:nvCxnSpPr>
              <p:spPr>
                <a:xfrm flipV="1">
                  <a:off x="252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连接符: 肘形 48"/>
                <p:cNvCxnSpPr/>
                <p:nvPr/>
              </p:nvCxnSpPr>
              <p:spPr>
                <a:xfrm>
                  <a:off x="324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文本框 51"/>
            <p:cNvSpPr txBox="1"/>
            <p:nvPr/>
          </p:nvSpPr>
          <p:spPr>
            <a:xfrm>
              <a:off x="1271327" y="5040000"/>
              <a:ext cx="12486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时钟周期</a:t>
              </a:r>
              <a:endParaRPr lang="zh-CN" altLang="en-US" dirty="0"/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1271327" y="3735934"/>
            <a:ext cx="7008673" cy="369332"/>
            <a:chOff x="1271327" y="5539334"/>
            <a:chExt cx="7008673" cy="369332"/>
          </a:xfrm>
        </p:grpSpPr>
        <p:grpSp>
          <p:nvGrpSpPr>
            <p:cNvPr id="58" name="组合 57"/>
            <p:cNvGrpSpPr/>
            <p:nvPr/>
          </p:nvGrpSpPr>
          <p:grpSpPr>
            <a:xfrm>
              <a:off x="2520000" y="5580000"/>
              <a:ext cx="5760000" cy="288000"/>
              <a:chOff x="2520000" y="5580000"/>
              <a:chExt cx="5760000" cy="288000"/>
            </a:xfrm>
          </p:grpSpPr>
          <p:cxnSp>
            <p:nvCxnSpPr>
              <p:cNvPr id="54" name="连接符: 肘形 53"/>
              <p:cNvCxnSpPr/>
              <p:nvPr/>
            </p:nvCxnSpPr>
            <p:spPr>
              <a:xfrm flipV="1">
                <a:off x="2520000" y="5580000"/>
                <a:ext cx="540000" cy="288000"/>
              </a:xfrm>
              <a:prstGeom prst="bentConnector3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>
                <a:off x="3060000" y="5580000"/>
                <a:ext cx="468000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连接符: 肘形 56"/>
              <p:cNvCxnSpPr/>
              <p:nvPr/>
            </p:nvCxnSpPr>
            <p:spPr>
              <a:xfrm>
                <a:off x="7740000" y="5580000"/>
                <a:ext cx="540000" cy="288000"/>
              </a:xfrm>
              <a:prstGeom prst="bentConnector3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0" name="文本框 59"/>
            <p:cNvSpPr txBox="1"/>
            <p:nvPr/>
          </p:nvSpPr>
          <p:spPr>
            <a:xfrm>
              <a:off x="1271327" y="5539334"/>
              <a:ext cx="12022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开关输出</a:t>
              </a:r>
              <a:endParaRPr lang="zh-CN" altLang="en-US" dirty="0"/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1271327" y="4320958"/>
            <a:ext cx="7008673" cy="369332"/>
            <a:chOff x="1271327" y="4639334"/>
            <a:chExt cx="7008673" cy="369332"/>
          </a:xfrm>
        </p:grpSpPr>
        <p:grpSp>
          <p:nvGrpSpPr>
            <p:cNvPr id="66" name="组合 65"/>
            <p:cNvGrpSpPr/>
            <p:nvPr/>
          </p:nvGrpSpPr>
          <p:grpSpPr>
            <a:xfrm>
              <a:off x="2520000" y="4680000"/>
              <a:ext cx="5760000" cy="288000"/>
              <a:chOff x="2520000" y="4680000"/>
              <a:chExt cx="5760000" cy="288000"/>
            </a:xfrm>
          </p:grpSpPr>
          <p:cxnSp>
            <p:nvCxnSpPr>
              <p:cNvPr id="62" name="连接符: 肘形 61"/>
              <p:cNvCxnSpPr/>
              <p:nvPr/>
            </p:nvCxnSpPr>
            <p:spPr>
              <a:xfrm flipV="1">
                <a:off x="2520000" y="4680000"/>
                <a:ext cx="540000" cy="288000"/>
              </a:xfrm>
              <a:prstGeom prst="bentConnector3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连接符: 肘形 62"/>
              <p:cNvCxnSpPr/>
              <p:nvPr/>
            </p:nvCxnSpPr>
            <p:spPr>
              <a:xfrm>
                <a:off x="3060000" y="4680000"/>
                <a:ext cx="720000" cy="288000"/>
              </a:xfrm>
              <a:prstGeom prst="bentConnector3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>
                <a:off x="3780000" y="4968000"/>
                <a:ext cx="450000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8" name="文本框 67"/>
            <p:cNvSpPr txBox="1"/>
            <p:nvPr/>
          </p:nvSpPr>
          <p:spPr>
            <a:xfrm>
              <a:off x="1271327" y="4639334"/>
              <a:ext cx="12486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按钮输出</a:t>
              </a:r>
              <a:endParaRPr lang="zh-CN" altLang="en-US" dirty="0"/>
            </a:p>
          </p:txBody>
        </p:sp>
      </p:grpSp>
      <p:cxnSp>
        <p:nvCxnSpPr>
          <p:cNvPr id="71" name="直接箭头连接符 70"/>
          <p:cNvCxnSpPr/>
          <p:nvPr/>
        </p:nvCxnSpPr>
        <p:spPr>
          <a:xfrm flipV="1">
            <a:off x="2790000" y="4690290"/>
            <a:ext cx="0" cy="5336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3" name="文本框 72"/>
          <p:cNvSpPr txBox="1"/>
          <p:nvPr/>
        </p:nvSpPr>
        <p:spPr>
          <a:xfrm>
            <a:off x="2473594" y="5275313"/>
            <a:ext cx="73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按下</a:t>
            </a:r>
            <a:endParaRPr lang="zh-CN" altLang="en-US" dirty="0"/>
          </a:p>
        </p:txBody>
      </p:sp>
      <p:cxnSp>
        <p:nvCxnSpPr>
          <p:cNvPr id="74" name="直接箭头连接符 73"/>
          <p:cNvCxnSpPr/>
          <p:nvPr/>
        </p:nvCxnSpPr>
        <p:spPr>
          <a:xfrm flipV="1">
            <a:off x="8129867" y="4690290"/>
            <a:ext cx="0" cy="5336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5" name="文本框 74"/>
          <p:cNvSpPr txBox="1"/>
          <p:nvPr/>
        </p:nvSpPr>
        <p:spPr>
          <a:xfrm>
            <a:off x="7763867" y="5223933"/>
            <a:ext cx="73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松开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54477" y="639193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2. Pre lab4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854477" y="1100667"/>
            <a:ext cx="10785160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按钮输入自身还有几个特点：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1.</a:t>
            </a:r>
            <a:r>
              <a:rPr lang="zh-CN" altLang="en-US" dirty="0"/>
              <a:t>按钮是异步输入，存在</a:t>
            </a:r>
            <a:r>
              <a:rPr lang="zh-CN" altLang="en-US" dirty="0">
                <a:solidFill>
                  <a:srgbClr val="FF0000"/>
                </a:solidFill>
              </a:rPr>
              <a:t>亚稳态问题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2.</a:t>
            </a:r>
            <a:r>
              <a:rPr lang="zh-CN" altLang="en-US" dirty="0"/>
              <a:t>按钮的弹簧开关被按下或释放时，机械触点将立刻振动几 毫秒，</a:t>
            </a:r>
            <a:r>
              <a:rPr lang="zh-CN" altLang="en-US" dirty="0">
                <a:solidFill>
                  <a:srgbClr val="FF0000"/>
                </a:solidFill>
              </a:rPr>
              <a:t>产生一个不稳定的开关信号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3.</a:t>
            </a:r>
            <a:r>
              <a:rPr lang="zh-CN" altLang="en-US" dirty="0"/>
              <a:t>按钮按下的时间不能满足一个时钟周期的条件，需要进行</a:t>
            </a:r>
            <a:r>
              <a:rPr lang="zh-CN" altLang="en-US" dirty="0">
                <a:solidFill>
                  <a:srgbClr val="FF0000"/>
                </a:solidFill>
              </a:rPr>
              <a:t>脉宽变换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grpSp>
        <p:nvGrpSpPr>
          <p:cNvPr id="53" name="组合 52"/>
          <p:cNvGrpSpPr/>
          <p:nvPr/>
        </p:nvGrpSpPr>
        <p:grpSpPr>
          <a:xfrm>
            <a:off x="1271327" y="3059668"/>
            <a:ext cx="7008673" cy="369332"/>
            <a:chOff x="1271327" y="5040000"/>
            <a:chExt cx="7008673" cy="369332"/>
          </a:xfrm>
        </p:grpSpPr>
        <p:grpSp>
          <p:nvGrpSpPr>
            <p:cNvPr id="50" name="组合 49"/>
            <p:cNvGrpSpPr/>
            <p:nvPr/>
          </p:nvGrpSpPr>
          <p:grpSpPr>
            <a:xfrm>
              <a:off x="2520000" y="5078059"/>
              <a:ext cx="5760000" cy="288000"/>
              <a:chOff x="2520000" y="5400000"/>
              <a:chExt cx="5760000" cy="288000"/>
            </a:xfrm>
          </p:grpSpPr>
          <p:grpSp>
            <p:nvGrpSpPr>
              <p:cNvPr id="40" name="组合 39"/>
              <p:cNvGrpSpPr/>
              <p:nvPr/>
            </p:nvGrpSpPr>
            <p:grpSpPr>
              <a:xfrm>
                <a:off x="2520000" y="5400000"/>
                <a:ext cx="1440000" cy="288000"/>
                <a:chOff x="2520000" y="5400000"/>
                <a:chExt cx="1440000" cy="288000"/>
              </a:xfrm>
            </p:grpSpPr>
            <p:cxnSp>
              <p:nvCxnSpPr>
                <p:cNvPr id="37" name="连接符: 肘形 36"/>
                <p:cNvCxnSpPr/>
                <p:nvPr/>
              </p:nvCxnSpPr>
              <p:spPr>
                <a:xfrm flipV="1">
                  <a:off x="252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连接符: 肘形 38"/>
                <p:cNvCxnSpPr/>
                <p:nvPr/>
              </p:nvCxnSpPr>
              <p:spPr>
                <a:xfrm>
                  <a:off x="324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" name="组合 40"/>
              <p:cNvGrpSpPr/>
              <p:nvPr/>
            </p:nvGrpSpPr>
            <p:grpSpPr>
              <a:xfrm>
                <a:off x="3960000" y="5400000"/>
                <a:ext cx="1440000" cy="288000"/>
                <a:chOff x="2520000" y="5400000"/>
                <a:chExt cx="1440000" cy="288000"/>
              </a:xfrm>
            </p:grpSpPr>
            <p:cxnSp>
              <p:nvCxnSpPr>
                <p:cNvPr id="42" name="连接符: 肘形 41"/>
                <p:cNvCxnSpPr/>
                <p:nvPr/>
              </p:nvCxnSpPr>
              <p:spPr>
                <a:xfrm flipV="1">
                  <a:off x="252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连接符: 肘形 42"/>
                <p:cNvCxnSpPr/>
                <p:nvPr/>
              </p:nvCxnSpPr>
              <p:spPr>
                <a:xfrm>
                  <a:off x="324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4" name="组合 43"/>
              <p:cNvGrpSpPr/>
              <p:nvPr/>
            </p:nvGrpSpPr>
            <p:grpSpPr>
              <a:xfrm>
                <a:off x="5400000" y="5400000"/>
                <a:ext cx="1440000" cy="288000"/>
                <a:chOff x="2520000" y="5400000"/>
                <a:chExt cx="1440000" cy="288000"/>
              </a:xfrm>
            </p:grpSpPr>
            <p:cxnSp>
              <p:nvCxnSpPr>
                <p:cNvPr id="45" name="连接符: 肘形 44"/>
                <p:cNvCxnSpPr/>
                <p:nvPr/>
              </p:nvCxnSpPr>
              <p:spPr>
                <a:xfrm flipV="1">
                  <a:off x="252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连接符: 肘形 45"/>
                <p:cNvCxnSpPr/>
                <p:nvPr/>
              </p:nvCxnSpPr>
              <p:spPr>
                <a:xfrm>
                  <a:off x="324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" name="组合 46"/>
              <p:cNvGrpSpPr/>
              <p:nvPr/>
            </p:nvGrpSpPr>
            <p:grpSpPr>
              <a:xfrm>
                <a:off x="6840000" y="5400000"/>
                <a:ext cx="1440000" cy="288000"/>
                <a:chOff x="2520000" y="5400000"/>
                <a:chExt cx="1440000" cy="288000"/>
              </a:xfrm>
            </p:grpSpPr>
            <p:cxnSp>
              <p:nvCxnSpPr>
                <p:cNvPr id="48" name="连接符: 肘形 47"/>
                <p:cNvCxnSpPr/>
                <p:nvPr/>
              </p:nvCxnSpPr>
              <p:spPr>
                <a:xfrm flipV="1">
                  <a:off x="252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连接符: 肘形 48"/>
                <p:cNvCxnSpPr/>
                <p:nvPr/>
              </p:nvCxnSpPr>
              <p:spPr>
                <a:xfrm>
                  <a:off x="324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文本框 51"/>
            <p:cNvSpPr txBox="1"/>
            <p:nvPr/>
          </p:nvSpPr>
          <p:spPr>
            <a:xfrm>
              <a:off x="1271327" y="5040000"/>
              <a:ext cx="12486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时钟周期</a:t>
              </a:r>
              <a:endParaRPr lang="zh-CN" altLang="en-US" dirty="0"/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1271327" y="3735934"/>
            <a:ext cx="7188673" cy="369332"/>
            <a:chOff x="1271327" y="5539334"/>
            <a:chExt cx="7188673" cy="369332"/>
          </a:xfrm>
        </p:grpSpPr>
        <p:grpSp>
          <p:nvGrpSpPr>
            <p:cNvPr id="58" name="组合 57"/>
            <p:cNvGrpSpPr/>
            <p:nvPr/>
          </p:nvGrpSpPr>
          <p:grpSpPr>
            <a:xfrm>
              <a:off x="2520000" y="5580000"/>
              <a:ext cx="5940000" cy="288000"/>
              <a:chOff x="2520000" y="5580000"/>
              <a:chExt cx="5940000" cy="288000"/>
            </a:xfrm>
          </p:grpSpPr>
          <p:cxnSp>
            <p:nvCxnSpPr>
              <p:cNvPr id="54" name="连接符: 肘形 53"/>
              <p:cNvCxnSpPr/>
              <p:nvPr/>
            </p:nvCxnSpPr>
            <p:spPr>
              <a:xfrm flipV="1">
                <a:off x="2520000" y="5580000"/>
                <a:ext cx="540000" cy="288000"/>
              </a:xfrm>
              <a:prstGeom prst="bentConnector3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>
                <a:off x="3060000" y="5580000"/>
                <a:ext cx="468000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连接符: 肘形 56"/>
              <p:cNvCxnSpPr/>
              <p:nvPr/>
            </p:nvCxnSpPr>
            <p:spPr>
              <a:xfrm>
                <a:off x="7740000" y="5580000"/>
                <a:ext cx="720000" cy="288000"/>
              </a:xfrm>
              <a:prstGeom prst="bentConnector3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0" name="文本框 59"/>
            <p:cNvSpPr txBox="1"/>
            <p:nvPr/>
          </p:nvSpPr>
          <p:spPr>
            <a:xfrm>
              <a:off x="1271327" y="5539334"/>
              <a:ext cx="12022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开关输出</a:t>
              </a:r>
              <a:endParaRPr lang="zh-CN" altLang="en-US" dirty="0"/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1271327" y="4320958"/>
            <a:ext cx="7008673" cy="369332"/>
            <a:chOff x="1271327" y="4639334"/>
            <a:chExt cx="7008673" cy="369332"/>
          </a:xfrm>
        </p:grpSpPr>
        <p:grpSp>
          <p:nvGrpSpPr>
            <p:cNvPr id="66" name="组合 65"/>
            <p:cNvGrpSpPr/>
            <p:nvPr/>
          </p:nvGrpSpPr>
          <p:grpSpPr>
            <a:xfrm>
              <a:off x="2520000" y="4680000"/>
              <a:ext cx="5760000" cy="288000"/>
              <a:chOff x="2520000" y="4680000"/>
              <a:chExt cx="5760000" cy="288000"/>
            </a:xfrm>
          </p:grpSpPr>
          <p:cxnSp>
            <p:nvCxnSpPr>
              <p:cNvPr id="62" name="连接符: 肘形 61"/>
              <p:cNvCxnSpPr/>
              <p:nvPr/>
            </p:nvCxnSpPr>
            <p:spPr>
              <a:xfrm flipV="1">
                <a:off x="2520000" y="4680000"/>
                <a:ext cx="540000" cy="288000"/>
              </a:xfrm>
              <a:prstGeom prst="bentConnector3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连接符: 肘形 62"/>
              <p:cNvCxnSpPr/>
              <p:nvPr/>
            </p:nvCxnSpPr>
            <p:spPr>
              <a:xfrm>
                <a:off x="3060000" y="4680000"/>
                <a:ext cx="720000" cy="288000"/>
              </a:xfrm>
              <a:prstGeom prst="bentConnector3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>
                <a:off x="3780000" y="4968000"/>
                <a:ext cx="450000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8" name="文本框 67"/>
            <p:cNvSpPr txBox="1"/>
            <p:nvPr/>
          </p:nvSpPr>
          <p:spPr>
            <a:xfrm>
              <a:off x="1271327" y="4639334"/>
              <a:ext cx="12486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按钮输出</a:t>
              </a:r>
              <a:endParaRPr lang="zh-CN" altLang="en-US" dirty="0"/>
            </a:p>
          </p:txBody>
        </p:sp>
      </p:grpSp>
      <p:cxnSp>
        <p:nvCxnSpPr>
          <p:cNvPr id="71" name="直接箭头连接符 70"/>
          <p:cNvCxnSpPr/>
          <p:nvPr/>
        </p:nvCxnSpPr>
        <p:spPr>
          <a:xfrm flipV="1">
            <a:off x="2790000" y="4690290"/>
            <a:ext cx="0" cy="5336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3" name="文本框 72"/>
          <p:cNvSpPr txBox="1"/>
          <p:nvPr/>
        </p:nvSpPr>
        <p:spPr>
          <a:xfrm>
            <a:off x="2473594" y="5275313"/>
            <a:ext cx="73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按下</a:t>
            </a:r>
            <a:endParaRPr lang="zh-CN" altLang="en-US" dirty="0"/>
          </a:p>
        </p:txBody>
      </p:sp>
      <p:cxnSp>
        <p:nvCxnSpPr>
          <p:cNvPr id="74" name="直接箭头连接符 73"/>
          <p:cNvCxnSpPr/>
          <p:nvPr/>
        </p:nvCxnSpPr>
        <p:spPr>
          <a:xfrm flipV="1">
            <a:off x="8129867" y="4690290"/>
            <a:ext cx="0" cy="5336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5" name="文本框 74"/>
          <p:cNvSpPr txBox="1"/>
          <p:nvPr/>
        </p:nvSpPr>
        <p:spPr>
          <a:xfrm>
            <a:off x="7763867" y="5223933"/>
            <a:ext cx="73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松开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54477" y="639193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2. Pre lab4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442510" y="1046244"/>
            <a:ext cx="713764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Remove Metastability</a:t>
            </a:r>
            <a:endParaRPr lang="en-US" altLang="zh-CN" sz="2400" b="1" dirty="0"/>
          </a:p>
          <a:p>
            <a:r>
              <a:rPr lang="zh-CN" altLang="en-US" dirty="0"/>
              <a:t>任何时序电路亚稳态都可能出现。</a:t>
            </a:r>
            <a:endParaRPr lang="en-US" altLang="zh-CN" dirty="0"/>
          </a:p>
          <a:p>
            <a:r>
              <a:rPr lang="zh-CN" altLang="en-US" dirty="0"/>
              <a:t>阻止亚稳态的传播并提供时间使其稳定下来：</a:t>
            </a:r>
            <a:r>
              <a:rPr lang="zh-CN" altLang="en-US" dirty="0">
                <a:solidFill>
                  <a:srgbClr val="FF0000"/>
                </a:solidFill>
              </a:rPr>
              <a:t>使用多级触发器连接</a:t>
            </a:r>
            <a:r>
              <a:rPr lang="zh-CN" altLang="en-US" dirty="0"/>
              <a:t>。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一般来讲，使用两级触发器的级联就足够了。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477" y="2384615"/>
            <a:ext cx="5588532" cy="312957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009" y="2384615"/>
            <a:ext cx="4711583" cy="195049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009" y="4634175"/>
            <a:ext cx="4711583" cy="5312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4477" y="639193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2. Pre lab4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5270541" y="1194523"/>
            <a:ext cx="632879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第二个问题：机械触点的颤动。</a:t>
            </a:r>
            <a:endParaRPr lang="en-US" altLang="zh-CN" dirty="0"/>
          </a:p>
          <a:p>
            <a:r>
              <a:rPr lang="zh-CN" altLang="en-US" dirty="0"/>
              <a:t>最简单的想法：在颤动的时间内不采样，等到颤动结束采样。</a:t>
            </a:r>
            <a:endParaRPr lang="en-US" altLang="zh-CN" dirty="0"/>
          </a:p>
          <a:p>
            <a:r>
              <a:rPr lang="zh-CN" altLang="en-US" dirty="0"/>
              <a:t>经验结果：一般延迟</a:t>
            </a:r>
            <a:r>
              <a:rPr lang="en-US" altLang="zh-CN" dirty="0"/>
              <a:t>6.5-10ms</a:t>
            </a:r>
            <a:r>
              <a:rPr lang="zh-CN" altLang="en-US" dirty="0"/>
              <a:t>比较合适。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检测到按钮被按下时</a:t>
            </a:r>
            <a:r>
              <a:rPr lang="zh-CN" altLang="en-US" dirty="0"/>
              <a:t>，定时器开始计时，计时</a:t>
            </a:r>
            <a:r>
              <a:rPr lang="en-US" altLang="zh-CN" dirty="0"/>
              <a:t>10ms</a:t>
            </a:r>
            <a:r>
              <a:rPr lang="zh-CN" altLang="en-US" dirty="0"/>
              <a:t>再采样按钮的值，如果发现按钮没被按下，认为是噪声，舍弃；否则就开始采样按钮的输出。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采样输出直至</a:t>
            </a:r>
            <a:r>
              <a:rPr lang="zh-CN" altLang="en-US" dirty="0">
                <a:solidFill>
                  <a:srgbClr val="FF0000"/>
                </a:solidFill>
              </a:rPr>
              <a:t>检测到按钮被松开</a:t>
            </a:r>
            <a:r>
              <a:rPr lang="zh-CN" altLang="en-US" dirty="0"/>
              <a:t>，同样延时</a:t>
            </a:r>
            <a:r>
              <a:rPr lang="en-US" altLang="zh-CN" dirty="0"/>
              <a:t>10ms</a:t>
            </a:r>
            <a:r>
              <a:rPr lang="zh-CN" altLang="en-US" dirty="0"/>
              <a:t>再采样，若采样结果为按钮没被松开，认为是噪声，舍弃；否则认为按钮被松开，结束采样。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887" y="1194523"/>
            <a:ext cx="4189644" cy="44689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4477" y="639193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2. Pre lab4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973667" y="1194523"/>
            <a:ext cx="106256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第三个问题：</a:t>
            </a:r>
            <a:r>
              <a:rPr lang="zh-CN" altLang="en-US" dirty="0">
                <a:solidFill>
                  <a:srgbClr val="FF0000"/>
                </a:solidFill>
              </a:rPr>
              <a:t>脉宽变换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目前已知输入是同步的（已消除亚稳态），时长大于一个时钟周期（</a:t>
            </a:r>
            <a:r>
              <a:rPr lang="en-US" altLang="zh-CN" dirty="0"/>
              <a:t>10ns</a:t>
            </a:r>
            <a:r>
              <a:rPr lang="zh-CN" altLang="en-US" dirty="0"/>
              <a:t>），希望将该输入的长度变为仅被一个时钟周期采样，只需使用下图所示的电路即可。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8334" y="4521201"/>
            <a:ext cx="3921504" cy="1782502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1101994" y="2149717"/>
            <a:ext cx="7008673" cy="369332"/>
            <a:chOff x="1271327" y="5040000"/>
            <a:chExt cx="7008673" cy="369332"/>
          </a:xfrm>
        </p:grpSpPr>
        <p:grpSp>
          <p:nvGrpSpPr>
            <p:cNvPr id="8" name="组合 7"/>
            <p:cNvGrpSpPr/>
            <p:nvPr/>
          </p:nvGrpSpPr>
          <p:grpSpPr>
            <a:xfrm>
              <a:off x="2520000" y="5078059"/>
              <a:ext cx="5760000" cy="288000"/>
              <a:chOff x="2520000" y="5400000"/>
              <a:chExt cx="5760000" cy="288000"/>
            </a:xfrm>
          </p:grpSpPr>
          <p:grpSp>
            <p:nvGrpSpPr>
              <p:cNvPr id="10" name="组合 9"/>
              <p:cNvGrpSpPr/>
              <p:nvPr/>
            </p:nvGrpSpPr>
            <p:grpSpPr>
              <a:xfrm>
                <a:off x="2520000" y="5400000"/>
                <a:ext cx="1440000" cy="288000"/>
                <a:chOff x="2520000" y="5400000"/>
                <a:chExt cx="1440000" cy="288000"/>
              </a:xfrm>
            </p:grpSpPr>
            <p:cxnSp>
              <p:nvCxnSpPr>
                <p:cNvPr id="20" name="连接符: 肘形 19"/>
                <p:cNvCxnSpPr/>
                <p:nvPr/>
              </p:nvCxnSpPr>
              <p:spPr>
                <a:xfrm flipV="1">
                  <a:off x="252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连接符: 肘形 20"/>
                <p:cNvCxnSpPr/>
                <p:nvPr/>
              </p:nvCxnSpPr>
              <p:spPr>
                <a:xfrm>
                  <a:off x="324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组合 10"/>
              <p:cNvGrpSpPr/>
              <p:nvPr/>
            </p:nvGrpSpPr>
            <p:grpSpPr>
              <a:xfrm>
                <a:off x="3960000" y="5400000"/>
                <a:ext cx="1440000" cy="288000"/>
                <a:chOff x="2520000" y="5400000"/>
                <a:chExt cx="1440000" cy="288000"/>
              </a:xfrm>
            </p:grpSpPr>
            <p:cxnSp>
              <p:nvCxnSpPr>
                <p:cNvPr id="18" name="连接符: 肘形 17"/>
                <p:cNvCxnSpPr/>
                <p:nvPr/>
              </p:nvCxnSpPr>
              <p:spPr>
                <a:xfrm flipV="1">
                  <a:off x="252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连接符: 肘形 18"/>
                <p:cNvCxnSpPr/>
                <p:nvPr/>
              </p:nvCxnSpPr>
              <p:spPr>
                <a:xfrm>
                  <a:off x="324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组合 11"/>
              <p:cNvGrpSpPr/>
              <p:nvPr/>
            </p:nvGrpSpPr>
            <p:grpSpPr>
              <a:xfrm>
                <a:off x="5400000" y="5400000"/>
                <a:ext cx="1440000" cy="288000"/>
                <a:chOff x="2520000" y="5400000"/>
                <a:chExt cx="1440000" cy="288000"/>
              </a:xfrm>
            </p:grpSpPr>
            <p:cxnSp>
              <p:nvCxnSpPr>
                <p:cNvPr id="16" name="连接符: 肘形 15"/>
                <p:cNvCxnSpPr/>
                <p:nvPr/>
              </p:nvCxnSpPr>
              <p:spPr>
                <a:xfrm flipV="1">
                  <a:off x="252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连接符: 肘形 16"/>
                <p:cNvCxnSpPr/>
                <p:nvPr/>
              </p:nvCxnSpPr>
              <p:spPr>
                <a:xfrm>
                  <a:off x="324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组合 12"/>
              <p:cNvGrpSpPr/>
              <p:nvPr/>
            </p:nvGrpSpPr>
            <p:grpSpPr>
              <a:xfrm>
                <a:off x="6840000" y="5400000"/>
                <a:ext cx="1440000" cy="288000"/>
                <a:chOff x="2520000" y="5400000"/>
                <a:chExt cx="1440000" cy="288000"/>
              </a:xfrm>
            </p:grpSpPr>
            <p:cxnSp>
              <p:nvCxnSpPr>
                <p:cNvPr id="14" name="连接符: 肘形 13"/>
                <p:cNvCxnSpPr/>
                <p:nvPr/>
              </p:nvCxnSpPr>
              <p:spPr>
                <a:xfrm flipV="1">
                  <a:off x="252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连接符: 肘形 14"/>
                <p:cNvCxnSpPr/>
                <p:nvPr/>
              </p:nvCxnSpPr>
              <p:spPr>
                <a:xfrm>
                  <a:off x="3240000" y="5400000"/>
                  <a:ext cx="720000" cy="288000"/>
                </a:xfrm>
                <a:prstGeom prst="bentConnector3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9" name="文本框 8"/>
            <p:cNvSpPr txBox="1"/>
            <p:nvPr/>
          </p:nvSpPr>
          <p:spPr>
            <a:xfrm>
              <a:off x="1271327" y="5040000"/>
              <a:ext cx="12486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 err="1"/>
                <a:t>clk</a:t>
              </a:r>
              <a:endParaRPr lang="zh-CN" altLang="en-US" dirty="0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101994" y="2825983"/>
            <a:ext cx="7008673" cy="369332"/>
            <a:chOff x="1271327" y="5539334"/>
            <a:chExt cx="7008673" cy="369332"/>
          </a:xfrm>
        </p:grpSpPr>
        <p:grpSp>
          <p:nvGrpSpPr>
            <p:cNvPr id="23" name="组合 22"/>
            <p:cNvGrpSpPr/>
            <p:nvPr/>
          </p:nvGrpSpPr>
          <p:grpSpPr>
            <a:xfrm>
              <a:off x="2520000" y="5580000"/>
              <a:ext cx="5760000" cy="288000"/>
              <a:chOff x="2520000" y="5580000"/>
              <a:chExt cx="5760000" cy="288000"/>
            </a:xfrm>
          </p:grpSpPr>
          <p:cxnSp>
            <p:nvCxnSpPr>
              <p:cNvPr id="25" name="连接符: 肘形 24"/>
              <p:cNvCxnSpPr/>
              <p:nvPr/>
            </p:nvCxnSpPr>
            <p:spPr>
              <a:xfrm flipV="1">
                <a:off x="2520000" y="5580000"/>
                <a:ext cx="1620000" cy="288000"/>
              </a:xfrm>
              <a:prstGeom prst="bentConnector3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>
              <a:xfrm>
                <a:off x="4140133" y="5580000"/>
                <a:ext cx="360000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连接符: 肘形 26"/>
              <p:cNvCxnSpPr/>
              <p:nvPr/>
            </p:nvCxnSpPr>
            <p:spPr>
              <a:xfrm>
                <a:off x="7740000" y="5580000"/>
                <a:ext cx="540000" cy="288000"/>
              </a:xfrm>
              <a:prstGeom prst="bentConnector3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4" name="文本框 23"/>
            <p:cNvSpPr txBox="1"/>
            <p:nvPr/>
          </p:nvSpPr>
          <p:spPr>
            <a:xfrm>
              <a:off x="1271327" y="5539334"/>
              <a:ext cx="12022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in</a:t>
              </a:r>
              <a:endParaRPr lang="zh-CN" altLang="en-US" dirty="0"/>
            </a:p>
          </p:txBody>
        </p:sp>
      </p:grpSp>
      <p:cxnSp>
        <p:nvCxnSpPr>
          <p:cNvPr id="28" name="连接符: 肘形 27"/>
          <p:cNvCxnSpPr/>
          <p:nvPr/>
        </p:nvCxnSpPr>
        <p:spPr>
          <a:xfrm flipV="1">
            <a:off x="2350667" y="3406470"/>
            <a:ext cx="3600000" cy="288000"/>
          </a:xfrm>
          <a:prstGeom prst="bentConnector3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7750800" y="3406470"/>
            <a:ext cx="360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1118102" y="3365804"/>
            <a:ext cx="30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Q</a:t>
            </a:r>
            <a:endParaRPr lang="zh-CN" altLang="en-US" dirty="0"/>
          </a:p>
        </p:txBody>
      </p:sp>
      <p:cxnSp>
        <p:nvCxnSpPr>
          <p:cNvPr id="40" name="直接连接符 39"/>
          <p:cNvCxnSpPr/>
          <p:nvPr/>
        </p:nvCxnSpPr>
        <p:spPr>
          <a:xfrm>
            <a:off x="5950800" y="3405600"/>
            <a:ext cx="1800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连接符: 肘形 40"/>
          <p:cNvCxnSpPr/>
          <p:nvPr/>
        </p:nvCxnSpPr>
        <p:spPr>
          <a:xfrm flipV="1">
            <a:off x="2350667" y="3982249"/>
            <a:ext cx="1620000" cy="288000"/>
          </a:xfrm>
          <a:prstGeom prst="bentConnector3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3970800" y="3981600"/>
            <a:ext cx="180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4150667" y="3981599"/>
            <a:ext cx="0" cy="288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4150667" y="4269599"/>
            <a:ext cx="3960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1101994" y="3974733"/>
            <a:ext cx="567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out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98104" y="1042993"/>
            <a:ext cx="101245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推荐的</a:t>
            </a:r>
            <a:r>
              <a:rPr lang="en-US" altLang="zh-CN" dirty="0"/>
              <a:t>lab4</a:t>
            </a:r>
            <a:r>
              <a:rPr lang="zh-CN" altLang="en-US" dirty="0"/>
              <a:t>实验方案：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完成按钮处理模块，设计一个简单的电路（例如按下按钮切换</a:t>
            </a:r>
            <a:r>
              <a:rPr lang="en-US" altLang="zh-CN" dirty="0"/>
              <a:t>LED</a:t>
            </a:r>
            <a:r>
              <a:rPr lang="zh-CN" altLang="en-US" dirty="0"/>
              <a:t>灯的亮灭）来上板验证。</a:t>
            </a:r>
            <a:endParaRPr lang="en-US" altLang="zh-CN" dirty="0"/>
          </a:p>
          <a:p>
            <a:r>
              <a:rPr lang="en-US" altLang="zh-CN" dirty="0"/>
              <a:t>	1.</a:t>
            </a:r>
            <a:r>
              <a:rPr lang="zh-CN" altLang="en-US" dirty="0"/>
              <a:t>强制分成三个模块（同步、防抖、脉宽）。同步器</a:t>
            </a:r>
            <a:r>
              <a:rPr lang="en-US" altLang="zh-CN" dirty="0"/>
              <a:t>+</a:t>
            </a:r>
            <a:r>
              <a:rPr lang="zh-CN" altLang="en-US" dirty="0"/>
              <a:t>防抖动，约束到</a:t>
            </a:r>
            <a:r>
              <a:rPr lang="en-US" altLang="zh-CN" dirty="0"/>
              <a:t>LED</a:t>
            </a:r>
            <a:r>
              <a:rPr lang="zh-CN" altLang="en-US" dirty="0"/>
              <a:t>上。（自己看防抖代码）</a:t>
            </a:r>
            <a:endParaRPr lang="en-US" altLang="zh-CN" dirty="0"/>
          </a:p>
          <a:p>
            <a:r>
              <a:rPr lang="en-US" altLang="zh-CN" dirty="0"/>
              <a:t>	2.1+</a:t>
            </a:r>
            <a:r>
              <a:rPr lang="zh-CN" altLang="en-US" dirty="0"/>
              <a:t>脉宽变换，写一个顶层文件，实现按下按钮切换</a:t>
            </a:r>
            <a:r>
              <a:rPr lang="en-US" altLang="zh-CN" dirty="0"/>
              <a:t>LED</a:t>
            </a:r>
            <a:r>
              <a:rPr lang="zh-CN" altLang="en-US" dirty="0"/>
              <a:t>灯的亮灭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完成</a:t>
            </a:r>
            <a:r>
              <a:rPr lang="en-US" altLang="zh-CN" dirty="0"/>
              <a:t>lab4</a:t>
            </a:r>
            <a:r>
              <a:rPr lang="zh-CN" altLang="en-US" dirty="0"/>
              <a:t>的</a:t>
            </a:r>
            <a:r>
              <a:rPr lang="en-US" altLang="zh-CN" dirty="0"/>
              <a:t>FSM</a:t>
            </a:r>
            <a:r>
              <a:rPr lang="zh-CN" altLang="en-US" dirty="0"/>
              <a:t>模块，设计仿真测试文件，测试状态转换无误。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教仿真文件怎么写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完成</a:t>
            </a:r>
            <a:r>
              <a:rPr lang="en-US" altLang="zh-CN" dirty="0"/>
              <a:t>lab4</a:t>
            </a:r>
            <a:r>
              <a:rPr lang="zh-CN" altLang="en-US" dirty="0"/>
              <a:t>的数码管显示模块，将上述的几个模块连接到一起，上板验证。</a:t>
            </a:r>
            <a:endParaRPr lang="en-US" altLang="zh-CN" dirty="0"/>
          </a:p>
          <a:p>
            <a:r>
              <a:rPr lang="en-US" altLang="zh-CN" dirty="0"/>
              <a:t>	1.</a:t>
            </a:r>
            <a:r>
              <a:rPr lang="zh-CN" altLang="en-US" dirty="0"/>
              <a:t>数码管显示，</a:t>
            </a:r>
            <a:r>
              <a:rPr lang="en-US" altLang="zh-CN" dirty="0"/>
              <a:t>8</a:t>
            </a:r>
            <a:r>
              <a:rPr lang="zh-CN" altLang="en-US" dirty="0"/>
              <a:t>个开关控制亮</a:t>
            </a:r>
            <a:r>
              <a:rPr lang="en-US" altLang="zh-CN" dirty="0"/>
              <a:t>1-8</a:t>
            </a:r>
            <a:r>
              <a:rPr lang="zh-CN" altLang="en-US" dirty="0"/>
              <a:t>，全关显示</a:t>
            </a:r>
            <a:r>
              <a:rPr lang="en-US" altLang="zh-CN" dirty="0"/>
              <a:t>0</a:t>
            </a:r>
            <a:r>
              <a:rPr lang="zh-CN" altLang="en-US" dirty="0"/>
              <a:t>，其余状态显示</a:t>
            </a:r>
            <a:r>
              <a:rPr lang="en-US" altLang="zh-CN" dirty="0"/>
              <a:t>9</a:t>
            </a:r>
            <a:r>
              <a:rPr lang="zh-CN" altLang="en-US" dirty="0"/>
              <a:t>，奇偶数在两个数码管显示。</a:t>
            </a:r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以上所有综合，形成</a:t>
            </a:r>
            <a:r>
              <a:rPr lang="en-US" altLang="zh-CN"/>
              <a:t>lab4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GRhMzcyMzEyODlhOWM2Njg5MjExZjU2M2JhNTg5NzEifQ==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自定义 1">
      <a:majorFont>
        <a:latin typeface="Times New Roman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1584</Words>
  <Application>WPS 演示</Application>
  <PresentationFormat>宽屏</PresentationFormat>
  <Paragraphs>132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Arial</vt:lpstr>
      <vt:lpstr>楷体</vt:lpstr>
      <vt:lpstr>微软雅黑</vt:lpstr>
      <vt:lpstr>Times New Roman</vt:lpstr>
      <vt:lpstr>华文楷体</vt:lpstr>
      <vt:lpstr>等线</vt:lpstr>
      <vt:lpstr>Calibri</vt:lpstr>
      <vt:lpstr>Arial Unicode MS</vt:lpstr>
      <vt:lpstr>环保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卓 若凡</dc:creator>
  <cp:lastModifiedBy>楚佳</cp:lastModifiedBy>
  <cp:revision>160</cp:revision>
  <dcterms:created xsi:type="dcterms:W3CDTF">2020-03-05T07:00:00Z</dcterms:created>
  <dcterms:modified xsi:type="dcterms:W3CDTF">2024-03-14T15:05:19Z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3180DAC3002D40C0807B035B6D1A6E51_12</vt:lpwstr>
  </property>
  <property fmtid="{D5CDD505-2E9C-101B-9397-08002B2CF9AE}" pid="3" name="KSOProductBuildVer">
    <vt:lpwstr>2052-12.1.0.16399</vt:lpwstr>
  </property>
</Properties>
</file>