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theme/themeOverride3.xml" ContentType="application/vnd.openxmlformats-officedocument.themeOverride+xml"/>
  <Override PartName="/ppt/tags/tag2.xml" ContentType="application/vnd.openxmlformats-officedocument.presentationml.tags+xml"/>
  <Override PartName="/ppt/tags/tag3.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4.xml" ContentType="application/vnd.openxmlformats-officedocument.themeOverride+xml"/>
  <Override PartName="/ppt/theme/themeOverride5.xml" ContentType="application/vnd.openxmlformats-officedocument.themeOverr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Override6.xml" ContentType="application/vnd.openxmlformats-officedocument.themeOverride+xml"/>
  <Override PartName="/ppt/tags/tag8.xml" ContentType="application/vnd.openxmlformats-officedocument.presentationml.tags+xml"/>
  <Override PartName="/ppt/theme/themeOverride7.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56" r:id="rId2"/>
    <p:sldId id="257" r:id="rId3"/>
    <p:sldId id="258" r:id="rId4"/>
    <p:sldId id="311" r:id="rId5"/>
    <p:sldId id="312" r:id="rId6"/>
    <p:sldId id="261" r:id="rId7"/>
    <p:sldId id="274" r:id="rId8"/>
    <p:sldId id="275" r:id="rId9"/>
    <p:sldId id="276" r:id="rId10"/>
    <p:sldId id="278" r:id="rId11"/>
    <p:sldId id="279" r:id="rId12"/>
    <p:sldId id="280" r:id="rId13"/>
    <p:sldId id="281" r:id="rId14"/>
    <p:sldId id="282" r:id="rId15"/>
    <p:sldId id="283" r:id="rId16"/>
    <p:sldId id="262" r:id="rId17"/>
    <p:sldId id="313" r:id="rId18"/>
    <p:sldId id="264" r:id="rId19"/>
    <p:sldId id="285" r:id="rId20"/>
    <p:sldId id="286" r:id="rId21"/>
    <p:sldId id="287" r:id="rId22"/>
    <p:sldId id="288" r:id="rId23"/>
    <p:sldId id="289" r:id="rId24"/>
    <p:sldId id="334" r:id="rId25"/>
    <p:sldId id="335" r:id="rId26"/>
    <p:sldId id="269" r:id="rId27"/>
    <p:sldId id="339" r:id="rId28"/>
    <p:sldId id="271" r:id="rId29"/>
  </p:sldIdLst>
  <p:sldSz cx="12192000" cy="6858000"/>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959E"/>
    <a:srgbClr val="DADEE2"/>
    <a:srgbClr val="B3BECC"/>
    <a:srgbClr val="2C3B38"/>
    <a:srgbClr val="C7C9C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64" autoAdjust="0"/>
    <p:restoredTop sz="94660"/>
  </p:normalViewPr>
  <p:slideViewPr>
    <p:cSldViewPr snapToGrid="0">
      <p:cViewPr varScale="1">
        <p:scale>
          <a:sx n="107" d="100"/>
          <a:sy n="107" d="100"/>
        </p:scale>
        <p:origin x="96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oleObject" Target="file:///C:\Users\lxl\Desktop\&#26032;&#24314;%20XLSX%20&#24037;&#20316;&#34920;.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0" i="0" u="none" strike="noStrike" kern="1200" spc="0" baseline="0">
                <a:solidFill>
                  <a:schemeClr val="tx1">
                    <a:lumMod val="65000"/>
                    <a:lumOff val="35000"/>
                  </a:schemeClr>
                </a:solidFill>
                <a:latin typeface="+mn-lt"/>
                <a:ea typeface="+mn-ea"/>
                <a:cs typeface="+mn-cs"/>
              </a:defRPr>
            </a:pPr>
            <a:r>
              <a:t>探究紫金港校园食物浪费现象图</a:t>
            </a:r>
          </a:p>
        </c:rich>
      </c:tx>
      <c:layout>
        <c:manualLayout>
          <c:xMode val="edge"/>
          <c:yMode val="edge"/>
          <c:x val="0.22745201156981301"/>
          <c:y val="3.4578788582037598E-2"/>
        </c:manualLayout>
      </c:layout>
      <c:overlay val="0"/>
      <c:spPr>
        <a:noFill/>
        <a:ln>
          <a:noFill/>
        </a:ln>
        <a:effectLst/>
      </c:spPr>
      <c:txPr>
        <a:bodyPr rot="0" spcFirstLastPara="0" vertOverflow="ellipsis" vert="horz" wrap="square" anchor="ctr" anchorCtr="1"/>
        <a:lstStyle/>
        <a:p>
          <a:pPr defTabSz="914400">
            <a:defRPr lang="zh-CN" sz="140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pieChart>
        <c:varyColors val="1"/>
        <c:ser>
          <c:idx val="0"/>
          <c:order val="0"/>
          <c:tx>
            <c:strRef>
              <c:f>"数目(求和)"</c:f>
              <c:strCache>
                <c:ptCount val="1"/>
                <c:pt idx="0">
                  <c:v>数目(求和)</c:v>
                </c:pt>
              </c:strCache>
            </c:strRef>
          </c:tx>
          <c:dPt>
            <c:idx val="0"/>
            <c:bubble3D val="0"/>
            <c:spPr>
              <a:solidFill>
                <a:schemeClr val="accent1"/>
              </a:solidFill>
              <a:ln>
                <a:noFill/>
              </a:ln>
              <a:effectLst/>
            </c:spPr>
            <c:extLst>
              <c:ext xmlns:c16="http://schemas.microsoft.com/office/drawing/2014/chart" uri="{C3380CC4-5D6E-409C-BE32-E72D297353CC}">
                <c16:uniqueId val="{00000001-6571-4B43-B342-7FDC2DD28E38}"/>
              </c:ext>
            </c:extLst>
          </c:dPt>
          <c:dPt>
            <c:idx val="1"/>
            <c:bubble3D val="0"/>
            <c:spPr>
              <a:solidFill>
                <a:schemeClr val="accent2"/>
              </a:solidFill>
              <a:ln>
                <a:noFill/>
              </a:ln>
              <a:effectLst/>
            </c:spPr>
            <c:extLst>
              <c:ext xmlns:c16="http://schemas.microsoft.com/office/drawing/2014/chart" uri="{C3380CC4-5D6E-409C-BE32-E72D297353CC}">
                <c16:uniqueId val="{00000003-6571-4B43-B342-7FDC2DD28E38}"/>
              </c:ext>
            </c:extLst>
          </c:dPt>
          <c:dPt>
            <c:idx val="2"/>
            <c:bubble3D val="0"/>
            <c:spPr>
              <a:solidFill>
                <a:schemeClr val="accent3"/>
              </a:solidFill>
              <a:ln>
                <a:noFill/>
              </a:ln>
              <a:effectLst/>
            </c:spPr>
            <c:extLst>
              <c:ext xmlns:c16="http://schemas.microsoft.com/office/drawing/2014/chart" uri="{C3380CC4-5D6E-409C-BE32-E72D297353CC}">
                <c16:uniqueId val="{00000005-6571-4B43-B342-7FDC2DD28E38}"/>
              </c:ext>
            </c:extLst>
          </c:dPt>
          <c:dPt>
            <c:idx val="3"/>
            <c:bubble3D val="0"/>
            <c:spPr>
              <a:solidFill>
                <a:schemeClr val="accent4"/>
              </a:solidFill>
              <a:ln>
                <a:noFill/>
              </a:ln>
              <a:effectLst/>
            </c:spPr>
            <c:extLst>
              <c:ext xmlns:c16="http://schemas.microsoft.com/office/drawing/2014/chart" uri="{C3380CC4-5D6E-409C-BE32-E72D297353CC}">
                <c16:uniqueId val="{00000007-6571-4B43-B342-7FDC2DD28E38}"/>
              </c:ext>
            </c:extLst>
          </c:dPt>
          <c:cat>
            <c:strRef>
              <c:f>{"基本光盘（剩余菜量10%以下）","略有浪费（剩余菜量超过10%不到25%）","比较浪费（剩余菜量超过25%不到50%）","非常浪费（剩余菜量超过50%）"}</c:f>
              <c:strCache>
                <c:ptCount val="4"/>
                <c:pt idx="0">
                  <c:v>基本光盘（剩余菜量10%以下）</c:v>
                </c:pt>
                <c:pt idx="1">
                  <c:v>略有浪费（剩余菜量超过10%不到25%）</c:v>
                </c:pt>
                <c:pt idx="2">
                  <c:v>比较浪费（剩余菜量超过25%不到50%）</c:v>
                </c:pt>
                <c:pt idx="3">
                  <c:v>非常浪费（剩余菜量超过50%）</c:v>
                </c:pt>
              </c:strCache>
            </c:strRef>
          </c:cat>
          <c:val>
            <c:numRef>
              <c:f>{181,31,7,9}</c:f>
              <c:numCache>
                <c:formatCode>General</c:formatCode>
                <c:ptCount val="4"/>
                <c:pt idx="0">
                  <c:v>181</c:v>
                </c:pt>
                <c:pt idx="1">
                  <c:v>31</c:v>
                </c:pt>
                <c:pt idx="2">
                  <c:v>7</c:v>
                </c:pt>
                <c:pt idx="3">
                  <c:v>9</c:v>
                </c:pt>
              </c:numCache>
            </c:numRef>
          </c:val>
          <c:extLst>
            <c:ext xmlns:c16="http://schemas.microsoft.com/office/drawing/2014/chart" uri="{C3380CC4-5D6E-409C-BE32-E72D297353CC}">
              <c16:uniqueId val="{00000008-6571-4B43-B342-7FDC2DD28E38}"/>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D54B28-0DE7-484E-AC94-DE8B4F38983A}" type="datetimeFigureOut">
              <a:rPr lang="zh-CN" altLang="en-US" smtClean="0"/>
              <a:t>2026/8/29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6E63E0-A8E8-4EA4-9AB6-4A089FBBF142}"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A6E63E0-A8E8-4EA4-9AB6-4A089FBBF142}" type="slidenum">
              <a:rPr lang="zh-CN" altLang="en-US" smtClean="0"/>
              <a:t>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75B9407E-5BEF-485C-BA31-B00D80D0F10A}" type="datetimeFigureOut">
              <a:rPr lang="zh-CN" altLang="en-US" smtClean="0"/>
              <a:t>2026/8/29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CE65A4E-F05D-4617-B0B0-3F58849006E2}"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5B9407E-5BEF-485C-BA31-B00D80D0F10A}" type="datetimeFigureOut">
              <a:rPr lang="zh-CN" altLang="en-US" smtClean="0"/>
              <a:t>2026/8/29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CE65A4E-F05D-4617-B0B0-3F58849006E2}"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75B9407E-5BEF-485C-BA31-B00D80D0F10A}" type="datetimeFigureOut">
              <a:rPr lang="zh-CN" altLang="en-US" smtClean="0"/>
              <a:t>2026/8/29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CE65A4E-F05D-4617-B0B0-3F58849006E2}"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75B9407E-5BEF-485C-BA31-B00D80D0F10A}" type="datetimeFigureOut">
              <a:rPr lang="zh-CN" altLang="en-US" smtClean="0"/>
              <a:t>2026/8/29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CE65A4E-F05D-4617-B0B0-3F58849006E2}"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75B9407E-5BEF-485C-BA31-B00D80D0F10A}" type="datetimeFigureOut">
              <a:rPr lang="zh-CN" altLang="en-US" smtClean="0"/>
              <a:t>2026/8/29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CE65A4E-F05D-4617-B0B0-3F58849006E2}"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5B9407E-5BEF-485C-BA31-B00D80D0F10A}" type="datetimeFigureOut">
              <a:rPr lang="zh-CN" altLang="en-US" smtClean="0"/>
              <a:t>2026/8/29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CE65A4E-F05D-4617-B0B0-3F58849006E2}"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5B9407E-5BEF-485C-BA31-B00D80D0F10A}" type="datetimeFigureOut">
              <a:rPr lang="zh-CN" altLang="en-US" smtClean="0"/>
              <a:t>2026/8/29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CE65A4E-F05D-4617-B0B0-3F58849006E2}"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75B9407E-5BEF-485C-BA31-B00D80D0F10A}" type="datetimeFigureOut">
              <a:rPr lang="zh-CN" altLang="en-US" smtClean="0"/>
              <a:t>2026/8/29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CE65A4E-F05D-4617-B0B0-3F58849006E2}"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75B9407E-5BEF-485C-BA31-B00D80D0F10A}" type="datetimeFigureOut">
              <a:rPr lang="zh-CN" altLang="en-US" smtClean="0"/>
              <a:t>2026/8/29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CE65A4E-F05D-4617-B0B0-3F58849006E2}"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5B9407E-5BEF-485C-BA31-B00D80D0F10A}" type="datetimeFigureOut">
              <a:rPr lang="zh-CN" altLang="en-US" smtClean="0"/>
              <a:t>2026/8/29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CE65A4E-F05D-4617-B0B0-3F58849006E2}"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5B9407E-5BEF-485C-BA31-B00D80D0F10A}" type="datetimeFigureOut">
              <a:rPr lang="zh-CN" altLang="en-US" smtClean="0"/>
              <a:t>2026/8/29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CE65A4E-F05D-4617-B0B0-3F58849006E2}"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B9407E-5BEF-485C-BA31-B00D80D0F10A}" type="datetimeFigureOut">
              <a:rPr lang="zh-CN" altLang="en-US" smtClean="0"/>
              <a:t>2026/8/29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E65A4E-F05D-4617-B0B0-3F58849006E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3.svg"/><Relationship Id="rId2" Type="http://schemas.openxmlformats.org/officeDocument/2006/relationships/slideLayout" Target="../slideLayouts/slideLayout1.xml"/><Relationship Id="rId1" Type="http://schemas.openxmlformats.org/officeDocument/2006/relationships/themeOverride" Target="../theme/themeOverride1.xml"/><Relationship Id="rId6" Type="http://schemas.microsoft.com/office/2007/relationships/hdphoto" Target="../media/hdphoto1.wdp"/><Relationship Id="rId5" Type="http://schemas.openxmlformats.org/officeDocument/2006/relationships/image" Target="../media/image2.pn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image" Target="../media/image7.svg"/><Relationship Id="rId5" Type="http://schemas.openxmlformats.org/officeDocument/2006/relationships/image" Target="../media/image6.jpe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2.xml"/><Relationship Id="rId1" Type="http://schemas.openxmlformats.org/officeDocument/2006/relationships/themeOverride" Target="../theme/themeOverride3.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slideLayout" Target="../slideLayouts/slideLayout2.xml"/><Relationship Id="rId1" Type="http://schemas.openxmlformats.org/officeDocument/2006/relationships/themeOverride" Target="../theme/themeOverride4.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2.xml"/><Relationship Id="rId1" Type="http://schemas.openxmlformats.org/officeDocument/2006/relationships/themeOverride" Target="../theme/themeOverride5.xml"/><Relationship Id="rId4" Type="http://schemas.openxmlformats.org/officeDocument/2006/relationships/image" Target="../media/image8.jpeg"/></Relationships>
</file>

<file path=ppt/slides/_rels/slide1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2.xml"/><Relationship Id="rId5" Type="http://schemas.openxmlformats.org/officeDocument/2006/relationships/image" Target="../media/image34.jpeg"/><Relationship Id="rId4" Type="http://schemas.openxmlformats.org/officeDocument/2006/relationships/image" Target="../media/image33.jpeg"/></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41.jpeg"/><Relationship Id="rId4" Type="http://schemas.openxmlformats.org/officeDocument/2006/relationships/image" Target="../media/image40.sv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43.jpeg"/><Relationship Id="rId4" Type="http://schemas.openxmlformats.org/officeDocument/2006/relationships/image" Target="../media/image42.sv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2.xml"/><Relationship Id="rId1" Type="http://schemas.openxmlformats.org/officeDocument/2006/relationships/themeOverride" Target="../theme/themeOverride6.xml"/><Relationship Id="rId4" Type="http://schemas.openxmlformats.org/officeDocument/2006/relationships/image" Target="../media/image8.jpeg"/></Relationships>
</file>

<file path=ppt/slides/_rels/slide27.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28.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slideLayout" Target="../slideLayouts/slideLayout7.xml"/><Relationship Id="rId1" Type="http://schemas.openxmlformats.org/officeDocument/2006/relationships/themeOverride" Target="../theme/themeOverride7.xml"/><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4" cstate="print"/>
          <a:srcRect l="-48"/>
          <a:stretch>
            <a:fillRect/>
          </a:stretch>
        </p:blipFill>
        <p:spPr>
          <a:xfrm>
            <a:off x="0" y="0"/>
            <a:ext cx="12192000" cy="6872928"/>
          </a:xfrm>
          <a:prstGeom prst="rect">
            <a:avLst/>
          </a:prstGeom>
        </p:spPr>
      </p:pic>
      <p:pic>
        <p:nvPicPr>
          <p:cNvPr id="7" name="图片 6"/>
          <p:cNvPicPr>
            <a:picLocks noChangeAspect="1"/>
          </p:cNvPicPr>
          <p:nvPr/>
        </p:nvPicPr>
        <p:blipFill rotWithShape="1">
          <a:blip r:embed="rId5" cstate="print">
            <a:extLst>
              <a:ext uri="{BEBA8EAE-BF5A-486C-A8C5-ECC9F3942E4B}">
                <a14:imgProps xmlns:a14="http://schemas.microsoft.com/office/drawing/2010/main">
                  <a14:imgLayer r:embed="rId6">
                    <a14:imgEffect>
                      <a14:brightnessContrast contrast="5000"/>
                    </a14:imgEffect>
                    <a14:imgEffect>
                      <a14:colorTemperature colorTemp="6660"/>
                    </a14:imgEffect>
                    <a14:imgEffect>
                      <a14:saturation sat="125000"/>
                    </a14:imgEffect>
                  </a14:imgLayer>
                </a14:imgProps>
              </a:ext>
            </a:extLst>
          </a:blip>
          <a:srcRect/>
          <a:stretch>
            <a:fillRect/>
          </a:stretch>
        </p:blipFill>
        <p:spPr>
          <a:xfrm>
            <a:off x="0" y="-14928"/>
            <a:ext cx="12192000" cy="6872928"/>
          </a:xfrm>
          <a:prstGeom prst="rect">
            <a:avLst/>
          </a:prstGeom>
        </p:spPr>
      </p:pic>
      <p:sp>
        <p:nvSpPr>
          <p:cNvPr id="10" name="矩形 9"/>
          <p:cNvSpPr/>
          <p:nvPr/>
        </p:nvSpPr>
        <p:spPr>
          <a:xfrm>
            <a:off x="6516915" y="1727200"/>
            <a:ext cx="5675086" cy="4122057"/>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Narrow" panose="020B0606020202030204" pitchFamily="34" charset="0"/>
              <a:ea typeface="汉仪润圆-45简" panose="00020600040101010101" pitchFamily="18" charset="-122"/>
              <a:sym typeface="Arial Narrow" panose="020B0606020202030204" pitchFamily="34" charset="0"/>
            </a:endParaRPr>
          </a:p>
        </p:txBody>
      </p:sp>
      <p:sp>
        <p:nvSpPr>
          <p:cNvPr id="6" name="文本框 5"/>
          <p:cNvSpPr txBox="1"/>
          <p:nvPr/>
        </p:nvSpPr>
        <p:spPr>
          <a:xfrm>
            <a:off x="6754495" y="1727200"/>
            <a:ext cx="4474210" cy="1470025"/>
          </a:xfrm>
          <a:prstGeom prst="rect">
            <a:avLst/>
          </a:prstGeom>
          <a:noFill/>
        </p:spPr>
        <p:txBody>
          <a:bodyPr wrap="none" rtlCol="0">
            <a:noAutofit/>
          </a:bodyPr>
          <a:lstStyle/>
          <a:p>
            <a:r>
              <a:rPr lang="en-US" altLang="zh-CN" sz="6000" b="1" dirty="0">
                <a:solidFill>
                  <a:schemeClr val="bg1"/>
                </a:solidFill>
                <a:latin typeface="微软雅黑" panose="020B0503020204020204" pitchFamily="34" charset="-122"/>
                <a:ea typeface="微软雅黑" panose="020B0503020204020204" pitchFamily="34" charset="-122"/>
                <a:sym typeface="Arial Narrow" panose="020B0606020202030204" pitchFamily="34" charset="0"/>
              </a:rPr>
              <a:t>Food waste</a:t>
            </a:r>
            <a:r>
              <a:rPr lang="en-US" altLang="zh-CN" sz="5400" b="1" dirty="0">
                <a:solidFill>
                  <a:schemeClr val="bg1"/>
                </a:solidFill>
                <a:latin typeface="微软雅黑" panose="020B0503020204020204" pitchFamily="34" charset="-122"/>
                <a:ea typeface="微软雅黑" panose="020B0503020204020204" pitchFamily="34" charset="-122"/>
                <a:sym typeface="Arial Narrow" panose="020B0606020202030204" pitchFamily="34" charset="0"/>
              </a:rPr>
              <a:t> </a:t>
            </a:r>
          </a:p>
          <a:p>
            <a:r>
              <a:rPr lang="en-US" altLang="zh-CN" sz="5400" b="1" dirty="0">
                <a:solidFill>
                  <a:schemeClr val="bg1"/>
                </a:solidFill>
                <a:latin typeface="微软雅黑" panose="020B0503020204020204" pitchFamily="34" charset="-122"/>
                <a:ea typeface="微软雅黑" panose="020B0503020204020204" pitchFamily="34" charset="-122"/>
                <a:sym typeface="Arial Narrow" panose="020B0606020202030204" pitchFamily="34" charset="0"/>
              </a:rPr>
              <a:t>on our campus</a:t>
            </a:r>
          </a:p>
        </p:txBody>
      </p:sp>
      <p:cxnSp>
        <p:nvCxnSpPr>
          <p:cNvPr id="8" name="直接连接符 7"/>
          <p:cNvCxnSpPr/>
          <p:nvPr/>
        </p:nvCxnSpPr>
        <p:spPr>
          <a:xfrm>
            <a:off x="7260793" y="3494542"/>
            <a:ext cx="2698596" cy="0"/>
          </a:xfrm>
          <a:prstGeom prst="line">
            <a:avLst/>
          </a:prstGeom>
          <a:ln w="28575">
            <a:solidFill>
              <a:schemeClr val="bg1"/>
            </a:solidFill>
            <a:prstDash val="solid"/>
          </a:ln>
        </p:spPr>
        <p:style>
          <a:lnRef idx="1">
            <a:schemeClr val="dk1"/>
          </a:lnRef>
          <a:fillRef idx="0">
            <a:schemeClr val="dk1"/>
          </a:fillRef>
          <a:effectRef idx="0">
            <a:schemeClr val="dk1"/>
          </a:effectRef>
          <a:fontRef idx="minor">
            <a:schemeClr val="tx1"/>
          </a:fontRef>
        </p:style>
      </p:cxnSp>
      <p:sp>
        <p:nvSpPr>
          <p:cNvPr id="13" name="文本框 12"/>
          <p:cNvSpPr txBox="1"/>
          <p:nvPr/>
        </p:nvSpPr>
        <p:spPr>
          <a:xfrm>
            <a:off x="7260590" y="3843020"/>
            <a:ext cx="4606290" cy="1904365"/>
          </a:xfrm>
          <a:prstGeom prst="rect">
            <a:avLst/>
          </a:prstGeom>
          <a:noFill/>
        </p:spPr>
        <p:txBody>
          <a:bodyPr wrap="square" rtlCol="0">
            <a:noAutofit/>
          </a:bodyPr>
          <a:lstStyle/>
          <a:p>
            <a:pPr>
              <a:lnSpc>
                <a:spcPct val="150000"/>
              </a:lnSpc>
            </a:pPr>
            <a:r>
              <a:rPr lang="zh-CN" altLang="en-US" sz="2400" dirty="0">
                <a:solidFill>
                  <a:schemeClr val="bg1"/>
                </a:solidFill>
                <a:latin typeface="微软雅黑" panose="020B0503020204020204" pitchFamily="34" charset="-122"/>
                <a:ea typeface="微软雅黑" panose="020B0503020204020204" pitchFamily="34" charset="-122"/>
                <a:sym typeface="Arial Narrow" panose="020B0606020202030204" pitchFamily="34" charset="0"/>
              </a:rPr>
              <a:t>汇报小组：</a:t>
            </a:r>
            <a:r>
              <a:rPr lang="en-US" altLang="zh-CN" sz="2400" dirty="0">
                <a:solidFill>
                  <a:schemeClr val="bg1"/>
                </a:solidFill>
                <a:latin typeface="微软雅黑" panose="020B0503020204020204" pitchFamily="34" charset="-122"/>
                <a:ea typeface="微软雅黑" panose="020B0503020204020204" pitchFamily="34" charset="-122"/>
                <a:sym typeface="Arial Narrow" panose="020B0606020202030204" pitchFamily="34" charset="0"/>
              </a:rPr>
              <a:t>Group G</a:t>
            </a:r>
            <a:endParaRPr lang="zh-CN" altLang="en-US" sz="2400" dirty="0">
              <a:solidFill>
                <a:schemeClr val="bg1"/>
              </a:solidFill>
              <a:latin typeface="微软雅黑" panose="020B0503020204020204" pitchFamily="34" charset="-122"/>
              <a:ea typeface="微软雅黑" panose="020B0503020204020204" pitchFamily="34" charset="-122"/>
              <a:sym typeface="Arial Narrow" panose="020B0606020202030204" pitchFamily="34" charset="0"/>
            </a:endParaRPr>
          </a:p>
          <a:p>
            <a:pPr>
              <a:lnSpc>
                <a:spcPct val="150000"/>
              </a:lnSpc>
            </a:pPr>
            <a:r>
              <a:rPr lang="zh-CN" altLang="en-US" sz="2400" dirty="0">
                <a:solidFill>
                  <a:schemeClr val="bg1"/>
                </a:solidFill>
                <a:latin typeface="微软雅黑" panose="020B0503020204020204" pitchFamily="34" charset="-122"/>
                <a:ea typeface="微软雅黑" panose="020B0503020204020204" pitchFamily="34" charset="-122"/>
                <a:sym typeface="Arial Narrow" panose="020B0606020202030204" pitchFamily="34" charset="0"/>
              </a:rPr>
              <a:t>汇报</a:t>
            </a:r>
            <a:r>
              <a:rPr lang="zh-CN" altLang="en-US" sz="2400">
                <a:solidFill>
                  <a:schemeClr val="bg1"/>
                </a:solidFill>
                <a:latin typeface="微软雅黑" panose="020B0503020204020204" pitchFamily="34" charset="-122"/>
                <a:ea typeface="微软雅黑" panose="020B0503020204020204" pitchFamily="34" charset="-122"/>
                <a:sym typeface="Arial Narrow" panose="020B0606020202030204" pitchFamily="34" charset="0"/>
              </a:rPr>
              <a:t>人：</a:t>
            </a:r>
            <a:endParaRPr lang="zh-CN" altLang="en-US" sz="2400" dirty="0">
              <a:solidFill>
                <a:schemeClr val="bg1"/>
              </a:solidFill>
              <a:latin typeface="微软雅黑" panose="020B0503020204020204" pitchFamily="34" charset="-122"/>
              <a:ea typeface="微软雅黑" panose="020B0503020204020204" pitchFamily="34" charset="-122"/>
              <a:sym typeface="Arial Narrow" panose="020B0606020202030204" pitchFamily="34" charset="0"/>
            </a:endParaRPr>
          </a:p>
        </p:txBody>
      </p:sp>
      <p:pic>
        <p:nvPicPr>
          <p:cNvPr id="12" name="图形 11"/>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959389" y="238974"/>
            <a:ext cx="1992352" cy="55256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图片 35"/>
          <p:cNvPicPr>
            <a:picLocks noChangeAspect="1"/>
          </p:cNvPicPr>
          <p:nvPr/>
        </p:nvPicPr>
        <p:blipFill rotWithShape="1">
          <a:blip r:embed="rId3" cstate="print"/>
          <a:srcRect/>
          <a:stretch>
            <a:fillRect/>
          </a:stretch>
        </p:blipFill>
        <p:spPr>
          <a:xfrm>
            <a:off x="0" y="9303"/>
            <a:ext cx="12192000" cy="6848697"/>
          </a:xfrm>
          <a:prstGeom prst="rect">
            <a:avLst/>
          </a:prstGeom>
        </p:spPr>
      </p:pic>
      <p:pic>
        <p:nvPicPr>
          <p:cNvPr id="3" name="图片 2"/>
          <p:cNvPicPr>
            <a:picLocks noChangeAspect="1"/>
          </p:cNvPicPr>
          <p:nvPr/>
        </p:nvPicPr>
        <p:blipFill rotWithShape="1">
          <a:blip r:embed="rId4" cstate="print"/>
          <a:srcRect/>
          <a:stretch>
            <a:fillRect/>
          </a:stretch>
        </p:blipFill>
        <p:spPr>
          <a:xfrm>
            <a:off x="0" y="9302"/>
            <a:ext cx="12192000" cy="6834451"/>
          </a:xfrm>
          <a:prstGeom prst="rect">
            <a:avLst/>
          </a:prstGeom>
        </p:spPr>
      </p:pic>
      <p:pic>
        <p:nvPicPr>
          <p:cNvPr id="5" name="图片 4"/>
          <p:cNvPicPr>
            <a:picLocks noChangeAspect="1"/>
          </p:cNvPicPr>
          <p:nvPr/>
        </p:nvPicPr>
        <p:blipFill rotWithShape="1">
          <a:blip r:embed="rId5" cstate="print"/>
          <a:srcRect/>
          <a:stretch>
            <a:fillRect/>
          </a:stretch>
        </p:blipFill>
        <p:spPr>
          <a:xfrm>
            <a:off x="-2" y="-2"/>
            <a:ext cx="12191999" cy="6858001"/>
          </a:xfrm>
          <a:prstGeom prst="rect">
            <a:avLst/>
          </a:prstGeom>
        </p:spPr>
      </p:pic>
      <p:sp>
        <p:nvSpPr>
          <p:cNvPr id="37" name="矩形 36"/>
          <p:cNvSpPr/>
          <p:nvPr/>
        </p:nvSpPr>
        <p:spPr>
          <a:xfrm>
            <a:off x="0" y="0"/>
            <a:ext cx="12191999" cy="6858000"/>
          </a:xfrm>
          <a:prstGeom prst="rect">
            <a:avLst/>
          </a:prstGeom>
          <a:solidFill>
            <a:schemeClr val="tx2">
              <a:lumMod val="50000"/>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Narrow" panose="020B0606020202030204" pitchFamily="34" charset="0"/>
              <a:ea typeface="汉仪润圆-45简" panose="00020600040101010101" pitchFamily="18" charset="-122"/>
              <a:sym typeface="Arial Narrow" panose="020B0606020202030204" pitchFamily="34" charset="0"/>
            </a:endParaRPr>
          </a:p>
        </p:txBody>
      </p:sp>
      <p:sp>
        <p:nvSpPr>
          <p:cNvPr id="41" name="KSO_Shape"/>
          <p:cNvSpPr/>
          <p:nvPr/>
        </p:nvSpPr>
        <p:spPr>
          <a:xfrm>
            <a:off x="944539" y="3071645"/>
            <a:ext cx="2494698" cy="2463421"/>
          </a:xfrm>
          <a:prstGeom prst="flowChartConnector">
            <a:avLst/>
          </a:prstGeom>
          <a:noFill/>
          <a:ln>
            <a:solidFill>
              <a:srgbClr val="B3C6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tx1"/>
              </a:solidFill>
              <a:latin typeface="Arial Narrow" panose="020B0606020202030204" pitchFamily="34" charset="0"/>
              <a:ea typeface="汉仪润圆-45简" panose="00020600040101010101" pitchFamily="18" charset="-122"/>
              <a:sym typeface="Arial Narrow" panose="020B0606020202030204" pitchFamily="34" charset="0"/>
            </a:endParaRPr>
          </a:p>
        </p:txBody>
      </p:sp>
      <p:sp>
        <p:nvSpPr>
          <p:cNvPr id="42" name="椭圆 41"/>
          <p:cNvSpPr/>
          <p:nvPr/>
        </p:nvSpPr>
        <p:spPr>
          <a:xfrm>
            <a:off x="2306473" y="1501255"/>
            <a:ext cx="641444" cy="641444"/>
          </a:xfrm>
          <a:prstGeom prst="ellipse">
            <a:avLst/>
          </a:prstGeom>
          <a:noFill/>
          <a:ln>
            <a:solidFill>
              <a:srgbClr val="B3C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微软雅黑" panose="020B0503020204020204" pitchFamily="34" charset="-122"/>
                <a:ea typeface="微软雅黑" panose="020B0503020204020204" pitchFamily="34" charset="-122"/>
                <a:sym typeface="Arial Narrow" panose="020B0606020202030204" pitchFamily="34" charset="0"/>
              </a:rPr>
              <a:t>1</a:t>
            </a:r>
            <a:endParaRPr lang="zh-CN" altLang="en-US" sz="3200" dirty="0">
              <a:solidFill>
                <a:schemeClr val="bg1"/>
              </a:solidFill>
              <a:latin typeface="微软雅黑" panose="020B0503020204020204" pitchFamily="34" charset="-122"/>
              <a:ea typeface="微软雅黑" panose="020B0503020204020204" pitchFamily="34" charset="-122"/>
              <a:sym typeface="Arial Narrow" panose="020B0606020202030204" pitchFamily="34" charset="0"/>
            </a:endParaRPr>
          </a:p>
        </p:txBody>
      </p:sp>
      <p:sp>
        <p:nvSpPr>
          <p:cNvPr id="43" name="文本框 42"/>
          <p:cNvSpPr txBox="1"/>
          <p:nvPr/>
        </p:nvSpPr>
        <p:spPr>
          <a:xfrm>
            <a:off x="699770" y="3737610"/>
            <a:ext cx="4682490" cy="1602740"/>
          </a:xfrm>
          <a:prstGeom prst="rect">
            <a:avLst/>
          </a:prstGeom>
          <a:noFill/>
        </p:spPr>
        <p:txBody>
          <a:bodyPr wrap="square" rtlCol="0">
            <a:noAutofit/>
          </a:bodyPr>
          <a:lstStyle/>
          <a:p>
            <a:r>
              <a:rPr lang="en-US" altLang="zh-CN" sz="6000" b="1" dirty="0">
                <a:solidFill>
                  <a:schemeClr val="bg1"/>
                </a:solidFill>
                <a:latin typeface="微软雅黑" panose="020B0503020204020204" pitchFamily="34" charset="-122"/>
                <a:ea typeface="微软雅黑" panose="020B0503020204020204" pitchFamily="34" charset="-122"/>
                <a:sym typeface="Arial Narrow" panose="020B0606020202030204" pitchFamily="34" charset="0"/>
              </a:rPr>
              <a:t>content</a:t>
            </a:r>
          </a:p>
        </p:txBody>
      </p:sp>
      <p:sp>
        <p:nvSpPr>
          <p:cNvPr id="45" name="椭圆 44"/>
          <p:cNvSpPr/>
          <p:nvPr/>
        </p:nvSpPr>
        <p:spPr>
          <a:xfrm>
            <a:off x="3730390" y="2622143"/>
            <a:ext cx="641444" cy="641444"/>
          </a:xfrm>
          <a:prstGeom prst="ellipse">
            <a:avLst/>
          </a:prstGeom>
          <a:noFill/>
          <a:ln>
            <a:solidFill>
              <a:srgbClr val="B3C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微软雅黑" panose="020B0503020204020204" pitchFamily="34" charset="-122"/>
                <a:ea typeface="微软雅黑" panose="020B0503020204020204" pitchFamily="34" charset="-122"/>
                <a:sym typeface="Arial Narrow" panose="020B0606020202030204" pitchFamily="34" charset="0"/>
              </a:rPr>
              <a:t>2</a:t>
            </a:r>
            <a:endParaRPr lang="zh-CN" altLang="en-US" sz="3200" dirty="0">
              <a:solidFill>
                <a:schemeClr val="bg1"/>
              </a:solidFill>
              <a:latin typeface="微软雅黑" panose="020B0503020204020204" pitchFamily="34" charset="-122"/>
              <a:ea typeface="微软雅黑" panose="020B0503020204020204" pitchFamily="34" charset="-122"/>
              <a:sym typeface="Arial Narrow" panose="020B0606020202030204" pitchFamily="34" charset="0"/>
            </a:endParaRPr>
          </a:p>
        </p:txBody>
      </p:sp>
      <p:sp>
        <p:nvSpPr>
          <p:cNvPr id="46" name="椭圆 45"/>
          <p:cNvSpPr/>
          <p:nvPr/>
        </p:nvSpPr>
        <p:spPr>
          <a:xfrm>
            <a:off x="5034430" y="3598277"/>
            <a:ext cx="641444" cy="641444"/>
          </a:xfrm>
          <a:prstGeom prst="ellipse">
            <a:avLst/>
          </a:prstGeom>
          <a:noFill/>
          <a:ln>
            <a:solidFill>
              <a:srgbClr val="B3C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微软雅黑" panose="020B0503020204020204" pitchFamily="34" charset="-122"/>
                <a:ea typeface="微软雅黑" panose="020B0503020204020204" pitchFamily="34" charset="-122"/>
                <a:sym typeface="Arial Narrow" panose="020B0606020202030204" pitchFamily="34" charset="0"/>
              </a:rPr>
              <a:t>3</a:t>
            </a:r>
            <a:endParaRPr lang="zh-CN" altLang="en-US" sz="3200" dirty="0">
              <a:solidFill>
                <a:schemeClr val="bg1"/>
              </a:solidFill>
              <a:latin typeface="微软雅黑" panose="020B0503020204020204" pitchFamily="34" charset="-122"/>
              <a:ea typeface="微软雅黑" panose="020B0503020204020204" pitchFamily="34" charset="-122"/>
              <a:sym typeface="Arial Narrow" panose="020B0606020202030204" pitchFamily="34" charset="0"/>
            </a:endParaRPr>
          </a:p>
        </p:txBody>
      </p:sp>
      <p:sp>
        <p:nvSpPr>
          <p:cNvPr id="47" name="椭圆 46"/>
          <p:cNvSpPr/>
          <p:nvPr/>
        </p:nvSpPr>
        <p:spPr>
          <a:xfrm>
            <a:off x="6603244" y="4764376"/>
            <a:ext cx="641444" cy="641444"/>
          </a:xfrm>
          <a:prstGeom prst="ellipse">
            <a:avLst/>
          </a:prstGeom>
          <a:noFill/>
          <a:ln>
            <a:solidFill>
              <a:srgbClr val="B3C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微软雅黑" panose="020B0503020204020204" pitchFamily="34" charset="-122"/>
                <a:ea typeface="微软雅黑" panose="020B0503020204020204" pitchFamily="34" charset="-122"/>
                <a:sym typeface="Arial Narrow" panose="020B0606020202030204" pitchFamily="34" charset="0"/>
              </a:rPr>
              <a:t>4</a:t>
            </a:r>
            <a:endParaRPr lang="zh-CN" altLang="en-US" sz="3200" dirty="0">
              <a:solidFill>
                <a:schemeClr val="bg1"/>
              </a:solidFill>
              <a:latin typeface="微软雅黑" panose="020B0503020204020204" pitchFamily="34" charset="-122"/>
              <a:ea typeface="微软雅黑" panose="020B0503020204020204" pitchFamily="34" charset="-122"/>
              <a:sym typeface="Arial Narrow" panose="020B0606020202030204" pitchFamily="34" charset="0"/>
            </a:endParaRPr>
          </a:p>
        </p:txBody>
      </p:sp>
      <p:sp>
        <p:nvSpPr>
          <p:cNvPr id="48" name="文本框 47"/>
          <p:cNvSpPr txBox="1"/>
          <p:nvPr/>
        </p:nvSpPr>
        <p:spPr>
          <a:xfrm>
            <a:off x="3138985" y="1501255"/>
            <a:ext cx="5104263" cy="645160"/>
          </a:xfrm>
          <a:prstGeom prst="rect">
            <a:avLst/>
          </a:prstGeom>
          <a:noFill/>
        </p:spPr>
        <p:txBody>
          <a:bodyPr wrap="square" rtlCol="0">
            <a:spAutoFit/>
          </a:bodyPr>
          <a:lstStyle/>
          <a:p>
            <a:r>
              <a:rPr lang="en-US" altLang="zh-CN" sz="3600" dirty="0">
                <a:solidFill>
                  <a:schemeClr val="bg1"/>
                </a:solidFill>
                <a:latin typeface="微软雅黑" panose="020B0503020204020204" pitchFamily="34" charset="-122"/>
                <a:ea typeface="微软雅黑" panose="020B0503020204020204" pitchFamily="34" charset="-122"/>
                <a:sym typeface="Arial Narrow" panose="020B0606020202030204" pitchFamily="34" charset="0"/>
              </a:rPr>
              <a:t>Phenomenon</a:t>
            </a:r>
          </a:p>
        </p:txBody>
      </p:sp>
      <p:sp>
        <p:nvSpPr>
          <p:cNvPr id="49" name="文本框 48"/>
          <p:cNvSpPr txBox="1"/>
          <p:nvPr/>
        </p:nvSpPr>
        <p:spPr>
          <a:xfrm>
            <a:off x="4545481" y="2633284"/>
            <a:ext cx="5104263" cy="645160"/>
          </a:xfrm>
          <a:prstGeom prst="rect">
            <a:avLst/>
          </a:prstGeom>
          <a:noFill/>
        </p:spPr>
        <p:txBody>
          <a:bodyPr wrap="square" rtlCol="0">
            <a:spAutoFit/>
          </a:bodyPr>
          <a:lstStyle/>
          <a:p>
            <a:r>
              <a:rPr lang="zh-CN" altLang="en-US" sz="3600" dirty="0">
                <a:solidFill>
                  <a:schemeClr val="bg1"/>
                </a:solidFill>
                <a:latin typeface="微软雅黑" panose="020B0503020204020204" pitchFamily="34" charset="-122"/>
                <a:ea typeface="微软雅黑" panose="020B0503020204020204" pitchFamily="34" charset="-122"/>
                <a:sym typeface="Arial Narrow" panose="020B0606020202030204" pitchFamily="34" charset="0"/>
              </a:rPr>
              <a:t>Identify the causes</a:t>
            </a:r>
          </a:p>
        </p:txBody>
      </p:sp>
      <p:sp>
        <p:nvSpPr>
          <p:cNvPr id="50" name="文本框 49"/>
          <p:cNvSpPr txBox="1"/>
          <p:nvPr/>
        </p:nvSpPr>
        <p:spPr>
          <a:xfrm>
            <a:off x="5855543" y="3593154"/>
            <a:ext cx="5104263" cy="645160"/>
          </a:xfrm>
          <a:prstGeom prst="rect">
            <a:avLst/>
          </a:prstGeom>
          <a:noFill/>
        </p:spPr>
        <p:txBody>
          <a:bodyPr wrap="square" rtlCol="0">
            <a:spAutoFit/>
          </a:bodyPr>
          <a:lstStyle/>
          <a:p>
            <a:r>
              <a:rPr lang="zh-CN" altLang="en-US" sz="3600" dirty="0">
                <a:solidFill>
                  <a:schemeClr val="bg1"/>
                </a:solidFill>
                <a:latin typeface="微软雅黑" panose="020B0503020204020204" pitchFamily="34" charset="-122"/>
                <a:ea typeface="微软雅黑" panose="020B0503020204020204" pitchFamily="34" charset="-122"/>
                <a:sym typeface="Arial Narrow" panose="020B0606020202030204" pitchFamily="34" charset="0"/>
              </a:rPr>
              <a:t>Discuss strategies</a:t>
            </a:r>
          </a:p>
        </p:txBody>
      </p:sp>
      <p:sp>
        <p:nvSpPr>
          <p:cNvPr id="51" name="文本框 50"/>
          <p:cNvSpPr txBox="1"/>
          <p:nvPr/>
        </p:nvSpPr>
        <p:spPr>
          <a:xfrm>
            <a:off x="7390053" y="4764569"/>
            <a:ext cx="4656579" cy="645160"/>
          </a:xfrm>
          <a:prstGeom prst="rect">
            <a:avLst/>
          </a:prstGeom>
          <a:noFill/>
        </p:spPr>
        <p:txBody>
          <a:bodyPr wrap="square" rtlCol="0">
            <a:spAutoFit/>
          </a:bodyPr>
          <a:lstStyle/>
          <a:p>
            <a:r>
              <a:rPr lang="en-US" altLang="zh-CN" sz="3600" dirty="0">
                <a:solidFill>
                  <a:schemeClr val="bg1"/>
                </a:solidFill>
                <a:latin typeface="微软雅黑" panose="020B0503020204020204" pitchFamily="34" charset="-122"/>
                <a:ea typeface="微软雅黑" panose="020B0503020204020204" pitchFamily="34" charset="-122"/>
                <a:sym typeface="Arial Narrow" panose="020B0606020202030204" pitchFamily="34" charset="0"/>
              </a:rPr>
              <a:t>Conclusion</a:t>
            </a:r>
          </a:p>
        </p:txBody>
      </p:sp>
      <p:sp>
        <p:nvSpPr>
          <p:cNvPr id="52" name="椭圆 51"/>
          <p:cNvSpPr/>
          <p:nvPr/>
        </p:nvSpPr>
        <p:spPr>
          <a:xfrm>
            <a:off x="1310184" y="4501919"/>
            <a:ext cx="93260" cy="10918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Narrow" panose="020B0606020202030204" pitchFamily="34" charset="0"/>
              <a:ea typeface="汉仪润圆-45简" panose="00020600040101010101" pitchFamily="18" charset="-122"/>
              <a:sym typeface="Arial Narrow" panose="020B0606020202030204" pitchFamily="34" charset="0"/>
            </a:endParaRPr>
          </a:p>
        </p:txBody>
      </p:sp>
      <p:pic>
        <p:nvPicPr>
          <p:cNvPr id="18" name="图形 17"/>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917151" y="251019"/>
            <a:ext cx="1992352" cy="552566"/>
          </a:xfrm>
          <a:prstGeom prst="rect">
            <a:avLst/>
          </a:prstGeom>
        </p:spPr>
      </p:pic>
      <p:grpSp>
        <p:nvGrpSpPr>
          <p:cNvPr id="20" name="组合 19"/>
          <p:cNvGrpSpPr/>
          <p:nvPr/>
        </p:nvGrpSpPr>
        <p:grpSpPr>
          <a:xfrm>
            <a:off x="328320" y="5972896"/>
            <a:ext cx="923022" cy="701881"/>
            <a:chOff x="10903060" y="5807992"/>
            <a:chExt cx="1115875" cy="848530"/>
          </a:xfrm>
          <a:gradFill>
            <a:gsLst>
              <a:gs pos="0">
                <a:schemeClr val="tx2">
                  <a:lumMod val="40000"/>
                  <a:lumOff val="60000"/>
                </a:schemeClr>
              </a:gs>
              <a:gs pos="22000">
                <a:schemeClr val="tx2">
                  <a:lumMod val="40000"/>
                  <a:lumOff val="60000"/>
                </a:schemeClr>
              </a:gs>
              <a:gs pos="49000">
                <a:schemeClr val="tx2">
                  <a:lumMod val="60000"/>
                  <a:lumOff val="40000"/>
                </a:schemeClr>
              </a:gs>
              <a:gs pos="89000">
                <a:schemeClr val="tx2">
                  <a:alpha val="75000"/>
                  <a:lumMod val="83000"/>
                </a:schemeClr>
              </a:gs>
            </a:gsLst>
            <a:lin ang="5400000" scaled="1"/>
          </a:gradFill>
        </p:grpSpPr>
        <p:grpSp>
          <p:nvGrpSpPr>
            <p:cNvPr id="21" name="组合 20"/>
            <p:cNvGrpSpPr/>
            <p:nvPr/>
          </p:nvGrpSpPr>
          <p:grpSpPr>
            <a:xfrm>
              <a:off x="10903060" y="6540286"/>
              <a:ext cx="1115875" cy="116236"/>
              <a:chOff x="7857643" y="4331778"/>
              <a:chExt cx="1115875" cy="116236"/>
            </a:xfrm>
            <a:grpFill/>
          </p:grpSpPr>
          <p:sp>
            <p:nvSpPr>
              <p:cNvPr id="28" name="椭圆 27"/>
              <p:cNvSpPr/>
              <p:nvPr/>
            </p:nvSpPr>
            <p:spPr>
              <a:xfrm flipH="1">
                <a:off x="7857643" y="4331778"/>
                <a:ext cx="116236" cy="11623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Narrow" panose="020B0606020202030204" pitchFamily="34" charset="0"/>
                  <a:ea typeface="汉仪润圆-45简" panose="00020600040101010101" pitchFamily="18" charset="-122"/>
                  <a:sym typeface="Arial Narrow" panose="020B0606020202030204" pitchFamily="34" charset="0"/>
                </a:endParaRPr>
              </a:p>
            </p:txBody>
          </p:sp>
          <p:sp>
            <p:nvSpPr>
              <p:cNvPr id="29" name="椭圆 28"/>
              <p:cNvSpPr/>
              <p:nvPr/>
            </p:nvSpPr>
            <p:spPr>
              <a:xfrm flipH="1">
                <a:off x="8190856" y="4331778"/>
                <a:ext cx="116236" cy="11623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Narrow" panose="020B0606020202030204" pitchFamily="34" charset="0"/>
                  <a:ea typeface="汉仪润圆-45简" panose="00020600040101010101" pitchFamily="18" charset="-122"/>
                  <a:sym typeface="Arial Narrow" panose="020B0606020202030204" pitchFamily="34" charset="0"/>
                </a:endParaRPr>
              </a:p>
            </p:txBody>
          </p:sp>
          <p:sp>
            <p:nvSpPr>
              <p:cNvPr id="30" name="椭圆 29"/>
              <p:cNvSpPr/>
              <p:nvPr/>
            </p:nvSpPr>
            <p:spPr>
              <a:xfrm flipH="1">
                <a:off x="8524069" y="4331778"/>
                <a:ext cx="116236" cy="11623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Narrow" panose="020B0606020202030204" pitchFamily="34" charset="0"/>
                  <a:ea typeface="汉仪润圆-45简" panose="00020600040101010101" pitchFamily="18" charset="-122"/>
                  <a:sym typeface="Arial Narrow" panose="020B0606020202030204" pitchFamily="34" charset="0"/>
                </a:endParaRPr>
              </a:p>
            </p:txBody>
          </p:sp>
          <p:sp>
            <p:nvSpPr>
              <p:cNvPr id="31" name="椭圆 30"/>
              <p:cNvSpPr/>
              <p:nvPr/>
            </p:nvSpPr>
            <p:spPr>
              <a:xfrm flipH="1">
                <a:off x="8857282" y="4331778"/>
                <a:ext cx="116236" cy="11623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Narrow" panose="020B0606020202030204" pitchFamily="34" charset="0"/>
                  <a:ea typeface="汉仪润圆-45简" panose="00020600040101010101" pitchFamily="18" charset="-122"/>
                  <a:sym typeface="Arial Narrow" panose="020B0606020202030204" pitchFamily="34" charset="0"/>
                </a:endParaRPr>
              </a:p>
            </p:txBody>
          </p:sp>
        </p:grpSp>
        <p:sp>
          <p:nvSpPr>
            <p:cNvPr id="22" name="椭圆 21"/>
            <p:cNvSpPr/>
            <p:nvPr/>
          </p:nvSpPr>
          <p:spPr>
            <a:xfrm flipH="1">
              <a:off x="10903060" y="6296188"/>
              <a:ext cx="116236" cy="11623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Narrow" panose="020B0606020202030204" pitchFamily="34" charset="0"/>
                <a:ea typeface="汉仪润圆-45简" panose="00020600040101010101" pitchFamily="18" charset="-122"/>
                <a:sym typeface="Arial Narrow" panose="020B0606020202030204" pitchFamily="34" charset="0"/>
              </a:endParaRPr>
            </a:p>
          </p:txBody>
        </p:sp>
        <p:sp>
          <p:nvSpPr>
            <p:cNvPr id="23" name="椭圆 22"/>
            <p:cNvSpPr/>
            <p:nvPr/>
          </p:nvSpPr>
          <p:spPr>
            <a:xfrm flipH="1">
              <a:off x="11236273" y="6296188"/>
              <a:ext cx="116236" cy="11623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Narrow" panose="020B0606020202030204" pitchFamily="34" charset="0"/>
                <a:ea typeface="汉仪润圆-45简" panose="00020600040101010101" pitchFamily="18" charset="-122"/>
                <a:sym typeface="Arial Narrow" panose="020B0606020202030204" pitchFamily="34" charset="0"/>
              </a:endParaRPr>
            </a:p>
          </p:txBody>
        </p:sp>
        <p:sp>
          <p:nvSpPr>
            <p:cNvPr id="24" name="椭圆 23"/>
            <p:cNvSpPr/>
            <p:nvPr/>
          </p:nvSpPr>
          <p:spPr>
            <a:xfrm flipH="1">
              <a:off x="11569486" y="6296188"/>
              <a:ext cx="116236" cy="11623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Narrow" panose="020B0606020202030204" pitchFamily="34" charset="0"/>
                <a:ea typeface="汉仪润圆-45简" panose="00020600040101010101" pitchFamily="18" charset="-122"/>
                <a:sym typeface="Arial Narrow" panose="020B0606020202030204" pitchFamily="34" charset="0"/>
              </a:endParaRPr>
            </a:p>
          </p:txBody>
        </p:sp>
        <p:sp>
          <p:nvSpPr>
            <p:cNvPr id="25" name="椭圆 24"/>
            <p:cNvSpPr/>
            <p:nvPr/>
          </p:nvSpPr>
          <p:spPr>
            <a:xfrm flipH="1">
              <a:off x="10903060" y="6052090"/>
              <a:ext cx="116236" cy="11623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Narrow" panose="020B0606020202030204" pitchFamily="34" charset="0"/>
                <a:ea typeface="汉仪润圆-45简" panose="00020600040101010101" pitchFamily="18" charset="-122"/>
                <a:sym typeface="Arial Narrow" panose="020B0606020202030204" pitchFamily="34" charset="0"/>
              </a:endParaRPr>
            </a:p>
          </p:txBody>
        </p:sp>
        <p:sp>
          <p:nvSpPr>
            <p:cNvPr id="26" name="椭圆 25"/>
            <p:cNvSpPr/>
            <p:nvPr/>
          </p:nvSpPr>
          <p:spPr>
            <a:xfrm flipH="1">
              <a:off x="11236273" y="6052090"/>
              <a:ext cx="116236" cy="11623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Narrow" panose="020B0606020202030204" pitchFamily="34" charset="0"/>
                <a:ea typeface="汉仪润圆-45简" panose="00020600040101010101" pitchFamily="18" charset="-122"/>
                <a:sym typeface="Arial Narrow" panose="020B0606020202030204" pitchFamily="34" charset="0"/>
              </a:endParaRPr>
            </a:p>
          </p:txBody>
        </p:sp>
        <p:sp>
          <p:nvSpPr>
            <p:cNvPr id="27" name="椭圆 26"/>
            <p:cNvSpPr/>
            <p:nvPr/>
          </p:nvSpPr>
          <p:spPr>
            <a:xfrm flipH="1">
              <a:off x="10903060" y="5807992"/>
              <a:ext cx="116236" cy="11623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Narrow" panose="020B0606020202030204" pitchFamily="34" charset="0"/>
                <a:ea typeface="汉仪润圆-45简" panose="00020600040101010101" pitchFamily="18" charset="-122"/>
                <a:sym typeface="Arial Narrow" panose="020B0606020202030204" pitchFamily="34" charset="0"/>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3" cstate="print"/>
          <a:srcRect/>
          <a:stretch>
            <a:fillRect/>
          </a:stretch>
        </p:blipFill>
        <p:spPr>
          <a:xfrm>
            <a:off x="0" y="3750698"/>
            <a:ext cx="12191999" cy="3094308"/>
          </a:xfrm>
          <a:prstGeom prst="rect">
            <a:avLst/>
          </a:prstGeom>
        </p:spPr>
      </p:pic>
      <p:sp>
        <p:nvSpPr>
          <p:cNvPr id="7" name="矩形 6"/>
          <p:cNvSpPr/>
          <p:nvPr/>
        </p:nvSpPr>
        <p:spPr>
          <a:xfrm>
            <a:off x="-1" y="3750698"/>
            <a:ext cx="12191999" cy="3094308"/>
          </a:xfrm>
          <a:prstGeom prst="rect">
            <a:avLst/>
          </a:prstGeom>
          <a:solidFill>
            <a:schemeClr val="tx2">
              <a:lumMod val="60000"/>
              <a:lumOff val="40000"/>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Narrow" panose="020B0606020202030204" pitchFamily="34" charset="0"/>
              <a:ea typeface="汉仪润圆-45简" panose="00020600040101010101" pitchFamily="18" charset="-122"/>
              <a:sym typeface="Arial Narrow" panose="020B0606020202030204" pitchFamily="34" charset="0"/>
            </a:endParaRPr>
          </a:p>
        </p:txBody>
      </p:sp>
      <p:sp>
        <p:nvSpPr>
          <p:cNvPr id="2" name="文本框 1"/>
          <p:cNvSpPr txBox="1"/>
          <p:nvPr/>
        </p:nvSpPr>
        <p:spPr>
          <a:xfrm>
            <a:off x="2655570" y="2258060"/>
            <a:ext cx="7499985" cy="2553335"/>
          </a:xfrm>
          <a:prstGeom prst="rect">
            <a:avLst/>
          </a:prstGeom>
          <a:noFill/>
        </p:spPr>
        <p:txBody>
          <a:bodyPr wrap="square" rtlCol="0">
            <a:spAutoFit/>
          </a:bodyPr>
          <a:lstStyle/>
          <a:p>
            <a:pPr algn="l"/>
            <a:r>
              <a:rPr lang="en-US" altLang="zh-CN" sz="8000" b="1" dirty="0">
                <a:solidFill>
                  <a:schemeClr val="tx1"/>
                </a:solidFill>
                <a:latin typeface="微软雅黑" panose="020B0503020204020204" pitchFamily="34" charset="-122"/>
                <a:ea typeface="微软雅黑" panose="020B0503020204020204" pitchFamily="34" charset="-122"/>
                <a:sym typeface="Arial Narrow" panose="020B0606020202030204" pitchFamily="34" charset="0"/>
              </a:rPr>
              <a:t>Phenomenon</a:t>
            </a:r>
            <a:endParaRPr lang="en-US" altLang="zh-CN" sz="8000" dirty="0">
              <a:solidFill>
                <a:schemeClr val="tx1"/>
              </a:solidFill>
              <a:latin typeface="微软雅黑" panose="020B0503020204020204" pitchFamily="34" charset="-122"/>
              <a:ea typeface="微软雅黑" panose="020B0503020204020204" pitchFamily="34" charset="-122"/>
              <a:sym typeface="Arial Narrow" panose="020B0606020202030204" pitchFamily="34" charset="0"/>
            </a:endParaRPr>
          </a:p>
          <a:p>
            <a:endParaRPr lang="en-US" altLang="zh-CN" sz="8000" dirty="0">
              <a:solidFill>
                <a:schemeClr val="tx1"/>
              </a:solidFill>
              <a:latin typeface="微软雅黑" panose="020B0503020204020204" pitchFamily="34" charset="-122"/>
              <a:ea typeface="微软雅黑" panose="020B0503020204020204" pitchFamily="34" charset="-122"/>
              <a:sym typeface="Arial Narrow" panose="020B0606020202030204" pitchFamily="34" charset="0"/>
            </a:endParaRPr>
          </a:p>
        </p:txBody>
      </p:sp>
      <p:pic>
        <p:nvPicPr>
          <p:cNvPr id="9" name="图形 8"/>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17151" y="251019"/>
            <a:ext cx="1992352" cy="55256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endParaRPr lang="zh-CN" altLang="en-US"/>
          </a:p>
        </p:txBody>
      </p:sp>
      <p:sp>
        <p:nvSpPr>
          <p:cNvPr id="3" name="副标题 2"/>
          <p:cNvSpPr>
            <a:spLocks noGrp="1"/>
          </p:cNvSpPr>
          <p:nvPr>
            <p:ph type="subTitle" idx="1"/>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0" y="0"/>
            <a:ext cx="5212715" cy="3956050"/>
          </a:xfrm>
          <a:prstGeom prst="rect">
            <a:avLst/>
          </a:prstGeom>
        </p:spPr>
      </p:pic>
      <p:pic>
        <p:nvPicPr>
          <p:cNvPr id="5" name="图片 4"/>
          <p:cNvPicPr>
            <a:picLocks noChangeAspect="1"/>
          </p:cNvPicPr>
          <p:nvPr/>
        </p:nvPicPr>
        <p:blipFill>
          <a:blip r:embed="rId3"/>
          <a:stretch>
            <a:fillRect/>
          </a:stretch>
        </p:blipFill>
        <p:spPr>
          <a:xfrm>
            <a:off x="5212715" y="-39370"/>
            <a:ext cx="6979285" cy="4847590"/>
          </a:xfrm>
          <a:prstGeom prst="rect">
            <a:avLst/>
          </a:prstGeom>
        </p:spPr>
      </p:pic>
      <p:pic>
        <p:nvPicPr>
          <p:cNvPr id="6" name="图片 5"/>
          <p:cNvPicPr>
            <a:picLocks noChangeAspect="1"/>
          </p:cNvPicPr>
          <p:nvPr/>
        </p:nvPicPr>
        <p:blipFill>
          <a:blip r:embed="rId4"/>
          <a:stretch>
            <a:fillRect/>
          </a:stretch>
        </p:blipFill>
        <p:spPr>
          <a:xfrm>
            <a:off x="0" y="3391535"/>
            <a:ext cx="4533265" cy="3466465"/>
          </a:xfrm>
          <a:prstGeom prst="rect">
            <a:avLst/>
          </a:prstGeom>
        </p:spPr>
      </p:pic>
      <p:pic>
        <p:nvPicPr>
          <p:cNvPr id="7" name="图片 6"/>
          <p:cNvPicPr>
            <a:picLocks noChangeAspect="1"/>
          </p:cNvPicPr>
          <p:nvPr/>
        </p:nvPicPr>
        <p:blipFill>
          <a:blip r:embed="rId5"/>
          <a:stretch>
            <a:fillRect/>
          </a:stretch>
        </p:blipFill>
        <p:spPr>
          <a:xfrm rot="16200000">
            <a:off x="5107305" y="2835910"/>
            <a:ext cx="3447415" cy="4596130"/>
          </a:xfrm>
          <a:prstGeom prst="rect">
            <a:avLst/>
          </a:prstGeom>
        </p:spPr>
      </p:pic>
      <p:pic>
        <p:nvPicPr>
          <p:cNvPr id="8" name="图片 7"/>
          <p:cNvPicPr>
            <a:picLocks noChangeAspect="1"/>
          </p:cNvPicPr>
          <p:nvPr/>
        </p:nvPicPr>
        <p:blipFill>
          <a:blip r:embed="rId6"/>
          <a:stretch>
            <a:fillRect/>
          </a:stretch>
        </p:blipFill>
        <p:spPr>
          <a:xfrm>
            <a:off x="7831455" y="3602355"/>
            <a:ext cx="4360545" cy="327215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p:nvPr>
            <p:custDataLst>
              <p:tags r:id="rId1"/>
            </p:custDataLst>
          </p:nvPr>
        </p:nvGraphicFramePr>
        <p:xfrm>
          <a:off x="-21590" y="-32385"/>
          <a:ext cx="6722110" cy="6890385"/>
        </p:xfrm>
        <a:graphic>
          <a:graphicData uri="http://schemas.openxmlformats.org/drawingml/2006/table">
            <a:tbl>
              <a:tblPr/>
              <a:tblGrid>
                <a:gridCol w="4446905">
                  <a:extLst>
                    <a:ext uri="{9D8B030D-6E8A-4147-A177-3AD203B41FA5}">
                      <a16:colId xmlns:a16="http://schemas.microsoft.com/office/drawing/2014/main" val="20000"/>
                    </a:ext>
                  </a:extLst>
                </a:gridCol>
                <a:gridCol w="2275205">
                  <a:extLst>
                    <a:ext uri="{9D8B030D-6E8A-4147-A177-3AD203B41FA5}">
                      <a16:colId xmlns:a16="http://schemas.microsoft.com/office/drawing/2014/main" val="20001"/>
                    </a:ext>
                  </a:extLst>
                </a:gridCol>
              </a:tblGrid>
              <a:tr h="1558290">
                <a:tc gridSpan="2">
                  <a:txBody>
                    <a:bodyPr/>
                    <a:lstStyle/>
                    <a:p>
                      <a:pPr indent="0" algn="ctr">
                        <a:buNone/>
                      </a:pPr>
                      <a:r>
                        <a:rPr lang="zh-CN" sz="3000" b="1">
                          <a:solidFill>
                            <a:srgbClr val="FFFFFF"/>
                          </a:solidFill>
                          <a:latin typeface="Arial" panose="020B0604020202020204" pitchFamily="34" charset="0"/>
                          <a:ea typeface="微软雅黑" panose="020B0503020204020204" pitchFamily="34" charset="-122"/>
                        </a:rPr>
                        <a:t>探究紫金港校园食物浪费现象表</a:t>
                      </a:r>
                      <a:endParaRPr lang="zh-CN" altLang="en-US" sz="3000" b="1">
                        <a:solidFill>
                          <a:srgbClr val="FFFFFF"/>
                        </a:solidFill>
                        <a:latin typeface="Arial" panose="020B0604020202020204" pitchFamily="34" charset="0"/>
                        <a:ea typeface="微软雅黑" panose="020B0503020204020204" pitchFamily="34" charset="-122"/>
                      </a:endParaRPr>
                    </a:p>
                  </a:txBody>
                  <a:tcPr marL="12700" marR="12700" marT="12700" anchor="ctr">
                    <a:lnL w="6350" cap="flat" cmpd="sng">
                      <a:solidFill>
                        <a:srgbClr val="5A5A5A"/>
                      </a:solidFill>
                      <a:prstDash val="solid"/>
                      <a:headEnd type="none" w="med" len="med"/>
                      <a:tailEnd type="none" w="med" len="med"/>
                    </a:lnL>
                    <a:lnR w="6350" cap="flat" cmpd="sng">
                      <a:solidFill>
                        <a:srgbClr val="5A5A5A"/>
                      </a:solidFill>
                      <a:prstDash val="solid"/>
                      <a:headEnd type="none" w="med" len="med"/>
                      <a:tailEnd type="none" w="med" len="med"/>
                    </a:lnR>
                    <a:lnT cap="flat">
                      <a:noFill/>
                    </a:lnT>
                    <a:lnB w="6350" cap="flat" cmpd="sng">
                      <a:solidFill>
                        <a:srgbClr val="5A5A5A"/>
                      </a:solidFill>
                      <a:prstDash val="solid"/>
                      <a:headEnd type="none" w="med" len="med"/>
                      <a:tailEnd type="none" w="med" len="med"/>
                    </a:lnB>
                    <a:lnTlToBr>
                      <a:noFill/>
                    </a:lnTlToBr>
                    <a:lnBlToTr>
                      <a:noFill/>
                    </a:lnBlToTr>
                    <a:solidFill>
                      <a:srgbClr val="5A5A5A"/>
                    </a:solidFill>
                  </a:tcPr>
                </a:tc>
                <a:tc hMerge="1">
                  <a:txBody>
                    <a:bodyPr/>
                    <a:lstStyle/>
                    <a:p>
                      <a:endParaRPr lang="zh-CN"/>
                    </a:p>
                  </a:txBody>
                  <a:tcPr>
                    <a:lnR w="6350" cap="flat" cmpd="sng">
                      <a:solidFill>
                        <a:srgbClr val="5A5A5A"/>
                      </a:solidFill>
                      <a:prstDash val="solid"/>
                      <a:headEnd type="none" w="med" len="med"/>
                      <a:tailEnd type="none" w="med" len="med"/>
                    </a:lnR>
                    <a:lnT cap="flat">
                      <a:noFill/>
                    </a:lnT>
                    <a:lnB w="6350" cap="flat" cmpd="sng">
                      <a:solidFill>
                        <a:srgbClr val="5A5A5A"/>
                      </a:solidFill>
                      <a:prstDash val="solid"/>
                      <a:headEnd type="none" w="med" len="med"/>
                      <a:tailEnd type="none" w="med" len="med"/>
                    </a:lnB>
                  </a:tcPr>
                </a:tc>
                <a:extLst>
                  <a:ext uri="{0D108BD9-81ED-4DB2-BD59-A6C34878D82A}">
                    <a16:rowId xmlns:a16="http://schemas.microsoft.com/office/drawing/2014/main" val="10000"/>
                  </a:ext>
                </a:extLst>
              </a:tr>
              <a:tr h="725170">
                <a:tc>
                  <a:txBody>
                    <a:bodyPr/>
                    <a:lstStyle/>
                    <a:p>
                      <a:pPr indent="0" algn="ctr">
                        <a:buNone/>
                      </a:pPr>
                      <a:r>
                        <a:rPr lang="zh-CN" sz="2000" b="1">
                          <a:solidFill>
                            <a:srgbClr val="000000"/>
                          </a:solidFill>
                          <a:latin typeface="Arial" panose="020B0604020202020204" pitchFamily="34" charset="0"/>
                          <a:ea typeface="微软雅黑" panose="020B0503020204020204" pitchFamily="34" charset="-122"/>
                        </a:rPr>
                        <a:t>剩余菜量</a:t>
                      </a:r>
                      <a:endParaRPr lang="zh-CN" altLang="en-US" sz="2000" b="1">
                        <a:solidFill>
                          <a:srgbClr val="000000"/>
                        </a:solidFill>
                        <a:latin typeface="Arial" panose="020B0604020202020204" pitchFamily="34" charset="0"/>
                        <a:ea typeface="微软雅黑" panose="020B0503020204020204" pitchFamily="34" charset="-122"/>
                      </a:endParaRPr>
                    </a:p>
                  </a:txBody>
                  <a:tcPr marL="12700" marR="12700" marT="12700" anchor="ctr">
                    <a:lnL w="6350" cap="flat" cmpd="sng">
                      <a:solidFill>
                        <a:srgbClr val="5A5A5A"/>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5A5A5A"/>
                      </a:solidFill>
                      <a:prstDash val="solid"/>
                      <a:headEnd type="none" w="med" len="med"/>
                      <a:tailEnd type="none" w="med" len="med"/>
                    </a:lnT>
                    <a:lnB w="6350" cap="flat" cmpd="sng">
                      <a:solidFill>
                        <a:srgbClr val="5A5A5A"/>
                      </a:solidFill>
                      <a:prstDash val="solid"/>
                      <a:headEnd type="none" w="med" len="med"/>
                      <a:tailEnd type="none" w="med" len="med"/>
                    </a:lnB>
                    <a:lnTlToBr>
                      <a:noFill/>
                    </a:lnTlToBr>
                    <a:lnBlToTr>
                      <a:noFill/>
                    </a:lnBlToTr>
                    <a:solidFill>
                      <a:srgbClr val="D9D9D9"/>
                    </a:solidFill>
                  </a:tcPr>
                </a:tc>
                <a:tc>
                  <a:txBody>
                    <a:bodyPr/>
                    <a:lstStyle/>
                    <a:p>
                      <a:pPr indent="0" algn="ctr">
                        <a:buNone/>
                      </a:pPr>
                      <a:r>
                        <a:rPr lang="zh-CN" sz="2000" b="1">
                          <a:solidFill>
                            <a:srgbClr val="000000"/>
                          </a:solidFill>
                          <a:latin typeface="Arial" panose="020B0604020202020204" pitchFamily="34" charset="0"/>
                          <a:ea typeface="微软雅黑" panose="020B0503020204020204" pitchFamily="34" charset="-122"/>
                        </a:rPr>
                        <a:t>数目</a:t>
                      </a:r>
                      <a:endParaRPr lang="zh-CN" altLang="en-US" sz="2000" b="1">
                        <a:solidFill>
                          <a:srgbClr val="000000"/>
                        </a:solidFill>
                        <a:latin typeface="Arial" panose="020B0604020202020204" pitchFamily="34" charset="0"/>
                        <a:ea typeface="微软雅黑" panose="020B0503020204020204" pitchFamily="34" charset="-122"/>
                      </a:endParaRPr>
                    </a:p>
                  </a:txBody>
                  <a:tcPr marL="12700" marR="12700" marT="12700" anchor="ctr">
                    <a:lnL w="6350" cap="flat" cmpd="sng">
                      <a:solidFill>
                        <a:srgbClr val="FFFFFF"/>
                      </a:solidFill>
                      <a:prstDash val="solid"/>
                      <a:headEnd type="none" w="med" len="med"/>
                      <a:tailEnd type="none" w="med" len="med"/>
                    </a:lnL>
                    <a:lnR w="6350" cap="flat" cmpd="sng">
                      <a:solidFill>
                        <a:srgbClr val="5A5A5A"/>
                      </a:solidFill>
                      <a:prstDash val="solid"/>
                      <a:headEnd type="none" w="med" len="med"/>
                      <a:tailEnd type="none" w="med" len="med"/>
                    </a:lnR>
                    <a:lnT w="6350" cap="flat" cmpd="sng">
                      <a:solidFill>
                        <a:srgbClr val="5A5A5A"/>
                      </a:solidFill>
                      <a:prstDash val="solid"/>
                      <a:headEnd type="none" w="med" len="med"/>
                      <a:tailEnd type="none" w="med" len="med"/>
                    </a:lnT>
                    <a:lnB w="6350" cap="flat" cmpd="sng">
                      <a:solidFill>
                        <a:srgbClr val="5A5A5A"/>
                      </a:solidFill>
                      <a:prstDash val="solid"/>
                      <a:headEnd type="none" w="med" len="med"/>
                      <a:tailEnd type="none" w="med" len="med"/>
                    </a:lnB>
                    <a:lnTlToBr>
                      <a:noFill/>
                    </a:lnTlToBr>
                    <a:lnBlToTr>
                      <a:noFill/>
                    </a:lnBlToTr>
                    <a:solidFill>
                      <a:srgbClr val="D9D9D9"/>
                    </a:solidFill>
                  </a:tcPr>
                </a:tc>
                <a:extLst>
                  <a:ext uri="{0D108BD9-81ED-4DB2-BD59-A6C34878D82A}">
                    <a16:rowId xmlns:a16="http://schemas.microsoft.com/office/drawing/2014/main" val="10001"/>
                  </a:ext>
                </a:extLst>
              </a:tr>
              <a:tr h="1151890">
                <a:tc>
                  <a:txBody>
                    <a:bodyPr/>
                    <a:lstStyle/>
                    <a:p>
                      <a:pPr indent="0" algn="ctr">
                        <a:buNone/>
                      </a:pPr>
                      <a:r>
                        <a:rPr lang="zh-CN" sz="2000" b="0">
                          <a:solidFill>
                            <a:srgbClr val="000000"/>
                          </a:solidFill>
                          <a:latin typeface="Arial" panose="020B0604020202020204" pitchFamily="34" charset="0"/>
                          <a:ea typeface="微软雅黑" panose="020B0503020204020204" pitchFamily="34" charset="-122"/>
                        </a:rPr>
                        <a:t>基本光盘（剩余菜量10%以下）</a:t>
                      </a:r>
                      <a:endParaRPr lang="zh-CN" altLang="en-US" sz="2000" b="0">
                        <a:solidFill>
                          <a:srgbClr val="000000"/>
                        </a:solidFill>
                        <a:latin typeface="Arial" panose="020B0604020202020204" pitchFamily="34" charset="0"/>
                        <a:ea typeface="微软雅黑" panose="020B0503020204020204" pitchFamily="34" charset="-122"/>
                      </a:endParaRPr>
                    </a:p>
                  </a:txBody>
                  <a:tcPr marL="12700" marR="12700" marT="12700" anchor="ctr">
                    <a:lnL w="6350" cap="flat" cmpd="sng">
                      <a:solidFill>
                        <a:srgbClr val="5A5A5A"/>
                      </a:solidFill>
                      <a:prstDash val="solid"/>
                      <a:headEnd type="none" w="med" len="med"/>
                      <a:tailEnd type="none" w="med" len="med"/>
                    </a:lnL>
                    <a:lnR w="6350" cap="flat" cmpd="sng">
                      <a:solidFill>
                        <a:srgbClr val="E6E6E6"/>
                      </a:solidFill>
                      <a:prstDash val="solid"/>
                      <a:headEnd type="none" w="med" len="med"/>
                      <a:tailEnd type="none" w="med" len="med"/>
                    </a:lnR>
                    <a:lnT w="6350" cap="flat" cmpd="sng">
                      <a:solidFill>
                        <a:srgbClr val="5A5A5A"/>
                      </a:solidFill>
                      <a:prstDash val="solid"/>
                      <a:headEnd type="none" w="med" len="med"/>
                      <a:tailEnd type="none" w="med" len="med"/>
                    </a:lnT>
                    <a:lnB w="6350" cap="flat" cmpd="sng">
                      <a:solidFill>
                        <a:srgbClr val="E6E6E6"/>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000" b="0">
                          <a:solidFill>
                            <a:srgbClr val="000000"/>
                          </a:solidFill>
                          <a:latin typeface="微软雅黑" panose="020B0503020204020204" pitchFamily="34" charset="-122"/>
                        </a:rPr>
                        <a:t>181</a:t>
                      </a:r>
                      <a:endParaRPr lang="en-US" altLang="en-US" sz="2000" b="0">
                        <a:solidFill>
                          <a:srgbClr val="000000"/>
                        </a:solidFill>
                        <a:latin typeface="微软雅黑" panose="020B0503020204020204" pitchFamily="34" charset="-122"/>
                      </a:endParaRPr>
                    </a:p>
                  </a:txBody>
                  <a:tcPr marL="12700" marR="12700" marT="12700" anchor="ctr">
                    <a:lnL w="6350" cap="flat" cmpd="sng">
                      <a:solidFill>
                        <a:srgbClr val="E6E6E6"/>
                      </a:solidFill>
                      <a:prstDash val="solid"/>
                      <a:headEnd type="none" w="med" len="med"/>
                      <a:tailEnd type="none" w="med" len="med"/>
                    </a:lnL>
                    <a:lnR w="6350" cap="flat" cmpd="sng">
                      <a:solidFill>
                        <a:srgbClr val="5A5A5A"/>
                      </a:solidFill>
                      <a:prstDash val="solid"/>
                      <a:headEnd type="none" w="med" len="med"/>
                      <a:tailEnd type="none" w="med" len="med"/>
                    </a:lnR>
                    <a:lnT w="6350" cap="flat" cmpd="sng">
                      <a:solidFill>
                        <a:srgbClr val="5A5A5A"/>
                      </a:solidFill>
                      <a:prstDash val="solid"/>
                      <a:headEnd type="none" w="med" len="med"/>
                      <a:tailEnd type="none" w="med" len="med"/>
                    </a:lnT>
                    <a:lnB w="6350" cap="flat" cmpd="sng">
                      <a:solidFill>
                        <a:srgbClr val="E6E6E6"/>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1151890">
                <a:tc>
                  <a:txBody>
                    <a:bodyPr/>
                    <a:lstStyle/>
                    <a:p>
                      <a:pPr indent="0" algn="ctr">
                        <a:buNone/>
                      </a:pPr>
                      <a:r>
                        <a:rPr lang="zh-CN" sz="2000" b="0">
                          <a:solidFill>
                            <a:srgbClr val="000000"/>
                          </a:solidFill>
                          <a:latin typeface="Arial" panose="020B0604020202020204" pitchFamily="34" charset="0"/>
                          <a:ea typeface="微软雅黑" panose="020B0503020204020204" pitchFamily="34" charset="-122"/>
                        </a:rPr>
                        <a:t>略有浪费（剩余菜量超过10%不到25%）</a:t>
                      </a:r>
                      <a:endParaRPr lang="zh-CN" altLang="en-US" sz="2000" b="0">
                        <a:solidFill>
                          <a:srgbClr val="000000"/>
                        </a:solidFill>
                        <a:latin typeface="Arial" panose="020B0604020202020204" pitchFamily="34" charset="0"/>
                        <a:ea typeface="微软雅黑" panose="020B0503020204020204" pitchFamily="34" charset="-122"/>
                      </a:endParaRPr>
                    </a:p>
                  </a:txBody>
                  <a:tcPr marL="12700" marR="12700" marT="12700" anchor="ctr">
                    <a:lnL w="6350" cap="flat" cmpd="sng">
                      <a:solidFill>
                        <a:srgbClr val="5A5A5A"/>
                      </a:solidFill>
                      <a:prstDash val="solid"/>
                      <a:headEnd type="none" w="med" len="med"/>
                      <a:tailEnd type="none" w="med" len="med"/>
                    </a:lnL>
                    <a:lnR w="6350" cap="flat" cmpd="sng">
                      <a:solidFill>
                        <a:srgbClr val="E6E6E6"/>
                      </a:solidFill>
                      <a:prstDash val="solid"/>
                      <a:headEnd type="none" w="med" len="med"/>
                      <a:tailEnd type="none" w="med" len="med"/>
                    </a:lnR>
                    <a:lnT w="6350" cap="flat" cmpd="sng">
                      <a:solidFill>
                        <a:srgbClr val="E6E6E6"/>
                      </a:solidFill>
                      <a:prstDash val="solid"/>
                      <a:headEnd type="none" w="med" len="med"/>
                      <a:tailEnd type="none" w="med" len="med"/>
                    </a:lnT>
                    <a:lnB w="6350" cap="flat" cmpd="sng">
                      <a:solidFill>
                        <a:srgbClr val="E6E6E6"/>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000" b="0">
                          <a:solidFill>
                            <a:srgbClr val="000000"/>
                          </a:solidFill>
                          <a:latin typeface="微软雅黑" panose="020B0503020204020204" pitchFamily="34" charset="-122"/>
                        </a:rPr>
                        <a:t>31</a:t>
                      </a:r>
                      <a:endParaRPr lang="en-US" altLang="en-US" sz="2000" b="0">
                        <a:solidFill>
                          <a:srgbClr val="000000"/>
                        </a:solidFill>
                        <a:latin typeface="微软雅黑" panose="020B0503020204020204" pitchFamily="34" charset="-122"/>
                      </a:endParaRPr>
                    </a:p>
                  </a:txBody>
                  <a:tcPr marL="12700" marR="12700" marT="12700" anchor="ctr">
                    <a:lnL w="6350" cap="flat" cmpd="sng">
                      <a:solidFill>
                        <a:srgbClr val="E6E6E6"/>
                      </a:solidFill>
                      <a:prstDash val="solid"/>
                      <a:headEnd type="none" w="med" len="med"/>
                      <a:tailEnd type="none" w="med" len="med"/>
                    </a:lnL>
                    <a:lnR w="6350" cap="flat" cmpd="sng">
                      <a:solidFill>
                        <a:srgbClr val="5A5A5A"/>
                      </a:solidFill>
                      <a:prstDash val="solid"/>
                      <a:headEnd type="none" w="med" len="med"/>
                      <a:tailEnd type="none" w="med" len="med"/>
                    </a:lnR>
                    <a:lnT w="6350" cap="flat" cmpd="sng">
                      <a:solidFill>
                        <a:srgbClr val="E6E6E6"/>
                      </a:solidFill>
                      <a:prstDash val="solid"/>
                      <a:headEnd type="none" w="med" len="med"/>
                      <a:tailEnd type="none" w="med" len="med"/>
                    </a:lnT>
                    <a:lnB w="6350" cap="flat" cmpd="sng">
                      <a:solidFill>
                        <a:srgbClr val="E6E6E6"/>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1151255">
                <a:tc>
                  <a:txBody>
                    <a:bodyPr/>
                    <a:lstStyle/>
                    <a:p>
                      <a:pPr indent="0" algn="ctr">
                        <a:buNone/>
                      </a:pPr>
                      <a:r>
                        <a:rPr lang="zh-CN" sz="2000" b="0">
                          <a:solidFill>
                            <a:srgbClr val="000000"/>
                          </a:solidFill>
                          <a:latin typeface="Arial" panose="020B0604020202020204" pitchFamily="34" charset="0"/>
                          <a:ea typeface="微软雅黑" panose="020B0503020204020204" pitchFamily="34" charset="-122"/>
                        </a:rPr>
                        <a:t>比较浪费（剩余菜量超过25%不到50%）</a:t>
                      </a:r>
                      <a:endParaRPr lang="zh-CN" altLang="en-US" sz="2000" b="0">
                        <a:solidFill>
                          <a:srgbClr val="000000"/>
                        </a:solidFill>
                        <a:latin typeface="Arial" panose="020B0604020202020204" pitchFamily="34" charset="0"/>
                        <a:ea typeface="微软雅黑" panose="020B0503020204020204" pitchFamily="34" charset="-122"/>
                      </a:endParaRPr>
                    </a:p>
                  </a:txBody>
                  <a:tcPr marL="12700" marR="12700" marT="12700" anchor="ctr">
                    <a:lnL w="6350" cap="flat" cmpd="sng">
                      <a:solidFill>
                        <a:srgbClr val="5A5A5A"/>
                      </a:solidFill>
                      <a:prstDash val="solid"/>
                      <a:headEnd type="none" w="med" len="med"/>
                      <a:tailEnd type="none" w="med" len="med"/>
                    </a:lnL>
                    <a:lnR w="6350" cap="flat" cmpd="sng">
                      <a:solidFill>
                        <a:srgbClr val="E6E6E6"/>
                      </a:solidFill>
                      <a:prstDash val="solid"/>
                      <a:headEnd type="none" w="med" len="med"/>
                      <a:tailEnd type="none" w="med" len="med"/>
                    </a:lnR>
                    <a:lnT w="6350" cap="flat" cmpd="sng">
                      <a:solidFill>
                        <a:srgbClr val="E6E6E6"/>
                      </a:solidFill>
                      <a:prstDash val="solid"/>
                      <a:headEnd type="none" w="med" len="med"/>
                      <a:tailEnd type="none" w="med" len="med"/>
                    </a:lnT>
                    <a:lnB w="6350" cap="flat" cmpd="sng">
                      <a:solidFill>
                        <a:srgbClr val="E6E6E6"/>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000" b="0">
                          <a:solidFill>
                            <a:srgbClr val="000000"/>
                          </a:solidFill>
                          <a:latin typeface="微软雅黑" panose="020B0503020204020204" pitchFamily="34" charset="-122"/>
                        </a:rPr>
                        <a:t>7</a:t>
                      </a:r>
                      <a:endParaRPr lang="en-US" altLang="en-US" sz="2000" b="0">
                        <a:solidFill>
                          <a:srgbClr val="000000"/>
                        </a:solidFill>
                        <a:latin typeface="微软雅黑" panose="020B0503020204020204" pitchFamily="34" charset="-122"/>
                      </a:endParaRPr>
                    </a:p>
                  </a:txBody>
                  <a:tcPr marL="12700" marR="12700" marT="12700" anchor="ctr">
                    <a:lnL w="6350" cap="flat" cmpd="sng">
                      <a:solidFill>
                        <a:srgbClr val="E6E6E6"/>
                      </a:solidFill>
                      <a:prstDash val="solid"/>
                      <a:headEnd type="none" w="med" len="med"/>
                      <a:tailEnd type="none" w="med" len="med"/>
                    </a:lnL>
                    <a:lnR w="6350" cap="flat" cmpd="sng">
                      <a:solidFill>
                        <a:srgbClr val="5A5A5A"/>
                      </a:solidFill>
                      <a:prstDash val="solid"/>
                      <a:headEnd type="none" w="med" len="med"/>
                      <a:tailEnd type="none" w="med" len="med"/>
                    </a:lnR>
                    <a:lnT w="6350" cap="flat" cmpd="sng">
                      <a:solidFill>
                        <a:srgbClr val="E6E6E6"/>
                      </a:solidFill>
                      <a:prstDash val="solid"/>
                      <a:headEnd type="none" w="med" len="med"/>
                      <a:tailEnd type="none" w="med" len="med"/>
                    </a:lnT>
                    <a:lnB w="6350" cap="flat" cmpd="sng">
                      <a:solidFill>
                        <a:srgbClr val="E6E6E6"/>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1151890">
                <a:tc>
                  <a:txBody>
                    <a:bodyPr/>
                    <a:lstStyle/>
                    <a:p>
                      <a:pPr indent="0" algn="ctr">
                        <a:buNone/>
                      </a:pPr>
                      <a:r>
                        <a:rPr lang="zh-CN" sz="2000" b="0">
                          <a:solidFill>
                            <a:srgbClr val="000000"/>
                          </a:solidFill>
                          <a:latin typeface="Arial" panose="020B0604020202020204" pitchFamily="34" charset="0"/>
                          <a:ea typeface="微软雅黑" panose="020B0503020204020204" pitchFamily="34" charset="-122"/>
                        </a:rPr>
                        <a:t>非常浪费（剩余菜量超过50%）</a:t>
                      </a:r>
                      <a:endParaRPr lang="zh-CN" altLang="en-US" sz="2000" b="0">
                        <a:solidFill>
                          <a:srgbClr val="000000"/>
                        </a:solidFill>
                        <a:latin typeface="Arial" panose="020B0604020202020204" pitchFamily="34" charset="0"/>
                        <a:ea typeface="微软雅黑" panose="020B0503020204020204" pitchFamily="34" charset="-122"/>
                      </a:endParaRPr>
                    </a:p>
                  </a:txBody>
                  <a:tcPr marL="12700" marR="12700" marT="12700" anchor="ctr">
                    <a:lnL w="6350" cap="flat" cmpd="sng">
                      <a:solidFill>
                        <a:srgbClr val="5A5A5A"/>
                      </a:solidFill>
                      <a:prstDash val="solid"/>
                      <a:headEnd type="none" w="med" len="med"/>
                      <a:tailEnd type="none" w="med" len="med"/>
                    </a:lnL>
                    <a:lnR w="6350" cap="flat" cmpd="sng">
                      <a:solidFill>
                        <a:srgbClr val="E6E6E6"/>
                      </a:solidFill>
                      <a:prstDash val="solid"/>
                      <a:headEnd type="none" w="med" len="med"/>
                      <a:tailEnd type="none" w="med" len="med"/>
                    </a:lnR>
                    <a:lnT w="6350" cap="flat" cmpd="sng">
                      <a:solidFill>
                        <a:srgbClr val="E6E6E6"/>
                      </a:solidFill>
                      <a:prstDash val="solid"/>
                      <a:headEnd type="none" w="med" len="med"/>
                      <a:tailEnd type="none" w="med" len="med"/>
                    </a:lnT>
                    <a:lnB w="6350" cap="flat" cmpd="sng">
                      <a:solidFill>
                        <a:srgbClr val="5A5A5A"/>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000" b="0">
                          <a:solidFill>
                            <a:srgbClr val="000000"/>
                          </a:solidFill>
                          <a:latin typeface="微软雅黑" panose="020B0503020204020204" pitchFamily="34" charset="-122"/>
                        </a:rPr>
                        <a:t>9</a:t>
                      </a:r>
                      <a:endParaRPr lang="en-US" altLang="en-US" sz="2000" b="0">
                        <a:solidFill>
                          <a:srgbClr val="000000"/>
                        </a:solidFill>
                        <a:latin typeface="微软雅黑" panose="020B0503020204020204" pitchFamily="34" charset="-122"/>
                      </a:endParaRPr>
                    </a:p>
                  </a:txBody>
                  <a:tcPr marL="12700" marR="12700" marT="12700" anchor="ctr">
                    <a:lnL w="6350" cap="flat" cmpd="sng">
                      <a:solidFill>
                        <a:srgbClr val="E6E6E6"/>
                      </a:solidFill>
                      <a:prstDash val="solid"/>
                      <a:headEnd type="none" w="med" len="med"/>
                      <a:tailEnd type="none" w="med" len="med"/>
                    </a:lnL>
                    <a:lnR w="6350" cap="flat" cmpd="sng">
                      <a:solidFill>
                        <a:srgbClr val="5A5A5A"/>
                      </a:solidFill>
                      <a:prstDash val="solid"/>
                      <a:headEnd type="none" w="med" len="med"/>
                      <a:tailEnd type="none" w="med" len="med"/>
                    </a:lnR>
                    <a:lnT w="6350" cap="flat" cmpd="sng">
                      <a:solidFill>
                        <a:srgbClr val="E6E6E6"/>
                      </a:solidFill>
                      <a:prstDash val="solid"/>
                      <a:headEnd type="none" w="med" len="med"/>
                      <a:tailEnd type="none" w="med" len="med"/>
                    </a:lnT>
                    <a:lnB w="6350" cap="flat" cmpd="sng">
                      <a:solidFill>
                        <a:srgbClr val="5A5A5A"/>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bl>
          </a:graphicData>
        </a:graphic>
      </p:graphicFrame>
      <p:graphicFrame>
        <p:nvGraphicFramePr>
          <p:cNvPr id="5" name="图表 4"/>
          <p:cNvGraphicFramePr/>
          <p:nvPr>
            <p:custDataLst>
              <p:tags r:id="rId2"/>
            </p:custDataLst>
          </p:nvPr>
        </p:nvGraphicFramePr>
        <p:xfrm>
          <a:off x="6700520" y="0"/>
          <a:ext cx="5491480" cy="685800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形 7"/>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17151" y="251019"/>
            <a:ext cx="1992352" cy="552566"/>
          </a:xfrm>
          <a:prstGeom prst="rect">
            <a:avLst/>
          </a:prstGeom>
        </p:spPr>
      </p:pic>
      <p:sp>
        <p:nvSpPr>
          <p:cNvPr id="12" name="文本框 11"/>
          <p:cNvSpPr txBox="1"/>
          <p:nvPr/>
        </p:nvSpPr>
        <p:spPr>
          <a:xfrm>
            <a:off x="0" y="2258060"/>
            <a:ext cx="12192635" cy="1352550"/>
          </a:xfrm>
          <a:prstGeom prst="rect">
            <a:avLst/>
          </a:prstGeom>
          <a:noFill/>
        </p:spPr>
        <p:txBody>
          <a:bodyPr wrap="none" rtlCol="0">
            <a:noAutofit/>
          </a:bodyPr>
          <a:lstStyle/>
          <a:p>
            <a:pPr algn="ctr"/>
            <a:r>
              <a:rPr lang="zh-CN" altLang="en-US" sz="8000" b="1" dirty="0">
                <a:solidFill>
                  <a:schemeClr val="tx1"/>
                </a:solidFill>
                <a:latin typeface="微软雅黑" panose="020B0503020204020204" pitchFamily="34" charset="-122"/>
                <a:ea typeface="微软雅黑" panose="020B0503020204020204" pitchFamily="34" charset="-122"/>
                <a:sym typeface="Arial Narrow" panose="020B0606020202030204" pitchFamily="34" charset="0"/>
              </a:rPr>
              <a:t>Identify the causes</a:t>
            </a:r>
          </a:p>
        </p:txBody>
      </p:sp>
      <p:pic>
        <p:nvPicPr>
          <p:cNvPr id="13" name="图片 12"/>
          <p:cNvPicPr>
            <a:picLocks noChangeAspect="1"/>
          </p:cNvPicPr>
          <p:nvPr/>
        </p:nvPicPr>
        <p:blipFill rotWithShape="1">
          <a:blip r:embed="rId4" cstate="print"/>
          <a:srcRect/>
          <a:stretch>
            <a:fillRect/>
          </a:stretch>
        </p:blipFill>
        <p:spPr>
          <a:xfrm>
            <a:off x="0" y="3750698"/>
            <a:ext cx="12191999" cy="3094308"/>
          </a:xfrm>
          <a:prstGeom prst="rect">
            <a:avLst/>
          </a:prstGeom>
        </p:spPr>
      </p:pic>
      <p:sp>
        <p:nvSpPr>
          <p:cNvPr id="14" name="矩形 13"/>
          <p:cNvSpPr/>
          <p:nvPr/>
        </p:nvSpPr>
        <p:spPr>
          <a:xfrm>
            <a:off x="-1" y="3750698"/>
            <a:ext cx="12191999" cy="3094308"/>
          </a:xfrm>
          <a:prstGeom prst="rect">
            <a:avLst/>
          </a:prstGeom>
          <a:solidFill>
            <a:schemeClr val="tx2">
              <a:lumMod val="60000"/>
              <a:lumOff val="40000"/>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Narrow" panose="020B0606020202030204" pitchFamily="34" charset="0"/>
              <a:ea typeface="汉仪润圆-45简" panose="00020600040101010101" pitchFamily="18" charset="-122"/>
              <a:sym typeface="Arial Narrow" panose="020B060602020203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5058" y="621507"/>
            <a:ext cx="8753186" cy="1657350"/>
          </a:xfrm>
        </p:spPr>
        <p:txBody>
          <a:bodyPr>
            <a:normAutofit/>
          </a:bodyPr>
          <a:lstStyle/>
          <a:p>
            <a:r>
              <a:rPr lang="en-US" altLang="zh-CN" sz="4800" kern="100" dirty="0">
                <a:effectLst/>
                <a:latin typeface="Segoe Print" panose="02000600000000000000" pitchFamily="2" charset="0"/>
                <a:ea typeface="等线" panose="02010600030101010101" charset="-122"/>
                <a:cs typeface="Times New Roman" panose="02020603050405020304" pitchFamily="18" charset="0"/>
              </a:rPr>
              <a:t>why do we college students waste too much food? </a:t>
            </a:r>
            <a:endParaRPr lang="zh-CN" altLang="en-US" sz="4800" dirty="0">
              <a:latin typeface="Segoe Print" panose="02000600000000000000" pitchFamily="2" charset="0"/>
            </a:endParaRPr>
          </a:p>
        </p:txBody>
      </p:sp>
      <p:pic>
        <p:nvPicPr>
          <p:cNvPr id="9" name="图片 8" descr="地图&#10;&#10;中度可信度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6419" y="1507105"/>
            <a:ext cx="6515581" cy="535089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1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741360" y="535783"/>
            <a:ext cx="2766367" cy="2644271"/>
            <a:chOff x="6429374" y="507207"/>
            <a:chExt cx="3557274" cy="2005378"/>
          </a:xfrm>
        </p:grpSpPr>
        <p:sp>
          <p:nvSpPr>
            <p:cNvPr id="6" name="矩形: 圆角 5"/>
            <p:cNvSpPr/>
            <p:nvPr/>
          </p:nvSpPr>
          <p:spPr>
            <a:xfrm>
              <a:off x="6429374" y="507207"/>
              <a:ext cx="3421857" cy="935831"/>
            </a:xfrm>
            <a:prstGeom prst="roundRect">
              <a:avLst/>
            </a:prstGeom>
            <a:solidFill>
              <a:schemeClr val="bg1"/>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a:spLocks noGrp="1" noRot="1" noMove="1" noResize="1" noEditPoints="1" noAdjustHandles="1" noChangeArrowheads="1" noChangeShapeType="1"/>
            </p:cNvSpPr>
            <p:nvPr/>
          </p:nvSpPr>
          <p:spPr>
            <a:xfrm>
              <a:off x="6644503" y="627018"/>
              <a:ext cx="3342145" cy="1885567"/>
            </a:xfrm>
            <a:prstGeom prst="rect">
              <a:avLst/>
            </a:prstGeom>
            <a:noFill/>
          </p:spPr>
          <p:txBody>
            <a:bodyPr wrap="square" rtlCol="0">
              <a:spAutoFit/>
            </a:bodyPr>
            <a:lstStyle/>
            <a:p>
              <a:r>
                <a:rPr lang="en-US" altLang="zh-CN" sz="6000" dirty="0">
                  <a:latin typeface="Segoe Print" panose="02000600000000000000" pitchFamily="2" charset="0"/>
                </a:rPr>
                <a:t>Why?</a:t>
              </a:r>
              <a:endParaRPr lang="zh-CN" altLang="en-US" sz="6000" dirty="0">
                <a:latin typeface="Segoe Print" panose="02000600000000000000" pitchFamily="2" charset="0"/>
              </a:endParaRPr>
            </a:p>
          </p:txBody>
        </p:sp>
      </p:grpSp>
      <p:grpSp>
        <p:nvGrpSpPr>
          <p:cNvPr id="11" name="组合 10"/>
          <p:cNvGrpSpPr/>
          <p:nvPr/>
        </p:nvGrpSpPr>
        <p:grpSpPr>
          <a:xfrm>
            <a:off x="1146428" y="2846133"/>
            <a:ext cx="2255991" cy="1233977"/>
            <a:chOff x="6422231" y="507207"/>
            <a:chExt cx="3429000" cy="935831"/>
          </a:xfrm>
        </p:grpSpPr>
        <p:sp>
          <p:nvSpPr>
            <p:cNvPr id="12" name="矩形: 圆角 11"/>
            <p:cNvSpPr/>
            <p:nvPr/>
          </p:nvSpPr>
          <p:spPr>
            <a:xfrm>
              <a:off x="6429374" y="507207"/>
              <a:ext cx="3421857" cy="935831"/>
            </a:xfrm>
            <a:prstGeom prst="roundRect">
              <a:avLst/>
            </a:prstGeom>
            <a:solidFill>
              <a:schemeClr val="bg1"/>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6422231" y="521494"/>
              <a:ext cx="3429000" cy="317639"/>
            </a:xfrm>
            <a:prstGeom prst="rect">
              <a:avLst/>
            </a:prstGeom>
            <a:noFill/>
          </p:spPr>
          <p:txBody>
            <a:bodyPr wrap="square" rtlCol="0">
              <a:spAutoFit/>
            </a:bodyPr>
            <a:lstStyle/>
            <a:p>
              <a:r>
                <a:rPr lang="en-US" altLang="zh-CN" sz="3600" dirty="0">
                  <a:latin typeface="Times New Roman" panose="02020603050405020304" pitchFamily="18" charset="0"/>
                  <a:cs typeface="Times New Roman" panose="02020603050405020304" pitchFamily="18" charset="0"/>
                </a:rPr>
                <a:t>Take it for granted</a:t>
              </a:r>
              <a:endParaRPr lang="zh-CN" altLang="en-US" sz="3600" dirty="0">
                <a:latin typeface="Times New Roman" panose="02020603050405020304" pitchFamily="18" charset="0"/>
                <a:cs typeface="Times New Roman" panose="02020603050405020304" pitchFamily="18" charset="0"/>
              </a:endParaRPr>
            </a:p>
          </p:txBody>
        </p:sp>
      </p:grpSp>
      <p:grpSp>
        <p:nvGrpSpPr>
          <p:cNvPr id="20" name="组合 19"/>
          <p:cNvGrpSpPr/>
          <p:nvPr/>
        </p:nvGrpSpPr>
        <p:grpSpPr>
          <a:xfrm>
            <a:off x="6621185" y="2222205"/>
            <a:ext cx="4895171" cy="1756511"/>
            <a:chOff x="6557390" y="818707"/>
            <a:chExt cx="4895171" cy="1756511"/>
          </a:xfrm>
        </p:grpSpPr>
        <p:pic>
          <p:nvPicPr>
            <p:cNvPr id="18" name="图片 17" descr="图标&#10;&#10;描述已自动生成"/>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57390" y="818707"/>
              <a:ext cx="1626489" cy="1756511"/>
            </a:xfrm>
            <a:prstGeom prst="rect">
              <a:avLst/>
            </a:prstGeom>
          </p:spPr>
        </p:pic>
        <p:sp>
          <p:nvSpPr>
            <p:cNvPr id="19" name="等号 18"/>
            <p:cNvSpPr/>
            <p:nvPr/>
          </p:nvSpPr>
          <p:spPr>
            <a:xfrm>
              <a:off x="8256175" y="1507638"/>
              <a:ext cx="1173575" cy="537837"/>
            </a:xfrm>
            <a:prstGeom prst="mathEqual">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1026" name="Picture 2" descr="食物的图片素材 的图像结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40368" y="818707"/>
              <a:ext cx="1812193" cy="1756511"/>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p:cTn id="12" dur="500" fill="hold"/>
                                        <p:tgtEl>
                                          <p:spTgt spid="11"/>
                                        </p:tgtEl>
                                        <p:attrNameLst>
                                          <p:attrName>ppt_w</p:attrName>
                                        </p:attrNameLst>
                                      </p:cBhvr>
                                      <p:tavLst>
                                        <p:tav tm="0">
                                          <p:val>
                                            <p:fltVal val="0"/>
                                          </p:val>
                                        </p:tav>
                                        <p:tav tm="100000">
                                          <p:val>
                                            <p:strVal val="#ppt_w"/>
                                          </p:val>
                                        </p:tav>
                                      </p:tavLst>
                                    </p:anim>
                                    <p:anim calcmode="lin" valueType="num">
                                      <p:cBhvr>
                                        <p:cTn id="13" dur="500" fill="hold"/>
                                        <p:tgtEl>
                                          <p:spTgt spid="11"/>
                                        </p:tgtEl>
                                        <p:attrNameLst>
                                          <p:attrName>ppt_h</p:attrName>
                                        </p:attrNameLst>
                                      </p:cBhvr>
                                      <p:tavLst>
                                        <p:tav tm="0">
                                          <p:val>
                                            <p:fltVal val="0"/>
                                          </p:val>
                                        </p:tav>
                                        <p:tav tm="100000">
                                          <p:val>
                                            <p:strVal val="#ppt_h"/>
                                          </p:val>
                                        </p:tav>
                                      </p:tavLst>
                                    </p:anim>
                                    <p:animEffect transition="in" filter="fade">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p:cTn id="19" dur="500" fill="hold"/>
                                        <p:tgtEl>
                                          <p:spTgt spid="20"/>
                                        </p:tgtEl>
                                        <p:attrNameLst>
                                          <p:attrName>ppt_w</p:attrName>
                                        </p:attrNameLst>
                                      </p:cBhvr>
                                      <p:tavLst>
                                        <p:tav tm="0">
                                          <p:val>
                                            <p:fltVal val="0"/>
                                          </p:val>
                                        </p:tav>
                                        <p:tav tm="100000">
                                          <p:val>
                                            <p:strVal val="#ppt_w"/>
                                          </p:val>
                                        </p:tav>
                                      </p:tavLst>
                                    </p:anim>
                                    <p:anim calcmode="lin" valueType="num">
                                      <p:cBhvr>
                                        <p:cTn id="20" dur="500" fill="hold"/>
                                        <p:tgtEl>
                                          <p:spTgt spid="20"/>
                                        </p:tgtEl>
                                        <p:attrNameLst>
                                          <p:attrName>ppt_h</p:attrName>
                                        </p:attrNameLst>
                                      </p:cBhvr>
                                      <p:tavLst>
                                        <p:tav tm="0">
                                          <p:val>
                                            <p:fltVal val="0"/>
                                          </p:val>
                                        </p:tav>
                                        <p:tav tm="100000">
                                          <p:val>
                                            <p:strVal val="#ppt_h"/>
                                          </p:val>
                                        </p:tav>
                                      </p:tavLst>
                                    </p:anim>
                                    <p:animEffect transition="in" filter="fade">
                                      <p:cBhvr>
                                        <p:cTn id="2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595731" y="1552165"/>
            <a:ext cx="3409507" cy="704425"/>
            <a:chOff x="6429374" y="507207"/>
            <a:chExt cx="5485626" cy="1513084"/>
          </a:xfrm>
        </p:grpSpPr>
        <p:sp>
          <p:nvSpPr>
            <p:cNvPr id="5" name="矩形: 圆角 4"/>
            <p:cNvSpPr/>
            <p:nvPr/>
          </p:nvSpPr>
          <p:spPr>
            <a:xfrm>
              <a:off x="6429374" y="507207"/>
              <a:ext cx="5485626" cy="1513084"/>
            </a:xfrm>
            <a:prstGeom prst="roundRect">
              <a:avLst/>
            </a:prstGeom>
            <a:solidFill>
              <a:schemeClr val="bg1"/>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6842796" y="656036"/>
              <a:ext cx="4697602" cy="1256079"/>
            </a:xfrm>
            <a:prstGeom prst="rect">
              <a:avLst/>
            </a:prstGeom>
            <a:noFill/>
          </p:spPr>
          <p:txBody>
            <a:bodyPr wrap="square" rtlCol="0">
              <a:spAutoFit/>
            </a:bodyPr>
            <a:lstStyle/>
            <a:p>
              <a:r>
                <a:rPr lang="en-US" altLang="zh-CN" sz="3200" dirty="0">
                  <a:latin typeface="Times New Roman" panose="02020603050405020304" pitchFamily="18" charset="0"/>
                  <a:cs typeface="Times New Roman" panose="02020603050405020304" pitchFamily="18" charset="0"/>
                </a:rPr>
                <a:t>areas difference</a:t>
              </a:r>
              <a:endParaRPr lang="zh-CN" altLang="en-US" sz="3200" dirty="0">
                <a:latin typeface="Times New Roman" panose="02020603050405020304" pitchFamily="18" charset="0"/>
                <a:cs typeface="Times New Roman" panose="02020603050405020304" pitchFamily="18" charset="0"/>
              </a:endParaRPr>
            </a:p>
          </p:txBody>
        </p:sp>
      </p:grpSp>
      <p:sp>
        <p:nvSpPr>
          <p:cNvPr id="11" name="矩形: 圆角 10"/>
          <p:cNvSpPr/>
          <p:nvPr/>
        </p:nvSpPr>
        <p:spPr>
          <a:xfrm>
            <a:off x="741360" y="535783"/>
            <a:ext cx="2661058" cy="1233977"/>
          </a:xfrm>
          <a:prstGeom prst="roundRect">
            <a:avLst/>
          </a:prstGeom>
          <a:solidFill>
            <a:schemeClr val="bg1"/>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920550" y="661234"/>
            <a:ext cx="2599069" cy="2486289"/>
          </a:xfrm>
          <a:prstGeom prst="rect">
            <a:avLst/>
          </a:prstGeom>
          <a:noFill/>
        </p:spPr>
        <p:txBody>
          <a:bodyPr wrap="square" rtlCol="0">
            <a:spAutoFit/>
          </a:bodyPr>
          <a:lstStyle/>
          <a:p>
            <a:r>
              <a:rPr lang="en-US" altLang="zh-CN" sz="6000" dirty="0">
                <a:latin typeface="Segoe Print" panose="02000600000000000000" pitchFamily="2" charset="0"/>
              </a:rPr>
              <a:t>Why?</a:t>
            </a:r>
            <a:endParaRPr lang="zh-CN" altLang="en-US" sz="6000" dirty="0">
              <a:latin typeface="Segoe Print" panose="02000600000000000000" pitchFamily="2" charset="0"/>
            </a:endParaRPr>
          </a:p>
        </p:txBody>
      </p:sp>
      <p:grpSp>
        <p:nvGrpSpPr>
          <p:cNvPr id="13" name="组合 12"/>
          <p:cNvGrpSpPr/>
          <p:nvPr/>
        </p:nvGrpSpPr>
        <p:grpSpPr>
          <a:xfrm>
            <a:off x="1270587" y="2744690"/>
            <a:ext cx="3432548" cy="1368620"/>
            <a:chOff x="6429374" y="507207"/>
            <a:chExt cx="5485626" cy="1513084"/>
          </a:xfrm>
        </p:grpSpPr>
        <p:sp>
          <p:nvSpPr>
            <p:cNvPr id="14" name="矩形: 圆角 13"/>
            <p:cNvSpPr/>
            <p:nvPr/>
          </p:nvSpPr>
          <p:spPr>
            <a:xfrm>
              <a:off x="6429374" y="507207"/>
              <a:ext cx="5485626" cy="1513084"/>
            </a:xfrm>
            <a:prstGeom prst="roundRect">
              <a:avLst/>
            </a:prstGeom>
            <a:solidFill>
              <a:schemeClr val="bg1"/>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6842796" y="656036"/>
              <a:ext cx="4697601" cy="1327029"/>
            </a:xfrm>
            <a:prstGeom prst="rect">
              <a:avLst/>
            </a:prstGeom>
            <a:noFill/>
          </p:spPr>
          <p:txBody>
            <a:bodyPr wrap="square" rtlCol="0">
              <a:spAutoFit/>
            </a:bodyPr>
            <a:lstStyle/>
            <a:p>
              <a:r>
                <a:rPr lang="en-US" altLang="zh-CN" sz="3600" dirty="0">
                  <a:latin typeface="Times New Roman" panose="02020603050405020304" pitchFamily="18" charset="0"/>
                  <a:cs typeface="Times New Roman" panose="02020603050405020304" pitchFamily="18" charset="0"/>
                </a:rPr>
                <a:t>School’s food taste not good</a:t>
              </a:r>
              <a:endParaRPr lang="zh-CN" altLang="en-US" sz="3600" dirty="0">
                <a:latin typeface="Times New Roman" panose="02020603050405020304" pitchFamily="18" charset="0"/>
                <a:cs typeface="Times New Roman" panose="02020603050405020304" pitchFamily="18" charset="0"/>
              </a:endParaRPr>
            </a:p>
          </p:txBody>
        </p:sp>
      </p:grpSp>
      <p:grpSp>
        <p:nvGrpSpPr>
          <p:cNvPr id="16" name="组合 15"/>
          <p:cNvGrpSpPr/>
          <p:nvPr/>
        </p:nvGrpSpPr>
        <p:grpSpPr>
          <a:xfrm>
            <a:off x="6595731" y="3076787"/>
            <a:ext cx="3467984" cy="704425"/>
            <a:chOff x="6429374" y="507207"/>
            <a:chExt cx="5485626" cy="1513084"/>
          </a:xfrm>
        </p:grpSpPr>
        <p:sp>
          <p:nvSpPr>
            <p:cNvPr id="17" name="矩形: 圆角 16"/>
            <p:cNvSpPr/>
            <p:nvPr/>
          </p:nvSpPr>
          <p:spPr>
            <a:xfrm>
              <a:off x="6429374" y="507207"/>
              <a:ext cx="5485626" cy="1513084"/>
            </a:xfrm>
            <a:prstGeom prst="roundRect">
              <a:avLst/>
            </a:prstGeom>
            <a:solidFill>
              <a:schemeClr val="bg1"/>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6842796" y="656036"/>
              <a:ext cx="4697602" cy="1256079"/>
            </a:xfrm>
            <a:prstGeom prst="rect">
              <a:avLst/>
            </a:prstGeom>
            <a:noFill/>
          </p:spPr>
          <p:txBody>
            <a:bodyPr wrap="square" rtlCol="0">
              <a:spAutoFit/>
            </a:bodyPr>
            <a:lstStyle/>
            <a:p>
              <a:r>
                <a:rPr lang="en-US" altLang="zh-CN" sz="3200" dirty="0">
                  <a:latin typeface="Times New Roman" panose="02020603050405020304" pitchFamily="18" charset="0"/>
                  <a:cs typeface="Times New Roman" panose="02020603050405020304" pitchFamily="18" charset="0"/>
                </a:rPr>
                <a:t>limited cost</a:t>
              </a:r>
              <a:endParaRPr lang="zh-CN" altLang="en-US" sz="3200" dirty="0">
                <a:latin typeface="Times New Roman" panose="02020603050405020304" pitchFamily="18" charset="0"/>
                <a:cs typeface="Times New Roman" panose="02020603050405020304" pitchFamily="18" charset="0"/>
              </a:endParaRPr>
            </a:p>
          </p:txBody>
        </p:sp>
      </p:grpSp>
      <p:grpSp>
        <p:nvGrpSpPr>
          <p:cNvPr id="19" name="组合 18"/>
          <p:cNvGrpSpPr/>
          <p:nvPr/>
        </p:nvGrpSpPr>
        <p:grpSpPr>
          <a:xfrm>
            <a:off x="6595730" y="4426500"/>
            <a:ext cx="3409507" cy="704425"/>
            <a:chOff x="6429374" y="507207"/>
            <a:chExt cx="5485626" cy="1513084"/>
          </a:xfrm>
        </p:grpSpPr>
        <p:sp>
          <p:nvSpPr>
            <p:cNvPr id="20" name="矩形: 圆角 19"/>
            <p:cNvSpPr/>
            <p:nvPr/>
          </p:nvSpPr>
          <p:spPr>
            <a:xfrm>
              <a:off x="6429374" y="507207"/>
              <a:ext cx="5485626" cy="1513084"/>
            </a:xfrm>
            <a:prstGeom prst="roundRect">
              <a:avLst/>
            </a:prstGeom>
            <a:solidFill>
              <a:schemeClr val="bg1"/>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6842796" y="656036"/>
              <a:ext cx="4697602" cy="1256079"/>
            </a:xfrm>
            <a:prstGeom prst="rect">
              <a:avLst/>
            </a:prstGeom>
            <a:noFill/>
          </p:spPr>
          <p:txBody>
            <a:bodyPr wrap="square" rtlCol="0">
              <a:spAutoFit/>
            </a:bodyPr>
            <a:lstStyle/>
            <a:p>
              <a:r>
                <a:rPr lang="en-US" altLang="zh-CN" sz="3200" dirty="0">
                  <a:latin typeface="Times New Roman" panose="02020603050405020304" pitchFamily="18" charset="0"/>
                  <a:cs typeface="Times New Roman" panose="02020603050405020304" pitchFamily="18" charset="0"/>
                </a:rPr>
                <a:t>cooking skills</a:t>
              </a:r>
              <a:endParaRPr lang="zh-CN" altLang="en-US" sz="3200" dirty="0">
                <a:latin typeface="Times New Roman" panose="02020603050405020304" pitchFamily="18" charset="0"/>
                <a:cs typeface="Times New Roman" panose="02020603050405020304" pitchFamily="18" charset="0"/>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37"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900" decel="100000" fill="hold"/>
                                        <p:tgtEl>
                                          <p:spTgt spid="13"/>
                                        </p:tgtEl>
                                        <p:attrNameLst>
                                          <p:attrName>ppt_y</p:attrName>
                                        </p:attrNameLst>
                                      </p:cBhvr>
                                      <p:tavLst>
                                        <p:tav tm="0">
                                          <p:val>
                                            <p:strVal val="#ppt_y+1"/>
                                          </p:val>
                                        </p:tav>
                                        <p:tav tm="100000">
                                          <p:val>
                                            <p:strVal val="#ppt_y-.03"/>
                                          </p:val>
                                        </p:tav>
                                      </p:tavLst>
                                    </p:anim>
                                    <p:anim calcmode="lin" valueType="num">
                                      <p:cBhvr>
                                        <p:cTn id="15" dur="100" accel="100000" fill="hold">
                                          <p:stCondLst>
                                            <p:cond delay="900"/>
                                          </p:stCondLst>
                                        </p:cTn>
                                        <p:tgtEl>
                                          <p:spTgt spid="13"/>
                                        </p:tgtEl>
                                        <p:attrNameLst>
                                          <p:attrName>ppt_y</p:attrName>
                                        </p:attrNameLst>
                                      </p:cBhvr>
                                      <p:tavLst>
                                        <p:tav tm="0">
                                          <p:val>
                                            <p:strVal val="#ppt_y-.03"/>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1000"/>
                                        <p:tgtEl>
                                          <p:spTgt spid="4"/>
                                        </p:tgtEl>
                                      </p:cBhvr>
                                    </p:animEffect>
                                    <p:anim calcmode="lin" valueType="num">
                                      <p:cBhvr>
                                        <p:cTn id="21" dur="1000" fill="hold"/>
                                        <p:tgtEl>
                                          <p:spTgt spid="4"/>
                                        </p:tgtEl>
                                        <p:attrNameLst>
                                          <p:attrName>ppt_x</p:attrName>
                                        </p:attrNameLst>
                                      </p:cBhvr>
                                      <p:tavLst>
                                        <p:tav tm="0">
                                          <p:val>
                                            <p:strVal val="#ppt_x"/>
                                          </p:val>
                                        </p:tav>
                                        <p:tav tm="100000">
                                          <p:val>
                                            <p:strVal val="#ppt_x"/>
                                          </p:val>
                                        </p:tav>
                                      </p:tavLst>
                                    </p:anim>
                                    <p:anim calcmode="lin" valueType="num">
                                      <p:cBhvr>
                                        <p:cTn id="22"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1000"/>
                                        <p:tgtEl>
                                          <p:spTgt spid="16"/>
                                        </p:tgtEl>
                                      </p:cBhvr>
                                    </p:animEffect>
                                    <p:anim calcmode="lin" valueType="num">
                                      <p:cBhvr>
                                        <p:cTn id="28" dur="1000" fill="hold"/>
                                        <p:tgtEl>
                                          <p:spTgt spid="16"/>
                                        </p:tgtEl>
                                        <p:attrNameLst>
                                          <p:attrName>ppt_x</p:attrName>
                                        </p:attrNameLst>
                                      </p:cBhvr>
                                      <p:tavLst>
                                        <p:tav tm="0">
                                          <p:val>
                                            <p:strVal val="#ppt_x"/>
                                          </p:val>
                                        </p:tav>
                                        <p:tav tm="100000">
                                          <p:val>
                                            <p:strVal val="#ppt_x"/>
                                          </p:val>
                                        </p:tav>
                                      </p:tavLst>
                                    </p:anim>
                                    <p:anim calcmode="lin" valueType="num">
                                      <p:cBhvr>
                                        <p:cTn id="2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1000"/>
                                        <p:tgtEl>
                                          <p:spTgt spid="19"/>
                                        </p:tgtEl>
                                      </p:cBhvr>
                                    </p:animEffect>
                                    <p:anim calcmode="lin" valueType="num">
                                      <p:cBhvr>
                                        <p:cTn id="35" dur="1000" fill="hold"/>
                                        <p:tgtEl>
                                          <p:spTgt spid="19"/>
                                        </p:tgtEl>
                                        <p:attrNameLst>
                                          <p:attrName>ppt_x</p:attrName>
                                        </p:attrNameLst>
                                      </p:cBhvr>
                                      <p:tavLst>
                                        <p:tav tm="0">
                                          <p:val>
                                            <p:strVal val="#ppt_x"/>
                                          </p:val>
                                        </p:tav>
                                        <p:tav tm="100000">
                                          <p:val>
                                            <p:strVal val="#ppt_x"/>
                                          </p:val>
                                        </p:tav>
                                      </p:tavLst>
                                    </p:anim>
                                    <p:anim calcmode="lin" valueType="num">
                                      <p:cBhvr>
                                        <p:cTn id="3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320035" y="4918530"/>
            <a:ext cx="9845269" cy="1200329"/>
          </a:xfrm>
          <a:prstGeom prst="rect">
            <a:avLst/>
          </a:prstGeom>
          <a:noFill/>
        </p:spPr>
        <p:txBody>
          <a:bodyPr wrap="square" rtlCol="0">
            <a:spAutoFit/>
          </a:bodyPr>
          <a:lstStyle/>
          <a:p>
            <a:r>
              <a:rPr lang="en-US" altLang="zh-CN" sz="2400" b="0" i="0">
                <a:solidFill>
                  <a:srgbClr val="0F0F0F"/>
                </a:solidFill>
                <a:effectLst/>
                <a:latin typeface="Söhne"/>
              </a:rPr>
              <a:t>While the subjective factor of insufficient awareness among consumers regarding food waste is the primary cause of wastage, we must acknowledge that some objective factors also contribute to food waste.</a:t>
            </a:r>
            <a:endParaRPr lang="zh-CN" altLang="en-US" sz="2400"/>
          </a:p>
        </p:txBody>
      </p:sp>
      <p:sp>
        <p:nvSpPr>
          <p:cNvPr id="7" name="箭头: 右 6"/>
          <p:cNvSpPr/>
          <p:nvPr/>
        </p:nvSpPr>
        <p:spPr>
          <a:xfrm>
            <a:off x="4422105" y="2938630"/>
            <a:ext cx="3251964" cy="1072529"/>
          </a:xfrm>
          <a:prstGeom prs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8" name="文本框 7"/>
          <p:cNvSpPr txBox="1"/>
          <p:nvPr/>
        </p:nvSpPr>
        <p:spPr>
          <a:xfrm>
            <a:off x="824969" y="2644170"/>
            <a:ext cx="3251964" cy="1569660"/>
          </a:xfrm>
          <a:prstGeom prst="rect">
            <a:avLst/>
          </a:prstGeom>
          <a:noFill/>
        </p:spPr>
        <p:txBody>
          <a:bodyPr wrap="square" rtlCol="0">
            <a:spAutoFit/>
          </a:bodyPr>
          <a:lstStyle/>
          <a:p>
            <a:r>
              <a:rPr lang="en-US" altLang="zh-CN" sz="4800" b="1">
                <a:ln>
                  <a:solidFill>
                    <a:srgbClr val="FFFF00"/>
                  </a:solidFill>
                </a:ln>
                <a:solidFill>
                  <a:schemeClr val="accent1"/>
                </a:solidFill>
                <a:effectLst>
                  <a:outerShdw blurRad="50800" dist="38100" dir="2700000" algn="tl" rotWithShape="0">
                    <a:prstClr val="black">
                      <a:alpha val="40000"/>
                    </a:prstClr>
                  </a:outerShdw>
                </a:effectLst>
              </a:rPr>
              <a:t>Subjective reasons</a:t>
            </a:r>
            <a:endParaRPr lang="zh-CN" altLang="en-US" sz="4800" b="1">
              <a:ln>
                <a:solidFill>
                  <a:srgbClr val="FFFF00"/>
                </a:solidFill>
              </a:ln>
              <a:solidFill>
                <a:schemeClr val="accent1"/>
              </a:solidFill>
              <a:effectLst>
                <a:outerShdw blurRad="50800" dist="38100" dir="2700000" algn="tl" rotWithShape="0">
                  <a:prstClr val="black">
                    <a:alpha val="40000"/>
                  </a:prstClr>
                </a:outerShdw>
              </a:effectLst>
            </a:endParaRPr>
          </a:p>
        </p:txBody>
      </p:sp>
      <p:sp>
        <p:nvSpPr>
          <p:cNvPr id="9" name="矩形 8"/>
          <p:cNvSpPr/>
          <p:nvPr/>
        </p:nvSpPr>
        <p:spPr>
          <a:xfrm>
            <a:off x="824969" y="781862"/>
            <a:ext cx="9955226" cy="923330"/>
          </a:xfrm>
          <a:prstGeom prst="rect">
            <a:avLst/>
          </a:prstGeom>
          <a:noFill/>
        </p:spPr>
        <p:txBody>
          <a:bodyPr wrap="none" lIns="91440" tIns="45720" rIns="91440" bIns="45720">
            <a:spAutoFit/>
          </a:bodyPr>
          <a:lstStyle/>
          <a:p>
            <a:pPr algn="ctr"/>
            <a:r>
              <a:rPr lang="en-US" altLang="zh-CN" sz="5400" b="1" i="0" cap="none" spc="0">
                <a:ln w="22225">
                  <a:solidFill>
                    <a:schemeClr val="accent2"/>
                  </a:solidFill>
                  <a:prstDash val="solid"/>
                </a:ln>
                <a:solidFill>
                  <a:schemeClr val="accent2">
                    <a:lumMod val="40000"/>
                    <a:lumOff val="60000"/>
                  </a:schemeClr>
                </a:solidFill>
                <a:effectLst/>
                <a:latin typeface="Söhne"/>
              </a:rPr>
              <a:t>Objective Reasons for Food Waste</a:t>
            </a:r>
            <a:endParaRPr lang="zh-CN" altLang="en-US" sz="5400" b="1" cap="none" spc="0">
              <a:ln w="22225">
                <a:solidFill>
                  <a:schemeClr val="accent2"/>
                </a:solidFill>
                <a:prstDash val="solid"/>
              </a:ln>
              <a:solidFill>
                <a:schemeClr val="accent2">
                  <a:lumMod val="40000"/>
                  <a:lumOff val="60000"/>
                </a:schemeClr>
              </a:solidFill>
              <a:effectLst/>
            </a:endParaRPr>
          </a:p>
        </p:txBody>
      </p:sp>
      <p:sp>
        <p:nvSpPr>
          <p:cNvPr id="11" name="文本框 10"/>
          <p:cNvSpPr txBox="1"/>
          <p:nvPr/>
        </p:nvSpPr>
        <p:spPr>
          <a:xfrm>
            <a:off x="8019241" y="2659819"/>
            <a:ext cx="6096000" cy="1569660"/>
          </a:xfrm>
          <a:prstGeom prst="rect">
            <a:avLst/>
          </a:prstGeom>
          <a:noFill/>
        </p:spPr>
        <p:txBody>
          <a:bodyPr wrap="square">
            <a:spAutoFit/>
          </a:bodyPr>
          <a:lstStyle/>
          <a:p>
            <a:r>
              <a:rPr lang="en-US" altLang="zh-CN" sz="4800" b="1">
                <a:ln>
                  <a:solidFill>
                    <a:srgbClr val="FFFF00"/>
                  </a:solidFill>
                </a:ln>
                <a:solidFill>
                  <a:schemeClr val="accent1"/>
                </a:solidFill>
                <a:effectLst>
                  <a:outerShdw blurRad="50800" dist="38100" dir="2700000" algn="tl" rotWithShape="0">
                    <a:prstClr val="black">
                      <a:alpha val="40000"/>
                    </a:prstClr>
                  </a:outerShdw>
                </a:effectLst>
              </a:rPr>
              <a:t>Objective</a:t>
            </a:r>
          </a:p>
          <a:p>
            <a:r>
              <a:rPr lang="en-US" altLang="zh-CN" sz="4800" b="1">
                <a:ln>
                  <a:solidFill>
                    <a:srgbClr val="FFFF00"/>
                  </a:solidFill>
                </a:ln>
                <a:solidFill>
                  <a:schemeClr val="accent1"/>
                </a:solidFill>
                <a:effectLst>
                  <a:outerShdw blurRad="50800" dist="38100" dir="2700000" algn="tl" rotWithShape="0">
                    <a:prstClr val="black">
                      <a:alpha val="40000"/>
                    </a:prstClr>
                  </a:outerShdw>
                </a:effectLst>
              </a:rPr>
              <a:t> reasons</a:t>
            </a:r>
            <a:endParaRPr lang="zh-CN" altLang="en-US" sz="4800" b="1">
              <a:ln>
                <a:solidFill>
                  <a:srgbClr val="FFFF00"/>
                </a:solidFill>
              </a:ln>
              <a:solidFill>
                <a:schemeClr val="accent1"/>
              </a:solidFill>
              <a:effectLst>
                <a:outerShdw blurRad="50800" dist="38100" dir="2700000" algn="tl" rotWithShape="0">
                  <a:prstClr val="black">
                    <a:alpha val="40000"/>
                  </a:prstClr>
                </a:outerShdw>
              </a:effectLs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1">
                                            <p:txEl>
                                              <p:pRg st="0" end="0"/>
                                            </p:txEl>
                                          </p:spTgt>
                                        </p:tgtEl>
                                        <p:attrNameLst>
                                          <p:attrName>style.visibility</p:attrName>
                                        </p:attrNameLst>
                                      </p:cBhvr>
                                      <p:to>
                                        <p:strVal val="visible"/>
                                      </p:to>
                                    </p:set>
                                    <p:animEffect transition="in" filter="fade">
                                      <p:cBhvr>
                                        <p:cTn id="21" dur="1000"/>
                                        <p:tgtEl>
                                          <p:spTgt spid="11">
                                            <p:txEl>
                                              <p:pRg st="0" end="0"/>
                                            </p:txEl>
                                          </p:spTgt>
                                        </p:tgtEl>
                                      </p:cBhvr>
                                    </p:animEffect>
                                    <p:anim calcmode="lin" valueType="num">
                                      <p:cBhvr>
                                        <p:cTn id="22"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1">
                                            <p:txEl>
                                              <p:pRg st="0" end="0"/>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11">
                                            <p:txEl>
                                              <p:pRg st="1" end="1"/>
                                            </p:txEl>
                                          </p:spTgt>
                                        </p:tgtEl>
                                        <p:attrNameLst>
                                          <p:attrName>style.visibility</p:attrName>
                                        </p:attrNameLst>
                                      </p:cBhvr>
                                      <p:to>
                                        <p:strVal val="visible"/>
                                      </p:to>
                                    </p:set>
                                    <p:animEffect transition="in" filter="fade">
                                      <p:cBhvr>
                                        <p:cTn id="26" dur="1000"/>
                                        <p:tgtEl>
                                          <p:spTgt spid="11">
                                            <p:txEl>
                                              <p:pRg st="1" end="1"/>
                                            </p:txEl>
                                          </p:spTgt>
                                        </p:tgtEl>
                                      </p:cBhvr>
                                    </p:animEffect>
                                    <p:anim calcmode="lin" valueType="num">
                                      <p:cBhvr>
                                        <p:cTn id="27"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28" dur="1000" fill="hold"/>
                                        <p:tgtEl>
                                          <p:spTgt spid="1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5">
                                            <p:txEl>
                                              <p:pRg st="0" end="0"/>
                                            </p:txEl>
                                          </p:spTgt>
                                        </p:tgtEl>
                                        <p:attrNameLst>
                                          <p:attrName>style.visibility</p:attrName>
                                        </p:attrNameLst>
                                      </p:cBhvr>
                                      <p:to>
                                        <p:strVal val="visible"/>
                                      </p:to>
                                    </p:set>
                                    <p:anim calcmode="lin" valueType="num">
                                      <p:cBhvr additive="base">
                                        <p:cTn id="3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5"/>
          <p:cNvSpPr>
            <a:spLocks noGrp="1" noRot="1" noChangeAspect="1" noMove="1" noResize="1" noEditPoints="1" noAdjustHandles="1" noChangeArrowheads="1" noChangeShapeType="1" noTextEdit="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文本框 6"/>
          <p:cNvSpPr txBox="1"/>
          <p:nvPr/>
        </p:nvSpPr>
        <p:spPr>
          <a:xfrm>
            <a:off x="1256769" y="655174"/>
            <a:ext cx="4368602" cy="1956841"/>
          </a:xfrm>
          <a:prstGeom prst="rect">
            <a:avLst/>
          </a:prstGeom>
        </p:spPr>
        <p:txBody>
          <a:bodyPr vert="horz" lIns="91440" tIns="45720" rIns="91440" bIns="45720" rtlCol="0" anchor="b">
            <a:noAutofit/>
          </a:bodyPr>
          <a:lstStyle/>
          <a:p>
            <a:pPr>
              <a:lnSpc>
                <a:spcPct val="90000"/>
              </a:lnSpc>
              <a:spcBef>
                <a:spcPct val="0"/>
              </a:spcBef>
              <a:spcAft>
                <a:spcPts val="600"/>
              </a:spcAft>
            </a:pPr>
            <a:r>
              <a:rPr lang="en-US" altLang="zh-CN" sz="4000" b="0" i="0">
                <a:effectLst/>
                <a:latin typeface="+mj-lt"/>
                <a:ea typeface="+mj-ea"/>
                <a:cs typeface="+mj-cs"/>
              </a:rPr>
              <a:t>Let's imagine we walk into a cafeteria and order a hamburger.</a:t>
            </a:r>
            <a:endParaRPr lang="en-US" altLang="zh-CN" sz="4000">
              <a:latin typeface="+mj-lt"/>
              <a:ea typeface="+mj-ea"/>
              <a:cs typeface="+mj-cs"/>
            </a:endParaRPr>
          </a:p>
        </p:txBody>
      </p:sp>
      <p:sp>
        <p:nvSpPr>
          <p:cNvPr id="21" name="sketchy line"/>
          <p:cNvSpPr>
            <a:spLocks noGrp="1" noRot="1" noChangeAspect="1" noMove="1" noResize="1" noEditPoints="1" noAdjustHandles="1" noChangeArrowheads="1" noChangeShapeType="1" noTextEdit="1"/>
          </p:cNvSpPr>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文本框 10"/>
          <p:cNvSpPr txBox="1"/>
          <p:nvPr/>
        </p:nvSpPr>
        <p:spPr>
          <a:xfrm>
            <a:off x="1009642" y="4003357"/>
            <a:ext cx="4243589" cy="3320668"/>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altLang="zh-CN" sz="3200" b="0" i="0">
                <a:effectLst/>
              </a:rPr>
              <a:t>what you anticipated</a:t>
            </a:r>
            <a:r>
              <a:rPr lang="zh-CN" altLang="en-US" sz="2200" b="0" i="0">
                <a:effectLst/>
              </a:rPr>
              <a:t>：</a:t>
            </a:r>
            <a:endParaRPr lang="en-US" altLang="zh-CN" sz="2200"/>
          </a:p>
        </p:txBody>
      </p:sp>
      <p:pic>
        <p:nvPicPr>
          <p:cNvPr id="9" name="图片 8"/>
          <p:cNvPicPr>
            <a:picLocks noChangeAspect="1"/>
          </p:cNvPicPr>
          <p:nvPr/>
        </p:nvPicPr>
        <p:blipFill rotWithShape="1">
          <a:blip r:embed="rId2" cstate="print">
            <a:extLst>
              <a:ext uri="{28A0092B-C50C-407E-A947-70E740481C1C}">
                <a14:useLocalDpi xmlns:a14="http://schemas.microsoft.com/office/drawing/2010/main" val="0"/>
              </a:ext>
            </a:extLst>
          </a:blip>
          <a:srcRect l="15754" r="14286" b="2"/>
          <a:stretch>
            <a:fillRect/>
          </a:stretch>
        </p:blipFill>
        <p:spPr>
          <a:xfrm>
            <a:off x="6715199" y="2947407"/>
            <a:ext cx="2588289" cy="2580468"/>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p:cTn id="13" dur="1000" fill="hold"/>
                                        <p:tgtEl>
                                          <p:spTgt spid="9"/>
                                        </p:tgtEl>
                                        <p:attrNameLst>
                                          <p:attrName>ppt_w</p:attrName>
                                        </p:attrNameLst>
                                      </p:cBhvr>
                                      <p:tavLst>
                                        <p:tav tm="0">
                                          <p:val>
                                            <p:fltVal val="0"/>
                                          </p:val>
                                        </p:tav>
                                        <p:tav tm="100000">
                                          <p:val>
                                            <p:strVal val="#ppt_w"/>
                                          </p:val>
                                        </p:tav>
                                      </p:tavLst>
                                    </p:anim>
                                    <p:anim calcmode="lin" valueType="num">
                                      <p:cBhvr>
                                        <p:cTn id="14" dur="1000" fill="hold"/>
                                        <p:tgtEl>
                                          <p:spTgt spid="9"/>
                                        </p:tgtEl>
                                        <p:attrNameLst>
                                          <p:attrName>ppt_h</p:attrName>
                                        </p:attrNameLst>
                                      </p:cBhvr>
                                      <p:tavLst>
                                        <p:tav tm="0">
                                          <p:val>
                                            <p:fltVal val="0"/>
                                          </p:val>
                                        </p:tav>
                                        <p:tav tm="100000">
                                          <p:val>
                                            <p:strVal val="#ppt_h"/>
                                          </p:val>
                                        </p:tav>
                                      </p:tavLst>
                                    </p:anim>
                                    <p:anim calcmode="lin" valueType="num">
                                      <p:cBhvr>
                                        <p:cTn id="15" dur="1000" fill="hold"/>
                                        <p:tgtEl>
                                          <p:spTgt spid="9"/>
                                        </p:tgtEl>
                                        <p:attrNameLst>
                                          <p:attrName>style.rotation</p:attrName>
                                        </p:attrNameLst>
                                      </p:cBhvr>
                                      <p:tavLst>
                                        <p:tav tm="0">
                                          <p:val>
                                            <p:fltVal val="90"/>
                                          </p:val>
                                        </p:tav>
                                        <p:tav tm="100000">
                                          <p:val>
                                            <p:fltVal val="0"/>
                                          </p:val>
                                        </p:tav>
                                      </p:tavLst>
                                    </p:anim>
                                    <p:animEffect transition="in" filter="fade">
                                      <p:cBhvr>
                                        <p:cTn id="16"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45042" y="669496"/>
            <a:ext cx="4245935" cy="892552"/>
          </a:xfrm>
          <a:prstGeom prst="rect">
            <a:avLst/>
          </a:prstGeom>
          <a:noFill/>
        </p:spPr>
        <p:txBody>
          <a:bodyPr wrap="square" rtlCol="0">
            <a:spAutoFit/>
          </a:bodyPr>
          <a:lstStyle/>
          <a:p>
            <a:r>
              <a:rPr lang="en-US" altLang="zh-CN" sz="2400" b="1"/>
              <a:t>However</a:t>
            </a:r>
            <a:r>
              <a:rPr lang="zh-CN" altLang="en-US" sz="2400" b="1"/>
              <a:t>，</a:t>
            </a:r>
            <a:r>
              <a:rPr lang="en-US" altLang="zh-CN" sz="2400" b="1"/>
              <a:t>what you get maybe like this</a:t>
            </a:r>
            <a:r>
              <a:rPr lang="zh-CN" altLang="en-US" sz="2800" b="1"/>
              <a:t>：</a:t>
            </a: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690" y="1658681"/>
            <a:ext cx="5237913" cy="4714122"/>
          </a:xfrm>
          <a:prstGeom prst="rect">
            <a:avLst/>
          </a:prstGeom>
        </p:spPr>
      </p:pic>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12279" y="538716"/>
            <a:ext cx="6680546" cy="534161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Or this</a:t>
            </a:r>
            <a:r>
              <a:rPr lang="zh-CN" altLang="en-US"/>
              <a:t>：</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2438" y="688156"/>
            <a:ext cx="8314660" cy="567059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949842" y="676295"/>
            <a:ext cx="7017488" cy="2862322"/>
          </a:xfrm>
          <a:prstGeom prst="rect">
            <a:avLst/>
          </a:prstGeom>
          <a:noFill/>
        </p:spPr>
        <p:txBody>
          <a:bodyPr wrap="square">
            <a:spAutoFit/>
          </a:bodyPr>
          <a:lstStyle/>
          <a:p>
            <a:r>
              <a:rPr lang="en-US" altLang="zh-CN" sz="2400" b="0" i="0">
                <a:solidFill>
                  <a:srgbClr val="0F0F0F"/>
                </a:solidFill>
                <a:effectLst/>
                <a:latin typeface="Söhne"/>
              </a:rPr>
              <a:t>Objective reason 1 </a:t>
            </a:r>
            <a:r>
              <a:rPr lang="zh-CN" altLang="en-US" sz="2400" b="0" i="0">
                <a:solidFill>
                  <a:srgbClr val="0F0F0F"/>
                </a:solidFill>
                <a:effectLst/>
                <a:latin typeface="Söhne"/>
              </a:rPr>
              <a:t>：</a:t>
            </a:r>
            <a:endParaRPr lang="en-US" altLang="zh-CN" sz="2400" b="0" i="0">
              <a:solidFill>
                <a:srgbClr val="0F0F0F"/>
              </a:solidFill>
              <a:effectLst/>
              <a:latin typeface="Söhne"/>
            </a:endParaRPr>
          </a:p>
          <a:p>
            <a:endParaRPr lang="en-US" altLang="zh-CN" sz="2400" b="0" i="0">
              <a:solidFill>
                <a:srgbClr val="0F0F0F"/>
              </a:solidFill>
              <a:effectLst/>
              <a:latin typeface="Söhne"/>
            </a:endParaRPr>
          </a:p>
          <a:p>
            <a:r>
              <a:rPr lang="en-US" altLang="zh-CN" sz="3600" b="1" i="0">
                <a:solidFill>
                  <a:srgbClr val="0F0F0F"/>
                </a:solidFill>
                <a:effectLst/>
                <a:latin typeface="Söhne"/>
              </a:rPr>
              <a:t>Oversized Portions in Food Services:</a:t>
            </a:r>
          </a:p>
          <a:p>
            <a:endParaRPr lang="en-US" altLang="zh-CN" sz="2400" b="1" i="0">
              <a:solidFill>
                <a:srgbClr val="0F0F0F"/>
              </a:solidFill>
              <a:effectLst/>
              <a:latin typeface="Söhne"/>
            </a:endParaRPr>
          </a:p>
          <a:p>
            <a:r>
              <a:rPr lang="zh-CN" altLang="en-US" sz="2400" b="0" i="0">
                <a:solidFill>
                  <a:srgbClr val="0F0F0F"/>
                </a:solidFill>
                <a:effectLst/>
                <a:latin typeface="Söhne"/>
              </a:rPr>
              <a:t> </a:t>
            </a:r>
            <a:r>
              <a:rPr lang="en-US" altLang="zh-CN" sz="2400" b="0" i="0">
                <a:solidFill>
                  <a:srgbClr val="0F0F0F"/>
                </a:solidFill>
                <a:effectLst/>
                <a:latin typeface="Söhne"/>
              </a:rPr>
              <a:t>Restaurants and food services may provide oversized portions, making it challenging for customers to consume all of it.</a:t>
            </a:r>
            <a:endParaRPr lang="zh-CN" altLang="en-US" sz="2400"/>
          </a:p>
        </p:txBody>
      </p:sp>
      <p:sp>
        <p:nvSpPr>
          <p:cNvPr id="7" name="文本框 6"/>
          <p:cNvSpPr txBox="1"/>
          <p:nvPr/>
        </p:nvSpPr>
        <p:spPr>
          <a:xfrm>
            <a:off x="949842" y="4036182"/>
            <a:ext cx="6096000" cy="830997"/>
          </a:xfrm>
          <a:prstGeom prst="rect">
            <a:avLst/>
          </a:prstGeom>
          <a:noFill/>
        </p:spPr>
        <p:txBody>
          <a:bodyPr wrap="square">
            <a:spAutoFit/>
          </a:bodyPr>
          <a:lstStyle/>
          <a:p>
            <a:r>
              <a:rPr lang="en-US" altLang="zh-CN" sz="2400">
                <a:solidFill>
                  <a:srgbClr val="0F0F0F"/>
                </a:solidFill>
                <a:latin typeface="Söhne"/>
              </a:rPr>
              <a:t>In such situations, consumers find themselves compelled to waste a portion of the food.</a:t>
            </a:r>
            <a:endParaRPr lang="zh-CN" altLang="en-US" sz="2400">
              <a:solidFill>
                <a:srgbClr val="0F0F0F"/>
              </a:solidFill>
              <a:latin typeface="Söhne"/>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498810"/>
            <a:ext cx="10515600" cy="1325563"/>
          </a:xfrm>
        </p:spPr>
        <p:txBody>
          <a:bodyPr>
            <a:normAutofit fontScale="90000"/>
          </a:bodyPr>
          <a:lstStyle/>
          <a:p>
            <a:r>
              <a:rPr lang="en-US" altLang="zh-CN" sz="3600">
                <a:solidFill>
                  <a:srgbClr val="0F0F0F"/>
                </a:solidFill>
                <a:latin typeface="Söhne"/>
                <a:ea typeface="+mn-ea"/>
                <a:cs typeface="+mn-cs"/>
              </a:rPr>
              <a:t>Objective reason 2 </a:t>
            </a:r>
            <a:r>
              <a:rPr lang="zh-CN" altLang="en-US" sz="3600">
                <a:solidFill>
                  <a:srgbClr val="0F0F0F"/>
                </a:solidFill>
                <a:latin typeface="Söhne"/>
                <a:ea typeface="+mn-ea"/>
                <a:cs typeface="+mn-cs"/>
              </a:rPr>
              <a:t>：</a:t>
            </a:r>
            <a:br>
              <a:rPr lang="en-US" altLang="zh-CN" sz="2400">
                <a:solidFill>
                  <a:srgbClr val="0F0F0F"/>
                </a:solidFill>
                <a:latin typeface="Söhne"/>
                <a:ea typeface="+mn-ea"/>
                <a:cs typeface="+mn-cs"/>
              </a:rPr>
            </a:br>
            <a:br>
              <a:rPr lang="en-US" altLang="zh-CN" sz="2400">
                <a:solidFill>
                  <a:srgbClr val="0F0F0F"/>
                </a:solidFill>
                <a:latin typeface="Söhne"/>
                <a:ea typeface="+mn-ea"/>
                <a:cs typeface="+mn-cs"/>
              </a:rPr>
            </a:br>
            <a:r>
              <a:rPr lang="en-US" altLang="zh-CN" sz="4000" b="1">
                <a:solidFill>
                  <a:srgbClr val="0F0F0F"/>
                </a:solidFill>
                <a:latin typeface="Söhne"/>
                <a:ea typeface="+mn-ea"/>
                <a:cs typeface="+mn-cs"/>
              </a:rPr>
              <a:t>lack of portion options</a:t>
            </a:r>
            <a:br>
              <a:rPr lang="en-US" altLang="zh-CN" sz="4400" b="0" i="0">
                <a:solidFill>
                  <a:srgbClr val="0F0F0F"/>
                </a:solidFill>
                <a:effectLst/>
                <a:latin typeface="Söhne"/>
              </a:rPr>
            </a:br>
            <a:endParaRPr lang="zh-CN" altLang="en-US"/>
          </a:p>
        </p:txBody>
      </p:sp>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2311" y="3152550"/>
            <a:ext cx="5403476" cy="3123312"/>
          </a:xfrm>
          <a:prstGeom prst="rect">
            <a:avLst/>
          </a:prstGeom>
        </p:spPr>
      </p:pic>
      <p:sp>
        <p:nvSpPr>
          <p:cNvPr id="11" name="文本框 10"/>
          <p:cNvSpPr txBox="1"/>
          <p:nvPr/>
        </p:nvSpPr>
        <p:spPr>
          <a:xfrm>
            <a:off x="838201" y="1563802"/>
            <a:ext cx="10515599" cy="1107996"/>
          </a:xfrm>
          <a:prstGeom prst="rect">
            <a:avLst/>
          </a:prstGeom>
          <a:noFill/>
        </p:spPr>
        <p:txBody>
          <a:bodyPr wrap="square">
            <a:spAutoFit/>
          </a:bodyPr>
          <a:lstStyle/>
          <a:p>
            <a:br>
              <a:rPr lang="en-US" altLang="zh-CN"/>
            </a:br>
            <a:r>
              <a:rPr lang="en-US" altLang="zh-CN" sz="2400" b="0" i="0">
                <a:solidFill>
                  <a:srgbClr val="0F0F0F"/>
                </a:solidFill>
                <a:effectLst/>
                <a:latin typeface="Söhne"/>
              </a:rPr>
              <a:t>In most cases, when we enter a restaurant, we find that many dishes are available in different portion sizes.</a:t>
            </a:r>
            <a:endParaRPr lang="zh-CN" altLang="en-US" sz="2400"/>
          </a:p>
        </p:txBody>
      </p:sp>
      <p:pic>
        <p:nvPicPr>
          <p:cNvPr id="5" name="图片 4" descr="杯子里有饮料&#10;&#10;描述已自动生成"/>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8577" y="3152550"/>
            <a:ext cx="4164417" cy="312331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p:cTn id="15" dur="500" fill="hold"/>
                                        <p:tgtEl>
                                          <p:spTgt spid="9"/>
                                        </p:tgtEl>
                                        <p:attrNameLst>
                                          <p:attrName>ppt_w</p:attrName>
                                        </p:attrNameLst>
                                      </p:cBhvr>
                                      <p:tavLst>
                                        <p:tav tm="0">
                                          <p:val>
                                            <p:fltVal val="0"/>
                                          </p:val>
                                        </p:tav>
                                        <p:tav tm="100000">
                                          <p:val>
                                            <p:strVal val="#ppt_w"/>
                                          </p:val>
                                        </p:tav>
                                      </p:tavLst>
                                    </p:anim>
                                    <p:anim calcmode="lin" valueType="num">
                                      <p:cBhvr>
                                        <p:cTn id="16" dur="500" fill="hold"/>
                                        <p:tgtEl>
                                          <p:spTgt spid="9"/>
                                        </p:tgtEl>
                                        <p:attrNameLst>
                                          <p:attrName>ppt_h</p:attrName>
                                        </p:attrNameLst>
                                      </p:cBhvr>
                                      <p:tavLst>
                                        <p:tav tm="0">
                                          <p:val>
                                            <p:fltVal val="0"/>
                                          </p:val>
                                        </p:tav>
                                        <p:tav tm="100000">
                                          <p:val>
                                            <p:strVal val="#ppt_h"/>
                                          </p:val>
                                        </p:tav>
                                      </p:tavLst>
                                    </p:anim>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228061" y="1363316"/>
            <a:ext cx="6172199" cy="2677656"/>
          </a:xfrm>
          <a:prstGeom prst="rect">
            <a:avLst/>
          </a:prstGeom>
          <a:noFill/>
        </p:spPr>
        <p:txBody>
          <a:bodyPr wrap="square">
            <a:spAutoFit/>
          </a:bodyPr>
          <a:lstStyle/>
          <a:p>
            <a:r>
              <a:rPr lang="en-US" altLang="zh-CN" sz="2800">
                <a:solidFill>
                  <a:srgbClr val="0F0F0F"/>
                </a:solidFill>
                <a:latin typeface="Söhne"/>
              </a:rPr>
              <a:t>Different individuals have different food requirements, and some cafeterias may not offer food in different portion sizes, inevitably causing some people to not get enough to eat, while others end up with more than they can consume.</a:t>
            </a:r>
            <a:endParaRPr lang="zh-CN" altLang="en-US" sz="2800"/>
          </a:p>
        </p:txBody>
      </p:sp>
      <p:sp>
        <p:nvSpPr>
          <p:cNvPr id="5" name="文本框 4"/>
          <p:cNvSpPr txBox="1"/>
          <p:nvPr/>
        </p:nvSpPr>
        <p:spPr>
          <a:xfrm>
            <a:off x="1228061" y="4653515"/>
            <a:ext cx="5812465" cy="1477328"/>
          </a:xfrm>
          <a:prstGeom prst="rect">
            <a:avLst/>
          </a:prstGeom>
          <a:noFill/>
        </p:spPr>
        <p:txBody>
          <a:bodyPr wrap="square" rtlCol="0">
            <a:spAutoFit/>
          </a:bodyPr>
          <a:lstStyle/>
          <a:p>
            <a:br>
              <a:rPr lang="en-US" altLang="zh-CN"/>
            </a:br>
            <a:r>
              <a:rPr lang="en-US" altLang="zh-CN" sz="3600" b="0" i="0">
                <a:solidFill>
                  <a:srgbClr val="0F0F0F"/>
                </a:solidFill>
                <a:effectLst/>
                <a:latin typeface="Söhne"/>
              </a:rPr>
              <a:t>This is also a significant factor contributing to food waste.</a:t>
            </a:r>
            <a:endParaRPr lang="zh-CN" altLang="en-US" sz="3600"/>
          </a:p>
        </p:txBody>
      </p:sp>
      <p:pic>
        <p:nvPicPr>
          <p:cNvPr id="3" name="图片 2" descr="男人在吃东西&#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52533" y="576507"/>
            <a:ext cx="3928341" cy="2616277"/>
          </a:xfrm>
          <a:prstGeom prst="rect">
            <a:avLst/>
          </a:prstGeom>
        </p:spPr>
      </p:pic>
      <p:pic>
        <p:nvPicPr>
          <p:cNvPr id="7" name="图片 6" descr="小孩在吃东西&#10;&#10;描述已自动生成"/>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52533" y="3665216"/>
            <a:ext cx="3928341" cy="259740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1000" fill="hold"/>
                                        <p:tgtEl>
                                          <p:spTgt spid="7"/>
                                        </p:tgtEl>
                                        <p:attrNameLst>
                                          <p:attrName>ppt_w</p:attrName>
                                        </p:attrNameLst>
                                      </p:cBhvr>
                                      <p:tavLst>
                                        <p:tav tm="0">
                                          <p:val>
                                            <p:fltVal val="0"/>
                                          </p:val>
                                        </p:tav>
                                        <p:tav tm="100000">
                                          <p:val>
                                            <p:strVal val="#ppt_w"/>
                                          </p:val>
                                        </p:tav>
                                      </p:tavLst>
                                    </p:anim>
                                    <p:anim calcmode="lin" valueType="num">
                                      <p:cBhvr>
                                        <p:cTn id="13" dur="1000" fill="hold"/>
                                        <p:tgtEl>
                                          <p:spTgt spid="7"/>
                                        </p:tgtEl>
                                        <p:attrNameLst>
                                          <p:attrName>ppt_h</p:attrName>
                                        </p:attrNameLst>
                                      </p:cBhvr>
                                      <p:tavLst>
                                        <p:tav tm="0">
                                          <p:val>
                                            <p:fltVal val="0"/>
                                          </p:val>
                                        </p:tav>
                                        <p:tav tm="100000">
                                          <p:val>
                                            <p:strVal val="#ppt_h"/>
                                          </p:val>
                                        </p:tav>
                                      </p:tavLst>
                                    </p:anim>
                                    <p:anim calcmode="lin" valueType="num">
                                      <p:cBhvr>
                                        <p:cTn id="14" dur="1000" fill="hold"/>
                                        <p:tgtEl>
                                          <p:spTgt spid="7"/>
                                        </p:tgtEl>
                                        <p:attrNameLst>
                                          <p:attrName>style.rotation</p:attrName>
                                        </p:attrNameLst>
                                      </p:cBhvr>
                                      <p:tavLst>
                                        <p:tav tm="0">
                                          <p:val>
                                            <p:fltVal val="90"/>
                                          </p:val>
                                        </p:tav>
                                        <p:tav tm="100000">
                                          <p:val>
                                            <p:fltVal val="0"/>
                                          </p:val>
                                        </p:tav>
                                      </p:tavLst>
                                    </p:anim>
                                    <p:animEffect transition="in" filter="fade">
                                      <p:cBhvr>
                                        <p:cTn id="15" dur="10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1000"/>
                                        <p:tgtEl>
                                          <p:spTgt spid="5"/>
                                        </p:tgtEl>
                                      </p:cBhvr>
                                    </p:animEffect>
                                    <p:anim calcmode="lin" valueType="num">
                                      <p:cBhvr>
                                        <p:cTn id="21" dur="1000" fill="hold"/>
                                        <p:tgtEl>
                                          <p:spTgt spid="5"/>
                                        </p:tgtEl>
                                        <p:attrNameLst>
                                          <p:attrName>ppt_x</p:attrName>
                                        </p:attrNameLst>
                                      </p:cBhvr>
                                      <p:tavLst>
                                        <p:tav tm="0">
                                          <p:val>
                                            <p:strVal val="#ppt_x"/>
                                          </p:val>
                                        </p:tav>
                                        <p:tav tm="100000">
                                          <p:val>
                                            <p:strVal val="#ppt_x"/>
                                          </p:val>
                                        </p:tav>
                                      </p:tavLst>
                                    </p:anim>
                                    <p:anim calcmode="lin" valueType="num">
                                      <p:cBhvr>
                                        <p:cTn id="2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图片 7" descr="图片包含 日历&#10;&#10;描述已自动生成"/>
          <p:cNvPicPr>
            <a:picLocks noChangeAspect="1"/>
          </p:cNvPicPr>
          <p:nvPr/>
        </p:nvPicPr>
        <p:blipFill rotWithShape="1">
          <a:blip r:embed="rId2">
            <a:extLst>
              <a:ext uri="{28A0092B-C50C-407E-A947-70E740481C1C}">
                <a14:useLocalDpi xmlns:a14="http://schemas.microsoft.com/office/drawing/2010/main" val="0"/>
              </a:ext>
            </a:extLst>
          </a:blip>
          <a:srcRect r="3230"/>
          <a:stretch>
            <a:fillRect/>
          </a:stretch>
        </p:blipFill>
        <p:spPr>
          <a:xfrm>
            <a:off x="20" y="10"/>
            <a:ext cx="4977364" cy="6857990"/>
          </a:xfrm>
          <a:prstGeom prst="rect">
            <a:avLst/>
          </a:prstGeom>
        </p:spPr>
      </p:pic>
      <p:pic>
        <p:nvPicPr>
          <p:cNvPr id="6" name="图片 5" descr="小孩们在吃东西&#10;&#10;描述已自动生成"/>
          <p:cNvPicPr>
            <a:picLocks noChangeAspect="1"/>
          </p:cNvPicPr>
          <p:nvPr/>
        </p:nvPicPr>
        <p:blipFill rotWithShape="1">
          <a:blip r:embed="rId3">
            <a:extLst>
              <a:ext uri="{28A0092B-C50C-407E-A947-70E740481C1C}">
                <a14:useLocalDpi xmlns:a14="http://schemas.microsoft.com/office/drawing/2010/main" val="0"/>
              </a:ext>
            </a:extLst>
          </a:blip>
          <a:srcRect l="14890" r="14888" b="-1"/>
          <a:stretch>
            <a:fillRect/>
          </a:stretch>
        </p:blipFill>
        <p:spPr>
          <a:xfrm>
            <a:off x="4969020" y="0"/>
            <a:ext cx="7214616" cy="6857990"/>
          </a:xfrm>
          <a:prstGeom prst="rect">
            <a:avLst/>
          </a:prstGeom>
        </p:spPr>
      </p:pic>
      <p:sp>
        <p:nvSpPr>
          <p:cNvPr id="24" name="Rectangle 23"/>
          <p:cNvSpPr>
            <a:spLocks noGrp="1" noRot="1" noChangeAspect="1" noMove="1" noResize="1" noEditPoints="1" noAdjustHandles="1" noChangeArrowheads="1" noChangeShapeType="1" noTextEdit="1"/>
          </p:cNvSpPr>
          <p:nvPr/>
        </p:nvSpPr>
        <p:spPr>
          <a:xfrm>
            <a:off x="6096000" y="4218905"/>
            <a:ext cx="5625863" cy="2089317"/>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Rounded Corners 25"/>
          <p:cNvSpPr>
            <a:spLocks noGrp="1" noRot="1" noChangeAspect="1" noMove="1" noResize="1" noEditPoints="1" noAdjustHandles="1" noChangeArrowheads="1" noChangeShapeType="1" noTextEdit="1"/>
          </p:cNvSpPr>
          <p:nvPr/>
        </p:nvSpPr>
        <p:spPr>
          <a:xfrm>
            <a:off x="6505574" y="3876005"/>
            <a:ext cx="484822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文本框 3"/>
          <p:cNvSpPr txBox="1"/>
          <p:nvPr/>
        </p:nvSpPr>
        <p:spPr>
          <a:xfrm>
            <a:off x="5898912" y="4545759"/>
            <a:ext cx="5727030" cy="1435608"/>
          </a:xfrm>
          <a:prstGeom prst="rect">
            <a:avLst/>
          </a:prstGeom>
        </p:spPr>
        <p:txBody>
          <a:bodyPr vert="horz" lIns="91440" tIns="45720" rIns="91440" bIns="45720" rtlCol="0" anchor="ctr">
            <a:noAutofit/>
          </a:bodyPr>
          <a:lstStyle/>
          <a:p>
            <a:pPr indent="-228600" algn="ctr">
              <a:lnSpc>
                <a:spcPct val="90000"/>
              </a:lnSpc>
              <a:spcAft>
                <a:spcPts val="600"/>
              </a:spcAft>
              <a:buFont typeface="Arial" panose="020B0604020202020204" pitchFamily="34" charset="0"/>
              <a:buChar char="•"/>
            </a:pPr>
            <a:br>
              <a:rPr lang="en-US" altLang="zh-CN" sz="2400"/>
            </a:br>
            <a:r>
              <a:rPr lang="en-US" altLang="zh-CN" sz="2400" b="0" i="0">
                <a:effectLst/>
              </a:rPr>
              <a:t>Nevertheless, these objective reasons cannot overshadow the subjective reasons of consumers. Therefore, addressing the issue of food waste requires joint efforts from both consumers and cafeterias.</a:t>
            </a:r>
            <a:endParaRPr lang="en-US" altLang="zh-CN" sz="24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形 7"/>
          <p:cNvPicPr>
            <a:picLocks noChangeAspect="1"/>
          </p:cNvPicPr>
          <p:nvPr/>
        </p:nvPicPr>
        <p:blipFill>
          <a:blip r:embed="rId3"/>
          <a:stretch>
            <a:fillRect/>
          </a:stretch>
        </p:blipFill>
        <p:spPr>
          <a:xfrm>
            <a:off x="9917151" y="251019"/>
            <a:ext cx="1992352" cy="552566"/>
          </a:xfrm>
          <a:prstGeom prst="rect">
            <a:avLst/>
          </a:prstGeom>
        </p:spPr>
      </p:pic>
      <p:sp>
        <p:nvSpPr>
          <p:cNvPr id="12" name="文本框 11"/>
          <p:cNvSpPr txBox="1"/>
          <p:nvPr/>
        </p:nvSpPr>
        <p:spPr>
          <a:xfrm>
            <a:off x="0" y="2258060"/>
            <a:ext cx="12237720" cy="1322070"/>
          </a:xfrm>
          <a:prstGeom prst="rect">
            <a:avLst/>
          </a:prstGeom>
          <a:noFill/>
        </p:spPr>
        <p:txBody>
          <a:bodyPr wrap="square" rtlCol="0">
            <a:spAutoFit/>
          </a:bodyPr>
          <a:lstStyle/>
          <a:p>
            <a:pPr algn="ctr"/>
            <a:r>
              <a:rPr lang="zh-CN" altLang="en-US" sz="8000" b="1" dirty="0">
                <a:solidFill>
                  <a:schemeClr val="tx1"/>
                </a:solidFill>
                <a:latin typeface="微软雅黑" panose="020B0503020204020204" pitchFamily="34" charset="-122"/>
                <a:ea typeface="微软雅黑" panose="020B0503020204020204" pitchFamily="34" charset="-122"/>
                <a:sym typeface="Arial Narrow" panose="020B0606020202030204" pitchFamily="34" charset="0"/>
              </a:rPr>
              <a:t>Discuss strategies</a:t>
            </a:r>
          </a:p>
        </p:txBody>
      </p:sp>
      <p:pic>
        <p:nvPicPr>
          <p:cNvPr id="13" name="图片 12"/>
          <p:cNvPicPr>
            <a:picLocks noChangeAspect="1"/>
          </p:cNvPicPr>
          <p:nvPr/>
        </p:nvPicPr>
        <p:blipFill rotWithShape="1">
          <a:blip r:embed="rId4" cstate="print"/>
          <a:srcRect/>
          <a:stretch>
            <a:fillRect/>
          </a:stretch>
        </p:blipFill>
        <p:spPr>
          <a:xfrm>
            <a:off x="0" y="3750698"/>
            <a:ext cx="12191999" cy="3094308"/>
          </a:xfrm>
          <a:prstGeom prst="rect">
            <a:avLst/>
          </a:prstGeom>
        </p:spPr>
      </p:pic>
      <p:sp>
        <p:nvSpPr>
          <p:cNvPr id="14" name="矩形 13"/>
          <p:cNvSpPr/>
          <p:nvPr/>
        </p:nvSpPr>
        <p:spPr>
          <a:xfrm>
            <a:off x="-1" y="3750698"/>
            <a:ext cx="12191999" cy="3094308"/>
          </a:xfrm>
          <a:prstGeom prst="rect">
            <a:avLst/>
          </a:prstGeom>
          <a:solidFill>
            <a:schemeClr val="tx2">
              <a:lumMod val="60000"/>
              <a:lumOff val="40000"/>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Narrow" panose="020B0606020202030204" pitchFamily="34" charset="0"/>
              <a:ea typeface="汉仪润圆-45简" panose="00020600040101010101" pitchFamily="18" charset="-122"/>
              <a:sym typeface="Arial Narrow" panose="020B060602020203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481471" y="785000"/>
            <a:ext cx="9144000" cy="869470"/>
          </a:xfrm>
        </p:spPr>
        <p:txBody>
          <a:bodyPr>
            <a:normAutofit fontScale="90000"/>
          </a:bodyPr>
          <a:lstStyle/>
          <a:p>
            <a:r>
              <a:rPr lang="en-US" altLang="zh-CN" sz="5400" b="1" dirty="0">
                <a:ln w="22225">
                  <a:solidFill>
                    <a:schemeClr val="accent2"/>
                  </a:solidFill>
                  <a:prstDash val="solid"/>
                </a:ln>
                <a:solidFill>
                  <a:schemeClr val="accent2">
                    <a:lumMod val="40000"/>
                    <a:lumOff val="60000"/>
                  </a:schemeClr>
                </a:solidFill>
                <a:latin typeface="Söhne"/>
                <a:ea typeface="+mn-ea"/>
                <a:cs typeface="+mn-cs"/>
              </a:rPr>
              <a:t>How to deal with the Food Waste</a:t>
            </a:r>
            <a:endParaRPr lang="zh-CN" altLang="en-US" sz="5400" b="1" dirty="0">
              <a:ln w="22225">
                <a:solidFill>
                  <a:schemeClr val="accent2"/>
                </a:solidFill>
                <a:prstDash val="solid"/>
              </a:ln>
              <a:solidFill>
                <a:schemeClr val="accent2">
                  <a:lumMod val="40000"/>
                  <a:lumOff val="60000"/>
                </a:schemeClr>
              </a:solidFill>
              <a:latin typeface="Söhne"/>
              <a:ea typeface="+mn-ea"/>
              <a:cs typeface="+mn-cs"/>
            </a:endParaRPr>
          </a:p>
        </p:txBody>
      </p:sp>
      <p:sp>
        <p:nvSpPr>
          <p:cNvPr id="3" name="副标题 2"/>
          <p:cNvSpPr>
            <a:spLocks noGrp="1"/>
          </p:cNvSpPr>
          <p:nvPr>
            <p:ph type="subTitle" idx="1"/>
          </p:nvPr>
        </p:nvSpPr>
        <p:spPr>
          <a:xfrm>
            <a:off x="1063255" y="2470298"/>
            <a:ext cx="4437321" cy="2527005"/>
          </a:xfrm>
        </p:spPr>
        <p:txBody>
          <a:bodyPr>
            <a:normAutofit/>
          </a:bodyPr>
          <a:lstStyle/>
          <a:p>
            <a:r>
              <a:rPr lang="en-US" altLang="zh-CN" dirty="0">
                <a:latin typeface="Eras Bold ITC" panose="020B0907030504020204" pitchFamily="34" charset="0"/>
              </a:rPr>
              <a:t>Now we have learnt about some reasons why the food waste is popular </a:t>
            </a:r>
          </a:p>
          <a:p>
            <a:endParaRPr lang="en-US" altLang="zh-CN" dirty="0">
              <a:latin typeface="Eras Bold ITC" panose="020B0907030504020204" pitchFamily="34" charset="0"/>
            </a:endParaRPr>
          </a:p>
          <a:p>
            <a:r>
              <a:rPr lang="en-US" altLang="zh-CN" dirty="0">
                <a:latin typeface="Eras Bold ITC" panose="020B0907030504020204" pitchFamily="34" charset="0"/>
              </a:rPr>
              <a:t>And we should also know how to tackle this problem</a:t>
            </a:r>
            <a:endParaRPr lang="zh-CN" altLang="en-US" dirty="0">
              <a:latin typeface="Eras Bold ITC" panose="020B0907030504020204" pitchFamily="34" charset="0"/>
            </a:endParaRPr>
          </a:p>
        </p:txBody>
      </p:sp>
      <p:pic>
        <p:nvPicPr>
          <p:cNvPr id="5" name="图片 4" descr="男子的脸部特写与图片配字&#10;&#10;中度可信度描述已自动生成"/>
          <p:cNvPicPr>
            <a:picLocks noChangeAspect="1"/>
          </p:cNvPicPr>
          <p:nvPr/>
        </p:nvPicPr>
        <p:blipFill rotWithShape="1">
          <a:blip r:embed="rId2">
            <a:extLst>
              <a:ext uri="{28A0092B-C50C-407E-A947-70E740481C1C}">
                <a14:useLocalDpi xmlns:a14="http://schemas.microsoft.com/office/drawing/2010/main" val="0"/>
              </a:ext>
            </a:extLst>
          </a:blip>
          <a:srcRect b="22894"/>
          <a:stretch>
            <a:fillRect/>
          </a:stretch>
        </p:blipFill>
        <p:spPr>
          <a:xfrm>
            <a:off x="6344092" y="2143813"/>
            <a:ext cx="5167423" cy="409106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09182"/>
            <a:ext cx="7923028" cy="726484"/>
          </a:xfrm>
        </p:spPr>
        <p:txBody>
          <a:bodyPr>
            <a:normAutofit/>
          </a:bodyPr>
          <a:lstStyle/>
          <a:p>
            <a:pPr marL="457200" indent="-457200">
              <a:buFont typeface="Arial" panose="020B0604020202020204" pitchFamily="34" charset="0"/>
              <a:buChar char="•"/>
            </a:pPr>
            <a:r>
              <a:rPr lang="en-US" altLang="zh-CN" sz="2800" dirty="0">
                <a:latin typeface="Arial Black" panose="020B0A04020102020204" pitchFamily="34" charset="0"/>
              </a:rPr>
              <a:t>Propagate the severity of food waste</a:t>
            </a:r>
            <a:endParaRPr lang="zh-CN" altLang="en-US" sz="2800" dirty="0">
              <a:latin typeface="Arial Black" panose="020B0A04020102020204" pitchFamily="34" charset="0"/>
            </a:endParaRPr>
          </a:p>
        </p:txBody>
      </p:sp>
      <p:pic>
        <p:nvPicPr>
          <p:cNvPr id="5" name="内容占位符 4" descr="卖水果的蔬菜&#10;&#10;描述已自动生成"/>
          <p:cNvPicPr>
            <a:picLocks noGrp="1" noChangeAspect="1"/>
          </p:cNvPicPr>
          <p:nvPr>
            <p:ph idx="1"/>
          </p:nvPr>
        </p:nvPicPr>
        <p:blipFill rotWithShape="1">
          <a:blip r:embed="rId2">
            <a:extLst>
              <a:ext uri="{28A0092B-C50C-407E-A947-70E740481C1C}">
                <a14:useLocalDpi xmlns:a14="http://schemas.microsoft.com/office/drawing/2010/main" val="0"/>
              </a:ext>
            </a:extLst>
          </a:blip>
          <a:srcRect r="7200" b="14099"/>
          <a:stretch>
            <a:fillRect/>
          </a:stretch>
        </p:blipFill>
        <p:spPr>
          <a:xfrm>
            <a:off x="516325" y="1541128"/>
            <a:ext cx="3011783" cy="1963058"/>
          </a:xfrm>
        </p:spPr>
      </p:pic>
      <p:sp>
        <p:nvSpPr>
          <p:cNvPr id="6" name="文本框 5"/>
          <p:cNvSpPr txBox="1"/>
          <p:nvPr/>
        </p:nvSpPr>
        <p:spPr>
          <a:xfrm>
            <a:off x="4274288" y="1356462"/>
            <a:ext cx="4230645" cy="369332"/>
          </a:xfrm>
          <a:prstGeom prst="rect">
            <a:avLst/>
          </a:prstGeom>
          <a:noFill/>
        </p:spPr>
        <p:txBody>
          <a:bodyPr wrap="none" rtlCol="0">
            <a:spAutoFit/>
          </a:bodyPr>
          <a:lstStyle/>
          <a:p>
            <a:r>
              <a:rPr lang="en-US" altLang="zh-CN" dirty="0"/>
              <a:t>Make people realize the serious situation</a:t>
            </a:r>
            <a:endParaRPr lang="zh-CN" altLang="en-US" dirty="0"/>
          </a:p>
        </p:txBody>
      </p:sp>
      <p:pic>
        <p:nvPicPr>
          <p:cNvPr id="7" name="图片 6"/>
          <p:cNvPicPr>
            <a:picLocks noChangeAspect="1"/>
          </p:cNvPicPr>
          <p:nvPr/>
        </p:nvPicPr>
        <p:blipFill>
          <a:blip r:embed="rId3"/>
          <a:stretch>
            <a:fillRect/>
          </a:stretch>
        </p:blipFill>
        <p:spPr>
          <a:xfrm>
            <a:off x="516324" y="4284492"/>
            <a:ext cx="3011783" cy="2064760"/>
          </a:xfrm>
          <a:prstGeom prst="rect">
            <a:avLst/>
          </a:prstGeom>
        </p:spPr>
      </p:pic>
      <p:graphicFrame>
        <p:nvGraphicFramePr>
          <p:cNvPr id="8" name="object 3"/>
          <p:cNvGraphicFramePr>
            <a:graphicFrameLocks noGrp="1"/>
          </p:cNvGraphicFramePr>
          <p:nvPr/>
        </p:nvGraphicFramePr>
        <p:xfrm>
          <a:off x="4274288" y="2870791"/>
          <a:ext cx="7067107" cy="3233436"/>
        </p:xfrm>
        <a:graphic>
          <a:graphicData uri="http://schemas.openxmlformats.org/drawingml/2006/table">
            <a:tbl>
              <a:tblPr firstRow="1" bandRow="1">
                <a:tableStyleId>{2D5ABB26-0587-4C30-8999-92F81FD0307C}</a:tableStyleId>
              </a:tblPr>
              <a:tblGrid>
                <a:gridCol w="762412">
                  <a:extLst>
                    <a:ext uri="{9D8B030D-6E8A-4147-A177-3AD203B41FA5}">
                      <a16:colId xmlns:a16="http://schemas.microsoft.com/office/drawing/2014/main" val="20000"/>
                    </a:ext>
                  </a:extLst>
                </a:gridCol>
                <a:gridCol w="2101565">
                  <a:extLst>
                    <a:ext uri="{9D8B030D-6E8A-4147-A177-3AD203B41FA5}">
                      <a16:colId xmlns:a16="http://schemas.microsoft.com/office/drawing/2014/main" val="20001"/>
                    </a:ext>
                  </a:extLst>
                </a:gridCol>
                <a:gridCol w="2101565">
                  <a:extLst>
                    <a:ext uri="{9D8B030D-6E8A-4147-A177-3AD203B41FA5}">
                      <a16:colId xmlns:a16="http://schemas.microsoft.com/office/drawing/2014/main" val="20002"/>
                    </a:ext>
                  </a:extLst>
                </a:gridCol>
                <a:gridCol w="2101565">
                  <a:extLst>
                    <a:ext uri="{9D8B030D-6E8A-4147-A177-3AD203B41FA5}">
                      <a16:colId xmlns:a16="http://schemas.microsoft.com/office/drawing/2014/main" val="20003"/>
                    </a:ext>
                  </a:extLst>
                </a:gridCol>
              </a:tblGrid>
              <a:tr h="587422">
                <a:tc>
                  <a:txBody>
                    <a:bodyPr/>
                    <a:lstStyle/>
                    <a:p>
                      <a:pPr marL="154940">
                        <a:lnSpc>
                          <a:spcPts val="1040"/>
                        </a:lnSpc>
                        <a:spcBef>
                          <a:spcPts val="340"/>
                        </a:spcBef>
                      </a:pPr>
                      <a:r>
                        <a:rPr sz="900" spc="-25" dirty="0">
                          <a:latin typeface="Arial" panose="020B0604020202020204"/>
                          <a:cs typeface="Arial" panose="020B0604020202020204"/>
                        </a:rPr>
                        <a:t>M49</a:t>
                      </a:r>
                      <a:endParaRPr sz="900" dirty="0">
                        <a:latin typeface="Arial" panose="020B0604020202020204"/>
                        <a:cs typeface="Arial" panose="020B0604020202020204"/>
                      </a:endParaRPr>
                    </a:p>
                    <a:p>
                      <a:pPr marL="125730">
                        <a:lnSpc>
                          <a:spcPts val="1040"/>
                        </a:lnSpc>
                      </a:pPr>
                      <a:r>
                        <a:rPr sz="900" spc="-10" dirty="0">
                          <a:latin typeface="Arial" panose="020B0604020202020204"/>
                          <a:cs typeface="Arial" panose="020B0604020202020204"/>
                        </a:rPr>
                        <a:t>code</a:t>
                      </a:r>
                      <a:r>
                        <a:rPr sz="750" spc="-15" baseline="33000" dirty="0">
                          <a:latin typeface="Arial" panose="020B0604020202020204"/>
                          <a:cs typeface="Arial" panose="020B0604020202020204"/>
                        </a:rPr>
                        <a:t>1</a:t>
                      </a:r>
                      <a:endParaRPr sz="750" baseline="33000" dirty="0">
                        <a:latin typeface="Arial" panose="020B0604020202020204"/>
                        <a:cs typeface="Arial" panose="020B0604020202020204"/>
                      </a:endParaRPr>
                    </a:p>
                  </a:txBody>
                  <a:tcPr marL="0" marR="0" marT="43180" marB="0">
                    <a:lnL w="6350">
                      <a:solidFill>
                        <a:srgbClr val="535049"/>
                      </a:solidFill>
                      <a:prstDash val="solid"/>
                    </a:lnL>
                    <a:lnR w="6350">
                      <a:solidFill>
                        <a:srgbClr val="535049"/>
                      </a:solidFill>
                      <a:prstDash val="solid"/>
                    </a:lnR>
                    <a:lnT w="6350">
                      <a:solidFill>
                        <a:srgbClr val="535049"/>
                      </a:solidFill>
                      <a:prstDash val="solid"/>
                    </a:lnT>
                    <a:lnB w="6350">
                      <a:solidFill>
                        <a:srgbClr val="535049"/>
                      </a:solidFill>
                      <a:prstDash val="solid"/>
                    </a:lnB>
                  </a:tcPr>
                </a:tc>
                <a:tc>
                  <a:txBody>
                    <a:bodyPr/>
                    <a:lstStyle/>
                    <a:p>
                      <a:pPr algn="ctr">
                        <a:lnSpc>
                          <a:spcPct val="100000"/>
                        </a:lnSpc>
                        <a:spcBef>
                          <a:spcPts val="840"/>
                        </a:spcBef>
                      </a:pPr>
                      <a:r>
                        <a:rPr sz="900" spc="-10" dirty="0">
                          <a:latin typeface="Arial" panose="020B0604020202020204"/>
                          <a:cs typeface="Arial" panose="020B0604020202020204"/>
                        </a:rPr>
                        <a:t>Country</a:t>
                      </a:r>
                      <a:endParaRPr sz="900">
                        <a:latin typeface="Arial" panose="020B0604020202020204"/>
                        <a:cs typeface="Arial" panose="020B0604020202020204"/>
                      </a:endParaRPr>
                    </a:p>
                  </a:txBody>
                  <a:tcPr marL="0" marR="0" marT="106680" marB="0">
                    <a:lnL w="6350">
                      <a:solidFill>
                        <a:srgbClr val="535049"/>
                      </a:solidFill>
                      <a:prstDash val="solid"/>
                    </a:lnL>
                    <a:lnR w="6350">
                      <a:solidFill>
                        <a:srgbClr val="535049"/>
                      </a:solidFill>
                      <a:prstDash val="solid"/>
                    </a:lnR>
                    <a:lnT w="6350">
                      <a:solidFill>
                        <a:srgbClr val="535049"/>
                      </a:solidFill>
                      <a:prstDash val="solid"/>
                    </a:lnT>
                    <a:lnB w="6350">
                      <a:solidFill>
                        <a:srgbClr val="535049"/>
                      </a:solidFill>
                      <a:prstDash val="solid"/>
                    </a:lnB>
                  </a:tcPr>
                </a:tc>
                <a:tc>
                  <a:txBody>
                    <a:bodyPr/>
                    <a:lstStyle/>
                    <a:p>
                      <a:pPr marL="86360" marR="78740" indent="76835">
                        <a:lnSpc>
                          <a:spcPts val="1000"/>
                        </a:lnSpc>
                        <a:spcBef>
                          <a:spcPts val="440"/>
                        </a:spcBef>
                      </a:pPr>
                      <a:r>
                        <a:rPr sz="900" dirty="0">
                          <a:latin typeface="Arial" panose="020B0604020202020204"/>
                          <a:cs typeface="Arial" panose="020B0604020202020204"/>
                        </a:rPr>
                        <a:t>Household</a:t>
                      </a:r>
                      <a:r>
                        <a:rPr sz="900" spc="55" dirty="0">
                          <a:latin typeface="Arial" panose="020B0604020202020204"/>
                          <a:cs typeface="Arial" panose="020B0604020202020204"/>
                        </a:rPr>
                        <a:t> </a:t>
                      </a:r>
                      <a:r>
                        <a:rPr sz="900" dirty="0">
                          <a:latin typeface="Arial" panose="020B0604020202020204"/>
                          <a:cs typeface="Arial" panose="020B0604020202020204"/>
                        </a:rPr>
                        <a:t>food</a:t>
                      </a:r>
                      <a:r>
                        <a:rPr sz="900" spc="55" dirty="0">
                          <a:latin typeface="Arial" panose="020B0604020202020204"/>
                          <a:cs typeface="Arial" panose="020B0604020202020204"/>
                        </a:rPr>
                        <a:t> </a:t>
                      </a:r>
                      <a:r>
                        <a:rPr sz="900" spc="-20" dirty="0">
                          <a:latin typeface="Arial" panose="020B0604020202020204"/>
                          <a:cs typeface="Arial" panose="020B0604020202020204"/>
                        </a:rPr>
                        <a:t>waste </a:t>
                      </a:r>
                      <a:r>
                        <a:rPr sz="900" dirty="0">
                          <a:latin typeface="Arial" panose="020B0604020202020204"/>
                          <a:cs typeface="Arial" panose="020B0604020202020204"/>
                        </a:rPr>
                        <a:t>estimate</a:t>
                      </a:r>
                      <a:r>
                        <a:rPr sz="900" spc="90" dirty="0">
                          <a:latin typeface="Arial" panose="020B0604020202020204"/>
                          <a:cs typeface="Arial" panose="020B0604020202020204"/>
                        </a:rPr>
                        <a:t> </a:t>
                      </a:r>
                      <a:r>
                        <a:rPr sz="900" spc="-10" dirty="0">
                          <a:latin typeface="Arial" panose="020B0604020202020204"/>
                          <a:cs typeface="Arial" panose="020B0604020202020204"/>
                        </a:rPr>
                        <a:t>(kg/capita/year)</a:t>
                      </a:r>
                      <a:endParaRPr sz="900">
                        <a:latin typeface="Arial" panose="020B0604020202020204"/>
                        <a:cs typeface="Arial" panose="020B0604020202020204"/>
                      </a:endParaRPr>
                    </a:p>
                  </a:txBody>
                  <a:tcPr marL="0" marR="0" marT="55880" marB="0">
                    <a:lnL w="6350">
                      <a:solidFill>
                        <a:srgbClr val="535049"/>
                      </a:solidFill>
                      <a:prstDash val="solid"/>
                    </a:lnL>
                    <a:lnR w="6350">
                      <a:solidFill>
                        <a:srgbClr val="535049"/>
                      </a:solidFill>
                      <a:prstDash val="solid"/>
                    </a:lnR>
                    <a:lnT w="6350">
                      <a:solidFill>
                        <a:srgbClr val="535049"/>
                      </a:solidFill>
                      <a:prstDash val="solid"/>
                    </a:lnT>
                    <a:lnB w="6350">
                      <a:solidFill>
                        <a:srgbClr val="535049"/>
                      </a:solidFill>
                      <a:prstDash val="solid"/>
                    </a:lnB>
                  </a:tcPr>
                </a:tc>
                <a:tc>
                  <a:txBody>
                    <a:bodyPr/>
                    <a:lstStyle/>
                    <a:p>
                      <a:pPr marL="155575" marR="148590" indent="6985">
                        <a:lnSpc>
                          <a:spcPts val="1000"/>
                        </a:lnSpc>
                        <a:spcBef>
                          <a:spcPts val="440"/>
                        </a:spcBef>
                      </a:pPr>
                      <a:r>
                        <a:rPr sz="900" dirty="0">
                          <a:latin typeface="Arial" panose="020B0604020202020204"/>
                          <a:cs typeface="Arial" panose="020B0604020202020204"/>
                        </a:rPr>
                        <a:t>Household</a:t>
                      </a:r>
                      <a:r>
                        <a:rPr sz="900" spc="55" dirty="0">
                          <a:latin typeface="Arial" panose="020B0604020202020204"/>
                          <a:cs typeface="Arial" panose="020B0604020202020204"/>
                        </a:rPr>
                        <a:t> </a:t>
                      </a:r>
                      <a:r>
                        <a:rPr sz="900" dirty="0">
                          <a:latin typeface="Arial" panose="020B0604020202020204"/>
                          <a:cs typeface="Arial" panose="020B0604020202020204"/>
                        </a:rPr>
                        <a:t>food</a:t>
                      </a:r>
                      <a:r>
                        <a:rPr sz="900" spc="55" dirty="0">
                          <a:latin typeface="Arial" panose="020B0604020202020204"/>
                          <a:cs typeface="Arial" panose="020B0604020202020204"/>
                        </a:rPr>
                        <a:t> </a:t>
                      </a:r>
                      <a:r>
                        <a:rPr sz="900" spc="-20" dirty="0">
                          <a:latin typeface="Arial" panose="020B0604020202020204"/>
                          <a:cs typeface="Arial" panose="020B0604020202020204"/>
                        </a:rPr>
                        <a:t>waste </a:t>
                      </a:r>
                      <a:r>
                        <a:rPr sz="900" dirty="0">
                          <a:latin typeface="Arial" panose="020B0604020202020204"/>
                          <a:cs typeface="Arial" panose="020B0604020202020204"/>
                        </a:rPr>
                        <a:t>estimate</a:t>
                      </a:r>
                      <a:r>
                        <a:rPr sz="900" spc="90" dirty="0">
                          <a:latin typeface="Arial" panose="020B0604020202020204"/>
                          <a:cs typeface="Arial" panose="020B0604020202020204"/>
                        </a:rPr>
                        <a:t> </a:t>
                      </a:r>
                      <a:r>
                        <a:rPr sz="900" spc="-10" dirty="0">
                          <a:latin typeface="Arial" panose="020B0604020202020204"/>
                          <a:cs typeface="Arial" panose="020B0604020202020204"/>
                        </a:rPr>
                        <a:t>(tonnes/year)</a:t>
                      </a:r>
                      <a:endParaRPr sz="900">
                        <a:latin typeface="Arial" panose="020B0604020202020204"/>
                        <a:cs typeface="Arial" panose="020B0604020202020204"/>
                      </a:endParaRPr>
                    </a:p>
                  </a:txBody>
                  <a:tcPr marL="0" marR="0" marT="55880" marB="0">
                    <a:lnL w="6350">
                      <a:solidFill>
                        <a:srgbClr val="535049"/>
                      </a:solidFill>
                      <a:prstDash val="solid"/>
                    </a:lnL>
                    <a:lnR w="6350">
                      <a:solidFill>
                        <a:srgbClr val="535049"/>
                      </a:solidFill>
                      <a:prstDash val="solid"/>
                    </a:lnR>
                    <a:lnT w="6350">
                      <a:solidFill>
                        <a:srgbClr val="535049"/>
                      </a:solidFill>
                      <a:prstDash val="solid"/>
                    </a:lnT>
                    <a:lnB w="6350">
                      <a:solidFill>
                        <a:srgbClr val="535049"/>
                      </a:solidFill>
                      <a:prstDash val="solid"/>
                    </a:lnB>
                  </a:tcPr>
                </a:tc>
                <a:extLst>
                  <a:ext uri="{0D108BD9-81ED-4DB2-BD59-A6C34878D82A}">
                    <a16:rowId xmlns:a16="http://schemas.microsoft.com/office/drawing/2014/main" val="10000"/>
                  </a:ext>
                </a:extLst>
              </a:tr>
              <a:tr h="378002">
                <a:tc>
                  <a:txBody>
                    <a:bodyPr/>
                    <a:lstStyle/>
                    <a:p>
                      <a:pPr algn="ctr">
                        <a:lnSpc>
                          <a:spcPct val="100000"/>
                        </a:lnSpc>
                        <a:spcBef>
                          <a:spcPts val="340"/>
                        </a:spcBef>
                      </a:pPr>
                      <a:r>
                        <a:rPr sz="900" spc="-25" dirty="0">
                          <a:latin typeface="Arial" panose="020B0604020202020204"/>
                          <a:cs typeface="Arial" panose="020B0604020202020204"/>
                        </a:rPr>
                        <a:t>156</a:t>
                      </a:r>
                      <a:endParaRPr sz="900">
                        <a:latin typeface="Arial" panose="020B0604020202020204"/>
                        <a:cs typeface="Arial" panose="020B0604020202020204"/>
                      </a:endParaRPr>
                    </a:p>
                  </a:txBody>
                  <a:tcPr marL="0" marR="0" marT="43180" marB="0">
                    <a:lnL w="6350">
                      <a:solidFill>
                        <a:srgbClr val="535049"/>
                      </a:solidFill>
                      <a:prstDash val="solid"/>
                    </a:lnL>
                    <a:lnR w="6350">
                      <a:solidFill>
                        <a:srgbClr val="535049"/>
                      </a:solidFill>
                      <a:prstDash val="solid"/>
                    </a:lnR>
                    <a:lnT w="6350">
                      <a:solidFill>
                        <a:srgbClr val="535049"/>
                      </a:solidFill>
                      <a:prstDash val="solid"/>
                    </a:lnT>
                    <a:lnB w="6350">
                      <a:solidFill>
                        <a:srgbClr val="535049"/>
                      </a:solidFill>
                      <a:prstDash val="solid"/>
                    </a:lnB>
                    <a:solidFill>
                      <a:srgbClr val="DDE9BA"/>
                    </a:solidFill>
                  </a:tcPr>
                </a:tc>
                <a:tc>
                  <a:txBody>
                    <a:bodyPr/>
                    <a:lstStyle/>
                    <a:p>
                      <a:pPr marL="635" algn="ctr">
                        <a:lnSpc>
                          <a:spcPct val="100000"/>
                        </a:lnSpc>
                        <a:spcBef>
                          <a:spcPts val="340"/>
                        </a:spcBef>
                      </a:pPr>
                      <a:r>
                        <a:rPr sz="900" spc="-10" dirty="0">
                          <a:latin typeface="Arial" panose="020B0604020202020204"/>
                          <a:cs typeface="Arial" panose="020B0604020202020204"/>
                        </a:rPr>
                        <a:t>China</a:t>
                      </a:r>
                      <a:endParaRPr sz="900" dirty="0">
                        <a:latin typeface="Arial" panose="020B0604020202020204"/>
                        <a:cs typeface="Arial" panose="020B0604020202020204"/>
                      </a:endParaRPr>
                    </a:p>
                  </a:txBody>
                  <a:tcPr marL="0" marR="0" marT="43180" marB="0">
                    <a:lnL w="6350">
                      <a:solidFill>
                        <a:srgbClr val="535049"/>
                      </a:solidFill>
                      <a:prstDash val="solid"/>
                    </a:lnL>
                    <a:lnR w="6350">
                      <a:solidFill>
                        <a:srgbClr val="535049"/>
                      </a:solidFill>
                      <a:prstDash val="solid"/>
                    </a:lnR>
                    <a:lnT w="6350">
                      <a:solidFill>
                        <a:srgbClr val="535049"/>
                      </a:solidFill>
                      <a:prstDash val="solid"/>
                    </a:lnT>
                    <a:lnB w="6350">
                      <a:solidFill>
                        <a:srgbClr val="535049"/>
                      </a:solidFill>
                      <a:prstDash val="solid"/>
                    </a:lnB>
                    <a:solidFill>
                      <a:srgbClr val="DDE9BA"/>
                    </a:solidFill>
                  </a:tcPr>
                </a:tc>
                <a:tc>
                  <a:txBody>
                    <a:bodyPr/>
                    <a:lstStyle/>
                    <a:p>
                      <a:pPr marL="3175" algn="ctr">
                        <a:lnSpc>
                          <a:spcPct val="100000"/>
                        </a:lnSpc>
                        <a:spcBef>
                          <a:spcPts val="340"/>
                        </a:spcBef>
                      </a:pPr>
                      <a:r>
                        <a:rPr sz="900" spc="-25" dirty="0">
                          <a:latin typeface="Arial" panose="020B0604020202020204"/>
                          <a:cs typeface="Arial" panose="020B0604020202020204"/>
                        </a:rPr>
                        <a:t>64</a:t>
                      </a:r>
                      <a:endParaRPr sz="900">
                        <a:latin typeface="Arial" panose="020B0604020202020204"/>
                        <a:cs typeface="Arial" panose="020B0604020202020204"/>
                      </a:endParaRPr>
                    </a:p>
                  </a:txBody>
                  <a:tcPr marL="0" marR="0" marT="43180" marB="0">
                    <a:lnL w="6350">
                      <a:solidFill>
                        <a:srgbClr val="535049"/>
                      </a:solidFill>
                      <a:prstDash val="solid"/>
                    </a:lnL>
                    <a:lnR w="6350">
                      <a:solidFill>
                        <a:srgbClr val="535049"/>
                      </a:solidFill>
                      <a:prstDash val="solid"/>
                    </a:lnR>
                    <a:lnT w="6350">
                      <a:solidFill>
                        <a:srgbClr val="535049"/>
                      </a:solidFill>
                      <a:prstDash val="solid"/>
                    </a:lnT>
                    <a:lnB w="6350">
                      <a:solidFill>
                        <a:srgbClr val="535049"/>
                      </a:solidFill>
                      <a:prstDash val="solid"/>
                    </a:lnB>
                    <a:solidFill>
                      <a:srgbClr val="DDE9BA"/>
                    </a:solidFill>
                  </a:tcPr>
                </a:tc>
                <a:tc>
                  <a:txBody>
                    <a:bodyPr/>
                    <a:lstStyle/>
                    <a:p>
                      <a:pPr algn="ctr">
                        <a:lnSpc>
                          <a:spcPct val="100000"/>
                        </a:lnSpc>
                        <a:spcBef>
                          <a:spcPts val="340"/>
                        </a:spcBef>
                      </a:pPr>
                      <a:r>
                        <a:rPr sz="900" dirty="0">
                          <a:latin typeface="Arial" panose="020B0604020202020204"/>
                          <a:cs typeface="Arial" panose="020B0604020202020204"/>
                        </a:rPr>
                        <a:t>91</a:t>
                      </a:r>
                      <a:r>
                        <a:rPr sz="900" spc="-5" dirty="0">
                          <a:latin typeface="Arial" panose="020B0604020202020204"/>
                          <a:cs typeface="Arial" panose="020B0604020202020204"/>
                        </a:rPr>
                        <a:t> </a:t>
                      </a:r>
                      <a:r>
                        <a:rPr sz="900" dirty="0">
                          <a:latin typeface="Arial" panose="020B0604020202020204"/>
                          <a:cs typeface="Arial" panose="020B0604020202020204"/>
                        </a:rPr>
                        <a:t>646</a:t>
                      </a:r>
                      <a:r>
                        <a:rPr sz="900" spc="-5" dirty="0">
                          <a:latin typeface="Arial" panose="020B0604020202020204"/>
                          <a:cs typeface="Arial" panose="020B0604020202020204"/>
                        </a:rPr>
                        <a:t> </a:t>
                      </a:r>
                      <a:r>
                        <a:rPr sz="900" spc="-25" dirty="0">
                          <a:latin typeface="Arial" panose="020B0604020202020204"/>
                          <a:cs typeface="Arial" panose="020B0604020202020204"/>
                        </a:rPr>
                        <a:t>213</a:t>
                      </a:r>
                      <a:endParaRPr sz="900">
                        <a:latin typeface="Arial" panose="020B0604020202020204"/>
                        <a:cs typeface="Arial" panose="020B0604020202020204"/>
                      </a:endParaRPr>
                    </a:p>
                  </a:txBody>
                  <a:tcPr marL="0" marR="0" marT="43180" marB="0">
                    <a:lnL w="6350">
                      <a:solidFill>
                        <a:srgbClr val="535049"/>
                      </a:solidFill>
                      <a:prstDash val="solid"/>
                    </a:lnL>
                    <a:lnR w="6350">
                      <a:solidFill>
                        <a:srgbClr val="535049"/>
                      </a:solidFill>
                      <a:prstDash val="solid"/>
                    </a:lnR>
                    <a:lnT w="6350">
                      <a:solidFill>
                        <a:srgbClr val="535049"/>
                      </a:solidFill>
                      <a:prstDash val="solid"/>
                    </a:lnT>
                    <a:lnB w="6350">
                      <a:solidFill>
                        <a:srgbClr val="535049"/>
                      </a:solidFill>
                      <a:prstDash val="solid"/>
                    </a:lnB>
                    <a:solidFill>
                      <a:srgbClr val="DDE9BA"/>
                    </a:solidFill>
                  </a:tcPr>
                </a:tc>
                <a:extLst>
                  <a:ext uri="{0D108BD9-81ED-4DB2-BD59-A6C34878D82A}">
                    <a16:rowId xmlns:a16="http://schemas.microsoft.com/office/drawing/2014/main" val="10001"/>
                  </a:ext>
                </a:extLst>
              </a:tr>
              <a:tr h="378002">
                <a:tc>
                  <a:txBody>
                    <a:bodyPr/>
                    <a:lstStyle/>
                    <a:p>
                      <a:pPr algn="ctr">
                        <a:lnSpc>
                          <a:spcPct val="100000"/>
                        </a:lnSpc>
                        <a:spcBef>
                          <a:spcPts val="340"/>
                        </a:spcBef>
                      </a:pPr>
                      <a:r>
                        <a:rPr sz="900" spc="-25" dirty="0">
                          <a:latin typeface="Arial" panose="020B0604020202020204"/>
                          <a:cs typeface="Arial" panose="020B0604020202020204"/>
                        </a:rPr>
                        <a:t>344</a:t>
                      </a:r>
                      <a:endParaRPr sz="900">
                        <a:latin typeface="Arial" panose="020B0604020202020204"/>
                        <a:cs typeface="Arial" panose="020B0604020202020204"/>
                      </a:endParaRPr>
                    </a:p>
                  </a:txBody>
                  <a:tcPr marL="0" marR="0" marT="43180" marB="0">
                    <a:lnL w="6350">
                      <a:solidFill>
                        <a:srgbClr val="535049"/>
                      </a:solidFill>
                      <a:prstDash val="solid"/>
                    </a:lnL>
                    <a:lnR w="6350">
                      <a:solidFill>
                        <a:srgbClr val="535049"/>
                      </a:solidFill>
                      <a:prstDash val="solid"/>
                    </a:lnR>
                    <a:lnT w="6350">
                      <a:solidFill>
                        <a:srgbClr val="535049"/>
                      </a:solidFill>
                      <a:prstDash val="solid"/>
                    </a:lnT>
                    <a:lnB w="6350">
                      <a:solidFill>
                        <a:srgbClr val="535049"/>
                      </a:solidFill>
                      <a:prstDash val="solid"/>
                    </a:lnB>
                    <a:solidFill>
                      <a:srgbClr val="CCDE93"/>
                    </a:solidFill>
                  </a:tcPr>
                </a:tc>
                <a:tc>
                  <a:txBody>
                    <a:bodyPr/>
                    <a:lstStyle/>
                    <a:p>
                      <a:pPr algn="ctr">
                        <a:lnSpc>
                          <a:spcPct val="100000"/>
                        </a:lnSpc>
                        <a:spcBef>
                          <a:spcPts val="340"/>
                        </a:spcBef>
                      </a:pPr>
                      <a:r>
                        <a:rPr sz="900" spc="-20" dirty="0">
                          <a:latin typeface="Arial" panose="020B0604020202020204"/>
                          <a:cs typeface="Arial" panose="020B0604020202020204"/>
                        </a:rPr>
                        <a:t>China,</a:t>
                      </a:r>
                      <a:r>
                        <a:rPr sz="900" spc="-30" dirty="0">
                          <a:latin typeface="Arial" panose="020B0604020202020204"/>
                          <a:cs typeface="Arial" panose="020B0604020202020204"/>
                        </a:rPr>
                        <a:t> </a:t>
                      </a:r>
                      <a:r>
                        <a:rPr sz="900" dirty="0">
                          <a:latin typeface="Arial" panose="020B0604020202020204"/>
                          <a:cs typeface="Arial" panose="020B0604020202020204"/>
                        </a:rPr>
                        <a:t>Hong</a:t>
                      </a:r>
                      <a:r>
                        <a:rPr sz="900" spc="-25" dirty="0">
                          <a:latin typeface="Arial" panose="020B0604020202020204"/>
                          <a:cs typeface="Arial" panose="020B0604020202020204"/>
                        </a:rPr>
                        <a:t> </a:t>
                      </a:r>
                      <a:r>
                        <a:rPr sz="900" dirty="0">
                          <a:latin typeface="Arial" panose="020B0604020202020204"/>
                          <a:cs typeface="Arial" panose="020B0604020202020204"/>
                        </a:rPr>
                        <a:t>Kong</a:t>
                      </a:r>
                      <a:r>
                        <a:rPr sz="900" spc="-25" dirty="0">
                          <a:latin typeface="Arial" panose="020B0604020202020204"/>
                          <a:cs typeface="Arial" panose="020B0604020202020204"/>
                        </a:rPr>
                        <a:t> SAR</a:t>
                      </a:r>
                      <a:endParaRPr sz="900">
                        <a:latin typeface="Arial" panose="020B0604020202020204"/>
                        <a:cs typeface="Arial" panose="020B0604020202020204"/>
                      </a:endParaRPr>
                    </a:p>
                  </a:txBody>
                  <a:tcPr marL="0" marR="0" marT="43180" marB="0">
                    <a:lnL w="6350">
                      <a:solidFill>
                        <a:srgbClr val="535049"/>
                      </a:solidFill>
                      <a:prstDash val="solid"/>
                    </a:lnL>
                    <a:lnR w="6350">
                      <a:solidFill>
                        <a:srgbClr val="535049"/>
                      </a:solidFill>
                      <a:prstDash val="solid"/>
                    </a:lnR>
                    <a:lnT w="6350">
                      <a:solidFill>
                        <a:srgbClr val="535049"/>
                      </a:solidFill>
                      <a:prstDash val="solid"/>
                    </a:lnT>
                    <a:lnB w="6350">
                      <a:solidFill>
                        <a:srgbClr val="535049"/>
                      </a:solidFill>
                      <a:prstDash val="solid"/>
                    </a:lnB>
                    <a:solidFill>
                      <a:srgbClr val="CCDE93"/>
                    </a:solidFill>
                  </a:tcPr>
                </a:tc>
                <a:tc>
                  <a:txBody>
                    <a:bodyPr/>
                    <a:lstStyle/>
                    <a:p>
                      <a:pPr algn="ctr">
                        <a:lnSpc>
                          <a:spcPct val="100000"/>
                        </a:lnSpc>
                        <a:spcBef>
                          <a:spcPts val="340"/>
                        </a:spcBef>
                      </a:pPr>
                      <a:r>
                        <a:rPr sz="900" spc="-25" dirty="0">
                          <a:latin typeface="Arial" panose="020B0604020202020204"/>
                          <a:cs typeface="Arial" panose="020B0604020202020204"/>
                        </a:rPr>
                        <a:t>71</a:t>
                      </a:r>
                      <a:endParaRPr sz="900" dirty="0">
                        <a:latin typeface="Arial" panose="020B0604020202020204"/>
                        <a:cs typeface="Arial" panose="020B0604020202020204"/>
                      </a:endParaRPr>
                    </a:p>
                  </a:txBody>
                  <a:tcPr marL="0" marR="0" marT="43180" marB="0">
                    <a:lnL w="6350">
                      <a:solidFill>
                        <a:srgbClr val="535049"/>
                      </a:solidFill>
                      <a:prstDash val="solid"/>
                    </a:lnL>
                    <a:lnR w="6350">
                      <a:solidFill>
                        <a:srgbClr val="535049"/>
                      </a:solidFill>
                      <a:prstDash val="solid"/>
                    </a:lnR>
                    <a:lnT w="6350">
                      <a:solidFill>
                        <a:srgbClr val="535049"/>
                      </a:solidFill>
                      <a:prstDash val="solid"/>
                    </a:lnT>
                    <a:lnB w="6350">
                      <a:solidFill>
                        <a:srgbClr val="535049"/>
                      </a:solidFill>
                      <a:prstDash val="solid"/>
                    </a:lnB>
                    <a:solidFill>
                      <a:srgbClr val="CCDE93"/>
                    </a:solidFill>
                  </a:tcPr>
                </a:tc>
                <a:tc>
                  <a:txBody>
                    <a:bodyPr/>
                    <a:lstStyle/>
                    <a:p>
                      <a:pPr algn="ctr">
                        <a:lnSpc>
                          <a:spcPct val="100000"/>
                        </a:lnSpc>
                        <a:spcBef>
                          <a:spcPts val="340"/>
                        </a:spcBef>
                      </a:pPr>
                      <a:r>
                        <a:rPr sz="900" dirty="0">
                          <a:latin typeface="Arial" panose="020B0604020202020204"/>
                          <a:cs typeface="Arial" panose="020B0604020202020204"/>
                        </a:rPr>
                        <a:t>531</a:t>
                      </a:r>
                      <a:r>
                        <a:rPr sz="900" spc="-15" dirty="0">
                          <a:latin typeface="Arial" panose="020B0604020202020204"/>
                          <a:cs typeface="Arial" panose="020B0604020202020204"/>
                        </a:rPr>
                        <a:t> </a:t>
                      </a:r>
                      <a:r>
                        <a:rPr sz="900" spc="-25" dirty="0">
                          <a:latin typeface="Arial" panose="020B0604020202020204"/>
                          <a:cs typeface="Arial" panose="020B0604020202020204"/>
                        </a:rPr>
                        <a:t>023</a:t>
                      </a:r>
                      <a:endParaRPr sz="900" dirty="0">
                        <a:latin typeface="Arial" panose="020B0604020202020204"/>
                        <a:cs typeface="Arial" panose="020B0604020202020204"/>
                      </a:endParaRPr>
                    </a:p>
                  </a:txBody>
                  <a:tcPr marL="0" marR="0" marT="43180" marB="0">
                    <a:lnL w="6350">
                      <a:solidFill>
                        <a:srgbClr val="535049"/>
                      </a:solidFill>
                      <a:prstDash val="solid"/>
                    </a:lnL>
                    <a:lnR w="6350">
                      <a:solidFill>
                        <a:srgbClr val="535049"/>
                      </a:solidFill>
                      <a:prstDash val="solid"/>
                    </a:lnR>
                    <a:lnT w="6350">
                      <a:solidFill>
                        <a:srgbClr val="535049"/>
                      </a:solidFill>
                      <a:prstDash val="solid"/>
                    </a:lnT>
                    <a:lnB w="6350">
                      <a:solidFill>
                        <a:srgbClr val="535049"/>
                      </a:solidFill>
                      <a:prstDash val="solid"/>
                    </a:lnB>
                    <a:solidFill>
                      <a:srgbClr val="CCDE93"/>
                    </a:solidFill>
                  </a:tcPr>
                </a:tc>
                <a:extLst>
                  <a:ext uri="{0D108BD9-81ED-4DB2-BD59-A6C34878D82A}">
                    <a16:rowId xmlns:a16="http://schemas.microsoft.com/office/drawing/2014/main" val="10002"/>
                  </a:ext>
                </a:extLst>
              </a:tr>
              <a:tr h="378002">
                <a:tc>
                  <a:txBody>
                    <a:bodyPr/>
                    <a:lstStyle/>
                    <a:p>
                      <a:pPr marL="3175" algn="ctr">
                        <a:lnSpc>
                          <a:spcPct val="100000"/>
                        </a:lnSpc>
                        <a:spcBef>
                          <a:spcPts val="340"/>
                        </a:spcBef>
                      </a:pPr>
                      <a:r>
                        <a:rPr sz="900" spc="-25" dirty="0">
                          <a:latin typeface="Arial" panose="020B0604020202020204"/>
                          <a:cs typeface="Arial" panose="020B0604020202020204"/>
                        </a:rPr>
                        <a:t>446</a:t>
                      </a:r>
                      <a:endParaRPr sz="900">
                        <a:latin typeface="Arial" panose="020B0604020202020204"/>
                        <a:cs typeface="Arial" panose="020B0604020202020204"/>
                      </a:endParaRPr>
                    </a:p>
                  </a:txBody>
                  <a:tcPr marL="0" marR="0" marT="43180" marB="0">
                    <a:lnL w="6350">
                      <a:solidFill>
                        <a:srgbClr val="535049"/>
                      </a:solidFill>
                      <a:prstDash val="solid"/>
                    </a:lnL>
                    <a:lnR w="6350">
                      <a:solidFill>
                        <a:srgbClr val="535049"/>
                      </a:solidFill>
                      <a:prstDash val="solid"/>
                    </a:lnR>
                    <a:lnT w="6350">
                      <a:solidFill>
                        <a:srgbClr val="535049"/>
                      </a:solidFill>
                      <a:prstDash val="solid"/>
                    </a:lnT>
                    <a:lnB w="6350">
                      <a:solidFill>
                        <a:srgbClr val="535049"/>
                      </a:solidFill>
                      <a:prstDash val="solid"/>
                    </a:lnB>
                    <a:solidFill>
                      <a:srgbClr val="DDE9BA"/>
                    </a:solidFill>
                  </a:tcPr>
                </a:tc>
                <a:tc>
                  <a:txBody>
                    <a:bodyPr/>
                    <a:lstStyle/>
                    <a:p>
                      <a:pPr algn="ctr">
                        <a:lnSpc>
                          <a:spcPct val="100000"/>
                        </a:lnSpc>
                        <a:spcBef>
                          <a:spcPts val="340"/>
                        </a:spcBef>
                      </a:pPr>
                      <a:r>
                        <a:rPr sz="900" spc="-20" dirty="0">
                          <a:latin typeface="Arial" panose="020B0604020202020204"/>
                          <a:cs typeface="Arial" panose="020B0604020202020204"/>
                        </a:rPr>
                        <a:t>China,</a:t>
                      </a:r>
                      <a:r>
                        <a:rPr sz="900" spc="5" dirty="0">
                          <a:latin typeface="Arial" panose="020B0604020202020204"/>
                          <a:cs typeface="Arial" panose="020B0604020202020204"/>
                        </a:rPr>
                        <a:t> </a:t>
                      </a:r>
                      <a:r>
                        <a:rPr sz="900" dirty="0">
                          <a:latin typeface="Arial" panose="020B0604020202020204"/>
                          <a:cs typeface="Arial" panose="020B0604020202020204"/>
                        </a:rPr>
                        <a:t>Macao</a:t>
                      </a:r>
                      <a:r>
                        <a:rPr sz="900" spc="10" dirty="0">
                          <a:latin typeface="Arial" panose="020B0604020202020204"/>
                          <a:cs typeface="Arial" panose="020B0604020202020204"/>
                        </a:rPr>
                        <a:t> </a:t>
                      </a:r>
                      <a:r>
                        <a:rPr sz="900" spc="-25" dirty="0">
                          <a:latin typeface="Arial" panose="020B0604020202020204"/>
                          <a:cs typeface="Arial" panose="020B0604020202020204"/>
                        </a:rPr>
                        <a:t>SAR</a:t>
                      </a:r>
                      <a:endParaRPr sz="900" dirty="0">
                        <a:latin typeface="Arial" panose="020B0604020202020204"/>
                        <a:cs typeface="Arial" panose="020B0604020202020204"/>
                      </a:endParaRPr>
                    </a:p>
                  </a:txBody>
                  <a:tcPr marL="0" marR="0" marT="43180" marB="0">
                    <a:lnL w="6350">
                      <a:solidFill>
                        <a:srgbClr val="535049"/>
                      </a:solidFill>
                      <a:prstDash val="solid"/>
                    </a:lnL>
                    <a:lnR w="6350">
                      <a:solidFill>
                        <a:srgbClr val="535049"/>
                      </a:solidFill>
                      <a:prstDash val="solid"/>
                    </a:lnR>
                    <a:lnT w="6350">
                      <a:solidFill>
                        <a:srgbClr val="535049"/>
                      </a:solidFill>
                      <a:prstDash val="solid"/>
                    </a:lnT>
                    <a:lnB w="6350">
                      <a:solidFill>
                        <a:srgbClr val="535049"/>
                      </a:solidFill>
                      <a:prstDash val="solid"/>
                    </a:lnB>
                    <a:solidFill>
                      <a:srgbClr val="DDE9BA"/>
                    </a:solidFill>
                  </a:tcPr>
                </a:tc>
                <a:tc>
                  <a:txBody>
                    <a:bodyPr/>
                    <a:lstStyle/>
                    <a:p>
                      <a:pPr algn="ctr">
                        <a:lnSpc>
                          <a:spcPct val="100000"/>
                        </a:lnSpc>
                        <a:spcBef>
                          <a:spcPts val="340"/>
                        </a:spcBef>
                      </a:pPr>
                      <a:r>
                        <a:rPr sz="900" spc="-25" dirty="0">
                          <a:latin typeface="Arial" panose="020B0604020202020204"/>
                          <a:cs typeface="Arial" panose="020B0604020202020204"/>
                        </a:rPr>
                        <a:t>71</a:t>
                      </a:r>
                      <a:endParaRPr sz="900">
                        <a:latin typeface="Arial" panose="020B0604020202020204"/>
                        <a:cs typeface="Arial" panose="020B0604020202020204"/>
                      </a:endParaRPr>
                    </a:p>
                  </a:txBody>
                  <a:tcPr marL="0" marR="0" marT="43180" marB="0">
                    <a:lnL w="6350">
                      <a:solidFill>
                        <a:srgbClr val="535049"/>
                      </a:solidFill>
                      <a:prstDash val="solid"/>
                    </a:lnL>
                    <a:lnR w="6350">
                      <a:solidFill>
                        <a:srgbClr val="535049"/>
                      </a:solidFill>
                      <a:prstDash val="solid"/>
                    </a:lnR>
                    <a:lnT w="6350">
                      <a:solidFill>
                        <a:srgbClr val="535049"/>
                      </a:solidFill>
                      <a:prstDash val="solid"/>
                    </a:lnT>
                    <a:lnB w="6350">
                      <a:solidFill>
                        <a:srgbClr val="535049"/>
                      </a:solidFill>
                      <a:prstDash val="solid"/>
                    </a:lnB>
                    <a:solidFill>
                      <a:srgbClr val="DDE9BA"/>
                    </a:solidFill>
                  </a:tcPr>
                </a:tc>
                <a:tc>
                  <a:txBody>
                    <a:bodyPr/>
                    <a:lstStyle/>
                    <a:p>
                      <a:pPr algn="ctr">
                        <a:lnSpc>
                          <a:spcPct val="100000"/>
                        </a:lnSpc>
                        <a:spcBef>
                          <a:spcPts val="340"/>
                        </a:spcBef>
                      </a:pPr>
                      <a:r>
                        <a:rPr sz="900" dirty="0">
                          <a:latin typeface="Arial" panose="020B0604020202020204"/>
                          <a:cs typeface="Arial" panose="020B0604020202020204"/>
                        </a:rPr>
                        <a:t>45</a:t>
                      </a:r>
                      <a:r>
                        <a:rPr sz="900" spc="-10" dirty="0">
                          <a:latin typeface="Arial" panose="020B0604020202020204"/>
                          <a:cs typeface="Arial" panose="020B0604020202020204"/>
                        </a:rPr>
                        <a:t> </a:t>
                      </a:r>
                      <a:r>
                        <a:rPr sz="900" spc="-25" dirty="0">
                          <a:latin typeface="Arial" panose="020B0604020202020204"/>
                          <a:cs typeface="Arial" panose="020B0604020202020204"/>
                        </a:rPr>
                        <a:t>731</a:t>
                      </a:r>
                      <a:endParaRPr sz="900">
                        <a:latin typeface="Arial" panose="020B0604020202020204"/>
                        <a:cs typeface="Arial" panose="020B0604020202020204"/>
                      </a:endParaRPr>
                    </a:p>
                  </a:txBody>
                  <a:tcPr marL="0" marR="0" marT="43180" marB="0">
                    <a:lnL w="6350">
                      <a:solidFill>
                        <a:srgbClr val="535049"/>
                      </a:solidFill>
                      <a:prstDash val="solid"/>
                    </a:lnL>
                    <a:lnR w="6350">
                      <a:solidFill>
                        <a:srgbClr val="535049"/>
                      </a:solidFill>
                      <a:prstDash val="solid"/>
                    </a:lnR>
                    <a:lnT w="6350">
                      <a:solidFill>
                        <a:srgbClr val="535049"/>
                      </a:solidFill>
                      <a:prstDash val="solid"/>
                    </a:lnT>
                    <a:lnB w="6350">
                      <a:solidFill>
                        <a:srgbClr val="535049"/>
                      </a:solidFill>
                      <a:prstDash val="solid"/>
                    </a:lnB>
                    <a:solidFill>
                      <a:srgbClr val="DDE9BA"/>
                    </a:solidFill>
                  </a:tcPr>
                </a:tc>
                <a:extLst>
                  <a:ext uri="{0D108BD9-81ED-4DB2-BD59-A6C34878D82A}">
                    <a16:rowId xmlns:a16="http://schemas.microsoft.com/office/drawing/2014/main" val="10003"/>
                  </a:ext>
                </a:extLst>
              </a:tr>
              <a:tr h="378002">
                <a:tc>
                  <a:txBody>
                    <a:bodyPr/>
                    <a:lstStyle/>
                    <a:p>
                      <a:pPr algn="ctr">
                        <a:lnSpc>
                          <a:spcPct val="100000"/>
                        </a:lnSpc>
                        <a:spcBef>
                          <a:spcPts val="340"/>
                        </a:spcBef>
                      </a:pPr>
                      <a:r>
                        <a:rPr sz="900" spc="-25" dirty="0">
                          <a:latin typeface="Arial" panose="020B0604020202020204"/>
                          <a:cs typeface="Arial" panose="020B0604020202020204"/>
                        </a:rPr>
                        <a:t>408</a:t>
                      </a:r>
                      <a:endParaRPr sz="900">
                        <a:latin typeface="Arial" panose="020B0604020202020204"/>
                        <a:cs typeface="Arial" panose="020B0604020202020204"/>
                      </a:endParaRPr>
                    </a:p>
                  </a:txBody>
                  <a:tcPr marL="0" marR="0" marT="43180" marB="0">
                    <a:lnL w="6350">
                      <a:solidFill>
                        <a:srgbClr val="535049"/>
                      </a:solidFill>
                      <a:prstDash val="solid"/>
                    </a:lnL>
                    <a:lnR w="6350">
                      <a:solidFill>
                        <a:srgbClr val="535049"/>
                      </a:solidFill>
                      <a:prstDash val="solid"/>
                    </a:lnR>
                    <a:lnT w="6350">
                      <a:solidFill>
                        <a:srgbClr val="535049"/>
                      </a:solidFill>
                      <a:prstDash val="solid"/>
                    </a:lnT>
                    <a:lnB w="6350">
                      <a:solidFill>
                        <a:srgbClr val="535049"/>
                      </a:solidFill>
                      <a:prstDash val="solid"/>
                    </a:lnB>
                    <a:solidFill>
                      <a:srgbClr val="CCDE93"/>
                    </a:solidFill>
                  </a:tcPr>
                </a:tc>
                <a:tc>
                  <a:txBody>
                    <a:bodyPr/>
                    <a:lstStyle/>
                    <a:p>
                      <a:pPr algn="ctr">
                        <a:lnSpc>
                          <a:spcPct val="100000"/>
                        </a:lnSpc>
                        <a:spcBef>
                          <a:spcPts val="340"/>
                        </a:spcBef>
                      </a:pPr>
                      <a:r>
                        <a:rPr sz="900" spc="-10" dirty="0">
                          <a:latin typeface="Arial" panose="020B0604020202020204"/>
                          <a:cs typeface="Arial" panose="020B0604020202020204"/>
                        </a:rPr>
                        <a:t>Dem.</a:t>
                      </a:r>
                      <a:r>
                        <a:rPr sz="900" spc="-5" dirty="0">
                          <a:latin typeface="Arial" panose="020B0604020202020204"/>
                          <a:cs typeface="Arial" panose="020B0604020202020204"/>
                        </a:rPr>
                        <a:t> </a:t>
                      </a:r>
                      <a:r>
                        <a:rPr sz="900" spc="-10" dirty="0">
                          <a:latin typeface="Arial" panose="020B0604020202020204"/>
                          <a:cs typeface="Arial" panose="020B0604020202020204"/>
                        </a:rPr>
                        <a:t>People’s</a:t>
                      </a:r>
                      <a:r>
                        <a:rPr sz="900" dirty="0">
                          <a:latin typeface="Arial" panose="020B0604020202020204"/>
                          <a:cs typeface="Arial" panose="020B0604020202020204"/>
                        </a:rPr>
                        <a:t> </a:t>
                      </a:r>
                      <a:r>
                        <a:rPr sz="900" spc="-40" dirty="0">
                          <a:latin typeface="Arial" panose="020B0604020202020204"/>
                          <a:cs typeface="Arial" panose="020B0604020202020204"/>
                        </a:rPr>
                        <a:t>Rep.</a:t>
                      </a:r>
                      <a:r>
                        <a:rPr sz="900" spc="-5" dirty="0">
                          <a:latin typeface="Arial" panose="020B0604020202020204"/>
                          <a:cs typeface="Arial" panose="020B0604020202020204"/>
                        </a:rPr>
                        <a:t> </a:t>
                      </a:r>
                      <a:r>
                        <a:rPr sz="900" spc="-20" dirty="0">
                          <a:latin typeface="Arial" panose="020B0604020202020204"/>
                          <a:cs typeface="Arial" panose="020B0604020202020204"/>
                        </a:rPr>
                        <a:t>Korea</a:t>
                      </a:r>
                      <a:endParaRPr sz="900">
                        <a:latin typeface="Arial" panose="020B0604020202020204"/>
                        <a:cs typeface="Arial" panose="020B0604020202020204"/>
                      </a:endParaRPr>
                    </a:p>
                  </a:txBody>
                  <a:tcPr marL="0" marR="0" marT="43180" marB="0">
                    <a:lnL w="6350">
                      <a:solidFill>
                        <a:srgbClr val="535049"/>
                      </a:solidFill>
                      <a:prstDash val="solid"/>
                    </a:lnL>
                    <a:lnR w="6350">
                      <a:solidFill>
                        <a:srgbClr val="535049"/>
                      </a:solidFill>
                      <a:prstDash val="solid"/>
                    </a:lnR>
                    <a:lnT w="6350">
                      <a:solidFill>
                        <a:srgbClr val="535049"/>
                      </a:solidFill>
                      <a:prstDash val="solid"/>
                    </a:lnT>
                    <a:lnB w="6350">
                      <a:solidFill>
                        <a:srgbClr val="535049"/>
                      </a:solidFill>
                      <a:prstDash val="solid"/>
                    </a:lnB>
                    <a:solidFill>
                      <a:srgbClr val="CCDE93"/>
                    </a:solidFill>
                  </a:tcPr>
                </a:tc>
                <a:tc>
                  <a:txBody>
                    <a:bodyPr/>
                    <a:lstStyle/>
                    <a:p>
                      <a:pPr algn="ctr">
                        <a:lnSpc>
                          <a:spcPct val="100000"/>
                        </a:lnSpc>
                        <a:spcBef>
                          <a:spcPts val="340"/>
                        </a:spcBef>
                      </a:pPr>
                      <a:r>
                        <a:rPr sz="900" spc="-25" dirty="0">
                          <a:latin typeface="Arial" panose="020B0604020202020204"/>
                          <a:cs typeface="Arial" panose="020B0604020202020204"/>
                        </a:rPr>
                        <a:t>81</a:t>
                      </a:r>
                      <a:endParaRPr sz="900">
                        <a:latin typeface="Arial" panose="020B0604020202020204"/>
                        <a:cs typeface="Arial" panose="020B0604020202020204"/>
                      </a:endParaRPr>
                    </a:p>
                  </a:txBody>
                  <a:tcPr marL="0" marR="0" marT="43180" marB="0">
                    <a:lnL w="6350">
                      <a:solidFill>
                        <a:srgbClr val="535049"/>
                      </a:solidFill>
                      <a:prstDash val="solid"/>
                    </a:lnL>
                    <a:lnR w="6350">
                      <a:solidFill>
                        <a:srgbClr val="535049"/>
                      </a:solidFill>
                      <a:prstDash val="solid"/>
                    </a:lnR>
                    <a:lnT w="6350">
                      <a:solidFill>
                        <a:srgbClr val="535049"/>
                      </a:solidFill>
                      <a:prstDash val="solid"/>
                    </a:lnT>
                    <a:lnB w="6350">
                      <a:solidFill>
                        <a:srgbClr val="535049"/>
                      </a:solidFill>
                      <a:prstDash val="solid"/>
                    </a:lnB>
                    <a:solidFill>
                      <a:srgbClr val="CCDE93"/>
                    </a:solidFill>
                  </a:tcPr>
                </a:tc>
                <a:tc>
                  <a:txBody>
                    <a:bodyPr/>
                    <a:lstStyle/>
                    <a:p>
                      <a:pPr algn="ctr">
                        <a:lnSpc>
                          <a:spcPct val="100000"/>
                        </a:lnSpc>
                        <a:spcBef>
                          <a:spcPts val="340"/>
                        </a:spcBef>
                      </a:pPr>
                      <a:r>
                        <a:rPr sz="900" dirty="0">
                          <a:latin typeface="Arial" panose="020B0604020202020204"/>
                          <a:cs typeface="Arial" panose="020B0604020202020204"/>
                        </a:rPr>
                        <a:t>2</a:t>
                      </a:r>
                      <a:r>
                        <a:rPr sz="900" spc="-30" dirty="0">
                          <a:latin typeface="Arial" panose="020B0604020202020204"/>
                          <a:cs typeface="Arial" panose="020B0604020202020204"/>
                        </a:rPr>
                        <a:t> </a:t>
                      </a:r>
                      <a:r>
                        <a:rPr sz="900" dirty="0">
                          <a:latin typeface="Arial" panose="020B0604020202020204"/>
                          <a:cs typeface="Arial" panose="020B0604020202020204"/>
                        </a:rPr>
                        <a:t>070</a:t>
                      </a:r>
                      <a:r>
                        <a:rPr sz="900" spc="-30" dirty="0">
                          <a:latin typeface="Arial" panose="020B0604020202020204"/>
                          <a:cs typeface="Arial" panose="020B0604020202020204"/>
                        </a:rPr>
                        <a:t> </a:t>
                      </a:r>
                      <a:r>
                        <a:rPr sz="900" spc="-25" dirty="0">
                          <a:latin typeface="Arial" panose="020B0604020202020204"/>
                          <a:cs typeface="Arial" panose="020B0604020202020204"/>
                        </a:rPr>
                        <a:t>528</a:t>
                      </a:r>
                      <a:endParaRPr sz="900" dirty="0">
                        <a:latin typeface="Arial" panose="020B0604020202020204"/>
                        <a:cs typeface="Arial" panose="020B0604020202020204"/>
                      </a:endParaRPr>
                    </a:p>
                  </a:txBody>
                  <a:tcPr marL="0" marR="0" marT="43180" marB="0">
                    <a:lnL w="6350">
                      <a:solidFill>
                        <a:srgbClr val="535049"/>
                      </a:solidFill>
                      <a:prstDash val="solid"/>
                    </a:lnL>
                    <a:lnR w="6350">
                      <a:solidFill>
                        <a:srgbClr val="535049"/>
                      </a:solidFill>
                      <a:prstDash val="solid"/>
                    </a:lnR>
                    <a:lnT w="6350">
                      <a:solidFill>
                        <a:srgbClr val="535049"/>
                      </a:solidFill>
                      <a:prstDash val="solid"/>
                    </a:lnT>
                    <a:lnB w="6350">
                      <a:solidFill>
                        <a:srgbClr val="535049"/>
                      </a:solidFill>
                      <a:prstDash val="solid"/>
                    </a:lnB>
                    <a:solidFill>
                      <a:srgbClr val="CCDE93"/>
                    </a:solidFill>
                  </a:tcPr>
                </a:tc>
                <a:extLst>
                  <a:ext uri="{0D108BD9-81ED-4DB2-BD59-A6C34878D82A}">
                    <a16:rowId xmlns:a16="http://schemas.microsoft.com/office/drawing/2014/main" val="10004"/>
                  </a:ext>
                </a:extLst>
              </a:tr>
              <a:tr h="378002">
                <a:tc>
                  <a:txBody>
                    <a:bodyPr/>
                    <a:lstStyle/>
                    <a:p>
                      <a:pPr algn="ctr">
                        <a:lnSpc>
                          <a:spcPct val="100000"/>
                        </a:lnSpc>
                        <a:spcBef>
                          <a:spcPts val="340"/>
                        </a:spcBef>
                      </a:pPr>
                      <a:r>
                        <a:rPr sz="900" spc="-25" dirty="0">
                          <a:latin typeface="Arial" panose="020B0604020202020204"/>
                          <a:cs typeface="Arial" panose="020B0604020202020204"/>
                        </a:rPr>
                        <a:t>392</a:t>
                      </a:r>
                      <a:endParaRPr sz="900">
                        <a:latin typeface="Arial" panose="020B0604020202020204"/>
                        <a:cs typeface="Arial" panose="020B0604020202020204"/>
                      </a:endParaRPr>
                    </a:p>
                  </a:txBody>
                  <a:tcPr marL="0" marR="0" marT="43180" marB="0">
                    <a:lnL w="6350">
                      <a:solidFill>
                        <a:srgbClr val="535049"/>
                      </a:solidFill>
                      <a:prstDash val="solid"/>
                    </a:lnL>
                    <a:lnR w="6350">
                      <a:solidFill>
                        <a:srgbClr val="535049"/>
                      </a:solidFill>
                      <a:prstDash val="solid"/>
                    </a:lnR>
                    <a:lnT w="6350">
                      <a:solidFill>
                        <a:srgbClr val="535049"/>
                      </a:solidFill>
                      <a:prstDash val="solid"/>
                    </a:lnT>
                    <a:lnB w="6350">
                      <a:solidFill>
                        <a:srgbClr val="535049"/>
                      </a:solidFill>
                      <a:prstDash val="solid"/>
                    </a:lnB>
                    <a:solidFill>
                      <a:srgbClr val="DDE9BA"/>
                    </a:solidFill>
                  </a:tcPr>
                </a:tc>
                <a:tc>
                  <a:txBody>
                    <a:bodyPr/>
                    <a:lstStyle/>
                    <a:p>
                      <a:pPr marL="1270" algn="ctr">
                        <a:lnSpc>
                          <a:spcPct val="100000"/>
                        </a:lnSpc>
                        <a:spcBef>
                          <a:spcPts val="340"/>
                        </a:spcBef>
                      </a:pPr>
                      <a:r>
                        <a:rPr sz="900" spc="-10" dirty="0">
                          <a:latin typeface="Arial" panose="020B0604020202020204"/>
                          <a:cs typeface="Arial" panose="020B0604020202020204"/>
                        </a:rPr>
                        <a:t>Japan</a:t>
                      </a:r>
                      <a:endParaRPr sz="900">
                        <a:latin typeface="Arial" panose="020B0604020202020204"/>
                        <a:cs typeface="Arial" panose="020B0604020202020204"/>
                      </a:endParaRPr>
                    </a:p>
                  </a:txBody>
                  <a:tcPr marL="0" marR="0" marT="43180" marB="0">
                    <a:lnL w="6350">
                      <a:solidFill>
                        <a:srgbClr val="535049"/>
                      </a:solidFill>
                      <a:prstDash val="solid"/>
                    </a:lnL>
                    <a:lnR w="6350">
                      <a:solidFill>
                        <a:srgbClr val="535049"/>
                      </a:solidFill>
                      <a:prstDash val="solid"/>
                    </a:lnR>
                    <a:lnT w="6350">
                      <a:solidFill>
                        <a:srgbClr val="535049"/>
                      </a:solidFill>
                      <a:prstDash val="solid"/>
                    </a:lnT>
                    <a:lnB w="6350">
                      <a:solidFill>
                        <a:srgbClr val="535049"/>
                      </a:solidFill>
                      <a:prstDash val="solid"/>
                    </a:lnB>
                    <a:solidFill>
                      <a:srgbClr val="DDE9BA"/>
                    </a:solidFill>
                  </a:tcPr>
                </a:tc>
                <a:tc>
                  <a:txBody>
                    <a:bodyPr/>
                    <a:lstStyle/>
                    <a:p>
                      <a:pPr marL="3810" algn="ctr">
                        <a:lnSpc>
                          <a:spcPct val="100000"/>
                        </a:lnSpc>
                        <a:spcBef>
                          <a:spcPts val="340"/>
                        </a:spcBef>
                      </a:pPr>
                      <a:r>
                        <a:rPr sz="900" spc="-25" dirty="0">
                          <a:latin typeface="Arial" panose="020B0604020202020204"/>
                          <a:cs typeface="Arial" panose="020B0604020202020204"/>
                        </a:rPr>
                        <a:t>64</a:t>
                      </a:r>
                      <a:endParaRPr sz="900">
                        <a:latin typeface="Arial" panose="020B0604020202020204"/>
                        <a:cs typeface="Arial" panose="020B0604020202020204"/>
                      </a:endParaRPr>
                    </a:p>
                  </a:txBody>
                  <a:tcPr marL="0" marR="0" marT="43180" marB="0">
                    <a:lnL w="6350">
                      <a:solidFill>
                        <a:srgbClr val="535049"/>
                      </a:solidFill>
                      <a:prstDash val="solid"/>
                    </a:lnL>
                    <a:lnR w="6350">
                      <a:solidFill>
                        <a:srgbClr val="535049"/>
                      </a:solidFill>
                      <a:prstDash val="solid"/>
                    </a:lnR>
                    <a:lnT w="6350">
                      <a:solidFill>
                        <a:srgbClr val="535049"/>
                      </a:solidFill>
                      <a:prstDash val="solid"/>
                    </a:lnT>
                    <a:lnB w="6350">
                      <a:solidFill>
                        <a:srgbClr val="535049"/>
                      </a:solidFill>
                      <a:prstDash val="solid"/>
                    </a:lnB>
                    <a:solidFill>
                      <a:srgbClr val="DDE9BA"/>
                    </a:solidFill>
                  </a:tcPr>
                </a:tc>
                <a:tc>
                  <a:txBody>
                    <a:bodyPr/>
                    <a:lstStyle/>
                    <a:p>
                      <a:pPr algn="ctr">
                        <a:lnSpc>
                          <a:spcPct val="100000"/>
                        </a:lnSpc>
                        <a:spcBef>
                          <a:spcPts val="340"/>
                        </a:spcBef>
                      </a:pPr>
                      <a:r>
                        <a:rPr sz="900" dirty="0">
                          <a:latin typeface="Arial" panose="020B0604020202020204"/>
                          <a:cs typeface="Arial" panose="020B0604020202020204"/>
                        </a:rPr>
                        <a:t>8</a:t>
                      </a:r>
                      <a:r>
                        <a:rPr sz="900" spc="-50" dirty="0">
                          <a:latin typeface="Arial" panose="020B0604020202020204"/>
                          <a:cs typeface="Arial" panose="020B0604020202020204"/>
                        </a:rPr>
                        <a:t> </a:t>
                      </a:r>
                      <a:r>
                        <a:rPr sz="900" spc="-10" dirty="0">
                          <a:latin typeface="Arial" panose="020B0604020202020204"/>
                          <a:cs typeface="Arial" panose="020B0604020202020204"/>
                        </a:rPr>
                        <a:t>159</a:t>
                      </a:r>
                      <a:r>
                        <a:rPr sz="900" spc="-40" dirty="0">
                          <a:latin typeface="Arial" panose="020B0604020202020204"/>
                          <a:cs typeface="Arial" panose="020B0604020202020204"/>
                        </a:rPr>
                        <a:t> </a:t>
                      </a:r>
                      <a:r>
                        <a:rPr sz="900" spc="-25" dirty="0">
                          <a:latin typeface="Arial" panose="020B0604020202020204"/>
                          <a:cs typeface="Arial" panose="020B0604020202020204"/>
                        </a:rPr>
                        <a:t>891</a:t>
                      </a:r>
                      <a:endParaRPr sz="900">
                        <a:latin typeface="Arial" panose="020B0604020202020204"/>
                        <a:cs typeface="Arial" panose="020B0604020202020204"/>
                      </a:endParaRPr>
                    </a:p>
                  </a:txBody>
                  <a:tcPr marL="0" marR="0" marT="43180" marB="0">
                    <a:lnL w="6350">
                      <a:solidFill>
                        <a:srgbClr val="535049"/>
                      </a:solidFill>
                      <a:prstDash val="solid"/>
                    </a:lnL>
                    <a:lnR w="6350">
                      <a:solidFill>
                        <a:srgbClr val="535049"/>
                      </a:solidFill>
                      <a:prstDash val="solid"/>
                    </a:lnR>
                    <a:lnT w="6350">
                      <a:solidFill>
                        <a:srgbClr val="535049"/>
                      </a:solidFill>
                      <a:prstDash val="solid"/>
                    </a:lnT>
                    <a:lnB w="6350">
                      <a:solidFill>
                        <a:srgbClr val="535049"/>
                      </a:solidFill>
                      <a:prstDash val="solid"/>
                    </a:lnB>
                    <a:solidFill>
                      <a:srgbClr val="DDE9BA"/>
                    </a:solidFill>
                  </a:tcPr>
                </a:tc>
                <a:extLst>
                  <a:ext uri="{0D108BD9-81ED-4DB2-BD59-A6C34878D82A}">
                    <a16:rowId xmlns:a16="http://schemas.microsoft.com/office/drawing/2014/main" val="10005"/>
                  </a:ext>
                </a:extLst>
              </a:tr>
              <a:tr h="378002">
                <a:tc>
                  <a:txBody>
                    <a:bodyPr/>
                    <a:lstStyle/>
                    <a:p>
                      <a:pPr algn="ctr">
                        <a:lnSpc>
                          <a:spcPct val="100000"/>
                        </a:lnSpc>
                        <a:spcBef>
                          <a:spcPts val="340"/>
                        </a:spcBef>
                      </a:pPr>
                      <a:r>
                        <a:rPr sz="900" spc="-25" dirty="0">
                          <a:latin typeface="Arial" panose="020B0604020202020204"/>
                          <a:cs typeface="Arial" panose="020B0604020202020204"/>
                        </a:rPr>
                        <a:t>496</a:t>
                      </a:r>
                      <a:endParaRPr sz="900">
                        <a:latin typeface="Arial" panose="020B0604020202020204"/>
                        <a:cs typeface="Arial" panose="020B0604020202020204"/>
                      </a:endParaRPr>
                    </a:p>
                  </a:txBody>
                  <a:tcPr marL="0" marR="0" marT="43180" marB="0">
                    <a:lnL w="6350">
                      <a:solidFill>
                        <a:srgbClr val="535049"/>
                      </a:solidFill>
                      <a:prstDash val="solid"/>
                    </a:lnL>
                    <a:lnR w="6350">
                      <a:solidFill>
                        <a:srgbClr val="535049"/>
                      </a:solidFill>
                      <a:prstDash val="solid"/>
                    </a:lnR>
                    <a:lnT w="6350">
                      <a:solidFill>
                        <a:srgbClr val="535049"/>
                      </a:solidFill>
                      <a:prstDash val="solid"/>
                    </a:lnT>
                    <a:lnB w="6350">
                      <a:solidFill>
                        <a:srgbClr val="535049"/>
                      </a:solidFill>
                      <a:prstDash val="solid"/>
                    </a:lnB>
                    <a:solidFill>
                      <a:srgbClr val="CCDE93"/>
                    </a:solidFill>
                  </a:tcPr>
                </a:tc>
                <a:tc>
                  <a:txBody>
                    <a:bodyPr/>
                    <a:lstStyle/>
                    <a:p>
                      <a:pPr algn="ctr">
                        <a:lnSpc>
                          <a:spcPct val="100000"/>
                        </a:lnSpc>
                        <a:spcBef>
                          <a:spcPts val="340"/>
                        </a:spcBef>
                      </a:pPr>
                      <a:r>
                        <a:rPr sz="900" spc="-10" dirty="0">
                          <a:latin typeface="Arial" panose="020B0604020202020204"/>
                          <a:cs typeface="Arial" panose="020B0604020202020204"/>
                        </a:rPr>
                        <a:t>Mongolia</a:t>
                      </a:r>
                      <a:endParaRPr sz="900">
                        <a:latin typeface="Arial" panose="020B0604020202020204"/>
                        <a:cs typeface="Arial" panose="020B0604020202020204"/>
                      </a:endParaRPr>
                    </a:p>
                  </a:txBody>
                  <a:tcPr marL="0" marR="0" marT="43180" marB="0">
                    <a:lnL w="6350">
                      <a:solidFill>
                        <a:srgbClr val="535049"/>
                      </a:solidFill>
                      <a:prstDash val="solid"/>
                    </a:lnL>
                    <a:lnR w="6350">
                      <a:solidFill>
                        <a:srgbClr val="535049"/>
                      </a:solidFill>
                      <a:prstDash val="solid"/>
                    </a:lnR>
                    <a:lnT w="6350">
                      <a:solidFill>
                        <a:srgbClr val="535049"/>
                      </a:solidFill>
                      <a:prstDash val="solid"/>
                    </a:lnT>
                    <a:lnB w="6350">
                      <a:solidFill>
                        <a:srgbClr val="535049"/>
                      </a:solidFill>
                      <a:prstDash val="solid"/>
                    </a:lnB>
                    <a:solidFill>
                      <a:srgbClr val="CCDE93"/>
                    </a:solidFill>
                  </a:tcPr>
                </a:tc>
                <a:tc>
                  <a:txBody>
                    <a:bodyPr/>
                    <a:lstStyle/>
                    <a:p>
                      <a:pPr algn="ctr">
                        <a:lnSpc>
                          <a:spcPct val="100000"/>
                        </a:lnSpc>
                        <a:spcBef>
                          <a:spcPts val="340"/>
                        </a:spcBef>
                      </a:pPr>
                      <a:r>
                        <a:rPr sz="900" spc="-25" dirty="0">
                          <a:latin typeface="Arial" panose="020B0604020202020204"/>
                          <a:cs typeface="Arial" panose="020B0604020202020204"/>
                        </a:rPr>
                        <a:t>78</a:t>
                      </a:r>
                      <a:endParaRPr sz="900">
                        <a:latin typeface="Arial" panose="020B0604020202020204"/>
                        <a:cs typeface="Arial" panose="020B0604020202020204"/>
                      </a:endParaRPr>
                    </a:p>
                  </a:txBody>
                  <a:tcPr marL="0" marR="0" marT="43180" marB="0">
                    <a:lnL w="6350">
                      <a:solidFill>
                        <a:srgbClr val="535049"/>
                      </a:solidFill>
                      <a:prstDash val="solid"/>
                    </a:lnL>
                    <a:lnR w="6350">
                      <a:solidFill>
                        <a:srgbClr val="535049"/>
                      </a:solidFill>
                      <a:prstDash val="solid"/>
                    </a:lnR>
                    <a:lnT w="6350">
                      <a:solidFill>
                        <a:srgbClr val="535049"/>
                      </a:solidFill>
                      <a:prstDash val="solid"/>
                    </a:lnT>
                    <a:lnB w="6350">
                      <a:solidFill>
                        <a:srgbClr val="535049"/>
                      </a:solidFill>
                      <a:prstDash val="solid"/>
                    </a:lnB>
                    <a:solidFill>
                      <a:srgbClr val="CCDE93"/>
                    </a:solidFill>
                  </a:tcPr>
                </a:tc>
                <a:tc>
                  <a:txBody>
                    <a:bodyPr/>
                    <a:lstStyle/>
                    <a:p>
                      <a:pPr algn="ctr">
                        <a:lnSpc>
                          <a:spcPct val="100000"/>
                        </a:lnSpc>
                        <a:spcBef>
                          <a:spcPts val="340"/>
                        </a:spcBef>
                      </a:pPr>
                      <a:r>
                        <a:rPr sz="900" dirty="0">
                          <a:latin typeface="Arial" panose="020B0604020202020204"/>
                          <a:cs typeface="Arial" panose="020B0604020202020204"/>
                        </a:rPr>
                        <a:t>250</a:t>
                      </a:r>
                      <a:r>
                        <a:rPr sz="900" spc="-10" dirty="0">
                          <a:latin typeface="Arial" panose="020B0604020202020204"/>
                          <a:cs typeface="Arial" panose="020B0604020202020204"/>
                        </a:rPr>
                        <a:t> </a:t>
                      </a:r>
                      <a:r>
                        <a:rPr sz="900" spc="-25" dirty="0">
                          <a:latin typeface="Arial" panose="020B0604020202020204"/>
                          <a:cs typeface="Arial" panose="020B0604020202020204"/>
                        </a:rPr>
                        <a:t>173</a:t>
                      </a:r>
                      <a:endParaRPr sz="900">
                        <a:latin typeface="Arial" panose="020B0604020202020204"/>
                        <a:cs typeface="Arial" panose="020B0604020202020204"/>
                      </a:endParaRPr>
                    </a:p>
                  </a:txBody>
                  <a:tcPr marL="0" marR="0" marT="43180" marB="0">
                    <a:lnL w="6350">
                      <a:solidFill>
                        <a:srgbClr val="535049"/>
                      </a:solidFill>
                      <a:prstDash val="solid"/>
                    </a:lnL>
                    <a:lnR w="6350">
                      <a:solidFill>
                        <a:srgbClr val="535049"/>
                      </a:solidFill>
                      <a:prstDash val="solid"/>
                    </a:lnR>
                    <a:lnT w="6350">
                      <a:solidFill>
                        <a:srgbClr val="535049"/>
                      </a:solidFill>
                      <a:prstDash val="solid"/>
                    </a:lnT>
                    <a:lnB w="6350">
                      <a:solidFill>
                        <a:srgbClr val="535049"/>
                      </a:solidFill>
                      <a:prstDash val="solid"/>
                    </a:lnB>
                    <a:solidFill>
                      <a:srgbClr val="CCDE93"/>
                    </a:solidFill>
                  </a:tcPr>
                </a:tc>
                <a:extLst>
                  <a:ext uri="{0D108BD9-81ED-4DB2-BD59-A6C34878D82A}">
                    <a16:rowId xmlns:a16="http://schemas.microsoft.com/office/drawing/2014/main" val="10006"/>
                  </a:ext>
                </a:extLst>
              </a:tr>
              <a:tr h="378002">
                <a:tc>
                  <a:txBody>
                    <a:bodyPr/>
                    <a:lstStyle/>
                    <a:p>
                      <a:pPr algn="ctr">
                        <a:lnSpc>
                          <a:spcPct val="100000"/>
                        </a:lnSpc>
                        <a:spcBef>
                          <a:spcPts val="340"/>
                        </a:spcBef>
                      </a:pPr>
                      <a:r>
                        <a:rPr sz="900" spc="-25" dirty="0">
                          <a:latin typeface="Arial" panose="020B0604020202020204"/>
                          <a:cs typeface="Arial" panose="020B0604020202020204"/>
                        </a:rPr>
                        <a:t>410</a:t>
                      </a:r>
                      <a:endParaRPr sz="900">
                        <a:latin typeface="Arial" panose="020B0604020202020204"/>
                        <a:cs typeface="Arial" panose="020B0604020202020204"/>
                      </a:endParaRPr>
                    </a:p>
                  </a:txBody>
                  <a:tcPr marL="0" marR="0" marT="43180" marB="0">
                    <a:lnL w="6350">
                      <a:solidFill>
                        <a:srgbClr val="535049"/>
                      </a:solidFill>
                      <a:prstDash val="solid"/>
                    </a:lnL>
                    <a:lnR w="6350">
                      <a:solidFill>
                        <a:srgbClr val="535049"/>
                      </a:solidFill>
                      <a:prstDash val="solid"/>
                    </a:lnR>
                    <a:lnT w="6350">
                      <a:solidFill>
                        <a:srgbClr val="535049"/>
                      </a:solidFill>
                      <a:prstDash val="solid"/>
                    </a:lnT>
                    <a:lnB w="6350">
                      <a:solidFill>
                        <a:srgbClr val="535049"/>
                      </a:solidFill>
                      <a:prstDash val="solid"/>
                    </a:lnB>
                    <a:solidFill>
                      <a:srgbClr val="DDE9BA"/>
                    </a:solidFill>
                  </a:tcPr>
                </a:tc>
                <a:tc>
                  <a:txBody>
                    <a:bodyPr/>
                    <a:lstStyle/>
                    <a:p>
                      <a:pPr algn="ctr">
                        <a:lnSpc>
                          <a:spcPct val="100000"/>
                        </a:lnSpc>
                        <a:spcBef>
                          <a:spcPts val="340"/>
                        </a:spcBef>
                      </a:pPr>
                      <a:r>
                        <a:rPr sz="900" dirty="0">
                          <a:latin typeface="Arial" panose="020B0604020202020204"/>
                          <a:cs typeface="Arial" panose="020B0604020202020204"/>
                        </a:rPr>
                        <a:t>Republic</a:t>
                      </a:r>
                      <a:r>
                        <a:rPr sz="900" spc="-5" dirty="0">
                          <a:latin typeface="Arial" panose="020B0604020202020204"/>
                          <a:cs typeface="Arial" panose="020B0604020202020204"/>
                        </a:rPr>
                        <a:t> </a:t>
                      </a:r>
                      <a:r>
                        <a:rPr sz="900" dirty="0">
                          <a:latin typeface="Arial" panose="020B0604020202020204"/>
                          <a:cs typeface="Arial" panose="020B0604020202020204"/>
                        </a:rPr>
                        <a:t>of</a:t>
                      </a:r>
                      <a:r>
                        <a:rPr sz="900" spc="-5" dirty="0">
                          <a:latin typeface="Arial" panose="020B0604020202020204"/>
                          <a:cs typeface="Arial" panose="020B0604020202020204"/>
                        </a:rPr>
                        <a:t> </a:t>
                      </a:r>
                      <a:r>
                        <a:rPr sz="900" spc="-10" dirty="0">
                          <a:latin typeface="Arial" panose="020B0604020202020204"/>
                          <a:cs typeface="Arial" panose="020B0604020202020204"/>
                        </a:rPr>
                        <a:t>Korea</a:t>
                      </a:r>
                      <a:endParaRPr sz="900">
                        <a:latin typeface="Arial" panose="020B0604020202020204"/>
                        <a:cs typeface="Arial" panose="020B0604020202020204"/>
                      </a:endParaRPr>
                    </a:p>
                  </a:txBody>
                  <a:tcPr marL="0" marR="0" marT="43180" marB="0">
                    <a:lnL w="6350">
                      <a:solidFill>
                        <a:srgbClr val="535049"/>
                      </a:solidFill>
                      <a:prstDash val="solid"/>
                    </a:lnL>
                    <a:lnR w="6350">
                      <a:solidFill>
                        <a:srgbClr val="535049"/>
                      </a:solidFill>
                      <a:prstDash val="solid"/>
                    </a:lnR>
                    <a:lnT w="6350">
                      <a:solidFill>
                        <a:srgbClr val="535049"/>
                      </a:solidFill>
                      <a:prstDash val="solid"/>
                    </a:lnT>
                    <a:lnB w="6350">
                      <a:solidFill>
                        <a:srgbClr val="535049"/>
                      </a:solidFill>
                      <a:prstDash val="solid"/>
                    </a:lnB>
                    <a:solidFill>
                      <a:srgbClr val="DDE9BA"/>
                    </a:solidFill>
                  </a:tcPr>
                </a:tc>
                <a:tc>
                  <a:txBody>
                    <a:bodyPr/>
                    <a:lstStyle/>
                    <a:p>
                      <a:pPr algn="ctr">
                        <a:lnSpc>
                          <a:spcPct val="100000"/>
                        </a:lnSpc>
                        <a:spcBef>
                          <a:spcPts val="340"/>
                        </a:spcBef>
                      </a:pPr>
                      <a:r>
                        <a:rPr sz="900" spc="-25" dirty="0">
                          <a:latin typeface="Arial" panose="020B0604020202020204"/>
                          <a:cs typeface="Arial" panose="020B0604020202020204"/>
                        </a:rPr>
                        <a:t>71</a:t>
                      </a:r>
                      <a:endParaRPr sz="900">
                        <a:latin typeface="Arial" panose="020B0604020202020204"/>
                        <a:cs typeface="Arial" panose="020B0604020202020204"/>
                      </a:endParaRPr>
                    </a:p>
                  </a:txBody>
                  <a:tcPr marL="0" marR="0" marT="43180" marB="0">
                    <a:lnL w="6350">
                      <a:solidFill>
                        <a:srgbClr val="535049"/>
                      </a:solidFill>
                      <a:prstDash val="solid"/>
                    </a:lnL>
                    <a:lnR w="6350">
                      <a:solidFill>
                        <a:srgbClr val="535049"/>
                      </a:solidFill>
                      <a:prstDash val="solid"/>
                    </a:lnR>
                    <a:lnT w="6350">
                      <a:solidFill>
                        <a:srgbClr val="535049"/>
                      </a:solidFill>
                      <a:prstDash val="solid"/>
                    </a:lnT>
                    <a:lnB w="6350">
                      <a:solidFill>
                        <a:srgbClr val="535049"/>
                      </a:solidFill>
                      <a:prstDash val="solid"/>
                    </a:lnB>
                    <a:solidFill>
                      <a:srgbClr val="DDE9BA"/>
                    </a:solidFill>
                  </a:tcPr>
                </a:tc>
                <a:tc>
                  <a:txBody>
                    <a:bodyPr/>
                    <a:lstStyle/>
                    <a:p>
                      <a:pPr algn="ctr">
                        <a:lnSpc>
                          <a:spcPct val="100000"/>
                        </a:lnSpc>
                        <a:spcBef>
                          <a:spcPts val="340"/>
                        </a:spcBef>
                      </a:pPr>
                      <a:r>
                        <a:rPr sz="900" dirty="0">
                          <a:latin typeface="Arial" panose="020B0604020202020204"/>
                          <a:cs typeface="Arial" panose="020B0604020202020204"/>
                        </a:rPr>
                        <a:t>3</a:t>
                      </a:r>
                      <a:r>
                        <a:rPr sz="900" spc="-20" dirty="0">
                          <a:latin typeface="Arial" panose="020B0604020202020204"/>
                          <a:cs typeface="Arial" panose="020B0604020202020204"/>
                        </a:rPr>
                        <a:t> </a:t>
                      </a:r>
                      <a:r>
                        <a:rPr sz="900" dirty="0">
                          <a:latin typeface="Arial" panose="020B0604020202020204"/>
                          <a:cs typeface="Arial" panose="020B0604020202020204"/>
                        </a:rPr>
                        <a:t>658</a:t>
                      </a:r>
                      <a:r>
                        <a:rPr sz="900" spc="-15" dirty="0">
                          <a:latin typeface="Arial" panose="020B0604020202020204"/>
                          <a:cs typeface="Arial" panose="020B0604020202020204"/>
                        </a:rPr>
                        <a:t> </a:t>
                      </a:r>
                      <a:r>
                        <a:rPr sz="900" spc="-25" dirty="0">
                          <a:latin typeface="Arial" panose="020B0604020202020204"/>
                          <a:cs typeface="Arial" panose="020B0604020202020204"/>
                        </a:rPr>
                        <a:t>024</a:t>
                      </a:r>
                      <a:endParaRPr sz="900" dirty="0">
                        <a:latin typeface="Arial" panose="020B0604020202020204"/>
                        <a:cs typeface="Arial" panose="020B0604020202020204"/>
                      </a:endParaRPr>
                    </a:p>
                  </a:txBody>
                  <a:tcPr marL="0" marR="0" marT="43180" marB="0">
                    <a:lnL w="6350">
                      <a:solidFill>
                        <a:srgbClr val="535049"/>
                      </a:solidFill>
                      <a:prstDash val="solid"/>
                    </a:lnL>
                    <a:lnR w="6350">
                      <a:solidFill>
                        <a:srgbClr val="535049"/>
                      </a:solidFill>
                      <a:prstDash val="solid"/>
                    </a:lnR>
                    <a:lnT w="6350">
                      <a:solidFill>
                        <a:srgbClr val="535049"/>
                      </a:solidFill>
                      <a:prstDash val="solid"/>
                    </a:lnT>
                    <a:lnB w="6350">
                      <a:solidFill>
                        <a:srgbClr val="535049"/>
                      </a:solidFill>
                      <a:prstDash val="solid"/>
                    </a:lnB>
                    <a:solidFill>
                      <a:srgbClr val="DDE9BA"/>
                    </a:solidFill>
                  </a:tcPr>
                </a:tc>
                <a:extLst>
                  <a:ext uri="{0D108BD9-81ED-4DB2-BD59-A6C34878D82A}">
                    <a16:rowId xmlns:a16="http://schemas.microsoft.com/office/drawing/2014/main" val="10007"/>
                  </a:ext>
                </a:extLst>
              </a:tr>
            </a:tbl>
          </a:graphicData>
        </a:graphic>
      </p:graphicFrame>
      <p:sp>
        <p:nvSpPr>
          <p:cNvPr id="9" name="文本框 8"/>
          <p:cNvSpPr txBox="1"/>
          <p:nvPr/>
        </p:nvSpPr>
        <p:spPr>
          <a:xfrm>
            <a:off x="4380614" y="2098158"/>
            <a:ext cx="6936514" cy="369332"/>
          </a:xfrm>
          <a:prstGeom prst="rect">
            <a:avLst/>
          </a:prstGeom>
          <a:noFill/>
        </p:spPr>
        <p:txBody>
          <a:bodyPr wrap="none" rtlCol="0">
            <a:spAutoFit/>
          </a:bodyPr>
          <a:lstStyle/>
          <a:p>
            <a:r>
              <a:rPr lang="en-US" altLang="zh-CN" dirty="0"/>
              <a:t>Every year, the food we wasted can support nearly 50million people </a:t>
            </a:r>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2" fill="hold" grpId="0" nodeType="afterEffect">
                                  <p:stCondLst>
                                    <p:cond delay="0"/>
                                  </p:stCondLst>
                                  <p:childTnLst>
                                    <p:animClr clrSpc="rgb" dir="cw">
                                      <p:cBhvr override="childStyle">
                                        <p:cTn id="6" dur="2000" fill="hold"/>
                                        <p:tgtEl>
                                          <p:spTgt spid="2"/>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457200" indent="-457200">
              <a:buFont typeface="Arial" panose="020B0604020202020204" pitchFamily="34" charset="0"/>
              <a:buChar char="•"/>
            </a:pPr>
            <a:r>
              <a:rPr lang="en-US" altLang="zh-CN" sz="2800" dirty="0">
                <a:latin typeface="Arial Black" panose="020B0A04020102020204" pitchFamily="34" charset="0"/>
              </a:rPr>
              <a:t>Educate people to save food</a:t>
            </a:r>
            <a:endParaRPr lang="zh-CN" altLang="en-US" sz="2800" dirty="0">
              <a:latin typeface="Arial Black" panose="020B0A04020102020204" pitchFamily="34" charset="0"/>
            </a:endParaRPr>
          </a:p>
        </p:txBody>
      </p:sp>
      <p:pic>
        <p:nvPicPr>
          <p:cNvPr id="5" name="内容占位符 4" descr="图片包含 文本&#10;&#10;描述已自动生成"/>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4544" y="2099395"/>
            <a:ext cx="2490104" cy="3747818"/>
          </a:xfrm>
        </p:spPr>
      </p:pic>
      <p:pic>
        <p:nvPicPr>
          <p:cNvPr id="7" name="图片 6" descr="图片包含 图示&#10;&#10;描述已自动生成"/>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30889" y="2099395"/>
            <a:ext cx="2490104" cy="3747818"/>
          </a:xfrm>
          <a:prstGeom prst="rect">
            <a:avLst/>
          </a:prstGeom>
        </p:spPr>
      </p:pic>
      <p:pic>
        <p:nvPicPr>
          <p:cNvPr id="9" name="图片 8" descr="桌子上的食物&#10;&#10;描述已自动生成"/>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71009" y="2099395"/>
            <a:ext cx="2588693" cy="3747818"/>
          </a:xfrm>
          <a:prstGeom prst="rect">
            <a:avLst/>
          </a:prstGeom>
        </p:spPr>
      </p:pic>
      <p:pic>
        <p:nvPicPr>
          <p:cNvPr id="11" name="图片 10" descr="手机屏幕截图&#10;&#10;中度可信度描述已自动生成"/>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17569" y="2099395"/>
            <a:ext cx="2490104" cy="374781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2" fill="hold" grpId="0" nodeType="afterEffect">
                                  <p:stCondLst>
                                    <p:cond delay="0"/>
                                  </p:stCondLst>
                                  <p:childTnLst>
                                    <p:animClr clrSpc="rgb" dir="cw">
                                      <p:cBhvr override="childStyle">
                                        <p:cTn id="6" dur="2000" fill="hold"/>
                                        <p:tgtEl>
                                          <p:spTgt spid="2"/>
                                        </p:tgtEl>
                                        <p:attrNameLst>
                                          <p:attrName>style.color</p:attrName>
                                        </p:attrNameLst>
                                      </p:cBhvr>
                                      <p:to>
                                        <a:schemeClr val="accent2"/>
                                      </p:to>
                                    </p:animClr>
                                  </p:childTnLst>
                                </p:cTn>
                              </p:par>
                            </p:childTnLst>
                          </p:cTn>
                        </p:par>
                        <p:par>
                          <p:cTn id="7" fill="hold">
                            <p:stCondLst>
                              <p:cond delay="2000"/>
                            </p:stCondLst>
                            <p:childTnLst>
                              <p:par>
                                <p:cTn id="8" presetID="2" presetClass="entr" presetSubtype="4" fill="hold" nodeType="afterEffect">
                                  <p:stCondLst>
                                    <p:cond delay="0"/>
                                  </p:stCondLst>
                                  <p:childTnLst>
                                    <p:set>
                                      <p:cBhvr>
                                        <p:cTn id="9" dur="1" fill="hold">
                                          <p:stCondLst>
                                            <p:cond delay="0"/>
                                          </p:stCondLst>
                                        </p:cTn>
                                        <p:tgtEl>
                                          <p:spTgt spid="5"/>
                                        </p:tgtEl>
                                        <p:attrNameLst>
                                          <p:attrName>style.visibility</p:attrName>
                                        </p:attrNameLst>
                                      </p:cBhvr>
                                      <p:to>
                                        <p:strVal val="visible"/>
                                      </p:to>
                                    </p:set>
                                    <p:anim calcmode="lin" valueType="num">
                                      <p:cBhvr additive="base">
                                        <p:cTn id="10" dur="250" fill="hold"/>
                                        <p:tgtEl>
                                          <p:spTgt spid="5"/>
                                        </p:tgtEl>
                                        <p:attrNameLst>
                                          <p:attrName>ppt_x</p:attrName>
                                        </p:attrNameLst>
                                      </p:cBhvr>
                                      <p:tavLst>
                                        <p:tav tm="0">
                                          <p:val>
                                            <p:strVal val="#ppt_x"/>
                                          </p:val>
                                        </p:tav>
                                        <p:tav tm="100000">
                                          <p:val>
                                            <p:strVal val="#ppt_x"/>
                                          </p:val>
                                        </p:tav>
                                      </p:tavLst>
                                    </p:anim>
                                    <p:anim calcmode="lin" valueType="num">
                                      <p:cBhvr additive="base">
                                        <p:cTn id="11" dur="250" fill="hold"/>
                                        <p:tgtEl>
                                          <p:spTgt spid="5"/>
                                        </p:tgtEl>
                                        <p:attrNameLst>
                                          <p:attrName>ppt_y</p:attrName>
                                        </p:attrNameLst>
                                      </p:cBhvr>
                                      <p:tavLst>
                                        <p:tav tm="0">
                                          <p:val>
                                            <p:strVal val="1+#ppt_h/2"/>
                                          </p:val>
                                        </p:tav>
                                        <p:tav tm="100000">
                                          <p:val>
                                            <p:strVal val="#ppt_y"/>
                                          </p:val>
                                        </p:tav>
                                      </p:tavLst>
                                    </p:anim>
                                  </p:childTnLst>
                                </p:cTn>
                              </p:par>
                            </p:childTnLst>
                          </p:cTn>
                        </p:par>
                        <p:par>
                          <p:cTn id="12" fill="hold">
                            <p:stCondLst>
                              <p:cond delay="2500"/>
                            </p:stCondLst>
                            <p:childTnLst>
                              <p:par>
                                <p:cTn id="13" presetID="2" presetClass="entr" presetSubtype="4"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500" fill="hold"/>
                                        <p:tgtEl>
                                          <p:spTgt spid="9"/>
                                        </p:tgtEl>
                                        <p:attrNameLst>
                                          <p:attrName>ppt_x</p:attrName>
                                        </p:attrNameLst>
                                      </p:cBhvr>
                                      <p:tavLst>
                                        <p:tav tm="0">
                                          <p:val>
                                            <p:strVal val="#ppt_x"/>
                                          </p:val>
                                        </p:tav>
                                        <p:tav tm="100000">
                                          <p:val>
                                            <p:strVal val="#ppt_x"/>
                                          </p:val>
                                        </p:tav>
                                      </p:tavLst>
                                    </p:anim>
                                    <p:anim calcmode="lin" valueType="num">
                                      <p:cBhvr additive="base">
                                        <p:cTn id="21" dur="500" fill="hold"/>
                                        <p:tgtEl>
                                          <p:spTgt spid="9"/>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2" presetClass="entr" presetSubtype="4" fill="hold" nodeType="after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457200" indent="-457200">
              <a:buFont typeface="Arial" panose="020B0604020202020204" pitchFamily="34" charset="0"/>
              <a:buChar char="•"/>
            </a:pPr>
            <a:r>
              <a:rPr lang="en-US" altLang="zh-CN" sz="2800" dirty="0">
                <a:latin typeface="Arial Black" panose="020B0A04020102020204" pitchFamily="34" charset="0"/>
              </a:rPr>
              <a:t>Take full advantage of the food</a:t>
            </a:r>
            <a:endParaRPr lang="zh-CN" altLang="en-US" sz="2800" dirty="0">
              <a:latin typeface="Arial Black" panose="020B0A04020102020204" pitchFamily="34" charset="0"/>
            </a:endParaRPr>
          </a:p>
        </p:txBody>
      </p:sp>
      <p:sp>
        <p:nvSpPr>
          <p:cNvPr id="8" name="文本框 7"/>
          <p:cNvSpPr txBox="1"/>
          <p:nvPr/>
        </p:nvSpPr>
        <p:spPr>
          <a:xfrm>
            <a:off x="6515985" y="1690688"/>
            <a:ext cx="5123122" cy="1384995"/>
          </a:xfrm>
          <a:prstGeom prst="rect">
            <a:avLst/>
          </a:prstGeom>
          <a:noFill/>
        </p:spPr>
        <p:txBody>
          <a:bodyPr wrap="square" rtlCol="0">
            <a:spAutoFit/>
          </a:bodyPr>
          <a:lstStyle/>
          <a:p>
            <a:r>
              <a:rPr lang="en-US" altLang="zh-CN" sz="2800" dirty="0"/>
              <a:t>New technologies  can change food to compost,methane and even plastic </a:t>
            </a:r>
            <a:endParaRPr lang="zh-CN" altLang="en-US" sz="2800" dirty="0"/>
          </a:p>
        </p:txBody>
      </p:sp>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7680" y="1520566"/>
            <a:ext cx="4398336" cy="2231278"/>
          </a:xfrm>
          <a:prstGeom prst="rect">
            <a:avLst/>
          </a:prstGeom>
        </p:spPr>
      </p:pic>
      <p:pic>
        <p:nvPicPr>
          <p:cNvPr id="11" name="内容占位符 10"/>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77680" y="4418308"/>
            <a:ext cx="4398336" cy="2214910"/>
          </a:xfrm>
        </p:spPr>
      </p:pic>
      <p:sp>
        <p:nvSpPr>
          <p:cNvPr id="16" name="文本框 15"/>
          <p:cNvSpPr txBox="1"/>
          <p:nvPr/>
        </p:nvSpPr>
        <p:spPr>
          <a:xfrm>
            <a:off x="6515986" y="4592417"/>
            <a:ext cx="5123122" cy="954107"/>
          </a:xfrm>
          <a:prstGeom prst="rect">
            <a:avLst/>
          </a:prstGeom>
          <a:noFill/>
        </p:spPr>
        <p:txBody>
          <a:bodyPr wrap="square" rtlCol="0">
            <a:spAutoFit/>
          </a:bodyPr>
          <a:lstStyle/>
          <a:p>
            <a:r>
              <a:rPr lang="en-US" altLang="zh-CN" sz="2800" dirty="0"/>
              <a:t>The famous charity organization Food Bank is</a:t>
            </a:r>
            <a:r>
              <a:rPr lang="zh-CN" altLang="en-US" sz="2800" dirty="0"/>
              <a:t> </a:t>
            </a:r>
            <a:r>
              <a:rPr lang="en-US" altLang="zh-CN" sz="2800" dirty="0"/>
              <a:t>thriving</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2" fill="hold" grpId="0" nodeType="afterEffect">
                                  <p:stCondLst>
                                    <p:cond delay="0"/>
                                  </p:stCondLst>
                                  <p:childTnLst>
                                    <p:animClr clrSpc="rgb" dir="cw">
                                      <p:cBhvr override="childStyle">
                                        <p:cTn id="6" dur="2000" fill="hold"/>
                                        <p:tgtEl>
                                          <p:spTgt spid="2"/>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457200" indent="-457200">
              <a:buFont typeface="Arial" panose="020B0604020202020204" pitchFamily="34" charset="0"/>
              <a:buChar char="•"/>
            </a:pPr>
            <a:r>
              <a:rPr lang="en-US" altLang="zh-CN" sz="2800" dirty="0">
                <a:solidFill>
                  <a:schemeClr val="accent2"/>
                </a:solidFill>
                <a:latin typeface="Arial Black" panose="020B0A04020102020204" pitchFamily="34" charset="0"/>
              </a:rPr>
              <a:t>Take full advantage of the food</a:t>
            </a:r>
            <a:endParaRPr lang="zh-CN" altLang="en-US" sz="2800" dirty="0">
              <a:solidFill>
                <a:schemeClr val="accent2"/>
              </a:solidFill>
              <a:latin typeface="Arial Black" panose="020B0A04020102020204" pitchFamily="34" charset="0"/>
            </a:endParaRPr>
          </a:p>
        </p:txBody>
      </p:sp>
      <p:sp>
        <p:nvSpPr>
          <p:cNvPr id="3" name="内容占位符 2"/>
          <p:cNvSpPr>
            <a:spLocks noGrp="1"/>
          </p:cNvSpPr>
          <p:nvPr>
            <p:ph idx="1"/>
          </p:nvPr>
        </p:nvSpPr>
        <p:spPr>
          <a:xfrm>
            <a:off x="6096000" y="1922864"/>
            <a:ext cx="4272516" cy="573493"/>
          </a:xfrm>
        </p:spPr>
        <p:txBody>
          <a:bodyPr/>
          <a:lstStyle/>
          <a:p>
            <a:pPr marL="0" indent="0">
              <a:buNone/>
            </a:pPr>
            <a:r>
              <a:rPr lang="en-US" altLang="zh-CN" dirty="0"/>
              <a:t>change trash to treasure </a:t>
            </a:r>
          </a:p>
          <a:p>
            <a:pPr marL="0" indent="0">
              <a:buNone/>
            </a:pPr>
            <a:endParaRPr lang="zh-CN" altLang="en-US" dirty="0"/>
          </a:p>
        </p:txBody>
      </p:sp>
      <p:pic>
        <p:nvPicPr>
          <p:cNvPr id="6" name="图片 5"/>
          <p:cNvPicPr>
            <a:picLocks noChangeAspect="1"/>
          </p:cNvPicPr>
          <p:nvPr/>
        </p:nvPicPr>
        <p:blipFill>
          <a:blip r:embed="rId2"/>
          <a:stretch>
            <a:fillRect/>
          </a:stretch>
        </p:blipFill>
        <p:spPr>
          <a:xfrm>
            <a:off x="893849" y="1383340"/>
            <a:ext cx="3985784" cy="2361516"/>
          </a:xfrm>
          <a:prstGeom prst="rect">
            <a:avLst/>
          </a:prstGeom>
        </p:spPr>
      </p:pic>
      <p:sp>
        <p:nvSpPr>
          <p:cNvPr id="7" name="文本框 6"/>
          <p:cNvSpPr txBox="1"/>
          <p:nvPr/>
        </p:nvSpPr>
        <p:spPr>
          <a:xfrm>
            <a:off x="6096000" y="1167468"/>
            <a:ext cx="2296632" cy="707886"/>
          </a:xfrm>
          <a:prstGeom prst="rect">
            <a:avLst/>
          </a:prstGeom>
          <a:noFill/>
        </p:spPr>
        <p:txBody>
          <a:bodyPr wrap="square" rtlCol="0">
            <a:spAutoFit/>
          </a:bodyPr>
          <a:lstStyle/>
          <a:p>
            <a:r>
              <a:rPr lang="en-US" altLang="zh-CN" sz="4000" b="1" dirty="0">
                <a:latin typeface="Agency FB" panose="020B0503020202020204" pitchFamily="34" charset="0"/>
              </a:rPr>
              <a:t>FOODCYCLE</a:t>
            </a:r>
            <a:endParaRPr lang="zh-CN" altLang="en-US" sz="4000" b="1" dirty="0">
              <a:latin typeface="Agency FB" panose="020B0503020202020204" pitchFamily="34" charset="0"/>
            </a:endParaRPr>
          </a:p>
        </p:txBody>
      </p:sp>
      <p:pic>
        <p:nvPicPr>
          <p:cNvPr id="12" name="图片 11"/>
          <p:cNvPicPr>
            <a:picLocks noChangeAspect="1"/>
          </p:cNvPicPr>
          <p:nvPr/>
        </p:nvPicPr>
        <p:blipFill rotWithShape="1">
          <a:blip r:embed="rId3"/>
          <a:srcRect l="36815"/>
          <a:stretch>
            <a:fillRect/>
          </a:stretch>
        </p:blipFill>
        <p:spPr>
          <a:xfrm>
            <a:off x="893849" y="4067665"/>
            <a:ext cx="4005278" cy="2510344"/>
          </a:xfrm>
          <a:prstGeom prst="rect">
            <a:avLst/>
          </a:prstGeom>
        </p:spPr>
      </p:pic>
      <p:pic>
        <p:nvPicPr>
          <p:cNvPr id="16" name="图片 15"/>
          <p:cNvPicPr>
            <a:picLocks noChangeAspect="1"/>
          </p:cNvPicPr>
          <p:nvPr/>
        </p:nvPicPr>
        <p:blipFill rotWithShape="1">
          <a:blip r:embed="rId4"/>
          <a:srcRect r="60580"/>
          <a:stretch>
            <a:fillRect/>
          </a:stretch>
        </p:blipFill>
        <p:spPr>
          <a:xfrm>
            <a:off x="6096000" y="2607849"/>
            <a:ext cx="3799367" cy="397016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descr="7b0a202020202274657874626f78223a20227b5c2269645c223a32303334303532312c5c227469645c223a5c225c227d220a7d0a"/>
          <p:cNvGrpSpPr/>
          <p:nvPr/>
        </p:nvGrpSpPr>
        <p:grpSpPr>
          <a:xfrm>
            <a:off x="142240" y="212"/>
            <a:ext cx="6057900" cy="2146300"/>
            <a:chOff x="4830" y="2808"/>
            <a:chExt cx="9540" cy="4860"/>
          </a:xfrm>
        </p:grpSpPr>
        <p:pic>
          <p:nvPicPr>
            <p:cNvPr id="23" name="图片 22" descr="横板绿色小清新_复制"/>
            <p:cNvPicPr>
              <a:picLocks noChangeAspect="1"/>
            </p:cNvPicPr>
            <p:nvPr>
              <p:custDataLst>
                <p:tags r:id="rId1"/>
              </p:custDataLst>
            </p:nvPr>
          </p:nvPicPr>
          <p:blipFill>
            <a:blip>
              <a:extLst>
                <a:ext uri="{96DAC541-7B7A-43D3-8B79-37D633B846F1}">
                  <asvg:svgBlip xmlns:asvg="http://schemas.microsoft.com/office/drawing/2016/SVG/main" r:embed="rId4"/>
                </a:ext>
              </a:extLst>
            </a:blip>
            <a:stretch>
              <a:fillRect/>
            </a:stretch>
          </p:blipFill>
          <p:spPr>
            <a:xfrm>
              <a:off x="4830" y="2808"/>
              <a:ext cx="9540" cy="4860"/>
            </a:xfrm>
            <a:prstGeom prst="rect">
              <a:avLst/>
            </a:prstGeom>
          </p:spPr>
        </p:pic>
        <p:sp>
          <p:nvSpPr>
            <p:cNvPr id="24" name="文本框 23"/>
            <p:cNvSpPr txBox="1"/>
            <p:nvPr>
              <p:custDataLst>
                <p:tags r:id="rId2"/>
              </p:custDataLst>
            </p:nvPr>
          </p:nvSpPr>
          <p:spPr>
            <a:xfrm>
              <a:off x="6186" y="4601"/>
              <a:ext cx="6828" cy="1598"/>
            </a:xfrm>
            <a:prstGeom prst="rect">
              <a:avLst/>
            </a:prstGeom>
            <a:noFill/>
          </p:spPr>
          <p:txBody>
            <a:bodyPr wrap="square" rtlCol="0">
              <a:normAutofit/>
              <a:scene3d>
                <a:camera prst="orthographicFront"/>
                <a:lightRig rig="threePt" dir="t"/>
              </a:scene3d>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a:ln w="22225">
                    <a:solidFill>
                      <a:schemeClr val="accent2"/>
                    </a:solidFill>
                    <a:prstDash val="solid"/>
                  </a:ln>
                  <a:solidFill>
                    <a:schemeClr val="accent2">
                      <a:lumMod val="40000"/>
                      <a:lumOff val="60000"/>
                    </a:schemeClr>
                  </a:solidFill>
                  <a:effectLst/>
                  <a:latin typeface="Eras Bold ITC" panose="020B0907030504020204" pitchFamily="34" charset="0"/>
                  <a:ea typeface="汉仪中黑简" panose="02010609000101010101" charset="-122"/>
                  <a:cs typeface="Eras Bold ITC" panose="020B0907030504020204" pitchFamily="34" charset="0"/>
                </a:rPr>
                <a:t>Economize on meals</a:t>
              </a:r>
            </a:p>
            <a:p>
              <a:pPr algn="ctr"/>
              <a:endParaRPr lang="zh-CN" altLang="en-US" sz="2400" b="1">
                <a:ln w="22225">
                  <a:solidFill>
                    <a:schemeClr val="accent2"/>
                  </a:solidFill>
                  <a:prstDash val="solid"/>
                </a:ln>
                <a:solidFill>
                  <a:schemeClr val="accent2">
                    <a:lumMod val="40000"/>
                    <a:lumOff val="60000"/>
                  </a:schemeClr>
                </a:solidFill>
                <a:effectLst/>
                <a:latin typeface="Eras Bold ITC" panose="020B0907030504020204" pitchFamily="34" charset="0"/>
                <a:ea typeface="汉仪中黑简" panose="02010609000101010101" charset="-122"/>
                <a:cs typeface="Eras Bold ITC" panose="020B0907030504020204" pitchFamily="34" charset="0"/>
              </a:endParaRPr>
            </a:p>
          </p:txBody>
        </p:sp>
      </p:grpSp>
      <p:sp>
        <p:nvSpPr>
          <p:cNvPr id="25" name="文本框 24"/>
          <p:cNvSpPr txBox="1"/>
          <p:nvPr/>
        </p:nvSpPr>
        <p:spPr>
          <a:xfrm>
            <a:off x="6700520" y="2447290"/>
            <a:ext cx="3235960" cy="3458210"/>
          </a:xfrm>
          <a:prstGeom prst="rect">
            <a:avLst/>
          </a:prstGeom>
          <a:noFill/>
        </p:spPr>
        <p:txBody>
          <a:bodyPr wrap="square" rtlCol="0" anchor="t">
            <a:noAutofit/>
          </a:bodyPr>
          <a:lstStyle/>
          <a:p>
            <a:r>
              <a:rPr lang="en-US" altLang="zh-CN" sz="2400" dirty="0">
                <a:latin typeface="Eras Bold ITC" panose="020B0907030504020204" pitchFamily="34" charset="0"/>
                <a:ea typeface="+mn-ea"/>
              </a:rPr>
              <a:t>Individuals can pay attention to their own dining needs and only order what they can finish to avoid excessive leftovers.</a:t>
            </a:r>
          </a:p>
        </p:txBody>
      </p:sp>
      <p:pic>
        <p:nvPicPr>
          <p:cNvPr id="100" name="图片 99"/>
          <p:cNvPicPr/>
          <p:nvPr/>
        </p:nvPicPr>
        <p:blipFill>
          <a:blip r:embed="rId5"/>
          <a:stretch>
            <a:fillRect/>
          </a:stretch>
        </p:blipFill>
        <p:spPr>
          <a:xfrm>
            <a:off x="455930" y="2565400"/>
            <a:ext cx="3023235" cy="3930015"/>
          </a:xfrm>
          <a:prstGeom prst="rect">
            <a:avLst/>
          </a:prstGeom>
          <a:noFill/>
          <a:ln w="9525">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descr="7b0a202020202274657874626f78223a20227b5c2269645c223a32303334303639352c5c227469645c223a5c225c227d220a7d0a"/>
          <p:cNvGrpSpPr/>
          <p:nvPr/>
        </p:nvGrpSpPr>
        <p:grpSpPr>
          <a:xfrm>
            <a:off x="764662" y="208915"/>
            <a:ext cx="3585210" cy="1530350"/>
            <a:chOff x="3309" y="3735"/>
            <a:chExt cx="8079" cy="3610"/>
          </a:xfrm>
        </p:grpSpPr>
        <p:pic>
          <p:nvPicPr>
            <p:cNvPr id="22" name="图片 21" descr="简约框_画板 1"/>
            <p:cNvPicPr>
              <a:picLocks noChangeAspect="1"/>
            </p:cNvPicPr>
            <p:nvPr>
              <p:custDataLst>
                <p:tags r:id="rId1"/>
              </p:custDataLst>
            </p:nvPr>
          </p:nvPicPr>
          <p:blipFill>
            <a:blip>
              <a:extLst>
                <a:ext uri="{96DAC541-7B7A-43D3-8B79-37D633B846F1}">
                  <asvg:svgBlip xmlns:asvg="http://schemas.microsoft.com/office/drawing/2016/SVG/main" r:embed="rId4"/>
                </a:ext>
              </a:extLst>
            </a:blip>
            <a:stretch>
              <a:fillRect/>
            </a:stretch>
          </p:blipFill>
          <p:spPr>
            <a:xfrm>
              <a:off x="3309" y="3735"/>
              <a:ext cx="8079" cy="3610"/>
            </a:xfrm>
            <a:prstGeom prst="rect">
              <a:avLst/>
            </a:prstGeom>
          </p:spPr>
        </p:pic>
        <p:sp>
          <p:nvSpPr>
            <p:cNvPr id="25" name="文本框 24"/>
            <p:cNvSpPr txBox="1"/>
            <p:nvPr>
              <p:custDataLst>
                <p:tags r:id="rId2"/>
              </p:custDataLst>
            </p:nvPr>
          </p:nvSpPr>
          <p:spPr>
            <a:xfrm>
              <a:off x="4823" y="5638"/>
              <a:ext cx="5903" cy="1107"/>
            </a:xfrm>
            <a:prstGeom prst="rect">
              <a:avLst/>
            </a:prstGeom>
            <a:noFill/>
          </p:spPr>
          <p:txBody>
            <a:bodyPr wrap="square" rtlCol="0" anchor="ctr" anchorCtr="0">
              <a:noAutofit/>
              <a:scene3d>
                <a:camera prst="orthographicFront"/>
                <a:lightRig rig="threePt" dir="t"/>
              </a:scene3d>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ctr"/>
              <a:r>
                <a:rPr lang="zh-CN" altLang="en-US" sz="2400" b="1">
                  <a:ln w="22225">
                    <a:solidFill>
                      <a:schemeClr val="accent2"/>
                    </a:solidFill>
                    <a:prstDash val="solid"/>
                  </a:ln>
                  <a:solidFill>
                    <a:schemeClr val="accent2">
                      <a:lumMod val="40000"/>
                      <a:lumOff val="60000"/>
                    </a:schemeClr>
                  </a:solidFill>
                  <a:effectLst/>
                  <a:latin typeface="Eras Bold ITC" panose="020B0907030504020204" pitchFamily="34" charset="0"/>
                  <a:ea typeface="汉仪中黑简" panose="02010609000101010101" charset="-122"/>
                  <a:cs typeface="Eras Bold ITC" panose="020B0907030504020204" pitchFamily="34" charset="0"/>
                </a:rPr>
                <a:t>Sharing food</a:t>
              </a:r>
            </a:p>
            <a:p>
              <a:pPr algn="l" fontAlgn="ctr"/>
              <a:endParaRPr lang="zh-CN" altLang="en-US" sz="2400" b="1">
                <a:ln w="22225">
                  <a:solidFill>
                    <a:schemeClr val="accent2"/>
                  </a:solidFill>
                  <a:prstDash val="solid"/>
                </a:ln>
                <a:solidFill>
                  <a:schemeClr val="accent2">
                    <a:lumMod val="40000"/>
                    <a:lumOff val="60000"/>
                  </a:schemeClr>
                </a:solidFill>
                <a:effectLst/>
                <a:latin typeface="Eras Bold ITC" panose="020B0907030504020204" pitchFamily="34" charset="0"/>
                <a:ea typeface="汉仪中黑简" panose="02010609000101010101" charset="-122"/>
                <a:cs typeface="Eras Bold ITC" panose="020B0907030504020204" pitchFamily="34" charset="0"/>
              </a:endParaRPr>
            </a:p>
          </p:txBody>
        </p:sp>
      </p:grpSp>
      <p:pic>
        <p:nvPicPr>
          <p:cNvPr id="101" name="图片 100"/>
          <p:cNvPicPr/>
          <p:nvPr/>
        </p:nvPicPr>
        <p:blipFill>
          <a:blip r:embed="rId5"/>
          <a:stretch>
            <a:fillRect/>
          </a:stretch>
        </p:blipFill>
        <p:spPr>
          <a:xfrm>
            <a:off x="410210" y="2624455"/>
            <a:ext cx="4010660" cy="2472690"/>
          </a:xfrm>
          <a:prstGeom prst="rect">
            <a:avLst/>
          </a:prstGeom>
          <a:noFill/>
          <a:ln w="9525">
            <a:noFill/>
          </a:ln>
        </p:spPr>
      </p:pic>
      <p:sp>
        <p:nvSpPr>
          <p:cNvPr id="26" name="文本框 25"/>
          <p:cNvSpPr txBox="1"/>
          <p:nvPr/>
        </p:nvSpPr>
        <p:spPr>
          <a:xfrm>
            <a:off x="5807710" y="1412875"/>
            <a:ext cx="4572000" cy="3784600"/>
          </a:xfrm>
          <a:prstGeom prst="rect">
            <a:avLst/>
          </a:prstGeom>
          <a:noFill/>
        </p:spPr>
        <p:txBody>
          <a:bodyPr wrap="square" rtlCol="0" anchor="t">
            <a:spAutoFit/>
          </a:bodyPr>
          <a:lstStyle/>
          <a:p>
            <a:r>
              <a:rPr lang="zh-CN" altLang="en-US" sz="2400">
                <a:latin typeface="Eras Bold ITC" panose="020B0907030504020204" pitchFamily="34" charset="0"/>
                <a:ea typeface="汉仪中黑简" panose="02010609000101010101" charset="-122"/>
                <a:cs typeface="Eras Bold ITC" panose="020B0907030504020204" pitchFamily="34" charset="0"/>
              </a:rPr>
              <a:t> preventing food waste caused by ordering too much individually. </a:t>
            </a:r>
          </a:p>
          <a:p>
            <a:endParaRPr lang="zh-CN" altLang="en-US" sz="2400">
              <a:latin typeface="Eras Bold ITC" panose="020B0907030504020204" pitchFamily="34" charset="0"/>
              <a:ea typeface="汉仪中黑简" panose="02010609000101010101" charset="-122"/>
              <a:cs typeface="Eras Bold ITC" panose="020B0907030504020204" pitchFamily="34" charset="0"/>
            </a:endParaRPr>
          </a:p>
          <a:p>
            <a:endParaRPr lang="zh-CN" altLang="en-US" sz="2400">
              <a:latin typeface="Eras Bold ITC" panose="020B0907030504020204" pitchFamily="34" charset="0"/>
              <a:ea typeface="汉仪中黑简" panose="02010609000101010101" charset="-122"/>
              <a:cs typeface="Eras Bold ITC" panose="020B0907030504020204" pitchFamily="34" charset="0"/>
            </a:endParaRPr>
          </a:p>
          <a:p>
            <a:endParaRPr lang="zh-CN" altLang="en-US" sz="2400">
              <a:latin typeface="Eras Bold ITC" panose="020B0907030504020204" pitchFamily="34" charset="0"/>
              <a:ea typeface="汉仪中黑简" panose="02010609000101010101" charset="-122"/>
              <a:cs typeface="Eras Bold ITC" panose="020B0907030504020204" pitchFamily="34" charset="0"/>
            </a:endParaRPr>
          </a:p>
          <a:p>
            <a:endParaRPr lang="zh-CN" altLang="en-US" sz="2400">
              <a:latin typeface="Eras Bold ITC" panose="020B0907030504020204" pitchFamily="34" charset="0"/>
              <a:ea typeface="汉仪中黑简" panose="02010609000101010101" charset="-122"/>
              <a:cs typeface="Eras Bold ITC" panose="020B0907030504020204" pitchFamily="34" charset="0"/>
            </a:endParaRPr>
          </a:p>
          <a:p>
            <a:r>
              <a:rPr lang="zh-CN" altLang="en-US" sz="2400">
                <a:latin typeface="Eras Bold ITC" panose="020B0907030504020204" pitchFamily="34" charset="0"/>
                <a:ea typeface="汉仪中黑简" panose="02010609000101010101" charset="-122"/>
                <a:cs typeface="Eras Bold ITC" panose="020B0907030504020204" pitchFamily="34" charset="0"/>
              </a:rPr>
              <a:t>explore various types of food and reduce waste from individual over-ordering.</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形 7"/>
          <p:cNvPicPr>
            <a:picLocks noChangeAspect="1"/>
          </p:cNvPicPr>
          <p:nvPr/>
        </p:nvPicPr>
        <p:blipFill>
          <a:blip r:embed="rId3"/>
          <a:stretch>
            <a:fillRect/>
          </a:stretch>
        </p:blipFill>
        <p:spPr>
          <a:xfrm>
            <a:off x="9917151" y="251019"/>
            <a:ext cx="1992352" cy="552566"/>
          </a:xfrm>
          <a:prstGeom prst="rect">
            <a:avLst/>
          </a:prstGeom>
        </p:spPr>
      </p:pic>
      <p:sp>
        <p:nvSpPr>
          <p:cNvPr id="12" name="文本框 11"/>
          <p:cNvSpPr txBox="1"/>
          <p:nvPr/>
        </p:nvSpPr>
        <p:spPr>
          <a:xfrm>
            <a:off x="-635" y="2258060"/>
            <a:ext cx="12192635" cy="1322070"/>
          </a:xfrm>
          <a:prstGeom prst="rect">
            <a:avLst/>
          </a:prstGeom>
          <a:noFill/>
        </p:spPr>
        <p:txBody>
          <a:bodyPr wrap="square" rtlCol="0">
            <a:spAutoFit/>
          </a:bodyPr>
          <a:lstStyle/>
          <a:p>
            <a:pPr algn="ctr"/>
            <a:r>
              <a:rPr lang="en-US" altLang="zh-CN" sz="8000" b="1" dirty="0">
                <a:solidFill>
                  <a:schemeClr val="tx1"/>
                </a:solidFill>
                <a:latin typeface="微软雅黑" panose="020B0503020204020204" pitchFamily="34" charset="-122"/>
                <a:ea typeface="微软雅黑" panose="020B0503020204020204" pitchFamily="34" charset="-122"/>
                <a:sym typeface="Arial Narrow" panose="020B0606020202030204" pitchFamily="34" charset="0"/>
              </a:rPr>
              <a:t>Conclusion</a:t>
            </a:r>
          </a:p>
        </p:txBody>
      </p:sp>
      <p:pic>
        <p:nvPicPr>
          <p:cNvPr id="13" name="图片 12"/>
          <p:cNvPicPr>
            <a:picLocks noChangeAspect="1"/>
          </p:cNvPicPr>
          <p:nvPr/>
        </p:nvPicPr>
        <p:blipFill rotWithShape="1">
          <a:blip r:embed="rId4" cstate="print"/>
          <a:srcRect/>
          <a:stretch>
            <a:fillRect/>
          </a:stretch>
        </p:blipFill>
        <p:spPr>
          <a:xfrm>
            <a:off x="0" y="3750698"/>
            <a:ext cx="12191999" cy="3094308"/>
          </a:xfrm>
          <a:prstGeom prst="rect">
            <a:avLst/>
          </a:prstGeom>
        </p:spPr>
      </p:pic>
      <p:sp>
        <p:nvSpPr>
          <p:cNvPr id="14" name="矩形 13"/>
          <p:cNvSpPr/>
          <p:nvPr/>
        </p:nvSpPr>
        <p:spPr>
          <a:xfrm>
            <a:off x="-1" y="3750698"/>
            <a:ext cx="12191999" cy="3094308"/>
          </a:xfrm>
          <a:prstGeom prst="rect">
            <a:avLst/>
          </a:prstGeom>
          <a:solidFill>
            <a:schemeClr val="tx2">
              <a:lumMod val="60000"/>
              <a:lumOff val="40000"/>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Narrow" panose="020B0606020202030204" pitchFamily="34" charset="0"/>
              <a:ea typeface="汉仪润圆-45简" panose="00020600040101010101" pitchFamily="18" charset="-122"/>
              <a:sym typeface="Arial Narrow" panose="020B060602020203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 name="图片 99"/>
          <p:cNvPicPr/>
          <p:nvPr>
            <p:custDataLst>
              <p:tags r:id="rId1"/>
            </p:custDataLst>
          </p:nvPr>
        </p:nvPicPr>
        <p:blipFill>
          <a:blip r:embed="rId3"/>
          <a:stretch>
            <a:fillRect/>
          </a:stretch>
        </p:blipFill>
        <p:spPr>
          <a:xfrm>
            <a:off x="331470" y="727075"/>
            <a:ext cx="5764530" cy="5414645"/>
          </a:xfrm>
          <a:prstGeom prst="rect">
            <a:avLst/>
          </a:prstGeom>
          <a:noFill/>
          <a:ln w="9525">
            <a:noFill/>
          </a:ln>
        </p:spPr>
      </p:pic>
      <p:sp>
        <p:nvSpPr>
          <p:cNvPr id="4" name="文本框 3"/>
          <p:cNvSpPr txBox="1"/>
          <p:nvPr/>
        </p:nvSpPr>
        <p:spPr>
          <a:xfrm>
            <a:off x="6385560" y="2559050"/>
            <a:ext cx="5577205" cy="3944620"/>
          </a:xfrm>
          <a:prstGeom prst="rect">
            <a:avLst/>
          </a:prstGeom>
          <a:noFill/>
        </p:spPr>
        <p:txBody>
          <a:bodyPr wrap="square" rtlCol="0">
            <a:noAutofit/>
          </a:bodyPr>
          <a:lstStyle/>
          <a:p>
            <a:r>
              <a:rPr lang="en-US" altLang="zh-CN" sz="2800"/>
              <a:t>All of above is just talking if we don’t take action.</a:t>
            </a:r>
          </a:p>
          <a:p>
            <a:endParaRPr lang="en-US" altLang="zh-CN" sz="2800"/>
          </a:p>
          <a:p>
            <a:r>
              <a:rPr lang="en-US" altLang="en-US" sz="2800"/>
              <a:t>As individual, we can take action first and e</a:t>
            </a:r>
            <a:r>
              <a:rPr lang="zh-CN" altLang="en-US" sz="2800"/>
              <a:t>very small step counts. </a:t>
            </a:r>
          </a:p>
          <a:p>
            <a:endParaRPr lang="zh-CN" altLang="en-US" sz="2800"/>
          </a:p>
          <a:p>
            <a:r>
              <a:rPr lang="zh-CN" altLang="en-US" sz="2800"/>
              <a:t>Together, we can reduce </a:t>
            </a:r>
            <a:r>
              <a:rPr lang="en-US" altLang="zh-CN" sz="2800"/>
              <a:t>the food </a:t>
            </a:r>
            <a:r>
              <a:rPr lang="zh-CN" altLang="en-US" sz="2800"/>
              <a:t>waste and create a more sustainable future. </a:t>
            </a:r>
          </a:p>
          <a:p>
            <a:endParaRPr lang="zh-CN" altLang="en-US" sz="2800"/>
          </a:p>
          <a:p>
            <a:endParaRPr lang="zh-CN" altLang="en-US" sz="2800"/>
          </a:p>
        </p:txBody>
      </p:sp>
      <p:sp>
        <p:nvSpPr>
          <p:cNvPr id="5" name="文本框 4"/>
          <p:cNvSpPr txBox="1"/>
          <p:nvPr/>
        </p:nvSpPr>
        <p:spPr>
          <a:xfrm>
            <a:off x="6095365" y="575310"/>
            <a:ext cx="6096635" cy="1753235"/>
          </a:xfrm>
          <a:prstGeom prst="rect">
            <a:avLst/>
          </a:prstGeom>
          <a:noFill/>
        </p:spPr>
        <p:txBody>
          <a:bodyPr wrap="square" rtlCol="0">
            <a:spAutoFit/>
          </a:bodyPr>
          <a:lstStyle/>
          <a:p>
            <a:r>
              <a:rPr lang="zh-CN" altLang="en-US" sz="5400" b="1">
                <a:sym typeface="+mn-ea"/>
              </a:rPr>
              <a:t>Take action against food waste</a:t>
            </a:r>
            <a:r>
              <a:rPr lang="zh-CN" altLang="en-US" b="1">
                <a:sym typeface="+mn-ea"/>
              </a:rPr>
              <a:t>.</a:t>
            </a:r>
            <a:endParaRPr lang="zh-CN" altLang="en-US" b="1"/>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3" cstate="print"/>
          <a:srcRect/>
          <a:stretch>
            <a:fillRect/>
          </a:stretch>
        </p:blipFill>
        <p:spPr>
          <a:xfrm>
            <a:off x="0" y="-1"/>
            <a:ext cx="12192000" cy="6858001"/>
          </a:xfrm>
          <a:prstGeom prst="rect">
            <a:avLst/>
          </a:prstGeom>
        </p:spPr>
      </p:pic>
      <p:sp>
        <p:nvSpPr>
          <p:cNvPr id="5" name="矩形 4"/>
          <p:cNvSpPr/>
          <p:nvPr/>
        </p:nvSpPr>
        <p:spPr>
          <a:xfrm>
            <a:off x="0" y="0"/>
            <a:ext cx="12192000" cy="6858000"/>
          </a:xfrm>
          <a:prstGeom prst="rect">
            <a:avLst/>
          </a:prstGeom>
          <a:solidFill>
            <a:schemeClr val="tx2">
              <a:lumMod val="50000"/>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Narrow" panose="020B0606020202030204" pitchFamily="34" charset="0"/>
              <a:ea typeface="汉仪润圆-45简" panose="00020600040101010101" pitchFamily="18" charset="-122"/>
              <a:sym typeface="Arial Narrow" panose="020B0606020202030204" pitchFamily="34" charset="0"/>
            </a:endParaRPr>
          </a:p>
        </p:txBody>
      </p:sp>
      <p:sp>
        <p:nvSpPr>
          <p:cNvPr id="2" name="文本框 1"/>
          <p:cNvSpPr txBox="1"/>
          <p:nvPr/>
        </p:nvSpPr>
        <p:spPr>
          <a:xfrm>
            <a:off x="1100078" y="1849834"/>
            <a:ext cx="6165850" cy="2245360"/>
          </a:xfrm>
          <a:prstGeom prst="rect">
            <a:avLst/>
          </a:prstGeom>
          <a:noFill/>
        </p:spPr>
        <p:txBody>
          <a:bodyPr wrap="none" rtlCol="0">
            <a:spAutoFit/>
          </a:bodyPr>
          <a:lstStyle/>
          <a:p>
            <a:r>
              <a:rPr lang="en-US" altLang="zh-CN" sz="14000" dirty="0">
                <a:solidFill>
                  <a:schemeClr val="bg1"/>
                </a:solidFill>
                <a:latin typeface="微软雅黑" panose="020B0503020204020204" pitchFamily="34" charset="-122"/>
                <a:ea typeface="微软雅黑" panose="020B0503020204020204" pitchFamily="34" charset="-122"/>
                <a:sym typeface="Arial Narrow" panose="020B0606020202030204" pitchFamily="34" charset="0"/>
              </a:rPr>
              <a:t>Thanks</a:t>
            </a:r>
          </a:p>
        </p:txBody>
      </p:sp>
      <p:pic>
        <p:nvPicPr>
          <p:cNvPr id="9" name="图形 8"/>
          <p:cNvPicPr>
            <a:picLocks noChangeAspect="1"/>
          </p:cNvPicPr>
          <p:nvPr/>
        </p:nvPicPr>
        <p:blipFill>
          <a:blip r:embed="rId4"/>
          <a:stretch>
            <a:fillRect/>
          </a:stretch>
        </p:blipFill>
        <p:spPr>
          <a:xfrm>
            <a:off x="9917151" y="251019"/>
            <a:ext cx="1992352" cy="55256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8321e2d9-8c29-495f-8fb1-ba261f6ee64a&quot;,&quot;Name&quot;:null,&quot;Kind&quot;:&quot;Custom&quot;,&quot;OldGuidesSetting&quot;:{&quot;HeaderHeight&quot;:0.0,&quot;FooterHeight&quot;:0.0,&quot;SideMargin&quot;:0.0,&quot;TopMargin&quot;:0.0,&quot;BottomMargin&quot;:0.0,&quot;IntervalMargin&quot;:0.0}}"/>
  <p:tag name="KSO_WPP_MARK_KEY" val="ad91f043-4035-4235-b0a8-16730bcea98c"/>
  <p:tag name="COMMONDATA" val="eyJoZGlkIjoiMDIyMGZjYzEyOTM5ZDY3Zjk3OGI1MTUwZTBiMGZiZmIifQ=="/>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529*542"/>
  <p:tag name="TABLE_ENDDRAG_RECT" val="-1*-2*529*542"/>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rgbClr val="000000"/>
      </a:dk1>
      <a:lt1>
        <a:srgbClr val="FFFFFF"/>
      </a:lt1>
      <a:dk2>
        <a:srgbClr val="778495"/>
      </a:dk2>
      <a:lt2>
        <a:srgbClr val="F0F0F0"/>
      </a:lt2>
      <a:accent1>
        <a:srgbClr val="B34552"/>
      </a:accent1>
      <a:accent2>
        <a:srgbClr val="C55C6A"/>
      </a:accent2>
      <a:accent3>
        <a:srgbClr val="C67480"/>
      </a:accent3>
      <a:accent4>
        <a:srgbClr val="E28297"/>
      </a:accent4>
      <a:accent5>
        <a:srgbClr val="B4B4B4"/>
      </a:accent5>
      <a:accent6>
        <a:srgbClr val="D8D8D8"/>
      </a:accent6>
      <a:hlink>
        <a:srgbClr val="4472C4"/>
      </a:hlink>
      <a:folHlink>
        <a:srgbClr val="BFBFBF"/>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778495"/>
    </a:dk2>
    <a:lt2>
      <a:srgbClr val="F0F0F0"/>
    </a:lt2>
    <a:accent1>
      <a:srgbClr val="B34552"/>
    </a:accent1>
    <a:accent2>
      <a:srgbClr val="C55C6A"/>
    </a:accent2>
    <a:accent3>
      <a:srgbClr val="C67480"/>
    </a:accent3>
    <a:accent4>
      <a:srgbClr val="E28297"/>
    </a:accent4>
    <a:accent5>
      <a:srgbClr val="B4B4B4"/>
    </a:accent5>
    <a:accent6>
      <a:srgbClr val="D8D8D8"/>
    </a:accent6>
    <a:hlink>
      <a:srgbClr val="4472C4"/>
    </a:hlink>
    <a:folHlink>
      <a:srgbClr val="BFBFBF"/>
    </a:folHlink>
  </a:clrScheme>
</a:themeOverride>
</file>

<file path=ppt/theme/themeOverride2.xml><?xml version="1.0" encoding="utf-8"?>
<a:themeOverride xmlns:a="http://schemas.openxmlformats.org/drawingml/2006/main">
  <a:clrScheme name="Office">
    <a:dk1>
      <a:srgbClr val="000000"/>
    </a:dk1>
    <a:lt1>
      <a:srgbClr val="FFFFFF"/>
    </a:lt1>
    <a:dk2>
      <a:srgbClr val="778495"/>
    </a:dk2>
    <a:lt2>
      <a:srgbClr val="F0F0F0"/>
    </a:lt2>
    <a:accent1>
      <a:srgbClr val="B34552"/>
    </a:accent1>
    <a:accent2>
      <a:srgbClr val="C55C6A"/>
    </a:accent2>
    <a:accent3>
      <a:srgbClr val="C67480"/>
    </a:accent3>
    <a:accent4>
      <a:srgbClr val="E28297"/>
    </a:accent4>
    <a:accent5>
      <a:srgbClr val="B4B4B4"/>
    </a:accent5>
    <a:accent6>
      <a:srgbClr val="D8D8D8"/>
    </a:accent6>
    <a:hlink>
      <a:srgbClr val="4472C4"/>
    </a:hlink>
    <a:folHlink>
      <a:srgbClr val="BFBFBF"/>
    </a:folHlink>
  </a:clrScheme>
</a:themeOverride>
</file>

<file path=ppt/theme/themeOverride3.xml><?xml version="1.0" encoding="utf-8"?>
<a:themeOverride xmlns:a="http://schemas.openxmlformats.org/drawingml/2006/main">
  <a:clrScheme name="Office">
    <a:dk1>
      <a:srgbClr val="000000"/>
    </a:dk1>
    <a:lt1>
      <a:srgbClr val="FFFFFF"/>
    </a:lt1>
    <a:dk2>
      <a:srgbClr val="778495"/>
    </a:dk2>
    <a:lt2>
      <a:srgbClr val="F0F0F0"/>
    </a:lt2>
    <a:accent1>
      <a:srgbClr val="B34552"/>
    </a:accent1>
    <a:accent2>
      <a:srgbClr val="C55C6A"/>
    </a:accent2>
    <a:accent3>
      <a:srgbClr val="C67480"/>
    </a:accent3>
    <a:accent4>
      <a:srgbClr val="E28297"/>
    </a:accent4>
    <a:accent5>
      <a:srgbClr val="B4B4B4"/>
    </a:accent5>
    <a:accent6>
      <a:srgbClr val="D8D8D8"/>
    </a:accent6>
    <a:hlink>
      <a:srgbClr val="4472C4"/>
    </a:hlink>
    <a:folHlink>
      <a:srgbClr val="BFBFBF"/>
    </a:folHlink>
  </a:clrScheme>
</a:themeOverride>
</file>

<file path=ppt/theme/themeOverride4.xml><?xml version="1.0" encoding="utf-8"?>
<a:themeOverride xmlns:a="http://schemas.openxmlformats.org/drawingml/2006/main">
  <a:clrScheme name="Office">
    <a:dk1>
      <a:srgbClr val="000000"/>
    </a:dk1>
    <a:lt1>
      <a:srgbClr val="FFFFFF"/>
    </a:lt1>
    <a:dk2>
      <a:srgbClr val="778495"/>
    </a:dk2>
    <a:lt2>
      <a:srgbClr val="F0F0F0"/>
    </a:lt2>
    <a:accent1>
      <a:srgbClr val="B34552"/>
    </a:accent1>
    <a:accent2>
      <a:srgbClr val="C55C6A"/>
    </a:accent2>
    <a:accent3>
      <a:srgbClr val="C67480"/>
    </a:accent3>
    <a:accent4>
      <a:srgbClr val="E28297"/>
    </a:accent4>
    <a:accent5>
      <a:srgbClr val="B4B4B4"/>
    </a:accent5>
    <a:accent6>
      <a:srgbClr val="D8D8D8"/>
    </a:accent6>
    <a:hlink>
      <a:srgbClr val="4472C4"/>
    </a:hlink>
    <a:folHlink>
      <a:srgbClr val="BFBFBF"/>
    </a:folHlink>
  </a:clrScheme>
</a:themeOverride>
</file>

<file path=ppt/theme/themeOverride5.xml><?xml version="1.0" encoding="utf-8"?>
<a:themeOverride xmlns:a="http://schemas.openxmlformats.org/drawingml/2006/main">
  <a:clrScheme name="Office">
    <a:dk1>
      <a:srgbClr val="000000"/>
    </a:dk1>
    <a:lt1>
      <a:srgbClr val="FFFFFF"/>
    </a:lt1>
    <a:dk2>
      <a:srgbClr val="778495"/>
    </a:dk2>
    <a:lt2>
      <a:srgbClr val="F0F0F0"/>
    </a:lt2>
    <a:accent1>
      <a:srgbClr val="B34552"/>
    </a:accent1>
    <a:accent2>
      <a:srgbClr val="C55C6A"/>
    </a:accent2>
    <a:accent3>
      <a:srgbClr val="C67480"/>
    </a:accent3>
    <a:accent4>
      <a:srgbClr val="E28297"/>
    </a:accent4>
    <a:accent5>
      <a:srgbClr val="B4B4B4"/>
    </a:accent5>
    <a:accent6>
      <a:srgbClr val="D8D8D8"/>
    </a:accent6>
    <a:hlink>
      <a:srgbClr val="4472C4"/>
    </a:hlink>
    <a:folHlink>
      <a:srgbClr val="BFBFBF"/>
    </a:folHlink>
  </a:clrScheme>
</a:themeOverride>
</file>

<file path=ppt/theme/themeOverride6.xml><?xml version="1.0" encoding="utf-8"?>
<a:themeOverride xmlns:a="http://schemas.openxmlformats.org/drawingml/2006/main">
  <a:clrScheme name="Office">
    <a:dk1>
      <a:srgbClr val="000000"/>
    </a:dk1>
    <a:lt1>
      <a:srgbClr val="FFFFFF"/>
    </a:lt1>
    <a:dk2>
      <a:srgbClr val="778495"/>
    </a:dk2>
    <a:lt2>
      <a:srgbClr val="F0F0F0"/>
    </a:lt2>
    <a:accent1>
      <a:srgbClr val="B34552"/>
    </a:accent1>
    <a:accent2>
      <a:srgbClr val="C55C6A"/>
    </a:accent2>
    <a:accent3>
      <a:srgbClr val="C67480"/>
    </a:accent3>
    <a:accent4>
      <a:srgbClr val="E28297"/>
    </a:accent4>
    <a:accent5>
      <a:srgbClr val="B4B4B4"/>
    </a:accent5>
    <a:accent6>
      <a:srgbClr val="D8D8D8"/>
    </a:accent6>
    <a:hlink>
      <a:srgbClr val="4472C4"/>
    </a:hlink>
    <a:folHlink>
      <a:srgbClr val="BFBFBF"/>
    </a:folHlink>
  </a:clrScheme>
</a:themeOverride>
</file>

<file path=ppt/theme/themeOverride7.xml><?xml version="1.0" encoding="utf-8"?>
<a:themeOverride xmlns:a="http://schemas.openxmlformats.org/drawingml/2006/main">
  <a:clrScheme name="Office">
    <a:dk1>
      <a:srgbClr val="000000"/>
    </a:dk1>
    <a:lt1>
      <a:srgbClr val="FFFFFF"/>
    </a:lt1>
    <a:dk2>
      <a:srgbClr val="778495"/>
    </a:dk2>
    <a:lt2>
      <a:srgbClr val="F0F0F0"/>
    </a:lt2>
    <a:accent1>
      <a:srgbClr val="B34552"/>
    </a:accent1>
    <a:accent2>
      <a:srgbClr val="C55C6A"/>
    </a:accent2>
    <a:accent3>
      <a:srgbClr val="C67480"/>
    </a:accent3>
    <a:accent4>
      <a:srgbClr val="E28297"/>
    </a:accent4>
    <a:accent5>
      <a:srgbClr val="B4B4B4"/>
    </a:accent5>
    <a:accent6>
      <a:srgbClr val="D8D8D8"/>
    </a:accent6>
    <a:hlink>
      <a:srgbClr val="4472C4"/>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0</TotalTime>
  <Words>925</Words>
  <Application>Microsoft Office PowerPoint</Application>
  <PresentationFormat>宽屏</PresentationFormat>
  <Paragraphs>121</Paragraphs>
  <Slides>28</Slides>
  <Notes>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28</vt:i4>
      </vt:variant>
    </vt:vector>
  </HeadingPairs>
  <TitlesOfParts>
    <vt:vector size="41" baseType="lpstr">
      <vt:lpstr>Söhne</vt:lpstr>
      <vt:lpstr>等线</vt:lpstr>
      <vt:lpstr>等线 Light</vt:lpstr>
      <vt:lpstr>微软雅黑</vt:lpstr>
      <vt:lpstr>Agency FB</vt:lpstr>
      <vt:lpstr>Arial</vt:lpstr>
      <vt:lpstr>Arial Black</vt:lpstr>
      <vt:lpstr>Arial Narrow</vt:lpstr>
      <vt:lpstr>Calibri</vt:lpstr>
      <vt:lpstr>Eras Bold ITC</vt:lpstr>
      <vt:lpstr>Segoe Print</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why do we college students waste too much food? </vt:lpstr>
      <vt:lpstr>PowerPoint 演示文稿</vt:lpstr>
      <vt:lpstr>PowerPoint 演示文稿</vt:lpstr>
      <vt:lpstr>PowerPoint 演示文稿</vt:lpstr>
      <vt:lpstr>PowerPoint 演示文稿</vt:lpstr>
      <vt:lpstr>PowerPoint 演示文稿</vt:lpstr>
      <vt:lpstr>Or this：</vt:lpstr>
      <vt:lpstr>PowerPoint 演示文稿</vt:lpstr>
      <vt:lpstr>Objective reason 2 ：  lack of portion options </vt:lpstr>
      <vt:lpstr>PowerPoint 演示文稿</vt:lpstr>
      <vt:lpstr>PowerPoint 演示文稿</vt:lpstr>
      <vt:lpstr>PowerPoint 演示文稿</vt:lpstr>
      <vt:lpstr>How to deal with the Food Waste</vt:lpstr>
      <vt:lpstr>Propagate the severity of food waste</vt:lpstr>
      <vt:lpstr>Educate people to save food</vt:lpstr>
      <vt:lpstr>Take full advantage of the food</vt:lpstr>
      <vt:lpstr>Take full advantage of the food</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小考拉</dc:creator>
  <cp:lastModifiedBy>执正 玄</cp:lastModifiedBy>
  <cp:revision>62</cp:revision>
  <dcterms:created xsi:type="dcterms:W3CDTF">2022-12-05T11:39:00Z</dcterms:created>
  <dcterms:modified xsi:type="dcterms:W3CDTF">2026-08-29T06:22:53Z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9940DD8247DA4298B61611B68697A453_12</vt:lpwstr>
  </property>
  <property fmtid="{D5CDD505-2E9C-101B-9397-08002B2CF9AE}" pid="3" name="KSOProductBuildVer">
    <vt:lpwstr>2052-12.1.0.15712</vt:lpwstr>
  </property>
</Properties>
</file>