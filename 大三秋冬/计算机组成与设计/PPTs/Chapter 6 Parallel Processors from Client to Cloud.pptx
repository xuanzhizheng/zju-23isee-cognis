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70" r:id="rId2"/>
    <p:sldId id="271" r:id="rId3"/>
    <p:sldId id="288" r:id="rId4"/>
    <p:sldId id="289" r:id="rId5"/>
    <p:sldId id="274" r:id="rId6"/>
    <p:sldId id="275" r:id="rId7"/>
    <p:sldId id="290" r:id="rId8"/>
    <p:sldId id="291" r:id="rId9"/>
    <p:sldId id="292" r:id="rId10"/>
    <p:sldId id="337" r:id="rId11"/>
    <p:sldId id="338" r:id="rId12"/>
    <p:sldId id="339" r:id="rId13"/>
    <p:sldId id="340" r:id="rId14"/>
    <p:sldId id="341" r:id="rId15"/>
    <p:sldId id="333" r:id="rId16"/>
    <p:sldId id="334" r:id="rId17"/>
    <p:sldId id="335" r:id="rId18"/>
    <p:sldId id="336" r:id="rId19"/>
    <p:sldId id="294" r:id="rId20"/>
    <p:sldId id="295" r:id="rId21"/>
    <p:sldId id="296" r:id="rId22"/>
    <p:sldId id="342" r:id="rId23"/>
    <p:sldId id="343" r:id="rId24"/>
    <p:sldId id="344" r:id="rId25"/>
    <p:sldId id="345" r:id="rId26"/>
    <p:sldId id="346" r:id="rId27"/>
    <p:sldId id="347" r:id="rId28"/>
    <p:sldId id="298" r:id="rId29"/>
    <p:sldId id="299" r:id="rId30"/>
    <p:sldId id="300" r:id="rId31"/>
    <p:sldId id="301" r:id="rId32"/>
    <p:sldId id="302" r:id="rId33"/>
    <p:sldId id="306" r:id="rId34"/>
    <p:sldId id="321" r:id="rId35"/>
    <p:sldId id="320" r:id="rId36"/>
    <p:sldId id="287" r:id="rId37"/>
  </p:sldIdLst>
  <p:sldSz cx="9144000" cy="6858000" type="screen4x3"/>
  <p:notesSz cx="7099300" cy="10234613"/>
  <p:custDataLst>
    <p:tags r:id="rId40"/>
  </p:custDataLst>
  <p:defaultTextStyle>
    <a:defPPr>
      <a:defRPr lang="en-AU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FF"/>
    <a:srgbClr val="66FF66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97"/>
    <p:restoredTop sz="94619"/>
  </p:normalViewPr>
  <p:slideViewPr>
    <p:cSldViewPr snapToObjects="1" showGuides="1">
      <p:cViewPr varScale="1">
        <p:scale>
          <a:sx n="90" d="100"/>
          <a:sy n="90" d="100"/>
        </p:scale>
        <p:origin x="133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64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Morgan Kaufmann Publishers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B4F920-4B24-47CB-A55D-F1E8D33E3952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17 September, 2025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Chapter 7 — Multicores, Multiprocessors, and Clusters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/>
          <a:p>
            <a:pPr lvl="0" algn="r" defTabSz="967105">
              <a:buNone/>
            </a:pPr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Morgan Kaufmann Publishers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AF5A6B-E595-4C51-B2E3-29472AE40783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17 September, 2025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994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Chapter 7 — Multicores, Multiprocessors, and Clusters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/>
          <a:p>
            <a:pPr lvl="0" algn="r" defTabSz="967105">
              <a:buNone/>
            </a:pPr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409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409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419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419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430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430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440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440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450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450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4608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460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471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471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481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481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491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491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01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01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12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12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222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22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325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325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13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427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2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42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2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529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53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3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632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63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734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73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837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3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83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3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5939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593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041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04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144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14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24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24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34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34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45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45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24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553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55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65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65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26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75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75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27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86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86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28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696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696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29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706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706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6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7168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716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31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727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727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737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737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33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747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7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747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34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7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757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757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35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</a:p>
        </p:txBody>
      </p:sp>
      <p:sp>
        <p:nvSpPr>
          <p:cNvPr id="768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lstStyle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17 September, 2025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7 — Multicores, Multiprocessors, and Clusters</a:t>
            </a:r>
          </a:p>
        </p:txBody>
      </p:sp>
      <p:sp>
        <p:nvSpPr>
          <p:cNvPr id="768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矩形 295937"/>
          <p:cNvSpPr/>
          <p:nvPr userDrawn="1"/>
        </p:nvSpPr>
        <p:spPr>
          <a:xfrm>
            <a:off x="1331595" y="1144588"/>
            <a:ext cx="28575" cy="5732462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39" name="标题 295938"/>
          <p:cNvSpPr>
            <a:spLocks noGrp="1"/>
          </p:cNvSpPr>
          <p:nvPr>
            <p:ph type="ctrTitle" hasCustomPrompt="1"/>
          </p:nvPr>
        </p:nvSpPr>
        <p:spPr>
          <a:xfrm>
            <a:off x="1864360" y="1844675"/>
            <a:ext cx="693420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lvl="0">
              <a:buClrTx/>
              <a:buSzTx/>
              <a:buFontTx/>
              <a:defRPr>
                <a:latin typeface="Arial Black" panose="020B0A04020102020204" pitchFamily="34" charset="0"/>
              </a:defRPr>
            </a:lvl1pPr>
          </a:lstStyle>
          <a:p>
            <a:pPr lvl="0"/>
            <a:r>
              <a:rPr lang="en-AU" altLang="zh-CN" dirty="0"/>
              <a:t>Chapter …</a:t>
            </a:r>
          </a:p>
        </p:txBody>
      </p:sp>
      <p:sp>
        <p:nvSpPr>
          <p:cNvPr id="295940" name="副标题 295939"/>
          <p:cNvSpPr>
            <a:spLocks noGrp="1"/>
          </p:cNvSpPr>
          <p:nvPr>
            <p:ph type="subTitle" idx="1" hasCustomPrompt="1"/>
          </p:nvPr>
        </p:nvSpPr>
        <p:spPr>
          <a:xfrm>
            <a:off x="1877060" y="2924175"/>
            <a:ext cx="692785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marL="0" lvl="0" indent="0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5pPr>
          </a:lstStyle>
          <a:p>
            <a:pPr lvl="0"/>
            <a:r>
              <a:rPr lang="en-AU" altLang="zh-CN" dirty="0"/>
              <a:t>Subtitle</a:t>
            </a:r>
          </a:p>
        </p:txBody>
      </p:sp>
      <p:sp>
        <p:nvSpPr>
          <p:cNvPr id="295941" name="矩形 295940"/>
          <p:cNvSpPr/>
          <p:nvPr userDrawn="1"/>
        </p:nvSpPr>
        <p:spPr>
          <a:xfrm>
            <a:off x="1619885" y="198882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42" name="矩形 295941"/>
          <p:cNvSpPr/>
          <p:nvPr userDrawn="1"/>
        </p:nvSpPr>
        <p:spPr>
          <a:xfrm>
            <a:off x="1403985" y="2708910"/>
            <a:ext cx="7491730" cy="7620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43" name="矩形 295942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45" name="矩形 295944"/>
          <p:cNvSpPr/>
          <p:nvPr userDrawn="1"/>
        </p:nvSpPr>
        <p:spPr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946" name="矩形 295945"/>
          <p:cNvSpPr/>
          <p:nvPr userDrawn="1"/>
        </p:nvSpPr>
        <p:spPr>
          <a:xfrm>
            <a:off x="1331595" y="568325"/>
            <a:ext cx="28575" cy="576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950" y="1905"/>
            <a:ext cx="1127125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 userDrawn="1"/>
        </p:nvSpPr>
        <p:spPr>
          <a:xfrm>
            <a:off x="1456690" y="0"/>
            <a:ext cx="7506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Computer Organization &amp; Design</a:t>
            </a:r>
            <a:br>
              <a:rPr lang="en-US" altLang="zh-CN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—The Hardware/Software Interface</a:t>
            </a:r>
            <a:br>
              <a:rPr lang="en-US" altLang="zh-CN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RISC-V EDITION</a:t>
            </a:r>
            <a:endParaRPr lang="zh-CN" alt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2DC64F-19FA-F9CF-C153-59F4DF0AB3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4C92FE-9606-7EF1-7D27-EA7E6FC1FF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2729" cy="511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2359" y="1125538"/>
            <a:ext cx="4052729" cy="511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4EDAD-91CB-BE07-6934-8811ACEE33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17A14A63-59E6-3F60-EC06-744591E8C9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983F36-495A-1C00-2346-8D8C9AB398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F9977DEF-7664-BC2A-4B8E-EB045770B6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2F79E-E387-10F9-3129-DE5E00F0E4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112B7-FAA5-4FCE-8824-3D66DF18C4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E1BCED-E4A1-6310-DD80-388D345B50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7369" y="146050"/>
            <a:ext cx="2067719" cy="60912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83288" cy="60912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437367-FAF6-8958-45F9-FA5A8179AE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7E3F6-3651-40EB-DD6E-8F422FF5C8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2EC9C-39FD-A276-8B20-65A082BEF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C46926-F3AD-92F2-2F72-E52EB0B3C3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>
                <a:latin typeface="Arial" panose="020B0604020202020204" pitchFamily="34" charset="0"/>
              </a:rPr>
              <a:t>Chapter </a:t>
            </a:r>
            <a:r>
              <a:rPr lang="en-US" altLang="en-AU">
                <a:latin typeface="Arial" panose="020B0604020202020204" pitchFamily="34" charset="0"/>
              </a:rPr>
              <a:t>6</a:t>
            </a:r>
            <a:r>
              <a:rPr lang="en-AU" altLang="zh-CN">
                <a:latin typeface="Arial" panose="020B0604020202020204" pitchFamily="34" charset="0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smtClean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矩形 294913"/>
          <p:cNvSpPr/>
          <p:nvPr/>
        </p:nvSpPr>
        <p:spPr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4915" name="标题 29491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/>
            <a:r>
              <a:rPr lang="en-AU" altLang="zh-CN" dirty="0"/>
              <a:t>Click to edit Master title style</a:t>
            </a:r>
          </a:p>
        </p:txBody>
      </p:sp>
      <p:sp>
        <p:nvSpPr>
          <p:cNvPr id="294916" name="文本占位符 294915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51117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AU" altLang="zh-CN" dirty="0"/>
              <a:t>Click to edit Master text styles</a:t>
            </a:r>
          </a:p>
          <a:p>
            <a:pPr lvl="1"/>
            <a:r>
              <a:rPr lang="en-AU" altLang="zh-CN" dirty="0"/>
              <a:t>Second level</a:t>
            </a:r>
          </a:p>
          <a:p>
            <a:pPr lvl="2"/>
            <a:r>
              <a:rPr lang="en-AU" altLang="zh-CN" dirty="0"/>
              <a:t>Third level</a:t>
            </a:r>
          </a:p>
          <a:p>
            <a:pPr lvl="3"/>
            <a:r>
              <a:rPr lang="en-AU" altLang="zh-CN" dirty="0"/>
              <a:t>Fourth level</a:t>
            </a:r>
          </a:p>
          <a:p>
            <a:pPr lvl="4"/>
            <a:r>
              <a:rPr lang="en-AU" altLang="zh-CN" dirty="0"/>
              <a:t>Fifth level</a:t>
            </a:r>
          </a:p>
        </p:txBody>
      </p:sp>
      <p:sp>
        <p:nvSpPr>
          <p:cNvPr id="294917" name="页脚占位符 294916"/>
          <p:cNvSpPr>
            <a:spLocks noGrp="1"/>
          </p:cNvSpPr>
          <p:nvPr>
            <p:ph type="ftr" sz="quarter" idx="3"/>
          </p:nvPr>
        </p:nvSpPr>
        <p:spPr>
          <a:xfrm>
            <a:off x="859155" y="6381750"/>
            <a:ext cx="8105775" cy="3587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400" b="1"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</a:t>
            </a:r>
            <a:r>
              <a:rPr lang="en-US" altLang="en-AU" dirty="0">
                <a:latin typeface="Arial" panose="020B0604020202020204" pitchFamily="34" charset="0"/>
              </a:rPr>
              <a:t>6</a:t>
            </a:r>
            <a:r>
              <a:rPr lang="en-AU" altLang="zh-CN" dirty="0">
                <a:latin typeface="Arial" panose="020B0604020202020204" pitchFamily="34" charset="0"/>
              </a:rPr>
              <a:t>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Parallel Processors</a:t>
            </a:r>
            <a:r>
              <a:rPr lang="en-US" altLang="en-AU" sz="1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from Client to Cloud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4919" name="矩形 294918"/>
          <p:cNvSpPr/>
          <p:nvPr/>
        </p:nvSpPr>
        <p:spPr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7950" y="6324600"/>
            <a:ext cx="461645" cy="4603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/>
          </p:cNvSpPr>
          <p:nvPr>
            <p:ph type="ctrTitle" hasCustomPrompt="1"/>
          </p:nvPr>
        </p:nvSpPr>
        <p:spPr>
          <a:xfrm>
            <a:off x="1864360" y="1844675"/>
            <a:ext cx="6934200" cy="768350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eaLnBrk="1" hangingPunct="1">
              <a:buClrTx/>
              <a:buSzTx/>
              <a:buFontTx/>
            </a:pPr>
            <a:r>
              <a:rPr lang="en-AU" altLang="zh-CN" dirty="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j-cs"/>
              </a:rPr>
              <a:t>Chapter 6</a:t>
            </a:r>
          </a:p>
        </p:txBody>
      </p:sp>
      <p:sp>
        <p:nvSpPr>
          <p:cNvPr id="4099" name="Rectangle 5"/>
          <p:cNvSpPr>
            <a:spLocks noGrp="1"/>
          </p:cNvSpPr>
          <p:nvPr>
            <p:ph type="subTitle" idx="1" hasCustomPrompt="1"/>
          </p:nvPr>
        </p:nvSpPr>
        <p:spPr>
          <a:xfrm>
            <a:off x="1877060" y="2924175"/>
            <a:ext cx="6927850" cy="1076325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eaLnBrk="1" hangingPunct="1">
              <a:buSzPct val="60000"/>
            </a:pPr>
            <a:r>
              <a:rPr lang="en-AU" altLang="zh-CN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Parallel Processors from Client to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Introduction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Goal: connecting multiple computers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to get higher performance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Multiprocessors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Scalability, availability, power efficiency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Job-level (process-level) parallelism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High throughput for independent jobs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Parallel processing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Single program run on multiple processors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Multicore microprocessors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Chips with multiple processors (cores)</a:t>
            </a:r>
          </a:p>
        </p:txBody>
      </p:sp>
      <p:sp>
        <p:nvSpPr>
          <p:cNvPr id="5125" name="Text Box 4"/>
          <p:cNvSpPr txBox="1"/>
          <p:nvPr/>
        </p:nvSpPr>
        <p:spPr>
          <a:xfrm rot="5400000">
            <a:off x="8008938" y="757238"/>
            <a:ext cx="1901825" cy="36988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§6.1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3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Hardware and Software</a:t>
            </a:r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Hardware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Serial: e.g., Pentium 4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Parallel: e.g., Intel Core i7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Software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Sequential: e.g., matrix multiplication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Concurrent: e.g., operating system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Sequential/concurrent software can run on serial/parallel hardware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Challenge: making effective use of parallel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4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What We’ve Already Covered</a:t>
            </a: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§2.11: Parallelism and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§3.6: Parallelism and Computer Arithmetic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Subword Parallelism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§4.10: Parallelism via Instructions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§5.10: Parallelism and Memory Hierarchies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Cache Coherence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5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Parallel Programming</a:t>
            </a:r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Parallel software is the problem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Need to get significant performance improvement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Otherwise, just use a faster uniprocessor, since it’s easier!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Difficulties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Partitioning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Coordination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Communications overhead</a:t>
            </a:r>
          </a:p>
        </p:txBody>
      </p:sp>
      <p:sp>
        <p:nvSpPr>
          <p:cNvPr id="8197" name="Text Box 4"/>
          <p:cNvSpPr txBox="1"/>
          <p:nvPr/>
        </p:nvSpPr>
        <p:spPr>
          <a:xfrm rot="5400000">
            <a:off x="5826125" y="2949575"/>
            <a:ext cx="62674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§6.2 The Difficulty of Creating Parallel Processing Programs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6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Amdahl’s Law</a:t>
            </a:r>
          </a:p>
        </p:txBody>
      </p:sp>
      <p:sp>
        <p:nvSpPr>
          <p:cNvPr id="10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Sequential part can limit speedup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100 processors, 90</a:t>
            </a:r>
            <a:r>
              <a:rPr lang="en-US" altLang="zh-CN" dirty="0">
                <a:ea typeface="宋体" panose="02010600030101010101" pitchFamily="2" charset="-122"/>
              </a:rPr>
              <a:t>×</a:t>
            </a:r>
            <a:r>
              <a:rPr lang="en-AU" altLang="zh-CN" dirty="0">
                <a:ea typeface="宋体" panose="02010600030101010101" pitchFamily="2" charset="-122"/>
              </a:rPr>
              <a:t> speedup?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T</a:t>
            </a:r>
            <a:r>
              <a:rPr lang="en-AU" altLang="zh-CN" baseline="-25000" dirty="0">
                <a:ea typeface="宋体" panose="02010600030101010101" pitchFamily="2" charset="-122"/>
              </a:rPr>
              <a:t>new</a:t>
            </a:r>
            <a:r>
              <a:rPr lang="en-AU" altLang="zh-CN" dirty="0">
                <a:ea typeface="宋体" panose="02010600030101010101" pitchFamily="2" charset="-122"/>
              </a:rPr>
              <a:t> = T</a:t>
            </a:r>
            <a:r>
              <a:rPr lang="en-AU" altLang="zh-CN" baseline="-25000" dirty="0">
                <a:ea typeface="宋体" panose="02010600030101010101" pitchFamily="2" charset="-122"/>
              </a:rPr>
              <a:t>parallelizable</a:t>
            </a:r>
            <a:r>
              <a:rPr lang="en-AU" altLang="zh-CN" dirty="0">
                <a:ea typeface="宋体" panose="02010600030101010101" pitchFamily="2" charset="-122"/>
              </a:rPr>
              <a:t>/100 + T</a:t>
            </a:r>
            <a:r>
              <a:rPr lang="en-AU" altLang="zh-CN" baseline="-25000" dirty="0">
                <a:ea typeface="宋体" panose="02010600030101010101" pitchFamily="2" charset="-122"/>
              </a:rPr>
              <a:t>sequential</a:t>
            </a:r>
          </a:p>
          <a:p>
            <a:pPr lvl="1" eaLnBrk="1" hangingPunct="1">
              <a:spcBef>
                <a:spcPct val="100000"/>
              </a:spcBef>
              <a:spcAft>
                <a:spcPct val="100000"/>
              </a:spcAft>
            </a:pP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Solving: F</a:t>
            </a:r>
            <a:r>
              <a:rPr lang="en-AU" altLang="zh-CN" baseline="-25000" dirty="0">
                <a:ea typeface="宋体" panose="02010600030101010101" pitchFamily="2" charset="-122"/>
              </a:rPr>
              <a:t>parallelizable</a:t>
            </a: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 = 0.999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Need sequential part to be 0.1% of original time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026" name="Object 4"/>
          <p:cNvGraphicFramePr/>
          <p:nvPr/>
        </p:nvGraphicFramePr>
        <p:xfrm>
          <a:off x="1492250" y="3016250"/>
          <a:ext cx="67437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72130" imgH="444500" progId="Equation.3">
                  <p:embed/>
                </p:oleObj>
              </mc:Choice>
              <mc:Fallback>
                <p:oleObj r:id="rId3" imgW="3072130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2250" y="3016250"/>
                        <a:ext cx="6743700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7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Scaling Example</a:t>
            </a:r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Workload: sum of 10 scalars, and 10 </a:t>
            </a:r>
            <a:r>
              <a:rPr lang="en-US" altLang="zh-CN" sz="2800" dirty="0">
                <a:ea typeface="宋体" panose="02010600030101010101" pitchFamily="2" charset="-122"/>
              </a:rPr>
              <a:t>× 10 matrix sum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Speed up from 10 to 100 processors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Single processor: Time = (10 + 100) × t</a:t>
            </a:r>
            <a:r>
              <a:rPr lang="en-US" altLang="zh-CN" sz="2800" baseline="-25000" dirty="0">
                <a:ea typeface="宋体" panose="02010600030101010101" pitchFamily="2" charset="-122"/>
              </a:rPr>
              <a:t>add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10 processors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Time = 10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r>
              <a:rPr lang="en-US" altLang="zh-CN" sz="2400" dirty="0">
                <a:ea typeface="宋体" panose="02010600030101010101" pitchFamily="2" charset="-122"/>
              </a:rPr>
              <a:t> + 100/10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r>
              <a:rPr lang="en-US" altLang="zh-CN" sz="2400" dirty="0">
                <a:ea typeface="宋体" panose="02010600030101010101" pitchFamily="2" charset="-122"/>
              </a:rPr>
              <a:t> = 20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Speedup = 110/20 = 5.5 (55% of potential)</a:t>
            </a:r>
            <a:endParaRPr lang="en-US" altLang="zh-CN" sz="2400" baseline="-25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100 processors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Time = 10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r>
              <a:rPr lang="en-US" altLang="zh-CN" sz="2400" dirty="0">
                <a:ea typeface="宋体" panose="02010600030101010101" pitchFamily="2" charset="-122"/>
              </a:rPr>
              <a:t> + 100/100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r>
              <a:rPr lang="en-US" altLang="zh-CN" sz="2400" dirty="0">
                <a:ea typeface="宋体" panose="02010600030101010101" pitchFamily="2" charset="-122"/>
              </a:rPr>
              <a:t> = 11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Speedup = 110/11 = 10 (10% of potential)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Assumes load can be balanced across processors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8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Scaling Example (cont)</a:t>
            </a:r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What if matrix size is 100 </a:t>
            </a:r>
            <a:r>
              <a:rPr lang="en-US" altLang="zh-CN" sz="2800" dirty="0">
                <a:ea typeface="宋体" panose="02010600030101010101" pitchFamily="2" charset="-122"/>
              </a:rPr>
              <a:t>× 100?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Single processor: Time = (10 + 10000) × t</a:t>
            </a:r>
            <a:r>
              <a:rPr lang="en-US" altLang="zh-CN" sz="2800" baseline="-25000" dirty="0">
                <a:ea typeface="宋体" panose="02010600030101010101" pitchFamily="2" charset="-122"/>
              </a:rPr>
              <a:t>add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10 processors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Time = 10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r>
              <a:rPr lang="en-US" altLang="zh-CN" sz="2400" dirty="0">
                <a:ea typeface="宋体" panose="02010600030101010101" pitchFamily="2" charset="-122"/>
              </a:rPr>
              <a:t> + 10000/10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r>
              <a:rPr lang="en-US" altLang="zh-CN" sz="2400" dirty="0">
                <a:ea typeface="宋体" panose="02010600030101010101" pitchFamily="2" charset="-122"/>
              </a:rPr>
              <a:t> = 1010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Speedup = 10010/1010 = 9.9 (99% of potential)</a:t>
            </a:r>
            <a:endParaRPr lang="en-US" altLang="zh-CN" sz="2400" baseline="-25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100 processors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Time = 10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r>
              <a:rPr lang="en-US" altLang="zh-CN" sz="2400" dirty="0">
                <a:ea typeface="宋体" panose="02010600030101010101" pitchFamily="2" charset="-122"/>
              </a:rPr>
              <a:t> + 10000/100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  <a:r>
              <a:rPr lang="en-US" altLang="zh-CN" sz="2400" dirty="0">
                <a:ea typeface="宋体" panose="02010600030101010101" pitchFamily="2" charset="-122"/>
              </a:rPr>
              <a:t> = 110 × t</a:t>
            </a:r>
            <a:r>
              <a:rPr lang="en-US" altLang="zh-CN" sz="2400" baseline="-25000" dirty="0">
                <a:ea typeface="宋体" panose="02010600030101010101" pitchFamily="2" charset="-122"/>
              </a:rPr>
              <a:t>add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Speedup = 10010/110 = 91 (91% of potential)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Assuming load balanced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9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Strong vs Weak Scaling</a:t>
            </a:r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Strong scaling: problem size fixed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As in example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Weak scaling: problem size proportional to number of processors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10 processors, 10 </a:t>
            </a:r>
            <a:r>
              <a:rPr lang="en-US" altLang="zh-CN" dirty="0">
                <a:ea typeface="宋体" panose="02010600030101010101" pitchFamily="2" charset="-122"/>
              </a:rPr>
              <a:t>× 10 matrix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Time = 20 × t</a:t>
            </a:r>
            <a:r>
              <a:rPr lang="en-US" altLang="zh-CN" baseline="-25000" dirty="0">
                <a:ea typeface="宋体" panose="02010600030101010101" pitchFamily="2" charset="-122"/>
              </a:rPr>
              <a:t>add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100 processors, 32 </a:t>
            </a:r>
            <a:r>
              <a:rPr lang="en-US" altLang="zh-CN" dirty="0">
                <a:ea typeface="宋体" panose="02010600030101010101" pitchFamily="2" charset="-122"/>
              </a:rPr>
              <a:t>× 32 matrix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Time = 10 × t</a:t>
            </a:r>
            <a:r>
              <a:rPr lang="en-US" altLang="zh-CN" baseline="-25000" dirty="0">
                <a:ea typeface="宋体" panose="02010600030101010101" pitchFamily="2" charset="-122"/>
              </a:rPr>
              <a:t>add</a:t>
            </a:r>
            <a:r>
              <a:rPr lang="en-US" altLang="zh-CN" dirty="0">
                <a:ea typeface="宋体" panose="02010600030101010101" pitchFamily="2" charset="-122"/>
              </a:rPr>
              <a:t> + 1000/100 × t</a:t>
            </a:r>
            <a:r>
              <a:rPr lang="en-US" altLang="zh-CN" baseline="-25000" dirty="0">
                <a:ea typeface="宋体" panose="02010600030101010101" pitchFamily="2" charset="-122"/>
              </a:rPr>
              <a:t>add</a:t>
            </a:r>
            <a:r>
              <a:rPr lang="en-US" altLang="zh-CN" dirty="0">
                <a:ea typeface="宋体" panose="02010600030101010101" pitchFamily="2" charset="-122"/>
              </a:rPr>
              <a:t> = 20 × t</a:t>
            </a:r>
            <a:r>
              <a:rPr lang="en-US" altLang="zh-CN" baseline="-25000" dirty="0">
                <a:ea typeface="宋体" panose="02010600030101010101" pitchFamily="2" charset="-122"/>
              </a:rPr>
              <a:t>add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Constant performance in this example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10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Instruction and Data Streams</a:t>
            </a: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An alternate classification</a:t>
            </a:r>
          </a:p>
        </p:txBody>
      </p:sp>
      <p:sp>
        <p:nvSpPr>
          <p:cNvPr id="12293" name="Text Box 4"/>
          <p:cNvSpPr txBox="1"/>
          <p:nvPr/>
        </p:nvSpPr>
        <p:spPr>
          <a:xfrm rot="5400000">
            <a:off x="6619875" y="2155825"/>
            <a:ext cx="46799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§6.3 </a:t>
            </a:r>
            <a:r>
              <a:rPr lang="en-AU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SISD, MIMD, SIMD, SPMD, and Vector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12381" name="Group 61"/>
          <p:cNvGraphicFramePr>
            <a:graphicFrameLocks noGrp="1"/>
          </p:cNvGraphicFramePr>
          <p:nvPr/>
        </p:nvGraphicFramePr>
        <p:xfrm>
          <a:off x="811213" y="1897063"/>
          <a:ext cx="7529512" cy="2225358"/>
        </p:xfrm>
        <a:graphic>
          <a:graphicData uri="http://schemas.openxmlformats.org/drawingml/2006/table">
            <a:tbl>
              <a:tblPr/>
              <a:tblGrid>
                <a:gridCol w="1382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1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2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 Streams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Single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Multiple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 Streams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Single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SISD</a:t>
                      </a: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:</a:t>
                      </a:r>
                      <a:b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Intel Pentium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SIMD</a:t>
                      </a: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: SSE instructions of x86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8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Multiple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MISD</a:t>
                      </a: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:</a:t>
                      </a:r>
                      <a:b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 examples today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MIMD</a:t>
                      </a: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:</a:t>
                      </a:r>
                      <a:b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Intel Xeon e5345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316" name="Rectangle 62"/>
          <p:cNvSpPr/>
          <p:nvPr/>
        </p:nvSpPr>
        <p:spPr>
          <a:xfrm>
            <a:off x="684213" y="4349750"/>
            <a:ext cx="8270875" cy="17430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AU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SPMD: Single Program Multiple Data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AU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 parallel program on a MIMD computer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AU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Conditional code for different processors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11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SIMD</a:t>
            </a:r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Operate elementwise on vectors of data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E.g., MMX and SSE instructions in x86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Multiple data elements in 128-bit wide registers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All processors execute the same instruction at the same time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Each with different data address, etc.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Simplifies synchronization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Reduced instruction control hardware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Works best for highly data-parallel applications</a:t>
            </a:r>
          </a:p>
          <a:p>
            <a:pPr lvl="1" eaLnBrk="1" hangingPunct="1">
              <a:lnSpc>
                <a:spcPct val="90000"/>
              </a:lnSpc>
            </a:pP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12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Vector Processors</a:t>
            </a: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Highly pipelined function units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Stream data from/to vector registers to units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Data collected from memory into registers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Results stored from registers to memory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Example: Vector extension to RISC-V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32 </a:t>
            </a:r>
            <a:r>
              <a:rPr lang="en-US" altLang="zh-CN" sz="2400" dirty="0">
                <a:ea typeface="宋体" panose="02010600030101010101" pitchFamily="2" charset="-122"/>
              </a:rPr>
              <a:t>× 64-element registers (64-bit elements)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Vector instructions</a:t>
            </a:r>
          </a:p>
          <a:p>
            <a:pPr lvl="2" eaLnBrk="1" hangingPunct="1"/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fld.v</a:t>
            </a:r>
            <a:r>
              <a:rPr lang="en-US" altLang="zh-CN" sz="2000" dirty="0">
                <a:ea typeface="宋体" panose="02010600030101010101" pitchFamily="2" charset="-122"/>
              </a:rPr>
              <a:t>, f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sd.v</a:t>
            </a:r>
            <a:r>
              <a:rPr lang="en-US" altLang="zh-CN" sz="2000" dirty="0">
                <a:ea typeface="宋体" panose="02010600030101010101" pitchFamily="2" charset="-122"/>
              </a:rPr>
              <a:t>: load/store vector</a:t>
            </a:r>
          </a:p>
          <a:p>
            <a:pPr lvl="2" eaLnBrk="1" hangingPunct="1"/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fadd.d.v</a:t>
            </a:r>
            <a:r>
              <a:rPr lang="en-US" altLang="zh-CN" sz="2000" dirty="0">
                <a:ea typeface="宋体" panose="02010600030101010101" pitchFamily="2" charset="-122"/>
              </a:rPr>
              <a:t>: add vectors of double</a:t>
            </a:r>
          </a:p>
          <a:p>
            <a:pPr lvl="2" eaLnBrk="1" hangingPunct="1"/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fadd.d.vs</a:t>
            </a:r>
            <a:r>
              <a:rPr lang="en-US" altLang="zh-CN" sz="2000" dirty="0">
                <a:ea typeface="宋体" panose="02010600030101010101" pitchFamily="2" charset="-122"/>
              </a:rPr>
              <a:t>: add scalar to each element of vector of double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Significantly reduces instruction-fetch bandwidth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13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sz="4000" dirty="0">
                <a:ea typeface="宋体" panose="02010600030101010101" pitchFamily="2" charset="-122"/>
              </a:rPr>
              <a:t>Example: DAXPY (Y = a × X + Y)</a:t>
            </a:r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AU" altLang="zh-CN" sz="1800" dirty="0">
                <a:ea typeface="宋体" panose="02010600030101010101" pitchFamily="2" charset="-122"/>
              </a:rPr>
              <a:t>  Conventional RISC-V code</a:t>
            </a:r>
          </a:p>
          <a:p>
            <a:pPr marL="0" indent="0" eaLnBrk="1" hangingPunct="1">
              <a:lnSpc>
                <a:spcPct val="90000"/>
              </a:lnSpc>
              <a:spcBef>
                <a:spcPct val="30000"/>
              </a:spcBef>
              <a:buNone/>
            </a:pP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fld  f0,a(x3)     	// load scalar a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addi x5,x19,512    	// upper bound of what to load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loop: fld  f1,0(x19)     	// load x(i)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fmul.d f1,f1,f0    	// a × x(i)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fld  f2,0(x20)     	// load y(i)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fadd.d f2,f2,f1    	// a × x(i) + y(i)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fsd  f2,0(x20)     	// store into y(i)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addi x19,x19,8     	// increment index to x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addi x20,x20,8     	// increment index to y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bltu x19,x5,loop 	// repeat if not done</a:t>
            </a:r>
          </a:p>
          <a:p>
            <a:pPr marL="0" indent="0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AU" altLang="zh-CN" sz="1800" dirty="0">
                <a:ea typeface="宋体" panose="02010600030101010101" pitchFamily="2" charset="-122"/>
              </a:rPr>
              <a:t>  Vector RISC-V code</a:t>
            </a:r>
          </a:p>
          <a:p>
            <a:pPr marL="0" indent="0" eaLnBrk="1" hangingPunct="1">
              <a:lnSpc>
                <a:spcPct val="90000"/>
              </a:lnSpc>
              <a:spcBef>
                <a:spcPct val="30000"/>
              </a:spcBef>
              <a:buNone/>
            </a:pP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fld     f0,a(x3)   	// load scalar a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fld.v   v0,0(x19)   	// load vector x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fmul.d.vs v0,v0,f0  	// vector-scalar multiply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fld.v   v1,0(x20)   	// load vector y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fadd.d.v v1,v1,v0  	// vector-vector add</a:t>
            </a:r>
            <a:b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      fsd.v   v1,0(x20)   	// store vector 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14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Vector vs. Scalar</a:t>
            </a:r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Vector architectures and compilers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Simplify data-parallel programming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Explicit statement of absence of loop-carried dependences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Reduced checking in hardware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Regular access patterns benefit from interleaved and burst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Avoid control hazards by avoiding loops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More general than ad-hoc media extensions (such as MMX, SSE)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Better match with compiler technology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15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Multithreading</a:t>
            </a: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Performing multiple threads of execution in parallel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Replicate registers, PC,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Fast switching between threads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Fine-grain multithreading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Switch threads after each cycle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Interleave instruction execution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If one thread stalls, others are executed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Coarse-grain multithreading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Only switch on long stall (e.g., L2-cache miss)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Simplifies hardware, but doesn’t hide short stalls (eg, data hazards)</a:t>
            </a:r>
          </a:p>
        </p:txBody>
      </p:sp>
      <p:sp>
        <p:nvSpPr>
          <p:cNvPr id="17413" name="Text Box 4"/>
          <p:cNvSpPr txBox="1"/>
          <p:nvPr/>
        </p:nvSpPr>
        <p:spPr>
          <a:xfrm rot="5400000">
            <a:off x="7369175" y="1406525"/>
            <a:ext cx="31813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§6.4 Hardware Multithreading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16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Simultaneous Multithreading</a:t>
            </a:r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In multiple-issue dynamically scheduled processor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Schedule instructions from multiple threads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Instructions from independent threads execute when function units are available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Within threads, dependencies handled by scheduling and register renaming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Example: Intel Pentium-4 HT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Two threads: duplicated registers, shared function units and caches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页脚占位符 2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17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19459" name="Picture 5" descr="f07-05-P3744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288" y="1281113"/>
            <a:ext cx="4703762" cy="4838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Multithreading Example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18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Future of Multithreading</a:t>
            </a:r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Will it survive? In what form?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Power considerations </a:t>
            </a: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simplified microarchitectures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Simpler forms of multithreading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Tolerating cache-miss latency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Thread switch may be most effective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Multiple simple cores might share resources more effectively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19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21507" name="Picture 6" descr="f07-02-P3744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038" y="4011613"/>
            <a:ext cx="4541837" cy="2257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Shared Memory</a:t>
            </a:r>
          </a:p>
        </p:txBody>
      </p:sp>
      <p:sp>
        <p:nvSpPr>
          <p:cNvPr id="215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SMP: shared memory multiprocessor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Hardware provides single physical</a:t>
            </a:r>
            <a:br>
              <a:rPr lang="en-AU" altLang="zh-CN" sz="2400" dirty="0">
                <a:ea typeface="宋体" panose="02010600030101010101" pitchFamily="2" charset="-122"/>
              </a:rPr>
            </a:br>
            <a:r>
              <a:rPr lang="en-AU" altLang="zh-CN" sz="2400" dirty="0">
                <a:ea typeface="宋体" panose="02010600030101010101" pitchFamily="2" charset="-122"/>
              </a:rPr>
              <a:t>address space for all processors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Synchronize shared variables using locks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Memory access time</a:t>
            </a:r>
          </a:p>
          <a:p>
            <a:pPr lvl="2" eaLnBrk="1" hangingPunct="1"/>
            <a:r>
              <a:rPr lang="en-AU" altLang="zh-CN" sz="2000" dirty="0">
                <a:ea typeface="宋体" panose="02010600030101010101" pitchFamily="2" charset="-122"/>
              </a:rPr>
              <a:t>UMA (uniform) vs. NUMA (nonuniform)</a:t>
            </a:r>
          </a:p>
          <a:p>
            <a:pPr eaLnBrk="1" hangingPunct="1"/>
            <a:endParaRPr lang="en-AU" altLang="zh-CN" sz="2800" dirty="0">
              <a:ea typeface="宋体" panose="02010600030101010101" pitchFamily="2" charset="-122"/>
            </a:endParaRPr>
          </a:p>
        </p:txBody>
      </p:sp>
      <p:sp>
        <p:nvSpPr>
          <p:cNvPr id="21510" name="Text Box 4"/>
          <p:cNvSpPr txBox="1"/>
          <p:nvPr/>
        </p:nvSpPr>
        <p:spPr>
          <a:xfrm rot="5400000">
            <a:off x="5808663" y="2949575"/>
            <a:ext cx="6269037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§6.5 Multicore and Other Shared Memory Multiprocessors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20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Sum Reduction</a:t>
            </a:r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Sum 100,000 numbers on 100 processor UMA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Each processor has ID: 0 ≤ Pn ≤ 99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Partition 1000 numbers per processor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Initial summation on each processor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AU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  sum[Pn] = 0;</a:t>
            </a:r>
            <a:br>
              <a:rPr lang="en-AU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  for (i = 1000*Pn;</a:t>
            </a:r>
            <a:br>
              <a:rPr lang="en-AU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     i &lt; 1000*(Pn+1); i = i + 1)</a:t>
            </a:r>
            <a:br>
              <a:rPr lang="en-AU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400" dirty="0">
                <a:latin typeface="Lucida Console" panose="020B0609040504020204" pitchFamily="49" charset="0"/>
                <a:ea typeface="宋体" panose="02010600030101010101" pitchFamily="2" charset="-122"/>
              </a:rPr>
              <a:t>    sum[Pn] = sum[Pn] + A[i];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Now need to add these partial sums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Reduction: divide and conquer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Half the processors add pairs, then quarter, …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Need to synchronize between reduction steps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Sum Reduction</a:t>
            </a: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AU" altLang="zh-CN" sz="2000" dirty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half = 100;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repeat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</a:t>
            </a:r>
            <a:r>
              <a:rPr lang="en-AU" altLang="zh-CN" sz="20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synch();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</a:t>
            </a:r>
            <a:r>
              <a:rPr lang="en-AU" altLang="zh-CN" sz="2000" dirty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if (half%2 != 0 &amp;&amp; Pn == 0)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sum[0] = sum[0] + sum[half-1];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/* Conditional sum needed when half is odd;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  Processor0 gets missing element */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half = half/2; /* dividing line on who sums */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  if (Pn &lt; half) sum[Pn] = sum[Pn] + sum[Pn+half];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AU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until (half == 1);</a:t>
            </a:r>
          </a:p>
        </p:txBody>
      </p:sp>
      <p:sp>
        <p:nvSpPr>
          <p:cNvPr id="23554" name="页脚占位符 3"/>
          <p:cNvSpPr txBox="1">
            <a:spLocks noGrp="1"/>
          </p:cNvSpPr>
          <p:nvPr>
            <p:ph type="ftr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21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23557" name="Picture 4" descr="f07-03-P3744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225550"/>
            <a:ext cx="3311525" cy="2066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22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History of GPUs</a:t>
            </a:r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Early video cards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Frame buffer memory with address generation for video output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3D graphics processing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Originally high-end computers (e.g., SGI)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Moore’s Law </a:t>
            </a:r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 lower cost, higher density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3D graphics cards for PCs and game consoles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Graphics Processing Units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Processors oriented to 3D graphics tasks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Vertex/pixel processing, shading, texture mapping,</a:t>
            </a:r>
            <a:b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rasterization</a:t>
            </a:r>
          </a:p>
        </p:txBody>
      </p:sp>
      <p:sp>
        <p:nvSpPr>
          <p:cNvPr id="24581" name="Text Box 4"/>
          <p:cNvSpPr txBox="1"/>
          <p:nvPr/>
        </p:nvSpPr>
        <p:spPr>
          <a:xfrm rot="5400000">
            <a:off x="6511925" y="2263775"/>
            <a:ext cx="48958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§6.6 </a:t>
            </a:r>
            <a:r>
              <a:rPr lang="en-AU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Introduction to Graphics Processing Units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页脚占位符 2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23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25603" name="Picture 9" descr="App-a-02-02-P374493-bott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788" y="2986088"/>
            <a:ext cx="3638550" cy="322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Picture 8" descr="App-a-02-02-P374493-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625" y="1281113"/>
            <a:ext cx="3675063" cy="2279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Picture 7" descr="App-a-02-01-P37449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75" y="3146425"/>
            <a:ext cx="3570288" cy="3006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Graphics in the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24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GPU Architectures</a:t>
            </a: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Processing is highly data-parallel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GPUs are highly multithreaded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Use thread switching to hide memory latency</a:t>
            </a:r>
          </a:p>
          <a:p>
            <a:pPr lvl="2" eaLnBrk="1" hangingPunct="1">
              <a:lnSpc>
                <a:spcPct val="80000"/>
              </a:lnSpc>
            </a:pPr>
            <a:r>
              <a:rPr lang="en-AU" altLang="zh-CN" sz="2000" dirty="0">
                <a:ea typeface="宋体" panose="02010600030101010101" pitchFamily="2" charset="-122"/>
              </a:rPr>
              <a:t>Less reliance on multi-level caches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Graphics memory is wide and high-bandwidth</a:t>
            </a:r>
          </a:p>
          <a:p>
            <a:pPr eaLnBrk="1" hangingPunct="1">
              <a:lnSpc>
                <a:spcPct val="8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Trend toward general purpose GPUs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Heterogeneous CPU/GPU systems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CPU for sequential code, GPU for parallel code</a:t>
            </a:r>
          </a:p>
          <a:p>
            <a:pPr eaLnBrk="1" hangingPunct="1">
              <a:lnSpc>
                <a:spcPct val="8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Programming languages/APIs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DirectX, OpenGL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C for Graphics (Cg), High Level Shader Language (HLSL)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Compute Unified Device Architecture (CUDA)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页脚占位符 2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25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27651" name="Picture 9" descr="App-a-02-05-P3744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3" y="1579563"/>
            <a:ext cx="6743700" cy="435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NVIDIA Tesla</a:t>
            </a:r>
          </a:p>
        </p:txBody>
      </p:sp>
      <p:sp>
        <p:nvSpPr>
          <p:cNvPr id="27653" name="AutoShape 5"/>
          <p:cNvSpPr/>
          <p:nvPr/>
        </p:nvSpPr>
        <p:spPr>
          <a:xfrm>
            <a:off x="7439025" y="1212850"/>
            <a:ext cx="1520825" cy="609600"/>
          </a:xfrm>
          <a:prstGeom prst="borderCallout1">
            <a:avLst>
              <a:gd name="adj1" fmla="val 18750"/>
              <a:gd name="adj2" fmla="val -5009"/>
              <a:gd name="adj3" fmla="val 115366"/>
              <a:gd name="adj4" fmla="val -2139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pPr algn="ctr"/>
            <a:r>
              <a:rPr lang="en-AU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Streaming multiprocessor</a:t>
            </a:r>
          </a:p>
        </p:txBody>
      </p:sp>
      <p:sp>
        <p:nvSpPr>
          <p:cNvPr id="27654" name="Rectangle 7"/>
          <p:cNvSpPr/>
          <p:nvPr/>
        </p:nvSpPr>
        <p:spPr>
          <a:xfrm>
            <a:off x="7526338" y="5659438"/>
            <a:ext cx="1454150" cy="6270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>
              <a:buNone/>
            </a:pPr>
            <a:r>
              <a:rPr lang="en-AU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8 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× </a:t>
            </a:r>
            <a:r>
              <a:rPr lang="en-AU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Streaming</a:t>
            </a:r>
            <a:br>
              <a:rPr lang="en-AU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AU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processors</a:t>
            </a:r>
          </a:p>
        </p:txBody>
      </p:sp>
      <p:sp>
        <p:nvSpPr>
          <p:cNvPr id="27655" name="Line 8"/>
          <p:cNvSpPr/>
          <p:nvPr/>
        </p:nvSpPr>
        <p:spPr>
          <a:xfrm flipH="1" flipV="1">
            <a:off x="7431088" y="4533900"/>
            <a:ext cx="701675" cy="10493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26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28675" name="Picture 5" descr="f07-07-P3744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650" y="3171825"/>
            <a:ext cx="4062413" cy="3146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NVIDIA Tesla</a:t>
            </a:r>
          </a:p>
        </p:txBody>
      </p:sp>
      <p:sp>
        <p:nvSpPr>
          <p:cNvPr id="286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Streaming Processors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Single-precision FP and integer units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Each SP is fine-grained multithreaded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Warp: group of 32 threads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Executed in parallel,</a:t>
            </a:r>
            <a:br>
              <a:rPr lang="en-AU" altLang="zh-CN" dirty="0">
                <a:ea typeface="宋体" panose="02010600030101010101" pitchFamily="2" charset="-122"/>
              </a:rPr>
            </a:br>
            <a:r>
              <a:rPr lang="en-AU" altLang="zh-CN" dirty="0">
                <a:ea typeface="宋体" panose="02010600030101010101" pitchFamily="2" charset="-122"/>
              </a:rPr>
              <a:t>SIMD style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8 SPs</a:t>
            </a:r>
            <a:br>
              <a:rPr lang="en-AU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× 4 clock cycles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Hardware contexts</a:t>
            </a:r>
            <a:br>
              <a:rPr lang="en-AU" altLang="zh-CN" dirty="0">
                <a:ea typeface="宋体" panose="02010600030101010101" pitchFamily="2" charset="-122"/>
              </a:rPr>
            </a:br>
            <a:r>
              <a:rPr lang="en-AU" altLang="zh-CN" dirty="0">
                <a:ea typeface="宋体" panose="02010600030101010101" pitchFamily="2" charset="-122"/>
              </a:rPr>
              <a:t>for 24 warps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Registers, PCs, 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27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Classifying GPUs</a:t>
            </a:r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Don’t fit nicely into SIMD/MIMD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Conditional execution in a thread allows an illusion of MIMD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But with performance degredation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Need to write general purpose code with care</a:t>
            </a:r>
          </a:p>
        </p:txBody>
      </p:sp>
      <p:graphicFrame>
        <p:nvGraphicFramePr>
          <p:cNvPr id="345129" name="Group 41"/>
          <p:cNvGraphicFramePr>
            <a:graphicFrameLocks noGrp="1"/>
          </p:cNvGraphicFramePr>
          <p:nvPr/>
        </p:nvGraphicFramePr>
        <p:xfrm>
          <a:off x="812800" y="3609975"/>
          <a:ext cx="7729538" cy="2332038"/>
        </p:xfrm>
        <a:graphic>
          <a:graphicData uri="http://schemas.openxmlformats.org/drawingml/2006/table">
            <a:tbl>
              <a:tblPr/>
              <a:tblGrid>
                <a:gridCol w="210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Static: Discovered</a:t>
                      </a:r>
                      <a:b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at Compile Time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Dynamic: Discovered at Runtime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Instruction-Level Parallelism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VLIW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Superscalar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Data-Level Parallelism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SIMD or Vector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Tesla Multiprocessor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28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30723" name="Picture 6" descr="f07-04-P3744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8" y="3544888"/>
            <a:ext cx="4524375" cy="2249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Message Passing</a:t>
            </a:r>
          </a:p>
        </p:txBody>
      </p:sp>
      <p:sp>
        <p:nvSpPr>
          <p:cNvPr id="3072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Each processor has private physical address space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Hardware sends/receives messages between processors</a:t>
            </a:r>
          </a:p>
        </p:txBody>
      </p:sp>
      <p:sp>
        <p:nvSpPr>
          <p:cNvPr id="30726" name="Text Box 4"/>
          <p:cNvSpPr txBox="1"/>
          <p:nvPr/>
        </p:nvSpPr>
        <p:spPr>
          <a:xfrm rot="5400000">
            <a:off x="5883275" y="2892425"/>
            <a:ext cx="61531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§6.7 Clusters and Other Message-Passing Multiprocessors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29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Loosely Coupled Clusters</a:t>
            </a:r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Network of independent computers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Each has private memory and OS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Connected using I/O system</a:t>
            </a:r>
          </a:p>
          <a:p>
            <a:pPr lvl="2" eaLnBrk="1" hangingPunct="1"/>
            <a:r>
              <a:rPr lang="en-AU" altLang="zh-CN" sz="2000" dirty="0">
                <a:ea typeface="宋体" panose="02010600030101010101" pitchFamily="2" charset="-122"/>
              </a:rPr>
              <a:t>E.g., Ethernet/switch, Internet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Suitable for applications with independent tasks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Web servers, databases, simulations, …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High availability, scalable, affordable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Problems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Administration cost (prefer virtual machines)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Low interconnect bandwidth</a:t>
            </a:r>
          </a:p>
          <a:p>
            <a:pPr lvl="2" eaLnBrk="1" hangingPunct="1"/>
            <a:r>
              <a:rPr lang="en-AU" altLang="zh-CN" sz="2000" dirty="0">
                <a:ea typeface="宋体" panose="02010600030101010101" pitchFamily="2" charset="-122"/>
              </a:rPr>
              <a:t>c.f. processor/memory bandwidth on an SMP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30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Sum Reduction (Again)</a:t>
            </a:r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Sum 100,000 on 100 processors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First distribute 100 numbers to each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The do partial sums</a:t>
            </a:r>
          </a:p>
          <a:p>
            <a:pPr lvl="1" eaLnBrk="1" hangingPunct="1">
              <a:buNone/>
            </a:pP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 	sum = 0;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for (i = 0; i&lt;1000; i = i + 1)</a:t>
            </a:r>
            <a:b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>
                <a:latin typeface="Lucida Console" panose="020B0609040504020204" pitchFamily="49" charset="0"/>
                <a:ea typeface="宋体" panose="02010600030101010101" pitchFamily="2" charset="-122"/>
              </a:rPr>
              <a:t>  sum = sum + AN[i];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Reduction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Half the processors send, other half receive and add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The quarter send, quarter receive and add, …</a:t>
            </a:r>
            <a:endParaRPr lang="en-AU" altLang="zh-CN" dirty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31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379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Sum Reduction (Again)</a:t>
            </a:r>
          </a:p>
        </p:txBody>
      </p:sp>
      <p:sp>
        <p:nvSpPr>
          <p:cNvPr id="33796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Given send() and receive() operations</a:t>
            </a:r>
          </a:p>
          <a:p>
            <a:pPr lvl="1" eaLnBrk="1" hangingPunct="1">
              <a:spcBef>
                <a:spcPct val="50000"/>
              </a:spcBef>
              <a:spcAft>
                <a:spcPct val="50000"/>
              </a:spcAft>
              <a:buNone/>
            </a:pP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	limit = 100; half = 100;/* 100 processors */</a:t>
            </a:r>
            <a:b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repeat</a:t>
            </a:r>
            <a:b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  half = (half+1)/2; /* send vs. receive</a:t>
            </a:r>
            <a:b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                        dividing line */</a:t>
            </a:r>
            <a:b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  if (Pn &gt;= half &amp;&amp; Pn &lt; limit)</a:t>
            </a:r>
            <a:b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    </a:t>
            </a:r>
            <a:r>
              <a:rPr lang="en-AU" altLang="zh-CN" sz="21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send(Pn - half, sum)</a:t>
            </a: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;</a:t>
            </a:r>
            <a:b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  if (Pn &lt; (limit/2))</a:t>
            </a:r>
            <a:b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    sum = sum + </a:t>
            </a:r>
            <a:r>
              <a:rPr lang="en-AU" altLang="zh-CN" sz="2100" dirty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receive()</a:t>
            </a: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;</a:t>
            </a:r>
            <a:b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  limit = half; /* upper limit of senders */</a:t>
            </a:r>
            <a:b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sz="2100" dirty="0">
                <a:latin typeface="Lucida Console" panose="020B0609040504020204" pitchFamily="49" charset="0"/>
                <a:ea typeface="宋体" panose="02010600030101010101" pitchFamily="2" charset="-122"/>
              </a:rPr>
              <a:t>until (half == 1); /* exit with final sum */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Send/receive also provide synchronization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Assumes send/receive take similar time to addition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32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Grid Computing</a:t>
            </a:r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Separate computers interconnected by long-haul networks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E.g., Internet connections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Work units farmed out, results sent back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Can make use of idle time on PCs</a:t>
            </a: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E.g., SETI@home, World Community Grid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33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35843" name="Picture 22" descr="un07-01-P3744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13" y="2636838"/>
            <a:ext cx="2789237" cy="37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4" name="Picture 21" descr="fully-connected-netwo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038" y="3821113"/>
            <a:ext cx="1616075" cy="180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5" name="Picture 18" descr="bus-netwo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1775" y="2636838"/>
            <a:ext cx="2630488" cy="37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Interconnection Networks</a:t>
            </a:r>
          </a:p>
        </p:txBody>
      </p:sp>
      <p:sp>
        <p:nvSpPr>
          <p:cNvPr id="358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Network topologies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Arrangements of processors, switches, and links</a:t>
            </a:r>
          </a:p>
        </p:txBody>
      </p:sp>
      <p:sp>
        <p:nvSpPr>
          <p:cNvPr id="35848" name="Text Box 5"/>
          <p:cNvSpPr txBox="1"/>
          <p:nvPr/>
        </p:nvSpPr>
        <p:spPr>
          <a:xfrm rot="5400000">
            <a:off x="6073775" y="2701925"/>
            <a:ext cx="57721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§6.8 </a:t>
            </a:r>
            <a:r>
              <a:rPr lang="en-AU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Introduction to Multiprocessor Network Topologies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9" name="Text Box 8"/>
          <p:cNvSpPr txBox="1"/>
          <p:nvPr/>
        </p:nvSpPr>
        <p:spPr>
          <a:xfrm>
            <a:off x="2487613" y="3124200"/>
            <a:ext cx="5778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Bus</a:t>
            </a:r>
          </a:p>
        </p:txBody>
      </p:sp>
      <p:sp>
        <p:nvSpPr>
          <p:cNvPr id="35850" name="Text Box 9"/>
          <p:cNvSpPr txBox="1"/>
          <p:nvPr/>
        </p:nvSpPr>
        <p:spPr>
          <a:xfrm>
            <a:off x="5940425" y="3124200"/>
            <a:ext cx="6540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Ring</a:t>
            </a:r>
          </a:p>
        </p:txBody>
      </p:sp>
      <p:sp>
        <p:nvSpPr>
          <p:cNvPr id="35851" name="Text Box 12"/>
          <p:cNvSpPr txBox="1"/>
          <p:nvPr/>
        </p:nvSpPr>
        <p:spPr>
          <a:xfrm>
            <a:off x="1692275" y="5689600"/>
            <a:ext cx="10985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2D Mesh</a:t>
            </a:r>
          </a:p>
        </p:txBody>
      </p:sp>
      <p:sp>
        <p:nvSpPr>
          <p:cNvPr id="35852" name="Text Box 14"/>
          <p:cNvSpPr txBox="1"/>
          <p:nvPr/>
        </p:nvSpPr>
        <p:spPr>
          <a:xfrm>
            <a:off x="3779838" y="5322888"/>
            <a:ext cx="168910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N-cube (N = 3)</a:t>
            </a:r>
          </a:p>
        </p:txBody>
      </p:sp>
      <p:sp>
        <p:nvSpPr>
          <p:cNvPr id="35853" name="Text Box 16"/>
          <p:cNvSpPr txBox="1"/>
          <p:nvPr/>
        </p:nvSpPr>
        <p:spPr>
          <a:xfrm>
            <a:off x="6156325" y="5822950"/>
            <a:ext cx="17843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Fully connected</a:t>
            </a:r>
          </a:p>
        </p:txBody>
      </p:sp>
      <p:pic>
        <p:nvPicPr>
          <p:cNvPr id="35854" name="Picture 20" descr="f07-09-P374493-righ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2263" y="4221163"/>
            <a:ext cx="968375" cy="968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55" name="Picture 23" descr="f07-09-P374493-lef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1775" y="3933825"/>
            <a:ext cx="1522413" cy="1527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页脚占位符 2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34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36867" name="Picture 5" descr="f07-10-P3744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13" y="1341438"/>
            <a:ext cx="4987925" cy="4926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Multistage Networks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35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Network Characteristics</a:t>
            </a: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Performance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Latency per message (unloaded network)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Throughput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Link bandwidth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Total network bandwidth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Bisection bandwidth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Congestion delays (depending on traffic)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Cost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Power</a:t>
            </a: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Routability in silicon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页脚占位符 3"/>
          <p:cNvSpPr txBox="1">
            <a:spLocks noGrp="1"/>
          </p:cNvSpPr>
          <p:nvPr>
            <p:ph type="ftr" sz="quarter" idx="10"/>
          </p:nvPr>
        </p:nvSpPr>
        <p:spPr>
          <a:xfrm>
            <a:off x="859155" y="6381750"/>
            <a:ext cx="8105775" cy="35877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6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Parallel Processors from Client to Cloud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  <a:t>36</a:t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Concluding Remarks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AU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Goal: higher performance by using multiple processors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Difficulties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Developing parallel software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Devising appropriate architectures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Many reasons for optimism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Changing software and application environment</a:t>
            </a: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Chip-level multiprocessors with lower latency, higher bandwidth interconnect</a:t>
            </a: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An ongoing challenge for computer architects!</a:t>
            </a:r>
          </a:p>
        </p:txBody>
      </p:sp>
      <p:sp>
        <p:nvSpPr>
          <p:cNvPr id="38917" name="Text Box 4"/>
          <p:cNvSpPr txBox="1"/>
          <p:nvPr/>
        </p:nvSpPr>
        <p:spPr>
          <a:xfrm rot="5400000">
            <a:off x="7489825" y="1285875"/>
            <a:ext cx="29400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§6.14 Concluding Remarks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7ee5881-76a9-4a87-8498-0b1738a1a2a5"/>
  <p:tag name="COMMONDATA" val="eyJoZGlkIjoiZmE0NWRmMzVhNTY5Y2FiMzY2OGM1ZWRkMzQwMWFiMz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657.5007874015746,&quot;width&quot;:266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657.5007874015746,&quot;width&quot;:2665}"/>
</p:tagLst>
</file>

<file path=ppt/theme/theme1.xml><?xml version="1.0" encoding="utf-8"?>
<a:theme xmlns:a="http://schemas.openxmlformats.org/drawingml/2006/main" name="2_Blends">
  <a:themeElements>
    <a:clrScheme name="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5"/>
      </a:accent5>
      <a:accent6>
        <a:srgbClr val="ACACAC"/>
      </a:accent6>
      <a:hlink>
        <a:srgbClr val="91AFBF"/>
      </a:hlink>
      <a:folHlink>
        <a:srgbClr val="ECEAAC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4</TotalTime>
  <Words>2985</Words>
  <Application>Microsoft Office PowerPoint</Application>
  <PresentationFormat>全屏显示(4:3)</PresentationFormat>
  <Paragraphs>482</Paragraphs>
  <Slides>36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宋体</vt:lpstr>
      <vt:lpstr>Arial</vt:lpstr>
      <vt:lpstr>Arial Black</vt:lpstr>
      <vt:lpstr>Lucida Console</vt:lpstr>
      <vt:lpstr>Times New Roman</vt:lpstr>
      <vt:lpstr>Wingdings</vt:lpstr>
      <vt:lpstr>2_Blends</vt:lpstr>
      <vt:lpstr>Equation.3</vt:lpstr>
      <vt:lpstr>Chapter 6</vt:lpstr>
      <vt:lpstr>Introduction</vt:lpstr>
      <vt:lpstr>Hardware and Software</vt:lpstr>
      <vt:lpstr>What We’ve Already Covered</vt:lpstr>
      <vt:lpstr>Parallel Programming</vt:lpstr>
      <vt:lpstr>Amdahl’s Law</vt:lpstr>
      <vt:lpstr>Scaling Example</vt:lpstr>
      <vt:lpstr>Scaling Example (cont)</vt:lpstr>
      <vt:lpstr>Strong vs Weak Scaling</vt:lpstr>
      <vt:lpstr>Instruction and Data Streams</vt:lpstr>
      <vt:lpstr>SIMD</vt:lpstr>
      <vt:lpstr>Vector Processors</vt:lpstr>
      <vt:lpstr>Example: DAXPY (Y = a × X + Y)</vt:lpstr>
      <vt:lpstr>Vector vs. Scalar</vt:lpstr>
      <vt:lpstr>Multithreading</vt:lpstr>
      <vt:lpstr>Simultaneous Multithreading</vt:lpstr>
      <vt:lpstr>Multithreading Example</vt:lpstr>
      <vt:lpstr>Future of Multithreading</vt:lpstr>
      <vt:lpstr>Shared Memory</vt:lpstr>
      <vt:lpstr>Example: Sum Reduction</vt:lpstr>
      <vt:lpstr>Example: Sum Reduction</vt:lpstr>
      <vt:lpstr>History of GPUs</vt:lpstr>
      <vt:lpstr>Graphics in the System</vt:lpstr>
      <vt:lpstr>GPU Architectures</vt:lpstr>
      <vt:lpstr>Example: NVIDIA Tesla</vt:lpstr>
      <vt:lpstr>Example: NVIDIA Tesla</vt:lpstr>
      <vt:lpstr>Classifying GPUs</vt:lpstr>
      <vt:lpstr>Message Passing</vt:lpstr>
      <vt:lpstr>Loosely Coupled Clusters</vt:lpstr>
      <vt:lpstr>Sum Reduction (Again)</vt:lpstr>
      <vt:lpstr>Sum Reduction (Again)</vt:lpstr>
      <vt:lpstr>Grid Computing</vt:lpstr>
      <vt:lpstr>Interconnection Networks</vt:lpstr>
      <vt:lpstr>Multistage Networks</vt:lpstr>
      <vt:lpstr>Network Characteristics</vt:lpstr>
      <vt:lpstr>Concluding Remarks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...</dc:title>
  <dc:creator>Peter Ashenden</dc:creator>
  <cp:lastModifiedBy>zwf zwf</cp:lastModifiedBy>
  <cp:revision>55</cp:revision>
  <dcterms:created xsi:type="dcterms:W3CDTF">2008-09-13T02:05:00Z</dcterms:created>
  <dcterms:modified xsi:type="dcterms:W3CDTF">2025-09-17T06:58:34Z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90912E6744DC47A3A3155ED57B4FEF10</vt:lpwstr>
  </property>
  <property fmtid="{D5CDD505-2E9C-101B-9397-08002B2CF9AE}" pid="3" name="KSOProductBuildVer">
    <vt:lpwstr>2052-11.1.0.12165</vt:lpwstr>
  </property>
</Properties>
</file>