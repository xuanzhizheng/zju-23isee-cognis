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9" r:id="rId3"/>
  </p:sldMasterIdLst>
  <p:sldIdLst>
    <p:sldId id="313" r:id="rId4"/>
    <p:sldId id="369" r:id="rId5"/>
    <p:sldId id="424" r:id="rId6"/>
    <p:sldId id="428" r:id="rId7"/>
    <p:sldId id="426" r:id="rId8"/>
    <p:sldId id="427" r:id="rId9"/>
    <p:sldId id="431" r:id="rId10"/>
    <p:sldId id="446" r:id="rId11"/>
    <p:sldId id="434" r:id="rId12"/>
    <p:sldId id="455" r:id="rId13"/>
    <p:sldId id="437" r:id="rId14"/>
    <p:sldId id="453" r:id="rId15"/>
    <p:sldId id="335" r:id="rId16"/>
  </p:sldIdLst>
  <p:sldSz cx="12192000" cy="6858000"/>
  <p:notesSz cx="6858000" cy="9144000"/>
  <p:custDataLst>
    <p:tags r:id="rId1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96D1"/>
    <a:srgbClr val="F0F0F5"/>
    <a:srgbClr val="FCFCFD"/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201" y="27"/>
      </p:cViewPr>
      <p:guideLst>
        <p:guide orient="horz" pos="202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7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9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92.xml"/><Relationship Id="rId9" Type="http://schemas.openxmlformats.org/officeDocument/2006/relationships/tags" Target="../tags/tag97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1.xml"/><Relationship Id="rId9" Type="http://schemas.openxmlformats.org/officeDocument/2006/relationships/tags" Target="../tags/tag106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8.xml"/><Relationship Id="rId9" Type="http://schemas.openxmlformats.org/officeDocument/2006/relationships/tags" Target="../tags/tag12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53.xml"/><Relationship Id="rId4" Type="http://schemas.openxmlformats.org/officeDocument/2006/relationships/tags" Target="../tags/tag15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9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77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4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83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91.xml"/><Relationship Id="rId4" Type="http://schemas.openxmlformats.org/officeDocument/2006/relationships/tags" Target="../tags/tag190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95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9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20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24.xml"/><Relationship Id="rId3" Type="http://schemas.openxmlformats.org/officeDocument/2006/relationships/tags" Target="../tags/tag219.xml"/><Relationship Id="rId7" Type="http://schemas.openxmlformats.org/officeDocument/2006/relationships/tags" Target="../tags/tag223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220.xml"/><Relationship Id="rId9" Type="http://schemas.openxmlformats.org/officeDocument/2006/relationships/tags" Target="../tags/tag225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3" Type="http://schemas.openxmlformats.org/officeDocument/2006/relationships/tags" Target="../tags/tag228.xml"/><Relationship Id="rId7" Type="http://schemas.openxmlformats.org/officeDocument/2006/relationships/tags" Target="../tags/tag232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229.xml"/><Relationship Id="rId9" Type="http://schemas.openxmlformats.org/officeDocument/2006/relationships/tags" Target="../tags/tag234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9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250.xml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246.xml"/><Relationship Id="rId9" Type="http://schemas.openxmlformats.org/officeDocument/2006/relationships/tags" Target="../tags/tag25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254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53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2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>
              <a:solidFill>
                <a:schemeClr val="lt1"/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>
              <a:solidFill>
                <a:schemeClr val="lt1"/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6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>
              <a:solidFill>
                <a:schemeClr val="lt1"/>
              </a:solidFill>
            </a:endParaRPr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>
              <a:solidFill>
                <a:schemeClr val="lt1"/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3715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35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35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304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015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9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125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125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86080" marR="0" lvl="1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43255" marR="0" lvl="2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900430" marR="0" lvl="3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157605" marR="0" lvl="4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28905" marR="0" lvl="0" indent="-12827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9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2024/12/21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35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/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5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025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5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2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025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5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1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5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1575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5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3375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274320" y="812576"/>
            <a:ext cx="11683455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2"/>
            </p:custDataLst>
          </p:nvPr>
        </p:nvSpPr>
        <p:spPr>
          <a:xfrm>
            <a:off x="9490237" y="621663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61015" y="2641685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9471025" y="6264275"/>
            <a:ext cx="180022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 flipV="1">
            <a:off x="750571" y="6315075"/>
            <a:ext cx="71564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矩形 11"/>
          <p:cNvSpPr/>
          <p:nvPr userDrawn="1">
            <p:custDataLst>
              <p:tags r:id="rId6"/>
            </p:custDataLst>
          </p:nvPr>
        </p:nvSpPr>
        <p:spPr>
          <a:xfrm>
            <a:off x="1555115" y="6316345"/>
            <a:ext cx="88900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1731011" y="6316345"/>
            <a:ext cx="25336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83644" y="1046220"/>
            <a:ext cx="9144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883643" y="3128804"/>
            <a:ext cx="9144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883644" y="5122890"/>
            <a:ext cx="3365431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6474460"/>
            <a:ext cx="12249151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676775" y="2175010"/>
            <a:ext cx="6243775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676775" y="3277722"/>
            <a:ext cx="6243775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76280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45227" y="1626121"/>
            <a:ext cx="5283243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2024/12/21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266065" y="1018064"/>
            <a:ext cx="11683365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422400" y="4065588"/>
            <a:ext cx="52832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任意形状 8"/>
          <p:cNvSpPr/>
          <p:nvPr userDrawn="1">
            <p:custDataLst>
              <p:tags r:id="rId3"/>
            </p:custDataLst>
          </p:nvPr>
        </p:nvSpPr>
        <p:spPr>
          <a:xfrm>
            <a:off x="9480712" y="613408"/>
            <a:ext cx="246499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4343043"/>
            <a:ext cx="1887415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20799" y="2577631"/>
            <a:ext cx="66536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1" y="498476"/>
            <a:ext cx="10852237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1" y="4183"/>
            <a:ext cx="2322407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2"/>
            </p:custDataLst>
          </p:nvPr>
        </p:nvSpPr>
        <p:spPr>
          <a:xfrm rot="16200000">
            <a:off x="-3143" y="0"/>
            <a:ext cx="1658620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3811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2"/>
            </p:custDataLst>
          </p:nvPr>
        </p:nvSpPr>
        <p:spPr>
          <a:xfrm rot="10800000">
            <a:off x="3809" y="5905500"/>
            <a:ext cx="976631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740250"/>
            <a:ext cx="109764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755" y="258207"/>
            <a:ext cx="11037571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8"/>
            </p:custDataLst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9"/>
            </p:custDataLst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637550"/>
            <a:ext cx="9144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3" y="6389433"/>
            <a:ext cx="2700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89433"/>
            <a:ext cx="396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433"/>
            <a:ext cx="2700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tags" Target="../tags/tag131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tags" Target="../tags/tag135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ags" Target="../tags/tag130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tags" Target="../tags/tag134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tags" Target="../tags/tag133.xml"/><Relationship Id="rId10" Type="http://schemas.openxmlformats.org/officeDocument/2006/relationships/slideLayout" Target="../slideLayouts/slideLayout3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tags" Target="../tags/tag1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135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905510" algn="l"/>
        </a:tabLst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/><Relationship Id="rId13" Type="http://schemas.openxmlformats.org/officeDocument/2006/relationships/slideLayout" Target="../slideLayouts/slideLayout36.xml"/><Relationship Id="rId3" Type="http://schemas.openxmlformats.org/officeDocument/2006/relationships/tags" Target="../tags/tag262.xml"/><Relationship Id="rId7" Type="http://schemas.openxmlformats.org/officeDocument/2006/relationships/tags" Target="../tags/tag266.xml"/><Relationship Id="rId12" Type="http://schemas.openxmlformats.org/officeDocument/2006/relationships/tags" Target="../tags/tag271.xml"/><Relationship Id="rId2" Type="http://schemas.openxmlformats.org/officeDocument/2006/relationships/tags" Target="../tags/tag261.xml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tags" Target="../tags/tag270.xml"/><Relationship Id="rId5" Type="http://schemas.openxmlformats.org/officeDocument/2006/relationships/tags" Target="../tags/tag264.xml"/><Relationship Id="rId10" Type="http://schemas.openxmlformats.org/officeDocument/2006/relationships/tags" Target="../tags/tag269.xml"/><Relationship Id="rId4" Type="http://schemas.openxmlformats.org/officeDocument/2006/relationships/tags" Target="../tags/tag263.xml"/><Relationship Id="rId9" Type="http://schemas.openxmlformats.org/officeDocument/2006/relationships/tags" Target="../tags/tag26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slideLayout" Target="../slideLayouts/slideLayout36.xml"/><Relationship Id="rId5" Type="http://schemas.openxmlformats.org/officeDocument/2006/relationships/tags" Target="../tags/tag276.xml"/><Relationship Id="rId4" Type="http://schemas.openxmlformats.org/officeDocument/2006/relationships/tags" Target="../tags/tag27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slideLayout" Target="../slideLayouts/slideLayout36.xml"/><Relationship Id="rId5" Type="http://schemas.openxmlformats.org/officeDocument/2006/relationships/tags" Target="../tags/tag281.xml"/><Relationship Id="rId4" Type="http://schemas.openxmlformats.org/officeDocument/2006/relationships/tags" Target="../tags/tag28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slideLayout" Target="../slideLayouts/slideLayout36.xml"/><Relationship Id="rId5" Type="http://schemas.openxmlformats.org/officeDocument/2006/relationships/tags" Target="../tags/tag286.xml"/><Relationship Id="rId4" Type="http://schemas.openxmlformats.org/officeDocument/2006/relationships/tags" Target="../tags/tag28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6" Type="http://schemas.openxmlformats.org/officeDocument/2006/relationships/slideLayout" Target="../slideLayouts/slideLayout36.xml"/><Relationship Id="rId5" Type="http://schemas.openxmlformats.org/officeDocument/2006/relationships/tags" Target="../tags/tag291.xml"/><Relationship Id="rId4" Type="http://schemas.openxmlformats.org/officeDocument/2006/relationships/tags" Target="../tags/tag29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" Type="http://schemas.openxmlformats.org/officeDocument/2006/relationships/tags" Target="../tags/tag292.xml"/><Relationship Id="rId6" Type="http://schemas.openxmlformats.org/officeDocument/2006/relationships/slideLayout" Target="../slideLayouts/slideLayout36.xml"/><Relationship Id="rId5" Type="http://schemas.openxmlformats.org/officeDocument/2006/relationships/tags" Target="../tags/tag296.xml"/><Relationship Id="rId4" Type="http://schemas.openxmlformats.org/officeDocument/2006/relationships/tags" Target="../tags/tag29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99.xml"/><Relationship Id="rId7" Type="http://schemas.openxmlformats.org/officeDocument/2006/relationships/slideLayout" Target="../slideLayouts/slideLayout36.xml"/><Relationship Id="rId2" Type="http://schemas.openxmlformats.org/officeDocument/2006/relationships/tags" Target="../tags/tag298.xml"/><Relationship Id="rId1" Type="http://schemas.openxmlformats.org/officeDocument/2006/relationships/tags" Target="../tags/tag297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tags" Target="../tags/tag30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05.xml"/><Relationship Id="rId7" Type="http://schemas.openxmlformats.org/officeDocument/2006/relationships/slideLayout" Target="../slideLayouts/slideLayout36.xml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1.xml"/><Relationship Id="rId7" Type="http://schemas.openxmlformats.org/officeDocument/2006/relationships/slideLayout" Target="../slideLayouts/slideLayout36.xm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17.xml"/><Relationship Id="rId7" Type="http://schemas.openxmlformats.org/officeDocument/2006/relationships/slideLayout" Target="../slideLayouts/slideLayout36.xml"/><Relationship Id="rId2" Type="http://schemas.openxmlformats.org/officeDocument/2006/relationships/tags" Target="../tags/tag316.xml"/><Relationship Id="rId1" Type="http://schemas.openxmlformats.org/officeDocument/2006/relationships/tags" Target="../tags/tag315.xml"/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322.xml"/><Relationship Id="rId1" Type="http://schemas.openxmlformats.org/officeDocument/2006/relationships/tags" Target="../tags/tag3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tags" Target="../tags/tag323.xml"/><Relationship Id="rId5" Type="http://schemas.openxmlformats.org/officeDocument/2006/relationships/slideLayout" Target="../slideLayouts/slideLayout36.xml"/><Relationship Id="rId4" Type="http://schemas.openxmlformats.org/officeDocument/2006/relationships/tags" Target="../tags/tag3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79425" y="1196975"/>
            <a:ext cx="8982075" cy="814070"/>
          </a:xfrm>
        </p:spPr>
        <p:txBody>
          <a:bodyPr/>
          <a:lstStyle/>
          <a:p>
            <a:pPr algn="l"/>
            <a:r>
              <a:rPr lang="zh-CN" altLang="en-US" sz="4265" dirty="0">
                <a:solidFill>
                  <a:schemeClr val="accent1"/>
                </a:solidFill>
                <a:sym typeface="Arial" panose="020B0604020202020204" pitchFamily="34" charset="0"/>
              </a:rPr>
              <a:t>马克思主义与基本原理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1703493" y="5157047"/>
            <a:ext cx="8357447" cy="579967"/>
          </a:xfrm>
        </p:spPr>
        <p:txBody>
          <a:bodyPr>
            <a:noAutofit/>
          </a:bodyPr>
          <a:lstStyle/>
          <a:p>
            <a:pPr algn="ctr"/>
            <a:r>
              <a:rPr lang="zh-CN" altLang="en-US" sz="1800"/>
              <a:t>彭双贞</a:t>
            </a:r>
          </a:p>
          <a:p>
            <a:pPr algn="ctr"/>
            <a:r>
              <a:rPr lang="en-US" altLang="zh-CN" sz="1800">
                <a:sym typeface="+mn-ea"/>
              </a:rPr>
              <a:t>shuangzhenpeng@zju.edu.cn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607695" y="2175510"/>
            <a:ext cx="70008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课程要求与计分规则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成绩构成</a:t>
            </a:r>
          </a:p>
        </p:txBody>
      </p:sp>
      <p:sp>
        <p:nvSpPr>
          <p:cNvPr id="11" name="Freeform 10"/>
          <p:cNvSpPr/>
          <p:nvPr>
            <p:custDataLst>
              <p:tags r:id="rId6"/>
            </p:custDataLst>
          </p:nvPr>
        </p:nvSpPr>
        <p:spPr>
          <a:xfrm rot="16200000">
            <a:off x="460375" y="3240853"/>
            <a:ext cx="2099454" cy="665174"/>
          </a:xfrm>
          <a:custGeom>
            <a:avLst/>
            <a:gdLst>
              <a:gd name="connsiteX0" fmla="*/ 0 w 3527802"/>
              <a:gd name="connsiteY0" fmla="*/ 0 h 670282"/>
              <a:gd name="connsiteX1" fmla="*/ 3527802 w 3527802"/>
              <a:gd name="connsiteY1" fmla="*/ 0 h 670282"/>
              <a:gd name="connsiteX2" fmla="*/ 3527802 w 3527802"/>
              <a:gd name="connsiteY2" fmla="*/ 670282 h 670282"/>
              <a:gd name="connsiteX3" fmla="*/ 0 w 3527802"/>
              <a:gd name="connsiteY3" fmla="*/ 670282 h 670282"/>
              <a:gd name="connsiteX4" fmla="*/ 0 w 3527802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7802" h="670282">
                <a:moveTo>
                  <a:pt x="0" y="0"/>
                </a:moveTo>
                <a:lnTo>
                  <a:pt x="3527802" y="0"/>
                </a:lnTo>
                <a:lnTo>
                  <a:pt x="3527802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rgbClr val="9BBB59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0000" tIns="7620" rIns="90000" bIns="7620" numCol="1" spcCol="1270" anchor="ctr" anchorCtr="0">
            <a:normAutofit/>
          </a:bodyPr>
          <a:lstStyle/>
          <a:p>
            <a:pPr lvl="0" algn="ctr" defTabSz="533400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800" b="1" spc="3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三大规律</a:t>
            </a:r>
          </a:p>
        </p:txBody>
      </p:sp>
      <p:sp>
        <p:nvSpPr>
          <p:cNvPr id="12" name="Freeform 11"/>
          <p:cNvSpPr/>
          <p:nvPr>
            <p:custDataLst>
              <p:tags r:id="rId7"/>
            </p:custDataLst>
          </p:nvPr>
        </p:nvSpPr>
        <p:spPr>
          <a:xfrm>
            <a:off x="2279015" y="2512060"/>
            <a:ext cx="4225290" cy="66548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0000" tIns="46800" rIns="90000" bIns="46800" numCol="1" spcCol="1270" anchor="ctr" anchorCtr="0">
            <a:normAutofit/>
          </a:bodyPr>
          <a:lstStyle/>
          <a:p>
            <a:pPr marL="0" marR="0" lvl="0" indent="0" algn="ctr" defTabSz="533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kern="1200" cap="none" spc="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平时成绩（50%）</a:t>
            </a:r>
          </a:p>
        </p:txBody>
      </p:sp>
      <p:sp>
        <p:nvSpPr>
          <p:cNvPr id="33" name="Freeform 27"/>
          <p:cNvSpPr/>
          <p:nvPr>
            <p:custDataLst>
              <p:tags r:id="rId8"/>
            </p:custDataLst>
          </p:nvPr>
        </p:nvSpPr>
        <p:spPr>
          <a:xfrm>
            <a:off x="2279015" y="3958590"/>
            <a:ext cx="4213225" cy="665480"/>
          </a:xfrm>
          <a:custGeom>
            <a:avLst/>
            <a:gdLst>
              <a:gd name="connsiteX0" fmla="*/ 0 w 2198526"/>
              <a:gd name="connsiteY0" fmla="*/ 0 h 670282"/>
              <a:gd name="connsiteX1" fmla="*/ 2198526 w 2198526"/>
              <a:gd name="connsiteY1" fmla="*/ 0 h 670282"/>
              <a:gd name="connsiteX2" fmla="*/ 2198526 w 2198526"/>
              <a:gd name="connsiteY2" fmla="*/ 670282 h 670282"/>
              <a:gd name="connsiteX3" fmla="*/ 0 w 2198526"/>
              <a:gd name="connsiteY3" fmla="*/ 670282 h 670282"/>
              <a:gd name="connsiteX4" fmla="*/ 0 w 2198526"/>
              <a:gd name="connsiteY4" fmla="*/ 0 h 670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526" h="670282">
                <a:moveTo>
                  <a:pt x="0" y="0"/>
                </a:moveTo>
                <a:lnTo>
                  <a:pt x="2198526" y="0"/>
                </a:lnTo>
                <a:lnTo>
                  <a:pt x="2198526" y="670282"/>
                </a:lnTo>
                <a:lnTo>
                  <a:pt x="0" y="6702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99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0000" tIns="46800" rIns="90000" bIns="46800" numCol="1" spcCol="1270" anchor="ctr" anchorCtr="0">
            <a:normAutofit/>
          </a:bodyPr>
          <a:lstStyle/>
          <a:p>
            <a:pPr lvl="0" algn="ctr" defTabSz="533400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800" b="1" spc="3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期末成绩（50%）</a:t>
            </a:r>
          </a:p>
        </p:txBody>
      </p:sp>
      <p:cxnSp>
        <p:nvCxnSpPr>
          <p:cNvPr id="14" name="直接连接符 12"/>
          <p:cNvCxnSpPr/>
          <p:nvPr>
            <p:custDataLst>
              <p:tags r:id="rId9"/>
            </p:custDataLst>
          </p:nvPr>
        </p:nvCxnSpPr>
        <p:spPr>
          <a:xfrm flipH="1">
            <a:off x="2187559" y="2844647"/>
            <a:ext cx="913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0"/>
            </p:custDataLst>
          </p:nvPr>
        </p:nvCxnSpPr>
        <p:spPr>
          <a:xfrm flipH="1">
            <a:off x="2187559" y="4298454"/>
            <a:ext cx="913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187559" y="2844647"/>
            <a:ext cx="0" cy="1448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20"/>
          <p:cNvCxnSpPr/>
          <p:nvPr>
            <p:custDataLst>
              <p:tags r:id="rId12"/>
            </p:custDataLst>
          </p:nvPr>
        </p:nvCxnSpPr>
        <p:spPr>
          <a:xfrm flipH="1">
            <a:off x="1842739" y="3598608"/>
            <a:ext cx="344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6743700" y="2420620"/>
            <a:ext cx="383540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期末</a:t>
            </a:r>
            <a:r>
              <a:rPr lang="zh-CN"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闭卷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考试：考试题型为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客观题，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</a:t>
            </a:r>
            <a:r>
              <a:rPr lang="zh-CN"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单选题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主观题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60%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道论述大题</a:t>
            </a:r>
            <a:r>
              <a:rPr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（考试内容：辩证唯物主义、历史唯物主义、政治经济学）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平时成绩构成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04265" y="1340485"/>
            <a:ext cx="10008870" cy="38614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平时分按100分记，占总成绩50%</a:t>
            </a:r>
          </a:p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平时任务主要分为三项：</a:t>
            </a:r>
          </a:p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</a:t>
            </a:r>
            <a:r>
              <a:rPr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占30分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sz="2000"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  <a:sym typeface="+mn-ea"/>
              </a:rPr>
              <a:t>读书报告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</a:t>
            </a:r>
            <a:r>
              <a:rPr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占30分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sz="2000"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  <a:sym typeface="+mn-ea"/>
              </a:rPr>
              <a:t>小组</a:t>
            </a:r>
            <a:r>
              <a:rPr lang="en-US" altLang="zh-CN" sz="2000"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  <a:sym typeface="+mn-ea"/>
              </a:rPr>
              <a:t>展示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2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个人表现类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占30分（</a:t>
            </a:r>
            <a:r>
              <a:rPr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课堂回答问题、</a:t>
            </a:r>
            <a:r>
              <a:rPr lang="zh-CN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考勤</a:t>
            </a:r>
            <a:r>
              <a:rPr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</a:t>
            </a:r>
            <a:r>
              <a:rPr lang="zh-CN"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课堂</a:t>
            </a:r>
            <a:r>
              <a:rPr sz="2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测试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教师综合评价分：10分</a:t>
            </a:r>
          </a:p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endParaRPr sz="20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写作类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读书报告（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分）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27125" y="1124585"/>
            <a:ext cx="8010525" cy="60928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字数要求：</a:t>
            </a:r>
            <a:r>
              <a:rPr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2000-3000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</a:t>
            </a:r>
            <a:endParaRPr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内容要求：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自行选择书目，但必须与课程相关。</a:t>
            </a:r>
            <a:endParaRPr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写作题材：</a:t>
            </a: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文体不限</a:t>
            </a:r>
            <a:endParaRPr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</a:t>
            </a:r>
            <a:r>
              <a:rPr 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格式要求：</a:t>
            </a: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标题；姓名；学号；内容</a:t>
            </a:r>
            <a:endParaRPr 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不灭的明灯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读《共产党宣言》有感</a:t>
            </a:r>
            <a:endParaRPr lang="zh-CN" altLang="en-US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彭双贞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学号：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0022356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 ********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提交方式：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学在浙大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提交时间：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最后一次课当天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</a:t>
            </a:r>
            <a:endParaRPr 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注意事项：</a:t>
            </a:r>
          </a:p>
          <a:p>
            <a:pPr algn="l">
              <a:lnSpc>
                <a:spcPct val="150000"/>
              </a:lnSpc>
            </a:pP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要求原创，切勿抄袭</a:t>
            </a:r>
            <a:endParaRPr 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个人表现类（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分）：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27125" y="1700530"/>
            <a:ext cx="829246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课堂互动（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课堂回答老师提的问题，或者向老师提出问题（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次）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课堂测试（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）：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次课堂测试。</a:t>
            </a: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考勤与请假：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根据教研中心统一要求，每学期原则上考勤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次（至少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），缺勤一次扣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分，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次不到不能参加考试；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请假：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如果是事假，一般要求该事项重要程度超过上课。课前请假，事后销假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小组展示类（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分）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04265" y="1539240"/>
            <a:ext cx="8003540" cy="39382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分组：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自行组队（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4-5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人一组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sz="2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选题：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自行选题，但须与课程相关</a:t>
            </a:r>
            <a:endParaRPr lang="zh-CN" altLang="en-US" sz="2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选题内容：理论问题、现实问题、理想信念、爱国主义、电影评述等。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次课开始，（按抽签顺序）每次两个小组，每组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分钟</a:t>
            </a:r>
            <a:endParaRPr lang="zh-CN" altLang="en-US" sz="2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形式：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演讲展示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评分：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其他小组课堂评价的平均分</a:t>
            </a:r>
            <a:endParaRPr lang="zh-CN" altLang="en-US" sz="20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马原课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小组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展示打分细则（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分）：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104265" y="1340485"/>
            <a:ext cx="9918700" cy="4030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分数由其他小组给出，去掉最高分和最低分，取平均分：</a:t>
            </a:r>
            <a:endParaRPr 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主题（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分）：主题是否明确深刻，理论运用是否合理正确，是否有创新独到的见解；</a:t>
            </a:r>
          </a:p>
          <a:p>
            <a:pPr>
              <a:lnSpc>
                <a:spcPct val="200000"/>
              </a:lnSpc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内容（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分）：材料运用是否新颖典型，观点思考是否联系现实生活，具有普遍意义；</a:t>
            </a:r>
          </a:p>
          <a:p>
            <a:pPr>
              <a:lnSpc>
                <a:spcPct val="200000"/>
              </a:lnSpc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结构（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分）：结构是否完整合理，上下统一，层次分明，论点论据是否具有逻辑性；</a:t>
            </a:r>
          </a:p>
          <a:p>
            <a:pPr>
              <a:lnSpc>
                <a:spcPct val="200000"/>
              </a:lnSpc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表达（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分）：展示表达的语音仪态是否流畅自然，是否具有感染性和互动性；</a:t>
            </a:r>
          </a:p>
          <a:p>
            <a:pPr>
              <a:lnSpc>
                <a:spcPct val="200000"/>
              </a:lnSpc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5.PPT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制作（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分）：排版是否清晰，制作是否美观。</a:t>
            </a:r>
          </a:p>
          <a:p>
            <a:pPr>
              <a:lnSpc>
                <a:spcPct val="20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注意：请大家参考以上打分标准，根据各小组的实际完成度进行客观打分。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课程结构</a:t>
            </a:r>
          </a:p>
        </p:txBody>
      </p:sp>
      <p:graphicFrame>
        <p:nvGraphicFramePr>
          <p:cNvPr id="9" name="表格 8"/>
          <p:cNvGraphicFramePr/>
          <p:nvPr>
            <p:custDataLst>
              <p:tags r:id="rId6"/>
            </p:custDataLst>
          </p:nvPr>
        </p:nvGraphicFramePr>
        <p:xfrm>
          <a:off x="1128395" y="1268730"/>
          <a:ext cx="9112885" cy="403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学科分类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研究内容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章次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/>
                        <a:t>各章题目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800"/>
                        <a:t>导论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zh-CN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马克思主义哲学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辩证唯物主义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第一章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世界的物质性及其发展规律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第二章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实践与认识及其发展规律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历史唯物主义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第三章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人类社会及其发展规律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马克思主义政治经济学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资本主义制度分析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第四章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资本主义本质及其发展规律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第五章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资本主义发展及其趋势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科学社会主义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/>
                        <a:t>社会主义制度分析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第六章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社会主义发展及其规律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第七章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共产主义崇高理想及其最终实现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周二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课程安排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6"/>
            </p:custDataLst>
          </p:nvPr>
        </p:nvGraphicFramePr>
        <p:xfrm>
          <a:off x="1104265" y="1124585"/>
          <a:ext cx="7392036" cy="555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8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第一周（</a:t>
                      </a:r>
                      <a:r>
                        <a:rPr lang="en-US" altLang="zh-CN" sz="1400"/>
                        <a:t>9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10</a:t>
                      </a:r>
                      <a:r>
                        <a:rPr lang="zh-CN" altLang="en-US" sz="1400"/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课程介绍与导入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/>
                        <a:t>第二周（调</a:t>
                      </a:r>
                      <a:r>
                        <a:rPr lang="en-US" altLang="zh-CN" sz="1400"/>
                        <a:t>9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21</a:t>
                      </a:r>
                      <a:r>
                        <a:rPr lang="zh-CN" altLang="en-US" sz="1400"/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马克思主义起源与创立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第三周（</a:t>
                      </a:r>
                      <a:r>
                        <a:rPr lang="en-US" altLang="zh-CN" sz="1400">
                          <a:sym typeface="+mn-ea"/>
                        </a:rPr>
                        <a:t>9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24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马克思主义与当代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第四周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1</a:t>
                      </a:r>
                      <a:r>
                        <a:rPr lang="zh-CN" altLang="en-US" sz="1400">
                          <a:sym typeface="+mn-ea"/>
                        </a:rPr>
                        <a:t>日）国庆节放假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第五周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8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哲学及其基本问题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/>
                        <a:t>第六周（</a:t>
                      </a:r>
                      <a:r>
                        <a:rPr lang="en-US" altLang="zh-CN" sz="1400"/>
                        <a:t>10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15</a:t>
                      </a:r>
                      <a:r>
                        <a:rPr lang="zh-CN" altLang="en-US" sz="1400"/>
                        <a:t>日）</a:t>
                      </a:r>
                      <a:r>
                        <a:rPr lang="en-US" altLang="zh-CN" sz="1400"/>
                        <a:t>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辩证唯物论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第七周（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22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微软雅黑" panose="020B0503020204020204" charset="-122"/>
                        </a:rPr>
                        <a:t>唯物辩证法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225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第八周（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29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r>
                        <a:rPr lang="en-US" altLang="zh-CN" sz="1400">
                          <a:sym typeface="+mn-ea"/>
                        </a:rPr>
                        <a:t>  </a:t>
                      </a:r>
                      <a:r>
                        <a:rPr lang="zh-CN" altLang="en-US" sz="1400">
                          <a:sym typeface="+mn-ea"/>
                        </a:rPr>
                        <a:t>经典著作阅读周（自学）</a:t>
                      </a:r>
                      <a:endParaRPr lang="zh-CN" altLang="en-US" sz="1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第九周（</a:t>
                      </a:r>
                      <a:r>
                        <a:rPr lang="en-US" altLang="zh-CN" sz="1400"/>
                        <a:t>11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5</a:t>
                      </a:r>
                      <a:r>
                        <a:rPr lang="zh-CN" altLang="en-US" sz="1400"/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认识与实践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sz="1400">
                          <a:sym typeface="+mn-ea"/>
                        </a:rPr>
                        <a:t>11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真理与价值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第十一周（</a:t>
                      </a:r>
                      <a:r>
                        <a:rPr lang="en-US" altLang="zh-CN" sz="1400">
                          <a:sym typeface="+mn-ea"/>
                        </a:rPr>
                        <a:t>11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19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社会历史观（</a:t>
                      </a:r>
                      <a:r>
                        <a:rPr lang="en-US" altLang="zh-CN" sz="1400">
                          <a:sym typeface="+mn-ea"/>
                        </a:rPr>
                        <a:t>1</a:t>
                      </a:r>
                      <a:r>
                        <a:rPr lang="zh-CN" altLang="en-US" sz="1400">
                          <a:sym typeface="+mn-ea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第十二周（</a:t>
                      </a:r>
                      <a:r>
                        <a:rPr lang="en-US" altLang="zh-CN" sz="1400">
                          <a:sym typeface="+mn-ea"/>
                        </a:rPr>
                        <a:t>11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26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社会历史观（</a:t>
                      </a:r>
                      <a:r>
                        <a:rPr lang="en-US" altLang="zh-CN" sz="1400"/>
                        <a:t>2</a:t>
                      </a:r>
                      <a:r>
                        <a:rPr lang="zh-CN" altLang="en-US" sz="140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第十三周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3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劳动价值论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第十四周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剩余价值论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第十五周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17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资本主义论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第十六周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24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课堂答疑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周三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课程安排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6"/>
            </p:custDataLst>
          </p:nvPr>
        </p:nvGraphicFramePr>
        <p:xfrm>
          <a:off x="1104265" y="1124585"/>
          <a:ext cx="7392036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8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第一周（</a:t>
                      </a:r>
                      <a:r>
                        <a:rPr lang="en-US" altLang="zh-CN" sz="1400"/>
                        <a:t>9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11</a:t>
                      </a:r>
                      <a:r>
                        <a:rPr lang="zh-CN" altLang="en-US" sz="1400"/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课程介绍与导入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/>
                        <a:t>第二周（</a:t>
                      </a:r>
                      <a:r>
                        <a:rPr lang="en-US" altLang="zh-CN" sz="1400"/>
                        <a:t>9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18</a:t>
                      </a:r>
                      <a:r>
                        <a:rPr lang="zh-CN" altLang="en-US" sz="1400"/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马克思主义起源与创立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第三周（</a:t>
                      </a:r>
                      <a:r>
                        <a:rPr lang="en-US" altLang="zh-CN" sz="1400">
                          <a:sym typeface="+mn-ea"/>
                        </a:rPr>
                        <a:t>9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25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马克思主义与当代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第四周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</a:t>
                      </a:r>
                      <a:r>
                        <a:rPr lang="zh-CN" altLang="en-US" sz="1400">
                          <a:sym typeface="+mn-ea"/>
                        </a:rPr>
                        <a:t>日）国庆节放假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第五周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9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哲学及其基本问题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/>
                        <a:t>第六周（</a:t>
                      </a:r>
                      <a:r>
                        <a:rPr lang="en-US" altLang="zh-CN" sz="1400"/>
                        <a:t>10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16</a:t>
                      </a:r>
                      <a:r>
                        <a:rPr lang="zh-CN" altLang="en-US" sz="1400"/>
                        <a:t>日）</a:t>
                      </a:r>
                      <a:r>
                        <a:rPr lang="en-US" altLang="zh-CN" sz="1400"/>
                        <a:t>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辩证唯物论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第七周（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23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微软雅黑" panose="020B0503020204020204" charset="-122"/>
                        </a:rPr>
                        <a:t>唯物辩证法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225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第八周（</a:t>
                      </a:r>
                      <a:r>
                        <a:rPr lang="en-US" altLang="zh-CN" sz="1400">
                          <a:sym typeface="+mn-ea"/>
                        </a:rPr>
                        <a:t>10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30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r>
                        <a:rPr lang="en-US" altLang="zh-CN" sz="1400">
                          <a:sym typeface="+mn-ea"/>
                        </a:rPr>
                        <a:t>  </a:t>
                      </a:r>
                      <a:r>
                        <a:rPr lang="zh-CN" altLang="en-US" sz="1400">
                          <a:sym typeface="+mn-ea"/>
                        </a:rPr>
                        <a:t>经典著作阅读周（自学）</a:t>
                      </a:r>
                      <a:endParaRPr lang="zh-CN" altLang="en-US" sz="1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第九周（</a:t>
                      </a:r>
                      <a:r>
                        <a:rPr lang="en-US" altLang="zh-CN" sz="1400"/>
                        <a:t>11</a:t>
                      </a:r>
                      <a:r>
                        <a:rPr lang="zh-CN" altLang="en-US" sz="1400"/>
                        <a:t>月</a:t>
                      </a:r>
                      <a:r>
                        <a:rPr lang="en-US" altLang="zh-CN" sz="1400"/>
                        <a:t>6</a:t>
                      </a:r>
                      <a:r>
                        <a:rPr lang="zh-CN" altLang="en-US" sz="1400"/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认识与实践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sz="1400">
                          <a:sym typeface="+mn-ea"/>
                        </a:rPr>
                        <a:t>11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13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真理与价值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第十一周（</a:t>
                      </a:r>
                      <a:r>
                        <a:rPr lang="en-US" altLang="zh-CN" sz="1400">
                          <a:sym typeface="+mn-ea"/>
                        </a:rPr>
                        <a:t>11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20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社会历史观（</a:t>
                      </a:r>
                      <a:r>
                        <a:rPr lang="en-US" altLang="zh-CN" sz="1400">
                          <a:sym typeface="+mn-ea"/>
                        </a:rPr>
                        <a:t>1</a:t>
                      </a:r>
                      <a:r>
                        <a:rPr lang="zh-CN" altLang="en-US" sz="1400">
                          <a:sym typeface="+mn-ea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第十二周（</a:t>
                      </a:r>
                      <a:r>
                        <a:rPr lang="en-US" altLang="zh-CN" sz="1400">
                          <a:sym typeface="+mn-ea"/>
                        </a:rPr>
                        <a:t>11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27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社会历史观（</a:t>
                      </a:r>
                      <a:r>
                        <a:rPr lang="en-US" altLang="zh-CN" sz="1400"/>
                        <a:t>2</a:t>
                      </a:r>
                      <a:r>
                        <a:rPr lang="zh-CN" altLang="en-US" sz="140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第十三周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4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劳动价值论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第十四周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11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剩余价值论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第十五周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18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资本主义论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小组展示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第十六周</a:t>
                      </a:r>
                      <a:r>
                        <a:rPr lang="zh-CN" altLang="en-US" sz="1400">
                          <a:sym typeface="+mn-ea"/>
                        </a:rPr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12</a:t>
                      </a:r>
                      <a:r>
                        <a:rPr lang="zh-CN" altLang="en-US" sz="1400">
                          <a:sym typeface="+mn-ea"/>
                        </a:rPr>
                        <a:t>月</a:t>
                      </a:r>
                      <a:r>
                        <a:rPr lang="en-US" altLang="zh-CN" sz="1400">
                          <a:sym typeface="+mn-ea"/>
                        </a:rPr>
                        <a:t>25</a:t>
                      </a:r>
                      <a:r>
                        <a:rPr lang="zh-CN" altLang="en-US" sz="1400">
                          <a:sym typeface="+mn-ea"/>
                        </a:rPr>
                        <a:t>日）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课堂答疑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-24130" y="5012478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5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课程建议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32175" y="1412240"/>
            <a:ext cx="754951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哲学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是建立在通晓思维的历史及其成就的基础上的理论思维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  <a:p>
            <a:pPr algn="r">
              <a:lnSpc>
                <a:spcPct val="150000"/>
              </a:lnSpc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恩格斯《自然辩证法》</a:t>
            </a:r>
          </a:p>
          <a:p>
            <a:pPr algn="l">
              <a:lnSpc>
                <a:spcPct val="150000"/>
              </a:lnSpc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我们选择了最能为人类福利而劳动的职业，那么，重担就不能把我们压倒，因为这是为大家而献身；那时我们所感到的就不是可怜的、有限的、自私的乐趣，我们的幸福将属于千百万人，我们的事业将默默地、但是永恒发挥作用地存在下去，面对我们的骨灰，高尚的人们将洒下热泪。</a:t>
            </a:r>
          </a:p>
          <a:p>
            <a:pPr algn="r">
              <a:lnSpc>
                <a:spcPct val="150000"/>
              </a:lnSpc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马克思《青年在选择职业时的考虑》</a:t>
            </a:r>
          </a:p>
          <a:p>
            <a:pPr algn="l">
              <a:lnSpc>
                <a:spcPct val="150000"/>
              </a:lnSpc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批判的武器当然不能代替武器的批判，物质力量只能用物质力量来摧毁 但是理论一经掌握群众，也会变成物质力量。理论只要说服人，就能掌握群众，而理论只要彻底，就能说服人。所谓彻底，就是抓住事物的根本。而人的根本就是人本身。</a:t>
            </a:r>
          </a:p>
          <a:p>
            <a:pPr algn="r">
              <a:lnSpc>
                <a:spcPct val="150000"/>
              </a:lnSpc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马克思《黑格尔法哲学批判导言》</a:t>
            </a:r>
          </a:p>
        </p:txBody>
      </p:sp>
      <p:graphicFrame>
        <p:nvGraphicFramePr>
          <p:cNvPr id="8" name="表格 7"/>
          <p:cNvGraphicFramePr/>
          <p:nvPr>
            <p:custDataLst>
              <p:tags r:id="rId6"/>
            </p:custDataLst>
          </p:nvPr>
        </p:nvGraphicFramePr>
        <p:xfrm>
          <a:off x="1104265" y="1557020"/>
          <a:ext cx="2193925" cy="2868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6310"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学习理论思维</a:t>
                      </a:r>
                      <a:endParaRPr lang="zh-CN" alt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敢于追求崇高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algn="ctr">
                        <a:lnSpc>
                          <a:spcPct val="17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关注现实问题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1104053" y="1081193"/>
            <a:ext cx="7393093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55370" y="579755"/>
            <a:ext cx="83633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马恩经典著作：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08075" y="1597660"/>
            <a:ext cx="938022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马克思：《青年在选择职业时的考虑》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恩格斯：《在马克思墓前的讲话》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马克思：《论犹太人问题》、《黑格尔法哲学批判导言》</a:t>
            </a:r>
          </a:p>
          <a:p>
            <a:r>
              <a:rPr lang="zh-CN" altLang="en-US" dirty="0">
                <a:sym typeface="+mn-ea"/>
              </a:rPr>
              <a:t>马克思：《</a:t>
            </a:r>
            <a:r>
              <a:rPr lang="en-US" altLang="zh-CN" dirty="0">
                <a:sym typeface="+mn-ea"/>
              </a:rPr>
              <a:t>1844</a:t>
            </a:r>
            <a:r>
              <a:rPr lang="zh-CN" altLang="en-US" dirty="0">
                <a:sym typeface="+mn-ea"/>
              </a:rPr>
              <a:t>年经济学哲学手稿》</a:t>
            </a:r>
            <a:endParaRPr lang="zh-CN" altLang="en-US" dirty="0"/>
          </a:p>
          <a:p>
            <a:r>
              <a:rPr lang="en-US" altLang="zh-CN" dirty="0"/>
              <a:t>4.</a:t>
            </a:r>
            <a:r>
              <a:rPr lang="zh-CN" altLang="en-US" dirty="0"/>
              <a:t>马克思、恩格斯：《神圣家族》</a:t>
            </a:r>
          </a:p>
          <a:p>
            <a:r>
              <a:rPr lang="en-US" altLang="zh-CN" dirty="0">
                <a:sym typeface="+mn-ea"/>
              </a:rPr>
              <a:t>5.</a:t>
            </a:r>
            <a:r>
              <a:rPr lang="zh-CN" altLang="en-US" dirty="0">
                <a:sym typeface="+mn-ea"/>
              </a:rPr>
              <a:t>马克思、恩格斯：</a:t>
            </a:r>
            <a:r>
              <a:rPr lang="zh-CN" altLang="en-US" dirty="0"/>
              <a:t>《德意志意识形态》</a:t>
            </a:r>
          </a:p>
          <a:p>
            <a:r>
              <a:rPr lang="en-US" altLang="zh-CN" dirty="0"/>
              <a:t>6.</a:t>
            </a:r>
            <a:r>
              <a:rPr lang="zh-CN" altLang="en-US" dirty="0"/>
              <a:t>马克思：《关于费尔巴哈的提纲》</a:t>
            </a:r>
          </a:p>
          <a:p>
            <a:r>
              <a:rPr lang="en-US" altLang="zh-CN" dirty="0"/>
              <a:t>7.</a:t>
            </a:r>
            <a:r>
              <a:rPr lang="zh-CN" altLang="en-US" dirty="0"/>
              <a:t>马克思</a:t>
            </a:r>
            <a:r>
              <a:rPr lang="zh-CN" altLang="en-US" dirty="0">
                <a:sym typeface="+mn-ea"/>
              </a:rPr>
              <a:t>、恩格斯</a:t>
            </a:r>
            <a:r>
              <a:rPr lang="zh-CN" altLang="en-US" dirty="0"/>
              <a:t>：《共产党宣言》</a:t>
            </a:r>
          </a:p>
          <a:p>
            <a:r>
              <a:rPr lang="en-US" altLang="zh-CN" dirty="0"/>
              <a:t>8.</a:t>
            </a:r>
            <a:r>
              <a:rPr lang="zh-CN" altLang="en-US" dirty="0"/>
              <a:t>马克思：《资本论》</a:t>
            </a:r>
          </a:p>
          <a:p>
            <a:r>
              <a:rPr lang="en-US" altLang="zh-CN" dirty="0"/>
              <a:t>9.</a:t>
            </a:r>
            <a:r>
              <a:rPr lang="zh-CN" altLang="en-US" dirty="0"/>
              <a:t>恩格斯：《自然辩证法》</a:t>
            </a:r>
          </a:p>
          <a:p>
            <a:r>
              <a:rPr lang="en-US" altLang="zh-CN" dirty="0"/>
              <a:t>10.</a:t>
            </a:r>
            <a:r>
              <a:rPr lang="zh-CN" altLang="en-US" dirty="0"/>
              <a:t>恩格斯：《反杜林论》</a:t>
            </a:r>
          </a:p>
          <a:p>
            <a:r>
              <a:rPr lang="en-US" altLang="zh-CN" dirty="0"/>
              <a:t>11.</a:t>
            </a:r>
            <a:r>
              <a:rPr lang="zh-CN" altLang="en-US" dirty="0"/>
              <a:t>恩格斯：《路德维希</a:t>
            </a:r>
            <a:r>
              <a:rPr lang="en-US" altLang="zh-CN" dirty="0"/>
              <a:t>·</a:t>
            </a:r>
            <a:r>
              <a:rPr lang="zh-CN" altLang="en-US" dirty="0"/>
              <a:t>费尔巴哈和德国古典哲学的终结》</a:t>
            </a:r>
          </a:p>
          <a:p>
            <a:r>
              <a:rPr lang="en-US" altLang="zh-CN" dirty="0"/>
              <a:t>12.</a:t>
            </a:r>
            <a:r>
              <a:rPr lang="zh-CN" altLang="en-US" dirty="0"/>
              <a:t>列宁：《哲学笔记》</a:t>
            </a:r>
          </a:p>
          <a:p>
            <a:r>
              <a:rPr lang="en-US" altLang="zh-CN" dirty="0"/>
              <a:t>…………</a:t>
            </a:r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0" y="1508760"/>
            <a:ext cx="12202160" cy="3360420"/>
          </a:xfrm>
          <a:prstGeom prst="flowChartProcess">
            <a:avLst/>
          </a:prstGeom>
          <a:solidFill>
            <a:srgbClr val="F0F0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5012"/>
            <a:ext cx="2464999" cy="3204308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015653"/>
            <a:ext cx="1412875" cy="1837267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0000"/>
                </a:srgbClr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295400" y="2468880"/>
            <a:ext cx="952669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感谢观看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407833" y="3909060"/>
            <a:ext cx="551095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accent1"/>
                </a:solidFill>
              </a:rPr>
              <a:t>email</a:t>
            </a:r>
            <a:r>
              <a:rPr lang="zh-CN" altLang="en-US" sz="2400">
                <a:solidFill>
                  <a:schemeClr val="accent1"/>
                </a:solidFill>
              </a:rPr>
              <a:t>：</a:t>
            </a:r>
            <a:r>
              <a:rPr lang="en-US" altLang="zh-CN" sz="2400">
                <a:solidFill>
                  <a:schemeClr val="accent1"/>
                </a:solidFill>
              </a:rPr>
              <a:t>shuangzhenpeng@zju.edu.cn</a:t>
            </a:r>
            <a:endParaRPr lang="zh-CN" altLang="en-US" sz="2400">
              <a:solidFill>
                <a:schemeClr val="accent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VhNGJiMWVmZTg4ZjFhYWZhYWFiMzBkODkwYWRkZmUifQ=="/>
  <p:tag name="KSO_WPP_MARK_KEY" val="6b2f3bb1-ab3d-447d-9b7e-4a490dd992b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MASTER_THUMB_INDEX" val="12"/>
  <p:tag name="KSO_WM_TEMPLATE_THUMBS_INDEX" val="1、4、7、8、10、11、12、13、1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1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空白演示经典风格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f*1_1_1"/>
  <p:tag name="KSO_WM_TEMPLATE_CATEGORY" val="diagram"/>
  <p:tag name="KSO_WM_TEMPLATE_INDEX" val="20200202"/>
  <p:tag name="KSO_WM_UNIT_LAYERLEVEL" val="1_1_1"/>
  <p:tag name="KSO_WM_TAG_VERSION" val="1.0"/>
  <p:tag name="KSO_WM_BEAUTIFY_FLAG" val="#wm#"/>
  <p:tag name="KSO_WM_UNIT_ISCONTENTSTITLE" val="0"/>
  <p:tag name="KSO_WM_UNIT_NOCLEAR" val="0"/>
  <p:tag name="KSO_WM_UNIT_VALUE" val="28"/>
  <p:tag name="KSO_WM_DIAGRAM_GROUP_CODE" val="n1-1"/>
  <p:tag name="KSO_WM_UNIT_TYPE" val="n_h_f"/>
  <p:tag name="KSO_WM_UNIT_INDEX" val="1_1_1"/>
  <p:tag name="KSO_WM_UNIT_PRESET_TEXT" val="添加标题"/>
  <p:tag name="KSO_WM_UNIT_USESOURCEFORMAT_APPLY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1_1"/>
  <p:tag name="KSO_WM_TEMPLATE_CATEGORY" val="diagram"/>
  <p:tag name="KSO_WM_TEMPLATE_INDEX" val="20200202"/>
  <p:tag name="KSO_WM_UNIT_LAYERLEVEL" val="1_1_1_1"/>
  <p:tag name="KSO_WM_TAG_VERSION" val="1.0"/>
  <p:tag name="KSO_WM_BEAUTIFY_FLAG" val="#wm#"/>
  <p:tag name="KSO_WM_UNIT_ISCONTENTSTITLE" val="0"/>
  <p:tag name="KSO_WM_UNIT_NOCLEAR" val="0"/>
  <p:tag name="KSO_WM_DIAGRAM_GROUP_CODE" val="n1-1"/>
  <p:tag name="KSO_WM_UNIT_TYPE" val="n_h_h_f"/>
  <p:tag name="KSO_WM_UNIT_INDEX" val="1_2_1_1"/>
  <p:tag name="KSO_WM_UNIT_PRESET_TEXT" val="添加标题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f*1_2_3_1"/>
  <p:tag name="KSO_WM_TEMPLATE_CATEGORY" val="diagram"/>
  <p:tag name="KSO_WM_TEMPLATE_INDEX" val="20200202"/>
  <p:tag name="KSO_WM_UNIT_LAYERLEVEL" val="1_1_1_1"/>
  <p:tag name="KSO_WM_TAG_VERSION" val="1.0"/>
  <p:tag name="KSO_WM_BEAUTIFY_FLAG" val="#wm#"/>
  <p:tag name="KSO_WM_UNIT_ISCONTENTSTITLE" val="0"/>
  <p:tag name="KSO_WM_UNIT_NOCLEAR" val="0"/>
  <p:tag name="KSO_WM_DIAGRAM_GROUP_CODE" val="n1-1"/>
  <p:tag name="KSO_WM_UNIT_TYPE" val="n_h_h_f"/>
  <p:tag name="KSO_WM_UNIT_INDEX" val="1_2_3_1"/>
  <p:tag name="KSO_WM_UNIT_PRESET_TEXT" val="添加标题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i*1_2_1_1"/>
  <p:tag name="KSO_WM_TEMPLATE_CATEGORY" val="diagram"/>
  <p:tag name="KSO_WM_TEMPLATE_INDEX" val="20200202"/>
  <p:tag name="KSO_WM_UNIT_LAYERLEVEL" val="1_1_1_1"/>
  <p:tag name="KSO_WM_TAG_VERSION" val="1.0"/>
  <p:tag name="KSO_WM_BEAUTIFY_FLAG" val="#wm#"/>
  <p:tag name="KSO_WM_DIAGRAM_GROUP_CODE" val="n1-1"/>
  <p:tag name="KSO_WM_UNIT_TYPE" val="n_h_h_i"/>
  <p:tag name="KSO_WM_UNIT_INDEX" val="1_2_1_1"/>
  <p:tag name="KSO_WM_UNIT_LINE_FORE_SCHEMECOLOR_INDEX_BRIGHTNESS" val="0"/>
  <p:tag name="KSO_WM_UNIT_LINE_FORE_SCHEMECOLOR_INDEX" val="5"/>
  <p:tag name="KSO_WM_UNIT_LINE_FILL_TYPE" val="2"/>
  <p:tag name="KSO_WM_UNIT_USESOURCEFORMAT_APPLY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h_h_i*1_2_3_1"/>
  <p:tag name="KSO_WM_TEMPLATE_CATEGORY" val="diagram"/>
  <p:tag name="KSO_WM_TEMPLATE_INDEX" val="20200202"/>
  <p:tag name="KSO_WM_UNIT_LAYERLEVEL" val="1_1_1_1"/>
  <p:tag name="KSO_WM_TAG_VERSION" val="1.0"/>
  <p:tag name="KSO_WM_BEAUTIFY_FLAG" val="#wm#"/>
  <p:tag name="KSO_WM_DIAGRAM_GROUP_CODE" val="n1-1"/>
  <p:tag name="KSO_WM_UNIT_TYPE" val="n_h_h_i"/>
  <p:tag name="KSO_WM_UNIT_INDEX" val="1_2_3_1"/>
  <p:tag name="KSO_WM_UNIT_LINE_FORE_SCHEMECOLOR_INDEX_BRIGHTNESS" val="0"/>
  <p:tag name="KSO_WM_UNIT_LINE_FORE_SCHEMECOLOR_INDEX" val="5"/>
  <p:tag name="KSO_WM_UNIT_LINE_FILL_TYPE" val="2"/>
  <p:tag name="KSO_WM_UNIT_USESOURCEFORMAT_APPLY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i*1_2"/>
  <p:tag name="KSO_WM_TEMPLATE_CATEGORY" val="diagram"/>
  <p:tag name="KSO_WM_TEMPLATE_INDEX" val="20200202"/>
  <p:tag name="KSO_WM_UNIT_LAYERLEVEL" val="1_1"/>
  <p:tag name="KSO_WM_TAG_VERSION" val="1.0"/>
  <p:tag name="KSO_WM_BEAUTIFY_FLAG" val="#wm#"/>
  <p:tag name="KSO_WM_DIAGRAM_GROUP_CODE" val="n1-1"/>
  <p:tag name="KSO_WM_UNIT_TYPE" val="n_i"/>
  <p:tag name="KSO_WM_UNIT_INDEX" val="1_2"/>
  <p:tag name="KSO_WM_UNIT_LINE_FORE_SCHEMECOLOR_INDEX_BRIGHTNESS" val="0"/>
  <p:tag name="KSO_WM_UNIT_LINE_FORE_SCHEMECOLOR_INDEX" val="5"/>
  <p:tag name="KSO_WM_UNIT_LINE_FILL_TYPE" val="2"/>
  <p:tag name="KSO_WM_UNIT_USESOURCEFORMAT_APPLY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202_2*n_i*1_1"/>
  <p:tag name="KSO_WM_TEMPLATE_CATEGORY" val="diagram"/>
  <p:tag name="KSO_WM_TEMPLATE_INDEX" val="20200202"/>
  <p:tag name="KSO_WM_UNIT_LAYERLEVEL" val="1_1"/>
  <p:tag name="KSO_WM_TAG_VERSION" val="1.0"/>
  <p:tag name="KSO_WM_BEAUTIFY_FLAG" val="#wm#"/>
  <p:tag name="KSO_WM_DIAGRAM_GROUP_CODE" val="n1-1"/>
  <p:tag name="KSO_WM_UNIT_TYPE" val="n_i"/>
  <p:tag name="KSO_WM_UNIT_INDEX" val="1_1"/>
  <p:tag name="KSO_WM_UNIT_LINE_FORE_SCHEMECOLOR_INDEX_BRIGHTNESS" val="0"/>
  <p:tag name="KSO_WM_UNIT_LINE_FORE_SCHEMECOLOR_INDEX" val="5"/>
  <p:tag name="KSO_WM_UNIT_LINE_FILL_TYPE" val="2"/>
  <p:tag name="KSO_WM_UNIT_USESOURCEFORMAT_APPLY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142983e-a4bd-4cf6-ab40-55ac93a51714}"/>
  <p:tag name="TABLE_ENDDRAG_ORIGIN_RECT" val="698*412"/>
  <p:tag name="TABLE_ENDDRAG_RECT" val="86*99*698*412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6256d73-0c79-439e-b619-578b94498f16}"/>
  <p:tag name="TABLE_ENDDRAG_ORIGIN_RECT" val="539*430"/>
  <p:tag name="TABLE_ENDDRAG_RECT" val="86*88*539*43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55cf7cd-9ea9-4a6e-b673-e5b1eb1d5001}"/>
  <p:tag name="TABLE_ENDDRAG_ORIGIN_RECT" val="539*430"/>
  <p:tag name="TABLE_ENDDRAG_RECT" val="86*88*539*43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  <p:tag name="KSO_WM_SLIDE_ITEM_CNT" val="3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47*225"/>
  <p:tag name="TABLE_ENDDRAG_RECT" val="144*225*147*225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"/>
  <p:tag name="KSO_WM_UNIT_LINE_FILL_TYPE" val="2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"/>
  <p:tag name="KSO_WM_SLIDE_BACKGROUND_TYPE" val="general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cc92f4b5-3e24-4bee-b6ab-4922144a29f4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e02d3ddc-285c-4051-aaa5-897ca84685b5}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1265</Words>
  <Application>Microsoft Office PowerPoint</Application>
  <PresentationFormat>宽屏</PresentationFormat>
  <Paragraphs>186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楷体</vt:lpstr>
      <vt:lpstr>微软雅黑</vt:lpstr>
      <vt:lpstr>Arial</vt:lpstr>
      <vt:lpstr>1_默认设计模板</vt:lpstr>
      <vt:lpstr>3_Office 主题​​</vt:lpstr>
      <vt:lpstr>2_Office 主题​​</vt:lpstr>
      <vt:lpstr>马克思主义与基本原理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刘懿莹</dc:creator>
  <cp:lastModifiedBy>xzz_xuanzhizheng@qq.com</cp:lastModifiedBy>
  <cp:revision>206</cp:revision>
  <dcterms:created xsi:type="dcterms:W3CDTF">2020-07-22T02:23:00Z</dcterms:created>
  <dcterms:modified xsi:type="dcterms:W3CDTF">2024-12-21T07:23:52Z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4B0CF847F6EC436CA3B318548E7BC4FD</vt:lpwstr>
  </property>
</Properties>
</file>