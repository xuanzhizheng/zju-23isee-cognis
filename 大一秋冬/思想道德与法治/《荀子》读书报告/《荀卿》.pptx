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10"/>
    <p:sldId id="296" r:id="rId11"/>
    <p:sldId id="295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</p:sldIdLst>
  <p:sldSz cx="12192000" cy="6858000"/>
  <p:notesSz cx="6858000" cy="9144000"/>
  <p:custDataLst>
    <p:tags r:id="rId4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tags" Target="tags/tag1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635"/>
            <a:ext cx="12192000" cy="6857365"/>
          </a:xfrm>
        </p:spPr>
        <p:txBody>
          <a:bodyPr anchor="ctr" anchorCtr="0">
            <a:noAutofit/>
          </a:bodyPr>
          <a:p>
            <a:pPr algn="ctr" fontAlgn="ctr"/>
            <a:r>
              <a:rPr lang="zh-CN" altLang="en-US" sz="20000" b="1">
                <a:latin typeface="宋体" panose="02010600030101010101" pitchFamily="2" charset="-122"/>
                <a:ea typeface="宋体" panose="02010600030101010101" pitchFamily="2" charset="-122"/>
              </a:rPr>
              <a:t>《荀卿》</a:t>
            </a:r>
            <a:endParaRPr lang="zh-CN" altLang="en-US" sz="200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281920" cy="2017395"/>
          </a:xfrm>
        </p:spPr>
        <p:txBody>
          <a:bodyPr>
            <a:noAutofit/>
          </a:bodyPr>
          <a:p>
            <a:pPr algn="ctr"/>
            <a:r>
              <a:rPr lang="zh-CN" altLang="en-US" sz="9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目录</a:t>
            </a:r>
            <a:endParaRPr lang="zh-CN" altLang="en-US" sz="96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084070"/>
            <a:ext cx="5697220" cy="4773295"/>
          </a:xfrm>
        </p:spPr>
        <p:txBody>
          <a:bodyPr>
            <a:noAutofit/>
          </a:bodyPr>
          <a:p>
            <a:endParaRPr lang="zh-CN" altLang="en-US" sz="1600"/>
          </a:p>
          <a:p>
            <a:pPr marL="0" indent="0" fontAlgn="auto">
              <a:lnSpc>
                <a:spcPct val="150000"/>
              </a:lnSpc>
              <a:buNone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一、序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71600" lvl="3" indent="457200" fontAlgn="auto">
              <a:lnSpc>
                <a:spcPct val="150000"/>
              </a:lnSpc>
              <a:buNone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——缘起与续章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fontAlgn="auto">
              <a:lnSpc>
                <a:spcPct val="150000"/>
              </a:lnSpc>
              <a:buNone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二、《劝学》与《修身》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71600" lvl="3" indent="457200" fontAlgn="auto">
              <a:lnSpc>
                <a:spcPct val="150000"/>
              </a:lnSpc>
              <a:buNone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——外正内烂的洋葱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fontAlgn="auto">
              <a:lnSpc>
                <a:spcPct val="150000"/>
              </a:lnSpc>
              <a:buNone/>
            </a:pP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81750" y="2317750"/>
            <a:ext cx="5810885" cy="4539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 fontAlgn="auto">
              <a:lnSpc>
                <a:spcPct val="150000"/>
              </a:lnSpc>
              <a:buNone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三、《不苟》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				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——矛盾之下议是非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fontAlgn="auto">
              <a:lnSpc>
                <a:spcPct val="150000"/>
              </a:lnSpc>
              <a:buNone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四、《荣辱》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71600" lvl="3" indent="457200" fontAlgn="auto">
              <a:lnSpc>
                <a:spcPct val="150000"/>
              </a:lnSpc>
              <a:buNone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——逻辑混乱的幻想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fontAlgn="auto">
              <a:lnSpc>
                <a:spcPct val="150000"/>
              </a:lnSpc>
              <a:buNone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五、尾声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75565" y="635"/>
            <a:ext cx="12266930" cy="6858000"/>
          </a:xfrm>
        </p:spPr>
        <p:txBody>
          <a:bodyPr anchor="ctr" anchorCtr="0">
            <a:noAutofit/>
          </a:bodyPr>
          <a:p>
            <a:pPr marL="0" indent="0" algn="ctr">
              <a:lnSpc>
                <a:spcPct val="100000"/>
              </a:lnSpc>
              <a:buNone/>
            </a:pPr>
            <a:r>
              <a:rPr lang="zh-CN" altLang="en-US" sz="16000"/>
              <a:t>一、序</a:t>
            </a:r>
            <a:endParaRPr lang="zh-CN" altLang="en-US" sz="16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99745"/>
            <a:ext cx="10515600" cy="1325563"/>
          </a:xfrm>
        </p:spPr>
        <p:txBody>
          <a:bodyPr>
            <a:noAutofit/>
          </a:bodyPr>
          <a:p>
            <a:pPr algn="ctr"/>
            <a:r>
              <a:rPr lang="zh-CN" altLang="en-US" sz="8000"/>
              <a:t>缘起</a:t>
            </a:r>
            <a:endParaRPr lang="zh-CN" altLang="en-US" sz="80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02175"/>
          </a:xfrm>
        </p:spPr>
        <p:txBody>
          <a:bodyPr>
            <a:normAutofit fontScale="80000"/>
          </a:bodyPr>
          <a:p>
            <a:pPr marL="0" indent="457200" fontAlgn="auto">
              <a:lnSpc>
                <a:spcPct val="150000"/>
              </a:lnSpc>
              <a:buNone/>
            </a:pPr>
            <a:r>
              <a:rPr lang="zh-CN" altLang="en-US"/>
              <a:t>第一次认识荀卿是初中时查阅素材读到了他的＂不登高山，不知天之高也；不临深溪，不知地之厚也。＂颇受震撼，尔后去翻阅了他的《劝学》篇，又深受启发，从此，“荀卿”二字便铭刻于心。</a:t>
            </a:r>
            <a:endParaRPr lang="zh-CN" altLang="en-US"/>
          </a:p>
          <a:p>
            <a:pPr marL="0" indent="0" fontAlgn="auto">
              <a:lnSpc>
                <a:spcPct val="150000"/>
              </a:lnSpc>
              <a:buNone/>
            </a:pPr>
            <a:endParaRPr lang="zh-CN" altLang="en-US"/>
          </a:p>
          <a:p>
            <a:pPr marL="0" indent="457200" fontAlgn="auto">
              <a:lnSpc>
                <a:spcPct val="150000"/>
              </a:lnSpc>
              <a:buNone/>
            </a:pPr>
            <a:r>
              <a:rPr lang="zh-CN" altLang="en-US"/>
              <a:t>再识他时是矛盾的，一方面，高中重学《劝学》（节选）让我乐在其中，但同时，所读《风流去》中对他的批语是＂养在深闺人未识＂，是＂道德的毁败者＂，所惜高中时间并不充裕，虽心向之却不得一读《荀子》，便遗憾永埋，如今，得有时间，而有机会细读《荀子》，自然是欣然选择。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634365"/>
            <a:ext cx="10515600" cy="1325563"/>
          </a:xfrm>
        </p:spPr>
        <p:txBody>
          <a:bodyPr>
            <a:noAutofit/>
          </a:bodyPr>
          <a:p>
            <a:pPr algn="ctr"/>
            <a:r>
              <a:rPr lang="zh-CN" altLang="en-US" sz="8000"/>
              <a:t>续章</a:t>
            </a:r>
            <a:endParaRPr lang="zh-CN" altLang="en-US" sz="80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278380"/>
            <a:ext cx="10515600" cy="4351338"/>
          </a:xfrm>
        </p:spPr>
        <p:txBody>
          <a:bodyPr/>
          <a:p>
            <a:pPr marL="0" indent="457200" fontAlgn="auto">
              <a:lnSpc>
                <a:spcPct val="150000"/>
              </a:lnSpc>
              <a:buNone/>
            </a:pPr>
            <a:r>
              <a:rPr lang="zh-CN" altLang="en-US" sz="2200"/>
              <a:t>将此次报告题为《荀卿》，其一是弄懂其人：“荀卿究竟是怎样一个人？””鲍鹏山之言是否失真？”读之才知。而限于篇幅，便取《劝学》《修身》《不苟》《荣辱》四篇为报告主要内容，望能以小见大，一窥荀卿之心．其二是借先贤之作，以＂立＂下己心，不枉一读。</a:t>
            </a:r>
            <a:endParaRPr lang="zh-CN" altLang="en-US"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635" y="635"/>
            <a:ext cx="12192635" cy="6940550"/>
          </a:xfrm>
        </p:spPr>
        <p:txBody>
          <a:bodyPr anchor="ctr" anchorCtr="0">
            <a:normAutofit/>
          </a:bodyPr>
          <a:p>
            <a:pPr marL="0" indent="0" algn="ctr" fontAlgn="auto">
              <a:lnSpc>
                <a:spcPct val="150000"/>
              </a:lnSpc>
            </a:pPr>
            <a:r>
              <a:rPr lang="zh-CN" altLang="en-US" sz="8000"/>
              <a:t>二、《劝学》与《修身》</a:t>
            </a:r>
            <a:br>
              <a:rPr lang="zh-CN" altLang="en-US" sz="8000"/>
            </a:br>
            <a:r>
              <a:rPr lang="en-US" altLang="zh-CN" sz="8000"/>
              <a:t>				</a:t>
            </a:r>
            <a:r>
              <a:rPr lang="en-US" altLang="zh-CN" sz="6000"/>
              <a:t>——</a:t>
            </a:r>
            <a:r>
              <a:rPr lang="zh-CN" altLang="en-US" sz="6000"/>
              <a:t>外正内烂的洋葱</a:t>
            </a:r>
            <a:endParaRPr lang="zh-CN" altLang="en-US" sz="6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41705"/>
            <a:ext cx="10515600" cy="5235575"/>
          </a:xfrm>
        </p:spPr>
        <p:txBody>
          <a:bodyPr>
            <a:normAutofit/>
          </a:bodyPr>
          <a:p>
            <a:pPr marL="0" indent="457200" fontAlgn="auto">
              <a:lnSpc>
                <a:spcPct val="150000"/>
              </a:lnSpc>
              <a:buNone/>
            </a:pPr>
            <a:r>
              <a:rPr lang="zh-CN" altLang="en-US" sz="2665"/>
              <a:t>凡开篇伊始，作者怀欲成巨作之心，面空简而落笔，其成作之气必如浩然江水击于一点，故所书之文大气磅礴，实非怪事。《劝学》篇便如是。</a:t>
            </a:r>
            <a:endParaRPr lang="zh-CN" altLang="en-US" sz="2665"/>
          </a:p>
          <a:p>
            <a:pPr marL="0" indent="457200" fontAlgn="auto">
              <a:lnSpc>
                <a:spcPct val="150000"/>
              </a:lnSpc>
              <a:buNone/>
            </a:pPr>
            <a:r>
              <a:rPr lang="zh-CN" altLang="en-US" sz="2665"/>
              <a:t>＂学不可已＂强调长久学习，＂善假于物＂强调巧借外力，＂物象其德＂强调荣辱随心，更以＂通伦类，一仁义＂表明＂君子贵其全＂。开篇之所引所用，所喻所象，不输孟子的＂浩然之气＂，一个标杆于此时悄然立起，仿佛让我看到一个持书卷，行天下，布大道的荀卿。</a:t>
            </a:r>
            <a:endParaRPr lang="zh-CN" altLang="en-US" sz="2665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457200">
              <a:lnSpc>
                <a:spcPct val="150000"/>
              </a:lnSpc>
              <a:buNone/>
            </a:pPr>
            <a:r>
              <a:rPr lang="zh-CN" altLang="en-US">
                <a:sym typeface="+mn-ea"/>
              </a:rPr>
              <a:t>然而，当我翻页进入《修身》篇后，标杆轰然倒塌．这种倒塌并非是＂图穷匕见＂式的，而是由于一个令人反感的＂洋葱上的小凸起＂，让我重新回味其所述所讲，逐渐将洋葱＂剥开＂，而后猛然惊觉，其＂心＂似乎是烂的。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457200" fontAlgn="auto">
              <a:lnSpc>
                <a:spcPct val="150000"/>
              </a:lnSpc>
              <a:buNone/>
            </a:pPr>
            <a:r>
              <a:rPr lang="zh-CN" altLang="en-US">
                <a:sym typeface="+mn-ea"/>
              </a:rPr>
              <a:t>《修身》篇喻少而铺陈多，颇有墨家行文风范，其所述初看并无缺误，先讲＂存善省不善＂＂扁度养生＂，再论证＂省内而轻外物＂＂存恭敬则天下贵＂。而后论证＂长恒努力＂＂礼师＂。然而，在读之中一段时，反感之味涌起，现将其摘录：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12191365" cy="6857365"/>
          </a:xfrm>
        </p:spPr>
        <p:txBody>
          <a:bodyPr anchor="ctr" anchorCtr="0"/>
          <a:p>
            <a:pPr marL="457200" lvl="1" indent="457200" fontAlgn="auto">
              <a:lnSpc>
                <a:spcPct val="150000"/>
              </a:lnSpc>
              <a:buNone/>
            </a:pPr>
            <a:r>
              <a:rPr lang="zh-CN" altLang="en-US" sz="4000"/>
              <a:t>＂偶视而先俯，非恐惧也。然夫士欲独修其身，不以得罪于比俗之人也。＂</a:t>
            </a:r>
            <a:endParaRPr lang="zh-CN" altLang="en-US" sz="4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457200" fontAlgn="auto">
              <a:lnSpc>
                <a:spcPct val="150000"/>
              </a:lnSpc>
              <a:buNone/>
            </a:pPr>
            <a:r>
              <a:rPr lang="zh-CN" altLang="en-US"/>
              <a:t>我脑海中第一时间浮现了阿Ｑ的身影，这句活有何异于＂儿子打爸爸＂的安慰？偶视为何要先俯，不卑不亢平视有何问题？</a:t>
            </a:r>
            <a:endParaRPr lang="zh-CN" altLang="en-US"/>
          </a:p>
          <a:p>
            <a:pPr marL="0" indent="457200" fontAlgn="auto">
              <a:lnSpc>
                <a:spcPct val="150000"/>
              </a:lnSpc>
              <a:buNone/>
            </a:pPr>
            <a:r>
              <a:rPr lang="zh-CN" altLang="en-US"/>
              <a:t>尔后则更加诡异：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55725"/>
            <a:ext cx="10515600" cy="4821555"/>
          </a:xfrm>
        </p:spPr>
        <p:txBody>
          <a:bodyPr>
            <a:noAutofit/>
          </a:bodyPr>
          <a:p>
            <a:pPr marL="0" indent="457200" fontAlgn="auto">
              <a:lnSpc>
                <a:spcPct val="150000"/>
              </a:lnSpc>
              <a:buNone/>
            </a:pPr>
            <a:r>
              <a:rPr lang="zh-CN" altLang="en-US" sz="4000"/>
              <a:t>“夫‘坚白’‘同异’‘有厚无厚’之察，非不察也，然而君子不辩，止之也。＂</a:t>
            </a:r>
            <a:endParaRPr lang="zh-CN" altLang="en-US" sz="4000"/>
          </a:p>
          <a:p>
            <a:pPr fontAlgn="auto">
              <a:lnSpc>
                <a:spcPct val="150000"/>
              </a:lnSpc>
            </a:pPr>
            <a:endParaRPr lang="zh-CN" altLang="en-US" sz="4000"/>
          </a:p>
          <a:p>
            <a:pPr marL="0" indent="457200" fontAlgn="auto">
              <a:lnSpc>
                <a:spcPct val="150000"/>
              </a:lnSpc>
              <a:buNone/>
            </a:pPr>
            <a:r>
              <a:rPr lang="zh-CN" altLang="en-US" sz="4000"/>
              <a:t>＂礼然而然，则是情安礼也；师云而云，则是知若师也。＂</a:t>
            </a:r>
            <a:endParaRPr lang="zh-CN" altLang="en-US" sz="4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1640"/>
            <a:ext cx="10515600" cy="4485640"/>
          </a:xfrm>
        </p:spPr>
        <p:txBody>
          <a:bodyPr/>
          <a:p>
            <a:pPr marL="0" indent="457200" fontAlgn="auto">
              <a:lnSpc>
                <a:spcPct val="150000"/>
              </a:lnSpc>
              <a:buNone/>
            </a:pPr>
            <a:r>
              <a:rPr lang="zh-CN" altLang="en-US"/>
              <a:t>若说第一句话还有三分＂不与人争＂可以解释，第二句话还有一分＂大智若愚＂可以解释，那这最后一句话便是彻彻底底的＂紧箍咒了＂，不问是非，只计顺逆。荀子这三条禁令＂绘出了一派＂腐儒＂之气：木讷却有扭曲的＂自信＂，旧法度的无条件捍卫者。</a:t>
            </a:r>
            <a:endParaRPr lang="zh-CN" altLang="en-US"/>
          </a:p>
          <a:p>
            <a:pPr marL="0" indent="457200" fontAlgn="auto">
              <a:lnSpc>
                <a:spcPct val="150000"/>
              </a:lnSpc>
              <a:buNone/>
            </a:pPr>
            <a:r>
              <a:rPr lang="zh-CN" altLang="en-US">
                <a:sym typeface="+mn-ea"/>
              </a:rPr>
              <a:t>这种＂腐儒＂气一直到几千年后仍能见到，当康梁要求变法时，清廷重臣言：</a:t>
            </a:r>
            <a:endParaRPr lang="zh-CN" altLang="en-US"/>
          </a:p>
          <a:p>
            <a:pPr marL="0" indent="457200" fontAlgn="auto">
              <a:lnSpc>
                <a:spcPct val="150000"/>
              </a:lnSpc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457200">
              <a:buNone/>
            </a:pPr>
            <a:r>
              <a:rPr lang="zh-CN" altLang="en-US" sz="4000"/>
              <a:t>＂祖宗之法不可变。＂</a:t>
            </a:r>
            <a:endParaRPr lang="zh-CN" altLang="en-US" sz="4000"/>
          </a:p>
          <a:p>
            <a:pPr marL="0" indent="457200">
              <a:buNone/>
            </a:pPr>
            <a:endParaRPr lang="zh-CN" altLang="en-US" sz="4000"/>
          </a:p>
          <a:p>
            <a:pPr marL="0" indent="457200">
              <a:buNone/>
            </a:pPr>
            <a:r>
              <a:rPr lang="zh-CN" altLang="en-US" sz="4000"/>
              <a:t>＂宁可亡国，不可变法。＂</a:t>
            </a:r>
            <a:endParaRPr lang="zh-CN" altLang="en-US" sz="4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457200" fontAlgn="auto">
              <a:lnSpc>
                <a:spcPct val="150000"/>
              </a:lnSpc>
              <a:buNone/>
            </a:pPr>
            <a:r>
              <a:rPr lang="zh-CN" altLang="en-US"/>
              <a:t>悲夫！鲍鹏山所言“儒者的‘信条’就这样被荀子改编为‘裹脚布’以谄媚君王了”竟在第二篇就得到应验。</a:t>
            </a:r>
            <a:endParaRPr lang="zh-CN" altLang="en-US"/>
          </a:p>
          <a:p>
            <a:pPr marL="0" indent="457200" fontAlgn="auto">
              <a:lnSpc>
                <a:spcPct val="150000"/>
              </a:lnSpc>
              <a:buNone/>
            </a:pPr>
            <a:r>
              <a:rPr lang="zh-CN" altLang="en-US"/>
              <a:t>事实上，说“洋葱已全然烂透”，并非说苟子所言皆是糟粕，而是他所言，＂孝悌仁义＂＂人穷志广＂，不过是传了儒家先贤所言，却得出如此一套结论，儒道之悲哉。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635"/>
          </a:xfrm>
        </p:spPr>
        <p:txBody>
          <a:bodyPr anchor="ctr" anchorCtr="0"/>
          <a:p>
            <a:pPr marL="2743200" lvl="6" indent="457200" algn="l">
              <a:lnSpc>
                <a:spcPct val="150000"/>
              </a:lnSpc>
              <a:buNone/>
            </a:pPr>
            <a:r>
              <a:rPr lang="zh-CN" altLang="en-US" sz="8000">
                <a:sym typeface="+mn-ea"/>
              </a:rPr>
              <a:t>三、《不苟》</a:t>
            </a:r>
            <a:endParaRPr lang="en-US" altLang="zh-CN" sz="8000"/>
          </a:p>
          <a:p>
            <a:pPr marL="3200400" lvl="7" indent="457200" algn="ctr">
              <a:lnSpc>
                <a:spcPct val="150000"/>
              </a:lnSpc>
              <a:buNone/>
            </a:pPr>
            <a:r>
              <a:rPr lang="en-US" altLang="zh-CN" sz="6000"/>
              <a:t>——</a:t>
            </a:r>
            <a:r>
              <a:rPr lang="zh-CN" altLang="en-US" sz="6000"/>
              <a:t>矛盾之下议是非</a:t>
            </a:r>
            <a:endParaRPr lang="zh-CN" altLang="en-US" sz="6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1640"/>
            <a:ext cx="10515600" cy="4485640"/>
          </a:xfrm>
        </p:spPr>
        <p:txBody>
          <a:bodyPr>
            <a:normAutofit fontScale="80000"/>
          </a:bodyPr>
          <a:p>
            <a:pPr marL="0" indent="457200">
              <a:lnSpc>
                <a:spcPct val="150000"/>
              </a:lnSpc>
              <a:buNone/>
            </a:pPr>
            <a:r>
              <a:rPr lang="zh-CN" altLang="en-US"/>
              <a:t>在《劝学》与《修身》中，我深切地为荀卿与儒道而悲，进而翻阅至《不苟》篇时，甚已不抱什么希望．然《不苟》篇的绝大部分内容，竟还算契合我心中的＂君子＂，这不禁让我反省，我心中的＂是非＂，为＂是＂还是为＂非＂</a:t>
            </a:r>
            <a:endParaRPr lang="zh-CN" altLang="en-US"/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/>
              <a:t>《不苟》这个篇名实即可单列一篇而述，他不似另外几乎所有篇目见名即知义，何为＂不苟＂？“苟”在注中被释为“假如，因”。＂不假如＂？似乎不合常理。</a:t>
            </a:r>
            <a:endParaRPr lang="zh-CN" altLang="en-US"/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/>
              <a:t>于是，带着批判的眼光与对何为＂不苟＂的疑惑，《不苟》篇的阅读，就此展开。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0370"/>
            <a:ext cx="10515600" cy="4486910"/>
          </a:xfrm>
        </p:spPr>
        <p:txBody>
          <a:bodyPr/>
          <a:p>
            <a:pPr marL="0" indent="0" algn="ctr">
              <a:lnSpc>
                <a:spcPct val="150000"/>
              </a:lnSpc>
              <a:buNone/>
            </a:pPr>
            <a:r>
              <a:rPr lang="zh-CN" altLang="en-US"/>
              <a:t>文中提到“不苟＂二字仅于第一段中第一句：</a:t>
            </a:r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457200">
              <a:lnSpc>
                <a:spcPct val="150000"/>
              </a:lnSpc>
              <a:buNone/>
            </a:pPr>
            <a:r>
              <a:rPr lang="zh-CN" altLang="en-US" sz="4000"/>
              <a:t>＂君子行不贵苟难，说不贵苟察，名不贵苟传，唯其与之为贵。＂</a:t>
            </a:r>
            <a:endParaRPr lang="zh-CN" altLang="en-US" sz="4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pPr marL="0" indent="457200">
              <a:lnSpc>
                <a:spcPct val="150000"/>
              </a:lnSpc>
              <a:buNone/>
            </a:pPr>
            <a:r>
              <a:rPr lang="zh-CN" altLang="en-US"/>
              <a:t>可事实上，＂不苟＂二字，贯穿全篇。</a:t>
            </a:r>
            <a:endParaRPr lang="zh-CN" altLang="en-US"/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/>
              <a:t>而于这一句中，我们或可一觑＂不苟＂之真貌，此处＂苟＂是一种＂非＂，也是一种虚假的＂伪是＂，在这几乎所有段落都以＂君子＂为前二字的＂不苟＂篇中，＂苟＂为懦懦小人之所作，而＂不苟＂为荡荡君子之所为．</a:t>
            </a:r>
            <a:endParaRPr lang="zh-CN" altLang="en-US"/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/>
              <a:t>“畏患而不避义死，欲利而不为所非”，是不苟＂患＂，不苟＂利＂。</a:t>
            </a:r>
            <a:endParaRPr lang="zh-CN" altLang="en-US"/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/>
              <a:t>“君子能亦好，不能亦好，能则宽容易直以开道人，不能则恭敬缚诎以是事人。”是不苟＂能＂。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457200">
              <a:lnSpc>
                <a:spcPct val="150000"/>
              </a:lnSpc>
              <a:buNone/>
            </a:pPr>
            <a:r>
              <a:rPr lang="zh-CN" altLang="en-US"/>
              <a:t>“不苟＂有一种既已坚定己心，便不为外物所移之决然，确乎有一种儒者的操持与风范。</a:t>
            </a:r>
            <a:endParaRPr lang="zh-CN" altLang="en-US"/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/>
              <a:t>＂不苟＂外物，唯＂当之＂而已。</a:t>
            </a:r>
            <a:endParaRPr lang="zh-CN" altLang="en-US"/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/>
              <a:t>或许在荀卿自己的内心中，他是那个“不苟”之君子吧。</a:t>
            </a: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635" y="0"/>
            <a:ext cx="12192635" cy="6858000"/>
          </a:xfrm>
        </p:spPr>
        <p:txBody>
          <a:bodyPr anchor="ctr" anchorCtr="0">
            <a:normAutofit lnSpcReduction="20000"/>
          </a:bodyPr>
          <a:p>
            <a:pPr marL="0" indent="0" algn="ctr">
              <a:lnSpc>
                <a:spcPct val="150000"/>
              </a:lnSpc>
              <a:buNone/>
            </a:pPr>
            <a:r>
              <a:rPr lang="zh-CN" altLang="en-US" sz="8000"/>
              <a:t>四、《荣辱》</a:t>
            </a:r>
            <a:endParaRPr lang="zh-CN" altLang="en-US" sz="8000"/>
          </a:p>
          <a:p>
            <a:pPr marL="2286000" lvl="5" indent="457200" algn="ctr">
              <a:lnSpc>
                <a:spcPct val="150000"/>
              </a:lnSpc>
              <a:buNone/>
            </a:pPr>
            <a:r>
              <a:rPr lang="en-US" altLang="zh-CN" sz="6000"/>
              <a:t>——</a:t>
            </a:r>
            <a:r>
              <a:rPr lang="zh-CN" altLang="en-US" sz="6000"/>
              <a:t>逻辑混乱的幻想</a:t>
            </a:r>
            <a:endParaRPr lang="zh-CN" altLang="en-US" sz="6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457200">
              <a:lnSpc>
                <a:spcPct val="150000"/>
              </a:lnSpc>
              <a:buNone/>
            </a:pPr>
            <a:r>
              <a:rPr lang="zh-CN" altLang="en-US"/>
              <a:t>《荣辱》篇颇具趣味，这之中，我仿佛更近了一步荀卿的心，看到了他的笔随思绪的纷飞而势如破竹的前进着，却突然由于思绪的打结而停笔，并绞尽脑汁的思考，可终不得其解，于是报复性的写下：</a:t>
            </a:r>
            <a:endParaRPr lang="zh-CN" altLang="en-US"/>
          </a:p>
          <a:p>
            <a:pPr marL="0" indent="457200">
              <a:lnSpc>
                <a:spcPct val="150000"/>
              </a:lnSpc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457200">
              <a:lnSpc>
                <a:spcPct val="150000"/>
              </a:lnSpc>
              <a:buNone/>
            </a:pPr>
            <a:r>
              <a:rPr lang="zh-CN" altLang="en-US" sz="4000"/>
              <a:t>＂仁义德行，常安之术也，然而未必不危也。污漫突盗，常危之术也，然而未必不安也。故君子道其常，而小人道其怪。＂</a:t>
            </a:r>
            <a:endParaRPr lang="zh-CN" altLang="en-US" sz="4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7487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/>
              <a:t>此句之前，他正洋洋洒洒的批判＂斗者＂，之中以此段最为神奇：</a:t>
            </a:r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457200">
              <a:lnSpc>
                <a:spcPct val="150000"/>
              </a:lnSpc>
              <a:buNone/>
            </a:pPr>
            <a:r>
              <a:rPr lang="zh-CN" altLang="en-US" sz="4000"/>
              <a:t>＂凡斗者，必自以为是而以人为非也。已成是也，人诚非也，则是己君子而人小人也。以君子与小人相贼害也，忧以若其身，内以忘其亲，上以忘其君，岂不过甚矣哉！＂</a:t>
            </a:r>
            <a:endParaRPr lang="zh-CN" altLang="en-US" sz="4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30655"/>
            <a:ext cx="10515600" cy="4746625"/>
          </a:xfrm>
        </p:spPr>
        <p:txBody>
          <a:bodyPr>
            <a:normAutofit lnSpcReduction="20000"/>
          </a:bodyPr>
          <a:p>
            <a:pPr marL="0" indent="457200">
              <a:lnSpc>
                <a:spcPct val="150000"/>
              </a:lnSpc>
              <a:buNone/>
            </a:pPr>
            <a:r>
              <a:rPr lang="zh-CN" altLang="en-US"/>
              <a:t>我们用手术刀将之细细剖开，便发现之中诡异之处，＂纵己是人非，亦不能贼害人＂，初听好像还挺对，但这不过是荀卿耍了个小花招，用＂贼害＂二字为＂斗者＂压了个道德的砝码。</a:t>
            </a:r>
            <a:endParaRPr lang="zh-CN" altLang="en-US"/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/>
              <a:t>我们代入具体而言，＂斗者＂二字后被韩非子编为＂侠＂，其特征为＂以武犯禁＂，而＂起义者＂正是＂以武犯禁＂一典型，让天下黎民处于水深火热之中而不可起义推翻暴君，仅因为这残害了人，苟卿，可乎？他们为何要“忘身忘亲”而斗，荀卿，知乎？</a:t>
            </a:r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ctr">
              <a:buNone/>
            </a:pPr>
            <a:r>
              <a:rPr lang="zh-CN" altLang="en-US"/>
              <a:t>我们能看到他苍白的狡辩：</a:t>
            </a:r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457200">
              <a:lnSpc>
                <a:spcPct val="150000"/>
              </a:lnSpc>
              <a:buNone/>
            </a:pPr>
            <a:r>
              <a:rPr lang="zh-CN" altLang="en-US" sz="4000"/>
              <a:t>＂循法则、度量、刑辟、图籍，不知其义，谨守其数，慎不敢损益也。＂</a:t>
            </a:r>
            <a:endParaRPr lang="zh-CN" altLang="en-US" sz="4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10995"/>
            <a:ext cx="10515600" cy="4566285"/>
          </a:xfrm>
        </p:spPr>
        <p:txBody>
          <a:bodyPr/>
          <a:p>
            <a:pPr marL="0" indent="457200">
              <a:lnSpc>
                <a:spcPct val="150000"/>
              </a:lnSpc>
              <a:buNone/>
            </a:pPr>
            <a:r>
              <a:rPr lang="zh-CN" altLang="en-US"/>
              <a:t>这是在荀卿的一幅＂天下大同图＂中，官人百史所要做的。在他的这幅幻想之图中，＂天子＂＂诸侯＂＂士大夫＂＂官人百史＂＂庶人＂各司其职，并从反面论述了＂奸人＂的偷生反侧是其之所以＂危＂也。</a:t>
            </a:r>
            <a:endParaRPr lang="zh-CN" altLang="en-US"/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/>
              <a:t>而＂官人百吏＂都只可＂不知其义，谨守其数＂，也难怪＂斗者＂被荀卿＂丑之＂。</a:t>
            </a:r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488950"/>
            <a:ext cx="10515600" cy="5688330"/>
          </a:xfrm>
        </p:spPr>
        <p:txBody>
          <a:bodyPr>
            <a:normAutofit/>
          </a:bodyPr>
          <a:p>
            <a:pPr marL="0" indent="457200">
              <a:lnSpc>
                <a:spcPct val="150000"/>
              </a:lnSpc>
              <a:buNone/>
            </a:pPr>
            <a:r>
              <a:rPr lang="zh-CN" altLang="en-US"/>
              <a:t>我们退半步客观而言，苟卿之辞其实并非完全没有原因，在那个战乱频繁的时代，苟卿之幻想构建了一个安定的社会，他可以让黎民暖衣饱食免于刑戮。可是，这个社会在时间上是不可连续的，它只是一个切片，并且，这种社会构想也完全无法由那个战国时代而演化．故而，仅管他低声下气的＂折＂了＂士大夫＂的“节”，他这套不可达成且不可延续的幻想，也并未被各个诸候采纳。</a:t>
            </a:r>
            <a:endParaRPr lang="zh-CN" altLang="en-US"/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/>
              <a:t>或许他在写到此时，清醒过来摆脱幻想后，看到世中实施＂污漫突盗＂的＂小人之术＂反愈发强大时，无奈写下这句话：</a:t>
            </a:r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12191365" cy="6857365"/>
          </a:xfrm>
        </p:spPr>
        <p:txBody>
          <a:bodyPr anchor="ctr" anchorCtr="0"/>
          <a:p>
            <a:pPr marL="0" indent="457200">
              <a:lnSpc>
                <a:spcPct val="150000"/>
              </a:lnSpc>
              <a:buNone/>
            </a:pPr>
            <a:r>
              <a:rPr lang="zh-CN" altLang="en-US" sz="4000"/>
              <a:t>＂常安之术，未必不危，常危之术，未必不安。＂</a:t>
            </a:r>
            <a:endParaRPr lang="zh-CN" altLang="en-US" sz="4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1365" cy="6857365"/>
          </a:xfrm>
        </p:spPr>
        <p:txBody>
          <a:bodyPr>
            <a:noAutofit/>
          </a:bodyPr>
          <a:p>
            <a:pPr algn="ctr"/>
            <a:r>
              <a:rPr lang="zh-CN" altLang="en-US" sz="8000"/>
              <a:t>五、尾声</a:t>
            </a:r>
            <a:endParaRPr lang="zh-CN" altLang="en-US" sz="8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/>
              <a:t>作为由“儒”到“法”的转折点，其实《荀子》中还有很多篇目值得一谈，可限于篇幅不得一一而列，实令人惋惜。其中让我感触最深的是《解蔽》篇中荀卿所言：</a:t>
            </a:r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12191365" cy="6858000"/>
          </a:xfrm>
        </p:spPr>
        <p:txBody>
          <a:bodyPr anchor="ctr" anchorCtr="0"/>
          <a:p>
            <a:pPr marL="0" indent="0" algn="ctr">
              <a:buNone/>
            </a:pPr>
            <a:r>
              <a:rPr lang="zh-CN" altLang="en-US" sz="4000"/>
              <a:t>“凡人之患，蔽于一曲。”</a:t>
            </a:r>
            <a:endParaRPr lang="zh-CN" altLang="en-US" sz="4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457200">
              <a:lnSpc>
                <a:spcPct val="150000"/>
              </a:lnSpc>
              <a:buNone/>
            </a:pPr>
            <a:r>
              <a:rPr lang="zh-CN" altLang="en-US"/>
              <a:t>荀卿啊，他或许就是这么一个“蔽于一曲”的人。他接收到的是孔孟胸怀天下的儒者气概，也为他们不得实行于世而惋惜，于是“隆礼法”“法后王”，唯求自己之主张得以被采纳而使那个战乱频繁民不聊生的时代翻篇。而时不遂愿，渐渐地荀卿愤怒了，他对世间之法逐一批驳，他恨，于是他“蔽于一曲”。</a:t>
            </a:r>
            <a:endParaRPr lang="zh-CN" altLang="en-US"/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/>
              <a:t>不知后来，他是否忆起那段经典的对话：</a:t>
            </a:r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457200">
              <a:lnSpc>
                <a:spcPct val="150000"/>
              </a:lnSpc>
              <a:buNone/>
            </a:pPr>
            <a:r>
              <a:rPr lang="zh-CN" altLang="en-US"/>
              <a:t>子贡曰：“夫子之道至大也，故天下莫能容夫子。夫子盖少贬焉？”	</a:t>
            </a:r>
            <a:endParaRPr lang="zh-CN" altLang="en-US"/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/>
              <a:t>孔子曰：“赐，良农能稼而不能为穑，良工能巧而不能为顺。君子能修其道，纲而纪之，统而理之，而不能为容。今尔不修尔道而求为容。赐，而志不远矣！”</a:t>
            </a:r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-635"/>
            <a:ext cx="12192000" cy="6859270"/>
          </a:xfrm>
        </p:spPr>
        <p:txBody>
          <a:bodyPr anchor="ctr" anchorCtr="0"/>
          <a:p>
            <a:pPr marL="0" indent="457200" algn="ctr">
              <a:buNone/>
            </a:pPr>
            <a:r>
              <a:rPr lang="zh-CN" altLang="en-US" sz="4000" b="1"/>
              <a:t>或许当理想只是理想的时候才是美的。</a:t>
            </a:r>
            <a:endParaRPr lang="zh-CN" altLang="en-US" sz="400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635"/>
            <a:ext cx="12191365" cy="6857365"/>
          </a:xfrm>
        </p:spPr>
        <p:txBody>
          <a:bodyPr anchor="ctr" anchorCtr="0"/>
          <a:p>
            <a:pPr marL="0" indent="0" algn="ctr">
              <a:buNone/>
            </a:pPr>
            <a:r>
              <a:rPr lang="zh-CN" altLang="en-US" sz="20000"/>
              <a:t>完</a:t>
            </a:r>
            <a:endParaRPr lang="zh-CN" altLang="en-US" sz="200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zcxOThhNWNmMDE4ZDZhOWVkNTFjN2Q1M2YzYmZkNGUifQ=="/>
  <p:tag name="KSO_WPP_MARK_KEY" val="69b3d2af-fc7c-4e3c-8510-a139f6a9fb2b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3053</Words>
  <Application>WPS 演示</Application>
  <PresentationFormat>宽屏</PresentationFormat>
  <Paragraphs>120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6" baseType="lpstr">
      <vt:lpstr>Arial</vt:lpstr>
      <vt:lpstr>宋体</vt:lpstr>
      <vt:lpstr>Wingdings</vt:lpstr>
      <vt:lpstr>微软雅黑</vt:lpstr>
      <vt:lpstr>Arial Unicode MS</vt:lpstr>
      <vt:lpstr>Calibri</vt:lpstr>
      <vt:lpstr>Office 主题</vt:lpstr>
      <vt:lpstr>《荀卿》</vt:lpstr>
      <vt:lpstr>目录</vt:lpstr>
      <vt:lpstr>PowerPoint 演示文稿</vt:lpstr>
      <vt:lpstr>缘起</vt:lpstr>
      <vt:lpstr>续章</vt:lpstr>
      <vt:lpstr>二、《劝学》与《修身》 				——外正内烂的洋葱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五、尾声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lxl</dc:creator>
  <cp:lastModifiedBy>随心</cp:lastModifiedBy>
  <cp:revision>6</cp:revision>
  <dcterms:created xsi:type="dcterms:W3CDTF">2023-10-21T06:13:00Z</dcterms:created>
  <dcterms:modified xsi:type="dcterms:W3CDTF">2023-10-22T13:12:13Z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9F1C5FCCD7714406886AE76F1DEAE1FE_12</vt:lpwstr>
  </property>
  <property fmtid="{D5CDD505-2E9C-101B-9397-08002B2CF9AE}" pid="3" name="KSOProductBuildVer">
    <vt:lpwstr>2052-11.1.0.14309</vt:lpwstr>
  </property>
</Properties>
</file>