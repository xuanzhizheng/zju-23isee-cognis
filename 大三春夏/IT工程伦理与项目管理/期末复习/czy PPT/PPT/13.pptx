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410.xml" ContentType="application/vnd.openxmlformats-officedocument.presentationml.slide+xml"/>
  <Override PartName="/ppt/notesSlides/notesSlide410.xml" ContentType="application/vnd.openxmlformats-officedocument.presentationml.notesSlide+xml"/>
  <Override PartName="/ppt/slideLayouts/slideLayout30.xml" ContentType="application/vnd.openxmlformats-officedocument.presentationml.slideLayout+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theme/theme20.xml" ContentType="application/vnd.openxmlformats-officedocument.theme+xml"/>
  <Override PartName="/ppt/slideLayouts/slideLayout20.xml" ContentType="application/vnd.openxmlformats-officedocument.presentationml.slideLayout+xml"/>
  <Override PartName="/ppt/slideLayouts/slideLayout10.xml" ContentType="application/vnd.openxmlformats-officedocument.presentationml.slideLayout+xml"/>
  <Override PartName="/ppt/theme/theme10.xml" ContentType="application/vnd.openxmlformats-officedocument.theme+xml"/>
  <Override PartName="/ppt/slideLayouts/slideLayout50.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05"/>
  </p:notesMasterIdLst>
  <p:handoutMasterIdLst>
    <p:handoutMasterId r:id="rId106"/>
  </p:handoutMasterIdLst>
  <p:sldIdLst>
    <p:sldId id="256" r:id="rId2"/>
    <p:sldId id="767" r:id="rId3"/>
    <p:sldId id="635" r:id="rId4"/>
    <p:sldId id="863" r:id="rId5"/>
    <p:sldId id="769" r:id="rId6"/>
    <p:sldId id="802" r:id="rId7"/>
    <p:sldId id="359" r:id="rId8"/>
    <p:sldId id="655" r:id="rId9"/>
    <p:sldId id="740" r:id="rId10"/>
    <p:sldId id="772" r:id="rId11"/>
    <p:sldId id="780" r:id="rId12"/>
    <p:sldId id="781" r:id="rId13"/>
    <p:sldId id="782" r:id="rId14"/>
    <p:sldId id="771" r:id="rId15"/>
    <p:sldId id="783" r:id="rId16"/>
    <p:sldId id="794" r:id="rId17"/>
    <p:sldId id="775" r:id="rId18"/>
    <p:sldId id="774" r:id="rId19"/>
    <p:sldId id="776" r:id="rId20"/>
    <p:sldId id="494" r:id="rId21"/>
    <p:sldId id="770" r:id="rId22"/>
    <p:sldId id="793" r:id="rId23"/>
    <p:sldId id="358" r:id="rId24"/>
    <p:sldId id="777" r:id="rId25"/>
    <p:sldId id="639" r:id="rId26"/>
    <p:sldId id="784" r:id="rId27"/>
    <p:sldId id="785" r:id="rId28"/>
    <p:sldId id="786" r:id="rId29"/>
    <p:sldId id="787" r:id="rId30"/>
    <p:sldId id="788" r:id="rId31"/>
    <p:sldId id="554" r:id="rId32"/>
    <p:sldId id="789" r:id="rId33"/>
    <p:sldId id="790" r:id="rId34"/>
    <p:sldId id="791" r:id="rId35"/>
    <p:sldId id="792" r:id="rId36"/>
    <p:sldId id="795" r:id="rId37"/>
    <p:sldId id="796" r:id="rId38"/>
    <p:sldId id="797" r:id="rId39"/>
    <p:sldId id="798" r:id="rId40"/>
    <p:sldId id="799" r:id="rId41"/>
    <p:sldId id="803" r:id="rId42"/>
    <p:sldId id="364" r:id="rId43"/>
    <p:sldId id="570" r:id="rId44"/>
    <p:sldId id="806" r:id="rId45"/>
    <p:sldId id="412" r:id="rId46"/>
    <p:sldId id="804" r:id="rId47"/>
    <p:sldId id="709" r:id="rId48"/>
    <p:sldId id="807" r:id="rId49"/>
    <p:sldId id="808" r:id="rId50"/>
    <p:sldId id="710" r:id="rId51"/>
    <p:sldId id="809" r:id="rId52"/>
    <p:sldId id="711" r:id="rId53"/>
    <p:sldId id="365" r:id="rId54"/>
    <p:sldId id="810" r:id="rId55"/>
    <p:sldId id="712" r:id="rId56"/>
    <p:sldId id="482" r:id="rId57"/>
    <p:sldId id="811" r:id="rId58"/>
    <p:sldId id="713" r:id="rId59"/>
    <p:sldId id="714" r:id="rId60"/>
    <p:sldId id="715" r:id="rId61"/>
    <p:sldId id="506" r:id="rId62"/>
    <p:sldId id="812" r:id="rId63"/>
    <p:sldId id="716" r:id="rId64"/>
    <p:sldId id="717" r:id="rId65"/>
    <p:sldId id="813" r:id="rId66"/>
    <p:sldId id="718" r:id="rId67"/>
    <p:sldId id="814" r:id="rId68"/>
    <p:sldId id="719" r:id="rId69"/>
    <p:sldId id="720" r:id="rId70"/>
    <p:sldId id="815" r:id="rId71"/>
    <p:sldId id="721" r:id="rId72"/>
    <p:sldId id="722" r:id="rId73"/>
    <p:sldId id="816" r:id="rId74"/>
    <p:sldId id="817" r:id="rId75"/>
    <p:sldId id="723" r:id="rId76"/>
    <p:sldId id="818" r:id="rId77"/>
    <p:sldId id="724" r:id="rId78"/>
    <p:sldId id="725" r:id="rId79"/>
    <p:sldId id="726" r:id="rId80"/>
    <p:sldId id="819" r:id="rId81"/>
    <p:sldId id="728" r:id="rId82"/>
    <p:sldId id="729" r:id="rId83"/>
    <p:sldId id="730" r:id="rId84"/>
    <p:sldId id="820" r:id="rId85"/>
    <p:sldId id="731" r:id="rId86"/>
    <p:sldId id="821" r:id="rId87"/>
    <p:sldId id="732" r:id="rId88"/>
    <p:sldId id="733" r:id="rId89"/>
    <p:sldId id="890" r:id="rId90"/>
    <p:sldId id="822" r:id="rId91"/>
    <p:sldId id="736" r:id="rId92"/>
    <p:sldId id="823" r:id="rId93"/>
    <p:sldId id="824" r:id="rId94"/>
    <p:sldId id="825" r:id="rId95"/>
    <p:sldId id="734" r:id="rId96"/>
    <p:sldId id="735" r:id="rId97"/>
    <p:sldId id="367" r:id="rId98"/>
    <p:sldId id="737" r:id="rId99"/>
    <p:sldId id="738" r:id="rId100"/>
    <p:sldId id="826" r:id="rId101"/>
    <p:sldId id="827" r:id="rId102"/>
    <p:sldId id="739" r:id="rId103"/>
    <p:sldId id="828" r:id="rId104"/>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660033"/>
    <a:srgbClr val="3333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46592-6670-4BB6-921D-8C140B0011C2}" v="1" dt="2026-04-24T02:59:55.25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76319" autoAdjust="0"/>
  </p:normalViewPr>
  <p:slideViewPr>
    <p:cSldViewPr snapToGrid="0">
      <p:cViewPr varScale="1">
        <p:scale>
          <a:sx n="118" d="100"/>
          <a:sy n="118" d="100"/>
        </p:scale>
        <p:origin x="1320" y="108"/>
      </p:cViewPr>
      <p:guideLst>
        <p:guide orient="horz" pos="2160"/>
        <p:guide pos="3840"/>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microsoft.com/office/2016/11/relationships/changesInfo" Target="changesInfos/changesInfo1.xml"/><Relationship Id="rId16" Type="http://schemas.openxmlformats.org/officeDocument/2006/relationships/slide" Target="slides/slide15.xml"/><Relationship Id="rId107" Type="http://schemas.openxmlformats.org/officeDocument/2006/relationships/commentAuthors" Target="commen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microsoft.com/office/2015/10/relationships/revisionInfo" Target="revisionInfo.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custSel modSld">
      <pc:chgData name="will Q" userId="5b7591cf8ac525b6" providerId="LiveId" clId="{668D29E2-EA7E-4CCE-AF85-F51FFD283455}" dt="2026-04-24T02:59:55.256" v="1"/>
      <pc:docMkLst>
        <pc:docMk/>
      </pc:docMkLst>
      <pc:sldChg chg="addSp delSp modSp mod">
        <pc:chgData name="will Q" userId="5b7591cf8ac525b6" providerId="LiveId" clId="{668D29E2-EA7E-4CCE-AF85-F51FFD283455}" dt="2026-04-24T02:59:55.256" v="1"/>
        <pc:sldMkLst>
          <pc:docMk/>
          <pc:sldMk cId="2665483353" sldId="256"/>
        </pc:sldMkLst>
        <pc:spChg chg="del">
          <ac:chgData name="will Q" userId="5b7591cf8ac525b6" providerId="LiveId" clId="{668D29E2-EA7E-4CCE-AF85-F51FFD283455}" dt="2026-04-24T02:59:54.751" v="0" actId="478"/>
          <ac:spMkLst>
            <pc:docMk/>
            <pc:sldMk cId="2665483353" sldId="256"/>
            <ac:spMk id="3" creationId="{432C887C-E5C0-BF95-40D4-6BD7B07DBC24}"/>
          </ac:spMkLst>
        </pc:spChg>
        <pc:spChg chg="add mod">
          <ac:chgData name="will Q" userId="5b7591cf8ac525b6" providerId="LiveId" clId="{668D29E2-EA7E-4CCE-AF85-F51FFD283455}" dt="2026-04-24T02:59:55.256" v="1"/>
          <ac:spMkLst>
            <pc:docMk/>
            <pc:sldMk cId="2665483353" sldId="256"/>
            <ac:spMk id="8" creationId="{72A50EAD-C602-8BB8-8FEE-76877F3FEF03}"/>
          </ac:spMkLst>
        </pc:spChg>
      </pc:sldChg>
    </pc:docChg>
  </pc:docChgLst>
  <pc:docChgLst>
    <pc:chgData name="will Q" userId="5b7591cf8ac525b6" providerId="LiveId" clId="{38B7E7DC-AEF5-4C96-AF5A-25D829464F58}"/>
    <pc:docChg chg="undo custSel modSld">
      <pc:chgData name="will Q" userId="5b7591cf8ac525b6" providerId="LiveId" clId="{38B7E7DC-AEF5-4C96-AF5A-25D829464F58}" dt="2026-04-20T06:45:37.888" v="20" actId="20577"/>
      <pc:docMkLst>
        <pc:docMk/>
      </pc:docMkLst>
      <pc:sldChg chg="modSp mod">
        <pc:chgData name="will Q" userId="5b7591cf8ac525b6" providerId="LiveId" clId="{38B7E7DC-AEF5-4C96-AF5A-25D829464F58}" dt="2026-04-20T06:45:37.888" v="20" actId="20577"/>
        <pc:sldMkLst>
          <pc:docMk/>
          <pc:sldMk cId="2665483353" sldId="256"/>
        </pc:sldMkLst>
        <pc:spChg chg="mod">
          <ac:chgData name="will Q" userId="5b7591cf8ac525b6" providerId="LiveId" clId="{38B7E7DC-AEF5-4C96-AF5A-25D829464F58}" dt="2026-04-20T06:45:37.888" v="20" actId="20577"/>
          <ac:spMkLst>
            <pc:docMk/>
            <pc:sldMk cId="2665483353" sldId="256"/>
            <ac:spMk id="5" creationId="{BE64ED94-F401-ED3E-62FE-EB01D5E2B9D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6D9332-0342-4CE6-B0ED-C5E2E4F16A70}" type="doc">
      <dgm:prSet loTypeId="urn:microsoft.com/office/officeart/2005/8/layout/process1" loCatId="process" qsTypeId="urn:microsoft.com/office/officeart/2005/8/quickstyle/3d3" qsCatId="3D" csTypeId="urn:microsoft.com/office/officeart/2005/8/colors/accent1_2" csCatId="accent1" phldr="1"/>
      <dgm:spPr/>
      <dgm:t>
        <a:bodyPr/>
        <a:lstStyle/>
        <a:p>
          <a:endParaRPr lang="zh-CN" altLang="en-US"/>
        </a:p>
      </dgm:t>
    </dgm:pt>
    <dgm:pt modelId="{C2EEE80E-003A-4B0B-BAE8-46B9ABF8C280}">
      <dgm:prSet phldrT="[文本]"/>
      <dgm:spPr/>
      <dgm:t>
        <a:bodyPr/>
        <a:lstStyle/>
        <a:p>
          <a:r>
            <a:rPr lang="zh-CN" altLang="en-US" b="1" dirty="0"/>
            <a:t>事前准备</a:t>
          </a:r>
          <a:endParaRPr lang="zh-CN" altLang="en-US" dirty="0"/>
        </a:p>
      </dgm:t>
    </dgm:pt>
    <dgm:pt modelId="{8DF009F3-0053-44DA-A638-A2EF15EC718F}" type="parTrans" cxnId="{3E2F4737-6D71-429B-81E4-40E305A5F912}">
      <dgm:prSet/>
      <dgm:spPr/>
      <dgm:t>
        <a:bodyPr/>
        <a:lstStyle/>
        <a:p>
          <a:endParaRPr lang="zh-CN" altLang="en-US"/>
        </a:p>
      </dgm:t>
    </dgm:pt>
    <dgm:pt modelId="{BE44CB29-846B-4EEC-A1D3-459076905BBE}" type="sibTrans" cxnId="{3E2F4737-6D71-429B-81E4-40E305A5F912}">
      <dgm:prSet/>
      <dgm:spPr/>
      <dgm:t>
        <a:bodyPr/>
        <a:lstStyle/>
        <a:p>
          <a:endParaRPr lang="zh-CN" altLang="en-US"/>
        </a:p>
      </dgm:t>
    </dgm:pt>
    <dgm:pt modelId="{738B7C6B-5E12-4AA1-B567-DB46810BB3AB}">
      <dgm:prSet phldrT="[文本]"/>
      <dgm:spPr/>
      <dgm:t>
        <a:bodyPr/>
        <a:lstStyle/>
        <a:p>
          <a:r>
            <a:rPr lang="zh-CN" altLang="en-US" b="1" dirty="0"/>
            <a:t>确认需求</a:t>
          </a:r>
          <a:endParaRPr lang="zh-CN" altLang="en-US" dirty="0"/>
        </a:p>
      </dgm:t>
    </dgm:pt>
    <dgm:pt modelId="{366D3E7C-4DE1-4713-8CE7-EB7847717A8B}" type="parTrans" cxnId="{405C21A0-87F7-498E-8C9C-DDA7664F93EC}">
      <dgm:prSet/>
      <dgm:spPr/>
      <dgm:t>
        <a:bodyPr/>
        <a:lstStyle/>
        <a:p>
          <a:endParaRPr lang="zh-CN" altLang="en-US"/>
        </a:p>
      </dgm:t>
    </dgm:pt>
    <dgm:pt modelId="{E1F99320-CDCF-4FA3-A11D-5A21437EC546}" type="sibTrans" cxnId="{405C21A0-87F7-498E-8C9C-DDA7664F93EC}">
      <dgm:prSet/>
      <dgm:spPr/>
      <dgm:t>
        <a:bodyPr/>
        <a:lstStyle/>
        <a:p>
          <a:endParaRPr lang="zh-CN" altLang="en-US"/>
        </a:p>
      </dgm:t>
    </dgm:pt>
    <dgm:pt modelId="{09100BBC-A37E-482B-B215-BD794C978F6B}">
      <dgm:prSet phldrT="[文本]"/>
      <dgm:spPr/>
      <dgm:t>
        <a:bodyPr/>
        <a:lstStyle/>
        <a:p>
          <a:r>
            <a:rPr lang="zh-CN" altLang="en-US" b="1" dirty="0"/>
            <a:t>阐述观点</a:t>
          </a:r>
          <a:endParaRPr lang="zh-CN" altLang="en-US" dirty="0"/>
        </a:p>
      </dgm:t>
    </dgm:pt>
    <dgm:pt modelId="{D0E98E6E-22C1-49D4-9355-3C83914B1FF1}" type="parTrans" cxnId="{F7B8FEE2-4458-48BD-82B5-74481E4AEBFD}">
      <dgm:prSet/>
      <dgm:spPr/>
      <dgm:t>
        <a:bodyPr/>
        <a:lstStyle/>
        <a:p>
          <a:endParaRPr lang="zh-CN" altLang="en-US"/>
        </a:p>
      </dgm:t>
    </dgm:pt>
    <dgm:pt modelId="{C9856C66-2A6E-40D0-A8D3-890364B1899A}" type="sibTrans" cxnId="{F7B8FEE2-4458-48BD-82B5-74481E4AEBFD}">
      <dgm:prSet/>
      <dgm:spPr/>
      <dgm:t>
        <a:bodyPr/>
        <a:lstStyle/>
        <a:p>
          <a:endParaRPr lang="zh-CN" altLang="en-US"/>
        </a:p>
      </dgm:t>
    </dgm:pt>
    <dgm:pt modelId="{79828CC8-570B-4EBF-8DCB-905B6C601A33}">
      <dgm:prSet/>
      <dgm:spPr/>
      <dgm:t>
        <a:bodyPr/>
        <a:lstStyle/>
        <a:p>
          <a:r>
            <a:rPr lang="zh-CN" altLang="en-US" b="1" dirty="0"/>
            <a:t>处理异议</a:t>
          </a:r>
          <a:endParaRPr lang="zh-CN" altLang="en-US" dirty="0"/>
        </a:p>
      </dgm:t>
    </dgm:pt>
    <dgm:pt modelId="{CDD34E3D-7BA6-4E83-A238-936E6C7E45AE}" type="parTrans" cxnId="{6BCC92AB-1210-40EA-9597-FA58B232A1A7}">
      <dgm:prSet/>
      <dgm:spPr/>
      <dgm:t>
        <a:bodyPr/>
        <a:lstStyle/>
        <a:p>
          <a:endParaRPr lang="zh-CN" altLang="en-US"/>
        </a:p>
      </dgm:t>
    </dgm:pt>
    <dgm:pt modelId="{D82A80CE-EB10-41D7-B586-DD2970A8AA9D}" type="sibTrans" cxnId="{6BCC92AB-1210-40EA-9597-FA58B232A1A7}">
      <dgm:prSet/>
      <dgm:spPr/>
      <dgm:t>
        <a:bodyPr/>
        <a:lstStyle/>
        <a:p>
          <a:endParaRPr lang="zh-CN" altLang="en-US"/>
        </a:p>
      </dgm:t>
    </dgm:pt>
    <dgm:pt modelId="{8F6CC9C1-11F9-473A-9EB1-B17E12C218CD}">
      <dgm:prSet/>
      <dgm:spPr/>
      <dgm:t>
        <a:bodyPr/>
        <a:lstStyle/>
        <a:p>
          <a:r>
            <a:rPr lang="zh-CN" altLang="en-US" b="1" dirty="0"/>
            <a:t>达成协议</a:t>
          </a:r>
          <a:endParaRPr lang="zh-CN" altLang="en-US" dirty="0"/>
        </a:p>
      </dgm:t>
    </dgm:pt>
    <dgm:pt modelId="{EEB0E896-3919-4D79-9133-78176AC35520}" type="parTrans" cxnId="{17CAFA8D-6342-4D83-98F5-B4A3E8FA5E5B}">
      <dgm:prSet/>
      <dgm:spPr/>
      <dgm:t>
        <a:bodyPr/>
        <a:lstStyle/>
        <a:p>
          <a:endParaRPr lang="zh-CN" altLang="en-US"/>
        </a:p>
      </dgm:t>
    </dgm:pt>
    <dgm:pt modelId="{C3724D0F-64FC-4D7D-ABC9-9061DC9ACE68}" type="sibTrans" cxnId="{17CAFA8D-6342-4D83-98F5-B4A3E8FA5E5B}">
      <dgm:prSet/>
      <dgm:spPr/>
      <dgm:t>
        <a:bodyPr/>
        <a:lstStyle/>
        <a:p>
          <a:endParaRPr lang="zh-CN" altLang="en-US"/>
        </a:p>
      </dgm:t>
    </dgm:pt>
    <dgm:pt modelId="{B0670337-1235-4127-B053-528856771295}">
      <dgm:prSet/>
      <dgm:spPr/>
      <dgm:t>
        <a:bodyPr/>
        <a:lstStyle/>
        <a:p>
          <a:r>
            <a:rPr lang="zh-CN" altLang="en-US" b="1" dirty="0"/>
            <a:t>共同实施</a:t>
          </a:r>
          <a:endParaRPr lang="zh-CN" altLang="en-US" dirty="0"/>
        </a:p>
      </dgm:t>
    </dgm:pt>
    <dgm:pt modelId="{2E6FAA70-89E4-4835-B461-5AE6CDA39F03}" type="parTrans" cxnId="{47E45A89-2718-4E23-A059-4C17D9667AA9}">
      <dgm:prSet/>
      <dgm:spPr/>
      <dgm:t>
        <a:bodyPr/>
        <a:lstStyle/>
        <a:p>
          <a:endParaRPr lang="zh-CN" altLang="en-US"/>
        </a:p>
      </dgm:t>
    </dgm:pt>
    <dgm:pt modelId="{1D7D215F-4436-42F1-B896-11204756AC54}" type="sibTrans" cxnId="{47E45A89-2718-4E23-A059-4C17D9667AA9}">
      <dgm:prSet/>
      <dgm:spPr/>
      <dgm:t>
        <a:bodyPr/>
        <a:lstStyle/>
        <a:p>
          <a:endParaRPr lang="zh-CN" altLang="en-US"/>
        </a:p>
      </dgm:t>
    </dgm:pt>
    <dgm:pt modelId="{375ABD06-F885-429F-B02E-7C80A2721159}" type="pres">
      <dgm:prSet presAssocID="{B26D9332-0342-4CE6-B0ED-C5E2E4F16A70}" presName="Name0" presStyleCnt="0">
        <dgm:presLayoutVars>
          <dgm:dir/>
          <dgm:resizeHandles val="exact"/>
        </dgm:presLayoutVars>
      </dgm:prSet>
      <dgm:spPr/>
    </dgm:pt>
    <dgm:pt modelId="{747308D8-49D5-4311-82FD-547132A2710B}" type="pres">
      <dgm:prSet presAssocID="{C2EEE80E-003A-4B0B-BAE8-46B9ABF8C280}" presName="node" presStyleLbl="node1" presStyleIdx="0" presStyleCnt="6">
        <dgm:presLayoutVars>
          <dgm:bulletEnabled val="1"/>
        </dgm:presLayoutVars>
      </dgm:prSet>
      <dgm:spPr/>
    </dgm:pt>
    <dgm:pt modelId="{F6F9CDFF-E2F3-49C8-B237-1E0FA11BB6AB}" type="pres">
      <dgm:prSet presAssocID="{BE44CB29-846B-4EEC-A1D3-459076905BBE}" presName="sibTrans" presStyleLbl="sibTrans2D1" presStyleIdx="0" presStyleCnt="5"/>
      <dgm:spPr/>
    </dgm:pt>
    <dgm:pt modelId="{C43D12C0-CE4B-4074-9A8C-07E48C3D8796}" type="pres">
      <dgm:prSet presAssocID="{BE44CB29-846B-4EEC-A1D3-459076905BBE}" presName="connectorText" presStyleLbl="sibTrans2D1" presStyleIdx="0" presStyleCnt="5"/>
      <dgm:spPr/>
    </dgm:pt>
    <dgm:pt modelId="{E0E4B899-F95A-4D6B-99A4-921B68E6B9B4}" type="pres">
      <dgm:prSet presAssocID="{738B7C6B-5E12-4AA1-B567-DB46810BB3AB}" presName="node" presStyleLbl="node1" presStyleIdx="1" presStyleCnt="6">
        <dgm:presLayoutVars>
          <dgm:bulletEnabled val="1"/>
        </dgm:presLayoutVars>
      </dgm:prSet>
      <dgm:spPr/>
    </dgm:pt>
    <dgm:pt modelId="{C32779F3-B637-4E4A-860C-41480E7FEB39}" type="pres">
      <dgm:prSet presAssocID="{E1F99320-CDCF-4FA3-A11D-5A21437EC546}" presName="sibTrans" presStyleLbl="sibTrans2D1" presStyleIdx="1" presStyleCnt="5"/>
      <dgm:spPr/>
    </dgm:pt>
    <dgm:pt modelId="{AF8D596E-2855-4BEE-A3F5-EC62821AE82E}" type="pres">
      <dgm:prSet presAssocID="{E1F99320-CDCF-4FA3-A11D-5A21437EC546}" presName="connectorText" presStyleLbl="sibTrans2D1" presStyleIdx="1" presStyleCnt="5"/>
      <dgm:spPr/>
    </dgm:pt>
    <dgm:pt modelId="{7DEE1F8D-5458-4FEE-8AF0-BB698FC1615E}" type="pres">
      <dgm:prSet presAssocID="{09100BBC-A37E-482B-B215-BD794C978F6B}" presName="node" presStyleLbl="node1" presStyleIdx="2" presStyleCnt="6">
        <dgm:presLayoutVars>
          <dgm:bulletEnabled val="1"/>
        </dgm:presLayoutVars>
      </dgm:prSet>
      <dgm:spPr/>
    </dgm:pt>
    <dgm:pt modelId="{7A2D4F7D-D8E2-4765-B25A-1FAFA5BB16A5}" type="pres">
      <dgm:prSet presAssocID="{C9856C66-2A6E-40D0-A8D3-890364B1899A}" presName="sibTrans" presStyleLbl="sibTrans2D1" presStyleIdx="2" presStyleCnt="5"/>
      <dgm:spPr/>
    </dgm:pt>
    <dgm:pt modelId="{A6E70E4E-DA01-409D-9293-07FA0FD25998}" type="pres">
      <dgm:prSet presAssocID="{C9856C66-2A6E-40D0-A8D3-890364B1899A}" presName="connectorText" presStyleLbl="sibTrans2D1" presStyleIdx="2" presStyleCnt="5"/>
      <dgm:spPr/>
    </dgm:pt>
    <dgm:pt modelId="{528E5458-7284-4DE2-8B0D-E269533730D4}" type="pres">
      <dgm:prSet presAssocID="{79828CC8-570B-4EBF-8DCB-905B6C601A33}" presName="node" presStyleLbl="node1" presStyleIdx="3" presStyleCnt="6">
        <dgm:presLayoutVars>
          <dgm:bulletEnabled val="1"/>
        </dgm:presLayoutVars>
      </dgm:prSet>
      <dgm:spPr/>
    </dgm:pt>
    <dgm:pt modelId="{BFB5A75D-E6D3-4607-B661-F92162E7CBAE}" type="pres">
      <dgm:prSet presAssocID="{D82A80CE-EB10-41D7-B586-DD2970A8AA9D}" presName="sibTrans" presStyleLbl="sibTrans2D1" presStyleIdx="3" presStyleCnt="5"/>
      <dgm:spPr/>
    </dgm:pt>
    <dgm:pt modelId="{8D346D84-1912-48DA-8F77-6CE9501EF2DA}" type="pres">
      <dgm:prSet presAssocID="{D82A80CE-EB10-41D7-B586-DD2970A8AA9D}" presName="connectorText" presStyleLbl="sibTrans2D1" presStyleIdx="3" presStyleCnt="5"/>
      <dgm:spPr/>
    </dgm:pt>
    <dgm:pt modelId="{CB42362C-856D-466D-B4DB-12B379A3951C}" type="pres">
      <dgm:prSet presAssocID="{8F6CC9C1-11F9-473A-9EB1-B17E12C218CD}" presName="node" presStyleLbl="node1" presStyleIdx="4" presStyleCnt="6">
        <dgm:presLayoutVars>
          <dgm:bulletEnabled val="1"/>
        </dgm:presLayoutVars>
      </dgm:prSet>
      <dgm:spPr/>
    </dgm:pt>
    <dgm:pt modelId="{038712F8-353A-4DB2-882B-B762D828BFC4}" type="pres">
      <dgm:prSet presAssocID="{C3724D0F-64FC-4D7D-ABC9-9061DC9ACE68}" presName="sibTrans" presStyleLbl="sibTrans2D1" presStyleIdx="4" presStyleCnt="5"/>
      <dgm:spPr/>
    </dgm:pt>
    <dgm:pt modelId="{8A1F3F5E-B835-47A4-9AF4-C75BC9DDE192}" type="pres">
      <dgm:prSet presAssocID="{C3724D0F-64FC-4D7D-ABC9-9061DC9ACE68}" presName="connectorText" presStyleLbl="sibTrans2D1" presStyleIdx="4" presStyleCnt="5"/>
      <dgm:spPr/>
    </dgm:pt>
    <dgm:pt modelId="{768D0A6B-C47E-4905-BB4A-FC9FDBC8B224}" type="pres">
      <dgm:prSet presAssocID="{B0670337-1235-4127-B053-528856771295}" presName="node" presStyleLbl="node1" presStyleIdx="5" presStyleCnt="6">
        <dgm:presLayoutVars>
          <dgm:bulletEnabled val="1"/>
        </dgm:presLayoutVars>
      </dgm:prSet>
      <dgm:spPr/>
    </dgm:pt>
  </dgm:ptLst>
  <dgm:cxnLst>
    <dgm:cxn modelId="{11415019-B6DF-44AC-AA76-CAC7E2BD5F3C}" type="presOf" srcId="{C3724D0F-64FC-4D7D-ABC9-9061DC9ACE68}" destId="{038712F8-353A-4DB2-882B-B762D828BFC4}" srcOrd="0" destOrd="0" presId="urn:microsoft.com/office/officeart/2005/8/layout/process1"/>
    <dgm:cxn modelId="{87CC5828-6883-4F61-98BB-DD0B3AAFA36D}" type="presOf" srcId="{C9856C66-2A6E-40D0-A8D3-890364B1899A}" destId="{7A2D4F7D-D8E2-4765-B25A-1FAFA5BB16A5}" srcOrd="0" destOrd="0" presId="urn:microsoft.com/office/officeart/2005/8/layout/process1"/>
    <dgm:cxn modelId="{67324633-421A-48DF-B232-830F9BC114D8}" type="presOf" srcId="{D82A80CE-EB10-41D7-B586-DD2970A8AA9D}" destId="{8D346D84-1912-48DA-8F77-6CE9501EF2DA}" srcOrd="1" destOrd="0" presId="urn:microsoft.com/office/officeart/2005/8/layout/process1"/>
    <dgm:cxn modelId="{78BA0037-B10C-4CA8-B29D-45043FF9398E}" type="presOf" srcId="{09100BBC-A37E-482B-B215-BD794C978F6B}" destId="{7DEE1F8D-5458-4FEE-8AF0-BB698FC1615E}" srcOrd="0" destOrd="0" presId="urn:microsoft.com/office/officeart/2005/8/layout/process1"/>
    <dgm:cxn modelId="{3E2F4737-6D71-429B-81E4-40E305A5F912}" srcId="{B26D9332-0342-4CE6-B0ED-C5E2E4F16A70}" destId="{C2EEE80E-003A-4B0B-BAE8-46B9ABF8C280}" srcOrd="0" destOrd="0" parTransId="{8DF009F3-0053-44DA-A638-A2EF15EC718F}" sibTransId="{BE44CB29-846B-4EEC-A1D3-459076905BBE}"/>
    <dgm:cxn modelId="{26D6D437-0DD0-4D4F-BA6D-78786CD59A9D}" type="presOf" srcId="{D82A80CE-EB10-41D7-B586-DD2970A8AA9D}" destId="{BFB5A75D-E6D3-4607-B661-F92162E7CBAE}" srcOrd="0" destOrd="0" presId="urn:microsoft.com/office/officeart/2005/8/layout/process1"/>
    <dgm:cxn modelId="{E6F6133B-F5EF-4143-B748-2C882B612CC6}" type="presOf" srcId="{BE44CB29-846B-4EEC-A1D3-459076905BBE}" destId="{F6F9CDFF-E2F3-49C8-B237-1E0FA11BB6AB}" srcOrd="0" destOrd="0" presId="urn:microsoft.com/office/officeart/2005/8/layout/process1"/>
    <dgm:cxn modelId="{6DA5853C-7D1F-4E73-8C21-54CC4F308161}" type="presOf" srcId="{E1F99320-CDCF-4FA3-A11D-5A21437EC546}" destId="{C32779F3-B637-4E4A-860C-41480E7FEB39}" srcOrd="0" destOrd="0" presId="urn:microsoft.com/office/officeart/2005/8/layout/process1"/>
    <dgm:cxn modelId="{4E5DAA47-BFE4-41A0-87F5-10C623EB3270}" type="presOf" srcId="{B0670337-1235-4127-B053-528856771295}" destId="{768D0A6B-C47E-4905-BB4A-FC9FDBC8B224}" srcOrd="0" destOrd="0" presId="urn:microsoft.com/office/officeart/2005/8/layout/process1"/>
    <dgm:cxn modelId="{6456CA76-6C8F-48DB-A21F-21FE3F8E7EC6}" type="presOf" srcId="{8F6CC9C1-11F9-473A-9EB1-B17E12C218CD}" destId="{CB42362C-856D-466D-B4DB-12B379A3951C}" srcOrd="0" destOrd="0" presId="urn:microsoft.com/office/officeart/2005/8/layout/process1"/>
    <dgm:cxn modelId="{47E45A89-2718-4E23-A059-4C17D9667AA9}" srcId="{B26D9332-0342-4CE6-B0ED-C5E2E4F16A70}" destId="{B0670337-1235-4127-B053-528856771295}" srcOrd="5" destOrd="0" parTransId="{2E6FAA70-89E4-4835-B461-5AE6CDA39F03}" sibTransId="{1D7D215F-4436-42F1-B896-11204756AC54}"/>
    <dgm:cxn modelId="{C3C8A08A-6F54-49EE-BF36-DC74B3CFC10B}" type="presOf" srcId="{E1F99320-CDCF-4FA3-A11D-5A21437EC546}" destId="{AF8D596E-2855-4BEE-A3F5-EC62821AE82E}" srcOrd="1" destOrd="0" presId="urn:microsoft.com/office/officeart/2005/8/layout/process1"/>
    <dgm:cxn modelId="{17CAFA8D-6342-4D83-98F5-B4A3E8FA5E5B}" srcId="{B26D9332-0342-4CE6-B0ED-C5E2E4F16A70}" destId="{8F6CC9C1-11F9-473A-9EB1-B17E12C218CD}" srcOrd="4" destOrd="0" parTransId="{EEB0E896-3919-4D79-9133-78176AC35520}" sibTransId="{C3724D0F-64FC-4D7D-ABC9-9061DC9ACE68}"/>
    <dgm:cxn modelId="{3558C48F-2FFF-4AED-B223-E0A9C6154F57}" type="presOf" srcId="{738B7C6B-5E12-4AA1-B567-DB46810BB3AB}" destId="{E0E4B899-F95A-4D6B-99A4-921B68E6B9B4}" srcOrd="0" destOrd="0" presId="urn:microsoft.com/office/officeart/2005/8/layout/process1"/>
    <dgm:cxn modelId="{405C21A0-87F7-498E-8C9C-DDA7664F93EC}" srcId="{B26D9332-0342-4CE6-B0ED-C5E2E4F16A70}" destId="{738B7C6B-5E12-4AA1-B567-DB46810BB3AB}" srcOrd="1" destOrd="0" parTransId="{366D3E7C-4DE1-4713-8CE7-EB7847717A8B}" sibTransId="{E1F99320-CDCF-4FA3-A11D-5A21437EC546}"/>
    <dgm:cxn modelId="{6BCC92AB-1210-40EA-9597-FA58B232A1A7}" srcId="{B26D9332-0342-4CE6-B0ED-C5E2E4F16A70}" destId="{79828CC8-570B-4EBF-8DCB-905B6C601A33}" srcOrd="3" destOrd="0" parTransId="{CDD34E3D-7BA6-4E83-A238-936E6C7E45AE}" sibTransId="{D82A80CE-EB10-41D7-B586-DD2970A8AA9D}"/>
    <dgm:cxn modelId="{6CF0E4B2-E801-4C11-B2A4-27ED47A8D8FD}" type="presOf" srcId="{79828CC8-570B-4EBF-8DCB-905B6C601A33}" destId="{528E5458-7284-4DE2-8B0D-E269533730D4}" srcOrd="0" destOrd="0" presId="urn:microsoft.com/office/officeart/2005/8/layout/process1"/>
    <dgm:cxn modelId="{F3AB9BB8-A97D-457A-84D0-B27544F619F2}" type="presOf" srcId="{C3724D0F-64FC-4D7D-ABC9-9061DC9ACE68}" destId="{8A1F3F5E-B835-47A4-9AF4-C75BC9DDE192}" srcOrd="1" destOrd="0" presId="urn:microsoft.com/office/officeart/2005/8/layout/process1"/>
    <dgm:cxn modelId="{93403DBD-28B3-4C12-A870-27370B25CE75}" type="presOf" srcId="{C9856C66-2A6E-40D0-A8D3-890364B1899A}" destId="{A6E70E4E-DA01-409D-9293-07FA0FD25998}" srcOrd="1" destOrd="0" presId="urn:microsoft.com/office/officeart/2005/8/layout/process1"/>
    <dgm:cxn modelId="{DB7284DD-3ED1-4D2A-A107-96D9FA757F2A}" type="presOf" srcId="{B26D9332-0342-4CE6-B0ED-C5E2E4F16A70}" destId="{375ABD06-F885-429F-B02E-7C80A2721159}" srcOrd="0" destOrd="0" presId="urn:microsoft.com/office/officeart/2005/8/layout/process1"/>
    <dgm:cxn modelId="{F7B8FEE2-4458-48BD-82B5-74481E4AEBFD}" srcId="{B26D9332-0342-4CE6-B0ED-C5E2E4F16A70}" destId="{09100BBC-A37E-482B-B215-BD794C978F6B}" srcOrd="2" destOrd="0" parTransId="{D0E98E6E-22C1-49D4-9355-3C83914B1FF1}" sibTransId="{C9856C66-2A6E-40D0-A8D3-890364B1899A}"/>
    <dgm:cxn modelId="{BAB927FC-F65B-441A-8F85-488ECDE9DFC1}" type="presOf" srcId="{C2EEE80E-003A-4B0B-BAE8-46B9ABF8C280}" destId="{747308D8-49D5-4311-82FD-547132A2710B}" srcOrd="0" destOrd="0" presId="urn:microsoft.com/office/officeart/2005/8/layout/process1"/>
    <dgm:cxn modelId="{0F2C5BFE-BAA1-4CBE-BB45-6D757ECE5EDA}" type="presOf" srcId="{BE44CB29-846B-4EEC-A1D3-459076905BBE}" destId="{C43D12C0-CE4B-4074-9A8C-07E48C3D8796}" srcOrd="1" destOrd="0" presId="urn:microsoft.com/office/officeart/2005/8/layout/process1"/>
    <dgm:cxn modelId="{BB76F3D7-1B59-4200-83C6-86ACD5019661}" type="presParOf" srcId="{375ABD06-F885-429F-B02E-7C80A2721159}" destId="{747308D8-49D5-4311-82FD-547132A2710B}" srcOrd="0" destOrd="0" presId="urn:microsoft.com/office/officeart/2005/8/layout/process1"/>
    <dgm:cxn modelId="{2F924928-9A44-4E3D-9B27-4EAC3BD775A6}" type="presParOf" srcId="{375ABD06-F885-429F-B02E-7C80A2721159}" destId="{F6F9CDFF-E2F3-49C8-B237-1E0FA11BB6AB}" srcOrd="1" destOrd="0" presId="urn:microsoft.com/office/officeart/2005/8/layout/process1"/>
    <dgm:cxn modelId="{9A41C32D-C256-4890-A026-2DAA3127487C}" type="presParOf" srcId="{F6F9CDFF-E2F3-49C8-B237-1E0FA11BB6AB}" destId="{C43D12C0-CE4B-4074-9A8C-07E48C3D8796}" srcOrd="0" destOrd="0" presId="urn:microsoft.com/office/officeart/2005/8/layout/process1"/>
    <dgm:cxn modelId="{9B632E18-26CD-4EE2-B476-E326ACCD0271}" type="presParOf" srcId="{375ABD06-F885-429F-B02E-7C80A2721159}" destId="{E0E4B899-F95A-4D6B-99A4-921B68E6B9B4}" srcOrd="2" destOrd="0" presId="urn:microsoft.com/office/officeart/2005/8/layout/process1"/>
    <dgm:cxn modelId="{74384C22-D033-48A8-A52A-BE84F605BE39}" type="presParOf" srcId="{375ABD06-F885-429F-B02E-7C80A2721159}" destId="{C32779F3-B637-4E4A-860C-41480E7FEB39}" srcOrd="3" destOrd="0" presId="urn:microsoft.com/office/officeart/2005/8/layout/process1"/>
    <dgm:cxn modelId="{418F2350-2220-4CE9-AD60-540B058934FB}" type="presParOf" srcId="{C32779F3-B637-4E4A-860C-41480E7FEB39}" destId="{AF8D596E-2855-4BEE-A3F5-EC62821AE82E}" srcOrd="0" destOrd="0" presId="urn:microsoft.com/office/officeart/2005/8/layout/process1"/>
    <dgm:cxn modelId="{C0972A80-9C5E-479A-B5FE-53E5875D149F}" type="presParOf" srcId="{375ABD06-F885-429F-B02E-7C80A2721159}" destId="{7DEE1F8D-5458-4FEE-8AF0-BB698FC1615E}" srcOrd="4" destOrd="0" presId="urn:microsoft.com/office/officeart/2005/8/layout/process1"/>
    <dgm:cxn modelId="{92F62ABA-25E3-4C09-A6D3-69C049D33C63}" type="presParOf" srcId="{375ABD06-F885-429F-B02E-7C80A2721159}" destId="{7A2D4F7D-D8E2-4765-B25A-1FAFA5BB16A5}" srcOrd="5" destOrd="0" presId="urn:microsoft.com/office/officeart/2005/8/layout/process1"/>
    <dgm:cxn modelId="{B8D58C71-145F-45B0-AD95-84DA7192404C}" type="presParOf" srcId="{7A2D4F7D-D8E2-4765-B25A-1FAFA5BB16A5}" destId="{A6E70E4E-DA01-409D-9293-07FA0FD25998}" srcOrd="0" destOrd="0" presId="urn:microsoft.com/office/officeart/2005/8/layout/process1"/>
    <dgm:cxn modelId="{51191972-DFCA-4ACD-A398-13609ABD0537}" type="presParOf" srcId="{375ABD06-F885-429F-B02E-7C80A2721159}" destId="{528E5458-7284-4DE2-8B0D-E269533730D4}" srcOrd="6" destOrd="0" presId="urn:microsoft.com/office/officeart/2005/8/layout/process1"/>
    <dgm:cxn modelId="{2A15E142-1D5F-486A-AB92-02F56F893883}" type="presParOf" srcId="{375ABD06-F885-429F-B02E-7C80A2721159}" destId="{BFB5A75D-E6D3-4607-B661-F92162E7CBAE}" srcOrd="7" destOrd="0" presId="urn:microsoft.com/office/officeart/2005/8/layout/process1"/>
    <dgm:cxn modelId="{D31076B6-9F10-4F8F-9C2F-C61CA10E1329}" type="presParOf" srcId="{BFB5A75D-E6D3-4607-B661-F92162E7CBAE}" destId="{8D346D84-1912-48DA-8F77-6CE9501EF2DA}" srcOrd="0" destOrd="0" presId="urn:microsoft.com/office/officeart/2005/8/layout/process1"/>
    <dgm:cxn modelId="{3E6792E0-C04C-4F5E-A25D-DFFFC57E3EFA}" type="presParOf" srcId="{375ABD06-F885-429F-B02E-7C80A2721159}" destId="{CB42362C-856D-466D-B4DB-12B379A3951C}" srcOrd="8" destOrd="0" presId="urn:microsoft.com/office/officeart/2005/8/layout/process1"/>
    <dgm:cxn modelId="{EFE90AE8-C75F-4F32-9D1C-B5B0054E84D8}" type="presParOf" srcId="{375ABD06-F885-429F-B02E-7C80A2721159}" destId="{038712F8-353A-4DB2-882B-B762D828BFC4}" srcOrd="9" destOrd="0" presId="urn:microsoft.com/office/officeart/2005/8/layout/process1"/>
    <dgm:cxn modelId="{33107475-FA7B-49C3-AEDA-58C0D77F7A2B}" type="presParOf" srcId="{038712F8-353A-4DB2-882B-B762D828BFC4}" destId="{8A1F3F5E-B835-47A4-9AF4-C75BC9DDE192}" srcOrd="0" destOrd="0" presId="urn:microsoft.com/office/officeart/2005/8/layout/process1"/>
    <dgm:cxn modelId="{BAACABDB-7C40-4DF4-8E12-CC57C7731D66}" type="presParOf" srcId="{375ABD06-F885-429F-B02E-7C80A2721159}" destId="{768D0A6B-C47E-4905-BB4A-FC9FDBC8B224}"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7308D8-49D5-4311-82FD-547132A2710B}">
      <dsp:nvSpPr>
        <dsp:cNvPr id="0" name=""/>
        <dsp:cNvSpPr/>
      </dsp:nvSpPr>
      <dsp:spPr>
        <a:xfrm>
          <a:off x="0"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事前准备</a:t>
          </a:r>
          <a:endParaRPr lang="zh-CN" altLang="en-US" sz="1800" kern="1200" dirty="0"/>
        </a:p>
      </dsp:txBody>
      <dsp:txXfrm>
        <a:off x="21005" y="181634"/>
        <a:ext cx="675143" cy="690830"/>
      </dsp:txXfrm>
    </dsp:sp>
    <dsp:sp modelId="{F6F9CDFF-E2F3-49C8-B237-1E0FA11BB6AB}">
      <dsp:nvSpPr>
        <dsp:cNvPr id="0" name=""/>
        <dsp:cNvSpPr/>
      </dsp:nvSpPr>
      <dsp:spPr>
        <a:xfrm>
          <a:off x="788868"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788868" y="473694"/>
        <a:ext cx="106425" cy="106711"/>
      </dsp:txXfrm>
    </dsp:sp>
    <dsp:sp modelId="{E0E4B899-F95A-4D6B-99A4-921B68E6B9B4}">
      <dsp:nvSpPr>
        <dsp:cNvPr id="0" name=""/>
        <dsp:cNvSpPr/>
      </dsp:nvSpPr>
      <dsp:spPr>
        <a:xfrm>
          <a:off x="1004014"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确认需求</a:t>
          </a:r>
          <a:endParaRPr lang="zh-CN" altLang="en-US" sz="1800" kern="1200" dirty="0"/>
        </a:p>
      </dsp:txBody>
      <dsp:txXfrm>
        <a:off x="1025019" y="181634"/>
        <a:ext cx="675143" cy="690830"/>
      </dsp:txXfrm>
    </dsp:sp>
    <dsp:sp modelId="{C32779F3-B637-4E4A-860C-41480E7FEB39}">
      <dsp:nvSpPr>
        <dsp:cNvPr id="0" name=""/>
        <dsp:cNvSpPr/>
      </dsp:nvSpPr>
      <dsp:spPr>
        <a:xfrm>
          <a:off x="1792882"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1792882" y="473694"/>
        <a:ext cx="106425" cy="106711"/>
      </dsp:txXfrm>
    </dsp:sp>
    <dsp:sp modelId="{7DEE1F8D-5458-4FEE-8AF0-BB698FC1615E}">
      <dsp:nvSpPr>
        <dsp:cNvPr id="0" name=""/>
        <dsp:cNvSpPr/>
      </dsp:nvSpPr>
      <dsp:spPr>
        <a:xfrm>
          <a:off x="2008028"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阐述观点</a:t>
          </a:r>
          <a:endParaRPr lang="zh-CN" altLang="en-US" sz="1800" kern="1200" dirty="0"/>
        </a:p>
      </dsp:txBody>
      <dsp:txXfrm>
        <a:off x="2029033" y="181634"/>
        <a:ext cx="675143" cy="690830"/>
      </dsp:txXfrm>
    </dsp:sp>
    <dsp:sp modelId="{7A2D4F7D-D8E2-4765-B25A-1FAFA5BB16A5}">
      <dsp:nvSpPr>
        <dsp:cNvPr id="0" name=""/>
        <dsp:cNvSpPr/>
      </dsp:nvSpPr>
      <dsp:spPr>
        <a:xfrm>
          <a:off x="2796897"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2796897" y="473694"/>
        <a:ext cx="106425" cy="106711"/>
      </dsp:txXfrm>
    </dsp:sp>
    <dsp:sp modelId="{528E5458-7284-4DE2-8B0D-E269533730D4}">
      <dsp:nvSpPr>
        <dsp:cNvPr id="0" name=""/>
        <dsp:cNvSpPr/>
      </dsp:nvSpPr>
      <dsp:spPr>
        <a:xfrm>
          <a:off x="3012043"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处理异议</a:t>
          </a:r>
          <a:endParaRPr lang="zh-CN" altLang="en-US" sz="1800" kern="1200" dirty="0"/>
        </a:p>
      </dsp:txBody>
      <dsp:txXfrm>
        <a:off x="3033048" y="181634"/>
        <a:ext cx="675143" cy="690830"/>
      </dsp:txXfrm>
    </dsp:sp>
    <dsp:sp modelId="{BFB5A75D-E6D3-4607-B661-F92162E7CBAE}">
      <dsp:nvSpPr>
        <dsp:cNvPr id="0" name=""/>
        <dsp:cNvSpPr/>
      </dsp:nvSpPr>
      <dsp:spPr>
        <a:xfrm>
          <a:off x="3800911"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3800911" y="473694"/>
        <a:ext cx="106425" cy="106711"/>
      </dsp:txXfrm>
    </dsp:sp>
    <dsp:sp modelId="{CB42362C-856D-466D-B4DB-12B379A3951C}">
      <dsp:nvSpPr>
        <dsp:cNvPr id="0" name=""/>
        <dsp:cNvSpPr/>
      </dsp:nvSpPr>
      <dsp:spPr>
        <a:xfrm>
          <a:off x="4016057"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达成协议</a:t>
          </a:r>
          <a:endParaRPr lang="zh-CN" altLang="en-US" sz="1800" kern="1200" dirty="0"/>
        </a:p>
      </dsp:txBody>
      <dsp:txXfrm>
        <a:off x="4037062" y="181634"/>
        <a:ext cx="675143" cy="690830"/>
      </dsp:txXfrm>
    </dsp:sp>
    <dsp:sp modelId="{038712F8-353A-4DB2-882B-B762D828BFC4}">
      <dsp:nvSpPr>
        <dsp:cNvPr id="0" name=""/>
        <dsp:cNvSpPr/>
      </dsp:nvSpPr>
      <dsp:spPr>
        <a:xfrm>
          <a:off x="4804925" y="438123"/>
          <a:ext cx="152036" cy="177853"/>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4804925" y="473694"/>
        <a:ext cx="106425" cy="106711"/>
      </dsp:txXfrm>
    </dsp:sp>
    <dsp:sp modelId="{768D0A6B-C47E-4905-BB4A-FC9FDBC8B224}">
      <dsp:nvSpPr>
        <dsp:cNvPr id="0" name=""/>
        <dsp:cNvSpPr/>
      </dsp:nvSpPr>
      <dsp:spPr>
        <a:xfrm>
          <a:off x="5020071" y="160629"/>
          <a:ext cx="717153" cy="732840"/>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共同实施</a:t>
          </a:r>
          <a:endParaRPr lang="zh-CN" altLang="en-US" sz="1800" kern="1200" dirty="0"/>
        </a:p>
      </dsp:txBody>
      <dsp:txXfrm>
        <a:off x="5041076" y="181634"/>
        <a:ext cx="675143" cy="69083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2022/6/5</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aike.baidu.com/item/%E7%9B%B2%E7%9B%AE/754540"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baike.baidu.com/item/%E6%88%90%E5%8A%9F/38457" TargetMode="External"/><Relationship Id="rId5" Type="http://schemas.openxmlformats.org/officeDocument/2006/relationships/hyperlink" Target="https://baike.baidu.com/item/%E4%B9%A0%E6%83%AF/1022" TargetMode="External"/><Relationship Id="rId4" Type="http://schemas.openxmlformats.org/officeDocument/2006/relationships/hyperlink" Target="https://baike.baidu.com/item/%E7%90%86%E8%AE%BA/1732500"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8" Type="http://schemas.openxmlformats.org/officeDocument/2006/relationships/hyperlink" Target="https://baike.baidu.com/item/%E9%A3%8E%E9%99%A9" TargetMode="External"/><Relationship Id="rId3" Type="http://schemas.openxmlformats.org/officeDocument/2006/relationships/hyperlink" Target="https://baike.baidu.com/item/%E6%8A%95%E8%B5%84%E8%80%85" TargetMode="External"/><Relationship Id="rId7" Type="http://schemas.openxmlformats.org/officeDocument/2006/relationships/hyperlink" Target="https://baike.baidu.com/item/%E8%B4%A2%E5%AF%8C" TargetMode="External"/><Relationship Id="rId2" Type="http://schemas.openxmlformats.org/officeDocument/2006/relationships/slide" Target="../slides/slide85.xml"/><Relationship Id="rId1" Type="http://schemas.openxmlformats.org/officeDocument/2006/relationships/notesMaster" Target="../notesMasters/notesMaster1.xml"/><Relationship Id="rId6" Type="http://schemas.openxmlformats.org/officeDocument/2006/relationships/hyperlink" Target="https://baike.baidu.com/item/%E9%9A%8F%E6%9C%BA%E5%8F%98%E9%87%8F" TargetMode="External"/><Relationship Id="rId11" Type="http://schemas.openxmlformats.org/officeDocument/2006/relationships/hyperlink" Target="https://baike.baidu.com/item/%E9%97%B2%E6%9A%87" TargetMode="External"/><Relationship Id="rId5" Type="http://schemas.openxmlformats.org/officeDocument/2006/relationships/hyperlink" Target="https://baike.baidu.com/item/%E6%95%88%E7%94%A8" TargetMode="External"/><Relationship Id="rId10" Type="http://schemas.openxmlformats.org/officeDocument/2006/relationships/hyperlink" Target="https://baike.baidu.com/item/%E6%95%88%E7%94%A8%E5%87%BD%E6%95%B0" TargetMode="External"/><Relationship Id="rId4" Type="http://schemas.openxmlformats.org/officeDocument/2006/relationships/hyperlink" Target="https://baike.baidu.com/item/%E6%8A%95%E8%B5%84" TargetMode="External"/><Relationship Id="rId9" Type="http://schemas.openxmlformats.org/officeDocument/2006/relationships/hyperlink" Target="https://baike.baidu.com/item/%E6%80%81%E5%BA%A6" TargetMode="Externa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217074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关于考试，“开卷，但只能带课件打印件及其它纸质材料”，不能带电子设备，题型：单选，多选，判断，简答，综合题</a:t>
            </a:r>
            <a:endParaRPr lang="en-US" altLang="zh-CN" dirty="0"/>
          </a:p>
          <a:p>
            <a:r>
              <a:rPr lang="zh-CN" altLang="en-US" dirty="0"/>
              <a:t>考试时间地点：</a:t>
            </a:r>
            <a:r>
              <a:rPr lang="en-US" altLang="zh-CN" dirty="0"/>
              <a:t>2023</a:t>
            </a:r>
            <a:r>
              <a:rPr lang="zh-CN" altLang="en-US" dirty="0"/>
              <a:t>年</a:t>
            </a:r>
            <a:r>
              <a:rPr lang="en-US" altLang="zh-CN" dirty="0"/>
              <a:t>06</a:t>
            </a:r>
            <a:r>
              <a:rPr lang="zh-CN" altLang="en-US" dirty="0"/>
              <a:t>月</a:t>
            </a:r>
            <a:r>
              <a:rPr lang="en-US" altLang="zh-CN" dirty="0"/>
              <a:t>20</a:t>
            </a:r>
            <a:r>
              <a:rPr lang="zh-CN" altLang="en-US" dirty="0"/>
              <a:t>日</a:t>
            </a:r>
            <a:r>
              <a:rPr lang="en-US" altLang="zh-CN" dirty="0"/>
              <a:t>(8:00-10:00)  </a:t>
            </a:r>
            <a:r>
              <a:rPr lang="zh-CN" altLang="en-US" dirty="0"/>
              <a:t>玉泉</a:t>
            </a:r>
            <a:r>
              <a:rPr lang="zh-CN" altLang="en-US"/>
              <a:t>教</a:t>
            </a:r>
            <a:r>
              <a:rPr lang="en-US" altLang="zh-CN"/>
              <a:t>7-206</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4054912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E2A70863-E926-4D53-8E90-4C296D52A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4900474-E7CE-4D67-A938-EFF2698CBED2}" type="slidenum">
              <a:rPr lang="zh-CN" altLang="en-US" b="0"/>
              <a:pPr eaLnBrk="1" hangingPunct="1"/>
              <a:t>3</a:t>
            </a:fld>
            <a:endParaRPr lang="en-US" altLang="zh-CN" b="0"/>
          </a:p>
        </p:txBody>
      </p:sp>
      <p:sp>
        <p:nvSpPr>
          <p:cNvPr id="55299" name="Rectangle 2">
            <a:extLst>
              <a:ext uri="{FF2B5EF4-FFF2-40B4-BE49-F238E27FC236}">
                <a16:creationId xmlns:a16="http://schemas.microsoft.com/office/drawing/2014/main" id="{26489010-9722-43FF-B3DF-1E1D8C4A96AC}"/>
              </a:ext>
            </a:extLst>
          </p:cNvPr>
          <p:cNvSpPr>
            <a:spLocks noGrp="1" noRot="1" noChangeAspect="1" noChangeArrowheads="1" noTextEdit="1"/>
          </p:cNvSpPr>
          <p:nvPr>
            <p:ph type="sldImg"/>
          </p:nvPr>
        </p:nvSpPr>
        <p:spPr>
          <a:xfrm>
            <a:off x="479425" y="1279525"/>
            <a:ext cx="6140450" cy="3454400"/>
          </a:xfrm>
          <a:ln/>
        </p:spPr>
      </p:sp>
      <p:sp>
        <p:nvSpPr>
          <p:cNvPr id="55300" name="Rectangle 3">
            <a:extLst>
              <a:ext uri="{FF2B5EF4-FFF2-40B4-BE49-F238E27FC236}">
                <a16:creationId xmlns:a16="http://schemas.microsoft.com/office/drawing/2014/main" id="{9B1BD5D9-52D5-441A-AE51-4BB82E9ED1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zh-CN" b="0" i="0" dirty="0">
                <a:solidFill>
                  <a:srgbClr val="191919"/>
                </a:solidFill>
                <a:effectLst/>
                <a:latin typeface="PingFang SC"/>
              </a:rPr>
              <a:t>5000</a:t>
            </a:r>
            <a:r>
              <a:rPr lang="zh-CN" altLang="en-US" b="0" i="0" dirty="0">
                <a:solidFill>
                  <a:srgbClr val="191919"/>
                </a:solidFill>
                <a:effectLst/>
                <a:latin typeface="PingFang SC"/>
              </a:rPr>
              <a:t>年前，在伊拉克首都巴格达附近，有一个繁华的地方叫做巴比伦城。那里的人们都讲着同一种语言，操着相同的口音。后来，他们的日子越过越好，于是决定在巴比伦修一座通天的高塔，似乎要与天公一比高低。</a:t>
            </a:r>
          </a:p>
          <a:p>
            <a:pPr algn="l"/>
            <a:r>
              <a:rPr lang="zh-CN" altLang="en-US" b="0" i="0" dirty="0">
                <a:solidFill>
                  <a:srgbClr val="191919"/>
                </a:solidFill>
                <a:effectLst/>
                <a:latin typeface="PingFang SC"/>
              </a:rPr>
              <a:t>因为大家语言相通，同心协力，所以这座通天高塔修建得非常顺利。据说，如果把塔放倒在平原上</a:t>
            </a:r>
            <a:r>
              <a:rPr lang="en-US" altLang="zh-CN" b="0" i="0" dirty="0">
                <a:solidFill>
                  <a:srgbClr val="191919"/>
                </a:solidFill>
                <a:effectLst/>
                <a:latin typeface="PingFang SC"/>
              </a:rPr>
              <a:t>,</a:t>
            </a:r>
            <a:r>
              <a:rPr lang="zh-CN" altLang="en-US" b="0" i="0" dirty="0">
                <a:solidFill>
                  <a:srgbClr val="191919"/>
                </a:solidFill>
                <a:effectLst/>
                <a:latin typeface="PingFang SC"/>
              </a:rPr>
              <a:t>从这端走到那端，要走上整整两天。耶和华看到这座高耸入云的建筑，为人类的虚荣和傲慢而震怒，心想：如果人类真的修成这样宏伟的巨塔，以后还有什么事干不成呢？于是，他决定让人世间的语言发生混乱，使人们互相言语不通。</a:t>
            </a:r>
          </a:p>
          <a:p>
            <a:pPr algn="l"/>
            <a:r>
              <a:rPr lang="zh-CN" altLang="en-US" b="0" i="0" dirty="0">
                <a:solidFill>
                  <a:srgbClr val="191919"/>
                </a:solidFill>
                <a:effectLst/>
                <a:latin typeface="PingFang SC"/>
              </a:rPr>
              <a:t>就这样，人们的语言不再相同，大家各自操起不同的语言，感情无法交流，思想很难统一。后来，人与人之间开始出现猜疑、争吵</a:t>
            </a:r>
            <a:r>
              <a:rPr lang="en-US" altLang="zh-CN" b="0" i="0" dirty="0">
                <a:solidFill>
                  <a:srgbClr val="191919"/>
                </a:solidFill>
                <a:effectLst/>
                <a:latin typeface="PingFang SC"/>
              </a:rPr>
              <a:t>……</a:t>
            </a:r>
            <a:r>
              <a:rPr lang="zh-CN" altLang="en-US" b="0" i="0" dirty="0">
                <a:solidFill>
                  <a:srgbClr val="191919"/>
                </a:solidFill>
                <a:effectLst/>
                <a:latin typeface="PingFang SC"/>
              </a:rPr>
              <a:t>。就这样，因为语言不通，人类的力量消失了，通天塔工程也只能半途而废。</a:t>
            </a:r>
          </a:p>
          <a:p>
            <a:pPr algn="just"/>
            <a:endParaRPr lang="en-US" altLang="zh-CN" dirty="0"/>
          </a:p>
          <a:p>
            <a:pPr algn="just"/>
            <a:r>
              <a:rPr lang="zh-CN" altLang="en-US" dirty="0"/>
              <a:t>想象一下这样的情况：</a:t>
            </a:r>
            <a:endParaRPr lang="en-US" altLang="zh-CN" dirty="0"/>
          </a:p>
          <a:p>
            <a:pPr algn="just"/>
            <a:r>
              <a:rPr lang="zh-CN" altLang="en-US" dirty="0"/>
              <a:t>   客户在检查项目阶段成果时，指出曾经要求的某个产品特性没有包含在其中，并且抱怨说早就以口头的方式反映给了项目组的成员，糟糕的是作为项目经理的你却一无所知，而那位成员解释说把这点忘记了；</a:t>
            </a:r>
            <a:endParaRPr lang="en-US" altLang="zh-CN" dirty="0"/>
          </a:p>
          <a:p>
            <a:pPr algn="just"/>
            <a:r>
              <a:rPr lang="zh-CN" altLang="en-US" dirty="0"/>
              <a:t>   或者，你手下的程序员在设计评审时描述了他所负责的模块架构，然而软件开发出来后，你发现这和你所理解的结构大相径庭</a:t>
            </a:r>
            <a:r>
              <a:rPr lang="en-US" altLang="zh-CN" dirty="0"/>
              <a:t>…… </a:t>
            </a:r>
          </a:p>
          <a:p>
            <a:pPr algn="just"/>
            <a:endParaRPr lang="en-US" altLang="zh-CN" dirty="0"/>
          </a:p>
          <a:p>
            <a:pPr algn="just"/>
            <a:r>
              <a:rPr lang="zh-CN" altLang="en-US" dirty="0"/>
              <a:t>   可能你遇到的情况比上面谈到的还要复杂、还要糟糕。问题到底出在哪儿呢？其实很简单，就两个字</a:t>
            </a:r>
            <a:r>
              <a:rPr lang="en-US" altLang="zh-CN" dirty="0"/>
              <a:t>——</a:t>
            </a:r>
            <a:r>
              <a:rPr lang="zh-CN" altLang="en-US" dirty="0"/>
              <a:t>沟通。</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这个项目存在什么问题？</a:t>
            </a:r>
            <a:endParaRPr lang="en-US" altLang="zh-CN" dirty="0"/>
          </a:p>
          <a:p>
            <a:r>
              <a:rPr lang="zh-CN" altLang="en-US" dirty="0"/>
              <a:t>存在公司内部管理问题，组织架构不太合理，整个项目的经理缺位；存在内部沟通问题，工程部和市场部人员责任性不强，工作不到位，把研发经理的话当耳边风；存在与客户的沟通问题，客户在有问题时没有人顾问，不知道向谁反映，很恼火，售后服务人员工作差。</a:t>
            </a:r>
            <a:endParaRPr lang="en-US" altLang="zh-CN" dirty="0"/>
          </a:p>
          <a:p>
            <a:r>
              <a:rPr lang="zh-CN" altLang="en-US" dirty="0"/>
              <a:t>调整组织架构，明确项目经理，制定好沟通计划，切实做好沟通工作，检查、记录沟通情况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026877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沟通是指用各种可能的方式来发送或接收信息，或者通过沟通活动（如会议和演讲），或者以沟通工具的方式（如电子邮件、社交媒体、项目报告或项目文档）。</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项目经理的大多数时间用于与团队成员和其他项目相关方沟通，包括来自组织内部（组织的各个层级）和组织外部的人员。不同相关方可能有不同的文化和组织背景，以及不同的专业水平、观点和兴趣，而有效的沟通能够在他们之间架起一座桥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263520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dirty="0">
                <a:solidFill>
                  <a:schemeClr val="tx2"/>
                </a:solidFill>
                <a:latin typeface="+mj-ea"/>
                <a:ea typeface="+mj-ea"/>
              </a:rPr>
              <a:t>沟通的基本模型用于显示信息如何在发送方和接收方间被发送和接收</a:t>
            </a:r>
          </a:p>
          <a:p>
            <a:pPr>
              <a:lnSpc>
                <a:spcPct val="120000"/>
              </a:lnSpc>
              <a:spcBef>
                <a:spcPts val="0"/>
              </a:spcBef>
              <a:defRPr/>
            </a:pPr>
            <a:endParaRPr lang="en-US" altLang="zh-CN" sz="1200" b="1" dirty="0"/>
          </a:p>
          <a:p>
            <a:pPr>
              <a:lnSpc>
                <a:spcPct val="120000"/>
              </a:lnSpc>
              <a:spcBef>
                <a:spcPts val="0"/>
              </a:spcBef>
              <a:defRPr/>
            </a:pPr>
            <a:r>
              <a:rPr lang="zh-CN" altLang="en-US" sz="1200" b="1" dirty="0"/>
              <a:t>编码：</a:t>
            </a:r>
            <a:r>
              <a:rPr lang="zh-CN" altLang="en-US" sz="1200" dirty="0"/>
              <a:t>把思想或想法转换为他人能够理解的语言</a:t>
            </a:r>
          </a:p>
          <a:p>
            <a:pPr>
              <a:lnSpc>
                <a:spcPct val="120000"/>
              </a:lnSpc>
              <a:spcBef>
                <a:spcPts val="0"/>
              </a:spcBef>
              <a:defRPr/>
            </a:pPr>
            <a:r>
              <a:rPr lang="zh-CN" altLang="en-US" sz="1200" b="1" dirty="0"/>
              <a:t>信息和反馈信息：</a:t>
            </a:r>
            <a:r>
              <a:rPr lang="zh-CN" altLang="en-US" sz="1200" dirty="0"/>
              <a:t>编码过程所得到的结果</a:t>
            </a:r>
          </a:p>
          <a:p>
            <a:pPr>
              <a:lnSpc>
                <a:spcPct val="120000"/>
              </a:lnSpc>
              <a:spcBef>
                <a:spcPts val="0"/>
              </a:spcBef>
              <a:defRPr/>
            </a:pPr>
            <a:r>
              <a:rPr lang="zh-CN" altLang="en-US" sz="1200" b="1" dirty="0"/>
              <a:t>媒介：</a:t>
            </a:r>
            <a:r>
              <a:rPr lang="zh-CN" altLang="en-US" sz="1200" dirty="0"/>
              <a:t>用来传递信息的方法</a:t>
            </a:r>
          </a:p>
          <a:p>
            <a:pPr>
              <a:lnSpc>
                <a:spcPct val="120000"/>
              </a:lnSpc>
              <a:spcBef>
                <a:spcPts val="0"/>
              </a:spcBef>
              <a:defRPr/>
            </a:pPr>
            <a:r>
              <a:rPr lang="zh-CN" altLang="en-US" sz="1200" b="1" dirty="0"/>
              <a:t>噪音：</a:t>
            </a:r>
            <a:r>
              <a:rPr lang="zh-CN" altLang="en-US" sz="1200" dirty="0"/>
              <a:t>干扰信息传输和理解的一切因素（如距离，新技术，背景信息）</a:t>
            </a:r>
          </a:p>
          <a:p>
            <a:pPr>
              <a:lnSpc>
                <a:spcPct val="120000"/>
              </a:lnSpc>
              <a:spcBef>
                <a:spcPts val="0"/>
              </a:spcBef>
              <a:defRPr/>
            </a:pPr>
            <a:r>
              <a:rPr lang="zh-CN" altLang="en-US" sz="1200" b="1" dirty="0"/>
              <a:t>解码：</a:t>
            </a:r>
            <a:r>
              <a:rPr lang="zh-CN" altLang="en-US" sz="1200" dirty="0"/>
              <a:t>把信息还原成原有的思想和想法</a:t>
            </a:r>
          </a:p>
          <a:p>
            <a:pPr eaLnBrk="1" hangingPunct="1"/>
            <a:endParaRPr lang="en-US" altLang="zh-CN" dirty="0"/>
          </a:p>
          <a:p>
            <a:pPr eaLnBrk="1" hangingPunct="1"/>
            <a:r>
              <a:rPr lang="zh-CN" altLang="en-US" dirty="0"/>
              <a:t>形成沟通干扰因素的原因多种多样，最重要的来自三个客观背景：</a:t>
            </a:r>
          </a:p>
          <a:p>
            <a:pPr eaLnBrk="1" hangingPunct="1"/>
            <a:r>
              <a:rPr lang="zh-CN" altLang="en-US" b="1" dirty="0"/>
              <a:t>价值观念</a:t>
            </a:r>
            <a:r>
              <a:rPr lang="zh-CN" altLang="en-US" dirty="0"/>
              <a:t>，即信息交流双方评价事物的价值尺度不同，这好比双方各自带着不同颜色的眼镜观察同一个事物，结果判断的颜色不一样。社会现象中常见的意识形态对立、阶级意识、宗教信仰冲突、民族文化差异、男女的观念差别，归根结底都体现在价值观的分歧上。</a:t>
            </a:r>
          </a:p>
          <a:p>
            <a:pPr eaLnBrk="1" hangingPunct="1"/>
            <a:r>
              <a:rPr lang="zh-CN" altLang="en-US" b="1" dirty="0"/>
              <a:t>文化背景</a:t>
            </a:r>
            <a:r>
              <a:rPr lang="zh-CN" altLang="en-US" dirty="0"/>
              <a:t>，即信息交流双方受教育程度的差别，造成双方对事物理解能力不对等。受过低等教育的人很难理解受过高等教育的人表达的意思，沟通中信息含量的差别，造成了信息交流不对称现象。</a:t>
            </a:r>
          </a:p>
          <a:p>
            <a:pPr eaLnBrk="1" hangingPunct="1"/>
            <a:r>
              <a:rPr lang="zh-CN" altLang="en-US" b="1" dirty="0"/>
              <a:t>专业领域</a:t>
            </a:r>
            <a:r>
              <a:rPr lang="zh-CN" altLang="en-US" dirty="0"/>
              <a:t>，即信息交流双方互相不了解对方的技术术语，出现解码障碍。隔行如隔山，每个行业都有自己的约定俗成的概念，一个航天领域的专家和一个生物化工的专家，尽管双方都处在同一文化层次上，但是在交流中都会因为解码障碍而出现理解失误。</a:t>
            </a:r>
          </a:p>
          <a:p>
            <a:endParaRPr lang="en-US" altLang="zh-CN" dirty="0"/>
          </a:p>
          <a:p>
            <a:pPr>
              <a:spcBef>
                <a:spcPct val="0"/>
              </a:spcBef>
            </a:pPr>
            <a:r>
              <a:rPr lang="zh-CN" altLang="en-US" sz="1200" dirty="0"/>
              <a:t>有效沟通的障碍：</a:t>
            </a:r>
          </a:p>
          <a:p>
            <a:pPr>
              <a:spcBef>
                <a:spcPct val="0"/>
              </a:spcBef>
            </a:pPr>
            <a:r>
              <a:rPr lang="zh-CN" altLang="en-US" sz="1200" dirty="0"/>
              <a:t>一、来自于组织的沟通障碍</a:t>
            </a:r>
          </a:p>
          <a:p>
            <a:pPr>
              <a:spcBef>
                <a:spcPct val="0"/>
              </a:spcBef>
            </a:pPr>
            <a:r>
              <a:rPr lang="zh-CN" altLang="en-US" sz="1200" dirty="0"/>
              <a:t>合理的组织机构有利于沟通。但是，如果组织机构过大，中间层次过多，那么信息从最高决策传递到下属单位不仅容易产生信息的失真，而且还会浪费大量时间，影响信息的及时性，影响效率。据统计，如果一个信息在高层管理者那里的正确性是</a:t>
            </a:r>
            <a:r>
              <a:rPr lang="en-US" altLang="zh-CN" sz="1200" dirty="0"/>
              <a:t>100</a:t>
            </a:r>
            <a:r>
              <a:rPr lang="zh-CN" altLang="en-US" sz="1200" dirty="0"/>
              <a:t>％，到了信息的接受者手里可能就只剩下</a:t>
            </a:r>
            <a:r>
              <a:rPr lang="en-US" altLang="zh-CN" sz="1200" dirty="0"/>
              <a:t>20</a:t>
            </a:r>
            <a:r>
              <a:rPr lang="zh-CN" altLang="en-US" sz="1200" dirty="0"/>
              <a:t>％的正确性。这是因为，各级人员都会花时间把接收到的信息自己一层一层的过滤，然后断章取义地去传达，其中还掺杂了大量的主观因素。尤其是信息涉及到传递者本人时，往往会由于心里原因造成信息失真。因此，组织机构臃肿设置不合理，各部门之间职责不清，分工不明，形成多头领导都会给双方沟通造成一定的心里压力，影响沟通的进行。</a:t>
            </a:r>
          </a:p>
          <a:p>
            <a:pPr>
              <a:spcBef>
                <a:spcPct val="0"/>
              </a:spcBef>
            </a:pPr>
            <a:endParaRPr lang="zh-CN" altLang="en-US" sz="1200" dirty="0"/>
          </a:p>
          <a:p>
            <a:pPr>
              <a:spcBef>
                <a:spcPct val="0"/>
              </a:spcBef>
            </a:pPr>
            <a:r>
              <a:rPr lang="zh-CN" altLang="en-US" sz="1200" dirty="0"/>
              <a:t>二、来自于个人的沟通障碍</a:t>
            </a:r>
          </a:p>
          <a:p>
            <a:pPr>
              <a:spcBef>
                <a:spcPct val="0"/>
              </a:spcBef>
            </a:pPr>
            <a:r>
              <a:rPr lang="en-US" altLang="zh-CN" sz="1200" dirty="0"/>
              <a:t>1</a:t>
            </a:r>
            <a:r>
              <a:rPr lang="zh-CN" altLang="en-US" sz="1200" dirty="0"/>
              <a:t>）个人因素所引起的障碍（心理因素、性质、气质、态度、情绪、见解等差别）</a:t>
            </a:r>
          </a:p>
          <a:p>
            <a:pPr>
              <a:spcBef>
                <a:spcPct val="0"/>
              </a:spcBef>
            </a:pPr>
            <a:r>
              <a:rPr lang="en-US" altLang="zh-CN" sz="1200" dirty="0"/>
              <a:t>2</a:t>
            </a:r>
            <a:r>
              <a:rPr lang="zh-CN" altLang="en-US" sz="1200" dirty="0"/>
              <a:t>）知识、经验水平的差距导致的障碍（凭经验办事，经验丰富的人：通盘考虑，谨慎细心；初出茅庐：不知所措，差距大，沟通障碍）</a:t>
            </a:r>
          </a:p>
          <a:p>
            <a:pPr>
              <a:spcBef>
                <a:spcPct val="0"/>
              </a:spcBef>
            </a:pPr>
            <a:r>
              <a:rPr lang="en-US" altLang="zh-CN" sz="1200" dirty="0"/>
              <a:t>3</a:t>
            </a:r>
            <a:r>
              <a:rPr lang="zh-CN" altLang="en-US" sz="1200" dirty="0"/>
              <a:t>）个人记忆不佳造成的障碍</a:t>
            </a:r>
          </a:p>
          <a:p>
            <a:pPr>
              <a:spcBef>
                <a:spcPct val="0"/>
              </a:spcBef>
            </a:pPr>
            <a:r>
              <a:rPr lang="en-US" altLang="zh-CN" sz="1200" dirty="0"/>
              <a:t>4</a:t>
            </a:r>
            <a:r>
              <a:rPr lang="zh-CN" altLang="en-US" sz="1200" dirty="0"/>
              <a:t>）对信息的态度不同造成的障碍（认识差异、利益观念）</a:t>
            </a:r>
          </a:p>
          <a:p>
            <a:pPr>
              <a:spcBef>
                <a:spcPct val="0"/>
              </a:spcBef>
            </a:pPr>
            <a:r>
              <a:rPr lang="en-US" altLang="zh-CN" sz="1200" dirty="0"/>
              <a:t>5</a:t>
            </a:r>
            <a:r>
              <a:rPr lang="zh-CN" altLang="en-US" sz="1200" dirty="0"/>
              <a:t>）相互不信任</a:t>
            </a:r>
          </a:p>
          <a:p>
            <a:pPr>
              <a:spcBef>
                <a:spcPct val="0"/>
              </a:spcBef>
            </a:pPr>
            <a:r>
              <a:rPr lang="en-US" altLang="zh-CN" sz="1200" dirty="0"/>
              <a:t>6</a:t>
            </a:r>
            <a:r>
              <a:rPr lang="zh-CN" altLang="en-US" sz="1200" dirty="0"/>
              <a:t>）畏惧感和个人心理品质（过于严格、难以接近、缺乏必要的同情心、不体恤下情）</a:t>
            </a:r>
          </a:p>
          <a:p>
            <a:pPr>
              <a:spcBef>
                <a:spcPct val="0"/>
              </a:spcBef>
            </a:pPr>
            <a:r>
              <a:rPr lang="en-US" altLang="zh-CN" sz="1200" dirty="0"/>
              <a:t>7</a:t>
            </a:r>
            <a:r>
              <a:rPr lang="zh-CN" altLang="en-US" sz="1200" dirty="0"/>
              <a:t>）直觉选择偏差（直觉的选择性：习惯接收部分信息，摒弃另一部分信息，符合自己需要的容易听进去，导致信息歪曲。）</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3768745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幻灯片图像占位符 1">
            <a:extLst>
              <a:ext uri="{FF2B5EF4-FFF2-40B4-BE49-F238E27FC236}">
                <a16:creationId xmlns:a16="http://schemas.microsoft.com/office/drawing/2014/main" id="{63233200-4113-48FA-9A3A-9B56C4F5EC29}"/>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9315" name="备注占位符 2">
            <a:extLst>
              <a:ext uri="{FF2B5EF4-FFF2-40B4-BE49-F238E27FC236}">
                <a16:creationId xmlns:a16="http://schemas.microsoft.com/office/drawing/2014/main" id="{0586ED22-BFC2-4245-A098-5BAA7D0567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20000"/>
              </a:lnSpc>
              <a:spcBef>
                <a:spcPct val="0"/>
              </a:spcBef>
            </a:pPr>
            <a:r>
              <a:rPr lang="zh-CN" altLang="en-US" dirty="0"/>
              <a:t>信息逐渐丢失，甚至失真，需要通过沟通管理来避免</a:t>
            </a:r>
            <a:endParaRPr lang="en-US" altLang="zh-CN" dirty="0"/>
          </a:p>
          <a:p>
            <a:pPr eaLnBrk="1" hangingPunct="1">
              <a:lnSpc>
                <a:spcPct val="120000"/>
              </a:lnSpc>
              <a:spcBef>
                <a:spcPct val="0"/>
              </a:spcBef>
            </a:pPr>
            <a:endParaRPr lang="en-US" altLang="zh-CN" dirty="0"/>
          </a:p>
          <a:p>
            <a:pPr eaLnBrk="1" hangingPunct="1">
              <a:lnSpc>
                <a:spcPct val="120000"/>
              </a:lnSpc>
              <a:spcBef>
                <a:spcPct val="0"/>
              </a:spcBef>
            </a:pPr>
            <a:r>
              <a:rPr lang="zh-CN" altLang="en-US" dirty="0"/>
              <a:t>信息传递：</a:t>
            </a:r>
            <a:endParaRPr lang="en-US" altLang="zh-CN" dirty="0"/>
          </a:p>
          <a:p>
            <a:pPr eaLnBrk="1" hangingPunct="1">
              <a:lnSpc>
                <a:spcPct val="120000"/>
              </a:lnSpc>
              <a:spcBef>
                <a:spcPct val="0"/>
              </a:spcBef>
            </a:pPr>
            <a:r>
              <a:rPr lang="zh-CN" altLang="en-US" dirty="0"/>
              <a:t>若接收到的信息不完整或有偏差，可能是信息源有意（可能利益使然）或无意造成的；也可能接收者受偏见或知识局限，人们喜欢听自己喜欢听的话；还可能是受到干扰。这些都会引起理解的偏差，可能会造成严重的后果（漏做或做错）。</a:t>
            </a:r>
          </a:p>
        </p:txBody>
      </p:sp>
      <p:sp>
        <p:nvSpPr>
          <p:cNvPr id="269316" name="灯片编号占位符 3">
            <a:extLst>
              <a:ext uri="{FF2B5EF4-FFF2-40B4-BE49-F238E27FC236}">
                <a16:creationId xmlns:a16="http://schemas.microsoft.com/office/drawing/2014/main" id="{835562E9-9161-4297-8618-81DCF0C7E6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D6B554-6A09-4346-BB11-88AE9D72EE2C}"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2142703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800" b="1" i="0" u="none" strike="noStrike" baseline="0" dirty="0">
                <a:latin typeface="SourceHanSansSC-Bold"/>
              </a:rPr>
              <a:t>遣词造句。</a:t>
            </a:r>
            <a:r>
              <a:rPr lang="zh-CN" altLang="en-US" sz="1800" b="0" i="0" u="none" strike="noStrike" baseline="0" dirty="0">
                <a:latin typeface="SourceHanSansSC-Regular"/>
              </a:rPr>
              <a:t>表达一种想法的词语往往不止一个，且各词语的含义会存在细微差异。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沟通是指用各种可能的方式来发送或接收信息，或者通过沟通活动（如会议和演讲），或者以工件的方式（如电子邮件、社交媒体、项目报告或项目文档）。</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521871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不同形式的沟通的特点</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这里只说正式书面，正式口头，非正式口头 非正式书面这四种：</a:t>
            </a:r>
          </a:p>
          <a:p>
            <a:r>
              <a:rPr lang="en-US" altLang="zh-CN" sz="1200" b="0" i="0" kern="1200" dirty="0">
                <a:solidFill>
                  <a:schemeClr val="tx1"/>
                </a:solidFill>
                <a:effectLst/>
                <a:latin typeface="+mn-lt"/>
                <a:ea typeface="+mn-ea"/>
                <a:cs typeface="+mn-cs"/>
              </a:rPr>
              <a:t>  1. </a:t>
            </a:r>
            <a:r>
              <a:rPr lang="zh-CN" altLang="en-US" sz="1200" b="0" i="0" kern="1200" dirty="0">
                <a:solidFill>
                  <a:schemeClr val="tx1"/>
                </a:solidFill>
                <a:effectLst/>
                <a:latin typeface="+mn-lt"/>
                <a:ea typeface="+mn-ea"/>
                <a:cs typeface="+mn-cs"/>
              </a:rPr>
              <a:t>正式书面</a:t>
            </a:r>
          </a:p>
          <a:p>
            <a:r>
              <a:rPr lang="zh-CN" altLang="en-US" sz="1200" b="0" i="0" kern="1200" dirty="0">
                <a:solidFill>
                  <a:schemeClr val="tx1"/>
                </a:solidFill>
                <a:effectLst/>
                <a:latin typeface="+mn-lt"/>
                <a:ea typeface="+mn-ea"/>
                <a:cs typeface="+mn-cs"/>
              </a:rPr>
              <a:t>清晰，适合保存，有格式的需求，多用于对外沟通，如对外建立合同等。缺点是缺乏人性化。</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正式口头</a:t>
            </a:r>
          </a:p>
          <a:p>
            <a:r>
              <a:rPr lang="zh-CN" altLang="en-US" sz="1200" b="0" i="0" kern="1200" dirty="0">
                <a:solidFill>
                  <a:schemeClr val="tx1"/>
                </a:solidFill>
                <a:effectLst/>
                <a:latin typeface="+mn-lt"/>
                <a:ea typeface="+mn-ea"/>
                <a:cs typeface="+mn-cs"/>
              </a:rPr>
              <a:t>     传达速度快，但是不易保存，适用如项目启动会。项目沟通（对外沟通）</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非正式口头</a:t>
            </a:r>
          </a:p>
          <a:p>
            <a:r>
              <a:rPr lang="zh-CN" altLang="en-US" sz="1200" b="0" i="0" kern="1200" dirty="0">
                <a:solidFill>
                  <a:schemeClr val="tx1"/>
                </a:solidFill>
                <a:effectLst/>
                <a:latin typeface="+mn-lt"/>
                <a:ea typeface="+mn-ea"/>
                <a:cs typeface="+mn-cs"/>
              </a:rPr>
              <a:t>     人性化，效率高，容易充分了解和沟通，如对员工表现欠佳的谈话等</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非正式书面</a:t>
            </a:r>
          </a:p>
          <a:p>
            <a:r>
              <a:rPr lang="zh-CN" altLang="en-US" sz="1200" b="0" i="0" kern="1200" dirty="0">
                <a:solidFill>
                  <a:schemeClr val="tx1"/>
                </a:solidFill>
                <a:effectLst/>
                <a:latin typeface="+mn-lt"/>
                <a:ea typeface="+mn-ea"/>
                <a:cs typeface="+mn-cs"/>
              </a:rPr>
              <a:t>     适合保存，非正规的要求，适用场景，项目开会的笔记，便条等，即时通信软件</a:t>
            </a:r>
          </a:p>
          <a:p>
            <a:br>
              <a:rPr lang="zh-CN" altLang="en-US" sz="1200" b="0" i="0" kern="1200" dirty="0">
                <a:solidFill>
                  <a:schemeClr val="tx1"/>
                </a:solidFill>
                <a:effectLst/>
                <a:latin typeface="+mn-lt"/>
                <a:ea typeface="+mn-ea"/>
                <a:cs typeface="+mn-cs"/>
              </a:rPr>
            </a:b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怎么样提高沟通的效率，可以遵循一下几个方面：</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沟通差异化，因人而异，说通俗点儿就是见人说人话，见鬼说鬼话</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采取对方能够接受的风格</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非正式的沟通有助于调节气氛，使关系融洽（线下先沟通，聪明的</a:t>
            </a:r>
            <a:r>
              <a:rPr lang="en-US" altLang="zh-CN" sz="1200" b="0" i="0" kern="1200" dirty="0">
                <a:solidFill>
                  <a:schemeClr val="tx1"/>
                </a:solidFill>
                <a:effectLst/>
                <a:latin typeface="+mn-lt"/>
                <a:ea typeface="+mn-ea"/>
                <a:cs typeface="+mn-cs"/>
              </a:rPr>
              <a:t>PM</a:t>
            </a:r>
            <a:r>
              <a:rPr lang="zh-CN" altLang="en-US" sz="1200" b="0" i="0" kern="1200" dirty="0">
                <a:solidFill>
                  <a:schemeClr val="tx1"/>
                </a:solidFill>
                <a:effectLst/>
                <a:latin typeface="+mn-lt"/>
                <a:ea typeface="+mn-ea"/>
                <a:cs typeface="+mn-cs"/>
              </a:rPr>
              <a:t>先会联系）</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扫除沟通的障碍</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沟通的升级原则</a:t>
            </a:r>
          </a:p>
          <a:p>
            <a:br>
              <a:rPr lang="zh-CN" altLang="en-US" sz="1200" b="0" i="0" kern="1200" dirty="0">
                <a:solidFill>
                  <a:schemeClr val="tx1"/>
                </a:solidFill>
                <a:effectLst/>
                <a:latin typeface="+mn-lt"/>
                <a:ea typeface="+mn-ea"/>
                <a:cs typeface="+mn-cs"/>
              </a:rPr>
            </a:b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沟通的技巧</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观察，判断对方的情绪，眼神，手势动作，肢体语言，腔调</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倾听，关键内容的正面反馈（</a:t>
            </a:r>
            <a:r>
              <a:rPr lang="zh-CN" altLang="en-US" sz="1200" b="1" i="0" kern="1200" dirty="0">
                <a:solidFill>
                  <a:schemeClr val="tx1"/>
                </a:solidFill>
                <a:effectLst/>
                <a:latin typeface="+mn-lt"/>
                <a:ea typeface="+mn-ea"/>
                <a:cs typeface="+mn-cs"/>
              </a:rPr>
              <a:t>复杂问题作笔记</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 </a:t>
            </a:r>
            <a:r>
              <a:rPr lang="zh-CN" altLang="en-US" sz="1200" b="0" i="0" kern="1200" dirty="0">
                <a:solidFill>
                  <a:schemeClr val="tx1"/>
                </a:solidFill>
                <a:effectLst/>
                <a:latin typeface="+mn-lt"/>
                <a:ea typeface="+mn-ea"/>
                <a:cs typeface="+mn-cs"/>
              </a:rPr>
              <a:t>表达，多肯定，少否定。多赞扬，少批评</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4. </a:t>
            </a:r>
            <a:r>
              <a:rPr lang="zh-CN" altLang="en-US" sz="1200" b="0" i="0" kern="1200" dirty="0">
                <a:solidFill>
                  <a:schemeClr val="tx1"/>
                </a:solidFill>
                <a:effectLst/>
                <a:latin typeface="+mn-lt"/>
                <a:ea typeface="+mn-ea"/>
                <a:cs typeface="+mn-cs"/>
              </a:rPr>
              <a:t>反馈，描述情绪，表达感受，提出意见，征询意见</a:t>
            </a:r>
          </a:p>
          <a:p>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5. </a:t>
            </a:r>
            <a:r>
              <a:rPr lang="zh-CN" altLang="en-US" sz="1200" b="0" i="0" kern="1200" dirty="0">
                <a:solidFill>
                  <a:schemeClr val="tx1"/>
                </a:solidFill>
                <a:effectLst/>
                <a:latin typeface="+mn-lt"/>
                <a:ea typeface="+mn-ea"/>
                <a:cs typeface="+mn-cs"/>
              </a:rPr>
              <a:t>共鸣， 变现真诚，鼓励对方，产生信赖</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1301519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464913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运用非正式组织沟通的原则</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当项目组中小道消息盛行时，表明项目的正式组织沟通渠道不畅或者非正式沟通渠道使用不当。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5C </a:t>
            </a:r>
            <a:r>
              <a:rPr lang="zh-CN" altLang="en-US" dirty="0"/>
              <a:t>原则</a:t>
            </a:r>
            <a:endParaRPr lang="en-US" altLang="zh-CN" dirty="0"/>
          </a:p>
          <a:p>
            <a:pPr algn="l"/>
            <a:r>
              <a:rPr lang="zh-CN" altLang="en-US" sz="1800" b="1" i="0" u="sng" strike="noStrike" baseline="0" dirty="0">
                <a:latin typeface="SourceHanSansSC-Bold"/>
              </a:rPr>
              <a:t>正确的语法和拼写</a:t>
            </a:r>
            <a:r>
              <a:rPr lang="zh-CN" altLang="en-US" sz="1800" b="1" i="0" u="none" strike="noStrike" baseline="0" dirty="0">
                <a:latin typeface="SourceHanSansSC-Bold"/>
              </a:rPr>
              <a:t>。</a:t>
            </a:r>
            <a:r>
              <a:rPr lang="zh-CN" altLang="en-US" sz="1800" b="0" i="0" u="none" strike="noStrike" baseline="0" dirty="0">
                <a:latin typeface="SourceHanSansSC-Regular"/>
              </a:rPr>
              <a:t>语法不当或拼写错误会分散注意力，还有可能扭曲信息含义，降低可信度。</a:t>
            </a:r>
          </a:p>
          <a:p>
            <a:pPr algn="l"/>
            <a:r>
              <a:rPr lang="zh-CN" altLang="en-US" sz="1800" b="1" i="0" u="sng" strike="noStrike" baseline="0" dirty="0">
                <a:latin typeface="SourceHanSansSC-Bold"/>
              </a:rPr>
              <a:t>简洁的表述和无多余字</a:t>
            </a:r>
            <a:r>
              <a:rPr lang="zh-CN" altLang="en-US" sz="1800" b="1" i="0" u="none" strike="noStrike" baseline="0" dirty="0">
                <a:latin typeface="SourceHanSansSC-Bold"/>
              </a:rPr>
              <a:t>。</a:t>
            </a:r>
            <a:r>
              <a:rPr lang="zh-CN" altLang="en-US" sz="1800" b="0" i="0" u="none" strike="noStrike" baseline="0" dirty="0">
                <a:latin typeface="SourceHanSansSC-Regular"/>
              </a:rPr>
              <a:t>简洁且精心组织的信息能降低误解信息意图的可能性。</a:t>
            </a:r>
          </a:p>
          <a:p>
            <a:pPr algn="l"/>
            <a:r>
              <a:rPr lang="zh-CN" altLang="en-US" sz="1800" b="1" i="0" u="sng" strike="noStrike" baseline="0" dirty="0">
                <a:latin typeface="SourceHanSansSC-Bold"/>
              </a:rPr>
              <a:t>清晰的目的和表述（适合读者的需要）</a:t>
            </a:r>
            <a:r>
              <a:rPr lang="zh-CN" altLang="en-US" sz="1800" b="1" i="0" u="none" strike="noStrike" baseline="0" dirty="0">
                <a:latin typeface="SourceHanSansSC-Bold"/>
              </a:rPr>
              <a:t>。</a:t>
            </a:r>
            <a:r>
              <a:rPr lang="zh-CN" altLang="en-US" sz="1800" b="0" i="0" u="none" strike="noStrike" baseline="0" dirty="0">
                <a:latin typeface="SourceHanSansSC-Regular"/>
              </a:rPr>
              <a:t>确保在信息中包含能满足受众需求与激发其兴趣的内容。</a:t>
            </a:r>
          </a:p>
          <a:p>
            <a:pPr algn="l"/>
            <a:r>
              <a:rPr lang="zh-CN" altLang="en-US" sz="1800" b="1" i="0" u="sng" strike="noStrike" baseline="0" dirty="0">
                <a:latin typeface="SourceHanSansSC-Bold"/>
              </a:rPr>
              <a:t>连贯的思维逻辑</a:t>
            </a:r>
            <a:r>
              <a:rPr lang="zh-CN" altLang="en-US" sz="1800" b="1" i="0" u="none" strike="noStrike" baseline="0" dirty="0">
                <a:latin typeface="SourceHanSansSC-Bold"/>
              </a:rPr>
              <a:t>。</a:t>
            </a:r>
            <a:r>
              <a:rPr lang="zh-CN" altLang="en-US" sz="1800" b="0" i="0" u="none" strike="noStrike" baseline="0" dirty="0">
                <a:latin typeface="SourceHanSansSC-Regular"/>
              </a:rPr>
              <a:t>写作思路连贯，以及在整个书面文件中使用诸如“引言”和“小结”的小标题。</a:t>
            </a:r>
          </a:p>
          <a:p>
            <a:pPr algn="l"/>
            <a:r>
              <a:rPr lang="zh-CN" altLang="en-US" sz="1800" b="1" i="0" u="sng" strike="noStrike" kern="1200" baseline="0" dirty="0">
                <a:solidFill>
                  <a:schemeClr val="tx1"/>
                </a:solidFill>
                <a:latin typeface="SourceHanSansSC-Bold"/>
                <a:ea typeface="+mn-ea"/>
                <a:cs typeface="+mn-cs"/>
              </a:rPr>
              <a:t>受控的语句和想法承接</a:t>
            </a:r>
            <a:r>
              <a:rPr lang="zh-CN" altLang="en-US" sz="1800" b="0" i="0" u="none" strike="noStrike" baseline="0" dirty="0">
                <a:latin typeface="SourceHanSansSC-Regular"/>
              </a:rPr>
              <a:t>。可能需要使用图表或小结来控制语句和想法的承接。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144631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3747110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076433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我们以前学过的访谈也是一种沟通， 麦肯锡访谈 也是一种高效的沟通，不同的是不需要达成共识或协议，不需要说服对方</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30520768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乔哈里视窗</a:t>
            </a:r>
            <a:endParaRPr lang="en-US" altLang="zh-CN" dirty="0"/>
          </a:p>
          <a:p>
            <a:r>
              <a:rPr lang="zh-CN" altLang="en-US" b="0" i="0" dirty="0">
                <a:solidFill>
                  <a:srgbClr val="333333"/>
                </a:solidFill>
                <a:effectLst/>
                <a:latin typeface="Helvetica Neue"/>
              </a:rPr>
              <a:t>美国心理学家</a:t>
            </a:r>
            <a:r>
              <a:rPr lang="en-US" altLang="zh-CN" b="0" i="0" dirty="0" err="1">
                <a:solidFill>
                  <a:srgbClr val="333333"/>
                </a:solidFill>
                <a:effectLst/>
                <a:latin typeface="Helvetica Neue"/>
              </a:rPr>
              <a:t>JoeLufthe</a:t>
            </a:r>
            <a:r>
              <a:rPr lang="zh-CN" altLang="en-US" b="0" i="0" dirty="0">
                <a:solidFill>
                  <a:srgbClr val="333333"/>
                </a:solidFill>
                <a:effectLst/>
                <a:latin typeface="Helvetica Neue"/>
              </a:rPr>
              <a:t>和</a:t>
            </a:r>
            <a:r>
              <a:rPr lang="en-US" altLang="zh-CN" b="0" i="0" dirty="0" err="1">
                <a:solidFill>
                  <a:srgbClr val="333333"/>
                </a:solidFill>
                <a:effectLst/>
                <a:latin typeface="Helvetica Neue"/>
              </a:rPr>
              <a:t>HarryIngam</a:t>
            </a:r>
            <a:r>
              <a:rPr lang="en-US" altLang="zh-CN" b="0" i="0" dirty="0">
                <a:solidFill>
                  <a:srgbClr val="333333"/>
                </a:solidFill>
                <a:effectLst/>
                <a:latin typeface="Helvetica Neue"/>
              </a:rPr>
              <a:t>(1969)</a:t>
            </a:r>
            <a:r>
              <a:rPr lang="zh-CN" altLang="en-US" b="0" i="0" dirty="0">
                <a:solidFill>
                  <a:srgbClr val="333333"/>
                </a:solidFill>
                <a:effectLst/>
                <a:latin typeface="Helvetica Neue"/>
              </a:rPr>
              <a:t>从自我概念的角度对人际沟通进行了深入的研究，并根据：“自己知道</a:t>
            </a:r>
            <a:r>
              <a:rPr lang="en-US" altLang="zh-CN" b="0" i="0" dirty="0">
                <a:solidFill>
                  <a:srgbClr val="333333"/>
                </a:solidFill>
                <a:effectLst/>
                <a:latin typeface="Helvetica Neue"/>
              </a:rPr>
              <a:t>——</a:t>
            </a:r>
            <a:r>
              <a:rPr lang="zh-CN" altLang="en-US" b="0" i="0" dirty="0">
                <a:solidFill>
                  <a:srgbClr val="333333"/>
                </a:solidFill>
                <a:effectLst/>
                <a:latin typeface="Helvetica Neue"/>
              </a:rPr>
              <a:t>自己不知”和“他人知道</a:t>
            </a:r>
            <a:r>
              <a:rPr lang="en-US" altLang="zh-CN" b="0" i="0" dirty="0">
                <a:solidFill>
                  <a:srgbClr val="333333"/>
                </a:solidFill>
                <a:effectLst/>
                <a:latin typeface="Helvetica Neue"/>
              </a:rPr>
              <a:t>——</a:t>
            </a:r>
            <a:r>
              <a:rPr lang="zh-CN" altLang="en-US" b="0" i="0" dirty="0">
                <a:solidFill>
                  <a:srgbClr val="333333"/>
                </a:solidFill>
                <a:effectLst/>
                <a:latin typeface="Helvetica Neue"/>
              </a:rPr>
              <a:t>他人不知”这两个维度，依据人际传播双方对传播内容的熟悉程度，将人际沟通信息划分为四个区：开放区、</a:t>
            </a:r>
            <a:r>
              <a:rPr lang="zh-CN" altLang="en-US" b="0" i="0" u="none" strike="noStrike" dirty="0">
                <a:solidFill>
                  <a:srgbClr val="136EC2"/>
                </a:solidFill>
                <a:effectLst/>
                <a:latin typeface="Helvetica Neue"/>
                <a:hlinkClick r:id="rId3"/>
              </a:rPr>
              <a:t>盲目</a:t>
            </a:r>
            <a:r>
              <a:rPr lang="zh-CN" altLang="en-US" b="0" i="0" dirty="0">
                <a:solidFill>
                  <a:srgbClr val="333333"/>
                </a:solidFill>
                <a:effectLst/>
                <a:latin typeface="Helvetica Neue"/>
              </a:rPr>
              <a:t>区、隐秘区（又称隐藏区）和未知区（也称封闭区），这个</a:t>
            </a:r>
            <a:r>
              <a:rPr lang="zh-CN" altLang="en-US" b="0" i="0" u="none" strike="noStrike" dirty="0">
                <a:solidFill>
                  <a:srgbClr val="136EC2"/>
                </a:solidFill>
                <a:effectLst/>
                <a:latin typeface="Helvetica Neue"/>
                <a:hlinkClick r:id="rId4"/>
              </a:rPr>
              <a:t>理论</a:t>
            </a:r>
            <a:r>
              <a:rPr lang="zh-CN" altLang="en-US" b="0" i="0" dirty="0">
                <a:solidFill>
                  <a:srgbClr val="333333"/>
                </a:solidFill>
                <a:effectLst/>
                <a:latin typeface="Helvetica Neue"/>
              </a:rPr>
              <a:t>称为“乔哈里视窗”。</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开放区</a:t>
            </a:r>
          </a:p>
          <a:p>
            <a:pPr algn="l"/>
            <a:r>
              <a:rPr lang="zh-CN" altLang="en-US" b="0" i="0" dirty="0">
                <a:solidFill>
                  <a:srgbClr val="333333"/>
                </a:solidFill>
                <a:effectLst/>
                <a:latin typeface="Helvetica Neue"/>
              </a:rPr>
              <a:t>是自己知道、别人也知道的信息。例如你的家庭情况、姓名、部分经历和爱好等。开放区具有相对性，有些事情对于某人来说是公开的信息，而对于另一些人可能会是隐秘的事情。在实际工作中的人际交往中，共同的开放区越多，沟通起来也就越便利，越不易产生误会。</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endParaRPr lang="zh-CN" altLang="en-US"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盲目区</a:t>
            </a:r>
          </a:p>
          <a:p>
            <a:pPr algn="l"/>
            <a:r>
              <a:rPr lang="zh-CN" altLang="en-US" b="0" i="0" dirty="0">
                <a:solidFill>
                  <a:srgbClr val="333333"/>
                </a:solidFill>
                <a:effectLst/>
                <a:latin typeface="Helvetica Neue"/>
              </a:rPr>
              <a:t>是自己不知道、别人却可能知道的盲点。例如性格上的弱点或者坏的</a:t>
            </a:r>
            <a:r>
              <a:rPr lang="zh-CN" altLang="en-US" b="0" i="0" u="none" strike="noStrike" dirty="0">
                <a:solidFill>
                  <a:srgbClr val="136EC2"/>
                </a:solidFill>
                <a:effectLst/>
                <a:latin typeface="Helvetica Neue"/>
                <a:hlinkClick r:id="rId5"/>
              </a:rPr>
              <a:t>习惯</a:t>
            </a:r>
            <a:r>
              <a:rPr lang="zh-CN" altLang="en-US" b="0" i="0" dirty="0">
                <a:solidFill>
                  <a:srgbClr val="333333"/>
                </a:solidFill>
                <a:effectLst/>
                <a:latin typeface="Helvetica Neue"/>
              </a:rPr>
              <a:t>，你的某些处事方式，别人对你的一些感受，等等。反思现代社会，为什么那些地位和权势越高的人，越难听到关于自己的真话？就是因为围绕在这些人周围的往往都是一些阿谀奉承的人和话，沟通单向而闭塞，就如同何教授课堂上的几何图形信息传递一样。一旦当事人没有博大、开放的胸怀容纳一些敢于对自己讲真话的朋友或善于直言的下属，他的盲目区就有可能越来越大。因此，作为党员领导干部，只有不断地缩小自己的盲目区，才是走向</a:t>
            </a:r>
            <a:r>
              <a:rPr lang="zh-CN" altLang="en-US" b="0" i="0" u="none" strike="noStrike" dirty="0">
                <a:solidFill>
                  <a:srgbClr val="136EC2"/>
                </a:solidFill>
                <a:effectLst/>
                <a:latin typeface="Helvetica Neue"/>
                <a:hlinkClick r:id="rId6"/>
              </a:rPr>
              <a:t>成功</a:t>
            </a:r>
            <a:r>
              <a:rPr lang="zh-CN" altLang="en-US" b="0" i="0" dirty="0">
                <a:solidFill>
                  <a:srgbClr val="333333"/>
                </a:solidFill>
                <a:effectLst/>
                <a:latin typeface="Helvetica Neue"/>
              </a:rPr>
              <a:t>的必由之路。</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endParaRPr lang="zh-CN" altLang="en-US" b="0" i="0" dirty="0">
              <a:solidFill>
                <a:srgbClr val="333333"/>
              </a:solidFill>
              <a:effectLst/>
              <a:latin typeface="Helvetica Neue"/>
            </a:endParaRP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隐藏区</a:t>
            </a:r>
          </a:p>
          <a:p>
            <a:pPr algn="l"/>
            <a:r>
              <a:rPr lang="zh-CN" altLang="en-US" b="0" i="0" dirty="0">
                <a:solidFill>
                  <a:srgbClr val="333333"/>
                </a:solidFill>
                <a:effectLst/>
                <a:latin typeface="Helvetica Neue"/>
              </a:rPr>
              <a:t>是自己知道、别人却可能不知道的秘密。例如你的某些经历、希望、心愿、阴谋、秘密，以及好恶等。一个真诚的人也需要隐藏区，完全没有隐藏区的人是心智不成熟的。但在有效沟通中，适度地打开隐藏区，是增加沟通成功率的一条捷径。</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r>
              <a:rPr lang="zh-CN" altLang="en-US" b="0" i="0" u="none" strike="noStrike" dirty="0">
                <a:solidFill>
                  <a:srgbClr val="136EC2"/>
                </a:solidFill>
                <a:effectLst/>
                <a:latin typeface="Helvetica Neue"/>
              </a:rPr>
              <a:t> </a:t>
            </a:r>
            <a:r>
              <a:rPr lang="zh-CN" altLang="en-US" b="0" i="0" dirty="0">
                <a:solidFill>
                  <a:srgbClr val="333333"/>
                </a:solidFill>
                <a:effectLst/>
                <a:latin typeface="Helvetica Neue"/>
              </a:rPr>
              <a:t> 在某些情况下你的真实性别，性取向等等（</a:t>
            </a:r>
            <a:r>
              <a:rPr lang="en-US" altLang="zh-CN" b="0" i="0" dirty="0">
                <a:solidFill>
                  <a:srgbClr val="333333"/>
                </a:solidFill>
                <a:effectLst/>
                <a:latin typeface="Helvetica Neue"/>
              </a:rPr>
              <a:t>LGBT</a:t>
            </a:r>
            <a:r>
              <a:rPr lang="zh-CN" altLang="en-US" b="0" i="0" dirty="0">
                <a:solidFill>
                  <a:srgbClr val="333333"/>
                </a:solidFill>
                <a:effectLst/>
                <a:latin typeface="Helvetica Neue"/>
              </a:rPr>
              <a:t>范畴）也属于隐藏区。</a:t>
            </a:r>
          </a:p>
          <a:p>
            <a:pPr algn="l"/>
            <a:r>
              <a:rPr lang="zh-CN" altLang="en-US" b="1" i="0" dirty="0">
                <a:solidFill>
                  <a:srgbClr val="333333"/>
                </a:solidFill>
                <a:effectLst/>
                <a:latin typeface="Microsoft YaHei" panose="020B0503020204020204" pitchFamily="34" charset="-122"/>
                <a:ea typeface="Microsoft YaHei" panose="020B0503020204020204" pitchFamily="34" charset="-122"/>
              </a:rPr>
              <a:t>未知区</a:t>
            </a:r>
          </a:p>
          <a:p>
            <a:pPr algn="l"/>
            <a:r>
              <a:rPr lang="zh-CN" altLang="en-US" b="0" i="0" dirty="0">
                <a:solidFill>
                  <a:srgbClr val="333333"/>
                </a:solidFill>
                <a:effectLst/>
                <a:latin typeface="Helvetica Neue"/>
              </a:rPr>
              <a:t>是自己和别人都不知道的信息。例如某人自己身上隐藏的疾病。未知区是尚待挖掘的黑洞，也许通过某些偶然或必然的机会，得到了别人较为深入的了解，自己对自我的认识也不断的深入，人的某些潜能就会得到较好的发挥。</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[1]</a:t>
            </a:r>
            <a:endParaRPr lang="zh-CN" altLang="en-US" b="0" i="0" dirty="0">
              <a:solidFill>
                <a:srgbClr val="333333"/>
              </a:solidFill>
              <a:effectLst/>
              <a:latin typeface="Helvetica Neue"/>
            </a:endParaRPr>
          </a:p>
          <a:p>
            <a:endParaRPr lang="en-US" altLang="zh-CN" dirty="0"/>
          </a:p>
          <a:p>
            <a:pPr algn="l"/>
            <a:r>
              <a:rPr lang="zh-CN" altLang="en-US" b="1" i="1" dirty="0">
                <a:solidFill>
                  <a:srgbClr val="000000"/>
                </a:solidFill>
                <a:effectLst/>
                <a:latin typeface="Microsoft YaHei" panose="020B0503020204020204" pitchFamily="34" charset="-122"/>
                <a:ea typeface="Microsoft YaHei" panose="020B0503020204020204" pitchFamily="34" charset="-122"/>
              </a:rPr>
              <a:t>运用技巧</a:t>
            </a:r>
          </a:p>
          <a:p>
            <a:pPr algn="l"/>
            <a:r>
              <a:rPr lang="zh-CN" altLang="en-US" b="1" i="0" dirty="0">
                <a:solidFill>
                  <a:srgbClr val="333333"/>
                </a:solidFill>
                <a:effectLst/>
                <a:latin typeface="Helvetica Neue"/>
              </a:rPr>
              <a:t>在公开区的运用技巧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他的信息他知道，别人也知道，这会给人什么样的感觉呢？善于交往的人、非常随和的人。这样的人容易赢得我们的信任，容易和他进行合作性的沟通。要想使你的公开区变大，就要多说，多询问，询问别人对你的意见和反馈。</a:t>
            </a:r>
          </a:p>
          <a:p>
            <a:pPr algn="l"/>
            <a:r>
              <a:rPr lang="zh-CN" altLang="en-US" b="0" i="0" dirty="0">
                <a:solidFill>
                  <a:srgbClr val="333333"/>
                </a:solidFill>
                <a:effectLst/>
                <a:latin typeface="Helvetica Neue"/>
              </a:rPr>
              <a:t>这从另一个侧面告诉我们，多说、多问不仅是一种沟通技巧，同时也能赢得别人的信任。如果想赢得别人的信任，就要多说，同时要多提问，寻求相互的了解和信任，因为信任是沟通的基础，有了基础，就不难建设高楼大厦。</a:t>
            </a:r>
          </a:p>
          <a:p>
            <a:pPr algn="l"/>
            <a:r>
              <a:rPr lang="zh-CN" altLang="en-US" b="1" i="0" dirty="0">
                <a:solidFill>
                  <a:srgbClr val="333333"/>
                </a:solidFill>
                <a:effectLst/>
                <a:latin typeface="Helvetica Neue"/>
              </a:rPr>
              <a:t>在盲目区的运用技巧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如果一个人的盲区最大，会是一个什么样的人？是一个不拘小节、夸夸其谈的人。他有很多不足之处，别人看的见，他却看不见。造成盲区太大的原因就是他说的太多，问的太少，他不去询问别人对他的反馈。所以在沟通中，你不仅要多说而且要多问，避免盲区过大的情况发生。</a:t>
            </a:r>
          </a:p>
          <a:p>
            <a:pPr algn="l"/>
            <a:r>
              <a:rPr lang="zh-CN" altLang="en-US" b="1" i="0" dirty="0">
                <a:solidFill>
                  <a:srgbClr val="333333"/>
                </a:solidFill>
                <a:effectLst/>
                <a:latin typeface="Helvetica Neue"/>
              </a:rPr>
              <a:t>在隐藏区的运用技巧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如果一个人的隐藏区最大，那么关于他的信息，别人都不知道，只有他一个人知道。这是一个内心封闭的人或者说是个很神秘的人。这样的人我们对他的信任度是很低的。如果与这样的人沟通，那么合作的态度就会少一些。因为他很神秘、很封闭，往往会引起我们的防范心理。</a:t>
            </a:r>
          </a:p>
          <a:p>
            <a:pPr algn="l"/>
            <a:r>
              <a:rPr lang="zh-CN" altLang="en-US" b="0" i="0" dirty="0">
                <a:solidFill>
                  <a:srgbClr val="333333"/>
                </a:solidFill>
                <a:effectLst/>
                <a:latin typeface="Helvetica Neue"/>
              </a:rPr>
              <a:t>为什么造成他的隐藏区最大？是因为他问的多，说的少。他不擅长于主动告诉别人。</a:t>
            </a:r>
          </a:p>
          <a:p>
            <a:pPr algn="l"/>
            <a:r>
              <a:rPr lang="zh-CN" altLang="en-US" b="1" i="0" dirty="0">
                <a:solidFill>
                  <a:srgbClr val="333333"/>
                </a:solidFill>
                <a:effectLst/>
                <a:latin typeface="Helvetica Neue"/>
              </a:rPr>
              <a:t>在未知区的运用技巧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未知区大，就是关于他的信息，他和别人都不知道。这样的人，他不问别人对自己的了解，也不主动向别人介绍自己。封闭使他失去很多机会，能够胜任的工作可能就从身边悄悄溜走了。</a:t>
            </a:r>
          </a:p>
          <a:p>
            <a:pPr algn="l"/>
            <a:r>
              <a:rPr lang="zh-CN" altLang="en-US" b="0" i="0" dirty="0">
                <a:solidFill>
                  <a:srgbClr val="333333"/>
                </a:solidFill>
                <a:effectLst/>
                <a:latin typeface="Helvetica Neue"/>
              </a:rPr>
              <a:t>所以每一个人要尽可能缩小自己的未知区，主动的通过别人了解自己，主动的告诉别人自己能够做什么。</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1909949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A</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2743117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3544671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1259064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CD0BB85-944D-4B6B-BB22-4009735E66B4}"/>
              </a:ext>
            </a:extLst>
          </p:cNvPr>
          <p:cNvSpPr>
            <a:spLocks noGrp="1" noChangeArrowheads="1"/>
          </p:cNvSpPr>
          <p:nvPr>
            <p:ph type="sldNum" sz="quarter" idx="5"/>
          </p:nvPr>
        </p:nvSpPr>
        <p:spPr>
          <a:ln/>
        </p:spPr>
        <p:txBody>
          <a:bodyPr/>
          <a:lstStyle/>
          <a:p>
            <a:fld id="{566358F5-8E3A-484D-9EAE-EB72CC08E13B}" type="slidenum">
              <a:rPr lang="en-US" altLang="zh-CN"/>
              <a:pPr/>
              <a:t>20</a:t>
            </a:fld>
            <a:endParaRPr lang="en-US" altLang="zh-CN"/>
          </a:p>
        </p:txBody>
      </p:sp>
      <p:sp>
        <p:nvSpPr>
          <p:cNvPr id="571394" name="Rectangle 2">
            <a:extLst>
              <a:ext uri="{FF2B5EF4-FFF2-40B4-BE49-F238E27FC236}">
                <a16:creationId xmlns:a16="http://schemas.microsoft.com/office/drawing/2014/main" id="{B4D9198A-D59F-469D-B62F-80EF7F95075D}"/>
              </a:ext>
            </a:extLst>
          </p:cNvPr>
          <p:cNvSpPr>
            <a:spLocks noGrp="1" noRot="1" noChangeAspect="1" noChangeArrowheads="1" noTextEdit="1"/>
          </p:cNvSpPr>
          <p:nvPr>
            <p:ph type="sldImg"/>
          </p:nvPr>
        </p:nvSpPr>
        <p:spPr>
          <a:xfrm>
            <a:off x="479425" y="1279525"/>
            <a:ext cx="6140450" cy="3454400"/>
          </a:xfrm>
          <a:ln/>
        </p:spPr>
      </p:sp>
      <p:sp>
        <p:nvSpPr>
          <p:cNvPr id="571395" name="Rectangle 3">
            <a:extLst>
              <a:ext uri="{FF2B5EF4-FFF2-40B4-BE49-F238E27FC236}">
                <a16:creationId xmlns:a16="http://schemas.microsoft.com/office/drawing/2014/main" id="{5A2CC66E-CBF9-4585-80C8-656566ED55EA}"/>
              </a:ext>
            </a:extLst>
          </p:cNvPr>
          <p:cNvSpPr>
            <a:spLocks noGrp="1" noChangeArrowheads="1"/>
          </p:cNvSpPr>
          <p:nvPr>
            <p:ph type="body" idx="1"/>
          </p:nvPr>
        </p:nvSpPr>
        <p:spPr>
          <a:xfrm>
            <a:off x="404813" y="4343400"/>
            <a:ext cx="6192837" cy="4476750"/>
          </a:xfrm>
        </p:spPr>
        <p:txBody>
          <a:bodyPr/>
          <a:lstStyle/>
          <a:p>
            <a:pPr>
              <a:lnSpc>
                <a:spcPct val="90000"/>
              </a:lnSpc>
            </a:pPr>
            <a:r>
              <a:rPr lang="zh-CN" altLang="en-US" sz="1000" dirty="0"/>
              <a:t>沟通有助于改进个人及项目组成员所作出的决策。</a:t>
            </a:r>
          </a:p>
          <a:p>
            <a:pPr>
              <a:lnSpc>
                <a:spcPct val="90000"/>
              </a:lnSpc>
            </a:pPr>
            <a:r>
              <a:rPr lang="zh-CN" altLang="en-US" sz="1000" dirty="0"/>
              <a:t>沟通能够促使项目组成员协调有效地工作。</a:t>
            </a:r>
          </a:p>
          <a:p>
            <a:pPr>
              <a:lnSpc>
                <a:spcPct val="90000"/>
              </a:lnSpc>
            </a:pPr>
            <a:r>
              <a:rPr lang="zh-CN" altLang="en-US" sz="1000" dirty="0"/>
              <a:t>沟通有利于领导者激励下属，建立良好的人际关系和组织氛围，提高士气。</a:t>
            </a:r>
          </a:p>
          <a:p>
            <a:pPr>
              <a:lnSpc>
                <a:spcPct val="90000"/>
              </a:lnSpc>
            </a:pPr>
            <a:endParaRPr lang="zh-CN" altLang="en-US" sz="1000" dirty="0"/>
          </a:p>
          <a:p>
            <a:pPr>
              <a:lnSpc>
                <a:spcPct val="90000"/>
              </a:lnSpc>
            </a:pPr>
            <a:r>
              <a:rPr lang="en-US" altLang="zh-CN" sz="1000" dirty="0"/>
              <a:t>1</a:t>
            </a:r>
            <a:r>
              <a:rPr lang="zh-CN" altLang="en-US" sz="1000" dirty="0"/>
              <a:t>）在</a:t>
            </a:r>
            <a:r>
              <a:rPr lang="en-US" altLang="zh-CN" sz="1000" dirty="0"/>
              <a:t>IT</a:t>
            </a:r>
            <a:r>
              <a:rPr lang="zh-CN" altLang="en-US" sz="1000" dirty="0"/>
              <a:t>项目中，许多专家都认为：对于成功，</a:t>
            </a:r>
            <a:r>
              <a:rPr lang="zh-CN" altLang="en-US" sz="1000" b="1" dirty="0"/>
              <a:t>最大的威胁就是沟通的失败</a:t>
            </a:r>
            <a:r>
              <a:rPr lang="zh-CN" altLang="en-US" sz="1000" dirty="0"/>
              <a:t>。</a:t>
            </a:r>
          </a:p>
          <a:p>
            <a:pPr>
              <a:lnSpc>
                <a:spcPct val="90000"/>
              </a:lnSpc>
            </a:pPr>
            <a:r>
              <a:rPr lang="zh-CN" altLang="en-US" sz="1000" dirty="0"/>
              <a:t>与</a:t>
            </a:r>
            <a:r>
              <a:rPr lang="en-US" altLang="zh-CN" sz="1000" dirty="0"/>
              <a:t>IT</a:t>
            </a:r>
            <a:r>
              <a:rPr lang="zh-CN" altLang="en-US" sz="1000" dirty="0"/>
              <a:t>项目成功的三个主要因素分别为：</a:t>
            </a:r>
            <a:r>
              <a:rPr lang="zh-CN" altLang="en-US" sz="1000" b="1" dirty="0"/>
              <a:t>用户的积极参与，明确的需求表达，管理层的大力支持</a:t>
            </a:r>
            <a:r>
              <a:rPr lang="zh-CN" altLang="en-US" sz="1000" dirty="0"/>
              <a:t>。而这三要素全部依赖于良好的沟通技巧，特别是非信息技术人员。</a:t>
            </a:r>
          </a:p>
          <a:p>
            <a:pPr>
              <a:lnSpc>
                <a:spcPct val="90000"/>
              </a:lnSpc>
            </a:pPr>
            <a:r>
              <a:rPr lang="en-US" altLang="zh-CN" sz="1000" dirty="0"/>
              <a:t>2</a:t>
            </a:r>
            <a:r>
              <a:rPr lang="zh-CN" altLang="en-US" sz="1000" dirty="0"/>
              <a:t>）我们的文化通常把计算机专业人员描绘成呆子，他们喜欢隐藏在黑暗的角落里摆弄计算机。当计算机专业人员与非计算机专业人员进行沟通时，就好象他们在与另外一个星球上的人交谈一样。信息技术领域在不断变化，这些变化产生了大量的技术行话，尽管使用计算机的人越来越多，但是用户与开发商之间的差距随着技术进步也越来越大。</a:t>
            </a:r>
          </a:p>
          <a:p>
            <a:pPr>
              <a:lnSpc>
                <a:spcPct val="90000"/>
              </a:lnSpc>
            </a:pPr>
            <a:r>
              <a:rPr lang="en-US" altLang="zh-CN" sz="1000" dirty="0"/>
              <a:t>3</a:t>
            </a:r>
            <a:r>
              <a:rPr lang="zh-CN" altLang="en-US" sz="1000" dirty="0"/>
              <a:t>）结合这个问题来看，我们的信息技术教育体制注重培养学生的技术技能，而不注重培养他们的沟通与社交能力。大多数与信息技术专业相关的学位课都有许多技术要求，但很少有沟通（听，说，写），心理学，社会学和人文科学方面的课程。人们常常认为学这些“软技能”是很容易的，但是，它们也是技能，我们同样需要学习和发展这些技能。</a:t>
            </a:r>
          </a:p>
          <a:p>
            <a:pPr>
              <a:lnSpc>
                <a:spcPct val="90000"/>
              </a:lnSpc>
            </a:pPr>
            <a:r>
              <a:rPr lang="zh-CN" altLang="en-US" sz="1000" dirty="0"/>
              <a:t>许多研究表明，这些软技能正是信息技术专业人员最需要的。当你在运做一个</a:t>
            </a:r>
            <a:r>
              <a:rPr lang="en-US" altLang="zh-CN" sz="1000" dirty="0"/>
              <a:t>IT</a:t>
            </a:r>
            <a:r>
              <a:rPr lang="zh-CN" altLang="en-US" sz="1000" dirty="0"/>
              <a:t>项目的时候，不可能完全把技术技能和这些软技能分开。为了使项目成功，项目的每个成员都需要这两类技能，而且这两类技能都应该通过正规教育和在职培训不断提高。</a:t>
            </a:r>
          </a:p>
          <a:p>
            <a:pPr>
              <a:lnSpc>
                <a:spcPct val="90000"/>
              </a:lnSpc>
            </a:pPr>
            <a:r>
              <a:rPr lang="en-US" altLang="zh-CN" sz="1000" dirty="0"/>
              <a:t>4</a:t>
            </a:r>
            <a:r>
              <a:rPr lang="zh-CN" altLang="en-US" sz="1000" dirty="0"/>
              <a:t>）一篇发表在</a:t>
            </a:r>
            <a:r>
              <a:rPr lang="en-US" altLang="zh-CN" sz="1000" dirty="0"/>
              <a:t>《</a:t>
            </a:r>
            <a:r>
              <a:rPr lang="zh-CN" altLang="en-US" sz="1000" dirty="0"/>
              <a:t>信息系统教育</a:t>
            </a:r>
            <a:r>
              <a:rPr lang="en-US" altLang="zh-CN" sz="1000" dirty="0"/>
              <a:t>》</a:t>
            </a:r>
            <a:r>
              <a:rPr lang="zh-CN" altLang="en-US" sz="1000" dirty="0"/>
              <a:t>杂志上的文章，就信息技术专业人员沟通技能的重要性表述了如下结论：</a:t>
            </a:r>
            <a:r>
              <a:rPr lang="en-US" altLang="zh-CN" sz="1000" dirty="0"/>
              <a:t>1-IT</a:t>
            </a:r>
            <a:r>
              <a:rPr lang="zh-CN" altLang="en-US" sz="1000" dirty="0"/>
              <a:t>人员要参加大量的口头沟通活动，非正式的，持续时间短，人数不多。</a:t>
            </a:r>
            <a:r>
              <a:rPr lang="en-US" altLang="zh-CN" sz="1000" dirty="0"/>
              <a:t>2-IT</a:t>
            </a:r>
            <a:r>
              <a:rPr lang="zh-CN" altLang="en-US" sz="1000" dirty="0"/>
              <a:t>项目中绝大部分的沟通是口头的，但有时辅助以笔记，图表和计算机输出。</a:t>
            </a:r>
            <a:r>
              <a:rPr lang="en-US" altLang="zh-CN" sz="1000" dirty="0"/>
              <a:t>3- </a:t>
            </a:r>
            <a:r>
              <a:rPr lang="zh-CN" altLang="en-US" sz="1000" dirty="0"/>
              <a:t>人们希望在谈话中仔细听，对问题作出恰当的反映。</a:t>
            </a:r>
            <a:r>
              <a:rPr lang="en-US" altLang="zh-CN" sz="1000" dirty="0"/>
              <a:t>4-</a:t>
            </a:r>
            <a:r>
              <a:rPr lang="zh-CN" altLang="en-US" sz="1000" dirty="0"/>
              <a:t>所有</a:t>
            </a:r>
            <a:r>
              <a:rPr lang="en-US" altLang="zh-CN" sz="1000" dirty="0"/>
              <a:t>IT</a:t>
            </a:r>
            <a:r>
              <a:rPr lang="zh-CN" altLang="en-US" sz="1000" dirty="0"/>
              <a:t>人员必须意识到，他们有时不得不参加某些形式的非正式的公开讲演。</a:t>
            </a:r>
            <a:r>
              <a:rPr lang="en-US" altLang="zh-CN" sz="1000" dirty="0"/>
              <a:t>5-IT</a:t>
            </a:r>
            <a:r>
              <a:rPr lang="zh-CN" altLang="en-US" sz="1000" dirty="0"/>
              <a:t>人员为了在现在的职位上获得成功，必须能够进行有效的沟通。</a:t>
            </a:r>
            <a:r>
              <a:rPr lang="en-US" altLang="zh-CN" sz="1000" dirty="0">
                <a:sym typeface="Wingdings" panose="05000000000000000000" pitchFamily="2" charset="2"/>
              </a:rPr>
              <a:t> </a:t>
            </a:r>
            <a:r>
              <a:rPr lang="zh-CN" altLang="en-US" sz="1000" dirty="0"/>
              <a:t>被调查者都有从低职位向高职位提升的经历，他们认为对于他们的职位提升更重要的是</a:t>
            </a:r>
            <a:r>
              <a:rPr lang="zh-CN" altLang="en-US" sz="1000" b="1" dirty="0"/>
              <a:t>口头表达能力</a:t>
            </a:r>
            <a:r>
              <a:rPr lang="zh-CN" altLang="en-US" sz="1000" dirty="0"/>
              <a:t>，而不是当前的工作。口头沟通能力似乎是职位提升的关键因素。</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just"/>
            <a:r>
              <a:rPr lang="zh-CN" altLang="en-US" dirty="0"/>
              <a:t>项目过程中很多问题都是由于沟通引起的，沟通途径不对导致信息没有到达目的地。“心有灵犀一点通”可能只是一种文学描绘出的美妙境界。</a:t>
            </a:r>
            <a:endParaRPr lang="en-US" altLang="zh-CN" dirty="0"/>
          </a:p>
          <a:p>
            <a:pPr algn="just"/>
            <a:r>
              <a:rPr lang="zh-CN" altLang="en-US" dirty="0"/>
              <a:t>在实际生活中，文化背景、工作背景、技术背景可以造成人们对同一事件理解方式偏差很大。</a:t>
            </a:r>
          </a:p>
          <a:p>
            <a:pPr algn="just"/>
            <a:r>
              <a:rPr lang="zh-CN" altLang="en-US" dirty="0"/>
              <a:t>   在项目中，沟通更是不可忽视。项目经理最重要的工作之一就是沟通，</a:t>
            </a:r>
            <a:r>
              <a:rPr lang="zh-CN" altLang="en-US" b="1" dirty="0"/>
              <a:t>通常花在这方面的时间应该占到全部工作的</a:t>
            </a:r>
            <a:r>
              <a:rPr lang="en-US" altLang="zh-CN" b="1" dirty="0"/>
              <a:t>70%</a:t>
            </a:r>
            <a:r>
              <a:rPr lang="zh-CN" altLang="en-US" b="1" dirty="0"/>
              <a:t>～</a:t>
            </a:r>
            <a:r>
              <a:rPr lang="en-US" altLang="zh-CN" b="1" dirty="0"/>
              <a:t>90%</a:t>
            </a:r>
            <a:r>
              <a:rPr lang="zh-CN" altLang="en-US" dirty="0"/>
              <a:t>。良好的交流才能获取足够的信息、发现潜在的问题、控制好项目的各个方面。 </a:t>
            </a:r>
          </a:p>
          <a:p>
            <a:r>
              <a:rPr lang="zh-CN" altLang="en-US" dirty="0"/>
              <a:t>   在</a:t>
            </a:r>
            <a:r>
              <a:rPr lang="en-US" altLang="zh-CN" dirty="0"/>
              <a:t>IT</a:t>
            </a:r>
            <a:r>
              <a:rPr lang="zh-CN" altLang="en-US" dirty="0"/>
              <a:t>项目中，要做到一个项目迅速成功的完成，并能达到或者超过预先设计好的效果，是很不容易的，在完成所下达的任务当中，设计好的蓝图跟具体的实诸于实践，既要有规定统一的制定计划，还要有一套适时的监控执行方法，但同时又不能扼杀了整个项目开发中的创造性和自主性，这样，就必须有一个灵活而且容易使用的沟通方法的过程，从而使一些的重要的项目信息时时最新，做到实时同步。</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288529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不同场景不同角色</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解释者</a:t>
            </a:r>
            <a:r>
              <a:rPr lang="en-US" altLang="zh-CN" sz="1200" dirty="0"/>
              <a:t>(interpreter):</a:t>
            </a:r>
            <a:r>
              <a:rPr lang="zh-CN" altLang="en-US" sz="1200" dirty="0"/>
              <a:t>澄清问题或概念，避免产生曲解</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709594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a:extLst>
              <a:ext uri="{FF2B5EF4-FFF2-40B4-BE49-F238E27FC236}">
                <a16:creationId xmlns:a16="http://schemas.microsoft.com/office/drawing/2014/main" id="{56FBDC13-51F5-4A5C-A897-BA986B27B906}"/>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43" name="备注占位符 2">
            <a:extLst>
              <a:ext uri="{FF2B5EF4-FFF2-40B4-BE49-F238E27FC236}">
                <a16:creationId xmlns:a16="http://schemas.microsoft.com/office/drawing/2014/main" id="{A2A3596C-787A-43FC-8187-6F57A6388F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66244" name="灯片编号占位符 3">
            <a:extLst>
              <a:ext uri="{FF2B5EF4-FFF2-40B4-BE49-F238E27FC236}">
                <a16:creationId xmlns:a16="http://schemas.microsoft.com/office/drawing/2014/main" id="{40A78519-1F56-43E1-9DF1-FFB5EC923E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EEA0B6-68E1-4DD6-9095-DB6ADE1EF2C6}"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528711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需在项目生命周期的早期，针对项目相关方多样性的信息需求，制定有效的沟通管理计划。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应该定期审核沟通管理计划，并进行必要的修改，例如在相关方社区发生变化或每个新项目阶段开始时。</a:t>
            </a:r>
          </a:p>
          <a:p>
            <a:pPr algn="l"/>
            <a:r>
              <a:rPr lang="zh-CN" altLang="en-US" sz="1800" b="0" i="0" u="none" strike="noStrike" baseline="0" dirty="0">
                <a:latin typeface="SourceHanSansSC-Regular"/>
              </a:rPr>
              <a:t>在大多数项目中，都需要很早就开展沟通规划工作，例如在识别相关方及制定项目管理计划期间。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520727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10.1.1 </a:t>
            </a:r>
            <a:r>
              <a:rPr lang="zh-CN" altLang="en-US" sz="1200" b="1" i="0" u="none" strike="noStrike" baseline="0" dirty="0">
                <a:latin typeface="SourceHanSansSC-Bold"/>
              </a:rPr>
              <a:t>规划沟通管理：输入</a:t>
            </a:r>
          </a:p>
          <a:p>
            <a:pPr algn="l"/>
            <a:r>
              <a:rPr lang="en-US" altLang="zh-CN" sz="1200" b="0" i="0" u="none" strike="noStrike" baseline="0" dirty="0">
                <a:latin typeface="HelveticaNeue-MediumCond"/>
              </a:rPr>
              <a:t>10.1.1.1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项目章程会列出主要相关方清单，其中可能还包含与相关方角色及职责有关的信息。</a:t>
            </a:r>
          </a:p>
          <a:p>
            <a:pPr algn="l"/>
            <a:endParaRPr lang="en-US" altLang="zh-CN" sz="1200" b="0" i="0" u="none" strike="noStrike" baseline="0" dirty="0">
              <a:latin typeface="HelveticaNeue-MediumCond"/>
            </a:endParaRPr>
          </a:p>
          <a:p>
            <a:pPr algn="l"/>
            <a:r>
              <a:rPr lang="en-US" altLang="zh-CN" sz="1200" b="0" i="0" u="none" strike="noStrike" baseline="0" dirty="0">
                <a:latin typeface="HelveticaNeue-MediumCond"/>
              </a:rPr>
              <a:t>10.1.1.2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指导如何对项目资源进行分类、分配、管理和释放。团队成员和小组可能有沟通要求，应该在沟通管理计划中列出。</a:t>
            </a:r>
          </a:p>
          <a:p>
            <a:pPr algn="l"/>
            <a:r>
              <a:rPr lang="zh-CN" altLang="en-US" sz="1200" b="1" i="0" u="none" strike="noStrike" baseline="0" dirty="0">
                <a:latin typeface="SourceHanSansSC-Bold"/>
              </a:rPr>
              <a:t>  相关方参与计划。</a:t>
            </a:r>
            <a:r>
              <a:rPr lang="zh-CN" altLang="en-US" sz="1200" b="0" i="0" u="none" strike="noStrike" baseline="0" dirty="0">
                <a:latin typeface="SourceHanSansSC-Regular"/>
              </a:rPr>
              <a:t>相关方参与计划确定了有效吸引相关方参与所需的管理策略，而这些策略通常通过沟通来落实。</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10.1.1.3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zh-CN" altLang="en-US" sz="1200" b="1" i="0" u="none" strike="noStrike" baseline="0" dirty="0">
                <a:latin typeface="SourceHanSansSC-Bold"/>
              </a:rPr>
              <a:t>  需求文件。</a:t>
            </a:r>
            <a:r>
              <a:rPr lang="zh-CN" altLang="en-US" sz="1200" b="0" i="0" u="none" strike="noStrike" baseline="0" dirty="0">
                <a:latin typeface="SourceHanSansSC-Regular"/>
              </a:rPr>
              <a:t>需求文件可能包含项目相关方对沟通的需求。</a:t>
            </a:r>
          </a:p>
          <a:p>
            <a:pPr algn="l"/>
            <a:r>
              <a:rPr lang="en-US" altLang="zh-CN" sz="1200" b="0" i="0" u="none" strike="noStrike" baseline="0" dirty="0">
                <a:latin typeface="Wingdings-Regular"/>
              </a:rPr>
              <a:t>  </a:t>
            </a:r>
            <a:r>
              <a:rPr lang="zh-CN" altLang="en-US" sz="1200" b="0" i="0" u="none" strike="noStrike" baseline="0" dirty="0">
                <a:latin typeface="SourceHanSansSC-Regular"/>
              </a:rPr>
              <a:t>相</a:t>
            </a:r>
            <a:r>
              <a:rPr lang="zh-CN" altLang="en-US" sz="1200" b="1" i="0" u="none" strike="noStrike" baseline="0" dirty="0">
                <a:latin typeface="SourceHanSansSC-Bold"/>
              </a:rPr>
              <a:t>关方登记册。</a:t>
            </a:r>
            <a:r>
              <a:rPr lang="zh-CN" altLang="en-US" sz="1200" b="0" i="0" u="none" strike="noStrike" baseline="0" dirty="0">
                <a:latin typeface="SourceHanSansSC-Regular"/>
              </a:rPr>
              <a:t>相关方登记册用于规划与相关方的沟通活动。</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10.1.1.4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能够影响规划沟通管理过程的事业环境因素包括（但不限于）：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组织文化、政治氛围和治理框架；</a:t>
            </a:r>
          </a:p>
          <a:p>
            <a:pPr algn="l"/>
            <a:r>
              <a:rPr lang="en-US" altLang="zh-CN" sz="1200" b="0" i="0" u="none" strike="noStrike" baseline="0" dirty="0">
                <a:latin typeface="Wingdings-Regular"/>
              </a:rPr>
              <a:t>  </a:t>
            </a:r>
            <a:r>
              <a:rPr lang="zh-CN" altLang="en-US" sz="1200" b="0" i="0" u="none" strike="noStrike" baseline="0" dirty="0">
                <a:latin typeface="SourceHanSansSC-Regular"/>
              </a:rPr>
              <a:t>人事管理政策；</a:t>
            </a:r>
          </a:p>
          <a:p>
            <a:pPr algn="l"/>
            <a:r>
              <a:rPr lang="en-US" altLang="zh-CN" sz="1200" b="0" i="0" u="none" strike="noStrike" baseline="0" dirty="0">
                <a:latin typeface="Wingdings-Regular"/>
              </a:rPr>
              <a:t>  </a:t>
            </a:r>
            <a:r>
              <a:rPr lang="zh-CN" altLang="en-US" sz="1200" b="0" i="0" u="none" strike="noStrike" baseline="0" dirty="0">
                <a:latin typeface="SourceHanSansSC-Regular"/>
              </a:rPr>
              <a:t>相关方风险临界值；</a:t>
            </a:r>
          </a:p>
          <a:p>
            <a:pPr algn="l"/>
            <a:r>
              <a:rPr lang="en-US" altLang="zh-CN" sz="1200" b="0" i="0" u="none" strike="noStrike" baseline="0" dirty="0">
                <a:latin typeface="Wingdings-Regular"/>
              </a:rPr>
              <a:t>  </a:t>
            </a:r>
            <a:r>
              <a:rPr lang="zh-CN" altLang="en-US" sz="1200" b="0" i="0" u="none" strike="noStrike" baseline="0" dirty="0">
                <a:latin typeface="SourceHanSansSC-Regular"/>
              </a:rPr>
              <a:t>已确立的沟通渠道、工具和系统；</a:t>
            </a:r>
          </a:p>
          <a:p>
            <a:pPr algn="l"/>
            <a:r>
              <a:rPr lang="en-US" altLang="zh-CN" sz="1200" b="0" i="0" u="none" strike="noStrike" baseline="0" dirty="0">
                <a:latin typeface="Wingdings-Regular"/>
              </a:rPr>
              <a:t>  </a:t>
            </a:r>
            <a:r>
              <a:rPr lang="zh-CN" altLang="en-US" sz="1200" b="0" i="0" u="none" strike="noStrike" baseline="0" dirty="0">
                <a:latin typeface="SourceHanSansSC-Regular"/>
              </a:rPr>
              <a:t>全球、区域或当地的趋势、实践或习俗；</a:t>
            </a:r>
          </a:p>
          <a:p>
            <a:pPr algn="l"/>
            <a:r>
              <a:rPr lang="en-US" altLang="zh-CN" sz="1200" b="0" i="0" u="none" strike="noStrike" baseline="0" dirty="0">
                <a:latin typeface="Wingdings-Regular"/>
              </a:rPr>
              <a:t>  </a:t>
            </a:r>
            <a:r>
              <a:rPr lang="zh-CN" altLang="en-US" sz="1200" b="0" i="0" u="none" strike="noStrike" baseline="0" dirty="0">
                <a:latin typeface="SourceHanSansSC-Regular"/>
              </a:rPr>
              <a:t>设施和资源的地理分布。</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10.1.1.5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能够影响规划沟通管理过程的组织过程资产包括（但不限于）：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组织的社交媒体、道德和安全政策及程序；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组织的问题、风险、变更和数据管理政策及程序；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组织对沟通的要求；</a:t>
            </a:r>
          </a:p>
          <a:p>
            <a:pPr algn="l"/>
            <a:r>
              <a:rPr lang="en-US" altLang="zh-CN" sz="1200" b="0" i="0" u="none" strike="noStrike" baseline="0" dirty="0">
                <a:latin typeface="Wingdings-Regular"/>
              </a:rPr>
              <a:t>  </a:t>
            </a:r>
            <a:r>
              <a:rPr lang="zh-CN" altLang="en-US" sz="1200" b="0" i="0" u="none" strike="noStrike" baseline="0" dirty="0">
                <a:latin typeface="SourceHanSansSC-Regular"/>
              </a:rPr>
              <a:t>制作、交换、储存和检索信息的标准化指南；</a:t>
            </a:r>
          </a:p>
          <a:p>
            <a:pPr algn="l"/>
            <a:r>
              <a:rPr lang="en-US" altLang="zh-CN" sz="1200" b="0" i="0" u="none" strike="noStrike" baseline="0" dirty="0">
                <a:latin typeface="Wingdings-Regular"/>
              </a:rPr>
              <a:t>  </a:t>
            </a:r>
            <a:r>
              <a:rPr lang="zh-CN" altLang="en-US" sz="1200" b="0" i="0" u="none" strike="noStrike" baseline="0" dirty="0">
                <a:latin typeface="SourceHanSansSC-Regular"/>
              </a:rPr>
              <a:t>历史信息和经验教训知识库；</a:t>
            </a:r>
          </a:p>
          <a:p>
            <a:pPr algn="l"/>
            <a:r>
              <a:rPr lang="en-US" altLang="zh-CN" sz="1200" b="0" i="0" u="none" strike="noStrike" baseline="0" dirty="0">
                <a:latin typeface="Wingdings-Regular"/>
              </a:rPr>
              <a:t>  </a:t>
            </a:r>
            <a:r>
              <a:rPr lang="zh-CN" altLang="en-US" sz="1200" b="0" i="0" u="none" strike="noStrike" baseline="0" dirty="0">
                <a:latin typeface="SourceHanSansSC-Regular"/>
              </a:rPr>
              <a:t>以往项目的相关方及沟通数据和信息。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1711208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10.1.2 </a:t>
            </a:r>
            <a:r>
              <a:rPr lang="zh-CN" altLang="en-US" sz="1800" b="0" i="0" u="none" strike="noStrike" baseline="0" dirty="0">
                <a:latin typeface="SourceHanSansSC-Medium"/>
              </a:rPr>
              <a:t>规划沟通管理：工具与技术</a:t>
            </a:r>
          </a:p>
          <a:p>
            <a:pPr algn="l"/>
            <a:r>
              <a:rPr lang="en-US" altLang="zh-CN" sz="1800" b="0" i="0" u="none" strike="noStrike" baseline="0" dirty="0">
                <a:latin typeface="HelveticaNeue-MediumCond"/>
              </a:rPr>
              <a:t>10.1.2.1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组织内的政治和权力结构；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组织及其他客户组织的环境和文化；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组织变革管理方法和实践；</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项目可交付成果所属的行业或类型；</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组织沟通技术；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关于遵守与企业沟通有关的法律要求的组织政策与程序；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与安全有关的组织政策与程序；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相关方，包括客户或发起人。</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10.1.2.2 </a:t>
            </a:r>
            <a:r>
              <a:rPr lang="zh-CN" altLang="en-US" sz="1800" b="0" i="0" u="none" strike="noStrike" baseline="0" dirty="0">
                <a:latin typeface="SourceHanSansSC-Medium"/>
              </a:rPr>
              <a:t>沟通需求分析</a:t>
            </a:r>
          </a:p>
          <a:p>
            <a:pPr algn="l"/>
            <a:r>
              <a:rPr lang="zh-CN" altLang="en-US" sz="1800" b="0" i="0" u="none" strike="noStrike" baseline="0" dirty="0">
                <a:latin typeface="SourceHanSansSC-Regular"/>
              </a:rPr>
              <a:t>分析沟通需求，确定项目相关方的信息需求，包括所需信息的类型和格式，以及信息对相关方的价值。</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常用于识别和确定项目沟通需求的信息包括（但不限于）：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相关方登记册及相关方参与计划中的相关信息和沟通需求；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潜在沟通渠道或途径数量，包括一对一、一对多和多对多沟通；（理论上二二总的</a:t>
            </a:r>
            <a:r>
              <a:rPr lang="zh-CN" altLang="en-US" sz="3600" b="0" i="0" u="none" strike="noStrike" baseline="0" dirty="0">
                <a:latin typeface="SourceHanSansSC-Regular"/>
              </a:rPr>
              <a:t>沟通渠道数为</a:t>
            </a:r>
            <a:r>
              <a:rPr lang="zh-CN" altLang="en-US" sz="3600" b="0" i="0" u="none" strike="noStrike" baseline="0" dirty="0">
                <a:solidFill>
                  <a:srgbClr val="C00000"/>
                </a:solidFill>
                <a:latin typeface="SourceHanSansSC-Regular"/>
              </a:rPr>
              <a:t>（</a:t>
            </a:r>
            <a:r>
              <a:rPr lang="en-US" altLang="zh-CN" sz="3600" dirty="0">
                <a:solidFill>
                  <a:srgbClr val="C00000"/>
                </a:solidFill>
              </a:rPr>
              <a:t>n(n-1)/2</a:t>
            </a:r>
            <a:r>
              <a:rPr lang="zh-CN" altLang="en-US" sz="3600" dirty="0">
                <a:solidFill>
                  <a:srgbClr val="C00000"/>
                </a:solidFill>
              </a:rPr>
              <a:t>），但实际并非都要用）</a:t>
            </a:r>
            <a:endParaRPr lang="zh-CN" altLang="en-US"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0" i="0" u="none" strike="noStrike" baseline="0" dirty="0">
                <a:latin typeface="SourceHanSansSC-Regular"/>
              </a:rPr>
              <a:t>组织结构图；</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项目组织与相关方的职责、关系及相互依赖；</a:t>
            </a:r>
          </a:p>
          <a:p>
            <a:pPr algn="l"/>
            <a:r>
              <a:rPr lang="en-US" altLang="zh-CN" sz="1800" b="0" i="0" u="none" strike="noStrike" baseline="0" dirty="0">
                <a:latin typeface="Wingdings-Regular"/>
              </a:rPr>
              <a:t>  </a:t>
            </a:r>
            <a:r>
              <a:rPr lang="zh-CN" altLang="en-US" sz="1800" b="0" i="0" u="none" strike="noStrike" baseline="0" dirty="0">
                <a:latin typeface="SourceHanSansSC-Regular"/>
              </a:rPr>
              <a:t>开发方法；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项目所涉及的学科、部门和专业；</a:t>
            </a:r>
          </a:p>
          <a:p>
            <a:pPr algn="l"/>
            <a:r>
              <a:rPr lang="en-US" altLang="zh-CN" sz="1800" b="0" i="0" u="none" strike="noStrike" baseline="0" dirty="0">
                <a:latin typeface="Wingdings-Regular"/>
              </a:rPr>
              <a:t>  </a:t>
            </a:r>
            <a:r>
              <a:rPr lang="zh-CN" altLang="en-US" sz="1800" b="0" i="0" u="none" strike="noStrike" baseline="0" dirty="0">
                <a:latin typeface="SourceHanSansSC-Regular"/>
              </a:rPr>
              <a:t>有多少人在什么地点参与项目；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内部信息需要（如何时在组织内部沟通）；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外部信息需要（如何时与媒体、公众或承包商沟通）；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法律要求。</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10.1.2.3 </a:t>
            </a:r>
            <a:r>
              <a:rPr lang="zh-CN" altLang="en-US" sz="1800" b="1" i="0" u="sng" strike="noStrike" baseline="0" dirty="0">
                <a:latin typeface="SourceHanSansSC-Medium"/>
              </a:rPr>
              <a:t>沟通技术</a:t>
            </a:r>
          </a:p>
          <a:p>
            <a:pPr algn="l"/>
            <a:r>
              <a:rPr lang="zh-CN" altLang="en-US" sz="1800" b="0" i="0" u="none" strike="noStrike" baseline="0" dirty="0">
                <a:latin typeface="SourceHanSansSC-Regular"/>
              </a:rPr>
              <a:t>用于在项目相关方之间传递信息的方法很多。信息交换和协作的常见方法包括对话、会议、书面文件、数据库、社交媒体和网站。</a:t>
            </a:r>
          </a:p>
          <a:p>
            <a:pPr algn="l"/>
            <a:r>
              <a:rPr lang="zh-CN" altLang="en-US" sz="1800" b="0" i="0" u="none" strike="noStrike" baseline="0" dirty="0">
                <a:latin typeface="SourceHanSansSC-Regular"/>
              </a:rPr>
              <a:t>可能影响沟通技术选择的因素包括：</a:t>
            </a:r>
          </a:p>
          <a:p>
            <a:pPr algn="l"/>
            <a:r>
              <a:rPr lang="en-US" altLang="zh-CN" sz="1800" b="0" i="0" u="none" strike="noStrike" baseline="0" dirty="0">
                <a:latin typeface="Wingdings-Regular"/>
              </a:rPr>
              <a:t>  </a:t>
            </a:r>
            <a:r>
              <a:rPr lang="zh-CN" altLang="en-US" sz="1800" b="1" i="0" u="none" strike="noStrike" baseline="0" dirty="0">
                <a:latin typeface="SourceHanSansSC-Bold"/>
              </a:rPr>
              <a:t>信息需求的紧迫性。</a:t>
            </a:r>
            <a:r>
              <a:rPr lang="zh-CN" altLang="en-US" sz="1800" b="0" i="0" u="none" strike="noStrike" baseline="0" dirty="0">
                <a:latin typeface="SourceHanSansSC-Regular"/>
              </a:rPr>
              <a:t>信息传递的紧迫性、频率和形式可能因项目而异，也可能因项目阶段而异。</a:t>
            </a:r>
          </a:p>
          <a:p>
            <a:pPr algn="l"/>
            <a:r>
              <a:rPr lang="en-US" altLang="zh-CN" sz="1800" b="0" i="0" u="none" strike="noStrike" baseline="0" dirty="0">
                <a:latin typeface="Wingdings-Regular"/>
              </a:rPr>
              <a:t>  </a:t>
            </a:r>
            <a:r>
              <a:rPr lang="zh-CN" altLang="en-US" sz="1800" b="1" i="0" u="none" strike="noStrike" baseline="0" dirty="0">
                <a:latin typeface="SourceHanSansSC-Bold"/>
              </a:rPr>
              <a:t>技术的可用性与可靠性。</a:t>
            </a:r>
            <a:r>
              <a:rPr lang="zh-CN" altLang="en-US" sz="1800" b="0" i="0" u="none" strike="noStrike" baseline="0" dirty="0">
                <a:latin typeface="SourceHanSansSC-Regular"/>
              </a:rPr>
              <a:t>用于发布项目沟通工件的技术，应该在整个项目期间都具备兼容性和可得性，且对所有相关方都可用。</a:t>
            </a:r>
          </a:p>
          <a:p>
            <a:pPr algn="l"/>
            <a:r>
              <a:rPr lang="en-US" altLang="zh-CN" sz="1800" b="0" i="0" u="none" strike="noStrike" baseline="0" dirty="0">
                <a:latin typeface="Wingdings-Regular"/>
              </a:rPr>
              <a:t>  </a:t>
            </a:r>
            <a:r>
              <a:rPr lang="zh-CN" altLang="en-US" sz="1800" b="1" i="0" u="none" strike="noStrike" baseline="0" dirty="0">
                <a:latin typeface="SourceHanSansSC-Bold"/>
              </a:rPr>
              <a:t>易用性。</a:t>
            </a:r>
            <a:r>
              <a:rPr lang="zh-CN" altLang="en-US" sz="1800" b="0" i="0" u="none" strike="noStrike" baseline="0" dirty="0">
                <a:latin typeface="SourceHanSansSC-Regular"/>
              </a:rPr>
              <a:t>沟通技术的选择应适合项目参与者，而且应在合适的时候安排适当的培训活动。</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项目环境。</a:t>
            </a:r>
            <a:r>
              <a:rPr lang="zh-CN" altLang="en-US" sz="1800" b="0" i="0" u="none" strike="noStrike" baseline="0" dirty="0">
                <a:latin typeface="SourceHanSansSC-Regular"/>
              </a:rPr>
              <a:t>团队会议与工作是面对面还是在虚拟环境中开展，成员处于一个还是多个时区，他们是否使用多语种沟通，是否还有能影响沟通效率的其他环境因素（如与文化有关的各个方面）？</a:t>
            </a:r>
          </a:p>
          <a:p>
            <a:pPr algn="l"/>
            <a:r>
              <a:rPr lang="en-US" altLang="zh-CN" sz="1800" b="0" i="0" u="none" strike="noStrike" baseline="0" dirty="0">
                <a:latin typeface="Wingdings-Regular"/>
              </a:rPr>
              <a:t>  </a:t>
            </a:r>
            <a:r>
              <a:rPr lang="zh-CN" altLang="en-US" sz="1800" b="1" i="0" u="none" strike="noStrike" baseline="0" dirty="0">
                <a:latin typeface="SourceHanSansSC-Bold"/>
              </a:rPr>
              <a:t>信息的敏感性和保密性。</a:t>
            </a:r>
            <a:r>
              <a:rPr lang="zh-CN" altLang="en-US" sz="1800" b="0" i="0" u="none" strike="noStrike" baseline="0" dirty="0">
                <a:latin typeface="SourceHanSansSC-Regular"/>
              </a:rPr>
              <a:t>需要考虑的一些方面有：</a:t>
            </a:r>
          </a:p>
          <a:p>
            <a:pPr algn="l"/>
            <a:r>
              <a:rPr lang="en-US" altLang="zh-CN" sz="1800" b="0" i="0" u="none" strike="noStrike" baseline="0" dirty="0">
                <a:latin typeface="Wingdings-Regular"/>
              </a:rPr>
              <a:t>      </a:t>
            </a:r>
            <a:r>
              <a:rPr lang="zh-CN" altLang="en-US" sz="1800" b="0" i="0" u="none" strike="noStrike" baseline="0" dirty="0">
                <a:latin typeface="SourceHanSansSC-Regular"/>
              </a:rPr>
              <a:t>拟传递的信息是否属于敏感或机密信息？如果是，可能需要采取合理的安全措施。</a:t>
            </a:r>
          </a:p>
          <a:p>
            <a:pPr algn="l"/>
            <a:r>
              <a:rPr lang="en-US" altLang="zh-CN" sz="1800" b="0" i="0" u="none" strike="noStrike" baseline="0" dirty="0">
                <a:latin typeface="Wingdings-Regular"/>
              </a:rPr>
              <a:t>      </a:t>
            </a:r>
            <a:r>
              <a:rPr lang="zh-CN" altLang="en-US" sz="1800" b="0" i="0" u="none" strike="noStrike" baseline="0" dirty="0">
                <a:latin typeface="SourceHanSansSC-Regular"/>
              </a:rPr>
              <a:t>为员工制定社交媒体政策，以确保行为适当、信息安全和知识产权保护。</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10.1.2.4 </a:t>
            </a:r>
            <a:r>
              <a:rPr lang="zh-CN" altLang="en-US" sz="1800" b="0" i="0" u="none" strike="noStrike" baseline="0" dirty="0">
                <a:latin typeface="SourceHanSansSC-Medium"/>
              </a:rPr>
              <a:t>沟通模型</a:t>
            </a:r>
          </a:p>
          <a:p>
            <a:pPr algn="l"/>
            <a:r>
              <a:rPr lang="zh-CN" altLang="en-US" sz="1800" b="0" i="0" u="none" strike="noStrike" baseline="0" dirty="0">
                <a:latin typeface="SourceHanSansSC-Regular"/>
              </a:rPr>
              <a:t>沟通模型可以是最基本的线性（发送方和接收方）沟通过程，也可以是增加了反馈元素（发送方、接收方和反馈）、更具互动性的沟通形式，甚至可以是融合了发送方或接收方的人性因素、试图考虑沟通复杂性的更加复杂的沟通模型。</a:t>
            </a:r>
          </a:p>
          <a:p>
            <a:pPr algn="l"/>
            <a:r>
              <a:rPr lang="en-US" altLang="zh-CN" sz="1800" b="0" i="0" u="none" strike="noStrike" baseline="0" dirty="0">
                <a:latin typeface="Wingdings-Regular"/>
              </a:rPr>
              <a:t>  </a:t>
            </a:r>
            <a:r>
              <a:rPr lang="zh-CN" altLang="en-US" sz="1800" b="1" i="0" u="none" strike="noStrike" baseline="0" dirty="0">
                <a:latin typeface="SourceHanSansSC-Bold"/>
              </a:rPr>
              <a:t>基本的发送方和接收方沟通模型示例。</a:t>
            </a:r>
            <a:r>
              <a:rPr lang="zh-CN" altLang="en-US" sz="1800" b="0" i="0" u="none" strike="noStrike" baseline="0" dirty="0">
                <a:latin typeface="SourceHanSansSC-Regular"/>
              </a:rPr>
              <a:t>此模型将沟通描述为一个过程，并由发送方和接收方两方参与；其关注的是确保信息送达，而非信息理解。基本沟通模型中的步骤顺序为：</a:t>
            </a:r>
          </a:p>
          <a:p>
            <a:pPr algn="l"/>
            <a:r>
              <a:rPr lang="en-US" altLang="zh-CN" sz="1800" b="0" i="0" u="none" strike="noStrike" baseline="0" dirty="0">
                <a:latin typeface="Wingdings-Regular"/>
              </a:rPr>
              <a:t>      </a:t>
            </a:r>
            <a:r>
              <a:rPr lang="zh-CN" altLang="en-US" sz="1800" b="1" i="0" u="none" strike="noStrike" baseline="0" dirty="0">
                <a:latin typeface="SourceHanSansSC-Bold"/>
              </a:rPr>
              <a:t>编码。</a:t>
            </a:r>
            <a:r>
              <a:rPr lang="zh-CN" altLang="en-US" sz="1800" b="0" i="0" u="none" strike="noStrike" baseline="0" dirty="0">
                <a:latin typeface="SourceHanSansSC-Regular"/>
              </a:rPr>
              <a:t>把信息编码为各种符号，如文本、声音或其他可供传递（发送）的形式。</a:t>
            </a:r>
          </a:p>
          <a:p>
            <a:pPr algn="l"/>
            <a:r>
              <a:rPr lang="en-US" altLang="zh-CN" sz="1800" b="0" i="0" u="none" strike="noStrike" baseline="0" dirty="0">
                <a:latin typeface="Wingdings-Regular"/>
              </a:rPr>
              <a:t>      </a:t>
            </a:r>
            <a:r>
              <a:rPr lang="zh-CN" altLang="en-US" sz="1800" b="1" i="0" u="none" strike="noStrike" baseline="0" dirty="0">
                <a:latin typeface="SourceHanSansSC-Bold"/>
              </a:rPr>
              <a:t>传递信息。</a:t>
            </a:r>
            <a:r>
              <a:rPr lang="zh-CN" altLang="en-US" sz="1800" b="0" i="0" u="none" strike="noStrike" baseline="0" dirty="0">
                <a:latin typeface="SourceHanSansSC-Regular"/>
              </a:rPr>
              <a:t>通过沟通渠道发送信息。信息传递可能受各种物理因素的不利影响，如不熟悉的技术，或不完备的基础设施。可能存在噪音和其他因素，导致信息传递和（或）接收过程中的信息损耗。</a:t>
            </a:r>
          </a:p>
          <a:p>
            <a:pPr algn="l"/>
            <a:r>
              <a:rPr lang="en-US" altLang="zh-CN" sz="1800" b="0" i="0" u="none" strike="noStrike" baseline="0" dirty="0">
                <a:latin typeface="Wingdings-Regular"/>
              </a:rPr>
              <a:t>      </a:t>
            </a:r>
            <a:r>
              <a:rPr lang="zh-CN" altLang="en-US" sz="1800" b="1" i="0" u="none" strike="noStrike" baseline="0" dirty="0">
                <a:latin typeface="SourceHanSansSC-Bold"/>
              </a:rPr>
              <a:t>解码。</a:t>
            </a:r>
            <a:r>
              <a:rPr lang="zh-CN" altLang="en-US" sz="1800" b="0" i="0" u="none" strike="noStrike" baseline="0" dirty="0">
                <a:latin typeface="SourceHanSansSC-Regular"/>
              </a:rPr>
              <a:t>接收方将收到的数据还原为对自己有用的形式。</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互动沟通模型示例。</a:t>
            </a:r>
            <a:r>
              <a:rPr lang="zh-CN" altLang="en-US" sz="1800" b="0" i="0" u="none" strike="noStrike" baseline="0" dirty="0">
                <a:latin typeface="SourceHanSansSC-Regular"/>
              </a:rPr>
              <a:t>此模型也将沟通描述为由发送方与接收方参与的沟通过程，但它还强调确保信息理解的必要性。此模型包括任何可能干扰或阻碍信息理解的噪音，如接收方注意力分散、接收方的认知差异，或缺少适当的知识或兴趣。互动沟通模型中的新增步骤有：</a:t>
            </a:r>
          </a:p>
          <a:p>
            <a:pPr algn="l"/>
            <a:r>
              <a:rPr lang="en-US" altLang="zh-CN" sz="1800" b="0" i="0" u="none" strike="noStrike" baseline="0" dirty="0">
                <a:latin typeface="Wingdings-Regular"/>
              </a:rPr>
              <a:t>       </a:t>
            </a:r>
            <a:r>
              <a:rPr lang="zh-CN" altLang="en-US" sz="1800" b="1" i="0" u="none" strike="noStrike" baseline="0" dirty="0">
                <a:latin typeface="SourceHanSansSC-Bold"/>
              </a:rPr>
              <a:t>确认已收到。</a:t>
            </a:r>
            <a:r>
              <a:rPr lang="zh-CN" altLang="en-US" sz="1800" b="0" i="0" u="none" strike="noStrike" baseline="0" dirty="0">
                <a:latin typeface="SourceHanSansSC-Regular"/>
              </a:rPr>
              <a:t>收到信息时，接收方需告知对方已收到信息（确认已收到）。这并不一定意味着同意或理解信息的内容，仅表示已收到信息。</a:t>
            </a:r>
          </a:p>
          <a:p>
            <a:pPr algn="l"/>
            <a:r>
              <a:rPr lang="en-US" altLang="zh-CN" sz="1800" b="0" i="0" u="none" strike="noStrike" baseline="0" dirty="0">
                <a:latin typeface="Wingdings-Regular"/>
              </a:rPr>
              <a:t>       </a:t>
            </a:r>
            <a:r>
              <a:rPr lang="zh-CN" altLang="en-US" sz="1800" b="1" i="0" u="none" strike="noStrike" baseline="0" dirty="0">
                <a:latin typeface="SourceHanSansSC-Bold"/>
              </a:rPr>
              <a:t>反馈</a:t>
            </a:r>
            <a:r>
              <a:rPr lang="en-US" altLang="zh-CN" sz="1800" b="1" i="0" u="none" strike="noStrike" baseline="0" dirty="0">
                <a:latin typeface="SourceHanSansSC-Bold"/>
              </a:rPr>
              <a:t>/</a:t>
            </a:r>
            <a:r>
              <a:rPr lang="zh-CN" altLang="en-US" sz="1800" b="1" i="0" u="none" strike="noStrike" baseline="0" dirty="0">
                <a:latin typeface="SourceHanSansSC-Bold"/>
              </a:rPr>
              <a:t>响应。</a:t>
            </a:r>
            <a:r>
              <a:rPr lang="zh-CN" altLang="en-US" sz="1800" b="0" i="0" u="none" strike="noStrike" baseline="0" dirty="0">
                <a:latin typeface="SourceHanSansSC-Regular"/>
              </a:rPr>
              <a:t>对收到的信息进行解码并理解之后，接收方把还原出来的思想或观点编码成信息，再传递给最初的发送方。如果发送方认为反馈与原来的信息相符，代表沟通已成功完成。在沟通中，可以通过积极倾听（见 </a:t>
            </a:r>
            <a:r>
              <a:rPr lang="en-US" altLang="zh-CN" sz="1800" b="0" i="0" u="none" strike="noStrike" baseline="0" dirty="0">
                <a:latin typeface="HelveticaNeue-Condensed"/>
              </a:rPr>
              <a:t>10.2.2.6 </a:t>
            </a:r>
            <a:r>
              <a:rPr lang="zh-CN" altLang="en-US" sz="1800" b="0" i="0" u="none" strike="noStrike" baseline="0" dirty="0">
                <a:latin typeface="SourceHanSansSC-Regular"/>
              </a:rPr>
              <a:t>节）实现反馈。</a:t>
            </a:r>
          </a:p>
          <a:p>
            <a:pPr algn="l"/>
            <a:r>
              <a:rPr lang="zh-CN" altLang="en-US" sz="1800" b="0" i="0" u="none" strike="noStrike" baseline="0" dirty="0">
                <a:latin typeface="SourceHanSansSC-Regular"/>
              </a:rPr>
              <a:t>作为沟通过程的一部分，发送方负责信息的传递，确保信息的清晰性和完整性，并确认信息已被正确理解；接收方负责确保完整地接收信息，正确地理解信息，并需要告知已收到或作出适当的回应。在发送方和接收方所处的环境中，都可能存在会干扰有效沟通的各种噪音和其他障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567321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10.1.2.5 </a:t>
            </a:r>
            <a:r>
              <a:rPr lang="zh-CN" altLang="en-US" sz="1800" b="0" i="0" u="none" strike="noStrike" baseline="0" dirty="0">
                <a:latin typeface="SourceHanSansSC-Medium"/>
              </a:rPr>
              <a:t>沟通方法</a:t>
            </a:r>
          </a:p>
          <a:p>
            <a:pPr algn="l"/>
            <a:r>
              <a:rPr lang="zh-CN" altLang="en-US" sz="1800" b="0" i="0" u="none" strike="noStrike" baseline="0" dirty="0">
                <a:latin typeface="SourceHanSansSC-Regular"/>
              </a:rPr>
              <a:t>项目相关方之间用于分享信息的沟通方法有几种。这些方法可以大致分为：</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互动沟通。</a:t>
            </a:r>
            <a:r>
              <a:rPr lang="zh-CN" altLang="en-US" sz="1800" b="0" i="0" u="none" strike="noStrike" baseline="0" dirty="0">
                <a:latin typeface="SourceHanSansSC-Regular"/>
              </a:rPr>
              <a:t>在两方或多方之间进行的实时多向信息交换。它使用诸如会议、电话、即时信息、社交媒体和视频会议等沟通工件。</a:t>
            </a:r>
          </a:p>
          <a:p>
            <a:pPr algn="l"/>
            <a:r>
              <a:rPr lang="en-US" altLang="zh-CN" sz="1800" b="0" i="0" u="none" strike="noStrike" baseline="0" dirty="0">
                <a:latin typeface="Wingdings-Regular"/>
              </a:rPr>
              <a:t>   </a:t>
            </a:r>
            <a:r>
              <a:rPr lang="zh-CN" altLang="en-US" sz="1800" b="1" i="0" u="none" strike="noStrike" baseline="0" dirty="0">
                <a:latin typeface="SourceHanSansSC-Bold"/>
              </a:rPr>
              <a:t>推式沟通。</a:t>
            </a:r>
            <a:r>
              <a:rPr lang="zh-CN" altLang="en-US" sz="1800" b="0" i="0" u="none" strike="noStrike" baseline="0" dirty="0">
                <a:latin typeface="SourceHanSansSC-Regular"/>
              </a:rPr>
              <a:t>向需要接收信息的特定接收方发送或发布信息。这种方法可以确保信息的发送，但不能确保信息送达目标受众或被目标受众理解。在推式沟通中，可以采用的沟通工件包括信件、备忘录、报告、电子邮件、传真、语音邮件、博客、新闻稿。</a:t>
            </a:r>
          </a:p>
          <a:p>
            <a:pPr algn="l"/>
            <a:r>
              <a:rPr lang="en-US" altLang="zh-CN" sz="1800" b="0" i="0" u="none" strike="noStrike" baseline="0" dirty="0">
                <a:latin typeface="Wingdings-Regular"/>
              </a:rPr>
              <a:t>   </a:t>
            </a:r>
            <a:r>
              <a:rPr lang="zh-CN" altLang="en-US" sz="1800" b="1" i="0" u="none" strike="noStrike" baseline="0" dirty="0">
                <a:latin typeface="SourceHanSansSC-Bold"/>
              </a:rPr>
              <a:t>拉式沟通。</a:t>
            </a:r>
            <a:r>
              <a:rPr lang="zh-CN" altLang="en-US" sz="1800" b="0" i="0" u="none" strike="noStrike" baseline="0" dirty="0">
                <a:latin typeface="SourceHanSansSC-Regular"/>
              </a:rPr>
              <a:t>适用于大量复杂信息或大量信息受众的情况。它要求接收方在遵守有关安全规定的前提之下自行访问相关内容。这种方法包括门户网站、企业内网、电子在线课程、经验教训数据库或知识库。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0" i="0" u="none" strike="noStrike" baseline="0" dirty="0">
                <a:latin typeface="SourceHanSansSC-Regular"/>
              </a:rPr>
              <a:t>应该采用不同方法来实现沟通管理计划所规定的主要沟通需求：</a:t>
            </a:r>
          </a:p>
          <a:p>
            <a:pPr algn="l"/>
            <a:r>
              <a:rPr lang="en-US" altLang="zh-CN" sz="1800" b="0" i="0" u="none" strike="noStrike" baseline="0" dirty="0">
                <a:latin typeface="Wingdings-Regular"/>
              </a:rPr>
              <a:t>   </a:t>
            </a:r>
            <a:r>
              <a:rPr lang="zh-CN" altLang="en-US" sz="1800" b="1" i="0" u="none" strike="noStrike" baseline="0" dirty="0">
                <a:latin typeface="SourceHanSansSC-Bold"/>
              </a:rPr>
              <a:t>人际沟通。</a:t>
            </a:r>
            <a:r>
              <a:rPr lang="zh-CN" altLang="en-US" sz="1800" b="0" i="0" u="none" strike="noStrike" baseline="0" dirty="0">
                <a:latin typeface="SourceHanSansSC-Regular"/>
              </a:rPr>
              <a:t>个人之间交换信息，通常以面对面的方式进行。</a:t>
            </a:r>
          </a:p>
          <a:p>
            <a:pPr algn="l"/>
            <a:r>
              <a:rPr lang="en-US" altLang="zh-CN" sz="1800" b="0" i="0" u="none" strike="noStrike" baseline="0" dirty="0">
                <a:latin typeface="Wingdings-Regular"/>
              </a:rPr>
              <a:t>   </a:t>
            </a:r>
            <a:r>
              <a:rPr lang="zh-CN" altLang="en-US" sz="1800" b="1" i="0" u="none" strike="noStrike" baseline="0" dirty="0">
                <a:latin typeface="SourceHanSansSC-Bold"/>
              </a:rPr>
              <a:t>小组沟通。</a:t>
            </a:r>
            <a:r>
              <a:rPr lang="zh-CN" altLang="en-US" sz="1800" b="0" i="0" u="none" strike="noStrike" baseline="0" dirty="0">
                <a:latin typeface="SourceHanSansSC-Regular"/>
              </a:rPr>
              <a:t>在三到六名人员的小组内部开展。</a:t>
            </a:r>
          </a:p>
          <a:p>
            <a:pPr algn="l"/>
            <a:r>
              <a:rPr lang="en-US" altLang="zh-CN" sz="1800" b="0" i="0" u="none" strike="noStrike" baseline="0" dirty="0">
                <a:latin typeface="Wingdings-Regular"/>
              </a:rPr>
              <a:t>   </a:t>
            </a:r>
            <a:r>
              <a:rPr lang="zh-CN" altLang="en-US" sz="1800" b="1" i="0" u="none" strike="noStrike" baseline="0" dirty="0">
                <a:latin typeface="SourceHanSansSC-Bold"/>
              </a:rPr>
              <a:t>公众沟通。</a:t>
            </a:r>
            <a:r>
              <a:rPr lang="zh-CN" altLang="en-US" sz="1800" b="0" i="0" u="none" strike="noStrike" baseline="0" dirty="0">
                <a:latin typeface="SourceHanSansSC-Regular"/>
              </a:rPr>
              <a:t>单个演讲者面向一群人。</a:t>
            </a:r>
          </a:p>
          <a:p>
            <a:pPr algn="l"/>
            <a:r>
              <a:rPr lang="en-US" altLang="zh-CN" sz="1800" b="0" i="0" u="none" strike="noStrike" baseline="0" dirty="0">
                <a:latin typeface="Wingdings-Regular"/>
              </a:rPr>
              <a:t>   </a:t>
            </a:r>
            <a:r>
              <a:rPr lang="zh-CN" altLang="en-US" sz="1800" b="1" i="0" u="none" strike="noStrike" baseline="0" dirty="0">
                <a:latin typeface="SourceHanSansSC-Bold"/>
              </a:rPr>
              <a:t>大众传播。</a:t>
            </a:r>
            <a:r>
              <a:rPr lang="zh-CN" altLang="en-US" sz="1800" b="0" i="0" u="none" strike="noStrike" baseline="0" dirty="0">
                <a:latin typeface="SourceHanSansSC-Regular"/>
              </a:rPr>
              <a:t>信息发送人员或小组与大量目标受众（有时为匿名）之间只有最低程度的联系。</a:t>
            </a:r>
          </a:p>
          <a:p>
            <a:pPr algn="l"/>
            <a:r>
              <a:rPr lang="en-US" altLang="zh-CN" sz="1800" b="0" i="0" u="none" strike="noStrike" baseline="0" dirty="0">
                <a:latin typeface="Wingdings-Regular"/>
              </a:rPr>
              <a:t>   </a:t>
            </a:r>
            <a:r>
              <a:rPr lang="zh-CN" altLang="en-US" sz="1800" b="1" i="0" u="none" strike="noStrike" baseline="0" dirty="0">
                <a:latin typeface="SourceHanSansSC-Bold"/>
              </a:rPr>
              <a:t>网络和社交工具沟通。</a:t>
            </a:r>
            <a:r>
              <a:rPr lang="zh-CN" altLang="en-US" sz="1800" b="0" i="0" u="none" strike="noStrike" baseline="0" dirty="0">
                <a:latin typeface="SourceHanSansSC-Regular"/>
              </a:rPr>
              <a:t>借助社交工具和媒体，开展多对多的沟通。</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可用的沟通工件和方法包括（但不限于）：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公告板；</a:t>
            </a:r>
          </a:p>
          <a:p>
            <a:pPr algn="l"/>
            <a:r>
              <a:rPr lang="en-US" altLang="zh-CN" sz="1800" b="0" i="0" u="none" strike="noStrike" baseline="0" dirty="0">
                <a:latin typeface="Wingdings-Regular"/>
              </a:rPr>
              <a:t>   </a:t>
            </a:r>
            <a:r>
              <a:rPr lang="zh-CN" altLang="en-US" sz="1800" b="0" i="0" u="none" strike="noStrike" baseline="0" dirty="0">
                <a:latin typeface="SourceHanSansSC-Regular"/>
              </a:rPr>
              <a:t>新闻通讯、内部杂志、电子杂志；</a:t>
            </a:r>
          </a:p>
          <a:p>
            <a:pPr algn="l"/>
            <a:r>
              <a:rPr lang="en-US" altLang="zh-CN" sz="1800" b="0" i="0" u="none" strike="noStrike" baseline="0" dirty="0">
                <a:latin typeface="Wingdings-Regular"/>
              </a:rPr>
              <a:t>   </a:t>
            </a:r>
            <a:r>
              <a:rPr lang="zh-CN" altLang="en-US" sz="1800" b="0" i="0" u="none" strike="noStrike" baseline="0" dirty="0">
                <a:latin typeface="SourceHanSansSC-Regular"/>
              </a:rPr>
              <a:t>致员工或志愿者的信件；</a:t>
            </a:r>
          </a:p>
          <a:p>
            <a:pPr algn="l"/>
            <a:r>
              <a:rPr lang="en-US" altLang="zh-CN" sz="1800" b="0" i="0" u="none" strike="noStrike" baseline="0" dirty="0">
                <a:latin typeface="Wingdings-Regular"/>
              </a:rPr>
              <a:t>   </a:t>
            </a:r>
            <a:r>
              <a:rPr lang="zh-CN" altLang="en-US" sz="1800" b="0" i="0" u="none" strike="noStrike" baseline="0" dirty="0">
                <a:latin typeface="SourceHanSansSC-Regular"/>
              </a:rPr>
              <a:t>新闻稿；</a:t>
            </a:r>
          </a:p>
          <a:p>
            <a:pPr algn="l"/>
            <a:r>
              <a:rPr lang="en-US" altLang="zh-CN" sz="1800" b="0" i="0" u="none" strike="noStrike" baseline="0" dirty="0">
                <a:latin typeface="Wingdings-Regular"/>
              </a:rPr>
              <a:t>   </a:t>
            </a:r>
            <a:r>
              <a:rPr lang="zh-CN" altLang="en-US" sz="1800" b="0" i="0" u="none" strike="noStrike" baseline="0" dirty="0">
                <a:latin typeface="SourceHanSansSC-Regular"/>
              </a:rPr>
              <a:t>年度报告；</a:t>
            </a:r>
          </a:p>
          <a:p>
            <a:pPr algn="l"/>
            <a:r>
              <a:rPr lang="en-US" altLang="zh-CN" sz="1800" b="0" i="0" u="none" strike="noStrike" baseline="0" dirty="0">
                <a:latin typeface="Wingdings-Regular"/>
              </a:rPr>
              <a:t>   </a:t>
            </a:r>
            <a:r>
              <a:rPr lang="zh-CN" altLang="en-US" sz="1800" b="0" i="0" u="none" strike="noStrike" baseline="0" dirty="0">
                <a:latin typeface="SourceHanSansSC-Regular"/>
              </a:rPr>
              <a:t>电子邮件和内部局域网；</a:t>
            </a:r>
          </a:p>
          <a:p>
            <a:pPr algn="l"/>
            <a:r>
              <a:rPr lang="en-US" altLang="zh-CN" sz="1800" b="0" i="0" u="none" strike="noStrike" baseline="0" dirty="0">
                <a:latin typeface="Wingdings-Regular"/>
              </a:rPr>
              <a:t>   </a:t>
            </a:r>
            <a:r>
              <a:rPr lang="zh-CN" altLang="en-US" sz="1800" b="0" i="0" u="none" strike="noStrike" baseline="0" dirty="0">
                <a:latin typeface="SourceHanSansSC-Regular"/>
              </a:rPr>
              <a:t>门户网站和其他信息库（适用于拉式沟通）；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电话交流；</a:t>
            </a:r>
          </a:p>
          <a:p>
            <a:pPr algn="l"/>
            <a:r>
              <a:rPr lang="en-US" altLang="zh-CN" sz="1800" b="0" i="0" u="none" strike="noStrike" baseline="0" dirty="0">
                <a:latin typeface="Wingdings-Regular"/>
              </a:rPr>
              <a:t>   </a:t>
            </a:r>
            <a:r>
              <a:rPr lang="zh-CN" altLang="en-US" sz="1800" b="0" i="0" u="none" strike="noStrike" baseline="0" dirty="0">
                <a:latin typeface="SourceHanSansSC-Regular"/>
              </a:rPr>
              <a:t>演示；</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团队简述或小组会议；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焦点小组；</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相关方之间的正式或非正式的面对面会议；</a:t>
            </a:r>
          </a:p>
          <a:p>
            <a:pPr algn="l"/>
            <a:r>
              <a:rPr lang="en-US" altLang="zh-CN" sz="1800" b="0" i="0" u="none" strike="noStrike" baseline="0" dirty="0">
                <a:latin typeface="Wingdings-Regular"/>
              </a:rPr>
              <a:t>   </a:t>
            </a:r>
            <a:r>
              <a:rPr lang="zh-CN" altLang="en-US" sz="1800" b="0" i="0" u="none" strike="noStrike" baseline="0" dirty="0">
                <a:latin typeface="SourceHanSansSC-Regular"/>
              </a:rPr>
              <a:t>咨询小组或员工论坛；</a:t>
            </a:r>
          </a:p>
          <a:p>
            <a:pPr algn="l"/>
            <a:r>
              <a:rPr lang="en-US" altLang="zh-CN" sz="1800" b="0" i="0" u="none" strike="noStrike" baseline="0" dirty="0">
                <a:latin typeface="Wingdings-Regular"/>
              </a:rPr>
              <a:t>   </a:t>
            </a:r>
            <a:r>
              <a:rPr lang="zh-CN" altLang="en-US" sz="1800" b="0" i="0" u="none" strike="noStrike" baseline="0" dirty="0">
                <a:latin typeface="SourceHanSansSC-Regular"/>
              </a:rPr>
              <a:t>社交工具和媒体。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886713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10.1.2.6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适用于本过程的人际关系与团队技能包括（但不限于）：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沟通风格评估。规划沟通活动时，用于评估沟通风格并识别偏好的沟通方法、形式和内容的一种技术。常用于不支持项目的相关方。可以先开展相关方参与度评估（见 </a:t>
            </a:r>
            <a:r>
              <a:rPr lang="en-US" altLang="zh-CN" sz="1200" b="0" i="0" u="none" strike="noStrike" baseline="0" dirty="0">
                <a:latin typeface="HelveticaNeue-Condensed"/>
              </a:rPr>
              <a:t>13.2.2.5 </a:t>
            </a:r>
            <a:r>
              <a:rPr lang="zh-CN" altLang="en-US" sz="1200" b="0" i="0" u="none" strike="noStrike" baseline="0" dirty="0">
                <a:latin typeface="SourceHanSansSC-Regular"/>
              </a:rPr>
              <a:t>节），再开展沟通风格评估。在相关方参与度评估中，找出相关方参与度的差距。为弥补这种差距，就需要特别裁剪沟通活动和工件。</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政治意识。</a:t>
            </a:r>
            <a:r>
              <a:rPr lang="zh-CN" altLang="en-US" sz="1200" b="0" i="0" u="none" strike="noStrike" baseline="0" dirty="0">
                <a:latin typeface="SourceHanSansSC-Regular"/>
              </a:rPr>
              <a:t>政治意识有助于项目经理根据项目环境和组织的政治环境来规划沟通。政治意识是指对正式和非正式权力关系的认知，以及在这些关系中工作的意愿。理解组织战略、了解谁能行使权力和施加影响，以及培养与这些相关方沟通的能力，都属于政治意识的范畴。</a:t>
            </a:r>
          </a:p>
          <a:p>
            <a:pPr algn="l"/>
            <a:r>
              <a:rPr lang="en-US" altLang="zh-CN" sz="1200" b="0" i="0" u="none" strike="noStrike" baseline="0" dirty="0">
                <a:latin typeface="Wingdings-Regular"/>
              </a:rPr>
              <a:t>   </a:t>
            </a:r>
            <a:r>
              <a:rPr lang="zh-CN" altLang="en-US" sz="1200" b="1" i="0" u="none" strike="noStrike" baseline="0" dirty="0">
                <a:latin typeface="SourceHanSansSC-Bold"/>
              </a:rPr>
              <a:t>文化意识。</a:t>
            </a:r>
            <a:r>
              <a:rPr lang="zh-CN" altLang="en-US" sz="1200" b="0" i="0" u="none" strike="noStrike" baseline="0" dirty="0">
                <a:latin typeface="SourceHanSansSC-Regular"/>
              </a:rPr>
              <a:t>文化意识指理解个人、群体和组织之间的差异，并据此调整项目的沟通策略。具有文化意识并采取后续行动，能够最小化因项目相关方社区内的文化差异而导致的理解错误和沟通错误。文化意识和文化敏感性有助于项目经理依据相关方和团队成员的文化差异和文化需求对沟通进行规划。</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10.1.2.7 </a:t>
            </a:r>
            <a:r>
              <a:rPr lang="zh-CN" altLang="en-US" sz="1200" b="0" i="0" u="none" strike="noStrike" baseline="0" dirty="0">
                <a:latin typeface="SourceHanSansSC-Medium"/>
              </a:rPr>
              <a:t>数据表现</a:t>
            </a:r>
          </a:p>
          <a:p>
            <a:pPr algn="l"/>
            <a:r>
              <a:rPr lang="zh-CN" altLang="en-US" sz="1200" b="0" i="0" u="none" strike="noStrike" baseline="0" dirty="0">
                <a:latin typeface="SourceHanSansSC-Regular"/>
              </a:rPr>
              <a:t>适用于本过程的数据表现技术包括（但不限于）相关方参与度评估矩阵。见 </a:t>
            </a:r>
            <a:r>
              <a:rPr lang="en-US" altLang="zh-CN" sz="1200" b="0" i="0" u="none" strike="noStrike" baseline="0" dirty="0">
                <a:latin typeface="HelveticaNeue-Condensed"/>
              </a:rPr>
              <a:t>13.2.2.5 </a:t>
            </a:r>
            <a:r>
              <a:rPr lang="zh-CN" altLang="en-US" sz="1200" b="0" i="0" u="none" strike="noStrike" baseline="0" dirty="0">
                <a:latin typeface="SourceHanSansSC-Regular"/>
              </a:rPr>
              <a:t>节。如图 </a:t>
            </a:r>
            <a:r>
              <a:rPr lang="en-US" altLang="zh-CN" sz="1200" b="0" i="0" u="none" strike="noStrike" baseline="0" dirty="0">
                <a:latin typeface="HelveticaNeue-Condensed"/>
              </a:rPr>
              <a:t>13-6</a:t>
            </a:r>
            <a:r>
              <a:rPr lang="zh-CN" altLang="en-US" sz="1200" b="0" i="0" u="none" strike="noStrike" baseline="0" dirty="0">
                <a:latin typeface="SourceHanSansSC-Regular"/>
              </a:rPr>
              <a:t>所示，相关方参与度评估矩阵显示了个体相关方当前和期望参与度之间的差距。在本过程中，可进一步分析该评估矩阵，以便为填补参与度差距而识别额外的沟通需求（除常规报告以外的）。</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10.1.2.8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项目会议可包括虚拟（网络）或面对面会议，且可用文档协同技术进行辅助，包括电子邮件信息和项目网站。在规划沟通管理过程中，需要与项目团队展开讨论，确定最合适的项目信息更新和传递方式，以及回应各相关方的信息请求的方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2683894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10.1.3 </a:t>
            </a:r>
            <a:r>
              <a:rPr lang="zh-CN" altLang="en-US" sz="1800" b="0" i="0" u="none" strike="noStrike" baseline="0" dirty="0">
                <a:latin typeface="SourceHanSansSC-Medium"/>
              </a:rPr>
              <a:t>规划沟通管理：输出</a:t>
            </a:r>
          </a:p>
          <a:p>
            <a:pPr algn="l"/>
            <a:r>
              <a:rPr lang="en-US" altLang="zh-CN" sz="1800" b="0" i="0" u="none" strike="noStrike" baseline="0" dirty="0">
                <a:latin typeface="HelveticaNeue-MediumCond"/>
              </a:rPr>
              <a:t>10.1.3.1 </a:t>
            </a:r>
            <a:r>
              <a:rPr lang="zh-CN" altLang="en-US" sz="1800" b="0" i="0" u="none" strike="noStrike" baseline="0" dirty="0">
                <a:latin typeface="SourceHanSansSC-Medium"/>
              </a:rPr>
              <a:t>沟通管理计划</a:t>
            </a:r>
          </a:p>
          <a:p>
            <a:pPr algn="l"/>
            <a:r>
              <a:rPr lang="zh-CN" altLang="en-US" sz="1800" b="0" i="0" u="none" strike="noStrike" baseline="0" dirty="0">
                <a:latin typeface="SourceHanSansSC-Regular"/>
              </a:rPr>
              <a:t>沟通管理计划是项目管理计划的组成部分，描述将如何规划，结构化、执行与监督项目沟通，以提高沟通的有效性。该计划包括如下信息：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相关方的沟通需求；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需沟通的信息，包括语言、形式、内容和详细程度；</a:t>
            </a:r>
          </a:p>
          <a:p>
            <a:pPr algn="l"/>
            <a:r>
              <a:rPr lang="en-US" altLang="zh-CN" sz="1800" b="0" i="0" u="none" strike="noStrike" baseline="0" dirty="0">
                <a:latin typeface="Wingdings-Regular"/>
              </a:rPr>
              <a:t>   </a:t>
            </a:r>
            <a:r>
              <a:rPr lang="zh-CN" altLang="en-US" sz="1800" b="0" i="0" u="none" strike="noStrike" baseline="0" dirty="0">
                <a:latin typeface="SourceHanSansSC-Regular"/>
              </a:rPr>
              <a:t>上报步骤；</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发布信息的原因；</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发布所需信息、确认已收到，或作出回应（若适用）的时限和频率；</a:t>
            </a:r>
          </a:p>
          <a:p>
            <a:pPr algn="l"/>
            <a:r>
              <a:rPr lang="en-US" altLang="zh-CN" sz="1800" b="0" i="0" u="none" strike="noStrike" baseline="0" dirty="0">
                <a:latin typeface="Wingdings-Regular"/>
              </a:rPr>
              <a:t>   </a:t>
            </a:r>
            <a:r>
              <a:rPr lang="zh-CN" altLang="en-US" sz="1800" b="0" i="0" u="none" strike="noStrike" baseline="0" dirty="0">
                <a:latin typeface="SourceHanSansSC-Regular"/>
              </a:rPr>
              <a:t>负责沟通相关信息的人员；</a:t>
            </a:r>
          </a:p>
          <a:p>
            <a:pPr algn="l"/>
            <a:r>
              <a:rPr lang="en-US" altLang="zh-CN" sz="1800" b="0" i="0" u="none" strike="noStrike" baseline="0" dirty="0">
                <a:latin typeface="Wingdings-Regular"/>
              </a:rPr>
              <a:t>   </a:t>
            </a:r>
            <a:r>
              <a:rPr lang="zh-CN" altLang="en-US" sz="1800" b="0" i="0" u="none" strike="noStrike" baseline="0" dirty="0">
                <a:latin typeface="SourceHanSansSC-Regular"/>
              </a:rPr>
              <a:t>负责授权保密信息发布的人员；</a:t>
            </a:r>
          </a:p>
          <a:p>
            <a:pPr algn="l"/>
            <a:r>
              <a:rPr lang="en-US" altLang="zh-CN" sz="1800" b="0" i="0" u="none" strike="noStrike" baseline="0" dirty="0">
                <a:latin typeface="Wingdings-Regular"/>
              </a:rPr>
              <a:t>   </a:t>
            </a:r>
            <a:r>
              <a:rPr lang="zh-CN" altLang="en-US" sz="1800" b="0" i="0" u="none" strike="noStrike" baseline="0" dirty="0">
                <a:latin typeface="SourceHanSansSC-Regular"/>
              </a:rPr>
              <a:t>接收信息的人员或群体，包括他们的需要、需求和期望；</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用于传递信息的方法或技术，如备忘录、电子邮件、新闻稿，或社交媒体；</a:t>
            </a:r>
          </a:p>
          <a:p>
            <a:pPr algn="l"/>
            <a:r>
              <a:rPr lang="en-US" altLang="zh-CN" sz="1800" b="0" i="0" u="none" strike="noStrike" baseline="0" dirty="0">
                <a:latin typeface="Wingdings-Regular"/>
              </a:rPr>
              <a:t>   </a:t>
            </a:r>
            <a:r>
              <a:rPr lang="zh-CN" altLang="en-US" sz="1800" b="0" i="0" u="none" strike="noStrike" baseline="0" dirty="0">
                <a:latin typeface="SourceHanSansSC-Regular"/>
              </a:rPr>
              <a:t>为沟通活动分配的资源，包括时间和预算；</a:t>
            </a:r>
          </a:p>
          <a:p>
            <a:pPr algn="l"/>
            <a:r>
              <a:rPr lang="en-US" altLang="zh-CN" sz="1800" b="0" i="0" u="none" strike="noStrike" baseline="0" dirty="0">
                <a:latin typeface="Wingdings-Regular"/>
              </a:rPr>
              <a:t>   </a:t>
            </a:r>
            <a:r>
              <a:rPr lang="zh-CN" altLang="en-US" sz="1800" b="0" i="0" u="none" strike="noStrike" baseline="0" dirty="0">
                <a:latin typeface="SourceHanSansSC-Regular"/>
              </a:rPr>
              <a:t>随着项目进展，如项目不同阶段相关方社区的变化，而更新与优化沟通管理计划的方法；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通用术语表；</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项目信息流向图、工作流程（可能包含审批程序）、报告清单和会议计划等；</a:t>
            </a:r>
          </a:p>
          <a:p>
            <a:pPr algn="l"/>
            <a:r>
              <a:rPr lang="en-US" altLang="zh-CN" sz="1800" b="0" i="0" u="none" strike="noStrike" baseline="0" dirty="0">
                <a:latin typeface="Wingdings-Regular"/>
              </a:rPr>
              <a:t>   </a:t>
            </a:r>
            <a:r>
              <a:rPr lang="zh-CN" altLang="en-US" sz="1800" b="0" i="0" u="none" strike="noStrike" baseline="0" dirty="0">
                <a:latin typeface="SourceHanSansSC-Regular"/>
              </a:rPr>
              <a:t>来自法律法规、技术、组织政策等的制约因素。</a:t>
            </a:r>
          </a:p>
          <a:p>
            <a:pPr algn="l"/>
            <a:r>
              <a:rPr lang="zh-CN" altLang="en-US" sz="1800" b="0" i="0" u="none" strike="noStrike" baseline="0" dirty="0">
                <a:latin typeface="SourceHanSansSC-Regular"/>
              </a:rPr>
              <a:t>沟通管理计划中还包括关于项目状态会议、项目团队会议、网络会议和电子邮件等的指南和模板。如果项目要使用项目网站和项目管理软件，那就要把它们写进沟通管理计划。</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10.1.3.2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项目管理计划的任何变更都以变更请求的形式提出，且通过组织的变更控制过程进行处理。可能需要变更的项目管理计划组件包括（但不限于）相关方参与计划（见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节）。需要更新相关方参与计划，反映会影响相关方参与项目决策和执行的任何过程、程序、工具或技术。</a:t>
            </a:r>
          </a:p>
          <a:p>
            <a:pPr algn="l"/>
            <a:r>
              <a:rPr lang="en-US" altLang="zh-CN" sz="1800" b="0" i="0" u="none" strike="noStrike" baseline="0" dirty="0">
                <a:latin typeface="HelveticaNeue-MediumCond"/>
              </a:rPr>
              <a:t>10.1.3.3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节。可能需要更新相关方登记册，以反映计划好的沟通。</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10.1.3.2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项目管理计划的任何变更都以变更请求的形式提出，且通过组织的变更控制过程进行处理。可能需要变更的项目管理计划组件包括（但不限于）相关方参与计划（见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节）。需要更新相关方参与计划，反映会影响相关方参与项目决策和执行的任何过程、程序、工具或技术。</a:t>
            </a:r>
          </a:p>
          <a:p>
            <a:pPr algn="l"/>
            <a:r>
              <a:rPr lang="en-US" altLang="zh-CN" sz="1800" b="0" i="0" u="none" strike="noStrike" baseline="0" dirty="0">
                <a:latin typeface="HelveticaNeue-MediumCond"/>
              </a:rPr>
              <a:t>10.1.3.3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节。可能需要更新相关方登记册，以反映计划好的沟通。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3732734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42EBCB-2BD4-4A2C-9C4A-FB18CF0D0D98}"/>
              </a:ext>
            </a:extLst>
          </p:cNvPr>
          <p:cNvSpPr>
            <a:spLocks noGrp="1" noChangeArrowheads="1"/>
          </p:cNvSpPr>
          <p:nvPr>
            <p:ph type="sldNum" sz="quarter" idx="5"/>
          </p:nvPr>
        </p:nvSpPr>
        <p:spPr>
          <a:ln/>
        </p:spPr>
        <p:txBody>
          <a:bodyPr/>
          <a:lstStyle/>
          <a:p>
            <a:fld id="{70850100-31B7-43DF-A34F-D8D93C234010}" type="slidenum">
              <a:rPr lang="en-US" altLang="zh-CN"/>
              <a:pPr/>
              <a:t>31</a:t>
            </a:fld>
            <a:endParaRPr lang="en-US" altLang="zh-CN"/>
          </a:p>
        </p:txBody>
      </p:sp>
      <p:sp>
        <p:nvSpPr>
          <p:cNvPr id="574466" name="Rectangle 2">
            <a:extLst>
              <a:ext uri="{FF2B5EF4-FFF2-40B4-BE49-F238E27FC236}">
                <a16:creationId xmlns:a16="http://schemas.microsoft.com/office/drawing/2014/main" id="{26F29B00-FC13-4FD7-9D53-E76159161C07}"/>
              </a:ext>
            </a:extLst>
          </p:cNvPr>
          <p:cNvSpPr>
            <a:spLocks noGrp="1" noRot="1" noChangeAspect="1" noChangeArrowheads="1" noTextEdit="1"/>
          </p:cNvSpPr>
          <p:nvPr>
            <p:ph type="sldImg"/>
          </p:nvPr>
        </p:nvSpPr>
        <p:spPr>
          <a:xfrm>
            <a:off x="384175" y="687388"/>
            <a:ext cx="6091238" cy="3427412"/>
          </a:xfrm>
          <a:ln/>
        </p:spPr>
      </p:sp>
      <p:sp>
        <p:nvSpPr>
          <p:cNvPr id="574467" name="Rectangle 3">
            <a:extLst>
              <a:ext uri="{FF2B5EF4-FFF2-40B4-BE49-F238E27FC236}">
                <a16:creationId xmlns:a16="http://schemas.microsoft.com/office/drawing/2014/main" id="{695E6832-F37A-4486-9AE0-106841B05AF2}"/>
              </a:ext>
            </a:extLst>
          </p:cNvPr>
          <p:cNvSpPr>
            <a:spLocks noGrp="1" noChangeArrowheads="1"/>
          </p:cNvSpPr>
          <p:nvPr>
            <p:ph type="body" idx="1"/>
          </p:nvPr>
        </p:nvSpPr>
        <p:spPr>
          <a:xfrm>
            <a:off x="236538" y="4343400"/>
            <a:ext cx="6365875" cy="4630738"/>
          </a:xfrm>
        </p:spPr>
        <p:txBody>
          <a:bodyPr/>
          <a:lstStyle/>
          <a:p>
            <a:pPr>
              <a:spcBef>
                <a:spcPct val="0"/>
              </a:spcBef>
            </a:pPr>
            <a:r>
              <a:rPr lang="zh-CN" altLang="en-US" sz="1100" dirty="0"/>
              <a:t>这是一个项目相关方分析的实例。从中可以看出哪个项目相关方能获得哪种信息。</a:t>
            </a:r>
          </a:p>
          <a:p>
            <a:pPr>
              <a:spcBef>
                <a:spcPct val="0"/>
              </a:spcBef>
            </a:pPr>
            <a:r>
              <a:rPr lang="zh-CN" altLang="en-US" sz="1100" dirty="0"/>
              <a:t>你还可以建立一个相似的表，来表示哪个项目相关方应出席哪个会议。</a:t>
            </a:r>
          </a:p>
          <a:p>
            <a:pPr>
              <a:spcBef>
                <a:spcPct val="0"/>
              </a:spcBef>
            </a:pPr>
            <a:r>
              <a:rPr lang="zh-CN" altLang="en-US" sz="1100" dirty="0"/>
              <a:t>与基本的项目沟通有关的信息可以从工作分解结构中获得。</a:t>
            </a:r>
          </a:p>
          <a:p>
            <a:pPr>
              <a:spcBef>
                <a:spcPct val="0"/>
              </a:spcBef>
            </a:pPr>
            <a:r>
              <a:rPr lang="zh-CN" altLang="en-US" sz="1100" dirty="0"/>
              <a:t>事实上，许多工作分解结构包括项目沟通的一部分，以确保关键信息的报告是项目的可交付成果之一。</a:t>
            </a:r>
          </a:p>
          <a:p>
            <a:pPr>
              <a:spcBef>
                <a:spcPct val="0"/>
              </a:spcBef>
            </a:pPr>
            <a:endParaRPr lang="zh-CN" altLang="en-US" sz="1100" dirty="0"/>
          </a:p>
          <a:p>
            <a:pPr>
              <a:spcBef>
                <a:spcPct val="0"/>
              </a:spcBef>
            </a:pPr>
            <a:endParaRPr lang="zh-CN" altLang="en-US" sz="1100" dirty="0"/>
          </a:p>
          <a:p>
            <a:endParaRPr lang="ja-JP" altLang="en-US" sz="11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663300"/>
                </a:solidFill>
                <a:effectLst/>
                <a:uLnTx/>
                <a:uFillTx/>
                <a:latin typeface="Georgia" panose="02040502050405020303" pitchFamily="18" charset="0"/>
                <a:ea typeface="微软雅黑" pitchFamily="34" charset="-122"/>
                <a:cs typeface="+mj-cs"/>
              </a:rPr>
              <a:t>管理沟通 属于 执行过程组</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28664481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本过程不局限于发布相关信息，它还设法确保信息以适当的格式正确生成和送达目标受众。本过程也为相关方提供机会，允许他们请求更多信息、澄清和讨论。有效的沟通管理需要借助相关技术并考虑相关事宜，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发送方 </a:t>
            </a:r>
            <a:r>
              <a:rPr lang="en-US" altLang="zh-CN" sz="1800" b="1" i="0" u="none" strike="noStrike" baseline="0" dirty="0">
                <a:latin typeface="SourceHanSansSC-Bold"/>
              </a:rPr>
              <a:t>- </a:t>
            </a:r>
            <a:r>
              <a:rPr lang="zh-CN" altLang="en-US" sz="1800" b="1" i="0" u="none" strike="noStrike" baseline="0" dirty="0">
                <a:latin typeface="SourceHanSansSC-Bold"/>
              </a:rPr>
              <a:t>接收方模型。</a:t>
            </a:r>
            <a:r>
              <a:rPr lang="zh-CN" altLang="en-US" sz="1800" b="0" i="0" u="none" strike="noStrike" baseline="0" dirty="0">
                <a:latin typeface="SourceHanSansSC-Regular"/>
              </a:rPr>
              <a:t>运用反馈循环，为互动和参与提供机会，并清除妨碍有效沟通的障碍。</a:t>
            </a:r>
          </a:p>
          <a:p>
            <a:pPr algn="l"/>
            <a:r>
              <a:rPr lang="en-US" altLang="zh-CN" sz="1800" b="0" i="0" u="none" strike="noStrike" baseline="0" dirty="0">
                <a:latin typeface="Wingdings-Regular"/>
              </a:rPr>
              <a:t>   </a:t>
            </a:r>
            <a:r>
              <a:rPr lang="zh-CN" altLang="en-US" sz="1800" b="1" i="0" u="none" strike="noStrike" baseline="0" dirty="0">
                <a:latin typeface="SourceHanSansSC-Bold"/>
              </a:rPr>
              <a:t>媒介选择。</a:t>
            </a:r>
            <a:r>
              <a:rPr lang="zh-CN" altLang="en-US" sz="1800" b="0" i="0" u="none" strike="noStrike" baseline="0" dirty="0">
                <a:latin typeface="SourceHanSansSC-Regular"/>
              </a:rPr>
              <a:t>为满足特定的项目需求而使用合理的沟通工件，例如，何时进行书面沟通或口头沟通、何时准备非正式备忘录或正式报告、何时使用推式或拉式沟通，以及该选择何种沟通技术。</a:t>
            </a:r>
          </a:p>
          <a:p>
            <a:pPr algn="l"/>
            <a:r>
              <a:rPr lang="en-US" altLang="zh-CN" sz="1800" b="0" i="0" u="none" strike="noStrike" baseline="0" dirty="0">
                <a:latin typeface="Wingdings-Regular"/>
              </a:rPr>
              <a:t>   </a:t>
            </a:r>
            <a:r>
              <a:rPr lang="zh-CN" altLang="en-US" sz="1800" b="1" i="0" u="none" strike="noStrike" baseline="0" dirty="0">
                <a:latin typeface="SourceHanSansSC-Bold"/>
              </a:rPr>
              <a:t>写作风格。</a:t>
            </a:r>
            <a:r>
              <a:rPr lang="zh-CN" altLang="en-US" sz="1800" b="0" i="0" u="none" strike="noStrike" baseline="0" dirty="0">
                <a:latin typeface="SourceHanSansSC-Regular"/>
              </a:rPr>
              <a:t>合理使用主动或被动语态、句子结构，以及合理选择词汇。</a:t>
            </a:r>
          </a:p>
          <a:p>
            <a:pPr algn="l"/>
            <a:r>
              <a:rPr lang="en-US" altLang="zh-CN" sz="1800" b="0" i="0" u="none" strike="noStrike" baseline="0" dirty="0">
                <a:latin typeface="Wingdings-Regular"/>
              </a:rPr>
              <a:t>   </a:t>
            </a:r>
            <a:r>
              <a:rPr lang="zh-CN" altLang="en-US" sz="1800" b="1" i="0" u="none" strike="noStrike" baseline="0" dirty="0">
                <a:latin typeface="SourceHanSansSC-Bold"/>
              </a:rPr>
              <a:t>会议管理。</a:t>
            </a:r>
            <a:r>
              <a:rPr lang="zh-CN" altLang="en-US" sz="1800" b="0" i="0" u="none" strike="noStrike" baseline="0" dirty="0">
                <a:latin typeface="SourceHanSansSC-Regular"/>
              </a:rPr>
              <a:t>见 </a:t>
            </a:r>
            <a:r>
              <a:rPr lang="en-US" altLang="zh-CN" sz="1800" b="0" i="0" u="none" strike="noStrike" baseline="0" dirty="0">
                <a:latin typeface="HelveticaNeue-Condensed"/>
              </a:rPr>
              <a:t>10.2.2.6 </a:t>
            </a:r>
            <a:r>
              <a:rPr lang="zh-CN" altLang="en-US" sz="1800" b="0" i="0" u="none" strike="noStrike" baseline="0" dirty="0">
                <a:latin typeface="SourceHanSansSC-Regular"/>
              </a:rPr>
              <a:t>节。准备议程，邀请重要参会者并确保他们出席；处理会议现场发生的冲突，或因对会议纪要和后续行动跟进不力而导致的冲突，或因不当人员与会而导致的冲突。</a:t>
            </a:r>
          </a:p>
          <a:p>
            <a:pPr algn="l"/>
            <a:r>
              <a:rPr lang="en-US" altLang="zh-CN" sz="1800" b="0" i="0" u="none" strike="noStrike" baseline="0" dirty="0">
                <a:latin typeface="Wingdings-Regular"/>
              </a:rPr>
              <a:t>   </a:t>
            </a:r>
            <a:r>
              <a:rPr lang="zh-CN" altLang="en-US" sz="1800" b="1" i="0" u="none" strike="noStrike" baseline="0" dirty="0">
                <a:latin typeface="SourceHanSansSC-Bold"/>
              </a:rPr>
              <a:t>演示。</a:t>
            </a:r>
            <a:r>
              <a:rPr lang="zh-CN" altLang="en-US" sz="1800" b="0" i="0" u="none" strike="noStrike" baseline="0" dirty="0">
                <a:latin typeface="SourceHanSansSC-Regular"/>
              </a:rPr>
              <a:t>了解肢体语言和视觉辅助设计的作用。</a:t>
            </a:r>
          </a:p>
          <a:p>
            <a:pPr algn="l"/>
            <a:r>
              <a:rPr lang="en-US" altLang="zh-CN" sz="1800" b="0" i="0" u="none" strike="noStrike" baseline="0" dirty="0">
                <a:latin typeface="Wingdings-Regular"/>
              </a:rPr>
              <a:t>   </a:t>
            </a:r>
            <a:r>
              <a:rPr lang="zh-CN" altLang="en-US" sz="1800" b="1" i="0" u="none" strike="noStrike" baseline="0" dirty="0">
                <a:latin typeface="SourceHanSansSC-Bold"/>
              </a:rPr>
              <a:t>引导。</a:t>
            </a:r>
            <a:r>
              <a:rPr lang="zh-CN" altLang="en-US" sz="1800" b="0" i="0" u="none" strike="noStrike" baseline="0" dirty="0">
                <a:latin typeface="SourceHanSansSC-Regular"/>
              </a:rPr>
              <a:t>见 </a:t>
            </a:r>
            <a:r>
              <a:rPr lang="en-US" altLang="zh-CN" sz="1800" b="0" i="0" u="none" strike="noStrike" baseline="0" dirty="0">
                <a:latin typeface="HelveticaNeue-Condensed"/>
              </a:rPr>
              <a:t>4.1.2.3 </a:t>
            </a:r>
            <a:r>
              <a:rPr lang="zh-CN" altLang="en-US" sz="1800" b="0" i="0" u="none" strike="noStrike" baseline="0" dirty="0">
                <a:latin typeface="SourceHanSansSC-Regular"/>
              </a:rPr>
              <a:t>节。达成共识、克服障碍（如小组缺乏活力），以及维持小组成员的兴趣和热情。</a:t>
            </a:r>
          </a:p>
          <a:p>
            <a:pPr algn="l"/>
            <a:r>
              <a:rPr lang="en-US" altLang="zh-CN" sz="1800" b="0" i="0" u="none" strike="noStrike" baseline="0" dirty="0">
                <a:latin typeface="Wingdings-Regular"/>
              </a:rPr>
              <a:t>   </a:t>
            </a:r>
            <a:r>
              <a:rPr lang="zh-CN" altLang="en-US" sz="1800" b="1" i="0" u="none" strike="noStrike" baseline="0" dirty="0">
                <a:latin typeface="SourceHanSansSC-Bold"/>
              </a:rPr>
              <a:t>积极倾听。</a:t>
            </a:r>
            <a:r>
              <a:rPr lang="zh-CN" altLang="en-US" sz="1800" b="0" i="0" u="none" strike="noStrike" baseline="0" dirty="0">
                <a:latin typeface="SourceHanSansSC-Regular"/>
              </a:rPr>
              <a:t>见 </a:t>
            </a:r>
            <a:r>
              <a:rPr lang="en-US" altLang="zh-CN" sz="1800" b="0" i="0" u="none" strike="noStrike" baseline="0" dirty="0">
                <a:latin typeface="HelveticaNeue-Condensed"/>
              </a:rPr>
              <a:t>10.2.2.6 </a:t>
            </a:r>
            <a:r>
              <a:rPr lang="zh-CN" altLang="en-US" sz="1800" b="0" i="0" u="none" strike="noStrike" baseline="0" dirty="0">
                <a:latin typeface="SourceHanSansSC-Regular"/>
              </a:rPr>
              <a:t>节。积极倾听包括告知已收到、澄清与确认信息、理解，以及消除妨碍理解的障碍。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1571523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Medium"/>
              </a:rPr>
              <a:t>管理沟通：输入</a:t>
            </a:r>
          </a:p>
          <a:p>
            <a:pPr algn="l"/>
            <a:r>
              <a:rPr lang="en-US" altLang="zh-CN" sz="1800" b="0" i="0" u="none" strike="noStrike" baseline="0" dirty="0">
                <a:latin typeface="HelveticaNeue-MediumCond"/>
              </a:rPr>
              <a:t>10.2.1.1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节。资源管理计划描述为管理团队或物质资源所需开展的沟通。</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节。沟通管理计划描述将如何对项目沟通进行规划、结构化和监</a:t>
            </a:r>
            <a:r>
              <a:rPr lang="zh-CN" altLang="en-US" sz="1800" b="1" i="0" u="none" strike="noStrike" baseline="0" dirty="0">
                <a:latin typeface="SourceHanSansSC-Bold"/>
              </a:rPr>
              <a:t>控。</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详见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节。相关方参与计划描述如何用适当的沟通策略引导相关方参与项目。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变更日志。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节。变更日志用于向受影响的相关方传达变更，以及变更请求的批准、推迟和否决情况。</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4.6.3.3 </a:t>
            </a:r>
            <a:r>
              <a:rPr lang="zh-CN" altLang="en-US" sz="1800" b="0" i="0" u="none" strike="noStrike" baseline="0" dirty="0">
                <a:latin typeface="SourceHanSansSC-Regular"/>
              </a:rPr>
              <a:t>节。将与问题有关的信息传达给受影响的相关方。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节。项目早期获取的与管理沟通有关的经验教训，可用于项目后期阶段改进沟通过程，提高沟通效率与效果。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节。质量报告包括与质量问题、项目和产品改进，以及过程改进相关的信息。这些信息应交给能够采取纠正措施的人员，以便达成项目的质量期望。</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节。风险报告提供关于整体项目风险的来源的信息，以及关于已识别的单个项目风险的概述信息 。这些信息应传达给风险责任人及其他受影响的相关方。</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节。相关方登记册确定了需要各类信息的人员、群体或组织。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10.2.1.3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4.5.3.1 </a:t>
            </a:r>
            <a:r>
              <a:rPr lang="zh-CN" altLang="en-US" sz="1800" b="0" i="0" u="none" strike="noStrike" baseline="0" dirty="0">
                <a:latin typeface="SourceHanSansSC-Regular"/>
              </a:rPr>
              <a:t>节。根据沟通管理计划的定义，工作绩效报告会通过本过程传递给项目相关方。工作绩效报告的典型示例包括状态报告和进展报告。工作绩效报告可以包含挣值图表和信息、趋势线和</a:t>
            </a:r>
          </a:p>
          <a:p>
            <a:pPr algn="l"/>
            <a:r>
              <a:rPr lang="zh-CN" altLang="en-US" sz="1800" b="0" i="0" u="none" strike="noStrike" baseline="0" dirty="0">
                <a:latin typeface="SourceHanSansSC-Regular"/>
              </a:rPr>
              <a:t>预测、储备燃尽图、缺陷直方图、合同绩效信息以及风险概述信息。可以表现为有助于引起关注、</a:t>
            </a:r>
          </a:p>
          <a:p>
            <a:pPr algn="l"/>
            <a:r>
              <a:rPr lang="zh-CN" altLang="en-US" sz="1800" b="0" i="0" u="none" strike="noStrike" baseline="0" dirty="0">
                <a:latin typeface="SourceHanSansSC-Regular"/>
              </a:rPr>
              <a:t>制定决策和采取行动的仪表指示图、热点报告、信号灯图或其他形式。</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会影响本过程的事业环境因素包括（但不限于）：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组织文化、政治氛围和治理框架；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人事管理政策；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相关方风险临界值；</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已确立的沟通渠道、工具和系统；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全球、区域或当地的趋势、实践或习俗；</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10.2.1.5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会影响本过程的组织过程资产包括（但不限于）：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企业的问题、风险、变更和数据管理政策及程序；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以往项目的历史信息，包括经验教训知识库。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12792603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10.2.2 </a:t>
            </a:r>
            <a:r>
              <a:rPr lang="zh-CN" altLang="en-US" sz="1800" b="0" i="0" u="none" strike="noStrike" baseline="0" dirty="0">
                <a:latin typeface="SourceHanSansSC-Medium"/>
              </a:rPr>
              <a:t>管理沟通：工具与技术</a:t>
            </a:r>
          </a:p>
          <a:p>
            <a:pPr algn="l"/>
            <a:r>
              <a:rPr lang="en-US" altLang="zh-CN" sz="1800" b="0" i="0" u="none" strike="noStrike" baseline="0" dirty="0">
                <a:latin typeface="HelveticaNeue-MediumCond"/>
              </a:rPr>
              <a:t>10.2.2.1 </a:t>
            </a:r>
            <a:r>
              <a:rPr lang="zh-CN" altLang="en-US" sz="1800" b="0" i="0" u="none" strike="noStrike" baseline="0" dirty="0">
                <a:latin typeface="SourceHanSansSC-Medium"/>
              </a:rPr>
              <a:t>沟通技术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10.1.2.3 </a:t>
            </a:r>
            <a:r>
              <a:rPr lang="zh-CN" altLang="en-US" sz="1800" b="0" i="0" u="none" strike="noStrike" baseline="0" dirty="0">
                <a:latin typeface="SourceHanSansSC-Regular"/>
              </a:rPr>
              <a:t>节。会影响技术选用的因素包括团队是否集中办公、需要分享的信息是否需要保密、团队成员的可用资源，以及组织文化会如何影响会议和讨论的正常开展。</a:t>
            </a:r>
          </a:p>
          <a:p>
            <a:pPr algn="l"/>
            <a:r>
              <a:rPr lang="en-US" altLang="zh-CN" sz="1800" b="0" i="0" u="none" strike="noStrike" baseline="0" dirty="0">
                <a:latin typeface="HelveticaNeue-MediumCond"/>
              </a:rPr>
              <a:t>10.2.2.2 </a:t>
            </a:r>
            <a:r>
              <a:rPr lang="zh-CN" altLang="en-US" sz="1800" b="0" i="0" u="none" strike="noStrike" baseline="0" dirty="0">
                <a:latin typeface="SourceHanSansSC-Medium"/>
              </a:rPr>
              <a:t>沟通方法</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10.1.2.5 </a:t>
            </a:r>
            <a:r>
              <a:rPr lang="zh-CN" altLang="en-US" sz="1800" b="0" i="0" u="none" strike="noStrike" baseline="0" dirty="0">
                <a:latin typeface="SourceHanSansSC-Regular"/>
              </a:rPr>
              <a:t>节。沟通方法的选择应具有灵活性，以应对相关方社区的成员变化，或成员的需求和期望变化。</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10.2.2.3 </a:t>
            </a:r>
            <a:r>
              <a:rPr lang="zh-CN" altLang="en-US" sz="1800" b="0" i="0" u="none" strike="noStrike" baseline="0" dirty="0">
                <a:latin typeface="SourceHanSansSC-Medium"/>
              </a:rPr>
              <a:t>沟通技能</a:t>
            </a:r>
          </a:p>
          <a:p>
            <a:pPr algn="l"/>
            <a:r>
              <a:rPr lang="zh-CN" altLang="en-US" sz="1800" b="0" i="0" u="none" strike="noStrike" baseline="0" dirty="0">
                <a:latin typeface="SourceHanSansSC-Regular"/>
              </a:rPr>
              <a:t>适用于本过程的沟通技能包括（但不限于）：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沟通胜任力。</a:t>
            </a:r>
            <a:r>
              <a:rPr lang="zh-CN" altLang="en-US" sz="1800" b="0" i="0" u="none" strike="noStrike" baseline="0" dirty="0">
                <a:latin typeface="SourceHanSansSC-Regular"/>
              </a:rPr>
              <a:t>经过裁剪的沟通技能的组合，有助于明确关键信息的目的、建立有效关系、实现信息共享和采取领导行为。</a:t>
            </a:r>
          </a:p>
          <a:p>
            <a:pPr algn="l"/>
            <a:r>
              <a:rPr lang="en-US" altLang="zh-CN" sz="1800" b="0" i="0" u="none" strike="noStrike" baseline="0" dirty="0">
                <a:latin typeface="Wingdings-Regular"/>
              </a:rPr>
              <a:t>  </a:t>
            </a:r>
            <a:r>
              <a:rPr lang="zh-CN" altLang="en-US" sz="1800" b="1" i="0" u="none" strike="noStrike" baseline="0" dirty="0">
                <a:latin typeface="SourceHanSansSC-Bold"/>
              </a:rPr>
              <a:t>反馈。</a:t>
            </a:r>
            <a:r>
              <a:rPr lang="zh-CN" altLang="en-US" sz="1800" b="0" i="0" u="none" strike="noStrike" baseline="0" dirty="0">
                <a:latin typeface="SourceHanSansSC-Regular"/>
              </a:rPr>
              <a:t>反馈是关于沟通、可交付成果或情况的反应信息。反馈支持项目经理和团队及所有其他项目相关方之间的互动沟通。例如，指导、辅导和磋商。</a:t>
            </a:r>
          </a:p>
          <a:p>
            <a:pPr algn="l"/>
            <a:r>
              <a:rPr lang="en-US" altLang="zh-CN" sz="1800" b="0" i="0" u="none" strike="noStrike" baseline="0" dirty="0">
                <a:latin typeface="Wingdings-Regular"/>
              </a:rPr>
              <a:t>  </a:t>
            </a:r>
            <a:r>
              <a:rPr lang="zh-CN" altLang="en-US" sz="1800" b="1" i="0" u="none" strike="noStrike" baseline="0" dirty="0">
                <a:latin typeface="SourceHanSansSC-Bold"/>
              </a:rPr>
              <a:t>非口头技能。</a:t>
            </a:r>
            <a:r>
              <a:rPr lang="zh-CN" altLang="en-US" sz="1800" b="0" i="0" u="none" strike="noStrike" baseline="0" dirty="0">
                <a:latin typeface="SourceHanSansSC-Regular"/>
              </a:rPr>
              <a:t>例如，通过示意、语调和面部表情等适当的肢体语言来表达意思。镜像模仿和眼神交流也是重要的技能。团队成员应该知道如何通过说什么和不说什么来表达自己的想法。</a:t>
            </a:r>
          </a:p>
          <a:p>
            <a:pPr algn="l"/>
            <a:r>
              <a:rPr lang="en-US" altLang="zh-CN" sz="1800" b="0" i="0" u="none" strike="noStrike" baseline="0" dirty="0">
                <a:latin typeface="Wingdings-Regular"/>
              </a:rPr>
              <a:t>  </a:t>
            </a:r>
            <a:r>
              <a:rPr lang="zh-CN" altLang="en-US" sz="1800" b="1" i="0" u="none" strike="noStrike" baseline="0" dirty="0">
                <a:latin typeface="SourceHanSansSC-Bold"/>
              </a:rPr>
              <a:t>演示。</a:t>
            </a:r>
            <a:r>
              <a:rPr lang="zh-CN" altLang="en-US" sz="1800" b="0" i="0" u="none" strike="noStrike" baseline="0" dirty="0">
                <a:latin typeface="SourceHanSansSC-Regular"/>
              </a:rPr>
              <a:t>演示是信息和</a:t>
            </a:r>
            <a:r>
              <a:rPr lang="en-US" altLang="zh-CN" sz="1800" b="0" i="0" u="none" strike="noStrike" baseline="0" dirty="0">
                <a:latin typeface="SourceHanSansSC-Regular"/>
              </a:rPr>
              <a:t>/</a:t>
            </a:r>
            <a:r>
              <a:rPr lang="zh-CN" altLang="en-US" sz="1800" b="0" i="0" u="none" strike="noStrike" baseline="0" dirty="0">
                <a:latin typeface="SourceHanSansSC-Regular"/>
              </a:rPr>
              <a:t>或文档的正式交付。向项目相关方明确有效地演示项目信息可包括（但不限于）：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向相关方报告项目进度和信息更新；</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提供背景信息以支持决策制定；</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提供关于项目及其目标的通用信息，以提升项目工作和项目团队的形象；</a:t>
            </a:r>
          </a:p>
          <a:p>
            <a:pPr algn="l"/>
            <a:r>
              <a:rPr lang="en-US" altLang="zh-CN" sz="1800" b="0" i="0" u="none" strike="noStrike" baseline="0" dirty="0">
                <a:latin typeface="Wingdings-Regular"/>
              </a:rPr>
              <a:t>    </a:t>
            </a:r>
            <a:r>
              <a:rPr lang="zh-CN" altLang="en-US" sz="1800" b="0" i="0" u="none" strike="noStrike" baseline="0" dirty="0">
                <a:latin typeface="SourceHanSansSC-Regular"/>
              </a:rPr>
              <a:t>提供具体信息，以提升对项目工作和目标的理解和支持力度。</a:t>
            </a:r>
          </a:p>
          <a:p>
            <a:pPr algn="l"/>
            <a:r>
              <a:rPr lang="zh-CN" altLang="en-US" sz="1800" b="0" i="0" u="none" strike="noStrike" baseline="0" dirty="0">
                <a:latin typeface="SourceHanSansSC-Regular"/>
              </a:rPr>
              <a:t>为获得演示成功，应该从内容和形式上考虑以下因素：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受众及其期望和需求；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项目和项目团队的需求及目标。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10.2.2.4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节。项目管理信息系统能够确保相关方及时便利地获取所需信息。用来管理和分发项目信息的工具很多，包括：</a:t>
            </a:r>
          </a:p>
          <a:p>
            <a:pPr algn="l"/>
            <a:r>
              <a:rPr lang="en-US" altLang="zh-CN" sz="1800" b="0" i="0" u="none" strike="noStrike" baseline="0" dirty="0">
                <a:latin typeface="Wingdings-Regular"/>
              </a:rPr>
              <a:t>  </a:t>
            </a:r>
            <a:r>
              <a:rPr lang="zh-CN" altLang="en-US" sz="1800" b="1" i="0" u="none" strike="noStrike" baseline="0" dirty="0">
                <a:latin typeface="SourceHanSansSC-Bold"/>
              </a:rPr>
              <a:t>电子项目管理工具。</a:t>
            </a:r>
            <a:r>
              <a:rPr lang="zh-CN" altLang="en-US" sz="1800" b="0" i="0" u="none" strike="noStrike" baseline="0" dirty="0">
                <a:latin typeface="SourceHanSansSC-Regular"/>
              </a:rPr>
              <a:t>项目管理软件、会议和虚拟办公支持软件、网络界面、专门的项目门户网站和状态仪表盘，以及协同工作管理工具。</a:t>
            </a:r>
          </a:p>
          <a:p>
            <a:pPr algn="l"/>
            <a:r>
              <a:rPr lang="en-US" altLang="zh-CN" sz="1800" b="0" i="0" u="none" strike="noStrike" baseline="0" dirty="0">
                <a:latin typeface="Wingdings-Regular"/>
              </a:rPr>
              <a:t>  </a:t>
            </a:r>
            <a:r>
              <a:rPr lang="zh-CN" altLang="en-US" sz="1800" b="1" i="0" u="none" strike="noStrike" baseline="0" dirty="0">
                <a:latin typeface="SourceHanSansSC-Bold"/>
              </a:rPr>
              <a:t>电子沟通管理。</a:t>
            </a:r>
            <a:r>
              <a:rPr lang="zh-CN" altLang="en-US" sz="1800" b="0" i="0" u="none" strike="noStrike" baseline="0" dirty="0">
                <a:latin typeface="SourceHanSansSC-Regular"/>
              </a:rPr>
              <a:t>电子邮件、传真和语音邮件，音频、视频和网络会议，以及网站和网络发布。</a:t>
            </a:r>
          </a:p>
          <a:p>
            <a:pPr algn="l"/>
            <a:r>
              <a:rPr lang="en-US" altLang="zh-CN" sz="1800" b="0" i="0" u="none" strike="noStrike" baseline="0" dirty="0">
                <a:latin typeface="Wingdings-Regular"/>
              </a:rPr>
              <a:t>  </a:t>
            </a:r>
            <a:r>
              <a:rPr lang="zh-CN" altLang="en-US" sz="1800" b="1" i="0" u="none" strike="noStrike" baseline="0" dirty="0">
                <a:latin typeface="SourceHanSansSC-Bold"/>
              </a:rPr>
              <a:t>社交媒体管理。</a:t>
            </a:r>
            <a:r>
              <a:rPr lang="zh-CN" altLang="en-US" sz="1800" b="0" i="0" u="none" strike="noStrike" baseline="0" dirty="0">
                <a:latin typeface="SourceHanSansSC-Regular"/>
              </a:rPr>
              <a:t>网站和网络发布；以及为促进相关方参与和形成在线社区而建立博客和应用程序。</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10.2.2.5 </a:t>
            </a:r>
            <a:r>
              <a:rPr lang="zh-CN" altLang="en-US" sz="1800" b="0" i="0" u="none" strike="noStrike" baseline="0" dirty="0">
                <a:latin typeface="SourceHanSansSC-Medium"/>
              </a:rPr>
              <a:t>项目报告发布</a:t>
            </a:r>
          </a:p>
          <a:p>
            <a:pPr algn="l"/>
            <a:r>
              <a:rPr lang="zh-CN" altLang="en-US" sz="1800" b="0" i="0" u="none" strike="noStrike" baseline="0" dirty="0">
                <a:latin typeface="SourceHanSansSC-Regular"/>
              </a:rPr>
              <a:t>项目报告发布是收集和发布项目信息的行为。项目信息应发布给众多相关方群体。应针对每种相关方来调整项目信息发布的适当层次、形式和细节。从简单的沟通到详尽的定制报告和演示，报告的形式各不相同。可以定期准备信息或基于例外情况准备。虽然工作绩效报告是监控项目工作过程的输出，但是本过程会编制临时报告、项目演示、博客，以及其他类型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10.2.2.6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积极倾听。</a:t>
            </a:r>
            <a:r>
              <a:rPr lang="zh-CN" altLang="en-US" sz="1800" b="0" i="0" u="none" strike="noStrike" baseline="0" dirty="0">
                <a:latin typeface="SourceHanSansSC-Regular"/>
              </a:rPr>
              <a:t>积极倾听技术包括告知已收到、澄清与确认信息、理解，以及消除妨碍理解的障碍。</a:t>
            </a:r>
          </a:p>
          <a:p>
            <a:pPr algn="l"/>
            <a:r>
              <a:rPr lang="en-US" altLang="zh-CN" sz="1800" b="0" i="0" u="none" strike="noStrike" baseline="0" dirty="0">
                <a:latin typeface="Wingdings-Regular"/>
              </a:rPr>
              <a:t>  </a:t>
            </a:r>
            <a:r>
              <a:rPr lang="zh-CN" altLang="en-US" sz="1800" b="1" i="0" u="none" strike="noStrike" baseline="0" dirty="0">
                <a:latin typeface="SourceHanSansSC-Bold"/>
              </a:rPr>
              <a:t>冲突管理。</a:t>
            </a:r>
            <a:r>
              <a:rPr lang="zh-CN" altLang="en-US" sz="1800" b="0" i="0" u="none" strike="noStrike" baseline="0" dirty="0">
                <a:latin typeface="SourceHanSansSC-Regular"/>
              </a:rPr>
              <a:t>见 </a:t>
            </a:r>
            <a:r>
              <a:rPr lang="en-US" altLang="zh-CN" sz="1800" b="0" i="0" u="none" strike="noStrike" baseline="0" dirty="0">
                <a:latin typeface="HelveticaNeue-Condensed"/>
              </a:rPr>
              <a:t>9.5.2.1 </a:t>
            </a:r>
            <a:r>
              <a:rPr lang="zh-CN" altLang="en-US" sz="1800" b="0" i="0" u="none" strike="noStrike" baseline="0" dirty="0">
                <a:latin typeface="SourceHanSansSC-Regular"/>
              </a:rPr>
              <a:t>节。</a:t>
            </a:r>
          </a:p>
          <a:p>
            <a:pPr algn="l"/>
            <a:r>
              <a:rPr lang="en-US" altLang="zh-CN" sz="1800" b="0" i="0" u="none" strike="noStrike" baseline="0" dirty="0">
                <a:latin typeface="Wingdings-Regular"/>
              </a:rPr>
              <a:t>  </a:t>
            </a:r>
            <a:r>
              <a:rPr lang="zh-CN" altLang="en-US" sz="1800" b="1" i="0" u="none" strike="noStrike" baseline="0" dirty="0">
                <a:latin typeface="SourceHanSansSC-Bold"/>
              </a:rPr>
              <a:t>文化意识。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a:t>
            </a:r>
          </a:p>
          <a:p>
            <a:pPr algn="l"/>
            <a:r>
              <a:rPr lang="en-US" altLang="zh-CN" sz="1800" b="0" i="0" u="none" strike="noStrike" baseline="0" dirty="0">
                <a:latin typeface="Wingdings-Regular"/>
              </a:rPr>
              <a:t>  </a:t>
            </a:r>
            <a:r>
              <a:rPr lang="zh-CN" altLang="en-US" sz="1800" b="1" i="0" u="none" strike="noStrike" baseline="0" dirty="0">
                <a:latin typeface="SourceHanSansSC-Bold"/>
              </a:rPr>
              <a:t>会议管理。</a:t>
            </a:r>
            <a:r>
              <a:rPr lang="zh-CN" altLang="en-US" sz="1800" b="0" i="0" u="none" strike="noStrike" baseline="0" dirty="0">
                <a:latin typeface="SourceHanSansSC-Regular"/>
              </a:rPr>
              <a:t>会议管理是采取步骤确保会议有效并高效地达到预期目标。规划会议时应采取以下步骤：</a:t>
            </a:r>
          </a:p>
          <a:p>
            <a:pPr algn="l"/>
            <a:r>
              <a:rPr lang="en-US" altLang="zh-CN" sz="1800" b="0" i="0" u="none" strike="noStrike" baseline="0" dirty="0">
                <a:latin typeface="Wingdings-Regular"/>
              </a:rPr>
              <a:t>    </a:t>
            </a:r>
            <a:r>
              <a:rPr lang="zh-CN" altLang="en-US" sz="1800" b="0" i="0" u="none" strike="noStrike" baseline="0" dirty="0">
                <a:latin typeface="SourceHanSansSC-Regular"/>
              </a:rPr>
              <a:t>准备并发布会议议程（其中包含会议目标）；</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确保会议在规定的时间开始和结束；</a:t>
            </a:r>
          </a:p>
          <a:p>
            <a:pPr algn="l"/>
            <a:r>
              <a:rPr lang="en-US" altLang="zh-CN" sz="1800" b="0" i="0" u="none" strike="noStrike" baseline="0" dirty="0">
                <a:latin typeface="Wingdings-Regular"/>
              </a:rPr>
              <a:t>    </a:t>
            </a:r>
            <a:r>
              <a:rPr lang="zh-CN" altLang="en-US" sz="1800" b="0" i="0" u="none" strike="noStrike" baseline="0" dirty="0">
                <a:latin typeface="SourceHanSansSC-Regular"/>
              </a:rPr>
              <a:t>确保适当参与者受邀并出席；</a:t>
            </a:r>
          </a:p>
          <a:p>
            <a:pPr algn="l"/>
            <a:r>
              <a:rPr lang="en-US" altLang="zh-CN" sz="1800" b="0" i="0" u="none" strike="noStrike" baseline="0" dirty="0">
                <a:latin typeface="Wingdings-Regular"/>
              </a:rPr>
              <a:t>    </a:t>
            </a:r>
            <a:r>
              <a:rPr lang="zh-CN" altLang="en-US" sz="1800" b="0" i="0" u="none" strike="noStrike" baseline="0" dirty="0">
                <a:latin typeface="SourceHanSansSC-Regular"/>
              </a:rPr>
              <a:t>切题；</a:t>
            </a:r>
          </a:p>
          <a:p>
            <a:pPr algn="l"/>
            <a:r>
              <a:rPr lang="en-US" altLang="zh-CN" sz="1800" b="0" i="0" u="none" strike="noStrike" baseline="0" dirty="0">
                <a:latin typeface="Wingdings-Regular"/>
              </a:rPr>
              <a:t>    </a:t>
            </a:r>
            <a:r>
              <a:rPr lang="zh-CN" altLang="en-US" sz="1800" b="0" i="0" u="none" strike="noStrike" baseline="0" dirty="0">
                <a:latin typeface="SourceHanSansSC-Regular"/>
              </a:rPr>
              <a:t>处理会议中的期望、问题和冲突；</a:t>
            </a:r>
          </a:p>
          <a:p>
            <a:pPr algn="l"/>
            <a:r>
              <a:rPr lang="en-US" altLang="zh-CN" sz="1800" b="0" i="0" u="none" strike="noStrike" baseline="0" dirty="0">
                <a:latin typeface="Wingdings-Regular"/>
              </a:rPr>
              <a:t>    </a:t>
            </a:r>
            <a:r>
              <a:rPr lang="zh-CN" altLang="en-US" sz="1800" b="0" i="0" u="none" strike="noStrike" baseline="0" dirty="0">
                <a:latin typeface="SourceHanSansSC-Regular"/>
              </a:rPr>
              <a:t>记录所有行动以及所分配的行动责任人。</a:t>
            </a:r>
          </a:p>
          <a:p>
            <a:pPr algn="l"/>
            <a:r>
              <a:rPr lang="en-US" altLang="zh-CN" sz="1800" b="0" i="0" u="none" strike="noStrike" baseline="0" dirty="0">
                <a:latin typeface="Wingdings-Regular"/>
              </a:rPr>
              <a:t>  </a:t>
            </a:r>
            <a:r>
              <a:rPr lang="zh-CN" altLang="en-US" sz="1800" b="1" i="0" u="none" strike="noStrike" baseline="0" dirty="0">
                <a:latin typeface="SourceHanSansSC-Bold"/>
              </a:rPr>
              <a:t>人际交往。</a:t>
            </a:r>
            <a:r>
              <a:rPr lang="zh-CN" altLang="en-US" sz="1800" b="0" i="0" u="none" strike="noStrike" baseline="0" dirty="0">
                <a:latin typeface="SourceHanSansSC-Regular"/>
              </a:rPr>
              <a:t>人际交往是通过与他人互动交流信息，建立联系。人际交往有利于项目经理及其团队通过非正式组织解决问题，影响相关方的行动，以及提高相关方对项目工作和成果的支持，从而改善绩效。</a:t>
            </a:r>
          </a:p>
          <a:p>
            <a:pPr algn="l"/>
            <a:r>
              <a:rPr lang="en-US" altLang="zh-CN" sz="1800" b="0" i="0" u="none" strike="noStrike" baseline="0" dirty="0">
                <a:latin typeface="Wingdings-Regular"/>
              </a:rPr>
              <a:t>  </a:t>
            </a:r>
            <a:r>
              <a:rPr lang="zh-CN" altLang="en-US" sz="1800" b="1" i="0" u="none" strike="noStrike" baseline="0" dirty="0">
                <a:latin typeface="SourceHanSansSC-Bold"/>
              </a:rPr>
              <a:t>政治意识。</a:t>
            </a:r>
            <a:r>
              <a:rPr lang="zh-CN" altLang="en-US" sz="1800" b="0" i="0" u="none" strike="noStrike" baseline="0" dirty="0">
                <a:latin typeface="SourceHanSansSC-Regular"/>
              </a:rPr>
              <a:t>见 </a:t>
            </a:r>
            <a:r>
              <a:rPr lang="en-US" altLang="zh-CN" sz="1800" b="0" i="0" u="none" strike="noStrike" baseline="0" dirty="0">
                <a:latin typeface="HelveticaNeue-Condensed"/>
              </a:rPr>
              <a:t>10.1.2.6 </a:t>
            </a:r>
            <a:r>
              <a:rPr lang="zh-CN" altLang="en-US" sz="1800" b="0" i="0" u="none" strike="noStrike" baseline="0" dirty="0">
                <a:latin typeface="SourceHanSansSC-Regular"/>
              </a:rPr>
              <a:t>节。政治意识有助于项目经理在项目期间引导相关方参与，以保持相关方的支持。</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可以召开会议，支持沟通策略和沟通计划所定义的行动。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35507794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10.2.3 </a:t>
            </a:r>
            <a:r>
              <a:rPr lang="zh-CN" altLang="en-US" sz="1800" b="0" i="0" u="none" strike="noStrike" baseline="0" dirty="0">
                <a:latin typeface="SourceHanSansSC-Medium"/>
              </a:rPr>
              <a:t>管理沟通：输出</a:t>
            </a:r>
          </a:p>
          <a:p>
            <a:pPr algn="l"/>
            <a:r>
              <a:rPr lang="en-US" altLang="zh-CN" sz="1800" b="0" i="0" u="none" strike="noStrike" baseline="0" dirty="0">
                <a:latin typeface="HelveticaNeue-MediumCond"/>
              </a:rPr>
              <a:t>10.2.3.1 </a:t>
            </a:r>
            <a:r>
              <a:rPr lang="zh-CN" altLang="en-US" sz="1800" b="0" i="0" u="none" strike="noStrike" baseline="0" dirty="0">
                <a:latin typeface="SourceHanSansSC-Medium"/>
              </a:rPr>
              <a:t>项目沟通记录</a:t>
            </a:r>
          </a:p>
          <a:p>
            <a:pPr algn="l"/>
            <a:r>
              <a:rPr lang="zh-CN" altLang="en-US" sz="1800" b="0" i="0" u="none" strike="noStrike" baseline="0" dirty="0">
                <a:latin typeface="SourceHanSansSC-Regular"/>
              </a:rPr>
              <a:t>项目沟通工件可包括（但不限于）：绩效报告、可交付成果的状态、进度进展、产生的成本、演示，以及相关方需要的其他信息。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10.2.3.2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项目管理计划的任何变更都以变更请求的形式提出，且通过组织的变更控制过程进行处理。可在本过程更新的项目管理计划包括（但不限于）：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节。如果本过程导致了项目沟通方法发生变更，就要把这种变更反映在项目沟通计划中。</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节。本过程将导致相关方的沟通需求以及商定的沟通策略需要更新。</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10.2.3.3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节。更新问题日志，反映项目的沟通问题，或如何通过沟通来解决实际问题。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4.3.3.1 </a:t>
            </a:r>
            <a:r>
              <a:rPr lang="zh-CN" altLang="en-US" sz="1800" b="0" i="0" u="none" strike="noStrike" baseline="0" dirty="0">
                <a:latin typeface="SourceHanSansSC-Regular"/>
              </a:rPr>
              <a:t>节。更新经验教训登记册，记录在项目中遇到的挑战、本可采取的规避方法，以及适用和不适用于管理沟通的方法。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节。可能需要更新项目进度计划，以反映沟通活动的状态。</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节。更新风险登记册，记录与管理沟通相关的风险。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节。更新相关方登记册，记录关于项目相关方沟通活动的信息。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10.2.3.4 </a:t>
            </a:r>
            <a:r>
              <a:rPr lang="zh-CN" altLang="en-US" sz="1800" b="0" i="0" u="none" strike="noStrike" baseline="0" dirty="0">
                <a:latin typeface="SourceHanSansSC-Medium"/>
              </a:rPr>
              <a:t>组织过程资产更新</a:t>
            </a:r>
            <a:r>
              <a:rPr lang="zh-CN" altLang="en-US" sz="1800" b="0" i="0" u="none" strike="noStrike" baseline="0" dirty="0">
                <a:latin typeface="SourceHanSansSC-Regular"/>
              </a:rPr>
              <a:t>可在本过程更新的组织过程资产包括（但不限于）：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项目记录，例如往来函件、备忘录、会议记录及项目中使用的其他文档；</a:t>
            </a:r>
          </a:p>
          <a:p>
            <a:pPr algn="l"/>
            <a:r>
              <a:rPr lang="en-US" altLang="zh-CN" sz="1800" b="0" i="0" u="none" strike="noStrike" baseline="0" dirty="0">
                <a:latin typeface="Wingdings-Regular"/>
              </a:rPr>
              <a:t>  </a:t>
            </a:r>
            <a:r>
              <a:rPr lang="zh-CN" altLang="en-US" sz="1800" b="0" i="0" u="none" strike="noStrike" baseline="0" dirty="0">
                <a:latin typeface="SourceHanSansSC-Regular"/>
              </a:rPr>
              <a:t>计划内的和临时的项目报告和演示。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36480252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dirty="0"/>
              <a:t>监督沟通 属于监控过程组</a:t>
            </a:r>
            <a:endParaRPr lang="en-US" altLang="zh-CN" dirty="0"/>
          </a:p>
          <a:p>
            <a:pPr algn="l"/>
            <a:r>
              <a:rPr lang="zh-CN" altLang="en-US" sz="1800" b="0" i="0" u="none" strike="noStrike" baseline="0" dirty="0">
                <a:latin typeface="SourceHanSansSC-Regular"/>
              </a:rPr>
              <a:t>项目沟通的影响和结果应该接受认真的评估和监督，以确保在正确的时间，通过正确的渠道，将正确的内容（发送方和接收方对其理解一致）传递给正确的受众。</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监督沟通可能需要采取各种方法，例如，开展客户满意度调查、整理经验教训、开展团队观察、审查问题日志中的数据，或评估相关方参与度评估矩阵中的变更。</a:t>
            </a:r>
            <a:endParaRPr lang="en-US" altLang="zh-CN" dirty="0"/>
          </a:p>
          <a:p>
            <a:pPr algn="l"/>
            <a:r>
              <a:rPr lang="zh-CN" altLang="en-US" sz="1800" b="0" i="0" u="none" strike="noStrike" baseline="0" dirty="0">
                <a:latin typeface="SourceHanSansSC-Regular"/>
              </a:rPr>
              <a:t>监督沟通过程可能触发规划沟通管理和（或）管理沟通过程的迭代，以便修改沟通计划并开展额外的沟通活动，来提升沟通的效果</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959544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10.3.1 </a:t>
            </a:r>
            <a:r>
              <a:rPr lang="zh-CN" altLang="en-US" sz="1800" b="0" i="0" u="none" strike="noStrike" baseline="0" dirty="0">
                <a:latin typeface="SourceHanSansSC-Medium"/>
              </a:rPr>
              <a:t>监督沟通：输入</a:t>
            </a:r>
          </a:p>
          <a:p>
            <a:pPr algn="l"/>
            <a:r>
              <a:rPr lang="en-US" altLang="zh-CN" sz="1800" b="0" i="0" u="none" strike="noStrike" baseline="0" dirty="0">
                <a:latin typeface="HelveticaNeue-MediumCond"/>
              </a:rPr>
              <a:t>10.3.1.1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节。通过描述角色和职责，以及项目组织结构图，资源管理计划可用于理解实际的项目组织及其任何变更。</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节。沟通管理计划是关于及时收集、生成和发布信息的现行计划，它确定了沟通过程中的团队成员、相关方和有关工作。</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节。相关方参与计划确定了计划用以引导相关方参与的沟通策略。</a:t>
            </a:r>
          </a:p>
          <a:p>
            <a:pPr algn="l"/>
            <a:r>
              <a:rPr lang="en-US" altLang="zh-CN" sz="1800" b="0" i="0" u="none" strike="noStrike" baseline="0" dirty="0">
                <a:latin typeface="HelveticaNeue-MediumCond"/>
              </a:rPr>
              <a:t>10.3.1.2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节。问题日志提供项目的历史信息、相关方参与问题的记录，以及它们如何得以解决。</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节。在项目早期获取的经验教训可用于项目后期阶段，以改进沟通效果。</a:t>
            </a:r>
          </a:p>
          <a:p>
            <a:pPr algn="l"/>
            <a:r>
              <a:rPr lang="en-US" altLang="zh-CN" sz="1800" b="0" i="0" u="none" strike="noStrike" baseline="0" dirty="0">
                <a:latin typeface="Wingdings-Regular"/>
              </a:rPr>
              <a:t>  </a:t>
            </a:r>
            <a:r>
              <a:rPr lang="zh-CN" altLang="en-US" sz="1800" b="1" i="0" u="none" strike="noStrike" baseline="0" dirty="0">
                <a:latin typeface="SourceHanSansSC-Bold"/>
              </a:rPr>
              <a:t>项目沟通记录。</a:t>
            </a:r>
            <a:r>
              <a:rPr lang="zh-CN" altLang="en-US" sz="1800" b="0" i="0" u="none" strike="noStrike" baseline="0" dirty="0">
                <a:latin typeface="SourceHanSansSC-Regular"/>
              </a:rPr>
              <a:t>见 </a:t>
            </a:r>
            <a:r>
              <a:rPr lang="en-US" altLang="zh-CN" sz="1800" b="0" i="0" u="none" strike="noStrike" baseline="0" dirty="0">
                <a:latin typeface="HelveticaNeue-Condensed"/>
              </a:rPr>
              <a:t>10.2.3.1 </a:t>
            </a:r>
            <a:r>
              <a:rPr lang="zh-CN" altLang="en-US" sz="1800" b="0" i="0" u="none" strike="noStrike" baseline="0" dirty="0">
                <a:latin typeface="SourceHanSansSC-Regular"/>
              </a:rPr>
              <a:t>节。提供关于已开展的沟通的信息。</a:t>
            </a:r>
          </a:p>
          <a:p>
            <a:pPr algn="l"/>
            <a:r>
              <a:rPr lang="en-US" altLang="zh-CN" sz="1800" b="0" i="0" u="none" strike="noStrike" baseline="0" dirty="0">
                <a:latin typeface="HelveticaNeue-MediumCond"/>
              </a:rPr>
              <a:t>10.3.1.3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节。工作绩效数据包含关于实际已开展的沟通类型和数量的数据。</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能够影响监督沟通过程的事业环境因素包括（但不限于）：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组织文化、政治氛围和治理框架；</a:t>
            </a:r>
          </a:p>
          <a:p>
            <a:pPr algn="l"/>
            <a:r>
              <a:rPr lang="en-US" altLang="zh-CN" sz="1800" b="0" i="0" u="none" strike="noStrike" baseline="0" dirty="0">
                <a:latin typeface="Wingdings-Regular"/>
              </a:rPr>
              <a:t>  </a:t>
            </a:r>
            <a:r>
              <a:rPr lang="zh-CN" altLang="en-US" sz="1800" b="0" i="0" u="none" strike="noStrike" baseline="0" dirty="0">
                <a:latin typeface="SourceHanSansSC-Regular"/>
              </a:rPr>
              <a:t>已确立的沟通渠道、工具和系统；</a:t>
            </a:r>
          </a:p>
          <a:p>
            <a:pPr algn="l"/>
            <a:r>
              <a:rPr lang="en-US" altLang="zh-CN" sz="1800" b="0" i="0" u="none" strike="noStrike" baseline="0" dirty="0">
                <a:latin typeface="Wingdings-Regular"/>
              </a:rPr>
              <a:t>  </a:t>
            </a:r>
            <a:r>
              <a:rPr lang="zh-CN" altLang="en-US" sz="1800" b="0" i="0" u="none" strike="noStrike" baseline="0" dirty="0">
                <a:latin typeface="SourceHanSansSC-Regular"/>
              </a:rPr>
              <a:t>全球、区域或当地的趋势、实践或习俗；</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HelveticaNeue-MediumCond"/>
              </a:rPr>
              <a:t>10.3.1.5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可能影响监督沟通过程的组织过程资产包括（但不限于）：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企业的社交媒体、道德和安全政策及程序；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组织对沟通的要求；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制作、交换、储存和检索信息的标准化指南；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以往项目的历史信息和经验教训知识库；</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以往项目的相关方及沟通数据和信息。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857645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10.3.2 </a:t>
            </a:r>
            <a:r>
              <a:rPr lang="zh-CN" altLang="en-US" sz="1800" b="0" i="0" u="none" strike="noStrike" baseline="0" dirty="0">
                <a:latin typeface="SourceHanSansSC-Medium"/>
              </a:rPr>
              <a:t>监督沟通：工具与技术</a:t>
            </a:r>
          </a:p>
          <a:p>
            <a:pPr algn="l"/>
            <a:r>
              <a:rPr lang="en-US" altLang="zh-CN" sz="1800" b="0" i="0" u="none" strike="noStrike" baseline="0" dirty="0">
                <a:latin typeface="HelveticaNeue-MediumCond"/>
              </a:rPr>
              <a:t>10.3.2.1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与公众、社区和媒体的沟通，在国际环境中的沟通，以及虚拟小组之间的沟通；</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沟通和项目管理系统。</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10.3.2.2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节。项目管理信息系统为项目经理提供一系列标准化工具，以根据沟通计划为内部和外部的相关方收集、储存与发布所需的信息。应监控该系统中的信息以评估其有效性和效果。</a:t>
            </a:r>
          </a:p>
          <a:p>
            <a:pPr algn="l"/>
            <a:r>
              <a:rPr lang="en-US" altLang="zh-CN" sz="1800" b="0" i="0" u="none" strike="noStrike" baseline="0" dirty="0">
                <a:latin typeface="HelveticaNeue-MediumCond"/>
              </a:rPr>
              <a:t>10.3.2.3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适用的数据表现技术包括（但不限于）相关方参与度评估矩阵（见 </a:t>
            </a:r>
            <a:r>
              <a:rPr lang="en-US" altLang="zh-CN" sz="1800" b="0" i="0" u="none" strike="noStrike" baseline="0" dirty="0">
                <a:latin typeface="HelveticaNeue-Condensed"/>
              </a:rPr>
              <a:t>13.2.2.5 </a:t>
            </a:r>
            <a:r>
              <a:rPr lang="zh-CN" altLang="en-US" sz="1800" b="0" i="0" u="none" strike="noStrike" baseline="0" dirty="0">
                <a:latin typeface="SourceHanSansSC-Regular"/>
              </a:rPr>
              <a:t>节）。它可以提供与沟通活动效果有关的信息。应该检查相关方的期望与当前参与度的变化情况，并对沟通进行必要调整。</a:t>
            </a:r>
          </a:p>
          <a:p>
            <a:pPr algn="l"/>
            <a:r>
              <a:rPr lang="en-US" altLang="zh-CN" sz="1800" b="0" i="0" u="none" strike="noStrike" baseline="0" dirty="0">
                <a:latin typeface="HelveticaNeue-MediumCond"/>
              </a:rPr>
              <a:t>10.3.2.4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适用于本过程的人际关系与团队技能包括（但不限于）观察和交谈（见 </a:t>
            </a:r>
            <a:r>
              <a:rPr lang="en-US" altLang="zh-CN" sz="1800" b="0" i="0" u="none" strike="noStrike" baseline="0" dirty="0">
                <a:latin typeface="HelveticaNeue-Condensed"/>
              </a:rPr>
              <a:t>5.2.2.6 </a:t>
            </a:r>
            <a:r>
              <a:rPr lang="zh-CN" altLang="en-US" sz="1800" b="0" i="0" u="none" strike="noStrike" baseline="0" dirty="0">
                <a:latin typeface="SourceHanSansSC-Regular"/>
              </a:rPr>
              <a:t>节）。与项目团队展开讨论和对话，有助于确定最合适的方法，用于更新和沟通项目绩效，以及回应相关方的信息请求。通过观察和交谈，项目经理能够发现团队内的问题、人员间的冲突，或个人绩效问题。</a:t>
            </a:r>
          </a:p>
          <a:p>
            <a:pPr algn="l"/>
            <a:r>
              <a:rPr lang="en-US" altLang="zh-CN" sz="1800" b="0" i="0" u="none" strike="noStrike" baseline="0" dirty="0">
                <a:latin typeface="HelveticaNeue-MediumCond"/>
              </a:rPr>
              <a:t>10.3.2.5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面对面或虚拟会议适用于制定决策，回应相关方请求，与提供方、供应方及其他项目相关方讨论。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7743872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10.3.3 </a:t>
            </a:r>
            <a:r>
              <a:rPr lang="zh-CN" altLang="en-US" sz="1800" b="0" i="0" u="none" strike="noStrike" baseline="0" dirty="0">
                <a:latin typeface="SourceHanSansSC-Medium"/>
              </a:rPr>
              <a:t>监督沟通：输出</a:t>
            </a:r>
          </a:p>
          <a:p>
            <a:pPr algn="l"/>
            <a:r>
              <a:rPr lang="en-US" altLang="zh-CN" sz="1800" b="0" i="0" u="none" strike="noStrike" baseline="0" dirty="0">
                <a:latin typeface="HelveticaNeue-MediumCond"/>
              </a:rPr>
              <a:t>10.3.3.1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节。工作绩效信息包括与计划相比较的沟通的实际开展情况；它也包括对沟通的反馈，例如关于沟通效果的调查结果。</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10.3.3.2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节。监督沟通过程往往会导致需要对沟通管理计划所定义的沟通活动进行调整、采取行动和进行干预。变更请求需要通过实施整体变更控制过程（见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节）进行处理。</a:t>
            </a:r>
          </a:p>
          <a:p>
            <a:pPr algn="l"/>
            <a:r>
              <a:rPr lang="zh-CN" altLang="en-US" sz="1800" b="0" i="0" u="none" strike="noStrike" baseline="0" dirty="0">
                <a:latin typeface="SourceHanSansSC-Regular"/>
              </a:rPr>
              <a:t>此类变更请求可能导致：</a:t>
            </a:r>
          </a:p>
          <a:p>
            <a:pPr algn="l"/>
            <a:r>
              <a:rPr lang="en-US" altLang="zh-CN" sz="1800" b="0" i="0" u="none" strike="noStrike" baseline="0" dirty="0">
                <a:latin typeface="Wingdings-Regular"/>
              </a:rPr>
              <a:t>  </a:t>
            </a:r>
            <a:r>
              <a:rPr lang="zh-CN" altLang="en-US" sz="1800" b="0" i="0" u="none" strike="noStrike" baseline="0" dirty="0">
                <a:latin typeface="SourceHanSansSC-Regular"/>
              </a:rPr>
              <a:t>修正相关方的沟通要求，包括相关方对信息发布、内容或形式，以及发布方式的要求；</a:t>
            </a:r>
          </a:p>
          <a:p>
            <a:pPr algn="l"/>
            <a:r>
              <a:rPr lang="en-US" altLang="zh-CN" sz="1800" b="0" i="0" u="none" strike="noStrike" baseline="0" dirty="0">
                <a:latin typeface="Wingdings-Regular"/>
              </a:rPr>
              <a:t>  </a:t>
            </a:r>
            <a:r>
              <a:rPr lang="zh-CN" altLang="en-US" sz="1800" b="0" i="0" u="none" strike="noStrike" baseline="0" dirty="0">
                <a:latin typeface="SourceHanSansSC-Regular"/>
              </a:rPr>
              <a:t>建立消除瓶颈的新程序。</a:t>
            </a:r>
          </a:p>
          <a:p>
            <a:pPr algn="l"/>
            <a:r>
              <a:rPr lang="en-US" altLang="zh-CN" sz="1800" b="0" i="0" u="none" strike="noStrike" baseline="0" dirty="0">
                <a:latin typeface="HelveticaNeue-MediumCond"/>
              </a:rPr>
              <a:t>10.3.3.3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项目管理计划的任何变更都以变更请求的形式提出，且通过组织的变更控制过程进行处理。可能需要变更的项目管理计划组件包括（但不限于）：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沟通管理计划。</a:t>
            </a:r>
            <a:r>
              <a:rPr lang="zh-CN" altLang="en-US" sz="1800" b="0" i="0" u="none" strike="noStrike" baseline="0" dirty="0">
                <a:latin typeface="SourceHanSansSC-Regular"/>
              </a:rPr>
              <a:t>见 </a:t>
            </a:r>
            <a:r>
              <a:rPr lang="en-US" altLang="zh-CN" sz="1800" b="0" i="0" u="none" strike="noStrike" baseline="0" dirty="0">
                <a:latin typeface="HelveticaNeue-Condensed"/>
              </a:rPr>
              <a:t>10.1.3.1 </a:t>
            </a:r>
            <a:r>
              <a:rPr lang="zh-CN" altLang="en-US" sz="1800" b="0" i="0" u="none" strike="noStrike" baseline="0" dirty="0">
                <a:latin typeface="SourceHanSansSC-Regular"/>
              </a:rPr>
              <a:t>节。需要更新沟通管理计划，记录能够让沟通更有效的新信息。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节。需要更新相关方参与计划，反映相关方的实际情况、沟通需求和重要性。</a:t>
            </a:r>
          </a:p>
          <a:p>
            <a:pPr algn="l"/>
            <a:r>
              <a:rPr lang="en-US" altLang="zh-CN" sz="1800" b="0" i="0" u="none" strike="noStrike" baseline="0" dirty="0">
                <a:latin typeface="HelveticaNeue-MediumCond"/>
              </a:rPr>
              <a:t>10.3.3.4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节。可能需要更新问题日志，记录与出现的问题及其处理进展和解决办法相关的新信息。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节。可能需要更新经验教训登记册，记录问题的原因、所选纠正措施的理由，以及其他与沟通有关的经验教训。</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节。可能需要更新相关方登记册，加入修订的相关方沟通要求。</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4602122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某公司有水电站项目，工程费用加倍，进度延期。规划阶段没有识别出风险，没有相关的风险对策，导致项目失败，公司倒闭。</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37452737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幻灯片图像占位符 1">
            <a:extLst>
              <a:ext uri="{FF2B5EF4-FFF2-40B4-BE49-F238E27FC236}">
                <a16:creationId xmlns:a16="http://schemas.microsoft.com/office/drawing/2014/main" id="{987B6CC3-3060-41CB-B81E-98D66A3C9E39}"/>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699" name="备注占位符 2">
            <a:extLst>
              <a:ext uri="{FF2B5EF4-FFF2-40B4-BE49-F238E27FC236}">
                <a16:creationId xmlns:a16="http://schemas.microsoft.com/office/drawing/2014/main" id="{F99801DE-1094-4E9C-AD2C-EBAE565863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285700" name="灯片编号占位符 3">
            <a:extLst>
              <a:ext uri="{FF2B5EF4-FFF2-40B4-BE49-F238E27FC236}">
                <a16:creationId xmlns:a16="http://schemas.microsoft.com/office/drawing/2014/main" id="{3F95E157-5311-4A14-BB1F-9079440C7D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0E0800-7CA9-4D86-A664-D6215A8861D7}" type="slidenum">
              <a:rPr lang="zh-CN" altLang="en-US" smtClean="0"/>
              <a:pPr/>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9C8BCF-5A54-417F-A8E8-32CB8060EE63}"/>
              </a:ext>
            </a:extLst>
          </p:cNvPr>
          <p:cNvSpPr>
            <a:spLocks noGrp="1" noChangeArrowheads="1"/>
          </p:cNvSpPr>
          <p:nvPr>
            <p:ph type="sldNum" sz="quarter" idx="5"/>
          </p:nvPr>
        </p:nvSpPr>
        <p:spPr>
          <a:ln/>
        </p:spPr>
        <p:txBody>
          <a:bodyPr/>
          <a:lstStyle/>
          <a:p>
            <a:fld id="{946F0026-D40D-46BC-8C02-8E82FB8982AF}" type="slidenum">
              <a:rPr lang="en-US" altLang="zh-CN"/>
              <a:pPr/>
              <a:t>43</a:t>
            </a:fld>
            <a:endParaRPr lang="en-US" altLang="zh-CN"/>
          </a:p>
        </p:txBody>
      </p:sp>
      <p:sp>
        <p:nvSpPr>
          <p:cNvPr id="621570" name="Rectangle 2">
            <a:extLst>
              <a:ext uri="{FF2B5EF4-FFF2-40B4-BE49-F238E27FC236}">
                <a16:creationId xmlns:a16="http://schemas.microsoft.com/office/drawing/2014/main" id="{24912A65-8303-4DE2-8643-1B95CE456AAC}"/>
              </a:ext>
            </a:extLst>
          </p:cNvPr>
          <p:cNvSpPr>
            <a:spLocks noGrp="1" noRot="1" noChangeAspect="1" noChangeArrowheads="1" noTextEdit="1"/>
          </p:cNvSpPr>
          <p:nvPr>
            <p:ph type="sldImg"/>
          </p:nvPr>
        </p:nvSpPr>
        <p:spPr>
          <a:xfrm>
            <a:off x="384175" y="687388"/>
            <a:ext cx="6091238" cy="3427412"/>
          </a:xfrm>
          <a:ln/>
        </p:spPr>
      </p:sp>
      <p:sp>
        <p:nvSpPr>
          <p:cNvPr id="621571" name="Rectangle 3">
            <a:extLst>
              <a:ext uri="{FF2B5EF4-FFF2-40B4-BE49-F238E27FC236}">
                <a16:creationId xmlns:a16="http://schemas.microsoft.com/office/drawing/2014/main" id="{8B53CA33-4504-455B-BA5F-B5FDE642456E}"/>
              </a:ext>
            </a:extLst>
          </p:cNvPr>
          <p:cNvSpPr>
            <a:spLocks noGrp="1" noChangeArrowheads="1"/>
          </p:cNvSpPr>
          <p:nvPr>
            <p:ph type="body" idx="1"/>
          </p:nvPr>
        </p:nvSpPr>
        <p:spPr>
          <a:xfrm>
            <a:off x="393700" y="4202113"/>
            <a:ext cx="6051550" cy="4702175"/>
          </a:xfrm>
        </p:spPr>
        <p:txBody>
          <a:bodyPr/>
          <a:lstStyle/>
          <a:p>
            <a:pPr>
              <a:lnSpc>
                <a:spcPct val="90000"/>
              </a:lnSpc>
              <a:spcBef>
                <a:spcPct val="0"/>
              </a:spcBef>
            </a:pPr>
            <a:r>
              <a:rPr lang="zh-CN" altLang="en-US" dirty="0">
                <a:latin typeface="宋体" panose="02010600030101010101" pitchFamily="2" charset="-122"/>
              </a:rPr>
              <a:t>风险肯定带有不确定性，但具有不确定性的事件不一定就是负面风险。</a:t>
            </a:r>
          </a:p>
          <a:p>
            <a:pPr>
              <a:lnSpc>
                <a:spcPct val="90000"/>
              </a:lnSpc>
              <a:spcBef>
                <a:spcPct val="0"/>
              </a:spcBef>
            </a:pPr>
            <a:r>
              <a:rPr lang="en-US" altLang="zh-CN" dirty="0"/>
              <a:t>IT</a:t>
            </a:r>
            <a:r>
              <a:rPr lang="zh-CN" altLang="en-US" dirty="0"/>
              <a:t>行业软件项目开发是一项可能有损失的活动。不管开发过程如何进行都有可能超出预算或时间延迟。项目开发的方式很少能保证开发工作一定成功，都要冒一定的风险。因此也就需要进行项目风险分析。</a:t>
            </a:r>
          </a:p>
          <a:p>
            <a:pPr>
              <a:lnSpc>
                <a:spcPct val="90000"/>
              </a:lnSpc>
              <a:spcBef>
                <a:spcPct val="0"/>
              </a:spcBef>
            </a:pPr>
            <a:r>
              <a:rPr lang="zh-CN" altLang="en-US" dirty="0">
                <a:latin typeface="宋体" panose="02010600030101010101" pitchFamily="2" charset="-122"/>
              </a:rPr>
              <a:t>因此，我们定义项目管理中的风险：</a:t>
            </a:r>
            <a:r>
              <a:rPr lang="zh-CN" altLang="en-US" b="1" dirty="0">
                <a:latin typeface="宋体" panose="02010600030101010101" pitchFamily="2" charset="-122"/>
              </a:rPr>
              <a:t>项目管理中的风险</a:t>
            </a:r>
            <a:r>
              <a:rPr lang="zh-CN" altLang="en-US" dirty="0">
                <a:latin typeface="宋体" panose="02010600030101010101" pitchFamily="2" charset="-122"/>
              </a:rPr>
              <a:t>就是在项目管理活动或事件中消极的、项目管理人员不希望的后果发生的潜在可能性。</a:t>
            </a:r>
          </a:p>
          <a:p>
            <a:pPr>
              <a:lnSpc>
                <a:spcPct val="90000"/>
              </a:lnSpc>
              <a:spcBef>
                <a:spcPct val="0"/>
              </a:spcBef>
            </a:pPr>
            <a:r>
              <a:rPr lang="zh-CN" altLang="en-US" dirty="0">
                <a:latin typeface="宋体" panose="02010600030101010101" pitchFamily="2" charset="-122"/>
              </a:rPr>
              <a:t>在这里，我们所说的项目管理中的风险通常与以下情况相联：</a:t>
            </a:r>
            <a:br>
              <a:rPr lang="zh-CN" altLang="en-US" dirty="0"/>
            </a:br>
            <a:r>
              <a:rPr lang="en-US" altLang="zh-CN" dirty="0"/>
              <a:t>1</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有损失或收益与之相联系；</a:t>
            </a:r>
          </a:p>
          <a:p>
            <a:pPr>
              <a:lnSpc>
                <a:spcPct val="90000"/>
              </a:lnSpc>
              <a:spcBef>
                <a:spcPct val="0"/>
              </a:spcBef>
            </a:pPr>
            <a:r>
              <a:rPr lang="en-US" altLang="zh-CN" dirty="0"/>
              <a:t>2</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涉及到某种必然性或不确定性；</a:t>
            </a:r>
          </a:p>
          <a:p>
            <a:pPr>
              <a:lnSpc>
                <a:spcPct val="90000"/>
              </a:lnSpc>
              <a:spcBef>
                <a:spcPct val="0"/>
              </a:spcBef>
            </a:pPr>
            <a:r>
              <a:rPr lang="en-US" altLang="zh-CN" dirty="0"/>
              <a:t>3</a:t>
            </a:r>
            <a:r>
              <a:rPr lang="zh-CN" altLang="en-US" dirty="0">
                <a:latin typeface="宋体" panose="02010600030101010101" pitchFamily="2" charset="-122"/>
              </a:rPr>
              <a:t>、</a:t>
            </a:r>
            <a:r>
              <a:rPr lang="zh-CN" altLang="en-US" dirty="0"/>
              <a:t> </a:t>
            </a:r>
            <a:r>
              <a:rPr lang="zh-CN" altLang="en-US" dirty="0">
                <a:latin typeface="宋体" panose="02010600030101010101" pitchFamily="2" charset="-122"/>
              </a:rPr>
              <a:t>涉及到某种选择。</a:t>
            </a:r>
            <a:r>
              <a:rPr lang="zh-CN" altLang="en-US" dirty="0"/>
              <a:t> </a:t>
            </a:r>
          </a:p>
          <a:p>
            <a:pPr>
              <a:lnSpc>
                <a:spcPct val="90000"/>
              </a:lnSpc>
              <a:spcBef>
                <a:spcPct val="0"/>
              </a:spcBef>
            </a:pPr>
            <a:r>
              <a:rPr lang="zh-CN" altLang="en-US" dirty="0"/>
              <a:t>项目风险管理就是贯穿在项目开发过程中的一系列管理步骤。</a:t>
            </a:r>
          </a:p>
          <a:p>
            <a:pPr>
              <a:lnSpc>
                <a:spcPct val="90000"/>
              </a:lnSpc>
              <a:spcBef>
                <a:spcPct val="0"/>
              </a:spcBef>
            </a:pPr>
            <a:endParaRPr lang="zh-CN" altLang="en-US" dirty="0"/>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那么，如果组织常常会遭受损失与损害，他们为什么还接连不断地引进新系统呢？如果</a:t>
            </a:r>
            <a:r>
              <a:rPr lang="en-US" altLang="zh-CN" dirty="0">
                <a:solidFill>
                  <a:schemeClr val="tx2"/>
                </a:solidFill>
              </a:rPr>
              <a:t>IT</a:t>
            </a:r>
            <a:r>
              <a:rPr lang="zh-CN" altLang="en-US" dirty="0">
                <a:solidFill>
                  <a:schemeClr val="tx2"/>
                </a:solidFill>
              </a:rPr>
              <a:t>项目的失败率是如此之高，为什么一些公司还继续启动新的</a:t>
            </a:r>
            <a:r>
              <a:rPr lang="en-US" altLang="zh-CN" dirty="0">
                <a:solidFill>
                  <a:schemeClr val="tx2"/>
                </a:solidFill>
              </a:rPr>
              <a:t>IT</a:t>
            </a:r>
            <a:r>
              <a:rPr lang="zh-CN" altLang="en-US" dirty="0">
                <a:solidFill>
                  <a:schemeClr val="tx2"/>
                </a:solidFill>
              </a:rPr>
              <a:t>项目呢？今天的许多公司之所以还在行业中摸爬滚打，是因为他们敢于承担那些创造了极好机会的风险。许多组织在追求这些机会的过程中长期地生存了下来。</a:t>
            </a:r>
          </a:p>
          <a:p>
            <a:pPr>
              <a:lnSpc>
                <a:spcPct val="90000"/>
              </a:lnSpc>
              <a:spcBef>
                <a:spcPct val="0"/>
              </a:spcBef>
              <a:buClr>
                <a:schemeClr val="tx1"/>
              </a:buClr>
              <a:buSzPct val="75000"/>
              <a:buFont typeface="Wingdings" panose="05000000000000000000" pitchFamily="2" charset="2"/>
              <a:buNone/>
            </a:pPr>
            <a:r>
              <a:rPr lang="zh-CN" altLang="en-US" dirty="0"/>
              <a:t>可见，进行风险管理，其意义是非常深远的。</a:t>
            </a:r>
          </a:p>
          <a:p>
            <a:pPr>
              <a:lnSpc>
                <a:spcPct val="90000"/>
              </a:lnSpc>
              <a:spcBef>
                <a:spcPct val="0"/>
              </a:spcBef>
              <a:buClr>
                <a:schemeClr val="tx1"/>
              </a:buClr>
              <a:buSzPct val="75000"/>
              <a:buFont typeface="Wingdings" panose="05000000000000000000" pitchFamily="2" charset="2"/>
              <a:buNone/>
            </a:pP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信息技术经常是一个企业战略的关键组成部分，没有信息技术许多企业就可能生存不下去，所有项目都包含风险和机会，那么问题是：如何决定从事什么样的项目？如何在整个项目生命周期中管理项目风险？</a:t>
            </a:r>
          </a:p>
          <a:p>
            <a:pPr>
              <a:lnSpc>
                <a:spcPct val="90000"/>
              </a:lnSpc>
              <a:spcBef>
                <a:spcPct val="0"/>
              </a:spcBef>
              <a:buClr>
                <a:schemeClr val="tx1"/>
              </a:buClr>
              <a:buSzPct val="75000"/>
              <a:buFont typeface="Wingdings" panose="05000000000000000000" pitchFamily="2" charset="2"/>
              <a:buNone/>
            </a:pP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latin typeface="Tahoma" panose="020B0604030504040204" pitchFamily="34" charset="0"/>
                <a:ea typeface="华文琥珀" panose="020B0503020204020204" pitchFamily="2" charset="-122"/>
              </a:rPr>
              <a:t>有无风险：人们的选择和决策是不一样的。</a:t>
            </a:r>
            <a:endParaRPr lang="zh-CN" altLang="en-US" dirty="0">
              <a:solidFill>
                <a:schemeClr val="tx2"/>
              </a:solidFill>
            </a:endParaRPr>
          </a:p>
          <a:p>
            <a:pPr>
              <a:lnSpc>
                <a:spcPct val="90000"/>
              </a:lnSpc>
              <a:spcBef>
                <a:spcPct val="0"/>
              </a:spcBef>
              <a:buClr>
                <a:schemeClr val="tx1"/>
              </a:buClr>
              <a:buSzPct val="75000"/>
              <a:buFont typeface="Wingdings" panose="05000000000000000000" pitchFamily="2" charset="2"/>
              <a:buNone/>
            </a:pPr>
            <a:r>
              <a:rPr lang="zh-CN" altLang="en-US" dirty="0">
                <a:solidFill>
                  <a:schemeClr val="tx2"/>
                </a:solidFill>
              </a:rPr>
              <a:t>说到这里就涉及到一个风险承受度的概念。</a:t>
            </a:r>
          </a:p>
          <a:p>
            <a:pPr>
              <a:lnSpc>
                <a:spcPct val="90000"/>
              </a:lnSpc>
              <a:spcBef>
                <a:spcPct val="0"/>
              </a:spcBef>
            </a:pPr>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既然项目是为交付收益而开展的、具有不同复杂程度的独特性工作，那自然就会充满风险。</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项目风险管理的发展趋势和新兴实践</a:t>
            </a:r>
          </a:p>
          <a:p>
            <a:pPr algn="l"/>
            <a:r>
              <a:rPr lang="zh-CN" altLang="en-US" sz="1800" b="0" i="0" u="none" strike="noStrike" baseline="0" dirty="0">
                <a:latin typeface="SourceHanSansSC-Regular"/>
              </a:rPr>
              <a:t>项目风险管理的关注面正在扩大，以便确保考虑所有类型的风险，并在更广泛的背景中理解项目风险。项目风险管理的发展趋势和新兴实践包括（但不限于）：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非事件类风险。</a:t>
            </a:r>
            <a:r>
              <a:rPr lang="zh-CN" altLang="en-US" sz="1800" b="0" i="0" u="none" strike="noStrike" baseline="0" dirty="0">
                <a:latin typeface="SourceHanSansSC-Regular"/>
              </a:rPr>
              <a:t>大多数项目只关注作为可能发生或不发生的不确定性未来事件的风险。例如：关键卖方可能在项目期间停业，客户可能在设计完成后变更需求，或分包商可能要求对标准化操作流程进行优化。</a:t>
            </a:r>
          </a:p>
          <a:p>
            <a:pPr algn="l"/>
            <a:r>
              <a:rPr lang="zh-CN" altLang="en-US" sz="1800" b="0" i="0" u="none" strike="noStrike" baseline="0" dirty="0">
                <a:latin typeface="SourceHanSansSC-Regular"/>
              </a:rPr>
              <a:t>不过，识别并管理非事件类风险的意识正在不断加强。非事件类风险有两种主要类型：</a:t>
            </a:r>
          </a:p>
          <a:p>
            <a:pPr algn="l"/>
            <a:r>
              <a:rPr lang="en-US" altLang="zh-CN" sz="1800" b="0" i="0" u="none" strike="noStrike" baseline="0" dirty="0">
                <a:latin typeface="Wingdings-Regular"/>
              </a:rPr>
              <a:t>     </a:t>
            </a:r>
            <a:r>
              <a:rPr lang="zh-CN" altLang="en-US" sz="1800" b="1" i="0" u="none" strike="noStrike" baseline="0" dirty="0">
                <a:latin typeface="SourceHanSansSC-Bold"/>
              </a:rPr>
              <a:t>变异性风险。</a:t>
            </a:r>
            <a:r>
              <a:rPr lang="zh-CN" altLang="en-US" sz="1800" b="0" i="0" u="none" strike="noStrike" baseline="0" dirty="0">
                <a:latin typeface="SourceHanSansSC-Regular"/>
              </a:rPr>
              <a:t>已规划事件、活动或决策的某些关键方面存在不确定性，就导致变异性风险。例如，生产率可能高于或低于目标值，测试发现的错误数量可能多于或少于预期，或施工阶段可能出现反常的天气情况。</a:t>
            </a:r>
          </a:p>
          <a:p>
            <a:pPr algn="l"/>
            <a:r>
              <a:rPr lang="en-US" altLang="zh-CN" sz="1800" b="0" i="0" u="none" strike="noStrike" baseline="0" dirty="0">
                <a:latin typeface="Wingdings-Regular"/>
              </a:rPr>
              <a:t>     </a:t>
            </a:r>
            <a:r>
              <a:rPr lang="zh-CN" altLang="en-US" sz="1800" b="1" i="0" u="none" strike="noStrike" baseline="0" dirty="0">
                <a:latin typeface="SourceHanSansSC-Bold"/>
              </a:rPr>
              <a:t>模糊性风险。</a:t>
            </a:r>
            <a:r>
              <a:rPr lang="zh-CN" altLang="en-US" sz="1800" b="0" i="0" u="none" strike="noStrike" baseline="0" dirty="0">
                <a:latin typeface="SourceHanSansSC-Regular"/>
              </a:rPr>
              <a:t>对未来可能发生什么，存在不确定性。知识不足可能影响项目达成目标的能力，例如，不太了解需求或技术解决方案的要素、法规框架的未来发展，或项目内在的系统复杂性。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a:t>
            </a:r>
            <a:r>
              <a:rPr lang="zh-CN" altLang="en-US" sz="1800" b="1" i="0" u="none" strike="noStrike" baseline="0" dirty="0">
                <a:latin typeface="SourceHanSansSC-Regular"/>
              </a:rPr>
              <a:t>变异性风险</a:t>
            </a:r>
            <a:r>
              <a:rPr lang="zh-CN" altLang="en-US" sz="1800" b="0" i="0" u="none" strike="noStrike" baseline="0" dirty="0">
                <a:latin typeface="SourceHanSansSC-Regular"/>
              </a:rPr>
              <a:t>可通过蒙特卡洛分析加以处理，即：用概率分布表示变异的可能区间，然后采取行动去缩小可能结果的区间。</a:t>
            </a:r>
            <a:r>
              <a:rPr lang="zh-CN" altLang="en-US" sz="1800" b="1" i="0" u="none" strike="noStrike" baseline="0" dirty="0">
                <a:latin typeface="SourceHanSansSC-Regular"/>
              </a:rPr>
              <a:t>管理模糊性风险</a:t>
            </a:r>
            <a:r>
              <a:rPr lang="zh-CN" altLang="en-US" sz="1800" b="0" i="0" u="none" strike="noStrike" baseline="0" dirty="0">
                <a:latin typeface="SourceHanSansSC-Regular"/>
              </a:rPr>
              <a:t>，则需要先定义认知或理解不足之处，进而通过获取外部专家意见或以最佳实践为标杆来填补差距。也可以采用增量开发、原型搭建或模拟等方法来处理模糊性风险。</a:t>
            </a:r>
          </a:p>
          <a:p>
            <a:pPr algn="l"/>
            <a:r>
              <a:rPr lang="en-US" altLang="zh-CN" sz="1800" b="0" i="0" u="none" strike="noStrike" baseline="0" dirty="0">
                <a:latin typeface="Wingdings-Regular"/>
              </a:rPr>
              <a:t>  </a:t>
            </a:r>
            <a:r>
              <a:rPr lang="zh-CN" altLang="en-US" sz="1800" b="1" i="0" u="none" strike="noStrike" baseline="0" dirty="0">
                <a:latin typeface="SourceHanSansSC-Bold"/>
              </a:rPr>
              <a:t>项目韧性。</a:t>
            </a:r>
            <a:r>
              <a:rPr lang="zh-CN" altLang="en-US" sz="1800" b="0" i="0" u="none" strike="noStrike" baseline="0" dirty="0">
                <a:latin typeface="SourceHanSansSC-Regular"/>
              </a:rPr>
              <a:t>随着对所谓“未知</a:t>
            </a:r>
            <a:r>
              <a:rPr lang="en-US" altLang="zh-CN" sz="1800" b="0" i="0" u="none" strike="noStrike" baseline="0" dirty="0">
                <a:latin typeface="SourceHanSansSC-Regular"/>
              </a:rPr>
              <a:t>-</a:t>
            </a:r>
            <a:r>
              <a:rPr lang="zh-CN" altLang="en-US" sz="1800" b="0" i="0" u="none" strike="noStrike" baseline="0" dirty="0">
                <a:latin typeface="SourceHanSansSC-Regular"/>
              </a:rPr>
              <a:t>未知”因素的意识的增强，人们也越来越明确地知道确实存在突发性风险。这种风险只有在发生后才能被发现。可以通过加强项目韧性来应对突发性风险。这就要求每个项目：</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除了为已知风险列出具体风险预算，还要为突发性风险预留合理的应急预算和时间；</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采用灵活的项目过程，包括强有力的变更管理，以便在保持朝项目目标推进的正确方向的同时，应对突发性风险；</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授权目标明确且值得信赖的项目团队在商定限制范围内完成工作；</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经常留意早期预警信号，以尽早识别突发性风险；</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明确征求相关方的意见，以明确为应对突发性风险而可以调整项目范围或策略的领域。</a:t>
            </a:r>
          </a:p>
          <a:p>
            <a:pPr algn="l"/>
            <a:r>
              <a:rPr lang="en-US" altLang="zh-CN" sz="1800" b="0" i="0" u="none" strike="noStrike" baseline="0" dirty="0" err="1">
                <a:latin typeface="Wingdings-Regular"/>
              </a:rPr>
              <a:t>uu</a:t>
            </a:r>
            <a:r>
              <a:rPr lang="zh-CN" altLang="en-US" sz="1800" b="1" i="0" u="none" strike="noStrike" baseline="0" dirty="0">
                <a:latin typeface="SourceHanSansSC-Bold"/>
              </a:rPr>
              <a:t>整合式风险管理。</a:t>
            </a:r>
            <a:r>
              <a:rPr lang="zh-CN" altLang="en-US" sz="1800" b="0" i="0" u="none" strike="noStrike" baseline="0" dirty="0">
                <a:latin typeface="SourceHanSansSC-Regular"/>
              </a:rPr>
              <a:t>项目存在于组织背景中，可能是项目集或项目组合的一部分。在</a:t>
            </a:r>
            <a:r>
              <a:rPr lang="zh-CN" altLang="en-US" sz="1800" b="1" i="0" u="none" strike="noStrike" baseline="0" dirty="0">
                <a:latin typeface="SourceHanSansSC-Regular"/>
              </a:rPr>
              <a:t>项目、项目集、项目组合和组织这些层面上，都存在风险</a:t>
            </a:r>
            <a:r>
              <a:rPr lang="zh-CN" altLang="en-US" sz="1800" b="0" i="0" u="none" strike="noStrike" baseline="0" dirty="0">
                <a:latin typeface="SourceHanSansSC-Regular"/>
              </a:rPr>
              <a:t>。应该在适当的层面上承担和管理风险。在较高层面识别出的某些风险，将被授权给项目团队去管理；而在较低层面识别出的某些风险，又可能上交给较高层面去管理（如果在项目之外管理最有效）。应该采用协调式企业级风险管理方法，来确保所有层面的风险管理工作的一致性和连贯性。这样就能使项目集和项目组合的结构具有风险效率，有利于在给定的风险敞口水平下创造最大的整体价值。</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20870440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a:extLst>
              <a:ext uri="{FF2B5EF4-FFF2-40B4-BE49-F238E27FC236}">
                <a16:creationId xmlns:a16="http://schemas.microsoft.com/office/drawing/2014/main" id="{C2B9121F-738B-449C-BD23-15BCF18DDA6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7747" name="备注占位符 2">
            <a:extLst>
              <a:ext uri="{FF2B5EF4-FFF2-40B4-BE49-F238E27FC236}">
                <a16:creationId xmlns:a16="http://schemas.microsoft.com/office/drawing/2014/main" id="{5C8E0DBC-CDCA-44A4-8A76-098AACF267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87748" name="灯片编号占位符 3">
            <a:extLst>
              <a:ext uri="{FF2B5EF4-FFF2-40B4-BE49-F238E27FC236}">
                <a16:creationId xmlns:a16="http://schemas.microsoft.com/office/drawing/2014/main" id="{0E9B07ED-98A1-48FE-8713-ECFD4CD7BAD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94FB06-861A-4C7C-A533-86C03474637A}" type="slidenum">
              <a:rPr lang="zh-CN" altLang="en-US" smtClean="0"/>
              <a:pPr/>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lvl="1" eaLnBrk="1" hangingPunct="1">
              <a:lnSpc>
                <a:spcPct val="120000"/>
              </a:lnSpc>
              <a:defRPr/>
            </a:pPr>
            <a:r>
              <a:rPr lang="en-US" altLang="zh-CN" dirty="0"/>
              <a:t>1 </a:t>
            </a:r>
            <a:r>
              <a:rPr lang="zh-CN" altLang="zh-CN" dirty="0"/>
              <a:t>规划风险管理</a:t>
            </a:r>
            <a:endParaRPr lang="en-US" altLang="zh-CN" dirty="0"/>
          </a:p>
          <a:p>
            <a:pPr lvl="2">
              <a:lnSpc>
                <a:spcPct val="120000"/>
              </a:lnSpc>
              <a:defRPr/>
            </a:pPr>
            <a:r>
              <a:rPr lang="zh-CN" altLang="en-US" dirty="0"/>
              <a:t>定义如何实施项目风险管理活动的过程</a:t>
            </a:r>
            <a:endParaRPr lang="en-US" altLang="zh-CN" dirty="0"/>
          </a:p>
          <a:p>
            <a:pPr lvl="1" eaLnBrk="1" hangingPunct="1">
              <a:lnSpc>
                <a:spcPct val="120000"/>
              </a:lnSpc>
              <a:defRPr/>
            </a:pPr>
            <a:r>
              <a:rPr lang="en-US" altLang="zh-CN" dirty="0"/>
              <a:t>2 </a:t>
            </a:r>
            <a:r>
              <a:rPr lang="zh-CN" altLang="en-US" dirty="0"/>
              <a:t>风险识别</a:t>
            </a:r>
            <a:endParaRPr lang="en-US" altLang="zh-CN" dirty="0"/>
          </a:p>
          <a:p>
            <a:pPr lvl="2">
              <a:lnSpc>
                <a:spcPct val="120000"/>
              </a:lnSpc>
              <a:defRPr/>
            </a:pPr>
            <a:r>
              <a:rPr lang="zh-CN" altLang="en-US" dirty="0"/>
              <a:t>识别单个项目风险，以及整体项目风险的来源，并记录风险特征的过程</a:t>
            </a:r>
            <a:endParaRPr lang="en-US" altLang="zh-CN" dirty="0"/>
          </a:p>
          <a:p>
            <a:pPr lvl="1">
              <a:lnSpc>
                <a:spcPct val="120000"/>
              </a:lnSpc>
              <a:defRPr/>
            </a:pPr>
            <a:r>
              <a:rPr lang="en-US" altLang="zh-CN" dirty="0"/>
              <a:t>3 </a:t>
            </a:r>
            <a:r>
              <a:rPr lang="zh-CN" altLang="zh-CN" dirty="0"/>
              <a:t>实施定性风险分析</a:t>
            </a:r>
            <a:endParaRPr lang="en-US" altLang="zh-CN" dirty="0"/>
          </a:p>
          <a:p>
            <a:pPr lvl="2">
              <a:lnSpc>
                <a:spcPct val="120000"/>
              </a:lnSpc>
              <a:defRPr/>
            </a:pPr>
            <a:r>
              <a:rPr lang="zh-CN" altLang="zh-CN" dirty="0"/>
              <a:t>评估并综合分析风险的发生概率和影响，对风险进行优先排序，为后续分析或活动提供基础</a:t>
            </a:r>
          </a:p>
          <a:p>
            <a:pPr lvl="1" eaLnBrk="1" hangingPunct="1">
              <a:lnSpc>
                <a:spcPct val="120000"/>
              </a:lnSpc>
              <a:defRPr/>
            </a:pPr>
            <a:r>
              <a:rPr lang="en-US" altLang="zh-CN" dirty="0"/>
              <a:t>4 </a:t>
            </a:r>
            <a:r>
              <a:rPr lang="zh-CN" altLang="zh-CN" dirty="0"/>
              <a:t>实施定量风险分析</a:t>
            </a:r>
            <a:endParaRPr lang="en-US" altLang="zh-CN" dirty="0"/>
          </a:p>
          <a:p>
            <a:pPr lvl="2">
              <a:lnSpc>
                <a:spcPct val="120000"/>
              </a:lnSpc>
              <a:defRPr/>
            </a:pPr>
            <a:r>
              <a:rPr lang="zh-CN" altLang="en-US" dirty="0"/>
              <a:t>就已识别的项目风险和其他不确定性来源对整体项目目标的影响进行定量分析</a:t>
            </a:r>
            <a:endParaRPr lang="zh-CN" altLang="zh-CN" dirty="0"/>
          </a:p>
          <a:p>
            <a:pPr lvl="1">
              <a:lnSpc>
                <a:spcPct val="120000"/>
              </a:lnSpc>
              <a:defRPr/>
            </a:pPr>
            <a:r>
              <a:rPr lang="en-US" altLang="zh-CN" dirty="0"/>
              <a:t>5 </a:t>
            </a:r>
            <a:r>
              <a:rPr lang="zh-CN" altLang="zh-CN" dirty="0"/>
              <a:t>规划风险应对</a:t>
            </a:r>
            <a:endParaRPr lang="en-US" altLang="zh-CN" dirty="0"/>
          </a:p>
          <a:p>
            <a:pPr lvl="2">
              <a:lnSpc>
                <a:spcPct val="120000"/>
              </a:lnSpc>
              <a:defRPr/>
            </a:pPr>
            <a:r>
              <a:rPr lang="zh-CN" altLang="en-US" dirty="0"/>
              <a:t>为处理整体项目风险，以及应对单个项目风险，而制定可选方案、选择应对策略并商定应对行动的过程</a:t>
            </a:r>
            <a:endParaRPr lang="zh-CN" altLang="zh-CN" dirty="0"/>
          </a:p>
          <a:p>
            <a:pPr lvl="1">
              <a:lnSpc>
                <a:spcPct val="120000"/>
              </a:lnSpc>
              <a:defRPr/>
            </a:pPr>
            <a:r>
              <a:rPr lang="en-US" altLang="zh-CN" dirty="0"/>
              <a:t>6 </a:t>
            </a:r>
            <a:r>
              <a:rPr lang="zh-CN" altLang="en-US" dirty="0"/>
              <a:t>实施风险应对</a:t>
            </a:r>
            <a:endParaRPr lang="en-US" altLang="zh-CN" dirty="0"/>
          </a:p>
          <a:p>
            <a:pPr lvl="2">
              <a:lnSpc>
                <a:spcPct val="120000"/>
              </a:lnSpc>
              <a:defRPr/>
            </a:pPr>
            <a:r>
              <a:rPr lang="zh-CN" altLang="en-US" dirty="0"/>
              <a:t>执行商定的风险应对计划</a:t>
            </a:r>
          </a:p>
          <a:p>
            <a:pPr lvl="1">
              <a:lnSpc>
                <a:spcPct val="120000"/>
              </a:lnSpc>
              <a:defRPr/>
            </a:pPr>
            <a:r>
              <a:rPr lang="en-US" altLang="zh-CN" dirty="0"/>
              <a:t>7 </a:t>
            </a:r>
            <a:r>
              <a:rPr lang="zh-CN" altLang="en-US" dirty="0"/>
              <a:t>监督风险</a:t>
            </a:r>
            <a:endParaRPr lang="en-US" altLang="zh-CN" dirty="0"/>
          </a:p>
          <a:p>
            <a:pPr lvl="2">
              <a:lnSpc>
                <a:spcPct val="120000"/>
              </a:lnSpc>
              <a:defRPr/>
            </a:pPr>
            <a:r>
              <a:rPr lang="zh-CN" altLang="en-US" dirty="0"/>
              <a:t>监督商定的风险应对计划的实施、跟踪已识别风险、识别和分析新风险，以及评估风险管理有效性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1495891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规划风险管理是定义如何实施项目风险管理活动的过程。风险规划的重要性在于为风险管理活动安排充足的资源和时间，并为评估风险奠定一个共同认可的基础。</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27765278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11.1.1 </a:t>
            </a:r>
            <a:r>
              <a:rPr lang="zh-CN" altLang="en-US" sz="1200" b="0" i="0" u="none" strike="noStrike" baseline="0" dirty="0">
                <a:latin typeface="SourceHanSansSC-Medium"/>
              </a:rPr>
              <a:t>规划风险管理：输入</a:t>
            </a:r>
          </a:p>
          <a:p>
            <a:pPr algn="l"/>
            <a:r>
              <a:rPr lang="en-US" altLang="zh-CN" sz="1200" b="0" i="0" u="none" strike="noStrike" baseline="0" dirty="0">
                <a:latin typeface="HelveticaNeue-MediumCond"/>
              </a:rPr>
              <a:t>11.1.1.1 </a:t>
            </a:r>
            <a:r>
              <a:rPr lang="zh-CN" altLang="en-US" sz="1200" b="0" i="0" u="none" strike="noStrike" baseline="0" dirty="0">
                <a:latin typeface="SourceHanSansSC-Medium"/>
              </a:rPr>
              <a:t>项目章程</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4.1.3.1 </a:t>
            </a:r>
            <a:r>
              <a:rPr lang="zh-CN" altLang="en-US" sz="1200" b="0" i="0" u="none" strike="noStrike" baseline="0" dirty="0">
                <a:latin typeface="SourceHanSansSC-Regular"/>
              </a:rPr>
              <a:t>节。项目章程记录了高层级的项目描述和边界、高层级的需求和风险。</a:t>
            </a:r>
            <a:endParaRPr lang="en-US" altLang="zh-CN" sz="1000" b="0" dirty="0">
              <a:solidFill>
                <a:schemeClr val="tx2"/>
              </a:solidFill>
              <a:ea typeface="微软雅黑"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000" b="0" dirty="0">
              <a:solidFill>
                <a:schemeClr val="tx2"/>
              </a:solidFill>
              <a:ea typeface="微软雅黑" pitchFamily="34" charset="-122"/>
            </a:endParaRPr>
          </a:p>
          <a:p>
            <a:pPr algn="l"/>
            <a:r>
              <a:rPr lang="en-US" altLang="zh-CN" sz="1800" b="0" i="0" u="none" strike="noStrike" baseline="0" dirty="0">
                <a:latin typeface="HelveticaNeue-MediumCond"/>
              </a:rPr>
              <a:t>11.1.1.2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节。在规划项目风险管理时，应该考虑所有已批准的子管理计划，使风险管理计划与之相协调；同时，其他项目管理计划组件中所列出的方法可能也会影响规划风险管理过程。</a:t>
            </a:r>
          </a:p>
          <a:p>
            <a:pPr algn="l"/>
            <a:r>
              <a:rPr lang="en-US" altLang="zh-CN" sz="1800" b="0" i="0" u="none" strike="noStrike" baseline="0" dirty="0">
                <a:latin typeface="HelveticaNeue-MediumCond"/>
              </a:rPr>
              <a:t>11.1.1.3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可作为本过程输入的项目文件包括（但不限于）相关方登记册（见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节）。相关方登记册包含项目相关方的详细信息，并概述其在项目中的角色和对项目风险的态度；可用于确定项目风险管理的角色和职责，以及为项目设定风险临界值。</a:t>
            </a:r>
          </a:p>
          <a:p>
            <a:pPr algn="l"/>
            <a:r>
              <a:rPr lang="en-US" altLang="zh-CN" sz="1800" b="0" i="0" u="none" strike="noStrike" baseline="0" dirty="0">
                <a:latin typeface="HelveticaNeue-MediumCond"/>
              </a:rPr>
              <a:t>11.1.1.4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会影响规划风险管理过程的事业环境因素包括（但不限于）由组织或关键相关方设定的整体风险临界值。</a:t>
            </a:r>
          </a:p>
          <a:p>
            <a:pPr algn="l"/>
            <a:r>
              <a:rPr lang="en-US" altLang="zh-CN" sz="1800" b="0" i="0" u="none" strike="noStrike" baseline="0" dirty="0">
                <a:latin typeface="HelveticaNeue-MediumCond"/>
              </a:rPr>
              <a:t>11.1.1.5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会影响规划风险管理过程的组织过程资产包括（但不限于）：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组织的风险政策；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风险类别，可能用风险分解结构来表示；</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风险概念和术语的通用定义；</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风险描述的格式；</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角色与职责；</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决策所需的职权级别；</a:t>
            </a:r>
          </a:p>
          <a:p>
            <a:pPr algn="l"/>
            <a:r>
              <a:rPr lang="en-US" altLang="zh-CN" sz="1800" b="0" i="0" u="none" strike="noStrike" baseline="0" dirty="0">
                <a:latin typeface="Wingdings-Regular"/>
              </a:rPr>
              <a:t>  </a:t>
            </a:r>
            <a:r>
              <a:rPr lang="zh-CN" altLang="en-US" sz="1800" b="0" i="0" u="none" strike="noStrike" baseline="0" dirty="0">
                <a:latin typeface="SourceHanSansSC-Regular"/>
              </a:rPr>
              <a:t>经验教训知识库，其中包含以往类似项目的信息。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91003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11.1.2 </a:t>
            </a:r>
            <a:r>
              <a:rPr lang="zh-CN" altLang="en-US" sz="1800" b="0" i="0" u="none" strike="noStrike" baseline="0" dirty="0">
                <a:latin typeface="SourceHanSansSC-Medium"/>
              </a:rPr>
              <a:t>规划风险管</a:t>
            </a:r>
            <a:r>
              <a:rPr lang="zh-CN" altLang="en-US" sz="1800" b="0" i="0" u="none" strike="noStrike" baseline="0" dirty="0">
                <a:latin typeface="SourceHanSansSC-Regular"/>
              </a:rPr>
              <a:t>理：工具与技术</a:t>
            </a:r>
          </a:p>
          <a:p>
            <a:pPr algn="l"/>
            <a:r>
              <a:rPr lang="en-US" altLang="zh-CN" sz="1800" b="0" i="0" u="none" strike="noStrike" baseline="0" dirty="0">
                <a:latin typeface="HelveticaNeue-MediumCond"/>
              </a:rPr>
              <a:t>11.1.2.1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节。应考虑具备以下专业知识或接受过相关培训的个人或小组的意见：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熟悉组织所采取的管理风险的方法，包括该方法所在的企业风险管理体系；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裁剪风险管理以适应项目的具体需求；</a:t>
            </a:r>
          </a:p>
          <a:p>
            <a:pPr algn="l"/>
            <a:r>
              <a:rPr lang="en-US" altLang="zh-CN" sz="1800" b="0" i="0" u="none" strike="noStrike" baseline="0" dirty="0">
                <a:latin typeface="Wingdings-Regular"/>
              </a:rPr>
              <a:t>  </a:t>
            </a:r>
            <a:r>
              <a:rPr lang="zh-CN" altLang="en-US" sz="1800" b="0" i="0" u="none" strike="noStrike" baseline="0" dirty="0">
                <a:latin typeface="SourceHanSansSC-Regular"/>
              </a:rPr>
              <a:t>在相同领域的项目上可能遇到的风险类型。</a:t>
            </a:r>
          </a:p>
          <a:p>
            <a:pPr algn="l"/>
            <a:r>
              <a:rPr lang="en-US" altLang="zh-CN" sz="1800" b="0" i="0" u="none" strike="noStrike" baseline="0" dirty="0">
                <a:latin typeface="HelveticaNeue-MediumCond"/>
              </a:rPr>
              <a:t>11.1.2.2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可用于本过程的数据分析技术包括（但不限于）相关方分析（见 </a:t>
            </a:r>
            <a:r>
              <a:rPr lang="en-US" altLang="zh-CN" sz="1800" b="0" i="0" u="none" strike="noStrike" baseline="0" dirty="0">
                <a:latin typeface="HelveticaNeue-Condensed"/>
              </a:rPr>
              <a:t>13.1.2.3 </a:t>
            </a:r>
            <a:r>
              <a:rPr lang="zh-CN" altLang="en-US" sz="1800" b="0" i="0" u="none" strike="noStrike" baseline="0" dirty="0">
                <a:latin typeface="SourceHanSansSC-Regular"/>
              </a:rPr>
              <a:t>节）。可通过相关方分析确定项目相关方的风险偏好。</a:t>
            </a:r>
          </a:p>
          <a:p>
            <a:pPr algn="l"/>
            <a:r>
              <a:rPr lang="en-US" altLang="zh-CN" sz="1800" b="0" i="0" u="none" strike="noStrike" baseline="0" dirty="0">
                <a:latin typeface="HelveticaNeue-MediumCond"/>
              </a:rPr>
              <a:t>11.1.2.3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风险管理计划的编制可以是项目开工会议上的一项工作，或者可以举办专门的规划会议来编制风险管理计划。参会者可能包括项目经理、指定项目团队成员、关键相关方，或负责管理项目风险管理过程的团队成员；如果需要，也可邀请其他外部人员参加，包括客户、卖方和监管机构。熟练的会议引导者能够帮助参会者专注于会议事项，就风险管理方法的关键方面达成共识，识别和克服偏见，以及解决任何可能出现的分歧。</a:t>
            </a:r>
          </a:p>
          <a:p>
            <a:pPr algn="l"/>
            <a:r>
              <a:rPr lang="zh-CN" altLang="en-US" sz="1800" b="0" i="0" u="none" strike="noStrike" baseline="0" dirty="0">
                <a:latin typeface="SourceHanSansSC-Regular"/>
              </a:rPr>
              <a:t>在此类会议上确定开展风险管理活动的计划，并将其记录在风险管理计划（见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577396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11.1.3 </a:t>
            </a:r>
            <a:r>
              <a:rPr lang="zh-CN" altLang="en-US" sz="1800" b="0" i="0" u="none" strike="noStrike" baseline="0" dirty="0">
                <a:latin typeface="SourceHanSansSC-Medium"/>
              </a:rPr>
              <a:t>规划风险管理</a:t>
            </a:r>
            <a:r>
              <a:rPr lang="zh-CN" altLang="en-US" sz="1800" b="0" i="0" u="none" strike="noStrike" baseline="0" dirty="0">
                <a:latin typeface="SourceHanSansSC-Regular"/>
              </a:rPr>
              <a:t>：输出</a:t>
            </a:r>
          </a:p>
          <a:p>
            <a:pPr algn="l"/>
            <a:r>
              <a:rPr lang="en-US" altLang="zh-CN" sz="1800" b="0" i="0" u="none" strike="noStrike" baseline="0" dirty="0">
                <a:latin typeface="HelveticaNeue-MediumCond"/>
              </a:rPr>
              <a:t>11.1.3.1 </a:t>
            </a:r>
            <a:r>
              <a:rPr lang="zh-CN" altLang="en-US" sz="1800" b="0" i="0" u="none" strike="noStrike" baseline="0" dirty="0">
                <a:latin typeface="SourceHanSansSC-Medium"/>
              </a:rPr>
              <a:t>风险管理计划</a:t>
            </a:r>
          </a:p>
          <a:p>
            <a:pPr algn="l"/>
            <a:r>
              <a:rPr lang="zh-CN" altLang="en-US" sz="1800" b="0" i="0" u="none" strike="noStrike" baseline="0" dirty="0">
                <a:latin typeface="SourceHanSansSC-Regular"/>
              </a:rPr>
              <a:t>风险管理计划是项目管理计划的组成部分，描述如何安排与实施风险管理活动。风险管理计划可包括以下部分或全部内容：</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风险管理战略。</a:t>
            </a:r>
            <a:r>
              <a:rPr lang="zh-CN" altLang="en-US" sz="1800" b="0" i="0" u="none" strike="noStrike" baseline="0" dirty="0">
                <a:latin typeface="SourceHanSansSC-Regular"/>
              </a:rPr>
              <a:t>描述用于管理本项目的风险的一般方法。</a:t>
            </a:r>
          </a:p>
          <a:p>
            <a:pPr algn="l"/>
            <a:r>
              <a:rPr lang="en-US" altLang="zh-CN" sz="1800" b="0" i="0" u="none" strike="noStrike" baseline="0" dirty="0">
                <a:latin typeface="Wingdings-Regular"/>
              </a:rPr>
              <a:t>  </a:t>
            </a:r>
            <a:r>
              <a:rPr lang="zh-CN" altLang="en-US" sz="1800" b="1" i="0" u="none" strike="noStrike" baseline="0" dirty="0">
                <a:latin typeface="SourceHanSansSC-Bold"/>
              </a:rPr>
              <a:t>方法。</a:t>
            </a:r>
            <a:r>
              <a:rPr lang="zh-CN" altLang="en-US" sz="1800" b="0" i="0" u="none" strike="noStrike" baseline="0" dirty="0">
                <a:latin typeface="SourceHanSansSC-Regular"/>
              </a:rPr>
              <a:t>确定用于开展本项目的风险管理的具体方法、工具及数据来源。</a:t>
            </a:r>
          </a:p>
          <a:p>
            <a:pPr algn="l"/>
            <a:r>
              <a:rPr lang="en-US" altLang="zh-CN" sz="1800" b="0" i="0" u="none" strike="noStrike" baseline="0" dirty="0">
                <a:latin typeface="Wingdings-Regular"/>
              </a:rPr>
              <a:t>  </a:t>
            </a:r>
            <a:r>
              <a:rPr lang="zh-CN" altLang="en-US" sz="1800" b="1" i="0" u="none" strike="noStrike" baseline="0" dirty="0">
                <a:latin typeface="SourceHanSansSC-Bold"/>
              </a:rPr>
              <a:t>角色与职责。</a:t>
            </a:r>
            <a:r>
              <a:rPr lang="zh-CN" altLang="en-US" sz="1800" b="0" i="0" u="none" strike="noStrike" baseline="0" dirty="0">
                <a:latin typeface="SourceHanSansSC-Regular"/>
              </a:rPr>
              <a:t>确定每项风险管理活动的领导者、支持者和团队成员，并明确他们的职责。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资金。</a:t>
            </a:r>
            <a:r>
              <a:rPr lang="zh-CN" altLang="en-US" sz="1800" b="0" i="0" u="none" strike="noStrike" baseline="0" dirty="0">
                <a:latin typeface="SourceHanSansSC-Regular"/>
              </a:rPr>
              <a:t>确定开展项目风险管理活动所需的资金，并制定应急储备和管理储备的使用方案。</a:t>
            </a:r>
          </a:p>
          <a:p>
            <a:pPr algn="l"/>
            <a:r>
              <a:rPr lang="en-US" altLang="zh-CN" sz="1800" b="0" i="0" u="none" strike="noStrike" baseline="0" dirty="0">
                <a:latin typeface="Wingdings-Regular"/>
              </a:rPr>
              <a:t>  </a:t>
            </a:r>
            <a:r>
              <a:rPr lang="zh-CN" altLang="en-US" sz="1800" b="1" i="0" u="none" strike="noStrike" baseline="0" dirty="0">
                <a:latin typeface="SourceHanSansSC-Bold"/>
              </a:rPr>
              <a:t>时间安排。</a:t>
            </a:r>
            <a:r>
              <a:rPr lang="zh-CN" altLang="en-US" sz="1800" b="0" i="0" u="none" strike="noStrike" baseline="0" dirty="0">
                <a:latin typeface="SourceHanSansSC-Regular"/>
              </a:rPr>
              <a:t>确定在项目生命周期中实施项目风险管理过程的时间和频率，确定风险管理活动并将其纳入项目进度计划。</a:t>
            </a:r>
          </a:p>
          <a:p>
            <a:pPr algn="l"/>
            <a:r>
              <a:rPr lang="en-US" altLang="zh-CN" sz="1800" b="0" i="0" u="none" strike="noStrike" baseline="0" dirty="0">
                <a:latin typeface="Wingdings-Regular"/>
              </a:rPr>
              <a:t>  </a:t>
            </a:r>
            <a:r>
              <a:rPr lang="zh-CN" altLang="en-US" sz="1800" b="1" i="0" u="none" strike="noStrike" baseline="0" dirty="0">
                <a:latin typeface="SourceHanSansSC-Bold"/>
              </a:rPr>
              <a:t>风险类别。</a:t>
            </a:r>
            <a:r>
              <a:rPr lang="zh-CN" altLang="en-US" sz="1800" b="0" i="0" u="none" strike="noStrike" baseline="0" dirty="0">
                <a:latin typeface="SourceHanSansSC-Regular"/>
              </a:rPr>
              <a:t>确定对单个项目风险进行分类的方式。通常借助风险分解结构 </a:t>
            </a:r>
            <a:r>
              <a:rPr lang="en-US" altLang="zh-CN" sz="1800" b="0" i="0" u="none" strike="noStrike" baseline="0" dirty="0">
                <a:latin typeface="HelveticaNeue-Condensed"/>
              </a:rPr>
              <a:t>(RBS)</a:t>
            </a:r>
            <a:r>
              <a:rPr lang="zh-CN" altLang="en-US" sz="1800" b="0" i="0" u="none" strike="noStrike" baseline="0" dirty="0">
                <a:latin typeface="SourceHanSansSC-Regular"/>
              </a:rPr>
              <a:t>来构建风险类别。风险分解结构是潜在风险来源的层级展现（示例见图 </a:t>
            </a:r>
            <a:r>
              <a:rPr lang="en-US" altLang="zh-CN" sz="1800" b="0" i="0" u="none" strike="noStrike" baseline="0" dirty="0">
                <a:latin typeface="HelveticaNeue-Condensed"/>
              </a:rPr>
              <a:t>11-4</a:t>
            </a:r>
            <a:r>
              <a:rPr lang="zh-CN" altLang="en-US" sz="1800" b="0" i="0" u="none" strike="noStrike" baseline="0" dirty="0">
                <a:latin typeface="SourceHanSansSC-Regular"/>
              </a:rPr>
              <a:t>）。风险分解结构有助于项目团队考虑单个项目风险的全部可能来源，对识别风险或归类已识别风险特别有用。组织可能有适用于所有项目的通用风险分解结构，也可能针对不同类型项目使用几种不同的风险分解结构框架，或者允许项目量身定制专用的风险分解结构。如果未使用风险分解结构，组织则可能采用某种常见的风险分类框架，既可以是简单的类别清单，也可以是基于项目目标的某种类别结构。</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相关方风险偏好。</a:t>
            </a:r>
            <a:r>
              <a:rPr lang="zh-CN" altLang="en-US" sz="1800" b="0" i="0" u="none" strike="noStrike" baseline="0" dirty="0">
                <a:latin typeface="SourceHanSansSC-Regular"/>
              </a:rPr>
              <a:t>应在风险管理计划中记录项目关键相关方的风险偏好。他们的风险偏好会影响规划风险管理过程的细节。特别是，应该针对每个项目目标，把相关方的风险偏好表述成可测量的风险临界值。这些临界值不仅将联合决定可接受的整体项目风险敞口水平，而且也用于制定概率和影响定义。以后将根据概率和影响定义，对单个项目风险进行评估和排序。</a:t>
            </a:r>
          </a:p>
          <a:p>
            <a:pPr algn="l"/>
            <a:r>
              <a:rPr lang="en-US" altLang="zh-CN" sz="1800" b="0" i="0" u="none" strike="noStrike" baseline="0" dirty="0">
                <a:latin typeface="Wingdings-Regular"/>
              </a:rPr>
              <a:t>  </a:t>
            </a:r>
            <a:r>
              <a:rPr lang="zh-CN" altLang="en-US" sz="1800" b="1" i="0" u="none" strike="noStrike" baseline="0" dirty="0">
                <a:latin typeface="SourceHanSansSC-Bold"/>
              </a:rPr>
              <a:t>风险概率和影响定义。</a:t>
            </a:r>
            <a:r>
              <a:rPr lang="zh-CN" altLang="en-US" sz="1800" b="0" i="0" u="none" strike="noStrike" baseline="0" dirty="0">
                <a:latin typeface="SourceHanSansSC-Regular"/>
              </a:rPr>
              <a:t>根据具体的项目环境，组织和关键相关方的风险偏好和临界值，来制定风险概率和影响定义。项目可能自行制定关于概率和影响级别的具体定义，或者用组织提供的通用定义作为出发点。应该根据拟开展项目风险管理过程的详细程度，来确定概率和影响级别的数量，即：更多级别（通常为五级）对应于更详细的风险管理方法，更少级别（通常为三级）对应于更简单的方法。表 </a:t>
            </a:r>
            <a:r>
              <a:rPr lang="en-US" altLang="zh-CN" sz="1800" b="0" i="0" u="none" strike="noStrike" baseline="0" dirty="0">
                <a:latin typeface="HelveticaNeue-Condensed"/>
              </a:rPr>
              <a:t>11-1 </a:t>
            </a:r>
            <a:r>
              <a:rPr lang="zh-CN" altLang="en-US" sz="1800" b="0" i="0" u="none" strike="noStrike" baseline="0" dirty="0">
                <a:latin typeface="SourceHanSansSC-Regular"/>
              </a:rPr>
              <a:t>针对三个项目目标提供了概率和影响定义的示例。通过将影响定义为负面威胁（工期延误、成本增加和绩效不佳）和正面机会（工期缩短、成本节约和绩效改善），表格所示的量表可同时用于评估威胁和机会。</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报告格式。</a:t>
            </a:r>
            <a:r>
              <a:rPr lang="zh-CN" altLang="en-US" sz="1800" b="0" i="0" u="none" strike="noStrike" baseline="0" dirty="0">
                <a:latin typeface="SourceHanSansSC-Regular"/>
              </a:rPr>
              <a:t>确定将如何记录、分析和沟通项目风险管理过程的结果。在这一部分，描述风险登记册、风险报告以及项目风险管理过程的其他输出的内容和格式。</a:t>
            </a:r>
          </a:p>
          <a:p>
            <a:pPr algn="l"/>
            <a:r>
              <a:rPr lang="en-US" altLang="zh-CN" sz="1800" b="0" i="0" u="none" strike="noStrike" baseline="0" dirty="0">
                <a:latin typeface="Wingdings-Regular"/>
              </a:rPr>
              <a:t>  </a:t>
            </a:r>
            <a:r>
              <a:rPr lang="zh-CN" altLang="en-US" sz="1800" b="1" i="0" u="none" strike="noStrike" baseline="0" dirty="0">
                <a:latin typeface="SourceHanSansSC-Bold"/>
              </a:rPr>
              <a:t>跟踪。</a:t>
            </a:r>
            <a:r>
              <a:rPr lang="zh-CN" altLang="en-US" sz="1800" b="0" i="0" u="none" strike="noStrike" baseline="0" dirty="0">
                <a:latin typeface="SourceHanSansSC-Regular"/>
              </a:rPr>
              <a:t>跟踪是确定将如何记录风险活动，以及将如何审计风险的管理过程。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068845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风险识别是判断哪些风险会影响项目目标并记录其特征的过程。风险识别活动的参与者包括所有相关的相关方。</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29603079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幻灯片图像占位符 1">
            <a:extLst>
              <a:ext uri="{FF2B5EF4-FFF2-40B4-BE49-F238E27FC236}">
                <a16:creationId xmlns:a16="http://schemas.microsoft.com/office/drawing/2014/main" id="{A89127D4-556C-4C2F-B861-0AE8CA89538F}"/>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9795" name="备注占位符 2">
            <a:extLst>
              <a:ext uri="{FF2B5EF4-FFF2-40B4-BE49-F238E27FC236}">
                <a16:creationId xmlns:a16="http://schemas.microsoft.com/office/drawing/2014/main" id="{69CAC4EF-2196-430A-A8F9-7270C38545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289796" name="灯片编号占位符 3">
            <a:extLst>
              <a:ext uri="{FF2B5EF4-FFF2-40B4-BE49-F238E27FC236}">
                <a16:creationId xmlns:a16="http://schemas.microsoft.com/office/drawing/2014/main" id="{20D3213B-7DC1-4224-B1E0-C32097C43A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8719F3-DEA6-4CBC-83C2-AD207B72D8A0}" type="slidenum">
              <a:rPr lang="zh-CN" altLang="en-US" smtClean="0"/>
              <a:pPr/>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11.2.1 </a:t>
            </a:r>
            <a:r>
              <a:rPr lang="zh-CN" altLang="en-US" sz="1800" b="0" i="0" u="none" strike="noStrike" baseline="0" dirty="0">
                <a:latin typeface="SourceHanSansSC-Medium"/>
              </a:rPr>
              <a:t>识别风险：输入</a:t>
            </a:r>
          </a:p>
          <a:p>
            <a:pPr algn="l"/>
            <a:r>
              <a:rPr lang="en-US" altLang="zh-CN" sz="1800" b="0" i="0" u="none" strike="noStrike" baseline="0" dirty="0">
                <a:latin typeface="HelveticaNeue-MediumCond"/>
              </a:rPr>
              <a:t>11.2.1.1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节。需求管理计划可能指出了特别有风险的项目目标。</a:t>
            </a:r>
          </a:p>
          <a:p>
            <a:pPr algn="l"/>
            <a:r>
              <a:rPr lang="en-US" altLang="zh-CN" sz="1800" b="0" i="0" u="none" strike="noStrike" baseline="0" dirty="0">
                <a:latin typeface="Wingdings-Regular"/>
              </a:rPr>
              <a:t>  </a:t>
            </a:r>
            <a:r>
              <a:rPr lang="zh-CN" altLang="en-US" sz="1800" b="1" i="0" u="none" strike="noStrike" baseline="0" dirty="0">
                <a:latin typeface="SourceHanSansSC-Bold"/>
              </a:rPr>
              <a:t>进度管理计划。</a:t>
            </a:r>
            <a:r>
              <a:rPr lang="zh-CN" altLang="en-US" sz="1800" b="0" i="0" u="none" strike="noStrike" baseline="0" dirty="0">
                <a:latin typeface="SourceHanSansSC-Regular"/>
              </a:rPr>
              <a:t>见 </a:t>
            </a:r>
            <a:r>
              <a:rPr lang="en-US" altLang="zh-CN" sz="1800" b="0" i="0" u="none" strike="noStrike" baseline="0" dirty="0">
                <a:latin typeface="HelveticaNeue-Condensed"/>
              </a:rPr>
              <a:t>6.1.3.1 </a:t>
            </a:r>
            <a:r>
              <a:rPr lang="zh-CN" altLang="en-US" sz="1800" b="0" i="0" u="none" strike="noStrike" baseline="0" dirty="0">
                <a:latin typeface="SourceHanSansSC-Regular"/>
              </a:rPr>
              <a:t>节。进度管理计划可能列出了受不确定性或模糊性影响的一些领域。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成本管理计划。</a:t>
            </a:r>
            <a:r>
              <a:rPr lang="zh-CN" altLang="en-US" sz="1800" b="0" i="0" u="none" strike="noStrike" baseline="0" dirty="0">
                <a:latin typeface="SourceHanSansSC-Regular"/>
              </a:rPr>
              <a:t>见 </a:t>
            </a:r>
            <a:r>
              <a:rPr lang="en-US" altLang="zh-CN" sz="1800" b="0" i="0" u="none" strike="noStrike" baseline="0" dirty="0">
                <a:latin typeface="HelveticaNeue-Condensed"/>
              </a:rPr>
              <a:t>7.1.3.1 </a:t>
            </a:r>
            <a:r>
              <a:rPr lang="zh-CN" altLang="en-US" sz="1800" b="0" i="0" u="none" strike="noStrike" baseline="0" dirty="0">
                <a:latin typeface="SourceHanSansSC-Regular"/>
              </a:rPr>
              <a:t>节。成本管理计划可能列出了受不确定性或模糊性影响的一些领域。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节。质量管理计划可能列出了受不确定性或模糊性影响的一些领域，或者关键假设可能引发风险的一些领域。</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节。资源管理计划可能列出了受不确定性或模糊性影响的一些领域，或者关键假设可能引发风险的一些领域。</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节。风险管理计划规定了风险管理的角色和职责，说明了如何将风险管理活动纳入预算和进度计划，并描述了风险类别（可用风险分解结构表述）。</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节。范围基准包括可交付成果及其验收标准，其中有些可能引发风险；还包括工作分解结构，可用作安排风险识别工作的框架。</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节。可以查看进度基准，找出存在不确定性或模糊性的里程碑日期和可交付成果交付日期，或者可能引发风险的关键假设条件。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节。可以查看成本基准，找出存在不确定性或模糊性的成本估算或资金需求，或者关键假设可能引发风险的方面。</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节。假设日志所记录的假设条件和制约因素可能引发单个项目风险，还可能影响整体项目风险的级别。</a:t>
            </a:r>
          </a:p>
          <a:p>
            <a:pPr algn="l"/>
            <a:r>
              <a:rPr lang="en-US" altLang="zh-CN" sz="1800" b="0" i="0" u="none" strike="noStrike" baseline="0" dirty="0">
                <a:latin typeface="Wingdings-Regular"/>
              </a:rPr>
              <a:t>  </a:t>
            </a:r>
            <a:r>
              <a:rPr lang="zh-CN" altLang="en-US" sz="1800" b="1" i="0" u="none" strike="noStrike" baseline="0" dirty="0">
                <a:latin typeface="SourceHanSansSC-Bold"/>
              </a:rPr>
              <a:t>成本估算。</a:t>
            </a:r>
            <a:r>
              <a:rPr lang="zh-CN" altLang="en-US" sz="1800" b="0" i="0" u="none" strike="noStrike" baseline="0" dirty="0">
                <a:latin typeface="SourceHanSansSC-Regular"/>
              </a:rPr>
              <a:t>见 </a:t>
            </a:r>
            <a:r>
              <a:rPr lang="en-US" altLang="zh-CN" sz="1800" b="0" i="0" u="none" strike="noStrike" baseline="0" dirty="0">
                <a:latin typeface="HelveticaNeue-Condensed"/>
              </a:rPr>
              <a:t>7.2.3.1 </a:t>
            </a:r>
            <a:r>
              <a:rPr lang="zh-CN" altLang="en-US" sz="1800" b="0" i="0" u="none" strike="noStrike" baseline="0" dirty="0">
                <a:latin typeface="SourceHanSansSC-Regular"/>
              </a:rPr>
              <a:t>节。成本估算是对项目成本的定量评估，理想情况下用区间表示，区间的大小预示着风险程度。对成本估算文件进行结构化审查，可能显示当前估算不足，从而引发项目风险。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持续时间估算。</a:t>
            </a:r>
            <a:r>
              <a:rPr lang="zh-CN" altLang="en-US" sz="1800" b="0" i="0" u="none" strike="noStrike" baseline="0" dirty="0">
                <a:latin typeface="SourceHanSansSC-Regular"/>
              </a:rPr>
              <a:t>见 </a:t>
            </a:r>
            <a:r>
              <a:rPr lang="en-US" altLang="zh-CN" sz="1800" b="0" i="0" u="none" strike="noStrike" baseline="0" dirty="0">
                <a:latin typeface="HelveticaNeue-Condensed"/>
              </a:rPr>
              <a:t>6.4.3.1 </a:t>
            </a:r>
            <a:r>
              <a:rPr lang="zh-CN" altLang="en-US" sz="1800" b="0" i="0" u="none" strike="noStrike" baseline="0" dirty="0">
                <a:latin typeface="SourceHanSansSC-Regular"/>
              </a:rPr>
              <a:t>节。持续时间估算是对项目持续时间的定量评估，理想情况下用区间表示，区间的大小预示着风险程度。对持续时间估算文件进行结构化审查，可能显示当前估算不足，从而引发项目风险。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节。问题日志所记录的问题可能引发单个项目风险，还可能影响整体项目风险的级别。</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节。可以查看与项目早期所识别的风险相关的经验教训，以确定类似风险是否可能在项目的剩余时间再次出现。</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节。需求文件列明了项目需求，使团队能够确定哪些需求存在风险。</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节。资源需求是对项目所需资源的定量评估，理想情况下用区间表示，区间的大小预示着风险程度。对资源需求文件进行结构化审查，可能显示当前估算不足，从而引发项目风险。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节。相关方登记册规定了哪些个人或小组可能参与项目的风险识别工作，还会详细说明哪些个人适合扮演风险责任人角色。</a:t>
            </a:r>
          </a:p>
          <a:p>
            <a:pPr algn="l"/>
            <a:r>
              <a:rPr lang="en-US" altLang="zh-CN" sz="1800" b="0" i="0" u="none" strike="noStrike" baseline="0" dirty="0">
                <a:latin typeface="HelveticaNeue-MediumCond"/>
              </a:rPr>
              <a:t>11.2.1.3 </a:t>
            </a:r>
            <a:r>
              <a:rPr lang="zh-CN" altLang="en-US" sz="1800" b="1" i="0" u="none" strike="noStrike" baseline="0" dirty="0">
                <a:latin typeface="SourceHanSansSC-Bold"/>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节。如果需要从外部采购项目资源，协议所规定的里程碑日期、合同类型、验收标准和奖罚条款等，都可能造成威胁或创造机会。</a:t>
            </a:r>
          </a:p>
          <a:p>
            <a:pPr algn="l"/>
            <a:r>
              <a:rPr lang="en-US" altLang="zh-CN" sz="1800" b="0" i="0" u="none" strike="noStrike" baseline="0" dirty="0">
                <a:latin typeface="HelveticaNeue-MediumCond"/>
              </a:rPr>
              <a:t>11.2.1.4 </a:t>
            </a:r>
            <a:r>
              <a:rPr lang="zh-CN" altLang="en-US" sz="1800" b="1" i="0" u="none" strike="noStrike" baseline="0" dirty="0">
                <a:latin typeface="SourceHanSansSC-Medium"/>
              </a:rPr>
              <a:t>采购文档</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12.3.1.4 </a:t>
            </a:r>
            <a:r>
              <a:rPr lang="zh-CN" altLang="en-US" sz="1800" b="0" i="0" u="none" strike="noStrike" baseline="0" dirty="0">
                <a:latin typeface="SourceHanSansSC-Regular"/>
              </a:rPr>
              <a:t>节。如果需要从外部采购项目资源，就应该审查初始采购文档，因为从组织外部采购商品和服务可能提高或降低整体项目风险，并可能引发更多的单个项目风险。随着采购文档在项目期间的不断更新，还应该审查最新的文档，例如，卖方绩效报告、核准的变更请求和与检查相关的信息。</a:t>
            </a:r>
          </a:p>
          <a:p>
            <a:pPr algn="l"/>
            <a:r>
              <a:rPr lang="en-US" altLang="zh-CN" sz="1800" b="0" i="0" u="none" strike="noStrike" baseline="0" dirty="0">
                <a:latin typeface="HelveticaNeue-MediumCond"/>
              </a:rPr>
              <a:t>11.2.1.5 </a:t>
            </a:r>
            <a:r>
              <a:rPr lang="zh-CN" altLang="en-US" sz="1800" b="1" i="0" u="none" strike="noStrike" baseline="0" dirty="0">
                <a:latin typeface="SourceHanSansSC-Medium"/>
              </a:rPr>
              <a:t>事业环境因素</a:t>
            </a:r>
          </a:p>
          <a:p>
            <a:pPr algn="l"/>
            <a:r>
              <a:rPr lang="zh-CN" altLang="en-US" sz="1800" b="0" i="0" u="none" strike="noStrike" baseline="0" dirty="0">
                <a:latin typeface="SourceHanSansSC-Regular"/>
              </a:rPr>
              <a:t>会影响识别风险过程的事业环境因素包括（但不限于）：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已发布的材料，包括商业风险数据库或核对单；</a:t>
            </a:r>
          </a:p>
          <a:p>
            <a:pPr algn="l"/>
            <a:r>
              <a:rPr lang="en-US" altLang="zh-CN" sz="1800" b="0" i="0" u="none" strike="noStrike" baseline="0" dirty="0">
                <a:latin typeface="Wingdings-Regular"/>
              </a:rPr>
              <a:t>  </a:t>
            </a:r>
            <a:r>
              <a:rPr lang="zh-CN" altLang="en-US" sz="1800" b="0" i="0" u="none" strike="noStrike" baseline="0" dirty="0">
                <a:latin typeface="SourceHanSansSC-Regular"/>
              </a:rPr>
              <a:t>学术研究资料；</a:t>
            </a:r>
          </a:p>
          <a:p>
            <a:pPr algn="l"/>
            <a:r>
              <a:rPr lang="en-US" altLang="zh-CN" sz="1800" b="0" i="0" u="none" strike="noStrike" baseline="0" dirty="0">
                <a:latin typeface="Wingdings-Regular"/>
              </a:rPr>
              <a:t>  </a:t>
            </a:r>
            <a:r>
              <a:rPr lang="zh-CN" altLang="en-US" sz="1800" b="0" i="0" u="none" strike="noStrike" baseline="0" dirty="0">
                <a:latin typeface="SourceHanSansSC-Regular"/>
              </a:rPr>
              <a:t>标杆对照成果；</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类似项目的行业研究资料。</a:t>
            </a:r>
          </a:p>
          <a:p>
            <a:pPr algn="l"/>
            <a:r>
              <a:rPr lang="en-US" altLang="zh-CN" sz="1800" b="0" i="0" u="none" strike="noStrike" baseline="0" dirty="0">
                <a:latin typeface="HelveticaNeue-MediumCond"/>
              </a:rPr>
              <a:t>11.2.1.6 </a:t>
            </a:r>
            <a:r>
              <a:rPr lang="zh-CN" altLang="en-US" sz="1800" b="1" i="0" u="none" strike="noStrike" baseline="0" dirty="0">
                <a:latin typeface="SourceHanSansSC-Medium"/>
              </a:rPr>
              <a:t>组织过程资产</a:t>
            </a:r>
          </a:p>
          <a:p>
            <a:pPr algn="l"/>
            <a:r>
              <a:rPr lang="zh-CN" altLang="en-US" sz="1800" b="0" i="0" u="none" strike="noStrike" baseline="0" dirty="0">
                <a:latin typeface="SourceHanSansSC-Regular"/>
              </a:rPr>
              <a:t>会影响识别风险过程的组织过程资产包括（但不限于）：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项目文档，包括实际数据；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组织和项目的过程控制资料；</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风险描述的格式；</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以往类似项目的核对单。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1737175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13981186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QA </a:t>
            </a:r>
            <a:r>
              <a:rPr lang="zh-CN" altLang="en-US" sz="1200" b="0" i="0" kern="1200" dirty="0">
                <a:solidFill>
                  <a:schemeClr val="tx1"/>
                </a:solidFill>
                <a:effectLst/>
                <a:latin typeface="+mn-lt"/>
                <a:ea typeface="+mn-ea"/>
                <a:cs typeface="+mn-cs"/>
              </a:rPr>
              <a:t>“质量保证”</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QC </a:t>
            </a:r>
            <a:r>
              <a:rPr lang="zh-CN" altLang="en-US" sz="1200" b="0" i="0" kern="1200" dirty="0">
                <a:solidFill>
                  <a:schemeClr val="tx1"/>
                </a:solidFill>
                <a:effectLst/>
                <a:latin typeface="+mn-lt"/>
                <a:ea typeface="+mn-ea"/>
                <a:cs typeface="+mn-cs"/>
              </a:rPr>
              <a:t>“质量控制”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8357323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11.2.2 </a:t>
            </a:r>
            <a:r>
              <a:rPr lang="zh-CN" altLang="en-US" sz="1200" b="0" i="0" u="none" strike="noStrike" baseline="0" dirty="0">
                <a:latin typeface="SourceHanSansSC-Medium"/>
              </a:rPr>
              <a:t>识别风险：工具与技术</a:t>
            </a:r>
          </a:p>
          <a:p>
            <a:pPr algn="l"/>
            <a:r>
              <a:rPr lang="en-US" altLang="zh-CN" sz="1200" b="0" i="0" u="none" strike="noStrike" baseline="0" dirty="0">
                <a:latin typeface="HelveticaNeue-MediumCond"/>
              </a:rPr>
              <a:t>11.2.2.1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考虑了解类似项目或业务领域的个人或小组的专业意见。项目经理应该选择相关专家，邀请他们根据以往经验和专业知识来考虑单个项目风险的方方面面，以及整体项目风险的各种来源。项目经理应该注意专家可能持有的偏见。</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11.2.2.2 </a:t>
            </a:r>
            <a:r>
              <a:rPr lang="zh-CN" altLang="en-US" sz="1200" b="0" i="0" u="none" strike="noStrike" baseline="0" dirty="0">
                <a:latin typeface="SourceHanSansSC-Medium"/>
              </a:rPr>
              <a:t>数据收集</a:t>
            </a:r>
          </a:p>
          <a:p>
            <a:pPr algn="l"/>
            <a:r>
              <a:rPr lang="zh-CN" altLang="en-US" sz="1200" b="0" i="0" u="none" strike="noStrike" baseline="0" dirty="0">
                <a:latin typeface="SourceHanSansSC-Regular"/>
              </a:rPr>
              <a:t>适用于本过程的数据收集技术包括（但不限于）：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头脑风暴。</a:t>
            </a:r>
            <a:r>
              <a:rPr lang="zh-CN" altLang="en-US" sz="1200" b="0" i="0" u="none" strike="noStrike" baseline="0" dirty="0">
                <a:latin typeface="SourceHanSansSC-Regular"/>
              </a:rPr>
              <a:t>头脑风暴（见 </a:t>
            </a:r>
            <a:r>
              <a:rPr lang="en-US" altLang="zh-CN" sz="1200" b="0" i="0" u="none" strike="noStrike" baseline="0" dirty="0">
                <a:latin typeface="HelveticaNeue-Condensed"/>
              </a:rPr>
              <a:t>4.1.2.2 </a:t>
            </a:r>
            <a:r>
              <a:rPr lang="zh-CN" altLang="en-US" sz="1200" b="0" i="0" u="none" strike="noStrike" baseline="0" dirty="0">
                <a:latin typeface="SourceHanSansSC-Regular"/>
              </a:rPr>
              <a:t>节）的目标是获取一份全面的单个项目风险和整体项目风险来源的清单。通常由项目团队开展头脑风暴，同时邀请团队以外的多学科专家参与。可以采用自由或结构化的形式开展头脑风暴，在引导者的指引下产生各种创意。可以用风险类别（如风险分解结构）作为识别风险的框架。因为头脑风暴生成的创意并不成型，所以应该特别注意对头脑风暴识别的风险进行清晰描述。</a:t>
            </a:r>
          </a:p>
          <a:p>
            <a:pPr algn="l"/>
            <a:r>
              <a:rPr lang="en-US" altLang="zh-CN" sz="1200" b="0" i="0" u="none" strike="noStrike" baseline="0" dirty="0">
                <a:latin typeface="Wingdings-Regular"/>
              </a:rPr>
              <a:t>  </a:t>
            </a:r>
            <a:r>
              <a:rPr lang="zh-CN" altLang="en-US" sz="1200" b="1" i="0" u="none" strike="noStrike" baseline="0" dirty="0">
                <a:latin typeface="SourceHanSansSC-Bold"/>
              </a:rPr>
              <a:t>核对单。</a:t>
            </a:r>
            <a:r>
              <a:rPr lang="zh-CN" altLang="en-US" sz="1200" b="0" i="0" u="none" strike="noStrike" baseline="0" dirty="0">
                <a:latin typeface="SourceHanSansSC-Regular"/>
              </a:rPr>
              <a:t>核对</a:t>
            </a:r>
            <a:r>
              <a:rPr lang="zh-CN" altLang="en-US" sz="1200" b="1" i="0" u="none" strike="noStrike" baseline="0" dirty="0">
                <a:latin typeface="SourceHanSansSC-Regular"/>
              </a:rPr>
              <a:t>单是包括需要考虑的项目、行动或要点的清单</a:t>
            </a:r>
            <a:r>
              <a:rPr lang="zh-CN" altLang="en-US" sz="1200" b="0" i="0" u="none" strike="noStrike" baseline="0" dirty="0">
                <a:latin typeface="SourceHanSansSC-Regular"/>
              </a:rPr>
              <a:t>。它常被用作提醒。基于从类似项目和其他信息来源积累的历史信息和知识来编制核对单。编制核对单，列出过去曾出现且可能与当前项目相关的具体单个项目风险，这是吸取已完成的类似项目的经验教训的有效方式。组织可能基于自己已完成的项目来编制核对单，或者可能采用特定行业的通用风险核对单。虽然核对单简单易用，但它不可能穷尽所有风险。所以，必须确保不要用核对单来取代所需的风险识别工作；同时，项目团队也应该注意考察未在核对单中列出的事项。此外，还应该不时地审查核对单，增加新信息，删除或存档过时信息。</a:t>
            </a:r>
          </a:p>
          <a:p>
            <a:pPr algn="l"/>
            <a:r>
              <a:rPr lang="en-US" altLang="zh-CN" sz="1200" b="0" i="0" u="none" strike="noStrike" baseline="0" dirty="0">
                <a:latin typeface="Wingdings-Regular"/>
              </a:rPr>
              <a:t>  </a:t>
            </a:r>
            <a:r>
              <a:rPr lang="zh-CN" altLang="en-US" sz="1200" b="1" i="0" u="none" strike="noStrike" baseline="0" dirty="0">
                <a:latin typeface="SourceHanSansSC-Bold"/>
              </a:rPr>
              <a:t>访谈。</a:t>
            </a:r>
            <a:r>
              <a:rPr lang="zh-CN" altLang="en-US" sz="1200" b="0" i="0" u="none" strike="noStrike" baseline="0" dirty="0">
                <a:latin typeface="SourceHanSansSC-Regular"/>
              </a:rPr>
              <a:t>可以通过对资深项目参与者、相关方和主题专家的访谈，来识别单个项目风险以及整体项目风险的来源。应该在信任和保密的环境下开展访谈（见 </a:t>
            </a:r>
            <a:r>
              <a:rPr lang="en-US" altLang="zh-CN" sz="1200" b="0" i="0" u="none" strike="noStrike" baseline="0" dirty="0">
                <a:latin typeface="HelveticaNeue-Condensed"/>
              </a:rPr>
              <a:t>5.2.2.2 </a:t>
            </a:r>
            <a:r>
              <a:rPr lang="zh-CN" altLang="en-US" sz="1200" b="0" i="0" u="none" strike="noStrike" baseline="0" dirty="0">
                <a:latin typeface="SourceHanSansSC-Regular"/>
              </a:rPr>
              <a:t>节），以获得真实可信、不带偏见的意见。</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11.2.2.3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适用于本过程的数据分析技术包括（但不限于）：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根本原因分析。</a:t>
            </a:r>
            <a:r>
              <a:rPr lang="zh-CN" altLang="en-US" sz="1200" b="0" i="0" u="none" strike="noStrike" baseline="0" dirty="0">
                <a:latin typeface="SourceHanSansSC-Regular"/>
              </a:rPr>
              <a:t>根本原因分析（见 </a:t>
            </a:r>
            <a:r>
              <a:rPr lang="en-US" altLang="zh-CN" sz="1200" b="0" i="0" u="none" strike="noStrike" baseline="0" dirty="0">
                <a:latin typeface="HelveticaNeue-Condensed"/>
              </a:rPr>
              <a:t>8.2.2.2 </a:t>
            </a:r>
            <a:r>
              <a:rPr lang="zh-CN" altLang="en-US" sz="1200" b="0" i="0" u="none" strike="noStrike" baseline="0" dirty="0">
                <a:latin typeface="SourceHanSansSC-Regular"/>
              </a:rPr>
              <a:t>节）常用于发现导致问题的深层原因并制定预防措施。可以用问题陈述（如项目可能延误或超支）作为出发点，来探讨哪些威胁可能导致该问题，从而识别出相应的威胁。也可以用收益陈述（如提前交付或低于预算）作为出发点，来探讨哪些机会可能有利于实现该效益，从而识别出相应的机会。</a:t>
            </a:r>
          </a:p>
          <a:p>
            <a:pPr algn="l"/>
            <a:r>
              <a:rPr lang="en-US" altLang="zh-CN" sz="1200" b="0" i="0" u="none" strike="noStrike" baseline="0" dirty="0">
                <a:latin typeface="Wingdings-Regular"/>
              </a:rPr>
              <a:t>  </a:t>
            </a:r>
            <a:r>
              <a:rPr lang="zh-CN" altLang="en-US" sz="1200" b="1" i="0" u="none" strike="noStrike" baseline="0" dirty="0">
                <a:latin typeface="SourceHanSansSC-Bold"/>
              </a:rPr>
              <a:t>假设条件和制约因素分析。</a:t>
            </a:r>
            <a:r>
              <a:rPr lang="zh-CN" altLang="en-US" sz="1200" b="0" i="0" u="none" strike="noStrike" baseline="0" dirty="0">
                <a:latin typeface="SourceHanSansSC-Regular"/>
              </a:rPr>
              <a:t>每个项目及其项目管理计划的构思和开发都基于一系列的假设条件，并受一系列制约因素的限制。这些假设条件和制约因素往往都已纳入范围基准和项目估算。开展假设条件和制约因素分析，来探索假设条件和制约因素的有效性，确定其中哪些会引发项目风险。从假设条件的不准确、不稳定、不一致或不完整，可以识别出威胁，通过清除或放松会影响项目或过程执行的制约因素，可以创造出机会。</a:t>
            </a:r>
          </a:p>
          <a:p>
            <a:pPr algn="l"/>
            <a:r>
              <a:rPr lang="en-US" altLang="zh-CN" sz="1200" b="0" i="0" u="none" strike="noStrike" baseline="0" dirty="0">
                <a:latin typeface="Wingdings-Regular"/>
              </a:rPr>
              <a:t>  </a:t>
            </a:r>
            <a:r>
              <a:rPr lang="en-US" altLang="zh-CN" sz="1200" b="1" i="0" u="none" strike="noStrike" baseline="0" dirty="0">
                <a:latin typeface="HelveticaNeue-BoldCond"/>
              </a:rPr>
              <a:t>SWOT </a:t>
            </a:r>
            <a:r>
              <a:rPr lang="zh-CN" altLang="en-US" sz="1200" b="1" i="0" u="none" strike="noStrike" baseline="0" dirty="0">
                <a:latin typeface="SourceHanSansSC-Bold"/>
              </a:rPr>
              <a:t>分析。</a:t>
            </a:r>
            <a:r>
              <a:rPr lang="zh-CN" altLang="en-US" sz="1200" b="0" i="0" u="none" strike="noStrike" baseline="0" dirty="0">
                <a:latin typeface="SourceHanSansSC-Regular"/>
              </a:rPr>
              <a:t>这是对项目的</a:t>
            </a:r>
            <a:r>
              <a:rPr lang="zh-CN" altLang="en-US" sz="1200" b="1" i="0" u="none" strike="noStrike" baseline="0" dirty="0">
                <a:latin typeface="SourceHanSansSC-Regular"/>
              </a:rPr>
              <a:t>优势、劣势、机会和威胁 </a:t>
            </a:r>
            <a:r>
              <a:rPr lang="en-US" altLang="zh-CN" sz="1200" b="1" i="0" u="none" strike="noStrike" baseline="0" dirty="0">
                <a:latin typeface="HelveticaNeue-Condensed"/>
              </a:rPr>
              <a:t>(SWOT) </a:t>
            </a:r>
            <a:r>
              <a:rPr lang="zh-CN" altLang="en-US" sz="1200" b="1" i="0" u="none" strike="noStrike" baseline="0" dirty="0">
                <a:latin typeface="SourceHanSansSC-Regular"/>
              </a:rPr>
              <a:t>进行逐个检查</a:t>
            </a:r>
            <a:r>
              <a:rPr lang="zh-CN" altLang="en-US" sz="1200" b="0" i="0" u="none" strike="noStrike" baseline="0" dirty="0">
                <a:latin typeface="SourceHanSansSC-Regular"/>
              </a:rPr>
              <a:t>。在识别风险时，它会将内部产生的风险包含在内，从而拓宽识别风险的范围。首先，关注项目、组织或一般业务领域，识别出组织的优势和劣势；然后，找出组织优势可能为项目带来的机会，组织劣势可能造成的威胁。还可以分析组织优势能在多大程度上克服威胁，组织劣势是否会妨碍机会的产生。</a:t>
            </a:r>
          </a:p>
          <a:p>
            <a:pPr algn="l"/>
            <a:r>
              <a:rPr lang="en-US" altLang="zh-CN" sz="1200" b="0" i="0" u="none" strike="noStrike" baseline="0" dirty="0">
                <a:latin typeface="Wingdings-Regular"/>
              </a:rPr>
              <a:t>  </a:t>
            </a:r>
            <a:r>
              <a:rPr lang="zh-CN" altLang="en-US" sz="1200" b="1" i="0" u="none" strike="noStrike" baseline="0" dirty="0">
                <a:latin typeface="SourceHanSansSC-Bold"/>
              </a:rPr>
              <a:t>文件分析。</a:t>
            </a:r>
            <a:r>
              <a:rPr lang="zh-CN" altLang="en-US" sz="1200" b="0" i="0" u="none" strike="noStrike" baseline="0" dirty="0">
                <a:latin typeface="SourceHanSansSC-Regular"/>
              </a:rPr>
              <a:t>见 </a:t>
            </a:r>
            <a:r>
              <a:rPr lang="en-US" altLang="zh-CN" sz="1200" b="0" i="0" u="none" strike="noStrike" baseline="0" dirty="0">
                <a:latin typeface="HelveticaNeue-Condensed"/>
              </a:rPr>
              <a:t>5.2.2.3 </a:t>
            </a:r>
            <a:r>
              <a:rPr lang="zh-CN" altLang="en-US" sz="1200" b="0" i="0" u="none" strike="noStrike" baseline="0" dirty="0">
                <a:latin typeface="SourceHanSansSC-Regular"/>
              </a:rPr>
              <a:t>节。通过对项目文件的结构化审查，可以识别出一些风险。可供审查的文件包括（但不限于）计划、假设条件、制约因素、以往项目档案、合同、协议和技术文件。项目文件中的不确定性或模糊性，以及同一文件内部或不同文件之间的不一致，都可能是项目风险的指示信号。</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11.2.2.4 </a:t>
            </a:r>
            <a:r>
              <a:rPr lang="zh-CN" altLang="en-US" sz="1200" b="0" i="0" u="none" strike="noStrike" baseline="0" dirty="0">
                <a:latin typeface="SourceHanSansSC-Medium"/>
              </a:rPr>
              <a:t>人际关系与团队技能</a:t>
            </a:r>
          </a:p>
          <a:p>
            <a:pPr algn="l"/>
            <a:r>
              <a:rPr lang="zh-CN" altLang="en-US" sz="1200" b="0" i="0" u="none" strike="noStrike" baseline="0" dirty="0">
                <a:latin typeface="SourceHanSansSC-Regular"/>
              </a:rPr>
              <a:t>适用于本过程的人际关系与团队技能包括（但不限于）引导（见 </a:t>
            </a:r>
            <a:r>
              <a:rPr lang="en-US" altLang="zh-CN" sz="1200" b="0" i="0" u="none" strike="noStrike" baseline="0" dirty="0">
                <a:latin typeface="HelveticaNeue-Condensed"/>
              </a:rPr>
              <a:t>4.1.2.3 </a:t>
            </a:r>
            <a:r>
              <a:rPr lang="zh-CN" altLang="en-US" sz="1200" b="0" i="0" u="none" strike="noStrike" baseline="0" dirty="0">
                <a:latin typeface="SourceHanSansSC-Regular"/>
              </a:rPr>
              <a:t>节）。引导能提高用于识别单个项目风险和整体项目风险来源的许多技术的有效性。熟练的引导者可以帮助参会者专注于风险识别任务、准确遵循与技术相关的方法，有助于确保风险描述清晰、找到并克服偏见，以及解决任何可能出现的分歧。</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11.2.2.5 </a:t>
            </a:r>
            <a:r>
              <a:rPr lang="zh-CN" altLang="en-US" sz="1200" b="0" i="0" u="none" strike="noStrike" baseline="0" dirty="0">
                <a:latin typeface="SourceHanSansSC-Medium"/>
              </a:rPr>
              <a:t>提示清单</a:t>
            </a:r>
          </a:p>
          <a:p>
            <a:pPr algn="l"/>
            <a:r>
              <a:rPr lang="zh-CN" altLang="en-US" sz="1200" b="0" i="0" u="none" strike="noStrike" baseline="0" dirty="0">
                <a:latin typeface="SourceHanSansSC-Regular"/>
              </a:rPr>
              <a:t>提示清单是关于可能引发单个项目风险以及可作为整体项目风险来源的风险类别的预设清单。在采用风险识别技术时，提示清单可作为框架用于协助项目团队形成想法。可以用风险分解结构底层的风险类别作为提示清单，来识别单个项目风险。某些常见的战略框架更适用于识别整体项目风险的来源，如 </a:t>
            </a:r>
            <a:r>
              <a:rPr lang="en-US" altLang="zh-CN" sz="1200" b="0" i="0" u="none" strike="noStrike" baseline="0" dirty="0">
                <a:latin typeface="HelveticaNeue-Condensed"/>
              </a:rPr>
              <a:t>PESTLE</a:t>
            </a:r>
            <a:r>
              <a:rPr lang="zh-CN" altLang="en-US" sz="1200" b="0" i="0" u="none" strike="noStrike" baseline="0" dirty="0">
                <a:latin typeface="SourceHanSansSC-Regular"/>
              </a:rPr>
              <a:t>（政治、经济、社会、技术、法律、环境）、</a:t>
            </a:r>
            <a:r>
              <a:rPr lang="en-US" altLang="zh-CN" sz="1200" b="0" i="0" u="none" strike="noStrike" baseline="0" dirty="0">
                <a:latin typeface="HelveticaNeue-Condensed"/>
              </a:rPr>
              <a:t>TECOP</a:t>
            </a:r>
            <a:r>
              <a:rPr lang="zh-CN" altLang="en-US" sz="1200" b="0" i="0" u="none" strike="noStrike" baseline="0" dirty="0">
                <a:latin typeface="SourceHanSansSC-Regular"/>
              </a:rPr>
              <a:t>（技术、环境、商业、运营、政治），或 </a:t>
            </a:r>
            <a:r>
              <a:rPr lang="en-US" altLang="zh-CN" sz="1200" b="0" i="0" u="none" strike="noStrike" baseline="0" dirty="0">
                <a:latin typeface="HelveticaNeue-Condensed"/>
              </a:rPr>
              <a:t>VUCA</a:t>
            </a:r>
            <a:r>
              <a:rPr lang="zh-CN" altLang="en-US" sz="1200" b="0" i="0" u="none" strike="noStrike" baseline="0" dirty="0">
                <a:latin typeface="SourceHanSansSC-Regular"/>
              </a:rPr>
              <a:t>（易变性、不确定性、复杂性、模糊性）</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11.2.2.6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为了开展风险识别工作，项目团队可能要召开专门的会议（通常称为风险研讨会）。在大多数风险研讨会中，都会开展某种形式的头脑风暴（见 </a:t>
            </a:r>
            <a:r>
              <a:rPr lang="en-US" altLang="zh-CN" sz="1200" b="0" i="0" u="none" strike="noStrike" baseline="0" dirty="0">
                <a:latin typeface="HelveticaNeue-Condensed"/>
              </a:rPr>
              <a:t>4.1.2.2 </a:t>
            </a:r>
            <a:r>
              <a:rPr lang="zh-CN" altLang="en-US" sz="1200" b="0" i="0" u="none" strike="noStrike" baseline="0" dirty="0">
                <a:latin typeface="SourceHanSansSC-Regular"/>
              </a:rPr>
              <a:t>节）。根据风险管理计划中对开展风险管理过程的要求，还有可能采用其他风险识别技术。配备一名经验丰富的引导者将会提高会议的有效性；确保适当的人员参加风险研讨会也至关重要。对于较大型项目，可能需要邀请项目发起人、主题专家、卖方、客户代表，或其他项目相关方参加会议；而对于较小型项目，可能仅限部分项目团队成员参加。</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18159846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41331363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这是对项目的</a:t>
            </a:r>
            <a:r>
              <a:rPr lang="zh-CN" altLang="en-US" sz="1800" b="1" i="0" u="none" strike="noStrike" baseline="0" dirty="0">
                <a:latin typeface="SourceHanSansSC-Regular"/>
              </a:rPr>
              <a:t>优势、劣势、机会和威胁 </a:t>
            </a:r>
            <a:r>
              <a:rPr lang="en-US" altLang="zh-CN" sz="1800" b="0" i="0" u="none" strike="noStrike" baseline="0" dirty="0">
                <a:latin typeface="HelveticaNeue-Condensed"/>
              </a:rPr>
              <a:t>(SWOT) </a:t>
            </a:r>
            <a:r>
              <a:rPr lang="zh-CN" altLang="en-US" sz="1800" b="0" i="0" u="none" strike="noStrike" baseline="0" dirty="0">
                <a:latin typeface="SourceHanSansSC-Regular"/>
              </a:rPr>
              <a:t>进行逐个检查。在识别风险时，它会将内部产生的风险包含在内，从而拓宽识别风险的范围。首先，关注项目、组织或一般业务领域，识别出组织的优势和劣势；然后，找出组织优势可能为项目带来的机会，组织劣势可能造成的威胁。还可以分析组织优势能在多大程度上克服威胁，组织劣势是否会妨碍机会的产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根据</a:t>
            </a:r>
            <a:r>
              <a:rPr lang="en-US" altLang="zh-CN" sz="1800" b="0" i="0" u="none" strike="noStrike" baseline="0" dirty="0">
                <a:latin typeface="SourceHanSansSC-Regular"/>
              </a:rPr>
              <a:t>SWOT</a:t>
            </a:r>
            <a:r>
              <a:rPr lang="zh-CN" altLang="en-US" sz="1800" b="0" i="0" u="none" strike="noStrike" baseline="0" dirty="0">
                <a:latin typeface="SourceHanSansSC-Regular"/>
              </a:rPr>
              <a:t>分析给出相应的策略。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27916660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34068803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11.2.3 </a:t>
            </a:r>
            <a:r>
              <a:rPr lang="zh-CN" altLang="en-US" sz="1800" b="0" i="0" u="none" strike="noStrike" baseline="0" dirty="0">
                <a:latin typeface="SourceHanSansSC-Medium"/>
              </a:rPr>
              <a:t>识别风险：输出</a:t>
            </a:r>
          </a:p>
          <a:p>
            <a:pPr algn="l"/>
            <a:r>
              <a:rPr lang="en-US" altLang="zh-CN" sz="1800" b="0" i="0" u="none" strike="noStrike" baseline="0" dirty="0">
                <a:latin typeface="HelveticaNeue-MediumCond"/>
              </a:rPr>
              <a:t>11.2.3.1 </a:t>
            </a:r>
            <a:r>
              <a:rPr lang="zh-CN" altLang="en-US" sz="1800" b="0" i="0" u="none" strike="noStrike" baseline="0" dirty="0">
                <a:latin typeface="SourceHanSansSC-Medium"/>
              </a:rPr>
              <a:t>风险登记册</a:t>
            </a:r>
          </a:p>
          <a:p>
            <a:pPr algn="l"/>
            <a:r>
              <a:rPr lang="zh-CN" altLang="en-US" sz="1800" b="0" i="0" u="none" strike="noStrike" baseline="0" dirty="0">
                <a:latin typeface="SourceHanSansSC-Regular"/>
              </a:rPr>
              <a:t>风险登记册记录已识别单个项目风险的详细信息。随着实施定性风险分析、规划风险应对、实施风险应对和监督风险等过程的开展，这些过程的结果也要记进风险登记册。取决于具体的项目变量（如规模和复杂性），风险登记册可能包含有限或广泛的风险信息。</a:t>
            </a:r>
          </a:p>
          <a:p>
            <a:pPr algn="l"/>
            <a:r>
              <a:rPr lang="zh-CN" altLang="en-US" sz="1800" b="0" i="0" u="none" strike="noStrike" baseline="0" dirty="0">
                <a:latin typeface="SourceHanSansSC-Regular"/>
              </a:rPr>
              <a:t>当完成识别风险过程时，风险登记册的内容可能包括（但不限于）：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已识别风险的清单。</a:t>
            </a:r>
            <a:r>
              <a:rPr lang="zh-CN" altLang="en-US" sz="1800" b="0" i="0" u="none" strike="noStrike" baseline="0" dirty="0">
                <a:latin typeface="SourceHanSansSC-Regular"/>
              </a:rPr>
              <a:t>在风险登记册中，每项单个项目风险都被赋予一个独特的标识号。要以所需的详细程度对已识别风险进行描述，确保明确理解。可以使用结构化的风险描述，来把风险本身与风险原因及风险影响区分开来。</a:t>
            </a:r>
          </a:p>
          <a:p>
            <a:pPr algn="l"/>
            <a:r>
              <a:rPr lang="en-US" altLang="zh-CN" sz="1800" b="0" i="0" u="none" strike="noStrike" baseline="0" dirty="0">
                <a:latin typeface="Wingdings-Regular"/>
              </a:rPr>
              <a:t>  </a:t>
            </a:r>
            <a:r>
              <a:rPr lang="zh-CN" altLang="en-US" sz="1800" b="1" i="0" u="none" strike="noStrike" baseline="0" dirty="0">
                <a:latin typeface="SourceHanSansSC-Bold"/>
              </a:rPr>
              <a:t>潜在风险责任人。</a:t>
            </a:r>
            <a:r>
              <a:rPr lang="zh-CN" altLang="en-US" sz="1800" b="0" i="0" u="none" strike="noStrike" baseline="0" dirty="0">
                <a:latin typeface="SourceHanSansSC-Regular"/>
              </a:rPr>
              <a:t>如果已在识别风险过程中识别出潜在的风险责任人，就要把该责任人记录到风险登记册中。随后将由实施定性风险分析过程进行确认。</a:t>
            </a:r>
          </a:p>
          <a:p>
            <a:pPr algn="l"/>
            <a:r>
              <a:rPr lang="en-US" altLang="zh-CN" sz="1800" b="0" i="0" u="none" strike="noStrike" baseline="0" dirty="0">
                <a:latin typeface="Wingdings-Regular"/>
              </a:rPr>
              <a:t>  </a:t>
            </a:r>
            <a:r>
              <a:rPr lang="zh-CN" altLang="en-US" sz="1800" b="1" i="0" u="none" strike="noStrike" baseline="0" dirty="0">
                <a:latin typeface="SourceHanSansSC-Bold"/>
              </a:rPr>
              <a:t>潜在风险应对措施清单。</a:t>
            </a:r>
            <a:r>
              <a:rPr lang="zh-CN" altLang="en-US" sz="1800" b="0" i="0" u="none" strike="noStrike" baseline="0" dirty="0">
                <a:latin typeface="SourceHanSansSC-Regular"/>
              </a:rPr>
              <a:t>如果已在识别风险过程中识别出某种潜在的风险应对措施，就要把它记录到风险登记册中。随后将由规划风险应对过程进行确认。</a:t>
            </a:r>
          </a:p>
          <a:p>
            <a:pPr algn="l"/>
            <a:r>
              <a:rPr lang="zh-CN" altLang="en-US" sz="1800" b="0" i="0" u="none" strike="noStrike" baseline="0" dirty="0">
                <a:latin typeface="SourceHanSansSC-Regular"/>
              </a:rPr>
              <a:t>根据风险管理计划规定的风险登记册格式，可能还要记录关于每项已识别风险的其他数据，包括：简短的风险名称、风险类别、当前风险状态、一项或多项原因、一项或多项对目标的影响、风险触发条件（显示风险即将发生的事件或条件）、受影响的 </a:t>
            </a:r>
            <a:r>
              <a:rPr lang="en-US" altLang="zh-CN" sz="1800" b="0" i="0" u="none" strike="noStrike" baseline="0" dirty="0">
                <a:latin typeface="HelveticaNeue-Condensed"/>
              </a:rPr>
              <a:t>WBS</a:t>
            </a:r>
            <a:r>
              <a:rPr lang="zh-CN" altLang="en-US" sz="1800" b="0" i="0" u="none" strike="noStrike" baseline="0" dirty="0">
                <a:latin typeface="SourceHanSansSC-Regular"/>
              </a:rPr>
              <a:t>组件，以及时间信息（风险何时识别、可能何时发生、何时可能不再相关，以及采取行动的最后期限）。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11.2.3.2 </a:t>
            </a:r>
            <a:r>
              <a:rPr lang="zh-CN" altLang="en-US" sz="1800" b="0" i="0" u="none" strike="noStrike" baseline="0" dirty="0">
                <a:latin typeface="SourceHanSansSC-Medium"/>
              </a:rPr>
              <a:t>风险报告</a:t>
            </a:r>
          </a:p>
          <a:p>
            <a:pPr algn="l"/>
            <a:r>
              <a:rPr lang="zh-CN" altLang="en-US" sz="1800" b="0" i="0" u="none" strike="noStrike" baseline="0" dirty="0">
                <a:latin typeface="SourceHanSansSC-Regular"/>
              </a:rPr>
              <a:t>风险报告提供关于整体项目风险的信息，以及关于已识别的单个项目风险的概述信息。在项目风险管理过程中，风险报告的编制是一项渐进式的工作。随着实施定性风险分析、实施定量风险分析、规划风险应对、实施风险应对和监督风险过程的完成，这些过程的结果也需要记录在风险登记册中。在完成识别风险过程时，风险报告的内容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整体项目风险的来源。说明哪些是整体项目风险敞口的最重要驱动因素。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关于已识别单个项目风险的概述信息。例如，已识别的威胁与机会的数量、风险在风险类别中的分布情况、测量指标和发展趋势。</a:t>
            </a:r>
          </a:p>
          <a:p>
            <a:pPr algn="l"/>
            <a:r>
              <a:rPr lang="zh-CN" altLang="en-US" sz="1800" b="0" i="0" u="none" strike="noStrike" baseline="0" dirty="0">
                <a:latin typeface="SourceHanSansSC-Regular"/>
              </a:rPr>
              <a:t>根据风险管理计划中规定的报告要求，风险报告中可能还包含其他信息。</a:t>
            </a:r>
          </a:p>
          <a:p>
            <a:pPr algn="l"/>
            <a:r>
              <a:rPr lang="en-US" altLang="zh-CN" sz="1800" b="0" i="0" u="none" strike="noStrike" baseline="0" dirty="0">
                <a:latin typeface="HelveticaNeue-MediumCond"/>
              </a:rPr>
              <a:t>11.2.3.3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节。在识别风险过程中，可能做出新的假设，识别出新的制约因素，或者现有的假设条件或制约因素可能被重新审查和修改。应该更新假设日志，记录这些新信息。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节。应该更新问题日志，记录发现的新问题或当前问题的变化。</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节。为了改善后期阶段或其他项目的绩效，而更新经验教训登记册，记录关于行之有效的风险识别技术的信息。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26357798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37347291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组织可以通过关注高优先级的风险来提升项目绩效。</a:t>
            </a:r>
            <a:endParaRPr lang="en-US" altLang="zh-CN" sz="1200" b="0" dirty="0">
              <a:solidFill>
                <a:schemeClr val="tx2"/>
              </a:solidFill>
              <a:ea typeface="微软雅黑" pitchFamily="34" charset="-122"/>
            </a:endParaRPr>
          </a:p>
          <a:p>
            <a:pPr algn="l"/>
            <a:r>
              <a:rPr lang="zh-CN" altLang="en-US" sz="1800" b="0" i="0" u="none" strike="noStrike" baseline="0" dirty="0">
                <a:latin typeface="SourceHanSansSC-Regular"/>
              </a:rPr>
              <a:t>实施定性风险分析，使用项目风险的发生概率、风险发生时对项目目标的相应影响以及其他因素，来评估已识别单个项目风险的优先级。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这种评估基于项目团队和其他相关方对风险的感知程度，从而具有主观性。</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所以，为了实现有效评估，就需要认清和管理本过程关键参与者对风险所持的态度</a:t>
            </a:r>
            <a:r>
              <a:rPr lang="en-US" altLang="zh-CN" sz="1800" b="0" i="0" u="none" strike="noStrike" baseline="0" dirty="0">
                <a:latin typeface="SourceHanSansSC-Regular"/>
              </a:rPr>
              <a:t>, </a:t>
            </a:r>
            <a:r>
              <a:rPr lang="zh-CN" altLang="en-US" sz="1800" b="0" i="0" u="none" strike="noStrike" baseline="0" dirty="0">
                <a:latin typeface="SourceHanSansSC-Regular"/>
              </a:rPr>
              <a:t>注意找出偏见并加以纠正。实施定性风险分析能为规划风险应对过程确定单个项目风险的相对优先级。本过程会为每个风险</a:t>
            </a:r>
            <a:r>
              <a:rPr lang="zh-CN" altLang="en-US" sz="1800" b="1" i="0" u="none" strike="noStrike" baseline="0" dirty="0">
                <a:latin typeface="SourceHanSansSC-Regular"/>
              </a:rPr>
              <a:t>识别出责任人</a:t>
            </a:r>
            <a:r>
              <a:rPr lang="zh-CN" altLang="en-US" sz="1800" b="0" i="0" u="none" strike="noStrike" baseline="0" dirty="0">
                <a:latin typeface="SourceHanSansSC-Regular"/>
              </a:rPr>
              <a:t>，以便由他们负责规划风险应对措施，并确保应对措施的实施。如果需要开展实施定量风险分析过程，那么实施定性风险分析也能为其奠定基础。</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25897496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11.3.1 </a:t>
            </a:r>
            <a:r>
              <a:rPr lang="zh-CN" altLang="en-US" sz="1800" b="0" i="0" u="none" strike="noStrike" baseline="0" dirty="0">
                <a:latin typeface="SourceHanSansSC-Medium"/>
              </a:rPr>
              <a:t>实施定性风险分析：输入</a:t>
            </a:r>
          </a:p>
          <a:p>
            <a:pPr algn="l"/>
            <a:r>
              <a:rPr lang="en-US" altLang="zh-CN" sz="1800" b="0" i="0" u="none" strike="noStrike" baseline="0" dirty="0">
                <a:latin typeface="HelveticaNeue-MediumCond"/>
              </a:rPr>
              <a:t>11.3.1.1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本过程中需要特别注意的是风险管理的角色和职责、预算和进度活动安排，以及风险类别（通常在风险分解结构中定义）、概率和影响定义、概率和影响矩阵和相关方的风险临界值。通常已经在规划风险管理过程中把这些内容裁剪成适合具体项目的需要。如果还没有这些内容，则可以在实施定性风险分析过程中编制，并经项目发起人批准之后用于本过程。</a:t>
            </a:r>
          </a:p>
          <a:p>
            <a:pPr algn="l"/>
            <a:r>
              <a:rPr lang="en-US" altLang="zh-CN" sz="1800" b="0" i="0" u="none" strike="noStrike" baseline="0" dirty="0">
                <a:latin typeface="HelveticaNeue-MediumCond"/>
              </a:rPr>
              <a:t>11.3.1.2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节。假设日志用于识别、管理和监督可能影响项目的关键假设条件和制约因素，它们可能影响对单个项目风险的优先级的评估。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节。风险登记册包括将在本过程评估的、每个已识别的单个项目风险的详细信息。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节。它包括可能被指定为风险责任人的项目相关方的详细信息。</a:t>
            </a:r>
            <a:endParaRPr lang="en-US" altLang="zh-CN" sz="1800" b="0" i="0" u="none" strike="noStrike" baseline="0" dirty="0">
              <a:latin typeface="SourceHanSansSC-Regular"/>
            </a:endParaRPr>
          </a:p>
          <a:p>
            <a:pPr algn="l"/>
            <a:r>
              <a:rPr lang="en-US" altLang="zh-CN" dirty="0"/>
              <a:t>11.3.1.3 </a:t>
            </a:r>
            <a:r>
              <a:rPr lang="zh-CN" altLang="en-US" dirty="0"/>
              <a:t>事业环境因素</a:t>
            </a:r>
          </a:p>
          <a:p>
            <a:pPr algn="l"/>
            <a:r>
              <a:rPr lang="zh-CN" altLang="en-US" dirty="0"/>
              <a:t>能够影响实施定性风险分析的事业环境因素包括（但不限于）：</a:t>
            </a:r>
          </a:p>
          <a:p>
            <a:pPr algn="l"/>
            <a:r>
              <a:rPr lang="en-US" altLang="zh-CN" dirty="0"/>
              <a:t>  </a:t>
            </a:r>
            <a:r>
              <a:rPr lang="zh-CN" altLang="en-US" dirty="0"/>
              <a:t>类似项目的行业研究资料；</a:t>
            </a:r>
          </a:p>
          <a:p>
            <a:pPr algn="l"/>
            <a:r>
              <a:rPr lang="en-US" altLang="zh-CN" dirty="0"/>
              <a:t>  </a:t>
            </a:r>
            <a:r>
              <a:rPr lang="zh-CN" altLang="en-US" dirty="0"/>
              <a:t>已发布的材料，包括商业风险数据库或核对单。</a:t>
            </a:r>
          </a:p>
          <a:p>
            <a:pPr algn="l"/>
            <a:r>
              <a:rPr lang="en-US" altLang="zh-CN" dirty="0"/>
              <a:t>11.3.1.4 </a:t>
            </a:r>
            <a:r>
              <a:rPr lang="zh-CN" altLang="en-US" dirty="0"/>
              <a:t>组织过程资产</a:t>
            </a:r>
          </a:p>
          <a:p>
            <a:pPr algn="l"/>
            <a:r>
              <a:rPr lang="zh-CN" altLang="en-US" dirty="0"/>
              <a:t>能够影响实施定性风险分析的组织过程资产包括（但不限于）已完成的类似项目的信息。</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2276330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11749434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任正非早期就意识到美国可能打压华为，实施了备胎计划，但没想到美国如此流氓，会完全不顾贸易规则，不允许台积电为华为生产芯片</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11.3.2 </a:t>
            </a:r>
            <a:r>
              <a:rPr lang="zh-CN" altLang="en-US" sz="1800" b="0" i="0" u="none" strike="noStrike" baseline="0" dirty="0">
                <a:latin typeface="SourceHanSansSC-Medium"/>
              </a:rPr>
              <a:t>实施定性风险分析：工具与技术</a:t>
            </a:r>
          </a:p>
          <a:p>
            <a:pPr algn="l"/>
            <a:r>
              <a:rPr lang="en-US" altLang="zh-CN" sz="1800" b="0" i="0" u="none" strike="noStrike" baseline="0" dirty="0">
                <a:latin typeface="HelveticaNeue-MediumCond"/>
              </a:rPr>
              <a:t>11.3.2.1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节。应考虑具备以下专业知识或接受过相关培训的个人或小组的意见：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以往类似项目；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定性风险分析。</a:t>
            </a:r>
          </a:p>
          <a:p>
            <a:pPr algn="l"/>
            <a:r>
              <a:rPr lang="zh-CN" altLang="en-US" sz="1800" b="0" i="0" u="none" strike="noStrike" baseline="0" dirty="0">
                <a:latin typeface="SourceHanSansSC-Regular"/>
              </a:rPr>
              <a:t>专家判断往往可通过引导式风险研讨会或访谈获取。应该注意专家可能持有偏见。</a:t>
            </a:r>
          </a:p>
          <a:p>
            <a:pPr algn="l"/>
            <a:r>
              <a:rPr lang="en-US" altLang="zh-CN" sz="1800" b="0" i="0" u="none" strike="noStrike" baseline="0" dirty="0">
                <a:latin typeface="HelveticaNeue-MediumCond"/>
              </a:rPr>
              <a:t>11.3.2.2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适用于本过程的数据收集技术包括（但不限于）访谈。结构化或半结构化的访谈（见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节）可用于评估单个项目风险的概率和影响，以及其他因素。访谈者应该营造信任和保密的访谈环境，以鼓励被访者提出诚实和无偏见的意见。</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11.3.2.3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风险数据质量评估。</a:t>
            </a:r>
            <a:r>
              <a:rPr lang="zh-CN" altLang="en-US" sz="1800" b="0" i="0" u="none" strike="noStrike" baseline="0" dirty="0">
                <a:latin typeface="SourceHanSansSC-Regular"/>
              </a:rPr>
              <a:t>风险数据是开展定性风险分析的基础。风险数据质量评估旨在评价关于单个项目风险的数据的准确性和可靠性。使用低质量的风险数据，可能导致定性风险分析对项目来说基本没用。如果数据质量不可接受，就可能需要收集更好的数据。可以开展问卷调查，了解项目相关方对数据质量各方面的评价，包括数据的完整性、客观性、相关性和及时性，进而对风险数据的质量进行综合评估。可以计算这些方面的加权平均数，将其作为数据质量的总体分数。</a:t>
            </a:r>
          </a:p>
          <a:p>
            <a:pPr algn="l"/>
            <a:r>
              <a:rPr lang="en-US" altLang="zh-CN" sz="1800" b="0" i="0" u="none" strike="noStrike" baseline="0" dirty="0">
                <a:latin typeface="Wingdings-Regular"/>
              </a:rPr>
              <a:t>  </a:t>
            </a:r>
            <a:r>
              <a:rPr lang="zh-CN" altLang="en-US" sz="1800" b="1" i="0" u="none" strike="noStrike" baseline="0" dirty="0">
                <a:latin typeface="SourceHanSansSC-Bold"/>
              </a:rPr>
              <a:t>风险概率和影响评估。</a:t>
            </a:r>
            <a:r>
              <a:rPr lang="zh-CN" altLang="en-US" sz="1800" b="1" i="0" u="sng" strike="noStrike" baseline="0" dirty="0">
                <a:latin typeface="SourceHanSansSC-Regular"/>
              </a:rPr>
              <a:t>风险概率评估</a:t>
            </a:r>
            <a:r>
              <a:rPr lang="zh-CN" altLang="en-US" sz="1800" b="0" i="0" u="none" strike="noStrike" baseline="0" dirty="0">
                <a:latin typeface="SourceHanSansSC-Regular"/>
              </a:rPr>
              <a:t>考虑的是特定风险发生的可能性，而</a:t>
            </a:r>
            <a:r>
              <a:rPr lang="zh-CN" altLang="en-US" sz="1800" b="1" i="0" u="none" strike="noStrike" baseline="0" dirty="0">
                <a:latin typeface="SourceHanSansSC-Regular"/>
              </a:rPr>
              <a:t>风险影响评估</a:t>
            </a:r>
            <a:r>
              <a:rPr lang="zh-CN" altLang="en-US" sz="1800" b="0" i="0" u="none" strike="noStrike" baseline="0" dirty="0">
                <a:latin typeface="SourceHanSansSC-Regular"/>
              </a:rPr>
              <a:t>考虑的是风险对一项或多项项目目标的潜在影响，如进度、成本、质量或绩效。威胁将产生负面的影响，机会将产生正面的影响。要对每个已识别的单个项目风险进行概率和影响评估。风险评估可以采用访谈或会议的形式，参加者将依照他们对风险登记册中所记录的风险类型的熟悉程度而定。项目团队成员和项目外部资深人员应该参加访谈或会议。在访谈或会议期间，评估每个风险的概率水平及其对每项目标的影响级别。如果相关方对概率水平和影响级别的感知存在差异，则应对差异进行探讨。此外，还应记录相应的说明性细节，例如，确定概率水平或影响级别所依据的假设条件。应该采用风险管理计划中的概率和影响定义（表</a:t>
            </a:r>
            <a:r>
              <a:rPr lang="en-US" altLang="zh-CN" sz="1800" b="0" i="0" u="none" strike="noStrike" baseline="0" dirty="0">
                <a:latin typeface="HelveticaNeue-Condensed"/>
              </a:rPr>
              <a:t>11-1</a:t>
            </a:r>
            <a:r>
              <a:rPr lang="zh-CN" altLang="en-US" sz="1800" b="0" i="0" u="none" strike="noStrike" baseline="0" dirty="0">
                <a:latin typeface="SourceHanSansSC-Regular"/>
              </a:rPr>
              <a:t>），来评估风险的概率和影响。低概率和影响的风险将被列入风险登记册中的观察清单，以供未来监控。</a:t>
            </a:r>
          </a:p>
          <a:p>
            <a:pPr algn="l"/>
            <a:r>
              <a:rPr lang="en-US" altLang="zh-CN" sz="1800" b="0" i="0" u="none" strike="noStrike" baseline="0" dirty="0">
                <a:latin typeface="Wingdings-Regular"/>
              </a:rPr>
              <a:t>  </a:t>
            </a:r>
            <a:r>
              <a:rPr lang="zh-CN" altLang="en-US" sz="1800" b="1" i="0" u="none" strike="noStrike" baseline="0" dirty="0">
                <a:latin typeface="SourceHanSansSC-Bold"/>
              </a:rPr>
              <a:t>其他风险参数评估。</a:t>
            </a:r>
            <a:r>
              <a:rPr lang="zh-CN" altLang="en-US" sz="1800" b="0" i="0" u="none" strike="noStrike" baseline="0" dirty="0">
                <a:latin typeface="SourceHanSansSC-Regular"/>
              </a:rPr>
              <a:t>为了方便未来分析和行动，在对单个项目风险进行优先级排序时，项目团队可能考虑（除概率和影响以外的）其他风险特征。此类特征可能包括（但不限于）：</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紧迫性。</a:t>
            </a:r>
            <a:r>
              <a:rPr lang="zh-CN" altLang="en-US" sz="1800" b="0" i="0" u="none" strike="noStrike" baseline="0" dirty="0">
                <a:latin typeface="SourceHanSansSC-Regular"/>
              </a:rPr>
              <a:t>为有效应对风险而必须采取应对措施的时间段。时间短就说明紧迫性高。</a:t>
            </a:r>
          </a:p>
          <a:p>
            <a:pPr algn="l"/>
            <a:r>
              <a:rPr lang="en-US" altLang="zh-CN" sz="1800" b="0" i="0" u="none" strike="noStrike" baseline="0" dirty="0">
                <a:latin typeface="Wingdings-Regular"/>
              </a:rPr>
              <a:t>    </a:t>
            </a:r>
            <a:r>
              <a:rPr lang="zh-CN" altLang="en-US" sz="1800" b="1" i="0" u="none" strike="noStrike" baseline="0" dirty="0">
                <a:latin typeface="SourceHanSansSC-Bold"/>
              </a:rPr>
              <a:t>邻近性。</a:t>
            </a:r>
            <a:r>
              <a:rPr lang="zh-CN" altLang="en-US" sz="1800" b="0" i="0" u="none" strike="noStrike" baseline="0" dirty="0">
                <a:latin typeface="SourceHanSansSC-Regular"/>
              </a:rPr>
              <a:t>风险在多长时间后会影响一项或多项项目目标。时间短就说明邻近性高。</a:t>
            </a:r>
          </a:p>
          <a:p>
            <a:pPr algn="l"/>
            <a:r>
              <a:rPr lang="en-US" altLang="zh-CN" sz="1800" b="0" i="0" u="none" strike="noStrike" baseline="0" dirty="0">
                <a:latin typeface="Wingdings-Regular"/>
              </a:rPr>
              <a:t>    </a:t>
            </a:r>
            <a:r>
              <a:rPr lang="zh-CN" altLang="en-US" sz="1800" b="1" i="0" u="none" strike="noStrike" baseline="0" dirty="0">
                <a:latin typeface="SourceHanSansSC-Bold"/>
              </a:rPr>
              <a:t>潜伏期。</a:t>
            </a:r>
            <a:r>
              <a:rPr lang="zh-CN" altLang="en-US" sz="1800" b="0" i="0" u="none" strike="noStrike" baseline="0" dirty="0">
                <a:latin typeface="SourceHanSansSC-Regular"/>
              </a:rPr>
              <a:t>从风险发生到影响显现之间可能的时间段。时间短就说明潜伏期短。</a:t>
            </a:r>
          </a:p>
          <a:p>
            <a:pPr algn="l"/>
            <a:r>
              <a:rPr lang="en-US" altLang="zh-CN" sz="1800" b="0" i="0" u="none" strike="noStrike" baseline="0" dirty="0">
                <a:latin typeface="Wingdings-Regular"/>
              </a:rPr>
              <a:t>    </a:t>
            </a:r>
            <a:r>
              <a:rPr lang="zh-CN" altLang="en-US" sz="1800" b="1" i="0" u="none" strike="noStrike" baseline="0" dirty="0">
                <a:latin typeface="SourceHanSansSC-Bold"/>
              </a:rPr>
              <a:t>可管理性。</a:t>
            </a:r>
            <a:r>
              <a:rPr lang="zh-CN" altLang="en-US" sz="1800" b="0" i="0" u="none" strike="noStrike" baseline="0" dirty="0">
                <a:latin typeface="SourceHanSansSC-Regular"/>
              </a:rPr>
              <a:t>风险责任人（或责任组织）管理风险发生或影响的容易程度。如果容易管理，可管理性就高。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可控性。</a:t>
            </a:r>
            <a:r>
              <a:rPr lang="zh-CN" altLang="en-US" sz="1800" b="0" i="0" u="none" strike="noStrike" baseline="0" dirty="0">
                <a:latin typeface="SourceHanSansSC-Regular"/>
              </a:rPr>
              <a:t>风险责任人（或责任组织）能够控制风险后果的程度。如果后果很容易控制，可控性就高。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可监测性。</a:t>
            </a:r>
            <a:r>
              <a:rPr lang="zh-CN" altLang="en-US" sz="1800" b="0" i="0" u="none" strike="noStrike" baseline="0" dirty="0">
                <a:latin typeface="SourceHanSansSC-Regular"/>
              </a:rPr>
              <a:t>对风险发生或即将发生进行监测的容易程度。如果风险发生很容易监测，可监测性就高。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连通性。</a:t>
            </a:r>
            <a:r>
              <a:rPr lang="zh-CN" altLang="en-US" sz="1800" b="0" i="0" u="none" strike="noStrike" baseline="0" dirty="0">
                <a:latin typeface="SourceHanSansSC-Regular"/>
              </a:rPr>
              <a:t>风险与其他单个项目风险存在关联的程度大小。如果风险与多个其他风险存在关联，连通性就高。</a:t>
            </a:r>
          </a:p>
          <a:p>
            <a:pPr algn="l"/>
            <a:r>
              <a:rPr lang="en-US" altLang="zh-CN" sz="1800" b="0" i="0" u="none" strike="noStrike" baseline="0" dirty="0">
                <a:latin typeface="Wingdings-Regular"/>
              </a:rPr>
              <a:t>    </a:t>
            </a:r>
            <a:r>
              <a:rPr lang="zh-CN" altLang="en-US" sz="1800" b="1" i="0" u="none" strike="noStrike" baseline="0" dirty="0">
                <a:latin typeface="SourceHanSansSC-Bold"/>
              </a:rPr>
              <a:t>战略影响力。</a:t>
            </a:r>
            <a:r>
              <a:rPr lang="zh-CN" altLang="en-US" sz="1800" b="0" i="0" u="none" strike="noStrike" baseline="0" dirty="0">
                <a:latin typeface="SourceHanSansSC-Regular"/>
              </a:rPr>
              <a:t>风险对组织战略目标潜在的正面或负面影响。如果风险对战略目标有重大影响，战略影响力就大。</a:t>
            </a:r>
          </a:p>
          <a:p>
            <a:pPr algn="l"/>
            <a:r>
              <a:rPr lang="en-US" altLang="zh-CN" sz="1800" b="0" i="0" u="none" strike="noStrike" baseline="0" dirty="0">
                <a:latin typeface="Wingdings-Regular"/>
              </a:rPr>
              <a:t>    </a:t>
            </a:r>
            <a:r>
              <a:rPr lang="zh-CN" altLang="en-US" sz="1800" b="1" i="0" u="none" strike="noStrike" baseline="0" dirty="0">
                <a:latin typeface="SourceHanSansSC-Bold"/>
              </a:rPr>
              <a:t>密切度。</a:t>
            </a:r>
            <a:r>
              <a:rPr lang="zh-CN" altLang="en-US" sz="1800" b="0" i="0" u="none" strike="noStrike" baseline="0" dirty="0">
                <a:latin typeface="SourceHanSansSC-Regular"/>
              </a:rPr>
              <a:t>风险被一名或多名相关方认为要紧的程度。被认为很要紧的风险，密切度就高。</a:t>
            </a:r>
          </a:p>
          <a:p>
            <a:pPr algn="l"/>
            <a:r>
              <a:rPr lang="zh-CN" altLang="en-US" sz="1800" b="0" i="0" u="none" strike="noStrike" baseline="0" dirty="0">
                <a:latin typeface="SourceHanSansSC-Regular"/>
              </a:rPr>
              <a:t>相对于仅评估概率和影响，考虑上述某些特征有助于进行更稳健的风险优先级排序。</a:t>
            </a:r>
          </a:p>
          <a:p>
            <a:pPr algn="l"/>
            <a:r>
              <a:rPr lang="en-US" altLang="zh-CN" sz="1800" b="0" i="0" u="none" strike="noStrike" baseline="0" dirty="0">
                <a:latin typeface="HelveticaNeue-MediumCond"/>
              </a:rPr>
              <a:t>11.3.2.4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开展引导，能够提高对单个项目风险的定性分析的有效性。熟练的引导者可以帮助参会者专注于风险分析任务、准确遵循与技术相关的方法、就概率和影响评估达成共识、找到并克服偏见，以及解决任何可能出现的分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11.3.2.5 </a:t>
            </a:r>
            <a:r>
              <a:rPr lang="zh-CN" altLang="en-US" sz="1800" b="0" i="0" u="none" strike="noStrike" baseline="0" dirty="0">
                <a:latin typeface="SourceHanSansSC-Medium"/>
              </a:rPr>
              <a:t>风险分类</a:t>
            </a:r>
          </a:p>
          <a:p>
            <a:pPr algn="l"/>
            <a:r>
              <a:rPr lang="zh-CN" altLang="en-US" sz="1800" b="0" i="0" u="none" strike="noStrike" baseline="0" dirty="0">
                <a:latin typeface="SourceHanSansSC-Regular"/>
              </a:rPr>
              <a:t>项目风险可依据风险来源（如采用风险分解结构 </a:t>
            </a:r>
            <a:r>
              <a:rPr lang="en-US" altLang="zh-CN" sz="1800" b="0" i="0" u="none" strike="noStrike" baseline="0" dirty="0">
                <a:latin typeface="HelveticaNeue-Condensed"/>
              </a:rPr>
              <a:t>[RBS]</a:t>
            </a:r>
            <a:r>
              <a:rPr lang="zh-CN" altLang="en-US" sz="1800" b="0" i="0" u="none" strike="noStrike" baseline="0" dirty="0">
                <a:latin typeface="SourceHanSansSC-Regular"/>
              </a:rPr>
              <a:t>，见图 </a:t>
            </a:r>
            <a:r>
              <a:rPr lang="en-US" altLang="zh-CN" sz="1800" b="0" i="0" u="none" strike="noStrike" baseline="0" dirty="0">
                <a:latin typeface="HelveticaNeue-Condensed"/>
              </a:rPr>
              <a:t>11-4</a:t>
            </a:r>
            <a:r>
              <a:rPr lang="zh-CN" altLang="en-US" sz="1800" b="0" i="0" u="none" strike="noStrike" baseline="0" dirty="0">
                <a:latin typeface="SourceHanSansSC-Regular"/>
              </a:rPr>
              <a:t>）、受影响的项目领域（如采用工作分解结构 </a:t>
            </a:r>
            <a:r>
              <a:rPr lang="en-US" altLang="zh-CN" sz="1800" b="0" i="0" u="none" strike="noStrike" baseline="0" dirty="0">
                <a:latin typeface="HelveticaNeue-Condensed"/>
              </a:rPr>
              <a:t>[WBS]</a:t>
            </a:r>
            <a:r>
              <a:rPr lang="zh-CN" altLang="en-US" sz="1800" b="0" i="0" u="none" strike="noStrike" baseline="0" dirty="0">
                <a:latin typeface="SourceHanSansSC-Regular"/>
              </a:rPr>
              <a:t>，见图 </a:t>
            </a:r>
            <a:r>
              <a:rPr lang="en-US" altLang="zh-CN" sz="1800" b="0" i="0" u="none" strike="noStrike" baseline="0" dirty="0">
                <a:latin typeface="HelveticaNeue-Condensed"/>
              </a:rPr>
              <a:t>5-12</a:t>
            </a:r>
            <a:r>
              <a:rPr lang="zh-CN" altLang="en-US" sz="1800" b="0" i="0" u="none" strike="noStrike" baseline="0" dirty="0">
                <a:latin typeface="SourceHanSansSC-Regular"/>
              </a:rPr>
              <a:t>、</a:t>
            </a:r>
            <a:r>
              <a:rPr lang="en-US" altLang="zh-CN" sz="1800" b="0" i="0" u="none" strike="noStrike" baseline="0" dirty="0">
                <a:latin typeface="HelveticaNeue-Condensed"/>
              </a:rPr>
              <a:t>5-13 </a:t>
            </a:r>
            <a:r>
              <a:rPr lang="zh-CN" altLang="en-US" sz="1800" b="0" i="0" u="none" strike="noStrike" baseline="0" dirty="0">
                <a:latin typeface="SourceHanSansSC-Regular"/>
              </a:rPr>
              <a:t>和 </a:t>
            </a:r>
            <a:r>
              <a:rPr lang="en-US" altLang="zh-CN" sz="1800" b="0" i="0" u="none" strike="noStrike" baseline="0" dirty="0">
                <a:latin typeface="HelveticaNeue-Condensed"/>
              </a:rPr>
              <a:t>5-14</a:t>
            </a:r>
            <a:r>
              <a:rPr lang="zh-CN" altLang="en-US" sz="1800" b="0" i="0" u="none" strike="noStrike" baseline="0" dirty="0">
                <a:latin typeface="SourceHanSansSC-Regular"/>
              </a:rPr>
              <a:t>），以及其他实用类别（如项目阶段、项目预算、角色和职责）来分类，确定哪些项目领域最容易被不确定性影响；风险还可以根据共同的根本原因进行分类。应该在风险管理计划中规定可用于项目的风险分类方法。</a:t>
            </a:r>
          </a:p>
          <a:p>
            <a:pPr algn="l"/>
            <a:r>
              <a:rPr lang="zh-CN" altLang="en-US" sz="1800" b="0" i="0" u="none" strike="noStrike" baseline="0" dirty="0">
                <a:latin typeface="SourceHanSansSC-Regular"/>
              </a:rPr>
              <a:t>对风险进行分类，有助于把注意力和精力集中到风险敞口最大的领域，或针对一组相关的风险制定通用的风险应对措施，从而有利于更有效地开展风险应对。</a:t>
            </a:r>
          </a:p>
          <a:p>
            <a:pPr algn="l"/>
            <a:r>
              <a:rPr lang="en-US" altLang="zh-CN" sz="1800" b="0" i="0" u="none" strike="noStrike" baseline="0" dirty="0">
                <a:latin typeface="HelveticaNeue-MediumCond"/>
              </a:rPr>
              <a:t>11.3.2.6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概率和影响矩阵。</a:t>
            </a:r>
            <a:r>
              <a:rPr lang="zh-CN" altLang="en-US" sz="1800" b="0" i="0" u="none" strike="noStrike" baseline="0" dirty="0">
                <a:latin typeface="SourceHanSansSC-Regular"/>
              </a:rPr>
              <a:t>概率和影响矩阵是把每个风险发生的概率和一旦发生对项目目标的影响映射起来的表格。此矩阵对概率和影响进行组合，以便于把单个项目风险划分成不同的优先级组别（见图 </a:t>
            </a:r>
            <a:r>
              <a:rPr lang="en-US" altLang="zh-CN" sz="1800" b="0" i="0" u="none" strike="noStrike" baseline="0" dirty="0">
                <a:latin typeface="HelveticaNeue-Condensed"/>
              </a:rPr>
              <a:t>11-5</a:t>
            </a:r>
            <a:r>
              <a:rPr lang="zh-CN" altLang="en-US" sz="1800" b="0" i="0" u="none" strike="noStrike" baseline="0" dirty="0">
                <a:latin typeface="SourceHanSansSC-Regular"/>
              </a:rPr>
              <a:t>）。基于风险的概率和影响，对风险进行优先级排序，以便未来进一步分析并制定应对措施。采用风险管理计划中规定的风险概率和影响定义，逐一对单个项目风险的发生概率及其对一项或多项项目目标的影响（若发生）进行评估。然后，基于所得到的概率和影响的组合，使用概率和影响矩阵，来为单个项目风险分配优先级别。</a:t>
            </a:r>
          </a:p>
          <a:p>
            <a:pPr algn="l"/>
            <a:r>
              <a:rPr lang="zh-CN" altLang="en-US" sz="1800" b="0" i="0" u="none" strike="noStrike" baseline="0" dirty="0">
                <a:latin typeface="SourceHanSansSC-Regular"/>
              </a:rPr>
              <a:t>组织可针对每个项目目标（如成本、时间和范围）制定单独的概率和影响矩阵，并用它们来评估风险针对每个目标的优先级别。组织还可以用不同的方法为每个风险确定一个总体优先级别。即可综合针对不同目标的评估结果，也可采用最高优先级别（无论针对哪个目标），作为风险的总体优先级别。</a:t>
            </a:r>
          </a:p>
          <a:p>
            <a:pPr algn="l"/>
            <a:r>
              <a:rPr lang="en-US" altLang="zh-CN" sz="1800" b="0" i="0" u="none" strike="noStrike" baseline="0" dirty="0">
                <a:latin typeface="Wingdings-Regular"/>
              </a:rPr>
              <a:t>  </a:t>
            </a:r>
            <a:r>
              <a:rPr lang="zh-CN" altLang="en-US" sz="1800" b="1" i="0" u="none" strike="noStrike" baseline="0" dirty="0">
                <a:latin typeface="SourceHanSansSC-Bold"/>
              </a:rPr>
              <a:t>层级图。</a:t>
            </a:r>
            <a:r>
              <a:rPr lang="zh-CN" altLang="en-US" sz="1800" b="0" i="0" u="none" strike="noStrike" baseline="0" dirty="0">
                <a:latin typeface="SourceHanSansSC-Regular"/>
              </a:rPr>
              <a:t>如果使用了两个以上的参数对风险进行分类，那就不能使用概率和影响矩阵，而需要使用其他图形。例如，气泡图能显示三维数据。在气泡图中，把每个风险都绘制成一个气泡，并用</a:t>
            </a:r>
            <a:r>
              <a:rPr lang="en-US" altLang="zh-CN" sz="1800" b="0" i="0" u="none" strike="noStrike" baseline="0" dirty="0">
                <a:latin typeface="HelveticaNeue-Condensed"/>
              </a:rPr>
              <a:t>x </a:t>
            </a:r>
            <a:r>
              <a:rPr lang="zh-CN" altLang="en-US" sz="1800" b="0" i="0" u="none" strike="noStrike" baseline="0" dirty="0">
                <a:latin typeface="SourceHanSansSC-Regular"/>
              </a:rPr>
              <a:t>轴值、</a:t>
            </a:r>
            <a:r>
              <a:rPr lang="en-US" altLang="zh-CN" sz="1800" b="0" i="0" u="none" strike="noStrike" baseline="0" dirty="0">
                <a:latin typeface="HelveticaNeue-Condensed"/>
              </a:rPr>
              <a:t>y </a:t>
            </a:r>
            <a:r>
              <a:rPr lang="zh-CN" altLang="en-US" sz="1800" b="0" i="0" u="none" strike="noStrike" baseline="0" dirty="0">
                <a:latin typeface="SourceHanSansSC-Regular"/>
              </a:rPr>
              <a:t>轴值和气泡大小来表示风险的三个参数。图 </a:t>
            </a:r>
            <a:r>
              <a:rPr lang="en-US" altLang="zh-CN" sz="1800" b="0" i="0" u="none" strike="noStrike" baseline="0" dirty="0">
                <a:latin typeface="HelveticaNeue-Condensed"/>
              </a:rPr>
              <a:t>11-10 </a:t>
            </a:r>
            <a:r>
              <a:rPr lang="zh-CN" altLang="en-US" sz="1800" b="0" i="0" u="none" strike="noStrike" baseline="0" dirty="0">
                <a:latin typeface="SourceHanSansSC-Regular"/>
              </a:rPr>
              <a:t>是气泡图的示例，其中，</a:t>
            </a:r>
            <a:r>
              <a:rPr lang="en-US" altLang="zh-CN" sz="1800" b="0" i="0" u="none" strike="noStrike" baseline="0" dirty="0">
                <a:latin typeface="HelveticaNeue-Condensed"/>
              </a:rPr>
              <a:t>X</a:t>
            </a:r>
            <a:r>
              <a:rPr lang="zh-CN" altLang="en-US" sz="1800" b="0" i="0" u="none" strike="noStrike" baseline="0" dirty="0">
                <a:latin typeface="SourceHanSansSC-Regular"/>
              </a:rPr>
              <a:t>轴代表可监测性，</a:t>
            </a:r>
            <a:r>
              <a:rPr lang="en-US" altLang="zh-CN" sz="1800" b="0" i="0" u="none" strike="noStrike" baseline="0" dirty="0">
                <a:latin typeface="HelveticaNeue-Condensed"/>
              </a:rPr>
              <a:t>Y</a:t>
            </a:r>
            <a:r>
              <a:rPr lang="zh-CN" altLang="en-US" sz="1800" b="0" i="0" u="none" strike="noStrike" baseline="0" dirty="0">
                <a:latin typeface="SourceHanSansSC-Regular"/>
              </a:rPr>
              <a:t>轴代表邻近性，影响值则以气泡大小表示。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11.3.2.7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要开展定性风险分析，项目团队可能要召开专门会议（通常称为风险研讨会），对已识别单个项目风险进行讨论。会议的目标包括审查已识别的风险、评估概率和影响（及其他可能的风险参数）、对风险进行分类和优先级排序。在实施定性风险分析过程中，要逐一为单个项目风险分配风险责任人。</a:t>
            </a:r>
          </a:p>
          <a:p>
            <a:pPr algn="l"/>
            <a:r>
              <a:rPr lang="zh-CN" altLang="en-US" sz="1800" b="0" i="0" u="none" strike="noStrike" baseline="0" dirty="0">
                <a:latin typeface="SourceHanSansSC-Regular"/>
              </a:rPr>
              <a:t>以后，将由风险责任人负责规划风险应对措施和报告风险管理工作的进展情况。会议可从审查和确认拟使用的概率和影响量表开始。在会议讨论中，也可能识别出其他风险。应该记录这些风险，供后续分析。配备一名熟练的引导者能够提高会议的有效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2979830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11.3.3 </a:t>
            </a:r>
            <a:r>
              <a:rPr lang="zh-CN" altLang="en-US" sz="1800" b="0" i="0" u="none" strike="noStrike" baseline="0" dirty="0">
                <a:latin typeface="SourceHanSansSC-Medium"/>
              </a:rPr>
              <a:t>实施定性风险分析：输出</a:t>
            </a:r>
          </a:p>
          <a:p>
            <a:pPr algn="l"/>
            <a:r>
              <a:rPr lang="en-US" altLang="zh-CN" sz="1800" b="0" i="0" u="none" strike="noStrike" baseline="0" dirty="0">
                <a:latin typeface="HelveticaNeue-MediumCond"/>
              </a:rPr>
              <a:t>11.3.3.1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节。在实施定性风险分析过程中，可能做出新的假设、识别出新的制约因素，或者现有的假设条件或制约因素可能被重新审查和修改。应该更新假设日志，应记录这些新信息。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节。应该更新问题日志，记录发现的新问题或当前问题的变化。</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节。用实施定性风险分析过程生成的新信息，去更新风险登记册。</a:t>
            </a:r>
          </a:p>
          <a:p>
            <a:pPr algn="l"/>
            <a:r>
              <a:rPr lang="zh-CN" altLang="en-US" sz="1800" b="0" i="0" u="none" strike="noStrike" baseline="0" dirty="0">
                <a:latin typeface="SourceHanSansSC-Regular"/>
              </a:rPr>
              <a:t>风险登记册的更新内容可能包括：每项单个项目风险的概率和影响评估、优先级别或风险分值、指定风险责任人、风险紧迫性信息或风险类别，以及低优先级风险的观察清单或需要进一步分析的风险。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节。更新风险报告，记录最重要的单个项目风险（通常为概率和影响最高的风险）、所有已识别风险的优先级列表以及简要的结论。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10769401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定量风险分析是就已识别风险对项目整体目标的影响进行定量分析的过程。</a:t>
            </a:r>
            <a:r>
              <a:rPr lang="zh-CN" altLang="en-US" sz="1200" b="1" dirty="0">
                <a:solidFill>
                  <a:schemeClr val="tx2"/>
                </a:solidFill>
                <a:ea typeface="微软雅黑" pitchFamily="34" charset="-122"/>
              </a:rPr>
              <a:t>实施定量风险分析的对象是在定性风险分析中被认为对项目的竞争性需求存在潜在重大影响的风险</a:t>
            </a:r>
            <a:r>
              <a:rPr lang="zh-CN" altLang="en-US" sz="1200" b="0" dirty="0">
                <a:solidFill>
                  <a:schemeClr val="tx2"/>
                </a:solidFill>
                <a:ea typeface="微软雅黑" pitchFamily="34" charset="-122"/>
              </a:rPr>
              <a:t>。定量分析既可以对单个风险量化评级，也可以评估所有风险对项目的总体影响。</a:t>
            </a:r>
            <a:endParaRPr lang="en-US" altLang="zh-CN" sz="1200" b="0" dirty="0">
              <a:solidFill>
                <a:schemeClr val="tx2"/>
              </a:solidFill>
              <a:ea typeface="微软雅黑" pitchFamily="34" charset="-122"/>
            </a:endParaRPr>
          </a:p>
          <a:p>
            <a:endParaRPr lang="en-US" altLang="zh-CN" dirty="0"/>
          </a:p>
          <a:p>
            <a:pPr algn="l"/>
            <a:r>
              <a:rPr lang="zh-CN" altLang="en-US" sz="1800" b="0" i="0" u="none" strike="noStrike" baseline="0" dirty="0">
                <a:latin typeface="SourceHanSansSC-Regular"/>
              </a:rPr>
              <a:t>并非所有项目都需要实施定量风险分析。能否开展稳健的分析取决于是否有关于单个项目风险和其他不确定性来源的高质量数据，以及与范围、进度和成本相关的扎实项目基准。定量风险分析通常需要运用专门的风险分析软件，以及编制和解释风险模式的专业知识，还需要额外的时间和成本投入。项目风险管理计划会规定是否需要使用定量风险分析，定量分析最可能适用于大型或复杂的项目、具有战略重要性的项目、合同要求进行定量分析的项目，或主要相关方要求进行定量分析的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18056508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11.4.1 </a:t>
            </a:r>
            <a:r>
              <a:rPr lang="zh-CN" altLang="en-US" sz="1200" b="0" i="0" u="none" strike="noStrike" baseline="0" dirty="0">
                <a:latin typeface="SourceHanSansSC-Medium"/>
              </a:rPr>
              <a:t>实施定量风险分析：输入</a:t>
            </a:r>
          </a:p>
          <a:p>
            <a:pPr algn="l"/>
            <a:r>
              <a:rPr lang="en-US" altLang="zh-CN" sz="1200" b="0" i="0" u="none" strike="noStrike" baseline="0" dirty="0">
                <a:latin typeface="HelveticaNeue-MediumCond"/>
              </a:rPr>
              <a:t>11.4.1.1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风险管理计划。</a:t>
            </a:r>
            <a:r>
              <a:rPr lang="zh-CN" altLang="en-US" sz="1200" b="0" i="0" u="none" strike="noStrike" baseline="0" dirty="0">
                <a:latin typeface="SourceHanSansSC-Regular"/>
              </a:rPr>
              <a:t>见 </a:t>
            </a:r>
            <a:r>
              <a:rPr lang="en-US" altLang="zh-CN" sz="1200" b="0" i="0" u="none" strike="noStrike" baseline="0" dirty="0">
                <a:latin typeface="HelveticaNeue-Condensed"/>
              </a:rPr>
              <a:t>11.1.3.1 </a:t>
            </a:r>
            <a:r>
              <a:rPr lang="zh-CN" altLang="en-US" sz="1200" b="0" i="0" u="none" strike="noStrike" baseline="0" dirty="0">
                <a:latin typeface="SourceHanSansSC-Regular"/>
              </a:rPr>
              <a:t>节。风险管理计划确定项目是否需要定量风险分析，还会详述可用于分析的资源，以及预期的分析频率。</a:t>
            </a:r>
          </a:p>
          <a:p>
            <a:pPr algn="l"/>
            <a:r>
              <a:rPr lang="en-US" altLang="zh-CN" sz="1200" b="0" i="0" u="none" strike="noStrike" baseline="0" dirty="0">
                <a:latin typeface="Wingdings-Regular"/>
              </a:rPr>
              <a:t>  </a:t>
            </a:r>
            <a:r>
              <a:rPr lang="zh-CN" altLang="en-US" sz="1200" b="1" i="0" u="none" strike="noStrike" baseline="0" dirty="0">
                <a:latin typeface="SourceHanSansSC-Bold"/>
              </a:rPr>
              <a:t>范围基准。</a:t>
            </a:r>
            <a:r>
              <a:rPr lang="zh-CN" altLang="en-US" sz="1200" b="0" i="0" u="none" strike="noStrike" baseline="0" dirty="0">
                <a:latin typeface="SourceHanSansSC-Regular"/>
              </a:rPr>
              <a:t>见 </a:t>
            </a:r>
            <a:r>
              <a:rPr lang="en-US" altLang="zh-CN" sz="1200" b="0" i="0" u="none" strike="noStrike" baseline="0" dirty="0">
                <a:latin typeface="HelveticaNeue-Condensed"/>
              </a:rPr>
              <a:t>5.4.3.1 </a:t>
            </a:r>
            <a:r>
              <a:rPr lang="zh-CN" altLang="en-US" sz="1200" b="0" i="0" u="none" strike="noStrike" baseline="0" dirty="0">
                <a:latin typeface="SourceHanSansSC-Regular"/>
              </a:rPr>
              <a:t>节。范围基准提供了对单个项目风险和其他不确定性来源的影响开展评估的起始点。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进度基准。</a:t>
            </a:r>
            <a:r>
              <a:rPr lang="zh-CN" altLang="en-US" sz="1200" b="0" i="0" u="none" strike="noStrike" baseline="0" dirty="0">
                <a:latin typeface="SourceHanSansSC-Regular"/>
              </a:rPr>
              <a:t>见 </a:t>
            </a:r>
            <a:r>
              <a:rPr lang="en-US" altLang="zh-CN" sz="1200" b="0" i="0" u="none" strike="noStrike" baseline="0" dirty="0">
                <a:latin typeface="HelveticaNeue-Condensed"/>
              </a:rPr>
              <a:t>6.5.3.1 </a:t>
            </a:r>
            <a:r>
              <a:rPr lang="zh-CN" altLang="en-US" sz="1200" b="0" i="0" u="none" strike="noStrike" baseline="0" dirty="0">
                <a:latin typeface="SourceHanSansSC-Regular"/>
              </a:rPr>
              <a:t>节。进度基准提供了对单个项目风险和其他不确定性来源的影响开展评估的起始点。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成本基准。</a:t>
            </a:r>
            <a:r>
              <a:rPr lang="zh-CN" altLang="en-US" sz="1200" b="0" i="0" u="none" strike="noStrike" baseline="0" dirty="0">
                <a:latin typeface="SourceHanSansSC-Regular"/>
              </a:rPr>
              <a:t>见 </a:t>
            </a:r>
            <a:r>
              <a:rPr lang="en-US" altLang="zh-CN" sz="1200" b="0" i="0" u="none" strike="noStrike" baseline="0" dirty="0">
                <a:latin typeface="HelveticaNeue-Condensed"/>
              </a:rPr>
              <a:t>7.3.3.1 </a:t>
            </a:r>
            <a:r>
              <a:rPr lang="zh-CN" altLang="en-US" sz="1200" b="0" i="0" u="none" strike="noStrike" baseline="0" dirty="0">
                <a:latin typeface="SourceHanSansSC-Regular"/>
              </a:rPr>
              <a:t>节。成本基准提供了对单个项目风险和其他不确定性来源的影响开展评估的起始点。</a:t>
            </a:r>
          </a:p>
          <a:p>
            <a:pPr algn="l"/>
            <a:r>
              <a:rPr lang="en-US" altLang="zh-CN" sz="1200" b="0" i="0" u="none" strike="noStrike" baseline="0" dirty="0">
                <a:latin typeface="HelveticaNeue-MediumCond"/>
              </a:rPr>
              <a:t>11.4.1.2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假设日志。</a:t>
            </a:r>
            <a:r>
              <a:rPr lang="zh-CN" altLang="en-US" sz="1200" b="0" i="0" u="none" strike="noStrike" baseline="0" dirty="0">
                <a:latin typeface="SourceHanSansSC-Regular"/>
              </a:rPr>
              <a:t>见 </a:t>
            </a:r>
            <a:r>
              <a:rPr lang="en-US" altLang="zh-CN" sz="1200" b="0" i="0" u="none" strike="noStrike" baseline="0" dirty="0">
                <a:latin typeface="HelveticaNeue-Condensed"/>
              </a:rPr>
              <a:t>4.1.3.2 </a:t>
            </a:r>
            <a:r>
              <a:rPr lang="zh-CN" altLang="en-US" sz="1200" b="0" i="0" u="none" strike="noStrike" baseline="0" dirty="0">
                <a:latin typeface="SourceHanSansSC-Regular"/>
              </a:rPr>
              <a:t>节。如果认为假设条件会引发项目风险，那么就应该把它们列作定量风险分析的输入。在定量风险分析期间，也可以建立模型来分析制约因素的影响。</a:t>
            </a:r>
          </a:p>
          <a:p>
            <a:pPr algn="l"/>
            <a:r>
              <a:rPr lang="en-US" altLang="zh-CN" sz="1200" b="0" i="0" u="none" strike="noStrike" baseline="0" dirty="0">
                <a:latin typeface="Wingdings-Regular"/>
              </a:rPr>
              <a:t>  </a:t>
            </a:r>
            <a:r>
              <a:rPr lang="zh-CN" altLang="en-US" sz="1200" b="1" i="0" u="none" strike="noStrike" baseline="0" dirty="0">
                <a:latin typeface="SourceHanSansSC-Bold"/>
              </a:rPr>
              <a:t>估算依据。</a:t>
            </a:r>
            <a:r>
              <a:rPr lang="zh-CN" altLang="en-US" sz="1200" b="0" i="0" u="none" strike="noStrike" baseline="0" dirty="0">
                <a:latin typeface="SourceHanSansSC-Regular"/>
              </a:rPr>
              <a:t>见 </a:t>
            </a:r>
            <a:r>
              <a:rPr lang="en-US" altLang="zh-CN" sz="1200" b="0" i="0" u="none" strike="noStrike" baseline="0" dirty="0">
                <a:latin typeface="HelveticaNeue-Condensed"/>
              </a:rPr>
              <a:t>6.4.3.2 </a:t>
            </a:r>
            <a:r>
              <a:rPr lang="zh-CN" altLang="en-US" sz="1200" b="0" i="0" u="none" strike="noStrike" baseline="0" dirty="0">
                <a:latin typeface="SourceHanSansSC-Regular"/>
              </a:rPr>
              <a:t>节和 </a:t>
            </a:r>
            <a:r>
              <a:rPr lang="en-US" altLang="zh-CN" sz="1200" b="0" i="0" u="none" strike="noStrike" baseline="0" dirty="0">
                <a:latin typeface="HelveticaNeue-Condensed"/>
              </a:rPr>
              <a:t>7.2.3.2 </a:t>
            </a:r>
            <a:r>
              <a:rPr lang="zh-CN" altLang="en-US" sz="1200" b="0" i="0" u="none" strike="noStrike" baseline="0" dirty="0">
                <a:latin typeface="SourceHanSansSC-Regular"/>
              </a:rPr>
              <a:t>节。开展定量风险分析时，可以把用于项目规划的估算依据反映在所建立的变异性模型中。可能包括估算目的、分类、准确性、方法和资料来源。</a:t>
            </a:r>
          </a:p>
          <a:p>
            <a:pPr algn="l"/>
            <a:r>
              <a:rPr lang="en-US" altLang="zh-CN" sz="1200" b="0" i="0" u="none" strike="noStrike" baseline="0" dirty="0">
                <a:latin typeface="Wingdings-Regular"/>
              </a:rPr>
              <a:t>  </a:t>
            </a:r>
            <a:r>
              <a:rPr lang="zh-CN" altLang="en-US" sz="1200" b="1" i="0" u="none" strike="noStrike" baseline="0" dirty="0">
                <a:latin typeface="SourceHanSansSC-Bold"/>
              </a:rPr>
              <a:t>成本估算。</a:t>
            </a:r>
            <a:r>
              <a:rPr lang="zh-CN" altLang="en-US" sz="1200" b="0" i="0" u="none" strike="noStrike" baseline="0" dirty="0">
                <a:latin typeface="SourceHanSansSC-Regular"/>
              </a:rPr>
              <a:t>见 </a:t>
            </a:r>
            <a:r>
              <a:rPr lang="en-US" altLang="zh-CN" sz="1200" b="0" i="0" u="none" strike="noStrike" baseline="0" dirty="0">
                <a:latin typeface="HelveticaNeue-Condensed"/>
              </a:rPr>
              <a:t>7.2.3.1 </a:t>
            </a:r>
            <a:r>
              <a:rPr lang="zh-CN" altLang="en-US" sz="1200" b="0" i="0" u="none" strike="noStrike" baseline="0" dirty="0">
                <a:latin typeface="SourceHanSansSC-Regular"/>
              </a:rPr>
              <a:t>节。成本估算提供了对成本变化性进行评估的起始点。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成本预测。</a:t>
            </a:r>
            <a:r>
              <a:rPr lang="zh-CN" altLang="en-US" sz="1200" b="0" i="0" u="none" strike="noStrike" baseline="0" dirty="0">
                <a:latin typeface="SourceHanSansSC-Regular"/>
              </a:rPr>
              <a:t>见 </a:t>
            </a:r>
            <a:r>
              <a:rPr lang="en-US" altLang="zh-CN" sz="1200" b="0" i="0" u="none" strike="noStrike" baseline="0" dirty="0">
                <a:latin typeface="HelveticaNeue-Condensed"/>
              </a:rPr>
              <a:t>7.4.3.2 </a:t>
            </a:r>
            <a:r>
              <a:rPr lang="zh-CN" altLang="en-US" sz="1200" b="0" i="0" u="none" strike="noStrike" baseline="0" dirty="0">
                <a:latin typeface="SourceHanSansSC-Regular"/>
              </a:rPr>
              <a:t>节。成本预测包括项目的完工尚需估算 </a:t>
            </a:r>
            <a:r>
              <a:rPr lang="en-US" altLang="zh-CN" sz="1200" b="0" i="0" u="none" strike="noStrike" baseline="0" dirty="0">
                <a:latin typeface="HelveticaNeue-Condensed"/>
              </a:rPr>
              <a:t>(ETC)</a:t>
            </a:r>
            <a:r>
              <a:rPr lang="zh-CN" altLang="en-US" sz="1200" b="0" i="0" u="none" strike="noStrike" baseline="0" dirty="0">
                <a:latin typeface="SourceHanSansSC-Regular"/>
              </a:rPr>
              <a:t>、完工估算 </a:t>
            </a:r>
            <a:r>
              <a:rPr lang="en-US" altLang="zh-CN" sz="1200" b="0" i="0" u="none" strike="noStrike" baseline="0" dirty="0">
                <a:latin typeface="HelveticaNeue-Condensed"/>
              </a:rPr>
              <a:t>(EAC)</a:t>
            </a:r>
            <a:r>
              <a:rPr lang="zh-CN" altLang="en-US" sz="1200" b="0" i="0" u="none" strike="noStrike" baseline="0" dirty="0">
                <a:latin typeface="SourceHanSansSC-Regular"/>
              </a:rPr>
              <a:t>、完工预算</a:t>
            </a:r>
            <a:r>
              <a:rPr lang="en-US" altLang="zh-CN" sz="1200" b="0" i="0" u="none" strike="noStrike" baseline="0" dirty="0">
                <a:latin typeface="HelveticaNeue-Condensed"/>
              </a:rPr>
              <a:t>(BAC) </a:t>
            </a:r>
            <a:r>
              <a:rPr lang="zh-CN" altLang="en-US" sz="1200" b="0" i="0" u="none" strike="noStrike" baseline="0" dirty="0">
                <a:latin typeface="SourceHanSansSC-Regular"/>
              </a:rPr>
              <a:t>和完工尚需绩效指数（</a:t>
            </a:r>
            <a:r>
              <a:rPr lang="en-US" altLang="zh-CN" sz="1200" b="0" i="0" u="none" strike="noStrike" baseline="0" dirty="0">
                <a:latin typeface="SourceHanSansSC-Regular"/>
              </a:rPr>
              <a:t>T</a:t>
            </a:r>
            <a:r>
              <a:rPr lang="en-US" altLang="zh-CN" sz="1200" b="0" i="0" u="none" strike="noStrike" baseline="0" dirty="0">
                <a:latin typeface="HelveticaNeue-Condensed"/>
              </a:rPr>
              <a:t>CP</a:t>
            </a:r>
            <a:r>
              <a:rPr lang="zh-CN" altLang="en-US" sz="1200" b="0" i="0" u="none" strike="noStrike" baseline="0" dirty="0">
                <a:latin typeface="SourceHanSansSC-Regular"/>
              </a:rPr>
              <a:t>）。把这些预测指标与定量成本风险分析的结果进行比较，以</a:t>
            </a:r>
          </a:p>
          <a:p>
            <a:pPr algn="l"/>
            <a:r>
              <a:rPr lang="zh-CN" altLang="en-US" sz="1200" b="0" i="0" u="none" strike="noStrike" baseline="0" dirty="0">
                <a:latin typeface="SourceHanSansSC-Regular"/>
              </a:rPr>
              <a:t>确定与实现这些指标相关的置信水平。</a:t>
            </a:r>
          </a:p>
          <a:p>
            <a:pPr algn="l"/>
            <a:r>
              <a:rPr lang="en-US" altLang="zh-CN" sz="1200" b="0" i="0" u="none" strike="noStrike" baseline="0" dirty="0">
                <a:latin typeface="Wingdings-Regular"/>
              </a:rPr>
              <a:t>  </a:t>
            </a:r>
            <a:r>
              <a:rPr lang="zh-CN" altLang="en-US" sz="1200" b="1" i="0" u="none" strike="noStrike" baseline="0" dirty="0">
                <a:latin typeface="SourceHanSansSC-Bold"/>
              </a:rPr>
              <a:t>持续时间估算。</a:t>
            </a:r>
            <a:r>
              <a:rPr lang="zh-CN" altLang="en-US" sz="1200" b="0" i="0" u="none" strike="noStrike" baseline="0" dirty="0">
                <a:latin typeface="SourceHanSansSC-Regular"/>
              </a:rPr>
              <a:t>见 </a:t>
            </a:r>
            <a:r>
              <a:rPr lang="en-US" altLang="zh-CN" sz="1200" b="0" i="0" u="none" strike="noStrike" baseline="0" dirty="0">
                <a:latin typeface="HelveticaNeue-Condensed"/>
              </a:rPr>
              <a:t>6.4.3.1 </a:t>
            </a:r>
            <a:r>
              <a:rPr lang="zh-CN" altLang="en-US" sz="1200" b="0" i="0" u="none" strike="noStrike" baseline="0" dirty="0">
                <a:latin typeface="SourceHanSansSC-Regular"/>
              </a:rPr>
              <a:t>节。持续时间估算提供了对进度变化性进行评估的起始点。</a:t>
            </a:r>
          </a:p>
          <a:p>
            <a:pPr algn="l"/>
            <a:r>
              <a:rPr lang="en-US" altLang="zh-CN" sz="1200" b="0" i="0" u="none" strike="noStrike" baseline="0" dirty="0">
                <a:latin typeface="Wingdings-Regular"/>
              </a:rPr>
              <a:t>  </a:t>
            </a:r>
            <a:r>
              <a:rPr lang="zh-CN" altLang="en-US" sz="1200" b="1" i="0" u="none" strike="noStrike" baseline="0" dirty="0">
                <a:latin typeface="SourceHanSansSC-Bold"/>
              </a:rPr>
              <a:t>里程碑清单。</a:t>
            </a:r>
            <a:r>
              <a:rPr lang="zh-CN" altLang="en-US" sz="1200" b="0" i="0" u="none" strike="noStrike" baseline="0" dirty="0">
                <a:latin typeface="SourceHanSansSC-Regular"/>
              </a:rPr>
              <a:t>见 </a:t>
            </a:r>
            <a:r>
              <a:rPr lang="en-US" altLang="zh-CN" sz="1200" b="0" i="0" u="none" strike="noStrike" baseline="0" dirty="0">
                <a:latin typeface="HelveticaNeue-Condensed"/>
              </a:rPr>
              <a:t>6.2.3.3 </a:t>
            </a:r>
            <a:r>
              <a:rPr lang="zh-CN" altLang="en-US" sz="1200" b="0" i="0" u="none" strike="noStrike" baseline="0" dirty="0">
                <a:latin typeface="SourceHanSansSC-Regular"/>
              </a:rPr>
              <a:t>节。项目的重大事件决定着进度目标。把这些进度目标与定量进度风险分析的结果进行比较，以确定与实现这些目标相关的置信水平。</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资源需求。</a:t>
            </a:r>
            <a:r>
              <a:rPr lang="zh-CN" altLang="en-US" sz="1200" b="0" i="0" u="none" strike="noStrike" baseline="0" dirty="0">
                <a:latin typeface="SourceHanSansSC-Regular"/>
              </a:rPr>
              <a:t>见 </a:t>
            </a:r>
            <a:r>
              <a:rPr lang="en-US" altLang="zh-CN" sz="1200" b="0" i="0" u="none" strike="noStrike" baseline="0" dirty="0">
                <a:latin typeface="HelveticaNeue-Condensed"/>
              </a:rPr>
              <a:t>9.2.3.1 </a:t>
            </a:r>
            <a:r>
              <a:rPr lang="zh-CN" altLang="en-US" sz="1200" b="0" i="0" u="none" strike="noStrike" baseline="0" dirty="0">
                <a:latin typeface="SourceHanSansSC-Regular"/>
              </a:rPr>
              <a:t>节。资源需求提供了对变化性进行评估的起始点。</a:t>
            </a:r>
          </a:p>
          <a:p>
            <a:pPr algn="l"/>
            <a:r>
              <a:rPr lang="en-US" altLang="zh-CN" sz="1200" b="0" i="0" u="none" strike="noStrike" baseline="0" dirty="0">
                <a:latin typeface="Wingdings-Regular"/>
              </a:rPr>
              <a:t>  </a:t>
            </a:r>
            <a:r>
              <a:rPr lang="zh-CN" altLang="en-US" sz="1200" b="0" i="0" u="none" strike="noStrike" baseline="0" dirty="0">
                <a:latin typeface="SourceHanSansSC-Regular"/>
              </a:rPr>
              <a:t>风</a:t>
            </a:r>
            <a:r>
              <a:rPr lang="zh-CN" altLang="en-US" sz="1200" b="1" i="0" u="none" strike="noStrike" baseline="0" dirty="0">
                <a:latin typeface="SourceHanSansSC-Bold"/>
              </a:rPr>
              <a:t>险登记册。</a:t>
            </a:r>
            <a:r>
              <a:rPr lang="zh-CN" altLang="en-US" sz="1200" b="0" i="0" u="none" strike="noStrike" baseline="0" dirty="0">
                <a:latin typeface="SourceHanSansSC-Regular"/>
              </a:rPr>
              <a:t>见 </a:t>
            </a:r>
            <a:r>
              <a:rPr lang="en-US" altLang="zh-CN" sz="1200" b="0" i="0" u="none" strike="noStrike" baseline="0" dirty="0">
                <a:latin typeface="HelveticaNeue-Condensed"/>
              </a:rPr>
              <a:t>11.2.3.1 </a:t>
            </a:r>
            <a:r>
              <a:rPr lang="zh-CN" altLang="en-US" sz="1200" b="0" i="0" u="none" strike="noStrike" baseline="0" dirty="0">
                <a:latin typeface="SourceHanSansSC-Regular"/>
              </a:rPr>
              <a:t>节。风险登记册包含了用作定量风险分析的输入的单个项目风险的详细信息。</a:t>
            </a:r>
          </a:p>
          <a:p>
            <a:pPr algn="l"/>
            <a:r>
              <a:rPr lang="en-US" altLang="zh-CN" sz="1200" b="0" i="0" u="none" strike="noStrike" baseline="0" dirty="0">
                <a:latin typeface="Wingdings-Regular"/>
              </a:rPr>
              <a:t>  </a:t>
            </a:r>
            <a:r>
              <a:rPr lang="zh-CN" altLang="en-US" sz="1200" b="1" i="0" u="none" strike="noStrike" baseline="0" dirty="0">
                <a:latin typeface="SourceHanSansSC-Bold"/>
              </a:rPr>
              <a:t>风险报告。</a:t>
            </a:r>
            <a:r>
              <a:rPr lang="zh-CN" altLang="en-US" sz="1200" b="0" i="0" u="none" strike="noStrike" baseline="0" dirty="0">
                <a:latin typeface="SourceHanSansSC-Regular"/>
              </a:rPr>
              <a:t>见 </a:t>
            </a:r>
            <a:r>
              <a:rPr lang="en-US" altLang="zh-CN" sz="1200" b="0" i="0" u="none" strike="noStrike" baseline="0" dirty="0">
                <a:latin typeface="HelveticaNeue-Condensed"/>
              </a:rPr>
              <a:t>11.2.3.2 </a:t>
            </a:r>
            <a:r>
              <a:rPr lang="zh-CN" altLang="en-US" sz="1200" b="0" i="0" u="none" strike="noStrike" baseline="0" dirty="0">
                <a:latin typeface="SourceHanSansSC-Regular"/>
              </a:rPr>
              <a:t>节。风险报告描述了整体项目风险的来源，以及当前的整体项目风险状态。</a:t>
            </a:r>
          </a:p>
          <a:p>
            <a:pPr algn="l"/>
            <a:r>
              <a:rPr lang="en-US" altLang="zh-CN" sz="1200" b="0" i="0" u="none" strike="noStrike" baseline="0" dirty="0">
                <a:latin typeface="Wingdings-Regular"/>
              </a:rPr>
              <a:t>  </a:t>
            </a:r>
            <a:r>
              <a:rPr lang="zh-CN" altLang="en-US" sz="1200" b="1" i="0" u="none" strike="noStrike" baseline="0" dirty="0">
                <a:latin typeface="SourceHanSansSC-Bold"/>
              </a:rPr>
              <a:t>进度预测。</a:t>
            </a:r>
            <a:r>
              <a:rPr lang="zh-CN" altLang="en-US" sz="1200" b="0" i="0" u="none" strike="noStrike" baseline="0" dirty="0">
                <a:latin typeface="SourceHanSansSC-Regular"/>
              </a:rPr>
              <a:t>见 </a:t>
            </a:r>
            <a:r>
              <a:rPr lang="en-US" altLang="zh-CN" sz="1200" b="0" i="0" u="none" strike="noStrike" baseline="0" dirty="0">
                <a:latin typeface="HelveticaNeue-Condensed"/>
              </a:rPr>
              <a:t>6.6.3.2 </a:t>
            </a:r>
            <a:r>
              <a:rPr lang="zh-CN" altLang="en-US" sz="1200" b="0" i="0" u="none" strike="noStrike" baseline="0" dirty="0">
                <a:latin typeface="SourceHanSansSC-Regular"/>
              </a:rPr>
              <a:t>节。可以将预测与定量进度风险分析的结果进行比较，以确定与实现预测目标相关的置信水平。</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en-US" altLang="zh-CN" sz="1200" b="0" i="0" u="none" strike="noStrike" baseline="0" dirty="0">
                <a:latin typeface="HelveticaNeue-MediumCond"/>
              </a:rPr>
              <a:t>11.4.1.3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能够影响实施定量风险分析过程的事业环境因素包括（但不限于）：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类似项目的行业研究资料；</a:t>
            </a:r>
          </a:p>
          <a:p>
            <a:pPr algn="l"/>
            <a:r>
              <a:rPr lang="en-US" altLang="zh-CN" sz="1200" b="0" i="0" u="none" strike="noStrike" baseline="0" dirty="0">
                <a:latin typeface="Wingdings-Regular"/>
              </a:rPr>
              <a:t>  </a:t>
            </a:r>
            <a:r>
              <a:rPr lang="zh-CN" altLang="en-US" sz="1200" b="0" i="0" u="none" strike="noStrike" baseline="0" dirty="0">
                <a:latin typeface="SourceHanSansSC-Regular"/>
              </a:rPr>
              <a:t>已发布的材料，包括商业风险数据库或核对单。</a:t>
            </a:r>
          </a:p>
          <a:p>
            <a:pPr algn="l"/>
            <a:r>
              <a:rPr lang="en-US" altLang="zh-CN" sz="1200" b="0" i="0" u="none" strike="noStrike" baseline="0" dirty="0">
                <a:latin typeface="HelveticaNeue-MediumCond"/>
              </a:rPr>
              <a:t>11.4.1.4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能够影响实施定量风险分析过程的组织过程资产包括已完成的类似项目的信息。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3348188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11.4.2 </a:t>
            </a:r>
            <a:r>
              <a:rPr lang="zh-CN" altLang="en-US" sz="1800" b="0" i="0" u="none" strike="noStrike" baseline="0" dirty="0">
                <a:latin typeface="SourceHanSansSC-Medium"/>
              </a:rPr>
              <a:t>实施定量风险分析：工具与技术</a:t>
            </a:r>
          </a:p>
          <a:p>
            <a:pPr algn="l"/>
            <a:r>
              <a:rPr lang="en-US" altLang="zh-CN" sz="1800" b="0" i="0" u="none" strike="noStrike" baseline="0" dirty="0">
                <a:latin typeface="HelveticaNeue-MediumCond"/>
              </a:rPr>
              <a:t>11.4.2.1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将单个项目风险和其他不确定性来源的信息转化成用于定量风险分析模型的数值输入；</a:t>
            </a:r>
          </a:p>
          <a:p>
            <a:pPr algn="l"/>
            <a:r>
              <a:rPr lang="en-US" altLang="zh-CN" sz="1800" b="0" i="0" u="none" strike="noStrike" baseline="0" dirty="0">
                <a:latin typeface="Wingdings-Regular"/>
              </a:rPr>
              <a:t>  </a:t>
            </a:r>
            <a:r>
              <a:rPr lang="zh-CN" altLang="en-US" sz="1800" b="0" i="0" u="none" strike="noStrike" baseline="0" dirty="0">
                <a:latin typeface="SourceHanSansSC-Regular"/>
              </a:rPr>
              <a:t>选择最适当的方式表示不确定性，以便为特定风险或其他不确定性来源建立模型；</a:t>
            </a:r>
          </a:p>
          <a:p>
            <a:pPr algn="l"/>
            <a:r>
              <a:rPr lang="en-US" altLang="zh-CN" sz="1800" b="0" i="0" u="none" strike="noStrike" baseline="0" dirty="0">
                <a:latin typeface="Wingdings-Regular"/>
              </a:rPr>
              <a:t>  </a:t>
            </a:r>
            <a:r>
              <a:rPr lang="zh-CN" altLang="en-US" sz="1800" b="0" i="0" u="none" strike="noStrike" baseline="0" dirty="0">
                <a:latin typeface="SourceHanSansSC-Regular"/>
              </a:rPr>
              <a:t>用适合项目环境的技术建立模型；</a:t>
            </a:r>
          </a:p>
          <a:p>
            <a:pPr algn="l"/>
            <a:r>
              <a:rPr lang="en-US" altLang="zh-CN" sz="1800" b="0" i="0" u="none" strike="noStrike" baseline="0" dirty="0">
                <a:latin typeface="Wingdings-Regular"/>
              </a:rPr>
              <a:t>  </a:t>
            </a:r>
            <a:r>
              <a:rPr lang="zh-CN" altLang="en-US" sz="1800" b="0" i="0" u="none" strike="noStrike" baseline="0" dirty="0">
                <a:latin typeface="SourceHanSansSC-Regular"/>
              </a:rPr>
              <a:t>识别最适用于所选建模技术的工具；</a:t>
            </a:r>
          </a:p>
          <a:p>
            <a:pPr algn="l"/>
            <a:r>
              <a:rPr lang="en-US" altLang="zh-CN" sz="1800" b="0" i="0" u="none" strike="noStrike" baseline="0" dirty="0">
                <a:latin typeface="Wingdings-Regular"/>
              </a:rPr>
              <a:t>  </a:t>
            </a:r>
            <a:r>
              <a:rPr lang="zh-CN" altLang="en-US" sz="1800" b="0" i="0" u="none" strike="noStrike" baseline="0" dirty="0">
                <a:latin typeface="SourceHanSansSC-Regular"/>
              </a:rPr>
              <a:t>解释定量风险分析的输出。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11.4.2.2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节）可用于针对单个项目风险和其他不确定性来源，生成定量风险分析的输入。当需要向专家征求信息时，访谈尤其适用。访谈者应该营造信任和保密的访谈环境，以鼓励被访者提出诚实和无偏见的意见。</a:t>
            </a:r>
          </a:p>
          <a:p>
            <a:pPr algn="l"/>
            <a:r>
              <a:rPr lang="en-US" altLang="zh-CN" sz="1800" b="0" i="0" u="none" strike="noStrike" baseline="0" dirty="0">
                <a:latin typeface="HelveticaNeue-MediumCond"/>
              </a:rPr>
              <a:t>11.4.2.3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在由项目团队成员和其他相关方参加的专门风险研讨会中，配备一名熟练的引导者，有助于更好地收集输入数据。可以通过阐明研讨会的目的，在参会者之间建立共识，确保持续关注任务，并以创新方式处理人际冲突或偏见来源，来改善引导式研讨会的有效性。</a:t>
            </a:r>
          </a:p>
          <a:p>
            <a:pPr algn="l"/>
            <a:r>
              <a:rPr lang="en-US" altLang="zh-CN" sz="1800" b="0" i="0" u="none" strike="noStrike" baseline="0" dirty="0">
                <a:latin typeface="HelveticaNeue-MediumCond"/>
              </a:rPr>
              <a:t>11.4.2.4 </a:t>
            </a:r>
            <a:r>
              <a:rPr lang="zh-CN" altLang="en-US" sz="1800" b="0" i="0" u="none" strike="noStrike" baseline="0" dirty="0">
                <a:latin typeface="SourceHanSansSC-Medium"/>
              </a:rPr>
              <a:t>不确定性表现方式</a:t>
            </a:r>
          </a:p>
          <a:p>
            <a:pPr algn="l"/>
            <a:r>
              <a:rPr lang="zh-CN" altLang="en-US" sz="1800" b="0" i="0" u="none" strike="noStrike" baseline="0" dirty="0">
                <a:latin typeface="SourceHanSansSC-Regular"/>
              </a:rPr>
              <a:t>要开展定量风险分析，就需要建立能反映单个项目风险和其他不确定性来源的定量风险分析模型，并为之提供输入。</a:t>
            </a:r>
          </a:p>
          <a:p>
            <a:pPr algn="l"/>
            <a:r>
              <a:rPr lang="zh-CN" altLang="en-US" sz="1800" b="0" i="0" u="none" strike="noStrike" baseline="0" dirty="0">
                <a:latin typeface="SourceHanSansSC-Regular"/>
              </a:rPr>
              <a:t>如果活动的持续时间、成本或资源需求是不确定的，就可以在模型中用概率分布来表示其数值的可能区间。概率分布可能有多种形式，最常用的有三角分布、正态分布、对数正态分布、贝塔分布、均匀分布或离散分布。应该谨慎选择用于表示活动数值的可能区间的概率分布形式。</a:t>
            </a:r>
          </a:p>
          <a:p>
            <a:pPr algn="l"/>
            <a:r>
              <a:rPr lang="zh-CN" altLang="en-US" sz="1800" b="0" i="0" u="none" strike="noStrike" baseline="0" dirty="0">
                <a:latin typeface="SourceHanSansSC-Regular"/>
              </a:rPr>
              <a:t>单个项目风险可以用概率分布图表示，或者，也可以作为概率分支包括在定量分析模型中。在后一种情况下，应在概率分支上添加风险发生的时间和（或）成本影响，以及在特定模拟中风险发生的概率情况。如果风险的发生与任何计划活动都没有关系，就最适合将其作为概率分支。如果风险之间存在相关性，例如有某个共同原因或逻辑依赖关系，那么应该在模型中考虑这种相关性。</a:t>
            </a:r>
          </a:p>
          <a:p>
            <a:pPr algn="l"/>
            <a:r>
              <a:rPr lang="zh-CN" altLang="en-US" sz="1800" b="0" i="0" u="none" strike="noStrike" baseline="0" dirty="0">
                <a:latin typeface="SourceHanSansSC-Regular"/>
              </a:rPr>
              <a:t>其他不确定性来源也可用概率分支来表示，以描述贯穿项目的其他路径。</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11.4.2.5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模拟。</a:t>
            </a:r>
            <a:r>
              <a:rPr lang="zh-CN" altLang="en-US" sz="1800" b="0" i="0" u="none" strike="noStrike" baseline="0" dirty="0">
                <a:latin typeface="SourceHanSansSC-Regular"/>
              </a:rPr>
              <a:t>在定量风险分析中，使用模型来模拟单个项目风险和其他不确定性来源的综合影响，以评估它们对项目目标的潜在影响。模拟通常采用蒙特卡洛分析。对成本风险进行蒙特卡洛分析时，使用项目成本估算作为模拟的输入；对进度风险进行蒙特卡洛分析时，使用进度网络图和持续时间估算作为模拟的输入。开展综合定量成本</a:t>
            </a:r>
            <a:r>
              <a:rPr lang="en-US" altLang="zh-CN" sz="1800" b="0" i="0" u="none" strike="noStrike" baseline="0" dirty="0">
                <a:latin typeface="SourceHanSansSC-Regular"/>
              </a:rPr>
              <a:t>-</a:t>
            </a:r>
            <a:r>
              <a:rPr lang="zh-CN" altLang="en-US" sz="1800" b="0" i="0" u="none" strike="noStrike" baseline="0" dirty="0">
                <a:latin typeface="SourceHanSansSC-Regular"/>
              </a:rPr>
              <a:t>进度风险分析时，同时使用这两种输入。其输出就是定量风险分析模型。</a:t>
            </a:r>
          </a:p>
          <a:p>
            <a:pPr algn="l"/>
            <a:r>
              <a:rPr lang="zh-CN" altLang="en-US" sz="1800" b="0" i="0" u="none" strike="noStrike" baseline="0" dirty="0">
                <a:latin typeface="SourceHanSansSC-Regular"/>
              </a:rPr>
              <a:t>  用计算机软件数千次迭代运行定量风险分析模型。每次运行，都要随机选择输入值（如成本估算、持续时间估算或概率分支发生频率）。这些运行的输出构成了项目可能结果（如项目结束日期、项目完工成本）的区间。典型的输出包括：表示模拟得到特定结果的次数的直方图，或表示获得等于或小于特定数值的结果的累积概率分布曲线（</a:t>
            </a:r>
            <a:r>
              <a:rPr lang="en-US" altLang="zh-CN" sz="1800" b="0" i="0" u="none" strike="noStrike" baseline="0" dirty="0">
                <a:latin typeface="HelveticaNeue-Condensed"/>
              </a:rPr>
              <a:t>S </a:t>
            </a:r>
            <a:r>
              <a:rPr lang="zh-CN" altLang="en-US" sz="1800" b="0" i="0" u="none" strike="noStrike" baseline="0" dirty="0">
                <a:latin typeface="SourceHanSansSC-Regular"/>
              </a:rPr>
              <a:t>曲线）。蒙特卡洛成本风险分析所得到的 </a:t>
            </a:r>
            <a:r>
              <a:rPr lang="en-US" altLang="zh-CN" sz="1800" b="0" i="0" u="none" strike="noStrike" baseline="0" dirty="0">
                <a:latin typeface="HelveticaNeue-Condensed"/>
              </a:rPr>
              <a:t>S </a:t>
            </a:r>
            <a:r>
              <a:rPr lang="zh-CN" altLang="en-US" sz="1800" b="0" i="0" u="none" strike="noStrike" baseline="0" dirty="0">
                <a:latin typeface="SourceHanSansSC-Regular"/>
              </a:rPr>
              <a:t>曲线示例，见图</a:t>
            </a:r>
            <a:r>
              <a:rPr lang="en-US" altLang="zh-CN" sz="1800" b="0" i="0" u="none" strike="noStrike" baseline="0" dirty="0">
                <a:latin typeface="HelveticaNeue-Condensed"/>
              </a:rPr>
              <a:t>11-13</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在定量进度风险分析中，还可以执行关键性分析，以确定风险模型的哪些活动对项目关键路径的影响最大。对风险模型中的每一项活动计算关键性指标，即：在全部模拟中，该活动出现在关键路径上的频率，通常以百分比表示。通过关键性分析，项目团队就能够重点针对那些对项目整体进度绩效存在最大潜在影响的活动，来规划风险应对措施。</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敏感性分析。</a:t>
            </a:r>
            <a:r>
              <a:rPr lang="zh-CN" altLang="en-US" sz="1800" b="0" i="0" u="none" strike="noStrike" baseline="0" dirty="0">
                <a:latin typeface="SourceHanSansSC-Regular"/>
              </a:rPr>
              <a:t>敏感性分析有助于确定哪些单个项目风险或其他不确定性来源对项目结果具有最大的潜在影响。它在项目结果变异与定量风险分析模型中的要素变异之间建立联系。</a:t>
            </a:r>
          </a:p>
          <a:p>
            <a:pPr algn="l"/>
            <a:r>
              <a:rPr lang="zh-CN" altLang="en-US" sz="1800" b="0" i="0" u="none" strike="noStrike" baseline="0" dirty="0">
                <a:latin typeface="SourceHanSansSC-Regular"/>
              </a:rPr>
              <a:t>敏感性分析的结果通常用龙卷风图来表示。在该图中，标出定量风险分析模型中的每项要素与其能影响的项目结果之间的关联系数。这些要素可包括单个项目风险、易变的项目活动，或具体的不明确性来源。每个要素按关联强度降序排列，形成典型的龙卷风形状。龙卷风图示例，见图</a:t>
            </a:r>
            <a:r>
              <a:rPr lang="en-US" altLang="zh-CN" sz="1800" b="0" i="0" u="none" strike="noStrike" baseline="0" dirty="0">
                <a:latin typeface="HelveticaNeue-Condensed"/>
              </a:rPr>
              <a:t>11-14</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决策树分析。</a:t>
            </a:r>
            <a:r>
              <a:rPr lang="zh-CN" altLang="en-US" sz="1800" b="0" i="0" u="none" strike="noStrike" baseline="0" dirty="0">
                <a:latin typeface="SourceHanSansSC-Regular"/>
              </a:rPr>
              <a:t>用决策树在若干备选行动方案中选择一个最佳方案。在决策树中，用不同的分支代表不同的决策或事件，即项目的备选路径。每个决策或事件都有相关的成本和单个项目风险（包括威胁和机会）。决策树分支的终点表示沿特定路径发展的最后结果，可以是负面或正面的结果。</a:t>
            </a:r>
          </a:p>
          <a:p>
            <a:pPr algn="l"/>
            <a:r>
              <a:rPr lang="zh-CN" altLang="en-US" sz="1800" b="0" i="0" u="none" strike="noStrike" baseline="0" dirty="0">
                <a:latin typeface="SourceHanSansSC-Regular"/>
              </a:rPr>
              <a:t>在决策树分析中，通过计算每条分支的预期货币价值，就可以选出最优的路径。决策树示例，见图</a:t>
            </a:r>
            <a:r>
              <a:rPr lang="en-US" altLang="zh-CN" sz="1800" b="0" i="0" u="none" strike="noStrike" baseline="0" dirty="0">
                <a:latin typeface="HelveticaNeue-Condensed"/>
              </a:rPr>
              <a:t>11-15</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影响图。</a:t>
            </a:r>
            <a:r>
              <a:rPr lang="zh-CN" altLang="en-US" sz="1800" b="0" i="0" u="none" strike="noStrike" baseline="0" dirty="0">
                <a:latin typeface="SourceHanSansSC-Regular"/>
              </a:rPr>
              <a:t>影响图是不确定条件下决策制定的图形辅助工具。它将一个项目或项目中的一种情境表现为一系列实体、结果和影响，以及它们之间的关系和相互影响。如果因为存在单个项目风险或其他不确定性来源而使影响图中的某些要素不确定，就在影响图中以区间或概率分布的形式表示这些要素；然后，借助模拟技术（如蒙特卡洛分析）来分析哪些要素对重要结果具有最大的影响。影响图分析，可以得出类似于其他定量风险分析的结果，如 </a:t>
            </a:r>
            <a:r>
              <a:rPr lang="en-US" altLang="zh-CN" sz="1800" b="0" i="0" u="none" strike="noStrike" baseline="0" dirty="0">
                <a:latin typeface="HelveticaNeue-Condensed"/>
              </a:rPr>
              <a:t>S </a:t>
            </a:r>
            <a:r>
              <a:rPr lang="zh-CN" altLang="en-US" sz="1800" b="0" i="0" u="none" strike="noStrike" baseline="0" dirty="0">
                <a:latin typeface="SourceHanSansSC-Regular"/>
              </a:rPr>
              <a:t>曲线图和龙卷风图。</a:t>
            </a:r>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8075696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eaLnBrk="1" hangingPunct="1"/>
            <a:r>
              <a:rPr lang="zh-CN" altLang="en-US" dirty="0"/>
              <a:t>龙卷风图</a:t>
            </a:r>
          </a:p>
          <a:p>
            <a:pPr eaLnBrk="1" hangingPunct="1"/>
            <a:r>
              <a:rPr lang="zh-CN" altLang="en-US" dirty="0"/>
              <a:t>龙卷风图：是项目管理中用于在风险识别和定性分析之后，进行定量风险分析的技术</a:t>
            </a:r>
            <a:r>
              <a:rPr lang="en-US" altLang="zh-CN" dirty="0"/>
              <a:t>----</a:t>
            </a:r>
            <a:r>
              <a:rPr lang="zh-CN" altLang="en-US" dirty="0"/>
              <a:t>敏感性分析技术中最常用的一种图表技术。</a:t>
            </a:r>
          </a:p>
          <a:p>
            <a:pPr eaLnBrk="1" hangingPunct="1"/>
            <a:endParaRPr lang="zh-CN" altLang="en-US" dirty="0"/>
          </a:p>
          <a:p>
            <a:pPr eaLnBrk="1" hangingPunct="1"/>
            <a:r>
              <a:rPr lang="zh-CN" altLang="en-US" dirty="0"/>
              <a:t>敏感性分析：敏感性分析有助于确定哪些风险对项目具有最大的潜在影响。它把所有其他不确定因素保持在基准值的条件下，考察项目的每项要素的不确定性对日标产生多大程度的影响。</a:t>
            </a:r>
          </a:p>
          <a:p>
            <a:pPr eaLnBrk="1" hangingPunct="1"/>
            <a:r>
              <a:rPr lang="zh-CN" altLang="en-US" dirty="0"/>
              <a:t>敏感性分析最常用的显示方式是龙卷风图。</a:t>
            </a:r>
          </a:p>
          <a:p>
            <a:pPr eaLnBrk="1" hangingPunct="1"/>
            <a:r>
              <a:rPr lang="zh-CN" altLang="en-US" dirty="0"/>
              <a:t>龙卷风图有助于比较具有较高不确定性的变量与相对稳定的变量之间的相对重要程度。</a:t>
            </a:r>
          </a:p>
          <a:p>
            <a:pPr eaLnBrk="1" hangingPunct="1"/>
            <a:r>
              <a:rPr lang="zh-CN" altLang="en-US" dirty="0"/>
              <a:t>它因其显示形式象龙卷风一样而得名。图例请见图片</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0428697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决策树示例</a:t>
            </a:r>
            <a:endParaRPr lang="en-US" altLang="zh-CN" sz="1800" b="0" i="0" u="none" strike="noStrike" baseline="0" dirty="0">
              <a:latin typeface="SourceHanSansSC-Regular"/>
            </a:endParaRPr>
          </a:p>
          <a:p>
            <a:r>
              <a:rPr lang="zh-CN" altLang="en-US" sz="1800" b="0" i="0" u="none" strike="noStrike" baseline="0" dirty="0">
                <a:latin typeface="SourceHanSansSC-Regular"/>
              </a:rPr>
              <a:t>通过计算每条分支的预期货币价值，就可以选出最优的路径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303079766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26381274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28753602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11.4.3 </a:t>
            </a:r>
            <a:r>
              <a:rPr lang="zh-CN" altLang="en-US" sz="1800" b="0" i="0" u="none" strike="noStrike" baseline="0" dirty="0">
                <a:latin typeface="SourceHanSansSC-Medium"/>
              </a:rPr>
              <a:t>实施定量风险分析：输出</a:t>
            </a:r>
          </a:p>
          <a:p>
            <a:pPr algn="l"/>
            <a:r>
              <a:rPr lang="en-US" altLang="zh-CN" sz="1800" b="0" i="0" u="none" strike="noStrike" baseline="0" dirty="0">
                <a:latin typeface="HelveticaNeue-MediumCond"/>
              </a:rPr>
              <a:t>11.4.3.1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可作为本过程输出的项目文件包括（但不限于）风险报告（见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节）。更新风险报告，反映</a:t>
            </a:r>
          </a:p>
          <a:p>
            <a:pPr algn="l"/>
            <a:r>
              <a:rPr lang="zh-CN" altLang="en-US" sz="1800" b="0" i="0" u="none" strike="noStrike" baseline="0" dirty="0">
                <a:latin typeface="SourceHanSansSC-Regular"/>
              </a:rPr>
              <a:t>定量风险分析的结果，通常包括：</a:t>
            </a:r>
          </a:p>
          <a:p>
            <a:pPr algn="l"/>
            <a:r>
              <a:rPr lang="en-US" altLang="zh-CN" sz="1800" b="0" i="0" u="none" strike="noStrike" baseline="0" dirty="0">
                <a:latin typeface="Wingdings-Regular"/>
              </a:rPr>
              <a:t>  </a:t>
            </a:r>
            <a:r>
              <a:rPr lang="zh-CN" altLang="en-US" sz="1800" b="1" i="0" u="none" strike="noStrike" baseline="0" dirty="0">
                <a:latin typeface="SourceHanSansSC-Bold"/>
              </a:rPr>
              <a:t>对整体项目风险敞口的评估结果。</a:t>
            </a:r>
            <a:r>
              <a:rPr lang="zh-CN" altLang="en-US" sz="1800" b="0" i="0" u="none" strike="noStrike" baseline="0" dirty="0">
                <a:latin typeface="SourceHanSansSC-Regular"/>
              </a:rPr>
              <a:t>整体项目风险有两种主要的测量方式：</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项目成功的可能性。基于已识别的单个项目风险和其他不确定性来源，项目实现其主要目标（例如，既定的结束日期或中间里程碑、既定的成本目标）的概率。</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项目固有的变异性。在开展定量分析之时，可能的项目结果的分布区间。</a:t>
            </a:r>
          </a:p>
          <a:p>
            <a:pPr algn="l"/>
            <a:r>
              <a:rPr lang="en-US" altLang="zh-CN" sz="1800" b="0" i="0" u="none" strike="noStrike" baseline="0" dirty="0">
                <a:latin typeface="Wingdings-Regular"/>
              </a:rPr>
              <a:t>  </a:t>
            </a:r>
            <a:r>
              <a:rPr lang="zh-CN" altLang="en-US" sz="1800" b="1" i="0" u="none" strike="noStrike" baseline="0" dirty="0">
                <a:latin typeface="SourceHanSansSC-Bold"/>
              </a:rPr>
              <a:t>项目详细概率分析的结果。</a:t>
            </a:r>
            <a:r>
              <a:rPr lang="zh-CN" altLang="en-US" sz="1800" b="0" i="0" u="none" strike="noStrike" baseline="0" dirty="0">
                <a:latin typeface="SourceHanSansSC-Regular"/>
              </a:rPr>
              <a:t>列出定量风险分析的重要输出，如 </a:t>
            </a:r>
            <a:r>
              <a:rPr lang="en-US" altLang="zh-CN" sz="1800" b="0" i="0" u="none" strike="noStrike" baseline="0" dirty="0">
                <a:latin typeface="HelveticaNeue-Condensed"/>
              </a:rPr>
              <a:t>S </a:t>
            </a:r>
            <a:r>
              <a:rPr lang="zh-CN" altLang="en-US" sz="1800" b="0" i="0" u="none" strike="noStrike" baseline="0" dirty="0">
                <a:latin typeface="SourceHanSansSC-Regular"/>
              </a:rPr>
              <a:t>曲线、龙卷风图和关键性指标，以及对它们的叙述性解释。定量风险分析的详细结果可能包括：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所需的应急储备，以达到实现目标的特定置信水平；</a:t>
            </a:r>
          </a:p>
          <a:p>
            <a:pPr algn="l"/>
            <a:r>
              <a:rPr lang="en-US" altLang="zh-CN" sz="1800" b="0" i="0" u="none" strike="noStrike" baseline="0" dirty="0">
                <a:latin typeface="Wingdings-Regular"/>
              </a:rPr>
              <a:t>    </a:t>
            </a:r>
            <a:r>
              <a:rPr lang="zh-CN" altLang="en-US" sz="1800" b="0" i="0" u="none" strike="noStrike" baseline="0" dirty="0">
                <a:latin typeface="SourceHanSansSC-Regular"/>
              </a:rPr>
              <a:t>对项目关键路径有最大影响的单个项目风险或其他不确定性来源的清单；</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整体项目风险的主要驱动因素，即：对项目结果的不确定性有最大影响的因素。</a:t>
            </a:r>
          </a:p>
          <a:p>
            <a:pPr algn="l"/>
            <a:r>
              <a:rPr lang="en-US" altLang="zh-CN" sz="1800" b="0" i="0" u="none" strike="noStrike" baseline="0" dirty="0">
                <a:latin typeface="Wingdings-Regular"/>
              </a:rPr>
              <a:t>  </a:t>
            </a:r>
            <a:r>
              <a:rPr lang="zh-CN" altLang="en-US" sz="1800" b="1" i="0" u="none" strike="noStrike" baseline="0" dirty="0">
                <a:latin typeface="SourceHanSansSC-Bold"/>
              </a:rPr>
              <a:t>单个项目风险优先级清单。</a:t>
            </a:r>
            <a:r>
              <a:rPr lang="zh-CN" altLang="en-US" sz="1800" b="0" i="0" u="none" strike="noStrike" baseline="0" dirty="0">
                <a:latin typeface="SourceHanSansSC-Regular"/>
              </a:rPr>
              <a:t>根据敏感性分析的结果，列出对项目造成最大威胁或产生最大机会的单个项目风险。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定量风险分析结果的趋势。</a:t>
            </a:r>
            <a:r>
              <a:rPr lang="zh-CN" altLang="en-US" sz="1800" b="0" i="0" u="none" strike="noStrike" baseline="0" dirty="0">
                <a:latin typeface="SourceHanSansSC-Regular"/>
              </a:rPr>
              <a:t>随着在项目生命周期的不同时间重复开展定量风险分析，风险的发展趋势可能逐渐清晰。发展趋势会影响对风险应对措施的规划。</a:t>
            </a:r>
          </a:p>
          <a:p>
            <a:pPr algn="l"/>
            <a:r>
              <a:rPr lang="en-US" altLang="zh-CN" sz="1800" b="0" i="0" u="none" strike="noStrike" baseline="0" dirty="0">
                <a:latin typeface="Wingdings-Regular"/>
              </a:rPr>
              <a:t>  </a:t>
            </a:r>
            <a:r>
              <a:rPr lang="zh-CN" altLang="en-US" sz="1800" b="1" i="0" u="none" strike="noStrike" baseline="0" dirty="0">
                <a:latin typeface="SourceHanSansSC-Bold"/>
              </a:rPr>
              <a:t>风险应对建议。</a:t>
            </a:r>
            <a:r>
              <a:rPr lang="zh-CN" altLang="en-US" sz="1800" b="0" i="0" u="none" strike="noStrike" baseline="0" dirty="0">
                <a:latin typeface="SourceHanSansSC-Regular"/>
              </a:rPr>
              <a:t>风险报告可能根据定量风险分析的结果，针对整体项目风险敞口或关键单个项目风险提出应对建议。这些建议将成为规划风险应对过程的输入。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42520512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sz="1200" dirty="0" err="1"/>
              <a:t>Kloc</a:t>
            </a:r>
            <a:r>
              <a:rPr lang="en-US" altLang="zh-CN" sz="1200" dirty="0"/>
              <a:t> </a:t>
            </a:r>
            <a:r>
              <a:rPr lang="zh-CN" altLang="en-US" sz="1200" dirty="0"/>
              <a:t>千行代码</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81</a:t>
            </a:fld>
            <a:endParaRPr lang="zh-CN" altLang="en-US"/>
          </a:p>
        </p:txBody>
      </p:sp>
    </p:spTree>
    <p:extLst>
      <p:ext uri="{BB962C8B-B14F-4D97-AF65-F5344CB8AC3E}">
        <p14:creationId xmlns:p14="http://schemas.microsoft.com/office/powerpoint/2010/main" val="39173902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IT</a:t>
            </a:r>
            <a:r>
              <a:rPr lang="zh-CN" altLang="en-US" dirty="0"/>
              <a:t>工程师就是与熊共舞，不停地有新的风险出现</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82</a:t>
            </a:fld>
            <a:endParaRPr lang="zh-CN" altLang="en-US"/>
          </a:p>
        </p:txBody>
      </p:sp>
    </p:spTree>
    <p:extLst>
      <p:ext uri="{BB962C8B-B14F-4D97-AF65-F5344CB8AC3E}">
        <p14:creationId xmlns:p14="http://schemas.microsoft.com/office/powerpoint/2010/main" val="36232713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  规划风险应对是针对项目目标，制定提高机会，降低威胁的方案和措施的过程。在风险应对过程中，需要根据风险优先级制定应对措施，并把风险应对所需资源和活动加入项目预算，进度计划和项目管理计划。</a:t>
            </a:r>
            <a:endParaRPr lang="en-US" altLang="zh-CN" sz="1200" b="0" dirty="0">
              <a:solidFill>
                <a:schemeClr val="tx2"/>
              </a:solidFill>
              <a:ea typeface="微软雅黑" pitchFamily="34" charset="-122"/>
            </a:endParaRPr>
          </a:p>
          <a:p>
            <a:pPr algn="l"/>
            <a:r>
              <a:rPr lang="zh-CN" altLang="en-US" sz="1800" b="0" i="0" u="none" strike="noStrike" baseline="0" dirty="0">
                <a:latin typeface="SourceHanSansSC-Regular"/>
              </a:rPr>
              <a:t>  有效和适当的风险应对可以最小化单个威胁，最大化单个机会，并降低整体项目风险敞口；不恰当的风险应对则会适得其反。一旦完成对风险的识别、分析和排序，指定的风险责任人</a:t>
            </a:r>
            <a:r>
              <a:rPr lang="zh-CN" altLang="en-US" sz="1800" b="1" i="0" u="none" strike="noStrike" baseline="0" dirty="0">
                <a:latin typeface="SourceHanSansSC-Regular"/>
              </a:rPr>
              <a:t>就应该编制计划</a:t>
            </a:r>
            <a:r>
              <a:rPr lang="zh-CN" altLang="en-US" sz="1800" b="0" i="0" u="none" strike="noStrike" baseline="0" dirty="0">
                <a:latin typeface="SourceHanSansSC-Regular"/>
              </a:rPr>
              <a:t>，以应对项目团队认为足够重要的每项单个项目风险。这些风险会对项目目标的实现造成威胁或提供机会。项目经理也应该思考如何针对整体项目风险的当前级别做出适当的应对。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36074989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11.5.1 </a:t>
            </a:r>
            <a:r>
              <a:rPr lang="zh-CN" altLang="en-US" sz="1800" b="0" i="0" u="none" strike="noStrike" baseline="0" dirty="0">
                <a:latin typeface="SourceHanSansSC-Medium"/>
              </a:rPr>
              <a:t>规划风险应对：输入</a:t>
            </a:r>
          </a:p>
          <a:p>
            <a:pPr algn="l"/>
            <a:r>
              <a:rPr lang="en-US" altLang="zh-CN" sz="1800" b="0" i="0" u="none" strike="noStrike" baseline="0" dirty="0">
                <a:latin typeface="HelveticaNeue-MediumCond"/>
              </a:rPr>
              <a:t>11.5.1.1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见 </a:t>
            </a:r>
            <a:r>
              <a:rPr lang="en-US" altLang="zh-CN" sz="1800" b="0" i="0" u="none" strike="noStrike" baseline="0" dirty="0">
                <a:latin typeface="HelveticaNeue-Condensed"/>
              </a:rPr>
              <a:t>9.1.3.1 </a:t>
            </a:r>
            <a:r>
              <a:rPr lang="zh-CN" altLang="en-US" sz="1800" b="0" i="0" u="none" strike="noStrike" baseline="0" dirty="0">
                <a:latin typeface="SourceHanSansSC-Regular"/>
              </a:rPr>
              <a:t>节。资源管理计划有助于确定该如何协调用于风险应对的资源和其他项目资源。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节。本过程会用到其中的风险管理角色和职责，以及风险临界值。</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节。成本基准包含了拟用于风险应对的应急资金的信息。</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节。查看关于项目早期的风险应对的经验教训，确定类似的应对是</a:t>
            </a:r>
          </a:p>
          <a:p>
            <a:pPr algn="l"/>
            <a:r>
              <a:rPr lang="zh-CN" altLang="en-US" sz="1800" b="0" i="0" u="none" strike="noStrike" baseline="0" dirty="0">
                <a:latin typeface="SourceHanSansSC-Regular"/>
              </a:rPr>
              <a:t>否适用于项目后期。</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节。进度计划可用于确定如何同时规划商定的风险应对活动和其</a:t>
            </a:r>
          </a:p>
          <a:p>
            <a:pPr algn="l"/>
            <a:r>
              <a:rPr lang="zh-CN" altLang="en-US" sz="1800" b="0" i="0" u="none" strike="noStrike" baseline="0" dirty="0">
                <a:latin typeface="SourceHanSansSC-Regular"/>
              </a:rPr>
              <a:t>他项目活动。</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节。项目团队派工单列明了可用于风险应对的人力资源。</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节。资源日历确定了潜在的资源何时可用于风险应对。</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了已识别并排序的、需要应对的单个项目风险的详细信息。每项风险的优先级有助于选择适当的风险应对措施。例如，针对高优先级的威胁或机会，可能需要采取优先措施和积极主动的应对策略；而针对低优先级的威胁和机会，可能只需要把它们列入风险登记册的观察清单部分，或者只需要为之增加应急储备，而不必采取主动的管理措施。</a:t>
            </a:r>
          </a:p>
          <a:p>
            <a:pPr algn="l"/>
            <a:r>
              <a:rPr lang="zh-CN" altLang="en-US" sz="1800" b="0" i="0" u="none" strike="noStrike" baseline="0" dirty="0">
                <a:latin typeface="SourceHanSansSC-Regular"/>
              </a:rPr>
              <a:t> 风险登记册列出了每项风险的指定风险责任人，还可能包含在早期的项目风险管理过程中识别的初步风险应对措施。风险登记册可能还会提供有助于规划风险应对的、关于已识别风险的其他信息，包括根本原因、风险触发因素和预警信号、需要在短期内应对的风险，以及需要进一步分析的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中的项目整体风险敞口的当前级别，会影响选择适当的风险应对策略。风险报告也可能按优先级顺序列出了单个项目风险，并对单个项目风险的分布情况进行了更多分析；这些信息都会影响风险应对策略的选择。</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节。相关方登记册列出了风险应对的潜在责任人。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11.5.1.3 </a:t>
            </a:r>
            <a:r>
              <a:rPr lang="zh-CN" altLang="en-US" sz="1800" b="0" i="0" u="none" strike="noStrike" baseline="0" dirty="0">
                <a:latin typeface="SourceHanSansSC-Regular"/>
              </a:rPr>
              <a:t>事业环境因素</a:t>
            </a:r>
          </a:p>
          <a:p>
            <a:pPr algn="l"/>
            <a:r>
              <a:rPr lang="zh-CN" altLang="en-US" sz="1800" b="0" i="0" u="none" strike="noStrike" baseline="0" dirty="0">
                <a:latin typeface="SourceHanSansSC-Regular"/>
              </a:rPr>
              <a:t>能够影响规划风险应对过程的事业环境因素包括（但不限于）关键相关方的风险偏好和风险临界值。</a:t>
            </a:r>
          </a:p>
          <a:p>
            <a:pPr algn="l"/>
            <a:r>
              <a:rPr lang="en-US" altLang="zh-CN" sz="1800" b="0" i="0" u="none" strike="noStrike" baseline="0" dirty="0">
                <a:latin typeface="HelveticaNeue-MediumCond"/>
              </a:rPr>
              <a:t>11.5.1.4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能够影响规划风险应对过程的组织过程资产包括（但不限于）：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历史数据库；</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1312186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在未来不确定的环境下，</a:t>
            </a:r>
            <a:r>
              <a:rPr lang="zh-CN" altLang="en-US" b="0" i="0" u="none" strike="noStrike" dirty="0">
                <a:solidFill>
                  <a:srgbClr val="136EC2"/>
                </a:solidFill>
                <a:effectLst/>
                <a:latin typeface="arial" panose="020B0604020202020204" pitchFamily="34" charset="0"/>
                <a:hlinkClick r:id="rId3"/>
              </a:rPr>
              <a:t>投资者</a:t>
            </a:r>
            <a:r>
              <a:rPr lang="zh-CN" altLang="en-US" b="0" i="0" dirty="0">
                <a:solidFill>
                  <a:srgbClr val="333333"/>
                </a:solidFill>
                <a:effectLst/>
                <a:latin typeface="arial" panose="020B0604020202020204" pitchFamily="34" charset="0"/>
              </a:rPr>
              <a:t>总是期望从</a:t>
            </a:r>
            <a:r>
              <a:rPr lang="zh-CN" altLang="en-US" b="0" i="0" u="none" strike="noStrike" dirty="0">
                <a:solidFill>
                  <a:srgbClr val="136EC2"/>
                </a:solidFill>
                <a:effectLst/>
                <a:latin typeface="arial" panose="020B0604020202020204" pitchFamily="34" charset="0"/>
                <a:hlinkClick r:id="rId4"/>
              </a:rPr>
              <a:t>投资</a:t>
            </a:r>
            <a:r>
              <a:rPr lang="zh-CN" altLang="en-US" b="0" i="0" dirty="0">
                <a:solidFill>
                  <a:srgbClr val="333333"/>
                </a:solidFill>
                <a:effectLst/>
                <a:latin typeface="arial" panose="020B0604020202020204" pitchFamily="34" charset="0"/>
              </a:rPr>
              <a:t>中获得较大的未来</a:t>
            </a:r>
            <a:r>
              <a:rPr lang="zh-CN" altLang="en-US" b="0" i="0" u="none" strike="noStrike" dirty="0">
                <a:solidFill>
                  <a:srgbClr val="136EC2"/>
                </a:solidFill>
                <a:effectLst/>
                <a:latin typeface="arial" panose="020B0604020202020204" pitchFamily="34" charset="0"/>
                <a:hlinkClick r:id="rId5"/>
              </a:rPr>
              <a:t>效用</a:t>
            </a:r>
            <a:r>
              <a:rPr lang="zh-CN" altLang="en-US" b="0" i="0" dirty="0">
                <a:solidFill>
                  <a:srgbClr val="333333"/>
                </a:solidFill>
                <a:effectLst/>
                <a:latin typeface="arial" panose="020B0604020202020204" pitchFamily="34" charset="0"/>
              </a:rPr>
              <a:t>，而其期望效用是一</a:t>
            </a:r>
            <a:r>
              <a:rPr lang="zh-CN" altLang="en-US" b="0" i="0" u="none" strike="noStrike" dirty="0">
                <a:solidFill>
                  <a:srgbClr val="136EC2"/>
                </a:solidFill>
                <a:effectLst/>
                <a:latin typeface="arial" panose="020B0604020202020204" pitchFamily="34" charset="0"/>
                <a:hlinkClick r:id="rId6"/>
              </a:rPr>
              <a:t>随机变量</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7"/>
              </a:rPr>
              <a:t>财富</a:t>
            </a:r>
            <a:r>
              <a:rPr lang="zh-CN" altLang="en-US" b="0" i="0" dirty="0">
                <a:solidFill>
                  <a:srgbClr val="333333"/>
                </a:solidFill>
                <a:effectLst/>
                <a:latin typeface="arial" panose="020B0604020202020204" pitchFamily="34" charset="0"/>
              </a:rPr>
              <a:t>）的函数。因此，</a:t>
            </a:r>
            <a:r>
              <a:rPr lang="zh-CN" altLang="en-US" b="0" i="0" u="none" strike="noStrike" dirty="0">
                <a:solidFill>
                  <a:srgbClr val="136EC2"/>
                </a:solidFill>
                <a:effectLst/>
                <a:latin typeface="arial" panose="020B0604020202020204" pitchFamily="34" charset="0"/>
                <a:hlinkClick r:id="rId3"/>
              </a:rPr>
              <a:t>投资者</a:t>
            </a:r>
            <a:r>
              <a:rPr lang="zh-CN" altLang="en-US" b="0" i="0" dirty="0">
                <a:solidFill>
                  <a:srgbClr val="333333"/>
                </a:solidFill>
                <a:effectLst/>
                <a:latin typeface="arial" panose="020B0604020202020204" pitchFamily="34" charset="0"/>
              </a:rPr>
              <a:t>对</a:t>
            </a:r>
            <a:r>
              <a:rPr lang="zh-CN" altLang="en-US" b="0" i="0" u="none" strike="noStrike" dirty="0">
                <a:solidFill>
                  <a:srgbClr val="136EC2"/>
                </a:solidFill>
                <a:effectLst/>
                <a:latin typeface="arial" panose="020B0604020202020204" pitchFamily="34" charset="0"/>
                <a:hlinkClick r:id="rId8"/>
              </a:rPr>
              <a:t>风险</a:t>
            </a:r>
            <a:r>
              <a:rPr lang="zh-CN" altLang="en-US" b="0" i="0" dirty="0">
                <a:solidFill>
                  <a:srgbClr val="333333"/>
                </a:solidFill>
                <a:effectLst/>
                <a:latin typeface="arial" panose="020B0604020202020204" pitchFamily="34" charset="0"/>
              </a:rPr>
              <a:t>的</a:t>
            </a:r>
            <a:r>
              <a:rPr lang="zh-CN" altLang="en-US" b="0" i="0" u="none" strike="noStrike" dirty="0">
                <a:solidFill>
                  <a:srgbClr val="136EC2"/>
                </a:solidFill>
                <a:effectLst/>
                <a:latin typeface="arial" panose="020B0604020202020204" pitchFamily="34" charset="0"/>
                <a:hlinkClick r:id="rId9"/>
              </a:rPr>
              <a:t>态度</a:t>
            </a:r>
            <a:r>
              <a:rPr lang="zh-CN" altLang="en-US" b="0" i="0" dirty="0">
                <a:solidFill>
                  <a:srgbClr val="333333"/>
                </a:solidFill>
                <a:effectLst/>
                <a:latin typeface="arial" panose="020B0604020202020204" pitchFamily="34" charset="0"/>
              </a:rPr>
              <a:t>由其</a:t>
            </a:r>
            <a:r>
              <a:rPr lang="zh-CN" altLang="en-US" b="0" i="0" u="none" strike="noStrike" dirty="0">
                <a:solidFill>
                  <a:srgbClr val="136EC2"/>
                </a:solidFill>
                <a:effectLst/>
                <a:latin typeface="arial" panose="020B0604020202020204" pitchFamily="34" charset="0"/>
                <a:hlinkClick r:id="rId10"/>
              </a:rPr>
              <a:t>效用函数</a:t>
            </a:r>
            <a:r>
              <a:rPr lang="zh-CN" altLang="en-US" b="0" i="0" dirty="0">
                <a:solidFill>
                  <a:srgbClr val="333333"/>
                </a:solidFill>
                <a:effectLst/>
                <a:latin typeface="arial" panose="020B0604020202020204" pitchFamily="34" charset="0"/>
              </a:rPr>
              <a:t>的形态所决定。</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效用（</a:t>
            </a:r>
            <a:r>
              <a:rPr lang="en-US" altLang="zh-CN" b="0" i="0" dirty="0">
                <a:solidFill>
                  <a:srgbClr val="333333"/>
                </a:solidFill>
                <a:effectLst/>
                <a:latin typeface="arial" panose="020B0604020202020204" pitchFamily="34" charset="0"/>
              </a:rPr>
              <a:t>Utility</a:t>
            </a:r>
            <a:r>
              <a:rPr lang="zh-CN" altLang="en-US" b="0" i="0" dirty="0">
                <a:solidFill>
                  <a:srgbClr val="333333"/>
                </a:solidFill>
                <a:effectLst/>
                <a:latin typeface="arial" panose="020B0604020202020204" pitchFamily="34" charset="0"/>
              </a:rPr>
              <a:t>），是经济学中最常用的概念之一。一般而言，效用是指对于消费者通过消费或者享受</a:t>
            </a:r>
            <a:r>
              <a:rPr lang="zh-CN" altLang="en-US" b="0" i="0" u="none" strike="noStrike" dirty="0">
                <a:solidFill>
                  <a:srgbClr val="136EC2"/>
                </a:solidFill>
                <a:effectLst/>
                <a:latin typeface="arial" panose="020B0604020202020204" pitchFamily="34" charset="0"/>
                <a:hlinkClick r:id="rId11"/>
              </a:rPr>
              <a:t>闲暇</a:t>
            </a:r>
            <a:r>
              <a:rPr lang="zh-CN" altLang="en-US" b="0" i="0" dirty="0">
                <a:solidFill>
                  <a:srgbClr val="333333"/>
                </a:solidFill>
                <a:effectLst/>
                <a:latin typeface="arial" panose="020B0604020202020204" pitchFamily="34" charset="0"/>
              </a:rPr>
              <a:t>等使自己的需求、欲望等得到的满足的一个度量。经济学家用它来解释有理性的消费者如何把他们有限的资源分配在能给他们带来最大满足的商品上。在维多利亚女王时代，哲学家和经济学家曾经轻率地将效用当做一个人整个福利指标。效用一度被认为是个人快乐的数学测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29927334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zh-CN" altLang="en-US" sz="1800" b="0" i="0" u="none" strike="noStrike" baseline="0" dirty="0">
                <a:latin typeface="HelveticaNeue-MediumCond"/>
              </a:rPr>
              <a:t>具体见下页</a:t>
            </a:r>
            <a:endParaRPr lang="en-US" altLang="zh-CN" sz="1800" b="0" i="0" u="none" strike="noStrike" baseline="0" dirty="0">
              <a:latin typeface="HelveticaNeue-MediumCond"/>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11.5.2 </a:t>
            </a:r>
            <a:r>
              <a:rPr lang="zh-CN" altLang="en-US" sz="1800" b="0" i="0" u="none" strike="noStrike" baseline="0" dirty="0">
                <a:latin typeface="SourceHanSansSC-Medium"/>
              </a:rPr>
              <a:t>规划风险应对：工具与技术</a:t>
            </a:r>
          </a:p>
          <a:p>
            <a:pPr algn="l"/>
            <a:r>
              <a:rPr lang="en-US" altLang="zh-CN" sz="1800" b="0" i="0" u="none" strike="noStrike" baseline="0" dirty="0">
                <a:latin typeface="HelveticaNeue-MediumCond"/>
              </a:rPr>
              <a:t>11.5.2.1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节。应征求具备以下专业知识的个人或小组的意见：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威胁应对策略；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机会应对策略；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应急应对策略；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整体项目风险应对策略。</a:t>
            </a:r>
          </a:p>
          <a:p>
            <a:pPr algn="l"/>
            <a:r>
              <a:rPr lang="zh-CN" altLang="en-US" sz="1800" b="0" i="0" u="none" strike="noStrike" baseline="0" dirty="0">
                <a:latin typeface="SourceHanSansSC-Regular"/>
              </a:rPr>
              <a:t>可以就具体单个项目风险向特定主题专家征求意见，例如在需要专家的技术知识时。</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11.5.2.2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节）。单个项目风险和整体项目风险的应对措施可以在与风险责任人的结构化或半结构化的访谈（见 </a:t>
            </a:r>
            <a:r>
              <a:rPr lang="en-US" altLang="zh-CN" sz="1800" b="0" i="0" u="none" strike="noStrike" baseline="0" dirty="0">
                <a:latin typeface="HelveticaNeue-Condensed"/>
              </a:rPr>
              <a:t>5.2.2.2 </a:t>
            </a:r>
            <a:r>
              <a:rPr lang="zh-CN" altLang="en-US" sz="1800" b="0" i="0" u="none" strike="noStrike" baseline="0" dirty="0">
                <a:latin typeface="SourceHanSansSC-Regular"/>
              </a:rPr>
              <a:t>节）中制定。必要时，也可访谈其他相关方。访谈者应该营造信任和保密的访谈环境，以鼓励被访者提出诚实和无偏见的意见。</a:t>
            </a:r>
          </a:p>
          <a:p>
            <a:pPr algn="l"/>
            <a:r>
              <a:rPr lang="en-US" altLang="zh-CN" sz="1800" b="0" i="0" u="none" strike="noStrike" baseline="0" dirty="0">
                <a:latin typeface="HelveticaNeue-MediumCond"/>
              </a:rPr>
              <a:t>11.5.2.3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适用于本过程的人际关系与团队技能包括（但不限于）引导（见 </a:t>
            </a:r>
            <a:r>
              <a:rPr lang="en-US" altLang="zh-CN" sz="1800" b="0" i="0" u="none" strike="noStrike" baseline="0" dirty="0">
                <a:latin typeface="HelveticaNeue-Condensed"/>
              </a:rPr>
              <a:t>4.1.2.3 </a:t>
            </a:r>
            <a:r>
              <a:rPr lang="zh-CN" altLang="en-US" sz="1800" b="0" i="0" u="none" strike="noStrike" baseline="0" dirty="0">
                <a:latin typeface="SourceHanSansSC-Regular"/>
              </a:rPr>
              <a:t>节）。开展引导，能够提高单个项目风险和整体项目风险应对策略制定的有效性。熟练的引导者可以帮助风险责任人理解风险、识别并比较备选的风险应对策略、选择适当的应对策略，以及找到并克服偏见。</a:t>
            </a:r>
          </a:p>
          <a:p>
            <a:pPr algn="l"/>
            <a:r>
              <a:rPr lang="en-US" altLang="zh-CN" sz="1800" b="0" i="0" u="none" strike="noStrike" baseline="0" dirty="0">
                <a:latin typeface="HelveticaNeue-MediumCond"/>
              </a:rPr>
              <a:t>11.5.2.4 </a:t>
            </a:r>
            <a:r>
              <a:rPr lang="zh-CN" altLang="en-US" sz="1800" b="0" i="0" u="none" strike="noStrike" baseline="0" dirty="0">
                <a:latin typeface="SourceHanSansSC-Medium"/>
              </a:rPr>
              <a:t>威胁应对策略 （下页）</a:t>
            </a: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11.5.2.5 </a:t>
            </a:r>
            <a:r>
              <a:rPr lang="zh-CN" altLang="en-US" sz="1800" b="0" i="0" u="none" strike="noStrike" baseline="0" dirty="0">
                <a:latin typeface="SourceHanSansSC-Medium"/>
              </a:rPr>
              <a:t>机会应对策略 （下页）</a:t>
            </a: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11.5.2.6 </a:t>
            </a:r>
            <a:r>
              <a:rPr lang="zh-CN" altLang="en-US" sz="1800" b="0" i="0" u="none" strike="noStrike" baseline="0" dirty="0">
                <a:latin typeface="SourceHanSansSC-Medium"/>
              </a:rPr>
              <a:t>应急应对策略</a:t>
            </a:r>
          </a:p>
          <a:p>
            <a:pPr algn="l"/>
            <a:r>
              <a:rPr lang="zh-CN" altLang="en-US" sz="1800" b="0" i="0" u="none" strike="noStrike" baseline="0" dirty="0">
                <a:latin typeface="SourceHanSansSC-Regular"/>
              </a:rPr>
              <a:t>可以设计一些仅在特定事件发生时才采用的应对措施。对于某些风险，如果项目团队相信其发生会有充分的预警信号，那么就应该制定仅在某些预定条件出现时才执行的应对计划。应该定义并跟踪应急应对策略的触发条件，例如，未实现中间的里程碑，或获得卖方更高程度的重视。采用此技术制定的风险应对计划，通常称为应急计划或弹回计划，其中包括已识别的、用于启动计划的触发事件。</a:t>
            </a:r>
          </a:p>
          <a:p>
            <a:pPr algn="l"/>
            <a:r>
              <a:rPr lang="en-US" altLang="zh-CN" sz="1800" b="0" i="0" u="none" strike="noStrike" baseline="0" dirty="0">
                <a:latin typeface="HelveticaNeue-MediumCond"/>
              </a:rPr>
              <a:t>11.5.2.7 </a:t>
            </a:r>
            <a:r>
              <a:rPr lang="zh-CN" altLang="en-US" sz="1800" b="0" i="0" u="none" strike="noStrike" baseline="0" dirty="0">
                <a:latin typeface="SourceHanSansSC-Medium"/>
              </a:rPr>
              <a:t>整体项目风险应对策略</a:t>
            </a:r>
          </a:p>
          <a:p>
            <a:pPr algn="l"/>
            <a:r>
              <a:rPr lang="zh-CN" altLang="en-US" sz="1800" b="0" i="0" u="none" strike="noStrike" baseline="0" dirty="0">
                <a:latin typeface="SourceHanSansSC-Regular"/>
              </a:rPr>
              <a:t>风险应对措施的规划和实施不应只针对单个项目风险，还应针对整体项目风险。用于应对单个项目风险的策略也适用于整体项目风险：</a:t>
            </a:r>
          </a:p>
          <a:p>
            <a:pPr algn="l"/>
            <a:r>
              <a:rPr lang="en-US" altLang="zh-CN" sz="1800" b="0" i="0" u="none" strike="noStrike" baseline="0" dirty="0">
                <a:latin typeface="Wingdings-Regular"/>
              </a:rPr>
              <a:t>  </a:t>
            </a:r>
            <a:r>
              <a:rPr lang="zh-CN" altLang="en-US" sz="1800" b="1" i="0" u="none" strike="noStrike" baseline="0" dirty="0">
                <a:latin typeface="SourceHanSansSC-Bold"/>
              </a:rPr>
              <a:t>规避。</a:t>
            </a:r>
            <a:r>
              <a:rPr lang="zh-CN" altLang="en-US" sz="1800" b="0" i="0" u="none" strike="noStrike" baseline="0" dirty="0">
                <a:latin typeface="SourceHanSansSC-Regular"/>
              </a:rPr>
              <a:t>如果整体项目风险有严重的负面影响，并已超出商定的项目风险临界值，就可以采用规避策略。此策略涉及采取集中行动，弱化不确定性对项目整体的负面影响，并将项目拉回到临界值以内。例如，取消项目范围中的高风险工作，就是一种整个项目层面的规避措施。如果无法将项目拉回到临界值以内，则可能取消项目。这是最极端的风险规避措施，仅适用于威胁的整体级别在当前和未来都不可接受。</a:t>
            </a:r>
          </a:p>
          <a:p>
            <a:pPr algn="l"/>
            <a:r>
              <a:rPr lang="en-US" altLang="zh-CN" sz="1800" b="0" i="0" u="none" strike="noStrike" baseline="0" dirty="0">
                <a:latin typeface="Wingdings-Regular"/>
              </a:rPr>
              <a:t>  </a:t>
            </a:r>
            <a:r>
              <a:rPr lang="zh-CN" altLang="en-US" sz="1800" b="1" i="0" u="none" strike="noStrike" baseline="0" dirty="0">
                <a:latin typeface="SourceHanSansSC-Bold"/>
              </a:rPr>
              <a:t>开拓。</a:t>
            </a:r>
            <a:r>
              <a:rPr lang="zh-CN" altLang="en-US" sz="1800" b="0" i="0" u="none" strike="noStrike" baseline="0" dirty="0">
                <a:latin typeface="SourceHanSansSC-Regular"/>
              </a:rPr>
              <a:t>如果整体项目风险有显著的正面影响，并已超出商定的项目风险临界值，就可以采用开拓策略。此策略涉及采取集中行动，去获得不确定性对整体项目的正面影响。例如，在项目范围中增加高收益的工作，以提高项目对相关方的价值或效益；或者，也可以与关键相关方协商修改项目的风险临界值，以便将机会包含在内。</a:t>
            </a:r>
          </a:p>
          <a:p>
            <a:pPr algn="l"/>
            <a:r>
              <a:rPr lang="en-US" altLang="zh-CN" sz="1800" b="0" i="0" u="none" strike="noStrike" baseline="0" dirty="0">
                <a:latin typeface="Wingdings-Regular"/>
              </a:rPr>
              <a:t>  </a:t>
            </a:r>
            <a:r>
              <a:rPr lang="zh-CN" altLang="en-US" sz="1800" b="1" i="0" u="none" strike="noStrike" baseline="0" dirty="0">
                <a:latin typeface="SourceHanSansSC-Bold"/>
              </a:rPr>
              <a:t>转移或分享。</a:t>
            </a:r>
            <a:r>
              <a:rPr lang="zh-CN" altLang="en-US" sz="1800" b="0" i="0" u="none" strike="noStrike" baseline="0" dirty="0">
                <a:latin typeface="SourceHanSansSC-Regular"/>
              </a:rPr>
              <a:t>如果整体项目风险的级别很高，组织无法有效加以应对，就可能需要让第三方代表组织对风险进行管理。若整体项目风险是负面的，就需要采取转移策略，这可能涉及支付风险费用；如果整体项目风险高度正面，则由多方分享，以获得相关收益。整体项目风险的转移和分享策略包括（但不限于）：建立买方和卖方分享整体项目风险的协作式业务结构、成立合资企业或特殊目的公司，或对项目的关键工作进行分包。</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减轻或提高。</a:t>
            </a:r>
            <a:r>
              <a:rPr lang="zh-CN" altLang="en-US" sz="1800" b="0" i="0" u="none" strike="noStrike" baseline="0" dirty="0">
                <a:latin typeface="SourceHanSansSC-Regular"/>
              </a:rPr>
              <a:t>本策略涉及变更整体项目风险的级别，以优化实现项目目标的可能性。减轻策略适用于负面的整体项目风险，而提高策略则适用于正面的整体项目风险。减轻或提高策略包括重新规划项目、改变项目范围和边界、调整项目优先级、改变资源配置、调整交付时间等。</a:t>
            </a:r>
          </a:p>
          <a:p>
            <a:pPr algn="l"/>
            <a:r>
              <a:rPr lang="en-US" altLang="zh-CN" sz="1800" b="0" i="0" u="none" strike="noStrike" baseline="0" dirty="0">
                <a:latin typeface="Wingdings-Regular"/>
              </a:rPr>
              <a:t>  </a:t>
            </a:r>
            <a:r>
              <a:rPr lang="zh-CN" altLang="en-US" sz="1800" b="1" i="0" u="none" strike="noStrike" baseline="0" dirty="0">
                <a:latin typeface="SourceHanSansSC-Bold"/>
              </a:rPr>
              <a:t>接受。</a:t>
            </a:r>
            <a:r>
              <a:rPr lang="zh-CN" altLang="en-US" sz="1800" b="0" i="0" u="none" strike="noStrike" baseline="0" dirty="0">
                <a:latin typeface="SourceHanSansSC-Regular"/>
              </a:rPr>
              <a:t>即使整体项目风险已超出商定的临界值，如果无法针对整体项目风险采取主动的应对策略，组织可能选择继续按当前的定义推动项目进展。接受策略又分为主动或被动方式。最常见的主动接受策略是为项目建立整体应急储备，包括预留时间、资金或资源，以便在项目风险超出临界值时使用；被动接受策略则不会主动采取行动，而只是定期对整体项目风险的级别进行审查，确保其未发生重大改变。</a:t>
            </a:r>
          </a:p>
          <a:p>
            <a:pPr algn="l"/>
            <a:r>
              <a:rPr lang="en-US" altLang="zh-CN" sz="1800" b="0" i="0" u="none" strike="noStrike" baseline="0" dirty="0">
                <a:latin typeface="HelveticaNeue-MediumCond"/>
              </a:rPr>
              <a:t>11.5.2.8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可以考虑多种备选风险应对策略。可用于选择首选风险应对策略的数据分析技术包括（但不限于）：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对备选风险应对方案的特征和要求进行简单比较，进而确定哪个应对方案最为适用。</a:t>
            </a:r>
          </a:p>
          <a:p>
            <a:pPr algn="l"/>
            <a:r>
              <a:rPr lang="en-US" altLang="zh-CN" sz="1800" b="0" i="0" u="none" strike="noStrike" baseline="0" dirty="0">
                <a:latin typeface="Wingdings-Regular"/>
              </a:rPr>
              <a:t>  </a:t>
            </a:r>
            <a:r>
              <a:rPr lang="zh-CN" altLang="en-US" sz="1800" b="1" i="0" u="none" strike="noStrike" baseline="0" dirty="0">
                <a:latin typeface="SourceHanSansSC-Bold"/>
              </a:rPr>
              <a:t>成本收益分析。</a:t>
            </a:r>
            <a:r>
              <a:rPr lang="zh-CN" altLang="en-US" sz="1800" b="0" i="0" u="none" strike="noStrike" baseline="0" dirty="0">
                <a:latin typeface="SourceHanSansSC-Regular"/>
              </a:rPr>
              <a:t>如果能够把单个项目风险的影响进行货币量化，那么就可以通过成本收益分析（见 </a:t>
            </a:r>
            <a:r>
              <a:rPr lang="en-US" altLang="zh-CN" sz="1800" b="0" i="0" u="none" strike="noStrike" baseline="0" dirty="0">
                <a:latin typeface="HelveticaNeue-Condensed"/>
              </a:rPr>
              <a:t>8.1.2.3 </a:t>
            </a:r>
            <a:r>
              <a:rPr lang="zh-CN" altLang="en-US" sz="1800" b="0" i="0" u="none" strike="noStrike" baseline="0" dirty="0">
                <a:latin typeface="SourceHanSansSC-Regular"/>
              </a:rPr>
              <a:t>节）来确定备选风险应对策略的成本有效性。把应对策略将导致的风险影响级别变更除以策略的实施成本，所得到的比率，就代表了应对策略的成本有效性。比率越高，有效性就越高。</a:t>
            </a:r>
          </a:p>
          <a:p>
            <a:pPr algn="l"/>
            <a:r>
              <a:rPr lang="en-US" altLang="zh-CN" sz="1800" b="0" i="0" u="none" strike="noStrike" baseline="0" dirty="0">
                <a:latin typeface="HelveticaNeue-MediumCond"/>
              </a:rPr>
              <a:t>11.5.2.9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适用于风险应对策略选择的决策技术包括（但不限于）多标准决策分析（见 </a:t>
            </a:r>
            <a:r>
              <a:rPr lang="en-US" altLang="zh-CN" sz="1800" b="0" i="0" u="none" strike="noStrike" baseline="0" dirty="0">
                <a:latin typeface="HelveticaNeue-Condensed"/>
              </a:rPr>
              <a:t>8.1.2.4 </a:t>
            </a:r>
            <a:r>
              <a:rPr lang="zh-CN" altLang="en-US" sz="1800" b="0" i="0" u="none" strike="noStrike" baseline="0" dirty="0">
                <a:latin typeface="SourceHanSansSC-Regular"/>
              </a:rPr>
              <a:t>节），列入考虑范围的风险应对策略可能是一种或多种。决策技术有助于对多种风险应对策略进行优先级排序。多标准决策分析借助决策矩阵，提供建立关键决策标准、评估备选方案并加以评级，以及选择首选方案的系统分析方法。风险应对策略的选择标准可能包括（但不限于）：应对成本、应对策略在改变概率和（或）影响方面的预计有效性、资源可用性、时间限制（紧迫性、邻近性和潜伏期）、风险发生的影响级别、应对措施对相关风险的作用、导致的次生风险等。如果原定的应对策略被证明无效，可在项目后期采取不同的应对策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32263028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针对威胁，可以考虑下列五种备选策略：</a:t>
            </a:r>
          </a:p>
          <a:p>
            <a:pPr algn="l"/>
            <a:r>
              <a:rPr lang="en-US" altLang="zh-CN" sz="1200" b="0" i="0" u="none" strike="noStrike" baseline="0" dirty="0">
                <a:latin typeface="Wingdings-Regular"/>
              </a:rPr>
              <a:t>  </a:t>
            </a:r>
            <a:r>
              <a:rPr lang="zh-CN" altLang="en-US" sz="1200" b="1" i="0" u="none" strike="noStrike" baseline="0" dirty="0">
                <a:latin typeface="SourceHanSansSC-Bold"/>
              </a:rPr>
              <a:t>上报。</a:t>
            </a:r>
            <a:r>
              <a:rPr lang="zh-CN" altLang="en-US" sz="1200" b="0" i="0" u="none" strike="noStrike" baseline="0" dirty="0">
                <a:latin typeface="SourceHanSansSC-Regular"/>
              </a:rPr>
              <a:t>如果项目团队或项目发起人认为某威胁不在项目范围内，或提议的应对措施超出了项目经理的权限，就应该采用上报策略。被上报的风险将在项目集层面、项目组合层面或组织的其他相关部门加以管理，而不在项目层面。项目经理确定应就威胁通知哪些人员，并向该人员或组织部门传达关于该威胁的详细信息。对于被上报的威胁，组织中的相关人员必须愿意承担应对责任，这一点非常重要。威胁通常要上报给其目标会受该威胁影响的那个层级。威胁一旦上报，就不再由项目团队做进一步监督，虽然仍可出现在风险登记册中供参考。</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规避。</a:t>
            </a:r>
            <a:r>
              <a:rPr lang="zh-CN" altLang="en-US" sz="1200" b="0" i="0" u="none" strike="noStrike" baseline="0" dirty="0">
                <a:latin typeface="SourceHanSansSC-Regular"/>
              </a:rPr>
              <a:t>风险规避是指项目团队采取行动来消除威胁，或保护项目免受威胁的影响。它可能适用于发生概率较高，且具有严重负面影响的高优先级威胁。规避策略可能涉及变更项目管理计划的某些方面，或改变会受负面影响的目标，以便于彻底消除威胁，将它的发生概率降低到零。风险责任人也可以采取措施，来分离项目目标与风险万一发生的影响。规避措施可能包括消除威胁的原因、延长进度计划、改变项目策略，或缩小范围。有些风险可以通过澄清需求、获取信息、改善沟通或取得专有技能来加以规避。</a:t>
            </a:r>
          </a:p>
          <a:p>
            <a:pPr algn="l"/>
            <a:r>
              <a:rPr lang="en-US" altLang="zh-CN" sz="1200" b="0" i="0" u="none" strike="noStrike" baseline="0" dirty="0">
                <a:latin typeface="Wingdings-Regular"/>
              </a:rPr>
              <a:t>  </a:t>
            </a:r>
            <a:r>
              <a:rPr lang="zh-CN" altLang="en-US" sz="1200" b="1" i="0" u="none" strike="noStrike" baseline="0" dirty="0">
                <a:latin typeface="SourceHanSansSC-Bold"/>
              </a:rPr>
              <a:t>转移。</a:t>
            </a:r>
            <a:r>
              <a:rPr lang="zh-CN" altLang="en-US" sz="1200" b="0" i="0" u="none" strike="noStrike" baseline="0" dirty="0">
                <a:latin typeface="SourceHanSansSC-Regular"/>
              </a:rPr>
              <a:t>转移涉及到将应对威胁的责任转移给第三方，让第三方管理风险并承担威胁发生的影响。采用转移策略，通常需要向承担威胁的一方支付风险转移费用。风险转移可能需要通过一系列行动才得以实现，包括（但不限于）购买保险、使用履约保函、使用担保书、使用保证书等。也可以通过签订协议，把具体风险的归属和责任转移给第三方。</a:t>
            </a:r>
          </a:p>
          <a:p>
            <a:pPr algn="l"/>
            <a:r>
              <a:rPr lang="en-US" altLang="zh-CN" sz="1200" b="0" i="0" u="none" strike="noStrike" baseline="0" dirty="0">
                <a:latin typeface="Wingdings-Regular"/>
              </a:rPr>
              <a:t>  </a:t>
            </a:r>
            <a:r>
              <a:rPr lang="zh-CN" altLang="en-US" sz="1200" b="1" i="0" u="none" strike="noStrike" baseline="0" dirty="0">
                <a:latin typeface="SourceHanSansSC-Bold"/>
              </a:rPr>
              <a:t>减轻。</a:t>
            </a:r>
            <a:r>
              <a:rPr lang="zh-CN" altLang="en-US" sz="1200" b="0" i="0" u="none" strike="noStrike" baseline="0" dirty="0">
                <a:latin typeface="SourceHanSansSC-Regular"/>
              </a:rPr>
              <a:t>风险减轻是指采取措施来降低威胁发生的概率和（或）影响。提前采取减轻措施通常比威胁出现后尝试进行弥补更加有效。减轻措施包括采用较简单的流程，进行更多次测试，或者选用更可靠的卖方。还可能涉及原型开发（见 </a:t>
            </a:r>
            <a:r>
              <a:rPr lang="en-US" altLang="zh-CN" sz="1200" b="0" i="0" u="none" strike="noStrike" baseline="0" dirty="0">
                <a:latin typeface="HelveticaNeue-Condensed"/>
              </a:rPr>
              <a:t>5.2.2.8 </a:t>
            </a:r>
            <a:r>
              <a:rPr lang="zh-CN" altLang="en-US" sz="1200" b="0" i="0" u="none" strike="noStrike" baseline="0" dirty="0">
                <a:latin typeface="SourceHanSansSC-Regular"/>
              </a:rPr>
              <a:t>节），以降低从实验台模型放大到实际工艺或产品中的风险。如果无法降低概率，也许可以从决定风险严重性的因素入手，来减轻风险发生的影响。例如，在一个系统中加入冗余部件，可以减轻原始部件故障所造成的影响。</a:t>
            </a:r>
          </a:p>
          <a:p>
            <a:pPr algn="l"/>
            <a:r>
              <a:rPr lang="en-US" altLang="zh-CN" sz="1200" b="0" i="0" u="none" strike="noStrike" baseline="0" dirty="0">
                <a:latin typeface="Wingdings-Regular"/>
              </a:rPr>
              <a:t>  </a:t>
            </a:r>
            <a:r>
              <a:rPr lang="zh-CN" altLang="en-US" sz="1200" b="1" i="0" u="none" strike="noStrike" baseline="0" dirty="0">
                <a:latin typeface="SourceHanSansSC-Bold"/>
              </a:rPr>
              <a:t>接受。</a:t>
            </a:r>
            <a:r>
              <a:rPr lang="zh-CN" altLang="en-US" sz="1200" b="0" i="0" u="none" strike="noStrike" baseline="0" dirty="0">
                <a:latin typeface="SourceHanSansSC-Regular"/>
              </a:rPr>
              <a:t>风险接受是指承认威胁的存在，但不主动采取措施。此策略可用于低优先级威胁，也可用于无法以任何其他方式加以经济有效地应对的威胁。接受策略又分为主动或被动方式。最常见的主动接受策略是建立应急储备，包括预留时间、资金或资源以应对出现的威胁；被动接受策略则不会主动采取行动，而只是定期对威胁进行审查，确保其并未发生重大改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169249098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en-US" altLang="zh-CN" dirty="0"/>
          </a:p>
          <a:p>
            <a:pPr algn="l"/>
            <a:r>
              <a:rPr lang="zh-CN" altLang="en-US" sz="1200" b="0" i="0" u="none" strike="noStrike" baseline="0" dirty="0">
                <a:latin typeface="SourceHanSansSC-Regular"/>
              </a:rPr>
              <a:t>针对机会，可以考虑下列五种备选策略：</a:t>
            </a:r>
          </a:p>
          <a:p>
            <a:pPr algn="l"/>
            <a:r>
              <a:rPr lang="en-US" altLang="zh-CN" sz="1200" b="0" i="0" u="none" strike="noStrike" baseline="0" dirty="0">
                <a:latin typeface="Wingdings-Regular"/>
              </a:rPr>
              <a:t>  </a:t>
            </a:r>
            <a:r>
              <a:rPr lang="zh-CN" altLang="en-US" sz="1200" b="1" i="0" u="none" strike="noStrike" baseline="0" dirty="0">
                <a:latin typeface="SourceHanSansSC-Bold"/>
              </a:rPr>
              <a:t>上报。</a:t>
            </a:r>
            <a:r>
              <a:rPr lang="zh-CN" altLang="en-US" sz="1200" b="0" i="0" u="none" strike="noStrike" baseline="0" dirty="0">
                <a:latin typeface="SourceHanSansSC-Regular"/>
              </a:rPr>
              <a:t>如果项目团队或项目发起人认为某机会不在项目范围内，或提议的应对措施超出了项目经理的权限，就应该取用上报策略。被上报的机会将在项目集层面、项目组合层面或组织的其他相关部门加以管理，而不在项目层面。项目经理确定应就机会通知哪些人员，并向该人员或组织部门传达关于该机会的详细信息。对于被上报的机会，组织中的相关人员必须愿意承担应对责任，这一点非常重要。机会通常要上报给其目标会受该机会影响的那个层级。机会一旦上报，就不再由项目团队做进一步监督，虽然仍可出现在风险登记册中供参考。</a:t>
            </a:r>
          </a:p>
          <a:p>
            <a:pPr algn="l"/>
            <a:r>
              <a:rPr lang="en-US" altLang="zh-CN" sz="1200" b="0" i="0" u="none" strike="noStrike" baseline="0" dirty="0">
                <a:latin typeface="Wingdings-Regular"/>
              </a:rPr>
              <a:t>  </a:t>
            </a:r>
            <a:r>
              <a:rPr lang="zh-CN" altLang="en-US" sz="1200" b="1" i="0" u="none" strike="noStrike" baseline="0" dirty="0">
                <a:latin typeface="SourceHanSansSC-Bold"/>
              </a:rPr>
              <a:t>开拓。</a:t>
            </a:r>
            <a:r>
              <a:rPr lang="zh-CN" altLang="en-US" sz="1200" b="0" i="0" u="none" strike="noStrike" baseline="0" dirty="0">
                <a:latin typeface="SourceHanSansSC-Regular"/>
              </a:rPr>
              <a:t>如果组织想确保把握住高优先级的机会，就可以选择开拓策略。此策略将特定机会的出现概率提高到 </a:t>
            </a:r>
            <a:r>
              <a:rPr lang="en-US" altLang="zh-CN" sz="1200" b="0" i="0" u="none" strike="noStrike" baseline="0" dirty="0">
                <a:latin typeface="HelveticaNeue-Condensed"/>
              </a:rPr>
              <a:t>100%</a:t>
            </a:r>
            <a:r>
              <a:rPr lang="zh-CN" altLang="en-US" sz="1200" b="0" i="0" u="none" strike="noStrike" baseline="0" dirty="0">
                <a:latin typeface="SourceHanSansSC-Regular"/>
              </a:rPr>
              <a:t>，确保其肯定出现，从而获得与其相关的收益。开拓措施可能包括：把组织中最有能力的资源分配给项目来缩短完工时间，或采用全新技术或技术升级来节约项目成本并缩短项目持续时间。</a:t>
            </a:r>
          </a:p>
          <a:p>
            <a:pPr algn="l"/>
            <a:r>
              <a:rPr lang="en-US" altLang="zh-CN" sz="1200" b="0" i="0" u="none" strike="noStrike" baseline="0" dirty="0">
                <a:latin typeface="Wingdings-Regular"/>
              </a:rPr>
              <a:t>  </a:t>
            </a:r>
            <a:r>
              <a:rPr lang="zh-CN" altLang="en-US" sz="1200" b="1" i="0" u="none" strike="noStrike" baseline="0" dirty="0">
                <a:latin typeface="SourceHanSansSC-Bold"/>
              </a:rPr>
              <a:t>分享。</a:t>
            </a:r>
            <a:r>
              <a:rPr lang="zh-CN" altLang="en-US" sz="1200" b="0" i="0" u="none" strike="noStrike" baseline="0" dirty="0">
                <a:latin typeface="SourceHanSansSC-Regular"/>
              </a:rPr>
              <a:t>分享涉及到将应对机会的责任转移给第三方，使其享有机会所带来的部分收益。必须仔细为已分享的机会安排新的风险责任人，让那些最有能力为项目抓住机会的人担任新的风险责任人。采用风险分享策略，通常需要向承担机会应对责任的一方支付风险费用。分享措施包括建立合伙关系、合作团队、特殊公司或合资企业来分享机会。</a:t>
            </a:r>
          </a:p>
          <a:p>
            <a:pPr algn="l"/>
            <a:r>
              <a:rPr lang="en-US" altLang="zh-CN" sz="1200" b="0" i="0" u="none" strike="noStrike" baseline="0" dirty="0">
                <a:latin typeface="Wingdings-Regular"/>
              </a:rPr>
              <a:t>  </a:t>
            </a:r>
            <a:r>
              <a:rPr lang="zh-CN" altLang="en-US" sz="1200" b="1" i="0" u="none" strike="noStrike" baseline="0" dirty="0">
                <a:latin typeface="SourceHanSansSC-Bold"/>
              </a:rPr>
              <a:t>提高。</a:t>
            </a:r>
            <a:r>
              <a:rPr lang="zh-CN" altLang="en-US" sz="1200" b="0" i="0" u="none" strike="noStrike" baseline="0" dirty="0">
                <a:latin typeface="SourceHanSansSC-Regular"/>
              </a:rPr>
              <a:t>提高策略用于提高机会出现的概率和（或）影响。提前采取提高措施通常比机会出现后尝试改善收益更加有效。通过关注其原因，可以提高机会出现的概率；如果无法提高概率，也许可以针对决定其潜在收益规模的因素来提高机会发生的影响。机会提高措施包括为早日完成活动而增加资源。</a:t>
            </a:r>
          </a:p>
          <a:p>
            <a:pPr algn="l"/>
            <a:r>
              <a:rPr lang="en-US" altLang="zh-CN" sz="1200" b="0" i="0" u="none" strike="noStrike" baseline="0" dirty="0">
                <a:latin typeface="Wingdings-Regular"/>
              </a:rPr>
              <a:t>  </a:t>
            </a:r>
            <a:r>
              <a:rPr lang="zh-CN" altLang="en-US" sz="1200" b="1" i="0" u="none" strike="noStrike" baseline="0" dirty="0">
                <a:latin typeface="SourceHanSansSC-Bold"/>
              </a:rPr>
              <a:t>接受。</a:t>
            </a:r>
            <a:r>
              <a:rPr lang="zh-CN" altLang="en-US" sz="1200" b="0" i="0" u="none" strike="noStrike" baseline="0" dirty="0">
                <a:latin typeface="SourceHanSansSC-Regular"/>
              </a:rPr>
              <a:t>接受机会是指承认机会的存在，但不主动采取措施。此策略可用于低优先级机会，也可用于无法以任何其他方式加以经济有效地应对的机会。接受策略又分为主动或被动方式。最常见的主动接受策略是建立应急储备，包括预留时间、资金或资源，以便在机会出现时加以利用；被动接受策略则不会主动采取行动，而只是定期对机会进行审查，确保其并未发生重大改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294728233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5851252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en-US" altLang="zh-CN" dirty="0"/>
              <a:t>11.5.3 </a:t>
            </a:r>
            <a:r>
              <a:rPr lang="zh-CN" altLang="en-US" dirty="0"/>
              <a:t>规划风险应对：输出</a:t>
            </a:r>
          </a:p>
          <a:p>
            <a:r>
              <a:rPr lang="en-US" altLang="zh-CN" dirty="0"/>
              <a:t>11.5.3.1 </a:t>
            </a:r>
            <a:r>
              <a:rPr lang="zh-CN" altLang="en-US" dirty="0"/>
              <a:t>变更请求</a:t>
            </a:r>
          </a:p>
          <a:p>
            <a:r>
              <a:rPr lang="zh-CN" altLang="en-US" dirty="0"/>
              <a:t>见 </a:t>
            </a:r>
            <a:r>
              <a:rPr lang="en-US" altLang="zh-CN" dirty="0"/>
              <a:t>4.3.3.4 </a:t>
            </a:r>
            <a:r>
              <a:rPr lang="zh-CN" altLang="en-US" dirty="0"/>
              <a:t>节。规划风险应对后，可能会就成本基准和进度基准，或项目管理计划的其他组件提出变更请求，应该通过实施整体变更控制过程（见 </a:t>
            </a:r>
            <a:r>
              <a:rPr lang="en-US" altLang="zh-CN" dirty="0"/>
              <a:t>4.6 </a:t>
            </a:r>
            <a:r>
              <a:rPr lang="zh-CN" altLang="en-US" dirty="0"/>
              <a:t>节）对变更请求进行审查和处理。</a:t>
            </a:r>
          </a:p>
          <a:p>
            <a:r>
              <a:rPr lang="en-US" altLang="zh-CN" dirty="0"/>
              <a:t>11.5.3.2 </a:t>
            </a:r>
            <a:r>
              <a:rPr lang="zh-CN" altLang="en-US" dirty="0"/>
              <a:t>项目管理计划更新</a:t>
            </a:r>
          </a:p>
          <a:p>
            <a:r>
              <a:rPr lang="zh-CN" altLang="en-US" dirty="0"/>
              <a:t>项目管理计划的任何变更都以变更请求的形式提出，且通过组织的变更控制过程进行处理。可能需要变更的项目管理计划组件包括（但不限于）：</a:t>
            </a:r>
          </a:p>
          <a:p>
            <a:r>
              <a:rPr lang="en-US" altLang="zh-CN" dirty="0"/>
              <a:t>  </a:t>
            </a:r>
            <a:r>
              <a:rPr lang="zh-CN" altLang="en-US" dirty="0"/>
              <a:t>进度管理计划。见 </a:t>
            </a:r>
            <a:r>
              <a:rPr lang="en-US" altLang="zh-CN" dirty="0"/>
              <a:t>6.1.3.1 </a:t>
            </a:r>
            <a:r>
              <a:rPr lang="zh-CN" altLang="en-US" dirty="0"/>
              <a:t>节。对进度管理计划的变更包括：资源负荷和资源平衡变更，或进度策略更新等。</a:t>
            </a:r>
          </a:p>
          <a:p>
            <a:r>
              <a:rPr lang="en-US" altLang="zh-CN" dirty="0"/>
              <a:t>  </a:t>
            </a:r>
            <a:r>
              <a:rPr lang="zh-CN" altLang="en-US" dirty="0"/>
              <a:t>成本管理计划。见 </a:t>
            </a:r>
            <a:r>
              <a:rPr lang="en-US" altLang="zh-CN" dirty="0"/>
              <a:t>7.1.3.1 </a:t>
            </a:r>
            <a:r>
              <a:rPr lang="zh-CN" altLang="en-US" dirty="0"/>
              <a:t>节。对成本管理计划的变更包括：成本会计、跟踪和报告变更，以及预算策略和应急储备使用方法更新等。</a:t>
            </a:r>
          </a:p>
          <a:p>
            <a:r>
              <a:rPr lang="en-US" altLang="zh-CN" dirty="0"/>
              <a:t>  </a:t>
            </a:r>
            <a:r>
              <a:rPr lang="zh-CN" altLang="en-US" dirty="0"/>
              <a:t>质量管理计划。见 </a:t>
            </a:r>
            <a:r>
              <a:rPr lang="en-US" altLang="zh-CN" dirty="0"/>
              <a:t>8.1.3.1 </a:t>
            </a:r>
            <a:r>
              <a:rPr lang="zh-CN" altLang="en-US" dirty="0"/>
              <a:t>节。对质量管理计划的变更包括：满足需求的方法、质量管理方法，或质量控制过程的变更等。</a:t>
            </a:r>
          </a:p>
          <a:p>
            <a:r>
              <a:rPr lang="en-US" altLang="zh-CN" dirty="0"/>
              <a:t>  </a:t>
            </a:r>
            <a:r>
              <a:rPr lang="zh-CN" altLang="en-US" dirty="0"/>
              <a:t>资源管理计划。见 </a:t>
            </a:r>
            <a:r>
              <a:rPr lang="en-US" altLang="zh-CN" dirty="0"/>
              <a:t>9.1.3.1 </a:t>
            </a:r>
            <a:r>
              <a:rPr lang="zh-CN" altLang="en-US" dirty="0"/>
              <a:t>节。对资源管理计划的变更包括：资源配置变更，以及资源策略更新等。</a:t>
            </a:r>
          </a:p>
          <a:p>
            <a:r>
              <a:rPr lang="en-US" altLang="zh-CN" dirty="0"/>
              <a:t>  </a:t>
            </a:r>
            <a:r>
              <a:rPr lang="zh-CN" altLang="en-US" dirty="0"/>
              <a:t>采购管理计划。见 </a:t>
            </a:r>
            <a:r>
              <a:rPr lang="en-US" altLang="zh-CN" dirty="0"/>
              <a:t>12.1.3.1 </a:t>
            </a:r>
            <a:r>
              <a:rPr lang="zh-CN" altLang="en-US" dirty="0"/>
              <a:t>节。对采购管理计划的变更包括：自制或外购决策或合同类型的更改等。</a:t>
            </a:r>
          </a:p>
          <a:p>
            <a:r>
              <a:rPr lang="en-US" altLang="zh-CN" dirty="0"/>
              <a:t>  </a:t>
            </a:r>
            <a:r>
              <a:rPr lang="zh-CN" altLang="en-US" dirty="0"/>
              <a:t>范围基准。见 </a:t>
            </a:r>
            <a:r>
              <a:rPr lang="en-US" altLang="zh-CN" dirty="0"/>
              <a:t>5.4.3.1 </a:t>
            </a:r>
            <a:r>
              <a:rPr lang="zh-CN" altLang="en-US" dirty="0"/>
              <a:t>节。如果商定的风险应对策略导致了范围变更，且这种变更已经获得批准，那么就要对范围基准做出相应的变更。</a:t>
            </a:r>
          </a:p>
          <a:p>
            <a:r>
              <a:rPr lang="en-US" altLang="zh-CN" dirty="0"/>
              <a:t>  </a:t>
            </a:r>
            <a:r>
              <a:rPr lang="zh-CN" altLang="en-US" dirty="0"/>
              <a:t>进度基准。见 </a:t>
            </a:r>
            <a:r>
              <a:rPr lang="en-US" altLang="zh-CN" dirty="0"/>
              <a:t>6.5.3.1 </a:t>
            </a:r>
            <a:r>
              <a:rPr lang="zh-CN" altLang="en-US" dirty="0"/>
              <a:t>节。如果商定的风险应对策略导致了进度估算变更，且这种变更已经获得批准，那么就要对进度基准做出相应的变更。</a:t>
            </a:r>
          </a:p>
          <a:p>
            <a:r>
              <a:rPr lang="en-US" altLang="zh-CN" dirty="0"/>
              <a:t>  </a:t>
            </a:r>
            <a:r>
              <a:rPr lang="zh-CN" altLang="en-US" dirty="0"/>
              <a:t>成本基准。见 </a:t>
            </a:r>
            <a:r>
              <a:rPr lang="en-US" altLang="zh-CN" dirty="0"/>
              <a:t>7.3.3.1 </a:t>
            </a:r>
            <a:r>
              <a:rPr lang="zh-CN" altLang="en-US" dirty="0"/>
              <a:t>节。如果商定的风险应对策略导致了成本估算变更，且这种变更已经获得批准，那么就要对成本基准做出相应的变更。</a:t>
            </a:r>
            <a:endParaRPr lang="en-US" altLang="zh-CN" dirty="0"/>
          </a:p>
          <a:p>
            <a:pPr algn="l"/>
            <a:r>
              <a:rPr lang="en-US" altLang="zh-CN" sz="1800" b="0" i="0" u="none" strike="noStrike" baseline="0" dirty="0">
                <a:latin typeface="HelveticaNeue-MediumCond"/>
              </a:rPr>
              <a:t>11.5.3.3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节。在规划风险应对过程中，可能做出新的假设、识别出新的制约因素，或者现有的假设条件或制约因素可能被重新审查和修改。应该更新假设日志，记录这些新信息。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成本预测。</a:t>
            </a:r>
            <a:r>
              <a:rPr lang="zh-CN" altLang="en-US" sz="1800" b="0" i="0" u="none" strike="noStrike" baseline="0" dirty="0">
                <a:latin typeface="SourceHanSansSC-Regular"/>
              </a:rPr>
              <a:t>见 </a:t>
            </a:r>
            <a:r>
              <a:rPr lang="en-US" altLang="zh-CN" sz="1800" b="0" i="0" u="none" strike="noStrike" baseline="0" dirty="0">
                <a:latin typeface="HelveticaNeue-Condensed"/>
              </a:rPr>
              <a:t>7.4.3.2 </a:t>
            </a:r>
            <a:r>
              <a:rPr lang="zh-CN" altLang="en-US" sz="1800" b="0" i="0" u="none" strike="noStrike" baseline="0" dirty="0">
                <a:latin typeface="SourceHanSansSC-Regular"/>
              </a:rPr>
              <a:t>节。成本预测可能因规划的风险应对策略而发生变更。</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节。更新经验教训登记册，记录适用于项目的未来阶段或未来项目的风险应对信息。</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节。可以把用于执行已商定的风险应对策略的活动添加到项目进度计划中。</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9.3.3.2 </a:t>
            </a:r>
            <a:r>
              <a:rPr lang="zh-CN" altLang="en-US" sz="1800" b="0" i="0" u="none" strike="noStrike" baseline="0" dirty="0">
                <a:latin typeface="SourceHanSansSC-Regular"/>
              </a:rPr>
              <a:t>节。一旦确定应对策略，应为每项与风险应对计划相关的措施分配必要的资源，包括用于执行商定的措施的具有适当资质和经验的人员（通常在项目团队中）、合理的资金和时间，以及必要的技术手段。</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节。需要更新风险登记册，记录选择和商定的风险应对措施。风险登记册的更新可能包括（但不限于）：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商定的应对策略；</a:t>
            </a:r>
          </a:p>
          <a:p>
            <a:pPr algn="l"/>
            <a:r>
              <a:rPr lang="en-US" altLang="zh-CN" sz="1800" b="0" i="0" u="none" strike="noStrike" baseline="0" dirty="0">
                <a:latin typeface="Wingdings-Regular"/>
              </a:rPr>
              <a:t>    </a:t>
            </a:r>
            <a:r>
              <a:rPr lang="zh-CN" altLang="en-US" sz="1800" b="0" i="0" u="none" strike="noStrike" baseline="0" dirty="0">
                <a:latin typeface="SourceHanSansSC-Regular"/>
              </a:rPr>
              <a:t>实施所选应对策略所需要的具体行动；</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风险发生的触发条件、征兆和预警信号；</a:t>
            </a:r>
          </a:p>
          <a:p>
            <a:pPr algn="l"/>
            <a:r>
              <a:rPr lang="en-US" altLang="zh-CN" sz="1800" b="0" i="0" u="none" strike="noStrike" baseline="0" dirty="0">
                <a:latin typeface="Wingdings-Regular"/>
              </a:rPr>
              <a:t>    </a:t>
            </a:r>
            <a:r>
              <a:rPr lang="zh-CN" altLang="en-US" sz="1800" b="0" i="0" u="none" strike="noStrike" baseline="0" dirty="0">
                <a:latin typeface="SourceHanSansSC-Regular"/>
              </a:rPr>
              <a:t>实施所选应对策略所需要的预算和进度活动；</a:t>
            </a:r>
          </a:p>
          <a:p>
            <a:pPr algn="l"/>
            <a:r>
              <a:rPr lang="en-US" altLang="zh-CN" sz="1800" b="0" i="0" u="none" strike="noStrike" baseline="0" dirty="0">
                <a:latin typeface="Wingdings-Regular"/>
              </a:rPr>
              <a:t>    </a:t>
            </a:r>
            <a:r>
              <a:rPr lang="zh-CN" altLang="en-US" sz="1800" b="0" i="0" u="none" strike="noStrike" baseline="0" dirty="0">
                <a:latin typeface="SourceHanSansSC-Regular"/>
              </a:rPr>
              <a:t>应急计划，以及启动该计划所需的风险触发条件；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弹回计划，供风险发生且主要应对措施不足以应对时使用；</a:t>
            </a:r>
          </a:p>
          <a:p>
            <a:pPr algn="l"/>
            <a:r>
              <a:rPr lang="en-US" altLang="zh-CN" sz="1800" b="0" i="0" u="none" strike="noStrike" baseline="0" dirty="0">
                <a:latin typeface="Wingdings-Regular"/>
              </a:rPr>
              <a:t>    </a:t>
            </a:r>
            <a:r>
              <a:rPr lang="zh-CN" altLang="en-US" sz="1800" b="0" i="0" u="none" strike="noStrike" baseline="0" dirty="0">
                <a:latin typeface="SourceHanSansSC-Regular"/>
              </a:rPr>
              <a:t>在采取预定应对措施之后仍然存在的残余风险，以及被有意接受的风险；</a:t>
            </a:r>
          </a:p>
          <a:p>
            <a:pPr algn="l"/>
            <a:r>
              <a:rPr lang="en-US" altLang="zh-CN" sz="1800" b="0" i="0" u="none" strike="noStrike" baseline="0" dirty="0">
                <a:latin typeface="Wingdings-Regular"/>
              </a:rPr>
              <a:t>    </a:t>
            </a:r>
            <a:r>
              <a:rPr lang="zh-CN" altLang="en-US" sz="1800" b="0" i="0" u="none" strike="noStrike" baseline="0" dirty="0">
                <a:latin typeface="SourceHanSansSC-Regular"/>
              </a:rPr>
              <a:t>由实施风险应对措施而直接导致的次生风险。</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节。更新风险报告，记录针对当前整体项目风险敞口和高优先级风险的经商定的应对措施，以及实施这些措施之后的预期变化。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180163539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r>
              <a:rPr lang="zh-CN" altLang="en-US" sz="1200" b="1" i="0" u="none" strike="noStrike" baseline="0" dirty="0">
                <a:latin typeface="SourceHanSansSC-Bold"/>
              </a:rPr>
              <a:t>实施风险应对 属于执行过程组</a:t>
            </a:r>
            <a:endParaRPr lang="en-US" altLang="zh-CN" dirty="0"/>
          </a:p>
          <a:p>
            <a:r>
              <a:rPr lang="zh-CN" altLang="en-US" dirty="0"/>
              <a:t>只有风险责任人以必要的努力去实施商定的应对措施，项目的整体风险敞口和单个威胁及机会才能得到主动管理。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35281115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11.6.1 </a:t>
            </a:r>
            <a:r>
              <a:rPr lang="zh-CN" altLang="en-US" sz="1800" b="0" i="0" u="none" strike="noStrike" baseline="0" dirty="0">
                <a:latin typeface="SourceHanSansSC-Medium"/>
              </a:rPr>
              <a:t>实施风险应对：输入</a:t>
            </a:r>
          </a:p>
          <a:p>
            <a:pPr algn="l"/>
            <a:r>
              <a:rPr lang="en-US" altLang="zh-CN" sz="1800" b="0" i="0" u="none" strike="noStrike" baseline="0" dirty="0">
                <a:latin typeface="HelveticaNeue-MediumCond"/>
              </a:rPr>
              <a:t>11.6.1.1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项目管理计划组件包括（但不限于）风险管理计划。</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风险管理计划列明了与风险管理相关的项目团队成员和其他相关方的角色和职责。应根据这些信息为已商定的风险应对措施分配责任人。风险管理计划还会定义适用于本项目的风险管理方法的详细程度，还会基于关键相关方的风险偏好规定项目的风险临界值。风险临界值代表了实施风险应对所需实现的可接受目标。</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节。项目早期获得的与实施风险应对有关的经验教训，可用于项目后期提高本过程的有效性。</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节。风险登记册记录了每项单个风险的商定风险应对措施，以及负责应对的指定责任人。</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节。风险报告包括对当前整体项目风险敞口的评估，以及商定的风险应对策略，还会描述重要的单个项目风险及其应对计划。</a:t>
            </a:r>
          </a:p>
          <a:p>
            <a:pPr algn="l"/>
            <a:r>
              <a:rPr lang="en-US" altLang="zh-CN" sz="1800" b="0" i="0" u="none" strike="noStrike" baseline="0" dirty="0">
                <a:latin typeface="HelveticaNeue-MediumCond"/>
              </a:rPr>
              <a:t>11.6.1.3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能够影响实施风险应对过程的组织过程资产包括（但不限于）已完成的类似项目的经验教训知识库，其中会说明特定风险应对的有效性。</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90493763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11.6.2 </a:t>
            </a:r>
            <a:r>
              <a:rPr lang="zh-CN" altLang="en-US" sz="1800" b="0" i="0" u="none" strike="noStrike" baseline="0" dirty="0">
                <a:latin typeface="SourceHanSansSC-Medium"/>
              </a:rPr>
              <a:t>实施风险应对：工具与技术</a:t>
            </a:r>
          </a:p>
          <a:p>
            <a:pPr algn="l"/>
            <a:r>
              <a:rPr lang="en-US" altLang="zh-CN" sz="1800" b="0" i="0" u="none" strike="noStrike" baseline="0" dirty="0">
                <a:latin typeface="HelveticaNeue-MediumCond"/>
              </a:rPr>
              <a:t>11.6.2.1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在确认或修改（如必要）风险应对措施，以及决定如何以最有效率和最有效果的方式加以实施时，应征求具备相应专业知识的个人或小组的意见。</a:t>
            </a:r>
          </a:p>
          <a:p>
            <a:pPr algn="l"/>
            <a:r>
              <a:rPr lang="en-US" altLang="zh-CN" sz="1800" b="0" i="0" u="none" strike="noStrike" baseline="0" dirty="0">
                <a:latin typeface="HelveticaNeue-MediumCond"/>
              </a:rPr>
              <a:t>11.6.2.2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影响力。有些风险应对措施可能由直属项目团队以外的人员去执行，或由存在其他竞争性需求的人员去执行。这种情况下，负责引导风险管理过程的项目经理或人员就需要施展影响力（见 </a:t>
            </a:r>
            <a:r>
              <a:rPr lang="en-US" altLang="zh-CN" sz="1800" b="0" i="0" u="none" strike="noStrike" baseline="0" dirty="0">
                <a:latin typeface="HelveticaNeue-Condensed"/>
              </a:rPr>
              <a:t>9.5.2.1 </a:t>
            </a:r>
            <a:r>
              <a:rPr lang="zh-CN" altLang="en-US" sz="1800" b="0" i="0" u="none" strike="noStrike" baseline="0" dirty="0">
                <a:latin typeface="SourceHanSansSC-Regular"/>
              </a:rPr>
              <a:t>节），去鼓励指定的风险责任人采取所需的行动。</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26317200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在项目执行过程中，有时会有突发的风险，需要应急应对。</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15385554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a:extLst>
              <a:ext uri="{FF2B5EF4-FFF2-40B4-BE49-F238E27FC236}">
                <a16:creationId xmlns:a16="http://schemas.microsoft.com/office/drawing/2014/main" id="{32B0C398-B304-4D49-A2B2-725CCD80136C}"/>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3891" name="备注占位符 2">
            <a:extLst>
              <a:ext uri="{FF2B5EF4-FFF2-40B4-BE49-F238E27FC236}">
                <a16:creationId xmlns:a16="http://schemas.microsoft.com/office/drawing/2014/main" id="{324D553D-C70C-46C8-8616-73F7D61723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3892" name="灯片编号占位符 3">
            <a:extLst>
              <a:ext uri="{FF2B5EF4-FFF2-40B4-BE49-F238E27FC236}">
                <a16:creationId xmlns:a16="http://schemas.microsoft.com/office/drawing/2014/main" id="{90568E6D-3819-4093-85FF-2C76C74DFE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705C219-F049-47CD-B3C3-118238B2EDD2}" type="slidenum">
              <a:rPr lang="zh-CN" altLang="en-US" smtClean="0"/>
              <a:pPr/>
              <a:t>97</a:t>
            </a:fld>
            <a:endParaRPr lang="zh-CN" altLang="en-US"/>
          </a:p>
        </p:txBody>
      </p:sp>
    </p:spTree>
    <p:extLst>
      <p:ext uri="{BB962C8B-B14F-4D97-AF65-F5344CB8AC3E}">
        <p14:creationId xmlns:p14="http://schemas.microsoft.com/office/powerpoint/2010/main" val="301383940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2"/>
                </a:solidFill>
                <a:ea typeface="微软雅黑" pitchFamily="34" charset="-122"/>
              </a:rPr>
              <a:t>监控风险是在整个项目中，实施风险应对计划，跟踪已识别风险，检测残余风险，识别新风险和评估风险过程有效性的过程。在项目生命周期中实施风险应对措施和监控风险变化。</a:t>
            </a:r>
            <a:endParaRPr lang="en-US" altLang="zh-CN" sz="1200" b="0" dirty="0">
              <a:solidFill>
                <a:schemeClr val="tx2"/>
              </a:solidFill>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9245922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407674648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11.7.1 </a:t>
            </a:r>
            <a:r>
              <a:rPr lang="zh-CN" altLang="en-US" sz="1800" b="0" i="0" u="none" strike="noStrike" baseline="0" dirty="0">
                <a:latin typeface="SourceHanSansSC-Medium"/>
              </a:rPr>
              <a:t>监督风险：输入</a:t>
            </a:r>
          </a:p>
          <a:p>
            <a:pPr algn="l"/>
            <a:r>
              <a:rPr lang="en-US" altLang="zh-CN" sz="1800" b="0" i="0" u="none" strike="noStrike" baseline="0" dirty="0">
                <a:latin typeface="HelveticaNeue-MediumCond"/>
              </a:rPr>
              <a:t>11.7.1.1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节。项目管理计划组件包括（但不限于）风险管理计划（见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节）。风险管理计划规定了应如何及何时审查风险，应遵守哪些政策和程序，与本监督过程有关的角色和职责安排，以及报告格式。</a:t>
            </a:r>
          </a:p>
          <a:p>
            <a:pPr algn="l"/>
            <a:r>
              <a:rPr lang="en-US" altLang="zh-CN" sz="1800" b="0" i="0" u="none" strike="noStrike" baseline="0" dirty="0">
                <a:latin typeface="HelveticaNeue-MediumCond"/>
              </a:rPr>
              <a:t>11.7.1.2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应作为本过程输入的项目文件包括（但不限于）：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节。问题日志用于检查未决问题是否已更新，并对风险登记册进行必要更新。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节。在项目早期获得的与风险相关的经验教训可用于项目后期阶段。</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的主要内容包括；已识别单个项目风险、风险责任人、商定的风险应对策略，以及具体的应对措施。它可能还会提供其他详细信息，包括用于评估应对计划有效性的控制措施、风险的症状和预警信号、残余及次生风险，以及低优先级风险观察清单。</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节。风险报告包括对当前整体项目风险敞口的评估，以及商定的风险应对策略，还会描述重要的单个项目风险及其应对计划和风险责任人。</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4.3.3.2 </a:t>
            </a:r>
            <a:r>
              <a:rPr lang="zh-CN" altLang="en-US" sz="1800" b="0" i="0" u="none" strike="noStrike" baseline="0" dirty="0">
                <a:latin typeface="SourceHanSansSC-Regular"/>
              </a:rPr>
              <a:t>节。工作绩效数据包含关于项目状态的信息，例如，已实施的风险应对措施、已发生的风险、仍活跃及已关闭的风险。</a:t>
            </a:r>
          </a:p>
          <a:p>
            <a:pPr algn="l"/>
            <a:r>
              <a:rPr lang="en-US" altLang="zh-CN" sz="1800" b="0" i="0" u="none" strike="noStrike" baseline="0" dirty="0">
                <a:latin typeface="HelveticaNeue-MediumCond"/>
              </a:rPr>
              <a:t>11.7.1.4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4.5.3.1 </a:t>
            </a:r>
            <a:r>
              <a:rPr lang="zh-CN" altLang="en-US" sz="1800" b="0" i="0" u="none" strike="noStrike" baseline="0" dirty="0">
                <a:latin typeface="SourceHanSansSC-Regular"/>
              </a:rPr>
              <a:t>节。工作绩效报告是通过分析绩效测量结果而得到的，能够提供关于项目工作绩效的信</a:t>
            </a:r>
          </a:p>
          <a:p>
            <a:pPr algn="l"/>
            <a:r>
              <a:rPr lang="zh-CN" altLang="en-US" sz="1800" b="0" i="0" u="none" strike="noStrike" baseline="0" dirty="0">
                <a:latin typeface="SourceHanSansSC-Regular"/>
              </a:rPr>
              <a:t>息，包括偏差分析结果、挣值数据和预测数据。在监督与绩效相关的风险时，需要使用这些信息。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extLst>
      <p:ext uri="{BB962C8B-B14F-4D97-AF65-F5344CB8AC3E}">
        <p14:creationId xmlns:p14="http://schemas.microsoft.com/office/powerpoint/2010/main" val="54599656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11.7.2 </a:t>
            </a:r>
            <a:r>
              <a:rPr lang="zh-CN" altLang="en-US" sz="1800" b="0" i="0" u="none" strike="noStrike" baseline="0" dirty="0">
                <a:latin typeface="SourceHanSansSC-Medium"/>
              </a:rPr>
              <a:t>监督风险：工具与技术</a:t>
            </a:r>
          </a:p>
          <a:p>
            <a:pPr algn="l"/>
            <a:r>
              <a:rPr lang="en-US" altLang="zh-CN" sz="1800" b="0" i="0" u="none" strike="noStrike" baseline="0" dirty="0">
                <a:latin typeface="HelveticaNeue-MediumCond"/>
              </a:rPr>
              <a:t>11.7.2.1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技术绩效分析。</a:t>
            </a:r>
            <a:r>
              <a:rPr lang="zh-CN" altLang="en-US" sz="1800" b="0" i="0" u="none" strike="noStrike" baseline="0" dirty="0">
                <a:latin typeface="SourceHanSansSC-Regular"/>
              </a:rPr>
              <a:t>开展技术绩效分析，把项目执行期间所取得的技术成果与取得相关技术成果的计划进行比较。它要求定义关于技术绩效的客观的、量化的测量指标，以便据此比较实际结果与计划要求。技术绩效测量指标可能包括：重量、处理时间、缺陷数量、储存容量等。实际结果偏离计划的程度可以代表威胁或机会的潜在影响。</a:t>
            </a:r>
          </a:p>
          <a:p>
            <a:pPr algn="l"/>
            <a:r>
              <a:rPr lang="en-US" altLang="zh-CN" sz="1800" b="0" i="0" u="none" strike="noStrike" baseline="0" dirty="0">
                <a:latin typeface="Wingdings-Regular"/>
              </a:rPr>
              <a:t>  </a:t>
            </a:r>
            <a:r>
              <a:rPr lang="zh-CN" altLang="en-US" sz="1800" b="1" i="0" u="none" strike="noStrike" baseline="0" dirty="0">
                <a:latin typeface="SourceHanSansSC-Bold"/>
              </a:rPr>
              <a:t>储备分析。</a:t>
            </a:r>
            <a:r>
              <a:rPr lang="zh-CN" altLang="en-US" sz="1800" b="0" i="0" u="none" strike="noStrike" baseline="0" dirty="0">
                <a:latin typeface="SourceHanSansSC-Regular"/>
              </a:rPr>
              <a:t>见 </a:t>
            </a:r>
            <a:r>
              <a:rPr lang="en-US" altLang="zh-CN" sz="1800" b="0" i="0" u="none" strike="noStrike" baseline="0" dirty="0">
                <a:latin typeface="HelveticaNeue-Condensed"/>
              </a:rPr>
              <a:t>7.2.2.6 </a:t>
            </a:r>
            <a:r>
              <a:rPr lang="zh-CN" altLang="en-US" sz="1800" b="0" i="0" u="none" strike="noStrike" baseline="0" dirty="0">
                <a:latin typeface="SourceHanSansSC-Regular"/>
              </a:rPr>
              <a:t>节。在整个项目执行期间，可能发生某些单个项目风险，对预算和进度应急储备产生正面或负面的影响。储备分析是指在项目的任一时点比较剩余应急储备与剩余风险量，从而确定剩余储备是否仍然合理。可以用各种图形（如燃尽图）来显示应急储备的消耗情况。</a:t>
            </a:r>
          </a:p>
          <a:p>
            <a:pPr algn="l"/>
            <a:r>
              <a:rPr lang="en-US" altLang="zh-CN" sz="1800" b="0" i="0" u="none" strike="noStrike" baseline="0" dirty="0">
                <a:latin typeface="HelveticaNeue-MediumCond"/>
              </a:rPr>
              <a:t>11.7.2.2 </a:t>
            </a:r>
            <a:r>
              <a:rPr lang="zh-CN" altLang="en-US" sz="1800" b="0" i="0" u="none" strike="noStrike" baseline="0" dirty="0">
                <a:latin typeface="SourceHanSansSC-Medium"/>
              </a:rPr>
              <a:t>审计</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8.2.2.5 </a:t>
            </a:r>
            <a:r>
              <a:rPr lang="zh-CN" altLang="en-US" sz="1800" b="0" i="0" u="none" strike="noStrike" baseline="0" dirty="0">
                <a:latin typeface="SourceHanSansSC-Regular"/>
              </a:rPr>
              <a:t>节。风险审计是一种审计类型，可用于评估风险管理过程的有效性。项目经理负责确保按项目风险管理计划所规定的频率开展风险审计。风险审计可以在日常项目审查会上开展，可以在风险审查会上开展，团队也可以召开专门的风险审计会。在实施审计前，应明确定义风险审计的程序和目标。</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11.7.2.3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适用于本过程的会议包括（但不限于）风险审查会。应该定期安排风险审查，来检查和记录风险应对在处理整体项目风险和已识别单个项目风险方面的有效性。在风险审查中，还可以识别出新的单个项目风险（包括已商定应对措施所引发的次生风险），重新评估当前风险，关闭已过时风险，讨论风险发生所引发的问题，以及总结可用于当前项目后续阶段或未来类似项目的经验教训。根据风险管理计划的规定，风险审查可以是定期项目状态会中的一项议程，或者也可以召开专门的风险审查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3109356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34489548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9425" y="1279525"/>
            <a:ext cx="6140450" cy="3454400"/>
          </a:xfrm>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11.7.3 </a:t>
            </a:r>
            <a:r>
              <a:rPr lang="zh-CN" altLang="en-US" sz="1800" b="0" i="0" u="none" strike="noStrike" baseline="0" dirty="0">
                <a:latin typeface="SourceHanSansSC-Medium"/>
              </a:rPr>
              <a:t>监督风险：输出</a:t>
            </a:r>
          </a:p>
          <a:p>
            <a:pPr algn="l"/>
            <a:r>
              <a:rPr lang="en-US" altLang="zh-CN" sz="1800" b="0" i="0" u="none" strike="noStrike" baseline="0" dirty="0">
                <a:latin typeface="HelveticaNeue-MediumCond"/>
              </a:rPr>
              <a:t>11.7.3.1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4.5.1.3 </a:t>
            </a:r>
            <a:r>
              <a:rPr lang="zh-CN" altLang="en-US" sz="1800" b="0" i="0" u="none" strike="noStrike" baseline="0" dirty="0">
                <a:latin typeface="SourceHanSansSC-Regular"/>
              </a:rPr>
              <a:t>节。工作绩效信息是经过比较单个风险的实际发生情况和预计发生情况，所得到的关于项目风险管理执行绩效的信息。它可以说明风险应对规划和应对实施过程的有效性。</a:t>
            </a:r>
          </a:p>
          <a:p>
            <a:pPr algn="l"/>
            <a:r>
              <a:rPr lang="en-US" altLang="zh-CN" sz="1800" b="0" i="0" u="none" strike="noStrike" baseline="0" dirty="0">
                <a:latin typeface="HelveticaNeue-MediumCond"/>
              </a:rPr>
              <a:t>11.7.3.2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节。执行监督风险过程后，可能会就成本基准和进度基准，或项目管理计划的其他组件提出变更请求，应该通过实施整体变更控制过程（见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节）对变更请求进行审查和处理。变更请求可能包括：建议的纠正与预防措施，以处理当前整体项目风险级别或单个项目风险。</a:t>
            </a:r>
          </a:p>
          <a:p>
            <a:pPr algn="l"/>
            <a:r>
              <a:rPr lang="en-US" altLang="zh-CN" sz="1800" b="0" i="0" u="none" strike="noStrike" baseline="0" dirty="0">
                <a:latin typeface="HelveticaNeue-MediumCond"/>
              </a:rPr>
              <a:t>11.7.3.3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项目管理计划的任何变更都以变更请求的形式提出，且通过组织的变更控制过程进行处理。项目管理计划的任何组件都可能受本过程的影响。</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11.7.3.4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节。在监督风险过程中，可能做出新的假设、识别出新的制约因素，或者现有假设条件或制约因素可能被重新审查和修改。需要更新假设日志，记录这些新信息。</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节。作为监督风险过程的一部分，已识别的问题会记录到问题日志中。</a:t>
            </a:r>
          </a:p>
          <a:p>
            <a:pPr algn="l"/>
            <a:r>
              <a:rPr lang="en-US" altLang="zh-CN" sz="1800" b="0" i="0" u="none" strike="noStrike" baseline="0" dirty="0">
                <a:latin typeface="Wingdings-Regular"/>
              </a:rPr>
              <a:t>  </a:t>
            </a:r>
            <a:r>
              <a:rPr lang="zh-CN" altLang="en-US" sz="1800" b="0" i="0" u="none" strike="noStrike" baseline="0" dirty="0">
                <a:latin typeface="SourceHanSansSC-Regular"/>
              </a:rPr>
              <a:t>经</a:t>
            </a:r>
            <a:r>
              <a:rPr lang="zh-CN" altLang="en-US" sz="1800" b="1" i="0" u="none" strike="noStrike" baseline="0" dirty="0">
                <a:latin typeface="SourceHanSansSC-Bold"/>
              </a:rPr>
              <a:t>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节。更新经验教训登记册，记录风险审查期间得到的任何与风险相关的经验教训，以便用于项目的后期阶段或未来项目。</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节。更新风险登记册，记录在监督风险过程中产生的关于单个项目风险的信息，可能包括添加新风险、更新已过时风险或已发生风险，以及更新风险应对措施，等等。</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应该随着监督风险过程生成新信息，而更新风险报告，反映重要单个项目风险的当前状态，以及整体项目风险的当前级别。风险报告还可能包括有关的详细信息，诸如最高优先级单个项目风险、已商定的应对措施和责任人，以及结论与建议。风险报告也可以收录风险审计给出的关于风险管理过程有效性的的结论。</a:t>
            </a:r>
          </a:p>
          <a:p>
            <a:pPr algn="l"/>
            <a:r>
              <a:rPr lang="en-US" altLang="zh-CN" sz="1800" b="0" i="0" u="none" strike="noStrike" baseline="0" dirty="0">
                <a:latin typeface="HelveticaNeue-MediumCond"/>
              </a:rPr>
              <a:t>11.7.3.5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可在本过程更新的组织过程资产包括（但不限于）：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风险管理计划、风险登记册和风险报告的模板；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风险分解结构。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103</a:t>
            </a:fld>
            <a:endParaRPr lang="zh-CN" altLang="en-US"/>
          </a:p>
        </p:txBody>
      </p:sp>
    </p:spTree>
    <p:extLst>
      <p:ext uri="{BB962C8B-B14F-4D97-AF65-F5344CB8AC3E}">
        <p14:creationId xmlns:p14="http://schemas.microsoft.com/office/powerpoint/2010/main" val="3196149176"/>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这个项目存在什么问题？</a:t>
            </a:r>
            <a:endParaRPr lang="en-US" altLang="zh-CN" dirty="0"/>
          </a:p>
          <a:p>
            <a:r>
              <a:rPr lang="zh-CN" altLang="en-US" dirty="0"/>
              <a:t>存在公司内部管理问题，组织架构不太合理，整个项目的经理缺位；存在内部沟通问题，工程部和市场部人员责任性不强，工作不到位，把研发经理的话当耳边风；存在与客户的沟通问题，客户在有问题时没有人顾问，不知道向谁反映，很恼火，售后服务人员工作差。</a:t>
            </a:r>
            <a:endParaRPr lang="en-US" altLang="zh-CN" dirty="0"/>
          </a:p>
          <a:p>
            <a:r>
              <a:rPr lang="zh-CN" altLang="en-US" dirty="0"/>
              <a:t>调整组织架构，明确项目经理，制定好沟通计划，切实做好沟通工作，检查、记录沟通情况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026877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xmlns="">
                <a:solidFill>
                  <a:srgbClr val="003366"/>
                </a:solidFill>
              </a14:hiddenFill>
            </a:ext>
            <a:ext uri="{91240B29-F687-4f45-9708-019B960494DF}">
              <a14:hiddenLine xmlns:a14="http://schemas.microsoft.com/office/drawing/2010/main" xmlns="" w="25400" algn="ctr">
                <a:solidFill>
                  <a:schemeClr val="tx1"/>
                </a:solidFill>
                <a:miter lim="800000"/>
                <a:headEnd/>
                <a:tailEnd/>
              </a14:hiddenLine>
            </a:ext>
            <a:ext uri="{AF507438-7753-43e0-B8FC-AC1667EBCBE1}">
              <a14:hiddenEffects xmlns:a14="http://schemas.microsoft.com/office/drawing/2010/main" xmlns="">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2026年4月24日星期五</a:t>
            </a:fld>
            <a:endParaRPr lang="en-US" altLang="zh-CN" sz="1800" dirty="0">
              <a:solidFill>
                <a:srgbClr val="333333"/>
              </a:solidFill>
              <a:effectLst>
                <a:outerShdw blurRad="38100" dist="38100" dir="2700000" algn="tl">
                  <a:srgbClr val="C0C0C0"/>
                </a:outerShdw>
              </a:effectLst>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295400"/>
            <a:ext cx="10871200" cy="5029200"/>
          </a:xfrm>
        </p:spPr>
        <p:txBody>
          <a:bodyPr/>
          <a:lstStyle/>
          <a:p>
            <a:pPr lvl="0"/>
            <a:endParaRPr lang="zh-CN" altLang="en-US" noProof="0"/>
          </a:p>
        </p:txBody>
      </p:sp>
      <p:sp>
        <p:nvSpPr>
          <p:cNvPr id="4" name="Rectangle 5">
            <a:extLst>
              <a:ext uri="{FF2B5EF4-FFF2-40B4-BE49-F238E27FC236}">
                <a16:creationId xmlns:a16="http://schemas.microsoft.com/office/drawing/2014/main" id="{A532580D-3A81-4AE5-B670-37E54C03CB3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89FC579-CBBD-4C8E-A858-E5E014126C56}"/>
              </a:ext>
            </a:extLst>
          </p:cNvPr>
          <p:cNvSpPr>
            <a:spLocks noGrp="1" noChangeArrowheads="1"/>
          </p:cNvSpPr>
          <p:nvPr>
            <p:ph type="sldNum" sz="quarter" idx="11"/>
          </p:nvPr>
        </p:nvSpPr>
        <p:spPr>
          <a:ln/>
        </p:spPr>
        <p:txBody>
          <a:bodyPr/>
          <a:lstStyle>
            <a:lvl1pPr>
              <a:defRPr/>
            </a:lvl1pPr>
          </a:lstStyle>
          <a:p>
            <a:fld id="{10D0B849-B9EA-4D5C-8888-A554DC678B31}" type="slidenum">
              <a:rPr lang="zh-CN" altLang="en-US"/>
              <a:pPr/>
              <a:t>‹#›</a:t>
            </a:fld>
            <a:endParaRPr lang="en-US" altLang="zh-CN"/>
          </a:p>
        </p:txBody>
      </p:sp>
    </p:spTree>
    <p:extLst>
      <p:ext uri="{BB962C8B-B14F-4D97-AF65-F5344CB8AC3E}">
        <p14:creationId xmlns:p14="http://schemas.microsoft.com/office/powerpoint/2010/main" val="270767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tanghm@zju.edu.cn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2022年6月5日星期日</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295400"/>
            <a:ext cx="10871200" cy="5029200"/>
          </a:xfrm>
        </p:spPr>
        <p:txBody>
          <a:bodyPr/>
          <a:lstStyle/>
          <a:p>
            <a:pPr lvl="0"/>
            <a:endParaRPr lang="zh-CN" altLang="en-US" noProof="0"/>
          </a:p>
        </p:txBody>
      </p:sp>
      <p:sp>
        <p:nvSpPr>
          <p:cNvPr id="4" name="Rectangle 5">
            <a:extLst>
              <a:ext uri="{FF2B5EF4-FFF2-40B4-BE49-F238E27FC236}">
                <a16:creationId xmlns:a16="http://schemas.microsoft.com/office/drawing/2014/main" id="{A532580D-3A81-4AE5-B670-37E54C03CB3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89FC579-CBBD-4C8E-A858-E5E014126C56}"/>
              </a:ext>
            </a:extLst>
          </p:cNvPr>
          <p:cNvSpPr>
            <a:spLocks noGrp="1" noChangeArrowheads="1"/>
          </p:cNvSpPr>
          <p:nvPr>
            <p:ph type="sldNum" sz="quarter" idx="11"/>
          </p:nvPr>
        </p:nvSpPr>
        <p:spPr>
          <a:ln/>
        </p:spPr>
        <p:txBody>
          <a:bodyPr/>
          <a:lstStyle>
            <a:lvl1pPr>
              <a:defRPr/>
            </a:lvl1pPr>
          </a:lstStyle>
          <a:p>
            <a:fld id="{10D0B849-B9EA-4D5C-8888-A554DC678B31}" type="slidenum">
              <a:rPr lang="zh-CN" altLang="en-US"/>
              <a:pPr/>
              <a:t>‹#›</a:t>
            </a:fld>
            <a:endParaRPr lang="en-US" altLang="zh-CN"/>
          </a:p>
        </p:txBody>
      </p:sp>
    </p:spTree>
    <p:extLst>
      <p:ext uri="{BB962C8B-B14F-4D97-AF65-F5344CB8AC3E}">
        <p14:creationId xmlns:p14="http://schemas.microsoft.com/office/powerpoint/2010/main" val="27076749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30532"/>
            <a:ext cx="10972800" cy="5133791"/>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5" name="标题 1">
            <a:extLst>
              <a:ext uri="{FF2B5EF4-FFF2-40B4-BE49-F238E27FC236}">
                <a16:creationId xmlns:a16="http://schemas.microsoft.com/office/drawing/2014/main" id="{68D1735F-82A4-4C4B-92C9-B5B47D4B40C0}"/>
              </a:ext>
            </a:extLst>
          </p:cNvPr>
          <p:cNvSpPr>
            <a:spLocks noGrp="1"/>
          </p:cNvSpPr>
          <p:nvPr>
            <p:ph type="title" hasCustomPrompt="1"/>
          </p:nvPr>
        </p:nvSpPr>
        <p:spPr>
          <a:xfrm>
            <a:off x="631767" y="593679"/>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09600" y="664541"/>
            <a:ext cx="10972800" cy="357925"/>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
        <p:nvSpPr>
          <p:cNvPr id="3" name="内容占位符 2">
            <a:extLst>
              <a:ext uri="{FF2B5EF4-FFF2-40B4-BE49-F238E27FC236}">
                <a16:creationId xmlns:a16="http://schemas.microsoft.com/office/drawing/2014/main" id="{C865B6CD-4809-455D-B23A-F07AA2E94CF8}"/>
              </a:ext>
            </a:extLst>
          </p:cNvPr>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2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Tree>
    <p:extLst>
      <p:ext uri="{BB962C8B-B14F-4D97-AF65-F5344CB8AC3E}">
        <p14:creationId xmlns:p14="http://schemas.microsoft.com/office/powerpoint/2010/main" val="100628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09600" y="152401"/>
            <a:ext cx="11074400" cy="563563"/>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09600" y="1295400"/>
            <a:ext cx="5334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146800" y="1295400"/>
            <a:ext cx="5334000" cy="5029200"/>
          </a:xfrm>
        </p:spPr>
        <p:txBody>
          <a:bodyPr/>
          <a:lstStyle/>
          <a:p>
            <a:pPr lvl="0"/>
            <a:endParaRPr lang="zh-CN" altLang="en-US" noProof="0"/>
          </a:p>
        </p:txBody>
      </p:sp>
      <p:sp>
        <p:nvSpPr>
          <p:cNvPr id="5" name="Rectangle 5">
            <a:extLst>
              <a:ext uri="{FF2B5EF4-FFF2-40B4-BE49-F238E27FC236}">
                <a16:creationId xmlns:a16="http://schemas.microsoft.com/office/drawing/2014/main" id="{FDF858DC-089D-40F8-A3D0-553655273A9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A2B730-A039-4E4B-B38A-964AA2E470FD}"/>
              </a:ext>
            </a:extLst>
          </p:cNvPr>
          <p:cNvSpPr>
            <a:spLocks noGrp="1" noChangeArrowheads="1"/>
          </p:cNvSpPr>
          <p:nvPr>
            <p:ph type="sldNum" sz="quarter" idx="11"/>
          </p:nvPr>
        </p:nvSpPr>
        <p:spPr>
          <a:ln/>
        </p:spPr>
        <p:txBody>
          <a:bodyPr/>
          <a:lstStyle>
            <a:lvl1pPr>
              <a:defRPr/>
            </a:lvl1pPr>
          </a:lstStyle>
          <a:p>
            <a:fld id="{977D6EB3-5EF8-4846-B599-FD77C496BB60}" type="slidenum">
              <a:rPr lang="zh-CN" altLang="en-US"/>
              <a:pPr/>
              <a:t>‹#›</a:t>
            </a:fld>
            <a:endParaRPr lang="en-US" altLang="zh-CN"/>
          </a:p>
        </p:txBody>
      </p:sp>
    </p:spTree>
    <p:extLst>
      <p:ext uri="{BB962C8B-B14F-4D97-AF65-F5344CB8AC3E}">
        <p14:creationId xmlns:p14="http://schemas.microsoft.com/office/powerpoint/2010/main" val="3783142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gif"/><Relationship Id="rId2" Type="http://schemas.openxmlformats.org/officeDocument/2006/relationships/slideLayout" Target="../slideLayouts/slideLayout20.xml"/><Relationship Id="rId1" Type="http://schemas.openxmlformats.org/officeDocument/2006/relationships/slideLayout" Target="../slideLayouts/slideLayout10.xml"/><Relationship Id="rId6" Type="http://schemas.openxmlformats.org/officeDocument/2006/relationships/theme" Target="../theme/theme10.xml"/><Relationship Id="rId5" Type="http://schemas.openxmlformats.org/officeDocument/2006/relationships/slideLayout" Target="../slideLayouts/slideLayout50.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60" r:id="rId1"/>
    <p:sldLayoutId id="2147483657" r:id="rId2"/>
    <p:sldLayoutId id="2147483650" r:id="rId3"/>
    <p:sldLayoutId id="2147483658"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0" r:id="rId3"/>
    <p:sldLayoutId id="2147483658" r:id="rId4"/>
    <p:sldLayoutId id="2147483659"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photo.blog.sina.com.cn/showpic.html#blogid=493a84550100bdxw&amp;url=http://static9.photo.sina.com.cn/orignal/493a8455g59225af7a948"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4.wmf"/><Relationship Id="rId18" Type="http://schemas.openxmlformats.org/officeDocument/2006/relationships/oleObject" Target="../embeddings/oleObject10.bin"/><Relationship Id="rId26" Type="http://schemas.openxmlformats.org/officeDocument/2006/relationships/image" Target="../media/image20.wmf"/><Relationship Id="rId3" Type="http://schemas.openxmlformats.org/officeDocument/2006/relationships/oleObject" Target="../embeddings/oleObject2.bin"/><Relationship Id="rId21" Type="http://schemas.openxmlformats.org/officeDocument/2006/relationships/image" Target="../media/image18.wmf"/><Relationship Id="rId7" Type="http://schemas.openxmlformats.org/officeDocument/2006/relationships/oleObject" Target="../embeddings/oleObject4.bin"/><Relationship Id="rId12" Type="http://schemas.openxmlformats.org/officeDocument/2006/relationships/oleObject" Target="../embeddings/oleObject7.bin"/><Relationship Id="rId17" Type="http://schemas.openxmlformats.org/officeDocument/2006/relationships/image" Target="../media/image16.wmf"/><Relationship Id="rId25" Type="http://schemas.openxmlformats.org/officeDocument/2006/relationships/oleObject" Target="../embeddings/oleObject13.bin"/><Relationship Id="rId2" Type="http://schemas.openxmlformats.org/officeDocument/2006/relationships/notesSlide" Target="../notesSlides/notesSlide20.xml"/><Relationship Id="rId16" Type="http://schemas.openxmlformats.org/officeDocument/2006/relationships/oleObject" Target="../embeddings/oleObject9.bin"/><Relationship Id="rId20" Type="http://schemas.openxmlformats.org/officeDocument/2006/relationships/oleObject" Target="../embeddings/oleObject11.bin"/><Relationship Id="rId29" Type="http://schemas.openxmlformats.org/officeDocument/2006/relationships/oleObject" Target="../embeddings/oleObject15.bin"/><Relationship Id="rId1" Type="http://schemas.openxmlformats.org/officeDocument/2006/relationships/slideLayout" Target="../slideLayouts/slideLayout3.xml"/><Relationship Id="rId6" Type="http://schemas.openxmlformats.org/officeDocument/2006/relationships/image" Target="../media/image11.wmf"/><Relationship Id="rId11" Type="http://schemas.openxmlformats.org/officeDocument/2006/relationships/oleObject" Target="../embeddings/oleObject6.bin"/><Relationship Id="rId24" Type="http://schemas.openxmlformats.org/officeDocument/2006/relationships/image" Target="../media/image19.wmf"/><Relationship Id="rId5" Type="http://schemas.openxmlformats.org/officeDocument/2006/relationships/oleObject" Target="../embeddings/oleObject3.bin"/><Relationship Id="rId15" Type="http://schemas.openxmlformats.org/officeDocument/2006/relationships/image" Target="../media/image15.wmf"/><Relationship Id="rId23" Type="http://schemas.openxmlformats.org/officeDocument/2006/relationships/oleObject" Target="../embeddings/oleObject12.bin"/><Relationship Id="rId28" Type="http://schemas.openxmlformats.org/officeDocument/2006/relationships/image" Target="../media/image21.wmf"/><Relationship Id="rId10" Type="http://schemas.openxmlformats.org/officeDocument/2006/relationships/image" Target="../media/image13.wmf"/><Relationship Id="rId19" Type="http://schemas.openxmlformats.org/officeDocument/2006/relationships/image" Target="../media/image17.wmf"/><Relationship Id="rId4" Type="http://schemas.openxmlformats.org/officeDocument/2006/relationships/image" Target="../media/image10.wmf"/><Relationship Id="rId9" Type="http://schemas.openxmlformats.org/officeDocument/2006/relationships/oleObject" Target="../embeddings/oleObject5.bin"/><Relationship Id="rId14" Type="http://schemas.openxmlformats.org/officeDocument/2006/relationships/oleObject" Target="../embeddings/oleObject8.bin"/><Relationship Id="rId22" Type="http://schemas.openxmlformats.org/officeDocument/2006/relationships/image" Target="../media/image8.png"/><Relationship Id="rId27" Type="http://schemas.openxmlformats.org/officeDocument/2006/relationships/oleObject" Target="../embeddings/oleObject14.bin"/><Relationship Id="rId30" Type="http://schemas.openxmlformats.org/officeDocument/2006/relationships/image" Target="../media/image22.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230.png"/><Relationship Id="rId4" Type="http://schemas.openxmlformats.org/officeDocument/2006/relationships/slide" Target="slide4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3.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410.xml.rels><?xml version="1.0" encoding="UTF-8" standalone="yes"?>
<Relationships xmlns="http://schemas.openxmlformats.org/package/2006/relationships"><Relationship Id="rId2" Type="http://schemas.openxmlformats.org/officeDocument/2006/relationships/notesSlide" Target="../notesSlides/notesSlide41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
        <p:nvSpPr>
          <p:cNvPr id="2" name="矩形 1">
            <a:extLst>
              <a:ext uri="{FF2B5EF4-FFF2-40B4-BE49-F238E27FC236}">
                <a16:creationId xmlns:a16="http://schemas.microsoft.com/office/drawing/2014/main" id="{5DB8AACA-A00C-9219-1649-23B6D90F34C6}"/>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35869E5-7090-9678-2BAC-19D2DF98E88C}"/>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BE64ED94-F401-ED3E-62FE-EB01D5E2B9D2}"/>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3</a:t>
            </a:r>
            <a:r>
              <a:rPr lang="zh-CN" altLang="en-US" sz="1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星期三</a:t>
            </a:r>
            <a:endPar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72A50EAD-C602-8BB8-8FEE-76877F3FEF03}"/>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4" name="文本框 13">
            <a:extLst>
              <a:ext uri="{FF2B5EF4-FFF2-40B4-BE49-F238E27FC236}">
                <a16:creationId xmlns:a16="http://schemas.microsoft.com/office/drawing/2014/main" id="{7D3EE219-82DC-4901-AD84-DC2DD7E845F8}"/>
              </a:ext>
            </a:extLst>
          </p:cNvPr>
          <p:cNvSpPr>
            <a:spLocks noChangeArrowheads="1"/>
          </p:cNvSpPr>
          <p:nvPr/>
        </p:nvSpPr>
        <p:spPr bwMode="auto">
          <a:xfrm>
            <a:off x="2338647" y="2182504"/>
            <a:ext cx="2339794"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13</a:t>
            </a:r>
            <a:r>
              <a:rPr lang="zh-CN" altLang="en-US" sz="3750" b="1" dirty="0">
                <a:latin typeface="方正兰亭粗黑_GBK" charset="-122"/>
                <a:ea typeface="微软雅黑" pitchFamily="34" charset="-122"/>
              </a:rPr>
              <a:t>次课目录</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8" y="1654809"/>
            <a:ext cx="3726455" cy="401004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00B0F0"/>
                </a:solidFill>
                <a:latin typeface="Impact" panose="020B0806030902050204" pitchFamily="34" charset="0"/>
                <a:sym typeface="Impact" panose="020B0806030902050204" pitchFamily="34" charset="0"/>
              </a:rPr>
              <a:t>16    </a:t>
            </a:r>
            <a:r>
              <a:rPr lang="zh-CN" altLang="en-US" sz="2400" dirty="0">
                <a:solidFill>
                  <a:srgbClr val="00B0F0"/>
                </a:solidFill>
                <a:latin typeface="Impact" panose="020B0806030902050204" pitchFamily="34" charset="0"/>
                <a:sym typeface="Impact" panose="020B0806030902050204" pitchFamily="34" charset="0"/>
              </a:rPr>
              <a:t>项目沟通管理</a:t>
            </a:r>
            <a:endParaRPr lang="en-US" altLang="zh-CN" sz="2400" dirty="0">
              <a:solidFill>
                <a:srgbClr val="00B0F0"/>
              </a:solidFill>
              <a:latin typeface="Impact" panose="020B0806030902050204" pitchFamily="34" charset="0"/>
              <a:sym typeface="Impact" panose="020B0806030902050204" pitchFamily="34" charset="0"/>
            </a:endParaRPr>
          </a:p>
          <a:p>
            <a:pPr marL="457200" lvl="1" indent="0">
              <a:buNone/>
            </a:pPr>
            <a:r>
              <a:rPr lang="en-US" altLang="zh-CN" sz="2000" dirty="0">
                <a:solidFill>
                  <a:srgbClr val="00B0F0"/>
                </a:solidFill>
              </a:rPr>
              <a:t>16.1 </a:t>
            </a:r>
            <a:r>
              <a:rPr lang="zh-CN" altLang="en-US" sz="2000" dirty="0">
                <a:solidFill>
                  <a:srgbClr val="00B0F0"/>
                </a:solidFill>
              </a:rPr>
              <a:t>沟通与沟通管理</a:t>
            </a:r>
            <a:endParaRPr lang="en-US" altLang="zh-CN" sz="2000" dirty="0">
              <a:solidFill>
                <a:srgbClr val="00B0F0"/>
              </a:solidFill>
            </a:endParaRPr>
          </a:p>
          <a:p>
            <a:pPr marL="457200" lvl="1" indent="0">
              <a:buNone/>
            </a:pPr>
            <a:r>
              <a:rPr lang="en-US" altLang="zh-CN" sz="2000" dirty="0">
                <a:solidFill>
                  <a:srgbClr val="00B0F0"/>
                </a:solidFill>
              </a:rPr>
              <a:t>16.2 </a:t>
            </a:r>
            <a:r>
              <a:rPr lang="zh-CN" altLang="en-US" sz="2000" dirty="0">
                <a:solidFill>
                  <a:srgbClr val="00B0F0"/>
                </a:solidFill>
              </a:rPr>
              <a:t>规划沟通管理</a:t>
            </a:r>
            <a:endParaRPr lang="en-US" altLang="zh-CN" sz="2000" dirty="0">
              <a:solidFill>
                <a:srgbClr val="00B0F0"/>
              </a:solidFill>
            </a:endParaRPr>
          </a:p>
          <a:p>
            <a:pPr marL="457200" lvl="1" indent="0">
              <a:buNone/>
            </a:pPr>
            <a:r>
              <a:rPr lang="en-US" altLang="zh-CN" sz="2000" dirty="0">
                <a:solidFill>
                  <a:srgbClr val="00B0F0"/>
                </a:solidFill>
              </a:rPr>
              <a:t>16.3 </a:t>
            </a:r>
            <a:r>
              <a:rPr lang="zh-CN" altLang="en-US" sz="2000" dirty="0">
                <a:solidFill>
                  <a:srgbClr val="00B0F0"/>
                </a:solidFill>
              </a:rPr>
              <a:t>管理沟通 </a:t>
            </a:r>
            <a:endParaRPr lang="en-US" altLang="zh-CN" sz="2000" dirty="0">
              <a:solidFill>
                <a:srgbClr val="00B0F0"/>
              </a:solidFill>
            </a:endParaRPr>
          </a:p>
          <a:p>
            <a:pPr marL="457200" lvl="1" indent="0">
              <a:buNone/>
            </a:pPr>
            <a:r>
              <a:rPr lang="en-US" altLang="zh-CN" sz="2000" dirty="0">
                <a:solidFill>
                  <a:srgbClr val="00B0F0"/>
                </a:solidFill>
              </a:rPr>
              <a:t>16.4 </a:t>
            </a:r>
            <a:r>
              <a:rPr lang="zh-CN" altLang="en-US" sz="2000" dirty="0">
                <a:solidFill>
                  <a:srgbClr val="00B0F0"/>
                </a:solidFill>
              </a:rPr>
              <a:t>监督沟通</a:t>
            </a:r>
            <a:endParaRPr lang="en-US" altLang="zh-CN" sz="2000" dirty="0">
              <a:solidFill>
                <a:srgbClr val="00B0F0"/>
              </a:solidFill>
            </a:endParaRPr>
          </a:p>
          <a:p>
            <a:pPr marL="0" indent="0">
              <a:buNone/>
            </a:pPr>
            <a:r>
              <a:rPr lang="en-US" altLang="zh-CN" sz="2400" dirty="0">
                <a:latin typeface="Impact" panose="020B0806030902050204" pitchFamily="34" charset="0"/>
              </a:rPr>
              <a:t>17    </a:t>
            </a:r>
            <a:r>
              <a:rPr lang="zh-CN" altLang="en-US" sz="2400" dirty="0">
                <a:latin typeface="Impact" panose="020B0806030902050204" pitchFamily="34" charset="0"/>
              </a:rPr>
              <a:t>项目风险管理</a:t>
            </a:r>
            <a:endParaRPr lang="en-US" altLang="zh-CN" sz="2400" dirty="0">
              <a:latin typeface="Impact" panose="020B0806030902050204" pitchFamily="34" charset="0"/>
            </a:endParaRPr>
          </a:p>
        </p:txBody>
      </p:sp>
    </p:spTree>
    <p:extLst>
      <p:ext uri="{BB962C8B-B14F-4D97-AF65-F5344CB8AC3E}">
        <p14:creationId xmlns:p14="http://schemas.microsoft.com/office/powerpoint/2010/main" val="129871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A49CF7C-F518-4077-9D9D-918FF4A62DF4}"/>
              </a:ext>
            </a:extLst>
          </p:cNvPr>
          <p:cNvSpPr>
            <a:spLocks noGrp="1" noChangeArrowheads="1"/>
          </p:cNvSpPr>
          <p:nvPr>
            <p:ph type="title"/>
          </p:nvPr>
        </p:nvSpPr>
        <p:spPr>
          <a:xfrm>
            <a:off x="1305739" y="1396214"/>
            <a:ext cx="3838575" cy="437186"/>
          </a:xfrm>
          <a:prstGeom prst="rect">
            <a:avLst/>
          </a:prstGeom>
        </p:spPr>
        <p:txBody>
          <a:bodyPr/>
          <a:lstStyle/>
          <a:p>
            <a:pPr eaLnBrk="1" hangingPunct="1"/>
            <a:r>
              <a:rPr lang="zh-CN" altLang="en-US" sz="2000" dirty="0">
                <a:latin typeface="微软雅黑" panose="020B0503020204020204" pitchFamily="34" charset="-122"/>
              </a:rPr>
              <a:t>巴比伦塔的启示</a:t>
            </a:r>
          </a:p>
        </p:txBody>
      </p:sp>
      <p:sp>
        <p:nvSpPr>
          <p:cNvPr id="10243" name="AutoShape 7" descr="static9">
            <a:hlinkClick r:id="rId3"/>
            <a:extLst>
              <a:ext uri="{FF2B5EF4-FFF2-40B4-BE49-F238E27FC236}">
                <a16:creationId xmlns:a16="http://schemas.microsoft.com/office/drawing/2014/main" id="{6FB5EF4D-2C5A-4EDF-917D-9B6954F245A7}"/>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latin typeface="微软雅黑" panose="020B0503020204020204" pitchFamily="34" charset="-122"/>
              <a:ea typeface="微软雅黑" panose="020B0503020204020204" pitchFamily="34" charset="-122"/>
            </a:endParaRPr>
          </a:p>
        </p:txBody>
      </p:sp>
      <p:pic>
        <p:nvPicPr>
          <p:cNvPr id="10244" name="Picture 8">
            <a:extLst>
              <a:ext uri="{FF2B5EF4-FFF2-40B4-BE49-F238E27FC236}">
                <a16:creationId xmlns:a16="http://schemas.microsoft.com/office/drawing/2014/main" id="{C1C7FD45-BE9D-4E52-BEB8-A2FAA1B962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4365" y="2840080"/>
            <a:ext cx="3533787" cy="2358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10">
            <a:extLst>
              <a:ext uri="{FF2B5EF4-FFF2-40B4-BE49-F238E27FC236}">
                <a16:creationId xmlns:a16="http://schemas.microsoft.com/office/drawing/2014/main" id="{87A31F27-DAE7-4DE9-B8A7-63F1100F6A0F}"/>
              </a:ext>
            </a:extLst>
          </p:cNvPr>
          <p:cNvSpPr>
            <a:spLocks noChangeArrowheads="1"/>
          </p:cNvSpPr>
          <p:nvPr/>
        </p:nvSpPr>
        <p:spPr bwMode="auto">
          <a:xfrm>
            <a:off x="1305739" y="1756173"/>
            <a:ext cx="88491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dirty="0">
                <a:solidFill>
                  <a:schemeClr val="tx2"/>
                </a:solidFill>
                <a:latin typeface="微软雅黑" panose="020B0503020204020204" pitchFamily="34" charset="-122"/>
                <a:ea typeface="微软雅黑" panose="020B0503020204020204" pitchFamily="34" charset="-122"/>
              </a:rPr>
              <a:t>   据</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创世纪</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记载，巴比伦塔是人类继诺亚方舟之后的第二大工程壮举，但巴比伦塔同时也是一个彻底失败的工程。</a:t>
            </a:r>
            <a:endParaRPr lang="en-US" altLang="zh-CN" dirty="0">
              <a:solidFill>
                <a:schemeClr val="tx2"/>
              </a:solidFill>
              <a:latin typeface="微软雅黑" panose="020B0503020204020204" pitchFamily="34" charset="-122"/>
              <a:ea typeface="微软雅黑" panose="020B0503020204020204" pitchFamily="34" charset="-122"/>
            </a:endParaRPr>
          </a:p>
          <a:p>
            <a:pPr eaLnBrk="1" hangingPunct="1"/>
            <a:r>
              <a:rPr lang="zh-CN" altLang="en-US" dirty="0">
                <a:solidFill>
                  <a:schemeClr val="tx2"/>
                </a:solidFill>
                <a:latin typeface="微软雅黑" panose="020B0503020204020204" pitchFamily="34" charset="-122"/>
                <a:ea typeface="微软雅黑" panose="020B0503020204020204" pitchFamily="34" charset="-122"/>
              </a:rPr>
              <a:t>   为何拥有了清晰的目标，充足的人力和物力资源的项目最后仍然失败，他们缺乏什么？</a:t>
            </a:r>
          </a:p>
        </p:txBody>
      </p:sp>
      <p:sp>
        <p:nvSpPr>
          <p:cNvPr id="44" name="Rectangle 11">
            <a:extLst>
              <a:ext uri="{FF2B5EF4-FFF2-40B4-BE49-F238E27FC236}">
                <a16:creationId xmlns:a16="http://schemas.microsoft.com/office/drawing/2014/main" id="{9F5AAD4C-E412-463E-B276-7731BD741117}"/>
              </a:ext>
            </a:extLst>
          </p:cNvPr>
          <p:cNvSpPr>
            <a:spLocks noChangeArrowheads="1"/>
          </p:cNvSpPr>
          <p:nvPr/>
        </p:nvSpPr>
        <p:spPr bwMode="auto">
          <a:xfrm>
            <a:off x="1305739" y="5198321"/>
            <a:ext cx="5063311" cy="1138773"/>
          </a:xfrm>
          <a:prstGeom prst="rect">
            <a:avLst/>
          </a:prstGeom>
          <a:noFill/>
          <a:ln w="9525">
            <a:noFill/>
            <a:miter lim="800000"/>
            <a:headEnd/>
            <a:tailEnd/>
          </a:ln>
          <a:effectLst/>
        </p:spPr>
        <p:txBody>
          <a:bodyPr wrap="square">
            <a:spAutoFit/>
          </a:bodyPr>
          <a:lstStyle/>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微软雅黑" panose="020B0503020204020204" pitchFamily="34" charset="-122"/>
                <a:ea typeface="微软雅黑" panose="020B0503020204020204" pitchFamily="34" charset="-122"/>
              </a:rPr>
              <a:t> 信息的传递</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沟通和交流</a:t>
            </a:r>
          </a:p>
          <a:p>
            <a:pPr marL="342900" indent="-342900" eaLnBrk="0" hangingPunct="0">
              <a:lnSpc>
                <a:spcPct val="125000"/>
              </a:lnSpc>
              <a:buClr>
                <a:schemeClr val="hlink"/>
              </a:buClr>
              <a:buFont typeface="Wingdings" pitchFamily="2" charset="2"/>
              <a:buChar char="v"/>
              <a:defRPr/>
            </a:pPr>
            <a:r>
              <a:rPr lang="zh-CN" altLang="en-US" sz="2000" b="1" dirty="0">
                <a:solidFill>
                  <a:schemeClr val="tx2"/>
                </a:solidFill>
                <a:latin typeface="微软雅黑" panose="020B0503020204020204" pitchFamily="34" charset="-122"/>
                <a:ea typeface="微软雅黑" panose="020B0503020204020204" pitchFamily="34" charset="-122"/>
              </a:rPr>
              <a:t> 交流的结果</a:t>
            </a:r>
            <a:r>
              <a:rPr lang="en-US" altLang="zh-CN"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chemeClr val="tx2"/>
                </a:solidFill>
                <a:latin typeface="微软雅黑" panose="020B0503020204020204" pitchFamily="34" charset="-122"/>
                <a:ea typeface="微软雅黑" panose="020B0503020204020204" pitchFamily="34" charset="-122"/>
              </a:rPr>
              <a:t>组织在一起</a:t>
            </a:r>
          </a:p>
          <a:p>
            <a:pPr>
              <a:defRPr/>
            </a:pPr>
            <a:endParaRPr lang="zh-CN" altLang="en-US" dirty="0">
              <a:solidFill>
                <a:schemeClr val="tx2"/>
              </a:solidFill>
              <a:latin typeface="微软雅黑" pitchFamily="34" charset="-122"/>
              <a:ea typeface="微软雅黑" pitchFamily="34" charset="-122"/>
            </a:endParaRPr>
          </a:p>
        </p:txBody>
      </p:sp>
      <p:sp>
        <p:nvSpPr>
          <p:cNvPr id="7" name="Rectangle 11">
            <a:extLst>
              <a:ext uri="{FF2B5EF4-FFF2-40B4-BE49-F238E27FC236}">
                <a16:creationId xmlns:a16="http://schemas.microsoft.com/office/drawing/2014/main" id="{7E757EA4-FE31-4770-A2B3-41CD7333435D}"/>
              </a:ext>
            </a:extLst>
          </p:cNvPr>
          <p:cNvSpPr>
            <a:spLocks noChangeArrowheads="1"/>
          </p:cNvSpPr>
          <p:nvPr/>
        </p:nvSpPr>
        <p:spPr bwMode="auto">
          <a:xfrm>
            <a:off x="1305739" y="3188441"/>
            <a:ext cx="4962023" cy="1214435"/>
          </a:xfrm>
          <a:prstGeom prst="rect">
            <a:avLst/>
          </a:prstGeom>
          <a:noFill/>
          <a:ln w="9525">
            <a:noFill/>
            <a:miter lim="800000"/>
            <a:headEnd/>
            <a:tailEnd/>
          </a:ln>
          <a:effectLst/>
        </p:spPr>
        <p:txBody>
          <a:bodyPr wrap="square">
            <a:spAutoFit/>
          </a:bodyPr>
          <a:lstStyle/>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客户：口头要求产品特性去哪儿了？</a:t>
            </a:r>
            <a:endParaRPr lang="en-US" altLang="zh-CN" b="1" dirty="0">
              <a:solidFill>
                <a:schemeClr val="tx2"/>
              </a:solidFill>
              <a:latin typeface="微软雅黑" panose="020B0503020204020204" pitchFamily="34" charset="-122"/>
              <a:ea typeface="微软雅黑" panose="020B0503020204020204" pitchFamily="34" charset="-122"/>
            </a:endParaRPr>
          </a:p>
          <a:p>
            <a:pPr eaLnBrk="0" hangingPunct="0">
              <a:lnSpc>
                <a:spcPct val="125000"/>
              </a:lnSpc>
              <a:buClr>
                <a:schemeClr val="hlink"/>
              </a:buClr>
              <a:defRPr/>
            </a:pPr>
            <a:endParaRPr lang="en-US" altLang="zh-CN" sz="600" b="1" dirty="0">
              <a:solidFill>
                <a:schemeClr val="tx2"/>
              </a:solidFill>
              <a:latin typeface="微软雅黑" panose="020B0503020204020204" pitchFamily="34" charset="-122"/>
              <a:ea typeface="微软雅黑" panose="020B0503020204020204" pitchFamily="34" charset="-122"/>
            </a:endParaRPr>
          </a:p>
          <a:p>
            <a:pPr eaLnBrk="0" hangingPunct="0">
              <a:lnSpc>
                <a:spcPct val="125000"/>
              </a:lnSpc>
              <a:buClr>
                <a:schemeClr val="hlink"/>
              </a:buClr>
              <a:defRPr/>
            </a:pPr>
            <a:r>
              <a:rPr lang="zh-CN" altLang="en-US" b="1" dirty="0">
                <a:solidFill>
                  <a:schemeClr val="tx2"/>
                </a:solidFill>
                <a:latin typeface="微软雅黑" panose="020B0503020204020204" pitchFamily="34" charset="-122"/>
                <a:ea typeface="微软雅黑" panose="020B0503020204020204" pitchFamily="34" charset="-122"/>
              </a:rPr>
              <a:t>项目经理：程序员在设计评审时描述了的模块架构怎么就变了？</a:t>
            </a:r>
          </a:p>
        </p:txBody>
      </p:sp>
      <p:sp>
        <p:nvSpPr>
          <p:cNvPr id="2" name="矩形 1">
            <a:extLst>
              <a:ext uri="{FF2B5EF4-FFF2-40B4-BE49-F238E27FC236}">
                <a16:creationId xmlns:a16="http://schemas.microsoft.com/office/drawing/2014/main" id="{91C3BF91-705C-4FA9-841E-9C1A7624BCB6}"/>
              </a:ext>
            </a:extLst>
          </p:cNvPr>
          <p:cNvSpPr/>
          <p:nvPr/>
        </p:nvSpPr>
        <p:spPr>
          <a:xfrm>
            <a:off x="2086733" y="4727148"/>
            <a:ext cx="2276585" cy="369332"/>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都是沟通出了问题！</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27F3EBB0-4F1A-4C6A-B511-D462FBBBFDAF}"/>
              </a:ext>
            </a:extLst>
          </p:cNvPr>
          <p:cNvSpPr/>
          <p:nvPr/>
        </p:nvSpPr>
        <p:spPr>
          <a:xfrm>
            <a:off x="2189659" y="803311"/>
            <a:ext cx="2954655" cy="461665"/>
          </a:xfrm>
          <a:prstGeom prst="rect">
            <a:avLst/>
          </a:prstGeom>
        </p:spPr>
        <p:txBody>
          <a:bodyPr wrap="none">
            <a:spAutoFit/>
          </a:bodyPr>
          <a:lstStyle/>
          <a:p>
            <a:r>
              <a:rPr lang="zh-CN" altLang="en-US" sz="2400" b="1" dirty="0">
                <a:solidFill>
                  <a:srgbClr val="660033"/>
                </a:solidFill>
                <a:latin typeface="微软雅黑" panose="020B0503020204020204" pitchFamily="34" charset="-122"/>
                <a:ea typeface="微软雅黑" panose="020B0503020204020204" pitchFamily="34" charset="-122"/>
              </a:rPr>
              <a:t>为什么要进行沟通？</a:t>
            </a:r>
            <a:endParaRPr lang="en-US" altLang="zh-CN" sz="2400" b="1" dirty="0">
              <a:solidFill>
                <a:srgbClr val="660033"/>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D4FAD4-C3A9-BF5D-DB95-19E113C89331}"/>
              </a:ext>
            </a:extLst>
          </p:cNvPr>
          <p:cNvSpPr>
            <a:spLocks noGrp="1"/>
          </p:cNvSpPr>
          <p:nvPr>
            <p:ph idx="1"/>
          </p:nvPr>
        </p:nvSpPr>
        <p:spPr>
          <a:xfrm>
            <a:off x="609600" y="606023"/>
            <a:ext cx="10972800" cy="5913535"/>
          </a:xfrm>
        </p:spPr>
        <p:txBody>
          <a:bodyPr/>
          <a:lstStyle/>
          <a:p>
            <a:pPr>
              <a:lnSpc>
                <a:spcPct val="110000"/>
              </a:lnSpc>
            </a:pPr>
            <a:r>
              <a:rPr lang="zh-CN" altLang="en-US" dirty="0"/>
              <a:t>开篇案例</a:t>
            </a:r>
            <a:endParaRPr lang="en-US" altLang="zh-CN" dirty="0"/>
          </a:p>
          <a:p>
            <a:pPr marL="0" indent="0">
              <a:lnSpc>
                <a:spcPct val="110000"/>
              </a:lnSpc>
              <a:buNone/>
            </a:pPr>
            <a:r>
              <a:rPr lang="zh-CN" altLang="en-US" sz="1800" dirty="0"/>
              <a:t>    一家创新公司承接了一个信息系统项目，这个项目的主要研发内容是在公司已有产品的基础上，针对用户需求进行定制化改造，其中有一个新的设备是为该客户定制研发的。公司采用职能式组织架构，公司总经理充当了项目经理，市场部负责项目合同的签订，工程部负责工程安装和售后服务，陈先生是研发部经理，负责该项目的软硬件研发。研发部根据市场部与客户签订的合同进行了系统研发，测试完成后，在市场部的协调下，工程部将其安装到客户现场并完成了调试，然后将系统移交给用户开始试运行。合同约定试运行三个月后验收。</a:t>
            </a:r>
            <a:endParaRPr lang="en-US" altLang="zh-CN" sz="1800" dirty="0"/>
          </a:p>
          <a:p>
            <a:pPr marL="0" indent="0">
              <a:lnSpc>
                <a:spcPct val="110000"/>
              </a:lnSpc>
              <a:buNone/>
            </a:pPr>
            <a:r>
              <a:rPr lang="zh-CN" altLang="en-US" sz="1800" dirty="0"/>
              <a:t>   陈深知该系统因研发时间短，没有进行长时间的测试，公司测试环境与实际现场环境相关很大，可能会在应用时发生很多问题，因此，陈告知工程部和市场部，要密切关注运行情况，多问问客户。安装完成后，陈每周都向工程部和市场部打听运行情况，但得到的回答都是，没有问题，用户没有反馈信息。陈不太相信会这么顺利。</a:t>
            </a:r>
            <a:endParaRPr lang="en-US" altLang="zh-CN" sz="1800" dirty="0"/>
          </a:p>
          <a:p>
            <a:pPr marL="0" indent="0">
              <a:lnSpc>
                <a:spcPct val="110000"/>
              </a:lnSpc>
              <a:buNone/>
            </a:pPr>
            <a:r>
              <a:rPr lang="en-US" altLang="zh-CN" sz="1800" dirty="0"/>
              <a:t>   </a:t>
            </a:r>
            <a:r>
              <a:rPr lang="zh-CN" altLang="en-US" sz="1800" dirty="0"/>
              <a:t>果不其然，第四周，市场部突然告诉陈：今天客户领导到现场检查工作，问了值班人员，得知这个新系统根本不能运行，不但工作不稳定，功能与客户要求相差甚远，领导很生气，要求拆掉退货。陈颇为不满，叫你们密切关注运行情况，也问了你们好几次，你们都说没问题，这下好了，用户要退货！</a:t>
            </a:r>
            <a:endParaRPr lang="en-US" altLang="zh-CN" sz="1800" dirty="0"/>
          </a:p>
          <a:p>
            <a:pPr marL="0" indent="0">
              <a:lnSpc>
                <a:spcPct val="110000"/>
              </a:lnSpc>
              <a:buNone/>
            </a:pPr>
            <a:r>
              <a:rPr lang="en-US" altLang="zh-CN" sz="1800" dirty="0"/>
              <a:t>   </a:t>
            </a:r>
            <a:r>
              <a:rPr lang="zh-CN" altLang="en-US" sz="1800" dirty="0"/>
              <a:t>陈立即要来用户值班室和客户负责人的电话号码，首先非常诚恳地向值班室询问了存在的问题，发现并没有什么大问题，部分问题是对客户培训不到位，值班人员不会使用引起的，也有系统不稳定现象。陈向值班人员道了歉，再向客户方领导详细解释了问题，并承诺二周内解决问题。客户同意了。最后在陈先生和项目团队的努力下，改进了系统，用户也较满意。</a:t>
            </a:r>
          </a:p>
        </p:txBody>
      </p:sp>
    </p:spTree>
    <p:extLst>
      <p:ext uri="{BB962C8B-B14F-4D97-AF65-F5344CB8AC3E}">
        <p14:creationId xmlns:p14="http://schemas.microsoft.com/office/powerpoint/2010/main" val="300369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80BE6D9-5FA8-43D8-AECA-4546FF38EF5E}"/>
              </a:ext>
            </a:extLst>
          </p:cNvPr>
          <p:cNvSpPr>
            <a:spLocks noGrp="1"/>
          </p:cNvSpPr>
          <p:nvPr>
            <p:ph idx="1"/>
          </p:nvPr>
        </p:nvSpPr>
        <p:spPr/>
        <p:txBody>
          <a:bodyPr/>
          <a:lstStyle/>
          <a:p>
            <a:pPr>
              <a:lnSpc>
                <a:spcPct val="130000"/>
              </a:lnSpc>
            </a:pPr>
            <a:r>
              <a:rPr lang="zh-CN" altLang="en-US" b="1" dirty="0">
                <a:latin typeface="微软雅黑" panose="020B0503020204020204" pitchFamily="34" charset="-122"/>
              </a:rPr>
              <a:t>什么是沟通？</a:t>
            </a:r>
            <a:endParaRPr lang="en-US" altLang="zh-CN" b="1" dirty="0">
              <a:latin typeface="微软雅黑" panose="020B0503020204020204" pitchFamily="34" charset="-122"/>
            </a:endParaRPr>
          </a:p>
          <a:p>
            <a:pPr lvl="1">
              <a:lnSpc>
                <a:spcPct val="130000"/>
              </a:lnSpc>
            </a:pPr>
            <a:r>
              <a:rPr lang="zh-CN" altLang="en-US" b="1" dirty="0">
                <a:latin typeface="微软雅黑" panose="020B0503020204020204" pitchFamily="34" charset="-122"/>
              </a:rPr>
              <a:t>沟通是一种信息的双向甚至多向的交流，将信息传送给对方，并期望得到对方作出相应反应的过程。</a:t>
            </a:r>
          </a:p>
          <a:p>
            <a:pPr lvl="1">
              <a:lnSpc>
                <a:spcPct val="130000"/>
              </a:lnSpc>
            </a:pPr>
            <a:r>
              <a:rPr lang="zh-CN" altLang="en-US" dirty="0">
                <a:latin typeface="微软雅黑" panose="020B0503020204020204" pitchFamily="34" charset="-122"/>
              </a:rPr>
              <a:t>沟通是把一个组织中的成员联系在一起，以实现共同目标的手段。</a:t>
            </a:r>
            <a:r>
              <a:rPr lang="en-US" altLang="zh-CN" sz="1600" dirty="0">
                <a:latin typeface="微软雅黑" panose="020B0503020204020204" pitchFamily="34" charset="-122"/>
              </a:rPr>
              <a:t>——</a:t>
            </a:r>
            <a:r>
              <a:rPr lang="zh-CN" altLang="en-US" sz="1600" dirty="0">
                <a:latin typeface="微软雅黑" panose="020B0503020204020204" pitchFamily="34" charset="-122"/>
              </a:rPr>
              <a:t>管理学家巴纳德</a:t>
            </a:r>
          </a:p>
          <a:p>
            <a:pPr lvl="1">
              <a:lnSpc>
                <a:spcPct val="130000"/>
              </a:lnSpc>
            </a:pPr>
            <a:r>
              <a:rPr lang="zh-CN" altLang="en-US" dirty="0">
                <a:latin typeface="微软雅黑" panose="020B0503020204020204" pitchFamily="34" charset="-122"/>
              </a:rPr>
              <a:t>沟通是人与人之间思想和信息的交换，是将信息由一个人传达给另一个人，逐渐广泛传播的过程。</a:t>
            </a:r>
          </a:p>
          <a:p>
            <a:pPr lvl="1">
              <a:lnSpc>
                <a:spcPct val="130000"/>
              </a:lnSpc>
            </a:pPr>
            <a:r>
              <a:rPr lang="zh-CN" altLang="en-US" dirty="0">
                <a:latin typeface="微软雅黑" panose="020B0503020204020204" pitchFamily="34" charset="-122"/>
              </a:rPr>
              <a:t>沟通是指有意或无意的信息交换。交换的信息可以是想法、指示或情绪。</a:t>
            </a:r>
            <a:endParaRPr lang="zh-CN" altLang="en-US" b="1" dirty="0">
              <a:latin typeface="微软雅黑" panose="020B0503020204020204" pitchFamily="34" charset="-122"/>
            </a:endParaRPr>
          </a:p>
          <a:p>
            <a:endParaRPr lang="zh-CN" altLang="en-US" dirty="0">
              <a:latin typeface="微软雅黑" panose="020B0503020204020204" pitchFamily="34" charset="-122"/>
            </a:endParaRPr>
          </a:p>
        </p:txBody>
      </p:sp>
      <p:sp>
        <p:nvSpPr>
          <p:cNvPr id="3" name="标题 2">
            <a:extLst>
              <a:ext uri="{FF2B5EF4-FFF2-40B4-BE49-F238E27FC236}">
                <a16:creationId xmlns:a16="http://schemas.microsoft.com/office/drawing/2014/main" id="{02BF6BC4-6BCB-490D-A574-480C729BD1F7}"/>
              </a:ext>
            </a:extLst>
          </p:cNvPr>
          <p:cNvSpPr>
            <a:spLocks noGrp="1"/>
          </p:cNvSpPr>
          <p:nvPr>
            <p:ph type="title"/>
          </p:nvPr>
        </p:nvSpPr>
        <p:spPr/>
        <p:txBody>
          <a:bodyPr/>
          <a:lstStyle/>
          <a:p>
            <a:r>
              <a:rPr lang="en-US" altLang="zh-CN" dirty="0"/>
              <a:t>16.1 </a:t>
            </a:r>
            <a:r>
              <a:rPr lang="zh-CN" altLang="en-US" dirty="0"/>
              <a:t>沟通与沟通管理</a:t>
            </a:r>
          </a:p>
        </p:txBody>
      </p:sp>
      <p:graphicFrame>
        <p:nvGraphicFramePr>
          <p:cNvPr id="4" name="Object 2">
            <a:extLst>
              <a:ext uri="{FF2B5EF4-FFF2-40B4-BE49-F238E27FC236}">
                <a16:creationId xmlns:a16="http://schemas.microsoft.com/office/drawing/2014/main" id="{FB8C3390-07ED-4CFE-A56E-1B06FBCBEFB0}"/>
              </a:ext>
            </a:extLst>
          </p:cNvPr>
          <p:cNvGraphicFramePr>
            <a:graphicFrameLocks noChangeAspect="1"/>
          </p:cNvGraphicFramePr>
          <p:nvPr>
            <p:extLst>
              <p:ext uri="{D42A27DB-BD31-4B8C-83A1-F6EECF244321}">
                <p14:modId xmlns:p14="http://schemas.microsoft.com/office/powerpoint/2010/main" val="1896436145"/>
              </p:ext>
            </p:extLst>
          </p:nvPr>
        </p:nvGraphicFramePr>
        <p:xfrm>
          <a:off x="7496538" y="5356482"/>
          <a:ext cx="2714263" cy="1083774"/>
        </p:xfrm>
        <a:graphic>
          <a:graphicData uri="http://schemas.openxmlformats.org/presentationml/2006/ole">
            <mc:AlternateContent xmlns:mc="http://schemas.openxmlformats.org/markup-compatibility/2006">
              <mc:Choice xmlns:v="urn:schemas-microsoft-com:vml" Requires="v">
                <p:oleObj name="剪辑" r:id="rId3" imgW="5714640" imgH="3192120" progId="MS_ClipArt_Gallery.2">
                  <p:embed/>
                </p:oleObj>
              </mc:Choice>
              <mc:Fallback>
                <p:oleObj name="剪辑" r:id="rId3" imgW="5714640" imgH="3192120" progId="MS_ClipArt_Gallery.2">
                  <p:embed/>
                  <p:pic>
                    <p:nvPicPr>
                      <p:cNvPr id="4" name="Object 2">
                        <a:extLst>
                          <a:ext uri="{FF2B5EF4-FFF2-40B4-BE49-F238E27FC236}">
                            <a16:creationId xmlns:a16="http://schemas.microsoft.com/office/drawing/2014/main" id="{FB8C3390-07ED-4CFE-A56E-1B06FBCBE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6538" y="5356482"/>
                        <a:ext cx="2714263" cy="10837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4619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25A6D7DF-A6B1-4457-98FF-5834FA80C3B2}"/>
              </a:ext>
            </a:extLst>
          </p:cNvPr>
          <p:cNvSpPr>
            <a:spLocks noGrp="1"/>
          </p:cNvSpPr>
          <p:nvPr>
            <p:ph type="title"/>
          </p:nvPr>
        </p:nvSpPr>
        <p:spPr>
          <a:xfrm>
            <a:off x="1984414" y="764293"/>
            <a:ext cx="8229600" cy="437186"/>
          </a:xfrm>
          <a:prstGeom prst="rect">
            <a:avLst/>
          </a:prstGeom>
        </p:spPr>
        <p:txBody>
          <a:bodyPr/>
          <a:lstStyle/>
          <a:p>
            <a:r>
              <a:rPr lang="zh-CN" altLang="en-US"/>
              <a:t>沟通模型</a:t>
            </a:r>
          </a:p>
        </p:txBody>
      </p:sp>
      <p:sp>
        <p:nvSpPr>
          <p:cNvPr id="3" name="内容占位符 2">
            <a:extLst>
              <a:ext uri="{FF2B5EF4-FFF2-40B4-BE49-F238E27FC236}">
                <a16:creationId xmlns:a16="http://schemas.microsoft.com/office/drawing/2014/main" id="{A9113EAC-59FA-42D7-B8E4-901E4E376991}"/>
              </a:ext>
            </a:extLst>
          </p:cNvPr>
          <p:cNvSpPr>
            <a:spLocks noGrp="1"/>
          </p:cNvSpPr>
          <p:nvPr>
            <p:ph idx="1"/>
          </p:nvPr>
        </p:nvSpPr>
        <p:spPr>
          <a:xfrm>
            <a:off x="1022683" y="1329149"/>
            <a:ext cx="10250905" cy="2154131"/>
          </a:xfrm>
        </p:spPr>
        <p:txBody>
          <a:bodyPr/>
          <a:lstStyle/>
          <a:p>
            <a:pPr>
              <a:lnSpc>
                <a:spcPct val="120000"/>
              </a:lnSpc>
              <a:spcBef>
                <a:spcPts val="0"/>
              </a:spcBef>
              <a:defRPr/>
            </a:pPr>
            <a:r>
              <a:rPr lang="zh-CN" altLang="en-US" sz="1800" dirty="0"/>
              <a:t>发送方、接收方的当前情绪、身体状态、知识、背景、个性、文化和偏见会如何影响信息本身及其传递方式，以及信息的接收和解读方式，导致沟通中的障碍、干扰和失真</a:t>
            </a:r>
            <a:endParaRPr lang="en-US" altLang="zh-CN" sz="1800" dirty="0"/>
          </a:p>
          <a:p>
            <a:pPr>
              <a:lnSpc>
                <a:spcPct val="120000"/>
              </a:lnSpc>
              <a:spcBef>
                <a:spcPts val="0"/>
              </a:spcBef>
              <a:defRPr/>
            </a:pPr>
            <a:r>
              <a:rPr lang="zh-CN" altLang="en-US" sz="1800" dirty="0"/>
              <a:t> 信息发布：表达方式，信息组织方式</a:t>
            </a:r>
          </a:p>
          <a:p>
            <a:pPr>
              <a:lnSpc>
                <a:spcPct val="120000"/>
              </a:lnSpc>
              <a:spcBef>
                <a:spcPts val="0"/>
              </a:spcBef>
              <a:defRPr/>
            </a:pPr>
            <a:r>
              <a:rPr lang="zh-CN" altLang="en-US" sz="1800" dirty="0"/>
              <a:t> 信息接收：倾听，理解方式，接收方式</a:t>
            </a:r>
          </a:p>
          <a:p>
            <a:pPr>
              <a:lnSpc>
                <a:spcPct val="120000"/>
              </a:lnSpc>
              <a:spcBef>
                <a:spcPts val="0"/>
              </a:spcBef>
              <a:defRPr/>
            </a:pPr>
            <a:r>
              <a:rPr lang="zh-CN" altLang="en-US" sz="1800" dirty="0"/>
              <a:t> 信息通道：信息传输渠道，会有干扰和噪音</a:t>
            </a:r>
          </a:p>
          <a:p>
            <a:pPr>
              <a:lnSpc>
                <a:spcPct val="120000"/>
              </a:lnSpc>
              <a:spcBef>
                <a:spcPts val="0"/>
              </a:spcBef>
              <a:defRPr/>
            </a:pPr>
            <a:endParaRPr lang="zh-CN" altLang="en-US" sz="1800" dirty="0"/>
          </a:p>
        </p:txBody>
      </p:sp>
      <p:sp>
        <p:nvSpPr>
          <p:cNvPr id="5" name="矩形 4">
            <a:extLst>
              <a:ext uri="{FF2B5EF4-FFF2-40B4-BE49-F238E27FC236}">
                <a16:creationId xmlns:a16="http://schemas.microsoft.com/office/drawing/2014/main" id="{918B7051-56B2-4902-9733-DD500DB30A8C}"/>
              </a:ext>
            </a:extLst>
          </p:cNvPr>
          <p:cNvSpPr/>
          <p:nvPr/>
        </p:nvSpPr>
        <p:spPr bwMode="auto">
          <a:xfrm>
            <a:off x="2789238" y="3674639"/>
            <a:ext cx="1643062" cy="2663041"/>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tLang="zh-CN" sz="1400" dirty="0">
              <a:solidFill>
                <a:srgbClr val="FFFFCC"/>
              </a:solidFill>
              <a:latin typeface="+mj-ea"/>
              <a:ea typeface="+mj-ea"/>
            </a:endParaRPr>
          </a:p>
          <a:p>
            <a:pPr algn="ctr">
              <a:defRPr/>
            </a:pPr>
            <a:endParaRPr lang="en-US" altLang="zh-CN" sz="1400" dirty="0">
              <a:solidFill>
                <a:srgbClr val="FFFFCC"/>
              </a:solidFill>
              <a:latin typeface="+mj-ea"/>
              <a:ea typeface="+mj-ea"/>
            </a:endParaRPr>
          </a:p>
          <a:p>
            <a:pPr algn="ctr">
              <a:defRPr/>
            </a:pPr>
            <a:r>
              <a:rPr lang="zh-CN" altLang="en-US" sz="1600" b="1" dirty="0">
                <a:solidFill>
                  <a:srgbClr val="FFFFCC"/>
                </a:solidFill>
                <a:latin typeface="+mj-ea"/>
                <a:ea typeface="+mj-ea"/>
              </a:rPr>
              <a:t>发送方</a:t>
            </a:r>
          </a:p>
        </p:txBody>
      </p:sp>
      <p:sp>
        <p:nvSpPr>
          <p:cNvPr id="6" name="矩形 5">
            <a:extLst>
              <a:ext uri="{FF2B5EF4-FFF2-40B4-BE49-F238E27FC236}">
                <a16:creationId xmlns:a16="http://schemas.microsoft.com/office/drawing/2014/main" id="{31AB0AAD-0AF3-4BED-9018-B490D1C5B490}"/>
              </a:ext>
            </a:extLst>
          </p:cNvPr>
          <p:cNvSpPr/>
          <p:nvPr/>
        </p:nvSpPr>
        <p:spPr bwMode="auto">
          <a:xfrm>
            <a:off x="7575551" y="3674639"/>
            <a:ext cx="1643063" cy="2663041"/>
          </a:xfrm>
          <a:prstGeom prst="rect">
            <a:avLst/>
          </a:prstGeom>
          <a:solidFill>
            <a:schemeClr val="tx2">
              <a:lumMod val="60000"/>
              <a:lumOff val="40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tLang="zh-CN" sz="1400" dirty="0">
              <a:solidFill>
                <a:srgbClr val="FFFFCC"/>
              </a:solidFill>
              <a:latin typeface="+mj-ea"/>
              <a:ea typeface="+mj-ea"/>
            </a:endParaRPr>
          </a:p>
          <a:p>
            <a:pPr algn="ctr">
              <a:defRPr/>
            </a:pPr>
            <a:endParaRPr lang="en-US" altLang="zh-CN" sz="1400" dirty="0">
              <a:solidFill>
                <a:srgbClr val="FFFFCC"/>
              </a:solidFill>
              <a:latin typeface="+mj-ea"/>
              <a:ea typeface="+mj-ea"/>
            </a:endParaRPr>
          </a:p>
          <a:p>
            <a:pPr algn="ctr">
              <a:defRPr/>
            </a:pPr>
            <a:r>
              <a:rPr lang="zh-CN" altLang="en-US" sz="1600" b="1" dirty="0">
                <a:solidFill>
                  <a:srgbClr val="FFFFCC"/>
                </a:solidFill>
                <a:latin typeface="+mj-ea"/>
                <a:ea typeface="+mj-ea"/>
              </a:rPr>
              <a:t>接收方</a:t>
            </a:r>
          </a:p>
        </p:txBody>
      </p:sp>
      <p:sp>
        <p:nvSpPr>
          <p:cNvPr id="7" name="矩形 6">
            <a:extLst>
              <a:ext uri="{FF2B5EF4-FFF2-40B4-BE49-F238E27FC236}">
                <a16:creationId xmlns:a16="http://schemas.microsoft.com/office/drawing/2014/main" id="{EDB1F515-BF86-408C-A9CF-4B237A975389}"/>
              </a:ext>
            </a:extLst>
          </p:cNvPr>
          <p:cNvSpPr/>
          <p:nvPr/>
        </p:nvSpPr>
        <p:spPr bwMode="auto">
          <a:xfrm>
            <a:off x="3074988" y="3907948"/>
            <a:ext cx="1071562" cy="106166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编码</a:t>
            </a:r>
          </a:p>
        </p:txBody>
      </p:sp>
      <p:sp>
        <p:nvSpPr>
          <p:cNvPr id="8" name="矩形 7">
            <a:extLst>
              <a:ext uri="{FF2B5EF4-FFF2-40B4-BE49-F238E27FC236}">
                <a16:creationId xmlns:a16="http://schemas.microsoft.com/office/drawing/2014/main" id="{BC14CBB9-C69D-4E4A-AD69-0937DE5D7245}"/>
              </a:ext>
            </a:extLst>
          </p:cNvPr>
          <p:cNvSpPr/>
          <p:nvPr/>
        </p:nvSpPr>
        <p:spPr bwMode="auto">
          <a:xfrm>
            <a:off x="7861301" y="3907948"/>
            <a:ext cx="1071563" cy="106166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解码</a:t>
            </a:r>
          </a:p>
        </p:txBody>
      </p:sp>
      <p:sp>
        <p:nvSpPr>
          <p:cNvPr id="9" name="矩形 8">
            <a:extLst>
              <a:ext uri="{FF2B5EF4-FFF2-40B4-BE49-F238E27FC236}">
                <a16:creationId xmlns:a16="http://schemas.microsoft.com/office/drawing/2014/main" id="{FF676268-7BC7-4088-9D65-CB2E9254F34E}"/>
              </a:ext>
            </a:extLst>
          </p:cNvPr>
          <p:cNvSpPr/>
          <p:nvPr/>
        </p:nvSpPr>
        <p:spPr bwMode="auto">
          <a:xfrm>
            <a:off x="3074988" y="5512538"/>
            <a:ext cx="1071562" cy="587375"/>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解码</a:t>
            </a:r>
          </a:p>
        </p:txBody>
      </p:sp>
      <p:sp>
        <p:nvSpPr>
          <p:cNvPr id="10" name="矩形 9">
            <a:extLst>
              <a:ext uri="{FF2B5EF4-FFF2-40B4-BE49-F238E27FC236}">
                <a16:creationId xmlns:a16="http://schemas.microsoft.com/office/drawing/2014/main" id="{5F76F68F-6C5F-4A29-80BC-5B9D72B2263D}"/>
              </a:ext>
            </a:extLst>
          </p:cNvPr>
          <p:cNvSpPr/>
          <p:nvPr/>
        </p:nvSpPr>
        <p:spPr bwMode="auto">
          <a:xfrm>
            <a:off x="7861301" y="5459414"/>
            <a:ext cx="1071563" cy="640499"/>
          </a:xfrm>
          <a:prstGeom prst="rect">
            <a:avLst/>
          </a:prstGeom>
          <a:solidFill>
            <a:schemeClr val="bg1"/>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r>
              <a:rPr lang="zh-CN" altLang="en-US" sz="1400" dirty="0">
                <a:solidFill>
                  <a:schemeClr val="tx2"/>
                </a:solidFill>
                <a:latin typeface="+mj-ea"/>
                <a:ea typeface="+mj-ea"/>
              </a:rPr>
              <a:t>编码</a:t>
            </a:r>
          </a:p>
        </p:txBody>
      </p:sp>
      <p:cxnSp>
        <p:nvCxnSpPr>
          <p:cNvPr id="24587" name="直接箭头连接符 11">
            <a:extLst>
              <a:ext uri="{FF2B5EF4-FFF2-40B4-BE49-F238E27FC236}">
                <a16:creationId xmlns:a16="http://schemas.microsoft.com/office/drawing/2014/main" id="{87926204-69B1-45A7-8D5A-FD428271F5D5}"/>
              </a:ext>
            </a:extLst>
          </p:cNvPr>
          <p:cNvCxnSpPr>
            <a:cxnSpLocks noChangeShapeType="1"/>
          </p:cNvCxnSpPr>
          <p:nvPr/>
        </p:nvCxnSpPr>
        <p:spPr bwMode="auto">
          <a:xfrm>
            <a:off x="4146550" y="4222880"/>
            <a:ext cx="3714750" cy="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24588" name="直接箭头连接符 13">
            <a:extLst>
              <a:ext uri="{FF2B5EF4-FFF2-40B4-BE49-F238E27FC236}">
                <a16:creationId xmlns:a16="http://schemas.microsoft.com/office/drawing/2014/main" id="{05E9AD30-E1D9-4EA0-A6CB-8B16F8AF9D60}"/>
              </a:ext>
            </a:extLst>
          </p:cNvPr>
          <p:cNvCxnSpPr>
            <a:cxnSpLocks noChangeShapeType="1"/>
            <a:stCxn id="10" idx="1"/>
            <a:endCxn id="9" idx="3"/>
          </p:cNvCxnSpPr>
          <p:nvPr/>
        </p:nvCxnSpPr>
        <p:spPr bwMode="auto">
          <a:xfrm flipH="1">
            <a:off x="4146550" y="5779663"/>
            <a:ext cx="3714750" cy="2656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6" name="TextBox 15">
            <a:extLst>
              <a:ext uri="{FF2B5EF4-FFF2-40B4-BE49-F238E27FC236}">
                <a16:creationId xmlns:a16="http://schemas.microsoft.com/office/drawing/2014/main" id="{C2F9246D-1FC5-4768-970B-11143BCD9C0D}"/>
              </a:ext>
            </a:extLst>
          </p:cNvPr>
          <p:cNvSpPr txBox="1"/>
          <p:nvPr/>
        </p:nvSpPr>
        <p:spPr>
          <a:xfrm>
            <a:off x="5241926" y="3833813"/>
            <a:ext cx="1005403" cy="338554"/>
          </a:xfrm>
          <a:prstGeom prst="rect">
            <a:avLst/>
          </a:prstGeom>
          <a:noFill/>
        </p:spPr>
        <p:txBody>
          <a:bodyPr wrap="none">
            <a:spAutoFit/>
          </a:bodyPr>
          <a:lstStyle/>
          <a:p>
            <a:pPr>
              <a:defRPr/>
            </a:pPr>
            <a:r>
              <a:rPr lang="zh-CN" altLang="en-US" sz="1600" dirty="0">
                <a:solidFill>
                  <a:schemeClr val="tx2"/>
                </a:solidFill>
                <a:latin typeface="+mj-ea"/>
                <a:ea typeface="+mj-ea"/>
              </a:rPr>
              <a:t>传递信息</a:t>
            </a:r>
          </a:p>
        </p:txBody>
      </p:sp>
      <p:sp>
        <p:nvSpPr>
          <p:cNvPr id="17" name="TextBox 16">
            <a:extLst>
              <a:ext uri="{FF2B5EF4-FFF2-40B4-BE49-F238E27FC236}">
                <a16:creationId xmlns:a16="http://schemas.microsoft.com/office/drawing/2014/main" id="{858B5A51-73AB-4D90-8722-8AC3ED1C2006}"/>
              </a:ext>
            </a:extLst>
          </p:cNvPr>
          <p:cNvSpPr txBox="1"/>
          <p:nvPr/>
        </p:nvSpPr>
        <p:spPr>
          <a:xfrm>
            <a:off x="5972856" y="5762513"/>
            <a:ext cx="1071562" cy="338137"/>
          </a:xfrm>
          <a:prstGeom prst="rect">
            <a:avLst/>
          </a:prstGeom>
          <a:noFill/>
        </p:spPr>
        <p:txBody>
          <a:bodyPr>
            <a:spAutoFit/>
          </a:bodyPr>
          <a:lstStyle/>
          <a:p>
            <a:pPr>
              <a:defRPr/>
            </a:pPr>
            <a:r>
              <a:rPr lang="zh-CN" altLang="en-US" sz="1600" dirty="0">
                <a:solidFill>
                  <a:schemeClr val="tx2"/>
                </a:solidFill>
                <a:latin typeface="+mj-ea"/>
                <a:ea typeface="+mj-ea"/>
              </a:rPr>
              <a:t>反馈信息</a:t>
            </a:r>
          </a:p>
        </p:txBody>
      </p:sp>
      <p:sp>
        <p:nvSpPr>
          <p:cNvPr id="27" name="TextBox 26">
            <a:extLst>
              <a:ext uri="{FF2B5EF4-FFF2-40B4-BE49-F238E27FC236}">
                <a16:creationId xmlns:a16="http://schemas.microsoft.com/office/drawing/2014/main" id="{EFD19895-480E-4D85-B717-AA704B94D719}"/>
              </a:ext>
            </a:extLst>
          </p:cNvPr>
          <p:cNvSpPr txBox="1"/>
          <p:nvPr/>
        </p:nvSpPr>
        <p:spPr>
          <a:xfrm>
            <a:off x="5393530" y="5036499"/>
            <a:ext cx="1071561" cy="33855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defRPr/>
            </a:pPr>
            <a:r>
              <a:rPr lang="zh-CN" altLang="en-US" sz="1600" dirty="0">
                <a:ln w="0"/>
                <a:effectLst>
                  <a:outerShdw blurRad="38100" dist="19050" dir="2700000" algn="tl" rotWithShape="0">
                    <a:schemeClr val="dk1">
                      <a:alpha val="40000"/>
                    </a:schemeClr>
                  </a:outerShdw>
                </a:effectLst>
                <a:latin typeface="+mj-ea"/>
                <a:ea typeface="+mj-ea"/>
              </a:rPr>
              <a:t>沟通媒介</a:t>
            </a:r>
          </a:p>
        </p:txBody>
      </p:sp>
      <p:grpSp>
        <p:nvGrpSpPr>
          <p:cNvPr id="40" name="组合 39">
            <a:extLst>
              <a:ext uri="{FF2B5EF4-FFF2-40B4-BE49-F238E27FC236}">
                <a16:creationId xmlns:a16="http://schemas.microsoft.com/office/drawing/2014/main" id="{A200E9FC-D924-454C-950A-2BF184B6178D}"/>
              </a:ext>
            </a:extLst>
          </p:cNvPr>
          <p:cNvGrpSpPr/>
          <p:nvPr/>
        </p:nvGrpSpPr>
        <p:grpSpPr>
          <a:xfrm>
            <a:off x="4591052" y="5553075"/>
            <a:ext cx="271468" cy="457200"/>
            <a:chOff x="3016252" y="5438775"/>
            <a:chExt cx="271468" cy="457200"/>
          </a:xfrm>
        </p:grpSpPr>
        <p:cxnSp>
          <p:nvCxnSpPr>
            <p:cNvPr id="22" name="直接连接符 21">
              <a:extLst>
                <a:ext uri="{FF2B5EF4-FFF2-40B4-BE49-F238E27FC236}">
                  <a16:creationId xmlns:a16="http://schemas.microsoft.com/office/drawing/2014/main" id="{B512C0E3-D277-4042-927D-6E39236D9E7C}"/>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23" name="直接连接符 22">
              <a:extLst>
                <a:ext uri="{FF2B5EF4-FFF2-40B4-BE49-F238E27FC236}">
                  <a16:creationId xmlns:a16="http://schemas.microsoft.com/office/drawing/2014/main" id="{7D9F68A1-559B-421C-9DE9-9F37132E7F89}"/>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24" name="直接连接符 23">
              <a:extLst>
                <a:ext uri="{FF2B5EF4-FFF2-40B4-BE49-F238E27FC236}">
                  <a16:creationId xmlns:a16="http://schemas.microsoft.com/office/drawing/2014/main" id="{2E35FFE0-7633-4D3E-B568-162360BE951C}"/>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2" name="直接连接符 31">
              <a:extLst>
                <a:ext uri="{FF2B5EF4-FFF2-40B4-BE49-F238E27FC236}">
                  <a16:creationId xmlns:a16="http://schemas.microsoft.com/office/drawing/2014/main" id="{BE057E02-164A-4BA6-96BE-930B8A23951F}"/>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3" name="直接连接符 32">
              <a:extLst>
                <a:ext uri="{FF2B5EF4-FFF2-40B4-BE49-F238E27FC236}">
                  <a16:creationId xmlns:a16="http://schemas.microsoft.com/office/drawing/2014/main" id="{EF89D059-2278-46B3-81A2-9135CCB2D681}"/>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34" name="直接连接符 33">
              <a:extLst>
                <a:ext uri="{FF2B5EF4-FFF2-40B4-BE49-F238E27FC236}">
                  <a16:creationId xmlns:a16="http://schemas.microsoft.com/office/drawing/2014/main" id="{739ED1DC-6ED1-481F-977D-67C136955D0D}"/>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cxnSp>
        <p:nvCxnSpPr>
          <p:cNvPr id="43" name="直接箭头连接符 11">
            <a:extLst>
              <a:ext uri="{FF2B5EF4-FFF2-40B4-BE49-F238E27FC236}">
                <a16:creationId xmlns:a16="http://schemas.microsoft.com/office/drawing/2014/main" id="{2B01FA5C-340C-491B-A593-757C533C3719}"/>
              </a:ext>
            </a:extLst>
          </p:cNvPr>
          <p:cNvCxnSpPr>
            <a:cxnSpLocks noChangeShapeType="1"/>
          </p:cNvCxnSpPr>
          <p:nvPr/>
        </p:nvCxnSpPr>
        <p:spPr bwMode="auto">
          <a:xfrm>
            <a:off x="4146550" y="4641980"/>
            <a:ext cx="3714750" cy="0"/>
          </a:xfrm>
          <a:prstGeom prst="straightConnector1">
            <a:avLst/>
          </a:prstGeom>
          <a:noFill/>
          <a:ln w="28575" algn="ctr">
            <a:solidFill>
              <a:schemeClr val="tx2"/>
            </a:solidFill>
            <a:round/>
            <a:headEnd type="arrow" w="med" len="med"/>
            <a:tailEnd type="none" w="med" len="med"/>
          </a:ln>
          <a:extLst>
            <a:ext uri="{909E8E84-426E-40DD-AFC4-6F175D3DCCD1}">
              <a14:hiddenFill xmlns:a14="http://schemas.microsoft.com/office/drawing/2010/main">
                <a:noFill/>
              </a14:hiddenFill>
            </a:ext>
          </a:extLst>
        </p:spPr>
      </p:cxnSp>
      <p:sp>
        <p:nvSpPr>
          <p:cNvPr id="44" name="TextBox 15">
            <a:extLst>
              <a:ext uri="{FF2B5EF4-FFF2-40B4-BE49-F238E27FC236}">
                <a16:creationId xmlns:a16="http://schemas.microsoft.com/office/drawing/2014/main" id="{2C74706D-0686-487F-8A2F-765A54727189}"/>
              </a:ext>
            </a:extLst>
          </p:cNvPr>
          <p:cNvSpPr txBox="1"/>
          <p:nvPr/>
        </p:nvSpPr>
        <p:spPr>
          <a:xfrm>
            <a:off x="5910535" y="4620887"/>
            <a:ext cx="1005403" cy="338554"/>
          </a:xfrm>
          <a:prstGeom prst="rect">
            <a:avLst/>
          </a:prstGeom>
          <a:noFill/>
        </p:spPr>
        <p:txBody>
          <a:bodyPr wrap="none">
            <a:spAutoFit/>
          </a:bodyPr>
          <a:lstStyle/>
          <a:p>
            <a:pPr>
              <a:defRPr/>
            </a:pPr>
            <a:r>
              <a:rPr lang="zh-CN" altLang="en-US" sz="1600" dirty="0">
                <a:solidFill>
                  <a:schemeClr val="tx2"/>
                </a:solidFill>
                <a:latin typeface="+mj-ea"/>
                <a:ea typeface="+mj-ea"/>
              </a:rPr>
              <a:t>确认信息</a:t>
            </a:r>
          </a:p>
        </p:txBody>
      </p:sp>
      <p:grpSp>
        <p:nvGrpSpPr>
          <p:cNvPr id="46" name="组合 45">
            <a:extLst>
              <a:ext uri="{FF2B5EF4-FFF2-40B4-BE49-F238E27FC236}">
                <a16:creationId xmlns:a16="http://schemas.microsoft.com/office/drawing/2014/main" id="{6B7788D6-AD7A-46BC-91D3-670F68FD9B58}"/>
              </a:ext>
            </a:extLst>
          </p:cNvPr>
          <p:cNvGrpSpPr/>
          <p:nvPr/>
        </p:nvGrpSpPr>
        <p:grpSpPr>
          <a:xfrm>
            <a:off x="4641447" y="4392794"/>
            <a:ext cx="271468" cy="457200"/>
            <a:chOff x="3016252" y="5438775"/>
            <a:chExt cx="271468" cy="457200"/>
          </a:xfrm>
        </p:grpSpPr>
        <p:cxnSp>
          <p:nvCxnSpPr>
            <p:cNvPr id="47" name="直接连接符 46">
              <a:extLst>
                <a:ext uri="{FF2B5EF4-FFF2-40B4-BE49-F238E27FC236}">
                  <a16:creationId xmlns:a16="http://schemas.microsoft.com/office/drawing/2014/main" id="{2E1C1EB1-A695-48EC-8188-A689328ED467}"/>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48" name="直接连接符 47">
              <a:extLst>
                <a:ext uri="{FF2B5EF4-FFF2-40B4-BE49-F238E27FC236}">
                  <a16:creationId xmlns:a16="http://schemas.microsoft.com/office/drawing/2014/main" id="{6B4D0E58-5C22-4B93-AD17-1C3E55E17CB7}"/>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49" name="直接连接符 48">
              <a:extLst>
                <a:ext uri="{FF2B5EF4-FFF2-40B4-BE49-F238E27FC236}">
                  <a16:creationId xmlns:a16="http://schemas.microsoft.com/office/drawing/2014/main" id="{9DD238DA-D37E-43C4-B1EA-3BD2BDA3BBA7}"/>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0" name="直接连接符 49">
              <a:extLst>
                <a:ext uri="{FF2B5EF4-FFF2-40B4-BE49-F238E27FC236}">
                  <a16:creationId xmlns:a16="http://schemas.microsoft.com/office/drawing/2014/main" id="{B40B8DB2-01F6-41FB-BA67-410EDCE67F9B}"/>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1" name="直接连接符 50">
              <a:extLst>
                <a:ext uri="{FF2B5EF4-FFF2-40B4-BE49-F238E27FC236}">
                  <a16:creationId xmlns:a16="http://schemas.microsoft.com/office/drawing/2014/main" id="{9B70FA61-DD4E-4DE5-BDBE-2BF3EC7C964D}"/>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2" name="直接连接符 51">
              <a:extLst>
                <a:ext uri="{FF2B5EF4-FFF2-40B4-BE49-F238E27FC236}">
                  <a16:creationId xmlns:a16="http://schemas.microsoft.com/office/drawing/2014/main" id="{12E663F7-81F6-45E7-ADA9-F7CB7F2555F4}"/>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grpSp>
        <p:nvGrpSpPr>
          <p:cNvPr id="53" name="组合 52">
            <a:extLst>
              <a:ext uri="{FF2B5EF4-FFF2-40B4-BE49-F238E27FC236}">
                <a16:creationId xmlns:a16="http://schemas.microsoft.com/office/drawing/2014/main" id="{5A11F2B2-668A-4B4F-A8DE-0FCDF2E9019B}"/>
              </a:ext>
            </a:extLst>
          </p:cNvPr>
          <p:cNvGrpSpPr/>
          <p:nvPr/>
        </p:nvGrpSpPr>
        <p:grpSpPr>
          <a:xfrm>
            <a:off x="7009595" y="3981579"/>
            <a:ext cx="271468" cy="457200"/>
            <a:chOff x="3016252" y="5438775"/>
            <a:chExt cx="271468" cy="457200"/>
          </a:xfrm>
        </p:grpSpPr>
        <p:cxnSp>
          <p:nvCxnSpPr>
            <p:cNvPr id="54" name="直接连接符 53">
              <a:extLst>
                <a:ext uri="{FF2B5EF4-FFF2-40B4-BE49-F238E27FC236}">
                  <a16:creationId xmlns:a16="http://schemas.microsoft.com/office/drawing/2014/main" id="{9D69BA11-1D5D-456C-BF92-2FB502CC67D4}"/>
                </a:ext>
              </a:extLst>
            </p:cNvPr>
            <p:cNvCxnSpPr>
              <a:cxnSpLocks/>
            </p:cNvCxnSpPr>
            <p:nvPr/>
          </p:nvCxnSpPr>
          <p:spPr bwMode="auto">
            <a:xfrm>
              <a:off x="3016252"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5" name="直接连接符 54">
              <a:extLst>
                <a:ext uri="{FF2B5EF4-FFF2-40B4-BE49-F238E27FC236}">
                  <a16:creationId xmlns:a16="http://schemas.microsoft.com/office/drawing/2014/main" id="{336760AB-5865-4CE4-AD06-6FDF099B4CC9}"/>
                </a:ext>
              </a:extLst>
            </p:cNvPr>
            <p:cNvCxnSpPr>
              <a:cxnSpLocks/>
            </p:cNvCxnSpPr>
            <p:nvPr/>
          </p:nvCxnSpPr>
          <p:spPr bwMode="auto">
            <a:xfrm>
              <a:off x="3067050"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6" name="直接连接符 55">
              <a:extLst>
                <a:ext uri="{FF2B5EF4-FFF2-40B4-BE49-F238E27FC236}">
                  <a16:creationId xmlns:a16="http://schemas.microsoft.com/office/drawing/2014/main" id="{BC2AA9E6-A857-4C45-8087-BBE3CD0EA6BE}"/>
                </a:ext>
              </a:extLst>
            </p:cNvPr>
            <p:cNvCxnSpPr>
              <a:cxnSpLocks/>
            </p:cNvCxnSpPr>
            <p:nvPr/>
          </p:nvCxnSpPr>
          <p:spPr bwMode="auto">
            <a:xfrm>
              <a:off x="3123408"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7" name="直接连接符 56">
              <a:extLst>
                <a:ext uri="{FF2B5EF4-FFF2-40B4-BE49-F238E27FC236}">
                  <a16:creationId xmlns:a16="http://schemas.microsoft.com/office/drawing/2014/main" id="{3D82A6C2-B30E-47A1-A4FC-841A28BDB1FA}"/>
                </a:ext>
              </a:extLst>
            </p:cNvPr>
            <p:cNvCxnSpPr>
              <a:cxnSpLocks/>
            </p:cNvCxnSpPr>
            <p:nvPr/>
          </p:nvCxnSpPr>
          <p:spPr bwMode="auto">
            <a:xfrm>
              <a:off x="3180564" y="5506130"/>
              <a:ext cx="0" cy="336607"/>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8" name="直接连接符 57">
              <a:extLst>
                <a:ext uri="{FF2B5EF4-FFF2-40B4-BE49-F238E27FC236}">
                  <a16:creationId xmlns:a16="http://schemas.microsoft.com/office/drawing/2014/main" id="{34A6CC05-C649-4D0F-B9C6-FDFAE2574B21}"/>
                </a:ext>
              </a:extLst>
            </p:cNvPr>
            <p:cNvCxnSpPr>
              <a:cxnSpLocks/>
            </p:cNvCxnSpPr>
            <p:nvPr/>
          </p:nvCxnSpPr>
          <p:spPr bwMode="auto">
            <a:xfrm>
              <a:off x="3231362" y="5438775"/>
              <a:ext cx="0" cy="457200"/>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59" name="直接连接符 58">
              <a:extLst>
                <a:ext uri="{FF2B5EF4-FFF2-40B4-BE49-F238E27FC236}">
                  <a16:creationId xmlns:a16="http://schemas.microsoft.com/office/drawing/2014/main" id="{F6118476-4C23-41A4-BCC5-03D90F25F870}"/>
                </a:ext>
              </a:extLst>
            </p:cNvPr>
            <p:cNvCxnSpPr>
              <a:cxnSpLocks/>
            </p:cNvCxnSpPr>
            <p:nvPr/>
          </p:nvCxnSpPr>
          <p:spPr bwMode="auto">
            <a:xfrm>
              <a:off x="3287720" y="5556987"/>
              <a:ext cx="0" cy="250031"/>
            </a:xfrm>
            <a:prstGeom prst="line">
              <a:avLst/>
            </a:prstGeom>
            <a:ln>
              <a:solidFill>
                <a:schemeClr val="tx2"/>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grpSp>
      <p:sp>
        <p:nvSpPr>
          <p:cNvPr id="60" name="TextBox 25">
            <a:extLst>
              <a:ext uri="{FF2B5EF4-FFF2-40B4-BE49-F238E27FC236}">
                <a16:creationId xmlns:a16="http://schemas.microsoft.com/office/drawing/2014/main" id="{0691F158-6368-4508-AE65-2E7DCFED1C8A}"/>
              </a:ext>
            </a:extLst>
          </p:cNvPr>
          <p:cNvSpPr txBox="1"/>
          <p:nvPr/>
        </p:nvSpPr>
        <p:spPr>
          <a:xfrm>
            <a:off x="4490995" y="4849190"/>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
        <p:nvSpPr>
          <p:cNvPr id="61" name="TextBox 25">
            <a:extLst>
              <a:ext uri="{FF2B5EF4-FFF2-40B4-BE49-F238E27FC236}">
                <a16:creationId xmlns:a16="http://schemas.microsoft.com/office/drawing/2014/main" id="{7EE4E308-3796-4CB2-8072-6C313F05705D}"/>
              </a:ext>
            </a:extLst>
          </p:cNvPr>
          <p:cNvSpPr txBox="1"/>
          <p:nvPr/>
        </p:nvSpPr>
        <p:spPr>
          <a:xfrm>
            <a:off x="6797417" y="3691426"/>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
        <p:nvSpPr>
          <p:cNvPr id="62" name="TextBox 25">
            <a:extLst>
              <a:ext uri="{FF2B5EF4-FFF2-40B4-BE49-F238E27FC236}">
                <a16:creationId xmlns:a16="http://schemas.microsoft.com/office/drawing/2014/main" id="{3F2614CA-38A1-46E0-B942-55711ABC6CF3}"/>
              </a:ext>
            </a:extLst>
          </p:cNvPr>
          <p:cNvSpPr txBox="1"/>
          <p:nvPr/>
        </p:nvSpPr>
        <p:spPr>
          <a:xfrm>
            <a:off x="4490995" y="6000231"/>
            <a:ext cx="595035" cy="338554"/>
          </a:xfrm>
          <a:prstGeom prst="rect">
            <a:avLst/>
          </a:prstGeom>
          <a:noFill/>
        </p:spPr>
        <p:txBody>
          <a:bodyPr wrap="none">
            <a:spAutoFit/>
          </a:bodyPr>
          <a:lstStyle/>
          <a:p>
            <a:pPr>
              <a:defRPr/>
            </a:pPr>
            <a:r>
              <a:rPr lang="zh-CN" altLang="en-US" sz="1600" dirty="0">
                <a:solidFill>
                  <a:schemeClr val="tx2"/>
                </a:solidFill>
                <a:latin typeface="+mj-ea"/>
                <a:ea typeface="+mj-ea"/>
              </a:rPr>
              <a:t>噪音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C17DC78B-8A59-4E0A-A770-5DA1B2772D61}"/>
              </a:ext>
            </a:extLst>
          </p:cNvPr>
          <p:cNvCxnSpPr/>
          <p:nvPr/>
        </p:nvCxnSpPr>
        <p:spPr>
          <a:xfrm>
            <a:off x="3432175" y="1557338"/>
            <a:ext cx="51117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020B3035-2F8D-4AD1-A7A3-05B7FC3D2F35}"/>
              </a:ext>
            </a:extLst>
          </p:cNvPr>
          <p:cNvCxnSpPr>
            <a:cxnSpLocks/>
          </p:cNvCxnSpPr>
          <p:nvPr/>
        </p:nvCxnSpPr>
        <p:spPr>
          <a:xfrm>
            <a:off x="5293741" y="5157788"/>
            <a:ext cx="15150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176E77E-B9CE-44E7-A42E-A46489DBBC19}"/>
              </a:ext>
            </a:extLst>
          </p:cNvPr>
          <p:cNvCxnSpPr>
            <a:cxnSpLocks/>
          </p:cNvCxnSpPr>
          <p:nvPr/>
        </p:nvCxnSpPr>
        <p:spPr>
          <a:xfrm>
            <a:off x="3432176" y="1557339"/>
            <a:ext cx="1861565" cy="36004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B833896-4247-4FD2-9352-EE3C355C95E0}"/>
              </a:ext>
            </a:extLst>
          </p:cNvPr>
          <p:cNvCxnSpPr/>
          <p:nvPr/>
        </p:nvCxnSpPr>
        <p:spPr>
          <a:xfrm flipH="1">
            <a:off x="6808789" y="1557338"/>
            <a:ext cx="1735137" cy="36004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40694B2-9015-48EB-AD3D-A645F652876B}"/>
              </a:ext>
            </a:extLst>
          </p:cNvPr>
          <p:cNvCxnSpPr/>
          <p:nvPr/>
        </p:nvCxnSpPr>
        <p:spPr>
          <a:xfrm>
            <a:off x="3792538" y="2276475"/>
            <a:ext cx="43926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B177DAD-C28C-436E-AF40-471815587EF1}"/>
              </a:ext>
            </a:extLst>
          </p:cNvPr>
          <p:cNvCxnSpPr/>
          <p:nvPr/>
        </p:nvCxnSpPr>
        <p:spPr>
          <a:xfrm>
            <a:off x="4147452" y="2997200"/>
            <a:ext cx="3702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03085A38-E3DD-4155-84E0-5C11C402944D}"/>
              </a:ext>
            </a:extLst>
          </p:cNvPr>
          <p:cNvCxnSpPr/>
          <p:nvPr/>
        </p:nvCxnSpPr>
        <p:spPr>
          <a:xfrm>
            <a:off x="4558399" y="3716338"/>
            <a:ext cx="29527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35E08B1-DD39-418C-A76E-02D6E9C5FEFE}"/>
              </a:ext>
            </a:extLst>
          </p:cNvPr>
          <p:cNvCxnSpPr/>
          <p:nvPr/>
        </p:nvCxnSpPr>
        <p:spPr>
          <a:xfrm>
            <a:off x="4945063" y="4437063"/>
            <a:ext cx="2209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8298" name="TextBox 31">
            <a:extLst>
              <a:ext uri="{FF2B5EF4-FFF2-40B4-BE49-F238E27FC236}">
                <a16:creationId xmlns:a16="http://schemas.microsoft.com/office/drawing/2014/main" id="{3E408DFA-8805-4619-A4C5-A71FA7D23571}"/>
              </a:ext>
            </a:extLst>
          </p:cNvPr>
          <p:cNvSpPr txBox="1">
            <a:spLocks noChangeArrowheads="1"/>
          </p:cNvSpPr>
          <p:nvPr/>
        </p:nvSpPr>
        <p:spPr bwMode="auto">
          <a:xfrm>
            <a:off x="4440238" y="1628775"/>
            <a:ext cx="3752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微软雅黑" panose="020B0503020204020204" pitchFamily="34" charset="-122"/>
                <a:ea typeface="微软雅黑" panose="020B0503020204020204" pitchFamily="34" charset="-122"/>
              </a:rPr>
              <a:t>你心里想的 </a:t>
            </a:r>
            <a:r>
              <a:rPr lang="en-US" altLang="zh-CN" b="1">
                <a:latin typeface="微软雅黑" panose="020B0503020204020204" pitchFamily="34" charset="-122"/>
                <a:ea typeface="微软雅黑" panose="020B0503020204020204" pitchFamily="34" charset="-122"/>
              </a:rPr>
              <a:t>100%</a:t>
            </a:r>
            <a:endParaRPr lang="zh-CN" altLang="en-US" b="1">
              <a:latin typeface="微软雅黑" panose="020B0503020204020204" pitchFamily="34" charset="-122"/>
              <a:ea typeface="微软雅黑" panose="020B0503020204020204" pitchFamily="34" charset="-122"/>
            </a:endParaRPr>
          </a:p>
        </p:txBody>
      </p:sp>
      <p:sp>
        <p:nvSpPr>
          <p:cNvPr id="268299" name="TextBox 32">
            <a:extLst>
              <a:ext uri="{FF2B5EF4-FFF2-40B4-BE49-F238E27FC236}">
                <a16:creationId xmlns:a16="http://schemas.microsoft.com/office/drawing/2014/main" id="{731935B4-A9F7-4E29-BA73-91F56FD70904}"/>
              </a:ext>
            </a:extLst>
          </p:cNvPr>
          <p:cNvSpPr txBox="1">
            <a:spLocks noChangeArrowheads="1"/>
          </p:cNvSpPr>
          <p:nvPr/>
        </p:nvSpPr>
        <p:spPr bwMode="auto">
          <a:xfrm>
            <a:off x="4676775" y="2349500"/>
            <a:ext cx="3290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微软雅黑" panose="020B0503020204020204" pitchFamily="34" charset="-122"/>
                <a:ea typeface="微软雅黑" panose="020B0503020204020204" pitchFamily="34" charset="-122"/>
              </a:rPr>
              <a:t>你说出来的 </a:t>
            </a:r>
            <a:r>
              <a:rPr lang="en-US" altLang="zh-CN" sz="2800" b="1">
                <a:latin typeface="微软雅黑" panose="020B0503020204020204" pitchFamily="34" charset="-122"/>
                <a:ea typeface="微软雅黑" panose="020B0503020204020204" pitchFamily="34" charset="-122"/>
              </a:rPr>
              <a:t>80%</a:t>
            </a:r>
            <a:endParaRPr lang="zh-CN" altLang="en-US" sz="2800" b="1">
              <a:latin typeface="微软雅黑" panose="020B0503020204020204" pitchFamily="34" charset="-122"/>
              <a:ea typeface="微软雅黑" panose="020B0503020204020204" pitchFamily="34" charset="-122"/>
            </a:endParaRPr>
          </a:p>
        </p:txBody>
      </p:sp>
      <p:sp>
        <p:nvSpPr>
          <p:cNvPr id="268300" name="TextBox 33">
            <a:extLst>
              <a:ext uri="{FF2B5EF4-FFF2-40B4-BE49-F238E27FC236}">
                <a16:creationId xmlns:a16="http://schemas.microsoft.com/office/drawing/2014/main" id="{8C2934FF-DFD1-49AE-8F13-CCCF1E3C97B7}"/>
              </a:ext>
            </a:extLst>
          </p:cNvPr>
          <p:cNvSpPr txBox="1">
            <a:spLocks noChangeArrowheads="1"/>
          </p:cNvSpPr>
          <p:nvPr/>
        </p:nvSpPr>
        <p:spPr bwMode="auto">
          <a:xfrm>
            <a:off x="4800601" y="3213101"/>
            <a:ext cx="2735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微软雅黑" panose="020B0503020204020204" pitchFamily="34" charset="-122"/>
                <a:ea typeface="微软雅黑" panose="020B0503020204020204" pitchFamily="34" charset="-122"/>
              </a:rPr>
              <a:t>他们听到的 </a:t>
            </a:r>
            <a:r>
              <a:rPr lang="en-US" altLang="zh-CN" sz="2400" b="1" dirty="0">
                <a:latin typeface="微软雅黑" panose="020B0503020204020204" pitchFamily="34" charset="-122"/>
                <a:ea typeface="微软雅黑" panose="020B0503020204020204" pitchFamily="34" charset="-122"/>
              </a:rPr>
              <a:t>60%</a:t>
            </a:r>
            <a:endParaRPr lang="zh-CN" altLang="en-US" sz="2400" b="1" dirty="0">
              <a:latin typeface="微软雅黑" panose="020B0503020204020204" pitchFamily="34" charset="-122"/>
              <a:ea typeface="微软雅黑" panose="020B0503020204020204" pitchFamily="34" charset="-122"/>
            </a:endParaRPr>
          </a:p>
        </p:txBody>
      </p:sp>
      <p:sp>
        <p:nvSpPr>
          <p:cNvPr id="268301" name="TextBox 34">
            <a:extLst>
              <a:ext uri="{FF2B5EF4-FFF2-40B4-BE49-F238E27FC236}">
                <a16:creationId xmlns:a16="http://schemas.microsoft.com/office/drawing/2014/main" id="{031EB177-012C-414C-A6B2-877630FB5178}"/>
              </a:ext>
            </a:extLst>
          </p:cNvPr>
          <p:cNvSpPr txBox="1">
            <a:spLocks noChangeArrowheads="1"/>
          </p:cNvSpPr>
          <p:nvPr/>
        </p:nvSpPr>
        <p:spPr bwMode="auto">
          <a:xfrm>
            <a:off x="5016501" y="3975100"/>
            <a:ext cx="2735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微软雅黑" panose="020B0503020204020204" pitchFamily="34" charset="-122"/>
                <a:ea typeface="微软雅黑" panose="020B0503020204020204" pitchFamily="34" charset="-122"/>
              </a:rPr>
              <a:t>他们听懂的 </a:t>
            </a:r>
            <a:r>
              <a:rPr lang="en-US" altLang="zh-CN" sz="2000" b="1">
                <a:latin typeface="微软雅黑" panose="020B0503020204020204" pitchFamily="34" charset="-122"/>
                <a:ea typeface="微软雅黑" panose="020B0503020204020204" pitchFamily="34" charset="-122"/>
              </a:rPr>
              <a:t>40%</a:t>
            </a:r>
            <a:endParaRPr lang="zh-CN" altLang="en-US" sz="2000" b="1">
              <a:latin typeface="微软雅黑" panose="020B0503020204020204" pitchFamily="34" charset="-122"/>
              <a:ea typeface="微软雅黑" panose="020B0503020204020204" pitchFamily="34" charset="-122"/>
            </a:endParaRPr>
          </a:p>
        </p:txBody>
      </p:sp>
      <p:sp>
        <p:nvSpPr>
          <p:cNvPr id="268302" name="TextBox 35">
            <a:extLst>
              <a:ext uri="{FF2B5EF4-FFF2-40B4-BE49-F238E27FC236}">
                <a16:creationId xmlns:a16="http://schemas.microsoft.com/office/drawing/2014/main" id="{456465F4-5205-4B27-B63C-5ADD3DA5B73D}"/>
              </a:ext>
            </a:extLst>
          </p:cNvPr>
          <p:cNvSpPr txBox="1">
            <a:spLocks noChangeArrowheads="1"/>
          </p:cNvSpPr>
          <p:nvPr/>
        </p:nvSpPr>
        <p:spPr bwMode="auto">
          <a:xfrm>
            <a:off x="5087938" y="4652964"/>
            <a:ext cx="27352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latin typeface="微软雅黑" panose="020B0503020204020204" pitchFamily="34" charset="-122"/>
                <a:ea typeface="微软雅黑" panose="020B0503020204020204" pitchFamily="34" charset="-122"/>
              </a:rPr>
              <a:t>他们行动的 </a:t>
            </a:r>
            <a:r>
              <a:rPr lang="en-US" altLang="zh-CN" sz="1800" b="1">
                <a:latin typeface="微软雅黑" panose="020B0503020204020204" pitchFamily="34" charset="-122"/>
                <a:ea typeface="微软雅黑" panose="020B0503020204020204" pitchFamily="34" charset="-122"/>
              </a:rPr>
              <a:t>20%</a:t>
            </a:r>
            <a:endParaRPr lang="zh-CN" altLang="en-US" sz="1800" b="1">
              <a:latin typeface="微软雅黑" panose="020B0503020204020204" pitchFamily="34" charset="-122"/>
              <a:ea typeface="微软雅黑" panose="020B0503020204020204" pitchFamily="34" charset="-122"/>
            </a:endParaRPr>
          </a:p>
        </p:txBody>
      </p:sp>
      <p:sp>
        <p:nvSpPr>
          <p:cNvPr id="268303" name="矩形 36">
            <a:extLst>
              <a:ext uri="{FF2B5EF4-FFF2-40B4-BE49-F238E27FC236}">
                <a16:creationId xmlns:a16="http://schemas.microsoft.com/office/drawing/2014/main" id="{E44765D0-5F4A-4030-8756-BCA3A70B4D1E}"/>
              </a:ext>
            </a:extLst>
          </p:cNvPr>
          <p:cNvSpPr>
            <a:spLocks noChangeArrowheads="1"/>
          </p:cNvSpPr>
          <p:nvPr/>
        </p:nvSpPr>
        <p:spPr bwMode="auto">
          <a:xfrm>
            <a:off x="4975226" y="5445126"/>
            <a:ext cx="1800225"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buFontTx/>
              <a:buNone/>
            </a:pPr>
            <a:r>
              <a:rPr lang="zh-CN" altLang="en-US" sz="2800" b="1" dirty="0">
                <a:latin typeface="微软雅黑" panose="020B0503020204020204" pitchFamily="34" charset="-122"/>
                <a:ea typeface="微软雅黑" panose="020B0503020204020204" pitchFamily="34" charset="-122"/>
              </a:rPr>
              <a:t>沟通漏斗</a:t>
            </a:r>
          </a:p>
        </p:txBody>
      </p:sp>
      <p:sp>
        <p:nvSpPr>
          <p:cNvPr id="38" name="下箭头 37">
            <a:extLst>
              <a:ext uri="{FF2B5EF4-FFF2-40B4-BE49-F238E27FC236}">
                <a16:creationId xmlns:a16="http://schemas.microsoft.com/office/drawing/2014/main" id="{E2B97988-2732-415C-8649-BFDCDA0955B0}"/>
              </a:ext>
            </a:extLst>
          </p:cNvPr>
          <p:cNvSpPr/>
          <p:nvPr/>
        </p:nvSpPr>
        <p:spPr>
          <a:xfrm>
            <a:off x="8543926" y="1974851"/>
            <a:ext cx="504825" cy="31400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pitchFamily="34" charset="-122"/>
              <a:ea typeface="微软雅黑" panose="020B0503020204020204" pitchFamily="34" charset="-122"/>
            </a:endParaRPr>
          </a:p>
        </p:txBody>
      </p:sp>
      <p:sp>
        <p:nvSpPr>
          <p:cNvPr id="17" name="标题 2">
            <a:extLst>
              <a:ext uri="{FF2B5EF4-FFF2-40B4-BE49-F238E27FC236}">
                <a16:creationId xmlns:a16="http://schemas.microsoft.com/office/drawing/2014/main" id="{592A469A-D04F-41E2-8442-87635A06F452}"/>
              </a:ext>
            </a:extLst>
          </p:cNvPr>
          <p:cNvSpPr>
            <a:spLocks noGrp="1"/>
          </p:cNvSpPr>
          <p:nvPr>
            <p:ph type="title"/>
          </p:nvPr>
        </p:nvSpPr>
        <p:spPr>
          <a:xfrm>
            <a:off x="1997825" y="593679"/>
            <a:ext cx="8229600" cy="357925"/>
          </a:xfrm>
        </p:spPr>
        <p:txBody>
          <a:bodyPr/>
          <a:lstStyle/>
          <a:p>
            <a:r>
              <a:rPr lang="en-US" altLang="zh-CN" dirty="0">
                <a:latin typeface="微软雅黑" panose="020B0503020204020204" pitchFamily="34" charset="-122"/>
              </a:rPr>
              <a:t>16.1 </a:t>
            </a:r>
            <a:r>
              <a:rPr lang="zh-CN" altLang="en-US" dirty="0">
                <a:latin typeface="微软雅黑" panose="020B0503020204020204" pitchFamily="34" charset="-122"/>
              </a:rPr>
              <a:t>沟通与沟通管理</a:t>
            </a:r>
          </a:p>
        </p:txBody>
      </p:sp>
      <p:sp>
        <p:nvSpPr>
          <p:cNvPr id="2" name="文本框 1">
            <a:extLst>
              <a:ext uri="{FF2B5EF4-FFF2-40B4-BE49-F238E27FC236}">
                <a16:creationId xmlns:a16="http://schemas.microsoft.com/office/drawing/2014/main" id="{1AE50E8D-592A-4696-8EDE-F2CBB221E349}"/>
              </a:ext>
            </a:extLst>
          </p:cNvPr>
          <p:cNvSpPr txBox="1"/>
          <p:nvPr/>
        </p:nvSpPr>
        <p:spPr>
          <a:xfrm>
            <a:off x="2578672" y="4175125"/>
            <a:ext cx="170700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不恰当的沟通</a:t>
            </a:r>
          </a:p>
        </p:txBody>
      </p:sp>
      <p:sp>
        <p:nvSpPr>
          <p:cNvPr id="20" name="文本框 19">
            <a:extLst>
              <a:ext uri="{FF2B5EF4-FFF2-40B4-BE49-F238E27FC236}">
                <a16:creationId xmlns:a16="http://schemas.microsoft.com/office/drawing/2014/main" id="{26CC5203-DB67-CCF2-5752-05C9B897E166}"/>
              </a:ext>
            </a:extLst>
          </p:cNvPr>
          <p:cNvSpPr txBox="1"/>
          <p:nvPr/>
        </p:nvSpPr>
        <p:spPr>
          <a:xfrm>
            <a:off x="7676357" y="5261828"/>
            <a:ext cx="2164191" cy="646331"/>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理解的偏差，还可能引发严重的后果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227E8C6C-1BF9-4E5D-9372-2D07FBF2FEED}"/>
              </a:ext>
            </a:extLst>
          </p:cNvPr>
          <p:cNvSpPr>
            <a:spLocks noGrp="1"/>
          </p:cNvSpPr>
          <p:nvPr>
            <p:ph type="title"/>
          </p:nvPr>
        </p:nvSpPr>
        <p:spPr>
          <a:xfrm>
            <a:off x="1288379" y="967398"/>
            <a:ext cx="3182899" cy="437186"/>
          </a:xfrm>
          <a:prstGeom prst="rect">
            <a:avLst/>
          </a:prstGeom>
        </p:spPr>
        <p:txBody>
          <a:bodyPr/>
          <a:lstStyle/>
          <a:p>
            <a:r>
              <a:rPr lang="zh-CN" altLang="en-US" sz="2400" dirty="0"/>
              <a:t>沟通技术</a:t>
            </a:r>
          </a:p>
        </p:txBody>
      </p:sp>
      <p:sp>
        <p:nvSpPr>
          <p:cNvPr id="3" name="内容占位符 2">
            <a:extLst>
              <a:ext uri="{FF2B5EF4-FFF2-40B4-BE49-F238E27FC236}">
                <a16:creationId xmlns:a16="http://schemas.microsoft.com/office/drawing/2014/main" id="{D8CFE263-52C0-46E8-8EB2-1D4BAA1030AF}"/>
              </a:ext>
            </a:extLst>
          </p:cNvPr>
          <p:cNvSpPr>
            <a:spLocks noGrp="1"/>
          </p:cNvSpPr>
          <p:nvPr>
            <p:ph idx="1"/>
          </p:nvPr>
        </p:nvSpPr>
        <p:spPr>
          <a:xfrm>
            <a:off x="1087395" y="1404585"/>
            <a:ext cx="9910119" cy="919163"/>
          </a:xfrm>
        </p:spPr>
        <p:txBody>
          <a:bodyPr/>
          <a:lstStyle/>
          <a:p>
            <a:pPr>
              <a:defRPr/>
            </a:pPr>
            <a:r>
              <a:rPr lang="zh-CN" altLang="en-US" sz="2000" dirty="0"/>
              <a:t>随着信息技术和互联网技术的发展，沟通技术本身发生了很大的变化</a:t>
            </a:r>
            <a:endParaRPr lang="en-US" altLang="zh-CN" sz="2000" dirty="0"/>
          </a:p>
          <a:p>
            <a:pPr>
              <a:defRPr/>
            </a:pPr>
            <a:r>
              <a:rPr lang="zh-CN" altLang="en-US" sz="2000" dirty="0"/>
              <a:t>抛开传统沟通类型，重点需要关注同步</a:t>
            </a:r>
            <a:r>
              <a:rPr lang="en-US" altLang="zh-CN" sz="2000" dirty="0"/>
              <a:t>/</a:t>
            </a:r>
            <a:r>
              <a:rPr lang="zh-CN" altLang="en-US" sz="2000" dirty="0"/>
              <a:t>异步，本地</a:t>
            </a:r>
            <a:r>
              <a:rPr lang="en-US" altLang="zh-CN" sz="2000" dirty="0"/>
              <a:t>/</a:t>
            </a:r>
            <a:r>
              <a:rPr lang="zh-CN" altLang="en-US" sz="2000" dirty="0"/>
              <a:t>异地带来的沟通技术和模式转变</a:t>
            </a:r>
          </a:p>
        </p:txBody>
      </p:sp>
      <p:sp>
        <p:nvSpPr>
          <p:cNvPr id="4" name="矩形 3">
            <a:extLst>
              <a:ext uri="{FF2B5EF4-FFF2-40B4-BE49-F238E27FC236}">
                <a16:creationId xmlns:a16="http://schemas.microsoft.com/office/drawing/2014/main" id="{7DB64A14-480B-4926-9568-53678137019E}"/>
              </a:ext>
            </a:extLst>
          </p:cNvPr>
          <p:cNvSpPr/>
          <p:nvPr/>
        </p:nvSpPr>
        <p:spPr bwMode="auto">
          <a:xfrm>
            <a:off x="5667376" y="3681060"/>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面对面沟通</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各种会议</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个人面谈</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电话沟通</a:t>
            </a:r>
            <a:r>
              <a:rPr lang="en-US" altLang="zh-CN" sz="1400" dirty="0">
                <a:solidFill>
                  <a:srgbClr val="FFFFCC"/>
                </a:solidFill>
                <a:latin typeface="+mj-ea"/>
                <a:ea typeface="+mj-ea"/>
              </a:rPr>
              <a:t>/IM</a:t>
            </a:r>
            <a:endParaRPr lang="zh-CN" altLang="en-US" sz="1400" dirty="0">
              <a:solidFill>
                <a:srgbClr val="FFFFCC"/>
              </a:solidFill>
              <a:latin typeface="+mj-ea"/>
              <a:ea typeface="+mj-ea"/>
            </a:endParaRPr>
          </a:p>
        </p:txBody>
      </p:sp>
      <p:sp>
        <p:nvSpPr>
          <p:cNvPr id="5" name="矩形 4">
            <a:extLst>
              <a:ext uri="{FF2B5EF4-FFF2-40B4-BE49-F238E27FC236}">
                <a16:creationId xmlns:a16="http://schemas.microsoft.com/office/drawing/2014/main" id="{8378738D-2E2E-4C08-AAEF-FB0FAA506E13}"/>
              </a:ext>
            </a:extLst>
          </p:cNvPr>
          <p:cNvSpPr/>
          <p:nvPr/>
        </p:nvSpPr>
        <p:spPr bwMode="auto">
          <a:xfrm>
            <a:off x="7739064" y="3681060"/>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电话沟通</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异地电话会议</a:t>
            </a:r>
            <a:endParaRPr lang="en-US" altLang="zh-CN" sz="1400" dirty="0">
              <a:solidFill>
                <a:srgbClr val="FFFFCC"/>
              </a:solidFill>
              <a:latin typeface="+mj-ea"/>
              <a:ea typeface="+mj-ea"/>
            </a:endParaRPr>
          </a:p>
          <a:p>
            <a:pPr>
              <a:buFont typeface="Wingdings" pitchFamily="2" charset="2"/>
              <a:buChar char="u"/>
              <a:defRPr/>
            </a:pPr>
            <a:r>
              <a:rPr lang="en-US" altLang="zh-CN" sz="1400" dirty="0">
                <a:solidFill>
                  <a:srgbClr val="FFFFCC"/>
                </a:solidFill>
                <a:latin typeface="+mj-ea"/>
                <a:ea typeface="+mj-ea"/>
              </a:rPr>
              <a:t> IM</a:t>
            </a:r>
            <a:r>
              <a:rPr lang="zh-CN" altLang="en-US" sz="1400" dirty="0">
                <a:solidFill>
                  <a:srgbClr val="FFFFCC"/>
                </a:solidFill>
                <a:latin typeface="+mj-ea"/>
                <a:ea typeface="+mj-ea"/>
              </a:rPr>
              <a:t>沟通</a:t>
            </a:r>
          </a:p>
        </p:txBody>
      </p:sp>
      <p:sp>
        <p:nvSpPr>
          <p:cNvPr id="6" name="矩形 5">
            <a:extLst>
              <a:ext uri="{FF2B5EF4-FFF2-40B4-BE49-F238E27FC236}">
                <a16:creationId xmlns:a16="http://schemas.microsoft.com/office/drawing/2014/main" id="{C1242FCF-4B83-4460-80D4-4DE4DA51E610}"/>
              </a:ext>
            </a:extLst>
          </p:cNvPr>
          <p:cNvSpPr/>
          <p:nvPr/>
        </p:nvSpPr>
        <p:spPr bwMode="auto">
          <a:xfrm>
            <a:off x="5667376" y="4966935"/>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邮件</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文档输出</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周报月报</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离线信息</a:t>
            </a:r>
            <a:r>
              <a:rPr lang="en-US" altLang="zh-CN" sz="1400" dirty="0">
                <a:solidFill>
                  <a:srgbClr val="FFFFCC"/>
                </a:solidFill>
                <a:latin typeface="+mj-ea"/>
                <a:ea typeface="+mj-ea"/>
              </a:rPr>
              <a:t>/</a:t>
            </a:r>
            <a:r>
              <a:rPr lang="zh-CN" altLang="en-US" sz="1400" dirty="0">
                <a:solidFill>
                  <a:srgbClr val="FFFFCC"/>
                </a:solidFill>
                <a:latin typeface="+mj-ea"/>
                <a:ea typeface="+mj-ea"/>
              </a:rPr>
              <a:t>微信</a:t>
            </a:r>
          </a:p>
        </p:txBody>
      </p:sp>
      <p:sp>
        <p:nvSpPr>
          <p:cNvPr id="8" name="矩形 7">
            <a:extLst>
              <a:ext uri="{FF2B5EF4-FFF2-40B4-BE49-F238E27FC236}">
                <a16:creationId xmlns:a16="http://schemas.microsoft.com/office/drawing/2014/main" id="{EF427360-CB36-42B8-808B-C6545213789A}"/>
              </a:ext>
            </a:extLst>
          </p:cNvPr>
          <p:cNvSpPr/>
          <p:nvPr/>
        </p:nvSpPr>
        <p:spPr bwMode="auto">
          <a:xfrm>
            <a:off x="5667376" y="3180998"/>
            <a:ext cx="1857375" cy="357187"/>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本地</a:t>
            </a:r>
          </a:p>
        </p:txBody>
      </p:sp>
      <p:sp>
        <p:nvSpPr>
          <p:cNvPr id="9" name="矩形 8">
            <a:extLst>
              <a:ext uri="{FF2B5EF4-FFF2-40B4-BE49-F238E27FC236}">
                <a16:creationId xmlns:a16="http://schemas.microsoft.com/office/drawing/2014/main" id="{3E5720A4-FC45-4996-96B1-2D8ECC5C0B38}"/>
              </a:ext>
            </a:extLst>
          </p:cNvPr>
          <p:cNvSpPr/>
          <p:nvPr/>
        </p:nvSpPr>
        <p:spPr bwMode="auto">
          <a:xfrm>
            <a:off x="7739064" y="3180998"/>
            <a:ext cx="1857375" cy="357187"/>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异地</a:t>
            </a:r>
          </a:p>
        </p:txBody>
      </p:sp>
      <p:sp>
        <p:nvSpPr>
          <p:cNvPr id="10" name="矩形 9">
            <a:extLst>
              <a:ext uri="{FF2B5EF4-FFF2-40B4-BE49-F238E27FC236}">
                <a16:creationId xmlns:a16="http://schemas.microsoft.com/office/drawing/2014/main" id="{9EA5A1D1-0B31-4E73-97AC-407A06E3C8DC}"/>
              </a:ext>
            </a:extLst>
          </p:cNvPr>
          <p:cNvSpPr/>
          <p:nvPr/>
        </p:nvSpPr>
        <p:spPr bwMode="auto">
          <a:xfrm>
            <a:off x="5167314" y="3681060"/>
            <a:ext cx="357187" cy="1071563"/>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同步</a:t>
            </a:r>
          </a:p>
        </p:txBody>
      </p:sp>
      <p:sp>
        <p:nvSpPr>
          <p:cNvPr id="11" name="矩形 10">
            <a:extLst>
              <a:ext uri="{FF2B5EF4-FFF2-40B4-BE49-F238E27FC236}">
                <a16:creationId xmlns:a16="http://schemas.microsoft.com/office/drawing/2014/main" id="{B8AF30C9-1940-47EC-8B34-7796CD24B598}"/>
              </a:ext>
            </a:extLst>
          </p:cNvPr>
          <p:cNvSpPr/>
          <p:nvPr/>
        </p:nvSpPr>
        <p:spPr bwMode="auto">
          <a:xfrm>
            <a:off x="5167314" y="4966935"/>
            <a:ext cx="357187" cy="1071563"/>
          </a:xfrm>
          <a:prstGeom prst="rect">
            <a:avLst/>
          </a:prstGeom>
          <a:solidFill>
            <a:schemeClr val="accent4">
              <a:lumMod val="75000"/>
            </a:schemeClr>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异步</a:t>
            </a:r>
          </a:p>
        </p:txBody>
      </p:sp>
      <p:sp>
        <p:nvSpPr>
          <p:cNvPr id="13" name="矩形 12">
            <a:extLst>
              <a:ext uri="{FF2B5EF4-FFF2-40B4-BE49-F238E27FC236}">
                <a16:creationId xmlns:a16="http://schemas.microsoft.com/office/drawing/2014/main" id="{09284953-D7CB-4302-80C0-F8D5BF079235}"/>
              </a:ext>
            </a:extLst>
          </p:cNvPr>
          <p:cNvSpPr/>
          <p:nvPr/>
        </p:nvSpPr>
        <p:spPr bwMode="auto">
          <a:xfrm>
            <a:off x="7739064" y="4966935"/>
            <a:ext cx="1857375" cy="10715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buFont typeface="Wingdings" pitchFamily="2" charset="2"/>
              <a:buChar char="u"/>
              <a:defRPr/>
            </a:pPr>
            <a:r>
              <a:rPr lang="zh-CN" altLang="en-US" sz="1400" dirty="0">
                <a:solidFill>
                  <a:srgbClr val="FFFFCC"/>
                </a:solidFill>
                <a:latin typeface="+mj-ea"/>
                <a:ea typeface="+mj-ea"/>
              </a:rPr>
              <a:t> 邮件</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文档输出</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周报月报</a:t>
            </a:r>
            <a:endParaRPr lang="en-US" altLang="zh-CN" sz="1400" dirty="0">
              <a:solidFill>
                <a:srgbClr val="FFFFCC"/>
              </a:solidFill>
              <a:latin typeface="+mj-ea"/>
              <a:ea typeface="+mj-ea"/>
            </a:endParaRPr>
          </a:p>
          <a:p>
            <a:pPr>
              <a:buFont typeface="Wingdings" pitchFamily="2" charset="2"/>
              <a:buChar char="u"/>
              <a:defRPr/>
            </a:pPr>
            <a:r>
              <a:rPr lang="zh-CN" altLang="en-US" sz="1400" dirty="0">
                <a:solidFill>
                  <a:srgbClr val="FFFFCC"/>
                </a:solidFill>
                <a:latin typeface="+mj-ea"/>
                <a:ea typeface="+mj-ea"/>
              </a:rPr>
              <a:t> 离线信息</a:t>
            </a:r>
            <a:r>
              <a:rPr lang="en-US" altLang="zh-CN" sz="1400" dirty="0">
                <a:solidFill>
                  <a:srgbClr val="FFFFCC"/>
                </a:solidFill>
                <a:latin typeface="+mj-ea"/>
                <a:ea typeface="+mj-ea"/>
              </a:rPr>
              <a:t>/</a:t>
            </a:r>
            <a:r>
              <a:rPr lang="zh-CN" altLang="en-US" sz="1400" dirty="0">
                <a:solidFill>
                  <a:srgbClr val="FFFFCC"/>
                </a:solidFill>
                <a:latin typeface="+mj-ea"/>
                <a:ea typeface="+mj-ea"/>
              </a:rPr>
              <a:t>微信</a:t>
            </a:r>
          </a:p>
        </p:txBody>
      </p:sp>
    </p:spTree>
    <p:extLst>
      <p:ext uri="{BB962C8B-B14F-4D97-AF65-F5344CB8AC3E}">
        <p14:creationId xmlns:p14="http://schemas.microsoft.com/office/powerpoint/2010/main" val="175392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4">
            <a:extLst>
              <a:ext uri="{FF2B5EF4-FFF2-40B4-BE49-F238E27FC236}">
                <a16:creationId xmlns:a16="http://schemas.microsoft.com/office/drawing/2014/main" id="{48493B1E-C2C1-4A3E-B65C-9777DCE2FE60}"/>
              </a:ext>
            </a:extLst>
          </p:cNvPr>
          <p:cNvSpPr>
            <a:spLocks noGrp="1"/>
          </p:cNvSpPr>
          <p:nvPr>
            <p:ph type="ftr" sz="quarter" idx="11"/>
          </p:nvPr>
        </p:nvSpPr>
        <p:spPr/>
        <p:txBody>
          <a:bodyPr/>
          <a:lstStyle/>
          <a:p>
            <a:pPr>
              <a:defRPr/>
            </a:pPr>
            <a:endParaRPr lang="zh-CN" altLang="en-US" dirty="0"/>
          </a:p>
        </p:txBody>
      </p:sp>
      <p:sp>
        <p:nvSpPr>
          <p:cNvPr id="427011" name="Rectangle 2">
            <a:extLst>
              <a:ext uri="{FF2B5EF4-FFF2-40B4-BE49-F238E27FC236}">
                <a16:creationId xmlns:a16="http://schemas.microsoft.com/office/drawing/2014/main" id="{A7F474A6-CD79-41CA-8481-368040F01CDF}"/>
              </a:ext>
            </a:extLst>
          </p:cNvPr>
          <p:cNvSpPr>
            <a:spLocks noGrp="1" noChangeArrowheads="1"/>
          </p:cNvSpPr>
          <p:nvPr>
            <p:ph type="title"/>
          </p:nvPr>
        </p:nvSpPr>
        <p:spPr>
          <a:xfrm>
            <a:off x="1801793" y="1263571"/>
            <a:ext cx="3900669" cy="563563"/>
          </a:xfrm>
        </p:spPr>
        <p:txBody>
          <a:bodyPr/>
          <a:lstStyle/>
          <a:p>
            <a:pPr eaLnBrk="1" hangingPunct="1"/>
            <a:r>
              <a:rPr lang="zh-CN" altLang="en-US" sz="2800" dirty="0">
                <a:solidFill>
                  <a:srgbClr val="663300"/>
                </a:solidFill>
              </a:rPr>
              <a:t>信息沟通的形式</a:t>
            </a:r>
          </a:p>
        </p:txBody>
      </p:sp>
      <p:graphicFrame>
        <p:nvGraphicFramePr>
          <p:cNvPr id="735235" name="Group 3">
            <a:extLst>
              <a:ext uri="{FF2B5EF4-FFF2-40B4-BE49-F238E27FC236}">
                <a16:creationId xmlns:a16="http://schemas.microsoft.com/office/drawing/2014/main" id="{D84398F2-1550-41FB-8B02-DA1DCB74C343}"/>
              </a:ext>
            </a:extLst>
          </p:cNvPr>
          <p:cNvGraphicFramePr>
            <a:graphicFrameLocks noGrp="1"/>
          </p:cNvGraphicFramePr>
          <p:nvPr>
            <p:ph idx="1"/>
            <p:extLst>
              <p:ext uri="{D42A27DB-BD31-4B8C-83A1-F6EECF244321}">
                <p14:modId xmlns:p14="http://schemas.microsoft.com/office/powerpoint/2010/main" val="4153632048"/>
              </p:ext>
            </p:extLst>
          </p:nvPr>
        </p:nvGraphicFramePr>
        <p:xfrm>
          <a:off x="1981200" y="2004555"/>
          <a:ext cx="8229600" cy="4275765"/>
        </p:xfrm>
        <a:graphic>
          <a:graphicData uri="http://schemas.openxmlformats.org/drawingml/2006/table">
            <a:tbl>
              <a:tblPr/>
              <a:tblGrid>
                <a:gridCol w="2245057">
                  <a:extLst>
                    <a:ext uri="{9D8B030D-6E8A-4147-A177-3AD203B41FA5}">
                      <a16:colId xmlns:a16="http://schemas.microsoft.com/office/drawing/2014/main" val="20000"/>
                    </a:ext>
                  </a:extLst>
                </a:gridCol>
                <a:gridCol w="3241343">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2474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正式的</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非正式的</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0"/>
                  </a:ext>
                </a:extLst>
              </a:tr>
              <a:tr h="731889">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口头方式</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演讲，报告，汇报，</a:t>
                      </a:r>
                    </a:p>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谈判，会议</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谈话，电话，打招呼</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1"/>
                  </a:ext>
                </a:extLst>
              </a:tr>
              <a:tr h="86355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书面方式</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合同，报告，会议纪要，报表，备忘录</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笔记，便条</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2"/>
                  </a:ext>
                </a:extLst>
              </a:tr>
              <a:tr h="919894">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非语言沟通</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手语，信号灯，音乐</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表情，声调，肢体语言，身体动作</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拥抱，握手</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endPar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extLst>
                  <a:ext uri="{0D108BD9-81ED-4DB2-BD59-A6C34878D82A}">
                    <a16:rowId xmlns:a16="http://schemas.microsoft.com/office/drawing/2014/main" val="10003"/>
                  </a:ext>
                </a:extLst>
              </a:tr>
              <a:tr h="774552">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a:ln>
                            <a:noFill/>
                          </a:ln>
                          <a:solidFill>
                            <a:schemeClr val="bg1"/>
                          </a:solidFill>
                          <a:effectLst/>
                          <a:latin typeface="黑体" panose="02010609060101010101" pitchFamily="49" charset="-122"/>
                          <a:ea typeface="黑体" panose="02010609060101010101" pitchFamily="49" charset="-122"/>
                        </a:rPr>
                        <a:t>工具沟通</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gridSpan="2">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电话，传真，</a:t>
                      </a: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Email</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，手机，</a:t>
                      </a:r>
                      <a:r>
                        <a:rPr kumimoji="0" lang="zh-CN" altLang="en-US" sz="2000" b="1" i="0" u="none" strike="noStrike" kern="1200" cap="none" normalizeH="0" baseline="0" dirty="0">
                          <a:ln>
                            <a:noFill/>
                          </a:ln>
                          <a:solidFill>
                            <a:schemeClr val="tx1"/>
                          </a:solidFill>
                          <a:effectLst/>
                          <a:latin typeface="黑体" panose="02010609060101010101" pitchFamily="49" charset="-122"/>
                          <a:ea typeface="黑体" panose="02010609060101010101" pitchFamily="49" charset="-122"/>
                          <a:cs typeface="+mn-cs"/>
                        </a:rPr>
                        <a:t>面对面，</a:t>
                      </a:r>
                      <a:r>
                        <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快递，图片，行动，</a:t>
                      </a:r>
                      <a:r>
                        <a:rPr lang="zh-CN" altLang="en-US" sz="1800" b="1" i="0" u="none" strike="noStrike" kern="1200" baseline="0" dirty="0">
                          <a:solidFill>
                            <a:schemeClr val="tx1"/>
                          </a:solidFill>
                          <a:latin typeface="Arial" panose="020B0604020202020204" pitchFamily="34" charset="0"/>
                          <a:ea typeface="黑体" panose="02010609060101010101" pitchFamily="49" charset="-122"/>
                          <a:cs typeface="+mn-cs"/>
                        </a:rPr>
                        <a:t>遣词造句</a:t>
                      </a:r>
                      <a:endParaRPr kumimoji="0"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c hMerge="1">
                  <a:txBody>
                    <a:bodyPr/>
                    <a:lstStyle/>
                    <a:p>
                      <a:endParaRPr lang="zh-CN" altLang="en-US"/>
                    </a:p>
                  </a:txBody>
                  <a:tcPr/>
                </a:tc>
                <a:extLst>
                  <a:ext uri="{0D108BD9-81ED-4DB2-BD59-A6C34878D82A}">
                    <a16:rowId xmlns:a16="http://schemas.microsoft.com/office/drawing/2014/main" val="10004"/>
                  </a:ext>
                </a:extLst>
              </a:tr>
            </a:tbl>
          </a:graphicData>
        </a:graphic>
      </p:graphicFrame>
      <p:sp>
        <p:nvSpPr>
          <p:cNvPr id="6" name="标题 2">
            <a:extLst>
              <a:ext uri="{FF2B5EF4-FFF2-40B4-BE49-F238E27FC236}">
                <a16:creationId xmlns:a16="http://schemas.microsoft.com/office/drawing/2014/main" id="{F49D2A35-BA63-486E-9C4D-06F859E14438}"/>
              </a:ext>
            </a:extLst>
          </p:cNvPr>
          <p:cNvSpPr txBox="1">
            <a:spLocks/>
          </p:cNvSpPr>
          <p:nvPr/>
        </p:nvSpPr>
        <p:spPr>
          <a:xfrm>
            <a:off x="1997825" y="593679"/>
            <a:ext cx="8229600" cy="357925"/>
          </a:xfrm>
        </p:spPr>
        <p:txBody>
          <a:bodyPr/>
          <a:lst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sz="2000" b="1" dirty="0">
                <a:solidFill>
                  <a:srgbClr val="663300"/>
                </a:solidFill>
              </a:rPr>
              <a:t>16.1 </a:t>
            </a:r>
            <a:r>
              <a:rPr lang="zh-CN" altLang="en-US" sz="2000" b="1" dirty="0">
                <a:solidFill>
                  <a:srgbClr val="663300"/>
                </a:solidFill>
              </a:rPr>
              <a:t>沟通与沟通管理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6259" name="Group 3">
            <a:extLst>
              <a:ext uri="{FF2B5EF4-FFF2-40B4-BE49-F238E27FC236}">
                <a16:creationId xmlns:a16="http://schemas.microsoft.com/office/drawing/2014/main" id="{ABFD70A8-0BE4-43B8-9B8C-2A4C7C4BCBDD}"/>
              </a:ext>
            </a:extLst>
          </p:cNvPr>
          <p:cNvGraphicFramePr>
            <a:graphicFrameLocks noGrp="1"/>
          </p:cNvGraphicFramePr>
          <p:nvPr>
            <p:ph idx="1"/>
            <p:extLst>
              <p:ext uri="{D42A27DB-BD31-4B8C-83A1-F6EECF244321}">
                <p14:modId xmlns:p14="http://schemas.microsoft.com/office/powerpoint/2010/main" val="96057134"/>
              </p:ext>
            </p:extLst>
          </p:nvPr>
        </p:nvGraphicFramePr>
        <p:xfrm>
          <a:off x="1395664" y="2418936"/>
          <a:ext cx="9348536" cy="3211858"/>
        </p:xfrm>
        <a:graphic>
          <a:graphicData uri="http://schemas.openxmlformats.org/drawingml/2006/table">
            <a:tbl>
              <a:tblPr/>
              <a:tblGrid>
                <a:gridCol w="2419044">
                  <a:extLst>
                    <a:ext uri="{9D8B030D-6E8A-4147-A177-3AD203B41FA5}">
                      <a16:colId xmlns:a16="http://schemas.microsoft.com/office/drawing/2014/main" val="20000"/>
                    </a:ext>
                  </a:extLst>
                </a:gridCol>
                <a:gridCol w="3212648">
                  <a:extLst>
                    <a:ext uri="{9D8B030D-6E8A-4147-A177-3AD203B41FA5}">
                      <a16:colId xmlns:a16="http://schemas.microsoft.com/office/drawing/2014/main" val="20001"/>
                    </a:ext>
                  </a:extLst>
                </a:gridCol>
                <a:gridCol w="3716844">
                  <a:extLst>
                    <a:ext uri="{9D8B030D-6E8A-4147-A177-3AD203B41FA5}">
                      <a16:colId xmlns:a16="http://schemas.microsoft.com/office/drawing/2014/main" val="20002"/>
                    </a:ext>
                  </a:extLst>
                </a:gridCol>
              </a:tblGrid>
              <a:tr h="407834">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方式</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特点</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适用场景</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正式书面</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适合保存、内容不走样、有格式要求</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根据合同进行的沟通：终止与某供应商的合作</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正式口头</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速度快，不易保存，需要很多条件</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项目启动会</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56">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非正式口头</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2000" b="1" i="0" kern="1200" dirty="0">
                          <a:solidFill>
                            <a:schemeClr val="tx1"/>
                          </a:solidFill>
                          <a:effectLst/>
                          <a:latin typeface="微软雅黑" panose="020B0503020204020204" pitchFamily="34" charset="-122"/>
                          <a:ea typeface="微软雅黑" panose="020B0503020204020204" pitchFamily="34" charset="-122"/>
                          <a:cs typeface="+mn-cs"/>
                        </a:rPr>
                        <a:t>人性化，</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效率高</a:t>
                      </a:r>
                      <a:r>
                        <a:rPr lang="zh-CN" altLang="en-US" sz="2000" b="1" i="0" kern="1200" dirty="0">
                          <a:solidFill>
                            <a:schemeClr val="tx1"/>
                          </a:solidFill>
                          <a:effectLst/>
                          <a:latin typeface="微软雅黑" panose="020B0503020204020204" pitchFamily="34" charset="-122"/>
                          <a:ea typeface="微软雅黑" panose="020B0503020204020204" pitchFamily="34" charset="-122"/>
                          <a:cs typeface="+mn-cs"/>
                        </a:rPr>
                        <a:t>，容易充分了解和沟通</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某个团队成员表现不太好</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090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非正式书面</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适合保存，格式没有要求</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团队成员的笔记、便条、即时贴、</a:t>
                      </a: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IM</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28035" name="Rectangle 2">
            <a:extLst>
              <a:ext uri="{FF2B5EF4-FFF2-40B4-BE49-F238E27FC236}">
                <a16:creationId xmlns:a16="http://schemas.microsoft.com/office/drawing/2014/main" id="{87FAEE74-E9DB-4BD2-8EFD-A5C82FE6B504}"/>
              </a:ext>
            </a:extLst>
          </p:cNvPr>
          <p:cNvSpPr>
            <a:spLocks noGrp="1" noChangeArrowheads="1"/>
          </p:cNvSpPr>
          <p:nvPr>
            <p:ph type="title"/>
          </p:nvPr>
        </p:nvSpPr>
        <p:spPr>
          <a:xfrm>
            <a:off x="1765813" y="1719805"/>
            <a:ext cx="5585781" cy="357925"/>
          </a:xfrm>
        </p:spPr>
        <p:txBody>
          <a:bodyPr/>
          <a:lstStyle/>
          <a:p>
            <a:pPr eaLnBrk="1" hangingPunct="1"/>
            <a:r>
              <a:rPr lang="zh-CN" altLang="en-US" sz="2400" dirty="0">
                <a:latin typeface="微软雅黑" panose="020B0503020204020204" pitchFamily="34" charset="-122"/>
              </a:rPr>
              <a:t>主要沟通方式比较</a:t>
            </a:r>
          </a:p>
        </p:txBody>
      </p:sp>
      <p:sp>
        <p:nvSpPr>
          <p:cNvPr id="6" name="标题 2">
            <a:extLst>
              <a:ext uri="{FF2B5EF4-FFF2-40B4-BE49-F238E27FC236}">
                <a16:creationId xmlns:a16="http://schemas.microsoft.com/office/drawing/2014/main" id="{88F3A60B-CE14-42E1-8DEF-8A5296A39177}"/>
              </a:ext>
            </a:extLst>
          </p:cNvPr>
          <p:cNvSpPr txBox="1">
            <a:spLocks/>
          </p:cNvSpPr>
          <p:nvPr/>
        </p:nvSpPr>
        <p:spPr>
          <a:xfrm>
            <a:off x="1861347" y="636801"/>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16.1 </a:t>
            </a:r>
            <a:r>
              <a:rPr lang="zh-CN" altLang="en-US" dirty="0">
                <a:latin typeface="微软雅黑" panose="020B0503020204020204" pitchFamily="34" charset="-122"/>
              </a:rPr>
              <a:t>沟通与沟通管理</a:t>
            </a:r>
          </a:p>
        </p:txBody>
      </p:sp>
      <p:sp>
        <p:nvSpPr>
          <p:cNvPr id="7" name="文本框 6">
            <a:extLst>
              <a:ext uri="{FF2B5EF4-FFF2-40B4-BE49-F238E27FC236}">
                <a16:creationId xmlns:a16="http://schemas.microsoft.com/office/drawing/2014/main" id="{C5E5A35D-F11B-4097-9E94-D1FEBEEF8174}"/>
              </a:ext>
            </a:extLst>
          </p:cNvPr>
          <p:cNvSpPr txBox="1"/>
          <p:nvPr/>
        </p:nvSpPr>
        <p:spPr>
          <a:xfrm>
            <a:off x="2677236" y="5755904"/>
            <a:ext cx="4572000" cy="400110"/>
          </a:xfrm>
          <a:prstGeom prst="rect">
            <a:avLst/>
          </a:prstGeom>
          <a:noFill/>
        </p:spPr>
        <p:txBody>
          <a:bodyPr wrap="square">
            <a:spAutoFit/>
          </a:bodyPr>
          <a:lstStyle/>
          <a:p>
            <a:r>
              <a:rPr lang="zh-CN" altLang="en-US" sz="2000" b="1" dirty="0">
                <a:solidFill>
                  <a:prstClr val="black"/>
                </a:solidFill>
                <a:latin typeface="微软雅黑" panose="020B0503020204020204" pitchFamily="34" charset="-122"/>
                <a:ea typeface="微软雅黑" panose="020B0503020204020204" pitchFamily="34" charset="-122"/>
              </a:rPr>
              <a:t>面对面是最有效的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9937482-CF0A-47F9-ACFB-AF90292BC8ED}"/>
              </a:ext>
            </a:extLst>
          </p:cNvPr>
          <p:cNvSpPr>
            <a:spLocks noGrp="1"/>
          </p:cNvSpPr>
          <p:nvPr>
            <p:ph idx="1"/>
          </p:nvPr>
        </p:nvSpPr>
        <p:spPr/>
        <p:txBody>
          <a:bodyPr/>
          <a:lstStyle/>
          <a:p>
            <a:pPr>
              <a:lnSpc>
                <a:spcPct val="130000"/>
              </a:lnSpc>
            </a:pPr>
            <a:r>
              <a:rPr lang="zh-CN" altLang="en-US" sz="2000" dirty="0"/>
              <a:t>沟通活动可按多种维度进行分类</a:t>
            </a:r>
            <a:endParaRPr lang="en-US" altLang="zh-CN" sz="2000" dirty="0"/>
          </a:p>
          <a:p>
            <a:pPr lvl="1">
              <a:lnSpc>
                <a:spcPct val="130000"/>
              </a:lnSpc>
            </a:pPr>
            <a:r>
              <a:rPr lang="zh-CN" altLang="en-US" sz="1800" dirty="0">
                <a:solidFill>
                  <a:schemeClr val="tx2"/>
                </a:solidFill>
              </a:rPr>
              <a:t>内部</a:t>
            </a:r>
            <a:r>
              <a:rPr lang="zh-CN" altLang="en-US" sz="1800" dirty="0"/>
              <a:t>。针对项目内部或组织内部的相关方。</a:t>
            </a:r>
          </a:p>
          <a:p>
            <a:pPr lvl="1">
              <a:lnSpc>
                <a:spcPct val="130000"/>
              </a:lnSpc>
            </a:pPr>
            <a:r>
              <a:rPr lang="zh-CN" altLang="en-US" sz="1800" dirty="0">
                <a:solidFill>
                  <a:schemeClr val="tx2"/>
                </a:solidFill>
              </a:rPr>
              <a:t>外部</a:t>
            </a:r>
            <a:r>
              <a:rPr lang="zh-CN" altLang="en-US" sz="1800" dirty="0"/>
              <a:t>。针对外部相关方，如客户、供应商、其他项目、组织、政府，公众和环保倡导者。</a:t>
            </a:r>
          </a:p>
          <a:p>
            <a:pPr lvl="1">
              <a:lnSpc>
                <a:spcPct val="130000"/>
              </a:lnSpc>
            </a:pPr>
            <a:r>
              <a:rPr lang="zh-CN" altLang="en-US" sz="1800" dirty="0">
                <a:solidFill>
                  <a:schemeClr val="tx2"/>
                </a:solidFill>
              </a:rPr>
              <a:t>正式</a:t>
            </a:r>
            <a:r>
              <a:rPr lang="zh-CN" altLang="en-US" sz="1800" dirty="0"/>
              <a:t>。报告、正式会议（定期及临时）、会议议程和记录、相关方简报和演示。</a:t>
            </a:r>
          </a:p>
          <a:p>
            <a:pPr lvl="1">
              <a:lnSpc>
                <a:spcPct val="130000"/>
              </a:lnSpc>
            </a:pPr>
            <a:r>
              <a:rPr lang="zh-CN" altLang="en-US" sz="1800" dirty="0">
                <a:solidFill>
                  <a:schemeClr val="tx2"/>
                </a:solidFill>
              </a:rPr>
              <a:t>非正式</a:t>
            </a:r>
            <a:r>
              <a:rPr lang="zh-CN" altLang="en-US" sz="1800" dirty="0"/>
              <a:t>。采用电子邮件、社交媒体、网站，以及非正式临时讨论的一般沟通活动。</a:t>
            </a:r>
          </a:p>
          <a:p>
            <a:pPr lvl="1">
              <a:lnSpc>
                <a:spcPct val="130000"/>
              </a:lnSpc>
            </a:pPr>
            <a:r>
              <a:rPr lang="zh-CN" altLang="en-US" sz="1800" dirty="0">
                <a:solidFill>
                  <a:schemeClr val="tx2"/>
                </a:solidFill>
              </a:rPr>
              <a:t>层级沟通</a:t>
            </a:r>
            <a:r>
              <a:rPr lang="zh-CN" altLang="en-US" sz="1800" dirty="0"/>
              <a:t>。相关方或相关方群体相对于项目团队的位置将会以如下方式影响信息传递的形式和内容：</a:t>
            </a:r>
          </a:p>
          <a:p>
            <a:pPr lvl="2">
              <a:lnSpc>
                <a:spcPct val="130000"/>
              </a:lnSpc>
            </a:pPr>
            <a:r>
              <a:rPr lang="zh-CN" altLang="en-US" sz="1600" dirty="0">
                <a:solidFill>
                  <a:schemeClr val="tx2"/>
                </a:solidFill>
              </a:rPr>
              <a:t>向上沟通</a:t>
            </a:r>
            <a:r>
              <a:rPr lang="zh-CN" altLang="en-US" sz="1600" dirty="0"/>
              <a:t>。针对高层相关方。</a:t>
            </a:r>
          </a:p>
          <a:p>
            <a:pPr lvl="2">
              <a:lnSpc>
                <a:spcPct val="130000"/>
              </a:lnSpc>
            </a:pPr>
            <a:r>
              <a:rPr lang="zh-CN" altLang="en-US" sz="1600" dirty="0">
                <a:solidFill>
                  <a:schemeClr val="tx2"/>
                </a:solidFill>
              </a:rPr>
              <a:t>向下沟通</a:t>
            </a:r>
            <a:r>
              <a:rPr lang="zh-CN" altLang="en-US" sz="1600" dirty="0"/>
              <a:t>。针对承担项目工作的团队和其他人员。</a:t>
            </a:r>
          </a:p>
          <a:p>
            <a:pPr lvl="2">
              <a:lnSpc>
                <a:spcPct val="130000"/>
              </a:lnSpc>
            </a:pPr>
            <a:r>
              <a:rPr lang="zh-CN" altLang="en-US" sz="1600" dirty="0">
                <a:solidFill>
                  <a:schemeClr val="tx2"/>
                </a:solidFill>
              </a:rPr>
              <a:t>横向沟通</a:t>
            </a:r>
            <a:r>
              <a:rPr lang="zh-CN" altLang="en-US" sz="1600" dirty="0"/>
              <a:t>。针对项目经理或团队的同级人员。</a:t>
            </a:r>
          </a:p>
          <a:p>
            <a:pPr lvl="1">
              <a:lnSpc>
                <a:spcPct val="130000"/>
              </a:lnSpc>
            </a:pPr>
            <a:r>
              <a:rPr lang="zh-CN" altLang="en-US" sz="1800" dirty="0">
                <a:solidFill>
                  <a:schemeClr val="tx2"/>
                </a:solidFill>
              </a:rPr>
              <a:t>官方沟通</a:t>
            </a:r>
            <a:r>
              <a:rPr lang="zh-CN" altLang="en-US" sz="1800" dirty="0"/>
              <a:t>。年报，呈交监管机构或政府部门的报告。</a:t>
            </a:r>
          </a:p>
          <a:p>
            <a:pPr lvl="1">
              <a:lnSpc>
                <a:spcPct val="130000"/>
              </a:lnSpc>
            </a:pPr>
            <a:r>
              <a:rPr lang="zh-CN" altLang="en-US" sz="1800" dirty="0">
                <a:solidFill>
                  <a:schemeClr val="tx2"/>
                </a:solidFill>
              </a:rPr>
              <a:t>非官方沟通</a:t>
            </a:r>
            <a:r>
              <a:rPr lang="zh-CN" altLang="en-US" sz="1800" dirty="0"/>
              <a:t>。采用灵活（往往为非正式）的手段，来建立和维护项目团队及其相关方对项目情况的了解和认可，并在他们之间建立强有力的关系。</a:t>
            </a:r>
          </a:p>
          <a:p>
            <a:pPr lvl="1">
              <a:lnSpc>
                <a:spcPct val="130000"/>
              </a:lnSpc>
            </a:pPr>
            <a:r>
              <a:rPr lang="zh-CN" altLang="en-US" sz="1800" dirty="0">
                <a:solidFill>
                  <a:schemeClr val="tx2"/>
                </a:solidFill>
              </a:rPr>
              <a:t>书面与口头沟通</a:t>
            </a:r>
            <a:r>
              <a:rPr lang="zh-CN" altLang="en-US" sz="1800" dirty="0"/>
              <a:t>。口头（用词和音调变化）及非口头（肢体语言和行为），社交媒体和网站、媒体发布。</a:t>
            </a:r>
          </a:p>
        </p:txBody>
      </p:sp>
      <p:sp>
        <p:nvSpPr>
          <p:cNvPr id="4" name="标题 2">
            <a:extLst>
              <a:ext uri="{FF2B5EF4-FFF2-40B4-BE49-F238E27FC236}">
                <a16:creationId xmlns:a16="http://schemas.microsoft.com/office/drawing/2014/main" id="{9987543C-0297-4155-A988-57935B8460BA}"/>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289135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E760173-51BB-4505-A951-87B6528E22CD}"/>
              </a:ext>
            </a:extLst>
          </p:cNvPr>
          <p:cNvSpPr>
            <a:spLocks noGrp="1"/>
          </p:cNvSpPr>
          <p:nvPr>
            <p:ph idx="1"/>
          </p:nvPr>
        </p:nvSpPr>
        <p:spPr/>
        <p:txBody>
          <a:bodyPr/>
          <a:lstStyle/>
          <a:p>
            <a:pPr>
              <a:lnSpc>
                <a:spcPct val="130000"/>
              </a:lnSpc>
            </a:pPr>
            <a:r>
              <a:rPr lang="zh-CN" altLang="en-US" dirty="0"/>
              <a:t>沟通的基本原则</a:t>
            </a:r>
            <a:endParaRPr lang="en-US" altLang="zh-CN" dirty="0"/>
          </a:p>
          <a:p>
            <a:pPr lvl="1">
              <a:lnSpc>
                <a:spcPct val="130000"/>
              </a:lnSpc>
            </a:pPr>
            <a:r>
              <a:rPr lang="zh-CN" altLang="en-US" dirty="0"/>
              <a:t>准确性原则；完整性原则；及时性原则</a:t>
            </a:r>
          </a:p>
          <a:p>
            <a:pPr lvl="1">
              <a:lnSpc>
                <a:spcPct val="130000"/>
              </a:lnSpc>
            </a:pPr>
            <a:r>
              <a:rPr lang="zh-CN" altLang="en-US" dirty="0"/>
              <a:t>运用非正式的组织沟通的原则</a:t>
            </a:r>
          </a:p>
          <a:p>
            <a:pPr lvl="2">
              <a:lnSpc>
                <a:spcPct val="130000"/>
              </a:lnSpc>
            </a:pPr>
            <a:r>
              <a:rPr lang="zh-CN" altLang="en-US" dirty="0"/>
              <a:t>对于那些不适合采用正式的组织沟通渠道进行沟通的信息，可以采用非正式组织沟通作为辅助，如思想或情感的交流等。</a:t>
            </a:r>
          </a:p>
          <a:p>
            <a:pPr>
              <a:lnSpc>
                <a:spcPct val="130000"/>
              </a:lnSpc>
            </a:pPr>
            <a:r>
              <a:rPr lang="zh-CN" altLang="en-US" dirty="0"/>
              <a:t>书面沟通的 </a:t>
            </a:r>
            <a:r>
              <a:rPr lang="en-US" altLang="zh-CN" dirty="0"/>
              <a:t>5C </a:t>
            </a:r>
            <a:r>
              <a:rPr lang="zh-CN" altLang="en-US" dirty="0"/>
              <a:t>原则</a:t>
            </a:r>
            <a:endParaRPr lang="en-US" altLang="zh-CN" dirty="0"/>
          </a:p>
          <a:p>
            <a:pPr lvl="1">
              <a:lnSpc>
                <a:spcPct val="130000"/>
              </a:lnSpc>
            </a:pPr>
            <a:r>
              <a:rPr lang="zh-CN" altLang="en-US" dirty="0">
                <a:solidFill>
                  <a:schemeClr val="tx2"/>
                </a:solidFill>
              </a:rPr>
              <a:t>正确的</a:t>
            </a:r>
            <a:r>
              <a:rPr lang="zh-CN" altLang="en-US" dirty="0"/>
              <a:t>语法和拼写</a:t>
            </a:r>
            <a:r>
              <a:rPr lang="en-US" altLang="zh-CN" dirty="0"/>
              <a:t>(</a:t>
            </a:r>
            <a:r>
              <a:rPr lang="en-US" altLang="zh-CN" sz="1800" b="0" dirty="0">
                <a:solidFill>
                  <a:srgbClr val="060606"/>
                </a:solidFill>
                <a:latin typeface="Times New Roman" panose="02020603050405020304" pitchFamily="18" charset="0"/>
              </a:rPr>
              <a:t>Correct grammar and spelling</a:t>
            </a:r>
            <a:r>
              <a:rPr lang="en-US" altLang="zh-CN" dirty="0"/>
              <a:t>)</a:t>
            </a:r>
          </a:p>
          <a:p>
            <a:pPr lvl="1">
              <a:lnSpc>
                <a:spcPct val="130000"/>
              </a:lnSpc>
            </a:pPr>
            <a:r>
              <a:rPr lang="zh-CN" altLang="en-US" dirty="0">
                <a:solidFill>
                  <a:schemeClr val="tx2"/>
                </a:solidFill>
              </a:rPr>
              <a:t>简洁的</a:t>
            </a:r>
            <a:r>
              <a:rPr lang="zh-CN" altLang="en-US" dirty="0"/>
              <a:t>表述和无多余字</a:t>
            </a:r>
            <a:r>
              <a:rPr lang="en-US" altLang="zh-CN" dirty="0"/>
              <a:t>(</a:t>
            </a:r>
            <a:r>
              <a:rPr lang="en-US" altLang="zh-CN" sz="1800" b="0" dirty="0">
                <a:solidFill>
                  <a:srgbClr val="060606"/>
                </a:solidFill>
                <a:latin typeface="Times New Roman" panose="02020603050405020304" pitchFamily="18" charset="0"/>
              </a:rPr>
              <a:t>Concise expression and elimination of excess words</a:t>
            </a:r>
            <a:r>
              <a:rPr lang="en-US" altLang="zh-CN" dirty="0"/>
              <a:t>)</a:t>
            </a:r>
          </a:p>
          <a:p>
            <a:pPr lvl="1">
              <a:lnSpc>
                <a:spcPct val="130000"/>
              </a:lnSpc>
            </a:pPr>
            <a:r>
              <a:rPr lang="zh-CN" altLang="en-US" dirty="0">
                <a:solidFill>
                  <a:schemeClr val="tx2"/>
                </a:solidFill>
              </a:rPr>
              <a:t>清晰的</a:t>
            </a:r>
            <a:r>
              <a:rPr lang="zh-CN" altLang="en-US" dirty="0"/>
              <a:t>目的和表述（适合读者的需要）</a:t>
            </a:r>
            <a:r>
              <a:rPr lang="en-US" altLang="zh-CN" dirty="0"/>
              <a:t>(</a:t>
            </a:r>
            <a:r>
              <a:rPr lang="en-US" altLang="zh-CN" sz="1800" b="0" dirty="0">
                <a:solidFill>
                  <a:srgbClr val="060606"/>
                </a:solidFill>
                <a:latin typeface="Times New Roman" panose="02020603050405020304" pitchFamily="18" charset="0"/>
              </a:rPr>
              <a:t>Clear purpose and expression directed to the needs of the reader</a:t>
            </a:r>
            <a:r>
              <a:rPr lang="en-US" altLang="zh-CN" dirty="0"/>
              <a:t>)</a:t>
            </a:r>
          </a:p>
          <a:p>
            <a:pPr lvl="1">
              <a:lnSpc>
                <a:spcPct val="130000"/>
              </a:lnSpc>
            </a:pPr>
            <a:r>
              <a:rPr lang="zh-CN" altLang="en-US" dirty="0">
                <a:solidFill>
                  <a:schemeClr val="tx2"/>
                </a:solidFill>
              </a:rPr>
              <a:t>连贯的</a:t>
            </a:r>
            <a:r>
              <a:rPr lang="zh-CN" altLang="en-US" dirty="0"/>
              <a:t>思维逻辑</a:t>
            </a:r>
            <a:r>
              <a:rPr lang="en-US" altLang="zh-CN" dirty="0"/>
              <a:t>(</a:t>
            </a:r>
            <a:r>
              <a:rPr lang="en-US" altLang="zh-CN" sz="1800" b="0" dirty="0">
                <a:solidFill>
                  <a:srgbClr val="060606"/>
                </a:solidFill>
                <a:latin typeface="Times New Roman" panose="02020603050405020304" pitchFamily="18" charset="0"/>
              </a:rPr>
              <a:t>Coherent logical flow of ideas</a:t>
            </a:r>
            <a:r>
              <a:rPr lang="en-US" altLang="zh-CN" dirty="0"/>
              <a:t>)</a:t>
            </a:r>
          </a:p>
          <a:p>
            <a:pPr lvl="1">
              <a:lnSpc>
                <a:spcPct val="130000"/>
              </a:lnSpc>
            </a:pPr>
            <a:r>
              <a:rPr lang="zh-CN" altLang="en-US" dirty="0">
                <a:solidFill>
                  <a:schemeClr val="tx2"/>
                </a:solidFill>
              </a:rPr>
              <a:t>受控的</a:t>
            </a:r>
            <a:r>
              <a:rPr lang="zh-CN" altLang="en-US" dirty="0"/>
              <a:t>语句和想法承接</a:t>
            </a:r>
            <a:r>
              <a:rPr lang="en-US" altLang="zh-CN" dirty="0"/>
              <a:t>(</a:t>
            </a:r>
            <a:r>
              <a:rPr lang="en-US" altLang="zh-CN" sz="1800" b="0" dirty="0">
                <a:solidFill>
                  <a:srgbClr val="060606"/>
                </a:solidFill>
                <a:latin typeface="Times New Roman" panose="02020603050405020304" pitchFamily="18" charset="0"/>
              </a:rPr>
              <a:t>Controlling flow of words and ideas.</a:t>
            </a:r>
            <a:r>
              <a:rPr lang="en-US" altLang="zh-CN" dirty="0"/>
              <a:t>)</a:t>
            </a:r>
          </a:p>
          <a:p>
            <a:pPr lvl="1">
              <a:lnSpc>
                <a:spcPct val="130000"/>
              </a:lnSpc>
            </a:pPr>
            <a:endParaRPr lang="zh-CN" altLang="en-US" dirty="0"/>
          </a:p>
        </p:txBody>
      </p:sp>
      <p:sp>
        <p:nvSpPr>
          <p:cNvPr id="4" name="标题 2">
            <a:extLst>
              <a:ext uri="{FF2B5EF4-FFF2-40B4-BE49-F238E27FC236}">
                <a16:creationId xmlns:a16="http://schemas.microsoft.com/office/drawing/2014/main" id="{9CC9366A-42A4-456C-B964-8F12709E3EAF}"/>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55092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410A87-7AD9-405E-A803-A6A7854F761F}"/>
              </a:ext>
            </a:extLst>
          </p:cNvPr>
          <p:cNvSpPr>
            <a:spLocks noGrp="1"/>
          </p:cNvSpPr>
          <p:nvPr>
            <p:ph idx="1"/>
          </p:nvPr>
        </p:nvSpPr>
        <p:spPr/>
        <p:txBody>
          <a:bodyPr/>
          <a:lstStyle/>
          <a:p>
            <a:r>
              <a:rPr lang="zh-CN" altLang="en-US" dirty="0"/>
              <a:t>配合书面沟通的 </a:t>
            </a:r>
            <a:r>
              <a:rPr lang="en-US" altLang="zh-CN" dirty="0"/>
              <a:t>5C</a:t>
            </a:r>
            <a:r>
              <a:rPr lang="zh-CN" altLang="en-US" dirty="0"/>
              <a:t>原则的沟通技巧</a:t>
            </a:r>
          </a:p>
          <a:p>
            <a:pPr lvl="1"/>
            <a:r>
              <a:rPr lang="zh-CN" altLang="en-US" dirty="0"/>
              <a:t>积极倾听。</a:t>
            </a:r>
            <a:r>
              <a:rPr lang="zh-CN" altLang="en-US" b="0" dirty="0"/>
              <a:t>与说话人保持互动，并总结对话内容，以确保有效的信息交换。</a:t>
            </a:r>
          </a:p>
          <a:p>
            <a:pPr lvl="1"/>
            <a:r>
              <a:rPr lang="zh-CN" altLang="en-US" dirty="0"/>
              <a:t>理解文化和个人差异。</a:t>
            </a:r>
            <a:r>
              <a:rPr lang="zh-CN" altLang="en-US" b="0" dirty="0"/>
              <a:t>提升团队对文化及个人差异的认知，以减少误解并提升沟通能力。</a:t>
            </a:r>
          </a:p>
          <a:p>
            <a:pPr lvl="1"/>
            <a:r>
              <a:rPr lang="zh-CN" altLang="en-US" dirty="0"/>
              <a:t>识别、设定并管理相关方期望。</a:t>
            </a:r>
            <a:r>
              <a:rPr lang="zh-CN" altLang="en-US" b="0" dirty="0"/>
              <a:t>与相关方磋商，减少相关方社区中的自相矛盾的期望。</a:t>
            </a:r>
          </a:p>
          <a:p>
            <a:pPr lvl="1"/>
            <a:r>
              <a:rPr lang="zh-CN" altLang="en-US" dirty="0"/>
              <a:t>强化技能。</a:t>
            </a:r>
            <a:r>
              <a:rPr lang="zh-CN" altLang="en-US" b="0" dirty="0"/>
              <a:t>强化所有团队成员开展以下活动的技能：</a:t>
            </a:r>
          </a:p>
          <a:p>
            <a:pPr lvl="2"/>
            <a:r>
              <a:rPr lang="zh-CN" altLang="en-US" dirty="0"/>
              <a:t>说服个人、团队或组织采取行动；</a:t>
            </a:r>
          </a:p>
          <a:p>
            <a:pPr lvl="2"/>
            <a:r>
              <a:rPr lang="zh-CN" altLang="en-US" dirty="0"/>
              <a:t>激励和鼓励人们，或帮助人们重塑自信；</a:t>
            </a:r>
          </a:p>
          <a:p>
            <a:pPr lvl="2"/>
            <a:r>
              <a:rPr lang="zh-CN" altLang="en-US" dirty="0"/>
              <a:t>指导人们改进绩效和取得期望结果；</a:t>
            </a:r>
          </a:p>
          <a:p>
            <a:pPr lvl="2"/>
            <a:r>
              <a:rPr lang="zh-CN" altLang="en-US" dirty="0"/>
              <a:t>通过磋商达成共识以及减轻审批或决策延误；</a:t>
            </a:r>
          </a:p>
          <a:p>
            <a:pPr lvl="2"/>
            <a:r>
              <a:rPr lang="zh-CN" altLang="en-US" dirty="0"/>
              <a:t>解决冲突，防止破坏性影响。</a:t>
            </a:r>
            <a:endParaRPr lang="en-US" altLang="zh-CN" dirty="0"/>
          </a:p>
        </p:txBody>
      </p:sp>
      <p:sp>
        <p:nvSpPr>
          <p:cNvPr id="4" name="标题 2">
            <a:extLst>
              <a:ext uri="{FF2B5EF4-FFF2-40B4-BE49-F238E27FC236}">
                <a16:creationId xmlns:a16="http://schemas.microsoft.com/office/drawing/2014/main" id="{4AD0F412-C545-4383-9BE9-ED558758D316}"/>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90774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D42161C-E837-401B-8022-E0AF884E21FB}"/>
              </a:ext>
            </a:extLst>
          </p:cNvPr>
          <p:cNvSpPr>
            <a:spLocks noGrp="1"/>
          </p:cNvSpPr>
          <p:nvPr>
            <p:ph idx="1"/>
          </p:nvPr>
        </p:nvSpPr>
        <p:spPr>
          <a:xfrm>
            <a:off x="1981200" y="1130301"/>
            <a:ext cx="8229600" cy="2702663"/>
          </a:xfrm>
          <a:prstGeom prst="rect">
            <a:avLst/>
          </a:prstGeom>
        </p:spPr>
        <p:txBody>
          <a:bodyPr>
            <a:spAutoFit/>
          </a:bodyPr>
          <a:lstStyle/>
          <a:p>
            <a:pPr lvl="1"/>
            <a:endParaRPr lang="zh-CN" altLang="en-US" sz="1800" dirty="0">
              <a:solidFill>
                <a:schemeClr val="tx1"/>
              </a:solidFill>
              <a:latin typeface="-apple-system"/>
            </a:endParaRPr>
          </a:p>
          <a:p>
            <a:r>
              <a:rPr lang="zh-CN" altLang="en-US" sz="2000" dirty="0">
                <a:solidFill>
                  <a:schemeClr val="tx1"/>
                </a:solidFill>
                <a:latin typeface="-apple-system"/>
              </a:rPr>
              <a:t>为什么沟通不畅？</a:t>
            </a:r>
          </a:p>
          <a:p>
            <a:pPr lvl="1"/>
            <a:r>
              <a:rPr lang="zh-CN" altLang="en-US" sz="1800" dirty="0">
                <a:solidFill>
                  <a:schemeClr val="tx1"/>
                </a:solidFill>
                <a:latin typeface="-apple-system"/>
              </a:rPr>
              <a:t>层次不清，观点不明</a:t>
            </a:r>
          </a:p>
          <a:p>
            <a:pPr lvl="1"/>
            <a:r>
              <a:rPr lang="zh-CN" altLang="en-US" sz="1800" dirty="0">
                <a:solidFill>
                  <a:schemeClr val="tx1"/>
                </a:solidFill>
                <a:latin typeface="-apple-system"/>
              </a:rPr>
              <a:t>逻辑混乱，没有条理</a:t>
            </a:r>
          </a:p>
          <a:p>
            <a:pPr lvl="1"/>
            <a:r>
              <a:rPr lang="zh-CN" altLang="en-US" sz="1800" dirty="0">
                <a:solidFill>
                  <a:schemeClr val="tx1"/>
                </a:solidFill>
                <a:latin typeface="-apple-system"/>
              </a:rPr>
              <a:t>啰嗦重复，模棱两可</a:t>
            </a:r>
          </a:p>
          <a:p>
            <a:pPr lvl="1"/>
            <a:r>
              <a:rPr lang="zh-CN" altLang="en-US" sz="1800" dirty="0">
                <a:solidFill>
                  <a:schemeClr val="tx1"/>
                </a:solidFill>
                <a:latin typeface="-apple-system"/>
              </a:rPr>
              <a:t>词不达意，表述不清</a:t>
            </a:r>
          </a:p>
        </p:txBody>
      </p:sp>
      <p:sp>
        <p:nvSpPr>
          <p:cNvPr id="5" name="标题 2">
            <a:extLst>
              <a:ext uri="{FF2B5EF4-FFF2-40B4-BE49-F238E27FC236}">
                <a16:creationId xmlns:a16="http://schemas.microsoft.com/office/drawing/2014/main" id="{EE51B9B2-4557-4F70-BE64-10998889780B}"/>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
        <p:nvSpPr>
          <p:cNvPr id="6" name="Rectangle 3">
            <a:extLst>
              <a:ext uri="{FF2B5EF4-FFF2-40B4-BE49-F238E27FC236}">
                <a16:creationId xmlns:a16="http://schemas.microsoft.com/office/drawing/2014/main" id="{F4F610E5-0128-4782-9D7D-B0138C7E7C59}"/>
              </a:ext>
            </a:extLst>
          </p:cNvPr>
          <p:cNvSpPr txBox="1">
            <a:spLocks noChangeArrowheads="1"/>
          </p:cNvSpPr>
          <p:nvPr/>
        </p:nvSpPr>
        <p:spPr>
          <a:xfrm>
            <a:off x="6299200" y="3647051"/>
            <a:ext cx="3911600" cy="2617224"/>
          </a:xfrm>
          <a:prstGeom prst="rect">
            <a:avLst/>
          </a:prstGeom>
          <a:solidFill>
            <a:schemeClr val="accent6">
              <a:lumMod val="20000"/>
              <a:lumOff val="80000"/>
            </a:schemeClr>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Clr>
                <a:srgbClr val="FF0000"/>
              </a:buClr>
              <a:buNone/>
              <a:defRPr/>
            </a:pPr>
            <a:r>
              <a:rPr lang="zh-CN" altLang="en-US" sz="1800" dirty="0">
                <a:solidFill>
                  <a:srgbClr val="663300"/>
                </a:solidFill>
                <a:cs typeface="+mj-cs"/>
              </a:rPr>
              <a:t>沟通陷阱</a:t>
            </a:r>
            <a:endParaRPr lang="en-US" altLang="zh-CN" sz="1600" dirty="0"/>
          </a:p>
          <a:p>
            <a:pPr marL="0" indent="0">
              <a:lnSpc>
                <a:spcPct val="80000"/>
              </a:lnSpc>
              <a:buClr>
                <a:srgbClr val="FF0000"/>
              </a:buClr>
              <a:buNone/>
              <a:defRPr/>
            </a:pPr>
            <a:r>
              <a:rPr lang="zh-CN" altLang="en-US" sz="1600" dirty="0"/>
              <a:t>过早的评价   	一心二用</a:t>
            </a:r>
          </a:p>
          <a:p>
            <a:pPr marL="0" indent="0">
              <a:lnSpc>
                <a:spcPct val="80000"/>
              </a:lnSpc>
              <a:buClr>
                <a:srgbClr val="FF0000"/>
              </a:buClr>
              <a:buNone/>
              <a:defRPr/>
            </a:pPr>
            <a:r>
              <a:rPr lang="zh-CN" altLang="en-US" sz="1600" dirty="0"/>
              <a:t>注意力分散   	直接跳到结论</a:t>
            </a:r>
          </a:p>
          <a:p>
            <a:pPr marL="0" indent="0">
              <a:lnSpc>
                <a:spcPct val="80000"/>
              </a:lnSpc>
              <a:buClr>
                <a:srgbClr val="FF0000"/>
              </a:buClr>
              <a:buNone/>
              <a:defRPr/>
            </a:pPr>
            <a:r>
              <a:rPr lang="zh-CN" altLang="en-US" sz="1600" dirty="0"/>
              <a:t>简单思维     	偏见</a:t>
            </a:r>
          </a:p>
          <a:p>
            <a:pPr marL="0" indent="0">
              <a:lnSpc>
                <a:spcPct val="80000"/>
              </a:lnSpc>
              <a:buClr>
                <a:srgbClr val="FF0000"/>
              </a:buClr>
              <a:buNone/>
              <a:defRPr/>
            </a:pPr>
            <a:r>
              <a:rPr lang="zh-CN" altLang="en-US" sz="1600" dirty="0"/>
              <a:t>模式化       	猜想</a:t>
            </a:r>
          </a:p>
          <a:p>
            <a:pPr marL="0" indent="0">
              <a:lnSpc>
                <a:spcPct val="80000"/>
              </a:lnSpc>
              <a:buClr>
                <a:srgbClr val="FF0000"/>
              </a:buClr>
              <a:buNone/>
              <a:defRPr/>
            </a:pPr>
            <a:r>
              <a:rPr lang="zh-CN" altLang="en-US" sz="1600" dirty="0"/>
              <a:t>不善于倾听   	思想僵硬</a:t>
            </a:r>
          </a:p>
          <a:p>
            <a:pPr marL="0" indent="0">
              <a:lnSpc>
                <a:spcPct val="80000"/>
              </a:lnSpc>
              <a:buClr>
                <a:srgbClr val="FF0000"/>
              </a:buClr>
              <a:buNone/>
              <a:defRPr/>
            </a:pPr>
            <a:r>
              <a:rPr lang="zh-CN" altLang="en-US" sz="1600" dirty="0"/>
              <a:t>先入为主     	听力障碍</a:t>
            </a:r>
          </a:p>
          <a:p>
            <a:pPr marL="0" indent="0">
              <a:lnSpc>
                <a:spcPct val="80000"/>
              </a:lnSpc>
              <a:buClr>
                <a:srgbClr val="FF0000"/>
              </a:buClr>
              <a:buNone/>
              <a:defRPr/>
            </a:pPr>
            <a:r>
              <a:rPr lang="zh-CN" altLang="en-US" sz="1600" dirty="0"/>
              <a:t>压力         	</a:t>
            </a:r>
            <a:r>
              <a:rPr lang="en-US" altLang="zh-CN" sz="1600" dirty="0"/>
              <a:t>	</a:t>
            </a:r>
            <a:r>
              <a:rPr lang="zh-CN" altLang="en-US" sz="1600" dirty="0"/>
              <a:t>精力不够集中</a:t>
            </a:r>
          </a:p>
        </p:txBody>
      </p:sp>
    </p:spTree>
    <p:extLst>
      <p:ext uri="{BB962C8B-B14F-4D97-AF65-F5344CB8AC3E}">
        <p14:creationId xmlns:p14="http://schemas.microsoft.com/office/powerpoint/2010/main" val="115964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内容占位符 1">
            <a:extLst>
              <a:ext uri="{FF2B5EF4-FFF2-40B4-BE49-F238E27FC236}">
                <a16:creationId xmlns:a16="http://schemas.microsoft.com/office/drawing/2014/main" id="{C3B8A2DC-6133-41B6-A6F7-D44914F7F5BE}"/>
              </a:ext>
            </a:extLst>
          </p:cNvPr>
          <p:cNvSpPr txBox="1">
            <a:spLocks/>
          </p:cNvSpPr>
          <p:nvPr/>
        </p:nvSpPr>
        <p:spPr>
          <a:xfrm>
            <a:off x="1219201" y="3808083"/>
            <a:ext cx="5974625" cy="2456193"/>
          </a:xfrm>
          <a:prstGeom prst="rect">
            <a:avLst/>
          </a:prstGeom>
          <a:solidFill>
            <a:schemeClr val="accent4">
              <a:lumMod val="20000"/>
              <a:lumOff val="80000"/>
            </a:schemeClr>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800" dirty="0"/>
              <a:t>高效沟通的六个步骤</a:t>
            </a:r>
          </a:p>
        </p:txBody>
      </p:sp>
      <p:sp>
        <p:nvSpPr>
          <p:cNvPr id="32" name="矩形 31">
            <a:extLst>
              <a:ext uri="{FF2B5EF4-FFF2-40B4-BE49-F238E27FC236}">
                <a16:creationId xmlns:a16="http://schemas.microsoft.com/office/drawing/2014/main" id="{F12A8FE5-A2F2-44C8-BDAF-44A3A4D25349}"/>
              </a:ext>
            </a:extLst>
          </p:cNvPr>
          <p:cNvSpPr/>
          <p:nvPr/>
        </p:nvSpPr>
        <p:spPr>
          <a:xfrm>
            <a:off x="8093917" y="1130531"/>
            <a:ext cx="2314575" cy="4876572"/>
          </a:xfrm>
          <a:prstGeom prst="rect">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1">
            <a:extLst>
              <a:ext uri="{FF2B5EF4-FFF2-40B4-BE49-F238E27FC236}">
                <a16:creationId xmlns:a16="http://schemas.microsoft.com/office/drawing/2014/main" id="{1A39653E-29A2-4839-8459-975C1C98ED62}"/>
              </a:ext>
            </a:extLst>
          </p:cNvPr>
          <p:cNvSpPr>
            <a:spLocks noGrp="1"/>
          </p:cNvSpPr>
          <p:nvPr>
            <p:ph idx="1"/>
          </p:nvPr>
        </p:nvSpPr>
        <p:spPr>
          <a:xfrm>
            <a:off x="1295400" y="1130532"/>
            <a:ext cx="4661576" cy="2497933"/>
          </a:xfrm>
        </p:spPr>
        <p:txBody>
          <a:bodyPr/>
          <a:lstStyle/>
          <a:p>
            <a:r>
              <a:rPr lang="zh-CN" altLang="en-US" sz="1800" dirty="0"/>
              <a:t>有效的沟通活动：</a:t>
            </a:r>
          </a:p>
          <a:p>
            <a:pPr lvl="1"/>
            <a:r>
              <a:rPr lang="zh-CN" altLang="en-US" sz="1600" dirty="0"/>
              <a:t>沟通目的明确；</a:t>
            </a:r>
          </a:p>
          <a:p>
            <a:pPr lvl="1"/>
            <a:r>
              <a:rPr lang="zh-CN" altLang="en-US" sz="1600" dirty="0"/>
              <a:t>尽量了解沟通接收方，满足其需求及偏好；</a:t>
            </a:r>
          </a:p>
          <a:p>
            <a:pPr lvl="1"/>
            <a:r>
              <a:rPr lang="zh-CN" altLang="en-US" sz="1600" dirty="0"/>
              <a:t>监督并衡量沟通的效果。</a:t>
            </a:r>
            <a:endParaRPr lang="en-US" altLang="zh-CN" sz="1600" dirty="0"/>
          </a:p>
        </p:txBody>
      </p:sp>
      <p:sp>
        <p:nvSpPr>
          <p:cNvPr id="4" name="标题 2">
            <a:extLst>
              <a:ext uri="{FF2B5EF4-FFF2-40B4-BE49-F238E27FC236}">
                <a16:creationId xmlns:a16="http://schemas.microsoft.com/office/drawing/2014/main" id="{7270AD49-7366-4DAA-9716-E48403A214DE}"/>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graphicFrame>
        <p:nvGraphicFramePr>
          <p:cNvPr id="3" name="图示 2">
            <a:extLst>
              <a:ext uri="{FF2B5EF4-FFF2-40B4-BE49-F238E27FC236}">
                <a16:creationId xmlns:a16="http://schemas.microsoft.com/office/drawing/2014/main" id="{550A09AB-0A82-437A-B9DC-C95B0197F45B}"/>
              </a:ext>
            </a:extLst>
          </p:cNvPr>
          <p:cNvGraphicFramePr/>
          <p:nvPr>
            <p:extLst>
              <p:ext uri="{D42A27DB-BD31-4B8C-83A1-F6EECF244321}">
                <p14:modId xmlns:p14="http://schemas.microsoft.com/office/powerpoint/2010/main" val="3706274883"/>
              </p:ext>
            </p:extLst>
          </p:nvPr>
        </p:nvGraphicFramePr>
        <p:xfrm>
          <a:off x="1362076" y="4203700"/>
          <a:ext cx="5737225" cy="105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AutoShape 7">
            <a:extLst>
              <a:ext uri="{FF2B5EF4-FFF2-40B4-BE49-F238E27FC236}">
                <a16:creationId xmlns:a16="http://schemas.microsoft.com/office/drawing/2014/main" id="{DB0F6799-D27A-4C77-B98E-50C9B07AD9EC}"/>
              </a:ext>
            </a:extLst>
          </p:cNvPr>
          <p:cNvSpPr>
            <a:spLocks noChangeArrowheads="1"/>
          </p:cNvSpPr>
          <p:nvPr/>
        </p:nvSpPr>
        <p:spPr bwMode="auto">
          <a:xfrm>
            <a:off x="3302001" y="5613169"/>
            <a:ext cx="1208306"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dirty="0">
                <a:solidFill>
                  <a:schemeClr val="bg1"/>
                </a:solidFill>
                <a:ea typeface="微软雅黑" panose="020B0503020204020204" pitchFamily="34" charset="-122"/>
              </a:rPr>
              <a:t> 有效提问</a:t>
            </a:r>
          </a:p>
        </p:txBody>
      </p:sp>
      <p:sp>
        <p:nvSpPr>
          <p:cNvPr id="8" name="AutoShape 9">
            <a:extLst>
              <a:ext uri="{FF2B5EF4-FFF2-40B4-BE49-F238E27FC236}">
                <a16:creationId xmlns:a16="http://schemas.microsoft.com/office/drawing/2014/main" id="{8C03DA84-EEED-4FEA-ABAD-4660B264C291}"/>
              </a:ext>
            </a:extLst>
          </p:cNvPr>
          <p:cNvSpPr>
            <a:spLocks noChangeArrowheads="1"/>
          </p:cNvSpPr>
          <p:nvPr/>
        </p:nvSpPr>
        <p:spPr bwMode="auto">
          <a:xfrm>
            <a:off x="4445001" y="5613169"/>
            <a:ext cx="1208306"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a:solidFill>
                  <a:schemeClr val="bg1"/>
                </a:solidFill>
                <a:ea typeface="微软雅黑" panose="020B0503020204020204" pitchFamily="34" charset="-122"/>
              </a:rPr>
              <a:t> 积极倾听</a:t>
            </a:r>
          </a:p>
        </p:txBody>
      </p:sp>
      <p:sp>
        <p:nvSpPr>
          <p:cNvPr id="9" name="AutoShape 10">
            <a:extLst>
              <a:ext uri="{FF2B5EF4-FFF2-40B4-BE49-F238E27FC236}">
                <a16:creationId xmlns:a16="http://schemas.microsoft.com/office/drawing/2014/main" id="{18620CC8-CAC4-4065-9CF0-0B5945B2E6E9}"/>
              </a:ext>
            </a:extLst>
          </p:cNvPr>
          <p:cNvSpPr>
            <a:spLocks noChangeArrowheads="1"/>
          </p:cNvSpPr>
          <p:nvPr/>
        </p:nvSpPr>
        <p:spPr bwMode="auto">
          <a:xfrm>
            <a:off x="5600701" y="5613169"/>
            <a:ext cx="1108293" cy="431800"/>
          </a:xfrm>
          <a:prstGeom prst="chevron">
            <a:avLst>
              <a:gd name="adj" fmla="val 50736"/>
            </a:avLst>
          </a:prstGeom>
          <a:gradFill rotWithShape="1">
            <a:gsLst>
              <a:gs pos="0">
                <a:srgbClr val="274EA1"/>
              </a:gs>
              <a:gs pos="100000">
                <a:srgbClr val="7D94C6"/>
              </a:gs>
            </a:gsLst>
            <a:lin ang="5400000" scaled="1"/>
          </a:gradFill>
          <a:ln w="9525">
            <a:solidFill>
              <a:schemeClr val="bg2"/>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dirty="0">
                <a:solidFill>
                  <a:schemeClr val="bg1"/>
                </a:solidFill>
                <a:ea typeface="微软雅黑" panose="020B0503020204020204" pitchFamily="34" charset="-122"/>
              </a:rPr>
              <a:t> 及时确认</a:t>
            </a:r>
          </a:p>
        </p:txBody>
      </p:sp>
      <p:sp>
        <p:nvSpPr>
          <p:cNvPr id="10" name="箭头: 直角上 9">
            <a:extLst>
              <a:ext uri="{FF2B5EF4-FFF2-40B4-BE49-F238E27FC236}">
                <a16:creationId xmlns:a16="http://schemas.microsoft.com/office/drawing/2014/main" id="{1D7544FB-BD34-4AB7-ABE3-5686D992111A}"/>
              </a:ext>
            </a:extLst>
          </p:cNvPr>
          <p:cNvSpPr/>
          <p:nvPr/>
        </p:nvSpPr>
        <p:spPr>
          <a:xfrm rot="5400000">
            <a:off x="2573440" y="5311675"/>
            <a:ext cx="775496" cy="615361"/>
          </a:xfrm>
          <a:prstGeom prst="bentUp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4">
            <a:extLst>
              <a:ext uri="{FF2B5EF4-FFF2-40B4-BE49-F238E27FC236}">
                <a16:creationId xmlns:a16="http://schemas.microsoft.com/office/drawing/2014/main" id="{456C0242-46D6-4FB0-8A2D-087709FB7810}"/>
              </a:ext>
            </a:extLst>
          </p:cNvPr>
          <p:cNvSpPr>
            <a:spLocks noChangeArrowheads="1"/>
          </p:cNvSpPr>
          <p:nvPr/>
        </p:nvSpPr>
        <p:spPr bwMode="auto">
          <a:xfrm>
            <a:off x="8319350" y="1985618"/>
            <a:ext cx="1882766" cy="369332"/>
          </a:xfrm>
          <a:prstGeom prst="rect">
            <a:avLst/>
          </a:prstGeom>
          <a:gradFill rotWithShape="1">
            <a:gsLst>
              <a:gs pos="0">
                <a:srgbClr val="003366"/>
              </a:gs>
              <a:gs pos="100000">
                <a:srgbClr val="000A14"/>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zh-CN" sz="1400" dirty="0">
                <a:solidFill>
                  <a:schemeClr val="bg1"/>
                </a:solidFill>
                <a:latin typeface="微软雅黑" panose="020B0503020204020204" pitchFamily="34" charset="-122"/>
                <a:ea typeface="微软雅黑" panose="020B0503020204020204" pitchFamily="34" charset="-122"/>
              </a:rPr>
              <a:t>5W1H </a:t>
            </a:r>
            <a:r>
              <a:rPr lang="zh-CN" altLang="en-US" sz="1400" dirty="0">
                <a:solidFill>
                  <a:schemeClr val="bg1"/>
                </a:solidFill>
                <a:latin typeface="微软雅黑" panose="020B0503020204020204" pitchFamily="34" charset="-122"/>
                <a:ea typeface="微软雅黑" panose="020B0503020204020204" pitchFamily="34" charset="-122"/>
              </a:rPr>
              <a:t>思维训练</a:t>
            </a:r>
          </a:p>
        </p:txBody>
      </p:sp>
      <p:sp>
        <p:nvSpPr>
          <p:cNvPr id="16" name="AutoShape 5">
            <a:extLst>
              <a:ext uri="{FF2B5EF4-FFF2-40B4-BE49-F238E27FC236}">
                <a16:creationId xmlns:a16="http://schemas.microsoft.com/office/drawing/2014/main" id="{5FAA7EDB-A1E4-4D4E-A56B-BD67ECBB1E6A}"/>
              </a:ext>
            </a:extLst>
          </p:cNvPr>
          <p:cNvSpPr>
            <a:spLocks noChangeArrowheads="1"/>
          </p:cNvSpPr>
          <p:nvPr/>
        </p:nvSpPr>
        <p:spPr bwMode="auto">
          <a:xfrm>
            <a:off x="8413007" y="2404254"/>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dirty="0">
                <a:solidFill>
                  <a:schemeClr val="bg1"/>
                </a:solidFill>
              </a:rPr>
              <a:t>why</a:t>
            </a:r>
          </a:p>
        </p:txBody>
      </p:sp>
      <p:sp>
        <p:nvSpPr>
          <p:cNvPr id="17" name="AutoShape 6">
            <a:extLst>
              <a:ext uri="{FF2B5EF4-FFF2-40B4-BE49-F238E27FC236}">
                <a16:creationId xmlns:a16="http://schemas.microsoft.com/office/drawing/2014/main" id="{C1115AAB-0A36-4A2B-8739-F665D12BF905}"/>
              </a:ext>
            </a:extLst>
          </p:cNvPr>
          <p:cNvSpPr>
            <a:spLocks noChangeArrowheads="1"/>
          </p:cNvSpPr>
          <p:nvPr/>
        </p:nvSpPr>
        <p:spPr bwMode="auto">
          <a:xfrm>
            <a:off x="8413007" y="2982175"/>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who</a:t>
            </a:r>
          </a:p>
        </p:txBody>
      </p:sp>
      <p:sp>
        <p:nvSpPr>
          <p:cNvPr id="18" name="AutoShape 7">
            <a:extLst>
              <a:ext uri="{FF2B5EF4-FFF2-40B4-BE49-F238E27FC236}">
                <a16:creationId xmlns:a16="http://schemas.microsoft.com/office/drawing/2014/main" id="{44DAB8BD-34A3-4478-BBF8-C52F3BC8DF33}"/>
              </a:ext>
            </a:extLst>
          </p:cNvPr>
          <p:cNvSpPr>
            <a:spLocks noChangeArrowheads="1"/>
          </p:cNvSpPr>
          <p:nvPr/>
        </p:nvSpPr>
        <p:spPr bwMode="auto">
          <a:xfrm>
            <a:off x="8413007" y="3553740"/>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dirty="0">
                <a:solidFill>
                  <a:schemeClr val="bg1"/>
                </a:solidFill>
              </a:rPr>
              <a:t>what</a:t>
            </a:r>
          </a:p>
        </p:txBody>
      </p:sp>
      <p:sp>
        <p:nvSpPr>
          <p:cNvPr id="19" name="AutoShape 8">
            <a:extLst>
              <a:ext uri="{FF2B5EF4-FFF2-40B4-BE49-F238E27FC236}">
                <a16:creationId xmlns:a16="http://schemas.microsoft.com/office/drawing/2014/main" id="{2B42C339-9620-4111-843B-F31AD85595FF}"/>
              </a:ext>
            </a:extLst>
          </p:cNvPr>
          <p:cNvSpPr>
            <a:spLocks noChangeArrowheads="1"/>
          </p:cNvSpPr>
          <p:nvPr/>
        </p:nvSpPr>
        <p:spPr bwMode="auto">
          <a:xfrm>
            <a:off x="8413007" y="4125305"/>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when</a:t>
            </a:r>
          </a:p>
        </p:txBody>
      </p:sp>
      <p:sp>
        <p:nvSpPr>
          <p:cNvPr id="20" name="AutoShape 9">
            <a:extLst>
              <a:ext uri="{FF2B5EF4-FFF2-40B4-BE49-F238E27FC236}">
                <a16:creationId xmlns:a16="http://schemas.microsoft.com/office/drawing/2014/main" id="{4D7D757B-089C-4FAB-8117-639ED83B9D44}"/>
              </a:ext>
            </a:extLst>
          </p:cNvPr>
          <p:cNvSpPr>
            <a:spLocks noChangeArrowheads="1"/>
          </p:cNvSpPr>
          <p:nvPr/>
        </p:nvSpPr>
        <p:spPr bwMode="auto">
          <a:xfrm>
            <a:off x="8413007" y="4696870"/>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where</a:t>
            </a:r>
          </a:p>
        </p:txBody>
      </p:sp>
      <p:sp>
        <p:nvSpPr>
          <p:cNvPr id="21" name="AutoShape 10">
            <a:extLst>
              <a:ext uri="{FF2B5EF4-FFF2-40B4-BE49-F238E27FC236}">
                <a16:creationId xmlns:a16="http://schemas.microsoft.com/office/drawing/2014/main" id="{D994861F-ECED-4C10-AA11-A012713EB10D}"/>
              </a:ext>
            </a:extLst>
          </p:cNvPr>
          <p:cNvSpPr>
            <a:spLocks noChangeArrowheads="1"/>
          </p:cNvSpPr>
          <p:nvPr/>
        </p:nvSpPr>
        <p:spPr bwMode="auto">
          <a:xfrm>
            <a:off x="8413007" y="5268434"/>
            <a:ext cx="700760" cy="457252"/>
          </a:xfrm>
          <a:prstGeom prst="roundRect">
            <a:avLst>
              <a:gd name="adj" fmla="val 16667"/>
            </a:avLst>
          </a:prstGeom>
          <a:gradFill rotWithShape="1">
            <a:gsLst>
              <a:gs pos="0">
                <a:schemeClr val="hlink"/>
              </a:gs>
              <a:gs pos="100000">
                <a:schemeClr val="hlink">
                  <a:gamma/>
                  <a:shade val="57255"/>
                  <a:invGamma/>
                </a:schemeClr>
              </a:gs>
            </a:gsLst>
            <a:path path="shape">
              <a:fillToRect l="50000" t="50000" r="50000" b="50000"/>
            </a:path>
          </a:gradFill>
          <a:ln w="9525" algn="ctr">
            <a:noFill/>
            <a:round/>
            <a:headEnd/>
            <a:tailEnd/>
          </a:ln>
          <a:effectLst/>
        </p:spPr>
        <p:txBody>
          <a:bodyPr wrap="none" anchor="ctr"/>
          <a:lstStyle/>
          <a:p>
            <a:pPr algn="ctr">
              <a:defRPr/>
            </a:pPr>
            <a:r>
              <a:rPr lang="en-US" altLang="zh-CN" sz="1200">
                <a:solidFill>
                  <a:schemeClr val="bg1"/>
                </a:solidFill>
              </a:rPr>
              <a:t>how</a:t>
            </a:r>
          </a:p>
        </p:txBody>
      </p:sp>
      <p:sp>
        <p:nvSpPr>
          <p:cNvPr id="22" name="Text Box 11">
            <a:extLst>
              <a:ext uri="{FF2B5EF4-FFF2-40B4-BE49-F238E27FC236}">
                <a16:creationId xmlns:a16="http://schemas.microsoft.com/office/drawing/2014/main" id="{DA7162DD-7E6B-4E91-9F38-81A23C862AAC}"/>
              </a:ext>
            </a:extLst>
          </p:cNvPr>
          <p:cNvSpPr txBox="1">
            <a:spLocks noChangeArrowheads="1"/>
          </p:cNvSpPr>
          <p:nvPr/>
        </p:nvSpPr>
        <p:spPr bwMode="auto">
          <a:xfrm>
            <a:off x="9052232" y="5448751"/>
            <a:ext cx="132624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80000"/>
              </a:lnSpc>
              <a:spcBef>
                <a:spcPct val="20000"/>
              </a:spcBef>
              <a:buClr>
                <a:srgbClr val="EA978E"/>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使用最佳的方式</a:t>
            </a:r>
          </a:p>
          <a:p>
            <a:pPr eaLnBrk="1" hangingPunct="1"/>
            <a:endParaRPr lang="zh-CN" altLang="en-US" sz="1200" dirty="0">
              <a:latin typeface="微软雅黑" panose="020B0503020204020204" pitchFamily="34" charset="-122"/>
              <a:ea typeface="微软雅黑" panose="020B0503020204020204" pitchFamily="34" charset="-122"/>
            </a:endParaRPr>
          </a:p>
        </p:txBody>
      </p:sp>
      <p:sp>
        <p:nvSpPr>
          <p:cNvPr id="23" name="Text Box 12">
            <a:extLst>
              <a:ext uri="{FF2B5EF4-FFF2-40B4-BE49-F238E27FC236}">
                <a16:creationId xmlns:a16="http://schemas.microsoft.com/office/drawing/2014/main" id="{1CA122C0-A639-4A33-9FA4-ED58758397DC}"/>
              </a:ext>
            </a:extLst>
          </p:cNvPr>
          <p:cNvSpPr txBox="1">
            <a:spLocks noChangeArrowheads="1"/>
          </p:cNvSpPr>
          <p:nvPr/>
        </p:nvSpPr>
        <p:spPr bwMode="auto">
          <a:xfrm>
            <a:off x="9016846" y="4813447"/>
            <a:ext cx="13083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 选择合适的地点</a:t>
            </a:r>
          </a:p>
        </p:txBody>
      </p:sp>
      <p:sp>
        <p:nvSpPr>
          <p:cNvPr id="24" name="Text Box 13">
            <a:extLst>
              <a:ext uri="{FF2B5EF4-FFF2-40B4-BE49-F238E27FC236}">
                <a16:creationId xmlns:a16="http://schemas.microsoft.com/office/drawing/2014/main" id="{2BDD229B-B487-405B-949C-8D376F108E69}"/>
              </a:ext>
            </a:extLst>
          </p:cNvPr>
          <p:cNvSpPr txBox="1">
            <a:spLocks noChangeArrowheads="1"/>
          </p:cNvSpPr>
          <p:nvPr/>
        </p:nvSpPr>
        <p:spPr bwMode="auto">
          <a:xfrm>
            <a:off x="9052230" y="4239620"/>
            <a:ext cx="13403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a:latin typeface="微软雅黑" panose="020B0503020204020204" pitchFamily="34" charset="-122"/>
                <a:ea typeface="微软雅黑" panose="020B0503020204020204" pitchFamily="34" charset="-122"/>
              </a:rPr>
              <a:t>选择恰当的时间</a:t>
            </a:r>
          </a:p>
        </p:txBody>
      </p:sp>
      <p:sp>
        <p:nvSpPr>
          <p:cNvPr id="25" name="Text Box 14">
            <a:extLst>
              <a:ext uri="{FF2B5EF4-FFF2-40B4-BE49-F238E27FC236}">
                <a16:creationId xmlns:a16="http://schemas.microsoft.com/office/drawing/2014/main" id="{0B745A62-3219-4319-B50C-8D9C201C8872}"/>
              </a:ext>
            </a:extLst>
          </p:cNvPr>
          <p:cNvSpPr txBox="1">
            <a:spLocks noChangeArrowheads="1"/>
          </p:cNvSpPr>
          <p:nvPr/>
        </p:nvSpPr>
        <p:spPr bwMode="auto">
          <a:xfrm>
            <a:off x="9052230" y="3628465"/>
            <a:ext cx="12729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准备充分的内容</a:t>
            </a:r>
          </a:p>
        </p:txBody>
      </p:sp>
      <p:sp>
        <p:nvSpPr>
          <p:cNvPr id="26" name="Text Box 15">
            <a:extLst>
              <a:ext uri="{FF2B5EF4-FFF2-40B4-BE49-F238E27FC236}">
                <a16:creationId xmlns:a16="http://schemas.microsoft.com/office/drawing/2014/main" id="{0D4DAB1B-98C5-4853-9B07-D91D42395930}"/>
              </a:ext>
            </a:extLst>
          </p:cNvPr>
          <p:cNvSpPr txBox="1">
            <a:spLocks noChangeArrowheads="1"/>
          </p:cNvSpPr>
          <p:nvPr/>
        </p:nvSpPr>
        <p:spPr bwMode="auto">
          <a:xfrm>
            <a:off x="9063334" y="3106942"/>
            <a:ext cx="12618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明确沟通的对象</a:t>
            </a:r>
          </a:p>
        </p:txBody>
      </p:sp>
      <p:sp>
        <p:nvSpPr>
          <p:cNvPr id="27" name="Text Box 16">
            <a:extLst>
              <a:ext uri="{FF2B5EF4-FFF2-40B4-BE49-F238E27FC236}">
                <a16:creationId xmlns:a16="http://schemas.microsoft.com/office/drawing/2014/main" id="{4D77BD1A-28CF-4710-A2B4-CAA9CFAC46C9}"/>
              </a:ext>
            </a:extLst>
          </p:cNvPr>
          <p:cNvSpPr txBox="1">
            <a:spLocks noChangeArrowheads="1"/>
          </p:cNvSpPr>
          <p:nvPr/>
        </p:nvSpPr>
        <p:spPr bwMode="auto">
          <a:xfrm>
            <a:off x="9063332" y="2485675"/>
            <a:ext cx="12618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1200" dirty="0">
                <a:latin typeface="微软雅黑" panose="020B0503020204020204" pitchFamily="34" charset="-122"/>
                <a:ea typeface="微软雅黑" panose="020B0503020204020204" pitchFamily="34" charset="-122"/>
              </a:rPr>
              <a:t>想透沟通的目的</a:t>
            </a:r>
          </a:p>
        </p:txBody>
      </p:sp>
      <p:sp>
        <p:nvSpPr>
          <p:cNvPr id="30" name="文本框 29">
            <a:extLst>
              <a:ext uri="{FF2B5EF4-FFF2-40B4-BE49-F238E27FC236}">
                <a16:creationId xmlns:a16="http://schemas.microsoft.com/office/drawing/2014/main" id="{2843216B-D59E-4122-AE95-5892964B865D}"/>
              </a:ext>
            </a:extLst>
          </p:cNvPr>
          <p:cNvSpPr txBox="1"/>
          <p:nvPr/>
        </p:nvSpPr>
        <p:spPr>
          <a:xfrm>
            <a:off x="8319351" y="1319387"/>
            <a:ext cx="2293017" cy="584775"/>
          </a:xfrm>
          <a:prstGeom prst="rect">
            <a:avLst/>
          </a:prstGeom>
          <a:noFill/>
        </p:spPr>
        <p:txBody>
          <a:bodyPr wrap="square">
            <a:spAutoFit/>
          </a:bodyPr>
          <a:lstStyle/>
          <a:p>
            <a:r>
              <a:rPr lang="zh-CN" altLang="en-US" sz="1600" b="1" dirty="0">
                <a:solidFill>
                  <a:schemeClr val="accent2">
                    <a:lumMod val="75000"/>
                  </a:schemeClr>
                </a:solidFill>
              </a:rPr>
              <a:t>沟通前准备</a:t>
            </a:r>
            <a:endParaRPr lang="en-US" altLang="zh-CN" sz="1600" b="1" dirty="0">
              <a:solidFill>
                <a:schemeClr val="accent2">
                  <a:lumMod val="75000"/>
                </a:schemeClr>
              </a:solidFill>
            </a:endParaRPr>
          </a:p>
          <a:p>
            <a:r>
              <a:rPr lang="en-US" altLang="zh-CN" sz="1600" b="1" dirty="0">
                <a:solidFill>
                  <a:schemeClr val="accent2">
                    <a:lumMod val="75000"/>
                  </a:schemeClr>
                </a:solidFill>
              </a:rPr>
              <a:t>    -</a:t>
            </a:r>
            <a:r>
              <a:rPr lang="zh-CN" altLang="en-US" sz="1600" b="1" dirty="0">
                <a:solidFill>
                  <a:schemeClr val="accent2">
                    <a:lumMod val="75000"/>
                  </a:schemeClr>
                </a:solidFill>
              </a:rPr>
              <a:t>明确目标和问题</a:t>
            </a:r>
          </a:p>
        </p:txBody>
      </p:sp>
    </p:spTree>
    <p:extLst>
      <p:ext uri="{BB962C8B-B14F-4D97-AF65-F5344CB8AC3E}">
        <p14:creationId xmlns:p14="http://schemas.microsoft.com/office/powerpoint/2010/main" val="340589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62083E9-5143-44C7-9395-CE37F1724AE7}"/>
              </a:ext>
            </a:extLst>
          </p:cNvPr>
          <p:cNvSpPr>
            <a:spLocks noGrp="1" noChangeArrowheads="1"/>
          </p:cNvSpPr>
          <p:nvPr>
            <p:ph idx="1"/>
          </p:nvPr>
        </p:nvSpPr>
        <p:spPr>
          <a:xfrm>
            <a:off x="1194405" y="791902"/>
            <a:ext cx="8229600" cy="749201"/>
          </a:xfrm>
        </p:spPr>
        <p:txBody>
          <a:bodyPr/>
          <a:lstStyle/>
          <a:p>
            <a:pPr marL="0" indent="0" algn="l">
              <a:buNone/>
            </a:pPr>
            <a:r>
              <a:rPr lang="zh-CN" altLang="en-US" sz="2400" dirty="0">
                <a:solidFill>
                  <a:schemeClr val="accent2">
                    <a:lumMod val="75000"/>
                  </a:schemeClr>
                </a:solidFill>
              </a:rPr>
              <a:t>信息接收的问题与技巧</a:t>
            </a:r>
          </a:p>
        </p:txBody>
      </p:sp>
      <p:sp>
        <p:nvSpPr>
          <p:cNvPr id="2" name="标题 1">
            <a:extLst>
              <a:ext uri="{FF2B5EF4-FFF2-40B4-BE49-F238E27FC236}">
                <a16:creationId xmlns:a16="http://schemas.microsoft.com/office/drawing/2014/main" id="{57B783C9-51D0-4A13-BF2D-FB64C2DB8356}"/>
              </a:ext>
            </a:extLst>
          </p:cNvPr>
          <p:cNvSpPr>
            <a:spLocks noGrp="1"/>
          </p:cNvSpPr>
          <p:nvPr>
            <p:ph type="title"/>
          </p:nvPr>
        </p:nvSpPr>
        <p:spPr/>
        <p:txBody>
          <a:bodyPr/>
          <a:lstStyle/>
          <a:p>
            <a:endParaRPr lang="zh-CN" altLang="en-US"/>
          </a:p>
        </p:txBody>
      </p:sp>
      <p:sp>
        <p:nvSpPr>
          <p:cNvPr id="7" name="Rectangle 3">
            <a:extLst>
              <a:ext uri="{FF2B5EF4-FFF2-40B4-BE49-F238E27FC236}">
                <a16:creationId xmlns:a16="http://schemas.microsoft.com/office/drawing/2014/main" id="{6306A2E4-7755-4154-A069-00C73C6B0CCD}"/>
              </a:ext>
            </a:extLst>
          </p:cNvPr>
          <p:cNvSpPr txBox="1">
            <a:spLocks noChangeArrowheads="1"/>
          </p:cNvSpPr>
          <p:nvPr/>
        </p:nvSpPr>
        <p:spPr>
          <a:xfrm>
            <a:off x="1980123" y="1362205"/>
            <a:ext cx="3911600" cy="2713728"/>
          </a:xfrm>
          <a:prstGeom prst="rect">
            <a:avLst/>
          </a:prstGeom>
          <a:solidFill>
            <a:srgbClr val="FFFF99"/>
          </a:solidFill>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pPr>
            <a:r>
              <a:rPr lang="zh-CN" altLang="en-US" sz="2000" dirty="0">
                <a:solidFill>
                  <a:schemeClr val="tx1"/>
                </a:solidFill>
              </a:rPr>
              <a:t>人们在聆听时常会出现的问题</a:t>
            </a:r>
          </a:p>
          <a:p>
            <a:pPr lvl="1">
              <a:lnSpc>
                <a:spcPct val="130000"/>
              </a:lnSpc>
            </a:pPr>
            <a:r>
              <a:rPr lang="zh-CN" altLang="en-US" sz="1800" dirty="0">
                <a:solidFill>
                  <a:schemeClr val="tx1"/>
                </a:solidFill>
              </a:rPr>
              <a:t>偏见和固执、或凭直觉或推理</a:t>
            </a:r>
          </a:p>
          <a:p>
            <a:pPr lvl="1">
              <a:lnSpc>
                <a:spcPct val="130000"/>
              </a:lnSpc>
            </a:pPr>
            <a:r>
              <a:rPr lang="zh-CN" altLang="en-US" sz="1800" dirty="0">
                <a:solidFill>
                  <a:schemeClr val="tx1"/>
                </a:solidFill>
              </a:rPr>
              <a:t>被动的聆听、注意力分散</a:t>
            </a:r>
          </a:p>
          <a:p>
            <a:pPr lvl="1">
              <a:lnSpc>
                <a:spcPct val="130000"/>
              </a:lnSpc>
            </a:pPr>
            <a:r>
              <a:rPr lang="zh-CN" altLang="en-US" sz="1800" dirty="0">
                <a:solidFill>
                  <a:schemeClr val="tx1"/>
                </a:solidFill>
              </a:rPr>
              <a:t>受到某种力量的控制或影响</a:t>
            </a:r>
          </a:p>
          <a:p>
            <a:pPr lvl="1">
              <a:lnSpc>
                <a:spcPct val="130000"/>
              </a:lnSpc>
            </a:pPr>
            <a:r>
              <a:rPr lang="zh-CN" altLang="en-US" sz="1800" dirty="0">
                <a:solidFill>
                  <a:schemeClr val="tx1"/>
                </a:solidFill>
              </a:rPr>
              <a:t>受情绪左右，感情用事</a:t>
            </a:r>
          </a:p>
          <a:p>
            <a:pPr lvl="1">
              <a:lnSpc>
                <a:spcPct val="130000"/>
              </a:lnSpc>
            </a:pPr>
            <a:r>
              <a:rPr lang="zh-CN" altLang="en-US" sz="1800" dirty="0">
                <a:solidFill>
                  <a:schemeClr val="tx1"/>
                </a:solidFill>
              </a:rPr>
              <a:t>出于礼貌的聆听</a:t>
            </a:r>
          </a:p>
          <a:p>
            <a:pPr lvl="1">
              <a:lnSpc>
                <a:spcPct val="130000"/>
              </a:lnSpc>
            </a:pPr>
            <a:r>
              <a:rPr lang="zh-CN" altLang="en-US" sz="1800" dirty="0">
                <a:solidFill>
                  <a:schemeClr val="tx1"/>
                </a:solidFill>
              </a:rPr>
              <a:t>只收集信息、不分析理解</a:t>
            </a:r>
          </a:p>
        </p:txBody>
      </p:sp>
      <p:sp>
        <p:nvSpPr>
          <p:cNvPr id="8" name="Rectangle 7">
            <a:extLst>
              <a:ext uri="{FF2B5EF4-FFF2-40B4-BE49-F238E27FC236}">
                <a16:creationId xmlns:a16="http://schemas.microsoft.com/office/drawing/2014/main" id="{1029CB68-08FB-4AEA-A3E0-E757719E26DC}"/>
              </a:ext>
            </a:extLst>
          </p:cNvPr>
          <p:cNvSpPr>
            <a:spLocks noChangeArrowheads="1"/>
          </p:cNvSpPr>
          <p:nvPr/>
        </p:nvSpPr>
        <p:spPr bwMode="auto">
          <a:xfrm>
            <a:off x="6300279" y="1691521"/>
            <a:ext cx="3968046" cy="238440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SzPct val="85000"/>
              <a:buBlip>
                <a:blip r:embed="rId3"/>
              </a:buBlip>
              <a:defRPr kumimoji="1" sz="3200">
                <a:solidFill>
                  <a:schemeClr val="tx1"/>
                </a:solidFill>
                <a:latin typeface="Arial" panose="020B0604020202020204" pitchFamily="34" charset="0"/>
                <a:ea typeface="宋体" panose="02010600030101010101" pitchFamily="2" charset="-122"/>
              </a:defRPr>
            </a:lvl1pPr>
            <a:lvl2pPr marL="742950" indent="-285750">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pPr>
              <a:buClr>
                <a:schemeClr val="hlink"/>
              </a:buClr>
              <a:buSzPct val="120000"/>
              <a:buFont typeface="Wingdings" panose="05000000000000000000" pitchFamily="2" charset="2"/>
              <a:buChar char="l"/>
            </a:pPr>
            <a:r>
              <a:rPr kumimoji="0" lang="zh-CN" altLang="en-US" sz="2000" b="1" dirty="0"/>
              <a:t>聆听和接收信息的技巧</a:t>
            </a:r>
          </a:p>
          <a:p>
            <a:pPr lvl="1">
              <a:lnSpc>
                <a:spcPct val="100000"/>
              </a:lnSpc>
            </a:pPr>
            <a:r>
              <a:rPr kumimoji="0" lang="zh-CN" altLang="en-US" sz="1800" b="1" dirty="0"/>
              <a:t>使用目光接触</a:t>
            </a:r>
          </a:p>
          <a:p>
            <a:pPr lvl="1">
              <a:lnSpc>
                <a:spcPct val="100000"/>
              </a:lnSpc>
            </a:pPr>
            <a:r>
              <a:rPr kumimoji="0" lang="zh-CN" altLang="en-US" sz="1800" b="1" dirty="0"/>
              <a:t>展现恰当的面部表情</a:t>
            </a:r>
          </a:p>
          <a:p>
            <a:pPr lvl="1">
              <a:lnSpc>
                <a:spcPct val="100000"/>
              </a:lnSpc>
            </a:pPr>
            <a:r>
              <a:rPr kumimoji="0" lang="zh-CN" altLang="en-US" sz="1800" b="1" dirty="0"/>
              <a:t>避免表示分心的举动或手势</a:t>
            </a:r>
          </a:p>
          <a:p>
            <a:pPr lvl="1">
              <a:lnSpc>
                <a:spcPct val="100000"/>
              </a:lnSpc>
            </a:pPr>
            <a:r>
              <a:rPr kumimoji="0" lang="zh-CN" altLang="en-US" sz="1800" b="1" dirty="0"/>
              <a:t>提问、复述</a:t>
            </a:r>
          </a:p>
          <a:p>
            <a:pPr lvl="1">
              <a:lnSpc>
                <a:spcPct val="100000"/>
              </a:lnSpc>
            </a:pPr>
            <a:r>
              <a:rPr kumimoji="0" lang="zh-CN" altLang="en-US" sz="1800" b="1" dirty="0"/>
              <a:t>避免随便打断对方</a:t>
            </a:r>
          </a:p>
          <a:p>
            <a:pPr lvl="1">
              <a:lnSpc>
                <a:spcPct val="100000"/>
              </a:lnSpc>
            </a:pPr>
            <a:r>
              <a:rPr kumimoji="0" lang="zh-CN" altLang="en-US" sz="1800" b="1" dirty="0"/>
              <a:t>多听少说</a:t>
            </a:r>
          </a:p>
          <a:p>
            <a:pPr lvl="1">
              <a:lnSpc>
                <a:spcPct val="100000"/>
              </a:lnSpc>
            </a:pPr>
            <a:r>
              <a:rPr kumimoji="0" lang="zh-CN" altLang="en-US" sz="1800" b="1" dirty="0"/>
              <a:t>使听者与说者的角色顺利转换</a:t>
            </a:r>
          </a:p>
        </p:txBody>
      </p:sp>
      <p:grpSp>
        <p:nvGrpSpPr>
          <p:cNvPr id="10" name="Group 27">
            <a:extLst>
              <a:ext uri="{FF2B5EF4-FFF2-40B4-BE49-F238E27FC236}">
                <a16:creationId xmlns:a16="http://schemas.microsoft.com/office/drawing/2014/main" id="{F3483526-8A94-4F75-866D-A34CB6ACCB18}"/>
              </a:ext>
            </a:extLst>
          </p:cNvPr>
          <p:cNvGrpSpPr>
            <a:grpSpLocks/>
          </p:cNvGrpSpPr>
          <p:nvPr/>
        </p:nvGrpSpPr>
        <p:grpSpPr bwMode="auto">
          <a:xfrm>
            <a:off x="3541186" y="4243461"/>
            <a:ext cx="3143627" cy="2204541"/>
            <a:chOff x="2063" y="1480"/>
            <a:chExt cx="3629" cy="2585"/>
          </a:xfrm>
        </p:grpSpPr>
        <p:sp>
          <p:nvSpPr>
            <p:cNvPr id="11" name="AutoShape 4">
              <a:extLst>
                <a:ext uri="{FF2B5EF4-FFF2-40B4-BE49-F238E27FC236}">
                  <a16:creationId xmlns:a16="http://schemas.microsoft.com/office/drawing/2014/main" id="{FC3BDBEF-86DC-41A4-AC28-49121B78C9AF}"/>
                </a:ext>
              </a:extLst>
            </p:cNvPr>
            <p:cNvSpPr>
              <a:spLocks noChangeArrowheads="1"/>
            </p:cNvSpPr>
            <p:nvPr/>
          </p:nvSpPr>
          <p:spPr bwMode="auto">
            <a:xfrm>
              <a:off x="2334" y="2840"/>
              <a:ext cx="3357" cy="91"/>
            </a:xfrm>
            <a:prstGeom prst="leftRightArrow">
              <a:avLst>
                <a:gd name="adj1" fmla="val 75824"/>
                <a:gd name="adj2" fmla="val 275822"/>
              </a:avLst>
            </a:prstGeom>
            <a:solidFill>
              <a:srgbClr val="CC3300"/>
            </a:solidFill>
            <a:ln w="9525" algn="ctr">
              <a:solidFill>
                <a:srgbClr val="CC3300"/>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sz="1400">
                <a:ea typeface="宋体" panose="02010600030101010101" pitchFamily="2" charset="-122"/>
              </a:endParaRPr>
            </a:p>
          </p:txBody>
        </p:sp>
        <p:sp>
          <p:nvSpPr>
            <p:cNvPr id="12" name="AutoShape 5">
              <a:extLst>
                <a:ext uri="{FF2B5EF4-FFF2-40B4-BE49-F238E27FC236}">
                  <a16:creationId xmlns:a16="http://schemas.microsoft.com/office/drawing/2014/main" id="{BFF307ED-315A-404B-9C05-067D3E2387DF}"/>
                </a:ext>
              </a:extLst>
            </p:cNvPr>
            <p:cNvSpPr>
              <a:spLocks noChangeArrowheads="1"/>
            </p:cNvSpPr>
            <p:nvPr/>
          </p:nvSpPr>
          <p:spPr bwMode="auto">
            <a:xfrm rot="5400000">
              <a:off x="2790" y="2840"/>
              <a:ext cx="2358" cy="91"/>
            </a:xfrm>
            <a:prstGeom prst="leftRightArrow">
              <a:avLst>
                <a:gd name="adj1" fmla="val 75824"/>
                <a:gd name="adj2" fmla="val 193741"/>
              </a:avLst>
            </a:prstGeom>
            <a:solidFill>
              <a:srgbClr val="CC3300"/>
            </a:solidFill>
            <a:ln w="9525" algn="ctr">
              <a:solidFill>
                <a:srgbClr val="CC3300"/>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sz="1400">
                <a:ea typeface="宋体" panose="02010600030101010101" pitchFamily="2" charset="-122"/>
              </a:endParaRPr>
            </a:p>
          </p:txBody>
        </p:sp>
        <p:sp>
          <p:nvSpPr>
            <p:cNvPr id="13" name="Rectangle 6">
              <a:extLst>
                <a:ext uri="{FF2B5EF4-FFF2-40B4-BE49-F238E27FC236}">
                  <a16:creationId xmlns:a16="http://schemas.microsoft.com/office/drawing/2014/main" id="{F92E4859-69A9-4134-B2EE-FD47845DD19C}"/>
                </a:ext>
              </a:extLst>
            </p:cNvPr>
            <p:cNvSpPr>
              <a:spLocks noChangeArrowheads="1"/>
            </p:cNvSpPr>
            <p:nvPr/>
          </p:nvSpPr>
          <p:spPr bwMode="auto">
            <a:xfrm>
              <a:off x="2335" y="1752"/>
              <a:ext cx="1587"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endParaRPr kumimoji="1" lang="zh-CN" altLang="en-US" sz="1400">
                <a:latin typeface="微软雅黑" panose="020B0503020204020204" pitchFamily="34" charset="-122"/>
                <a:ea typeface="微软雅黑" panose="020B0503020204020204" pitchFamily="34" charset="-122"/>
              </a:endParaRPr>
            </a:p>
          </p:txBody>
        </p:sp>
        <p:sp>
          <p:nvSpPr>
            <p:cNvPr id="14" name="Rectangle 7">
              <a:extLst>
                <a:ext uri="{FF2B5EF4-FFF2-40B4-BE49-F238E27FC236}">
                  <a16:creationId xmlns:a16="http://schemas.microsoft.com/office/drawing/2014/main" id="{6B2C1B78-C6CC-4A21-94B8-9AECFEEA67F9}"/>
                </a:ext>
              </a:extLst>
            </p:cNvPr>
            <p:cNvSpPr>
              <a:spLocks noChangeArrowheads="1"/>
            </p:cNvSpPr>
            <p:nvPr/>
          </p:nvSpPr>
          <p:spPr bwMode="auto">
            <a:xfrm>
              <a:off x="4104" y="1752"/>
              <a:ext cx="1588"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a:latin typeface="微软雅黑" panose="020B0503020204020204" pitchFamily="34" charset="-122"/>
                  <a:ea typeface="微软雅黑" panose="020B0503020204020204" pitchFamily="34" charset="-122"/>
                </a:rPr>
                <a:t>盲点区</a:t>
              </a:r>
            </a:p>
          </p:txBody>
        </p:sp>
        <p:sp>
          <p:nvSpPr>
            <p:cNvPr id="15" name="Rectangle 8">
              <a:extLst>
                <a:ext uri="{FF2B5EF4-FFF2-40B4-BE49-F238E27FC236}">
                  <a16:creationId xmlns:a16="http://schemas.microsoft.com/office/drawing/2014/main" id="{1F1BD490-C97A-46FE-9C4E-520E8F5D9469}"/>
                </a:ext>
              </a:extLst>
            </p:cNvPr>
            <p:cNvSpPr>
              <a:spLocks noChangeArrowheads="1"/>
            </p:cNvSpPr>
            <p:nvPr/>
          </p:nvSpPr>
          <p:spPr bwMode="auto">
            <a:xfrm>
              <a:off x="4104" y="2977"/>
              <a:ext cx="1588" cy="1043"/>
            </a:xfrm>
            <a:prstGeom prst="rect">
              <a:avLst/>
            </a:prstGeom>
            <a:solidFill>
              <a:srgbClr val="FF0000"/>
            </a:soli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a:solidFill>
                    <a:schemeClr val="bg1"/>
                  </a:solidFill>
                  <a:latin typeface="微软雅黑" panose="020B0503020204020204" pitchFamily="34" charset="-122"/>
                  <a:ea typeface="微软雅黑" panose="020B0503020204020204" pitchFamily="34" charset="-122"/>
                </a:rPr>
                <a:t>未知区</a:t>
              </a:r>
            </a:p>
          </p:txBody>
        </p:sp>
        <p:sp>
          <p:nvSpPr>
            <p:cNvPr id="16" name="Rectangle 9">
              <a:extLst>
                <a:ext uri="{FF2B5EF4-FFF2-40B4-BE49-F238E27FC236}">
                  <a16:creationId xmlns:a16="http://schemas.microsoft.com/office/drawing/2014/main" id="{F19A3801-8588-4C63-993A-546A034FC48F}"/>
                </a:ext>
              </a:extLst>
            </p:cNvPr>
            <p:cNvSpPr>
              <a:spLocks noChangeArrowheads="1"/>
            </p:cNvSpPr>
            <p:nvPr/>
          </p:nvSpPr>
          <p:spPr bwMode="auto">
            <a:xfrm>
              <a:off x="2335" y="2977"/>
              <a:ext cx="1587" cy="104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kumimoji="1" lang="zh-CN" altLang="en-US" sz="1400" dirty="0">
                  <a:latin typeface="微软雅黑" panose="020B0503020204020204" pitchFamily="34" charset="-122"/>
                  <a:ea typeface="微软雅黑" panose="020B0503020204020204" pitchFamily="34" charset="-122"/>
                </a:rPr>
                <a:t>隐藏区</a:t>
              </a:r>
            </a:p>
            <a:p>
              <a:pPr algn="ctr"/>
              <a:r>
                <a:rPr kumimoji="1" lang="en-US" altLang="zh-CN" sz="1400" dirty="0">
                  <a:latin typeface="微软雅黑" panose="020B0503020204020204" pitchFamily="34" charset="-122"/>
                  <a:ea typeface="微软雅黑" panose="020B0503020204020204" pitchFamily="34" charset="-122"/>
                </a:rPr>
                <a:t>(Façade)</a:t>
              </a:r>
            </a:p>
          </p:txBody>
        </p:sp>
        <p:sp>
          <p:nvSpPr>
            <p:cNvPr id="17" name="Rectangle 10">
              <a:extLst>
                <a:ext uri="{FF2B5EF4-FFF2-40B4-BE49-F238E27FC236}">
                  <a16:creationId xmlns:a16="http://schemas.microsoft.com/office/drawing/2014/main" id="{3AE39CD8-7B94-4AEF-8964-3C56E48442AD}"/>
                </a:ext>
              </a:extLst>
            </p:cNvPr>
            <p:cNvSpPr>
              <a:spLocks noChangeArrowheads="1"/>
            </p:cNvSpPr>
            <p:nvPr/>
          </p:nvSpPr>
          <p:spPr bwMode="auto">
            <a:xfrm>
              <a:off x="2335" y="1480"/>
              <a:ext cx="1588" cy="227"/>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自己知道</a:t>
              </a:r>
            </a:p>
          </p:txBody>
        </p:sp>
        <p:sp>
          <p:nvSpPr>
            <p:cNvPr id="18" name="Rectangle 11">
              <a:extLst>
                <a:ext uri="{FF2B5EF4-FFF2-40B4-BE49-F238E27FC236}">
                  <a16:creationId xmlns:a16="http://schemas.microsoft.com/office/drawing/2014/main" id="{452E4832-901C-42F4-A670-3EEFF63F0B6A}"/>
                </a:ext>
              </a:extLst>
            </p:cNvPr>
            <p:cNvSpPr>
              <a:spLocks noChangeArrowheads="1"/>
            </p:cNvSpPr>
            <p:nvPr/>
          </p:nvSpPr>
          <p:spPr bwMode="auto">
            <a:xfrm>
              <a:off x="4104" y="1480"/>
              <a:ext cx="1588" cy="227"/>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自己不知道</a:t>
              </a:r>
            </a:p>
          </p:txBody>
        </p:sp>
        <p:sp>
          <p:nvSpPr>
            <p:cNvPr id="19" name="Rectangle 12">
              <a:extLst>
                <a:ext uri="{FF2B5EF4-FFF2-40B4-BE49-F238E27FC236}">
                  <a16:creationId xmlns:a16="http://schemas.microsoft.com/office/drawing/2014/main" id="{56F778BB-8A2F-4B0F-9E2A-2E6E9152A9EE}"/>
                </a:ext>
              </a:extLst>
            </p:cNvPr>
            <p:cNvSpPr>
              <a:spLocks noChangeArrowheads="1"/>
            </p:cNvSpPr>
            <p:nvPr/>
          </p:nvSpPr>
          <p:spPr bwMode="auto">
            <a:xfrm>
              <a:off x="2063" y="1752"/>
              <a:ext cx="227" cy="1043"/>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别</a:t>
              </a:r>
            </a:p>
            <a:p>
              <a:pPr algn="ctr" eaLnBrk="1" hangingPunct="1"/>
              <a:r>
                <a:rPr lang="zh-CN" altLang="en-US" sz="1200" dirty="0">
                  <a:latin typeface="微软雅黑" panose="020B0503020204020204" pitchFamily="34" charset="-122"/>
                  <a:ea typeface="微软雅黑" panose="020B0503020204020204" pitchFamily="34" charset="-122"/>
                </a:rPr>
                <a:t>人</a:t>
              </a:r>
            </a:p>
            <a:p>
              <a:pPr algn="ctr" eaLnBrk="1" hangingPunct="1"/>
              <a:r>
                <a:rPr lang="zh-CN" altLang="en-US" sz="1200" dirty="0">
                  <a:latin typeface="微软雅黑" panose="020B0503020204020204" pitchFamily="34" charset="-122"/>
                  <a:ea typeface="微软雅黑" panose="020B0503020204020204" pitchFamily="34" charset="-122"/>
                </a:rPr>
                <a:t>知</a:t>
              </a:r>
            </a:p>
            <a:p>
              <a:pPr algn="ctr" eaLnBrk="1" hangingPunct="1"/>
              <a:r>
                <a:rPr lang="zh-CN" altLang="en-US" sz="1200" dirty="0">
                  <a:latin typeface="微软雅黑" panose="020B0503020204020204" pitchFamily="34" charset="-122"/>
                  <a:ea typeface="微软雅黑" panose="020B0503020204020204" pitchFamily="34" charset="-122"/>
                </a:rPr>
                <a:t>道</a:t>
              </a:r>
            </a:p>
          </p:txBody>
        </p:sp>
        <p:sp>
          <p:nvSpPr>
            <p:cNvPr id="20" name="Rectangle 13">
              <a:extLst>
                <a:ext uri="{FF2B5EF4-FFF2-40B4-BE49-F238E27FC236}">
                  <a16:creationId xmlns:a16="http://schemas.microsoft.com/office/drawing/2014/main" id="{509537A7-5BCD-479E-A5DD-B1ADE1EA852A}"/>
                </a:ext>
              </a:extLst>
            </p:cNvPr>
            <p:cNvSpPr>
              <a:spLocks noChangeArrowheads="1"/>
            </p:cNvSpPr>
            <p:nvPr/>
          </p:nvSpPr>
          <p:spPr bwMode="auto">
            <a:xfrm>
              <a:off x="2063" y="2977"/>
              <a:ext cx="227" cy="1043"/>
            </a:xfrm>
            <a:prstGeom prst="rect">
              <a:avLst/>
            </a:prstGeom>
            <a:solidFill>
              <a:srgbClr val="FFFF66"/>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200" dirty="0">
                  <a:latin typeface="微软雅黑" panose="020B0503020204020204" pitchFamily="34" charset="-122"/>
                  <a:ea typeface="微软雅黑" panose="020B0503020204020204" pitchFamily="34" charset="-122"/>
                </a:rPr>
                <a:t>别</a:t>
              </a:r>
            </a:p>
            <a:p>
              <a:pPr algn="ctr" eaLnBrk="1" hangingPunct="1"/>
              <a:r>
                <a:rPr lang="zh-CN" altLang="en-US" sz="1200" dirty="0">
                  <a:latin typeface="微软雅黑" panose="020B0503020204020204" pitchFamily="34" charset="-122"/>
                  <a:ea typeface="微软雅黑" panose="020B0503020204020204" pitchFamily="34" charset="-122"/>
                </a:rPr>
                <a:t>人</a:t>
              </a:r>
            </a:p>
            <a:p>
              <a:pPr algn="ctr" eaLnBrk="1" hangingPunct="1"/>
              <a:r>
                <a:rPr lang="zh-CN" altLang="en-US" sz="1200" dirty="0">
                  <a:latin typeface="微软雅黑" panose="020B0503020204020204" pitchFamily="34" charset="-122"/>
                  <a:ea typeface="微软雅黑" panose="020B0503020204020204" pitchFamily="34" charset="-122"/>
                </a:rPr>
                <a:t>不</a:t>
              </a:r>
            </a:p>
            <a:p>
              <a:pPr algn="ctr" eaLnBrk="1" hangingPunct="1"/>
              <a:r>
                <a:rPr lang="zh-CN" altLang="en-US" sz="1200" dirty="0">
                  <a:latin typeface="微软雅黑" panose="020B0503020204020204" pitchFamily="34" charset="-122"/>
                  <a:ea typeface="微软雅黑" panose="020B0503020204020204" pitchFamily="34" charset="-122"/>
                </a:rPr>
                <a:t>知</a:t>
              </a:r>
            </a:p>
            <a:p>
              <a:pPr algn="ctr" eaLnBrk="1" hangingPunct="1"/>
              <a:r>
                <a:rPr lang="zh-CN" altLang="en-US" sz="1200" dirty="0">
                  <a:latin typeface="微软雅黑" panose="020B0503020204020204" pitchFamily="34" charset="-122"/>
                  <a:ea typeface="微软雅黑" panose="020B0503020204020204" pitchFamily="34" charset="-122"/>
                </a:rPr>
                <a:t>道</a:t>
              </a:r>
            </a:p>
          </p:txBody>
        </p:sp>
        <p:sp>
          <p:nvSpPr>
            <p:cNvPr id="21" name="Rectangle 14">
              <a:extLst>
                <a:ext uri="{FF2B5EF4-FFF2-40B4-BE49-F238E27FC236}">
                  <a16:creationId xmlns:a16="http://schemas.microsoft.com/office/drawing/2014/main" id="{1343678B-33EC-4D13-8394-D7DABCB93AFF}"/>
                </a:ext>
              </a:extLst>
            </p:cNvPr>
            <p:cNvSpPr>
              <a:spLocks noChangeArrowheads="1"/>
            </p:cNvSpPr>
            <p:nvPr/>
          </p:nvSpPr>
          <p:spPr bwMode="auto">
            <a:xfrm>
              <a:off x="2335" y="1752"/>
              <a:ext cx="1315" cy="771"/>
            </a:xfrm>
            <a:prstGeom prst="rect">
              <a:avLst/>
            </a:prstGeom>
            <a:solidFill>
              <a:srgbClr val="66FF33"/>
            </a:soli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1400">
                  <a:latin typeface="微软雅黑" panose="020B0503020204020204" pitchFamily="34" charset="-122"/>
                  <a:ea typeface="微软雅黑" panose="020B0503020204020204" pitchFamily="34" charset="-122"/>
                </a:rPr>
                <a:t>开放区</a:t>
              </a:r>
            </a:p>
          </p:txBody>
        </p:sp>
        <p:sp>
          <p:nvSpPr>
            <p:cNvPr id="22" name="Line 15">
              <a:extLst>
                <a:ext uri="{FF2B5EF4-FFF2-40B4-BE49-F238E27FC236}">
                  <a16:creationId xmlns:a16="http://schemas.microsoft.com/office/drawing/2014/main" id="{0038B74D-E2FF-4CF3-B9F8-C2BD12A983EB}"/>
                </a:ext>
              </a:extLst>
            </p:cNvPr>
            <p:cNvSpPr>
              <a:spLocks noChangeShapeType="1"/>
            </p:cNvSpPr>
            <p:nvPr/>
          </p:nvSpPr>
          <p:spPr bwMode="auto">
            <a:xfrm>
              <a:off x="3650" y="1933"/>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Line 16">
              <a:extLst>
                <a:ext uri="{FF2B5EF4-FFF2-40B4-BE49-F238E27FC236}">
                  <a16:creationId xmlns:a16="http://schemas.microsoft.com/office/drawing/2014/main" id="{0BB66741-7805-4476-8D13-9D311C00A3E5}"/>
                </a:ext>
              </a:extLst>
            </p:cNvPr>
            <p:cNvSpPr>
              <a:spLocks noChangeShapeType="1"/>
            </p:cNvSpPr>
            <p:nvPr/>
          </p:nvSpPr>
          <p:spPr bwMode="auto">
            <a:xfrm>
              <a:off x="3650" y="2070"/>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17">
              <a:extLst>
                <a:ext uri="{FF2B5EF4-FFF2-40B4-BE49-F238E27FC236}">
                  <a16:creationId xmlns:a16="http://schemas.microsoft.com/office/drawing/2014/main" id="{077171D6-9D1D-4671-A046-7FDA8EE548E2}"/>
                </a:ext>
              </a:extLst>
            </p:cNvPr>
            <p:cNvSpPr>
              <a:spLocks noChangeShapeType="1"/>
            </p:cNvSpPr>
            <p:nvPr/>
          </p:nvSpPr>
          <p:spPr bwMode="auto">
            <a:xfrm>
              <a:off x="3650" y="2206"/>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Line 18">
              <a:extLst>
                <a:ext uri="{FF2B5EF4-FFF2-40B4-BE49-F238E27FC236}">
                  <a16:creationId xmlns:a16="http://schemas.microsoft.com/office/drawing/2014/main" id="{B0342F36-40EA-433D-8CF5-FD39EF3663BE}"/>
                </a:ext>
              </a:extLst>
            </p:cNvPr>
            <p:cNvSpPr>
              <a:spLocks noChangeShapeType="1"/>
            </p:cNvSpPr>
            <p:nvPr/>
          </p:nvSpPr>
          <p:spPr bwMode="auto">
            <a:xfrm>
              <a:off x="3650" y="2342"/>
              <a:ext cx="2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19">
              <a:extLst>
                <a:ext uri="{FF2B5EF4-FFF2-40B4-BE49-F238E27FC236}">
                  <a16:creationId xmlns:a16="http://schemas.microsoft.com/office/drawing/2014/main" id="{9C85E619-D7B4-4E4E-9189-0211CE3C5DF0}"/>
                </a:ext>
              </a:extLst>
            </p:cNvPr>
            <p:cNvSpPr>
              <a:spLocks noChangeShapeType="1"/>
            </p:cNvSpPr>
            <p:nvPr/>
          </p:nvSpPr>
          <p:spPr bwMode="auto">
            <a:xfrm>
              <a:off x="2471"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20">
              <a:extLst>
                <a:ext uri="{FF2B5EF4-FFF2-40B4-BE49-F238E27FC236}">
                  <a16:creationId xmlns:a16="http://schemas.microsoft.com/office/drawing/2014/main" id="{164AE761-1F8A-4A3B-9B36-323DD0D7921A}"/>
                </a:ext>
              </a:extLst>
            </p:cNvPr>
            <p:cNvSpPr>
              <a:spLocks noChangeShapeType="1"/>
            </p:cNvSpPr>
            <p:nvPr/>
          </p:nvSpPr>
          <p:spPr bwMode="auto">
            <a:xfrm>
              <a:off x="2607"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1">
              <a:extLst>
                <a:ext uri="{FF2B5EF4-FFF2-40B4-BE49-F238E27FC236}">
                  <a16:creationId xmlns:a16="http://schemas.microsoft.com/office/drawing/2014/main" id="{ADE38E49-3ED8-470C-B18B-44751BD3BA78}"/>
                </a:ext>
              </a:extLst>
            </p:cNvPr>
            <p:cNvSpPr>
              <a:spLocks noChangeShapeType="1"/>
            </p:cNvSpPr>
            <p:nvPr/>
          </p:nvSpPr>
          <p:spPr bwMode="auto">
            <a:xfrm>
              <a:off x="2743"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22">
              <a:extLst>
                <a:ext uri="{FF2B5EF4-FFF2-40B4-BE49-F238E27FC236}">
                  <a16:creationId xmlns:a16="http://schemas.microsoft.com/office/drawing/2014/main" id="{66384A39-6998-408F-9829-744AC75B033F}"/>
                </a:ext>
              </a:extLst>
            </p:cNvPr>
            <p:cNvSpPr>
              <a:spLocks noChangeShapeType="1"/>
            </p:cNvSpPr>
            <p:nvPr/>
          </p:nvSpPr>
          <p:spPr bwMode="auto">
            <a:xfrm>
              <a:off x="2879"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23">
              <a:extLst>
                <a:ext uri="{FF2B5EF4-FFF2-40B4-BE49-F238E27FC236}">
                  <a16:creationId xmlns:a16="http://schemas.microsoft.com/office/drawing/2014/main" id="{1A8DFC32-9BCA-47CD-B5C1-AA8C1164ED52}"/>
                </a:ext>
              </a:extLst>
            </p:cNvPr>
            <p:cNvSpPr>
              <a:spLocks noChangeShapeType="1"/>
            </p:cNvSpPr>
            <p:nvPr/>
          </p:nvSpPr>
          <p:spPr bwMode="auto">
            <a:xfrm>
              <a:off x="3015"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24">
              <a:extLst>
                <a:ext uri="{FF2B5EF4-FFF2-40B4-BE49-F238E27FC236}">
                  <a16:creationId xmlns:a16="http://schemas.microsoft.com/office/drawing/2014/main" id="{B00FD01C-33B4-492A-9DF0-7599B99B9132}"/>
                </a:ext>
              </a:extLst>
            </p:cNvPr>
            <p:cNvSpPr>
              <a:spLocks noChangeShapeType="1"/>
            </p:cNvSpPr>
            <p:nvPr/>
          </p:nvSpPr>
          <p:spPr bwMode="auto">
            <a:xfrm>
              <a:off x="3151"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25">
              <a:extLst>
                <a:ext uri="{FF2B5EF4-FFF2-40B4-BE49-F238E27FC236}">
                  <a16:creationId xmlns:a16="http://schemas.microsoft.com/office/drawing/2014/main" id="{72144446-F029-452E-A849-57F25B7EA226}"/>
                </a:ext>
              </a:extLst>
            </p:cNvPr>
            <p:cNvSpPr>
              <a:spLocks noChangeShapeType="1"/>
            </p:cNvSpPr>
            <p:nvPr/>
          </p:nvSpPr>
          <p:spPr bwMode="auto">
            <a:xfrm>
              <a:off x="3288"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26">
              <a:extLst>
                <a:ext uri="{FF2B5EF4-FFF2-40B4-BE49-F238E27FC236}">
                  <a16:creationId xmlns:a16="http://schemas.microsoft.com/office/drawing/2014/main" id="{60811444-2371-45D7-B4D3-64F856F9C63E}"/>
                </a:ext>
              </a:extLst>
            </p:cNvPr>
            <p:cNvSpPr>
              <a:spLocks noChangeShapeType="1"/>
            </p:cNvSpPr>
            <p:nvPr/>
          </p:nvSpPr>
          <p:spPr bwMode="auto">
            <a:xfrm>
              <a:off x="3424" y="2523"/>
              <a:ext cx="0" cy="18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34" name="Group 4">
            <a:extLst>
              <a:ext uri="{FF2B5EF4-FFF2-40B4-BE49-F238E27FC236}">
                <a16:creationId xmlns:a16="http://schemas.microsoft.com/office/drawing/2014/main" id="{75BF8DFD-A03C-41AC-9FB3-234E87ECBE46}"/>
              </a:ext>
            </a:extLst>
          </p:cNvPr>
          <p:cNvGrpSpPr>
            <a:grpSpLocks/>
          </p:cNvGrpSpPr>
          <p:nvPr/>
        </p:nvGrpSpPr>
        <p:grpSpPr bwMode="auto">
          <a:xfrm>
            <a:off x="8444422" y="4779853"/>
            <a:ext cx="1765300" cy="1439495"/>
            <a:chOff x="2736" y="960"/>
            <a:chExt cx="2408" cy="2626"/>
          </a:xfrm>
        </p:grpSpPr>
        <p:pic>
          <p:nvPicPr>
            <p:cNvPr id="35" name="Picture 5">
              <a:extLst>
                <a:ext uri="{FF2B5EF4-FFF2-40B4-BE49-F238E27FC236}">
                  <a16:creationId xmlns:a16="http://schemas.microsoft.com/office/drawing/2014/main" id="{E9F7068D-B550-42E0-8B91-CD348DD6ABE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 y="960"/>
              <a:ext cx="2408" cy="2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6">
              <a:extLst>
                <a:ext uri="{FF2B5EF4-FFF2-40B4-BE49-F238E27FC236}">
                  <a16:creationId xmlns:a16="http://schemas.microsoft.com/office/drawing/2014/main" id="{3022CB91-E47A-433D-908F-C3F47E35A330}"/>
                </a:ext>
              </a:extLst>
            </p:cNvPr>
            <p:cNvSpPr>
              <a:spLocks noChangeArrowheads="1"/>
            </p:cNvSpPr>
            <p:nvPr/>
          </p:nvSpPr>
          <p:spPr bwMode="auto">
            <a:xfrm>
              <a:off x="2794" y="989"/>
              <a:ext cx="2284" cy="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spcBef>
                  <a:spcPct val="20000"/>
                </a:spcBef>
                <a:buClr>
                  <a:schemeClr val="accent2"/>
                </a:buClr>
                <a:buSzPct val="75000"/>
                <a:buFont typeface="Monotype Sorts" pitchFamily="2" charset="2"/>
                <a:buChar char="l"/>
              </a:pPr>
              <a:endParaRPr lang="zh-CN" altLang="en-US" sz="2400">
                <a:latin typeface="Times New Roman" panose="02020603050405020304" pitchFamily="18" charset="0"/>
                <a:ea typeface="宋体" panose="02010600030101010101" pitchFamily="2" charset="-122"/>
              </a:endParaRPr>
            </a:p>
          </p:txBody>
        </p:sp>
      </p:grpSp>
      <p:sp>
        <p:nvSpPr>
          <p:cNvPr id="37" name="文本框 36">
            <a:extLst>
              <a:ext uri="{FF2B5EF4-FFF2-40B4-BE49-F238E27FC236}">
                <a16:creationId xmlns:a16="http://schemas.microsoft.com/office/drawing/2014/main" id="{BDD4C290-8983-62A2-CD12-6D0634C905B2}"/>
              </a:ext>
            </a:extLst>
          </p:cNvPr>
          <p:cNvSpPr txBox="1"/>
          <p:nvPr/>
        </p:nvSpPr>
        <p:spPr>
          <a:xfrm>
            <a:off x="1777453" y="4677943"/>
            <a:ext cx="1478948" cy="923330"/>
          </a:xfrm>
          <a:prstGeom prst="rect">
            <a:avLst/>
          </a:prstGeom>
          <a:noFill/>
        </p:spPr>
        <p:txBody>
          <a:bodyPr wrap="square">
            <a:spAutoFit/>
          </a:bodyPr>
          <a:lstStyle/>
          <a:p>
            <a:r>
              <a:rPr lang="zh-CN" altLang="en-US" b="1" dirty="0"/>
              <a:t>乔哈里视窗</a:t>
            </a:r>
            <a:endParaRPr lang="en-US" altLang="zh-CN" b="1" dirty="0"/>
          </a:p>
          <a:p>
            <a:r>
              <a:rPr lang="zh-CN" altLang="en-US" dirty="0"/>
              <a:t>通过交流扩大开放区</a:t>
            </a:r>
          </a:p>
        </p:txBody>
      </p:sp>
    </p:spTree>
    <p:extLst>
      <p:ext uri="{BB962C8B-B14F-4D97-AF65-F5344CB8AC3E}">
        <p14:creationId xmlns:p14="http://schemas.microsoft.com/office/powerpoint/2010/main" val="1369770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7"/>
                                        </p:tgtEl>
                                        <p:attrNameLst>
                                          <p:attrName>ppt_c</p:attrName>
                                        </p:attrNameLst>
                                      </p:cBhvr>
                                      <p:to>
                                        <a:srgbClr val="FF9900"/>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rgbClr val="FF99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9638698-3536-4A4B-A861-0C43944D8FC5}"/>
              </a:ext>
            </a:extLst>
          </p:cNvPr>
          <p:cNvSpPr>
            <a:spLocks noGrp="1"/>
          </p:cNvSpPr>
          <p:nvPr>
            <p:ph idx="1"/>
          </p:nvPr>
        </p:nvSpPr>
        <p:spPr>
          <a:xfrm>
            <a:off x="1981200" y="1412312"/>
            <a:ext cx="8229600" cy="4852010"/>
          </a:xfrm>
        </p:spPr>
        <p:txBody>
          <a:bodyPr/>
          <a:lstStyle/>
          <a:p>
            <a:r>
              <a:rPr lang="zh-CN" altLang="en-US" sz="2000" dirty="0"/>
              <a:t>项目沟通管理中信息的过滤：</a:t>
            </a:r>
          </a:p>
          <a:p>
            <a:pPr lvl="1"/>
            <a:r>
              <a:rPr lang="en-US" altLang="zh-CN" sz="1800" dirty="0"/>
              <a:t>A. </a:t>
            </a:r>
            <a:r>
              <a:rPr lang="zh-CN" altLang="en-US" sz="1800" dirty="0"/>
              <a:t>应当尽量限制</a:t>
            </a:r>
          </a:p>
          <a:p>
            <a:pPr lvl="1"/>
            <a:r>
              <a:rPr lang="en-US" altLang="zh-CN" sz="1800" dirty="0"/>
              <a:t>B. </a:t>
            </a:r>
            <a:r>
              <a:rPr lang="zh-CN" altLang="en-US" sz="1800" dirty="0"/>
              <a:t>是好的沟通所必须的</a:t>
            </a:r>
          </a:p>
          <a:p>
            <a:pPr lvl="1"/>
            <a:r>
              <a:rPr lang="en-US" altLang="zh-CN" sz="1800" dirty="0"/>
              <a:t>C. </a:t>
            </a:r>
            <a:r>
              <a:rPr lang="zh-CN" altLang="en-US" sz="1800" dirty="0"/>
              <a:t>只有当项目出现重大问题或危机时才应该发生</a:t>
            </a:r>
          </a:p>
          <a:p>
            <a:pPr lvl="1"/>
            <a:r>
              <a:rPr lang="en-US" altLang="zh-CN" sz="1800" dirty="0"/>
              <a:t>D. B</a:t>
            </a:r>
            <a:r>
              <a:rPr lang="zh-CN" altLang="en-US" sz="1800" dirty="0"/>
              <a:t>和</a:t>
            </a:r>
            <a:r>
              <a:rPr lang="en-US" altLang="zh-CN" sz="1800" dirty="0"/>
              <a:t>C</a:t>
            </a:r>
          </a:p>
          <a:p>
            <a:endParaRPr lang="zh-CN" altLang="en-US" sz="2000" dirty="0"/>
          </a:p>
        </p:txBody>
      </p:sp>
      <p:sp>
        <p:nvSpPr>
          <p:cNvPr id="4" name="Rectangle 2">
            <a:extLst>
              <a:ext uri="{FF2B5EF4-FFF2-40B4-BE49-F238E27FC236}">
                <a16:creationId xmlns:a16="http://schemas.microsoft.com/office/drawing/2014/main" id="{A61D7BC0-DD47-4B6C-892A-AE5921F674BA}"/>
              </a:ext>
            </a:extLst>
          </p:cNvPr>
          <p:cNvSpPr txBox="1">
            <a:spLocks noChangeArrowheads="1"/>
          </p:cNvSpPr>
          <p:nvPr/>
        </p:nvSpPr>
        <p:spPr>
          <a:xfrm>
            <a:off x="1848093" y="951604"/>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
        <p:nvSpPr>
          <p:cNvPr id="5" name="标题 2">
            <a:extLst>
              <a:ext uri="{FF2B5EF4-FFF2-40B4-BE49-F238E27FC236}">
                <a16:creationId xmlns:a16="http://schemas.microsoft.com/office/drawing/2014/main" id="{A4501617-8A52-4922-92D2-63D07F6CB41A}"/>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947349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1FAB73-9424-4C87-A5FF-A7C80B8CA6F7}"/>
              </a:ext>
            </a:extLst>
          </p:cNvPr>
          <p:cNvSpPr>
            <a:spLocks noGrp="1"/>
          </p:cNvSpPr>
          <p:nvPr>
            <p:ph idx="1"/>
          </p:nvPr>
        </p:nvSpPr>
        <p:spPr>
          <a:xfrm>
            <a:off x="1981200" y="1637732"/>
            <a:ext cx="8229600" cy="4626591"/>
          </a:xfrm>
        </p:spPr>
        <p:txBody>
          <a:bodyPr/>
          <a:lstStyle/>
          <a:p>
            <a:endParaRPr lang="zh-CN" altLang="en-US" dirty="0"/>
          </a:p>
        </p:txBody>
      </p:sp>
      <p:sp>
        <p:nvSpPr>
          <p:cNvPr id="435203" name="Rectangle 2">
            <a:extLst>
              <a:ext uri="{FF2B5EF4-FFF2-40B4-BE49-F238E27FC236}">
                <a16:creationId xmlns:a16="http://schemas.microsoft.com/office/drawing/2014/main" id="{E36E27F1-1AB2-493D-9A8A-6C925FF6ABB3}"/>
              </a:ext>
            </a:extLst>
          </p:cNvPr>
          <p:cNvSpPr>
            <a:spLocks noGrp="1" noChangeArrowheads="1"/>
          </p:cNvSpPr>
          <p:nvPr>
            <p:ph type="title"/>
          </p:nvPr>
        </p:nvSpPr>
        <p:spPr>
          <a:xfrm>
            <a:off x="1966597" y="1169004"/>
            <a:ext cx="3538617" cy="357925"/>
          </a:xfrm>
        </p:spPr>
        <p:txBody>
          <a:bodyPr/>
          <a:lstStyle/>
          <a:p>
            <a:pPr eaLnBrk="1" hangingPunct="1"/>
            <a:r>
              <a:rPr lang="zh-CN" altLang="en-US" dirty="0"/>
              <a:t>有效倾听的</a:t>
            </a:r>
            <a:r>
              <a:rPr lang="en-US" altLang="zh-CN" dirty="0"/>
              <a:t>9</a:t>
            </a:r>
            <a:r>
              <a:rPr lang="zh-CN" altLang="en-US" dirty="0"/>
              <a:t>个原则</a:t>
            </a:r>
          </a:p>
        </p:txBody>
      </p:sp>
      <p:sp>
        <p:nvSpPr>
          <p:cNvPr id="435204" name="AutoShape 3">
            <a:extLst>
              <a:ext uri="{FF2B5EF4-FFF2-40B4-BE49-F238E27FC236}">
                <a16:creationId xmlns:a16="http://schemas.microsoft.com/office/drawing/2014/main" id="{610B53D8-CB48-4BF3-8481-FBEF32038FAC}"/>
              </a:ext>
            </a:extLst>
          </p:cNvPr>
          <p:cNvSpPr>
            <a:spLocks noChangeArrowheads="1"/>
          </p:cNvSpPr>
          <p:nvPr/>
        </p:nvSpPr>
        <p:spPr bwMode="auto">
          <a:xfrm>
            <a:off x="26289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不要打断</a:t>
            </a:r>
          </a:p>
          <a:p>
            <a:pPr algn="ctr" eaLnBrk="1" hangingPunct="1">
              <a:lnSpc>
                <a:spcPct val="100000"/>
              </a:lnSpc>
              <a:spcBef>
                <a:spcPct val="0"/>
              </a:spcBef>
              <a:buFontTx/>
              <a:buNone/>
            </a:pPr>
            <a:r>
              <a:rPr lang="zh-CN" altLang="en-US">
                <a:solidFill>
                  <a:schemeClr val="bg1"/>
                </a:solidFill>
              </a:rPr>
              <a:t>讲话人</a:t>
            </a:r>
          </a:p>
        </p:txBody>
      </p:sp>
      <p:sp>
        <p:nvSpPr>
          <p:cNvPr id="435205" name="AutoShape 4">
            <a:extLst>
              <a:ext uri="{FF2B5EF4-FFF2-40B4-BE49-F238E27FC236}">
                <a16:creationId xmlns:a16="http://schemas.microsoft.com/office/drawing/2014/main" id="{049D99FB-4B10-4322-9AB1-21CC4B9EFBC7}"/>
              </a:ext>
            </a:extLst>
          </p:cNvPr>
          <p:cNvSpPr>
            <a:spLocks noChangeArrowheads="1"/>
          </p:cNvSpPr>
          <p:nvPr/>
        </p:nvSpPr>
        <p:spPr bwMode="auto">
          <a:xfrm>
            <a:off x="49911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设身处地从</a:t>
            </a:r>
          </a:p>
          <a:p>
            <a:pPr algn="ctr" eaLnBrk="1" hangingPunct="1">
              <a:lnSpc>
                <a:spcPct val="100000"/>
              </a:lnSpc>
              <a:spcBef>
                <a:spcPct val="0"/>
              </a:spcBef>
              <a:buFontTx/>
              <a:buNone/>
            </a:pPr>
            <a:r>
              <a:rPr lang="zh-CN" altLang="en-US">
                <a:solidFill>
                  <a:schemeClr val="bg1"/>
                </a:solidFill>
              </a:rPr>
              <a:t>对方角度着想</a:t>
            </a:r>
          </a:p>
        </p:txBody>
      </p:sp>
      <p:sp>
        <p:nvSpPr>
          <p:cNvPr id="435206" name="AutoShape 5">
            <a:extLst>
              <a:ext uri="{FF2B5EF4-FFF2-40B4-BE49-F238E27FC236}">
                <a16:creationId xmlns:a16="http://schemas.microsoft.com/office/drawing/2014/main" id="{D534346D-77E0-46D6-9524-92C86ED77BD9}"/>
              </a:ext>
            </a:extLst>
          </p:cNvPr>
          <p:cNvSpPr>
            <a:spLocks noChangeArrowheads="1"/>
          </p:cNvSpPr>
          <p:nvPr/>
        </p:nvSpPr>
        <p:spPr bwMode="auto">
          <a:xfrm>
            <a:off x="7277100" y="19233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要努力做到</a:t>
            </a:r>
          </a:p>
          <a:p>
            <a:pPr algn="ctr" eaLnBrk="1" hangingPunct="1">
              <a:lnSpc>
                <a:spcPct val="100000"/>
              </a:lnSpc>
              <a:spcBef>
                <a:spcPct val="0"/>
              </a:spcBef>
              <a:buFontTx/>
              <a:buNone/>
            </a:pPr>
            <a:r>
              <a:rPr lang="zh-CN" altLang="en-US">
                <a:solidFill>
                  <a:schemeClr val="bg1"/>
                </a:solidFill>
              </a:rPr>
              <a:t>不发火</a:t>
            </a:r>
          </a:p>
        </p:txBody>
      </p:sp>
      <p:sp>
        <p:nvSpPr>
          <p:cNvPr id="435207" name="AutoShape 6">
            <a:extLst>
              <a:ext uri="{FF2B5EF4-FFF2-40B4-BE49-F238E27FC236}">
                <a16:creationId xmlns:a16="http://schemas.microsoft.com/office/drawing/2014/main" id="{A4E615CE-C366-426B-BF35-B06E7F4E8B9A}"/>
              </a:ext>
            </a:extLst>
          </p:cNvPr>
          <p:cNvSpPr>
            <a:spLocks noChangeArrowheads="1"/>
          </p:cNvSpPr>
          <p:nvPr/>
        </p:nvSpPr>
        <p:spPr bwMode="auto">
          <a:xfrm>
            <a:off x="26289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针对听到的内容</a:t>
            </a:r>
          </a:p>
          <a:p>
            <a:pPr algn="ctr" eaLnBrk="1" hangingPunct="1">
              <a:lnSpc>
                <a:spcPct val="100000"/>
              </a:lnSpc>
              <a:spcBef>
                <a:spcPct val="0"/>
              </a:spcBef>
              <a:buFontTx/>
              <a:buNone/>
            </a:pPr>
            <a:r>
              <a:rPr lang="zh-CN" altLang="en-US">
                <a:solidFill>
                  <a:schemeClr val="bg1"/>
                </a:solidFill>
              </a:rPr>
              <a:t>而不是讲话者本人</a:t>
            </a:r>
          </a:p>
        </p:txBody>
      </p:sp>
      <p:sp>
        <p:nvSpPr>
          <p:cNvPr id="435208" name="AutoShape 7">
            <a:extLst>
              <a:ext uri="{FF2B5EF4-FFF2-40B4-BE49-F238E27FC236}">
                <a16:creationId xmlns:a16="http://schemas.microsoft.com/office/drawing/2014/main" id="{5E56EEC6-0EED-49DF-AD72-C58693C75CE8}"/>
              </a:ext>
            </a:extLst>
          </p:cNvPr>
          <p:cNvSpPr>
            <a:spLocks noChangeArrowheads="1"/>
          </p:cNvSpPr>
          <p:nvPr/>
        </p:nvSpPr>
        <p:spPr bwMode="auto">
          <a:xfrm>
            <a:off x="49911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使用鼓励性言辞</a:t>
            </a:r>
          </a:p>
          <a:p>
            <a:pPr algn="ctr" eaLnBrk="1" hangingPunct="1">
              <a:lnSpc>
                <a:spcPct val="100000"/>
              </a:lnSpc>
              <a:spcBef>
                <a:spcPct val="0"/>
              </a:spcBef>
              <a:buFontTx/>
              <a:buNone/>
            </a:pPr>
            <a:r>
              <a:rPr lang="zh-CN" altLang="en-US">
                <a:solidFill>
                  <a:schemeClr val="bg1"/>
                </a:solidFill>
              </a:rPr>
              <a:t>眼神交流</a:t>
            </a:r>
          </a:p>
          <a:p>
            <a:pPr algn="ctr" eaLnBrk="1" hangingPunct="1">
              <a:lnSpc>
                <a:spcPct val="100000"/>
              </a:lnSpc>
              <a:spcBef>
                <a:spcPct val="0"/>
              </a:spcBef>
              <a:buFontTx/>
              <a:buNone/>
            </a:pPr>
            <a:r>
              <a:rPr lang="zh-CN" altLang="en-US">
                <a:solidFill>
                  <a:schemeClr val="bg1"/>
                </a:solidFill>
              </a:rPr>
              <a:t>赞许地点头</a:t>
            </a:r>
          </a:p>
        </p:txBody>
      </p:sp>
      <p:sp>
        <p:nvSpPr>
          <p:cNvPr id="435209" name="AutoShape 8">
            <a:extLst>
              <a:ext uri="{FF2B5EF4-FFF2-40B4-BE49-F238E27FC236}">
                <a16:creationId xmlns:a16="http://schemas.microsoft.com/office/drawing/2014/main" id="{824A7150-4479-486A-8EB2-97B6661BDB41}"/>
              </a:ext>
            </a:extLst>
          </p:cNvPr>
          <p:cNvSpPr>
            <a:spLocks noChangeArrowheads="1"/>
          </p:cNvSpPr>
          <p:nvPr/>
        </p:nvSpPr>
        <p:spPr bwMode="auto">
          <a:xfrm>
            <a:off x="7277100" y="33711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避免使用</a:t>
            </a:r>
          </a:p>
          <a:p>
            <a:pPr algn="ctr" eaLnBrk="1" hangingPunct="1">
              <a:lnSpc>
                <a:spcPct val="100000"/>
              </a:lnSpc>
              <a:spcBef>
                <a:spcPct val="0"/>
              </a:spcBef>
              <a:buFontTx/>
              <a:buNone/>
            </a:pPr>
            <a:r>
              <a:rPr lang="zh-CN" altLang="en-US">
                <a:solidFill>
                  <a:schemeClr val="bg1"/>
                </a:solidFill>
              </a:rPr>
              <a:t>情绪性言辞</a:t>
            </a:r>
          </a:p>
          <a:p>
            <a:pPr algn="ctr" eaLnBrk="1" hangingPunct="1">
              <a:lnSpc>
                <a:spcPct val="100000"/>
              </a:lnSpc>
              <a:spcBef>
                <a:spcPct val="0"/>
              </a:spcBef>
              <a:buFontTx/>
              <a:buNone/>
            </a:pPr>
            <a:r>
              <a:rPr lang="zh-CN" altLang="en-US">
                <a:solidFill>
                  <a:schemeClr val="bg1"/>
                </a:solidFill>
              </a:rPr>
              <a:t>“您应该、绝对”</a:t>
            </a:r>
          </a:p>
        </p:txBody>
      </p:sp>
      <p:sp>
        <p:nvSpPr>
          <p:cNvPr id="435210" name="AutoShape 9">
            <a:extLst>
              <a:ext uri="{FF2B5EF4-FFF2-40B4-BE49-F238E27FC236}">
                <a16:creationId xmlns:a16="http://schemas.microsoft.com/office/drawing/2014/main" id="{7D8F8919-E90E-4356-88DE-C2BF7BC04E8C}"/>
              </a:ext>
            </a:extLst>
          </p:cNvPr>
          <p:cNvSpPr>
            <a:spLocks noChangeArrowheads="1"/>
          </p:cNvSpPr>
          <p:nvPr/>
        </p:nvSpPr>
        <p:spPr bwMode="auto">
          <a:xfrm>
            <a:off x="26289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不急于下结论</a:t>
            </a:r>
          </a:p>
          <a:p>
            <a:pPr algn="ctr" eaLnBrk="1" hangingPunct="1">
              <a:lnSpc>
                <a:spcPct val="100000"/>
              </a:lnSpc>
              <a:spcBef>
                <a:spcPct val="0"/>
              </a:spcBef>
              <a:buFontTx/>
              <a:buNone/>
            </a:pPr>
            <a:r>
              <a:rPr lang="zh-CN" altLang="en-US">
                <a:solidFill>
                  <a:schemeClr val="bg1"/>
                </a:solidFill>
              </a:rPr>
              <a:t>不先入为主</a:t>
            </a:r>
          </a:p>
        </p:txBody>
      </p:sp>
      <p:sp>
        <p:nvSpPr>
          <p:cNvPr id="435211" name="AutoShape 10">
            <a:extLst>
              <a:ext uri="{FF2B5EF4-FFF2-40B4-BE49-F238E27FC236}">
                <a16:creationId xmlns:a16="http://schemas.microsoft.com/office/drawing/2014/main" id="{1A977538-1A2C-4CB0-A6E0-EEEFE39800EA}"/>
              </a:ext>
            </a:extLst>
          </p:cNvPr>
          <p:cNvSpPr>
            <a:spLocks noChangeArrowheads="1"/>
          </p:cNvSpPr>
          <p:nvPr/>
        </p:nvSpPr>
        <p:spPr bwMode="auto">
          <a:xfrm>
            <a:off x="49911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引导、提问</a:t>
            </a:r>
          </a:p>
        </p:txBody>
      </p:sp>
      <p:sp>
        <p:nvSpPr>
          <p:cNvPr id="435212" name="AutoShape 11">
            <a:extLst>
              <a:ext uri="{FF2B5EF4-FFF2-40B4-BE49-F238E27FC236}">
                <a16:creationId xmlns:a16="http://schemas.microsoft.com/office/drawing/2014/main" id="{A33180DD-9F25-47A8-BDBB-364B9A356FB2}"/>
              </a:ext>
            </a:extLst>
          </p:cNvPr>
          <p:cNvSpPr>
            <a:spLocks noChangeArrowheads="1"/>
          </p:cNvSpPr>
          <p:nvPr/>
        </p:nvSpPr>
        <p:spPr bwMode="auto">
          <a:xfrm>
            <a:off x="7277100" y="4818926"/>
            <a:ext cx="2214013" cy="1295400"/>
          </a:xfrm>
          <a:prstGeom prst="roundRect">
            <a:avLst>
              <a:gd name="adj" fmla="val 16667"/>
            </a:avLst>
          </a:prstGeom>
          <a:solidFill>
            <a:srgbClr val="0000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a:solidFill>
                  <a:schemeClr val="bg1"/>
                </a:solidFill>
              </a:rPr>
              <a:t>复述确认</a:t>
            </a:r>
          </a:p>
        </p:txBody>
      </p:sp>
      <p:sp>
        <p:nvSpPr>
          <p:cNvPr id="13" name="标题 2">
            <a:extLst>
              <a:ext uri="{FF2B5EF4-FFF2-40B4-BE49-F238E27FC236}">
                <a16:creationId xmlns:a16="http://schemas.microsoft.com/office/drawing/2014/main" id="{7A48F965-96A3-4C42-9FCE-33896BD4FBF1}"/>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16.1 </a:t>
            </a:r>
            <a:r>
              <a:rPr lang="zh-CN" altLang="en-US" dirty="0"/>
              <a:t>沟通与沟通管理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9FB4AB9-81A5-438C-8BB5-FDD4B35BB768}"/>
              </a:ext>
            </a:extLst>
          </p:cNvPr>
          <p:cNvSpPr>
            <a:spLocks noGrp="1"/>
          </p:cNvSpPr>
          <p:nvPr>
            <p:ph idx="1"/>
          </p:nvPr>
        </p:nvSpPr>
        <p:spPr>
          <a:xfrm>
            <a:off x="1479884" y="1655180"/>
            <a:ext cx="8730916" cy="4609142"/>
          </a:xfrm>
        </p:spPr>
        <p:txBody>
          <a:bodyPr/>
          <a:lstStyle/>
          <a:p>
            <a:r>
              <a:rPr lang="zh-CN" altLang="en-US" dirty="0"/>
              <a:t>作为沟通过程的一部分，信息接受者的责任是：</a:t>
            </a:r>
          </a:p>
          <a:p>
            <a:pPr lvl="1"/>
            <a:r>
              <a:rPr lang="en-US" altLang="zh-CN" dirty="0"/>
              <a:t>A.</a:t>
            </a:r>
            <a:r>
              <a:rPr lang="zh-CN" altLang="en-US" dirty="0"/>
              <a:t>同意发送者的消息</a:t>
            </a:r>
          </a:p>
          <a:p>
            <a:pPr lvl="1"/>
            <a:r>
              <a:rPr lang="en-US" altLang="zh-CN" dirty="0"/>
              <a:t>B.</a:t>
            </a:r>
            <a:r>
              <a:rPr lang="zh-CN" altLang="en-US" dirty="0"/>
              <a:t>自称接受的信息只有部分，去鼓励未来的讨论</a:t>
            </a:r>
          </a:p>
          <a:p>
            <a:pPr lvl="1"/>
            <a:r>
              <a:rPr lang="en-US" altLang="zh-CN" dirty="0"/>
              <a:t>C.</a:t>
            </a:r>
            <a:r>
              <a:rPr lang="zh-CN" altLang="en-US" dirty="0"/>
              <a:t>确定信息接受的是完整的并正确的理解</a:t>
            </a:r>
          </a:p>
          <a:p>
            <a:pPr lvl="1"/>
            <a:r>
              <a:rPr lang="en-US" altLang="zh-CN" dirty="0"/>
              <a:t>D.</a:t>
            </a:r>
            <a:r>
              <a:rPr lang="zh-CN" altLang="en-US" dirty="0"/>
              <a:t>指出消息没有被理解，除非其可以减少写作</a:t>
            </a:r>
          </a:p>
          <a:p>
            <a:endParaRPr lang="zh-CN" altLang="en-US" dirty="0"/>
          </a:p>
        </p:txBody>
      </p:sp>
      <p:sp>
        <p:nvSpPr>
          <p:cNvPr id="4" name="Rectangle 2">
            <a:extLst>
              <a:ext uri="{FF2B5EF4-FFF2-40B4-BE49-F238E27FC236}">
                <a16:creationId xmlns:a16="http://schemas.microsoft.com/office/drawing/2014/main" id="{F5FD830C-4334-4E78-AC1A-0C8DB46FE789}"/>
              </a:ext>
            </a:extLst>
          </p:cNvPr>
          <p:cNvSpPr txBox="1">
            <a:spLocks noChangeArrowheads="1"/>
          </p:cNvSpPr>
          <p:nvPr/>
        </p:nvSpPr>
        <p:spPr>
          <a:xfrm>
            <a:off x="2183758" y="1261642"/>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
        <p:nvSpPr>
          <p:cNvPr id="5" name="标题 2">
            <a:extLst>
              <a:ext uri="{FF2B5EF4-FFF2-40B4-BE49-F238E27FC236}">
                <a16:creationId xmlns:a16="http://schemas.microsoft.com/office/drawing/2014/main" id="{0246BF72-2E27-49E8-A3E4-E1F7DA7F8BF3}"/>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20210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9715" name="Object 3">
            <a:extLst>
              <a:ext uri="{FF2B5EF4-FFF2-40B4-BE49-F238E27FC236}">
                <a16:creationId xmlns:a16="http://schemas.microsoft.com/office/drawing/2014/main" id="{0768241E-E55A-470B-A526-C1FB3E73FEA6}"/>
              </a:ext>
            </a:extLst>
          </p:cNvPr>
          <p:cNvGraphicFramePr>
            <a:graphicFrameLocks noChangeAspect="1"/>
          </p:cNvGraphicFramePr>
          <p:nvPr>
            <p:extLst>
              <p:ext uri="{D42A27DB-BD31-4B8C-83A1-F6EECF244321}">
                <p14:modId xmlns:p14="http://schemas.microsoft.com/office/powerpoint/2010/main" val="4099170793"/>
              </p:ext>
            </p:extLst>
          </p:nvPr>
        </p:nvGraphicFramePr>
        <p:xfrm>
          <a:off x="8382462" y="1548114"/>
          <a:ext cx="1123950" cy="1147763"/>
        </p:xfrm>
        <a:graphic>
          <a:graphicData uri="http://schemas.openxmlformats.org/presentationml/2006/ole">
            <mc:AlternateContent xmlns:mc="http://schemas.openxmlformats.org/markup-compatibility/2006">
              <mc:Choice xmlns:v="urn:schemas-microsoft-com:vml" Requires="v">
                <p:oleObj name="Clip" r:id="rId3" imgW="811080" imgH="781920" progId="MS_ClipArt_Gallery.2">
                  <p:embed/>
                </p:oleObj>
              </mc:Choice>
              <mc:Fallback>
                <p:oleObj name="Clip" r:id="rId3" imgW="811080" imgH="781920" progId="MS_ClipArt_Gallery.2">
                  <p:embed/>
                  <p:pic>
                    <p:nvPicPr>
                      <p:cNvPr id="499715" name="Object 3">
                        <a:extLst>
                          <a:ext uri="{FF2B5EF4-FFF2-40B4-BE49-F238E27FC236}">
                            <a16:creationId xmlns:a16="http://schemas.microsoft.com/office/drawing/2014/main" id="{0768241E-E55A-470B-A526-C1FB3E73F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462" y="1548114"/>
                        <a:ext cx="1123950" cy="114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9716" name="Group 4">
            <a:extLst>
              <a:ext uri="{FF2B5EF4-FFF2-40B4-BE49-F238E27FC236}">
                <a16:creationId xmlns:a16="http://schemas.microsoft.com/office/drawing/2014/main" id="{73B85E6F-A351-486C-9EEE-D17493BDE675}"/>
              </a:ext>
            </a:extLst>
          </p:cNvPr>
          <p:cNvGrpSpPr>
            <a:grpSpLocks/>
          </p:cNvGrpSpPr>
          <p:nvPr/>
        </p:nvGrpSpPr>
        <p:grpSpPr bwMode="auto">
          <a:xfrm>
            <a:off x="3809539" y="1720357"/>
            <a:ext cx="7497763" cy="3938588"/>
            <a:chOff x="742" y="768"/>
            <a:chExt cx="4346" cy="2880"/>
          </a:xfrm>
        </p:grpSpPr>
        <p:graphicFrame>
          <p:nvGraphicFramePr>
            <p:cNvPr id="499717" name="Object 5">
              <a:extLst>
                <a:ext uri="{FF2B5EF4-FFF2-40B4-BE49-F238E27FC236}">
                  <a16:creationId xmlns:a16="http://schemas.microsoft.com/office/drawing/2014/main" id="{C123722D-BDC1-48AD-B1CA-26F26C78B7E6}"/>
                </a:ext>
              </a:extLst>
            </p:cNvPr>
            <p:cNvGraphicFramePr>
              <a:graphicFrameLocks noChangeAspect="1"/>
            </p:cNvGraphicFramePr>
            <p:nvPr/>
          </p:nvGraphicFramePr>
          <p:xfrm>
            <a:off x="2992" y="1728"/>
            <a:ext cx="436" cy="656"/>
          </p:xfrm>
          <a:graphic>
            <a:graphicData uri="http://schemas.openxmlformats.org/presentationml/2006/ole">
              <mc:AlternateContent xmlns:mc="http://schemas.openxmlformats.org/markup-compatibility/2006">
                <mc:Choice xmlns:v="urn:schemas-microsoft-com:vml" Requires="v">
                  <p:oleObj name="Clip" r:id="rId5" imgW="583200" imgH="879480" progId="MS_ClipArt_Gallery.2">
                    <p:embed/>
                  </p:oleObj>
                </mc:Choice>
                <mc:Fallback>
                  <p:oleObj name="Clip" r:id="rId5" imgW="583200" imgH="879480" progId="MS_ClipArt_Gallery.2">
                    <p:embed/>
                    <p:pic>
                      <p:nvPicPr>
                        <p:cNvPr id="499717" name="Object 5">
                          <a:extLst>
                            <a:ext uri="{FF2B5EF4-FFF2-40B4-BE49-F238E27FC236}">
                              <a16:creationId xmlns:a16="http://schemas.microsoft.com/office/drawing/2014/main" id="{C123722D-BDC1-48AD-B1CA-26F26C78B7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2" y="1728"/>
                          <a:ext cx="436" cy="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18" name="Object 6">
              <a:extLst>
                <a:ext uri="{FF2B5EF4-FFF2-40B4-BE49-F238E27FC236}">
                  <a16:creationId xmlns:a16="http://schemas.microsoft.com/office/drawing/2014/main" id="{F665E667-F3D2-4016-8CE5-B3DE2CB3E7BA}"/>
                </a:ext>
              </a:extLst>
            </p:cNvPr>
            <p:cNvGraphicFramePr>
              <a:graphicFrameLocks noChangeAspect="1"/>
            </p:cNvGraphicFramePr>
            <p:nvPr/>
          </p:nvGraphicFramePr>
          <p:xfrm>
            <a:off x="2439" y="1257"/>
            <a:ext cx="1363" cy="423"/>
          </p:xfrm>
          <a:graphic>
            <a:graphicData uri="http://schemas.openxmlformats.org/presentationml/2006/ole">
              <mc:AlternateContent xmlns:mc="http://schemas.openxmlformats.org/markup-compatibility/2006">
                <mc:Choice xmlns:v="urn:schemas-microsoft-com:vml" Requires="v">
                  <p:oleObj name="Clip" r:id="rId7" imgW="3299760" imgH="3376440" progId="MS_ClipArt_Gallery.2">
                    <p:embed/>
                  </p:oleObj>
                </mc:Choice>
                <mc:Fallback>
                  <p:oleObj name="Clip" r:id="rId7" imgW="3299760" imgH="3376440" progId="MS_ClipArt_Gallery.2">
                    <p:embed/>
                    <p:pic>
                      <p:nvPicPr>
                        <p:cNvPr id="499718" name="Object 6">
                          <a:extLst>
                            <a:ext uri="{FF2B5EF4-FFF2-40B4-BE49-F238E27FC236}">
                              <a16:creationId xmlns:a16="http://schemas.microsoft.com/office/drawing/2014/main" id="{F665E667-F3D2-4016-8CE5-B3DE2CB3E7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9" y="1257"/>
                          <a:ext cx="1363" cy="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19" name="Object 7">
              <a:extLst>
                <a:ext uri="{FF2B5EF4-FFF2-40B4-BE49-F238E27FC236}">
                  <a16:creationId xmlns:a16="http://schemas.microsoft.com/office/drawing/2014/main" id="{713AE5B4-D3B5-4043-8141-00391224C07C}"/>
                </a:ext>
              </a:extLst>
            </p:cNvPr>
            <p:cNvGraphicFramePr>
              <a:graphicFrameLocks noChangeAspect="1"/>
            </p:cNvGraphicFramePr>
            <p:nvPr/>
          </p:nvGraphicFramePr>
          <p:xfrm>
            <a:off x="1968" y="795"/>
            <a:ext cx="582" cy="488"/>
          </p:xfrm>
          <a:graphic>
            <a:graphicData uri="http://schemas.openxmlformats.org/presentationml/2006/ole">
              <mc:AlternateContent xmlns:mc="http://schemas.openxmlformats.org/markup-compatibility/2006">
                <mc:Choice xmlns:v="urn:schemas-microsoft-com:vml" Requires="v">
                  <p:oleObj name="Clip" r:id="rId9" imgW="960120" imgH="968040" progId="MS_ClipArt_Gallery.2">
                    <p:embed/>
                  </p:oleObj>
                </mc:Choice>
                <mc:Fallback>
                  <p:oleObj name="Clip" r:id="rId9" imgW="960120" imgH="968040" progId="MS_ClipArt_Gallery.2">
                    <p:embed/>
                    <p:pic>
                      <p:nvPicPr>
                        <p:cNvPr id="499719" name="Object 7">
                          <a:extLst>
                            <a:ext uri="{FF2B5EF4-FFF2-40B4-BE49-F238E27FC236}">
                              <a16:creationId xmlns:a16="http://schemas.microsoft.com/office/drawing/2014/main" id="{713AE5B4-D3B5-4043-8141-00391224C0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8"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0" name="Object 8">
              <a:extLst>
                <a:ext uri="{FF2B5EF4-FFF2-40B4-BE49-F238E27FC236}">
                  <a16:creationId xmlns:a16="http://schemas.microsoft.com/office/drawing/2014/main" id="{60FFDBD3-46EB-49B5-A405-F482836983C4}"/>
                </a:ext>
              </a:extLst>
            </p:cNvPr>
            <p:cNvGraphicFramePr>
              <a:graphicFrameLocks noChangeAspect="1"/>
            </p:cNvGraphicFramePr>
            <p:nvPr/>
          </p:nvGraphicFramePr>
          <p:xfrm>
            <a:off x="2784" y="795"/>
            <a:ext cx="582" cy="488"/>
          </p:xfrm>
          <a:graphic>
            <a:graphicData uri="http://schemas.openxmlformats.org/presentationml/2006/ole">
              <mc:AlternateContent xmlns:mc="http://schemas.openxmlformats.org/markup-compatibility/2006">
                <mc:Choice xmlns:v="urn:schemas-microsoft-com:vml" Requires="v">
                  <p:oleObj name="Clip" r:id="rId9" imgW="960120" imgH="968040" progId="MS_ClipArt_Gallery.2">
                    <p:embed/>
                  </p:oleObj>
                </mc:Choice>
                <mc:Fallback>
                  <p:oleObj name="Clip" r:id="rId9" imgW="960120" imgH="968040" progId="MS_ClipArt_Gallery.2">
                    <p:embed/>
                    <p:pic>
                      <p:nvPicPr>
                        <p:cNvPr id="499720" name="Object 8">
                          <a:extLst>
                            <a:ext uri="{FF2B5EF4-FFF2-40B4-BE49-F238E27FC236}">
                              <a16:creationId xmlns:a16="http://schemas.microsoft.com/office/drawing/2014/main" id="{60FFDBD3-46EB-49B5-A405-F482836983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4"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1" name="Object 9">
              <a:extLst>
                <a:ext uri="{FF2B5EF4-FFF2-40B4-BE49-F238E27FC236}">
                  <a16:creationId xmlns:a16="http://schemas.microsoft.com/office/drawing/2014/main" id="{173BAE0C-FDAB-494A-B4AC-930292673518}"/>
                </a:ext>
              </a:extLst>
            </p:cNvPr>
            <p:cNvGraphicFramePr>
              <a:graphicFrameLocks noChangeAspect="1"/>
            </p:cNvGraphicFramePr>
            <p:nvPr/>
          </p:nvGraphicFramePr>
          <p:xfrm>
            <a:off x="3642" y="795"/>
            <a:ext cx="582" cy="488"/>
          </p:xfrm>
          <a:graphic>
            <a:graphicData uri="http://schemas.openxmlformats.org/presentationml/2006/ole">
              <mc:AlternateContent xmlns:mc="http://schemas.openxmlformats.org/markup-compatibility/2006">
                <mc:Choice xmlns:v="urn:schemas-microsoft-com:vml" Requires="v">
                  <p:oleObj name="Clip" r:id="rId11" imgW="960120" imgH="968040" progId="MS_ClipArt_Gallery.2">
                    <p:embed/>
                  </p:oleObj>
                </mc:Choice>
                <mc:Fallback>
                  <p:oleObj name="Clip" r:id="rId11" imgW="960120" imgH="968040" progId="MS_ClipArt_Gallery.2">
                    <p:embed/>
                    <p:pic>
                      <p:nvPicPr>
                        <p:cNvPr id="499721" name="Object 9">
                          <a:extLst>
                            <a:ext uri="{FF2B5EF4-FFF2-40B4-BE49-F238E27FC236}">
                              <a16:creationId xmlns:a16="http://schemas.microsoft.com/office/drawing/2014/main" id="{173BAE0C-FDAB-494A-B4AC-9302926735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2" y="795"/>
                          <a:ext cx="582"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22" name="Rectangle 10">
              <a:extLst>
                <a:ext uri="{FF2B5EF4-FFF2-40B4-BE49-F238E27FC236}">
                  <a16:creationId xmlns:a16="http://schemas.microsoft.com/office/drawing/2014/main" id="{17D02EBA-FD1E-4209-A302-E39D28D0D876}"/>
                </a:ext>
              </a:extLst>
            </p:cNvPr>
            <p:cNvSpPr>
              <a:spLocks noChangeArrowheads="1"/>
            </p:cNvSpPr>
            <p:nvPr/>
          </p:nvSpPr>
          <p:spPr bwMode="auto">
            <a:xfrm>
              <a:off x="2902" y="1488"/>
              <a:ext cx="482"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buSzTx/>
                <a:buFontTx/>
                <a:buNone/>
              </a:pPr>
              <a:r>
                <a:rPr lang="zh-CN" altLang="en-US" sz="1600">
                  <a:solidFill>
                    <a:srgbClr val="0000FF"/>
                  </a:solidFill>
                  <a:latin typeface="Times New Roman" panose="02020603050405020304" pitchFamily="18" charset="0"/>
                </a:rPr>
                <a:t>上级</a:t>
              </a:r>
              <a:endParaRPr lang="zh-CN" altLang="en-US" sz="1600">
                <a:latin typeface="Times New Roman" panose="02020603050405020304" pitchFamily="18" charset="0"/>
              </a:endParaRPr>
            </a:p>
          </p:txBody>
        </p:sp>
        <p:graphicFrame>
          <p:nvGraphicFramePr>
            <p:cNvPr id="499723" name="Object 11">
              <a:extLst>
                <a:ext uri="{FF2B5EF4-FFF2-40B4-BE49-F238E27FC236}">
                  <a16:creationId xmlns:a16="http://schemas.microsoft.com/office/drawing/2014/main" id="{CB3F7268-8508-4375-BB35-2904E4566261}"/>
                </a:ext>
              </a:extLst>
            </p:cNvPr>
            <p:cNvGraphicFramePr>
              <a:graphicFrameLocks noChangeAspect="1"/>
            </p:cNvGraphicFramePr>
            <p:nvPr/>
          </p:nvGraphicFramePr>
          <p:xfrm>
            <a:off x="4358" y="2160"/>
            <a:ext cx="730" cy="784"/>
          </p:xfrm>
          <a:graphic>
            <a:graphicData uri="http://schemas.openxmlformats.org/presentationml/2006/ole">
              <mc:AlternateContent xmlns:mc="http://schemas.openxmlformats.org/markup-compatibility/2006">
                <mc:Choice xmlns:v="urn:schemas-microsoft-com:vml" Requires="v">
                  <p:oleObj name="Clip" r:id="rId12" imgW="1288080" imgH="1304280" progId="MS_ClipArt_Gallery.2">
                    <p:embed/>
                  </p:oleObj>
                </mc:Choice>
                <mc:Fallback>
                  <p:oleObj name="Clip" r:id="rId12" imgW="1288080" imgH="1304280" progId="MS_ClipArt_Gallery.2">
                    <p:embed/>
                    <p:pic>
                      <p:nvPicPr>
                        <p:cNvPr id="499723" name="Object 11">
                          <a:extLst>
                            <a:ext uri="{FF2B5EF4-FFF2-40B4-BE49-F238E27FC236}">
                              <a16:creationId xmlns:a16="http://schemas.microsoft.com/office/drawing/2014/main" id="{CB3F7268-8508-4375-BB35-2904E456626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8" y="2160"/>
                          <a:ext cx="730" cy="7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4" name="Object 12">
              <a:extLst>
                <a:ext uri="{FF2B5EF4-FFF2-40B4-BE49-F238E27FC236}">
                  <a16:creationId xmlns:a16="http://schemas.microsoft.com/office/drawing/2014/main" id="{6735EED5-7972-4196-A829-7AA6AC53D8C2}"/>
                </a:ext>
              </a:extLst>
            </p:cNvPr>
            <p:cNvGraphicFramePr>
              <a:graphicFrameLocks noChangeAspect="1"/>
            </p:cNvGraphicFramePr>
            <p:nvPr/>
          </p:nvGraphicFramePr>
          <p:xfrm>
            <a:off x="4313" y="1488"/>
            <a:ext cx="768" cy="814"/>
          </p:xfrm>
          <a:graphic>
            <a:graphicData uri="http://schemas.openxmlformats.org/presentationml/2006/ole">
              <mc:AlternateContent xmlns:mc="http://schemas.openxmlformats.org/markup-compatibility/2006">
                <mc:Choice xmlns:v="urn:schemas-microsoft-com:vml" Requires="v">
                  <p:oleObj name="Clip" r:id="rId14" imgW="2328840" imgH="2325960" progId="MS_ClipArt_Gallery.2">
                    <p:embed/>
                  </p:oleObj>
                </mc:Choice>
                <mc:Fallback>
                  <p:oleObj name="Clip" r:id="rId14" imgW="2328840" imgH="2325960" progId="MS_ClipArt_Gallery.2">
                    <p:embed/>
                    <p:pic>
                      <p:nvPicPr>
                        <p:cNvPr id="499724" name="Object 12">
                          <a:extLst>
                            <a:ext uri="{FF2B5EF4-FFF2-40B4-BE49-F238E27FC236}">
                              <a16:creationId xmlns:a16="http://schemas.microsoft.com/office/drawing/2014/main" id="{6735EED5-7972-4196-A829-7AA6AC53D8C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13" y="1488"/>
                          <a:ext cx="768" cy="8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9725" name="Group 13">
              <a:extLst>
                <a:ext uri="{FF2B5EF4-FFF2-40B4-BE49-F238E27FC236}">
                  <a16:creationId xmlns:a16="http://schemas.microsoft.com/office/drawing/2014/main" id="{3C392718-A6FF-4D60-A068-6F51D43E6240}"/>
                </a:ext>
              </a:extLst>
            </p:cNvPr>
            <p:cNvGrpSpPr>
              <a:grpSpLocks/>
            </p:cNvGrpSpPr>
            <p:nvPr/>
          </p:nvGrpSpPr>
          <p:grpSpPr bwMode="auto">
            <a:xfrm>
              <a:off x="3408" y="1376"/>
              <a:ext cx="905" cy="1400"/>
              <a:chOff x="3312" y="1392"/>
              <a:chExt cx="961" cy="1400"/>
            </a:xfrm>
          </p:grpSpPr>
          <p:grpSp>
            <p:nvGrpSpPr>
              <p:cNvPr id="499726" name="Group 14">
                <a:extLst>
                  <a:ext uri="{FF2B5EF4-FFF2-40B4-BE49-F238E27FC236}">
                    <a16:creationId xmlns:a16="http://schemas.microsoft.com/office/drawing/2014/main" id="{C00B9D37-9082-4759-97B0-DCE9EF199FB4}"/>
                  </a:ext>
                </a:extLst>
              </p:cNvPr>
              <p:cNvGrpSpPr>
                <a:grpSpLocks/>
              </p:cNvGrpSpPr>
              <p:nvPr/>
            </p:nvGrpSpPr>
            <p:grpSpPr bwMode="auto">
              <a:xfrm rot="16005095">
                <a:off x="3645" y="1395"/>
                <a:ext cx="632" cy="625"/>
                <a:chOff x="2448" y="2208"/>
                <a:chExt cx="632" cy="865"/>
              </a:xfrm>
            </p:grpSpPr>
            <p:sp>
              <p:nvSpPr>
                <p:cNvPr id="499727" name="Freeform 15">
                  <a:extLst>
                    <a:ext uri="{FF2B5EF4-FFF2-40B4-BE49-F238E27FC236}">
                      <a16:creationId xmlns:a16="http://schemas.microsoft.com/office/drawing/2014/main" id="{B55FB40A-D797-45C8-A597-D989FE884EED}"/>
                    </a:ext>
                  </a:extLst>
                </p:cNvPr>
                <p:cNvSpPr>
                  <a:spLocks/>
                </p:cNvSpPr>
                <p:nvPr/>
              </p:nvSpPr>
              <p:spPr bwMode="auto">
                <a:xfrm>
                  <a:off x="2882" y="2898"/>
                  <a:ext cx="198" cy="175"/>
                </a:xfrm>
                <a:custGeom>
                  <a:avLst/>
                  <a:gdLst>
                    <a:gd name="T0" fmla="*/ 0 w 1188"/>
                    <a:gd name="T1" fmla="*/ 0 h 350"/>
                    <a:gd name="T2" fmla="*/ 1188 w 1188"/>
                    <a:gd name="T3" fmla="*/ 0 h 350"/>
                    <a:gd name="T4" fmla="*/ 594 w 1188"/>
                    <a:gd name="T5" fmla="*/ 350 h 350"/>
                    <a:gd name="T6" fmla="*/ 0 w 1188"/>
                    <a:gd name="T7" fmla="*/ 0 h 350"/>
                  </a:gdLst>
                  <a:ahLst/>
                  <a:cxnLst>
                    <a:cxn ang="0">
                      <a:pos x="T0" y="T1"/>
                    </a:cxn>
                    <a:cxn ang="0">
                      <a:pos x="T2" y="T3"/>
                    </a:cxn>
                    <a:cxn ang="0">
                      <a:pos x="T4" y="T5"/>
                    </a:cxn>
                    <a:cxn ang="0">
                      <a:pos x="T6" y="T7"/>
                    </a:cxn>
                  </a:cxnLst>
                  <a:rect l="0" t="0" r="r" b="b"/>
                  <a:pathLst>
                    <a:path w="1188" h="350">
                      <a:moveTo>
                        <a:pt x="0" y="0"/>
                      </a:moveTo>
                      <a:lnTo>
                        <a:pt x="1188" y="0"/>
                      </a:lnTo>
                      <a:lnTo>
                        <a:pt x="594" y="35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28" name="Freeform 16">
                  <a:extLst>
                    <a:ext uri="{FF2B5EF4-FFF2-40B4-BE49-F238E27FC236}">
                      <a16:creationId xmlns:a16="http://schemas.microsoft.com/office/drawing/2014/main" id="{334FF720-621B-4CBA-BB6B-A66DA4BF8BF7}"/>
                    </a:ext>
                  </a:extLst>
                </p:cNvPr>
                <p:cNvSpPr>
                  <a:spLocks/>
                </p:cNvSpPr>
                <p:nvPr/>
              </p:nvSpPr>
              <p:spPr bwMode="auto">
                <a:xfrm rot="21708962">
                  <a:off x="2448" y="2208"/>
                  <a:ext cx="582" cy="690"/>
                </a:xfrm>
                <a:custGeom>
                  <a:avLst/>
                  <a:gdLst>
                    <a:gd name="T0" fmla="*/ 91 w 3494"/>
                    <a:gd name="T1" fmla="*/ 219 h 1381"/>
                    <a:gd name="T2" fmla="*/ 300 w 3494"/>
                    <a:gd name="T3" fmla="*/ 223 h 1381"/>
                    <a:gd name="T4" fmla="*/ 498 w 3494"/>
                    <a:gd name="T5" fmla="*/ 233 h 1381"/>
                    <a:gd name="T6" fmla="*/ 700 w 3494"/>
                    <a:gd name="T7" fmla="*/ 250 h 1381"/>
                    <a:gd name="T8" fmla="*/ 897 w 3494"/>
                    <a:gd name="T9" fmla="*/ 272 h 1381"/>
                    <a:gd name="T10" fmla="*/ 1117 w 3494"/>
                    <a:gd name="T11" fmla="*/ 303 h 1381"/>
                    <a:gd name="T12" fmla="*/ 1302 w 3494"/>
                    <a:gd name="T13" fmla="*/ 335 h 1381"/>
                    <a:gd name="T14" fmla="*/ 1550 w 3494"/>
                    <a:gd name="T15" fmla="*/ 387 h 1381"/>
                    <a:gd name="T16" fmla="*/ 1843 w 3494"/>
                    <a:gd name="T17" fmla="*/ 470 h 1381"/>
                    <a:gd name="T18" fmla="*/ 2015 w 3494"/>
                    <a:gd name="T19" fmla="*/ 530 h 1381"/>
                    <a:gd name="T20" fmla="*/ 2269 w 3494"/>
                    <a:gd name="T21" fmla="*/ 637 h 1381"/>
                    <a:gd name="T22" fmla="*/ 2429 w 3494"/>
                    <a:gd name="T23" fmla="*/ 718 h 1381"/>
                    <a:gd name="T24" fmla="*/ 2570 w 3494"/>
                    <a:gd name="T25" fmla="*/ 809 h 1381"/>
                    <a:gd name="T26" fmla="*/ 2686 w 3494"/>
                    <a:gd name="T27" fmla="*/ 901 h 1381"/>
                    <a:gd name="T28" fmla="*/ 2784 w 3494"/>
                    <a:gd name="T29" fmla="*/ 998 h 1381"/>
                    <a:gd name="T30" fmla="*/ 2856 w 3494"/>
                    <a:gd name="T31" fmla="*/ 1087 h 1381"/>
                    <a:gd name="T32" fmla="*/ 2901 w 3494"/>
                    <a:gd name="T33" fmla="*/ 1171 h 1381"/>
                    <a:gd name="T34" fmla="*/ 2929 w 3494"/>
                    <a:gd name="T35" fmla="*/ 1246 h 1381"/>
                    <a:gd name="T36" fmla="*/ 2946 w 3494"/>
                    <a:gd name="T37" fmla="*/ 1336 h 1381"/>
                    <a:gd name="T38" fmla="*/ 3494 w 3494"/>
                    <a:gd name="T39" fmla="*/ 1381 h 1381"/>
                    <a:gd name="T40" fmla="*/ 3479 w 3494"/>
                    <a:gd name="T41" fmla="*/ 1249 h 1381"/>
                    <a:gd name="T42" fmla="*/ 3448 w 3494"/>
                    <a:gd name="T43" fmla="*/ 1156 h 1381"/>
                    <a:gd name="T44" fmla="*/ 3400 w 3494"/>
                    <a:gd name="T45" fmla="*/ 1063 h 1381"/>
                    <a:gd name="T46" fmla="*/ 3335 w 3494"/>
                    <a:gd name="T47" fmla="*/ 972 h 1381"/>
                    <a:gd name="T48" fmla="*/ 3254 w 3494"/>
                    <a:gd name="T49" fmla="*/ 879 h 1381"/>
                    <a:gd name="T50" fmla="*/ 3162 w 3494"/>
                    <a:gd name="T51" fmla="*/ 793 h 1381"/>
                    <a:gd name="T52" fmla="*/ 3021 w 3494"/>
                    <a:gd name="T53" fmla="*/ 687 h 1381"/>
                    <a:gd name="T54" fmla="*/ 2814 w 3494"/>
                    <a:gd name="T55" fmla="*/ 566 h 1381"/>
                    <a:gd name="T56" fmla="*/ 2616 w 3494"/>
                    <a:gd name="T57" fmla="*/ 468 h 1381"/>
                    <a:gd name="T58" fmla="*/ 2333 w 3494"/>
                    <a:gd name="T59" fmla="*/ 355 h 1381"/>
                    <a:gd name="T60" fmla="*/ 2044 w 3494"/>
                    <a:gd name="T61" fmla="*/ 267 h 1381"/>
                    <a:gd name="T62" fmla="*/ 1834 w 3494"/>
                    <a:gd name="T63" fmla="*/ 210 h 1381"/>
                    <a:gd name="T64" fmla="*/ 1654 w 3494"/>
                    <a:gd name="T65" fmla="*/ 170 h 1381"/>
                    <a:gd name="T66" fmla="*/ 1462 w 3494"/>
                    <a:gd name="T67" fmla="*/ 132 h 1381"/>
                    <a:gd name="T68" fmla="*/ 1227 w 3494"/>
                    <a:gd name="T69" fmla="*/ 95 h 1381"/>
                    <a:gd name="T70" fmla="*/ 968 w 3494"/>
                    <a:gd name="T71" fmla="*/ 59 h 1381"/>
                    <a:gd name="T72" fmla="*/ 714 w 3494"/>
                    <a:gd name="T73" fmla="*/ 34 h 1381"/>
                    <a:gd name="T74" fmla="*/ 446 w 3494"/>
                    <a:gd name="T75" fmla="*/ 16 h 1381"/>
                    <a:gd name="T76" fmla="*/ 91 w 3494"/>
                    <a:gd name="T77" fmla="*/ 5 h 1381"/>
                    <a:gd name="T78" fmla="*/ 0 w 3494"/>
                    <a:gd name="T79" fmla="*/ 219 h 1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94" h="1381">
                      <a:moveTo>
                        <a:pt x="0" y="219"/>
                      </a:moveTo>
                      <a:lnTo>
                        <a:pt x="91" y="219"/>
                      </a:lnTo>
                      <a:lnTo>
                        <a:pt x="207" y="220"/>
                      </a:lnTo>
                      <a:lnTo>
                        <a:pt x="300" y="223"/>
                      </a:lnTo>
                      <a:lnTo>
                        <a:pt x="394" y="228"/>
                      </a:lnTo>
                      <a:lnTo>
                        <a:pt x="498" y="233"/>
                      </a:lnTo>
                      <a:lnTo>
                        <a:pt x="593" y="241"/>
                      </a:lnTo>
                      <a:lnTo>
                        <a:pt x="700" y="250"/>
                      </a:lnTo>
                      <a:lnTo>
                        <a:pt x="787" y="259"/>
                      </a:lnTo>
                      <a:lnTo>
                        <a:pt x="897" y="272"/>
                      </a:lnTo>
                      <a:lnTo>
                        <a:pt x="1003" y="287"/>
                      </a:lnTo>
                      <a:lnTo>
                        <a:pt x="1117" y="303"/>
                      </a:lnTo>
                      <a:lnTo>
                        <a:pt x="1213" y="321"/>
                      </a:lnTo>
                      <a:lnTo>
                        <a:pt x="1302" y="335"/>
                      </a:lnTo>
                      <a:lnTo>
                        <a:pt x="1403" y="355"/>
                      </a:lnTo>
                      <a:lnTo>
                        <a:pt x="1550" y="387"/>
                      </a:lnTo>
                      <a:lnTo>
                        <a:pt x="1683" y="422"/>
                      </a:lnTo>
                      <a:lnTo>
                        <a:pt x="1843" y="470"/>
                      </a:lnTo>
                      <a:lnTo>
                        <a:pt x="1947" y="505"/>
                      </a:lnTo>
                      <a:lnTo>
                        <a:pt x="2015" y="530"/>
                      </a:lnTo>
                      <a:lnTo>
                        <a:pt x="2146" y="580"/>
                      </a:lnTo>
                      <a:lnTo>
                        <a:pt x="2269" y="637"/>
                      </a:lnTo>
                      <a:lnTo>
                        <a:pt x="2360" y="681"/>
                      </a:lnTo>
                      <a:lnTo>
                        <a:pt x="2429" y="718"/>
                      </a:lnTo>
                      <a:lnTo>
                        <a:pt x="2506" y="765"/>
                      </a:lnTo>
                      <a:lnTo>
                        <a:pt x="2570" y="809"/>
                      </a:lnTo>
                      <a:lnTo>
                        <a:pt x="2625" y="849"/>
                      </a:lnTo>
                      <a:lnTo>
                        <a:pt x="2686" y="901"/>
                      </a:lnTo>
                      <a:lnTo>
                        <a:pt x="2739" y="950"/>
                      </a:lnTo>
                      <a:lnTo>
                        <a:pt x="2784" y="998"/>
                      </a:lnTo>
                      <a:lnTo>
                        <a:pt x="2825" y="1043"/>
                      </a:lnTo>
                      <a:lnTo>
                        <a:pt x="2856" y="1087"/>
                      </a:lnTo>
                      <a:lnTo>
                        <a:pt x="2880" y="1127"/>
                      </a:lnTo>
                      <a:lnTo>
                        <a:pt x="2901" y="1171"/>
                      </a:lnTo>
                      <a:lnTo>
                        <a:pt x="2918" y="1211"/>
                      </a:lnTo>
                      <a:lnTo>
                        <a:pt x="2929" y="1246"/>
                      </a:lnTo>
                      <a:lnTo>
                        <a:pt x="2941" y="1294"/>
                      </a:lnTo>
                      <a:lnTo>
                        <a:pt x="2946" y="1336"/>
                      </a:lnTo>
                      <a:lnTo>
                        <a:pt x="2948" y="1381"/>
                      </a:lnTo>
                      <a:lnTo>
                        <a:pt x="3494" y="1381"/>
                      </a:lnTo>
                      <a:lnTo>
                        <a:pt x="3489" y="1310"/>
                      </a:lnTo>
                      <a:lnTo>
                        <a:pt x="3479" y="1249"/>
                      </a:lnTo>
                      <a:lnTo>
                        <a:pt x="3465" y="1198"/>
                      </a:lnTo>
                      <a:lnTo>
                        <a:pt x="3448" y="1156"/>
                      </a:lnTo>
                      <a:lnTo>
                        <a:pt x="3428" y="1112"/>
                      </a:lnTo>
                      <a:lnTo>
                        <a:pt x="3400" y="1063"/>
                      </a:lnTo>
                      <a:lnTo>
                        <a:pt x="3376" y="1025"/>
                      </a:lnTo>
                      <a:lnTo>
                        <a:pt x="3335" y="972"/>
                      </a:lnTo>
                      <a:lnTo>
                        <a:pt x="3296" y="924"/>
                      </a:lnTo>
                      <a:lnTo>
                        <a:pt x="3254" y="879"/>
                      </a:lnTo>
                      <a:lnTo>
                        <a:pt x="3205" y="831"/>
                      </a:lnTo>
                      <a:lnTo>
                        <a:pt x="3162" y="793"/>
                      </a:lnTo>
                      <a:lnTo>
                        <a:pt x="3090" y="738"/>
                      </a:lnTo>
                      <a:lnTo>
                        <a:pt x="3021" y="687"/>
                      </a:lnTo>
                      <a:lnTo>
                        <a:pt x="2917" y="623"/>
                      </a:lnTo>
                      <a:lnTo>
                        <a:pt x="2814" y="566"/>
                      </a:lnTo>
                      <a:lnTo>
                        <a:pt x="2710" y="513"/>
                      </a:lnTo>
                      <a:lnTo>
                        <a:pt x="2616" y="468"/>
                      </a:lnTo>
                      <a:lnTo>
                        <a:pt x="2485" y="412"/>
                      </a:lnTo>
                      <a:lnTo>
                        <a:pt x="2333" y="355"/>
                      </a:lnTo>
                      <a:lnTo>
                        <a:pt x="2182" y="307"/>
                      </a:lnTo>
                      <a:lnTo>
                        <a:pt x="2044" y="267"/>
                      </a:lnTo>
                      <a:lnTo>
                        <a:pt x="1951" y="241"/>
                      </a:lnTo>
                      <a:lnTo>
                        <a:pt x="1834" y="210"/>
                      </a:lnTo>
                      <a:lnTo>
                        <a:pt x="1750" y="189"/>
                      </a:lnTo>
                      <a:lnTo>
                        <a:pt x="1654" y="170"/>
                      </a:lnTo>
                      <a:lnTo>
                        <a:pt x="1557" y="149"/>
                      </a:lnTo>
                      <a:lnTo>
                        <a:pt x="1462" y="132"/>
                      </a:lnTo>
                      <a:lnTo>
                        <a:pt x="1337" y="109"/>
                      </a:lnTo>
                      <a:lnTo>
                        <a:pt x="1227" y="95"/>
                      </a:lnTo>
                      <a:lnTo>
                        <a:pt x="1109" y="77"/>
                      </a:lnTo>
                      <a:lnTo>
                        <a:pt x="968" y="59"/>
                      </a:lnTo>
                      <a:lnTo>
                        <a:pt x="827" y="43"/>
                      </a:lnTo>
                      <a:lnTo>
                        <a:pt x="714" y="34"/>
                      </a:lnTo>
                      <a:lnTo>
                        <a:pt x="583" y="22"/>
                      </a:lnTo>
                      <a:lnTo>
                        <a:pt x="446" y="16"/>
                      </a:lnTo>
                      <a:lnTo>
                        <a:pt x="260" y="8"/>
                      </a:lnTo>
                      <a:lnTo>
                        <a:pt x="91" y="5"/>
                      </a:lnTo>
                      <a:lnTo>
                        <a:pt x="0" y="0"/>
                      </a:lnTo>
                      <a:lnTo>
                        <a:pt x="0" y="21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9729" name="Group 17">
                <a:extLst>
                  <a:ext uri="{FF2B5EF4-FFF2-40B4-BE49-F238E27FC236}">
                    <a16:creationId xmlns:a16="http://schemas.microsoft.com/office/drawing/2014/main" id="{568C67CB-FF6C-4012-8B3C-E7143AE23450}"/>
                  </a:ext>
                </a:extLst>
              </p:cNvPr>
              <p:cNvGrpSpPr>
                <a:grpSpLocks/>
              </p:cNvGrpSpPr>
              <p:nvPr/>
            </p:nvGrpSpPr>
            <p:grpSpPr bwMode="auto">
              <a:xfrm rot="5502685">
                <a:off x="3645" y="2163"/>
                <a:ext cx="632" cy="625"/>
                <a:chOff x="3408" y="1151"/>
                <a:chExt cx="632" cy="865"/>
              </a:xfrm>
            </p:grpSpPr>
            <p:sp>
              <p:nvSpPr>
                <p:cNvPr id="499730" name="Freeform 18">
                  <a:extLst>
                    <a:ext uri="{FF2B5EF4-FFF2-40B4-BE49-F238E27FC236}">
                      <a16:creationId xmlns:a16="http://schemas.microsoft.com/office/drawing/2014/main" id="{69FC1AC6-6C61-4599-B015-8BCDDA455574}"/>
                    </a:ext>
                  </a:extLst>
                </p:cNvPr>
                <p:cNvSpPr>
                  <a:spLocks/>
                </p:cNvSpPr>
                <p:nvPr/>
              </p:nvSpPr>
              <p:spPr bwMode="auto">
                <a:xfrm>
                  <a:off x="3843" y="1151"/>
                  <a:ext cx="197" cy="174"/>
                </a:xfrm>
                <a:custGeom>
                  <a:avLst/>
                  <a:gdLst>
                    <a:gd name="T0" fmla="*/ 0 w 1187"/>
                    <a:gd name="T1" fmla="*/ 350 h 350"/>
                    <a:gd name="T2" fmla="*/ 1187 w 1187"/>
                    <a:gd name="T3" fmla="*/ 350 h 350"/>
                    <a:gd name="T4" fmla="*/ 593 w 1187"/>
                    <a:gd name="T5" fmla="*/ 0 h 350"/>
                    <a:gd name="T6" fmla="*/ 0 w 1187"/>
                    <a:gd name="T7" fmla="*/ 350 h 350"/>
                  </a:gdLst>
                  <a:ahLst/>
                  <a:cxnLst>
                    <a:cxn ang="0">
                      <a:pos x="T0" y="T1"/>
                    </a:cxn>
                    <a:cxn ang="0">
                      <a:pos x="T2" y="T3"/>
                    </a:cxn>
                    <a:cxn ang="0">
                      <a:pos x="T4" y="T5"/>
                    </a:cxn>
                    <a:cxn ang="0">
                      <a:pos x="T6" y="T7"/>
                    </a:cxn>
                  </a:cxnLst>
                  <a:rect l="0" t="0" r="r" b="b"/>
                  <a:pathLst>
                    <a:path w="1187" h="350">
                      <a:moveTo>
                        <a:pt x="0" y="350"/>
                      </a:moveTo>
                      <a:lnTo>
                        <a:pt x="1187" y="350"/>
                      </a:lnTo>
                      <a:lnTo>
                        <a:pt x="593" y="0"/>
                      </a:lnTo>
                      <a:lnTo>
                        <a:pt x="0" y="3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31" name="Freeform 19">
                  <a:extLst>
                    <a:ext uri="{FF2B5EF4-FFF2-40B4-BE49-F238E27FC236}">
                      <a16:creationId xmlns:a16="http://schemas.microsoft.com/office/drawing/2014/main" id="{7FC4B2C4-B1CF-41FB-A07A-B69857B5334F}"/>
                    </a:ext>
                  </a:extLst>
                </p:cNvPr>
                <p:cNvSpPr>
                  <a:spLocks/>
                </p:cNvSpPr>
                <p:nvPr/>
              </p:nvSpPr>
              <p:spPr bwMode="auto">
                <a:xfrm>
                  <a:off x="3408" y="1325"/>
                  <a:ext cx="583" cy="691"/>
                </a:xfrm>
                <a:custGeom>
                  <a:avLst/>
                  <a:gdLst>
                    <a:gd name="T0" fmla="*/ 93 w 3496"/>
                    <a:gd name="T1" fmla="*/ 1162 h 1380"/>
                    <a:gd name="T2" fmla="*/ 301 w 3496"/>
                    <a:gd name="T3" fmla="*/ 1157 h 1380"/>
                    <a:gd name="T4" fmla="*/ 500 w 3496"/>
                    <a:gd name="T5" fmla="*/ 1147 h 1380"/>
                    <a:gd name="T6" fmla="*/ 701 w 3496"/>
                    <a:gd name="T7" fmla="*/ 1131 h 1380"/>
                    <a:gd name="T8" fmla="*/ 898 w 3496"/>
                    <a:gd name="T9" fmla="*/ 1109 h 1380"/>
                    <a:gd name="T10" fmla="*/ 1119 w 3496"/>
                    <a:gd name="T11" fmla="*/ 1078 h 1380"/>
                    <a:gd name="T12" fmla="*/ 1303 w 3496"/>
                    <a:gd name="T13" fmla="*/ 1045 h 1380"/>
                    <a:gd name="T14" fmla="*/ 1550 w 3496"/>
                    <a:gd name="T15" fmla="*/ 994 h 1380"/>
                    <a:gd name="T16" fmla="*/ 1844 w 3496"/>
                    <a:gd name="T17" fmla="*/ 911 h 1380"/>
                    <a:gd name="T18" fmla="*/ 2016 w 3496"/>
                    <a:gd name="T19" fmla="*/ 850 h 1380"/>
                    <a:gd name="T20" fmla="*/ 2270 w 3496"/>
                    <a:gd name="T21" fmla="*/ 744 h 1380"/>
                    <a:gd name="T22" fmla="*/ 2430 w 3496"/>
                    <a:gd name="T23" fmla="*/ 663 h 1380"/>
                    <a:gd name="T24" fmla="*/ 2571 w 3496"/>
                    <a:gd name="T25" fmla="*/ 571 h 1380"/>
                    <a:gd name="T26" fmla="*/ 2687 w 3496"/>
                    <a:gd name="T27" fmla="*/ 480 h 1380"/>
                    <a:gd name="T28" fmla="*/ 2786 w 3496"/>
                    <a:gd name="T29" fmla="*/ 382 h 1380"/>
                    <a:gd name="T30" fmla="*/ 2858 w 3496"/>
                    <a:gd name="T31" fmla="*/ 294 h 1380"/>
                    <a:gd name="T32" fmla="*/ 2903 w 3496"/>
                    <a:gd name="T33" fmla="*/ 210 h 1380"/>
                    <a:gd name="T34" fmla="*/ 2930 w 3496"/>
                    <a:gd name="T35" fmla="*/ 134 h 1380"/>
                    <a:gd name="T36" fmla="*/ 2948 w 3496"/>
                    <a:gd name="T37" fmla="*/ 44 h 1380"/>
                    <a:gd name="T38" fmla="*/ 3496 w 3496"/>
                    <a:gd name="T39" fmla="*/ 0 h 1380"/>
                    <a:gd name="T40" fmla="*/ 3479 w 3496"/>
                    <a:gd name="T41" fmla="*/ 131 h 1380"/>
                    <a:gd name="T42" fmla="*/ 3448 w 3496"/>
                    <a:gd name="T43" fmla="*/ 224 h 1380"/>
                    <a:gd name="T44" fmla="*/ 3401 w 3496"/>
                    <a:gd name="T45" fmla="*/ 317 h 1380"/>
                    <a:gd name="T46" fmla="*/ 3337 w 3496"/>
                    <a:gd name="T47" fmla="*/ 409 h 1380"/>
                    <a:gd name="T48" fmla="*/ 3255 w 3496"/>
                    <a:gd name="T49" fmla="*/ 502 h 1380"/>
                    <a:gd name="T50" fmla="*/ 3163 w 3496"/>
                    <a:gd name="T51" fmla="*/ 588 h 1380"/>
                    <a:gd name="T52" fmla="*/ 3022 w 3496"/>
                    <a:gd name="T53" fmla="*/ 694 h 1380"/>
                    <a:gd name="T54" fmla="*/ 2815 w 3496"/>
                    <a:gd name="T55" fmla="*/ 815 h 1380"/>
                    <a:gd name="T56" fmla="*/ 2618 w 3496"/>
                    <a:gd name="T57" fmla="*/ 912 h 1380"/>
                    <a:gd name="T58" fmla="*/ 2335 w 3496"/>
                    <a:gd name="T59" fmla="*/ 1026 h 1380"/>
                    <a:gd name="T60" fmla="*/ 2046 w 3496"/>
                    <a:gd name="T61" fmla="*/ 1113 h 1380"/>
                    <a:gd name="T62" fmla="*/ 1836 w 3496"/>
                    <a:gd name="T63" fmla="*/ 1171 h 1380"/>
                    <a:gd name="T64" fmla="*/ 1654 w 3496"/>
                    <a:gd name="T65" fmla="*/ 1211 h 1380"/>
                    <a:gd name="T66" fmla="*/ 1464 w 3496"/>
                    <a:gd name="T67" fmla="*/ 1249 h 1380"/>
                    <a:gd name="T68" fmla="*/ 1229 w 3496"/>
                    <a:gd name="T69" fmla="*/ 1286 h 1380"/>
                    <a:gd name="T70" fmla="*/ 970 w 3496"/>
                    <a:gd name="T71" fmla="*/ 1321 h 1380"/>
                    <a:gd name="T72" fmla="*/ 715 w 3496"/>
                    <a:gd name="T73" fmla="*/ 1346 h 1380"/>
                    <a:gd name="T74" fmla="*/ 448 w 3496"/>
                    <a:gd name="T75" fmla="*/ 1364 h 1380"/>
                    <a:gd name="T76" fmla="*/ 93 w 3496"/>
                    <a:gd name="T77" fmla="*/ 1376 h 1380"/>
                    <a:gd name="T78" fmla="*/ 3 w 3496"/>
                    <a:gd name="T79" fmla="*/ 1165 h 1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96" h="1380">
                      <a:moveTo>
                        <a:pt x="3" y="1165"/>
                      </a:moveTo>
                      <a:lnTo>
                        <a:pt x="93" y="1162"/>
                      </a:lnTo>
                      <a:lnTo>
                        <a:pt x="207" y="1160"/>
                      </a:lnTo>
                      <a:lnTo>
                        <a:pt x="301" y="1157"/>
                      </a:lnTo>
                      <a:lnTo>
                        <a:pt x="396" y="1153"/>
                      </a:lnTo>
                      <a:lnTo>
                        <a:pt x="500" y="1147"/>
                      </a:lnTo>
                      <a:lnTo>
                        <a:pt x="593" y="1140"/>
                      </a:lnTo>
                      <a:lnTo>
                        <a:pt x="701" y="1131"/>
                      </a:lnTo>
                      <a:lnTo>
                        <a:pt x="789" y="1122"/>
                      </a:lnTo>
                      <a:lnTo>
                        <a:pt x="898" y="1109"/>
                      </a:lnTo>
                      <a:lnTo>
                        <a:pt x="1005" y="1094"/>
                      </a:lnTo>
                      <a:lnTo>
                        <a:pt x="1119" y="1078"/>
                      </a:lnTo>
                      <a:lnTo>
                        <a:pt x="1215" y="1060"/>
                      </a:lnTo>
                      <a:lnTo>
                        <a:pt x="1303" y="1045"/>
                      </a:lnTo>
                      <a:lnTo>
                        <a:pt x="1405" y="1026"/>
                      </a:lnTo>
                      <a:lnTo>
                        <a:pt x="1550" y="994"/>
                      </a:lnTo>
                      <a:lnTo>
                        <a:pt x="1684" y="958"/>
                      </a:lnTo>
                      <a:lnTo>
                        <a:pt x="1844" y="911"/>
                      </a:lnTo>
                      <a:lnTo>
                        <a:pt x="1949" y="875"/>
                      </a:lnTo>
                      <a:lnTo>
                        <a:pt x="2016" y="850"/>
                      </a:lnTo>
                      <a:lnTo>
                        <a:pt x="2147" y="800"/>
                      </a:lnTo>
                      <a:lnTo>
                        <a:pt x="2270" y="744"/>
                      </a:lnTo>
                      <a:lnTo>
                        <a:pt x="2361" y="700"/>
                      </a:lnTo>
                      <a:lnTo>
                        <a:pt x="2430" y="663"/>
                      </a:lnTo>
                      <a:lnTo>
                        <a:pt x="2507" y="616"/>
                      </a:lnTo>
                      <a:lnTo>
                        <a:pt x="2571" y="571"/>
                      </a:lnTo>
                      <a:lnTo>
                        <a:pt x="2625" y="531"/>
                      </a:lnTo>
                      <a:lnTo>
                        <a:pt x="2687" y="480"/>
                      </a:lnTo>
                      <a:lnTo>
                        <a:pt x="2741" y="431"/>
                      </a:lnTo>
                      <a:lnTo>
                        <a:pt x="2786" y="382"/>
                      </a:lnTo>
                      <a:lnTo>
                        <a:pt x="2825" y="338"/>
                      </a:lnTo>
                      <a:lnTo>
                        <a:pt x="2858" y="294"/>
                      </a:lnTo>
                      <a:lnTo>
                        <a:pt x="2882" y="254"/>
                      </a:lnTo>
                      <a:lnTo>
                        <a:pt x="2903" y="210"/>
                      </a:lnTo>
                      <a:lnTo>
                        <a:pt x="2920" y="170"/>
                      </a:lnTo>
                      <a:lnTo>
                        <a:pt x="2930" y="134"/>
                      </a:lnTo>
                      <a:lnTo>
                        <a:pt x="2942" y="87"/>
                      </a:lnTo>
                      <a:lnTo>
                        <a:pt x="2948" y="44"/>
                      </a:lnTo>
                      <a:lnTo>
                        <a:pt x="2949" y="0"/>
                      </a:lnTo>
                      <a:lnTo>
                        <a:pt x="3496" y="0"/>
                      </a:lnTo>
                      <a:lnTo>
                        <a:pt x="3490" y="71"/>
                      </a:lnTo>
                      <a:lnTo>
                        <a:pt x="3479" y="131"/>
                      </a:lnTo>
                      <a:lnTo>
                        <a:pt x="3466" y="183"/>
                      </a:lnTo>
                      <a:lnTo>
                        <a:pt x="3448" y="224"/>
                      </a:lnTo>
                      <a:lnTo>
                        <a:pt x="3430" y="269"/>
                      </a:lnTo>
                      <a:lnTo>
                        <a:pt x="3401" y="317"/>
                      </a:lnTo>
                      <a:lnTo>
                        <a:pt x="3377" y="356"/>
                      </a:lnTo>
                      <a:lnTo>
                        <a:pt x="3337" y="409"/>
                      </a:lnTo>
                      <a:lnTo>
                        <a:pt x="3297" y="456"/>
                      </a:lnTo>
                      <a:lnTo>
                        <a:pt x="3255" y="502"/>
                      </a:lnTo>
                      <a:lnTo>
                        <a:pt x="3207" y="549"/>
                      </a:lnTo>
                      <a:lnTo>
                        <a:pt x="3163" y="588"/>
                      </a:lnTo>
                      <a:lnTo>
                        <a:pt x="3092" y="642"/>
                      </a:lnTo>
                      <a:lnTo>
                        <a:pt x="3022" y="694"/>
                      </a:lnTo>
                      <a:lnTo>
                        <a:pt x="2918" y="757"/>
                      </a:lnTo>
                      <a:lnTo>
                        <a:pt x="2815" y="815"/>
                      </a:lnTo>
                      <a:lnTo>
                        <a:pt x="2711" y="868"/>
                      </a:lnTo>
                      <a:lnTo>
                        <a:pt x="2618" y="912"/>
                      </a:lnTo>
                      <a:lnTo>
                        <a:pt x="2487" y="968"/>
                      </a:lnTo>
                      <a:lnTo>
                        <a:pt x="2335" y="1026"/>
                      </a:lnTo>
                      <a:lnTo>
                        <a:pt x="2184" y="1073"/>
                      </a:lnTo>
                      <a:lnTo>
                        <a:pt x="2046" y="1113"/>
                      </a:lnTo>
                      <a:lnTo>
                        <a:pt x="1953" y="1140"/>
                      </a:lnTo>
                      <a:lnTo>
                        <a:pt x="1836" y="1171"/>
                      </a:lnTo>
                      <a:lnTo>
                        <a:pt x="1750" y="1191"/>
                      </a:lnTo>
                      <a:lnTo>
                        <a:pt x="1654" y="1211"/>
                      </a:lnTo>
                      <a:lnTo>
                        <a:pt x="1557" y="1231"/>
                      </a:lnTo>
                      <a:lnTo>
                        <a:pt x="1464" y="1249"/>
                      </a:lnTo>
                      <a:lnTo>
                        <a:pt x="1339" y="1271"/>
                      </a:lnTo>
                      <a:lnTo>
                        <a:pt x="1229" y="1286"/>
                      </a:lnTo>
                      <a:lnTo>
                        <a:pt x="1110" y="1304"/>
                      </a:lnTo>
                      <a:lnTo>
                        <a:pt x="970" y="1321"/>
                      </a:lnTo>
                      <a:lnTo>
                        <a:pt x="828" y="1338"/>
                      </a:lnTo>
                      <a:lnTo>
                        <a:pt x="715" y="1346"/>
                      </a:lnTo>
                      <a:lnTo>
                        <a:pt x="585" y="1358"/>
                      </a:lnTo>
                      <a:lnTo>
                        <a:pt x="448" y="1364"/>
                      </a:lnTo>
                      <a:lnTo>
                        <a:pt x="262" y="1373"/>
                      </a:lnTo>
                      <a:lnTo>
                        <a:pt x="93" y="1376"/>
                      </a:lnTo>
                      <a:lnTo>
                        <a:pt x="0" y="1380"/>
                      </a:lnTo>
                      <a:lnTo>
                        <a:pt x="3" y="1165"/>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9732" name="Group 20">
                <a:extLst>
                  <a:ext uri="{FF2B5EF4-FFF2-40B4-BE49-F238E27FC236}">
                    <a16:creationId xmlns:a16="http://schemas.microsoft.com/office/drawing/2014/main" id="{44FE3DAE-A67D-4367-8A85-0989E1E6BC96}"/>
                  </a:ext>
                </a:extLst>
              </p:cNvPr>
              <p:cNvGrpSpPr>
                <a:grpSpLocks/>
              </p:cNvGrpSpPr>
              <p:nvPr/>
            </p:nvGrpSpPr>
            <p:grpSpPr bwMode="auto">
              <a:xfrm>
                <a:off x="3312" y="1680"/>
                <a:ext cx="929" cy="864"/>
                <a:chOff x="3409" y="1713"/>
                <a:chExt cx="820" cy="797"/>
              </a:xfrm>
            </p:grpSpPr>
            <p:sp>
              <p:nvSpPr>
                <p:cNvPr id="499733" name="Freeform 21">
                  <a:extLst>
                    <a:ext uri="{FF2B5EF4-FFF2-40B4-BE49-F238E27FC236}">
                      <a16:creationId xmlns:a16="http://schemas.microsoft.com/office/drawing/2014/main" id="{F7A3E600-7AB7-4DB2-8F7F-19D6435F6A85}"/>
                    </a:ext>
                  </a:extLst>
                </p:cNvPr>
                <p:cNvSpPr>
                  <a:spLocks/>
                </p:cNvSpPr>
                <p:nvPr/>
              </p:nvSpPr>
              <p:spPr bwMode="auto">
                <a:xfrm>
                  <a:off x="4118" y="1713"/>
                  <a:ext cx="28" cy="797"/>
                </a:xfrm>
                <a:custGeom>
                  <a:avLst/>
                  <a:gdLst>
                    <a:gd name="T0" fmla="*/ 165 w 165"/>
                    <a:gd name="T1" fmla="*/ 0 h 1594"/>
                    <a:gd name="T2" fmla="*/ 165 w 165"/>
                    <a:gd name="T3" fmla="*/ 1594 h 1594"/>
                    <a:gd name="T4" fmla="*/ 0 w 165"/>
                    <a:gd name="T5" fmla="*/ 1169 h 1594"/>
                    <a:gd name="T6" fmla="*/ 0 w 165"/>
                    <a:gd name="T7" fmla="*/ 424 h 1594"/>
                    <a:gd name="T8" fmla="*/ 165 w 165"/>
                    <a:gd name="T9" fmla="*/ 0 h 1594"/>
                  </a:gdLst>
                  <a:ahLst/>
                  <a:cxnLst>
                    <a:cxn ang="0">
                      <a:pos x="T0" y="T1"/>
                    </a:cxn>
                    <a:cxn ang="0">
                      <a:pos x="T2" y="T3"/>
                    </a:cxn>
                    <a:cxn ang="0">
                      <a:pos x="T4" y="T5"/>
                    </a:cxn>
                    <a:cxn ang="0">
                      <a:pos x="T6" y="T7"/>
                    </a:cxn>
                    <a:cxn ang="0">
                      <a:pos x="T8" y="T9"/>
                    </a:cxn>
                  </a:cxnLst>
                  <a:rect l="0" t="0" r="r" b="b"/>
                  <a:pathLst>
                    <a:path w="165" h="1594">
                      <a:moveTo>
                        <a:pt x="165" y="0"/>
                      </a:moveTo>
                      <a:lnTo>
                        <a:pt x="165" y="1594"/>
                      </a:lnTo>
                      <a:lnTo>
                        <a:pt x="0" y="1169"/>
                      </a:lnTo>
                      <a:lnTo>
                        <a:pt x="0" y="424"/>
                      </a:lnTo>
                      <a:lnTo>
                        <a:pt x="165"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734" name="Freeform 22">
                  <a:extLst>
                    <a:ext uri="{FF2B5EF4-FFF2-40B4-BE49-F238E27FC236}">
                      <a16:creationId xmlns:a16="http://schemas.microsoft.com/office/drawing/2014/main" id="{0678D713-F0B6-4A76-9644-07E4493AF01C}"/>
                    </a:ext>
                  </a:extLst>
                </p:cNvPr>
                <p:cNvSpPr>
                  <a:spLocks/>
                </p:cNvSpPr>
                <p:nvPr/>
              </p:nvSpPr>
              <p:spPr bwMode="auto">
                <a:xfrm>
                  <a:off x="3409" y="1713"/>
                  <a:ext cx="820" cy="797"/>
                </a:xfrm>
                <a:custGeom>
                  <a:avLst/>
                  <a:gdLst>
                    <a:gd name="T0" fmla="*/ 4422 w 4923"/>
                    <a:gd name="T1" fmla="*/ 530 h 1594"/>
                    <a:gd name="T2" fmla="*/ 4422 w 4923"/>
                    <a:gd name="T3" fmla="*/ 0 h 1594"/>
                    <a:gd name="T4" fmla="*/ 4923 w 4923"/>
                    <a:gd name="T5" fmla="*/ 850 h 1594"/>
                    <a:gd name="T6" fmla="*/ 4422 w 4923"/>
                    <a:gd name="T7" fmla="*/ 1594 h 1594"/>
                    <a:gd name="T8" fmla="*/ 4422 w 4923"/>
                    <a:gd name="T9" fmla="*/ 1063 h 1594"/>
                    <a:gd name="T10" fmla="*/ 0 w 4923"/>
                    <a:gd name="T11" fmla="*/ 1063 h 1594"/>
                    <a:gd name="T12" fmla="*/ 0 w 4923"/>
                    <a:gd name="T13" fmla="*/ 530 h 1594"/>
                    <a:gd name="T14" fmla="*/ 4422 w 4923"/>
                    <a:gd name="T15" fmla="*/ 530 h 15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23" h="1594">
                      <a:moveTo>
                        <a:pt x="4422" y="530"/>
                      </a:moveTo>
                      <a:lnTo>
                        <a:pt x="4422" y="0"/>
                      </a:lnTo>
                      <a:lnTo>
                        <a:pt x="4923" y="850"/>
                      </a:lnTo>
                      <a:lnTo>
                        <a:pt x="4422" y="1594"/>
                      </a:lnTo>
                      <a:lnTo>
                        <a:pt x="4422" y="1063"/>
                      </a:lnTo>
                      <a:lnTo>
                        <a:pt x="0" y="1063"/>
                      </a:lnTo>
                      <a:lnTo>
                        <a:pt x="0" y="530"/>
                      </a:lnTo>
                      <a:lnTo>
                        <a:pt x="4422" y="53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499735" name="Rectangle 23">
              <a:extLst>
                <a:ext uri="{FF2B5EF4-FFF2-40B4-BE49-F238E27FC236}">
                  <a16:creationId xmlns:a16="http://schemas.microsoft.com/office/drawing/2014/main" id="{1432F98A-6DAF-40B1-8335-A7A2BEC478C1}"/>
                </a:ext>
              </a:extLst>
            </p:cNvPr>
            <p:cNvSpPr>
              <a:spLocks noChangeArrowheads="1"/>
            </p:cNvSpPr>
            <p:nvPr/>
          </p:nvSpPr>
          <p:spPr bwMode="auto">
            <a:xfrm>
              <a:off x="3453" y="1968"/>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lnSpc>
                  <a:spcPct val="100000"/>
                </a:lnSpc>
                <a:spcBef>
                  <a:spcPct val="20000"/>
                </a:spcBef>
                <a:buClr>
                  <a:schemeClr val="tx2"/>
                </a:buClr>
                <a:buSzTx/>
                <a:buFontTx/>
                <a:buNone/>
              </a:pPr>
              <a:r>
                <a:rPr kumimoji="0" lang="zh-CN" altLang="en-US" sz="1800"/>
                <a:t>同级</a:t>
              </a:r>
            </a:p>
          </p:txBody>
        </p:sp>
        <p:sp>
          <p:nvSpPr>
            <p:cNvPr id="499736" name="Freeform 24">
              <a:extLst>
                <a:ext uri="{FF2B5EF4-FFF2-40B4-BE49-F238E27FC236}">
                  <a16:creationId xmlns:a16="http://schemas.microsoft.com/office/drawing/2014/main" id="{583D059C-DC7F-4E2C-AA85-8989FCA6DC17}"/>
                </a:ext>
              </a:extLst>
            </p:cNvPr>
            <p:cNvSpPr>
              <a:spLocks/>
            </p:cNvSpPr>
            <p:nvPr/>
          </p:nvSpPr>
          <p:spPr bwMode="auto">
            <a:xfrm rot="-10753787">
              <a:off x="1456" y="1386"/>
              <a:ext cx="1424" cy="1325"/>
            </a:xfrm>
            <a:custGeom>
              <a:avLst/>
              <a:gdLst>
                <a:gd name="T0" fmla="*/ 0 w 1680"/>
                <a:gd name="T1" fmla="*/ 350 h 1852"/>
                <a:gd name="T2" fmla="*/ 735 w 1680"/>
                <a:gd name="T3" fmla="*/ 350 h 1852"/>
                <a:gd name="T4" fmla="*/ 980 w 1680"/>
                <a:gd name="T5" fmla="*/ 140 h 1852"/>
                <a:gd name="T6" fmla="*/ 841 w 1680"/>
                <a:gd name="T7" fmla="*/ 0 h 1852"/>
                <a:gd name="T8" fmla="*/ 1330 w 1680"/>
                <a:gd name="T9" fmla="*/ 0 h 1852"/>
                <a:gd name="T10" fmla="*/ 1330 w 1680"/>
                <a:gd name="T11" fmla="*/ 488 h 1852"/>
                <a:gd name="T12" fmla="*/ 1191 w 1680"/>
                <a:gd name="T13" fmla="*/ 350 h 1852"/>
                <a:gd name="T14" fmla="*/ 980 w 1680"/>
                <a:gd name="T15" fmla="*/ 523 h 1852"/>
                <a:gd name="T16" fmla="*/ 980 w 1680"/>
                <a:gd name="T17" fmla="*/ 803 h 1852"/>
                <a:gd name="T18" fmla="*/ 1330 w 1680"/>
                <a:gd name="T19" fmla="*/ 803 h 1852"/>
                <a:gd name="T20" fmla="*/ 1330 w 1680"/>
                <a:gd name="T21" fmla="*/ 593 h 1852"/>
                <a:gd name="T22" fmla="*/ 1680 w 1680"/>
                <a:gd name="T23" fmla="*/ 944 h 1852"/>
                <a:gd name="T24" fmla="*/ 1330 w 1680"/>
                <a:gd name="T25" fmla="*/ 1294 h 1852"/>
                <a:gd name="T26" fmla="*/ 1330 w 1680"/>
                <a:gd name="T27" fmla="*/ 1083 h 1852"/>
                <a:gd name="T28" fmla="*/ 980 w 1680"/>
                <a:gd name="T29" fmla="*/ 1083 h 1852"/>
                <a:gd name="T30" fmla="*/ 980 w 1680"/>
                <a:gd name="T31" fmla="*/ 1329 h 1852"/>
                <a:gd name="T32" fmla="*/ 1191 w 1680"/>
                <a:gd name="T33" fmla="*/ 1537 h 1852"/>
                <a:gd name="T34" fmla="*/ 1330 w 1680"/>
                <a:gd name="T35" fmla="*/ 1397 h 1852"/>
                <a:gd name="T36" fmla="*/ 1330 w 1680"/>
                <a:gd name="T37" fmla="*/ 1852 h 1852"/>
                <a:gd name="T38" fmla="*/ 805 w 1680"/>
                <a:gd name="T39" fmla="*/ 1852 h 1852"/>
                <a:gd name="T40" fmla="*/ 980 w 1680"/>
                <a:gd name="T41" fmla="*/ 1712 h 1852"/>
                <a:gd name="T42" fmla="*/ 735 w 1680"/>
                <a:gd name="T43" fmla="*/ 1467 h 1852"/>
                <a:gd name="T44" fmla="*/ 0 w 1680"/>
                <a:gd name="T45" fmla="*/ 1467 h 1852"/>
                <a:gd name="T46" fmla="*/ 0 w 1680"/>
                <a:gd name="T47" fmla="*/ 35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0" h="1852">
                  <a:moveTo>
                    <a:pt x="0" y="350"/>
                  </a:moveTo>
                  <a:lnTo>
                    <a:pt x="735" y="350"/>
                  </a:lnTo>
                  <a:lnTo>
                    <a:pt x="980" y="140"/>
                  </a:lnTo>
                  <a:lnTo>
                    <a:pt x="841" y="0"/>
                  </a:lnTo>
                  <a:lnTo>
                    <a:pt x="1330" y="0"/>
                  </a:lnTo>
                  <a:lnTo>
                    <a:pt x="1330" y="488"/>
                  </a:lnTo>
                  <a:lnTo>
                    <a:pt x="1191" y="350"/>
                  </a:lnTo>
                  <a:lnTo>
                    <a:pt x="980" y="523"/>
                  </a:lnTo>
                  <a:lnTo>
                    <a:pt x="980" y="803"/>
                  </a:lnTo>
                  <a:lnTo>
                    <a:pt x="1330" y="803"/>
                  </a:lnTo>
                  <a:lnTo>
                    <a:pt x="1330" y="593"/>
                  </a:lnTo>
                  <a:lnTo>
                    <a:pt x="1680" y="944"/>
                  </a:lnTo>
                  <a:lnTo>
                    <a:pt x="1330" y="1294"/>
                  </a:lnTo>
                  <a:lnTo>
                    <a:pt x="1330" y="1083"/>
                  </a:lnTo>
                  <a:lnTo>
                    <a:pt x="980" y="1083"/>
                  </a:lnTo>
                  <a:lnTo>
                    <a:pt x="980" y="1329"/>
                  </a:lnTo>
                  <a:lnTo>
                    <a:pt x="1191" y="1537"/>
                  </a:lnTo>
                  <a:lnTo>
                    <a:pt x="1330" y="1397"/>
                  </a:lnTo>
                  <a:lnTo>
                    <a:pt x="1330" y="1852"/>
                  </a:lnTo>
                  <a:lnTo>
                    <a:pt x="805" y="1852"/>
                  </a:lnTo>
                  <a:lnTo>
                    <a:pt x="980" y="1712"/>
                  </a:lnTo>
                  <a:lnTo>
                    <a:pt x="735" y="1467"/>
                  </a:lnTo>
                  <a:lnTo>
                    <a:pt x="0" y="1467"/>
                  </a:lnTo>
                  <a:lnTo>
                    <a:pt x="0" y="350"/>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499737" name="Object 25">
              <a:extLst>
                <a:ext uri="{FF2B5EF4-FFF2-40B4-BE49-F238E27FC236}">
                  <a16:creationId xmlns:a16="http://schemas.microsoft.com/office/drawing/2014/main" id="{3F07FD67-5666-436D-BED9-9912B8ACA306}"/>
                </a:ext>
              </a:extLst>
            </p:cNvPr>
            <p:cNvGraphicFramePr>
              <a:graphicFrameLocks noChangeAspect="1"/>
            </p:cNvGraphicFramePr>
            <p:nvPr/>
          </p:nvGraphicFramePr>
          <p:xfrm>
            <a:off x="816" y="1632"/>
            <a:ext cx="495" cy="824"/>
          </p:xfrm>
          <a:graphic>
            <a:graphicData uri="http://schemas.openxmlformats.org/presentationml/2006/ole">
              <mc:AlternateContent xmlns:mc="http://schemas.openxmlformats.org/markup-compatibility/2006">
                <mc:Choice xmlns:v="urn:schemas-microsoft-com:vml" Requires="v">
                  <p:oleObj name="Clip" r:id="rId16" imgW="516240" imgH="1118880" progId="MS_ClipArt_Gallery.2">
                    <p:embed/>
                  </p:oleObj>
                </mc:Choice>
                <mc:Fallback>
                  <p:oleObj name="Clip" r:id="rId16" imgW="516240" imgH="1118880" progId="MS_ClipArt_Gallery.2">
                    <p:embed/>
                    <p:pic>
                      <p:nvPicPr>
                        <p:cNvPr id="499737" name="Object 25">
                          <a:extLst>
                            <a:ext uri="{FF2B5EF4-FFF2-40B4-BE49-F238E27FC236}">
                              <a16:creationId xmlns:a16="http://schemas.microsoft.com/office/drawing/2014/main" id="{3F07FD67-5666-436D-BED9-9912B8ACA30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 y="1632"/>
                          <a:ext cx="495" cy="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8" name="Object 26">
              <a:extLst>
                <a:ext uri="{FF2B5EF4-FFF2-40B4-BE49-F238E27FC236}">
                  <a16:creationId xmlns:a16="http://schemas.microsoft.com/office/drawing/2014/main" id="{22CACADF-6E2D-4BC1-BEAB-630BF37AC495}"/>
                </a:ext>
              </a:extLst>
            </p:cNvPr>
            <p:cNvGraphicFramePr>
              <a:graphicFrameLocks noChangeAspect="1"/>
            </p:cNvGraphicFramePr>
            <p:nvPr/>
          </p:nvGraphicFramePr>
          <p:xfrm>
            <a:off x="742" y="768"/>
            <a:ext cx="1034" cy="714"/>
          </p:xfrm>
          <a:graphic>
            <a:graphicData uri="http://schemas.openxmlformats.org/presentationml/2006/ole">
              <mc:AlternateContent xmlns:mc="http://schemas.openxmlformats.org/markup-compatibility/2006">
                <mc:Choice xmlns:v="urn:schemas-microsoft-com:vml" Requires="v">
                  <p:oleObj name="Clip" r:id="rId18" imgW="1761480" imgH="1584360" progId="MS_ClipArt_Gallery.2">
                    <p:embed/>
                  </p:oleObj>
                </mc:Choice>
                <mc:Fallback>
                  <p:oleObj name="Clip" r:id="rId18" imgW="1761480" imgH="1584360" progId="MS_ClipArt_Gallery.2">
                    <p:embed/>
                    <p:pic>
                      <p:nvPicPr>
                        <p:cNvPr id="499738" name="Object 26">
                          <a:extLst>
                            <a:ext uri="{FF2B5EF4-FFF2-40B4-BE49-F238E27FC236}">
                              <a16:creationId xmlns:a16="http://schemas.microsoft.com/office/drawing/2014/main" id="{22CACADF-6E2D-4BC1-BEAB-630BF37AC49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2" y="768"/>
                          <a:ext cx="1034" cy="7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9" name="Object 27">
              <a:extLst>
                <a:ext uri="{FF2B5EF4-FFF2-40B4-BE49-F238E27FC236}">
                  <a16:creationId xmlns:a16="http://schemas.microsoft.com/office/drawing/2014/main" id="{B3AEEF7D-169E-4683-B3CE-C6EF240750C7}"/>
                </a:ext>
              </a:extLst>
            </p:cNvPr>
            <p:cNvGraphicFramePr>
              <a:graphicFrameLocks noChangeAspect="1"/>
            </p:cNvGraphicFramePr>
            <p:nvPr/>
          </p:nvGraphicFramePr>
          <p:xfrm>
            <a:off x="912" y="2640"/>
            <a:ext cx="807" cy="1008"/>
          </p:xfrm>
          <a:graphic>
            <a:graphicData uri="http://schemas.openxmlformats.org/presentationml/2006/ole">
              <mc:AlternateContent xmlns:mc="http://schemas.openxmlformats.org/markup-compatibility/2006">
                <mc:Choice xmlns:v="urn:schemas-microsoft-com:vml" Requires="v">
                  <p:oleObj name="Clip" r:id="rId20" imgW="1646280" imgH="2308680" progId="MS_ClipArt_Gallery.2">
                    <p:embed/>
                  </p:oleObj>
                </mc:Choice>
                <mc:Fallback>
                  <p:oleObj name="Clip" r:id="rId20" imgW="1646280" imgH="2308680" progId="MS_ClipArt_Gallery.2">
                    <p:embed/>
                    <p:pic>
                      <p:nvPicPr>
                        <p:cNvPr id="499739" name="Object 27">
                          <a:extLst>
                            <a:ext uri="{FF2B5EF4-FFF2-40B4-BE49-F238E27FC236}">
                              <a16:creationId xmlns:a16="http://schemas.microsoft.com/office/drawing/2014/main" id="{B3AEEF7D-169E-4683-B3CE-C6EF240750C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12" y="2640"/>
                          <a:ext cx="807"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40" name="Rectangle 28">
              <a:extLst>
                <a:ext uri="{FF2B5EF4-FFF2-40B4-BE49-F238E27FC236}">
                  <a16:creationId xmlns:a16="http://schemas.microsoft.com/office/drawing/2014/main" id="{53A76F64-6951-4AD9-A890-140E9BA77685}"/>
                </a:ext>
              </a:extLst>
            </p:cNvPr>
            <p:cNvSpPr>
              <a:spLocks noChangeArrowheads="1"/>
            </p:cNvSpPr>
            <p:nvPr/>
          </p:nvSpPr>
          <p:spPr bwMode="auto">
            <a:xfrm>
              <a:off x="2064" y="1728"/>
              <a:ext cx="761" cy="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buSzPct val="85000"/>
                <a:buBlip>
                  <a:blip r:embed="rId22"/>
                </a:buBlip>
                <a:defRPr kumimoji="1" sz="3200">
                  <a:solidFill>
                    <a:schemeClr val="tx1"/>
                  </a:solidFill>
                  <a:latin typeface="Arial" panose="020B0604020202020204" pitchFamily="34" charset="0"/>
                  <a:ea typeface="宋体" panose="02010600030101010101" pitchFamily="2" charset="-122"/>
                </a:defRPr>
              </a:lvl1pPr>
              <a:lvl2pPr marL="742950" indent="-285750">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pPr>
                <a:lnSpc>
                  <a:spcPct val="80000"/>
                </a:lnSpc>
                <a:buFontTx/>
                <a:buNone/>
              </a:pPr>
              <a:r>
                <a:rPr lang="zh-CN" altLang="en-US" sz="1600" dirty="0"/>
                <a:t>甲方</a:t>
              </a:r>
            </a:p>
            <a:p>
              <a:pPr>
                <a:lnSpc>
                  <a:spcPct val="80000"/>
                </a:lnSpc>
                <a:buFontTx/>
                <a:buNone/>
              </a:pPr>
              <a:r>
                <a:rPr lang="zh-CN" altLang="en-US" sz="1600" dirty="0"/>
                <a:t>乙方</a:t>
              </a:r>
            </a:p>
            <a:p>
              <a:pPr>
                <a:lnSpc>
                  <a:spcPct val="80000"/>
                </a:lnSpc>
                <a:buFontTx/>
                <a:buNone/>
              </a:pPr>
              <a:r>
                <a:rPr lang="zh-CN" altLang="en-US" sz="1600" dirty="0"/>
                <a:t>监理</a:t>
              </a:r>
            </a:p>
            <a:p>
              <a:pPr>
                <a:lnSpc>
                  <a:spcPct val="80000"/>
                </a:lnSpc>
                <a:buFontTx/>
                <a:buNone/>
              </a:pPr>
              <a:r>
                <a:rPr lang="zh-CN" altLang="en-US" sz="1600" dirty="0"/>
                <a:t>设计单位</a:t>
              </a:r>
            </a:p>
          </p:txBody>
        </p:sp>
        <p:sp>
          <p:nvSpPr>
            <p:cNvPr id="499741" name="Freeform 29">
              <a:extLst>
                <a:ext uri="{FF2B5EF4-FFF2-40B4-BE49-F238E27FC236}">
                  <a16:creationId xmlns:a16="http://schemas.microsoft.com/office/drawing/2014/main" id="{2EB52307-464A-4A8C-ACD0-58AFE8704E9F}"/>
                </a:ext>
              </a:extLst>
            </p:cNvPr>
            <p:cNvSpPr>
              <a:spLocks/>
            </p:cNvSpPr>
            <p:nvPr/>
          </p:nvSpPr>
          <p:spPr bwMode="auto">
            <a:xfrm rot="-16237430">
              <a:off x="2890" y="2135"/>
              <a:ext cx="635" cy="1265"/>
            </a:xfrm>
            <a:custGeom>
              <a:avLst/>
              <a:gdLst>
                <a:gd name="T0" fmla="*/ 0 w 1680"/>
                <a:gd name="T1" fmla="*/ 350 h 1852"/>
                <a:gd name="T2" fmla="*/ 735 w 1680"/>
                <a:gd name="T3" fmla="*/ 350 h 1852"/>
                <a:gd name="T4" fmla="*/ 980 w 1680"/>
                <a:gd name="T5" fmla="*/ 140 h 1852"/>
                <a:gd name="T6" fmla="*/ 841 w 1680"/>
                <a:gd name="T7" fmla="*/ 0 h 1852"/>
                <a:gd name="T8" fmla="*/ 1330 w 1680"/>
                <a:gd name="T9" fmla="*/ 0 h 1852"/>
                <a:gd name="T10" fmla="*/ 1330 w 1680"/>
                <a:gd name="T11" fmla="*/ 488 h 1852"/>
                <a:gd name="T12" fmla="*/ 1191 w 1680"/>
                <a:gd name="T13" fmla="*/ 350 h 1852"/>
                <a:gd name="T14" fmla="*/ 980 w 1680"/>
                <a:gd name="T15" fmla="*/ 523 h 1852"/>
                <a:gd name="T16" fmla="*/ 980 w 1680"/>
                <a:gd name="T17" fmla="*/ 803 h 1852"/>
                <a:gd name="T18" fmla="*/ 1330 w 1680"/>
                <a:gd name="T19" fmla="*/ 803 h 1852"/>
                <a:gd name="T20" fmla="*/ 1330 w 1680"/>
                <a:gd name="T21" fmla="*/ 593 h 1852"/>
                <a:gd name="T22" fmla="*/ 1680 w 1680"/>
                <a:gd name="T23" fmla="*/ 944 h 1852"/>
                <a:gd name="T24" fmla="*/ 1330 w 1680"/>
                <a:gd name="T25" fmla="*/ 1294 h 1852"/>
                <a:gd name="T26" fmla="*/ 1330 w 1680"/>
                <a:gd name="T27" fmla="*/ 1083 h 1852"/>
                <a:gd name="T28" fmla="*/ 980 w 1680"/>
                <a:gd name="T29" fmla="*/ 1083 h 1852"/>
                <a:gd name="T30" fmla="*/ 980 w 1680"/>
                <a:gd name="T31" fmla="*/ 1329 h 1852"/>
                <a:gd name="T32" fmla="*/ 1191 w 1680"/>
                <a:gd name="T33" fmla="*/ 1537 h 1852"/>
                <a:gd name="T34" fmla="*/ 1330 w 1680"/>
                <a:gd name="T35" fmla="*/ 1397 h 1852"/>
                <a:gd name="T36" fmla="*/ 1330 w 1680"/>
                <a:gd name="T37" fmla="*/ 1852 h 1852"/>
                <a:gd name="T38" fmla="*/ 805 w 1680"/>
                <a:gd name="T39" fmla="*/ 1852 h 1852"/>
                <a:gd name="T40" fmla="*/ 980 w 1680"/>
                <a:gd name="T41" fmla="*/ 1712 h 1852"/>
                <a:gd name="T42" fmla="*/ 735 w 1680"/>
                <a:gd name="T43" fmla="*/ 1467 h 1852"/>
                <a:gd name="T44" fmla="*/ 0 w 1680"/>
                <a:gd name="T45" fmla="*/ 1467 h 1852"/>
                <a:gd name="T46" fmla="*/ 0 w 1680"/>
                <a:gd name="T47" fmla="*/ 350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0" h="1852">
                  <a:moveTo>
                    <a:pt x="0" y="350"/>
                  </a:moveTo>
                  <a:lnTo>
                    <a:pt x="735" y="350"/>
                  </a:lnTo>
                  <a:lnTo>
                    <a:pt x="980" y="140"/>
                  </a:lnTo>
                  <a:lnTo>
                    <a:pt x="841" y="0"/>
                  </a:lnTo>
                  <a:lnTo>
                    <a:pt x="1330" y="0"/>
                  </a:lnTo>
                  <a:lnTo>
                    <a:pt x="1330" y="488"/>
                  </a:lnTo>
                  <a:lnTo>
                    <a:pt x="1191" y="350"/>
                  </a:lnTo>
                  <a:lnTo>
                    <a:pt x="980" y="523"/>
                  </a:lnTo>
                  <a:lnTo>
                    <a:pt x="980" y="803"/>
                  </a:lnTo>
                  <a:lnTo>
                    <a:pt x="1330" y="803"/>
                  </a:lnTo>
                  <a:lnTo>
                    <a:pt x="1330" y="593"/>
                  </a:lnTo>
                  <a:lnTo>
                    <a:pt x="1680" y="944"/>
                  </a:lnTo>
                  <a:lnTo>
                    <a:pt x="1330" y="1294"/>
                  </a:lnTo>
                  <a:lnTo>
                    <a:pt x="1330" y="1083"/>
                  </a:lnTo>
                  <a:lnTo>
                    <a:pt x="980" y="1083"/>
                  </a:lnTo>
                  <a:lnTo>
                    <a:pt x="980" y="1329"/>
                  </a:lnTo>
                  <a:lnTo>
                    <a:pt x="1191" y="1537"/>
                  </a:lnTo>
                  <a:lnTo>
                    <a:pt x="1330" y="1397"/>
                  </a:lnTo>
                  <a:lnTo>
                    <a:pt x="1330" y="1852"/>
                  </a:lnTo>
                  <a:lnTo>
                    <a:pt x="805" y="1852"/>
                  </a:lnTo>
                  <a:lnTo>
                    <a:pt x="980" y="1712"/>
                  </a:lnTo>
                  <a:lnTo>
                    <a:pt x="735" y="1467"/>
                  </a:lnTo>
                  <a:lnTo>
                    <a:pt x="0" y="1467"/>
                  </a:lnTo>
                  <a:lnTo>
                    <a:pt x="0" y="350"/>
                  </a:lnTo>
                  <a:close/>
                </a:path>
              </a:pathLst>
            </a:custGeom>
            <a:solidFill>
              <a:srgbClr val="FF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aphicFrame>
          <p:nvGraphicFramePr>
            <p:cNvPr id="499742" name="Object 30">
              <a:extLst>
                <a:ext uri="{FF2B5EF4-FFF2-40B4-BE49-F238E27FC236}">
                  <a16:creationId xmlns:a16="http://schemas.microsoft.com/office/drawing/2014/main" id="{CBD666A4-8166-4088-8D3A-E066627218CC}"/>
                </a:ext>
              </a:extLst>
            </p:cNvPr>
            <p:cNvGraphicFramePr>
              <a:graphicFrameLocks noChangeAspect="1"/>
            </p:cNvGraphicFramePr>
            <p:nvPr/>
          </p:nvGraphicFramePr>
          <p:xfrm>
            <a:off x="1776" y="3050"/>
            <a:ext cx="612" cy="569"/>
          </p:xfrm>
          <a:graphic>
            <a:graphicData uri="http://schemas.openxmlformats.org/presentationml/2006/ole">
              <mc:AlternateContent xmlns:mc="http://schemas.openxmlformats.org/markup-compatibility/2006">
                <mc:Choice xmlns:v="urn:schemas-microsoft-com:vml" Requires="v">
                  <p:oleObj name="Clip" r:id="rId23" imgW="712440" imgH="720360" progId="MS_ClipArt_Gallery.2">
                    <p:embed/>
                  </p:oleObj>
                </mc:Choice>
                <mc:Fallback>
                  <p:oleObj name="Clip" r:id="rId23" imgW="712440" imgH="720360" progId="MS_ClipArt_Gallery.2">
                    <p:embed/>
                    <p:pic>
                      <p:nvPicPr>
                        <p:cNvPr id="499742" name="Object 30">
                          <a:extLst>
                            <a:ext uri="{FF2B5EF4-FFF2-40B4-BE49-F238E27FC236}">
                              <a16:creationId xmlns:a16="http://schemas.microsoft.com/office/drawing/2014/main" id="{CBD666A4-8166-4088-8D3A-E066627218C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76" y="3050"/>
                          <a:ext cx="612" cy="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3" name="Object 31">
              <a:extLst>
                <a:ext uri="{FF2B5EF4-FFF2-40B4-BE49-F238E27FC236}">
                  <a16:creationId xmlns:a16="http://schemas.microsoft.com/office/drawing/2014/main" id="{85A4B0DB-3885-44E8-BC09-0B68D52B89FD}"/>
                </a:ext>
              </a:extLst>
            </p:cNvPr>
            <p:cNvGraphicFramePr>
              <a:graphicFrameLocks noChangeAspect="1"/>
            </p:cNvGraphicFramePr>
            <p:nvPr/>
          </p:nvGraphicFramePr>
          <p:xfrm>
            <a:off x="2640" y="2970"/>
            <a:ext cx="624" cy="642"/>
          </p:xfrm>
          <a:graphic>
            <a:graphicData uri="http://schemas.openxmlformats.org/presentationml/2006/ole">
              <mc:AlternateContent xmlns:mc="http://schemas.openxmlformats.org/markup-compatibility/2006">
                <mc:Choice xmlns:v="urn:schemas-microsoft-com:vml" Requires="v">
                  <p:oleObj name="Clip" r:id="rId25" imgW="725040" imgH="813240" progId="MS_ClipArt_Gallery.2">
                    <p:embed/>
                  </p:oleObj>
                </mc:Choice>
                <mc:Fallback>
                  <p:oleObj name="Clip" r:id="rId25" imgW="725040" imgH="813240" progId="MS_ClipArt_Gallery.2">
                    <p:embed/>
                    <p:pic>
                      <p:nvPicPr>
                        <p:cNvPr id="499743" name="Object 31">
                          <a:extLst>
                            <a:ext uri="{FF2B5EF4-FFF2-40B4-BE49-F238E27FC236}">
                              <a16:creationId xmlns:a16="http://schemas.microsoft.com/office/drawing/2014/main" id="{85A4B0DB-3885-44E8-BC09-0B68D52B89F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40" y="2970"/>
                          <a:ext cx="624"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4" name="Object 32">
              <a:extLst>
                <a:ext uri="{FF2B5EF4-FFF2-40B4-BE49-F238E27FC236}">
                  <a16:creationId xmlns:a16="http://schemas.microsoft.com/office/drawing/2014/main" id="{E9538E63-091D-44AB-B078-2FAF9DFD38C4}"/>
                </a:ext>
              </a:extLst>
            </p:cNvPr>
            <p:cNvGraphicFramePr>
              <a:graphicFrameLocks noChangeAspect="1"/>
            </p:cNvGraphicFramePr>
            <p:nvPr/>
          </p:nvGraphicFramePr>
          <p:xfrm>
            <a:off x="3420" y="3050"/>
            <a:ext cx="660" cy="597"/>
          </p:xfrm>
          <a:graphic>
            <a:graphicData uri="http://schemas.openxmlformats.org/presentationml/2006/ole">
              <mc:AlternateContent xmlns:mc="http://schemas.openxmlformats.org/markup-compatibility/2006">
                <mc:Choice xmlns:v="urn:schemas-microsoft-com:vml" Requires="v">
                  <p:oleObj name="Clip" r:id="rId27" imgW="1152000" imgH="1134360" progId="MS_ClipArt_Gallery.2">
                    <p:embed/>
                  </p:oleObj>
                </mc:Choice>
                <mc:Fallback>
                  <p:oleObj name="Clip" r:id="rId27" imgW="1152000" imgH="1134360" progId="MS_ClipArt_Gallery.2">
                    <p:embed/>
                    <p:pic>
                      <p:nvPicPr>
                        <p:cNvPr id="499744" name="Object 32">
                          <a:extLst>
                            <a:ext uri="{FF2B5EF4-FFF2-40B4-BE49-F238E27FC236}">
                              <a16:creationId xmlns:a16="http://schemas.microsoft.com/office/drawing/2014/main" id="{E9538E63-091D-44AB-B078-2FAF9DFD38C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420" y="3050"/>
                          <a:ext cx="660" cy="5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45" name="Object 33">
              <a:extLst>
                <a:ext uri="{FF2B5EF4-FFF2-40B4-BE49-F238E27FC236}">
                  <a16:creationId xmlns:a16="http://schemas.microsoft.com/office/drawing/2014/main" id="{1643AF81-2DC8-49A2-912D-A160110A6D4B}"/>
                </a:ext>
              </a:extLst>
            </p:cNvPr>
            <p:cNvGraphicFramePr>
              <a:graphicFrameLocks noChangeAspect="1"/>
            </p:cNvGraphicFramePr>
            <p:nvPr/>
          </p:nvGraphicFramePr>
          <p:xfrm>
            <a:off x="4345" y="3010"/>
            <a:ext cx="647" cy="606"/>
          </p:xfrm>
          <a:graphic>
            <a:graphicData uri="http://schemas.openxmlformats.org/presentationml/2006/ole">
              <mc:AlternateContent xmlns:mc="http://schemas.openxmlformats.org/markup-compatibility/2006">
                <mc:Choice xmlns:v="urn:schemas-microsoft-com:vml" Requires="v">
                  <p:oleObj name="Clip" r:id="rId29" imgW="1129680" imgH="1151640" progId="MS_ClipArt_Gallery.2">
                    <p:embed/>
                  </p:oleObj>
                </mc:Choice>
                <mc:Fallback>
                  <p:oleObj name="Clip" r:id="rId29" imgW="1129680" imgH="1151640" progId="MS_ClipArt_Gallery.2">
                    <p:embed/>
                    <p:pic>
                      <p:nvPicPr>
                        <p:cNvPr id="499745" name="Object 33">
                          <a:extLst>
                            <a:ext uri="{FF2B5EF4-FFF2-40B4-BE49-F238E27FC236}">
                              <a16:creationId xmlns:a16="http://schemas.microsoft.com/office/drawing/2014/main" id="{1643AF81-2DC8-49A2-912D-A160110A6D4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45" y="3010"/>
                          <a:ext cx="647" cy="6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46" name="Rectangle 34">
              <a:extLst>
                <a:ext uri="{FF2B5EF4-FFF2-40B4-BE49-F238E27FC236}">
                  <a16:creationId xmlns:a16="http://schemas.microsoft.com/office/drawing/2014/main" id="{F038EE23-75A6-4F19-BC4E-EA4F80DCBED2}"/>
                </a:ext>
              </a:extLst>
            </p:cNvPr>
            <p:cNvSpPr>
              <a:spLocks noChangeArrowheads="1"/>
            </p:cNvSpPr>
            <p:nvPr/>
          </p:nvSpPr>
          <p:spPr bwMode="auto">
            <a:xfrm>
              <a:off x="2976" y="2488"/>
              <a:ext cx="5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0"/>
                </a:spcBef>
                <a:defRPr kumimoji="1" sz="2400">
                  <a:solidFill>
                    <a:schemeClr val="tx1"/>
                  </a:solidFill>
                  <a:latin typeface="Times New Roman" panose="02020603050405020304" pitchFamily="18" charset="0"/>
                  <a:ea typeface="宋体" panose="02010600030101010101" pitchFamily="2" charset="-122"/>
                </a:defRPr>
              </a:lvl4pPr>
              <a:lvl5pPr marL="2057400" indent="-228600">
                <a:spcBef>
                  <a:spcPct val="0"/>
                </a:spcBef>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00000"/>
                </a:lnSpc>
                <a:spcBef>
                  <a:spcPct val="20000"/>
                </a:spcBef>
                <a:buClr>
                  <a:schemeClr val="tx2"/>
                </a:buClr>
                <a:buSzTx/>
                <a:buFontTx/>
                <a:buNone/>
              </a:pPr>
              <a:r>
                <a:rPr kumimoji="0" lang="zh-CN" altLang="en-US" sz="1800"/>
                <a:t>下级</a:t>
              </a:r>
            </a:p>
          </p:txBody>
        </p:sp>
      </p:grpSp>
      <p:sp>
        <p:nvSpPr>
          <p:cNvPr id="499747" name="Line 35">
            <a:extLst>
              <a:ext uri="{FF2B5EF4-FFF2-40B4-BE49-F238E27FC236}">
                <a16:creationId xmlns:a16="http://schemas.microsoft.com/office/drawing/2014/main" id="{90027726-048E-4854-9F71-5A610F14DA81}"/>
              </a:ext>
            </a:extLst>
          </p:cNvPr>
          <p:cNvSpPr>
            <a:spLocks noChangeShapeType="1"/>
          </p:cNvSpPr>
          <p:nvPr/>
        </p:nvSpPr>
        <p:spPr bwMode="auto">
          <a:xfrm>
            <a:off x="3293818" y="1548114"/>
            <a:ext cx="8077200"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9748" name="Text Box 36">
            <a:extLst>
              <a:ext uri="{FF2B5EF4-FFF2-40B4-BE49-F238E27FC236}">
                <a16:creationId xmlns:a16="http://schemas.microsoft.com/office/drawing/2014/main" id="{CF9F50E2-A6F9-4074-8D0E-25BFA9836FC9}"/>
              </a:ext>
            </a:extLst>
          </p:cNvPr>
          <p:cNvSpPr txBox="1">
            <a:spLocks noChangeArrowheads="1"/>
          </p:cNvSpPr>
          <p:nvPr/>
        </p:nvSpPr>
        <p:spPr bwMode="auto">
          <a:xfrm>
            <a:off x="3285227" y="6056675"/>
            <a:ext cx="8235849" cy="476250"/>
          </a:xfrm>
          <a:prstGeom prst="rect">
            <a:avLst/>
          </a:prstGeom>
          <a:solidFill>
            <a:srgbClr val="66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lnSpc>
                <a:spcPct val="90000"/>
              </a:lnSpc>
              <a:spcBef>
                <a:spcPct val="30000"/>
              </a:spcBef>
              <a:buSzTx/>
              <a:buFontTx/>
              <a:buNone/>
            </a:pPr>
            <a:r>
              <a:rPr lang="zh-CN" altLang="en-US" sz="2800" dirty="0">
                <a:latin typeface="Times New Roman" panose="02020603050405020304" pitchFamily="18" charset="0"/>
              </a:rPr>
              <a:t>沟通能够促使项目组成员协调有效地工作。</a:t>
            </a:r>
          </a:p>
        </p:txBody>
      </p:sp>
      <p:sp>
        <p:nvSpPr>
          <p:cNvPr id="499751" name="Rectangle 39">
            <a:extLst>
              <a:ext uri="{FF2B5EF4-FFF2-40B4-BE49-F238E27FC236}">
                <a16:creationId xmlns:a16="http://schemas.microsoft.com/office/drawing/2014/main" id="{1749A60C-B102-4AE1-81FE-E6BD17244830}"/>
              </a:ext>
            </a:extLst>
          </p:cNvPr>
          <p:cNvSpPr>
            <a:spLocks noChangeArrowheads="1"/>
          </p:cNvSpPr>
          <p:nvPr/>
        </p:nvSpPr>
        <p:spPr bwMode="auto">
          <a:xfrm>
            <a:off x="897423" y="874065"/>
            <a:ext cx="5627559" cy="41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3600">
                <a:solidFill>
                  <a:schemeClr val="tx2"/>
                </a:solidFill>
                <a:latin typeface="Arial Black" panose="020B0A04020102020204" pitchFamily="34" charset="0"/>
                <a:ea typeface="宋体" panose="02010600030101010101" pitchFamily="2" charset="-122"/>
              </a:defRPr>
            </a:lvl1pPr>
            <a:lvl2pPr>
              <a:spcBef>
                <a:spcPct val="0"/>
              </a:spcBef>
              <a:defRPr kumimoji="1" sz="3600">
                <a:solidFill>
                  <a:schemeClr val="tx2"/>
                </a:solidFill>
                <a:latin typeface="Arial Black" panose="020B0A04020102020204" pitchFamily="34" charset="0"/>
                <a:ea typeface="宋体" panose="02010600030101010101" pitchFamily="2" charset="-122"/>
              </a:defRPr>
            </a:lvl2pPr>
            <a:lvl3pPr>
              <a:spcBef>
                <a:spcPct val="0"/>
              </a:spcBef>
              <a:defRPr kumimoji="1" sz="3600">
                <a:solidFill>
                  <a:schemeClr val="tx2"/>
                </a:solidFill>
                <a:latin typeface="Arial Black" panose="020B0A04020102020204" pitchFamily="34" charset="0"/>
                <a:ea typeface="宋体" panose="02010600030101010101" pitchFamily="2" charset="-122"/>
              </a:defRPr>
            </a:lvl3pPr>
            <a:lvl4pPr>
              <a:spcBef>
                <a:spcPct val="0"/>
              </a:spcBef>
              <a:defRPr kumimoji="1" sz="3600">
                <a:solidFill>
                  <a:schemeClr val="tx2"/>
                </a:solidFill>
                <a:latin typeface="Arial Black" panose="020B0A04020102020204" pitchFamily="34" charset="0"/>
                <a:ea typeface="宋体" panose="02010600030101010101" pitchFamily="2" charset="-122"/>
              </a:defRPr>
            </a:lvl4pPr>
            <a:lvl5pPr>
              <a:spcBef>
                <a:spcPct val="0"/>
              </a:spcBef>
              <a:defRPr kumimoji="1" sz="3600">
                <a:solidFill>
                  <a:schemeClr val="tx2"/>
                </a:solidFill>
                <a:latin typeface="Arial Black" panose="020B0A04020102020204" pitchFamily="34" charset="0"/>
                <a:ea typeface="宋体" panose="02010600030101010101" pitchFamily="2" charset="-122"/>
              </a:defRPr>
            </a:lvl5pPr>
            <a:lvl6pPr marL="4572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6pPr>
            <a:lvl7pPr marL="9144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7pPr>
            <a:lvl8pPr marL="13716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8pPr>
            <a:lvl9pPr marL="1828800"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9pPr>
          </a:lstStyle>
          <a:p>
            <a:pPr>
              <a:lnSpc>
                <a:spcPct val="100000"/>
              </a:lnSpc>
              <a:buSzTx/>
              <a:buFontTx/>
              <a:buNone/>
            </a:pPr>
            <a:r>
              <a:rPr lang="zh-CN" altLang="en-US" sz="2400" dirty="0">
                <a:solidFill>
                  <a:srgbClr val="663300"/>
                </a:solidFill>
              </a:rPr>
              <a:t>项目管理是一个协同的工作</a:t>
            </a:r>
          </a:p>
        </p:txBody>
      </p:sp>
      <p:sp>
        <p:nvSpPr>
          <p:cNvPr id="37" name="标题 2">
            <a:extLst>
              <a:ext uri="{FF2B5EF4-FFF2-40B4-BE49-F238E27FC236}">
                <a16:creationId xmlns:a16="http://schemas.microsoft.com/office/drawing/2014/main" id="{48CDA793-36F0-469E-852E-5DC0B02A37F6}"/>
              </a:ext>
            </a:extLst>
          </p:cNvPr>
          <p:cNvSpPr>
            <a:spLocks noGrp="1"/>
          </p:cNvSpPr>
          <p:nvPr>
            <p:ph type="title"/>
          </p:nvPr>
        </p:nvSpPr>
        <p:spPr>
          <a:xfrm>
            <a:off x="1997825" y="593679"/>
            <a:ext cx="8229600" cy="357925"/>
          </a:xfrm>
        </p:spPr>
        <p:txBody>
          <a:bodyPr/>
          <a:lstStyle/>
          <a:p>
            <a:r>
              <a:rPr lang="en-US" altLang="zh-CN" dirty="0"/>
              <a:t>16.1 </a:t>
            </a:r>
            <a:r>
              <a:rPr lang="zh-CN" altLang="en-US" dirty="0"/>
              <a:t>沟通与沟通管理</a:t>
            </a:r>
          </a:p>
        </p:txBody>
      </p:sp>
      <p:sp>
        <p:nvSpPr>
          <p:cNvPr id="39" name="文本框 38">
            <a:extLst>
              <a:ext uri="{FF2B5EF4-FFF2-40B4-BE49-F238E27FC236}">
                <a16:creationId xmlns:a16="http://schemas.microsoft.com/office/drawing/2014/main" id="{A8EB19E7-3C7E-EFF7-3578-39D684B12463}"/>
              </a:ext>
            </a:extLst>
          </p:cNvPr>
          <p:cNvSpPr txBox="1"/>
          <p:nvPr/>
        </p:nvSpPr>
        <p:spPr>
          <a:xfrm>
            <a:off x="562302" y="1739748"/>
            <a:ext cx="3148901" cy="4119782"/>
          </a:xfrm>
          <a:prstGeom prst="rect">
            <a:avLst/>
          </a:prstGeom>
          <a:noFill/>
        </p:spPr>
        <p:txBody>
          <a:bodyPr wrap="square">
            <a:spAutoFit/>
          </a:bodyPr>
          <a:lstStyle/>
          <a:p>
            <a:pPr marL="266400" marR="0" lvl="0" indent="-266400" algn="l" defTabSz="914400" rtl="0" eaLnBrk="1" fontAlgn="auto" latinLnBrk="0" hangingPunct="1">
              <a:lnSpc>
                <a:spcPct val="130000"/>
              </a:lnSpc>
              <a:spcBef>
                <a:spcPts val="720"/>
              </a:spcBef>
              <a:spcAft>
                <a:spcPts val="240"/>
              </a:spcAft>
              <a:buClrTx/>
              <a:buSzTx/>
              <a:buFont typeface="Wingdings" pitchFamily="2" charset="2"/>
              <a:buChar char=""/>
              <a:tabLst/>
              <a:defRPr/>
            </a:pPr>
            <a:r>
              <a:rPr kumimoji="0" lang="zh-CN" altLang="en-US" sz="22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沟通的必要性</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1. </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沟通是决策和计划基础</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2.</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沟通是组织和管理控制过程的手段</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3.</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沟通是建立和改善人际关系必不可少的条件</a:t>
            </a:r>
          </a:p>
          <a:p>
            <a:pPr marL="442800" marR="0" lvl="1" algn="l" defTabSz="914400" rtl="0" eaLnBrk="1" fontAlgn="auto" latinLnBrk="0" hangingPunct="1">
              <a:lnSpc>
                <a:spcPct val="130000"/>
              </a:lnSpc>
              <a:spcBef>
                <a:spcPts val="36"/>
              </a:spcBef>
              <a:spcAft>
                <a:spcPts val="12"/>
              </a:spcAft>
              <a:buClrTx/>
              <a:buSzTx/>
              <a:tabLst/>
              <a:defRPr/>
            </a:pPr>
            <a:r>
              <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4.</a:t>
            </a: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沟通是项目经理成功领导的必要手段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69AACF-4E16-457E-92DD-79D787C006A2}"/>
              </a:ext>
            </a:extLst>
          </p:cNvPr>
          <p:cNvSpPr>
            <a:spLocks noGrp="1"/>
          </p:cNvSpPr>
          <p:nvPr>
            <p:ph idx="1"/>
          </p:nvPr>
        </p:nvSpPr>
        <p:spPr/>
        <p:txBody>
          <a:bodyPr/>
          <a:lstStyle/>
          <a:p>
            <a:r>
              <a:rPr lang="zh-CN" altLang="en-US" sz="2000" dirty="0">
                <a:solidFill>
                  <a:srgbClr val="660033"/>
                </a:solidFill>
                <a:latin typeface="微软雅黑" panose="020B0503020204020204" pitchFamily="34" charset="-122"/>
              </a:rPr>
              <a:t>为什么要进行沟通管理？</a:t>
            </a:r>
          </a:p>
          <a:p>
            <a:pPr lvl="1"/>
            <a:r>
              <a:rPr lang="zh-CN" altLang="en-US" sz="1800" dirty="0"/>
              <a:t>如果沟通途径不对，信息就不能传递到目的接收者；</a:t>
            </a:r>
            <a:endParaRPr lang="en-US" altLang="zh-CN" sz="1800" dirty="0"/>
          </a:p>
          <a:p>
            <a:pPr lvl="1"/>
            <a:r>
              <a:rPr lang="zh-CN" altLang="en-US" sz="1800" dirty="0"/>
              <a:t>信息传递过程中容易受干扰或丢失；</a:t>
            </a:r>
            <a:endParaRPr lang="en-US" altLang="zh-CN" sz="1800" dirty="0"/>
          </a:p>
          <a:p>
            <a:pPr lvl="1"/>
            <a:r>
              <a:rPr lang="zh-CN" altLang="en-US" sz="1800" dirty="0"/>
              <a:t>信息传递的形式很多，但对信息的理解容易发生偏差；</a:t>
            </a:r>
            <a:endParaRPr lang="en-US" altLang="zh-CN" sz="1800" dirty="0"/>
          </a:p>
          <a:p>
            <a:pPr lvl="1"/>
            <a:r>
              <a:rPr lang="zh-CN" altLang="en-US" sz="1800" dirty="0"/>
              <a:t>沟通需要及时准确，使项目信息实时同步；</a:t>
            </a:r>
            <a:endParaRPr lang="en-US" altLang="zh-CN" sz="1800" dirty="0"/>
          </a:p>
          <a:p>
            <a:pPr lvl="1"/>
            <a:r>
              <a:rPr lang="zh-CN" altLang="en-US" sz="1800" dirty="0"/>
              <a:t>有效沟通能够增进了解，达成共同认识或共同协议，增强组织凝聚力；</a:t>
            </a:r>
            <a:endParaRPr lang="en-US" altLang="zh-CN" sz="1800" dirty="0"/>
          </a:p>
          <a:p>
            <a:pPr lvl="1"/>
            <a:r>
              <a:rPr lang="zh-CN" altLang="en-US" sz="1800" dirty="0"/>
              <a:t>有效沟通是消除误会、解决各种矛盾和冲突的最好办法；</a:t>
            </a:r>
            <a:endParaRPr lang="en-US" altLang="zh-CN" sz="1800" dirty="0"/>
          </a:p>
          <a:p>
            <a:pPr lvl="1"/>
            <a:r>
              <a:rPr lang="zh-CN" altLang="en-US" sz="1800" dirty="0"/>
              <a:t>有效沟通能够分享知识和经验，提高人员的技能。</a:t>
            </a:r>
            <a:endParaRPr lang="en-US" altLang="zh-CN" sz="1800" dirty="0"/>
          </a:p>
          <a:p>
            <a:r>
              <a:rPr lang="zh-CN" altLang="en-US" sz="2000" dirty="0">
                <a:solidFill>
                  <a:srgbClr val="660033"/>
                </a:solidFill>
                <a:latin typeface="微软雅黑" panose="020B0503020204020204" pitchFamily="34" charset="-122"/>
              </a:rPr>
              <a:t>项目沟通管理的目的</a:t>
            </a:r>
            <a:endParaRPr lang="ja-JP" altLang="en-US" sz="2000" dirty="0">
              <a:solidFill>
                <a:srgbClr val="660033"/>
              </a:solidFill>
              <a:latin typeface="微软雅黑" panose="020B0503020204020204" pitchFamily="34" charset="-122"/>
            </a:endParaRPr>
          </a:p>
          <a:p>
            <a:pPr lvl="1"/>
            <a:r>
              <a:rPr lang="zh-CN" altLang="en-US" sz="1800" dirty="0"/>
              <a:t>在项目生命周期，通过适当和及时地生成、采集、储存、处理和发布有关的项目信息，确保项目相关方能够在</a:t>
            </a:r>
            <a:r>
              <a:rPr lang="zh-CN" altLang="en-US" sz="1800" dirty="0">
                <a:solidFill>
                  <a:srgbClr val="0070C0"/>
                </a:solidFill>
              </a:rPr>
              <a:t>正确的时间</a:t>
            </a:r>
            <a:r>
              <a:rPr lang="zh-CN" altLang="en-US" sz="1800" dirty="0"/>
              <a:t>、</a:t>
            </a:r>
            <a:r>
              <a:rPr lang="zh-CN" altLang="en-US" sz="1800" dirty="0">
                <a:solidFill>
                  <a:srgbClr val="0070C0"/>
                </a:solidFill>
              </a:rPr>
              <a:t>正确的地点</a:t>
            </a:r>
            <a:r>
              <a:rPr lang="zh-CN" altLang="en-US" sz="1800" dirty="0"/>
              <a:t>、</a:t>
            </a:r>
            <a:r>
              <a:rPr lang="zh-CN" altLang="en-US" sz="1800" dirty="0">
                <a:solidFill>
                  <a:srgbClr val="0070C0"/>
                </a:solidFill>
              </a:rPr>
              <a:t>以正确的方式</a:t>
            </a:r>
            <a:r>
              <a:rPr lang="zh-CN" altLang="en-US" sz="1800" dirty="0"/>
              <a:t>，获得</a:t>
            </a:r>
            <a:r>
              <a:rPr lang="zh-CN" altLang="en-US" sz="1800" dirty="0">
                <a:solidFill>
                  <a:srgbClr val="0070C0"/>
                </a:solidFill>
              </a:rPr>
              <a:t>正确的信息</a:t>
            </a:r>
            <a:r>
              <a:rPr lang="zh-CN" altLang="en-US" sz="1800" dirty="0"/>
              <a:t>。</a:t>
            </a:r>
          </a:p>
          <a:p>
            <a:pPr lvl="1"/>
            <a:endParaRPr lang="en-US" altLang="zh-CN" sz="1800" dirty="0"/>
          </a:p>
        </p:txBody>
      </p:sp>
      <p:sp>
        <p:nvSpPr>
          <p:cNvPr id="4" name="标题 2">
            <a:extLst>
              <a:ext uri="{FF2B5EF4-FFF2-40B4-BE49-F238E27FC236}">
                <a16:creationId xmlns:a16="http://schemas.microsoft.com/office/drawing/2014/main" id="{1677646C-8E0E-477E-9DA7-C43AEAEBDB7C}"/>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18792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248BB4-3B78-4FEF-838B-C7F58D6D736C}"/>
              </a:ext>
            </a:extLst>
          </p:cNvPr>
          <p:cNvSpPr>
            <a:spLocks noGrp="1"/>
          </p:cNvSpPr>
          <p:nvPr>
            <p:ph idx="1"/>
          </p:nvPr>
        </p:nvSpPr>
        <p:spPr/>
        <p:txBody>
          <a:bodyPr/>
          <a:lstStyle/>
          <a:p>
            <a:r>
              <a:rPr lang="zh-CN" altLang="en-US" dirty="0"/>
              <a:t>项目经理在沟通中的中心角色</a:t>
            </a:r>
            <a:endParaRPr lang="en-US" altLang="zh-CN" dirty="0"/>
          </a:p>
          <a:p>
            <a:pPr lvl="1"/>
            <a:r>
              <a:rPr lang="zh-CN" altLang="en-US" dirty="0"/>
              <a:t>沟通促成者；协调者；领导者；沟通仲裁者；谈判者；聆听者；解释者 </a:t>
            </a:r>
            <a:endParaRPr lang="en-US" altLang="zh-CN" dirty="0"/>
          </a:p>
          <a:p>
            <a:pPr lvl="1"/>
            <a:endParaRPr lang="en-US" altLang="zh-CN" dirty="0"/>
          </a:p>
          <a:p>
            <a:pPr lvl="1"/>
            <a:r>
              <a:rPr lang="zh-CN" altLang="en-US" dirty="0"/>
              <a:t>项目经理的沟通时间</a:t>
            </a:r>
            <a:endParaRPr lang="en-US" altLang="zh-CN" dirty="0"/>
          </a:p>
          <a:p>
            <a:pPr lvl="2"/>
            <a:r>
              <a:rPr lang="zh-CN" altLang="en-US" dirty="0"/>
              <a:t>一般项目，项目经理</a:t>
            </a:r>
            <a:r>
              <a:rPr lang="en-US" altLang="zh-CN" dirty="0"/>
              <a:t>70~90%</a:t>
            </a:r>
            <a:r>
              <a:rPr lang="zh-CN" altLang="en-US" dirty="0"/>
              <a:t>的时间花在沟通上</a:t>
            </a:r>
          </a:p>
          <a:p>
            <a:pPr lvl="3"/>
            <a:r>
              <a:rPr lang="zh-CN" altLang="en-US" sz="1600" dirty="0"/>
              <a:t>大量的项目相关方、信息源、信息类型、信息渠道可能都需要通过项目经理而发生作用，项目经理必须保持沟通畅通，避免成为沟通瓶颈</a:t>
            </a:r>
            <a:endParaRPr lang="en-US" altLang="zh-CN" sz="1600" dirty="0"/>
          </a:p>
          <a:p>
            <a:pPr lvl="3"/>
            <a:r>
              <a:rPr lang="zh-CN" altLang="en-US" sz="1600" dirty="0"/>
              <a:t>及时发现并排除沟通障碍</a:t>
            </a:r>
          </a:p>
          <a:p>
            <a:pPr lvl="2"/>
            <a:r>
              <a:rPr lang="zh-CN" altLang="en-US" dirty="0"/>
              <a:t>项目经理必须懂得与下列几种人的沟通技巧：</a:t>
            </a:r>
          </a:p>
          <a:p>
            <a:pPr lvl="3"/>
            <a:r>
              <a:rPr lang="zh-CN" altLang="en-US" sz="1600" dirty="0"/>
              <a:t>组织内部的高层管理人员；项目团队成员；职能部门经理或构成竞争的其他项目团队；客户。</a:t>
            </a:r>
          </a:p>
          <a:p>
            <a:pPr lvl="2"/>
            <a:endParaRPr lang="en-US" altLang="zh-CN" dirty="0"/>
          </a:p>
          <a:p>
            <a:pPr lvl="1"/>
            <a:endParaRPr lang="zh-CN" altLang="en-US" dirty="0"/>
          </a:p>
        </p:txBody>
      </p:sp>
      <p:sp>
        <p:nvSpPr>
          <p:cNvPr id="3" name="标题 2">
            <a:extLst>
              <a:ext uri="{FF2B5EF4-FFF2-40B4-BE49-F238E27FC236}">
                <a16:creationId xmlns:a16="http://schemas.microsoft.com/office/drawing/2014/main" id="{D0601880-2FBE-46B1-962A-7388D37C6B79}"/>
              </a:ext>
            </a:extLst>
          </p:cNvPr>
          <p:cNvSpPr>
            <a:spLocks noGrp="1"/>
          </p:cNvSpPr>
          <p:nvPr>
            <p:ph type="title"/>
          </p:nvPr>
        </p:nvSpPr>
        <p:spPr/>
        <p:txBody>
          <a:bodyPr/>
          <a:lstStyle/>
          <a:p>
            <a:endParaRPr lang="zh-CN" altLang="en-US"/>
          </a:p>
        </p:txBody>
      </p:sp>
      <p:sp>
        <p:nvSpPr>
          <p:cNvPr id="5" name="文本框 4">
            <a:extLst>
              <a:ext uri="{FF2B5EF4-FFF2-40B4-BE49-F238E27FC236}">
                <a16:creationId xmlns:a16="http://schemas.microsoft.com/office/drawing/2014/main" id="{8F1C095C-6BBD-4F63-A566-E79DA7595373}"/>
              </a:ext>
            </a:extLst>
          </p:cNvPr>
          <p:cNvSpPr txBox="1"/>
          <p:nvPr/>
        </p:nvSpPr>
        <p:spPr>
          <a:xfrm>
            <a:off x="3921078" y="2689025"/>
            <a:ext cx="5588000" cy="400110"/>
          </a:xfrm>
          <a:prstGeom prst="rect">
            <a:avLst/>
          </a:prstGeom>
          <a:noFill/>
        </p:spPr>
        <p:txBody>
          <a:bodyPr wrap="square">
            <a:spAutoFit/>
          </a:bodyPr>
          <a:lstStyle/>
          <a:p>
            <a:pPr>
              <a:lnSpc>
                <a:spcPct val="100000"/>
              </a:lnSpc>
              <a:spcBef>
                <a:spcPct val="0"/>
              </a:spcBef>
              <a:buSzTx/>
              <a:buFontTx/>
              <a:buNone/>
            </a:pPr>
            <a:r>
              <a:rPr lang="zh-CN" altLang="en-US" sz="2000" b="1" dirty="0">
                <a:solidFill>
                  <a:schemeClr val="tx2"/>
                </a:solidFill>
                <a:latin typeface="微软雅黑" panose="020B0503020204020204" pitchFamily="34" charset="-122"/>
                <a:ea typeface="微软雅黑" panose="020B0503020204020204" pitchFamily="34" charset="-122"/>
              </a:rPr>
              <a:t>项目经理需要控制沟通，但不能控制所有信息</a:t>
            </a:r>
          </a:p>
        </p:txBody>
      </p:sp>
    </p:spTree>
    <p:extLst>
      <p:ext uri="{BB962C8B-B14F-4D97-AF65-F5344CB8AC3E}">
        <p14:creationId xmlns:p14="http://schemas.microsoft.com/office/powerpoint/2010/main" val="204694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descr="Large confetti">
            <a:extLst>
              <a:ext uri="{FF2B5EF4-FFF2-40B4-BE49-F238E27FC236}">
                <a16:creationId xmlns:a16="http://schemas.microsoft.com/office/drawing/2014/main" id="{900F53D8-9A06-4F2B-B56F-44C68AF9FD23}"/>
              </a:ext>
            </a:extLst>
          </p:cNvPr>
          <p:cNvSpPr>
            <a:spLocks noGrp="1" noChangeArrowheads="1"/>
          </p:cNvSpPr>
          <p:nvPr>
            <p:ph type="title"/>
          </p:nvPr>
        </p:nvSpPr>
        <p:spPr>
          <a:xfrm>
            <a:off x="1403684" y="1020229"/>
            <a:ext cx="3779240" cy="437186"/>
          </a:xfrm>
          <a:prstGeom prst="rect">
            <a:avLst/>
          </a:prstGeom>
        </p:spPr>
        <p:txBody>
          <a:bodyPr/>
          <a:lstStyle/>
          <a:p>
            <a:pPr eaLnBrk="1" hangingPunct="1"/>
            <a:r>
              <a:rPr lang="zh-CN" altLang="en-US" sz="2400" dirty="0">
                <a:latin typeface="微软雅黑" panose="020B0503020204020204" pitchFamily="34" charset="-122"/>
              </a:rPr>
              <a:t>项目沟通管理过程</a:t>
            </a:r>
          </a:p>
        </p:txBody>
      </p:sp>
      <p:sp>
        <p:nvSpPr>
          <p:cNvPr id="265219" name="Rectangle 3">
            <a:extLst>
              <a:ext uri="{FF2B5EF4-FFF2-40B4-BE49-F238E27FC236}">
                <a16:creationId xmlns:a16="http://schemas.microsoft.com/office/drawing/2014/main" id="{4B4522EB-9199-4488-8B37-E429BC779CCD}"/>
              </a:ext>
            </a:extLst>
          </p:cNvPr>
          <p:cNvSpPr>
            <a:spLocks noGrp="1" noChangeArrowheads="1"/>
          </p:cNvSpPr>
          <p:nvPr>
            <p:ph type="body" idx="1"/>
          </p:nvPr>
        </p:nvSpPr>
        <p:spPr>
          <a:xfrm>
            <a:off x="1059304" y="1484000"/>
            <a:ext cx="10073391" cy="4525962"/>
          </a:xfrm>
        </p:spPr>
        <p:txBody>
          <a:bodyPr/>
          <a:lstStyle/>
          <a:p>
            <a:r>
              <a:rPr lang="zh-CN" altLang="en-US" sz="2000" dirty="0">
                <a:latin typeface="微软雅黑" panose="020B0503020204020204" pitchFamily="34" charset="-122"/>
              </a:rPr>
              <a:t>项目沟通管理包括通过开发工件（</a:t>
            </a:r>
            <a:r>
              <a:rPr lang="en-US" altLang="zh-CN" sz="2000" dirty="0">
                <a:latin typeface="微软雅黑" panose="020B0503020204020204" pitchFamily="34" charset="-122"/>
              </a:rPr>
              <a:t> artifacts </a:t>
            </a:r>
            <a:r>
              <a:rPr lang="zh-CN" altLang="en-US" sz="2000" dirty="0">
                <a:latin typeface="微软雅黑" panose="020B0503020204020204" pitchFamily="34" charset="-122"/>
              </a:rPr>
              <a:t>），以及执行用于有效交换信息的各种活动，来确保项目及其相关方的信息需求得以满足的各个过程。</a:t>
            </a:r>
            <a:endParaRPr lang="en-US" altLang="zh-CN" sz="2000" dirty="0">
              <a:latin typeface="微软雅黑" panose="020B0503020204020204" pitchFamily="34" charset="-122"/>
            </a:endParaRPr>
          </a:p>
          <a:p>
            <a:pPr lvl="1" eaLnBrk="1" hangingPunct="1"/>
            <a:r>
              <a:rPr lang="en-US" altLang="zh-CN" dirty="0">
                <a:latin typeface="微软雅黑" panose="020B0503020204020204" pitchFamily="34" charset="-122"/>
              </a:rPr>
              <a:t>1 </a:t>
            </a:r>
            <a:r>
              <a:rPr lang="zh-CN" altLang="en-US" dirty="0">
                <a:latin typeface="微软雅黑" panose="020B0503020204020204" pitchFamily="34" charset="-122"/>
              </a:rPr>
              <a:t>规划沟通管理</a:t>
            </a:r>
            <a:endParaRPr lang="en-US" altLang="zh-CN" dirty="0">
              <a:latin typeface="微软雅黑" panose="020B0503020204020204" pitchFamily="34" charset="-122"/>
            </a:endParaRPr>
          </a:p>
          <a:p>
            <a:pPr lvl="2"/>
            <a:r>
              <a:rPr lang="zh-CN" altLang="en-US" sz="1600" dirty="0">
                <a:latin typeface="微软雅黑" panose="020B0503020204020204" pitchFamily="34" charset="-122"/>
              </a:rPr>
              <a:t>基于每个相关方或相关方群体的信息需求、可用的组织资产，以及具体项目的需求，为项目沟通活动制定恰当的方法和计划的过程</a:t>
            </a:r>
          </a:p>
          <a:p>
            <a:pPr lvl="1" eaLnBrk="1" hangingPunct="1"/>
            <a:r>
              <a:rPr lang="en-US" altLang="zh-CN" dirty="0">
                <a:latin typeface="微软雅黑" panose="020B0503020204020204" pitchFamily="34" charset="-122"/>
              </a:rPr>
              <a:t>2 </a:t>
            </a:r>
            <a:r>
              <a:rPr lang="zh-CN" altLang="en-US" dirty="0">
                <a:latin typeface="微软雅黑" panose="020B0503020204020204" pitchFamily="34" charset="-122"/>
              </a:rPr>
              <a:t>管理沟通 </a:t>
            </a:r>
            <a:endParaRPr lang="en-US" altLang="zh-CN" dirty="0">
              <a:latin typeface="微软雅黑" panose="020B0503020204020204" pitchFamily="34" charset="-122"/>
            </a:endParaRPr>
          </a:p>
          <a:p>
            <a:pPr lvl="2" eaLnBrk="1" hangingPunct="1"/>
            <a:r>
              <a:rPr lang="zh-CN" altLang="en-US" sz="1600" dirty="0">
                <a:latin typeface="微软雅黑" panose="020B0503020204020204" pitchFamily="34" charset="-122"/>
              </a:rPr>
              <a:t>确保项目信息及时且恰当地收集、生成、发布、存储、检索、管理、监督和最终处置的过程。</a:t>
            </a:r>
            <a:endParaRPr lang="en-US" altLang="zh-CN" sz="1600" dirty="0">
              <a:latin typeface="微软雅黑" panose="020B0503020204020204" pitchFamily="34" charset="-122"/>
            </a:endParaRPr>
          </a:p>
          <a:p>
            <a:pPr lvl="1" eaLnBrk="1" hangingPunct="1"/>
            <a:r>
              <a:rPr lang="en-US" altLang="zh-CN" dirty="0">
                <a:latin typeface="微软雅黑" panose="020B0503020204020204" pitchFamily="34" charset="-122"/>
              </a:rPr>
              <a:t>3 </a:t>
            </a:r>
            <a:r>
              <a:rPr lang="zh-CN" altLang="en-US" dirty="0">
                <a:latin typeface="微软雅黑" panose="020B0503020204020204" pitchFamily="34" charset="-122"/>
              </a:rPr>
              <a:t>监督沟通</a:t>
            </a:r>
            <a:endParaRPr lang="en-US" altLang="zh-CN" dirty="0">
              <a:latin typeface="微软雅黑" panose="020B0503020204020204" pitchFamily="34" charset="-122"/>
            </a:endParaRPr>
          </a:p>
          <a:p>
            <a:pPr lvl="2" eaLnBrk="1" hangingPunct="1"/>
            <a:r>
              <a:rPr lang="zh-CN" altLang="en-US" sz="1600" dirty="0">
                <a:latin typeface="微软雅黑" panose="020B0503020204020204" pitchFamily="34" charset="-122"/>
              </a:rPr>
              <a:t>确保满足项目及其相关方的信息需求的过程</a:t>
            </a:r>
          </a:p>
        </p:txBody>
      </p:sp>
      <p:sp>
        <p:nvSpPr>
          <p:cNvPr id="5" name="标题 2">
            <a:extLst>
              <a:ext uri="{FF2B5EF4-FFF2-40B4-BE49-F238E27FC236}">
                <a16:creationId xmlns:a16="http://schemas.microsoft.com/office/drawing/2014/main" id="{0ABEA790-9F9B-40E4-AD70-A96013E81FA2}"/>
              </a:ext>
            </a:extLst>
          </p:cNvPr>
          <p:cNvSpPr txBox="1">
            <a:spLocks/>
          </p:cNvSpPr>
          <p:nvPr/>
        </p:nvSpPr>
        <p:spPr>
          <a:xfrm>
            <a:off x="1981200" y="554690"/>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16.1 </a:t>
            </a:r>
            <a:r>
              <a:rPr lang="zh-CN" altLang="en-US" dirty="0"/>
              <a:t>沟通与沟通管理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5">
            <a:extLst>
              <a:ext uri="{FF2B5EF4-FFF2-40B4-BE49-F238E27FC236}">
                <a16:creationId xmlns:a16="http://schemas.microsoft.com/office/drawing/2014/main" id="{04B1729F-00B8-4490-BCAD-2C8EA54DA921}"/>
              </a:ext>
            </a:extLst>
          </p:cNvPr>
          <p:cNvSpPr>
            <a:spLocks noChangeArrowheads="1"/>
          </p:cNvSpPr>
          <p:nvPr/>
        </p:nvSpPr>
        <p:spPr bwMode="auto">
          <a:xfrm>
            <a:off x="5195231"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2" name="内容占位符 1">
            <a:extLst>
              <a:ext uri="{FF2B5EF4-FFF2-40B4-BE49-F238E27FC236}">
                <a16:creationId xmlns:a16="http://schemas.microsoft.com/office/drawing/2014/main" id="{3475A334-0D4E-4762-B8EA-7773F6416C21}"/>
              </a:ext>
            </a:extLst>
          </p:cNvPr>
          <p:cNvSpPr>
            <a:spLocks noGrp="1"/>
          </p:cNvSpPr>
          <p:nvPr>
            <p:ph idx="1"/>
          </p:nvPr>
        </p:nvSpPr>
        <p:spPr/>
        <p:txBody>
          <a:bodyPr/>
          <a:lstStyle/>
          <a:p>
            <a:r>
              <a:rPr lang="zh-CN" altLang="en-US" dirty="0"/>
              <a:t>项目沟通管理子过程</a:t>
            </a:r>
          </a:p>
          <a:p>
            <a:endParaRPr lang="zh-CN" altLang="en-US" dirty="0"/>
          </a:p>
        </p:txBody>
      </p:sp>
      <p:sp>
        <p:nvSpPr>
          <p:cNvPr id="4" name="AutoShape 4">
            <a:extLst>
              <a:ext uri="{FF2B5EF4-FFF2-40B4-BE49-F238E27FC236}">
                <a16:creationId xmlns:a16="http://schemas.microsoft.com/office/drawing/2014/main" id="{98364AF0-53BE-46E7-AC14-D6913D51DA6B}"/>
              </a:ext>
            </a:extLst>
          </p:cNvPr>
          <p:cNvSpPr>
            <a:spLocks noChangeArrowheads="1"/>
          </p:cNvSpPr>
          <p:nvPr/>
        </p:nvSpPr>
        <p:spPr bwMode="auto">
          <a:xfrm>
            <a:off x="7727590"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5" name="AutoShape 5">
            <a:extLst>
              <a:ext uri="{FF2B5EF4-FFF2-40B4-BE49-F238E27FC236}">
                <a16:creationId xmlns:a16="http://schemas.microsoft.com/office/drawing/2014/main" id="{46616D30-96FD-421D-A827-FE3302451166}"/>
              </a:ext>
            </a:extLst>
          </p:cNvPr>
          <p:cNvSpPr>
            <a:spLocks noChangeArrowheads="1"/>
          </p:cNvSpPr>
          <p:nvPr/>
        </p:nvSpPr>
        <p:spPr bwMode="auto">
          <a:xfrm>
            <a:off x="2711356" y="2680379"/>
            <a:ext cx="1897152"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6" name="AutoShape 6">
            <a:extLst>
              <a:ext uri="{FF2B5EF4-FFF2-40B4-BE49-F238E27FC236}">
                <a16:creationId xmlns:a16="http://schemas.microsoft.com/office/drawing/2014/main" id="{F3AA1941-B5A5-4E2F-B818-260FAA0C7140}"/>
              </a:ext>
            </a:extLst>
          </p:cNvPr>
          <p:cNvSpPr>
            <a:spLocks noChangeArrowheads="1"/>
          </p:cNvSpPr>
          <p:nvPr/>
        </p:nvSpPr>
        <p:spPr bwMode="auto">
          <a:xfrm>
            <a:off x="3177664" y="2939142"/>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规划沟通</a:t>
            </a:r>
            <a:endParaRPr lang="en-US" altLang="zh-CN" sz="1600" b="1" dirty="0">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管理</a:t>
            </a:r>
          </a:p>
        </p:txBody>
      </p:sp>
      <p:sp>
        <p:nvSpPr>
          <p:cNvPr id="7" name="AutoShape 7">
            <a:extLst>
              <a:ext uri="{FF2B5EF4-FFF2-40B4-BE49-F238E27FC236}">
                <a16:creationId xmlns:a16="http://schemas.microsoft.com/office/drawing/2014/main" id="{B0D5F592-5C9B-4E92-9E73-426189F66F06}"/>
              </a:ext>
            </a:extLst>
          </p:cNvPr>
          <p:cNvSpPr>
            <a:spLocks noChangeArrowheads="1"/>
          </p:cNvSpPr>
          <p:nvPr/>
        </p:nvSpPr>
        <p:spPr bwMode="auto">
          <a:xfrm>
            <a:off x="5659317" y="2933569"/>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a:solidFill>
                  <a:srgbClr val="000066"/>
                </a:solidFill>
                <a:latin typeface="Times New Roman" panose="02020603050405020304" pitchFamily="18" charset="0"/>
              </a:rPr>
              <a:t>管理沟通 </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25512B6B-EF9B-4867-8103-9AD886373156}"/>
              </a:ext>
            </a:extLst>
          </p:cNvPr>
          <p:cNvSpPr>
            <a:spLocks noChangeArrowheads="1"/>
          </p:cNvSpPr>
          <p:nvPr/>
        </p:nvSpPr>
        <p:spPr bwMode="auto">
          <a:xfrm>
            <a:off x="8149337" y="2933569"/>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监督沟通</a:t>
            </a:r>
          </a:p>
        </p:txBody>
      </p:sp>
      <p:sp>
        <p:nvSpPr>
          <p:cNvPr id="10" name="AutoShape 11">
            <a:extLst>
              <a:ext uri="{FF2B5EF4-FFF2-40B4-BE49-F238E27FC236}">
                <a16:creationId xmlns:a16="http://schemas.microsoft.com/office/drawing/2014/main" id="{91A55576-ADC5-442B-94FF-46082B164EAB}"/>
              </a:ext>
            </a:extLst>
          </p:cNvPr>
          <p:cNvSpPr>
            <a:spLocks noChangeArrowheads="1"/>
          </p:cNvSpPr>
          <p:nvPr/>
        </p:nvSpPr>
        <p:spPr bwMode="auto">
          <a:xfrm>
            <a:off x="4721053"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2" name="Group 15">
            <a:extLst>
              <a:ext uri="{FF2B5EF4-FFF2-40B4-BE49-F238E27FC236}">
                <a16:creationId xmlns:a16="http://schemas.microsoft.com/office/drawing/2014/main" id="{7DD933DC-1AAB-4593-BC3C-ECAA33119FEB}"/>
              </a:ext>
            </a:extLst>
          </p:cNvPr>
          <p:cNvGrpSpPr>
            <a:grpSpLocks/>
          </p:cNvGrpSpPr>
          <p:nvPr/>
        </p:nvGrpSpPr>
        <p:grpSpPr bwMode="auto">
          <a:xfrm>
            <a:off x="3101464" y="3747179"/>
            <a:ext cx="1219200" cy="2209800"/>
            <a:chOff x="816" y="3120"/>
            <a:chExt cx="1344" cy="960"/>
          </a:xfrm>
        </p:grpSpPr>
        <p:sp>
          <p:nvSpPr>
            <p:cNvPr id="13" name="Rectangle 16">
              <a:extLst>
                <a:ext uri="{FF2B5EF4-FFF2-40B4-BE49-F238E27FC236}">
                  <a16:creationId xmlns:a16="http://schemas.microsoft.com/office/drawing/2014/main" id="{06F5F9B2-5752-4430-97CF-499F5589EE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沟通管理计划</a:t>
              </a:r>
              <a:endParaRPr lang="en-US" altLang="zh-CN" sz="1400" b="1" kern="0" dirty="0">
                <a:solidFill>
                  <a:schemeClr val="tx2">
                    <a:lumMod val="50000"/>
                  </a:schemeClr>
                </a:solidFill>
              </a:endParaRPr>
            </a:p>
            <a:p>
              <a:pPr fontAlgn="base">
                <a:spcAft>
                  <a:spcPct val="0"/>
                </a:spcAft>
                <a:buClr>
                  <a:srgbClr val="FFFFFF"/>
                </a:buClr>
                <a:buSzPct val="75000"/>
                <a:buNone/>
              </a:pPr>
              <a:r>
                <a:rPr lang="zh-CN" altLang="en-US" sz="1400" b="1" kern="0" dirty="0">
                  <a:solidFill>
                    <a:schemeClr val="tx2">
                      <a:lumMod val="50000"/>
                    </a:schemeClr>
                  </a:solidFill>
                </a:rPr>
                <a:t>项目文件更新</a:t>
              </a:r>
            </a:p>
            <a:p>
              <a:pPr lvl="0" fontAlgn="base">
                <a:spcAft>
                  <a:spcPct val="0"/>
                </a:spcAft>
                <a:buClr>
                  <a:srgbClr val="FFFFFF"/>
                </a:buClr>
                <a:buSzPct val="75000"/>
                <a:buNone/>
              </a:pPr>
              <a:endParaRPr lang="ja-JP" altLang="en-US" sz="1400" kern="0" dirty="0">
                <a:solidFill>
                  <a:schemeClr val="tx2">
                    <a:lumMod val="50000"/>
                  </a:schemeClr>
                </a:solidFill>
              </a:endParaRPr>
            </a:p>
          </p:txBody>
        </p:sp>
        <p:sp>
          <p:nvSpPr>
            <p:cNvPr id="14" name="AutoShape 17">
              <a:extLst>
                <a:ext uri="{FF2B5EF4-FFF2-40B4-BE49-F238E27FC236}">
                  <a16:creationId xmlns:a16="http://schemas.microsoft.com/office/drawing/2014/main" id="{31A70979-FC03-49A5-BFB9-9E77FB6B3A3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5" name="Group 18">
            <a:extLst>
              <a:ext uri="{FF2B5EF4-FFF2-40B4-BE49-F238E27FC236}">
                <a16:creationId xmlns:a16="http://schemas.microsoft.com/office/drawing/2014/main" id="{9D0C95F3-DCF8-4E48-867E-E61036D88BCE}"/>
              </a:ext>
            </a:extLst>
          </p:cNvPr>
          <p:cNvGrpSpPr>
            <a:grpSpLocks/>
          </p:cNvGrpSpPr>
          <p:nvPr/>
        </p:nvGrpSpPr>
        <p:grpSpPr bwMode="auto">
          <a:xfrm>
            <a:off x="5506917" y="3741606"/>
            <a:ext cx="1371600" cy="2209800"/>
            <a:chOff x="816" y="3120"/>
            <a:chExt cx="1344" cy="960"/>
          </a:xfrm>
        </p:grpSpPr>
        <p:sp>
          <p:nvSpPr>
            <p:cNvPr id="16" name="Rectangle 19">
              <a:extLst>
                <a:ext uri="{FF2B5EF4-FFF2-40B4-BE49-F238E27FC236}">
                  <a16:creationId xmlns:a16="http://schemas.microsoft.com/office/drawing/2014/main" id="{1A181D8F-2B85-45D4-940B-CADBAF6FCF4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项目沟通记录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17" name="AutoShape 20">
              <a:extLst>
                <a:ext uri="{FF2B5EF4-FFF2-40B4-BE49-F238E27FC236}">
                  <a16:creationId xmlns:a16="http://schemas.microsoft.com/office/drawing/2014/main" id="{6CBE9799-3259-4102-B0B4-35B517AE5E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21" name="AutoShape 14">
            <a:extLst>
              <a:ext uri="{FF2B5EF4-FFF2-40B4-BE49-F238E27FC236}">
                <a16:creationId xmlns:a16="http://schemas.microsoft.com/office/drawing/2014/main" id="{D662EE77-066F-4CF7-871E-DAB9EDCFE6C1}"/>
              </a:ext>
            </a:extLst>
          </p:cNvPr>
          <p:cNvSpPr>
            <a:spLocks noChangeArrowheads="1"/>
          </p:cNvSpPr>
          <p:nvPr/>
        </p:nvSpPr>
        <p:spPr bwMode="auto">
          <a:xfrm>
            <a:off x="7237977" y="3168650"/>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2" name="Rectangle 28">
            <a:extLst>
              <a:ext uri="{FF2B5EF4-FFF2-40B4-BE49-F238E27FC236}">
                <a16:creationId xmlns:a16="http://schemas.microsoft.com/office/drawing/2014/main" id="{DBC4D32A-24DF-4DDE-8368-3CEB5FC34AB8}"/>
              </a:ext>
            </a:extLst>
          </p:cNvPr>
          <p:cNvSpPr>
            <a:spLocks noChangeArrowheads="1"/>
          </p:cNvSpPr>
          <p:nvPr/>
        </p:nvSpPr>
        <p:spPr bwMode="auto">
          <a:xfrm>
            <a:off x="7996330" y="4294056"/>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kern="0" dirty="0">
              <a:solidFill>
                <a:schemeClr val="tx2">
                  <a:lumMod val="50000"/>
                </a:schemeClr>
              </a:solidFill>
            </a:endParaRPr>
          </a:p>
        </p:txBody>
      </p:sp>
      <p:sp>
        <p:nvSpPr>
          <p:cNvPr id="23" name="AutoShape 29">
            <a:extLst>
              <a:ext uri="{FF2B5EF4-FFF2-40B4-BE49-F238E27FC236}">
                <a16:creationId xmlns:a16="http://schemas.microsoft.com/office/drawing/2014/main" id="{2107C068-44FF-4676-84AE-433355B69875}"/>
              </a:ext>
            </a:extLst>
          </p:cNvPr>
          <p:cNvSpPr>
            <a:spLocks noChangeArrowheads="1"/>
          </p:cNvSpPr>
          <p:nvPr/>
        </p:nvSpPr>
        <p:spPr bwMode="auto">
          <a:xfrm>
            <a:off x="8597767" y="3741606"/>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sp>
        <p:nvSpPr>
          <p:cNvPr id="24" name="矩形 23">
            <a:extLst>
              <a:ext uri="{FF2B5EF4-FFF2-40B4-BE49-F238E27FC236}">
                <a16:creationId xmlns:a16="http://schemas.microsoft.com/office/drawing/2014/main" id="{B9F855D3-E8D0-43C7-AAFE-0FB81DEEDCED}"/>
              </a:ext>
            </a:extLst>
          </p:cNvPr>
          <p:cNvSpPr/>
          <p:nvPr/>
        </p:nvSpPr>
        <p:spPr>
          <a:xfrm>
            <a:off x="2945993" y="2249512"/>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27" name="矩形 26">
            <a:extLst>
              <a:ext uri="{FF2B5EF4-FFF2-40B4-BE49-F238E27FC236}">
                <a16:creationId xmlns:a16="http://schemas.microsoft.com/office/drawing/2014/main" id="{ECC3F3DA-1162-4263-B077-6D81CEE20A3A}"/>
              </a:ext>
            </a:extLst>
          </p:cNvPr>
          <p:cNvSpPr/>
          <p:nvPr/>
        </p:nvSpPr>
        <p:spPr>
          <a:xfrm>
            <a:off x="5403434" y="2231992"/>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执行过程组</a:t>
            </a:r>
          </a:p>
        </p:txBody>
      </p:sp>
      <p:sp>
        <p:nvSpPr>
          <p:cNvPr id="28" name="矩形 27">
            <a:extLst>
              <a:ext uri="{FF2B5EF4-FFF2-40B4-BE49-F238E27FC236}">
                <a16:creationId xmlns:a16="http://schemas.microsoft.com/office/drawing/2014/main" id="{43AE63EF-5F7C-40BD-BEE0-0BEEDE294E5F}"/>
              </a:ext>
            </a:extLst>
          </p:cNvPr>
          <p:cNvSpPr/>
          <p:nvPr/>
        </p:nvSpPr>
        <p:spPr>
          <a:xfrm>
            <a:off x="7806227" y="2243939"/>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监控过程组</a:t>
            </a:r>
          </a:p>
        </p:txBody>
      </p:sp>
      <p:sp>
        <p:nvSpPr>
          <p:cNvPr id="25" name="标题 2">
            <a:extLst>
              <a:ext uri="{FF2B5EF4-FFF2-40B4-BE49-F238E27FC236}">
                <a16:creationId xmlns:a16="http://schemas.microsoft.com/office/drawing/2014/main" id="{2BBB2414-E045-4E60-8B59-675390316039}"/>
              </a:ext>
            </a:extLst>
          </p:cNvPr>
          <p:cNvSpPr>
            <a:spLocks noGrp="1"/>
          </p:cNvSpPr>
          <p:nvPr>
            <p:ph type="title"/>
          </p:nvPr>
        </p:nvSpPr>
        <p:spPr>
          <a:xfrm>
            <a:off x="1997075" y="593725"/>
            <a:ext cx="8229600" cy="357188"/>
          </a:xfrm>
        </p:spPr>
        <p:txBody>
          <a:bodyPr/>
          <a:lstStyle/>
          <a:p>
            <a:r>
              <a:rPr lang="en-US" altLang="zh-CN" dirty="0"/>
              <a:t>16.1 </a:t>
            </a:r>
            <a:r>
              <a:rPr lang="zh-CN" altLang="en-US" dirty="0"/>
              <a:t>沟通与沟通管理</a:t>
            </a:r>
          </a:p>
        </p:txBody>
      </p:sp>
    </p:spTree>
    <p:extLst>
      <p:ext uri="{BB962C8B-B14F-4D97-AF65-F5344CB8AC3E}">
        <p14:creationId xmlns:p14="http://schemas.microsoft.com/office/powerpoint/2010/main" val="272103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EA33F962-E6BD-4DA8-BBC6-3237EDA8891C}"/>
              </a:ext>
            </a:extLst>
          </p:cNvPr>
          <p:cNvSpPr>
            <a:spLocks noGrp="1"/>
          </p:cNvSpPr>
          <p:nvPr>
            <p:ph type="title"/>
          </p:nvPr>
        </p:nvSpPr>
        <p:spPr>
          <a:xfrm>
            <a:off x="1111626" y="801288"/>
            <a:ext cx="2837700" cy="378707"/>
          </a:xfrm>
          <a:prstGeom prst="rect">
            <a:avLst/>
          </a:prstGeom>
        </p:spPr>
        <p:txBody>
          <a:bodyPr/>
          <a:lstStyle/>
          <a:p>
            <a:pPr eaLnBrk="1" hangingPunct="1"/>
            <a:r>
              <a:rPr lang="zh-CN" altLang="en-US" dirty="0"/>
              <a:t>规划沟通管理</a:t>
            </a:r>
            <a:br>
              <a:rPr lang="zh-CN" altLang="en-US" dirty="0"/>
            </a:br>
            <a:endParaRPr lang="zh-CN" altLang="en-US" dirty="0"/>
          </a:p>
        </p:txBody>
      </p:sp>
      <p:grpSp>
        <p:nvGrpSpPr>
          <p:cNvPr id="2" name="组合 1">
            <a:extLst>
              <a:ext uri="{FF2B5EF4-FFF2-40B4-BE49-F238E27FC236}">
                <a16:creationId xmlns:a16="http://schemas.microsoft.com/office/drawing/2014/main" id="{74039F33-90BE-42C7-A43E-03820A79F08E}"/>
              </a:ext>
            </a:extLst>
          </p:cNvPr>
          <p:cNvGrpSpPr/>
          <p:nvPr/>
        </p:nvGrpSpPr>
        <p:grpSpPr>
          <a:xfrm>
            <a:off x="2133601" y="2958107"/>
            <a:ext cx="8353425" cy="3510934"/>
            <a:chOff x="609600" y="2835275"/>
            <a:chExt cx="8353425" cy="3510934"/>
          </a:xfrm>
        </p:grpSpPr>
        <p:sp>
          <p:nvSpPr>
            <p:cNvPr id="13315" name="AutoShape 5">
              <a:extLst>
                <a:ext uri="{FF2B5EF4-FFF2-40B4-BE49-F238E27FC236}">
                  <a16:creationId xmlns:a16="http://schemas.microsoft.com/office/drawing/2014/main" id="{6E59D268-23A7-4BA5-B76A-D685A452EFE9}"/>
                </a:ext>
              </a:extLst>
            </p:cNvPr>
            <p:cNvSpPr>
              <a:spLocks noChangeArrowheads="1"/>
            </p:cNvSpPr>
            <p:nvPr/>
          </p:nvSpPr>
          <p:spPr bwMode="auto">
            <a:xfrm>
              <a:off x="609600" y="359092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5" name="Rectangle 6">
              <a:extLst>
                <a:ext uri="{FF2B5EF4-FFF2-40B4-BE49-F238E27FC236}">
                  <a16:creationId xmlns:a16="http://schemas.microsoft.com/office/drawing/2014/main" id="{BFAF45E4-C2C0-4A4B-BC6D-434D4632BA5C}"/>
                </a:ext>
              </a:extLst>
            </p:cNvPr>
            <p:cNvSpPr>
              <a:spLocks noChangeArrowheads="1"/>
            </p:cNvSpPr>
            <p:nvPr/>
          </p:nvSpPr>
          <p:spPr bwMode="auto">
            <a:xfrm>
              <a:off x="10064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3317" name="Rectangle 7">
              <a:extLst>
                <a:ext uri="{FF2B5EF4-FFF2-40B4-BE49-F238E27FC236}">
                  <a16:creationId xmlns:a16="http://schemas.microsoft.com/office/drawing/2014/main" id="{B016D814-5D01-4BFB-A405-2D7D87CBDB64}"/>
                </a:ext>
              </a:extLst>
            </p:cNvPr>
            <p:cNvSpPr>
              <a:spLocks noChangeArrowheads="1"/>
            </p:cNvSpPr>
            <p:nvPr/>
          </p:nvSpPr>
          <p:spPr bwMode="auto">
            <a:xfrm>
              <a:off x="1006475" y="3267075"/>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项目章程</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需求文件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事业环境因素</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组织过程资产</a:t>
              </a:r>
              <a:endParaRPr lang="en-US" altLang="zh-CN" sz="1600" b="0" dirty="0">
                <a:latin typeface="微软雅黑" panose="020B0503020204020204" pitchFamily="34" charset="-122"/>
                <a:ea typeface="微软雅黑" panose="020B0503020204020204" pitchFamily="34" charset="-122"/>
              </a:endParaRPr>
            </a:p>
          </p:txBody>
        </p:sp>
        <p:sp>
          <p:nvSpPr>
            <p:cNvPr id="7" name="Rectangle 8">
              <a:extLst>
                <a:ext uri="{FF2B5EF4-FFF2-40B4-BE49-F238E27FC236}">
                  <a16:creationId xmlns:a16="http://schemas.microsoft.com/office/drawing/2014/main" id="{7F6A9985-300B-4C90-83FC-5967E40471B0}"/>
                </a:ext>
              </a:extLst>
            </p:cNvPr>
            <p:cNvSpPr>
              <a:spLocks noChangeArrowheads="1"/>
            </p:cNvSpPr>
            <p:nvPr/>
          </p:nvSpPr>
          <p:spPr bwMode="auto">
            <a:xfrm>
              <a:off x="34544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3319" name="Rectangle 9">
              <a:extLst>
                <a:ext uri="{FF2B5EF4-FFF2-40B4-BE49-F238E27FC236}">
                  <a16:creationId xmlns:a16="http://schemas.microsoft.com/office/drawing/2014/main" id="{28CB84EE-6A7B-4B09-8A73-19ED7289DFD4}"/>
                </a:ext>
              </a:extLst>
            </p:cNvPr>
            <p:cNvSpPr>
              <a:spLocks noChangeArrowheads="1"/>
            </p:cNvSpPr>
            <p:nvPr/>
          </p:nvSpPr>
          <p:spPr bwMode="auto">
            <a:xfrm>
              <a:off x="3454400" y="3267075"/>
              <a:ext cx="2305050" cy="3079134"/>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专家判断</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沟通需求分析</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沟通技术</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沟通模型</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沟通方法</a:t>
              </a:r>
            </a:p>
            <a:p>
              <a:pPr eaLnBrk="1" hangingPunct="1"/>
              <a:r>
                <a:rPr lang="en-US" altLang="zh-CN" sz="1600" b="0" dirty="0">
                  <a:latin typeface="微软雅黑" panose="020B0503020204020204" pitchFamily="34" charset="-122"/>
                  <a:ea typeface="微软雅黑" panose="020B0503020204020204" pitchFamily="34" charset="-122"/>
                </a:rPr>
                <a:t>6</a:t>
              </a:r>
              <a:r>
                <a:rPr lang="zh-CN" altLang="en-US" sz="1600" b="0" dirty="0">
                  <a:latin typeface="微软雅黑" panose="020B0503020204020204" pitchFamily="34" charset="-122"/>
                  <a:ea typeface="微软雅黑" panose="020B0503020204020204" pitchFamily="34" charset="-122"/>
                </a:rPr>
                <a:t>人际关系与团队技能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沟通风格评估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政治意识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文化意识</a:t>
              </a:r>
            </a:p>
            <a:p>
              <a:pPr eaLnBrk="1" hangingPunct="1"/>
              <a:r>
                <a:rPr lang="en-US" altLang="zh-CN" sz="1600" b="0" dirty="0">
                  <a:latin typeface="微软雅黑" panose="020B0503020204020204" pitchFamily="34" charset="-122"/>
                  <a:ea typeface="微软雅黑" panose="020B0503020204020204" pitchFamily="34" charset="-122"/>
                </a:rPr>
                <a:t>7</a:t>
              </a:r>
              <a:r>
                <a:rPr lang="zh-CN" altLang="en-US" sz="1600" b="0" dirty="0">
                  <a:latin typeface="微软雅黑" panose="020B0503020204020204" pitchFamily="34" charset="-122"/>
                  <a:ea typeface="微软雅黑" panose="020B0503020204020204" pitchFamily="34" charset="-122"/>
                </a:rPr>
                <a:t>数据表现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相关方参与度评估矩阵</a:t>
              </a:r>
            </a:p>
            <a:p>
              <a:pPr eaLnBrk="1" hangingPunct="1"/>
              <a:r>
                <a:rPr lang="en-US" altLang="zh-CN" sz="1600" b="0" dirty="0">
                  <a:latin typeface="微软雅黑" panose="020B0503020204020204" pitchFamily="34" charset="-122"/>
                  <a:ea typeface="微软雅黑" panose="020B0503020204020204" pitchFamily="34" charset="-122"/>
                </a:rPr>
                <a:t>8</a:t>
              </a:r>
              <a:r>
                <a:rPr lang="zh-CN" altLang="en-US" sz="1600" b="0" dirty="0">
                  <a:latin typeface="微软雅黑" panose="020B0503020204020204" pitchFamily="34" charset="-122"/>
                  <a:ea typeface="微软雅黑" panose="020B0503020204020204" pitchFamily="34" charset="-122"/>
                </a:rPr>
                <a:t>会议</a:t>
              </a:r>
              <a:endParaRPr lang="en-US" altLang="zh-CN" sz="1600" b="0" dirty="0">
                <a:latin typeface="微软雅黑" panose="020B0503020204020204" pitchFamily="34" charset="-122"/>
                <a:ea typeface="微软雅黑" panose="020B0503020204020204" pitchFamily="34" charset="-122"/>
              </a:endParaRPr>
            </a:p>
          </p:txBody>
        </p:sp>
        <p:sp>
          <p:nvSpPr>
            <p:cNvPr id="9" name="Rectangle 10">
              <a:extLst>
                <a:ext uri="{FF2B5EF4-FFF2-40B4-BE49-F238E27FC236}">
                  <a16:creationId xmlns:a16="http://schemas.microsoft.com/office/drawing/2014/main" id="{0DD9EDE3-1760-443F-AA3D-899CB4EB366F}"/>
                </a:ext>
              </a:extLst>
            </p:cNvPr>
            <p:cNvSpPr>
              <a:spLocks noChangeArrowheads="1"/>
            </p:cNvSpPr>
            <p:nvPr/>
          </p:nvSpPr>
          <p:spPr bwMode="auto">
            <a:xfrm>
              <a:off x="59023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3321" name="Rectangle 11">
              <a:extLst>
                <a:ext uri="{FF2B5EF4-FFF2-40B4-BE49-F238E27FC236}">
                  <a16:creationId xmlns:a16="http://schemas.microsoft.com/office/drawing/2014/main" id="{25DBC3E9-AB3F-4D69-A4CE-7934E2CF6304}"/>
                </a:ext>
              </a:extLst>
            </p:cNvPr>
            <p:cNvSpPr>
              <a:spLocks noChangeArrowheads="1"/>
            </p:cNvSpPr>
            <p:nvPr/>
          </p:nvSpPr>
          <p:spPr bwMode="auto">
            <a:xfrm>
              <a:off x="5902325" y="3267075"/>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项目进度计划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p:txBody>
        </p:sp>
      </p:grpSp>
      <p:sp>
        <p:nvSpPr>
          <p:cNvPr id="10250" name="Rectangle 12">
            <a:extLst>
              <a:ext uri="{FF2B5EF4-FFF2-40B4-BE49-F238E27FC236}">
                <a16:creationId xmlns:a16="http://schemas.microsoft.com/office/drawing/2014/main" id="{89EBDA5F-C37C-4682-B71E-7A10E83028AB}"/>
              </a:ext>
            </a:extLst>
          </p:cNvPr>
          <p:cNvSpPr>
            <a:spLocks noChangeArrowheads="1"/>
          </p:cNvSpPr>
          <p:nvPr/>
        </p:nvSpPr>
        <p:spPr bwMode="auto">
          <a:xfrm>
            <a:off x="839449" y="1143403"/>
            <a:ext cx="10508105" cy="1563248"/>
          </a:xfrm>
          <a:prstGeom prst="rect">
            <a:avLst/>
          </a:prstGeom>
          <a:noFill/>
          <a:ln w="9525">
            <a:noFill/>
            <a:miter lim="800000"/>
            <a:headEnd/>
            <a:tailEnd/>
          </a:ln>
        </p:spPr>
        <p:txBody>
          <a:bodyPr wrap="square">
            <a:spAutoFit/>
          </a:bodyPr>
          <a:lstStyle/>
          <a:p>
            <a:pPr marL="342900"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规划沟通管理是基于每个相关方或相关方群体的信息需求、可用的组织资产，以及具体项目的需求，为项目沟通活动制定恰当的方法和计划的过程</a:t>
            </a:r>
            <a:endParaRPr lang="en-US" altLang="zh-CN" b="1" dirty="0">
              <a:latin typeface="微软雅黑" panose="020B0503020204020204" pitchFamily="34" charset="-122"/>
              <a:ea typeface="微软雅黑" panose="020B0503020204020204" pitchFamily="34" charset="-122"/>
            </a:endParaRPr>
          </a:p>
          <a:p>
            <a:pPr marL="800100" lvl="1"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主要作用是，为及时向相关方提供相关信息，引导相关方有效参与项目，而编制书面沟通计划</a:t>
            </a:r>
            <a:endParaRPr lang="en-US" altLang="zh-CN" b="1" dirty="0">
              <a:latin typeface="微软雅黑" panose="020B0503020204020204" pitchFamily="34" charset="-122"/>
              <a:ea typeface="微软雅黑" panose="020B0503020204020204" pitchFamily="34" charset="-122"/>
            </a:endParaRPr>
          </a:p>
          <a:p>
            <a:pPr marL="800100" lvl="1" indent="-342900" eaLnBrk="0" hangingPunct="0">
              <a:lnSpc>
                <a:spcPct val="125000"/>
              </a:lnSpc>
              <a:spcBef>
                <a:spcPct val="20000"/>
              </a:spcBef>
              <a:buClr>
                <a:schemeClr val="hlink"/>
              </a:buClr>
              <a:buFont typeface="Wingdings" pitchFamily="2" charset="2"/>
              <a:buChar char="v"/>
              <a:defRPr/>
            </a:pPr>
            <a:r>
              <a:rPr lang="zh-CN" altLang="en-US" b="1" dirty="0">
                <a:latin typeface="微软雅黑" panose="020B0503020204020204" pitchFamily="34" charset="-122"/>
                <a:ea typeface="微软雅黑" panose="020B0503020204020204" pitchFamily="34" charset="-122"/>
              </a:rPr>
              <a:t>本过程应根据需要在整个项目期间定期开展</a:t>
            </a:r>
            <a:endParaRPr lang="en-US" altLang="zh-CN" b="1" dirty="0">
              <a:latin typeface="微软雅黑" panose="020B0503020204020204" pitchFamily="34" charset="-122"/>
              <a:ea typeface="微软雅黑" panose="020B0503020204020204" pitchFamily="34" charset="-122"/>
            </a:endParaRPr>
          </a:p>
        </p:txBody>
      </p:sp>
      <p:sp>
        <p:nvSpPr>
          <p:cNvPr id="11" name="标题 2">
            <a:extLst>
              <a:ext uri="{FF2B5EF4-FFF2-40B4-BE49-F238E27FC236}">
                <a16:creationId xmlns:a16="http://schemas.microsoft.com/office/drawing/2014/main" id="{51DCCCA7-3510-44E7-8A82-51C759CCB60E}"/>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6CD558A-08FA-417E-8C7D-C2404EBD3E9F}"/>
              </a:ext>
            </a:extLst>
          </p:cNvPr>
          <p:cNvSpPr>
            <a:spLocks noGrp="1"/>
          </p:cNvSpPr>
          <p:nvPr>
            <p:ph idx="1"/>
          </p:nvPr>
        </p:nvSpPr>
        <p:spPr>
          <a:xfrm>
            <a:off x="719529" y="950914"/>
            <a:ext cx="10672996" cy="5133791"/>
          </a:xfrm>
        </p:spPr>
        <p:txBody>
          <a:bodyPr/>
          <a:lstStyle/>
          <a:p>
            <a:pPr>
              <a:lnSpc>
                <a:spcPct val="130000"/>
              </a:lnSpc>
            </a:pPr>
            <a:r>
              <a:rPr lang="zh-CN" altLang="en-US" sz="2000" dirty="0">
                <a:solidFill>
                  <a:schemeClr val="tx2"/>
                </a:solidFill>
              </a:rPr>
              <a:t>规划沟通管理的输入</a:t>
            </a:r>
            <a:endParaRPr lang="en-US" altLang="zh-CN" sz="2000" dirty="0">
              <a:solidFill>
                <a:schemeClr val="tx2"/>
              </a:solidFill>
            </a:endParaRPr>
          </a:p>
          <a:p>
            <a:pPr lvl="1">
              <a:lnSpc>
                <a:spcPct val="130000"/>
              </a:lnSpc>
            </a:pPr>
            <a:r>
              <a:rPr lang="zh-CN" altLang="en-US" sz="1800" dirty="0"/>
              <a:t>项目章程</a:t>
            </a:r>
            <a:r>
              <a:rPr lang="zh-CN" altLang="en-US" sz="1800" b="0" dirty="0"/>
              <a:t>会列出主要相关方清单</a:t>
            </a:r>
            <a:r>
              <a:rPr lang="zh-CN" altLang="en-US" sz="1800" dirty="0"/>
              <a:t>；</a:t>
            </a:r>
            <a:endParaRPr lang="en-US" altLang="zh-CN" sz="1800" dirty="0"/>
          </a:p>
          <a:p>
            <a:pPr lvl="1">
              <a:lnSpc>
                <a:spcPct val="130000"/>
              </a:lnSpc>
            </a:pPr>
            <a:r>
              <a:rPr lang="zh-CN" altLang="en-US" sz="1800" dirty="0"/>
              <a:t>项目管理计划</a:t>
            </a:r>
            <a:endParaRPr lang="en-US" altLang="zh-CN" sz="1800" dirty="0"/>
          </a:p>
          <a:p>
            <a:pPr lvl="2">
              <a:lnSpc>
                <a:spcPct val="130000"/>
              </a:lnSpc>
            </a:pPr>
            <a:r>
              <a:rPr lang="zh-CN" altLang="en-US" sz="1600" dirty="0">
                <a:latin typeface="SourceHanSansSC-Bold"/>
              </a:rPr>
              <a:t>资源管理计划。</a:t>
            </a:r>
            <a:r>
              <a:rPr lang="zh-CN" altLang="en-US" sz="1600" b="0" dirty="0">
                <a:latin typeface="SourceHanSansSC-Regular"/>
              </a:rPr>
              <a:t>指导如何对项目资源进行分类、分配、管理和释放</a:t>
            </a:r>
            <a:endParaRPr lang="en-US" altLang="zh-CN" sz="1600" b="0" dirty="0">
              <a:latin typeface="SourceHanSansSC-Regular"/>
            </a:endParaRPr>
          </a:p>
          <a:p>
            <a:pPr lvl="2">
              <a:lnSpc>
                <a:spcPct val="130000"/>
              </a:lnSpc>
            </a:pPr>
            <a:r>
              <a:rPr lang="zh-CN" altLang="en-US" sz="1600" dirty="0">
                <a:latin typeface="SourceHanSansSC-Bold"/>
              </a:rPr>
              <a:t>相关方参与计划。</a:t>
            </a:r>
            <a:r>
              <a:rPr lang="zh-CN" altLang="en-US" sz="1600" b="0" dirty="0">
                <a:latin typeface="SourceHanSansSC-Regular"/>
              </a:rPr>
              <a:t>相关方参与计划确定了有效吸引相关方参与所需的管理策略，而这些策略通常通过沟通来落实。</a:t>
            </a:r>
            <a:endParaRPr lang="en-US" altLang="zh-CN" sz="1600" b="0" dirty="0">
              <a:latin typeface="SourceHanSansSC-Regular"/>
            </a:endParaRPr>
          </a:p>
          <a:p>
            <a:pPr lvl="1">
              <a:lnSpc>
                <a:spcPct val="130000"/>
              </a:lnSpc>
            </a:pPr>
            <a:r>
              <a:rPr lang="zh-CN" altLang="en-US" sz="1800" dirty="0">
                <a:latin typeface="SourceHanSansSC-Regular"/>
              </a:rPr>
              <a:t>项目文件</a:t>
            </a:r>
            <a:r>
              <a:rPr lang="zh-CN" altLang="en-US" sz="1800" b="0" dirty="0">
                <a:latin typeface="SourceHanSansSC-Regular"/>
              </a:rPr>
              <a:t>。</a:t>
            </a:r>
            <a:endParaRPr lang="en-US" altLang="zh-CN" sz="1800" b="0" dirty="0">
              <a:latin typeface="SourceHanSansSC-Regular"/>
            </a:endParaRPr>
          </a:p>
          <a:p>
            <a:pPr lvl="2">
              <a:lnSpc>
                <a:spcPct val="130000"/>
              </a:lnSpc>
            </a:pPr>
            <a:r>
              <a:rPr lang="zh-CN" altLang="en-US" sz="1600" dirty="0">
                <a:latin typeface="SourceHanSansSC-Bold"/>
              </a:rPr>
              <a:t>需求文件。</a:t>
            </a:r>
            <a:r>
              <a:rPr lang="zh-CN" altLang="en-US" sz="1600" b="0" dirty="0">
                <a:latin typeface="SourceHanSansSC-Regular"/>
              </a:rPr>
              <a:t>需求文件可能包含项目相关方对沟通的需求。</a:t>
            </a:r>
            <a:endParaRPr lang="en-US" altLang="zh-CN" sz="1600" b="0" dirty="0">
              <a:latin typeface="SourceHanSansSC-Regular"/>
            </a:endParaRPr>
          </a:p>
          <a:p>
            <a:pPr lvl="2">
              <a:lnSpc>
                <a:spcPct val="130000"/>
              </a:lnSpc>
            </a:pPr>
            <a:r>
              <a:rPr lang="zh-CN" altLang="en-US" sz="1600" dirty="0">
                <a:latin typeface="SourceHanSansSC-Regular"/>
              </a:rPr>
              <a:t>相关方登记册</a:t>
            </a:r>
            <a:r>
              <a:rPr lang="zh-CN" altLang="en-US" sz="1600" b="0" dirty="0">
                <a:latin typeface="SourceHanSansSC-Regular"/>
              </a:rPr>
              <a:t>用于规划与相关方的沟通活动。</a:t>
            </a:r>
            <a:endParaRPr lang="en-US" altLang="zh-CN" sz="1600" b="0" dirty="0">
              <a:latin typeface="SourceHanSansSC-Regular"/>
            </a:endParaRPr>
          </a:p>
          <a:p>
            <a:pPr lvl="1">
              <a:lnSpc>
                <a:spcPct val="130000"/>
              </a:lnSpc>
            </a:pPr>
            <a:r>
              <a:rPr lang="zh-CN" altLang="en-US" sz="1800" dirty="0">
                <a:latin typeface="SourceHanSansSC-Regular"/>
              </a:rPr>
              <a:t>事业环境因素</a:t>
            </a:r>
            <a:endParaRPr lang="en-US" altLang="zh-CN" sz="1800" dirty="0">
              <a:latin typeface="SourceHanSansSC-Regular"/>
            </a:endParaRPr>
          </a:p>
          <a:p>
            <a:pPr lvl="2">
              <a:lnSpc>
                <a:spcPct val="130000"/>
              </a:lnSpc>
            </a:pPr>
            <a:r>
              <a:rPr lang="zh-CN" altLang="en-US" sz="1600" b="0" dirty="0">
                <a:latin typeface="SourceHanSansSC-Regular"/>
              </a:rPr>
              <a:t>组织文化、政治氛围和治理框架；  人事管理政策；  相关方风险临界值；  已确立的沟通渠道、工具和系统；  全球、区域或当地的趋势、实践或习俗；  设施和资源的地理分布。</a:t>
            </a:r>
          </a:p>
          <a:p>
            <a:pPr lvl="1">
              <a:lnSpc>
                <a:spcPct val="130000"/>
              </a:lnSpc>
            </a:pPr>
            <a:r>
              <a:rPr lang="zh-CN" altLang="en-US" sz="1800" dirty="0">
                <a:latin typeface="SourceHanSansSC-Regular"/>
              </a:rPr>
              <a:t>组织过程资产</a:t>
            </a:r>
          </a:p>
          <a:p>
            <a:pPr lvl="2">
              <a:lnSpc>
                <a:spcPct val="130000"/>
              </a:lnSpc>
            </a:pPr>
            <a:r>
              <a:rPr lang="zh-CN" altLang="en-US" sz="1400" b="0" dirty="0">
                <a:latin typeface="SourceHanSansSC-Regular"/>
              </a:rPr>
              <a:t>组织的社交媒体、道德和安全政策及程序；组织的问题、风险、变更和数据管理政策及程序；组织对沟通的要求；制作、交换、储存和检索信息的标准化指南；历史信息和经验教训知识库；以往项目的相关方及沟通数据和信息。</a:t>
            </a:r>
            <a:endParaRPr lang="zh-CN" altLang="en-US" dirty="0"/>
          </a:p>
          <a:p>
            <a:pPr lvl="2">
              <a:lnSpc>
                <a:spcPct val="130000"/>
              </a:lnSpc>
            </a:pPr>
            <a:endParaRPr lang="zh-CN" altLang="en-US" sz="1600" dirty="0"/>
          </a:p>
        </p:txBody>
      </p:sp>
      <p:sp>
        <p:nvSpPr>
          <p:cNvPr id="4" name="标题 2">
            <a:extLst>
              <a:ext uri="{FF2B5EF4-FFF2-40B4-BE49-F238E27FC236}">
                <a16:creationId xmlns:a16="http://schemas.microsoft.com/office/drawing/2014/main" id="{87545ABE-E5D0-47C2-A512-65CB9ABC07E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186423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E003E69-6577-435D-859F-D4AEC3BCDA94}"/>
              </a:ext>
            </a:extLst>
          </p:cNvPr>
          <p:cNvSpPr>
            <a:spLocks noGrp="1"/>
          </p:cNvSpPr>
          <p:nvPr>
            <p:ph idx="1"/>
          </p:nvPr>
        </p:nvSpPr>
        <p:spPr>
          <a:xfrm>
            <a:off x="878305" y="862105"/>
            <a:ext cx="10407316" cy="5606935"/>
          </a:xfrm>
        </p:spPr>
        <p:txBody>
          <a:bodyPr/>
          <a:lstStyle/>
          <a:p>
            <a:pPr>
              <a:lnSpc>
                <a:spcPct val="130000"/>
              </a:lnSpc>
            </a:pPr>
            <a:r>
              <a:rPr lang="zh-CN" altLang="en-US" dirty="0">
                <a:solidFill>
                  <a:schemeClr val="tx2"/>
                </a:solidFill>
              </a:rPr>
              <a:t>规划沟通管理的主要工具与技术</a:t>
            </a:r>
            <a:endParaRPr lang="en-US" altLang="zh-CN" dirty="0">
              <a:solidFill>
                <a:schemeClr val="tx2"/>
              </a:solidFill>
            </a:endParaRPr>
          </a:p>
          <a:p>
            <a:pPr lvl="1">
              <a:lnSpc>
                <a:spcPct val="130000"/>
              </a:lnSpc>
            </a:pPr>
            <a:r>
              <a:rPr lang="zh-CN" altLang="en-US" dirty="0"/>
              <a:t>专家判断，</a:t>
            </a:r>
            <a:r>
              <a:rPr lang="zh-CN" altLang="en-US" b="0" dirty="0"/>
              <a:t>具备相关专业知识或接受过相关培训的个人或小组</a:t>
            </a:r>
            <a:endParaRPr lang="en-US" altLang="zh-CN" b="0" dirty="0"/>
          </a:p>
          <a:p>
            <a:pPr lvl="1">
              <a:lnSpc>
                <a:spcPct val="130000"/>
              </a:lnSpc>
            </a:pPr>
            <a:r>
              <a:rPr lang="zh-CN" altLang="en-US" dirty="0"/>
              <a:t>沟通需求分析，</a:t>
            </a:r>
            <a:r>
              <a:rPr lang="zh-CN" altLang="en-US" b="0" dirty="0"/>
              <a:t>确定项目相关方的信息需求，包括所需信息的类型和格式，以及信息对相关方的价值</a:t>
            </a:r>
            <a:endParaRPr lang="en-US" altLang="zh-CN" dirty="0"/>
          </a:p>
          <a:p>
            <a:pPr lvl="2">
              <a:lnSpc>
                <a:spcPct val="130000"/>
              </a:lnSpc>
            </a:pPr>
            <a:r>
              <a:rPr lang="zh-CN" altLang="en-US" dirty="0"/>
              <a:t>潜在沟通渠道或途径数量，包括一对一、一对多和多对多沟通；组织结构图；项目组织与相关方的职责、关系及相互依赖；开发方法；项目所涉及的学科、部门和专业；有多少人在什么地点参与项目；内部信息需要（如何时在组织内部沟通）；外部信息需要（如何时与媒体、公众或承包商沟通）；法律要求。</a:t>
            </a:r>
          </a:p>
          <a:p>
            <a:pPr lvl="1">
              <a:lnSpc>
                <a:spcPct val="130000"/>
              </a:lnSpc>
            </a:pPr>
            <a:r>
              <a:rPr lang="zh-CN" altLang="en-US" dirty="0"/>
              <a:t>沟通技术</a:t>
            </a:r>
          </a:p>
          <a:p>
            <a:pPr lvl="2">
              <a:lnSpc>
                <a:spcPct val="130000"/>
              </a:lnSpc>
            </a:pPr>
            <a:r>
              <a:rPr lang="zh-CN" altLang="en-US" dirty="0"/>
              <a:t>用于在项目相关方之间传递信息的方法很多。</a:t>
            </a:r>
            <a:r>
              <a:rPr lang="zh-CN" altLang="en-US" b="0" dirty="0"/>
              <a:t>信息交换和协作的常见方法包括对话、会议、书面文件、数据库、社交媒体和网站</a:t>
            </a:r>
          </a:p>
          <a:p>
            <a:pPr lvl="2">
              <a:lnSpc>
                <a:spcPct val="130000"/>
              </a:lnSpc>
            </a:pPr>
            <a:r>
              <a:rPr lang="zh-CN" altLang="en-US" dirty="0"/>
              <a:t>可能影响沟通技术选择的因素</a:t>
            </a:r>
            <a:r>
              <a:rPr lang="en-US" altLang="zh-CN" dirty="0"/>
              <a:t>: </a:t>
            </a:r>
            <a:r>
              <a:rPr lang="zh-CN" altLang="en-US" b="0" dirty="0"/>
              <a:t>信息需求的紧迫性</a:t>
            </a:r>
            <a:r>
              <a:rPr lang="en-US" altLang="zh-CN" b="0" dirty="0"/>
              <a:t>,</a:t>
            </a:r>
            <a:r>
              <a:rPr lang="zh-CN" altLang="en-US" b="0" dirty="0">
                <a:latin typeface="SourceHanSansSC-Bold"/>
              </a:rPr>
              <a:t>技术的可用性与可靠性，易用性，项目环境，信息的敏感性和保密性</a:t>
            </a:r>
            <a:endParaRPr lang="en-US" altLang="zh-CN" b="0" dirty="0">
              <a:latin typeface="SourceHanSansSC-Bold"/>
            </a:endParaRPr>
          </a:p>
          <a:p>
            <a:pPr lvl="1">
              <a:lnSpc>
                <a:spcPct val="130000"/>
              </a:lnSpc>
            </a:pPr>
            <a:r>
              <a:rPr lang="zh-CN" altLang="en-US" dirty="0"/>
              <a:t>沟通模型 </a:t>
            </a:r>
            <a:r>
              <a:rPr lang="zh-CN" altLang="en-US" sz="2000" b="0" i="0" u="none" strike="noStrike" baseline="0" dirty="0">
                <a:latin typeface="SourceHanSansSC-Bold"/>
              </a:rPr>
              <a:t>基本的发送方和接收方沟通模型，互动沟通模型</a:t>
            </a:r>
            <a:endParaRPr lang="en-US" altLang="zh-CN" b="0" dirty="0"/>
          </a:p>
        </p:txBody>
      </p:sp>
      <p:sp>
        <p:nvSpPr>
          <p:cNvPr id="4" name="标题 2">
            <a:extLst>
              <a:ext uri="{FF2B5EF4-FFF2-40B4-BE49-F238E27FC236}">
                <a16:creationId xmlns:a16="http://schemas.microsoft.com/office/drawing/2014/main" id="{77CA8AE0-3058-468B-956A-CA928D64434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95232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26A70-0AB6-4138-8E4C-029B057F7A5C}"/>
              </a:ext>
            </a:extLst>
          </p:cNvPr>
          <p:cNvSpPr>
            <a:spLocks noGrp="1"/>
          </p:cNvSpPr>
          <p:nvPr>
            <p:ph idx="1"/>
          </p:nvPr>
        </p:nvSpPr>
        <p:spPr>
          <a:xfrm>
            <a:off x="631768" y="1033358"/>
            <a:ext cx="10800238" cy="5543712"/>
          </a:xfrm>
        </p:spPr>
        <p:txBody>
          <a:bodyPr/>
          <a:lstStyle/>
          <a:p>
            <a:pPr lvl="1">
              <a:lnSpc>
                <a:spcPct val="120000"/>
              </a:lnSpc>
            </a:pPr>
            <a:r>
              <a:rPr lang="zh-CN" altLang="en-US" dirty="0"/>
              <a:t>沟通方法</a:t>
            </a:r>
            <a:endParaRPr lang="en-US" altLang="zh-CN" dirty="0"/>
          </a:p>
          <a:p>
            <a:pPr lvl="2">
              <a:lnSpc>
                <a:spcPct val="120000"/>
              </a:lnSpc>
            </a:pPr>
            <a:r>
              <a:rPr lang="zh-CN" altLang="en-US" dirty="0"/>
              <a:t>互动沟通。</a:t>
            </a:r>
            <a:r>
              <a:rPr lang="zh-CN" altLang="en-US" b="0" dirty="0"/>
              <a:t>在两方或多方之间进行的实时多向信息交换。</a:t>
            </a:r>
          </a:p>
          <a:p>
            <a:pPr lvl="2">
              <a:lnSpc>
                <a:spcPct val="120000"/>
              </a:lnSpc>
            </a:pPr>
            <a:r>
              <a:rPr lang="zh-CN" altLang="en-US" dirty="0"/>
              <a:t>推式沟通。</a:t>
            </a:r>
            <a:r>
              <a:rPr lang="zh-CN" altLang="en-US" b="0" dirty="0"/>
              <a:t>向需要接收信息的特定接收方发送或发布信息。</a:t>
            </a:r>
          </a:p>
          <a:p>
            <a:pPr lvl="2">
              <a:lnSpc>
                <a:spcPct val="120000"/>
              </a:lnSpc>
            </a:pPr>
            <a:r>
              <a:rPr lang="zh-CN" altLang="en-US" dirty="0"/>
              <a:t>拉式沟通。</a:t>
            </a:r>
            <a:r>
              <a:rPr lang="zh-CN" altLang="en-US" b="0" dirty="0"/>
              <a:t>适用于大量复杂信息或大量信息受众的情况。它要求接收方在遵守有关安全规定的前提之下自行访问相关内容。</a:t>
            </a:r>
            <a:endParaRPr lang="en-US" altLang="zh-CN" b="0" dirty="0"/>
          </a:p>
          <a:p>
            <a:pPr marL="896400" lvl="2" indent="0">
              <a:lnSpc>
                <a:spcPct val="120000"/>
              </a:lnSpc>
              <a:buNone/>
            </a:pPr>
            <a:r>
              <a:rPr lang="zh-CN" altLang="en-US" sz="2000" dirty="0">
                <a:solidFill>
                  <a:schemeClr val="tx2"/>
                </a:solidFill>
              </a:rPr>
              <a:t>不同方法的应用：</a:t>
            </a:r>
          </a:p>
          <a:p>
            <a:pPr lvl="2">
              <a:lnSpc>
                <a:spcPct val="120000"/>
              </a:lnSpc>
            </a:pPr>
            <a:r>
              <a:rPr lang="zh-CN" altLang="en-US" dirty="0"/>
              <a:t>   人际沟通。</a:t>
            </a:r>
            <a:r>
              <a:rPr lang="zh-CN" altLang="en-US" b="0" dirty="0"/>
              <a:t>个人之间交换信息，通常以面对面的方式进行。</a:t>
            </a:r>
          </a:p>
          <a:p>
            <a:pPr lvl="2">
              <a:lnSpc>
                <a:spcPct val="120000"/>
              </a:lnSpc>
            </a:pPr>
            <a:r>
              <a:rPr lang="zh-CN" altLang="en-US" dirty="0"/>
              <a:t>   小组沟通。</a:t>
            </a:r>
            <a:r>
              <a:rPr lang="zh-CN" altLang="en-US" b="0" dirty="0"/>
              <a:t>在三到六名人员的小组内部开展。</a:t>
            </a:r>
          </a:p>
          <a:p>
            <a:pPr lvl="2">
              <a:lnSpc>
                <a:spcPct val="120000"/>
              </a:lnSpc>
            </a:pPr>
            <a:r>
              <a:rPr lang="zh-CN" altLang="en-US" dirty="0"/>
              <a:t>   公众沟通。</a:t>
            </a:r>
            <a:r>
              <a:rPr lang="zh-CN" altLang="en-US" b="0" dirty="0"/>
              <a:t>单个演讲者面向一群人。</a:t>
            </a:r>
          </a:p>
          <a:p>
            <a:pPr lvl="2">
              <a:lnSpc>
                <a:spcPct val="120000"/>
              </a:lnSpc>
            </a:pPr>
            <a:r>
              <a:rPr lang="zh-CN" altLang="en-US" dirty="0"/>
              <a:t>   大众传播。</a:t>
            </a:r>
            <a:r>
              <a:rPr lang="zh-CN" altLang="en-US" b="0" dirty="0"/>
              <a:t>信息发送人员或小组与大量目标受众（有时为匿名）之间只有最低程度的联系。</a:t>
            </a:r>
          </a:p>
          <a:p>
            <a:pPr lvl="2">
              <a:lnSpc>
                <a:spcPct val="120000"/>
              </a:lnSpc>
            </a:pPr>
            <a:r>
              <a:rPr lang="zh-CN" altLang="en-US" dirty="0"/>
              <a:t>   网络和社交工具沟通。</a:t>
            </a:r>
            <a:r>
              <a:rPr lang="zh-CN" altLang="en-US" b="0" dirty="0"/>
              <a:t>借助社交工具和媒体，开展多对多的沟通。</a:t>
            </a:r>
          </a:p>
          <a:p>
            <a:pPr marL="896400" lvl="2" indent="0">
              <a:lnSpc>
                <a:spcPct val="120000"/>
              </a:lnSpc>
              <a:buNone/>
            </a:pPr>
            <a:r>
              <a:rPr lang="zh-CN" altLang="en-US" sz="2000" dirty="0">
                <a:solidFill>
                  <a:schemeClr val="tx2"/>
                </a:solidFill>
              </a:rPr>
              <a:t>可用的沟通工具和方法</a:t>
            </a:r>
            <a:endParaRPr lang="en-US" altLang="zh-CN" sz="2000" dirty="0">
              <a:solidFill>
                <a:schemeClr val="tx2"/>
              </a:solidFill>
            </a:endParaRPr>
          </a:p>
          <a:p>
            <a:pPr lvl="2">
              <a:lnSpc>
                <a:spcPct val="120000"/>
              </a:lnSpc>
            </a:pPr>
            <a:r>
              <a:rPr lang="zh-CN" altLang="en-US" dirty="0"/>
              <a:t>公告板；新闻通讯、内部杂志、电子杂志；致员工或志愿者的信件；  新闻稿；年度报告；电子邮件和内部局域网；门户网站和其他信息库（适用于拉式沟通）；电话交流；演示；团队简述或小组会议；焦点小组；相关方之间的正式或非正式的面对面会议；咨询小组或员工论坛； 社交工具和媒体。</a:t>
            </a:r>
          </a:p>
        </p:txBody>
      </p:sp>
      <p:sp>
        <p:nvSpPr>
          <p:cNvPr id="6" name="标题 5">
            <a:extLst>
              <a:ext uri="{FF2B5EF4-FFF2-40B4-BE49-F238E27FC236}">
                <a16:creationId xmlns:a16="http://schemas.microsoft.com/office/drawing/2014/main" id="{22F19469-F640-4415-8F88-9E64251B3EEB}"/>
              </a:ext>
            </a:extLst>
          </p:cNvPr>
          <p:cNvSpPr>
            <a:spLocks noGrp="1"/>
          </p:cNvSpPr>
          <p:nvPr>
            <p:ph type="title"/>
          </p:nvPr>
        </p:nvSpPr>
        <p:spPr/>
        <p:txBody>
          <a:bodyPr/>
          <a:lstStyle/>
          <a:p>
            <a:r>
              <a:rPr lang="en-US" altLang="zh-CN" dirty="0"/>
              <a:t>16.2 </a:t>
            </a:r>
            <a:r>
              <a:rPr lang="zh-CN" altLang="en-US" dirty="0"/>
              <a:t>规划沟通管理</a:t>
            </a:r>
          </a:p>
        </p:txBody>
      </p:sp>
    </p:spTree>
    <p:extLst>
      <p:ext uri="{BB962C8B-B14F-4D97-AF65-F5344CB8AC3E}">
        <p14:creationId xmlns:p14="http://schemas.microsoft.com/office/powerpoint/2010/main" val="279480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6BDAD75-A6B7-4530-A87D-08AFE3DD3615}"/>
              </a:ext>
            </a:extLst>
          </p:cNvPr>
          <p:cNvSpPr>
            <a:spLocks noGrp="1"/>
          </p:cNvSpPr>
          <p:nvPr>
            <p:ph idx="1"/>
          </p:nvPr>
        </p:nvSpPr>
        <p:spPr/>
        <p:txBody>
          <a:bodyPr/>
          <a:lstStyle/>
          <a:p>
            <a:pPr lvl="1"/>
            <a:r>
              <a:rPr lang="zh-CN" altLang="en-US" dirty="0"/>
              <a:t>人际关系与团队技能</a:t>
            </a:r>
          </a:p>
          <a:p>
            <a:pPr lvl="2"/>
            <a:r>
              <a:rPr lang="zh-CN" altLang="en-US" dirty="0"/>
              <a:t>沟通风格评估。</a:t>
            </a:r>
            <a:r>
              <a:rPr lang="zh-CN" altLang="en-US" b="0" dirty="0"/>
              <a:t>规划沟通活动时，用于评估沟通风格并识别偏好的沟通方法、形式和内容的一种技术。</a:t>
            </a:r>
          </a:p>
          <a:p>
            <a:pPr lvl="2"/>
            <a:r>
              <a:rPr lang="zh-CN" altLang="en-US" dirty="0"/>
              <a:t>政治意识。</a:t>
            </a:r>
            <a:r>
              <a:rPr lang="zh-CN" altLang="en-US" b="0" dirty="0"/>
              <a:t>政治意识是指对正式和非正式权力关系的认知，以及在这些关系中工作的意愿。</a:t>
            </a:r>
            <a:endParaRPr lang="en-US" altLang="zh-CN" b="0" dirty="0"/>
          </a:p>
          <a:p>
            <a:pPr lvl="2"/>
            <a:r>
              <a:rPr lang="zh-CN" altLang="en-US" dirty="0"/>
              <a:t>文化意识。</a:t>
            </a:r>
            <a:r>
              <a:rPr lang="zh-CN" altLang="en-US" b="0" dirty="0"/>
              <a:t>文化意识指理解个人、群体和组织之间的差异，并据此调整项目的沟通策略。</a:t>
            </a:r>
          </a:p>
          <a:p>
            <a:pPr lvl="1"/>
            <a:r>
              <a:rPr lang="zh-CN" altLang="en-US" dirty="0"/>
              <a:t>数据表现</a:t>
            </a:r>
          </a:p>
          <a:p>
            <a:pPr lvl="2"/>
            <a:r>
              <a:rPr lang="zh-CN" altLang="en-US" dirty="0"/>
              <a:t>相关方参与度评估矩阵。</a:t>
            </a:r>
          </a:p>
          <a:p>
            <a:pPr lvl="1"/>
            <a:r>
              <a:rPr lang="zh-CN" altLang="en-US" dirty="0"/>
              <a:t>会议</a:t>
            </a:r>
          </a:p>
          <a:p>
            <a:pPr lvl="2"/>
            <a:r>
              <a:rPr lang="zh-CN" altLang="en-US" dirty="0"/>
              <a:t>项目会议可包括虚拟（网络）或面对面会议，且可用文档协同技术进行辅助，包括电子邮件信息和项目网站。</a:t>
            </a:r>
          </a:p>
        </p:txBody>
      </p:sp>
      <p:sp>
        <p:nvSpPr>
          <p:cNvPr id="4" name="标题 2">
            <a:extLst>
              <a:ext uri="{FF2B5EF4-FFF2-40B4-BE49-F238E27FC236}">
                <a16:creationId xmlns:a16="http://schemas.microsoft.com/office/drawing/2014/main" id="{8C1EF127-F763-4650-9C77-973C04168FB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189412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5DF3DB6-3CE5-454C-BC69-05A465EA6EEB}"/>
              </a:ext>
            </a:extLst>
          </p:cNvPr>
          <p:cNvSpPr>
            <a:spLocks noGrp="1"/>
          </p:cNvSpPr>
          <p:nvPr>
            <p:ph idx="1"/>
          </p:nvPr>
        </p:nvSpPr>
        <p:spPr/>
        <p:txBody>
          <a:bodyPr/>
          <a:lstStyle/>
          <a:p>
            <a:pPr>
              <a:lnSpc>
                <a:spcPct val="120000"/>
              </a:lnSpc>
            </a:pPr>
            <a:r>
              <a:rPr lang="zh-CN" altLang="en-US" sz="1800" dirty="0">
                <a:latin typeface="SourceHanSansSC-Medium"/>
              </a:rPr>
              <a:t>规划沟通管理的输出</a:t>
            </a:r>
            <a:endParaRPr lang="en-US" altLang="zh-CN" sz="1800" dirty="0">
              <a:latin typeface="SourceHanSansSC-Medium"/>
            </a:endParaRPr>
          </a:p>
          <a:p>
            <a:pPr lvl="1">
              <a:lnSpc>
                <a:spcPct val="120000"/>
              </a:lnSpc>
            </a:pPr>
            <a:r>
              <a:rPr lang="zh-CN" altLang="en-US" sz="1800" dirty="0">
                <a:latin typeface="SourceHanSansSC-Medium"/>
              </a:rPr>
              <a:t>沟通管理计划的主要内容</a:t>
            </a:r>
          </a:p>
          <a:p>
            <a:pPr lvl="2">
              <a:lnSpc>
                <a:spcPct val="120000"/>
              </a:lnSpc>
            </a:pPr>
            <a:r>
              <a:rPr lang="zh-CN" altLang="en-US" sz="1600" dirty="0">
                <a:latin typeface="SourceHanSansSC-Medium"/>
              </a:rPr>
              <a:t>相关方的沟通需求；</a:t>
            </a:r>
            <a:endParaRPr lang="en-US" altLang="zh-CN" sz="1600" dirty="0">
              <a:latin typeface="SourceHanSansSC-Medium"/>
            </a:endParaRPr>
          </a:p>
          <a:p>
            <a:pPr lvl="2">
              <a:lnSpc>
                <a:spcPct val="120000"/>
              </a:lnSpc>
            </a:pPr>
            <a:r>
              <a:rPr lang="zh-CN" altLang="en-US" sz="1600" dirty="0">
                <a:latin typeface="SourceHanSansSC-Medium"/>
              </a:rPr>
              <a:t>需沟通的信息，包括语言、形式、内容和详细程度；</a:t>
            </a:r>
            <a:endParaRPr lang="en-US" altLang="zh-CN" sz="1600" dirty="0">
              <a:latin typeface="SourceHanSansSC-Medium"/>
            </a:endParaRPr>
          </a:p>
          <a:p>
            <a:pPr lvl="2">
              <a:lnSpc>
                <a:spcPct val="120000"/>
              </a:lnSpc>
            </a:pPr>
            <a:r>
              <a:rPr lang="zh-CN" altLang="en-US" sz="1600" dirty="0">
                <a:latin typeface="SourceHanSansSC-Medium"/>
              </a:rPr>
              <a:t>上报步骤；</a:t>
            </a:r>
            <a:endParaRPr lang="en-US" altLang="zh-CN" sz="1600" dirty="0">
              <a:latin typeface="SourceHanSansSC-Medium"/>
            </a:endParaRPr>
          </a:p>
          <a:p>
            <a:pPr lvl="2">
              <a:lnSpc>
                <a:spcPct val="120000"/>
              </a:lnSpc>
            </a:pPr>
            <a:r>
              <a:rPr lang="zh-CN" altLang="en-US" sz="1600" dirty="0">
                <a:latin typeface="SourceHanSansSC-Medium"/>
              </a:rPr>
              <a:t>发布信息的原因；</a:t>
            </a:r>
            <a:endParaRPr lang="en-US" altLang="zh-CN" sz="1600" dirty="0">
              <a:latin typeface="SourceHanSansSC-Medium"/>
            </a:endParaRPr>
          </a:p>
          <a:p>
            <a:pPr lvl="2">
              <a:lnSpc>
                <a:spcPct val="120000"/>
              </a:lnSpc>
            </a:pPr>
            <a:r>
              <a:rPr lang="zh-CN" altLang="en-US" sz="1600" dirty="0">
                <a:latin typeface="SourceHanSansSC-Medium"/>
              </a:rPr>
              <a:t>发布所需信息、确认已收到，或作出回应（若适用）的时限和频率； </a:t>
            </a:r>
            <a:endParaRPr lang="en-US" altLang="zh-CN" sz="1600" dirty="0">
              <a:latin typeface="SourceHanSansSC-Medium"/>
            </a:endParaRPr>
          </a:p>
          <a:p>
            <a:pPr lvl="2">
              <a:lnSpc>
                <a:spcPct val="120000"/>
              </a:lnSpc>
            </a:pPr>
            <a:r>
              <a:rPr lang="zh-CN" altLang="en-US" sz="1600" dirty="0">
                <a:latin typeface="SourceHanSansSC-Medium"/>
              </a:rPr>
              <a:t>负责沟通相关信息的人员；</a:t>
            </a:r>
            <a:endParaRPr lang="en-US" altLang="zh-CN" sz="1600" dirty="0">
              <a:latin typeface="SourceHanSansSC-Medium"/>
            </a:endParaRPr>
          </a:p>
          <a:p>
            <a:pPr lvl="2">
              <a:lnSpc>
                <a:spcPct val="120000"/>
              </a:lnSpc>
            </a:pPr>
            <a:r>
              <a:rPr lang="zh-CN" altLang="en-US" sz="1600" dirty="0">
                <a:latin typeface="SourceHanSansSC-Medium"/>
              </a:rPr>
              <a:t>负责授权保密信息发布的人员；</a:t>
            </a:r>
            <a:endParaRPr lang="en-US" altLang="zh-CN" sz="1600" dirty="0">
              <a:latin typeface="SourceHanSansSC-Medium"/>
            </a:endParaRPr>
          </a:p>
          <a:p>
            <a:pPr lvl="2">
              <a:lnSpc>
                <a:spcPct val="120000"/>
              </a:lnSpc>
            </a:pPr>
            <a:r>
              <a:rPr lang="zh-CN" altLang="en-US" sz="1600" dirty="0">
                <a:latin typeface="SourceHanSansSC-Medium"/>
              </a:rPr>
              <a:t>接收信息的人员或群体，包括他们的需要、需求和期望；</a:t>
            </a:r>
            <a:endParaRPr lang="en-US" altLang="zh-CN" sz="1600" dirty="0">
              <a:latin typeface="SourceHanSansSC-Medium"/>
            </a:endParaRPr>
          </a:p>
          <a:p>
            <a:pPr lvl="2">
              <a:lnSpc>
                <a:spcPct val="120000"/>
              </a:lnSpc>
            </a:pPr>
            <a:r>
              <a:rPr lang="zh-CN" altLang="en-US" sz="1600" dirty="0">
                <a:latin typeface="SourceHanSansSC-Medium"/>
              </a:rPr>
              <a:t>用于传递信息的方法或技术；</a:t>
            </a:r>
            <a:endParaRPr lang="en-US" altLang="zh-CN" sz="1600" dirty="0">
              <a:latin typeface="SourceHanSansSC-Medium"/>
            </a:endParaRPr>
          </a:p>
          <a:p>
            <a:pPr lvl="2">
              <a:lnSpc>
                <a:spcPct val="120000"/>
              </a:lnSpc>
            </a:pPr>
            <a:r>
              <a:rPr lang="zh-CN" altLang="en-US" sz="1600" dirty="0">
                <a:latin typeface="SourceHanSansSC-Medium"/>
              </a:rPr>
              <a:t>为沟通活动分配的资源，包括时间和预算；</a:t>
            </a:r>
            <a:endParaRPr lang="en-US" altLang="zh-CN" sz="1600" dirty="0">
              <a:latin typeface="SourceHanSansSC-Medium"/>
            </a:endParaRPr>
          </a:p>
          <a:p>
            <a:pPr lvl="2">
              <a:lnSpc>
                <a:spcPct val="120000"/>
              </a:lnSpc>
            </a:pPr>
            <a:r>
              <a:rPr lang="zh-CN" altLang="en-US" sz="1600" dirty="0">
                <a:latin typeface="SourceHanSansSC-Medium"/>
              </a:rPr>
              <a:t>随着项目进展，而更新与优化沟通管理的方法；</a:t>
            </a:r>
            <a:endParaRPr lang="en-US" altLang="zh-CN" sz="1600" dirty="0">
              <a:latin typeface="SourceHanSansSC-Medium"/>
            </a:endParaRPr>
          </a:p>
          <a:p>
            <a:pPr lvl="2">
              <a:lnSpc>
                <a:spcPct val="120000"/>
              </a:lnSpc>
            </a:pPr>
            <a:r>
              <a:rPr lang="zh-CN" altLang="en-US" sz="1600" dirty="0">
                <a:latin typeface="SourceHanSansSC-Medium"/>
              </a:rPr>
              <a:t>通用术语表；项目信息流向图、工作流程、报告清单和会议计划等； </a:t>
            </a:r>
            <a:endParaRPr lang="en-US" altLang="zh-CN" sz="1600" dirty="0">
              <a:latin typeface="SourceHanSansSC-Medium"/>
            </a:endParaRPr>
          </a:p>
          <a:p>
            <a:pPr lvl="2">
              <a:lnSpc>
                <a:spcPct val="120000"/>
              </a:lnSpc>
            </a:pPr>
            <a:r>
              <a:rPr lang="zh-CN" altLang="en-US" sz="1600" dirty="0">
                <a:latin typeface="SourceHanSansSC-Medium"/>
              </a:rPr>
              <a:t>来自法律法规、技术、组织政策等的制约因素。</a:t>
            </a:r>
            <a:endParaRPr lang="en-US" altLang="zh-CN" sz="1600" dirty="0">
              <a:latin typeface="SourceHanSansSC-Medium"/>
            </a:endParaRPr>
          </a:p>
          <a:p>
            <a:pPr lvl="2">
              <a:lnSpc>
                <a:spcPct val="120000"/>
              </a:lnSpc>
            </a:pPr>
            <a:r>
              <a:rPr lang="zh-CN" altLang="en-US" sz="1600" dirty="0">
                <a:latin typeface="SourceHanSansSC-Medium"/>
              </a:rPr>
              <a:t>沟通管理计划中还包括关于项目状态会议、项目团队会议、网络会议和电子邮件等的指南和模板。</a:t>
            </a:r>
            <a:endParaRPr lang="en-US" altLang="zh-CN" sz="1600" dirty="0">
              <a:latin typeface="SourceHanSansSC-Medium"/>
            </a:endParaRPr>
          </a:p>
          <a:p>
            <a:pPr lvl="1">
              <a:lnSpc>
                <a:spcPct val="120000"/>
              </a:lnSpc>
            </a:pPr>
            <a:r>
              <a:rPr lang="zh-CN" altLang="en-US" sz="1800" dirty="0">
                <a:latin typeface="SourceHanSansSC-Medium"/>
              </a:rPr>
              <a:t>文件更新</a:t>
            </a:r>
          </a:p>
        </p:txBody>
      </p:sp>
      <p:sp>
        <p:nvSpPr>
          <p:cNvPr id="4" name="标题 2">
            <a:extLst>
              <a:ext uri="{FF2B5EF4-FFF2-40B4-BE49-F238E27FC236}">
                <a16:creationId xmlns:a16="http://schemas.microsoft.com/office/drawing/2014/main" id="{79DB0E2A-6611-4D8A-B49B-0A3E2932368B}"/>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16.2 </a:t>
            </a:r>
            <a:r>
              <a:rPr lang="zh-CN" altLang="en-US" dirty="0"/>
              <a:t>规划沟通管理</a:t>
            </a:r>
          </a:p>
        </p:txBody>
      </p:sp>
    </p:spTree>
    <p:extLst>
      <p:ext uri="{BB962C8B-B14F-4D97-AF65-F5344CB8AC3E}">
        <p14:creationId xmlns:p14="http://schemas.microsoft.com/office/powerpoint/2010/main" val="362590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508" name="Group 68">
            <a:extLst>
              <a:ext uri="{FF2B5EF4-FFF2-40B4-BE49-F238E27FC236}">
                <a16:creationId xmlns:a16="http://schemas.microsoft.com/office/drawing/2014/main" id="{EC29B5C9-4165-4339-A27B-3AE8355DDCB3}"/>
              </a:ext>
            </a:extLst>
          </p:cNvPr>
          <p:cNvGraphicFramePr>
            <a:graphicFrameLocks noGrp="1"/>
          </p:cNvGraphicFramePr>
          <p:nvPr>
            <p:extLst>
              <p:ext uri="{D42A27DB-BD31-4B8C-83A1-F6EECF244321}">
                <p14:modId xmlns:p14="http://schemas.microsoft.com/office/powerpoint/2010/main" val="507582656"/>
              </p:ext>
            </p:extLst>
          </p:nvPr>
        </p:nvGraphicFramePr>
        <p:xfrm>
          <a:off x="1992314" y="2540005"/>
          <a:ext cx="8269287" cy="3227384"/>
        </p:xfrm>
        <a:graphic>
          <a:graphicData uri="http://schemas.openxmlformats.org/drawingml/2006/table">
            <a:tbl>
              <a:tblPr/>
              <a:tblGrid>
                <a:gridCol w="2382074">
                  <a:extLst>
                    <a:ext uri="{9D8B030D-6E8A-4147-A177-3AD203B41FA5}">
                      <a16:colId xmlns:a16="http://schemas.microsoft.com/office/drawing/2014/main" val="3367301722"/>
                    </a:ext>
                  </a:extLst>
                </a:gridCol>
                <a:gridCol w="1682281">
                  <a:extLst>
                    <a:ext uri="{9D8B030D-6E8A-4147-A177-3AD203B41FA5}">
                      <a16:colId xmlns:a16="http://schemas.microsoft.com/office/drawing/2014/main" val="1915598126"/>
                    </a:ext>
                  </a:extLst>
                </a:gridCol>
                <a:gridCol w="1401130">
                  <a:extLst>
                    <a:ext uri="{9D8B030D-6E8A-4147-A177-3AD203B41FA5}">
                      <a16:colId xmlns:a16="http://schemas.microsoft.com/office/drawing/2014/main" val="3613143569"/>
                    </a:ext>
                  </a:extLst>
                </a:gridCol>
                <a:gridCol w="1541705">
                  <a:extLst>
                    <a:ext uri="{9D8B030D-6E8A-4147-A177-3AD203B41FA5}">
                      <a16:colId xmlns:a16="http://schemas.microsoft.com/office/drawing/2014/main" val="4184010695"/>
                    </a:ext>
                  </a:extLst>
                </a:gridCol>
                <a:gridCol w="1262097">
                  <a:extLst>
                    <a:ext uri="{9D8B030D-6E8A-4147-A177-3AD203B41FA5}">
                      <a16:colId xmlns:a16="http://schemas.microsoft.com/office/drawing/2014/main" val="1796547246"/>
                    </a:ext>
                  </a:extLst>
                </a:gridCol>
              </a:tblGrid>
              <a:tr h="434761">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项目相关方</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文件名称</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文件格式</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联系人</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交付期限</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DD47"/>
                    </a:solidFill>
                  </a:tcPr>
                </a:tc>
                <a:extLst>
                  <a:ext uri="{0D108BD9-81ED-4DB2-BD59-A6C34878D82A}">
                    <a16:rowId xmlns:a16="http://schemas.microsoft.com/office/drawing/2014/main" val="928594333"/>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客户管理人员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盖尔，托尼</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9391939"/>
                  </a:ext>
                </a:extLst>
              </a:tr>
              <a:tr h="390332">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客户业务人员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朱立，杰夫</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97415767"/>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客户技术人员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电子邮件</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埃文，安</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0557942"/>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内部管理人员</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鲍勃</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7800785"/>
                  </a:ext>
                </a:extLst>
              </a:tr>
              <a:tr h="456975">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内部业务和技术人员</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月度状态报告</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企业内部网</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安杰</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每月月初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0713160"/>
                  </a:ext>
                </a:extLst>
              </a:tr>
              <a:tr h="390332">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培训转包商</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培训计划</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硬拷贝</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乔纳森</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2022/6/10</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2124465"/>
                  </a:ext>
                </a:extLst>
              </a:tr>
              <a:tr h="388746">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软件转包商</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软件执行计划</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电子邮件</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芭芭拉</a:t>
                      </a:r>
                      <a:endParaRPr kumimoji="1" lang="ja-JP"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SzPct val="85000"/>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a:t>
                      </a:r>
                      <a:r>
                        <a:rPr kumimoji="1" lang="en-US" altLang="ja-JP"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22/1/20</a:t>
                      </a:r>
                      <a:endParaRPr kumimoji="1" lang="ja-JP"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2699614"/>
                  </a:ext>
                </a:extLst>
              </a:tr>
            </a:tbl>
          </a:graphicData>
        </a:graphic>
      </p:graphicFrame>
      <p:sp>
        <p:nvSpPr>
          <p:cNvPr id="573500" name="Rectangle 60">
            <a:extLst>
              <a:ext uri="{FF2B5EF4-FFF2-40B4-BE49-F238E27FC236}">
                <a16:creationId xmlns:a16="http://schemas.microsoft.com/office/drawing/2014/main" id="{6E2A11E9-2BB3-414C-ABFF-A8ED58B7BCF9}"/>
              </a:ext>
            </a:extLst>
          </p:cNvPr>
          <p:cNvSpPr>
            <a:spLocks noChangeArrowheads="1"/>
          </p:cNvSpPr>
          <p:nvPr/>
        </p:nvSpPr>
        <p:spPr bwMode="auto">
          <a:xfrm>
            <a:off x="1992313" y="1598611"/>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r">
              <a:spcBef>
                <a:spcPct val="0"/>
              </a:spcBef>
              <a:defRPr kumimoji="1" sz="3600">
                <a:solidFill>
                  <a:schemeClr val="tx2"/>
                </a:solidFill>
                <a:latin typeface="Arial Black" panose="020B0A04020102020204" pitchFamily="34" charset="0"/>
                <a:ea typeface="宋体" panose="02010600030101010101" pitchFamily="2" charset="-122"/>
              </a:defRPr>
            </a:lvl1pPr>
            <a:lvl2pPr algn="r">
              <a:spcBef>
                <a:spcPct val="0"/>
              </a:spcBef>
              <a:defRPr kumimoji="1" sz="3600">
                <a:solidFill>
                  <a:schemeClr val="tx2"/>
                </a:solidFill>
                <a:latin typeface="Arial Black" panose="020B0A04020102020204" pitchFamily="34" charset="0"/>
                <a:ea typeface="宋体" panose="02010600030101010101" pitchFamily="2" charset="-122"/>
              </a:defRPr>
            </a:lvl2pPr>
            <a:lvl3pPr algn="r">
              <a:spcBef>
                <a:spcPct val="0"/>
              </a:spcBef>
              <a:defRPr kumimoji="1" sz="3600">
                <a:solidFill>
                  <a:schemeClr val="tx2"/>
                </a:solidFill>
                <a:latin typeface="Arial Black" panose="020B0A04020102020204" pitchFamily="34" charset="0"/>
                <a:ea typeface="宋体" panose="02010600030101010101" pitchFamily="2" charset="-122"/>
              </a:defRPr>
            </a:lvl3pPr>
            <a:lvl4pPr algn="r">
              <a:spcBef>
                <a:spcPct val="0"/>
              </a:spcBef>
              <a:defRPr kumimoji="1" sz="3600">
                <a:solidFill>
                  <a:schemeClr val="tx2"/>
                </a:solidFill>
                <a:latin typeface="Arial Black" panose="020B0A04020102020204" pitchFamily="34" charset="0"/>
                <a:ea typeface="宋体" panose="02010600030101010101" pitchFamily="2" charset="-122"/>
              </a:defRPr>
            </a:lvl4pPr>
            <a:lvl5pPr algn="r">
              <a:spcBef>
                <a:spcPct val="0"/>
              </a:spcBef>
              <a:defRPr kumimoji="1" sz="3600">
                <a:solidFill>
                  <a:schemeClr val="tx2"/>
                </a:solidFill>
                <a:latin typeface="Arial Black" panose="020B0A04020102020204" pitchFamily="34" charset="0"/>
                <a:ea typeface="宋体" panose="02010600030101010101" pitchFamily="2" charset="-122"/>
              </a:defRPr>
            </a:lvl5pPr>
            <a:lvl6pPr marL="4572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6pPr>
            <a:lvl7pPr marL="9144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7pPr>
            <a:lvl8pPr marL="13716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8pPr>
            <a:lvl9pPr marL="1828800" algn="r" fontAlgn="base">
              <a:spcBef>
                <a:spcPct val="0"/>
              </a:spcBef>
              <a:spcAft>
                <a:spcPct val="0"/>
              </a:spcAft>
              <a:defRPr kumimoji="1" sz="3600">
                <a:solidFill>
                  <a:schemeClr val="tx2"/>
                </a:solidFill>
                <a:latin typeface="Arial Black" panose="020B0A04020102020204" pitchFamily="34" charset="0"/>
                <a:ea typeface="宋体" panose="02010600030101010101" pitchFamily="2" charset="-122"/>
              </a:defRPr>
            </a:lvl9pPr>
          </a:lstStyle>
          <a:p>
            <a:pPr algn="l">
              <a:lnSpc>
                <a:spcPct val="100000"/>
              </a:lnSpc>
              <a:buSzTx/>
              <a:buFontTx/>
              <a:buNone/>
            </a:pPr>
            <a:r>
              <a:rPr lang="zh-CN" altLang="en-US" sz="2400" dirty="0">
                <a:latin typeface="微软雅黑" panose="020B0503020204020204" pitchFamily="34" charset="-122"/>
                <a:ea typeface="微软雅黑" panose="020B0503020204020204" pitchFamily="34" charset="-122"/>
              </a:rPr>
              <a:t>举例：项目相关方的沟通需求分析</a:t>
            </a:r>
          </a:p>
        </p:txBody>
      </p:sp>
      <p:sp>
        <p:nvSpPr>
          <p:cNvPr id="4" name="标题 3">
            <a:extLst>
              <a:ext uri="{FF2B5EF4-FFF2-40B4-BE49-F238E27FC236}">
                <a16:creationId xmlns:a16="http://schemas.microsoft.com/office/drawing/2014/main" id="{8B4BA941-0DA4-4E9F-BBED-C86509074149}"/>
              </a:ext>
            </a:extLst>
          </p:cNvPr>
          <p:cNvSpPr>
            <a:spLocks noGrp="1"/>
          </p:cNvSpPr>
          <p:nvPr>
            <p:ph type="title"/>
          </p:nvPr>
        </p:nvSpPr>
        <p:spPr/>
        <p:txBody>
          <a:bodyPr/>
          <a:lstStyle/>
          <a:p>
            <a:r>
              <a:rPr lang="en-US" altLang="zh-CN" dirty="0"/>
              <a:t>16.2 </a:t>
            </a:r>
            <a:r>
              <a:rPr lang="zh-CN" altLang="en-US" dirty="0"/>
              <a:t>规划沟通管理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2BC256B-BC79-4B02-8046-7CB5FA3FAFB3}"/>
              </a:ext>
            </a:extLst>
          </p:cNvPr>
          <p:cNvSpPr>
            <a:spLocks noGrp="1"/>
          </p:cNvSpPr>
          <p:nvPr>
            <p:ph idx="1"/>
          </p:nvPr>
        </p:nvSpPr>
        <p:spPr>
          <a:xfrm>
            <a:off x="717550" y="1412579"/>
            <a:ext cx="10756900" cy="4778422"/>
          </a:xfrm>
        </p:spPr>
        <p:txBody>
          <a:bodyPr/>
          <a:lstStyle/>
          <a:p>
            <a:pPr>
              <a:lnSpc>
                <a:spcPct val="100000"/>
              </a:lnSpc>
            </a:pPr>
            <a:r>
              <a:rPr lang="zh-CN" altLang="en-US" sz="1800" dirty="0"/>
              <a:t>管理沟通是确保项目信息及时且恰当地</a:t>
            </a:r>
            <a:r>
              <a:rPr lang="zh-CN" altLang="en-US" sz="1800" dirty="0">
                <a:solidFill>
                  <a:schemeClr val="tx2"/>
                </a:solidFill>
              </a:rPr>
              <a:t>收集、生成、发布、存储、检索、管理、监督和最终处置</a:t>
            </a:r>
            <a:r>
              <a:rPr lang="zh-CN" altLang="en-US" sz="1800" dirty="0"/>
              <a:t>的过程。</a:t>
            </a:r>
            <a:endParaRPr lang="en-US" altLang="zh-CN" sz="1800" dirty="0"/>
          </a:p>
          <a:p>
            <a:pPr lvl="1">
              <a:lnSpc>
                <a:spcPct val="100000"/>
              </a:lnSpc>
            </a:pPr>
            <a:r>
              <a:rPr lang="zh-CN" altLang="en-US" sz="1600" dirty="0"/>
              <a:t>本过程的主要作用是，促成项目团队与相关方之间的有效信息流动。</a:t>
            </a:r>
            <a:endParaRPr lang="en-US" altLang="zh-CN" sz="1600" dirty="0"/>
          </a:p>
          <a:p>
            <a:pPr lvl="1">
              <a:lnSpc>
                <a:spcPct val="100000"/>
              </a:lnSpc>
            </a:pPr>
            <a:r>
              <a:rPr lang="zh-CN" altLang="en-US" sz="1600" dirty="0"/>
              <a:t>本过程需要在整个项目期间开展。</a:t>
            </a:r>
          </a:p>
        </p:txBody>
      </p:sp>
      <p:sp>
        <p:nvSpPr>
          <p:cNvPr id="4" name="标题 2">
            <a:extLst>
              <a:ext uri="{FF2B5EF4-FFF2-40B4-BE49-F238E27FC236}">
                <a16:creationId xmlns:a16="http://schemas.microsoft.com/office/drawing/2014/main" id="{F0504458-9BAE-4ADC-9846-3EC41102AB6C}"/>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
        <p:nvSpPr>
          <p:cNvPr id="6" name="文本框 5">
            <a:extLst>
              <a:ext uri="{FF2B5EF4-FFF2-40B4-BE49-F238E27FC236}">
                <a16:creationId xmlns:a16="http://schemas.microsoft.com/office/drawing/2014/main" id="{C25B0A6F-1472-43DA-ADD4-BD0DBEA45063}"/>
              </a:ext>
            </a:extLst>
          </p:cNvPr>
          <p:cNvSpPr txBox="1"/>
          <p:nvPr/>
        </p:nvSpPr>
        <p:spPr>
          <a:xfrm>
            <a:off x="2260600" y="950914"/>
            <a:ext cx="4572000" cy="461665"/>
          </a:xfrm>
          <a:prstGeom prst="rect">
            <a:avLst/>
          </a:prstGeom>
          <a:noFill/>
        </p:spPr>
        <p:txBody>
          <a:bodyPr wrap="square">
            <a:spAutoFit/>
          </a:bodyPr>
          <a:lstStyle/>
          <a:p>
            <a:r>
              <a:rPr lang="zh-CN" altLang="en-US" sz="2400" b="1" dirty="0">
                <a:solidFill>
                  <a:srgbClr val="663300"/>
                </a:solidFill>
                <a:latin typeface="Georgia" panose="02040502050405020303" pitchFamily="18" charset="0"/>
                <a:ea typeface="微软雅黑" pitchFamily="34" charset="-122"/>
                <a:cs typeface="+mj-cs"/>
              </a:rPr>
              <a:t>管理沟通</a:t>
            </a:r>
            <a:endParaRPr lang="zh-CN" altLang="en-US" sz="2400" dirty="0"/>
          </a:p>
        </p:txBody>
      </p:sp>
      <p:grpSp>
        <p:nvGrpSpPr>
          <p:cNvPr id="7" name="组合 6">
            <a:extLst>
              <a:ext uri="{FF2B5EF4-FFF2-40B4-BE49-F238E27FC236}">
                <a16:creationId xmlns:a16="http://schemas.microsoft.com/office/drawing/2014/main" id="{787B4174-029C-432D-86F6-EDD6FD19ED83}"/>
              </a:ext>
            </a:extLst>
          </p:cNvPr>
          <p:cNvGrpSpPr/>
          <p:nvPr/>
        </p:nvGrpSpPr>
        <p:grpSpPr>
          <a:xfrm>
            <a:off x="1997076" y="2680067"/>
            <a:ext cx="8353425" cy="3584209"/>
            <a:chOff x="609600" y="2835275"/>
            <a:chExt cx="8353425" cy="3584209"/>
          </a:xfrm>
        </p:grpSpPr>
        <p:sp>
          <p:nvSpPr>
            <p:cNvPr id="8" name="AutoShape 5">
              <a:extLst>
                <a:ext uri="{FF2B5EF4-FFF2-40B4-BE49-F238E27FC236}">
                  <a16:creationId xmlns:a16="http://schemas.microsoft.com/office/drawing/2014/main" id="{4A35C518-56EB-4DC7-B11C-6424005DF8D8}"/>
                </a:ext>
              </a:extLst>
            </p:cNvPr>
            <p:cNvSpPr>
              <a:spLocks noChangeArrowheads="1"/>
            </p:cNvSpPr>
            <p:nvPr/>
          </p:nvSpPr>
          <p:spPr bwMode="auto">
            <a:xfrm>
              <a:off x="609600" y="3590926"/>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9" name="Rectangle 6">
              <a:extLst>
                <a:ext uri="{FF2B5EF4-FFF2-40B4-BE49-F238E27FC236}">
                  <a16:creationId xmlns:a16="http://schemas.microsoft.com/office/drawing/2014/main" id="{9229F547-7215-42A8-A1BB-4659348B8089}"/>
                </a:ext>
              </a:extLst>
            </p:cNvPr>
            <p:cNvSpPr>
              <a:spLocks noChangeArrowheads="1"/>
            </p:cNvSpPr>
            <p:nvPr/>
          </p:nvSpPr>
          <p:spPr bwMode="auto">
            <a:xfrm>
              <a:off x="10064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0" name="Rectangle 7">
              <a:extLst>
                <a:ext uri="{FF2B5EF4-FFF2-40B4-BE49-F238E27FC236}">
                  <a16:creationId xmlns:a16="http://schemas.microsoft.com/office/drawing/2014/main" id="{C710A7C4-6EA8-4EE6-BCAC-07E1ACEF7DF4}"/>
                </a:ext>
              </a:extLst>
            </p:cNvPr>
            <p:cNvSpPr>
              <a:spLocks noChangeArrowheads="1"/>
            </p:cNvSpPr>
            <p:nvPr/>
          </p:nvSpPr>
          <p:spPr bwMode="auto">
            <a:xfrm>
              <a:off x="1006475"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资源管理计划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项目文件</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变更日志；</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质量报告；</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风险报告；</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工作绩效报告</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事业环境因素</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组织过程资产</a:t>
              </a:r>
              <a:endParaRPr lang="en-US" altLang="zh-CN" sz="1600" b="0" dirty="0">
                <a:latin typeface="微软雅黑" panose="020B0503020204020204" pitchFamily="34" charset="-122"/>
                <a:ea typeface="微软雅黑" panose="020B0503020204020204" pitchFamily="34" charset="-122"/>
              </a:endParaRPr>
            </a:p>
          </p:txBody>
        </p:sp>
        <p:sp>
          <p:nvSpPr>
            <p:cNvPr id="11" name="Rectangle 8">
              <a:extLst>
                <a:ext uri="{FF2B5EF4-FFF2-40B4-BE49-F238E27FC236}">
                  <a16:creationId xmlns:a16="http://schemas.microsoft.com/office/drawing/2014/main" id="{6F55762A-E8A9-40C1-BF83-5ACDE0DA47C8}"/>
                </a:ext>
              </a:extLst>
            </p:cNvPr>
            <p:cNvSpPr>
              <a:spLocks noChangeArrowheads="1"/>
            </p:cNvSpPr>
            <p:nvPr/>
          </p:nvSpPr>
          <p:spPr bwMode="auto">
            <a:xfrm>
              <a:off x="34544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2" name="Rectangle 9">
              <a:extLst>
                <a:ext uri="{FF2B5EF4-FFF2-40B4-BE49-F238E27FC236}">
                  <a16:creationId xmlns:a16="http://schemas.microsoft.com/office/drawing/2014/main" id="{F1CFCF52-7781-4AC4-A6C6-4E818444DA80}"/>
                </a:ext>
              </a:extLst>
            </p:cNvPr>
            <p:cNvSpPr>
              <a:spLocks noChangeArrowheads="1"/>
            </p:cNvSpPr>
            <p:nvPr/>
          </p:nvSpPr>
          <p:spPr bwMode="auto">
            <a:xfrm>
              <a:off x="3454400"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沟通技术</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沟通方法</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沟通技能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沟通胜任力；</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反馈</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非言语；</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演示</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项目管理信息系统</a:t>
              </a:r>
            </a:p>
            <a:p>
              <a:pPr eaLnBrk="1" hangingPunct="1"/>
              <a:r>
                <a:rPr lang="en-US" altLang="zh-CN" sz="1600" b="0" dirty="0">
                  <a:latin typeface="微软雅黑" panose="020B0503020204020204" pitchFamily="34" charset="-122"/>
                  <a:ea typeface="微软雅黑" panose="020B0503020204020204" pitchFamily="34" charset="-122"/>
                </a:rPr>
                <a:t>.5</a:t>
              </a:r>
              <a:r>
                <a:rPr lang="zh-CN" altLang="en-US" sz="1600" b="0" dirty="0">
                  <a:latin typeface="微软雅黑" panose="020B0503020204020204" pitchFamily="34" charset="-122"/>
                  <a:ea typeface="微软雅黑" panose="020B0503020204020204" pitchFamily="34" charset="-122"/>
                </a:rPr>
                <a:t>项目报告</a:t>
              </a:r>
            </a:p>
            <a:p>
              <a:pPr eaLnBrk="1" hangingPunct="1"/>
              <a:r>
                <a:rPr lang="en-US" altLang="zh-CN" sz="1600" b="0" dirty="0">
                  <a:latin typeface="微软雅黑" panose="020B0503020204020204" pitchFamily="34" charset="-122"/>
                  <a:ea typeface="微软雅黑" panose="020B0503020204020204" pitchFamily="34" charset="-122"/>
                </a:rPr>
                <a:t>.6</a:t>
              </a:r>
              <a:r>
                <a:rPr lang="zh-CN" altLang="en-US" sz="1600" b="0" dirty="0">
                  <a:latin typeface="微软雅黑" panose="020B0503020204020204" pitchFamily="34" charset="-122"/>
                  <a:ea typeface="微软雅黑" panose="020B0503020204020204" pitchFamily="34" charset="-122"/>
                </a:rPr>
                <a:t>人际关系与团队技能</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积极倾听；</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冲突管理；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文化意识；</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会议管理；</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人际交往；</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政治意识</a:t>
              </a:r>
            </a:p>
            <a:p>
              <a:pPr eaLnBrk="1" hangingPunct="1"/>
              <a:r>
                <a:rPr lang="en-US" altLang="zh-CN" sz="1600" b="0" dirty="0">
                  <a:latin typeface="微软雅黑" panose="020B0503020204020204" pitchFamily="34" charset="-122"/>
                  <a:ea typeface="微软雅黑" panose="020B0503020204020204" pitchFamily="34" charset="-122"/>
                </a:rPr>
                <a:t>.7</a:t>
              </a:r>
              <a:r>
                <a:rPr lang="zh-CN" altLang="en-US" sz="1600" b="0" dirty="0">
                  <a:latin typeface="微软雅黑" panose="020B0503020204020204" pitchFamily="34" charset="-122"/>
                  <a:ea typeface="微软雅黑" panose="020B0503020204020204" pitchFamily="34" charset="-122"/>
                </a:rPr>
                <a:t>会议</a:t>
              </a:r>
              <a:endParaRPr lang="en-US" altLang="zh-CN" sz="1600" b="0" dirty="0">
                <a:latin typeface="微软雅黑" panose="020B0503020204020204" pitchFamily="34" charset="-122"/>
                <a:ea typeface="微软雅黑" panose="020B0503020204020204" pitchFamily="34" charset="-122"/>
              </a:endParaRPr>
            </a:p>
          </p:txBody>
        </p:sp>
        <p:sp>
          <p:nvSpPr>
            <p:cNvPr id="13" name="Rectangle 10">
              <a:extLst>
                <a:ext uri="{FF2B5EF4-FFF2-40B4-BE49-F238E27FC236}">
                  <a16:creationId xmlns:a16="http://schemas.microsoft.com/office/drawing/2014/main" id="{49009F9E-C71D-40A6-8F63-0247113D2DCD}"/>
                </a:ext>
              </a:extLst>
            </p:cNvPr>
            <p:cNvSpPr>
              <a:spLocks noChangeArrowheads="1"/>
            </p:cNvSpPr>
            <p:nvPr/>
          </p:nvSpPr>
          <p:spPr bwMode="auto">
            <a:xfrm>
              <a:off x="59023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4" name="Rectangle 11">
              <a:extLst>
                <a:ext uri="{FF2B5EF4-FFF2-40B4-BE49-F238E27FC236}">
                  <a16:creationId xmlns:a16="http://schemas.microsoft.com/office/drawing/2014/main" id="{AE070676-B11F-4B66-88A2-FB7EB7A09BC0}"/>
                </a:ext>
              </a:extLst>
            </p:cNvPr>
            <p:cNvSpPr>
              <a:spLocks noChangeArrowheads="1"/>
            </p:cNvSpPr>
            <p:nvPr/>
          </p:nvSpPr>
          <p:spPr bwMode="auto">
            <a:xfrm>
              <a:off x="5902325" y="3267075"/>
              <a:ext cx="2305050" cy="3152409"/>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项目沟通记录</a:t>
              </a:r>
            </a:p>
            <a:p>
              <a:pPr eaLnBrk="1" hangingPunct="1"/>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项目管理计划更新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沟通管理计划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相关方参与计划</a:t>
              </a:r>
            </a:p>
            <a:p>
              <a:pPr eaLnBrk="1" hangingPunct="1"/>
              <a:r>
                <a:rPr lang="en-US" altLang="zh-CN" sz="1600" b="0" dirty="0">
                  <a:latin typeface="微软雅黑" panose="020B0503020204020204" pitchFamily="34" charset="-122"/>
                  <a:ea typeface="微软雅黑" panose="020B0503020204020204" pitchFamily="34" charset="-122"/>
                </a:rPr>
                <a:t>.3</a:t>
              </a:r>
              <a:r>
                <a:rPr lang="zh-CN" altLang="en-US" sz="1600" b="0" dirty="0">
                  <a:latin typeface="微软雅黑" panose="020B0503020204020204" pitchFamily="34" charset="-122"/>
                  <a:ea typeface="微软雅黑" panose="020B0503020204020204" pitchFamily="34" charset="-122"/>
                </a:rPr>
                <a:t>项目文件更新</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问题日志</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经验教训登记册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项目进度计划</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风险登记册</a:t>
              </a:r>
            </a:p>
            <a:p>
              <a:pPr eaLnBrk="1" hangingPunct="1"/>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相关方登记册</a:t>
              </a:r>
            </a:p>
            <a:p>
              <a:pPr eaLnBrk="1" hangingPunct="1"/>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组织过程资产更新</a:t>
              </a:r>
            </a:p>
          </p:txBody>
        </p:sp>
      </p:grpSp>
    </p:spTree>
    <p:extLst>
      <p:ext uri="{BB962C8B-B14F-4D97-AF65-F5344CB8AC3E}">
        <p14:creationId xmlns:p14="http://schemas.microsoft.com/office/powerpoint/2010/main" val="291933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CB217E-4431-4B4E-9574-2524E485E864}"/>
              </a:ext>
            </a:extLst>
          </p:cNvPr>
          <p:cNvSpPr>
            <a:spLocks noGrp="1"/>
          </p:cNvSpPr>
          <p:nvPr>
            <p:ph idx="1"/>
          </p:nvPr>
        </p:nvSpPr>
        <p:spPr/>
        <p:txBody>
          <a:bodyPr/>
          <a:lstStyle/>
          <a:p>
            <a:r>
              <a:rPr lang="zh-CN" altLang="en-US" sz="2000" b="0" dirty="0">
                <a:latin typeface="微软雅黑" panose="020B0503020204020204" pitchFamily="34" charset="-122"/>
              </a:rPr>
              <a:t>不局限于发布相关信息，它还设法确保信息以适当的格式正确生成和送达目标受众。</a:t>
            </a:r>
            <a:endParaRPr lang="en-US" altLang="zh-CN" sz="2000" b="0" dirty="0">
              <a:latin typeface="微软雅黑" panose="020B0503020204020204" pitchFamily="34" charset="-122"/>
            </a:endParaRPr>
          </a:p>
          <a:p>
            <a:r>
              <a:rPr lang="zh-CN" altLang="en-US" sz="2000" b="0" dirty="0">
                <a:latin typeface="微软雅黑" panose="020B0503020204020204" pitchFamily="34" charset="-122"/>
              </a:rPr>
              <a:t>为相关方提供机会，允许他们请求更多信息、澄清和讨论</a:t>
            </a:r>
            <a:endParaRPr lang="en-US" altLang="zh-CN" sz="2000" b="0" dirty="0">
              <a:latin typeface="微软雅黑" panose="020B0503020204020204" pitchFamily="34" charset="-122"/>
            </a:endParaRPr>
          </a:p>
          <a:p>
            <a:r>
              <a:rPr lang="zh-CN" altLang="en-US" sz="2000" b="0" dirty="0">
                <a:latin typeface="微软雅黑" panose="020B0503020204020204" pitchFamily="34" charset="-122"/>
              </a:rPr>
              <a:t>有效的沟通管理需要借助相关技术并考虑相关事宜</a:t>
            </a:r>
            <a:endParaRPr lang="en-US" altLang="zh-CN" sz="2000" b="0" dirty="0">
              <a:latin typeface="微软雅黑" panose="020B0503020204020204" pitchFamily="34" charset="-122"/>
            </a:endParaRPr>
          </a:p>
          <a:p>
            <a:pPr lvl="1"/>
            <a:r>
              <a:rPr lang="zh-CN" altLang="en-US" sz="1800" dirty="0">
                <a:latin typeface="微软雅黑" panose="020B0503020204020204" pitchFamily="34" charset="-122"/>
              </a:rPr>
              <a:t>发送方 </a:t>
            </a:r>
            <a:r>
              <a:rPr lang="en-US" altLang="zh-CN" sz="1800" dirty="0">
                <a:latin typeface="微软雅黑" panose="020B0503020204020204" pitchFamily="34" charset="-122"/>
              </a:rPr>
              <a:t>- </a:t>
            </a:r>
            <a:r>
              <a:rPr lang="zh-CN" altLang="en-US" sz="1800" dirty="0">
                <a:latin typeface="微软雅黑" panose="020B0503020204020204" pitchFamily="34" charset="-122"/>
              </a:rPr>
              <a:t>接收方模型。</a:t>
            </a:r>
            <a:r>
              <a:rPr lang="en-US" altLang="zh-CN" sz="1800" dirty="0">
                <a:latin typeface="微软雅黑" panose="020B0503020204020204" pitchFamily="34" charset="-122"/>
              </a:rPr>
              <a:t> </a:t>
            </a:r>
            <a:r>
              <a:rPr lang="zh-CN" altLang="en-US" sz="1800" b="0" dirty="0">
                <a:latin typeface="微软雅黑" panose="020B0503020204020204" pitchFamily="34" charset="-122"/>
              </a:rPr>
              <a:t>运用反馈循环</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媒介选择。</a:t>
            </a:r>
            <a:r>
              <a:rPr lang="zh-CN" altLang="en-US" sz="1800" b="0" dirty="0">
                <a:latin typeface="微软雅黑" panose="020B0503020204020204" pitchFamily="34" charset="-122"/>
              </a:rPr>
              <a:t>为满足特定的项目需求而使用合理的沟通工件</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会议管理。</a:t>
            </a:r>
            <a:r>
              <a:rPr lang="zh-CN" altLang="en-US" sz="1800" b="0" dirty="0">
                <a:latin typeface="微软雅黑" panose="020B0503020204020204" pitchFamily="34" charset="-122"/>
              </a:rPr>
              <a:t>准备议程，邀请重要参会者并确保他们出席；冲突处理器</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演示。</a:t>
            </a:r>
            <a:r>
              <a:rPr lang="zh-CN" altLang="en-US" sz="1800" b="0" dirty="0">
                <a:latin typeface="微软雅黑" panose="020B0503020204020204" pitchFamily="34" charset="-122"/>
              </a:rPr>
              <a:t>了解肢体语言和视觉辅助设计的作用</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引导。</a:t>
            </a:r>
            <a:r>
              <a:rPr lang="zh-CN" altLang="en-US" sz="1800" b="0" dirty="0">
                <a:latin typeface="微软雅黑" panose="020B0503020204020204" pitchFamily="34" charset="-122"/>
              </a:rPr>
              <a:t>达成共识、克服障碍（如小组缺乏活力）</a:t>
            </a:r>
            <a:endParaRPr lang="en-US" altLang="zh-CN" sz="1800" dirty="0">
              <a:latin typeface="微软雅黑" panose="020B0503020204020204" pitchFamily="34" charset="-122"/>
            </a:endParaRPr>
          </a:p>
          <a:p>
            <a:pPr lvl="1"/>
            <a:r>
              <a:rPr lang="zh-CN" altLang="en-US" sz="1800" dirty="0">
                <a:latin typeface="微软雅黑" panose="020B0503020204020204" pitchFamily="34" charset="-122"/>
              </a:rPr>
              <a:t>积极倾听。</a:t>
            </a:r>
            <a:r>
              <a:rPr lang="zh-CN" altLang="en-US" sz="1800" b="0" dirty="0">
                <a:latin typeface="微软雅黑" panose="020B0503020204020204" pitchFamily="34" charset="-122"/>
              </a:rPr>
              <a:t>积极倾听包括告知已收到、澄清与确认信息、理解，以及消除妨碍理解的障碍</a:t>
            </a:r>
            <a:endParaRPr lang="en-US" altLang="zh-CN" sz="1800" b="0" dirty="0">
              <a:latin typeface="微软雅黑" panose="020B0503020204020204" pitchFamily="34" charset="-122"/>
            </a:endParaRPr>
          </a:p>
          <a:p>
            <a:pPr lvl="1"/>
            <a:endParaRPr lang="zh-CN" altLang="en-US" dirty="0">
              <a:latin typeface="微软雅黑" panose="020B0503020204020204" pitchFamily="34" charset="-122"/>
            </a:endParaRPr>
          </a:p>
        </p:txBody>
      </p:sp>
      <p:sp>
        <p:nvSpPr>
          <p:cNvPr id="4" name="标题 2">
            <a:extLst>
              <a:ext uri="{FF2B5EF4-FFF2-40B4-BE49-F238E27FC236}">
                <a16:creationId xmlns:a16="http://schemas.microsoft.com/office/drawing/2014/main" id="{134C35C9-8882-40F6-A672-2E400EEC07C4}"/>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64528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4FAC6E4-25C7-4814-97B5-74CA0B5C0EA9}"/>
              </a:ext>
            </a:extLst>
          </p:cNvPr>
          <p:cNvSpPr>
            <a:spLocks noGrp="1"/>
          </p:cNvSpPr>
          <p:nvPr>
            <p:ph idx="1"/>
          </p:nvPr>
        </p:nvSpPr>
        <p:spPr/>
        <p:txBody>
          <a:bodyPr/>
          <a:lstStyle/>
          <a:p>
            <a:r>
              <a:rPr lang="zh-CN" altLang="en-US" sz="2400" dirty="0">
                <a:latin typeface="SourceHanSansSC-Medium"/>
              </a:rPr>
              <a:t>管理沟通的输入</a:t>
            </a:r>
            <a:endParaRPr lang="en-US" altLang="zh-CN" sz="2400" dirty="0">
              <a:latin typeface="SourceHanSansSC-Medium"/>
            </a:endParaRPr>
          </a:p>
          <a:p>
            <a:pPr lvl="1"/>
            <a:r>
              <a:rPr lang="zh-CN" altLang="en-US" i="0" u="none" strike="noStrike" baseline="0" dirty="0">
                <a:solidFill>
                  <a:schemeClr val="tx2"/>
                </a:solidFill>
                <a:latin typeface="SourceHanSansSC-Medium"/>
              </a:rPr>
              <a:t>资源管理计划  </a:t>
            </a:r>
            <a:r>
              <a:rPr lang="zh-CN" altLang="en-US" i="0" u="none" strike="noStrike" baseline="0" dirty="0">
                <a:latin typeface="SourceHanSansSC-Medium"/>
              </a:rPr>
              <a:t>描述为管理团队或物质资源所需开展的沟通</a:t>
            </a:r>
            <a:endParaRPr lang="en-US" altLang="zh-CN" i="0" u="none" strike="noStrike" baseline="0" dirty="0">
              <a:latin typeface="SourceHanSansSC-Medium"/>
            </a:endParaRPr>
          </a:p>
          <a:p>
            <a:pPr lvl="1"/>
            <a:r>
              <a:rPr lang="zh-CN" altLang="en-US" i="0" u="none" strike="noStrike" baseline="0" dirty="0">
                <a:solidFill>
                  <a:schemeClr val="tx2"/>
                </a:solidFill>
                <a:latin typeface="SourceHanSansSC-Regular"/>
              </a:rPr>
              <a:t>沟通管理计划  </a:t>
            </a:r>
            <a:r>
              <a:rPr lang="zh-CN" altLang="en-US" i="0" u="none" strike="noStrike" baseline="0" dirty="0">
                <a:latin typeface="SourceHanSansSC-Regular"/>
              </a:rPr>
              <a:t>描述将如何对项目沟通进行规划、结构化和监</a:t>
            </a:r>
            <a:r>
              <a:rPr lang="zh-CN" altLang="en-US" i="0" u="none" strike="noStrike" baseline="0" dirty="0">
                <a:latin typeface="SourceHanSansSC-Bold"/>
              </a:rPr>
              <a:t>控</a:t>
            </a:r>
            <a:endParaRPr lang="en-US" altLang="zh-CN" i="0" u="none" strike="noStrike" baseline="0" dirty="0">
              <a:latin typeface="SourceHanSansSC-Bold"/>
            </a:endParaRPr>
          </a:p>
          <a:p>
            <a:pPr lvl="1"/>
            <a:r>
              <a:rPr lang="zh-CN" altLang="en-US" i="0" u="none" strike="noStrike" baseline="0" dirty="0">
                <a:solidFill>
                  <a:schemeClr val="tx2"/>
                </a:solidFill>
                <a:latin typeface="SourceHanSansSC-Regular"/>
              </a:rPr>
              <a:t>相关方参与计划  </a:t>
            </a:r>
            <a:r>
              <a:rPr lang="zh-CN" altLang="en-US" i="0" u="none" strike="noStrike" baseline="0" dirty="0">
                <a:latin typeface="SourceHanSansSC-Regular"/>
              </a:rPr>
              <a:t>描述如何用适当的沟通策略引导相关方参与项目</a:t>
            </a:r>
            <a:endParaRPr lang="en-US" altLang="zh-CN" i="0" u="none" strike="noStrike" baseline="0" dirty="0">
              <a:latin typeface="SourceHanSansSC-Regular"/>
            </a:endParaRPr>
          </a:p>
          <a:p>
            <a:pPr lvl="1"/>
            <a:r>
              <a:rPr lang="zh-CN" altLang="en-US" i="0" u="none" strike="noStrike" baseline="0" dirty="0">
                <a:solidFill>
                  <a:schemeClr val="tx2"/>
                </a:solidFill>
                <a:latin typeface="SourceHanSansSC-Medium"/>
              </a:rPr>
              <a:t>项目文件  </a:t>
            </a:r>
            <a:r>
              <a:rPr lang="zh-CN" altLang="en-US" i="0" u="none" strike="noStrike" baseline="0" dirty="0">
                <a:latin typeface="SourceHanSansSC-Medium"/>
              </a:rPr>
              <a:t>阐述的其它需要沟通的</a:t>
            </a:r>
            <a:r>
              <a:rPr lang="zh-CN" altLang="en-US" dirty="0">
                <a:latin typeface="SourceHanSansSC-Regular"/>
              </a:rPr>
              <a:t>相关内容：</a:t>
            </a:r>
            <a:endParaRPr lang="en-US" altLang="zh-CN" dirty="0">
              <a:latin typeface="SourceHanSansSC-Regular"/>
            </a:endParaRPr>
          </a:p>
          <a:p>
            <a:pPr lvl="2"/>
            <a:r>
              <a:rPr lang="zh-CN" altLang="en-US" i="0" u="none" strike="noStrike" baseline="0" dirty="0">
                <a:latin typeface="SourceHanSansSC-Bold"/>
              </a:rPr>
              <a:t>变更日志，问题日志，经验教训登记册，质量报告，风险报告，相关方登记册</a:t>
            </a:r>
            <a:endParaRPr lang="en-US" altLang="zh-CN" i="0" u="none" strike="noStrike" baseline="0" dirty="0">
              <a:latin typeface="SourceHanSansSC-Bold"/>
            </a:endParaRPr>
          </a:p>
          <a:p>
            <a:pPr lvl="1"/>
            <a:r>
              <a:rPr lang="zh-CN" altLang="en-US" i="0" u="none" strike="noStrike" baseline="0" dirty="0">
                <a:solidFill>
                  <a:schemeClr val="tx2"/>
                </a:solidFill>
                <a:latin typeface="SourceHanSansSC-Medium"/>
              </a:rPr>
              <a:t>工作绩效报告</a:t>
            </a:r>
          </a:p>
          <a:p>
            <a:pPr lvl="1"/>
            <a:r>
              <a:rPr lang="zh-CN" altLang="en-US" dirty="0">
                <a:solidFill>
                  <a:schemeClr val="tx2"/>
                </a:solidFill>
                <a:latin typeface="SourceHanSansSC-Medium"/>
              </a:rPr>
              <a:t>事业环境因素</a:t>
            </a:r>
            <a:endParaRPr lang="en-US" altLang="zh-CN" dirty="0">
              <a:solidFill>
                <a:schemeClr val="tx2"/>
              </a:solidFill>
              <a:latin typeface="SourceHanSansSC-Medium"/>
            </a:endParaRPr>
          </a:p>
          <a:p>
            <a:pPr lvl="1"/>
            <a:r>
              <a:rPr lang="zh-CN" altLang="en-US" dirty="0">
                <a:solidFill>
                  <a:schemeClr val="tx2"/>
                </a:solidFill>
                <a:latin typeface="SourceHanSansSC-Medium"/>
              </a:rPr>
              <a:t>组织过程资产</a:t>
            </a:r>
          </a:p>
          <a:p>
            <a:pPr lvl="1"/>
            <a:endParaRPr lang="zh-CN" altLang="en-US" dirty="0"/>
          </a:p>
        </p:txBody>
      </p:sp>
      <p:sp>
        <p:nvSpPr>
          <p:cNvPr id="4" name="标题 2">
            <a:extLst>
              <a:ext uri="{FF2B5EF4-FFF2-40B4-BE49-F238E27FC236}">
                <a16:creationId xmlns:a16="http://schemas.microsoft.com/office/drawing/2014/main" id="{E8F64701-BE26-4E6E-A823-5CAC80E887A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174782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CDCF33B-D34B-48BB-B915-DDDF92559801}"/>
              </a:ext>
            </a:extLst>
          </p:cNvPr>
          <p:cNvSpPr>
            <a:spLocks noGrp="1"/>
          </p:cNvSpPr>
          <p:nvPr>
            <p:ph idx="1"/>
          </p:nvPr>
        </p:nvSpPr>
        <p:spPr/>
        <p:txBody>
          <a:bodyPr/>
          <a:lstStyle/>
          <a:p>
            <a:r>
              <a:rPr lang="zh-CN" altLang="en-US" dirty="0"/>
              <a:t>管理沟通的工具与技术</a:t>
            </a:r>
            <a:endParaRPr lang="en-US" altLang="zh-CN" dirty="0"/>
          </a:p>
          <a:p>
            <a:pPr lvl="1"/>
            <a:r>
              <a:rPr lang="zh-CN" altLang="en-US" dirty="0"/>
              <a:t>沟通技术。</a:t>
            </a:r>
            <a:r>
              <a:rPr lang="zh-CN" altLang="en-US" b="0" dirty="0"/>
              <a:t>选用时注意考虑影响沟通的因素。</a:t>
            </a:r>
            <a:endParaRPr lang="en-US" altLang="zh-CN" b="0" dirty="0"/>
          </a:p>
          <a:p>
            <a:pPr lvl="1"/>
            <a:r>
              <a:rPr lang="zh-CN" altLang="en-US" dirty="0"/>
              <a:t>沟通方法。</a:t>
            </a:r>
            <a:r>
              <a:rPr lang="zh-CN" altLang="en-US" b="0" dirty="0"/>
              <a:t>沟通方法的选择应具有灵活性，以应对相关方社区的成员变化，或成员的需求和期望变化。</a:t>
            </a:r>
            <a:endParaRPr lang="en-US" altLang="zh-CN" b="0" dirty="0"/>
          </a:p>
          <a:p>
            <a:pPr lvl="1"/>
            <a:r>
              <a:rPr lang="zh-CN" altLang="en-US" dirty="0"/>
              <a:t>沟通技能。</a:t>
            </a:r>
            <a:r>
              <a:rPr lang="zh-CN" altLang="en-US" b="0" dirty="0"/>
              <a:t>包括：沟通胜任力，</a:t>
            </a:r>
            <a:r>
              <a:rPr lang="zh-CN" altLang="en-US" b="0" dirty="0">
                <a:latin typeface="SourceHanSansSC-Bold"/>
              </a:rPr>
              <a:t>反馈，非口头技能，演示</a:t>
            </a:r>
            <a:endParaRPr lang="en-US" altLang="zh-CN" b="0" dirty="0">
              <a:latin typeface="SourceHanSansSC-Bold"/>
            </a:endParaRPr>
          </a:p>
          <a:p>
            <a:pPr lvl="1"/>
            <a:r>
              <a:rPr lang="zh-CN" altLang="en-US" dirty="0"/>
              <a:t>项目管理信息系统 </a:t>
            </a:r>
            <a:r>
              <a:rPr lang="en-US" altLang="zh-CN" dirty="0"/>
              <a:t>(PMIS)</a:t>
            </a:r>
            <a:r>
              <a:rPr lang="zh-CN" altLang="en-US" dirty="0"/>
              <a:t>。</a:t>
            </a:r>
            <a:endParaRPr lang="en-US" altLang="zh-CN" dirty="0"/>
          </a:p>
          <a:p>
            <a:pPr lvl="1"/>
            <a:r>
              <a:rPr lang="zh-CN" altLang="en-US" dirty="0"/>
              <a:t>项目报告发布。</a:t>
            </a:r>
            <a:r>
              <a:rPr lang="zh-CN" altLang="en-US" b="0" dirty="0"/>
              <a:t>是收集和发布项目信息的行为。</a:t>
            </a:r>
            <a:endParaRPr lang="en-US" altLang="zh-CN" b="0" dirty="0"/>
          </a:p>
          <a:p>
            <a:pPr lvl="1"/>
            <a:r>
              <a:rPr lang="zh-CN" altLang="en-US" dirty="0"/>
              <a:t>人际关系与团队技能。</a:t>
            </a:r>
            <a:r>
              <a:rPr lang="zh-CN" altLang="en-US" b="0" dirty="0"/>
              <a:t>包括：</a:t>
            </a:r>
            <a:r>
              <a:rPr lang="zh-CN" altLang="en-US" b="0" dirty="0">
                <a:latin typeface="SourceHanSansSC-Bold"/>
              </a:rPr>
              <a:t>积极倾听，冲突管理，文化意识，会议管理，人际交往，政治意识</a:t>
            </a:r>
            <a:endParaRPr lang="zh-CN" altLang="en-US" b="0" dirty="0"/>
          </a:p>
          <a:p>
            <a:pPr lvl="1"/>
            <a:r>
              <a:rPr lang="zh-CN" altLang="en-US" dirty="0"/>
              <a:t>会议</a:t>
            </a:r>
          </a:p>
          <a:p>
            <a:pPr lvl="1"/>
            <a:endParaRPr lang="zh-CN" altLang="en-US" dirty="0"/>
          </a:p>
        </p:txBody>
      </p:sp>
      <p:sp>
        <p:nvSpPr>
          <p:cNvPr id="4" name="标题 2">
            <a:extLst>
              <a:ext uri="{FF2B5EF4-FFF2-40B4-BE49-F238E27FC236}">
                <a16:creationId xmlns:a16="http://schemas.microsoft.com/office/drawing/2014/main" id="{F26DD7D5-D47A-4814-9AD6-62A9E026A3E9}"/>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220605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4871722-7BE2-456E-86A6-A03A72979E4C}"/>
              </a:ext>
            </a:extLst>
          </p:cNvPr>
          <p:cNvSpPr>
            <a:spLocks noGrp="1"/>
          </p:cNvSpPr>
          <p:nvPr>
            <p:ph idx="1"/>
          </p:nvPr>
        </p:nvSpPr>
        <p:spPr/>
        <p:txBody>
          <a:bodyPr/>
          <a:lstStyle/>
          <a:p>
            <a:r>
              <a:rPr lang="zh-CN" altLang="en-US" dirty="0"/>
              <a:t>管理沟通的输出</a:t>
            </a:r>
            <a:endParaRPr lang="en-US" altLang="zh-CN" dirty="0"/>
          </a:p>
          <a:p>
            <a:pPr lvl="1"/>
            <a:r>
              <a:rPr lang="zh-CN" altLang="en-US" dirty="0"/>
              <a:t>项目沟通记录，</a:t>
            </a:r>
            <a:r>
              <a:rPr lang="zh-CN" altLang="en-US" b="0" dirty="0">
                <a:latin typeface="SourceHanSansSC-Regular"/>
              </a:rPr>
              <a:t>可包括：绩效报告、可交付成果的状态、进度进展、产生的成本、演示，以及相关方需要的其他信息。</a:t>
            </a:r>
            <a:endParaRPr lang="en-US" altLang="zh-CN" b="0" dirty="0">
              <a:latin typeface="SourceHanSansSC-Regular"/>
            </a:endParaRPr>
          </a:p>
          <a:p>
            <a:pPr lvl="1"/>
            <a:r>
              <a:rPr lang="zh-CN" altLang="en-US" dirty="0"/>
              <a:t>项目管理计划更新，</a:t>
            </a:r>
            <a:r>
              <a:rPr lang="zh-CN" altLang="en-US" b="0" dirty="0">
                <a:latin typeface="SourceHanSansSC-Regular"/>
              </a:rPr>
              <a:t>可包括：沟通管理计划、相关方参与计划</a:t>
            </a:r>
            <a:endParaRPr lang="en-US" altLang="zh-CN" b="0" dirty="0">
              <a:latin typeface="SourceHanSansSC-Regular"/>
            </a:endParaRPr>
          </a:p>
          <a:p>
            <a:pPr lvl="1"/>
            <a:r>
              <a:rPr lang="zh-CN" altLang="en-US" dirty="0"/>
              <a:t>项目文件更新，</a:t>
            </a:r>
            <a:r>
              <a:rPr lang="zh-CN" altLang="en-US" b="0" dirty="0">
                <a:latin typeface="SourceHanSansSC-Regular"/>
              </a:rPr>
              <a:t>可包括：问题日志，经验教训登记册，项目进度计划，风险登记册，相关方登记册</a:t>
            </a:r>
          </a:p>
          <a:p>
            <a:pPr lvl="1"/>
            <a:r>
              <a:rPr lang="zh-CN" altLang="en-US" dirty="0"/>
              <a:t>更新可在本过程更新的组织过程资产，</a:t>
            </a:r>
            <a:r>
              <a:rPr lang="zh-CN" altLang="en-US" b="0" dirty="0">
                <a:latin typeface="SourceHanSansSC-Regular"/>
              </a:rPr>
              <a:t>可包括：项目记录，计划内的和临时的项目报告和演示</a:t>
            </a:r>
            <a:endParaRPr lang="zh-CN" altLang="en-US" dirty="0"/>
          </a:p>
        </p:txBody>
      </p:sp>
      <p:sp>
        <p:nvSpPr>
          <p:cNvPr id="4" name="标题 2">
            <a:extLst>
              <a:ext uri="{FF2B5EF4-FFF2-40B4-BE49-F238E27FC236}">
                <a16:creationId xmlns:a16="http://schemas.microsoft.com/office/drawing/2014/main" id="{965FED47-F5FE-4117-8408-E97A7886FF0A}"/>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16.3 </a:t>
            </a:r>
            <a:r>
              <a:rPr lang="zh-CN" altLang="en-US" dirty="0"/>
              <a:t>管理沟通</a:t>
            </a:r>
          </a:p>
        </p:txBody>
      </p:sp>
    </p:spTree>
    <p:extLst>
      <p:ext uri="{BB962C8B-B14F-4D97-AF65-F5344CB8AC3E}">
        <p14:creationId xmlns:p14="http://schemas.microsoft.com/office/powerpoint/2010/main" val="13482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3FCE2CB-47F3-4316-B961-04D1CD3D0688}"/>
              </a:ext>
            </a:extLst>
          </p:cNvPr>
          <p:cNvSpPr>
            <a:spLocks noGrp="1"/>
          </p:cNvSpPr>
          <p:nvPr>
            <p:ph idx="1"/>
          </p:nvPr>
        </p:nvSpPr>
        <p:spPr/>
        <p:txBody>
          <a:bodyPr/>
          <a:lstStyle/>
          <a:p>
            <a:pPr>
              <a:lnSpc>
                <a:spcPct val="130000"/>
              </a:lnSpc>
            </a:pPr>
            <a:r>
              <a:rPr lang="zh-CN" altLang="en-US" sz="2000" dirty="0"/>
              <a:t>监督沟通是确保满足项目及其相关方的信息需求的过程。</a:t>
            </a:r>
            <a:endParaRPr lang="en-US" altLang="zh-CN" sz="2000" dirty="0"/>
          </a:p>
          <a:p>
            <a:pPr lvl="1">
              <a:lnSpc>
                <a:spcPct val="130000"/>
              </a:lnSpc>
            </a:pPr>
            <a:r>
              <a:rPr lang="zh-CN" altLang="en-US" sz="1800" dirty="0"/>
              <a:t>本过程的主要作用是，按沟通管理计划和相关方参与计划的要求优化信息传递流程。</a:t>
            </a:r>
            <a:endParaRPr lang="en-US" altLang="zh-CN" sz="1800" dirty="0"/>
          </a:p>
          <a:p>
            <a:pPr lvl="1">
              <a:lnSpc>
                <a:spcPct val="130000"/>
              </a:lnSpc>
            </a:pPr>
            <a:r>
              <a:rPr lang="zh-CN" altLang="en-US" sz="1800" dirty="0"/>
              <a:t>本过程需要在整个项目期间开展。</a:t>
            </a:r>
          </a:p>
        </p:txBody>
      </p:sp>
      <p:sp>
        <p:nvSpPr>
          <p:cNvPr id="4" name="标题 2">
            <a:extLst>
              <a:ext uri="{FF2B5EF4-FFF2-40B4-BE49-F238E27FC236}">
                <a16:creationId xmlns:a16="http://schemas.microsoft.com/office/drawing/2014/main" id="{E48606DF-B066-4B64-AE49-9A0A6E2F9BCE}"/>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
        <p:nvSpPr>
          <p:cNvPr id="5" name="AutoShape 5">
            <a:extLst>
              <a:ext uri="{FF2B5EF4-FFF2-40B4-BE49-F238E27FC236}">
                <a16:creationId xmlns:a16="http://schemas.microsoft.com/office/drawing/2014/main" id="{B8DF0003-0C65-48E9-9434-282AFC71F28C}"/>
              </a:ext>
            </a:extLst>
          </p:cNvPr>
          <p:cNvSpPr>
            <a:spLocks noChangeArrowheads="1"/>
          </p:cNvSpPr>
          <p:nvPr/>
        </p:nvSpPr>
        <p:spPr bwMode="auto">
          <a:xfrm>
            <a:off x="1997076" y="3555231"/>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 name="Rectangle 6">
            <a:extLst>
              <a:ext uri="{FF2B5EF4-FFF2-40B4-BE49-F238E27FC236}">
                <a16:creationId xmlns:a16="http://schemas.microsoft.com/office/drawing/2014/main" id="{6C07477B-47E6-4346-99C4-099AB76AF9BA}"/>
              </a:ext>
            </a:extLst>
          </p:cNvPr>
          <p:cNvSpPr>
            <a:spLocks noChangeArrowheads="1"/>
          </p:cNvSpPr>
          <p:nvPr/>
        </p:nvSpPr>
        <p:spPr bwMode="auto">
          <a:xfrm>
            <a:off x="232727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7" name="Rectangle 7">
            <a:extLst>
              <a:ext uri="{FF2B5EF4-FFF2-40B4-BE49-F238E27FC236}">
                <a16:creationId xmlns:a16="http://schemas.microsoft.com/office/drawing/2014/main" id="{849DBF9B-2A39-4C4E-A619-4BA8B256F3E8}"/>
              </a:ext>
            </a:extLst>
          </p:cNvPr>
          <p:cNvSpPr>
            <a:spLocks noChangeArrowheads="1"/>
          </p:cNvSpPr>
          <p:nvPr/>
        </p:nvSpPr>
        <p:spPr bwMode="auto">
          <a:xfrm>
            <a:off x="2327275" y="3267075"/>
            <a:ext cx="2305050" cy="2997200"/>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zh-CN" sz="1600" dirty="0">
                <a:latin typeface="Times New Roman" panose="02020603050405020304" pitchFamily="18" charset="0"/>
              </a:rPr>
              <a:t>.1</a:t>
            </a:r>
            <a:r>
              <a:rPr lang="zh-CN" altLang="en-US" sz="1600" dirty="0">
                <a:latin typeface="Times New Roman" panose="02020603050405020304" pitchFamily="18" charset="0"/>
              </a:rPr>
              <a:t>项目管理计划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资源管理计划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沟通管理计划</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相关方参与计划</a:t>
            </a:r>
          </a:p>
          <a:p>
            <a:pPr eaLnBrk="1" hangingPunct="1"/>
            <a:r>
              <a:rPr lang="en-US" altLang="zh-CN" sz="1600" dirty="0">
                <a:latin typeface="Times New Roman" panose="02020603050405020304" pitchFamily="18" charset="0"/>
              </a:rPr>
              <a:t>.2</a:t>
            </a:r>
            <a:r>
              <a:rPr lang="zh-CN" altLang="en-US" sz="1600" dirty="0">
                <a:latin typeface="Times New Roman" panose="02020603050405020304" pitchFamily="18" charset="0"/>
              </a:rPr>
              <a:t>项目文件</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问题日志</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经验教训登记册</a:t>
            </a:r>
          </a:p>
          <a:p>
            <a:pPr eaLnBrk="1" hangingPunct="1"/>
            <a:r>
              <a:rPr lang="en-US" altLang="zh-CN" sz="1600" dirty="0">
                <a:latin typeface="Times New Roman" panose="02020603050405020304" pitchFamily="18" charset="0"/>
              </a:rPr>
              <a:t>   ·</a:t>
            </a:r>
            <a:r>
              <a:rPr lang="zh-CN" altLang="en-US" sz="1600" dirty="0">
                <a:latin typeface="Times New Roman" panose="02020603050405020304" pitchFamily="18" charset="0"/>
              </a:rPr>
              <a:t>项目沟通记录</a:t>
            </a:r>
          </a:p>
          <a:p>
            <a:pPr eaLnBrk="1" hangingPunct="1"/>
            <a:r>
              <a:rPr lang="en-US" altLang="zh-CN" sz="1600" dirty="0">
                <a:latin typeface="Times New Roman" panose="02020603050405020304" pitchFamily="18" charset="0"/>
              </a:rPr>
              <a:t>.3</a:t>
            </a:r>
            <a:r>
              <a:rPr lang="zh-CN" altLang="en-US" sz="1600" dirty="0">
                <a:latin typeface="Times New Roman" panose="02020603050405020304" pitchFamily="18" charset="0"/>
              </a:rPr>
              <a:t>工作绩效数据</a:t>
            </a:r>
          </a:p>
          <a:p>
            <a:pPr eaLnBrk="1" hangingPunct="1"/>
            <a:r>
              <a:rPr lang="en-US" altLang="zh-CN" sz="1600" dirty="0">
                <a:latin typeface="Times New Roman" panose="02020603050405020304" pitchFamily="18" charset="0"/>
              </a:rPr>
              <a:t>.4</a:t>
            </a:r>
            <a:r>
              <a:rPr lang="zh-CN" altLang="en-US" sz="1600" dirty="0">
                <a:latin typeface="Times New Roman" panose="02020603050405020304" pitchFamily="18" charset="0"/>
              </a:rPr>
              <a:t>事业环境因素</a:t>
            </a:r>
          </a:p>
          <a:p>
            <a:pPr eaLnBrk="1" hangingPunct="1"/>
            <a:r>
              <a:rPr lang="en-US" altLang="zh-CN" sz="1600" dirty="0">
                <a:latin typeface="Times New Roman" panose="02020603050405020304" pitchFamily="18" charset="0"/>
              </a:rPr>
              <a:t>.5</a:t>
            </a:r>
            <a:r>
              <a:rPr lang="zh-CN" altLang="en-US" sz="1600" dirty="0">
                <a:latin typeface="Times New Roman" panose="02020603050405020304" pitchFamily="18" charset="0"/>
              </a:rPr>
              <a:t>组织过程资产</a:t>
            </a:r>
            <a:endParaRPr lang="en-US" altLang="zh-CN" sz="1600" dirty="0">
              <a:latin typeface="Times New Roman" panose="02020603050405020304" pitchFamily="18" charset="0"/>
            </a:endParaRPr>
          </a:p>
        </p:txBody>
      </p:sp>
      <p:sp>
        <p:nvSpPr>
          <p:cNvPr id="8" name="Rectangle 8">
            <a:extLst>
              <a:ext uri="{FF2B5EF4-FFF2-40B4-BE49-F238E27FC236}">
                <a16:creationId xmlns:a16="http://schemas.microsoft.com/office/drawing/2014/main" id="{7E6C1573-EF85-40A5-A2DF-5905A05C6149}"/>
              </a:ext>
            </a:extLst>
          </p:cNvPr>
          <p:cNvSpPr>
            <a:spLocks noChangeArrowheads="1"/>
          </p:cNvSpPr>
          <p:nvPr/>
        </p:nvSpPr>
        <p:spPr bwMode="auto">
          <a:xfrm>
            <a:off x="4775200"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9" name="Rectangle 9">
            <a:extLst>
              <a:ext uri="{FF2B5EF4-FFF2-40B4-BE49-F238E27FC236}">
                <a16:creationId xmlns:a16="http://schemas.microsoft.com/office/drawing/2014/main" id="{5D225CB7-3E1B-47B6-8FDB-D5DA43F83188}"/>
              </a:ext>
            </a:extLst>
          </p:cNvPr>
          <p:cNvSpPr>
            <a:spLocks noChangeArrowheads="1"/>
          </p:cNvSpPr>
          <p:nvPr/>
        </p:nvSpPr>
        <p:spPr bwMode="auto">
          <a:xfrm>
            <a:off x="4775200" y="3267076"/>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just"/>
            <a:r>
              <a:rPr lang="en-US" altLang="zh-CN" sz="1600" dirty="0">
                <a:latin typeface="Times New Roman" panose="02020603050405020304" pitchFamily="18" charset="0"/>
              </a:rPr>
              <a:t>.1</a:t>
            </a:r>
            <a:r>
              <a:rPr lang="zh-CN" altLang="en-US" sz="1600" dirty="0">
                <a:latin typeface="Times New Roman" panose="02020603050405020304" pitchFamily="18" charset="0"/>
              </a:rPr>
              <a:t>专家判断</a:t>
            </a:r>
          </a:p>
          <a:p>
            <a:pPr algn="just"/>
            <a:r>
              <a:rPr lang="en-US" altLang="zh-CN" sz="1600" dirty="0">
                <a:latin typeface="Times New Roman" panose="02020603050405020304" pitchFamily="18" charset="0"/>
              </a:rPr>
              <a:t>.2</a:t>
            </a:r>
            <a:r>
              <a:rPr lang="zh-CN" altLang="en-US" sz="1600" dirty="0">
                <a:latin typeface="Times New Roman" panose="02020603050405020304" pitchFamily="18" charset="0"/>
              </a:rPr>
              <a:t>项目管理信息系统</a:t>
            </a:r>
          </a:p>
          <a:p>
            <a:pPr algn="just"/>
            <a:r>
              <a:rPr lang="en-US" altLang="zh-CN" sz="1600" dirty="0">
                <a:latin typeface="Times New Roman" panose="02020603050405020304" pitchFamily="18" charset="0"/>
              </a:rPr>
              <a:t>.3</a:t>
            </a:r>
            <a:r>
              <a:rPr lang="zh-CN" altLang="en-US" sz="1600" dirty="0">
                <a:latin typeface="Times New Roman" panose="02020603050405020304" pitchFamily="18" charset="0"/>
              </a:rPr>
              <a:t>数据分析</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相关方参与度评估矩阵</a:t>
            </a:r>
          </a:p>
          <a:p>
            <a:pPr algn="just"/>
            <a:r>
              <a:rPr lang="en-US" altLang="zh-CN" sz="1600" dirty="0">
                <a:latin typeface="Times New Roman" panose="02020603050405020304" pitchFamily="18" charset="0"/>
              </a:rPr>
              <a:t>.4</a:t>
            </a:r>
            <a:r>
              <a:rPr lang="zh-CN" altLang="en-US" sz="1600" dirty="0">
                <a:latin typeface="Times New Roman" panose="02020603050405020304" pitchFamily="18" charset="0"/>
              </a:rPr>
              <a:t>人际关系与团队技能</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观察</a:t>
            </a:r>
            <a:r>
              <a:rPr lang="en-US" altLang="zh-CN" sz="1600" dirty="0">
                <a:latin typeface="Times New Roman" panose="02020603050405020304" pitchFamily="18" charset="0"/>
              </a:rPr>
              <a:t>/</a:t>
            </a:r>
            <a:r>
              <a:rPr lang="zh-CN" altLang="en-US" sz="1600" dirty="0">
                <a:latin typeface="Times New Roman" panose="02020603050405020304" pitchFamily="18" charset="0"/>
              </a:rPr>
              <a:t>交谈</a:t>
            </a:r>
          </a:p>
          <a:p>
            <a:pPr algn="just"/>
            <a:r>
              <a:rPr lang="en-US" altLang="zh-CN" sz="1600" dirty="0">
                <a:latin typeface="Times New Roman" panose="02020603050405020304" pitchFamily="18" charset="0"/>
              </a:rPr>
              <a:t>.5</a:t>
            </a:r>
            <a:r>
              <a:rPr lang="zh-CN" altLang="en-US" sz="1600" dirty="0">
                <a:latin typeface="Times New Roman" panose="02020603050405020304" pitchFamily="18" charset="0"/>
              </a:rPr>
              <a:t>会议</a:t>
            </a:r>
            <a:endParaRPr lang="en-US" altLang="zh-CN" sz="1400" b="0" dirty="0">
              <a:latin typeface="微软雅黑" panose="020B0503020204020204" pitchFamily="34" charset="-122"/>
              <a:ea typeface="微软雅黑" panose="020B0503020204020204" pitchFamily="34" charset="-122"/>
            </a:endParaRPr>
          </a:p>
        </p:txBody>
      </p:sp>
      <p:sp>
        <p:nvSpPr>
          <p:cNvPr id="10" name="Rectangle 10">
            <a:extLst>
              <a:ext uri="{FF2B5EF4-FFF2-40B4-BE49-F238E27FC236}">
                <a16:creationId xmlns:a16="http://schemas.microsoft.com/office/drawing/2014/main" id="{5AE75D45-7C0C-4DFE-85C3-F1187C9E139B}"/>
              </a:ext>
            </a:extLst>
          </p:cNvPr>
          <p:cNvSpPr>
            <a:spLocks noChangeArrowheads="1"/>
          </p:cNvSpPr>
          <p:nvPr/>
        </p:nvSpPr>
        <p:spPr bwMode="auto">
          <a:xfrm>
            <a:off x="7223125" y="283527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1" name="Rectangle 11">
            <a:extLst>
              <a:ext uri="{FF2B5EF4-FFF2-40B4-BE49-F238E27FC236}">
                <a16:creationId xmlns:a16="http://schemas.microsoft.com/office/drawing/2014/main" id="{0240C261-E53F-4741-B41D-3D0B6EDEB3E3}"/>
              </a:ext>
            </a:extLst>
          </p:cNvPr>
          <p:cNvSpPr>
            <a:spLocks noChangeArrowheads="1"/>
          </p:cNvSpPr>
          <p:nvPr/>
        </p:nvSpPr>
        <p:spPr bwMode="auto">
          <a:xfrm>
            <a:off x="7223125" y="3267076"/>
            <a:ext cx="2305050" cy="2447925"/>
          </a:xfrm>
          <a:prstGeom prst="rect">
            <a:avLst/>
          </a:prstGeom>
          <a:solidFill>
            <a:schemeClr val="bg1"/>
          </a:solidFill>
          <a:ln w="9525">
            <a:solidFill>
              <a:schemeClr val="tx1"/>
            </a:solidFill>
            <a:miter lim="800000"/>
            <a:headEnd/>
            <a:tailEnd/>
          </a:ln>
        </p:spPr>
        <p:txBody>
          <a:bodyPr wrap="none"/>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just"/>
            <a:r>
              <a:rPr lang="en-US" altLang="zh-CN" sz="1600" dirty="0">
                <a:latin typeface="Times New Roman" panose="02020603050405020304" pitchFamily="18" charset="0"/>
              </a:rPr>
              <a:t>.1</a:t>
            </a:r>
            <a:r>
              <a:rPr lang="zh-CN" altLang="en-US" sz="1600" dirty="0">
                <a:latin typeface="Times New Roman" panose="02020603050405020304" pitchFamily="18" charset="0"/>
              </a:rPr>
              <a:t>工作绩效信息</a:t>
            </a:r>
          </a:p>
          <a:p>
            <a:pPr algn="just"/>
            <a:r>
              <a:rPr lang="en-US" altLang="zh-CN" sz="1600" dirty="0">
                <a:latin typeface="Times New Roman" panose="02020603050405020304" pitchFamily="18" charset="0"/>
              </a:rPr>
              <a:t>.2</a:t>
            </a:r>
            <a:r>
              <a:rPr lang="zh-CN" altLang="en-US" sz="1600" dirty="0">
                <a:latin typeface="Times New Roman" panose="02020603050405020304" pitchFamily="18" charset="0"/>
              </a:rPr>
              <a:t>变更请求</a:t>
            </a:r>
          </a:p>
          <a:p>
            <a:pPr algn="just"/>
            <a:r>
              <a:rPr lang="en-US" altLang="zh-CN" sz="1600" dirty="0">
                <a:latin typeface="Times New Roman" panose="02020603050405020304" pitchFamily="18" charset="0"/>
              </a:rPr>
              <a:t>.3</a:t>
            </a:r>
            <a:r>
              <a:rPr lang="zh-CN" altLang="en-US" sz="1600" dirty="0">
                <a:latin typeface="Times New Roman" panose="02020603050405020304" pitchFamily="18" charset="0"/>
              </a:rPr>
              <a:t>项目管理计划更新</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沟通管理计划</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相关方参与计划</a:t>
            </a:r>
          </a:p>
          <a:p>
            <a:pPr algn="just"/>
            <a:r>
              <a:rPr lang="en-US" altLang="zh-CN" sz="1600" dirty="0">
                <a:latin typeface="Times New Roman" panose="02020603050405020304" pitchFamily="18" charset="0"/>
              </a:rPr>
              <a:t>.4</a:t>
            </a:r>
            <a:r>
              <a:rPr lang="zh-CN" altLang="en-US" sz="1600" dirty="0">
                <a:latin typeface="Times New Roman" panose="02020603050405020304" pitchFamily="18" charset="0"/>
              </a:rPr>
              <a:t>项目文件更新</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问题日志</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经验教训登记册</a:t>
            </a:r>
          </a:p>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相关方登记册</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938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8EF0798-3B36-4F23-BD73-9BDECDBA8370}"/>
              </a:ext>
            </a:extLst>
          </p:cNvPr>
          <p:cNvSpPr>
            <a:spLocks noGrp="1"/>
          </p:cNvSpPr>
          <p:nvPr>
            <p:ph idx="1"/>
          </p:nvPr>
        </p:nvSpPr>
        <p:spPr/>
        <p:txBody>
          <a:bodyPr/>
          <a:lstStyle/>
          <a:p>
            <a:r>
              <a:rPr lang="zh-CN" altLang="en-US" dirty="0"/>
              <a:t>监督沟通的输入</a:t>
            </a:r>
            <a:endParaRPr lang="en-US" altLang="zh-CN" dirty="0"/>
          </a:p>
          <a:p>
            <a:pPr lvl="1"/>
            <a:r>
              <a:rPr lang="zh-CN" altLang="en-US" dirty="0">
                <a:latin typeface="SourceHanSansSC-Bold"/>
              </a:rPr>
              <a:t>资源管理计划  </a:t>
            </a:r>
            <a:r>
              <a:rPr lang="zh-CN" altLang="en-US" b="0" dirty="0">
                <a:latin typeface="SourceHanSansSC-Regular"/>
              </a:rPr>
              <a:t>可用于理解实际的项目组织及其任何变更</a:t>
            </a:r>
            <a:endParaRPr lang="en-US" altLang="zh-CN" b="0" dirty="0">
              <a:latin typeface="SourceHanSansSC-Regular"/>
            </a:endParaRPr>
          </a:p>
          <a:p>
            <a:pPr lvl="1"/>
            <a:r>
              <a:rPr lang="zh-CN" altLang="en-US" dirty="0">
                <a:latin typeface="SourceHanSansSC-Bold"/>
              </a:rPr>
              <a:t>沟通管理计划  </a:t>
            </a:r>
            <a:r>
              <a:rPr lang="zh-CN" altLang="en-US" b="0" dirty="0">
                <a:latin typeface="SourceHanSansSC-Regular"/>
              </a:rPr>
              <a:t>确定了沟通过程中的团队成员、相关方和有关工作</a:t>
            </a:r>
            <a:endParaRPr lang="en-US" altLang="zh-CN" b="0" dirty="0">
              <a:latin typeface="SourceHanSansSC-Regular"/>
            </a:endParaRPr>
          </a:p>
          <a:p>
            <a:pPr lvl="1"/>
            <a:r>
              <a:rPr lang="zh-CN" altLang="en-US" dirty="0">
                <a:latin typeface="SourceHanSansSC-Bold"/>
              </a:rPr>
              <a:t>相关方参与计划  </a:t>
            </a:r>
            <a:r>
              <a:rPr lang="zh-CN" altLang="en-US" b="0" dirty="0">
                <a:latin typeface="SourceHanSansSC-Regular"/>
              </a:rPr>
              <a:t>确定了计划用以引导相关方参与的沟通策略</a:t>
            </a:r>
            <a:endParaRPr lang="en-US" altLang="zh-CN" b="0" dirty="0">
              <a:latin typeface="SourceHanSansSC-Regular"/>
            </a:endParaRPr>
          </a:p>
          <a:p>
            <a:pPr lvl="1"/>
            <a:r>
              <a:rPr lang="zh-CN" altLang="en-US" dirty="0">
                <a:latin typeface="SourceHanSansSC-Bold"/>
              </a:rPr>
              <a:t>项目文件</a:t>
            </a:r>
          </a:p>
          <a:p>
            <a:pPr lvl="2"/>
            <a:r>
              <a:rPr lang="zh-CN" altLang="en-US" b="1" i="0" u="none" strike="noStrike" baseline="0" dirty="0">
                <a:latin typeface="SourceHanSansSC-Bold"/>
              </a:rPr>
              <a:t>问题日志  </a:t>
            </a:r>
            <a:r>
              <a:rPr lang="zh-CN" altLang="en-US" b="0" i="0" u="none" strike="noStrike" baseline="0" dirty="0">
                <a:latin typeface="SourceHanSansSC-Regular"/>
              </a:rPr>
              <a:t>提供项目的历史信息、相关方参与问题的记录，以及它们如何得以解决</a:t>
            </a:r>
            <a:endParaRPr lang="en-US" altLang="zh-CN" b="0" i="0" u="none" strike="noStrike" baseline="0" dirty="0">
              <a:latin typeface="SourceHanSansSC-Regular"/>
            </a:endParaRPr>
          </a:p>
          <a:p>
            <a:pPr lvl="2"/>
            <a:r>
              <a:rPr lang="zh-CN" altLang="en-US" b="1" i="0" u="none" strike="noStrike" baseline="0" dirty="0">
                <a:latin typeface="SourceHanSansSC-Bold"/>
              </a:rPr>
              <a:t>经验教训登记册；</a:t>
            </a:r>
            <a:endParaRPr lang="en-US" altLang="zh-CN" b="1" i="0" u="none" strike="noStrike" baseline="0" dirty="0">
              <a:latin typeface="SourceHanSansSC-Bold"/>
            </a:endParaRPr>
          </a:p>
          <a:p>
            <a:pPr lvl="2"/>
            <a:r>
              <a:rPr lang="zh-CN" altLang="en-US" b="1" i="0" u="none" strike="noStrike" baseline="0" dirty="0">
                <a:latin typeface="SourceHanSansSC-Bold"/>
              </a:rPr>
              <a:t>项目沟通记录；</a:t>
            </a:r>
            <a:endParaRPr lang="en-US" altLang="zh-CN" b="1" i="0" u="none" strike="noStrike" baseline="0" dirty="0">
              <a:latin typeface="SourceHanSansSC-Bold"/>
            </a:endParaRPr>
          </a:p>
          <a:p>
            <a:pPr lvl="1"/>
            <a:r>
              <a:rPr lang="zh-CN" altLang="en-US" dirty="0">
                <a:latin typeface="SourceHanSansSC-Medium"/>
              </a:rPr>
              <a:t>工作绩效数据</a:t>
            </a:r>
            <a:r>
              <a:rPr lang="en-US" altLang="zh-CN" dirty="0">
                <a:latin typeface="SourceHanSansSC-Medium"/>
              </a:rPr>
              <a:t>;</a:t>
            </a:r>
          </a:p>
          <a:p>
            <a:pPr lvl="1"/>
            <a:r>
              <a:rPr lang="zh-CN" altLang="en-US" dirty="0">
                <a:latin typeface="SourceHanSansSC-Medium"/>
              </a:rPr>
              <a:t>事业环境因素</a:t>
            </a:r>
            <a:r>
              <a:rPr lang="en-US" altLang="zh-CN" dirty="0">
                <a:latin typeface="SourceHanSansSC-Medium"/>
              </a:rPr>
              <a:t>;</a:t>
            </a:r>
          </a:p>
          <a:p>
            <a:pPr lvl="1"/>
            <a:r>
              <a:rPr lang="zh-CN" altLang="en-US" dirty="0">
                <a:latin typeface="SourceHanSansSC-Medium"/>
              </a:rPr>
              <a:t>组织过程资产</a:t>
            </a:r>
            <a:endParaRPr lang="zh-CN" altLang="en-US" dirty="0"/>
          </a:p>
        </p:txBody>
      </p:sp>
      <p:sp>
        <p:nvSpPr>
          <p:cNvPr id="4" name="标题 2">
            <a:extLst>
              <a:ext uri="{FF2B5EF4-FFF2-40B4-BE49-F238E27FC236}">
                <a16:creationId xmlns:a16="http://schemas.microsoft.com/office/drawing/2014/main" id="{ABD634FF-040C-441F-85BF-F373AC587A82}"/>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Tree>
    <p:extLst>
      <p:ext uri="{BB962C8B-B14F-4D97-AF65-F5344CB8AC3E}">
        <p14:creationId xmlns:p14="http://schemas.microsoft.com/office/powerpoint/2010/main" val="222683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D882C3-6E09-455B-A8FD-F5BA4B37DE9D}"/>
              </a:ext>
            </a:extLst>
          </p:cNvPr>
          <p:cNvSpPr>
            <a:spLocks noGrp="1"/>
          </p:cNvSpPr>
          <p:nvPr>
            <p:ph idx="1"/>
          </p:nvPr>
        </p:nvSpPr>
        <p:spPr/>
        <p:txBody>
          <a:bodyPr/>
          <a:lstStyle/>
          <a:p>
            <a:r>
              <a:rPr lang="zh-CN" altLang="en-US" dirty="0"/>
              <a:t>监督沟通 的工具与技术</a:t>
            </a:r>
            <a:endParaRPr lang="en-US" altLang="zh-CN" dirty="0"/>
          </a:p>
          <a:p>
            <a:pPr lvl="1"/>
            <a:r>
              <a:rPr lang="zh-CN" altLang="en-US" dirty="0"/>
              <a:t>专家判断</a:t>
            </a:r>
            <a:endParaRPr lang="en-US" altLang="zh-CN" dirty="0"/>
          </a:p>
          <a:p>
            <a:pPr lvl="1"/>
            <a:r>
              <a:rPr lang="zh-CN" altLang="en-US" dirty="0"/>
              <a:t>项目管理信息系统 </a:t>
            </a:r>
            <a:r>
              <a:rPr lang="en-US" altLang="zh-CN" dirty="0"/>
              <a:t>(PMIS)</a:t>
            </a:r>
            <a:r>
              <a:rPr lang="zh-CN" altLang="en-US" sz="1800" b="0" dirty="0">
                <a:latin typeface="SourceHanSansSC-Regular"/>
              </a:rPr>
              <a:t>为项目经理提供一系列标准化工具</a:t>
            </a:r>
            <a:endParaRPr lang="en-US" altLang="zh-CN" sz="1800" b="0" dirty="0">
              <a:latin typeface="SourceHanSansSC-Regular"/>
            </a:endParaRPr>
          </a:p>
          <a:p>
            <a:pPr lvl="1"/>
            <a:r>
              <a:rPr lang="zh-CN" altLang="en-US" dirty="0"/>
              <a:t>数据表现，</a:t>
            </a:r>
            <a:r>
              <a:rPr lang="zh-CN" altLang="en-US" b="0" dirty="0">
                <a:latin typeface="SourceHanSansSC-Regular"/>
              </a:rPr>
              <a:t>相关方参与度评估矩阵可以提供与沟通活动效果有关的信息</a:t>
            </a:r>
            <a:endParaRPr lang="en-US" altLang="zh-CN" b="0" dirty="0">
              <a:latin typeface="SourceHanSansSC-Regular"/>
            </a:endParaRPr>
          </a:p>
          <a:p>
            <a:pPr lvl="1"/>
            <a:r>
              <a:rPr lang="zh-CN" altLang="en-US" dirty="0"/>
              <a:t>人际关系与团队技能：</a:t>
            </a:r>
            <a:r>
              <a:rPr lang="zh-CN" altLang="en-US" sz="1800" b="0" dirty="0">
                <a:latin typeface="SourceHanSansSC-Regular"/>
              </a:rPr>
              <a:t>观察和交谈</a:t>
            </a:r>
            <a:endParaRPr lang="en-US" altLang="zh-CN" sz="1800" b="0" dirty="0">
              <a:latin typeface="SourceHanSansSC-Regular"/>
            </a:endParaRPr>
          </a:p>
          <a:p>
            <a:pPr lvl="1"/>
            <a:r>
              <a:rPr lang="zh-CN" altLang="en-US" dirty="0"/>
              <a:t>会议</a:t>
            </a:r>
          </a:p>
        </p:txBody>
      </p:sp>
      <p:sp>
        <p:nvSpPr>
          <p:cNvPr id="4" name="标题 2">
            <a:extLst>
              <a:ext uri="{FF2B5EF4-FFF2-40B4-BE49-F238E27FC236}">
                <a16:creationId xmlns:a16="http://schemas.microsoft.com/office/drawing/2014/main" id="{EAFBE7F1-B2C2-4DF8-AA4E-108659F6A85C}"/>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p:spTree>
    <p:extLst>
      <p:ext uri="{BB962C8B-B14F-4D97-AF65-F5344CB8AC3E}">
        <p14:creationId xmlns:p14="http://schemas.microsoft.com/office/powerpoint/2010/main" val="315416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4B82FB-8745-4B10-BCAD-8BA6B9985DBC}"/>
              </a:ext>
            </a:extLst>
          </p:cNvPr>
          <p:cNvSpPr>
            <a:spLocks noGrp="1"/>
          </p:cNvSpPr>
          <p:nvPr>
            <p:ph idx="1"/>
          </p:nvPr>
        </p:nvSpPr>
        <p:spPr/>
        <p:txBody>
          <a:bodyPr/>
          <a:lstStyle/>
          <a:p>
            <a:r>
              <a:rPr lang="zh-CN" altLang="en-US" dirty="0"/>
              <a:t>监督沟通的输出</a:t>
            </a:r>
            <a:endParaRPr lang="en-US" altLang="zh-CN" dirty="0"/>
          </a:p>
          <a:p>
            <a:pPr lvl="1"/>
            <a:r>
              <a:rPr lang="zh-CN" altLang="en-US" dirty="0"/>
              <a:t>工作绩效信息</a:t>
            </a:r>
            <a:r>
              <a:rPr lang="zh-CN" altLang="en-US" b="0" dirty="0">
                <a:latin typeface="SourceHanSansSC-Regular"/>
              </a:rPr>
              <a:t>包括与计划相比较的沟通的实际开展情况；它也包括对沟通的反馈，例如关于沟通效果的调查结果。</a:t>
            </a:r>
            <a:endParaRPr lang="en-US" altLang="zh-CN" b="0" dirty="0">
              <a:latin typeface="SourceHanSansSC-Regular"/>
            </a:endParaRPr>
          </a:p>
          <a:p>
            <a:pPr lvl="1"/>
            <a:r>
              <a:rPr lang="zh-CN" altLang="en-US" dirty="0"/>
              <a:t>变更请求</a:t>
            </a:r>
            <a:r>
              <a:rPr lang="zh-CN" altLang="en-US" b="0" dirty="0">
                <a:latin typeface="SourceHanSansSC-Regular"/>
              </a:rPr>
              <a:t>可能导致：</a:t>
            </a:r>
            <a:endParaRPr lang="en-US" altLang="zh-CN" b="0" dirty="0">
              <a:latin typeface="SourceHanSansSC-Regular"/>
            </a:endParaRPr>
          </a:p>
          <a:p>
            <a:pPr lvl="2"/>
            <a:r>
              <a:rPr lang="zh-CN" altLang="en-US" b="0" i="0" u="none" strike="noStrike" baseline="0" dirty="0">
                <a:latin typeface="SourceHanSansSC-Regular"/>
              </a:rPr>
              <a:t>修正相关方的沟通要求，包括相关方对信息发布、内容或形式，以及发布方式的要求</a:t>
            </a:r>
            <a:endParaRPr lang="en-US" altLang="zh-CN" b="0" i="0" u="none" strike="noStrike" baseline="0" dirty="0">
              <a:latin typeface="SourceHanSansSC-Regular"/>
            </a:endParaRPr>
          </a:p>
          <a:p>
            <a:pPr lvl="2"/>
            <a:r>
              <a:rPr lang="zh-CN" altLang="en-US" b="0" dirty="0">
                <a:latin typeface="SourceHanSansSC-Regular"/>
              </a:rPr>
              <a:t>建立消除瓶颈的新程序</a:t>
            </a:r>
            <a:endParaRPr lang="en-US" altLang="zh-CN" b="0" dirty="0">
              <a:latin typeface="SourceHanSansSC-Regular"/>
            </a:endParaRPr>
          </a:p>
          <a:p>
            <a:pPr lvl="1"/>
            <a:r>
              <a:rPr lang="zh-CN" altLang="en-US" dirty="0"/>
              <a:t>项目管理计划更新</a:t>
            </a:r>
          </a:p>
          <a:p>
            <a:pPr lvl="2"/>
            <a:r>
              <a:rPr lang="zh-CN" altLang="en-US" dirty="0">
                <a:latin typeface="SourceHanSansSC-Bold"/>
              </a:rPr>
              <a:t>沟通管理计划，相关方参与计划</a:t>
            </a:r>
            <a:endParaRPr lang="en-US" altLang="zh-CN" dirty="0">
              <a:latin typeface="SourceHanSansSC-Bold"/>
            </a:endParaRPr>
          </a:p>
          <a:p>
            <a:pPr lvl="1"/>
            <a:r>
              <a:rPr lang="zh-CN" altLang="en-US" b="1" i="0" u="none" strike="noStrike" baseline="0" dirty="0">
                <a:latin typeface="SourceHanSansSC-Bold"/>
              </a:rPr>
              <a:t>项目文件更新</a:t>
            </a:r>
          </a:p>
          <a:p>
            <a:pPr lvl="2"/>
            <a:r>
              <a:rPr lang="zh-CN" altLang="en-US" b="1" i="0" u="none" strike="noStrike" baseline="0" dirty="0">
                <a:latin typeface="SourceHanSansSC-Bold"/>
              </a:rPr>
              <a:t>问题日志，经验教训登记册，相关方登记册</a:t>
            </a:r>
            <a:endParaRPr lang="en-US" altLang="zh-CN" b="1" i="0" u="none" strike="noStrike" baseline="0" dirty="0">
              <a:latin typeface="SourceHanSansSC-Bold"/>
            </a:endParaRPr>
          </a:p>
        </p:txBody>
      </p:sp>
      <p:sp>
        <p:nvSpPr>
          <p:cNvPr id="4" name="标题 2">
            <a:extLst>
              <a:ext uri="{FF2B5EF4-FFF2-40B4-BE49-F238E27FC236}">
                <a16:creationId xmlns:a16="http://schemas.microsoft.com/office/drawing/2014/main" id="{3A71D60D-2C22-4515-9856-D487C966A0BB}"/>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16.4 </a:t>
            </a:r>
            <a:r>
              <a:rPr lang="zh-CN" altLang="en-US" dirty="0"/>
              <a:t>监督沟通</a:t>
            </a:r>
          </a:p>
        </p:txBody>
      </p:sp>
      <mc:AlternateContent xmlns:mc="http://schemas.openxmlformats.org/markup-compatibility/2006" xmlns:pslz="http://schemas.microsoft.com/office/powerpoint/2016/slidezoom">
        <mc:Choice Requires="pslz">
          <p:graphicFrame>
            <p:nvGraphicFramePr>
              <p:cNvPr id="5" name="幻灯片缩放定位 4">
                <a:extLst>
                  <a:ext uri="{FF2B5EF4-FFF2-40B4-BE49-F238E27FC236}">
                    <a16:creationId xmlns:a16="http://schemas.microsoft.com/office/drawing/2014/main" id="{323C7AE7-89A5-B170-EF4A-4C63763446DD}"/>
                  </a:ext>
                </a:extLst>
              </p:cNvPr>
              <p:cNvGraphicFramePr>
                <a:graphicFrameLocks noChangeAspect="1"/>
              </p:cNvGraphicFramePr>
              <p:nvPr>
                <p:extLst>
                  <p:ext uri="{D42A27DB-BD31-4B8C-83A1-F6EECF244321}">
                    <p14:modId xmlns:p14="http://schemas.microsoft.com/office/powerpoint/2010/main" val="745115657"/>
                  </p:ext>
                </p:extLst>
              </p:nvPr>
            </p:nvGraphicFramePr>
            <p:xfrm>
              <a:off x="8208360" y="4549775"/>
              <a:ext cx="3048000" cy="1714500"/>
            </p:xfrm>
            <a:graphic>
              <a:graphicData uri="http://schemas.microsoft.com/office/powerpoint/2016/slidezoom">
                <pslz:sldZm>
                  <pslz:sldZmObj sldId="863" cId="3003699368">
                    <pslz:zmPr id="{0695C6A9-3576-4FE2-94B7-195B6CF8C9E6}"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幻灯片缩放定位 4">
                <a:hlinkClick r:id="rId4" action="ppaction://hlinksldjump"/>
                <a:extLst>
                  <a:ext uri="{FF2B5EF4-FFF2-40B4-BE49-F238E27FC236}">
                    <a16:creationId xmlns:a16="http://schemas.microsoft.com/office/drawing/2014/main" id="{323C7AE7-89A5-B170-EF4A-4C63763446DD}"/>
                  </a:ext>
                </a:extLst>
              </p:cNvPr>
              <p:cNvPicPr>
                <a:picLocks noGrp="1" noRot="1" noChangeAspect="1" noMove="1" noResize="1" noEditPoints="1" noAdjustHandles="1" noChangeArrowheads="1" noChangeShapeType="1"/>
              </p:cNvPicPr>
              <p:nvPr/>
            </p:nvPicPr>
            <p:blipFill>
              <a:blip r:embed="rId5"/>
              <a:stretch>
                <a:fillRect/>
              </a:stretch>
            </p:blipFill>
            <p:spPr>
              <a:xfrm>
                <a:off x="8208360" y="4549775"/>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68673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a:extLst>
              <a:ext uri="{FF2B5EF4-FFF2-40B4-BE49-F238E27FC236}">
                <a16:creationId xmlns:a16="http://schemas.microsoft.com/office/drawing/2014/main" id="{31F5302D-94D1-43B1-A5E2-B923B22DF23C}"/>
              </a:ext>
            </a:extLst>
          </p:cNvPr>
          <p:cNvSpPr>
            <a:spLocks noChangeArrowheads="1"/>
          </p:cNvSpPr>
          <p:nvPr/>
        </p:nvSpPr>
        <p:spPr bwMode="auto">
          <a:xfrm>
            <a:off x="2486759" y="3429001"/>
            <a:ext cx="20435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2400" dirty="0">
                <a:latin typeface="方正兰亭细黑_GBK" charset="-122"/>
                <a:ea typeface="Adobe 宋体 Std L" pitchFamily="18" charset="-122"/>
                <a:sym typeface="方正兰亭细黑_GBK" charset="-122"/>
              </a:rPr>
              <a:t>Contents</a:t>
            </a:r>
          </a:p>
        </p:txBody>
      </p:sp>
      <p:sp>
        <p:nvSpPr>
          <p:cNvPr id="15" name="内容占位符 2">
            <a:extLst>
              <a:ext uri="{FF2B5EF4-FFF2-40B4-BE49-F238E27FC236}">
                <a16:creationId xmlns:a16="http://schemas.microsoft.com/office/drawing/2014/main" id="{841F649A-10B3-4430-975E-F15A1D0DEED3}"/>
              </a:ext>
            </a:extLst>
          </p:cNvPr>
          <p:cNvSpPr txBox="1">
            <a:spLocks/>
          </p:cNvSpPr>
          <p:nvPr/>
        </p:nvSpPr>
        <p:spPr>
          <a:xfrm>
            <a:off x="5978786" y="1045519"/>
            <a:ext cx="3726455" cy="47669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sym typeface="Impact" panose="020B0806030902050204" pitchFamily="34" charset="0"/>
              </a:rPr>
              <a:t>16  </a:t>
            </a:r>
            <a:r>
              <a:rPr lang="zh-CN" altLang="en-US" sz="2400" dirty="0">
                <a:latin typeface="Impact" panose="020B0806030902050204" pitchFamily="34" charset="0"/>
                <a:sym typeface="Impact" panose="020B0806030902050204" pitchFamily="34" charset="0"/>
              </a:rPr>
              <a:t>项目沟通管理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latin typeface="Impact" panose="020B0806030902050204" pitchFamily="34" charset="0"/>
              </a:rPr>
              <a:t>17   </a:t>
            </a:r>
            <a:r>
              <a:rPr lang="zh-CN" altLang="en-US" sz="2400" dirty="0">
                <a:latin typeface="Impact" panose="020B0806030902050204" pitchFamily="34" charset="0"/>
              </a:rPr>
              <a:t>项目风险管理</a:t>
            </a:r>
            <a:endParaRPr lang="en-US" altLang="zh-CN" sz="2400" dirty="0">
              <a:latin typeface="Impact" panose="020B0806030902050204" pitchFamily="34" charset="0"/>
            </a:endParaRPr>
          </a:p>
          <a:p>
            <a:pPr marL="457200" lvl="1" indent="0">
              <a:buNone/>
            </a:pPr>
            <a:r>
              <a:rPr lang="en-US" altLang="zh-CN" sz="2000" dirty="0">
                <a:solidFill>
                  <a:srgbClr val="0070C0"/>
                </a:solidFill>
              </a:rPr>
              <a:t>17.1 </a:t>
            </a:r>
            <a:r>
              <a:rPr lang="zh-CN" altLang="en-US" sz="2000" dirty="0">
                <a:solidFill>
                  <a:srgbClr val="0070C0"/>
                </a:solidFill>
              </a:rPr>
              <a:t>风险及风险管理概述</a:t>
            </a:r>
            <a:endParaRPr lang="en-US" altLang="zh-CN" sz="2000" dirty="0">
              <a:solidFill>
                <a:srgbClr val="0070C0"/>
              </a:solidFill>
            </a:endParaRPr>
          </a:p>
          <a:p>
            <a:pPr marL="457200" lvl="1" indent="0">
              <a:buNone/>
            </a:pPr>
            <a:r>
              <a:rPr lang="en-US" altLang="zh-CN" sz="2000" dirty="0">
                <a:solidFill>
                  <a:srgbClr val="0070C0"/>
                </a:solidFill>
              </a:rPr>
              <a:t>17.2</a:t>
            </a:r>
            <a:r>
              <a:rPr lang="zh-CN" altLang="en-US" sz="2000" dirty="0">
                <a:solidFill>
                  <a:srgbClr val="0070C0"/>
                </a:solidFill>
              </a:rPr>
              <a:t> 规划风险管理</a:t>
            </a:r>
          </a:p>
          <a:p>
            <a:pPr marL="457200" lvl="1" indent="0">
              <a:buNone/>
            </a:pPr>
            <a:r>
              <a:rPr lang="en-US" altLang="zh-CN" sz="2000" dirty="0">
                <a:solidFill>
                  <a:srgbClr val="0070C0"/>
                </a:solidFill>
              </a:rPr>
              <a:t>17.3 </a:t>
            </a:r>
            <a:r>
              <a:rPr lang="zh-CN" altLang="en-US" sz="2000" dirty="0">
                <a:solidFill>
                  <a:srgbClr val="0070C0"/>
                </a:solidFill>
              </a:rPr>
              <a:t>识别风险</a:t>
            </a:r>
          </a:p>
          <a:p>
            <a:pPr marL="457200" lvl="1" indent="0">
              <a:buNone/>
            </a:pPr>
            <a:r>
              <a:rPr lang="en-US" altLang="zh-CN" sz="2000" dirty="0">
                <a:solidFill>
                  <a:srgbClr val="0070C0"/>
                </a:solidFill>
              </a:rPr>
              <a:t>17.4 </a:t>
            </a:r>
            <a:r>
              <a:rPr lang="zh-CN" altLang="en-US" sz="2000" dirty="0">
                <a:solidFill>
                  <a:srgbClr val="0070C0"/>
                </a:solidFill>
              </a:rPr>
              <a:t>实施定性风险分析</a:t>
            </a:r>
          </a:p>
          <a:p>
            <a:pPr marL="457200" lvl="1" indent="0">
              <a:buNone/>
            </a:pPr>
            <a:r>
              <a:rPr lang="en-US" altLang="zh-CN" sz="2000" dirty="0">
                <a:solidFill>
                  <a:srgbClr val="0070C0"/>
                </a:solidFill>
              </a:rPr>
              <a:t>17.5 </a:t>
            </a:r>
            <a:r>
              <a:rPr lang="zh-CN" altLang="en-US" sz="2000" dirty="0">
                <a:solidFill>
                  <a:srgbClr val="0070C0"/>
                </a:solidFill>
              </a:rPr>
              <a:t>实施定量风险分析 </a:t>
            </a:r>
          </a:p>
          <a:p>
            <a:pPr marL="457200" lvl="1" indent="0">
              <a:buNone/>
            </a:pPr>
            <a:r>
              <a:rPr lang="en-US" altLang="zh-CN" sz="2000" dirty="0">
                <a:solidFill>
                  <a:srgbClr val="0070C0"/>
                </a:solidFill>
              </a:rPr>
              <a:t>17.6 </a:t>
            </a:r>
            <a:r>
              <a:rPr lang="zh-CN" altLang="en-US" sz="2000" dirty="0">
                <a:solidFill>
                  <a:srgbClr val="0070C0"/>
                </a:solidFill>
              </a:rPr>
              <a:t>规划风险应对</a:t>
            </a:r>
          </a:p>
          <a:p>
            <a:pPr marL="457200" lvl="1" indent="0">
              <a:buNone/>
            </a:pPr>
            <a:r>
              <a:rPr lang="en-US" altLang="zh-CN" sz="2000" dirty="0">
                <a:solidFill>
                  <a:srgbClr val="0070C0"/>
                </a:solidFill>
              </a:rPr>
              <a:t>17.7 </a:t>
            </a:r>
            <a:r>
              <a:rPr lang="zh-CN" altLang="en-US" sz="2000" dirty="0">
                <a:solidFill>
                  <a:srgbClr val="0070C0"/>
                </a:solidFill>
              </a:rPr>
              <a:t>实施风险应对</a:t>
            </a:r>
          </a:p>
          <a:p>
            <a:pPr marL="457200" lvl="1" indent="0">
              <a:buNone/>
            </a:pPr>
            <a:r>
              <a:rPr lang="en-US" altLang="zh-CN" sz="2000" dirty="0">
                <a:solidFill>
                  <a:srgbClr val="0070C0"/>
                </a:solidFill>
              </a:rPr>
              <a:t>17.8 </a:t>
            </a:r>
            <a:r>
              <a:rPr lang="zh-CN" altLang="en-US" sz="2000" dirty="0">
                <a:solidFill>
                  <a:srgbClr val="0070C0"/>
                </a:solidFill>
              </a:rPr>
              <a:t>监督风险</a:t>
            </a:r>
            <a:endParaRPr lang="en-US" altLang="zh-CN" sz="2000" dirty="0">
              <a:solidFill>
                <a:srgbClr val="0070C0"/>
              </a:solidFill>
            </a:endParaRPr>
          </a:p>
          <a:p>
            <a:pPr marL="0" indent="0">
              <a:buNone/>
            </a:pPr>
            <a:endParaRPr lang="en-US" altLang="zh-CN" sz="2400" dirty="0">
              <a:latin typeface="Impact" panose="020B0806030902050204" pitchFamily="34" charset="0"/>
            </a:endParaRPr>
          </a:p>
        </p:txBody>
      </p:sp>
      <p:sp>
        <p:nvSpPr>
          <p:cNvPr id="2" name="文本框 13">
            <a:extLst>
              <a:ext uri="{FF2B5EF4-FFF2-40B4-BE49-F238E27FC236}">
                <a16:creationId xmlns:a16="http://schemas.microsoft.com/office/drawing/2014/main" id="{49A03FF6-FB47-2343-9071-68EB80756552}"/>
              </a:ext>
            </a:extLst>
          </p:cNvPr>
          <p:cNvSpPr>
            <a:spLocks noChangeArrowheads="1"/>
          </p:cNvSpPr>
          <p:nvPr/>
        </p:nvSpPr>
        <p:spPr bwMode="auto">
          <a:xfrm>
            <a:off x="2338647" y="2182504"/>
            <a:ext cx="2339794"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itchFamily="34" charset="-122"/>
              </a:rPr>
              <a:t>第</a:t>
            </a:r>
            <a:r>
              <a:rPr lang="en-US" altLang="zh-CN" sz="3750" b="1" dirty="0">
                <a:latin typeface="方正兰亭粗黑_GBK" charset="-122"/>
                <a:ea typeface="微软雅黑" pitchFamily="34" charset="-122"/>
              </a:rPr>
              <a:t>13</a:t>
            </a:r>
            <a:r>
              <a:rPr lang="zh-CN" altLang="en-US" sz="3750" b="1" dirty="0">
                <a:latin typeface="方正兰亭粗黑_GBK" charset="-122"/>
                <a:ea typeface="微软雅黑" pitchFamily="34" charset="-122"/>
              </a:rPr>
              <a:t>次课目录</a:t>
            </a:r>
          </a:p>
        </p:txBody>
      </p:sp>
    </p:spTree>
    <p:extLst>
      <p:ext uri="{BB962C8B-B14F-4D97-AF65-F5344CB8AC3E}">
        <p14:creationId xmlns:p14="http://schemas.microsoft.com/office/powerpoint/2010/main" val="2718593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a:extLst>
              <a:ext uri="{FF2B5EF4-FFF2-40B4-BE49-F238E27FC236}">
                <a16:creationId xmlns:a16="http://schemas.microsoft.com/office/drawing/2014/main" id="{2A5A689C-F5D7-4402-AADD-CE3DD31954FB}"/>
              </a:ext>
            </a:extLst>
          </p:cNvPr>
          <p:cNvSpPr>
            <a:spLocks noGrp="1" noChangeArrowheads="1"/>
          </p:cNvSpPr>
          <p:nvPr>
            <p:ph type="body" idx="1"/>
          </p:nvPr>
        </p:nvSpPr>
        <p:spPr>
          <a:xfrm>
            <a:off x="1130300" y="1257300"/>
            <a:ext cx="10109200" cy="4852988"/>
          </a:xfrm>
        </p:spPr>
        <p:txBody>
          <a:bodyPr/>
          <a:lstStyle/>
          <a:p>
            <a:pPr eaLnBrk="1" hangingPunct="1">
              <a:lnSpc>
                <a:spcPct val="120000"/>
              </a:lnSpc>
            </a:pPr>
            <a:r>
              <a:rPr lang="zh-CN" altLang="en-US" dirty="0">
                <a:latin typeface="微软雅黑" panose="020B0503020204020204" pitchFamily="34" charset="-122"/>
              </a:rPr>
              <a:t>风险</a:t>
            </a:r>
            <a:endParaRPr lang="en-US" altLang="zh-CN" dirty="0">
              <a:latin typeface="微软雅黑" panose="020B0503020204020204" pitchFamily="34" charset="-122"/>
            </a:endParaRPr>
          </a:p>
          <a:p>
            <a:pPr lvl="1">
              <a:lnSpc>
                <a:spcPct val="120000"/>
              </a:lnSpc>
            </a:pPr>
            <a:r>
              <a:rPr lang="zh-CN" altLang="en-US" dirty="0">
                <a:latin typeface="微软雅黑" panose="020B0503020204020204" pitchFamily="34" charset="-122"/>
              </a:rPr>
              <a:t>指具有不确定性的事件或情况，一旦发生，会对项目目标产生积极的或消极的影响</a:t>
            </a:r>
            <a:endParaRPr lang="en-US" altLang="zh-CN" dirty="0">
              <a:latin typeface="微软雅黑" panose="020B0503020204020204" pitchFamily="34" charset="-122"/>
            </a:endParaRPr>
          </a:p>
          <a:p>
            <a:pPr lvl="2">
              <a:lnSpc>
                <a:spcPct val="120000"/>
              </a:lnSpc>
            </a:pPr>
            <a:r>
              <a:rPr lang="zh-CN" altLang="en-US" dirty="0">
                <a:solidFill>
                  <a:schemeClr val="tx2"/>
                </a:solidFill>
                <a:latin typeface="微软雅黑" panose="020B0503020204020204" pitchFamily="34" charset="-122"/>
              </a:rPr>
              <a:t>正面风险</a:t>
            </a:r>
            <a:r>
              <a:rPr lang="zh-CN" altLang="en-US" dirty="0">
                <a:latin typeface="微软雅黑" panose="020B0503020204020204" pitchFamily="34" charset="-122"/>
              </a:rPr>
              <a:t>：有积极的影响</a:t>
            </a:r>
            <a:r>
              <a:rPr lang="en-US" altLang="zh-CN" dirty="0">
                <a:latin typeface="微软雅黑" panose="020B0503020204020204" pitchFamily="34" charset="-122"/>
              </a:rPr>
              <a:t>;</a:t>
            </a:r>
            <a:r>
              <a:rPr lang="zh-CN" altLang="en-US" dirty="0">
                <a:latin typeface="微软雅黑" panose="020B0503020204020204" pitchFamily="34" charset="-122"/>
              </a:rPr>
              <a:t> </a:t>
            </a:r>
            <a:endParaRPr lang="en-US" altLang="zh-CN" dirty="0">
              <a:latin typeface="微软雅黑" panose="020B0503020204020204" pitchFamily="34" charset="-122"/>
            </a:endParaRPr>
          </a:p>
          <a:p>
            <a:pPr lvl="2">
              <a:lnSpc>
                <a:spcPct val="120000"/>
              </a:lnSpc>
            </a:pPr>
            <a:r>
              <a:rPr lang="zh-CN" altLang="en-US" dirty="0">
                <a:solidFill>
                  <a:schemeClr val="tx2"/>
                </a:solidFill>
                <a:latin typeface="微软雅黑" panose="020B0503020204020204" pitchFamily="34" charset="-122"/>
              </a:rPr>
              <a:t>负面风险</a:t>
            </a:r>
            <a:r>
              <a:rPr lang="zh-CN" altLang="en-US" dirty="0">
                <a:latin typeface="微软雅黑" panose="020B0503020204020204" pitchFamily="34" charset="-122"/>
              </a:rPr>
              <a:t>：有消极的影响</a:t>
            </a:r>
            <a:endParaRPr lang="en-US" altLang="zh-CN" dirty="0">
              <a:latin typeface="微软雅黑" panose="020B0503020204020204" pitchFamily="34" charset="-122"/>
            </a:endParaRPr>
          </a:p>
          <a:p>
            <a:pPr lvl="2">
              <a:lnSpc>
                <a:spcPct val="120000"/>
              </a:lnSpc>
            </a:pPr>
            <a:r>
              <a:rPr lang="zh-CN" altLang="en-US" dirty="0">
                <a:latin typeface="微软雅黑" panose="020B0503020204020204" pitchFamily="34" charset="-122"/>
              </a:rPr>
              <a:t>在没有歧义时，风险一般指负面风险</a:t>
            </a:r>
          </a:p>
          <a:p>
            <a:pPr eaLnBrk="1" hangingPunct="1">
              <a:lnSpc>
                <a:spcPct val="120000"/>
              </a:lnSpc>
            </a:pPr>
            <a:r>
              <a:rPr lang="zh-CN" altLang="en-US" dirty="0">
                <a:latin typeface="微软雅黑" panose="020B0503020204020204" pitchFamily="34" charset="-122"/>
              </a:rPr>
              <a:t>项目风险产生的原因</a:t>
            </a:r>
          </a:p>
          <a:p>
            <a:pPr lvl="1" eaLnBrk="1" hangingPunct="1">
              <a:lnSpc>
                <a:spcPct val="120000"/>
              </a:lnSpc>
            </a:pPr>
            <a:r>
              <a:rPr lang="zh-CN" altLang="en-US" dirty="0">
                <a:latin typeface="微软雅黑" panose="020B0503020204020204" pitchFamily="34" charset="-122"/>
              </a:rPr>
              <a:t>  人们的认识能力所限</a:t>
            </a:r>
          </a:p>
          <a:p>
            <a:pPr lvl="1" eaLnBrk="1" hangingPunct="1">
              <a:lnSpc>
                <a:spcPct val="120000"/>
              </a:lnSpc>
            </a:pPr>
            <a:r>
              <a:rPr lang="zh-CN" altLang="en-US" dirty="0">
                <a:latin typeface="微软雅黑" panose="020B0503020204020204" pitchFamily="34" charset="-122"/>
              </a:rPr>
              <a:t>  信息本身的滞后特性</a:t>
            </a:r>
          </a:p>
          <a:p>
            <a:pPr lvl="1" eaLnBrk="1" hangingPunct="1">
              <a:lnSpc>
                <a:spcPct val="120000"/>
              </a:lnSpc>
            </a:pPr>
            <a:r>
              <a:rPr lang="zh-CN" altLang="en-US" dirty="0">
                <a:latin typeface="微软雅黑" panose="020B0503020204020204" pitchFamily="34" charset="-122"/>
              </a:rPr>
              <a:t>  项目的各种不确定性</a:t>
            </a:r>
            <a:endParaRPr lang="en-US" altLang="zh-CN" dirty="0">
              <a:latin typeface="微软雅黑" panose="020B0503020204020204" pitchFamily="34" charset="-122"/>
            </a:endParaRPr>
          </a:p>
          <a:p>
            <a:pPr eaLnBrk="1" hangingPunct="1">
              <a:lnSpc>
                <a:spcPct val="120000"/>
              </a:lnSpc>
            </a:pPr>
            <a:r>
              <a:rPr lang="zh-CN" altLang="en-US" dirty="0">
                <a:latin typeface="微软雅黑" panose="020B0503020204020204" pitchFamily="34" charset="-122"/>
              </a:rPr>
              <a:t>项目风险管理的目标</a:t>
            </a:r>
            <a:endParaRPr lang="en-US" altLang="zh-CN" dirty="0">
              <a:latin typeface="微软雅黑" panose="020B0503020204020204" pitchFamily="34" charset="-122"/>
            </a:endParaRPr>
          </a:p>
          <a:p>
            <a:pPr lvl="1" eaLnBrk="1" hangingPunct="1">
              <a:lnSpc>
                <a:spcPct val="120000"/>
              </a:lnSpc>
            </a:pPr>
            <a:r>
              <a:rPr lang="zh-CN" altLang="en-US" dirty="0">
                <a:latin typeface="微软雅黑" panose="020B0503020204020204" pitchFamily="34" charset="-122"/>
              </a:rPr>
              <a:t>使潜在机会或回报最大化、潜在负面风险最小化</a:t>
            </a:r>
          </a:p>
        </p:txBody>
      </p:sp>
      <p:sp>
        <p:nvSpPr>
          <p:cNvPr id="4" name="标题 2">
            <a:extLst>
              <a:ext uri="{FF2B5EF4-FFF2-40B4-BE49-F238E27FC236}">
                <a16:creationId xmlns:a16="http://schemas.microsoft.com/office/drawing/2014/main" id="{9CE20C3F-4C08-4AA6-A3F6-0EBD31A199F8}"/>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17.1 </a:t>
            </a:r>
            <a:r>
              <a:rPr lang="zh-CN" altLang="en-US" dirty="0"/>
              <a:t>风险及风险管理概述</a:t>
            </a:r>
            <a:br>
              <a:rPr lang="zh-CN" altLang="en-US" dirty="0"/>
            </a:b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a:extLst>
              <a:ext uri="{FF2B5EF4-FFF2-40B4-BE49-F238E27FC236}">
                <a16:creationId xmlns:a16="http://schemas.microsoft.com/office/drawing/2014/main" id="{0AF6DBAB-6F7B-4C08-9D53-9CC2DF33E1DA}"/>
              </a:ext>
            </a:extLst>
          </p:cNvPr>
          <p:cNvSpPr>
            <a:spLocks noGrp="1" noChangeArrowheads="1"/>
          </p:cNvSpPr>
          <p:nvPr>
            <p:ph type="title"/>
          </p:nvPr>
        </p:nvSpPr>
        <p:spPr>
          <a:xfrm>
            <a:off x="1524001" y="1162476"/>
            <a:ext cx="3653675" cy="357925"/>
          </a:xfrm>
        </p:spPr>
        <p:txBody>
          <a:bodyPr/>
          <a:lstStyle/>
          <a:p>
            <a:r>
              <a:rPr lang="zh-CN" altLang="en-US" sz="2400" b="1" dirty="0"/>
              <a:t>项目风险管理的重要性</a:t>
            </a:r>
          </a:p>
        </p:txBody>
      </p:sp>
      <p:sp>
        <p:nvSpPr>
          <p:cNvPr id="620552" name="Rectangle 8">
            <a:extLst>
              <a:ext uri="{FF2B5EF4-FFF2-40B4-BE49-F238E27FC236}">
                <a16:creationId xmlns:a16="http://schemas.microsoft.com/office/drawing/2014/main" id="{C57A5E1D-BECA-46CA-944B-D8E4243D4007}"/>
              </a:ext>
            </a:extLst>
          </p:cNvPr>
          <p:cNvSpPr>
            <a:spLocks noGrp="1" noChangeArrowheads="1"/>
          </p:cNvSpPr>
          <p:nvPr>
            <p:ph type="body" idx="1"/>
          </p:nvPr>
        </p:nvSpPr>
        <p:spPr>
          <a:xfrm>
            <a:off x="1919288" y="1873770"/>
            <a:ext cx="8101012" cy="3642792"/>
          </a:xfrm>
        </p:spPr>
        <p:txBody>
          <a:bodyPr/>
          <a:lstStyle/>
          <a:p>
            <a:pPr>
              <a:lnSpc>
                <a:spcPct val="90000"/>
              </a:lnSpc>
            </a:pPr>
            <a:r>
              <a:rPr lang="zh-CN" altLang="en-US" dirty="0"/>
              <a:t>项目风险管理对选择项目、确定项目范围、制定现实的进度计划和成本估算有积极的影响。</a:t>
            </a:r>
          </a:p>
          <a:p>
            <a:pPr>
              <a:lnSpc>
                <a:spcPct val="90000"/>
              </a:lnSpc>
            </a:pPr>
            <a:endParaRPr lang="zh-CN" altLang="en-US" dirty="0"/>
          </a:p>
          <a:p>
            <a:pPr>
              <a:lnSpc>
                <a:spcPct val="90000"/>
              </a:lnSpc>
            </a:pPr>
            <a:r>
              <a:rPr lang="zh-CN" altLang="en-US" dirty="0"/>
              <a:t>项目风险管理有助于项目相关方了解项目的本质，使团队成员参与确定优势与劣势，并有助于结合其它项目管理知识领域。</a:t>
            </a:r>
          </a:p>
          <a:p>
            <a:pPr>
              <a:lnSpc>
                <a:spcPct val="90000"/>
              </a:lnSpc>
            </a:pPr>
            <a:endParaRPr lang="en-US" altLang="zh-CN" dirty="0"/>
          </a:p>
        </p:txBody>
      </p:sp>
      <p:sp>
        <p:nvSpPr>
          <p:cNvPr id="4" name="标题 2">
            <a:extLst>
              <a:ext uri="{FF2B5EF4-FFF2-40B4-BE49-F238E27FC236}">
                <a16:creationId xmlns:a16="http://schemas.microsoft.com/office/drawing/2014/main" id="{679905BC-A0DA-49B5-9DDF-AA2CDA995250}"/>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17.1 </a:t>
            </a:r>
            <a:r>
              <a:rPr lang="zh-CN" altLang="en-US" dirty="0"/>
              <a:t>风险及风险管理概述</a:t>
            </a:r>
            <a:br>
              <a:rPr lang="zh-CN" altLang="en-US" dirty="0"/>
            </a:b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F4EFD32-67EC-445E-9629-7C3CB2A9BE37}"/>
              </a:ext>
            </a:extLst>
          </p:cNvPr>
          <p:cNvSpPr>
            <a:spLocks noGrp="1"/>
          </p:cNvSpPr>
          <p:nvPr>
            <p:ph idx="1"/>
          </p:nvPr>
        </p:nvSpPr>
        <p:spPr/>
        <p:txBody>
          <a:bodyPr/>
          <a:lstStyle/>
          <a:p>
            <a:pPr>
              <a:lnSpc>
                <a:spcPct val="130000"/>
              </a:lnSpc>
            </a:pPr>
            <a:r>
              <a:rPr lang="zh-CN" altLang="en-US" sz="2400" dirty="0">
                <a:latin typeface="SourceHanSansSC-Bold"/>
              </a:rPr>
              <a:t>项目风险管理的核心概念</a:t>
            </a:r>
            <a:endParaRPr lang="en-US" altLang="zh-CN" sz="2400" dirty="0">
              <a:latin typeface="SourceHanSansSC-Bold"/>
            </a:endParaRPr>
          </a:p>
          <a:p>
            <a:pPr lvl="1">
              <a:lnSpc>
                <a:spcPct val="130000"/>
              </a:lnSpc>
            </a:pPr>
            <a:r>
              <a:rPr lang="zh-CN" altLang="en-US" sz="1800" dirty="0">
                <a:latin typeface="SourceHanSansSC-Regular"/>
              </a:rPr>
              <a:t>项目有风险；</a:t>
            </a:r>
            <a:r>
              <a:rPr lang="zh-CN" altLang="en-US" sz="1800" b="0" dirty="0">
                <a:latin typeface="SourceHanSansSC-Regular"/>
              </a:rPr>
              <a:t>开展项目，不仅要面对各种制约因素和假设条件，而且还要应对可能相互冲突和不断变化的相关方期望。</a:t>
            </a:r>
            <a:endParaRPr lang="en-US" altLang="zh-CN" sz="1800" b="0" dirty="0">
              <a:latin typeface="SourceHanSansSC-Regular"/>
            </a:endParaRPr>
          </a:p>
          <a:p>
            <a:pPr lvl="2">
              <a:lnSpc>
                <a:spcPct val="130000"/>
              </a:lnSpc>
            </a:pPr>
            <a:r>
              <a:rPr lang="zh-CN" altLang="en-US" sz="1600" dirty="0">
                <a:solidFill>
                  <a:schemeClr val="tx2"/>
                </a:solidFill>
                <a:latin typeface="SourceHanSansSC-Regular"/>
              </a:rPr>
              <a:t>组织应该有目的地以可控方式去冒项目风险，以便平衡风险和回报，并创造价值。</a:t>
            </a:r>
            <a:endParaRPr lang="en-US" altLang="zh-CN" sz="1600" dirty="0">
              <a:solidFill>
                <a:schemeClr val="tx2"/>
              </a:solidFill>
              <a:latin typeface="SourceHanSansSC-Bold"/>
            </a:endParaRPr>
          </a:p>
          <a:p>
            <a:pPr lvl="1">
              <a:lnSpc>
                <a:spcPct val="130000"/>
              </a:lnSpc>
            </a:pPr>
            <a:r>
              <a:rPr lang="zh-CN" altLang="en-US" sz="1800" dirty="0">
                <a:latin typeface="SourceHanSansSC-Regular"/>
              </a:rPr>
              <a:t>项目风险管理是识别、分析、应对项目风险的一个系统化的管理过程</a:t>
            </a:r>
            <a:endParaRPr lang="en-US" altLang="zh-CN" sz="1800" dirty="0">
              <a:latin typeface="SourceHanSansSC-Regular"/>
            </a:endParaRPr>
          </a:p>
          <a:p>
            <a:pPr lvl="2">
              <a:lnSpc>
                <a:spcPct val="130000"/>
              </a:lnSpc>
            </a:pPr>
            <a:r>
              <a:rPr lang="zh-CN" altLang="en-US" sz="1600" dirty="0">
                <a:solidFill>
                  <a:schemeClr val="tx2"/>
                </a:solidFill>
                <a:latin typeface="SourceHanSansSC-Regular"/>
              </a:rPr>
              <a:t>旨在利用或强化正面风险（机会），规避或减轻负面风险（威胁）</a:t>
            </a:r>
            <a:r>
              <a:rPr lang="en-US" altLang="zh-CN" sz="1600" dirty="0">
                <a:solidFill>
                  <a:schemeClr val="tx2"/>
                </a:solidFill>
                <a:latin typeface="SourceHanSansSC-Regular"/>
              </a:rPr>
              <a:t>,</a:t>
            </a:r>
            <a:r>
              <a:rPr lang="zh-CN" altLang="en-US" sz="1600" dirty="0">
                <a:solidFill>
                  <a:schemeClr val="tx2"/>
                </a:solidFill>
                <a:latin typeface="SourceHanSansSC-Regular"/>
              </a:rPr>
              <a:t>从而提高项目成功的可能性。 </a:t>
            </a:r>
            <a:endParaRPr lang="en-US" altLang="zh-CN" sz="1600" dirty="0">
              <a:solidFill>
                <a:schemeClr val="tx2"/>
              </a:solidFill>
              <a:latin typeface="SourceHanSansSC-Regular"/>
            </a:endParaRPr>
          </a:p>
          <a:p>
            <a:pPr lvl="1">
              <a:lnSpc>
                <a:spcPct val="130000"/>
              </a:lnSpc>
            </a:pPr>
            <a:r>
              <a:rPr lang="zh-CN" altLang="en-US" dirty="0"/>
              <a:t>项目风险的二个层面</a:t>
            </a:r>
          </a:p>
          <a:p>
            <a:pPr lvl="2">
              <a:lnSpc>
                <a:spcPct val="130000"/>
              </a:lnSpc>
            </a:pPr>
            <a:r>
              <a:rPr lang="zh-CN" altLang="en-US" sz="1600" dirty="0">
                <a:solidFill>
                  <a:schemeClr val="tx2"/>
                </a:solidFill>
                <a:latin typeface="SourceHanSansSC-Regular"/>
              </a:rPr>
              <a:t>单个项目风险：是一旦发生，会对一个或多个项目目标产生正面或负面影响的不确定事件或条件</a:t>
            </a:r>
          </a:p>
          <a:p>
            <a:pPr lvl="2">
              <a:lnSpc>
                <a:spcPct val="130000"/>
              </a:lnSpc>
            </a:pPr>
            <a:r>
              <a:rPr lang="zh-CN" altLang="en-US" sz="1600" dirty="0">
                <a:solidFill>
                  <a:schemeClr val="tx2"/>
                </a:solidFill>
                <a:latin typeface="SourceHanSansSC-Regular"/>
              </a:rPr>
              <a:t>整体项目风险是不确定性对项目整体的影响，是相关方面临的项目结果正面和负面变异区间。它源于包括单个风险在内的所有不确定性。</a:t>
            </a:r>
          </a:p>
          <a:p>
            <a:pPr lvl="1">
              <a:lnSpc>
                <a:spcPct val="130000"/>
              </a:lnSpc>
            </a:pPr>
            <a:r>
              <a:rPr lang="zh-CN" altLang="en-US" dirty="0"/>
              <a:t>项目风险管理的新趋势</a:t>
            </a:r>
            <a:endParaRPr lang="en-US" altLang="zh-CN" dirty="0"/>
          </a:p>
          <a:p>
            <a:pPr lvl="2">
              <a:lnSpc>
                <a:spcPct val="130000"/>
              </a:lnSpc>
            </a:pPr>
            <a:r>
              <a:rPr lang="zh-CN" altLang="en-US" dirty="0"/>
              <a:t>非事件类风险 ：</a:t>
            </a:r>
            <a:r>
              <a:rPr lang="zh-CN" altLang="en-US" sz="1600" dirty="0">
                <a:solidFill>
                  <a:schemeClr val="tx2"/>
                </a:solidFill>
                <a:latin typeface="SourceHanSansSC-Regular"/>
              </a:rPr>
              <a:t>变异性风险，模糊性风险</a:t>
            </a:r>
            <a:endParaRPr lang="en-US" altLang="zh-CN" sz="1600" dirty="0">
              <a:solidFill>
                <a:schemeClr val="tx2"/>
              </a:solidFill>
              <a:latin typeface="SourceHanSansSC-Regular"/>
            </a:endParaRPr>
          </a:p>
          <a:p>
            <a:pPr lvl="2">
              <a:lnSpc>
                <a:spcPct val="130000"/>
              </a:lnSpc>
            </a:pPr>
            <a:r>
              <a:rPr lang="zh-CN" altLang="en-US" dirty="0"/>
              <a:t>项目韧性</a:t>
            </a:r>
            <a:r>
              <a:rPr lang="en-US" altLang="zh-CN" dirty="0"/>
              <a:t>,</a:t>
            </a:r>
            <a:r>
              <a:rPr lang="zh-CN" altLang="en-US" b="0" dirty="0"/>
              <a:t>通过加强项目韧性来应对突发性风险</a:t>
            </a:r>
            <a:endParaRPr lang="en-US" altLang="zh-CN" b="0" dirty="0"/>
          </a:p>
          <a:p>
            <a:pPr lvl="2">
              <a:lnSpc>
                <a:spcPct val="130000"/>
              </a:lnSpc>
            </a:pPr>
            <a:r>
              <a:rPr lang="zh-CN" altLang="en-US" dirty="0"/>
              <a:t>整合式风险管理</a:t>
            </a:r>
            <a:r>
              <a:rPr lang="en-US" altLang="zh-CN" dirty="0"/>
              <a:t>, </a:t>
            </a:r>
            <a:r>
              <a:rPr lang="zh-CN" altLang="en-US" b="0" dirty="0"/>
              <a:t>项目、项目集、项目组合和组织这些层面上存在的风险</a:t>
            </a:r>
          </a:p>
        </p:txBody>
      </p:sp>
      <p:sp>
        <p:nvSpPr>
          <p:cNvPr id="3" name="标题 2">
            <a:extLst>
              <a:ext uri="{FF2B5EF4-FFF2-40B4-BE49-F238E27FC236}">
                <a16:creationId xmlns:a16="http://schemas.microsoft.com/office/drawing/2014/main" id="{FDB8C3B9-04A4-42E6-99E1-DD8E40B264FD}"/>
              </a:ext>
            </a:extLst>
          </p:cNvPr>
          <p:cNvSpPr>
            <a:spLocks noGrp="1"/>
          </p:cNvSpPr>
          <p:nvPr>
            <p:ph type="title"/>
          </p:nvPr>
        </p:nvSpPr>
        <p:spPr/>
        <p:txBody>
          <a:bodyPr/>
          <a:lstStyle/>
          <a:p>
            <a:r>
              <a:rPr lang="en-US" altLang="zh-CN" dirty="0"/>
              <a:t>17.1 </a:t>
            </a:r>
            <a:r>
              <a:rPr lang="zh-CN" altLang="en-US" dirty="0"/>
              <a:t>风险及风险管理概述</a:t>
            </a:r>
            <a:br>
              <a:rPr lang="zh-CN" altLang="en-US" dirty="0"/>
            </a:br>
            <a:endParaRPr lang="zh-CN" altLang="en-US" dirty="0"/>
          </a:p>
        </p:txBody>
      </p:sp>
    </p:spTree>
    <p:extLst>
      <p:ext uri="{BB962C8B-B14F-4D97-AF65-F5344CB8AC3E}">
        <p14:creationId xmlns:p14="http://schemas.microsoft.com/office/powerpoint/2010/main" val="230066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9" name="内容占位符 2">
            <a:extLst>
              <a:ext uri="{FF2B5EF4-FFF2-40B4-BE49-F238E27FC236}">
                <a16:creationId xmlns:a16="http://schemas.microsoft.com/office/drawing/2014/main" id="{14D2DEB9-22D9-4DEA-8C61-7A664B755A82}"/>
              </a:ext>
            </a:extLst>
          </p:cNvPr>
          <p:cNvSpPr>
            <a:spLocks noGrp="1" noChangeArrowheads="1"/>
          </p:cNvSpPr>
          <p:nvPr>
            <p:ph idx="1"/>
          </p:nvPr>
        </p:nvSpPr>
        <p:spPr>
          <a:xfrm>
            <a:off x="824459" y="600657"/>
            <a:ext cx="10658007" cy="5596727"/>
          </a:xfrm>
        </p:spPr>
        <p:txBody>
          <a:bodyPr/>
          <a:lstStyle/>
          <a:p>
            <a:pPr eaLnBrk="1" hangingPunct="1">
              <a:lnSpc>
                <a:spcPct val="120000"/>
              </a:lnSpc>
              <a:defRPr/>
            </a:pPr>
            <a:r>
              <a:rPr lang="zh-CN" altLang="en-US" sz="2400" dirty="0">
                <a:ea typeface="幼圆" panose="02010509060101010101" pitchFamily="49" charset="-122"/>
              </a:rPr>
              <a:t>项目风险管理涉及的主要过程</a:t>
            </a:r>
          </a:p>
          <a:p>
            <a:pPr lvl="1" eaLnBrk="1" hangingPunct="1">
              <a:lnSpc>
                <a:spcPct val="120000"/>
              </a:lnSpc>
              <a:defRPr/>
            </a:pPr>
            <a:r>
              <a:rPr lang="en-US" altLang="zh-CN" dirty="0"/>
              <a:t>1 </a:t>
            </a:r>
            <a:r>
              <a:rPr lang="zh-CN" altLang="zh-CN" dirty="0"/>
              <a:t>规划风险管理</a:t>
            </a:r>
            <a:endParaRPr lang="en-US" altLang="zh-CN" dirty="0"/>
          </a:p>
          <a:p>
            <a:pPr lvl="2">
              <a:lnSpc>
                <a:spcPct val="120000"/>
              </a:lnSpc>
              <a:defRPr/>
            </a:pPr>
            <a:r>
              <a:rPr lang="zh-CN" altLang="en-US" dirty="0"/>
              <a:t>定义如何实施项目风险管理活动的过程</a:t>
            </a:r>
            <a:endParaRPr lang="en-US" altLang="zh-CN" dirty="0"/>
          </a:p>
          <a:p>
            <a:pPr lvl="1" eaLnBrk="1" hangingPunct="1">
              <a:lnSpc>
                <a:spcPct val="120000"/>
              </a:lnSpc>
              <a:defRPr/>
            </a:pPr>
            <a:r>
              <a:rPr lang="en-US" altLang="zh-CN" dirty="0"/>
              <a:t>2 </a:t>
            </a:r>
            <a:r>
              <a:rPr lang="zh-CN" altLang="en-US" dirty="0"/>
              <a:t>风险识别</a:t>
            </a:r>
            <a:endParaRPr lang="en-US" altLang="zh-CN" dirty="0"/>
          </a:p>
          <a:p>
            <a:pPr lvl="2">
              <a:lnSpc>
                <a:spcPct val="120000"/>
              </a:lnSpc>
              <a:defRPr/>
            </a:pPr>
            <a:r>
              <a:rPr lang="zh-CN" altLang="en-US" dirty="0"/>
              <a:t>识别单个项目风险，以及整体项目风险的来源，并记录风险特征的过程</a:t>
            </a:r>
            <a:endParaRPr lang="en-US" altLang="zh-CN" dirty="0"/>
          </a:p>
          <a:p>
            <a:pPr lvl="1">
              <a:lnSpc>
                <a:spcPct val="120000"/>
              </a:lnSpc>
              <a:defRPr/>
            </a:pPr>
            <a:r>
              <a:rPr lang="en-US" altLang="zh-CN" dirty="0"/>
              <a:t>3 </a:t>
            </a:r>
            <a:r>
              <a:rPr lang="zh-CN" altLang="zh-CN" dirty="0"/>
              <a:t>实施定性风险分析</a:t>
            </a:r>
            <a:endParaRPr lang="en-US" altLang="zh-CN" dirty="0"/>
          </a:p>
          <a:p>
            <a:pPr lvl="2">
              <a:lnSpc>
                <a:spcPct val="120000"/>
              </a:lnSpc>
              <a:defRPr/>
            </a:pPr>
            <a:r>
              <a:rPr lang="zh-CN" altLang="zh-CN" dirty="0"/>
              <a:t>评估并综合分析风险的发生概率和影响，对风险进行优先排序，为后续分析或活动提供基础</a:t>
            </a:r>
          </a:p>
          <a:p>
            <a:pPr lvl="1" eaLnBrk="1" hangingPunct="1">
              <a:lnSpc>
                <a:spcPct val="120000"/>
              </a:lnSpc>
              <a:defRPr/>
            </a:pPr>
            <a:r>
              <a:rPr lang="en-US" altLang="zh-CN" dirty="0"/>
              <a:t>4 </a:t>
            </a:r>
            <a:r>
              <a:rPr lang="zh-CN" altLang="zh-CN" dirty="0"/>
              <a:t>实施定量风险分析</a:t>
            </a:r>
            <a:endParaRPr lang="en-US" altLang="zh-CN" dirty="0"/>
          </a:p>
          <a:p>
            <a:pPr lvl="2">
              <a:lnSpc>
                <a:spcPct val="120000"/>
              </a:lnSpc>
              <a:defRPr/>
            </a:pPr>
            <a:r>
              <a:rPr lang="zh-CN" altLang="en-US" dirty="0"/>
              <a:t>就已识别的项目风险和其他不确定性来源对整体项目目标的影响进行定量分析</a:t>
            </a:r>
            <a:endParaRPr lang="zh-CN" altLang="zh-CN" dirty="0"/>
          </a:p>
          <a:p>
            <a:pPr lvl="1">
              <a:lnSpc>
                <a:spcPct val="120000"/>
              </a:lnSpc>
              <a:defRPr/>
            </a:pPr>
            <a:r>
              <a:rPr lang="en-US" altLang="zh-CN" dirty="0"/>
              <a:t>5 </a:t>
            </a:r>
            <a:r>
              <a:rPr lang="zh-CN" altLang="zh-CN" dirty="0"/>
              <a:t>规划风险应对</a:t>
            </a:r>
            <a:endParaRPr lang="en-US" altLang="zh-CN" dirty="0"/>
          </a:p>
          <a:p>
            <a:pPr lvl="2">
              <a:lnSpc>
                <a:spcPct val="120000"/>
              </a:lnSpc>
              <a:defRPr/>
            </a:pPr>
            <a:r>
              <a:rPr lang="zh-CN" altLang="en-US" dirty="0"/>
              <a:t>为处理整体项目风险，以及应对单个项目风险，而制定可选方案、选择应对策略并商定应对行动的过程</a:t>
            </a:r>
            <a:endParaRPr lang="zh-CN" altLang="zh-CN" dirty="0"/>
          </a:p>
          <a:p>
            <a:pPr lvl="1">
              <a:lnSpc>
                <a:spcPct val="120000"/>
              </a:lnSpc>
              <a:defRPr/>
            </a:pPr>
            <a:r>
              <a:rPr lang="en-US" altLang="zh-CN" dirty="0"/>
              <a:t>6 </a:t>
            </a:r>
            <a:r>
              <a:rPr lang="zh-CN" altLang="en-US" dirty="0"/>
              <a:t>实施风险应对</a:t>
            </a:r>
            <a:endParaRPr lang="en-US" altLang="zh-CN" dirty="0"/>
          </a:p>
          <a:p>
            <a:pPr lvl="2">
              <a:lnSpc>
                <a:spcPct val="120000"/>
              </a:lnSpc>
              <a:defRPr/>
            </a:pPr>
            <a:r>
              <a:rPr lang="zh-CN" altLang="en-US" dirty="0"/>
              <a:t>执行商定的风险应对计划</a:t>
            </a:r>
          </a:p>
          <a:p>
            <a:pPr lvl="1">
              <a:lnSpc>
                <a:spcPct val="120000"/>
              </a:lnSpc>
              <a:defRPr/>
            </a:pPr>
            <a:r>
              <a:rPr lang="en-US" altLang="zh-CN" dirty="0"/>
              <a:t>7 </a:t>
            </a:r>
            <a:r>
              <a:rPr lang="zh-CN" altLang="en-US" dirty="0"/>
              <a:t>监督风险</a:t>
            </a:r>
            <a:endParaRPr lang="en-US" altLang="zh-CN" dirty="0"/>
          </a:p>
          <a:p>
            <a:pPr lvl="2">
              <a:lnSpc>
                <a:spcPct val="120000"/>
              </a:lnSpc>
              <a:defRPr/>
            </a:pPr>
            <a:r>
              <a:rPr lang="zh-CN" altLang="en-US" dirty="0"/>
              <a:t>监督商定的风险应对计划的实施、跟踪已识别风险、识别和分析新风险，以及评估风险管理有效性</a:t>
            </a:r>
          </a:p>
          <a:p>
            <a:pPr>
              <a:lnSpc>
                <a:spcPct val="120000"/>
              </a:lnSpc>
              <a:defRPr/>
            </a:pP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11893C1-716E-4960-8325-F7C23CF5CF4E}"/>
              </a:ext>
            </a:extLst>
          </p:cNvPr>
          <p:cNvSpPr>
            <a:spLocks noGrp="1"/>
          </p:cNvSpPr>
          <p:nvPr>
            <p:ph idx="1"/>
          </p:nvPr>
        </p:nvSpPr>
        <p:spPr/>
        <p:txBody>
          <a:bodyPr/>
          <a:lstStyle/>
          <a:p>
            <a:r>
              <a:rPr lang="zh-CN" altLang="en-US" sz="2400" dirty="0">
                <a:latin typeface="微软雅黑" panose="020B0503020204020204" pitchFamily="34" charset="-122"/>
              </a:rPr>
              <a:t>项目风险管理子过程</a:t>
            </a:r>
            <a:endParaRPr lang="zh-CN" altLang="en-US" dirty="0">
              <a:latin typeface="微软雅黑" panose="020B0503020204020204" pitchFamily="34" charset="-122"/>
            </a:endParaRPr>
          </a:p>
        </p:txBody>
      </p:sp>
      <p:sp>
        <p:nvSpPr>
          <p:cNvPr id="40" name="标题 2">
            <a:extLst>
              <a:ext uri="{FF2B5EF4-FFF2-40B4-BE49-F238E27FC236}">
                <a16:creationId xmlns:a16="http://schemas.microsoft.com/office/drawing/2014/main" id="{1D480C01-5CAA-4388-95AB-6E3F817C52ED}"/>
              </a:ext>
            </a:extLst>
          </p:cNvPr>
          <p:cNvSpPr txBox="1">
            <a:spLocks noGrp="1"/>
          </p:cNvSpPr>
          <p:nvPr>
            <p:ph type="title"/>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17.1 </a:t>
            </a:r>
            <a:r>
              <a:rPr lang="zh-CN" altLang="en-US" dirty="0">
                <a:latin typeface="微软雅黑" panose="020B0503020204020204" pitchFamily="34" charset="-122"/>
              </a:rPr>
              <a:t>风险及风险管理概述</a:t>
            </a:r>
            <a:br>
              <a:rPr lang="zh-CN" altLang="en-US" dirty="0">
                <a:latin typeface="微软雅黑" panose="020B0503020204020204" pitchFamily="34" charset="-122"/>
              </a:rPr>
            </a:br>
            <a:endParaRPr lang="zh-CN" altLang="en-US" dirty="0">
              <a:latin typeface="微软雅黑" panose="020B0503020204020204" pitchFamily="34" charset="-122"/>
            </a:endParaRPr>
          </a:p>
        </p:txBody>
      </p:sp>
      <p:sp>
        <p:nvSpPr>
          <p:cNvPr id="41" name="AutoShape 5">
            <a:extLst>
              <a:ext uri="{FF2B5EF4-FFF2-40B4-BE49-F238E27FC236}">
                <a16:creationId xmlns:a16="http://schemas.microsoft.com/office/drawing/2014/main" id="{62E66038-C231-41CD-9F6C-24A73895CBD6}"/>
              </a:ext>
            </a:extLst>
          </p:cNvPr>
          <p:cNvSpPr>
            <a:spLocks noChangeArrowheads="1"/>
          </p:cNvSpPr>
          <p:nvPr/>
        </p:nvSpPr>
        <p:spPr bwMode="auto">
          <a:xfrm>
            <a:off x="8236427" y="2566989"/>
            <a:ext cx="1307237"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42" name="AutoShape 4">
            <a:extLst>
              <a:ext uri="{FF2B5EF4-FFF2-40B4-BE49-F238E27FC236}">
                <a16:creationId xmlns:a16="http://schemas.microsoft.com/office/drawing/2014/main" id="{97402679-8F79-42F3-9773-832FB5F02315}"/>
              </a:ext>
            </a:extLst>
          </p:cNvPr>
          <p:cNvSpPr>
            <a:spLocks noChangeArrowheads="1"/>
          </p:cNvSpPr>
          <p:nvPr/>
        </p:nvSpPr>
        <p:spPr bwMode="auto">
          <a:xfrm>
            <a:off x="9695675" y="2562955"/>
            <a:ext cx="152825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43" name="AutoShape 5">
            <a:extLst>
              <a:ext uri="{FF2B5EF4-FFF2-40B4-BE49-F238E27FC236}">
                <a16:creationId xmlns:a16="http://schemas.microsoft.com/office/drawing/2014/main" id="{93B8AE16-4303-4726-9EC1-4747363130A2}"/>
              </a:ext>
            </a:extLst>
          </p:cNvPr>
          <p:cNvSpPr>
            <a:spLocks noChangeArrowheads="1"/>
          </p:cNvSpPr>
          <p:nvPr/>
        </p:nvSpPr>
        <p:spPr bwMode="auto">
          <a:xfrm>
            <a:off x="1210200" y="2579448"/>
            <a:ext cx="6784918"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44" name="AutoShape 6">
            <a:extLst>
              <a:ext uri="{FF2B5EF4-FFF2-40B4-BE49-F238E27FC236}">
                <a16:creationId xmlns:a16="http://schemas.microsoft.com/office/drawing/2014/main" id="{8FDEBF86-99FB-4FF5-AE24-B73F5738BB39}"/>
              </a:ext>
            </a:extLst>
          </p:cNvPr>
          <p:cNvSpPr>
            <a:spLocks noChangeArrowheads="1"/>
          </p:cNvSpPr>
          <p:nvPr/>
        </p:nvSpPr>
        <p:spPr bwMode="auto">
          <a:xfrm>
            <a:off x="1383820" y="2836625"/>
            <a:ext cx="1093392"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规划风</a:t>
            </a:r>
            <a:endParaRPr lang="en-US" altLang="zh-CN" sz="16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latin typeface="微软雅黑" panose="020B0503020204020204" pitchFamily="34" charset="-122"/>
                <a:ea typeface="微软雅黑" panose="020B0503020204020204" pitchFamily="34" charset="-122"/>
              </a:rPr>
              <a:t>险管理</a:t>
            </a:r>
          </a:p>
        </p:txBody>
      </p:sp>
      <p:sp>
        <p:nvSpPr>
          <p:cNvPr id="45" name="AutoShape 7">
            <a:extLst>
              <a:ext uri="{FF2B5EF4-FFF2-40B4-BE49-F238E27FC236}">
                <a16:creationId xmlns:a16="http://schemas.microsoft.com/office/drawing/2014/main" id="{68FC501F-9418-43CD-9732-9108BE103F91}"/>
              </a:ext>
            </a:extLst>
          </p:cNvPr>
          <p:cNvSpPr>
            <a:spLocks noChangeArrowheads="1"/>
          </p:cNvSpPr>
          <p:nvPr/>
        </p:nvSpPr>
        <p:spPr bwMode="auto">
          <a:xfrm>
            <a:off x="2812844" y="2836625"/>
            <a:ext cx="1020033"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识别风险</a:t>
            </a:r>
          </a:p>
        </p:txBody>
      </p:sp>
      <p:sp>
        <p:nvSpPr>
          <p:cNvPr id="46" name="AutoShape 8">
            <a:extLst>
              <a:ext uri="{FF2B5EF4-FFF2-40B4-BE49-F238E27FC236}">
                <a16:creationId xmlns:a16="http://schemas.microsoft.com/office/drawing/2014/main" id="{BEA82A5E-E6E8-416A-8D3A-69D1F99C9119}"/>
              </a:ext>
            </a:extLst>
          </p:cNvPr>
          <p:cNvSpPr>
            <a:spLocks noChangeArrowheads="1"/>
          </p:cNvSpPr>
          <p:nvPr/>
        </p:nvSpPr>
        <p:spPr bwMode="auto">
          <a:xfrm>
            <a:off x="4163726" y="2832503"/>
            <a:ext cx="965467"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实施定性</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风险分析</a:t>
            </a:r>
          </a:p>
        </p:txBody>
      </p:sp>
      <p:sp>
        <p:nvSpPr>
          <p:cNvPr id="47" name="AutoShape 10">
            <a:extLst>
              <a:ext uri="{FF2B5EF4-FFF2-40B4-BE49-F238E27FC236}">
                <a16:creationId xmlns:a16="http://schemas.microsoft.com/office/drawing/2014/main" id="{F52A9281-04FA-4294-90F1-67E108626BF8}"/>
              </a:ext>
            </a:extLst>
          </p:cNvPr>
          <p:cNvSpPr>
            <a:spLocks noChangeArrowheads="1"/>
          </p:cNvSpPr>
          <p:nvPr/>
        </p:nvSpPr>
        <p:spPr bwMode="auto">
          <a:xfrm>
            <a:off x="9889677" y="283662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监督风险</a:t>
            </a:r>
          </a:p>
        </p:txBody>
      </p:sp>
      <p:sp>
        <p:nvSpPr>
          <p:cNvPr id="48" name="AutoShape 11">
            <a:extLst>
              <a:ext uri="{FF2B5EF4-FFF2-40B4-BE49-F238E27FC236}">
                <a16:creationId xmlns:a16="http://schemas.microsoft.com/office/drawing/2014/main" id="{0C779AC9-B0CA-45D7-BB3E-5CB4C6EC9B19}"/>
              </a:ext>
            </a:extLst>
          </p:cNvPr>
          <p:cNvSpPr>
            <a:spLocks noChangeArrowheads="1"/>
          </p:cNvSpPr>
          <p:nvPr/>
        </p:nvSpPr>
        <p:spPr bwMode="auto">
          <a:xfrm>
            <a:off x="2489764" y="3077407"/>
            <a:ext cx="317112" cy="261937"/>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49" name="AutoShape 12">
            <a:extLst>
              <a:ext uri="{FF2B5EF4-FFF2-40B4-BE49-F238E27FC236}">
                <a16:creationId xmlns:a16="http://schemas.microsoft.com/office/drawing/2014/main" id="{93BF7A35-823A-4470-943D-95F51FA80876}"/>
              </a:ext>
            </a:extLst>
          </p:cNvPr>
          <p:cNvSpPr>
            <a:spLocks noChangeArrowheads="1"/>
          </p:cNvSpPr>
          <p:nvPr/>
        </p:nvSpPr>
        <p:spPr bwMode="auto">
          <a:xfrm>
            <a:off x="3831210" y="3095385"/>
            <a:ext cx="329922" cy="256228"/>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50" name="Group 15">
            <a:extLst>
              <a:ext uri="{FF2B5EF4-FFF2-40B4-BE49-F238E27FC236}">
                <a16:creationId xmlns:a16="http://schemas.microsoft.com/office/drawing/2014/main" id="{1FA4C7BD-2CF1-4EDD-AB13-EAD8728BB6D3}"/>
              </a:ext>
            </a:extLst>
          </p:cNvPr>
          <p:cNvGrpSpPr>
            <a:grpSpLocks/>
          </p:cNvGrpSpPr>
          <p:nvPr/>
        </p:nvGrpSpPr>
        <p:grpSpPr bwMode="auto">
          <a:xfrm>
            <a:off x="1295363" y="3644661"/>
            <a:ext cx="1219200" cy="2209800"/>
            <a:chOff x="816" y="3120"/>
            <a:chExt cx="1344" cy="960"/>
          </a:xfrm>
        </p:grpSpPr>
        <p:sp>
          <p:nvSpPr>
            <p:cNvPr id="51" name="Rectangle 16">
              <a:extLst>
                <a:ext uri="{FF2B5EF4-FFF2-40B4-BE49-F238E27FC236}">
                  <a16:creationId xmlns:a16="http://schemas.microsoft.com/office/drawing/2014/main" id="{6EB0A0C6-04F2-461F-81E7-82661A125C13}"/>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风险管理计划</a:t>
              </a:r>
              <a:endParaRPr lang="ja-JP" altLang="en-US"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52" name="AutoShape 17">
              <a:extLst>
                <a:ext uri="{FF2B5EF4-FFF2-40B4-BE49-F238E27FC236}">
                  <a16:creationId xmlns:a16="http://schemas.microsoft.com/office/drawing/2014/main" id="{F052E276-3459-4231-92FE-AA1025917D02}"/>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53" name="Group 18">
            <a:extLst>
              <a:ext uri="{FF2B5EF4-FFF2-40B4-BE49-F238E27FC236}">
                <a16:creationId xmlns:a16="http://schemas.microsoft.com/office/drawing/2014/main" id="{C9E3534D-B905-4859-A816-CA7ED7291AA7}"/>
              </a:ext>
            </a:extLst>
          </p:cNvPr>
          <p:cNvGrpSpPr>
            <a:grpSpLocks/>
          </p:cNvGrpSpPr>
          <p:nvPr/>
        </p:nvGrpSpPr>
        <p:grpSpPr bwMode="auto">
          <a:xfrm>
            <a:off x="2629448" y="3646248"/>
            <a:ext cx="1371600" cy="2209800"/>
            <a:chOff x="816" y="3120"/>
            <a:chExt cx="1344" cy="960"/>
          </a:xfrm>
        </p:grpSpPr>
        <p:sp>
          <p:nvSpPr>
            <p:cNvPr id="54" name="Rectangle 19">
              <a:extLst>
                <a:ext uri="{FF2B5EF4-FFF2-40B4-BE49-F238E27FC236}">
                  <a16:creationId xmlns:a16="http://schemas.microsoft.com/office/drawing/2014/main" id="{6B5EEB2E-BBD3-44CA-B16F-C98EFE9FB0E4}"/>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风险登记册</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风险报告</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目文件更新</a:t>
              </a:r>
            </a:p>
          </p:txBody>
        </p:sp>
        <p:sp>
          <p:nvSpPr>
            <p:cNvPr id="55" name="AutoShape 20">
              <a:extLst>
                <a:ext uri="{FF2B5EF4-FFF2-40B4-BE49-F238E27FC236}">
                  <a16:creationId xmlns:a16="http://schemas.microsoft.com/office/drawing/2014/main" id="{22E5544F-9112-4202-A02C-9087F85F369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56" name="Group 21">
            <a:extLst>
              <a:ext uri="{FF2B5EF4-FFF2-40B4-BE49-F238E27FC236}">
                <a16:creationId xmlns:a16="http://schemas.microsoft.com/office/drawing/2014/main" id="{0FB06EE2-8853-4979-B702-74A2B6A8EC5C}"/>
              </a:ext>
            </a:extLst>
          </p:cNvPr>
          <p:cNvGrpSpPr>
            <a:grpSpLocks/>
          </p:cNvGrpSpPr>
          <p:nvPr/>
        </p:nvGrpSpPr>
        <p:grpSpPr bwMode="auto">
          <a:xfrm>
            <a:off x="5410897" y="3630839"/>
            <a:ext cx="1219200" cy="2209800"/>
            <a:chOff x="349" y="3120"/>
            <a:chExt cx="1509" cy="960"/>
          </a:xfrm>
        </p:grpSpPr>
        <p:sp>
          <p:nvSpPr>
            <p:cNvPr id="57" name="Rectangle 22">
              <a:extLst>
                <a:ext uri="{FF2B5EF4-FFF2-40B4-BE49-F238E27FC236}">
                  <a16:creationId xmlns:a16="http://schemas.microsoft.com/office/drawing/2014/main" id="{7FD556F8-1DBE-4C58-A3BF-51BF0E224C6B}"/>
                </a:ext>
              </a:extLst>
            </p:cNvPr>
            <p:cNvSpPr>
              <a:spLocks noChangeArrowheads="1"/>
            </p:cNvSpPr>
            <p:nvPr/>
          </p:nvSpPr>
          <p:spPr bwMode="auto">
            <a:xfrm>
              <a:off x="349" y="3360"/>
              <a:ext cx="1509"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   </a:t>
              </a: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风险报告</a:t>
              </a:r>
            </a:p>
            <a:p>
              <a:pPr lvl="0" fontAlgn="base">
                <a:spcAft>
                  <a:spcPct val="0"/>
                </a:spcAft>
                <a:buClr>
                  <a:srgbClr val="FFFFFF"/>
                </a:buClr>
                <a:buSzPct val="75000"/>
                <a:buNone/>
              </a:pP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58" name="AutoShape 23">
              <a:extLst>
                <a:ext uri="{FF2B5EF4-FFF2-40B4-BE49-F238E27FC236}">
                  <a16:creationId xmlns:a16="http://schemas.microsoft.com/office/drawing/2014/main" id="{998384C6-1E2E-4A30-9272-C563027179ED}"/>
                </a:ext>
              </a:extLst>
            </p:cNvPr>
            <p:cNvSpPr>
              <a:spLocks noChangeArrowheads="1"/>
            </p:cNvSpPr>
            <p:nvPr/>
          </p:nvSpPr>
          <p:spPr bwMode="auto">
            <a:xfrm>
              <a:off x="1056"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59" name="AutoShape 14">
            <a:extLst>
              <a:ext uri="{FF2B5EF4-FFF2-40B4-BE49-F238E27FC236}">
                <a16:creationId xmlns:a16="http://schemas.microsoft.com/office/drawing/2014/main" id="{C5DF27A0-247D-4F99-94BE-B637A61A5187}"/>
              </a:ext>
            </a:extLst>
          </p:cNvPr>
          <p:cNvSpPr>
            <a:spLocks noChangeArrowheads="1"/>
          </p:cNvSpPr>
          <p:nvPr/>
        </p:nvSpPr>
        <p:spPr bwMode="auto">
          <a:xfrm>
            <a:off x="5131520" y="3095385"/>
            <a:ext cx="347291" cy="256228"/>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60" name="Rectangle 28">
            <a:extLst>
              <a:ext uri="{FF2B5EF4-FFF2-40B4-BE49-F238E27FC236}">
                <a16:creationId xmlns:a16="http://schemas.microsoft.com/office/drawing/2014/main" id="{36E680C0-D688-4AFA-9D06-59D6CC9CC5D5}"/>
              </a:ext>
            </a:extLst>
          </p:cNvPr>
          <p:cNvSpPr>
            <a:spLocks noChangeArrowheads="1"/>
          </p:cNvSpPr>
          <p:nvPr/>
        </p:nvSpPr>
        <p:spPr bwMode="auto">
          <a:xfrm>
            <a:off x="9693337" y="4167124"/>
            <a:ext cx="1558753"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项目管理计划更新</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lang="ja-JP" altLang="en-US" sz="1400" b="1"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61" name="AutoShape 29">
            <a:extLst>
              <a:ext uri="{FF2B5EF4-FFF2-40B4-BE49-F238E27FC236}">
                <a16:creationId xmlns:a16="http://schemas.microsoft.com/office/drawing/2014/main" id="{7059FE14-0633-4D14-A88C-EDDBF1E09F27}"/>
              </a:ext>
            </a:extLst>
          </p:cNvPr>
          <p:cNvSpPr>
            <a:spLocks noChangeArrowheads="1"/>
          </p:cNvSpPr>
          <p:nvPr/>
        </p:nvSpPr>
        <p:spPr bwMode="auto">
          <a:xfrm>
            <a:off x="10408451" y="3614674"/>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2AFF7B2B-4863-45F1-B265-59E34B1AEDCD}"/>
              </a:ext>
            </a:extLst>
          </p:cNvPr>
          <p:cNvSpPr/>
          <p:nvPr/>
        </p:nvSpPr>
        <p:spPr>
          <a:xfrm>
            <a:off x="4075552" y="2160297"/>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63" name="AutoShape 8">
            <a:extLst>
              <a:ext uri="{FF2B5EF4-FFF2-40B4-BE49-F238E27FC236}">
                <a16:creationId xmlns:a16="http://schemas.microsoft.com/office/drawing/2014/main" id="{9ADE1462-2C6C-444A-9B9A-07597A2663FF}"/>
              </a:ext>
            </a:extLst>
          </p:cNvPr>
          <p:cNvSpPr>
            <a:spLocks noChangeArrowheads="1"/>
          </p:cNvSpPr>
          <p:nvPr/>
        </p:nvSpPr>
        <p:spPr bwMode="auto">
          <a:xfrm>
            <a:off x="5520361" y="2828862"/>
            <a:ext cx="988880" cy="781516"/>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实施定量</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风险分析</a:t>
            </a:r>
          </a:p>
        </p:txBody>
      </p:sp>
      <p:sp>
        <p:nvSpPr>
          <p:cNvPr id="64" name="AutoShape 8">
            <a:extLst>
              <a:ext uri="{FF2B5EF4-FFF2-40B4-BE49-F238E27FC236}">
                <a16:creationId xmlns:a16="http://schemas.microsoft.com/office/drawing/2014/main" id="{9F2D4DCB-2DDB-45E9-A71B-BB0A9E001574}"/>
              </a:ext>
            </a:extLst>
          </p:cNvPr>
          <p:cNvSpPr>
            <a:spLocks noChangeArrowheads="1"/>
          </p:cNvSpPr>
          <p:nvPr/>
        </p:nvSpPr>
        <p:spPr bwMode="auto">
          <a:xfrm>
            <a:off x="8403387" y="2836625"/>
            <a:ext cx="991568"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实施风险</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应对</a:t>
            </a:r>
          </a:p>
        </p:txBody>
      </p:sp>
      <p:sp>
        <p:nvSpPr>
          <p:cNvPr id="65" name="AutoShape 14">
            <a:extLst>
              <a:ext uri="{FF2B5EF4-FFF2-40B4-BE49-F238E27FC236}">
                <a16:creationId xmlns:a16="http://schemas.microsoft.com/office/drawing/2014/main" id="{B10E465A-25F4-46AD-BD7F-55756CA395A1}"/>
              </a:ext>
            </a:extLst>
          </p:cNvPr>
          <p:cNvSpPr>
            <a:spLocks noChangeArrowheads="1"/>
          </p:cNvSpPr>
          <p:nvPr/>
        </p:nvSpPr>
        <p:spPr bwMode="auto">
          <a:xfrm>
            <a:off x="6497382" y="3091263"/>
            <a:ext cx="380999" cy="24808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66" name="AutoShape 14">
            <a:extLst>
              <a:ext uri="{FF2B5EF4-FFF2-40B4-BE49-F238E27FC236}">
                <a16:creationId xmlns:a16="http://schemas.microsoft.com/office/drawing/2014/main" id="{EEE3633B-96F8-46F6-ACE4-DFB4B56BA2AB}"/>
              </a:ext>
            </a:extLst>
          </p:cNvPr>
          <p:cNvSpPr>
            <a:spLocks noChangeArrowheads="1"/>
          </p:cNvSpPr>
          <p:nvPr/>
        </p:nvSpPr>
        <p:spPr bwMode="auto">
          <a:xfrm>
            <a:off x="9451816" y="307899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grpSp>
        <p:nvGrpSpPr>
          <p:cNvPr id="67" name="Group 15">
            <a:extLst>
              <a:ext uri="{FF2B5EF4-FFF2-40B4-BE49-F238E27FC236}">
                <a16:creationId xmlns:a16="http://schemas.microsoft.com/office/drawing/2014/main" id="{68DED712-0D9C-4B77-83C8-C85345706810}"/>
              </a:ext>
            </a:extLst>
          </p:cNvPr>
          <p:cNvGrpSpPr>
            <a:grpSpLocks/>
          </p:cNvGrpSpPr>
          <p:nvPr/>
        </p:nvGrpSpPr>
        <p:grpSpPr bwMode="auto">
          <a:xfrm>
            <a:off x="6669386" y="3600405"/>
            <a:ext cx="1519465" cy="2209800"/>
            <a:chOff x="594" y="3120"/>
            <a:chExt cx="1675" cy="960"/>
          </a:xfrm>
        </p:grpSpPr>
        <p:sp>
          <p:nvSpPr>
            <p:cNvPr id="68" name="Rectangle 16">
              <a:extLst>
                <a:ext uri="{FF2B5EF4-FFF2-40B4-BE49-F238E27FC236}">
                  <a16:creationId xmlns:a16="http://schemas.microsoft.com/office/drawing/2014/main" id="{E7115E72-B653-4D69-B9DC-1DCB193D693D}"/>
                </a:ext>
              </a:extLst>
            </p:cNvPr>
            <p:cNvSpPr>
              <a:spLocks noChangeArrowheads="1"/>
            </p:cNvSpPr>
            <p:nvPr/>
          </p:nvSpPr>
          <p:spPr bwMode="auto">
            <a:xfrm>
              <a:off x="594" y="3360"/>
              <a:ext cx="1675"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项目管理计划更新</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endParaRPr lang="ja-JP" altLang="en-US" sz="1400" kern="0" dirty="0">
                <a:solidFill>
                  <a:schemeClr val="tx2">
                    <a:lumMod val="50000"/>
                  </a:schemeClr>
                </a:solidFill>
                <a:latin typeface="微软雅黑" panose="020B0503020204020204" pitchFamily="34" charset="-122"/>
                <a:ea typeface="微软雅黑" panose="020B0503020204020204" pitchFamily="34" charset="-122"/>
              </a:endParaRPr>
            </a:p>
          </p:txBody>
        </p:sp>
        <p:sp>
          <p:nvSpPr>
            <p:cNvPr id="69" name="AutoShape 17">
              <a:extLst>
                <a:ext uri="{FF2B5EF4-FFF2-40B4-BE49-F238E27FC236}">
                  <a16:creationId xmlns:a16="http://schemas.microsoft.com/office/drawing/2014/main" id="{5046B940-9902-4AC6-B46C-61773B85D25A}"/>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grpSp>
        <p:nvGrpSpPr>
          <p:cNvPr id="70" name="Group 18">
            <a:extLst>
              <a:ext uri="{FF2B5EF4-FFF2-40B4-BE49-F238E27FC236}">
                <a16:creationId xmlns:a16="http://schemas.microsoft.com/office/drawing/2014/main" id="{41993D3D-6293-4028-99E3-791C5F7B4AD4}"/>
              </a:ext>
            </a:extLst>
          </p:cNvPr>
          <p:cNvGrpSpPr>
            <a:grpSpLocks/>
          </p:cNvGrpSpPr>
          <p:nvPr/>
        </p:nvGrpSpPr>
        <p:grpSpPr bwMode="auto">
          <a:xfrm>
            <a:off x="8255293" y="3603729"/>
            <a:ext cx="1371600" cy="2209800"/>
            <a:chOff x="816" y="3120"/>
            <a:chExt cx="1344" cy="960"/>
          </a:xfrm>
        </p:grpSpPr>
        <p:sp>
          <p:nvSpPr>
            <p:cNvPr id="71" name="Rectangle 19">
              <a:extLst>
                <a:ext uri="{FF2B5EF4-FFF2-40B4-BE49-F238E27FC236}">
                  <a16:creationId xmlns:a16="http://schemas.microsoft.com/office/drawing/2014/main" id="{B55797B1-AF15-49EA-A1C2-48D3B7BC576B}"/>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400" b="1"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72" name="AutoShape 20">
              <a:extLst>
                <a:ext uri="{FF2B5EF4-FFF2-40B4-BE49-F238E27FC236}">
                  <a16:creationId xmlns:a16="http://schemas.microsoft.com/office/drawing/2014/main" id="{B0B89630-29B3-407E-9619-571B97D4CF78}"/>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grpSp>
      <p:sp>
        <p:nvSpPr>
          <p:cNvPr id="73" name="矩形 72">
            <a:extLst>
              <a:ext uri="{FF2B5EF4-FFF2-40B4-BE49-F238E27FC236}">
                <a16:creationId xmlns:a16="http://schemas.microsoft.com/office/drawing/2014/main" id="{311D3DB3-014A-4085-A758-20C8098E3A38}"/>
              </a:ext>
            </a:extLst>
          </p:cNvPr>
          <p:cNvSpPr/>
          <p:nvPr/>
        </p:nvSpPr>
        <p:spPr>
          <a:xfrm>
            <a:off x="8136271" y="2136370"/>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
        <p:nvSpPr>
          <p:cNvPr id="74" name="矩形 73">
            <a:extLst>
              <a:ext uri="{FF2B5EF4-FFF2-40B4-BE49-F238E27FC236}">
                <a16:creationId xmlns:a16="http://schemas.microsoft.com/office/drawing/2014/main" id="{BD13F407-0656-441F-8449-5EFF53E2AA60}"/>
              </a:ext>
            </a:extLst>
          </p:cNvPr>
          <p:cNvSpPr/>
          <p:nvPr/>
        </p:nvSpPr>
        <p:spPr>
          <a:xfrm>
            <a:off x="9642316" y="2123192"/>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75" name="AutoShape 8">
            <a:extLst>
              <a:ext uri="{FF2B5EF4-FFF2-40B4-BE49-F238E27FC236}">
                <a16:creationId xmlns:a16="http://schemas.microsoft.com/office/drawing/2014/main" id="{673E1A83-624B-415C-AFFB-0C2E496C80F8}"/>
              </a:ext>
            </a:extLst>
          </p:cNvPr>
          <p:cNvSpPr>
            <a:spLocks noChangeArrowheads="1"/>
          </p:cNvSpPr>
          <p:nvPr/>
        </p:nvSpPr>
        <p:spPr bwMode="auto">
          <a:xfrm>
            <a:off x="6880973" y="2828862"/>
            <a:ext cx="970466"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规划风</a:t>
            </a:r>
            <a:endParaRPr lang="en-US" altLang="zh-CN" sz="1600" b="1" dirty="0">
              <a:solidFill>
                <a:srgbClr val="000066"/>
              </a:solidFill>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微软雅黑" panose="020B0503020204020204" pitchFamily="34" charset="-122"/>
                <a:ea typeface="微软雅黑" panose="020B0503020204020204" pitchFamily="34" charset="-122"/>
              </a:rPr>
              <a:t>险对应</a:t>
            </a:r>
          </a:p>
        </p:txBody>
      </p:sp>
      <p:sp>
        <p:nvSpPr>
          <p:cNvPr id="76" name="AutoShape 14">
            <a:extLst>
              <a:ext uri="{FF2B5EF4-FFF2-40B4-BE49-F238E27FC236}">
                <a16:creationId xmlns:a16="http://schemas.microsoft.com/office/drawing/2014/main" id="{53DE4203-2337-4EF7-B033-AF3147941399}"/>
              </a:ext>
            </a:extLst>
          </p:cNvPr>
          <p:cNvSpPr>
            <a:spLocks noChangeArrowheads="1"/>
          </p:cNvSpPr>
          <p:nvPr/>
        </p:nvSpPr>
        <p:spPr bwMode="auto">
          <a:xfrm>
            <a:off x="7908300" y="3091263"/>
            <a:ext cx="477987" cy="275302"/>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微软雅黑" panose="020B0503020204020204" pitchFamily="34" charset="-122"/>
              <a:ea typeface="微软雅黑" panose="020B0503020204020204" pitchFamily="34" charset="-122"/>
            </a:endParaRPr>
          </a:p>
        </p:txBody>
      </p:sp>
      <p:sp>
        <p:nvSpPr>
          <p:cNvPr id="77" name="Rectangle 28">
            <a:extLst>
              <a:ext uri="{FF2B5EF4-FFF2-40B4-BE49-F238E27FC236}">
                <a16:creationId xmlns:a16="http://schemas.microsoft.com/office/drawing/2014/main" id="{6C1008E9-9835-4FB2-8245-2B63C008FA48}"/>
              </a:ext>
            </a:extLst>
          </p:cNvPr>
          <p:cNvSpPr>
            <a:spLocks noChangeArrowheads="1"/>
          </p:cNvSpPr>
          <p:nvPr/>
        </p:nvSpPr>
        <p:spPr bwMode="auto">
          <a:xfrm>
            <a:off x="4057622" y="4197111"/>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400" b="1" kern="0" dirty="0">
                <a:solidFill>
                  <a:schemeClr val="tx2">
                    <a:lumMod val="50000"/>
                  </a:schemeClr>
                </a:solidFill>
                <a:latin typeface="微软雅黑" panose="020B0503020204020204" pitchFamily="34" charset="-122"/>
                <a:ea typeface="微软雅黑" panose="020B0503020204020204" pitchFamily="34" charset="-122"/>
              </a:rPr>
              <a:t>项目文件更新</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假设日志</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问题日志</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风险登记册</a:t>
            </a:r>
          </a:p>
          <a:p>
            <a:pPr lvl="0" fontAlgn="base">
              <a:spcAft>
                <a:spcPct val="0"/>
              </a:spcAft>
              <a:buClr>
                <a:srgbClr val="FFFFFF"/>
              </a:buClr>
              <a:buSzPct val="75000"/>
              <a:buNone/>
            </a:pPr>
            <a:r>
              <a:rPr lang="zh-CN" altLang="en-US" sz="1200" b="1" kern="0" dirty="0">
                <a:solidFill>
                  <a:schemeClr val="tx2">
                    <a:lumMod val="50000"/>
                  </a:schemeClr>
                </a:solidFill>
                <a:latin typeface="微软雅黑" panose="020B0503020204020204" pitchFamily="34" charset="-122"/>
                <a:ea typeface="微软雅黑" panose="020B0503020204020204" pitchFamily="34" charset="-122"/>
              </a:rPr>
              <a:t>   风险报告</a:t>
            </a:r>
          </a:p>
        </p:txBody>
      </p:sp>
      <p:sp>
        <p:nvSpPr>
          <p:cNvPr id="78" name="AutoShape 29">
            <a:extLst>
              <a:ext uri="{FF2B5EF4-FFF2-40B4-BE49-F238E27FC236}">
                <a16:creationId xmlns:a16="http://schemas.microsoft.com/office/drawing/2014/main" id="{52004AF8-F3E5-4C05-B25F-27832F63C2AF}"/>
              </a:ext>
            </a:extLst>
          </p:cNvPr>
          <p:cNvSpPr>
            <a:spLocks noChangeArrowheads="1"/>
          </p:cNvSpPr>
          <p:nvPr/>
        </p:nvSpPr>
        <p:spPr bwMode="auto">
          <a:xfrm>
            <a:off x="4588835" y="3629480"/>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137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CF7216F8-15A6-439D-B793-F8E0C053CBF3}"/>
              </a:ext>
            </a:extLst>
          </p:cNvPr>
          <p:cNvSpPr>
            <a:spLocks noGrp="1"/>
          </p:cNvSpPr>
          <p:nvPr>
            <p:ph idx="1"/>
          </p:nvPr>
        </p:nvSpPr>
        <p:spPr>
          <a:xfrm>
            <a:off x="1016000" y="1017067"/>
            <a:ext cx="10160000" cy="5133791"/>
          </a:xfrm>
        </p:spPr>
        <p:txBody>
          <a:bodyPr/>
          <a:lstStyle/>
          <a:p>
            <a:r>
              <a:rPr lang="zh-CN" altLang="en-US" sz="2000" dirty="0">
                <a:latin typeface="微软雅黑" panose="020B0503020204020204" pitchFamily="34" charset="-122"/>
              </a:rPr>
              <a:t>规划风险管理是定义如何实施项目风险管理活动的过程</a:t>
            </a:r>
            <a:endParaRPr lang="en-US" altLang="zh-CN" sz="2000" dirty="0">
              <a:latin typeface="微软雅黑" panose="020B0503020204020204" pitchFamily="34" charset="-122"/>
            </a:endParaRPr>
          </a:p>
          <a:p>
            <a:pPr lvl="1">
              <a:lnSpc>
                <a:spcPct val="100000"/>
              </a:lnSpc>
            </a:pPr>
            <a:r>
              <a:rPr lang="zh-CN" altLang="en-US" sz="1800" dirty="0">
                <a:latin typeface="微软雅黑" panose="020B0503020204020204" pitchFamily="34" charset="-122"/>
              </a:rPr>
              <a:t>主要作用是，确保风险管理的水平、方法和可见度与项目风险程度，以及项目对组织和其他相关方的重要程度相匹配</a:t>
            </a:r>
            <a:endParaRPr lang="en-US" altLang="zh-CN" sz="1800" dirty="0">
              <a:latin typeface="微软雅黑" panose="020B0503020204020204" pitchFamily="34" charset="-122"/>
            </a:endParaRPr>
          </a:p>
        </p:txBody>
      </p:sp>
      <p:sp>
        <p:nvSpPr>
          <p:cNvPr id="15362" name="标题 1"/>
          <p:cNvSpPr>
            <a:spLocks noGrp="1"/>
          </p:cNvSpPr>
          <p:nvPr>
            <p:ph type="title"/>
          </p:nvPr>
        </p:nvSpPr>
        <p:spPr>
          <a:xfrm>
            <a:off x="1984414" y="559306"/>
            <a:ext cx="8229600" cy="437186"/>
          </a:xfrm>
          <a:prstGeom prst="rect">
            <a:avLst/>
          </a:prstGeom>
        </p:spPr>
        <p:txBody>
          <a:bodyPr/>
          <a:lstStyle/>
          <a:p>
            <a:pPr eaLnBrk="1" hangingPunct="1"/>
            <a:r>
              <a:rPr lang="en-US" altLang="zh-CN" dirty="0">
                <a:latin typeface="微软雅黑" panose="020B0503020204020204" pitchFamily="34" charset="-122"/>
              </a:rPr>
              <a:t>17.2 </a:t>
            </a:r>
            <a:r>
              <a:rPr lang="zh-CN" altLang="en-US" dirty="0">
                <a:latin typeface="微软雅黑" panose="020B0503020204020204" pitchFamily="34" charset="-122"/>
              </a:rPr>
              <a:t>规划风险管理</a:t>
            </a:r>
          </a:p>
        </p:txBody>
      </p:sp>
      <p:sp>
        <p:nvSpPr>
          <p:cNvPr id="15363" name="AutoShape 5"/>
          <p:cNvSpPr>
            <a:spLocks noChangeArrowheads="1"/>
          </p:cNvSpPr>
          <p:nvPr/>
        </p:nvSpPr>
        <p:spPr bwMode="auto">
          <a:xfrm>
            <a:off x="1971715" y="32178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14614"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14614" y="2930526"/>
            <a:ext cx="2305050" cy="244792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项目章程</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所有组件</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62539"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62539" y="2930526"/>
            <a:ext cx="2305050" cy="2447925"/>
          </a:xfrm>
          <a:prstGeom prst="rect">
            <a:avLst/>
          </a:prstGeom>
          <a:solidFill>
            <a:schemeClr val="bg1"/>
          </a:solidFill>
          <a:ln w="9525">
            <a:solidFill>
              <a:schemeClr val="tx1"/>
            </a:solidFill>
            <a:miter lim="800000"/>
            <a:headEnd/>
            <a:tailEnd/>
          </a:ln>
        </p:spPr>
        <p:txBody>
          <a:bodyPr wrap="none"/>
          <a:lstStyle/>
          <a:p>
            <a:pPr algn="just"/>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pPr algn="just"/>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数据分析</a:t>
            </a:r>
          </a:p>
          <a:p>
            <a:pPr algn="just"/>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相关方分析</a:t>
            </a:r>
          </a:p>
          <a:p>
            <a:pPr algn="just"/>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210464" y="2498725"/>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10464" y="2930526"/>
            <a:ext cx="2305050" cy="244792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风险管理计划</a:t>
            </a:r>
            <a:endParaRPr lang="en-US" altLang="zh-CN" sz="1600" dirty="0">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7CF3D89-73D0-45C3-8AFC-98E1B570BDE2}"/>
              </a:ext>
            </a:extLst>
          </p:cNvPr>
          <p:cNvSpPr>
            <a:spLocks noGrp="1"/>
          </p:cNvSpPr>
          <p:nvPr>
            <p:ph idx="1"/>
          </p:nvPr>
        </p:nvSpPr>
        <p:spPr/>
        <p:txBody>
          <a:bodyPr/>
          <a:lstStyle/>
          <a:p>
            <a:pPr>
              <a:lnSpc>
                <a:spcPct val="130000"/>
              </a:lnSpc>
            </a:pPr>
            <a:r>
              <a:rPr lang="zh-CN" altLang="en-US" dirty="0"/>
              <a:t>规划风险管理的输入</a:t>
            </a:r>
            <a:endParaRPr lang="en-US" altLang="zh-CN" dirty="0"/>
          </a:p>
          <a:p>
            <a:pPr lvl="1">
              <a:lnSpc>
                <a:spcPct val="130000"/>
              </a:lnSpc>
            </a:pPr>
            <a:r>
              <a:rPr lang="zh-CN" altLang="en-US" dirty="0">
                <a:solidFill>
                  <a:schemeClr val="tx2"/>
                </a:solidFill>
              </a:rPr>
              <a:t>项目章程</a:t>
            </a:r>
            <a:r>
              <a:rPr lang="zh-CN" altLang="en-US" dirty="0"/>
              <a:t>记录的高层级的项目描述和边界、高层级的需求和风险</a:t>
            </a:r>
            <a:endParaRPr lang="en-US" altLang="zh-CN" dirty="0"/>
          </a:p>
          <a:p>
            <a:pPr lvl="1">
              <a:lnSpc>
                <a:spcPct val="130000"/>
              </a:lnSpc>
            </a:pPr>
            <a:r>
              <a:rPr lang="zh-CN" altLang="en-US" dirty="0">
                <a:solidFill>
                  <a:schemeClr val="tx2"/>
                </a:solidFill>
              </a:rPr>
              <a:t>项目管理计划</a:t>
            </a:r>
            <a:endParaRPr lang="en-US" altLang="zh-CN" dirty="0">
              <a:solidFill>
                <a:schemeClr val="tx2"/>
              </a:solidFill>
            </a:endParaRPr>
          </a:p>
          <a:p>
            <a:pPr lvl="2">
              <a:lnSpc>
                <a:spcPct val="130000"/>
              </a:lnSpc>
            </a:pPr>
            <a:r>
              <a:rPr lang="zh-CN" altLang="en-US" dirty="0"/>
              <a:t>考虑所有已批准的子管理计划，使风险管理计划与之相协调，其他</a:t>
            </a:r>
            <a:r>
              <a:rPr lang="zh-CN" altLang="en-US" dirty="0">
                <a:solidFill>
                  <a:schemeClr val="tx2"/>
                </a:solidFill>
              </a:rPr>
              <a:t>项目管理计划</a:t>
            </a:r>
            <a:r>
              <a:rPr lang="zh-CN" altLang="en-US" dirty="0"/>
              <a:t>组件中所列出的方法</a:t>
            </a:r>
            <a:r>
              <a:rPr lang="en-US" altLang="zh-CN" dirty="0"/>
              <a:t>,</a:t>
            </a:r>
            <a:r>
              <a:rPr lang="zh-CN" altLang="en-US" dirty="0"/>
              <a:t>可能也会影响规划风险管理过程</a:t>
            </a:r>
            <a:endParaRPr lang="en-US" altLang="zh-CN" dirty="0"/>
          </a:p>
          <a:p>
            <a:pPr lvl="2">
              <a:lnSpc>
                <a:spcPct val="130000"/>
              </a:lnSpc>
            </a:pPr>
            <a:r>
              <a:rPr lang="zh-CN" altLang="en-US" dirty="0"/>
              <a:t>相关方登记册</a:t>
            </a:r>
            <a:r>
              <a:rPr lang="en-US" altLang="zh-CN" dirty="0"/>
              <a:t>, </a:t>
            </a:r>
            <a:r>
              <a:rPr lang="zh-CN" altLang="en-US" dirty="0">
                <a:solidFill>
                  <a:schemeClr val="tx2"/>
                </a:solidFill>
              </a:rPr>
              <a:t>包含了项目相关方的详细信息，并概述其在项目中的角色和对项目风险的态度；可用于确定项目风险管理的角色和职责，以及为项目设定风险临界值</a:t>
            </a:r>
            <a:endParaRPr lang="en-US" altLang="zh-CN" dirty="0">
              <a:solidFill>
                <a:schemeClr val="tx2"/>
              </a:solidFill>
            </a:endParaRPr>
          </a:p>
          <a:p>
            <a:pPr lvl="1">
              <a:lnSpc>
                <a:spcPct val="130000"/>
              </a:lnSpc>
            </a:pPr>
            <a:r>
              <a:rPr lang="zh-CN" altLang="en-US" dirty="0"/>
              <a:t>事业环境因素：组织或关键相关方设定的整体风险临界值</a:t>
            </a:r>
            <a:endParaRPr lang="en-US" altLang="zh-CN" dirty="0"/>
          </a:p>
          <a:p>
            <a:pPr lvl="1">
              <a:lnSpc>
                <a:spcPct val="130000"/>
              </a:lnSpc>
            </a:pPr>
            <a:r>
              <a:rPr lang="zh-CN" altLang="en-US" dirty="0"/>
              <a:t>组织过程资产，包括：</a:t>
            </a:r>
            <a:endParaRPr lang="en-US" altLang="zh-CN" dirty="0"/>
          </a:p>
          <a:p>
            <a:pPr lvl="2">
              <a:lnSpc>
                <a:spcPct val="130000"/>
              </a:lnSpc>
            </a:pPr>
            <a:r>
              <a:rPr lang="zh-CN" altLang="en-US" dirty="0">
                <a:solidFill>
                  <a:schemeClr val="tx2"/>
                </a:solidFill>
              </a:rPr>
              <a:t>组织的风险政策；风险类别，可能用风险分解结构来表示；风险概念和术语的通用定义；风险描述的格式；风险管理计划、风险登记册和风险报告的模板；角色与职责；决策所需的职权级别；经验教训知识库，其中包含以往类似项目的信息</a:t>
            </a:r>
          </a:p>
        </p:txBody>
      </p:sp>
      <p:sp>
        <p:nvSpPr>
          <p:cNvPr id="3" name="标题 2">
            <a:extLst>
              <a:ext uri="{FF2B5EF4-FFF2-40B4-BE49-F238E27FC236}">
                <a16:creationId xmlns:a16="http://schemas.microsoft.com/office/drawing/2014/main" id="{F5181374-505D-479C-B798-B257C4938390}"/>
              </a:ext>
            </a:extLst>
          </p:cNvPr>
          <p:cNvSpPr>
            <a:spLocks noGrp="1"/>
          </p:cNvSpPr>
          <p:nvPr>
            <p:ph type="title"/>
          </p:nvPr>
        </p:nvSpPr>
        <p:spPr/>
        <p:txBody>
          <a:bodyPr/>
          <a:lstStyle/>
          <a:p>
            <a:r>
              <a:rPr lang="en-US" altLang="zh-CN" dirty="0"/>
              <a:t>17.2 </a:t>
            </a:r>
            <a:r>
              <a:rPr lang="zh-CN" altLang="en-US" dirty="0"/>
              <a:t>规划风险管理</a:t>
            </a:r>
          </a:p>
        </p:txBody>
      </p:sp>
    </p:spTree>
    <p:extLst>
      <p:ext uri="{BB962C8B-B14F-4D97-AF65-F5344CB8AC3E}">
        <p14:creationId xmlns:p14="http://schemas.microsoft.com/office/powerpoint/2010/main" val="1090032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9EA03F6-B3FB-4076-A95A-596A036FD2AC}"/>
              </a:ext>
            </a:extLst>
          </p:cNvPr>
          <p:cNvSpPr>
            <a:spLocks noGrp="1"/>
          </p:cNvSpPr>
          <p:nvPr>
            <p:ph idx="1"/>
          </p:nvPr>
        </p:nvSpPr>
        <p:spPr/>
        <p:txBody>
          <a:bodyPr/>
          <a:lstStyle/>
          <a:p>
            <a:r>
              <a:rPr lang="zh-CN" altLang="en-US" dirty="0"/>
              <a:t>规划风险管理的工具与技术</a:t>
            </a:r>
            <a:endParaRPr lang="en-US" altLang="zh-CN" dirty="0"/>
          </a:p>
          <a:p>
            <a:pPr lvl="1"/>
            <a:r>
              <a:rPr lang="zh-CN" altLang="en-US" dirty="0"/>
              <a:t>专家判断，</a:t>
            </a:r>
            <a:r>
              <a:rPr lang="zh-CN" altLang="en-US" b="0" dirty="0"/>
              <a:t>要求熟悉组织所采取的管理风险的方法</a:t>
            </a:r>
            <a:endParaRPr lang="en-US" altLang="zh-CN" b="0" dirty="0"/>
          </a:p>
          <a:p>
            <a:pPr lvl="1"/>
            <a:r>
              <a:rPr lang="zh-CN" altLang="en-US" dirty="0"/>
              <a:t>数据分析，</a:t>
            </a:r>
            <a:r>
              <a:rPr lang="zh-CN" altLang="en-US" b="0" dirty="0"/>
              <a:t>可通过相关方分析确定项目相关方的风险偏好</a:t>
            </a:r>
          </a:p>
          <a:p>
            <a:pPr lvl="1"/>
            <a:r>
              <a:rPr lang="zh-CN" altLang="en-US" dirty="0"/>
              <a:t>会议</a:t>
            </a:r>
            <a:endParaRPr lang="en-US" altLang="zh-CN" dirty="0"/>
          </a:p>
          <a:p>
            <a:pPr lvl="2"/>
            <a:r>
              <a:rPr lang="zh-CN" altLang="en-US" b="0" dirty="0"/>
              <a:t>可以是项目开工会议上的一项工作，可以举办专门的规划会议来编制风险管理计划</a:t>
            </a:r>
            <a:endParaRPr lang="en-US" altLang="zh-CN" b="0" dirty="0"/>
          </a:p>
          <a:p>
            <a:pPr lvl="2"/>
            <a:r>
              <a:rPr lang="zh-CN" altLang="en-US" b="0" dirty="0"/>
              <a:t>参会者可能包括项目经理、指定项目团队成员、关键相关方，或负责管理项目风险管理过程的团队成员；如果需要，也可邀请其他外部人员参加</a:t>
            </a:r>
          </a:p>
          <a:p>
            <a:endParaRPr lang="zh-CN" altLang="en-US" dirty="0"/>
          </a:p>
        </p:txBody>
      </p:sp>
      <p:sp>
        <p:nvSpPr>
          <p:cNvPr id="4" name="标题 2">
            <a:extLst>
              <a:ext uri="{FF2B5EF4-FFF2-40B4-BE49-F238E27FC236}">
                <a16:creationId xmlns:a16="http://schemas.microsoft.com/office/drawing/2014/main" id="{4B3B16F9-BDA5-4F4B-99F5-6460F9C7BAD5}"/>
              </a:ext>
            </a:extLst>
          </p:cNvPr>
          <p:cNvSpPr>
            <a:spLocks noGrp="1"/>
          </p:cNvSpPr>
          <p:nvPr>
            <p:ph type="title"/>
          </p:nvPr>
        </p:nvSpPr>
        <p:spPr>
          <a:xfrm>
            <a:off x="1997075" y="593725"/>
            <a:ext cx="8229600" cy="357188"/>
          </a:xfrm>
        </p:spPr>
        <p:txBody>
          <a:bodyPr/>
          <a:lstStyle/>
          <a:p>
            <a:r>
              <a:rPr lang="en-US" altLang="zh-CN" dirty="0"/>
              <a:t>17.2 </a:t>
            </a:r>
            <a:r>
              <a:rPr lang="zh-CN" altLang="en-US" dirty="0"/>
              <a:t>规划风险管理</a:t>
            </a:r>
          </a:p>
        </p:txBody>
      </p:sp>
    </p:spTree>
    <p:extLst>
      <p:ext uri="{BB962C8B-B14F-4D97-AF65-F5344CB8AC3E}">
        <p14:creationId xmlns:p14="http://schemas.microsoft.com/office/powerpoint/2010/main" val="389822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48762" y="923923"/>
            <a:ext cx="3098126" cy="437186"/>
          </a:xfrm>
          <a:prstGeom prst="rect">
            <a:avLst/>
          </a:prstGeom>
        </p:spPr>
        <p:txBody>
          <a:bodyPr/>
          <a:lstStyle/>
          <a:p>
            <a:r>
              <a:rPr lang="zh-CN" altLang="en-US" dirty="0"/>
              <a:t>风险管理计划的内容</a:t>
            </a:r>
          </a:p>
        </p:txBody>
      </p:sp>
      <p:sp>
        <p:nvSpPr>
          <p:cNvPr id="3" name="内容占位符 2"/>
          <p:cNvSpPr>
            <a:spLocks noGrp="1"/>
          </p:cNvSpPr>
          <p:nvPr>
            <p:ph idx="1"/>
          </p:nvPr>
        </p:nvSpPr>
        <p:spPr>
          <a:xfrm>
            <a:off x="854411" y="1570227"/>
            <a:ext cx="3472278" cy="4030799"/>
          </a:xfrm>
        </p:spPr>
        <p:txBody>
          <a:bodyPr/>
          <a:lstStyle/>
          <a:p>
            <a:pPr>
              <a:lnSpc>
                <a:spcPct val="100000"/>
              </a:lnSpc>
              <a:defRPr/>
            </a:pPr>
            <a:r>
              <a:rPr lang="zh-CN" altLang="en-US" sz="1600" dirty="0"/>
              <a:t>风险管理战略</a:t>
            </a:r>
            <a:endParaRPr lang="en-US" altLang="zh-CN" sz="1600" dirty="0"/>
          </a:p>
          <a:p>
            <a:pPr>
              <a:lnSpc>
                <a:spcPct val="100000"/>
              </a:lnSpc>
              <a:defRPr/>
            </a:pPr>
            <a:r>
              <a:rPr lang="zh-CN" altLang="en-US" sz="1600" dirty="0"/>
              <a:t>方法</a:t>
            </a:r>
            <a:endParaRPr lang="en-US" altLang="zh-CN" sz="1600" dirty="0"/>
          </a:p>
          <a:p>
            <a:pPr>
              <a:lnSpc>
                <a:spcPct val="100000"/>
              </a:lnSpc>
              <a:defRPr/>
            </a:pPr>
            <a:r>
              <a:rPr lang="zh-CN" altLang="en-US" sz="1600" dirty="0"/>
              <a:t>角色和职责</a:t>
            </a:r>
            <a:endParaRPr lang="en-US" altLang="zh-CN" sz="1600" dirty="0"/>
          </a:p>
          <a:p>
            <a:pPr>
              <a:lnSpc>
                <a:spcPct val="100000"/>
              </a:lnSpc>
              <a:defRPr/>
            </a:pPr>
            <a:r>
              <a:rPr lang="zh-CN" altLang="en-US" sz="1600" dirty="0"/>
              <a:t>预算</a:t>
            </a:r>
            <a:endParaRPr lang="en-US" altLang="zh-CN" sz="1600" dirty="0"/>
          </a:p>
          <a:p>
            <a:pPr>
              <a:lnSpc>
                <a:spcPct val="100000"/>
              </a:lnSpc>
              <a:defRPr/>
            </a:pPr>
            <a:r>
              <a:rPr lang="zh-CN" altLang="en-US" sz="1600" dirty="0"/>
              <a:t>时间安排</a:t>
            </a:r>
            <a:endParaRPr lang="en-US" altLang="zh-CN" sz="1600" dirty="0"/>
          </a:p>
          <a:p>
            <a:pPr>
              <a:lnSpc>
                <a:spcPct val="100000"/>
              </a:lnSpc>
              <a:defRPr/>
            </a:pPr>
            <a:r>
              <a:rPr lang="zh-CN" altLang="en-US" sz="1600" dirty="0"/>
              <a:t>风险类别</a:t>
            </a:r>
            <a:endParaRPr lang="en-US" altLang="zh-CN" sz="1600" dirty="0"/>
          </a:p>
          <a:p>
            <a:pPr>
              <a:lnSpc>
                <a:spcPct val="100000"/>
              </a:lnSpc>
              <a:defRPr/>
            </a:pPr>
            <a:r>
              <a:rPr lang="zh-CN" altLang="en-US" sz="1600" dirty="0"/>
              <a:t>相关方风险偏好</a:t>
            </a:r>
            <a:endParaRPr lang="en-US" altLang="zh-CN" sz="1600" dirty="0"/>
          </a:p>
          <a:p>
            <a:pPr>
              <a:lnSpc>
                <a:spcPct val="100000"/>
              </a:lnSpc>
              <a:defRPr/>
            </a:pPr>
            <a:r>
              <a:rPr lang="zh-CN" altLang="en-US" sz="1600" dirty="0"/>
              <a:t>风险概率和影响的定义</a:t>
            </a:r>
            <a:endParaRPr lang="en-US" altLang="zh-CN" sz="1600" dirty="0"/>
          </a:p>
          <a:p>
            <a:pPr>
              <a:lnSpc>
                <a:spcPct val="100000"/>
              </a:lnSpc>
              <a:defRPr/>
            </a:pPr>
            <a:r>
              <a:rPr lang="zh-CN" altLang="en-US" sz="1600" dirty="0"/>
              <a:t>概率和影响矩阵</a:t>
            </a:r>
            <a:endParaRPr lang="en-US" altLang="zh-CN" sz="1600" dirty="0"/>
          </a:p>
          <a:p>
            <a:pPr>
              <a:lnSpc>
                <a:spcPct val="100000"/>
              </a:lnSpc>
              <a:defRPr/>
            </a:pPr>
            <a:r>
              <a:rPr lang="zh-CN" altLang="en-US" sz="1600" dirty="0"/>
              <a:t>报告格式</a:t>
            </a:r>
            <a:endParaRPr lang="en-US" altLang="zh-CN" sz="1600" dirty="0"/>
          </a:p>
          <a:p>
            <a:pPr>
              <a:lnSpc>
                <a:spcPct val="100000"/>
              </a:lnSpc>
              <a:defRPr/>
            </a:pPr>
            <a:r>
              <a:rPr lang="zh-CN" altLang="en-US" sz="1600" dirty="0"/>
              <a:t>风险跟踪</a:t>
            </a:r>
            <a:endParaRPr lang="en-US" altLang="zh-CN" sz="1600" dirty="0"/>
          </a:p>
        </p:txBody>
      </p:sp>
      <p:sp>
        <p:nvSpPr>
          <p:cNvPr id="5" name="矩形 4"/>
          <p:cNvSpPr/>
          <p:nvPr/>
        </p:nvSpPr>
        <p:spPr bwMode="auto">
          <a:xfrm>
            <a:off x="3517453" y="1570227"/>
            <a:ext cx="2768060" cy="424102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dirty="0">
                <a:solidFill>
                  <a:schemeClr val="tx2"/>
                </a:solidFill>
                <a:latin typeface="+mj-ea"/>
                <a:ea typeface="+mj-ea"/>
              </a:rPr>
              <a:t>简单来讲对于项目风险管理应该如何做，按什么方式和步骤做，需要用哪些工具来识别分析风险，需要缓解风险，如何监控风险都需要在风险管理计划中定义</a:t>
            </a:r>
            <a:endParaRPr lang="en-US" altLang="zh-CN" sz="1600"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dirty="0">
                <a:solidFill>
                  <a:schemeClr val="tx2"/>
                </a:solidFill>
                <a:latin typeface="+mj-ea"/>
                <a:ea typeface="+mj-ea"/>
              </a:rPr>
              <a:t>类似风险库，风险分类，风险评级和影响矩阵等标准定义可以升级到组织级而不需每次项目计划都说明</a:t>
            </a:r>
            <a:endParaRPr lang="en-US" altLang="zh-CN" sz="1600" dirty="0">
              <a:solidFill>
                <a:schemeClr val="tx2"/>
              </a:solidFill>
              <a:latin typeface="+mj-ea"/>
              <a:ea typeface="+mj-ea"/>
            </a:endParaRPr>
          </a:p>
        </p:txBody>
      </p:sp>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782" y="1070811"/>
            <a:ext cx="5074833" cy="5366084"/>
          </a:xfrm>
          <a:prstGeom prst="rect">
            <a:avLst/>
          </a:prstGeom>
          <a:ln/>
        </p:spPr>
        <p:style>
          <a:lnRef idx="2">
            <a:schemeClr val="accent3"/>
          </a:lnRef>
          <a:fillRef idx="1">
            <a:schemeClr val="lt1"/>
          </a:fillRef>
          <a:effectRef idx="0">
            <a:schemeClr val="accent3"/>
          </a:effectRef>
          <a:fontRef idx="minor">
            <a:schemeClr val="dk1"/>
          </a:fontRef>
        </p:style>
      </p:pic>
      <p:sp>
        <p:nvSpPr>
          <p:cNvPr id="6" name="标题 2">
            <a:extLst>
              <a:ext uri="{FF2B5EF4-FFF2-40B4-BE49-F238E27FC236}">
                <a16:creationId xmlns:a16="http://schemas.microsoft.com/office/drawing/2014/main" id="{15B678BA-1698-4BDF-BC5F-C16801D0C91D}"/>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17.2 </a:t>
            </a:r>
            <a:r>
              <a:rPr lang="zh-CN" altLang="en-US" dirty="0"/>
              <a:t>规划风险管理</a:t>
            </a:r>
          </a:p>
        </p:txBody>
      </p:sp>
      <p:sp>
        <p:nvSpPr>
          <p:cNvPr id="8" name="文本框 7">
            <a:extLst>
              <a:ext uri="{FF2B5EF4-FFF2-40B4-BE49-F238E27FC236}">
                <a16:creationId xmlns:a16="http://schemas.microsoft.com/office/drawing/2014/main" id="{F63E2D25-22AF-4CB1-CDE4-46999A69335F}"/>
              </a:ext>
            </a:extLst>
          </p:cNvPr>
          <p:cNvSpPr txBox="1"/>
          <p:nvPr/>
        </p:nvSpPr>
        <p:spPr>
          <a:xfrm>
            <a:off x="4066674" y="6079655"/>
            <a:ext cx="2651109" cy="369332"/>
          </a:xfrm>
          <a:prstGeom prst="rect">
            <a:avLst/>
          </a:prstGeom>
          <a:noFill/>
        </p:spPr>
        <p:txBody>
          <a:bodyPr wrap="square">
            <a:spAutoFit/>
          </a:bodyPr>
          <a:lstStyle/>
          <a:p>
            <a:r>
              <a:rPr lang="zh-CN" altLang="en-US" dirty="0"/>
              <a:t>风险管理计划模板示例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8843B2F-162F-4F55-B81B-D1D55DC79C6F}"/>
              </a:ext>
            </a:extLst>
          </p:cNvPr>
          <p:cNvSpPr>
            <a:spLocks noGrp="1"/>
          </p:cNvSpPr>
          <p:nvPr>
            <p:ph idx="1"/>
          </p:nvPr>
        </p:nvSpPr>
        <p:spPr>
          <a:xfrm>
            <a:off x="1981201" y="2133600"/>
            <a:ext cx="1737361" cy="4130722"/>
          </a:xfrm>
        </p:spPr>
        <p:txBody>
          <a:bodyPr/>
          <a:lstStyle/>
          <a:p>
            <a:pPr marL="0" indent="0">
              <a:buNone/>
            </a:pPr>
            <a:r>
              <a:rPr lang="zh-CN" altLang="en-US" sz="1800" dirty="0"/>
              <a:t>风险分解结构（</a:t>
            </a:r>
            <a:r>
              <a:rPr lang="en-US" altLang="zh-CN" sz="1800" dirty="0"/>
              <a:t>RBS</a:t>
            </a:r>
            <a:r>
              <a:rPr lang="zh-CN" altLang="en-US" sz="1800" dirty="0"/>
              <a:t>）示例</a:t>
            </a:r>
          </a:p>
        </p:txBody>
      </p:sp>
      <p:sp>
        <p:nvSpPr>
          <p:cNvPr id="3" name="标题 2">
            <a:extLst>
              <a:ext uri="{FF2B5EF4-FFF2-40B4-BE49-F238E27FC236}">
                <a16:creationId xmlns:a16="http://schemas.microsoft.com/office/drawing/2014/main" id="{690986BF-C732-4C7D-8D7D-91DA43FAFA3B}"/>
              </a:ext>
            </a:extLst>
          </p:cNvPr>
          <p:cNvSpPr>
            <a:spLocks noGrp="1"/>
          </p:cNvSpPr>
          <p:nvPr>
            <p:ph type="title"/>
          </p:nvPr>
        </p:nvSpPr>
        <p:spPr/>
        <p:txBody>
          <a:bodyPr/>
          <a:lstStyle/>
          <a:p>
            <a:endParaRPr lang="zh-CN" altLang="en-US"/>
          </a:p>
        </p:txBody>
      </p:sp>
      <p:pic>
        <p:nvPicPr>
          <p:cNvPr id="5" name="图片 4">
            <a:extLst>
              <a:ext uri="{FF2B5EF4-FFF2-40B4-BE49-F238E27FC236}">
                <a16:creationId xmlns:a16="http://schemas.microsoft.com/office/drawing/2014/main" id="{70750B20-E6AF-4632-B5EA-B47E7EDAD97B}"/>
              </a:ext>
            </a:extLst>
          </p:cNvPr>
          <p:cNvPicPr>
            <a:picLocks noChangeAspect="1"/>
          </p:cNvPicPr>
          <p:nvPr/>
        </p:nvPicPr>
        <p:blipFill>
          <a:blip r:embed="rId2"/>
          <a:stretch>
            <a:fillRect/>
          </a:stretch>
        </p:blipFill>
        <p:spPr>
          <a:xfrm>
            <a:off x="3718561" y="246292"/>
            <a:ext cx="5967660" cy="6611709"/>
          </a:xfrm>
          <a:prstGeom prst="rect">
            <a:avLst/>
          </a:prstGeom>
        </p:spPr>
      </p:pic>
    </p:spTree>
    <p:extLst>
      <p:ext uri="{BB962C8B-B14F-4D97-AF65-F5344CB8AC3E}">
        <p14:creationId xmlns:p14="http://schemas.microsoft.com/office/powerpoint/2010/main" val="268757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A4788BB5-918B-4BF7-98A5-38FAF3DA68FC}"/>
              </a:ext>
            </a:extLst>
          </p:cNvPr>
          <p:cNvSpPr>
            <a:spLocks noGrp="1"/>
          </p:cNvSpPr>
          <p:nvPr>
            <p:ph idx="1"/>
          </p:nvPr>
        </p:nvSpPr>
        <p:spPr>
          <a:xfrm>
            <a:off x="709863" y="1017067"/>
            <a:ext cx="10684042" cy="5133791"/>
          </a:xfrm>
        </p:spPr>
        <p:txBody>
          <a:bodyPr/>
          <a:lstStyle/>
          <a:p>
            <a:pPr>
              <a:lnSpc>
                <a:spcPct val="130000"/>
              </a:lnSpc>
            </a:pPr>
            <a:r>
              <a:rPr lang="zh-CN" altLang="en-US" sz="2000" dirty="0">
                <a:ea typeface="幼圆" panose="02010509060101010101" pitchFamily="49" charset="-122"/>
              </a:rPr>
              <a:t>风险识别是判断哪些风险会影响项目目标并记录其特征的过程</a:t>
            </a:r>
            <a:endParaRPr lang="en-US" altLang="zh-CN" sz="2000" dirty="0">
              <a:ea typeface="幼圆" panose="02010509060101010101" pitchFamily="49" charset="-122"/>
            </a:endParaRPr>
          </a:p>
          <a:p>
            <a:pPr lvl="1">
              <a:lnSpc>
                <a:spcPct val="130000"/>
              </a:lnSpc>
            </a:pPr>
            <a:r>
              <a:rPr lang="zh-CN" altLang="en-US" sz="1600" dirty="0"/>
              <a:t>主要作用是，记录现有的单个项目风险，以及整体项目风险的来源；同时，汇集相关信息，以便项目团队能够恰当应对已识别的风险</a:t>
            </a:r>
            <a:endParaRPr lang="en-US" altLang="zh-CN" sz="1600" dirty="0"/>
          </a:p>
          <a:p>
            <a:pPr lvl="1">
              <a:lnSpc>
                <a:spcPct val="130000"/>
              </a:lnSpc>
            </a:pPr>
            <a:r>
              <a:rPr lang="zh-CN" altLang="en-US" sz="1600" dirty="0"/>
              <a:t>风险识别贯彻整个项目生命周期，是一个反复识别和迭代的过程</a:t>
            </a:r>
            <a:endParaRPr lang="en-US" altLang="zh-CN" sz="1600" dirty="0"/>
          </a:p>
        </p:txBody>
      </p:sp>
      <p:sp>
        <p:nvSpPr>
          <p:cNvPr id="15362" name="标题 1"/>
          <p:cNvSpPr>
            <a:spLocks noGrp="1"/>
          </p:cNvSpPr>
          <p:nvPr>
            <p:ph type="title"/>
          </p:nvPr>
        </p:nvSpPr>
        <p:spPr>
          <a:xfrm>
            <a:off x="1981200" y="600328"/>
            <a:ext cx="8229600" cy="437186"/>
          </a:xfrm>
          <a:prstGeom prst="rect">
            <a:avLst/>
          </a:prstGeom>
        </p:spPr>
        <p:txBody>
          <a:bodyPr/>
          <a:lstStyle/>
          <a:p>
            <a:pPr eaLnBrk="1" hangingPunct="1"/>
            <a:r>
              <a:rPr lang="en-US" altLang="zh-CN" dirty="0"/>
              <a:t>17.3 </a:t>
            </a:r>
            <a:r>
              <a:rPr lang="zh-CN" altLang="en-US" dirty="0"/>
              <a:t>识别风险</a:t>
            </a:r>
          </a:p>
        </p:txBody>
      </p:sp>
      <p:sp>
        <p:nvSpPr>
          <p:cNvPr id="15363" name="AutoShape 5"/>
          <p:cNvSpPr>
            <a:spLocks noChangeArrowheads="1"/>
          </p:cNvSpPr>
          <p:nvPr/>
        </p:nvSpPr>
        <p:spPr bwMode="auto">
          <a:xfrm>
            <a:off x="2063751"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328418"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328418" y="2890394"/>
            <a:ext cx="2305050" cy="3620135"/>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需求、进度、成本、质量、</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资源、</a:t>
            </a:r>
            <a:r>
              <a:rPr lang="zh-CN" altLang="en-US" sz="1400" dirty="0">
                <a:solidFill>
                  <a:schemeClr val="tx2"/>
                </a:solidFill>
                <a:latin typeface="微软雅黑" pitchFamily="34" charset="-122"/>
                <a:ea typeface="微软雅黑" pitchFamily="34" charset="-122"/>
              </a:rPr>
              <a:t>风险管理计划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范围基准、进度基准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假设日志、成本估算、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持续时间估算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问题日志</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经验教训登记册</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需求文件、资源需求</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相关方登记册</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协议</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采购文档</a:t>
            </a:r>
          </a:p>
          <a:p>
            <a:r>
              <a:rPr lang="en-US" altLang="zh-CN" sz="1400" dirty="0">
                <a:latin typeface="微软雅黑" pitchFamily="34" charset="-122"/>
                <a:ea typeface="微软雅黑" pitchFamily="34" charset="-122"/>
              </a:rPr>
              <a:t>.5</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.6</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76343"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76343" y="2890394"/>
            <a:ext cx="2305050" cy="362013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头脑风暴</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核对单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根本原因分析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假设条件和制约因素分析</a:t>
            </a:r>
          </a:p>
          <a:p>
            <a:r>
              <a:rPr lang="en-US" altLang="zh-CN" sz="1600" dirty="0">
                <a:latin typeface="微软雅黑" pitchFamily="34" charset="-122"/>
                <a:ea typeface="微软雅黑" pitchFamily="34" charset="-122"/>
              </a:rPr>
              <a:t>   ·SWOT</a:t>
            </a:r>
            <a:r>
              <a:rPr lang="zh-CN" altLang="en-US" sz="1600" dirty="0">
                <a:latin typeface="微软雅黑" pitchFamily="34" charset="-122"/>
                <a:ea typeface="微软雅黑" pitchFamily="34" charset="-122"/>
              </a:rPr>
              <a:t>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文件分析</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提示清单</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会议</a:t>
            </a:r>
          </a:p>
        </p:txBody>
      </p:sp>
      <p:sp>
        <p:nvSpPr>
          <p:cNvPr id="9" name="Rectangle 10"/>
          <p:cNvSpPr>
            <a:spLocks noChangeArrowheads="1"/>
          </p:cNvSpPr>
          <p:nvPr/>
        </p:nvSpPr>
        <p:spPr bwMode="auto">
          <a:xfrm>
            <a:off x="7224268" y="2458593"/>
            <a:ext cx="2305050" cy="561466"/>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224268" y="2895649"/>
            <a:ext cx="2305050" cy="3620135"/>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18264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8770" name="Rectangle 2" descr="Large confetti">
            <a:extLst>
              <a:ext uri="{FF2B5EF4-FFF2-40B4-BE49-F238E27FC236}">
                <a16:creationId xmlns:a16="http://schemas.microsoft.com/office/drawing/2014/main" id="{887205F3-AAB9-484B-8673-F0FE9C866552}"/>
              </a:ext>
            </a:extLst>
          </p:cNvPr>
          <p:cNvSpPr>
            <a:spLocks noGrp="1" noChangeArrowheads="1"/>
          </p:cNvSpPr>
          <p:nvPr>
            <p:ph type="title"/>
          </p:nvPr>
        </p:nvSpPr>
        <p:spPr>
          <a:xfrm>
            <a:off x="1323474" y="1265700"/>
            <a:ext cx="3136226" cy="437186"/>
          </a:xfrm>
          <a:prstGeom prst="rect">
            <a:avLst/>
          </a:prstGeom>
        </p:spPr>
        <p:txBody>
          <a:bodyPr/>
          <a:lstStyle/>
          <a:p>
            <a:pPr eaLnBrk="1" hangingPunct="1"/>
            <a:r>
              <a:rPr lang="zh-CN" altLang="en-US" sz="2400" dirty="0">
                <a:latin typeface="微软雅黑" panose="020B0503020204020204" pitchFamily="34" charset="-122"/>
              </a:rPr>
              <a:t>风险识别与量化</a:t>
            </a:r>
          </a:p>
        </p:txBody>
      </p:sp>
      <p:sp>
        <p:nvSpPr>
          <p:cNvPr id="288771" name="Rectangle 3">
            <a:extLst>
              <a:ext uri="{FF2B5EF4-FFF2-40B4-BE49-F238E27FC236}">
                <a16:creationId xmlns:a16="http://schemas.microsoft.com/office/drawing/2014/main" id="{E181E9AC-E257-44E0-8FBE-0F9D702D4762}"/>
              </a:ext>
            </a:extLst>
          </p:cNvPr>
          <p:cNvSpPr>
            <a:spLocks noGrp="1" noChangeArrowheads="1"/>
          </p:cNvSpPr>
          <p:nvPr>
            <p:ph type="body" idx="1"/>
          </p:nvPr>
        </p:nvSpPr>
        <p:spPr>
          <a:xfrm>
            <a:off x="1323474" y="1660734"/>
            <a:ext cx="9408694" cy="4603588"/>
          </a:xfrm>
        </p:spPr>
        <p:txBody>
          <a:bodyPr/>
          <a:lstStyle/>
          <a:p>
            <a:pPr eaLnBrk="1" hangingPunct="1"/>
            <a:r>
              <a:rPr lang="zh-CN" altLang="en-US" dirty="0">
                <a:latin typeface="微软雅黑" panose="020B0503020204020204" pitchFamily="34" charset="-122"/>
              </a:rPr>
              <a:t>风险的来源</a:t>
            </a:r>
            <a:r>
              <a:rPr lang="en-US" altLang="zh-CN" dirty="0">
                <a:latin typeface="微软雅黑" panose="020B0503020204020204" pitchFamily="34" charset="-122"/>
              </a:rPr>
              <a:t>——</a:t>
            </a:r>
            <a:r>
              <a:rPr lang="zh-CN" altLang="en-US" dirty="0">
                <a:latin typeface="微软雅黑" panose="020B0503020204020204" pitchFamily="34" charset="-122"/>
              </a:rPr>
              <a:t>可能对项目带来极坏影响的事件或其症状、苗头。</a:t>
            </a:r>
          </a:p>
          <a:p>
            <a:pPr eaLnBrk="1" hangingPunct="1"/>
            <a:r>
              <a:rPr lang="zh-CN" altLang="en-US" dirty="0">
                <a:latin typeface="微软雅黑" panose="020B0503020204020204" pitchFamily="34" charset="-122"/>
              </a:rPr>
              <a:t>风险的识别</a:t>
            </a:r>
            <a:r>
              <a:rPr lang="en-US" altLang="zh-CN" dirty="0">
                <a:latin typeface="微软雅黑" panose="020B0503020204020204" pitchFamily="34" charset="-122"/>
              </a:rPr>
              <a:t>——</a:t>
            </a:r>
            <a:r>
              <a:rPr lang="zh-CN" altLang="en-US" dirty="0">
                <a:latin typeface="微软雅黑" panose="020B0503020204020204" pitchFamily="34" charset="-122"/>
              </a:rPr>
              <a:t>依据技术或专家判断，参照项目计划对可能的风险进行分析、评估。</a:t>
            </a:r>
          </a:p>
          <a:p>
            <a:pPr eaLnBrk="1" hangingPunct="1"/>
            <a:r>
              <a:rPr lang="zh-CN" altLang="en-US" dirty="0">
                <a:latin typeface="微软雅黑" panose="020B0503020204020204" pitchFamily="34" charset="-122"/>
              </a:rPr>
              <a:t>风险的量化</a:t>
            </a:r>
            <a:r>
              <a:rPr lang="en-US" altLang="zh-CN" dirty="0">
                <a:latin typeface="微软雅黑" panose="020B0503020204020204" pitchFamily="34" charset="-122"/>
              </a:rPr>
              <a:t>——</a:t>
            </a:r>
            <a:r>
              <a:rPr lang="zh-CN" altLang="en-US" dirty="0">
                <a:latin typeface="微软雅黑" panose="020B0503020204020204" pitchFamily="34" charset="-122"/>
              </a:rPr>
              <a:t>对可能的风险进行定量</a:t>
            </a:r>
            <a:r>
              <a:rPr lang="en-US" altLang="zh-CN" dirty="0">
                <a:latin typeface="微软雅黑" panose="020B0503020204020204" pitchFamily="34" charset="-122"/>
              </a:rPr>
              <a:t>/</a:t>
            </a:r>
            <a:r>
              <a:rPr lang="zh-CN" altLang="en-US" dirty="0">
                <a:latin typeface="微软雅黑" panose="020B0503020204020204" pitchFamily="34" charset="-122"/>
              </a:rPr>
              <a:t>定性的评估，估计损失的大小。</a:t>
            </a:r>
          </a:p>
        </p:txBody>
      </p:sp>
      <p:sp>
        <p:nvSpPr>
          <p:cNvPr id="4" name="标题 1">
            <a:extLst>
              <a:ext uri="{FF2B5EF4-FFF2-40B4-BE49-F238E27FC236}">
                <a16:creationId xmlns:a16="http://schemas.microsoft.com/office/drawing/2014/main" id="{004B79C1-5D8A-4C0B-B312-281A5BCE6437}"/>
              </a:ext>
            </a:extLst>
          </p:cNvPr>
          <p:cNvSpPr txBox="1">
            <a:spLocks/>
          </p:cNvSpPr>
          <p:nvPr/>
        </p:nvSpPr>
        <p:spPr>
          <a:xfrm>
            <a:off x="1981200" y="600328"/>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17.3 </a:t>
            </a:r>
            <a:r>
              <a:rPr lang="zh-CN" altLang="en-US" dirty="0">
                <a:latin typeface="微软雅黑" panose="020B0503020204020204" pitchFamily="34" charset="-122"/>
              </a:rPr>
              <a:t>识别风险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9978A82-C7D0-4B4A-B097-1C3506BD7252}"/>
              </a:ext>
            </a:extLst>
          </p:cNvPr>
          <p:cNvSpPr>
            <a:spLocks noGrp="1"/>
          </p:cNvSpPr>
          <p:nvPr>
            <p:ph idx="1"/>
          </p:nvPr>
        </p:nvSpPr>
        <p:spPr/>
        <p:txBody>
          <a:bodyPr/>
          <a:lstStyle/>
          <a:p>
            <a:pPr>
              <a:lnSpc>
                <a:spcPct val="120000"/>
              </a:lnSpc>
            </a:pPr>
            <a:r>
              <a:rPr lang="zh-CN" altLang="en-US" sz="1800" dirty="0">
                <a:latin typeface="微软雅黑" panose="020B0503020204020204" pitchFamily="34" charset="-122"/>
              </a:rPr>
              <a:t>识别风险的输入</a:t>
            </a:r>
            <a:endParaRPr lang="en-US" altLang="zh-CN" sz="18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项目管理计划</a:t>
            </a:r>
            <a:endParaRPr lang="en-US" altLang="zh-CN" sz="160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需求管理计划</a:t>
            </a:r>
            <a:r>
              <a:rPr lang="zh-CN" altLang="en-US" sz="1400" b="0" dirty="0">
                <a:latin typeface="微软雅黑" panose="020B0503020204020204" pitchFamily="34" charset="-122"/>
              </a:rPr>
              <a:t>可能指出了特别有风险的项目目标。</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进度、成本、质量、资源管理计划</a:t>
            </a:r>
            <a:r>
              <a:rPr lang="zh-CN" altLang="en-US" sz="1400" b="0" dirty="0">
                <a:latin typeface="微软雅黑" panose="020B0503020204020204" pitchFamily="34" charset="-122"/>
              </a:rPr>
              <a:t>可能列出了受不确定性或模糊性影响的一些领域。</a:t>
            </a:r>
            <a:r>
              <a:rPr lang="zh-CN" altLang="en-US" sz="1400" dirty="0">
                <a:latin typeface="微软雅黑" panose="020B0503020204020204" pitchFamily="34" charset="-122"/>
              </a:rPr>
              <a:t>质量、资源</a:t>
            </a:r>
            <a:r>
              <a:rPr lang="zh-CN" altLang="en-US" sz="1400" b="0" dirty="0">
                <a:latin typeface="微软雅黑" panose="020B0503020204020204" pitchFamily="34" charset="-122"/>
              </a:rPr>
              <a:t>关键假设可能引发风险</a:t>
            </a:r>
            <a:r>
              <a:rPr lang="zh-CN" altLang="en-US" sz="1400" dirty="0">
                <a:latin typeface="微软雅黑" panose="020B0503020204020204" pitchFamily="34" charset="-122"/>
              </a:rPr>
              <a:t>。</a:t>
            </a:r>
            <a:endParaRPr lang="en-US" altLang="zh-CN" sz="1400" dirty="0">
              <a:latin typeface="微软雅黑" panose="020B0503020204020204" pitchFamily="34" charset="-122"/>
            </a:endParaRPr>
          </a:p>
          <a:p>
            <a:pPr lvl="2">
              <a:lnSpc>
                <a:spcPct val="120000"/>
              </a:lnSpc>
            </a:pPr>
            <a:r>
              <a:rPr lang="zh-CN" altLang="en-US" sz="1400" dirty="0">
                <a:solidFill>
                  <a:schemeClr val="tx2"/>
                </a:solidFill>
                <a:latin typeface="微软雅黑" panose="020B0503020204020204" pitchFamily="34" charset="-122"/>
              </a:rPr>
              <a:t>风险管理计划</a:t>
            </a:r>
            <a:endParaRPr lang="en-US" altLang="zh-CN" sz="1400" dirty="0">
              <a:solidFill>
                <a:schemeClr val="tx2"/>
              </a:solidFill>
              <a:latin typeface="微软雅黑" panose="020B0503020204020204" pitchFamily="34" charset="-122"/>
            </a:endParaRPr>
          </a:p>
          <a:p>
            <a:pPr lvl="2">
              <a:lnSpc>
                <a:spcPct val="120000"/>
              </a:lnSpc>
            </a:pPr>
            <a:r>
              <a:rPr lang="zh-CN" altLang="en-US" sz="1400" dirty="0">
                <a:latin typeface="微软雅黑" panose="020B0503020204020204" pitchFamily="34" charset="-122"/>
              </a:rPr>
              <a:t>范围基准、进度基准、成本基准</a:t>
            </a:r>
            <a:endParaRPr lang="en-US" altLang="zh-CN" sz="14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项目文件</a:t>
            </a:r>
            <a:endParaRPr lang="en-US" altLang="zh-CN" sz="160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假设日志</a:t>
            </a:r>
            <a:r>
              <a:rPr lang="zh-CN" altLang="en-US" sz="1400" b="0" dirty="0">
                <a:latin typeface="微软雅黑" panose="020B0503020204020204" pitchFamily="34" charset="-122"/>
              </a:rPr>
              <a:t>所记录的假设条件和制约因素可能引发单个项目风险</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成本估算、持续时间估算，</a:t>
            </a:r>
            <a:r>
              <a:rPr lang="zh-CN" altLang="en-US" sz="1400" b="0" dirty="0">
                <a:latin typeface="微软雅黑" panose="020B0503020204020204" pitchFamily="34" charset="-122"/>
              </a:rPr>
              <a:t>可能当前估算不足，从而引发项目风险</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问题日志</a:t>
            </a:r>
            <a:r>
              <a:rPr lang="zh-CN" altLang="en-US" sz="1400" b="0" dirty="0">
                <a:latin typeface="微软雅黑" panose="020B0503020204020204" pitchFamily="34" charset="-122"/>
              </a:rPr>
              <a:t>所记录的问题可能引发单个项目风险</a:t>
            </a:r>
            <a:endParaRPr lang="en-US" altLang="zh-CN" sz="1400" b="0" dirty="0">
              <a:latin typeface="微软雅黑" panose="020B0503020204020204" pitchFamily="34" charset="-122"/>
            </a:endParaRPr>
          </a:p>
          <a:p>
            <a:pPr lvl="2">
              <a:lnSpc>
                <a:spcPct val="120000"/>
              </a:lnSpc>
            </a:pPr>
            <a:r>
              <a:rPr lang="zh-CN" altLang="en-US" sz="1400" b="0" dirty="0">
                <a:latin typeface="微软雅黑" panose="020B0503020204020204" pitchFamily="34" charset="-122"/>
              </a:rPr>
              <a:t>根据早期所识别的</a:t>
            </a:r>
            <a:r>
              <a:rPr lang="zh-CN" altLang="en-US" sz="1400" dirty="0">
                <a:latin typeface="微软雅黑" panose="020B0503020204020204" pitchFamily="34" charset="-122"/>
              </a:rPr>
              <a:t>风险相关的经验教训，</a:t>
            </a:r>
            <a:r>
              <a:rPr lang="zh-CN" altLang="en-US" sz="1400" b="0" dirty="0">
                <a:latin typeface="微软雅黑" panose="020B0503020204020204" pitchFamily="34" charset="-122"/>
              </a:rPr>
              <a:t>确定类似风险是否可能在项目的剩余时间再次出现</a:t>
            </a:r>
            <a:endParaRPr lang="en-US" altLang="zh-CN" sz="1400" b="0" dirty="0">
              <a:latin typeface="微软雅黑" panose="020B0503020204020204" pitchFamily="34" charset="-122"/>
            </a:endParaRPr>
          </a:p>
          <a:p>
            <a:pPr lvl="2">
              <a:lnSpc>
                <a:spcPct val="120000"/>
              </a:lnSpc>
            </a:pPr>
            <a:r>
              <a:rPr lang="zh-CN" altLang="en-US" sz="1400" dirty="0">
                <a:latin typeface="微软雅黑" panose="020B0503020204020204" pitchFamily="34" charset="-122"/>
              </a:rPr>
              <a:t>需求文件</a:t>
            </a:r>
            <a:r>
              <a:rPr lang="zh-CN" altLang="en-US" sz="1400" b="0" dirty="0">
                <a:latin typeface="微软雅黑" panose="020B0503020204020204" pitchFamily="34" charset="-122"/>
              </a:rPr>
              <a:t>列明了项目需求，使团队能够确定哪些需求存在风险</a:t>
            </a:r>
            <a:endParaRPr lang="en-US" altLang="zh-CN" sz="1400" b="0" dirty="0">
              <a:latin typeface="微软雅黑" panose="020B0503020204020204" pitchFamily="34" charset="-122"/>
            </a:endParaRPr>
          </a:p>
          <a:p>
            <a:pPr lvl="2">
              <a:lnSpc>
                <a:spcPct val="120000"/>
              </a:lnSpc>
            </a:pPr>
            <a:r>
              <a:rPr lang="zh-CN" altLang="en-US" sz="1400" b="0" dirty="0">
                <a:latin typeface="微软雅黑" panose="020B0503020204020204" pitchFamily="34" charset="-122"/>
              </a:rPr>
              <a:t>资源需求、相关方登记册</a:t>
            </a:r>
            <a:endParaRPr lang="en-US" altLang="zh-CN" sz="1400" b="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协议</a:t>
            </a:r>
            <a:endParaRPr lang="en-US" altLang="zh-CN" sz="1600" dirty="0">
              <a:latin typeface="微软雅黑" panose="020B0503020204020204" pitchFamily="34" charset="-122"/>
            </a:endParaRPr>
          </a:p>
          <a:p>
            <a:pPr lvl="1">
              <a:lnSpc>
                <a:spcPct val="120000"/>
              </a:lnSpc>
            </a:pPr>
            <a:r>
              <a:rPr lang="zh-CN" altLang="en-US" sz="1600" dirty="0">
                <a:latin typeface="微软雅黑" panose="020B0503020204020204" pitchFamily="34" charset="-122"/>
              </a:rPr>
              <a:t>采购文档</a:t>
            </a:r>
          </a:p>
          <a:p>
            <a:pPr lvl="1">
              <a:lnSpc>
                <a:spcPct val="120000"/>
              </a:lnSpc>
            </a:pPr>
            <a:r>
              <a:rPr lang="zh-CN" altLang="en-US" sz="1600" dirty="0">
                <a:latin typeface="微软雅黑" panose="020B0503020204020204" pitchFamily="34" charset="-122"/>
              </a:rPr>
              <a:t>事业环境因素</a:t>
            </a:r>
          </a:p>
          <a:p>
            <a:pPr lvl="1">
              <a:lnSpc>
                <a:spcPct val="120000"/>
              </a:lnSpc>
            </a:pPr>
            <a:r>
              <a:rPr lang="zh-CN" altLang="en-US" sz="1600" dirty="0">
                <a:latin typeface="微软雅黑" panose="020B0503020204020204" pitchFamily="34" charset="-122"/>
              </a:rPr>
              <a:t>组织过程资产</a:t>
            </a:r>
          </a:p>
          <a:p>
            <a:pPr lvl="1">
              <a:lnSpc>
                <a:spcPct val="120000"/>
              </a:lnSpc>
            </a:pPr>
            <a:endParaRPr lang="zh-CN" altLang="en-US" sz="1600" dirty="0">
              <a:latin typeface="微软雅黑" panose="020B0503020204020204" pitchFamily="34" charset="-122"/>
            </a:endParaRPr>
          </a:p>
        </p:txBody>
      </p:sp>
      <p:sp>
        <p:nvSpPr>
          <p:cNvPr id="4" name="标题 1">
            <a:extLst>
              <a:ext uri="{FF2B5EF4-FFF2-40B4-BE49-F238E27FC236}">
                <a16:creationId xmlns:a16="http://schemas.microsoft.com/office/drawing/2014/main" id="{1B8814F9-F591-45BB-9C16-F00E4D889075}"/>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2027628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1131" y="905606"/>
            <a:ext cx="2151888" cy="563563"/>
          </a:xfrm>
          <a:prstGeom prst="rect">
            <a:avLst/>
          </a:prstGeom>
        </p:spPr>
        <p:txBody>
          <a:bodyPr/>
          <a:lstStyle/>
          <a:p>
            <a:r>
              <a:rPr lang="zh-CN" altLang="en-US" dirty="0">
                <a:latin typeface="微软雅黑" panose="020B0503020204020204" pitchFamily="34" charset="-122"/>
              </a:rPr>
              <a:t>风险征兆</a:t>
            </a:r>
          </a:p>
        </p:txBody>
      </p:sp>
      <p:sp>
        <p:nvSpPr>
          <p:cNvPr id="3" name="内容占位符 2"/>
          <p:cNvSpPr>
            <a:spLocks noGrp="1"/>
          </p:cNvSpPr>
          <p:nvPr>
            <p:ph idx="1"/>
          </p:nvPr>
        </p:nvSpPr>
        <p:spPr>
          <a:xfrm>
            <a:off x="1407695" y="1295400"/>
            <a:ext cx="9565105" cy="837456"/>
          </a:xfrm>
        </p:spPr>
        <p:txBody>
          <a:bodyPr/>
          <a:lstStyle/>
          <a:p>
            <a:r>
              <a:rPr lang="zh-CN" altLang="en-US" dirty="0">
                <a:latin typeface="微软雅黑" panose="020B0503020204020204" pitchFamily="34" charset="-122"/>
              </a:rPr>
              <a:t>风险征兆是有可能导致风险产生的各种事件或行为，一个或多个相关的事件或形成一些风险征兆有利于进一步识别风险</a:t>
            </a:r>
          </a:p>
        </p:txBody>
      </p:sp>
      <p:sp>
        <p:nvSpPr>
          <p:cNvPr id="4" name="TextBox 3"/>
          <p:cNvSpPr txBox="1"/>
          <p:nvPr/>
        </p:nvSpPr>
        <p:spPr>
          <a:xfrm>
            <a:off x="1660359" y="2348881"/>
            <a:ext cx="7267192" cy="461665"/>
          </a:xfrm>
          <a:prstGeom prst="rect">
            <a:avLst/>
          </a:prstGeom>
          <a:noFill/>
        </p:spPr>
        <p:txBody>
          <a:bodyPr wrap="square" rtlCol="0">
            <a:spAutoFit/>
          </a:bodyPr>
          <a:lstStyle/>
          <a:p>
            <a:r>
              <a:rPr lang="zh-CN" altLang="en-US" sz="2400" i="1" dirty="0">
                <a:solidFill>
                  <a:srgbClr val="C00000"/>
                </a:solidFill>
                <a:latin typeface="微软雅黑" panose="020B0503020204020204" pitchFamily="34" charset="-122"/>
                <a:ea typeface="微软雅黑" panose="020B0503020204020204" pitchFamily="34" charset="-122"/>
              </a:rPr>
              <a:t>如：核心员工流失</a:t>
            </a:r>
            <a:r>
              <a:rPr lang="zh-CN" altLang="en-US" sz="2400" i="1" dirty="0">
                <a:solidFill>
                  <a:schemeClr val="tx2"/>
                </a:solidFill>
                <a:latin typeface="微软雅黑" panose="020B0503020204020204" pitchFamily="34" charset="-122"/>
                <a:ea typeface="微软雅黑" panose="020B0503020204020204" pitchFamily="34" charset="-122"/>
              </a:rPr>
              <a:t>可能导致项目进度出现延期的风险</a:t>
            </a:r>
          </a:p>
        </p:txBody>
      </p:sp>
      <p:sp>
        <p:nvSpPr>
          <p:cNvPr id="5" name="五边形 4"/>
          <p:cNvSpPr/>
          <p:nvPr/>
        </p:nvSpPr>
        <p:spPr bwMode="auto">
          <a:xfrm>
            <a:off x="2378571" y="2996952"/>
            <a:ext cx="2016224"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风险征兆</a:t>
            </a:r>
          </a:p>
        </p:txBody>
      </p:sp>
      <p:sp>
        <p:nvSpPr>
          <p:cNvPr id="6" name="五边形 5"/>
          <p:cNvSpPr/>
          <p:nvPr/>
        </p:nvSpPr>
        <p:spPr bwMode="auto">
          <a:xfrm>
            <a:off x="5258891" y="2996952"/>
            <a:ext cx="2016224" cy="360040"/>
          </a:xfrm>
          <a:prstGeom prst="homePlat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风险根源</a:t>
            </a:r>
          </a:p>
        </p:txBody>
      </p:sp>
      <p:sp>
        <p:nvSpPr>
          <p:cNvPr id="7" name="TextBox 6"/>
          <p:cNvSpPr txBox="1"/>
          <p:nvPr/>
        </p:nvSpPr>
        <p:spPr>
          <a:xfrm>
            <a:off x="2335974" y="3461090"/>
            <a:ext cx="2550698" cy="2042547"/>
          </a:xfrm>
          <a:prstGeom prst="rect">
            <a:avLst/>
          </a:prstGeom>
          <a:noFill/>
        </p:spPr>
        <p:txBody>
          <a:bodyPr wrap="none" rtlCol="0">
            <a:spAutoFit/>
          </a:bodyPr>
          <a:lstStyle/>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员工工作积极性下降</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团队氛围有变化</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员工时不时请假</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员工浏览招聘网站</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员工对公司抱怨情绪</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endParaRPr lang="zh-CN" altLang="en-US" b="1" dirty="0">
              <a:solidFill>
                <a:schemeClr val="tx2"/>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5231904" y="3508090"/>
            <a:ext cx="2550698" cy="1710148"/>
          </a:xfrm>
          <a:prstGeom prst="rect">
            <a:avLst/>
          </a:prstGeom>
          <a:noFill/>
        </p:spPr>
        <p:txBody>
          <a:bodyPr wrap="none" rtlCol="0">
            <a:spAutoFit/>
          </a:bodyPr>
          <a:lstStyle/>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待遇的问题</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团队气氛和文化影响</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个人职业发展问题</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个人成长</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0000"/>
              </a:lnSpc>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家庭或生活因素等</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F10AA403-2611-4D15-889E-146F1896A512}"/>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17.3 </a:t>
            </a:r>
            <a:r>
              <a:rPr lang="zh-CN" altLang="en-US" dirty="0">
                <a:latin typeface="微软雅黑" panose="020B0503020204020204" pitchFamily="34" charset="-122"/>
              </a:rPr>
              <a:t>风险识别</a:t>
            </a:r>
          </a:p>
        </p:txBody>
      </p:sp>
    </p:spTree>
    <p:extLst>
      <p:ext uri="{BB962C8B-B14F-4D97-AF65-F5344CB8AC3E}">
        <p14:creationId xmlns:p14="http://schemas.microsoft.com/office/powerpoint/2010/main" val="151124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867700" y="948344"/>
            <a:ext cx="3050882" cy="437186"/>
          </a:xfrm>
          <a:prstGeom prst="rect">
            <a:avLst/>
          </a:prstGeom>
        </p:spPr>
        <p:txBody>
          <a:bodyPr/>
          <a:lstStyle/>
          <a:p>
            <a:pPr eaLnBrk="1" hangingPunct="1"/>
            <a:r>
              <a:rPr lang="zh-CN" altLang="en-US" dirty="0"/>
              <a:t>从哪里识别风险</a:t>
            </a:r>
          </a:p>
        </p:txBody>
      </p:sp>
      <p:sp>
        <p:nvSpPr>
          <p:cNvPr id="2" name="TextBox 1"/>
          <p:cNvSpPr txBox="1"/>
          <p:nvPr/>
        </p:nvSpPr>
        <p:spPr>
          <a:xfrm>
            <a:off x="1775520" y="1268761"/>
            <a:ext cx="9712915" cy="461665"/>
          </a:xfrm>
          <a:prstGeom prst="rect">
            <a:avLst/>
          </a:prstGeom>
          <a:noFill/>
        </p:spPr>
        <p:txBody>
          <a:bodyPr wrap="none" rtlCol="0">
            <a:spAutoFit/>
          </a:bodyPr>
          <a:lstStyle/>
          <a:p>
            <a:r>
              <a:rPr lang="zh-CN" altLang="en-US" sz="2400" b="1" i="1" dirty="0">
                <a:solidFill>
                  <a:srgbClr val="C00000"/>
                </a:solidFill>
                <a:latin typeface="+mj-ea"/>
                <a:ea typeface="+mj-ea"/>
              </a:rPr>
              <a:t>风险：</a:t>
            </a:r>
            <a:r>
              <a:rPr lang="zh-CN" altLang="en-US" b="1" dirty="0">
                <a:solidFill>
                  <a:schemeClr val="tx2"/>
                </a:solidFill>
                <a:latin typeface="+mj-ea"/>
                <a:ea typeface="+mj-ea"/>
              </a:rPr>
              <a:t>任何影响到项目目标达成的因素都是风险，项目目标本身又涉及到质量，进度和成本</a:t>
            </a:r>
            <a:endParaRPr lang="zh-CN" altLang="en-US" sz="1600" b="1" dirty="0">
              <a:solidFill>
                <a:schemeClr val="tx2"/>
              </a:solidFill>
              <a:latin typeface="+mj-ea"/>
              <a:ea typeface="+mj-ea"/>
            </a:endParaRPr>
          </a:p>
        </p:txBody>
      </p:sp>
      <p:sp>
        <p:nvSpPr>
          <p:cNvPr id="3" name="椭圆 2"/>
          <p:cNvSpPr/>
          <p:nvPr/>
        </p:nvSpPr>
        <p:spPr bwMode="auto">
          <a:xfrm>
            <a:off x="1991544" y="3484511"/>
            <a:ext cx="720080" cy="648072"/>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项目目标</a:t>
            </a:r>
          </a:p>
        </p:txBody>
      </p:sp>
      <p:sp>
        <p:nvSpPr>
          <p:cNvPr id="13" name="椭圆 12"/>
          <p:cNvSpPr/>
          <p:nvPr/>
        </p:nvSpPr>
        <p:spPr bwMode="auto">
          <a:xfrm>
            <a:off x="3287688" y="2620415"/>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进度目标</a:t>
            </a:r>
          </a:p>
        </p:txBody>
      </p:sp>
      <p:sp>
        <p:nvSpPr>
          <p:cNvPr id="14" name="椭圆 13"/>
          <p:cNvSpPr/>
          <p:nvPr/>
        </p:nvSpPr>
        <p:spPr bwMode="auto">
          <a:xfrm>
            <a:off x="3287688" y="3484511"/>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成本目标</a:t>
            </a:r>
          </a:p>
        </p:txBody>
      </p:sp>
      <p:sp>
        <p:nvSpPr>
          <p:cNvPr id="15" name="椭圆 14"/>
          <p:cNvSpPr/>
          <p:nvPr/>
        </p:nvSpPr>
        <p:spPr bwMode="auto">
          <a:xfrm>
            <a:off x="3287688" y="4348607"/>
            <a:ext cx="720080" cy="648072"/>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200" dirty="0">
                <a:solidFill>
                  <a:srgbClr val="FFFFCC"/>
                </a:solidFill>
                <a:latin typeface="+mj-ea"/>
                <a:ea typeface="+mj-ea"/>
              </a:rPr>
              <a:t>质量目标</a:t>
            </a:r>
          </a:p>
        </p:txBody>
      </p:sp>
      <p:cxnSp>
        <p:nvCxnSpPr>
          <p:cNvPr id="6" name="直接箭头连接符 5"/>
          <p:cNvCxnSpPr>
            <a:stCxn id="3" idx="6"/>
            <a:endCxn id="14" idx="2"/>
          </p:cNvCxnSpPr>
          <p:nvPr/>
        </p:nvCxnSpPr>
        <p:spPr bwMode="auto">
          <a:xfrm>
            <a:off x="2711624" y="3808547"/>
            <a:ext cx="576064"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10" name="直接箭头连接符 9"/>
          <p:cNvCxnSpPr>
            <a:stCxn id="3" idx="6"/>
            <a:endCxn id="13" idx="3"/>
          </p:cNvCxnSpPr>
          <p:nvPr/>
        </p:nvCxnSpPr>
        <p:spPr bwMode="auto">
          <a:xfrm flipV="1">
            <a:off x="2711625" y="3173579"/>
            <a:ext cx="681517" cy="634968"/>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12" name="直接箭头连接符 11"/>
          <p:cNvCxnSpPr>
            <a:stCxn id="3" idx="6"/>
            <a:endCxn id="15" idx="1"/>
          </p:cNvCxnSpPr>
          <p:nvPr/>
        </p:nvCxnSpPr>
        <p:spPr bwMode="auto">
          <a:xfrm>
            <a:off x="2711625" y="3808547"/>
            <a:ext cx="681517" cy="634968"/>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16" name="矩形 15"/>
          <p:cNvSpPr/>
          <p:nvPr/>
        </p:nvSpPr>
        <p:spPr bwMode="auto">
          <a:xfrm>
            <a:off x="4583832" y="2132856"/>
            <a:ext cx="1080120" cy="36004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项目范围</a:t>
            </a:r>
          </a:p>
        </p:txBody>
      </p:sp>
      <p:sp>
        <p:nvSpPr>
          <p:cNvPr id="23" name="矩形 22"/>
          <p:cNvSpPr/>
          <p:nvPr/>
        </p:nvSpPr>
        <p:spPr bwMode="auto">
          <a:xfrm>
            <a:off x="4583832" y="2764431"/>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进度计划</a:t>
            </a:r>
          </a:p>
        </p:txBody>
      </p:sp>
      <p:sp>
        <p:nvSpPr>
          <p:cNvPr id="24" name="矩形 23"/>
          <p:cNvSpPr/>
          <p:nvPr/>
        </p:nvSpPr>
        <p:spPr bwMode="auto">
          <a:xfrm>
            <a:off x="6053421" y="2764431"/>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altLang="zh-CN" sz="1400" dirty="0">
                <a:solidFill>
                  <a:srgbClr val="FFFFCC"/>
                </a:solidFill>
                <a:latin typeface="+mj-ea"/>
                <a:ea typeface="+mj-ea"/>
              </a:rPr>
              <a:t>WBS</a:t>
            </a:r>
            <a:r>
              <a:rPr lang="zh-CN" altLang="en-US" sz="1400" dirty="0">
                <a:solidFill>
                  <a:srgbClr val="FFFFCC"/>
                </a:solidFill>
                <a:latin typeface="+mj-ea"/>
                <a:ea typeface="+mj-ea"/>
              </a:rPr>
              <a:t>和任务</a:t>
            </a:r>
          </a:p>
        </p:txBody>
      </p:sp>
      <p:sp>
        <p:nvSpPr>
          <p:cNvPr id="25" name="矩形 24"/>
          <p:cNvSpPr/>
          <p:nvPr/>
        </p:nvSpPr>
        <p:spPr bwMode="auto">
          <a:xfrm>
            <a:off x="7608168" y="2764431"/>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投入资源</a:t>
            </a:r>
          </a:p>
        </p:txBody>
      </p:sp>
      <p:sp>
        <p:nvSpPr>
          <p:cNvPr id="26" name="矩形 25"/>
          <p:cNvSpPr/>
          <p:nvPr/>
        </p:nvSpPr>
        <p:spPr bwMode="auto">
          <a:xfrm>
            <a:off x="9048328" y="2764431"/>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持续时间</a:t>
            </a:r>
          </a:p>
        </p:txBody>
      </p:sp>
      <p:cxnSp>
        <p:nvCxnSpPr>
          <p:cNvPr id="18" name="直接箭头连接符 17"/>
          <p:cNvCxnSpPr>
            <a:stCxn id="16" idx="2"/>
            <a:endCxn id="23" idx="0"/>
          </p:cNvCxnSpPr>
          <p:nvPr/>
        </p:nvCxnSpPr>
        <p:spPr bwMode="auto">
          <a:xfrm>
            <a:off x="5123892" y="2492897"/>
            <a:ext cx="0" cy="271535"/>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0" name="直接箭头连接符 19"/>
          <p:cNvCxnSpPr>
            <a:stCxn id="23" idx="3"/>
            <a:endCxn id="24" idx="1"/>
          </p:cNvCxnSpPr>
          <p:nvPr/>
        </p:nvCxnSpPr>
        <p:spPr bwMode="auto">
          <a:xfrm>
            <a:off x="5663952" y="2944451"/>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2" name="直接箭头连接符 21"/>
          <p:cNvCxnSpPr>
            <a:stCxn id="24" idx="3"/>
            <a:endCxn id="25" idx="1"/>
          </p:cNvCxnSpPr>
          <p:nvPr/>
        </p:nvCxnSpPr>
        <p:spPr bwMode="auto">
          <a:xfrm>
            <a:off x="7248128" y="2944451"/>
            <a:ext cx="360041"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29" name="直接箭头连接符 28"/>
          <p:cNvCxnSpPr>
            <a:stCxn id="25" idx="3"/>
            <a:endCxn id="26" idx="1"/>
          </p:cNvCxnSpPr>
          <p:nvPr/>
        </p:nvCxnSpPr>
        <p:spPr bwMode="auto">
          <a:xfrm>
            <a:off x="8760296" y="2944451"/>
            <a:ext cx="288032"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30" name="平行四边形 29"/>
          <p:cNvSpPr/>
          <p:nvPr/>
        </p:nvSpPr>
        <p:spPr bwMode="auto">
          <a:xfrm>
            <a:off x="6096000" y="2312877"/>
            <a:ext cx="4235322" cy="307539"/>
          </a:xfrm>
          <a:prstGeom prst="parallelogram">
            <a:avLst>
              <a:gd name="adj" fmla="val 87516"/>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关键路径</a:t>
            </a:r>
          </a:p>
        </p:txBody>
      </p:sp>
      <p:sp>
        <p:nvSpPr>
          <p:cNvPr id="31" name="右箭头 30"/>
          <p:cNvSpPr/>
          <p:nvPr/>
        </p:nvSpPr>
        <p:spPr bwMode="auto">
          <a:xfrm>
            <a:off x="4079776" y="2764431"/>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41" name="矩形 40"/>
          <p:cNvSpPr/>
          <p:nvPr/>
        </p:nvSpPr>
        <p:spPr bwMode="auto">
          <a:xfrm>
            <a:off x="4583832" y="3628527"/>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成本计划</a:t>
            </a:r>
          </a:p>
        </p:txBody>
      </p:sp>
      <p:sp>
        <p:nvSpPr>
          <p:cNvPr id="42" name="矩形 41"/>
          <p:cNvSpPr/>
          <p:nvPr/>
        </p:nvSpPr>
        <p:spPr bwMode="auto">
          <a:xfrm>
            <a:off x="6053421" y="3628527"/>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成本估算</a:t>
            </a:r>
          </a:p>
        </p:txBody>
      </p:sp>
      <p:sp>
        <p:nvSpPr>
          <p:cNvPr id="43" name="右箭头 42"/>
          <p:cNvSpPr/>
          <p:nvPr/>
        </p:nvSpPr>
        <p:spPr bwMode="auto">
          <a:xfrm>
            <a:off x="4079776" y="3628527"/>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cxnSp>
        <p:nvCxnSpPr>
          <p:cNvPr id="36" name="直接箭头连接符 35"/>
          <p:cNvCxnSpPr>
            <a:stCxn id="41" idx="3"/>
            <a:endCxn id="42" idx="1"/>
          </p:cNvCxnSpPr>
          <p:nvPr/>
        </p:nvCxnSpPr>
        <p:spPr bwMode="auto">
          <a:xfrm>
            <a:off x="5663952" y="3808547"/>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48" name="矩形 47"/>
          <p:cNvSpPr/>
          <p:nvPr/>
        </p:nvSpPr>
        <p:spPr bwMode="auto">
          <a:xfrm>
            <a:off x="7608168" y="3412503"/>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人力资源</a:t>
            </a:r>
          </a:p>
        </p:txBody>
      </p:sp>
      <p:sp>
        <p:nvSpPr>
          <p:cNvPr id="49" name="矩形 48"/>
          <p:cNvSpPr/>
          <p:nvPr/>
        </p:nvSpPr>
        <p:spPr bwMode="auto">
          <a:xfrm>
            <a:off x="7608168" y="3916559"/>
            <a:ext cx="1152128"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采购成本</a:t>
            </a:r>
          </a:p>
        </p:txBody>
      </p:sp>
      <p:cxnSp>
        <p:nvCxnSpPr>
          <p:cNvPr id="40" name="直接箭头连接符 39"/>
          <p:cNvCxnSpPr>
            <a:stCxn id="42" idx="3"/>
            <a:endCxn id="48" idx="1"/>
          </p:cNvCxnSpPr>
          <p:nvPr/>
        </p:nvCxnSpPr>
        <p:spPr bwMode="auto">
          <a:xfrm flipV="1">
            <a:off x="7248128" y="3592523"/>
            <a:ext cx="360041" cy="216024"/>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45" name="直接箭头连接符 44"/>
          <p:cNvCxnSpPr>
            <a:stCxn id="42" idx="3"/>
            <a:endCxn id="49" idx="1"/>
          </p:cNvCxnSpPr>
          <p:nvPr/>
        </p:nvCxnSpPr>
        <p:spPr bwMode="auto">
          <a:xfrm>
            <a:off x="7248128" y="3808547"/>
            <a:ext cx="360041" cy="288032"/>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47" name="直接箭头连接符 46"/>
          <p:cNvCxnSpPr>
            <a:stCxn id="48" idx="0"/>
            <a:endCxn id="25" idx="2"/>
          </p:cNvCxnSpPr>
          <p:nvPr/>
        </p:nvCxnSpPr>
        <p:spPr bwMode="auto">
          <a:xfrm flipV="1">
            <a:off x="8184232" y="3124471"/>
            <a:ext cx="0" cy="288032"/>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58" name="矩形 57"/>
          <p:cNvSpPr/>
          <p:nvPr/>
        </p:nvSpPr>
        <p:spPr bwMode="auto">
          <a:xfrm>
            <a:off x="4583832" y="4492623"/>
            <a:ext cx="108012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质量计划</a:t>
            </a:r>
          </a:p>
        </p:txBody>
      </p:sp>
      <p:sp>
        <p:nvSpPr>
          <p:cNvPr id="59" name="矩形 58"/>
          <p:cNvSpPr/>
          <p:nvPr/>
        </p:nvSpPr>
        <p:spPr bwMode="auto">
          <a:xfrm>
            <a:off x="6053421" y="4492623"/>
            <a:ext cx="1194707"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rgbClr val="FFFFCC"/>
                </a:solidFill>
                <a:latin typeface="+mj-ea"/>
                <a:ea typeface="+mj-ea"/>
              </a:rPr>
              <a:t>质量成本</a:t>
            </a:r>
          </a:p>
        </p:txBody>
      </p:sp>
      <p:sp>
        <p:nvSpPr>
          <p:cNvPr id="60" name="右箭头 59"/>
          <p:cNvSpPr/>
          <p:nvPr/>
        </p:nvSpPr>
        <p:spPr bwMode="auto">
          <a:xfrm>
            <a:off x="4079776" y="4492623"/>
            <a:ext cx="432048" cy="36004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cxnSp>
        <p:nvCxnSpPr>
          <p:cNvPr id="61" name="直接箭头连接符 60"/>
          <p:cNvCxnSpPr>
            <a:stCxn id="58" idx="3"/>
            <a:endCxn id="59" idx="1"/>
          </p:cNvCxnSpPr>
          <p:nvPr/>
        </p:nvCxnSpPr>
        <p:spPr bwMode="auto">
          <a:xfrm>
            <a:off x="5663952" y="4672643"/>
            <a:ext cx="389468"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63" name="矩形 62"/>
          <p:cNvSpPr/>
          <p:nvPr/>
        </p:nvSpPr>
        <p:spPr bwMode="auto">
          <a:xfrm>
            <a:off x="7608168" y="4492623"/>
            <a:ext cx="1440160" cy="36004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US" altLang="zh-CN" sz="1400" dirty="0">
                <a:solidFill>
                  <a:srgbClr val="FFFFCC"/>
                </a:solidFill>
                <a:latin typeface="+mj-ea"/>
                <a:ea typeface="+mj-ea"/>
              </a:rPr>
              <a:t>QC</a:t>
            </a:r>
            <a:r>
              <a:rPr lang="zh-CN" altLang="en-US" sz="1400" dirty="0">
                <a:solidFill>
                  <a:srgbClr val="FFFFCC"/>
                </a:solidFill>
                <a:latin typeface="+mj-ea"/>
                <a:ea typeface="+mj-ea"/>
              </a:rPr>
              <a:t>和</a:t>
            </a:r>
            <a:r>
              <a:rPr lang="en-US" altLang="zh-CN" sz="1400" dirty="0">
                <a:solidFill>
                  <a:srgbClr val="FFFFCC"/>
                </a:solidFill>
                <a:latin typeface="+mj-ea"/>
                <a:ea typeface="+mj-ea"/>
              </a:rPr>
              <a:t>QA</a:t>
            </a:r>
            <a:r>
              <a:rPr lang="zh-CN" altLang="en-US" sz="1400" dirty="0">
                <a:solidFill>
                  <a:srgbClr val="FFFFCC"/>
                </a:solidFill>
                <a:latin typeface="+mj-ea"/>
                <a:ea typeface="+mj-ea"/>
              </a:rPr>
              <a:t>投入</a:t>
            </a:r>
          </a:p>
        </p:txBody>
      </p:sp>
      <p:cxnSp>
        <p:nvCxnSpPr>
          <p:cNvPr id="54" name="直接箭头连接符 53"/>
          <p:cNvCxnSpPr>
            <a:stCxn id="59" idx="3"/>
            <a:endCxn id="63" idx="1"/>
          </p:cNvCxnSpPr>
          <p:nvPr/>
        </p:nvCxnSpPr>
        <p:spPr bwMode="auto">
          <a:xfrm>
            <a:off x="7248128" y="4672643"/>
            <a:ext cx="360041" cy="0"/>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cxnSp>
        <p:nvCxnSpPr>
          <p:cNvPr id="56" name="直接箭头连接符 55"/>
          <p:cNvCxnSpPr>
            <a:stCxn id="42" idx="0"/>
            <a:endCxn id="24" idx="2"/>
          </p:cNvCxnSpPr>
          <p:nvPr/>
        </p:nvCxnSpPr>
        <p:spPr bwMode="auto">
          <a:xfrm flipV="1">
            <a:off x="6650774" y="3124471"/>
            <a:ext cx="0" cy="504056"/>
          </a:xfrm>
          <a:prstGeom prst="straightConnector1">
            <a:avLst/>
          </a:prstGeom>
          <a:solidFill>
            <a:schemeClr val="accent1"/>
          </a:solidFill>
          <a:ln w="19050" cap="flat" cmpd="sng" algn="ctr">
            <a:solidFill>
              <a:schemeClr val="tx2"/>
            </a:solidFill>
            <a:prstDash val="solid"/>
            <a:round/>
            <a:headEnd type="none" w="med" len="med"/>
            <a:tailEnd type="arrow"/>
          </a:ln>
          <a:effectLst/>
        </p:spPr>
      </p:cxnSp>
      <p:sp>
        <p:nvSpPr>
          <p:cNvPr id="57" name="矩形 56"/>
          <p:cNvSpPr/>
          <p:nvPr/>
        </p:nvSpPr>
        <p:spPr bwMode="auto">
          <a:xfrm>
            <a:off x="1409700" y="5382612"/>
            <a:ext cx="9372599"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项目风险识别往往在项目启动时就开始，贯彻项目整个生命周期</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项目计划主要为实现项目目标，需要根据完整项目计划识别所有风险，无对应只能说明计划不完善</a:t>
            </a:r>
          </a:p>
        </p:txBody>
      </p:sp>
      <p:sp>
        <p:nvSpPr>
          <p:cNvPr id="39" name="标题 1">
            <a:extLst>
              <a:ext uri="{FF2B5EF4-FFF2-40B4-BE49-F238E27FC236}">
                <a16:creationId xmlns:a16="http://schemas.microsoft.com/office/drawing/2014/main" id="{D043B06C-65A9-4B47-9AD2-FEDD2F5065D7}"/>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237435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31980B4-CD53-48D7-BA8F-F25769A592AB}"/>
              </a:ext>
            </a:extLst>
          </p:cNvPr>
          <p:cNvSpPr>
            <a:spLocks noGrp="1"/>
          </p:cNvSpPr>
          <p:nvPr>
            <p:ph idx="1"/>
          </p:nvPr>
        </p:nvSpPr>
        <p:spPr/>
        <p:txBody>
          <a:bodyPr/>
          <a:lstStyle/>
          <a:p>
            <a:r>
              <a:rPr lang="zh-CN" altLang="en-US" dirty="0"/>
              <a:t>识别风险的工具与技术</a:t>
            </a:r>
            <a:endParaRPr lang="en-US" altLang="zh-CN" dirty="0"/>
          </a:p>
          <a:p>
            <a:pPr lvl="1"/>
            <a:r>
              <a:rPr lang="zh-CN" altLang="en-US" dirty="0"/>
              <a:t>专家判断，</a:t>
            </a:r>
            <a:r>
              <a:rPr lang="zh-CN" altLang="en-US" b="0" dirty="0"/>
              <a:t>根据以往经验和专业知识来考虑单个项目风险的方方面面，以及整体项目风险的各种来源</a:t>
            </a:r>
            <a:endParaRPr lang="en-US" altLang="zh-CN" b="0" dirty="0"/>
          </a:p>
          <a:p>
            <a:pPr lvl="1"/>
            <a:r>
              <a:rPr lang="zh-CN" altLang="en-US" dirty="0"/>
              <a:t>数据收集，</a:t>
            </a:r>
            <a:r>
              <a:rPr lang="zh-CN" altLang="en-US" b="0" dirty="0"/>
              <a:t>包括：头脑风暴、核对单、访谈</a:t>
            </a:r>
            <a:endParaRPr lang="en-US" altLang="zh-CN" b="0" dirty="0"/>
          </a:p>
          <a:p>
            <a:pPr lvl="1"/>
            <a:r>
              <a:rPr lang="zh-CN" altLang="en-US" dirty="0"/>
              <a:t>数据分析，</a:t>
            </a:r>
            <a:r>
              <a:rPr lang="zh-CN" altLang="en-US" b="0" dirty="0"/>
              <a:t>包括：根本原因分析、假设条件和制约因素分析、</a:t>
            </a:r>
            <a:r>
              <a:rPr lang="en-US" altLang="zh-CN" b="0" dirty="0"/>
              <a:t>SWOT </a:t>
            </a:r>
            <a:r>
              <a:rPr lang="zh-CN" altLang="en-US" b="0" dirty="0"/>
              <a:t>分析、文件分析</a:t>
            </a:r>
            <a:endParaRPr lang="en-US" altLang="zh-CN" b="0" dirty="0"/>
          </a:p>
          <a:p>
            <a:pPr lvl="1"/>
            <a:r>
              <a:rPr lang="zh-CN" altLang="en-US" dirty="0"/>
              <a:t>人际关系与团队技能，</a:t>
            </a:r>
            <a:r>
              <a:rPr lang="zh-CN" altLang="en-US" b="0" dirty="0"/>
              <a:t>引导 能提高用于识别单个项目风险和整体项目风险来源的许多技术的有效性</a:t>
            </a:r>
          </a:p>
          <a:p>
            <a:pPr lvl="1"/>
            <a:r>
              <a:rPr lang="zh-CN" altLang="en-US" dirty="0"/>
              <a:t>提示清单</a:t>
            </a:r>
            <a:r>
              <a:rPr lang="zh-CN" altLang="en-US" b="0" dirty="0"/>
              <a:t>是关于可能引发单个项目风险以及可作为整体项目风险来源的风险类别的预设清单</a:t>
            </a:r>
            <a:endParaRPr lang="en-US" altLang="zh-CN" b="0" dirty="0"/>
          </a:p>
          <a:p>
            <a:pPr lvl="1"/>
            <a:r>
              <a:rPr lang="zh-CN" altLang="en-US" dirty="0"/>
              <a:t>会议</a:t>
            </a:r>
            <a:r>
              <a:rPr lang="zh-CN" altLang="en-US" b="0" dirty="0"/>
              <a:t>，风险研讨会</a:t>
            </a:r>
          </a:p>
        </p:txBody>
      </p:sp>
      <p:sp>
        <p:nvSpPr>
          <p:cNvPr id="4" name="标题 1">
            <a:extLst>
              <a:ext uri="{FF2B5EF4-FFF2-40B4-BE49-F238E27FC236}">
                <a16:creationId xmlns:a16="http://schemas.microsoft.com/office/drawing/2014/main" id="{0451B835-C327-45BB-801F-62C3828B5BF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1405083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984414" y="764293"/>
            <a:ext cx="8229600" cy="437186"/>
          </a:xfrm>
          <a:prstGeom prst="rect">
            <a:avLst/>
          </a:prstGeom>
        </p:spPr>
        <p:txBody>
          <a:bodyPr/>
          <a:lstStyle/>
          <a:p>
            <a:pPr eaLnBrk="1" hangingPunct="1"/>
            <a:r>
              <a:rPr lang="zh-CN" altLang="en-US" dirty="0">
                <a:latin typeface="微软雅黑" panose="020B0503020204020204" pitchFamily="34" charset="-122"/>
              </a:rPr>
              <a:t>结构化风险识别</a:t>
            </a:r>
            <a:r>
              <a:rPr lang="en-US" altLang="zh-CN" dirty="0">
                <a:latin typeface="微软雅黑" panose="020B0503020204020204" pitchFamily="34" charset="-122"/>
              </a:rPr>
              <a:t>-</a:t>
            </a:r>
            <a:r>
              <a:rPr lang="zh-CN" altLang="en-US" dirty="0">
                <a:latin typeface="微软雅黑" panose="020B0503020204020204" pitchFamily="34" charset="-122"/>
              </a:rPr>
              <a:t>风险核对表</a:t>
            </a:r>
          </a:p>
        </p:txBody>
      </p:sp>
      <p:sp>
        <p:nvSpPr>
          <p:cNvPr id="4" name="矩形 3"/>
          <p:cNvSpPr/>
          <p:nvPr/>
        </p:nvSpPr>
        <p:spPr>
          <a:xfrm>
            <a:off x="1167063" y="2957349"/>
            <a:ext cx="3645569" cy="3170099"/>
          </a:xfrm>
          <a:prstGeom prst="rect">
            <a:avLst/>
          </a:prstGeom>
        </p:spPr>
        <p:txBody>
          <a:bodyPr wrap="square">
            <a:spAutoFit/>
          </a:bodyPr>
          <a:lstStyle/>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缺乏经过技术培训的人力</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需求变更太多</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需求不明确</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人员流失</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不切实际的进度</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运用新技术</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系统接口部分影响</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业务知识不够</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外部强加给项目的决策</a:t>
            </a:r>
          </a:p>
          <a:p>
            <a:pPr marL="285750" indent="-285750">
              <a:buFont typeface="Wingdings" pitchFamily="2" charset="2"/>
              <a:buChar char="u"/>
            </a:pPr>
            <a:r>
              <a:rPr lang="zh-CN" altLang="en-US" sz="2000" b="1" dirty="0">
                <a:solidFill>
                  <a:schemeClr val="tx2"/>
                </a:solidFill>
                <a:latin typeface="微软雅黑" panose="020B0503020204020204" pitchFamily="34" charset="-122"/>
                <a:ea typeface="微软雅黑" panose="020B0503020204020204" pitchFamily="34" charset="-122"/>
              </a:rPr>
              <a:t>没有项目目标要求</a:t>
            </a:r>
          </a:p>
        </p:txBody>
      </p:sp>
      <p:sp>
        <p:nvSpPr>
          <p:cNvPr id="44" name="矩形 43"/>
          <p:cNvSpPr/>
          <p:nvPr/>
        </p:nvSpPr>
        <p:spPr bwMode="auto">
          <a:xfrm>
            <a:off x="1847528" y="1340768"/>
            <a:ext cx="8496944"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可以根据历史项目或组织级其它项目经验整理风险库或风险核对表</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fontAlgn="base">
              <a:spcBef>
                <a:spcPct val="0"/>
              </a:spcBef>
              <a:spcAft>
                <a:spcPct val="0"/>
              </a:spcAft>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也可以根据根据</a:t>
            </a:r>
            <a:r>
              <a:rPr lang="en-US" altLang="zh-CN" b="1" dirty="0">
                <a:solidFill>
                  <a:schemeClr val="tx2"/>
                </a:solidFill>
                <a:latin typeface="微软雅黑" panose="020B0503020204020204" pitchFamily="34" charset="-122"/>
                <a:ea typeface="微软雅黑" panose="020B0503020204020204" pitchFamily="34" charset="-122"/>
              </a:rPr>
              <a:t>RBS</a:t>
            </a:r>
            <a:r>
              <a:rPr lang="zh-CN" altLang="en-US" b="1" dirty="0">
                <a:solidFill>
                  <a:schemeClr val="tx2"/>
                </a:solidFill>
                <a:latin typeface="微软雅黑" panose="020B0503020204020204" pitchFamily="34" charset="-122"/>
                <a:ea typeface="微软雅黑" panose="020B0503020204020204" pitchFamily="34" charset="-122"/>
              </a:rPr>
              <a:t>风险分解结构的底层作为风险核对表</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1775521" y="2492896"/>
            <a:ext cx="2021707" cy="369332"/>
          </a:xfrm>
          <a:prstGeom prst="rect">
            <a:avLst/>
          </a:prstGeom>
          <a:noFill/>
        </p:spPr>
        <p:txBody>
          <a:bodyPr wrap="none" rtlCol="0">
            <a:spAutoFit/>
          </a:bodyPr>
          <a:lstStyle/>
          <a:p>
            <a:r>
              <a:rPr lang="en-US" altLang="zh-CN" i="1" u="sng" dirty="0">
                <a:solidFill>
                  <a:srgbClr val="C00000"/>
                </a:solidFill>
                <a:latin typeface="微软雅黑" panose="020B0503020204020204" pitchFamily="34" charset="-122"/>
                <a:ea typeface="微软雅黑" panose="020B0503020204020204" pitchFamily="34" charset="-122"/>
              </a:rPr>
              <a:t>IT</a:t>
            </a:r>
            <a:r>
              <a:rPr lang="zh-CN" altLang="en-US" i="1" u="sng" dirty="0">
                <a:solidFill>
                  <a:srgbClr val="C00000"/>
                </a:solidFill>
                <a:latin typeface="微软雅黑" panose="020B0503020204020204" pitchFamily="34" charset="-122"/>
                <a:ea typeface="微软雅黑" panose="020B0503020204020204" pitchFamily="34" charset="-122"/>
              </a:rPr>
              <a:t>项目十大风险库</a:t>
            </a:r>
          </a:p>
        </p:txBody>
      </p:sp>
      <p:sp>
        <p:nvSpPr>
          <p:cNvPr id="46" name="TextBox 45"/>
          <p:cNvSpPr txBox="1"/>
          <p:nvPr/>
        </p:nvSpPr>
        <p:spPr>
          <a:xfrm>
            <a:off x="5786368" y="2392435"/>
            <a:ext cx="2690160" cy="369332"/>
          </a:xfrm>
          <a:prstGeom prst="rect">
            <a:avLst/>
          </a:prstGeom>
          <a:noFill/>
        </p:spPr>
        <p:txBody>
          <a:bodyPr wrap="none" rtlCol="0">
            <a:spAutoFit/>
          </a:bodyPr>
          <a:lstStyle/>
          <a:p>
            <a:r>
              <a:rPr lang="en-US" altLang="zh-CN" i="1" u="sng" dirty="0">
                <a:solidFill>
                  <a:srgbClr val="C00000"/>
                </a:solidFill>
                <a:latin typeface="微软雅黑" panose="020B0503020204020204" pitchFamily="34" charset="-122"/>
                <a:ea typeface="微软雅黑" panose="020B0503020204020204" pitchFamily="34" charset="-122"/>
              </a:rPr>
              <a:t>RBS</a:t>
            </a:r>
            <a:r>
              <a:rPr lang="zh-CN" altLang="en-US" i="1" u="sng" dirty="0">
                <a:solidFill>
                  <a:srgbClr val="C00000"/>
                </a:solidFill>
                <a:latin typeface="微软雅黑" panose="020B0503020204020204" pitchFamily="34" charset="-122"/>
                <a:ea typeface="微软雅黑" panose="020B0503020204020204" pitchFamily="34" charset="-122"/>
              </a:rPr>
              <a:t>底层作为风险核对单</a:t>
            </a:r>
          </a:p>
        </p:txBody>
      </p:sp>
      <p:pic>
        <p:nvPicPr>
          <p:cNvPr id="645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370" y="2761767"/>
            <a:ext cx="5826175" cy="3717024"/>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162449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3438" y="1083135"/>
            <a:ext cx="2447274" cy="437186"/>
          </a:xfrm>
          <a:prstGeom prst="rect">
            <a:avLst/>
          </a:prstGeom>
        </p:spPr>
        <p:txBody>
          <a:bodyPr/>
          <a:lstStyle/>
          <a:p>
            <a:r>
              <a:rPr lang="en-US" altLang="zh-CN" dirty="0"/>
              <a:t>SWOT</a:t>
            </a:r>
            <a:r>
              <a:rPr lang="zh-CN" altLang="en-US" dirty="0"/>
              <a:t>分析</a:t>
            </a:r>
          </a:p>
        </p:txBody>
      </p:sp>
      <p:sp>
        <p:nvSpPr>
          <p:cNvPr id="3" name="内容占位符 2"/>
          <p:cNvSpPr>
            <a:spLocks noGrp="1"/>
          </p:cNvSpPr>
          <p:nvPr>
            <p:ph idx="1"/>
          </p:nvPr>
        </p:nvSpPr>
        <p:spPr>
          <a:xfrm>
            <a:off x="896185" y="1603582"/>
            <a:ext cx="10431379" cy="2364778"/>
          </a:xfrm>
        </p:spPr>
        <p:txBody>
          <a:bodyPr/>
          <a:lstStyle/>
          <a:p>
            <a:r>
              <a:rPr lang="zh-CN" altLang="en-US" sz="1800" dirty="0"/>
              <a:t>最早由美国旧金山大学韦里克教授于</a:t>
            </a:r>
            <a:r>
              <a:rPr lang="en-US" altLang="zh-CN" sz="1800" dirty="0"/>
              <a:t>20</a:t>
            </a:r>
            <a:r>
              <a:rPr lang="zh-CN" altLang="en-US" sz="1800" dirty="0"/>
              <a:t>世纪</a:t>
            </a:r>
            <a:r>
              <a:rPr lang="en-US" altLang="zh-CN" sz="1800" dirty="0"/>
              <a:t>80</a:t>
            </a:r>
            <a:r>
              <a:rPr lang="zh-CN" altLang="en-US" sz="1800" dirty="0"/>
              <a:t>年代初提出的</a:t>
            </a:r>
          </a:p>
          <a:p>
            <a:r>
              <a:rPr lang="zh-CN" altLang="en-US" sz="1800" dirty="0"/>
              <a:t>综合考虑企业内部和外部环境的各种因素，进行系统评价，从而选择最佳经营战略的方法</a:t>
            </a:r>
          </a:p>
          <a:p>
            <a:r>
              <a:rPr lang="zh-CN" altLang="en-US" sz="1800" dirty="0"/>
              <a:t>优势</a:t>
            </a:r>
            <a:r>
              <a:rPr lang="en-US" altLang="zh-CN" sz="1800" dirty="0"/>
              <a:t>(Strengths)</a:t>
            </a:r>
            <a:r>
              <a:rPr lang="zh-CN" altLang="en-US" sz="1800" dirty="0"/>
              <a:t>，劣势</a:t>
            </a:r>
            <a:r>
              <a:rPr lang="en-US" altLang="zh-CN" sz="1800" dirty="0"/>
              <a:t>(Weaknesses)</a:t>
            </a:r>
            <a:r>
              <a:rPr lang="zh-CN" altLang="en-US" sz="1800" dirty="0"/>
              <a:t>，机会</a:t>
            </a:r>
            <a:r>
              <a:rPr lang="en-US" altLang="zh-CN" sz="1800" dirty="0"/>
              <a:t>(Opportunities)</a:t>
            </a:r>
            <a:r>
              <a:rPr lang="zh-CN" altLang="en-US" sz="1800" dirty="0"/>
              <a:t>，威胁</a:t>
            </a:r>
            <a:r>
              <a:rPr lang="en-US" altLang="zh-CN" sz="1800" dirty="0"/>
              <a:t>(Threats)</a:t>
            </a:r>
          </a:p>
          <a:p>
            <a:r>
              <a:rPr lang="zh-CN" altLang="en-US" sz="1800" dirty="0"/>
              <a:t>主要用于战略规划，市场分析定位，个人自我规划和定位分析</a:t>
            </a:r>
          </a:p>
        </p:txBody>
      </p:sp>
      <p:sp>
        <p:nvSpPr>
          <p:cNvPr id="5" name="标题 1">
            <a:extLst>
              <a:ext uri="{FF2B5EF4-FFF2-40B4-BE49-F238E27FC236}">
                <a16:creationId xmlns:a16="http://schemas.microsoft.com/office/drawing/2014/main" id="{56090B5B-9A8B-463B-98E1-B158DB43CFD6}"/>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graphicFrame>
        <p:nvGraphicFramePr>
          <p:cNvPr id="4" name="表格 5">
            <a:extLst>
              <a:ext uri="{FF2B5EF4-FFF2-40B4-BE49-F238E27FC236}">
                <a16:creationId xmlns:a16="http://schemas.microsoft.com/office/drawing/2014/main" id="{736A1D29-D409-3AF3-C6EC-E5C5432746FD}"/>
              </a:ext>
            </a:extLst>
          </p:cNvPr>
          <p:cNvGraphicFramePr>
            <a:graphicFrameLocks noGrp="1"/>
          </p:cNvGraphicFramePr>
          <p:nvPr>
            <p:extLst>
              <p:ext uri="{D42A27DB-BD31-4B8C-83A1-F6EECF244321}">
                <p14:modId xmlns:p14="http://schemas.microsoft.com/office/powerpoint/2010/main" val="2369844801"/>
              </p:ext>
            </p:extLst>
          </p:nvPr>
        </p:nvGraphicFramePr>
        <p:xfrm>
          <a:off x="2296695" y="4242435"/>
          <a:ext cx="8127999" cy="2021840"/>
        </p:xfrm>
        <a:graphic>
          <a:graphicData uri="http://schemas.openxmlformats.org/drawingml/2006/table">
            <a:tbl>
              <a:tblPr firstRow="1" bandRow="1">
                <a:tableStyleId>{5C22544A-7EE6-4342-B048-85BDC9FD1C3A}</a:tableStyleId>
              </a:tblPr>
              <a:tblGrid>
                <a:gridCol w="1782010">
                  <a:extLst>
                    <a:ext uri="{9D8B030D-6E8A-4147-A177-3AD203B41FA5}">
                      <a16:colId xmlns:a16="http://schemas.microsoft.com/office/drawing/2014/main" val="532919775"/>
                    </a:ext>
                  </a:extLst>
                </a:gridCol>
                <a:gridCol w="3212432">
                  <a:extLst>
                    <a:ext uri="{9D8B030D-6E8A-4147-A177-3AD203B41FA5}">
                      <a16:colId xmlns:a16="http://schemas.microsoft.com/office/drawing/2014/main" val="3116367111"/>
                    </a:ext>
                  </a:extLst>
                </a:gridCol>
                <a:gridCol w="3133557">
                  <a:extLst>
                    <a:ext uri="{9D8B030D-6E8A-4147-A177-3AD203B41FA5}">
                      <a16:colId xmlns:a16="http://schemas.microsoft.com/office/drawing/2014/main" val="1315159349"/>
                    </a:ext>
                  </a:extLst>
                </a:gridCol>
              </a:tblGrid>
              <a:tr h="370840">
                <a:tc gridSpan="3">
                  <a:txBody>
                    <a:bodyPr/>
                    <a:lstStyle/>
                    <a:p>
                      <a:pPr algn="ctr"/>
                      <a:r>
                        <a:rPr lang="zh-CN" altLang="en-US" b="1" dirty="0"/>
                        <a:t>对持矩阵</a:t>
                      </a:r>
                    </a:p>
                  </a:txBody>
                  <a:tcPr/>
                </a:tc>
                <a:tc hMerge="1">
                  <a:txBody>
                    <a:bodyPr/>
                    <a:lstStyle/>
                    <a:p>
                      <a:r>
                        <a:rPr lang="zh-CN" altLang="en-US" dirty="0"/>
                        <a:t>对持矩阵</a:t>
                      </a:r>
                    </a:p>
                  </a:txBody>
                  <a:tcPr/>
                </a:tc>
                <a:tc hMerge="1">
                  <a:txBody>
                    <a:bodyPr/>
                    <a:lstStyle/>
                    <a:p>
                      <a:endParaRPr lang="zh-CN" altLang="en-US" dirty="0"/>
                    </a:p>
                  </a:txBody>
                  <a:tcPr/>
                </a:tc>
                <a:extLst>
                  <a:ext uri="{0D108BD9-81ED-4DB2-BD59-A6C34878D82A}">
                    <a16:rowId xmlns:a16="http://schemas.microsoft.com/office/drawing/2014/main" val="948023796"/>
                  </a:ext>
                </a:extLst>
              </a:tr>
              <a:tr h="370840">
                <a:tc>
                  <a:txBody>
                    <a:bodyPr/>
                    <a:lstStyle/>
                    <a:p>
                      <a:endParaRPr lang="zh-CN" altLang="en-US" b="1" dirty="0"/>
                    </a:p>
                  </a:txBody>
                  <a:tcPr/>
                </a:tc>
                <a:tc>
                  <a:txBody>
                    <a:bodyPr/>
                    <a:lstStyle/>
                    <a:p>
                      <a:r>
                        <a:rPr lang="zh-CN" altLang="en-US" b="1" dirty="0"/>
                        <a:t>机会</a:t>
                      </a:r>
                    </a:p>
                  </a:txBody>
                  <a:tcPr/>
                </a:tc>
                <a:tc>
                  <a:txBody>
                    <a:bodyPr/>
                    <a:lstStyle/>
                    <a:p>
                      <a:r>
                        <a:rPr lang="zh-CN" altLang="en-US" b="1" dirty="0"/>
                        <a:t>威胁</a:t>
                      </a:r>
                    </a:p>
                  </a:txBody>
                  <a:tcPr/>
                </a:tc>
                <a:extLst>
                  <a:ext uri="{0D108BD9-81ED-4DB2-BD59-A6C34878D82A}">
                    <a16:rowId xmlns:a16="http://schemas.microsoft.com/office/drawing/2014/main" val="3469844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优势</a:t>
                      </a:r>
                    </a:p>
                  </a:txBody>
                  <a:tcPr/>
                </a:tc>
                <a:tc>
                  <a:txBody>
                    <a:bodyPr/>
                    <a:lstStyle/>
                    <a:p>
                      <a:r>
                        <a:rPr lang="zh-CN" altLang="en-US" b="1" dirty="0">
                          <a:solidFill>
                            <a:srgbClr val="FF0000"/>
                          </a:solidFill>
                        </a:rPr>
                        <a:t>进攻策略</a:t>
                      </a:r>
                      <a:endParaRPr lang="en-US" altLang="zh-CN" b="1" dirty="0">
                        <a:solidFill>
                          <a:srgbClr val="FF0000"/>
                        </a:solidFill>
                      </a:endParaRPr>
                    </a:p>
                    <a:p>
                      <a:r>
                        <a:rPr lang="zh-CN" altLang="en-US" b="1" dirty="0"/>
                        <a:t>最大限度地利用机会</a:t>
                      </a:r>
                    </a:p>
                  </a:txBody>
                  <a:tcPr/>
                </a:tc>
                <a:tc>
                  <a:txBody>
                    <a:bodyPr/>
                    <a:lstStyle/>
                    <a:p>
                      <a:r>
                        <a:rPr lang="zh-CN" altLang="en-US" b="1" dirty="0">
                          <a:solidFill>
                            <a:srgbClr val="FF0000"/>
                          </a:solidFill>
                        </a:rPr>
                        <a:t>调整策略</a:t>
                      </a:r>
                      <a:endParaRPr lang="en-US" altLang="zh-CN" b="1" dirty="0">
                        <a:solidFill>
                          <a:srgbClr val="FF0000"/>
                        </a:solidFill>
                      </a:endParaRPr>
                    </a:p>
                    <a:p>
                      <a:r>
                        <a:rPr lang="zh-CN" altLang="en-US" b="1" dirty="0"/>
                        <a:t>恢复优势</a:t>
                      </a:r>
                    </a:p>
                  </a:txBody>
                  <a:tcPr/>
                </a:tc>
                <a:extLst>
                  <a:ext uri="{0D108BD9-81ED-4DB2-BD59-A6C34878D82A}">
                    <a16:rowId xmlns:a16="http://schemas.microsoft.com/office/drawing/2014/main" val="3401212627"/>
                  </a:ext>
                </a:extLst>
              </a:tr>
              <a:tr h="370840">
                <a:tc>
                  <a:txBody>
                    <a:bodyPr/>
                    <a:lstStyle/>
                    <a:p>
                      <a:r>
                        <a:rPr lang="zh-CN" altLang="en-US" b="1" dirty="0"/>
                        <a:t>劣势</a:t>
                      </a:r>
                    </a:p>
                  </a:txBody>
                  <a:tcPr/>
                </a:tc>
                <a:tc>
                  <a:txBody>
                    <a:bodyPr/>
                    <a:lstStyle/>
                    <a:p>
                      <a:r>
                        <a:rPr lang="zh-CN" altLang="en-US" b="1" dirty="0">
                          <a:solidFill>
                            <a:srgbClr val="FF0000"/>
                          </a:solidFill>
                        </a:rPr>
                        <a:t>防守策略</a:t>
                      </a:r>
                      <a:endParaRPr lang="en-US" altLang="zh-CN" b="1" dirty="0">
                        <a:solidFill>
                          <a:srgbClr val="FF0000"/>
                        </a:solidFill>
                      </a:endParaRPr>
                    </a:p>
                    <a:p>
                      <a:r>
                        <a:rPr lang="zh-CN" altLang="en-US" b="1" dirty="0"/>
                        <a:t>严密监控竞争对手的动向</a:t>
                      </a:r>
                    </a:p>
                  </a:txBody>
                  <a:tcPr/>
                </a:tc>
                <a:tc>
                  <a:txBody>
                    <a:bodyPr/>
                    <a:lstStyle/>
                    <a:p>
                      <a:r>
                        <a:rPr lang="zh-CN" altLang="en-US" b="1" dirty="0">
                          <a:solidFill>
                            <a:srgbClr val="FF0000"/>
                          </a:solidFill>
                        </a:rPr>
                        <a:t>生存策略</a:t>
                      </a:r>
                      <a:endParaRPr lang="en-US" altLang="zh-CN" b="1" dirty="0">
                        <a:solidFill>
                          <a:srgbClr val="FF0000"/>
                        </a:solidFill>
                      </a:endParaRPr>
                    </a:p>
                    <a:p>
                      <a:r>
                        <a:rPr lang="zh-CN" altLang="en-US" b="1" dirty="0"/>
                        <a:t>战略转身</a:t>
                      </a:r>
                    </a:p>
                  </a:txBody>
                  <a:tcPr/>
                </a:tc>
                <a:extLst>
                  <a:ext uri="{0D108BD9-81ED-4DB2-BD59-A6C34878D82A}">
                    <a16:rowId xmlns:a16="http://schemas.microsoft.com/office/drawing/2014/main" val="2272906322"/>
                  </a:ext>
                </a:extLst>
              </a:tr>
            </a:tbl>
          </a:graphicData>
        </a:graphic>
      </p:graphicFrame>
    </p:spTree>
    <p:extLst>
      <p:ext uri="{BB962C8B-B14F-4D97-AF65-F5344CB8AC3E}">
        <p14:creationId xmlns:p14="http://schemas.microsoft.com/office/powerpoint/2010/main" val="162736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505020" y="1061721"/>
            <a:ext cx="8229600" cy="437186"/>
          </a:xfrm>
          <a:prstGeom prst="rect">
            <a:avLst/>
          </a:prstGeom>
        </p:spPr>
        <p:txBody>
          <a:bodyPr/>
          <a:lstStyle/>
          <a:p>
            <a:pPr eaLnBrk="1" hangingPunct="1"/>
            <a:r>
              <a:rPr lang="zh-CN" altLang="en-US" dirty="0"/>
              <a:t>风险识别</a:t>
            </a:r>
            <a:r>
              <a:rPr lang="en-US" altLang="zh-CN" dirty="0"/>
              <a:t>-</a:t>
            </a:r>
            <a:r>
              <a:rPr lang="zh-CN" altLang="en-US" dirty="0"/>
              <a:t>其它方法</a:t>
            </a:r>
          </a:p>
        </p:txBody>
      </p:sp>
      <p:sp>
        <p:nvSpPr>
          <p:cNvPr id="2" name="五边形 1"/>
          <p:cNvSpPr/>
          <p:nvPr/>
        </p:nvSpPr>
        <p:spPr bwMode="auto">
          <a:xfrm>
            <a:off x="1775520" y="1556792"/>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信息收集技术</a:t>
            </a:r>
          </a:p>
        </p:txBody>
      </p:sp>
      <p:sp>
        <p:nvSpPr>
          <p:cNvPr id="3" name="TextBox 2"/>
          <p:cNvSpPr txBox="1"/>
          <p:nvPr/>
        </p:nvSpPr>
        <p:spPr>
          <a:xfrm>
            <a:off x="1943416" y="2063750"/>
            <a:ext cx="1704313" cy="1077218"/>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mj-ea"/>
                <a:ea typeface="+mj-ea"/>
              </a:rPr>
              <a:t>头脑风暴</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德尔菲技术</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访谈</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根本原因分析</a:t>
            </a:r>
            <a:endParaRPr lang="en-US" altLang="zh-CN" sz="1600" b="1" dirty="0">
              <a:solidFill>
                <a:schemeClr val="tx2"/>
              </a:solidFill>
              <a:latin typeface="+mj-ea"/>
              <a:ea typeface="+mj-ea"/>
            </a:endParaRPr>
          </a:p>
        </p:txBody>
      </p:sp>
      <p:sp>
        <p:nvSpPr>
          <p:cNvPr id="10" name="五边形 9"/>
          <p:cNvSpPr/>
          <p:nvPr/>
        </p:nvSpPr>
        <p:spPr bwMode="auto">
          <a:xfrm>
            <a:off x="1775520" y="3284984"/>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图解技术</a:t>
            </a:r>
          </a:p>
        </p:txBody>
      </p:sp>
      <p:sp>
        <p:nvSpPr>
          <p:cNvPr id="11" name="TextBox 10"/>
          <p:cNvSpPr txBox="1"/>
          <p:nvPr/>
        </p:nvSpPr>
        <p:spPr>
          <a:xfrm>
            <a:off x="1943416" y="3791943"/>
            <a:ext cx="2114681"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mj-ea"/>
                <a:ea typeface="+mj-ea"/>
              </a:rPr>
              <a:t>因果图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系统或过程流程图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影响图</a:t>
            </a:r>
            <a:endParaRPr lang="en-US" altLang="zh-CN" sz="1600" b="1" dirty="0">
              <a:solidFill>
                <a:schemeClr val="tx2"/>
              </a:solidFill>
              <a:latin typeface="+mj-ea"/>
              <a:ea typeface="+mj-ea"/>
            </a:endParaRPr>
          </a:p>
        </p:txBody>
      </p:sp>
      <p:sp>
        <p:nvSpPr>
          <p:cNvPr id="12" name="五边形 11"/>
          <p:cNvSpPr/>
          <p:nvPr/>
        </p:nvSpPr>
        <p:spPr bwMode="auto">
          <a:xfrm>
            <a:off x="1775520" y="4697381"/>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文档审查</a:t>
            </a:r>
          </a:p>
        </p:txBody>
      </p:sp>
      <p:sp>
        <p:nvSpPr>
          <p:cNvPr id="13" name="五边形 12"/>
          <p:cNvSpPr/>
          <p:nvPr/>
        </p:nvSpPr>
        <p:spPr bwMode="auto">
          <a:xfrm>
            <a:off x="1775520" y="5301208"/>
            <a:ext cx="2232248"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假设分析</a:t>
            </a:r>
          </a:p>
        </p:txBody>
      </p:sp>
      <p:cxnSp>
        <p:nvCxnSpPr>
          <p:cNvPr id="7" name="直接连接符 6"/>
          <p:cNvCxnSpPr/>
          <p:nvPr/>
        </p:nvCxnSpPr>
        <p:spPr bwMode="auto">
          <a:xfrm>
            <a:off x="4295800" y="1412776"/>
            <a:ext cx="0" cy="475252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 name="圆角矩形 7"/>
          <p:cNvSpPr/>
          <p:nvPr/>
        </p:nvSpPr>
        <p:spPr bwMode="auto">
          <a:xfrm>
            <a:off x="4511824" y="3215879"/>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项目进度延迟风险</a:t>
            </a:r>
          </a:p>
        </p:txBody>
      </p:sp>
      <p:sp>
        <p:nvSpPr>
          <p:cNvPr id="17" name="TextBox 16"/>
          <p:cNvSpPr txBox="1"/>
          <p:nvPr/>
        </p:nvSpPr>
        <p:spPr>
          <a:xfrm>
            <a:off x="4511824" y="2852936"/>
            <a:ext cx="1107996" cy="369332"/>
          </a:xfrm>
          <a:prstGeom prst="rect">
            <a:avLst/>
          </a:prstGeom>
          <a:noFill/>
        </p:spPr>
        <p:txBody>
          <a:bodyPr wrap="none" rtlCol="0">
            <a:spAutoFit/>
          </a:bodyPr>
          <a:lstStyle/>
          <a:p>
            <a:r>
              <a:rPr lang="zh-CN" altLang="en-US" b="1" i="1" u="sng" dirty="0">
                <a:solidFill>
                  <a:srgbClr val="C00000"/>
                </a:solidFill>
                <a:latin typeface="+mj-ea"/>
                <a:ea typeface="+mj-ea"/>
              </a:rPr>
              <a:t>不确定性</a:t>
            </a:r>
          </a:p>
        </p:txBody>
      </p:sp>
      <p:sp>
        <p:nvSpPr>
          <p:cNvPr id="18" name="TextBox 17"/>
          <p:cNvSpPr txBox="1"/>
          <p:nvPr/>
        </p:nvSpPr>
        <p:spPr>
          <a:xfrm>
            <a:off x="6744073" y="2708920"/>
            <a:ext cx="646331" cy="369332"/>
          </a:xfrm>
          <a:prstGeom prst="rect">
            <a:avLst/>
          </a:prstGeom>
          <a:noFill/>
        </p:spPr>
        <p:txBody>
          <a:bodyPr wrap="none" rtlCol="0">
            <a:spAutoFit/>
          </a:bodyPr>
          <a:lstStyle/>
          <a:p>
            <a:r>
              <a:rPr lang="zh-CN" altLang="en-US" b="1" i="1" u="sng" dirty="0">
                <a:solidFill>
                  <a:srgbClr val="C00000"/>
                </a:solidFill>
                <a:latin typeface="+mj-ea"/>
                <a:ea typeface="+mj-ea"/>
              </a:rPr>
              <a:t>起因</a:t>
            </a:r>
          </a:p>
        </p:txBody>
      </p:sp>
      <p:sp>
        <p:nvSpPr>
          <p:cNvPr id="19" name="TextBox 18"/>
          <p:cNvSpPr txBox="1"/>
          <p:nvPr/>
        </p:nvSpPr>
        <p:spPr>
          <a:xfrm>
            <a:off x="8760297" y="2708920"/>
            <a:ext cx="646331" cy="369332"/>
          </a:xfrm>
          <a:prstGeom prst="rect">
            <a:avLst/>
          </a:prstGeom>
          <a:noFill/>
        </p:spPr>
        <p:txBody>
          <a:bodyPr wrap="none" rtlCol="0">
            <a:spAutoFit/>
          </a:bodyPr>
          <a:lstStyle/>
          <a:p>
            <a:r>
              <a:rPr lang="zh-CN" altLang="en-US" b="1" i="1" u="sng" dirty="0">
                <a:solidFill>
                  <a:srgbClr val="C00000"/>
                </a:solidFill>
                <a:latin typeface="+mj-ea"/>
                <a:ea typeface="+mj-ea"/>
              </a:rPr>
              <a:t>根源</a:t>
            </a:r>
          </a:p>
        </p:txBody>
      </p:sp>
      <p:sp>
        <p:nvSpPr>
          <p:cNvPr id="20" name="圆角矩形 19"/>
          <p:cNvSpPr/>
          <p:nvPr/>
        </p:nvSpPr>
        <p:spPr bwMode="auto">
          <a:xfrm>
            <a:off x="6720137" y="3215879"/>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人员流失</a:t>
            </a:r>
          </a:p>
        </p:txBody>
      </p:sp>
      <p:sp>
        <p:nvSpPr>
          <p:cNvPr id="21" name="圆角矩形 20"/>
          <p:cNvSpPr/>
          <p:nvPr/>
        </p:nvSpPr>
        <p:spPr bwMode="auto">
          <a:xfrm>
            <a:off x="8758555" y="3215879"/>
            <a:ext cx="1513909"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待遇问题</a:t>
            </a:r>
            <a:endParaRPr lang="en-US" altLang="zh-CN" sz="1400" b="1" dirty="0">
              <a:solidFill>
                <a:schemeClr val="tx2"/>
              </a:solidFill>
              <a:latin typeface="+mj-ea"/>
              <a:ea typeface="+mj-ea"/>
            </a:endParaRPr>
          </a:p>
          <a:p>
            <a:pPr fontAlgn="base">
              <a:spcBef>
                <a:spcPct val="0"/>
              </a:spcBef>
              <a:spcAft>
                <a:spcPct val="0"/>
              </a:spcAft>
            </a:pPr>
            <a:r>
              <a:rPr lang="zh-CN" altLang="en-US" sz="1400" b="1" dirty="0">
                <a:solidFill>
                  <a:schemeClr val="tx2"/>
                </a:solidFill>
                <a:latin typeface="+mj-ea"/>
                <a:ea typeface="+mj-ea"/>
              </a:rPr>
              <a:t>个人成长问题</a:t>
            </a:r>
          </a:p>
        </p:txBody>
      </p:sp>
      <p:sp>
        <p:nvSpPr>
          <p:cNvPr id="9" name="右箭头 8"/>
          <p:cNvSpPr/>
          <p:nvPr/>
        </p:nvSpPr>
        <p:spPr bwMode="auto">
          <a:xfrm>
            <a:off x="6096000" y="3356992"/>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23" name="右箭头 22"/>
          <p:cNvSpPr/>
          <p:nvPr/>
        </p:nvSpPr>
        <p:spPr bwMode="auto">
          <a:xfrm>
            <a:off x="8184232" y="3356992"/>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14" name="矩形 13"/>
          <p:cNvSpPr/>
          <p:nvPr/>
        </p:nvSpPr>
        <p:spPr bwMode="auto">
          <a:xfrm rot="1909024">
            <a:off x="9644803" y="3053860"/>
            <a:ext cx="936104" cy="32403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因果图</a:t>
            </a:r>
          </a:p>
        </p:txBody>
      </p:sp>
      <p:sp>
        <p:nvSpPr>
          <p:cNvPr id="25" name="圆角矩形 24"/>
          <p:cNvSpPr/>
          <p:nvPr/>
        </p:nvSpPr>
        <p:spPr bwMode="auto">
          <a:xfrm>
            <a:off x="4511824" y="4258544"/>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项目质量无法保证</a:t>
            </a:r>
          </a:p>
        </p:txBody>
      </p:sp>
      <p:sp>
        <p:nvSpPr>
          <p:cNvPr id="26" name="圆角矩形 25"/>
          <p:cNvSpPr/>
          <p:nvPr/>
        </p:nvSpPr>
        <p:spPr bwMode="auto">
          <a:xfrm>
            <a:off x="6720137" y="4258544"/>
            <a:ext cx="1296144"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研发过程不规范</a:t>
            </a:r>
          </a:p>
        </p:txBody>
      </p:sp>
      <p:sp>
        <p:nvSpPr>
          <p:cNvPr id="27" name="圆角矩形 26"/>
          <p:cNvSpPr/>
          <p:nvPr/>
        </p:nvSpPr>
        <p:spPr bwMode="auto">
          <a:xfrm>
            <a:off x="8758555" y="4258544"/>
            <a:ext cx="1513909" cy="538609"/>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zh-CN" altLang="en-US" sz="1400" b="1" dirty="0">
                <a:solidFill>
                  <a:schemeClr val="tx2"/>
                </a:solidFill>
                <a:latin typeface="+mj-ea"/>
                <a:ea typeface="+mj-ea"/>
              </a:rPr>
              <a:t>评审流程</a:t>
            </a:r>
            <a:endParaRPr lang="en-US" altLang="zh-CN" sz="1400" b="1" dirty="0">
              <a:solidFill>
                <a:schemeClr val="tx2"/>
              </a:solidFill>
              <a:latin typeface="+mj-ea"/>
              <a:ea typeface="+mj-ea"/>
            </a:endParaRPr>
          </a:p>
          <a:p>
            <a:pPr fontAlgn="base">
              <a:spcBef>
                <a:spcPct val="0"/>
              </a:spcBef>
              <a:spcAft>
                <a:spcPct val="0"/>
              </a:spcAft>
            </a:pPr>
            <a:r>
              <a:rPr lang="zh-CN" altLang="en-US" sz="1400" b="1" dirty="0">
                <a:solidFill>
                  <a:schemeClr val="tx2"/>
                </a:solidFill>
                <a:latin typeface="+mj-ea"/>
                <a:ea typeface="+mj-ea"/>
              </a:rPr>
              <a:t>软件生命周期</a:t>
            </a:r>
          </a:p>
        </p:txBody>
      </p:sp>
      <p:sp>
        <p:nvSpPr>
          <p:cNvPr id="28" name="右箭头 27"/>
          <p:cNvSpPr/>
          <p:nvPr/>
        </p:nvSpPr>
        <p:spPr bwMode="auto">
          <a:xfrm>
            <a:off x="6096000" y="4399657"/>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29" name="右箭头 28"/>
          <p:cNvSpPr/>
          <p:nvPr/>
        </p:nvSpPr>
        <p:spPr bwMode="auto">
          <a:xfrm>
            <a:off x="8184232" y="4399657"/>
            <a:ext cx="432048"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b="1" dirty="0">
              <a:solidFill>
                <a:srgbClr val="FFFFCC"/>
              </a:solidFill>
              <a:latin typeface="+mj-ea"/>
              <a:ea typeface="+mj-ea"/>
            </a:endParaRPr>
          </a:p>
        </p:txBody>
      </p:sp>
      <p:sp>
        <p:nvSpPr>
          <p:cNvPr id="30" name="矩形 29"/>
          <p:cNvSpPr/>
          <p:nvPr/>
        </p:nvSpPr>
        <p:spPr bwMode="auto">
          <a:xfrm rot="1909024">
            <a:off x="9644803" y="4131078"/>
            <a:ext cx="936104" cy="32403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b="1" dirty="0">
                <a:solidFill>
                  <a:srgbClr val="FFFFCC"/>
                </a:solidFill>
                <a:latin typeface="+mj-ea"/>
                <a:ea typeface="+mj-ea"/>
              </a:rPr>
              <a:t>流程图</a:t>
            </a:r>
          </a:p>
        </p:txBody>
      </p:sp>
      <p:sp>
        <p:nvSpPr>
          <p:cNvPr id="31" name="矩形 30"/>
          <p:cNvSpPr/>
          <p:nvPr/>
        </p:nvSpPr>
        <p:spPr bwMode="auto">
          <a:xfrm>
            <a:off x="4511826" y="1700808"/>
            <a:ext cx="5760639" cy="792088"/>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内部：核对表</a:t>
            </a:r>
            <a:r>
              <a:rPr lang="en-US" altLang="zh-CN" sz="1400" b="1" dirty="0">
                <a:solidFill>
                  <a:schemeClr val="tx2"/>
                </a:solidFill>
                <a:latin typeface="+mj-ea"/>
                <a:ea typeface="+mj-ea"/>
              </a:rPr>
              <a:t>-&gt;</a:t>
            </a:r>
            <a:r>
              <a:rPr lang="zh-CN" altLang="en-US" sz="1400" b="1" dirty="0">
                <a:solidFill>
                  <a:schemeClr val="tx2"/>
                </a:solidFill>
                <a:latin typeface="+mj-ea"/>
                <a:ea typeface="+mj-ea"/>
              </a:rPr>
              <a:t>头脑风暴，文档审查</a:t>
            </a:r>
            <a:endParaRPr lang="en-US" altLang="zh-CN" sz="14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外部：所有相关方的访谈</a:t>
            </a:r>
            <a:r>
              <a:rPr lang="en-US" altLang="zh-CN" sz="1400" b="1" dirty="0">
                <a:solidFill>
                  <a:schemeClr val="tx2"/>
                </a:solidFill>
                <a:latin typeface="+mj-ea"/>
                <a:ea typeface="+mj-ea"/>
              </a:rPr>
              <a:t>+</a:t>
            </a:r>
            <a:r>
              <a:rPr lang="zh-CN" altLang="en-US" sz="1400" b="1" dirty="0">
                <a:solidFill>
                  <a:schemeClr val="tx2"/>
                </a:solidFill>
                <a:latin typeface="+mj-ea"/>
                <a:ea typeface="+mj-ea"/>
              </a:rPr>
              <a:t>专家判断分析</a:t>
            </a:r>
            <a:endParaRPr lang="en-US" altLang="zh-CN" sz="1400" b="1" dirty="0">
              <a:solidFill>
                <a:schemeClr val="tx2"/>
              </a:solidFill>
              <a:latin typeface="+mj-ea"/>
              <a:ea typeface="+mj-ea"/>
            </a:endParaRPr>
          </a:p>
        </p:txBody>
      </p:sp>
      <p:sp>
        <p:nvSpPr>
          <p:cNvPr id="32" name="矩形 31"/>
          <p:cNvSpPr/>
          <p:nvPr/>
        </p:nvSpPr>
        <p:spPr bwMode="auto">
          <a:xfrm>
            <a:off x="4511826" y="5306142"/>
            <a:ext cx="5760639" cy="571131"/>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400" b="1" dirty="0">
                <a:solidFill>
                  <a:schemeClr val="tx2"/>
                </a:solidFill>
                <a:latin typeface="+mj-ea"/>
                <a:ea typeface="+mj-ea"/>
              </a:rPr>
              <a:t>风险识别必须到根源，后续的风险应对也是由根源展开的</a:t>
            </a:r>
            <a:endParaRPr lang="en-US" altLang="zh-CN" sz="1400" b="1" dirty="0">
              <a:solidFill>
                <a:schemeClr val="tx2"/>
              </a:solidFill>
              <a:latin typeface="+mj-ea"/>
              <a:ea typeface="+mj-ea"/>
            </a:endParaRPr>
          </a:p>
        </p:txBody>
      </p:sp>
      <p:sp>
        <p:nvSpPr>
          <p:cNvPr id="33" name="标题 1">
            <a:extLst>
              <a:ext uri="{FF2B5EF4-FFF2-40B4-BE49-F238E27FC236}">
                <a16:creationId xmlns:a16="http://schemas.microsoft.com/office/drawing/2014/main" id="{BA455958-45E5-46BE-9BCE-7E673B846A5E}"/>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375734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ph idx="1"/>
          </p:nvPr>
        </p:nvSpPr>
        <p:spPr>
          <a:xfrm>
            <a:off x="2082488" y="2330073"/>
            <a:ext cx="5993160" cy="1440160"/>
          </a:xfrm>
        </p:spPr>
        <p:txBody>
          <a:bodyPr/>
          <a:lstStyle/>
          <a:p>
            <a:pPr>
              <a:lnSpc>
                <a:spcPct val="100000"/>
              </a:lnSpc>
              <a:defRPr/>
            </a:pPr>
            <a:r>
              <a:rPr lang="zh-CN" altLang="en-US" sz="1800" dirty="0"/>
              <a:t>基于迭代和里程碑计划的渐进风险识别和量化</a:t>
            </a:r>
            <a:endParaRPr lang="en-US" altLang="zh-CN" sz="1800" dirty="0"/>
          </a:p>
          <a:p>
            <a:pPr>
              <a:lnSpc>
                <a:spcPct val="100000"/>
              </a:lnSpc>
              <a:defRPr/>
            </a:pPr>
            <a:r>
              <a:rPr lang="zh-CN" altLang="en-US" sz="1800" dirty="0"/>
              <a:t>结构化的风险识别方法以避免关键风险遗漏</a:t>
            </a:r>
            <a:endParaRPr lang="en-US" altLang="zh-CN" sz="1800" dirty="0"/>
          </a:p>
          <a:p>
            <a:pPr>
              <a:lnSpc>
                <a:spcPct val="100000"/>
              </a:lnSpc>
              <a:defRPr/>
            </a:pPr>
            <a:r>
              <a:rPr lang="zh-CN" altLang="en-US" sz="1800" dirty="0"/>
              <a:t>不可控风险</a:t>
            </a:r>
            <a:endParaRPr lang="en-US" altLang="zh-CN" sz="1800" dirty="0"/>
          </a:p>
          <a:p>
            <a:pPr>
              <a:lnSpc>
                <a:spcPct val="100000"/>
              </a:lnSpc>
              <a:defRPr/>
            </a:pPr>
            <a:r>
              <a:rPr lang="zh-CN" altLang="en-US" sz="1800" dirty="0"/>
              <a:t>风险概率和小概率事件</a:t>
            </a:r>
          </a:p>
        </p:txBody>
      </p:sp>
      <p:sp>
        <p:nvSpPr>
          <p:cNvPr id="6" name="矩形 5"/>
          <p:cNvSpPr/>
          <p:nvPr/>
        </p:nvSpPr>
        <p:spPr bwMode="auto">
          <a:xfrm>
            <a:off x="1919536" y="1340768"/>
            <a:ext cx="7968176" cy="86409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a:buFont typeface="Wingdings" pitchFamily="2" charset="2"/>
              <a:buChar char="u"/>
            </a:pPr>
            <a:r>
              <a:rPr lang="zh-CN" altLang="en-US" sz="1600" b="1" dirty="0">
                <a:solidFill>
                  <a:schemeClr val="tx2"/>
                </a:solidFill>
                <a:latin typeface="+mj-ea"/>
                <a:ea typeface="+mj-ea"/>
              </a:rPr>
              <a:t>项目失败大都是风险识别和管控上的问题。</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一个项目经理首要的是关键风险识别的能力，其次才是风险缓解和管控的能力。</a:t>
            </a:r>
            <a:endParaRPr lang="en-US" altLang="zh-CN" sz="1600" b="1" dirty="0">
              <a:solidFill>
                <a:schemeClr val="tx2"/>
              </a:solidFill>
              <a:latin typeface="+mj-ea"/>
              <a:ea typeface="+mj-e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97" y="3553071"/>
            <a:ext cx="2752725"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a:extLst>
              <a:ext uri="{FF2B5EF4-FFF2-40B4-BE49-F238E27FC236}">
                <a16:creationId xmlns:a16="http://schemas.microsoft.com/office/drawing/2014/main" id="{DCCC892A-DC1B-4B6E-B728-1B5D5B7CACC3}"/>
              </a:ext>
            </a:extLst>
          </p:cNvPr>
          <p:cNvSpPr txBox="1">
            <a:spLocks/>
          </p:cNvSpPr>
          <p:nvPr/>
        </p:nvSpPr>
        <p:spPr>
          <a:xfrm>
            <a:off x="1997075" y="593725"/>
            <a:ext cx="8229600" cy="357188"/>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17.3 </a:t>
            </a:r>
            <a:r>
              <a:rPr lang="zh-CN" altLang="en-US" dirty="0"/>
              <a:t>风险识别</a:t>
            </a:r>
          </a:p>
        </p:txBody>
      </p:sp>
    </p:spTree>
    <p:extLst>
      <p:ext uri="{BB962C8B-B14F-4D97-AF65-F5344CB8AC3E}">
        <p14:creationId xmlns:p14="http://schemas.microsoft.com/office/powerpoint/2010/main" val="70097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638E676-DF81-4545-9DEE-37C7BD2A788E}"/>
              </a:ext>
            </a:extLst>
          </p:cNvPr>
          <p:cNvSpPr>
            <a:spLocks noGrp="1"/>
          </p:cNvSpPr>
          <p:nvPr>
            <p:ph idx="1"/>
          </p:nvPr>
        </p:nvSpPr>
        <p:spPr/>
        <p:txBody>
          <a:bodyPr/>
          <a:lstStyle/>
          <a:p>
            <a:r>
              <a:rPr lang="zh-CN" altLang="en-US" dirty="0"/>
              <a:t>识别风险的输出</a:t>
            </a:r>
            <a:endParaRPr lang="en-US" altLang="zh-CN" dirty="0"/>
          </a:p>
          <a:p>
            <a:pPr lvl="1"/>
            <a:r>
              <a:rPr lang="zh-CN" altLang="en-US" dirty="0"/>
              <a:t>风险登记册，</a:t>
            </a:r>
            <a:r>
              <a:rPr lang="zh-CN" altLang="en-US" b="0" dirty="0"/>
              <a:t>记录已识别单个项目风险的详细信息</a:t>
            </a:r>
            <a:endParaRPr lang="en-US" altLang="zh-CN" b="0" dirty="0"/>
          </a:p>
          <a:p>
            <a:pPr lvl="2"/>
            <a:r>
              <a:rPr lang="zh-CN" altLang="en-US" b="0" dirty="0"/>
              <a:t>已识别风险的清单、潜在风险责任人、潜在风险应对措施清单</a:t>
            </a:r>
            <a:endParaRPr lang="en-US" altLang="zh-CN" b="0" dirty="0"/>
          </a:p>
          <a:p>
            <a:pPr lvl="1"/>
            <a:r>
              <a:rPr lang="zh-CN" altLang="en-US" dirty="0"/>
              <a:t>风险报告，</a:t>
            </a:r>
            <a:r>
              <a:rPr lang="zh-CN" altLang="en-US" b="0" dirty="0"/>
              <a:t>提供关于整体项目风险的信息，以及关于已识别的单个项目风险的概述信息</a:t>
            </a:r>
            <a:endParaRPr lang="en-US" altLang="zh-CN" b="0" dirty="0"/>
          </a:p>
          <a:p>
            <a:pPr lvl="2"/>
            <a:r>
              <a:rPr lang="zh-CN" altLang="en-US" b="0" dirty="0"/>
              <a:t>整体项目风险的来源</a:t>
            </a:r>
            <a:endParaRPr lang="en-US" altLang="zh-CN" b="0" dirty="0"/>
          </a:p>
          <a:p>
            <a:pPr lvl="2"/>
            <a:r>
              <a:rPr lang="zh-CN" altLang="en-US" b="0" dirty="0"/>
              <a:t>关于已识别单个项目风险的概述信息</a:t>
            </a:r>
            <a:endParaRPr lang="en-US" altLang="zh-CN" b="0" dirty="0"/>
          </a:p>
          <a:p>
            <a:pPr lvl="1"/>
            <a:r>
              <a:rPr lang="zh-CN" altLang="en-US" dirty="0"/>
              <a:t>项目文件更新</a:t>
            </a:r>
          </a:p>
          <a:p>
            <a:pPr lvl="2"/>
            <a:r>
              <a:rPr lang="zh-CN" altLang="en-US" dirty="0"/>
              <a:t>假设日志  </a:t>
            </a:r>
            <a:r>
              <a:rPr lang="zh-CN" altLang="en-US" b="0" dirty="0"/>
              <a:t>可能做出新的假设，识别出新的制约因素，或者现有的假设条件或制约因素可能被重新审查和修改。应该更新假设日志，记录这些新信息。</a:t>
            </a:r>
            <a:endParaRPr lang="en-US" altLang="zh-CN" dirty="0"/>
          </a:p>
          <a:p>
            <a:pPr lvl="2"/>
            <a:r>
              <a:rPr lang="zh-CN" altLang="en-US" sz="1800" b="1" i="0" u="none" strike="noStrike" baseline="0" dirty="0">
                <a:latin typeface="SourceHanSansSC-Bold"/>
              </a:rPr>
              <a:t>问题日志  </a:t>
            </a:r>
            <a:r>
              <a:rPr lang="zh-CN" altLang="en-US" sz="1800" b="0" i="0" u="none" strike="noStrike" baseline="0" dirty="0">
                <a:latin typeface="SourceHanSansSC-Bold"/>
              </a:rPr>
              <a:t>记录发现的新问题或当前问题的变化</a:t>
            </a:r>
            <a:endParaRPr lang="en-US" altLang="zh-CN" b="0" dirty="0"/>
          </a:p>
          <a:p>
            <a:pPr lvl="2"/>
            <a:r>
              <a:rPr lang="zh-CN" altLang="en-US" dirty="0"/>
              <a:t>经验教训登记册  </a:t>
            </a:r>
            <a:r>
              <a:rPr lang="zh-CN" altLang="en-US" b="0" dirty="0"/>
              <a:t>记录关于行之有效的风险识别技术的信息</a:t>
            </a:r>
          </a:p>
          <a:p>
            <a:pPr lvl="1"/>
            <a:endParaRPr lang="zh-CN" altLang="en-US" dirty="0"/>
          </a:p>
          <a:p>
            <a:endParaRPr lang="zh-CN" altLang="en-US" dirty="0"/>
          </a:p>
        </p:txBody>
      </p:sp>
      <p:sp>
        <p:nvSpPr>
          <p:cNvPr id="4" name="标题 1">
            <a:extLst>
              <a:ext uri="{FF2B5EF4-FFF2-40B4-BE49-F238E27FC236}">
                <a16:creationId xmlns:a16="http://schemas.microsoft.com/office/drawing/2014/main" id="{1557A8ED-0096-4252-8E49-1549EE48E535}"/>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17.3 </a:t>
            </a:r>
            <a:r>
              <a:rPr lang="zh-CN" altLang="en-US" dirty="0"/>
              <a:t>风险识别</a:t>
            </a:r>
          </a:p>
        </p:txBody>
      </p:sp>
    </p:spTree>
    <p:extLst>
      <p:ext uri="{BB962C8B-B14F-4D97-AF65-F5344CB8AC3E}">
        <p14:creationId xmlns:p14="http://schemas.microsoft.com/office/powerpoint/2010/main" val="256233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1984414" y="764293"/>
            <a:ext cx="8229600" cy="437186"/>
          </a:xfrm>
          <a:prstGeom prst="rect">
            <a:avLst/>
          </a:prstGeom>
        </p:spPr>
        <p:txBody>
          <a:bodyPr/>
          <a:lstStyle/>
          <a:p>
            <a:r>
              <a:rPr lang="zh-CN" altLang="en-US" dirty="0"/>
              <a:t>风险识别输出</a:t>
            </a:r>
            <a:r>
              <a:rPr lang="en-US" altLang="zh-CN" dirty="0"/>
              <a:t>-</a:t>
            </a:r>
            <a:r>
              <a:rPr lang="zh-CN" altLang="en-US" dirty="0"/>
              <a:t>风险登记册</a:t>
            </a:r>
          </a:p>
        </p:txBody>
      </p:sp>
      <p:graphicFrame>
        <p:nvGraphicFramePr>
          <p:cNvPr id="5" name="Group 4"/>
          <p:cNvGraphicFramePr>
            <a:graphicFrameLocks noGrp="1"/>
          </p:cNvGraphicFramePr>
          <p:nvPr>
            <p:extLst>
              <p:ext uri="{D42A27DB-BD31-4B8C-83A1-F6EECF244321}">
                <p14:modId xmlns:p14="http://schemas.microsoft.com/office/powerpoint/2010/main" val="2465922828"/>
              </p:ext>
            </p:extLst>
          </p:nvPr>
        </p:nvGraphicFramePr>
        <p:xfrm>
          <a:off x="1347537" y="2619064"/>
          <a:ext cx="9829801" cy="3467892"/>
        </p:xfrm>
        <a:graphic>
          <a:graphicData uri="http://schemas.openxmlformats.org/drawingml/2006/table">
            <a:tbl>
              <a:tblPr/>
              <a:tblGrid>
                <a:gridCol w="2476885">
                  <a:extLst>
                    <a:ext uri="{9D8B030D-6E8A-4147-A177-3AD203B41FA5}">
                      <a16:colId xmlns:a16="http://schemas.microsoft.com/office/drawing/2014/main" val="20000"/>
                    </a:ext>
                  </a:extLst>
                </a:gridCol>
                <a:gridCol w="1024763">
                  <a:extLst>
                    <a:ext uri="{9D8B030D-6E8A-4147-A177-3AD203B41FA5}">
                      <a16:colId xmlns:a16="http://schemas.microsoft.com/office/drawing/2014/main" val="20001"/>
                    </a:ext>
                  </a:extLst>
                </a:gridCol>
                <a:gridCol w="2201320">
                  <a:extLst>
                    <a:ext uri="{9D8B030D-6E8A-4147-A177-3AD203B41FA5}">
                      <a16:colId xmlns:a16="http://schemas.microsoft.com/office/drawing/2014/main" val="20002"/>
                    </a:ext>
                  </a:extLst>
                </a:gridCol>
                <a:gridCol w="1094874">
                  <a:extLst>
                    <a:ext uri="{9D8B030D-6E8A-4147-A177-3AD203B41FA5}">
                      <a16:colId xmlns:a16="http://schemas.microsoft.com/office/drawing/2014/main" val="20003"/>
                    </a:ext>
                  </a:extLst>
                </a:gridCol>
                <a:gridCol w="878305">
                  <a:extLst>
                    <a:ext uri="{9D8B030D-6E8A-4147-A177-3AD203B41FA5}">
                      <a16:colId xmlns:a16="http://schemas.microsoft.com/office/drawing/2014/main" val="20004"/>
                    </a:ext>
                  </a:extLst>
                </a:gridCol>
                <a:gridCol w="1010653">
                  <a:extLst>
                    <a:ext uri="{9D8B030D-6E8A-4147-A177-3AD203B41FA5}">
                      <a16:colId xmlns:a16="http://schemas.microsoft.com/office/drawing/2014/main" val="20005"/>
                    </a:ext>
                  </a:extLst>
                </a:gridCol>
                <a:gridCol w="1143001">
                  <a:extLst>
                    <a:ext uri="{9D8B030D-6E8A-4147-A177-3AD203B41FA5}">
                      <a16:colId xmlns:a16="http://schemas.microsoft.com/office/drawing/2014/main" val="20006"/>
                    </a:ext>
                  </a:extLst>
                </a:gridCol>
              </a:tblGrid>
              <a:tr h="4287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风险名称</a:t>
                      </a: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风险类别</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发生根源</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发生概率</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负责人</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提出时间</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潜在应对</a:t>
                      </a: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5322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人员流失可能导致整个项目进度延期</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管理类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人员待遇问题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中</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张三</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78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需求变更可能导致大量的返工影响项目质量和进度</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BA</a:t>
                      </a:r>
                      <a:r>
                        <a:rPr kumimoji="1" lang="zh-CN" altLang="en-US" sz="1600" b="1" i="0" u="none" strike="noStrike" cap="none" normalizeH="0" baseline="0" dirty="0">
                          <a:ln>
                            <a:noFill/>
                          </a:ln>
                          <a:solidFill>
                            <a:schemeClr val="tx1"/>
                          </a:solidFill>
                          <a:effectLst/>
                          <a:latin typeface="+mj-ea"/>
                          <a:ea typeface="+mj-ea"/>
                        </a:rPr>
                        <a:t>对业务理解不充分</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李四</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项目最终交付质量可能存在不合格的风险</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1.</a:t>
                      </a:r>
                      <a:r>
                        <a:rPr kumimoji="1" lang="zh-CN" altLang="en-US" sz="1600" b="1" i="0" u="none" strike="noStrike" cap="none" normalizeH="0" baseline="0" dirty="0">
                          <a:ln>
                            <a:noFill/>
                          </a:ln>
                          <a:solidFill>
                            <a:schemeClr val="tx1"/>
                          </a:solidFill>
                          <a:effectLst/>
                          <a:latin typeface="+mj-ea"/>
                          <a:ea typeface="+mj-ea"/>
                        </a:rPr>
                        <a:t>没有专职测试</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2.</a:t>
                      </a:r>
                      <a:r>
                        <a:rPr kumimoji="1" lang="zh-CN" altLang="en-US" sz="1600" b="1" i="0" u="none" strike="noStrike" cap="none" normalizeH="0" baseline="0" dirty="0">
                          <a:ln>
                            <a:noFill/>
                          </a:ln>
                          <a:solidFill>
                            <a:schemeClr val="tx1"/>
                          </a:solidFill>
                          <a:effectLst/>
                          <a:latin typeface="+mj-ea"/>
                          <a:ea typeface="+mj-ea"/>
                        </a:rPr>
                        <a:t>人员技能水平问题</a:t>
                      </a:r>
                      <a:endParaRPr kumimoji="1" lang="en-US" altLang="zh-CN" sz="1600" b="1" i="0" u="none" strike="noStrike" cap="none" normalizeH="0" baseline="0" dirty="0">
                        <a:ln>
                          <a:noFill/>
                        </a:ln>
                        <a:solidFill>
                          <a:schemeClr val="tx1"/>
                        </a:solidFill>
                        <a:effectLst/>
                        <a:latin typeface="+mj-ea"/>
                        <a:ea typeface="+mj-ea"/>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3.</a:t>
                      </a:r>
                      <a:r>
                        <a:rPr kumimoji="1" lang="zh-CN" altLang="en-US" sz="1600" b="1" i="0" u="none" strike="noStrike" cap="none" normalizeH="0" baseline="0" dirty="0">
                          <a:ln>
                            <a:noFill/>
                          </a:ln>
                          <a:solidFill>
                            <a:schemeClr val="tx1"/>
                          </a:solidFill>
                          <a:effectLst/>
                          <a:latin typeface="+mj-ea"/>
                          <a:ea typeface="+mj-ea"/>
                        </a:rPr>
                        <a:t>使用了新框架技术</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中</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张三</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2022.4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134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 name="内容占位符 2"/>
          <p:cNvSpPr>
            <a:spLocks noGrp="1"/>
          </p:cNvSpPr>
          <p:nvPr>
            <p:ph idx="1"/>
          </p:nvPr>
        </p:nvSpPr>
        <p:spPr>
          <a:xfrm>
            <a:off x="1981200" y="1214439"/>
            <a:ext cx="8153400" cy="1062037"/>
          </a:xfrm>
        </p:spPr>
        <p:txBody>
          <a:bodyPr/>
          <a:lstStyle/>
          <a:p>
            <a:pPr>
              <a:lnSpc>
                <a:spcPct val="100000"/>
              </a:lnSpc>
              <a:defRPr/>
            </a:pPr>
            <a:r>
              <a:rPr lang="zh-CN" altLang="en-US" sz="1800" dirty="0"/>
              <a:t>风险识别阶段形成风险登记册的最初记录</a:t>
            </a:r>
            <a:endParaRPr lang="en-US" altLang="zh-CN" sz="1800" dirty="0"/>
          </a:p>
          <a:p>
            <a:pPr>
              <a:lnSpc>
                <a:spcPct val="100000"/>
              </a:lnSpc>
              <a:defRPr/>
            </a:pPr>
            <a:r>
              <a:rPr lang="zh-CN" altLang="en-US" sz="1800" dirty="0"/>
              <a:t>风险登记册观察整个风险生命周期和管理过程</a:t>
            </a:r>
            <a:endParaRPr lang="en-US" altLang="zh-CN" sz="1800" dirty="0"/>
          </a:p>
          <a:p>
            <a:pPr>
              <a:lnSpc>
                <a:spcPct val="100000"/>
              </a:lnSpc>
              <a:defRPr/>
            </a:pPr>
            <a:r>
              <a:rPr lang="zh-CN" altLang="en-US" sz="1800" dirty="0"/>
              <a:t>潜在应对将作为后续风险应对计划的输入，不是详细应对计划</a:t>
            </a:r>
          </a:p>
        </p:txBody>
      </p:sp>
    </p:spTree>
    <p:extLst>
      <p:ext uri="{BB962C8B-B14F-4D97-AF65-F5344CB8AC3E}">
        <p14:creationId xmlns:p14="http://schemas.microsoft.com/office/powerpoint/2010/main" val="141054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1D16EF14-5B59-4471-998B-15633D617318}"/>
              </a:ext>
            </a:extLst>
          </p:cNvPr>
          <p:cNvSpPr>
            <a:spLocks noGrp="1"/>
          </p:cNvSpPr>
          <p:nvPr>
            <p:ph idx="1"/>
          </p:nvPr>
        </p:nvSpPr>
        <p:spPr>
          <a:xfrm>
            <a:off x="990600" y="1017067"/>
            <a:ext cx="9994900" cy="5133791"/>
          </a:xfrm>
        </p:spPr>
        <p:txBody>
          <a:bodyPr/>
          <a:lstStyle/>
          <a:p>
            <a:pPr>
              <a:lnSpc>
                <a:spcPct val="130000"/>
              </a:lnSpc>
            </a:pPr>
            <a:r>
              <a:rPr lang="zh-CN" altLang="en-US" sz="2000" dirty="0">
                <a:latin typeface="微软雅黑" panose="020B0503020204020204" pitchFamily="34" charset="-122"/>
              </a:rPr>
              <a:t>定性风险分析是评估并综合分析风险的发送概率和影响，并对风险进行优先排序，从而为后续分析或行动提供基础的过程</a:t>
            </a:r>
            <a:endParaRPr lang="en-US" altLang="zh-CN" sz="20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主要作用是，重点关注高优先级的风险来提升项目绩效</a:t>
            </a:r>
            <a:endParaRPr lang="en-US" altLang="zh-CN" sz="1800" dirty="0">
              <a:latin typeface="微软雅黑" panose="020B0503020204020204" pitchFamily="34" charset="-122"/>
            </a:endParaRPr>
          </a:p>
        </p:txBody>
      </p:sp>
      <p:sp>
        <p:nvSpPr>
          <p:cNvPr id="15362" name="标题 1"/>
          <p:cNvSpPr>
            <a:spLocks noGrp="1"/>
          </p:cNvSpPr>
          <p:nvPr>
            <p:ph type="title"/>
          </p:nvPr>
        </p:nvSpPr>
        <p:spPr>
          <a:xfrm>
            <a:off x="2033778" y="618119"/>
            <a:ext cx="8229600" cy="437186"/>
          </a:xfrm>
          <a:prstGeom prst="rect">
            <a:avLst/>
          </a:prstGeom>
        </p:spPr>
        <p:txBody>
          <a:bodyPr/>
          <a:lstStyle/>
          <a:p>
            <a:pPr eaLnBrk="1" hangingPunct="1"/>
            <a:r>
              <a:rPr lang="en-US" altLang="zh-CN" dirty="0">
                <a:latin typeface="微软雅黑" panose="020B0503020204020204" pitchFamily="34" charset="-122"/>
              </a:rPr>
              <a:t>17.4 </a:t>
            </a:r>
            <a:r>
              <a:rPr lang="zh-CN" altLang="en-US" dirty="0">
                <a:latin typeface="微软雅黑" panose="020B0503020204020204" pitchFamily="34" charset="-122"/>
              </a:rPr>
              <a:t>实施定性风险分析</a:t>
            </a:r>
          </a:p>
        </p:txBody>
      </p:sp>
      <p:sp>
        <p:nvSpPr>
          <p:cNvPr id="15363" name="AutoShape 5"/>
          <p:cNvSpPr>
            <a:spLocks noChangeArrowheads="1"/>
          </p:cNvSpPr>
          <p:nvPr/>
        </p:nvSpPr>
        <p:spPr bwMode="auto">
          <a:xfrm>
            <a:off x="2002791" y="343376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40610"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40610"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solidFill>
                  <a:schemeClr val="tx2"/>
                </a:solidFill>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88535"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88535"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风险数据质量评估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风险概率和影响评估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其他风险参数评估</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风险分类</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数据表现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概率和影响矩阵</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层级型</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会议</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236460" y="253427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36460" y="2966072"/>
            <a:ext cx="2305050" cy="34956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3071557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2E53D54-DFAA-4E8B-81CA-B9200A6C23BD}"/>
              </a:ext>
            </a:extLst>
          </p:cNvPr>
          <p:cNvSpPr>
            <a:spLocks noGrp="1"/>
          </p:cNvSpPr>
          <p:nvPr>
            <p:ph idx="1"/>
          </p:nvPr>
        </p:nvSpPr>
        <p:spPr/>
        <p:txBody>
          <a:bodyPr/>
          <a:lstStyle/>
          <a:p>
            <a:r>
              <a:rPr lang="zh-CN" altLang="en-US" dirty="0"/>
              <a:t>实施定性风险分析的输入</a:t>
            </a:r>
            <a:endParaRPr lang="en-US" altLang="zh-CN" dirty="0"/>
          </a:p>
          <a:p>
            <a:pPr lvl="1"/>
            <a:r>
              <a:rPr lang="zh-CN" altLang="en-US" dirty="0"/>
              <a:t>风险管理计划</a:t>
            </a:r>
            <a:endParaRPr lang="en-US" altLang="zh-CN" dirty="0"/>
          </a:p>
          <a:p>
            <a:pPr lvl="2"/>
            <a:r>
              <a:rPr lang="zh-CN" altLang="en-US" b="0" dirty="0"/>
              <a:t>本过程中需要特别注意的是风险管理的角色和职责、预算和进度活动安排，以及风险类别（通常在风险分解结构中定义）、概率和影响定义、概率和影响矩阵和相关方的风险临界值</a:t>
            </a:r>
            <a:endParaRPr lang="en-US" altLang="zh-CN" b="0" dirty="0"/>
          </a:p>
          <a:p>
            <a:pPr lvl="1"/>
            <a:r>
              <a:rPr lang="zh-CN" altLang="en-US" dirty="0"/>
              <a:t>项目文件</a:t>
            </a:r>
            <a:endParaRPr lang="en-US" altLang="zh-CN" dirty="0"/>
          </a:p>
          <a:p>
            <a:pPr lvl="2"/>
            <a:r>
              <a:rPr lang="zh-CN" altLang="en-US" dirty="0"/>
              <a:t>假设日志、风险登记册、相关方登记册</a:t>
            </a:r>
            <a:endParaRPr lang="en-US" altLang="zh-CN" dirty="0"/>
          </a:p>
          <a:p>
            <a:pPr lvl="1"/>
            <a:r>
              <a:rPr lang="zh-CN" altLang="en-US" dirty="0"/>
              <a:t>事业环境因素</a:t>
            </a:r>
            <a:endParaRPr lang="en-US" altLang="zh-CN" dirty="0"/>
          </a:p>
          <a:p>
            <a:pPr lvl="2"/>
            <a:r>
              <a:rPr lang="zh-CN" altLang="en-US" dirty="0"/>
              <a:t>类似项目的行业研究资料</a:t>
            </a:r>
            <a:endParaRPr lang="en-US" altLang="zh-CN" dirty="0"/>
          </a:p>
          <a:p>
            <a:pPr lvl="2"/>
            <a:r>
              <a:rPr lang="zh-CN" altLang="en-US" dirty="0"/>
              <a:t>已发布的材料，包括商业风险数据库或核对单</a:t>
            </a:r>
          </a:p>
          <a:p>
            <a:pPr lvl="1"/>
            <a:r>
              <a:rPr lang="zh-CN" altLang="en-US" dirty="0"/>
              <a:t>组织过程资产</a:t>
            </a:r>
            <a:endParaRPr lang="en-US" altLang="zh-CN" dirty="0"/>
          </a:p>
          <a:p>
            <a:pPr lvl="2"/>
            <a:r>
              <a:rPr lang="zh-CN" altLang="en-US" dirty="0"/>
              <a:t>已完成的类似项目的信息</a:t>
            </a:r>
          </a:p>
          <a:p>
            <a:pPr lvl="1"/>
            <a:endParaRPr lang="zh-CN" altLang="en-US" dirty="0"/>
          </a:p>
          <a:p>
            <a:endParaRPr lang="zh-CN" altLang="en-US" dirty="0"/>
          </a:p>
        </p:txBody>
      </p:sp>
      <p:sp>
        <p:nvSpPr>
          <p:cNvPr id="3" name="标题 2">
            <a:extLst>
              <a:ext uri="{FF2B5EF4-FFF2-40B4-BE49-F238E27FC236}">
                <a16:creationId xmlns:a16="http://schemas.microsoft.com/office/drawing/2014/main" id="{3630D4FA-FBFD-43DA-B589-6BE9F8C813DA}"/>
              </a:ext>
            </a:extLst>
          </p:cNvPr>
          <p:cNvSpPr>
            <a:spLocks noGrp="1"/>
          </p:cNvSpPr>
          <p:nvPr>
            <p:ph type="title"/>
          </p:nvPr>
        </p:nvSpPr>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331159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风险分类</a:t>
            </a:r>
          </a:p>
        </p:txBody>
      </p:sp>
      <p:sp>
        <p:nvSpPr>
          <p:cNvPr id="5" name="矩形 4"/>
          <p:cNvSpPr/>
          <p:nvPr/>
        </p:nvSpPr>
        <p:spPr bwMode="auto">
          <a:xfrm>
            <a:off x="2136704" y="1133590"/>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a:t>
            </a:r>
            <a:r>
              <a:rPr lang="en-US" altLang="zh-CN" sz="1600" b="1" dirty="0">
                <a:solidFill>
                  <a:schemeClr val="tx2"/>
                </a:solidFill>
                <a:latin typeface="+mj-ea"/>
                <a:ea typeface="+mj-ea"/>
              </a:rPr>
              <a:t>WBS</a:t>
            </a:r>
            <a:r>
              <a:rPr lang="zh-CN" altLang="en-US" sz="1600" b="1" dirty="0">
                <a:solidFill>
                  <a:schemeClr val="tx2"/>
                </a:solidFill>
                <a:latin typeface="+mj-ea"/>
                <a:ea typeface="+mj-ea"/>
              </a:rPr>
              <a:t>或</a:t>
            </a:r>
            <a:r>
              <a:rPr lang="en-US" altLang="zh-CN" sz="1600" b="1" dirty="0">
                <a:solidFill>
                  <a:schemeClr val="tx2"/>
                </a:solidFill>
                <a:latin typeface="+mj-ea"/>
                <a:ea typeface="+mj-ea"/>
              </a:rPr>
              <a:t>RBS</a:t>
            </a:r>
            <a:r>
              <a:rPr lang="zh-CN" altLang="en-US" sz="1600" b="1" dirty="0">
                <a:solidFill>
                  <a:schemeClr val="tx2"/>
                </a:solidFill>
                <a:latin typeface="+mj-ea"/>
                <a:ea typeface="+mj-ea"/>
              </a:rPr>
              <a:t>风险分解结构对风险进行分类</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根据项目生命周期过程或项目阶段对风险进行分类</a:t>
            </a:r>
            <a:endParaRPr lang="en-US" altLang="zh-CN" sz="1600" b="1" dirty="0">
              <a:solidFill>
                <a:schemeClr val="tx2"/>
              </a:solidFill>
              <a:latin typeface="+mj-ea"/>
              <a:ea typeface="+mj-ea"/>
            </a:endParaRPr>
          </a:p>
        </p:txBody>
      </p:sp>
      <p:pic>
        <p:nvPicPr>
          <p:cNvPr id="665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704" y="1942448"/>
            <a:ext cx="7848872" cy="456841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916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B0F23B7-9B18-407D-B17D-4AE0B69DA266}"/>
              </a:ext>
            </a:extLst>
          </p:cNvPr>
          <p:cNvSpPr>
            <a:spLocks noGrp="1"/>
          </p:cNvSpPr>
          <p:nvPr>
            <p:ph idx="1"/>
          </p:nvPr>
        </p:nvSpPr>
        <p:spPr>
          <a:xfrm>
            <a:off x="914400" y="1130485"/>
            <a:ext cx="10541000" cy="5133791"/>
          </a:xfrm>
        </p:spPr>
        <p:txBody>
          <a:bodyPr/>
          <a:lstStyle/>
          <a:p>
            <a:pPr>
              <a:lnSpc>
                <a:spcPct val="120000"/>
              </a:lnSpc>
            </a:pPr>
            <a:r>
              <a:rPr lang="zh-CN" altLang="en-US" dirty="0"/>
              <a:t>实施定性风险分析的工具与技术</a:t>
            </a:r>
            <a:endParaRPr lang="en-US" altLang="zh-CN" dirty="0"/>
          </a:p>
          <a:p>
            <a:pPr lvl="1">
              <a:lnSpc>
                <a:spcPct val="120000"/>
              </a:lnSpc>
            </a:pPr>
            <a:r>
              <a:rPr lang="zh-CN" altLang="en-US" dirty="0"/>
              <a:t>专家判断，</a:t>
            </a:r>
            <a:r>
              <a:rPr lang="zh-CN" altLang="en-US" b="0" dirty="0"/>
              <a:t>专家判断往往可通过引导式风险研讨会或访谈获取</a:t>
            </a:r>
            <a:endParaRPr lang="en-US" altLang="zh-CN" b="0" dirty="0"/>
          </a:p>
          <a:p>
            <a:pPr lvl="1">
              <a:lnSpc>
                <a:spcPct val="120000"/>
              </a:lnSpc>
            </a:pPr>
            <a:r>
              <a:rPr lang="zh-CN" altLang="en-US" dirty="0"/>
              <a:t>数据收集，</a:t>
            </a:r>
            <a:r>
              <a:rPr lang="zh-CN" altLang="en-US" b="0" dirty="0"/>
              <a:t>主要是访谈</a:t>
            </a:r>
            <a:endParaRPr lang="en-US" altLang="zh-CN" b="0" dirty="0"/>
          </a:p>
          <a:p>
            <a:pPr lvl="1">
              <a:lnSpc>
                <a:spcPct val="120000"/>
              </a:lnSpc>
            </a:pPr>
            <a:r>
              <a:rPr lang="zh-CN" altLang="en-US" dirty="0"/>
              <a:t>数据分析，</a:t>
            </a:r>
            <a:r>
              <a:rPr lang="zh-CN" altLang="en-US" b="0" dirty="0"/>
              <a:t>包括：</a:t>
            </a:r>
            <a:endParaRPr lang="en-US" altLang="zh-CN" b="0" dirty="0"/>
          </a:p>
          <a:p>
            <a:pPr lvl="2">
              <a:lnSpc>
                <a:spcPct val="120000"/>
              </a:lnSpc>
            </a:pPr>
            <a:r>
              <a:rPr lang="zh-CN" altLang="en-US" dirty="0"/>
              <a:t>风险数据质量评估</a:t>
            </a:r>
            <a:r>
              <a:rPr lang="zh-CN" altLang="en-US" b="0" dirty="0"/>
              <a:t>，评价关于单个项目风险的数据的准确性和可靠性</a:t>
            </a:r>
            <a:endParaRPr lang="en-US" altLang="zh-CN" b="0" dirty="0"/>
          </a:p>
          <a:p>
            <a:pPr lvl="2">
              <a:lnSpc>
                <a:spcPct val="120000"/>
              </a:lnSpc>
            </a:pPr>
            <a:r>
              <a:rPr lang="zh-CN" altLang="en-US" dirty="0"/>
              <a:t>风险概率和影响评估</a:t>
            </a:r>
            <a:r>
              <a:rPr lang="en-US" altLang="zh-CN" b="0" dirty="0"/>
              <a:t>, </a:t>
            </a:r>
            <a:r>
              <a:rPr lang="zh-CN" altLang="en-US" b="0" dirty="0"/>
              <a:t>对已识别的单个项目风险进行概率和影响评估</a:t>
            </a:r>
            <a:endParaRPr lang="en-US" altLang="zh-CN" b="0" dirty="0"/>
          </a:p>
          <a:p>
            <a:pPr lvl="2">
              <a:lnSpc>
                <a:spcPct val="120000"/>
              </a:lnSpc>
            </a:pPr>
            <a:r>
              <a:rPr lang="zh-CN" altLang="en-US" dirty="0"/>
              <a:t>其他风险参数评估</a:t>
            </a:r>
            <a:r>
              <a:rPr lang="en-US" altLang="zh-CN" b="0" dirty="0"/>
              <a:t>, </a:t>
            </a:r>
            <a:r>
              <a:rPr lang="zh-CN" altLang="en-US" b="0" dirty="0"/>
              <a:t>包括：紧迫性、邻近性、潜伏期、可管理性、可控性、可监测性、连通性、战略影响力、密切度</a:t>
            </a:r>
            <a:endParaRPr lang="en-US" altLang="zh-CN" b="0" dirty="0"/>
          </a:p>
          <a:p>
            <a:pPr lvl="1">
              <a:lnSpc>
                <a:spcPct val="120000"/>
              </a:lnSpc>
            </a:pPr>
            <a:r>
              <a:rPr lang="zh-CN" altLang="en-US" dirty="0"/>
              <a:t>人际关系与团队技能，</a:t>
            </a:r>
            <a:r>
              <a:rPr lang="zh-CN" altLang="en-US" sz="1800" dirty="0"/>
              <a:t>引导</a:t>
            </a:r>
            <a:r>
              <a:rPr lang="zh-CN" altLang="en-US" sz="1800" b="0" dirty="0"/>
              <a:t>能够提高对单个项目风险的定性分析的有效性</a:t>
            </a:r>
            <a:endParaRPr lang="en-US" altLang="zh-CN" sz="1800" b="0" dirty="0"/>
          </a:p>
          <a:p>
            <a:pPr lvl="1">
              <a:lnSpc>
                <a:spcPct val="120000"/>
              </a:lnSpc>
            </a:pPr>
            <a:r>
              <a:rPr lang="zh-CN" altLang="en-US" dirty="0"/>
              <a:t>风险分类</a:t>
            </a:r>
            <a:r>
              <a:rPr lang="en-US" altLang="zh-CN" dirty="0"/>
              <a:t>, </a:t>
            </a:r>
            <a:r>
              <a:rPr lang="zh-CN" altLang="en-US" b="0" dirty="0"/>
              <a:t>可依据风险来源、受影响的项目领域以及其他实用类别（如项目阶段、项目预算、角色和职责）来分类</a:t>
            </a:r>
          </a:p>
          <a:p>
            <a:pPr lvl="1">
              <a:lnSpc>
                <a:spcPct val="120000"/>
              </a:lnSpc>
            </a:pPr>
            <a:r>
              <a:rPr lang="zh-CN" altLang="en-US" dirty="0"/>
              <a:t>数据表现</a:t>
            </a:r>
            <a:r>
              <a:rPr lang="en-US" altLang="zh-CN" b="0" dirty="0"/>
              <a:t>, </a:t>
            </a:r>
            <a:r>
              <a:rPr lang="zh-CN" altLang="en-US" b="0" dirty="0"/>
              <a:t>包括：概率和影响矩阵、层级图</a:t>
            </a:r>
            <a:endParaRPr lang="en-US" altLang="zh-CN" b="0" dirty="0"/>
          </a:p>
          <a:p>
            <a:pPr lvl="1">
              <a:lnSpc>
                <a:spcPct val="120000"/>
              </a:lnSpc>
            </a:pPr>
            <a:r>
              <a:rPr lang="zh-CN" altLang="en-US" dirty="0"/>
              <a:t>会议</a:t>
            </a:r>
            <a:r>
              <a:rPr lang="en-US" altLang="zh-CN" b="0" dirty="0"/>
              <a:t>, </a:t>
            </a:r>
            <a:r>
              <a:rPr lang="zh-CN" altLang="en-US" b="0" dirty="0"/>
              <a:t>对已识别单个项目风险进行讨论</a:t>
            </a:r>
          </a:p>
          <a:p>
            <a:pPr lvl="1">
              <a:lnSpc>
                <a:spcPct val="120000"/>
              </a:lnSpc>
            </a:pPr>
            <a:endParaRPr lang="zh-CN" altLang="en-US" b="0" dirty="0"/>
          </a:p>
          <a:p>
            <a:pPr lvl="1">
              <a:lnSpc>
                <a:spcPct val="120000"/>
              </a:lnSpc>
            </a:pPr>
            <a:endParaRPr lang="zh-CN" altLang="en-US" b="0" dirty="0"/>
          </a:p>
          <a:p>
            <a:pPr lvl="2">
              <a:lnSpc>
                <a:spcPct val="120000"/>
              </a:lnSpc>
            </a:pPr>
            <a:endParaRPr lang="zh-CN" altLang="en-US" dirty="0"/>
          </a:p>
          <a:p>
            <a:pPr lvl="1">
              <a:lnSpc>
                <a:spcPct val="120000"/>
              </a:lnSpc>
            </a:pPr>
            <a:endParaRPr lang="zh-CN" altLang="en-US" dirty="0"/>
          </a:p>
          <a:p>
            <a:pPr lvl="1">
              <a:lnSpc>
                <a:spcPct val="120000"/>
              </a:lnSpc>
            </a:pPr>
            <a:endParaRPr lang="zh-CN" altLang="en-US" dirty="0"/>
          </a:p>
          <a:p>
            <a:pPr lvl="1">
              <a:lnSpc>
                <a:spcPct val="120000"/>
              </a:lnSpc>
            </a:pPr>
            <a:endParaRPr lang="zh-CN" altLang="en-US" dirty="0"/>
          </a:p>
          <a:p>
            <a:pPr>
              <a:lnSpc>
                <a:spcPct val="120000"/>
              </a:lnSpc>
            </a:pPr>
            <a:endParaRPr lang="zh-CN" altLang="en-US" dirty="0"/>
          </a:p>
        </p:txBody>
      </p:sp>
      <p:sp>
        <p:nvSpPr>
          <p:cNvPr id="4" name="标题 2">
            <a:extLst>
              <a:ext uri="{FF2B5EF4-FFF2-40B4-BE49-F238E27FC236}">
                <a16:creationId xmlns:a16="http://schemas.microsoft.com/office/drawing/2014/main" id="{DC88B19F-E8CA-4A9E-BD95-E2B29D07CBF7}"/>
              </a:ext>
            </a:extLst>
          </p:cNvPr>
          <p:cNvSpPr>
            <a:spLocks noGrp="1"/>
          </p:cNvSpPr>
          <p:nvPr>
            <p:ph type="title"/>
          </p:nvPr>
        </p:nvSpPr>
        <p:spPr>
          <a:xfrm>
            <a:off x="1997075" y="593725"/>
            <a:ext cx="8229600" cy="357188"/>
          </a:xfrm>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1685495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风险概率和影响级别判定</a:t>
            </a:r>
          </a:p>
        </p:txBody>
      </p:sp>
      <p:sp>
        <p:nvSpPr>
          <p:cNvPr id="4" name="矩形 3"/>
          <p:cNvSpPr/>
          <p:nvPr/>
        </p:nvSpPr>
        <p:spPr bwMode="auto">
          <a:xfrm>
            <a:off x="2063552" y="1292086"/>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a:t>
            </a:r>
            <a:r>
              <a:rPr lang="en-US" altLang="zh-CN" sz="1600" b="1" dirty="0">
                <a:solidFill>
                  <a:schemeClr val="tx2"/>
                </a:solidFill>
                <a:latin typeface="+mj-ea"/>
                <a:ea typeface="+mj-ea"/>
              </a:rPr>
              <a:t>WBS</a:t>
            </a:r>
            <a:r>
              <a:rPr lang="zh-CN" altLang="en-US" sz="1600" b="1" dirty="0">
                <a:solidFill>
                  <a:schemeClr val="tx2"/>
                </a:solidFill>
                <a:latin typeface="+mj-ea"/>
                <a:ea typeface="+mj-ea"/>
              </a:rPr>
              <a:t>或</a:t>
            </a:r>
            <a:r>
              <a:rPr lang="en-US" altLang="zh-CN" sz="1600" b="1" dirty="0">
                <a:solidFill>
                  <a:schemeClr val="tx2"/>
                </a:solidFill>
                <a:latin typeface="+mj-ea"/>
                <a:ea typeface="+mj-ea"/>
              </a:rPr>
              <a:t>RBS</a:t>
            </a:r>
            <a:r>
              <a:rPr lang="zh-CN" altLang="en-US" sz="1600" b="1" dirty="0">
                <a:solidFill>
                  <a:schemeClr val="tx2"/>
                </a:solidFill>
                <a:latin typeface="+mj-ea"/>
                <a:ea typeface="+mj-ea"/>
              </a:rPr>
              <a:t>风险分解结构对风险进行分类</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根据项目生命周期过程或项目阶段对风险进行分类</a:t>
            </a:r>
            <a:endParaRPr lang="en-US" altLang="zh-CN" sz="1600" b="1" dirty="0">
              <a:solidFill>
                <a:schemeClr val="tx2"/>
              </a:solidFill>
              <a:latin typeface="+mj-ea"/>
              <a:ea typeface="+mj-ea"/>
            </a:endParaRPr>
          </a:p>
        </p:txBody>
      </p:sp>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2060848"/>
            <a:ext cx="7848872" cy="446449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435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概率影响矩阵</a:t>
            </a:r>
          </a:p>
        </p:txBody>
      </p:sp>
      <p:sp>
        <p:nvSpPr>
          <p:cNvPr id="5" name="矩形 4"/>
          <p:cNvSpPr/>
          <p:nvPr/>
        </p:nvSpPr>
        <p:spPr bwMode="auto">
          <a:xfrm>
            <a:off x="2063552" y="1292086"/>
            <a:ext cx="7848872" cy="648072"/>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概率影响：概率和影响是识别风险定义的两个重要维度</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风险值 </a:t>
            </a:r>
            <a:r>
              <a:rPr lang="en-US" altLang="zh-CN" sz="1600" b="1" dirty="0">
                <a:solidFill>
                  <a:schemeClr val="tx2"/>
                </a:solidFill>
                <a:latin typeface="+mj-ea"/>
                <a:ea typeface="+mj-ea"/>
              </a:rPr>
              <a:t>= </a:t>
            </a:r>
            <a:r>
              <a:rPr lang="zh-CN" altLang="en-US" sz="1600" b="1" dirty="0">
                <a:solidFill>
                  <a:schemeClr val="tx2"/>
                </a:solidFill>
                <a:latin typeface="+mj-ea"/>
                <a:ea typeface="+mj-ea"/>
              </a:rPr>
              <a:t>风险概率*风险影响；根据风险值将风险评级为低</a:t>
            </a:r>
            <a:r>
              <a:rPr lang="en-US" altLang="zh-CN" sz="1600" b="1" dirty="0">
                <a:solidFill>
                  <a:schemeClr val="tx2"/>
                </a:solidFill>
                <a:latin typeface="+mj-ea"/>
                <a:ea typeface="+mj-ea"/>
              </a:rPr>
              <a:t>-</a:t>
            </a:r>
            <a:r>
              <a:rPr lang="zh-CN" altLang="en-US" sz="1600" b="1" dirty="0">
                <a:solidFill>
                  <a:schemeClr val="tx2"/>
                </a:solidFill>
                <a:latin typeface="+mj-ea"/>
                <a:ea typeface="+mj-ea"/>
              </a:rPr>
              <a:t>中</a:t>
            </a:r>
            <a:r>
              <a:rPr lang="en-US" altLang="zh-CN" sz="1600" b="1" dirty="0">
                <a:solidFill>
                  <a:schemeClr val="tx2"/>
                </a:solidFill>
                <a:latin typeface="+mj-ea"/>
                <a:ea typeface="+mj-ea"/>
              </a:rPr>
              <a:t>-</a:t>
            </a:r>
            <a:r>
              <a:rPr lang="zh-CN" altLang="en-US" sz="1600" b="1" dirty="0">
                <a:solidFill>
                  <a:schemeClr val="tx2"/>
                </a:solidFill>
                <a:latin typeface="+mj-ea"/>
                <a:ea typeface="+mj-ea"/>
              </a:rPr>
              <a:t>高三个维度</a:t>
            </a:r>
            <a:endParaRPr lang="en-US" altLang="zh-CN" sz="1600" b="1" dirty="0">
              <a:solidFill>
                <a:schemeClr val="tx2"/>
              </a:solidFill>
              <a:latin typeface="+mj-ea"/>
              <a:ea typeface="+mj-ea"/>
            </a:endParaRPr>
          </a:p>
        </p:txBody>
      </p:sp>
      <p:sp>
        <p:nvSpPr>
          <p:cNvPr id="4" name="椭圆 3"/>
          <p:cNvSpPr/>
          <p:nvPr/>
        </p:nvSpPr>
        <p:spPr bwMode="auto">
          <a:xfrm>
            <a:off x="8867396" y="3316154"/>
            <a:ext cx="432048" cy="432048"/>
          </a:xfrm>
          <a:prstGeom prst="ellipse">
            <a:avLst/>
          </a:prstGeom>
          <a:solidFill>
            <a:srgbClr val="FF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高</a:t>
            </a:r>
          </a:p>
        </p:txBody>
      </p:sp>
      <p:sp>
        <p:nvSpPr>
          <p:cNvPr id="7" name="椭圆 6"/>
          <p:cNvSpPr/>
          <p:nvPr/>
        </p:nvSpPr>
        <p:spPr bwMode="auto">
          <a:xfrm>
            <a:off x="8867396" y="3825552"/>
            <a:ext cx="432048" cy="432048"/>
          </a:xfrm>
          <a:prstGeom prst="ellipse">
            <a:avLst/>
          </a:prstGeom>
          <a:solidFill>
            <a:srgbClr val="FFFF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中</a:t>
            </a:r>
          </a:p>
        </p:txBody>
      </p:sp>
      <p:sp>
        <p:nvSpPr>
          <p:cNvPr id="8" name="椭圆 7"/>
          <p:cNvSpPr/>
          <p:nvPr/>
        </p:nvSpPr>
        <p:spPr bwMode="auto">
          <a:xfrm>
            <a:off x="8867396" y="4327513"/>
            <a:ext cx="432048" cy="432048"/>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低</a:t>
            </a:r>
          </a:p>
        </p:txBody>
      </p:sp>
      <p:sp>
        <p:nvSpPr>
          <p:cNvPr id="6" name="矩形 5"/>
          <p:cNvSpPr/>
          <p:nvPr/>
        </p:nvSpPr>
        <p:spPr bwMode="auto">
          <a:xfrm>
            <a:off x="9408368" y="3356992"/>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应对和监控</a:t>
            </a:r>
          </a:p>
        </p:txBody>
      </p:sp>
      <p:sp>
        <p:nvSpPr>
          <p:cNvPr id="10" name="矩形 9"/>
          <p:cNvSpPr/>
          <p:nvPr/>
        </p:nvSpPr>
        <p:spPr bwMode="auto">
          <a:xfrm>
            <a:off x="9408368" y="3869569"/>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zh-CN" altLang="en-US" sz="1400" dirty="0">
                <a:solidFill>
                  <a:schemeClr val="tx2"/>
                </a:solidFill>
                <a:latin typeface="+mj-ea"/>
                <a:ea typeface="+mj-ea"/>
              </a:rPr>
              <a:t>应对或监控</a:t>
            </a:r>
          </a:p>
        </p:txBody>
      </p:sp>
      <p:sp>
        <p:nvSpPr>
          <p:cNvPr id="11" name="矩形 10"/>
          <p:cNvSpPr/>
          <p:nvPr/>
        </p:nvSpPr>
        <p:spPr bwMode="auto">
          <a:xfrm>
            <a:off x="9408368" y="4379102"/>
            <a:ext cx="1080120" cy="32887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chemeClr val="tx2"/>
                </a:solidFill>
                <a:latin typeface="+mj-ea"/>
                <a:ea typeface="+mj-ea"/>
              </a:rPr>
              <a:t>监控</a:t>
            </a:r>
          </a:p>
        </p:txBody>
      </p:sp>
      <p:graphicFrame>
        <p:nvGraphicFramePr>
          <p:cNvPr id="12" name="Group 3">
            <a:extLst>
              <a:ext uri="{FF2B5EF4-FFF2-40B4-BE49-F238E27FC236}">
                <a16:creationId xmlns:a16="http://schemas.microsoft.com/office/drawing/2014/main" id="{122B5ADB-D96D-4C4C-B94E-53D3D1410C5B}"/>
              </a:ext>
            </a:extLst>
          </p:cNvPr>
          <p:cNvGraphicFramePr>
            <a:graphicFrameLocks noGrp="1"/>
          </p:cNvGraphicFramePr>
          <p:nvPr>
            <p:ph idx="1"/>
            <p:extLst>
              <p:ext uri="{D42A27DB-BD31-4B8C-83A1-F6EECF244321}">
                <p14:modId xmlns:p14="http://schemas.microsoft.com/office/powerpoint/2010/main" val="814098816"/>
              </p:ext>
            </p:extLst>
          </p:nvPr>
        </p:nvGraphicFramePr>
        <p:xfrm>
          <a:off x="2063553" y="2266343"/>
          <a:ext cx="6623139" cy="3019511"/>
        </p:xfrm>
        <a:graphic>
          <a:graphicData uri="http://schemas.openxmlformats.org/drawingml/2006/table">
            <a:tbl>
              <a:tblPr/>
              <a:tblGrid>
                <a:gridCol w="601755">
                  <a:extLst>
                    <a:ext uri="{9D8B030D-6E8A-4147-A177-3AD203B41FA5}">
                      <a16:colId xmlns:a16="http://schemas.microsoft.com/office/drawing/2014/main" val="20000"/>
                    </a:ext>
                  </a:extLst>
                </a:gridCol>
                <a:gridCol w="601755">
                  <a:extLst>
                    <a:ext uri="{9D8B030D-6E8A-4147-A177-3AD203B41FA5}">
                      <a16:colId xmlns:a16="http://schemas.microsoft.com/office/drawing/2014/main" val="20001"/>
                    </a:ext>
                  </a:extLst>
                </a:gridCol>
                <a:gridCol w="601755">
                  <a:extLst>
                    <a:ext uri="{9D8B030D-6E8A-4147-A177-3AD203B41FA5}">
                      <a16:colId xmlns:a16="http://schemas.microsoft.com/office/drawing/2014/main" val="20002"/>
                    </a:ext>
                  </a:extLst>
                </a:gridCol>
                <a:gridCol w="603033">
                  <a:extLst>
                    <a:ext uri="{9D8B030D-6E8A-4147-A177-3AD203B41FA5}">
                      <a16:colId xmlns:a16="http://schemas.microsoft.com/office/drawing/2014/main" val="20003"/>
                    </a:ext>
                  </a:extLst>
                </a:gridCol>
                <a:gridCol w="601755">
                  <a:extLst>
                    <a:ext uri="{9D8B030D-6E8A-4147-A177-3AD203B41FA5}">
                      <a16:colId xmlns:a16="http://schemas.microsoft.com/office/drawing/2014/main" val="20004"/>
                    </a:ext>
                  </a:extLst>
                </a:gridCol>
                <a:gridCol w="603033">
                  <a:extLst>
                    <a:ext uri="{9D8B030D-6E8A-4147-A177-3AD203B41FA5}">
                      <a16:colId xmlns:a16="http://schemas.microsoft.com/office/drawing/2014/main" val="20005"/>
                    </a:ext>
                  </a:extLst>
                </a:gridCol>
                <a:gridCol w="601755">
                  <a:extLst>
                    <a:ext uri="{9D8B030D-6E8A-4147-A177-3AD203B41FA5}">
                      <a16:colId xmlns:a16="http://schemas.microsoft.com/office/drawing/2014/main" val="20006"/>
                    </a:ext>
                  </a:extLst>
                </a:gridCol>
                <a:gridCol w="603033">
                  <a:extLst>
                    <a:ext uri="{9D8B030D-6E8A-4147-A177-3AD203B41FA5}">
                      <a16:colId xmlns:a16="http://schemas.microsoft.com/office/drawing/2014/main" val="20007"/>
                    </a:ext>
                  </a:extLst>
                </a:gridCol>
                <a:gridCol w="601755">
                  <a:extLst>
                    <a:ext uri="{9D8B030D-6E8A-4147-A177-3AD203B41FA5}">
                      <a16:colId xmlns:a16="http://schemas.microsoft.com/office/drawing/2014/main" val="20008"/>
                    </a:ext>
                  </a:extLst>
                </a:gridCol>
                <a:gridCol w="601755">
                  <a:extLst>
                    <a:ext uri="{9D8B030D-6E8A-4147-A177-3AD203B41FA5}">
                      <a16:colId xmlns:a16="http://schemas.microsoft.com/office/drawing/2014/main" val="20009"/>
                    </a:ext>
                  </a:extLst>
                </a:gridCol>
                <a:gridCol w="601755">
                  <a:extLst>
                    <a:ext uri="{9D8B030D-6E8A-4147-A177-3AD203B41FA5}">
                      <a16:colId xmlns:a16="http://schemas.microsoft.com/office/drawing/2014/main" val="20010"/>
                    </a:ext>
                  </a:extLst>
                </a:gridCol>
              </a:tblGrid>
              <a:tr h="284521">
                <a:tc gridSpan="11">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概率和影响矩阵</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4521">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概率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威胁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机会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0.90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0.18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bg1"/>
                          </a:solidFill>
                          <a:effectLst/>
                          <a:latin typeface="Arial" panose="020B0604020202020204" pitchFamily="34" charset="0"/>
                          <a:ea typeface="黑体" panose="02010609060101010101" pitchFamily="49"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2"/>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0.70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3"/>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0.50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4"/>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Arial" panose="020B0604020202020204" pitchFamily="34" charset="0"/>
                          <a:ea typeface="黑体" panose="02010609060101010101" pitchFamily="49"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5"/>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6"/>
                  </a:ext>
                </a:extLst>
              </a:tr>
              <a:tr h="28582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0.05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493">
                <a:tc gridSpan="11">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对目标的影响（比率标度）（如费用、时间或范围）</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13" name="Text Box 97">
            <a:extLst>
              <a:ext uri="{FF2B5EF4-FFF2-40B4-BE49-F238E27FC236}">
                <a16:creationId xmlns:a16="http://schemas.microsoft.com/office/drawing/2014/main" id="{AC129E22-FE92-4C87-BEA5-09B64EC06905}"/>
              </a:ext>
            </a:extLst>
          </p:cNvPr>
          <p:cNvSpPr txBox="1">
            <a:spLocks noChangeArrowheads="1"/>
          </p:cNvSpPr>
          <p:nvPr/>
        </p:nvSpPr>
        <p:spPr bwMode="auto">
          <a:xfrm>
            <a:off x="2063552" y="5703688"/>
            <a:ext cx="7732610" cy="581025"/>
          </a:xfrm>
          <a:prstGeom prst="rect">
            <a:avLst/>
          </a:prstGeom>
          <a:noFill/>
          <a:ln>
            <a:noFill/>
          </a:ln>
          <a:effectLst/>
          <a:extLst>
            <a:ext uri="{909E8E84-426E-40DD-AFC4-6F175D3DCCD1}">
              <a14:hiddenFill xmlns:a14="http://schemas.microsoft.com/office/drawing/2010/main">
                <a:blipFill dpi="0" rotWithShape="1">
                  <a:blip r:embed="rId2"/>
                  <a:srcRect/>
                  <a:tile tx="0" ty="0" sx="100000" sy="100000" flip="none" algn="tl"/>
                </a:blip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每一风险按其发生概率及一旦发生所造成的影响评价级别。矩阵中所示组织规定的低风险、中等风险与高风险的临界值确定了风险的得分</a:t>
            </a:r>
          </a:p>
        </p:txBody>
      </p:sp>
    </p:spTree>
    <p:extLst>
      <p:ext uri="{BB962C8B-B14F-4D97-AF65-F5344CB8AC3E}">
        <p14:creationId xmlns:p14="http://schemas.microsoft.com/office/powerpoint/2010/main" val="311744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EE18A4D-ABBE-4FBF-A4FA-689208750563}"/>
              </a:ext>
            </a:extLst>
          </p:cNvPr>
          <p:cNvSpPr>
            <a:spLocks noGrp="1"/>
          </p:cNvSpPr>
          <p:nvPr>
            <p:ph idx="1"/>
          </p:nvPr>
        </p:nvSpPr>
        <p:spPr/>
        <p:txBody>
          <a:bodyPr/>
          <a:lstStyle/>
          <a:p>
            <a:r>
              <a:rPr lang="zh-CN" altLang="en-US" dirty="0"/>
              <a:t>实施定性风险分析的输出</a:t>
            </a:r>
            <a:endParaRPr lang="en-US" altLang="zh-CN" dirty="0"/>
          </a:p>
          <a:p>
            <a:pPr lvl="1"/>
            <a:r>
              <a:rPr lang="zh-CN" altLang="en-US" dirty="0"/>
              <a:t>项目文件更新</a:t>
            </a:r>
            <a:endParaRPr lang="en-US" altLang="zh-CN" dirty="0"/>
          </a:p>
          <a:p>
            <a:pPr lvl="2"/>
            <a:r>
              <a:rPr lang="zh-CN" altLang="en-US" dirty="0"/>
              <a:t>假设日志。</a:t>
            </a:r>
            <a:r>
              <a:rPr lang="zh-CN" altLang="en-US" b="0" dirty="0"/>
              <a:t>记录新的假设、识别出新的制约因素，或者现有的假设条件或制约因素可能被重新审查和修改。</a:t>
            </a:r>
          </a:p>
          <a:p>
            <a:pPr lvl="2"/>
            <a:r>
              <a:rPr lang="zh-CN" altLang="en-US" dirty="0"/>
              <a:t>问题日志。</a:t>
            </a:r>
            <a:r>
              <a:rPr lang="zh-CN" altLang="en-US" b="0" dirty="0"/>
              <a:t>应该更新问题日志，记录发现的新问题或当前问题的变化。</a:t>
            </a:r>
          </a:p>
          <a:p>
            <a:pPr lvl="2"/>
            <a:r>
              <a:rPr lang="zh-CN" altLang="en-US" dirty="0"/>
              <a:t>风险登记册。</a:t>
            </a:r>
            <a:r>
              <a:rPr lang="zh-CN" altLang="en-US" b="0" dirty="0"/>
              <a:t>更新内容可能包括：每项单个项目风险的概率和影响评估、优先级别或风险分值、指定风险责任人、风险紧迫性信息或风险类别，以及低优先级风险的观察清单或需要进一步分析的风险。</a:t>
            </a:r>
          </a:p>
          <a:p>
            <a:pPr lvl="2"/>
            <a:r>
              <a:rPr lang="zh-CN" altLang="en-US" dirty="0"/>
              <a:t>风险报告。</a:t>
            </a:r>
            <a:r>
              <a:rPr lang="zh-CN" altLang="en-US" b="0" dirty="0"/>
              <a:t>记录最重要的单个项目风险、所有已识别风险的优先级列表以及简要的结论。</a:t>
            </a:r>
          </a:p>
          <a:p>
            <a:pPr lvl="2"/>
            <a:endParaRPr lang="zh-CN" altLang="en-US" dirty="0"/>
          </a:p>
        </p:txBody>
      </p:sp>
      <p:sp>
        <p:nvSpPr>
          <p:cNvPr id="4" name="标题 2">
            <a:extLst>
              <a:ext uri="{FF2B5EF4-FFF2-40B4-BE49-F238E27FC236}">
                <a16:creationId xmlns:a16="http://schemas.microsoft.com/office/drawing/2014/main" id="{973ECFE5-DC3E-48DA-A5E4-315B05EEFEAE}"/>
              </a:ext>
            </a:extLst>
          </p:cNvPr>
          <p:cNvSpPr>
            <a:spLocks noGrp="1"/>
          </p:cNvSpPr>
          <p:nvPr>
            <p:ph type="title"/>
          </p:nvPr>
        </p:nvSpPr>
        <p:spPr>
          <a:xfrm>
            <a:off x="1997075" y="593725"/>
            <a:ext cx="8229600" cy="357188"/>
          </a:xfrm>
        </p:spPr>
        <p:txBody>
          <a:bodyPr/>
          <a:lstStyle/>
          <a:p>
            <a:r>
              <a:rPr lang="en-US" altLang="zh-CN" dirty="0"/>
              <a:t>17.4 </a:t>
            </a:r>
            <a:r>
              <a:rPr lang="zh-CN" altLang="en-US" dirty="0"/>
              <a:t>实施定性风险分析</a:t>
            </a:r>
          </a:p>
        </p:txBody>
      </p:sp>
    </p:spTree>
    <p:extLst>
      <p:ext uri="{BB962C8B-B14F-4D97-AF65-F5344CB8AC3E}">
        <p14:creationId xmlns:p14="http://schemas.microsoft.com/office/powerpoint/2010/main" val="216267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1983296" y="942067"/>
            <a:ext cx="2965538" cy="437186"/>
          </a:xfrm>
          <a:prstGeom prst="rect">
            <a:avLst/>
          </a:prstGeom>
        </p:spPr>
        <p:txBody>
          <a:bodyPr/>
          <a:lstStyle/>
          <a:p>
            <a:r>
              <a:rPr lang="zh-CN" altLang="en-US" dirty="0"/>
              <a:t>风险登记册</a:t>
            </a:r>
          </a:p>
        </p:txBody>
      </p:sp>
      <p:graphicFrame>
        <p:nvGraphicFramePr>
          <p:cNvPr id="5" name="Group 4"/>
          <p:cNvGraphicFramePr>
            <a:graphicFrameLocks noGrp="1"/>
          </p:cNvGraphicFramePr>
          <p:nvPr>
            <p:extLst>
              <p:ext uri="{D42A27DB-BD31-4B8C-83A1-F6EECF244321}">
                <p14:modId xmlns:p14="http://schemas.microsoft.com/office/powerpoint/2010/main" val="2709002792"/>
              </p:ext>
            </p:extLst>
          </p:nvPr>
        </p:nvGraphicFramePr>
        <p:xfrm>
          <a:off x="1983297" y="2619064"/>
          <a:ext cx="8289167" cy="3306864"/>
        </p:xfrm>
        <a:graphic>
          <a:graphicData uri="http://schemas.openxmlformats.org/drawingml/2006/table">
            <a:tbl>
              <a:tblPr/>
              <a:tblGrid>
                <a:gridCol w="2125427">
                  <a:extLst>
                    <a:ext uri="{9D8B030D-6E8A-4147-A177-3AD203B41FA5}">
                      <a16:colId xmlns:a16="http://schemas.microsoft.com/office/drawing/2014/main" val="20000"/>
                    </a:ext>
                  </a:extLst>
                </a:gridCol>
                <a:gridCol w="1062714">
                  <a:extLst>
                    <a:ext uri="{9D8B030D-6E8A-4147-A177-3AD203B41FA5}">
                      <a16:colId xmlns:a16="http://schemas.microsoft.com/office/drawing/2014/main" val="20001"/>
                    </a:ext>
                  </a:extLst>
                </a:gridCol>
                <a:gridCol w="1204409">
                  <a:extLst>
                    <a:ext uri="{9D8B030D-6E8A-4147-A177-3AD203B41FA5}">
                      <a16:colId xmlns:a16="http://schemas.microsoft.com/office/drawing/2014/main" val="20002"/>
                    </a:ext>
                  </a:extLst>
                </a:gridCol>
                <a:gridCol w="1204409">
                  <a:extLst>
                    <a:ext uri="{9D8B030D-6E8A-4147-A177-3AD203B41FA5}">
                      <a16:colId xmlns:a16="http://schemas.microsoft.com/office/drawing/2014/main" val="20003"/>
                    </a:ext>
                  </a:extLst>
                </a:gridCol>
                <a:gridCol w="991866">
                  <a:extLst>
                    <a:ext uri="{9D8B030D-6E8A-4147-A177-3AD203B41FA5}">
                      <a16:colId xmlns:a16="http://schemas.microsoft.com/office/drawing/2014/main" val="20004"/>
                    </a:ext>
                  </a:extLst>
                </a:gridCol>
                <a:gridCol w="850171">
                  <a:extLst>
                    <a:ext uri="{9D8B030D-6E8A-4147-A177-3AD203B41FA5}">
                      <a16:colId xmlns:a16="http://schemas.microsoft.com/office/drawing/2014/main" val="20005"/>
                    </a:ext>
                  </a:extLst>
                </a:gridCol>
                <a:gridCol w="850171">
                  <a:extLst>
                    <a:ext uri="{9D8B030D-6E8A-4147-A177-3AD203B41FA5}">
                      <a16:colId xmlns:a16="http://schemas.microsoft.com/office/drawing/2014/main" val="20006"/>
                    </a:ext>
                  </a:extLst>
                </a:gridCol>
              </a:tblGrid>
              <a:tr h="4287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风险名称</a:t>
                      </a: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风险类别</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发生概率</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风险影响</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风险值</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优先级</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j-ea"/>
                          <a:ea typeface="+mj-ea"/>
                        </a:rPr>
                        <a:t>应对</a:t>
                      </a: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5322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人员流失可能导致整个项目进度延期</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管理类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0.64</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高</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减轻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78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需求变更可能导致大量的返工影响项目质量和进度</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0.6</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0.18</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中</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转移</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317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项目最终交付质量可能存在不合格的风险</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工程类</a:t>
                      </a: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0.3</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sym typeface="Math A" pitchFamily="18" charset="2"/>
                        </a:rPr>
                        <a:t>0.09</a:t>
                      </a: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低</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sym typeface="Math A" pitchFamily="18" charset="2"/>
                        </a:rPr>
                        <a:t>减轻</a:t>
                      </a: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1346">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6707">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a:ln>
                          <a:noFill/>
                        </a:ln>
                        <a:solidFill>
                          <a:schemeClr val="tx1"/>
                        </a:solidFill>
                        <a:effectLst/>
                        <a:latin typeface="+mj-ea"/>
                        <a:ea typeface="+mj-ea"/>
                      </a:endParaRPr>
                    </a:p>
                  </a:txBody>
                  <a:tcPr marT="45726" marB="45726" anchor="ct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dirty="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zh-CN" altLang="zh-CN" sz="1600" b="1" i="0" u="none" strike="noStrike" cap="none" normalizeH="0" baseline="0">
                        <a:ln>
                          <a:noFill/>
                        </a:ln>
                        <a:solidFill>
                          <a:schemeClr val="tx1"/>
                        </a:solidFill>
                        <a:effectLst/>
                        <a:latin typeface="+mj-ea"/>
                        <a:ea typeface="+mj-ea"/>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defPPr>
                        <a:defRPr lang="zh-CN"/>
                      </a:defPPr>
                      <a:lvl1pPr marL="0" algn="l" defTabSz="914400" rtl="0" eaLnBrk="1" latinLnBrk="0" hangingPunct="1">
                        <a:defRPr sz="1800" kern="1200">
                          <a:solidFill>
                            <a:schemeClr val="tx1"/>
                          </a:solidFill>
                          <a:latin typeface="Times"/>
                          <a:ea typeface="Beijing"/>
                        </a:defRPr>
                      </a:lvl1pPr>
                      <a:lvl2pPr marL="457200" algn="l" defTabSz="914400" rtl="0" eaLnBrk="1" latinLnBrk="0" hangingPunct="1">
                        <a:defRPr sz="1800" kern="1200">
                          <a:solidFill>
                            <a:schemeClr val="tx1"/>
                          </a:solidFill>
                          <a:latin typeface="Times"/>
                          <a:ea typeface="Beijing"/>
                        </a:defRPr>
                      </a:lvl2pPr>
                      <a:lvl3pPr marL="914400" algn="l" defTabSz="914400" rtl="0" eaLnBrk="1" latinLnBrk="0" hangingPunct="1">
                        <a:defRPr sz="1800" kern="1200">
                          <a:solidFill>
                            <a:schemeClr val="tx1"/>
                          </a:solidFill>
                          <a:latin typeface="Times"/>
                          <a:ea typeface="Beijing"/>
                        </a:defRPr>
                      </a:lvl3pPr>
                      <a:lvl4pPr marL="1371600" algn="l" defTabSz="914400" rtl="0" eaLnBrk="1" latinLnBrk="0" hangingPunct="1">
                        <a:defRPr sz="1800" kern="1200">
                          <a:solidFill>
                            <a:schemeClr val="tx1"/>
                          </a:solidFill>
                          <a:latin typeface="Times"/>
                          <a:ea typeface="Beijing"/>
                        </a:defRPr>
                      </a:lvl4pPr>
                      <a:lvl5pPr marL="1828800" algn="l" defTabSz="914400" rtl="0" eaLnBrk="1" latinLnBrk="0" hangingPunct="1">
                        <a:defRPr sz="1800" kern="1200">
                          <a:solidFill>
                            <a:schemeClr val="tx1"/>
                          </a:solidFill>
                          <a:latin typeface="Times"/>
                          <a:ea typeface="Beijing"/>
                        </a:defRPr>
                      </a:lvl5pPr>
                      <a:lvl6pPr marL="2286000" algn="l" defTabSz="914400" rtl="0" eaLnBrk="1" latinLnBrk="0" hangingPunct="1">
                        <a:defRPr sz="1800" kern="1200">
                          <a:solidFill>
                            <a:schemeClr val="tx1"/>
                          </a:solidFill>
                          <a:latin typeface="Times"/>
                          <a:ea typeface="Beijing"/>
                        </a:defRPr>
                      </a:lvl6pPr>
                      <a:lvl7pPr marL="2743200" algn="l" defTabSz="914400" rtl="0" eaLnBrk="1" latinLnBrk="0" hangingPunct="1">
                        <a:defRPr sz="1800" kern="1200">
                          <a:solidFill>
                            <a:schemeClr val="tx1"/>
                          </a:solidFill>
                          <a:latin typeface="Times"/>
                          <a:ea typeface="Beijing"/>
                        </a:defRPr>
                      </a:lvl7pPr>
                      <a:lvl8pPr marL="3200400" algn="l" defTabSz="914400" rtl="0" eaLnBrk="1" latinLnBrk="0" hangingPunct="1">
                        <a:defRPr sz="1800" kern="1200">
                          <a:solidFill>
                            <a:schemeClr val="tx1"/>
                          </a:solidFill>
                          <a:latin typeface="Times"/>
                          <a:ea typeface="Beijing"/>
                        </a:defRPr>
                      </a:lvl8pPr>
                      <a:lvl9pPr marL="3657600" algn="l" defTabSz="914400" rtl="0" eaLnBrk="1" latinLnBrk="0" hangingPunct="1">
                        <a:defRPr sz="1800" kern="1200">
                          <a:solidFill>
                            <a:schemeClr val="tx1"/>
                          </a:solidFill>
                          <a:latin typeface="Times"/>
                          <a:ea typeface="Beijing"/>
                        </a:defRPr>
                      </a:lvl9p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2000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mj-ea"/>
                        <a:ea typeface="+mj-ea"/>
                        <a:sym typeface="Math A" pitchFamily="18" charset="2"/>
                      </a:endParaRPr>
                    </a:p>
                  </a:txBody>
                  <a:tcPr marT="45726" marB="45726" anchor="ct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 name="内容占位符 2"/>
          <p:cNvSpPr>
            <a:spLocks noGrp="1"/>
          </p:cNvSpPr>
          <p:nvPr>
            <p:ph idx="1"/>
          </p:nvPr>
        </p:nvSpPr>
        <p:spPr>
          <a:xfrm>
            <a:off x="1983296" y="1379254"/>
            <a:ext cx="8153400" cy="1062037"/>
          </a:xfrm>
        </p:spPr>
        <p:txBody>
          <a:bodyPr/>
          <a:lstStyle/>
          <a:p>
            <a:pPr>
              <a:lnSpc>
                <a:spcPct val="100000"/>
              </a:lnSpc>
              <a:defRPr/>
            </a:pPr>
            <a:r>
              <a:rPr lang="zh-CN" altLang="en-US" sz="1800" dirty="0"/>
              <a:t>在风险识别阶段的风险登记册上增加记录列</a:t>
            </a:r>
            <a:endParaRPr lang="en-US" altLang="zh-CN" sz="1800" dirty="0"/>
          </a:p>
          <a:p>
            <a:pPr>
              <a:lnSpc>
                <a:spcPct val="100000"/>
              </a:lnSpc>
              <a:defRPr/>
            </a:pPr>
            <a:r>
              <a:rPr lang="zh-CN" altLang="en-US" sz="1800" dirty="0"/>
              <a:t>风险登记册观察整个风险生命周期和管理过程</a:t>
            </a:r>
            <a:endParaRPr lang="en-US" altLang="zh-CN" sz="1800" dirty="0"/>
          </a:p>
          <a:p>
            <a:pPr>
              <a:lnSpc>
                <a:spcPct val="100000"/>
              </a:lnSpc>
              <a:defRPr/>
            </a:pPr>
            <a:r>
              <a:rPr lang="zh-CN" altLang="en-US" sz="1800" dirty="0"/>
              <a:t>潜在应对将作为后续风险应对计划的输入，不是详细应对计划</a:t>
            </a:r>
          </a:p>
        </p:txBody>
      </p:sp>
      <p:sp>
        <p:nvSpPr>
          <p:cNvPr id="6" name="标题 2">
            <a:extLst>
              <a:ext uri="{FF2B5EF4-FFF2-40B4-BE49-F238E27FC236}">
                <a16:creationId xmlns:a16="http://schemas.microsoft.com/office/drawing/2014/main" id="{BA5F8C64-61B7-47D7-BA02-8FCA4978ED97}"/>
              </a:ext>
            </a:extLst>
          </p:cNvPr>
          <p:cNvSpPr txBox="1">
            <a:spLocks/>
          </p:cNvSpPr>
          <p:nvPr/>
        </p:nvSpPr>
        <p:spPr>
          <a:xfrm>
            <a:off x="1997825" y="593679"/>
            <a:ext cx="8229600" cy="35792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17.4 </a:t>
            </a:r>
            <a:r>
              <a:rPr lang="zh-CN" altLang="en-US" dirty="0"/>
              <a:t>实施定性风险分析</a:t>
            </a:r>
          </a:p>
        </p:txBody>
      </p:sp>
    </p:spTree>
    <p:extLst>
      <p:ext uri="{BB962C8B-B14F-4D97-AF65-F5344CB8AC3E}">
        <p14:creationId xmlns:p14="http://schemas.microsoft.com/office/powerpoint/2010/main" val="308680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C40D0456-B650-4873-8E54-1A1E2D4D1701}"/>
              </a:ext>
            </a:extLst>
          </p:cNvPr>
          <p:cNvSpPr>
            <a:spLocks noGrp="1"/>
          </p:cNvSpPr>
          <p:nvPr>
            <p:ph idx="1"/>
          </p:nvPr>
        </p:nvSpPr>
        <p:spPr>
          <a:xfrm>
            <a:off x="697832" y="1017067"/>
            <a:ext cx="10611852" cy="5133791"/>
          </a:xfrm>
        </p:spPr>
        <p:txBody>
          <a:bodyPr/>
          <a:lstStyle/>
          <a:p>
            <a:pPr>
              <a:lnSpc>
                <a:spcPct val="130000"/>
              </a:lnSpc>
            </a:pPr>
            <a:r>
              <a:rPr lang="zh-CN" altLang="en-US" sz="2000" dirty="0">
                <a:latin typeface="微软雅黑" panose="020B0503020204020204" pitchFamily="34" charset="-122"/>
              </a:rPr>
              <a:t>实施定量风险分析是就已识别的单个项目风险和不确定性的其他来源对整体项目目标的影响进行定量分析的过程。</a:t>
            </a:r>
            <a:endParaRPr lang="en-US" altLang="zh-CN" sz="20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主要作用是，量化整体项目风险敞口，并提供额外的定量风险信息，以支持风险应对规划。</a:t>
            </a:r>
            <a:endParaRPr lang="en-US" altLang="zh-CN" sz="1800" dirty="0">
              <a:latin typeface="微软雅黑" panose="020B0503020204020204" pitchFamily="34" charset="-122"/>
            </a:endParaRPr>
          </a:p>
          <a:p>
            <a:pPr lvl="1">
              <a:lnSpc>
                <a:spcPct val="130000"/>
              </a:lnSpc>
            </a:pPr>
            <a:r>
              <a:rPr lang="zh-CN" altLang="en-US" sz="1800" dirty="0">
                <a:latin typeface="微软雅黑" panose="020B0503020204020204" pitchFamily="34" charset="-122"/>
              </a:rPr>
              <a:t>非每个项目必需，但如果采用，它会在整个项目期间持续开展</a:t>
            </a:r>
          </a:p>
        </p:txBody>
      </p:sp>
      <p:sp>
        <p:nvSpPr>
          <p:cNvPr id="15362" name="标题 1"/>
          <p:cNvSpPr>
            <a:spLocks noGrp="1"/>
          </p:cNvSpPr>
          <p:nvPr>
            <p:ph type="title"/>
          </p:nvPr>
        </p:nvSpPr>
        <p:spPr>
          <a:xfrm>
            <a:off x="1981200" y="614465"/>
            <a:ext cx="8229600" cy="320795"/>
          </a:xfrm>
          <a:prstGeom prst="rect">
            <a:avLst/>
          </a:prstGeom>
        </p:spPr>
        <p:txBody>
          <a:bodyPr/>
          <a:lstStyle/>
          <a:p>
            <a:pPr eaLnBrk="1" hangingPunct="1"/>
            <a:r>
              <a:rPr lang="en-US" altLang="zh-CN" dirty="0">
                <a:latin typeface="微软雅黑" panose="020B0503020204020204" pitchFamily="34" charset="-122"/>
              </a:rPr>
              <a:t>17.5 </a:t>
            </a:r>
            <a:r>
              <a:rPr lang="zh-CN" altLang="en-US" dirty="0">
                <a:latin typeface="微软雅黑" panose="020B0503020204020204" pitchFamily="34" charset="-122"/>
              </a:rPr>
              <a:t>实施定量风险分析</a:t>
            </a:r>
          </a:p>
        </p:txBody>
      </p:sp>
      <p:sp>
        <p:nvSpPr>
          <p:cNvPr id="15363" name="AutoShape 5"/>
          <p:cNvSpPr>
            <a:spLocks noChangeArrowheads="1"/>
          </p:cNvSpPr>
          <p:nvPr/>
        </p:nvSpPr>
        <p:spPr bwMode="auto">
          <a:xfrm>
            <a:off x="2063751" y="3846003"/>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340610"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340610"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400" dirty="0">
                <a:latin typeface="微软雅黑" pitchFamily="34" charset="-122"/>
                <a:ea typeface="微软雅黑" pitchFamily="34" charset="-122"/>
              </a:rPr>
              <a:t>.1</a:t>
            </a:r>
            <a:r>
              <a:rPr lang="zh-CN" altLang="en-US" sz="1400" dirty="0">
                <a:latin typeface="微软雅黑" pitchFamily="34" charset="-122"/>
                <a:ea typeface="微软雅黑" pitchFamily="34" charset="-122"/>
              </a:rPr>
              <a:t>项目管理计划</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风险管理计划、范围基准</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进度基准、成本基准</a:t>
            </a:r>
          </a:p>
          <a:p>
            <a:r>
              <a:rPr lang="en-US" altLang="zh-CN" sz="1400" dirty="0">
                <a:latin typeface="微软雅黑" pitchFamily="34" charset="-122"/>
                <a:ea typeface="微软雅黑" pitchFamily="34" charset="-122"/>
              </a:rPr>
              <a:t>.2</a:t>
            </a:r>
            <a:r>
              <a:rPr lang="zh-CN" altLang="en-US" sz="1400" dirty="0">
                <a:latin typeface="微软雅黑" pitchFamily="34" charset="-122"/>
                <a:ea typeface="微软雅黑" pitchFamily="34" charset="-122"/>
              </a:rPr>
              <a:t>项目文件</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假设日志、估算依据</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成本估算、成本预测</a:t>
            </a:r>
            <a:endParaRPr lang="en-US" altLang="zh-CN" sz="1400" dirty="0">
              <a:latin typeface="微软雅黑" pitchFamily="34" charset="-122"/>
              <a:ea typeface="微软雅黑" pitchFamily="34" charset="-122"/>
            </a:endParaRP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持续时间估算</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里程碑清单、资源需求</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风险登记册、风险报告</a:t>
            </a:r>
          </a:p>
          <a:p>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进度预测</a:t>
            </a:r>
          </a:p>
          <a:p>
            <a:r>
              <a:rPr lang="en-US" altLang="zh-CN" sz="1400" dirty="0">
                <a:latin typeface="微软雅黑" pitchFamily="34" charset="-122"/>
                <a:ea typeface="微软雅黑" pitchFamily="34" charset="-122"/>
              </a:rPr>
              <a:t>.3</a:t>
            </a:r>
            <a:r>
              <a:rPr lang="zh-CN" altLang="en-US" sz="1400" dirty="0">
                <a:latin typeface="微软雅黑" pitchFamily="34" charset="-122"/>
                <a:ea typeface="微软雅黑" pitchFamily="34" charset="-122"/>
              </a:rPr>
              <a:t>事业环境因素</a:t>
            </a:r>
          </a:p>
          <a:p>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组织过程资产</a:t>
            </a:r>
            <a:endParaRPr lang="en-US" altLang="zh-CN" sz="1400" dirty="0">
              <a:latin typeface="微软雅黑" pitchFamily="34" charset="-122"/>
              <a:ea typeface="微软雅黑" pitchFamily="34" charset="-122"/>
            </a:endParaRPr>
          </a:p>
        </p:txBody>
      </p:sp>
      <p:sp>
        <p:nvSpPr>
          <p:cNvPr id="7" name="Rectangle 8"/>
          <p:cNvSpPr>
            <a:spLocks noChangeArrowheads="1"/>
          </p:cNvSpPr>
          <p:nvPr/>
        </p:nvSpPr>
        <p:spPr bwMode="auto">
          <a:xfrm>
            <a:off x="4788535"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88535"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不确定性表现方式</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模拟</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敏感性分析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决策树分析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影响图</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236460" y="3029329"/>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236460" y="3461130"/>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93917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D00C89-1C35-4B9C-A7D1-053C138CF1DB}"/>
              </a:ext>
            </a:extLst>
          </p:cNvPr>
          <p:cNvSpPr>
            <a:spLocks noGrp="1"/>
          </p:cNvSpPr>
          <p:nvPr>
            <p:ph idx="1"/>
          </p:nvPr>
        </p:nvSpPr>
        <p:spPr/>
        <p:txBody>
          <a:bodyPr/>
          <a:lstStyle/>
          <a:p>
            <a:r>
              <a:rPr lang="zh-CN" altLang="en-US" sz="2000" dirty="0"/>
              <a:t>实施定量风险分析的输入</a:t>
            </a:r>
            <a:endParaRPr lang="en-US" altLang="zh-CN" sz="2000" dirty="0"/>
          </a:p>
          <a:p>
            <a:pPr lvl="1"/>
            <a:r>
              <a:rPr lang="zh-CN" altLang="en-US" sz="1800" dirty="0"/>
              <a:t>项目管理计划</a:t>
            </a:r>
          </a:p>
          <a:p>
            <a:pPr lvl="2"/>
            <a:r>
              <a:rPr lang="zh-CN" altLang="en-US" sz="1600" dirty="0"/>
              <a:t>风险管理计划，</a:t>
            </a:r>
            <a:r>
              <a:rPr lang="zh-CN" altLang="en-US" sz="1600" b="0" dirty="0"/>
              <a:t>确定项目是否需要定量风险分析，还会详述可用于分析的资源，以及预期的分析频率</a:t>
            </a:r>
            <a:endParaRPr lang="en-US" altLang="zh-CN" sz="1600" b="0" dirty="0"/>
          </a:p>
          <a:p>
            <a:pPr lvl="2"/>
            <a:r>
              <a:rPr lang="zh-CN" altLang="en-US" sz="1600" dirty="0"/>
              <a:t>范围基准、进度基准、成本基准</a:t>
            </a:r>
          </a:p>
          <a:p>
            <a:pPr lvl="1"/>
            <a:r>
              <a:rPr lang="zh-CN" altLang="en-US" sz="1800" dirty="0"/>
              <a:t>项目文件</a:t>
            </a:r>
          </a:p>
          <a:p>
            <a:pPr lvl="2"/>
            <a:r>
              <a:rPr lang="zh-CN" altLang="en-US" sz="1600" dirty="0"/>
              <a:t>假设日志、估算依据、成本估算、成本预测、持续时间估算、里程碑清单、资源需求、风险登记册、风险报告、进度预测</a:t>
            </a:r>
          </a:p>
          <a:p>
            <a:pPr lvl="1"/>
            <a:r>
              <a:rPr lang="zh-CN" altLang="en-US" sz="1800" dirty="0"/>
              <a:t>事业环境因素</a:t>
            </a:r>
            <a:endParaRPr lang="en-US" altLang="zh-CN" sz="1800" dirty="0"/>
          </a:p>
          <a:p>
            <a:pPr lvl="2"/>
            <a:r>
              <a:rPr lang="zh-CN" altLang="en-US" sz="1600" b="0" dirty="0"/>
              <a:t>类似项目的行业研究资料；已发布的材料，包括商业风险数据库或核对单</a:t>
            </a:r>
          </a:p>
          <a:p>
            <a:pPr lvl="1"/>
            <a:r>
              <a:rPr lang="zh-CN" altLang="en-US" sz="1800" dirty="0"/>
              <a:t>组织过程资产</a:t>
            </a:r>
          </a:p>
          <a:p>
            <a:pPr lvl="2"/>
            <a:r>
              <a:rPr lang="zh-CN" altLang="en-US" sz="1600" b="0" dirty="0"/>
              <a:t>能够影响实施定量风险分析过程的组织过程资产包括已完成的类似项目的信息</a:t>
            </a:r>
          </a:p>
          <a:p>
            <a:endParaRPr lang="zh-CN" altLang="en-US" dirty="0"/>
          </a:p>
        </p:txBody>
      </p:sp>
      <p:sp>
        <p:nvSpPr>
          <p:cNvPr id="4" name="标题 1">
            <a:extLst>
              <a:ext uri="{FF2B5EF4-FFF2-40B4-BE49-F238E27FC236}">
                <a16:creationId xmlns:a16="http://schemas.microsoft.com/office/drawing/2014/main" id="{413F28DC-5024-4FDF-9365-9B63DE6393D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259982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1984A1F-70A6-40E1-9E76-F179D539B841}"/>
              </a:ext>
            </a:extLst>
          </p:cNvPr>
          <p:cNvSpPr>
            <a:spLocks noGrp="1"/>
          </p:cNvSpPr>
          <p:nvPr>
            <p:ph idx="1"/>
          </p:nvPr>
        </p:nvSpPr>
        <p:spPr/>
        <p:txBody>
          <a:bodyPr/>
          <a:lstStyle/>
          <a:p>
            <a:pPr>
              <a:lnSpc>
                <a:spcPct val="130000"/>
              </a:lnSpc>
            </a:pPr>
            <a:r>
              <a:rPr lang="zh-CN" altLang="en-US" dirty="0"/>
              <a:t>实施定量风险分析的工具与技术</a:t>
            </a:r>
            <a:endParaRPr lang="en-US" altLang="zh-CN" dirty="0"/>
          </a:p>
          <a:p>
            <a:pPr lvl="1">
              <a:lnSpc>
                <a:spcPct val="130000"/>
              </a:lnSpc>
            </a:pPr>
            <a:r>
              <a:rPr lang="zh-CN" altLang="en-US" dirty="0"/>
              <a:t>专家判断</a:t>
            </a:r>
            <a:endParaRPr lang="en-US" altLang="zh-CN" dirty="0"/>
          </a:p>
          <a:p>
            <a:pPr lvl="1">
              <a:lnSpc>
                <a:spcPct val="130000"/>
              </a:lnSpc>
            </a:pPr>
            <a:r>
              <a:rPr lang="zh-CN" altLang="en-US" dirty="0"/>
              <a:t>数据收集，</a:t>
            </a:r>
            <a:r>
              <a:rPr lang="zh-CN" altLang="en-US" b="0" dirty="0"/>
              <a:t>访谈：针对单个项目风险和其他不确定性来源</a:t>
            </a:r>
          </a:p>
          <a:p>
            <a:pPr lvl="1">
              <a:lnSpc>
                <a:spcPct val="130000"/>
              </a:lnSpc>
            </a:pPr>
            <a:r>
              <a:rPr lang="zh-CN" altLang="en-US" dirty="0"/>
              <a:t>人际关系与团队技能，</a:t>
            </a:r>
            <a:r>
              <a:rPr lang="zh-CN" altLang="en-US" b="0" dirty="0"/>
              <a:t>引导：有助于更好地收集输入数据</a:t>
            </a:r>
          </a:p>
          <a:p>
            <a:pPr lvl="1">
              <a:lnSpc>
                <a:spcPct val="130000"/>
              </a:lnSpc>
            </a:pPr>
            <a:r>
              <a:rPr lang="zh-CN" altLang="en-US" dirty="0"/>
              <a:t>不确定性表现方式，</a:t>
            </a:r>
            <a:r>
              <a:rPr lang="zh-CN" altLang="en-US" b="0" dirty="0"/>
              <a:t>如果活动的持续时间、成本或资源需求是不确定的，就可以在模型中用概率分布来表示其数值的可能区间</a:t>
            </a:r>
          </a:p>
          <a:p>
            <a:pPr lvl="1">
              <a:lnSpc>
                <a:spcPct val="130000"/>
              </a:lnSpc>
            </a:pPr>
            <a:r>
              <a:rPr lang="zh-CN" altLang="en-US" dirty="0"/>
              <a:t>数据分析</a:t>
            </a:r>
          </a:p>
          <a:p>
            <a:pPr lvl="2">
              <a:lnSpc>
                <a:spcPct val="130000"/>
              </a:lnSpc>
            </a:pPr>
            <a:r>
              <a:rPr lang="zh-CN" altLang="en-US" dirty="0"/>
              <a:t>模拟，</a:t>
            </a:r>
            <a:r>
              <a:rPr lang="zh-CN" altLang="en-US" b="0" dirty="0"/>
              <a:t>使用模型来模拟单个项目风险和其他不确定性来源的综合影响</a:t>
            </a:r>
          </a:p>
          <a:p>
            <a:pPr lvl="2">
              <a:lnSpc>
                <a:spcPct val="130000"/>
              </a:lnSpc>
            </a:pPr>
            <a:r>
              <a:rPr lang="zh-CN" altLang="en-US" dirty="0"/>
              <a:t>敏感性分析</a:t>
            </a:r>
            <a:r>
              <a:rPr lang="zh-CN" altLang="en-US" b="0" dirty="0"/>
              <a:t>，有助于确定哪些单个项目风险或其他不确定性来源对项目结果具有最大的潜在影响</a:t>
            </a:r>
          </a:p>
          <a:p>
            <a:pPr lvl="2">
              <a:lnSpc>
                <a:spcPct val="130000"/>
              </a:lnSpc>
            </a:pPr>
            <a:r>
              <a:rPr lang="zh-CN" altLang="en-US" dirty="0"/>
              <a:t>决策树分析</a:t>
            </a:r>
            <a:r>
              <a:rPr lang="zh-CN" altLang="en-US" b="0" dirty="0"/>
              <a:t>，用于在若干备选行动方案中选择一个最佳方案</a:t>
            </a:r>
          </a:p>
          <a:p>
            <a:pPr lvl="2">
              <a:lnSpc>
                <a:spcPct val="130000"/>
              </a:lnSpc>
            </a:pPr>
            <a:r>
              <a:rPr lang="zh-CN" altLang="en-US" dirty="0"/>
              <a:t>影响图</a:t>
            </a:r>
            <a:r>
              <a:rPr lang="zh-CN" altLang="en-US" b="0" dirty="0"/>
              <a:t>，将一个项目或项目中的一种情境表现为一系列实体、结果和影响，以及它们之间的关系和相互影响</a:t>
            </a:r>
          </a:p>
          <a:p>
            <a:pPr lvl="1">
              <a:lnSpc>
                <a:spcPct val="130000"/>
              </a:lnSpc>
            </a:pPr>
            <a:endParaRPr lang="zh-CN" altLang="en-US" dirty="0"/>
          </a:p>
          <a:p>
            <a:pPr lvl="1">
              <a:lnSpc>
                <a:spcPct val="130000"/>
              </a:lnSpc>
            </a:pPr>
            <a:endParaRPr lang="zh-CN" altLang="en-US" dirty="0"/>
          </a:p>
          <a:p>
            <a:pPr>
              <a:lnSpc>
                <a:spcPct val="130000"/>
              </a:lnSpc>
            </a:pPr>
            <a:endParaRPr lang="zh-CN" altLang="en-US" dirty="0"/>
          </a:p>
        </p:txBody>
      </p:sp>
      <p:sp>
        <p:nvSpPr>
          <p:cNvPr id="4" name="标题 1">
            <a:extLst>
              <a:ext uri="{FF2B5EF4-FFF2-40B4-BE49-F238E27FC236}">
                <a16:creationId xmlns:a16="http://schemas.microsoft.com/office/drawing/2014/main" id="{8FC752E8-81E8-4A8F-8D2B-A45DA36FC0E3}"/>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163422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191514"/>
            <a:ext cx="2181186" cy="437186"/>
          </a:xfrm>
          <a:prstGeom prst="rect">
            <a:avLst/>
          </a:prstGeom>
        </p:spPr>
        <p:txBody>
          <a:bodyPr/>
          <a:lstStyle/>
          <a:p>
            <a:r>
              <a:rPr lang="zh-CN" altLang="en-US" dirty="0"/>
              <a:t>敏感性分析</a:t>
            </a:r>
          </a:p>
        </p:txBody>
      </p:sp>
      <p:sp>
        <p:nvSpPr>
          <p:cNvPr id="3" name="内容占位符 2"/>
          <p:cNvSpPr>
            <a:spLocks noGrp="1"/>
          </p:cNvSpPr>
          <p:nvPr>
            <p:ph idx="1"/>
          </p:nvPr>
        </p:nvSpPr>
        <p:spPr>
          <a:xfrm>
            <a:off x="1431757" y="1579382"/>
            <a:ext cx="9324475" cy="1849617"/>
          </a:xfrm>
        </p:spPr>
        <p:txBody>
          <a:bodyPr/>
          <a:lstStyle/>
          <a:p>
            <a:pPr>
              <a:lnSpc>
                <a:spcPct val="100000"/>
              </a:lnSpc>
            </a:pPr>
            <a:r>
              <a:rPr lang="zh-CN" altLang="en-US" sz="2000" dirty="0"/>
              <a:t>确定哪些风险对项目存在潜在最大的影响</a:t>
            </a:r>
            <a:endParaRPr lang="en-US" altLang="zh-CN" sz="2000" dirty="0"/>
          </a:p>
          <a:p>
            <a:pPr>
              <a:lnSpc>
                <a:spcPct val="100000"/>
              </a:lnSpc>
            </a:pPr>
            <a:r>
              <a:rPr lang="zh-CN" altLang="en-US" sz="2000" dirty="0"/>
              <a:t>把所有的不确定性因素都设定一个基准值，再来观察因素变化对目标的影响</a:t>
            </a:r>
            <a:endParaRPr lang="en-US" altLang="zh-CN" sz="2000" dirty="0"/>
          </a:p>
          <a:p>
            <a:pPr>
              <a:lnSpc>
                <a:spcPct val="100000"/>
              </a:lnSpc>
            </a:pPr>
            <a:r>
              <a:rPr lang="zh-CN" altLang="en-US" sz="2000" dirty="0"/>
              <a:t>敏感性分析是投资项目的经济评价中常用的一种研究不确定性的方法。</a:t>
            </a:r>
          </a:p>
        </p:txBody>
      </p:sp>
      <p:sp>
        <p:nvSpPr>
          <p:cNvPr id="4" name="矩形 3"/>
          <p:cNvSpPr/>
          <p:nvPr/>
        </p:nvSpPr>
        <p:spPr>
          <a:xfrm>
            <a:off x="2128012" y="3949699"/>
            <a:ext cx="6492240" cy="1631216"/>
          </a:xfrm>
          <a:prstGeom prst="rect">
            <a:avLst/>
          </a:prstGeom>
        </p:spPr>
        <p:txBody>
          <a:bodyPr wrap="square">
            <a:spAutoFit/>
          </a:bodyPr>
          <a:lstStyle/>
          <a:p>
            <a:r>
              <a:rPr lang="en-US" altLang="zh-CN" sz="2000" b="1" dirty="0">
                <a:latin typeface="+mj-ea"/>
                <a:ea typeface="+mj-ea"/>
              </a:rPr>
              <a:t>1</a:t>
            </a:r>
            <a:r>
              <a:rPr lang="zh-CN" altLang="en-US" sz="2000" b="1" dirty="0">
                <a:latin typeface="+mj-ea"/>
                <a:ea typeface="+mj-ea"/>
              </a:rPr>
              <a:t>、确定敏感性分析指标</a:t>
            </a:r>
          </a:p>
          <a:p>
            <a:r>
              <a:rPr lang="en-US" altLang="zh-CN" sz="2000" b="1" dirty="0">
                <a:latin typeface="+mj-ea"/>
                <a:ea typeface="+mj-ea"/>
              </a:rPr>
              <a:t>2</a:t>
            </a:r>
            <a:r>
              <a:rPr lang="zh-CN" altLang="en-US" sz="2000" b="1" dirty="0">
                <a:latin typeface="+mj-ea"/>
                <a:ea typeface="+mj-ea"/>
              </a:rPr>
              <a:t>、计算该技术方案的目标值</a:t>
            </a:r>
          </a:p>
          <a:p>
            <a:r>
              <a:rPr lang="en-US" altLang="zh-CN" sz="2000" b="1" dirty="0">
                <a:latin typeface="+mj-ea"/>
                <a:ea typeface="+mj-ea"/>
              </a:rPr>
              <a:t>3</a:t>
            </a:r>
            <a:r>
              <a:rPr lang="zh-CN" altLang="en-US" sz="2000" b="1" dirty="0">
                <a:latin typeface="+mj-ea"/>
                <a:ea typeface="+mj-ea"/>
              </a:rPr>
              <a:t>、选取不确定因素</a:t>
            </a:r>
          </a:p>
          <a:p>
            <a:r>
              <a:rPr lang="en-US" altLang="zh-CN" sz="2000" b="1" dirty="0">
                <a:latin typeface="+mj-ea"/>
                <a:ea typeface="+mj-ea"/>
              </a:rPr>
              <a:t>4</a:t>
            </a:r>
            <a:r>
              <a:rPr lang="zh-CN" altLang="en-US" sz="2000" b="1" dirty="0">
                <a:latin typeface="+mj-ea"/>
                <a:ea typeface="+mj-ea"/>
              </a:rPr>
              <a:t>、计算不确定因素变动时对分析指标的影响程度</a:t>
            </a:r>
          </a:p>
          <a:p>
            <a:r>
              <a:rPr lang="en-US" altLang="zh-CN" sz="2000" b="1" dirty="0">
                <a:latin typeface="+mj-ea"/>
                <a:ea typeface="+mj-ea"/>
              </a:rPr>
              <a:t>5</a:t>
            </a:r>
            <a:r>
              <a:rPr lang="zh-CN" altLang="en-US" sz="2000" b="1" dirty="0">
                <a:latin typeface="+mj-ea"/>
                <a:ea typeface="+mj-ea"/>
              </a:rPr>
              <a:t>、找出敏感因素，进行分析和采取措施</a:t>
            </a:r>
          </a:p>
        </p:txBody>
      </p:sp>
      <p:sp>
        <p:nvSpPr>
          <p:cNvPr id="6" name="TextBox 5"/>
          <p:cNvSpPr txBox="1"/>
          <p:nvPr/>
        </p:nvSpPr>
        <p:spPr>
          <a:xfrm>
            <a:off x="2128012" y="3580367"/>
            <a:ext cx="1980029" cy="400110"/>
          </a:xfrm>
          <a:prstGeom prst="rect">
            <a:avLst/>
          </a:prstGeom>
          <a:noFill/>
        </p:spPr>
        <p:txBody>
          <a:bodyPr wrap="none" rtlCol="0">
            <a:spAutoFit/>
          </a:bodyPr>
          <a:lstStyle/>
          <a:p>
            <a:r>
              <a:rPr lang="zh-CN" altLang="en-US" sz="2000" b="1" i="1" u="sng" dirty="0">
                <a:solidFill>
                  <a:srgbClr val="C00000"/>
                </a:solidFill>
                <a:latin typeface="+mj-ea"/>
                <a:ea typeface="+mj-ea"/>
              </a:rPr>
              <a:t>敏感性分析步骤</a:t>
            </a:r>
          </a:p>
        </p:txBody>
      </p:sp>
      <p:sp>
        <p:nvSpPr>
          <p:cNvPr id="11" name="标题 1">
            <a:extLst>
              <a:ext uri="{FF2B5EF4-FFF2-40B4-BE49-F238E27FC236}">
                <a16:creationId xmlns:a16="http://schemas.microsoft.com/office/drawing/2014/main" id="{9C95A93E-AAD4-4623-9E0B-BF8045C2CE25}"/>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77513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3C3D542-1DDB-4CFA-88F2-F90906EF404A}"/>
              </a:ext>
            </a:extLst>
          </p:cNvPr>
          <p:cNvSpPr>
            <a:spLocks noGrp="1"/>
          </p:cNvSpPr>
          <p:nvPr>
            <p:ph idx="1"/>
          </p:nvPr>
        </p:nvSpPr>
        <p:spPr/>
        <p:txBody>
          <a:bodyPr/>
          <a:lstStyle/>
          <a:p>
            <a:pPr marL="0" indent="0">
              <a:buNone/>
            </a:pPr>
            <a:r>
              <a:rPr lang="zh-CN" altLang="en-US" dirty="0"/>
              <a:t>    敏感性分析的结果通常用龙卷风图来表示，示例：</a:t>
            </a:r>
          </a:p>
          <a:p>
            <a:endParaRPr lang="zh-CN" altLang="en-US" dirty="0"/>
          </a:p>
        </p:txBody>
      </p:sp>
      <p:pic>
        <p:nvPicPr>
          <p:cNvPr id="5" name="图片 4">
            <a:extLst>
              <a:ext uri="{FF2B5EF4-FFF2-40B4-BE49-F238E27FC236}">
                <a16:creationId xmlns:a16="http://schemas.microsoft.com/office/drawing/2014/main" id="{A6F87D62-5E19-4083-B69F-F567BF419388}"/>
              </a:ext>
            </a:extLst>
          </p:cNvPr>
          <p:cNvPicPr>
            <a:picLocks noChangeAspect="1"/>
          </p:cNvPicPr>
          <p:nvPr/>
        </p:nvPicPr>
        <p:blipFill>
          <a:blip r:embed="rId3"/>
          <a:stretch>
            <a:fillRect/>
          </a:stretch>
        </p:blipFill>
        <p:spPr>
          <a:xfrm>
            <a:off x="2706624" y="1677236"/>
            <a:ext cx="7099104" cy="4861709"/>
          </a:xfrm>
          <a:prstGeom prst="rect">
            <a:avLst/>
          </a:prstGeom>
        </p:spPr>
      </p:pic>
      <p:sp>
        <p:nvSpPr>
          <p:cNvPr id="6" name="标题 1">
            <a:extLst>
              <a:ext uri="{FF2B5EF4-FFF2-40B4-BE49-F238E27FC236}">
                <a16:creationId xmlns:a16="http://schemas.microsoft.com/office/drawing/2014/main" id="{FB115D50-904B-4EA8-AF58-930279652691}"/>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2414932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latin typeface="微软雅黑" panose="020B0503020204020204" pitchFamily="34" charset="-122"/>
              </a:rPr>
              <a:t>决策树模型</a:t>
            </a:r>
          </a:p>
        </p:txBody>
      </p:sp>
      <p:sp>
        <p:nvSpPr>
          <p:cNvPr id="8" name="内容占位符 2"/>
          <p:cNvSpPr txBox="1">
            <a:spLocks/>
          </p:cNvSpPr>
          <p:nvPr/>
        </p:nvSpPr>
        <p:spPr bwMode="auto">
          <a:xfrm>
            <a:off x="1191125" y="1122798"/>
            <a:ext cx="9480885" cy="11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5000"/>
              </a:lnSpc>
              <a:spcBef>
                <a:spcPct val="20000"/>
              </a:spcBef>
              <a:spcAft>
                <a:spcPct val="0"/>
              </a:spcAft>
              <a:buClr>
                <a:schemeClr val="hlink"/>
              </a:buClr>
              <a:buFont typeface="Wingdings" pitchFamily="2" charset="2"/>
              <a:buChar char="v"/>
              <a:defRPr sz="1600" b="0">
                <a:solidFill>
                  <a:schemeClr val="tx2"/>
                </a:solidFill>
                <a:latin typeface="+mj-ea"/>
                <a:ea typeface="+mj-ea"/>
                <a:cs typeface="+mn-cs"/>
              </a:defRPr>
            </a:lvl1pPr>
            <a:lvl2pPr marL="742950" indent="-285750" algn="l" rtl="0" eaLnBrk="0" fontAlgn="base" hangingPunct="0">
              <a:lnSpc>
                <a:spcPct val="125000"/>
              </a:lnSpc>
              <a:spcBef>
                <a:spcPct val="20000"/>
              </a:spcBef>
              <a:spcAft>
                <a:spcPct val="0"/>
              </a:spcAft>
              <a:buClr>
                <a:schemeClr val="accent1"/>
              </a:buClr>
              <a:buFont typeface="Wingdings" pitchFamily="2" charset="2"/>
              <a:buChar char="§"/>
              <a:defRPr sz="1400">
                <a:solidFill>
                  <a:schemeClr val="tx2"/>
                </a:solidFill>
                <a:latin typeface="+mj-ea"/>
                <a:ea typeface="+mj-ea"/>
              </a:defRPr>
            </a:lvl2pPr>
            <a:lvl3pPr marL="1143000" indent="-228600" algn="l" rtl="0" eaLnBrk="0" fontAlgn="base" hangingPunct="0">
              <a:lnSpc>
                <a:spcPct val="125000"/>
              </a:lnSpc>
              <a:spcBef>
                <a:spcPct val="20000"/>
              </a:spcBef>
              <a:spcAft>
                <a:spcPct val="0"/>
              </a:spcAft>
              <a:buClr>
                <a:schemeClr val="tx1"/>
              </a:buClr>
              <a:buChar char="•"/>
              <a:defRPr sz="22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r>
              <a:rPr lang="zh-CN" altLang="en-US" b="1" dirty="0">
                <a:latin typeface="微软雅黑" panose="020B0503020204020204" pitchFamily="34" charset="-122"/>
                <a:ea typeface="微软雅黑" panose="020B0503020204020204" pitchFamily="34" charset="-122"/>
              </a:rPr>
              <a:t>是直观运用概率分析的一种图解法，把一个问题分解为树状展开的各个分支</a:t>
            </a:r>
            <a:endParaRPr lang="en-US" altLang="zh-CN"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在已知各种情况发生概率的基础上，通过构成决策树来求取净现值的期望值大于等于零的概率，评价项目风险，判断其可行性的决策分析方法</a:t>
            </a:r>
          </a:p>
        </p:txBody>
      </p:sp>
      <p:pic>
        <p:nvPicPr>
          <p:cNvPr id="706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802" y="2248287"/>
            <a:ext cx="7072798" cy="4194891"/>
          </a:xfrm>
          <a:prstGeom prst="rect">
            <a:avLst/>
          </a:prstGeom>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337733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蒙特卡洛模拟</a:t>
            </a:r>
          </a:p>
        </p:txBody>
      </p:sp>
      <p:sp>
        <p:nvSpPr>
          <p:cNvPr id="3" name="内容占位符 2"/>
          <p:cNvSpPr>
            <a:spLocks noGrp="1"/>
          </p:cNvSpPr>
          <p:nvPr>
            <p:ph idx="1"/>
          </p:nvPr>
        </p:nvSpPr>
        <p:spPr>
          <a:xfrm>
            <a:off x="1263316" y="1295400"/>
            <a:ext cx="9432758" cy="1269504"/>
          </a:xfrm>
        </p:spPr>
        <p:txBody>
          <a:bodyPr/>
          <a:lstStyle/>
          <a:p>
            <a:r>
              <a:rPr lang="zh-CN" altLang="en-US" sz="2000" dirty="0"/>
              <a:t>又称随机抽样或统计试验方法，属于计算数学的一个分支</a:t>
            </a:r>
          </a:p>
          <a:p>
            <a:r>
              <a:rPr lang="zh-CN" altLang="en-US" sz="2000" dirty="0"/>
              <a:t>当所要求解的问题是某种事件出现的概率，或者是某个随机变量的期望值时采用</a:t>
            </a:r>
          </a:p>
          <a:p>
            <a:r>
              <a:rPr lang="zh-CN" altLang="en-US" sz="2000" dirty="0"/>
              <a:t>以概率模型为基础，进行模拟实验，得到近似解</a:t>
            </a:r>
          </a:p>
        </p:txBody>
      </p:sp>
      <p:sp>
        <p:nvSpPr>
          <p:cNvPr id="4" name="五边形 3"/>
          <p:cNvSpPr/>
          <p:nvPr/>
        </p:nvSpPr>
        <p:spPr bwMode="auto">
          <a:xfrm>
            <a:off x="2504689" y="3581171"/>
            <a:ext cx="2464351"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构造概率过程</a:t>
            </a:r>
          </a:p>
        </p:txBody>
      </p:sp>
      <p:sp>
        <p:nvSpPr>
          <p:cNvPr id="5" name="五边形 4"/>
          <p:cNvSpPr/>
          <p:nvPr/>
        </p:nvSpPr>
        <p:spPr bwMode="auto">
          <a:xfrm>
            <a:off x="5147899" y="3581171"/>
            <a:ext cx="2239489"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实现从概率中抽样</a:t>
            </a:r>
          </a:p>
        </p:txBody>
      </p:sp>
      <p:sp>
        <p:nvSpPr>
          <p:cNvPr id="6" name="五边形 5"/>
          <p:cNvSpPr/>
          <p:nvPr/>
        </p:nvSpPr>
        <p:spPr bwMode="auto">
          <a:xfrm>
            <a:off x="7595563" y="3581171"/>
            <a:ext cx="2088232" cy="360040"/>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600" b="1" dirty="0">
                <a:solidFill>
                  <a:srgbClr val="FFFFCC"/>
                </a:solidFill>
                <a:latin typeface="+mj-ea"/>
                <a:ea typeface="+mj-ea"/>
              </a:rPr>
              <a:t>建立各种估计量</a:t>
            </a:r>
          </a:p>
        </p:txBody>
      </p:sp>
      <p:sp>
        <p:nvSpPr>
          <p:cNvPr id="7" name="矩形 6"/>
          <p:cNvSpPr/>
          <p:nvPr/>
        </p:nvSpPr>
        <p:spPr bwMode="auto">
          <a:xfrm>
            <a:off x="2504690" y="4157235"/>
            <a:ext cx="2464352"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285750" indent="-285750" fontAlgn="base">
              <a:spcBef>
                <a:spcPct val="0"/>
              </a:spcBef>
              <a:spcAft>
                <a:spcPct val="0"/>
              </a:spcAft>
              <a:buFont typeface="Wingdings" pitchFamily="2" charset="2"/>
              <a:buChar char="u"/>
            </a:pP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构造概率过程</a:t>
            </a:r>
            <a:endParaRPr lang="en-US" altLang="zh-CN" sz="1600" b="1" dirty="0">
              <a:solidFill>
                <a:schemeClr val="tx2"/>
              </a:solidFill>
              <a:latin typeface="+mj-ea"/>
              <a:ea typeface="+mj-ea"/>
            </a:endParaRPr>
          </a:p>
          <a:p>
            <a:pPr marL="285750" indent="-285750" fontAlgn="base">
              <a:spcBef>
                <a:spcPct val="0"/>
              </a:spcBef>
              <a:spcAft>
                <a:spcPct val="0"/>
              </a:spcAft>
              <a:buFont typeface="Wingdings" pitchFamily="2" charset="2"/>
              <a:buChar char="u"/>
            </a:pPr>
            <a:r>
              <a:rPr lang="zh-CN" altLang="en-US" sz="1600" b="1" dirty="0">
                <a:solidFill>
                  <a:schemeClr val="tx2"/>
                </a:solidFill>
                <a:latin typeface="+mj-ea"/>
                <a:ea typeface="+mj-ea"/>
              </a:rPr>
              <a:t>确定具体的影响因子</a:t>
            </a:r>
          </a:p>
        </p:txBody>
      </p:sp>
      <p:sp>
        <p:nvSpPr>
          <p:cNvPr id="8" name="矩形 7"/>
          <p:cNvSpPr/>
          <p:nvPr/>
        </p:nvSpPr>
        <p:spPr bwMode="auto">
          <a:xfrm>
            <a:off x="5147291" y="4157235"/>
            <a:ext cx="2240098"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Wingdings" pitchFamily="2" charset="2"/>
              <a:buChar char="u"/>
            </a:pP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确定因子概率分布</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产生随机数</a:t>
            </a:r>
          </a:p>
        </p:txBody>
      </p:sp>
      <p:sp>
        <p:nvSpPr>
          <p:cNvPr id="9" name="矩形 8"/>
          <p:cNvSpPr/>
          <p:nvPr/>
        </p:nvSpPr>
        <p:spPr bwMode="auto">
          <a:xfrm>
            <a:off x="7599079" y="4157235"/>
            <a:ext cx="2088232" cy="140536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Wingdings" pitchFamily="2" charset="2"/>
              <a:buChar char="u"/>
            </a:pP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建立估计量</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进行各种模拟</a:t>
            </a:r>
          </a:p>
        </p:txBody>
      </p:sp>
    </p:spTree>
    <p:extLst>
      <p:ext uri="{BB962C8B-B14F-4D97-AF65-F5344CB8AC3E}">
        <p14:creationId xmlns:p14="http://schemas.microsoft.com/office/powerpoint/2010/main" val="1572576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蒙特卡洛模拟</a:t>
            </a:r>
            <a:r>
              <a:rPr lang="en-US" altLang="zh-CN" dirty="0"/>
              <a:t>-</a:t>
            </a:r>
            <a:r>
              <a:rPr lang="zh-CN" altLang="en-US" dirty="0"/>
              <a:t>例子</a:t>
            </a:r>
          </a:p>
        </p:txBody>
      </p:sp>
      <p:sp>
        <p:nvSpPr>
          <p:cNvPr id="4" name="五边形 3"/>
          <p:cNvSpPr/>
          <p:nvPr/>
        </p:nvSpPr>
        <p:spPr bwMode="auto">
          <a:xfrm>
            <a:off x="848725" y="1219979"/>
            <a:ext cx="1440160" cy="504056"/>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构造概率过程</a:t>
            </a:r>
          </a:p>
        </p:txBody>
      </p:sp>
      <p:sp>
        <p:nvSpPr>
          <p:cNvPr id="5" name="五边形 4"/>
          <p:cNvSpPr/>
          <p:nvPr/>
        </p:nvSpPr>
        <p:spPr bwMode="auto">
          <a:xfrm>
            <a:off x="848725" y="2753342"/>
            <a:ext cx="1440160" cy="529317"/>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实现从概率中抽样</a:t>
            </a:r>
          </a:p>
        </p:txBody>
      </p:sp>
      <p:sp>
        <p:nvSpPr>
          <p:cNvPr id="6" name="五边形 5"/>
          <p:cNvSpPr/>
          <p:nvPr/>
        </p:nvSpPr>
        <p:spPr bwMode="auto">
          <a:xfrm>
            <a:off x="848725" y="4847674"/>
            <a:ext cx="1440160" cy="47879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建立各种</a:t>
            </a:r>
            <a:endParaRPr lang="en-US" altLang="zh-CN" sz="1400" dirty="0">
              <a:solidFill>
                <a:srgbClr val="FFFFCC"/>
              </a:solidFill>
              <a:latin typeface="+mj-ea"/>
              <a:ea typeface="+mj-ea"/>
            </a:endParaRPr>
          </a:p>
          <a:p>
            <a:pPr algn="ctr" fontAlgn="base">
              <a:spcBef>
                <a:spcPct val="0"/>
              </a:spcBef>
              <a:spcAft>
                <a:spcPct val="0"/>
              </a:spcAft>
            </a:pPr>
            <a:r>
              <a:rPr lang="zh-CN" altLang="en-US" sz="1400" dirty="0">
                <a:solidFill>
                  <a:srgbClr val="FFFFCC"/>
                </a:solidFill>
                <a:latin typeface="+mj-ea"/>
                <a:ea typeface="+mj-ea"/>
              </a:rPr>
              <a:t>估计量</a:t>
            </a:r>
          </a:p>
        </p:txBody>
      </p:sp>
      <p:sp>
        <p:nvSpPr>
          <p:cNvPr id="11" name="矩形 10"/>
          <p:cNvSpPr/>
          <p:nvPr/>
        </p:nvSpPr>
        <p:spPr>
          <a:xfrm>
            <a:off x="2553635" y="1219979"/>
            <a:ext cx="5230797" cy="1323439"/>
          </a:xfrm>
          <a:prstGeom prst="rect">
            <a:avLst/>
          </a:prstGeom>
        </p:spPr>
        <p:txBody>
          <a:bodyPr wrap="square">
            <a:spAutoFit/>
          </a:bodyPr>
          <a:lstStyle/>
          <a:p>
            <a:r>
              <a:rPr lang="en-US" altLang="zh-CN" sz="1600" dirty="0">
                <a:latin typeface="+mj-ea"/>
                <a:ea typeface="+mj-ea"/>
              </a:rPr>
              <a:t>Defect Density = 389 + 2.12RV + 5.32DC – 24.1QC</a:t>
            </a:r>
          </a:p>
          <a:p>
            <a:r>
              <a:rPr lang="en-US" altLang="zh-CN" sz="1600" dirty="0">
                <a:latin typeface="+mj-ea"/>
                <a:ea typeface="+mj-ea"/>
              </a:rPr>
              <a:t> </a:t>
            </a:r>
          </a:p>
          <a:p>
            <a:r>
              <a:rPr lang="en-US" altLang="zh-CN" sz="1600" dirty="0">
                <a:latin typeface="+mj-ea"/>
                <a:ea typeface="+mj-ea"/>
              </a:rPr>
              <a:t>RV - </a:t>
            </a:r>
            <a:r>
              <a:rPr lang="zh-CN" altLang="en-US" sz="1600" dirty="0">
                <a:latin typeface="+mj-ea"/>
                <a:ea typeface="+mj-ea"/>
              </a:rPr>
              <a:t>需求的不稳定性。</a:t>
            </a:r>
          </a:p>
          <a:p>
            <a:r>
              <a:rPr lang="en-US" altLang="zh-CN" sz="1600" dirty="0">
                <a:latin typeface="+mj-ea"/>
                <a:ea typeface="+mj-ea"/>
              </a:rPr>
              <a:t>DC - </a:t>
            </a:r>
            <a:r>
              <a:rPr lang="zh-CN" altLang="en-US" sz="1600" dirty="0">
                <a:latin typeface="+mj-ea"/>
                <a:ea typeface="+mj-ea"/>
              </a:rPr>
              <a:t>设计的复杂度。</a:t>
            </a:r>
          </a:p>
          <a:p>
            <a:r>
              <a:rPr lang="en-US" altLang="zh-CN" sz="1600" dirty="0">
                <a:latin typeface="+mj-ea"/>
                <a:ea typeface="+mj-ea"/>
              </a:rPr>
              <a:t>QC - </a:t>
            </a:r>
            <a:r>
              <a:rPr lang="zh-CN" altLang="en-US" sz="1600" dirty="0">
                <a:latin typeface="+mj-ea"/>
                <a:ea typeface="+mj-ea"/>
              </a:rPr>
              <a:t>评审和</a:t>
            </a:r>
            <a:r>
              <a:rPr lang="en-US" altLang="zh-CN" sz="1600" dirty="0">
                <a:latin typeface="+mj-ea"/>
                <a:ea typeface="+mj-ea"/>
              </a:rPr>
              <a:t>Review</a:t>
            </a:r>
            <a:r>
              <a:rPr lang="zh-CN" altLang="en-US" sz="1600" dirty="0">
                <a:latin typeface="+mj-ea"/>
                <a:ea typeface="+mj-ea"/>
              </a:rPr>
              <a:t>等坚持工作的有效性。</a:t>
            </a:r>
          </a:p>
        </p:txBody>
      </p:sp>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600" y="2609326"/>
            <a:ext cx="3204027" cy="1611762"/>
          </a:xfrm>
          <a:prstGeom prst="rect">
            <a:avLst/>
          </a:prstGeom>
          <a:ln/>
        </p:spPr>
        <p:style>
          <a:lnRef idx="1">
            <a:schemeClr val="dk1"/>
          </a:lnRef>
          <a:fillRef idx="2">
            <a:schemeClr val="dk1"/>
          </a:fillRef>
          <a:effectRef idx="1">
            <a:schemeClr val="dk1"/>
          </a:effectRef>
          <a:fontRef idx="minor">
            <a:schemeClr val="dk1"/>
          </a:fontRef>
        </p:style>
      </p:pic>
      <p:sp>
        <p:nvSpPr>
          <p:cNvPr id="12" name="矩形 11"/>
          <p:cNvSpPr/>
          <p:nvPr/>
        </p:nvSpPr>
        <p:spPr>
          <a:xfrm>
            <a:off x="6112727" y="2944105"/>
            <a:ext cx="2872902" cy="338554"/>
          </a:xfrm>
          <a:prstGeom prst="rect">
            <a:avLst/>
          </a:prstGeom>
        </p:spPr>
        <p:txBody>
          <a:bodyPr wrap="none">
            <a:spAutoFit/>
          </a:bodyPr>
          <a:lstStyle/>
          <a:p>
            <a:r>
              <a:rPr lang="zh-CN" altLang="en-US" sz="1600" dirty="0">
                <a:latin typeface="+mj-ea"/>
                <a:ea typeface="+mj-ea"/>
              </a:rPr>
              <a:t>确定三个影响因子的概率分布</a:t>
            </a:r>
          </a:p>
        </p:txBody>
      </p:sp>
      <p:pic>
        <p:nvPicPr>
          <p:cNvPr id="686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205" y="4392002"/>
            <a:ext cx="3628183" cy="2123652"/>
          </a:xfrm>
          <a:prstGeom prst="rect">
            <a:avLst/>
          </a:prstGeom>
          <a:ln/>
        </p:spPr>
        <p:style>
          <a:lnRef idx="1">
            <a:schemeClr val="dk1"/>
          </a:lnRef>
          <a:fillRef idx="2">
            <a:schemeClr val="dk1"/>
          </a:fillRef>
          <a:effectRef idx="1">
            <a:schemeClr val="dk1"/>
          </a:effectRef>
          <a:fontRef idx="minor">
            <a:schemeClr val="dk1"/>
          </a:fontRef>
        </p:style>
      </p:pic>
      <p:sp>
        <p:nvSpPr>
          <p:cNvPr id="15" name="矩形 14"/>
          <p:cNvSpPr/>
          <p:nvPr/>
        </p:nvSpPr>
        <p:spPr>
          <a:xfrm>
            <a:off x="6534583" y="4373991"/>
            <a:ext cx="1826141" cy="338554"/>
          </a:xfrm>
          <a:prstGeom prst="rect">
            <a:avLst/>
          </a:prstGeom>
        </p:spPr>
        <p:txBody>
          <a:bodyPr wrap="none">
            <a:spAutoFit/>
          </a:bodyPr>
          <a:lstStyle/>
          <a:p>
            <a:r>
              <a:rPr lang="en-US" altLang="zh-CN" sz="1600" dirty="0">
                <a:latin typeface="+mj-ea"/>
                <a:ea typeface="+mj-ea"/>
              </a:rPr>
              <a:t>90%</a:t>
            </a:r>
            <a:r>
              <a:rPr lang="zh-CN" altLang="en-US" sz="1600" dirty="0">
                <a:latin typeface="+mj-ea"/>
                <a:ea typeface="+mj-ea"/>
              </a:rPr>
              <a:t>的概率</a:t>
            </a:r>
            <a:r>
              <a:rPr lang="en-US" altLang="zh-CN" sz="1600" dirty="0">
                <a:latin typeface="+mj-ea"/>
                <a:ea typeface="+mj-ea"/>
              </a:rPr>
              <a:t>DD&lt;0.42</a:t>
            </a:r>
            <a:endParaRPr lang="zh-CN" altLang="en-US" sz="1600" dirty="0">
              <a:latin typeface="+mj-ea"/>
              <a:ea typeface="+mj-ea"/>
            </a:endParaRPr>
          </a:p>
        </p:txBody>
      </p:sp>
      <p:sp>
        <p:nvSpPr>
          <p:cNvPr id="13" name="TextBox 12"/>
          <p:cNvSpPr txBox="1"/>
          <p:nvPr/>
        </p:nvSpPr>
        <p:spPr>
          <a:xfrm>
            <a:off x="8457540" y="4343640"/>
            <a:ext cx="2236510" cy="338554"/>
          </a:xfrm>
          <a:prstGeom prst="rect">
            <a:avLst/>
          </a:prstGeom>
          <a:noFill/>
        </p:spPr>
        <p:txBody>
          <a:bodyPr wrap="none" rtlCol="0">
            <a:spAutoFit/>
          </a:bodyPr>
          <a:lstStyle/>
          <a:p>
            <a:r>
              <a:rPr lang="zh-CN" altLang="en-US" sz="1600" i="1" dirty="0">
                <a:solidFill>
                  <a:srgbClr val="C00000"/>
                </a:solidFill>
                <a:latin typeface="+mj-ea"/>
                <a:ea typeface="+mj-ea"/>
              </a:rPr>
              <a:t>目标是</a:t>
            </a:r>
            <a:r>
              <a:rPr lang="en-US" altLang="zh-CN" sz="1600" i="1" dirty="0">
                <a:solidFill>
                  <a:srgbClr val="C00000"/>
                </a:solidFill>
                <a:latin typeface="+mj-ea"/>
                <a:ea typeface="+mj-ea"/>
              </a:rPr>
              <a:t>90%</a:t>
            </a:r>
            <a:r>
              <a:rPr lang="zh-CN" altLang="en-US" sz="1600" i="1" dirty="0">
                <a:solidFill>
                  <a:srgbClr val="C00000"/>
                </a:solidFill>
                <a:latin typeface="+mj-ea"/>
                <a:ea typeface="+mj-ea"/>
              </a:rPr>
              <a:t>情况</a:t>
            </a:r>
            <a:r>
              <a:rPr lang="en-US" altLang="zh-CN" sz="1600" i="1" dirty="0">
                <a:solidFill>
                  <a:srgbClr val="C00000"/>
                </a:solidFill>
                <a:latin typeface="+mj-ea"/>
                <a:ea typeface="+mj-ea"/>
              </a:rPr>
              <a:t>DD&lt;0.35</a:t>
            </a:r>
            <a:endParaRPr lang="zh-CN" altLang="en-US" sz="1600" i="1" dirty="0">
              <a:solidFill>
                <a:srgbClr val="C00000"/>
              </a:solidFill>
              <a:latin typeface="+mj-ea"/>
              <a:ea typeface="+mj-ea"/>
            </a:endParaRPr>
          </a:p>
        </p:txBody>
      </p:sp>
      <p:sp>
        <p:nvSpPr>
          <p:cNvPr id="17" name="矩形 16"/>
          <p:cNvSpPr/>
          <p:nvPr/>
        </p:nvSpPr>
        <p:spPr>
          <a:xfrm>
            <a:off x="6534583" y="4678397"/>
            <a:ext cx="2236510" cy="338554"/>
          </a:xfrm>
          <a:prstGeom prst="rect">
            <a:avLst/>
          </a:prstGeom>
        </p:spPr>
        <p:txBody>
          <a:bodyPr wrap="none">
            <a:spAutoFit/>
          </a:bodyPr>
          <a:lstStyle/>
          <a:p>
            <a:r>
              <a:rPr lang="zh-CN" altLang="en-US" sz="1600" dirty="0">
                <a:latin typeface="+mj-ea"/>
                <a:ea typeface="+mj-ea"/>
              </a:rPr>
              <a:t>需要改进</a:t>
            </a:r>
            <a:r>
              <a:rPr lang="en-US" altLang="zh-CN" sz="1600" dirty="0">
                <a:latin typeface="+mj-ea"/>
                <a:ea typeface="+mj-ea"/>
              </a:rPr>
              <a:t>QC</a:t>
            </a:r>
            <a:r>
              <a:rPr lang="zh-CN" altLang="en-US" sz="1600" dirty="0">
                <a:latin typeface="+mj-ea"/>
                <a:ea typeface="+mj-ea"/>
              </a:rPr>
              <a:t>区间</a:t>
            </a:r>
            <a:r>
              <a:rPr lang="en-US" altLang="zh-CN" sz="1600" dirty="0">
                <a:latin typeface="+mj-ea"/>
                <a:ea typeface="+mj-ea"/>
              </a:rPr>
              <a:t>(8-10)</a:t>
            </a:r>
            <a:endParaRPr lang="zh-CN" altLang="en-US" sz="1600" dirty="0">
              <a:latin typeface="+mj-ea"/>
              <a:ea typeface="+mj-ea"/>
            </a:endParaRPr>
          </a:p>
        </p:txBody>
      </p:sp>
      <p:pic>
        <p:nvPicPr>
          <p:cNvPr id="686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9126" y="5050157"/>
            <a:ext cx="3349116" cy="1497658"/>
          </a:xfrm>
          <a:prstGeom prst="rect">
            <a:avLst/>
          </a:prstGeom>
          <a:ln/>
        </p:spPr>
        <p:style>
          <a:lnRef idx="1">
            <a:schemeClr val="dk1"/>
          </a:lnRef>
          <a:fillRef idx="2">
            <a:schemeClr val="dk1"/>
          </a:fillRef>
          <a:effectRef idx="1">
            <a:schemeClr val="dk1"/>
          </a:effectRef>
          <a:fontRef idx="minor">
            <a:schemeClr val="dk1"/>
          </a:fontRef>
        </p:style>
      </p:pic>
    </p:spTree>
    <p:extLst>
      <p:ext uri="{BB962C8B-B14F-4D97-AF65-F5344CB8AC3E}">
        <p14:creationId xmlns:p14="http://schemas.microsoft.com/office/powerpoint/2010/main" val="3934883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4BD5B5E-046D-47EF-B1AB-479AEF91F57A}"/>
              </a:ext>
            </a:extLst>
          </p:cNvPr>
          <p:cNvSpPr>
            <a:spLocks noGrp="1"/>
          </p:cNvSpPr>
          <p:nvPr>
            <p:ph idx="1"/>
          </p:nvPr>
        </p:nvSpPr>
        <p:spPr/>
        <p:txBody>
          <a:bodyPr/>
          <a:lstStyle/>
          <a:p>
            <a:r>
              <a:rPr lang="zh-CN" altLang="en-US" dirty="0"/>
              <a:t>实施定量风险分析的输出</a:t>
            </a:r>
          </a:p>
          <a:p>
            <a:pPr lvl="1"/>
            <a:r>
              <a:rPr lang="zh-CN" altLang="en-US" dirty="0"/>
              <a:t>项目文件更新</a:t>
            </a:r>
            <a:endParaRPr lang="en-US" altLang="zh-CN" dirty="0"/>
          </a:p>
          <a:p>
            <a:pPr lvl="2"/>
            <a:r>
              <a:rPr lang="zh-CN" altLang="en-US" dirty="0"/>
              <a:t>更新风险报告，反映定量风险分析的结果，通常包括：</a:t>
            </a:r>
            <a:endParaRPr lang="en-US" altLang="zh-CN" dirty="0"/>
          </a:p>
          <a:p>
            <a:pPr lvl="3"/>
            <a:r>
              <a:rPr lang="zh-CN" altLang="en-US" sz="1600" dirty="0"/>
              <a:t>对整体项目风险敞口的评估结果：项目成功的可能性，项目固有的变异性</a:t>
            </a:r>
            <a:endParaRPr lang="en-US" altLang="zh-CN" sz="1600" dirty="0"/>
          </a:p>
          <a:p>
            <a:pPr lvl="3"/>
            <a:r>
              <a:rPr lang="zh-CN" altLang="en-US" sz="1600" dirty="0"/>
              <a:t>项目详细概率分析的结果：</a:t>
            </a:r>
            <a:endParaRPr lang="en-US" altLang="zh-CN" sz="1600" dirty="0"/>
          </a:p>
          <a:p>
            <a:pPr lvl="4"/>
            <a:r>
              <a:rPr lang="zh-CN" altLang="en-US" sz="1600" dirty="0"/>
              <a:t>所需的应急储备，</a:t>
            </a:r>
            <a:endParaRPr lang="en-US" altLang="zh-CN" sz="1600" dirty="0"/>
          </a:p>
          <a:p>
            <a:pPr lvl="4"/>
            <a:r>
              <a:rPr lang="zh-CN" altLang="en-US" sz="1600" dirty="0"/>
              <a:t>对项目关键路径有最大影响的单个项目风险或其他不确定性来源的清单</a:t>
            </a:r>
            <a:endParaRPr lang="en-US" altLang="zh-CN" sz="1600" dirty="0"/>
          </a:p>
          <a:p>
            <a:pPr lvl="4"/>
            <a:r>
              <a:rPr lang="zh-CN" altLang="en-US" sz="1600" dirty="0"/>
              <a:t>对项目结果的不确定性有最大影响的因素</a:t>
            </a:r>
          </a:p>
          <a:p>
            <a:pPr lvl="3"/>
            <a:r>
              <a:rPr lang="zh-CN" altLang="en-US" sz="1600" dirty="0">
                <a:latin typeface="SourceHanSansSC-Bold"/>
              </a:rPr>
              <a:t>单个项目风险优先级清单</a:t>
            </a:r>
            <a:endParaRPr lang="en-US" altLang="zh-CN" sz="1600" dirty="0">
              <a:latin typeface="SourceHanSansSC-Bold"/>
            </a:endParaRPr>
          </a:p>
          <a:p>
            <a:pPr lvl="3"/>
            <a:r>
              <a:rPr lang="zh-CN" altLang="en-US" sz="1600" dirty="0"/>
              <a:t>定量风险分析结果的趋势</a:t>
            </a:r>
            <a:endParaRPr lang="en-US" altLang="zh-CN" sz="1600" dirty="0"/>
          </a:p>
          <a:p>
            <a:pPr lvl="3"/>
            <a:r>
              <a:rPr lang="zh-CN" altLang="en-US" sz="1600" dirty="0"/>
              <a:t>风险应对建议</a:t>
            </a:r>
          </a:p>
          <a:p>
            <a:pPr lvl="1"/>
            <a:endParaRPr lang="zh-CN" altLang="en-US" dirty="0"/>
          </a:p>
        </p:txBody>
      </p:sp>
      <p:sp>
        <p:nvSpPr>
          <p:cNvPr id="4" name="标题 1">
            <a:extLst>
              <a:ext uri="{FF2B5EF4-FFF2-40B4-BE49-F238E27FC236}">
                <a16:creationId xmlns:a16="http://schemas.microsoft.com/office/drawing/2014/main" id="{494DED50-00D1-457A-AB4B-669C027B6DE2}"/>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17.5 </a:t>
            </a:r>
            <a:r>
              <a:rPr lang="zh-CN" altLang="en-US" dirty="0"/>
              <a:t>实施定量风险分析</a:t>
            </a:r>
          </a:p>
        </p:txBody>
      </p:sp>
    </p:spTree>
    <p:extLst>
      <p:ext uri="{BB962C8B-B14F-4D97-AF65-F5344CB8AC3E}">
        <p14:creationId xmlns:p14="http://schemas.microsoft.com/office/powerpoint/2010/main" val="184764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0700" y="1171212"/>
            <a:ext cx="3667086" cy="437186"/>
          </a:xfrm>
          <a:prstGeom prst="rect">
            <a:avLst/>
          </a:prstGeom>
        </p:spPr>
        <p:txBody>
          <a:bodyPr/>
          <a:lstStyle/>
          <a:p>
            <a:r>
              <a:rPr lang="zh-CN" altLang="en-US" sz="2400" dirty="0"/>
              <a:t>定量风险分析的输出</a:t>
            </a:r>
          </a:p>
        </p:txBody>
      </p:sp>
      <p:sp>
        <p:nvSpPr>
          <p:cNvPr id="3" name="内容占位符 2"/>
          <p:cNvSpPr>
            <a:spLocks noGrp="1"/>
          </p:cNvSpPr>
          <p:nvPr>
            <p:ph idx="1"/>
          </p:nvPr>
        </p:nvSpPr>
        <p:spPr>
          <a:xfrm>
            <a:off x="1058779" y="1642841"/>
            <a:ext cx="9986210" cy="1269504"/>
          </a:xfrm>
        </p:spPr>
        <p:txBody>
          <a:bodyPr/>
          <a:lstStyle/>
          <a:p>
            <a:r>
              <a:rPr lang="zh-CN" altLang="en-US" sz="2000" dirty="0"/>
              <a:t>这个项目</a:t>
            </a:r>
            <a:r>
              <a:rPr lang="en-US" altLang="zh-CN" sz="2000" dirty="0"/>
              <a:t>3</a:t>
            </a:r>
            <a:r>
              <a:rPr lang="zh-CN" altLang="en-US" sz="2000" dirty="0"/>
              <a:t>个月完成概率是</a:t>
            </a:r>
            <a:r>
              <a:rPr lang="en-US" altLang="zh-CN" sz="2000" dirty="0"/>
              <a:t>70%</a:t>
            </a:r>
            <a:r>
              <a:rPr lang="zh-CN" altLang="en-US" sz="2000" dirty="0"/>
              <a:t>，</a:t>
            </a:r>
            <a:r>
              <a:rPr lang="en-US" altLang="zh-CN" sz="2000" dirty="0"/>
              <a:t>3</a:t>
            </a:r>
            <a:r>
              <a:rPr lang="zh-CN" altLang="en-US" sz="2000" dirty="0"/>
              <a:t>个半月完成概率是</a:t>
            </a:r>
            <a:r>
              <a:rPr lang="en-US" altLang="zh-CN" sz="2000" dirty="0"/>
              <a:t>90%</a:t>
            </a:r>
            <a:r>
              <a:rPr lang="zh-CN" altLang="en-US" sz="2000" dirty="0"/>
              <a:t>。（在资源不变情况下）</a:t>
            </a:r>
          </a:p>
          <a:p>
            <a:r>
              <a:rPr lang="zh-CN" altLang="en-US" sz="2000" dirty="0"/>
              <a:t>项目按期完成概率是</a:t>
            </a:r>
            <a:r>
              <a:rPr lang="en-US" altLang="zh-CN" sz="2000" dirty="0"/>
              <a:t>80%</a:t>
            </a:r>
            <a:r>
              <a:rPr lang="zh-CN" altLang="en-US" sz="2000" dirty="0"/>
              <a:t>，但是如果再投入一个熟手，安期完工概率为</a:t>
            </a:r>
            <a:r>
              <a:rPr lang="en-US" altLang="zh-CN" sz="2000" dirty="0"/>
              <a:t>95%</a:t>
            </a:r>
          </a:p>
          <a:p>
            <a:r>
              <a:rPr lang="zh-CN" altLang="en-US" sz="2000" dirty="0"/>
              <a:t>如果项目评审工作量在增加</a:t>
            </a:r>
            <a:r>
              <a:rPr lang="en-US" altLang="zh-CN" sz="2000" dirty="0"/>
              <a:t>20%</a:t>
            </a:r>
            <a:r>
              <a:rPr lang="zh-CN" altLang="en-US" sz="2000" dirty="0"/>
              <a:t>，项目的缺陷密度可以控制在</a:t>
            </a:r>
            <a:r>
              <a:rPr lang="en-US" altLang="zh-CN" sz="2000" dirty="0"/>
              <a:t>0.5</a:t>
            </a:r>
            <a:r>
              <a:rPr lang="zh-CN" altLang="en-US" sz="2000" dirty="0"/>
              <a:t>个</a:t>
            </a:r>
            <a:r>
              <a:rPr lang="en-US" altLang="zh-CN" sz="2000" dirty="0"/>
              <a:t>/</a:t>
            </a:r>
            <a:r>
              <a:rPr lang="en-US" altLang="zh-CN" sz="2000" dirty="0" err="1"/>
              <a:t>kloc</a:t>
            </a:r>
            <a:r>
              <a:rPr lang="zh-CN" altLang="en-US" sz="2000" dirty="0"/>
              <a:t>以内</a:t>
            </a:r>
          </a:p>
          <a:p>
            <a:endParaRPr lang="zh-CN" altLang="en-US" sz="2000" dirty="0"/>
          </a:p>
        </p:txBody>
      </p:sp>
      <p:sp>
        <p:nvSpPr>
          <p:cNvPr id="10" name="TextBox 9"/>
          <p:cNvSpPr txBox="1"/>
          <p:nvPr/>
        </p:nvSpPr>
        <p:spPr>
          <a:xfrm>
            <a:off x="3144282" y="5004289"/>
            <a:ext cx="5827236" cy="400110"/>
          </a:xfrm>
          <a:prstGeom prst="rect">
            <a:avLst/>
          </a:prstGeom>
          <a:noFill/>
        </p:spPr>
        <p:txBody>
          <a:bodyPr wrap="none" rtlCol="0">
            <a:spAutoFit/>
          </a:bodyPr>
          <a:lstStyle/>
          <a:p>
            <a:r>
              <a:rPr lang="zh-CN" altLang="en-US" sz="2000" i="1" dirty="0">
                <a:solidFill>
                  <a:srgbClr val="C00000"/>
                </a:solidFill>
                <a:latin typeface="微软雅黑" panose="020B0503020204020204" pitchFamily="34" charset="-122"/>
                <a:ea typeface="微软雅黑" panose="020B0503020204020204" pitchFamily="34" charset="-122"/>
              </a:rPr>
              <a:t>定量风险分析一定是完成进度或成本目标的概率！</a:t>
            </a:r>
          </a:p>
        </p:txBody>
      </p:sp>
      <p:sp>
        <p:nvSpPr>
          <p:cNvPr id="5" name="标题 1">
            <a:extLst>
              <a:ext uri="{FF2B5EF4-FFF2-40B4-BE49-F238E27FC236}">
                <a16:creationId xmlns:a16="http://schemas.microsoft.com/office/drawing/2014/main" id="{62BFAF63-CF26-4542-84BB-D804552E0BD5}"/>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30777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5357" y="980728"/>
            <a:ext cx="2371686" cy="437186"/>
          </a:xfrm>
          <a:prstGeom prst="rect">
            <a:avLst/>
          </a:prstGeom>
        </p:spPr>
        <p:txBody>
          <a:bodyPr/>
          <a:lstStyle/>
          <a:p>
            <a:r>
              <a:rPr lang="zh-CN" altLang="en-US" dirty="0"/>
              <a:t>与熊共舞</a:t>
            </a:r>
          </a:p>
        </p:txBody>
      </p:sp>
      <p:sp>
        <p:nvSpPr>
          <p:cNvPr id="3" name="内容占位符 2"/>
          <p:cNvSpPr>
            <a:spLocks noGrp="1"/>
          </p:cNvSpPr>
          <p:nvPr>
            <p:ph idx="1"/>
          </p:nvPr>
        </p:nvSpPr>
        <p:spPr>
          <a:xfrm>
            <a:off x="1239253" y="1295400"/>
            <a:ext cx="7305019" cy="4581872"/>
          </a:xfrm>
        </p:spPr>
        <p:txBody>
          <a:bodyPr/>
          <a:lstStyle/>
          <a:p>
            <a:pPr>
              <a:lnSpc>
                <a:spcPct val="130000"/>
              </a:lnSpc>
            </a:pPr>
            <a:r>
              <a:rPr lang="zh-CN" altLang="en-US" sz="1600" dirty="0"/>
              <a:t>要做有风险的项目，没有风险项目只能说各种储备量太大</a:t>
            </a:r>
            <a:endParaRPr lang="en-US" altLang="zh-CN" sz="1600" dirty="0"/>
          </a:p>
          <a:p>
            <a:pPr>
              <a:lnSpc>
                <a:spcPct val="130000"/>
              </a:lnSpc>
            </a:pPr>
            <a:r>
              <a:rPr lang="zh-CN" altLang="en-US" sz="1600" dirty="0"/>
              <a:t>把关键风险能够真正识别出来才是风险管理的关键</a:t>
            </a:r>
            <a:endParaRPr lang="en-US" altLang="zh-CN" sz="1600" dirty="0"/>
          </a:p>
          <a:p>
            <a:pPr>
              <a:lnSpc>
                <a:spcPct val="130000"/>
              </a:lnSpc>
            </a:pPr>
            <a:r>
              <a:rPr lang="zh-CN" altLang="en-US" sz="1600" dirty="0"/>
              <a:t>风险管理贯彻整个项目管理生命周期</a:t>
            </a:r>
            <a:endParaRPr lang="en-US" altLang="zh-CN" sz="1600" dirty="0"/>
          </a:p>
          <a:p>
            <a:pPr>
              <a:lnSpc>
                <a:spcPct val="130000"/>
              </a:lnSpc>
            </a:pPr>
            <a:r>
              <a:rPr lang="zh-CN" altLang="en-US" sz="1600" dirty="0"/>
              <a:t>风险暴露度</a:t>
            </a:r>
            <a:r>
              <a:rPr lang="en-US" altLang="zh-CN" sz="1600" dirty="0">
                <a:sym typeface="Wingdings" panose="05000000000000000000" pitchFamily="2" charset="2"/>
              </a:rPr>
              <a:t></a:t>
            </a:r>
            <a:r>
              <a:rPr lang="zh-CN" altLang="en-US" sz="1600" dirty="0"/>
              <a:t>涉及到你的应急和管理储备</a:t>
            </a:r>
            <a:endParaRPr lang="en-US" altLang="zh-CN" sz="1600" dirty="0"/>
          </a:p>
          <a:p>
            <a:pPr>
              <a:lnSpc>
                <a:spcPct val="130000"/>
              </a:lnSpc>
            </a:pPr>
            <a:r>
              <a:rPr lang="zh-CN" altLang="en-US" sz="1600" dirty="0"/>
              <a:t>关键风险的不确定性应该量化分析和评估</a:t>
            </a:r>
            <a:endParaRPr lang="en-US" altLang="zh-CN" sz="1600" dirty="0"/>
          </a:p>
          <a:p>
            <a:pPr>
              <a:lnSpc>
                <a:spcPct val="130000"/>
              </a:lnSpc>
            </a:pPr>
            <a:r>
              <a:rPr lang="zh-CN" altLang="en-US" sz="1600" dirty="0"/>
              <a:t>风险的转化指标和触发事件</a:t>
            </a:r>
            <a:endParaRPr lang="en-US" altLang="zh-CN" sz="1600" dirty="0"/>
          </a:p>
          <a:p>
            <a:pPr>
              <a:lnSpc>
                <a:spcPct val="130000"/>
              </a:lnSpc>
            </a:pPr>
            <a:r>
              <a:rPr lang="zh-CN" altLang="en-US" sz="1600" dirty="0"/>
              <a:t>蒙特卡洛模拟方法的使用</a:t>
            </a:r>
            <a:endParaRPr lang="en-US" altLang="zh-CN" sz="1600" dirty="0"/>
          </a:p>
          <a:p>
            <a:pPr>
              <a:lnSpc>
                <a:spcPct val="130000"/>
              </a:lnSpc>
            </a:pPr>
            <a:r>
              <a:rPr lang="en-US" altLang="zh-CN" sz="1600" dirty="0"/>
              <a:t>IT</a:t>
            </a:r>
            <a:r>
              <a:rPr lang="zh-CN" altLang="en-US" sz="1600" dirty="0"/>
              <a:t>项目管理中的关键风险总结</a:t>
            </a:r>
            <a:endParaRPr lang="en-US" altLang="zh-CN" sz="1600" dirty="0"/>
          </a:p>
          <a:p>
            <a:pPr lvl="1">
              <a:lnSpc>
                <a:spcPct val="130000"/>
              </a:lnSpc>
            </a:pPr>
            <a:r>
              <a:rPr lang="zh-CN" altLang="en-US" sz="1400" i="1" dirty="0"/>
              <a:t>进度安排的先天错误 </a:t>
            </a:r>
            <a:r>
              <a:rPr lang="en-US" altLang="zh-CN" sz="1400" i="1" dirty="0"/>
              <a:t>(</a:t>
            </a:r>
            <a:r>
              <a:rPr lang="zh-CN" altLang="en-US" sz="1400" i="1" dirty="0"/>
              <a:t>必须要重视估算准确性</a:t>
            </a:r>
            <a:r>
              <a:rPr lang="en-US" altLang="zh-CN" sz="1400" i="1" dirty="0"/>
              <a:t>)</a:t>
            </a:r>
          </a:p>
          <a:p>
            <a:pPr lvl="1">
              <a:lnSpc>
                <a:spcPct val="130000"/>
              </a:lnSpc>
            </a:pPr>
            <a:r>
              <a:rPr lang="zh-CN" altLang="en-US" sz="1400" i="1" dirty="0"/>
              <a:t>需求蔓延或需求变更过多 </a:t>
            </a:r>
            <a:r>
              <a:rPr lang="en-US" altLang="zh-CN" sz="1400" i="1" dirty="0"/>
              <a:t>(</a:t>
            </a:r>
            <a:r>
              <a:rPr lang="zh-CN" altLang="en-US" sz="1400" i="1" dirty="0"/>
              <a:t>定义可承受的需求范围偏离</a:t>
            </a:r>
            <a:r>
              <a:rPr lang="en-US" altLang="zh-CN" sz="1400" i="1" dirty="0"/>
              <a:t>)</a:t>
            </a:r>
          </a:p>
          <a:p>
            <a:pPr lvl="1">
              <a:lnSpc>
                <a:spcPct val="130000"/>
              </a:lnSpc>
            </a:pPr>
            <a:r>
              <a:rPr lang="zh-CN" altLang="en-US" sz="1400" i="1" dirty="0"/>
              <a:t>人员流失</a:t>
            </a:r>
          </a:p>
          <a:p>
            <a:pPr lvl="1">
              <a:lnSpc>
                <a:spcPct val="130000"/>
              </a:lnSpc>
            </a:pPr>
            <a:r>
              <a:rPr lang="zh-CN" altLang="en-US" sz="1400" i="1" dirty="0"/>
              <a:t>规约崩溃</a:t>
            </a:r>
          </a:p>
          <a:p>
            <a:pPr lvl="1">
              <a:lnSpc>
                <a:spcPct val="130000"/>
              </a:lnSpc>
            </a:pPr>
            <a:r>
              <a:rPr lang="zh-CN" altLang="en-US" sz="1400" i="1" dirty="0"/>
              <a:t>低生产率</a:t>
            </a:r>
            <a:endParaRPr lang="en-US" altLang="zh-CN" sz="1400" i="1" dirty="0"/>
          </a:p>
          <a:p>
            <a:pPr>
              <a:lnSpc>
                <a:spcPct val="130000"/>
              </a:lnSpc>
            </a:pPr>
            <a:endParaRPr lang="zh-CN" altLang="en-US" sz="1600" dirty="0"/>
          </a:p>
        </p:txBody>
      </p:sp>
      <p:pic>
        <p:nvPicPr>
          <p:cNvPr id="747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4972" y="2492896"/>
            <a:ext cx="2695484" cy="3960440"/>
          </a:xfrm>
          <a:prstGeom prst="rect">
            <a:avLst/>
          </a:prstGeom>
          <a:ln/>
        </p:spPr>
        <p:style>
          <a:lnRef idx="2">
            <a:schemeClr val="accent3"/>
          </a:lnRef>
          <a:fillRef idx="1">
            <a:schemeClr val="lt1"/>
          </a:fillRef>
          <a:effectRef idx="0">
            <a:schemeClr val="accent3"/>
          </a:effectRef>
          <a:fontRef idx="minor">
            <a:schemeClr val="dk1"/>
          </a:fontRef>
        </p:style>
      </p:pic>
      <p:sp>
        <p:nvSpPr>
          <p:cNvPr id="5" name="标题 1">
            <a:extLst>
              <a:ext uri="{FF2B5EF4-FFF2-40B4-BE49-F238E27FC236}">
                <a16:creationId xmlns:a16="http://schemas.microsoft.com/office/drawing/2014/main" id="{806A062C-58EA-42DE-B145-04BC7061F37B}"/>
              </a:ext>
            </a:extLst>
          </p:cNvPr>
          <p:cNvSpPr txBox="1">
            <a:spLocks/>
          </p:cNvSpPr>
          <p:nvPr/>
        </p:nvSpPr>
        <p:spPr>
          <a:xfrm>
            <a:off x="1981200" y="614465"/>
            <a:ext cx="8229600" cy="320795"/>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17.5 </a:t>
            </a:r>
            <a:r>
              <a:rPr lang="zh-CN" altLang="en-US" dirty="0"/>
              <a:t>实施定量风险分析</a:t>
            </a:r>
          </a:p>
        </p:txBody>
      </p:sp>
    </p:spTree>
    <p:extLst>
      <p:ext uri="{BB962C8B-B14F-4D97-AF65-F5344CB8AC3E}">
        <p14:creationId xmlns:p14="http://schemas.microsoft.com/office/powerpoint/2010/main" val="2534373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4220AAB9-9D0C-456B-921B-365142992727}"/>
              </a:ext>
            </a:extLst>
          </p:cNvPr>
          <p:cNvSpPr>
            <a:spLocks noGrp="1"/>
          </p:cNvSpPr>
          <p:nvPr>
            <p:ph idx="1"/>
          </p:nvPr>
        </p:nvSpPr>
        <p:spPr>
          <a:xfrm>
            <a:off x="914399" y="1017067"/>
            <a:ext cx="10371221" cy="5133791"/>
          </a:xfrm>
        </p:spPr>
        <p:txBody>
          <a:bodyPr/>
          <a:lstStyle/>
          <a:p>
            <a:pPr>
              <a:lnSpc>
                <a:spcPct val="130000"/>
              </a:lnSpc>
            </a:pPr>
            <a:r>
              <a:rPr lang="zh-CN" altLang="en-US" sz="1800" dirty="0">
                <a:latin typeface="微软雅黑" panose="020B0503020204020204" pitchFamily="34" charset="-122"/>
              </a:rPr>
              <a:t>规划风险应对是为处理整体项目风险敞口，以及应对单个项目风险，而制定可选方案、选择应对策略并商定应对行动的过程。</a:t>
            </a:r>
            <a:endParaRPr lang="en-US" altLang="zh-CN" sz="1800" dirty="0">
              <a:latin typeface="微软雅黑" panose="020B0503020204020204" pitchFamily="34" charset="-122"/>
            </a:endParaRPr>
          </a:p>
          <a:p>
            <a:pPr lvl="1">
              <a:lnSpc>
                <a:spcPct val="130000"/>
              </a:lnSpc>
            </a:pPr>
            <a:r>
              <a:rPr lang="zh-CN" altLang="en-US" sz="1600" dirty="0">
                <a:latin typeface="微软雅黑" panose="020B0503020204020204" pitchFamily="34" charset="-122"/>
              </a:rPr>
              <a:t>主要作用是，制定应对整体项目风险和单个项目风险的适当方法；本过程还将分配资源，并根据需要将相关活动添加进项目文件和项目管理计划。</a:t>
            </a:r>
          </a:p>
        </p:txBody>
      </p:sp>
      <p:sp>
        <p:nvSpPr>
          <p:cNvPr id="15362" name="标题 1"/>
          <p:cNvSpPr>
            <a:spLocks noGrp="1"/>
          </p:cNvSpPr>
          <p:nvPr>
            <p:ph type="title"/>
          </p:nvPr>
        </p:nvSpPr>
        <p:spPr>
          <a:xfrm>
            <a:off x="1990686" y="599591"/>
            <a:ext cx="8229600" cy="437186"/>
          </a:xfrm>
          <a:prstGeom prst="rect">
            <a:avLst/>
          </a:prstGeom>
        </p:spPr>
        <p:txBody>
          <a:bodyPr/>
          <a:lstStyle/>
          <a:p>
            <a:pPr eaLnBrk="1" hangingPunct="1"/>
            <a:r>
              <a:rPr lang="en-US" altLang="zh-CN" dirty="0">
                <a:latin typeface="微软雅黑" panose="020B0503020204020204" pitchFamily="34" charset="-122"/>
              </a:rPr>
              <a:t>17.6 </a:t>
            </a:r>
            <a:r>
              <a:rPr lang="zh-CN" altLang="en-US" dirty="0">
                <a:latin typeface="微软雅黑" panose="020B0503020204020204" pitchFamily="34" charset="-122"/>
              </a:rPr>
              <a:t>规划风险应对</a:t>
            </a:r>
          </a:p>
        </p:txBody>
      </p:sp>
      <p:sp>
        <p:nvSpPr>
          <p:cNvPr id="15363" name="AutoShape 5"/>
          <p:cNvSpPr>
            <a:spLocks noChangeArrowheads="1"/>
          </p:cNvSpPr>
          <p:nvPr/>
        </p:nvSpPr>
        <p:spPr bwMode="auto">
          <a:xfrm>
            <a:off x="2063751" y="32475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5" name="Rectangle 6"/>
          <p:cNvSpPr>
            <a:spLocks noChangeArrowheads="1"/>
          </p:cNvSpPr>
          <p:nvPr/>
        </p:nvSpPr>
        <p:spPr bwMode="auto">
          <a:xfrm>
            <a:off x="2279650"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输入</a:t>
            </a:r>
          </a:p>
        </p:txBody>
      </p:sp>
      <p:sp>
        <p:nvSpPr>
          <p:cNvPr id="15365" name="Rectangle 7"/>
          <p:cNvSpPr>
            <a:spLocks noChangeArrowheads="1"/>
          </p:cNvSpPr>
          <p:nvPr/>
        </p:nvSpPr>
        <p:spPr bwMode="auto">
          <a:xfrm>
            <a:off x="2279650" y="2960241"/>
            <a:ext cx="2305050" cy="3443387"/>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成本基准</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资源日历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相关方登记册</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事业环境因素</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anose="020B0503020204020204" pitchFamily="34" charset="-122"/>
                <a:ea typeface="微软雅黑" panose="020B0503020204020204" pitchFamily="34" charset="-122"/>
              </a:rPr>
              <a:t>工具和技术</a:t>
            </a:r>
          </a:p>
        </p:txBody>
      </p:sp>
      <p:sp>
        <p:nvSpPr>
          <p:cNvPr id="15367" name="Rectangle 9"/>
          <p:cNvSpPr>
            <a:spLocks noChangeArrowheads="1"/>
          </p:cNvSpPr>
          <p:nvPr/>
        </p:nvSpPr>
        <p:spPr bwMode="auto">
          <a:xfrm>
            <a:off x="4727575" y="2960241"/>
            <a:ext cx="2305050" cy="3443388"/>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数据收集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访谈</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引导</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威胁应对策略</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机会应对策略</a:t>
            </a:r>
          </a:p>
          <a:p>
            <a:r>
              <a:rPr lang="en-US" altLang="zh-CN" sz="1600" dirty="0">
                <a:latin typeface="微软雅黑" pitchFamily="34" charset="-122"/>
                <a:ea typeface="微软雅黑" pitchFamily="34" charset="-122"/>
              </a:rPr>
              <a:t>.6</a:t>
            </a:r>
            <a:r>
              <a:rPr lang="zh-CN" altLang="en-US" sz="1600" dirty="0">
                <a:latin typeface="微软雅黑" pitchFamily="34" charset="-122"/>
                <a:ea typeface="微软雅黑" pitchFamily="34" charset="-122"/>
              </a:rPr>
              <a:t>应急应对策略</a:t>
            </a:r>
          </a:p>
          <a:p>
            <a:r>
              <a:rPr lang="en-US" altLang="zh-CN" sz="1600" dirty="0">
                <a:latin typeface="微软雅黑" pitchFamily="34" charset="-122"/>
                <a:ea typeface="微软雅黑" pitchFamily="34" charset="-122"/>
              </a:rPr>
              <a:t>.7</a:t>
            </a:r>
            <a:r>
              <a:rPr lang="zh-CN" altLang="en-US" sz="1600" dirty="0">
                <a:latin typeface="微软雅黑" pitchFamily="34" charset="-122"/>
                <a:ea typeface="微软雅黑" pitchFamily="34" charset="-122"/>
              </a:rPr>
              <a:t>整体项目风险应对策略</a:t>
            </a:r>
          </a:p>
          <a:p>
            <a:r>
              <a:rPr lang="en-US" altLang="zh-CN" sz="1600" dirty="0">
                <a:latin typeface="微软雅黑" pitchFamily="34" charset="-122"/>
                <a:ea typeface="微软雅黑" pitchFamily="34" charset="-122"/>
              </a:rPr>
              <a:t>.8</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备选方案分析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成本效益分析</a:t>
            </a:r>
          </a:p>
          <a:p>
            <a:r>
              <a:rPr lang="en-US" altLang="zh-CN" sz="1600" dirty="0">
                <a:latin typeface="微软雅黑" pitchFamily="34" charset="-122"/>
                <a:ea typeface="微软雅黑" pitchFamily="34" charset="-122"/>
              </a:rPr>
              <a:t>.9</a:t>
            </a:r>
            <a:r>
              <a:rPr lang="zh-CN" altLang="en-US" sz="1600" dirty="0">
                <a:latin typeface="微软雅黑" pitchFamily="34" charset="-122"/>
                <a:ea typeface="微软雅黑" pitchFamily="34" charset="-122"/>
              </a:rPr>
              <a:t>决策</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多标准决策分析</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175500" y="25284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anose="020B0503020204020204" pitchFamily="34" charset="-122"/>
                <a:ea typeface="微软雅黑" panose="020B0503020204020204" pitchFamily="34" charset="-122"/>
              </a:rPr>
              <a:t>输出</a:t>
            </a:r>
          </a:p>
        </p:txBody>
      </p:sp>
      <p:sp>
        <p:nvSpPr>
          <p:cNvPr id="15369" name="Rectangle 11"/>
          <p:cNvSpPr>
            <a:spLocks noChangeArrowheads="1"/>
          </p:cNvSpPr>
          <p:nvPr/>
        </p:nvSpPr>
        <p:spPr bwMode="auto">
          <a:xfrm>
            <a:off x="7175500" y="2960241"/>
            <a:ext cx="2305050" cy="3443389"/>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进度、成本、质量、</a:t>
            </a:r>
            <a:endParaRPr lang="en-US" altLang="zh-CN" sz="1600" dirty="0">
              <a:latin typeface="微软雅黑" pitchFamily="34" charset="-122"/>
              <a:ea typeface="微软雅黑" pitchFamily="34" charset="-122"/>
            </a:endParaRPr>
          </a:p>
          <a:p>
            <a:r>
              <a:rPr lang="zh-CN" altLang="en-US" sz="1600" dirty="0">
                <a:latin typeface="微软雅黑" pitchFamily="34" charset="-122"/>
                <a:ea typeface="微软雅黑" pitchFamily="34" charset="-122"/>
              </a:rPr>
              <a:t>   资源、采购管理计划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范围基准、进度基准</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成本基准</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假设日志、成本预测</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项目进度计划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165598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A711592-BBEE-47D7-B45F-BB1E1E9824AC}"/>
              </a:ext>
            </a:extLst>
          </p:cNvPr>
          <p:cNvSpPr>
            <a:spLocks noGrp="1"/>
          </p:cNvSpPr>
          <p:nvPr>
            <p:ph idx="1"/>
          </p:nvPr>
        </p:nvSpPr>
        <p:spPr/>
        <p:txBody>
          <a:bodyPr/>
          <a:lstStyle/>
          <a:p>
            <a:pPr>
              <a:lnSpc>
                <a:spcPct val="100000"/>
              </a:lnSpc>
            </a:pPr>
            <a:r>
              <a:rPr lang="zh-CN" altLang="en-US" dirty="0"/>
              <a:t>规划风险应对的输入</a:t>
            </a:r>
            <a:endParaRPr lang="en-US" altLang="zh-CN" dirty="0"/>
          </a:p>
          <a:p>
            <a:pPr lvl="1">
              <a:lnSpc>
                <a:spcPct val="100000"/>
              </a:lnSpc>
            </a:pPr>
            <a:r>
              <a:rPr lang="zh-CN" altLang="en-US" dirty="0"/>
              <a:t>项目管理计划：</a:t>
            </a:r>
            <a:endParaRPr lang="en-US" altLang="zh-CN" dirty="0"/>
          </a:p>
          <a:p>
            <a:pPr lvl="2">
              <a:lnSpc>
                <a:spcPct val="100000"/>
              </a:lnSpc>
            </a:pPr>
            <a:r>
              <a:rPr lang="zh-CN" altLang="en-US" dirty="0"/>
              <a:t>资源管理计划，</a:t>
            </a:r>
            <a:r>
              <a:rPr lang="zh-CN" altLang="en-US" b="0" dirty="0"/>
              <a:t>用于风险应对的资源和其他项目资源</a:t>
            </a:r>
            <a:endParaRPr lang="en-US" altLang="zh-CN" b="0" dirty="0"/>
          </a:p>
          <a:p>
            <a:pPr lvl="2">
              <a:lnSpc>
                <a:spcPct val="100000"/>
              </a:lnSpc>
            </a:pPr>
            <a:r>
              <a:rPr lang="zh-CN" altLang="en-US" dirty="0"/>
              <a:t>风险管理计划</a:t>
            </a:r>
            <a:r>
              <a:rPr lang="zh-CN" altLang="en-US" b="0" dirty="0"/>
              <a:t>中的风险管理角色和职责，以及风险临界值</a:t>
            </a:r>
            <a:endParaRPr lang="en-US" altLang="zh-CN" b="0" dirty="0"/>
          </a:p>
          <a:p>
            <a:pPr lvl="2">
              <a:lnSpc>
                <a:spcPct val="100000"/>
              </a:lnSpc>
            </a:pPr>
            <a:r>
              <a:rPr lang="zh-CN" altLang="en-US" dirty="0"/>
              <a:t>成本基准</a:t>
            </a:r>
            <a:r>
              <a:rPr lang="en-US" altLang="zh-CN" dirty="0"/>
              <a:t>, </a:t>
            </a:r>
            <a:r>
              <a:rPr lang="zh-CN" altLang="en-US" b="0" dirty="0"/>
              <a:t>拟用于风险应对的应急资金的信息</a:t>
            </a:r>
            <a:endParaRPr lang="en-US" altLang="zh-CN" b="0" dirty="0"/>
          </a:p>
          <a:p>
            <a:pPr lvl="1">
              <a:lnSpc>
                <a:spcPct val="100000"/>
              </a:lnSpc>
            </a:pPr>
            <a:r>
              <a:rPr lang="zh-CN" altLang="en-US" dirty="0"/>
              <a:t>项目文件</a:t>
            </a:r>
          </a:p>
          <a:p>
            <a:pPr lvl="2">
              <a:lnSpc>
                <a:spcPct val="100000"/>
              </a:lnSpc>
            </a:pPr>
            <a:r>
              <a:rPr lang="zh-CN" altLang="en-US" dirty="0"/>
              <a:t>经验教训登记册。</a:t>
            </a:r>
            <a:r>
              <a:rPr lang="zh-CN" altLang="en-US" b="0" dirty="0"/>
              <a:t>关于项目早期的风险应对的经验教训</a:t>
            </a:r>
          </a:p>
          <a:p>
            <a:pPr lvl="2">
              <a:lnSpc>
                <a:spcPct val="100000"/>
              </a:lnSpc>
            </a:pPr>
            <a:r>
              <a:rPr lang="zh-CN" altLang="en-US" dirty="0"/>
              <a:t>项目进度计划。</a:t>
            </a:r>
            <a:r>
              <a:rPr lang="zh-CN" altLang="en-US" b="0" dirty="0"/>
              <a:t>如何同时规划商定的风险应对活动和其他项目活动</a:t>
            </a:r>
          </a:p>
          <a:p>
            <a:pPr lvl="2">
              <a:lnSpc>
                <a:spcPct val="100000"/>
              </a:lnSpc>
            </a:pPr>
            <a:r>
              <a:rPr lang="zh-CN" altLang="en-US" dirty="0"/>
              <a:t>项目团队派工单。</a:t>
            </a:r>
            <a:r>
              <a:rPr lang="zh-CN" altLang="en-US" b="0" dirty="0"/>
              <a:t>单列明了可用于风险应对的人力资源</a:t>
            </a:r>
          </a:p>
          <a:p>
            <a:pPr lvl="2">
              <a:lnSpc>
                <a:spcPct val="100000"/>
              </a:lnSpc>
            </a:pPr>
            <a:r>
              <a:rPr lang="zh-CN" altLang="en-US" dirty="0"/>
              <a:t>资源日历。</a:t>
            </a:r>
            <a:r>
              <a:rPr lang="zh-CN" altLang="en-US" b="0" dirty="0"/>
              <a:t>资源日历确定了潜在的资源何时可用于风险应对</a:t>
            </a:r>
          </a:p>
          <a:p>
            <a:pPr lvl="2">
              <a:lnSpc>
                <a:spcPct val="100000"/>
              </a:lnSpc>
            </a:pPr>
            <a:r>
              <a:rPr lang="zh-CN" altLang="en-US" dirty="0"/>
              <a:t>风险登记册。</a:t>
            </a:r>
            <a:r>
              <a:rPr lang="zh-CN" altLang="en-US" b="0" dirty="0"/>
              <a:t>已识别并排序的、需要应对的单个项目风险的详细信息</a:t>
            </a:r>
            <a:endParaRPr lang="en-US" altLang="zh-CN" b="0" dirty="0"/>
          </a:p>
          <a:p>
            <a:pPr lvl="2">
              <a:lnSpc>
                <a:spcPct val="100000"/>
              </a:lnSpc>
            </a:pPr>
            <a:r>
              <a:rPr lang="zh-CN" altLang="en-US" dirty="0"/>
              <a:t>风险报告。</a:t>
            </a:r>
            <a:r>
              <a:rPr lang="zh-CN" altLang="en-US" b="0" dirty="0">
                <a:solidFill>
                  <a:srgbClr val="FF0000"/>
                </a:solidFill>
              </a:rPr>
              <a:t>项目整体风险敞口的当前级别，按优先级顺序列出了单个项目风险，并对单个项目风险的分布情况进行了更多分析</a:t>
            </a:r>
          </a:p>
          <a:p>
            <a:pPr lvl="2">
              <a:lnSpc>
                <a:spcPct val="100000"/>
              </a:lnSpc>
            </a:pPr>
            <a:r>
              <a:rPr lang="zh-CN" altLang="en-US" dirty="0"/>
              <a:t>相关方登记册。</a:t>
            </a:r>
            <a:r>
              <a:rPr lang="zh-CN" altLang="en-US" b="0" dirty="0"/>
              <a:t>列出了风险应对的潜在责任人</a:t>
            </a:r>
            <a:endParaRPr lang="en-US" altLang="zh-CN" b="0" dirty="0"/>
          </a:p>
          <a:p>
            <a:pPr lvl="1">
              <a:lnSpc>
                <a:spcPct val="100000"/>
              </a:lnSpc>
            </a:pPr>
            <a:r>
              <a:rPr lang="zh-CN" altLang="en-US" dirty="0"/>
              <a:t>事业环境因素：</a:t>
            </a:r>
            <a:r>
              <a:rPr lang="zh-CN" altLang="en-US" b="0" dirty="0"/>
              <a:t>关键相关方的风险偏好和风险临界值</a:t>
            </a:r>
            <a:endParaRPr lang="en-US" altLang="zh-CN" b="0" dirty="0"/>
          </a:p>
          <a:p>
            <a:pPr lvl="1">
              <a:lnSpc>
                <a:spcPct val="100000"/>
              </a:lnSpc>
            </a:pPr>
            <a:r>
              <a:rPr lang="zh-CN" altLang="en-US" dirty="0"/>
              <a:t>组织过程资产：</a:t>
            </a:r>
            <a:r>
              <a:rPr lang="zh-CN" altLang="en-US" b="0" dirty="0"/>
              <a:t>风险管理计划、风险登记册和风险报告的模板；历史数据库；类似项目的经验教训知识库。</a:t>
            </a:r>
          </a:p>
          <a:p>
            <a:pPr lvl="1">
              <a:lnSpc>
                <a:spcPct val="100000"/>
              </a:lnSpc>
            </a:pPr>
            <a:endParaRPr lang="zh-CN" altLang="en-US" dirty="0"/>
          </a:p>
        </p:txBody>
      </p:sp>
      <p:sp>
        <p:nvSpPr>
          <p:cNvPr id="4" name="标题 1">
            <a:extLst>
              <a:ext uri="{FF2B5EF4-FFF2-40B4-BE49-F238E27FC236}">
                <a16:creationId xmlns:a16="http://schemas.microsoft.com/office/drawing/2014/main" id="{59B5C08B-CF9B-4B3B-9C5D-B7628DD5DFC1}"/>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3840266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9536" y="930767"/>
            <a:ext cx="3133686" cy="437186"/>
          </a:xfrm>
          <a:prstGeom prst="rect">
            <a:avLst/>
          </a:prstGeom>
        </p:spPr>
        <p:txBody>
          <a:bodyPr/>
          <a:lstStyle/>
          <a:p>
            <a:r>
              <a:rPr lang="zh-CN" altLang="en-US" dirty="0"/>
              <a:t>风险效用函数</a:t>
            </a:r>
          </a:p>
        </p:txBody>
      </p:sp>
      <p:sp>
        <p:nvSpPr>
          <p:cNvPr id="3" name="内容占位符 2"/>
          <p:cNvSpPr>
            <a:spLocks noGrp="1"/>
          </p:cNvSpPr>
          <p:nvPr>
            <p:ph idx="1"/>
          </p:nvPr>
        </p:nvSpPr>
        <p:spPr>
          <a:xfrm>
            <a:off x="974558" y="1268760"/>
            <a:ext cx="10046368" cy="1557536"/>
          </a:xfrm>
        </p:spPr>
        <p:txBody>
          <a:bodyPr/>
          <a:lstStyle/>
          <a:p>
            <a:r>
              <a:rPr lang="zh-CN" altLang="en-US" sz="1800" dirty="0"/>
              <a:t>风险效用函数给出了人们接受风险的喜好或厌恶程度</a:t>
            </a:r>
            <a:endParaRPr lang="en-US" altLang="zh-CN" sz="1800" dirty="0"/>
          </a:p>
          <a:p>
            <a:pPr lvl="1"/>
            <a:r>
              <a:rPr lang="zh-CN" altLang="en-US" sz="1600" dirty="0"/>
              <a:t>风险厌恶型：效用随货币收益的增加，增加率递减，效用函数的二阶导数小于零</a:t>
            </a:r>
            <a:endParaRPr lang="en-US" altLang="zh-CN" sz="1800" dirty="0"/>
          </a:p>
          <a:p>
            <a:pPr lvl="2"/>
            <a:r>
              <a:rPr lang="zh-CN" altLang="en-US" sz="1400" dirty="0"/>
              <a:t>规避风险，不愿意冒风险获取更大收益，凹形图（图</a:t>
            </a:r>
            <a:r>
              <a:rPr lang="en-US" altLang="zh-CN" sz="1400" dirty="0"/>
              <a:t>1</a:t>
            </a:r>
            <a:r>
              <a:rPr lang="zh-CN" altLang="en-US" sz="1400" dirty="0"/>
              <a:t>）</a:t>
            </a:r>
            <a:endParaRPr lang="en-US" altLang="zh-CN" sz="1400" dirty="0"/>
          </a:p>
          <a:p>
            <a:pPr lvl="1"/>
            <a:r>
              <a:rPr lang="zh-CN" altLang="en-US" sz="1600" dirty="0"/>
              <a:t>风险喜好型：效用随货币收益的增加，增加率递增，效用函数的二阶导数大于零</a:t>
            </a:r>
            <a:endParaRPr lang="en-US" altLang="zh-CN" sz="1800" dirty="0"/>
          </a:p>
          <a:p>
            <a:pPr lvl="2"/>
            <a:r>
              <a:rPr lang="zh-CN" altLang="en-US" sz="1400" dirty="0"/>
              <a:t>敢于冒更大的风险获取更大的收益，但是本身风险也大（图</a:t>
            </a:r>
            <a:r>
              <a:rPr lang="en-US" altLang="zh-CN" sz="1400" dirty="0"/>
              <a:t>2</a:t>
            </a:r>
            <a:r>
              <a:rPr lang="zh-CN" altLang="en-US" sz="1400" dirty="0"/>
              <a:t>）</a:t>
            </a:r>
            <a:endParaRPr lang="en-US" altLang="zh-CN" sz="1400" dirty="0"/>
          </a:p>
          <a:p>
            <a:pPr lvl="1"/>
            <a:r>
              <a:rPr lang="zh-CN" altLang="en-US" sz="1600" dirty="0"/>
              <a:t>风险中性型：对风险偏中立态度，</a:t>
            </a:r>
            <a:endParaRPr lang="en-US" altLang="zh-CN" sz="1600" dirty="0"/>
          </a:p>
          <a:p>
            <a:pPr marL="442800" lvl="1" indent="0">
              <a:buNone/>
            </a:pPr>
            <a:r>
              <a:rPr lang="en-US" altLang="zh-CN" sz="1600" dirty="0"/>
              <a:t>            </a:t>
            </a:r>
            <a:r>
              <a:rPr lang="zh-CN" altLang="en-US" sz="1600" dirty="0"/>
              <a:t>可适当承担风险，增加率不变</a:t>
            </a:r>
          </a:p>
        </p:txBody>
      </p:sp>
      <p:sp>
        <p:nvSpPr>
          <p:cNvPr id="4" name="TextBox 3"/>
          <p:cNvSpPr txBox="1"/>
          <p:nvPr/>
        </p:nvSpPr>
        <p:spPr>
          <a:xfrm>
            <a:off x="2430169" y="6089132"/>
            <a:ext cx="2441694" cy="338554"/>
          </a:xfrm>
          <a:prstGeom prst="rect">
            <a:avLst/>
          </a:prstGeom>
          <a:noFill/>
        </p:spPr>
        <p:txBody>
          <a:bodyPr wrap="none" rtlCol="0">
            <a:spAutoFit/>
          </a:bodyPr>
          <a:lstStyle/>
          <a:p>
            <a:r>
              <a:rPr lang="zh-CN" altLang="en-US" sz="1600" i="1" u="sng" dirty="0">
                <a:solidFill>
                  <a:srgbClr val="C00000"/>
                </a:solidFill>
                <a:latin typeface="+mj-ea"/>
                <a:ea typeface="+mj-ea"/>
              </a:rPr>
              <a:t>投资中的风险效用分析？</a:t>
            </a:r>
          </a:p>
        </p:txBody>
      </p:sp>
      <p:sp>
        <p:nvSpPr>
          <p:cNvPr id="5" name="TextBox 4"/>
          <p:cNvSpPr txBox="1"/>
          <p:nvPr/>
        </p:nvSpPr>
        <p:spPr>
          <a:xfrm>
            <a:off x="2646193" y="4027029"/>
            <a:ext cx="2009646" cy="2062103"/>
          </a:xfrm>
          <a:prstGeom prst="rect">
            <a:avLst/>
          </a:prstGeom>
          <a:noFill/>
        </p:spPr>
        <p:txBody>
          <a:bodyPr wrap="square" rtlCol="0">
            <a:spAutoFit/>
          </a:bodyPr>
          <a:lstStyle/>
          <a:p>
            <a:pPr marL="285750" indent="-285750">
              <a:buFont typeface="Wingdings" pitchFamily="2" charset="2"/>
              <a:buChar char="u"/>
            </a:pPr>
            <a:r>
              <a:rPr lang="zh-CN" altLang="en-US" sz="1600" b="1" dirty="0">
                <a:solidFill>
                  <a:schemeClr val="tx2"/>
                </a:solidFill>
                <a:latin typeface="+mj-ea"/>
                <a:ea typeface="+mj-ea"/>
              </a:rPr>
              <a:t>银行存款</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银行理财产品</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余额宝</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债券</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信托产品</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股票</a:t>
            </a:r>
            <a:endParaRPr lang="en-US" altLang="zh-CN" sz="1600" b="1" dirty="0">
              <a:solidFill>
                <a:schemeClr val="tx2"/>
              </a:solidFill>
              <a:latin typeface="+mj-ea"/>
              <a:ea typeface="+mj-ea"/>
            </a:endParaRPr>
          </a:p>
          <a:p>
            <a:pPr marL="285750" indent="-285750">
              <a:buFont typeface="Wingdings" pitchFamily="2" charset="2"/>
              <a:buChar char="u"/>
            </a:pPr>
            <a:r>
              <a:rPr lang="zh-CN" altLang="en-US" sz="1600" b="1" dirty="0">
                <a:solidFill>
                  <a:schemeClr val="tx2"/>
                </a:solidFill>
                <a:latin typeface="+mj-ea"/>
                <a:ea typeface="+mj-ea"/>
              </a:rPr>
              <a:t>期货</a:t>
            </a:r>
            <a:endParaRPr lang="en-US" altLang="zh-CN" sz="1600" b="1" dirty="0">
              <a:solidFill>
                <a:schemeClr val="tx2"/>
              </a:solidFill>
              <a:latin typeface="+mj-ea"/>
              <a:ea typeface="+mj-ea"/>
            </a:endParaRPr>
          </a:p>
          <a:p>
            <a:pPr marL="285750" indent="-285750">
              <a:buFont typeface="Wingdings" pitchFamily="2" charset="2"/>
              <a:buChar char="u"/>
            </a:pPr>
            <a:r>
              <a:rPr lang="en-US" altLang="zh-CN" sz="1600" b="1" dirty="0">
                <a:solidFill>
                  <a:schemeClr val="tx2"/>
                </a:solidFill>
                <a:latin typeface="+mj-ea"/>
                <a:ea typeface="+mj-ea"/>
              </a:rPr>
              <a:t>P2P</a:t>
            </a:r>
            <a:r>
              <a:rPr lang="zh-CN" altLang="en-US" sz="1600" b="1" dirty="0">
                <a:solidFill>
                  <a:schemeClr val="tx2"/>
                </a:solidFill>
                <a:latin typeface="+mj-ea"/>
                <a:ea typeface="+mj-ea"/>
              </a:rPr>
              <a:t>网贷</a:t>
            </a:r>
          </a:p>
        </p:txBody>
      </p:sp>
      <p:sp>
        <p:nvSpPr>
          <p:cNvPr id="7" name="标题 1">
            <a:extLst>
              <a:ext uri="{FF2B5EF4-FFF2-40B4-BE49-F238E27FC236}">
                <a16:creationId xmlns:a16="http://schemas.microsoft.com/office/drawing/2014/main" id="{6D6890B6-FC84-4B93-83BB-65F5E0EC2879}"/>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pic>
        <p:nvPicPr>
          <p:cNvPr id="8" name="图片 7">
            <a:extLst>
              <a:ext uri="{FF2B5EF4-FFF2-40B4-BE49-F238E27FC236}">
                <a16:creationId xmlns:a16="http://schemas.microsoft.com/office/drawing/2014/main" id="{9B547003-B2D8-53F8-CA5D-4250805AD824}"/>
              </a:ext>
            </a:extLst>
          </p:cNvPr>
          <p:cNvPicPr>
            <a:picLocks noChangeAspect="1"/>
          </p:cNvPicPr>
          <p:nvPr/>
        </p:nvPicPr>
        <p:blipFill>
          <a:blip r:embed="rId3"/>
          <a:stretch>
            <a:fillRect/>
          </a:stretch>
        </p:blipFill>
        <p:spPr>
          <a:xfrm>
            <a:off x="7320138" y="2819605"/>
            <a:ext cx="4062089" cy="3702556"/>
          </a:xfrm>
          <a:prstGeom prst="rect">
            <a:avLst/>
          </a:prstGeom>
        </p:spPr>
      </p:pic>
    </p:spTree>
    <p:extLst>
      <p:ext uri="{BB962C8B-B14F-4D97-AF65-F5344CB8AC3E}">
        <p14:creationId xmlns:p14="http://schemas.microsoft.com/office/powerpoint/2010/main" val="248300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A0F15-5E8F-47BB-88AA-BB402F6EA8C0}"/>
              </a:ext>
            </a:extLst>
          </p:cNvPr>
          <p:cNvSpPr>
            <a:spLocks noGrp="1"/>
          </p:cNvSpPr>
          <p:nvPr>
            <p:ph idx="1"/>
          </p:nvPr>
        </p:nvSpPr>
        <p:spPr/>
        <p:txBody>
          <a:bodyPr/>
          <a:lstStyle/>
          <a:p>
            <a:r>
              <a:rPr lang="zh-CN" altLang="en-US" dirty="0"/>
              <a:t>规划风险应对的工具与技术</a:t>
            </a:r>
            <a:endParaRPr lang="en-US" altLang="zh-CN" dirty="0"/>
          </a:p>
          <a:p>
            <a:pPr lvl="1"/>
            <a:r>
              <a:rPr lang="zh-CN" altLang="en-US" dirty="0"/>
              <a:t>专家判断</a:t>
            </a:r>
            <a:endParaRPr lang="en-US" altLang="zh-CN" dirty="0"/>
          </a:p>
          <a:p>
            <a:pPr lvl="1"/>
            <a:r>
              <a:rPr lang="zh-CN" altLang="en-US" dirty="0"/>
              <a:t>数据收集</a:t>
            </a:r>
            <a:r>
              <a:rPr lang="zh-CN" altLang="en-US" b="0" dirty="0"/>
              <a:t>：访谈</a:t>
            </a:r>
            <a:endParaRPr lang="en-US" altLang="zh-CN" b="0" dirty="0"/>
          </a:p>
          <a:p>
            <a:pPr lvl="1"/>
            <a:r>
              <a:rPr lang="zh-CN" altLang="en-US" dirty="0"/>
              <a:t>人际关系与团队技能</a:t>
            </a:r>
            <a:r>
              <a:rPr lang="zh-CN" altLang="en-US" b="0" dirty="0"/>
              <a:t>：引导</a:t>
            </a:r>
            <a:endParaRPr lang="en-US" altLang="zh-CN" b="0" dirty="0"/>
          </a:p>
          <a:p>
            <a:pPr lvl="1"/>
            <a:r>
              <a:rPr lang="zh-CN" altLang="en-US" dirty="0"/>
              <a:t>威胁应对策略：</a:t>
            </a:r>
            <a:r>
              <a:rPr lang="zh-CN" altLang="en-US" b="0" dirty="0"/>
              <a:t>上报、规避、转移、减轻、接受</a:t>
            </a:r>
            <a:endParaRPr lang="en-US" altLang="zh-CN" b="0" dirty="0"/>
          </a:p>
          <a:p>
            <a:pPr lvl="1"/>
            <a:r>
              <a:rPr lang="zh-CN" altLang="en-US" dirty="0"/>
              <a:t>机会应对策略</a:t>
            </a:r>
            <a:r>
              <a:rPr lang="zh-CN" altLang="en-US" b="0" dirty="0"/>
              <a:t>：上报、开拓、分享、提高、接受</a:t>
            </a:r>
            <a:endParaRPr lang="en-US" altLang="zh-CN" b="0" dirty="0"/>
          </a:p>
          <a:p>
            <a:pPr lvl="1"/>
            <a:r>
              <a:rPr lang="zh-CN" altLang="en-US" dirty="0"/>
              <a:t>应急应对策略</a:t>
            </a:r>
            <a:r>
              <a:rPr lang="en-US" altLang="zh-CN" b="0" dirty="0"/>
              <a:t>: </a:t>
            </a:r>
            <a:r>
              <a:rPr lang="zh-CN" altLang="en-US" b="0" dirty="0"/>
              <a:t>仅在特定事件发生时才采用的应对措施</a:t>
            </a:r>
            <a:endParaRPr lang="en-US" altLang="zh-CN" b="0" dirty="0"/>
          </a:p>
          <a:p>
            <a:pPr lvl="1"/>
            <a:r>
              <a:rPr lang="zh-CN" altLang="en-US" dirty="0"/>
              <a:t>整体项目风险应对策略</a:t>
            </a:r>
            <a:r>
              <a:rPr lang="en-US" altLang="zh-CN" b="0" dirty="0"/>
              <a:t>: </a:t>
            </a:r>
            <a:r>
              <a:rPr lang="zh-CN" altLang="en-US" b="0" dirty="0"/>
              <a:t>规避、开拓、转移或分享、减轻或提高、接受</a:t>
            </a:r>
          </a:p>
          <a:p>
            <a:pPr lvl="1"/>
            <a:r>
              <a:rPr lang="zh-CN" altLang="en-US" dirty="0"/>
              <a:t>数据分析：</a:t>
            </a:r>
            <a:r>
              <a:rPr lang="zh-CN" altLang="en-US" b="0" dirty="0"/>
              <a:t>备选方案分析、成本收益分析</a:t>
            </a:r>
          </a:p>
          <a:p>
            <a:pPr lvl="1"/>
            <a:r>
              <a:rPr lang="zh-CN" altLang="en-US" dirty="0"/>
              <a:t>决策：</a:t>
            </a:r>
            <a:r>
              <a:rPr lang="zh-CN" altLang="en-US" b="0" dirty="0"/>
              <a:t>多标准决策分析</a:t>
            </a:r>
          </a:p>
          <a:p>
            <a:pPr lvl="1"/>
            <a:endParaRPr lang="zh-CN" altLang="en-US" dirty="0"/>
          </a:p>
          <a:p>
            <a:pPr lvl="1"/>
            <a:endParaRPr lang="en-US" altLang="zh-CN" dirty="0"/>
          </a:p>
          <a:p>
            <a:pPr lvl="1"/>
            <a:endParaRPr lang="zh-CN" altLang="en-US" dirty="0"/>
          </a:p>
          <a:p>
            <a:pPr lvl="1"/>
            <a:endParaRPr lang="zh-CN" altLang="en-US" dirty="0"/>
          </a:p>
          <a:p>
            <a:endParaRPr lang="zh-CN" altLang="en-US" dirty="0"/>
          </a:p>
        </p:txBody>
      </p:sp>
      <p:sp>
        <p:nvSpPr>
          <p:cNvPr id="4" name="标题 1">
            <a:extLst>
              <a:ext uri="{FF2B5EF4-FFF2-40B4-BE49-F238E27FC236}">
                <a16:creationId xmlns:a16="http://schemas.microsoft.com/office/drawing/2014/main" id="{2E480EDA-A71D-443E-8AEF-EE87A20395CF}"/>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258269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6634" y="905741"/>
            <a:ext cx="4020146" cy="437186"/>
          </a:xfrm>
          <a:prstGeom prst="rect">
            <a:avLst/>
          </a:prstGeom>
        </p:spPr>
        <p:txBody>
          <a:bodyPr/>
          <a:lstStyle/>
          <a:p>
            <a:r>
              <a:rPr lang="zh-CN" altLang="en-US" dirty="0">
                <a:latin typeface="微软雅黑" panose="020B0503020204020204" pitchFamily="34" charset="-122"/>
              </a:rPr>
              <a:t>消极风险（威胁）应对策略</a:t>
            </a:r>
          </a:p>
        </p:txBody>
      </p:sp>
      <p:sp>
        <p:nvSpPr>
          <p:cNvPr id="3" name="内容占位符 2"/>
          <p:cNvSpPr>
            <a:spLocks noGrp="1"/>
          </p:cNvSpPr>
          <p:nvPr>
            <p:ph idx="1"/>
          </p:nvPr>
        </p:nvSpPr>
        <p:spPr>
          <a:xfrm>
            <a:off x="1215189" y="1268760"/>
            <a:ext cx="8913259" cy="2599539"/>
          </a:xfrm>
        </p:spPr>
        <p:txBody>
          <a:bodyPr/>
          <a:lstStyle/>
          <a:p>
            <a:pPr>
              <a:lnSpc>
                <a:spcPct val="120000"/>
              </a:lnSpc>
            </a:pPr>
            <a:r>
              <a:rPr lang="zh-CN" altLang="en-US" sz="2000" dirty="0">
                <a:latin typeface="微软雅黑" panose="020B0503020204020204" pitchFamily="34" charset="-122"/>
              </a:rPr>
              <a:t>上报：某威胁不在项目范围内内，或应对措施超出了项目经理的权限</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规避：改变项目策略，计划，使风险不再对项目目标造成影响</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转移：是风险可能的后果转移，如购买保险或引入第三方担保等</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减轻：最常用的风险应对方法，降低风险概率，降低风险影响</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接受：对于非关键风险接受风险造成的后果</a:t>
            </a:r>
          </a:p>
        </p:txBody>
      </p:sp>
      <p:sp>
        <p:nvSpPr>
          <p:cNvPr id="4" name="椭圆 3"/>
          <p:cNvSpPr/>
          <p:nvPr/>
        </p:nvSpPr>
        <p:spPr bwMode="auto">
          <a:xfrm>
            <a:off x="2568708"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征兆</a:t>
            </a:r>
          </a:p>
        </p:txBody>
      </p:sp>
      <p:sp>
        <p:nvSpPr>
          <p:cNvPr id="5" name="椭圆 4"/>
          <p:cNvSpPr/>
          <p:nvPr/>
        </p:nvSpPr>
        <p:spPr bwMode="auto">
          <a:xfrm>
            <a:off x="4152884"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a:t>
            </a:r>
          </a:p>
        </p:txBody>
      </p:sp>
      <p:sp>
        <p:nvSpPr>
          <p:cNvPr id="6" name="椭圆 5"/>
          <p:cNvSpPr/>
          <p:nvPr/>
        </p:nvSpPr>
        <p:spPr bwMode="auto">
          <a:xfrm>
            <a:off x="5737060" y="4480599"/>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风险根源</a:t>
            </a:r>
          </a:p>
        </p:txBody>
      </p:sp>
      <p:sp>
        <p:nvSpPr>
          <p:cNvPr id="7" name="右箭头 6"/>
          <p:cNvSpPr/>
          <p:nvPr/>
        </p:nvSpPr>
        <p:spPr bwMode="auto">
          <a:xfrm>
            <a:off x="3576820"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8" name="右箭头 7"/>
          <p:cNvSpPr/>
          <p:nvPr/>
        </p:nvSpPr>
        <p:spPr bwMode="auto">
          <a:xfrm>
            <a:off x="5233004"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9" name="右箭头 8"/>
          <p:cNvSpPr/>
          <p:nvPr/>
        </p:nvSpPr>
        <p:spPr bwMode="auto">
          <a:xfrm>
            <a:off x="6745172" y="4732627"/>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0" name="矩形 9"/>
          <p:cNvSpPr/>
          <p:nvPr/>
        </p:nvSpPr>
        <p:spPr bwMode="auto">
          <a:xfrm>
            <a:off x="7249228" y="4660619"/>
            <a:ext cx="1800200" cy="396044"/>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针对根源应对！</a:t>
            </a:r>
          </a:p>
        </p:txBody>
      </p:sp>
      <p:sp>
        <p:nvSpPr>
          <p:cNvPr id="11" name="TextBox 10"/>
          <p:cNvSpPr txBox="1"/>
          <p:nvPr/>
        </p:nvSpPr>
        <p:spPr>
          <a:xfrm>
            <a:off x="2426892" y="5560720"/>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员工消极</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员工抱怨</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不时请假</a:t>
            </a:r>
          </a:p>
        </p:txBody>
      </p:sp>
      <p:sp>
        <p:nvSpPr>
          <p:cNvPr id="12" name="TextBox 11"/>
          <p:cNvSpPr txBox="1"/>
          <p:nvPr/>
        </p:nvSpPr>
        <p:spPr>
          <a:xfrm>
            <a:off x="3936860" y="5560719"/>
            <a:ext cx="1293944" cy="338554"/>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人员流失</a:t>
            </a:r>
          </a:p>
        </p:txBody>
      </p:sp>
      <p:sp>
        <p:nvSpPr>
          <p:cNvPr id="13" name="TextBox 12"/>
          <p:cNvSpPr txBox="1"/>
          <p:nvPr/>
        </p:nvSpPr>
        <p:spPr>
          <a:xfrm>
            <a:off x="5449028" y="5560720"/>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待遇问题</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团队问题</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成长问题</a:t>
            </a:r>
          </a:p>
        </p:txBody>
      </p:sp>
      <p:sp>
        <p:nvSpPr>
          <p:cNvPr id="14" name="TextBox 13"/>
          <p:cNvSpPr txBox="1"/>
          <p:nvPr/>
        </p:nvSpPr>
        <p:spPr>
          <a:xfrm>
            <a:off x="7320136" y="5560720"/>
            <a:ext cx="2880320" cy="830997"/>
          </a:xfrm>
          <a:prstGeom prst="rect">
            <a:avLst/>
          </a:prstGeom>
          <a:noFill/>
        </p:spPr>
        <p:txBody>
          <a:bodyPr wrap="square" rtlCol="0">
            <a:spAutoFit/>
          </a:bodyPr>
          <a:lstStyle/>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提升员工待遇水平</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加强团队建设</a:t>
            </a: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dirty="0">
                <a:solidFill>
                  <a:schemeClr val="tx2"/>
                </a:solidFill>
                <a:latin typeface="微软雅黑" panose="020B0503020204020204" pitchFamily="34" charset="-122"/>
                <a:ea typeface="微软雅黑" panose="020B0503020204020204" pitchFamily="34" charset="-122"/>
              </a:rPr>
              <a:t>个人培训和职业发展规划</a:t>
            </a:r>
          </a:p>
        </p:txBody>
      </p:sp>
      <p:cxnSp>
        <p:nvCxnSpPr>
          <p:cNvPr id="16" name="直接箭头连接符 15"/>
          <p:cNvCxnSpPr/>
          <p:nvPr/>
        </p:nvCxnSpPr>
        <p:spPr bwMode="auto">
          <a:xfrm>
            <a:off x="6781176" y="5729996"/>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bwMode="auto">
          <a:xfrm>
            <a:off x="6781176" y="5976217"/>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bwMode="auto">
          <a:xfrm>
            <a:off x="6781176" y="6208791"/>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9" name="标题 1">
            <a:extLst>
              <a:ext uri="{FF2B5EF4-FFF2-40B4-BE49-F238E27FC236}">
                <a16:creationId xmlns:a16="http://schemas.microsoft.com/office/drawing/2014/main" id="{7A13FF78-A29A-47A4-9545-061320B7670B}"/>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17.6 </a:t>
            </a:r>
            <a:r>
              <a:rPr lang="zh-CN" altLang="en-US" dirty="0">
                <a:latin typeface="微软雅黑" panose="020B0503020204020204" pitchFamily="34" charset="-122"/>
              </a:rPr>
              <a:t>规划风险应对</a:t>
            </a:r>
          </a:p>
        </p:txBody>
      </p:sp>
    </p:spTree>
    <p:extLst>
      <p:ext uri="{BB962C8B-B14F-4D97-AF65-F5344CB8AC3E}">
        <p14:creationId xmlns:p14="http://schemas.microsoft.com/office/powerpoint/2010/main" val="229987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2598" y="1048716"/>
            <a:ext cx="4772116" cy="437186"/>
          </a:xfrm>
          <a:prstGeom prst="rect">
            <a:avLst/>
          </a:prstGeom>
        </p:spPr>
        <p:txBody>
          <a:bodyPr/>
          <a:lstStyle/>
          <a:p>
            <a:r>
              <a:rPr lang="zh-CN" altLang="en-US" dirty="0"/>
              <a:t>积极风险（机会）应对策略</a:t>
            </a:r>
          </a:p>
        </p:txBody>
      </p:sp>
      <p:sp>
        <p:nvSpPr>
          <p:cNvPr id="3" name="内容占位符 2"/>
          <p:cNvSpPr>
            <a:spLocks noGrp="1"/>
          </p:cNvSpPr>
          <p:nvPr>
            <p:ph idx="1"/>
          </p:nvPr>
        </p:nvSpPr>
        <p:spPr>
          <a:xfrm>
            <a:off x="1984414" y="1537339"/>
            <a:ext cx="8153400" cy="1368152"/>
          </a:xfrm>
        </p:spPr>
        <p:txBody>
          <a:bodyPr/>
          <a:lstStyle/>
          <a:p>
            <a:pPr>
              <a:lnSpc>
                <a:spcPct val="120000"/>
              </a:lnSpc>
            </a:pPr>
            <a:r>
              <a:rPr lang="zh-CN" altLang="en-US" sz="2000" dirty="0"/>
              <a:t>上报：某威胁不在项目范围内内，或应对措施超出了项目经理的权限</a:t>
            </a:r>
            <a:endParaRPr lang="en-US" altLang="zh-CN" sz="2000" dirty="0"/>
          </a:p>
          <a:p>
            <a:pPr>
              <a:lnSpc>
                <a:spcPct val="120000"/>
              </a:lnSpc>
            </a:pPr>
            <a:r>
              <a:rPr lang="zh-CN" altLang="en-US" sz="2000" dirty="0"/>
              <a:t>开拓：通过确保机会肯定实现来消除与特定积极风险相关的不确定性</a:t>
            </a:r>
            <a:endParaRPr lang="en-US" altLang="zh-CN" sz="2000" dirty="0"/>
          </a:p>
          <a:p>
            <a:pPr>
              <a:lnSpc>
                <a:spcPct val="120000"/>
              </a:lnSpc>
            </a:pPr>
            <a:r>
              <a:rPr lang="zh-CN" altLang="en-US" sz="2000" dirty="0"/>
              <a:t>分享：将风险的责任分配给最能为项目利益获取机会的第三方（共赢）</a:t>
            </a:r>
            <a:endParaRPr lang="en-US" altLang="zh-CN" sz="2000" dirty="0"/>
          </a:p>
          <a:p>
            <a:pPr>
              <a:lnSpc>
                <a:spcPct val="120000"/>
              </a:lnSpc>
            </a:pPr>
            <a:r>
              <a:rPr lang="zh-CN" altLang="en-US" sz="2000" dirty="0"/>
              <a:t>提高：最常用的风险应对方法，提高积极风险的发送概率和影响程度</a:t>
            </a:r>
            <a:endParaRPr lang="en-US" altLang="zh-CN" sz="2000" dirty="0"/>
          </a:p>
          <a:p>
            <a:pPr>
              <a:lnSpc>
                <a:spcPct val="120000"/>
              </a:lnSpc>
            </a:pPr>
            <a:r>
              <a:rPr lang="zh-CN" altLang="en-US" sz="2000" dirty="0"/>
              <a:t>接受：当机会发生时候乐于接受，但是不主动追求</a:t>
            </a:r>
            <a:endParaRPr lang="en-US" altLang="zh-CN" sz="2000" dirty="0"/>
          </a:p>
        </p:txBody>
      </p:sp>
      <p:sp>
        <p:nvSpPr>
          <p:cNvPr id="4" name="椭圆 3"/>
          <p:cNvSpPr/>
          <p:nvPr/>
        </p:nvSpPr>
        <p:spPr bwMode="auto">
          <a:xfrm>
            <a:off x="2582266"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征兆</a:t>
            </a:r>
          </a:p>
        </p:txBody>
      </p:sp>
      <p:sp>
        <p:nvSpPr>
          <p:cNvPr id="5" name="椭圆 4"/>
          <p:cNvSpPr/>
          <p:nvPr/>
        </p:nvSpPr>
        <p:spPr bwMode="auto">
          <a:xfrm>
            <a:off x="4166442"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风险</a:t>
            </a:r>
          </a:p>
        </p:txBody>
      </p:sp>
      <p:sp>
        <p:nvSpPr>
          <p:cNvPr id="6" name="椭圆 5"/>
          <p:cNvSpPr/>
          <p:nvPr/>
        </p:nvSpPr>
        <p:spPr bwMode="auto">
          <a:xfrm>
            <a:off x="5750618" y="4421945"/>
            <a:ext cx="864096" cy="792088"/>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风险根源</a:t>
            </a:r>
          </a:p>
        </p:txBody>
      </p:sp>
      <p:sp>
        <p:nvSpPr>
          <p:cNvPr id="7" name="右箭头 6"/>
          <p:cNvSpPr/>
          <p:nvPr/>
        </p:nvSpPr>
        <p:spPr bwMode="auto">
          <a:xfrm>
            <a:off x="3590378"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8" name="右箭头 7"/>
          <p:cNvSpPr/>
          <p:nvPr/>
        </p:nvSpPr>
        <p:spPr bwMode="auto">
          <a:xfrm>
            <a:off x="5246562"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9" name="右箭头 8"/>
          <p:cNvSpPr/>
          <p:nvPr/>
        </p:nvSpPr>
        <p:spPr bwMode="auto">
          <a:xfrm>
            <a:off x="6758730" y="4673973"/>
            <a:ext cx="360040" cy="28803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mj-ea"/>
              <a:ea typeface="+mj-ea"/>
            </a:endParaRPr>
          </a:p>
        </p:txBody>
      </p:sp>
      <p:sp>
        <p:nvSpPr>
          <p:cNvPr id="10" name="矩形 9"/>
          <p:cNvSpPr/>
          <p:nvPr/>
        </p:nvSpPr>
        <p:spPr bwMode="auto">
          <a:xfrm>
            <a:off x="7262786" y="4601965"/>
            <a:ext cx="1800200" cy="396044"/>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mj-ea"/>
                <a:ea typeface="+mj-ea"/>
              </a:rPr>
              <a:t>针对根源应对！</a:t>
            </a:r>
          </a:p>
        </p:txBody>
      </p:sp>
      <p:sp>
        <p:nvSpPr>
          <p:cNvPr id="11" name="TextBox 10"/>
          <p:cNvSpPr txBox="1"/>
          <p:nvPr/>
        </p:nvSpPr>
        <p:spPr>
          <a:xfrm>
            <a:off x="2440450" y="5502066"/>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销售机会</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客户拜访</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信息获取</a:t>
            </a:r>
          </a:p>
        </p:txBody>
      </p:sp>
      <p:sp>
        <p:nvSpPr>
          <p:cNvPr id="12" name="TextBox 11"/>
          <p:cNvSpPr txBox="1"/>
          <p:nvPr/>
        </p:nvSpPr>
        <p:spPr>
          <a:xfrm>
            <a:off x="3950418" y="5502065"/>
            <a:ext cx="1293944" cy="338554"/>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中标风险</a:t>
            </a:r>
          </a:p>
        </p:txBody>
      </p:sp>
      <p:sp>
        <p:nvSpPr>
          <p:cNvPr id="13" name="TextBox 12"/>
          <p:cNvSpPr txBox="1"/>
          <p:nvPr/>
        </p:nvSpPr>
        <p:spPr>
          <a:xfrm>
            <a:off x="5462586" y="5502066"/>
            <a:ext cx="1293944" cy="830997"/>
          </a:xfrm>
          <a:prstGeom prst="rect">
            <a:avLst/>
          </a:prstGeom>
          <a:noFill/>
        </p:spPr>
        <p:txBody>
          <a:bodyPr wrap="none" rtlCol="0">
            <a:spAutoFit/>
          </a:bodyPr>
          <a:lstStyle/>
          <a:p>
            <a:pPr marL="285750" indent="-285750">
              <a:buFont typeface="Wingdings" pitchFamily="2" charset="2"/>
              <a:buChar char="u"/>
            </a:pPr>
            <a:r>
              <a:rPr lang="zh-CN" altLang="en-US" sz="1600" dirty="0">
                <a:solidFill>
                  <a:schemeClr val="tx2"/>
                </a:solidFill>
                <a:latin typeface="+mj-ea"/>
                <a:ea typeface="+mj-ea"/>
              </a:rPr>
              <a:t>合作问题</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技术问题</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商务问题</a:t>
            </a:r>
          </a:p>
        </p:txBody>
      </p:sp>
      <p:sp>
        <p:nvSpPr>
          <p:cNvPr id="14" name="TextBox 13"/>
          <p:cNvSpPr txBox="1"/>
          <p:nvPr/>
        </p:nvSpPr>
        <p:spPr>
          <a:xfrm>
            <a:off x="7333694" y="5502066"/>
            <a:ext cx="2880320" cy="830997"/>
          </a:xfrm>
          <a:prstGeom prst="rect">
            <a:avLst/>
          </a:prstGeom>
          <a:noFill/>
        </p:spPr>
        <p:txBody>
          <a:bodyPr wrap="square" rtlCol="0">
            <a:spAutoFit/>
          </a:bodyPr>
          <a:lstStyle/>
          <a:p>
            <a:pPr marL="285750" indent="-285750">
              <a:buFont typeface="Wingdings" pitchFamily="2" charset="2"/>
              <a:buChar char="u"/>
            </a:pPr>
            <a:r>
              <a:rPr lang="zh-CN" altLang="en-US" sz="1600" dirty="0">
                <a:solidFill>
                  <a:schemeClr val="tx2"/>
                </a:solidFill>
                <a:latin typeface="+mj-ea"/>
                <a:ea typeface="+mj-ea"/>
              </a:rPr>
              <a:t>分享项目利益</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提示技术规范书水平</a:t>
            </a:r>
            <a:endParaRPr lang="en-US" altLang="zh-CN" sz="1600" dirty="0">
              <a:solidFill>
                <a:schemeClr val="tx2"/>
              </a:solidFill>
              <a:latin typeface="+mj-ea"/>
              <a:ea typeface="+mj-ea"/>
            </a:endParaRPr>
          </a:p>
          <a:p>
            <a:pPr marL="285750" indent="-285750">
              <a:buFont typeface="Wingdings" pitchFamily="2" charset="2"/>
              <a:buChar char="u"/>
            </a:pPr>
            <a:r>
              <a:rPr lang="zh-CN" altLang="en-US" sz="1600" dirty="0">
                <a:solidFill>
                  <a:schemeClr val="tx2"/>
                </a:solidFill>
                <a:latin typeface="+mj-ea"/>
                <a:ea typeface="+mj-ea"/>
              </a:rPr>
              <a:t>修订商务报价策略</a:t>
            </a:r>
          </a:p>
        </p:txBody>
      </p:sp>
      <p:cxnSp>
        <p:nvCxnSpPr>
          <p:cNvPr id="16" name="直接箭头连接符 15"/>
          <p:cNvCxnSpPr/>
          <p:nvPr/>
        </p:nvCxnSpPr>
        <p:spPr bwMode="auto">
          <a:xfrm>
            <a:off x="6794734" y="5671342"/>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bwMode="auto">
          <a:xfrm>
            <a:off x="6794734" y="5917563"/>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bwMode="auto">
          <a:xfrm>
            <a:off x="6794734" y="6150137"/>
            <a:ext cx="501856" cy="0"/>
          </a:xfrm>
          <a:prstGeom prst="straightConnector1">
            <a:avLst/>
          </a:prstGeom>
          <a:ln>
            <a:solidFill>
              <a:srgbClr val="C00000"/>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9" name="标题 1">
            <a:extLst>
              <a:ext uri="{FF2B5EF4-FFF2-40B4-BE49-F238E27FC236}">
                <a16:creationId xmlns:a16="http://schemas.microsoft.com/office/drawing/2014/main" id="{7A70D42F-6007-4519-A154-06706FFA5846}"/>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spTree>
    <p:extLst>
      <p:ext uri="{BB962C8B-B14F-4D97-AF65-F5344CB8AC3E}">
        <p14:creationId xmlns:p14="http://schemas.microsoft.com/office/powerpoint/2010/main" val="40840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9D528A-2645-6397-0CBD-69EEB4420072}"/>
              </a:ext>
            </a:extLst>
          </p:cNvPr>
          <p:cNvSpPr>
            <a:spLocks noGrp="1"/>
          </p:cNvSpPr>
          <p:nvPr>
            <p:ph idx="1"/>
          </p:nvPr>
        </p:nvSpPr>
        <p:spPr>
          <a:xfrm>
            <a:off x="1057618" y="1927952"/>
            <a:ext cx="8229601" cy="4336371"/>
          </a:xfrm>
        </p:spPr>
        <p:txBody>
          <a:bodyPr/>
          <a:lstStyle/>
          <a:p>
            <a:r>
              <a:rPr lang="zh-CN" altLang="en-US" dirty="0"/>
              <a:t>练习题</a:t>
            </a:r>
            <a:endParaRPr lang="en-US" altLang="zh-CN" dirty="0"/>
          </a:p>
          <a:p>
            <a:pPr lvl="1"/>
            <a:r>
              <a:rPr lang="zh-CN" altLang="en-US" dirty="0"/>
              <a:t>在下面的情况中</a:t>
            </a:r>
            <a:r>
              <a:rPr lang="en-US" altLang="zh-CN" dirty="0"/>
              <a:t>,</a:t>
            </a:r>
            <a:r>
              <a:rPr lang="zh-CN" altLang="en-US" dirty="0"/>
              <a:t>通过风险转移来降低风险的例子是</a:t>
            </a:r>
            <a:r>
              <a:rPr lang="en-US" altLang="zh-CN" dirty="0"/>
              <a:t>(  )</a:t>
            </a:r>
          </a:p>
          <a:p>
            <a:pPr lvl="2"/>
            <a:r>
              <a:rPr lang="en-US" altLang="zh-CN" dirty="0"/>
              <a:t>A.</a:t>
            </a:r>
            <a:r>
              <a:rPr lang="zh-CN" altLang="en-US" dirty="0"/>
              <a:t>担保  </a:t>
            </a:r>
            <a:endParaRPr lang="en-US" altLang="zh-CN" dirty="0"/>
          </a:p>
          <a:p>
            <a:pPr lvl="2"/>
            <a:r>
              <a:rPr lang="en-US" altLang="zh-CN" dirty="0"/>
              <a:t>B.</a:t>
            </a:r>
            <a:r>
              <a:rPr lang="zh-CN" altLang="en-US" dirty="0"/>
              <a:t>合同  </a:t>
            </a:r>
            <a:endParaRPr lang="en-US" altLang="zh-CN" dirty="0"/>
          </a:p>
          <a:p>
            <a:pPr lvl="2"/>
            <a:r>
              <a:rPr lang="en-US" altLang="zh-CN" dirty="0"/>
              <a:t>C.</a:t>
            </a:r>
            <a:r>
              <a:rPr lang="zh-CN" altLang="en-US" dirty="0"/>
              <a:t>应急计划    </a:t>
            </a:r>
            <a:endParaRPr lang="en-US" altLang="zh-CN" dirty="0"/>
          </a:p>
          <a:p>
            <a:pPr lvl="2"/>
            <a:r>
              <a:rPr lang="en-US" altLang="zh-CN" dirty="0"/>
              <a:t>D.</a:t>
            </a:r>
            <a:r>
              <a:rPr lang="zh-CN" altLang="en-US" dirty="0"/>
              <a:t>发包</a:t>
            </a:r>
          </a:p>
          <a:p>
            <a:pPr lvl="1"/>
            <a:endParaRPr lang="zh-CN" altLang="en-US" dirty="0"/>
          </a:p>
        </p:txBody>
      </p:sp>
      <p:sp>
        <p:nvSpPr>
          <p:cNvPr id="3" name="标题 2">
            <a:extLst>
              <a:ext uri="{FF2B5EF4-FFF2-40B4-BE49-F238E27FC236}">
                <a16:creationId xmlns:a16="http://schemas.microsoft.com/office/drawing/2014/main" id="{F098FEFF-20D0-15AC-1C99-B1541242CC55}"/>
              </a:ext>
            </a:extLst>
          </p:cNvPr>
          <p:cNvSpPr>
            <a:spLocks noGrp="1"/>
          </p:cNvSpPr>
          <p:nvPr>
            <p:ph type="title"/>
          </p:nvPr>
        </p:nvSpPr>
        <p:spPr/>
        <p:txBody>
          <a:bodyPr/>
          <a:lstStyle/>
          <a:p>
            <a:endParaRPr lang="zh-CN" altLang="en-US"/>
          </a:p>
        </p:txBody>
      </p:sp>
      <p:sp>
        <p:nvSpPr>
          <p:cNvPr id="4" name="Rectangle 2">
            <a:extLst>
              <a:ext uri="{FF2B5EF4-FFF2-40B4-BE49-F238E27FC236}">
                <a16:creationId xmlns:a16="http://schemas.microsoft.com/office/drawing/2014/main" id="{EC430630-9A5B-B22D-2CFD-89E4EDF81E7B}"/>
              </a:ext>
            </a:extLst>
          </p:cNvPr>
          <p:cNvSpPr txBox="1">
            <a:spLocks noChangeArrowheads="1"/>
          </p:cNvSpPr>
          <p:nvPr/>
        </p:nvSpPr>
        <p:spPr>
          <a:xfrm>
            <a:off x="2150708" y="1373398"/>
            <a:ext cx="2013995" cy="563563"/>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zh-CN" altLang="en-US" sz="2000" dirty="0"/>
              <a:t>练习题</a:t>
            </a:r>
          </a:p>
        </p:txBody>
      </p:sp>
    </p:spTree>
    <p:extLst>
      <p:ext uri="{BB962C8B-B14F-4D97-AF65-F5344CB8AC3E}">
        <p14:creationId xmlns:p14="http://schemas.microsoft.com/office/powerpoint/2010/main" val="312689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7B3E9F8-1F6D-4F37-A90B-C434118E1C96}"/>
              </a:ext>
            </a:extLst>
          </p:cNvPr>
          <p:cNvSpPr>
            <a:spLocks noGrp="1"/>
          </p:cNvSpPr>
          <p:nvPr>
            <p:ph idx="1"/>
          </p:nvPr>
        </p:nvSpPr>
        <p:spPr/>
        <p:txBody>
          <a:bodyPr/>
          <a:lstStyle/>
          <a:p>
            <a:r>
              <a:rPr lang="zh-CN" altLang="en-US" dirty="0"/>
              <a:t>规划风险应对的输出</a:t>
            </a:r>
            <a:endParaRPr lang="en-US" altLang="zh-CN" dirty="0"/>
          </a:p>
          <a:p>
            <a:pPr lvl="1"/>
            <a:r>
              <a:rPr lang="en-US" altLang="zh-CN" dirty="0"/>
              <a:t>1</a:t>
            </a:r>
            <a:r>
              <a:rPr lang="zh-CN" altLang="en-US" dirty="0"/>
              <a:t>变更请求</a:t>
            </a:r>
          </a:p>
          <a:p>
            <a:pPr lvl="1"/>
            <a:r>
              <a:rPr lang="en-US" altLang="zh-CN" dirty="0"/>
              <a:t>2</a:t>
            </a:r>
            <a:r>
              <a:rPr lang="zh-CN" altLang="en-US" dirty="0"/>
              <a:t>项目管理计划更新</a:t>
            </a:r>
          </a:p>
          <a:p>
            <a:pPr lvl="2"/>
            <a:r>
              <a:rPr lang="zh-CN" altLang="en-US" dirty="0"/>
              <a:t>进度、成本、质量、资源、采购管理计划</a:t>
            </a:r>
          </a:p>
          <a:p>
            <a:pPr lvl="2"/>
            <a:r>
              <a:rPr lang="zh-CN" altLang="en-US" dirty="0"/>
              <a:t>范围基准、进度基准、成本基准</a:t>
            </a:r>
          </a:p>
          <a:p>
            <a:pPr lvl="1"/>
            <a:r>
              <a:rPr lang="en-US" altLang="zh-CN" dirty="0"/>
              <a:t>3</a:t>
            </a:r>
            <a:r>
              <a:rPr lang="zh-CN" altLang="en-US" dirty="0"/>
              <a:t>项目文件更新</a:t>
            </a:r>
          </a:p>
          <a:p>
            <a:pPr lvl="2"/>
            <a:r>
              <a:rPr lang="zh-CN" altLang="en-US" dirty="0"/>
              <a:t>假设日志、成本预测、经验教训登记册、项目进度计划、项目团队派工单、</a:t>
            </a:r>
            <a:r>
              <a:rPr lang="zh-CN" altLang="en-US" dirty="0">
                <a:solidFill>
                  <a:schemeClr val="tx1"/>
                </a:solidFill>
              </a:rPr>
              <a:t>风险登记册、风险报告</a:t>
            </a:r>
          </a:p>
          <a:p>
            <a:pPr lvl="1"/>
            <a:endParaRPr lang="zh-CN" altLang="en-US" dirty="0"/>
          </a:p>
        </p:txBody>
      </p:sp>
      <p:sp>
        <p:nvSpPr>
          <p:cNvPr id="4" name="标题 1">
            <a:extLst>
              <a:ext uri="{FF2B5EF4-FFF2-40B4-BE49-F238E27FC236}">
                <a16:creationId xmlns:a16="http://schemas.microsoft.com/office/drawing/2014/main" id="{067BD667-AF91-4340-A725-E6ABAB440366}"/>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17.6 </a:t>
            </a:r>
            <a:r>
              <a:rPr lang="zh-CN" altLang="en-US" dirty="0"/>
              <a:t>规划风险应对</a:t>
            </a:r>
          </a:p>
        </p:txBody>
      </p:sp>
    </p:spTree>
    <p:extLst>
      <p:ext uri="{BB962C8B-B14F-4D97-AF65-F5344CB8AC3E}">
        <p14:creationId xmlns:p14="http://schemas.microsoft.com/office/powerpoint/2010/main" val="92039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39124" y="1027784"/>
            <a:ext cx="3438486" cy="437186"/>
          </a:xfrm>
          <a:prstGeom prst="rect">
            <a:avLst/>
          </a:prstGeom>
        </p:spPr>
        <p:txBody>
          <a:bodyPr/>
          <a:lstStyle/>
          <a:p>
            <a:r>
              <a:rPr lang="zh-CN" altLang="en-US" dirty="0"/>
              <a:t>风险登记册</a:t>
            </a:r>
            <a:r>
              <a:rPr lang="en-US" altLang="zh-CN" dirty="0"/>
              <a:t>-</a:t>
            </a:r>
            <a:r>
              <a:rPr lang="zh-CN" altLang="en-US" dirty="0"/>
              <a:t>更新</a:t>
            </a:r>
          </a:p>
        </p:txBody>
      </p:sp>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615" y="2536268"/>
            <a:ext cx="10983742" cy="3529384"/>
          </a:xfrm>
          <a:prstGeom prst="rect">
            <a:avLst/>
          </a:prstGeom>
          <a:ln>
            <a:solidFill>
              <a:schemeClr val="tx2"/>
            </a:solidFill>
          </a:ln>
        </p:spPr>
        <p:style>
          <a:lnRef idx="1">
            <a:schemeClr val="dk1"/>
          </a:lnRef>
          <a:fillRef idx="2">
            <a:schemeClr val="dk1"/>
          </a:fillRef>
          <a:effectRef idx="1">
            <a:schemeClr val="dk1"/>
          </a:effectRef>
          <a:fontRef idx="minor">
            <a:schemeClr val="dk1"/>
          </a:fontRef>
        </p:style>
      </p:pic>
      <p:sp>
        <p:nvSpPr>
          <p:cNvPr id="5" name="内容占位符 2"/>
          <p:cNvSpPr>
            <a:spLocks noGrp="1"/>
          </p:cNvSpPr>
          <p:nvPr>
            <p:ph idx="1"/>
          </p:nvPr>
        </p:nvSpPr>
        <p:spPr>
          <a:xfrm>
            <a:off x="889509" y="1385982"/>
            <a:ext cx="8153400" cy="792088"/>
          </a:xfrm>
        </p:spPr>
        <p:txBody>
          <a:bodyPr/>
          <a:lstStyle/>
          <a:p>
            <a:pPr>
              <a:lnSpc>
                <a:spcPct val="120000"/>
              </a:lnSpc>
            </a:pPr>
            <a:r>
              <a:rPr lang="zh-CN" altLang="en-US" sz="2000" dirty="0"/>
              <a:t>增加应对策略、应对措施、风险应急事件阈值</a:t>
            </a:r>
            <a:endParaRPr lang="en-US" altLang="zh-CN" sz="2000" dirty="0"/>
          </a:p>
          <a:p>
            <a:pPr>
              <a:lnSpc>
                <a:spcPct val="120000"/>
              </a:lnSpc>
            </a:pPr>
            <a:r>
              <a:rPr lang="zh-CN" altLang="en-US" sz="2000" dirty="0"/>
              <a:t>增加风险减轻计划和风险应急计划</a:t>
            </a:r>
            <a:endParaRPr lang="en-US" altLang="zh-CN" sz="2000" dirty="0"/>
          </a:p>
        </p:txBody>
      </p:sp>
      <p:sp>
        <p:nvSpPr>
          <p:cNvPr id="6" name="标题 1">
            <a:extLst>
              <a:ext uri="{FF2B5EF4-FFF2-40B4-BE49-F238E27FC236}">
                <a16:creationId xmlns:a16="http://schemas.microsoft.com/office/drawing/2014/main" id="{59E8C421-7D82-47BE-9FEB-BE7AEDB9CDAD}"/>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t>17.6 </a:t>
            </a:r>
            <a:r>
              <a:rPr lang="zh-CN" altLang="en-US" dirty="0"/>
              <a:t>规划风险应对</a:t>
            </a:r>
          </a:p>
        </p:txBody>
      </p:sp>
    </p:spTree>
    <p:extLst>
      <p:ext uri="{BB962C8B-B14F-4D97-AF65-F5344CB8AC3E}">
        <p14:creationId xmlns:p14="http://schemas.microsoft.com/office/powerpoint/2010/main" val="846489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85B4C5B-78BA-41E9-B38E-11EB906D58CD}"/>
              </a:ext>
            </a:extLst>
          </p:cNvPr>
          <p:cNvSpPr>
            <a:spLocks noGrp="1"/>
          </p:cNvSpPr>
          <p:nvPr>
            <p:ph type="title"/>
          </p:nvPr>
        </p:nvSpPr>
        <p:spPr/>
        <p:txBody>
          <a:bodyPr/>
          <a:lstStyle/>
          <a:p>
            <a:r>
              <a:rPr lang="en-US" altLang="zh-CN" dirty="0">
                <a:latin typeface="SourceHanSansSC-Bold"/>
              </a:rPr>
              <a:t>17.7 </a:t>
            </a:r>
            <a:r>
              <a:rPr lang="zh-CN" altLang="en-US" dirty="0">
                <a:latin typeface="SourceHanSansSC-Bold"/>
              </a:rPr>
              <a:t>实施风险应对</a:t>
            </a:r>
            <a:endParaRPr lang="zh-CN" altLang="en-US" dirty="0"/>
          </a:p>
        </p:txBody>
      </p:sp>
      <p:sp>
        <p:nvSpPr>
          <p:cNvPr id="4" name="内容占位符 1">
            <a:extLst>
              <a:ext uri="{FF2B5EF4-FFF2-40B4-BE49-F238E27FC236}">
                <a16:creationId xmlns:a16="http://schemas.microsoft.com/office/drawing/2014/main" id="{388F665A-7BAC-457B-95AF-24840BDCD75E}"/>
              </a:ext>
            </a:extLst>
          </p:cNvPr>
          <p:cNvSpPr>
            <a:spLocks noGrp="1"/>
          </p:cNvSpPr>
          <p:nvPr>
            <p:ph idx="1"/>
          </p:nvPr>
        </p:nvSpPr>
        <p:spPr>
          <a:xfrm>
            <a:off x="926432" y="1017067"/>
            <a:ext cx="10395284" cy="5133791"/>
          </a:xfrm>
        </p:spPr>
        <p:txBody>
          <a:bodyPr/>
          <a:lstStyle/>
          <a:p>
            <a:pPr>
              <a:lnSpc>
                <a:spcPct val="130000"/>
              </a:lnSpc>
            </a:pPr>
            <a:r>
              <a:rPr lang="zh-CN" altLang="en-US" sz="1800" dirty="0">
                <a:latin typeface="SourceHanSansSC-Regular"/>
              </a:rPr>
              <a:t>实施风险应对是执行商定的风险应对计划的过程</a:t>
            </a:r>
            <a:r>
              <a:rPr lang="zh-CN" altLang="en-US" sz="1800" dirty="0">
                <a:ea typeface="幼圆" panose="02010509060101010101" pitchFamily="49" charset="-122"/>
              </a:rPr>
              <a:t>。</a:t>
            </a:r>
            <a:endParaRPr lang="en-US" altLang="zh-CN" sz="1800" dirty="0">
              <a:ea typeface="幼圆" panose="02010509060101010101" pitchFamily="49" charset="-122"/>
            </a:endParaRPr>
          </a:p>
          <a:p>
            <a:pPr lvl="1"/>
            <a:r>
              <a:rPr lang="zh-CN" altLang="en-US" sz="1600" dirty="0">
                <a:latin typeface="SourceHanSansSC-Regular"/>
              </a:rPr>
              <a:t>主要作用是，确保按计划执行商定的风险应对措施，来管理整体项目风险敞口、最小化单个项目威胁，以及最大化单个项目机会</a:t>
            </a:r>
            <a:r>
              <a:rPr lang="zh-CN" altLang="en-US" sz="1400" dirty="0">
                <a:ea typeface="幼圆" panose="02010509060101010101" pitchFamily="49" charset="-122"/>
              </a:rPr>
              <a:t>。</a:t>
            </a:r>
            <a:endParaRPr lang="en-US" altLang="zh-CN" sz="1400" dirty="0">
              <a:ea typeface="幼圆" panose="02010509060101010101" pitchFamily="49" charset="-122"/>
            </a:endParaRPr>
          </a:p>
          <a:p>
            <a:pPr lvl="1"/>
            <a:r>
              <a:rPr lang="zh-CN" altLang="en-US" sz="1400" dirty="0">
                <a:ea typeface="幼圆" panose="02010509060101010101" pitchFamily="49" charset="-122"/>
              </a:rPr>
              <a:t>需要在整个项目期间开展</a:t>
            </a:r>
          </a:p>
        </p:txBody>
      </p:sp>
      <p:sp>
        <p:nvSpPr>
          <p:cNvPr id="5" name="AutoShape 5">
            <a:extLst>
              <a:ext uri="{FF2B5EF4-FFF2-40B4-BE49-F238E27FC236}">
                <a16:creationId xmlns:a16="http://schemas.microsoft.com/office/drawing/2014/main" id="{F121E0AE-7D25-4531-B62C-836609642B33}"/>
              </a:ext>
            </a:extLst>
          </p:cNvPr>
          <p:cNvSpPr>
            <a:spLocks noChangeArrowheads="1"/>
          </p:cNvSpPr>
          <p:nvPr/>
        </p:nvSpPr>
        <p:spPr bwMode="auto">
          <a:xfrm>
            <a:off x="1966215" y="3527995"/>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600">
              <a:ea typeface="宋体" pitchFamily="2" charset="-122"/>
            </a:endParaRPr>
          </a:p>
        </p:txBody>
      </p:sp>
      <p:sp>
        <p:nvSpPr>
          <p:cNvPr id="6" name="Rectangle 6">
            <a:extLst>
              <a:ext uri="{FF2B5EF4-FFF2-40B4-BE49-F238E27FC236}">
                <a16:creationId xmlns:a16="http://schemas.microsoft.com/office/drawing/2014/main" id="{F3620EFD-1856-4E6E-A287-19C24EB0B3A6}"/>
              </a:ext>
            </a:extLst>
          </p:cNvPr>
          <p:cNvSpPr>
            <a:spLocks noChangeArrowheads="1"/>
          </p:cNvSpPr>
          <p:nvPr/>
        </p:nvSpPr>
        <p:spPr bwMode="auto">
          <a:xfrm>
            <a:off x="2279650"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7" name="Rectangle 7">
            <a:extLst>
              <a:ext uri="{FF2B5EF4-FFF2-40B4-BE49-F238E27FC236}">
                <a16:creationId xmlns:a16="http://schemas.microsoft.com/office/drawing/2014/main" id="{8AD5E280-EC27-40F6-9796-E586C1DD6E9C}"/>
              </a:ext>
            </a:extLst>
          </p:cNvPr>
          <p:cNvSpPr>
            <a:spLocks noChangeArrowheads="1"/>
          </p:cNvSpPr>
          <p:nvPr/>
        </p:nvSpPr>
        <p:spPr bwMode="auto">
          <a:xfrm>
            <a:off x="2279650"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组织过程资产</a:t>
            </a:r>
            <a:endParaRPr lang="en-US" altLang="zh-CN" sz="1600" dirty="0">
              <a:latin typeface="微软雅黑" pitchFamily="34" charset="-122"/>
              <a:ea typeface="微软雅黑" pitchFamily="34" charset="-122"/>
            </a:endParaRPr>
          </a:p>
        </p:txBody>
      </p:sp>
      <p:sp>
        <p:nvSpPr>
          <p:cNvPr id="8" name="Rectangle 8">
            <a:extLst>
              <a:ext uri="{FF2B5EF4-FFF2-40B4-BE49-F238E27FC236}">
                <a16:creationId xmlns:a16="http://schemas.microsoft.com/office/drawing/2014/main" id="{5C2CA140-5499-473C-89E8-602AFCEF2A6A}"/>
              </a:ext>
            </a:extLst>
          </p:cNvPr>
          <p:cNvSpPr>
            <a:spLocks noChangeArrowheads="1"/>
          </p:cNvSpPr>
          <p:nvPr/>
        </p:nvSpPr>
        <p:spPr bwMode="auto">
          <a:xfrm>
            <a:off x="4727575"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9" name="Rectangle 9">
            <a:extLst>
              <a:ext uri="{FF2B5EF4-FFF2-40B4-BE49-F238E27FC236}">
                <a16:creationId xmlns:a16="http://schemas.microsoft.com/office/drawing/2014/main" id="{51499896-9B15-49BC-921E-6B9400BF1E24}"/>
              </a:ext>
            </a:extLst>
          </p:cNvPr>
          <p:cNvSpPr>
            <a:spLocks noChangeArrowheads="1"/>
          </p:cNvSpPr>
          <p:nvPr/>
        </p:nvSpPr>
        <p:spPr bwMode="auto">
          <a:xfrm>
            <a:off x="4727575"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专家判断</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人际关系与团队技能</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影响力</a:t>
            </a:r>
            <a:endParaRPr lang="en-US" altLang="zh-CN" sz="1600" dirty="0">
              <a:latin typeface="微软雅黑" pitchFamily="34" charset="-122"/>
              <a:ea typeface="微软雅黑" pitchFamily="34" charset="-122"/>
            </a:endParaRP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项目管理信息系统</a:t>
            </a:r>
          </a:p>
        </p:txBody>
      </p:sp>
      <p:sp>
        <p:nvSpPr>
          <p:cNvPr id="10" name="Rectangle 10">
            <a:extLst>
              <a:ext uri="{FF2B5EF4-FFF2-40B4-BE49-F238E27FC236}">
                <a16:creationId xmlns:a16="http://schemas.microsoft.com/office/drawing/2014/main" id="{B1FF424E-A8D2-48A8-8FE2-9085E726DBE0}"/>
              </a:ext>
            </a:extLst>
          </p:cNvPr>
          <p:cNvSpPr>
            <a:spLocks noChangeArrowheads="1"/>
          </p:cNvSpPr>
          <p:nvPr/>
        </p:nvSpPr>
        <p:spPr bwMode="auto">
          <a:xfrm>
            <a:off x="7175500" y="2808857"/>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1" name="Rectangle 11">
            <a:extLst>
              <a:ext uri="{FF2B5EF4-FFF2-40B4-BE49-F238E27FC236}">
                <a16:creationId xmlns:a16="http://schemas.microsoft.com/office/drawing/2014/main" id="{52936917-BD0D-468C-832C-433122EAFF5C}"/>
              </a:ext>
            </a:extLst>
          </p:cNvPr>
          <p:cNvSpPr>
            <a:spLocks noChangeArrowheads="1"/>
          </p:cNvSpPr>
          <p:nvPr/>
        </p:nvSpPr>
        <p:spPr bwMode="auto">
          <a:xfrm>
            <a:off x="7175500" y="3240657"/>
            <a:ext cx="2305050" cy="2404240"/>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endParaRPr lang="en-US" altLang="zh-CN" sz="1600" dirty="0">
              <a:latin typeface="微软雅黑" pitchFamily="34" charset="-122"/>
              <a:ea typeface="微软雅黑" pitchFamily="34" charset="-122"/>
            </a:endParaRP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项目团队派工单</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28446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C820E12-3AC6-4698-A722-045F87093EC4}"/>
              </a:ext>
            </a:extLst>
          </p:cNvPr>
          <p:cNvSpPr>
            <a:spLocks noGrp="1"/>
          </p:cNvSpPr>
          <p:nvPr>
            <p:ph idx="1"/>
          </p:nvPr>
        </p:nvSpPr>
        <p:spPr>
          <a:xfrm>
            <a:off x="914400" y="1071157"/>
            <a:ext cx="10383253" cy="5133791"/>
          </a:xfrm>
        </p:spPr>
        <p:txBody>
          <a:bodyPr/>
          <a:lstStyle/>
          <a:p>
            <a:r>
              <a:rPr lang="zh-CN" altLang="en-US" dirty="0"/>
              <a:t>实施风险应对的输入</a:t>
            </a:r>
            <a:endParaRPr lang="en-US" altLang="zh-CN" dirty="0"/>
          </a:p>
          <a:p>
            <a:pPr lvl="1"/>
            <a:r>
              <a:rPr lang="zh-CN" altLang="en-US" dirty="0"/>
              <a:t>风险管理计划</a:t>
            </a:r>
            <a:r>
              <a:rPr lang="zh-CN" altLang="en-US" sz="1600" b="0" dirty="0"/>
              <a:t>列明了与风险管理相关的项目团队成员和其他相关方的角色和职责；会定义适用于本项目风险管理方法的详细程度，还会基于关键相关方的风险偏好规定项目的风险临界值</a:t>
            </a:r>
            <a:endParaRPr lang="en-US" altLang="zh-CN" sz="1600" b="0" dirty="0"/>
          </a:p>
          <a:p>
            <a:pPr lvl="1"/>
            <a:r>
              <a:rPr lang="zh-CN" altLang="en-US" dirty="0"/>
              <a:t>项目文件</a:t>
            </a:r>
            <a:endParaRPr lang="en-US" altLang="zh-CN" dirty="0"/>
          </a:p>
          <a:p>
            <a:pPr lvl="2"/>
            <a:r>
              <a:rPr lang="zh-CN" altLang="en-US" dirty="0"/>
              <a:t>经验教训登记册。</a:t>
            </a:r>
            <a:r>
              <a:rPr lang="zh-CN" altLang="en-US" sz="1600" b="0" dirty="0"/>
              <a:t>项目早期获得的与实施风险应对有关的经验教训，可用于项目后期提高本过程的有效性。</a:t>
            </a:r>
          </a:p>
          <a:p>
            <a:pPr lvl="2"/>
            <a:r>
              <a:rPr lang="zh-CN" altLang="en-US" dirty="0"/>
              <a:t>风险登记册。</a:t>
            </a:r>
            <a:r>
              <a:rPr lang="zh-CN" altLang="en-US" sz="1600" b="0" dirty="0"/>
              <a:t>记录了商定的风险应对措施，以及负责应对的指定责任人。</a:t>
            </a:r>
          </a:p>
          <a:p>
            <a:pPr lvl="2"/>
            <a:r>
              <a:rPr lang="zh-CN" altLang="en-US" dirty="0"/>
              <a:t>风险报告。</a:t>
            </a:r>
            <a:r>
              <a:rPr lang="zh-CN" altLang="en-US" sz="1600" b="0" dirty="0"/>
              <a:t>风险报告包括对当前整体项目风险敞口的评估，以及商定的风险应对策略，还会描述重要的单个项目风险及其应对计划。</a:t>
            </a:r>
          </a:p>
          <a:p>
            <a:pPr lvl="1"/>
            <a:r>
              <a:rPr lang="zh-CN" altLang="en-US" dirty="0"/>
              <a:t>组织过程资产</a:t>
            </a:r>
          </a:p>
          <a:p>
            <a:pPr lvl="2"/>
            <a:r>
              <a:rPr lang="zh-CN" altLang="en-US" sz="1600" b="0" dirty="0"/>
              <a:t>能够影响实施风险应对过程的组织过程资产包括已完成的类似项目的经验教训知识库，其中的特定风险应对的有效性。</a:t>
            </a:r>
          </a:p>
          <a:p>
            <a:pPr lvl="2"/>
            <a:endParaRPr lang="en-US" altLang="zh-CN" dirty="0"/>
          </a:p>
          <a:p>
            <a:pPr lvl="1"/>
            <a:endParaRPr lang="en-US" altLang="zh-CN" dirty="0"/>
          </a:p>
          <a:p>
            <a:pPr lvl="1"/>
            <a:endParaRPr lang="en-US" altLang="zh-CN" dirty="0"/>
          </a:p>
          <a:p>
            <a:pPr lvl="1"/>
            <a:endParaRPr lang="zh-CN" altLang="en-US" dirty="0"/>
          </a:p>
        </p:txBody>
      </p:sp>
      <p:sp>
        <p:nvSpPr>
          <p:cNvPr id="3" name="标题 2">
            <a:extLst>
              <a:ext uri="{FF2B5EF4-FFF2-40B4-BE49-F238E27FC236}">
                <a16:creationId xmlns:a16="http://schemas.microsoft.com/office/drawing/2014/main" id="{8816ADFF-2D69-41E8-8A0D-5B8E1912ED10}"/>
              </a:ext>
            </a:extLst>
          </p:cNvPr>
          <p:cNvSpPr>
            <a:spLocks noGrp="1"/>
          </p:cNvSpPr>
          <p:nvPr>
            <p:ph type="title"/>
          </p:nvPr>
        </p:nvSpPr>
        <p:spPr/>
        <p:txBody>
          <a:bodyPr/>
          <a:lstStyle/>
          <a:p>
            <a:r>
              <a:rPr lang="en-US" altLang="zh-CN" dirty="0"/>
              <a:t>17.7 </a:t>
            </a:r>
            <a:r>
              <a:rPr lang="zh-CN" altLang="en-US" dirty="0"/>
              <a:t>实施风险应对</a:t>
            </a:r>
          </a:p>
        </p:txBody>
      </p:sp>
    </p:spTree>
    <p:extLst>
      <p:ext uri="{BB962C8B-B14F-4D97-AF65-F5344CB8AC3E}">
        <p14:creationId xmlns:p14="http://schemas.microsoft.com/office/powerpoint/2010/main" val="2150961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C63EF7-DE18-4734-8989-3AC3E93A052C}"/>
              </a:ext>
            </a:extLst>
          </p:cNvPr>
          <p:cNvSpPr>
            <a:spLocks noGrp="1"/>
          </p:cNvSpPr>
          <p:nvPr>
            <p:ph idx="1"/>
          </p:nvPr>
        </p:nvSpPr>
        <p:spPr/>
        <p:txBody>
          <a:bodyPr/>
          <a:lstStyle/>
          <a:p>
            <a:r>
              <a:rPr lang="zh-CN" altLang="en-US" dirty="0"/>
              <a:t>实施风险应对的工具与技术</a:t>
            </a:r>
            <a:endParaRPr lang="en-US" altLang="zh-CN" dirty="0"/>
          </a:p>
          <a:p>
            <a:pPr lvl="1"/>
            <a:r>
              <a:rPr lang="zh-CN" altLang="en-US" dirty="0"/>
              <a:t>专家判断</a:t>
            </a:r>
            <a:r>
              <a:rPr lang="en-US" altLang="zh-CN" dirty="0"/>
              <a:t>:</a:t>
            </a:r>
            <a:r>
              <a:rPr lang="zh-CN" altLang="en-US" b="0" dirty="0"/>
              <a:t>应征求具备相应专业知识的个人或小组的意见</a:t>
            </a:r>
          </a:p>
          <a:p>
            <a:pPr lvl="1"/>
            <a:r>
              <a:rPr lang="zh-CN" altLang="en-US" dirty="0"/>
              <a:t>人际关系与团队技能</a:t>
            </a:r>
            <a:endParaRPr lang="en-US" altLang="zh-CN" dirty="0"/>
          </a:p>
          <a:p>
            <a:pPr lvl="2"/>
            <a:r>
              <a:rPr lang="zh-CN" altLang="en-US" dirty="0"/>
              <a:t>影响力</a:t>
            </a:r>
            <a:r>
              <a:rPr lang="en-US" altLang="zh-CN" dirty="0"/>
              <a:t>:</a:t>
            </a:r>
            <a:r>
              <a:rPr lang="zh-CN" altLang="en-US" b="0" dirty="0"/>
              <a:t>负责引导风险管理过程的项目经理或人员就需要施展影响力</a:t>
            </a:r>
            <a:r>
              <a:rPr lang="en-US" altLang="zh-CN" b="0" dirty="0"/>
              <a:t>,</a:t>
            </a:r>
            <a:r>
              <a:rPr lang="zh-CN" altLang="en-US" b="0" dirty="0"/>
              <a:t>去鼓励指定的风险责任人采取所需的行动</a:t>
            </a:r>
            <a:endParaRPr lang="en-US" altLang="zh-CN" b="0" dirty="0"/>
          </a:p>
          <a:p>
            <a:pPr lvl="1"/>
            <a:r>
              <a:rPr lang="zh-CN" altLang="en-US" dirty="0"/>
              <a:t>项目管理信息系统 </a:t>
            </a:r>
            <a:r>
              <a:rPr lang="en-US" altLang="zh-CN" dirty="0"/>
              <a:t>(PMIS)</a:t>
            </a:r>
          </a:p>
          <a:p>
            <a:pPr lvl="2"/>
            <a:r>
              <a:rPr lang="zh-CN" altLang="en-US" b="0" dirty="0"/>
              <a:t>可能包括进度、资源和成本软件，用于确保把商定的风险应对计划及其相关活动，连同其他项目活动，一并纳入整个项目</a:t>
            </a:r>
            <a:endParaRPr lang="en-US" altLang="zh-CN" b="0" dirty="0"/>
          </a:p>
          <a:p>
            <a:pPr lvl="2"/>
            <a:endParaRPr lang="zh-CN" altLang="en-US" dirty="0"/>
          </a:p>
        </p:txBody>
      </p:sp>
      <p:sp>
        <p:nvSpPr>
          <p:cNvPr id="3" name="标题 2">
            <a:extLst>
              <a:ext uri="{FF2B5EF4-FFF2-40B4-BE49-F238E27FC236}">
                <a16:creationId xmlns:a16="http://schemas.microsoft.com/office/drawing/2014/main" id="{9E7E0A24-E93D-4BA2-9632-B4A1A56A3B69}"/>
              </a:ext>
            </a:extLst>
          </p:cNvPr>
          <p:cNvSpPr>
            <a:spLocks noGrp="1"/>
          </p:cNvSpPr>
          <p:nvPr>
            <p:ph type="title"/>
          </p:nvPr>
        </p:nvSpPr>
        <p:spPr/>
        <p:txBody>
          <a:bodyPr/>
          <a:lstStyle/>
          <a:p>
            <a:r>
              <a:rPr lang="en-US" altLang="zh-CN" dirty="0"/>
              <a:t>17.7 </a:t>
            </a:r>
            <a:r>
              <a:rPr lang="zh-CN" altLang="en-US" dirty="0"/>
              <a:t>实施风险应对</a:t>
            </a:r>
          </a:p>
        </p:txBody>
      </p:sp>
    </p:spTree>
    <p:extLst>
      <p:ext uri="{BB962C8B-B14F-4D97-AF65-F5344CB8AC3E}">
        <p14:creationId xmlns:p14="http://schemas.microsoft.com/office/powerpoint/2010/main" val="272417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25961" y="920348"/>
            <a:ext cx="3419255" cy="437186"/>
          </a:xfrm>
          <a:prstGeom prst="rect">
            <a:avLst/>
          </a:prstGeom>
        </p:spPr>
        <p:txBody>
          <a:bodyPr/>
          <a:lstStyle/>
          <a:p>
            <a:r>
              <a:rPr lang="zh-CN" altLang="en-US" dirty="0">
                <a:latin typeface="微软雅黑" panose="020B0503020204020204" pitchFamily="34" charset="-122"/>
              </a:rPr>
              <a:t>风险应急应对策略</a:t>
            </a:r>
          </a:p>
        </p:txBody>
      </p:sp>
      <p:sp>
        <p:nvSpPr>
          <p:cNvPr id="3" name="内容占位符 2"/>
          <p:cNvSpPr>
            <a:spLocks noGrp="1"/>
          </p:cNvSpPr>
          <p:nvPr>
            <p:ph idx="1"/>
          </p:nvPr>
        </p:nvSpPr>
        <p:spPr>
          <a:xfrm>
            <a:off x="1155032" y="1268760"/>
            <a:ext cx="8973416" cy="792088"/>
          </a:xfrm>
        </p:spPr>
        <p:txBody>
          <a:bodyPr/>
          <a:lstStyle/>
          <a:p>
            <a:pPr>
              <a:lnSpc>
                <a:spcPct val="120000"/>
              </a:lnSpc>
            </a:pPr>
            <a:r>
              <a:rPr lang="zh-CN" altLang="en-US" sz="2000" dirty="0">
                <a:latin typeface="微软雅黑" panose="020B0503020204020204" pitchFamily="34" charset="-122"/>
              </a:rPr>
              <a:t>在项目风险跟踪过程中，当某些预定条件发生时则实施相应的应急应对策略</a:t>
            </a:r>
            <a:endParaRPr lang="en-US" altLang="zh-CN" sz="2000" dirty="0">
              <a:latin typeface="微软雅黑" panose="020B0503020204020204" pitchFamily="34" charset="-122"/>
            </a:endParaRPr>
          </a:p>
          <a:p>
            <a:pPr>
              <a:lnSpc>
                <a:spcPct val="120000"/>
              </a:lnSpc>
            </a:pPr>
            <a:r>
              <a:rPr lang="zh-CN" altLang="en-US" sz="2000" dirty="0">
                <a:latin typeface="微软雅黑" panose="020B0503020204020204" pitchFamily="34" charset="-122"/>
              </a:rPr>
              <a:t>在风险监控中，需要对触发应急策略的各个事件进行定义和跟踪</a:t>
            </a:r>
            <a:endParaRPr lang="en-US" altLang="zh-CN" sz="2000" dirty="0">
              <a:latin typeface="微软雅黑" panose="020B0503020204020204" pitchFamily="34" charset="-122"/>
            </a:endParaRPr>
          </a:p>
        </p:txBody>
      </p:sp>
      <p:sp>
        <p:nvSpPr>
          <p:cNvPr id="19" name="TextBox 18"/>
          <p:cNvSpPr txBox="1"/>
          <p:nvPr/>
        </p:nvSpPr>
        <p:spPr>
          <a:xfrm>
            <a:off x="1991545" y="2542760"/>
            <a:ext cx="1723549" cy="400110"/>
          </a:xfrm>
          <a:prstGeom prst="rect">
            <a:avLst/>
          </a:prstGeom>
          <a:noFill/>
        </p:spPr>
        <p:txBody>
          <a:bodyPr wrap="none" rtlCol="0">
            <a:spAutoFit/>
          </a:bodyPr>
          <a:lstStyle/>
          <a:p>
            <a:r>
              <a:rPr lang="zh-CN" altLang="en-US" sz="2000" i="1" u="sng" dirty="0">
                <a:solidFill>
                  <a:srgbClr val="C00000"/>
                </a:solidFill>
                <a:latin typeface="微软雅黑" panose="020B0503020204020204" pitchFamily="34" charset="-122"/>
                <a:ea typeface="微软雅黑" panose="020B0503020204020204" pitchFamily="34" charset="-122"/>
              </a:rPr>
              <a:t>风险应急储备</a:t>
            </a:r>
          </a:p>
        </p:txBody>
      </p:sp>
      <p:sp>
        <p:nvSpPr>
          <p:cNvPr id="15" name="TextBox 14"/>
          <p:cNvSpPr txBox="1"/>
          <p:nvPr/>
        </p:nvSpPr>
        <p:spPr>
          <a:xfrm>
            <a:off x="2351585" y="2974809"/>
            <a:ext cx="4987263"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对已知风险的储备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对项目范围内的预算或工期不足所导致变化的储备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可由项目经理动用</a:t>
            </a:r>
          </a:p>
        </p:txBody>
      </p:sp>
      <p:sp>
        <p:nvSpPr>
          <p:cNvPr id="20" name="TextBox 19"/>
          <p:cNvSpPr txBox="1"/>
          <p:nvPr/>
        </p:nvSpPr>
        <p:spPr>
          <a:xfrm>
            <a:off x="1991545" y="3910912"/>
            <a:ext cx="1723549" cy="400110"/>
          </a:xfrm>
          <a:prstGeom prst="rect">
            <a:avLst/>
          </a:prstGeom>
          <a:noFill/>
        </p:spPr>
        <p:txBody>
          <a:bodyPr wrap="none" rtlCol="0">
            <a:spAutoFit/>
          </a:bodyPr>
          <a:lstStyle/>
          <a:p>
            <a:r>
              <a:rPr lang="zh-CN" altLang="en-US" sz="2000" i="1" u="sng" dirty="0">
                <a:solidFill>
                  <a:srgbClr val="C00000"/>
                </a:solidFill>
                <a:latin typeface="微软雅黑" panose="020B0503020204020204" pitchFamily="34" charset="-122"/>
                <a:ea typeface="微软雅黑" panose="020B0503020204020204" pitchFamily="34" charset="-122"/>
              </a:rPr>
              <a:t>风险管理储备</a:t>
            </a:r>
          </a:p>
        </p:txBody>
      </p:sp>
      <p:sp>
        <p:nvSpPr>
          <p:cNvPr id="21" name="TextBox 20"/>
          <p:cNvSpPr txBox="1"/>
          <p:nvPr/>
        </p:nvSpPr>
        <p:spPr>
          <a:xfrm>
            <a:off x="2351585" y="4342961"/>
            <a:ext cx="4166525"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对未知风险的储备</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对项目范围变化导致的成本基线变动初步</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非项目经理动用</a:t>
            </a:r>
          </a:p>
        </p:txBody>
      </p:sp>
      <p:sp>
        <p:nvSpPr>
          <p:cNvPr id="22" name="矩形 21"/>
          <p:cNvSpPr/>
          <p:nvPr/>
        </p:nvSpPr>
        <p:spPr bwMode="auto">
          <a:xfrm>
            <a:off x="2210216" y="5609422"/>
            <a:ext cx="1723222" cy="504056"/>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zh-CN" altLang="en-US" sz="1400" dirty="0">
                <a:solidFill>
                  <a:srgbClr val="FFFFCC"/>
                </a:solidFill>
                <a:latin typeface="微软雅黑" panose="020B0503020204020204" pitchFamily="34" charset="-122"/>
                <a:ea typeface="微软雅黑" panose="020B0503020204020204" pitchFamily="34" charset="-122"/>
              </a:rPr>
              <a:t>员工流失风险</a:t>
            </a:r>
          </a:p>
        </p:txBody>
      </p:sp>
      <p:sp>
        <p:nvSpPr>
          <p:cNvPr id="23" name="矩形 22"/>
          <p:cNvSpPr/>
          <p:nvPr/>
        </p:nvSpPr>
        <p:spPr bwMode="auto">
          <a:xfrm>
            <a:off x="4736468" y="5609422"/>
            <a:ext cx="1723222" cy="504056"/>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zh-CN" sz="1400" dirty="0">
                <a:solidFill>
                  <a:srgbClr val="FFFFCC"/>
                </a:solidFill>
                <a:latin typeface="微软雅黑" panose="020B0503020204020204" pitchFamily="34" charset="-122"/>
                <a:ea typeface="微软雅黑" panose="020B0503020204020204" pitchFamily="34" charset="-122"/>
              </a:rPr>
              <a:t>1.</a:t>
            </a:r>
            <a:r>
              <a:rPr lang="zh-CN" altLang="en-US" sz="1400" dirty="0">
                <a:solidFill>
                  <a:srgbClr val="FFFFCC"/>
                </a:solidFill>
                <a:latin typeface="微软雅黑" panose="020B0503020204020204" pitchFamily="34" charset="-122"/>
                <a:ea typeface="微软雅黑" panose="020B0503020204020204" pitchFamily="34" charset="-122"/>
              </a:rPr>
              <a:t>从其它项目调人</a:t>
            </a:r>
            <a:endParaRPr lang="en-US" altLang="zh-CN" sz="1400" dirty="0">
              <a:solidFill>
                <a:srgbClr val="FFFFCC"/>
              </a:solidFill>
              <a:latin typeface="微软雅黑" panose="020B0503020204020204" pitchFamily="34" charset="-122"/>
              <a:ea typeface="微软雅黑" panose="020B0503020204020204" pitchFamily="34" charset="-122"/>
            </a:endParaRPr>
          </a:p>
          <a:p>
            <a:pPr fontAlgn="base">
              <a:spcBef>
                <a:spcPct val="0"/>
              </a:spcBef>
              <a:spcAft>
                <a:spcPct val="0"/>
              </a:spcAft>
            </a:pPr>
            <a:r>
              <a:rPr lang="en-US" altLang="zh-CN" sz="1400" dirty="0">
                <a:solidFill>
                  <a:srgbClr val="FFFFCC"/>
                </a:solidFill>
                <a:latin typeface="微软雅黑" panose="020B0503020204020204" pitchFamily="34" charset="-122"/>
                <a:ea typeface="微软雅黑" panose="020B0503020204020204" pitchFamily="34" charset="-122"/>
              </a:rPr>
              <a:t>2.</a:t>
            </a:r>
            <a:r>
              <a:rPr lang="zh-CN" altLang="en-US" sz="1400" dirty="0">
                <a:solidFill>
                  <a:srgbClr val="FFFFCC"/>
                </a:solidFill>
                <a:latin typeface="微软雅黑" panose="020B0503020204020204" pitchFamily="34" charset="-122"/>
                <a:ea typeface="微软雅黑" panose="020B0503020204020204" pitchFamily="34" charset="-122"/>
              </a:rPr>
              <a:t>重新招人</a:t>
            </a:r>
          </a:p>
        </p:txBody>
      </p:sp>
      <p:sp>
        <p:nvSpPr>
          <p:cNvPr id="24" name="右箭头 23"/>
          <p:cNvSpPr/>
          <p:nvPr/>
        </p:nvSpPr>
        <p:spPr bwMode="auto">
          <a:xfrm>
            <a:off x="4084746" y="5747116"/>
            <a:ext cx="432048" cy="25202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5" name="右箭头 24"/>
          <p:cNvSpPr/>
          <p:nvPr/>
        </p:nvSpPr>
        <p:spPr bwMode="auto">
          <a:xfrm>
            <a:off x="6672064" y="5747116"/>
            <a:ext cx="432048" cy="25202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7220252" y="4991032"/>
            <a:ext cx="1107996" cy="369332"/>
          </a:xfrm>
          <a:prstGeom prst="rect">
            <a:avLst/>
          </a:prstGeom>
          <a:noFill/>
        </p:spPr>
        <p:txBody>
          <a:bodyPr wrap="none" rtlCol="0">
            <a:spAutoFit/>
          </a:bodyPr>
          <a:lstStyle/>
          <a:p>
            <a:r>
              <a:rPr lang="zh-CN" altLang="en-US" i="1" u="sng" dirty="0">
                <a:solidFill>
                  <a:srgbClr val="C00000"/>
                </a:solidFill>
                <a:latin typeface="微软雅黑" panose="020B0503020204020204" pitchFamily="34" charset="-122"/>
                <a:ea typeface="微软雅黑" panose="020B0503020204020204" pitchFamily="34" charset="-122"/>
              </a:rPr>
              <a:t>观测事件</a:t>
            </a:r>
          </a:p>
        </p:txBody>
      </p:sp>
      <p:sp>
        <p:nvSpPr>
          <p:cNvPr id="27" name="TextBox 26"/>
          <p:cNvSpPr txBox="1"/>
          <p:nvPr/>
        </p:nvSpPr>
        <p:spPr>
          <a:xfrm>
            <a:off x="7320137" y="5456180"/>
            <a:ext cx="2114681" cy="830997"/>
          </a:xfrm>
          <a:prstGeom prst="rect">
            <a:avLst/>
          </a:prstGeom>
          <a:noFill/>
        </p:spPr>
        <p:txBody>
          <a:bodyPr wrap="none" rtlCol="0">
            <a:spAutoFit/>
          </a:bodyPr>
          <a:lstStyle/>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员工离职前的行为</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员工提离职申请</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sz="1600" b="1" dirty="0">
                <a:solidFill>
                  <a:schemeClr val="tx2"/>
                </a:solidFill>
                <a:latin typeface="微软雅黑" panose="020B0503020204020204" pitchFamily="34" charset="-122"/>
                <a:ea typeface="微软雅黑" panose="020B0503020204020204" pitchFamily="34" charset="-122"/>
              </a:rPr>
              <a:t>员工正式离职</a:t>
            </a:r>
          </a:p>
        </p:txBody>
      </p:sp>
      <p:sp>
        <p:nvSpPr>
          <p:cNvPr id="14" name="标题 1">
            <a:extLst>
              <a:ext uri="{FF2B5EF4-FFF2-40B4-BE49-F238E27FC236}">
                <a16:creationId xmlns:a16="http://schemas.microsoft.com/office/drawing/2014/main" id="{0AAB8160-EA71-4034-BB44-0B6F1574CF1C}"/>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17.7 </a:t>
            </a:r>
            <a:r>
              <a:rPr lang="zh-CN" altLang="en-US" dirty="0">
                <a:latin typeface="微软雅黑" panose="020B0503020204020204" pitchFamily="34" charset="-122"/>
              </a:rPr>
              <a:t>实施风险应对</a:t>
            </a:r>
          </a:p>
        </p:txBody>
      </p:sp>
    </p:spTree>
    <p:extLst>
      <p:ext uri="{BB962C8B-B14F-4D97-AF65-F5344CB8AC3E}">
        <p14:creationId xmlns:p14="http://schemas.microsoft.com/office/powerpoint/2010/main" val="11026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040597"/>
            <a:ext cx="3146386" cy="437186"/>
          </a:xfrm>
          <a:prstGeom prst="rect">
            <a:avLst/>
          </a:prstGeom>
        </p:spPr>
        <p:txBody>
          <a:bodyPr/>
          <a:lstStyle/>
          <a:p>
            <a:r>
              <a:rPr lang="zh-CN" altLang="en-US" dirty="0">
                <a:latin typeface="微软雅黑" panose="020B0503020204020204" pitchFamily="34" charset="-122"/>
              </a:rPr>
              <a:t>残留和次生风险</a:t>
            </a:r>
          </a:p>
        </p:txBody>
      </p:sp>
      <p:sp>
        <p:nvSpPr>
          <p:cNvPr id="3" name="内容占位符 2"/>
          <p:cNvSpPr>
            <a:spLocks noGrp="1"/>
          </p:cNvSpPr>
          <p:nvPr>
            <p:ph idx="1"/>
          </p:nvPr>
        </p:nvSpPr>
        <p:spPr>
          <a:xfrm>
            <a:off x="1981200" y="1477783"/>
            <a:ext cx="8153400" cy="837456"/>
          </a:xfrm>
        </p:spPr>
        <p:txBody>
          <a:bodyPr/>
          <a:lstStyle/>
          <a:p>
            <a:r>
              <a:rPr lang="zh-CN" altLang="en-US" sz="2000" dirty="0">
                <a:latin typeface="微软雅黑" panose="020B0503020204020204" pitchFamily="34" charset="-122"/>
              </a:rPr>
              <a:t>残留风险：实施风险应对后仍然还存在的风险，包括接受的风险</a:t>
            </a:r>
            <a:endParaRPr lang="en-US" altLang="zh-CN" sz="2000" dirty="0">
              <a:latin typeface="微软雅黑" panose="020B0503020204020204" pitchFamily="34" charset="-122"/>
            </a:endParaRPr>
          </a:p>
          <a:p>
            <a:r>
              <a:rPr lang="zh-CN" altLang="en-US" sz="2000" dirty="0">
                <a:latin typeface="微软雅黑" panose="020B0503020204020204" pitchFamily="34" charset="-122"/>
              </a:rPr>
              <a:t>次生风险：实施风险应对后带来的新的风险</a:t>
            </a:r>
          </a:p>
        </p:txBody>
      </p:sp>
      <p:sp>
        <p:nvSpPr>
          <p:cNvPr id="4" name="矩形 3"/>
          <p:cNvSpPr/>
          <p:nvPr/>
        </p:nvSpPr>
        <p:spPr bwMode="auto">
          <a:xfrm>
            <a:off x="1779476" y="3607130"/>
            <a:ext cx="8355124" cy="2210273"/>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由于一个核心骨干有离职的风险，采取了给骨干提高薪酬待遇的风险应对措施。</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次生风险：如果待遇泄漏可能造成其它员工的不满或引起其他员工离职。</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风险应急：招聘新人</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buFont typeface="Wingdings" pitchFamily="2" charset="2"/>
              <a:buChar char="u"/>
            </a:pPr>
            <a:r>
              <a:rPr lang="zh-CN" altLang="en-US" b="1" dirty="0">
                <a:solidFill>
                  <a:schemeClr val="tx2"/>
                </a:solidFill>
                <a:latin typeface="微软雅黑" panose="020B0503020204020204" pitchFamily="34" charset="-122"/>
                <a:ea typeface="微软雅黑" panose="020B0503020204020204" pitchFamily="34" charset="-122"/>
              </a:rPr>
              <a:t>风险应急后风险：新人对开发框架，过程不熟悉导致进度延后风险</a:t>
            </a:r>
            <a:endParaRPr lang="en-US" altLang="zh-CN" b="1" dirty="0">
              <a:solidFill>
                <a:schemeClr val="tx2"/>
              </a:solidFill>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6046A492-2302-448B-A0D3-B39F7808DBA0}"/>
              </a:ext>
            </a:extLst>
          </p:cNvPr>
          <p:cNvSpPr txBox="1">
            <a:spLocks/>
          </p:cNvSpPr>
          <p:nvPr/>
        </p:nvSpPr>
        <p:spPr>
          <a:xfrm>
            <a:off x="1990686" y="599591"/>
            <a:ext cx="8229600" cy="437186"/>
          </a:xfrm>
          <a:prstGeom prst="rect">
            <a:avLst/>
          </a:prstGeom>
        </p:spPr>
        <p:txBody>
          <a:bodyPr>
            <a:noAutofit/>
          </a:bodyPr>
          <a:lstStyle>
            <a:lvl1pPr algn="ctr" defTabSz="914400" rtl="0" eaLnBrk="1" latinLnBrk="0" hangingPunct="1">
              <a:spcBef>
                <a:spcPct val="0"/>
              </a:spcBef>
              <a:buNone/>
              <a:defRPr sz="1800" b="1" kern="1200" baseline="0">
                <a:solidFill>
                  <a:srgbClr val="663300"/>
                </a:solidFill>
                <a:latin typeface="Georgia" panose="02040502050405020303" pitchFamily="18" charset="0"/>
                <a:ea typeface="微软雅黑" pitchFamily="34" charset="-122"/>
                <a:cs typeface="+mj-cs"/>
              </a:defRPr>
            </a:lvl1pPr>
          </a:lstStyle>
          <a:p>
            <a:r>
              <a:rPr lang="en-US" altLang="zh-CN" dirty="0">
                <a:latin typeface="微软雅黑" panose="020B0503020204020204" pitchFamily="34" charset="-122"/>
              </a:rPr>
              <a:t>17.7 </a:t>
            </a:r>
            <a:r>
              <a:rPr lang="zh-CN" altLang="en-US" dirty="0">
                <a:latin typeface="微软雅黑" panose="020B0503020204020204" pitchFamily="34" charset="-122"/>
              </a:rPr>
              <a:t>实施风险应对</a:t>
            </a:r>
          </a:p>
        </p:txBody>
      </p:sp>
    </p:spTree>
    <p:extLst>
      <p:ext uri="{BB962C8B-B14F-4D97-AF65-F5344CB8AC3E}">
        <p14:creationId xmlns:p14="http://schemas.microsoft.com/office/powerpoint/2010/main" val="2946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descr="Large confetti">
            <a:extLst>
              <a:ext uri="{FF2B5EF4-FFF2-40B4-BE49-F238E27FC236}">
                <a16:creationId xmlns:a16="http://schemas.microsoft.com/office/drawing/2014/main" id="{4BC24846-711F-4F69-9A3A-2C09430006D6}"/>
              </a:ext>
            </a:extLst>
          </p:cNvPr>
          <p:cNvSpPr>
            <a:spLocks noGrp="1" noChangeArrowheads="1"/>
          </p:cNvSpPr>
          <p:nvPr>
            <p:ph type="title"/>
          </p:nvPr>
        </p:nvSpPr>
        <p:spPr>
          <a:xfrm>
            <a:off x="1996606" y="1441704"/>
            <a:ext cx="4501730" cy="463297"/>
          </a:xfrm>
          <a:prstGeom prst="rect">
            <a:avLst/>
          </a:prstGeom>
        </p:spPr>
        <p:txBody>
          <a:bodyPr/>
          <a:lstStyle/>
          <a:p>
            <a:pPr eaLnBrk="1" hangingPunct="1"/>
            <a:r>
              <a:rPr lang="zh-CN" altLang="en-US" sz="2400" dirty="0">
                <a:latin typeface="微软雅黑" panose="020B0503020204020204" pitchFamily="34" charset="-122"/>
              </a:rPr>
              <a:t>恶性事件处理</a:t>
            </a:r>
            <a:r>
              <a:rPr lang="en-US" altLang="zh-CN" sz="2400" dirty="0">
                <a:latin typeface="微软雅黑" panose="020B0503020204020204" pitchFamily="34" charset="-122"/>
              </a:rPr>
              <a:t>——</a:t>
            </a:r>
            <a:r>
              <a:rPr lang="zh-CN" altLang="en-US" sz="2400" dirty="0">
                <a:latin typeface="微软雅黑" panose="020B0503020204020204" pitchFamily="34" charset="-122"/>
              </a:rPr>
              <a:t>危机处理</a:t>
            </a:r>
          </a:p>
        </p:txBody>
      </p:sp>
      <p:sp>
        <p:nvSpPr>
          <p:cNvPr id="292867" name="Rectangle 3">
            <a:extLst>
              <a:ext uri="{FF2B5EF4-FFF2-40B4-BE49-F238E27FC236}">
                <a16:creationId xmlns:a16="http://schemas.microsoft.com/office/drawing/2014/main" id="{BC1FA365-407F-4C58-9D41-64023018E65A}"/>
              </a:ext>
            </a:extLst>
          </p:cNvPr>
          <p:cNvSpPr>
            <a:spLocks noGrp="1" noChangeArrowheads="1"/>
          </p:cNvSpPr>
          <p:nvPr>
            <p:ph type="body" idx="1"/>
          </p:nvPr>
        </p:nvSpPr>
        <p:spPr>
          <a:xfrm>
            <a:off x="2209800" y="1905000"/>
            <a:ext cx="8134350" cy="4191000"/>
          </a:xfrm>
        </p:spPr>
        <p:txBody>
          <a:bodyPr/>
          <a:lstStyle/>
          <a:p>
            <a:pPr eaLnBrk="1" hangingPunct="1"/>
            <a:r>
              <a:rPr lang="zh-CN" altLang="en-US" sz="2000" dirty="0">
                <a:latin typeface="微软雅黑" panose="020B0503020204020204" pitchFamily="34" charset="-122"/>
              </a:rPr>
              <a:t>第一时间控制局面，把损失降低到最小</a:t>
            </a:r>
          </a:p>
          <a:p>
            <a:pPr eaLnBrk="1" hangingPunct="1"/>
            <a:r>
              <a:rPr lang="zh-CN" altLang="en-US" sz="2000" dirty="0">
                <a:latin typeface="微软雅黑" panose="020B0503020204020204" pitchFamily="34" charset="-122"/>
              </a:rPr>
              <a:t>立即成立危机应对组织</a:t>
            </a:r>
          </a:p>
          <a:p>
            <a:pPr eaLnBrk="1" hangingPunct="1"/>
            <a:r>
              <a:rPr lang="zh-CN" altLang="en-US" sz="2000" dirty="0">
                <a:latin typeface="微软雅黑" panose="020B0503020204020204" pitchFamily="34" charset="-122"/>
              </a:rPr>
              <a:t>确定唯一的发言人</a:t>
            </a:r>
          </a:p>
          <a:p>
            <a:pPr eaLnBrk="1" hangingPunct="1"/>
            <a:r>
              <a:rPr lang="zh-CN" altLang="en-US" sz="2000" dirty="0">
                <a:latin typeface="微软雅黑" panose="020B0503020204020204" pitchFamily="34" charset="-122"/>
              </a:rPr>
              <a:t>与利益关系方建立</a:t>
            </a:r>
            <a:r>
              <a:rPr lang="zh-CN" altLang="en-US" sz="2000" dirty="0">
                <a:solidFill>
                  <a:schemeClr val="hlink"/>
                </a:solidFill>
                <a:latin typeface="微软雅黑" panose="020B0503020204020204" pitchFamily="34" charset="-122"/>
              </a:rPr>
              <a:t>沟通</a:t>
            </a:r>
            <a:r>
              <a:rPr lang="en-US" altLang="zh-CN" sz="2000" dirty="0">
                <a:latin typeface="微软雅黑" panose="020B0503020204020204" pitchFamily="34" charset="-122"/>
              </a:rPr>
              <a:t>——</a:t>
            </a:r>
            <a:r>
              <a:rPr lang="zh-CN" altLang="en-US" sz="2000" dirty="0">
                <a:latin typeface="微软雅黑" panose="020B0503020204020204" pitchFamily="34" charset="-122"/>
              </a:rPr>
              <a:t>表明我方态度</a:t>
            </a:r>
          </a:p>
          <a:p>
            <a:pPr eaLnBrk="1" hangingPunct="1"/>
            <a:r>
              <a:rPr lang="zh-CN" altLang="en-US" sz="2000" dirty="0">
                <a:latin typeface="微软雅黑" panose="020B0503020204020204" pitchFamily="34" charset="-122"/>
              </a:rPr>
              <a:t>尽快成立权威的问题鉴定机构，进行鉴定</a:t>
            </a:r>
          </a:p>
          <a:p>
            <a:pPr eaLnBrk="1" hangingPunct="1"/>
            <a:r>
              <a:rPr lang="zh-CN" altLang="en-US" sz="2000" dirty="0">
                <a:latin typeface="微软雅黑" panose="020B0503020204020204" pitchFamily="34" charset="-122"/>
              </a:rPr>
              <a:t>发布消息取得</a:t>
            </a:r>
            <a:r>
              <a:rPr lang="zh-CN" altLang="en-US" sz="2000" dirty="0">
                <a:solidFill>
                  <a:schemeClr val="hlink"/>
                </a:solidFill>
                <a:latin typeface="微软雅黑" panose="020B0503020204020204" pitchFamily="34" charset="-122"/>
              </a:rPr>
              <a:t>理解</a:t>
            </a:r>
            <a:r>
              <a:rPr lang="zh-CN" altLang="en-US" sz="2000" dirty="0">
                <a:latin typeface="微软雅黑" panose="020B0503020204020204" pitchFamily="34" charset="-122"/>
              </a:rPr>
              <a:t>，给与处理问题的时间</a:t>
            </a:r>
          </a:p>
          <a:p>
            <a:pPr eaLnBrk="1" hangingPunct="1"/>
            <a:r>
              <a:rPr lang="zh-CN" altLang="en-US" sz="2000" dirty="0">
                <a:latin typeface="微软雅黑" panose="020B0503020204020204" pitchFamily="34" charset="-122"/>
              </a:rPr>
              <a:t>采取补救措施，避免类似的情况再次发生</a:t>
            </a:r>
          </a:p>
        </p:txBody>
      </p:sp>
    </p:spTree>
    <p:extLst>
      <p:ext uri="{BB962C8B-B14F-4D97-AF65-F5344CB8AC3E}">
        <p14:creationId xmlns:p14="http://schemas.microsoft.com/office/powerpoint/2010/main" val="207867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
            <a:extLst>
              <a:ext uri="{FF2B5EF4-FFF2-40B4-BE49-F238E27FC236}">
                <a16:creationId xmlns:a16="http://schemas.microsoft.com/office/drawing/2014/main" id="{2F4C3262-A7D4-4401-AC5E-FA8FB73C9DE8}"/>
              </a:ext>
            </a:extLst>
          </p:cNvPr>
          <p:cNvSpPr>
            <a:spLocks noGrp="1"/>
          </p:cNvSpPr>
          <p:nvPr>
            <p:ph idx="1"/>
          </p:nvPr>
        </p:nvSpPr>
        <p:spPr>
          <a:xfrm>
            <a:off x="1010653" y="1017068"/>
            <a:ext cx="10094494" cy="1690038"/>
          </a:xfrm>
        </p:spPr>
        <p:txBody>
          <a:bodyPr/>
          <a:lstStyle/>
          <a:p>
            <a:pPr>
              <a:lnSpc>
                <a:spcPct val="130000"/>
              </a:lnSpc>
            </a:pPr>
            <a:r>
              <a:rPr lang="zh-CN" altLang="en-US" sz="1800" dirty="0">
                <a:latin typeface="SourceHanSansSC-Regular"/>
              </a:rPr>
              <a:t>监督风险是在整个项目期间，监督商定的风险应对计划的实施、跟踪已识别风险、识别和分析新风险，以及评估风险管理有效性的过程</a:t>
            </a:r>
            <a:endParaRPr lang="en-US" altLang="zh-CN" sz="1800" dirty="0">
              <a:latin typeface="SourceHanSansSC-Regular"/>
            </a:endParaRPr>
          </a:p>
          <a:p>
            <a:pPr lvl="1">
              <a:lnSpc>
                <a:spcPct val="130000"/>
              </a:lnSpc>
            </a:pPr>
            <a:r>
              <a:rPr lang="zh-CN" altLang="en-US" sz="1600" dirty="0">
                <a:latin typeface="SourceHanSansSC-Regular"/>
              </a:rPr>
              <a:t>主要作用是，使项目决策都基于关于整体项目风险敞口和单个项目风险的当前信息。</a:t>
            </a:r>
            <a:endParaRPr lang="en-US" altLang="zh-CN" sz="1600" dirty="0">
              <a:latin typeface="SourceHanSansSC-Regular"/>
            </a:endParaRPr>
          </a:p>
          <a:p>
            <a:pPr lvl="1"/>
            <a:r>
              <a:rPr lang="zh-CN" altLang="en-US" sz="1600" dirty="0">
                <a:latin typeface="SourceHanSansSC-Regular"/>
              </a:rPr>
              <a:t>需要在整个项目期间开展</a:t>
            </a:r>
          </a:p>
        </p:txBody>
      </p:sp>
      <p:sp>
        <p:nvSpPr>
          <p:cNvPr id="15362" name="标题 1"/>
          <p:cNvSpPr>
            <a:spLocks noGrp="1"/>
          </p:cNvSpPr>
          <p:nvPr>
            <p:ph type="title"/>
          </p:nvPr>
        </p:nvSpPr>
        <p:spPr>
          <a:xfrm>
            <a:off x="1990686" y="579880"/>
            <a:ext cx="8229600" cy="437186"/>
          </a:xfrm>
          <a:prstGeom prst="rect">
            <a:avLst/>
          </a:prstGeom>
        </p:spPr>
        <p:txBody>
          <a:bodyPr/>
          <a:lstStyle/>
          <a:p>
            <a:pPr eaLnBrk="1" hangingPunct="1"/>
            <a:r>
              <a:rPr lang="en-US" altLang="zh-CN" dirty="0"/>
              <a:t>17.8 </a:t>
            </a:r>
            <a:r>
              <a:rPr lang="zh-CN" altLang="en-US" dirty="0"/>
              <a:t>监督风险</a:t>
            </a:r>
          </a:p>
        </p:txBody>
      </p:sp>
      <p:sp>
        <p:nvSpPr>
          <p:cNvPr id="15363" name="AutoShape 5"/>
          <p:cNvSpPr>
            <a:spLocks noChangeArrowheads="1"/>
          </p:cNvSpPr>
          <p:nvPr/>
        </p:nvSpPr>
        <p:spPr bwMode="auto">
          <a:xfrm>
            <a:off x="2063751" y="3577779"/>
            <a:ext cx="8353425" cy="1439862"/>
          </a:xfrm>
          <a:prstGeom prst="rightArrow">
            <a:avLst>
              <a:gd name="adj1" fmla="val 69352"/>
              <a:gd name="adj2" fmla="val 49716"/>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ea typeface="宋体" pitchFamily="2" charset="-122"/>
            </a:endParaRPr>
          </a:p>
        </p:txBody>
      </p:sp>
      <p:sp>
        <p:nvSpPr>
          <p:cNvPr id="5" name="Rectangle 6"/>
          <p:cNvSpPr>
            <a:spLocks noChangeArrowheads="1"/>
          </p:cNvSpPr>
          <p:nvPr/>
        </p:nvSpPr>
        <p:spPr bwMode="auto">
          <a:xfrm>
            <a:off x="2279650"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输入</a:t>
            </a:r>
          </a:p>
        </p:txBody>
      </p:sp>
      <p:sp>
        <p:nvSpPr>
          <p:cNvPr id="15365" name="Rectangle 7"/>
          <p:cNvSpPr>
            <a:spLocks noChangeArrowheads="1"/>
          </p:cNvSpPr>
          <p:nvPr/>
        </p:nvSpPr>
        <p:spPr bwMode="auto">
          <a:xfrm>
            <a:off x="2279650"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项目管理计划</a:t>
            </a:r>
          </a:p>
          <a:p>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风险管理计划</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项目文件</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工作绩效数据</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工作绩效报告</a:t>
            </a:r>
            <a:endParaRPr lang="en-US" altLang="zh-CN" sz="1600" dirty="0">
              <a:latin typeface="微软雅黑" pitchFamily="34" charset="-122"/>
              <a:ea typeface="微软雅黑" pitchFamily="34" charset="-122"/>
            </a:endParaRPr>
          </a:p>
        </p:txBody>
      </p:sp>
      <p:sp>
        <p:nvSpPr>
          <p:cNvPr id="7" name="Rectangle 8"/>
          <p:cNvSpPr>
            <a:spLocks noChangeArrowheads="1"/>
          </p:cNvSpPr>
          <p:nvPr/>
        </p:nvSpPr>
        <p:spPr bwMode="auto">
          <a:xfrm>
            <a:off x="4727575"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a:solidFill>
                  <a:schemeClr val="bg1"/>
                </a:solidFill>
                <a:latin typeface="微软雅黑" pitchFamily="34" charset="-122"/>
                <a:ea typeface="微软雅黑" pitchFamily="34" charset="-122"/>
              </a:rPr>
              <a:t>工具和技术</a:t>
            </a:r>
          </a:p>
        </p:txBody>
      </p:sp>
      <p:sp>
        <p:nvSpPr>
          <p:cNvPr id="15367" name="Rectangle 9"/>
          <p:cNvSpPr>
            <a:spLocks noChangeArrowheads="1"/>
          </p:cNvSpPr>
          <p:nvPr/>
        </p:nvSpPr>
        <p:spPr bwMode="auto">
          <a:xfrm>
            <a:off x="4727575"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数据分析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技术绩效分析</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储备分析</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审计</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会议</a:t>
            </a:r>
            <a:endParaRPr lang="en-US" altLang="zh-CN" sz="1600" dirty="0">
              <a:latin typeface="微软雅黑" pitchFamily="34" charset="-122"/>
              <a:ea typeface="微软雅黑" pitchFamily="34" charset="-122"/>
            </a:endParaRPr>
          </a:p>
        </p:txBody>
      </p:sp>
      <p:sp>
        <p:nvSpPr>
          <p:cNvPr id="9" name="Rectangle 10"/>
          <p:cNvSpPr>
            <a:spLocks noChangeArrowheads="1"/>
          </p:cNvSpPr>
          <p:nvPr/>
        </p:nvSpPr>
        <p:spPr bwMode="auto">
          <a:xfrm>
            <a:off x="7175500" y="2858641"/>
            <a:ext cx="2305050" cy="431800"/>
          </a:xfrm>
          <a:prstGeom prst="rect">
            <a:avLst/>
          </a:prstGeom>
          <a:solidFill>
            <a:schemeClr val="tx2"/>
          </a:solidFill>
          <a:ln>
            <a:headEnd/>
            <a:tailEnd/>
          </a:ln>
        </p:spPr>
        <p:style>
          <a:lnRef idx="1">
            <a:schemeClr val="dk1"/>
          </a:lnRef>
          <a:fillRef idx="3">
            <a:schemeClr val="dk1"/>
          </a:fillRef>
          <a:effectRef idx="2">
            <a:schemeClr val="dk1"/>
          </a:effectRef>
          <a:fontRef idx="minor">
            <a:schemeClr val="lt1"/>
          </a:fontRef>
        </p:style>
        <p:txBody>
          <a:bodyPr wrap="none" anchor="ctr"/>
          <a:lstStyle/>
          <a:p>
            <a:pPr algn="ctr">
              <a:defRPr/>
            </a:pPr>
            <a:r>
              <a:rPr lang="zh-CN" altLang="en-US" sz="1600" dirty="0">
                <a:solidFill>
                  <a:schemeClr val="bg1"/>
                </a:solidFill>
                <a:latin typeface="微软雅黑" pitchFamily="34" charset="-122"/>
                <a:ea typeface="微软雅黑" pitchFamily="34" charset="-122"/>
              </a:rPr>
              <a:t>输出</a:t>
            </a:r>
          </a:p>
        </p:txBody>
      </p:sp>
      <p:sp>
        <p:nvSpPr>
          <p:cNvPr id="15369" name="Rectangle 11"/>
          <p:cNvSpPr>
            <a:spLocks noChangeArrowheads="1"/>
          </p:cNvSpPr>
          <p:nvPr/>
        </p:nvSpPr>
        <p:spPr bwMode="auto">
          <a:xfrm>
            <a:off x="7175500" y="3290442"/>
            <a:ext cx="2305050" cy="2874863"/>
          </a:xfrm>
          <a:prstGeom prst="rect">
            <a:avLst/>
          </a:prstGeom>
          <a:solidFill>
            <a:schemeClr val="bg1"/>
          </a:solidFill>
          <a:ln w="9525">
            <a:solidFill>
              <a:schemeClr val="tx1"/>
            </a:solidFill>
            <a:miter lim="800000"/>
            <a:headEnd/>
            <a:tailEnd/>
          </a:ln>
        </p:spPr>
        <p:txBody>
          <a:bodyPr wrap="none"/>
          <a:lstStyle/>
          <a:p>
            <a:r>
              <a:rPr lang="en-US" altLang="zh-CN" sz="1600" dirty="0">
                <a:latin typeface="微软雅黑" pitchFamily="34" charset="-122"/>
                <a:ea typeface="微软雅黑" pitchFamily="34" charset="-122"/>
              </a:rPr>
              <a:t>.1</a:t>
            </a:r>
            <a:r>
              <a:rPr lang="zh-CN" altLang="en-US" sz="1600" dirty="0">
                <a:latin typeface="微软雅黑" pitchFamily="34" charset="-122"/>
                <a:ea typeface="微软雅黑" pitchFamily="34" charset="-122"/>
              </a:rPr>
              <a:t>工作绩效信息</a:t>
            </a:r>
          </a:p>
          <a:p>
            <a:r>
              <a:rPr lang="en-US" altLang="zh-CN" sz="1600" dirty="0">
                <a:latin typeface="微软雅黑" pitchFamily="34" charset="-122"/>
                <a:ea typeface="微软雅黑" pitchFamily="34" charset="-122"/>
              </a:rPr>
              <a:t>.2</a:t>
            </a:r>
            <a:r>
              <a:rPr lang="zh-CN" altLang="en-US" sz="1600" dirty="0">
                <a:latin typeface="微软雅黑" pitchFamily="34" charset="-122"/>
                <a:ea typeface="微软雅黑" pitchFamily="34" charset="-122"/>
              </a:rPr>
              <a:t>变更请求</a:t>
            </a:r>
          </a:p>
          <a:p>
            <a:r>
              <a:rPr lang="en-US" altLang="zh-CN" sz="1600" dirty="0">
                <a:latin typeface="微软雅黑" pitchFamily="34" charset="-122"/>
                <a:ea typeface="微软雅黑" pitchFamily="34" charset="-122"/>
              </a:rPr>
              <a:t>.3</a:t>
            </a:r>
            <a:r>
              <a:rPr lang="zh-CN" altLang="en-US" sz="1600" dirty="0">
                <a:latin typeface="微软雅黑" pitchFamily="34" charset="-122"/>
                <a:ea typeface="微软雅黑" pitchFamily="34" charset="-122"/>
              </a:rPr>
              <a:t>项目管理计划更新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任何组件</a:t>
            </a:r>
          </a:p>
          <a:p>
            <a:r>
              <a:rPr lang="en-US" altLang="zh-CN" sz="1600" dirty="0">
                <a:latin typeface="微软雅黑" pitchFamily="34" charset="-122"/>
                <a:ea typeface="微软雅黑" pitchFamily="34" charset="-122"/>
              </a:rPr>
              <a:t>.4</a:t>
            </a:r>
            <a:r>
              <a:rPr lang="zh-CN" altLang="en-US" sz="1600" dirty="0">
                <a:latin typeface="微软雅黑" pitchFamily="34" charset="-122"/>
                <a:ea typeface="微软雅黑" pitchFamily="34" charset="-122"/>
              </a:rPr>
              <a:t>项目文件更新</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假设日志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问题日志</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经验教训登记册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风险登记册</a:t>
            </a:r>
          </a:p>
          <a:p>
            <a:r>
              <a:rPr lang="en-US" altLang="zh-CN" sz="1600" dirty="0">
                <a:latin typeface="微软雅黑" pitchFamily="34" charset="-122"/>
                <a:ea typeface="微软雅黑" pitchFamily="34" charset="-122"/>
              </a:rPr>
              <a:t>   ·</a:t>
            </a:r>
            <a:r>
              <a:rPr lang="zh-CN" altLang="en-US" sz="1600" dirty="0">
                <a:latin typeface="微软雅黑" pitchFamily="34" charset="-122"/>
                <a:ea typeface="微软雅黑" pitchFamily="34" charset="-122"/>
              </a:rPr>
              <a:t>风险报告</a:t>
            </a:r>
          </a:p>
          <a:p>
            <a:r>
              <a:rPr lang="en-US" altLang="zh-CN" sz="1600" dirty="0">
                <a:latin typeface="微软雅黑" pitchFamily="34" charset="-122"/>
                <a:ea typeface="微软雅黑" pitchFamily="34" charset="-122"/>
              </a:rPr>
              <a:t>.5</a:t>
            </a:r>
            <a:r>
              <a:rPr lang="zh-CN" altLang="en-US" sz="1600" dirty="0">
                <a:latin typeface="微软雅黑" pitchFamily="34" charset="-122"/>
                <a:ea typeface="微软雅黑" pitchFamily="34" charset="-122"/>
              </a:rPr>
              <a:t>组织过程资产更新</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317815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88162" y="858213"/>
            <a:ext cx="2780091" cy="437186"/>
          </a:xfrm>
          <a:prstGeom prst="rect">
            <a:avLst/>
          </a:prstGeom>
        </p:spPr>
        <p:txBody>
          <a:bodyPr/>
          <a:lstStyle/>
          <a:p>
            <a:r>
              <a:rPr lang="zh-CN" altLang="en-US" dirty="0"/>
              <a:t>监控风险的内容</a:t>
            </a:r>
          </a:p>
        </p:txBody>
      </p:sp>
      <p:sp>
        <p:nvSpPr>
          <p:cNvPr id="3" name="内容占位符 2"/>
          <p:cNvSpPr>
            <a:spLocks noGrp="1"/>
          </p:cNvSpPr>
          <p:nvPr>
            <p:ph idx="1"/>
          </p:nvPr>
        </p:nvSpPr>
        <p:spPr>
          <a:xfrm>
            <a:off x="1203159" y="1295399"/>
            <a:ext cx="9962146" cy="3589421"/>
          </a:xfrm>
        </p:spPr>
        <p:txBody>
          <a:bodyPr/>
          <a:lstStyle/>
          <a:p>
            <a:r>
              <a:rPr lang="zh-CN" altLang="en-US" dirty="0"/>
              <a:t>在项目生命期是否有新的风险产生？</a:t>
            </a:r>
            <a:endParaRPr lang="en-US" altLang="zh-CN" dirty="0"/>
          </a:p>
          <a:p>
            <a:r>
              <a:rPr lang="zh-CN" altLang="en-US" dirty="0"/>
              <a:t>对于已经识别的风险，风险概率和影响是否变化，风险优先级是否变化？</a:t>
            </a:r>
            <a:endParaRPr lang="en-US" altLang="zh-CN" dirty="0"/>
          </a:p>
          <a:p>
            <a:r>
              <a:rPr lang="zh-CN" altLang="en-US" dirty="0"/>
              <a:t>对于已经实施风险应对策略的风险，风险影响是否降低或可以关闭？</a:t>
            </a:r>
            <a:endParaRPr lang="en-US" altLang="zh-CN" dirty="0"/>
          </a:p>
          <a:p>
            <a:r>
              <a:rPr lang="zh-CN" altLang="en-US" dirty="0"/>
              <a:t>对于没有实施应对的风险，相关的触发事件是否发生？</a:t>
            </a:r>
            <a:endParaRPr lang="en-US" altLang="zh-CN" dirty="0"/>
          </a:p>
          <a:p>
            <a:r>
              <a:rPr lang="zh-CN" altLang="en-US" dirty="0"/>
              <a:t>根据当前的风险发生情况，是否需要调整项目成本或进度应急储备？</a:t>
            </a:r>
          </a:p>
        </p:txBody>
      </p:sp>
    </p:spTree>
    <p:extLst>
      <p:ext uri="{BB962C8B-B14F-4D97-AF65-F5344CB8AC3E}">
        <p14:creationId xmlns:p14="http://schemas.microsoft.com/office/powerpoint/2010/main" val="145937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532EA48-7D9A-4F4B-BBEC-48A4AC37E64E}"/>
              </a:ext>
            </a:extLst>
          </p:cNvPr>
          <p:cNvSpPr>
            <a:spLocks noGrp="1"/>
          </p:cNvSpPr>
          <p:nvPr>
            <p:ph idx="1"/>
          </p:nvPr>
        </p:nvSpPr>
        <p:spPr>
          <a:xfrm>
            <a:off x="782053" y="1130532"/>
            <a:ext cx="10611852" cy="5133791"/>
          </a:xfrm>
        </p:spPr>
        <p:txBody>
          <a:bodyPr/>
          <a:lstStyle/>
          <a:p>
            <a:r>
              <a:rPr lang="zh-CN" altLang="en-US" sz="2000" dirty="0"/>
              <a:t>监督风险的输入</a:t>
            </a:r>
            <a:endParaRPr lang="en-US" altLang="zh-CN" sz="2000" dirty="0"/>
          </a:p>
          <a:p>
            <a:pPr lvl="1"/>
            <a:r>
              <a:rPr lang="zh-CN" altLang="en-US" sz="1800" dirty="0"/>
              <a:t>风险管理计划</a:t>
            </a:r>
            <a:r>
              <a:rPr lang="zh-CN" altLang="en-US" sz="1800" b="0" dirty="0"/>
              <a:t>规定了应如何及何时审查风险，应遵守哪些政策和程序，与本监督过程有关的角色和职责安排，以及报告格式</a:t>
            </a:r>
            <a:endParaRPr lang="en-US" altLang="zh-CN" sz="1800" b="0" dirty="0"/>
          </a:p>
          <a:p>
            <a:pPr lvl="1"/>
            <a:r>
              <a:rPr lang="zh-CN" altLang="en-US" sz="1800" dirty="0"/>
              <a:t>项目文件</a:t>
            </a:r>
          </a:p>
          <a:p>
            <a:pPr lvl="2"/>
            <a:r>
              <a:rPr lang="zh-CN" altLang="en-US" sz="1600" dirty="0"/>
              <a:t>问题日志</a:t>
            </a:r>
            <a:r>
              <a:rPr lang="zh-CN" altLang="en-US" sz="1600" b="0" dirty="0"/>
              <a:t>用于检查未决问题是否已更新，对风险登记册进行必要更新</a:t>
            </a:r>
            <a:endParaRPr lang="en-US" altLang="zh-CN" sz="1600" b="0" dirty="0"/>
          </a:p>
          <a:p>
            <a:pPr lvl="2"/>
            <a:r>
              <a:rPr lang="zh-CN" altLang="en-US" sz="1600" dirty="0"/>
              <a:t>经验教训登记册。</a:t>
            </a:r>
            <a:r>
              <a:rPr lang="zh-CN" altLang="en-US" sz="1600" b="0" dirty="0"/>
              <a:t>在项目早期获得的与风险相关的经验教训可用于项目后期阶段</a:t>
            </a:r>
            <a:endParaRPr lang="en-US" altLang="zh-CN" sz="1600" b="0" dirty="0"/>
          </a:p>
          <a:p>
            <a:pPr lvl="2"/>
            <a:r>
              <a:rPr lang="zh-CN" altLang="en-US" sz="1600" dirty="0"/>
              <a:t>风险报告</a:t>
            </a:r>
            <a:r>
              <a:rPr lang="zh-CN" altLang="en-US" sz="1600" b="0" dirty="0"/>
              <a:t>包括对当前整体项目风险敞口的评估，以及商定的风险应对策略</a:t>
            </a:r>
            <a:endParaRPr lang="en-US" altLang="zh-CN" sz="1600" b="0" dirty="0"/>
          </a:p>
          <a:p>
            <a:pPr lvl="1"/>
            <a:r>
              <a:rPr lang="zh-CN" altLang="en-US" sz="1800" dirty="0"/>
              <a:t>工作绩效数据</a:t>
            </a:r>
            <a:r>
              <a:rPr lang="zh-CN" altLang="en-US" sz="1800" b="0" dirty="0"/>
              <a:t>包含关于项目状态的信息</a:t>
            </a:r>
            <a:endParaRPr lang="en-US" altLang="zh-CN" sz="1800" b="0" dirty="0"/>
          </a:p>
          <a:p>
            <a:pPr lvl="1"/>
            <a:r>
              <a:rPr lang="zh-CN" altLang="en-US" sz="1800" dirty="0"/>
              <a:t>工作绩效报告</a:t>
            </a:r>
            <a:r>
              <a:rPr lang="zh-CN" altLang="en-US" sz="1800" b="0" dirty="0"/>
              <a:t>是通过分析绩效测量结果而得到的，能够提供关于项目工作绩效的信息，包括偏差分析结果、挣值数据和预测数据。在监督与绩效相关的风险时，需要使用这些信息</a:t>
            </a:r>
            <a:endParaRPr lang="en-US" altLang="zh-CN" sz="1800" b="0" dirty="0"/>
          </a:p>
          <a:p>
            <a:pPr lvl="1"/>
            <a:endParaRPr lang="zh-CN" altLang="en-US" sz="1800" dirty="0"/>
          </a:p>
          <a:p>
            <a:endParaRPr lang="zh-CN" altLang="en-US" sz="2000" dirty="0"/>
          </a:p>
        </p:txBody>
      </p:sp>
      <p:sp>
        <p:nvSpPr>
          <p:cNvPr id="4" name="标题 1">
            <a:extLst>
              <a:ext uri="{FF2B5EF4-FFF2-40B4-BE49-F238E27FC236}">
                <a16:creationId xmlns:a16="http://schemas.microsoft.com/office/drawing/2014/main" id="{4025BA7D-1BAF-4AE2-B3EF-85239AEB9707}"/>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34083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F024888-DE4B-4571-A8D8-252547EC4913}"/>
              </a:ext>
            </a:extLst>
          </p:cNvPr>
          <p:cNvSpPr>
            <a:spLocks noGrp="1"/>
          </p:cNvSpPr>
          <p:nvPr>
            <p:ph idx="1"/>
          </p:nvPr>
        </p:nvSpPr>
        <p:spPr/>
        <p:txBody>
          <a:bodyPr/>
          <a:lstStyle/>
          <a:p>
            <a:r>
              <a:rPr lang="zh-CN" altLang="en-US" dirty="0"/>
              <a:t>监督风险的工具与技术</a:t>
            </a:r>
          </a:p>
          <a:p>
            <a:pPr lvl="1"/>
            <a:r>
              <a:rPr lang="zh-CN" altLang="en-US" dirty="0"/>
              <a:t>数据分析</a:t>
            </a:r>
            <a:endParaRPr lang="en-US" altLang="zh-CN" dirty="0"/>
          </a:p>
          <a:p>
            <a:pPr lvl="2"/>
            <a:r>
              <a:rPr lang="zh-CN" altLang="en-US" dirty="0"/>
              <a:t>技术绩效分析，</a:t>
            </a:r>
            <a:r>
              <a:rPr lang="zh-CN" altLang="en-US" b="0" dirty="0"/>
              <a:t>把项目执行期间所取得的技术成果与取得相关技术成果的计划进行比较</a:t>
            </a:r>
            <a:endParaRPr lang="en-US" altLang="zh-CN" b="0" dirty="0"/>
          </a:p>
          <a:p>
            <a:pPr lvl="2"/>
            <a:r>
              <a:rPr lang="zh-CN" altLang="en-US" dirty="0"/>
              <a:t>储备分析，</a:t>
            </a:r>
            <a:r>
              <a:rPr lang="zh-CN" altLang="en-US" b="0" dirty="0"/>
              <a:t>可以用各种图形（如燃尽图）来显示应急储备的消耗情况</a:t>
            </a:r>
            <a:endParaRPr lang="en-US" altLang="zh-CN" b="0" dirty="0"/>
          </a:p>
          <a:p>
            <a:pPr lvl="1"/>
            <a:r>
              <a:rPr lang="zh-CN" altLang="en-US" dirty="0"/>
              <a:t>审计</a:t>
            </a:r>
            <a:r>
              <a:rPr lang="en-US" altLang="zh-CN" dirty="0"/>
              <a:t>,</a:t>
            </a:r>
            <a:r>
              <a:rPr lang="zh-CN" altLang="en-US" b="0" dirty="0"/>
              <a:t>可用于评估风险管理过程的有效性</a:t>
            </a:r>
            <a:endParaRPr lang="en-US" altLang="zh-CN" b="0" dirty="0"/>
          </a:p>
          <a:p>
            <a:pPr lvl="1"/>
            <a:r>
              <a:rPr lang="zh-CN" altLang="en-US" dirty="0"/>
              <a:t>会议</a:t>
            </a:r>
            <a:r>
              <a:rPr lang="en-US" altLang="zh-CN" dirty="0"/>
              <a:t>,</a:t>
            </a:r>
            <a:r>
              <a:rPr lang="zh-CN" altLang="en-US" b="0" dirty="0"/>
              <a:t>风险审查可以是定期项目状态会中的一项议程，或者也可以召开专门的风险审查会</a:t>
            </a:r>
          </a:p>
          <a:p>
            <a:pPr lvl="1"/>
            <a:endParaRPr lang="en-US" altLang="zh-CN" dirty="0"/>
          </a:p>
          <a:p>
            <a:pPr lvl="1"/>
            <a:endParaRPr lang="zh-CN" altLang="en-US" dirty="0"/>
          </a:p>
        </p:txBody>
      </p:sp>
      <p:sp>
        <p:nvSpPr>
          <p:cNvPr id="4" name="标题 1">
            <a:extLst>
              <a:ext uri="{FF2B5EF4-FFF2-40B4-BE49-F238E27FC236}">
                <a16:creationId xmlns:a16="http://schemas.microsoft.com/office/drawing/2014/main" id="{0801C065-11E9-4E88-8799-1196B746A42E}"/>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41547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4414" y="764293"/>
            <a:ext cx="8229600" cy="437186"/>
          </a:xfrm>
          <a:prstGeom prst="rect">
            <a:avLst/>
          </a:prstGeom>
        </p:spPr>
        <p:txBody>
          <a:bodyPr/>
          <a:lstStyle/>
          <a:p>
            <a:r>
              <a:rPr lang="zh-CN" altLang="en-US" dirty="0"/>
              <a:t>风险监控工具技术</a:t>
            </a:r>
          </a:p>
        </p:txBody>
      </p:sp>
      <p:sp>
        <p:nvSpPr>
          <p:cNvPr id="3" name="内容占位符 2"/>
          <p:cNvSpPr>
            <a:spLocks noGrp="1"/>
          </p:cNvSpPr>
          <p:nvPr>
            <p:ph idx="1"/>
          </p:nvPr>
        </p:nvSpPr>
        <p:spPr>
          <a:xfrm>
            <a:off x="1467853" y="1295400"/>
            <a:ext cx="8666747" cy="2637656"/>
          </a:xfrm>
        </p:spPr>
        <p:txBody>
          <a:bodyPr/>
          <a:lstStyle/>
          <a:p>
            <a:r>
              <a:rPr lang="zh-CN" altLang="en-US" dirty="0"/>
              <a:t>风险再评估：新风险的识别，旧风险的影响再评估</a:t>
            </a:r>
            <a:endParaRPr lang="en-US" altLang="zh-CN" dirty="0"/>
          </a:p>
          <a:p>
            <a:r>
              <a:rPr lang="zh-CN" altLang="en-US" dirty="0"/>
              <a:t>风险审计：检查风险应对措施的有效性</a:t>
            </a:r>
            <a:endParaRPr lang="en-US" altLang="zh-CN" dirty="0"/>
          </a:p>
          <a:p>
            <a:r>
              <a:rPr lang="zh-CN" altLang="en-US" dirty="0"/>
              <a:t>偏差和趋势分析</a:t>
            </a:r>
            <a:endParaRPr lang="en-US" altLang="zh-CN" dirty="0"/>
          </a:p>
          <a:p>
            <a:pPr lvl="1"/>
            <a:r>
              <a:rPr lang="en-US" altLang="zh-CN" dirty="0"/>
              <a:t>EVM</a:t>
            </a:r>
            <a:r>
              <a:rPr lang="zh-CN" altLang="en-US" dirty="0"/>
              <a:t>挣值分析</a:t>
            </a:r>
            <a:endParaRPr lang="en-US" altLang="zh-CN" dirty="0"/>
          </a:p>
          <a:p>
            <a:pPr lvl="1"/>
            <a:r>
              <a:rPr lang="zh-CN" altLang="en-US" dirty="0"/>
              <a:t>项目偏差和趋势分析</a:t>
            </a:r>
            <a:endParaRPr lang="en-US" altLang="zh-CN" dirty="0"/>
          </a:p>
          <a:p>
            <a:r>
              <a:rPr lang="zh-CN" altLang="en-US" dirty="0"/>
              <a:t>技术绩效测量：对于软件项目如</a:t>
            </a:r>
            <a:r>
              <a:rPr lang="en-US" altLang="zh-CN" dirty="0"/>
              <a:t>CMMI</a:t>
            </a:r>
            <a:r>
              <a:rPr lang="zh-CN" altLang="en-US" dirty="0"/>
              <a:t>的度量管理</a:t>
            </a:r>
            <a:endParaRPr lang="en-US" altLang="zh-CN" dirty="0"/>
          </a:p>
          <a:p>
            <a:r>
              <a:rPr lang="zh-CN" altLang="en-US" dirty="0"/>
              <a:t>储备分析：剩余储备和剩余风险的比较分析</a:t>
            </a:r>
            <a:endParaRPr lang="en-US" altLang="zh-CN" dirty="0"/>
          </a:p>
        </p:txBody>
      </p:sp>
    </p:spTree>
    <p:extLst>
      <p:ext uri="{BB962C8B-B14F-4D97-AF65-F5344CB8AC3E}">
        <p14:creationId xmlns:p14="http://schemas.microsoft.com/office/powerpoint/2010/main" val="22932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E3EABD7-1AF3-4EE5-8B93-71F718C199AF}"/>
              </a:ext>
            </a:extLst>
          </p:cNvPr>
          <p:cNvSpPr>
            <a:spLocks noGrp="1"/>
          </p:cNvSpPr>
          <p:nvPr>
            <p:ph idx="1"/>
          </p:nvPr>
        </p:nvSpPr>
        <p:spPr>
          <a:xfrm>
            <a:off x="998621" y="1223869"/>
            <a:ext cx="10287000" cy="5313409"/>
          </a:xfrm>
        </p:spPr>
        <p:txBody>
          <a:bodyPr/>
          <a:lstStyle/>
          <a:p>
            <a:pPr>
              <a:lnSpc>
                <a:spcPct val="120000"/>
              </a:lnSpc>
            </a:pPr>
            <a:r>
              <a:rPr lang="zh-CN" altLang="en-US" dirty="0"/>
              <a:t>监督风险的输出</a:t>
            </a:r>
            <a:endParaRPr lang="en-US" altLang="zh-CN" dirty="0"/>
          </a:p>
          <a:p>
            <a:pPr lvl="1">
              <a:lnSpc>
                <a:spcPct val="120000"/>
              </a:lnSpc>
            </a:pPr>
            <a:r>
              <a:rPr lang="zh-CN" altLang="en-US" dirty="0"/>
              <a:t>工作绩效信息</a:t>
            </a:r>
            <a:r>
              <a:rPr lang="en-US" altLang="zh-CN" b="0" dirty="0"/>
              <a:t>,</a:t>
            </a:r>
            <a:r>
              <a:rPr lang="zh-CN" altLang="en-US" sz="1800" b="0" dirty="0"/>
              <a:t>经过比较单个风险的实际发生情况和预计发生情况，所得到的关于项目风险管理执行绩效的信息</a:t>
            </a:r>
          </a:p>
          <a:p>
            <a:pPr lvl="1">
              <a:lnSpc>
                <a:spcPct val="120000"/>
              </a:lnSpc>
            </a:pPr>
            <a:r>
              <a:rPr lang="zh-CN" altLang="en-US" dirty="0"/>
              <a:t>变更请求</a:t>
            </a:r>
            <a:r>
              <a:rPr lang="en-US" altLang="zh-CN" dirty="0"/>
              <a:t>,</a:t>
            </a:r>
            <a:r>
              <a:rPr lang="zh-CN" altLang="en-US" sz="1800" b="0" dirty="0"/>
              <a:t>可能会就成本基准和进度基准，或项目管理计划的其他组件提出变更请求</a:t>
            </a:r>
            <a:endParaRPr lang="zh-CN" altLang="en-US" b="0" dirty="0"/>
          </a:p>
          <a:p>
            <a:pPr lvl="1">
              <a:lnSpc>
                <a:spcPct val="120000"/>
              </a:lnSpc>
            </a:pPr>
            <a:r>
              <a:rPr lang="zh-CN" altLang="en-US" dirty="0"/>
              <a:t>项目管理计划更新</a:t>
            </a:r>
            <a:r>
              <a:rPr lang="en-US" altLang="zh-CN" dirty="0"/>
              <a:t>: </a:t>
            </a:r>
            <a:r>
              <a:rPr lang="zh-CN" altLang="en-US" dirty="0"/>
              <a:t>任何组件</a:t>
            </a:r>
          </a:p>
          <a:p>
            <a:pPr lvl="1">
              <a:lnSpc>
                <a:spcPct val="120000"/>
              </a:lnSpc>
            </a:pPr>
            <a:r>
              <a:rPr lang="zh-CN" altLang="en-US" dirty="0"/>
              <a:t>项目文件更新</a:t>
            </a:r>
          </a:p>
          <a:p>
            <a:pPr lvl="2">
              <a:lnSpc>
                <a:spcPct val="120000"/>
              </a:lnSpc>
            </a:pPr>
            <a:r>
              <a:rPr lang="zh-CN" altLang="en-US" dirty="0"/>
              <a:t>假设日志</a:t>
            </a:r>
            <a:r>
              <a:rPr lang="en-US" altLang="zh-CN" b="0" dirty="0"/>
              <a:t>,</a:t>
            </a:r>
            <a:r>
              <a:rPr lang="zh-CN" altLang="en-US" b="0" dirty="0"/>
              <a:t>需要更新假设日志，记录这些新信息</a:t>
            </a:r>
          </a:p>
          <a:p>
            <a:pPr lvl="2">
              <a:lnSpc>
                <a:spcPct val="120000"/>
              </a:lnSpc>
            </a:pPr>
            <a:r>
              <a:rPr lang="zh-CN" altLang="en-US" dirty="0"/>
              <a:t>问题日志</a:t>
            </a:r>
            <a:r>
              <a:rPr lang="en-US" altLang="zh-CN" dirty="0"/>
              <a:t>,</a:t>
            </a:r>
            <a:r>
              <a:rPr lang="zh-CN" altLang="en-US" b="0" dirty="0"/>
              <a:t>已识别的问题会记录到问题日志中</a:t>
            </a:r>
          </a:p>
          <a:p>
            <a:pPr lvl="2">
              <a:lnSpc>
                <a:spcPct val="120000"/>
              </a:lnSpc>
            </a:pPr>
            <a:r>
              <a:rPr lang="zh-CN" altLang="en-US" dirty="0"/>
              <a:t>经验教训登记册</a:t>
            </a:r>
            <a:r>
              <a:rPr lang="en-US" altLang="zh-CN" dirty="0"/>
              <a:t>,</a:t>
            </a:r>
            <a:r>
              <a:rPr lang="zh-CN" altLang="en-US" b="0" dirty="0"/>
              <a:t>记录风险审查期间得到的任何与风险相关的经验教训</a:t>
            </a:r>
          </a:p>
          <a:p>
            <a:pPr lvl="2">
              <a:lnSpc>
                <a:spcPct val="120000"/>
              </a:lnSpc>
            </a:pPr>
            <a:r>
              <a:rPr lang="zh-CN" altLang="en-US" dirty="0"/>
              <a:t>风险登记册</a:t>
            </a:r>
            <a:r>
              <a:rPr lang="en-US" altLang="zh-CN" dirty="0"/>
              <a:t>,</a:t>
            </a:r>
            <a:r>
              <a:rPr lang="zh-CN" altLang="en-US" b="0" dirty="0"/>
              <a:t>记录在监督风险过程中产生的关于单个项目风险的信息</a:t>
            </a:r>
          </a:p>
          <a:p>
            <a:pPr lvl="2">
              <a:lnSpc>
                <a:spcPct val="120000"/>
              </a:lnSpc>
            </a:pPr>
            <a:r>
              <a:rPr lang="zh-CN" altLang="en-US" dirty="0"/>
              <a:t>风险报告</a:t>
            </a:r>
          </a:p>
          <a:p>
            <a:pPr lvl="1">
              <a:lnSpc>
                <a:spcPct val="120000"/>
              </a:lnSpc>
            </a:pPr>
            <a:r>
              <a:rPr lang="zh-CN" altLang="en-US" dirty="0"/>
              <a:t>组织过程资产更新</a:t>
            </a:r>
          </a:p>
          <a:p>
            <a:pPr lvl="2">
              <a:lnSpc>
                <a:spcPct val="120000"/>
              </a:lnSpc>
            </a:pPr>
            <a:r>
              <a:rPr lang="zh-CN" altLang="en-US" dirty="0"/>
              <a:t>风险管理计划、风险登记册和风险报告的模板；</a:t>
            </a:r>
          </a:p>
          <a:p>
            <a:pPr lvl="2">
              <a:lnSpc>
                <a:spcPct val="120000"/>
              </a:lnSpc>
            </a:pPr>
            <a:r>
              <a:rPr lang="zh-CN" altLang="en-US" dirty="0"/>
              <a:t>风险分解结构。</a:t>
            </a:r>
          </a:p>
          <a:p>
            <a:pPr lvl="2">
              <a:lnSpc>
                <a:spcPct val="120000"/>
              </a:lnSpc>
            </a:pPr>
            <a:endParaRPr lang="zh-CN" altLang="en-US" dirty="0"/>
          </a:p>
        </p:txBody>
      </p:sp>
      <p:sp>
        <p:nvSpPr>
          <p:cNvPr id="4" name="标题 1">
            <a:extLst>
              <a:ext uri="{FF2B5EF4-FFF2-40B4-BE49-F238E27FC236}">
                <a16:creationId xmlns:a16="http://schemas.microsoft.com/office/drawing/2014/main" id="{17EA53DA-34A0-4D03-89FC-6AF2D77FE2DE}"/>
              </a:ext>
            </a:extLst>
          </p:cNvPr>
          <p:cNvSpPr>
            <a:spLocks noGrp="1"/>
          </p:cNvSpPr>
          <p:nvPr>
            <p:ph type="title"/>
          </p:nvPr>
        </p:nvSpPr>
        <p:spPr>
          <a:xfrm>
            <a:off x="1997075" y="593725"/>
            <a:ext cx="8229600" cy="357188"/>
          </a:xfrm>
          <a:prstGeom prst="rect">
            <a:avLst/>
          </a:prstGeom>
        </p:spPr>
        <p:txBody>
          <a:bodyPr/>
          <a:lstStyle/>
          <a:p>
            <a:pPr eaLnBrk="1" hangingPunct="1"/>
            <a:r>
              <a:rPr lang="en-US" altLang="zh-CN" dirty="0"/>
              <a:t>17.8 </a:t>
            </a:r>
            <a:r>
              <a:rPr lang="zh-CN" altLang="en-US" dirty="0"/>
              <a:t>监督风险</a:t>
            </a:r>
          </a:p>
        </p:txBody>
      </p:sp>
    </p:spTree>
    <p:extLst>
      <p:ext uri="{BB962C8B-B14F-4D97-AF65-F5344CB8AC3E}">
        <p14:creationId xmlns:p14="http://schemas.microsoft.com/office/powerpoint/2010/main" val="167995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D4FAD4-C3A9-BF5D-DB95-19E113C89331}"/>
              </a:ext>
            </a:extLst>
          </p:cNvPr>
          <p:cNvSpPr>
            <a:spLocks noGrp="1"/>
          </p:cNvSpPr>
          <p:nvPr>
            <p:ph idx="1"/>
          </p:nvPr>
        </p:nvSpPr>
        <p:spPr>
          <a:xfrm>
            <a:off x="631767" y="683141"/>
            <a:ext cx="10972800" cy="5913535"/>
          </a:xfrm>
        </p:spPr>
        <p:txBody>
          <a:bodyPr/>
          <a:lstStyle/>
          <a:p>
            <a:pPr>
              <a:lnSpc>
                <a:spcPct val="110000"/>
              </a:lnSpc>
            </a:pPr>
            <a:r>
              <a:rPr lang="zh-CN" altLang="en-US" dirty="0"/>
              <a:t>开篇案例</a:t>
            </a:r>
            <a:endParaRPr lang="en-US" altLang="zh-CN" dirty="0"/>
          </a:p>
          <a:p>
            <a:pPr marL="0" indent="0">
              <a:lnSpc>
                <a:spcPct val="110000"/>
              </a:lnSpc>
              <a:buNone/>
            </a:pPr>
            <a:r>
              <a:rPr lang="zh-CN" altLang="en-US" sz="1800" dirty="0"/>
              <a:t>    一家创新公司承接了一个信息系统项目，这个项目的主要研发内容是在公司已有产品的基础上，针对用户需求进行定制化改造，其中有一个新的设备是为该客户定制研发的。公司采用职能式组织架构，公司总经理充当了项目经理，市场部负责项目合同的签订，工程部负责工程安装和售后服务，陈先生是研发部经理，负责该项目的软硬件研发。研发部根据市场部与客户签订的合同进行了系统研发，测试完成后，工程部将其安装到客户现场，在市场部的协调下开始试运行。合同约定试运行三个月后验收。</a:t>
            </a:r>
            <a:endParaRPr lang="en-US" altLang="zh-CN" sz="1800" dirty="0"/>
          </a:p>
          <a:p>
            <a:pPr marL="0" indent="0">
              <a:lnSpc>
                <a:spcPct val="110000"/>
              </a:lnSpc>
              <a:buNone/>
            </a:pPr>
            <a:r>
              <a:rPr lang="zh-CN" altLang="en-US" sz="1800" dirty="0"/>
              <a:t>    工程部在现场安装和调试完成后，在市场部协调下，将系统移交给用户进行试运行。陈深知该系统因研发时间短，没有进行长时间的测试，公司测试环境与实际现场环境相关很大，可能会在应用时发生很多问题，因此，陈告知工程部和市场部，要密切关注运行情况，多问问客户。安装完成后，陈每周都向工程部和市场部打听运行情况，但得到的回答都是，没有问题，用户没有反馈信息。陈不太相信会这么顺利。</a:t>
            </a:r>
            <a:endParaRPr lang="en-US" altLang="zh-CN" sz="1800" dirty="0"/>
          </a:p>
          <a:p>
            <a:pPr marL="0" indent="0">
              <a:lnSpc>
                <a:spcPct val="110000"/>
              </a:lnSpc>
              <a:buNone/>
            </a:pPr>
            <a:r>
              <a:rPr lang="en-US" altLang="zh-CN" sz="1800" dirty="0"/>
              <a:t>   </a:t>
            </a:r>
            <a:r>
              <a:rPr lang="zh-CN" altLang="en-US" sz="1800" dirty="0"/>
              <a:t>果不其然，第四周，市场部突然告诉陈：今天客户领导到现场检查工作，问了值班人员，得知这个新系统根本不能运行，不但工作不稳定，功能与客户要求相差很大，很生气，要求拆掉退货。陈颇为不满，叫你们密切关注运行情况，也问了你们好几次，你们都说没问题，这下好了，用户要退货！</a:t>
            </a:r>
            <a:endParaRPr lang="en-US" altLang="zh-CN" sz="1800" dirty="0"/>
          </a:p>
          <a:p>
            <a:pPr marL="0" indent="0">
              <a:lnSpc>
                <a:spcPct val="110000"/>
              </a:lnSpc>
              <a:buNone/>
            </a:pPr>
            <a:r>
              <a:rPr lang="en-US" altLang="zh-CN" sz="1800" dirty="0"/>
              <a:t>   </a:t>
            </a:r>
            <a:r>
              <a:rPr lang="zh-CN" altLang="en-US" sz="1800" dirty="0"/>
              <a:t>陈立即要来用户值班室和客户负责人电话，首先非常诚恳地向值班室询问了存在的问题，发现并没有什么大问题，部分问题是对客户培训不到位，值班人员不会使用引起的。陈向值班人员道了歉，再向客户方领导详细解释了问题，并承诺二周内解决问题。客户同意了。最后在陈先生和项目团队的努力下，改进了系统，用户也较满意。</a:t>
            </a:r>
          </a:p>
        </p:txBody>
      </p:sp>
      <p:sp>
        <p:nvSpPr>
          <p:cNvPr id="3" name="标题 2">
            <a:extLst>
              <a:ext uri="{FF2B5EF4-FFF2-40B4-BE49-F238E27FC236}">
                <a16:creationId xmlns:a16="http://schemas.microsoft.com/office/drawing/2014/main" id="{AC030DE3-B704-13FB-62EA-796186284085}"/>
              </a:ext>
            </a:extLst>
          </p:cNvPr>
          <p:cNvSpPr>
            <a:spLocks noGrp="1"/>
          </p:cNvSpPr>
          <p:nvPr>
            <p:ph type="title"/>
          </p:nvPr>
        </p:nvSpPr>
        <p:spPr>
          <a:xfrm>
            <a:off x="631767" y="504179"/>
            <a:ext cx="10972800" cy="357925"/>
          </a:xfrm>
        </p:spPr>
        <p:txBody>
          <a:bodyPr/>
          <a:lstStyle/>
          <a:p>
            <a:endParaRPr lang="zh-CN" altLang="en-US"/>
          </a:p>
        </p:txBody>
      </p:sp>
    </p:spTree>
    <p:extLst>
      <p:ext uri="{BB962C8B-B14F-4D97-AF65-F5344CB8AC3E}">
        <p14:creationId xmlns:p14="http://schemas.microsoft.com/office/powerpoint/2010/main" val="3003699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31933</TotalTime>
  <Words>37197</Words>
  <Application>Microsoft Office PowerPoint</Application>
  <PresentationFormat>宽屏</PresentationFormat>
  <Paragraphs>2661</Paragraphs>
  <Slides>103</Slides>
  <Notes>95</Notes>
  <HiddenSlides>2</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2</vt:i4>
      </vt:variant>
      <vt:variant>
        <vt:lpstr>幻灯片标题</vt:lpstr>
      </vt:variant>
      <vt:variant>
        <vt:i4>103</vt:i4>
      </vt:variant>
    </vt:vector>
  </HeadingPairs>
  <TitlesOfParts>
    <vt:vector size="133" baseType="lpstr">
      <vt:lpstr>-apple-system</vt:lpstr>
      <vt:lpstr>Helvetica Neue</vt:lpstr>
      <vt:lpstr>HelveticaNeue-BoldCond</vt:lpstr>
      <vt:lpstr>HelveticaNeue-Condensed</vt:lpstr>
      <vt:lpstr>HelveticaNeue-MediumCond</vt:lpstr>
      <vt:lpstr>Monotype Sorts</vt:lpstr>
      <vt:lpstr>PingFang SC</vt:lpstr>
      <vt:lpstr>SourceHanSansSC-Bold</vt:lpstr>
      <vt:lpstr>SourceHanSansSC-Medium</vt:lpstr>
      <vt:lpstr>SourceHanSansSC-Regular</vt:lpstr>
      <vt:lpstr>Wingdings-Regular</vt:lpstr>
      <vt:lpstr>方正兰亭粗黑_GBK</vt:lpstr>
      <vt:lpstr>方正兰亭细黑_GBK</vt:lpstr>
      <vt:lpstr>黑体</vt:lpstr>
      <vt:lpstr>宋体</vt:lpstr>
      <vt:lpstr>微软雅黑</vt:lpstr>
      <vt:lpstr>微软雅黑</vt:lpstr>
      <vt:lpstr>幼圆</vt:lpstr>
      <vt:lpstr>Arial</vt:lpstr>
      <vt:lpstr>Arial</vt:lpstr>
      <vt:lpstr>Brush Script MT</vt:lpstr>
      <vt:lpstr>Calibri</vt:lpstr>
      <vt:lpstr>Georgia</vt:lpstr>
      <vt:lpstr>Impact</vt:lpstr>
      <vt:lpstr>Tahoma</vt:lpstr>
      <vt:lpstr>Times New Roman</vt:lpstr>
      <vt:lpstr>Wingdings</vt:lpstr>
      <vt:lpstr>Office 主题​​</vt:lpstr>
      <vt:lpstr>剪辑</vt:lpstr>
      <vt:lpstr>Clip</vt:lpstr>
      <vt:lpstr>IT工程伦理与项目管理</vt:lpstr>
      <vt:lpstr>PowerPoint 演示文稿</vt:lpstr>
      <vt:lpstr>巴比伦塔的启示</vt:lpstr>
      <vt:lpstr>PowerPoint 演示文稿</vt:lpstr>
      <vt:lpstr>16.1 沟通与沟通管理</vt:lpstr>
      <vt:lpstr>沟通模型</vt:lpstr>
      <vt:lpstr>16.1 沟通与沟通管理</vt:lpstr>
      <vt:lpstr>沟通技术</vt:lpstr>
      <vt:lpstr>信息沟通的形式</vt:lpstr>
      <vt:lpstr>主要沟通方式比较</vt:lpstr>
      <vt:lpstr>16.1 沟通与沟通管理</vt:lpstr>
      <vt:lpstr>16.1 沟通与沟通管理</vt:lpstr>
      <vt:lpstr>16.1 沟通与沟通管理</vt:lpstr>
      <vt:lpstr>16.1 沟通与沟通管理</vt:lpstr>
      <vt:lpstr>16.1 沟通与沟通管理</vt:lpstr>
      <vt:lpstr>PowerPoint 演示文稿</vt:lpstr>
      <vt:lpstr>16.1 沟通与沟通管理</vt:lpstr>
      <vt:lpstr>有效倾听的9个原则</vt:lpstr>
      <vt:lpstr>16.1 沟通与沟通管理</vt:lpstr>
      <vt:lpstr>16.1 沟通与沟通管理</vt:lpstr>
      <vt:lpstr>16.1 沟通与沟通管理</vt:lpstr>
      <vt:lpstr>PowerPoint 演示文稿</vt:lpstr>
      <vt:lpstr>项目沟通管理过程</vt:lpstr>
      <vt:lpstr>16.1 沟通与沟通管理</vt:lpstr>
      <vt:lpstr>规划沟通管理 </vt:lpstr>
      <vt:lpstr>16.2 规划沟通管理</vt:lpstr>
      <vt:lpstr>16.2 规划沟通管理</vt:lpstr>
      <vt:lpstr>16.2 规划沟通管理</vt:lpstr>
      <vt:lpstr>16.2 规划沟通管理</vt:lpstr>
      <vt:lpstr>16.2 规划沟通管理</vt:lpstr>
      <vt:lpstr>16.2 规划沟通管理</vt:lpstr>
      <vt:lpstr>16.3 管理沟通</vt:lpstr>
      <vt:lpstr>16.3 管理沟通</vt:lpstr>
      <vt:lpstr>16.3 管理沟通</vt:lpstr>
      <vt:lpstr>16.3 管理沟通</vt:lpstr>
      <vt:lpstr>16.3 管理沟通</vt:lpstr>
      <vt:lpstr>16.4 监督沟通</vt:lpstr>
      <vt:lpstr>16.4 监督沟通</vt:lpstr>
      <vt:lpstr>16.4 监督沟通</vt:lpstr>
      <vt:lpstr>16.4 监督沟通</vt:lpstr>
      <vt:lpstr>PowerPoint 演示文稿</vt:lpstr>
      <vt:lpstr>PowerPoint 演示文稿</vt:lpstr>
      <vt:lpstr>项目风险管理的重要性</vt:lpstr>
      <vt:lpstr>17.1 风险及风险管理概述 </vt:lpstr>
      <vt:lpstr>PowerPoint 演示文稿</vt:lpstr>
      <vt:lpstr>17.1 风险及风险管理概述 </vt:lpstr>
      <vt:lpstr>17.2 规划风险管理</vt:lpstr>
      <vt:lpstr>17.2 规划风险管理</vt:lpstr>
      <vt:lpstr>17.2 规划风险管理</vt:lpstr>
      <vt:lpstr>风险管理计划的内容</vt:lpstr>
      <vt:lpstr>PowerPoint 演示文稿</vt:lpstr>
      <vt:lpstr>17.3 识别风险</vt:lpstr>
      <vt:lpstr>风险识别与量化</vt:lpstr>
      <vt:lpstr>17.3 风险识别</vt:lpstr>
      <vt:lpstr>风险征兆</vt:lpstr>
      <vt:lpstr>从哪里识别风险</vt:lpstr>
      <vt:lpstr>17.3 风险识别</vt:lpstr>
      <vt:lpstr>结构化风险识别-风险核对表</vt:lpstr>
      <vt:lpstr>SWOT分析</vt:lpstr>
      <vt:lpstr>风险识别-其它方法</vt:lpstr>
      <vt:lpstr>PowerPoint 演示文稿</vt:lpstr>
      <vt:lpstr>17.3 风险识别</vt:lpstr>
      <vt:lpstr>风险识别输出-风险登记册</vt:lpstr>
      <vt:lpstr>17.4 实施定性风险分析</vt:lpstr>
      <vt:lpstr>17.4 实施定性风险分析</vt:lpstr>
      <vt:lpstr>风险分类</vt:lpstr>
      <vt:lpstr>17.4 实施定性风险分析</vt:lpstr>
      <vt:lpstr>风险概率和影响级别判定</vt:lpstr>
      <vt:lpstr>概率影响矩阵</vt:lpstr>
      <vt:lpstr>17.4 实施定性风险分析</vt:lpstr>
      <vt:lpstr>风险登记册</vt:lpstr>
      <vt:lpstr>17.5 实施定量风险分析</vt:lpstr>
      <vt:lpstr>17.5 实施定量风险分析</vt:lpstr>
      <vt:lpstr>17.5 实施定量风险分析</vt:lpstr>
      <vt:lpstr>敏感性分析</vt:lpstr>
      <vt:lpstr>17.5 实施定量风险分析</vt:lpstr>
      <vt:lpstr>决策树模型</vt:lpstr>
      <vt:lpstr>蒙特卡洛模拟</vt:lpstr>
      <vt:lpstr>蒙特卡洛模拟-例子</vt:lpstr>
      <vt:lpstr>17.5 实施定量风险分析</vt:lpstr>
      <vt:lpstr>定量风险分析的输出</vt:lpstr>
      <vt:lpstr>与熊共舞</vt:lpstr>
      <vt:lpstr>17.6 规划风险应对</vt:lpstr>
      <vt:lpstr>17.6 规划风险应对</vt:lpstr>
      <vt:lpstr>风险效用函数</vt:lpstr>
      <vt:lpstr>17.6 规划风险应对</vt:lpstr>
      <vt:lpstr>消极风险（威胁）应对策略</vt:lpstr>
      <vt:lpstr>积极风险（机会）应对策略</vt:lpstr>
      <vt:lpstr>PowerPoint 演示文稿</vt:lpstr>
      <vt:lpstr>17.6 规划风险应对</vt:lpstr>
      <vt:lpstr>风险登记册-更新</vt:lpstr>
      <vt:lpstr>17.7 实施风险应对</vt:lpstr>
      <vt:lpstr>17.7 实施风险应对</vt:lpstr>
      <vt:lpstr>17.7 实施风险应对</vt:lpstr>
      <vt:lpstr>风险应急应对策略</vt:lpstr>
      <vt:lpstr>残留和次生风险</vt:lpstr>
      <vt:lpstr>恶性事件处理——危机处理</vt:lpstr>
      <vt:lpstr>17.8 监督风险</vt:lpstr>
      <vt:lpstr>监控风险的内容</vt:lpstr>
      <vt:lpstr>17.8 监督风险</vt:lpstr>
      <vt:lpstr>17.8 监督风险</vt:lpstr>
      <vt:lpstr>风险监控工具技术</vt:lpstr>
      <vt:lpstr>17.8 监督风险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Tanghm</dc:creator>
  <cp:lastModifiedBy>will Q</cp:lastModifiedBy>
  <cp:revision>1222</cp:revision>
  <cp:lastPrinted>2022-06-06T02:55:28Z</cp:lastPrinted>
  <dcterms:created xsi:type="dcterms:W3CDTF">2012-01-19T22:55:48Z</dcterms:created>
  <dcterms:modified xsi:type="dcterms:W3CDTF">2026-04-24T02:59:56Z</dcterms:modified>
</cp:coreProperties>
</file>