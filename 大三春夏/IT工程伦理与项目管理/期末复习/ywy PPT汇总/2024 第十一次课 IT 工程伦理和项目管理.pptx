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pn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2">
  <p:sldMasterIdLst>
    <p:sldMasterId id="2147483648" r:id="rId1"/>
  </p:sldMasterIdLst>
  <p:notesMasterIdLst>
    <p:notesMasterId r:id="rId114"/>
  </p:notesMasterIdLst>
  <p:handoutMasterIdLst>
    <p:handoutMasterId r:id="rId115"/>
  </p:handoutMasterIdLst>
  <p:sldIdLst>
    <p:sldId id="256" r:id="rId2"/>
    <p:sldId id="459" r:id="rId3"/>
    <p:sldId id="482" r:id="rId4"/>
    <p:sldId id="582" r:id="rId5"/>
    <p:sldId id="511" r:id="rId6"/>
    <p:sldId id="581" r:id="rId7"/>
    <p:sldId id="523" r:id="rId8"/>
    <p:sldId id="585" r:id="rId9"/>
    <p:sldId id="485" r:id="rId10"/>
    <p:sldId id="586" r:id="rId11"/>
    <p:sldId id="587" r:id="rId12"/>
    <p:sldId id="495" r:id="rId13"/>
    <p:sldId id="588" r:id="rId14"/>
    <p:sldId id="591" r:id="rId15"/>
    <p:sldId id="486" r:id="rId16"/>
    <p:sldId id="502" r:id="rId17"/>
    <p:sldId id="503" r:id="rId18"/>
    <p:sldId id="594" r:id="rId19"/>
    <p:sldId id="592" r:id="rId20"/>
    <p:sldId id="487" r:id="rId21"/>
    <p:sldId id="593" r:id="rId22"/>
    <p:sldId id="496" r:id="rId23"/>
    <p:sldId id="512" r:id="rId24"/>
    <p:sldId id="504" r:id="rId25"/>
    <p:sldId id="596" r:id="rId26"/>
    <p:sldId id="489" r:id="rId27"/>
    <p:sldId id="524" r:id="rId28"/>
    <p:sldId id="528" r:id="rId29"/>
    <p:sldId id="597" r:id="rId30"/>
    <p:sldId id="598" r:id="rId31"/>
    <p:sldId id="599" r:id="rId32"/>
    <p:sldId id="600" r:id="rId33"/>
    <p:sldId id="601" r:id="rId34"/>
    <p:sldId id="602" r:id="rId35"/>
    <p:sldId id="490" r:id="rId36"/>
    <p:sldId id="603" r:id="rId37"/>
    <p:sldId id="605" r:id="rId38"/>
    <p:sldId id="606" r:id="rId39"/>
    <p:sldId id="604" r:id="rId40"/>
    <p:sldId id="607" r:id="rId41"/>
    <p:sldId id="608" r:id="rId42"/>
    <p:sldId id="609" r:id="rId43"/>
    <p:sldId id="508" r:id="rId44"/>
    <p:sldId id="339" r:id="rId45"/>
    <p:sldId id="611" r:id="rId46"/>
    <p:sldId id="341" r:id="rId47"/>
    <p:sldId id="626" r:id="rId48"/>
    <p:sldId id="610" r:id="rId49"/>
    <p:sldId id="612" r:id="rId50"/>
    <p:sldId id="627" r:id="rId51"/>
    <p:sldId id="500" r:id="rId52"/>
    <p:sldId id="533" r:id="rId53"/>
    <p:sldId id="532" r:id="rId54"/>
    <p:sldId id="501" r:id="rId55"/>
    <p:sldId id="491" r:id="rId56"/>
    <p:sldId id="492" r:id="rId57"/>
    <p:sldId id="613" r:id="rId58"/>
    <p:sldId id="614" r:id="rId59"/>
    <p:sldId id="615" r:id="rId60"/>
    <p:sldId id="515" r:id="rId61"/>
    <p:sldId id="660" r:id="rId62"/>
    <p:sldId id="664" r:id="rId63"/>
    <p:sldId id="637" r:id="rId64"/>
    <p:sldId id="639" r:id="rId65"/>
    <p:sldId id="344" r:id="rId66"/>
    <p:sldId id="445" r:id="rId67"/>
    <p:sldId id="447" r:id="rId68"/>
    <p:sldId id="448" r:id="rId69"/>
    <p:sldId id="665" r:id="rId70"/>
    <p:sldId id="449" r:id="rId71"/>
    <p:sldId id="641" r:id="rId72"/>
    <p:sldId id="450" r:id="rId73"/>
    <p:sldId id="451" r:id="rId74"/>
    <p:sldId id="468" r:id="rId75"/>
    <p:sldId id="345" r:id="rId76"/>
    <p:sldId id="638" r:id="rId77"/>
    <p:sldId id="657" r:id="rId78"/>
    <p:sldId id="446" r:id="rId79"/>
    <p:sldId id="407" r:id="rId80"/>
    <p:sldId id="642" r:id="rId81"/>
    <p:sldId id="643" r:id="rId82"/>
    <p:sldId id="425" r:id="rId83"/>
    <p:sldId id="474" r:id="rId84"/>
    <p:sldId id="666" r:id="rId85"/>
    <p:sldId id="475" r:id="rId86"/>
    <p:sldId id="472" r:id="rId87"/>
    <p:sldId id="476" r:id="rId88"/>
    <p:sldId id="669" r:id="rId89"/>
    <p:sldId id="477" r:id="rId90"/>
    <p:sldId id="454" r:id="rId91"/>
    <p:sldId id="644" r:id="rId92"/>
    <p:sldId id="667" r:id="rId93"/>
    <p:sldId id="426" r:id="rId94"/>
    <p:sldId id="467" r:id="rId95"/>
    <p:sldId id="465" r:id="rId96"/>
    <p:sldId id="668" r:id="rId97"/>
    <p:sldId id="670" r:id="rId98"/>
    <p:sldId id="456" r:id="rId99"/>
    <p:sldId id="658" r:id="rId100"/>
    <p:sldId id="427" r:id="rId101"/>
    <p:sldId id="671" r:id="rId102"/>
    <p:sldId id="460" r:id="rId103"/>
    <p:sldId id="347" r:id="rId104"/>
    <p:sldId id="463" r:id="rId105"/>
    <p:sldId id="461" r:id="rId106"/>
    <p:sldId id="462" r:id="rId107"/>
    <p:sldId id="348" r:id="rId108"/>
    <p:sldId id="470" r:id="rId109"/>
    <p:sldId id="645" r:id="rId110"/>
    <p:sldId id="464" r:id="rId111"/>
    <p:sldId id="646" r:id="rId112"/>
    <p:sldId id="647" r:id="rId113"/>
  </p:sldIdLst>
  <p:sldSz cx="12192000" cy="6858000"/>
  <p:notesSz cx="7099300"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5"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6"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ang Huiming" initials=""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00"/>
    <a:srgbClr val="800000"/>
    <a:srgbClr val="660033"/>
    <a:srgbClr val="333333"/>
    <a:srgbClr val="000000"/>
    <a:srgbClr val="CCFFCC"/>
    <a:srgbClr val="FFFF99"/>
    <a:srgbClr val="FFCC99"/>
    <a:srgbClr val="CCCCFF"/>
    <a:srgbClr val="66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13" autoAdjust="0"/>
    <p:restoredTop sz="70106" autoAdjust="0"/>
  </p:normalViewPr>
  <p:slideViewPr>
    <p:cSldViewPr snapToGrid="0">
      <p:cViewPr varScale="1">
        <p:scale>
          <a:sx n="62" d="100"/>
          <a:sy n="62" d="100"/>
        </p:scale>
        <p:origin x="1215" y="24"/>
      </p:cViewPr>
      <p:guideLst>
        <p:guide orient="horz" pos="2205"/>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78" d="100"/>
          <a:sy n="78" d="100"/>
        </p:scale>
        <p:origin x="3984" y="96"/>
      </p:cViewPr>
      <p:guideLst>
        <p:guide orient="horz" pos="3224"/>
        <p:guide pos="2236"/>
      </p:guideLst>
    </p:cSldViewPr>
  </p:notesViewPr>
  <p:gridSpacing cx="36004" cy="36004"/>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presProps" Target="pres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notesMaster" Target="notesMasters/notesMaster1.xml"/><Relationship Id="rId119"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handoutMaster" Target="handoutMasters/handout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1"/>
            <a:ext cx="3076363" cy="511731"/>
          </a:xfrm>
          <a:prstGeom prst="rect">
            <a:avLst/>
          </a:prstGeom>
        </p:spPr>
        <p:txBody>
          <a:bodyPr vert="horz" lIns="99035" tIns="49517" rIns="99035" bIns="49517" rtlCol="0"/>
          <a:lstStyle>
            <a:lvl1pPr algn="l">
              <a:defRPr sz="1300"/>
            </a:lvl1pPr>
          </a:lstStyle>
          <a:p>
            <a:endParaRPr lang="zh-CN" altLang="en-US"/>
          </a:p>
        </p:txBody>
      </p:sp>
      <p:sp>
        <p:nvSpPr>
          <p:cNvPr id="3" name="日期占位符 2"/>
          <p:cNvSpPr>
            <a:spLocks noGrp="1"/>
          </p:cNvSpPr>
          <p:nvPr>
            <p:ph type="dt" sz="quarter" idx="1"/>
          </p:nvPr>
        </p:nvSpPr>
        <p:spPr>
          <a:xfrm>
            <a:off x="4021295" y="1"/>
            <a:ext cx="3076363" cy="511731"/>
          </a:xfrm>
          <a:prstGeom prst="rect">
            <a:avLst/>
          </a:prstGeom>
        </p:spPr>
        <p:txBody>
          <a:bodyPr vert="horz" lIns="99035" tIns="49517" rIns="99035" bIns="49517" rtlCol="0"/>
          <a:lstStyle>
            <a:lvl1pPr algn="r">
              <a:defRPr sz="1300"/>
            </a:lvl1pPr>
          </a:lstStyle>
          <a:p>
            <a:fld id="{EABEC9A9-8197-4257-ADF2-59768B043AAC}" type="datetimeFigureOut">
              <a:rPr lang="zh-CN" altLang="en-US" smtClean="0"/>
              <a:t>2024/5/30</a:t>
            </a:fld>
            <a:endParaRPr lang="zh-CN" altLang="en-US"/>
          </a:p>
        </p:txBody>
      </p:sp>
      <p:sp>
        <p:nvSpPr>
          <p:cNvPr id="4" name="页脚占位符 3"/>
          <p:cNvSpPr>
            <a:spLocks noGrp="1"/>
          </p:cNvSpPr>
          <p:nvPr>
            <p:ph type="ftr" sz="quarter" idx="2"/>
          </p:nvPr>
        </p:nvSpPr>
        <p:spPr>
          <a:xfrm>
            <a:off x="1" y="9721107"/>
            <a:ext cx="3076363" cy="511731"/>
          </a:xfrm>
          <a:prstGeom prst="rect">
            <a:avLst/>
          </a:prstGeom>
        </p:spPr>
        <p:txBody>
          <a:bodyPr vert="horz" lIns="99035" tIns="49517" rIns="99035" bIns="49517" rtlCol="0" anchor="b"/>
          <a:lstStyle>
            <a:lvl1pPr algn="l">
              <a:defRPr sz="1300"/>
            </a:lvl1pPr>
          </a:lstStyle>
          <a:p>
            <a:endParaRPr lang="zh-CN" altLang="en-US"/>
          </a:p>
        </p:txBody>
      </p:sp>
      <p:sp>
        <p:nvSpPr>
          <p:cNvPr id="5" name="灯片编号占位符 4"/>
          <p:cNvSpPr>
            <a:spLocks noGrp="1"/>
          </p:cNvSpPr>
          <p:nvPr>
            <p:ph type="sldNum" sz="quarter" idx="3"/>
          </p:nvPr>
        </p:nvSpPr>
        <p:spPr>
          <a:xfrm>
            <a:off x="4021295" y="9721107"/>
            <a:ext cx="3076363" cy="511731"/>
          </a:xfrm>
          <a:prstGeom prst="rect">
            <a:avLst/>
          </a:prstGeom>
        </p:spPr>
        <p:txBody>
          <a:bodyPr vert="horz" lIns="99035" tIns="49517" rIns="99035" bIns="49517" rtlCol="0" anchor="b"/>
          <a:lstStyle>
            <a:lvl1pPr algn="r">
              <a:defRPr sz="1300"/>
            </a:lvl1pPr>
          </a:lstStyle>
          <a:p>
            <a:fld id="{93D655E0-DE0B-47B4-9B41-34C4A90D47A8}" type="slidenum">
              <a:rPr lang="zh-CN" altLang="en-US" smtClean="0"/>
              <a:t>‹#›</a:t>
            </a:fld>
            <a:endParaRPr lang="zh-CN" altLang="en-US"/>
          </a:p>
        </p:txBody>
      </p:sp>
    </p:spTree>
    <p:extLst>
      <p:ext uri="{BB962C8B-B14F-4D97-AF65-F5344CB8AC3E}">
        <p14:creationId xmlns:p14="http://schemas.microsoft.com/office/powerpoint/2010/main" val="35532716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917" cy="512714"/>
          </a:xfrm>
          <a:prstGeom prst="rect">
            <a:avLst/>
          </a:prstGeom>
        </p:spPr>
        <p:txBody>
          <a:bodyPr vert="horz" lIns="94832" tIns="47416" rIns="94832" bIns="47416" rtlCol="0"/>
          <a:lstStyle>
            <a:lvl1pPr algn="l">
              <a:defRPr sz="1200"/>
            </a:lvl1pPr>
          </a:lstStyle>
          <a:p>
            <a:endParaRPr lang="zh-CN" altLang="en-US"/>
          </a:p>
        </p:txBody>
      </p:sp>
      <p:sp>
        <p:nvSpPr>
          <p:cNvPr id="3" name="日期占位符 2"/>
          <p:cNvSpPr>
            <a:spLocks noGrp="1"/>
          </p:cNvSpPr>
          <p:nvPr>
            <p:ph type="dt" idx="1"/>
          </p:nvPr>
        </p:nvSpPr>
        <p:spPr>
          <a:xfrm>
            <a:off x="4020725" y="0"/>
            <a:ext cx="3076917" cy="512714"/>
          </a:xfrm>
          <a:prstGeom prst="rect">
            <a:avLst/>
          </a:prstGeom>
        </p:spPr>
        <p:txBody>
          <a:bodyPr vert="horz" lIns="94832" tIns="47416" rIns="94832" bIns="47416" rtlCol="0"/>
          <a:lstStyle>
            <a:lvl1pPr algn="r">
              <a:defRPr sz="1200"/>
            </a:lvl1pPr>
          </a:lstStyle>
          <a:p>
            <a:fld id="{72FA6C4C-04D2-417C-B23F-E55227F108E0}" type="datetimeFigureOut">
              <a:rPr lang="zh-CN" altLang="en-US" smtClean="0"/>
              <a:t>2024/5/30</a:t>
            </a:fld>
            <a:endParaRPr lang="zh-CN" altLang="en-US"/>
          </a:p>
        </p:txBody>
      </p:sp>
      <p:sp>
        <p:nvSpPr>
          <p:cNvPr id="4" name="幻灯片图像占位符 3"/>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4832" tIns="47416" rIns="94832" bIns="47416" rtlCol="0" anchor="ctr"/>
          <a:lstStyle/>
          <a:p>
            <a:endParaRPr lang="zh-CN" altLang="en-US"/>
          </a:p>
        </p:txBody>
      </p:sp>
      <p:sp>
        <p:nvSpPr>
          <p:cNvPr id="5" name="备注占位符 4"/>
          <p:cNvSpPr>
            <a:spLocks noGrp="1"/>
          </p:cNvSpPr>
          <p:nvPr>
            <p:ph type="body" sz="quarter" idx="3"/>
          </p:nvPr>
        </p:nvSpPr>
        <p:spPr>
          <a:xfrm>
            <a:off x="709930" y="4925654"/>
            <a:ext cx="5679440" cy="4029633"/>
          </a:xfrm>
          <a:prstGeom prst="rect">
            <a:avLst/>
          </a:prstGeom>
        </p:spPr>
        <p:txBody>
          <a:bodyPr vert="horz" lIns="94832" tIns="47416" rIns="94832" bIns="47416"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901"/>
            <a:ext cx="3076917" cy="512713"/>
          </a:xfrm>
          <a:prstGeom prst="rect">
            <a:avLst/>
          </a:prstGeom>
        </p:spPr>
        <p:txBody>
          <a:bodyPr vert="horz" lIns="94832" tIns="47416" rIns="94832" bIns="47416"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0725" y="9721901"/>
            <a:ext cx="3076917" cy="512713"/>
          </a:xfrm>
          <a:prstGeom prst="rect">
            <a:avLst/>
          </a:prstGeom>
        </p:spPr>
        <p:txBody>
          <a:bodyPr vert="horz" lIns="94832" tIns="47416" rIns="94832" bIns="47416" rtlCol="0" anchor="b"/>
          <a:lstStyle>
            <a:lvl1pPr algn="r">
              <a:defRPr sz="1200"/>
            </a:lvl1pPr>
          </a:lstStyle>
          <a:p>
            <a:fld id="{65ACE964-20FD-4E02-AD78-D23A92B56B1B}" type="slidenum">
              <a:rPr lang="zh-CN" altLang="en-US" smtClean="0"/>
              <a:t>‹#›</a:t>
            </a:fld>
            <a:endParaRPr lang="zh-CN" altLang="en-US"/>
          </a:p>
        </p:txBody>
      </p:sp>
    </p:spTree>
    <p:extLst>
      <p:ext uri="{BB962C8B-B14F-4D97-AF65-F5344CB8AC3E}">
        <p14:creationId xmlns:p14="http://schemas.microsoft.com/office/powerpoint/2010/main" val="3678336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www.baidu.com/s?wd=%E6%B5%81%E6%B0%B4%E6%96%BD%E5%B7%A5&amp;tn=SE_PcZhidaonwhc_ngpagmjz&amp;rsv_dl=gh_pc_zhidao" TargetMode="External"/><Relationship Id="rId2" Type="http://schemas.openxmlformats.org/officeDocument/2006/relationships/slide" Target="../slides/slide24.xml"/><Relationship Id="rId1" Type="http://schemas.openxmlformats.org/officeDocument/2006/relationships/notesMaster" Target="../notesMasters/notesMaster1.xml"/><Relationship Id="rId4" Type="http://schemas.openxmlformats.org/officeDocument/2006/relationships/hyperlink" Target="https://www.baidu.com/s?wd=%E6%B7%B7%E5%87%9D%E5%9C%9F%E6%B5%87%E7%AD%91&amp;tn=SE_PcZhidaonwhc_ngpagmjz&amp;rsv_dl=gh_pc_zhidao" TargetMode="Externa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s://baike.baidu.com/item/%E6%8A%95%E7%A5%A8"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a:t>
            </a:r>
            <a:r>
              <a:rPr lang="en-US" altLang="zh-CN" dirty="0"/>
              <a:t>6</a:t>
            </a:r>
            <a:r>
              <a:rPr lang="zh-CN" altLang="en-US" dirty="0"/>
              <a:t>章</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3</a:t>
            </a:fld>
            <a:endParaRPr lang="zh-CN" altLang="en-US"/>
          </a:p>
        </p:txBody>
      </p:sp>
    </p:spTree>
    <p:extLst>
      <p:ext uri="{BB962C8B-B14F-4D97-AF65-F5344CB8AC3E}">
        <p14:creationId xmlns:p14="http://schemas.microsoft.com/office/powerpoint/2010/main" val="27013227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项目时间管理涉及哪些内容</a:t>
            </a:r>
            <a:r>
              <a:rPr lang="en-US" altLang="zh-CN" dirty="0"/>
              <a:t>?</a:t>
            </a:r>
          </a:p>
          <a:p>
            <a:r>
              <a:rPr lang="zh-CN" altLang="en-US" dirty="0"/>
              <a:t>项目经理如何才能在该领域提高绩效</a:t>
            </a:r>
            <a:r>
              <a:rPr lang="en-US" altLang="zh-CN" dirty="0"/>
              <a:t>?</a:t>
            </a:r>
          </a:p>
          <a:p>
            <a:r>
              <a:rPr lang="zh-CN" altLang="en-US" dirty="0"/>
              <a:t>案例</a:t>
            </a:r>
          </a:p>
          <a:p>
            <a:r>
              <a:rPr lang="zh-CN" altLang="en-US" dirty="0"/>
              <a:t>苏是一家咨询公司的项目经理，该公司已经签订合同向一所当地大学提供一个新的在线注册系统。该套系统必须在</a:t>
            </a:r>
            <a:r>
              <a:rPr lang="en-US" altLang="zh-CN" dirty="0"/>
              <a:t>5</a:t>
            </a:r>
            <a:r>
              <a:rPr lang="zh-CN" altLang="en-US" dirty="0"/>
              <a:t>月</a:t>
            </a:r>
            <a:r>
              <a:rPr lang="en-US" altLang="zh-CN" dirty="0"/>
              <a:t>1</a:t>
            </a:r>
            <a:r>
              <a:rPr lang="zh-CN" altLang="en-US" dirty="0"/>
              <a:t>日前能够运行，这样学生就能够用它在秋季这个学期进行注册。</a:t>
            </a:r>
          </a:p>
          <a:p>
            <a:r>
              <a:rPr lang="zh-CN" altLang="en-US" dirty="0"/>
              <a:t>如果到那个时候系统还不能运行，她的公司将受到非常严厉的合同惩罚条款的制裁；如果工作完成的漂亮，苏和她的团队会得到一笔丰厚的奖金。</a:t>
            </a:r>
          </a:p>
          <a:p>
            <a:r>
              <a:rPr lang="zh-CN" altLang="en-US" dirty="0"/>
              <a:t>苏知道，达到进度要求和控制范围、成本、质量是她的责任。她和她的团队制定了一套详细的进度计划和网络图，以帮助组织项目。然而，制定进度计划容易，使项目沿着既定轨道前进则要困难得多。管理人的问题和解决进度计划的冲突是两个最大的挑战。该客户的许多雇员临时休假，因此错过了一些项目评审会议，不得不重新改变设定一些项目评审会议的时间。</a:t>
            </a:r>
          </a:p>
          <a:p>
            <a:r>
              <a:rPr lang="zh-CN" altLang="en-US" dirty="0"/>
              <a:t>因为苏的团队在系统开发生命周期的各个阶段都需要来自客户的结束指令，所以上述变更使苏和她的团队难以按原来计划的进度进行。苏的团队中一位高级程序员退出了，她知道要找一位新人来跟上大家的进度又将占用额外的时间。现在仍处在项目的早期，不过苏知道，他们正在落后于进度计划要求。</a:t>
            </a:r>
          </a:p>
          <a:p>
            <a:r>
              <a:rPr lang="zh-CN" altLang="en-US" dirty="0"/>
              <a:t>她该如何作，才能赶得上</a:t>
            </a:r>
            <a:r>
              <a:rPr lang="en-US" altLang="zh-CN" dirty="0"/>
              <a:t>5</a:t>
            </a:r>
            <a:r>
              <a:rPr lang="zh-CN" altLang="en-US" dirty="0"/>
              <a:t>月</a:t>
            </a:r>
            <a:r>
              <a:rPr lang="en-US" altLang="zh-CN" dirty="0"/>
              <a:t>1</a:t>
            </a:r>
            <a:r>
              <a:rPr lang="zh-CN" altLang="en-US" dirty="0"/>
              <a:t>日系统运行呢？</a:t>
            </a:r>
          </a:p>
          <a:p>
            <a:endParaRPr lang="en-US" altLang="zh-CN" dirty="0"/>
          </a:p>
          <a:p>
            <a:r>
              <a:rPr lang="zh-CN" altLang="en-US" dirty="0"/>
              <a:t>本章学习：项目时间管理涉及哪些内容？项目经理如何才能在该领域提高绩效？</a:t>
            </a:r>
          </a:p>
          <a:p>
            <a:r>
              <a:rPr lang="zh-CN" altLang="en-US" dirty="0"/>
              <a:t>那么，什么是项目时间管理呢？ </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a:t>
            </a:fld>
            <a:endParaRPr lang="zh-CN" altLang="en-US"/>
          </a:p>
        </p:txBody>
      </p:sp>
    </p:spTree>
    <p:extLst>
      <p:ext uri="{BB962C8B-B14F-4D97-AF65-F5344CB8AC3E}">
        <p14:creationId xmlns:p14="http://schemas.microsoft.com/office/powerpoint/2010/main" val="23916001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a:t>
            </a:fld>
            <a:endParaRPr lang="zh-CN" altLang="en-US"/>
          </a:p>
        </p:txBody>
      </p:sp>
    </p:spTree>
    <p:extLst>
      <p:ext uri="{BB962C8B-B14F-4D97-AF65-F5344CB8AC3E}">
        <p14:creationId xmlns:p14="http://schemas.microsoft.com/office/powerpoint/2010/main" val="17842219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200" b="0" i="0" u="none" strike="noStrike" baseline="0" dirty="0">
                <a:latin typeface="SourceHanSansSC-Regular"/>
              </a:rPr>
              <a:t>项目进度管理包括为管理项目按时完成所需的各个过程。其过程包括：</a:t>
            </a:r>
          </a:p>
          <a:p>
            <a:pPr algn="l"/>
            <a:r>
              <a:rPr lang="en-US" altLang="zh-CN" sz="1200" b="1" i="0" u="none" strike="noStrike" baseline="0" dirty="0">
                <a:latin typeface="HelveticaNeue-BoldCond"/>
              </a:rPr>
              <a:t>6.1 </a:t>
            </a:r>
            <a:r>
              <a:rPr lang="zh-CN" altLang="en-US" sz="1200" b="1" i="0" u="none" strike="noStrike" baseline="0" dirty="0">
                <a:latin typeface="SourceHanSansSC-Bold"/>
              </a:rPr>
              <a:t>规划进度管理 </a:t>
            </a:r>
            <a:r>
              <a:rPr lang="en-US" altLang="zh-CN" sz="1200" b="1" i="0" u="none" strike="noStrike" baseline="0" dirty="0">
                <a:latin typeface="HelveticaNeue-BoldCond"/>
              </a:rPr>
              <a:t>— </a:t>
            </a:r>
            <a:r>
              <a:rPr lang="zh-CN" altLang="en-US" sz="1200" b="0" i="0" u="none" strike="noStrike" baseline="0" dirty="0">
                <a:latin typeface="SourceHanSansSC-Regular"/>
              </a:rPr>
              <a:t>为规划、编制、管理、执行和控制项目进度而制定政策、程序和文档的过程。</a:t>
            </a:r>
          </a:p>
          <a:p>
            <a:pPr algn="l"/>
            <a:r>
              <a:rPr lang="en-US" altLang="zh-CN" sz="1200" b="1" i="0" u="none" strike="noStrike" baseline="0" dirty="0">
                <a:latin typeface="HelveticaNeue-BoldCond"/>
              </a:rPr>
              <a:t>6.2 </a:t>
            </a:r>
            <a:r>
              <a:rPr lang="zh-CN" altLang="en-US" sz="1200" b="1" i="0" u="none" strike="noStrike" baseline="0" dirty="0">
                <a:latin typeface="SourceHanSansSC-Bold"/>
              </a:rPr>
              <a:t>定义活动 </a:t>
            </a:r>
            <a:r>
              <a:rPr lang="en-US" altLang="zh-CN" sz="1200" b="1" i="0" u="none" strike="noStrike" baseline="0" dirty="0">
                <a:latin typeface="HelveticaNeue-BoldCond"/>
              </a:rPr>
              <a:t>— </a:t>
            </a:r>
            <a:r>
              <a:rPr lang="zh-CN" altLang="en-US" sz="1200" b="0" i="0" u="none" strike="noStrike" baseline="0" dirty="0">
                <a:latin typeface="SourceHanSansSC-Regular"/>
              </a:rPr>
              <a:t>识别和记录为完成项目可交付成果而需采取的具体行动的过程。</a:t>
            </a:r>
          </a:p>
          <a:p>
            <a:pPr algn="l"/>
            <a:r>
              <a:rPr lang="en-US" altLang="zh-CN" sz="1200" b="1" i="0" u="none" strike="noStrike" baseline="0" dirty="0">
                <a:latin typeface="HelveticaNeue-BoldCond"/>
              </a:rPr>
              <a:t>6.3 </a:t>
            </a:r>
            <a:r>
              <a:rPr lang="zh-CN" altLang="en-US" sz="1200" b="1" i="0" u="none" strike="noStrike" baseline="0" dirty="0">
                <a:latin typeface="SourceHanSansSC-Bold"/>
              </a:rPr>
              <a:t>排列活动顺序 </a:t>
            </a:r>
            <a:r>
              <a:rPr lang="en-US" altLang="zh-CN" sz="1200" b="1" i="0" u="none" strike="noStrike" baseline="0" dirty="0">
                <a:latin typeface="HelveticaNeue-BoldCond"/>
              </a:rPr>
              <a:t>— </a:t>
            </a:r>
            <a:r>
              <a:rPr lang="zh-CN" altLang="en-US" sz="1200" b="0" i="0" u="none" strike="noStrike" baseline="0" dirty="0">
                <a:latin typeface="SourceHanSansSC-Regular"/>
              </a:rPr>
              <a:t>识别和记录项目活动之间的关系的过程。</a:t>
            </a:r>
          </a:p>
          <a:p>
            <a:pPr algn="l"/>
            <a:r>
              <a:rPr lang="en-US" altLang="zh-CN" sz="1200" b="1" i="0" u="none" strike="noStrike" baseline="0" dirty="0">
                <a:latin typeface="HelveticaNeue-BoldCond"/>
              </a:rPr>
              <a:t>6.4 </a:t>
            </a:r>
            <a:r>
              <a:rPr lang="zh-CN" altLang="en-US" sz="1200" b="1" i="0" u="none" strike="noStrike" baseline="0" dirty="0">
                <a:latin typeface="SourceHanSansSC-Bold"/>
              </a:rPr>
              <a:t>估算活动持续时间 </a:t>
            </a:r>
            <a:r>
              <a:rPr lang="en-US" altLang="zh-CN" sz="1200" b="1" i="0" u="none" strike="noStrike" baseline="0" dirty="0">
                <a:latin typeface="HelveticaNeue-BoldCond"/>
              </a:rPr>
              <a:t>— </a:t>
            </a:r>
            <a:r>
              <a:rPr lang="zh-CN" altLang="en-US" sz="1200" b="0" i="0" u="none" strike="noStrike" baseline="0" dirty="0">
                <a:latin typeface="SourceHanSansSC-Regular"/>
              </a:rPr>
              <a:t>根据资源估算的结果，估算完成单项活动所需工作时段数的过程。</a:t>
            </a:r>
          </a:p>
          <a:p>
            <a:pPr algn="l"/>
            <a:r>
              <a:rPr lang="en-US" altLang="zh-CN" sz="1200" b="1" i="0" u="none" strike="noStrike" baseline="0" dirty="0">
                <a:latin typeface="HelveticaNeue-BoldCond"/>
              </a:rPr>
              <a:t>6.5 </a:t>
            </a:r>
            <a:r>
              <a:rPr lang="zh-CN" altLang="en-US" sz="1200" b="1" i="0" u="none" strike="noStrike" baseline="0" dirty="0">
                <a:latin typeface="SourceHanSansSC-Bold"/>
              </a:rPr>
              <a:t>制定进度计划 </a:t>
            </a:r>
            <a:r>
              <a:rPr lang="en-US" altLang="zh-CN" sz="1200" b="1" i="0" u="none" strike="noStrike" baseline="0" dirty="0">
                <a:latin typeface="HelveticaNeue-BoldCond"/>
              </a:rPr>
              <a:t>— </a:t>
            </a:r>
            <a:r>
              <a:rPr lang="zh-CN" altLang="en-US" sz="1200" b="0" i="0" u="none" strike="noStrike" baseline="0" dirty="0">
                <a:latin typeface="SourceHanSansSC-Regular"/>
              </a:rPr>
              <a:t>分析活动顺序、持续时间、资源需求和进度制约因素，创建项目进度模型，从而落实项目执行和监控的过程。</a:t>
            </a:r>
          </a:p>
          <a:p>
            <a:pPr algn="l"/>
            <a:r>
              <a:rPr lang="en-US" altLang="zh-CN" sz="1200" b="1" i="0" u="none" strike="noStrike" baseline="0" dirty="0">
                <a:latin typeface="HelveticaNeue-BoldCond"/>
              </a:rPr>
              <a:t>6.6 </a:t>
            </a:r>
            <a:r>
              <a:rPr lang="zh-CN" altLang="en-US" sz="1200" b="1" i="0" u="none" strike="noStrike" baseline="0" dirty="0">
                <a:latin typeface="SourceHanSansSC-Bold"/>
              </a:rPr>
              <a:t>控制进度 </a:t>
            </a:r>
            <a:r>
              <a:rPr lang="en-US" altLang="zh-CN" sz="1200" b="1" i="0" u="none" strike="noStrike" baseline="0" dirty="0">
                <a:latin typeface="HelveticaNeue-BoldCond"/>
              </a:rPr>
              <a:t>— </a:t>
            </a:r>
            <a:r>
              <a:rPr lang="zh-CN" altLang="en-US" sz="1200" b="0" i="0" u="none" strike="noStrike" baseline="0" dirty="0">
                <a:latin typeface="SourceHanSansSC-Regular"/>
              </a:rPr>
              <a:t>监督项目状态，以更新项目进度和管理进度基准变更的过程。</a:t>
            </a:r>
            <a:endParaRPr lang="zh-CN" altLang="en-US" dirty="0"/>
          </a:p>
          <a:p>
            <a:endParaRPr lang="en-US" altLang="zh-CN" dirty="0"/>
          </a:p>
          <a:p>
            <a:r>
              <a:rPr lang="zh-CN" altLang="en-US" dirty="0"/>
              <a:t>回忆一下我们讲过的项目管理的三大要素</a:t>
            </a:r>
            <a:r>
              <a:rPr lang="en-US" altLang="zh-CN" dirty="0"/>
              <a:t>:</a:t>
            </a:r>
            <a:r>
              <a:rPr lang="zh-CN" altLang="en-US" dirty="0"/>
              <a:t>范围</a:t>
            </a:r>
            <a:r>
              <a:rPr lang="en-US" altLang="zh-CN" dirty="0"/>
              <a:t>,</a:t>
            </a:r>
            <a:r>
              <a:rPr lang="zh-CN" altLang="en-US" dirty="0"/>
              <a:t>成本和时间</a:t>
            </a:r>
            <a:r>
              <a:rPr lang="en-US" altLang="zh-CN" dirty="0"/>
              <a:t>. </a:t>
            </a:r>
            <a:r>
              <a:rPr lang="zh-CN" altLang="en-US" dirty="0"/>
              <a:t>项目管理就是要权衡范围</a:t>
            </a:r>
            <a:r>
              <a:rPr lang="en-US" altLang="zh-CN" dirty="0"/>
              <a:t>,</a:t>
            </a:r>
            <a:r>
              <a:rPr lang="zh-CN" altLang="en-US" dirty="0"/>
              <a:t>成本和时间这三方面的目标</a:t>
            </a:r>
            <a:r>
              <a:rPr lang="en-US" altLang="zh-CN" dirty="0"/>
              <a:t>. </a:t>
            </a:r>
          </a:p>
          <a:p>
            <a:r>
              <a:rPr lang="zh-CN" altLang="en-US" dirty="0"/>
              <a:t>在理想的情况下</a:t>
            </a:r>
            <a:r>
              <a:rPr lang="en-US" altLang="zh-CN" dirty="0"/>
              <a:t>,</a:t>
            </a:r>
            <a:r>
              <a:rPr lang="zh-CN" altLang="en-US" dirty="0"/>
              <a:t>项目团队和关键的项目干系人定义项目范围</a:t>
            </a:r>
            <a:r>
              <a:rPr lang="en-US" altLang="zh-CN" dirty="0"/>
              <a:t>,</a:t>
            </a:r>
            <a:r>
              <a:rPr lang="zh-CN" altLang="en-US" dirty="0"/>
              <a:t>然后定义项目的时间</a:t>
            </a:r>
            <a:r>
              <a:rPr lang="en-US" altLang="zh-CN" dirty="0"/>
              <a:t>,</a:t>
            </a:r>
            <a:r>
              <a:rPr lang="zh-CN" altLang="en-US" dirty="0"/>
              <a:t>在其次是定义项目的成本</a:t>
            </a:r>
            <a:r>
              <a:rPr lang="en-US" altLang="zh-CN" dirty="0"/>
              <a:t>.</a:t>
            </a:r>
          </a:p>
          <a:p>
            <a:r>
              <a:rPr lang="zh-CN" altLang="en-US" dirty="0"/>
              <a:t>这三项的顺序反映了时间管理最初的三个过程的基本顺序</a:t>
            </a:r>
            <a:r>
              <a:rPr lang="en-US" altLang="zh-CN" dirty="0"/>
              <a:t>.</a:t>
            </a:r>
          </a:p>
          <a:p>
            <a:r>
              <a:rPr lang="en-US" altLang="zh-CN" dirty="0"/>
              <a:t>   </a:t>
            </a:r>
            <a:r>
              <a:rPr lang="zh-CN" altLang="en-US" dirty="0"/>
              <a:t>活动定义</a:t>
            </a:r>
            <a:r>
              <a:rPr lang="zh-CN" altLang="en-US" dirty="0">
                <a:sym typeface="Wingdings" panose="05000000000000000000" pitchFamily="2" charset="2"/>
              </a:rPr>
              <a:t>进一步定义范围</a:t>
            </a:r>
          </a:p>
          <a:p>
            <a:r>
              <a:rPr lang="zh-CN" altLang="en-US" dirty="0">
                <a:sym typeface="Wingdings" panose="05000000000000000000" pitchFamily="2" charset="2"/>
              </a:rPr>
              <a:t>   活动排序进一步定义时间</a:t>
            </a:r>
          </a:p>
          <a:p>
            <a:r>
              <a:rPr lang="zh-CN" altLang="en-US" dirty="0"/>
              <a:t>   活动历时估计</a:t>
            </a:r>
            <a:r>
              <a:rPr lang="zh-CN" altLang="en-US" dirty="0">
                <a:sym typeface="Wingdings" panose="05000000000000000000" pitchFamily="2" charset="2"/>
              </a:rPr>
              <a:t>进一步定义成本</a:t>
            </a:r>
          </a:p>
          <a:p>
            <a:r>
              <a:rPr lang="zh-CN" altLang="en-US" dirty="0">
                <a:sym typeface="Wingdings" panose="05000000000000000000" pitchFamily="2" charset="2"/>
              </a:rPr>
              <a:t>这三个项目管理过程是制定项目进度计划的基础</a:t>
            </a:r>
            <a:r>
              <a:rPr lang="en-US" altLang="zh-CN" dirty="0">
                <a:sym typeface="Wingdings" panose="05000000000000000000" pitchFamily="2" charset="2"/>
              </a:rPr>
              <a:t>.</a:t>
            </a:r>
            <a:endParaRPr lang="en-US" altLang="zh-CN" sz="600" dirty="0"/>
          </a:p>
          <a:p>
            <a:r>
              <a:rPr lang="zh-CN" altLang="en-US" dirty="0"/>
              <a:t>通过执行这些过程，使用一些基本的项目管理工具和技术，你可以改善时间管理。每个经理都熟悉某种形式的进度计划编制方法，不过大多数经理没有使用过专门属于项目时间管理的工具和技术。比如：甘特图、网络图、关键路径分析。</a:t>
            </a:r>
          </a:p>
          <a:p>
            <a:endParaRPr lang="zh-CN" altLang="en-US" dirty="0"/>
          </a:p>
          <a:p>
            <a:r>
              <a:rPr lang="zh-CN" altLang="en-US" dirty="0"/>
              <a:t>下面我们依次介绍项目时间管理的各个主要过程。</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6</a:t>
            </a:fld>
            <a:endParaRPr lang="zh-CN" altLang="en-US"/>
          </a:p>
        </p:txBody>
      </p:sp>
    </p:spTree>
    <p:extLst>
      <p:ext uri="{BB962C8B-B14F-4D97-AF65-F5344CB8AC3E}">
        <p14:creationId xmlns:p14="http://schemas.microsoft.com/office/powerpoint/2010/main" val="42548981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Regular"/>
              </a:rPr>
              <a:t>在小型项目中，定义活动、排列活动顺序、估算活动持续时间及制定进度模型等过程之间的联系非常密切，以至于可视为一个过程，能够由一个人在较短时间内完成。但本章仍然把这些过程分开介绍，因为每个过程所用的工具和技术各不相同。</a:t>
            </a:r>
            <a:endParaRPr lang="en-US" altLang="zh-CN" sz="1800" b="0" i="0" u="none" strike="noStrike" baseline="0" dirty="0">
              <a:latin typeface="SourceHanSansSC-Regular"/>
            </a:endParaRPr>
          </a:p>
          <a:p>
            <a:pPr algn="l"/>
            <a:r>
              <a:rPr lang="zh-CN" altLang="en-US" sz="1800" dirty="0"/>
              <a:t>根据</a:t>
            </a:r>
            <a:r>
              <a:rPr lang="en-US" altLang="zh-CN" sz="1800" dirty="0"/>
              <a:t>1995</a:t>
            </a:r>
            <a:r>
              <a:rPr lang="zh-CN" altLang="en-US" sz="1800" dirty="0"/>
              <a:t>年的那份”混沌“报告，失败的</a:t>
            </a:r>
            <a:r>
              <a:rPr lang="en-US" altLang="zh-CN" sz="1800" dirty="0"/>
              <a:t>IT</a:t>
            </a:r>
            <a:r>
              <a:rPr lang="zh-CN" altLang="en-US" sz="1800" dirty="0"/>
              <a:t>项目平均超出时间大约是原始估计的</a:t>
            </a:r>
            <a:r>
              <a:rPr lang="en-US" altLang="zh-CN" sz="1800" dirty="0"/>
              <a:t>222%</a:t>
            </a:r>
            <a:r>
              <a:rPr lang="zh-CN" altLang="en-US" sz="1800" dirty="0"/>
              <a:t>，这个数字意味着，计划一年完成的项目最后要耗费</a:t>
            </a:r>
            <a:r>
              <a:rPr lang="en-US" altLang="zh-CN" sz="1800" dirty="0"/>
              <a:t>2.2</a:t>
            </a:r>
            <a:r>
              <a:rPr lang="zh-CN" altLang="en-US" sz="1800" dirty="0"/>
              <a:t>年完成。</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just"/>
            <a:r>
              <a:rPr lang="zh-CN" altLang="en-US" sz="1800" dirty="0">
                <a:latin typeface="Times New Roman" panose="02020603050405020304" pitchFamily="18" charset="0"/>
              </a:rPr>
              <a:t>     与</a:t>
            </a:r>
            <a:r>
              <a:rPr lang="en-US" altLang="zh-CN" sz="1800" dirty="0">
                <a:latin typeface="Times New Roman" panose="02020603050405020304" pitchFamily="18" charset="0"/>
              </a:rPr>
              <a:t>2002</a:t>
            </a:r>
            <a:r>
              <a:rPr lang="zh-CN" altLang="en-US" sz="1800" dirty="0">
                <a:latin typeface="Times New Roman" panose="02020603050405020304" pitchFamily="18" charset="0"/>
              </a:rPr>
              <a:t>年盐湖城冬季奥运会（详见第</a:t>
            </a:r>
            <a:r>
              <a:rPr lang="en-US" altLang="zh-CN" sz="1800" dirty="0">
                <a:latin typeface="Times New Roman" panose="02020603050405020304" pitchFamily="18" charset="0"/>
              </a:rPr>
              <a:t>4</a:t>
            </a:r>
            <a:r>
              <a:rPr lang="zh-CN" altLang="en-US" sz="1800" dirty="0">
                <a:latin typeface="Times New Roman" panose="02020603050405020304" pitchFamily="18" charset="0"/>
              </a:rPr>
              <a:t>章媒体快照）或</a:t>
            </a:r>
            <a:r>
              <a:rPr lang="en-US" altLang="zh-CN" sz="1800" dirty="0">
                <a:latin typeface="Times New Roman" panose="02020603050405020304" pitchFamily="18" charset="0"/>
              </a:rPr>
              <a:t>2008</a:t>
            </a:r>
            <a:r>
              <a:rPr lang="zh-CN" altLang="en-US" sz="1800" dirty="0">
                <a:latin typeface="Times New Roman" panose="02020603050405020304" pitchFamily="18" charset="0"/>
              </a:rPr>
              <a:t>年北京夏季奥运会相比，</a:t>
            </a:r>
            <a:r>
              <a:rPr lang="en-US" altLang="zh-CN" sz="1800" dirty="0">
                <a:latin typeface="Times New Roman" panose="02020603050405020304" pitchFamily="18" charset="0"/>
              </a:rPr>
              <a:t>2004</a:t>
            </a:r>
            <a:r>
              <a:rPr lang="zh-CN" altLang="en-US" sz="1800" dirty="0">
                <a:latin typeface="Times New Roman" panose="02020603050405020304" pitchFamily="18" charset="0"/>
              </a:rPr>
              <a:t>年在希腊雅典举办的夏季奥运会在计划和时间进度方面都做得不是很好。很多报道都在开幕式之前预言，场馆建设不能如期完成。“距雅典奥运会的开幕式还有</a:t>
            </a:r>
            <a:r>
              <a:rPr lang="en-US" altLang="zh-CN" sz="1800" dirty="0">
                <a:latin typeface="Times New Roman" panose="02020603050405020304" pitchFamily="18" charset="0"/>
              </a:rPr>
              <a:t>162</a:t>
            </a:r>
            <a:r>
              <a:rPr lang="zh-CN" altLang="en-US" sz="1800" dirty="0">
                <a:latin typeface="Times New Roman" panose="02020603050405020304" pitchFamily="18" charset="0"/>
              </a:rPr>
              <a:t>天时，希腊的首都还没有为这一期待已久的盛大活动做好准备</a:t>
            </a:r>
            <a:r>
              <a:rPr lang="en-US" altLang="zh-CN" sz="1800" dirty="0">
                <a:latin typeface="Times New Roman" panose="02020603050405020304" pitchFamily="18" charset="0"/>
              </a:rPr>
              <a:t>……</a:t>
            </a:r>
            <a:r>
              <a:rPr lang="zh-CN" altLang="en-US" sz="1800" dirty="0">
                <a:latin typeface="Times New Roman" panose="02020603050405020304" pitchFamily="18" charset="0"/>
              </a:rPr>
              <a:t>到目前为止，</a:t>
            </a:r>
            <a:r>
              <a:rPr lang="en-US" altLang="zh-CN" sz="1800" dirty="0">
                <a:latin typeface="Times New Roman" panose="02020603050405020304" pitchFamily="18" charset="0"/>
              </a:rPr>
              <a:t>30</a:t>
            </a:r>
            <a:r>
              <a:rPr lang="zh-CN" altLang="en-US" sz="1800" dirty="0">
                <a:latin typeface="Times New Roman" panose="02020603050405020304" pitchFamily="18" charset="0"/>
              </a:rPr>
              <a:t>个建设项目中应该已完成</a:t>
            </a:r>
            <a:r>
              <a:rPr lang="en-US" altLang="zh-CN" sz="1800" dirty="0">
                <a:latin typeface="Times New Roman" panose="02020603050405020304" pitchFamily="18" charset="0"/>
              </a:rPr>
              <a:t>22</a:t>
            </a:r>
            <a:r>
              <a:rPr lang="zh-CN" altLang="en-US" sz="1800" dirty="0">
                <a:latin typeface="Times New Roman" panose="02020603050405020304" pitchFamily="18" charset="0"/>
              </a:rPr>
              <a:t>项。而本周雅典奥委会骄傲地宣称本月末将完成</a:t>
            </a:r>
            <a:r>
              <a:rPr lang="en-US" altLang="zh-CN" sz="1800" dirty="0">
                <a:latin typeface="Times New Roman" panose="02020603050405020304" pitchFamily="18" charset="0"/>
              </a:rPr>
              <a:t>19</a:t>
            </a:r>
            <a:r>
              <a:rPr lang="zh-CN" altLang="en-US" sz="1800" dirty="0">
                <a:latin typeface="Times New Roman" panose="02020603050405020304" pitchFamily="18" charset="0"/>
              </a:rPr>
              <a:t>座比赛场馆的建设。这可与原计划相距甚远。”！</a:t>
            </a:r>
          </a:p>
          <a:p>
            <a:pPr algn="just"/>
            <a:r>
              <a:rPr lang="zh-CN" altLang="en-US" sz="1800" dirty="0">
                <a:latin typeface="Times New Roman" panose="02020603050405020304" pitchFamily="18" charset="0"/>
              </a:rPr>
              <a:t>     无论如何，人们还是为惊人的开幕式、漂亮崭新的建筑、雅典的安保和交通系统、尖端科技而带来的惊喜感到满意。比如，在比赛开始前对交通流的控制确实很好。对于有关比赛场馆不能按时完成的预言，一名观众评论道：“雅典证明了他们的预言是错误的。这简直就是无与伦比的。”开幕式开始时，希腊人让几名建筑工人仍然假装忙碌着，来嘲讽哪些评论意见。然而不幸的是，因为整个奥运会的花费比原预算的两倍还要多，希腊政府为此承担了巨额债务。</a:t>
            </a:r>
            <a:endParaRPr lang="en-US" altLang="zh-CN" sz="1800" dirty="0">
              <a:latin typeface="Times New Roman" panose="02020603050405020304" pitchFamily="18" charset="0"/>
            </a:endParaRPr>
          </a:p>
          <a:p>
            <a:pPr algn="just"/>
            <a:endParaRPr lang="en-US" altLang="zh-CN" sz="1800" dirty="0">
              <a:latin typeface="Times New Roman" panose="02020603050405020304" pitchFamily="18" charset="0"/>
            </a:endParaRPr>
          </a:p>
          <a:p>
            <a:pPr eaLnBrk="1" hangingPunct="1">
              <a:defRPr/>
            </a:pPr>
            <a:r>
              <a:rPr lang="zh-CN" altLang="en-US" i="1" dirty="0"/>
              <a:t>学生综合征  </a:t>
            </a:r>
            <a:r>
              <a:rPr lang="zh-CN" altLang="en-US" dirty="0"/>
              <a:t>（拖延症）是对人们平时所形成的一种工作习惯和行为的通俗描述</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latin typeface="+mn-lt"/>
                <a:ea typeface="+mn-ea"/>
                <a:cs typeface="+mn-cs"/>
              </a:rPr>
              <a:t>     人们总是习惯为自己负责的工作留有余地 </a:t>
            </a:r>
            <a:r>
              <a:rPr lang="en-US" altLang="zh-CN" sz="1200" kern="1200" dirty="0">
                <a:solidFill>
                  <a:schemeClr val="tx1"/>
                </a:solidFill>
                <a:latin typeface="+mn-lt"/>
                <a:ea typeface="+mn-ea"/>
                <a:cs typeface="+mn-cs"/>
              </a:rPr>
              <a:t>(</a:t>
            </a:r>
            <a:r>
              <a:rPr lang="zh-CN" altLang="en-US" sz="1200" kern="1200" dirty="0">
                <a:solidFill>
                  <a:schemeClr val="tx1"/>
                </a:solidFill>
                <a:latin typeface="+mn-lt"/>
                <a:ea typeface="+mn-ea"/>
                <a:cs typeface="+mn-cs"/>
              </a:rPr>
              <a:t>当然也可以认为是从应对不确定性和风险出发</a:t>
            </a:r>
            <a:r>
              <a:rPr lang="en-US" altLang="zh-CN" sz="1200" kern="1200" dirty="0">
                <a:solidFill>
                  <a:schemeClr val="tx1"/>
                </a:solidFill>
                <a:latin typeface="+mn-lt"/>
                <a:ea typeface="+mn-ea"/>
                <a:cs typeface="+mn-cs"/>
              </a:rPr>
              <a:t>)</a:t>
            </a:r>
            <a:r>
              <a:rPr lang="zh-CN" altLang="en-US" sz="1200" kern="1200" dirty="0">
                <a:solidFill>
                  <a:schemeClr val="tx1"/>
                </a:solidFill>
                <a:latin typeface="+mn-lt"/>
                <a:ea typeface="+mn-ea"/>
                <a:cs typeface="+mn-cs"/>
              </a:rPr>
              <a:t>，因此在进行项目活动估算时，总会给自己留出充分的裕量</a:t>
            </a:r>
            <a:r>
              <a:rPr lang="en-US" altLang="zh-CN" sz="1200" kern="1200" dirty="0">
                <a:solidFill>
                  <a:schemeClr val="tx1"/>
                </a:solidFill>
                <a:latin typeface="+mn-lt"/>
                <a:ea typeface="+mn-ea"/>
                <a:cs typeface="+mn-cs"/>
              </a:rPr>
              <a:t>(</a:t>
            </a:r>
            <a:r>
              <a:rPr lang="zh-CN" altLang="en-US" sz="1200" kern="1200" dirty="0">
                <a:solidFill>
                  <a:schemeClr val="tx1"/>
                </a:solidFill>
                <a:latin typeface="+mn-lt"/>
                <a:ea typeface="+mn-ea"/>
                <a:cs typeface="+mn-cs"/>
              </a:rPr>
              <a:t>隐藏裕量</a:t>
            </a:r>
            <a:r>
              <a:rPr lang="en-US" altLang="zh-CN" sz="1200" kern="1200" dirty="0">
                <a:solidFill>
                  <a:schemeClr val="tx1"/>
                </a:solidFill>
                <a:latin typeface="+mn-lt"/>
                <a:ea typeface="+mn-ea"/>
                <a:cs typeface="+mn-cs"/>
              </a:rPr>
              <a:t>)</a:t>
            </a:r>
            <a:r>
              <a:rPr lang="zh-CN" altLang="en-US" sz="1200" kern="1200" dirty="0">
                <a:solidFill>
                  <a:schemeClr val="tx1"/>
                </a:solidFill>
                <a:latin typeface="+mn-lt"/>
                <a:ea typeface="+mn-ea"/>
                <a:cs typeface="+mn-cs"/>
              </a:rPr>
              <a:t>，并且这一部分裕量并不为管理者所了解。</a:t>
            </a:r>
          </a:p>
          <a:p>
            <a:pPr eaLnBrk="1" hangingPunct="1">
              <a:defRPr/>
            </a:pPr>
            <a:endParaRPr lang="en-US" altLang="zh-CN" dirty="0"/>
          </a:p>
          <a:p>
            <a:pPr eaLnBrk="1" hangingPunct="1">
              <a:defRPr/>
            </a:pPr>
            <a:r>
              <a:rPr lang="zh-CN" altLang="en-US" dirty="0"/>
              <a:t>老师留作业的例子</a:t>
            </a:r>
            <a:endParaRPr lang="en-US" altLang="zh-CN" dirty="0"/>
          </a:p>
          <a:p>
            <a:pPr eaLnBrk="1" hangingPunct="1">
              <a:defRPr/>
            </a:pPr>
            <a:r>
              <a:rPr lang="en-US" altLang="zh-CN" dirty="0"/>
              <a:t>   </a:t>
            </a:r>
            <a:r>
              <a:rPr lang="zh-CN" altLang="en-US" dirty="0"/>
              <a:t>  学校的老师在班级里为学生们布置一项作业，一开始老师要求同学们一周时间内完成，这是一个合理的时间安排，但却会遭到不少同学的反对，他们希望老师给予更多的时间，</a:t>
            </a:r>
          </a:p>
          <a:p>
            <a:pPr eaLnBrk="1" hangingPunct="1">
              <a:defRPr/>
            </a:pPr>
            <a:r>
              <a:rPr lang="zh-CN" altLang="en-US" dirty="0"/>
              <a:t>    如果老师同意了这一要求，将交作业时间限期改为两周，这对完成该项作业的是一个十分充裕的时间，同学们因此而会心满意足。然而两周过后，该位老师仍会惊奇的发现，即使安排了两周时间，仍然有部分同学未能按时交作业。如果你对这个问题进行一些调查，就会发现，在老师的作业布置下去后，几乎没有一位同学是在第一周完成的，大多数同学从第二周才开始做作业，甚至有部分同学一直等到交作业的当天或前一两天才开始做，这其中就包括那些未能按时交作业的同学。 </a:t>
            </a:r>
            <a:endParaRPr lang="en-US" altLang="zh-CN" dirty="0"/>
          </a:p>
          <a:p>
            <a:pPr eaLnBrk="1" hangingPunct="1">
              <a:defRPr/>
            </a:pPr>
            <a:r>
              <a:rPr lang="zh-CN" altLang="en-US" dirty="0"/>
              <a:t>    这个现象揭示了一个重要的事实，即：人们习惯上在为未来将要从事的任务活动进行估算时，总会自觉或不自觉地为自己留有一部分安全裕量，而在处理多种并行任务活动时，总是依据“尽晚开始” </a:t>
            </a:r>
            <a:r>
              <a:rPr lang="en-US" altLang="zh-CN" dirty="0"/>
              <a:t>(As Late As Possible</a:t>
            </a:r>
            <a:r>
              <a:rPr lang="zh-CN" altLang="en-US" dirty="0"/>
              <a:t>，</a:t>
            </a:r>
            <a:r>
              <a:rPr lang="en-US" altLang="zh-CN" dirty="0"/>
              <a:t>ALAP)</a:t>
            </a:r>
            <a:r>
              <a:rPr lang="zh-CN" altLang="en-US" dirty="0"/>
              <a:t>的原则，而不是传统项目管理方法</a:t>
            </a:r>
            <a:r>
              <a:rPr lang="en-US" altLang="zh-CN" dirty="0"/>
              <a:t>CPM</a:t>
            </a:r>
            <a:r>
              <a:rPr lang="zh-CN" altLang="en-US" dirty="0"/>
              <a:t>／</a:t>
            </a:r>
            <a:r>
              <a:rPr lang="en-US" altLang="zh-CN" dirty="0"/>
              <a:t>PERT</a:t>
            </a:r>
            <a:r>
              <a:rPr lang="zh-CN" altLang="en-US" dirty="0"/>
              <a:t>中所采用的“尽早开始”</a:t>
            </a:r>
            <a:r>
              <a:rPr lang="en-US" altLang="zh-CN" dirty="0"/>
              <a:t>(ASAP)</a:t>
            </a:r>
            <a:r>
              <a:rPr lang="zh-CN" altLang="en-US" dirty="0"/>
              <a:t>。）</a:t>
            </a:r>
            <a:endParaRPr lang="en-US" altLang="zh-CN" dirty="0"/>
          </a:p>
          <a:p>
            <a:pPr eaLnBrk="1" hangingPunct="1">
              <a:defRPr/>
            </a:pPr>
            <a:endParaRPr lang="zh-CN" altLang="en-US" dirty="0"/>
          </a:p>
          <a:p>
            <a:pPr eaLnBrk="1" hangingPunct="1">
              <a:defRPr/>
            </a:pPr>
            <a:r>
              <a:rPr lang="zh-CN" altLang="en-US" dirty="0"/>
              <a:t>帕肯森定律</a:t>
            </a:r>
          </a:p>
          <a:p>
            <a:pPr lvl="1" eaLnBrk="1" hangingPunct="1">
              <a:defRPr/>
            </a:pPr>
            <a:r>
              <a:rPr lang="zh-CN" altLang="en-US" dirty="0"/>
              <a:t>几乎没有项目会比它的计划提前完成任务 </a:t>
            </a:r>
          </a:p>
          <a:p>
            <a:pPr lvl="1" eaLnBrk="1" hangingPunct="1">
              <a:defRPr/>
            </a:pPr>
            <a:r>
              <a:rPr lang="zh-CN" altLang="en-US" dirty="0"/>
              <a:t>反映了目前项目管理实践中大量存在的成本超支和时间延误现象的原因 </a:t>
            </a:r>
            <a:endParaRPr lang="en-US" altLang="zh-CN" dirty="0"/>
          </a:p>
          <a:p>
            <a:pPr eaLnBrk="1" hangingPunct="1">
              <a:defRPr/>
            </a:pPr>
            <a:endParaRPr lang="en-US" altLang="zh-CN" dirty="0"/>
          </a:p>
          <a:p>
            <a:pPr eaLnBrk="1" hangingPunct="1">
              <a:defRPr/>
            </a:pPr>
            <a:r>
              <a:rPr lang="en-US" altLang="zh-CN" dirty="0"/>
              <a:t>   </a:t>
            </a:r>
            <a:r>
              <a:rPr lang="zh-CN" altLang="en-US" dirty="0"/>
              <a:t>帕肯森指出：因为过去的经验总是在反复告诉人们：提前完成任务不会受奖，反而会受罚。比如你为了今年得到企业的奖励，超额实现了企业规定的绩效指标，这可能意味着你必须承担明年需要完成一个更高的基准绩效指标作为代价；如果这一次你自己负责的任务提前完成，那么你这次可能会得到企业高层管理人员的奖励，但是在下次进行任务估算时，企业管理人员就可能会对你的项目估算的准确性打一个折扣，你可能不会得到更多的裕量；或者你可能直接被怀疑是故意加大对项目活动的估算，因而你的估算可能会得不到批准。这种现象虽然随着绩效和奖惩制度的完善会在很大程度上缓解，但帕肯森定律依然深刻地反映了目前项目管理实践中大量存在的成本超支和时间延误现象的原因。</a:t>
            </a:r>
            <a:endParaRPr lang="en-US" altLang="zh-CN" dirty="0"/>
          </a:p>
          <a:p>
            <a:pPr eaLnBrk="1" hangingPunct="1">
              <a:defRPr/>
            </a:pPr>
            <a:r>
              <a:rPr lang="zh-CN" altLang="en-US" dirty="0"/>
              <a:t>   从大量的项目管理案例中也可以发现一个奇怪的现象：那些越是工期紧、难度大的项目，反而会按期保质完成任务。我们为这种悖论不难找到一个合理的解释：正是因为项目工期紧、难度大，任务具有挑战性，因此就不会犯“学生综合症”的毛病，帕肯森定律也因此而失效。同时，人们在具有挑战性的任务面前，反而更容易被激发出非凡的创造力和效率。这就是上述这一奇怪的现象</a:t>
            </a:r>
            <a:r>
              <a:rPr lang="en-US" altLang="zh-CN" dirty="0"/>
              <a:t>(</a:t>
            </a:r>
            <a:r>
              <a:rPr lang="zh-CN" altLang="en-US" dirty="0"/>
              <a:t>或称为悖论</a:t>
            </a:r>
            <a:r>
              <a:rPr lang="en-US" altLang="zh-CN" dirty="0"/>
              <a:t>)</a:t>
            </a:r>
            <a:r>
              <a:rPr lang="zh-CN" altLang="en-US" dirty="0"/>
              <a:t>之所以成立的根本原因。</a:t>
            </a:r>
          </a:p>
          <a:p>
            <a:pPr algn="just"/>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a:t>
            </a:fld>
            <a:endParaRPr lang="zh-CN" altLang="en-US"/>
          </a:p>
        </p:txBody>
      </p:sp>
    </p:spTree>
    <p:extLst>
      <p:ext uri="{BB962C8B-B14F-4D97-AF65-F5344CB8AC3E}">
        <p14:creationId xmlns:p14="http://schemas.microsoft.com/office/powerpoint/2010/main" val="34943401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Regular"/>
              </a:rPr>
              <a:t>有关项目进度计划方法的新兴实践包括（但不限于）：</a:t>
            </a:r>
          </a:p>
          <a:p>
            <a:pPr algn="l"/>
            <a:r>
              <a:rPr lang="zh-CN" altLang="en-US" sz="1800" b="1" i="0" u="none" strike="noStrike" baseline="0" dirty="0">
                <a:latin typeface="SourceHanSansSC-Bold"/>
              </a:rPr>
              <a:t>具有未完项的迭代型进度计划。</a:t>
            </a:r>
            <a:r>
              <a:rPr lang="zh-CN" altLang="en-US" sz="1800" b="0" i="0" u="none" strike="noStrike" baseline="0" dirty="0">
                <a:latin typeface="SourceHanSansSC-Regular"/>
              </a:rPr>
              <a:t>这是一种基于适应型生命周期的滚动式规划，例如敏捷的产品开发方法。这种方法将需求记录在用户故事中，然后在建造之前按优先级排序并优化用户故事，最后在规定的时间盒内开发产品功能。这一方法通常用于向客户交付增量价值，或多个团队并行开发大量内部关联较小的功能。适应型生命周期在产品开发中的应用越来越普遍，很多项目都采用这种进度计划方法。这种方法的好处在于，它允许在整个开发生命周期期间进行变更。</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zh-CN" altLang="en-US" sz="1800" b="1" i="0" u="none" strike="noStrike" baseline="0" dirty="0">
                <a:latin typeface="SourceHanSansSC-Bold"/>
              </a:rPr>
              <a:t>按需进度计划。</a:t>
            </a:r>
            <a:r>
              <a:rPr lang="zh-CN" altLang="en-US" sz="1800" b="0" i="0" u="none" strike="noStrike" baseline="0" dirty="0">
                <a:latin typeface="SourceHanSansSC-Regular"/>
              </a:rPr>
              <a:t>这种方法通常用于看板体系，基于制约理论和来自精益生产的拉动式进度计划概念，根据团队的交付能力来限制团队正在开展的工作。按需进度计划方法不依赖于以前为产品开发或产品增量制定的进度计划，而是</a:t>
            </a:r>
            <a:r>
              <a:rPr lang="zh-CN" altLang="en-US" sz="1800" b="1" i="0" u="none" strike="noStrike" baseline="0" dirty="0">
                <a:latin typeface="SourceHanSansSC-Regular"/>
              </a:rPr>
              <a:t>在资源可用时立即从未完项和工作序列中提取出来开展</a:t>
            </a:r>
            <a:r>
              <a:rPr lang="zh-CN" altLang="en-US" sz="1800" b="0" i="0" u="none" strike="noStrike" baseline="0" dirty="0">
                <a:latin typeface="SourceHanSansSC-Regular"/>
              </a:rPr>
              <a:t>。按需进度计划方法经常用于此类项目：在运营或持续环境中以增量方式研发产品，其任务可以被设计成相对类似的规模和范围，或者可以按规模和范围进行组合的工作。按需进度计划方法通常用于产品在运营和维护环境下以增量方式演进，且任务的规模或范围相对类似，或者，可以按照规模或范围对任务进行组合的项目。</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a:t>
            </a:fld>
            <a:endParaRPr lang="zh-CN" altLang="en-US"/>
          </a:p>
        </p:txBody>
      </p:sp>
    </p:spTree>
    <p:extLst>
      <p:ext uri="{BB962C8B-B14F-4D97-AF65-F5344CB8AC3E}">
        <p14:creationId xmlns:p14="http://schemas.microsoft.com/office/powerpoint/2010/main" val="13293308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6.1.1 </a:t>
            </a:r>
            <a:r>
              <a:rPr lang="zh-CN" altLang="en-US" sz="1800" b="0" i="0" u="none" strike="noStrike" baseline="0" dirty="0">
                <a:latin typeface="SourceHanSansSC-Medium"/>
              </a:rPr>
              <a:t>规划进度管理：输入</a:t>
            </a:r>
          </a:p>
          <a:p>
            <a:pPr algn="l"/>
            <a:r>
              <a:rPr lang="en-US" altLang="zh-CN" sz="1800" b="0" i="0" u="none" strike="noStrike" baseline="0" dirty="0">
                <a:latin typeface="HelveticaNeue-MediumCond"/>
              </a:rPr>
              <a:t>6.1.1.1 </a:t>
            </a:r>
            <a:r>
              <a:rPr lang="zh-CN" altLang="en-US" sz="1800" b="0" i="0" u="none" strike="noStrike" baseline="0" dirty="0">
                <a:latin typeface="SourceHanSansSC-Medium"/>
              </a:rPr>
              <a:t>项目章程</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4.1.3.1 </a:t>
            </a:r>
            <a:r>
              <a:rPr lang="zh-CN" altLang="en-US" sz="1800" b="0" i="0" u="none" strike="noStrike" baseline="0" dirty="0">
                <a:latin typeface="SourceHanSansSC-Regular"/>
              </a:rPr>
              <a:t>节。项目章程中规定的总体里程碑进度计划会影响项目的进度管理。</a:t>
            </a:r>
          </a:p>
          <a:p>
            <a:pPr algn="l"/>
            <a:r>
              <a:rPr lang="en-US" altLang="zh-CN" sz="1800" b="0" i="0" u="none" strike="noStrike" baseline="0" dirty="0">
                <a:latin typeface="HelveticaNeue-MediumCond"/>
              </a:rPr>
              <a:t>6.1.1.2 </a:t>
            </a:r>
            <a:r>
              <a:rPr lang="zh-CN" altLang="en-US" sz="1800" b="0" i="0" u="none" strike="noStrike" baseline="0" dirty="0">
                <a:latin typeface="SourceHanSansSC-Medium"/>
              </a:rPr>
              <a:t>项目管理计划</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4.2.3.1 </a:t>
            </a:r>
            <a:r>
              <a:rPr lang="zh-CN" altLang="en-US" sz="1800" b="0" i="0" u="none" strike="noStrike" baseline="0" dirty="0">
                <a:latin typeface="SourceHanSansSC-Regular"/>
              </a:rPr>
              <a:t>节。项目管理计划组件包括（但不限于）：</a:t>
            </a:r>
          </a:p>
          <a:p>
            <a:pPr algn="l"/>
            <a:r>
              <a:rPr lang="zh-CN" altLang="en-US" sz="1800" b="1" i="0" u="none" strike="noStrike" baseline="0" dirty="0">
                <a:latin typeface="SourceHanSansSC-Bold"/>
              </a:rPr>
              <a:t>范围管理计划。</a:t>
            </a:r>
            <a:r>
              <a:rPr lang="zh-CN" altLang="en-US" sz="1800" b="0" i="0" u="none" strike="noStrike" baseline="0" dirty="0">
                <a:latin typeface="SourceHanSansSC-Regular"/>
              </a:rPr>
              <a:t>见 </a:t>
            </a:r>
            <a:r>
              <a:rPr lang="en-US" altLang="zh-CN" sz="1800" b="0" i="0" u="none" strike="noStrike" baseline="0" dirty="0">
                <a:latin typeface="HelveticaNeue-Condensed"/>
              </a:rPr>
              <a:t>5.1.3.1 </a:t>
            </a:r>
            <a:r>
              <a:rPr lang="zh-CN" altLang="en-US" sz="1800" b="0" i="0" u="none" strike="noStrike" baseline="0" dirty="0">
                <a:latin typeface="SourceHanSansSC-Regular"/>
              </a:rPr>
              <a:t>节。范围管理计划描述如何定义和制定范围，并提供有关如何制定进度计划的信息。</a:t>
            </a:r>
          </a:p>
          <a:p>
            <a:pPr algn="l"/>
            <a:r>
              <a:rPr lang="zh-CN" altLang="en-US" sz="1800" b="1" i="0" u="none" strike="noStrike" baseline="0" dirty="0">
                <a:latin typeface="SourceHanSansSC-Bold"/>
              </a:rPr>
              <a:t>开发方法。</a:t>
            </a:r>
            <a:r>
              <a:rPr lang="zh-CN" altLang="en-US" sz="1800" b="0" i="0" u="none" strike="noStrike" baseline="0" dirty="0">
                <a:latin typeface="SourceHanSansSC-Regular"/>
              </a:rPr>
              <a:t>见 </a:t>
            </a:r>
            <a:r>
              <a:rPr lang="en-US" altLang="zh-CN" sz="1800" b="0" i="0" u="none" strike="noStrike" baseline="0" dirty="0">
                <a:latin typeface="HelveticaNeue-Condensed"/>
              </a:rPr>
              <a:t>4.2.3.1 </a:t>
            </a:r>
            <a:r>
              <a:rPr lang="zh-CN" altLang="en-US" sz="1800" b="0" i="0" u="none" strike="noStrike" baseline="0" dirty="0">
                <a:latin typeface="SourceHanSansSC-Regular"/>
              </a:rPr>
              <a:t>节。产品开发方法有助于定义进度计划方法、估算技术、进度计划编制工具以及用来控制进度的技术。</a:t>
            </a:r>
          </a:p>
          <a:p>
            <a:pPr algn="l"/>
            <a:r>
              <a:rPr lang="en-US" altLang="zh-CN" sz="1800" b="0" i="0" u="none" strike="noStrike" baseline="0" dirty="0">
                <a:latin typeface="HelveticaNeue-MediumCond"/>
              </a:rPr>
              <a:t>6.1.1.3 </a:t>
            </a:r>
            <a:r>
              <a:rPr lang="zh-CN" altLang="en-US" sz="1800" b="0" i="0" u="none" strike="noStrike" baseline="0" dirty="0">
                <a:latin typeface="SourceHanSansSC-Medium"/>
              </a:rPr>
              <a:t>事业环境因素</a:t>
            </a:r>
          </a:p>
          <a:p>
            <a:pPr algn="l"/>
            <a:r>
              <a:rPr lang="zh-CN" altLang="en-US" sz="1800" b="0" i="0" u="none" strike="noStrike" baseline="0" dirty="0">
                <a:latin typeface="SourceHanSansSC-Regular"/>
              </a:rPr>
              <a:t>能够影响规划进度管理过程的事业环境因素包括（但不限于）：</a:t>
            </a:r>
          </a:p>
          <a:p>
            <a:pPr algn="l"/>
            <a:r>
              <a:rPr lang="zh-CN" altLang="en-US" sz="1800" b="0" i="0" u="none" strike="noStrike" baseline="0" dirty="0">
                <a:latin typeface="SourceHanSansSC-Regular"/>
              </a:rPr>
              <a:t>组织文化和结构；</a:t>
            </a:r>
          </a:p>
          <a:p>
            <a:pPr algn="l"/>
            <a:r>
              <a:rPr lang="zh-CN" altLang="en-US" sz="1800" b="0" i="0" u="none" strike="noStrike" baseline="0" dirty="0">
                <a:latin typeface="SourceHanSansSC-Regular"/>
              </a:rPr>
              <a:t>团队资源可用性、技能以及物质资源可用性；</a:t>
            </a:r>
          </a:p>
          <a:p>
            <a:pPr algn="l"/>
            <a:r>
              <a:rPr lang="zh-CN" altLang="en-US" sz="1800" b="0" i="0" u="none" strike="noStrike" baseline="0" dirty="0">
                <a:latin typeface="SourceHanSansSC-Regular"/>
              </a:rPr>
              <a:t>进度计划软件；</a:t>
            </a:r>
          </a:p>
          <a:p>
            <a:pPr algn="l"/>
            <a:r>
              <a:rPr lang="zh-CN" altLang="en-US" sz="1800" b="0" i="0" u="none" strike="noStrike" baseline="0" dirty="0">
                <a:latin typeface="SourceHanSansSC-Regular"/>
              </a:rPr>
              <a:t>指南和标准，用于裁剪组织标准过程和程序以满足项目的特定要求；</a:t>
            </a:r>
          </a:p>
          <a:p>
            <a:pPr algn="l"/>
            <a:r>
              <a:rPr lang="zh-CN" altLang="en-US" sz="1800" b="0" i="0" u="none" strike="noStrike" baseline="0" dirty="0">
                <a:latin typeface="SourceHanSansSC-Regular"/>
              </a:rPr>
              <a:t>商业数据库，如标准化的估算数据。</a:t>
            </a:r>
          </a:p>
          <a:p>
            <a:pPr algn="l"/>
            <a:r>
              <a:rPr lang="en-US" altLang="zh-CN" sz="1800" b="0" i="0" u="none" strike="noStrike" baseline="0" dirty="0">
                <a:latin typeface="HelveticaNeue-MediumCond"/>
              </a:rPr>
              <a:t>6.1.1.4 </a:t>
            </a:r>
            <a:r>
              <a:rPr lang="zh-CN" altLang="en-US" sz="1800" b="0" i="0" u="none" strike="noStrike" baseline="0" dirty="0">
                <a:latin typeface="SourceHanSansSC-Medium"/>
              </a:rPr>
              <a:t>组织过程资产</a:t>
            </a:r>
          </a:p>
          <a:p>
            <a:pPr algn="l"/>
            <a:r>
              <a:rPr lang="zh-CN" altLang="en-US" sz="1800" b="0" i="0" u="none" strike="noStrike" baseline="0" dirty="0">
                <a:latin typeface="SourceHanSansSC-Regular"/>
              </a:rPr>
              <a:t>能够影响规划进度管理过程的组织过程资产包括（但不限于）：</a:t>
            </a:r>
          </a:p>
          <a:p>
            <a:pPr algn="l"/>
            <a:r>
              <a:rPr lang="zh-CN" altLang="en-US" sz="1800" b="0" i="0" u="none" strike="noStrike" baseline="0" dirty="0">
                <a:latin typeface="SourceHanSansSC-Regular"/>
              </a:rPr>
              <a:t>历史信息和经验教训知识库；</a:t>
            </a:r>
          </a:p>
          <a:p>
            <a:pPr algn="l"/>
            <a:r>
              <a:rPr lang="zh-CN" altLang="en-US" sz="1800" b="0" i="0" u="none" strike="noStrike" baseline="0" dirty="0">
                <a:latin typeface="SourceHanSansSC-Regular"/>
              </a:rPr>
              <a:t>现有与制定进度计划以及管理和控制进度相关的正式和非正式的政策、程序和指南；</a:t>
            </a:r>
          </a:p>
          <a:p>
            <a:pPr algn="l"/>
            <a:r>
              <a:rPr lang="zh-CN" altLang="en-US" sz="1800" b="0" i="0" u="none" strike="noStrike" baseline="0" dirty="0">
                <a:latin typeface="SourceHanSansSC-Regular"/>
              </a:rPr>
              <a:t>模板和表格；</a:t>
            </a:r>
          </a:p>
          <a:p>
            <a:pPr algn="l"/>
            <a:r>
              <a:rPr lang="zh-CN" altLang="en-US" sz="1800" b="0" i="0" u="none" strike="noStrike" baseline="0" dirty="0">
                <a:latin typeface="SourceHanSansSC-Regular"/>
              </a:rPr>
              <a:t>监督和报告工具。</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6.1.2 </a:t>
            </a:r>
            <a:r>
              <a:rPr lang="zh-CN" altLang="en-US" sz="1800" b="0" i="0" u="none" strike="noStrike" baseline="0" dirty="0">
                <a:latin typeface="SourceHanSansSC-Medium"/>
              </a:rPr>
              <a:t>规划进度管理：工具与技术</a:t>
            </a:r>
          </a:p>
          <a:p>
            <a:pPr algn="l"/>
            <a:r>
              <a:rPr lang="en-US" altLang="zh-CN" sz="1800" b="0" i="0" u="none" strike="noStrike" baseline="0" dirty="0">
                <a:latin typeface="HelveticaNeue-MediumCond"/>
              </a:rPr>
              <a:t>6.1.2.1 </a:t>
            </a:r>
            <a:r>
              <a:rPr lang="zh-CN" altLang="en-US" sz="1800" b="0" i="0" u="none" strike="noStrike" baseline="0" dirty="0">
                <a:latin typeface="SourceHanSansSC-Medium"/>
              </a:rPr>
              <a:t>专家判断</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4.1.2.1 </a:t>
            </a:r>
            <a:r>
              <a:rPr lang="zh-CN" altLang="en-US" sz="1800" b="0" i="0" u="none" strike="noStrike" baseline="0" dirty="0">
                <a:latin typeface="SourceHanSansSC-Regular"/>
              </a:rPr>
              <a:t>节。应征求具备专业知识或在以往类似项目中接受过相关培训的个人或小组的意见：</a:t>
            </a:r>
          </a:p>
          <a:p>
            <a:pPr algn="l"/>
            <a:r>
              <a:rPr lang="zh-CN" altLang="en-US" sz="1800" b="0" i="0" u="none" strike="noStrike" baseline="0" dirty="0">
                <a:latin typeface="SourceHanSansSC-Regular"/>
              </a:rPr>
              <a:t>进度计划的编制、管理和控制；</a:t>
            </a:r>
          </a:p>
          <a:p>
            <a:pPr algn="l"/>
            <a:r>
              <a:rPr lang="zh-CN" altLang="en-US" sz="1800" b="0" i="0" u="none" strike="noStrike" baseline="0" dirty="0">
                <a:latin typeface="SourceHanSansSC-Regular"/>
              </a:rPr>
              <a:t>进度计划方法（如预测型或适应型生命周期）；</a:t>
            </a:r>
          </a:p>
          <a:p>
            <a:pPr algn="l"/>
            <a:r>
              <a:rPr lang="zh-CN" altLang="en-US" sz="1800" b="0" i="0" u="none" strike="noStrike" baseline="0" dirty="0">
                <a:latin typeface="SourceHanSansSC-Regular"/>
              </a:rPr>
              <a:t>进度计划软件；</a:t>
            </a:r>
          </a:p>
          <a:p>
            <a:pPr algn="l"/>
            <a:r>
              <a:rPr lang="zh-CN" altLang="en-US" sz="1800" b="0" i="0" u="none" strike="noStrike" baseline="0" dirty="0">
                <a:latin typeface="SourceHanSansSC-Regular"/>
              </a:rPr>
              <a:t>项目所在的特定行业。</a:t>
            </a:r>
          </a:p>
          <a:p>
            <a:pPr algn="l"/>
            <a:r>
              <a:rPr lang="en-US" altLang="zh-CN" sz="1800" b="0" i="0" u="none" strike="noStrike" baseline="0" dirty="0">
                <a:latin typeface="HelveticaNeue-MediumCond"/>
              </a:rPr>
              <a:t>6.1.2.2 </a:t>
            </a:r>
            <a:r>
              <a:rPr lang="zh-CN" altLang="en-US" sz="1800" b="0" i="0" u="none" strike="noStrike" baseline="0" dirty="0">
                <a:latin typeface="SourceHanSansSC-Medium"/>
              </a:rPr>
              <a:t>数据分析</a:t>
            </a:r>
          </a:p>
          <a:p>
            <a:pPr algn="l"/>
            <a:r>
              <a:rPr lang="zh-CN" altLang="en-US" sz="1800" b="0" i="0" u="none" strike="noStrike" baseline="0" dirty="0">
                <a:latin typeface="SourceHanSansSC-Regular"/>
              </a:rPr>
              <a:t>适用于本过程的数据分析技术包括（但不限于）备选方案分析。备选方案分析可包括确定采用哪些进度计划方法，以及如何将不同方法整合到项目中；此外，它还可以包括确定进度计划的详细程度、滚动式规划的持续时间，以及审查和更新频率。管理进度所需的计划详细程度与更新计划所需的时间量之间的平衡，应针对各个项目具体而言。</a:t>
            </a:r>
          </a:p>
          <a:p>
            <a:pPr algn="l"/>
            <a:r>
              <a:rPr lang="en-US" altLang="zh-CN" sz="1800" b="0" i="0" u="none" strike="noStrike" baseline="0" dirty="0">
                <a:latin typeface="HelveticaNeue-MediumCond"/>
              </a:rPr>
              <a:t>6.1.2.3 </a:t>
            </a:r>
            <a:r>
              <a:rPr lang="zh-CN" altLang="en-US" sz="1800" b="0" i="0" u="none" strike="noStrike" baseline="0" dirty="0">
                <a:latin typeface="SourceHanSansSC-Medium"/>
              </a:rPr>
              <a:t>会议</a:t>
            </a:r>
          </a:p>
          <a:p>
            <a:pPr algn="l"/>
            <a:r>
              <a:rPr lang="zh-CN" altLang="en-US" sz="1800" b="0" i="0" u="none" strike="noStrike" baseline="0" dirty="0">
                <a:latin typeface="SourceHanSansSC-Regular"/>
              </a:rPr>
              <a:t>项目团队可能举行规划会议来制定进度管理计划。参会人员可能包括项目经理、项目发起人、选定的项目团队成员、选定的相关方、进度计划或执行负责人，以及其他必要人员。</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a:t>
            </a:fld>
            <a:endParaRPr lang="zh-CN" altLang="en-US"/>
          </a:p>
        </p:txBody>
      </p:sp>
    </p:spTree>
    <p:extLst>
      <p:ext uri="{BB962C8B-B14F-4D97-AF65-F5344CB8AC3E}">
        <p14:creationId xmlns:p14="http://schemas.microsoft.com/office/powerpoint/2010/main" val="26294667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a:t>
            </a:fld>
            <a:endParaRPr lang="zh-CN" altLang="en-US"/>
          </a:p>
        </p:txBody>
      </p:sp>
    </p:spTree>
    <p:extLst>
      <p:ext uri="{BB962C8B-B14F-4D97-AF65-F5344CB8AC3E}">
        <p14:creationId xmlns:p14="http://schemas.microsoft.com/office/powerpoint/2010/main" val="24872080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dirty="0"/>
              <a:t>那么，首先我们解释什么是活动？</a:t>
            </a:r>
          </a:p>
          <a:p>
            <a:r>
              <a:rPr lang="zh-CN" altLang="en-US" sz="1800" dirty="0"/>
              <a:t>活动  </a:t>
            </a:r>
            <a:r>
              <a:rPr lang="en-US" altLang="zh-CN" sz="1800" dirty="0"/>
              <a:t>ACTIVITY ----</a:t>
            </a:r>
            <a:r>
              <a:rPr lang="zh-CN" altLang="en-US" sz="1800" dirty="0"/>
              <a:t>项目过程中的工作单元，一个活动通常具有预定的时间，预定的成本，和预定的资源需求。（</a:t>
            </a:r>
            <a:r>
              <a:rPr lang="en-US" altLang="zh-CN" sz="1800" dirty="0"/>
              <a:t>WBS</a:t>
            </a:r>
            <a:r>
              <a:rPr lang="zh-CN" altLang="en-US" sz="1800" dirty="0"/>
              <a:t>最低层工作包）</a:t>
            </a:r>
          </a:p>
          <a:p>
            <a:r>
              <a:rPr lang="zh-CN" altLang="en-US" sz="1800" dirty="0"/>
              <a:t>活动定义过程是对</a:t>
            </a:r>
            <a:r>
              <a:rPr lang="en-US" altLang="zh-CN" sz="1800" dirty="0"/>
              <a:t>WBS</a:t>
            </a:r>
            <a:r>
              <a:rPr lang="zh-CN" altLang="en-US" sz="1800" dirty="0"/>
              <a:t>中的工作包元素进行的进一步分解，用以确认和描述一些特定的活动，完成了这些活动意味着完成了</a:t>
            </a:r>
            <a:r>
              <a:rPr lang="en-US" altLang="zh-CN" sz="1800" dirty="0"/>
              <a:t>WBS</a:t>
            </a:r>
            <a:r>
              <a:rPr lang="zh-CN" altLang="en-US" sz="1800" dirty="0"/>
              <a:t>中的项目可交付成果。</a:t>
            </a:r>
          </a:p>
          <a:p>
            <a:r>
              <a:rPr lang="zh-CN" altLang="en-US" sz="1800" dirty="0"/>
              <a:t>通过活动定义这一过程可使项目目标体现出来。项目活动清单中应该包含项目中的所有活动，每项活动都有一项说明，以便于项目组成员理解这是一项什么工作，如何完成这项工作等。</a:t>
            </a:r>
          </a:p>
          <a:p>
            <a:r>
              <a:rPr lang="zh-CN" altLang="en-US" sz="1800" dirty="0"/>
              <a:t>活动定义过程必须是项目时间管理的第一个过程。</a:t>
            </a:r>
          </a:p>
          <a:p>
            <a:r>
              <a:rPr lang="zh-CN" altLang="en-US" sz="1800" dirty="0"/>
              <a:t>当你从事大型项目时，这一步骤非常必要，大型项目的</a:t>
            </a:r>
            <a:r>
              <a:rPr lang="en-US" altLang="zh-CN" sz="1800" dirty="0"/>
              <a:t>WBS</a:t>
            </a:r>
            <a:r>
              <a:rPr lang="zh-CN" altLang="en-US" sz="1800" dirty="0"/>
              <a:t>通常只分解到第三层或者第四层。在这些层次下的工作将由子项目的项目经理进一步分解，直到能标识出其中具体的项目活动。</a:t>
            </a:r>
          </a:p>
          <a:p>
            <a:r>
              <a:rPr lang="zh-CN" altLang="en-US" sz="1800" dirty="0"/>
              <a:t>在中小型项目中，项目活动定义经常是在构造</a:t>
            </a:r>
            <a:r>
              <a:rPr lang="en-US" altLang="zh-CN" sz="1800" dirty="0"/>
              <a:t>WBS</a:t>
            </a:r>
            <a:r>
              <a:rPr lang="zh-CN" altLang="en-US" sz="1800" dirty="0"/>
              <a:t>时就已完成，</a:t>
            </a:r>
            <a:endParaRPr lang="en-US" altLang="zh-CN" sz="1800" b="0" i="0" u="none" strike="noStrike" baseline="0" dirty="0">
              <a:latin typeface="HelveticaNeue-MediumCond"/>
            </a:endParaRPr>
          </a:p>
          <a:p>
            <a:pPr algn="l"/>
            <a:endParaRPr lang="en-US" altLang="zh-CN" sz="1800" b="0" i="0" u="none" strike="noStrike" baseline="0" dirty="0">
              <a:latin typeface="HelveticaNeue-MediumCond"/>
            </a:endParaRPr>
          </a:p>
          <a:p>
            <a:pPr algn="l"/>
            <a:r>
              <a:rPr lang="en-US" altLang="zh-CN" sz="1800" b="0" i="0" u="none" strike="noStrike" baseline="0" dirty="0">
                <a:latin typeface="HelveticaNeue-MediumCond"/>
              </a:rPr>
              <a:t>6.2.1 </a:t>
            </a:r>
            <a:r>
              <a:rPr lang="zh-CN" altLang="en-US" sz="1800" b="0" i="0" u="none" strike="noStrike" baseline="0" dirty="0">
                <a:latin typeface="SourceHanSansSC-Medium"/>
              </a:rPr>
              <a:t>定义活动：输入</a:t>
            </a:r>
          </a:p>
          <a:p>
            <a:pPr algn="l"/>
            <a:r>
              <a:rPr lang="en-US" altLang="zh-CN" sz="1800" b="0" i="0" u="none" strike="noStrike" baseline="0" dirty="0">
                <a:latin typeface="HelveticaNeue-MediumCond"/>
              </a:rPr>
              <a:t>6.2.1.1 </a:t>
            </a:r>
            <a:r>
              <a:rPr lang="zh-CN" altLang="en-US" sz="1800" b="0" i="0" u="none" strike="noStrike" baseline="0" dirty="0">
                <a:latin typeface="SourceHanSansSC-Medium"/>
              </a:rPr>
              <a:t>项目管理计划</a:t>
            </a:r>
          </a:p>
          <a:p>
            <a:pPr algn="l"/>
            <a:r>
              <a:rPr lang="zh-CN" altLang="en-US" sz="1800" b="0" i="0" u="none" strike="noStrike" baseline="0" dirty="0">
                <a:latin typeface="SourceHanSansSC-Medium"/>
              </a:rPr>
              <a:t>见 </a:t>
            </a:r>
            <a:r>
              <a:rPr lang="en-US" altLang="zh-CN" sz="1800" b="0" i="0" u="none" strike="noStrike" baseline="0" dirty="0">
                <a:latin typeface="HelveticaNeue-Condensed"/>
              </a:rPr>
              <a:t>4.2.3.1 </a:t>
            </a:r>
            <a:r>
              <a:rPr lang="zh-CN" altLang="en-US" sz="1800" b="0" i="0" u="none" strike="noStrike" baseline="0" dirty="0">
                <a:latin typeface="SourceHanSansSC-Medium"/>
              </a:rPr>
              <a:t>节。项目管理计划组件包括（但不限于）：</a:t>
            </a:r>
          </a:p>
          <a:p>
            <a:pPr algn="l"/>
            <a:r>
              <a:rPr lang="zh-CN" altLang="en-US" sz="1800" b="1" i="0" u="none" strike="noStrike" baseline="0" dirty="0">
                <a:latin typeface="SourceHanSansSC-Bold"/>
              </a:rPr>
              <a:t>进度管理计划。</a:t>
            </a:r>
            <a:r>
              <a:rPr lang="zh-CN" altLang="en-US" sz="1800" b="0" i="0" u="none" strike="noStrike" baseline="0" dirty="0">
                <a:latin typeface="SourceHanSansSC-Regular"/>
              </a:rPr>
              <a:t>见 </a:t>
            </a:r>
            <a:r>
              <a:rPr lang="en-US" altLang="zh-CN" sz="1800" b="0" i="0" u="none" strike="noStrike" baseline="0" dirty="0">
                <a:latin typeface="HelveticaNeue-Condensed"/>
              </a:rPr>
              <a:t>6.1.3.1 </a:t>
            </a:r>
            <a:r>
              <a:rPr lang="zh-CN" altLang="en-US" sz="1800" b="0" i="0" u="none" strike="noStrike" baseline="0" dirty="0">
                <a:latin typeface="SourceHanSansSC-Regular"/>
              </a:rPr>
              <a:t>节。进度管理计划定义进度计划方法、滚动式规划的持续时间，以及管理工作所需的详细程度。</a:t>
            </a:r>
          </a:p>
          <a:p>
            <a:pPr algn="l"/>
            <a:r>
              <a:rPr lang="zh-CN" altLang="en-US" sz="1800" b="1" i="0" u="none" strike="noStrike" baseline="0" dirty="0">
                <a:latin typeface="SourceHanSansSC-Bold"/>
              </a:rPr>
              <a:t>范围基准。</a:t>
            </a:r>
            <a:r>
              <a:rPr lang="zh-CN" altLang="en-US" sz="1800" b="0" i="0" u="none" strike="noStrike" baseline="0" dirty="0">
                <a:latin typeface="SourceHanSansSC-Regular"/>
              </a:rPr>
              <a:t>见 </a:t>
            </a:r>
            <a:r>
              <a:rPr lang="en-US" altLang="zh-CN" sz="1800" b="0" i="0" u="none" strike="noStrike" baseline="0" dirty="0">
                <a:latin typeface="HelveticaNeue-Condensed"/>
              </a:rPr>
              <a:t>5.4.3.1 </a:t>
            </a:r>
            <a:r>
              <a:rPr lang="zh-CN" altLang="en-US" sz="1800" b="0" i="0" u="none" strike="noStrike" baseline="0" dirty="0">
                <a:latin typeface="SourceHanSansSC-Regular"/>
              </a:rPr>
              <a:t>节。在定义活动时，需明确考虑范围基准中的项目 </a:t>
            </a:r>
            <a:r>
              <a:rPr lang="en-US" altLang="zh-CN" sz="1800" b="0" i="0" u="none" strike="noStrike" baseline="0" dirty="0">
                <a:latin typeface="HelveticaNeue-Condensed"/>
              </a:rPr>
              <a:t>WBS</a:t>
            </a:r>
            <a:r>
              <a:rPr lang="zh-CN" altLang="en-US" sz="1800" b="0" i="0" u="none" strike="noStrike" baseline="0" dirty="0">
                <a:latin typeface="SourceHanSansSC-Regular"/>
              </a:rPr>
              <a:t>、可交付成果、制约因素和假设条件。</a:t>
            </a:r>
          </a:p>
          <a:p>
            <a:pPr algn="l"/>
            <a:r>
              <a:rPr lang="en-US" altLang="zh-CN" sz="1800" b="0" i="0" u="none" strike="noStrike" baseline="0" dirty="0">
                <a:latin typeface="HelveticaNeue-MediumCond"/>
              </a:rPr>
              <a:t>6.2.1.2 </a:t>
            </a:r>
            <a:r>
              <a:rPr lang="zh-CN" altLang="en-US" sz="1800" b="1" i="0" u="none" strike="noStrike" baseline="0" dirty="0">
                <a:latin typeface="SourceHanSansSC-Bold"/>
              </a:rPr>
              <a:t>事业环境因素</a:t>
            </a:r>
          </a:p>
          <a:p>
            <a:pPr algn="l"/>
            <a:r>
              <a:rPr lang="zh-CN" altLang="en-US" sz="1800" b="0" i="0" u="none" strike="noStrike" baseline="0" dirty="0">
                <a:latin typeface="SourceHanSansSC-Regular"/>
              </a:rPr>
              <a:t>影响定义活动过程的事业环境因素包括（但不限于）：</a:t>
            </a:r>
          </a:p>
          <a:p>
            <a:pPr algn="l"/>
            <a:r>
              <a:rPr lang="zh-CN" altLang="en-US" sz="1800" b="0" i="0" u="none" strike="noStrike" baseline="0" dirty="0">
                <a:latin typeface="SourceHanSansSC-Regular"/>
              </a:rPr>
              <a:t>组织文化和结构；</a:t>
            </a:r>
          </a:p>
          <a:p>
            <a:pPr algn="l"/>
            <a:r>
              <a:rPr lang="zh-CN" altLang="en-US" sz="1800" b="0" i="0" u="none" strike="noStrike" baseline="0" dirty="0">
                <a:latin typeface="SourceHanSansSC-Regular"/>
              </a:rPr>
              <a:t>商业数据库中发布的商业信息；</a:t>
            </a:r>
          </a:p>
          <a:p>
            <a:pPr algn="l"/>
            <a:r>
              <a:rPr lang="zh-CN" altLang="en-US" sz="1800" b="0" i="0" u="none" strike="noStrike" baseline="0" dirty="0">
                <a:latin typeface="SourceHanSansSC-Regular"/>
              </a:rPr>
              <a:t>项目管理信息系统 </a:t>
            </a:r>
            <a:r>
              <a:rPr lang="en-US" altLang="zh-CN" sz="1800" b="0" i="0" u="none" strike="noStrike" baseline="0" dirty="0">
                <a:latin typeface="HelveticaNeue-Condensed"/>
              </a:rPr>
              <a:t>(PMIS)</a:t>
            </a:r>
            <a:r>
              <a:rPr lang="zh-CN" altLang="en-US" sz="1800" b="0" i="0" u="none" strike="noStrike" baseline="0" dirty="0">
                <a:latin typeface="SourceHanSansSC-Regular"/>
              </a:rPr>
              <a:t>。</a:t>
            </a:r>
          </a:p>
          <a:p>
            <a:pPr algn="l"/>
            <a:r>
              <a:rPr lang="en-US" altLang="zh-CN" sz="1800" b="0" i="0" u="none" strike="noStrike" baseline="0" dirty="0">
                <a:latin typeface="HelveticaNeue-MediumCond"/>
              </a:rPr>
              <a:t>6.2.1.3 </a:t>
            </a:r>
            <a:r>
              <a:rPr lang="zh-CN" altLang="en-US" sz="1800" b="0" i="0" u="none" strike="noStrike" baseline="0" dirty="0">
                <a:latin typeface="SourceHanSansSC-Medium"/>
              </a:rPr>
              <a:t>组织过程资产</a:t>
            </a:r>
          </a:p>
          <a:p>
            <a:pPr algn="l"/>
            <a:r>
              <a:rPr lang="zh-CN" altLang="en-US" sz="1800" b="0" i="0" u="none" strike="noStrike" baseline="0" dirty="0">
                <a:latin typeface="SourceHanSansSC-Regular"/>
              </a:rPr>
              <a:t>能够影响定义活动过程的组织过程资产包括（但不限于）：</a:t>
            </a:r>
          </a:p>
          <a:p>
            <a:pPr algn="l"/>
            <a:r>
              <a:rPr lang="zh-CN" altLang="en-US" sz="1800" b="0" i="0" u="none" strike="noStrike" baseline="0" dirty="0">
                <a:latin typeface="SourceHanSansSC-Regular"/>
              </a:rPr>
              <a:t>经验教训知识库，其中包含以往类似项目的活动清单等历史信息；</a:t>
            </a:r>
          </a:p>
          <a:p>
            <a:pPr algn="l"/>
            <a:r>
              <a:rPr lang="zh-CN" altLang="en-US" sz="1800" b="0" i="0" u="none" strike="noStrike" baseline="0" dirty="0">
                <a:latin typeface="SourceHanSansSC-Regular"/>
              </a:rPr>
              <a:t>标准化的流程；</a:t>
            </a:r>
          </a:p>
          <a:p>
            <a:pPr algn="l"/>
            <a:r>
              <a:rPr lang="zh-CN" altLang="en-US" sz="1800" b="0" i="0" u="none" strike="noStrike" baseline="0" dirty="0">
                <a:latin typeface="SourceHanSansSC-Regular"/>
              </a:rPr>
              <a:t>以往项目中包含标准活动清单或部分活动清单的模板；</a:t>
            </a:r>
          </a:p>
          <a:p>
            <a:pPr algn="l"/>
            <a:r>
              <a:rPr lang="zh-CN" altLang="en-US" sz="1800" b="0" i="0" u="none" strike="noStrike" baseline="0" dirty="0">
                <a:latin typeface="SourceHanSansSC-Regular"/>
              </a:rPr>
              <a:t>现有与活动规划相关的正式和非正式的政策、程序和指南，如进度规划方法论，在编制活动定义时应考虑这些因素。</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12</a:t>
            </a:fld>
            <a:endParaRPr lang="zh-CN" altLang="en-US"/>
          </a:p>
        </p:txBody>
      </p:sp>
    </p:spTree>
    <p:extLst>
      <p:ext uri="{BB962C8B-B14F-4D97-AF65-F5344CB8AC3E}">
        <p14:creationId xmlns:p14="http://schemas.microsoft.com/office/powerpoint/2010/main" val="6792474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活动定义的目标是确保项目团队对他们作为项目范围的一部分所必须完成的所有工作有一个完整的理解。</a:t>
            </a:r>
          </a:p>
          <a:p>
            <a:r>
              <a:rPr lang="zh-CN" altLang="en-US" dirty="0"/>
              <a:t>活动定义通常要求项目团队制定更加详细的工作分解结构和辅助解释（支持细节）。</a:t>
            </a:r>
          </a:p>
          <a:p>
            <a:endParaRPr lang="zh-CN" altLang="en-US" dirty="0"/>
          </a:p>
          <a:p>
            <a:r>
              <a:rPr lang="zh-CN" altLang="en-US" dirty="0"/>
              <a:t>随着项目团队成员进一步定义完成工作所需的各项活动，工作分解结构常常得到进一步的分解细化。</a:t>
            </a:r>
          </a:p>
          <a:p>
            <a:r>
              <a:rPr lang="zh-CN" altLang="en-US" dirty="0"/>
              <a:t>如前所述，活动或任务是项目进行其间需要完成的工作单元，它们有预期的时间，成本和资源要求。活动定义也会产生一些辅助性的详细资料，它将重要的产品信息，与具体活动相关的假设和约束条件形成相应的文档资料。</a:t>
            </a:r>
          </a:p>
          <a:p>
            <a:r>
              <a:rPr lang="zh-CN" altLang="en-US" dirty="0"/>
              <a:t>在开始项目时间管理的下一个阶段之前，项目团队应与项目干系人一起，审查修订的工作分解结构和依据资料。</a:t>
            </a:r>
            <a:endParaRPr lang="en-US" altLang="zh-CN" dirty="0"/>
          </a:p>
          <a:p>
            <a:endParaRPr lang="en-US" altLang="zh-CN" dirty="0"/>
          </a:p>
          <a:p>
            <a:pPr algn="l"/>
            <a:r>
              <a:rPr lang="en-US" altLang="zh-CN" sz="1800" b="0" i="0" u="none" strike="noStrike" baseline="0" dirty="0">
                <a:latin typeface="HelveticaNeue-MediumCond"/>
              </a:rPr>
              <a:t>6.2.2 </a:t>
            </a:r>
            <a:r>
              <a:rPr lang="zh-CN" altLang="en-US" sz="1800" b="0" i="0" u="none" strike="noStrike" baseline="0" dirty="0">
                <a:latin typeface="SourceHanSansSC-Medium"/>
              </a:rPr>
              <a:t>定义活动：工具与技术</a:t>
            </a:r>
          </a:p>
          <a:p>
            <a:pPr algn="l"/>
            <a:r>
              <a:rPr lang="en-US" altLang="zh-CN" sz="1800" b="0" i="0" u="none" strike="noStrike" baseline="0" dirty="0">
                <a:latin typeface="HelveticaNeue-MediumCond"/>
              </a:rPr>
              <a:t>6.2.2.1 </a:t>
            </a:r>
            <a:r>
              <a:rPr lang="zh-CN" altLang="en-US" sz="1800" b="0" i="0" u="none" strike="noStrike" baseline="0" dirty="0">
                <a:latin typeface="SourceHanSansSC-Medium"/>
              </a:rPr>
              <a:t>专家判断</a:t>
            </a:r>
          </a:p>
          <a:p>
            <a:pPr algn="l"/>
            <a:r>
              <a:rPr lang="zh-CN" altLang="en-US" sz="1800" b="0" i="0" u="none" strike="noStrike" baseline="0" dirty="0">
                <a:latin typeface="SourceHanSansSC-Regular"/>
              </a:rPr>
              <a:t>应征求了解以往类似项目和当前项目的个人或小组的专业意见。</a:t>
            </a:r>
            <a:endParaRPr lang="en-US" altLang="zh-CN" dirty="0"/>
          </a:p>
          <a:p>
            <a:pPr algn="l"/>
            <a:r>
              <a:rPr lang="en-US" altLang="zh-CN" sz="1800" b="0" i="0" u="none" strike="noStrike" baseline="0" dirty="0">
                <a:latin typeface="HelveticaNeue-MediumCond"/>
              </a:rPr>
              <a:t>6.2.2.2 </a:t>
            </a:r>
            <a:r>
              <a:rPr lang="zh-CN" altLang="en-US" sz="1800" b="0" i="0" u="none" strike="noStrike" baseline="0" dirty="0">
                <a:latin typeface="SourceHanSansSC-Medium"/>
              </a:rPr>
              <a:t>分解</a:t>
            </a:r>
          </a:p>
          <a:p>
            <a:pPr algn="l"/>
            <a:r>
              <a:rPr lang="zh-CN" altLang="en-US" sz="1800" b="0" i="0" u="none" strike="noStrike" baseline="0" dirty="0">
                <a:latin typeface="SourceHanSansSC-Regular"/>
              </a:rPr>
              <a:t>分解是一种把项目范围和项目可交付成果逐步划分为更小、更便于管理的组成部分的技术。活动表示完成工作包所需的投入。定义活动过程的最终输出是活动而不是可交付成果，可交付成果是创建 </a:t>
            </a:r>
            <a:r>
              <a:rPr lang="en-US" altLang="zh-CN" sz="1800" b="0" i="0" u="none" strike="noStrike" baseline="0" dirty="0">
                <a:latin typeface="HelveticaNeue-Condensed"/>
              </a:rPr>
              <a:t>WBS </a:t>
            </a:r>
            <a:r>
              <a:rPr lang="zh-CN" altLang="en-US" sz="1800" b="0" i="0" u="none" strike="noStrike" baseline="0" dirty="0">
                <a:latin typeface="SourceHanSansSC-Regular"/>
              </a:rPr>
              <a:t>过程（见 </a:t>
            </a:r>
            <a:r>
              <a:rPr lang="en-US" altLang="zh-CN" sz="1800" b="0" i="0" u="none" strike="noStrike" baseline="0" dirty="0">
                <a:latin typeface="HelveticaNeue-Condensed"/>
              </a:rPr>
              <a:t>5.4 </a:t>
            </a:r>
            <a:r>
              <a:rPr lang="zh-CN" altLang="en-US" sz="1800" b="0" i="0" u="none" strike="noStrike" baseline="0" dirty="0">
                <a:latin typeface="SourceHanSansSC-Regular"/>
              </a:rPr>
              <a:t>节）的输出。</a:t>
            </a:r>
          </a:p>
          <a:p>
            <a:pPr algn="l"/>
            <a:r>
              <a:rPr lang="en-US" altLang="zh-CN" sz="1800" b="0" i="0" u="none" strike="noStrike" baseline="0" dirty="0">
                <a:latin typeface="HelveticaNeue-Condensed"/>
              </a:rPr>
              <a:t>WBS</a:t>
            </a:r>
            <a:r>
              <a:rPr lang="zh-CN" altLang="en-US" sz="1800" b="0" i="0" u="none" strike="noStrike" baseline="0" dirty="0">
                <a:latin typeface="SourceHanSansSC-Regular"/>
              </a:rPr>
              <a:t>、</a:t>
            </a:r>
            <a:r>
              <a:rPr lang="en-US" altLang="zh-CN" sz="1800" b="0" i="0" u="none" strike="noStrike" baseline="0" dirty="0">
                <a:latin typeface="HelveticaNeue-Condensed"/>
              </a:rPr>
              <a:t>WBS </a:t>
            </a:r>
            <a:r>
              <a:rPr lang="zh-CN" altLang="en-US" sz="1800" b="0" i="0" u="none" strike="noStrike" baseline="0" dirty="0">
                <a:latin typeface="SourceHanSansSC-Regular"/>
              </a:rPr>
              <a:t>词典和活动清单可依次或同时编制，其中 </a:t>
            </a:r>
            <a:r>
              <a:rPr lang="en-US" altLang="zh-CN" sz="1800" b="0" i="0" u="none" strike="noStrike" baseline="0" dirty="0">
                <a:latin typeface="HelveticaNeue-Condensed"/>
              </a:rPr>
              <a:t>WBS </a:t>
            </a:r>
            <a:r>
              <a:rPr lang="zh-CN" altLang="en-US" sz="1800" b="0" i="0" u="none" strike="noStrike" baseline="0" dirty="0">
                <a:latin typeface="SourceHanSansSC-Regular"/>
              </a:rPr>
              <a:t>和 </a:t>
            </a:r>
            <a:r>
              <a:rPr lang="en-US" altLang="zh-CN" sz="1800" b="0" i="0" u="none" strike="noStrike" baseline="0" dirty="0">
                <a:latin typeface="HelveticaNeue-Condensed"/>
              </a:rPr>
              <a:t>WBS </a:t>
            </a:r>
            <a:r>
              <a:rPr lang="zh-CN" altLang="en-US" sz="1800" b="0" i="0" u="none" strike="noStrike" baseline="0" dirty="0">
                <a:latin typeface="SourceHanSansSC-Regular"/>
              </a:rPr>
              <a:t>词典是制定最终活动清单的基础。</a:t>
            </a:r>
            <a:r>
              <a:rPr lang="en-US" altLang="zh-CN" sz="1800" b="0" i="0" u="none" strike="noStrike" baseline="0" dirty="0">
                <a:latin typeface="HelveticaNeue-Condensed"/>
              </a:rPr>
              <a:t>WBS </a:t>
            </a:r>
            <a:r>
              <a:rPr lang="zh-CN" altLang="en-US" sz="1800" b="0" i="0" u="none" strike="noStrike" baseline="0" dirty="0">
                <a:latin typeface="SourceHanSansSC-Regular"/>
              </a:rPr>
              <a:t>中的每个工作包都需分解成活动，以便通过这些活动来完成相应的可交付成果。让团队成员参与分解过程，有助于得到更好、更准确的结果。</a:t>
            </a:r>
          </a:p>
          <a:p>
            <a:pPr algn="l"/>
            <a:r>
              <a:rPr lang="en-US" altLang="zh-CN" sz="1800" b="0" i="0" u="none" strike="noStrike" baseline="0" dirty="0">
                <a:latin typeface="HelveticaNeue-MediumCond"/>
              </a:rPr>
              <a:t>6.2.2.3 </a:t>
            </a:r>
            <a:r>
              <a:rPr lang="zh-CN" altLang="en-US" sz="1800" b="0" i="0" u="none" strike="noStrike" baseline="0" dirty="0">
                <a:latin typeface="SourceHanSansSC-Medium"/>
              </a:rPr>
              <a:t>滚动式规划</a:t>
            </a:r>
          </a:p>
          <a:p>
            <a:pPr algn="l"/>
            <a:r>
              <a:rPr lang="zh-CN" altLang="en-US" sz="1800" b="0" i="0" u="none" strike="noStrike" baseline="0" dirty="0">
                <a:latin typeface="SourceHanSansSC-Regular"/>
              </a:rPr>
              <a:t>滚动式规划是一种迭代式的规划技术，即详细规划近期要完成的工作，同时在较高层级上粗略规划远期工作。它是一种渐进明细的规划方式，适用于工作包、规划包以及采用敏捷或瀑布式方法的发布规划。因此，在项目生命周期的不同阶段，工作的详细程度会有所不同。在早期的战略规划阶段，信息尚不够明确，工作包只能分解到已知的详细水平；而后，随着了解到更多的信息，近期即将实施的工作包就可以分解到具体的活动。</a:t>
            </a:r>
          </a:p>
          <a:p>
            <a:pPr algn="l"/>
            <a:r>
              <a:rPr lang="en-US" altLang="zh-CN" sz="1800" b="0" i="0" u="none" strike="noStrike" baseline="0" dirty="0">
                <a:latin typeface="HelveticaNeue-MediumCond"/>
              </a:rPr>
              <a:t>6.2.2.4 </a:t>
            </a:r>
            <a:r>
              <a:rPr lang="zh-CN" altLang="en-US" sz="1800" b="0" i="0" u="none" strike="noStrike" baseline="0" dirty="0">
                <a:latin typeface="SourceHanSansSC-Medium"/>
              </a:rPr>
              <a:t>会议</a:t>
            </a:r>
          </a:p>
          <a:p>
            <a:pPr algn="l"/>
            <a:r>
              <a:rPr lang="zh-CN" altLang="en-US" sz="1800" b="0" i="0" u="none" strike="noStrike" baseline="0" dirty="0">
                <a:latin typeface="SourceHanSansSC-Regular"/>
              </a:rPr>
              <a:t>会议可以是面对面或虚拟会议，正式或非正式会议。参会者可以是团队成员或主题专家，目的是定义完成工作所需的活动。</a:t>
            </a:r>
            <a:endParaRPr lang="zh-CN" altLang="en-US" dirty="0"/>
          </a:p>
          <a:p>
            <a:endParaRPr lang="zh-CN" altLang="en-US" dirty="0"/>
          </a:p>
          <a:p>
            <a:r>
              <a:rPr lang="zh-CN" altLang="en-US" dirty="0"/>
              <a:t>在开头的案例中，苏有了一份在线注册系统的项目合同，及详细的规范。</a:t>
            </a:r>
          </a:p>
          <a:p>
            <a:r>
              <a:rPr lang="zh-CN" altLang="en-US" dirty="0"/>
              <a:t>他们应把注意力集中在如何在五一前使系统运转起来，这样一来学院就可以在秋季学期中开始使用新系统来注册。为了制定项目进度计划，苏和他的团队必须审查合同、详细规范、预期运转日期，创建一个更加详细的工作分解结构。并且突出最重要的产品信息，假设和约束条件。在确定了项目活动更加详细的定义之后，应该和客户一起来审查这些定义，确保其正常地进行。</a:t>
            </a:r>
            <a:endParaRPr lang="en-US" altLang="zh-CN" dirty="0"/>
          </a:p>
          <a:p>
            <a:endParaRPr lang="en-US" altLang="zh-CN" dirty="0"/>
          </a:p>
          <a:p>
            <a:pPr algn="l"/>
            <a:r>
              <a:rPr lang="en-US" altLang="zh-CN" sz="1800" b="0" i="0" u="none" strike="noStrike" baseline="0" dirty="0">
                <a:latin typeface="HelveticaNeue-MediumCond"/>
              </a:rPr>
              <a:t>6.2.3 </a:t>
            </a:r>
            <a:r>
              <a:rPr lang="zh-CN" altLang="en-US" sz="1800" b="0" i="0" u="none" strike="noStrike" baseline="0" dirty="0">
                <a:latin typeface="SourceHanSansSC-Medium"/>
              </a:rPr>
              <a:t>定义活动：输出</a:t>
            </a:r>
          </a:p>
          <a:p>
            <a:pPr algn="l"/>
            <a:r>
              <a:rPr lang="en-US" altLang="zh-CN" sz="1800" b="0" i="0" u="none" strike="noStrike" baseline="0" dirty="0">
                <a:latin typeface="HelveticaNeue-MediumCond"/>
              </a:rPr>
              <a:t>6.2.3.1 </a:t>
            </a:r>
            <a:r>
              <a:rPr lang="zh-CN" altLang="en-US" sz="1800" b="0" i="0" u="none" strike="noStrike" baseline="0" dirty="0">
                <a:latin typeface="SourceHanSansSC-Medium"/>
              </a:rPr>
              <a:t>活动清单</a:t>
            </a:r>
          </a:p>
          <a:p>
            <a:pPr algn="l"/>
            <a:r>
              <a:rPr lang="zh-CN" altLang="en-US" sz="1800" b="0" i="0" u="none" strike="noStrike" baseline="0" dirty="0">
                <a:latin typeface="SourceHanSansSC-Regular"/>
              </a:rPr>
              <a:t>活动清单包含项目所需的进度活动。对于使用滚动式规划或敏捷技术的项目，活动清单会在项目进展过程中得到定期更新。活动清单包括每个活动的标识及工作范围详述，使项目团队成员知道需要完成什么工作。</a:t>
            </a:r>
            <a:endParaRPr lang="en-US" altLang="zh-CN" dirty="0"/>
          </a:p>
          <a:p>
            <a:pPr algn="l"/>
            <a:r>
              <a:rPr lang="en-US" altLang="zh-CN" sz="1800" b="0" i="0" u="none" strike="noStrike" baseline="0" dirty="0">
                <a:latin typeface="HelveticaNeue-MediumCond"/>
              </a:rPr>
              <a:t>6.2.3.2 </a:t>
            </a:r>
            <a:r>
              <a:rPr lang="zh-CN" altLang="en-US" sz="1800" b="0" i="0" u="none" strike="noStrike" baseline="0" dirty="0">
                <a:latin typeface="SourceHanSansSC-Medium"/>
              </a:rPr>
              <a:t>活动属性</a:t>
            </a:r>
          </a:p>
          <a:p>
            <a:pPr algn="l"/>
            <a:r>
              <a:rPr lang="zh-CN" altLang="en-US" sz="1800" b="0" i="0" u="none" strike="noStrike" baseline="0" dirty="0">
                <a:latin typeface="SourceHanSansSC-Regular"/>
              </a:rPr>
              <a:t>活动属性是指每项活动所具有的多重属性，用来扩充对活动的描述，活动属性随时间演进。</a:t>
            </a:r>
            <a:r>
              <a:rPr lang="zh-CN" altLang="en-US" sz="1800" b="1" i="0" u="none" strike="noStrike" baseline="0" dirty="0">
                <a:latin typeface="SourceHanSansSC-Regular"/>
              </a:rPr>
              <a:t>在项目初始阶段，活动属性包括</a:t>
            </a:r>
            <a:r>
              <a:rPr lang="zh-CN" altLang="en-US" sz="1800" b="0" i="0" u="none" strike="noStrike" baseline="0" dirty="0">
                <a:latin typeface="SourceHanSansSC-Regular"/>
              </a:rPr>
              <a:t>唯一活动标识 </a:t>
            </a:r>
            <a:r>
              <a:rPr lang="en-US" altLang="zh-CN" sz="1800" b="0" i="0" u="none" strike="noStrike" baseline="0" dirty="0">
                <a:latin typeface="HelveticaNeue-Condensed"/>
              </a:rPr>
              <a:t>(ID)</a:t>
            </a:r>
            <a:r>
              <a:rPr lang="zh-CN" altLang="en-US" sz="1800" b="0" i="0" u="none" strike="noStrike" baseline="0" dirty="0">
                <a:latin typeface="SourceHanSansSC-Regular"/>
              </a:rPr>
              <a:t>、</a:t>
            </a:r>
            <a:r>
              <a:rPr lang="en-US" altLang="zh-CN" sz="1800" b="0" i="0" u="none" strike="noStrike" baseline="0" dirty="0">
                <a:latin typeface="HelveticaNeue-Condensed"/>
              </a:rPr>
              <a:t>WBS </a:t>
            </a:r>
            <a:r>
              <a:rPr lang="zh-CN" altLang="en-US" sz="1800" b="0" i="0" u="none" strike="noStrike" baseline="0" dirty="0">
                <a:latin typeface="SourceHanSansSC-Regular"/>
              </a:rPr>
              <a:t>标识和活动标签或名称；在活动属性编制完成时，</a:t>
            </a:r>
            <a:r>
              <a:rPr lang="zh-CN" altLang="en-US" sz="1800" b="1" i="0" u="none" strike="noStrike" baseline="0" dirty="0">
                <a:latin typeface="SourceHanSansSC-Regular"/>
              </a:rPr>
              <a:t>活动属性可能包括活动描述、紧前活动、紧后活动、逻辑关系、提前量和滞后量、资源需求、强制日期、制约因素和假设条件</a:t>
            </a:r>
            <a:r>
              <a:rPr lang="zh-CN" altLang="en-US" sz="1800" b="0" i="0" u="none" strike="noStrike" baseline="0" dirty="0">
                <a:latin typeface="SourceHanSansSC-Regular"/>
              </a:rPr>
              <a:t>。活动属性可用于识别开展工作的地点、编制开展活动的项目日历，以及相关的活动类型。活动属性还可用于编制进度计划。根据活动属性，可在报告中以各种方式对计划进度活动进行选择、排序和分类。</a:t>
            </a:r>
          </a:p>
          <a:p>
            <a:pPr algn="l"/>
            <a:r>
              <a:rPr lang="en-US" altLang="zh-CN" sz="1800" b="0" i="0" u="none" strike="noStrike" baseline="0" dirty="0">
                <a:latin typeface="HelveticaNeue-MediumCond"/>
              </a:rPr>
              <a:t>6.2.3.3 </a:t>
            </a:r>
            <a:r>
              <a:rPr lang="zh-CN" altLang="en-US" sz="1800" b="0" i="0" u="none" strike="noStrike" baseline="0" dirty="0">
                <a:latin typeface="SourceHanSansSC-Medium"/>
              </a:rPr>
              <a:t>里程碑清单</a:t>
            </a:r>
          </a:p>
          <a:p>
            <a:pPr algn="l"/>
            <a:r>
              <a:rPr lang="zh-CN" altLang="en-US" sz="1800" b="0" i="0" u="none" strike="noStrike" baseline="0" dirty="0">
                <a:latin typeface="SourceHanSansSC-Regular"/>
              </a:rPr>
              <a:t>里程碑是项目中的重要时间点或事件，里程碑清单列出了所有项目里程碑，并指明每个里程碑是强制性的（如合同要求的）还是选择性的（如根据历史信息确定的）。里程碑的持续时间为零，因为它们代表的是一个重要时间点或事件。</a:t>
            </a:r>
          </a:p>
          <a:p>
            <a:pPr algn="l"/>
            <a:r>
              <a:rPr lang="en-US" altLang="zh-CN" sz="1800" b="0" i="0" u="none" strike="noStrike" baseline="0" dirty="0">
                <a:latin typeface="HelveticaNeue-MediumCond"/>
              </a:rPr>
              <a:t>6.2.3.4 </a:t>
            </a:r>
            <a:r>
              <a:rPr lang="zh-CN" altLang="en-US" sz="1800" b="0" i="0" u="none" strike="noStrike" baseline="0" dirty="0">
                <a:latin typeface="SourceHanSansSC-Medium"/>
              </a:rPr>
              <a:t>变更请求</a:t>
            </a:r>
          </a:p>
          <a:p>
            <a:pPr algn="l"/>
            <a:r>
              <a:rPr lang="zh-CN" altLang="en-US" sz="1800" b="0" i="0" u="none" strike="noStrike" baseline="0" dirty="0">
                <a:latin typeface="SourceHanSansSC-Regular"/>
              </a:rPr>
              <a:t>一旦定义项目的基准后，在</a:t>
            </a:r>
            <a:r>
              <a:rPr lang="zh-CN" altLang="en-US" sz="1800" b="1" i="0" u="none" strike="noStrike" baseline="0" dirty="0">
                <a:latin typeface="SourceHanSansSC-Regular"/>
              </a:rPr>
              <a:t>将可交付成果渐进明细为活动的过程中，可能会发现原本不属于项目基准的工作，这样就会提出变更请求</a:t>
            </a:r>
            <a:r>
              <a:rPr lang="zh-CN" altLang="en-US" sz="1800" b="0" i="0" u="none" strike="noStrike" baseline="0" dirty="0">
                <a:latin typeface="SourceHanSansSC-Regular"/>
              </a:rPr>
              <a:t>。在这情况下，应该通过实施整体变更控制过程对变更请求进行审查和处理。</a:t>
            </a:r>
          </a:p>
          <a:p>
            <a:pPr algn="l"/>
            <a:r>
              <a:rPr lang="en-US" altLang="zh-CN" sz="1800" b="0" i="0" u="none" strike="noStrike" baseline="0" dirty="0">
                <a:latin typeface="HelveticaNeue-MediumCond"/>
              </a:rPr>
              <a:t>6.2.3.5 </a:t>
            </a:r>
            <a:r>
              <a:rPr lang="zh-CN" altLang="en-US" sz="1800" b="0" i="0" u="none" strike="noStrike" baseline="0" dirty="0">
                <a:latin typeface="SourceHanSansSC-Medium"/>
              </a:rPr>
              <a:t>项目管理计划更新</a:t>
            </a:r>
          </a:p>
          <a:p>
            <a:pPr algn="l"/>
            <a:r>
              <a:rPr lang="zh-CN" altLang="en-US" sz="1800" b="0" i="0" u="none" strike="noStrike" baseline="0" dirty="0">
                <a:latin typeface="SourceHanSansSC-Regular"/>
              </a:rPr>
              <a:t>项目管理计划的任何变更都以变更请求的形式提出，且通过组织的变更控制过程进行处理。可能需要变更请求的项目管理计划组成部分包括（但不限于）：</a:t>
            </a:r>
          </a:p>
          <a:p>
            <a:pPr algn="l"/>
            <a:r>
              <a:rPr lang="zh-CN" altLang="en-US" sz="1800" b="1" i="0" u="none" strike="noStrike" baseline="0" dirty="0">
                <a:latin typeface="SourceHanSansSC-Bold"/>
              </a:rPr>
              <a:t> 进度基准。</a:t>
            </a:r>
            <a:r>
              <a:rPr lang="zh-CN" altLang="en-US" sz="1800" b="0" i="0" u="none" strike="noStrike" baseline="0" dirty="0">
                <a:latin typeface="SourceHanSansSC-Regular"/>
              </a:rPr>
              <a:t>在整个项目期间，工作包逐渐细化为活动。在这个过程中可能会发现原本不属于项目基准的工作，从而需要修改作为进度基准一部分的交付日期或其他重要的进度里程碑。</a:t>
            </a:r>
          </a:p>
          <a:p>
            <a:pPr algn="l"/>
            <a:r>
              <a:rPr lang="zh-CN" altLang="en-US" sz="1800" b="1" i="0" u="none" strike="noStrike" baseline="0" dirty="0">
                <a:latin typeface="SourceHanSansSC-Bold"/>
              </a:rPr>
              <a:t> 成本基准。</a:t>
            </a:r>
            <a:r>
              <a:rPr lang="zh-CN" altLang="en-US" sz="1800" b="0" i="0" u="none" strike="noStrike" baseline="0" dirty="0">
                <a:latin typeface="SourceHanSansSC-Regular"/>
              </a:rPr>
              <a:t>在针对进度活动的变更获得批准后，需要对成本基准做出相应的变更。</a:t>
            </a:r>
            <a:endParaRPr lang="zh-CN" altLang="en-US" dirty="0"/>
          </a:p>
          <a:p>
            <a:endParaRPr lang="zh-CN" altLang="en-US" dirty="0"/>
          </a:p>
          <a:p>
            <a:r>
              <a:rPr lang="zh-CN" altLang="en-US" dirty="0"/>
              <a:t>正确地定义、审查项目地活动之后，下一步工作就是对这些活动进行排序。</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13</a:t>
            </a:fld>
            <a:endParaRPr lang="zh-CN" altLang="en-US"/>
          </a:p>
        </p:txBody>
      </p:sp>
    </p:spTree>
    <p:extLst>
      <p:ext uri="{BB962C8B-B14F-4D97-AF65-F5344CB8AC3E}">
        <p14:creationId xmlns:p14="http://schemas.microsoft.com/office/powerpoint/2010/main" val="36926995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14</a:t>
            </a:fld>
            <a:endParaRPr lang="zh-CN" altLang="en-US"/>
          </a:p>
        </p:txBody>
      </p:sp>
    </p:spTree>
    <p:extLst>
      <p:ext uri="{BB962C8B-B14F-4D97-AF65-F5344CB8AC3E}">
        <p14:creationId xmlns:p14="http://schemas.microsoft.com/office/powerpoint/2010/main" val="19061855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在项目的活动定义完成以后，项目时间管理的下一个步骤就是活动排序。</a:t>
            </a:r>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活动排序是。。。</a:t>
            </a:r>
            <a:endParaRPr kumimoji="1" lang="en-US" altLang="zh-CN" sz="12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r>
              <a:rPr lang="zh-CN" altLang="zh-CN" b="1" dirty="0"/>
              <a:t>重点输入</a:t>
            </a:r>
          </a:p>
          <a:p>
            <a:r>
              <a:rPr lang="zh-CN" altLang="zh-CN" dirty="0"/>
              <a:t>进度管理计划、范围</a:t>
            </a:r>
            <a:r>
              <a:rPr lang="zh-CN" altLang="en-US" dirty="0"/>
              <a:t>基准</a:t>
            </a:r>
            <a:r>
              <a:rPr lang="en-US" altLang="zh-CN" dirty="0"/>
              <a:t>(</a:t>
            </a:r>
            <a:r>
              <a:rPr lang="zh-CN" altLang="en-US" dirty="0"/>
              <a:t>考虑其</a:t>
            </a:r>
            <a:r>
              <a:rPr lang="zh-CN" altLang="en-US" sz="1800" dirty="0">
                <a:latin typeface="SourceHanSansSC-Regular"/>
              </a:rPr>
              <a:t>中的项目 </a:t>
            </a:r>
            <a:r>
              <a:rPr lang="en-US" altLang="zh-CN" sz="1800" dirty="0">
                <a:latin typeface="HelveticaNeue-Condensed"/>
              </a:rPr>
              <a:t>WBS</a:t>
            </a:r>
            <a:r>
              <a:rPr lang="zh-CN" altLang="en-US" sz="1800" dirty="0">
                <a:latin typeface="SourceHanSansSC-Regular"/>
              </a:rPr>
              <a:t>、可交付成果、制约因素和假设条件</a:t>
            </a:r>
            <a:r>
              <a:rPr lang="en-US" altLang="zh-CN" dirty="0"/>
              <a:t>)</a:t>
            </a:r>
            <a:r>
              <a:rPr lang="zh-CN" altLang="zh-CN" dirty="0"/>
              <a:t>、活动清单、活动属性、里程碑清单；</a:t>
            </a:r>
          </a:p>
          <a:p>
            <a:r>
              <a:rPr lang="zh-CN" altLang="zh-CN" dirty="0"/>
              <a:t>事业环境因素、组织过程资产。</a:t>
            </a:r>
            <a:endParaRPr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endParaRPr kumimoji="1" lang="zh-CN"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活动排序可在计算机的支持下执行，也可以用手工排序。对于大部分项目，手工排序和计算机排序应结合使用。</a:t>
            </a:r>
          </a:p>
          <a:p>
            <a:pPr marL="0" marR="0" lvl="0" indent="0" algn="l" defTabSz="914400" rtl="0" eaLnBrk="1" fontAlgn="base" latinLnBrk="0" hangingPunct="1">
              <a:lnSpc>
                <a:spcPct val="100000"/>
              </a:lnSpc>
              <a:spcBef>
                <a:spcPct val="30000"/>
              </a:spcBef>
              <a:spcAft>
                <a:spcPct val="0"/>
              </a:spcAft>
              <a:buClrTx/>
              <a:buSzTx/>
              <a:buFontTx/>
              <a:buNone/>
              <a:tabLst/>
              <a:defRPr/>
            </a:pPr>
            <a:endParaRPr kumimoji="1" lang="en-US" altLang="zh-CN" sz="12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活动排序过程必须在活动定义之后才能执行。</a:t>
            </a:r>
            <a:endParaRPr kumimoji="1" lang="en-US" altLang="zh-CN" sz="12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endParaRPr kumimoji="1" lang="zh-CN"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看一下活动排序的过程图：</a:t>
            </a:r>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活动排序通过审查详细</a:t>
            </a:r>
            <a:r>
              <a:rPr kumimoji="1" lang="en-US" altLang="zh-CN" sz="12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WBS</a:t>
            </a:r>
            <a:r>
              <a:rPr kumimoji="1" lang="zh-CN"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中的活动、详细的产品说明书、假设和约束条件，以决定活动之间的相互关系。同时也评价活动之间的依赖关系的原因及各种依赖关系。</a:t>
            </a:r>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关系或者依赖关系反映了项目活动之间的相互顺序。</a:t>
            </a:r>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例如，某项活动是否必须在另一项开始之前完成？几项活动是否可以并行进行？某些活动是否可以重叠？确定活动之间的这些关系或依赖关系，对制定并控制项目进度计划有很重要的影响。</a:t>
            </a:r>
          </a:p>
          <a:p>
            <a:pPr marL="0" marR="0" lvl="0" indent="0" algn="l" defTabSz="914400" rtl="0" eaLnBrk="1" fontAlgn="base" latinLnBrk="0" hangingPunct="1">
              <a:lnSpc>
                <a:spcPct val="100000"/>
              </a:lnSpc>
              <a:spcBef>
                <a:spcPct val="30000"/>
              </a:spcBef>
              <a:spcAft>
                <a:spcPct val="0"/>
              </a:spcAft>
              <a:buClrTx/>
              <a:buSzTx/>
              <a:buFontTx/>
              <a:buNone/>
              <a:tabLst/>
              <a:defRPr/>
            </a:pPr>
            <a:endParaRPr kumimoji="1" lang="zh-CN"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无论项目的大小，活动之间必定存在先后顺序以及活动之间的依赖关系。活动排序过程对于合理地安排项目的各项活动，更有效地制定进度计划是非常关键的。那么活动之间又有哪些依赖关系呢？</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15</a:t>
            </a:fld>
            <a:endParaRPr lang="zh-CN" altLang="en-US"/>
          </a:p>
        </p:txBody>
      </p:sp>
    </p:spTree>
    <p:extLst>
      <p:ext uri="{BB962C8B-B14F-4D97-AF65-F5344CB8AC3E}">
        <p14:creationId xmlns:p14="http://schemas.microsoft.com/office/powerpoint/2010/main" val="29268554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i="1" dirty="0"/>
              <a:t>2</a:t>
            </a:r>
            <a:r>
              <a:rPr lang="zh-CN" altLang="en-US" i="1" dirty="0"/>
              <a:t> </a:t>
            </a:r>
            <a:r>
              <a:rPr lang="zh-CN" altLang="zh-CN" i="1" dirty="0"/>
              <a:t>确定依赖关系：</a:t>
            </a:r>
          </a:p>
          <a:p>
            <a:r>
              <a:rPr lang="en-US" altLang="zh-CN" dirty="0"/>
              <a:t>   </a:t>
            </a:r>
            <a:r>
              <a:rPr lang="zh-CN" altLang="zh-CN" dirty="0"/>
              <a:t>依赖关系可能是强制</a:t>
            </a:r>
            <a:r>
              <a:rPr lang="en-US" altLang="zh-CN" dirty="0"/>
              <a:t>or</a:t>
            </a:r>
            <a:r>
              <a:rPr lang="zh-CN" altLang="zh-CN" dirty="0"/>
              <a:t>选择的，内部</a:t>
            </a:r>
            <a:r>
              <a:rPr lang="en-US" altLang="zh-CN" dirty="0"/>
              <a:t>or</a:t>
            </a:r>
            <a:r>
              <a:rPr lang="zh-CN" altLang="zh-CN" dirty="0"/>
              <a:t>外部的。</a:t>
            </a:r>
            <a:endParaRPr lang="en-US" altLang="zh-CN" dirty="0"/>
          </a:p>
          <a:p>
            <a:endParaRPr lang="zh-CN" altLang="zh-CN" dirty="0"/>
          </a:p>
          <a:p>
            <a:pPr algn="l"/>
            <a:r>
              <a:rPr lang="en-US" altLang="zh-CN" dirty="0"/>
              <a:t>   </a:t>
            </a:r>
            <a:r>
              <a:rPr lang="zh-CN" altLang="zh-CN" dirty="0"/>
              <a:t>强制依赖关系：</a:t>
            </a:r>
            <a:r>
              <a:rPr lang="zh-CN" altLang="en-US" sz="1800" b="0" i="0" u="none" strike="noStrike" baseline="0" dirty="0">
                <a:latin typeface="SourceHanSansSC-Regular"/>
              </a:rPr>
              <a:t>例如，在建筑项目中，只有在地基建成后，才能建立地面结构；在电子项目中，必须先把原型制造出来，然后才能对其进行测试。</a:t>
            </a:r>
            <a:endParaRPr lang="en-US" altLang="zh-CN" sz="1800" b="0" i="0" u="none" strike="noStrike" baseline="0" dirty="0">
              <a:latin typeface="SourceHanSansSC-Regular"/>
            </a:endParaRPr>
          </a:p>
          <a:p>
            <a:pPr algn="l"/>
            <a:endParaRPr lang="zh-CN" altLang="zh-CN" dirty="0"/>
          </a:p>
          <a:p>
            <a:pPr algn="l"/>
            <a:r>
              <a:rPr lang="en-US" altLang="zh-CN" dirty="0"/>
              <a:t>   </a:t>
            </a:r>
            <a:r>
              <a:rPr lang="zh-CN" altLang="zh-CN" dirty="0"/>
              <a:t>选择性依赖关系：</a:t>
            </a:r>
            <a:r>
              <a:rPr lang="zh-CN" altLang="en-US" sz="1800" b="0" i="0" u="none" strike="noStrike" baseline="0" dirty="0">
                <a:latin typeface="SourceHanSansSC-Regular"/>
              </a:rPr>
              <a:t>选择性依赖关系是基于具体应用领域的最佳实践或项目的某些特殊性质对活动顺序的要求来创建。例如，根据普遍公认，建造房屋时，应先完成卫生管道工程，才能开始电气工程。这个顺序并不是强制性要求，两个工程可以同时（并行）开展工作，但如按先后顺序进行可以降低整体项目风险。应该对选择性依赖关系进行全面记录，因为它们会影响总浮动时间，并限制后续的进度安排。</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如果打算进行快速跟进，则应当审查相应的选择性依赖关系，并考虑是否需要调整或去除。</a:t>
            </a:r>
            <a:endParaRPr lang="en-US" altLang="zh-CN" sz="1800" b="0" i="0" u="none" strike="noStrike" baseline="0" dirty="0">
              <a:latin typeface="SourceHanSansSC-Regular"/>
            </a:endParaRPr>
          </a:p>
          <a:p>
            <a:pPr algn="l"/>
            <a:endParaRPr lang="zh-CN" altLang="zh-CN" dirty="0"/>
          </a:p>
          <a:p>
            <a:pPr algn="l"/>
            <a:r>
              <a:rPr lang="en-US" altLang="zh-CN" dirty="0"/>
              <a:t>   </a:t>
            </a:r>
            <a:r>
              <a:rPr lang="zh-CN" altLang="zh-CN" dirty="0"/>
              <a:t>外部依赖关系：</a:t>
            </a:r>
            <a:r>
              <a:rPr lang="zh-CN" altLang="en-US" sz="1800" b="0" i="0" u="none" strike="noStrike" baseline="0" dirty="0">
                <a:latin typeface="SourceHanSansSC-Regular"/>
              </a:rPr>
              <a:t>例如，软件项目的测试活动取决于外部硬件的到货；建筑项目的现场准备，可能要在政府的环境听证会之后才能开始。</a:t>
            </a:r>
            <a:endParaRPr lang="en-US" altLang="zh-CN" sz="1800" b="0" i="0" u="none" strike="noStrike" baseline="0" dirty="0">
              <a:latin typeface="SourceHanSansSC-Regular"/>
            </a:endParaRPr>
          </a:p>
          <a:p>
            <a:pPr algn="l"/>
            <a:endParaRPr lang="zh-CN" altLang="zh-CN" dirty="0"/>
          </a:p>
          <a:p>
            <a:r>
              <a:rPr lang="en-US" altLang="zh-CN" dirty="0"/>
              <a:t>   </a:t>
            </a:r>
            <a:r>
              <a:rPr lang="zh-CN" altLang="zh-CN" dirty="0"/>
              <a:t>内部依赖关系：内部依赖关系是项目活动之间的紧前关系。</a:t>
            </a:r>
          </a:p>
          <a:p>
            <a:endParaRPr lang="en-US" altLang="zh-CN"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16</a:t>
            </a:fld>
            <a:endParaRPr lang="zh-CN" altLang="en-US"/>
          </a:p>
        </p:txBody>
      </p:sp>
    </p:spTree>
    <p:extLst>
      <p:ext uri="{BB962C8B-B14F-4D97-AF65-F5344CB8AC3E}">
        <p14:creationId xmlns:p14="http://schemas.microsoft.com/office/powerpoint/2010/main" val="14595921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b="1" dirty="0"/>
              <a:t>重点工具</a:t>
            </a:r>
            <a:r>
              <a:rPr lang="zh-CN" altLang="en-US" b="1" dirty="0"/>
              <a:t>：</a:t>
            </a:r>
            <a:endParaRPr lang="zh-CN" altLang="zh-CN" b="1" dirty="0"/>
          </a:p>
          <a:p>
            <a:r>
              <a:rPr lang="en-US" altLang="zh-CN" i="1" dirty="0"/>
              <a:t>1.</a:t>
            </a:r>
            <a:r>
              <a:rPr lang="zh-CN" altLang="zh-CN" i="1" dirty="0"/>
              <a:t>紧前关系绘图法</a:t>
            </a:r>
            <a:r>
              <a:rPr lang="zh-CN" altLang="en-US" i="1" dirty="0"/>
              <a:t>（顺序图</a:t>
            </a:r>
            <a:r>
              <a:rPr lang="zh-CN" altLang="zh-CN" i="1" dirty="0"/>
              <a:t>法</a:t>
            </a:r>
            <a:r>
              <a:rPr lang="zh-CN" altLang="en-US" i="1" dirty="0"/>
              <a:t>）</a:t>
            </a:r>
            <a:r>
              <a:rPr lang="en-US" altLang="zh-CN" i="1" dirty="0"/>
              <a:t>PDM</a:t>
            </a:r>
            <a:r>
              <a:rPr lang="zh-CN" altLang="zh-CN" dirty="0"/>
              <a:t>：</a:t>
            </a:r>
            <a:endParaRPr lang="en-US" altLang="zh-CN" dirty="0"/>
          </a:p>
          <a:p>
            <a:r>
              <a:rPr lang="en-US" altLang="zh-CN" dirty="0"/>
              <a:t>   </a:t>
            </a:r>
            <a:r>
              <a:rPr lang="zh-CN" altLang="zh-CN" dirty="0"/>
              <a:t>用节点表示活动，用一种或多种逻辑关系连接活动，显示活动的实施顺序。</a:t>
            </a:r>
            <a:r>
              <a:rPr lang="zh-CN" altLang="zh-CN" b="1" dirty="0"/>
              <a:t>活动节点法</a:t>
            </a:r>
            <a:r>
              <a:rPr lang="en-US" altLang="zh-CN" b="1" dirty="0"/>
              <a:t>AON</a:t>
            </a:r>
            <a:r>
              <a:rPr lang="zh-CN" altLang="zh-CN" dirty="0"/>
              <a:t>，紧前绘图法的一种展示方法。</a:t>
            </a:r>
            <a:endParaRPr lang="en-US" altLang="zh-CN" dirty="0"/>
          </a:p>
          <a:p>
            <a:endParaRPr lang="en-US" altLang="zh-CN" dirty="0"/>
          </a:p>
          <a:p>
            <a:r>
              <a:rPr lang="zh-CN" altLang="zh-CN" dirty="0"/>
              <a:t>四种依赖关系，</a:t>
            </a:r>
            <a:r>
              <a:rPr lang="en-US" altLang="zh-CN" dirty="0"/>
              <a:t>FS</a:t>
            </a:r>
            <a:r>
              <a:rPr lang="zh-CN" altLang="zh-CN" dirty="0"/>
              <a:t>、</a:t>
            </a:r>
            <a:r>
              <a:rPr lang="en-US" altLang="zh-CN" dirty="0"/>
              <a:t>FF</a:t>
            </a:r>
            <a:r>
              <a:rPr lang="zh-CN" altLang="zh-CN" dirty="0"/>
              <a:t>、</a:t>
            </a:r>
            <a:r>
              <a:rPr lang="en-US" altLang="zh-CN" dirty="0"/>
              <a:t>SS</a:t>
            </a:r>
            <a:r>
              <a:rPr lang="zh-CN" altLang="zh-CN" dirty="0"/>
              <a:t>、</a:t>
            </a:r>
            <a:r>
              <a:rPr lang="en-US" altLang="zh-CN" dirty="0"/>
              <a:t>SF</a:t>
            </a:r>
            <a:r>
              <a:rPr lang="zh-CN" altLang="zh-CN" dirty="0"/>
              <a:t>。</a:t>
            </a:r>
            <a:endParaRPr lang="en-US" altLang="zh-CN" dirty="0"/>
          </a:p>
          <a:p>
            <a:r>
              <a:rPr lang="en-US" altLang="zh-CN" dirty="0"/>
              <a:t>  .</a:t>
            </a:r>
            <a:r>
              <a:rPr lang="zh-CN" altLang="en-US" dirty="0"/>
              <a:t>完成到开始</a:t>
            </a:r>
            <a:r>
              <a:rPr lang="en-US" altLang="zh-CN" dirty="0"/>
              <a:t>(FS)</a:t>
            </a:r>
            <a:r>
              <a:rPr lang="zh-CN" altLang="en-US" dirty="0"/>
              <a:t>。只有紧前活动完成，紧后活动才能开始的逻辑关系。例如，只有比赛</a:t>
            </a:r>
            <a:r>
              <a:rPr lang="en-US" altLang="zh-CN" dirty="0"/>
              <a:t>(</a:t>
            </a:r>
            <a:r>
              <a:rPr lang="zh-CN" altLang="en-US" dirty="0"/>
              <a:t>紧前活动</a:t>
            </a:r>
            <a:r>
              <a:rPr lang="en-US" altLang="zh-CN" dirty="0"/>
              <a:t>)</a:t>
            </a:r>
            <a:r>
              <a:rPr lang="zh-CN" altLang="en-US" dirty="0"/>
              <a:t>结束，颁奖典礼</a:t>
            </a:r>
            <a:r>
              <a:rPr lang="en-US" altLang="zh-CN" dirty="0"/>
              <a:t>(</a:t>
            </a:r>
            <a:r>
              <a:rPr lang="zh-CN" altLang="en-US" dirty="0"/>
              <a:t>紧后活动</a:t>
            </a:r>
            <a:r>
              <a:rPr lang="en-US" altLang="zh-CN" dirty="0"/>
              <a:t>)</a:t>
            </a:r>
            <a:r>
              <a:rPr lang="zh-CN" altLang="en-US" dirty="0"/>
              <a:t>才能开始；只有完成装配</a:t>
            </a:r>
            <a:r>
              <a:rPr lang="en-US" altLang="zh-CN" dirty="0"/>
              <a:t>PC </a:t>
            </a:r>
            <a:r>
              <a:rPr lang="zh-CN" altLang="en-US" dirty="0"/>
              <a:t>硬件（紧前活动），才能开始在 </a:t>
            </a:r>
            <a:r>
              <a:rPr lang="en-US" altLang="zh-CN" dirty="0"/>
              <a:t>PC </a:t>
            </a:r>
            <a:r>
              <a:rPr lang="zh-CN" altLang="en-US" dirty="0"/>
              <a:t>上安装操作系统（紧后活动）。</a:t>
            </a:r>
          </a:p>
          <a:p>
            <a:r>
              <a:rPr lang="en-US" altLang="zh-CN" dirty="0"/>
              <a:t>  .</a:t>
            </a:r>
            <a:r>
              <a:rPr lang="zh-CN" altLang="en-US" dirty="0"/>
              <a:t>完成到完成</a:t>
            </a:r>
            <a:r>
              <a:rPr lang="en-US" altLang="zh-CN" dirty="0"/>
              <a:t>(FF)</a:t>
            </a:r>
            <a:r>
              <a:rPr lang="zh-CN" altLang="en-US" dirty="0"/>
              <a:t>。只有紧前活动完成，紧后活动才能完成的逻辑关系。例如，只有完成文件的编写</a:t>
            </a:r>
            <a:r>
              <a:rPr lang="en-US" altLang="zh-CN" dirty="0"/>
              <a:t>(</a:t>
            </a:r>
            <a:r>
              <a:rPr lang="zh-CN" altLang="en-US" dirty="0"/>
              <a:t>紧前活动</a:t>
            </a:r>
            <a:r>
              <a:rPr lang="en-US" altLang="zh-CN" dirty="0"/>
              <a:t>)</a:t>
            </a:r>
            <a:r>
              <a:rPr lang="zh-CN" altLang="en-US" dirty="0"/>
              <a:t>，才能完成文件的编辑</a:t>
            </a:r>
            <a:r>
              <a:rPr lang="en-US" altLang="zh-CN" dirty="0"/>
              <a:t>(</a:t>
            </a:r>
            <a:r>
              <a:rPr lang="zh-CN" altLang="en-US" dirty="0"/>
              <a:t>紧后活动</a:t>
            </a:r>
            <a:r>
              <a:rPr lang="en-US" altLang="zh-CN" dirty="0"/>
              <a:t>)</a:t>
            </a:r>
            <a:r>
              <a:rPr lang="zh-CN" altLang="en-US" dirty="0"/>
              <a:t>。</a:t>
            </a:r>
          </a:p>
          <a:p>
            <a:r>
              <a:rPr lang="en-US" altLang="zh-CN" dirty="0"/>
              <a:t>  .</a:t>
            </a:r>
            <a:r>
              <a:rPr lang="zh-CN" altLang="en-US" dirty="0"/>
              <a:t>开始到开始</a:t>
            </a:r>
            <a:r>
              <a:rPr lang="en-US" altLang="zh-CN" dirty="0"/>
              <a:t>(SS)</a:t>
            </a:r>
            <a:r>
              <a:rPr lang="zh-CN" altLang="en-US" dirty="0"/>
              <a:t>。只有紧前活动开始，紧后活动才能开始的逻辑关系。例如，开始地基浇灌之后，才能开始混凝土的找平。</a:t>
            </a:r>
          </a:p>
          <a:p>
            <a:r>
              <a:rPr lang="en-US" altLang="zh-CN" dirty="0"/>
              <a:t>  .</a:t>
            </a:r>
            <a:r>
              <a:rPr lang="zh-CN" altLang="en-US" dirty="0"/>
              <a:t>开始到完成</a:t>
            </a:r>
            <a:r>
              <a:rPr lang="en-US" altLang="zh-CN" dirty="0"/>
              <a:t>(SF)</a:t>
            </a:r>
            <a:r>
              <a:rPr lang="zh-CN" altLang="en-US" dirty="0"/>
              <a:t>。只有紧前活动开始，紧后活动才能完成的逻辑关系。例如，只有第二位保安人员开始值班</a:t>
            </a:r>
            <a:r>
              <a:rPr lang="en-US" altLang="zh-CN" dirty="0"/>
              <a:t>(</a:t>
            </a:r>
            <a:r>
              <a:rPr lang="zh-CN" altLang="en-US" dirty="0"/>
              <a:t>紧前活动</a:t>
            </a:r>
            <a:r>
              <a:rPr lang="en-US" altLang="zh-CN" dirty="0"/>
              <a:t>)</a:t>
            </a:r>
            <a:r>
              <a:rPr lang="zh-CN" altLang="en-US" dirty="0"/>
              <a:t>，第一位保安人员才能结束值班</a:t>
            </a:r>
            <a:r>
              <a:rPr lang="en-US" altLang="zh-CN" dirty="0"/>
              <a:t>(</a:t>
            </a:r>
            <a:r>
              <a:rPr lang="zh-CN" altLang="en-US" dirty="0"/>
              <a:t>紧后活动</a:t>
            </a:r>
            <a:r>
              <a:rPr lang="en-US" altLang="zh-CN" dirty="0"/>
              <a:t>)</a:t>
            </a:r>
            <a:r>
              <a:rPr lang="zh-CN" altLang="en-US" dirty="0"/>
              <a:t>；例如，只有启动新的应付账款系统（紧前活动），才能关闭旧的应付账款系统（紧后活动）。</a:t>
            </a:r>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latin typeface="微软雅黑" panose="020B0503020204020204" pitchFamily="34" charset="-122"/>
                <a:ea typeface="微软雅黑" panose="020B0503020204020204" pitchFamily="34" charset="-122"/>
              </a:rPr>
              <a:t>在 </a:t>
            </a:r>
            <a:r>
              <a:rPr lang="en-US" altLang="zh-CN" dirty="0">
                <a:latin typeface="微软雅黑" panose="020B0503020204020204" pitchFamily="34" charset="-122"/>
                <a:ea typeface="微软雅黑" panose="020B0503020204020204" pitchFamily="34" charset="-122"/>
              </a:rPr>
              <a:t>PDM </a:t>
            </a:r>
            <a:r>
              <a:rPr lang="zh-CN" altLang="en-US" dirty="0">
                <a:latin typeface="微软雅黑" panose="020B0503020204020204" pitchFamily="34" charset="-122"/>
                <a:ea typeface="微软雅黑" panose="020B0503020204020204" pitchFamily="34" charset="-122"/>
              </a:rPr>
              <a:t>图中，</a:t>
            </a:r>
            <a:r>
              <a:rPr lang="en-US" altLang="zh-CN" dirty="0">
                <a:latin typeface="微软雅黑" panose="020B0503020204020204" pitchFamily="34" charset="-122"/>
                <a:ea typeface="微软雅黑" panose="020B0503020204020204" pitchFamily="34" charset="-122"/>
              </a:rPr>
              <a:t>FS </a:t>
            </a:r>
            <a:r>
              <a:rPr lang="zh-CN" altLang="en-US" dirty="0">
                <a:latin typeface="微软雅黑" panose="020B0503020204020204" pitchFamily="34" charset="-122"/>
                <a:ea typeface="微软雅黑" panose="020B0503020204020204" pitchFamily="34" charset="-122"/>
              </a:rPr>
              <a:t>是最常用的逻辑关系类型；</a:t>
            </a:r>
            <a:r>
              <a:rPr lang="en-US" altLang="zh-CN" dirty="0">
                <a:latin typeface="微软雅黑" panose="020B0503020204020204" pitchFamily="34" charset="-122"/>
                <a:ea typeface="微软雅黑" panose="020B0503020204020204" pitchFamily="34" charset="-122"/>
              </a:rPr>
              <a:t>SF </a:t>
            </a:r>
            <a:r>
              <a:rPr lang="zh-CN" altLang="en-US" dirty="0">
                <a:latin typeface="微软雅黑" panose="020B0503020204020204" pitchFamily="34" charset="-122"/>
                <a:ea typeface="微软雅黑" panose="020B0503020204020204" pitchFamily="34" charset="-122"/>
              </a:rPr>
              <a:t>关系则很少使用，为了保持 </a:t>
            </a:r>
            <a:r>
              <a:rPr lang="en-US" altLang="zh-CN" dirty="0">
                <a:latin typeface="微软雅黑" panose="020B0503020204020204" pitchFamily="34" charset="-122"/>
                <a:ea typeface="微软雅黑" panose="020B0503020204020204" pitchFamily="34" charset="-122"/>
              </a:rPr>
              <a:t>PDM </a:t>
            </a:r>
            <a:r>
              <a:rPr lang="zh-CN" altLang="en-US" dirty="0">
                <a:latin typeface="微软雅黑" panose="020B0503020204020204" pitchFamily="34" charset="-122"/>
                <a:ea typeface="微软雅黑" panose="020B0503020204020204" pitchFamily="34" charset="-122"/>
              </a:rPr>
              <a:t>四种逻辑关系类型的完整性，这里也将 </a:t>
            </a:r>
            <a:r>
              <a:rPr lang="en-US" altLang="zh-CN" dirty="0">
                <a:latin typeface="微软雅黑" panose="020B0503020204020204" pitchFamily="34" charset="-122"/>
                <a:ea typeface="微软雅黑" panose="020B0503020204020204" pitchFamily="34" charset="-122"/>
              </a:rPr>
              <a:t>SF </a:t>
            </a:r>
            <a:r>
              <a:rPr lang="zh-CN" altLang="en-US" dirty="0">
                <a:latin typeface="微软雅黑" panose="020B0503020204020204" pitchFamily="34" charset="-122"/>
                <a:ea typeface="微软雅黑" panose="020B0503020204020204" pitchFamily="34" charset="-122"/>
              </a:rPr>
              <a:t>列出。</a:t>
            </a:r>
          </a:p>
          <a:p>
            <a:endParaRPr lang="en-US" altLang="zh-CN" dirty="0"/>
          </a:p>
          <a:p>
            <a:pPr algn="l"/>
            <a:r>
              <a:rPr lang="zh-CN" altLang="en-US" sz="1800" b="0" i="0" u="none" strike="noStrike" baseline="0" dirty="0">
                <a:solidFill>
                  <a:schemeClr val="bg1">
                    <a:lumMod val="50000"/>
                  </a:schemeClr>
                </a:solidFill>
                <a:latin typeface="SourceHanSansSC-Regular"/>
              </a:rPr>
              <a:t>两个活动之间可能同时存在两种逻辑关系（例如 </a:t>
            </a:r>
            <a:r>
              <a:rPr lang="en-US" altLang="zh-CN" sz="1800" b="0" i="0" u="none" strike="noStrike" baseline="0" dirty="0">
                <a:solidFill>
                  <a:schemeClr val="bg1">
                    <a:lumMod val="50000"/>
                  </a:schemeClr>
                </a:solidFill>
                <a:latin typeface="HelveticaNeue-Condensed"/>
              </a:rPr>
              <a:t>SS </a:t>
            </a:r>
            <a:r>
              <a:rPr lang="zh-CN" altLang="en-US" sz="1800" b="0" i="0" u="none" strike="noStrike" baseline="0" dirty="0">
                <a:solidFill>
                  <a:schemeClr val="bg1">
                    <a:lumMod val="50000"/>
                  </a:schemeClr>
                </a:solidFill>
                <a:latin typeface="SourceHanSansSC-Regular"/>
              </a:rPr>
              <a:t>和 </a:t>
            </a:r>
            <a:r>
              <a:rPr lang="en-US" altLang="zh-CN" sz="1800" b="0" i="0" u="none" strike="noStrike" baseline="0" dirty="0">
                <a:solidFill>
                  <a:schemeClr val="bg1">
                    <a:lumMod val="50000"/>
                  </a:schemeClr>
                </a:solidFill>
                <a:latin typeface="HelveticaNeue-Condensed"/>
              </a:rPr>
              <a:t>FF</a:t>
            </a:r>
            <a:r>
              <a:rPr lang="zh-CN" altLang="en-US" sz="1800" b="0" i="0" u="none" strike="noStrike" baseline="0" dirty="0">
                <a:solidFill>
                  <a:schemeClr val="bg1">
                    <a:lumMod val="50000"/>
                  </a:schemeClr>
                </a:solidFill>
                <a:latin typeface="SourceHanSansSC-Regular"/>
              </a:rPr>
              <a:t>），但不建议相同的活动之间存在多种关系。因此必须做出选出影响最大关系的决定。此外也不建议采用闭环的逻辑关系。</a:t>
            </a:r>
            <a:endParaRPr lang="en-US" altLang="zh-CN" sz="1800" b="0" i="0" u="none" strike="noStrike" baseline="0" dirty="0">
              <a:solidFill>
                <a:schemeClr val="bg1">
                  <a:lumMod val="50000"/>
                </a:schemeClr>
              </a:solidFill>
              <a:latin typeface="SourceHanSansSC-Regular"/>
            </a:endParaRPr>
          </a:p>
          <a:p>
            <a:pPr algn="l"/>
            <a:endParaRPr lang="en-US" altLang="zh-CN" sz="1800" b="0" i="0" u="none" strike="noStrike" baseline="0" dirty="0">
              <a:solidFill>
                <a:schemeClr val="bg1">
                  <a:lumMod val="50000"/>
                </a:schemeClr>
              </a:solidFill>
              <a:latin typeface="SourceHanSansSC-Regular"/>
            </a:endParaRPr>
          </a:p>
          <a:p>
            <a:endParaRPr lang="en-US" altLang="zh-CN" dirty="0"/>
          </a:p>
          <a:p>
            <a:pPr algn="l"/>
            <a:endParaRPr lang="zh-CN" altLang="en-US" dirty="0">
              <a:solidFill>
                <a:schemeClr val="bg1">
                  <a:lumMod val="50000"/>
                </a:schemeClr>
              </a:solidFill>
            </a:endParaRPr>
          </a:p>
          <a:p>
            <a:endParaRPr lang="zh-CN" altLang="zh-CN"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17</a:t>
            </a:fld>
            <a:endParaRPr lang="zh-CN" altLang="en-US"/>
          </a:p>
        </p:txBody>
      </p:sp>
    </p:spTree>
    <p:extLst>
      <p:ext uri="{BB962C8B-B14F-4D97-AF65-F5344CB8AC3E}">
        <p14:creationId xmlns:p14="http://schemas.microsoft.com/office/powerpoint/2010/main" val="39924260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18</a:t>
            </a:fld>
            <a:endParaRPr lang="zh-CN" altLang="en-US"/>
          </a:p>
        </p:txBody>
      </p:sp>
    </p:spTree>
    <p:extLst>
      <p:ext uri="{BB962C8B-B14F-4D97-AF65-F5344CB8AC3E}">
        <p14:creationId xmlns:p14="http://schemas.microsoft.com/office/powerpoint/2010/main" val="2271822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b="1" dirty="0"/>
              <a:t>重点工具</a:t>
            </a:r>
            <a:r>
              <a:rPr lang="zh-CN" altLang="en-US" b="1" dirty="0"/>
              <a:t>：</a:t>
            </a:r>
            <a:endParaRPr lang="zh-CN" altLang="zh-CN" b="1" dirty="0"/>
          </a:p>
          <a:p>
            <a:r>
              <a:rPr lang="en-US" altLang="zh-CN" i="1" dirty="0"/>
              <a:t>3. </a:t>
            </a:r>
            <a:r>
              <a:rPr lang="zh-CN" altLang="zh-CN" i="1" dirty="0"/>
              <a:t>提前量和滞后量：（不能替代进度逻辑关系）</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活动时间关系，有时还需要滞后或提前时间的要求。</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   </a:t>
            </a:r>
            <a:r>
              <a:rPr lang="zh-CN" altLang="zh-CN" dirty="0"/>
              <a:t>提前量：是相对与紧前活动，紧后活动可以提前的时间量。</a:t>
            </a:r>
            <a:r>
              <a:rPr lang="zh-CN" altLang="en-US" sz="1200" b="0" i="0" u="none" strike="noStrike" baseline="0" dirty="0">
                <a:latin typeface="SourceHanSansSC-Regular"/>
              </a:rPr>
              <a:t>例如，在新办公大楼建设项目中，绿化施工可以在尾工清单编制完成前 </a:t>
            </a:r>
            <a:r>
              <a:rPr lang="en-US" altLang="zh-CN" sz="1200" b="0" i="0" u="none" strike="noStrike" baseline="0" dirty="0">
                <a:latin typeface="HelveticaNeue-Condensed"/>
              </a:rPr>
              <a:t>2 </a:t>
            </a:r>
            <a:r>
              <a:rPr lang="zh-CN" altLang="en-US" sz="1200" b="0" i="0" u="none" strike="noStrike" baseline="0" dirty="0">
                <a:latin typeface="SourceHanSansSC-Regular"/>
              </a:rPr>
              <a:t>周开始，这就是带 </a:t>
            </a:r>
            <a:r>
              <a:rPr lang="en-US" altLang="zh-CN" sz="1200" b="0" i="0" u="none" strike="noStrike" baseline="0" dirty="0">
                <a:latin typeface="HelveticaNeue-Condensed"/>
              </a:rPr>
              <a:t>2 </a:t>
            </a:r>
            <a:r>
              <a:rPr lang="zh-CN" altLang="en-US" sz="1200" b="0" i="0" u="none" strike="noStrike" baseline="0" dirty="0">
                <a:latin typeface="SourceHanSansSC-Regular"/>
              </a:rPr>
              <a:t>周提前量的完成到开始的关系</a:t>
            </a:r>
            <a:endParaRPr lang="en-US" altLang="zh-CN" dirty="0"/>
          </a:p>
          <a:p>
            <a:pPr algn="l"/>
            <a:r>
              <a:rPr lang="en-US" altLang="zh-CN" dirty="0"/>
              <a:t>   </a:t>
            </a:r>
            <a:r>
              <a:rPr lang="zh-CN" altLang="zh-CN" dirty="0"/>
              <a:t>滞后量：相对于紧前活动，紧后活动需要推迟的的时间量。</a:t>
            </a:r>
            <a:r>
              <a:rPr lang="zh-CN" altLang="en-US" sz="1800" b="0" i="0" u="none" strike="noStrike" baseline="0" dirty="0">
                <a:latin typeface="SourceHanSansSC-Regular"/>
              </a:rPr>
              <a:t>例如，对于一个大型技术文档，编写小组可以在编写工作开始后 </a:t>
            </a:r>
            <a:r>
              <a:rPr lang="en-US" altLang="zh-CN" sz="1800" b="0" i="0" u="none" strike="noStrike" baseline="0" dirty="0">
                <a:latin typeface="HelveticaNeue-Condensed"/>
              </a:rPr>
              <a:t>15 </a:t>
            </a:r>
            <a:r>
              <a:rPr lang="zh-CN" altLang="en-US" sz="1800" b="0" i="0" u="none" strike="noStrike" baseline="0" dirty="0">
                <a:latin typeface="SourceHanSansSC-Regular"/>
              </a:rPr>
              <a:t>天，开始编辑文档草案，这就是带 </a:t>
            </a:r>
            <a:r>
              <a:rPr lang="en-US" altLang="zh-CN" sz="1800" b="0" i="0" u="none" strike="noStrike" baseline="0" dirty="0">
                <a:latin typeface="HelveticaNeue-Condensed"/>
              </a:rPr>
              <a:t>15 </a:t>
            </a:r>
            <a:r>
              <a:rPr lang="zh-CN" altLang="en-US" sz="1800" b="0" i="0" u="none" strike="noStrike" baseline="0" dirty="0">
                <a:latin typeface="SourceHanSansSC-Regular"/>
              </a:rPr>
              <a:t>天滞后量的开始到开始关系，</a:t>
            </a:r>
            <a:endParaRPr lang="en-US" altLang="zh-CN" dirty="0"/>
          </a:p>
          <a:p>
            <a:endParaRPr lang="en-US" altLang="zh-CN" dirty="0"/>
          </a:p>
          <a:p>
            <a:pPr algn="l"/>
            <a:endParaRPr lang="zh-CN" altLang="en-US" dirty="0">
              <a:solidFill>
                <a:schemeClr val="bg1">
                  <a:lumMod val="50000"/>
                </a:schemeClr>
              </a:solidFill>
            </a:endParaRPr>
          </a:p>
          <a:p>
            <a:endParaRPr lang="zh-CN" altLang="zh-CN"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19</a:t>
            </a:fld>
            <a:endParaRPr lang="zh-CN" altLang="en-US"/>
          </a:p>
        </p:txBody>
      </p:sp>
    </p:spTree>
    <p:extLst>
      <p:ext uri="{BB962C8B-B14F-4D97-AF65-F5344CB8AC3E}">
        <p14:creationId xmlns:p14="http://schemas.microsoft.com/office/powerpoint/2010/main" val="8929235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i="1" dirty="0"/>
              <a:t>重点输出</a:t>
            </a:r>
          </a:p>
          <a:p>
            <a:r>
              <a:rPr lang="zh-CN" altLang="zh-CN" dirty="0"/>
              <a:t>项目进度网络图：表示进度活动之间的逻辑关系的图形。</a:t>
            </a:r>
            <a:endParaRPr lang="en-US" altLang="zh-CN" dirty="0"/>
          </a:p>
          <a:p>
            <a:r>
              <a:rPr lang="zh-CN" altLang="en-US" dirty="0"/>
              <a:t>（活动在节点上）</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20</a:t>
            </a:fld>
            <a:endParaRPr lang="zh-CN" altLang="en-US"/>
          </a:p>
        </p:txBody>
      </p:sp>
    </p:spTree>
    <p:extLst>
      <p:ext uri="{BB962C8B-B14F-4D97-AF65-F5344CB8AC3E}">
        <p14:creationId xmlns:p14="http://schemas.microsoft.com/office/powerpoint/2010/main" val="34739253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这是稍复杂一点的网络图，包含了</a:t>
            </a:r>
            <a:r>
              <a:rPr lang="zh-CN" altLang="zh-CN" sz="1200" b="1" dirty="0">
                <a:latin typeface="微软雅黑" panose="020B0503020204020204" pitchFamily="34" charset="-122"/>
                <a:ea typeface="微软雅黑" panose="020B0503020204020204" pitchFamily="34" charset="-122"/>
              </a:rPr>
              <a:t>提前量和滞后量</a:t>
            </a:r>
            <a:endParaRPr lang="en-US" altLang="zh-CN" sz="1200" b="1"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latin typeface="微软雅黑" panose="020B0503020204020204" pitchFamily="34" charset="-122"/>
                <a:ea typeface="微软雅黑" panose="020B0503020204020204" pitchFamily="34" charset="-122"/>
              </a:rPr>
              <a:t>活动</a:t>
            </a:r>
            <a:r>
              <a:rPr lang="en-US" altLang="zh-CN" sz="1200" b="1" dirty="0">
                <a:latin typeface="微软雅黑" panose="020B0503020204020204" pitchFamily="34" charset="-122"/>
                <a:ea typeface="微软雅黑" panose="020B0503020204020204" pitchFamily="34" charset="-122"/>
              </a:rPr>
              <a:t>H</a:t>
            </a:r>
            <a:r>
              <a:rPr lang="zh-CN" altLang="en-US" sz="1200" b="1" dirty="0">
                <a:latin typeface="微软雅黑" panose="020B0503020204020204" pitchFamily="34" charset="-122"/>
                <a:ea typeface="微软雅黑" panose="020B0503020204020204" pitchFamily="34" charset="-122"/>
              </a:rPr>
              <a:t>要在</a:t>
            </a:r>
            <a:r>
              <a:rPr lang="en-US" altLang="zh-CN" sz="1200" b="1" dirty="0">
                <a:latin typeface="微软雅黑" panose="020B0503020204020204" pitchFamily="34" charset="-122"/>
                <a:ea typeface="微软雅黑" panose="020B0503020204020204" pitchFamily="34" charset="-122"/>
              </a:rPr>
              <a:t>I</a:t>
            </a:r>
            <a:r>
              <a:rPr lang="zh-CN" altLang="en-US" sz="1200" b="1" dirty="0">
                <a:latin typeface="微软雅黑" panose="020B0503020204020204" pitchFamily="34" charset="-122"/>
                <a:ea typeface="微软雅黑" panose="020B0503020204020204" pitchFamily="34" charset="-122"/>
              </a:rPr>
              <a:t>开始前提前</a:t>
            </a:r>
            <a:r>
              <a:rPr lang="en-US" altLang="zh-CN" sz="1200" b="1" dirty="0">
                <a:latin typeface="微软雅黑" panose="020B0503020204020204" pitchFamily="34" charset="-122"/>
                <a:ea typeface="微软雅黑" panose="020B0503020204020204" pitchFamily="34" charset="-122"/>
              </a:rPr>
              <a:t>10</a:t>
            </a:r>
            <a:r>
              <a:rPr lang="zh-CN" altLang="en-US" sz="1200" b="1" dirty="0">
                <a:latin typeface="微软雅黑" panose="020B0503020204020204" pitchFamily="34" charset="-122"/>
                <a:ea typeface="微软雅黑" panose="020B0503020204020204" pitchFamily="34" charset="-122"/>
              </a:rPr>
              <a:t>天开始；活动</a:t>
            </a:r>
            <a:r>
              <a:rPr lang="en-US" altLang="zh-CN" sz="1200" b="1" dirty="0">
                <a:latin typeface="微软雅黑" panose="020B0503020204020204" pitchFamily="34" charset="-122"/>
                <a:ea typeface="微软雅黑" panose="020B0503020204020204" pitchFamily="34" charset="-122"/>
              </a:rPr>
              <a:t>F</a:t>
            </a:r>
            <a:r>
              <a:rPr lang="zh-CN" altLang="en-US" sz="1200" b="1" dirty="0">
                <a:latin typeface="微软雅黑" panose="020B0503020204020204" pitchFamily="34" charset="-122"/>
                <a:ea typeface="微软雅黑" panose="020B0503020204020204" pitchFamily="34" charset="-122"/>
              </a:rPr>
              <a:t>结束后等</a:t>
            </a:r>
            <a:r>
              <a:rPr lang="en-US" altLang="zh-CN" sz="1200" b="1" dirty="0">
                <a:latin typeface="微软雅黑" panose="020B0503020204020204" pitchFamily="34" charset="-122"/>
                <a:ea typeface="微软雅黑" panose="020B0503020204020204" pitchFamily="34" charset="-122"/>
              </a:rPr>
              <a:t>15</a:t>
            </a:r>
            <a:r>
              <a:rPr lang="zh-CN" altLang="en-US" sz="1200" b="1" dirty="0">
                <a:latin typeface="微软雅黑" panose="020B0503020204020204" pitchFamily="34" charset="-122"/>
                <a:ea typeface="微软雅黑" panose="020B0503020204020204" pitchFamily="34" charset="-122"/>
              </a:rPr>
              <a:t>天才能开始活动</a:t>
            </a:r>
            <a:r>
              <a:rPr lang="en-US" altLang="zh-CN" sz="1200" b="1" dirty="0">
                <a:latin typeface="微软雅黑" panose="020B0503020204020204" pitchFamily="34" charset="-122"/>
                <a:ea typeface="微软雅黑" panose="020B0503020204020204" pitchFamily="34" charset="-122"/>
              </a:rPr>
              <a:t>G</a:t>
            </a:r>
          </a:p>
          <a:p>
            <a:endParaRPr lang="en-US" altLang="zh-CN" sz="1800" b="0" i="0" u="none" strike="noStrike" baseline="0" dirty="0">
              <a:latin typeface="SourceHanSansSC-Regular"/>
            </a:endParaRPr>
          </a:p>
          <a:p>
            <a:pPr algn="l"/>
            <a:r>
              <a:rPr lang="zh-CN" altLang="en-US" sz="1800" b="0" i="0" u="none" strike="noStrike" baseline="0" dirty="0">
                <a:latin typeface="SourceHanSansSC-Regular"/>
              </a:rPr>
              <a:t>带有多个紧前活动的活动代表</a:t>
            </a:r>
            <a:r>
              <a:rPr lang="zh-CN" altLang="en-US" sz="1800" b="0" i="1" u="none" strike="noStrike" baseline="0" dirty="0">
                <a:latin typeface="SourceHanSansSC-Regular"/>
              </a:rPr>
              <a:t>路径汇聚</a:t>
            </a:r>
            <a:r>
              <a:rPr lang="zh-CN" altLang="en-US" sz="1800" b="0" i="0" u="none" strike="noStrike" baseline="0" dirty="0">
                <a:latin typeface="SourceHanSansSC-Regular"/>
              </a:rPr>
              <a:t>，而带有多个紧后活动的活动则代表</a:t>
            </a:r>
            <a:r>
              <a:rPr lang="zh-CN" altLang="en-US" sz="1800" b="0" i="1" u="none" strike="noStrike" baseline="0" dirty="0">
                <a:latin typeface="SourceHanSansSC-Regular"/>
              </a:rPr>
              <a:t>路径分支</a:t>
            </a:r>
            <a:r>
              <a:rPr lang="zh-CN" altLang="en-US" sz="1800" b="0" i="0" u="none" strike="noStrike" baseline="0" dirty="0">
                <a:latin typeface="SourceHanSansSC-Regular"/>
              </a:rPr>
              <a:t>。带汇聚和分支的活动受到多个活动的影响或能够影响多个活动，因此存在更大的风险。</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图中，</a:t>
            </a:r>
            <a:r>
              <a:rPr lang="en-US" altLang="zh-CN" sz="1800" b="0" i="0" u="none" strike="noStrike" baseline="0" dirty="0">
                <a:latin typeface="HelveticaNeue-Condensed"/>
              </a:rPr>
              <a:t>I </a:t>
            </a:r>
            <a:r>
              <a:rPr lang="zh-CN" altLang="en-US" sz="1800" b="0" i="0" u="none" strike="noStrike" baseline="0" dirty="0">
                <a:latin typeface="SourceHanSansSC-Regular"/>
              </a:rPr>
              <a:t>活动为“路径汇聚”，因为它拥有多个紧前活动，而 </a:t>
            </a:r>
            <a:r>
              <a:rPr lang="en-US" altLang="zh-CN" sz="1800" b="0" i="0" u="none" strike="noStrike" baseline="0" dirty="0">
                <a:latin typeface="HelveticaNeue-Condensed"/>
              </a:rPr>
              <a:t>K </a:t>
            </a:r>
            <a:r>
              <a:rPr lang="zh-CN" altLang="en-US" sz="1800" b="0" i="0" u="none" strike="noStrike" baseline="0" dirty="0">
                <a:latin typeface="SourceHanSansSC-Regular"/>
              </a:rPr>
              <a:t>活动为“路径分支”，因为它拥有多个紧后活动。</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21</a:t>
            </a:fld>
            <a:endParaRPr lang="zh-CN" altLang="en-US"/>
          </a:p>
        </p:txBody>
      </p:sp>
    </p:spTree>
    <p:extLst>
      <p:ext uri="{BB962C8B-B14F-4D97-AF65-F5344CB8AC3E}">
        <p14:creationId xmlns:p14="http://schemas.microsoft.com/office/powerpoint/2010/main" val="22021888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dirty="0">
                <a:latin typeface="Times New Roman" panose="02020603050405020304" pitchFamily="18" charset="0"/>
              </a:rPr>
              <a:t>需要特别注意的是，工作分解结构中的每一项</a:t>
            </a:r>
            <a:r>
              <a:rPr lang="zh-CN" altLang="en-US" sz="1800" b="1" dirty="0">
                <a:latin typeface="Times New Roman" panose="02020603050405020304" pitchFamily="18" charset="0"/>
              </a:rPr>
              <a:t>并非</a:t>
            </a:r>
            <a:r>
              <a:rPr lang="zh-CN" altLang="en-US" sz="1800" dirty="0">
                <a:latin typeface="Times New Roman" panose="02020603050405020304" pitchFamily="18" charset="0"/>
              </a:rPr>
              <a:t>都必须绘制在网络图上，仅把存在相互依赖关系的活动绘制在网络图上就可以了。然而，有些人喜欢把项目从开始到结束的所有活动都绘制到网络图上，这是一个个人喜好的问题。因为一个项目中有数以百计的活动，绘制网络图时，仅列出存在相互依赖关系的活动，可能会更简单一点，尤其是对于大型项目来说。有时仅把总结性任务绘制在网络图上就足够了，或者你也可以把一个项目分解成若干个小网络图。</a:t>
            </a:r>
          </a:p>
          <a:p>
            <a:endParaRPr lang="en-US" altLang="zh-CN" dirty="0"/>
          </a:p>
          <a:p>
            <a:r>
              <a:rPr lang="zh-CN" altLang="en-US" sz="1800" b="0" i="0" u="none" strike="noStrike" baseline="0" dirty="0">
                <a:solidFill>
                  <a:srgbClr val="1C1C1C"/>
                </a:solidFill>
                <a:latin typeface="HiddenHorzOCR"/>
              </a:rPr>
              <a:t>虚活动</a:t>
            </a:r>
            <a:r>
              <a:rPr lang="en-US" altLang="zh-CN" sz="1800" b="0" i="0" u="none" strike="noStrike" baseline="0" dirty="0">
                <a:solidFill>
                  <a:srgbClr val="1C1C1C"/>
                </a:solidFill>
                <a:latin typeface="HiddenHorzOCR"/>
              </a:rPr>
              <a:t>( </a:t>
            </a:r>
            <a:r>
              <a:rPr lang="en-US" altLang="zh-CN" sz="1800" b="0" i="0" u="none" strike="noStrike" baseline="0" dirty="0">
                <a:solidFill>
                  <a:srgbClr val="1C1C1C"/>
                </a:solidFill>
                <a:latin typeface="Times New Roman" panose="02020603050405020304" pitchFamily="18" charset="0"/>
              </a:rPr>
              <a:t>dummy </a:t>
            </a:r>
            <a:r>
              <a:rPr lang="en-US" altLang="zh-CN" sz="1800" b="0" i="0" u="none" strike="noStrike" baseline="0" dirty="0">
                <a:solidFill>
                  <a:srgbClr val="2C2C2C"/>
                </a:solidFill>
                <a:latin typeface="Times New Roman" panose="02020603050405020304" pitchFamily="18" charset="0"/>
              </a:rPr>
              <a:t>activities) </a:t>
            </a:r>
            <a:r>
              <a:rPr lang="zh-CN" altLang="en-US" sz="1800" b="0" i="0" u="none" strike="noStrike" baseline="0" dirty="0">
                <a:solidFill>
                  <a:srgbClr val="2C2C2C"/>
                </a:solidFill>
                <a:latin typeface="Times New Roman" panose="02020603050405020304" pitchFamily="18" charset="0"/>
              </a:rPr>
              <a:t>是指没有工期和资源需求的活动，有时在双代号网络图中出现，用来辅助表示活动间的逻辑关系。它们通常用虚箭线来表示，估计的工期为零。</a:t>
            </a:r>
            <a:endParaRPr lang="en-US" altLang="zh-CN" sz="1800" b="0" i="0" u="none" strike="noStrike" baseline="0" dirty="0">
              <a:solidFill>
                <a:srgbClr val="2C2C2C"/>
              </a:solidFill>
              <a:latin typeface="Times New Roman" panose="02020603050405020304" pitchFamily="18" charset="0"/>
            </a:endParaRPr>
          </a:p>
          <a:p>
            <a:pPr algn="l"/>
            <a:r>
              <a:rPr lang="zh-CN" altLang="en-US" sz="1800" dirty="0">
                <a:latin typeface="Times New Roman" panose="02020603050405020304" pitchFamily="18" charset="0"/>
              </a:rPr>
              <a:t>前导图法可表明任务间的多种关系，而在双代号网络图中只有完成一开始这一种关系。</a:t>
            </a:r>
            <a:endParaRPr lang="en-US" altLang="zh-CN" sz="1800" dirty="0">
              <a:latin typeface="Times New Roman" panose="02020603050405020304" pitchFamily="18" charset="0"/>
            </a:endParaRPr>
          </a:p>
          <a:p>
            <a:pPr algn="l"/>
            <a:endParaRPr lang="en-US" altLang="zh-CN" dirty="0"/>
          </a:p>
          <a:p>
            <a:pPr algn="l"/>
            <a:r>
              <a:rPr lang="zh-CN" altLang="en-US" dirty="0"/>
              <a:t>活动排序的另一项输出：</a:t>
            </a:r>
            <a:endParaRPr lang="en-US" altLang="zh-CN" dirty="0"/>
          </a:p>
          <a:p>
            <a:r>
              <a:rPr lang="zh-CN" altLang="zh-CN" dirty="0"/>
              <a:t>项目文件更新。</a:t>
            </a:r>
            <a:endParaRPr lang="zh-CN" altLang="en-US" dirty="0"/>
          </a:p>
          <a:p>
            <a:pPr algn="l"/>
            <a:r>
              <a:rPr lang="zh-CN" altLang="en-US" sz="1800" b="0" i="0" u="none" strike="noStrike" baseline="0" dirty="0">
                <a:latin typeface="SourceHanSansSC-Regular"/>
              </a:rPr>
              <a:t>可在本过程更新的项目文件包括（但不限于）：</a:t>
            </a:r>
          </a:p>
          <a:p>
            <a:pPr algn="l"/>
            <a:r>
              <a:rPr lang="zh-CN" altLang="en-US" sz="1800" b="1" i="0" u="none" strike="noStrike" baseline="0" dirty="0">
                <a:latin typeface="SourceHanSansSC-Bold"/>
              </a:rPr>
              <a:t>活动属性。</a:t>
            </a:r>
            <a:r>
              <a:rPr lang="zh-CN" altLang="en-US" sz="1800" b="0" i="0" u="none" strike="noStrike" baseline="0" dirty="0">
                <a:latin typeface="SourceHanSansSC-Regular"/>
              </a:rPr>
              <a:t>活动属性中可能描述了事件之间的必然顺序或确定的紧前或紧后关系，以及定义的提前量与滞后量，和活动之间的逻辑关系。</a:t>
            </a:r>
          </a:p>
          <a:p>
            <a:pPr algn="l"/>
            <a:r>
              <a:rPr lang="zh-CN" altLang="en-US" sz="1800" b="1" i="0" u="none" strike="noStrike" baseline="0" dirty="0">
                <a:latin typeface="SourceHanSansSC-Bold"/>
              </a:rPr>
              <a:t>活动清单。</a:t>
            </a:r>
            <a:r>
              <a:rPr lang="zh-CN" altLang="en-US" sz="1800" b="0" i="0" u="none" strike="noStrike" baseline="0" dirty="0">
                <a:latin typeface="SourceHanSansSC-Regular"/>
              </a:rPr>
              <a:t>在排列活动顺序时，活动清单可能会受到项目活动关系变更的影响。</a:t>
            </a:r>
          </a:p>
          <a:p>
            <a:pPr algn="l"/>
            <a:r>
              <a:rPr lang="zh-CN" altLang="en-US" sz="1800" b="1" i="0" u="none" strike="noStrike" baseline="0" dirty="0">
                <a:latin typeface="SourceHanSansSC-Bold"/>
              </a:rPr>
              <a:t>假设日志。</a:t>
            </a:r>
            <a:r>
              <a:rPr lang="zh-CN" altLang="en-US" sz="1800" b="0" i="0" u="none" strike="noStrike" baseline="0" dirty="0">
                <a:latin typeface="SourceHanSansSC-Regular"/>
              </a:rPr>
              <a:t>根据活动的排序、关系确定以及提前量和滞后量，可能需要更新假设日志中的假设条件和制约因素，并且有可能生成一个会影响项目进度的风险。</a:t>
            </a:r>
          </a:p>
          <a:p>
            <a:pPr algn="l"/>
            <a:r>
              <a:rPr lang="zh-CN" altLang="en-US" sz="1800" b="1" i="0" u="none" strike="noStrike" baseline="0" dirty="0">
                <a:latin typeface="SourceHanSansSC-Bold"/>
              </a:rPr>
              <a:t>里程碑清单。</a:t>
            </a:r>
            <a:r>
              <a:rPr lang="zh-CN" altLang="en-US" sz="1800" b="0" i="0" u="none" strike="noStrike" baseline="0" dirty="0">
                <a:latin typeface="SourceHanSansSC-Regular"/>
              </a:rPr>
              <a:t>在排列活动顺序时，特定里程碑的计划实现日期可能会受到项目活动关系变更的影响。</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22</a:t>
            </a:fld>
            <a:endParaRPr lang="zh-CN" altLang="en-US"/>
          </a:p>
        </p:txBody>
      </p:sp>
    </p:spTree>
    <p:extLst>
      <p:ext uri="{BB962C8B-B14F-4D97-AF65-F5344CB8AC3E}">
        <p14:creationId xmlns:p14="http://schemas.microsoft.com/office/powerpoint/2010/main" val="23988396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可用</a:t>
            </a:r>
            <a:r>
              <a:rPr lang="en-US" altLang="zh-CN" dirty="0"/>
              <a:t>MS Project</a:t>
            </a:r>
            <a:r>
              <a:rPr lang="zh-CN" altLang="en-US" dirty="0"/>
              <a:t>绘制的顺序图</a:t>
            </a:r>
            <a:r>
              <a:rPr lang="en-US" altLang="zh-CN" dirty="0"/>
              <a:t>(</a:t>
            </a:r>
            <a:r>
              <a:rPr lang="zh-CN" altLang="en-US" dirty="0"/>
              <a:t>前导图</a:t>
            </a:r>
            <a:r>
              <a:rPr lang="en-US" altLang="zh-CN" dirty="0"/>
              <a:t>)</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23</a:t>
            </a:fld>
            <a:endParaRPr lang="zh-CN" altLang="en-US"/>
          </a:p>
        </p:txBody>
      </p:sp>
    </p:spTree>
    <p:extLst>
      <p:ext uri="{BB962C8B-B14F-4D97-AF65-F5344CB8AC3E}">
        <p14:creationId xmlns:p14="http://schemas.microsoft.com/office/powerpoint/2010/main" val="28828244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0" lang="zh-CN" altLang="en-US" sz="1200" b="1" i="0" u="none" strike="noStrike" kern="0" cap="none" spc="0" normalizeH="0" baseline="0" noProof="0" dirty="0">
                <a:ln>
                  <a:noFill/>
                </a:ln>
                <a:solidFill>
                  <a:srgbClr val="000000"/>
                </a:solidFill>
                <a:effectLst/>
                <a:uLnTx/>
                <a:uFillTx/>
                <a:latin typeface="Arial"/>
                <a:ea typeface="宋体"/>
              </a:rPr>
              <a:t>工期通常以小时或天表示，但大型项目也可能用周或者月作为表示工期的单位</a:t>
            </a:r>
            <a:endParaRPr kumimoji="0" lang="en-US" altLang="zh-CN" sz="1200" b="1" i="0" u="none" strike="noStrike" kern="0" cap="none" spc="0" normalizeH="0" baseline="0" noProof="0" dirty="0">
              <a:ln>
                <a:noFill/>
              </a:ln>
              <a:solidFill>
                <a:srgbClr val="000000"/>
              </a:solidFill>
              <a:effectLst/>
              <a:uLnTx/>
              <a:uFillTx/>
              <a:latin typeface="Arial"/>
              <a:ea typeface="宋体"/>
            </a:endParaRPr>
          </a:p>
          <a:p>
            <a:endParaRPr kumimoji="0" lang="en-US" altLang="zh-CN" sz="1200" b="1" i="0" u="none" strike="noStrike" kern="0" cap="none" spc="0" normalizeH="0" baseline="0" noProof="0" dirty="0">
              <a:ln>
                <a:noFill/>
              </a:ln>
              <a:solidFill>
                <a:srgbClr val="000000"/>
              </a:solidFill>
              <a:effectLst/>
              <a:uLnTx/>
              <a:uFillTx/>
              <a:latin typeface="Arial"/>
              <a:ea typeface="宋体"/>
            </a:endParaRPr>
          </a:p>
          <a:p>
            <a:pPr algn="just" eaLnBrk="1" hangingPunct="1">
              <a:lnSpc>
                <a:spcPct val="120000"/>
              </a:lnSpc>
              <a:spcBef>
                <a:spcPct val="0"/>
              </a:spcBef>
            </a:pPr>
            <a:r>
              <a:rPr lang="zh-CN" altLang="en-US" sz="1400" b="1" dirty="0"/>
              <a:t>一、项目活动工期估算的概念</a:t>
            </a:r>
            <a:endParaRPr lang="en-US" altLang="zh-CN" sz="1400" b="1" dirty="0"/>
          </a:p>
          <a:p>
            <a:r>
              <a:rPr lang="zh-CN" altLang="zh-CN" dirty="0"/>
              <a:t>根据资源估算结果，估算完成单项活动所需工作时段数。</a:t>
            </a:r>
          </a:p>
          <a:p>
            <a:endParaRPr lang="en-US" altLang="zh-CN" dirty="0"/>
          </a:p>
          <a:p>
            <a:r>
              <a:rPr lang="zh-CN" altLang="zh-CN" dirty="0"/>
              <a:t>估算活动持续时间依据的信息包括：活动工作范围、所需的资源类型、估算的资源数量和资源日历。</a:t>
            </a:r>
          </a:p>
          <a:p>
            <a:r>
              <a:rPr lang="zh-CN" altLang="zh-CN" dirty="0"/>
              <a:t>估算活动持续时间过程，遵循渐进明细。</a:t>
            </a:r>
          </a:p>
          <a:p>
            <a:r>
              <a:rPr lang="zh-CN" altLang="zh-CN" dirty="0"/>
              <a:t>估算时要记录所有依据数据和假设条件。</a:t>
            </a:r>
          </a:p>
          <a:p>
            <a:pPr algn="just" eaLnBrk="1" hangingPunct="1">
              <a:lnSpc>
                <a:spcPct val="120000"/>
              </a:lnSpc>
              <a:spcBef>
                <a:spcPct val="0"/>
              </a:spcBef>
            </a:pPr>
            <a:endParaRPr lang="en-US" altLang="zh-CN" sz="1400" b="1" dirty="0"/>
          </a:p>
          <a:p>
            <a:r>
              <a:rPr lang="zh-CN" altLang="en-US" dirty="0">
                <a:ea typeface="幼圆" panose="02010600030101010101" charset="-122"/>
              </a:rPr>
              <a:t>考虑间歇时间，考虑时间弹性：</a:t>
            </a:r>
            <a:r>
              <a:rPr lang="zh-CN" altLang="en-US" dirty="0"/>
              <a:t>根据施工过程的工艺性质，在</a:t>
            </a:r>
            <a:r>
              <a:rPr lang="zh-CN" altLang="en-US" dirty="0">
                <a:hlinkClick r:id="rId3"/>
              </a:rPr>
              <a:t>流水施工</a:t>
            </a:r>
            <a:r>
              <a:rPr lang="zh-CN" altLang="en-US" dirty="0"/>
              <a:t>中除了考虑两个相邻施工过程之间的流水步距外，还需考虑增加一定的工艺或技术间隙时间。如楼板</a:t>
            </a:r>
            <a:r>
              <a:rPr lang="zh-CN" altLang="en-US" dirty="0">
                <a:hlinkClick r:id="rId4"/>
              </a:rPr>
              <a:t>混凝土浇筑</a:t>
            </a:r>
            <a:r>
              <a:rPr lang="zh-CN" altLang="en-US" dirty="0"/>
              <a:t>后，需要一定的养护时间才能进行后道工序的施工；又如屋面找平层完成后，需等待一定时间，使其彻底干燥，才能进行屋面防水层施工等。这些由于工艺、技术等原因引起的等待时间，称为</a:t>
            </a:r>
            <a:r>
              <a:rPr lang="zh-CN" altLang="en-US" b="1" dirty="0"/>
              <a:t>工艺、技术间隙时间</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24</a:t>
            </a:fld>
            <a:endParaRPr lang="zh-CN" altLang="en-US"/>
          </a:p>
        </p:txBody>
      </p:sp>
    </p:spTree>
    <p:extLst>
      <p:ext uri="{BB962C8B-B14F-4D97-AF65-F5344CB8AC3E}">
        <p14:creationId xmlns:p14="http://schemas.microsoft.com/office/powerpoint/2010/main" val="21889774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C. 14</a:t>
            </a:r>
            <a:r>
              <a:rPr lang="zh-CN" altLang="en-US" dirty="0"/>
              <a:t>周</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25</a:t>
            </a:fld>
            <a:endParaRPr lang="zh-CN" altLang="en-US"/>
          </a:p>
        </p:txBody>
      </p:sp>
    </p:spTree>
    <p:extLst>
      <p:ext uri="{BB962C8B-B14F-4D97-AF65-F5344CB8AC3E}">
        <p14:creationId xmlns:p14="http://schemas.microsoft.com/office/powerpoint/2010/main" val="14518733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i="1" dirty="0"/>
              <a:t>1</a:t>
            </a:r>
            <a:r>
              <a:rPr lang="zh-CN" altLang="zh-CN" i="1" dirty="0"/>
              <a:t>目的</a:t>
            </a:r>
          </a:p>
          <a:p>
            <a:r>
              <a:rPr lang="zh-CN" altLang="en-US" sz="1800" b="0" i="0" u="none" strike="noStrike" baseline="0" dirty="0">
                <a:latin typeface="SourceHanSansSC-Regular"/>
              </a:rPr>
              <a:t>确定完成每个活动所需花费的时间量</a:t>
            </a:r>
            <a:endParaRPr lang="en-US" altLang="zh-CN" sz="1800" b="0" i="0" u="none" strike="noStrike" baseline="0" dirty="0">
              <a:latin typeface="SourceHanSansSC-Regular"/>
            </a:endParaRPr>
          </a:p>
          <a:p>
            <a:pPr algn="l"/>
            <a:r>
              <a:rPr lang="zh-CN" altLang="en-US" sz="1200" b="0" i="0" u="none" strike="noStrike" baseline="0" dirty="0">
                <a:latin typeface="SourceHanSansSC-Regular"/>
              </a:rPr>
              <a:t>在本过程中，应该首先估算出完成活动所需的工作量和计划投入该活动的资源数量，然后结合项目日历和资源日历，据此估算出完成活动所需的工作时段数（活动持续时间）。</a:t>
            </a:r>
            <a:endParaRPr lang="en-US" altLang="zh-CN" sz="1200" b="0" i="0" u="none" strike="noStrike" baseline="0" dirty="0">
              <a:latin typeface="SourceHanSansSC-Regular"/>
            </a:endParaRPr>
          </a:p>
          <a:p>
            <a:pPr algn="l"/>
            <a:r>
              <a:rPr lang="zh-CN" altLang="en-US" sz="1200" b="0" i="0" u="none" strike="noStrike" baseline="0" dirty="0">
                <a:latin typeface="SourceHanSansSC-Regular"/>
              </a:rPr>
              <a:t>在许多情况下，预计可用的资源数量以及这些资源的技能熟练程度可能会决定活动的持续时间，更改分配到活动的主导性资源通常会影响持续时间，但这不是简单的“直线”或线性关系。</a:t>
            </a:r>
            <a:endParaRPr lang="en-US" altLang="zh-CN" sz="1200" b="0" i="0" u="none" strike="noStrike" baseline="0" dirty="0">
              <a:latin typeface="SourceHanSansSC-Regular"/>
            </a:endParaRPr>
          </a:p>
          <a:p>
            <a:endParaRPr lang="en-US" altLang="zh-CN" dirty="0"/>
          </a:p>
          <a:p>
            <a:pPr algn="l"/>
            <a:r>
              <a:rPr lang="zh-CN" altLang="en-US" sz="1200" b="0" i="0" u="none" strike="noStrike" baseline="0" dirty="0">
                <a:latin typeface="SourceHanSansSC-Regular"/>
              </a:rPr>
              <a:t>估算活动持续时间依据的信息包括：工作范围、所需资源类型与技能水平、估算的资源数量和资源日历，而可能影响持续时间估算的其他因素包括对持续时间受到的约束、相关人力投入、资源类型（如固定持续时间、固定人力投入或工作、固定资源数量）以及所采用的进度网络分析技术。</a:t>
            </a:r>
            <a:endParaRPr lang="en-US" altLang="zh-CN" sz="1200" b="0" i="0" u="none" strike="noStrike" baseline="0" dirty="0">
              <a:latin typeface="SourceHanSansSC-Regular"/>
            </a:endParaRPr>
          </a:p>
          <a:p>
            <a:pPr algn="l"/>
            <a:r>
              <a:rPr lang="zh-CN" altLang="en-US" sz="1200" b="0" i="0" u="none" strike="noStrike" baseline="0" dirty="0">
                <a:latin typeface="SourceHanSansSC-Regular"/>
              </a:rPr>
              <a:t>应该由项目团队中最熟悉具体活动的个人或小组提供持续时间估算所需的各种输入，对持续时间的估算也应该渐进明细，取决于输入数据的数量和质量。</a:t>
            </a:r>
            <a:endParaRPr lang="en-US" altLang="zh-CN" sz="1200" b="0" i="0" u="none" strike="noStrike" baseline="0" dirty="0">
              <a:latin typeface="SourceHanSansSC-Regular"/>
            </a:endParaRPr>
          </a:p>
          <a:p>
            <a:pPr algn="l"/>
            <a:r>
              <a:rPr lang="zh-CN" altLang="en-US" sz="1200" b="0" i="0" u="none" strike="noStrike" baseline="0" dirty="0">
                <a:latin typeface="SourceHanSansSC-Regular"/>
              </a:rPr>
              <a:t>例如，在工程与设计项目中，随着数据越来越详细，越来越准确，持续时间估算的准确性和质量也会越来越高。</a:t>
            </a:r>
            <a:endParaRPr lang="en-US" altLang="zh-CN" sz="1200" b="0" i="0" u="none" strike="noStrike" baseline="0" dirty="0">
              <a:latin typeface="SourceHanSansSC-Regular"/>
            </a:endParaRPr>
          </a:p>
          <a:p>
            <a:pPr algn="l"/>
            <a:endParaRPr lang="en-US" altLang="zh-CN" sz="1200" b="0" i="0" u="none" strike="noStrike" baseline="0" dirty="0">
              <a:latin typeface="SourceHanSansSC-Regular"/>
            </a:endParaRPr>
          </a:p>
          <a:p>
            <a:pPr algn="l"/>
            <a:r>
              <a:rPr lang="zh-CN" altLang="en-US" sz="1200" b="0" i="0" u="none" strike="noStrike" baseline="0" dirty="0">
                <a:latin typeface="SourceHanSansSC-Regular"/>
              </a:rPr>
              <a:t>估算持续时间时需要考虑的其他因素包括：</a:t>
            </a:r>
          </a:p>
          <a:p>
            <a:pPr algn="l"/>
            <a:r>
              <a:rPr lang="en-US" altLang="zh-CN" sz="1200" b="0" i="0" u="none" strike="noStrike" baseline="0" dirty="0">
                <a:latin typeface="Wingdings-Regular"/>
              </a:rPr>
              <a:t>  </a:t>
            </a:r>
            <a:r>
              <a:rPr lang="zh-CN" altLang="en-US" sz="1200" b="1" i="0" u="none" strike="noStrike" baseline="0" dirty="0">
                <a:latin typeface="SourceHanSansSC-Bold"/>
              </a:rPr>
              <a:t>收益递减规律。</a:t>
            </a:r>
            <a:r>
              <a:rPr lang="zh-CN" altLang="en-US" sz="1200" b="0" i="0" u="none" strike="noStrike" baseline="0" dirty="0">
                <a:latin typeface="SourceHanSansSC-Regular"/>
              </a:rPr>
              <a:t>在保持其他因素不变的情况下，增加一个用于确定单位产出所需投入的因素（如资源）会最终达到一个临界点，在该点之后的产出或输出会随着增加这个因素而递减。</a:t>
            </a:r>
          </a:p>
          <a:p>
            <a:pPr algn="l"/>
            <a:r>
              <a:rPr lang="en-US" altLang="zh-CN" sz="1200" b="0" i="0" u="none" strike="noStrike" baseline="0" dirty="0">
                <a:latin typeface="Wingdings-Regular"/>
              </a:rPr>
              <a:t>  </a:t>
            </a:r>
            <a:r>
              <a:rPr lang="zh-CN" altLang="en-US" sz="1200" b="1" i="0" u="none" strike="noStrike" baseline="0" dirty="0">
                <a:latin typeface="SourceHanSansSC-Bold"/>
              </a:rPr>
              <a:t>资源数量。</a:t>
            </a:r>
            <a:r>
              <a:rPr lang="zh-CN" altLang="en-US" sz="1200" b="0" i="0" u="none" strike="noStrike" baseline="0" dirty="0">
                <a:latin typeface="SourceHanSansSC-Regular"/>
              </a:rPr>
              <a:t>增加资源数量，使其达到初始数量的两倍不一定能缩短一半的时间，因为这样做可能会因风险而造成持续时间增加；在某些情况下，如果增加太多活动资源，可能会因知识传递、学习曲线、额外合作等其他相关因素而造成持续时间增加。</a:t>
            </a:r>
          </a:p>
          <a:p>
            <a:pPr algn="l"/>
            <a:r>
              <a:rPr lang="en-US" altLang="zh-CN" sz="1200" b="0" i="0" u="none" strike="noStrike" baseline="0" dirty="0">
                <a:latin typeface="Wingdings-Regular"/>
              </a:rPr>
              <a:t>  </a:t>
            </a:r>
            <a:r>
              <a:rPr lang="zh-CN" altLang="en-US" sz="1200" b="1" i="0" u="none" strike="noStrike" baseline="0" dirty="0">
                <a:latin typeface="SourceHanSansSC-Bold"/>
              </a:rPr>
              <a:t>技术进步。</a:t>
            </a:r>
            <a:r>
              <a:rPr lang="zh-CN" altLang="en-US" sz="1200" b="0" i="0" u="none" strike="noStrike" baseline="0" dirty="0">
                <a:latin typeface="SourceHanSansSC-Regular"/>
              </a:rPr>
              <a:t>在确定持续时间估算时，这个因素也可能发挥重要作用。例如，通过采购最新技术，制造工厂可以提高产量，而这可能会影响持续时间和资源需求。</a:t>
            </a:r>
          </a:p>
          <a:p>
            <a:pPr algn="l"/>
            <a:r>
              <a:rPr lang="en-US" altLang="zh-CN" sz="1200" b="0" i="0" u="none" strike="noStrike" baseline="0" dirty="0">
                <a:latin typeface="Wingdings-Regular"/>
              </a:rPr>
              <a:t>  </a:t>
            </a:r>
            <a:r>
              <a:rPr lang="zh-CN" altLang="en-US" sz="1200" b="1" i="0" u="none" strike="noStrike" baseline="0" dirty="0">
                <a:latin typeface="SourceHanSansSC-Bold"/>
              </a:rPr>
              <a:t>员工激励。</a:t>
            </a:r>
            <a:r>
              <a:rPr lang="zh-CN" altLang="en-US" sz="1200" b="0" i="0" u="none" strike="noStrike" baseline="0" dirty="0">
                <a:latin typeface="SourceHanSansSC-Regular"/>
              </a:rPr>
              <a:t>项目经理还需要了解“学生综合征”（即拖延症）和帕金森定律，前者指出，人们只有在最后一刻，即快到期限时才会全力以赴；后者指出，只要还有时间，工作就会不断扩展，直到用完所有的时间。</a:t>
            </a:r>
            <a:endParaRPr lang="zh-CN" altLang="zh-CN" dirty="0"/>
          </a:p>
          <a:p>
            <a:endParaRPr lang="en-US" altLang="zh-CN" dirty="0"/>
          </a:p>
          <a:p>
            <a:r>
              <a:rPr lang="en-US" altLang="zh-CN" dirty="0"/>
              <a:t>2</a:t>
            </a:r>
            <a:r>
              <a:rPr lang="zh-CN" altLang="zh-CN" dirty="0"/>
              <a:t>重点输入</a:t>
            </a:r>
          </a:p>
          <a:p>
            <a:r>
              <a:rPr lang="zh-CN" altLang="zh-CN" dirty="0"/>
              <a:t>进度管理计划</a:t>
            </a:r>
            <a:endParaRPr lang="en-US" altLang="zh-CN" dirty="0"/>
          </a:p>
          <a:p>
            <a:r>
              <a:rPr lang="zh-CN" altLang="en-US" dirty="0"/>
              <a:t>范围基准</a:t>
            </a:r>
            <a:endParaRPr lang="en-US" altLang="zh-CN" dirty="0"/>
          </a:p>
          <a:p>
            <a:r>
              <a:rPr lang="zh-CN" altLang="en-US" dirty="0"/>
              <a:t>项目文件：</a:t>
            </a:r>
            <a:endParaRPr lang="en-US" altLang="zh-CN" dirty="0"/>
          </a:p>
          <a:p>
            <a:pPr algn="l"/>
            <a:r>
              <a:rPr lang="en-US" altLang="zh-CN" dirty="0"/>
              <a:t>  </a:t>
            </a:r>
            <a:r>
              <a:rPr lang="zh-CN" altLang="zh-CN" dirty="0"/>
              <a:t>活动属性</a:t>
            </a:r>
            <a:r>
              <a:rPr lang="zh-CN" altLang="en-US" dirty="0"/>
              <a:t>。</a:t>
            </a:r>
            <a:r>
              <a:rPr lang="zh-CN" altLang="en-US" sz="1800" b="0" i="0" u="none" strike="noStrike" baseline="0" dirty="0">
                <a:latin typeface="SourceHanSansSC-Regular"/>
              </a:rPr>
              <a:t>活动属性可能描述了确定的紧前或紧后关系、定义的提前量与滞后量以及可能影响持续时间估算的活动之间的逻辑关系。</a:t>
            </a:r>
            <a:endParaRPr lang="zh-CN" altLang="zh-CN" dirty="0"/>
          </a:p>
          <a:p>
            <a:pPr algn="l"/>
            <a:r>
              <a:rPr lang="en-US" altLang="zh-CN" dirty="0"/>
              <a:t>  </a:t>
            </a:r>
            <a:r>
              <a:rPr lang="zh-CN" altLang="zh-CN" dirty="0"/>
              <a:t>活动清单</a:t>
            </a:r>
            <a:r>
              <a:rPr lang="zh-CN" altLang="en-US" dirty="0"/>
              <a:t>。</a:t>
            </a:r>
            <a:r>
              <a:rPr lang="zh-CN" altLang="en-US" sz="1800" b="0" i="0" u="none" strike="noStrike" baseline="0" dirty="0">
                <a:latin typeface="SourceHanSansSC-Regular"/>
              </a:rPr>
              <a:t>活动清单列出了项目所需的、待估算的全部进度活动，这些活动的依赖关系和其他制约因素会对持续时间估算产生影响。</a:t>
            </a:r>
            <a:endParaRPr lang="en-US" altLang="zh-CN" dirty="0"/>
          </a:p>
          <a:p>
            <a:r>
              <a:rPr lang="zh-CN" altLang="en-US" sz="1200" b="1" i="0" u="none" strike="noStrike" baseline="0" dirty="0">
                <a:latin typeface="SourceHanSansSC-Bold"/>
              </a:rPr>
              <a:t>  资源分解结构。</a:t>
            </a:r>
            <a:r>
              <a:rPr lang="zh-CN" altLang="en-US" sz="1200" b="0" i="0" u="none" strike="noStrike" baseline="0" dirty="0">
                <a:latin typeface="SourceHanSansSC-Regular"/>
              </a:rPr>
              <a:t>资源分解结构按照资源类别和资源类型，提供了已识别资源的层级结构。</a:t>
            </a:r>
            <a:endParaRPr lang="en-US" altLang="zh-CN" sz="1200" b="0" i="0" u="none" strike="noStrike" baseline="0" dirty="0">
              <a:latin typeface="SourceHanSansSC-Regular"/>
            </a:endParaRPr>
          </a:p>
          <a:p>
            <a:r>
              <a:rPr lang="en-US" altLang="zh-CN" dirty="0"/>
              <a:t>  </a:t>
            </a:r>
            <a:r>
              <a:rPr lang="zh-CN" altLang="zh-CN" dirty="0"/>
              <a:t>资源日历：资源日历是表明每种具体资源的可用工作日或工作班次的日历。估算是要了解在规划的活动期间，那些资源、设备和材料可用。</a:t>
            </a:r>
            <a:r>
              <a:rPr lang="en-US" altLang="zh-CN" dirty="0"/>
              <a:t> </a:t>
            </a:r>
            <a:r>
              <a:rPr lang="zh-CN" altLang="zh-CN" dirty="0"/>
              <a:t>资源日历规定了在项目期间特定的项目资源何时可用，能用多久</a:t>
            </a:r>
            <a:r>
              <a:rPr lang="zh-CN" altLang="en-US" dirty="0"/>
              <a:t>。</a:t>
            </a:r>
            <a:endParaRPr lang="en-US" altLang="zh-CN" dirty="0"/>
          </a:p>
          <a:p>
            <a:pPr algn="l"/>
            <a:r>
              <a:rPr lang="en-US" altLang="zh-CN" dirty="0"/>
              <a:t>  </a:t>
            </a:r>
            <a:r>
              <a:rPr lang="zh-CN" altLang="en-US" sz="1800" b="1" i="0" u="none" strike="noStrike" baseline="0" dirty="0">
                <a:latin typeface="SourceHanSansSC-Bold"/>
              </a:rPr>
              <a:t>资源需求。</a:t>
            </a:r>
            <a:r>
              <a:rPr lang="zh-CN" altLang="en-US" sz="1800" b="0" i="0" u="none" strike="noStrike" baseline="0" dirty="0">
                <a:latin typeface="SourceHanSansSC-Regular"/>
              </a:rPr>
              <a:t>估算的活动资源需求会对活动持续时间产生影响。对于大多数活动来说，所分配的资源能否达到要求，将对其持续时间有显著影响。例如，向某个活动新增资源或分配低技能资源，就需要增加沟通、培训和协调工作，从而可能导致活动效率或生产率下降，由此需要估算更长的持续时间。</a:t>
            </a:r>
            <a:endParaRPr lang="zh-CN" altLang="zh-CN" dirty="0"/>
          </a:p>
          <a:p>
            <a:r>
              <a:rPr lang="zh-CN" altLang="zh-CN" dirty="0"/>
              <a:t>风险登记册；</a:t>
            </a:r>
          </a:p>
          <a:p>
            <a:r>
              <a:rPr lang="zh-CN" altLang="zh-CN" dirty="0"/>
              <a:t>事业环境因素</a:t>
            </a:r>
            <a:r>
              <a:rPr lang="zh-CN" altLang="en-US" dirty="0"/>
              <a:t>。</a:t>
            </a:r>
            <a:r>
              <a:rPr lang="zh-CN" altLang="en-US" sz="1800" b="0" i="0" u="none" strike="noStrike" baseline="0" dirty="0">
                <a:latin typeface="SourceHanSansSC-Regular"/>
              </a:rPr>
              <a:t> 能够影响估算活动持续时间过程的事业环境因素包括（但不限于）：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持续时间估算数据库和其他参考数据；</a:t>
            </a:r>
          </a:p>
          <a:p>
            <a:pPr algn="l"/>
            <a:r>
              <a:rPr lang="zh-CN" altLang="en-US" sz="1800" b="0" i="0" u="none" strike="noStrike" baseline="0" dirty="0">
                <a:latin typeface="SourceHanSansSC-Regular"/>
              </a:rPr>
              <a:t>  生产率测量指标；</a:t>
            </a:r>
          </a:p>
          <a:p>
            <a:pPr algn="l"/>
            <a:r>
              <a:rPr lang="zh-CN" altLang="en-US" sz="1800" b="0" i="0" u="none" strike="noStrike" baseline="0" dirty="0">
                <a:latin typeface="SourceHanSansSC-Regular"/>
              </a:rPr>
              <a:t>  发布的商业信息；</a:t>
            </a:r>
          </a:p>
          <a:p>
            <a:pPr algn="l"/>
            <a:r>
              <a:rPr lang="zh-CN" altLang="en-US" sz="1800" b="0" i="0" u="none" strike="noStrike" baseline="0" dirty="0">
                <a:latin typeface="SourceHanSansSC-Regular"/>
              </a:rPr>
              <a:t>  团队成员的所在地。</a:t>
            </a:r>
            <a:endParaRPr lang="en-US" altLang="zh-CN" dirty="0"/>
          </a:p>
          <a:p>
            <a:r>
              <a:rPr lang="zh-CN" altLang="zh-CN" dirty="0"/>
              <a:t>组织过程资产。</a:t>
            </a:r>
            <a:r>
              <a:rPr lang="zh-CN" altLang="en-US" dirty="0"/>
              <a:t>能够影响估算活动持续时间过程的组织过程资产包括（但不限于）：</a:t>
            </a:r>
            <a:endParaRPr lang="en-US" altLang="zh-CN" dirty="0"/>
          </a:p>
          <a:p>
            <a:r>
              <a:rPr lang="en-US" altLang="zh-CN" dirty="0"/>
              <a:t>  </a:t>
            </a:r>
            <a:r>
              <a:rPr lang="zh-CN" altLang="en-US" dirty="0"/>
              <a:t>关于持续时间的历史信息；</a:t>
            </a:r>
          </a:p>
          <a:p>
            <a:r>
              <a:rPr lang="zh-CN" altLang="en-US" dirty="0"/>
              <a:t>  项目日历；</a:t>
            </a:r>
          </a:p>
          <a:p>
            <a:r>
              <a:rPr lang="zh-CN" altLang="en-US" dirty="0"/>
              <a:t>  估算政策；</a:t>
            </a:r>
          </a:p>
          <a:p>
            <a:r>
              <a:rPr lang="zh-CN" altLang="en-US" dirty="0"/>
              <a:t>  进度规划方法论；</a:t>
            </a:r>
          </a:p>
          <a:p>
            <a:r>
              <a:rPr lang="zh-CN" altLang="en-US" dirty="0"/>
              <a:t>  经验教训知识库。</a:t>
            </a:r>
            <a:endParaRPr lang="zh-CN" altLang="zh-CN" dirty="0"/>
          </a:p>
          <a:p>
            <a:r>
              <a:rPr lang="en-US" altLang="zh-CN" dirty="0"/>
              <a:t> </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26</a:t>
            </a:fld>
            <a:endParaRPr lang="zh-CN" altLang="en-US"/>
          </a:p>
        </p:txBody>
      </p:sp>
    </p:spTree>
    <p:extLst>
      <p:ext uri="{BB962C8B-B14F-4D97-AF65-F5344CB8AC3E}">
        <p14:creationId xmlns:p14="http://schemas.microsoft.com/office/powerpoint/2010/main" val="20492455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lnSpc>
                <a:spcPct val="115000"/>
              </a:lnSpc>
              <a:spcBef>
                <a:spcPct val="0"/>
              </a:spcBef>
            </a:pPr>
            <a:r>
              <a:rPr lang="zh-CN" altLang="en-US" b="1" dirty="0"/>
              <a:t>三</a:t>
            </a:r>
            <a:r>
              <a:rPr lang="en-US" altLang="zh-CN" b="1" dirty="0"/>
              <a:t>.</a:t>
            </a:r>
            <a:r>
              <a:rPr lang="zh-CN" altLang="en-US" b="1" dirty="0"/>
              <a:t>项目活动工期估算的工具和技术</a:t>
            </a:r>
            <a:endParaRPr lang="zh-CN" altLang="en-US" dirty="0"/>
          </a:p>
          <a:p>
            <a:pPr algn="just" eaLnBrk="1" hangingPunct="1">
              <a:lnSpc>
                <a:spcPct val="115000"/>
              </a:lnSpc>
              <a:spcBef>
                <a:spcPct val="0"/>
              </a:spcBef>
            </a:pPr>
            <a:r>
              <a:rPr lang="zh-CN" altLang="en-US" dirty="0"/>
              <a:t> </a:t>
            </a:r>
            <a:r>
              <a:rPr lang="en-US" altLang="zh-CN" dirty="0"/>
              <a:t>1</a:t>
            </a:r>
            <a:r>
              <a:rPr lang="zh-CN" altLang="en-US" dirty="0"/>
              <a:t>．</a:t>
            </a:r>
            <a:r>
              <a:rPr lang="zh-CN" altLang="en-US" b="1" dirty="0">
                <a:solidFill>
                  <a:srgbClr val="FF3300"/>
                </a:solidFill>
              </a:rPr>
              <a:t>专家判断</a:t>
            </a:r>
          </a:p>
          <a:p>
            <a:pPr algn="just" eaLnBrk="1" hangingPunct="1">
              <a:lnSpc>
                <a:spcPct val="115000"/>
              </a:lnSpc>
              <a:spcBef>
                <a:spcPct val="0"/>
              </a:spcBef>
            </a:pPr>
            <a:r>
              <a:rPr lang="zh-CN" altLang="en-US" dirty="0"/>
              <a:t>     专家判断是指利用拥有相关知识或过去相似项目活动经验的专家意见来估算工期。</a:t>
            </a:r>
          </a:p>
          <a:p>
            <a:pPr eaLnBrk="1" hangingPunct="1">
              <a:lnSpc>
                <a:spcPct val="115000"/>
              </a:lnSpc>
              <a:spcBef>
                <a:spcPct val="0"/>
              </a:spcBef>
            </a:pPr>
            <a:r>
              <a:rPr lang="zh-CN" altLang="en-US" dirty="0"/>
              <a:t> </a:t>
            </a:r>
            <a:r>
              <a:rPr lang="en-US" altLang="zh-CN" dirty="0"/>
              <a:t>2</a:t>
            </a:r>
            <a:r>
              <a:rPr lang="zh-CN" altLang="en-US" dirty="0"/>
              <a:t>．</a:t>
            </a:r>
            <a:r>
              <a:rPr lang="zh-CN" altLang="en-US" b="1" dirty="0">
                <a:solidFill>
                  <a:srgbClr val="FF3300"/>
                </a:solidFill>
              </a:rPr>
              <a:t>类比估算</a:t>
            </a:r>
          </a:p>
          <a:p>
            <a:pPr eaLnBrk="1" hangingPunct="1">
              <a:lnSpc>
                <a:spcPct val="115000"/>
              </a:lnSpc>
              <a:spcBef>
                <a:spcPct val="0"/>
              </a:spcBef>
            </a:pPr>
            <a:r>
              <a:rPr lang="zh-CN" altLang="en-US" dirty="0"/>
              <a:t>   此方法在以前的项目都有相关的文档，并且当前须估计的活动与以前的项目活动很相似时，是非常有用的。</a:t>
            </a:r>
            <a:endParaRPr lang="en-US" altLang="zh-CN" dirty="0"/>
          </a:p>
          <a:p>
            <a:pPr algn="l"/>
            <a:r>
              <a:rPr lang="en-US" altLang="zh-CN" dirty="0"/>
              <a:t>   </a:t>
            </a:r>
            <a:r>
              <a:rPr lang="zh-CN" altLang="en-US" sz="1800" b="0" i="0" u="none" strike="noStrike" baseline="0" dirty="0">
                <a:latin typeface="SourceHanSansSC-Regular"/>
              </a:rPr>
              <a:t>例如，对于设计项目，将图纸的张数乘以每张图纸所需的工时；或者对于电缆铺设项目，将电缆的长度乘以铺设每米电缆所需的工时。如果所用的资源每小时能够铺设 </a:t>
            </a:r>
            <a:r>
              <a:rPr lang="en-US" altLang="zh-CN" sz="1800" b="0" i="0" u="none" strike="noStrike" baseline="0" dirty="0">
                <a:latin typeface="HelveticaNeue-Condensed"/>
              </a:rPr>
              <a:t>25 </a:t>
            </a:r>
            <a:r>
              <a:rPr lang="zh-CN" altLang="en-US" sz="1800" b="0" i="0" u="none" strike="noStrike" baseline="0" dirty="0">
                <a:latin typeface="SourceHanSansSC-Regular"/>
              </a:rPr>
              <a:t>米电缆，那么铺设 </a:t>
            </a:r>
            <a:r>
              <a:rPr lang="en-US" altLang="zh-CN" sz="1800" b="0" i="0" u="none" strike="noStrike" baseline="0" dirty="0">
                <a:latin typeface="HelveticaNeue-Condensed"/>
              </a:rPr>
              <a:t>1000 </a:t>
            </a:r>
            <a:r>
              <a:rPr lang="zh-CN" altLang="en-US" sz="1800" b="0" i="0" u="none" strike="noStrike" baseline="0" dirty="0">
                <a:latin typeface="SourceHanSansSC-Regular"/>
              </a:rPr>
              <a:t>米电缆的持续时间是</a:t>
            </a:r>
            <a:r>
              <a:rPr lang="en-US" altLang="zh-CN" sz="1800" b="0" i="0" u="none" strike="noStrike" baseline="0" dirty="0">
                <a:latin typeface="HelveticaNeue-Condensed"/>
              </a:rPr>
              <a:t>40 </a:t>
            </a:r>
            <a:r>
              <a:rPr lang="zh-CN" altLang="en-US" sz="1800" b="0" i="0" u="none" strike="noStrike" baseline="0" dirty="0">
                <a:latin typeface="SourceHanSansSC-Regular"/>
              </a:rPr>
              <a:t>小时（</a:t>
            </a:r>
            <a:r>
              <a:rPr lang="en-US" altLang="zh-CN" sz="1800" b="0" i="0" u="none" strike="noStrike" baseline="0" dirty="0">
                <a:latin typeface="HelveticaNeue-Condensed"/>
              </a:rPr>
              <a:t>1000 </a:t>
            </a:r>
            <a:r>
              <a:rPr lang="zh-CN" altLang="en-US" sz="1800" b="0" i="0" u="none" strike="noStrike" baseline="0" dirty="0">
                <a:latin typeface="SourceHanSansSC-Regular"/>
              </a:rPr>
              <a:t>米除以 </a:t>
            </a:r>
            <a:r>
              <a:rPr lang="en-US" altLang="zh-CN" sz="1800" b="0" i="0" u="none" strike="noStrike" baseline="0" dirty="0">
                <a:latin typeface="HelveticaNeue-Condensed"/>
              </a:rPr>
              <a:t>25 </a:t>
            </a:r>
            <a:r>
              <a:rPr lang="zh-CN" altLang="en-US" sz="1800" b="0" i="0" u="none" strike="noStrike" baseline="0" dirty="0">
                <a:latin typeface="SourceHanSansSC-Regular"/>
              </a:rPr>
              <a:t>米</a:t>
            </a:r>
            <a:r>
              <a:rPr lang="en-US" altLang="zh-CN" sz="1800" b="0" i="0" u="none" strike="noStrike" baseline="0" dirty="0">
                <a:latin typeface="SourceHanSansSC-Regular"/>
              </a:rPr>
              <a:t>/</a:t>
            </a:r>
            <a:r>
              <a:rPr lang="zh-CN" altLang="en-US" sz="1800" b="0" i="0" u="none" strike="noStrike" baseline="0" dirty="0">
                <a:latin typeface="SourceHanSansSC-Regular"/>
              </a:rPr>
              <a:t>小时）。</a:t>
            </a:r>
            <a:endParaRPr lang="en-US" altLang="zh-CN" dirty="0"/>
          </a:p>
          <a:p>
            <a:r>
              <a:rPr lang="en-US" altLang="zh-CN" dirty="0"/>
              <a:t> 3. </a:t>
            </a:r>
            <a:r>
              <a:rPr lang="zh-CN" altLang="en-US" dirty="0"/>
              <a:t>参数估算</a:t>
            </a:r>
          </a:p>
          <a:p>
            <a:r>
              <a:rPr lang="zh-CN" altLang="en-US" dirty="0"/>
              <a:t>    参数估算是一种基于历史数据和项目参数，使用某种算法来计算成本或持续时间的估算技术。参数估算是指利用历史数据之间的统计关系和其他变量</a:t>
            </a:r>
            <a:r>
              <a:rPr lang="en-US" altLang="zh-CN" dirty="0"/>
              <a:t>(</a:t>
            </a:r>
            <a:r>
              <a:rPr lang="zh-CN" altLang="en-US" dirty="0"/>
              <a:t>如建筑施工中的平方米</a:t>
            </a:r>
            <a:r>
              <a:rPr lang="en-US" altLang="zh-CN" dirty="0"/>
              <a:t>)</a:t>
            </a:r>
            <a:r>
              <a:rPr lang="zh-CN" altLang="en-US" dirty="0"/>
              <a:t>，来估算诸如成本、预算和持续时间等活动参数。</a:t>
            </a:r>
          </a:p>
          <a:p>
            <a:r>
              <a:rPr lang="zh-CN" altLang="en-US" dirty="0"/>
              <a:t> 把需要实施的工作量乘以完成单位工作量所需的工时，即可计算出活动持续时间。例如，对于设计项目，将图纸的张数乘以每张图纸所需的工时</a:t>
            </a:r>
            <a:r>
              <a:rPr lang="en-US" altLang="zh-CN" dirty="0"/>
              <a:t>; </a:t>
            </a:r>
            <a:r>
              <a:rPr lang="zh-CN" altLang="en-US" dirty="0"/>
              <a:t>或者对于电缆铺设项自，将电缆的长度乘以铺设每米电缆所需的工时。又例如，如果所用的资源每小时能够铺设</a:t>
            </a:r>
            <a:r>
              <a:rPr lang="en-US" altLang="zh-CN" dirty="0"/>
              <a:t>25</a:t>
            </a:r>
            <a:r>
              <a:rPr lang="zh-CN" altLang="en-US" dirty="0"/>
              <a:t>米电缆，那么铺设</a:t>
            </a:r>
            <a:r>
              <a:rPr lang="en-US" altLang="zh-CN" dirty="0"/>
              <a:t>1 000</a:t>
            </a:r>
            <a:r>
              <a:rPr lang="zh-CN" altLang="en-US" dirty="0"/>
              <a:t>米电缆的持续时间是</a:t>
            </a:r>
            <a:r>
              <a:rPr lang="en-US" altLang="zh-CN" dirty="0"/>
              <a:t>40</a:t>
            </a:r>
            <a:r>
              <a:rPr lang="zh-CN" altLang="en-US" dirty="0"/>
              <a:t>小时</a:t>
            </a:r>
            <a:r>
              <a:rPr lang="en-US" altLang="zh-CN" dirty="0"/>
              <a:t>(1 000</a:t>
            </a:r>
            <a:r>
              <a:rPr lang="zh-CN" altLang="en-US" dirty="0"/>
              <a:t>米除以</a:t>
            </a:r>
            <a:r>
              <a:rPr lang="en-US" altLang="zh-CN" dirty="0"/>
              <a:t>25</a:t>
            </a:r>
            <a:r>
              <a:rPr lang="zh-CN" altLang="en-US" dirty="0"/>
              <a:t>米</a:t>
            </a:r>
            <a:r>
              <a:rPr lang="en-US" altLang="zh-CN" dirty="0"/>
              <a:t>/</a:t>
            </a:r>
            <a:r>
              <a:rPr lang="zh-CN" altLang="en-US" dirty="0"/>
              <a:t>小时</a:t>
            </a:r>
            <a:r>
              <a:rPr lang="en-US" altLang="zh-CN" dirty="0"/>
              <a:t>)</a:t>
            </a:r>
            <a:r>
              <a:rPr lang="zh-CN" altLang="en-US" dirty="0"/>
              <a:t>。</a:t>
            </a:r>
            <a:endParaRPr lang="en-US" altLang="zh-CN" dirty="0"/>
          </a:p>
          <a:p>
            <a:endParaRPr lang="en-US" altLang="zh-CN" dirty="0"/>
          </a:p>
          <a:p>
            <a:r>
              <a:rPr lang="en-US" altLang="zh-CN" dirty="0"/>
              <a:t> </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27</a:t>
            </a:fld>
            <a:endParaRPr lang="zh-CN" altLang="en-US"/>
          </a:p>
        </p:txBody>
      </p:sp>
    </p:spTree>
    <p:extLst>
      <p:ext uri="{BB962C8B-B14F-4D97-AF65-F5344CB8AC3E}">
        <p14:creationId xmlns:p14="http://schemas.microsoft.com/office/powerpoint/2010/main" val="30017566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4.  </a:t>
            </a:r>
            <a:r>
              <a:rPr lang="zh-CN" altLang="en-US" dirty="0"/>
              <a:t>三点估算</a:t>
            </a:r>
          </a:p>
          <a:p>
            <a:r>
              <a:rPr lang="zh-CN" altLang="en-US" dirty="0"/>
              <a:t>这个概念源自计划评审技术</a:t>
            </a:r>
            <a:r>
              <a:rPr lang="en-US" altLang="zh-CN" dirty="0"/>
              <a:t>(PERT)</a:t>
            </a:r>
            <a:r>
              <a:rPr lang="zh-CN" altLang="en-US" dirty="0"/>
              <a:t>。</a:t>
            </a:r>
            <a:r>
              <a:rPr lang="en-US" altLang="zh-CN" dirty="0"/>
              <a:t> PERT</a:t>
            </a:r>
            <a:r>
              <a:rPr lang="zh-CN" altLang="en-US" dirty="0"/>
              <a:t>使用三种估算值来界定活动持续时间的近似区间</a:t>
            </a:r>
            <a:r>
              <a:rPr lang="en-US" altLang="zh-CN" dirty="0"/>
              <a:t>:</a:t>
            </a:r>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28</a:t>
            </a:fld>
            <a:endParaRPr lang="zh-CN" altLang="en-US"/>
          </a:p>
        </p:txBody>
      </p:sp>
    </p:spTree>
    <p:extLst>
      <p:ext uri="{BB962C8B-B14F-4D97-AF65-F5344CB8AC3E}">
        <p14:creationId xmlns:p14="http://schemas.microsoft.com/office/powerpoint/2010/main" val="26744685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a:p>
            <a:r>
              <a:rPr lang="zh-CN" altLang="en-US" dirty="0"/>
              <a:t> </a:t>
            </a:r>
            <a:r>
              <a:rPr lang="en-US" altLang="zh-CN" dirty="0"/>
              <a:t>5. </a:t>
            </a:r>
            <a:r>
              <a:rPr lang="zh-CN" altLang="en-US" dirty="0"/>
              <a:t>自下而上估算</a:t>
            </a:r>
          </a:p>
          <a:p>
            <a:endParaRPr lang="en-US" altLang="zh-CN" dirty="0"/>
          </a:p>
          <a:p>
            <a:r>
              <a:rPr lang="en-US" altLang="zh-CN" dirty="0"/>
              <a:t> 6. </a:t>
            </a:r>
            <a:r>
              <a:rPr lang="zh-CN" altLang="en-US" dirty="0"/>
              <a:t>数据分析</a:t>
            </a:r>
            <a:endParaRPr lang="en-US" altLang="zh-CN" dirty="0"/>
          </a:p>
          <a:p>
            <a:r>
              <a:rPr lang="en-US" altLang="zh-CN" dirty="0"/>
              <a:t>   </a:t>
            </a:r>
            <a:r>
              <a:rPr lang="zh-CN" altLang="en-US" dirty="0"/>
              <a:t>备选方案分析    这有助于团队权衡资源、成本和持续时间变量，以确定完成项目工作的最佳方式。</a:t>
            </a:r>
            <a:endParaRPr lang="en-US" altLang="zh-CN" dirty="0"/>
          </a:p>
          <a:p>
            <a:r>
              <a:rPr lang="en-US" altLang="zh-CN" dirty="0"/>
              <a:t>   </a:t>
            </a:r>
          </a:p>
          <a:p>
            <a:r>
              <a:rPr lang="en-US" altLang="zh-CN" dirty="0"/>
              <a:t>   </a:t>
            </a:r>
            <a:r>
              <a:rPr lang="zh-CN" altLang="en-US" dirty="0"/>
              <a:t>储备分析    应急储备是包含在进度基准中的一段持续时间，用来应对已经接受的已识别风险，以及已经制定应急或减轻措施的已识别风险。</a:t>
            </a:r>
            <a:endParaRPr lang="en-US" altLang="zh-CN" dirty="0"/>
          </a:p>
          <a:p>
            <a:pPr eaLnBrk="1" hangingPunct="1">
              <a:lnSpc>
                <a:spcPct val="115000"/>
              </a:lnSpc>
              <a:spcBef>
                <a:spcPct val="0"/>
              </a:spcBef>
            </a:pPr>
            <a:r>
              <a:rPr lang="zh-CN" altLang="en-US" dirty="0"/>
              <a:t>   </a:t>
            </a:r>
            <a:r>
              <a:rPr lang="zh-CN" altLang="en-US" b="1" dirty="0">
                <a:solidFill>
                  <a:srgbClr val="FF3300"/>
                </a:solidFill>
              </a:rPr>
              <a:t>储备时间（应急时间）：</a:t>
            </a:r>
            <a:r>
              <a:rPr lang="zh-CN" altLang="en-US" dirty="0"/>
              <a:t> 指的是在项目活动工期中加上一部分保留时间来应对项目活动安排上可能存在的风险。储备时间可取为活动所需时间的某个百分比。</a:t>
            </a:r>
            <a:endParaRPr lang="en-US" altLang="zh-CN" dirty="0"/>
          </a:p>
          <a:p>
            <a:endParaRPr lang="en-US" altLang="zh-CN" dirty="0"/>
          </a:p>
          <a:p>
            <a:r>
              <a:rPr lang="en-US" altLang="zh-CN" dirty="0"/>
              <a:t> 7. </a:t>
            </a:r>
            <a:r>
              <a:rPr lang="zh-CN" altLang="en-US" dirty="0"/>
              <a:t>群体决策技术</a:t>
            </a:r>
          </a:p>
          <a:p>
            <a:r>
              <a:rPr lang="zh-CN" altLang="en-US" dirty="0"/>
              <a:t>  选择一组与技术工作密切相关的人员参与估算过程，可以获取额外的信息，得到更准确的估算。另外，让成员亲自参与估算，能够提高他们对实现估算的责任感。</a:t>
            </a:r>
            <a:endParaRPr lang="en-US" altLang="zh-CN" dirty="0"/>
          </a:p>
          <a:p>
            <a:pPr algn="l"/>
            <a:r>
              <a:rPr lang="zh-CN" altLang="en-US" sz="1200" b="1" dirty="0"/>
              <a:t>  </a:t>
            </a:r>
            <a:endParaRPr lang="en-US" altLang="zh-CN" sz="1200" b="1" dirty="0"/>
          </a:p>
          <a:p>
            <a:pPr algn="l"/>
            <a:r>
              <a:rPr lang="zh-CN" altLang="en-US" sz="1200" b="1" dirty="0"/>
              <a:t>   名义小组技术：</a:t>
            </a:r>
            <a:r>
              <a:rPr lang="zh-CN" altLang="en-US" b="0" i="0" dirty="0">
                <a:solidFill>
                  <a:srgbClr val="333333"/>
                </a:solidFill>
                <a:effectLst/>
                <a:latin typeface="arial" panose="020B0604020202020204" pitchFamily="34" charset="0"/>
              </a:rPr>
              <a:t>管理者先选择一些对要解决的问题有研究或者有经验的人作为小组成员，并向他们提供与决策问题相关的信息。小组成员各自先不通气，请他们独立思考，要求每个人尽可能把自己的备选方案和意见写下来。然后再按次序让他们一个接一个地陈述自己的方案和意见。在此基础上，由小组成员对提出的全部备选方案进行投票，根据</a:t>
            </a:r>
            <a:r>
              <a:rPr lang="zh-CN" altLang="en-US" b="0" i="0" u="none" strike="noStrike" dirty="0">
                <a:solidFill>
                  <a:srgbClr val="136EC2"/>
                </a:solidFill>
                <a:effectLst/>
                <a:latin typeface="arial" panose="020B0604020202020204" pitchFamily="34" charset="0"/>
                <a:hlinkClick r:id="rId3"/>
              </a:rPr>
              <a:t>投票</a:t>
            </a:r>
            <a:r>
              <a:rPr lang="zh-CN" altLang="en-US" b="0" i="0" dirty="0">
                <a:solidFill>
                  <a:srgbClr val="333333"/>
                </a:solidFill>
                <a:effectLst/>
                <a:latin typeface="arial" panose="020B0604020202020204" pitchFamily="34" charset="0"/>
              </a:rPr>
              <a:t>结果，赞成人数最多的备选方案即为所要的方案，当然，管理者最后仍有权决定是接受还是拒绝这一方案。</a:t>
            </a:r>
          </a:p>
          <a:p>
            <a:endParaRPr lang="en-US" altLang="zh-CN" dirty="0"/>
          </a:p>
          <a:p>
            <a:r>
              <a:rPr lang="zh-CN" altLang="en-US" dirty="0"/>
              <a:t>   举手表决是从投票方法衍生出来的一种形式，经常用于敏捷项目中。项目经理会让团队成员针对某个决定示意支持程度，举拳头表示不支持，伸五个手指表示完全支持，伸出三个以下手指的团队成员有机会与团队讨论其反对意见。项目经理会不断进行举手表决，直到整个团队达成共识（所有人都伸出三个以上手指）或同意进入下一个决定。</a:t>
            </a:r>
          </a:p>
          <a:p>
            <a:r>
              <a:rPr lang="en-US" altLang="zh-CN" dirty="0"/>
              <a:t> </a:t>
            </a:r>
          </a:p>
          <a:p>
            <a:r>
              <a:rPr lang="en-US" altLang="zh-CN" dirty="0"/>
              <a:t> 8.</a:t>
            </a:r>
            <a:r>
              <a:rPr lang="zh-CN" altLang="en-US" dirty="0"/>
              <a:t>会议</a:t>
            </a:r>
            <a:endParaRPr lang="en-US" altLang="zh-CN" dirty="0"/>
          </a:p>
          <a:p>
            <a:endParaRPr lang="en-US" altLang="zh-CN" dirty="0"/>
          </a:p>
          <a:p>
            <a:pPr eaLnBrk="1" hangingPunct="1">
              <a:lnSpc>
                <a:spcPct val="115000"/>
              </a:lnSpc>
              <a:spcBef>
                <a:spcPct val="0"/>
              </a:spcBef>
            </a:pPr>
            <a:endParaRPr lang="en-US" altLang="zh-CN"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29</a:t>
            </a:fld>
            <a:endParaRPr lang="zh-CN" altLang="en-US"/>
          </a:p>
        </p:txBody>
      </p:sp>
    </p:spTree>
    <p:extLst>
      <p:ext uri="{BB962C8B-B14F-4D97-AF65-F5344CB8AC3E}">
        <p14:creationId xmlns:p14="http://schemas.microsoft.com/office/powerpoint/2010/main" val="35765593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b="0" i="0" u="none" strike="noStrike" baseline="0" dirty="0">
                <a:latin typeface="HelveticaNeue-MediumCond"/>
              </a:rPr>
              <a:t>6.4.3.2 </a:t>
            </a:r>
            <a:r>
              <a:rPr lang="zh-CN" altLang="en-US" sz="1800" b="0" i="0" u="none" strike="noStrike" baseline="0" dirty="0">
                <a:latin typeface="SourceHanSansSC-Medium"/>
              </a:rPr>
              <a:t>估算依据</a:t>
            </a:r>
            <a:endParaRPr lang="en-US" altLang="zh-CN" dirty="0"/>
          </a:p>
          <a:p>
            <a:pPr algn="l"/>
            <a:r>
              <a:rPr lang="zh-CN" altLang="en-US" sz="1800" b="0" i="0" u="none" strike="noStrike" baseline="0" dirty="0">
                <a:latin typeface="SourceHanSansSC-Regular"/>
              </a:rPr>
              <a:t>持续时间估算的支持信息可包括：</a:t>
            </a:r>
          </a:p>
          <a:p>
            <a:pPr algn="l"/>
            <a:r>
              <a:rPr lang="zh-CN" altLang="en-US" sz="1800" b="0" i="0" u="none" strike="noStrike" baseline="0" dirty="0">
                <a:latin typeface="SourceHanSansSC-Regular"/>
              </a:rPr>
              <a:t>关于估算依据的文件（如估算是如何编制的）；</a:t>
            </a:r>
          </a:p>
          <a:p>
            <a:pPr algn="l"/>
            <a:r>
              <a:rPr lang="zh-CN" altLang="en-US" sz="1800" b="0" i="0" u="none" strike="noStrike" baseline="0" dirty="0">
                <a:latin typeface="SourceHanSansSC-Regular"/>
              </a:rPr>
              <a:t>关于全部假设条件的文件；</a:t>
            </a:r>
          </a:p>
          <a:p>
            <a:pPr algn="l"/>
            <a:r>
              <a:rPr lang="zh-CN" altLang="en-US" sz="1800" b="0" i="0" u="none" strike="noStrike" baseline="0" dirty="0">
                <a:latin typeface="SourceHanSansSC-Regular"/>
              </a:rPr>
              <a:t>关于各种已知制约因素的文件；</a:t>
            </a:r>
          </a:p>
          <a:p>
            <a:pPr algn="l"/>
            <a:r>
              <a:rPr lang="zh-CN" altLang="en-US" sz="1800" b="0" i="0" u="none" strike="noStrike" baseline="0" dirty="0">
                <a:latin typeface="SourceHanSansSC-Regular"/>
              </a:rPr>
              <a:t>对估算区间的说明（如</a:t>
            </a:r>
            <a:r>
              <a:rPr lang="zh-CN" altLang="en-US" sz="1800" b="0" i="0" u="none" strike="noStrike" baseline="0" dirty="0">
                <a:latin typeface="HelveticaNeue-Condensed"/>
              </a:rPr>
              <a:t>“</a:t>
            </a:r>
            <a:r>
              <a:rPr lang="en-US" altLang="zh-CN" sz="1800" b="0" i="0" u="none" strike="noStrike" baseline="0" dirty="0">
                <a:latin typeface="HelveticaNeue-Condensed"/>
              </a:rPr>
              <a:t>±10%”</a:t>
            </a:r>
            <a:r>
              <a:rPr lang="zh-CN" altLang="en-US" sz="1800" b="0" i="0" u="none" strike="noStrike" baseline="0" dirty="0">
                <a:latin typeface="SourceHanSansSC-Regular"/>
              </a:rPr>
              <a:t>），以指出预期持续时间的所在区间；</a:t>
            </a:r>
          </a:p>
          <a:p>
            <a:pPr algn="l"/>
            <a:r>
              <a:rPr lang="zh-CN" altLang="en-US" sz="1800" b="0" i="0" u="none" strike="noStrike" baseline="0" dirty="0">
                <a:latin typeface="SourceHanSansSC-Regular"/>
              </a:rPr>
              <a:t>对最终估算的置信水平的说明；</a:t>
            </a:r>
          </a:p>
          <a:p>
            <a:pPr algn="l"/>
            <a:r>
              <a:rPr lang="zh-CN" altLang="en-US" sz="1800" b="0" i="0" u="none" strike="noStrike" baseline="0" dirty="0">
                <a:latin typeface="SourceHanSansSC-Regular"/>
              </a:rPr>
              <a:t>有关影响估算的单个项目风险的文件。</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6.4.3.3 </a:t>
            </a:r>
            <a:r>
              <a:rPr lang="zh-CN" altLang="en-US" sz="1800" b="0" i="0" u="none" strike="noStrike" baseline="0" dirty="0">
                <a:latin typeface="SourceHanSansSC-Medium"/>
              </a:rPr>
              <a:t>项目文件更新</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可在本过程更新的项目文件包括（但不限于）</a:t>
            </a:r>
            <a:endParaRPr lang="en-US" altLang="zh-CN" sz="1800" b="0" i="0" u="none" strike="noStrike" baseline="0" dirty="0">
              <a:latin typeface="SourceHanSansSC-Regular"/>
            </a:endParaRPr>
          </a:p>
          <a:p>
            <a:pPr algn="l"/>
            <a:r>
              <a:rPr lang="zh-CN" altLang="en-US" sz="1800" b="1" i="0" u="none" strike="noStrike" baseline="0" dirty="0">
                <a:latin typeface="SourceHanSansSC-Bold"/>
              </a:rPr>
              <a:t>活动属性。</a:t>
            </a:r>
            <a:r>
              <a:rPr lang="zh-CN" altLang="en-US" sz="1800" b="0" i="0" u="none" strike="noStrike" baseline="0" dirty="0">
                <a:latin typeface="SourceHanSansSC-Regular"/>
              </a:rPr>
              <a:t>本过程输出的活动持续时间估算将记录在活动属性中。</a:t>
            </a:r>
          </a:p>
          <a:p>
            <a:pPr algn="l"/>
            <a:r>
              <a:rPr lang="zh-CN" altLang="en-US" sz="1800" b="1" i="0" u="none" strike="noStrike" baseline="0" dirty="0">
                <a:latin typeface="SourceHanSansSC-Bold"/>
              </a:rPr>
              <a:t>假设日志。</a:t>
            </a:r>
            <a:r>
              <a:rPr lang="zh-CN" altLang="en-US" sz="1800" b="0" i="0" u="none" strike="noStrike" baseline="0" dirty="0">
                <a:latin typeface="SourceHanSansSC-Regular"/>
              </a:rPr>
              <a:t>这包括为估算持续时间而制定的假设条件，如资源的技能水平、可用性，以及估算依据，此外还记录了进度计划方法论和进度计划编制工具所带来的制约因素。</a:t>
            </a:r>
          </a:p>
          <a:p>
            <a:pPr algn="l"/>
            <a:r>
              <a:rPr lang="zh-CN" altLang="en-US" sz="1800" b="1" i="0" u="none" strike="noStrike" baseline="0" dirty="0">
                <a:latin typeface="SourceHanSansSC-Bold"/>
              </a:rPr>
              <a:t>经验教训登记册。</a:t>
            </a:r>
            <a:r>
              <a:rPr lang="zh-CN" altLang="en-US" sz="1800" b="0" i="0" u="none" strike="noStrike" baseline="0" dirty="0">
                <a:latin typeface="SourceHanSansSC-Regular"/>
              </a:rPr>
              <a:t>在更新经验教训登记册时，可以增加能够有效和高效地估算人力投入和持续时间的技术。</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30</a:t>
            </a:fld>
            <a:endParaRPr lang="zh-CN" altLang="en-US"/>
          </a:p>
        </p:txBody>
      </p:sp>
    </p:spTree>
    <p:extLst>
      <p:ext uri="{BB962C8B-B14F-4D97-AF65-F5344CB8AC3E}">
        <p14:creationId xmlns:p14="http://schemas.microsoft.com/office/powerpoint/2010/main" val="145885677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a typeface="黑体" panose="02010609060101010101" pitchFamily="49" charset="-122"/>
              </a:rPr>
              <a:t>活动历时的计算：与生产率、成果、可用资源有关</a:t>
            </a:r>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A475E0EE-373C-4B64-A805-53AEBFF9AEA8}" type="slidenum">
              <a:rPr lang="en-US" altLang="zh-CN" smtClean="0"/>
              <a:pPr>
                <a:defRPr/>
              </a:pPr>
              <a:t>31</a:t>
            </a:fld>
            <a:endParaRPr lang="en-US" altLang="zh-CN"/>
          </a:p>
        </p:txBody>
      </p:sp>
    </p:spTree>
    <p:extLst>
      <p:ext uri="{BB962C8B-B14F-4D97-AF65-F5344CB8AC3E}">
        <p14:creationId xmlns:p14="http://schemas.microsoft.com/office/powerpoint/2010/main" val="5551319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这里假设</a:t>
            </a:r>
            <a:r>
              <a:rPr lang="zh-CN" altLang="en-US" dirty="0">
                <a:latin typeface="微软雅黑" panose="020B0503020204020204" pitchFamily="34" charset="-122"/>
                <a:ea typeface="微软雅黑" panose="020B0503020204020204" pitchFamily="34" charset="-122"/>
              </a:rPr>
              <a:t>最快 和 最慢都在</a:t>
            </a:r>
            <a:r>
              <a:rPr lang="en-US" altLang="zh-CN" dirty="0">
                <a:latin typeface="微软雅黑" panose="020B0503020204020204" pitchFamily="34" charset="-122"/>
                <a:ea typeface="微软雅黑" panose="020B0503020204020204" pitchFamily="34" charset="-122"/>
              </a:rPr>
              <a:t>3</a:t>
            </a:r>
            <a:r>
              <a:rPr lang="el-GR" altLang="zh-CN" dirty="0">
                <a:latin typeface="微软雅黑" panose="020B0503020204020204" pitchFamily="34" charset="-122"/>
                <a:ea typeface="微软雅黑" panose="020B0503020204020204" pitchFamily="34" charset="-122"/>
              </a:rPr>
              <a:t>σ</a:t>
            </a:r>
            <a:r>
              <a:rPr lang="zh-CN" altLang="en-US" dirty="0">
                <a:latin typeface="微软雅黑" panose="020B0503020204020204" pitchFamily="34" charset="-122"/>
                <a:ea typeface="微软雅黑" panose="020B0503020204020204" pitchFamily="34" charset="-122"/>
              </a:rPr>
              <a:t>处，</a:t>
            </a:r>
            <a:r>
              <a:rPr lang="zh-CN" altLang="en-US" b="0" i="0" dirty="0">
                <a:solidFill>
                  <a:srgbClr val="333333"/>
                </a:solidFill>
                <a:effectLst/>
                <a:latin typeface="PingFang SC"/>
              </a:rPr>
              <a:t>数值分布在（</a:t>
            </a:r>
            <a:r>
              <a:rPr lang="el-GR" altLang="zh-CN" b="0" i="0" dirty="0">
                <a:solidFill>
                  <a:srgbClr val="333333"/>
                </a:solidFill>
                <a:effectLst/>
                <a:latin typeface="PingFang SC"/>
              </a:rPr>
              <a:t>μ-3σ,μ+3σ)</a:t>
            </a:r>
            <a:r>
              <a:rPr lang="zh-CN" altLang="en-US" b="0" i="0" dirty="0">
                <a:solidFill>
                  <a:srgbClr val="333333"/>
                </a:solidFill>
                <a:effectLst/>
                <a:latin typeface="PingFang SC"/>
              </a:rPr>
              <a:t>中的概率为</a:t>
            </a:r>
            <a:r>
              <a:rPr lang="en-US" altLang="zh-CN" b="0" i="0" dirty="0">
                <a:solidFill>
                  <a:srgbClr val="333333"/>
                </a:solidFill>
                <a:effectLst/>
                <a:latin typeface="PingFang SC"/>
              </a:rPr>
              <a:t>0.9973</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33</a:t>
            </a:fld>
            <a:endParaRPr lang="zh-CN" altLang="en-US"/>
          </a:p>
        </p:txBody>
      </p:sp>
    </p:spTree>
    <p:extLst>
      <p:ext uri="{BB962C8B-B14F-4D97-AF65-F5344CB8AC3E}">
        <p14:creationId xmlns:p14="http://schemas.microsoft.com/office/powerpoint/2010/main" val="338520770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B</a:t>
            </a:r>
            <a:r>
              <a:rPr lang="en-US" altLang="zh-CN" sz="1200" dirty="0">
                <a:latin typeface="黑体" panose="02010609060101010101" pitchFamily="49" charset="-122"/>
                <a:cs typeface="Times New Roman" panose="02020603050405020304" pitchFamily="18" charset="0"/>
              </a:rPr>
              <a:t>.68.26%    </a:t>
            </a:r>
            <a:r>
              <a:rPr lang="zh-CN" altLang="en-US" sz="1200" dirty="0">
                <a:latin typeface="微软雅黑" panose="020B0503020204020204" pitchFamily="34" charset="-122"/>
                <a:ea typeface="微软雅黑" panose="020B0503020204020204" pitchFamily="34" charset="-122"/>
              </a:rPr>
              <a:t>期望持续时间 </a:t>
            </a:r>
            <a:r>
              <a:rPr lang="en-US" altLang="zh-CN" sz="1200" i="1" dirty="0" err="1">
                <a:latin typeface="微软雅黑" panose="020B0503020204020204" pitchFamily="34" charset="-122"/>
                <a:ea typeface="微软雅黑" panose="020B0503020204020204" pitchFamily="34" charset="-122"/>
              </a:rPr>
              <a:t>tE</a:t>
            </a:r>
            <a:r>
              <a:rPr lang="en-US" altLang="zh-CN" sz="1200" i="1" dirty="0">
                <a:latin typeface="微软雅黑" panose="020B0503020204020204" pitchFamily="34" charset="-122"/>
                <a:ea typeface="微软雅黑" panose="020B0503020204020204" pitchFamily="34" charset="-122"/>
              </a:rPr>
              <a:t> =</a:t>
            </a:r>
            <a:r>
              <a:rPr lang="en-US" altLang="zh-CN" sz="1200" dirty="0">
                <a:latin typeface="黑体" panose="02010609060101010101" pitchFamily="49" charset="-122"/>
                <a:cs typeface="Times New Roman" panose="02020603050405020304" pitchFamily="18" charset="0"/>
              </a:rPr>
              <a:t>(21*4+36+6)/6=21, </a:t>
            </a:r>
            <a:r>
              <a:rPr lang="zh-CN" altLang="en-US" sz="1200" dirty="0">
                <a:latin typeface="黑体" panose="02010609060101010101" pitchFamily="49" charset="-122"/>
                <a:cs typeface="Times New Roman" panose="02020603050405020304" pitchFamily="18" charset="0"/>
              </a:rPr>
              <a:t>标准差</a:t>
            </a:r>
            <a:r>
              <a:rPr lang="en-US" altLang="zh-CN" sz="1200" dirty="0">
                <a:latin typeface="黑体" panose="02010609060101010101" pitchFamily="49" charset="-122"/>
                <a:cs typeface="Times New Roman" panose="02020603050405020304" pitchFamily="18" charset="0"/>
              </a:rPr>
              <a:t>=(36-6)/6=5,</a:t>
            </a:r>
            <a:r>
              <a:rPr lang="zh-CN" altLang="en-US" sz="1200" dirty="0">
                <a:latin typeface="黑体" panose="02010609060101010101" pitchFamily="49" charset="-122"/>
                <a:cs typeface="Times New Roman" panose="02020603050405020304" pitchFamily="18" charset="0"/>
              </a:rPr>
              <a:t> </a:t>
            </a:r>
            <a:r>
              <a:rPr lang="en-US" altLang="zh-CN" sz="1200" dirty="0">
                <a:latin typeface="黑体" panose="02010609060101010101" pitchFamily="49" charset="-122"/>
                <a:cs typeface="Times New Roman" panose="02020603050405020304" pitchFamily="18" charset="0"/>
              </a:rPr>
              <a:t>16</a:t>
            </a:r>
            <a:r>
              <a:rPr lang="zh-CN" altLang="en-US" sz="1200" dirty="0">
                <a:latin typeface="黑体" panose="02010609060101010101" pitchFamily="49" charset="-122"/>
                <a:cs typeface="Times New Roman" panose="02020603050405020304" pitchFamily="18" charset="0"/>
              </a:rPr>
              <a:t>到</a:t>
            </a:r>
            <a:r>
              <a:rPr lang="en-US" altLang="zh-CN" sz="1200" dirty="0">
                <a:latin typeface="黑体" panose="02010609060101010101" pitchFamily="49" charset="-122"/>
                <a:cs typeface="Times New Roman" panose="02020603050405020304" pitchFamily="18" charset="0"/>
              </a:rPr>
              <a:t>26</a:t>
            </a:r>
            <a:r>
              <a:rPr lang="zh-CN" altLang="en-US" sz="1200" dirty="0">
                <a:latin typeface="黑体" panose="02010609060101010101" pitchFamily="49" charset="-122"/>
                <a:cs typeface="Times New Roman" panose="02020603050405020304" pitchFamily="18" charset="0"/>
              </a:rPr>
              <a:t>天正好是一个标准差</a:t>
            </a:r>
            <a:endParaRPr lang="en-US" altLang="zh-CN" sz="1200" dirty="0">
              <a:latin typeface="黑体" panose="02010609060101010101" pitchFamily="49" charset="-122"/>
              <a:cs typeface="Times New Roman" panose="02020603050405020304" pitchFamily="18" charset="0"/>
            </a:endParaRPr>
          </a:p>
          <a:p>
            <a:endParaRPr lang="en-US" altLang="zh-CN" dirty="0"/>
          </a:p>
          <a:p>
            <a:r>
              <a:rPr lang="en-US" altLang="zh-CN" dirty="0"/>
              <a:t>C.</a:t>
            </a:r>
            <a:r>
              <a:rPr lang="zh-CN" altLang="en-US" sz="1200" dirty="0"/>
              <a:t>参数估算</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34</a:t>
            </a:fld>
            <a:endParaRPr lang="zh-CN" altLang="en-US"/>
          </a:p>
        </p:txBody>
      </p:sp>
    </p:spTree>
    <p:extLst>
      <p:ext uri="{BB962C8B-B14F-4D97-AF65-F5344CB8AC3E}">
        <p14:creationId xmlns:p14="http://schemas.microsoft.com/office/powerpoint/2010/main" val="15776382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Regular"/>
              </a:rPr>
              <a:t>本过程的主要作用是，为完成项目活动而制定具有</a:t>
            </a:r>
            <a:r>
              <a:rPr lang="zh-CN" altLang="en-US" sz="1800" b="0" i="0" u="none" strike="noStrike" baseline="0" dirty="0">
                <a:solidFill>
                  <a:srgbClr val="FF0000"/>
                </a:solidFill>
                <a:latin typeface="SourceHanSansSC-Regular"/>
              </a:rPr>
              <a:t>计划日期</a:t>
            </a:r>
            <a:r>
              <a:rPr lang="zh-CN" altLang="en-US" sz="1800" b="0" i="0" u="none" strike="noStrike" baseline="0" dirty="0">
                <a:latin typeface="SourceHanSansSC-Regular"/>
              </a:rPr>
              <a:t>的进度模型。</a:t>
            </a:r>
            <a:endParaRPr lang="en-US" altLang="zh-CN" sz="1800" b="0" i="0" u="none" strike="noStrike" baseline="0" dirty="0">
              <a:latin typeface="SourceHanSansSC-Regular"/>
            </a:endParaRPr>
          </a:p>
          <a:p>
            <a:pPr algn="l"/>
            <a:r>
              <a:rPr lang="zh-CN" altLang="en-US" sz="1800" b="1" i="0" u="none" strike="noStrike" baseline="0" dirty="0">
                <a:latin typeface="SourceHanSansSC-Regular"/>
              </a:rPr>
              <a:t>本过程需要在整个项目期间开展。</a:t>
            </a:r>
            <a:endParaRPr lang="en-US" altLang="zh-CN" sz="1800" b="1" i="0" u="none" strike="noStrike" baseline="0" dirty="0">
              <a:latin typeface="SourceHanSansSC-Regular"/>
            </a:endParaRPr>
          </a:p>
          <a:p>
            <a:pPr algn="l"/>
            <a:r>
              <a:rPr lang="zh-CN" altLang="en-US" sz="1800" b="0" i="0" u="none" strike="noStrike" baseline="0" dirty="0">
                <a:latin typeface="SourceHanSansSC-Regular"/>
              </a:rPr>
              <a:t>制定可行的项目进度计划是一个反复进行的过程。基于获取的最佳信息，使用进度模型来确定各项目活动和里程碑的计划开始日期和计划完成日期。</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编制进度计划时，需要审查和修正持续时间估算、资源估算和进度储备，以制定项目进度计划，并在经批准后作为基准用于跟踪项目进度。</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关键步骤包括定义项目里程碑、识别活动并排列活动顺序，以及估算持续时间。</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一旦活动的开始和完成日期得到确定，通常就需要由分配至各个活动的项目人员审查其被分配的活动。之后，项目人员确认开始和完成日期与资源日历没有冲突，也与其他项目或任务没有冲突，从而确</a:t>
            </a:r>
          </a:p>
          <a:p>
            <a:pPr algn="l"/>
            <a:r>
              <a:rPr lang="zh-CN" altLang="en-US" sz="1800" b="0" i="0" u="none" strike="noStrike" baseline="0" dirty="0">
                <a:latin typeface="SourceHanSansSC-Regular"/>
              </a:rPr>
              <a:t>认计划日期的有效性。</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最后分析进度计划，确定是否存在逻辑关系冲突，以及在批准进度计划并将其作为基准之前是否需要资源平衡。同时，需要修订和维护项目进度模型，确保进度计划在整个项目期间一直切实可行。</a:t>
            </a:r>
            <a:endParaRPr lang="en-US" altLang="zh-CN" sz="1800" b="1" i="0" u="none" strike="noStrike" baseline="0" dirty="0">
              <a:latin typeface="SourceHanSansSC-Regular"/>
            </a:endParaRPr>
          </a:p>
          <a:p>
            <a:pPr algn="l"/>
            <a:endParaRPr lang="en-US" altLang="zh-CN" sz="1800" b="1" i="0" u="none" strike="noStrike" baseline="0" dirty="0">
              <a:latin typeface="SourceHanSansSC-Regular"/>
            </a:endParaRPr>
          </a:p>
          <a:p>
            <a:pPr algn="l"/>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35</a:t>
            </a:fld>
            <a:endParaRPr lang="zh-CN" altLang="en-US"/>
          </a:p>
        </p:txBody>
      </p:sp>
    </p:spTree>
    <p:extLst>
      <p:ext uri="{BB962C8B-B14F-4D97-AF65-F5344CB8AC3E}">
        <p14:creationId xmlns:p14="http://schemas.microsoft.com/office/powerpoint/2010/main" val="2812443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Regular"/>
              </a:rPr>
              <a:t>进度基准包含基准开始日期和基准结束日期。在监控过程中，将用实际开始和完成日期与批准的基准日期进行比较，以确定是否存在偏差。</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36</a:t>
            </a:fld>
            <a:endParaRPr lang="zh-CN" altLang="en-US"/>
          </a:p>
        </p:txBody>
      </p:sp>
    </p:spTree>
    <p:extLst>
      <p:ext uri="{BB962C8B-B14F-4D97-AF65-F5344CB8AC3E}">
        <p14:creationId xmlns:p14="http://schemas.microsoft.com/office/powerpoint/2010/main" val="291654246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美国学者甘特发明的一种使用条形图编制项目工期计划的方法</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37</a:t>
            </a:fld>
            <a:endParaRPr lang="zh-CN" altLang="en-US"/>
          </a:p>
        </p:txBody>
      </p:sp>
    </p:spTree>
    <p:extLst>
      <p:ext uri="{BB962C8B-B14F-4D97-AF65-F5344CB8AC3E}">
        <p14:creationId xmlns:p14="http://schemas.microsoft.com/office/powerpoint/2010/main" val="38794646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38</a:t>
            </a:fld>
            <a:endParaRPr lang="zh-CN" altLang="en-US"/>
          </a:p>
        </p:txBody>
      </p:sp>
    </p:spTree>
    <p:extLst>
      <p:ext uri="{BB962C8B-B14F-4D97-AF65-F5344CB8AC3E}">
        <p14:creationId xmlns:p14="http://schemas.microsoft.com/office/powerpoint/2010/main" val="35443332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软件绘制的详细进度计划（甘特图）。</a:t>
            </a:r>
            <a:endParaRPr lang="en-US" altLang="zh-CN" dirty="0"/>
          </a:p>
          <a:p>
            <a:r>
              <a:rPr lang="zh-CN" altLang="en-US" dirty="0"/>
              <a:t>软件可以只显示其中的里程碑（完成组件），或概要进度计划（工作包级）</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39</a:t>
            </a:fld>
            <a:endParaRPr lang="zh-CN" altLang="en-US"/>
          </a:p>
        </p:txBody>
      </p:sp>
    </p:spTree>
    <p:extLst>
      <p:ext uri="{BB962C8B-B14F-4D97-AF65-F5344CB8AC3E}">
        <p14:creationId xmlns:p14="http://schemas.microsoft.com/office/powerpoint/2010/main" val="284461510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solidFill>
                  <a:srgbClr val="0000FF"/>
                </a:solidFill>
                <a:effectLst/>
                <a:latin typeface="Times New Roman" panose="02020603050405020304" pitchFamily="18" charset="0"/>
                <a:ea typeface="宋体" panose="02010600030101010101" pitchFamily="2" charset="-122"/>
              </a:rPr>
              <a:t>D.</a:t>
            </a:r>
            <a:r>
              <a:rPr lang="zh-CN" altLang="zh-CN" sz="1800" kern="100" dirty="0">
                <a:solidFill>
                  <a:srgbClr val="0000FF"/>
                </a:solidFill>
                <a:effectLst/>
                <a:latin typeface="Times New Roman" panose="02020603050405020304" pitchFamily="18" charset="0"/>
                <a:ea typeface="宋体" panose="02010600030101010101" pitchFamily="2" charset="-122"/>
              </a:rPr>
              <a:t>里程碑报告</a:t>
            </a:r>
            <a:endParaRPr lang="zh-CN" altLang="zh-CN" sz="1800" kern="100" dirty="0">
              <a:effectLst/>
              <a:latin typeface="Times New Roman" panose="02020603050405020304" pitchFamily="18" charset="0"/>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高层管理者 一般不需要了解 项目进度详细信息（横道图）</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40</a:t>
            </a:fld>
            <a:endParaRPr lang="zh-CN" altLang="en-US"/>
          </a:p>
        </p:txBody>
      </p:sp>
    </p:spTree>
    <p:extLst>
      <p:ext uri="{BB962C8B-B14F-4D97-AF65-F5344CB8AC3E}">
        <p14:creationId xmlns:p14="http://schemas.microsoft.com/office/powerpoint/2010/main" val="275954229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solidFill>
                  <a:srgbClr val="0000FF"/>
                </a:solidFill>
                <a:effectLst/>
                <a:latin typeface="Times New Roman" panose="02020603050405020304" pitchFamily="18" charset="0"/>
                <a:ea typeface="宋体" panose="02010600030101010101" pitchFamily="2" charset="-122"/>
              </a:rPr>
              <a:t>C.</a:t>
            </a:r>
            <a:r>
              <a:rPr lang="zh-CN" altLang="zh-CN" sz="1800" kern="100" dirty="0">
                <a:solidFill>
                  <a:srgbClr val="0000FF"/>
                </a:solidFill>
                <a:effectLst/>
                <a:latin typeface="Times New Roman" panose="02020603050405020304" pitchFamily="18" charset="0"/>
                <a:ea typeface="宋体" panose="02010600030101010101" pitchFamily="2" charset="-122"/>
              </a:rPr>
              <a:t>网络图</a:t>
            </a:r>
            <a:endParaRPr lang="zh-CN" altLang="zh-CN" sz="1800" kern="100" dirty="0">
              <a:effectLst/>
              <a:latin typeface="Times New Roman" panose="02020603050405020304" pitchFamily="18" charset="0"/>
              <a:ea typeface="宋体" panose="02010600030101010101" pitchFamily="2" charset="-122"/>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41</a:t>
            </a:fld>
            <a:endParaRPr lang="zh-CN" altLang="en-US"/>
          </a:p>
        </p:txBody>
      </p:sp>
    </p:spTree>
    <p:extLst>
      <p:ext uri="{BB962C8B-B14F-4D97-AF65-F5344CB8AC3E}">
        <p14:creationId xmlns:p14="http://schemas.microsoft.com/office/powerpoint/2010/main" val="21750698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800000"/>
                </a:solidFill>
                <a:latin typeface="微软雅黑" panose="020B0503020204020204" pitchFamily="34" charset="-122"/>
                <a:ea typeface="微软雅黑" panose="020B0503020204020204" pitchFamily="34" charset="-122"/>
              </a:rPr>
              <a:t>变更请求</a:t>
            </a:r>
            <a:endParaRPr lang="en-US" altLang="zh-CN" sz="1800" b="1" dirty="0">
              <a:solidFill>
                <a:srgbClr val="800000"/>
              </a:solidFill>
              <a:latin typeface="微软雅黑" panose="020B0503020204020204" pitchFamily="34" charset="-122"/>
              <a:ea typeface="微软雅黑" panose="020B0503020204020204" pitchFamily="34" charset="-122"/>
            </a:endParaRPr>
          </a:p>
          <a:p>
            <a:pPr algn="l"/>
            <a:r>
              <a:rPr lang="zh-CN" altLang="en-US" sz="1800" b="0" i="0" u="none" strike="noStrike" baseline="0" dirty="0">
                <a:latin typeface="SourceHanSansSC-Regular"/>
              </a:rPr>
              <a:t>应该通过实施整体变更控制过程对变更请求进行审查和处理。预防措施可包括推荐的变更，以消除或降低不利进度偏差的发生概率。</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6.5.3.6 </a:t>
            </a:r>
            <a:r>
              <a:rPr lang="zh-CN" altLang="en-US" sz="1800" b="0" i="0" u="none" strike="noStrike" baseline="0" dirty="0">
                <a:latin typeface="SourceHanSansSC-Medium"/>
              </a:rPr>
              <a:t>项目管理计划更新</a:t>
            </a:r>
          </a:p>
          <a:p>
            <a:pPr algn="l"/>
            <a:r>
              <a:rPr lang="zh-CN" altLang="en-US" sz="1800" b="0" i="0" u="none" strike="noStrike" baseline="0" dirty="0">
                <a:latin typeface="SourceHanSansSC-Regular"/>
              </a:rPr>
              <a:t>项目管理计划的任何变更都以变更请求的形式提出，且通过组织的变更控制过程进行处理。可能需要变更请求的项目管理计划组成部分包括（但不限于）：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进度管理计划。</a:t>
            </a:r>
            <a:r>
              <a:rPr lang="zh-CN" altLang="en-US" sz="1800" b="0" i="0" u="none" strike="noStrike" baseline="0" dirty="0">
                <a:latin typeface="SourceHanSansSC-Regular"/>
              </a:rPr>
              <a:t>见 </a:t>
            </a:r>
            <a:r>
              <a:rPr lang="en-US" altLang="zh-CN" sz="1800" b="0" i="0" u="none" strike="noStrike" baseline="0" dirty="0">
                <a:latin typeface="HelveticaNeue-Condensed"/>
              </a:rPr>
              <a:t>6.1.3.1 </a:t>
            </a:r>
            <a:r>
              <a:rPr lang="zh-CN" altLang="en-US" sz="1800" b="0" i="0" u="none" strike="noStrike" baseline="0" dirty="0">
                <a:latin typeface="SourceHanSansSC-Regular"/>
              </a:rPr>
              <a:t>节。可能需要更新进度管理计划，以反映制定和管理进度计划的方式的变更。</a:t>
            </a:r>
          </a:p>
          <a:p>
            <a:pPr algn="l"/>
            <a:r>
              <a:rPr lang="en-US" altLang="zh-CN" sz="1800" b="0" i="0" u="none" strike="noStrike" baseline="0" dirty="0">
                <a:latin typeface="Wingdings-Regular"/>
              </a:rPr>
              <a:t>  </a:t>
            </a:r>
            <a:r>
              <a:rPr lang="zh-CN" altLang="en-US" sz="1800" b="1" i="0" u="none" strike="noStrike" baseline="0" dirty="0">
                <a:latin typeface="SourceHanSansSC-Bold"/>
              </a:rPr>
              <a:t>成本基准。</a:t>
            </a:r>
            <a:r>
              <a:rPr lang="zh-CN" altLang="en-US" sz="1800" b="0" i="0" u="none" strike="noStrike" baseline="0" dirty="0">
                <a:latin typeface="SourceHanSansSC-Regular"/>
              </a:rPr>
              <a:t>见 </a:t>
            </a:r>
            <a:r>
              <a:rPr lang="en-US" altLang="zh-CN" sz="1800" b="0" i="0" u="none" strike="noStrike" baseline="0" dirty="0">
                <a:latin typeface="HelveticaNeue-Condensed"/>
              </a:rPr>
              <a:t>7.3.3.1 </a:t>
            </a:r>
            <a:r>
              <a:rPr lang="zh-CN" altLang="en-US" sz="1800" b="0" i="0" u="none" strike="noStrike" baseline="0" dirty="0">
                <a:latin typeface="SourceHanSansSC-Regular"/>
              </a:rPr>
              <a:t>节。在针对范围、资源或成本估算的变更获得批准后，需要对成本基准做出相应的变更。有时成本偏差太过严重，以至于需要修订成本基准，以便为绩效测量提供现实可行的依据。</a:t>
            </a:r>
          </a:p>
          <a:p>
            <a:pPr algn="l"/>
            <a:endParaRPr lang="en-US" altLang="zh-CN" sz="1800" b="0" i="0" u="none" strike="noStrike" baseline="0" dirty="0">
              <a:latin typeface="HelveticaNeue-MediumCond"/>
            </a:endParaRPr>
          </a:p>
          <a:p>
            <a:pPr algn="l"/>
            <a:r>
              <a:rPr lang="en-US" altLang="zh-CN" sz="1800" b="0" i="0" u="none" strike="noStrike" baseline="0" dirty="0">
                <a:latin typeface="HelveticaNeue-MediumCond"/>
              </a:rPr>
              <a:t>6.5.3.7 </a:t>
            </a:r>
            <a:r>
              <a:rPr lang="zh-CN" altLang="en-US" sz="1800" b="0" i="0" u="none" strike="noStrike" baseline="0" dirty="0">
                <a:latin typeface="SourceHanSansSC-Medium"/>
              </a:rPr>
              <a:t>项目文件更新</a:t>
            </a:r>
          </a:p>
          <a:p>
            <a:pPr algn="l"/>
            <a:r>
              <a:rPr lang="zh-CN" altLang="en-US" sz="1800" b="0" i="0" u="none" strike="noStrike" baseline="0" dirty="0">
                <a:latin typeface="SourceHanSansSC-Regular"/>
              </a:rPr>
              <a:t>可在本过程更新的项目文件包括（但不限于）：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活动属性。</a:t>
            </a:r>
            <a:r>
              <a:rPr lang="zh-CN" altLang="en-US" sz="1800" b="0" i="0" u="none" strike="noStrike" baseline="0" dirty="0">
                <a:latin typeface="SourceHanSansSC-Regular"/>
              </a:rPr>
              <a:t>见 </a:t>
            </a:r>
            <a:r>
              <a:rPr lang="en-US" altLang="zh-CN" sz="1800" b="0" i="0" u="none" strike="noStrike" baseline="0" dirty="0">
                <a:latin typeface="HelveticaNeue-Condensed"/>
              </a:rPr>
              <a:t>6.2.3.2 </a:t>
            </a:r>
            <a:r>
              <a:rPr lang="zh-CN" altLang="en-US" sz="1800" b="0" i="0" u="none" strike="noStrike" baseline="0" dirty="0">
                <a:latin typeface="SourceHanSansSC-Regular"/>
              </a:rPr>
              <a:t>节。更新活动属性以反映在制定进度计划过程中所产生的对资源需求和其他相关内容的修改。</a:t>
            </a:r>
          </a:p>
          <a:p>
            <a:pPr algn="l"/>
            <a:r>
              <a:rPr lang="en-US" altLang="zh-CN" sz="1800" b="0" i="0" u="none" strike="noStrike" baseline="0" dirty="0">
                <a:latin typeface="Wingdings-Regular"/>
              </a:rPr>
              <a:t>  </a:t>
            </a:r>
            <a:r>
              <a:rPr lang="zh-CN" altLang="en-US" sz="1800" b="1" i="0" u="none" strike="noStrike" baseline="0" dirty="0">
                <a:latin typeface="SourceHanSansSC-Bold"/>
              </a:rPr>
              <a:t>假设日志。</a:t>
            </a:r>
            <a:r>
              <a:rPr lang="zh-CN" altLang="en-US" sz="1800" b="0" i="0" u="none" strike="noStrike" baseline="0" dirty="0">
                <a:latin typeface="SourceHanSansSC-Regular"/>
              </a:rPr>
              <a:t>见 </a:t>
            </a:r>
            <a:r>
              <a:rPr lang="en-US" altLang="zh-CN" sz="1800" b="0" i="0" u="none" strike="noStrike" baseline="0" dirty="0">
                <a:latin typeface="HelveticaNeue-Condensed"/>
              </a:rPr>
              <a:t>4.1.3.2 </a:t>
            </a:r>
            <a:r>
              <a:rPr lang="zh-CN" altLang="en-US" sz="1800" b="0" i="0" u="none" strike="noStrike" baseline="0" dirty="0">
                <a:latin typeface="SourceHanSansSC-Regular"/>
              </a:rPr>
              <a:t>节。可能需要更新假设日志，以反映创建进度模型时发现的有关持续时间、资源使用、排序或其他信息的假设条件的变更。</a:t>
            </a:r>
          </a:p>
          <a:p>
            <a:pPr algn="l"/>
            <a:r>
              <a:rPr lang="en-US" altLang="zh-CN" sz="1800" b="0" i="0" u="none" strike="noStrike" baseline="0" dirty="0">
                <a:latin typeface="Wingdings-Regular"/>
              </a:rPr>
              <a:t>  </a:t>
            </a:r>
            <a:r>
              <a:rPr lang="zh-CN" altLang="en-US" sz="1800" b="1" i="0" u="none" strike="noStrike" baseline="0" dirty="0">
                <a:latin typeface="SourceHanSansSC-Bold"/>
              </a:rPr>
              <a:t>持续时间估算。</a:t>
            </a:r>
            <a:r>
              <a:rPr lang="zh-CN" altLang="en-US" sz="1800" b="0" i="0" u="none" strike="noStrike" baseline="0" dirty="0">
                <a:latin typeface="SourceHanSansSC-Regular"/>
              </a:rPr>
              <a:t>见 </a:t>
            </a:r>
            <a:r>
              <a:rPr lang="en-US" altLang="zh-CN" sz="1800" b="0" i="0" u="none" strike="noStrike" baseline="0" dirty="0">
                <a:latin typeface="HelveticaNeue-Condensed"/>
              </a:rPr>
              <a:t>6.4.3.1 </a:t>
            </a:r>
            <a:r>
              <a:rPr lang="zh-CN" altLang="en-US" sz="1800" b="0" i="0" u="none" strike="noStrike" baseline="0" dirty="0">
                <a:latin typeface="SourceHanSansSC-Regular"/>
              </a:rPr>
              <a:t>节。资源的数量和可用性以及活动依赖关系可能会引起持续时间估算的变更。如果资源平衡分析改变了资源需求，就可能需要对持续时间估算做出相应的更新。</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4.4.3.1 </a:t>
            </a:r>
            <a:r>
              <a:rPr lang="zh-CN" altLang="en-US" sz="1800" b="0" i="0" u="none" strike="noStrike" baseline="0" dirty="0">
                <a:latin typeface="SourceHanSansSC-Regular"/>
              </a:rPr>
              <a:t>节。在更新经验教训登记册时，可以增加能够有效和高效制定进度模型的技术。</a:t>
            </a:r>
          </a:p>
          <a:p>
            <a:pPr algn="l"/>
            <a:r>
              <a:rPr lang="en-US" altLang="zh-CN" sz="1800" b="0" i="0" u="none" strike="noStrike" baseline="0" dirty="0">
                <a:latin typeface="Wingdings-Regular"/>
              </a:rPr>
              <a:t>  </a:t>
            </a:r>
            <a:r>
              <a:rPr lang="zh-CN" altLang="en-US" sz="1800" b="1" i="0" u="none" strike="noStrike" baseline="0" dirty="0">
                <a:latin typeface="SourceHanSansSC-Bold"/>
              </a:rPr>
              <a:t>资源需求。</a:t>
            </a:r>
            <a:r>
              <a:rPr lang="zh-CN" altLang="en-US" sz="1800" b="0" i="0" u="none" strike="noStrike" baseline="0" dirty="0">
                <a:latin typeface="SourceHanSansSC-Regular"/>
              </a:rPr>
              <a:t>见 </a:t>
            </a:r>
            <a:r>
              <a:rPr lang="en-US" altLang="zh-CN" sz="1800" b="0" i="0" u="none" strike="noStrike" baseline="0" dirty="0">
                <a:latin typeface="HelveticaNeue-Condensed"/>
              </a:rPr>
              <a:t>9.2.3.1 </a:t>
            </a:r>
            <a:r>
              <a:rPr lang="zh-CN" altLang="en-US" sz="1800" b="0" i="0" u="none" strike="noStrike" baseline="0" dirty="0">
                <a:latin typeface="SourceHanSansSC-Regular"/>
              </a:rPr>
              <a:t>节。资源平衡可能对所需资源类型与数量的初步估算产生显著影响。如果资源平衡分析改变了资源需求，就需要对资源需求做出相应的更新。</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节。可能需要更新风险登记册，以反映进度假设条件所隐含的机会或威胁。</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42</a:t>
            </a:fld>
            <a:endParaRPr lang="zh-CN" altLang="en-US"/>
          </a:p>
        </p:txBody>
      </p:sp>
    </p:spTree>
    <p:extLst>
      <p:ext uri="{BB962C8B-B14F-4D97-AF65-F5344CB8AC3E}">
        <p14:creationId xmlns:p14="http://schemas.microsoft.com/office/powerpoint/2010/main" val="267988409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HelveticaNeue-MediumCond"/>
              </a:rPr>
              <a:t>见下页示例</a:t>
            </a:r>
            <a:endParaRPr lang="en-US" altLang="zh-CN" sz="1800" b="0" i="0" u="none" strike="noStrike" baseline="0" dirty="0">
              <a:latin typeface="HelveticaNeue-MediumCond"/>
            </a:endParaRPr>
          </a:p>
          <a:p>
            <a:pPr algn="l"/>
            <a:r>
              <a:rPr lang="en-US" altLang="zh-CN" sz="1800" b="0" i="0" u="none" strike="noStrike" baseline="0" dirty="0">
                <a:latin typeface="HelveticaNeue-MediumCond"/>
              </a:rPr>
              <a:t>6.5.2.1 </a:t>
            </a:r>
            <a:r>
              <a:rPr lang="zh-CN" altLang="en-US" sz="1800" b="0" i="0" u="none" strike="noStrike" baseline="0" dirty="0">
                <a:latin typeface="SourceHanSansSC-Medium"/>
              </a:rPr>
              <a:t>进度网络分析</a:t>
            </a:r>
          </a:p>
          <a:p>
            <a:pPr algn="l"/>
            <a:r>
              <a:rPr lang="zh-CN" altLang="en-US" sz="1800" b="0" i="0" u="none" strike="noStrike" baseline="0" dirty="0">
                <a:latin typeface="SourceHanSansSC-Regular"/>
              </a:rPr>
              <a:t>进度网络分析是创建项目进度模型的一种综合技术，它采用了其他几种技术，例如关键路径法、资源优化技术和建模技术。其他分析包括（但不限于）：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当多个路径在同一时间点汇聚或分叉时，评估汇总进度储备的必要性，以减少出现进度落后的可能性。</a:t>
            </a:r>
          </a:p>
          <a:p>
            <a:pPr algn="l"/>
            <a:r>
              <a:rPr lang="en-US" altLang="zh-CN" sz="1800" b="0" i="0" u="none" strike="noStrike" baseline="0" dirty="0">
                <a:latin typeface="Wingdings-Regular"/>
              </a:rPr>
              <a:t>  </a:t>
            </a:r>
            <a:r>
              <a:rPr lang="zh-CN" altLang="en-US" sz="1800" b="0" i="0" u="none" strike="noStrike" baseline="0" dirty="0">
                <a:latin typeface="SourceHanSansSC-Regular"/>
              </a:rPr>
              <a:t>审查网络，看看关键路径是否存在高风险活动或具有较多提前量的活动，是否需要使用进度储备或执行风险应对计划来降低关键路径的风险。</a:t>
            </a:r>
          </a:p>
          <a:p>
            <a:pPr algn="l"/>
            <a:r>
              <a:rPr lang="zh-CN" altLang="en-US" sz="1800" b="0" i="0" u="none" strike="noStrike" baseline="0" dirty="0">
                <a:latin typeface="SourceHanSansSC-Regular"/>
              </a:rPr>
              <a:t>进度网络分析是一个反复进行的过程，一直持续到创建出可行的进度模型。</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43</a:t>
            </a:fld>
            <a:endParaRPr lang="zh-CN" altLang="en-US"/>
          </a:p>
        </p:txBody>
      </p:sp>
    </p:spTree>
    <p:extLst>
      <p:ext uri="{BB962C8B-B14F-4D97-AF65-F5344CB8AC3E}">
        <p14:creationId xmlns:p14="http://schemas.microsoft.com/office/powerpoint/2010/main" val="135889467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幻灯片图像占位符 1">
            <a:extLst>
              <a:ext uri="{FF2B5EF4-FFF2-40B4-BE49-F238E27FC236}">
                <a16:creationId xmlns:a16="http://schemas.microsoft.com/office/drawing/2014/main" id="{EB0FB308-FFBE-408C-B9F8-47F82508CA8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1123" name="备注占位符 2">
            <a:extLst>
              <a:ext uri="{FF2B5EF4-FFF2-40B4-BE49-F238E27FC236}">
                <a16:creationId xmlns:a16="http://schemas.microsoft.com/office/drawing/2014/main" id="{E02B0E17-67D9-4102-A851-C00EEB99BD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zh-CN" altLang="en-US">
                <a:ea typeface="幼圆" panose="02010600030101010101" charset="-122"/>
              </a:rPr>
              <a:t>在确定项目的优先网络图后，就可计算出完成该项目所需要的最短工期是多长时间。</a:t>
            </a:r>
            <a:endParaRPr lang="en-US" altLang="zh-CN"/>
          </a:p>
          <a:p>
            <a:pPr eaLnBrk="1" hangingPunct="1"/>
            <a:r>
              <a:rPr lang="zh-CN" altLang="en-US"/>
              <a:t>关键路径是指一系列决定项目最早完成时间的活动。它是项目网络图中最长的路径，并且有最少的浮动时间。</a:t>
            </a:r>
          </a:p>
          <a:p>
            <a:pPr lvl="1" eaLnBrk="1" hangingPunct="1"/>
            <a:endParaRPr lang="en-US" altLang="zh-CN">
              <a:latin typeface="幼圆" panose="02010600030101010101" charset="-122"/>
              <a:ea typeface="幼圆" panose="02010600030101010101" charset="-122"/>
            </a:endParaRPr>
          </a:p>
          <a:p>
            <a:pPr lvl="1" eaLnBrk="1" hangingPunct="1"/>
            <a:r>
              <a:rPr lang="zh-CN" altLang="en-US">
                <a:ea typeface="幼圆" panose="02010600030101010101" charset="-122"/>
              </a:rPr>
              <a:t>关键路径的确定方式：</a:t>
            </a:r>
            <a:r>
              <a:rPr lang="en-US" altLang="zh-CN">
                <a:ea typeface="幼圆" panose="02010600030101010101" charset="-122"/>
              </a:rPr>
              <a:t> </a:t>
            </a:r>
            <a:r>
              <a:rPr lang="zh-CN" altLang="en-US">
                <a:latin typeface="幼圆" panose="02010600030101010101" charset="-122"/>
                <a:ea typeface="幼圆" panose="02010600030101010101" charset="-122"/>
              </a:rPr>
              <a:t>顺推</a:t>
            </a:r>
            <a:endParaRPr lang="en-US" altLang="zh-CN">
              <a:latin typeface="幼圆" panose="02010600030101010101" charset="-122"/>
              <a:ea typeface="幼圆" panose="02010600030101010101" charset="-122"/>
            </a:endParaRPr>
          </a:p>
          <a:p>
            <a:pPr lvl="1" eaLnBrk="1" hangingPunct="1"/>
            <a:r>
              <a:rPr lang="zh-CN" altLang="en-US">
                <a:latin typeface="幼圆" panose="02010600030101010101" charset="-122"/>
                <a:ea typeface="幼圆" panose="02010600030101010101" charset="-122"/>
              </a:rPr>
              <a:t>从网络图的左边开始，把前两个活动的时间相加，框图中右上角的数字就是执行第二个活动的最早时间，依次类推，计算并写下每个活动的累计时间。顺推法确定项目活动的最早结束时间。</a:t>
            </a:r>
            <a:endParaRPr lang="zh-CN" altLang="en-US" sz="2200">
              <a:ea typeface="幼圆" panose="02010600030101010101" charset="-122"/>
            </a:endParaRPr>
          </a:p>
          <a:p>
            <a:endParaRPr lang="en-US" altLang="zh-CN"/>
          </a:p>
          <a:p>
            <a:r>
              <a:rPr lang="zh-CN" altLang="zh-CN"/>
              <a:t>关键路径上的活动为：关键路径活动。</a:t>
            </a:r>
          </a:p>
          <a:p>
            <a:r>
              <a:rPr lang="zh-CN" altLang="zh-CN"/>
              <a:t>可能有多条关键路径。</a:t>
            </a:r>
            <a:endParaRPr lang="en-US" altLang="zh-CN"/>
          </a:p>
          <a:p>
            <a:endParaRPr lang="zh-CN" altLang="en-US"/>
          </a:p>
        </p:txBody>
      </p:sp>
      <p:sp>
        <p:nvSpPr>
          <p:cNvPr id="261124" name="灯片编号占位符 3">
            <a:extLst>
              <a:ext uri="{FF2B5EF4-FFF2-40B4-BE49-F238E27FC236}">
                <a16:creationId xmlns:a16="http://schemas.microsoft.com/office/drawing/2014/main" id="{BBC2441B-EB35-4559-9C72-844D874C1D8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E3EE838-5E75-4B05-8444-D42E58C98409}" type="slidenum">
              <a:rPr lang="zh-CN" altLang="en-US" smtClean="0"/>
              <a:pPr/>
              <a:t>44</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t>显然，在项目的进度管理中，关键路径尤为重要，尤其在给关键路径的活动分配资源时，更应受到项目管理者的高度关注。</a:t>
            </a:r>
          </a:p>
          <a:p>
            <a:endParaRPr lang="en-US" altLang="zh-CN" dirty="0"/>
          </a:p>
          <a:p>
            <a:pPr algn="just">
              <a:lnSpc>
                <a:spcPct val="115000"/>
              </a:lnSpc>
              <a:spcBef>
                <a:spcPct val="0"/>
              </a:spcBef>
              <a:buFontTx/>
              <a:buNone/>
              <a:defRPr/>
            </a:pPr>
            <a:r>
              <a:rPr lang="zh-CN" altLang="en-US" sz="2400" b="1" dirty="0">
                <a:solidFill>
                  <a:srgbClr val="800000"/>
                </a:solidFill>
              </a:rPr>
              <a:t>计划评审技术（</a:t>
            </a:r>
            <a:r>
              <a:rPr lang="en-US" altLang="zh-CN" sz="2400" b="1" dirty="0">
                <a:solidFill>
                  <a:srgbClr val="800000"/>
                </a:solidFill>
              </a:rPr>
              <a:t>PERT</a:t>
            </a:r>
            <a:r>
              <a:rPr lang="zh-CN" altLang="en-US" sz="2400" b="1" dirty="0">
                <a:solidFill>
                  <a:srgbClr val="800000"/>
                </a:solidFill>
              </a:rPr>
              <a:t>）</a:t>
            </a:r>
          </a:p>
          <a:p>
            <a:pPr lvl="1" algn="just">
              <a:lnSpc>
                <a:spcPct val="115000"/>
              </a:lnSpc>
              <a:spcBef>
                <a:spcPct val="0"/>
              </a:spcBef>
              <a:defRPr/>
            </a:pPr>
            <a:r>
              <a:rPr lang="zh-CN" altLang="en-US" dirty="0"/>
              <a:t>当具体活动历时估算存在很大的不确定性时，用</a:t>
            </a:r>
            <a:r>
              <a:rPr lang="en-US" altLang="zh-CN" dirty="0"/>
              <a:t>PERT</a:t>
            </a:r>
            <a:r>
              <a:rPr lang="zh-CN" altLang="en-US" dirty="0"/>
              <a:t>方法估计项目历时。</a:t>
            </a:r>
            <a:r>
              <a:rPr lang="en-US" altLang="zh-CN" dirty="0"/>
              <a:t>PERT</a:t>
            </a:r>
            <a:r>
              <a:rPr lang="zh-CN" altLang="en-US" dirty="0"/>
              <a:t>将关键路径法应用于加权平均历时估算。</a:t>
            </a:r>
          </a:p>
          <a:p>
            <a:pPr lvl="1" algn="just">
              <a:lnSpc>
                <a:spcPct val="115000"/>
              </a:lnSpc>
              <a:spcBef>
                <a:spcPct val="0"/>
              </a:spcBef>
              <a:defRPr/>
            </a:pPr>
            <a:r>
              <a:rPr lang="en-US" altLang="zh-CN" dirty="0"/>
              <a:t>PERT</a:t>
            </a:r>
            <a:r>
              <a:rPr lang="zh-CN" altLang="en-US" dirty="0"/>
              <a:t>根据乐观的、最可能的、悲观的活动历时估计进行项目历时估计。</a:t>
            </a: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45</a:t>
            </a:fld>
            <a:endParaRPr lang="zh-CN" altLang="en-US"/>
          </a:p>
        </p:txBody>
      </p:sp>
    </p:spTree>
    <p:extLst>
      <p:ext uri="{BB962C8B-B14F-4D97-AF65-F5344CB8AC3E}">
        <p14:creationId xmlns:p14="http://schemas.microsoft.com/office/powerpoint/2010/main" val="147118566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幻灯片图像占位符 1">
            <a:extLst>
              <a:ext uri="{FF2B5EF4-FFF2-40B4-BE49-F238E27FC236}">
                <a16:creationId xmlns:a16="http://schemas.microsoft.com/office/drawing/2014/main" id="{1924C0CE-6FC9-4524-9655-531C3317B679}"/>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3171" name="备注占位符 2">
            <a:extLst>
              <a:ext uri="{FF2B5EF4-FFF2-40B4-BE49-F238E27FC236}">
                <a16:creationId xmlns:a16="http://schemas.microsoft.com/office/drawing/2014/main" id="{A0FC83F6-3A97-4BBF-B60A-D8DF1D11458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1" eaLnBrk="1" hangingPunct="1"/>
            <a:r>
              <a:rPr lang="zh-CN" altLang="en-US" sz="3200" dirty="0"/>
              <a:t>逆推 </a:t>
            </a:r>
            <a:endParaRPr lang="en-US" altLang="zh-CN" sz="3200" dirty="0"/>
          </a:p>
          <a:p>
            <a:pPr lvl="1" eaLnBrk="1" hangingPunct="1"/>
            <a:r>
              <a:rPr lang="zh-CN" altLang="en-US" sz="2800" dirty="0"/>
              <a:t>把关键路径需要的时间写在最后一个活动的右下角，然后从后往前依次计算，从该数字中减去活动的持续时间，框图中右下角的数字就是每个活动必须结束的最晚时间。</a:t>
            </a:r>
          </a:p>
          <a:p>
            <a:endParaRPr lang="zh-CN" altLang="en-US" dirty="0"/>
          </a:p>
        </p:txBody>
      </p:sp>
      <p:sp>
        <p:nvSpPr>
          <p:cNvPr id="263172" name="灯片编号占位符 3">
            <a:extLst>
              <a:ext uri="{FF2B5EF4-FFF2-40B4-BE49-F238E27FC236}">
                <a16:creationId xmlns:a16="http://schemas.microsoft.com/office/drawing/2014/main" id="{28C1C42A-E76F-4254-9807-266631BA6C5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594C983-2C0D-4771-A240-5186B90C7399}" type="slidenum">
              <a:rPr lang="zh-CN" altLang="en-US" smtClean="0"/>
              <a:pPr/>
              <a:t>46</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a:p>
            <a:pPr eaLnBrk="1" hangingPunct="1"/>
            <a:r>
              <a:rPr lang="zh-CN" altLang="en-US" dirty="0"/>
              <a:t>由</a:t>
            </a:r>
            <a:r>
              <a:rPr lang="en-US" altLang="zh-CN" dirty="0" err="1"/>
              <a:t>E·Goldratt</a:t>
            </a:r>
            <a:r>
              <a:rPr lang="zh-CN" altLang="en-US" dirty="0"/>
              <a:t>博士提出的</a:t>
            </a:r>
            <a:r>
              <a:rPr lang="zh-CN" altLang="en-US" b="1" dirty="0"/>
              <a:t>关键链法</a:t>
            </a:r>
            <a:r>
              <a:rPr lang="en-US" altLang="zh-CN" dirty="0"/>
              <a:t>(</a:t>
            </a:r>
            <a:r>
              <a:rPr lang="zh-CN" altLang="en-US" dirty="0"/>
              <a:t>简称</a:t>
            </a:r>
            <a:r>
              <a:rPr lang="en-US" altLang="zh-CN" dirty="0"/>
              <a:t>CCM)(1997</a:t>
            </a:r>
            <a:r>
              <a:rPr lang="zh-CN" altLang="en-US" dirty="0"/>
              <a:t>年</a:t>
            </a:r>
            <a:r>
              <a:rPr lang="en-US" altLang="zh-CN" dirty="0"/>
              <a:t>)   </a:t>
            </a:r>
            <a:r>
              <a:rPr lang="zh-CN" altLang="en-US" dirty="0"/>
              <a:t>就是针对项目出现的 “学生综合症”问题，在关键路径法的基础上修正后的一种新型的项目网络计划方法。</a:t>
            </a:r>
            <a:endParaRPr lang="en-US" altLang="zh-CN" dirty="0"/>
          </a:p>
          <a:p>
            <a:pPr eaLnBrk="1" hangingPunct="1"/>
            <a:r>
              <a:rPr lang="en-US" altLang="zh-CN" dirty="0"/>
              <a:t>    Goldratt</a:t>
            </a:r>
            <a:r>
              <a:rPr lang="zh-CN" altLang="en-US" dirty="0"/>
              <a:t>在项目管理中考虑了人的行为因素。</a:t>
            </a:r>
            <a:r>
              <a:rPr lang="zh-CN" altLang="en-US" b="1" dirty="0"/>
              <a:t>将关键链法计划方法中的各项任务都是基于“尽早开始”</a:t>
            </a:r>
            <a:r>
              <a:rPr lang="en-US" altLang="zh-CN" b="1" dirty="0"/>
              <a:t>(ASAP)</a:t>
            </a:r>
            <a:r>
              <a:rPr lang="zh-CN" altLang="en-US" b="1" dirty="0"/>
              <a:t>改为基于目标完工日期按照“尽晚开始”</a:t>
            </a:r>
            <a:r>
              <a:rPr lang="en-US" altLang="zh-CN" b="1" dirty="0"/>
              <a:t>(ALAP)</a:t>
            </a:r>
            <a:r>
              <a:rPr lang="zh-CN" altLang="en-US" b="1" dirty="0"/>
              <a:t>的原则进行排程，即使项目的各项任务尽可能接近项目的完工日期；</a:t>
            </a:r>
            <a:r>
              <a:rPr lang="zh-CN" altLang="en-US" dirty="0"/>
              <a:t>同时，在项目估算时，先要求所有的人都不考虑任何风险和不确定性因素，所有任务都基于最乐观的估算，即按照时间最短，</a:t>
            </a:r>
            <a:r>
              <a:rPr lang="zh-CN" altLang="en-US" b="1" dirty="0"/>
              <a:t>成本最低做出项目预算和基线</a:t>
            </a:r>
            <a:r>
              <a:rPr lang="zh-CN" altLang="en-US" dirty="0"/>
              <a:t>；接下来，再考虑项目的风险和不确定性问题，增加项目的备用裕量，并将时间备用裕量安排在网络图的终端，即按照乐观估算项目计划的末尾，并根据项目目标的时间要求，用逆推法倒排工期，从而确定出整个项目的进度计划。</a:t>
            </a:r>
            <a:endParaRPr lang="en-US" altLang="zh-CN" dirty="0"/>
          </a:p>
          <a:p>
            <a:pPr eaLnBrk="1" hangingPunct="1"/>
            <a:r>
              <a:rPr lang="en-US" altLang="zh-CN" dirty="0"/>
              <a:t>    </a:t>
            </a:r>
            <a:r>
              <a:rPr lang="zh-CN" altLang="en-US" dirty="0"/>
              <a:t>项目备用裕量，尤其是位于关键路径上任务的备用裕量，一律不进行再分配，由项目高层管理人员集中统一调度支配，主要用于应对项目中的不确定性和风险。</a:t>
            </a:r>
            <a:endParaRPr lang="en-US" altLang="zh-CN" dirty="0"/>
          </a:p>
          <a:p>
            <a:pPr eaLnBrk="1" hangingPunct="1"/>
            <a:r>
              <a:rPr lang="en-US" altLang="zh-CN" dirty="0"/>
              <a:t>    </a:t>
            </a:r>
            <a:r>
              <a:rPr lang="zh-CN" altLang="en-US" dirty="0"/>
              <a:t>因此，基于关键链进度计划，由于在项目的每个工作层面上最大限度地压缩估算和预算，从而消除了出现“学生综合症”的条件；同时，由于将项目备用裕量集中统一使用，能够有充分机动的资源应对项目中可能出现的不确定性和风险，因此，提高了项目效率，降低了项目失败的风险。</a:t>
            </a:r>
            <a:endParaRPr lang="en-US" altLang="zh-CN" dirty="0"/>
          </a:p>
          <a:p>
            <a:pPr eaLnBrk="1" hangingPunct="1"/>
            <a:endParaRPr lang="zh-CN" altLang="en-US" dirty="0"/>
          </a:p>
          <a:p>
            <a:pPr eaLnBrk="1" hangingPunct="1"/>
            <a:r>
              <a:rPr lang="zh-CN" altLang="en-US" dirty="0"/>
              <a:t>   呵呵，可以说，关键链法有助于资本家榨取更多剩余价值。项目管理的目的就是为了多、快、好、省地做好工作！</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47</a:t>
            </a:fld>
            <a:endParaRPr lang="zh-CN" altLang="en-US"/>
          </a:p>
        </p:txBody>
      </p:sp>
    </p:spTree>
    <p:extLst>
      <p:ext uri="{BB962C8B-B14F-4D97-AF65-F5344CB8AC3E}">
        <p14:creationId xmlns:p14="http://schemas.microsoft.com/office/powerpoint/2010/main" val="237202564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latin typeface="Wingdings-Regular"/>
              </a:rPr>
              <a:t>  </a:t>
            </a:r>
            <a:r>
              <a:rPr lang="zh-CN" altLang="en-US" sz="1800" b="1" i="0" u="none" strike="noStrike" baseline="0" dirty="0">
                <a:latin typeface="SourceHanSansSC-Bold"/>
              </a:rPr>
              <a:t>资源平衡。</a:t>
            </a:r>
            <a:r>
              <a:rPr lang="zh-CN" altLang="en-US" sz="1800" b="0" i="0" u="none" strike="noStrike" baseline="0" dirty="0">
                <a:latin typeface="SourceHanSansSC-Regular"/>
              </a:rPr>
              <a:t>为了在资源需求与资源供给之间取得平衡，根据资源制约因素对开始日期和完成日期进行调整的一种技术。如果共享资源或关键资源只在特定时间可用，数量有限，或被过度分配，如一个资源在同一时段内被分配至两个或多个活动，就需要进行资源平衡。也可以为保持资源使用量处于均衡水平而进行资源平衡。资源平衡往往导致关键路径改变。而可以用浮动时间平衡资源。因此，在项目进度计划期间，关键路径可能发生变化。</a:t>
            </a:r>
          </a:p>
          <a:p>
            <a:pPr algn="l"/>
            <a:r>
              <a:rPr lang="en-US" altLang="zh-CN" sz="1800" b="0" i="0" u="none" strike="noStrike" baseline="0" dirty="0">
                <a:latin typeface="Wingdings-Regular"/>
              </a:rPr>
              <a:t>  </a:t>
            </a:r>
            <a:r>
              <a:rPr lang="zh-CN" altLang="en-US" sz="1800" b="1" i="0" u="none" strike="noStrike" baseline="0" dirty="0">
                <a:latin typeface="SourceHanSansSC-Bold"/>
              </a:rPr>
              <a:t>资源平滑。</a:t>
            </a:r>
            <a:r>
              <a:rPr lang="zh-CN" altLang="en-US" sz="1800" b="0" i="0" u="none" strike="noStrike" baseline="0" dirty="0">
                <a:latin typeface="SourceHanSansSC-Regular"/>
              </a:rPr>
              <a:t>对进度模型中的活动进行调整，从而使项目资源需求不超过预定的资源限制的一种技术。相对于资源平衡而言，资源平滑不会改变项目关键路径，完工日期也不会延迟。也就是说，活动只在其自由和总浮动时间内延迟，但资源平滑技术可能无法实现所有资源的优化。</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zh-CN" altLang="en-US" sz="1800" b="0" i="0" u="none" strike="noStrike" baseline="0" dirty="0">
                <a:latin typeface="SourceHanSansSC-Regular"/>
              </a:rPr>
              <a:t>我们一开始的拖地、擦窗和切菜的例子就是用了资源平滑方法</a:t>
            </a:r>
            <a:endParaRPr lang="en-US" altLang="zh-CN" sz="1800" b="0" i="0" u="none" strike="noStrike" baseline="0" dirty="0">
              <a:latin typeface="SourceHanSansSC-Regular"/>
            </a:endParaRPr>
          </a:p>
          <a:p>
            <a:pPr algn="l"/>
            <a:endParaRPr lang="en-US" altLang="zh-CN" dirty="0"/>
          </a:p>
          <a:p>
            <a:pPr algn="l"/>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48</a:t>
            </a:fld>
            <a:endParaRPr lang="zh-CN" altLang="en-US"/>
          </a:p>
        </p:txBody>
      </p:sp>
    </p:spTree>
    <p:extLst>
      <p:ext uri="{BB962C8B-B14F-4D97-AF65-F5344CB8AC3E}">
        <p14:creationId xmlns:p14="http://schemas.microsoft.com/office/powerpoint/2010/main" val="186132839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49</a:t>
            </a:fld>
            <a:endParaRPr lang="zh-CN" altLang="en-US"/>
          </a:p>
        </p:txBody>
      </p:sp>
    </p:spTree>
    <p:extLst>
      <p:ext uri="{BB962C8B-B14F-4D97-AF65-F5344CB8AC3E}">
        <p14:creationId xmlns:p14="http://schemas.microsoft.com/office/powerpoint/2010/main" val="65761151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200" b="0" i="0" u="none" strike="noStrike" baseline="0" dirty="0">
                <a:latin typeface="HelveticaNeue-MediumCond"/>
              </a:rPr>
              <a:t>6.5.2.4 </a:t>
            </a:r>
            <a:r>
              <a:rPr lang="zh-CN" altLang="en-US" sz="1200" b="0" i="0" u="none" strike="noStrike" baseline="0" dirty="0">
                <a:latin typeface="SourceHanSansSC-Medium"/>
              </a:rPr>
              <a:t>数据分析</a:t>
            </a:r>
          </a:p>
          <a:p>
            <a:pPr algn="l"/>
            <a:r>
              <a:rPr lang="zh-CN" altLang="en-US" sz="1200" b="0" i="0" u="none" strike="noStrike" baseline="0" dirty="0">
                <a:latin typeface="SourceHanSansSC-Regular"/>
              </a:rPr>
              <a:t>可用作本过程的数据分析技术包括（但不限于）：</a:t>
            </a:r>
          </a:p>
          <a:p>
            <a:pPr algn="l"/>
            <a:r>
              <a:rPr lang="en-US" altLang="zh-CN" sz="1200" b="0" i="0" u="none" strike="noStrike" baseline="0" dirty="0">
                <a:latin typeface="Wingdings-Regular"/>
              </a:rPr>
              <a:t>  </a:t>
            </a:r>
            <a:r>
              <a:rPr lang="zh-CN" altLang="en-US" sz="1200" b="1" i="0" u="none" strike="noStrike" baseline="0" dirty="0">
                <a:latin typeface="SourceHanSansSC-Bold"/>
              </a:rPr>
              <a:t>假设情景分析。</a:t>
            </a:r>
            <a:r>
              <a:rPr lang="zh-CN" altLang="en-US" sz="1200" b="0" i="0" u="none" strike="noStrike" baseline="0" dirty="0">
                <a:latin typeface="SourceHanSansSC-Regular"/>
              </a:rPr>
              <a:t>例如，推迟某主要部件的交货日期，延长某设计工作的时间，或加入外部因素（如罢工或许可证申请流程变化等）。可以根据假设情景分析的结果，评估项目进度计划在不同条件下的可行性，以及为应对意外情况的影响而编制进度储备和应对计划。</a:t>
            </a:r>
          </a:p>
          <a:p>
            <a:pPr algn="l"/>
            <a:r>
              <a:rPr lang="en-US" altLang="zh-CN" sz="1200" b="0" i="0" u="none" strike="noStrike" baseline="0" dirty="0">
                <a:latin typeface="Wingdings-Regular"/>
              </a:rPr>
              <a:t>  </a:t>
            </a:r>
            <a:r>
              <a:rPr lang="zh-CN" altLang="en-US" sz="1200" b="1" i="0" u="none" strike="noStrike" baseline="0" dirty="0">
                <a:latin typeface="SourceHanSansSC-Regular"/>
              </a:rPr>
              <a:t>模拟</a:t>
            </a:r>
            <a:r>
              <a:rPr lang="zh-CN" altLang="en-US" sz="1200" b="0" i="0" u="none" strike="noStrike" baseline="0" dirty="0">
                <a:latin typeface="SourceHanSansSC-Regular"/>
              </a:rPr>
              <a:t>。图 </a:t>
            </a:r>
            <a:r>
              <a:rPr lang="en-US" altLang="zh-CN" sz="1200" b="0" i="0" u="none" strike="noStrike" baseline="0" dirty="0">
                <a:latin typeface="HelveticaNeue-Condensed"/>
              </a:rPr>
              <a:t>6-18 </a:t>
            </a:r>
            <a:r>
              <a:rPr lang="zh-CN" altLang="en-US" sz="1200" b="0" i="0" u="none" strike="noStrike" baseline="0" dirty="0">
                <a:latin typeface="SourceHanSansSC-Regular"/>
              </a:rPr>
              <a:t>显示了一个项目的概率分布，表明实现特定目标日期（即项目完成日期）的可能性。在这个例子中，项目按时或在目标日期，即 </a:t>
            </a:r>
            <a:r>
              <a:rPr lang="en-US" altLang="zh-CN" sz="1200" b="0" i="0" u="none" strike="noStrike" baseline="0" dirty="0">
                <a:latin typeface="HelveticaNeue-Condensed"/>
              </a:rPr>
              <a:t>5 </a:t>
            </a:r>
            <a:r>
              <a:rPr lang="zh-CN" altLang="en-US" sz="1200" b="0" i="0" u="none" strike="noStrike" baseline="0" dirty="0">
                <a:latin typeface="SourceHanSansSC-Regular"/>
              </a:rPr>
              <a:t>月 </a:t>
            </a:r>
            <a:r>
              <a:rPr lang="en-US" altLang="zh-CN" sz="1200" b="0" i="0" u="none" strike="noStrike" baseline="0" dirty="0">
                <a:latin typeface="HelveticaNeue-Condensed"/>
              </a:rPr>
              <a:t>13 </a:t>
            </a:r>
            <a:r>
              <a:rPr lang="zh-CN" altLang="en-US" sz="1200" b="0" i="0" u="none" strike="noStrike" baseline="0" dirty="0">
                <a:latin typeface="SourceHanSansSC-Regular"/>
              </a:rPr>
              <a:t>日之前完成的概率是 </a:t>
            </a:r>
            <a:r>
              <a:rPr lang="en-US" altLang="zh-CN" sz="1200" b="0" i="0" u="none" strike="noStrike" baseline="0" dirty="0">
                <a:latin typeface="HelveticaNeue-Condensed"/>
              </a:rPr>
              <a:t>10%</a:t>
            </a:r>
            <a:r>
              <a:rPr lang="zh-CN" altLang="en-US" sz="1200" b="0" i="0" u="none" strike="noStrike" baseline="0" dirty="0">
                <a:latin typeface="SourceHanSansSC-Regular"/>
              </a:rPr>
              <a:t>，而在 </a:t>
            </a:r>
            <a:r>
              <a:rPr lang="en-US" altLang="zh-CN" sz="1200" b="0" i="0" u="none" strike="noStrike" baseline="0" dirty="0">
                <a:latin typeface="HelveticaNeue-Condensed"/>
              </a:rPr>
              <a:t>5 </a:t>
            </a:r>
            <a:r>
              <a:rPr lang="zh-CN" altLang="en-US" sz="1200" b="0" i="0" u="none" strike="noStrike" baseline="0" dirty="0">
                <a:latin typeface="SourceHanSansSC-Regular"/>
              </a:rPr>
              <a:t>月 </a:t>
            </a:r>
            <a:r>
              <a:rPr lang="en-US" altLang="zh-CN" sz="1200" b="0" i="0" u="none" strike="noStrike" baseline="0" dirty="0">
                <a:latin typeface="HelveticaNeue-Condensed"/>
              </a:rPr>
              <a:t>28 </a:t>
            </a:r>
            <a:r>
              <a:rPr lang="zh-CN" altLang="en-US" sz="1200" b="0" i="0" u="none" strike="noStrike" baseline="0" dirty="0">
                <a:latin typeface="SourceHanSansSC-Regular"/>
              </a:rPr>
              <a:t>日之前完成的概率是 </a:t>
            </a:r>
            <a:r>
              <a:rPr lang="en-US" altLang="zh-CN" sz="1200" b="0" i="0" u="none" strike="noStrike" baseline="0" dirty="0">
                <a:latin typeface="HelveticaNeue-Condensed"/>
              </a:rPr>
              <a:t>90%</a:t>
            </a:r>
            <a:r>
              <a:rPr lang="zh-CN" altLang="en-US" sz="1200" b="0" i="0" u="none" strike="noStrike" baseline="0" dirty="0">
                <a:latin typeface="SourceHanSansSC-Regular"/>
              </a:rPr>
              <a:t>。</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50</a:t>
            </a:fld>
            <a:endParaRPr lang="zh-CN" altLang="en-US"/>
          </a:p>
        </p:txBody>
      </p:sp>
    </p:spTree>
    <p:extLst>
      <p:ext uri="{BB962C8B-B14F-4D97-AF65-F5344CB8AC3E}">
        <p14:creationId xmlns:p14="http://schemas.microsoft.com/office/powerpoint/2010/main" val="241399876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精益求精固然是一种好的工作态度，但如果因此影响了进度，就得不偿失了，甚至本末倒置了。很多工作精益求精是无止境的，必须掌握好度，以满足项目为基准。</a:t>
            </a:r>
            <a:endParaRPr lang="en-US" altLang="zh-CN" dirty="0"/>
          </a:p>
          <a:p>
            <a:r>
              <a:rPr lang="zh-CN" altLang="en-US" dirty="0"/>
              <a:t>有时为了保持进度，在不影响范围、质量的前提下，不得不作简化，或初步完成后再迭代改进，即采用混合迭代的开发方法。</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51</a:t>
            </a:fld>
            <a:endParaRPr lang="zh-CN" altLang="en-US"/>
          </a:p>
        </p:txBody>
      </p:sp>
    </p:spTree>
    <p:extLst>
      <p:ext uri="{BB962C8B-B14F-4D97-AF65-F5344CB8AC3E}">
        <p14:creationId xmlns:p14="http://schemas.microsoft.com/office/powerpoint/2010/main" val="34380148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53</a:t>
            </a:fld>
            <a:endParaRPr lang="zh-CN" altLang="en-US"/>
          </a:p>
        </p:txBody>
      </p:sp>
    </p:spTree>
    <p:extLst>
      <p:ext uri="{BB962C8B-B14F-4D97-AF65-F5344CB8AC3E}">
        <p14:creationId xmlns:p14="http://schemas.microsoft.com/office/powerpoint/2010/main" val="428910578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Regular"/>
              </a:rPr>
              <a:t>如果采用敏捷方法，控制进度要关注如下内容：</a:t>
            </a:r>
          </a:p>
          <a:p>
            <a:pPr algn="l"/>
            <a:r>
              <a:rPr lang="zh-CN" altLang="en-US" sz="1800" b="0" i="0" u="none" strike="noStrike" baseline="0" dirty="0">
                <a:latin typeface="SourceHanSansSC-Regular"/>
              </a:rPr>
              <a:t>通过比较上一个时间周期中已交付并验收的工作总量与已完成的工作估算值，来判断项目进度的当前状态；</a:t>
            </a:r>
          </a:p>
          <a:p>
            <a:pPr algn="l"/>
            <a:r>
              <a:rPr lang="zh-CN" altLang="en-US" sz="1800" b="0" i="0" u="none" strike="noStrike" baseline="0" dirty="0">
                <a:latin typeface="SourceHanSansSC-Regular"/>
              </a:rPr>
              <a:t>实施回顾性审查（定期审查，记录经验教训），以便纠正与改进过程（如果需要的话）；</a:t>
            </a:r>
          </a:p>
          <a:p>
            <a:pPr algn="l"/>
            <a:r>
              <a:rPr lang="zh-CN" altLang="en-US" sz="1800" b="0" i="0" u="none" strike="noStrike" baseline="0" dirty="0">
                <a:latin typeface="SourceHanSansSC-Regular"/>
              </a:rPr>
              <a:t>对剩余工作计划（未完项）重新进行优先级排序；</a:t>
            </a:r>
          </a:p>
          <a:p>
            <a:pPr algn="l"/>
            <a:r>
              <a:rPr lang="zh-CN" altLang="en-US" sz="1800" b="0" i="0" u="none" strike="noStrike" baseline="0" dirty="0">
                <a:latin typeface="SourceHanSansSC-Regular"/>
              </a:rPr>
              <a:t>确定每次迭代时间（约定的工作周期持续时间，通常是两周或一个月）内可交付成果的生成、核实和验收的速度；</a:t>
            </a:r>
          </a:p>
          <a:p>
            <a:pPr algn="l"/>
            <a:r>
              <a:rPr lang="zh-CN" altLang="en-US" sz="1800" b="0" i="0" u="none" strike="noStrike" baseline="0" dirty="0">
                <a:latin typeface="SourceHanSansSC-Regular"/>
              </a:rPr>
              <a:t>确定项目进度已经发生变更；</a:t>
            </a:r>
          </a:p>
          <a:p>
            <a:pPr algn="l"/>
            <a:r>
              <a:rPr lang="zh-CN" altLang="en-US" sz="1800" b="0" i="0" u="none" strike="noStrike" baseline="0" dirty="0">
                <a:latin typeface="SourceHanSansSC-Regular"/>
              </a:rPr>
              <a:t>在变更实际发生时对其进行管理。</a:t>
            </a:r>
          </a:p>
          <a:p>
            <a:pPr algn="l"/>
            <a:endParaRPr lang="en-US" altLang="zh-CN" sz="1800" b="0" i="0" u="none" strike="noStrike" baseline="0" dirty="0">
              <a:latin typeface="SourceHanSansSC-Regular"/>
            </a:endParaRPr>
          </a:p>
          <a:p>
            <a:pPr algn="l"/>
            <a:r>
              <a:rPr lang="zh-CN" altLang="en-US" sz="1800" b="0" i="0" u="none" strike="noStrike" baseline="0" dirty="0">
                <a:latin typeface="SourceHanSansSC-Regular"/>
              </a:rPr>
              <a:t>将工作外包时，定期向承包商和供应商了解里程碑的状态更新是确保工作按商定进度进行的一种途径，有助于确保进度受控。同时，应执行进度状态评审和巡检，确保承包商报告准确且完整。</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54</a:t>
            </a:fld>
            <a:endParaRPr lang="zh-CN" altLang="en-US"/>
          </a:p>
        </p:txBody>
      </p:sp>
    </p:spTree>
    <p:extLst>
      <p:ext uri="{BB962C8B-B14F-4D97-AF65-F5344CB8AC3E}">
        <p14:creationId xmlns:p14="http://schemas.microsoft.com/office/powerpoint/2010/main" val="40069951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6.6.1 </a:t>
            </a:r>
            <a:r>
              <a:rPr lang="zh-CN" altLang="en-US" sz="1800" b="0" i="0" u="none" strike="noStrike" baseline="0" dirty="0">
                <a:latin typeface="SourceHanSansSC-Medium"/>
              </a:rPr>
              <a:t>控制进度：输入</a:t>
            </a:r>
          </a:p>
          <a:p>
            <a:pPr algn="l"/>
            <a:r>
              <a:rPr lang="en-US" altLang="zh-CN" sz="1800" b="0" i="0" u="none" strike="noStrike" baseline="0" dirty="0">
                <a:latin typeface="HelveticaNeue-MediumCond"/>
              </a:rPr>
              <a:t>6.6.1.1 </a:t>
            </a:r>
            <a:r>
              <a:rPr lang="zh-CN" altLang="en-US" sz="1800" b="0" i="0" u="none" strike="noStrike" baseline="0" dirty="0">
                <a:latin typeface="SourceHanSansSC-Medium"/>
              </a:rPr>
              <a:t>项目管理计划</a:t>
            </a:r>
          </a:p>
          <a:p>
            <a:pPr algn="l"/>
            <a:r>
              <a:rPr lang="zh-CN" altLang="en-US" sz="1800" b="0" i="0" u="none" strike="noStrike" baseline="0" dirty="0">
                <a:latin typeface="SourceHanSansSC-Regular"/>
              </a:rPr>
              <a:t>项目管理计划组件包括（但不限于）：</a:t>
            </a:r>
          </a:p>
          <a:p>
            <a:pPr algn="l"/>
            <a:r>
              <a:rPr lang="zh-CN" altLang="en-US" sz="1800" b="1" i="0" u="none" strike="noStrike" baseline="0" dirty="0">
                <a:latin typeface="SourceHanSansSC-Bold"/>
              </a:rPr>
              <a:t>进度管理计划。</a:t>
            </a:r>
            <a:r>
              <a:rPr lang="zh-CN" altLang="en-US" sz="1800" b="0" i="0" u="none" strike="noStrike" baseline="0" dirty="0">
                <a:latin typeface="SourceHanSansSC-Regular"/>
              </a:rPr>
              <a:t>进度管理计划描述了进度的更新频率、进度储备的使用方式，以及进度的控制方式。</a:t>
            </a:r>
          </a:p>
          <a:p>
            <a:pPr algn="l"/>
            <a:r>
              <a:rPr lang="zh-CN" altLang="en-US" sz="1800" b="1" i="0" u="none" strike="noStrike" baseline="0" dirty="0">
                <a:latin typeface="SourceHanSansSC-Bold"/>
              </a:rPr>
              <a:t>进度基准。</a:t>
            </a:r>
            <a:r>
              <a:rPr lang="zh-CN" altLang="en-US" sz="1800" b="0" i="0" u="none" strike="noStrike" baseline="0" dirty="0">
                <a:latin typeface="SourceHanSansSC-Regular"/>
              </a:rPr>
              <a:t>把进度基准与实际结果相比，以判断是否需要进行变更或采取纠正或预防措施。</a:t>
            </a:r>
          </a:p>
          <a:p>
            <a:pPr algn="l"/>
            <a:r>
              <a:rPr lang="zh-CN" altLang="en-US" sz="1800" b="1" i="0" u="none" strike="noStrike" baseline="0" dirty="0">
                <a:latin typeface="SourceHanSansSC-Bold"/>
              </a:rPr>
              <a:t>范围基准。</a:t>
            </a:r>
            <a:r>
              <a:rPr lang="zh-CN" altLang="en-US" sz="1800" b="0" i="0" u="none" strike="noStrike" baseline="0" dirty="0">
                <a:latin typeface="SourceHanSansSC-Regular"/>
              </a:rPr>
              <a:t>在监控进度基准时，需明确考虑范围基准中的项目 </a:t>
            </a:r>
            <a:r>
              <a:rPr lang="en-US" altLang="zh-CN" sz="1800" b="0" i="0" u="none" strike="noStrike" baseline="0" dirty="0">
                <a:latin typeface="HelveticaNeue-Condensed"/>
              </a:rPr>
              <a:t>WBS</a:t>
            </a:r>
            <a:r>
              <a:rPr lang="zh-CN" altLang="en-US" sz="1800" b="0" i="0" u="none" strike="noStrike" baseline="0" dirty="0">
                <a:latin typeface="SourceHanSansSC-Regular"/>
              </a:rPr>
              <a:t>、可交付成果、制约因素和假设条件。</a:t>
            </a:r>
          </a:p>
          <a:p>
            <a:pPr algn="l"/>
            <a:r>
              <a:rPr lang="zh-CN" altLang="en-US" sz="1800" b="1" i="0" u="none" strike="noStrike" baseline="0" dirty="0">
                <a:latin typeface="SourceHanSansSC-Bold"/>
              </a:rPr>
              <a:t>绩效测量基准。</a:t>
            </a:r>
            <a:r>
              <a:rPr lang="zh-CN" altLang="en-US" sz="1800" b="0" i="0" u="none" strike="noStrike" baseline="0" dirty="0">
                <a:latin typeface="SourceHanSansSC-Regular"/>
              </a:rPr>
              <a:t>使用挣值分析时，将绩效测量基准与实际结果比较，以决定是否有必要进行变更、采取纠正措施或预防措施。</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6.6.1.2 </a:t>
            </a:r>
            <a:r>
              <a:rPr lang="zh-CN" altLang="en-US" sz="1800" b="0" i="0" u="none" strike="noStrike" baseline="0" dirty="0">
                <a:latin typeface="SourceHanSansSC-Medium"/>
              </a:rPr>
              <a:t>项目文件</a:t>
            </a:r>
          </a:p>
          <a:p>
            <a:pPr algn="l"/>
            <a:r>
              <a:rPr lang="zh-CN" altLang="en-US" sz="1800" b="0" i="0" u="none" strike="noStrike" baseline="0" dirty="0">
                <a:latin typeface="SourceHanSansSC-Regular"/>
              </a:rPr>
              <a:t>作为本过程输入的项目文件包括（但不限于）：</a:t>
            </a:r>
          </a:p>
          <a:p>
            <a:pPr algn="l"/>
            <a:r>
              <a:rPr lang="zh-CN" altLang="en-US" sz="1800" b="1" i="0" u="none" strike="noStrike" baseline="0" dirty="0">
                <a:latin typeface="SourceHanSansSC-Bold"/>
              </a:rPr>
              <a:t>经验教训登记册。</a:t>
            </a:r>
            <a:r>
              <a:rPr lang="zh-CN" altLang="en-US" sz="1800" b="0" i="0" u="none" strike="noStrike" baseline="0" dirty="0">
                <a:latin typeface="SourceHanSansSC-Regular"/>
              </a:rPr>
              <a:t>在项目早期获得的经验教训可以运用到后期阶段，以改进进度控制。</a:t>
            </a:r>
          </a:p>
          <a:p>
            <a:pPr algn="l"/>
            <a:r>
              <a:rPr lang="zh-CN" altLang="en-US" sz="1800" b="1" i="0" u="none" strike="noStrike" baseline="0" dirty="0">
                <a:latin typeface="SourceHanSansSC-Bold"/>
              </a:rPr>
              <a:t>项目日历。</a:t>
            </a:r>
            <a:r>
              <a:rPr lang="zh-CN" altLang="en-US" sz="1800" b="0" i="0" u="none" strike="noStrike" baseline="0" dirty="0">
                <a:latin typeface="SourceHanSansSC-Regular"/>
              </a:rPr>
              <a:t>在一个进度模型中，可能需要不止一个项目日历来预测项目进度，因为有些活动需要不同的工作时段。</a:t>
            </a:r>
          </a:p>
          <a:p>
            <a:pPr algn="l"/>
            <a:r>
              <a:rPr lang="zh-CN" altLang="en-US" sz="1800" b="1" i="0" u="none" strike="noStrike" baseline="0" dirty="0">
                <a:latin typeface="SourceHanSansSC-Bold"/>
              </a:rPr>
              <a:t>项目进度计划。</a:t>
            </a:r>
            <a:r>
              <a:rPr lang="zh-CN" altLang="en-US" sz="1800" b="0" i="0" u="none" strike="noStrike" baseline="0" dirty="0">
                <a:latin typeface="SourceHanSansSC-Regular"/>
              </a:rPr>
              <a:t>项目进度计划是最新版本的项目进度计划，其中图示了截至指定日期的更新情况、已完活动和已开始活动。</a:t>
            </a:r>
          </a:p>
          <a:p>
            <a:pPr algn="l"/>
            <a:r>
              <a:rPr lang="zh-CN" altLang="en-US" sz="1800" b="1" i="0" u="none" strike="noStrike" baseline="0" dirty="0">
                <a:latin typeface="SourceHanSansSC-Bold"/>
              </a:rPr>
              <a:t>资源日历。</a:t>
            </a:r>
            <a:r>
              <a:rPr lang="zh-CN" altLang="en-US" sz="1800" b="0" i="0" u="none" strike="noStrike" baseline="0" dirty="0">
                <a:latin typeface="SourceHanSansSC-Regular"/>
              </a:rPr>
              <a:t>资源日历显示了团队和物质资源的可用性。</a:t>
            </a:r>
          </a:p>
          <a:p>
            <a:pPr algn="l"/>
            <a:r>
              <a:rPr lang="zh-CN" altLang="en-US" sz="1800" b="1" i="0" u="none" strike="noStrike" baseline="0" dirty="0">
                <a:latin typeface="SourceHanSansSC-Bold"/>
              </a:rPr>
              <a:t>进度数据。</a:t>
            </a:r>
            <a:r>
              <a:rPr lang="zh-CN" altLang="en-US" sz="1800" b="0" i="0" u="none" strike="noStrike" baseline="0" dirty="0">
                <a:latin typeface="SourceHanSansSC-Regular"/>
              </a:rPr>
              <a:t>在控制进度过程中需要对进度数据进行审查和更新。</a:t>
            </a:r>
          </a:p>
          <a:p>
            <a:pPr algn="l"/>
            <a:r>
              <a:rPr lang="en-US" altLang="zh-CN" sz="1800" b="0" i="0" u="none" strike="noStrike" baseline="0" dirty="0">
                <a:latin typeface="HelveticaNeue-MediumCond"/>
              </a:rPr>
              <a:t>6.6.1.3 </a:t>
            </a:r>
            <a:r>
              <a:rPr lang="zh-CN" altLang="en-US" sz="1800" b="0" i="0" u="none" strike="noStrike" baseline="0" dirty="0">
                <a:latin typeface="SourceHanSansSC-Medium"/>
              </a:rPr>
              <a:t>工作绩效数据</a:t>
            </a:r>
          </a:p>
          <a:p>
            <a:pPr algn="l"/>
            <a:r>
              <a:rPr lang="zh-CN" altLang="en-US" sz="1800" b="0" i="0" u="none" strike="noStrike" baseline="0" dirty="0">
                <a:latin typeface="SourceHanSansSC-Regular"/>
              </a:rPr>
              <a:t>工作绩效数据包含关于项目状态的数据，例如哪些活动已经开始，它们的进展如何（如实际持续时间、剩余持续时间和实际完成百分比），哪些活动已经完成。</a:t>
            </a:r>
          </a:p>
          <a:p>
            <a:pPr algn="l"/>
            <a:r>
              <a:rPr lang="en-US" altLang="zh-CN" sz="1800" b="0" i="0" u="none" strike="noStrike" baseline="0" dirty="0">
                <a:latin typeface="HelveticaNeue-MediumCond"/>
              </a:rPr>
              <a:t>6.6.1.4 </a:t>
            </a:r>
            <a:r>
              <a:rPr lang="zh-CN" altLang="en-US" sz="1800" b="0" i="0" u="none" strike="noStrike" baseline="0" dirty="0">
                <a:latin typeface="SourceHanSansSC-Medium"/>
              </a:rPr>
              <a:t>组织过程资产</a:t>
            </a:r>
          </a:p>
          <a:p>
            <a:pPr algn="l"/>
            <a:r>
              <a:rPr lang="zh-CN" altLang="en-US" sz="1800" b="0" i="0" u="none" strike="noStrike" baseline="0" dirty="0">
                <a:latin typeface="SourceHanSansSC-Regular"/>
              </a:rPr>
              <a:t>能够影响控制进度过程的组织过程资产包括（但不限于）：</a:t>
            </a:r>
          </a:p>
          <a:p>
            <a:pPr algn="l"/>
            <a:r>
              <a:rPr lang="zh-CN" altLang="en-US" sz="1800" b="0" i="0" u="none" strike="noStrike" baseline="0" dirty="0">
                <a:latin typeface="SourceHanSansSC-Regular"/>
              </a:rPr>
              <a:t>现有与进度控制有关的正式和非正式的政策、程序和指南；</a:t>
            </a:r>
          </a:p>
          <a:p>
            <a:pPr algn="l"/>
            <a:r>
              <a:rPr lang="zh-CN" altLang="en-US" sz="1800" b="0" i="0" u="none" strike="noStrike" baseline="0" dirty="0">
                <a:latin typeface="SourceHanSansSC-Regular"/>
              </a:rPr>
              <a:t>进度控制工具；</a:t>
            </a:r>
          </a:p>
          <a:p>
            <a:pPr algn="l"/>
            <a:r>
              <a:rPr lang="zh-CN" altLang="en-US" sz="1800" b="0" i="0" u="none" strike="noStrike" baseline="0" dirty="0">
                <a:latin typeface="SourceHanSansSC-Regular"/>
              </a:rPr>
              <a:t>可用的监督和报告方法。</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55</a:t>
            </a:fld>
            <a:endParaRPr lang="zh-CN" altLang="en-US"/>
          </a:p>
        </p:txBody>
      </p:sp>
    </p:spTree>
    <p:extLst>
      <p:ext uri="{BB962C8B-B14F-4D97-AF65-F5344CB8AC3E}">
        <p14:creationId xmlns:p14="http://schemas.microsoft.com/office/powerpoint/2010/main" val="369922855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latin typeface="微软雅黑" panose="020B0503020204020204" pitchFamily="34" charset="-122"/>
                <a:ea typeface="微软雅黑" panose="020B0503020204020204" pitchFamily="34" charset="-122"/>
              </a:rPr>
              <a:t>迭代燃尽图。  </a:t>
            </a:r>
            <a:r>
              <a:rPr lang="zh-CN" altLang="en-US" sz="1200" dirty="0">
                <a:latin typeface="微软雅黑" panose="020B0503020204020204" pitchFamily="34" charset="-122"/>
                <a:ea typeface="微软雅黑" panose="020B0503020204020204" pitchFamily="34" charset="-122"/>
              </a:rPr>
              <a:t>在燃尽图中，先用对角线表示理想的燃尽情况，再每天画出实际剩余工作，最后基于剩余工作计算出趋势线以预测完成情况。</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56</a:t>
            </a:fld>
            <a:endParaRPr lang="zh-CN" altLang="en-US"/>
          </a:p>
        </p:txBody>
      </p:sp>
    </p:spTree>
    <p:extLst>
      <p:ext uri="{BB962C8B-B14F-4D97-AF65-F5344CB8AC3E}">
        <p14:creationId xmlns:p14="http://schemas.microsoft.com/office/powerpoint/2010/main" val="167801705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solidFill>
                  <a:srgbClr val="333333"/>
                </a:solidFill>
                <a:latin typeface="HelveticaNeue-MediumCond"/>
              </a:rPr>
              <a:t>227</a:t>
            </a:r>
          </a:p>
          <a:p>
            <a:pPr algn="l"/>
            <a:r>
              <a:rPr lang="en-US" altLang="zh-CN" sz="1800" b="0" i="0" u="none" strike="noStrike" baseline="0" dirty="0">
                <a:solidFill>
                  <a:srgbClr val="000000"/>
                </a:solidFill>
                <a:latin typeface="Wingdings-Regular"/>
              </a:rPr>
              <a:t>  </a:t>
            </a:r>
            <a:r>
              <a:rPr lang="zh-CN" altLang="en-US" sz="1800" b="1" i="0" u="none" strike="noStrike" baseline="0" dirty="0">
                <a:solidFill>
                  <a:srgbClr val="000000"/>
                </a:solidFill>
                <a:latin typeface="SourceHanSansSC-Bold"/>
              </a:rPr>
              <a:t>偏差分析。</a:t>
            </a:r>
            <a:r>
              <a:rPr lang="zh-CN" altLang="en-US" sz="1800" b="0" i="0" u="none" strike="noStrike" baseline="0" dirty="0">
                <a:solidFill>
                  <a:srgbClr val="000000"/>
                </a:solidFill>
                <a:latin typeface="SourceHanSansSC-Regular"/>
              </a:rPr>
              <a:t>它包括确定偏离进度基准的原因与程度，评估这些偏差对未来工作的影响，以及确定是否需要采取纠正或预防措施。例如，非关键路径上的某个</a:t>
            </a:r>
          </a:p>
          <a:p>
            <a:pPr algn="l"/>
            <a:r>
              <a:rPr lang="zh-CN" altLang="en-US" sz="1800" b="0" i="0" u="none" strike="noStrike" baseline="0" dirty="0">
                <a:solidFill>
                  <a:srgbClr val="000000"/>
                </a:solidFill>
                <a:latin typeface="SourceHanSansSC-Regular"/>
              </a:rPr>
              <a:t>活动发生较长时间的延误，可能不会对整体项目进度产生影响；而某个关键或次关键活动的稍许延误，却可能需要立即采取行动。</a:t>
            </a:r>
            <a:endParaRPr lang="en-US" altLang="zh-CN" sz="1800" b="0" i="0" u="none" strike="noStrike" baseline="0" dirty="0">
              <a:solidFill>
                <a:srgbClr val="000000"/>
              </a:solidFill>
              <a:latin typeface="SourceHanSansSC-Regular"/>
            </a:endParaRPr>
          </a:p>
          <a:p>
            <a:pPr algn="l"/>
            <a:endParaRPr lang="en-US" altLang="zh-CN" sz="1800" b="0" i="0" u="none" strike="noStrike" baseline="0" dirty="0">
              <a:solidFill>
                <a:srgbClr val="000000"/>
              </a:solidFill>
              <a:latin typeface="SourceHanSansSC-Regular"/>
            </a:endParaRPr>
          </a:p>
          <a:p>
            <a:pPr algn="l"/>
            <a:r>
              <a:rPr lang="en-US" altLang="zh-CN" sz="1800" b="0" i="0" u="none" strike="noStrike" baseline="0" dirty="0">
                <a:latin typeface="HelveticaNeue-MediumCond"/>
              </a:rPr>
              <a:t>6.6.2.3 </a:t>
            </a:r>
            <a:r>
              <a:rPr lang="zh-CN" altLang="en-US" sz="1800" b="0" i="0" u="none" strike="noStrike" baseline="0" dirty="0">
                <a:latin typeface="SourceHanSansSC-Medium"/>
              </a:rPr>
              <a:t>项目管理信息系统 </a:t>
            </a:r>
            <a:r>
              <a:rPr lang="en-US" altLang="zh-CN" sz="1800" b="0" i="0" u="none" strike="noStrike" baseline="0" dirty="0">
                <a:latin typeface="HelveticaNeue-MediumCond"/>
              </a:rPr>
              <a:t>(PMIS)</a:t>
            </a:r>
          </a:p>
          <a:p>
            <a:pPr algn="l"/>
            <a:r>
              <a:rPr lang="zh-CN" altLang="en-US" sz="1800" b="0" i="0" u="none" strike="noStrike" baseline="0" dirty="0">
                <a:latin typeface="SourceHanSansSC-Regular"/>
              </a:rPr>
              <a:t>项目管理信息系统包括进度计划软件。用这种软件对照计划日期跟踪实际日期，对照进度基准报告偏差和进展，以及预测项目进度模型变更的影响。</a:t>
            </a:r>
          </a:p>
          <a:p>
            <a:pPr algn="l"/>
            <a:r>
              <a:rPr lang="en-US" altLang="zh-CN" sz="1800" b="0" i="0" u="none" strike="noStrike" baseline="0" dirty="0">
                <a:latin typeface="HelveticaNeue-MediumCond"/>
              </a:rPr>
              <a:t>6.6.2.4 </a:t>
            </a:r>
            <a:r>
              <a:rPr lang="zh-CN" altLang="en-US" sz="1800" b="0" i="0" u="none" strike="noStrike" baseline="0" dirty="0">
                <a:latin typeface="SourceHanSansSC-Medium"/>
              </a:rPr>
              <a:t>资源优化</a:t>
            </a:r>
          </a:p>
          <a:p>
            <a:pPr algn="l"/>
            <a:r>
              <a:rPr lang="zh-CN" altLang="en-US" sz="1800" b="0" i="0" u="none" strike="noStrike" baseline="0" dirty="0">
                <a:latin typeface="SourceHanSansSC-Regular"/>
              </a:rPr>
              <a:t>资源优化技术是在同时考虑资源可用性和项目时间的情况下，对活动和活动所需资源进行的进度规划。</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6.6.2.5 </a:t>
            </a:r>
            <a:r>
              <a:rPr lang="zh-CN" altLang="en-US" sz="1800" b="0" i="0" u="none" strike="noStrike" baseline="0" dirty="0">
                <a:latin typeface="SourceHanSansSC-Medium"/>
              </a:rPr>
              <a:t>提前量和滞后量</a:t>
            </a:r>
          </a:p>
          <a:p>
            <a:pPr algn="l"/>
            <a:r>
              <a:rPr lang="zh-CN" altLang="en-US" sz="1800" b="0" i="0" u="none" strike="noStrike" baseline="0" dirty="0">
                <a:latin typeface="SourceHanSansSC-Regular"/>
              </a:rPr>
              <a:t>在网络分析中调整提前量与滞后量，设法使进度滞后的项目活动赶上计划。例如，在新办公大楼建设项目中，通过增加活动之间的提前量，把绿化施工调整到大楼外墙装饰完工之前开始；或</a:t>
            </a:r>
          </a:p>
          <a:p>
            <a:pPr algn="l"/>
            <a:r>
              <a:rPr lang="zh-CN" altLang="en-US" sz="1800" b="0" i="0" u="none" strike="noStrike" baseline="0" dirty="0">
                <a:latin typeface="SourceHanSansSC-Regular"/>
              </a:rPr>
              <a:t>者，在大型技术文件编写项目中，通过消除或减少滞后量，把草稿编辑工作调整到草稿编写完成之后立即开始。</a:t>
            </a:r>
          </a:p>
          <a:p>
            <a:pPr algn="l"/>
            <a:r>
              <a:rPr lang="en-US" altLang="zh-CN" sz="1800" b="0" i="0" u="none" strike="noStrike" baseline="0" dirty="0">
                <a:latin typeface="HelveticaNeue-MediumCond"/>
              </a:rPr>
              <a:t>6.6.2.6 </a:t>
            </a:r>
            <a:r>
              <a:rPr lang="zh-CN" altLang="en-US" sz="1800" b="0" i="0" u="none" strike="noStrike" baseline="0" dirty="0">
                <a:latin typeface="SourceHanSansSC-Medium"/>
              </a:rPr>
              <a:t>进度压缩</a:t>
            </a:r>
          </a:p>
          <a:p>
            <a:pPr algn="l"/>
            <a:r>
              <a:rPr lang="zh-CN" altLang="en-US" sz="1800" b="0" i="0" u="none" strike="noStrike" baseline="0" dirty="0">
                <a:latin typeface="SourceHanSansSC-Regular"/>
              </a:rPr>
              <a:t>采用进度压缩技术使进度落后的项目活动赶上计划，可以对剩余工作使用快速跟进或赶工方法。</a:t>
            </a:r>
            <a:endParaRPr lang="zh-CN" altLang="en-US" sz="1800" b="0" i="0" u="none" strike="noStrike" baseline="0" dirty="0">
              <a:solidFill>
                <a:srgbClr val="000000"/>
              </a:solidFill>
              <a:latin typeface="SourceHanSansSC-Regular"/>
            </a:endParaRPr>
          </a:p>
        </p:txBody>
      </p:sp>
      <p:sp>
        <p:nvSpPr>
          <p:cNvPr id="4" name="灯片编号占位符 3"/>
          <p:cNvSpPr>
            <a:spLocks noGrp="1"/>
          </p:cNvSpPr>
          <p:nvPr>
            <p:ph type="sldNum" sz="quarter" idx="5"/>
          </p:nvPr>
        </p:nvSpPr>
        <p:spPr/>
        <p:txBody>
          <a:bodyPr/>
          <a:lstStyle/>
          <a:p>
            <a:fld id="{65ACE964-20FD-4E02-AD78-D23A92B56B1B}" type="slidenum">
              <a:rPr lang="zh-CN" altLang="en-US" smtClean="0"/>
              <a:t>57</a:t>
            </a:fld>
            <a:endParaRPr lang="zh-CN" altLang="en-US"/>
          </a:p>
        </p:txBody>
      </p:sp>
    </p:spTree>
    <p:extLst>
      <p:ext uri="{BB962C8B-B14F-4D97-AF65-F5344CB8AC3E}">
        <p14:creationId xmlns:p14="http://schemas.microsoft.com/office/powerpoint/2010/main" val="311289412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6.6.3.1 </a:t>
            </a:r>
            <a:r>
              <a:rPr lang="zh-CN" altLang="en-US" sz="1800" b="0" i="0" u="none" strike="noStrike" baseline="0" dirty="0">
                <a:latin typeface="SourceHanSansSC-Medium"/>
              </a:rPr>
              <a:t>工作绩效信息</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4.5.1.3 </a:t>
            </a:r>
            <a:r>
              <a:rPr lang="zh-CN" altLang="en-US" sz="1800" b="0" i="0" u="none" strike="noStrike" baseline="0" dirty="0">
                <a:latin typeface="SourceHanSansSC-Regular"/>
              </a:rPr>
              <a:t>节。工作绩效信息包括与进度基准相比较的项目工作执行情况。可以在工作包层级和控制账户层级，计算开始和完成日期的偏差以及持续时间的偏差。对于使用挣值分析的项目，进步偏差 </a:t>
            </a:r>
            <a:r>
              <a:rPr lang="en-US" altLang="zh-CN" sz="1800" b="0" i="0" u="none" strike="noStrike" baseline="0" dirty="0">
                <a:latin typeface="HelveticaNeue-Condensed"/>
              </a:rPr>
              <a:t>(SV) </a:t>
            </a:r>
            <a:r>
              <a:rPr lang="zh-CN" altLang="en-US" sz="1800" b="0" i="0" u="none" strike="noStrike" baseline="0" dirty="0">
                <a:latin typeface="SourceHanSansSC-Regular"/>
              </a:rPr>
              <a:t>和进度绩效指数 </a:t>
            </a:r>
            <a:r>
              <a:rPr lang="en-US" altLang="zh-CN" sz="1800" b="0" i="0" u="none" strike="noStrike" baseline="0" dirty="0">
                <a:latin typeface="HelveticaNeue-Condensed"/>
              </a:rPr>
              <a:t>(SPI) </a:t>
            </a:r>
            <a:r>
              <a:rPr lang="zh-CN" altLang="en-US" sz="1800" b="0" i="0" u="none" strike="noStrike" baseline="0" dirty="0">
                <a:latin typeface="SourceHanSansSC-Regular"/>
              </a:rPr>
              <a:t>将记录在工作绩效报告中（见 </a:t>
            </a:r>
            <a:r>
              <a:rPr lang="en-US" altLang="zh-CN" sz="1800" b="0" i="0" u="none" strike="noStrike" baseline="0" dirty="0">
                <a:latin typeface="HelveticaNeue-Condensed"/>
              </a:rPr>
              <a:t>4.5.3.1 </a:t>
            </a:r>
            <a:r>
              <a:rPr lang="zh-CN" altLang="en-US" sz="1800" b="0" i="0" u="none" strike="noStrike" baseline="0" dirty="0">
                <a:latin typeface="SourceHanSansSC-Regular"/>
              </a:rPr>
              <a:t>节）。</a:t>
            </a:r>
          </a:p>
          <a:p>
            <a:pPr algn="l"/>
            <a:r>
              <a:rPr lang="en-US" altLang="zh-CN" sz="1800" b="0" i="0" u="none" strike="noStrike" baseline="0" dirty="0">
                <a:latin typeface="HelveticaNeue-MediumCond"/>
              </a:rPr>
              <a:t>6.6.3.2 </a:t>
            </a:r>
            <a:r>
              <a:rPr lang="zh-CN" altLang="en-US" sz="1800" b="0" i="0" u="none" strike="noStrike" baseline="0" dirty="0">
                <a:latin typeface="SourceHanSansSC-Medium"/>
              </a:rPr>
              <a:t>进度预测</a:t>
            </a:r>
          </a:p>
          <a:p>
            <a:pPr algn="l"/>
            <a:r>
              <a:rPr lang="zh-CN" altLang="en-US" sz="1800" b="0" i="0" u="none" strike="noStrike" baseline="0" dirty="0">
                <a:latin typeface="SourceHanSansSC-Regular"/>
              </a:rPr>
              <a:t>随着项目执行，应该基于工作绩效信息，更新和重新发布预测。这些信息基于项目的过去绩效，并取决于纠正或预防措施所期望的未来绩效，可能包括挣值绩效指数，以及可能在未来对项目造成影响的进度储备信息。</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6.6.3.3 </a:t>
            </a:r>
            <a:r>
              <a:rPr lang="zh-CN" altLang="en-US" sz="1800" b="0" i="0" u="none" strike="noStrike" baseline="0" dirty="0">
                <a:latin typeface="SourceHanSansSC-Medium"/>
              </a:rPr>
              <a:t>变更请求</a:t>
            </a:r>
          </a:p>
          <a:p>
            <a:pPr algn="l"/>
            <a:r>
              <a:rPr lang="zh-CN" altLang="en-US" sz="1800" b="0" i="0" u="none" strike="noStrike" baseline="0" dirty="0">
                <a:latin typeface="SourceHanSansSC-Regular"/>
              </a:rPr>
              <a:t>通过分析进度偏差，审查进展报告、绩效测量结果和项目范围或进度调整情况，可能会对进度基准、范围基准和</a:t>
            </a:r>
            <a:r>
              <a:rPr lang="en-US" altLang="zh-CN" sz="1800" b="0" i="0" u="none" strike="noStrike" baseline="0" dirty="0">
                <a:latin typeface="SourceHanSansSC-Regular"/>
              </a:rPr>
              <a:t>/</a:t>
            </a:r>
            <a:r>
              <a:rPr lang="zh-CN" altLang="en-US" sz="1800" b="0" i="0" u="none" strike="noStrike" baseline="0" dirty="0">
                <a:latin typeface="SourceHanSansSC-Regular"/>
              </a:rPr>
              <a:t>或项目管理计划的其他组成部分提出变更请求。应该通过实施整体变更控制过程（见 </a:t>
            </a:r>
            <a:r>
              <a:rPr lang="en-US" altLang="zh-CN" sz="1800" b="0" i="0" u="none" strike="noStrike" baseline="0" dirty="0">
                <a:latin typeface="HelveticaNeue-Condensed"/>
              </a:rPr>
              <a:t>4.6 </a:t>
            </a:r>
            <a:r>
              <a:rPr lang="zh-CN" altLang="en-US" sz="1800" b="0" i="0" u="none" strike="noStrike" baseline="0" dirty="0">
                <a:latin typeface="SourceHanSansSC-Regular"/>
              </a:rPr>
              <a:t>节）对变更请求进行审查和处理。预防措施可包括推荐的变更，以消除或降低不利进度偏差的发生概率。</a:t>
            </a:r>
          </a:p>
          <a:p>
            <a:pPr algn="l"/>
            <a:r>
              <a:rPr lang="en-US" altLang="zh-CN" sz="1800" b="0" i="0" u="none" strike="noStrike" baseline="0" dirty="0">
                <a:latin typeface="HelveticaNeue-MediumCond"/>
              </a:rPr>
              <a:t>6.6.3.4 </a:t>
            </a:r>
            <a:r>
              <a:rPr lang="zh-CN" altLang="en-US" sz="1800" b="0" i="0" u="none" strike="noStrike" baseline="0" dirty="0">
                <a:latin typeface="SourceHanSansSC-Medium"/>
              </a:rPr>
              <a:t>项目管理计划更新</a:t>
            </a:r>
          </a:p>
          <a:p>
            <a:pPr algn="l"/>
            <a:r>
              <a:rPr lang="zh-CN" altLang="en-US" sz="1800" b="0" i="0" u="none" strike="noStrike" baseline="0" dirty="0">
                <a:latin typeface="SourceHanSansSC-Regular"/>
              </a:rPr>
              <a:t>项目管理计划的任何变更都以变更请求的形式提出，且通过组织的变更控制过程进行处理。可能</a:t>
            </a:r>
          </a:p>
          <a:p>
            <a:pPr algn="l"/>
            <a:r>
              <a:rPr lang="zh-CN" altLang="en-US" sz="1800" b="0" i="0" u="none" strike="noStrike" baseline="0" dirty="0">
                <a:latin typeface="SourceHanSansSC-Regular"/>
              </a:rPr>
              <a:t>需要变更请求的项目管理计划组成部分包括（但不限于）：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进度管理计划。</a:t>
            </a:r>
            <a:r>
              <a:rPr lang="zh-CN" altLang="en-US" sz="1800" b="0" i="0" u="none" strike="noStrike" baseline="0" dirty="0">
                <a:latin typeface="SourceHanSansSC-Regular"/>
              </a:rPr>
              <a:t>可能需要更新进度管理计划，以反映进度管理方法的变更。</a:t>
            </a:r>
          </a:p>
          <a:p>
            <a:pPr algn="l"/>
            <a:r>
              <a:rPr lang="en-US" altLang="zh-CN" sz="1800" b="0" i="0" u="none" strike="noStrike" baseline="0" dirty="0">
                <a:latin typeface="Wingdings-Regular"/>
              </a:rPr>
              <a:t>  </a:t>
            </a:r>
            <a:r>
              <a:rPr lang="zh-CN" altLang="en-US" sz="1800" b="1" i="0" u="none" strike="noStrike" baseline="0" dirty="0">
                <a:latin typeface="SourceHanSansSC-Bold"/>
              </a:rPr>
              <a:t>进度基准。</a:t>
            </a:r>
            <a:r>
              <a:rPr lang="zh-CN" altLang="en-US" sz="1800" b="0" i="0" u="none" strike="noStrike" baseline="0" dirty="0">
                <a:latin typeface="SourceHanSansSC-Regular"/>
              </a:rPr>
              <a:t>在项目范围、活动资源或活动持续时间估算等方面的变更获得批准后，可能需要对进度基准做相应变更。另外，因进度压缩技术或绩效问题造成变更时，也可能需要更新进度基准。</a:t>
            </a:r>
          </a:p>
          <a:p>
            <a:pPr algn="l"/>
            <a:r>
              <a:rPr lang="en-US" altLang="zh-CN" sz="1800" b="0" i="0" u="none" strike="noStrike" baseline="0" dirty="0">
                <a:latin typeface="Wingdings-Regular"/>
              </a:rPr>
              <a:t>  </a:t>
            </a:r>
            <a:r>
              <a:rPr lang="zh-CN" altLang="en-US" sz="1800" b="1" i="0" u="none" strike="noStrike" baseline="0" dirty="0">
                <a:latin typeface="SourceHanSansSC-Bold"/>
              </a:rPr>
              <a:t>成本基准。</a:t>
            </a:r>
            <a:r>
              <a:rPr lang="zh-CN" altLang="en-US" sz="1800" b="0" i="0" u="none" strike="noStrike" baseline="0" dirty="0">
                <a:latin typeface="SourceHanSansSC-Regular"/>
              </a:rPr>
              <a:t>在针对范围、资源或成本估算的变更获得批准后，需要对成本基准做出相应的变更。</a:t>
            </a:r>
          </a:p>
          <a:p>
            <a:pPr algn="l"/>
            <a:r>
              <a:rPr lang="en-US" altLang="zh-CN" sz="1800" b="0" i="0" u="none" strike="noStrike" baseline="0" dirty="0">
                <a:latin typeface="Wingdings-Regular"/>
              </a:rPr>
              <a:t>  </a:t>
            </a:r>
            <a:r>
              <a:rPr lang="zh-CN" altLang="en-US" sz="1800" b="1" i="0" u="none" strike="noStrike" baseline="0" dirty="0">
                <a:latin typeface="SourceHanSansSC-Bold"/>
              </a:rPr>
              <a:t>绩效测量基准。</a:t>
            </a:r>
            <a:r>
              <a:rPr lang="zh-CN" altLang="en-US" sz="1800" b="0" i="0" u="none" strike="noStrike" baseline="0" dirty="0">
                <a:latin typeface="SourceHanSansSC-Regular"/>
              </a:rPr>
              <a:t>在范围、进度绩效或成本估算的变更获得批准后，需要对绩效测量基准做出相应的变更。有时绩效偏差太过严重，需要提出变更请求来修订绩效测量基准，以便为绩效测量提供现实可行的依据。</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6.6.3.5 </a:t>
            </a:r>
            <a:r>
              <a:rPr lang="zh-CN" altLang="en-US" sz="1800" b="0" i="0" u="none" strike="noStrike" baseline="0" dirty="0">
                <a:latin typeface="SourceHanSansSC-Medium"/>
              </a:rPr>
              <a:t>项目文件更新</a:t>
            </a:r>
          </a:p>
          <a:p>
            <a:pPr algn="l"/>
            <a:r>
              <a:rPr lang="zh-CN" altLang="en-US" sz="1800" b="0" i="0" u="none" strike="noStrike" baseline="0" dirty="0">
                <a:latin typeface="SourceHanSansSC-Regular"/>
              </a:rPr>
              <a:t>可在本过程更新的项目文件包括（但不限于）：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假设日志。</a:t>
            </a:r>
            <a:r>
              <a:rPr lang="zh-CN" altLang="en-US" sz="1800" b="0" i="0" u="none" strike="noStrike" baseline="0" dirty="0">
                <a:latin typeface="SourceHanSansSC-Regular"/>
              </a:rPr>
              <a:t>进度绩效可能表明需要修改关于活动排序、持续时间和生产效率的假设条件。</a:t>
            </a:r>
          </a:p>
          <a:p>
            <a:pPr algn="l"/>
            <a:r>
              <a:rPr lang="en-US" altLang="zh-CN" sz="1800" b="0" i="0" u="none" strike="noStrike" baseline="0" dirty="0">
                <a:latin typeface="Wingdings-Regular"/>
              </a:rPr>
              <a:t>  </a:t>
            </a:r>
            <a:r>
              <a:rPr lang="zh-CN" altLang="en-US" sz="1800" b="1" i="0" u="none" strike="noStrike" baseline="0" dirty="0">
                <a:latin typeface="SourceHanSansSC-Bold"/>
              </a:rPr>
              <a:t>估算依据。</a:t>
            </a:r>
            <a:r>
              <a:rPr lang="zh-CN" altLang="en-US" sz="1800" b="0" i="0" u="none" strike="noStrike" baseline="0" dirty="0">
                <a:latin typeface="SourceHanSansSC-Regular"/>
              </a:rPr>
              <a:t>进度绩效可能表明需要修改持续时间的估算方式。</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更新经验教训登记册，以记录维护进度的有效技术，以及造成偏差的原因和用于应对进度偏差的纠正措施。</a:t>
            </a:r>
          </a:p>
          <a:p>
            <a:pPr algn="l"/>
            <a:r>
              <a:rPr lang="en-US" altLang="zh-CN" sz="1800" b="0" i="0" u="none" strike="noStrike" baseline="0" dirty="0">
                <a:latin typeface="Wingdings-Regular"/>
              </a:rPr>
              <a:t>  </a:t>
            </a:r>
            <a:r>
              <a:rPr lang="zh-CN" altLang="en-US" sz="1800" b="1" i="0" u="none" strike="noStrike" baseline="0" dirty="0">
                <a:latin typeface="SourceHanSansSC-Bold"/>
              </a:rPr>
              <a:t>项目进度计划。</a:t>
            </a:r>
            <a:r>
              <a:rPr lang="zh-CN" altLang="en-US" sz="1800" b="0" i="0" u="none" strike="noStrike" baseline="0" dirty="0">
                <a:latin typeface="SourceHanSansSC-Regular"/>
              </a:rPr>
              <a:t>把更新后的进度数据代入进度模型，生成更新后的项目进度计划，以反映进度变更并有效管理项目。</a:t>
            </a:r>
          </a:p>
          <a:p>
            <a:pPr algn="l"/>
            <a:r>
              <a:rPr lang="en-US" altLang="zh-CN" sz="1800" b="0" i="0" u="none" strike="noStrike" baseline="0" dirty="0">
                <a:latin typeface="Wingdings-Regular"/>
              </a:rPr>
              <a:t>  </a:t>
            </a:r>
            <a:r>
              <a:rPr lang="zh-CN" altLang="en-US" sz="1800" b="1" i="0" u="none" strike="noStrike" baseline="0" dirty="0">
                <a:latin typeface="SourceHanSansSC-Bold"/>
              </a:rPr>
              <a:t>资源日历。</a:t>
            </a:r>
            <a:r>
              <a:rPr lang="zh-CN" altLang="en-US" sz="1800" b="0" i="0" u="none" strike="noStrike" baseline="0" dirty="0">
                <a:latin typeface="SourceHanSansSC-Regular"/>
              </a:rPr>
              <a:t>更新资源日历，以反映因资源优化、进度压缩，以及纠正或预防措施而导致的资源日历变更。</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采用进度压缩技术可能导致风险，也就可能需要更新风险登记册及其中的风险应对计划。</a:t>
            </a:r>
          </a:p>
          <a:p>
            <a:pPr algn="l"/>
            <a:r>
              <a:rPr lang="en-US" altLang="zh-CN" sz="1800" b="0" i="0" u="none" strike="noStrike" baseline="0" dirty="0">
                <a:latin typeface="Wingdings-Regular"/>
              </a:rPr>
              <a:t>  </a:t>
            </a:r>
            <a:r>
              <a:rPr lang="zh-CN" altLang="en-US" sz="1800" b="1" i="0" u="none" strike="noStrike" baseline="0" dirty="0">
                <a:latin typeface="SourceHanSansSC-Bold"/>
              </a:rPr>
              <a:t>进度数据。</a:t>
            </a:r>
            <a:r>
              <a:rPr lang="zh-CN" altLang="en-US" sz="1800" b="0" i="0" u="none" strike="noStrike" baseline="0" dirty="0">
                <a:latin typeface="SourceHanSansSC-Regular"/>
              </a:rPr>
              <a:t>可能需要重新绘制项目进度网络图，以反映经批准的剩余持续时间和经批准的进度计划修改。有时，项目进度延误非常严重，以至于必须重新预测开始与完成日期，编制新的目标进度计划，才能为指导工作、测量绩效和度量进展提供现实的数据。</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58</a:t>
            </a:fld>
            <a:endParaRPr lang="zh-CN" altLang="en-US"/>
          </a:p>
        </p:txBody>
      </p:sp>
    </p:spTree>
    <p:extLst>
      <p:ext uri="{BB962C8B-B14F-4D97-AF65-F5344CB8AC3E}">
        <p14:creationId xmlns:p14="http://schemas.microsoft.com/office/powerpoint/2010/main" val="38516819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59</a:t>
            </a:fld>
            <a:endParaRPr lang="zh-CN" altLang="en-US"/>
          </a:p>
        </p:txBody>
      </p:sp>
    </p:spTree>
    <p:extLst>
      <p:ext uri="{BB962C8B-B14F-4D97-AF65-F5344CB8AC3E}">
        <p14:creationId xmlns:p14="http://schemas.microsoft.com/office/powerpoint/2010/main" val="99113365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60</a:t>
            </a:fld>
            <a:endParaRPr lang="zh-CN" altLang="en-US"/>
          </a:p>
        </p:txBody>
      </p:sp>
    </p:spTree>
    <p:extLst>
      <p:ext uri="{BB962C8B-B14F-4D97-AF65-F5344CB8AC3E}">
        <p14:creationId xmlns:p14="http://schemas.microsoft.com/office/powerpoint/2010/main" val="29119777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gn="just">
              <a:buNone/>
            </a:pPr>
            <a:r>
              <a:rPr lang="zh-CN" altLang="en-US" sz="1200" dirty="0">
                <a:latin typeface="Times New Roman" panose="02020603050405020304" pitchFamily="18" charset="0"/>
              </a:rPr>
              <a:t>   胡先生是一名系统分析师和</a:t>
            </a:r>
            <a:r>
              <a:rPr lang="en-US" altLang="zh-CN" sz="1200" dirty="0">
                <a:latin typeface="Times New Roman" panose="02020603050405020304" pitchFamily="18" charset="0"/>
              </a:rPr>
              <a:t>IT</a:t>
            </a:r>
            <a:r>
              <a:rPr lang="zh-CN" altLang="en-US" sz="1200" dirty="0">
                <a:latin typeface="Times New Roman" panose="02020603050405020304" pitchFamily="18" charset="0"/>
              </a:rPr>
              <a:t>项目专家，在一个大城市的电力部门工作。他的下一个职业目标是成为项目经理，这样可以拥有更大的影响力。他的同事曾邀请他参加一个重大项目的评审会，其中包括他最感兴趣的“智能巡检机器人”项目。“智能巡检机器人”这个概念是开发一个复杂信息系统，该信息系统包括图像处理系统、机器人控制系统、数据库和无线通信系统，该系统能为变电器维护提提供很大帮助，能够在变电站按照规划好的路线每天定时巡检，及时发现设备故障隐患，确保正常供电。</a:t>
            </a:r>
            <a:endParaRPr lang="en-US" altLang="zh-CN" sz="1200" dirty="0">
              <a:latin typeface="Times New Roman" panose="02020603050405020304" pitchFamily="18" charset="0"/>
            </a:endParaRPr>
          </a:p>
          <a:p>
            <a:pPr marL="0" indent="0" algn="just">
              <a:buNone/>
            </a:pPr>
            <a:r>
              <a:rPr lang="zh-CN" altLang="en-US" sz="1200" dirty="0">
                <a:latin typeface="Times New Roman" panose="02020603050405020304" pitchFamily="18" charset="0"/>
              </a:rPr>
              <a:t>     然而，当会议的大部分时间花在讨论有关成本问题时，胡先生感到非常惊奇。在讨论任何新项目的投资之前，官员们会审查许多现有的项目，评估它们目前的实施情况以及预计可能产生的潜在影响。讲演者引用的很多术语和图表胡先生都不理解。他们总是提到的挣值管理是什么？他们如何估计完成项目所需的成本或项目完成所需的时间？胡先生曾想，他应当学习更多的智能巡检机器人相关新技术，但现在他发现，成本估算和项目收益才是官员们在会议上最感兴趣的事情。似乎在任何技术工作开始之前，必须在详细财务分析上花大量精力。胡先生真希望自己学过一些会计和金融方面的课程，那样他就能够理解人们正在讨论的缩写词和概念，尽管胡先生拥有电子工程学位，但他在财务方面没受过正规的教育，经检也特别少。胡先生自信地认为，既然自己能懂得信息技术，也同样能理解项目中的财务问题。他飞快地记下了那些他想在会后与同事们讨论的问题。</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62</a:t>
            </a:fld>
            <a:endParaRPr lang="zh-CN" altLang="en-US"/>
          </a:p>
        </p:txBody>
      </p:sp>
    </p:spTree>
    <p:extLst>
      <p:ext uri="{BB962C8B-B14F-4D97-AF65-F5344CB8AC3E}">
        <p14:creationId xmlns:p14="http://schemas.microsoft.com/office/powerpoint/2010/main" val="160386497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63</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buClr>
                <a:srgbClr val="FD2F0D"/>
              </a:buClr>
              <a:buFont typeface="Wingdings" panose="05000000000000000000" pitchFamily="2" charset="2"/>
              <a:buChar char="q"/>
            </a:pPr>
            <a:r>
              <a:rPr lang="zh-CN" altLang="en-US" b="1" dirty="0">
                <a:solidFill>
                  <a:srgbClr val="FF9933"/>
                </a:solidFill>
              </a:rPr>
              <a:t>为什么要</a:t>
            </a:r>
            <a:r>
              <a:rPr lang="zh-CN" altLang="en-US" dirty="0">
                <a:solidFill>
                  <a:srgbClr val="FF9933"/>
                </a:solidFill>
              </a:rPr>
              <a:t>进行</a:t>
            </a:r>
            <a:r>
              <a:rPr lang="zh-CN" altLang="en-US" b="1" dirty="0">
                <a:solidFill>
                  <a:srgbClr val="FF9933"/>
                </a:solidFill>
              </a:rPr>
              <a:t>项目成本管理？</a:t>
            </a:r>
            <a:endParaRPr lang="en-US" altLang="zh-CN" dirty="0"/>
          </a:p>
          <a:p>
            <a:pPr lvl="1">
              <a:buClr>
                <a:srgbClr val="FD2F0D"/>
              </a:buClr>
              <a:buFont typeface="Wingdings" panose="05000000000000000000" pitchFamily="2" charset="2"/>
              <a:buChar char="q"/>
            </a:pPr>
            <a:r>
              <a:rPr lang="zh-CN" altLang="en-US" dirty="0"/>
              <a:t>项目成本估算和项目收益是项目决策的重要依据，是高层领导最关心的问题</a:t>
            </a:r>
          </a:p>
          <a:p>
            <a:pPr lvl="1">
              <a:buClr>
                <a:srgbClr val="FD2F0D"/>
              </a:buClr>
              <a:buFont typeface="Wingdings" panose="05000000000000000000" pitchFamily="2" charset="2"/>
              <a:buChar char="q"/>
            </a:pPr>
            <a:r>
              <a:rPr lang="zh-CN" altLang="en-US" dirty="0"/>
              <a:t>在批准的预算内完成项目是项目经理最主要的职责之一</a:t>
            </a:r>
          </a:p>
          <a:p>
            <a:pPr lvl="1">
              <a:buClr>
                <a:srgbClr val="FD2F0D"/>
              </a:buClr>
              <a:buFont typeface="Wingdings" panose="05000000000000000000" pitchFamily="2" charset="2"/>
              <a:buChar char="q"/>
            </a:pPr>
            <a:r>
              <a:rPr lang="zh-CN" altLang="en-US" dirty="0"/>
              <a:t>项目超出预算是</a:t>
            </a:r>
            <a:r>
              <a:rPr lang="en-US" altLang="zh-CN" dirty="0"/>
              <a:t>IT</a:t>
            </a:r>
            <a:r>
              <a:rPr lang="zh-CN" altLang="en-US" dirty="0"/>
              <a:t>等领域中项目管理存在的主要问题之一</a:t>
            </a:r>
          </a:p>
          <a:p>
            <a:pPr lvl="1">
              <a:buClr>
                <a:srgbClr val="FD2F0D"/>
              </a:buClr>
              <a:buFont typeface="Wingdings" panose="05000000000000000000" pitchFamily="2" charset="2"/>
              <a:buChar char="q"/>
            </a:pPr>
            <a:r>
              <a:rPr lang="en-US" altLang="zh-CN" dirty="0">
                <a:latin typeface="Times New Roman" panose="02020603050405020304" pitchFamily="18" charset="0"/>
              </a:rPr>
              <a:t>……</a:t>
            </a:r>
            <a:r>
              <a:rPr lang="en-US" altLang="zh-CN" dirty="0"/>
              <a:t>.</a:t>
            </a:r>
            <a:endParaRPr lang="en-US" altLang="zh-CN" dirty="0">
              <a:solidFill>
                <a:srgbClr val="000000"/>
              </a:solidFill>
            </a:endParaRPr>
          </a:p>
          <a:p>
            <a:pPr algn="l"/>
            <a:endParaRPr lang="en-US" altLang="zh-CN" dirty="0"/>
          </a:p>
          <a:p>
            <a:r>
              <a:rPr lang="zh-CN" altLang="en-US" dirty="0"/>
              <a:t>例</a:t>
            </a:r>
            <a:r>
              <a:rPr lang="en-US" altLang="zh-CN" dirty="0"/>
              <a:t>3</a:t>
            </a:r>
            <a:r>
              <a:rPr lang="zh-CN" altLang="en-US" dirty="0"/>
              <a:t>：</a:t>
            </a:r>
          </a:p>
          <a:p>
            <a:r>
              <a:rPr lang="zh-CN" altLang="en-US" dirty="0"/>
              <a:t>在</a:t>
            </a:r>
            <a:r>
              <a:rPr lang="en-US" altLang="zh-CN" dirty="0"/>
              <a:t>《</a:t>
            </a:r>
            <a:r>
              <a:rPr lang="zh-CN" altLang="en-US" dirty="0"/>
              <a:t>哈佛商业评论</a:t>
            </a:r>
            <a:r>
              <a:rPr lang="en-US" altLang="zh-CN" dirty="0"/>
              <a:t>》</a:t>
            </a:r>
            <a:r>
              <a:rPr lang="zh-CN" altLang="en-US" dirty="0"/>
              <a:t>上发表的一项</a:t>
            </a:r>
            <a:r>
              <a:rPr lang="en-US" altLang="zh-CN" dirty="0"/>
              <a:t>2011</a:t>
            </a:r>
            <a:r>
              <a:rPr lang="zh-CN" altLang="en-US" dirty="0"/>
              <a:t>年的研究，调查了近</a:t>
            </a:r>
            <a:r>
              <a:rPr lang="en-US" altLang="zh-CN" dirty="0"/>
              <a:t>1500</a:t>
            </a:r>
            <a:r>
              <a:rPr lang="zh-CN" altLang="en-US" dirty="0"/>
              <a:t>个</a:t>
            </a:r>
            <a:r>
              <a:rPr lang="en-US" altLang="zh-CN" dirty="0"/>
              <a:t>IT</a:t>
            </a:r>
            <a:r>
              <a:rPr lang="zh-CN" altLang="en-US" dirty="0"/>
              <a:t>项目，报告平均成本超支为</a:t>
            </a:r>
            <a:r>
              <a:rPr lang="en-US" altLang="zh-CN" dirty="0"/>
              <a:t>27%</a:t>
            </a:r>
            <a:r>
              <a:rPr lang="zh-CN" altLang="en-US" dirty="0"/>
              <a:t>，有的甚至成本超过</a:t>
            </a:r>
            <a:r>
              <a:rPr lang="en-US" altLang="zh-CN" dirty="0"/>
              <a:t>200%</a:t>
            </a:r>
            <a:r>
              <a:rPr lang="zh-CN" altLang="en-US" dirty="0"/>
              <a:t>。一个重要发现是，那些成本超支的项目，大量为严重超期。</a:t>
            </a:r>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solidFill>
                  <a:srgbClr val="000000"/>
                </a:solidFill>
              </a:rPr>
              <a:t>众多</a:t>
            </a:r>
            <a:r>
              <a:rPr lang="en-US" altLang="zh-CN" dirty="0">
                <a:solidFill>
                  <a:srgbClr val="000000"/>
                </a:solidFill>
              </a:rPr>
              <a:t>IT</a:t>
            </a:r>
            <a:r>
              <a:rPr lang="zh-CN" altLang="en-US" dirty="0">
                <a:solidFill>
                  <a:srgbClr val="000000"/>
                </a:solidFill>
              </a:rPr>
              <a:t>项目在进度方面的跟踪记录不佳，在成本管理方面也是如此。</a:t>
            </a:r>
            <a:r>
              <a:rPr lang="en-US" altLang="zh-CN" dirty="0">
                <a:solidFill>
                  <a:srgbClr val="000000"/>
                </a:solidFill>
              </a:rPr>
              <a:t>IT</a:t>
            </a:r>
            <a:r>
              <a:rPr lang="zh-CN" altLang="en-US" dirty="0">
                <a:solidFill>
                  <a:srgbClr val="000000"/>
                </a:solidFill>
              </a:rPr>
              <a:t>项目造价昂贵，并以超过预算著称。因此理解项目成本管理对于项目经理非常重要。并且，准备良好的成本估算是一项很有必要的，重要的技能，这些技能是所有</a:t>
            </a:r>
            <a:r>
              <a:rPr lang="en-US" altLang="zh-CN" dirty="0">
                <a:solidFill>
                  <a:srgbClr val="000000"/>
                </a:solidFill>
              </a:rPr>
              <a:t>IT</a:t>
            </a:r>
            <a:r>
              <a:rPr lang="zh-CN" altLang="en-US" dirty="0">
                <a:solidFill>
                  <a:srgbClr val="000000"/>
                </a:solidFill>
              </a:rPr>
              <a:t>项目经理需要具备的。</a:t>
            </a:r>
          </a:p>
          <a:p>
            <a:endParaRPr lang="en-US" altLang="zh-CN" dirty="0"/>
          </a:p>
          <a:p>
            <a:r>
              <a:rPr lang="zh-CN" altLang="en-US" dirty="0"/>
              <a:t>之所以有这么多项目成本方面出了问题</a:t>
            </a:r>
            <a:r>
              <a:rPr lang="en-US" altLang="zh-CN" dirty="0"/>
              <a:t>,</a:t>
            </a:r>
            <a:r>
              <a:rPr lang="zh-CN" altLang="en-US" dirty="0"/>
              <a:t>主要原因是在成本管理方面没有下工夫</a:t>
            </a:r>
            <a:r>
              <a:rPr lang="en-US" altLang="zh-CN" dirty="0"/>
              <a:t>.</a:t>
            </a:r>
          </a:p>
          <a:p>
            <a:r>
              <a:rPr lang="zh-CN" altLang="en-US" dirty="0"/>
              <a:t>本章我们主要讨论项目成本管理的问题</a:t>
            </a:r>
            <a:r>
              <a:rPr lang="en-US" altLang="zh-CN" dirty="0"/>
              <a:t>.</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64</a:t>
            </a:fld>
            <a:endParaRPr lang="zh-CN" altLang="en-US"/>
          </a:p>
        </p:txBody>
      </p:sp>
    </p:spTree>
    <p:extLst>
      <p:ext uri="{BB962C8B-B14F-4D97-AF65-F5344CB8AC3E}">
        <p14:creationId xmlns:p14="http://schemas.microsoft.com/office/powerpoint/2010/main" val="407877587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幻灯片图像占位符 1">
            <a:extLst>
              <a:ext uri="{FF2B5EF4-FFF2-40B4-BE49-F238E27FC236}">
                <a16:creationId xmlns:a16="http://schemas.microsoft.com/office/drawing/2014/main" id="{F116183C-8B61-4AF2-B11C-1A6BFB293C3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8115" name="备注占位符 2">
            <a:extLst>
              <a:ext uri="{FF2B5EF4-FFF2-40B4-BE49-F238E27FC236}">
                <a16:creationId xmlns:a16="http://schemas.microsoft.com/office/drawing/2014/main" id="{E751C8ED-E512-4956-A5DE-6B8CF5EF3A9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sz="1200" dirty="0"/>
              <a:t> IT</a:t>
            </a:r>
            <a:r>
              <a:rPr lang="zh-CN" altLang="en-US" sz="1200" dirty="0"/>
              <a:t>项目经常成本超支，但</a:t>
            </a:r>
            <a:r>
              <a:rPr lang="en-US" altLang="zh-CN" sz="1200" dirty="0"/>
              <a:t>IT</a:t>
            </a:r>
            <a:r>
              <a:rPr lang="zh-CN" altLang="en-US" sz="1200" dirty="0"/>
              <a:t>专业人员对此一笑置之。</a:t>
            </a:r>
            <a:r>
              <a:rPr lang="zh-CN" altLang="en-US" sz="1800" dirty="0">
                <a:latin typeface="Times New Roman" panose="02020603050405020304" pitchFamily="18" charset="0"/>
              </a:rPr>
              <a:t>他们知道，许多</a:t>
            </a:r>
            <a:r>
              <a:rPr lang="en-US" altLang="zh-CN" sz="1800" dirty="0">
                <a:latin typeface="Times New Roman" panose="02020603050405020304" pitchFamily="18" charset="0"/>
              </a:rPr>
              <a:t>IT</a:t>
            </a:r>
            <a:r>
              <a:rPr lang="zh-CN" altLang="en-US" sz="1800" dirty="0">
                <a:latin typeface="Times New Roman" panose="02020603050405020304" pitchFamily="18" charset="0"/>
              </a:rPr>
              <a:t>项目的初始成本估计是很低的，或者是基于不明确的项目需求，因此自然会产生成本超支问题。从一开始就不重视现实的项目成本估计的重要性仅是问题的一部分。</a:t>
            </a:r>
            <a:endParaRPr lang="en-US" altLang="zh-CN" sz="1800" dirty="0">
              <a:latin typeface="Times New Roman" panose="02020603050405020304" pitchFamily="18" charset="0"/>
            </a:endParaRPr>
          </a:p>
          <a:p>
            <a:r>
              <a:rPr lang="en-US" altLang="zh-CN" sz="1800" dirty="0">
                <a:latin typeface="Times New Roman" panose="02020603050405020304" pitchFamily="18" charset="0"/>
              </a:rPr>
              <a:t>   </a:t>
            </a:r>
            <a:r>
              <a:rPr lang="zh-CN" altLang="en-US" sz="1800" dirty="0">
                <a:latin typeface="Times New Roman" panose="02020603050405020304" pitchFamily="18" charset="0"/>
              </a:rPr>
              <a:t>另外，许多</a:t>
            </a:r>
            <a:r>
              <a:rPr lang="en-US" altLang="zh-CN" sz="1800" dirty="0">
                <a:latin typeface="Times New Roman" panose="02020603050405020304" pitchFamily="18" charset="0"/>
              </a:rPr>
              <a:t>IT</a:t>
            </a:r>
            <a:r>
              <a:rPr lang="zh-CN" altLang="en-US" sz="1800" dirty="0">
                <a:latin typeface="Times New Roman" panose="02020603050405020304" pitchFamily="18" charset="0"/>
              </a:rPr>
              <a:t>专家认为，进行成本估计是会计的工作。其实正相反，具备良好的成本估计是一个要求十分苛刻的、重要的技能，许多专业人士都需要掌握。</a:t>
            </a:r>
          </a:p>
          <a:p>
            <a:pPr algn="just"/>
            <a:r>
              <a:rPr lang="zh-CN" altLang="en-US" sz="1800" dirty="0">
                <a:latin typeface="Times New Roman" panose="02020603050405020304" pitchFamily="18" charset="0"/>
              </a:rPr>
              <a:t>   成本超支的另一个原因是许多</a:t>
            </a:r>
            <a:r>
              <a:rPr lang="en-US" altLang="zh-CN" sz="1800" dirty="0">
                <a:latin typeface="Times New Roman" panose="02020603050405020304" pitchFamily="18" charset="0"/>
              </a:rPr>
              <a:t>IT</a:t>
            </a:r>
            <a:r>
              <a:rPr lang="zh-CN" altLang="en-US" sz="1800" dirty="0">
                <a:latin typeface="Times New Roman" panose="02020603050405020304" pitchFamily="18" charset="0"/>
              </a:rPr>
              <a:t>项目涉及新技术和业务经营过程。任何新技术和业务经营过程都是未经过测试的、有潜在的风险。</a:t>
            </a:r>
            <a:endParaRPr lang="zh-CN" altLang="en-US" sz="1800" dirty="0"/>
          </a:p>
          <a:p>
            <a:endParaRPr lang="en-US" altLang="zh-CN" sz="1800" dirty="0">
              <a:solidFill>
                <a:srgbClr val="333333"/>
              </a:solidFill>
            </a:endParaRPr>
          </a:p>
          <a:p>
            <a:r>
              <a:rPr lang="zh-CN" altLang="en-US" sz="1800" dirty="0">
                <a:solidFill>
                  <a:srgbClr val="333333"/>
                </a:solidFill>
              </a:rPr>
              <a:t>对于项目的成本管理，很多人无所适从。成本是什么？成本不就是差旅费、电话费、招待费、复印打印费嘛。成本控制？不就是变着法子压缩经费嘛。</a:t>
            </a:r>
            <a:br>
              <a:rPr lang="zh-CN" altLang="en-US" sz="1800" dirty="0">
                <a:solidFill>
                  <a:srgbClr val="333333"/>
                </a:solidFill>
              </a:rPr>
            </a:br>
            <a:r>
              <a:rPr lang="zh-CN" altLang="en-US" sz="1800" dirty="0">
                <a:solidFill>
                  <a:srgbClr val="333333"/>
                </a:solidFill>
              </a:rPr>
              <a:t>先举</a:t>
            </a:r>
            <a:r>
              <a:rPr lang="en-US" altLang="zh-CN" sz="1800" dirty="0">
                <a:solidFill>
                  <a:srgbClr val="333333"/>
                </a:solidFill>
              </a:rPr>
              <a:t>2</a:t>
            </a:r>
            <a:r>
              <a:rPr lang="zh-CN" altLang="en-US" sz="1800" dirty="0">
                <a:solidFill>
                  <a:srgbClr val="333333"/>
                </a:solidFill>
              </a:rPr>
              <a:t>个例子：</a:t>
            </a:r>
            <a:endParaRPr lang="en-US" altLang="zh-CN" sz="1800" dirty="0">
              <a:solidFill>
                <a:srgbClr val="333333"/>
              </a:solidFill>
            </a:endParaRPr>
          </a:p>
          <a:p>
            <a:r>
              <a:rPr lang="zh-CN" altLang="en-US" sz="1800" dirty="0">
                <a:solidFill>
                  <a:srgbClr val="333333"/>
                </a:solidFill>
              </a:rPr>
              <a:t>例</a:t>
            </a:r>
            <a:r>
              <a:rPr lang="en-US" altLang="zh-CN" sz="1800" dirty="0">
                <a:solidFill>
                  <a:srgbClr val="333333"/>
                </a:solidFill>
              </a:rPr>
              <a:t>1.</a:t>
            </a:r>
            <a:r>
              <a:rPr lang="zh-CN" altLang="en-US" sz="1800" dirty="0">
                <a:solidFill>
                  <a:srgbClr val="333333"/>
                </a:solidFill>
              </a:rPr>
              <a:t>有一家公司为了控制成本，定下规矩出差必须坐火车，不能乘坐飞机。结果表面上是控制了差旅费用，实际上呢？出差一趟成都要坐</a:t>
            </a:r>
            <a:r>
              <a:rPr lang="en-US" altLang="zh-CN" sz="1800" dirty="0">
                <a:solidFill>
                  <a:srgbClr val="333333"/>
                </a:solidFill>
              </a:rPr>
              <a:t>44</a:t>
            </a:r>
            <a:r>
              <a:rPr lang="zh-CN" altLang="en-US" sz="1800" dirty="0">
                <a:solidFill>
                  <a:srgbClr val="333333"/>
                </a:solidFill>
              </a:rPr>
              <a:t>小时的火车，技术人员累得半死不说，光两天路上的人员成本就是</a:t>
            </a:r>
            <a:r>
              <a:rPr lang="en-US" altLang="zh-CN" sz="1800" dirty="0">
                <a:solidFill>
                  <a:srgbClr val="333333"/>
                </a:solidFill>
              </a:rPr>
              <a:t>1000—2000</a:t>
            </a:r>
            <a:r>
              <a:rPr lang="zh-CN" altLang="en-US" sz="1800" dirty="0">
                <a:solidFill>
                  <a:srgbClr val="333333"/>
                </a:solidFill>
              </a:rPr>
              <a:t>元</a:t>
            </a:r>
            <a:r>
              <a:rPr lang="en-US" altLang="zh-CN" sz="1800" dirty="0">
                <a:solidFill>
                  <a:srgbClr val="333333"/>
                </a:solidFill>
              </a:rPr>
              <a:t>/</a:t>
            </a:r>
            <a:r>
              <a:rPr lang="zh-CN" altLang="en-US" sz="1800" dirty="0">
                <a:solidFill>
                  <a:srgbClr val="333333"/>
                </a:solidFill>
              </a:rPr>
              <a:t>人。省钱了？</a:t>
            </a:r>
            <a:br>
              <a:rPr lang="zh-CN" altLang="en-US" sz="1800" dirty="0">
                <a:solidFill>
                  <a:srgbClr val="333333"/>
                </a:solidFill>
              </a:rPr>
            </a:br>
            <a:r>
              <a:rPr lang="zh-CN" altLang="en-US" sz="1800" dirty="0">
                <a:solidFill>
                  <a:srgbClr val="333333"/>
                </a:solidFill>
              </a:rPr>
              <a:t>例</a:t>
            </a:r>
            <a:r>
              <a:rPr lang="en-US" altLang="zh-CN" sz="1800" dirty="0">
                <a:solidFill>
                  <a:srgbClr val="333333"/>
                </a:solidFill>
              </a:rPr>
              <a:t>2.</a:t>
            </a:r>
            <a:r>
              <a:rPr lang="zh-CN" altLang="en-US" sz="1800" dirty="0">
                <a:solidFill>
                  <a:srgbClr val="333333"/>
                </a:solidFill>
              </a:rPr>
              <a:t>还有一家企业发现有员工为了拿出差补贴，出差办事、工程安装维护等效率低下，为了提高效率，</a:t>
            </a:r>
            <a:r>
              <a:rPr lang="zh-CN" altLang="en-US" sz="1800" dirty="0"/>
              <a:t>规定每次出差不能超过</a:t>
            </a:r>
            <a:r>
              <a:rPr lang="en-US" altLang="zh-CN" sz="1800" dirty="0"/>
              <a:t>5</a:t>
            </a:r>
            <a:r>
              <a:rPr lang="zh-CN" altLang="en-US" sz="1800" dirty="0"/>
              <a:t>天。结果本来一次出差可以一起解决的邻近地区的业务，有的员工要出差数次；更有工程安装维护问题，本来</a:t>
            </a:r>
            <a:r>
              <a:rPr lang="en-US" altLang="zh-CN" sz="1800" dirty="0"/>
              <a:t>6~7</a:t>
            </a:r>
            <a:r>
              <a:rPr lang="zh-CN" altLang="en-US" sz="1800" dirty="0"/>
              <a:t>天能解决的，结果只能</a:t>
            </a:r>
            <a:r>
              <a:rPr lang="en-US" altLang="zh-CN" sz="1800" dirty="0"/>
              <a:t>5</a:t>
            </a:r>
            <a:r>
              <a:rPr lang="zh-CN" altLang="en-US" sz="1800" dirty="0"/>
              <a:t>天到了先回来，下周再去，结果增加了旅途时间和差旅费，而且影响了进度。</a:t>
            </a:r>
            <a:endParaRPr lang="en-US" altLang="zh-CN" sz="1800" dirty="0"/>
          </a:p>
          <a:p>
            <a:endParaRPr lang="en-US" altLang="zh-CN" sz="1800" dirty="0">
              <a:solidFill>
                <a:srgbClr val="333333"/>
              </a:solidFill>
            </a:endParaRPr>
          </a:p>
          <a:p>
            <a:r>
              <a:rPr lang="zh-CN" altLang="en-US" sz="1800" dirty="0">
                <a:solidFill>
                  <a:srgbClr val="333333"/>
                </a:solidFill>
              </a:rPr>
              <a:t>   说了这么多，可能大家已经意识到控制项目成本最大的空间就是压缩项目进度、提高项目效率。当然，从公司的角度来看，控制差旅的直接费用是高效的控制费用的方法。如：提高营销和客服人员的沟通效率，令客户能更好地配合工作，从而减少出差的时长和频度；在长期出差的地区租房子或找协议酒店，减低住酒店的大笔费用；在长期客户的地区建立分公司或技术支持中心，雇用当地的技术人员做技术和维护支持。</a:t>
            </a:r>
            <a:br>
              <a:rPr lang="zh-CN" altLang="en-US" sz="1800" dirty="0">
                <a:solidFill>
                  <a:srgbClr val="333333"/>
                </a:solidFill>
              </a:rPr>
            </a:br>
            <a:r>
              <a:rPr lang="zh-CN" altLang="en-US" sz="1800" dirty="0">
                <a:solidFill>
                  <a:srgbClr val="333333"/>
                </a:solidFill>
              </a:rPr>
              <a:t>其实，项目费用管理最重要的是要建立费用管理的平台，在公司一级把项目经理的责权利划分清楚，让项目经理和员工把项目当成自己的事来做，根据项目是否做好制定奖惩制度。当然，必须要对项目和项目经理有必要的监控机制，确保项目在受控状态。也要给项目经理足够和适当的权和利，项目经理对项目费用的使用有一定的灵活性，有权对项目组成员进行一定的奖励和惩罚，让项目经理能积极主动工作，能呕心沥血，每天盯着项目各方面，也能在项目完成后得到相对较高的奖金，也能避免项目经理中途走人的尴尬局面。</a:t>
            </a:r>
            <a:endParaRPr lang="en-US" altLang="zh-CN" sz="1800" dirty="0"/>
          </a:p>
          <a:p>
            <a:r>
              <a:rPr lang="en-US" altLang="zh-CN" sz="1800" dirty="0"/>
              <a:t>   </a:t>
            </a:r>
          </a:p>
          <a:p>
            <a:pPr algn="l"/>
            <a:r>
              <a:rPr lang="zh-CN" altLang="en-US" sz="1800" b="0" i="0" u="none" strike="noStrike" baseline="0" dirty="0">
                <a:latin typeface="SourceHanSansSC-Regular"/>
              </a:rPr>
              <a:t>项目成本管理包括为使项目在批准的预算内完成而对成本进行规划、估算、预算、融资、筹资、管理和控制的各个过程，从而确保项目在批准的预算内完工。</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latin typeface="+mn-lt"/>
              <a:ea typeface="+mn-ea"/>
              <a:cs typeface="+mn-cs"/>
            </a:endParaRPr>
          </a:p>
        </p:txBody>
      </p:sp>
      <p:sp>
        <p:nvSpPr>
          <p:cNvPr id="218116" name="灯片编号占位符 3">
            <a:extLst>
              <a:ext uri="{FF2B5EF4-FFF2-40B4-BE49-F238E27FC236}">
                <a16:creationId xmlns:a16="http://schemas.microsoft.com/office/drawing/2014/main" id="{E4E1153F-854C-403B-B250-1368359417B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E9CD695-B0D9-48DB-BBC3-79A03B77F3FA}" type="slidenum">
              <a:rPr lang="zh-CN" altLang="en-US" smtClean="0"/>
              <a:pPr/>
              <a:t>65</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191919"/>
                </a:solidFill>
                <a:effectLst/>
                <a:latin typeface="PingFang SC"/>
              </a:rPr>
              <a:t>ERP</a:t>
            </a:r>
            <a:r>
              <a:rPr lang="zh-CN" altLang="en-US" b="0" i="0" dirty="0">
                <a:solidFill>
                  <a:srgbClr val="191919"/>
                </a:solidFill>
                <a:effectLst/>
                <a:latin typeface="PingFang SC"/>
              </a:rPr>
              <a:t>（企业资源计划）</a:t>
            </a:r>
            <a:r>
              <a:rPr lang="zh-CN" altLang="en-US" b="0" i="0" dirty="0">
                <a:solidFill>
                  <a:srgbClr val="333333"/>
                </a:solidFill>
                <a:effectLst/>
                <a:latin typeface="arial" panose="020B0604020202020204" pitchFamily="34" charset="0"/>
              </a:rPr>
              <a:t>是一种对于企业和制造业相关的所有资源和过程进行统一管理的技术，其重点是制造业的物流管理。</a:t>
            </a:r>
            <a:r>
              <a:rPr lang="zh-CN" altLang="en-US" b="0" i="0" dirty="0">
                <a:solidFill>
                  <a:srgbClr val="191919"/>
                </a:solidFill>
                <a:effectLst/>
                <a:latin typeface="PingFang SC"/>
              </a:rPr>
              <a:t>代表功能有：生产计划、物料需求计划、原材料采购计划、车间作业计划、工装设备管理、财务系统管理、库存管理等。</a:t>
            </a:r>
            <a:r>
              <a:rPr lang="zh-CN" altLang="en-US" b="0" i="0" dirty="0">
                <a:solidFill>
                  <a:srgbClr val="333333"/>
                </a:solidFill>
                <a:effectLst/>
                <a:latin typeface="arial" panose="020B0604020202020204" pitchFamily="34" charset="0"/>
              </a:rPr>
              <a:t>目的是从设计源头控制产品质量，实现“开源”、“生财”，降低直接成本，提供研发能力，缩短产品生命周期，通过对产品数据或过程的有效管理，提高企业的核心竞争力；</a:t>
            </a:r>
            <a:r>
              <a:rPr lang="en-US" altLang="zh-CN" b="0" i="0" dirty="0">
                <a:solidFill>
                  <a:srgbClr val="333333"/>
                </a:solidFill>
                <a:effectLst/>
                <a:latin typeface="arial" panose="020B0604020202020204" pitchFamily="34" charset="0"/>
              </a:rPr>
              <a:t>ERP</a:t>
            </a:r>
            <a:r>
              <a:rPr lang="zh-CN" altLang="en-US" b="0" i="0" dirty="0">
                <a:solidFill>
                  <a:srgbClr val="333333"/>
                </a:solidFill>
                <a:effectLst/>
                <a:latin typeface="arial" panose="020B0604020202020204" pitchFamily="34" charset="0"/>
              </a:rPr>
              <a:t>通过为企业提供有效的管理资源，降低间接成本，提高制造能力，达到“省钱”和“省钱”的目的。</a:t>
            </a:r>
            <a:endParaRPr lang="en-US" altLang="zh-CN" b="0" i="0" dirty="0">
              <a:solidFill>
                <a:srgbClr val="191919"/>
              </a:solidFill>
              <a:effectLst/>
              <a:latin typeface="PingFang SC"/>
            </a:endParaRPr>
          </a:p>
          <a:p>
            <a:r>
              <a:rPr lang="en-US" altLang="zh-CN" b="0" i="0" dirty="0">
                <a:solidFill>
                  <a:srgbClr val="191919"/>
                </a:solidFill>
                <a:effectLst/>
                <a:latin typeface="PingFang SC"/>
              </a:rPr>
              <a:t>PLM</a:t>
            </a:r>
            <a:r>
              <a:rPr lang="zh-CN" altLang="en-US" b="0" i="0" dirty="0">
                <a:solidFill>
                  <a:srgbClr val="191919"/>
                </a:solidFill>
                <a:effectLst/>
                <a:latin typeface="PingFang SC"/>
              </a:rPr>
              <a:t>（产品生命周期管理系统）是一种</a:t>
            </a:r>
            <a:r>
              <a:rPr lang="zh-CN" altLang="en-US" b="0" i="0" dirty="0">
                <a:solidFill>
                  <a:srgbClr val="333333"/>
                </a:solidFill>
                <a:effectLst/>
                <a:latin typeface="arial" panose="020B0604020202020204" pitchFamily="34" charset="0"/>
              </a:rPr>
              <a:t>用于管理所有产品相关信息（如零件信息、配置信息、图形文件信息、结构信息、权限信息等）和所有产品相关过程的技术。</a:t>
            </a:r>
            <a:r>
              <a:rPr lang="zh-CN" altLang="en-US" b="0" i="0" dirty="0">
                <a:solidFill>
                  <a:srgbClr val="191919"/>
                </a:solidFill>
                <a:effectLst/>
                <a:latin typeface="PingFang SC"/>
              </a:rPr>
              <a:t>可用于在单一地点的企业内部、分散在多个地点的企业内部，以及在产品研发领域具有协作关系的企业之间的，支持产品全生命周期的信息的创建、管理、分发和应用的一系列应用解决方案，它能够集成与产品相关的人力资源、流程、应用系统和信息。注重研发的创新。</a:t>
            </a:r>
            <a:endParaRPr lang="en-US" altLang="zh-CN" b="0" i="0" dirty="0">
              <a:solidFill>
                <a:srgbClr val="191919"/>
              </a:solidFill>
              <a:effectLst/>
              <a:latin typeface="PingFang SC"/>
            </a:endParaRPr>
          </a:p>
          <a:p>
            <a:r>
              <a:rPr lang="en-US" altLang="zh-CN" b="1" i="0" dirty="0">
                <a:solidFill>
                  <a:srgbClr val="FFFFFF"/>
                </a:solidFill>
                <a:effectLst/>
                <a:latin typeface="Arial" panose="020B0604020202020204" pitchFamily="34" charset="0"/>
              </a:rPr>
              <a:t>PMS</a:t>
            </a:r>
            <a:r>
              <a:rPr lang="zh-CN" altLang="en-US" b="1" i="0" dirty="0">
                <a:solidFill>
                  <a:srgbClr val="FFFFFF"/>
                </a:solidFill>
                <a:effectLst/>
                <a:latin typeface="Arial" panose="020B0604020202020204" pitchFamily="34" charset="0"/>
              </a:rPr>
              <a:t>（</a:t>
            </a:r>
            <a:r>
              <a:rPr lang="zh-CN" altLang="en-US" b="0" i="0" dirty="0">
                <a:solidFill>
                  <a:srgbClr val="FFFFFF"/>
                </a:solidFill>
                <a:effectLst/>
                <a:latin typeface="Arial" panose="020B0604020202020204" pitchFamily="34" charset="0"/>
              </a:rPr>
              <a:t>项目管理系</a:t>
            </a:r>
            <a:r>
              <a:rPr lang="zh-CN" altLang="en-US" b="0" i="0" dirty="0">
                <a:solidFill>
                  <a:srgbClr val="034BA9"/>
                </a:solidFill>
                <a:effectLst/>
                <a:latin typeface="Arial" panose="020B0604020202020204" pitchFamily="34" charset="0"/>
              </a:rPr>
              <a:t>统）</a:t>
            </a:r>
            <a:r>
              <a:rPr lang="zh-CN" altLang="en-US" b="0" i="0" dirty="0">
                <a:solidFill>
                  <a:srgbClr val="666666"/>
                </a:solidFill>
                <a:effectLst/>
                <a:latin typeface="Arial" panose="020B0604020202020204" pitchFamily="34" charset="0"/>
              </a:rPr>
              <a:t>提供从项目启动，到计划制定，再到设计、采购、生产、分包、安装、调试、验收、财务等全流程的项目管理。</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66</a:t>
            </a:fld>
            <a:endParaRPr lang="zh-CN" altLang="en-US"/>
          </a:p>
        </p:txBody>
      </p:sp>
    </p:spTree>
    <p:extLst>
      <p:ext uri="{BB962C8B-B14F-4D97-AF65-F5344CB8AC3E}">
        <p14:creationId xmlns:p14="http://schemas.microsoft.com/office/powerpoint/2010/main" val="247243203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latin typeface="+mn-lt"/>
                <a:ea typeface="+mn-ea"/>
                <a:cs typeface="+mn-cs"/>
              </a:rPr>
              <a:t>一些成本有关的概念  </a:t>
            </a:r>
            <a:endParaRPr lang="en-US" altLang="zh-CN" sz="120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latin typeface="+mn-lt"/>
                <a:ea typeface="+mn-ea"/>
                <a:cs typeface="+mn-cs"/>
              </a:rPr>
              <a:t>利润（</a:t>
            </a:r>
            <a:r>
              <a:rPr lang="en-US" altLang="zh-CN" sz="1200" kern="1200" dirty="0">
                <a:solidFill>
                  <a:schemeClr val="tx1"/>
                </a:solidFill>
                <a:latin typeface="+mn-lt"/>
                <a:ea typeface="+mn-ea"/>
                <a:cs typeface="+mn-cs"/>
              </a:rPr>
              <a:t>profit</a:t>
            </a:r>
            <a:r>
              <a:rPr lang="zh-CN" altLang="en-US" sz="1200" kern="1200" dirty="0">
                <a:solidFill>
                  <a:schemeClr val="tx1"/>
                </a:solidFill>
                <a:latin typeface="+mn-lt"/>
                <a:ea typeface="+mn-ea"/>
                <a:cs typeface="+mn-cs"/>
              </a:rPr>
              <a:t>）：为了增加利润，一家公司可以增加收益、降低支出或者两者都做。</a:t>
            </a:r>
            <a:endParaRPr lang="en-US" altLang="zh-CN" sz="120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latin typeface="+mn-lt"/>
                <a:ea typeface="+mn-ea"/>
                <a:cs typeface="+mn-cs"/>
              </a:rPr>
              <a:t>  利润率（</a:t>
            </a:r>
            <a:r>
              <a:rPr lang="en-US" altLang="zh-CN" sz="1200" kern="1200" dirty="0">
                <a:solidFill>
                  <a:schemeClr val="tx1"/>
                </a:solidFill>
                <a:latin typeface="+mn-lt"/>
                <a:ea typeface="+mn-ea"/>
                <a:cs typeface="+mn-cs"/>
              </a:rPr>
              <a:t>profit margin</a:t>
            </a:r>
            <a:r>
              <a:rPr lang="zh-CN" altLang="en-US" sz="1200" kern="1200" dirty="0">
                <a:solidFill>
                  <a:schemeClr val="tx1"/>
                </a:solidFill>
                <a:latin typeface="+mn-lt"/>
                <a:ea typeface="+mn-ea"/>
                <a:cs typeface="+mn-cs"/>
              </a:rPr>
              <a:t>） 如果</a:t>
            </a:r>
            <a:r>
              <a:rPr lang="en-US" altLang="zh-CN" sz="1200" kern="1200" dirty="0">
                <a:solidFill>
                  <a:schemeClr val="tx1"/>
                </a:solidFill>
                <a:latin typeface="+mn-lt"/>
                <a:ea typeface="+mn-ea"/>
                <a:cs typeface="+mn-cs"/>
              </a:rPr>
              <a:t>100</a:t>
            </a:r>
            <a:r>
              <a:rPr lang="zh-CN" altLang="en-US" sz="1200" kern="1200" dirty="0">
                <a:solidFill>
                  <a:schemeClr val="tx1"/>
                </a:solidFill>
                <a:latin typeface="+mn-lt"/>
                <a:ea typeface="+mn-ea"/>
                <a:cs typeface="+mn-cs"/>
              </a:rPr>
              <a:t>美元的收入产生</a:t>
            </a:r>
            <a:r>
              <a:rPr lang="en-US" altLang="zh-CN" sz="1200" kern="1200" dirty="0">
                <a:solidFill>
                  <a:schemeClr val="tx1"/>
                </a:solidFill>
                <a:latin typeface="+mn-lt"/>
                <a:ea typeface="+mn-ea"/>
                <a:cs typeface="+mn-cs"/>
              </a:rPr>
              <a:t>2</a:t>
            </a:r>
            <a:r>
              <a:rPr lang="zh-CN" altLang="en-US" sz="1200" kern="1200" dirty="0">
                <a:solidFill>
                  <a:schemeClr val="tx1"/>
                </a:solidFill>
                <a:latin typeface="+mn-lt"/>
                <a:ea typeface="+mn-ea"/>
                <a:cs typeface="+mn-cs"/>
              </a:rPr>
              <a:t>美元的利润，那么利润率就是</a:t>
            </a:r>
            <a:r>
              <a:rPr lang="en-US" altLang="zh-CN" sz="1200" kern="1200" dirty="0">
                <a:solidFill>
                  <a:schemeClr val="tx1"/>
                </a:solidFill>
                <a:latin typeface="+mn-lt"/>
                <a:ea typeface="+mn-ea"/>
                <a:cs typeface="+mn-cs"/>
              </a:rPr>
              <a:t>2%</a:t>
            </a:r>
            <a:r>
              <a:rPr lang="zh-CN" altLang="en-US" sz="1200" kern="1200" dirty="0">
                <a:solidFill>
                  <a:schemeClr val="tx1"/>
                </a:solidFill>
                <a:latin typeface="+mn-lt"/>
                <a:ea typeface="+mn-ea"/>
                <a:cs typeface="+mn-cs"/>
              </a:rPr>
              <a:t>；如果公司损失</a:t>
            </a:r>
            <a:r>
              <a:rPr lang="en-US" altLang="zh-CN" sz="1200" kern="1200" dirty="0">
                <a:solidFill>
                  <a:schemeClr val="tx1"/>
                </a:solidFill>
                <a:latin typeface="+mn-lt"/>
                <a:ea typeface="+mn-ea"/>
                <a:cs typeface="+mn-cs"/>
              </a:rPr>
              <a:t>2</a:t>
            </a:r>
            <a:r>
              <a:rPr lang="zh-CN" altLang="en-US" sz="1200" kern="1200" dirty="0">
                <a:solidFill>
                  <a:schemeClr val="tx1"/>
                </a:solidFill>
                <a:latin typeface="+mn-lt"/>
                <a:ea typeface="+mn-ea"/>
                <a:cs typeface="+mn-cs"/>
              </a:rPr>
              <a:t>美元，那么利润率就是</a:t>
            </a:r>
            <a:r>
              <a:rPr lang="en-US" altLang="zh-CN" sz="1200" kern="1200" dirty="0">
                <a:solidFill>
                  <a:schemeClr val="tx1"/>
                </a:solidFill>
                <a:latin typeface="+mn-lt"/>
                <a:ea typeface="+mn-ea"/>
                <a:cs typeface="+mn-cs"/>
              </a:rPr>
              <a:t>-2%</a:t>
            </a:r>
            <a:r>
              <a:rPr lang="zh-CN" altLang="en-US" sz="1200" kern="1200" dirty="0">
                <a:solidFill>
                  <a:schemeClr val="tx1"/>
                </a:solidFill>
                <a:latin typeface="+mn-lt"/>
                <a:ea typeface="+mn-ea"/>
                <a:cs typeface="+mn-cs"/>
              </a:rPr>
              <a:t>。</a:t>
            </a:r>
            <a:endParaRPr lang="en-US" altLang="zh-CN" sz="1200" kern="1200" dirty="0">
              <a:solidFill>
                <a:schemeClr val="tx1"/>
              </a:solidFill>
              <a:latin typeface="+mn-lt"/>
              <a:ea typeface="+mn-ea"/>
              <a:cs typeface="+mn-cs"/>
            </a:endParaRPr>
          </a:p>
          <a:p>
            <a:endParaRPr lang="en-US" altLang="zh-CN" sz="1200" kern="1200" dirty="0">
              <a:solidFill>
                <a:schemeClr val="tx1"/>
              </a:solidFill>
              <a:latin typeface="+mn-lt"/>
              <a:ea typeface="+mn-ea"/>
              <a:cs typeface="+mn-cs"/>
            </a:endParaRPr>
          </a:p>
          <a:p>
            <a:r>
              <a:rPr lang="zh-CN" altLang="en-US" sz="1200" kern="1200" dirty="0">
                <a:solidFill>
                  <a:schemeClr val="tx1"/>
                </a:solidFill>
                <a:latin typeface="+mn-lt"/>
                <a:ea typeface="+mn-ea"/>
                <a:cs typeface="+mn-cs"/>
              </a:rPr>
              <a:t> 生命周期成本（</a:t>
            </a:r>
            <a:r>
              <a:rPr lang="en-US" altLang="zh-CN" sz="1200" kern="1200" dirty="0">
                <a:solidFill>
                  <a:schemeClr val="tx1"/>
                </a:solidFill>
                <a:latin typeface="+mn-lt"/>
                <a:ea typeface="+mn-ea"/>
                <a:cs typeface="+mn-cs"/>
              </a:rPr>
              <a:t>life cycle costing</a:t>
            </a:r>
            <a:r>
              <a:rPr lang="zh-CN" altLang="en-US" sz="1200" kern="1200" dirty="0">
                <a:solidFill>
                  <a:schemeClr val="tx1"/>
                </a:solidFill>
                <a:latin typeface="+mn-lt"/>
                <a:ea typeface="+mn-ea"/>
                <a:cs typeface="+mn-cs"/>
              </a:rPr>
              <a:t>）：生命周期成本考虑拥有或开发项目的整体成本，再加上运行支持成本。例如，一家公司也许用一两年就能完成一个项目，开发和实施一个新的客户服务系统，但这个新系统可能要使用</a:t>
            </a:r>
            <a:r>
              <a:rPr lang="en-US" altLang="zh-CN" sz="1200" kern="1200" dirty="0">
                <a:solidFill>
                  <a:schemeClr val="tx1"/>
                </a:solidFill>
                <a:latin typeface="+mn-lt"/>
                <a:ea typeface="+mn-ea"/>
                <a:cs typeface="+mn-cs"/>
              </a:rPr>
              <a:t>10</a:t>
            </a:r>
            <a:r>
              <a:rPr lang="zh-CN" altLang="en-US" sz="1200" kern="1200" dirty="0">
                <a:solidFill>
                  <a:schemeClr val="tx1"/>
                </a:solidFill>
                <a:latin typeface="+mn-lt"/>
                <a:ea typeface="+mn-ea"/>
                <a:cs typeface="+mn-cs"/>
              </a:rPr>
              <a:t>年。在组织财务专业人员的帮助下，项目经理应该针对项目的整个生命周期，或者上述例子中提到的</a:t>
            </a:r>
            <a:r>
              <a:rPr lang="en-US" altLang="zh-CN" sz="1200" kern="1200" dirty="0">
                <a:solidFill>
                  <a:schemeClr val="tx1"/>
                </a:solidFill>
                <a:latin typeface="+mn-lt"/>
                <a:ea typeface="+mn-ea"/>
                <a:cs typeface="+mn-cs"/>
              </a:rPr>
              <a:t>10</a:t>
            </a:r>
            <a:r>
              <a:rPr lang="zh-CN" altLang="en-US" sz="1200" kern="1200" dirty="0">
                <a:solidFill>
                  <a:schemeClr val="tx1"/>
                </a:solidFill>
                <a:latin typeface="+mn-lt"/>
                <a:ea typeface="+mn-ea"/>
                <a:cs typeface="+mn-cs"/>
              </a:rPr>
              <a:t>年，进行项目成本和收益估计，而审视项目的净现值分析将包括整个</a:t>
            </a:r>
            <a:r>
              <a:rPr lang="en-US" altLang="zh-CN" sz="1200" kern="1200" dirty="0">
                <a:solidFill>
                  <a:schemeClr val="tx1"/>
                </a:solidFill>
                <a:latin typeface="+mn-lt"/>
                <a:ea typeface="+mn-ea"/>
                <a:cs typeface="+mn-cs"/>
              </a:rPr>
              <a:t>10</a:t>
            </a:r>
            <a:r>
              <a:rPr lang="zh-CN" altLang="en-US" sz="1200" kern="1200" dirty="0">
                <a:solidFill>
                  <a:schemeClr val="tx1"/>
                </a:solidFill>
                <a:latin typeface="+mn-lt"/>
                <a:ea typeface="+mn-ea"/>
                <a:cs typeface="+mn-cs"/>
              </a:rPr>
              <a:t>年期间的成本和收益。</a:t>
            </a:r>
            <a:endParaRPr lang="en-US" altLang="zh-CN" sz="1200" kern="1200" dirty="0">
              <a:solidFill>
                <a:schemeClr val="tx1"/>
              </a:solidFill>
              <a:latin typeface="+mn-lt"/>
              <a:ea typeface="+mn-ea"/>
              <a:cs typeface="+mn-cs"/>
            </a:endParaRPr>
          </a:p>
          <a:p>
            <a:r>
              <a:rPr lang="en-US" altLang="zh-CN" sz="1200" kern="1200" dirty="0">
                <a:solidFill>
                  <a:schemeClr val="tx1"/>
                </a:solidFill>
                <a:latin typeface="+mn-lt"/>
                <a:ea typeface="+mn-ea"/>
                <a:cs typeface="+mn-cs"/>
              </a:rPr>
              <a:t>   IT</a:t>
            </a:r>
            <a:r>
              <a:rPr lang="zh-CN" altLang="en-US" sz="1200" kern="1200" dirty="0">
                <a:solidFill>
                  <a:schemeClr val="tx1"/>
                </a:solidFill>
                <a:latin typeface="+mn-lt"/>
                <a:ea typeface="+mn-ea"/>
                <a:cs typeface="+mn-cs"/>
              </a:rPr>
              <a:t>项目如果在前期没有支出足够的费用，将影响到组织的总体成本。例如在定义用户需求和进行</a:t>
            </a:r>
            <a:r>
              <a:rPr lang="en-US" altLang="zh-CN" sz="1200" kern="1200" dirty="0">
                <a:solidFill>
                  <a:schemeClr val="tx1"/>
                </a:solidFill>
                <a:latin typeface="+mn-lt"/>
                <a:ea typeface="+mn-ea"/>
                <a:cs typeface="+mn-cs"/>
              </a:rPr>
              <a:t>IT</a:t>
            </a:r>
            <a:r>
              <a:rPr lang="zh-CN" altLang="en-US" sz="1200" kern="1200" dirty="0">
                <a:solidFill>
                  <a:schemeClr val="tx1"/>
                </a:solidFill>
                <a:latin typeface="+mn-lt"/>
                <a:ea typeface="+mn-ea"/>
                <a:cs typeface="+mn-cs"/>
              </a:rPr>
              <a:t>项目的前期测试上舍得花些费用，要比等实施完成后解决问题更划算。例如，在软件项目后期发现缺陷并进行修复的花费比早期修复发现的费用要高</a:t>
            </a:r>
            <a:r>
              <a:rPr lang="en-US" altLang="zh-CN" sz="1200" kern="1200" dirty="0">
                <a:solidFill>
                  <a:schemeClr val="tx1"/>
                </a:solidFill>
                <a:latin typeface="+mn-lt"/>
                <a:ea typeface="+mn-ea"/>
                <a:cs typeface="+mn-cs"/>
              </a:rPr>
              <a:t>100</a:t>
            </a:r>
            <a:r>
              <a:rPr lang="zh-CN" altLang="en-US" sz="1200" kern="1200" dirty="0">
                <a:solidFill>
                  <a:schemeClr val="tx1"/>
                </a:solidFill>
                <a:latin typeface="+mn-lt"/>
                <a:ea typeface="+mn-ea"/>
                <a:cs typeface="+mn-cs"/>
              </a:rPr>
              <a:t>多倍。</a:t>
            </a:r>
          </a:p>
          <a:p>
            <a:r>
              <a:rPr lang="zh-CN" altLang="en-US" sz="1200" kern="1200" dirty="0">
                <a:solidFill>
                  <a:schemeClr val="tx1"/>
                </a:solidFill>
                <a:latin typeface="+mn-lt"/>
                <a:ea typeface="+mn-ea"/>
                <a:cs typeface="+mn-cs"/>
              </a:rPr>
              <a:t>因为组织对可靠的</a:t>
            </a:r>
            <a:r>
              <a:rPr lang="en-US" altLang="zh-CN" sz="1200" kern="1200" dirty="0">
                <a:solidFill>
                  <a:schemeClr val="tx1"/>
                </a:solidFill>
                <a:latin typeface="+mn-lt"/>
                <a:ea typeface="+mn-ea"/>
                <a:cs typeface="+mn-cs"/>
              </a:rPr>
              <a:t>IT</a:t>
            </a:r>
            <a:r>
              <a:rPr lang="zh-CN" altLang="en-US" sz="1200" kern="1200" dirty="0">
                <a:solidFill>
                  <a:schemeClr val="tx1"/>
                </a:solidFill>
                <a:latin typeface="+mn-lt"/>
                <a:ea typeface="+mn-ea"/>
                <a:cs typeface="+mn-cs"/>
              </a:rPr>
              <a:t>设施十分依赖，因而停工往往会导致巨大的损失。所以项目的可靠性会影响力生命周期成本。</a:t>
            </a:r>
            <a:endParaRPr lang="en-US" altLang="zh-CN" sz="1200" kern="1200" dirty="0">
              <a:solidFill>
                <a:schemeClr val="tx1"/>
              </a:solidFill>
              <a:latin typeface="+mn-lt"/>
              <a:ea typeface="+mn-ea"/>
              <a:cs typeface="+mn-cs"/>
            </a:endParaRPr>
          </a:p>
          <a:p>
            <a:endParaRPr lang="en-US" altLang="zh-CN" sz="120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latin typeface="+mn-lt"/>
                <a:ea typeface="+mn-ea"/>
                <a:cs typeface="+mn-cs"/>
              </a:rPr>
              <a:t>  现金流分析（</a:t>
            </a:r>
            <a:r>
              <a:rPr lang="en-US" altLang="zh-CN" sz="1200" kern="1200" dirty="0">
                <a:solidFill>
                  <a:schemeClr val="tx1"/>
                </a:solidFill>
                <a:latin typeface="+mn-lt"/>
                <a:ea typeface="+mn-ea"/>
                <a:cs typeface="+mn-cs"/>
              </a:rPr>
              <a:t>cash flow analysis</a:t>
            </a:r>
            <a:r>
              <a:rPr lang="zh-CN" altLang="en-US" sz="1200" kern="1200" dirty="0">
                <a:solidFill>
                  <a:schemeClr val="tx1"/>
                </a:solidFill>
                <a:latin typeface="+mn-lt"/>
                <a:ea typeface="+mn-ea"/>
                <a:cs typeface="+mn-cs"/>
              </a:rPr>
              <a:t>）：项目经理必须进行现金流分析来确定净现值。高层管理在挑选项目进行投资时，必须考虑现金流问题。如果高层管理在同一年里挑选了过多需要较高现金流的项目，那么公司将无法支撑所有的项目，并维持它们的盈利。有时还需要考虑通货膨胀和其他因素。</a:t>
            </a:r>
            <a:endParaRPr lang="en-US" altLang="zh-CN" sz="120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latin typeface="+mn-lt"/>
              <a:ea typeface="+mn-ea"/>
              <a:cs typeface="+mn-cs"/>
            </a:endParaRPr>
          </a:p>
          <a:p>
            <a:r>
              <a:rPr lang="zh-CN" altLang="en-US" sz="1200" kern="1200" dirty="0">
                <a:solidFill>
                  <a:schemeClr val="tx1"/>
                </a:solidFill>
                <a:latin typeface="+mn-lt"/>
                <a:ea typeface="+mn-ea"/>
                <a:cs typeface="+mn-cs"/>
              </a:rPr>
              <a:t>有形成本或收益（</a:t>
            </a:r>
            <a:r>
              <a:rPr lang="en-US" altLang="zh-CN" sz="1200" kern="1200" dirty="0">
                <a:solidFill>
                  <a:schemeClr val="tx1"/>
                </a:solidFill>
                <a:latin typeface="+mn-lt"/>
                <a:ea typeface="+mn-ea"/>
                <a:cs typeface="+mn-cs"/>
              </a:rPr>
              <a:t>tangible costs or benefits</a:t>
            </a:r>
            <a:r>
              <a:rPr lang="zh-CN" altLang="en-US" sz="1200" kern="1200" dirty="0">
                <a:solidFill>
                  <a:schemeClr val="tx1"/>
                </a:solidFill>
                <a:latin typeface="+mn-lt"/>
                <a:ea typeface="+mn-ea"/>
                <a:cs typeface="+mn-cs"/>
              </a:rPr>
              <a:t>） 例如，假设“开篇案例”中的“智能巡检机器人”项目包括一个初期的可行性研究。一家公司完成这项研究的成本是</a:t>
            </a:r>
            <a:r>
              <a:rPr lang="en-US" altLang="zh-CN" sz="1200" kern="1200" dirty="0">
                <a:solidFill>
                  <a:schemeClr val="tx1"/>
                </a:solidFill>
                <a:latin typeface="+mn-lt"/>
                <a:ea typeface="+mn-ea"/>
                <a:cs typeface="+mn-cs"/>
              </a:rPr>
              <a:t>100</a:t>
            </a:r>
            <a:r>
              <a:rPr lang="zh-CN" altLang="en-US" sz="1200" kern="1200" dirty="0">
                <a:solidFill>
                  <a:schemeClr val="tx1"/>
                </a:solidFill>
                <a:latin typeface="+mn-lt"/>
                <a:ea typeface="+mn-ea"/>
                <a:cs typeface="+mn-cs"/>
              </a:rPr>
              <a:t>万元，那么这项研究的直接成本就是</a:t>
            </a:r>
            <a:r>
              <a:rPr lang="en-US" altLang="zh-CN" sz="1200" kern="1200" dirty="0">
                <a:solidFill>
                  <a:schemeClr val="tx1"/>
                </a:solidFill>
                <a:latin typeface="+mn-lt"/>
                <a:ea typeface="+mn-ea"/>
                <a:cs typeface="+mn-cs"/>
              </a:rPr>
              <a:t>100</a:t>
            </a:r>
            <a:r>
              <a:rPr lang="zh-CN" altLang="en-US" sz="1200" kern="1200" dirty="0">
                <a:solidFill>
                  <a:schemeClr val="tx1"/>
                </a:solidFill>
                <a:latin typeface="+mn-lt"/>
                <a:ea typeface="+mn-ea"/>
                <a:cs typeface="+mn-cs"/>
              </a:rPr>
              <a:t>万元。如果电力部门估计他们自己完成这一研究将花费</a:t>
            </a:r>
            <a:r>
              <a:rPr lang="en-US" altLang="zh-CN" sz="1200" kern="1200" dirty="0">
                <a:solidFill>
                  <a:schemeClr val="tx1"/>
                </a:solidFill>
                <a:latin typeface="+mn-lt"/>
                <a:ea typeface="+mn-ea"/>
                <a:cs typeface="+mn-cs"/>
              </a:rPr>
              <a:t>150</a:t>
            </a:r>
            <a:r>
              <a:rPr lang="zh-CN" altLang="en-US" sz="1200" kern="1200" dirty="0">
                <a:solidFill>
                  <a:schemeClr val="tx1"/>
                </a:solidFill>
                <a:latin typeface="+mn-lt"/>
                <a:ea typeface="+mn-ea"/>
                <a:cs typeface="+mn-cs"/>
              </a:rPr>
              <a:t>万元，并把用来完成这一研究的人员分配到其他项目，这项研究的直接收益将是</a:t>
            </a:r>
            <a:r>
              <a:rPr lang="en-US" altLang="zh-CN" sz="1200" kern="1200" dirty="0">
                <a:solidFill>
                  <a:schemeClr val="tx1"/>
                </a:solidFill>
                <a:latin typeface="+mn-lt"/>
                <a:ea typeface="+mn-ea"/>
                <a:cs typeface="+mn-cs"/>
              </a:rPr>
              <a:t>50</a:t>
            </a:r>
            <a:r>
              <a:rPr lang="zh-CN" altLang="en-US" sz="1200" kern="1200" dirty="0">
                <a:solidFill>
                  <a:schemeClr val="tx1"/>
                </a:solidFill>
                <a:latin typeface="+mn-lt"/>
                <a:ea typeface="+mn-ea"/>
                <a:cs typeface="+mn-cs"/>
              </a:rPr>
              <a:t>万元。</a:t>
            </a:r>
            <a:endParaRPr lang="en-US" altLang="zh-CN" sz="1200" kern="1200" dirty="0">
              <a:solidFill>
                <a:schemeClr val="tx1"/>
              </a:solidFill>
              <a:latin typeface="+mn-lt"/>
              <a:ea typeface="+mn-ea"/>
              <a:cs typeface="+mn-cs"/>
            </a:endParaRPr>
          </a:p>
          <a:p>
            <a:endParaRPr lang="en-US" altLang="zh-CN" sz="1200" kern="1200" dirty="0">
              <a:solidFill>
                <a:schemeClr val="tx1"/>
              </a:solidFill>
              <a:latin typeface="+mn-lt"/>
              <a:ea typeface="+mn-ea"/>
              <a:cs typeface="+mn-cs"/>
            </a:endParaRPr>
          </a:p>
          <a:p>
            <a:r>
              <a:rPr lang="zh-CN" altLang="en-US" sz="1200" kern="1200" dirty="0">
                <a:solidFill>
                  <a:schemeClr val="tx1"/>
                </a:solidFill>
                <a:latin typeface="+mn-lt"/>
                <a:ea typeface="+mn-ea"/>
                <a:cs typeface="+mn-cs"/>
              </a:rPr>
              <a:t>无形成本或收益（</a:t>
            </a:r>
            <a:r>
              <a:rPr lang="en-US" altLang="zh-CN" sz="1200" kern="1200" dirty="0">
                <a:solidFill>
                  <a:schemeClr val="tx1"/>
                </a:solidFill>
                <a:latin typeface="+mn-lt"/>
                <a:ea typeface="+mn-ea"/>
                <a:cs typeface="+mn-cs"/>
              </a:rPr>
              <a:t>intangible costs or benefits</a:t>
            </a:r>
            <a:r>
              <a:rPr lang="zh-CN" altLang="en-US" sz="1200" kern="1200" dirty="0">
                <a:solidFill>
                  <a:schemeClr val="tx1"/>
                </a:solidFill>
                <a:latin typeface="+mn-lt"/>
                <a:ea typeface="+mn-ea"/>
                <a:cs typeface="+mn-cs"/>
              </a:rPr>
              <a:t>）假设王先生和其他人为了个人利益，使用电力公司的电脑、书籍和其他资源来研究与这一研究相关的领域。尽管他们的时间和电力公司的资源不会计算到这个项目中，它们仍被认为是无形成本。</a:t>
            </a:r>
            <a:endParaRPr lang="en-US" altLang="zh-CN" sz="1200" kern="1200" dirty="0">
              <a:solidFill>
                <a:schemeClr val="tx1"/>
              </a:solidFill>
              <a:latin typeface="+mn-lt"/>
              <a:ea typeface="+mn-ea"/>
              <a:cs typeface="+mn-cs"/>
            </a:endParaRPr>
          </a:p>
          <a:p>
            <a:r>
              <a:rPr lang="zh-CN" altLang="en-US" sz="1200" dirty="0">
                <a:solidFill>
                  <a:schemeClr val="tx1"/>
                </a:solidFill>
              </a:rPr>
              <a:t>因为无形成本和收益很难量化，所以它们很难得到认可。</a:t>
            </a:r>
            <a:endParaRPr lang="en-US" altLang="zh-CN" sz="1200" kern="1200" dirty="0">
              <a:solidFill>
                <a:schemeClr val="tx1"/>
              </a:solidFill>
              <a:latin typeface="+mn-lt"/>
              <a:ea typeface="+mn-ea"/>
              <a:cs typeface="+mn-cs"/>
            </a:endParaRPr>
          </a:p>
          <a:p>
            <a:pPr lvl="1"/>
            <a:r>
              <a:rPr lang="zh-CN" altLang="en-US" sz="2000" dirty="0">
                <a:solidFill>
                  <a:schemeClr val="tx1"/>
                </a:solidFill>
                <a:latin typeface="微软雅黑" panose="020B0503020204020204" pitchFamily="34" charset="-122"/>
                <a:ea typeface="微软雅黑" panose="020B0503020204020204" pitchFamily="34" charset="-122"/>
              </a:rPr>
              <a:t>项目的无形收益经常包括好运、威望、品牌和提高生产效率的一般声明等内容，组织一般不能将它们轻易地表示为货币形式。</a:t>
            </a:r>
            <a:endParaRPr lang="zh-CN" alt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kern="1200" dirty="0">
              <a:solidFill>
                <a:schemeClr val="tx1"/>
              </a:solidFill>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67</a:t>
            </a:fld>
            <a:endParaRPr lang="zh-CN" altLang="en-US"/>
          </a:p>
        </p:txBody>
      </p:sp>
    </p:spTree>
    <p:extLst>
      <p:ext uri="{BB962C8B-B14F-4D97-AF65-F5344CB8AC3E}">
        <p14:creationId xmlns:p14="http://schemas.microsoft.com/office/powerpoint/2010/main" val="81569365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P196</a:t>
            </a:r>
          </a:p>
          <a:p>
            <a:r>
              <a:rPr lang="zh-CN" altLang="en-US" sz="1200" kern="1200" dirty="0">
                <a:solidFill>
                  <a:schemeClr val="tx1"/>
                </a:solidFill>
                <a:latin typeface="+mn-lt"/>
                <a:ea typeface="+mn-ea"/>
                <a:cs typeface="+mn-cs"/>
              </a:rPr>
              <a:t>直接成本（</a:t>
            </a:r>
            <a:r>
              <a:rPr lang="en-US" altLang="zh-CN" sz="1200" kern="1200" dirty="0">
                <a:solidFill>
                  <a:schemeClr val="tx1"/>
                </a:solidFill>
                <a:latin typeface="+mn-lt"/>
                <a:ea typeface="+mn-ea"/>
                <a:cs typeface="+mn-cs"/>
              </a:rPr>
              <a:t>direct costs</a:t>
            </a:r>
            <a:r>
              <a:rPr lang="zh-CN" altLang="en-US" sz="1200" kern="1200" dirty="0">
                <a:solidFill>
                  <a:schemeClr val="tx1"/>
                </a:solidFill>
                <a:latin typeface="+mn-lt"/>
                <a:ea typeface="+mn-ea"/>
                <a:cs typeface="+mn-cs"/>
              </a:rPr>
              <a:t>） 你可以把直接成本直接归结到某一项目上去。例如，项目中全职工作的工人的工资和为项目专门购买的软硬件都是直接成本。项目经理应该关注直接成本，因为他们可以控制直接成本。</a:t>
            </a:r>
          </a:p>
          <a:p>
            <a:r>
              <a:rPr lang="zh-CN" altLang="en-US" sz="1200" kern="1200" dirty="0">
                <a:solidFill>
                  <a:schemeClr val="tx1"/>
                </a:solidFill>
                <a:latin typeface="+mn-lt"/>
                <a:ea typeface="+mn-ea"/>
                <a:cs typeface="+mn-cs"/>
              </a:rPr>
              <a:t>间接成本（</a:t>
            </a:r>
            <a:r>
              <a:rPr lang="en-US" altLang="zh-CN" sz="1200" kern="1200" dirty="0">
                <a:solidFill>
                  <a:schemeClr val="tx1"/>
                </a:solidFill>
                <a:latin typeface="+mn-lt"/>
                <a:ea typeface="+mn-ea"/>
                <a:cs typeface="+mn-cs"/>
              </a:rPr>
              <a:t>indirect costs</a:t>
            </a:r>
            <a:r>
              <a:rPr lang="zh-CN" altLang="en-US" sz="1200" kern="1200" dirty="0">
                <a:solidFill>
                  <a:schemeClr val="tx1"/>
                </a:solidFill>
                <a:latin typeface="+mn-lt"/>
                <a:ea typeface="+mn-ea"/>
                <a:cs typeface="+mn-cs"/>
              </a:rPr>
              <a:t>）是不与生产项目产品和服务直接相关的成本，但它间接地和完成的项目相关。例如，在一座大楼上，有为不同项目工作的</a:t>
            </a:r>
            <a:r>
              <a:rPr lang="en-US" altLang="zh-CN" sz="1200" kern="1200" dirty="0">
                <a:solidFill>
                  <a:schemeClr val="tx1"/>
                </a:solidFill>
                <a:latin typeface="+mn-lt"/>
                <a:ea typeface="+mn-ea"/>
                <a:cs typeface="+mn-cs"/>
              </a:rPr>
              <a:t>1000</a:t>
            </a:r>
            <a:r>
              <a:rPr lang="zh-CN" altLang="en-US" sz="1200" kern="1200" dirty="0">
                <a:solidFill>
                  <a:schemeClr val="tx1"/>
                </a:solidFill>
                <a:latin typeface="+mn-lt"/>
                <a:ea typeface="+mn-ea"/>
                <a:cs typeface="+mn-cs"/>
              </a:rPr>
              <a:t>名职工，那电费、毛巾和纸都是间接成本。间接成本可以被分摊到项目当中，但是项目经理几乎无法控制它们。</a:t>
            </a:r>
            <a:endParaRPr lang="en-US" altLang="zh-CN" sz="1200" kern="1200" dirty="0">
              <a:solidFill>
                <a:schemeClr val="tx1"/>
              </a:solidFill>
              <a:latin typeface="+mn-lt"/>
              <a:ea typeface="+mn-ea"/>
              <a:cs typeface="+mn-cs"/>
            </a:endParaRPr>
          </a:p>
          <a:p>
            <a:endParaRPr lang="zh-CN" altLang="en-US" sz="1200" kern="1200" dirty="0">
              <a:solidFill>
                <a:schemeClr val="tx1"/>
              </a:solidFill>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68</a:t>
            </a:fld>
            <a:endParaRPr lang="zh-CN" altLang="en-US"/>
          </a:p>
        </p:txBody>
      </p:sp>
    </p:spTree>
    <p:extLst>
      <p:ext uri="{BB962C8B-B14F-4D97-AF65-F5344CB8AC3E}">
        <p14:creationId xmlns:p14="http://schemas.microsoft.com/office/powerpoint/2010/main" val="119248764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69</a:t>
            </a:fld>
            <a:endParaRPr lang="zh-CN" altLang="en-US"/>
          </a:p>
        </p:txBody>
      </p:sp>
    </p:spTree>
    <p:extLst>
      <p:ext uri="{BB962C8B-B14F-4D97-AF65-F5344CB8AC3E}">
        <p14:creationId xmlns:p14="http://schemas.microsoft.com/office/powerpoint/2010/main" val="199725093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P196</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latin typeface="+mn-lt"/>
                <a:ea typeface="+mn-ea"/>
                <a:cs typeface="+mn-cs"/>
              </a:rPr>
              <a:t>沉没成本（</a:t>
            </a:r>
            <a:r>
              <a:rPr lang="en-US" altLang="zh-CN" sz="1200" kern="1200" dirty="0">
                <a:solidFill>
                  <a:schemeClr val="tx1"/>
                </a:solidFill>
                <a:latin typeface="+mn-lt"/>
                <a:ea typeface="+mn-ea"/>
                <a:cs typeface="+mn-cs"/>
              </a:rPr>
              <a:t>sunk cost</a:t>
            </a:r>
            <a:r>
              <a:rPr lang="zh-CN" altLang="en-US" sz="1200" kern="1200" dirty="0">
                <a:solidFill>
                  <a:schemeClr val="tx1"/>
                </a:solidFill>
                <a:latin typeface="+mn-lt"/>
                <a:ea typeface="+mn-ea"/>
                <a:cs typeface="+mn-cs"/>
              </a:rPr>
              <a:t>）是指在过去花费的钱。考虑到它们已经被花掉了，就像沉船永远不能再回来了。当考虑要投资什么项目或继续开展什么项目时，你不应该考虑沉没成本。例如，在“开篇案例”中，假设在过去的</a:t>
            </a:r>
            <a:r>
              <a:rPr lang="en-US" altLang="zh-CN" sz="1200" kern="1200" dirty="0">
                <a:solidFill>
                  <a:schemeClr val="tx1"/>
                </a:solidFill>
                <a:latin typeface="+mn-lt"/>
                <a:ea typeface="+mn-ea"/>
                <a:cs typeface="+mn-cs"/>
              </a:rPr>
              <a:t>3</a:t>
            </a:r>
            <a:r>
              <a:rPr lang="zh-CN" altLang="en-US" sz="1200" kern="1200" dirty="0">
                <a:solidFill>
                  <a:schemeClr val="tx1"/>
                </a:solidFill>
                <a:latin typeface="+mn-lt"/>
                <a:ea typeface="+mn-ea"/>
                <a:cs typeface="+mn-cs"/>
              </a:rPr>
              <a:t>年里已经花费了</a:t>
            </a:r>
            <a:r>
              <a:rPr lang="en-US" altLang="zh-CN" sz="1200" kern="1200" dirty="0">
                <a:solidFill>
                  <a:schemeClr val="tx1"/>
                </a:solidFill>
                <a:latin typeface="+mn-lt"/>
                <a:ea typeface="+mn-ea"/>
                <a:cs typeface="+mn-cs"/>
              </a:rPr>
              <a:t>100</a:t>
            </a:r>
            <a:r>
              <a:rPr lang="zh-CN" altLang="en-US" sz="1200" kern="1200" dirty="0">
                <a:solidFill>
                  <a:schemeClr val="tx1"/>
                </a:solidFill>
                <a:latin typeface="+mn-lt"/>
                <a:ea typeface="+mn-ea"/>
                <a:cs typeface="+mn-cs"/>
              </a:rPr>
              <a:t>万元去开发一个机器人控制系统，它是智能巡检机器人（项目</a:t>
            </a:r>
            <a:r>
              <a:rPr lang="en-US" altLang="zh-CN" sz="1200" kern="1200" dirty="0">
                <a:solidFill>
                  <a:schemeClr val="tx1"/>
                </a:solidFill>
                <a:latin typeface="+mn-lt"/>
                <a:ea typeface="+mn-ea"/>
                <a:cs typeface="+mn-cs"/>
              </a:rPr>
              <a:t>B</a:t>
            </a:r>
            <a:r>
              <a:rPr lang="zh-CN" altLang="en-US" sz="1200" kern="1200" dirty="0">
                <a:solidFill>
                  <a:schemeClr val="tx1"/>
                </a:solidFill>
                <a:latin typeface="+mn-lt"/>
                <a:ea typeface="+mn-ea"/>
                <a:cs typeface="+mn-cs"/>
              </a:rPr>
              <a:t>）的子项目，但却没有产出任何收益。如果电力公司正在评估下一年应该资助哪个项目，可能会有人建议他们应该继续资助这个智能巡检机器人，因为已经在它上面花费了</a:t>
            </a:r>
            <a:r>
              <a:rPr lang="en-US" altLang="zh-CN" sz="1200" kern="1200" dirty="0">
                <a:solidFill>
                  <a:schemeClr val="tx1"/>
                </a:solidFill>
                <a:latin typeface="+mn-lt"/>
                <a:ea typeface="+mn-ea"/>
                <a:cs typeface="+mn-cs"/>
              </a:rPr>
              <a:t>100</a:t>
            </a:r>
            <a:r>
              <a:rPr lang="zh-CN" altLang="en-US" sz="1200" kern="1200" dirty="0">
                <a:solidFill>
                  <a:schemeClr val="tx1"/>
                </a:solidFill>
                <a:latin typeface="+mn-lt"/>
                <a:ea typeface="+mn-ea"/>
                <a:cs typeface="+mn-cs"/>
              </a:rPr>
              <a:t>万元。</a:t>
            </a:r>
            <a:endParaRPr lang="en-US" altLang="zh-CN" sz="120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latin typeface="+mn-lt"/>
                <a:ea typeface="+mn-ea"/>
                <a:cs typeface="+mn-cs"/>
              </a:rPr>
              <a:t>  </a:t>
            </a:r>
            <a:r>
              <a:rPr lang="zh-CN" altLang="en-US" sz="1200" kern="1200" dirty="0">
                <a:solidFill>
                  <a:schemeClr val="tx1"/>
                </a:solidFill>
                <a:latin typeface="+mn-lt"/>
                <a:ea typeface="+mn-ea"/>
                <a:cs typeface="+mn-cs"/>
              </a:rPr>
              <a:t>但在项目选择中把沉没成本作为一个关键因素来考虑是不正确的。如果这个项目</a:t>
            </a:r>
            <a:r>
              <a:rPr lang="en-US" altLang="zh-CN" sz="1200" kern="1200" dirty="0">
                <a:solidFill>
                  <a:schemeClr val="tx1"/>
                </a:solidFill>
                <a:latin typeface="+mn-lt"/>
                <a:ea typeface="+mn-ea"/>
                <a:cs typeface="+mn-cs"/>
              </a:rPr>
              <a:t>B</a:t>
            </a:r>
            <a:r>
              <a:rPr lang="zh-CN" altLang="en-US" sz="1200" kern="1200" dirty="0">
                <a:solidFill>
                  <a:schemeClr val="tx1"/>
                </a:solidFill>
                <a:latin typeface="+mn-lt"/>
                <a:ea typeface="+mn-ea"/>
                <a:cs typeface="+mn-cs"/>
              </a:rPr>
              <a:t>再投入</a:t>
            </a:r>
            <a:r>
              <a:rPr lang="en-US" altLang="zh-CN" sz="1200" kern="1200" dirty="0">
                <a:solidFill>
                  <a:schemeClr val="tx1"/>
                </a:solidFill>
                <a:latin typeface="+mn-lt"/>
                <a:ea typeface="+mn-ea"/>
                <a:cs typeface="+mn-cs"/>
              </a:rPr>
              <a:t>200</a:t>
            </a:r>
            <a:r>
              <a:rPr lang="zh-CN" altLang="en-US" sz="1200" kern="1200" dirty="0">
                <a:solidFill>
                  <a:schemeClr val="tx1"/>
                </a:solidFill>
                <a:latin typeface="+mn-lt"/>
                <a:ea typeface="+mn-ea"/>
                <a:cs typeface="+mn-cs"/>
              </a:rPr>
              <a:t>万元能获得</a:t>
            </a:r>
            <a:r>
              <a:rPr lang="en-US" altLang="zh-CN" sz="1200" kern="1200" dirty="0">
                <a:solidFill>
                  <a:schemeClr val="tx1"/>
                </a:solidFill>
                <a:latin typeface="+mn-lt"/>
                <a:ea typeface="+mn-ea"/>
                <a:cs typeface="+mn-cs"/>
              </a:rPr>
              <a:t>400</a:t>
            </a:r>
            <a:r>
              <a:rPr lang="zh-CN" altLang="en-US" sz="1200" kern="1200" dirty="0">
                <a:solidFill>
                  <a:schemeClr val="tx1"/>
                </a:solidFill>
                <a:latin typeface="+mn-lt"/>
                <a:ea typeface="+mn-ea"/>
                <a:cs typeface="+mn-cs"/>
              </a:rPr>
              <a:t>万元的效益，则效益成本比为</a:t>
            </a:r>
            <a:r>
              <a:rPr lang="en-US" altLang="zh-CN" sz="1200" kern="1200" dirty="0">
                <a:solidFill>
                  <a:schemeClr val="tx1"/>
                </a:solidFill>
                <a:latin typeface="+mn-lt"/>
                <a:ea typeface="+mn-ea"/>
                <a:cs typeface="+mn-cs"/>
              </a:rPr>
              <a:t>2(</a:t>
            </a:r>
            <a:r>
              <a:rPr lang="zh-CN" altLang="en-US" sz="1200" kern="1200" dirty="0">
                <a:solidFill>
                  <a:schemeClr val="tx1"/>
                </a:solidFill>
                <a:latin typeface="+mn-lt"/>
                <a:ea typeface="+mn-ea"/>
                <a:cs typeface="+mn-cs"/>
              </a:rPr>
              <a:t>与项目</a:t>
            </a:r>
            <a:r>
              <a:rPr lang="en-US" altLang="zh-CN" sz="1200" kern="1200" dirty="0">
                <a:solidFill>
                  <a:schemeClr val="tx1"/>
                </a:solidFill>
                <a:latin typeface="+mn-lt"/>
                <a:ea typeface="+mn-ea"/>
                <a:cs typeface="+mn-cs"/>
              </a:rPr>
              <a:t>A</a:t>
            </a:r>
            <a:r>
              <a:rPr lang="zh-CN" altLang="en-US" sz="1200" kern="1200" dirty="0">
                <a:solidFill>
                  <a:schemeClr val="tx1"/>
                </a:solidFill>
                <a:latin typeface="+mn-lt"/>
                <a:ea typeface="+mn-ea"/>
                <a:cs typeface="+mn-cs"/>
              </a:rPr>
              <a:t>相同</a:t>
            </a:r>
            <a:r>
              <a:rPr lang="en-US" altLang="zh-CN" sz="1200" kern="1200" dirty="0">
                <a:solidFill>
                  <a:schemeClr val="tx1"/>
                </a:solidFill>
                <a:latin typeface="+mn-lt"/>
                <a:ea typeface="+mn-ea"/>
                <a:cs typeface="+mn-cs"/>
              </a:rPr>
              <a:t>)</a:t>
            </a:r>
            <a:r>
              <a:rPr lang="zh-CN" altLang="en-US" sz="1200" kern="1200" dirty="0">
                <a:solidFill>
                  <a:schemeClr val="tx1"/>
                </a:solidFill>
                <a:latin typeface="+mn-lt"/>
                <a:ea typeface="+mn-ea"/>
                <a:cs typeface="+mn-cs"/>
              </a:rPr>
              <a:t>，与前期投入的</a:t>
            </a:r>
            <a:r>
              <a:rPr lang="en-US" altLang="zh-CN" sz="1200" kern="1200" dirty="0">
                <a:solidFill>
                  <a:schemeClr val="tx1"/>
                </a:solidFill>
                <a:latin typeface="+mn-lt"/>
                <a:ea typeface="+mn-ea"/>
                <a:cs typeface="+mn-cs"/>
              </a:rPr>
              <a:t>100</a:t>
            </a:r>
            <a:r>
              <a:rPr lang="zh-CN" altLang="en-US" sz="1200" kern="1200" dirty="0">
                <a:solidFill>
                  <a:schemeClr val="tx1"/>
                </a:solidFill>
                <a:latin typeface="+mn-lt"/>
                <a:ea typeface="+mn-ea"/>
                <a:cs typeface="+mn-cs"/>
              </a:rPr>
              <a:t>万元无关。如果前期投入的</a:t>
            </a:r>
            <a:r>
              <a:rPr lang="en-US" altLang="zh-CN" sz="1200" kern="1200" dirty="0">
                <a:solidFill>
                  <a:schemeClr val="tx1"/>
                </a:solidFill>
                <a:latin typeface="+mn-lt"/>
                <a:ea typeface="+mn-ea"/>
                <a:cs typeface="+mn-cs"/>
              </a:rPr>
              <a:t>100</a:t>
            </a:r>
            <a:r>
              <a:rPr lang="zh-CN" altLang="en-US" sz="1200" kern="1200" dirty="0">
                <a:solidFill>
                  <a:schemeClr val="tx1"/>
                </a:solidFill>
                <a:latin typeface="+mn-lt"/>
                <a:ea typeface="+mn-ea"/>
                <a:cs typeface="+mn-cs"/>
              </a:rPr>
              <a:t>万元是有成效的，只要再投入</a:t>
            </a:r>
            <a:r>
              <a:rPr lang="en-US" altLang="zh-CN" sz="1200" kern="1200" dirty="0">
                <a:solidFill>
                  <a:schemeClr val="tx1"/>
                </a:solidFill>
                <a:latin typeface="+mn-lt"/>
                <a:ea typeface="+mn-ea"/>
                <a:cs typeface="+mn-cs"/>
              </a:rPr>
              <a:t>120</a:t>
            </a:r>
            <a:r>
              <a:rPr lang="zh-CN" altLang="en-US" sz="1200" kern="1200" dirty="0">
                <a:solidFill>
                  <a:schemeClr val="tx1"/>
                </a:solidFill>
                <a:latin typeface="+mn-lt"/>
                <a:ea typeface="+mn-ea"/>
                <a:cs typeface="+mn-cs"/>
              </a:rPr>
              <a:t>万元，项目就能成功，则效益成本比为</a:t>
            </a:r>
            <a:r>
              <a:rPr lang="en-US" altLang="zh-CN" sz="1200" kern="1200" dirty="0">
                <a:solidFill>
                  <a:schemeClr val="tx1"/>
                </a:solidFill>
                <a:latin typeface="+mn-lt"/>
                <a:ea typeface="+mn-ea"/>
                <a:cs typeface="+mn-cs"/>
              </a:rPr>
              <a:t>3.33</a:t>
            </a:r>
            <a:r>
              <a:rPr lang="zh-CN" altLang="en-US" sz="1200" kern="1200" dirty="0">
                <a:solidFill>
                  <a:schemeClr val="tx1"/>
                </a:solidFill>
                <a:latin typeface="+mn-lt"/>
                <a:ea typeface="+mn-ea"/>
                <a:cs typeface="+mn-cs"/>
              </a:rPr>
              <a:t>，显然投资收益比比项目</a:t>
            </a:r>
            <a:r>
              <a:rPr lang="en-US" altLang="zh-CN" sz="1200" kern="1200" dirty="0">
                <a:solidFill>
                  <a:schemeClr val="tx1"/>
                </a:solidFill>
                <a:latin typeface="+mn-lt"/>
                <a:ea typeface="+mn-ea"/>
                <a:cs typeface="+mn-cs"/>
              </a:rPr>
              <a:t>A</a:t>
            </a:r>
            <a:r>
              <a:rPr lang="zh-CN" altLang="en-US" sz="1200" kern="1200" dirty="0">
                <a:solidFill>
                  <a:schemeClr val="tx1"/>
                </a:solidFill>
                <a:latin typeface="+mn-lt"/>
                <a:ea typeface="+mn-ea"/>
                <a:cs typeface="+mn-cs"/>
              </a:rPr>
              <a:t>高。所以，只要根据往后的投入产出比进行决策就可，过去的投入是沉没成本，不必计算。</a:t>
            </a:r>
            <a:endParaRPr lang="en-US" altLang="zh-CN" sz="120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latin typeface="+mn-lt"/>
                <a:ea typeface="+mn-ea"/>
                <a:cs typeface="+mn-cs"/>
              </a:rPr>
              <a:t>许多人会考虑在一个失败的项目上已经花了多少钱，因此不惜再次掉入陷阱，不愿意停止对其继续投资。这个处境和赌徒不想停止赌博一样，因为已经输了钱，所以总想捞回来。实际上应该忘记沉没成本。</a:t>
            </a:r>
            <a:endParaRPr lang="en-US" altLang="zh-CN" sz="120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latin typeface="+mn-lt"/>
                <a:ea typeface="+mn-ea"/>
                <a:cs typeface="+mn-cs"/>
              </a:rPr>
              <a:t>但是，如果已有投入是有作用的，但其后只要花较少的投入就可产生较大的收益，这会在效益</a:t>
            </a:r>
            <a:r>
              <a:rPr lang="en-US" altLang="zh-CN" sz="1200" kern="1200" dirty="0">
                <a:solidFill>
                  <a:schemeClr val="tx1"/>
                </a:solidFill>
                <a:latin typeface="+mn-lt"/>
                <a:ea typeface="+mn-ea"/>
                <a:cs typeface="+mn-cs"/>
              </a:rPr>
              <a:t>/</a:t>
            </a:r>
            <a:r>
              <a:rPr lang="zh-CN" altLang="en-US" sz="1200" kern="1200" dirty="0">
                <a:solidFill>
                  <a:schemeClr val="tx1"/>
                </a:solidFill>
                <a:latin typeface="+mn-lt"/>
                <a:ea typeface="+mn-ea"/>
                <a:cs typeface="+mn-cs"/>
              </a:rPr>
              <a:t>成本中体现。</a:t>
            </a:r>
            <a:endParaRPr lang="en-US" altLang="zh-CN" sz="1200" kern="1200" dirty="0">
              <a:solidFill>
                <a:schemeClr val="tx1"/>
              </a:solidFill>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70</a:t>
            </a:fld>
            <a:endParaRPr lang="zh-CN" altLang="en-US"/>
          </a:p>
        </p:txBody>
      </p:sp>
    </p:spTree>
    <p:extLst>
      <p:ext uri="{BB962C8B-B14F-4D97-AF65-F5344CB8AC3E}">
        <p14:creationId xmlns:p14="http://schemas.microsoft.com/office/powerpoint/2010/main" val="369116678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P196</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latin typeface="+mn-lt"/>
                <a:ea typeface="+mn-ea"/>
                <a:cs typeface="+mn-cs"/>
              </a:rPr>
              <a:t>学习曲线理论（</a:t>
            </a:r>
            <a:r>
              <a:rPr lang="en-US" altLang="zh-CN" sz="1200" kern="1200" dirty="0">
                <a:solidFill>
                  <a:schemeClr val="tx1"/>
                </a:solidFill>
                <a:latin typeface="+mn-lt"/>
                <a:ea typeface="+mn-ea"/>
                <a:cs typeface="+mn-cs"/>
              </a:rPr>
              <a:t>learning curve theory</a:t>
            </a:r>
            <a:r>
              <a:rPr lang="zh-CN" altLang="en-US" sz="1200" kern="1200" dirty="0">
                <a:solidFill>
                  <a:schemeClr val="tx1"/>
                </a:solidFill>
                <a:latin typeface="+mn-lt"/>
                <a:ea typeface="+mn-ea"/>
                <a:cs typeface="+mn-cs"/>
              </a:rPr>
              <a:t>） 例如，假设</a:t>
            </a:r>
            <a:r>
              <a:rPr lang="en-US" altLang="zh-CN" sz="1200" kern="1200" dirty="0">
                <a:solidFill>
                  <a:schemeClr val="tx1"/>
                </a:solidFill>
                <a:latin typeface="+mn-lt"/>
                <a:ea typeface="+mn-ea"/>
                <a:cs typeface="+mn-cs"/>
              </a:rPr>
              <a:t>”</a:t>
            </a:r>
            <a:r>
              <a:rPr lang="zh-CN" altLang="en-US" sz="1200" kern="1200" dirty="0">
                <a:solidFill>
                  <a:schemeClr val="tx1"/>
                </a:solidFill>
                <a:latin typeface="+mn-lt"/>
                <a:ea typeface="+mn-ea"/>
                <a:cs typeface="+mn-cs"/>
              </a:rPr>
              <a:t>巡检机器人</a:t>
            </a:r>
            <a:r>
              <a:rPr lang="en-US" altLang="zh-CN" sz="1200" kern="1200" dirty="0">
                <a:solidFill>
                  <a:schemeClr val="tx1"/>
                </a:solidFill>
                <a:latin typeface="+mn-lt"/>
                <a:ea typeface="+mn-ea"/>
                <a:cs typeface="+mn-cs"/>
              </a:rPr>
              <a:t>”</a:t>
            </a:r>
            <a:r>
              <a:rPr lang="zh-CN" altLang="en-US" sz="1200" kern="1200" dirty="0">
                <a:solidFill>
                  <a:schemeClr val="tx1"/>
                </a:solidFill>
                <a:latin typeface="+mn-lt"/>
                <a:ea typeface="+mn-ea"/>
                <a:cs typeface="+mn-cs"/>
              </a:rPr>
              <a:t>项目将生产</a:t>
            </a:r>
            <a:r>
              <a:rPr lang="en-US" altLang="zh-CN" sz="1200" kern="1200" dirty="0">
                <a:solidFill>
                  <a:schemeClr val="tx1"/>
                </a:solidFill>
                <a:latin typeface="+mn-lt"/>
                <a:ea typeface="+mn-ea"/>
                <a:cs typeface="+mn-cs"/>
              </a:rPr>
              <a:t>1000</a:t>
            </a:r>
            <a:r>
              <a:rPr lang="zh-CN" altLang="en-US" sz="1200" kern="1200" dirty="0">
                <a:solidFill>
                  <a:schemeClr val="tx1"/>
                </a:solidFill>
                <a:latin typeface="+mn-lt"/>
                <a:ea typeface="+mn-ea"/>
                <a:cs typeface="+mn-cs"/>
              </a:rPr>
              <a:t>件巡检机器人设备。第一个设备的单位成本将比第</a:t>
            </a:r>
            <a:r>
              <a:rPr lang="en-US" altLang="zh-CN" sz="1200" kern="1200" dirty="0">
                <a:solidFill>
                  <a:schemeClr val="tx1"/>
                </a:solidFill>
                <a:latin typeface="+mn-lt"/>
                <a:ea typeface="+mn-ea"/>
                <a:cs typeface="+mn-cs"/>
              </a:rPr>
              <a:t>1000</a:t>
            </a:r>
            <a:r>
              <a:rPr lang="zh-CN" altLang="en-US" sz="1200" kern="1200" dirty="0">
                <a:solidFill>
                  <a:schemeClr val="tx1"/>
                </a:solidFill>
                <a:latin typeface="+mn-lt"/>
                <a:ea typeface="+mn-ea"/>
                <a:cs typeface="+mn-cs"/>
              </a:rPr>
              <a:t>个的成本高很多。</a:t>
            </a:r>
            <a:endParaRPr lang="en-US" altLang="zh-CN" sz="120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latin typeface="+mn-lt"/>
                <a:ea typeface="+mn-ea"/>
                <a:cs typeface="+mn-cs"/>
              </a:rPr>
              <a:t>储备</a:t>
            </a:r>
            <a:r>
              <a:rPr lang="zh-CN" altLang="en-US" dirty="0"/>
              <a:t>金</a:t>
            </a:r>
            <a:r>
              <a:rPr lang="zh-CN" altLang="en-US" sz="1200" kern="1200" dirty="0">
                <a:solidFill>
                  <a:schemeClr val="tx1"/>
                </a:solidFill>
                <a:latin typeface="+mn-lt"/>
                <a:ea typeface="+mn-ea"/>
                <a:cs typeface="+mn-cs"/>
              </a:rPr>
              <a:t>（</a:t>
            </a:r>
            <a:r>
              <a:rPr lang="en-US" altLang="zh-CN" sz="1200" kern="1200" dirty="0">
                <a:solidFill>
                  <a:schemeClr val="tx1"/>
                </a:solidFill>
                <a:latin typeface="+mn-lt"/>
                <a:ea typeface="+mn-ea"/>
                <a:cs typeface="+mn-cs"/>
              </a:rPr>
              <a:t>reserves</a:t>
            </a:r>
            <a:r>
              <a:rPr lang="zh-CN" altLang="en-US" sz="1200" kern="1200" dirty="0">
                <a:solidFill>
                  <a:schemeClr val="tx1"/>
                </a:solidFill>
                <a:latin typeface="+mn-lt"/>
                <a:ea typeface="+mn-ea"/>
                <a:cs typeface="+mn-cs"/>
              </a:rPr>
              <a:t>）是包含在成本估算中为未来难以预测的情况留出余地、减轻成本风险而设立的资金。</a:t>
            </a:r>
            <a:endParaRPr lang="en-US" altLang="zh-CN" sz="120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latin typeface="+mn-lt"/>
                <a:ea typeface="+mn-ea"/>
                <a:cs typeface="+mn-cs"/>
              </a:rPr>
              <a:t>  </a:t>
            </a:r>
            <a:r>
              <a:rPr lang="zh-CN" altLang="en-US" sz="1200" kern="1200" dirty="0">
                <a:solidFill>
                  <a:schemeClr val="tx1"/>
                </a:solidFill>
                <a:latin typeface="+mn-lt"/>
                <a:ea typeface="+mn-ea"/>
                <a:cs typeface="+mn-cs"/>
              </a:rPr>
              <a:t>应急储备（</a:t>
            </a:r>
            <a:r>
              <a:rPr lang="en-US" altLang="zh-CN" sz="1200" kern="1200" dirty="0">
                <a:solidFill>
                  <a:schemeClr val="tx1"/>
                </a:solidFill>
                <a:latin typeface="+mn-lt"/>
                <a:ea typeface="+mn-ea"/>
                <a:cs typeface="+mn-cs"/>
              </a:rPr>
              <a:t>contingency reserves</a:t>
            </a:r>
            <a:r>
              <a:rPr lang="zh-CN" altLang="en-US" sz="1200" kern="1200" dirty="0">
                <a:solidFill>
                  <a:schemeClr val="tx1"/>
                </a:solidFill>
                <a:latin typeface="+mn-lt"/>
                <a:ea typeface="+mn-ea"/>
                <a:cs typeface="+mn-cs"/>
              </a:rPr>
              <a:t>）考虑的是可以部分预测到的未来情况（有时称为已知的未知，</a:t>
            </a:r>
            <a:r>
              <a:rPr lang="en-US" altLang="zh-CN" sz="1200" kern="1200" dirty="0">
                <a:solidFill>
                  <a:schemeClr val="tx1"/>
                </a:solidFill>
                <a:latin typeface="+mn-lt"/>
                <a:ea typeface="+mn-ea"/>
                <a:cs typeface="+mn-cs"/>
              </a:rPr>
              <a:t>known unknowns</a:t>
            </a:r>
            <a:r>
              <a:rPr lang="zh-CN" altLang="en-US" sz="1200" kern="1200" dirty="0">
                <a:solidFill>
                  <a:schemeClr val="tx1"/>
                </a:solidFill>
                <a:latin typeface="+mn-lt"/>
                <a:ea typeface="+mn-ea"/>
                <a:cs typeface="+mn-cs"/>
              </a:rPr>
              <a:t>），并且应包括在成本的基线当中。例如，如果一个组织知道它的信息技术人员有</a:t>
            </a:r>
            <a:r>
              <a:rPr lang="en-US" altLang="zh-CN" sz="1200" kern="1200" dirty="0">
                <a:solidFill>
                  <a:schemeClr val="tx1"/>
                </a:solidFill>
                <a:latin typeface="+mn-lt"/>
                <a:ea typeface="+mn-ea"/>
                <a:cs typeface="+mn-cs"/>
              </a:rPr>
              <a:t>20%</a:t>
            </a:r>
            <a:r>
              <a:rPr lang="zh-CN" altLang="en-US" sz="1200" kern="1200" dirty="0">
                <a:solidFill>
                  <a:schemeClr val="tx1"/>
                </a:solidFill>
                <a:latin typeface="+mn-lt"/>
                <a:ea typeface="+mn-ea"/>
                <a:cs typeface="+mn-cs"/>
              </a:rPr>
              <a:t>的人员会更替，它应该包括应急储备来为信息技术人员支付雇用和培训成本。</a:t>
            </a:r>
            <a:endParaRPr lang="en-US" altLang="zh-CN" sz="120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latin typeface="+mn-lt"/>
                <a:ea typeface="+mn-ea"/>
                <a:cs typeface="+mn-cs"/>
              </a:rPr>
              <a:t>  </a:t>
            </a:r>
            <a:r>
              <a:rPr lang="zh-CN" altLang="en-US" sz="1200" kern="1200" dirty="0">
                <a:solidFill>
                  <a:schemeClr val="tx1"/>
                </a:solidFill>
                <a:latin typeface="+mn-lt"/>
                <a:ea typeface="+mn-ea"/>
                <a:cs typeface="+mn-cs"/>
              </a:rPr>
              <a:t>管理储备（</a:t>
            </a:r>
            <a:r>
              <a:rPr lang="en-US" altLang="zh-CN" sz="1200" kern="1200" dirty="0">
                <a:solidFill>
                  <a:schemeClr val="tx1"/>
                </a:solidFill>
                <a:latin typeface="+mn-lt"/>
                <a:ea typeface="+mn-ea"/>
                <a:cs typeface="+mn-cs"/>
              </a:rPr>
              <a:t>management reserves</a:t>
            </a:r>
            <a:r>
              <a:rPr lang="zh-CN" altLang="en-US" sz="1200" kern="1200" dirty="0">
                <a:solidFill>
                  <a:schemeClr val="tx1"/>
                </a:solidFill>
                <a:latin typeface="+mn-lt"/>
                <a:ea typeface="+mn-ea"/>
                <a:cs typeface="+mn-cs"/>
              </a:rPr>
              <a:t>）考虑的是不确定的未来情况（有时称为未知的未知，</a:t>
            </a:r>
            <a:r>
              <a:rPr lang="en-US" altLang="zh-CN" sz="1200" kern="1200" dirty="0">
                <a:solidFill>
                  <a:schemeClr val="tx1"/>
                </a:solidFill>
                <a:latin typeface="+mn-lt"/>
                <a:ea typeface="+mn-ea"/>
                <a:cs typeface="+mn-cs"/>
              </a:rPr>
              <a:t>unknown un-knowns</a:t>
            </a:r>
            <a:r>
              <a:rPr lang="zh-CN" altLang="en-US" sz="1200" kern="1200" dirty="0">
                <a:solidFill>
                  <a:schemeClr val="tx1"/>
                </a:solidFill>
                <a:latin typeface="+mn-lt"/>
                <a:ea typeface="+mn-ea"/>
                <a:cs typeface="+mn-cs"/>
              </a:rPr>
              <a:t>）。例如，如果一名项目经理病了两个星期，或者失去了一个重要的供应商，管理储备可以</a:t>
            </a:r>
            <a:r>
              <a:rPr lang="zh-CN" altLang="en-US" sz="1200" kern="1200" dirty="0">
                <a:solidFill>
                  <a:schemeClr val="tx1"/>
                </a:solidFill>
                <a:effectLst/>
                <a:latin typeface="+mn-lt"/>
                <a:ea typeface="+mn-ea"/>
                <a:cs typeface="+mn-cs"/>
              </a:rPr>
              <a:t>用来弥补这些问题发生所造成的损失。</a:t>
            </a:r>
            <a:endParaRPr lang="zh-CN" altLang="en-US" sz="1200" kern="1200" dirty="0">
              <a:solidFill>
                <a:schemeClr val="tx1"/>
              </a:solidFill>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71</a:t>
            </a:fld>
            <a:endParaRPr lang="zh-CN" altLang="en-US"/>
          </a:p>
        </p:txBody>
      </p:sp>
    </p:spTree>
    <p:extLst>
      <p:ext uri="{BB962C8B-B14F-4D97-AF65-F5344CB8AC3E}">
        <p14:creationId xmlns:p14="http://schemas.microsoft.com/office/powerpoint/2010/main" val="326935993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a:extLst>
              <a:ext uri="{FF2B5EF4-FFF2-40B4-BE49-F238E27FC236}">
                <a16:creationId xmlns:a16="http://schemas.microsoft.com/office/drawing/2014/main" id="{3CD0D2A8-5BA9-47F6-B643-2B96ABF75954}"/>
              </a:ext>
            </a:extLst>
          </p:cNvPr>
          <p:cNvSpPr>
            <a:spLocks noGrp="1" noRot="1" noChangeAspect="1" noTextEdit="1"/>
          </p:cNvSpPr>
          <p:nvPr>
            <p:ph type="sldImg"/>
          </p:nvPr>
        </p:nvSpPr>
        <p:spPr>
          <a:xfrm>
            <a:off x="481013" y="1279525"/>
            <a:ext cx="6142037" cy="3454400"/>
          </a:xfrm>
          <a:ln/>
        </p:spPr>
      </p:sp>
      <p:sp>
        <p:nvSpPr>
          <p:cNvPr id="46083" name="备注占位符 2">
            <a:extLst>
              <a:ext uri="{FF2B5EF4-FFF2-40B4-BE49-F238E27FC236}">
                <a16:creationId xmlns:a16="http://schemas.microsoft.com/office/drawing/2014/main" id="{0C720AE5-6431-4E79-9C0D-DA12F55EE0B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anose="020B0604020202020204" pitchFamily="34" charset="0"/>
              </a:rPr>
              <a:t>http://baike.baidu.com/view/26400.htm</a:t>
            </a:r>
            <a:endParaRPr lang="zh-CN" altLang="en-US">
              <a:latin typeface="Arial" panose="020B0604020202020204" pitchFamily="34" charset="0"/>
            </a:endParaRPr>
          </a:p>
        </p:txBody>
      </p:sp>
      <p:sp>
        <p:nvSpPr>
          <p:cNvPr id="46084" name="灯片编号占位符 3">
            <a:extLst>
              <a:ext uri="{FF2B5EF4-FFF2-40B4-BE49-F238E27FC236}">
                <a16:creationId xmlns:a16="http://schemas.microsoft.com/office/drawing/2014/main" id="{EFBFCCE1-4DF6-4BB6-A38F-CE7BD2FFFD3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fld id="{2EC5662F-7ED1-4CC6-AB7F-68D5E04156B2}" type="slidenum">
              <a:rPr lang="zh-CN" altLang="en-US" b="0"/>
              <a:pPr eaLnBrk="1" hangingPunct="1"/>
              <a:t>72</a:t>
            </a:fld>
            <a:endParaRPr lang="en-US" altLang="zh-CN" b="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这页意义不大</a:t>
            </a:r>
            <a:endParaRPr lang="en-US" altLang="zh-CN" dirty="0"/>
          </a:p>
          <a:p>
            <a:r>
              <a:rPr lang="en-US" altLang="zh-CN" dirty="0"/>
              <a:t>18000*2/5=7200</a:t>
            </a:r>
          </a:p>
          <a:p>
            <a:r>
              <a:rPr lang="en-US" altLang="zh-CN" dirty="0"/>
              <a:t>(18000-7200)*2/5=4320</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73</a:t>
            </a:fld>
            <a:endParaRPr lang="zh-CN" altLang="en-US"/>
          </a:p>
        </p:txBody>
      </p:sp>
    </p:spTree>
    <p:extLst>
      <p:ext uri="{BB962C8B-B14F-4D97-AF65-F5344CB8AC3E}">
        <p14:creationId xmlns:p14="http://schemas.microsoft.com/office/powerpoint/2010/main" val="371312836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项目管理中需要有如图示三方面的意识。成本意识也需要有进度意识和质量意识。</a:t>
            </a:r>
          </a:p>
          <a:p>
            <a:r>
              <a:rPr lang="zh-CN" altLang="en-US" dirty="0"/>
              <a:t>项目范围也影响进度、成本、质量</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74</a:t>
            </a:fld>
            <a:endParaRPr lang="zh-CN" altLang="en-US"/>
          </a:p>
        </p:txBody>
      </p:sp>
    </p:spTree>
    <p:extLst>
      <p:ext uri="{BB962C8B-B14F-4D97-AF65-F5344CB8AC3E}">
        <p14:creationId xmlns:p14="http://schemas.microsoft.com/office/powerpoint/2010/main" val="176253143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幻灯片图像占位符 1">
            <a:extLst>
              <a:ext uri="{FF2B5EF4-FFF2-40B4-BE49-F238E27FC236}">
                <a16:creationId xmlns:a16="http://schemas.microsoft.com/office/drawing/2014/main" id="{528D20C7-C661-4FF0-BB77-90B34D124AFC}"/>
              </a:ext>
            </a:extLst>
          </p:cNvPr>
          <p:cNvSpPr>
            <a:spLocks noGrp="1" noRot="1" noChangeAspect="1" noTextEdit="1"/>
          </p:cNvSpPr>
          <p:nvPr>
            <p:ph type="sldImg"/>
          </p:nvPr>
        </p:nvSpPr>
        <p:spPr bwMode="auto">
          <a:xfrm>
            <a:off x="481013" y="1279525"/>
            <a:ext cx="6142037"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0163" name="备注占位符 2">
            <a:extLst>
              <a:ext uri="{FF2B5EF4-FFF2-40B4-BE49-F238E27FC236}">
                <a16:creationId xmlns:a16="http://schemas.microsoft.com/office/drawing/2014/main" id="{DDB4F7E8-4A94-40E4-AEC6-F5F36F3C826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sz="1000" dirty="0"/>
              <a:t> IT</a:t>
            </a:r>
            <a:r>
              <a:rPr lang="zh-CN" altLang="en-US" sz="1000" dirty="0"/>
              <a:t>项目经常成本超支，但</a:t>
            </a:r>
            <a:r>
              <a:rPr lang="en-US" altLang="zh-CN" sz="1000" dirty="0"/>
              <a:t>IT</a:t>
            </a:r>
            <a:r>
              <a:rPr lang="zh-CN" altLang="en-US" sz="1000" dirty="0"/>
              <a:t>专业人员对此一笑置之。</a:t>
            </a:r>
            <a:r>
              <a:rPr lang="zh-CN" altLang="en-US" sz="1200" dirty="0">
                <a:latin typeface="Times New Roman" panose="02020603050405020304" pitchFamily="18" charset="0"/>
              </a:rPr>
              <a:t>他们知道，许多</a:t>
            </a:r>
            <a:r>
              <a:rPr lang="en-US" altLang="zh-CN" sz="1200" dirty="0">
                <a:latin typeface="Times New Roman" panose="02020603050405020304" pitchFamily="18" charset="0"/>
              </a:rPr>
              <a:t>IT</a:t>
            </a:r>
            <a:r>
              <a:rPr lang="zh-CN" altLang="en-US" sz="1200" dirty="0">
                <a:latin typeface="Times New Roman" panose="02020603050405020304" pitchFamily="18" charset="0"/>
              </a:rPr>
              <a:t>项目的初始成本估计是很低的，或者是基于不明确的项目需求，因此自然会产生成本超支问题。从一开始就不重视现实的项目成本估计的重要性仅是问题的一部分。</a:t>
            </a:r>
            <a:endParaRPr lang="en-US" altLang="zh-CN" sz="1200" dirty="0">
              <a:latin typeface="Times New Roman" panose="02020603050405020304" pitchFamily="18" charset="0"/>
            </a:endParaRPr>
          </a:p>
          <a:p>
            <a:r>
              <a:rPr lang="en-US" altLang="zh-CN" sz="1200" dirty="0">
                <a:latin typeface="Times New Roman" panose="02020603050405020304" pitchFamily="18" charset="0"/>
              </a:rPr>
              <a:t>   </a:t>
            </a:r>
            <a:r>
              <a:rPr lang="zh-CN" altLang="en-US" sz="1200" dirty="0">
                <a:latin typeface="Times New Roman" panose="02020603050405020304" pitchFamily="18" charset="0"/>
              </a:rPr>
              <a:t>另外，许多</a:t>
            </a:r>
            <a:r>
              <a:rPr lang="en-US" altLang="zh-CN" sz="1200" dirty="0">
                <a:latin typeface="Times New Roman" panose="02020603050405020304" pitchFamily="18" charset="0"/>
              </a:rPr>
              <a:t>IT</a:t>
            </a:r>
            <a:r>
              <a:rPr lang="zh-CN" altLang="en-US" sz="1200" dirty="0">
                <a:latin typeface="Times New Roman" panose="02020603050405020304" pitchFamily="18" charset="0"/>
              </a:rPr>
              <a:t>专家认为，进行成本估计是会计的工作。其实正相反，具备良好的成本估计是一个要求十分苛刻的、重要的技能，许多专业人士都需要掌握。</a:t>
            </a:r>
          </a:p>
          <a:p>
            <a:pPr algn="just"/>
            <a:r>
              <a:rPr lang="zh-CN" altLang="en-US" sz="1200" dirty="0">
                <a:latin typeface="Times New Roman" panose="02020603050405020304" pitchFamily="18" charset="0"/>
              </a:rPr>
              <a:t>   成本超支的另一个原因是许多</a:t>
            </a:r>
            <a:r>
              <a:rPr lang="en-US" altLang="zh-CN" sz="1200" dirty="0">
                <a:latin typeface="Times New Roman" panose="02020603050405020304" pitchFamily="18" charset="0"/>
              </a:rPr>
              <a:t>IT</a:t>
            </a:r>
            <a:r>
              <a:rPr lang="zh-CN" altLang="en-US" sz="1200" dirty="0">
                <a:latin typeface="Times New Roman" panose="02020603050405020304" pitchFamily="18" charset="0"/>
              </a:rPr>
              <a:t>项目涉及新技术和业务经营过程。任何新技术和业务经营过程都是未经过测试的、有潜在的风险。</a:t>
            </a:r>
            <a:endParaRPr lang="zh-CN" altLang="en-US" dirty="0"/>
          </a:p>
          <a:p>
            <a:pPr eaLnBrk="1" hangingPunct="1"/>
            <a:endParaRPr lang="zh-CN" altLang="en-US" dirty="0"/>
          </a:p>
        </p:txBody>
      </p:sp>
      <p:sp>
        <p:nvSpPr>
          <p:cNvPr id="220164" name="灯片编号占位符 3">
            <a:extLst>
              <a:ext uri="{FF2B5EF4-FFF2-40B4-BE49-F238E27FC236}">
                <a16:creationId xmlns:a16="http://schemas.microsoft.com/office/drawing/2014/main" id="{10713A2A-87C4-45BC-B206-BB33ADB6184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FE5CCBB-EF13-459C-A16B-8B870EE3713C}" type="slidenum">
              <a:rPr lang="zh-CN" altLang="en-US" smtClean="0"/>
              <a:pPr/>
              <a:t>75</a:t>
            </a:fld>
            <a:endParaRPr lang="zh-CN" altLang="en-US"/>
          </a:p>
        </p:txBody>
      </p:sp>
    </p:spTree>
    <p:extLst>
      <p:ext uri="{BB962C8B-B14F-4D97-AF65-F5344CB8AC3E}">
        <p14:creationId xmlns:p14="http://schemas.microsoft.com/office/powerpoint/2010/main" val="178698890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76</a:t>
            </a:fld>
            <a:endParaRPr lang="zh-CN" altLang="en-US"/>
          </a:p>
        </p:txBody>
      </p:sp>
    </p:spTree>
    <p:extLst>
      <p:ext uri="{BB962C8B-B14F-4D97-AF65-F5344CB8AC3E}">
        <p14:creationId xmlns:p14="http://schemas.microsoft.com/office/powerpoint/2010/main" val="138218605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77</a:t>
            </a:fld>
            <a:endParaRPr lang="zh-CN" altLang="en-US"/>
          </a:p>
        </p:txBody>
      </p:sp>
    </p:spTree>
    <p:extLst>
      <p:ext uri="{BB962C8B-B14F-4D97-AF65-F5344CB8AC3E}">
        <p14:creationId xmlns:p14="http://schemas.microsoft.com/office/powerpoint/2010/main" val="217917836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a:extLst>
              <a:ext uri="{FF2B5EF4-FFF2-40B4-BE49-F238E27FC236}">
                <a16:creationId xmlns:a16="http://schemas.microsoft.com/office/drawing/2014/main" id="{50A96C0C-1DE8-4459-ACA7-BED95773FD24}"/>
              </a:ext>
            </a:extLst>
          </p:cNvPr>
          <p:cNvSpPr>
            <a:spLocks noGrp="1" noRot="1" noChangeAspect="1" noTextEdit="1"/>
          </p:cNvSpPr>
          <p:nvPr>
            <p:ph type="sldImg"/>
          </p:nvPr>
        </p:nvSpPr>
        <p:spPr>
          <a:xfrm>
            <a:off x="481013" y="1279525"/>
            <a:ext cx="6142037" cy="3454400"/>
          </a:xfrm>
          <a:ln/>
        </p:spPr>
      </p:sp>
      <p:sp>
        <p:nvSpPr>
          <p:cNvPr id="3" name="备注占位符 2">
            <a:extLst>
              <a:ext uri="{FF2B5EF4-FFF2-40B4-BE49-F238E27FC236}">
                <a16:creationId xmlns:a16="http://schemas.microsoft.com/office/drawing/2014/main" id="{9938002F-7A3E-46F2-B94E-65C002091B08}"/>
              </a:ext>
            </a:extLst>
          </p:cNvPr>
          <p:cNvSpPr>
            <a:spLocks noGrp="1"/>
          </p:cNvSpPr>
          <p:nvPr>
            <p:ph type="body" idx="1"/>
          </p:nvPr>
        </p:nvSpPr>
        <p:spPr/>
        <p:txBody>
          <a:bodyPr>
            <a:normAutofit/>
          </a:bodyPr>
          <a:lstStyle/>
          <a:p>
            <a:pPr marL="0" indent="0" defTabSz="401638">
              <a:buClr>
                <a:srgbClr val="100000"/>
              </a:buClr>
              <a:buSzPct val="90000"/>
              <a:buFont typeface="Monotype Sorts" pitchFamily="2" charset="2"/>
              <a:buNone/>
              <a:defRPr/>
            </a:pPr>
            <a:r>
              <a:rPr lang="zh-CN" altLang="en-GB" b="1" dirty="0">
                <a:latin typeface="Univers (W1)" charset="0"/>
              </a:rPr>
              <a:t>价值链分析</a:t>
            </a:r>
            <a:r>
              <a:rPr lang="zh-CN" altLang="en-US" dirty="0">
                <a:latin typeface="Univers (W1)" charset="0"/>
              </a:rPr>
              <a:t> －</a:t>
            </a:r>
            <a:r>
              <a:rPr lang="en-US" dirty="0">
                <a:latin typeface="Univers (W1)" charset="0"/>
                <a:ea typeface="华文中宋" pitchFamily="2" charset="-122"/>
              </a:rPr>
              <a:t> </a:t>
            </a:r>
            <a:r>
              <a:rPr lang="zh-CN" altLang="en-US" dirty="0">
                <a:latin typeface="Univers (W1)" charset="0"/>
              </a:rPr>
              <a:t>为了了解成本的特性和导致差异的根源，将价值链从原材料到最终客户分解为与战略相关联的各种经营活动的方法。</a:t>
            </a:r>
          </a:p>
          <a:p>
            <a:pPr marL="0" indent="0" defTabSz="401638">
              <a:buClr>
                <a:srgbClr val="100000"/>
              </a:buClr>
              <a:buSzPct val="90000"/>
              <a:buFont typeface="Monotype Sorts" pitchFamily="2" charset="2"/>
              <a:buNone/>
              <a:defRPr/>
            </a:pPr>
            <a:r>
              <a:rPr lang="zh-CN" altLang="en-GB" b="1" dirty="0">
                <a:latin typeface="Univers (W1)" charset="0"/>
              </a:rPr>
              <a:t>目标成本</a:t>
            </a:r>
            <a:r>
              <a:rPr lang="zh-CN" altLang="en-US" dirty="0">
                <a:latin typeface="Univers (W1)" charset="0"/>
              </a:rPr>
              <a:t> － 在设计和开发新产品</a:t>
            </a:r>
            <a:r>
              <a:rPr lang="en-US" altLang="zh-CN" dirty="0">
                <a:latin typeface="Univers (W1)" charset="0"/>
              </a:rPr>
              <a:t>/</a:t>
            </a:r>
            <a:r>
              <a:rPr lang="zh-CN" altLang="en-US" dirty="0">
                <a:latin typeface="Univers (W1)" charset="0"/>
              </a:rPr>
              <a:t>服务首先要采用的流程。目的是保证产品和服务在成本上的竞争力，在其生命周期中达到预期的利润。该方法有时也指现有产品和服务的成本降低目标。</a:t>
            </a:r>
          </a:p>
          <a:p>
            <a:pPr marL="0" indent="0" defTabSz="401638">
              <a:buClr>
                <a:srgbClr val="100000"/>
              </a:buClr>
              <a:buSzPct val="90000"/>
              <a:buFont typeface="Monotype Sorts" pitchFamily="2" charset="2"/>
              <a:buNone/>
              <a:defRPr/>
            </a:pPr>
            <a:r>
              <a:rPr lang="zh-CN" altLang="en-GB" b="1" dirty="0">
                <a:latin typeface="Univers (W1)" charset="0"/>
              </a:rPr>
              <a:t>产品周期成本</a:t>
            </a:r>
            <a:r>
              <a:rPr lang="en-US" b="1" dirty="0">
                <a:latin typeface="Univers (W1)" charset="0"/>
                <a:ea typeface="华文中宋" pitchFamily="2" charset="-122"/>
              </a:rPr>
              <a:t> </a:t>
            </a:r>
            <a:r>
              <a:rPr lang="zh-CN" altLang="en-US" b="1" dirty="0">
                <a:latin typeface="Univers (W1)" charset="0"/>
              </a:rPr>
              <a:t>－ </a:t>
            </a:r>
            <a:r>
              <a:rPr lang="zh-CN" altLang="en-US" dirty="0">
                <a:latin typeface="Univers (W1)" charset="0"/>
              </a:rPr>
              <a:t>确定一项产品、品牌或服务从新产品开发到退出市场的整个期间的总成本和盈利能力。</a:t>
            </a:r>
          </a:p>
          <a:p>
            <a:pPr marL="0" indent="0" defTabSz="401638">
              <a:buClr>
                <a:srgbClr val="100000"/>
              </a:buClr>
              <a:buSzPct val="90000"/>
              <a:buFont typeface="Monotype Sorts" pitchFamily="2" charset="2"/>
              <a:buNone/>
              <a:defRPr/>
            </a:pPr>
            <a:r>
              <a:rPr lang="zh-CN" altLang="en-GB" b="1" dirty="0">
                <a:latin typeface="Univers (W1)" charset="0"/>
              </a:rPr>
              <a:t>成本动因分析</a:t>
            </a:r>
            <a:r>
              <a:rPr lang="en-US" b="1" dirty="0">
                <a:latin typeface="Univers (W1)" charset="0"/>
                <a:ea typeface="华文中宋" pitchFamily="2" charset="-122"/>
              </a:rPr>
              <a:t> </a:t>
            </a:r>
            <a:r>
              <a:rPr lang="zh-CN" altLang="en-US" b="1" dirty="0">
                <a:latin typeface="Univers (W1)" charset="0"/>
              </a:rPr>
              <a:t>－ </a:t>
            </a:r>
            <a:r>
              <a:rPr lang="zh-CN" altLang="en-US" dirty="0">
                <a:latin typeface="Univers (W1)" charset="0"/>
              </a:rPr>
              <a:t>确定影响作业成本的因素并将进行排序的系统方法。该方法可以变化运用于各种层面的成本管理中。</a:t>
            </a:r>
          </a:p>
          <a:p>
            <a:pPr marL="0" indent="0" defTabSz="401638">
              <a:buClr>
                <a:srgbClr val="100000"/>
              </a:buClr>
              <a:buSzPct val="90000"/>
              <a:buFont typeface="Monotype Sorts" pitchFamily="2" charset="2"/>
              <a:buNone/>
              <a:defRPr/>
            </a:pPr>
            <a:r>
              <a:rPr lang="zh-CN" altLang="en-GB" b="1" dirty="0">
                <a:latin typeface="Univers (W1)" charset="0"/>
              </a:rPr>
              <a:t>成本复杂性</a:t>
            </a:r>
            <a:r>
              <a:rPr lang="zh-CN" altLang="en-US" dirty="0">
                <a:latin typeface="Univers (W1)" charset="0"/>
              </a:rPr>
              <a:t> － 一组随着公司的产品和客户的设计、组合和范围的改变而变化的作业成本</a:t>
            </a:r>
            <a:br>
              <a:rPr lang="zh-CN" altLang="en-GB" dirty="0">
                <a:latin typeface="Univers (W1)" charset="0"/>
                <a:ea typeface="华文中宋" pitchFamily="2" charset="-122"/>
              </a:rPr>
            </a:br>
            <a:r>
              <a:rPr lang="zh-CN" altLang="en-GB" b="1" dirty="0">
                <a:latin typeface="Univers (W1)" charset="0"/>
              </a:rPr>
              <a:t>对象成本</a:t>
            </a:r>
            <a:r>
              <a:rPr lang="zh-CN" altLang="en-US" b="1" dirty="0">
                <a:latin typeface="Univers (W1)" charset="0"/>
              </a:rPr>
              <a:t> </a:t>
            </a:r>
            <a:r>
              <a:rPr lang="zh-CN" altLang="en-US" dirty="0">
                <a:latin typeface="Univers (W1)" charset="0"/>
              </a:rPr>
              <a:t>－ 根据作业清单（或流程清单）计算各“成本对象”（如品牌、产品、客户）的技术</a:t>
            </a:r>
          </a:p>
          <a:p>
            <a:pPr>
              <a:defRPr/>
            </a:pPr>
            <a:endParaRPr lang="zh-CN" altLang="en-US" dirty="0"/>
          </a:p>
        </p:txBody>
      </p:sp>
      <p:sp>
        <p:nvSpPr>
          <p:cNvPr id="45060" name="灯片编号占位符 3">
            <a:extLst>
              <a:ext uri="{FF2B5EF4-FFF2-40B4-BE49-F238E27FC236}">
                <a16:creationId xmlns:a16="http://schemas.microsoft.com/office/drawing/2014/main" id="{CDABDE41-0852-4D68-B809-1A3B0C38B27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fld id="{7AD0FFCD-CCDB-4F61-9BA8-E31140E0DB84}" type="slidenum">
              <a:rPr lang="zh-CN" altLang="en-US" b="0"/>
              <a:pPr eaLnBrk="1" hangingPunct="1"/>
              <a:t>78</a:t>
            </a:fld>
            <a:endParaRPr lang="en-US" altLang="zh-CN" b="0"/>
          </a:p>
        </p:txBody>
      </p:sp>
    </p:spTree>
    <p:extLst>
      <p:ext uri="{BB962C8B-B14F-4D97-AF65-F5344CB8AC3E}">
        <p14:creationId xmlns:p14="http://schemas.microsoft.com/office/powerpoint/2010/main" val="371356306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幻灯片图像占位符 1">
            <a:extLst>
              <a:ext uri="{FF2B5EF4-FFF2-40B4-BE49-F238E27FC236}">
                <a16:creationId xmlns:a16="http://schemas.microsoft.com/office/drawing/2014/main" id="{917E9823-1C7A-4E8C-A741-0DCA0FB917EA}"/>
              </a:ext>
            </a:extLst>
          </p:cNvPr>
          <p:cNvSpPr>
            <a:spLocks noGrp="1" noRot="1" noChangeAspect="1" noTextEdit="1"/>
          </p:cNvSpPr>
          <p:nvPr>
            <p:ph type="sldImg"/>
          </p:nvPr>
        </p:nvSpPr>
        <p:spPr bwMode="auto">
          <a:xfrm>
            <a:off x="481013" y="1279525"/>
            <a:ext cx="6142037"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2211" name="备注占位符 2">
            <a:extLst>
              <a:ext uri="{FF2B5EF4-FFF2-40B4-BE49-F238E27FC236}">
                <a16:creationId xmlns:a16="http://schemas.microsoft.com/office/drawing/2014/main" id="{07BC5DDD-D2F9-431C-9933-1449E361F73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r>
              <a:rPr lang="zh-CN" altLang="en-US" b="0" i="0" dirty="0">
                <a:solidFill>
                  <a:srgbClr val="121212"/>
                </a:solidFill>
                <a:effectLst/>
                <a:latin typeface="-apple-system"/>
              </a:rPr>
              <a:t>项目成本管理的第一步是筹划在整个项目生命周期中如何管理成本，项目管理团队使用专家评判，技术性分析和会议来制定成本管理计划。</a:t>
            </a:r>
            <a:endParaRPr lang="en-US" altLang="zh-CN" b="0" i="0" dirty="0">
              <a:solidFill>
                <a:srgbClr val="121212"/>
              </a:solidFill>
              <a:effectLst/>
              <a:latin typeface="-apple-system"/>
            </a:endParaRPr>
          </a:p>
          <a:p>
            <a:pPr algn="l"/>
            <a:r>
              <a:rPr lang="zh-CN" altLang="en-US" b="0" i="0" u="none" strike="noStrike" baseline="0" dirty="0">
                <a:latin typeface="SourceHanSansSC-Regular"/>
              </a:rPr>
              <a:t>应该在项目规划阶段的早期就对成本管理工作进行规划，建立各成本管理过程的基本框架，以确保各过程的有效性及各过程之间的协调性。</a:t>
            </a:r>
            <a:endParaRPr lang="en-US" altLang="zh-CN" b="0" i="0" dirty="0">
              <a:solidFill>
                <a:srgbClr val="121212"/>
              </a:solidFill>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1" i="0" u="none" strike="noStrike" baseline="0" dirty="0">
              <a:latin typeface="SourceHanSansSC-Medium"/>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i="0" u="none" strike="noStrike" baseline="0" dirty="0">
                <a:latin typeface="SourceHanSansSC-Medium"/>
              </a:rPr>
              <a:t>规划成本管理的依据</a:t>
            </a:r>
            <a:r>
              <a:rPr lang="zh-CN" altLang="en-US" sz="1200" b="0" i="0" u="none" strike="noStrike" baseline="0" dirty="0">
                <a:latin typeface="SourceHanSansSC-Medium"/>
              </a:rPr>
              <a:t>，是项目与组织的与成本相关的各个方面，如，</a:t>
            </a:r>
            <a:r>
              <a:rPr lang="zh-CN" altLang="en-US" sz="1200" b="0" i="0" u="none" strike="noStrike" baseline="0" dirty="0">
                <a:latin typeface="SourceHanSansSC-Regular"/>
              </a:rPr>
              <a:t>项目章程规定的预先批准了的财务资源及项目审批要求；项目项目管理计划中，</a:t>
            </a:r>
            <a:r>
              <a:rPr lang="zh-CN" altLang="en-US" sz="1200" b="0" i="0" u="none" strike="noStrike" kern="1200" baseline="0" dirty="0">
                <a:solidFill>
                  <a:schemeClr val="tx1"/>
                </a:solidFill>
                <a:latin typeface="SourceHanSansSC-Regular"/>
                <a:ea typeface="+mn-ea"/>
                <a:cs typeface="+mn-cs"/>
              </a:rPr>
              <a:t>进度管理计划中的活动安排也影响了资源的投入和要求，风险管理计划中的风险也与资源和成本有关；另外的组织环境因素，如组织文化、市场条件、财务状况，甚至货币汇率等，与资金、资源相关的各方面的因素。</a:t>
            </a:r>
            <a:endParaRPr lang="en-US" altLang="zh-CN" sz="1200" b="0" i="0" u="none" strike="noStrike" kern="1200" baseline="0" dirty="0">
              <a:solidFill>
                <a:schemeClr val="tx1"/>
              </a:solidFill>
              <a:latin typeface="SourceHanSansSC-Regular"/>
              <a:ea typeface="+mn-ea"/>
              <a:cs typeface="+mn-cs"/>
            </a:endParaRPr>
          </a:p>
          <a:p>
            <a:pPr algn="l"/>
            <a:endParaRPr lang="en-US" altLang="zh-CN" sz="1200" b="0" i="0" u="none" strike="noStrike" kern="1200" baseline="0" dirty="0">
              <a:solidFill>
                <a:schemeClr val="tx1"/>
              </a:solidFill>
              <a:latin typeface="SourceHanSansSC-Regular"/>
              <a:ea typeface="+mn-ea"/>
              <a:cs typeface="+mn-cs"/>
            </a:endParaRPr>
          </a:p>
          <a:p>
            <a:pPr algn="l"/>
            <a:r>
              <a:rPr lang="zh-CN" altLang="en-US" sz="1200" b="1" i="0" u="none" strike="noStrike" kern="1200" baseline="0" dirty="0">
                <a:solidFill>
                  <a:schemeClr val="tx1"/>
                </a:solidFill>
                <a:latin typeface="SourceHanSansSC-Regular"/>
                <a:ea typeface="+mn-ea"/>
                <a:cs typeface="+mn-cs"/>
              </a:rPr>
              <a:t>规划成本管理的方法</a:t>
            </a:r>
            <a:r>
              <a:rPr lang="zh-CN" altLang="en-US" sz="1200" b="0" i="0" u="none" strike="noStrike" kern="1200" baseline="0" dirty="0">
                <a:solidFill>
                  <a:schemeClr val="tx1"/>
                </a:solidFill>
                <a:latin typeface="SourceHanSansSC-Regular"/>
                <a:ea typeface="+mn-ea"/>
                <a:cs typeface="+mn-cs"/>
              </a:rPr>
              <a:t>，包括有相关知识和经验的专家判断，如基于</a:t>
            </a:r>
            <a:r>
              <a:rPr lang="zh-CN" altLang="en-US" sz="1200" b="0" i="0" u="none" strike="noStrike" baseline="0" dirty="0">
                <a:latin typeface="SourceHanSansSC-Regular"/>
              </a:rPr>
              <a:t>以往类似项目，行业、学科和应用领域的信息，成本估算和预算，挣值管理等；另外还有包括</a:t>
            </a:r>
            <a:r>
              <a:rPr lang="zh-CN" altLang="en-US" sz="1200" b="0" i="0" u="none" strike="noStrike" baseline="0" dirty="0">
                <a:latin typeface="SourceHanSansSC-Medium"/>
              </a:rPr>
              <a:t>数据分析、</a:t>
            </a:r>
            <a:r>
              <a:rPr lang="zh-CN" altLang="en-US" sz="1200" b="0" i="0" u="none" strike="noStrike" baseline="0" dirty="0">
                <a:latin typeface="SourceHanSansSC-Regular"/>
              </a:rPr>
              <a:t>备选方案分析，成本规划讨论会等。</a:t>
            </a:r>
            <a:endParaRPr lang="en-US" altLang="zh-CN" sz="1200" b="0" i="0" u="none" strike="noStrike" kern="1200" baseline="0" dirty="0">
              <a:solidFill>
                <a:schemeClr val="tx1"/>
              </a:solidFill>
              <a:latin typeface="SourceHanSansSC-Regular"/>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其它</a:t>
            </a:r>
            <a:r>
              <a:rPr lang="zh-CN" altLang="zh-CN" sz="1200" dirty="0"/>
              <a:t>：分析选择项目筹资的战略方法，如自筹资金、股权投资、借贷投资。说明筹集项目资源的方法，如自制、采购、租用或租赁。财务结</a:t>
            </a:r>
            <a:r>
              <a:rPr lang="zh-CN" altLang="en-US" sz="1200" dirty="0"/>
              <a:t>算</a:t>
            </a:r>
            <a:r>
              <a:rPr lang="zh-CN" altLang="zh-CN" sz="1200" dirty="0"/>
              <a:t>进行决策，如回收期、投资回报率、内部报酬率、现金流贴现和净现值。</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u="none" strike="noStrike" baseline="0" dirty="0">
                <a:latin typeface="SourceHanSansSC-Regular"/>
              </a:rPr>
              <a:t>应该在项目规划阶段的早期就对成本管理工作进行规划，建立各成本管理过程的基本框架，以确保各过程的有效性及各过程之间的协调性。</a:t>
            </a:r>
            <a:endParaRPr lang="en-US" altLang="zh-CN" sz="1200" b="0" i="0" u="none" strike="noStrike" baseline="0" dirty="0">
              <a:latin typeface="SourceHanSansSC-Regular"/>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200" dirty="0"/>
          </a:p>
          <a:p>
            <a:pPr algn="l"/>
            <a:endParaRPr lang="zh-CN" altLang="en-US" b="0" i="0" dirty="0">
              <a:solidFill>
                <a:srgbClr val="121212"/>
              </a:solidFill>
              <a:effectLst/>
              <a:latin typeface="-apple-system"/>
            </a:endParaRPr>
          </a:p>
          <a:p>
            <a:pPr algn="l"/>
            <a:endParaRPr lang="en-US" altLang="zh-CN" b="0" i="0" dirty="0">
              <a:solidFill>
                <a:srgbClr val="121212"/>
              </a:solidFill>
              <a:effectLst/>
              <a:latin typeface="-apple-system"/>
            </a:endParaRPr>
          </a:p>
          <a:p>
            <a:endParaRPr lang="zh-CN" altLang="en-US" dirty="0"/>
          </a:p>
        </p:txBody>
      </p:sp>
      <p:sp>
        <p:nvSpPr>
          <p:cNvPr id="222212" name="灯片编号占位符 3">
            <a:extLst>
              <a:ext uri="{FF2B5EF4-FFF2-40B4-BE49-F238E27FC236}">
                <a16:creationId xmlns:a16="http://schemas.microsoft.com/office/drawing/2014/main" id="{EB8FE110-5506-4880-B084-3AEBF26774F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A7C8FAC-4811-46A6-A8E3-2D91A7676284}" type="slidenum">
              <a:rPr lang="zh-CN" altLang="en-US" smtClean="0"/>
              <a:pPr/>
              <a:t>79</a:t>
            </a:fld>
            <a:endParaRPr lang="zh-CN" altLang="en-US"/>
          </a:p>
        </p:txBody>
      </p:sp>
    </p:spTree>
    <p:extLst>
      <p:ext uri="{BB962C8B-B14F-4D97-AF65-F5344CB8AC3E}">
        <p14:creationId xmlns:p14="http://schemas.microsoft.com/office/powerpoint/2010/main" val="203256651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幻灯片图像占位符 1">
            <a:extLst>
              <a:ext uri="{FF2B5EF4-FFF2-40B4-BE49-F238E27FC236}">
                <a16:creationId xmlns:a16="http://schemas.microsoft.com/office/drawing/2014/main" id="{917E9823-1C7A-4E8C-A741-0DCA0FB917EA}"/>
              </a:ext>
            </a:extLst>
          </p:cNvPr>
          <p:cNvSpPr>
            <a:spLocks noGrp="1" noRot="1" noChangeAspect="1" noTextEdit="1"/>
          </p:cNvSpPr>
          <p:nvPr>
            <p:ph type="sldImg"/>
          </p:nvPr>
        </p:nvSpPr>
        <p:spPr bwMode="auto">
          <a:xfrm>
            <a:off x="481013" y="1279525"/>
            <a:ext cx="6142037"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2211" name="备注占位符 2">
            <a:extLst>
              <a:ext uri="{FF2B5EF4-FFF2-40B4-BE49-F238E27FC236}">
                <a16:creationId xmlns:a16="http://schemas.microsoft.com/office/drawing/2014/main" id="{07BC5DDD-D2F9-431C-9933-1449E361F73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121212"/>
                </a:solidFill>
                <a:effectLst/>
                <a:latin typeface="-apple-system"/>
              </a:rPr>
              <a:t>成本管理计划包括：计量单位，精确度，准确度，组织程序链接等</a:t>
            </a:r>
            <a:endParaRPr lang="zh-CN" altLang="en-US" dirty="0"/>
          </a:p>
        </p:txBody>
      </p:sp>
      <p:sp>
        <p:nvSpPr>
          <p:cNvPr id="222212" name="灯片编号占位符 3">
            <a:extLst>
              <a:ext uri="{FF2B5EF4-FFF2-40B4-BE49-F238E27FC236}">
                <a16:creationId xmlns:a16="http://schemas.microsoft.com/office/drawing/2014/main" id="{EB8FE110-5506-4880-B084-3AEBF26774F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A7C8FAC-4811-46A6-A8E3-2D91A7676284}" type="slidenum">
              <a:rPr lang="zh-CN" altLang="en-US" smtClean="0"/>
              <a:pPr/>
              <a:t>80</a:t>
            </a:fld>
            <a:endParaRPr lang="zh-CN" altLang="en-US"/>
          </a:p>
        </p:txBody>
      </p:sp>
    </p:spTree>
    <p:extLst>
      <p:ext uri="{BB962C8B-B14F-4D97-AF65-F5344CB8AC3E}">
        <p14:creationId xmlns:p14="http://schemas.microsoft.com/office/powerpoint/2010/main" val="198023826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幻灯片图像占位符 1">
            <a:extLst>
              <a:ext uri="{FF2B5EF4-FFF2-40B4-BE49-F238E27FC236}">
                <a16:creationId xmlns:a16="http://schemas.microsoft.com/office/drawing/2014/main" id="{917E9823-1C7A-4E8C-A741-0DCA0FB917EA}"/>
              </a:ext>
            </a:extLst>
          </p:cNvPr>
          <p:cNvSpPr>
            <a:spLocks noGrp="1" noRot="1" noChangeAspect="1" noTextEdit="1"/>
          </p:cNvSpPr>
          <p:nvPr>
            <p:ph type="sldImg"/>
          </p:nvPr>
        </p:nvSpPr>
        <p:spPr bwMode="auto">
          <a:xfrm>
            <a:off x="481013" y="1279525"/>
            <a:ext cx="6142037"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2211" name="备注占位符 2">
            <a:extLst>
              <a:ext uri="{FF2B5EF4-FFF2-40B4-BE49-F238E27FC236}">
                <a16:creationId xmlns:a16="http://schemas.microsoft.com/office/drawing/2014/main" id="{07BC5DDD-D2F9-431C-9933-1449E361F73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121212"/>
                </a:solidFill>
                <a:effectLst/>
                <a:latin typeface="-apple-system"/>
              </a:rPr>
              <a:t>成本管理计划还包括：</a:t>
            </a:r>
            <a:r>
              <a:rPr lang="zh-CN" altLang="en-US" b="1" i="0" u="none" strike="noStrike" baseline="0" dirty="0">
                <a:latin typeface="微软雅黑" panose="020B0503020204020204" pitchFamily="34" charset="-122"/>
              </a:rPr>
              <a:t>临界值</a:t>
            </a:r>
            <a:r>
              <a:rPr lang="zh-CN" altLang="en-US" b="0" i="0" dirty="0">
                <a:solidFill>
                  <a:srgbClr val="121212"/>
                </a:solidFill>
                <a:effectLst/>
                <a:latin typeface="-apple-system"/>
              </a:rPr>
              <a:t>控制，绩效考核规则，报告格式等</a:t>
            </a:r>
            <a:endParaRPr lang="zh-CN" altLang="en-US" dirty="0"/>
          </a:p>
        </p:txBody>
      </p:sp>
      <p:sp>
        <p:nvSpPr>
          <p:cNvPr id="222212" name="灯片编号占位符 3">
            <a:extLst>
              <a:ext uri="{FF2B5EF4-FFF2-40B4-BE49-F238E27FC236}">
                <a16:creationId xmlns:a16="http://schemas.microsoft.com/office/drawing/2014/main" id="{EB8FE110-5506-4880-B084-3AEBF26774F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A7C8FAC-4811-46A6-A8E3-2D91A7676284}" type="slidenum">
              <a:rPr lang="zh-CN" altLang="en-US" smtClean="0"/>
              <a:pPr/>
              <a:t>81</a:t>
            </a:fld>
            <a:endParaRPr lang="zh-CN" altLang="en-US"/>
          </a:p>
        </p:txBody>
      </p:sp>
    </p:spTree>
    <p:extLst>
      <p:ext uri="{BB962C8B-B14F-4D97-AF65-F5344CB8AC3E}">
        <p14:creationId xmlns:p14="http://schemas.microsoft.com/office/powerpoint/2010/main" val="317615533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幻灯片图像占位符 1">
            <a:extLst>
              <a:ext uri="{FF2B5EF4-FFF2-40B4-BE49-F238E27FC236}">
                <a16:creationId xmlns:a16="http://schemas.microsoft.com/office/drawing/2014/main" id="{EF18342D-8946-45C7-9BD9-711556FE22ED}"/>
              </a:ext>
            </a:extLst>
          </p:cNvPr>
          <p:cNvSpPr>
            <a:spLocks noGrp="1" noRot="1" noChangeAspect="1" noChangeArrowheads="1" noTextEdit="1"/>
          </p:cNvSpPr>
          <p:nvPr>
            <p:ph type="sldImg"/>
          </p:nvPr>
        </p:nvSpPr>
        <p:spPr bwMode="auto">
          <a:xfrm>
            <a:off x="481013" y="1279525"/>
            <a:ext cx="6142037"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4259" name="备注占位符 2">
            <a:extLst>
              <a:ext uri="{FF2B5EF4-FFF2-40B4-BE49-F238E27FC236}">
                <a16:creationId xmlns:a16="http://schemas.microsoft.com/office/drawing/2014/main" id="{B0487543-8069-4F19-96BC-13B39C4186F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dirty="0">
                <a:latin typeface="Times New Roman" pitchFamily="18" charset="0"/>
                <a:ea typeface="黑体" pitchFamily="2" charset="-122"/>
                <a:cs typeface="Times New Roman" pitchFamily="18" charset="0"/>
              </a:rPr>
              <a:t>项目成本估算是指为实现项目目标，根据项目资源需求计划以及各种资源的价格信息，对完成项目所需成本进行的估计。</a:t>
            </a:r>
            <a:endParaRPr lang="en-US" altLang="zh-CN" dirty="0">
              <a:latin typeface="Times New Roman" pitchFamily="18" charset="0"/>
              <a:ea typeface="黑体" pitchFamily="2" charset="-122"/>
              <a:cs typeface="Times New Roman" pitchFamily="18" charset="0"/>
            </a:endParaRPr>
          </a:p>
          <a:p>
            <a:r>
              <a:rPr lang="zh-CN" altLang="zh-CN" dirty="0"/>
              <a:t>成本估算：在特定的时点，根据已知信息做出的成本预测。估算是，需要识别和分析可用于启动和完成项目的备选成本方案；需要权衡备选成本方案并考虑风险（比较自制或外购，购买和租赁及多种资源共享方案）。</a:t>
            </a:r>
          </a:p>
          <a:p>
            <a:r>
              <a:rPr lang="en-US" altLang="zh-CN" dirty="0"/>
              <a:t> </a:t>
            </a:r>
            <a:endParaRPr lang="zh-CN" altLang="zh-CN" dirty="0"/>
          </a:p>
          <a:p>
            <a:r>
              <a:rPr lang="zh-CN" altLang="zh-CN" dirty="0"/>
              <a:t>可以用货币，人天等进行估算。</a:t>
            </a:r>
          </a:p>
          <a:p>
            <a:r>
              <a:rPr lang="en-US" altLang="zh-CN" dirty="0"/>
              <a:t> </a:t>
            </a:r>
            <a:endParaRPr lang="zh-CN" altLang="zh-CN" dirty="0"/>
          </a:p>
          <a:p>
            <a:r>
              <a:rPr lang="zh-CN" altLang="zh-CN" dirty="0"/>
              <a:t>随着更详细的信息呈现和假设条件的验证，对成本估算进行审查和优化。</a:t>
            </a:r>
          </a:p>
          <a:p>
            <a:r>
              <a:rPr lang="zh-CN" altLang="zh-CN" dirty="0"/>
              <a:t>粗略级估算：</a:t>
            </a:r>
            <a:r>
              <a:rPr lang="en-US" altLang="zh-CN" dirty="0"/>
              <a:t>-25%</a:t>
            </a:r>
            <a:r>
              <a:rPr lang="zh-CN" altLang="zh-CN" dirty="0"/>
              <a:t>到</a:t>
            </a:r>
            <a:r>
              <a:rPr lang="en-US" altLang="zh-CN" dirty="0"/>
              <a:t>+75%</a:t>
            </a:r>
            <a:endParaRPr lang="zh-CN" altLang="zh-CN" dirty="0"/>
          </a:p>
          <a:p>
            <a:r>
              <a:rPr lang="zh-CN" altLang="zh-CN" dirty="0"/>
              <a:t>确定性估算：</a:t>
            </a:r>
            <a:r>
              <a:rPr lang="en-US" altLang="zh-CN" dirty="0"/>
              <a:t>-5%</a:t>
            </a:r>
            <a:r>
              <a:rPr lang="zh-CN" altLang="zh-CN" dirty="0"/>
              <a:t>到</a:t>
            </a:r>
            <a:r>
              <a:rPr lang="en-US" altLang="zh-CN" dirty="0"/>
              <a:t>+10%</a:t>
            </a:r>
            <a:endParaRPr lang="zh-CN" altLang="zh-CN" dirty="0"/>
          </a:p>
          <a:p>
            <a:r>
              <a:rPr lang="en-US" altLang="zh-CN" dirty="0"/>
              <a:t> </a:t>
            </a:r>
          </a:p>
          <a:p>
            <a:pPr algn="l"/>
            <a:r>
              <a:rPr lang="zh-CN" altLang="en-US" sz="1800" b="0" i="0" u="none" strike="noStrike" baseline="0" dirty="0">
                <a:latin typeface="SourceHanSansSC-Regular"/>
              </a:rPr>
              <a:t>进行成本估算，应该考虑将向项目收费的全部资源，包括（但不限于）人工、材料、设备、服务、设施，以及一些特殊的成本种类，如通货膨胀补贴、融资成本或应急成本。成本估算可在活动层级呈现，也可以汇总形式呈现。</a:t>
            </a:r>
            <a:endParaRPr lang="en-US" altLang="zh-CN" sz="1800" b="0" i="0" u="none" strike="noStrike" baseline="0" dirty="0">
              <a:latin typeface="SourceHanSansSC-Regular"/>
            </a:endParaRPr>
          </a:p>
          <a:p>
            <a:pPr algn="l"/>
            <a:endParaRPr lang="zh-CN" altLang="zh-CN" dirty="0"/>
          </a:p>
          <a:p>
            <a:r>
              <a:rPr lang="zh-CN" altLang="zh-CN" dirty="0"/>
              <a:t>重点输入</a:t>
            </a:r>
            <a:endParaRPr lang="en-US" altLang="zh-CN" dirty="0"/>
          </a:p>
          <a:p>
            <a:r>
              <a:rPr lang="zh-CN" altLang="en-US" i="1" dirty="0"/>
              <a:t>项目管理计划</a:t>
            </a:r>
            <a:endParaRPr lang="zh-CN" altLang="zh-CN" i="1" dirty="0"/>
          </a:p>
          <a:p>
            <a:pPr algn="l"/>
            <a:r>
              <a:rPr lang="zh-CN" altLang="en-US" sz="1800" b="1" i="0" u="none" strike="noStrike" baseline="0" dirty="0">
                <a:latin typeface="SourceHanSansSC-Bold"/>
              </a:rPr>
              <a:t>成本管理计划。</a:t>
            </a:r>
            <a:r>
              <a:rPr lang="zh-CN" altLang="en-US" sz="1800" b="0" i="0" u="none" strike="noStrike" baseline="0" dirty="0">
                <a:latin typeface="SourceHanSansSC-Regular"/>
              </a:rPr>
              <a:t>可使用的估算方法以及成本估算需要达到的准确度和精确度。</a:t>
            </a:r>
          </a:p>
          <a:p>
            <a:pPr algn="l"/>
            <a:r>
              <a:rPr lang="zh-CN" altLang="en-US" sz="1800" b="1" i="0" u="none" strike="noStrike" baseline="0" dirty="0">
                <a:latin typeface="SourceHanSansSC-Bold"/>
              </a:rPr>
              <a:t>质量管理计划。</a:t>
            </a:r>
            <a:r>
              <a:rPr lang="zh-CN" altLang="en-US" sz="1800" b="0" i="0" u="none" strike="noStrike" baseline="0" dirty="0">
                <a:latin typeface="SourceHanSansSC-Regular"/>
              </a:rPr>
              <a:t>质量管理计划描述了项目管理团队为实现一系列项目质量目标所需的活动和资源。</a:t>
            </a:r>
            <a:endParaRPr lang="en-US" altLang="zh-CN" sz="1800" b="0" i="0" u="none" strike="noStrike" baseline="0" dirty="0">
              <a:latin typeface="SourceHanSansSC-Regular"/>
            </a:endParaRPr>
          </a:p>
          <a:p>
            <a:r>
              <a:rPr lang="zh-CN" altLang="zh-CN" b="1" dirty="0"/>
              <a:t>范围基准</a:t>
            </a:r>
            <a:r>
              <a:rPr lang="zh-CN" altLang="zh-CN" dirty="0"/>
              <a:t>：范围说明书（说明仅限于直接还是要包括间接）、工作分解结构、</a:t>
            </a:r>
            <a:r>
              <a:rPr lang="en-US" altLang="zh-CN" dirty="0"/>
              <a:t>WBS</a:t>
            </a:r>
            <a:r>
              <a:rPr lang="zh-CN" altLang="zh-CN" dirty="0"/>
              <a:t>词典。</a:t>
            </a:r>
            <a:endParaRPr lang="en-US" altLang="zh-CN" dirty="0"/>
          </a:p>
          <a:p>
            <a:endParaRPr lang="zh-CN"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1" u="none" strike="noStrike" baseline="0" dirty="0">
                <a:latin typeface="SourceHanSansSC-Bold"/>
              </a:rPr>
              <a:t>项目文件</a:t>
            </a:r>
            <a:endParaRPr lang="en-US" altLang="zh-CN" sz="1200" b="0" i="1" u="none" strike="noStrike" baseline="0" dirty="0">
              <a:latin typeface="SourceHanSansSC-Bold"/>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i="0" u="none" strike="noStrike" baseline="0" dirty="0">
                <a:latin typeface="SourceHanSansSC-Bold"/>
              </a:rPr>
              <a:t>经验教训登记册</a:t>
            </a:r>
            <a:r>
              <a:rPr lang="en-US" altLang="zh-CN" sz="1200" b="1" i="0" u="none" strike="noStrike" baseline="0" dirty="0">
                <a:latin typeface="SourceHanSansSC-Bold"/>
              </a:rPr>
              <a:t>.</a:t>
            </a:r>
          </a:p>
          <a:p>
            <a:r>
              <a:rPr lang="zh-CN" altLang="zh-CN" b="1" dirty="0"/>
              <a:t>项目进度计划</a:t>
            </a:r>
            <a:r>
              <a:rPr lang="zh-CN" altLang="zh-CN" dirty="0"/>
              <a:t>：项目工作需要的资源种类、数量、使用时间。尤其要考虑融资成本、敏感性成本。</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i="0" u="none" strike="noStrike" baseline="0" dirty="0">
                <a:latin typeface="SourceHanSansSC-Bold"/>
              </a:rPr>
              <a:t>资源需求。</a:t>
            </a:r>
            <a:r>
              <a:rPr lang="zh-CN" altLang="en-US" sz="1200" b="0" i="0" u="none" strike="noStrike" baseline="0" dirty="0">
                <a:latin typeface="SourceHanSansSC-Regular"/>
              </a:rPr>
              <a:t>每个工作包或活动所需的资源类型和数量。</a:t>
            </a:r>
            <a:endParaRPr lang="en-US" altLang="zh-CN" sz="1200" b="0" i="0" u="none" strike="noStrike" baseline="0" dirty="0">
              <a:latin typeface="SourceHanSansSC-Regular"/>
            </a:endParaRPr>
          </a:p>
          <a:p>
            <a:r>
              <a:rPr lang="zh-CN" altLang="zh-CN" b="1" dirty="0"/>
              <a:t>风险登记册</a:t>
            </a:r>
            <a:r>
              <a:rPr lang="zh-CN" altLang="zh-CN" dirty="0"/>
              <a:t>。</a:t>
            </a:r>
          </a:p>
          <a:p>
            <a:endParaRPr lang="en-US" altLang="zh-CN" dirty="0"/>
          </a:p>
          <a:p>
            <a:r>
              <a:rPr lang="zh-CN" altLang="en-US" sz="1800" b="1" i="0" u="none" strike="noStrike" baseline="0" dirty="0">
                <a:latin typeface="SourceHanSansSC-Medium"/>
              </a:rPr>
              <a:t>事业环境因素</a:t>
            </a:r>
            <a:r>
              <a:rPr lang="en-US" altLang="zh-CN" sz="1800" b="1" i="0" u="none" strike="noStrike" baseline="0" dirty="0">
                <a:latin typeface="SourceHanSansSC-Medium"/>
              </a:rPr>
              <a:t>: </a:t>
            </a:r>
            <a:r>
              <a:rPr lang="en-US" altLang="zh-CN" sz="1800" b="1" i="0" u="none" strike="noStrike" baseline="0" dirty="0">
                <a:latin typeface="Wingdings-Regular"/>
              </a:rPr>
              <a:t>    </a:t>
            </a:r>
          </a:p>
          <a:p>
            <a:r>
              <a:rPr lang="en-US" altLang="zh-CN" sz="1800" b="1" i="0" u="none" strike="noStrike" baseline="0" dirty="0">
                <a:latin typeface="Wingdings-Regular"/>
              </a:rPr>
              <a:t>     </a:t>
            </a:r>
            <a:r>
              <a:rPr lang="zh-CN" altLang="en-US" sz="1800" b="1" i="0" u="none" strike="noStrike" baseline="0" dirty="0">
                <a:latin typeface="SourceHanSansSC-Bold"/>
              </a:rPr>
              <a:t>市场条件</a:t>
            </a:r>
            <a:r>
              <a:rPr lang="en-US" altLang="zh-CN" sz="1800" b="0" i="0" u="none" strike="noStrike" baseline="0" dirty="0">
                <a:latin typeface="SourceHanSansSC-Bold"/>
              </a:rPr>
              <a:t>(</a:t>
            </a:r>
            <a:r>
              <a:rPr lang="zh-CN" altLang="en-US" sz="1800" b="0" i="0" u="none" strike="noStrike" baseline="0" dirty="0">
                <a:latin typeface="SourceHanSansSC-Bold"/>
              </a:rPr>
              <a:t>可以从市场上获得什么产品、服务和成果，可以从谁那里、以什么条件获得。地区和</a:t>
            </a:r>
            <a:r>
              <a:rPr lang="en-US" altLang="zh-CN" sz="1800" b="0" i="0" u="none" strike="noStrike" baseline="0" dirty="0">
                <a:latin typeface="SourceHanSansSC-Bold"/>
              </a:rPr>
              <a:t>/</a:t>
            </a:r>
            <a:r>
              <a:rPr lang="zh-CN" altLang="en-US" sz="1800" b="0" i="0" u="none" strike="noStrike" baseline="0" dirty="0">
                <a:latin typeface="SourceHanSansSC-Bold"/>
              </a:rPr>
              <a:t>或全球性的供求情况会显著影响资源成本。</a:t>
            </a:r>
            <a:r>
              <a:rPr lang="en-US" altLang="zh-CN" sz="1800" b="0" i="0" u="none" strike="noStrike" baseline="0" dirty="0">
                <a:latin typeface="SourceHanSansSC-Bold"/>
              </a:rPr>
              <a:t>)</a:t>
            </a:r>
          </a:p>
          <a:p>
            <a:r>
              <a:rPr lang="en-US" altLang="zh-CN" sz="1800" b="0" i="0" u="none" strike="noStrike" baseline="0" dirty="0">
                <a:latin typeface="SourceHanSansSC-Bold"/>
              </a:rPr>
              <a:t>     </a:t>
            </a:r>
            <a:r>
              <a:rPr lang="zh-CN" altLang="en-US" sz="1800" b="1" i="0" u="none" strike="noStrike" baseline="0" dirty="0">
                <a:latin typeface="SourceHanSansSC-Bold"/>
              </a:rPr>
              <a:t>发布的商业信息</a:t>
            </a:r>
            <a:endParaRPr lang="en-US" altLang="zh-CN" sz="1800" b="1" i="0" u="none" strike="noStrike" baseline="0" dirty="0">
              <a:latin typeface="SourceHanSansSC-Bold"/>
            </a:endParaRPr>
          </a:p>
          <a:p>
            <a:r>
              <a:rPr lang="zh-CN" altLang="en-US" sz="1800" b="1" i="0" u="none" strike="noStrike" baseline="0" dirty="0">
                <a:latin typeface="SourceHanSansSC-Bold"/>
              </a:rPr>
              <a:t>     汇率和通货膨胀率</a:t>
            </a:r>
            <a:endParaRPr lang="en-US" altLang="zh-CN" sz="1800" b="1" i="0" u="none" strike="noStrike" baseline="0" dirty="0">
              <a:latin typeface="SourceHanSansSC-Bold"/>
            </a:endParaRPr>
          </a:p>
          <a:p>
            <a:endParaRPr lang="en-US" altLang="zh-CN" sz="1800" b="1" i="0" u="none" strike="noStrike" baseline="0" dirty="0">
              <a:latin typeface="SourceHanSansSC-Bold"/>
            </a:endParaRPr>
          </a:p>
          <a:p>
            <a:pPr algn="l"/>
            <a:r>
              <a:rPr lang="zh-CN" altLang="en-US" sz="1800" b="1" i="0" u="none" strike="noStrike" kern="1200" baseline="0" dirty="0">
                <a:solidFill>
                  <a:schemeClr val="tx1"/>
                </a:solidFill>
                <a:latin typeface="SourceHanSansSC-Medium"/>
                <a:ea typeface="+mn-ea"/>
                <a:cs typeface="+mn-cs"/>
              </a:rPr>
              <a:t>组织过程资产：</a:t>
            </a:r>
            <a:endParaRPr lang="en-US" altLang="zh-CN" sz="1800" b="1" i="0" u="none" strike="noStrike" kern="1200" baseline="0" dirty="0">
              <a:solidFill>
                <a:schemeClr val="tx1"/>
              </a:solidFill>
              <a:latin typeface="SourceHanSansSC-Medium"/>
              <a:ea typeface="+mn-ea"/>
              <a:cs typeface="+mn-cs"/>
            </a:endParaRPr>
          </a:p>
          <a:p>
            <a:pPr algn="l"/>
            <a:r>
              <a:rPr lang="en-US" altLang="zh-CN" sz="1800" b="1" i="0" u="none" strike="noStrike" kern="1200" baseline="0" dirty="0">
                <a:solidFill>
                  <a:schemeClr val="tx1"/>
                </a:solidFill>
                <a:latin typeface="SourceHanSansSC-Medium"/>
                <a:ea typeface="+mn-ea"/>
                <a:cs typeface="+mn-cs"/>
              </a:rPr>
              <a:t>   </a:t>
            </a:r>
            <a:r>
              <a:rPr lang="zh-CN" altLang="en-US" sz="1800" b="1" i="0" u="none" strike="noStrike" kern="1200" baseline="0" dirty="0">
                <a:solidFill>
                  <a:schemeClr val="tx1"/>
                </a:solidFill>
                <a:latin typeface="SourceHanSansSC-Medium"/>
                <a:ea typeface="+mn-ea"/>
                <a:cs typeface="+mn-cs"/>
              </a:rPr>
              <a:t>成本估算政策；</a:t>
            </a:r>
          </a:p>
          <a:p>
            <a:pPr algn="l"/>
            <a:r>
              <a:rPr lang="en-US" altLang="zh-CN" sz="1800" b="1" i="0" u="none" strike="noStrike" kern="1200" baseline="0" dirty="0">
                <a:solidFill>
                  <a:schemeClr val="tx1"/>
                </a:solidFill>
                <a:latin typeface="SourceHanSansSC-Medium"/>
                <a:ea typeface="+mn-ea"/>
                <a:cs typeface="+mn-cs"/>
              </a:rPr>
              <a:t>   </a:t>
            </a:r>
            <a:r>
              <a:rPr lang="zh-CN" altLang="en-US" sz="1800" b="1" i="0" u="none" strike="noStrike" kern="1200" baseline="0" dirty="0">
                <a:solidFill>
                  <a:schemeClr val="tx1"/>
                </a:solidFill>
                <a:latin typeface="SourceHanSansSC-Medium"/>
                <a:ea typeface="+mn-ea"/>
                <a:cs typeface="+mn-cs"/>
              </a:rPr>
              <a:t>成本估算模板；</a:t>
            </a:r>
          </a:p>
          <a:p>
            <a:pPr algn="l"/>
            <a:r>
              <a:rPr lang="en-US" altLang="zh-CN" sz="1800" b="1" i="0" u="none" strike="noStrike" kern="1200" baseline="0" dirty="0">
                <a:solidFill>
                  <a:schemeClr val="tx1"/>
                </a:solidFill>
                <a:latin typeface="SourceHanSansSC-Medium"/>
                <a:ea typeface="+mn-ea"/>
                <a:cs typeface="+mn-cs"/>
              </a:rPr>
              <a:t>   </a:t>
            </a:r>
            <a:r>
              <a:rPr lang="zh-CN" altLang="en-US" sz="1800" b="1" i="0" u="none" strike="noStrike" kern="1200" baseline="0" dirty="0">
                <a:solidFill>
                  <a:schemeClr val="tx1"/>
                </a:solidFill>
                <a:latin typeface="SourceHanSansSC-Medium"/>
                <a:ea typeface="+mn-ea"/>
                <a:cs typeface="+mn-cs"/>
              </a:rPr>
              <a:t>历史信息和经验教训知识库。</a:t>
            </a:r>
            <a:endParaRPr lang="zh-CN" altLang="en-US" dirty="0"/>
          </a:p>
        </p:txBody>
      </p:sp>
      <p:sp>
        <p:nvSpPr>
          <p:cNvPr id="224260" name="灯片编号占位符 3">
            <a:extLst>
              <a:ext uri="{FF2B5EF4-FFF2-40B4-BE49-F238E27FC236}">
                <a16:creationId xmlns:a16="http://schemas.microsoft.com/office/drawing/2014/main" id="{9A9F24E3-1471-43CE-8CFA-78BBB06EAF5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CA558A1-1C32-465F-BB06-86941A1B12AA}" type="slidenum">
              <a:rPr lang="zh-CN" altLang="en-US" smtClean="0"/>
              <a:pPr/>
              <a:t>82</a:t>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Regular"/>
              </a:rPr>
              <a:t>项目成本管理的主要输出之一就是成本估算。</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成本估算是对完成活动所需资源的可能成本的量化评估，是在某特定时点，根据已知信息所做出的成本预测。在估算成本时，需要识别和分析可用于启动与完成项目的备选成本方案；需要权衡备选成本方案并考虑风险，如比较自制成本与外购成本、购买成本与租赁成本及多种资源共享方案，以优化项目成本。</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进行成本估算，应该考虑将向项目收费的全部资源，包括（但不限于）人工、材料、设备、服务、设施，以及一些特殊的成本种类，如通货膨胀补贴、融资成本或应急成本。成本估算可在活动层级呈现，也可以汇总形式呈现。</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83</a:t>
            </a:fld>
            <a:endParaRPr lang="zh-CN" altLang="en-US"/>
          </a:p>
        </p:txBody>
      </p:sp>
    </p:spTree>
    <p:extLst>
      <p:ext uri="{BB962C8B-B14F-4D97-AF65-F5344CB8AC3E}">
        <p14:creationId xmlns:p14="http://schemas.microsoft.com/office/powerpoint/2010/main" val="205133826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dirty="0">
                <a:latin typeface="Times New Roman" panose="02020603050405020304" pitchFamily="18" charset="0"/>
              </a:rPr>
              <a:t>  ·</a:t>
            </a:r>
            <a:r>
              <a:rPr lang="zh-CN" altLang="en-US" sz="1800" b="1" dirty="0"/>
              <a:t>初步估计，</a:t>
            </a:r>
            <a:r>
              <a:rPr lang="zh-CN" altLang="en-US" sz="1800" b="1" dirty="0">
                <a:latin typeface="Times New Roman" panose="02020603050405020304" pitchFamily="18" charset="0"/>
              </a:rPr>
              <a:t>粗</a:t>
            </a:r>
            <a:r>
              <a:rPr lang="zh-CN" altLang="en-US" sz="1800" b="1" dirty="0"/>
              <a:t>粒度</a:t>
            </a:r>
            <a:r>
              <a:rPr lang="zh-CN" altLang="en-US" sz="1800" b="1" dirty="0">
                <a:latin typeface="Times New Roman" panose="02020603050405020304" pitchFamily="18" charset="0"/>
              </a:rPr>
              <a:t>估计</a:t>
            </a:r>
            <a:r>
              <a:rPr lang="zh-CN" altLang="en-US" sz="1800" dirty="0">
                <a:latin typeface="Times New Roman" panose="02020603050405020304" pitchFamily="18" charset="0"/>
              </a:rPr>
              <a:t>（</a:t>
            </a:r>
            <a:r>
              <a:rPr lang="en-US" altLang="zh-CN" sz="1800" dirty="0">
                <a:latin typeface="Times New Roman" panose="02020603050405020304" pitchFamily="18" charset="0"/>
              </a:rPr>
              <a:t>rough order of magnitude estimate</a:t>
            </a:r>
            <a:r>
              <a:rPr lang="zh-CN" altLang="en-US" sz="1800" dirty="0">
                <a:latin typeface="Times New Roman" panose="02020603050405020304" pitchFamily="18" charset="0"/>
              </a:rPr>
              <a:t>，</a:t>
            </a:r>
            <a:r>
              <a:rPr lang="en-US" altLang="zh-CN" sz="1800" dirty="0">
                <a:latin typeface="Times New Roman" panose="02020603050405020304" pitchFamily="18" charset="0"/>
              </a:rPr>
              <a:t>ROM estimate</a:t>
            </a:r>
            <a:r>
              <a:rPr lang="zh-CN" altLang="en-US" sz="1800" dirty="0">
                <a:latin typeface="Times New Roman" panose="02020603050405020304" pitchFamily="18" charset="0"/>
              </a:rPr>
              <a:t>）是估计一个项目将花费多少钱。</a:t>
            </a:r>
            <a:r>
              <a:rPr lang="zh-CN" altLang="en-US" sz="1800" dirty="0"/>
              <a:t>提供了项目成本的一个粗略概念，是在没有详细数据的情况下进行的一种大概估算。</a:t>
            </a:r>
            <a:r>
              <a:rPr lang="zh-CN" altLang="en-US" sz="1800" dirty="0">
                <a:latin typeface="Times New Roman" panose="02020603050405020304" pitchFamily="18" charset="0"/>
              </a:rPr>
              <a:t>这类估计在项目很早时进行，甚至在项目正式开始之前进行。项目经理和高层管理使用这种估计来帮助做出项目选择决定。这类估计的时间框架经常是在项目完成前</a:t>
            </a:r>
            <a:r>
              <a:rPr lang="en-US" altLang="zh-CN" sz="1800" dirty="0">
                <a:latin typeface="Times New Roman" panose="02020603050405020304" pitchFamily="18" charset="0"/>
              </a:rPr>
              <a:t>3</a:t>
            </a:r>
            <a:r>
              <a:rPr lang="zh-CN" altLang="en-US" sz="1800" dirty="0">
                <a:latin typeface="Times New Roman" panose="02020603050405020304" pitchFamily="18" charset="0"/>
              </a:rPr>
              <a:t>年或更长时间以前。一个</a:t>
            </a:r>
            <a:r>
              <a:rPr lang="en-US" altLang="zh-CN" sz="1800" dirty="0">
                <a:latin typeface="Times New Roman" panose="02020603050405020304" pitchFamily="18" charset="0"/>
              </a:rPr>
              <a:t>ROM</a:t>
            </a:r>
            <a:r>
              <a:rPr lang="zh-CN" altLang="en-US" sz="1800" dirty="0">
                <a:latin typeface="Times New Roman" panose="02020603050405020304" pitchFamily="18" charset="0"/>
              </a:rPr>
              <a:t>估计的准确度一般是</a:t>
            </a:r>
            <a:r>
              <a:rPr lang="en-US" altLang="zh-CN" sz="1800" dirty="0">
                <a:latin typeface="Times New Roman" panose="02020603050405020304" pitchFamily="18" charset="0"/>
              </a:rPr>
              <a:t>-50%~100%</a:t>
            </a:r>
            <a:r>
              <a:rPr lang="zh-CN" altLang="en-US" sz="1800" dirty="0">
                <a:latin typeface="Times New Roman" panose="02020603050405020304" pitchFamily="18" charset="0"/>
              </a:rPr>
              <a:t>，意味着项目的实际费用可能比</a:t>
            </a:r>
            <a:r>
              <a:rPr lang="en-US" altLang="zh-CN" sz="1800" dirty="0">
                <a:latin typeface="Times New Roman" panose="02020603050405020304" pitchFamily="18" charset="0"/>
              </a:rPr>
              <a:t>ROM</a:t>
            </a:r>
            <a:r>
              <a:rPr lang="zh-CN" altLang="en-US" sz="1800" dirty="0">
                <a:latin typeface="Times New Roman" panose="02020603050405020304" pitchFamily="18" charset="0"/>
              </a:rPr>
              <a:t>估计低</a:t>
            </a:r>
            <a:r>
              <a:rPr lang="en-US" altLang="zh-CN" sz="1800" dirty="0">
                <a:latin typeface="Times New Roman" panose="02020603050405020304" pitchFamily="18" charset="0"/>
              </a:rPr>
              <a:t>50%</a:t>
            </a:r>
            <a:r>
              <a:rPr lang="zh-CN" altLang="en-US" sz="1800" dirty="0">
                <a:latin typeface="Times New Roman" panose="02020603050405020304" pitchFamily="18" charset="0"/>
              </a:rPr>
              <a:t>或高</a:t>
            </a:r>
            <a:r>
              <a:rPr lang="en-US" altLang="zh-CN" sz="1800" dirty="0">
                <a:latin typeface="Times New Roman" panose="02020603050405020304" pitchFamily="18" charset="0"/>
              </a:rPr>
              <a:t>100%</a:t>
            </a:r>
            <a:r>
              <a:rPr lang="zh-CN" altLang="en-US" sz="1800" dirty="0">
                <a:latin typeface="Times New Roman" panose="02020603050405020304" pitchFamily="18" charset="0"/>
              </a:rPr>
              <a:t>。例如，对于一个</a:t>
            </a:r>
            <a:r>
              <a:rPr lang="en-US" altLang="zh-CN" sz="1800" dirty="0">
                <a:latin typeface="Times New Roman" panose="02020603050405020304" pitchFamily="18" charset="0"/>
              </a:rPr>
              <a:t>ROM</a:t>
            </a:r>
            <a:r>
              <a:rPr lang="zh-CN" altLang="en-US" sz="1800" dirty="0">
                <a:latin typeface="Times New Roman" panose="02020603050405020304" pitchFamily="18" charset="0"/>
              </a:rPr>
              <a:t>预算为</a:t>
            </a:r>
            <a:r>
              <a:rPr lang="en-US" altLang="zh-CN" sz="1800" dirty="0">
                <a:latin typeface="Times New Roman" panose="02020603050405020304" pitchFamily="18" charset="0"/>
              </a:rPr>
              <a:t>10</a:t>
            </a:r>
            <a:r>
              <a:rPr lang="zh-CN" altLang="en-US" sz="1800" dirty="0">
                <a:latin typeface="Times New Roman" panose="02020603050405020304" pitchFamily="18" charset="0"/>
              </a:rPr>
              <a:t>万美元的项目，它的实际花费是</a:t>
            </a:r>
            <a:r>
              <a:rPr lang="en-US" altLang="zh-CN" sz="1800" dirty="0">
                <a:latin typeface="Times New Roman" panose="02020603050405020304" pitchFamily="18" charset="0"/>
              </a:rPr>
              <a:t>5</a:t>
            </a:r>
            <a:r>
              <a:rPr lang="zh-CN" altLang="en-US" sz="1800" dirty="0">
                <a:latin typeface="Times New Roman" panose="02020603050405020304" pitchFamily="18" charset="0"/>
              </a:rPr>
              <a:t>万</a:t>
            </a:r>
            <a:r>
              <a:rPr lang="en-US" altLang="zh-CN" sz="1800" dirty="0">
                <a:latin typeface="Times New Roman" panose="02020603050405020304" pitchFamily="18" charset="0"/>
              </a:rPr>
              <a:t>~20</a:t>
            </a:r>
            <a:r>
              <a:rPr lang="zh-CN" altLang="en-US" sz="1800" dirty="0">
                <a:latin typeface="Times New Roman" panose="02020603050405020304" pitchFamily="18" charset="0"/>
              </a:rPr>
              <a:t>万美元。对</a:t>
            </a:r>
            <a:r>
              <a:rPr lang="en-US" altLang="zh-CN" sz="1800" dirty="0">
                <a:latin typeface="Times New Roman" panose="02020603050405020304" pitchFamily="18" charset="0"/>
              </a:rPr>
              <a:t>IT</a:t>
            </a:r>
            <a:r>
              <a:rPr lang="zh-CN" altLang="en-US" sz="1800" dirty="0">
                <a:latin typeface="Times New Roman" panose="02020603050405020304" pitchFamily="18" charset="0"/>
              </a:rPr>
              <a:t>项目估计，这一范围经常还要更宽一些。因为</a:t>
            </a:r>
            <a:r>
              <a:rPr lang="en-US" altLang="zh-CN" sz="1800" dirty="0">
                <a:latin typeface="Times New Roman" panose="02020603050405020304" pitchFamily="18" charset="0"/>
              </a:rPr>
              <a:t>IT</a:t>
            </a:r>
            <a:r>
              <a:rPr lang="zh-CN" altLang="en-US" sz="1800" dirty="0">
                <a:latin typeface="Times New Roman" panose="02020603050405020304" pitchFamily="18" charset="0"/>
              </a:rPr>
              <a:t>项目成本在过去经常超支，所以在对软件开发项目进行成本估计时，很多</a:t>
            </a:r>
            <a:r>
              <a:rPr lang="en-US" altLang="zh-CN" sz="1800" dirty="0">
                <a:latin typeface="Times New Roman" panose="02020603050405020304" pitchFamily="18" charset="0"/>
              </a:rPr>
              <a:t>IT</a:t>
            </a:r>
            <a:r>
              <a:rPr lang="zh-CN" altLang="en-US" sz="1800" dirty="0">
                <a:latin typeface="Times New Roman" panose="02020603050405020304" pitchFamily="18" charset="0"/>
              </a:rPr>
              <a:t>专家自动选择将这一估计翻倍。</a:t>
            </a:r>
          </a:p>
          <a:p>
            <a:pPr algn="just"/>
            <a:r>
              <a:rPr lang="en-US" altLang="zh-CN" sz="1800" dirty="0">
                <a:latin typeface="Times New Roman" panose="02020603050405020304" pitchFamily="18" charset="0"/>
              </a:rPr>
              <a:t>  ·</a:t>
            </a:r>
            <a:r>
              <a:rPr lang="zh-CN" altLang="en-US" sz="1800" b="1" dirty="0">
                <a:latin typeface="Times New Roman" panose="02020603050405020304" pitchFamily="18" charset="0"/>
              </a:rPr>
              <a:t>预算估计</a:t>
            </a:r>
            <a:r>
              <a:rPr lang="en-US" altLang="zh-CN" sz="1800" b="1" dirty="0">
                <a:latin typeface="Times New Roman" panose="02020603050405020304" pitchFamily="18" charset="0"/>
              </a:rPr>
              <a:t>/</a:t>
            </a:r>
            <a:r>
              <a:rPr lang="zh-CN" altLang="en-US" sz="1800" b="1" dirty="0">
                <a:latin typeface="Times New Roman" panose="02020603050405020304" pitchFamily="18" charset="0"/>
              </a:rPr>
              <a:t>概算</a:t>
            </a:r>
            <a:r>
              <a:rPr lang="zh-CN" altLang="en-US" sz="1800" dirty="0">
                <a:latin typeface="Times New Roman" panose="02020603050405020304" pitchFamily="18" charset="0"/>
              </a:rPr>
              <a:t>（</a:t>
            </a:r>
            <a:r>
              <a:rPr lang="en-US" altLang="zh-CN" sz="1800" dirty="0">
                <a:latin typeface="Times New Roman" panose="02020603050405020304" pitchFamily="18" charset="0"/>
              </a:rPr>
              <a:t>budgetary estimate</a:t>
            </a:r>
            <a:r>
              <a:rPr lang="zh-CN" altLang="en-US" sz="1800" dirty="0">
                <a:latin typeface="Times New Roman" panose="02020603050405020304" pitchFamily="18" charset="0"/>
              </a:rPr>
              <a:t>）是为把资金分配到一个组织所做的预算。</a:t>
            </a:r>
            <a:r>
              <a:rPr lang="zh-CN" altLang="en-US" sz="1800" dirty="0"/>
              <a:t>是在项目规划阶段进行的估算，此时你已经获得了更多的项目信息，但还未能将项目的工作分解的很详细，因此要在确定项目需要做的主要工作的前提下，通过预算估算来确定要划入该项目的预算，也就是说，被用来将资金划入一个组织的预算。是一种自上而下的估算方法</a:t>
            </a:r>
            <a:r>
              <a:rPr lang="zh-CN" altLang="en-US" sz="1800" dirty="0">
                <a:latin typeface="Times New Roman" panose="02020603050405020304" pitchFamily="18" charset="0"/>
              </a:rPr>
              <a:t>。预算估计的精度通常是</a:t>
            </a:r>
            <a:r>
              <a:rPr lang="en-US" altLang="zh-CN" sz="1800" dirty="0">
                <a:latin typeface="Times New Roman" panose="02020603050405020304" pitchFamily="18" charset="0"/>
              </a:rPr>
              <a:t>-10%~25%</a:t>
            </a:r>
            <a:r>
              <a:rPr lang="zh-CN" altLang="en-US" sz="1800" dirty="0">
                <a:latin typeface="Times New Roman" panose="02020603050405020304" pitchFamily="18" charset="0"/>
              </a:rPr>
              <a:t>，意味着实际费用可能比预算成本低</a:t>
            </a:r>
            <a:r>
              <a:rPr lang="en-US" altLang="zh-CN" sz="1800" dirty="0">
                <a:latin typeface="Times New Roman" panose="02020603050405020304" pitchFamily="18" charset="0"/>
              </a:rPr>
              <a:t>10%</a:t>
            </a:r>
            <a:r>
              <a:rPr lang="zh-CN" altLang="en-US" sz="1800" dirty="0">
                <a:latin typeface="Times New Roman" panose="02020603050405020304" pitchFamily="18" charset="0"/>
              </a:rPr>
              <a:t>或高</a:t>
            </a:r>
            <a:r>
              <a:rPr lang="en-US" altLang="zh-CN" sz="1800" dirty="0">
                <a:latin typeface="Times New Roman" panose="02020603050405020304" pitchFamily="18" charset="0"/>
              </a:rPr>
              <a:t>25%</a:t>
            </a:r>
            <a:r>
              <a:rPr lang="zh-CN" altLang="en-US" sz="1800" dirty="0">
                <a:latin typeface="Times New Roman" panose="02020603050405020304" pitchFamily="18" charset="0"/>
              </a:rPr>
              <a:t>。例如，一个预算为</a:t>
            </a:r>
            <a:r>
              <a:rPr lang="en-US" altLang="zh-CN" sz="1800" dirty="0">
                <a:latin typeface="Times New Roman" panose="02020603050405020304" pitchFamily="18" charset="0"/>
              </a:rPr>
              <a:t>10</a:t>
            </a:r>
            <a:r>
              <a:rPr lang="zh-CN" altLang="en-US" sz="1800" dirty="0">
                <a:latin typeface="Times New Roman" panose="02020603050405020304" pitchFamily="18" charset="0"/>
              </a:rPr>
              <a:t>万美元的项目实际成本会是</a:t>
            </a:r>
            <a:r>
              <a:rPr lang="en-US" altLang="zh-CN" sz="1800" dirty="0">
                <a:latin typeface="Times New Roman" panose="02020603050405020304" pitchFamily="18" charset="0"/>
              </a:rPr>
              <a:t>9</a:t>
            </a:r>
            <a:r>
              <a:rPr lang="zh-CN" altLang="en-US" sz="1800" dirty="0">
                <a:latin typeface="Times New Roman" panose="02020603050405020304" pitchFamily="18" charset="0"/>
              </a:rPr>
              <a:t>万</a:t>
            </a:r>
            <a:r>
              <a:rPr lang="en-US" altLang="zh-CN" sz="1800" dirty="0">
                <a:latin typeface="Times New Roman" panose="02020603050405020304" pitchFamily="18" charset="0"/>
              </a:rPr>
              <a:t>~12.5</a:t>
            </a:r>
            <a:r>
              <a:rPr lang="zh-CN" altLang="en-US" sz="1800" dirty="0">
                <a:latin typeface="Times New Roman" panose="02020603050405020304" pitchFamily="18" charset="0"/>
              </a:rPr>
              <a:t>万美元。</a:t>
            </a:r>
            <a:endParaRPr lang="en-US" altLang="zh-CN" sz="1800" dirty="0">
              <a:latin typeface="Times New Roman" panose="02020603050405020304" pitchFamily="18" charset="0"/>
            </a:endParaRPr>
          </a:p>
          <a:p>
            <a:pPr algn="just"/>
            <a:r>
              <a:rPr lang="en-US" altLang="zh-CN" sz="1800" dirty="0">
                <a:latin typeface="Times New Roman" panose="02020603050405020304" pitchFamily="18" charset="0"/>
              </a:rPr>
              <a:t>  ·</a:t>
            </a:r>
            <a:r>
              <a:rPr lang="zh-CN" altLang="en-US" sz="1800" b="1" dirty="0">
                <a:latin typeface="Times New Roman" panose="02020603050405020304" pitchFamily="18" charset="0"/>
              </a:rPr>
              <a:t>确定性估计</a:t>
            </a:r>
            <a:r>
              <a:rPr lang="zh-CN" altLang="en-US" sz="1800" dirty="0">
                <a:latin typeface="Times New Roman" panose="02020603050405020304" pitchFamily="18" charset="0"/>
              </a:rPr>
              <a:t>（</a:t>
            </a:r>
            <a:r>
              <a:rPr lang="en-US" altLang="zh-CN" sz="1800" dirty="0">
                <a:latin typeface="Times New Roman" panose="02020603050405020304" pitchFamily="18" charset="0"/>
              </a:rPr>
              <a:t>definitive estimate</a:t>
            </a:r>
            <a:r>
              <a:rPr lang="zh-CN" altLang="en-US" sz="1800" dirty="0">
                <a:latin typeface="Times New Roman" panose="02020603050405020304" pitchFamily="18" charset="0"/>
              </a:rPr>
              <a:t>）提供了项目成本的精确估计。确定性估计用来估计最终的项目成本，并做出许多购买决定。因为购买决定需要精确的估计。例如，如果在今后</a:t>
            </a:r>
            <a:r>
              <a:rPr lang="en-US" altLang="zh-CN" sz="1800" dirty="0">
                <a:latin typeface="Times New Roman" panose="02020603050405020304" pitchFamily="18" charset="0"/>
              </a:rPr>
              <a:t>3</a:t>
            </a:r>
            <a:r>
              <a:rPr lang="zh-CN" altLang="en-US" sz="1800" dirty="0">
                <a:latin typeface="Times New Roman" panose="02020603050405020304" pitchFamily="18" charset="0"/>
              </a:rPr>
              <a:t>个月，一个项目将从一个外部供应商那里采购</a:t>
            </a:r>
            <a:r>
              <a:rPr lang="en-US" altLang="zh-CN" sz="1800" dirty="0">
                <a:latin typeface="Times New Roman" panose="02020603050405020304" pitchFamily="18" charset="0"/>
              </a:rPr>
              <a:t>1000</a:t>
            </a:r>
            <a:r>
              <a:rPr lang="zh-CN" altLang="en-US" sz="1800" dirty="0">
                <a:latin typeface="Times New Roman" panose="02020603050405020304" pitchFamily="18" charset="0"/>
              </a:rPr>
              <a:t>台个人电脑，确定性估计需要帮助评价供应商建议，并且给被选择的供应商分配资金。在项目完成的一年前或更短时间内可做出确定性估计。确定性估计是</a:t>
            </a:r>
            <a:r>
              <a:rPr lang="en-US" altLang="zh-CN" sz="1800" dirty="0">
                <a:latin typeface="Times New Roman" panose="02020603050405020304" pitchFamily="18" charset="0"/>
              </a:rPr>
              <a:t>3</a:t>
            </a:r>
            <a:r>
              <a:rPr lang="zh-CN" altLang="en-US" sz="1800" dirty="0">
                <a:latin typeface="Times New Roman" panose="02020603050405020304" pitchFamily="18" charset="0"/>
              </a:rPr>
              <a:t>种估计类型中最准确的估计。这类估计的准确度一般在</a:t>
            </a:r>
            <a:r>
              <a:rPr lang="en-US" altLang="zh-CN" sz="1800" dirty="0">
                <a:latin typeface="Times New Roman" panose="02020603050405020304" pitchFamily="18" charset="0"/>
              </a:rPr>
              <a:t>-5%~10%</a:t>
            </a:r>
            <a:r>
              <a:rPr lang="zh-CN" altLang="en-US" sz="1800" dirty="0">
                <a:latin typeface="Times New Roman" panose="02020603050405020304" pitchFamily="18" charset="0"/>
              </a:rPr>
              <a:t>之间，意味着实际费用可能比确定性估计少</a:t>
            </a:r>
            <a:r>
              <a:rPr lang="en-US" altLang="zh-CN" sz="1800" dirty="0">
                <a:latin typeface="Times New Roman" panose="02020603050405020304" pitchFamily="18" charset="0"/>
              </a:rPr>
              <a:t>5%</a:t>
            </a:r>
            <a:r>
              <a:rPr lang="zh-CN" altLang="en-US" sz="1800" dirty="0">
                <a:latin typeface="Times New Roman" panose="02020603050405020304" pitchFamily="18" charset="0"/>
              </a:rPr>
              <a:t>或多</a:t>
            </a:r>
            <a:r>
              <a:rPr lang="en-US" altLang="zh-CN" sz="1800" dirty="0">
                <a:latin typeface="Times New Roman" panose="02020603050405020304" pitchFamily="18" charset="0"/>
              </a:rPr>
              <a:t>10%</a:t>
            </a:r>
            <a:r>
              <a:rPr lang="zh-CN" altLang="en-US" sz="1800" dirty="0">
                <a:latin typeface="Times New Roman" panose="02020603050405020304" pitchFamily="18" charset="0"/>
              </a:rPr>
              <a:t>。例如，一个确定性估计</a:t>
            </a:r>
            <a:r>
              <a:rPr lang="en-US" altLang="zh-CN" sz="1800" dirty="0">
                <a:latin typeface="Times New Roman" panose="02020603050405020304" pitchFamily="18" charset="0"/>
              </a:rPr>
              <a:t>10</a:t>
            </a:r>
            <a:r>
              <a:rPr lang="zh-CN" altLang="en-US" sz="1800" dirty="0">
                <a:latin typeface="Times New Roman" panose="02020603050405020304" pitchFamily="18" charset="0"/>
              </a:rPr>
              <a:t>万美元的项目，其实际成本会是</a:t>
            </a:r>
            <a:r>
              <a:rPr lang="en-US" altLang="zh-CN" sz="1800" dirty="0">
                <a:latin typeface="Times New Roman" panose="02020603050405020304" pitchFamily="18" charset="0"/>
              </a:rPr>
              <a:t>9.5</a:t>
            </a:r>
            <a:r>
              <a:rPr lang="zh-CN" altLang="en-US" sz="1800" dirty="0">
                <a:latin typeface="Times New Roman" panose="02020603050405020304" pitchFamily="18" charset="0"/>
              </a:rPr>
              <a:t>万</a:t>
            </a:r>
            <a:r>
              <a:rPr lang="en-US" altLang="zh-CN" sz="1800" dirty="0">
                <a:latin typeface="Times New Roman" panose="02020603050405020304" pitchFamily="18" charset="0"/>
              </a:rPr>
              <a:t>~11</a:t>
            </a:r>
            <a:r>
              <a:rPr lang="zh-CN" altLang="en-US" sz="1800" dirty="0">
                <a:latin typeface="Times New Roman" panose="02020603050405020304" pitchFamily="18" charset="0"/>
              </a:rPr>
              <a:t>万美元。</a:t>
            </a:r>
            <a:endParaRPr lang="en-US" altLang="zh-CN" sz="1800" dirty="0">
              <a:latin typeface="Times New Roman" panose="02020603050405020304" pitchFamily="18" charset="0"/>
            </a:endParaRPr>
          </a:p>
          <a:p>
            <a:pPr algn="just"/>
            <a:endParaRPr lang="en-US" altLang="zh-CN" sz="1800" dirty="0">
              <a:latin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zh-CN" altLang="en-US" sz="1800" dirty="0">
                <a:latin typeface="Times New Roman" panose="02020603050405020304" pitchFamily="18" charset="0"/>
              </a:rPr>
              <a:t>应用领域不同，成本估计的类型和数量也不同。例如，国际高级成本工程协会就建筑业识别划分了</a:t>
            </a:r>
            <a:r>
              <a:rPr lang="en-US" altLang="zh-CN" sz="1800" dirty="0">
                <a:latin typeface="Times New Roman" panose="02020603050405020304" pitchFamily="18" charset="0"/>
              </a:rPr>
              <a:t>5</a:t>
            </a:r>
            <a:r>
              <a:rPr lang="zh-CN" altLang="en-US" sz="1800" dirty="0">
                <a:latin typeface="Times New Roman" panose="02020603050405020304" pitchFamily="18" charset="0"/>
              </a:rPr>
              <a:t>种类型的成本估计：粗</a:t>
            </a:r>
            <a:r>
              <a:rPr lang="zh-CN" altLang="en-US" sz="1800" dirty="0"/>
              <a:t>粒度</a:t>
            </a:r>
            <a:r>
              <a:rPr lang="zh-CN" altLang="en-US" sz="1800" dirty="0">
                <a:latin typeface="Times New Roman" panose="02020603050405020304" pitchFamily="18" charset="0"/>
              </a:rPr>
              <a:t>的、概念上的、早期的、确定的和控制的。要点是，通常会在项目不同的阶段做出估计，并且随着时间的推进，估计应该变得越来越精确。</a:t>
            </a:r>
          </a:p>
          <a:p>
            <a:pPr algn="just"/>
            <a:endParaRPr lang="en-US" altLang="zh-CN" sz="1800" dirty="0">
              <a:latin typeface="Times New Roman" panose="02020603050405020304" pitchFamily="18" charset="0"/>
            </a:endParaRPr>
          </a:p>
          <a:p>
            <a:pPr algn="just"/>
            <a:endParaRPr lang="en-US" altLang="zh-CN" sz="1800" dirty="0">
              <a:latin typeface="Times New Roman" panose="02020603050405020304" pitchFamily="18" charset="0"/>
            </a:endParaRPr>
          </a:p>
          <a:p>
            <a:pPr algn="just"/>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84</a:t>
            </a:fld>
            <a:endParaRPr lang="zh-CN" altLang="en-US"/>
          </a:p>
        </p:txBody>
      </p:sp>
    </p:spTree>
    <p:extLst>
      <p:ext uri="{BB962C8B-B14F-4D97-AF65-F5344CB8AC3E}">
        <p14:creationId xmlns:p14="http://schemas.microsoft.com/office/powerpoint/2010/main" val="256669144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200" b="0" i="0" u="none" strike="noStrike" baseline="0" dirty="0">
                <a:latin typeface="SourceHanSansSC-Regular"/>
              </a:rPr>
              <a:t>P197</a:t>
            </a:r>
          </a:p>
          <a:p>
            <a:pPr algn="l"/>
            <a:r>
              <a:rPr lang="zh-CN" altLang="en-US" sz="1200" b="0" i="0" u="none" strike="noStrike" baseline="0" dirty="0">
                <a:latin typeface="SourceHanSansSC-Regular"/>
              </a:rPr>
              <a:t>在项目过程中，应该随着更详细信息的呈现和假设条件的验证，对成本估算进行审查和优化。在项目生命周期中，项目估算的准确性亦将随着项目的进展而逐步提高。例如，在启动阶段可得出项目的粗略量级估算（</a:t>
            </a:r>
            <a:r>
              <a:rPr lang="en-US" altLang="zh-CN" sz="1200" b="0" i="0" u="none" strike="noStrike" baseline="0" dirty="0">
                <a:latin typeface="HelveticaNeue-Condensed"/>
              </a:rPr>
              <a:t>Rough Order of Magnitude</a:t>
            </a:r>
            <a:r>
              <a:rPr lang="zh-CN" altLang="en-US" sz="1200" b="0" i="0" u="none" strike="noStrike" baseline="0" dirty="0">
                <a:latin typeface="SourceHanSansSC-Regular"/>
              </a:rPr>
              <a:t>，</a:t>
            </a:r>
            <a:r>
              <a:rPr lang="en-US" altLang="zh-CN" sz="1200" b="0" i="0" u="none" strike="noStrike" baseline="0" dirty="0">
                <a:latin typeface="HelveticaNeue-Condensed"/>
              </a:rPr>
              <a:t>ROM</a:t>
            </a:r>
            <a:r>
              <a:rPr lang="zh-CN" altLang="en-US" sz="1200" b="0" i="0" u="none" strike="noStrike" baseline="0" dirty="0">
                <a:latin typeface="SourceHanSansSC-Regular"/>
              </a:rPr>
              <a:t>），其区间为 </a:t>
            </a:r>
            <a:r>
              <a:rPr lang="zh-CN" altLang="en-US" sz="1200" b="0" i="0" u="none" strike="noStrike" baseline="0" dirty="0">
                <a:latin typeface="HelveticaNeue-Condensed"/>
              </a:rPr>
              <a:t>−</a:t>
            </a:r>
            <a:r>
              <a:rPr lang="en-US" altLang="zh-CN" sz="1200" b="0" i="0" u="none" strike="noStrike" baseline="0" dirty="0">
                <a:latin typeface="HelveticaNeue-Condensed"/>
              </a:rPr>
              <a:t>25% </a:t>
            </a:r>
            <a:r>
              <a:rPr lang="zh-CN" altLang="en-US" sz="1200" b="0" i="0" u="none" strike="noStrike" baseline="0" dirty="0">
                <a:latin typeface="SourceHanSansSC-Regular"/>
              </a:rPr>
              <a:t>到 </a:t>
            </a:r>
            <a:r>
              <a:rPr lang="en-US" altLang="zh-CN" sz="1200" b="0" i="0" u="none" strike="noStrike" baseline="0" dirty="0">
                <a:latin typeface="HelveticaNeue-Condensed"/>
              </a:rPr>
              <a:t>+75%</a:t>
            </a:r>
            <a:r>
              <a:rPr lang="zh-CN" altLang="en-US" sz="1200" b="0" i="0" u="none" strike="noStrike" baseline="0" dirty="0">
                <a:latin typeface="SourceHanSansSC-Regular"/>
              </a:rPr>
              <a:t>；之后，随着信息越来越详细，确定性估算的区间可缩小至 </a:t>
            </a:r>
            <a:r>
              <a:rPr lang="zh-CN" altLang="en-US" sz="1200" b="0" i="0" u="none" strike="noStrike" baseline="0" dirty="0">
                <a:latin typeface="HelveticaNeue-Condensed"/>
              </a:rPr>
              <a:t>−</a:t>
            </a:r>
            <a:r>
              <a:rPr lang="en-US" altLang="zh-CN" sz="1200" b="0" i="0" u="none" strike="noStrike" baseline="0" dirty="0">
                <a:latin typeface="HelveticaNeue-Condensed"/>
              </a:rPr>
              <a:t>5% </a:t>
            </a:r>
            <a:r>
              <a:rPr lang="zh-CN" altLang="en-US" sz="1200" b="0" i="0" u="none" strike="noStrike" baseline="0" dirty="0">
                <a:latin typeface="SourceHanSansSC-Regular"/>
              </a:rPr>
              <a:t>到 </a:t>
            </a:r>
            <a:r>
              <a:rPr lang="en-US" altLang="zh-CN" sz="1200" b="0" i="0" u="none" strike="noStrike" baseline="0" dirty="0">
                <a:latin typeface="HelveticaNeue-Condensed"/>
              </a:rPr>
              <a:t>+10%</a:t>
            </a:r>
            <a:r>
              <a:rPr lang="zh-CN" altLang="en-US" sz="1200" b="0" i="0" u="none" strike="noStrike" baseline="0" dirty="0">
                <a:latin typeface="HelveticaNeue-Condensed"/>
              </a:rPr>
              <a:t>。</a:t>
            </a:r>
            <a:endParaRPr lang="en-US" altLang="zh-CN" sz="1200" b="0" i="0" u="none" strike="noStrike" baseline="0" dirty="0">
              <a:latin typeface="HelveticaNeue-Condensed"/>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85</a:t>
            </a:fld>
            <a:endParaRPr lang="zh-CN" altLang="en-US"/>
          </a:p>
        </p:txBody>
      </p:sp>
    </p:spTree>
    <p:extLst>
      <p:ext uri="{BB962C8B-B14F-4D97-AF65-F5344CB8AC3E}">
        <p14:creationId xmlns:p14="http://schemas.microsoft.com/office/powerpoint/2010/main" val="422565241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一次旅游的成本估算</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86</a:t>
            </a:fld>
            <a:endParaRPr lang="zh-CN" altLang="en-US"/>
          </a:p>
        </p:txBody>
      </p:sp>
    </p:spTree>
    <p:extLst>
      <p:ext uri="{BB962C8B-B14F-4D97-AF65-F5344CB8AC3E}">
        <p14:creationId xmlns:p14="http://schemas.microsoft.com/office/powerpoint/2010/main" val="201814935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latin typeface="SourceHanSansSC-Regular"/>
              </a:rPr>
              <a:t>P199</a:t>
            </a:r>
          </a:p>
          <a:p>
            <a:pPr algn="l"/>
            <a:r>
              <a:rPr lang="zh-CN" altLang="en-US" sz="1800" b="0" i="0" u="none" strike="noStrike" baseline="0" dirty="0">
                <a:latin typeface="SourceHanSansSC-Regular"/>
              </a:rPr>
              <a:t>成本类比估算使用以往类似项目的参数值或属性来估算。项目的参数值和属性包括（但不限于）范围、成本、预算、持续时间和规模指标（如尺寸、重量），类比估算以这些项目参数值或属性为基础来估算当前项目的同类参数或指标。</a:t>
            </a:r>
            <a:endParaRPr lang="en-US" altLang="zh-CN" sz="1800" b="0" i="0" u="none" strike="noStrike" baseline="0" dirty="0">
              <a:latin typeface="SourceHanSansSC-Regular"/>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dirty="0"/>
              <a:t>如果被估计的项目包括一种新的程序语言，或使用新型硬件或网络，类比法容易导致很低的估算，准确性比较差。</a:t>
            </a:r>
          </a:p>
          <a:p>
            <a:pPr algn="l"/>
            <a:endParaRPr lang="en-US" altLang="zh-CN" sz="1800" b="0" i="0" u="none" strike="noStrike" baseline="0" dirty="0">
              <a:latin typeface="SourceHanSansSC-Regular"/>
            </a:endParaRPr>
          </a:p>
          <a:p>
            <a:pPr algn="l"/>
            <a:r>
              <a:rPr lang="zh-CN" altLang="en-US" sz="1800" b="0" i="0" u="none" strike="noStrike" baseline="0" dirty="0">
                <a:latin typeface="SourceHanSansSC-Regular"/>
              </a:rPr>
              <a:t>自下而上估算是对工作组成部分进行估算的一种方法。首先对单个工作包或活动的成本进行最具体、细致的估算，然后把这些细节性成本向上汇总或“滚动”到更高层次，用于后续报告和跟踪。自下而上估算的准确性及其本身所需的成本，通常取决于单个活动或工作包的规模或其他属性。</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87</a:t>
            </a:fld>
            <a:endParaRPr lang="zh-CN" altLang="en-US"/>
          </a:p>
        </p:txBody>
      </p:sp>
    </p:spTree>
    <p:extLst>
      <p:ext uri="{BB962C8B-B14F-4D97-AF65-F5344CB8AC3E}">
        <p14:creationId xmlns:p14="http://schemas.microsoft.com/office/powerpoint/2010/main" val="274038972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340A69C-DEF2-48E5-928B-DED24164AF3E}"/>
              </a:ext>
            </a:extLst>
          </p:cNvPr>
          <p:cNvSpPr>
            <a:spLocks noGrp="1" noChangeArrowheads="1"/>
          </p:cNvSpPr>
          <p:nvPr>
            <p:ph type="sldNum" sz="quarter" idx="5"/>
          </p:nvPr>
        </p:nvSpPr>
        <p:spPr>
          <a:ln/>
        </p:spPr>
        <p:txBody>
          <a:bodyPr/>
          <a:lstStyle/>
          <a:p>
            <a:fld id="{B2081149-145E-4B15-9EFB-F110E1D01EDB}" type="slidenum">
              <a:rPr lang="en-US" altLang="zh-CN"/>
              <a:pPr/>
              <a:t>88</a:t>
            </a:fld>
            <a:endParaRPr lang="en-US" altLang="zh-CN"/>
          </a:p>
        </p:txBody>
      </p:sp>
      <p:sp>
        <p:nvSpPr>
          <p:cNvPr id="510978" name="Rectangle 2">
            <a:extLst>
              <a:ext uri="{FF2B5EF4-FFF2-40B4-BE49-F238E27FC236}">
                <a16:creationId xmlns:a16="http://schemas.microsoft.com/office/drawing/2014/main" id="{1C1A1563-5261-44C4-9359-07DA0CBE8D71}"/>
              </a:ext>
            </a:extLst>
          </p:cNvPr>
          <p:cNvSpPr>
            <a:spLocks noGrp="1" noRot="1" noChangeAspect="1" noChangeArrowheads="1" noTextEdit="1"/>
          </p:cNvSpPr>
          <p:nvPr>
            <p:ph type="sldImg"/>
          </p:nvPr>
        </p:nvSpPr>
        <p:spPr>
          <a:xfrm>
            <a:off x="384175" y="687388"/>
            <a:ext cx="6091238" cy="3427412"/>
          </a:xfrm>
          <a:ln/>
        </p:spPr>
      </p:sp>
      <p:sp>
        <p:nvSpPr>
          <p:cNvPr id="510979" name="Rectangle 3">
            <a:extLst>
              <a:ext uri="{FF2B5EF4-FFF2-40B4-BE49-F238E27FC236}">
                <a16:creationId xmlns:a16="http://schemas.microsoft.com/office/drawing/2014/main" id="{F7063FB0-5E08-4EF7-BAAF-A5C8FFFF2DDB}"/>
              </a:ext>
            </a:extLst>
          </p:cNvPr>
          <p:cNvSpPr>
            <a:spLocks noGrp="1" noChangeArrowheads="1"/>
          </p:cNvSpPr>
          <p:nvPr>
            <p:ph type="body" idx="1"/>
          </p:nvPr>
        </p:nvSpPr>
        <p:spPr>
          <a:xfrm>
            <a:off x="236538" y="4202113"/>
            <a:ext cx="6445250" cy="4941887"/>
          </a:xfrm>
        </p:spPr>
        <p:txBody>
          <a:bodyPr/>
          <a:lstStyle/>
          <a:p>
            <a:r>
              <a:rPr lang="zh-CN" altLang="en-US" b="1" dirty="0"/>
              <a:t>类比估算法</a:t>
            </a:r>
            <a:r>
              <a:rPr lang="zh-CN" altLang="en-US" dirty="0"/>
              <a:t>：</a:t>
            </a:r>
            <a:r>
              <a:rPr lang="zh-CN" altLang="en-US" sz="1000" dirty="0"/>
              <a:t>通常是与</a:t>
            </a:r>
            <a:r>
              <a:rPr lang="zh-CN" altLang="en-US" sz="1000" dirty="0">
                <a:solidFill>
                  <a:srgbClr val="FF0066"/>
                </a:solidFill>
              </a:rPr>
              <a:t>原有的类似已执行项目</a:t>
            </a:r>
            <a:r>
              <a:rPr lang="zh-CN" altLang="en-US" sz="1000" dirty="0"/>
              <a:t>进行类比以估计当期项目的费用。</a:t>
            </a:r>
            <a:r>
              <a:rPr lang="zh-CN" altLang="en-US" dirty="0"/>
              <a:t>类比估计采用以前的相似项目的实际成本做为当前项目成本估算的依据来对当前项目进行估算。这是一种专家判断法。当以前的项目跟现在的项目在本质上很相似，而不仅是外表上相似时，类比估算法是最可靠的方法。另外，进行估算的项目组必须拥有所需要的专门技术，以决定项目的某一部分比类比项目便宜还是贵。</a:t>
            </a:r>
          </a:p>
          <a:p>
            <a:r>
              <a:rPr lang="zh-CN" altLang="en-US" dirty="0"/>
              <a:t>但是，如果被估计的项目包括一种新的程序语言，或使用新型硬件或网络，类比法容易导致很低的估算，准确性比较差。</a:t>
            </a:r>
          </a:p>
          <a:p>
            <a:r>
              <a:rPr lang="zh-CN" altLang="en-US" b="1" dirty="0"/>
              <a:t>自下而上的估计</a:t>
            </a:r>
            <a:r>
              <a:rPr lang="zh-CN" altLang="en-US" dirty="0"/>
              <a:t>：</a:t>
            </a:r>
            <a:r>
              <a:rPr lang="zh-CN" altLang="en-US" sz="1000" dirty="0"/>
              <a:t>这种技术通常首先估计各个</a:t>
            </a:r>
            <a:r>
              <a:rPr lang="zh-CN" altLang="en-US" sz="1000" dirty="0">
                <a:solidFill>
                  <a:srgbClr val="FF0066"/>
                </a:solidFill>
              </a:rPr>
              <a:t>独立工作的费用</a:t>
            </a:r>
            <a:r>
              <a:rPr lang="zh-CN" altLang="en-US" sz="1000" dirty="0"/>
              <a:t>，然后再汇总从下往上估计出整个项目的总费用。（</a:t>
            </a:r>
            <a:r>
              <a:rPr lang="zh-CN" altLang="en-US" dirty="0"/>
              <a:t>单独估算项目中的每项活动或工作，然后把他们加起来算出总体项目成本。）这是一种非常准确的估算方法，前提是在工作包级的估算要准确，但是进行这种自下而上的估算需要相当长的时间，因为必须对每个工作包进行估算并且准确地包含在自下而上的计算过程中。</a:t>
            </a:r>
          </a:p>
          <a:p>
            <a:r>
              <a:rPr lang="zh-CN" altLang="en-US" dirty="0"/>
              <a:t>如果一个项目有详细的工作分解结构，可以让最底层的任务负责人建立自己的成本估算，然后将所有的估算加起来，产生更高一级的</a:t>
            </a:r>
            <a:r>
              <a:rPr lang="en-US" altLang="zh-CN" dirty="0"/>
              <a:t>WBS</a:t>
            </a:r>
            <a:r>
              <a:rPr lang="zh-CN" altLang="en-US" dirty="0"/>
              <a:t>项的估算，最终完成整个项目的估算，因为由具体负责人的估算任务的精度比较高。</a:t>
            </a:r>
          </a:p>
          <a:p>
            <a:r>
              <a:rPr lang="zh-CN" altLang="en-US" dirty="0"/>
              <a:t>如果对项目的活动没有准确的信息，应该使用自上而下的技术。</a:t>
            </a:r>
          </a:p>
          <a:p>
            <a:r>
              <a:rPr lang="zh-CN" altLang="en-US" b="1" dirty="0"/>
              <a:t>参数模型估计法</a:t>
            </a:r>
            <a:r>
              <a:rPr lang="zh-CN" altLang="en-US" dirty="0"/>
              <a:t>：</a:t>
            </a:r>
            <a:r>
              <a:rPr lang="zh-CN" altLang="en-US" sz="1000" dirty="0"/>
              <a:t>将项目的</a:t>
            </a:r>
            <a:r>
              <a:rPr lang="zh-CN" altLang="en-US" sz="1000" dirty="0">
                <a:solidFill>
                  <a:srgbClr val="FF0066"/>
                </a:solidFill>
              </a:rPr>
              <a:t>特征参数</a:t>
            </a:r>
            <a:r>
              <a:rPr lang="zh-CN" altLang="en-US" sz="1000" dirty="0"/>
              <a:t>作为预测项目费用数学模型的基本参数。如果模型是依赖于历史信息、模型参数容易数量化，且模型应用仅是项目范围的大小，则它通常是可靠的。</a:t>
            </a:r>
          </a:p>
          <a:p>
            <a:r>
              <a:rPr lang="zh-CN" altLang="en-US" dirty="0"/>
              <a:t>这里的思想是找到一个参数或多个参数，这些参数与项目成本保持成比例的变化关系，然后把这些参数插入一个模型来计算出总体的项目成本。如果建立模型所用的历史信息是精确的、项目参数容易定量化，并且模型就项目大小而言是灵活的，那么这种情况下参数模型是最可靠的。如果参数不合适差距就会很大。</a:t>
            </a:r>
          </a:p>
          <a:p>
            <a:r>
              <a:rPr lang="zh-CN" altLang="en-US" b="1" dirty="0"/>
              <a:t>计算机化的工具</a:t>
            </a:r>
            <a:r>
              <a:rPr lang="zh-CN" altLang="en-US" dirty="0"/>
              <a:t>：</a:t>
            </a:r>
            <a:r>
              <a:rPr lang="zh-CN" altLang="en-US" sz="1000" dirty="0"/>
              <a:t>项目管理软件及电子表格软件辅助项目费用的估计。</a:t>
            </a:r>
          </a:p>
          <a:p>
            <a:r>
              <a:rPr lang="zh-CN" altLang="en-US" dirty="0"/>
              <a:t>项目管理软件对于成本估算而言是一种有用的工具，就象人们使用电子表格的程序一样。借助相关的软件我们</a:t>
            </a:r>
            <a:r>
              <a:rPr lang="zh-CN" altLang="en-US" sz="1000" dirty="0"/>
              <a:t>可以更容易更快速地完成成本估算任务。恰当应用计算机化工具，有助于改善估算的准确性。</a:t>
            </a:r>
          </a:p>
          <a:p>
            <a:endParaRPr lang="en-US" altLang="zh-CN" sz="1000" dirty="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a:extLst>
              <a:ext uri="{FF2B5EF4-FFF2-40B4-BE49-F238E27FC236}">
                <a16:creationId xmlns:a16="http://schemas.microsoft.com/office/drawing/2014/main" id="{11E574FF-9341-4FBF-BD38-FD0649CBF948}"/>
              </a:ext>
            </a:extLst>
          </p:cNvPr>
          <p:cNvSpPr>
            <a:spLocks noGrp="1" noRot="1" noChangeAspect="1" noTextEdit="1"/>
          </p:cNvSpPr>
          <p:nvPr>
            <p:ph type="sldImg"/>
          </p:nvPr>
        </p:nvSpPr>
        <p:spPr>
          <a:xfrm>
            <a:off x="481013" y="1279525"/>
            <a:ext cx="6142037" cy="3454400"/>
          </a:xfrm>
          <a:ln/>
        </p:spPr>
      </p:sp>
      <p:sp>
        <p:nvSpPr>
          <p:cNvPr id="48131" name="备注占位符 2">
            <a:extLst>
              <a:ext uri="{FF2B5EF4-FFF2-40B4-BE49-F238E27FC236}">
                <a16:creationId xmlns:a16="http://schemas.microsoft.com/office/drawing/2014/main" id="{EEB8E4A9-C63A-4C9D-96E2-FD93EF7348B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Arial" panose="020B0604020202020204" pitchFamily="34" charset="0"/>
              </a:rPr>
              <a:t>http://wiki.mbalib.com/wiki/PERT</a:t>
            </a:r>
            <a:endParaRPr lang="zh-CN" altLang="en-US" dirty="0">
              <a:latin typeface="Arial" panose="020B0604020202020204" pitchFamily="34" charset="0"/>
            </a:endParaRPr>
          </a:p>
        </p:txBody>
      </p:sp>
      <p:sp>
        <p:nvSpPr>
          <p:cNvPr id="48132" name="灯片编号占位符 3">
            <a:extLst>
              <a:ext uri="{FF2B5EF4-FFF2-40B4-BE49-F238E27FC236}">
                <a16:creationId xmlns:a16="http://schemas.microsoft.com/office/drawing/2014/main" id="{54970692-A29C-4E59-989C-4CCEB0BAFEA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fld id="{A14BEF6E-1998-4FE3-96E6-7E7AB6A2C7B8}" type="slidenum">
              <a:rPr lang="zh-CN" altLang="en-US" b="0"/>
              <a:pPr eaLnBrk="1" hangingPunct="1"/>
              <a:t>89</a:t>
            </a:fld>
            <a:endParaRPr lang="en-US" altLang="zh-CN" b="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1" i="0" u="none" strike="noStrike" baseline="0" dirty="0">
                <a:latin typeface="SourceHanSansSC-Bold"/>
              </a:rPr>
              <a:t>储备分析。</a:t>
            </a:r>
            <a:r>
              <a:rPr lang="zh-CN" altLang="en-US" sz="1800" b="0" i="0" u="none" strike="noStrike" baseline="0" dirty="0">
                <a:latin typeface="SourceHanSansSC-Regular"/>
              </a:rPr>
              <a:t>为应对成本的不确定性，成本估算中可以包括应急储备（有时称为“应急费用”）。</a:t>
            </a:r>
            <a:endParaRPr lang="en-US" altLang="zh-CN" sz="1800" b="0" i="0" u="none" strike="noStrike" baseline="0" dirty="0">
              <a:latin typeface="SourceHanSansSC-Regular"/>
            </a:endParaRPr>
          </a:p>
          <a:p>
            <a:pPr algn="l"/>
            <a:r>
              <a:rPr lang="en-US" altLang="zh-CN" sz="1800" b="0" i="0" u="none" strike="noStrike" baseline="0" dirty="0">
                <a:latin typeface="SourceHanSansSC-Regular"/>
              </a:rPr>
              <a:t>  </a:t>
            </a:r>
            <a:r>
              <a:rPr lang="zh-CN" altLang="en-US" sz="1800" b="0" i="0" u="none" strike="noStrike" baseline="0" dirty="0">
                <a:latin typeface="SourceHanSansSC-Regular"/>
              </a:rPr>
              <a:t>应急储备是包含在成本基准内的一部分预算，用来应对已识别的风险；应急储备还通常是预算的一部分，用来应对那些会影响项目的“已知 </a:t>
            </a:r>
            <a:r>
              <a:rPr lang="en-US" altLang="zh-CN" sz="1800" b="0" i="0" u="none" strike="noStrike" baseline="0" dirty="0">
                <a:latin typeface="SourceHanSansSC-Regular"/>
              </a:rPr>
              <a:t>— </a:t>
            </a:r>
            <a:r>
              <a:rPr lang="zh-CN" altLang="en-US" sz="1800" b="0" i="0" u="none" strike="noStrike" baseline="0" dirty="0">
                <a:latin typeface="SourceHanSansSC-Regular"/>
              </a:rPr>
              <a:t>未知”风险。例如，可以预知有些项目可交付成果需要返工，却不知道返工的工作量是多少。可以预留应急储备来应对这些未知数量的返工工作。小至某个具体活动，大到整个项目，任何层级都可有其应急储备。应急储备可取成本估算值的某一百分比、某个固定值，或者通过定量分析来确定。</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90</a:t>
            </a:fld>
            <a:endParaRPr lang="zh-CN" altLang="en-US"/>
          </a:p>
        </p:txBody>
      </p:sp>
    </p:spTree>
    <p:extLst>
      <p:ext uri="{BB962C8B-B14F-4D97-AF65-F5344CB8AC3E}">
        <p14:creationId xmlns:p14="http://schemas.microsoft.com/office/powerpoint/2010/main" val="1032231254"/>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latin typeface="SourceHanSansSC-Regular"/>
              </a:rPr>
              <a:t>P200</a:t>
            </a:r>
          </a:p>
          <a:p>
            <a:r>
              <a:rPr lang="zh-CN" altLang="en-US" sz="1800" dirty="0"/>
              <a:t>尽管有许多辅助进行项目成本估算的方法和技术，但是</a:t>
            </a:r>
            <a:r>
              <a:rPr lang="en-US" altLang="zh-CN" sz="1800" dirty="0"/>
              <a:t>IT</a:t>
            </a:r>
            <a:r>
              <a:rPr lang="zh-CN" altLang="en-US" sz="1800" dirty="0"/>
              <a:t>项目成本估算仍然非常不精确。特别是那些涉及新技术和软件开发的项目。其原因有以下几点：</a:t>
            </a:r>
          </a:p>
          <a:p>
            <a:endParaRPr lang="zh-CN" altLang="en-US" sz="18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dirty="0"/>
              <a:t>一，</a:t>
            </a:r>
            <a:r>
              <a:rPr lang="zh-CN" altLang="en-US" sz="2800" b="1" dirty="0">
                <a:solidFill>
                  <a:schemeClr val="tx1"/>
                </a:solidFill>
                <a:latin typeface="微软雅黑" panose="020B0503020204020204" pitchFamily="34" charset="-122"/>
                <a:ea typeface="微软雅黑" panose="020B0503020204020204" pitchFamily="34" charset="-122"/>
              </a:rPr>
              <a:t>估算做得太急</a:t>
            </a:r>
            <a:endParaRPr lang="en-US" altLang="zh-CN" sz="2800" b="1" dirty="0">
              <a:solidFill>
                <a:schemeClr val="tx1"/>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800" b="1" dirty="0">
                <a:solidFill>
                  <a:schemeClr val="tx1"/>
                </a:solidFill>
                <a:latin typeface="微软雅黑" panose="020B0503020204020204" pitchFamily="34" charset="-122"/>
                <a:ea typeface="微软雅黑" panose="020B0503020204020204" pitchFamily="34" charset="-122"/>
              </a:rPr>
              <a:t>为大型软件项目做一个估算是一项复杂的任务，需要巨大的努力。很多估算必须迅速进行，并且在明确系统要求之前作出。</a:t>
            </a:r>
          </a:p>
          <a:p>
            <a:r>
              <a:rPr lang="zh-CN" altLang="en-US" sz="1800" dirty="0"/>
              <a:t>例如，在前面讲的“巡检机器人”项目，包括许多复杂的软件开发，在充分理解用户对系统的真正需求之前，一些人不得不为该项目制定量级估算和预算估算。对</a:t>
            </a:r>
            <a:r>
              <a:rPr lang="en-US" altLang="zh-CN" sz="1800" dirty="0"/>
              <a:t>IT</a:t>
            </a:r>
            <a:r>
              <a:rPr lang="zh-CN" altLang="en-US" sz="1800" dirty="0"/>
              <a:t>项目来说更精确的估计很难，晚期的估算常比早期的精确。牢记在项目不同阶段进行估算是十分重要的，项目经理需要解释每个估算的合理性。</a:t>
            </a:r>
          </a:p>
          <a:p>
            <a:endParaRPr lang="zh-CN" altLang="en-US" sz="18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dirty="0"/>
              <a:t>二，</a:t>
            </a:r>
            <a:r>
              <a:rPr lang="zh-CN" altLang="en-US" sz="2800" b="1" dirty="0">
                <a:solidFill>
                  <a:schemeClr val="tx1"/>
                </a:solidFill>
                <a:latin typeface="微软雅黑" panose="020B0503020204020204" pitchFamily="34" charset="-122"/>
                <a:ea typeface="微软雅黑" panose="020B0503020204020204" pitchFamily="34" charset="-122"/>
              </a:rPr>
              <a:t>缺乏估算经验</a:t>
            </a:r>
            <a:endParaRPr lang="en-US" altLang="zh-CN" sz="2800" b="1" dirty="0">
              <a:solidFill>
                <a:schemeClr val="tx1"/>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800" b="1" dirty="0">
                <a:solidFill>
                  <a:schemeClr val="tx1"/>
                </a:solidFill>
                <a:latin typeface="微软雅黑" panose="020B0503020204020204" pitchFamily="34" charset="-122"/>
                <a:ea typeface="微软雅黑" panose="020B0503020204020204" pitchFamily="34" charset="-122"/>
              </a:rPr>
              <a:t>进行软件成本估算的人经常没有太多的成本估算经验，特别是对大型项目而言。也没有足够多的精确、可靠的数据作为项目估算的依据。</a:t>
            </a:r>
          </a:p>
          <a:p>
            <a:r>
              <a:rPr lang="zh-CN" altLang="en-US" sz="1800" dirty="0"/>
              <a:t>如果公司使用好的项目经理，有良好的记录项目信息（包括估算信息）的历史，将有助于改进估计。允许信息技术人员在成本估计上接受培训和指导也将提高成本估算。</a:t>
            </a:r>
          </a:p>
          <a:p>
            <a:endParaRPr lang="zh-CN" altLang="en-US" sz="18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dirty="0"/>
              <a:t>三，</a:t>
            </a:r>
            <a:r>
              <a:rPr lang="zh-CN" altLang="en-US" sz="2800" b="1" dirty="0">
                <a:solidFill>
                  <a:schemeClr val="tx1"/>
                </a:solidFill>
                <a:latin typeface="微软雅黑" panose="020B0503020204020204" pitchFamily="34" charset="-122"/>
                <a:ea typeface="微软雅黑" panose="020B0503020204020204" pitchFamily="34" charset="-122"/>
              </a:rPr>
              <a:t>低估困难的倾向</a:t>
            </a:r>
            <a:endParaRPr lang="en-US" altLang="zh-CN" sz="2800" b="1" dirty="0">
              <a:solidFill>
                <a:schemeClr val="tx1"/>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800" b="1" dirty="0">
                <a:solidFill>
                  <a:schemeClr val="tx1"/>
                </a:solidFill>
                <a:latin typeface="微软雅黑" panose="020B0503020204020204" pitchFamily="34" charset="-122"/>
                <a:ea typeface="微软雅黑" panose="020B0503020204020204" pitchFamily="34" charset="-122"/>
              </a:rPr>
              <a:t>项目经理或高级管理者很可能以自身的能力为基础做估计，而忘记真正工作的是他的下级。另外，经常忘记大型</a:t>
            </a:r>
            <a:r>
              <a:rPr lang="en-US" altLang="zh-CN" sz="2800" b="1" dirty="0">
                <a:solidFill>
                  <a:schemeClr val="tx1"/>
                </a:solidFill>
                <a:latin typeface="微软雅黑" panose="020B0503020204020204" pitchFamily="34" charset="-122"/>
                <a:ea typeface="微软雅黑" panose="020B0503020204020204" pitchFamily="34" charset="-122"/>
              </a:rPr>
              <a:t>IT</a:t>
            </a:r>
            <a:r>
              <a:rPr lang="zh-CN" altLang="en-US" sz="2800" b="1" dirty="0">
                <a:solidFill>
                  <a:schemeClr val="tx1"/>
                </a:solidFill>
                <a:latin typeface="微软雅黑" panose="020B0503020204020204" pitchFamily="34" charset="-122"/>
                <a:ea typeface="微软雅黑" panose="020B0503020204020204" pitchFamily="34" charset="-122"/>
              </a:rPr>
              <a:t>项目的综合和测试所需要的额外成本。</a:t>
            </a:r>
            <a:endParaRPr lang="en-US" altLang="zh-CN" sz="2000" b="1" dirty="0">
              <a:solidFill>
                <a:schemeClr val="tx1"/>
              </a:solidFill>
              <a:latin typeface="微软雅黑" panose="020B0503020204020204" pitchFamily="34" charset="-122"/>
              <a:ea typeface="微软雅黑" panose="020B0503020204020204" pitchFamily="34" charset="-122"/>
            </a:endParaRPr>
          </a:p>
          <a:p>
            <a:r>
              <a:rPr lang="zh-CN" altLang="en-US" sz="1800" dirty="0"/>
              <a:t>对于项目经理和高级管理人员而言，审查估算和询问重要问题以确保估算不产生偏差是十分重要的，</a:t>
            </a:r>
            <a:r>
              <a:rPr lang="en-US" altLang="zh-CN" sz="1800" dirty="0"/>
              <a:t>IQ》130</a:t>
            </a:r>
            <a:r>
              <a:rPr lang="zh-CN" altLang="en-US" sz="1800" dirty="0"/>
              <a:t>？</a:t>
            </a:r>
          </a:p>
          <a:p>
            <a:endParaRPr lang="zh-CN" altLang="en-US" sz="18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dirty="0"/>
              <a:t>四，</a:t>
            </a:r>
            <a:r>
              <a:rPr lang="zh-CN" altLang="en-US" sz="2800" b="1" dirty="0">
                <a:solidFill>
                  <a:schemeClr val="tx1"/>
                </a:solidFill>
                <a:latin typeface="微软雅黑" panose="020B0503020204020204" pitchFamily="34" charset="-122"/>
                <a:ea typeface="微软雅黑" panose="020B0503020204020204" pitchFamily="34" charset="-122"/>
              </a:rPr>
              <a:t>管理要求准确性</a:t>
            </a:r>
            <a:endParaRPr lang="en-US" altLang="zh-CN" sz="2800" b="1" dirty="0">
              <a:solidFill>
                <a:schemeClr val="tx1"/>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800" b="1" dirty="0">
                <a:latin typeface="微软雅黑" panose="020B0503020204020204" pitchFamily="34" charset="-122"/>
                <a:ea typeface="微软雅黑" panose="020B0503020204020204" pitchFamily="34" charset="-122"/>
              </a:rPr>
              <a:t>管理者可能要求做估计，但是其真正需要的只是一个能帮助赢得合同或者获得内部资金的一个数字。</a:t>
            </a:r>
          </a:p>
          <a:p>
            <a:r>
              <a:rPr lang="zh-CN" altLang="en-US" sz="1800" dirty="0"/>
              <a:t>项目经理帮助管理者建立好的成本和进度估算，并运用领导能力以及谈判技巧去支持那些估算是非常重要的。</a:t>
            </a:r>
          </a:p>
          <a:p>
            <a:r>
              <a:rPr lang="zh-CN" altLang="en-US" sz="1800" dirty="0"/>
              <a:t>作为项目经理除了要满足客户和高级领导层的要求外，还要为你的项目组考虑，运用你的谈判技巧为你的项目组争取应得的时间和预算。</a:t>
            </a:r>
            <a:endParaRPr lang="ja-JP" altLang="en-US" sz="1800" dirty="0"/>
          </a:p>
          <a:p>
            <a:pPr algn="l"/>
            <a:endParaRPr lang="en-US" altLang="zh-CN" sz="1800" b="0" i="0" u="none" strike="noStrike" baseline="0" dirty="0">
              <a:latin typeface="SourceHanSansSC-Regular"/>
            </a:endParaRPr>
          </a:p>
        </p:txBody>
      </p:sp>
      <p:sp>
        <p:nvSpPr>
          <p:cNvPr id="4" name="灯片编号占位符 3"/>
          <p:cNvSpPr>
            <a:spLocks noGrp="1"/>
          </p:cNvSpPr>
          <p:nvPr>
            <p:ph type="sldNum" sz="quarter" idx="5"/>
          </p:nvPr>
        </p:nvSpPr>
        <p:spPr/>
        <p:txBody>
          <a:bodyPr/>
          <a:lstStyle/>
          <a:p>
            <a:fld id="{65ACE964-20FD-4E02-AD78-D23A92B56B1B}" type="slidenum">
              <a:rPr lang="zh-CN" altLang="en-US" smtClean="0"/>
              <a:t>91</a:t>
            </a:fld>
            <a:endParaRPr lang="zh-CN" altLang="en-US"/>
          </a:p>
        </p:txBody>
      </p:sp>
    </p:spTree>
    <p:extLst>
      <p:ext uri="{BB962C8B-B14F-4D97-AF65-F5344CB8AC3E}">
        <p14:creationId xmlns:p14="http://schemas.microsoft.com/office/powerpoint/2010/main" val="1014116036"/>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  </a:t>
            </a:r>
            <a:r>
              <a:rPr lang="zh-CN" altLang="en-US" dirty="0"/>
              <a:t>因中</a:t>
            </a:r>
            <a:r>
              <a:rPr lang="zh-CN" altLang="en-US" dirty="0">
                <a:ea typeface="宋体" panose="02010600030101010101" pitchFamily="2" charset="-122"/>
              </a:rPr>
              <a:t>河水可能上涨，房子就有可能被冲垮，是可以预见有可能的，是已识别的风险</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92</a:t>
            </a:fld>
            <a:endParaRPr lang="zh-CN" altLang="en-US"/>
          </a:p>
        </p:txBody>
      </p:sp>
    </p:spTree>
    <p:extLst>
      <p:ext uri="{BB962C8B-B14F-4D97-AF65-F5344CB8AC3E}">
        <p14:creationId xmlns:p14="http://schemas.microsoft.com/office/powerpoint/2010/main" val="8931389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幻灯片图像占位符 1">
            <a:extLst>
              <a:ext uri="{FF2B5EF4-FFF2-40B4-BE49-F238E27FC236}">
                <a16:creationId xmlns:a16="http://schemas.microsoft.com/office/drawing/2014/main" id="{A2E7161D-E36C-4129-9FDB-FF007A19E9B8}"/>
              </a:ext>
            </a:extLst>
          </p:cNvPr>
          <p:cNvSpPr>
            <a:spLocks noGrp="1" noRot="1" noChangeAspect="1" noChangeArrowheads="1" noTextEdit="1"/>
          </p:cNvSpPr>
          <p:nvPr>
            <p:ph type="sldImg"/>
          </p:nvPr>
        </p:nvSpPr>
        <p:spPr bwMode="auto">
          <a:xfrm>
            <a:off x="481013" y="1279525"/>
            <a:ext cx="6142037"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6307" name="备注占位符 2">
            <a:extLst>
              <a:ext uri="{FF2B5EF4-FFF2-40B4-BE49-F238E27FC236}">
                <a16:creationId xmlns:a16="http://schemas.microsoft.com/office/drawing/2014/main" id="{1E0DE9EF-D272-4393-AD1C-125869E9FF0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dirty="0"/>
              <a:t>P204</a:t>
            </a:r>
          </a:p>
          <a:p>
            <a:r>
              <a:rPr lang="en-US" altLang="zh-CN" dirty="0"/>
              <a:t>1.</a:t>
            </a:r>
            <a:r>
              <a:rPr lang="zh-CN" altLang="zh-CN" dirty="0"/>
              <a:t>目的</a:t>
            </a:r>
          </a:p>
          <a:p>
            <a:r>
              <a:rPr lang="zh-CN" altLang="zh-CN" dirty="0"/>
              <a:t>确定成本基准，据此进行监督和控制项目绩效。</a:t>
            </a:r>
          </a:p>
          <a:p>
            <a:r>
              <a:rPr lang="zh-CN" altLang="zh-CN" b="1" dirty="0"/>
              <a:t>项目预算</a:t>
            </a:r>
            <a:r>
              <a:rPr lang="zh-CN" altLang="zh-CN" dirty="0"/>
              <a:t>包括经批准的用于项目的全部资金。</a:t>
            </a:r>
          </a:p>
          <a:p>
            <a:r>
              <a:rPr lang="zh-CN" altLang="zh-CN" b="1" dirty="0"/>
              <a:t>成本基准</a:t>
            </a:r>
            <a:r>
              <a:rPr lang="zh-CN" altLang="zh-CN" dirty="0"/>
              <a:t>是经过批准且按时间段分配的项目预算，但不包括管理储备。</a:t>
            </a:r>
          </a:p>
          <a:p>
            <a:r>
              <a:rPr lang="zh-CN" altLang="zh-CN" dirty="0"/>
              <a:t>（预算</a:t>
            </a:r>
            <a:r>
              <a:rPr lang="zh-CN" altLang="en-US" dirty="0"/>
              <a:t>比</a:t>
            </a:r>
            <a:r>
              <a:rPr lang="zh-CN" altLang="zh-CN" dirty="0"/>
              <a:t>基准的</a:t>
            </a:r>
            <a:r>
              <a:rPr lang="zh-CN" altLang="en-US" dirty="0"/>
              <a:t>多了</a:t>
            </a:r>
            <a:r>
              <a:rPr lang="zh-CN" altLang="zh-CN" dirty="0"/>
              <a:t>管理储备</a:t>
            </a:r>
            <a:r>
              <a:rPr lang="zh-CN" altLang="en-US" dirty="0"/>
              <a:t>，基准是分时段的</a:t>
            </a:r>
            <a:r>
              <a:rPr lang="zh-CN" altLang="zh-CN" dirty="0"/>
              <a:t>）</a:t>
            </a:r>
          </a:p>
          <a:p>
            <a:r>
              <a:rPr lang="en-US" altLang="zh-CN" dirty="0"/>
              <a:t> </a:t>
            </a:r>
            <a:r>
              <a:rPr lang="zh-CN" altLang="en-US" dirty="0"/>
              <a:t>制定</a:t>
            </a:r>
            <a:r>
              <a:rPr lang="zh-CN" altLang="en-US" sz="1200" dirty="0"/>
              <a:t>成本预算是将成本估算分配给单项工作任务，因此，制定项目进度和成本估算过程必须在制定成本预算过程之前完成。</a:t>
            </a:r>
            <a:endParaRPr lang="en-US" altLang="zh-CN" sz="1200" dirty="0"/>
          </a:p>
          <a:p>
            <a:endParaRPr lang="en-US" altLang="zh-CN" dirty="0"/>
          </a:p>
          <a:p>
            <a:r>
              <a:rPr lang="en-US" altLang="zh-CN" dirty="0"/>
              <a:t>4.</a:t>
            </a:r>
            <a:r>
              <a:rPr lang="zh-CN" altLang="zh-CN" dirty="0"/>
              <a:t>重点输出</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制定成本预算过程向各个项目活动分配成本估算，用来在以后的过程组中衡量项目的变更情况，因此制定成本预算的输出是衡量成本的基线，即成本基准。</a:t>
            </a:r>
          </a:p>
          <a:p>
            <a:r>
              <a:rPr lang="zh-CN" altLang="zh-CN" b="1" dirty="0"/>
              <a:t>成本基准</a:t>
            </a:r>
            <a:r>
              <a:rPr lang="en-US" altLang="zh-CN" b="1" dirty="0"/>
              <a:t>:</a:t>
            </a:r>
            <a:r>
              <a:rPr lang="zh-CN" altLang="en-US" b="1" dirty="0"/>
              <a:t>（见下页）</a:t>
            </a:r>
            <a:r>
              <a:rPr lang="en-US" altLang="zh-CN" b="1" dirty="0"/>
              <a:t> </a:t>
            </a:r>
            <a:r>
              <a:rPr lang="zh-CN" altLang="zh-CN" strike="sngStrike" dirty="0"/>
              <a:t>经过批准的、按时间段分配的项目预算，不包含任何管理储备，只有通过变更控制才能修改。</a:t>
            </a:r>
            <a:r>
              <a:rPr lang="zh-CN" altLang="en-US" sz="1200" strike="sngStrike" kern="1200" dirty="0">
                <a:solidFill>
                  <a:schemeClr val="tx1"/>
                </a:solidFill>
                <a:effectLst/>
                <a:latin typeface="+mn-lt"/>
                <a:ea typeface="+mn-ea"/>
                <a:cs typeface="+mn-cs"/>
              </a:rPr>
              <a:t>成本基准</a:t>
            </a:r>
            <a:r>
              <a:rPr lang="zh-CN" altLang="zh-CN" strike="sngStrike" dirty="0"/>
              <a:t>是不同进度活动经批准的预算的综合。</a:t>
            </a:r>
          </a:p>
          <a:p>
            <a:r>
              <a:rPr lang="en-US" altLang="zh-CN" dirty="0"/>
              <a:t> </a:t>
            </a:r>
            <a:endParaRPr lang="zh-CN" altLang="zh-CN" dirty="0"/>
          </a:p>
          <a:p>
            <a:r>
              <a:rPr lang="zh-CN" altLang="zh-CN" dirty="0"/>
              <a:t>项目资金需求：根据成本基准，确定总资金需求和阶段性资金需求。成本基准中既包括预计的指出，也包括预计的债务。</a:t>
            </a:r>
          </a:p>
          <a:p>
            <a:r>
              <a:rPr lang="en-US" altLang="zh-CN" dirty="0"/>
              <a:t> </a:t>
            </a:r>
            <a:endParaRPr lang="zh-CN" altLang="zh-CN" dirty="0"/>
          </a:p>
          <a:p>
            <a:r>
              <a:rPr lang="zh-CN" altLang="zh-CN" dirty="0"/>
              <a:t>项目文件更新：风险登记册、活动成本估算、项目进度计划。</a:t>
            </a:r>
            <a:endParaRPr lang="en-US" altLang="zh-CN" dirty="0"/>
          </a:p>
          <a:p>
            <a:endParaRPr lang="en-US" altLang="zh-CN" dirty="0"/>
          </a:p>
          <a:p>
            <a:pPr marL="0" lvl="1" indent="0" defTabSz="449263">
              <a:lnSpc>
                <a:spcPts val="2800"/>
              </a:lnSpc>
              <a:buFont typeface="Wingdings" pitchFamily="2" charset="2"/>
              <a:buNone/>
            </a:pPr>
            <a:r>
              <a:rPr lang="zh-CN" altLang="zh-CN" sz="2800" dirty="0">
                <a:latin typeface="Times New Roman" pitchFamily="18" charset="0"/>
                <a:ea typeface="黑体" pitchFamily="2" charset="-122"/>
                <a:cs typeface="Times New Roman" pitchFamily="18" charset="0"/>
              </a:rPr>
              <a:t>项目成本预算的特征与原则</a:t>
            </a:r>
            <a:endParaRPr lang="en-US" altLang="zh-CN" sz="2800" dirty="0">
              <a:latin typeface="Times New Roman" pitchFamily="18" charset="0"/>
              <a:ea typeface="黑体" pitchFamily="2" charset="-122"/>
              <a:cs typeface="Times New Roman" pitchFamily="18" charset="0"/>
            </a:endParaRPr>
          </a:p>
          <a:p>
            <a:pPr marL="396875" lvl="2" indent="0" defTabSz="449263">
              <a:lnSpc>
                <a:spcPts val="2800"/>
              </a:lnSpc>
              <a:buFont typeface="Wingdings" pitchFamily="2" charset="2"/>
              <a:buChar char="n"/>
            </a:pPr>
            <a:r>
              <a:rPr lang="zh-CN" altLang="en-US" sz="2400" dirty="0">
                <a:latin typeface="Times New Roman" pitchFamily="18" charset="0"/>
                <a:ea typeface="黑体" pitchFamily="2" charset="-122"/>
                <a:cs typeface="Times New Roman" pitchFamily="18" charset="0"/>
              </a:rPr>
              <a:t>特征</a:t>
            </a:r>
            <a:r>
              <a:rPr lang="en-US" altLang="zh-CN" sz="2400" dirty="0">
                <a:latin typeface="Times New Roman" pitchFamily="18" charset="0"/>
                <a:ea typeface="黑体" pitchFamily="2" charset="-122"/>
                <a:cs typeface="Times New Roman" pitchFamily="18" charset="0"/>
              </a:rPr>
              <a:t>: </a:t>
            </a:r>
            <a:r>
              <a:rPr lang="zh-CN" altLang="en-US" dirty="0">
                <a:latin typeface="Times New Roman" pitchFamily="18" charset="0"/>
                <a:ea typeface="黑体" pitchFamily="2" charset="-122"/>
                <a:cs typeface="Times New Roman" pitchFamily="18" charset="0"/>
              </a:rPr>
              <a:t>计划性、约束性、控制性</a:t>
            </a:r>
            <a:endParaRPr lang="en-US" altLang="zh-CN" dirty="0">
              <a:latin typeface="Times New Roman" pitchFamily="18" charset="0"/>
              <a:ea typeface="黑体" pitchFamily="2" charset="-122"/>
              <a:cs typeface="Times New Roman" pitchFamily="18" charset="0"/>
            </a:endParaRPr>
          </a:p>
          <a:p>
            <a:pPr marL="396875" lvl="2" indent="0" defTabSz="449263">
              <a:lnSpc>
                <a:spcPts val="2800"/>
              </a:lnSpc>
              <a:buFont typeface="Wingdings" pitchFamily="2" charset="2"/>
              <a:buChar char="n"/>
            </a:pPr>
            <a:r>
              <a:rPr lang="zh-CN" altLang="en-US" sz="2400" dirty="0">
                <a:latin typeface="Times New Roman" pitchFamily="18" charset="0"/>
                <a:ea typeface="黑体" pitchFamily="2" charset="-122"/>
                <a:cs typeface="Times New Roman" pitchFamily="18" charset="0"/>
              </a:rPr>
              <a:t>原则：</a:t>
            </a:r>
            <a:r>
              <a:rPr lang="en-US" altLang="zh-CN" dirty="0">
                <a:latin typeface="Times New Roman" pitchFamily="18" charset="0"/>
                <a:ea typeface="黑体" pitchFamily="2" charset="-122"/>
                <a:cs typeface="Times New Roman" pitchFamily="18" charset="0"/>
              </a:rPr>
              <a:t>(1)</a:t>
            </a:r>
            <a:r>
              <a:rPr lang="zh-CN" altLang="en-US" dirty="0">
                <a:latin typeface="Times New Roman" pitchFamily="18" charset="0"/>
                <a:ea typeface="黑体" pitchFamily="2" charset="-122"/>
                <a:cs typeface="Times New Roman" pitchFamily="18" charset="0"/>
              </a:rPr>
              <a:t>项目成本预算要与项目目标相联系，</a:t>
            </a:r>
            <a:r>
              <a:rPr lang="en-US" altLang="zh-CN" dirty="0">
                <a:latin typeface="Times New Roman" pitchFamily="18" charset="0"/>
                <a:ea typeface="黑体" pitchFamily="2" charset="-122"/>
                <a:cs typeface="Times New Roman" pitchFamily="18" charset="0"/>
              </a:rPr>
              <a:t>(2)</a:t>
            </a:r>
            <a:r>
              <a:rPr lang="zh-CN" altLang="en-US" dirty="0">
                <a:latin typeface="Times New Roman" pitchFamily="18" charset="0"/>
                <a:ea typeface="黑体" pitchFamily="2" charset="-122"/>
                <a:cs typeface="Times New Roman" pitchFamily="18" charset="0"/>
              </a:rPr>
              <a:t>项目成本预算要以项目需求为基础，</a:t>
            </a:r>
            <a:r>
              <a:rPr lang="en-US" altLang="zh-CN" dirty="0">
                <a:latin typeface="Times New Roman" pitchFamily="18" charset="0"/>
                <a:ea typeface="黑体" pitchFamily="2" charset="-122"/>
                <a:cs typeface="Times New Roman" pitchFamily="18" charset="0"/>
              </a:rPr>
              <a:t>(3)</a:t>
            </a:r>
            <a:r>
              <a:rPr lang="zh-CN" altLang="en-US" dirty="0">
                <a:latin typeface="Times New Roman" pitchFamily="18" charset="0"/>
                <a:ea typeface="黑体" pitchFamily="2" charset="-122"/>
                <a:cs typeface="Times New Roman" pitchFamily="18" charset="0"/>
              </a:rPr>
              <a:t>项目成本预算要切实可行，</a:t>
            </a:r>
            <a:r>
              <a:rPr lang="en-US" altLang="zh-CN" dirty="0">
                <a:latin typeface="Times New Roman" pitchFamily="18" charset="0"/>
                <a:ea typeface="黑体" pitchFamily="2" charset="-122"/>
                <a:cs typeface="Times New Roman" pitchFamily="18" charset="0"/>
              </a:rPr>
              <a:t>(4)</a:t>
            </a:r>
            <a:r>
              <a:rPr lang="zh-CN" altLang="zh-CN" dirty="0">
                <a:latin typeface="Times New Roman" pitchFamily="18" charset="0"/>
                <a:ea typeface="黑体" pitchFamily="2" charset="-122"/>
                <a:cs typeface="Times New Roman" pitchFamily="18" charset="0"/>
              </a:rPr>
              <a:t>项目成本预算应当有一定的弹性</a:t>
            </a:r>
          </a:p>
          <a:p>
            <a:endParaRPr lang="zh-CN" altLang="en-US" dirty="0"/>
          </a:p>
        </p:txBody>
      </p:sp>
      <p:sp>
        <p:nvSpPr>
          <p:cNvPr id="226308" name="灯片编号占位符 3">
            <a:extLst>
              <a:ext uri="{FF2B5EF4-FFF2-40B4-BE49-F238E27FC236}">
                <a16:creationId xmlns:a16="http://schemas.microsoft.com/office/drawing/2014/main" id="{D694BFDD-A3DF-4F3D-B7E0-33F90DA76A4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F5ED3FE-4487-4CB9-A5BC-555757105D72}" type="slidenum">
              <a:rPr lang="zh-CN" altLang="en-US" smtClean="0"/>
              <a:pPr/>
              <a:t>93</a:t>
            </a:fld>
            <a:endParaRPr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7.3.2 </a:t>
            </a:r>
            <a:r>
              <a:rPr lang="zh-CN" altLang="en-US" sz="1800" b="0" i="0" u="none" strike="noStrike" baseline="0" dirty="0">
                <a:latin typeface="SourceHanSansSC-Medium"/>
              </a:rPr>
              <a:t>制定预算：工具与技术</a:t>
            </a:r>
          </a:p>
          <a:p>
            <a:pPr algn="l"/>
            <a:r>
              <a:rPr lang="en-US" altLang="zh-CN" sz="1800" b="0" i="0" u="none" strike="noStrike" baseline="0" dirty="0">
                <a:latin typeface="HelveticaNeue-MediumCond"/>
              </a:rPr>
              <a:t>7.3.2.1 </a:t>
            </a:r>
            <a:r>
              <a:rPr lang="zh-CN" altLang="en-US" sz="1800" b="0" i="0" u="none" strike="noStrike" baseline="0" dirty="0">
                <a:latin typeface="SourceHanSansSC-Medium"/>
              </a:rPr>
              <a:t>专家判断</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4.1.2.1 </a:t>
            </a:r>
            <a:r>
              <a:rPr lang="zh-CN" altLang="en-US" sz="1800" b="0" i="0" u="none" strike="noStrike" baseline="0" dirty="0">
                <a:latin typeface="SourceHanSansSC-Regular"/>
              </a:rPr>
              <a:t>节。应征求具备以下专业知识或接受过相关培训的个人或小组的意见：</a:t>
            </a:r>
          </a:p>
          <a:p>
            <a:pPr algn="l"/>
            <a:r>
              <a:rPr lang="en-US" altLang="zh-CN" sz="1800" b="0" i="0" u="none" strike="noStrike" baseline="0" dirty="0">
                <a:latin typeface="Wingdings-Regular"/>
              </a:rPr>
              <a:t>  </a:t>
            </a:r>
            <a:r>
              <a:rPr lang="zh-CN" altLang="en-US" sz="1800" b="0" i="0" u="none" strike="noStrike" baseline="0" dirty="0">
                <a:latin typeface="SourceHanSansSC-Regular"/>
              </a:rPr>
              <a:t>以往类似项目；</a:t>
            </a:r>
          </a:p>
          <a:p>
            <a:pPr algn="l"/>
            <a:r>
              <a:rPr lang="en-US" altLang="zh-CN" sz="1800" b="0" i="0" u="none" strike="noStrike" baseline="0" dirty="0">
                <a:latin typeface="Wingdings-Regular"/>
              </a:rPr>
              <a:t>  </a:t>
            </a:r>
            <a:r>
              <a:rPr lang="zh-CN" altLang="en-US" sz="1800" b="0" i="0" u="none" strike="noStrike" baseline="0" dirty="0">
                <a:latin typeface="SourceHanSansSC-Regular"/>
              </a:rPr>
              <a:t>来自行业、学科和应用领域的信息；</a:t>
            </a:r>
          </a:p>
          <a:p>
            <a:pPr algn="l"/>
            <a:r>
              <a:rPr lang="en-US" altLang="zh-CN" sz="1800" b="0" i="0" u="none" strike="noStrike" baseline="0" dirty="0">
                <a:latin typeface="Wingdings-Regular"/>
              </a:rPr>
              <a:t>  </a:t>
            </a:r>
            <a:r>
              <a:rPr lang="zh-CN" altLang="en-US" sz="1800" b="0" i="0" u="none" strike="noStrike" baseline="0" dirty="0">
                <a:latin typeface="SourceHanSansSC-Regular"/>
              </a:rPr>
              <a:t>财务原则；</a:t>
            </a:r>
          </a:p>
          <a:p>
            <a:pPr algn="l"/>
            <a:r>
              <a:rPr lang="en-US" altLang="zh-CN" sz="1800" b="0" i="0" u="none" strike="noStrike" baseline="0" dirty="0">
                <a:latin typeface="Wingdings-Regular"/>
              </a:rPr>
              <a:t>  </a:t>
            </a:r>
            <a:r>
              <a:rPr lang="zh-CN" altLang="en-US" sz="1800" b="0" i="0" u="none" strike="noStrike" baseline="0" dirty="0">
                <a:latin typeface="SourceHanSansSC-Regular"/>
              </a:rPr>
              <a:t>资金需求和来源。</a:t>
            </a:r>
          </a:p>
          <a:p>
            <a:pPr algn="l"/>
            <a:r>
              <a:rPr lang="en-US" altLang="zh-CN" sz="1800" b="0" i="0" u="none" strike="noStrike" baseline="0" dirty="0">
                <a:latin typeface="HelveticaNeue-MediumCond"/>
              </a:rPr>
              <a:t>7.3.2.2 </a:t>
            </a:r>
            <a:r>
              <a:rPr lang="zh-CN" altLang="en-US" sz="1800" b="0" i="0" u="none" strike="noStrike" baseline="0" dirty="0">
                <a:latin typeface="SourceHanSansSC-Medium"/>
              </a:rPr>
              <a:t>成本汇总</a:t>
            </a:r>
          </a:p>
          <a:p>
            <a:pPr algn="l"/>
            <a:r>
              <a:rPr lang="zh-CN" altLang="en-US" sz="1800" b="0" i="0" u="none" strike="noStrike" baseline="0" dirty="0">
                <a:latin typeface="SourceHanSansSC-Regular"/>
              </a:rPr>
              <a:t>先把成本估算汇总到 </a:t>
            </a:r>
            <a:r>
              <a:rPr lang="en-US" altLang="zh-CN" sz="1800" b="0" i="0" u="none" strike="noStrike" baseline="0" dirty="0">
                <a:latin typeface="HelveticaNeue-Condensed"/>
              </a:rPr>
              <a:t>WBS </a:t>
            </a:r>
            <a:r>
              <a:rPr lang="zh-CN" altLang="en-US" sz="1800" b="0" i="0" u="none" strike="noStrike" baseline="0" dirty="0">
                <a:latin typeface="SourceHanSansSC-Regular"/>
              </a:rPr>
              <a:t>中的工作包，再由工作包汇总至 </a:t>
            </a:r>
            <a:r>
              <a:rPr lang="en-US" altLang="zh-CN" sz="1800" b="0" i="0" u="none" strike="noStrike" baseline="0" dirty="0">
                <a:latin typeface="HelveticaNeue-Condensed"/>
              </a:rPr>
              <a:t>WBS </a:t>
            </a:r>
            <a:r>
              <a:rPr lang="zh-CN" altLang="en-US" sz="1800" b="0" i="0" u="none" strike="noStrike" baseline="0" dirty="0">
                <a:latin typeface="SourceHanSansSC-Regular"/>
              </a:rPr>
              <a:t>的更高层次（如控制账户），最终</a:t>
            </a:r>
          </a:p>
          <a:p>
            <a:pPr algn="l"/>
            <a:r>
              <a:rPr lang="zh-CN" altLang="en-US" sz="1800" b="0" i="0" u="none" strike="noStrike" baseline="0" dirty="0">
                <a:latin typeface="SourceHanSansSC-Regular"/>
              </a:rPr>
              <a:t>得出整个项目的总成本。</a:t>
            </a:r>
          </a:p>
          <a:p>
            <a:pPr algn="l"/>
            <a:r>
              <a:rPr lang="en-US" altLang="zh-CN" sz="1800" b="0" i="0" u="none" strike="noStrike" baseline="0" dirty="0">
                <a:latin typeface="HelveticaNeue-MediumCond"/>
              </a:rPr>
              <a:t>7.3.2.3 </a:t>
            </a:r>
            <a:r>
              <a:rPr lang="zh-CN" altLang="en-US" sz="1800" b="0" i="0" u="none" strike="noStrike" baseline="0" dirty="0">
                <a:latin typeface="SourceHanSansSC-Medium"/>
              </a:rPr>
              <a:t>数据分析</a:t>
            </a:r>
          </a:p>
          <a:p>
            <a:pPr algn="l"/>
            <a:r>
              <a:rPr lang="zh-CN" altLang="en-US" sz="1800" b="0" i="0" u="none" strike="noStrike" baseline="0" dirty="0">
                <a:latin typeface="SourceHanSansSC-Regular"/>
              </a:rPr>
              <a:t>可用于制定预算过程的数据分析技术包括（但不限于）可以建立项目管理储备的储备分析。管理储备是为了管理控制的目的而特别留出的项目预算，用来应对项目范围中不可预见的工作，目的是</a:t>
            </a:r>
          </a:p>
          <a:p>
            <a:pPr algn="l"/>
            <a:r>
              <a:rPr lang="zh-CN" altLang="en-US" sz="1800" b="0" i="0" u="none" strike="noStrike" baseline="0" dirty="0">
                <a:latin typeface="SourceHanSansSC-Regular"/>
              </a:rPr>
              <a:t>用来应对会影响项目的“未知 </a:t>
            </a:r>
            <a:r>
              <a:rPr lang="en-US" altLang="zh-CN" sz="1800" b="0" i="0" u="none" strike="noStrike" baseline="0" dirty="0">
                <a:latin typeface="SourceHanSansSC-Regular"/>
              </a:rPr>
              <a:t>— </a:t>
            </a:r>
            <a:r>
              <a:rPr lang="zh-CN" altLang="en-US" sz="1800" b="0" i="0" u="none" strike="noStrike" baseline="0" dirty="0">
                <a:latin typeface="SourceHanSansSC-Regular"/>
              </a:rPr>
              <a:t>未知”风险。管理储备不包括在成本基准中，但属于项目总预算和资金需求的一部分。当动用管理储备资助不可预见的工作时，就要把动用的管理储备增加到成本基</a:t>
            </a:r>
          </a:p>
          <a:p>
            <a:pPr algn="l"/>
            <a:r>
              <a:rPr lang="zh-CN" altLang="en-US" sz="1800" b="0" i="0" u="none" strike="noStrike" baseline="0" dirty="0">
                <a:latin typeface="SourceHanSansSC-Regular"/>
              </a:rPr>
              <a:t>准中，从而导致成本基准变更。</a:t>
            </a:r>
            <a:endParaRPr lang="en-US" altLang="zh-CN" sz="1800" b="0" i="0" u="none" strike="noStrike" baseline="0" dirty="0">
              <a:latin typeface="SourceHanSansSC-Medium"/>
            </a:endParaRPr>
          </a:p>
          <a:p>
            <a:pPr algn="l"/>
            <a:r>
              <a:rPr lang="en-US" altLang="zh-CN" sz="1800" b="0" i="0" u="none" strike="noStrike" baseline="0" dirty="0">
                <a:latin typeface="HelveticaNeue-MediumCond"/>
              </a:rPr>
              <a:t>7.3.2.4 </a:t>
            </a:r>
            <a:r>
              <a:rPr lang="zh-CN" altLang="en-US" sz="1800" b="0" i="0" u="none" strike="noStrike" baseline="0" dirty="0">
                <a:latin typeface="SourceHanSansSC-Medium"/>
              </a:rPr>
              <a:t>历史信息审核</a:t>
            </a:r>
          </a:p>
          <a:p>
            <a:pPr algn="l"/>
            <a:r>
              <a:rPr lang="zh-CN" altLang="en-US" sz="1800" b="0" i="0" u="none" strike="noStrike" baseline="0" dirty="0">
                <a:latin typeface="SourceHanSansSC-Regular"/>
              </a:rPr>
              <a:t>审核历史信息有助于进行参数估算或类比估算。历史信息可包括各种项目特征（参数），它们用于建立数学模型预测项目总成本。这些数学模型可以是简单的（例如，建造住房的总成本取决于单</a:t>
            </a:r>
          </a:p>
          <a:p>
            <a:pPr algn="l"/>
            <a:r>
              <a:rPr lang="zh-CN" altLang="en-US" sz="1800" b="0" i="0" u="none" strike="noStrike" baseline="0" dirty="0">
                <a:latin typeface="SourceHanSansSC-Regular"/>
              </a:rPr>
              <a:t>位面积建造成本），也可以是复杂的（例如，软件开发项目的成本模型中有多个变量，且每个变量又受许多因素的影响）。</a:t>
            </a:r>
          </a:p>
          <a:p>
            <a:pPr algn="l"/>
            <a:r>
              <a:rPr lang="zh-CN" altLang="en-US" sz="1800" b="0" i="0" u="none" strike="noStrike" baseline="0" dirty="0">
                <a:latin typeface="SourceHanSansSC-Regular"/>
              </a:rPr>
              <a:t>类比和参数模型的成本及准确性可能差别很大。在以下情况下，它们将最为可靠：</a:t>
            </a:r>
          </a:p>
          <a:p>
            <a:pPr algn="l"/>
            <a:r>
              <a:rPr lang="en-US" altLang="zh-CN" sz="1800" b="0" i="0" u="none" strike="noStrike" baseline="0" dirty="0">
                <a:latin typeface="Wingdings-Regular"/>
              </a:rPr>
              <a:t>  </a:t>
            </a:r>
            <a:r>
              <a:rPr lang="zh-CN" altLang="en-US" sz="1800" b="0" i="0" u="none" strike="noStrike" baseline="0" dirty="0">
                <a:latin typeface="SourceHanSansSC-Regular"/>
              </a:rPr>
              <a:t>用来建立模型的历史信息准确；</a:t>
            </a:r>
          </a:p>
          <a:p>
            <a:pPr algn="l"/>
            <a:r>
              <a:rPr lang="en-US" altLang="zh-CN" sz="1800" b="0" i="0" u="none" strike="noStrike" baseline="0" dirty="0">
                <a:latin typeface="Wingdings-Regular"/>
              </a:rPr>
              <a:t>  </a:t>
            </a:r>
            <a:r>
              <a:rPr lang="zh-CN" altLang="en-US" sz="1800" b="0" i="0" u="none" strike="noStrike" baseline="0" dirty="0">
                <a:latin typeface="SourceHanSansSC-Regular"/>
              </a:rPr>
              <a:t>模型中的参数易于量化；</a:t>
            </a:r>
          </a:p>
          <a:p>
            <a:pPr algn="l"/>
            <a:r>
              <a:rPr lang="en-US" altLang="zh-CN" sz="1800" b="0" i="0" u="none" strike="noStrike" baseline="0" dirty="0">
                <a:latin typeface="Wingdings-Regular"/>
              </a:rPr>
              <a:t>  </a:t>
            </a:r>
            <a:r>
              <a:rPr lang="zh-CN" altLang="en-US" sz="1800" b="0" i="0" u="none" strike="noStrike" baseline="0" dirty="0">
                <a:latin typeface="SourceHanSansSC-Regular"/>
              </a:rPr>
              <a:t>模型可以调整，以便对大项目、小项目和各项目阶段都适用。</a:t>
            </a:r>
          </a:p>
          <a:p>
            <a:pPr algn="l"/>
            <a:r>
              <a:rPr lang="en-US" altLang="zh-CN" sz="1800" b="0" i="0" u="none" strike="noStrike" baseline="0" dirty="0">
                <a:latin typeface="HelveticaNeue-MediumCond"/>
              </a:rPr>
              <a:t>7.3.2.5 </a:t>
            </a:r>
            <a:r>
              <a:rPr lang="zh-CN" altLang="en-US" sz="1800" b="0" i="0" u="none" strike="noStrike" baseline="0" dirty="0">
                <a:latin typeface="SourceHanSansSC-Medium"/>
              </a:rPr>
              <a:t>资金限制平衡</a:t>
            </a:r>
          </a:p>
          <a:p>
            <a:pPr algn="l"/>
            <a:r>
              <a:rPr lang="zh-CN" altLang="en-US" sz="1800" b="0" i="0" u="none" strike="noStrike" baseline="0" dirty="0">
                <a:latin typeface="SourceHanSansSC-Regular"/>
              </a:rPr>
              <a:t>应该根据对项目资金的任何限制，来平衡资金支出。如果发现资金限制与计划支出之间的差异，则可能需要调整工作的进度计划，以平衡资金支出水平。这可以通过在项目进度计划中添加强制日</a:t>
            </a:r>
          </a:p>
          <a:p>
            <a:pPr algn="l"/>
            <a:r>
              <a:rPr lang="zh-CN" altLang="en-US" sz="1800" b="0" i="0" u="none" strike="noStrike" baseline="0" dirty="0">
                <a:latin typeface="SourceHanSansSC-Regular"/>
              </a:rPr>
              <a:t>期来实现。</a:t>
            </a:r>
          </a:p>
          <a:p>
            <a:pPr algn="l"/>
            <a:r>
              <a:rPr lang="en-US" altLang="zh-CN" sz="1800" b="0" i="0" u="none" strike="noStrike" baseline="0" dirty="0">
                <a:latin typeface="HelveticaNeue-MediumCond"/>
              </a:rPr>
              <a:t>7.3.2.6 </a:t>
            </a:r>
            <a:r>
              <a:rPr lang="zh-CN" altLang="en-US" sz="1800" b="0" i="0" u="none" strike="noStrike" baseline="0" dirty="0">
                <a:latin typeface="SourceHanSansSC-Medium"/>
              </a:rPr>
              <a:t>融资</a:t>
            </a:r>
          </a:p>
          <a:p>
            <a:pPr algn="l"/>
            <a:r>
              <a:rPr lang="zh-CN" altLang="en-US" sz="1800" b="0" i="0" u="none" strike="noStrike" baseline="0" dirty="0">
                <a:latin typeface="SourceHanSansSC-Regular"/>
              </a:rPr>
              <a:t>融资是指为项目获取资金。长期的基础设施、工业和公共服务项目通常会寻求外部融资。如果项</a:t>
            </a:r>
          </a:p>
          <a:p>
            <a:pPr algn="l"/>
            <a:r>
              <a:rPr lang="zh-CN" altLang="en-US" sz="1800" b="0" i="0" u="none" strike="noStrike" baseline="0" dirty="0">
                <a:latin typeface="SourceHanSansSC-Regular"/>
              </a:rPr>
              <a:t>目使用外部资金，出资实体可能会提出一些必须满足的要求。</a:t>
            </a:r>
            <a:endParaRPr lang="en-US" altLang="zh-CN" sz="1800" b="0" i="0" u="none" strike="noStrike" baseline="0" dirty="0">
              <a:latin typeface="SourceHanSansSC-Medium"/>
            </a:endParaRPr>
          </a:p>
          <a:p>
            <a:pPr algn="l"/>
            <a:endParaRPr lang="en-US" altLang="zh-CN" sz="1800" b="0" i="0" u="none" strike="noStrike" baseline="0" dirty="0">
              <a:latin typeface="SourceHanSansSC-Medium"/>
            </a:endParaRPr>
          </a:p>
        </p:txBody>
      </p:sp>
      <p:sp>
        <p:nvSpPr>
          <p:cNvPr id="4" name="灯片编号占位符 3"/>
          <p:cNvSpPr>
            <a:spLocks noGrp="1"/>
          </p:cNvSpPr>
          <p:nvPr>
            <p:ph type="sldNum" sz="quarter" idx="5"/>
          </p:nvPr>
        </p:nvSpPr>
        <p:spPr/>
        <p:txBody>
          <a:bodyPr/>
          <a:lstStyle/>
          <a:p>
            <a:fld id="{65ACE964-20FD-4E02-AD78-D23A92B56B1B}" type="slidenum">
              <a:rPr lang="zh-CN" altLang="en-US" smtClean="0"/>
              <a:t>95</a:t>
            </a:fld>
            <a:endParaRPr lang="zh-CN" altLang="en-US"/>
          </a:p>
        </p:txBody>
      </p:sp>
    </p:spTree>
    <p:extLst>
      <p:ext uri="{BB962C8B-B14F-4D97-AF65-F5344CB8AC3E}">
        <p14:creationId xmlns:p14="http://schemas.microsoft.com/office/powerpoint/2010/main" val="172426060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Regular"/>
              </a:rPr>
              <a:t>  项目预算和成本基准的各个组成部分，如图 所示。先汇总各项目活动的成本估算及其</a:t>
            </a:r>
            <a:r>
              <a:rPr lang="zh-CN" altLang="en-US" sz="1800" b="1" i="0" u="none" strike="noStrike" baseline="0" dirty="0">
                <a:latin typeface="SourceHanSansSC-Regular"/>
              </a:rPr>
              <a:t>应急储备</a:t>
            </a:r>
            <a:r>
              <a:rPr lang="zh-CN" altLang="en-US" sz="1800" b="0" i="0" u="none" strike="noStrike" baseline="0" dirty="0">
                <a:latin typeface="SourceHanSansSC-Regular"/>
              </a:rPr>
              <a:t>（用于应对已识别风险），得到相关工作包的成本；然后汇总各工作包的成本估算及其应急储备，得到控制账户的成本；接着再汇总各控制账户的成本，得到成本基准。</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  最后，在成本基准之上增加管理储备，得到项目预算。</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p:txBody>
      </p:sp>
      <p:sp>
        <p:nvSpPr>
          <p:cNvPr id="4" name="灯片编号占位符 3"/>
          <p:cNvSpPr>
            <a:spLocks noGrp="1"/>
          </p:cNvSpPr>
          <p:nvPr>
            <p:ph type="sldNum" sz="quarter" idx="5"/>
          </p:nvPr>
        </p:nvSpPr>
        <p:spPr/>
        <p:txBody>
          <a:bodyPr/>
          <a:lstStyle/>
          <a:p>
            <a:fld id="{65ACE964-20FD-4E02-AD78-D23A92B56B1B}" type="slidenum">
              <a:rPr lang="zh-CN" altLang="en-US" smtClean="0"/>
              <a:t>96</a:t>
            </a:fld>
            <a:endParaRPr lang="zh-CN" altLang="en-US"/>
          </a:p>
        </p:txBody>
      </p:sp>
    </p:spTree>
    <p:extLst>
      <p:ext uri="{BB962C8B-B14F-4D97-AF65-F5344CB8AC3E}">
        <p14:creationId xmlns:p14="http://schemas.microsoft.com/office/powerpoint/2010/main" val="107536060"/>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7">
            <a:extLst>
              <a:ext uri="{FF2B5EF4-FFF2-40B4-BE49-F238E27FC236}">
                <a16:creationId xmlns:a16="http://schemas.microsoft.com/office/drawing/2014/main" id="{CF5EA9DD-F684-4C2D-8315-A0432A1D626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90600">
              <a:defRPr sz="1200" b="1">
                <a:solidFill>
                  <a:schemeClr val="tx1"/>
                </a:solidFill>
                <a:latin typeface="黑体" panose="02010609060101010101" pitchFamily="49" charset="-122"/>
                <a:ea typeface="黑体" panose="02010609060101010101" pitchFamily="49" charset="-122"/>
                <a:cs typeface="黑体" panose="02010609060101010101" pitchFamily="49" charset="-122"/>
              </a:defRPr>
            </a:lvl1pPr>
            <a:lvl2pPr marL="742950" indent="-285750" defTabSz="990600">
              <a:defRPr sz="1200" b="1">
                <a:solidFill>
                  <a:schemeClr val="tx1"/>
                </a:solidFill>
                <a:latin typeface="黑体" panose="02010609060101010101" pitchFamily="49" charset="-122"/>
                <a:ea typeface="黑体" panose="02010609060101010101" pitchFamily="49" charset="-122"/>
                <a:cs typeface="黑体" panose="02010609060101010101" pitchFamily="49" charset="-122"/>
              </a:defRPr>
            </a:lvl2pPr>
            <a:lvl3pPr marL="1143000" indent="-228600" defTabSz="990600">
              <a:defRPr sz="1200" b="1">
                <a:solidFill>
                  <a:schemeClr val="tx1"/>
                </a:solidFill>
                <a:latin typeface="黑体" panose="02010609060101010101" pitchFamily="49" charset="-122"/>
                <a:ea typeface="黑体" panose="02010609060101010101" pitchFamily="49" charset="-122"/>
                <a:cs typeface="黑体" panose="02010609060101010101" pitchFamily="49" charset="-122"/>
              </a:defRPr>
            </a:lvl3pPr>
            <a:lvl4pPr marL="1600200" indent="-228600" defTabSz="990600">
              <a:defRPr sz="1200" b="1">
                <a:solidFill>
                  <a:schemeClr val="tx1"/>
                </a:solidFill>
                <a:latin typeface="黑体" panose="02010609060101010101" pitchFamily="49" charset="-122"/>
                <a:ea typeface="黑体" panose="02010609060101010101" pitchFamily="49" charset="-122"/>
                <a:cs typeface="黑体" panose="02010609060101010101" pitchFamily="49" charset="-122"/>
              </a:defRPr>
            </a:lvl4pPr>
            <a:lvl5pPr marL="2057400" indent="-228600" defTabSz="990600">
              <a:defRPr sz="1200" b="1">
                <a:solidFill>
                  <a:schemeClr val="tx1"/>
                </a:solidFill>
                <a:latin typeface="黑体" panose="02010609060101010101" pitchFamily="49" charset="-122"/>
                <a:ea typeface="黑体" panose="02010609060101010101" pitchFamily="49" charset="-122"/>
                <a:cs typeface="黑体" panose="02010609060101010101" pitchFamily="49" charset="-122"/>
              </a:defRPr>
            </a:lvl5pPr>
            <a:lvl6pPr marL="2514600" indent="-228600" defTabSz="990600" eaLnBrk="0" fontAlgn="base" hangingPunct="0">
              <a:spcBef>
                <a:spcPct val="0"/>
              </a:spcBef>
              <a:spcAft>
                <a:spcPct val="0"/>
              </a:spcAft>
              <a:defRPr sz="1200" b="1">
                <a:solidFill>
                  <a:schemeClr val="tx1"/>
                </a:solidFill>
                <a:latin typeface="黑体" panose="02010609060101010101" pitchFamily="49" charset="-122"/>
                <a:ea typeface="黑体" panose="02010609060101010101" pitchFamily="49" charset="-122"/>
                <a:cs typeface="黑体" panose="02010609060101010101" pitchFamily="49" charset="-122"/>
              </a:defRPr>
            </a:lvl6pPr>
            <a:lvl7pPr marL="2971800" indent="-228600" defTabSz="990600" eaLnBrk="0" fontAlgn="base" hangingPunct="0">
              <a:spcBef>
                <a:spcPct val="0"/>
              </a:spcBef>
              <a:spcAft>
                <a:spcPct val="0"/>
              </a:spcAft>
              <a:defRPr sz="1200" b="1">
                <a:solidFill>
                  <a:schemeClr val="tx1"/>
                </a:solidFill>
                <a:latin typeface="黑体" panose="02010609060101010101" pitchFamily="49" charset="-122"/>
                <a:ea typeface="黑体" panose="02010609060101010101" pitchFamily="49" charset="-122"/>
                <a:cs typeface="黑体" panose="02010609060101010101" pitchFamily="49" charset="-122"/>
              </a:defRPr>
            </a:lvl7pPr>
            <a:lvl8pPr marL="3429000" indent="-228600" defTabSz="990600" eaLnBrk="0" fontAlgn="base" hangingPunct="0">
              <a:spcBef>
                <a:spcPct val="0"/>
              </a:spcBef>
              <a:spcAft>
                <a:spcPct val="0"/>
              </a:spcAft>
              <a:defRPr sz="1200" b="1">
                <a:solidFill>
                  <a:schemeClr val="tx1"/>
                </a:solidFill>
                <a:latin typeface="黑体" panose="02010609060101010101" pitchFamily="49" charset="-122"/>
                <a:ea typeface="黑体" panose="02010609060101010101" pitchFamily="49" charset="-122"/>
                <a:cs typeface="黑体" panose="02010609060101010101" pitchFamily="49" charset="-122"/>
              </a:defRPr>
            </a:lvl8pPr>
            <a:lvl9pPr marL="3886200" indent="-228600" defTabSz="990600" eaLnBrk="0" fontAlgn="base" hangingPunct="0">
              <a:spcBef>
                <a:spcPct val="0"/>
              </a:spcBef>
              <a:spcAft>
                <a:spcPct val="0"/>
              </a:spcAft>
              <a:defRPr sz="1200" b="1">
                <a:solidFill>
                  <a:schemeClr val="tx1"/>
                </a:solidFill>
                <a:latin typeface="黑体" panose="02010609060101010101" pitchFamily="49" charset="-122"/>
                <a:ea typeface="黑体" panose="02010609060101010101" pitchFamily="49" charset="-122"/>
                <a:cs typeface="黑体" panose="02010609060101010101" pitchFamily="49" charset="-122"/>
              </a:defRPr>
            </a:lvl9pPr>
          </a:lstStyle>
          <a:p>
            <a:fld id="{B550314C-833A-4402-923A-D148D736348F}" type="slidenum">
              <a:rPr lang="en-US" altLang="zh-CN" sz="1300" b="0" smtClean="0">
                <a:latin typeface="Arial" panose="020B0604020202020204" pitchFamily="34" charset="0"/>
                <a:ea typeface="宋体" panose="02010600030101010101" pitchFamily="2" charset="-122"/>
              </a:rPr>
              <a:pPr/>
              <a:t>97</a:t>
            </a:fld>
            <a:endParaRPr lang="en-US" altLang="zh-CN" sz="1300" b="0">
              <a:latin typeface="Arial" panose="020B0604020202020204" pitchFamily="34" charset="0"/>
              <a:ea typeface="宋体" panose="02010600030101010101" pitchFamily="2" charset="-122"/>
            </a:endParaRPr>
          </a:p>
        </p:txBody>
      </p:sp>
      <p:sp>
        <p:nvSpPr>
          <p:cNvPr id="281603" name="Rectangle 2">
            <a:extLst>
              <a:ext uri="{FF2B5EF4-FFF2-40B4-BE49-F238E27FC236}">
                <a16:creationId xmlns:a16="http://schemas.microsoft.com/office/drawing/2014/main" id="{28DF98CA-13DE-4312-9715-10AE323E9301}"/>
              </a:ext>
            </a:extLst>
          </p:cNvPr>
          <p:cNvSpPr>
            <a:spLocks noGrp="1" noRot="1" noChangeAspect="1" noChangeArrowheads="1" noTextEdit="1"/>
          </p:cNvSpPr>
          <p:nvPr>
            <p:ph type="sldImg"/>
          </p:nvPr>
        </p:nvSpPr>
        <p:spPr>
          <a:xfrm>
            <a:off x="139700" y="768350"/>
            <a:ext cx="6819900" cy="3836988"/>
          </a:xfrm>
          <a:ln/>
        </p:spPr>
      </p:sp>
      <p:sp>
        <p:nvSpPr>
          <p:cNvPr id="281604" name="Rectangle 3">
            <a:extLst>
              <a:ext uri="{FF2B5EF4-FFF2-40B4-BE49-F238E27FC236}">
                <a16:creationId xmlns:a16="http://schemas.microsoft.com/office/drawing/2014/main" id="{898826E4-7225-4F63-9B1F-6066655740C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zh-CN" altLang="en-US" dirty="0"/>
              <a:t>其中红色为持续时间（天）甘特图</a:t>
            </a:r>
            <a:endParaRPr lang="zh-CN" altLang="zh-CN" dirty="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0" i="0" u="none" strike="noStrike" baseline="0" dirty="0">
                <a:latin typeface="SourceHanSansSC-Regular"/>
              </a:rPr>
              <a:t>由于成本基准中的成本估算与进度活动直接关联，因此就可按时间段分配成本基准，得到一条 </a:t>
            </a:r>
            <a:r>
              <a:rPr lang="en-US" altLang="zh-CN" sz="1800" b="0" i="0" u="none" strike="noStrike" baseline="0" dirty="0">
                <a:latin typeface="HelveticaNeue-Condensed"/>
              </a:rPr>
              <a:t>S </a:t>
            </a:r>
            <a:r>
              <a:rPr lang="zh-CN" altLang="en-US" sz="1800" b="0" i="0" u="none" strike="noStrike" baseline="0" dirty="0">
                <a:latin typeface="SourceHanSansSC-Regular"/>
              </a:rPr>
              <a:t>曲线，如</a:t>
            </a:r>
            <a:r>
              <a:rPr lang="zh-CN" altLang="en-US" sz="1800" b="1" i="0" u="none" strike="noStrike" baseline="0" dirty="0">
                <a:solidFill>
                  <a:srgbClr val="FF0000"/>
                </a:solidFill>
                <a:latin typeface="SourceHanSansSC-Regular"/>
              </a:rPr>
              <a:t>图</a:t>
            </a:r>
            <a:r>
              <a:rPr lang="en-US" altLang="zh-CN" sz="1800" b="0" i="0" u="none" strike="noStrike" baseline="0" dirty="0">
                <a:latin typeface="HelveticaNeue-Condensed"/>
              </a:rPr>
              <a:t> </a:t>
            </a:r>
            <a:r>
              <a:rPr lang="zh-CN" altLang="en-US" sz="1800" b="0" i="0" u="none" strike="noStrike" baseline="0" dirty="0">
                <a:latin typeface="SourceHanSansSC-Regular"/>
              </a:rPr>
              <a:t>所示。</a:t>
            </a:r>
            <a:endParaRPr lang="en-US" altLang="zh-CN" sz="1800" b="0" i="0" u="none" strike="noStrike" baseline="0" dirty="0">
              <a:latin typeface="SourceHanSansSC-Regular"/>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0" i="0" u="none" strike="noStrike" baseline="0" dirty="0">
                <a:latin typeface="SourceHanSansSC-Regular"/>
              </a:rPr>
              <a:t>对于使用挣值管理的项目，成本基准指的是绩效测量基准。最后，在成本基准之上增加管理储备，得到项目预算。当出现有必要动用管理储备的变更时，则应该在获得变更控制过程的批准之后，把适量的管理储备移入成本基准中。</a:t>
            </a:r>
            <a:endParaRPr lang="en-US" altLang="zh-CN" sz="1800" b="0" i="0" u="none" strike="noStrike" baseline="0" dirty="0">
              <a:latin typeface="SourceHanSansSC-Regular"/>
            </a:endParaRPr>
          </a:p>
          <a:p>
            <a:pPr algn="l"/>
            <a:endParaRPr lang="en-US" altLang="zh-CN" sz="1800" b="0" i="0" u="none" strike="noStrike" baseline="0" dirty="0">
              <a:latin typeface="SourceHanSansSC-Medium"/>
            </a:endParaRPr>
          </a:p>
          <a:p>
            <a:pPr algn="l"/>
            <a:r>
              <a:rPr lang="zh-CN" altLang="en-US" sz="1800" b="0" i="0" u="none" strike="noStrike" baseline="0" dirty="0">
                <a:latin typeface="SourceHanSansSC-Medium"/>
              </a:rPr>
              <a:t>项目资金需求</a:t>
            </a:r>
          </a:p>
          <a:p>
            <a:pPr algn="l"/>
            <a:r>
              <a:rPr lang="zh-CN" altLang="en-US" sz="1800" b="0" i="0" u="none" strike="noStrike" baseline="0" dirty="0">
                <a:latin typeface="SourceHanSansSC-Regular"/>
              </a:rPr>
              <a:t>根据成本基准，确定总资金需求和阶段性（如季度或年度）资金需求。成本基准中既包括预计支出及预计债务。如果有管理储备，则总资金需求等于成本基准加管理储备。在资金需求文件中，也可说明资金来源。</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98</a:t>
            </a:fld>
            <a:endParaRPr lang="zh-CN" altLang="en-US"/>
          </a:p>
        </p:txBody>
      </p:sp>
    </p:spTree>
    <p:extLst>
      <p:ext uri="{BB962C8B-B14F-4D97-AF65-F5344CB8AC3E}">
        <p14:creationId xmlns:p14="http://schemas.microsoft.com/office/powerpoint/2010/main" val="3444299740"/>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dirty="0"/>
              <a:t>B</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99</a:t>
            </a:fld>
            <a:endParaRPr lang="zh-CN" altLang="en-US"/>
          </a:p>
        </p:txBody>
      </p:sp>
    </p:spTree>
    <p:extLst>
      <p:ext uri="{BB962C8B-B14F-4D97-AF65-F5344CB8AC3E}">
        <p14:creationId xmlns:p14="http://schemas.microsoft.com/office/powerpoint/2010/main" val="1006551103"/>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幻灯片图像占位符 1">
            <a:extLst>
              <a:ext uri="{FF2B5EF4-FFF2-40B4-BE49-F238E27FC236}">
                <a16:creationId xmlns:a16="http://schemas.microsoft.com/office/drawing/2014/main" id="{EA38884F-10CE-47D9-B05A-749E75C73E4D}"/>
              </a:ext>
            </a:extLst>
          </p:cNvPr>
          <p:cNvSpPr>
            <a:spLocks noGrp="1" noRot="1" noChangeAspect="1" noChangeArrowheads="1" noTextEdit="1"/>
          </p:cNvSpPr>
          <p:nvPr>
            <p:ph type="sldImg"/>
          </p:nvPr>
        </p:nvSpPr>
        <p:spPr bwMode="auto">
          <a:xfrm>
            <a:off x="481013" y="1279525"/>
            <a:ext cx="6142037"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8355" name="备注占位符 2">
            <a:extLst>
              <a:ext uri="{FF2B5EF4-FFF2-40B4-BE49-F238E27FC236}">
                <a16:creationId xmlns:a16="http://schemas.microsoft.com/office/drawing/2014/main" id="{FFF76AB6-1315-4DF2-B4E9-E655068683B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dirty="0"/>
              <a:t>P206</a:t>
            </a:r>
          </a:p>
          <a:p>
            <a:pPr algn="l"/>
            <a:r>
              <a:rPr lang="zh-CN" altLang="en-US" sz="1800" b="0" i="0" u="none" strike="noStrike" baseline="0" dirty="0">
                <a:latin typeface="SourceHanSansSC-Regular"/>
              </a:rPr>
              <a:t>要更新预算，就需要了解截至目前的实际成本。只有经过实施整体变更控制过程的批准，才可以增加预算。</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只监督资金的支出，而不考虑由这些支出所完成的工作的价值，对项目没有什么意义，最多只能跟踪资金流。</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所以在成本控制中，应重点分析项目资金支出与相应完成的工作之间的关系。</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有效成本控制的关键在于管理经批准的成本基准。</a:t>
            </a:r>
            <a:endParaRPr lang="en-US" altLang="zh-CN" sz="1800" b="0" i="0" u="none" strike="noStrike" baseline="0" dirty="0">
              <a:latin typeface="SourceHanSansSC-Regular"/>
            </a:endParaRPr>
          </a:p>
          <a:p>
            <a:pPr algn="l"/>
            <a:endParaRPr lang="en-US" altLang="zh-CN" dirty="0"/>
          </a:p>
          <a:p>
            <a:pPr algn="l"/>
            <a:r>
              <a:rPr lang="zh-CN" altLang="en-US" sz="1800" b="0" i="0" u="none" strike="noStrike" baseline="0" dirty="0">
                <a:latin typeface="SourceHanSansSC-Regular"/>
              </a:rPr>
              <a:t>项目成本控制包括：</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对造成成本基准变更的因素施加影响；</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确保所有变更请求都得到及时处理；</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当变更实际发生时，管理这些变更；</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确保成本支出不超过批准的资金限额，既不超出按时段、按 </a:t>
            </a:r>
            <a:r>
              <a:rPr lang="en-US" altLang="zh-CN" sz="1800" b="0" i="0" u="none" strike="noStrike" baseline="0" dirty="0">
                <a:latin typeface="HelveticaNeue-Condensed"/>
              </a:rPr>
              <a:t>WBS </a:t>
            </a:r>
            <a:r>
              <a:rPr lang="zh-CN" altLang="en-US" sz="1800" b="0" i="0" u="none" strike="noStrike" baseline="0" dirty="0">
                <a:latin typeface="SourceHanSansSC-Regular"/>
              </a:rPr>
              <a:t>组件、按活动分配的限额，也不超出项目总限额；</a:t>
            </a:r>
          </a:p>
          <a:p>
            <a:pPr algn="l"/>
            <a:r>
              <a:rPr lang="zh-CN" altLang="en-US" sz="1800" b="0" i="0" u="none" strike="noStrike" baseline="0" dirty="0">
                <a:latin typeface="SourceHanSansSC-Regular"/>
              </a:rPr>
              <a:t>监督成本绩效，找出并分析与成本基准间的偏差；对照资金支出，监督工作绩效；</a:t>
            </a:r>
          </a:p>
          <a:p>
            <a:pPr algn="l"/>
            <a:r>
              <a:rPr lang="zh-CN" altLang="en-US" sz="1800" b="0" i="0" u="none" strike="noStrike" baseline="0" dirty="0">
                <a:latin typeface="SourceHanSansSC-Regular"/>
              </a:rPr>
              <a:t>防止在成本或资源使用报告中出现未经批准的变更；</a:t>
            </a:r>
          </a:p>
          <a:p>
            <a:pPr algn="l"/>
            <a:r>
              <a:rPr lang="zh-CN" altLang="en-US" sz="1800" b="0" i="0" u="none" strike="noStrike" baseline="0" dirty="0">
                <a:latin typeface="SourceHanSansSC-Regular"/>
              </a:rPr>
              <a:t>向相关方报告所有经批准的变更及其相关成本；</a:t>
            </a:r>
          </a:p>
          <a:p>
            <a:pPr algn="l"/>
            <a:r>
              <a:rPr lang="zh-CN" altLang="en-US" sz="1800" b="0" i="0" u="none" strike="noStrike" baseline="0" dirty="0">
                <a:latin typeface="SourceHanSansSC-Regular"/>
              </a:rPr>
              <a:t>设法把预期的成本超支控制在可接受的范围内。</a:t>
            </a:r>
            <a:endParaRPr lang="zh-CN" altLang="zh-CN" dirty="0"/>
          </a:p>
        </p:txBody>
      </p:sp>
      <p:sp>
        <p:nvSpPr>
          <p:cNvPr id="228356" name="灯片编号占位符 3">
            <a:extLst>
              <a:ext uri="{FF2B5EF4-FFF2-40B4-BE49-F238E27FC236}">
                <a16:creationId xmlns:a16="http://schemas.microsoft.com/office/drawing/2014/main" id="{EC9839EE-112F-4A9E-B254-14C9934B1B4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2860FDA-C5FD-42B7-99A8-36F4F39E1D6B}" type="slidenum">
              <a:rPr lang="zh-CN" altLang="en-US" smtClean="0"/>
              <a:pPr/>
              <a:t>100</a:t>
            </a:fld>
            <a:endParaRPr lang="zh-CN" alt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这页与内容不一致</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101</a:t>
            </a:fld>
            <a:endParaRPr lang="zh-CN" altLang="en-US"/>
          </a:p>
        </p:txBody>
      </p:sp>
    </p:spTree>
    <p:extLst>
      <p:ext uri="{BB962C8B-B14F-4D97-AF65-F5344CB8AC3E}">
        <p14:creationId xmlns:p14="http://schemas.microsoft.com/office/powerpoint/2010/main" val="933840198"/>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1" i="0" u="none" strike="noStrike" baseline="0" dirty="0">
                <a:latin typeface="SourceHanSansSC-Bold"/>
              </a:rPr>
              <a:t>挣值分析 </a:t>
            </a:r>
            <a:r>
              <a:rPr lang="en-US" altLang="zh-CN" sz="1800" b="1" i="0" u="none" strike="noStrike" baseline="0" dirty="0">
                <a:latin typeface="HelveticaNeue-BoldCond"/>
              </a:rPr>
              <a:t>(EVA)</a:t>
            </a:r>
            <a:r>
              <a:rPr lang="zh-CN" altLang="en-US" sz="1800" b="1" i="0" u="none" strike="noStrike" baseline="0" dirty="0">
                <a:latin typeface="SourceHanSansSC-Bold"/>
              </a:rPr>
              <a:t>。</a:t>
            </a:r>
            <a:r>
              <a:rPr lang="zh-CN" altLang="en-US" sz="1800" b="0" i="0" u="none" strike="noStrike" baseline="0" dirty="0">
                <a:latin typeface="SourceHanSansSC-Regular"/>
              </a:rPr>
              <a:t>挣值分析将实际进度和成本绩效与绩效测量基准进行比较。</a:t>
            </a:r>
            <a:r>
              <a:rPr lang="en-US" altLang="zh-CN" sz="1800" b="0" i="0" u="none" strike="noStrike" baseline="0" dirty="0">
                <a:latin typeface="HelveticaNeue-Condensed"/>
              </a:rPr>
              <a:t>EVM</a:t>
            </a:r>
            <a:r>
              <a:rPr lang="zh-CN" altLang="en-US" sz="1800" b="0" i="0" u="none" strike="noStrike" baseline="0" dirty="0">
                <a:latin typeface="SourceHanSansSC-Regular"/>
              </a:rPr>
              <a:t>把范围基准、成本基准和进度基准整合起来，形成绩效测量基准。它针对每个工作包和控制账户，计算并监测以下三个关键指标：</a:t>
            </a:r>
          </a:p>
          <a:p>
            <a:pPr algn="l"/>
            <a:r>
              <a:rPr lang="zh-CN" altLang="en-US" sz="1800" b="0" i="0" u="none" strike="noStrike" baseline="0" dirty="0">
                <a:latin typeface="Wingdings-Regular"/>
              </a:rPr>
              <a:t>（</a:t>
            </a:r>
            <a:r>
              <a:rPr lang="en-US" altLang="zh-CN" sz="1800" b="0" i="0" u="none" strike="noStrike" baseline="0" dirty="0">
                <a:latin typeface="Wingdings-Regular"/>
              </a:rPr>
              <a:t>1</a:t>
            </a:r>
            <a:r>
              <a:rPr lang="zh-CN" altLang="en-US" sz="1800" b="0" i="0" u="none" strike="noStrike" baseline="0" dirty="0">
                <a:latin typeface="Wingdings-Regular"/>
              </a:rPr>
              <a:t>）</a:t>
            </a:r>
            <a:r>
              <a:rPr lang="zh-CN" altLang="en-US" sz="1800" b="1" i="0" u="none" strike="noStrike" baseline="0" dirty="0">
                <a:latin typeface="SourceHanSansSC-Bold"/>
              </a:rPr>
              <a:t>计划价值。</a:t>
            </a:r>
            <a:r>
              <a:rPr lang="zh-CN" altLang="en-US" sz="1800" b="0" i="0" u="none" strike="noStrike" baseline="0" dirty="0">
                <a:latin typeface="SourceHanSansSC-Regular"/>
              </a:rPr>
              <a:t>计划价值（</a:t>
            </a:r>
            <a:r>
              <a:rPr lang="en-US" altLang="zh-CN" sz="1800" b="0" i="0" u="none" strike="noStrike" baseline="0" dirty="0">
                <a:latin typeface="HelveticaNeue-Condensed"/>
              </a:rPr>
              <a:t>PV</a:t>
            </a:r>
            <a:r>
              <a:rPr lang="zh-CN" altLang="en-US" sz="1800" b="0" i="0" u="none" strike="noStrike" baseline="0" dirty="0">
                <a:latin typeface="SourceHanSansSC-Regular"/>
              </a:rPr>
              <a:t>）是为计划工作分配的经批准的预算，它是为完成某活动或工作分解结构 </a:t>
            </a:r>
            <a:r>
              <a:rPr lang="en-US" altLang="zh-CN" sz="1800" b="0" i="0" u="none" strike="noStrike" baseline="0" dirty="0">
                <a:latin typeface="HelveticaNeue-Condensed"/>
              </a:rPr>
              <a:t>(WBS) </a:t>
            </a:r>
            <a:r>
              <a:rPr lang="zh-CN" altLang="en-US" sz="1800" b="0" i="0" u="none" strike="noStrike" baseline="0" dirty="0">
                <a:latin typeface="SourceHanSansSC-Regular"/>
              </a:rPr>
              <a:t>组成部分而准备的一份经批准的预算，不包括管理储备。应该把该预算分配至项目生命周期的各个阶段；在某个给定的时间点，计划价值代表着应该已经完成的工作。</a:t>
            </a:r>
            <a:r>
              <a:rPr lang="en-US" altLang="zh-CN" sz="1800" b="0" i="0" u="none" strike="noStrike" baseline="0" dirty="0">
                <a:latin typeface="HelveticaNeue-Condensed"/>
              </a:rPr>
              <a:t>PV</a:t>
            </a:r>
            <a:r>
              <a:rPr lang="zh-CN" altLang="en-US" sz="1800" b="0" i="0" u="none" strike="noStrike" baseline="0" dirty="0">
                <a:latin typeface="SourceHanSansSC-Regular"/>
              </a:rPr>
              <a:t>的总和有时被称为绩效测量基准（</a:t>
            </a:r>
            <a:r>
              <a:rPr lang="en-US" altLang="zh-CN" sz="1800" b="0" i="0" u="none" strike="noStrike" baseline="0" dirty="0">
                <a:latin typeface="HelveticaNeue-Condensed"/>
              </a:rPr>
              <a:t>PMB</a:t>
            </a:r>
            <a:r>
              <a:rPr lang="zh-CN" altLang="en-US" sz="1800" b="0" i="0" u="none" strike="noStrike" baseline="0" dirty="0">
                <a:latin typeface="SourceHanSansSC-Regular"/>
              </a:rPr>
              <a:t>），项目的总计划价值又被称为完工预算（</a:t>
            </a:r>
            <a:r>
              <a:rPr lang="en-US" altLang="zh-CN" sz="1800" b="0" i="0" u="none" strike="noStrike" baseline="0" dirty="0">
                <a:latin typeface="HelveticaNeue-Condensed"/>
              </a:rPr>
              <a:t>BAC</a:t>
            </a:r>
            <a:r>
              <a:rPr lang="zh-CN" altLang="en-US" sz="1800" b="0" i="0" u="none" strike="noStrike" baseline="0" dirty="0">
                <a:latin typeface="SourceHanSansSC-Regular"/>
              </a:rPr>
              <a:t>）。</a:t>
            </a:r>
          </a:p>
          <a:p>
            <a:pPr algn="l"/>
            <a:r>
              <a:rPr lang="zh-CN" altLang="en-US" sz="1800" b="0" i="0" u="none" strike="noStrike" baseline="0" dirty="0">
                <a:latin typeface="Wingdings-Regular"/>
              </a:rPr>
              <a:t>（</a:t>
            </a:r>
            <a:r>
              <a:rPr lang="en-US" altLang="zh-CN" sz="1800" b="0" i="0" u="none" strike="noStrike" baseline="0" dirty="0">
                <a:latin typeface="Wingdings-Regular"/>
              </a:rPr>
              <a:t>2</a:t>
            </a:r>
            <a:r>
              <a:rPr lang="zh-CN" altLang="en-US" sz="1800" b="0" i="0" u="none" strike="noStrike" baseline="0" dirty="0">
                <a:latin typeface="Wingdings-Regular"/>
              </a:rPr>
              <a:t>）</a:t>
            </a:r>
            <a:r>
              <a:rPr lang="zh-CN" altLang="en-US" sz="1800" b="1" i="0" u="none" strike="noStrike" baseline="0" dirty="0">
                <a:latin typeface="SourceHanSansSC-Bold"/>
              </a:rPr>
              <a:t>挣值。</a:t>
            </a:r>
            <a:r>
              <a:rPr lang="zh-CN" altLang="en-US" sz="1800" b="0" i="0" u="none" strike="noStrike" baseline="0" dirty="0">
                <a:latin typeface="SourceHanSansSC-Regular"/>
              </a:rPr>
              <a:t>挣值（</a:t>
            </a:r>
            <a:r>
              <a:rPr lang="en-US" altLang="zh-CN" sz="1800" b="0" i="0" u="none" strike="noStrike" baseline="0" dirty="0">
                <a:latin typeface="HelveticaNeue-Condensed"/>
              </a:rPr>
              <a:t>EV</a:t>
            </a:r>
            <a:r>
              <a:rPr lang="zh-CN" altLang="en-US" sz="1800" b="0" i="0" u="none" strike="noStrike" baseline="0" dirty="0">
                <a:latin typeface="SourceHanSansSC-Regular"/>
              </a:rPr>
              <a:t>）是对已完成工作的测量值，用该工作的批准预算来表示，是已完成工作的经批准的预算。</a:t>
            </a:r>
            <a:r>
              <a:rPr lang="en-US" altLang="zh-CN" sz="1800" b="0" i="0" u="none" strike="noStrike" baseline="0" dirty="0">
                <a:latin typeface="HelveticaNeue-Condensed"/>
              </a:rPr>
              <a:t>EV </a:t>
            </a:r>
            <a:r>
              <a:rPr lang="zh-CN" altLang="en-US" sz="1800" b="0" i="0" u="none" strike="noStrike" baseline="0" dirty="0">
                <a:latin typeface="SourceHanSansSC-Regular"/>
              </a:rPr>
              <a:t>的计算应该与 </a:t>
            </a:r>
            <a:r>
              <a:rPr lang="en-US" altLang="zh-CN" sz="1800" b="0" i="0" u="none" strike="noStrike" baseline="0" dirty="0">
                <a:latin typeface="HelveticaNeue-Condensed"/>
              </a:rPr>
              <a:t>PMB </a:t>
            </a:r>
            <a:r>
              <a:rPr lang="zh-CN" altLang="en-US" sz="1800" b="0" i="0" u="none" strike="noStrike" baseline="0" dirty="0">
                <a:latin typeface="SourceHanSansSC-Regular"/>
              </a:rPr>
              <a:t>相对应，且所得的 </a:t>
            </a:r>
            <a:r>
              <a:rPr lang="en-US" altLang="zh-CN" sz="1800" b="0" i="0" u="none" strike="noStrike" baseline="0" dirty="0">
                <a:latin typeface="HelveticaNeue-Condensed"/>
              </a:rPr>
              <a:t>EV </a:t>
            </a:r>
            <a:r>
              <a:rPr lang="zh-CN" altLang="en-US" sz="1800" b="0" i="0" u="none" strike="noStrike" baseline="0" dirty="0">
                <a:latin typeface="SourceHanSansSC-Regular"/>
              </a:rPr>
              <a:t>值不得大于相应组件的 </a:t>
            </a:r>
            <a:r>
              <a:rPr lang="en-US" altLang="zh-CN" sz="1800" b="0" i="0" u="none" strike="noStrike" baseline="0" dirty="0">
                <a:latin typeface="HelveticaNeue-Condensed"/>
              </a:rPr>
              <a:t>PV </a:t>
            </a:r>
            <a:r>
              <a:rPr lang="zh-CN" altLang="en-US" sz="1800" b="0" i="0" u="none" strike="noStrike" baseline="0" dirty="0">
                <a:latin typeface="SourceHanSansSC-Regular"/>
              </a:rPr>
              <a:t>总预算。</a:t>
            </a:r>
            <a:r>
              <a:rPr lang="en-US" altLang="zh-CN" sz="1800" b="0" i="0" u="none" strike="noStrike" baseline="0" dirty="0">
                <a:latin typeface="HelveticaNeue-Condensed"/>
              </a:rPr>
              <a:t>EV </a:t>
            </a:r>
            <a:r>
              <a:rPr lang="zh-CN" altLang="en-US" sz="1800" b="0" i="0" u="none" strike="noStrike" baseline="0" dirty="0">
                <a:latin typeface="SourceHanSansSC-Regular"/>
              </a:rPr>
              <a:t>常用于计算项目的完成百分比，应该为每个 </a:t>
            </a:r>
            <a:r>
              <a:rPr lang="en-US" altLang="zh-CN" sz="1800" b="0" i="0" u="none" strike="noStrike" baseline="0" dirty="0">
                <a:latin typeface="HelveticaNeue-Condensed"/>
              </a:rPr>
              <a:t>WBS </a:t>
            </a:r>
            <a:r>
              <a:rPr lang="zh-CN" altLang="en-US" sz="1800" b="0" i="0" u="none" strike="noStrike" baseline="0" dirty="0">
                <a:latin typeface="SourceHanSansSC-Regular"/>
              </a:rPr>
              <a:t>组件规定进展测量准则，用于考核正在</a:t>
            </a:r>
          </a:p>
          <a:p>
            <a:pPr algn="l"/>
            <a:r>
              <a:rPr lang="zh-CN" altLang="en-US" sz="1800" b="0" i="0" u="none" strike="noStrike" baseline="0" dirty="0">
                <a:latin typeface="SourceHanSansSC-Regular"/>
              </a:rPr>
              <a:t>实施的工作。项目经理既要监测 </a:t>
            </a:r>
            <a:r>
              <a:rPr lang="en-US" altLang="zh-CN" sz="1800" b="0" i="0" u="none" strike="noStrike" baseline="0" dirty="0">
                <a:latin typeface="HelveticaNeue-Condensed"/>
              </a:rPr>
              <a:t>EV </a:t>
            </a:r>
            <a:r>
              <a:rPr lang="zh-CN" altLang="en-US" sz="1800" b="0" i="0" u="none" strike="noStrike" baseline="0" dirty="0">
                <a:latin typeface="SourceHanSansSC-Regular"/>
              </a:rPr>
              <a:t>的增量，以判断当前的状态，又要监测 </a:t>
            </a:r>
            <a:r>
              <a:rPr lang="en-US" altLang="zh-CN" sz="1800" b="0" i="0" u="none" strike="noStrike" baseline="0" dirty="0">
                <a:latin typeface="HelveticaNeue-Condensed"/>
              </a:rPr>
              <a:t>EV </a:t>
            </a:r>
            <a:r>
              <a:rPr lang="zh-CN" altLang="en-US" sz="1800" b="0" i="0" u="none" strike="noStrike" baseline="0" dirty="0">
                <a:latin typeface="SourceHanSansSC-Regular"/>
              </a:rPr>
              <a:t>的累计值，以判断长期的绩效趋势。</a:t>
            </a:r>
          </a:p>
          <a:p>
            <a:pPr algn="l"/>
            <a:r>
              <a:rPr lang="zh-CN" altLang="en-US" sz="1800" b="0" i="0" u="none" strike="noStrike" baseline="0" dirty="0">
                <a:latin typeface="Wingdings-Regular"/>
              </a:rPr>
              <a:t>（</a:t>
            </a:r>
            <a:r>
              <a:rPr lang="en-US" altLang="zh-CN" sz="1800" b="0" i="0" u="none" strike="noStrike" baseline="0" dirty="0">
                <a:latin typeface="Wingdings-Regular"/>
              </a:rPr>
              <a:t>3</a:t>
            </a:r>
            <a:r>
              <a:rPr lang="zh-CN" altLang="en-US" sz="1800" b="0" i="0" u="none" strike="noStrike" baseline="0" dirty="0">
                <a:latin typeface="Wingdings-Regular"/>
              </a:rPr>
              <a:t>）</a:t>
            </a:r>
            <a:r>
              <a:rPr lang="zh-CN" altLang="en-US" sz="1800" b="1" i="0" u="none" strike="noStrike" baseline="0" dirty="0">
                <a:latin typeface="SourceHanSansSC-Bold"/>
              </a:rPr>
              <a:t>实际成本。</a:t>
            </a:r>
            <a:r>
              <a:rPr lang="zh-CN" altLang="en-US" sz="1800" b="0" i="0" u="none" strike="noStrike" baseline="0" dirty="0">
                <a:latin typeface="SourceHanSansSC-Regular"/>
              </a:rPr>
              <a:t>实际成本（</a:t>
            </a:r>
            <a:r>
              <a:rPr lang="en-US" altLang="zh-CN" sz="1800" b="0" i="0" u="none" strike="noStrike" baseline="0" dirty="0">
                <a:latin typeface="HelveticaNeue-Condensed"/>
              </a:rPr>
              <a:t>AC</a:t>
            </a:r>
            <a:r>
              <a:rPr lang="zh-CN" altLang="en-US" sz="1800" b="0" i="0" u="none" strike="noStrike" baseline="0" dirty="0">
                <a:latin typeface="SourceHanSansSC-Regular"/>
              </a:rPr>
              <a:t>）是在给定时段内，执行某活动而实际发生的成本，是为完成与 </a:t>
            </a:r>
            <a:r>
              <a:rPr lang="en-US" altLang="zh-CN" sz="1800" b="0" i="0" u="none" strike="noStrike" baseline="0" dirty="0">
                <a:latin typeface="HelveticaNeue-Condensed"/>
              </a:rPr>
              <a:t>EV</a:t>
            </a:r>
            <a:r>
              <a:rPr lang="zh-CN" altLang="en-US" sz="1800" b="0" i="0" u="none" strike="noStrike" baseline="0" dirty="0">
                <a:latin typeface="SourceHanSansSC-Regular"/>
              </a:rPr>
              <a:t>相对应的工作而发生的总成本。</a:t>
            </a:r>
            <a:r>
              <a:rPr lang="en-US" altLang="zh-CN" sz="1800" b="0" i="0" u="none" strike="noStrike" baseline="0" dirty="0">
                <a:latin typeface="HelveticaNeue-Condensed"/>
              </a:rPr>
              <a:t>AC </a:t>
            </a:r>
            <a:r>
              <a:rPr lang="zh-CN" altLang="en-US" sz="1800" b="0" i="0" u="none" strike="noStrike" baseline="0" dirty="0">
                <a:latin typeface="SourceHanSansSC-Regular"/>
              </a:rPr>
              <a:t>的计算方法必须与 </a:t>
            </a:r>
            <a:r>
              <a:rPr lang="en-US" altLang="zh-CN" sz="1800" b="0" i="0" u="none" strike="noStrike" baseline="0" dirty="0">
                <a:latin typeface="HelveticaNeue-Condensed"/>
              </a:rPr>
              <a:t>PV </a:t>
            </a:r>
            <a:r>
              <a:rPr lang="zh-CN" altLang="en-US" sz="1800" b="0" i="0" u="none" strike="noStrike" baseline="0" dirty="0">
                <a:latin typeface="SourceHanSansSC-Regular"/>
              </a:rPr>
              <a:t>和 </a:t>
            </a:r>
            <a:r>
              <a:rPr lang="en-US" altLang="zh-CN" sz="1800" b="0" i="0" u="none" strike="noStrike" baseline="0" dirty="0">
                <a:latin typeface="HelveticaNeue-Condensed"/>
              </a:rPr>
              <a:t>EV </a:t>
            </a:r>
            <a:r>
              <a:rPr lang="zh-CN" altLang="en-US" sz="1800" b="0" i="0" u="none" strike="noStrike" baseline="0" dirty="0">
                <a:latin typeface="SourceHanSansSC-Regular"/>
              </a:rPr>
              <a:t>的计算方法保持一致（例如，都只计算直接小时数，都只计算直接成本，或都计算包含间接成本在内的全部成本）。</a:t>
            </a:r>
            <a:r>
              <a:rPr lang="en-US" altLang="zh-CN" sz="1800" b="0" i="0" u="none" strike="noStrike" baseline="0" dirty="0">
                <a:latin typeface="HelveticaNeue-Condensed"/>
              </a:rPr>
              <a:t>AC </a:t>
            </a:r>
            <a:r>
              <a:rPr lang="zh-CN" altLang="en-US" sz="1800" b="0" i="0" u="none" strike="noStrike" baseline="0" dirty="0">
                <a:latin typeface="SourceHanSansSC-Regular"/>
              </a:rPr>
              <a:t>没有上限，为实现 </a:t>
            </a:r>
            <a:r>
              <a:rPr lang="en-US" altLang="zh-CN" sz="1800" b="0" i="0" u="none" strike="noStrike" baseline="0" dirty="0">
                <a:latin typeface="HelveticaNeue-Condensed"/>
              </a:rPr>
              <a:t>EV </a:t>
            </a:r>
            <a:r>
              <a:rPr lang="zh-CN" altLang="en-US" sz="1800" b="0" i="0" u="none" strike="noStrike" baseline="0" dirty="0">
                <a:latin typeface="SourceHanSansSC-Regular"/>
              </a:rPr>
              <a:t>所花费的任何成本都要计算进去。</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102</a:t>
            </a:fld>
            <a:endParaRPr lang="zh-CN" altLang="en-US"/>
          </a:p>
        </p:txBody>
      </p:sp>
    </p:spTree>
    <p:extLst>
      <p:ext uri="{BB962C8B-B14F-4D97-AF65-F5344CB8AC3E}">
        <p14:creationId xmlns:p14="http://schemas.microsoft.com/office/powerpoint/2010/main" val="551086986"/>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幻灯片图像占位符 1">
            <a:extLst>
              <a:ext uri="{FF2B5EF4-FFF2-40B4-BE49-F238E27FC236}">
                <a16:creationId xmlns:a16="http://schemas.microsoft.com/office/drawing/2014/main" id="{9D9C93F6-A670-47FA-B290-0D6621DA0AF4}"/>
              </a:ext>
            </a:extLst>
          </p:cNvPr>
          <p:cNvSpPr>
            <a:spLocks noGrp="1" noRot="1" noChangeAspect="1" noTextEdit="1"/>
          </p:cNvSpPr>
          <p:nvPr>
            <p:ph type="sldImg"/>
          </p:nvPr>
        </p:nvSpPr>
        <p:spPr bwMode="auto">
          <a:xfrm>
            <a:off x="481013" y="1279525"/>
            <a:ext cx="6142037"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2451" name="备注占位符 2">
            <a:extLst>
              <a:ext uri="{FF2B5EF4-FFF2-40B4-BE49-F238E27FC236}">
                <a16:creationId xmlns:a16="http://schemas.microsoft.com/office/drawing/2014/main" id="{8A6138CA-3A06-44FA-B9AA-529F12C178D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r>
              <a:rPr lang="en-US" altLang="zh-CN" b="0" i="0" dirty="0">
                <a:solidFill>
                  <a:srgbClr val="333333"/>
                </a:solidFill>
                <a:effectLst/>
                <a:latin typeface="PingFang SC"/>
              </a:rPr>
              <a:t>ACWP—— Actual Cost for Work Performed</a:t>
            </a:r>
            <a:r>
              <a:rPr lang="zh-CN" altLang="en-US" b="0" i="0" dirty="0">
                <a:solidFill>
                  <a:srgbClr val="333333"/>
                </a:solidFill>
                <a:effectLst/>
                <a:latin typeface="PingFang SC"/>
              </a:rPr>
              <a:t>：已完成工作量的实际费用，</a:t>
            </a:r>
            <a:r>
              <a:rPr lang="en-US" altLang="zh-CN" b="0" i="0" dirty="0">
                <a:solidFill>
                  <a:srgbClr val="333333"/>
                </a:solidFill>
                <a:effectLst/>
                <a:latin typeface="PingFang SC"/>
              </a:rPr>
              <a:t>ACWP</a:t>
            </a:r>
            <a:r>
              <a:rPr lang="zh-CN" altLang="en-US" b="0" i="0" dirty="0">
                <a:solidFill>
                  <a:srgbClr val="333333"/>
                </a:solidFill>
                <a:effectLst/>
                <a:latin typeface="PingFang SC"/>
              </a:rPr>
              <a:t>是指项目实施过程中某阶段实际完成的工作量所消耗的工时（或费用）。</a:t>
            </a:r>
            <a:r>
              <a:rPr lang="en-US" altLang="zh-CN" b="0" i="0" dirty="0">
                <a:solidFill>
                  <a:srgbClr val="333333"/>
                </a:solidFill>
                <a:effectLst/>
                <a:latin typeface="PingFang SC"/>
              </a:rPr>
              <a:t>ACWP</a:t>
            </a:r>
            <a:r>
              <a:rPr lang="zh-CN" altLang="en-US" b="0" i="0" dirty="0">
                <a:solidFill>
                  <a:srgbClr val="333333"/>
                </a:solidFill>
                <a:effectLst/>
                <a:latin typeface="PingFang SC"/>
              </a:rPr>
              <a:t>主要反映项目执行的实际消耗指标。</a:t>
            </a:r>
          </a:p>
          <a:p>
            <a:pPr algn="l"/>
            <a:r>
              <a:rPr lang="en-US" altLang="zh-CN" b="0" i="0" dirty="0">
                <a:solidFill>
                  <a:srgbClr val="333333"/>
                </a:solidFill>
                <a:effectLst/>
                <a:latin typeface="PingFang SC"/>
              </a:rPr>
              <a:t>BCWP——Budgeted Cost for Work Performed</a:t>
            </a:r>
            <a:r>
              <a:rPr lang="zh-CN" altLang="en-US" b="0" i="0" dirty="0">
                <a:solidFill>
                  <a:srgbClr val="333333"/>
                </a:solidFill>
                <a:effectLst/>
                <a:latin typeface="PingFang SC"/>
              </a:rPr>
              <a:t>：已完成工作量的预算费用，指在某一时刻已经完成的工作（或部份工作），以批准认可的预算为标准所需要的资金总额，又称“已完成投资额”。</a:t>
            </a:r>
          </a:p>
          <a:p>
            <a:pPr algn="l"/>
            <a:r>
              <a:rPr lang="en-US" altLang="zh-CN" b="0" i="0" dirty="0">
                <a:solidFill>
                  <a:srgbClr val="333333"/>
                </a:solidFill>
                <a:effectLst/>
                <a:latin typeface="PingFang SC"/>
              </a:rPr>
              <a:t>BCWS——</a:t>
            </a:r>
            <a:r>
              <a:rPr lang="en-US" altLang="zh-CN" b="0" i="0" dirty="0" err="1">
                <a:solidFill>
                  <a:srgbClr val="333333"/>
                </a:solidFill>
                <a:effectLst/>
                <a:latin typeface="PingFang SC"/>
              </a:rPr>
              <a:t>BudgetedCostforWorkScheduled</a:t>
            </a:r>
            <a:r>
              <a:rPr lang="zh-CN" altLang="en-US" b="0" i="0" dirty="0">
                <a:solidFill>
                  <a:srgbClr val="333333"/>
                </a:solidFill>
                <a:effectLst/>
                <a:latin typeface="PingFang SC"/>
              </a:rPr>
              <a:t>：计划工作预算费用或计划工程投资额，指根据进度计划，在某一时刻应当完成的工作（或部分工作），以预算为标准所需要的资金总额，一般来说，除非合同有变更，</a:t>
            </a:r>
            <a:r>
              <a:rPr lang="en-US" altLang="zh-CN" b="0" i="0" dirty="0">
                <a:solidFill>
                  <a:srgbClr val="333333"/>
                </a:solidFill>
                <a:effectLst/>
                <a:latin typeface="PingFang SC"/>
              </a:rPr>
              <a:t>BCWS</a:t>
            </a:r>
            <a:r>
              <a:rPr lang="zh-CN" altLang="en-US" b="0" i="0" dirty="0">
                <a:solidFill>
                  <a:srgbClr val="333333"/>
                </a:solidFill>
                <a:effectLst/>
                <a:latin typeface="PingFang SC"/>
              </a:rPr>
              <a:t>在工程实施过程中中应保持不变。</a:t>
            </a:r>
          </a:p>
          <a:p>
            <a:endParaRPr lang="en-US" altLang="zh-CN" dirty="0"/>
          </a:p>
        </p:txBody>
      </p:sp>
      <p:sp>
        <p:nvSpPr>
          <p:cNvPr id="232452" name="灯片编号占位符 3">
            <a:extLst>
              <a:ext uri="{FF2B5EF4-FFF2-40B4-BE49-F238E27FC236}">
                <a16:creationId xmlns:a16="http://schemas.microsoft.com/office/drawing/2014/main" id="{89A523FA-1931-4DBE-9813-5398704F850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EA8AEA36-1AFE-4DAE-94E3-30B0C7876FBC}" type="slidenum">
              <a:rPr lang="zh-CN" altLang="en-US" smtClean="0"/>
              <a:pPr/>
              <a:t>103</a:t>
            </a:fld>
            <a:endParaRPr lang="zh-CN" altLang="en-US"/>
          </a:p>
        </p:txBody>
      </p:sp>
    </p:spTree>
    <p:extLst>
      <p:ext uri="{BB962C8B-B14F-4D97-AF65-F5344CB8AC3E}">
        <p14:creationId xmlns:p14="http://schemas.microsoft.com/office/powerpoint/2010/main" val="8816888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5ACE964-20FD-4E02-AD78-D23A92B56B1B}" type="slidenum">
              <a:rPr lang="zh-CN" altLang="en-US" smtClean="0"/>
              <a:t>106</a:t>
            </a:fld>
            <a:endParaRPr lang="zh-CN" altLang="en-US"/>
          </a:p>
        </p:txBody>
      </p:sp>
    </p:spTree>
    <p:extLst>
      <p:ext uri="{BB962C8B-B14F-4D97-AF65-F5344CB8AC3E}">
        <p14:creationId xmlns:p14="http://schemas.microsoft.com/office/powerpoint/2010/main" val="2802070479"/>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幻灯片图像占位符 1">
            <a:extLst>
              <a:ext uri="{FF2B5EF4-FFF2-40B4-BE49-F238E27FC236}">
                <a16:creationId xmlns:a16="http://schemas.microsoft.com/office/drawing/2014/main" id="{A30F39DF-60D4-4392-9FD6-7D0D5C7D7154}"/>
              </a:ext>
            </a:extLst>
          </p:cNvPr>
          <p:cNvSpPr>
            <a:spLocks noGrp="1" noRot="1" noChangeAspect="1" noTextEdit="1"/>
          </p:cNvSpPr>
          <p:nvPr>
            <p:ph type="sldImg"/>
          </p:nvPr>
        </p:nvSpPr>
        <p:spPr bwMode="auto">
          <a:xfrm>
            <a:off x="481013" y="1279525"/>
            <a:ext cx="6142037"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4499" name="备注占位符 2">
            <a:extLst>
              <a:ext uri="{FF2B5EF4-FFF2-40B4-BE49-F238E27FC236}">
                <a16:creationId xmlns:a16="http://schemas.microsoft.com/office/drawing/2014/main" id="{58A8E94B-ACC4-4EC3-A6BF-9EC41BE9160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u="none" strike="noStrike" baseline="0" dirty="0">
                <a:latin typeface="SourceHanSansSC-Regular"/>
              </a:rPr>
              <a:t>计划价值（</a:t>
            </a:r>
            <a:r>
              <a:rPr lang="en-US" altLang="zh-CN" sz="1200" b="0" i="0" u="none" strike="noStrike" baseline="0" dirty="0">
                <a:latin typeface="HelveticaNeue-Condensed"/>
              </a:rPr>
              <a:t>PV</a:t>
            </a:r>
            <a:r>
              <a:rPr lang="zh-CN" altLang="en-US" sz="1200" b="0" i="0" u="none" strike="noStrike" baseline="0" dirty="0">
                <a:latin typeface="SourceHanSansSC-Regular"/>
              </a:rPr>
              <a:t>），挣值（</a:t>
            </a:r>
            <a:r>
              <a:rPr lang="en-US" altLang="zh-CN" sz="1200" b="0" i="0" u="none" strike="noStrike" baseline="0" dirty="0">
                <a:latin typeface="HelveticaNeue-Condensed"/>
              </a:rPr>
              <a:t>EV</a:t>
            </a:r>
            <a:r>
              <a:rPr lang="zh-CN" altLang="en-US" sz="1200" b="0" i="0" u="none" strike="noStrike" baseline="0" dirty="0">
                <a:latin typeface="SourceHanSansSC-Regular"/>
              </a:rPr>
              <a:t>），实际成本（</a:t>
            </a:r>
            <a:r>
              <a:rPr lang="en-US" altLang="zh-CN" sz="1200" b="0" i="0" u="none" strike="noStrike" baseline="0" dirty="0">
                <a:latin typeface="HelveticaNeue-Condensed"/>
              </a:rPr>
              <a:t>AC</a:t>
            </a:r>
            <a:r>
              <a:rPr lang="zh-CN" altLang="en-US" sz="1200" b="0" i="0" u="none" strike="noStrike" baseline="0" dirty="0">
                <a:latin typeface="SourceHanSansSC-Regular"/>
              </a:rPr>
              <a:t>）</a:t>
            </a:r>
            <a:endParaRPr lang="en-US" altLang="zh-CN" sz="1200" b="0" i="0" u="none" strike="noStrike" baseline="0" dirty="0">
              <a:latin typeface="SourceHanSansSC-Regular"/>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solidFill>
                  <a:srgbClr val="C00000"/>
                </a:solidFill>
                <a:latin typeface="Times New Roman" panose="02020603050405020304" pitchFamily="18" charset="0"/>
                <a:cs typeface="Times New Roman" panose="02020603050405020304" pitchFamily="18" charset="0"/>
              </a:rPr>
              <a:t>成本偏差</a:t>
            </a:r>
            <a:r>
              <a:rPr lang="en-US" altLang="zh-CN" b="0" dirty="0">
                <a:solidFill>
                  <a:srgbClr val="C00000"/>
                </a:solidFill>
                <a:latin typeface="Times New Roman" panose="02020603050405020304" pitchFamily="18" charset="0"/>
                <a:cs typeface="Times New Roman" panose="02020603050405020304" pitchFamily="18" charset="0"/>
              </a:rPr>
              <a:t>CV</a:t>
            </a:r>
            <a:r>
              <a:rPr lang="zh-CN" altLang="en-US" b="0" dirty="0">
                <a:solidFill>
                  <a:srgbClr val="C00000"/>
                </a:solidFill>
                <a:latin typeface="Times New Roman" panose="02020603050405020304" pitchFamily="18" charset="0"/>
                <a:cs typeface="Times New Roman" panose="02020603050405020304" pitchFamily="18" charset="0"/>
              </a:rPr>
              <a:t>，成本执行指数</a:t>
            </a:r>
            <a:r>
              <a:rPr lang="en-US" altLang="zh-CN" b="0" dirty="0">
                <a:solidFill>
                  <a:srgbClr val="C00000"/>
                </a:solidFill>
                <a:latin typeface="Times New Roman" panose="02020603050405020304" pitchFamily="18" charset="0"/>
                <a:cs typeface="Times New Roman" panose="02020603050405020304" pitchFamily="18" charset="0"/>
              </a:rPr>
              <a:t>CPI</a:t>
            </a:r>
            <a:r>
              <a:rPr lang="zh-CN" altLang="en-US" b="0" dirty="0">
                <a:solidFill>
                  <a:srgbClr val="C00000"/>
                </a:solidFill>
                <a:latin typeface="Times New Roman" panose="02020603050405020304" pitchFamily="18" charset="0"/>
                <a:cs typeface="Times New Roman" panose="02020603050405020304" pitchFamily="18" charset="0"/>
              </a:rPr>
              <a:t>；进度偏差</a:t>
            </a:r>
            <a:r>
              <a:rPr lang="en-US" altLang="zh-CN" b="0" dirty="0">
                <a:solidFill>
                  <a:srgbClr val="C00000"/>
                </a:solidFill>
                <a:latin typeface="Times New Roman" panose="02020603050405020304" pitchFamily="18" charset="0"/>
                <a:cs typeface="Times New Roman" panose="02020603050405020304" pitchFamily="18" charset="0"/>
              </a:rPr>
              <a:t>SV</a:t>
            </a:r>
            <a:r>
              <a:rPr lang="zh-CN" altLang="en-US" b="0" dirty="0">
                <a:solidFill>
                  <a:srgbClr val="C00000"/>
                </a:solidFill>
                <a:latin typeface="Times New Roman" panose="02020603050405020304" pitchFamily="18" charset="0"/>
                <a:cs typeface="Times New Roman" panose="02020603050405020304" pitchFamily="18" charset="0"/>
              </a:rPr>
              <a:t>，进度执行指数</a:t>
            </a:r>
            <a:r>
              <a:rPr lang="en-US" altLang="zh-CN" b="0" dirty="0">
                <a:solidFill>
                  <a:srgbClr val="C00000"/>
                </a:solidFill>
                <a:latin typeface="Times New Roman" panose="02020603050405020304" pitchFamily="18" charset="0"/>
                <a:cs typeface="Times New Roman" panose="02020603050405020304" pitchFamily="18" charset="0"/>
              </a:rPr>
              <a:t>SPI</a:t>
            </a:r>
            <a:endParaRPr lang="zh-CN" altLang="en-US" dirty="0"/>
          </a:p>
          <a:p>
            <a:pPr algn="l"/>
            <a:r>
              <a:rPr lang="zh-CN" altLang="en-US" sz="1200" b="1" i="0" u="none" strike="noStrike" baseline="0" dirty="0">
                <a:latin typeface="SourceHanSansSC-Bold"/>
              </a:rPr>
              <a:t> 计划价值。</a:t>
            </a:r>
            <a:r>
              <a:rPr lang="zh-CN" altLang="en-US" sz="1200" b="0" i="0" u="none" strike="noStrike" baseline="0" dirty="0">
                <a:latin typeface="SourceHanSansSC-Regular"/>
              </a:rPr>
              <a:t>计划价值（</a:t>
            </a:r>
            <a:r>
              <a:rPr lang="en-US" altLang="zh-CN" sz="1200" b="0" i="0" u="none" strike="noStrike" baseline="0" dirty="0">
                <a:latin typeface="HelveticaNeue-Condensed"/>
              </a:rPr>
              <a:t>PV</a:t>
            </a:r>
            <a:r>
              <a:rPr lang="zh-CN" altLang="en-US" sz="1200" b="0" i="0" u="none" strike="noStrike" baseline="0" dirty="0">
                <a:latin typeface="SourceHanSansSC-Regular"/>
              </a:rPr>
              <a:t>）是为计划工作分配的经批准的预算，它是为完成某活动或工作分解结构 </a:t>
            </a:r>
            <a:r>
              <a:rPr lang="en-US" altLang="zh-CN" sz="1200" b="0" i="0" u="none" strike="noStrike" baseline="0" dirty="0">
                <a:latin typeface="HelveticaNeue-Condensed"/>
              </a:rPr>
              <a:t>(WBS) </a:t>
            </a:r>
            <a:r>
              <a:rPr lang="zh-CN" altLang="en-US" sz="1200" b="0" i="0" u="none" strike="noStrike" baseline="0" dirty="0">
                <a:latin typeface="SourceHanSansSC-Regular"/>
              </a:rPr>
              <a:t>组成部分而准备的一份经批准的预算，不包括管理储备。应该把该预算分配至项目生命周期的各个阶段；在某个给定的时间点，计划价值代表着应该已经完成的工作。</a:t>
            </a:r>
            <a:r>
              <a:rPr lang="en-US" altLang="zh-CN" sz="1200" b="0" i="0" u="none" strike="noStrike" baseline="0" dirty="0">
                <a:latin typeface="HelveticaNeue-Condensed"/>
              </a:rPr>
              <a:t>PV</a:t>
            </a:r>
            <a:r>
              <a:rPr lang="zh-CN" altLang="en-US" sz="1200" b="0" i="0" u="none" strike="noStrike" baseline="0" dirty="0">
                <a:latin typeface="SourceHanSansSC-Regular"/>
              </a:rPr>
              <a:t>的总和有时被称为绩效测量基准（</a:t>
            </a:r>
            <a:r>
              <a:rPr lang="en-US" altLang="zh-CN" sz="1200" b="0" i="0" u="none" strike="noStrike" baseline="0" dirty="0">
                <a:latin typeface="HelveticaNeue-Condensed"/>
              </a:rPr>
              <a:t>PMB</a:t>
            </a:r>
            <a:r>
              <a:rPr lang="zh-CN" altLang="en-US" sz="1200" b="0" i="0" u="none" strike="noStrike" baseline="0" dirty="0">
                <a:latin typeface="SourceHanSansSC-Regular"/>
              </a:rPr>
              <a:t>），项目的总计划价值又被称为完工预算（</a:t>
            </a:r>
            <a:r>
              <a:rPr lang="en-US" altLang="zh-CN" sz="1200" b="0" i="0" u="none" strike="noStrike" baseline="0" dirty="0">
                <a:latin typeface="HelveticaNeue-Condensed"/>
              </a:rPr>
              <a:t>BAC</a:t>
            </a:r>
            <a:r>
              <a:rPr lang="zh-CN" altLang="en-US" sz="1200" b="0" i="0" u="none" strike="noStrike" baseline="0" dirty="0">
                <a:latin typeface="SourceHanSansSC-Regular"/>
              </a:rPr>
              <a:t>）。</a:t>
            </a:r>
          </a:p>
          <a:p>
            <a:pPr algn="l"/>
            <a:r>
              <a:rPr lang="en-US" altLang="zh-CN" sz="1200" b="0" i="0" u="none" strike="noStrike" baseline="0" dirty="0">
                <a:latin typeface="Wingdings-Regular"/>
              </a:rPr>
              <a:t>  </a:t>
            </a:r>
            <a:r>
              <a:rPr lang="zh-CN" altLang="en-US" sz="1200" b="1" i="0" u="none" strike="noStrike" baseline="0" dirty="0">
                <a:latin typeface="SourceHanSansSC-Bold"/>
              </a:rPr>
              <a:t>挣值。</a:t>
            </a:r>
            <a:r>
              <a:rPr lang="zh-CN" altLang="en-US" sz="1200" b="0" i="0" u="none" strike="noStrike" baseline="0" dirty="0">
                <a:latin typeface="SourceHanSansSC-Regular"/>
              </a:rPr>
              <a:t>挣值（</a:t>
            </a:r>
            <a:r>
              <a:rPr lang="en-US" altLang="zh-CN" sz="1200" b="0" i="0" u="none" strike="noStrike" baseline="0" dirty="0">
                <a:latin typeface="HelveticaNeue-Condensed"/>
              </a:rPr>
              <a:t>EV</a:t>
            </a:r>
            <a:r>
              <a:rPr lang="zh-CN" altLang="en-US" sz="1200" b="0" i="0" u="none" strike="noStrike" baseline="0" dirty="0">
                <a:latin typeface="SourceHanSansSC-Regular"/>
              </a:rPr>
              <a:t>）是对已完成工作的测量值，用该工作的批准预算来表示，是已完成工作的经批准的预算。</a:t>
            </a:r>
            <a:r>
              <a:rPr lang="en-US" altLang="zh-CN" sz="1200" b="0" i="0" u="none" strike="noStrike" baseline="0" dirty="0">
                <a:latin typeface="HelveticaNeue-Condensed"/>
              </a:rPr>
              <a:t>EV </a:t>
            </a:r>
            <a:r>
              <a:rPr lang="zh-CN" altLang="en-US" sz="1200" b="0" i="0" u="none" strike="noStrike" baseline="0" dirty="0">
                <a:latin typeface="SourceHanSansSC-Regular"/>
              </a:rPr>
              <a:t>的计算应该与 </a:t>
            </a:r>
            <a:r>
              <a:rPr lang="en-US" altLang="zh-CN" sz="1200" b="0" i="0" u="none" strike="noStrike" baseline="0" dirty="0">
                <a:latin typeface="HelveticaNeue-Condensed"/>
              </a:rPr>
              <a:t>PMB </a:t>
            </a:r>
            <a:r>
              <a:rPr lang="zh-CN" altLang="en-US" sz="1200" b="0" i="0" u="none" strike="noStrike" baseline="0" dirty="0">
                <a:latin typeface="SourceHanSansSC-Regular"/>
              </a:rPr>
              <a:t>相对应，且所得的 </a:t>
            </a:r>
            <a:r>
              <a:rPr lang="en-US" altLang="zh-CN" sz="1200" b="0" i="0" u="none" strike="noStrike" baseline="0" dirty="0">
                <a:latin typeface="HelveticaNeue-Condensed"/>
              </a:rPr>
              <a:t>EV </a:t>
            </a:r>
            <a:r>
              <a:rPr lang="zh-CN" altLang="en-US" sz="1200" b="0" i="0" u="none" strike="noStrike" baseline="0" dirty="0">
                <a:latin typeface="SourceHanSansSC-Regular"/>
              </a:rPr>
              <a:t>值不得大于相应组件的 </a:t>
            </a:r>
            <a:r>
              <a:rPr lang="en-US" altLang="zh-CN" sz="1200" b="0" i="0" u="none" strike="noStrike" baseline="0" dirty="0">
                <a:latin typeface="HelveticaNeue-Condensed"/>
              </a:rPr>
              <a:t>PV </a:t>
            </a:r>
            <a:r>
              <a:rPr lang="zh-CN" altLang="en-US" sz="1200" b="0" i="0" u="none" strike="noStrike" baseline="0" dirty="0">
                <a:latin typeface="SourceHanSansSC-Regular"/>
              </a:rPr>
              <a:t>总预算。</a:t>
            </a:r>
            <a:r>
              <a:rPr lang="en-US" altLang="zh-CN" sz="1200" b="0" i="0" u="none" strike="noStrike" baseline="0" dirty="0">
                <a:latin typeface="HelveticaNeue-Condensed"/>
              </a:rPr>
              <a:t>EV </a:t>
            </a:r>
            <a:r>
              <a:rPr lang="zh-CN" altLang="en-US" sz="1200" b="0" i="0" u="none" strike="noStrike" baseline="0" dirty="0">
                <a:latin typeface="SourceHanSansSC-Regular"/>
              </a:rPr>
              <a:t>常用于计算项目的完成百分比，应该为每个 </a:t>
            </a:r>
            <a:r>
              <a:rPr lang="en-US" altLang="zh-CN" sz="1200" b="0" i="0" u="none" strike="noStrike" baseline="0" dirty="0">
                <a:latin typeface="HelveticaNeue-Condensed"/>
              </a:rPr>
              <a:t>WBS </a:t>
            </a:r>
            <a:r>
              <a:rPr lang="zh-CN" altLang="en-US" sz="1200" b="0" i="0" u="none" strike="noStrike" baseline="0" dirty="0">
                <a:latin typeface="SourceHanSansSC-Regular"/>
              </a:rPr>
              <a:t>组件规定进展测量准则，用于考核正在实施的工作。项目经理既要监测 </a:t>
            </a:r>
            <a:r>
              <a:rPr lang="en-US" altLang="zh-CN" sz="1200" b="0" i="0" u="none" strike="noStrike" baseline="0" dirty="0">
                <a:latin typeface="HelveticaNeue-Condensed"/>
              </a:rPr>
              <a:t>EV </a:t>
            </a:r>
            <a:r>
              <a:rPr lang="zh-CN" altLang="en-US" sz="1200" b="0" i="0" u="none" strike="noStrike" baseline="0" dirty="0">
                <a:latin typeface="SourceHanSansSC-Regular"/>
              </a:rPr>
              <a:t>的增量，以判断当前的状态，又要监测 </a:t>
            </a:r>
            <a:r>
              <a:rPr lang="en-US" altLang="zh-CN" sz="1200" b="0" i="0" u="none" strike="noStrike" baseline="0" dirty="0">
                <a:latin typeface="HelveticaNeue-Condensed"/>
              </a:rPr>
              <a:t>EV </a:t>
            </a:r>
            <a:r>
              <a:rPr lang="zh-CN" altLang="en-US" sz="1200" b="0" i="0" u="none" strike="noStrike" baseline="0" dirty="0">
                <a:latin typeface="SourceHanSansSC-Regular"/>
              </a:rPr>
              <a:t>的累计值，以判断长期的绩效趋势。</a:t>
            </a:r>
          </a:p>
          <a:p>
            <a:pPr algn="l"/>
            <a:r>
              <a:rPr lang="zh-CN" altLang="en-US" sz="1200" b="1" i="0" u="none" strike="noStrike" baseline="0" dirty="0">
                <a:latin typeface="SourceHanSansSC-Bold"/>
              </a:rPr>
              <a:t>实际成本。</a:t>
            </a:r>
            <a:r>
              <a:rPr lang="zh-CN" altLang="en-US" sz="1200" b="0" i="0" u="none" strike="noStrike" baseline="0" dirty="0">
                <a:latin typeface="SourceHanSansSC-Regular"/>
              </a:rPr>
              <a:t>实际成本（</a:t>
            </a:r>
            <a:r>
              <a:rPr lang="en-US" altLang="zh-CN" sz="1200" b="0" i="0" u="none" strike="noStrike" baseline="0" dirty="0">
                <a:latin typeface="HelveticaNeue-Condensed"/>
              </a:rPr>
              <a:t>AC</a:t>
            </a:r>
            <a:r>
              <a:rPr lang="zh-CN" altLang="en-US" sz="1200" b="0" i="0" u="none" strike="noStrike" baseline="0" dirty="0">
                <a:latin typeface="SourceHanSansSC-Regular"/>
              </a:rPr>
              <a:t>）是在给定时段内，执行某活动而实际发生的成本，是为完成与 </a:t>
            </a:r>
            <a:r>
              <a:rPr lang="en-US" altLang="zh-CN" sz="1200" b="0" i="0" u="none" strike="noStrike" baseline="0" dirty="0">
                <a:latin typeface="HelveticaNeue-Condensed"/>
              </a:rPr>
              <a:t>EV</a:t>
            </a:r>
            <a:r>
              <a:rPr lang="zh-CN" altLang="en-US" sz="1200" b="0" i="0" u="none" strike="noStrike" baseline="0" dirty="0">
                <a:latin typeface="SourceHanSansSC-Regular"/>
              </a:rPr>
              <a:t>相对应的工作而发生的总成本。</a:t>
            </a:r>
            <a:r>
              <a:rPr lang="en-US" altLang="zh-CN" sz="1200" b="0" i="0" u="none" strike="noStrike" baseline="0" dirty="0">
                <a:latin typeface="HelveticaNeue-Condensed"/>
              </a:rPr>
              <a:t>AC </a:t>
            </a:r>
            <a:r>
              <a:rPr lang="zh-CN" altLang="en-US" sz="1200" b="0" i="0" u="none" strike="noStrike" baseline="0" dirty="0">
                <a:latin typeface="SourceHanSansSC-Regular"/>
              </a:rPr>
              <a:t>的计算方法必须与 </a:t>
            </a:r>
            <a:r>
              <a:rPr lang="en-US" altLang="zh-CN" sz="1200" b="0" i="0" u="none" strike="noStrike" baseline="0" dirty="0">
                <a:latin typeface="HelveticaNeue-Condensed"/>
              </a:rPr>
              <a:t>PV </a:t>
            </a:r>
            <a:r>
              <a:rPr lang="zh-CN" altLang="en-US" sz="1200" b="0" i="0" u="none" strike="noStrike" baseline="0" dirty="0">
                <a:latin typeface="SourceHanSansSC-Regular"/>
              </a:rPr>
              <a:t>和 </a:t>
            </a:r>
            <a:r>
              <a:rPr lang="en-US" altLang="zh-CN" sz="1200" b="0" i="0" u="none" strike="noStrike" baseline="0" dirty="0">
                <a:latin typeface="HelveticaNeue-Condensed"/>
              </a:rPr>
              <a:t>EV </a:t>
            </a:r>
            <a:r>
              <a:rPr lang="zh-CN" altLang="en-US" sz="1200" b="0" i="0" u="none" strike="noStrike" baseline="0" dirty="0">
                <a:latin typeface="SourceHanSansSC-Regular"/>
              </a:rPr>
              <a:t>的计算方法保持一致（例如，都只计算直接小时数，都只计算直接成本，或都计算包含间接成本在内的全部成本）。</a:t>
            </a:r>
            <a:r>
              <a:rPr lang="en-US" altLang="zh-CN" sz="1200" b="0" i="0" u="none" strike="noStrike" baseline="0" dirty="0">
                <a:latin typeface="HelveticaNeue-Condensed"/>
              </a:rPr>
              <a:t>AC </a:t>
            </a:r>
            <a:r>
              <a:rPr lang="zh-CN" altLang="en-US" sz="1200" b="0" i="0" u="none" strike="noStrike" baseline="0" dirty="0">
                <a:latin typeface="SourceHanSansSC-Regular"/>
              </a:rPr>
              <a:t>没有上限，为实现 </a:t>
            </a:r>
            <a:r>
              <a:rPr lang="en-US" altLang="zh-CN" sz="1200" b="0" i="0" u="none" strike="noStrike" baseline="0" dirty="0">
                <a:latin typeface="HelveticaNeue-Condensed"/>
              </a:rPr>
              <a:t>EV </a:t>
            </a:r>
            <a:r>
              <a:rPr lang="zh-CN" altLang="en-US" sz="1200" b="0" i="0" u="none" strike="noStrike" baseline="0" dirty="0">
                <a:latin typeface="SourceHanSansSC-Regular"/>
              </a:rPr>
              <a:t>所花费的任何成本都要计算进去。</a:t>
            </a:r>
            <a:endParaRPr lang="zh-CN" altLang="en-US" dirty="0"/>
          </a:p>
        </p:txBody>
      </p:sp>
      <p:sp>
        <p:nvSpPr>
          <p:cNvPr id="234500" name="灯片编号占位符 3">
            <a:extLst>
              <a:ext uri="{FF2B5EF4-FFF2-40B4-BE49-F238E27FC236}">
                <a16:creationId xmlns:a16="http://schemas.microsoft.com/office/drawing/2014/main" id="{FB3D32A3-BE26-491E-9CE6-41277E2DA4D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5B3ED0E-E617-443F-9A20-05769507E028}" type="slidenum">
              <a:rPr lang="zh-CN" altLang="en-US" smtClean="0"/>
              <a:pPr/>
              <a:t>107</a:t>
            </a:fld>
            <a:endParaRPr lang="zh-CN" altLang="en-US"/>
          </a:p>
        </p:txBody>
      </p:sp>
    </p:spTree>
    <p:extLst>
      <p:ext uri="{BB962C8B-B14F-4D97-AF65-F5344CB8AC3E}">
        <p14:creationId xmlns:p14="http://schemas.microsoft.com/office/powerpoint/2010/main" val="792190613"/>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P207</a:t>
            </a:r>
          </a:p>
          <a:p>
            <a:pPr algn="l"/>
            <a:r>
              <a:rPr lang="zh-CN" altLang="en-US" sz="1800" b="1" i="0" u="none" strike="noStrike" baseline="0" dirty="0">
                <a:latin typeface="SourceHanSansSC-Bold"/>
              </a:rPr>
              <a:t>偏差分析。</a:t>
            </a:r>
            <a:r>
              <a:rPr lang="zh-CN" altLang="en-US" sz="1800" b="0" i="0" u="none" strike="noStrike" baseline="0" dirty="0">
                <a:latin typeface="SourceHanSansSC-Regular"/>
              </a:rPr>
              <a:t>在 </a:t>
            </a:r>
            <a:r>
              <a:rPr lang="en-US" altLang="zh-CN" sz="1800" b="0" i="0" u="none" strike="noStrike" baseline="0" dirty="0">
                <a:latin typeface="HelveticaNeue-Condensed"/>
              </a:rPr>
              <a:t>EVM </a:t>
            </a:r>
            <a:r>
              <a:rPr lang="zh-CN" altLang="en-US" sz="1800" b="0" i="0" u="none" strike="noStrike" baseline="0" dirty="0">
                <a:latin typeface="SourceHanSansSC-Regular"/>
              </a:rPr>
              <a:t>中，偏差分析用以解释成本偏差（</a:t>
            </a:r>
            <a:r>
              <a:rPr lang="en-US" altLang="zh-CN" sz="1800" b="0" i="0" u="none" strike="noStrike" baseline="0" dirty="0">
                <a:latin typeface="HelveticaNeue-Condensed"/>
              </a:rPr>
              <a:t>CV = EV – AC</a:t>
            </a:r>
            <a:r>
              <a:rPr lang="zh-CN" altLang="en-US" sz="1800" b="0" i="0" u="none" strike="noStrike" baseline="0" dirty="0">
                <a:latin typeface="SourceHanSansSC-Regular"/>
              </a:rPr>
              <a:t>）、进度偏差（</a:t>
            </a:r>
            <a:r>
              <a:rPr lang="en-US" altLang="zh-CN" sz="1800" b="0" i="0" u="none" strike="noStrike" baseline="0" dirty="0">
                <a:latin typeface="HelveticaNeue-Condensed"/>
              </a:rPr>
              <a:t>SV = EV – PV</a:t>
            </a:r>
            <a:r>
              <a:rPr lang="zh-CN" altLang="en-US" sz="1800" b="0" i="0" u="none" strike="noStrike" baseline="0" dirty="0">
                <a:latin typeface="SourceHanSansSC-Regular"/>
              </a:rPr>
              <a:t>）和完工偏差（</a:t>
            </a:r>
            <a:r>
              <a:rPr lang="en-US" altLang="zh-CN" sz="1800" b="0" i="0" u="none" strike="noStrike" baseline="0" dirty="0">
                <a:latin typeface="HelveticaNeue-Condensed"/>
              </a:rPr>
              <a:t>VAC = BAC – EAC</a:t>
            </a:r>
            <a:r>
              <a:rPr lang="zh-CN" altLang="en-US" sz="1800" b="0" i="0" u="none" strike="noStrike" baseline="0" dirty="0">
                <a:latin typeface="SourceHanSansSC-Regular"/>
              </a:rPr>
              <a:t>）的原因、影响和纠正措施。成本和进度偏差是最需要分析的两种偏差。对于不使用正规挣值分析的项目，可开展类似的偏差分析，通过比较计划成本和实际成本，来识别成本基准与实际项目绩效之间的差异；然后可以实施进一步的分析，以判定偏离进度基准的原因和程度，并决定是否需要采取纠正或预防措施。可通</a:t>
            </a:r>
          </a:p>
          <a:p>
            <a:pPr algn="l"/>
            <a:r>
              <a:rPr lang="zh-CN" altLang="en-US" sz="1800" b="0" i="0" u="none" strike="noStrike" baseline="0" dirty="0">
                <a:latin typeface="SourceHanSansSC-Regular"/>
              </a:rPr>
              <a:t>过成本绩效测量来评价偏离原始成本基准的程度。项目成本控制的重要工作包括：判定偏离成本基准的原因和程度，并决定是否需要采取纠正或预防措施。随着项目工作的逐步完成，偏差的可接受范围（常用百分比表示）将逐步缩小。偏差分析包括（但不限于）：</a:t>
            </a:r>
          </a:p>
          <a:p>
            <a:pPr algn="l"/>
            <a:r>
              <a:rPr lang="zh-CN" altLang="en-US" sz="1800" b="0" i="0" u="none" strike="noStrike" baseline="0" dirty="0">
                <a:latin typeface="Wingdings-Regular"/>
              </a:rPr>
              <a:t>（</a:t>
            </a:r>
            <a:r>
              <a:rPr lang="en-US" altLang="zh-CN" sz="1800" b="0" i="0" u="none" strike="noStrike" baseline="0" dirty="0">
                <a:latin typeface="Wingdings-Regular"/>
              </a:rPr>
              <a:t>1</a:t>
            </a:r>
            <a:r>
              <a:rPr lang="zh-CN" altLang="en-US" sz="1800" b="0" i="0" u="none" strike="noStrike" baseline="0" dirty="0">
                <a:latin typeface="Wingdings-Regular"/>
              </a:rPr>
              <a:t>）</a:t>
            </a:r>
            <a:r>
              <a:rPr lang="zh-CN" altLang="en-US" sz="1800" b="1" i="0" u="none" strike="noStrike" baseline="0" dirty="0">
                <a:latin typeface="SourceHanSansSC-Bold"/>
              </a:rPr>
              <a:t>进度偏差。</a:t>
            </a:r>
            <a:r>
              <a:rPr lang="zh-CN" altLang="en-US" sz="1800" b="0" i="0" u="none" strike="noStrike" baseline="0" dirty="0">
                <a:latin typeface="SourceHanSansSC-Regular"/>
              </a:rPr>
              <a:t>进度偏差（</a:t>
            </a:r>
            <a:r>
              <a:rPr lang="en-US" altLang="zh-CN" sz="1800" b="0" i="0" u="none" strike="noStrike" baseline="0" dirty="0">
                <a:latin typeface="HelveticaNeue-Condensed"/>
              </a:rPr>
              <a:t>SV</a:t>
            </a:r>
            <a:r>
              <a:rPr lang="zh-CN" altLang="en-US" sz="1800" b="0" i="0" u="none" strike="noStrike" baseline="0" dirty="0">
                <a:latin typeface="SourceHanSansSC-Regular"/>
              </a:rPr>
              <a:t>）是测量进度绩效的一种指标，表示为挣值与计划价值之差。它是指在某个给定的时点，项目提前或落后的进度，它是测量项目进度绩效的一种指标，等于挣值（</a:t>
            </a:r>
            <a:r>
              <a:rPr lang="en-US" altLang="zh-CN" sz="1800" b="0" i="0" u="none" strike="noStrike" baseline="0" dirty="0">
                <a:latin typeface="HelveticaNeue-Condensed"/>
              </a:rPr>
              <a:t>EV</a:t>
            </a:r>
            <a:r>
              <a:rPr lang="zh-CN" altLang="en-US" sz="1800" b="0" i="0" u="none" strike="noStrike" baseline="0" dirty="0">
                <a:latin typeface="SourceHanSansSC-Regular"/>
              </a:rPr>
              <a:t>）减去计划价值（</a:t>
            </a:r>
            <a:r>
              <a:rPr lang="en-US" altLang="zh-CN" sz="1800" b="0" i="0" u="none" strike="noStrike" baseline="0" dirty="0">
                <a:latin typeface="HelveticaNeue-Condensed"/>
              </a:rPr>
              <a:t>PV</a:t>
            </a:r>
            <a:r>
              <a:rPr lang="zh-CN" altLang="en-US" sz="1800" b="0" i="0" u="none" strike="noStrike" baseline="0" dirty="0">
                <a:latin typeface="SourceHanSansSC-Regular"/>
              </a:rPr>
              <a:t>）。</a:t>
            </a:r>
            <a:r>
              <a:rPr lang="en-US" altLang="zh-CN" sz="1800" b="0" i="0" u="none" strike="noStrike" baseline="0" dirty="0">
                <a:latin typeface="HelveticaNeue-Condensed"/>
              </a:rPr>
              <a:t>EVA </a:t>
            </a:r>
            <a:r>
              <a:rPr lang="zh-CN" altLang="en-US" sz="1800" b="0" i="0" u="none" strike="noStrike" baseline="0" dirty="0">
                <a:latin typeface="SourceHanSansSC-Regular"/>
              </a:rPr>
              <a:t>进度偏差是一种有用的指标，可表明项目进度是落后还是提前于进度基准。当项目完工时，全部的计划价值都将实现（即成为挣值），所以 </a:t>
            </a:r>
            <a:r>
              <a:rPr lang="en-US" altLang="zh-CN" sz="1800" b="0" i="0" u="none" strike="noStrike" baseline="0" dirty="0">
                <a:latin typeface="HelveticaNeue-Condensed"/>
              </a:rPr>
              <a:t>EVA </a:t>
            </a:r>
            <a:r>
              <a:rPr lang="zh-CN" altLang="en-US" sz="1800" b="0" i="0" u="none" strike="noStrike" baseline="0" dirty="0">
                <a:latin typeface="SourceHanSansSC-Regular"/>
              </a:rPr>
              <a:t>进度偏差最终将等于零。最好把进度偏差与关键路径法 </a:t>
            </a:r>
            <a:r>
              <a:rPr lang="en-US" altLang="zh-CN" sz="1800" b="0" i="0" u="none" strike="noStrike" baseline="0" dirty="0">
                <a:latin typeface="HelveticaNeue-Condensed"/>
              </a:rPr>
              <a:t>(CPM) </a:t>
            </a:r>
            <a:r>
              <a:rPr lang="zh-CN" altLang="en-US" sz="1800" b="0" i="0" u="none" strike="noStrike" baseline="0" dirty="0">
                <a:latin typeface="SourceHanSansSC-Regular"/>
              </a:rPr>
              <a:t>和风险管理一起使用。</a:t>
            </a:r>
          </a:p>
          <a:p>
            <a:pPr algn="l"/>
            <a:r>
              <a:rPr lang="zh-CN" altLang="en-US" sz="1800" b="0" i="0" u="none" strike="noStrike" baseline="0" dirty="0">
                <a:latin typeface="SourceHanSansSC-Regular"/>
              </a:rPr>
              <a:t>公式：</a:t>
            </a:r>
            <a:r>
              <a:rPr lang="en-US" altLang="zh-CN" sz="1800" b="0" i="0" u="none" strike="noStrike" baseline="0" dirty="0">
                <a:latin typeface="HelveticaNeue-Condensed"/>
              </a:rPr>
              <a:t>SV = EV – PV</a:t>
            </a:r>
            <a:r>
              <a:rPr lang="zh-CN" altLang="en-US" sz="1800" b="0" i="0" u="none" strike="noStrike" baseline="0" dirty="0">
                <a:latin typeface="SourceHanSansSC-Regular"/>
              </a:rPr>
              <a:t>。</a:t>
            </a:r>
          </a:p>
          <a:p>
            <a:pPr algn="l"/>
            <a:r>
              <a:rPr lang="zh-CN" altLang="en-US" sz="1800" b="0" i="0" u="none" strike="noStrike" baseline="0" dirty="0">
                <a:latin typeface="Wingdings-Regular"/>
              </a:rPr>
              <a:t>（</a:t>
            </a:r>
            <a:r>
              <a:rPr lang="en-US" altLang="zh-CN" sz="1800" b="0" i="0" u="none" strike="noStrike" baseline="0" dirty="0">
                <a:latin typeface="Wingdings-Regular"/>
              </a:rPr>
              <a:t>2</a:t>
            </a:r>
            <a:r>
              <a:rPr lang="zh-CN" altLang="en-US" sz="1800" b="0" i="0" u="none" strike="noStrike" baseline="0" dirty="0">
                <a:latin typeface="Wingdings-Regular"/>
              </a:rPr>
              <a:t>）</a:t>
            </a:r>
            <a:r>
              <a:rPr lang="zh-CN" altLang="en-US" sz="1800" b="1" i="0" u="none" strike="noStrike" baseline="0" dirty="0">
                <a:latin typeface="SourceHanSansSC-Bold"/>
              </a:rPr>
              <a:t>成本偏差。</a:t>
            </a:r>
            <a:r>
              <a:rPr lang="zh-CN" altLang="en-US" sz="1800" b="0" i="0" u="none" strike="noStrike" baseline="0" dirty="0">
                <a:latin typeface="SourceHanSansSC-Regular"/>
              </a:rPr>
              <a:t>成本偏差（</a:t>
            </a:r>
            <a:r>
              <a:rPr lang="en-US" altLang="zh-CN" sz="1800" b="0" i="0" u="none" strike="noStrike" baseline="0" dirty="0">
                <a:latin typeface="HelveticaNeue-Condensed"/>
              </a:rPr>
              <a:t>CV</a:t>
            </a:r>
            <a:r>
              <a:rPr lang="zh-CN" altLang="en-US" sz="1800" b="0" i="0" u="none" strike="noStrike" baseline="0" dirty="0">
                <a:latin typeface="SourceHanSansSC-Regular"/>
              </a:rPr>
              <a:t>）是在某个给定时点的预算亏空或盈余量，表示为挣值与实际成本之差。它是测量项目成本绩效的一种指标，等于挣值（</a:t>
            </a:r>
            <a:r>
              <a:rPr lang="en-US" altLang="zh-CN" sz="1800" b="0" i="0" u="none" strike="noStrike" baseline="0" dirty="0">
                <a:latin typeface="HelveticaNeue-Condensed"/>
              </a:rPr>
              <a:t>EV</a:t>
            </a:r>
            <a:r>
              <a:rPr lang="zh-CN" altLang="en-US" sz="1800" b="0" i="0" u="none" strike="noStrike" baseline="0" dirty="0">
                <a:latin typeface="SourceHanSansSC-Regular"/>
              </a:rPr>
              <a:t>）减去实际成本（</a:t>
            </a:r>
            <a:r>
              <a:rPr lang="en-US" altLang="zh-CN" sz="1800" b="0" i="0" u="none" strike="noStrike" baseline="0" dirty="0">
                <a:latin typeface="HelveticaNeue-Condensed"/>
              </a:rPr>
              <a:t>AC</a:t>
            </a:r>
            <a:r>
              <a:rPr lang="zh-CN" altLang="en-US" sz="1800" b="0" i="0" u="none" strike="noStrike" baseline="0" dirty="0">
                <a:latin typeface="SourceHanSansSC-Regular"/>
              </a:rPr>
              <a:t>）。项目结束时的成本偏差，就是完工预算（</a:t>
            </a:r>
            <a:r>
              <a:rPr lang="en-US" altLang="zh-CN" sz="1800" b="0" i="0" u="none" strike="noStrike" baseline="0" dirty="0">
                <a:latin typeface="HelveticaNeue-Condensed"/>
              </a:rPr>
              <a:t>BAC</a:t>
            </a:r>
            <a:r>
              <a:rPr lang="zh-CN" altLang="en-US" sz="1800" b="0" i="0" u="none" strike="noStrike" baseline="0" dirty="0">
                <a:latin typeface="SourceHanSansSC-Regular"/>
              </a:rPr>
              <a:t>）与实际成本之间的差值。由于成本偏差指明了实际绩效与成本支出之间的关系，所以非常重要。负的 </a:t>
            </a:r>
            <a:r>
              <a:rPr lang="en-US" altLang="zh-CN" sz="1800" b="0" i="0" u="none" strike="noStrike" baseline="0" dirty="0">
                <a:latin typeface="HelveticaNeue-Condensed"/>
              </a:rPr>
              <a:t>CV </a:t>
            </a:r>
            <a:r>
              <a:rPr lang="zh-CN" altLang="en-US" sz="1800" b="0" i="0" u="none" strike="noStrike" baseline="0" dirty="0">
                <a:latin typeface="SourceHanSansSC-Regular"/>
              </a:rPr>
              <a:t>一般都是不可挽回的。公式：</a:t>
            </a:r>
            <a:r>
              <a:rPr lang="en-US" altLang="zh-CN" sz="1800" b="0" i="0" u="none" strike="noStrike" baseline="0" dirty="0">
                <a:latin typeface="HelveticaNeue-Condensed"/>
              </a:rPr>
              <a:t>CV = EV – AC</a:t>
            </a:r>
            <a:r>
              <a:rPr lang="zh-CN" altLang="en-US" sz="1800" b="0" i="0" u="none" strike="noStrike" baseline="0" dirty="0">
                <a:latin typeface="SourceHanSansSC-Regular"/>
              </a:rPr>
              <a:t>。</a:t>
            </a:r>
            <a:endParaRPr lang="en-US" altLang="zh-CN" sz="1800" b="0" i="0" u="none" strike="noStrike" baseline="0" dirty="0">
              <a:latin typeface="SourceHanSansSC-Regular"/>
            </a:endParaRPr>
          </a:p>
          <a:p>
            <a:pPr algn="l"/>
            <a:r>
              <a:rPr lang="zh-CN" altLang="en-US" sz="1800" b="1" i="0" u="none" strike="noStrike" baseline="0" dirty="0">
                <a:latin typeface="SourceHanSansSC-Bold"/>
              </a:rPr>
              <a:t>（</a:t>
            </a:r>
            <a:r>
              <a:rPr lang="en-US" altLang="zh-CN" sz="1800" b="1" i="0" u="none" strike="noStrike" baseline="0" dirty="0">
                <a:latin typeface="SourceHanSansSC-Bold"/>
              </a:rPr>
              <a:t>3</a:t>
            </a:r>
            <a:r>
              <a:rPr lang="zh-CN" altLang="en-US" sz="1800" b="1" i="0" u="none" strike="noStrike" baseline="0" dirty="0">
                <a:latin typeface="SourceHanSansSC-Bold"/>
              </a:rPr>
              <a:t>）进度绩效指数。</a:t>
            </a:r>
            <a:r>
              <a:rPr lang="zh-CN" altLang="en-US" sz="1800" b="0" i="0" u="none" strike="noStrike" baseline="0" dirty="0">
                <a:latin typeface="SourceHanSansSC-Regular"/>
              </a:rPr>
              <a:t>进度绩效指数（</a:t>
            </a:r>
            <a:r>
              <a:rPr lang="en-US" altLang="zh-CN" sz="1800" b="0" i="0" u="none" strike="noStrike" baseline="0" dirty="0">
                <a:latin typeface="HelveticaNeue-Condensed"/>
              </a:rPr>
              <a:t>SPI</a:t>
            </a:r>
            <a:r>
              <a:rPr lang="zh-CN" altLang="en-US" sz="1800" b="0" i="0" u="none" strike="noStrike" baseline="0" dirty="0">
                <a:latin typeface="SourceHanSansSC-Regular"/>
              </a:rPr>
              <a:t>）是测量进度效率的一种指标，表示为挣值与计划价值之比，反映了项目团队完成工作的效率。有时与成本绩效指数（</a:t>
            </a:r>
            <a:r>
              <a:rPr lang="en-US" altLang="zh-CN" sz="1800" b="0" i="0" u="none" strike="noStrike" baseline="0" dirty="0">
                <a:latin typeface="HelveticaNeue-Condensed"/>
              </a:rPr>
              <a:t>CPI</a:t>
            </a:r>
            <a:r>
              <a:rPr lang="zh-CN" altLang="en-US" sz="1800" b="0" i="0" u="none" strike="noStrike" baseline="0" dirty="0">
                <a:latin typeface="SourceHanSansSC-Regular"/>
              </a:rPr>
              <a:t>）一起使用，以预测项目的最终完工估算。当 </a:t>
            </a:r>
            <a:r>
              <a:rPr lang="en-US" altLang="zh-CN" sz="1800" b="0" i="0" u="none" strike="noStrike" baseline="0" dirty="0">
                <a:latin typeface="HelveticaNeue-Condensed"/>
              </a:rPr>
              <a:t>SPI </a:t>
            </a:r>
            <a:r>
              <a:rPr lang="zh-CN" altLang="en-US" sz="1800" b="0" i="0" u="none" strike="noStrike" baseline="0" dirty="0">
                <a:latin typeface="SourceHanSansSC-Regular"/>
              </a:rPr>
              <a:t>小于 </a:t>
            </a:r>
            <a:r>
              <a:rPr lang="en-US" altLang="zh-CN" sz="1800" b="0" i="0" u="none" strike="noStrike" baseline="0" dirty="0">
                <a:latin typeface="HelveticaNeue-Condensed"/>
              </a:rPr>
              <a:t>1.0 </a:t>
            </a:r>
            <a:r>
              <a:rPr lang="zh-CN" altLang="en-US" sz="1800" b="0" i="0" u="none" strike="noStrike" baseline="0" dirty="0">
                <a:latin typeface="SourceHanSansSC-Regular"/>
              </a:rPr>
              <a:t>时，说明已完成的工作量未达到计划要求；当 </a:t>
            </a:r>
            <a:r>
              <a:rPr lang="en-US" altLang="zh-CN" sz="1800" b="0" i="0" u="none" strike="noStrike" baseline="0" dirty="0">
                <a:latin typeface="HelveticaNeue-Condensed"/>
              </a:rPr>
              <a:t>SPI </a:t>
            </a:r>
            <a:r>
              <a:rPr lang="zh-CN" altLang="en-US" sz="1800" b="0" i="0" u="none" strike="noStrike" baseline="0" dirty="0">
                <a:latin typeface="SourceHanSansSC-Regular"/>
              </a:rPr>
              <a:t>大于</a:t>
            </a:r>
            <a:r>
              <a:rPr lang="en-US" altLang="zh-CN" sz="1800" b="0" i="0" u="none" strike="noStrike" baseline="0" dirty="0">
                <a:latin typeface="HelveticaNeue-Condensed"/>
              </a:rPr>
              <a:t>1.0 </a:t>
            </a:r>
            <a:r>
              <a:rPr lang="zh-CN" altLang="en-US" sz="1800" b="0" i="0" u="none" strike="noStrike" baseline="0" dirty="0">
                <a:latin typeface="SourceHanSansSC-Regular"/>
              </a:rPr>
              <a:t>时，则说明已完成的工作量超过计划。由于 </a:t>
            </a:r>
            <a:r>
              <a:rPr lang="en-US" altLang="zh-CN" sz="1800" b="0" i="0" u="none" strike="noStrike" baseline="0" dirty="0">
                <a:latin typeface="HelveticaNeue-Condensed"/>
              </a:rPr>
              <a:t>SPI </a:t>
            </a:r>
            <a:r>
              <a:rPr lang="zh-CN" altLang="en-US" sz="1800" b="0" i="0" u="none" strike="noStrike" baseline="0" dirty="0">
                <a:latin typeface="SourceHanSansSC-Regular"/>
              </a:rPr>
              <a:t>测量的是项目的总工作量，所以还需要对关键路径上的绩效进行单独分析，以确认项目是否将比计划完成日期提前或推迟完工。</a:t>
            </a:r>
            <a:r>
              <a:rPr lang="en-US" altLang="zh-CN" sz="1800" b="0" i="0" u="none" strike="noStrike" baseline="0" dirty="0">
                <a:latin typeface="HelveticaNeue-Condensed"/>
              </a:rPr>
              <a:t>SPI</a:t>
            </a:r>
            <a:r>
              <a:rPr lang="zh-CN" altLang="en-US" sz="1800" b="0" i="0" u="none" strike="noStrike" baseline="0" dirty="0">
                <a:latin typeface="SourceHanSansSC-Regular"/>
              </a:rPr>
              <a:t>等于 </a:t>
            </a:r>
            <a:r>
              <a:rPr lang="en-US" altLang="zh-CN" sz="1800" b="0" i="0" u="none" strike="noStrike" baseline="0" dirty="0">
                <a:latin typeface="HelveticaNeue-Condensed"/>
              </a:rPr>
              <a:t>EV </a:t>
            </a:r>
            <a:r>
              <a:rPr lang="zh-CN" altLang="en-US" sz="1800" b="0" i="0" u="none" strike="noStrike" baseline="0" dirty="0">
                <a:latin typeface="SourceHanSansSC-Regular"/>
              </a:rPr>
              <a:t>与 </a:t>
            </a:r>
            <a:r>
              <a:rPr lang="en-US" altLang="zh-CN" sz="1800" b="0" i="0" u="none" strike="noStrike" baseline="0" dirty="0">
                <a:latin typeface="HelveticaNeue-Condensed"/>
              </a:rPr>
              <a:t>PV </a:t>
            </a:r>
            <a:r>
              <a:rPr lang="zh-CN" altLang="en-US" sz="1800" b="0" i="0" u="none" strike="noStrike" baseline="0" dirty="0">
                <a:latin typeface="SourceHanSansSC-Regular"/>
              </a:rPr>
              <a:t>的比值。公式：</a:t>
            </a:r>
            <a:r>
              <a:rPr lang="en-US" altLang="zh-CN" sz="1800" b="0" i="0" u="none" strike="noStrike" baseline="0" dirty="0">
                <a:latin typeface="HelveticaNeue-Condensed"/>
              </a:rPr>
              <a:t>SPI = EV/PV</a:t>
            </a:r>
            <a:r>
              <a:rPr lang="zh-CN" altLang="en-US" sz="1800" b="0" i="0" u="none" strike="noStrike" baseline="0" dirty="0">
                <a:latin typeface="SourceHanSansSC-Regular"/>
              </a:rPr>
              <a:t>。</a:t>
            </a:r>
          </a:p>
          <a:p>
            <a:pPr algn="l"/>
            <a:r>
              <a:rPr lang="zh-CN" altLang="en-US" sz="1800" b="0" i="0" u="none" strike="noStrike" baseline="0" dirty="0">
                <a:latin typeface="Wingdings-Regular"/>
              </a:rPr>
              <a:t>（</a:t>
            </a:r>
            <a:r>
              <a:rPr lang="en-US" altLang="zh-CN" sz="1800" b="0" i="0" u="none" strike="noStrike" baseline="0" dirty="0">
                <a:latin typeface="Wingdings-Regular"/>
              </a:rPr>
              <a:t>4</a:t>
            </a:r>
            <a:r>
              <a:rPr lang="zh-CN" altLang="en-US" sz="1800" b="0" i="0" u="none" strike="noStrike" baseline="0" dirty="0">
                <a:latin typeface="Wingdings-Regular"/>
              </a:rPr>
              <a:t>）</a:t>
            </a:r>
            <a:r>
              <a:rPr lang="zh-CN" altLang="en-US" sz="1800" b="1" i="0" u="none" strike="noStrike" baseline="0" dirty="0">
                <a:latin typeface="SourceHanSansSC-Bold"/>
              </a:rPr>
              <a:t>成本绩效指数。</a:t>
            </a:r>
            <a:r>
              <a:rPr lang="zh-CN" altLang="en-US" sz="1800" b="0" i="0" u="none" strike="noStrike" baseline="0" dirty="0">
                <a:latin typeface="SourceHanSansSC-Regular"/>
              </a:rPr>
              <a:t>成本绩效指数（</a:t>
            </a:r>
            <a:r>
              <a:rPr lang="en-US" altLang="zh-CN" sz="1800" b="0" i="0" u="none" strike="noStrike" baseline="0" dirty="0">
                <a:latin typeface="HelveticaNeue-Condensed"/>
              </a:rPr>
              <a:t>CPI</a:t>
            </a:r>
            <a:r>
              <a:rPr lang="zh-CN" altLang="en-US" sz="1800" b="0" i="0" u="none" strike="noStrike" baseline="0" dirty="0">
                <a:latin typeface="SourceHanSansSC-Regular"/>
              </a:rPr>
              <a:t>）是测量预算资源的成本效率的一种指标，表示为挣值与实际成本之比。它是最关键的 </a:t>
            </a:r>
            <a:r>
              <a:rPr lang="en-US" altLang="zh-CN" sz="1800" b="0" i="0" u="none" strike="noStrike" baseline="0" dirty="0">
                <a:latin typeface="HelveticaNeue-Condensed"/>
              </a:rPr>
              <a:t>EVA </a:t>
            </a:r>
            <a:r>
              <a:rPr lang="zh-CN" altLang="en-US" sz="1800" b="0" i="0" u="none" strike="noStrike" baseline="0" dirty="0">
                <a:latin typeface="SourceHanSansSC-Regular"/>
              </a:rPr>
              <a:t>指标，用来测量已完成工作的成本效率。当 </a:t>
            </a:r>
            <a:r>
              <a:rPr lang="en-US" altLang="zh-CN" sz="1800" b="0" i="0" u="none" strike="noStrike" baseline="0" dirty="0">
                <a:latin typeface="HelveticaNeue-Condensed"/>
              </a:rPr>
              <a:t>CPI </a:t>
            </a:r>
            <a:r>
              <a:rPr lang="zh-CN" altLang="en-US" sz="1800" b="0" i="0" u="none" strike="noStrike" baseline="0" dirty="0">
                <a:latin typeface="SourceHanSansSC-Regular"/>
              </a:rPr>
              <a:t>小于 </a:t>
            </a:r>
            <a:r>
              <a:rPr lang="en-US" altLang="zh-CN" sz="1800" b="0" i="0" u="none" strike="noStrike" baseline="0" dirty="0">
                <a:latin typeface="HelveticaNeue-Condensed"/>
              </a:rPr>
              <a:t>1.0</a:t>
            </a:r>
            <a:r>
              <a:rPr lang="zh-CN" altLang="en-US" sz="1800" b="0" i="0" u="none" strike="noStrike" baseline="0" dirty="0">
                <a:latin typeface="SourceHanSansSC-Regular"/>
              </a:rPr>
              <a:t>时，说明已完成工作的成本超支；当 </a:t>
            </a:r>
            <a:r>
              <a:rPr lang="en-US" altLang="zh-CN" sz="1800" b="0" i="0" u="none" strike="noStrike" baseline="0" dirty="0">
                <a:latin typeface="HelveticaNeue-Condensed"/>
              </a:rPr>
              <a:t>CPI</a:t>
            </a:r>
            <a:r>
              <a:rPr lang="zh-CN" altLang="en-US" sz="1800" b="0" i="0" u="none" strike="noStrike" baseline="0" dirty="0">
                <a:latin typeface="SourceHanSansSC-Regular"/>
              </a:rPr>
              <a:t>大于 </a:t>
            </a:r>
            <a:r>
              <a:rPr lang="en-US" altLang="zh-CN" sz="1800" b="0" i="0" u="none" strike="noStrike" baseline="0" dirty="0">
                <a:latin typeface="HelveticaNeue-Condensed"/>
              </a:rPr>
              <a:t>1.0 </a:t>
            </a:r>
            <a:r>
              <a:rPr lang="zh-CN" altLang="en-US" sz="1800" b="0" i="0" u="none" strike="noStrike" baseline="0" dirty="0">
                <a:latin typeface="SourceHanSansSC-Regular"/>
              </a:rPr>
              <a:t>时，则说明到目前为止成本有结余。</a:t>
            </a:r>
            <a:r>
              <a:rPr lang="en-US" altLang="zh-CN" sz="1800" b="0" i="0" u="none" strike="noStrike" baseline="0" dirty="0">
                <a:latin typeface="HelveticaNeue-Condensed"/>
              </a:rPr>
              <a:t>CPI </a:t>
            </a:r>
            <a:r>
              <a:rPr lang="zh-CN" altLang="en-US" sz="1800" b="0" i="0" u="none" strike="noStrike" baseline="0" dirty="0">
                <a:latin typeface="SourceHanSansSC-Regular"/>
              </a:rPr>
              <a:t>等于 </a:t>
            </a:r>
            <a:r>
              <a:rPr lang="en-US" altLang="zh-CN" sz="1800" b="0" i="0" u="none" strike="noStrike" baseline="0" dirty="0">
                <a:latin typeface="HelveticaNeue-Condensed"/>
              </a:rPr>
              <a:t>EV </a:t>
            </a:r>
            <a:r>
              <a:rPr lang="zh-CN" altLang="en-US" sz="1800" b="0" i="0" u="none" strike="noStrike" baseline="0" dirty="0">
                <a:latin typeface="SourceHanSansSC-Regular"/>
              </a:rPr>
              <a:t>与 </a:t>
            </a:r>
            <a:r>
              <a:rPr lang="en-US" altLang="zh-CN" sz="1800" b="0" i="0" u="none" strike="noStrike" baseline="0" dirty="0">
                <a:latin typeface="HelveticaNeue-Condensed"/>
              </a:rPr>
              <a:t>AC </a:t>
            </a:r>
            <a:r>
              <a:rPr lang="zh-CN" altLang="en-US" sz="1800" b="0" i="0" u="none" strike="noStrike" baseline="0" dirty="0">
                <a:latin typeface="SourceHanSansSC-Regular"/>
              </a:rPr>
              <a:t>的比值。公式：</a:t>
            </a:r>
            <a:r>
              <a:rPr lang="en-US" altLang="zh-CN" sz="1800" b="0" i="0" u="none" strike="noStrike" baseline="0" dirty="0">
                <a:latin typeface="HelveticaNeue-Condensed"/>
              </a:rPr>
              <a:t>CPI = EV/AC</a:t>
            </a:r>
            <a:r>
              <a:rPr lang="zh-CN" altLang="en-US" sz="1800" b="0" i="0" u="none" strike="noStrike" baseline="0" dirty="0">
                <a:latin typeface="SourceHanSansSC-Regular"/>
              </a:rPr>
              <a:t>。</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108</a:t>
            </a:fld>
            <a:endParaRPr lang="zh-CN" altLang="en-US"/>
          </a:p>
        </p:txBody>
      </p:sp>
    </p:spTree>
    <p:extLst>
      <p:ext uri="{BB962C8B-B14F-4D97-AF65-F5344CB8AC3E}">
        <p14:creationId xmlns:p14="http://schemas.microsoft.com/office/powerpoint/2010/main" val="866884449"/>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Wingdings-Regular"/>
              </a:rPr>
              <a:t>（</a:t>
            </a:r>
            <a:r>
              <a:rPr lang="en-US" altLang="zh-CN" sz="1800" b="0" i="0" u="none" strike="noStrike" baseline="0" dirty="0">
                <a:latin typeface="Wingdings-Regular"/>
              </a:rPr>
              <a:t>1</a:t>
            </a:r>
            <a:r>
              <a:rPr lang="zh-CN" altLang="en-US" sz="1800" b="0" i="0" u="none" strike="noStrike" baseline="0" dirty="0">
                <a:latin typeface="Wingdings-Regular"/>
              </a:rPr>
              <a:t>）</a:t>
            </a:r>
            <a:r>
              <a:rPr lang="zh-CN" altLang="en-US" sz="1800" b="1" i="0" u="none" strike="noStrike" baseline="0" dirty="0">
                <a:latin typeface="SourceHanSansSC-Bold"/>
              </a:rPr>
              <a:t>图表。</a:t>
            </a:r>
            <a:r>
              <a:rPr lang="zh-CN" altLang="en-US" sz="1800" b="0" i="0" u="none" strike="noStrike" baseline="0" dirty="0">
                <a:latin typeface="SourceHanSansSC-Regular"/>
              </a:rPr>
              <a:t>在挣值分析中，对计划价值、挣值和实际成本这三个参数，既可以分阶段（通常以周或月为单位）进行监督和报告，也可以针对累计值进行监督和报告</a:t>
            </a:r>
            <a:endParaRPr lang="en-US" altLang="zh-CN" sz="1800" b="0" i="0" u="none" strike="noStrike" baseline="0" dirty="0">
              <a:latin typeface="SourceHanSansSC-Regular"/>
            </a:endParaRPr>
          </a:p>
          <a:p>
            <a:pPr algn="l"/>
            <a:r>
              <a:rPr lang="zh-CN" altLang="en-US" sz="1800" b="1" i="0" u="none" strike="noStrike" baseline="0" dirty="0">
                <a:latin typeface="SourceHanSansSC-Bold"/>
              </a:rPr>
              <a:t>（</a:t>
            </a:r>
            <a:r>
              <a:rPr lang="en-US" altLang="zh-CN" sz="1800" b="1" i="0" u="none" strike="noStrike" baseline="0" dirty="0">
                <a:latin typeface="SourceHanSansSC-Bold"/>
              </a:rPr>
              <a:t>2</a:t>
            </a:r>
            <a:r>
              <a:rPr lang="zh-CN" altLang="en-US" sz="1800" b="1" i="0" u="none" strike="noStrike" baseline="0" dirty="0">
                <a:latin typeface="SourceHanSansSC-Bold"/>
              </a:rPr>
              <a:t>）预测。</a:t>
            </a:r>
            <a:r>
              <a:rPr lang="zh-CN" altLang="en-US" sz="1800" b="0" i="0" u="none" strike="noStrike" baseline="0" dirty="0">
                <a:latin typeface="SourceHanSansSC-Regular"/>
              </a:rPr>
              <a:t>随着项目进展，项目团队可根据项目绩效，对完工估算（</a:t>
            </a:r>
            <a:r>
              <a:rPr lang="en-US" altLang="zh-CN" sz="1800" b="0" i="0" u="none" strike="noStrike" baseline="0" dirty="0">
                <a:latin typeface="HelveticaNeue-Condensed"/>
              </a:rPr>
              <a:t>EAC</a:t>
            </a:r>
            <a:r>
              <a:rPr lang="zh-CN" altLang="en-US" sz="1800" b="0" i="0" u="none" strike="noStrike" baseline="0" dirty="0">
                <a:latin typeface="SourceHanSansSC-Regular"/>
              </a:rPr>
              <a:t>）进行预测，预测的结果可能与完工预算（</a:t>
            </a:r>
            <a:r>
              <a:rPr lang="en-US" altLang="zh-CN" sz="1800" b="0" i="0" u="none" strike="noStrike" baseline="0" dirty="0">
                <a:latin typeface="HelveticaNeue-Condensed"/>
              </a:rPr>
              <a:t>BAC</a:t>
            </a:r>
            <a:r>
              <a:rPr lang="zh-CN" altLang="en-US" sz="1800" b="0" i="0" u="none" strike="noStrike" baseline="0" dirty="0">
                <a:latin typeface="SourceHanSansSC-Regular"/>
              </a:rPr>
              <a:t>）存在差异。如果 </a:t>
            </a:r>
            <a:r>
              <a:rPr lang="en-US" altLang="zh-CN" sz="1800" b="0" i="0" u="none" strike="noStrike" baseline="0" dirty="0">
                <a:latin typeface="HelveticaNeue-Condensed"/>
              </a:rPr>
              <a:t>BAC </a:t>
            </a:r>
            <a:r>
              <a:rPr lang="zh-CN" altLang="en-US" sz="1800" b="0" i="0" u="none" strike="noStrike" baseline="0" dirty="0">
                <a:latin typeface="SourceHanSansSC-Regular"/>
              </a:rPr>
              <a:t>已明显不再可行，则项目经理应考虑对</a:t>
            </a:r>
            <a:r>
              <a:rPr lang="en-US" altLang="zh-CN" sz="1800" b="0" i="0" u="none" strike="noStrike" baseline="0" dirty="0">
                <a:latin typeface="HelveticaNeue-Condensed"/>
              </a:rPr>
              <a:t>EAC</a:t>
            </a:r>
            <a:r>
              <a:rPr lang="zh-CN" altLang="en-US" sz="1800" b="0" i="0" u="none" strike="noStrike" baseline="0" dirty="0">
                <a:latin typeface="SourceHanSansSC-Regular"/>
              </a:rPr>
              <a:t>进行预测。预测</a:t>
            </a:r>
            <a:r>
              <a:rPr lang="en-US" altLang="zh-CN" sz="1800" b="0" i="0" u="none" strike="noStrike" baseline="0" dirty="0">
                <a:latin typeface="HelveticaNeue-Condensed"/>
              </a:rPr>
              <a:t>EAC</a:t>
            </a:r>
            <a:r>
              <a:rPr lang="zh-CN" altLang="en-US" sz="1800" b="0" i="0" u="none" strike="noStrike" baseline="0" dirty="0">
                <a:latin typeface="SourceHanSansSC-Regular"/>
              </a:rPr>
              <a:t>是根据当前掌握的绩效信息和其他知识，预计项目未来的情况和事件。预测要根据项目执行过程中所提供的工作绩效数据（见 </a:t>
            </a:r>
            <a:r>
              <a:rPr lang="en-US" altLang="zh-CN" sz="1800" b="0" i="0" u="none" strike="noStrike" baseline="0" dirty="0">
                <a:latin typeface="HelveticaNeue-Condensed"/>
              </a:rPr>
              <a:t>4.3.3.2 </a:t>
            </a:r>
            <a:r>
              <a:rPr lang="zh-CN" altLang="en-US" sz="1800" b="0" i="0" u="none" strike="noStrike" baseline="0" dirty="0">
                <a:latin typeface="SourceHanSansSC-Regular"/>
              </a:rPr>
              <a:t>节）来产生、更新和重新发布。工作绩效信息包含项目过去的绩效，以及可能在未来对项目产生影响的任何信息。在计算 </a:t>
            </a:r>
            <a:r>
              <a:rPr lang="en-US" altLang="zh-CN" sz="1800" b="0" i="0" u="none" strike="noStrike" baseline="0" dirty="0">
                <a:latin typeface="HelveticaNeue-Condensed"/>
              </a:rPr>
              <a:t>EAC </a:t>
            </a:r>
            <a:r>
              <a:rPr lang="zh-CN" altLang="en-US" sz="1800" b="0" i="0" u="none" strike="noStrike" baseline="0" dirty="0">
                <a:latin typeface="SourceHanSansSC-Regular"/>
              </a:rPr>
              <a:t>时，通常用已完成工作的实际成本，加上剩余工作的完工尚需估算（</a:t>
            </a:r>
            <a:r>
              <a:rPr lang="en-US" altLang="zh-CN" sz="1800" b="0" i="0" u="none" strike="noStrike" baseline="0" dirty="0">
                <a:latin typeface="HelveticaNeue-Condensed"/>
              </a:rPr>
              <a:t>ETC</a:t>
            </a:r>
            <a:r>
              <a:rPr lang="zh-CN" altLang="en-US" sz="1800" b="0" i="0" u="none" strike="noStrike" baseline="0" dirty="0">
                <a:latin typeface="SourceHanSansSC-Regular"/>
              </a:rPr>
              <a:t>）。项目团队要根据已有的经验，考虑实施 </a:t>
            </a:r>
            <a:r>
              <a:rPr lang="en-US" altLang="zh-CN" sz="1800" b="0" i="0" u="none" strike="noStrike" baseline="0" dirty="0">
                <a:latin typeface="HelveticaNeue-Condensed"/>
              </a:rPr>
              <a:t>ETC </a:t>
            </a:r>
            <a:r>
              <a:rPr lang="zh-CN" altLang="en-US" sz="1800" b="0" i="0" u="none" strike="noStrike" baseline="0" dirty="0">
                <a:latin typeface="SourceHanSansSC-Regular"/>
              </a:rPr>
              <a:t>工作可能遇到的各种情况。把挣值分析与手工预测 </a:t>
            </a:r>
            <a:r>
              <a:rPr lang="en-US" altLang="zh-CN" sz="1800" b="0" i="0" u="none" strike="noStrike" baseline="0" dirty="0">
                <a:latin typeface="HelveticaNeue-Condensed"/>
              </a:rPr>
              <a:t>EAC </a:t>
            </a:r>
            <a:r>
              <a:rPr lang="zh-CN" altLang="en-US" sz="1800" b="0" i="0" u="none" strike="noStrike" baseline="0" dirty="0">
                <a:latin typeface="SourceHanSansSC-Regular"/>
              </a:rPr>
              <a:t>方法联合起来使用，效果会更佳。由项目经理和项目团队手工进行的自下而上汇总方法，就是一种最普通的 </a:t>
            </a:r>
            <a:r>
              <a:rPr lang="en-US" altLang="zh-CN" sz="1800" b="0" i="0" u="none" strike="noStrike" baseline="0" dirty="0">
                <a:latin typeface="HelveticaNeue-Condensed"/>
              </a:rPr>
              <a:t>EAC </a:t>
            </a:r>
            <a:r>
              <a:rPr lang="zh-CN" altLang="en-US" sz="1800" b="0" i="0" u="none" strike="noStrike" baseline="0" dirty="0">
                <a:latin typeface="SourceHanSansSC-Regular"/>
              </a:rPr>
              <a:t>预测方法。项目经理所进行的自下而上的 </a:t>
            </a:r>
            <a:r>
              <a:rPr lang="en-US" altLang="zh-CN" sz="1800" b="0" i="0" u="none" strike="noStrike" baseline="0" dirty="0">
                <a:latin typeface="HelveticaNeue-Condensed"/>
              </a:rPr>
              <a:t>EAC </a:t>
            </a:r>
            <a:r>
              <a:rPr lang="zh-CN" altLang="en-US" sz="1800" b="0" i="0" u="none" strike="noStrike" baseline="0" dirty="0">
                <a:latin typeface="SourceHanSansSC-Regular"/>
              </a:rPr>
              <a:t>估算，就是以已完成工作的实际成本为基础，并根据已积累的经验来为剩余项目工作编制一个新估算。公式：</a:t>
            </a:r>
            <a:r>
              <a:rPr lang="en-US" altLang="zh-CN" sz="1800" b="0" i="0" u="none" strike="noStrike" baseline="0" dirty="0">
                <a:latin typeface="HelveticaNeue-Condensed"/>
              </a:rPr>
              <a:t>EAC = AC + </a:t>
            </a:r>
            <a:r>
              <a:rPr lang="zh-CN" altLang="en-US" sz="1800" b="0" i="0" u="none" strike="noStrike" baseline="0" dirty="0">
                <a:latin typeface="SourceHanSansSC-Regular"/>
              </a:rPr>
              <a:t>自下而上的 </a:t>
            </a:r>
            <a:r>
              <a:rPr lang="en-US" altLang="zh-CN" sz="1800" b="0" i="0" u="none" strike="noStrike" baseline="0" dirty="0">
                <a:latin typeface="HelveticaNeue-Condensed"/>
              </a:rPr>
              <a:t>ETC</a:t>
            </a:r>
            <a:r>
              <a:rPr lang="zh-CN" altLang="en-US" sz="1800" b="0" i="0" u="none" strike="noStrike" baseline="0" dirty="0">
                <a:latin typeface="SourceHanSansSC-Regular"/>
              </a:rPr>
              <a:t>。如图 以 </a:t>
            </a:r>
            <a:r>
              <a:rPr lang="en-US" altLang="zh-CN" sz="1800" b="0" i="0" u="none" strike="noStrike" baseline="0" dirty="0">
                <a:latin typeface="HelveticaNeue-Condensed"/>
              </a:rPr>
              <a:t>S </a:t>
            </a:r>
            <a:r>
              <a:rPr lang="zh-CN" altLang="en-US" sz="1800" b="0" i="0" u="none" strike="noStrike" baseline="0" dirty="0">
                <a:latin typeface="SourceHanSansSC-Regular"/>
              </a:rPr>
              <a:t>曲线展示了某个项目的 </a:t>
            </a:r>
            <a:r>
              <a:rPr lang="en-US" altLang="zh-CN" sz="1800" b="0" i="0" u="none" strike="noStrike" baseline="0" dirty="0">
                <a:latin typeface="HelveticaNeue-Condensed"/>
              </a:rPr>
              <a:t>EV </a:t>
            </a:r>
            <a:r>
              <a:rPr lang="zh-CN" altLang="en-US" sz="1800" b="0" i="0" u="none" strike="noStrike" baseline="0" dirty="0">
                <a:latin typeface="SourceHanSansSC-Regular"/>
              </a:rPr>
              <a:t>数据，该项目预算超支且进度落后。</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109</a:t>
            </a:fld>
            <a:endParaRPr lang="zh-CN" altLang="en-US"/>
          </a:p>
        </p:txBody>
      </p:sp>
    </p:spTree>
    <p:extLst>
      <p:ext uri="{BB962C8B-B14F-4D97-AF65-F5344CB8AC3E}">
        <p14:creationId xmlns:p14="http://schemas.microsoft.com/office/powerpoint/2010/main" val="1290097496"/>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D</a:t>
            </a:r>
            <a:r>
              <a:rPr lang="zh-CN" altLang="en-US" dirty="0"/>
              <a:t>：</a:t>
            </a:r>
            <a:r>
              <a:rPr lang="zh-CN" altLang="en-US" sz="1200" dirty="0">
                <a:ea typeface="幼圆" pitchFamily="49" charset="-122"/>
              </a:rPr>
              <a:t>成本偏差 </a:t>
            </a:r>
            <a:r>
              <a:rPr lang="en-US" altLang="zh-CN" sz="1200" dirty="0"/>
              <a:t>CV=EV</a:t>
            </a:r>
            <a:r>
              <a:rPr lang="zh-CN" altLang="en-US" sz="1200" dirty="0"/>
              <a:t>（挣值）</a:t>
            </a:r>
            <a:r>
              <a:rPr lang="en-US" altLang="zh-CN" sz="1200" dirty="0"/>
              <a:t>-AC</a:t>
            </a:r>
            <a:r>
              <a:rPr lang="zh-CN" altLang="en-US" sz="1200" dirty="0"/>
              <a:t>（实际成本）</a:t>
            </a:r>
            <a:r>
              <a:rPr lang="en-US" altLang="zh-CN" sz="1200" dirty="0"/>
              <a:t> ;  </a:t>
            </a:r>
            <a:r>
              <a:rPr lang="zh-CN" altLang="en-US" sz="1200" dirty="0">
                <a:ea typeface="幼圆" pitchFamily="49" charset="-122"/>
              </a:rPr>
              <a:t>进度偏差 </a:t>
            </a:r>
            <a:r>
              <a:rPr lang="en-US" altLang="zh-CN" sz="1200" dirty="0"/>
              <a:t>SV=EV</a:t>
            </a:r>
            <a:r>
              <a:rPr lang="zh-CN" altLang="en-US" sz="1200" dirty="0"/>
              <a:t>（挣值）</a:t>
            </a:r>
            <a:r>
              <a:rPr lang="en-US" altLang="zh-CN" sz="1200" dirty="0"/>
              <a:t>-PV</a:t>
            </a:r>
            <a:r>
              <a:rPr lang="zh-CN" altLang="en-US" sz="1200" dirty="0"/>
              <a:t>（计划价值）</a:t>
            </a:r>
            <a:r>
              <a:rPr lang="en-US" altLang="zh-CN" sz="1200"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成本超支，进度慢，这个项目进展不太好，需要查原因或改进</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111</a:t>
            </a:fld>
            <a:endParaRPr lang="zh-CN" altLang="en-US"/>
          </a:p>
        </p:txBody>
      </p:sp>
    </p:spTree>
    <p:extLst>
      <p:ext uri="{BB962C8B-B14F-4D97-AF65-F5344CB8AC3E}">
        <p14:creationId xmlns:p14="http://schemas.microsoft.com/office/powerpoint/2010/main" val="92086297"/>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112</a:t>
            </a:fld>
            <a:endParaRPr lang="zh-CN" altLang="en-US"/>
          </a:p>
        </p:txBody>
      </p:sp>
    </p:spTree>
    <p:extLst>
      <p:ext uri="{BB962C8B-B14F-4D97-AF65-F5344CB8AC3E}">
        <p14:creationId xmlns:p14="http://schemas.microsoft.com/office/powerpoint/2010/main" val="6491288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475205" y="2164930"/>
            <a:ext cx="11253353" cy="1133221"/>
          </a:xfrm>
          <a:prstGeom prst="rect">
            <a:avLst/>
          </a:prstGeom>
          <a:solidFill>
            <a:schemeClr val="accent1">
              <a:lumMod val="50000"/>
            </a:schemeClr>
          </a:solidFill>
          <a:ln>
            <a:solidFill>
              <a:schemeClr val="accent1">
                <a:lumMod val="50000"/>
              </a:schemeClr>
            </a:solidFill>
          </a:ln>
        </p:spPr>
        <p:txBody>
          <a:bodyPr anchor="ctr" anchorCtr="0">
            <a:normAutofit/>
          </a:bodyPr>
          <a:lstStyle>
            <a:lvl1pPr algn="ctr">
              <a:defRPr sz="4000" b="1">
                <a:solidFill>
                  <a:schemeClr val="bg1"/>
                </a:solidFill>
                <a:effectLst>
                  <a:outerShdw blurRad="38100" dist="38100" dir="2700000" algn="tl">
                    <a:srgbClr val="000000">
                      <a:alpha val="43137"/>
                    </a:srgbClr>
                  </a:outerShdw>
                </a:effectLst>
                <a:latin typeface="微软雅黑" pitchFamily="34" charset="-122"/>
                <a:ea typeface="微软雅黑" pitchFamily="34" charset="-122"/>
              </a:defRPr>
            </a:lvl1pPr>
          </a:lstStyle>
          <a:p>
            <a:r>
              <a:rPr lang="en-US" altLang="zh-CN" dirty="0"/>
              <a:t>IT </a:t>
            </a:r>
            <a:r>
              <a:rPr lang="zh-CN" altLang="en-US" dirty="0"/>
              <a:t>工程伦理和项目管理</a:t>
            </a:r>
          </a:p>
        </p:txBody>
      </p:sp>
      <p:sp>
        <p:nvSpPr>
          <p:cNvPr id="3" name="副标题 2"/>
          <p:cNvSpPr>
            <a:spLocks noGrp="1"/>
          </p:cNvSpPr>
          <p:nvPr>
            <p:ph type="subTitle" idx="1" hasCustomPrompt="1"/>
          </p:nvPr>
        </p:nvSpPr>
        <p:spPr>
          <a:xfrm>
            <a:off x="490074" y="3396950"/>
            <a:ext cx="11253353" cy="530587"/>
          </a:xfrm>
          <a:prstGeom prst="rect">
            <a:avLst/>
          </a:prstGeom>
        </p:spPr>
        <p:txBody>
          <a:bodyPr>
            <a:normAutofit/>
          </a:bodyPr>
          <a:lstStyle>
            <a:lvl1pPr marL="0" indent="0" algn="ctr">
              <a:buNone/>
              <a:defRPr sz="2400" b="1">
                <a:solidFill>
                  <a:srgbClr val="333333"/>
                </a:solidFill>
                <a:effectLst>
                  <a:outerShdw blurRad="38100" dist="38100" dir="2700000" algn="tl">
                    <a:srgbClr val="000000">
                      <a:alpha val="43137"/>
                    </a:srgbClr>
                  </a:outerShdw>
                </a:effectLst>
                <a:latin typeface="微软雅黑" pitchFamily="34" charset="-122"/>
                <a:ea typeface="微软雅黑"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dirty="0"/>
              <a:t>-- </a:t>
            </a:r>
            <a:r>
              <a:rPr lang="zh-CN" altLang="en-US" dirty="0"/>
              <a:t>项目管理</a:t>
            </a:r>
          </a:p>
        </p:txBody>
      </p:sp>
      <p:sp>
        <p:nvSpPr>
          <p:cNvPr id="7" name="Text Box 4"/>
          <p:cNvSpPr txBox="1">
            <a:spLocks noChangeArrowheads="1"/>
          </p:cNvSpPr>
          <p:nvPr userDrawn="1"/>
        </p:nvSpPr>
        <p:spPr bwMode="auto">
          <a:xfrm>
            <a:off x="490074" y="4386477"/>
            <a:ext cx="11253353" cy="1508994"/>
          </a:xfrm>
          <a:prstGeom prst="rect">
            <a:avLst/>
          </a:prstGeom>
          <a:noFill/>
          <a:ln>
            <a:noFill/>
          </a:ln>
          <a:effectLst/>
          <a:extLst>
            <a:ext uri="{909E8E84-426E-40dd-AFC4-6F175D3DCCD1}">
              <a14:hiddenFill xmlns="" xmlns:a14="http://schemas.microsoft.com/office/drawing/2010/main">
                <a:solidFill>
                  <a:srgbClr val="003366"/>
                </a:solidFill>
              </a14:hiddenFill>
            </a:ext>
            <a:ext uri="{91240B29-F687-4f45-9708-019B960494DF}">
              <a14:hiddenLine xmlns="" xmlns:a14="http://schemas.microsoft.com/office/drawing/2010/main" w="25400" algn="ctr">
                <a:solidFill>
                  <a:schemeClr val="tx1"/>
                </a:solidFill>
                <a:miter lim="800000"/>
                <a:headEnd/>
                <a:tailEnd/>
              </a14:hiddenLine>
            </a:ext>
            <a:ext uri="{AF507438-7753-43e0-B8FC-AC1667EBCBE1}">
              <a14:hiddenEffects xmlns="" xmlns:a14="http://schemas.microsoft.com/office/drawing/2010/main">
                <a:effectLst>
                  <a:outerShdw dist="17961" dir="2700000" algn="ctr" rotWithShape="0">
                    <a:schemeClr val="bg2">
                      <a:alpha val="50000"/>
                    </a:schemeClr>
                  </a:outerShdw>
                </a:effectLst>
              </a14:hiddenEffects>
            </a:ext>
          </a:extLst>
        </p:spPr>
        <p:txBody>
          <a:bodyPr wrap="square" lIns="36000" tIns="36000" rIns="36000" bIns="36000">
            <a:spAutoFit/>
          </a:bodyPr>
          <a:lstStyle/>
          <a:p>
            <a:pPr algn="ctr">
              <a:defRPr/>
            </a:pPr>
            <a:r>
              <a:rPr lang="zh-CN" altLang="en-US" sz="2400" b="1" dirty="0">
                <a:solidFill>
                  <a:srgbClr val="33333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主讲人：尹勋钊</a:t>
            </a:r>
            <a:endParaRPr lang="en-US" altLang="zh-CN" sz="2400" b="1" dirty="0">
              <a:solidFill>
                <a:srgbClr val="333333"/>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a:p>
            <a:pPr algn="ctr">
              <a:defRPr/>
            </a:pPr>
            <a:r>
              <a:rPr lang="en-US" altLang="zh-CN" sz="1800" dirty="0">
                <a:solidFill>
                  <a:srgbClr val="333333"/>
                </a:solidFill>
                <a:effectLst>
                  <a:outerShdw blurRad="38100" dist="38100" dir="2700000" algn="tl">
                    <a:srgbClr val="C0C0C0"/>
                  </a:outerShdw>
                </a:effectLst>
                <a:ea typeface="黑体" pitchFamily="2" charset="-122"/>
              </a:rPr>
              <a:t>xzyin1@zju.edu.cn</a:t>
            </a:r>
          </a:p>
          <a:p>
            <a:pPr algn="ctr">
              <a:spcBef>
                <a:spcPts val="4000"/>
              </a:spcBef>
              <a:defRPr/>
            </a:pPr>
            <a:fld id="{2DD5252F-05D3-4824-88B1-56055C85E827}" type="datetime3">
              <a:rPr lang="zh-CN" altLang="en-US" sz="1800">
                <a:solidFill>
                  <a:srgbClr val="333333"/>
                </a:solidFill>
                <a:effectLst>
                  <a:outerShdw blurRad="38100" dist="38100" dir="2700000" algn="tl">
                    <a:srgbClr val="C0C0C0"/>
                  </a:outerShdw>
                </a:effectLst>
                <a:ea typeface="黑体" pitchFamily="2" charset="-122"/>
              </a:rPr>
              <a:pPr algn="ctr">
                <a:spcBef>
                  <a:spcPts val="4000"/>
                </a:spcBef>
                <a:defRPr/>
              </a:pPr>
              <a:t>2024年5月30日星期四</a:t>
            </a:fld>
            <a:endParaRPr lang="en-US" altLang="zh-CN" sz="1800" dirty="0">
              <a:solidFill>
                <a:srgbClr val="333333"/>
              </a:solidFill>
              <a:effectLst>
                <a:outerShdw blurRad="38100" dist="38100" dir="2700000" algn="tl">
                  <a:srgbClr val="C0C0C0"/>
                </a:outerShdw>
              </a:effectLst>
              <a:ea typeface="黑体" pitchFamily="2" charset="-122"/>
            </a:endParaRPr>
          </a:p>
        </p:txBody>
      </p:sp>
    </p:spTree>
    <p:extLst>
      <p:ext uri="{BB962C8B-B14F-4D97-AF65-F5344CB8AC3E}">
        <p14:creationId xmlns:p14="http://schemas.microsoft.com/office/powerpoint/2010/main" val="3924475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13885" y="764293"/>
            <a:ext cx="10972800" cy="437186"/>
          </a:xfrm>
          <a:prstGeom prst="rect">
            <a:avLst/>
          </a:prstGeom>
        </p:spPr>
        <p:txBody>
          <a:bodyPr>
            <a:noAutofit/>
          </a:bodyPr>
          <a:lstStyle>
            <a:lvl1pPr algn="ctr">
              <a:defRPr sz="2400" b="1" baseline="0">
                <a:solidFill>
                  <a:srgbClr val="663300"/>
                </a:solidFill>
                <a:latin typeface="Georgia" panose="02040502050405020303" pitchFamily="18" charset="0"/>
                <a:ea typeface="微软雅黑" pitchFamily="34" charset="-122"/>
              </a:defRPr>
            </a:lvl1pPr>
          </a:lstStyle>
          <a:p>
            <a:r>
              <a:rPr lang="zh-CN" altLang="en-US" dirty="0"/>
              <a:t>项目管理的九大要素知识</a:t>
            </a:r>
          </a:p>
        </p:txBody>
      </p:sp>
    </p:spTree>
    <p:extLst>
      <p:ext uri="{BB962C8B-B14F-4D97-AF65-F5344CB8AC3E}">
        <p14:creationId xmlns:p14="http://schemas.microsoft.com/office/powerpoint/2010/main" val="3529219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noAutofit/>
          </a:bodyPr>
          <a:lstStyle>
            <a:lvl1pPr algn="l">
              <a:defRPr sz="2400" b="1" baseline="0">
                <a:solidFill>
                  <a:srgbClr val="663300"/>
                </a:solidFill>
                <a:latin typeface="Georgia" panose="02040502050405020303" pitchFamily="18" charset="0"/>
                <a:ea typeface="微软雅黑" pitchFamily="34" charset="-122"/>
              </a:defRPr>
            </a:lvl1pPr>
          </a:lstStyle>
          <a:p>
            <a:r>
              <a:rPr lang="zh-CN" altLang="en-US" dirty="0"/>
              <a:t>单击此处编辑母版标题样式</a:t>
            </a:r>
          </a:p>
        </p:txBody>
      </p:sp>
      <p:sp>
        <p:nvSpPr>
          <p:cNvPr id="3" name="内容占位符 2"/>
          <p:cNvSpPr>
            <a:spLocks noGrp="1"/>
          </p:cNvSpPr>
          <p:nvPr>
            <p:ph idx="1"/>
          </p:nvPr>
        </p:nvSpPr>
        <p:spPr>
          <a:xfrm>
            <a:off x="609600" y="1433016"/>
            <a:ext cx="10972800" cy="4831306"/>
          </a:xfrm>
          <a:prstGeom prst="rect">
            <a:avLst/>
          </a:prstGeom>
        </p:spPr>
        <p:txBody>
          <a:bodyPr/>
          <a:lstStyle>
            <a:lvl1pPr marL="266400" indent="-266400">
              <a:lnSpc>
                <a:spcPct val="150000"/>
              </a:lnSpc>
              <a:spcBef>
                <a:spcPts val="720"/>
              </a:spcBef>
              <a:spcAft>
                <a:spcPts val="240"/>
              </a:spcAft>
              <a:buFont typeface="Wingdings" pitchFamily="2" charset="2"/>
              <a:buChar char=""/>
              <a:defRPr sz="2000" b="1" baseline="0">
                <a:solidFill>
                  <a:srgbClr val="333333"/>
                </a:solidFill>
                <a:latin typeface="Georgia" panose="02040502050405020303" pitchFamily="18" charset="0"/>
                <a:ea typeface="微软雅黑" pitchFamily="34" charset="-122"/>
              </a:defRPr>
            </a:lvl1pPr>
            <a:lvl2pPr marL="712800" indent="-270000">
              <a:lnSpc>
                <a:spcPct val="150000"/>
              </a:lnSpc>
              <a:spcBef>
                <a:spcPts val="36"/>
              </a:spcBef>
              <a:spcAft>
                <a:spcPts val="12"/>
              </a:spcAft>
              <a:defRPr sz="1800" b="1" baseline="0">
                <a:solidFill>
                  <a:srgbClr val="333333"/>
                </a:solidFill>
                <a:latin typeface="Georgia" panose="02040502050405020303" pitchFamily="18" charset="0"/>
                <a:ea typeface="微软雅黑" pitchFamily="34" charset="-122"/>
              </a:defRPr>
            </a:lvl2pPr>
            <a:lvl3pPr marL="1072800" indent="-176400">
              <a:lnSpc>
                <a:spcPct val="150000"/>
              </a:lnSpc>
              <a:spcBef>
                <a:spcPts val="36"/>
              </a:spcBef>
              <a:spcAft>
                <a:spcPts val="12"/>
              </a:spcAft>
              <a:defRPr sz="1600" b="1" baseline="0">
                <a:solidFill>
                  <a:srgbClr val="333333"/>
                </a:solidFill>
                <a:latin typeface="Georgia" panose="02040502050405020303" pitchFamily="18" charset="0"/>
                <a:ea typeface="微软雅黑" pitchFamily="34" charset="-122"/>
              </a:defRPr>
            </a:lvl3pPr>
            <a:lvl4pPr marL="1440000" indent="-187200">
              <a:lnSpc>
                <a:spcPct val="150000"/>
              </a:lnSpc>
              <a:spcBef>
                <a:spcPts val="504"/>
              </a:spcBef>
              <a:spcAft>
                <a:spcPts val="168"/>
              </a:spcAft>
              <a:defRPr sz="1400" b="1" baseline="0">
                <a:solidFill>
                  <a:srgbClr val="333333"/>
                </a:solidFill>
                <a:latin typeface="Georgia" panose="02040502050405020303" pitchFamily="18" charset="0"/>
                <a:ea typeface="微软雅黑" pitchFamily="34" charset="-122"/>
              </a:defRPr>
            </a:lvl4pPr>
            <a:lvl5pPr>
              <a:lnSpc>
                <a:spcPct val="150000"/>
              </a:lnSpc>
              <a:spcBef>
                <a:spcPts val="504"/>
              </a:spcBef>
              <a:spcAft>
                <a:spcPts val="168"/>
              </a:spcAft>
              <a:defRPr sz="1400" b="1" baseline="0">
                <a:solidFill>
                  <a:srgbClr val="333333"/>
                </a:solidFill>
                <a:latin typeface="Georgia" panose="02040502050405020303" pitchFamily="18" charset="0"/>
                <a:ea typeface="微软雅黑" pitchFamily="34" charset="-122"/>
              </a:defRPr>
            </a:lvl5pPr>
          </a:lstStyle>
          <a:p>
            <a:pPr lvl="0"/>
            <a:r>
              <a:rPr lang="zh-CN" altLang="en-US" dirty="0"/>
              <a:t>单击此处编辑母版文本样式</a:t>
            </a:r>
          </a:p>
          <a:p>
            <a:pPr lvl="1"/>
            <a:r>
              <a:rPr lang="zh-CN" altLang="en-US" dirty="0"/>
              <a:t>第二级</a:t>
            </a:r>
          </a:p>
        </p:txBody>
      </p:sp>
    </p:spTree>
    <p:extLst>
      <p:ext uri="{BB962C8B-B14F-4D97-AF65-F5344CB8AC3E}">
        <p14:creationId xmlns:p14="http://schemas.microsoft.com/office/powerpoint/2010/main" val="2165980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9279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508000" y="1"/>
            <a:ext cx="5588000" cy="563563"/>
          </a:xfrm>
        </p:spPr>
        <p:txBody>
          <a:bodyPr/>
          <a:lstStyle/>
          <a:p>
            <a:r>
              <a:rPr lang="zh-CN" altLang="en-US"/>
              <a:t>单击此处编辑母版标题样式</a:t>
            </a:r>
          </a:p>
        </p:txBody>
      </p:sp>
      <p:sp>
        <p:nvSpPr>
          <p:cNvPr id="3" name="表格占位符 2"/>
          <p:cNvSpPr>
            <a:spLocks noGrp="1"/>
          </p:cNvSpPr>
          <p:nvPr>
            <p:ph type="tbl" idx="1"/>
          </p:nvPr>
        </p:nvSpPr>
        <p:spPr>
          <a:xfrm>
            <a:off x="609600" y="762000"/>
            <a:ext cx="10972800" cy="5410200"/>
          </a:xfrm>
        </p:spPr>
        <p:txBody>
          <a:bodyPr/>
          <a:lstStyle/>
          <a:p>
            <a:pPr lvl="0"/>
            <a:endParaRPr lang="zh-CN" altLang="en-US" noProof="0"/>
          </a:p>
        </p:txBody>
      </p:sp>
      <p:sp>
        <p:nvSpPr>
          <p:cNvPr id="4" name="Rectangle 4">
            <a:extLst>
              <a:ext uri="{FF2B5EF4-FFF2-40B4-BE49-F238E27FC236}">
                <a16:creationId xmlns:a16="http://schemas.microsoft.com/office/drawing/2014/main" id="{3EB1A548-586E-41A6-9BB4-69A483EA1C32}"/>
              </a:ext>
            </a:extLst>
          </p:cNvPr>
          <p:cNvSpPr>
            <a:spLocks noGrp="1" noChangeArrowheads="1"/>
          </p:cNvSpPr>
          <p:nvPr>
            <p:ph type="dt" sz="half" idx="10"/>
          </p:nvPr>
        </p:nvSpPr>
        <p:spPr>
          <a:ln/>
        </p:spPr>
        <p:txBody>
          <a:bodyPr/>
          <a:lstStyle>
            <a:lvl1pPr>
              <a:defRPr/>
            </a:lvl1pPr>
          </a:lstStyle>
          <a:p>
            <a:pPr>
              <a:defRPr/>
            </a:pPr>
            <a:endParaRPr lang="zh-CN" altLang="zh-CN"/>
          </a:p>
        </p:txBody>
      </p:sp>
      <p:sp>
        <p:nvSpPr>
          <p:cNvPr id="5" name="Rectangle 5">
            <a:extLst>
              <a:ext uri="{FF2B5EF4-FFF2-40B4-BE49-F238E27FC236}">
                <a16:creationId xmlns:a16="http://schemas.microsoft.com/office/drawing/2014/main" id="{3B3D6D6B-9F27-4C7A-BD83-11725AD89456}"/>
              </a:ext>
            </a:extLst>
          </p:cNvPr>
          <p:cNvSpPr>
            <a:spLocks noGrp="1" noChangeArrowheads="1"/>
          </p:cNvSpPr>
          <p:nvPr>
            <p:ph type="ftr" sz="quarter" idx="11"/>
          </p:nvPr>
        </p:nvSpPr>
        <p:spPr>
          <a:ln/>
        </p:spPr>
        <p:txBody>
          <a:bodyPr/>
          <a:lstStyle>
            <a:lvl1pPr>
              <a:defRPr/>
            </a:lvl1pPr>
          </a:lstStyle>
          <a:p>
            <a:pPr>
              <a:defRPr/>
            </a:pPr>
            <a:r>
              <a:rPr lang="zh-CN" altLang="en-US"/>
              <a:t>吴永达</a:t>
            </a:r>
          </a:p>
        </p:txBody>
      </p:sp>
      <p:sp>
        <p:nvSpPr>
          <p:cNvPr id="6" name="Rectangle 6">
            <a:extLst>
              <a:ext uri="{FF2B5EF4-FFF2-40B4-BE49-F238E27FC236}">
                <a16:creationId xmlns:a16="http://schemas.microsoft.com/office/drawing/2014/main" id="{B242B5D0-EBB8-4E6E-8025-A7657396572B}"/>
              </a:ext>
            </a:extLst>
          </p:cNvPr>
          <p:cNvSpPr>
            <a:spLocks noGrp="1" noChangeArrowheads="1"/>
          </p:cNvSpPr>
          <p:nvPr>
            <p:ph type="sldNum" sz="quarter" idx="12"/>
          </p:nvPr>
        </p:nvSpPr>
        <p:spPr>
          <a:ln/>
        </p:spPr>
        <p:txBody>
          <a:bodyPr/>
          <a:lstStyle>
            <a:lvl1pPr>
              <a:defRPr/>
            </a:lvl1pPr>
          </a:lstStyle>
          <a:p>
            <a:pPr>
              <a:defRPr/>
            </a:pPr>
            <a:fld id="{4DE6BCAE-332D-4E41-A23A-BC5514096C65}" type="slidenum">
              <a:rPr lang="en-US" altLang="zh-CN"/>
              <a:pPr>
                <a:defRPr/>
              </a:pPr>
              <a:t>‹#›</a:t>
            </a:fld>
            <a:endParaRPr lang="en-US" altLang="zh-CN"/>
          </a:p>
        </p:txBody>
      </p:sp>
    </p:spTree>
    <p:extLst>
      <p:ext uri="{BB962C8B-B14F-4D97-AF65-F5344CB8AC3E}">
        <p14:creationId xmlns:p14="http://schemas.microsoft.com/office/powerpoint/2010/main" val="212163223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gi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矩形 13"/>
          <p:cNvSpPr/>
          <p:nvPr userDrawn="1"/>
        </p:nvSpPr>
        <p:spPr>
          <a:xfrm>
            <a:off x="460844" y="459658"/>
            <a:ext cx="11289416" cy="6097654"/>
          </a:xfrm>
          <a:prstGeom prst="rect">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3" name="单圆角矩形 12"/>
          <p:cNvSpPr/>
          <p:nvPr userDrawn="1"/>
        </p:nvSpPr>
        <p:spPr>
          <a:xfrm>
            <a:off x="2173356" y="269158"/>
            <a:ext cx="9576904" cy="304800"/>
          </a:xfrm>
          <a:prstGeom prst="round1Rect">
            <a:avLst/>
          </a:prstGeom>
          <a:solidFill>
            <a:schemeClr val="bg1"/>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zh-CN" sz="1200" kern="1200" dirty="0">
                <a:solidFill>
                  <a:schemeClr val="accent1">
                    <a:lumMod val="50000"/>
                  </a:schemeClr>
                </a:solidFill>
                <a:latin typeface="微软雅黑" pitchFamily="34" charset="-122"/>
                <a:ea typeface="微软雅黑" pitchFamily="34" charset="-122"/>
                <a:cs typeface="+mn-cs"/>
              </a:rPr>
              <a:t>85120190  IT</a:t>
            </a:r>
            <a:r>
              <a:rPr lang="zh-CN" altLang="en-US" sz="1200" kern="1200" dirty="0">
                <a:solidFill>
                  <a:schemeClr val="accent1">
                    <a:lumMod val="50000"/>
                  </a:schemeClr>
                </a:solidFill>
                <a:latin typeface="微软雅黑" pitchFamily="34" charset="-122"/>
                <a:ea typeface="微软雅黑" pitchFamily="34" charset="-122"/>
                <a:cs typeface="+mn-cs"/>
              </a:rPr>
              <a:t>工程伦理和项目管理</a:t>
            </a:r>
            <a:endParaRPr lang="zh-CN" altLang="en-US" sz="1200" dirty="0">
              <a:solidFill>
                <a:schemeClr val="accent1">
                  <a:lumMod val="50000"/>
                </a:schemeClr>
              </a:solidFill>
              <a:latin typeface="微软雅黑" pitchFamily="34" charset="-122"/>
              <a:ea typeface="微软雅黑" pitchFamily="34" charset="-122"/>
            </a:endParaRPr>
          </a:p>
        </p:txBody>
      </p:sp>
      <p:sp>
        <p:nvSpPr>
          <p:cNvPr id="15" name="Oval 36"/>
          <p:cNvSpPr>
            <a:spLocks noChangeArrowheads="1"/>
          </p:cNvSpPr>
          <p:nvPr userDrawn="1"/>
        </p:nvSpPr>
        <p:spPr bwMode="auto">
          <a:xfrm>
            <a:off x="5952000" y="6398342"/>
            <a:ext cx="288000" cy="288925"/>
          </a:xfrm>
          <a:prstGeom prst="ellipse">
            <a:avLst/>
          </a:prstGeom>
          <a:solidFill>
            <a:srgbClr val="F3F3F3"/>
          </a:solidFill>
          <a:ln w="22225" algn="ctr">
            <a:solidFill>
              <a:schemeClr val="accent1">
                <a:lumMod val="50000"/>
              </a:schemeClr>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36000" tIns="36000" rIns="36000" bIns="36000" anchor="ctr"/>
          <a:lstStyle/>
          <a:p>
            <a:pPr algn="ctr"/>
            <a:fld id="{2B914DA1-D768-4ABD-BA47-9CDC375EFB4B}" type="slidenum">
              <a:rPr lang="en-US" altLang="zh-CN" sz="1600" b="0" smtClean="0">
                <a:solidFill>
                  <a:schemeClr val="accent1">
                    <a:lumMod val="50000"/>
                  </a:schemeClr>
                </a:solidFill>
                <a:latin typeface="Brush Script MT" pitchFamily="66" charset="0"/>
                <a:ea typeface="黑体" pitchFamily="2" charset="-122"/>
              </a:rPr>
              <a:t>‹#›</a:t>
            </a:fld>
            <a:endParaRPr lang="en-US" altLang="zh-CN" sz="1600" b="0" dirty="0">
              <a:solidFill>
                <a:schemeClr val="accent1">
                  <a:lumMod val="50000"/>
                </a:schemeClr>
              </a:solidFill>
              <a:latin typeface="Brush Script MT" pitchFamily="66" charset="0"/>
              <a:ea typeface="黑体" pitchFamily="2" charset="-122"/>
            </a:endParaRPr>
          </a:p>
        </p:txBody>
      </p:sp>
      <p:sp>
        <p:nvSpPr>
          <p:cNvPr id="10" name="单圆角矩形 9"/>
          <p:cNvSpPr/>
          <p:nvPr userDrawn="1"/>
        </p:nvSpPr>
        <p:spPr>
          <a:xfrm flipH="1">
            <a:off x="460844" y="269158"/>
            <a:ext cx="1840616" cy="302400"/>
          </a:xfrm>
          <a:prstGeom prst="round1Rect">
            <a:avLst>
              <a:gd name="adj" fmla="val 17512"/>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1" name="图片 10"/>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a:xfrm>
            <a:off x="730855" y="266758"/>
            <a:ext cx="1271641" cy="304800"/>
          </a:xfrm>
          <a:prstGeom prst="rect">
            <a:avLst/>
          </a:prstGeom>
        </p:spPr>
      </p:pic>
    </p:spTree>
    <p:extLst>
      <p:ext uri="{BB962C8B-B14F-4D97-AF65-F5344CB8AC3E}">
        <p14:creationId xmlns:p14="http://schemas.microsoft.com/office/powerpoint/2010/main" val="11019726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7" r:id="rId3"/>
    <p:sldLayoutId id="2147483655" r:id="rId4"/>
    <p:sldLayoutId id="2147483658" r:id="rId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ctr" defTabSz="914400" rtl="0" eaLnBrk="1" latinLnBrk="0" hangingPunct="1">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0.emf"/><Relationship Id="rId5" Type="http://schemas.openxmlformats.org/officeDocument/2006/relationships/oleObject" Target="../embeddings/oleObject2.bin"/><Relationship Id="rId4" Type="http://schemas.openxmlformats.org/officeDocument/2006/relationships/image" Target="../media/image9.wmf"/></Relationships>
</file>

<file path=ppt/slides/_rels/slide1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18.wmf"/></Relationships>
</file>

<file path=ppt/slides/_rels/slide32.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560.png"/><Relationship Id="rId4" Type="http://schemas.openxmlformats.org/officeDocument/2006/relationships/slide" Target="slide2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0.xml"/><Relationship Id="rId1" Type="http://schemas.openxmlformats.org/officeDocument/2006/relationships/slideLayout" Target="../slideLayouts/slideLayout3.xml"/><Relationship Id="rId4" Type="http://schemas.openxmlformats.org/officeDocument/2006/relationships/image" Target="../media/image31.png"/></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3.xml"/><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7.xml"/><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9.xml"/><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90.xml"/><Relationship Id="rId1" Type="http://schemas.openxmlformats.org/officeDocument/2006/relationships/slideLayout" Target="../slideLayouts/slideLayout5.xml"/></Relationships>
</file>

<file path=ppt/slides/_rels/slide98.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notesSlide" Target="../notesSlides/notesSlide91.xml"/><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93.xml"/><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7.xml"/><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00.xml"/><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3.xml"/><Relationship Id="rId4" Type="http://schemas.openxmlformats.org/officeDocument/2006/relationships/image" Target="../media/image44.png"/></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4.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ctrTitle"/>
          </p:nvPr>
        </p:nvSpPr>
        <p:spPr>
          <a:xfrm>
            <a:off x="1883166" y="2164930"/>
            <a:ext cx="8440015" cy="1133221"/>
          </a:xfrm>
        </p:spPr>
        <p:txBody>
          <a:bodyPr/>
          <a:lstStyle/>
          <a:p>
            <a:r>
              <a:rPr lang="en-US" altLang="zh-CN" dirty="0"/>
              <a:t>IT </a:t>
            </a:r>
            <a:r>
              <a:rPr lang="zh-CN" altLang="en-US" dirty="0"/>
              <a:t>工程伦理和项目管理</a:t>
            </a:r>
          </a:p>
        </p:txBody>
      </p:sp>
      <p:sp>
        <p:nvSpPr>
          <p:cNvPr id="6" name="副标题 5"/>
          <p:cNvSpPr>
            <a:spLocks noGrp="1"/>
          </p:cNvSpPr>
          <p:nvPr>
            <p:ph type="subTitle" idx="1"/>
          </p:nvPr>
        </p:nvSpPr>
        <p:spPr/>
        <p:txBody>
          <a:bodyPr>
            <a:normAutofit/>
          </a:bodyPr>
          <a:lstStyle/>
          <a:p>
            <a:r>
              <a:rPr lang="en-US" altLang="zh-CN" sz="2800" dirty="0"/>
              <a:t>-- </a:t>
            </a:r>
            <a:r>
              <a:rPr lang="zh-CN" altLang="en-US" sz="2800" dirty="0"/>
              <a:t>项目管理</a:t>
            </a:r>
          </a:p>
        </p:txBody>
      </p:sp>
    </p:spTree>
    <p:extLst>
      <p:ext uri="{BB962C8B-B14F-4D97-AF65-F5344CB8AC3E}">
        <p14:creationId xmlns:p14="http://schemas.microsoft.com/office/powerpoint/2010/main" val="2665483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13">
            <a:extLst>
              <a:ext uri="{FF2B5EF4-FFF2-40B4-BE49-F238E27FC236}">
                <a16:creationId xmlns:a16="http://schemas.microsoft.com/office/drawing/2014/main" id="{7D3EE219-82DC-4901-AD84-DC2DD7E845F8}"/>
              </a:ext>
            </a:extLst>
          </p:cNvPr>
          <p:cNvSpPr>
            <a:spLocks noChangeArrowheads="1"/>
          </p:cNvSpPr>
          <p:nvPr/>
        </p:nvSpPr>
        <p:spPr bwMode="auto">
          <a:xfrm>
            <a:off x="1290239" y="1796960"/>
            <a:ext cx="3832225"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5000" b="1" dirty="0">
                <a:latin typeface="方正兰亭粗黑_GBK" charset="-122"/>
                <a:ea typeface="微软雅黑" pitchFamily="34" charset="-122"/>
              </a:rPr>
              <a:t>项目管理的</a:t>
            </a:r>
            <a:r>
              <a:rPr lang="en-US" altLang="zh-CN" sz="5000" b="1" dirty="0">
                <a:latin typeface="方正兰亭粗黑_GBK" charset="-122"/>
                <a:ea typeface="微软雅黑" pitchFamily="34" charset="-122"/>
              </a:rPr>
              <a:t>9</a:t>
            </a:r>
            <a:r>
              <a:rPr lang="zh-CN" altLang="en-US" sz="5000" b="1" dirty="0">
                <a:latin typeface="方正兰亭粗黑_GBK" charset="-122"/>
                <a:ea typeface="微软雅黑" pitchFamily="34" charset="-122"/>
              </a:rPr>
              <a:t>大要素知识</a:t>
            </a:r>
            <a:endParaRPr lang="zh-CN" sz="5000" b="1" dirty="0">
              <a:latin typeface="方正兰亭粗黑_GBK" charset="-122"/>
              <a:ea typeface="微软雅黑" pitchFamily="34" charset="-122"/>
            </a:endParaRPr>
          </a:p>
        </p:txBody>
      </p:sp>
      <p:sp>
        <p:nvSpPr>
          <p:cNvPr id="11" name="Rectangle 3">
            <a:extLst>
              <a:ext uri="{FF2B5EF4-FFF2-40B4-BE49-F238E27FC236}">
                <a16:creationId xmlns:a16="http://schemas.microsoft.com/office/drawing/2014/main" id="{FA42BD4E-707B-4AAA-8DB5-FBEA02A95E47}"/>
              </a:ext>
            </a:extLst>
          </p:cNvPr>
          <p:cNvSpPr txBox="1">
            <a:spLocks noChangeArrowheads="1"/>
          </p:cNvSpPr>
          <p:nvPr/>
        </p:nvSpPr>
        <p:spPr>
          <a:xfrm>
            <a:off x="6701065" y="1150726"/>
            <a:ext cx="3194050" cy="4861348"/>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anose="05000000000000000000" pitchFamily="2" charset="2"/>
              <a:buChar char="u"/>
              <a:defRPr/>
            </a:pPr>
            <a:r>
              <a:rPr lang="zh-CN" altLang="en-US" sz="2800" dirty="0"/>
              <a:t> 范围管理</a:t>
            </a:r>
            <a:endParaRPr lang="en-US" altLang="zh-CN" sz="2800" dirty="0"/>
          </a:p>
          <a:p>
            <a:pPr>
              <a:buFont typeface="Wingdings" panose="05000000000000000000" pitchFamily="2" charset="2"/>
              <a:buChar char="u"/>
              <a:defRPr/>
            </a:pPr>
            <a:r>
              <a:rPr lang="zh-CN" altLang="en-US" sz="2800" dirty="0">
                <a:solidFill>
                  <a:schemeClr val="accent1"/>
                </a:solidFill>
              </a:rPr>
              <a:t> 进度管理</a:t>
            </a:r>
          </a:p>
          <a:p>
            <a:pPr>
              <a:buFont typeface="Wingdings" panose="05000000000000000000" pitchFamily="2" charset="2"/>
              <a:buChar char="u"/>
              <a:defRPr/>
            </a:pPr>
            <a:r>
              <a:rPr lang="zh-CN" altLang="en-US" sz="2800" dirty="0">
                <a:solidFill>
                  <a:schemeClr val="accent1"/>
                </a:solidFill>
              </a:rPr>
              <a:t> 成本管理</a:t>
            </a:r>
            <a:endParaRPr lang="en-US" altLang="zh-CN" sz="2800" dirty="0">
              <a:solidFill>
                <a:schemeClr val="accent1"/>
              </a:solidFill>
            </a:endParaRPr>
          </a:p>
          <a:p>
            <a:pPr>
              <a:buFont typeface="Wingdings" panose="05000000000000000000" pitchFamily="2" charset="2"/>
              <a:buChar char="u"/>
              <a:defRPr/>
            </a:pPr>
            <a:r>
              <a:rPr lang="zh-CN" altLang="en-US" sz="2800" dirty="0"/>
              <a:t> 质量管理</a:t>
            </a:r>
          </a:p>
          <a:p>
            <a:pPr>
              <a:buFont typeface="Wingdings" panose="05000000000000000000" pitchFamily="2" charset="2"/>
              <a:buChar char="u"/>
              <a:defRPr/>
            </a:pPr>
            <a:r>
              <a:rPr lang="zh-CN" altLang="en-US" sz="2800" dirty="0"/>
              <a:t> 资源管理</a:t>
            </a:r>
            <a:endParaRPr lang="en-US" altLang="zh-CN" sz="2800" dirty="0"/>
          </a:p>
          <a:p>
            <a:pPr>
              <a:buFont typeface="Wingdings" panose="05000000000000000000" pitchFamily="2" charset="2"/>
              <a:buChar char="u"/>
              <a:defRPr/>
            </a:pPr>
            <a:r>
              <a:rPr lang="zh-CN" altLang="en-US" sz="2800" dirty="0"/>
              <a:t> 沟通管理</a:t>
            </a:r>
          </a:p>
          <a:p>
            <a:pPr>
              <a:buFont typeface="Wingdings" panose="05000000000000000000" pitchFamily="2" charset="2"/>
              <a:buChar char="u"/>
              <a:defRPr/>
            </a:pPr>
            <a:r>
              <a:rPr lang="zh-CN" altLang="en-US" sz="2800" dirty="0"/>
              <a:t> 风险管理</a:t>
            </a:r>
            <a:endParaRPr lang="en-US" altLang="zh-CN" sz="2800" dirty="0"/>
          </a:p>
          <a:p>
            <a:pPr>
              <a:buFont typeface="Wingdings" panose="05000000000000000000" pitchFamily="2" charset="2"/>
              <a:buChar char="u"/>
              <a:defRPr/>
            </a:pPr>
            <a:r>
              <a:rPr lang="zh-CN" altLang="en-US" sz="2800" dirty="0"/>
              <a:t> 采购管理</a:t>
            </a:r>
            <a:endParaRPr lang="en-US" altLang="zh-CN" sz="2800" dirty="0"/>
          </a:p>
          <a:p>
            <a:pPr>
              <a:buFont typeface="Wingdings" panose="05000000000000000000" pitchFamily="2" charset="2"/>
              <a:buChar char="u"/>
              <a:defRPr/>
            </a:pPr>
            <a:r>
              <a:rPr lang="zh-CN" altLang="en-US" sz="2800" dirty="0"/>
              <a:t>相关方管理</a:t>
            </a:r>
          </a:p>
        </p:txBody>
      </p:sp>
    </p:spTree>
    <p:extLst>
      <p:ext uri="{BB962C8B-B14F-4D97-AF65-F5344CB8AC3E}">
        <p14:creationId xmlns:p14="http://schemas.microsoft.com/office/powerpoint/2010/main" val="33053120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5">
            <a:extLst>
              <a:ext uri="{FF2B5EF4-FFF2-40B4-BE49-F238E27FC236}">
                <a16:creationId xmlns:a16="http://schemas.microsoft.com/office/drawing/2014/main" id="{31F5302D-94D1-43B1-A5E2-B923B22DF23C}"/>
              </a:ext>
            </a:extLst>
          </p:cNvPr>
          <p:cNvSpPr>
            <a:spLocks noChangeArrowheads="1"/>
          </p:cNvSpPr>
          <p:nvPr/>
        </p:nvSpPr>
        <p:spPr bwMode="auto">
          <a:xfrm>
            <a:off x="1283677" y="3429000"/>
            <a:ext cx="272476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zh-CN" sz="3200" dirty="0">
                <a:latin typeface="方正兰亭细黑_GBK" charset="-122"/>
                <a:ea typeface="Adobe 宋体 Std L" pitchFamily="18" charset="-122"/>
                <a:sym typeface="方正兰亭细黑_GBK" charset="-122"/>
              </a:rPr>
              <a:t>Contents</a:t>
            </a:r>
          </a:p>
        </p:txBody>
      </p:sp>
      <p:sp>
        <p:nvSpPr>
          <p:cNvPr id="4" name="文本框 13">
            <a:extLst>
              <a:ext uri="{FF2B5EF4-FFF2-40B4-BE49-F238E27FC236}">
                <a16:creationId xmlns:a16="http://schemas.microsoft.com/office/drawing/2014/main" id="{7D3EE219-82DC-4901-AD84-DC2DD7E845F8}"/>
              </a:ext>
            </a:extLst>
          </p:cNvPr>
          <p:cNvSpPr>
            <a:spLocks noChangeArrowheads="1"/>
          </p:cNvSpPr>
          <p:nvPr/>
        </p:nvSpPr>
        <p:spPr bwMode="auto">
          <a:xfrm>
            <a:off x="1283676" y="1718072"/>
            <a:ext cx="2951439"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5000" b="1" dirty="0">
                <a:latin typeface="方正兰亭粗黑_GBK" charset="-122"/>
                <a:ea typeface="微软雅黑" pitchFamily="34" charset="-122"/>
              </a:rPr>
              <a:t>第</a:t>
            </a:r>
            <a:r>
              <a:rPr lang="en-US" altLang="zh-CN" sz="5000" b="1" dirty="0">
                <a:latin typeface="方正兰亭粗黑_GBK" charset="-122"/>
                <a:ea typeface="微软雅黑" pitchFamily="34" charset="-122"/>
              </a:rPr>
              <a:t>11</a:t>
            </a:r>
            <a:r>
              <a:rPr lang="zh-CN" altLang="en-US" sz="5000" b="1" dirty="0">
                <a:latin typeface="方正兰亭粗黑_GBK" charset="-122"/>
                <a:ea typeface="微软雅黑" pitchFamily="34" charset="-122"/>
              </a:rPr>
              <a:t>次课</a:t>
            </a:r>
            <a:r>
              <a:rPr lang="zh-CN" sz="5000" b="1" dirty="0">
                <a:latin typeface="方正兰亭粗黑_GBK" charset="-122"/>
                <a:ea typeface="微软雅黑" pitchFamily="34" charset="-122"/>
              </a:rPr>
              <a:t>目录</a:t>
            </a:r>
          </a:p>
        </p:txBody>
      </p:sp>
      <p:sp>
        <p:nvSpPr>
          <p:cNvPr id="7" name="TextBox 10">
            <a:extLst>
              <a:ext uri="{FF2B5EF4-FFF2-40B4-BE49-F238E27FC236}">
                <a16:creationId xmlns:a16="http://schemas.microsoft.com/office/drawing/2014/main" id="{00DB6703-D6FB-443F-B570-6D72A562A6EA}"/>
              </a:ext>
            </a:extLst>
          </p:cNvPr>
          <p:cNvSpPr>
            <a:spLocks noChangeArrowheads="1"/>
          </p:cNvSpPr>
          <p:nvPr/>
        </p:nvSpPr>
        <p:spPr bwMode="auto">
          <a:xfrm>
            <a:off x="6065667" y="998009"/>
            <a:ext cx="423579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r>
              <a:rPr lang="en-US" altLang="zh-CN" sz="2800" dirty="0">
                <a:solidFill>
                  <a:srgbClr val="00B0F0"/>
                </a:solidFill>
                <a:latin typeface="Impact" pitchFamily="34" charset="0"/>
                <a:ea typeface="微软雅黑" pitchFamily="34" charset="-122"/>
                <a:sym typeface="Impact" pitchFamily="34" charset="0"/>
              </a:rPr>
              <a:t>12</a:t>
            </a:r>
            <a:r>
              <a:rPr lang="zh-CN" altLang="zh-CN" sz="2800" dirty="0">
                <a:solidFill>
                  <a:srgbClr val="00B0F0"/>
                </a:solidFill>
                <a:latin typeface="Impact" pitchFamily="34" charset="0"/>
                <a:ea typeface="微软雅黑" pitchFamily="34" charset="-122"/>
                <a:sym typeface="Impact" pitchFamily="34" charset="0"/>
              </a:rPr>
              <a:t>    </a:t>
            </a:r>
            <a:r>
              <a:rPr lang="zh-CN" altLang="en-US" sz="2800" dirty="0">
                <a:solidFill>
                  <a:srgbClr val="00B0F0"/>
                </a:solidFill>
                <a:latin typeface="Impact" pitchFamily="34" charset="0"/>
                <a:ea typeface="微软雅黑" pitchFamily="34" charset="-122"/>
                <a:sym typeface="Impact" pitchFamily="34" charset="0"/>
              </a:rPr>
              <a:t>项目进度（时间）管理</a:t>
            </a:r>
            <a:endParaRPr lang="zh-CN" sz="2800" dirty="0">
              <a:solidFill>
                <a:srgbClr val="00B0F0"/>
              </a:solidFill>
              <a:latin typeface="微软雅黑" pitchFamily="34" charset="-122"/>
              <a:ea typeface="微软雅黑" pitchFamily="34" charset="-122"/>
              <a:sym typeface="微软雅黑" pitchFamily="34" charset="-122"/>
            </a:endParaRPr>
          </a:p>
        </p:txBody>
      </p:sp>
      <p:sp>
        <p:nvSpPr>
          <p:cNvPr id="9" name="TextBox 5">
            <a:extLst>
              <a:ext uri="{FF2B5EF4-FFF2-40B4-BE49-F238E27FC236}">
                <a16:creationId xmlns:a16="http://schemas.microsoft.com/office/drawing/2014/main" id="{22CB5D97-7222-4483-ABB3-909DC9A99BB8}"/>
              </a:ext>
            </a:extLst>
          </p:cNvPr>
          <p:cNvSpPr>
            <a:spLocks noChangeArrowheads="1"/>
          </p:cNvSpPr>
          <p:nvPr/>
        </p:nvSpPr>
        <p:spPr bwMode="auto">
          <a:xfrm>
            <a:off x="6267451" y="3016588"/>
            <a:ext cx="38322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r>
              <a:rPr lang="en-US" altLang="zh-CN" sz="2400" dirty="0">
                <a:solidFill>
                  <a:srgbClr val="00B0F0"/>
                </a:solidFill>
                <a:latin typeface="Impact" pitchFamily="34" charset="0"/>
                <a:ea typeface="微软雅黑" pitchFamily="34" charset="-122"/>
                <a:sym typeface="Impact" pitchFamily="34" charset="0"/>
              </a:rPr>
              <a:t>12.4    </a:t>
            </a:r>
            <a:r>
              <a:rPr lang="zh-CN" altLang="en-US" sz="2400" dirty="0">
                <a:solidFill>
                  <a:srgbClr val="00B0F0"/>
                </a:solidFill>
                <a:latin typeface="Impact" pitchFamily="34" charset="0"/>
                <a:ea typeface="微软雅黑" pitchFamily="34" charset="-122"/>
                <a:sym typeface="Impact" pitchFamily="34" charset="0"/>
              </a:rPr>
              <a:t>排列活动顺序</a:t>
            </a:r>
            <a:endParaRPr lang="zh-CN" altLang="en-US" sz="2400" dirty="0">
              <a:solidFill>
                <a:srgbClr val="00B0F0"/>
              </a:solidFill>
              <a:latin typeface="微软雅黑" pitchFamily="34" charset="-122"/>
              <a:ea typeface="微软雅黑" pitchFamily="34" charset="-122"/>
              <a:sym typeface="微软雅黑" pitchFamily="34" charset="-122"/>
            </a:endParaRPr>
          </a:p>
        </p:txBody>
      </p:sp>
      <p:sp>
        <p:nvSpPr>
          <p:cNvPr id="11" name="TextBox 10">
            <a:extLst>
              <a:ext uri="{FF2B5EF4-FFF2-40B4-BE49-F238E27FC236}">
                <a16:creationId xmlns:a16="http://schemas.microsoft.com/office/drawing/2014/main" id="{560537B3-E025-46F4-98DD-CB7D6B9BDEA7}"/>
              </a:ext>
            </a:extLst>
          </p:cNvPr>
          <p:cNvSpPr>
            <a:spLocks noChangeArrowheads="1"/>
          </p:cNvSpPr>
          <p:nvPr/>
        </p:nvSpPr>
        <p:spPr bwMode="auto">
          <a:xfrm>
            <a:off x="6267451" y="2053578"/>
            <a:ext cx="38322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r>
              <a:rPr lang="en-US" altLang="zh-CN" sz="2400" dirty="0">
                <a:solidFill>
                  <a:srgbClr val="00B0F0"/>
                </a:solidFill>
                <a:latin typeface="Impact" pitchFamily="34" charset="0"/>
                <a:ea typeface="微软雅黑" pitchFamily="34" charset="-122"/>
                <a:sym typeface="Impact" pitchFamily="34" charset="0"/>
              </a:rPr>
              <a:t>12.2    </a:t>
            </a:r>
            <a:r>
              <a:rPr lang="zh-CN" altLang="en-US" sz="2400" dirty="0">
                <a:solidFill>
                  <a:srgbClr val="00B0F0"/>
                </a:solidFill>
                <a:latin typeface="Impact" pitchFamily="34" charset="0"/>
                <a:ea typeface="微软雅黑" pitchFamily="34" charset="-122"/>
                <a:sym typeface="Impact" pitchFamily="34" charset="0"/>
              </a:rPr>
              <a:t>规划进度管理</a:t>
            </a:r>
          </a:p>
        </p:txBody>
      </p:sp>
      <p:sp>
        <p:nvSpPr>
          <p:cNvPr id="12" name="TextBox 11">
            <a:extLst>
              <a:ext uri="{FF2B5EF4-FFF2-40B4-BE49-F238E27FC236}">
                <a16:creationId xmlns:a16="http://schemas.microsoft.com/office/drawing/2014/main" id="{1C4DC2B4-25BF-4969-903F-E794B39D268F}"/>
              </a:ext>
            </a:extLst>
          </p:cNvPr>
          <p:cNvSpPr>
            <a:spLocks noChangeArrowheads="1"/>
          </p:cNvSpPr>
          <p:nvPr/>
        </p:nvSpPr>
        <p:spPr bwMode="auto">
          <a:xfrm>
            <a:off x="6267451" y="2534666"/>
            <a:ext cx="38322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r>
              <a:rPr lang="en-US" altLang="zh-CN" sz="2400" dirty="0">
                <a:solidFill>
                  <a:srgbClr val="00B0F0"/>
                </a:solidFill>
                <a:latin typeface="Impact" pitchFamily="34" charset="0"/>
                <a:ea typeface="微软雅黑" pitchFamily="34" charset="-122"/>
                <a:sym typeface="Impact" pitchFamily="34" charset="0"/>
              </a:rPr>
              <a:t>12.3</a:t>
            </a:r>
            <a:r>
              <a:rPr lang="zh-CN" altLang="zh-CN" sz="2400" dirty="0">
                <a:solidFill>
                  <a:srgbClr val="00B0F0"/>
                </a:solidFill>
                <a:latin typeface="Impact" pitchFamily="34" charset="0"/>
                <a:ea typeface="微软雅黑" pitchFamily="34" charset="-122"/>
                <a:sym typeface="Impact" pitchFamily="34" charset="0"/>
              </a:rPr>
              <a:t>    </a:t>
            </a:r>
            <a:r>
              <a:rPr lang="zh-CN" altLang="en-US" sz="2400" dirty="0">
                <a:solidFill>
                  <a:srgbClr val="00B0F0"/>
                </a:solidFill>
                <a:latin typeface="Impact" pitchFamily="34" charset="0"/>
                <a:ea typeface="微软雅黑" pitchFamily="34" charset="-122"/>
                <a:sym typeface="Impact" pitchFamily="34" charset="0"/>
              </a:rPr>
              <a:t>定义活动</a:t>
            </a:r>
            <a:endParaRPr lang="zh-CN" altLang="en-US" sz="2400" dirty="0">
              <a:solidFill>
                <a:srgbClr val="00B0F0"/>
              </a:solidFill>
              <a:latin typeface="微软雅黑" pitchFamily="34" charset="-122"/>
              <a:ea typeface="微软雅黑" pitchFamily="34" charset="-122"/>
              <a:sym typeface="微软雅黑" pitchFamily="34" charset="-122"/>
            </a:endParaRPr>
          </a:p>
        </p:txBody>
      </p:sp>
      <p:sp>
        <p:nvSpPr>
          <p:cNvPr id="13" name="TextBox 5">
            <a:extLst>
              <a:ext uri="{FF2B5EF4-FFF2-40B4-BE49-F238E27FC236}">
                <a16:creationId xmlns:a16="http://schemas.microsoft.com/office/drawing/2014/main" id="{E2DC1A8F-2384-497E-B897-098470D1B01B}"/>
              </a:ext>
            </a:extLst>
          </p:cNvPr>
          <p:cNvSpPr>
            <a:spLocks noChangeArrowheads="1"/>
          </p:cNvSpPr>
          <p:nvPr/>
        </p:nvSpPr>
        <p:spPr bwMode="auto">
          <a:xfrm>
            <a:off x="6267451" y="3434112"/>
            <a:ext cx="407633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r>
              <a:rPr lang="en-US" altLang="zh-CN" sz="2400" dirty="0">
                <a:solidFill>
                  <a:srgbClr val="00B0F0"/>
                </a:solidFill>
                <a:latin typeface="Impact" pitchFamily="34" charset="0"/>
                <a:ea typeface="微软雅黑" pitchFamily="34" charset="-122"/>
                <a:sym typeface="Impact" pitchFamily="34" charset="0"/>
              </a:rPr>
              <a:t>12.5    </a:t>
            </a:r>
            <a:r>
              <a:rPr lang="zh-CN" altLang="en-US" sz="2400" dirty="0">
                <a:solidFill>
                  <a:srgbClr val="00B0F0"/>
                </a:solidFill>
                <a:latin typeface="Impact" pitchFamily="34" charset="0"/>
                <a:ea typeface="微软雅黑" pitchFamily="34" charset="-122"/>
                <a:sym typeface="Impact" pitchFamily="34" charset="0"/>
              </a:rPr>
              <a:t>估算活动持续时间</a:t>
            </a:r>
            <a:endParaRPr lang="zh-CN" altLang="en-US" sz="2400" dirty="0">
              <a:solidFill>
                <a:srgbClr val="00B0F0"/>
              </a:solidFill>
              <a:latin typeface="微软雅黑" pitchFamily="34" charset="-122"/>
              <a:ea typeface="微软雅黑" pitchFamily="34" charset="-122"/>
              <a:sym typeface="微软雅黑" pitchFamily="34" charset="-122"/>
            </a:endParaRPr>
          </a:p>
        </p:txBody>
      </p:sp>
      <p:sp>
        <p:nvSpPr>
          <p:cNvPr id="14" name="TextBox 5">
            <a:extLst>
              <a:ext uri="{FF2B5EF4-FFF2-40B4-BE49-F238E27FC236}">
                <a16:creationId xmlns:a16="http://schemas.microsoft.com/office/drawing/2014/main" id="{91C54591-E24B-4BB2-9666-382905A6DBFD}"/>
              </a:ext>
            </a:extLst>
          </p:cNvPr>
          <p:cNvSpPr>
            <a:spLocks noChangeArrowheads="1"/>
          </p:cNvSpPr>
          <p:nvPr/>
        </p:nvSpPr>
        <p:spPr bwMode="auto">
          <a:xfrm>
            <a:off x="6267451" y="3915200"/>
            <a:ext cx="407633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r>
              <a:rPr lang="en-US" altLang="zh-CN" sz="2400" dirty="0">
                <a:solidFill>
                  <a:srgbClr val="00B0F0"/>
                </a:solidFill>
                <a:latin typeface="Impact" pitchFamily="34" charset="0"/>
                <a:ea typeface="微软雅黑" pitchFamily="34" charset="-122"/>
                <a:sym typeface="Impact" pitchFamily="34" charset="0"/>
              </a:rPr>
              <a:t>12.6    </a:t>
            </a:r>
            <a:r>
              <a:rPr lang="zh-CN" altLang="en-US" sz="2400" dirty="0">
                <a:solidFill>
                  <a:srgbClr val="00B0F0"/>
                </a:solidFill>
                <a:latin typeface="Impact" pitchFamily="34" charset="0"/>
                <a:ea typeface="微软雅黑" pitchFamily="34" charset="-122"/>
                <a:sym typeface="Impact" pitchFamily="34" charset="0"/>
              </a:rPr>
              <a:t>制定进度计划</a:t>
            </a:r>
            <a:endParaRPr lang="zh-CN" altLang="en-US" sz="2400" dirty="0">
              <a:solidFill>
                <a:srgbClr val="00B0F0"/>
              </a:solidFill>
              <a:latin typeface="微软雅黑" pitchFamily="34" charset="-122"/>
              <a:ea typeface="微软雅黑" pitchFamily="34" charset="-122"/>
              <a:sym typeface="微软雅黑" pitchFamily="34" charset="-122"/>
            </a:endParaRPr>
          </a:p>
        </p:txBody>
      </p:sp>
      <p:sp>
        <p:nvSpPr>
          <p:cNvPr id="15" name="TextBox 5">
            <a:extLst>
              <a:ext uri="{FF2B5EF4-FFF2-40B4-BE49-F238E27FC236}">
                <a16:creationId xmlns:a16="http://schemas.microsoft.com/office/drawing/2014/main" id="{6EFBBBC4-4C74-41C5-B1ED-5C3D6516CE31}"/>
              </a:ext>
            </a:extLst>
          </p:cNvPr>
          <p:cNvSpPr>
            <a:spLocks noChangeArrowheads="1"/>
          </p:cNvSpPr>
          <p:nvPr/>
        </p:nvSpPr>
        <p:spPr bwMode="auto">
          <a:xfrm>
            <a:off x="6267451" y="4396288"/>
            <a:ext cx="407633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r>
              <a:rPr lang="en-US" altLang="zh-CN" sz="2400" dirty="0">
                <a:solidFill>
                  <a:srgbClr val="00B0F0"/>
                </a:solidFill>
                <a:latin typeface="Impact" pitchFamily="34" charset="0"/>
                <a:ea typeface="微软雅黑" pitchFamily="34" charset="-122"/>
                <a:sym typeface="Impact" pitchFamily="34" charset="0"/>
              </a:rPr>
              <a:t>12.7     </a:t>
            </a:r>
            <a:r>
              <a:rPr lang="zh-CN" altLang="en-US" sz="2400" dirty="0">
                <a:solidFill>
                  <a:srgbClr val="00B0F0"/>
                </a:solidFill>
                <a:latin typeface="Impact" pitchFamily="34" charset="0"/>
                <a:ea typeface="微软雅黑" pitchFamily="34" charset="-122"/>
                <a:sym typeface="Impact" pitchFamily="34" charset="0"/>
              </a:rPr>
              <a:t>控制进度</a:t>
            </a:r>
            <a:endParaRPr lang="zh-CN" altLang="en-US" sz="2400" dirty="0">
              <a:solidFill>
                <a:srgbClr val="00B0F0"/>
              </a:solidFill>
              <a:latin typeface="微软雅黑" pitchFamily="34" charset="-122"/>
              <a:ea typeface="微软雅黑" pitchFamily="34" charset="-122"/>
              <a:sym typeface="微软雅黑" pitchFamily="34" charset="-122"/>
            </a:endParaRPr>
          </a:p>
        </p:txBody>
      </p:sp>
      <p:sp>
        <p:nvSpPr>
          <p:cNvPr id="16" name="TextBox 5">
            <a:extLst>
              <a:ext uri="{FF2B5EF4-FFF2-40B4-BE49-F238E27FC236}">
                <a16:creationId xmlns:a16="http://schemas.microsoft.com/office/drawing/2014/main" id="{F63C3262-91F4-464C-9174-4A41E093F1C5}"/>
              </a:ext>
            </a:extLst>
          </p:cNvPr>
          <p:cNvSpPr>
            <a:spLocks noChangeArrowheads="1"/>
          </p:cNvSpPr>
          <p:nvPr/>
        </p:nvSpPr>
        <p:spPr bwMode="auto">
          <a:xfrm>
            <a:off x="6289860" y="1595346"/>
            <a:ext cx="407633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r>
              <a:rPr lang="en-US" altLang="zh-CN" sz="2400" dirty="0">
                <a:solidFill>
                  <a:srgbClr val="00B0F0"/>
                </a:solidFill>
                <a:latin typeface="Impact" pitchFamily="34" charset="0"/>
                <a:ea typeface="微软雅黑" pitchFamily="34" charset="-122"/>
                <a:sym typeface="Impact" pitchFamily="34" charset="0"/>
              </a:rPr>
              <a:t>12.1    </a:t>
            </a:r>
            <a:r>
              <a:rPr lang="zh-CN" altLang="en-US" sz="2400" dirty="0">
                <a:solidFill>
                  <a:srgbClr val="00B0F0"/>
                </a:solidFill>
                <a:latin typeface="Impact" pitchFamily="34" charset="0"/>
                <a:ea typeface="微软雅黑" pitchFamily="34" charset="-122"/>
                <a:sym typeface="Impact" pitchFamily="34" charset="0"/>
              </a:rPr>
              <a:t>项目进度管理概述</a:t>
            </a:r>
            <a:endParaRPr lang="zh-CN" altLang="en-US" sz="2400" dirty="0">
              <a:solidFill>
                <a:srgbClr val="00B0F0"/>
              </a:solidFill>
              <a:latin typeface="微软雅黑" pitchFamily="34" charset="-122"/>
              <a:ea typeface="微软雅黑" pitchFamily="34" charset="-122"/>
              <a:sym typeface="微软雅黑" pitchFamily="34" charset="-122"/>
            </a:endParaRPr>
          </a:p>
        </p:txBody>
      </p:sp>
      <p:sp>
        <p:nvSpPr>
          <p:cNvPr id="2" name="TextBox 10">
            <a:extLst>
              <a:ext uri="{FF2B5EF4-FFF2-40B4-BE49-F238E27FC236}">
                <a16:creationId xmlns:a16="http://schemas.microsoft.com/office/drawing/2014/main" id="{6F785958-F3DE-5F60-9088-85EE775B4C93}"/>
              </a:ext>
            </a:extLst>
          </p:cNvPr>
          <p:cNvSpPr>
            <a:spLocks noChangeArrowheads="1"/>
          </p:cNvSpPr>
          <p:nvPr/>
        </p:nvSpPr>
        <p:spPr bwMode="auto">
          <a:xfrm>
            <a:off x="6065667" y="4877376"/>
            <a:ext cx="423579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r>
              <a:rPr lang="en-US" altLang="zh-CN" sz="2800" dirty="0">
                <a:latin typeface="Impact" pitchFamily="34" charset="0"/>
                <a:ea typeface="微软雅黑" pitchFamily="34" charset="-122"/>
                <a:sym typeface="Impact" pitchFamily="34" charset="0"/>
              </a:rPr>
              <a:t>13</a:t>
            </a:r>
            <a:r>
              <a:rPr lang="zh-CN" altLang="zh-CN" sz="2800" dirty="0">
                <a:latin typeface="Impact" pitchFamily="34" charset="0"/>
                <a:ea typeface="微软雅黑" pitchFamily="34" charset="-122"/>
                <a:sym typeface="Impact" pitchFamily="34" charset="0"/>
              </a:rPr>
              <a:t>    </a:t>
            </a:r>
            <a:r>
              <a:rPr lang="zh-CN" altLang="en-US" sz="2800" dirty="0">
                <a:latin typeface="Impact" pitchFamily="34" charset="0"/>
                <a:ea typeface="微软雅黑" pitchFamily="34" charset="-122"/>
                <a:sym typeface="Impact" pitchFamily="34" charset="0"/>
              </a:rPr>
              <a:t>项目成本管理</a:t>
            </a:r>
            <a:endParaRPr lang="zh-CN" sz="2800" dirty="0">
              <a:latin typeface="微软雅黑" pitchFamily="34" charset="-122"/>
              <a:ea typeface="微软雅黑" pitchFamily="34" charset="-122"/>
              <a:sym typeface="微软雅黑" pitchFamily="34" charset="-122"/>
            </a:endParaRPr>
          </a:p>
        </p:txBody>
      </p:sp>
    </p:spTree>
    <p:extLst>
      <p:ext uri="{BB962C8B-B14F-4D97-AF65-F5344CB8AC3E}">
        <p14:creationId xmlns:p14="http://schemas.microsoft.com/office/powerpoint/2010/main" val="24526400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3">
            <a:extLst>
              <a:ext uri="{FF2B5EF4-FFF2-40B4-BE49-F238E27FC236}">
                <a16:creationId xmlns:a16="http://schemas.microsoft.com/office/drawing/2014/main" id="{7DDB0ECB-15F7-43C3-A9AA-759B4EA97DA4}"/>
              </a:ext>
            </a:extLst>
          </p:cNvPr>
          <p:cNvSpPr txBox="1">
            <a:spLocks noChangeArrowheads="1"/>
          </p:cNvSpPr>
          <p:nvPr/>
        </p:nvSpPr>
        <p:spPr>
          <a:xfrm>
            <a:off x="613885" y="1201479"/>
            <a:ext cx="10972800" cy="4165651"/>
          </a:xfrm>
          <a:prstGeom prst="rect">
            <a:avLst/>
          </a:prstGeom>
          <a:noFill/>
          <a:ln/>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Tx/>
              <a:buNone/>
            </a:pPr>
            <a:r>
              <a:rPr lang="zh-CN" altLang="en-US" sz="2400" b="1" dirty="0"/>
              <a:t>背景</a:t>
            </a:r>
          </a:p>
          <a:p>
            <a:pPr>
              <a:buFontTx/>
              <a:buNone/>
            </a:pPr>
            <a:r>
              <a:rPr lang="zh-CN" altLang="en-US" sz="2000" dirty="0"/>
              <a:t>        </a:t>
            </a:r>
            <a:r>
              <a:rPr lang="zh-CN" altLang="en-US" sz="2200" dirty="0"/>
              <a:t>某咨询公司签订了一个向一所当地大学提供一个新的在线注册系统的合同，规定该套系统必须在</a:t>
            </a:r>
            <a:r>
              <a:rPr lang="en-US" altLang="zh-CN" sz="2200" dirty="0"/>
              <a:t>5</a:t>
            </a:r>
            <a:r>
              <a:rPr lang="zh-CN" altLang="en-US" sz="2200" dirty="0"/>
              <a:t>月</a:t>
            </a:r>
            <a:r>
              <a:rPr lang="en-US" altLang="zh-CN" sz="2200" dirty="0"/>
              <a:t>1</a:t>
            </a:r>
            <a:r>
              <a:rPr lang="zh-CN" altLang="en-US" sz="2200" dirty="0"/>
              <a:t>日前能够运行，这样学生就能够用它在秋季这个学期进行注册。项目经理苏制定了一套详细的进度计划和网络图，以帮助组织项目。</a:t>
            </a:r>
          </a:p>
          <a:p>
            <a:pPr>
              <a:buFontTx/>
              <a:buNone/>
            </a:pPr>
            <a:r>
              <a:rPr lang="zh-CN" altLang="en-US" sz="2400" b="1" dirty="0"/>
              <a:t>遇到的问题</a:t>
            </a:r>
          </a:p>
          <a:p>
            <a:pPr lvl="1">
              <a:buSzPct val="65000"/>
              <a:buFont typeface="Wingdings" panose="05000000000000000000" pitchFamily="2" charset="2"/>
              <a:buChar char="Ø"/>
            </a:pPr>
            <a:r>
              <a:rPr lang="zh-CN" altLang="en-US" sz="2200" dirty="0"/>
              <a:t>一些项目评审会议不能如期举行</a:t>
            </a:r>
          </a:p>
          <a:p>
            <a:pPr lvl="1">
              <a:buSzPct val="65000"/>
              <a:buFont typeface="Wingdings" panose="05000000000000000000" pitchFamily="2" charset="2"/>
              <a:buChar char="Ø"/>
            </a:pPr>
            <a:r>
              <a:rPr lang="zh-CN" altLang="en-US" sz="2200" dirty="0"/>
              <a:t>各阶段无法接到客户的结束指令，难以按进度计划进行</a:t>
            </a:r>
          </a:p>
          <a:p>
            <a:pPr lvl="1">
              <a:buSzPct val="65000"/>
              <a:buFont typeface="Wingdings" panose="05000000000000000000" pitchFamily="2" charset="2"/>
              <a:buChar char="Ø"/>
            </a:pPr>
            <a:r>
              <a:rPr lang="zh-CN" altLang="en-US" sz="2200" dirty="0"/>
              <a:t>项目组中一位高级程序员突然退出</a:t>
            </a:r>
          </a:p>
          <a:p>
            <a:pPr>
              <a:buFontTx/>
              <a:buNone/>
            </a:pPr>
            <a:r>
              <a:rPr lang="zh-CN" altLang="en-US" sz="2400" b="1" dirty="0"/>
              <a:t>挑战</a:t>
            </a:r>
          </a:p>
          <a:p>
            <a:pPr lvl="1">
              <a:buFont typeface="Wingdings" panose="05000000000000000000" pitchFamily="2" charset="2"/>
              <a:buNone/>
            </a:pPr>
            <a:r>
              <a:rPr lang="zh-CN" altLang="en-US" sz="2000" dirty="0"/>
              <a:t>怎样才能赶得上</a:t>
            </a:r>
            <a:r>
              <a:rPr lang="en-US" altLang="zh-CN" sz="2000" dirty="0"/>
              <a:t>5</a:t>
            </a:r>
            <a:r>
              <a:rPr lang="zh-CN" altLang="en-US" sz="2000" dirty="0"/>
              <a:t>月</a:t>
            </a:r>
            <a:r>
              <a:rPr lang="en-US" altLang="zh-CN" sz="2000" dirty="0"/>
              <a:t>1</a:t>
            </a:r>
            <a:r>
              <a:rPr lang="zh-CN" altLang="en-US" sz="2000" dirty="0"/>
              <a:t>日的系统运转呢？</a:t>
            </a:r>
            <a:endParaRPr lang="ja-JP" altLang="en-US" sz="2800" b="1" dirty="0">
              <a:ea typeface="MS PGothic" panose="020B0600070205080204" pitchFamily="34" charset="-128"/>
            </a:endParaRPr>
          </a:p>
        </p:txBody>
      </p:sp>
      <p:sp>
        <p:nvSpPr>
          <p:cNvPr id="2" name="标题 1">
            <a:extLst>
              <a:ext uri="{FF2B5EF4-FFF2-40B4-BE49-F238E27FC236}">
                <a16:creationId xmlns:a16="http://schemas.microsoft.com/office/drawing/2014/main" id="{FC2F2EBB-B20A-48BB-9824-166297721664}"/>
              </a:ext>
            </a:extLst>
          </p:cNvPr>
          <p:cNvSpPr>
            <a:spLocks noGrp="1"/>
          </p:cNvSpPr>
          <p:nvPr>
            <p:ph type="title"/>
          </p:nvPr>
        </p:nvSpPr>
        <p:spPr/>
        <p:txBody>
          <a:bodyPr/>
          <a:lstStyle/>
          <a:p>
            <a:r>
              <a:rPr lang="zh-CN" altLang="en-US" dirty="0"/>
              <a:t>开篇案例：大学在线注册系统</a:t>
            </a:r>
          </a:p>
        </p:txBody>
      </p:sp>
      <p:sp>
        <p:nvSpPr>
          <p:cNvPr id="3" name="AutoShape 10">
            <a:extLst>
              <a:ext uri="{FF2B5EF4-FFF2-40B4-BE49-F238E27FC236}">
                <a16:creationId xmlns:a16="http://schemas.microsoft.com/office/drawing/2014/main" id="{64E4B0DA-E307-47EA-B410-6927BAA8276A}"/>
              </a:ext>
            </a:extLst>
          </p:cNvPr>
          <p:cNvSpPr>
            <a:spLocks noChangeArrowheads="1"/>
          </p:cNvSpPr>
          <p:nvPr/>
        </p:nvSpPr>
        <p:spPr bwMode="auto">
          <a:xfrm>
            <a:off x="8854597" y="5075050"/>
            <a:ext cx="2732088" cy="863600"/>
          </a:xfrm>
          <a:prstGeom prst="cloudCallout">
            <a:avLst>
              <a:gd name="adj1" fmla="val -44713"/>
              <a:gd name="adj2" fmla="val -112500"/>
            </a:avLst>
          </a:prstGeom>
          <a:solidFill>
            <a:srgbClr val="FFFFFF"/>
          </a:solidFill>
          <a:ln w="31750">
            <a:solidFill>
              <a:srgbClr val="008080"/>
            </a:solidFill>
            <a:round/>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Lst>
        </p:spPr>
        <p:txBody>
          <a:bodyPr anchor="ctr" anchorCtr="1"/>
          <a:lstStyle/>
          <a:p>
            <a:pPr algn="ctr">
              <a:spcBef>
                <a:spcPct val="20000"/>
              </a:spcBef>
              <a:buClr>
                <a:schemeClr val="tx1"/>
              </a:buClr>
              <a:buSzPct val="75000"/>
              <a:buFont typeface="Wingdings" panose="05000000000000000000" pitchFamily="2" charset="2"/>
              <a:buNone/>
            </a:pPr>
            <a:r>
              <a:rPr lang="zh-CN" altLang="en-US" sz="2000" b="1" dirty="0">
                <a:solidFill>
                  <a:srgbClr val="FF0000"/>
                </a:solidFill>
                <a:latin typeface="微软雅黑" panose="020B0503020204020204" pitchFamily="34" charset="-122"/>
                <a:ea typeface="微软雅黑" panose="020B0503020204020204" pitchFamily="34" charset="-122"/>
              </a:rPr>
              <a:t>项目遇险！！！</a:t>
            </a:r>
          </a:p>
        </p:txBody>
      </p:sp>
      <p:graphicFrame>
        <p:nvGraphicFramePr>
          <p:cNvPr id="4" name="Object 11">
            <a:extLst>
              <a:ext uri="{FF2B5EF4-FFF2-40B4-BE49-F238E27FC236}">
                <a16:creationId xmlns:a16="http://schemas.microsoft.com/office/drawing/2014/main" id="{B84A37A2-23C0-443A-9C03-58354421F10A}"/>
              </a:ext>
            </a:extLst>
          </p:cNvPr>
          <p:cNvGraphicFramePr>
            <a:graphicFrameLocks noChangeAspect="1"/>
          </p:cNvGraphicFramePr>
          <p:nvPr>
            <p:extLst>
              <p:ext uri="{D42A27DB-BD31-4B8C-83A1-F6EECF244321}">
                <p14:modId xmlns:p14="http://schemas.microsoft.com/office/powerpoint/2010/main" val="2353628976"/>
              </p:ext>
            </p:extLst>
          </p:nvPr>
        </p:nvGraphicFramePr>
        <p:xfrm>
          <a:off x="9836149" y="2759181"/>
          <a:ext cx="1444005" cy="1189967"/>
        </p:xfrm>
        <a:graphic>
          <a:graphicData uri="http://schemas.openxmlformats.org/presentationml/2006/ole">
            <mc:AlternateContent xmlns:mc="http://schemas.openxmlformats.org/markup-compatibility/2006">
              <mc:Choice xmlns:v="urn:schemas-microsoft-com:vml" Requires="v">
                <p:oleObj name="ビットマップ イメージ" r:id="rId3" imgW="1028844" imgH="847843" progId="Paint.Picture">
                  <p:embed/>
                </p:oleObj>
              </mc:Choice>
              <mc:Fallback>
                <p:oleObj name="ビットマップ イメージ" r:id="rId3" imgW="1028844" imgH="847843" progId="Paint.Picture">
                  <p:embed/>
                  <p:pic>
                    <p:nvPicPr>
                      <p:cNvPr id="495627" name="Object 11">
                        <a:extLst>
                          <a:ext uri="{FF2B5EF4-FFF2-40B4-BE49-F238E27FC236}">
                            <a16:creationId xmlns:a16="http://schemas.microsoft.com/office/drawing/2014/main" id="{87821B45-979C-4BD3-83EA-A6B2FC8BE7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36149" y="2759181"/>
                        <a:ext cx="1444005" cy="1189967"/>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275338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lstStyle/>
          <a:p>
            <a:r>
              <a:rPr lang="en-US" altLang="zh-CN" dirty="0"/>
              <a:t>12.0 </a:t>
            </a:r>
            <a:r>
              <a:rPr lang="zh-CN" altLang="en-US" dirty="0"/>
              <a:t>学习要点</a:t>
            </a:r>
          </a:p>
        </p:txBody>
      </p:sp>
      <p:sp>
        <p:nvSpPr>
          <p:cNvPr id="4" name="矩形 3">
            <a:extLst>
              <a:ext uri="{FF2B5EF4-FFF2-40B4-BE49-F238E27FC236}">
                <a16:creationId xmlns:a16="http://schemas.microsoft.com/office/drawing/2014/main" id="{7B5FCC0C-ED2B-46D9-8F57-A282C69075AC}"/>
              </a:ext>
            </a:extLst>
          </p:cNvPr>
          <p:cNvSpPr/>
          <p:nvPr/>
        </p:nvSpPr>
        <p:spPr>
          <a:xfrm>
            <a:off x="526094" y="1686115"/>
            <a:ext cx="10874734" cy="2554545"/>
          </a:xfrm>
          <a:prstGeom prst="rect">
            <a:avLst/>
          </a:prstGeom>
        </p:spPr>
        <p:txBody>
          <a:bodyPr wrap="square">
            <a:spAutoFit/>
          </a:bodyPr>
          <a:lstStyle/>
          <a:p>
            <a:pPr marL="342900" lvl="0" indent="-342900" algn="just">
              <a:spcBef>
                <a:spcPts val="600"/>
              </a:spcBef>
              <a:spcAft>
                <a:spcPts val="600"/>
              </a:spcAft>
              <a:buFont typeface="Times New Roman"/>
              <a:buAutoNum type="arabicParenBoth"/>
            </a:pPr>
            <a:r>
              <a:rPr lang="en-US" altLang="zh-CN" sz="2400"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理解并掌握项目时间管理的相关</a:t>
            </a:r>
            <a:r>
              <a:rPr lang="zh-CN" altLang="en-US" sz="2400" dirty="0">
                <a:latin typeface="微软雅黑" panose="020B0503020204020204" pitchFamily="34" charset="-122"/>
                <a:ea typeface="微软雅黑" panose="020B0503020204020204" pitchFamily="34" charset="-122"/>
              </a:rPr>
              <a:t>概念</a:t>
            </a:r>
            <a:endParaRPr lang="zh-CN" altLang="zh-CN" sz="2400" dirty="0">
              <a:latin typeface="微软雅黑" panose="020B0503020204020204" pitchFamily="34" charset="-122"/>
              <a:ea typeface="微软雅黑" panose="020B0503020204020204" pitchFamily="34" charset="-122"/>
            </a:endParaRPr>
          </a:p>
          <a:p>
            <a:pPr marL="342900" lvl="0" indent="-342900" algn="just">
              <a:spcBef>
                <a:spcPts val="600"/>
              </a:spcBef>
              <a:spcAft>
                <a:spcPts val="600"/>
              </a:spcAft>
              <a:buFont typeface="Times New Roman"/>
              <a:buAutoNum type="arabicParenBoth"/>
              <a:defRPr/>
            </a:pPr>
            <a:r>
              <a:rPr lang="en-US" altLang="zh-CN" sz="2400"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掌握使用</a:t>
            </a:r>
            <a:r>
              <a:rPr lang="zh-CN" altLang="en-US" sz="2400" dirty="0">
                <a:latin typeface="微软雅黑" panose="020B0503020204020204" pitchFamily="34" charset="-122"/>
                <a:ea typeface="微软雅黑" panose="020B0503020204020204" pitchFamily="34" charset="-122"/>
              </a:rPr>
              <a:t>网络图（</a:t>
            </a:r>
            <a:r>
              <a:rPr lang="zh-CN" altLang="zh-CN" sz="2400" dirty="0">
                <a:latin typeface="微软雅黑" panose="020B0503020204020204" pitchFamily="34" charset="-122"/>
                <a:ea typeface="微软雅黑" panose="020B0503020204020204" pitchFamily="34" charset="-122"/>
              </a:rPr>
              <a:t>箭线图</a:t>
            </a:r>
            <a:r>
              <a:rPr lang="zh-CN" altLang="en-US" sz="2400" dirty="0">
                <a:latin typeface="微软雅黑" panose="020B0503020204020204" pitchFamily="34" charset="-122"/>
                <a:ea typeface="微软雅黑" panose="020B0503020204020204" pitchFamily="34" charset="-122"/>
              </a:rPr>
              <a:t>）</a:t>
            </a:r>
            <a:r>
              <a:rPr lang="zh-CN" altLang="zh-CN" sz="2400" dirty="0">
                <a:latin typeface="微软雅黑" panose="020B0503020204020204" pitchFamily="34" charset="-122"/>
                <a:ea typeface="微软雅黑" panose="020B0503020204020204" pitchFamily="34" charset="-122"/>
              </a:rPr>
              <a:t>法和</a:t>
            </a:r>
            <a:r>
              <a:rPr lang="zh-CN" altLang="en-US" sz="2400" dirty="0">
                <a:latin typeface="微软雅黑" panose="020B0503020204020204" pitchFamily="34" charset="-122"/>
                <a:ea typeface="微软雅黑" panose="020B0503020204020204" pitchFamily="34" charset="-122"/>
              </a:rPr>
              <a:t>顺序图（</a:t>
            </a:r>
            <a:r>
              <a:rPr lang="zh-CN" altLang="zh-CN" sz="2400" dirty="0">
                <a:latin typeface="微软雅黑" panose="020B0503020204020204" pitchFamily="34" charset="-122"/>
                <a:ea typeface="微软雅黑" panose="020B0503020204020204" pitchFamily="34" charset="-122"/>
              </a:rPr>
              <a:t>前导图</a:t>
            </a:r>
            <a:r>
              <a:rPr lang="zh-CN" altLang="en-US" sz="2400" dirty="0">
                <a:latin typeface="微软雅黑" panose="020B0503020204020204" pitchFamily="34" charset="-122"/>
                <a:ea typeface="微软雅黑" panose="020B0503020204020204" pitchFamily="34" charset="-122"/>
              </a:rPr>
              <a:t>）</a:t>
            </a:r>
            <a:r>
              <a:rPr lang="zh-CN" altLang="zh-CN" sz="2400" dirty="0">
                <a:latin typeface="微软雅黑" panose="020B0503020204020204" pitchFamily="34" charset="-122"/>
                <a:ea typeface="微软雅黑" panose="020B0503020204020204" pitchFamily="34" charset="-122"/>
              </a:rPr>
              <a:t>法绘制活动网络图</a:t>
            </a:r>
          </a:p>
          <a:p>
            <a:pPr marL="342900" lvl="0" indent="-342900" algn="just">
              <a:spcBef>
                <a:spcPts val="600"/>
              </a:spcBef>
              <a:spcAft>
                <a:spcPts val="600"/>
              </a:spcAft>
              <a:buFont typeface="Times New Roman"/>
              <a:buAutoNum type="arabicParenBoth"/>
              <a:defRPr/>
            </a:pPr>
            <a:r>
              <a:rPr lang="en-US" altLang="zh-CN" sz="2400"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掌握使用关键路径法确认关键路径</a:t>
            </a:r>
          </a:p>
          <a:p>
            <a:pPr marL="342900" lvl="0" indent="-342900" algn="just">
              <a:spcBef>
                <a:spcPts val="600"/>
              </a:spcBef>
              <a:spcAft>
                <a:spcPts val="600"/>
              </a:spcAft>
              <a:buFont typeface="Times New Roman"/>
              <a:buAutoNum type="arabicParenBoth"/>
              <a:defRPr/>
            </a:pPr>
            <a:r>
              <a:rPr lang="en-US" altLang="zh-CN" sz="2400"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掌握用甘特图等工具进行进度计划的编制</a:t>
            </a:r>
          </a:p>
          <a:p>
            <a:pPr marL="342900" lvl="0" indent="-342900" algn="just">
              <a:spcBef>
                <a:spcPts val="600"/>
              </a:spcBef>
              <a:spcAft>
                <a:spcPts val="600"/>
              </a:spcAft>
              <a:buFont typeface="Times New Roman"/>
              <a:buAutoNum type="arabicParenBoth"/>
              <a:defRPr/>
            </a:pPr>
            <a:r>
              <a:rPr lang="en-US" altLang="zh-CN" sz="2400"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了解项目进度计划的控制过程</a:t>
            </a:r>
            <a:endParaRPr lang="en-US" altLang="zh-CN" sz="2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68319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BC0716-95E5-4840-B0D6-77A4694F3767}"/>
              </a:ext>
            </a:extLst>
          </p:cNvPr>
          <p:cNvSpPr>
            <a:spLocks noGrp="1"/>
          </p:cNvSpPr>
          <p:nvPr>
            <p:ph type="title"/>
          </p:nvPr>
        </p:nvSpPr>
        <p:spPr/>
        <p:txBody>
          <a:bodyPr/>
          <a:lstStyle/>
          <a:p>
            <a:r>
              <a:rPr lang="en-US" altLang="zh-CN" dirty="0"/>
              <a:t>12.1 </a:t>
            </a:r>
            <a:r>
              <a:rPr lang="zh-CN" altLang="en-US" dirty="0"/>
              <a:t>项目进度（时间）管理概述</a:t>
            </a:r>
          </a:p>
        </p:txBody>
      </p:sp>
      <p:sp>
        <p:nvSpPr>
          <p:cNvPr id="3" name="AutoShape 4">
            <a:extLst>
              <a:ext uri="{FF2B5EF4-FFF2-40B4-BE49-F238E27FC236}">
                <a16:creationId xmlns:a16="http://schemas.microsoft.com/office/drawing/2014/main" id="{31FCACB8-A50C-493C-B48B-C91BEDCBE891}"/>
              </a:ext>
            </a:extLst>
          </p:cNvPr>
          <p:cNvSpPr>
            <a:spLocks noChangeArrowheads="1"/>
          </p:cNvSpPr>
          <p:nvPr/>
        </p:nvSpPr>
        <p:spPr bwMode="auto">
          <a:xfrm>
            <a:off x="9136133" y="2811568"/>
            <a:ext cx="1544435"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sp>
        <p:nvSpPr>
          <p:cNvPr id="4" name="AutoShape 5">
            <a:extLst>
              <a:ext uri="{FF2B5EF4-FFF2-40B4-BE49-F238E27FC236}">
                <a16:creationId xmlns:a16="http://schemas.microsoft.com/office/drawing/2014/main" id="{D24B3E14-462D-45F5-9896-2ABF38B9BBDB}"/>
              </a:ext>
            </a:extLst>
          </p:cNvPr>
          <p:cNvSpPr>
            <a:spLocks noChangeArrowheads="1"/>
          </p:cNvSpPr>
          <p:nvPr/>
        </p:nvSpPr>
        <p:spPr bwMode="auto">
          <a:xfrm>
            <a:off x="1313977" y="2796487"/>
            <a:ext cx="7266985"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dirty="0">
              <a:solidFill>
                <a:srgbClr val="FFFFFF"/>
              </a:solidFill>
              <a:latin typeface="Times New Roman" panose="02020603050405020304" pitchFamily="18" charset="0"/>
            </a:endParaRPr>
          </a:p>
        </p:txBody>
      </p:sp>
      <p:sp>
        <p:nvSpPr>
          <p:cNvPr id="5" name="AutoShape 6">
            <a:extLst>
              <a:ext uri="{FF2B5EF4-FFF2-40B4-BE49-F238E27FC236}">
                <a16:creationId xmlns:a16="http://schemas.microsoft.com/office/drawing/2014/main" id="{BA15B912-2756-414C-AF9E-DB769DD8D8BA}"/>
              </a:ext>
            </a:extLst>
          </p:cNvPr>
          <p:cNvSpPr>
            <a:spLocks noChangeArrowheads="1"/>
          </p:cNvSpPr>
          <p:nvPr/>
        </p:nvSpPr>
        <p:spPr bwMode="auto">
          <a:xfrm>
            <a:off x="1466377" y="3055249"/>
            <a:ext cx="9906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Times New Roman" panose="02020603050405020304" pitchFamily="18" charset="0"/>
              </a:rPr>
              <a:t>规划进度</a:t>
            </a:r>
            <a:endParaRPr lang="en-US" altLang="zh-CN" sz="1600" b="1" dirty="0">
              <a:solidFill>
                <a:srgbClr val="000066"/>
              </a:solidFill>
              <a:latin typeface="Times New Roman" panose="02020603050405020304" pitchFamily="18" charset="0"/>
            </a:endParaRPr>
          </a:p>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Times New Roman" panose="02020603050405020304" pitchFamily="18" charset="0"/>
              </a:rPr>
              <a:t>管理</a:t>
            </a:r>
          </a:p>
        </p:txBody>
      </p:sp>
      <p:sp>
        <p:nvSpPr>
          <p:cNvPr id="6" name="AutoShape 7">
            <a:extLst>
              <a:ext uri="{FF2B5EF4-FFF2-40B4-BE49-F238E27FC236}">
                <a16:creationId xmlns:a16="http://schemas.microsoft.com/office/drawing/2014/main" id="{C2A31653-0719-46BD-A994-5885406E7B08}"/>
              </a:ext>
            </a:extLst>
          </p:cNvPr>
          <p:cNvSpPr>
            <a:spLocks noChangeArrowheads="1"/>
          </p:cNvSpPr>
          <p:nvPr/>
        </p:nvSpPr>
        <p:spPr bwMode="auto">
          <a:xfrm>
            <a:off x="2951101" y="3055249"/>
            <a:ext cx="9906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latin typeface="Times New Roman" panose="02020603050405020304" pitchFamily="18" charset="0"/>
              </a:rPr>
              <a:t>定义活动</a:t>
            </a:r>
            <a:endParaRPr lang="zh-CN" altLang="en-US" sz="1600" b="1" dirty="0">
              <a:solidFill>
                <a:srgbClr val="000066"/>
              </a:solidFill>
              <a:latin typeface="Times New Roman" panose="02020603050405020304" pitchFamily="18" charset="0"/>
            </a:endParaRPr>
          </a:p>
        </p:txBody>
      </p:sp>
      <p:sp>
        <p:nvSpPr>
          <p:cNvPr id="7" name="AutoShape 8">
            <a:extLst>
              <a:ext uri="{FF2B5EF4-FFF2-40B4-BE49-F238E27FC236}">
                <a16:creationId xmlns:a16="http://schemas.microsoft.com/office/drawing/2014/main" id="{7BBF34AB-C8DE-4A7A-860B-B362A3952EBA}"/>
              </a:ext>
            </a:extLst>
          </p:cNvPr>
          <p:cNvSpPr>
            <a:spLocks noChangeArrowheads="1"/>
          </p:cNvSpPr>
          <p:nvPr/>
        </p:nvSpPr>
        <p:spPr bwMode="auto">
          <a:xfrm>
            <a:off x="4416971" y="3055249"/>
            <a:ext cx="9906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Times New Roman" panose="02020603050405020304" pitchFamily="18" charset="0"/>
              </a:rPr>
              <a:t>排列活动</a:t>
            </a:r>
            <a:endParaRPr lang="en-US" altLang="zh-CN" sz="1600" b="1" dirty="0">
              <a:solidFill>
                <a:srgbClr val="000066"/>
              </a:solidFill>
              <a:latin typeface="Times New Roman" panose="02020603050405020304" pitchFamily="18" charset="0"/>
            </a:endParaRPr>
          </a:p>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Times New Roman" panose="02020603050405020304" pitchFamily="18" charset="0"/>
              </a:rPr>
              <a:t>顺序</a:t>
            </a:r>
          </a:p>
        </p:txBody>
      </p:sp>
      <p:sp>
        <p:nvSpPr>
          <p:cNvPr id="8" name="AutoShape 9">
            <a:extLst>
              <a:ext uri="{FF2B5EF4-FFF2-40B4-BE49-F238E27FC236}">
                <a16:creationId xmlns:a16="http://schemas.microsoft.com/office/drawing/2014/main" id="{656102E2-9DCF-43DA-801B-CD69E4B8EB18}"/>
              </a:ext>
            </a:extLst>
          </p:cNvPr>
          <p:cNvSpPr>
            <a:spLocks noChangeArrowheads="1"/>
          </p:cNvSpPr>
          <p:nvPr/>
        </p:nvSpPr>
        <p:spPr bwMode="auto">
          <a:xfrm>
            <a:off x="7373407" y="3070330"/>
            <a:ext cx="9906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chemeClr val="tx1"/>
                </a:solidFill>
                <a:effectLst/>
              </a:rPr>
              <a:t>制定进度</a:t>
            </a:r>
            <a:endParaRPr lang="en-US" altLang="zh-CN" sz="1600" b="1" dirty="0">
              <a:solidFill>
                <a:schemeClr val="tx1"/>
              </a:solidFill>
              <a:effectLst/>
            </a:endParaRPr>
          </a:p>
          <a:p>
            <a:pPr algn="ctr" fontAlgn="base">
              <a:spcBef>
                <a:spcPct val="0"/>
              </a:spcBef>
              <a:spcAft>
                <a:spcPct val="0"/>
              </a:spcAft>
              <a:buSzPct val="95000"/>
              <a:buFont typeface="Wingdings" panose="05000000000000000000" pitchFamily="2" charset="2"/>
              <a:buNone/>
            </a:pPr>
            <a:r>
              <a:rPr lang="zh-CN" altLang="en-US" sz="1600" b="1" dirty="0">
                <a:solidFill>
                  <a:schemeClr val="tx1"/>
                </a:solidFill>
                <a:effectLst/>
              </a:rPr>
              <a:t>计划</a:t>
            </a:r>
            <a:endParaRPr lang="zh-CN" altLang="en-US" sz="1600" b="1" dirty="0">
              <a:solidFill>
                <a:srgbClr val="000066"/>
              </a:solidFill>
              <a:latin typeface="Times New Roman" panose="02020603050405020304" pitchFamily="18" charset="0"/>
            </a:endParaRPr>
          </a:p>
        </p:txBody>
      </p:sp>
      <p:sp>
        <p:nvSpPr>
          <p:cNvPr id="9" name="AutoShape 10">
            <a:extLst>
              <a:ext uri="{FF2B5EF4-FFF2-40B4-BE49-F238E27FC236}">
                <a16:creationId xmlns:a16="http://schemas.microsoft.com/office/drawing/2014/main" id="{037CFD1C-340C-46FD-8AE6-E8702DDCBCD8}"/>
              </a:ext>
            </a:extLst>
          </p:cNvPr>
          <p:cNvSpPr>
            <a:spLocks noChangeArrowheads="1"/>
          </p:cNvSpPr>
          <p:nvPr/>
        </p:nvSpPr>
        <p:spPr bwMode="auto">
          <a:xfrm>
            <a:off x="9351125" y="3020324"/>
            <a:ext cx="10668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chemeClr val="tx1"/>
                </a:solidFill>
                <a:effectLst/>
              </a:rPr>
              <a:t>控制进度</a:t>
            </a:r>
            <a:endParaRPr lang="zh-CN" altLang="en-US" sz="1600" b="1" dirty="0">
              <a:solidFill>
                <a:srgbClr val="000066"/>
              </a:solidFill>
              <a:latin typeface="Times New Roman" panose="02020603050405020304" pitchFamily="18" charset="0"/>
            </a:endParaRPr>
          </a:p>
        </p:txBody>
      </p:sp>
      <p:sp>
        <p:nvSpPr>
          <p:cNvPr id="10" name="AutoShape 11">
            <a:extLst>
              <a:ext uri="{FF2B5EF4-FFF2-40B4-BE49-F238E27FC236}">
                <a16:creationId xmlns:a16="http://schemas.microsoft.com/office/drawing/2014/main" id="{987EFF5E-035C-4013-A514-44D5996B818C}"/>
              </a:ext>
            </a:extLst>
          </p:cNvPr>
          <p:cNvSpPr>
            <a:spLocks noChangeArrowheads="1"/>
          </p:cNvSpPr>
          <p:nvPr/>
        </p:nvSpPr>
        <p:spPr bwMode="auto">
          <a:xfrm>
            <a:off x="2504112" y="3314012"/>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sp>
        <p:nvSpPr>
          <p:cNvPr id="11" name="AutoShape 12">
            <a:extLst>
              <a:ext uri="{FF2B5EF4-FFF2-40B4-BE49-F238E27FC236}">
                <a16:creationId xmlns:a16="http://schemas.microsoft.com/office/drawing/2014/main" id="{D4864BFC-D50E-42C1-9C82-85C4612274DE}"/>
              </a:ext>
            </a:extLst>
          </p:cNvPr>
          <p:cNvSpPr>
            <a:spLocks noChangeArrowheads="1"/>
          </p:cNvSpPr>
          <p:nvPr/>
        </p:nvSpPr>
        <p:spPr bwMode="auto">
          <a:xfrm>
            <a:off x="3998263" y="3314012"/>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sp>
        <p:nvSpPr>
          <p:cNvPr id="12" name="AutoShape 13">
            <a:extLst>
              <a:ext uri="{FF2B5EF4-FFF2-40B4-BE49-F238E27FC236}">
                <a16:creationId xmlns:a16="http://schemas.microsoft.com/office/drawing/2014/main" id="{405EE542-C2C4-480C-B3C8-AE660C5497A0}"/>
              </a:ext>
            </a:extLst>
          </p:cNvPr>
          <p:cNvSpPr>
            <a:spLocks noChangeArrowheads="1"/>
          </p:cNvSpPr>
          <p:nvPr/>
        </p:nvSpPr>
        <p:spPr bwMode="auto">
          <a:xfrm>
            <a:off x="5473560" y="3314012"/>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sp>
        <p:nvSpPr>
          <p:cNvPr id="13" name="AutoShape 14">
            <a:extLst>
              <a:ext uri="{FF2B5EF4-FFF2-40B4-BE49-F238E27FC236}">
                <a16:creationId xmlns:a16="http://schemas.microsoft.com/office/drawing/2014/main" id="{802C9557-8AC4-4865-961C-4F7F765C1EE1}"/>
              </a:ext>
            </a:extLst>
          </p:cNvPr>
          <p:cNvSpPr>
            <a:spLocks noChangeArrowheads="1"/>
          </p:cNvSpPr>
          <p:nvPr/>
        </p:nvSpPr>
        <p:spPr bwMode="auto">
          <a:xfrm>
            <a:off x="8707482" y="3329092"/>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grpSp>
        <p:nvGrpSpPr>
          <p:cNvPr id="14" name="Group 15">
            <a:extLst>
              <a:ext uri="{FF2B5EF4-FFF2-40B4-BE49-F238E27FC236}">
                <a16:creationId xmlns:a16="http://schemas.microsoft.com/office/drawing/2014/main" id="{AADAD15A-D698-469F-8F6F-694A48A7677E}"/>
              </a:ext>
            </a:extLst>
          </p:cNvPr>
          <p:cNvGrpSpPr>
            <a:grpSpLocks/>
          </p:cNvGrpSpPr>
          <p:nvPr/>
        </p:nvGrpSpPr>
        <p:grpSpPr bwMode="auto">
          <a:xfrm>
            <a:off x="1390177" y="3863287"/>
            <a:ext cx="1219200" cy="2209800"/>
            <a:chOff x="816" y="3120"/>
            <a:chExt cx="1344" cy="960"/>
          </a:xfrm>
        </p:grpSpPr>
        <p:sp>
          <p:nvSpPr>
            <p:cNvPr id="15" name="Rectangle 16">
              <a:extLst>
                <a:ext uri="{FF2B5EF4-FFF2-40B4-BE49-F238E27FC236}">
                  <a16:creationId xmlns:a16="http://schemas.microsoft.com/office/drawing/2014/main" id="{5388632B-5E07-4ABD-982C-DBDACE9B5A5A}"/>
                </a:ext>
              </a:extLst>
            </p:cNvPr>
            <p:cNvSpPr>
              <a:spLocks noChangeArrowheads="1"/>
            </p:cNvSpPr>
            <p:nvPr/>
          </p:nvSpPr>
          <p:spPr bwMode="auto">
            <a:xfrm>
              <a:off x="816" y="3360"/>
              <a:ext cx="1344" cy="720"/>
            </a:xfrm>
            <a:prstGeom prst="rect">
              <a:avLst/>
            </a:prstGeom>
            <a:solidFill>
              <a:schemeClr val="accent2">
                <a:lumMod val="20000"/>
                <a:lumOff val="80000"/>
              </a:schemeClr>
            </a:solidFill>
            <a:ln w="9525">
              <a:solidFill>
                <a:schemeClr val="accent2">
                  <a:lumMod val="40000"/>
                  <a:lumOff val="60000"/>
                </a:schemeClr>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r>
                <a:rPr kumimoji="1" lang="zh-CN" altLang="en-US" sz="1400" b="1"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rPr>
                <a:t>输出：</a:t>
              </a:r>
            </a:p>
            <a:p>
              <a:pPr lvl="0" fontAlgn="base">
                <a:spcAft>
                  <a:spcPct val="0"/>
                </a:spcAft>
                <a:buClr>
                  <a:srgbClr val="FFFFFF"/>
                </a:buClr>
                <a:buSzPct val="75000"/>
                <a:buNone/>
              </a:pPr>
              <a:r>
                <a:rPr lang="zh-CN" altLang="en-US" sz="1400" b="1" kern="0" dirty="0">
                  <a:solidFill>
                    <a:schemeClr val="tx2">
                      <a:lumMod val="50000"/>
                    </a:schemeClr>
                  </a:solidFill>
                </a:rPr>
                <a:t>进度管理计划</a:t>
              </a:r>
              <a:endParaRPr lang="en-US" altLang="zh-CN" sz="1400" b="1" kern="0" dirty="0">
                <a:solidFill>
                  <a:schemeClr val="tx2">
                    <a:lumMod val="50000"/>
                  </a:schemeClr>
                </a:solidFill>
              </a:endParaRPr>
            </a:p>
          </p:txBody>
        </p:sp>
        <p:sp>
          <p:nvSpPr>
            <p:cNvPr id="16" name="AutoShape 17">
              <a:extLst>
                <a:ext uri="{FF2B5EF4-FFF2-40B4-BE49-F238E27FC236}">
                  <a16:creationId xmlns:a16="http://schemas.microsoft.com/office/drawing/2014/main" id="{35E0F8C2-1E78-486B-AB36-E1F728CFEAEC}"/>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chemeClr val="tx2">
                    <a:lumMod val="50000"/>
                  </a:schemeClr>
                </a:solidFill>
                <a:effectLst/>
                <a:uLnTx/>
                <a:uFillTx/>
                <a:latin typeface="Times New Roman" panose="02020603050405020304" pitchFamily="18" charset="0"/>
                <a:ea typeface="宋体" panose="02010600030101010101" pitchFamily="2" charset="-122"/>
              </a:endParaRPr>
            </a:p>
          </p:txBody>
        </p:sp>
      </p:grpSp>
      <p:grpSp>
        <p:nvGrpSpPr>
          <p:cNvPr id="17" name="Group 18">
            <a:extLst>
              <a:ext uri="{FF2B5EF4-FFF2-40B4-BE49-F238E27FC236}">
                <a16:creationId xmlns:a16="http://schemas.microsoft.com/office/drawing/2014/main" id="{69D98CB3-0218-4B04-90DE-66AEF7D26F8C}"/>
              </a:ext>
            </a:extLst>
          </p:cNvPr>
          <p:cNvGrpSpPr>
            <a:grpSpLocks/>
          </p:cNvGrpSpPr>
          <p:nvPr/>
        </p:nvGrpSpPr>
        <p:grpSpPr bwMode="auto">
          <a:xfrm>
            <a:off x="2758900" y="3798199"/>
            <a:ext cx="1553255" cy="2430516"/>
            <a:chOff x="777" y="3120"/>
            <a:chExt cx="1522" cy="960"/>
          </a:xfrm>
        </p:grpSpPr>
        <p:sp>
          <p:nvSpPr>
            <p:cNvPr id="18" name="Rectangle 19">
              <a:extLst>
                <a:ext uri="{FF2B5EF4-FFF2-40B4-BE49-F238E27FC236}">
                  <a16:creationId xmlns:a16="http://schemas.microsoft.com/office/drawing/2014/main" id="{923E1397-3423-4F57-850E-9729C7DAFBCB}"/>
                </a:ext>
              </a:extLst>
            </p:cNvPr>
            <p:cNvSpPr>
              <a:spLocks noChangeArrowheads="1"/>
            </p:cNvSpPr>
            <p:nvPr/>
          </p:nvSpPr>
          <p:spPr bwMode="auto">
            <a:xfrm>
              <a:off x="777" y="3360"/>
              <a:ext cx="1522" cy="720"/>
            </a:xfrm>
            <a:prstGeom prst="rect">
              <a:avLst/>
            </a:prstGeom>
            <a:solidFill>
              <a:schemeClr val="accent5">
                <a:lumMod val="20000"/>
                <a:lumOff val="80000"/>
              </a:schemeClr>
            </a:solidFill>
            <a:ln w="9525">
              <a:solidFill>
                <a:schemeClr val="accent2">
                  <a:lumMod val="20000"/>
                  <a:lumOff val="80000"/>
                </a:schemeClr>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r>
                <a:rPr kumimoji="1" lang="zh-CN" altLang="en-US" sz="1400" b="1"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rPr>
                <a:t>输出：</a:t>
              </a:r>
            </a:p>
            <a:p>
              <a:pPr lvl="0" fontAlgn="base">
                <a:spcAft>
                  <a:spcPct val="0"/>
                </a:spcAft>
                <a:buClr>
                  <a:srgbClr val="FFFFFF"/>
                </a:buClr>
                <a:buSzPct val="75000"/>
                <a:buNone/>
              </a:pPr>
              <a:r>
                <a:rPr lang="zh-CN" altLang="en-US" sz="1400" b="1" kern="0" dirty="0">
                  <a:solidFill>
                    <a:schemeClr val="tx2">
                      <a:lumMod val="50000"/>
                    </a:schemeClr>
                  </a:solidFill>
                </a:rPr>
                <a:t>活动清单</a:t>
              </a:r>
            </a:p>
            <a:p>
              <a:pPr lvl="0" fontAlgn="base">
                <a:spcAft>
                  <a:spcPct val="0"/>
                </a:spcAft>
                <a:buClr>
                  <a:srgbClr val="FFFFFF"/>
                </a:buClr>
                <a:buSzPct val="75000"/>
                <a:buNone/>
              </a:pPr>
              <a:r>
                <a:rPr lang="zh-CN" altLang="en-US" sz="1400" b="1" kern="0" dirty="0">
                  <a:solidFill>
                    <a:schemeClr val="tx2">
                      <a:lumMod val="50000"/>
                    </a:schemeClr>
                  </a:solidFill>
                </a:rPr>
                <a:t>活动属性</a:t>
              </a:r>
            </a:p>
            <a:p>
              <a:pPr lvl="0" fontAlgn="base">
                <a:spcAft>
                  <a:spcPct val="0"/>
                </a:spcAft>
                <a:buClr>
                  <a:srgbClr val="FFFFFF"/>
                </a:buClr>
                <a:buSzPct val="75000"/>
                <a:buNone/>
              </a:pPr>
              <a:r>
                <a:rPr lang="zh-CN" altLang="en-US" sz="1400" b="1" kern="0" dirty="0">
                  <a:solidFill>
                    <a:schemeClr val="tx2">
                      <a:lumMod val="50000"/>
                    </a:schemeClr>
                  </a:solidFill>
                </a:rPr>
                <a:t>里程碑清单</a:t>
              </a:r>
            </a:p>
            <a:p>
              <a:pPr lvl="0" fontAlgn="base">
                <a:spcAft>
                  <a:spcPct val="0"/>
                </a:spcAft>
                <a:buClr>
                  <a:srgbClr val="FFFFFF"/>
                </a:buClr>
                <a:buSzPct val="75000"/>
                <a:buNone/>
              </a:pPr>
              <a:r>
                <a:rPr lang="zh-CN" altLang="en-US" sz="1400" b="1" kern="0" dirty="0">
                  <a:solidFill>
                    <a:schemeClr val="tx2">
                      <a:lumMod val="50000"/>
                    </a:schemeClr>
                  </a:solidFill>
                </a:rPr>
                <a:t>变更请求</a:t>
              </a:r>
            </a:p>
            <a:p>
              <a:pPr lvl="0" fontAlgn="base">
                <a:spcAft>
                  <a:spcPct val="0"/>
                </a:spcAft>
                <a:buClr>
                  <a:srgbClr val="FFFFFF"/>
                </a:buClr>
                <a:buSzPct val="75000"/>
                <a:buNone/>
              </a:pPr>
              <a:r>
                <a:rPr lang="zh-CN" altLang="en-US" sz="1400" b="1" kern="0" dirty="0">
                  <a:solidFill>
                    <a:schemeClr val="tx2">
                      <a:lumMod val="50000"/>
                    </a:schemeClr>
                  </a:solidFill>
                </a:rPr>
                <a:t>项目管理计划更新</a:t>
              </a:r>
              <a:endParaRPr kumimoji="1" lang="ja-JP" altLang="en-US" sz="1400" b="0"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endParaRPr>
            </a:p>
          </p:txBody>
        </p:sp>
        <p:sp>
          <p:nvSpPr>
            <p:cNvPr id="19" name="AutoShape 20">
              <a:extLst>
                <a:ext uri="{FF2B5EF4-FFF2-40B4-BE49-F238E27FC236}">
                  <a16:creationId xmlns:a16="http://schemas.microsoft.com/office/drawing/2014/main" id="{929D1D2C-FFB8-4B53-A5B1-82A6B00D045D}"/>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chemeClr val="tx2">
                    <a:lumMod val="50000"/>
                  </a:schemeClr>
                </a:solidFill>
                <a:effectLst/>
                <a:uLnTx/>
                <a:uFillTx/>
                <a:latin typeface="Times New Roman" panose="02020603050405020304" pitchFamily="18" charset="0"/>
                <a:ea typeface="宋体" panose="02010600030101010101" pitchFamily="2" charset="-122"/>
              </a:endParaRPr>
            </a:p>
          </p:txBody>
        </p:sp>
      </p:grpSp>
      <p:grpSp>
        <p:nvGrpSpPr>
          <p:cNvPr id="20" name="Group 21">
            <a:extLst>
              <a:ext uri="{FF2B5EF4-FFF2-40B4-BE49-F238E27FC236}">
                <a16:creationId xmlns:a16="http://schemas.microsoft.com/office/drawing/2014/main" id="{41E4CC9D-50DB-4C62-95B7-86B00E7A1E39}"/>
              </a:ext>
            </a:extLst>
          </p:cNvPr>
          <p:cNvGrpSpPr>
            <a:grpSpLocks/>
          </p:cNvGrpSpPr>
          <p:nvPr/>
        </p:nvGrpSpPr>
        <p:grpSpPr bwMode="auto">
          <a:xfrm>
            <a:off x="4340771" y="3863287"/>
            <a:ext cx="1371600" cy="2209800"/>
            <a:chOff x="816" y="3120"/>
            <a:chExt cx="1512" cy="960"/>
          </a:xfrm>
        </p:grpSpPr>
        <p:sp>
          <p:nvSpPr>
            <p:cNvPr id="21" name="Rectangle 22">
              <a:extLst>
                <a:ext uri="{FF2B5EF4-FFF2-40B4-BE49-F238E27FC236}">
                  <a16:creationId xmlns:a16="http://schemas.microsoft.com/office/drawing/2014/main" id="{5D426856-CC36-4EED-A831-D54F1BE559FF}"/>
                </a:ext>
              </a:extLst>
            </p:cNvPr>
            <p:cNvSpPr>
              <a:spLocks noChangeArrowheads="1"/>
            </p:cNvSpPr>
            <p:nvPr/>
          </p:nvSpPr>
          <p:spPr bwMode="auto">
            <a:xfrm>
              <a:off x="816" y="3360"/>
              <a:ext cx="1512" cy="720"/>
            </a:xfrm>
            <a:prstGeom prst="rect">
              <a:avLst/>
            </a:prstGeom>
            <a:solidFill>
              <a:schemeClr val="accent3">
                <a:lumMod val="20000"/>
                <a:lumOff val="80000"/>
              </a:schemeClr>
            </a:solidFill>
            <a:ln w="9525">
              <a:solidFill>
                <a:srgbClr val="FFFFFF"/>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r>
                <a:rPr kumimoji="1" lang="zh-CN" altLang="en-US" sz="1400" b="1"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rPr>
                <a:t>输出：</a:t>
              </a:r>
            </a:p>
            <a:p>
              <a:pPr lvl="0" fontAlgn="base">
                <a:spcAft>
                  <a:spcPct val="0"/>
                </a:spcAft>
                <a:buClr>
                  <a:srgbClr val="FFFFFF"/>
                </a:buClr>
                <a:buSzPct val="75000"/>
                <a:buNone/>
              </a:pPr>
              <a:r>
                <a:rPr lang="zh-CN" altLang="en-US" sz="1400" b="1" kern="0" dirty="0">
                  <a:solidFill>
                    <a:schemeClr val="tx2">
                      <a:lumMod val="50000"/>
                    </a:schemeClr>
                  </a:solidFill>
                </a:rPr>
                <a:t>项目进度网络图</a:t>
              </a:r>
            </a:p>
            <a:p>
              <a:pPr lvl="0" fontAlgn="base">
                <a:spcAft>
                  <a:spcPct val="0"/>
                </a:spcAft>
                <a:buClr>
                  <a:srgbClr val="FFFFFF"/>
                </a:buClr>
                <a:buSzPct val="75000"/>
                <a:buNone/>
              </a:pPr>
              <a:r>
                <a:rPr lang="zh-CN" altLang="en-US" sz="1400" b="1" kern="0" dirty="0">
                  <a:solidFill>
                    <a:schemeClr val="tx2">
                      <a:lumMod val="50000"/>
                    </a:schemeClr>
                  </a:solidFill>
                </a:rPr>
                <a:t>项目文件更新</a:t>
              </a:r>
              <a:endParaRPr kumimoji="1" lang="en-US" altLang="ja-JP" sz="1400" b="0"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endParaRPr>
            </a:p>
          </p:txBody>
        </p:sp>
        <p:sp>
          <p:nvSpPr>
            <p:cNvPr id="22" name="AutoShape 23">
              <a:extLst>
                <a:ext uri="{FF2B5EF4-FFF2-40B4-BE49-F238E27FC236}">
                  <a16:creationId xmlns:a16="http://schemas.microsoft.com/office/drawing/2014/main" id="{E7F35269-9FB4-4113-8D9A-170319069959}"/>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chemeClr val="tx2">
                    <a:lumMod val="50000"/>
                  </a:schemeClr>
                </a:solidFill>
                <a:effectLst/>
                <a:uLnTx/>
                <a:uFillTx/>
                <a:latin typeface="Times New Roman" panose="02020603050405020304" pitchFamily="18" charset="0"/>
                <a:ea typeface="宋体" panose="02010600030101010101" pitchFamily="2" charset="-122"/>
              </a:endParaRPr>
            </a:p>
          </p:txBody>
        </p:sp>
      </p:grpSp>
      <p:grpSp>
        <p:nvGrpSpPr>
          <p:cNvPr id="23" name="Group 24">
            <a:extLst>
              <a:ext uri="{FF2B5EF4-FFF2-40B4-BE49-F238E27FC236}">
                <a16:creationId xmlns:a16="http://schemas.microsoft.com/office/drawing/2014/main" id="{3C138699-F5ED-421E-AE8B-D4335C0E1703}"/>
              </a:ext>
            </a:extLst>
          </p:cNvPr>
          <p:cNvGrpSpPr>
            <a:grpSpLocks/>
          </p:cNvGrpSpPr>
          <p:nvPr/>
        </p:nvGrpSpPr>
        <p:grpSpPr bwMode="auto">
          <a:xfrm>
            <a:off x="5756945" y="3863287"/>
            <a:ext cx="1295400" cy="2209800"/>
            <a:chOff x="816" y="3120"/>
            <a:chExt cx="1344" cy="960"/>
          </a:xfrm>
        </p:grpSpPr>
        <p:sp>
          <p:nvSpPr>
            <p:cNvPr id="24" name="Rectangle 25">
              <a:extLst>
                <a:ext uri="{FF2B5EF4-FFF2-40B4-BE49-F238E27FC236}">
                  <a16:creationId xmlns:a16="http://schemas.microsoft.com/office/drawing/2014/main" id="{7D75771C-C742-48E2-9933-D2F401434BD7}"/>
                </a:ext>
              </a:extLst>
            </p:cNvPr>
            <p:cNvSpPr>
              <a:spLocks noChangeArrowheads="1"/>
            </p:cNvSpPr>
            <p:nvPr/>
          </p:nvSpPr>
          <p:spPr bwMode="auto">
            <a:xfrm>
              <a:off x="816" y="3360"/>
              <a:ext cx="1344" cy="720"/>
            </a:xfrm>
            <a:prstGeom prst="rect">
              <a:avLst/>
            </a:prstGeom>
            <a:solidFill>
              <a:schemeClr val="accent4">
                <a:lumMod val="20000"/>
                <a:lumOff val="80000"/>
              </a:schemeClr>
            </a:solidFill>
            <a:ln w="9525">
              <a:solidFill>
                <a:srgbClr val="FFFFFF"/>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FFFFFF"/>
                </a:buClr>
                <a:buSzPct val="75000"/>
                <a:buNone/>
              </a:pPr>
              <a:r>
                <a:rPr lang="zh-CN" altLang="en-US" sz="1400" b="1" kern="0" dirty="0">
                  <a:solidFill>
                    <a:schemeClr val="tx2">
                      <a:lumMod val="50000"/>
                    </a:schemeClr>
                  </a:solidFill>
                </a:rPr>
                <a:t>输出：</a:t>
              </a:r>
            </a:p>
            <a:p>
              <a:pPr lvl="0" fontAlgn="base">
                <a:spcAft>
                  <a:spcPct val="0"/>
                </a:spcAft>
                <a:buClr>
                  <a:srgbClr val="FFFFFF"/>
                </a:buClr>
                <a:buSzPct val="75000"/>
                <a:buNone/>
              </a:pPr>
              <a:r>
                <a:rPr lang="zh-CN" altLang="en-US" sz="1400" b="1" kern="0" dirty="0">
                  <a:solidFill>
                    <a:schemeClr val="tx2">
                      <a:lumMod val="50000"/>
                    </a:schemeClr>
                  </a:solidFill>
                </a:rPr>
                <a:t>持续时间估算</a:t>
              </a:r>
            </a:p>
            <a:p>
              <a:pPr lvl="0" fontAlgn="base">
                <a:spcAft>
                  <a:spcPct val="0"/>
                </a:spcAft>
                <a:buClr>
                  <a:srgbClr val="FFFFFF"/>
                </a:buClr>
                <a:buSzPct val="75000"/>
                <a:buNone/>
              </a:pPr>
              <a:r>
                <a:rPr lang="zh-CN" altLang="en-US" sz="1400" b="1" kern="0" dirty="0">
                  <a:solidFill>
                    <a:schemeClr val="tx2">
                      <a:lumMod val="50000"/>
                    </a:schemeClr>
                  </a:solidFill>
                </a:rPr>
                <a:t>估算依据</a:t>
              </a:r>
            </a:p>
            <a:p>
              <a:pPr lvl="0" fontAlgn="base">
                <a:spcAft>
                  <a:spcPct val="0"/>
                </a:spcAft>
                <a:buClr>
                  <a:srgbClr val="FFFFFF"/>
                </a:buClr>
                <a:buSzPct val="75000"/>
                <a:buNone/>
              </a:pPr>
              <a:r>
                <a:rPr lang="zh-CN" altLang="en-US" sz="1400" b="1" kern="0" dirty="0">
                  <a:solidFill>
                    <a:schemeClr val="tx2">
                      <a:lumMod val="50000"/>
                    </a:schemeClr>
                  </a:solidFill>
                </a:rPr>
                <a:t>项目文件更新</a:t>
              </a:r>
              <a:endParaRPr lang="en-US" altLang="ja-JP" sz="1400" b="1" kern="0" dirty="0">
                <a:solidFill>
                  <a:schemeClr val="tx2">
                    <a:lumMod val="50000"/>
                  </a:schemeClr>
                </a:solidFill>
              </a:endParaRPr>
            </a:p>
          </p:txBody>
        </p:sp>
        <p:sp>
          <p:nvSpPr>
            <p:cNvPr id="25" name="AutoShape 26">
              <a:extLst>
                <a:ext uri="{FF2B5EF4-FFF2-40B4-BE49-F238E27FC236}">
                  <a16:creationId xmlns:a16="http://schemas.microsoft.com/office/drawing/2014/main" id="{AA278B8C-9F84-4845-A4F5-1E0BEFD96662}"/>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chemeClr val="tx2">
                    <a:lumMod val="50000"/>
                  </a:schemeClr>
                </a:solidFill>
                <a:effectLst/>
                <a:uLnTx/>
                <a:uFillTx/>
                <a:latin typeface="Times New Roman" panose="02020603050405020304" pitchFamily="18" charset="0"/>
                <a:ea typeface="宋体" panose="02010600030101010101" pitchFamily="2" charset="-122"/>
              </a:endParaRPr>
            </a:p>
          </p:txBody>
        </p:sp>
      </p:grpSp>
      <p:grpSp>
        <p:nvGrpSpPr>
          <p:cNvPr id="26" name="Group 27">
            <a:extLst>
              <a:ext uri="{FF2B5EF4-FFF2-40B4-BE49-F238E27FC236}">
                <a16:creationId xmlns:a16="http://schemas.microsoft.com/office/drawing/2014/main" id="{EE10657F-AAA1-49D8-8310-BE8C8774AC02}"/>
              </a:ext>
            </a:extLst>
          </p:cNvPr>
          <p:cNvGrpSpPr>
            <a:grpSpLocks/>
          </p:cNvGrpSpPr>
          <p:nvPr/>
        </p:nvGrpSpPr>
        <p:grpSpPr bwMode="auto">
          <a:xfrm>
            <a:off x="7221007" y="3821478"/>
            <a:ext cx="1708887" cy="2616853"/>
            <a:chOff x="816" y="3120"/>
            <a:chExt cx="1773" cy="933"/>
          </a:xfrm>
        </p:grpSpPr>
        <p:sp>
          <p:nvSpPr>
            <p:cNvPr id="27" name="Rectangle 28">
              <a:extLst>
                <a:ext uri="{FF2B5EF4-FFF2-40B4-BE49-F238E27FC236}">
                  <a16:creationId xmlns:a16="http://schemas.microsoft.com/office/drawing/2014/main" id="{68E32DF0-BA7E-4154-A6AE-BE39C4799F5D}"/>
                </a:ext>
              </a:extLst>
            </p:cNvPr>
            <p:cNvSpPr>
              <a:spLocks noChangeArrowheads="1"/>
            </p:cNvSpPr>
            <p:nvPr/>
          </p:nvSpPr>
          <p:spPr bwMode="auto">
            <a:xfrm>
              <a:off x="816" y="3333"/>
              <a:ext cx="1773" cy="720"/>
            </a:xfrm>
            <a:prstGeom prst="rect">
              <a:avLst/>
            </a:prstGeom>
            <a:solidFill>
              <a:schemeClr val="accent6">
                <a:lumMod val="20000"/>
                <a:lumOff val="80000"/>
              </a:schemeClr>
            </a:solidFill>
            <a:ln w="9525">
              <a:solidFill>
                <a:srgbClr val="FFFFFF"/>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r>
                <a:rPr kumimoji="1" lang="zh-CN" altLang="en-US" sz="1400" b="1"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rPr>
                <a:t>输出：</a:t>
              </a:r>
            </a:p>
            <a:p>
              <a:pPr lvl="0" fontAlgn="base">
                <a:spcAft>
                  <a:spcPct val="0"/>
                </a:spcAft>
                <a:buClr>
                  <a:srgbClr val="FFFFFF"/>
                </a:buClr>
                <a:buSzPct val="75000"/>
                <a:buNone/>
              </a:pPr>
              <a:r>
                <a:rPr lang="zh-CN" altLang="en-US" sz="1400" b="1" kern="0" dirty="0">
                  <a:solidFill>
                    <a:schemeClr val="tx2">
                      <a:lumMod val="50000"/>
                    </a:schemeClr>
                  </a:solidFill>
                </a:rPr>
                <a:t>进度基准</a:t>
              </a:r>
            </a:p>
            <a:p>
              <a:pPr lvl="0" fontAlgn="base">
                <a:spcAft>
                  <a:spcPct val="0"/>
                </a:spcAft>
                <a:buClr>
                  <a:srgbClr val="FFFFFF"/>
                </a:buClr>
                <a:buSzPct val="75000"/>
                <a:buNone/>
              </a:pPr>
              <a:r>
                <a:rPr lang="zh-CN" altLang="en-US" sz="1400" b="1" kern="0" dirty="0">
                  <a:solidFill>
                    <a:schemeClr val="tx2">
                      <a:lumMod val="50000"/>
                    </a:schemeClr>
                  </a:solidFill>
                </a:rPr>
                <a:t>项目进度计划</a:t>
              </a:r>
            </a:p>
            <a:p>
              <a:pPr lvl="0" fontAlgn="base">
                <a:spcAft>
                  <a:spcPct val="0"/>
                </a:spcAft>
                <a:buClr>
                  <a:srgbClr val="FFFFFF"/>
                </a:buClr>
                <a:buSzPct val="75000"/>
                <a:buNone/>
              </a:pPr>
              <a:r>
                <a:rPr lang="zh-CN" altLang="en-US" sz="1400" b="1" kern="0" dirty="0">
                  <a:solidFill>
                    <a:schemeClr val="tx2">
                      <a:lumMod val="50000"/>
                    </a:schemeClr>
                  </a:solidFill>
                </a:rPr>
                <a:t>进度数据</a:t>
              </a:r>
            </a:p>
            <a:p>
              <a:pPr lvl="0" fontAlgn="base">
                <a:spcAft>
                  <a:spcPct val="0"/>
                </a:spcAft>
                <a:buClr>
                  <a:srgbClr val="FFFFFF"/>
                </a:buClr>
                <a:buSzPct val="75000"/>
                <a:buNone/>
              </a:pPr>
              <a:r>
                <a:rPr lang="zh-CN" altLang="en-US" sz="1400" b="1" kern="0" dirty="0">
                  <a:solidFill>
                    <a:schemeClr val="tx2">
                      <a:lumMod val="50000"/>
                    </a:schemeClr>
                  </a:solidFill>
                </a:rPr>
                <a:t>项目日历</a:t>
              </a:r>
            </a:p>
            <a:p>
              <a:pPr lvl="0" fontAlgn="base">
                <a:spcAft>
                  <a:spcPct val="0"/>
                </a:spcAft>
                <a:buClr>
                  <a:srgbClr val="FFFFFF"/>
                </a:buClr>
                <a:buSzPct val="75000"/>
                <a:buNone/>
              </a:pPr>
              <a:r>
                <a:rPr lang="zh-CN" altLang="en-US" sz="1400" b="1" kern="0" dirty="0">
                  <a:solidFill>
                    <a:schemeClr val="tx2">
                      <a:lumMod val="50000"/>
                    </a:schemeClr>
                  </a:solidFill>
                </a:rPr>
                <a:t>变更请求</a:t>
              </a:r>
            </a:p>
            <a:p>
              <a:pPr lvl="0" fontAlgn="base">
                <a:spcAft>
                  <a:spcPct val="0"/>
                </a:spcAft>
                <a:buClr>
                  <a:srgbClr val="FFFFFF"/>
                </a:buClr>
                <a:buSzPct val="75000"/>
                <a:buNone/>
              </a:pPr>
              <a:r>
                <a:rPr lang="zh-CN" altLang="en-US" sz="1400" b="1" kern="0" dirty="0">
                  <a:solidFill>
                    <a:schemeClr val="tx2">
                      <a:lumMod val="50000"/>
                    </a:schemeClr>
                  </a:solidFill>
                </a:rPr>
                <a:t>项目管理计划更新</a:t>
              </a:r>
            </a:p>
            <a:p>
              <a:pPr lvl="0" fontAlgn="base">
                <a:spcAft>
                  <a:spcPct val="0"/>
                </a:spcAft>
                <a:buClr>
                  <a:srgbClr val="FFFFFF"/>
                </a:buClr>
                <a:buSzPct val="75000"/>
                <a:buNone/>
              </a:pPr>
              <a:r>
                <a:rPr lang="zh-CN" altLang="en-US" sz="1400" b="1" kern="0" dirty="0">
                  <a:solidFill>
                    <a:schemeClr val="tx2">
                      <a:lumMod val="50000"/>
                    </a:schemeClr>
                  </a:solidFill>
                </a:rPr>
                <a:t>项目文件更新</a:t>
              </a:r>
              <a:endParaRPr kumimoji="1" lang="ja-JP" altLang="en-US" sz="1400" b="0"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endParaRPr>
            </a:p>
          </p:txBody>
        </p:sp>
        <p:sp>
          <p:nvSpPr>
            <p:cNvPr id="28" name="AutoShape 29">
              <a:extLst>
                <a:ext uri="{FF2B5EF4-FFF2-40B4-BE49-F238E27FC236}">
                  <a16:creationId xmlns:a16="http://schemas.microsoft.com/office/drawing/2014/main" id="{E93F0400-E576-4472-B9AD-52F041A62098}"/>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chemeClr val="tx2">
                    <a:lumMod val="50000"/>
                  </a:schemeClr>
                </a:solidFill>
                <a:effectLst/>
                <a:uLnTx/>
                <a:uFillTx/>
                <a:latin typeface="Times New Roman" panose="02020603050405020304" pitchFamily="18" charset="0"/>
                <a:ea typeface="宋体" panose="02010600030101010101" pitchFamily="2" charset="-122"/>
              </a:endParaRPr>
            </a:p>
          </p:txBody>
        </p:sp>
      </p:grpSp>
      <p:sp>
        <p:nvSpPr>
          <p:cNvPr id="29" name="AutoShape 9">
            <a:extLst>
              <a:ext uri="{FF2B5EF4-FFF2-40B4-BE49-F238E27FC236}">
                <a16:creationId xmlns:a16="http://schemas.microsoft.com/office/drawing/2014/main" id="{A1FD13BF-22E9-40E3-B174-304BA40730C0}"/>
              </a:ext>
            </a:extLst>
          </p:cNvPr>
          <p:cNvSpPr>
            <a:spLocks noChangeArrowheads="1"/>
          </p:cNvSpPr>
          <p:nvPr/>
        </p:nvSpPr>
        <p:spPr bwMode="auto">
          <a:xfrm>
            <a:off x="5882841" y="3043603"/>
            <a:ext cx="9906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chemeClr val="tx1"/>
                </a:solidFill>
                <a:effectLst/>
              </a:rPr>
              <a:t>估算活动</a:t>
            </a:r>
            <a:endParaRPr lang="en-US" altLang="zh-CN" sz="1600" b="1" dirty="0">
              <a:solidFill>
                <a:schemeClr val="tx1"/>
              </a:solidFill>
              <a:effectLst/>
            </a:endParaRPr>
          </a:p>
          <a:p>
            <a:pPr algn="ctr" fontAlgn="base">
              <a:spcBef>
                <a:spcPct val="0"/>
              </a:spcBef>
              <a:spcAft>
                <a:spcPct val="0"/>
              </a:spcAft>
              <a:buSzPct val="95000"/>
              <a:buFont typeface="Wingdings" panose="05000000000000000000" pitchFamily="2" charset="2"/>
              <a:buNone/>
            </a:pPr>
            <a:r>
              <a:rPr lang="zh-CN" altLang="en-US" sz="1600" b="1" dirty="0">
                <a:solidFill>
                  <a:schemeClr val="tx1"/>
                </a:solidFill>
                <a:effectLst/>
              </a:rPr>
              <a:t>持续时间</a:t>
            </a:r>
            <a:endParaRPr lang="zh-CN" altLang="en-US" sz="1600" b="1" dirty="0">
              <a:solidFill>
                <a:srgbClr val="000066"/>
              </a:solidFill>
              <a:latin typeface="Times New Roman" panose="02020603050405020304" pitchFamily="18" charset="0"/>
            </a:endParaRPr>
          </a:p>
        </p:txBody>
      </p:sp>
      <p:sp>
        <p:nvSpPr>
          <p:cNvPr id="30" name="AutoShape 14">
            <a:extLst>
              <a:ext uri="{FF2B5EF4-FFF2-40B4-BE49-F238E27FC236}">
                <a16:creationId xmlns:a16="http://schemas.microsoft.com/office/drawing/2014/main" id="{42EA4C75-7717-4719-9C97-55E6C648D55A}"/>
              </a:ext>
            </a:extLst>
          </p:cNvPr>
          <p:cNvSpPr>
            <a:spLocks noChangeArrowheads="1"/>
          </p:cNvSpPr>
          <p:nvPr/>
        </p:nvSpPr>
        <p:spPr bwMode="auto">
          <a:xfrm>
            <a:off x="6939525" y="3314012"/>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sp>
        <p:nvSpPr>
          <p:cNvPr id="31" name="Rectangle 28">
            <a:extLst>
              <a:ext uri="{FF2B5EF4-FFF2-40B4-BE49-F238E27FC236}">
                <a16:creationId xmlns:a16="http://schemas.microsoft.com/office/drawing/2014/main" id="{6B8B1D5C-7521-43D8-AA20-59E708607A12}"/>
              </a:ext>
            </a:extLst>
          </p:cNvPr>
          <p:cNvSpPr>
            <a:spLocks noChangeArrowheads="1"/>
          </p:cNvSpPr>
          <p:nvPr/>
        </p:nvSpPr>
        <p:spPr bwMode="auto">
          <a:xfrm>
            <a:off x="9144380" y="4415737"/>
            <a:ext cx="1709151" cy="1657350"/>
          </a:xfrm>
          <a:prstGeom prst="rect">
            <a:avLst/>
          </a:prstGeom>
          <a:solidFill>
            <a:schemeClr val="bg2">
              <a:lumMod val="90000"/>
            </a:schemeClr>
          </a:solidFill>
          <a:ln w="9525">
            <a:solidFill>
              <a:srgbClr val="FFFFFF"/>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r>
              <a:rPr kumimoji="1" lang="zh-CN" altLang="en-US" sz="1400" b="1"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rPr>
              <a:t>输出：</a:t>
            </a:r>
          </a:p>
          <a:p>
            <a:pPr lvl="0" fontAlgn="base">
              <a:spcAft>
                <a:spcPct val="0"/>
              </a:spcAft>
              <a:buClr>
                <a:srgbClr val="FFFFFF"/>
              </a:buClr>
              <a:buSzPct val="75000"/>
              <a:buNone/>
            </a:pPr>
            <a:r>
              <a:rPr lang="zh-CN" altLang="en-US" sz="1400" b="1" kern="0" dirty="0">
                <a:solidFill>
                  <a:schemeClr val="tx2">
                    <a:lumMod val="50000"/>
                  </a:schemeClr>
                </a:solidFill>
              </a:rPr>
              <a:t>工作绩效信息</a:t>
            </a:r>
          </a:p>
          <a:p>
            <a:pPr lvl="0" fontAlgn="base">
              <a:spcAft>
                <a:spcPct val="0"/>
              </a:spcAft>
              <a:buClr>
                <a:srgbClr val="FFFFFF"/>
              </a:buClr>
              <a:buSzPct val="75000"/>
              <a:buNone/>
            </a:pPr>
            <a:r>
              <a:rPr lang="zh-CN" altLang="en-US" sz="1400" b="1" kern="0" dirty="0">
                <a:solidFill>
                  <a:schemeClr val="tx2">
                    <a:lumMod val="50000"/>
                  </a:schemeClr>
                </a:solidFill>
              </a:rPr>
              <a:t>进度预测</a:t>
            </a:r>
          </a:p>
          <a:p>
            <a:pPr lvl="0" fontAlgn="base">
              <a:spcAft>
                <a:spcPct val="0"/>
              </a:spcAft>
              <a:buClr>
                <a:srgbClr val="FFFFFF"/>
              </a:buClr>
              <a:buSzPct val="75000"/>
              <a:buNone/>
            </a:pPr>
            <a:r>
              <a:rPr lang="zh-CN" altLang="en-US" sz="1400" b="1" kern="0" dirty="0">
                <a:solidFill>
                  <a:schemeClr val="tx2">
                    <a:lumMod val="50000"/>
                  </a:schemeClr>
                </a:solidFill>
              </a:rPr>
              <a:t>变更请求</a:t>
            </a:r>
          </a:p>
          <a:p>
            <a:pPr lvl="0" fontAlgn="base">
              <a:spcAft>
                <a:spcPct val="0"/>
              </a:spcAft>
              <a:buClr>
                <a:srgbClr val="FFFFFF"/>
              </a:buClr>
              <a:buSzPct val="75000"/>
              <a:buNone/>
            </a:pPr>
            <a:r>
              <a:rPr lang="zh-CN" altLang="en-US" sz="1400" b="1" kern="0" dirty="0">
                <a:solidFill>
                  <a:schemeClr val="tx2">
                    <a:lumMod val="50000"/>
                  </a:schemeClr>
                </a:solidFill>
              </a:rPr>
              <a:t>项目管理计划更新</a:t>
            </a:r>
          </a:p>
          <a:p>
            <a:pPr lvl="0" fontAlgn="base">
              <a:spcAft>
                <a:spcPct val="0"/>
              </a:spcAft>
              <a:buClr>
                <a:srgbClr val="FFFFFF"/>
              </a:buClr>
              <a:buSzPct val="75000"/>
              <a:buNone/>
            </a:pPr>
            <a:r>
              <a:rPr lang="zh-CN" altLang="en-US" sz="1400" b="1" kern="0" dirty="0">
                <a:solidFill>
                  <a:schemeClr val="tx2">
                    <a:lumMod val="50000"/>
                  </a:schemeClr>
                </a:solidFill>
              </a:rPr>
              <a:t>项目文件更新</a:t>
            </a:r>
            <a:endParaRPr kumimoji="1" lang="ja-JP" altLang="en-US" sz="1400" b="0"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endParaRPr>
          </a:p>
        </p:txBody>
      </p:sp>
      <p:sp>
        <p:nvSpPr>
          <p:cNvPr id="32" name="AutoShape 29">
            <a:extLst>
              <a:ext uri="{FF2B5EF4-FFF2-40B4-BE49-F238E27FC236}">
                <a16:creationId xmlns:a16="http://schemas.microsoft.com/office/drawing/2014/main" id="{A2341D70-E317-4904-9F04-E04AC388F61D}"/>
              </a:ext>
            </a:extLst>
          </p:cNvPr>
          <p:cNvSpPr>
            <a:spLocks noChangeArrowheads="1"/>
          </p:cNvSpPr>
          <p:nvPr/>
        </p:nvSpPr>
        <p:spPr bwMode="auto">
          <a:xfrm>
            <a:off x="9865085" y="3863287"/>
            <a:ext cx="138793" cy="55245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chemeClr val="tx2">
                  <a:lumMod val="50000"/>
                </a:schemeClr>
              </a:solidFill>
              <a:effectLst/>
              <a:uLnTx/>
              <a:uFillTx/>
              <a:latin typeface="Times New Roman" panose="02020603050405020304" pitchFamily="18" charset="0"/>
              <a:ea typeface="宋体" panose="02010600030101010101" pitchFamily="2" charset="-122"/>
            </a:endParaRPr>
          </a:p>
        </p:txBody>
      </p:sp>
      <p:sp>
        <p:nvSpPr>
          <p:cNvPr id="33" name="矩形 32">
            <a:extLst>
              <a:ext uri="{FF2B5EF4-FFF2-40B4-BE49-F238E27FC236}">
                <a16:creationId xmlns:a16="http://schemas.microsoft.com/office/drawing/2014/main" id="{8118F50D-F749-4A90-B28C-C90C2EE5AB5D}"/>
              </a:ext>
            </a:extLst>
          </p:cNvPr>
          <p:cNvSpPr/>
          <p:nvPr/>
        </p:nvSpPr>
        <p:spPr>
          <a:xfrm>
            <a:off x="4416971" y="2352750"/>
            <a:ext cx="1475084" cy="400110"/>
          </a:xfrm>
          <a:prstGeom prst="rect">
            <a:avLst/>
          </a:prstGeom>
        </p:spPr>
        <p:txBody>
          <a:bodyPr wrap="none">
            <a:spAutoFit/>
          </a:bodyPr>
          <a:lstStyle/>
          <a:p>
            <a:pPr algn="just"/>
            <a:r>
              <a:rPr lang="zh-CN" altLang="en-US" sz="2000" b="1" dirty="0">
                <a:solidFill>
                  <a:srgbClr val="FF0000"/>
                </a:solidFill>
                <a:latin typeface="Times New Roman" panose="02020603050405020304" pitchFamily="18" charset="0"/>
              </a:rPr>
              <a:t>规划过程组</a:t>
            </a:r>
          </a:p>
        </p:txBody>
      </p:sp>
      <p:sp>
        <p:nvSpPr>
          <p:cNvPr id="34" name="矩形 33">
            <a:extLst>
              <a:ext uri="{FF2B5EF4-FFF2-40B4-BE49-F238E27FC236}">
                <a16:creationId xmlns:a16="http://schemas.microsoft.com/office/drawing/2014/main" id="{7D89CEE8-FFC4-401D-B58F-44EC5BBE1917}"/>
              </a:ext>
            </a:extLst>
          </p:cNvPr>
          <p:cNvSpPr/>
          <p:nvPr/>
        </p:nvSpPr>
        <p:spPr>
          <a:xfrm>
            <a:off x="8165985" y="2352750"/>
            <a:ext cx="2398413" cy="400110"/>
          </a:xfrm>
          <a:prstGeom prst="rect">
            <a:avLst/>
          </a:prstGeom>
        </p:spPr>
        <p:txBody>
          <a:bodyPr wrap="none">
            <a:spAutoFit/>
          </a:bodyPr>
          <a:lstStyle/>
          <a:p>
            <a:pPr lvl="2" algn="just"/>
            <a:r>
              <a:rPr lang="zh-CN" altLang="en-US" sz="2000" b="1" dirty="0">
                <a:solidFill>
                  <a:srgbClr val="FF0000"/>
                </a:solidFill>
                <a:latin typeface="Times New Roman" panose="02020603050405020304" pitchFamily="18" charset="0"/>
              </a:rPr>
              <a:t>监控过程组</a:t>
            </a:r>
          </a:p>
        </p:txBody>
      </p:sp>
      <p:sp>
        <p:nvSpPr>
          <p:cNvPr id="35" name="矩形 34">
            <a:extLst>
              <a:ext uri="{FF2B5EF4-FFF2-40B4-BE49-F238E27FC236}">
                <a16:creationId xmlns:a16="http://schemas.microsoft.com/office/drawing/2014/main" id="{57BC0F53-DFE1-4734-8FAD-E2CAD56DAEE0}"/>
              </a:ext>
            </a:extLst>
          </p:cNvPr>
          <p:cNvSpPr/>
          <p:nvPr/>
        </p:nvSpPr>
        <p:spPr>
          <a:xfrm>
            <a:off x="649662" y="2007814"/>
            <a:ext cx="3278462" cy="461665"/>
          </a:xfrm>
          <a:prstGeom prst="rect">
            <a:avLst/>
          </a:prstGeom>
        </p:spPr>
        <p:txBody>
          <a:bodyPr wrap="none">
            <a:spAutoFit/>
          </a:bodyPr>
          <a:lstStyle/>
          <a:p>
            <a:pPr algn="just"/>
            <a:r>
              <a:rPr lang="zh-CN" altLang="en-US" sz="2400" b="1" dirty="0">
                <a:solidFill>
                  <a:srgbClr val="800000"/>
                </a:solidFill>
                <a:latin typeface="微软雅黑" panose="020B0503020204020204" pitchFamily="34" charset="-122"/>
                <a:ea typeface="微软雅黑" panose="020B0503020204020204" pitchFamily="34" charset="-122"/>
              </a:rPr>
              <a:t>项目进度管理主要过程</a:t>
            </a:r>
            <a:endParaRPr lang="en-US" altLang="zh-CN" sz="2400" b="1" dirty="0">
              <a:solidFill>
                <a:srgbClr val="800000"/>
              </a:solidFill>
              <a:latin typeface="微软雅黑" panose="020B0503020204020204" pitchFamily="34" charset="-122"/>
              <a:ea typeface="微软雅黑" panose="020B0503020204020204" pitchFamily="34" charset="-122"/>
            </a:endParaRPr>
          </a:p>
        </p:txBody>
      </p:sp>
      <p:sp>
        <p:nvSpPr>
          <p:cNvPr id="37" name="文本框 36">
            <a:extLst>
              <a:ext uri="{FF2B5EF4-FFF2-40B4-BE49-F238E27FC236}">
                <a16:creationId xmlns:a16="http://schemas.microsoft.com/office/drawing/2014/main" id="{59078548-5736-4CEF-8C60-675AA3502B68}"/>
              </a:ext>
            </a:extLst>
          </p:cNvPr>
          <p:cNvSpPr txBox="1"/>
          <p:nvPr/>
        </p:nvSpPr>
        <p:spPr>
          <a:xfrm>
            <a:off x="649663" y="1274923"/>
            <a:ext cx="10773712" cy="757130"/>
          </a:xfrm>
          <a:prstGeom prst="rect">
            <a:avLst/>
          </a:prstGeom>
          <a:noFill/>
        </p:spPr>
        <p:txBody>
          <a:bodyPr wrap="square">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项目进度（时间或工期）管理</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是涉及确保项目准时完成所必需的过程。</a:t>
            </a:r>
            <a:r>
              <a:rPr kumimoji="0" lang="zh-CN"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经批准的项目进度计划就是进度基准。</a:t>
            </a:r>
            <a:endPar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32812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strips(downLeft)">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up)">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up)">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wipe(up)">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up)">
                                      <p:cBhvr>
                                        <p:cTn id="2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91EC7E-062E-42B6-BB70-FDB6952E905C}"/>
              </a:ext>
            </a:extLst>
          </p:cNvPr>
          <p:cNvSpPr>
            <a:spLocks noGrp="1"/>
          </p:cNvSpPr>
          <p:nvPr>
            <p:ph type="title"/>
          </p:nvPr>
        </p:nvSpPr>
        <p:spPr>
          <a:xfrm>
            <a:off x="613885" y="764293"/>
            <a:ext cx="7501415" cy="437186"/>
          </a:xfrm>
        </p:spPr>
        <p:txBody>
          <a:bodyPr/>
          <a:lstStyle/>
          <a:p>
            <a:r>
              <a:rPr lang="en-US" altLang="zh-CN" dirty="0"/>
              <a:t>12.1 </a:t>
            </a:r>
            <a:r>
              <a:rPr lang="zh-CN" altLang="en-US" dirty="0"/>
              <a:t>项目进度（时间）管理概述</a:t>
            </a:r>
          </a:p>
        </p:txBody>
      </p:sp>
      <p:sp>
        <p:nvSpPr>
          <p:cNvPr id="6" name="Rectangle 3">
            <a:extLst>
              <a:ext uri="{FF2B5EF4-FFF2-40B4-BE49-F238E27FC236}">
                <a16:creationId xmlns:a16="http://schemas.microsoft.com/office/drawing/2014/main" id="{174EC9EC-AC66-4E63-81BC-07C11A8C7724}"/>
              </a:ext>
            </a:extLst>
          </p:cNvPr>
          <p:cNvSpPr txBox="1">
            <a:spLocks noChangeArrowheads="1"/>
          </p:cNvSpPr>
          <p:nvPr/>
        </p:nvSpPr>
        <p:spPr>
          <a:xfrm>
            <a:off x="494269" y="1360902"/>
            <a:ext cx="11129487" cy="452091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90000"/>
              </a:lnSpc>
              <a:buNone/>
            </a:pPr>
            <a:r>
              <a:rPr lang="zh-CN" altLang="en-US" sz="2400" b="1" dirty="0"/>
              <a:t>项目进度安排的重要性</a:t>
            </a:r>
            <a:endParaRPr lang="en-US" altLang="zh-CN" sz="2400" b="1" dirty="0"/>
          </a:p>
          <a:p>
            <a:pPr marL="0" indent="0">
              <a:lnSpc>
                <a:spcPct val="90000"/>
              </a:lnSpc>
              <a:buNone/>
            </a:pPr>
            <a:endParaRPr lang="zh-CN" altLang="en-US" sz="2400" dirty="0"/>
          </a:p>
        </p:txBody>
      </p:sp>
      <p:pic>
        <p:nvPicPr>
          <p:cNvPr id="2" name="图片 1">
            <a:extLst>
              <a:ext uri="{FF2B5EF4-FFF2-40B4-BE49-F238E27FC236}">
                <a16:creationId xmlns:a16="http://schemas.microsoft.com/office/drawing/2014/main" id="{BF681B27-F402-4245-8F4C-A91E10CB1C2D}"/>
              </a:ext>
            </a:extLst>
          </p:cNvPr>
          <p:cNvPicPr>
            <a:picLocks noChangeAspect="1"/>
          </p:cNvPicPr>
          <p:nvPr/>
        </p:nvPicPr>
        <p:blipFill>
          <a:blip r:embed="rId3"/>
          <a:stretch>
            <a:fillRect/>
          </a:stretch>
        </p:blipFill>
        <p:spPr>
          <a:xfrm>
            <a:off x="7416800" y="764293"/>
            <a:ext cx="4280931" cy="5786982"/>
          </a:xfrm>
          <a:prstGeom prst="rect">
            <a:avLst/>
          </a:prstGeom>
        </p:spPr>
      </p:pic>
      <p:sp>
        <p:nvSpPr>
          <p:cNvPr id="7" name="文本框 6">
            <a:extLst>
              <a:ext uri="{FF2B5EF4-FFF2-40B4-BE49-F238E27FC236}">
                <a16:creationId xmlns:a16="http://schemas.microsoft.com/office/drawing/2014/main" id="{69DE3360-EEAD-4E15-8529-86B7ECC84C53}"/>
              </a:ext>
            </a:extLst>
          </p:cNvPr>
          <p:cNvSpPr txBox="1"/>
          <p:nvPr/>
        </p:nvSpPr>
        <p:spPr>
          <a:xfrm>
            <a:off x="568244" y="1949285"/>
            <a:ext cx="6728940" cy="2585323"/>
          </a:xfrm>
          <a:prstGeom prst="rect">
            <a:avLst/>
          </a:prstGeom>
          <a:noFill/>
        </p:spPr>
        <p:txBody>
          <a:bodyPr wrap="square">
            <a:spAutoFit/>
          </a:bodyPr>
          <a:lstStyle/>
          <a:p>
            <a:pPr algn="just"/>
            <a:r>
              <a:rPr lang="zh-CN" altLang="en-US" sz="1800" b="1" dirty="0">
                <a:latin typeface="微软雅黑" panose="020B0503020204020204" pitchFamily="34" charset="-122"/>
                <a:ea typeface="微软雅黑" panose="020B0503020204020204" pitchFamily="34" charset="-122"/>
              </a:rPr>
              <a:t>项目进度计划提供详尽的计划，说明项目如何以及何时交付项目范围中定义的产品、服务和成果，是一种用于沟通和管理相关方期望的工具，为绩效报告提供了依据。</a:t>
            </a:r>
            <a:endParaRPr lang="en-US" altLang="zh-CN" sz="1800" b="1" dirty="0">
              <a:latin typeface="微软雅黑" panose="020B0503020204020204" pitchFamily="34" charset="-122"/>
              <a:ea typeface="微软雅黑" panose="020B0503020204020204" pitchFamily="34" charset="-122"/>
            </a:endParaRPr>
          </a:p>
          <a:p>
            <a:pPr algn="just"/>
            <a:endParaRPr lang="en-US" altLang="zh-CN" sz="1800" b="1" dirty="0">
              <a:latin typeface="微软雅黑" panose="020B0503020204020204" pitchFamily="34" charset="-122"/>
              <a:ea typeface="微软雅黑" panose="020B0503020204020204" pitchFamily="34" charset="-122"/>
            </a:endParaRPr>
          </a:p>
          <a:p>
            <a:pPr algn="just"/>
            <a:r>
              <a:rPr lang="zh-CN" altLang="en-US" sz="1800" b="1" dirty="0">
                <a:latin typeface="微软雅黑" panose="020B0503020204020204" pitchFamily="34" charset="-122"/>
                <a:ea typeface="微软雅黑" panose="020B0503020204020204" pitchFamily="34" charset="-122"/>
              </a:rPr>
              <a:t>许多</a:t>
            </a:r>
            <a:r>
              <a:rPr lang="en-US" altLang="zh-CN" sz="1800" b="1" dirty="0">
                <a:latin typeface="微软雅黑" panose="020B0503020204020204" pitchFamily="34" charset="-122"/>
                <a:ea typeface="微软雅黑" panose="020B0503020204020204" pitchFamily="34" charset="-122"/>
              </a:rPr>
              <a:t>IT</a:t>
            </a:r>
            <a:r>
              <a:rPr lang="zh-CN" altLang="en-US" sz="1800" b="1" dirty="0">
                <a:latin typeface="微软雅黑" panose="020B0503020204020204" pitchFamily="34" charset="-122"/>
                <a:ea typeface="微软雅黑" panose="020B0503020204020204" pitchFamily="34" charset="-122"/>
              </a:rPr>
              <a:t>项目在项目范围、时间及成本管理方面都是失败的。项目经理也常把按时交付项目视为最大的挑战和引发冲突的主要原因。</a:t>
            </a:r>
            <a:endParaRPr lang="en-US" altLang="zh-CN" sz="1800" b="1" dirty="0">
              <a:latin typeface="微软雅黑" panose="020B0503020204020204" pitchFamily="34" charset="-122"/>
              <a:ea typeface="微软雅黑" panose="020B0503020204020204" pitchFamily="34" charset="-122"/>
            </a:endParaRPr>
          </a:p>
          <a:p>
            <a:pPr algn="just"/>
            <a:endParaRPr lang="en-US" altLang="zh-CN" b="1" dirty="0">
              <a:latin typeface="微软雅黑" panose="020B0503020204020204" pitchFamily="34" charset="-122"/>
              <a:ea typeface="微软雅黑" panose="020B0503020204020204" pitchFamily="34" charset="-122"/>
            </a:endParaRPr>
          </a:p>
          <a:p>
            <a:pPr algn="l"/>
            <a:r>
              <a:rPr lang="zh-CN" altLang="en-US" sz="1800" b="1" i="0" u="none" strike="noStrike" baseline="0" dirty="0">
                <a:solidFill>
                  <a:srgbClr val="FF0000"/>
                </a:solidFill>
                <a:latin typeface="微软雅黑" panose="020B0503020204020204" pitchFamily="34" charset="-122"/>
                <a:ea typeface="微软雅黑" panose="020B0503020204020204" pitchFamily="34" charset="-122"/>
              </a:rPr>
              <a:t>鉴于引发进度冲突的种种可能性，做好项目时间管理非常重要，因为这有助于项目经理在这个领域中不断地提高绩效。</a:t>
            </a:r>
            <a:endParaRPr lang="zh-CN" altLang="en-US" sz="1800" b="1" dirty="0">
              <a:solidFill>
                <a:srgbClr val="FF0000"/>
              </a:solidFill>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33B3F03C-7C13-4FA5-A1E1-1C9F3CE42C02}"/>
              </a:ext>
            </a:extLst>
          </p:cNvPr>
          <p:cNvSpPr txBox="1"/>
          <p:nvPr/>
        </p:nvSpPr>
        <p:spPr>
          <a:xfrm>
            <a:off x="701392" y="4898532"/>
            <a:ext cx="6595792" cy="855234"/>
          </a:xfrm>
          <a:prstGeom prst="rect">
            <a:avLst/>
          </a:prstGeom>
          <a:noFill/>
        </p:spPr>
        <p:txBody>
          <a:bodyPr wrap="square">
            <a:spAutoFit/>
          </a:bodyPr>
          <a:lstStyle/>
          <a:p>
            <a:pPr eaLnBrk="1" hangingPunct="1">
              <a:lnSpc>
                <a:spcPct val="130000"/>
              </a:lnSpc>
              <a:spcAft>
                <a:spcPct val="30000"/>
              </a:spcAft>
              <a:defRPr/>
            </a:pPr>
            <a:r>
              <a:rPr lang="zh-CN" altLang="en-US" sz="2000" b="1" dirty="0">
                <a:solidFill>
                  <a:srgbClr val="00B0F0"/>
                </a:solidFill>
                <a:latin typeface="微软雅黑" panose="020B0503020204020204" pitchFamily="34" charset="-122"/>
                <a:ea typeface="微软雅黑" panose="020B0503020204020204" pitchFamily="34" charset="-122"/>
              </a:rPr>
              <a:t>时间是最稀缺的资源，只有它得到管理，其他东西才能加以管理。</a:t>
            </a:r>
            <a:r>
              <a:rPr lang="en-US" altLang="zh-CN" sz="2000" b="1" dirty="0">
                <a:solidFill>
                  <a:srgbClr val="00B0F0"/>
                </a:solidFill>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彼得</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德鲁克</a:t>
            </a:r>
            <a:endParaRPr lang="en-US" altLang="zh-CN" sz="20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15813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25916D-4BF5-4313-9A1F-BD14BD4E90EE}"/>
              </a:ext>
            </a:extLst>
          </p:cNvPr>
          <p:cNvSpPr>
            <a:spLocks noGrp="1"/>
          </p:cNvSpPr>
          <p:nvPr>
            <p:ph type="title"/>
          </p:nvPr>
        </p:nvSpPr>
        <p:spPr/>
        <p:txBody>
          <a:bodyPr/>
          <a:lstStyle/>
          <a:p>
            <a:r>
              <a:rPr lang="en-US" altLang="zh-CN" dirty="0"/>
              <a:t>12.1 </a:t>
            </a:r>
            <a:r>
              <a:rPr lang="zh-CN" altLang="en-US" dirty="0"/>
              <a:t>项目进度（时间）管理概述</a:t>
            </a:r>
          </a:p>
        </p:txBody>
      </p:sp>
      <p:sp>
        <p:nvSpPr>
          <p:cNvPr id="3" name="Rectangle 3">
            <a:extLst>
              <a:ext uri="{FF2B5EF4-FFF2-40B4-BE49-F238E27FC236}">
                <a16:creationId xmlns:a16="http://schemas.microsoft.com/office/drawing/2014/main" id="{50010277-2AE8-45C4-9855-DADD16CE3BD1}"/>
              </a:ext>
            </a:extLst>
          </p:cNvPr>
          <p:cNvSpPr txBox="1">
            <a:spLocks noChangeArrowheads="1"/>
          </p:cNvSpPr>
          <p:nvPr/>
        </p:nvSpPr>
        <p:spPr>
          <a:xfrm>
            <a:off x="494269" y="1360902"/>
            <a:ext cx="11129487" cy="1923719"/>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90000"/>
              </a:lnSpc>
              <a:buNone/>
            </a:pPr>
            <a:r>
              <a:rPr lang="zh-CN" altLang="en-US" sz="2400" b="1" dirty="0"/>
              <a:t>项目进度管理的发展趋势和新兴实践</a:t>
            </a:r>
            <a:endParaRPr lang="en-US" altLang="zh-CN" sz="2400" b="1" dirty="0"/>
          </a:p>
          <a:p>
            <a:pPr marL="0" indent="0" algn="just">
              <a:buNone/>
            </a:pPr>
            <a:r>
              <a:rPr lang="zh-CN" altLang="en-US" sz="1800" b="0" i="0" u="none" strike="noStrike" baseline="0" dirty="0">
                <a:latin typeface="SourceHanSansSC-Regular"/>
              </a:rPr>
              <a:t>    </a:t>
            </a:r>
            <a:r>
              <a:rPr lang="zh-CN" altLang="en-US" sz="2000" b="0" i="0" u="none" strike="noStrike" baseline="0" dirty="0">
                <a:latin typeface="SourceHanSansSC-Regular"/>
              </a:rPr>
              <a:t>全球市场瞬息万变，竞争激烈，具有很高的不确定性和不可预测性，很难定义长期范围，因此，为应对环境变化，根据具体情景有效采用和裁剪开发实践就日益重要。适应型规划虽然制定了计划，但也意识到工作开始之后，优先级可能发生改变，需要修改计划以反映新的优先级。</a:t>
            </a:r>
            <a:endParaRPr lang="en-US" altLang="zh-CN" sz="2000" b="0" i="0" u="none" strike="noStrike" baseline="0" dirty="0">
              <a:latin typeface="Wingdings-Regular"/>
            </a:endParaRPr>
          </a:p>
          <a:p>
            <a:pPr>
              <a:lnSpc>
                <a:spcPct val="90000"/>
              </a:lnSpc>
              <a:buFont typeface="Wingdings" panose="05000000000000000000" pitchFamily="2" charset="2"/>
              <a:buChar char="Ø"/>
            </a:pPr>
            <a:r>
              <a:rPr lang="zh-CN" altLang="en-US" sz="2000" b="1" i="0" u="none" strike="noStrike" baseline="0" dirty="0">
                <a:latin typeface="SourceHanSansSC-Bold"/>
              </a:rPr>
              <a:t>具有未完项的迭代型进度计划</a:t>
            </a:r>
            <a:endParaRPr lang="en-US" altLang="zh-CN" sz="2000" b="1" i="0" u="none" strike="noStrike" baseline="0" dirty="0">
              <a:latin typeface="SourceHanSansSC-Bold"/>
            </a:endParaRPr>
          </a:p>
          <a:p>
            <a:pPr>
              <a:lnSpc>
                <a:spcPct val="90000"/>
              </a:lnSpc>
              <a:buFont typeface="Wingdings" panose="05000000000000000000" pitchFamily="2" charset="2"/>
              <a:buChar char="Ø"/>
            </a:pPr>
            <a:r>
              <a:rPr lang="zh-CN" altLang="en-US" sz="2000" b="1" i="0" u="none" strike="noStrike" baseline="0" dirty="0">
                <a:latin typeface="SourceHanSansSC-Bold"/>
              </a:rPr>
              <a:t>按需进度计划</a:t>
            </a:r>
            <a:endParaRPr lang="zh-CN" altLang="en-US" sz="2000" dirty="0"/>
          </a:p>
        </p:txBody>
      </p:sp>
      <p:sp>
        <p:nvSpPr>
          <p:cNvPr id="4" name="Rectangle 3">
            <a:extLst>
              <a:ext uri="{FF2B5EF4-FFF2-40B4-BE49-F238E27FC236}">
                <a16:creationId xmlns:a16="http://schemas.microsoft.com/office/drawing/2014/main" id="{41019A14-FB42-48C9-9F1A-1BEC6E492496}"/>
              </a:ext>
            </a:extLst>
          </p:cNvPr>
          <p:cNvSpPr txBox="1">
            <a:spLocks noChangeArrowheads="1"/>
          </p:cNvSpPr>
          <p:nvPr/>
        </p:nvSpPr>
        <p:spPr>
          <a:xfrm>
            <a:off x="613885" y="3887534"/>
            <a:ext cx="11129487" cy="1923719"/>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90000"/>
              </a:lnSpc>
              <a:buNone/>
            </a:pPr>
            <a:r>
              <a:rPr lang="zh-CN" altLang="en-US" sz="2400" b="1" dirty="0"/>
              <a:t>关于敏捷</a:t>
            </a:r>
            <a:r>
              <a:rPr lang="en-US" altLang="zh-CN" sz="2400" b="1" dirty="0"/>
              <a:t>/</a:t>
            </a:r>
            <a:r>
              <a:rPr lang="zh-CN" altLang="en-US" sz="2400" b="1" dirty="0"/>
              <a:t>适应型环境的考虑因素</a:t>
            </a:r>
            <a:endParaRPr lang="en-US" altLang="zh-CN" sz="2400" b="1" dirty="0"/>
          </a:p>
          <a:p>
            <a:pPr marL="0" indent="0">
              <a:lnSpc>
                <a:spcPct val="90000"/>
              </a:lnSpc>
              <a:buNone/>
            </a:pPr>
            <a:r>
              <a:rPr lang="zh-CN" altLang="en-US" sz="2000" dirty="0">
                <a:latin typeface="SourceHanSansSC-Regular"/>
              </a:rPr>
              <a:t>      适应型方法采用短周期来开展工作、审查结果，并在必要时做出调整。这些周期可针对方法和可交付成果的适用性提供快速反馈，通常表现为迭代型进度计划和拉动式按需进度计划</a:t>
            </a:r>
            <a:endParaRPr lang="en-US" altLang="zh-CN" sz="2000" dirty="0">
              <a:latin typeface="SourceHanSansSC-Regular"/>
            </a:endParaRPr>
          </a:p>
          <a:p>
            <a:pPr marL="0" indent="0" algn="l">
              <a:buNone/>
            </a:pPr>
            <a:r>
              <a:rPr lang="zh-CN" altLang="en-US" sz="2000" b="0" i="0" u="none" strike="noStrike" baseline="0" dirty="0">
                <a:latin typeface="SourceHanSansSC-Regular"/>
              </a:rPr>
              <a:t>      无论是采用预测型开发生命周期来管理项目，还是在适应型环境下管理项目，项目经理的角色都不变。但是，要成功实施适应型方法，项目经理需要了解如何高效使用相关的工具和技术。</a:t>
            </a:r>
            <a:endParaRPr lang="zh-CN" altLang="en-US" sz="2000" dirty="0"/>
          </a:p>
        </p:txBody>
      </p:sp>
    </p:spTree>
    <p:extLst>
      <p:ext uri="{BB962C8B-B14F-4D97-AF65-F5344CB8AC3E}">
        <p14:creationId xmlns:p14="http://schemas.microsoft.com/office/powerpoint/2010/main" val="3792460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91EC7E-062E-42B6-BB70-FDB6952E905C}"/>
              </a:ext>
            </a:extLst>
          </p:cNvPr>
          <p:cNvSpPr>
            <a:spLocks noGrp="1"/>
          </p:cNvSpPr>
          <p:nvPr>
            <p:ph type="title"/>
          </p:nvPr>
        </p:nvSpPr>
        <p:spPr/>
        <p:txBody>
          <a:bodyPr/>
          <a:lstStyle/>
          <a:p>
            <a:r>
              <a:rPr lang="en-US" altLang="zh-CN" dirty="0"/>
              <a:t>12.2 </a:t>
            </a:r>
            <a:r>
              <a:rPr lang="zh-CN" altLang="en-US" dirty="0"/>
              <a:t>规划进度管理</a:t>
            </a:r>
          </a:p>
        </p:txBody>
      </p:sp>
      <p:sp>
        <p:nvSpPr>
          <p:cNvPr id="4" name="内容占位符 2">
            <a:extLst>
              <a:ext uri="{FF2B5EF4-FFF2-40B4-BE49-F238E27FC236}">
                <a16:creationId xmlns:a16="http://schemas.microsoft.com/office/drawing/2014/main" id="{C6D9E9E1-C51E-4439-A71D-9D8AF10C1EBE}"/>
              </a:ext>
            </a:extLst>
          </p:cNvPr>
          <p:cNvSpPr txBox="1">
            <a:spLocks/>
          </p:cNvSpPr>
          <p:nvPr/>
        </p:nvSpPr>
        <p:spPr>
          <a:xfrm>
            <a:off x="541424" y="1328056"/>
            <a:ext cx="11129485" cy="101237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a:buNone/>
              <a:defRPr/>
            </a:pPr>
            <a:r>
              <a:rPr lang="zh-CN" altLang="en-US" sz="2400" b="1" dirty="0"/>
              <a:t>规划进度管理</a:t>
            </a:r>
            <a:endParaRPr lang="en-US" altLang="zh-CN" sz="2400" b="1" dirty="0"/>
          </a:p>
          <a:p>
            <a:pPr marL="457200" lvl="1" indent="0">
              <a:buNone/>
              <a:defRPr/>
            </a:pPr>
            <a:r>
              <a:rPr lang="zh-CN" altLang="en-US" sz="2400" dirty="0"/>
              <a:t>为规划、编制、管理、执行和控制项目进度而制定政策、程序 和文档的过程。</a:t>
            </a:r>
            <a:endParaRPr lang="en-US" altLang="zh-CN" sz="2400" dirty="0"/>
          </a:p>
          <a:p>
            <a:pPr marL="914400" lvl="2" indent="0">
              <a:buFontTx/>
              <a:buNone/>
              <a:defRPr/>
            </a:pPr>
            <a:endParaRPr lang="zh-CN" altLang="en-US" dirty="0"/>
          </a:p>
        </p:txBody>
      </p:sp>
      <p:pic>
        <p:nvPicPr>
          <p:cNvPr id="7" name="图片 1">
            <a:extLst>
              <a:ext uri="{FF2B5EF4-FFF2-40B4-BE49-F238E27FC236}">
                <a16:creationId xmlns:a16="http://schemas.microsoft.com/office/drawing/2014/main" id="{EDF91F42-6780-433B-A70E-8932DA3EE9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8631" y="2586264"/>
            <a:ext cx="9540000" cy="3123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87972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2C9B48-1639-4BA0-ADDD-B09A81E93415}"/>
              </a:ext>
            </a:extLst>
          </p:cNvPr>
          <p:cNvSpPr>
            <a:spLocks noGrp="1"/>
          </p:cNvSpPr>
          <p:nvPr>
            <p:ph type="title"/>
          </p:nvPr>
        </p:nvSpPr>
        <p:spPr/>
        <p:txBody>
          <a:bodyPr/>
          <a:lstStyle/>
          <a:p>
            <a:r>
              <a:rPr lang="en-US" altLang="zh-CN" dirty="0"/>
              <a:t>12.2 </a:t>
            </a:r>
            <a:r>
              <a:rPr lang="zh-CN" altLang="en-US" dirty="0"/>
              <a:t>规划进度管理</a:t>
            </a:r>
          </a:p>
        </p:txBody>
      </p:sp>
      <p:sp>
        <p:nvSpPr>
          <p:cNvPr id="3" name="内容占位符 2">
            <a:extLst>
              <a:ext uri="{FF2B5EF4-FFF2-40B4-BE49-F238E27FC236}">
                <a16:creationId xmlns:a16="http://schemas.microsoft.com/office/drawing/2014/main" id="{53F5D710-388C-42A6-AFBC-25911F6294C8}"/>
              </a:ext>
            </a:extLst>
          </p:cNvPr>
          <p:cNvSpPr txBox="1">
            <a:spLocks/>
          </p:cNvSpPr>
          <p:nvPr/>
        </p:nvSpPr>
        <p:spPr>
          <a:xfrm>
            <a:off x="520822" y="1397952"/>
            <a:ext cx="10972801" cy="3294362"/>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a:buNone/>
              <a:defRPr/>
            </a:pPr>
            <a:r>
              <a:rPr lang="zh-CN" altLang="en-US" sz="2400" b="1" dirty="0"/>
              <a:t>规划进度管理的结果</a:t>
            </a:r>
            <a:endParaRPr lang="en-US" altLang="zh-CN" sz="2400" b="1" dirty="0"/>
          </a:p>
          <a:p>
            <a:pPr marL="457200" lvl="1" indent="0">
              <a:buNone/>
            </a:pPr>
            <a:r>
              <a:rPr lang="zh-CN" altLang="en-US" sz="2400" dirty="0">
                <a:solidFill>
                  <a:srgbClr val="FF0000"/>
                </a:solidFill>
              </a:rPr>
              <a:t>进度管理计划</a:t>
            </a:r>
            <a:endParaRPr lang="en-US" altLang="zh-CN" sz="2400" dirty="0">
              <a:solidFill>
                <a:srgbClr val="FF0000"/>
              </a:solidFill>
            </a:endParaRPr>
          </a:p>
          <a:p>
            <a:pPr marL="914400" lvl="2" indent="0" algn="just">
              <a:buNone/>
            </a:pPr>
            <a:r>
              <a:rPr lang="zh-CN" altLang="en-US" sz="2000" b="1" i="0" u="none" strike="noStrike" baseline="0" dirty="0">
                <a:latin typeface="SourceHanSansSC-Regular"/>
              </a:rPr>
              <a:t>进度管理计划是项目管理计划的组成部分，为编制、监督和控制项目进度建立准则和明确活动。根据项目需要，进度管理计划可以是正式或非正式的，非常详细或高度概括的，其中应包括合适的控制临界值。</a:t>
            </a:r>
          </a:p>
          <a:p>
            <a:pPr lvl="1"/>
            <a:endParaRPr lang="zh-CN" altLang="en-US" sz="1800" dirty="0"/>
          </a:p>
        </p:txBody>
      </p:sp>
    </p:spTree>
    <p:extLst>
      <p:ext uri="{BB962C8B-B14F-4D97-AF65-F5344CB8AC3E}">
        <p14:creationId xmlns:p14="http://schemas.microsoft.com/office/powerpoint/2010/main" val="1526617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807769-817C-4EC5-A33E-9489A0A4ED19}"/>
              </a:ext>
            </a:extLst>
          </p:cNvPr>
          <p:cNvSpPr>
            <a:spLocks noGrp="1"/>
          </p:cNvSpPr>
          <p:nvPr>
            <p:ph type="title"/>
          </p:nvPr>
        </p:nvSpPr>
        <p:spPr/>
        <p:txBody>
          <a:bodyPr/>
          <a:lstStyle/>
          <a:p>
            <a:r>
              <a:rPr lang="en-US" altLang="zh-CN" dirty="0"/>
              <a:t>12.2</a:t>
            </a:r>
            <a:r>
              <a:rPr lang="zh-CN" altLang="en-US" dirty="0"/>
              <a:t>规划进度管理</a:t>
            </a:r>
          </a:p>
        </p:txBody>
      </p:sp>
      <p:sp>
        <p:nvSpPr>
          <p:cNvPr id="3" name="内容占位符 2">
            <a:extLst>
              <a:ext uri="{FF2B5EF4-FFF2-40B4-BE49-F238E27FC236}">
                <a16:creationId xmlns:a16="http://schemas.microsoft.com/office/drawing/2014/main" id="{239CD997-5063-42AE-9A08-BD5ED4F3B07A}"/>
              </a:ext>
            </a:extLst>
          </p:cNvPr>
          <p:cNvSpPr txBox="1">
            <a:spLocks/>
          </p:cNvSpPr>
          <p:nvPr/>
        </p:nvSpPr>
        <p:spPr>
          <a:xfrm>
            <a:off x="457200" y="1201479"/>
            <a:ext cx="11129485" cy="591495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84138" lvl="1" indent="0">
              <a:buNone/>
            </a:pPr>
            <a:r>
              <a:rPr lang="zh-CN" altLang="en-US" sz="2400" b="1" dirty="0"/>
              <a:t>进度管理计划主要内容</a:t>
            </a:r>
            <a:endParaRPr lang="en-US" altLang="zh-CN" sz="2400" b="1" dirty="0"/>
          </a:p>
          <a:p>
            <a:pPr marL="360363" lvl="2" indent="0" algn="just"/>
            <a:r>
              <a:rPr lang="zh-CN" altLang="en-US" sz="1800" b="1" dirty="0">
                <a:solidFill>
                  <a:srgbClr val="0070C0"/>
                </a:solidFill>
              </a:rPr>
              <a:t> 项目进度模型制定</a:t>
            </a:r>
            <a:r>
              <a:rPr lang="zh-CN" altLang="en-US" sz="1800" b="1" dirty="0"/>
              <a:t>。</a:t>
            </a:r>
            <a:r>
              <a:rPr lang="zh-CN" altLang="en-US" sz="1800" dirty="0"/>
              <a:t>需要规定用于制定项目进度模型的进度规划方法论和工具。</a:t>
            </a:r>
          </a:p>
          <a:p>
            <a:pPr marL="360363" lvl="2" indent="0" algn="just"/>
            <a:r>
              <a:rPr lang="zh-CN" altLang="en-US" sz="1800" b="1" dirty="0">
                <a:solidFill>
                  <a:srgbClr val="0070C0"/>
                </a:solidFill>
              </a:rPr>
              <a:t> 进度计划的发布和迭代长度</a:t>
            </a:r>
            <a:r>
              <a:rPr lang="zh-CN" altLang="en-US" sz="1800" b="1" dirty="0"/>
              <a:t>。</a:t>
            </a:r>
            <a:r>
              <a:rPr lang="zh-CN" altLang="en-US" sz="1800" dirty="0"/>
              <a:t>使用适应型生命周期时，应指定固定时间的发布时段、阶段和迭代。</a:t>
            </a:r>
            <a:endParaRPr lang="en-US" altLang="zh-CN" sz="1800" dirty="0"/>
          </a:p>
          <a:p>
            <a:pPr marL="360363" lvl="2" indent="0" algn="just"/>
            <a:r>
              <a:rPr lang="zh-CN" altLang="en-US" sz="1800" b="1" dirty="0">
                <a:solidFill>
                  <a:srgbClr val="0070C0"/>
                </a:solidFill>
              </a:rPr>
              <a:t> 准确度</a:t>
            </a:r>
            <a:r>
              <a:rPr lang="zh-CN" altLang="en-US" sz="1800" b="1" dirty="0"/>
              <a:t>。</a:t>
            </a:r>
            <a:r>
              <a:rPr lang="zh-CN" altLang="en-US" sz="1800" dirty="0"/>
              <a:t>准确度定义了需要规定活动持续时间估算的可接受区间，以及允许的应急储备数量。</a:t>
            </a:r>
          </a:p>
          <a:p>
            <a:pPr marL="360363" lvl="2" indent="0" algn="just"/>
            <a:r>
              <a:rPr lang="zh-CN" altLang="en-US" sz="1800" b="1" dirty="0">
                <a:solidFill>
                  <a:srgbClr val="0070C0"/>
                </a:solidFill>
              </a:rPr>
              <a:t> 计量单位</a:t>
            </a:r>
            <a:r>
              <a:rPr lang="zh-CN" altLang="en-US" sz="1800" b="1" dirty="0"/>
              <a:t>。</a:t>
            </a:r>
            <a:r>
              <a:rPr lang="zh-CN" altLang="en-US" sz="1800" dirty="0"/>
              <a:t>需要规定每种资源的计量单位，例如，人时数、人天数或周数，米、升、吨、千米。</a:t>
            </a:r>
          </a:p>
          <a:p>
            <a:pPr marL="360363" lvl="2" indent="0" algn="just"/>
            <a:r>
              <a:rPr lang="zh-CN" altLang="en-US" sz="1800" b="1" dirty="0">
                <a:solidFill>
                  <a:srgbClr val="0070C0"/>
                </a:solidFill>
              </a:rPr>
              <a:t> 组织程序链接</a:t>
            </a:r>
            <a:r>
              <a:rPr lang="zh-CN" altLang="en-US" sz="1800" b="1" dirty="0"/>
              <a:t>。</a:t>
            </a:r>
            <a:r>
              <a:rPr lang="zh-CN" altLang="en-US" sz="1800" dirty="0"/>
              <a:t>工作分解结构（</a:t>
            </a:r>
            <a:r>
              <a:rPr lang="en-US" altLang="zh-CN" sz="1800" dirty="0"/>
              <a:t>WBS</a:t>
            </a:r>
            <a:r>
              <a:rPr lang="zh-CN" altLang="en-US" sz="1800" dirty="0"/>
              <a:t>）为进度管理计划提供了框架，保证了与估算及相应进度计划的协调性。</a:t>
            </a:r>
            <a:endParaRPr lang="zh-CN" altLang="en-US" dirty="0"/>
          </a:p>
          <a:p>
            <a:pPr marL="360363" lvl="2" indent="0" algn="just"/>
            <a:r>
              <a:rPr lang="zh-CN" altLang="en-US" sz="1800" b="1" dirty="0">
                <a:solidFill>
                  <a:srgbClr val="0070C0"/>
                </a:solidFill>
              </a:rPr>
              <a:t> 项目进度模型维护</a:t>
            </a:r>
            <a:r>
              <a:rPr lang="zh-CN" altLang="en-US" sz="1800" b="1" dirty="0"/>
              <a:t>。</a:t>
            </a:r>
            <a:r>
              <a:rPr lang="zh-CN" altLang="en-US" sz="1800" dirty="0"/>
              <a:t>需要规定在项目执行期间，将如何在进度模型中更新项目状态，记录项目进展。</a:t>
            </a:r>
          </a:p>
          <a:p>
            <a:pPr marL="360363" lvl="2" indent="0" algn="just"/>
            <a:r>
              <a:rPr lang="zh-CN" altLang="en-US" sz="1800" b="1" dirty="0">
                <a:solidFill>
                  <a:srgbClr val="0070C0"/>
                </a:solidFill>
              </a:rPr>
              <a:t> 控制临界值</a:t>
            </a:r>
            <a:r>
              <a:rPr lang="zh-CN" altLang="en-US" sz="1800" b="1" dirty="0"/>
              <a:t>。</a:t>
            </a:r>
            <a:r>
              <a:rPr lang="zh-CN" altLang="en-US" sz="1800" dirty="0"/>
              <a:t>可能需要规定偏差临界值，用于监督进度绩效。它是在需要采取某种措施前，允许出现的最大差异。临界值通常用偏离基准计划中的参数的某个百分数来表示。</a:t>
            </a:r>
          </a:p>
          <a:p>
            <a:pPr marL="360363" lvl="2" indent="0" algn="just"/>
            <a:r>
              <a:rPr lang="zh-CN" altLang="en-US" sz="1800" b="1" dirty="0">
                <a:solidFill>
                  <a:srgbClr val="0070C0"/>
                </a:solidFill>
              </a:rPr>
              <a:t> 绩效测量规则</a:t>
            </a:r>
            <a:r>
              <a:rPr lang="zh-CN" altLang="en-US" sz="1800" b="1" dirty="0"/>
              <a:t>。</a:t>
            </a:r>
            <a:r>
              <a:rPr lang="zh-CN" altLang="en-US" sz="1800" dirty="0"/>
              <a:t>需要规定用于绩效测量的挣值管理（</a:t>
            </a:r>
            <a:r>
              <a:rPr lang="en-US" altLang="zh-CN" sz="1800" dirty="0"/>
              <a:t>EVM</a:t>
            </a:r>
            <a:r>
              <a:rPr lang="zh-CN" altLang="en-US" sz="1800" dirty="0"/>
              <a:t>）规则或其他测量规则。例如，</a:t>
            </a:r>
          </a:p>
          <a:p>
            <a:pPr marL="817563" lvl="4" indent="0" algn="just"/>
            <a:r>
              <a:rPr lang="zh-CN" altLang="en-US" sz="1800" dirty="0"/>
              <a:t>确定完成百分比的规则；</a:t>
            </a:r>
          </a:p>
          <a:p>
            <a:pPr marL="817563" lvl="4" indent="0" algn="just"/>
            <a:r>
              <a:rPr lang="en-US" altLang="zh-CN" sz="1800" dirty="0"/>
              <a:t>EVM </a:t>
            </a:r>
            <a:r>
              <a:rPr lang="zh-CN" altLang="en-US" sz="1800" dirty="0"/>
              <a:t>技术，如基准法、固定公式法、完成百分比法等；</a:t>
            </a:r>
          </a:p>
          <a:p>
            <a:pPr marL="817563" lvl="4" indent="0" algn="just"/>
            <a:r>
              <a:rPr lang="zh-CN" altLang="en-US" sz="1800" dirty="0"/>
              <a:t>进度绩效测量指标，如进度偏差（</a:t>
            </a:r>
            <a:r>
              <a:rPr lang="en-US" altLang="zh-CN" sz="1800" dirty="0"/>
              <a:t>SV</a:t>
            </a:r>
            <a:r>
              <a:rPr lang="zh-CN" altLang="en-US" sz="1800" dirty="0"/>
              <a:t>）和进度绩效指数（</a:t>
            </a:r>
            <a:r>
              <a:rPr lang="en-US" altLang="zh-CN" sz="1800" dirty="0"/>
              <a:t>SPI</a:t>
            </a:r>
            <a:r>
              <a:rPr lang="zh-CN" altLang="en-US" sz="1800" dirty="0"/>
              <a:t>），用来评价偏离原始进度基准的程度。</a:t>
            </a:r>
          </a:p>
          <a:p>
            <a:pPr marL="360363" lvl="2" indent="0" algn="just"/>
            <a:r>
              <a:rPr lang="zh-CN" altLang="en-US" sz="1800" b="1" dirty="0">
                <a:solidFill>
                  <a:srgbClr val="0070C0"/>
                </a:solidFill>
              </a:rPr>
              <a:t> 报告格式</a:t>
            </a:r>
            <a:r>
              <a:rPr lang="zh-CN" altLang="en-US" sz="1800" b="1" dirty="0"/>
              <a:t>。</a:t>
            </a:r>
            <a:r>
              <a:rPr lang="zh-CN" altLang="en-US" sz="1800" dirty="0"/>
              <a:t>需要规定各种进度报告的格式和编制频率。</a:t>
            </a:r>
          </a:p>
        </p:txBody>
      </p:sp>
    </p:spTree>
    <p:extLst>
      <p:ext uri="{BB962C8B-B14F-4D97-AF65-F5344CB8AC3E}">
        <p14:creationId xmlns:p14="http://schemas.microsoft.com/office/powerpoint/2010/main" val="24336938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91EC7E-062E-42B6-BB70-FDB6952E905C}"/>
              </a:ext>
            </a:extLst>
          </p:cNvPr>
          <p:cNvSpPr>
            <a:spLocks noGrp="1"/>
          </p:cNvSpPr>
          <p:nvPr>
            <p:ph type="title"/>
          </p:nvPr>
        </p:nvSpPr>
        <p:spPr/>
        <p:txBody>
          <a:bodyPr/>
          <a:lstStyle/>
          <a:p>
            <a:r>
              <a:rPr lang="en-US" altLang="zh-CN" dirty="0"/>
              <a:t>12.3 </a:t>
            </a:r>
            <a:r>
              <a:rPr lang="zh-CN" altLang="en-US" dirty="0"/>
              <a:t>定义活动</a:t>
            </a:r>
          </a:p>
        </p:txBody>
      </p:sp>
      <p:sp>
        <p:nvSpPr>
          <p:cNvPr id="4" name="内容占位符 2">
            <a:extLst>
              <a:ext uri="{FF2B5EF4-FFF2-40B4-BE49-F238E27FC236}">
                <a16:creationId xmlns:a16="http://schemas.microsoft.com/office/drawing/2014/main" id="{C6D9E9E1-C51E-4439-A71D-9D8AF10C1EBE}"/>
              </a:ext>
            </a:extLst>
          </p:cNvPr>
          <p:cNvSpPr txBox="1">
            <a:spLocks/>
          </p:cNvSpPr>
          <p:nvPr/>
        </p:nvSpPr>
        <p:spPr>
          <a:xfrm>
            <a:off x="537986" y="1316024"/>
            <a:ext cx="11129485" cy="177437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a:buNone/>
            </a:pPr>
            <a:r>
              <a:rPr lang="zh-CN" altLang="en-US" sz="2400" b="1" dirty="0"/>
              <a:t>定义活动</a:t>
            </a:r>
            <a:endParaRPr lang="en-US" altLang="zh-CN" sz="2400" b="1" dirty="0"/>
          </a:p>
          <a:p>
            <a:pPr marL="400050" lvl="2" indent="0">
              <a:buNone/>
            </a:pPr>
            <a:r>
              <a:rPr lang="zh-CN" altLang="en-US" sz="2000" dirty="0"/>
              <a:t>识别和记录为完成项目可交付成果而需采取的具体行动的过程。</a:t>
            </a:r>
            <a:endParaRPr lang="en-US" altLang="zh-CN" sz="2000" dirty="0"/>
          </a:p>
          <a:p>
            <a:pPr marL="400050" lvl="2" indent="0">
              <a:buNone/>
            </a:pPr>
            <a:r>
              <a:rPr lang="zh-CN" altLang="en-US" sz="2000" dirty="0"/>
              <a:t>目的：将</a:t>
            </a:r>
            <a:r>
              <a:rPr lang="en-US" altLang="zh-CN" sz="2000" dirty="0"/>
              <a:t>WBS</a:t>
            </a:r>
            <a:r>
              <a:rPr lang="zh-CN" altLang="en-US" sz="2000" dirty="0"/>
              <a:t>中工作包进一步分解为活动，作为对项目工作进行估算、进行规划、执行、监督和控制的基础。</a:t>
            </a:r>
          </a:p>
          <a:p>
            <a:pPr marL="914400" lvl="2" indent="0">
              <a:buFontTx/>
              <a:buNone/>
              <a:defRPr/>
            </a:pPr>
            <a:endParaRPr lang="zh-CN" altLang="en-US" dirty="0"/>
          </a:p>
        </p:txBody>
      </p:sp>
      <p:pic>
        <p:nvPicPr>
          <p:cNvPr id="6" name="图片 1">
            <a:extLst>
              <a:ext uri="{FF2B5EF4-FFF2-40B4-BE49-F238E27FC236}">
                <a16:creationId xmlns:a16="http://schemas.microsoft.com/office/drawing/2014/main" id="{73F6ED53-117C-4869-8E78-F0E9260326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3204" y="2767020"/>
            <a:ext cx="9180000" cy="318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AutoShape 10">
            <a:extLst>
              <a:ext uri="{FF2B5EF4-FFF2-40B4-BE49-F238E27FC236}">
                <a16:creationId xmlns:a16="http://schemas.microsoft.com/office/drawing/2014/main" id="{0CC179B6-D875-4D79-8F1D-9C6D5378B12F}"/>
              </a:ext>
            </a:extLst>
          </p:cNvPr>
          <p:cNvSpPr>
            <a:spLocks noChangeArrowheads="1"/>
          </p:cNvSpPr>
          <p:nvPr/>
        </p:nvSpPr>
        <p:spPr bwMode="auto">
          <a:xfrm>
            <a:off x="613885" y="5556169"/>
            <a:ext cx="6404238" cy="810378"/>
          </a:xfrm>
          <a:prstGeom prst="flowChartAlternateProcess">
            <a:avLst/>
          </a:prstGeom>
          <a:solidFill>
            <a:srgbClr val="F7F8EE"/>
          </a:solidFill>
          <a:ln w="28575">
            <a:solidFill>
              <a:srgbClr val="FFCC00"/>
            </a:solidFill>
            <a:miter lim="800000"/>
            <a:headEnd/>
            <a:tailEnd/>
          </a:ln>
          <a:effectLst>
            <a:outerShdw dist="107763" dir="2700000" algn="ctr" rotWithShape="0">
              <a:srgbClr val="808080"/>
            </a:outerShdw>
          </a:effectLst>
        </p:spPr>
        <p:txBody>
          <a:bodyPr anchor="ctr" anchorCtr="1"/>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342900" marR="0" lvl="0" indent="-342900"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r>
              <a:rPr kumimoji="1" lang="zh-CN" altLang="en-US" sz="1800" b="1" i="0" u="none" strike="noStrike" kern="0" cap="none" spc="0" normalizeH="0" baseline="0" noProof="0" dirty="0">
                <a:ln>
                  <a:noFill/>
                </a:ln>
                <a:solidFill>
                  <a:srgbClr val="650F01"/>
                </a:solidFill>
                <a:effectLst/>
                <a:uLnTx/>
                <a:uFillTx/>
                <a:latin typeface="微软雅黑" panose="020B0503020204020204" pitchFamily="34" charset="-122"/>
                <a:ea typeface="微软雅黑" panose="020B0503020204020204" pitchFamily="34" charset="-122"/>
              </a:rPr>
              <a:t>对于大型项目，活动定义这一步骤非常必要。</a:t>
            </a:r>
          </a:p>
          <a:p>
            <a:pPr marL="342900" marR="0" lvl="0" indent="-342900"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r>
              <a:rPr kumimoji="1" lang="zh-CN" altLang="en-US" sz="1800" b="1" i="0" u="none" strike="noStrike" kern="0" cap="none" spc="0" normalizeH="0" baseline="0" noProof="0" dirty="0">
                <a:ln>
                  <a:noFill/>
                </a:ln>
                <a:solidFill>
                  <a:srgbClr val="650F01"/>
                </a:solidFill>
                <a:effectLst/>
                <a:uLnTx/>
                <a:uFillTx/>
                <a:latin typeface="微软雅黑" panose="020B0503020204020204" pitchFamily="34" charset="-122"/>
                <a:ea typeface="微软雅黑" panose="020B0503020204020204" pitchFamily="34" charset="-122"/>
              </a:rPr>
              <a:t>对于中小型项目，活动定义经常是在构造</a:t>
            </a:r>
            <a:r>
              <a:rPr kumimoji="1" lang="en-US" altLang="zh-CN" sz="1800" b="1" i="0" u="none" strike="noStrike" kern="0" cap="none" spc="0" normalizeH="0" baseline="0" noProof="0" dirty="0">
                <a:ln>
                  <a:noFill/>
                </a:ln>
                <a:solidFill>
                  <a:srgbClr val="650F01"/>
                </a:solidFill>
                <a:effectLst/>
                <a:uLnTx/>
                <a:uFillTx/>
                <a:latin typeface="微软雅黑" panose="020B0503020204020204" pitchFamily="34" charset="-122"/>
                <a:ea typeface="微软雅黑" panose="020B0503020204020204" pitchFamily="34" charset="-122"/>
              </a:rPr>
              <a:t>WBS</a:t>
            </a:r>
            <a:r>
              <a:rPr kumimoji="1" lang="zh-CN" altLang="en-US" sz="1800" b="1" i="0" u="none" strike="noStrike" kern="0" cap="none" spc="0" normalizeH="0" baseline="0" noProof="0" dirty="0">
                <a:ln>
                  <a:noFill/>
                </a:ln>
                <a:solidFill>
                  <a:srgbClr val="650F01"/>
                </a:solidFill>
                <a:effectLst/>
                <a:uLnTx/>
                <a:uFillTx/>
                <a:latin typeface="微软雅黑" panose="020B0503020204020204" pitchFamily="34" charset="-122"/>
                <a:ea typeface="微软雅黑" panose="020B0503020204020204" pitchFamily="34" charset="-122"/>
              </a:rPr>
              <a:t>时就能完成。</a:t>
            </a:r>
          </a:p>
        </p:txBody>
      </p:sp>
    </p:spTree>
    <p:extLst>
      <p:ext uri="{BB962C8B-B14F-4D97-AF65-F5344CB8AC3E}">
        <p14:creationId xmlns:p14="http://schemas.microsoft.com/office/powerpoint/2010/main" val="556670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BB9775-8B89-4D3A-856A-F41470CABF68}"/>
              </a:ext>
            </a:extLst>
          </p:cNvPr>
          <p:cNvSpPr>
            <a:spLocks noGrp="1"/>
          </p:cNvSpPr>
          <p:nvPr>
            <p:ph type="title"/>
          </p:nvPr>
        </p:nvSpPr>
        <p:spPr/>
        <p:txBody>
          <a:bodyPr/>
          <a:lstStyle/>
          <a:p>
            <a:r>
              <a:rPr lang="en-US" altLang="zh-CN" dirty="0"/>
              <a:t>12.3 </a:t>
            </a:r>
            <a:r>
              <a:rPr lang="zh-CN" altLang="en-US" dirty="0"/>
              <a:t>定义活动</a:t>
            </a:r>
          </a:p>
        </p:txBody>
      </p:sp>
      <p:sp useBgFill="1">
        <p:nvSpPr>
          <p:cNvPr id="3" name="AutoShape 3">
            <a:extLst>
              <a:ext uri="{FF2B5EF4-FFF2-40B4-BE49-F238E27FC236}">
                <a16:creationId xmlns:a16="http://schemas.microsoft.com/office/drawing/2014/main" id="{79B64FAF-4A76-4DD2-82E7-30C32C7BDBE2}"/>
              </a:ext>
            </a:extLst>
          </p:cNvPr>
          <p:cNvSpPr>
            <a:spLocks noChangeArrowheads="1"/>
          </p:cNvSpPr>
          <p:nvPr/>
        </p:nvSpPr>
        <p:spPr bwMode="auto">
          <a:xfrm>
            <a:off x="726937" y="1446894"/>
            <a:ext cx="10738126" cy="1052726"/>
          </a:xfrm>
          <a:prstGeom prst="flowChartAlternateProcess">
            <a:avLst/>
          </a:prstGeom>
          <a:ln w="28575">
            <a:solidFill>
              <a:srgbClr val="339966"/>
            </a:solidFill>
            <a:miter lim="800000"/>
            <a:headEnd/>
            <a:tailEnd/>
          </a:ln>
          <a:effectLst>
            <a:outerShdw dist="89803" dir="2700000" algn="ctr" rotWithShape="0">
              <a:srgbClr val="808080">
                <a:alpha val="50000"/>
              </a:srgbClr>
            </a:outerShdw>
          </a:effectLst>
        </p:spPr>
        <p:txBody>
          <a:bodyPr/>
          <a:lstStyle>
            <a:lvl1pPr marL="711200" indent="-711200">
              <a:defRPr kumimoji="1" sz="2400">
                <a:solidFill>
                  <a:schemeClr val="tx1"/>
                </a:solidFill>
                <a:latin typeface="Times New Roman" panose="02020603050405020304" pitchFamily="18" charset="0"/>
                <a:ea typeface="宋体" panose="02010600030101010101" pitchFamily="2" charset="-122"/>
              </a:defRPr>
            </a:lvl1pPr>
            <a:lvl2pPr marL="1066800" indent="-609600">
              <a:defRPr kumimoji="1" sz="2400">
                <a:solidFill>
                  <a:schemeClr val="tx1"/>
                </a:solidFill>
                <a:latin typeface="Times New Roman" panose="02020603050405020304" pitchFamily="18" charset="0"/>
                <a:ea typeface="宋体" panose="02010600030101010101" pitchFamily="2" charset="-122"/>
              </a:defRPr>
            </a:lvl2pPr>
            <a:lvl3pPr marL="1422400" indent="-5080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buClr>
                <a:schemeClr val="tx1"/>
              </a:buClr>
              <a:buSzPct val="75000"/>
              <a:buFont typeface="Wingdings" panose="05000000000000000000" pitchFamily="2" charset="2"/>
              <a:buNone/>
            </a:pPr>
            <a:r>
              <a:rPr lang="zh-CN" altLang="en-US" b="1" dirty="0">
                <a:solidFill>
                  <a:schemeClr val="tx2"/>
                </a:solidFill>
                <a:latin typeface="微软雅黑" panose="020B0503020204020204" pitchFamily="34" charset="-122"/>
                <a:ea typeface="微软雅黑" panose="020B0503020204020204" pitchFamily="34" charset="-122"/>
              </a:rPr>
              <a:t>活动定义的目标：</a:t>
            </a:r>
          </a:p>
          <a:p>
            <a:pPr>
              <a:spcBef>
                <a:spcPct val="20000"/>
              </a:spcBef>
              <a:buClr>
                <a:schemeClr val="tx1"/>
              </a:buClr>
              <a:buSzPct val="75000"/>
              <a:buFont typeface="Wingdings" panose="05000000000000000000" pitchFamily="2" charset="2"/>
              <a:buNone/>
            </a:pPr>
            <a:r>
              <a:rPr lang="zh-CN" altLang="en-US"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确保项目团队对他们作为项目范围的一部分必需完成的所有工作有一个完整的理解。</a:t>
            </a:r>
            <a:endParaRPr lang="zh-CN" altLang="en-US" b="1" dirty="0">
              <a:latin typeface="微软雅黑" panose="020B0503020204020204" pitchFamily="34" charset="-122"/>
              <a:ea typeface="微软雅黑" panose="020B0503020204020204" pitchFamily="34" charset="-122"/>
            </a:endParaRPr>
          </a:p>
        </p:txBody>
      </p:sp>
      <p:sp>
        <p:nvSpPr>
          <p:cNvPr id="4" name="AutoShape 4">
            <a:extLst>
              <a:ext uri="{FF2B5EF4-FFF2-40B4-BE49-F238E27FC236}">
                <a16:creationId xmlns:a16="http://schemas.microsoft.com/office/drawing/2014/main" id="{4CAA13EE-3711-487B-B365-8941DCDCDFA4}"/>
              </a:ext>
            </a:extLst>
          </p:cNvPr>
          <p:cNvSpPr>
            <a:spLocks noChangeArrowheads="1"/>
          </p:cNvSpPr>
          <p:nvPr/>
        </p:nvSpPr>
        <p:spPr bwMode="auto">
          <a:xfrm rot="5400000">
            <a:off x="4386680" y="2433516"/>
            <a:ext cx="838200" cy="1505618"/>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0">
            <a:gsLst>
              <a:gs pos="0">
                <a:srgbClr val="99CCFF"/>
              </a:gs>
              <a:gs pos="100000">
                <a:srgbClr val="99CCFF">
                  <a:gamma/>
                  <a:shade val="46275"/>
                  <a:invGamma/>
                </a:srgbClr>
              </a:gs>
            </a:gsLst>
            <a:lin ang="5400000" scaled="1"/>
          </a:gradFill>
          <a:ln w="19050">
            <a:solidFill>
              <a:srgbClr val="000000"/>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Lst>
        </p:spPr>
        <p:txBody>
          <a:bodyPr rot="10800000" vert="eaVert" wrap="none" anchor="ctr"/>
          <a:lstStyle/>
          <a:p>
            <a:pPr algn="ctr">
              <a:spcBef>
                <a:spcPct val="20000"/>
              </a:spcBef>
              <a:buClr>
                <a:schemeClr val="tx1"/>
              </a:buClr>
              <a:buSzPct val="75000"/>
              <a:buFont typeface="Wingdings" panose="05000000000000000000" pitchFamily="2" charset="2"/>
              <a:buNone/>
            </a:pPr>
            <a:r>
              <a:rPr lang="zh-CN" altLang="en-US" b="1" dirty="0">
                <a:solidFill>
                  <a:schemeClr val="bg1"/>
                </a:solidFill>
                <a:latin typeface="Arial" panose="020B0604020202020204" pitchFamily="34" charset="0"/>
              </a:rPr>
              <a:t>要</a:t>
            </a:r>
            <a:endParaRPr lang="en-US" altLang="zh-CN" b="1" dirty="0">
              <a:solidFill>
                <a:schemeClr val="bg1"/>
              </a:solidFill>
              <a:latin typeface="Arial" panose="020B0604020202020204" pitchFamily="34" charset="0"/>
            </a:endParaRPr>
          </a:p>
          <a:p>
            <a:pPr algn="ctr">
              <a:spcBef>
                <a:spcPct val="20000"/>
              </a:spcBef>
              <a:buClr>
                <a:schemeClr val="tx1"/>
              </a:buClr>
              <a:buSzPct val="75000"/>
              <a:buFont typeface="Wingdings" panose="05000000000000000000" pitchFamily="2" charset="2"/>
              <a:buNone/>
            </a:pPr>
            <a:r>
              <a:rPr lang="zh-CN" altLang="en-US" b="1" dirty="0">
                <a:solidFill>
                  <a:schemeClr val="bg1"/>
                </a:solidFill>
                <a:latin typeface="Arial" panose="020B0604020202020204" pitchFamily="34" charset="0"/>
              </a:rPr>
              <a:t>求</a:t>
            </a:r>
            <a:endParaRPr lang="zh-CN" altLang="en-US" sz="1800" b="1" dirty="0">
              <a:solidFill>
                <a:schemeClr val="bg1"/>
              </a:solidFill>
              <a:latin typeface="Arial" panose="020B0604020202020204" pitchFamily="34" charset="0"/>
            </a:endParaRPr>
          </a:p>
        </p:txBody>
      </p:sp>
      <p:sp useBgFill="1">
        <p:nvSpPr>
          <p:cNvPr id="5" name="AutoShape 5">
            <a:extLst>
              <a:ext uri="{FF2B5EF4-FFF2-40B4-BE49-F238E27FC236}">
                <a16:creationId xmlns:a16="http://schemas.microsoft.com/office/drawing/2014/main" id="{C95B6A5F-5A6B-4C9D-873A-AE2F03386257}"/>
              </a:ext>
            </a:extLst>
          </p:cNvPr>
          <p:cNvSpPr>
            <a:spLocks noChangeArrowheads="1"/>
          </p:cNvSpPr>
          <p:nvPr/>
        </p:nvSpPr>
        <p:spPr bwMode="auto">
          <a:xfrm>
            <a:off x="1418723" y="3719725"/>
            <a:ext cx="6030495" cy="533400"/>
          </a:xfrm>
          <a:prstGeom prst="flowChartAlternateProcess">
            <a:avLst/>
          </a:prstGeom>
          <a:ln w="28575">
            <a:solidFill>
              <a:srgbClr val="339966"/>
            </a:solidFill>
            <a:miter lim="800000"/>
            <a:headEnd/>
            <a:tailEnd/>
          </a:ln>
          <a:effectLst>
            <a:outerShdw dist="89803" dir="2700000" algn="ctr" rotWithShape="0">
              <a:srgbClr val="808080">
                <a:alpha val="50000"/>
              </a:srgbClr>
            </a:outerShdw>
          </a:effectLst>
        </p:spPr>
        <p:txBody>
          <a:bodyPr/>
          <a:lstStyle>
            <a:lvl1pPr marL="711200" indent="-711200">
              <a:defRPr kumimoji="1" sz="2400">
                <a:solidFill>
                  <a:schemeClr val="tx1"/>
                </a:solidFill>
                <a:latin typeface="Times New Roman" panose="02020603050405020304" pitchFamily="18" charset="0"/>
                <a:ea typeface="宋体" panose="02010600030101010101" pitchFamily="2" charset="-122"/>
              </a:defRPr>
            </a:lvl1pPr>
            <a:lvl2pPr marL="1066800" indent="-609600">
              <a:defRPr kumimoji="1" sz="2400">
                <a:solidFill>
                  <a:schemeClr val="tx1"/>
                </a:solidFill>
                <a:latin typeface="Times New Roman" panose="02020603050405020304" pitchFamily="18" charset="0"/>
                <a:ea typeface="宋体" panose="02010600030101010101" pitchFamily="2" charset="-122"/>
              </a:defRPr>
            </a:lvl2pPr>
            <a:lvl3pPr marL="1422400" indent="-5080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1" algn="ctr">
              <a:buSzPct val="95000"/>
            </a:pPr>
            <a:r>
              <a:rPr lang="zh-CN" altLang="en-US" sz="1800" b="1" dirty="0">
                <a:latin typeface="微软雅黑" panose="020B0503020204020204" pitchFamily="34" charset="-122"/>
                <a:ea typeface="微软雅黑" panose="020B0503020204020204" pitchFamily="34" charset="-122"/>
              </a:rPr>
              <a:t>项目团队制定更加详细的工作分解结构和辅助解释</a:t>
            </a:r>
          </a:p>
        </p:txBody>
      </p:sp>
      <p:sp useBgFill="1">
        <p:nvSpPr>
          <p:cNvPr id="6" name="AutoShape 6">
            <a:extLst>
              <a:ext uri="{FF2B5EF4-FFF2-40B4-BE49-F238E27FC236}">
                <a16:creationId xmlns:a16="http://schemas.microsoft.com/office/drawing/2014/main" id="{0DF47DAD-AB2B-4EF4-9BDA-2B4B49CD8E23}"/>
              </a:ext>
            </a:extLst>
          </p:cNvPr>
          <p:cNvSpPr>
            <a:spLocks noChangeArrowheads="1"/>
          </p:cNvSpPr>
          <p:nvPr/>
        </p:nvSpPr>
        <p:spPr bwMode="auto">
          <a:xfrm>
            <a:off x="3158624" y="5125489"/>
            <a:ext cx="5105400" cy="762000"/>
          </a:xfrm>
          <a:prstGeom prst="flowChartAlternateProcess">
            <a:avLst/>
          </a:prstGeom>
          <a:ln w="28575">
            <a:solidFill>
              <a:srgbClr val="339966"/>
            </a:solidFill>
            <a:miter lim="800000"/>
            <a:headEnd/>
            <a:tailEnd/>
          </a:ln>
          <a:effectLst/>
          <a:extLst>
            <a:ext uri="{AF507438-7753-43E0-B8FC-AC1667EBCBE1}">
              <a14:hiddenEffects xmlns:a14="http://schemas.microsoft.com/office/drawing/2010/main">
                <a:effectLst>
                  <a:outerShdw dist="89803" dir="2700000" algn="ctr" rotWithShape="0">
                    <a:srgbClr val="808080">
                      <a:alpha val="50000"/>
                    </a:srgbClr>
                  </a:outerShdw>
                </a:effectLst>
              </a14:hiddenEffects>
            </a:ext>
          </a:extLst>
        </p:spPr>
        <p:txBody>
          <a:bodyPr/>
          <a:lstStyle>
            <a:lvl1pPr marL="711200" indent="-711200">
              <a:defRPr kumimoji="1" sz="2400">
                <a:solidFill>
                  <a:schemeClr val="tx1"/>
                </a:solidFill>
                <a:latin typeface="Times New Roman" panose="02020603050405020304" pitchFamily="18" charset="0"/>
                <a:ea typeface="宋体" panose="02010600030101010101" pitchFamily="2" charset="-122"/>
              </a:defRPr>
            </a:lvl1pPr>
            <a:lvl2pPr marL="1066800" indent="-609600">
              <a:defRPr kumimoji="1" sz="2400">
                <a:solidFill>
                  <a:schemeClr val="tx1"/>
                </a:solidFill>
                <a:latin typeface="Times New Roman" panose="02020603050405020304" pitchFamily="18" charset="0"/>
                <a:ea typeface="宋体" panose="02010600030101010101" pitchFamily="2" charset="-122"/>
              </a:defRPr>
            </a:lvl2pPr>
            <a:lvl3pPr marL="1422400" indent="-5080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1">
              <a:buSzPct val="95000"/>
            </a:pPr>
            <a:r>
              <a:rPr lang="zh-CN" altLang="en-US" sz="2000" b="1" dirty="0">
                <a:latin typeface="微软雅黑" panose="020B0503020204020204" pitchFamily="34" charset="-122"/>
                <a:ea typeface="微软雅黑" panose="020B0503020204020204" pitchFamily="34" charset="-122"/>
              </a:rPr>
              <a:t>重要的产品信息，与活动相关的细节、假设、条件等辅助解释</a:t>
            </a:r>
          </a:p>
        </p:txBody>
      </p:sp>
      <p:sp>
        <p:nvSpPr>
          <p:cNvPr id="7" name="Line 7">
            <a:extLst>
              <a:ext uri="{FF2B5EF4-FFF2-40B4-BE49-F238E27FC236}">
                <a16:creationId xmlns:a16="http://schemas.microsoft.com/office/drawing/2014/main" id="{A20663AE-26D6-4818-8519-DD9BD743E31D}"/>
              </a:ext>
            </a:extLst>
          </p:cNvPr>
          <p:cNvSpPr>
            <a:spLocks noChangeShapeType="1"/>
          </p:cNvSpPr>
          <p:nvPr/>
        </p:nvSpPr>
        <p:spPr bwMode="auto">
          <a:xfrm>
            <a:off x="5727028" y="4367425"/>
            <a:ext cx="14371" cy="609600"/>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卷形: 垂直 11">
            <a:extLst>
              <a:ext uri="{FF2B5EF4-FFF2-40B4-BE49-F238E27FC236}">
                <a16:creationId xmlns:a16="http://schemas.microsoft.com/office/drawing/2014/main" id="{7D0EDDFF-E38D-444D-82F6-6CAE25E15C45}"/>
              </a:ext>
            </a:extLst>
          </p:cNvPr>
          <p:cNvSpPr/>
          <p:nvPr/>
        </p:nvSpPr>
        <p:spPr>
          <a:xfrm>
            <a:off x="8629871" y="3314701"/>
            <a:ext cx="2776060" cy="2900150"/>
          </a:xfrm>
          <a:prstGeom prst="verticalScroll">
            <a:avLst/>
          </a:prstGeom>
          <a:solidFill>
            <a:schemeClr val="accent1">
              <a:lumMod val="20000"/>
              <a:lumOff val="80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altLang="zh-CN" sz="1800" b="1" dirty="0">
              <a:solidFill>
                <a:schemeClr val="tx1"/>
              </a:solidFill>
              <a:latin typeface="Times New Roman" panose="02020603050405020304" pitchFamily="18" charset="0"/>
            </a:endParaRPr>
          </a:p>
          <a:p>
            <a:pPr algn="just"/>
            <a:r>
              <a:rPr lang="zh-CN" altLang="en-US" b="1" dirty="0">
                <a:solidFill>
                  <a:srgbClr val="C00000"/>
                </a:solidFill>
                <a:latin typeface="微软雅黑" panose="020B0503020204020204" pitchFamily="34" charset="-122"/>
                <a:ea typeface="微软雅黑" panose="020B0503020204020204" pitchFamily="34" charset="-122"/>
              </a:rPr>
              <a:t>输出：</a:t>
            </a:r>
            <a:endParaRPr lang="en-US" altLang="zh-CN" b="1" dirty="0">
              <a:solidFill>
                <a:srgbClr val="C00000"/>
              </a:solidFill>
              <a:latin typeface="微软雅黑" panose="020B0503020204020204" pitchFamily="34" charset="-122"/>
              <a:ea typeface="微软雅黑" panose="020B0503020204020204" pitchFamily="34" charset="-122"/>
            </a:endParaRPr>
          </a:p>
          <a:p>
            <a:pPr algn="just"/>
            <a:r>
              <a:rPr lang="zh-CN" altLang="en-US" b="1" dirty="0">
                <a:solidFill>
                  <a:schemeClr val="tx1"/>
                </a:solidFill>
                <a:latin typeface="微软雅黑" panose="020B0503020204020204" pitchFamily="34" charset="-122"/>
                <a:ea typeface="微软雅黑" panose="020B0503020204020204" pitchFamily="34" charset="-122"/>
              </a:rPr>
              <a:t>活动清单</a:t>
            </a:r>
          </a:p>
          <a:p>
            <a:pPr algn="just"/>
            <a:r>
              <a:rPr lang="zh-CN" altLang="en-US" b="1" dirty="0">
                <a:solidFill>
                  <a:schemeClr val="tx1"/>
                </a:solidFill>
                <a:latin typeface="微软雅黑" panose="020B0503020204020204" pitchFamily="34" charset="-122"/>
                <a:ea typeface="微软雅黑" panose="020B0503020204020204" pitchFamily="34" charset="-122"/>
              </a:rPr>
              <a:t>活动属性</a:t>
            </a:r>
          </a:p>
          <a:p>
            <a:pPr algn="just"/>
            <a:r>
              <a:rPr lang="zh-CN" altLang="en-US" b="1" dirty="0">
                <a:solidFill>
                  <a:schemeClr val="tx1"/>
                </a:solidFill>
                <a:latin typeface="微软雅黑" panose="020B0503020204020204" pitchFamily="34" charset="-122"/>
                <a:ea typeface="微软雅黑" panose="020B0503020204020204" pitchFamily="34" charset="-122"/>
              </a:rPr>
              <a:t>里程碑清单</a:t>
            </a:r>
          </a:p>
          <a:p>
            <a:pPr algn="just"/>
            <a:r>
              <a:rPr lang="zh-CN" altLang="en-US" b="1" dirty="0">
                <a:solidFill>
                  <a:schemeClr val="tx1"/>
                </a:solidFill>
                <a:latin typeface="微软雅黑" panose="020B0503020204020204" pitchFamily="34" charset="-122"/>
                <a:ea typeface="微软雅黑" panose="020B0503020204020204" pitchFamily="34" charset="-122"/>
              </a:rPr>
              <a:t>变更请求</a:t>
            </a:r>
          </a:p>
          <a:p>
            <a:pPr algn="just"/>
            <a:r>
              <a:rPr lang="zh-CN" altLang="en-US" b="1" dirty="0">
                <a:solidFill>
                  <a:schemeClr val="tx1"/>
                </a:solidFill>
                <a:latin typeface="微软雅黑" panose="020B0503020204020204" pitchFamily="34" charset="-122"/>
                <a:ea typeface="微软雅黑" panose="020B0503020204020204" pitchFamily="34" charset="-122"/>
              </a:rPr>
              <a:t>项目管理计划更新</a:t>
            </a:r>
          </a:p>
          <a:p>
            <a:pPr algn="just"/>
            <a:r>
              <a:rPr lang="en-US" altLang="zh-CN" b="1" dirty="0">
                <a:solidFill>
                  <a:schemeClr val="tx1"/>
                </a:solidFill>
                <a:latin typeface="微软雅黑" panose="020B0503020204020204" pitchFamily="34" charset="-122"/>
                <a:ea typeface="微软雅黑" panose="020B0503020204020204" pitchFamily="34" charset="-122"/>
              </a:rPr>
              <a:t>  ·</a:t>
            </a:r>
            <a:r>
              <a:rPr lang="zh-CN" altLang="en-US" b="1" dirty="0">
                <a:solidFill>
                  <a:schemeClr val="tx1"/>
                </a:solidFill>
                <a:latin typeface="微软雅黑" panose="020B0503020204020204" pitchFamily="34" charset="-122"/>
                <a:ea typeface="微软雅黑" panose="020B0503020204020204" pitchFamily="34" charset="-122"/>
              </a:rPr>
              <a:t>进度基准</a:t>
            </a:r>
          </a:p>
          <a:p>
            <a:pPr algn="just"/>
            <a:r>
              <a:rPr lang="en-US" altLang="zh-CN" b="1" dirty="0">
                <a:solidFill>
                  <a:schemeClr val="tx1"/>
                </a:solidFill>
                <a:latin typeface="微软雅黑" panose="020B0503020204020204" pitchFamily="34" charset="-122"/>
                <a:ea typeface="微软雅黑" panose="020B0503020204020204" pitchFamily="34" charset="-122"/>
              </a:rPr>
              <a:t>  ·</a:t>
            </a:r>
            <a:r>
              <a:rPr lang="zh-CN" altLang="en-US" b="1" dirty="0">
                <a:solidFill>
                  <a:schemeClr val="tx1"/>
                </a:solidFill>
                <a:latin typeface="微软雅黑" panose="020B0503020204020204" pitchFamily="34" charset="-122"/>
                <a:ea typeface="微软雅黑" panose="020B0503020204020204" pitchFamily="34" charset="-122"/>
              </a:rPr>
              <a:t>成本基准</a:t>
            </a:r>
          </a:p>
          <a:p>
            <a:pPr algn="ctr"/>
            <a:endParaRPr lang="zh-CN" altLang="en-US" dirty="0">
              <a:solidFill>
                <a:schemeClr val="tx1"/>
              </a:solidFill>
            </a:endParaRPr>
          </a:p>
        </p:txBody>
      </p:sp>
    </p:spTree>
    <p:extLst>
      <p:ext uri="{BB962C8B-B14F-4D97-AF65-F5344CB8AC3E}">
        <p14:creationId xmlns:p14="http://schemas.microsoft.com/office/powerpoint/2010/main" val="894529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7BE9C4-1124-4C60-950B-82B45FEA6D66}"/>
              </a:ext>
            </a:extLst>
          </p:cNvPr>
          <p:cNvSpPr>
            <a:spLocks noGrp="1"/>
          </p:cNvSpPr>
          <p:nvPr>
            <p:ph type="title"/>
          </p:nvPr>
        </p:nvSpPr>
        <p:spPr/>
        <p:txBody>
          <a:bodyPr/>
          <a:lstStyle/>
          <a:p>
            <a:pPr algn="ctr"/>
            <a:r>
              <a:rPr lang="en-US" altLang="zh-CN" dirty="0"/>
              <a:t>12.3 </a:t>
            </a:r>
            <a:r>
              <a:rPr lang="zh-CN" altLang="en-US" dirty="0"/>
              <a:t>定义活动</a:t>
            </a:r>
          </a:p>
        </p:txBody>
      </p:sp>
      <p:sp>
        <p:nvSpPr>
          <p:cNvPr id="3" name="内容占位符 2">
            <a:extLst>
              <a:ext uri="{FF2B5EF4-FFF2-40B4-BE49-F238E27FC236}">
                <a16:creationId xmlns:a16="http://schemas.microsoft.com/office/drawing/2014/main" id="{6C60BCAF-6558-4D4C-8F16-24A9F3BA5073}"/>
              </a:ext>
            </a:extLst>
          </p:cNvPr>
          <p:cNvSpPr>
            <a:spLocks noGrp="1"/>
          </p:cNvSpPr>
          <p:nvPr>
            <p:ph idx="1"/>
          </p:nvPr>
        </p:nvSpPr>
        <p:spPr>
          <a:xfrm>
            <a:off x="838337" y="1661616"/>
            <a:ext cx="10515326" cy="3235236"/>
          </a:xfrm>
        </p:spPr>
        <p:txBody>
          <a:bodyPr/>
          <a:lstStyle/>
          <a:p>
            <a:pPr marL="0" marR="0" lvl="0" indent="0" algn="l" defTabSz="914400" rtl="0" eaLnBrk="1" fontAlgn="base" latinLnBrk="0" hangingPunct="1">
              <a:lnSpc>
                <a:spcPct val="150000"/>
              </a:lnSpc>
              <a:spcBef>
                <a:spcPct val="20000"/>
              </a:spcBef>
              <a:spcAft>
                <a:spcPct val="0"/>
              </a:spcAft>
              <a:buClrTx/>
              <a:buSzTx/>
              <a:buNone/>
              <a:tabLst/>
              <a:defRPr/>
            </a:pPr>
            <a:r>
              <a:rPr kumimoji="0" lang="zh-CN" altLang="en-US" b="0" i="0" u="none" strike="noStrike" kern="1200" cap="none" spc="0" normalizeH="0" baseline="0" noProof="0" dirty="0">
                <a:ln>
                  <a:noFill/>
                </a:ln>
                <a:solidFill>
                  <a:srgbClr val="000000"/>
                </a:solidFill>
                <a:effectLst/>
                <a:uLnTx/>
                <a:uFillTx/>
                <a:latin typeface="微软雅黑" panose="020B0503020204020204" pitchFamily="34" charset="-122"/>
              </a:rPr>
              <a:t>活动定义包括识别并记载具体的活动，这些活动用来执行产出</a:t>
            </a:r>
            <a:r>
              <a:rPr kumimoji="0" lang="en-US" altLang="zh-CN" b="0" i="0" u="none" strike="noStrike" kern="1200" cap="none" spc="0" normalizeH="0" baseline="0" noProof="0" dirty="0">
                <a:ln>
                  <a:noFill/>
                </a:ln>
                <a:solidFill>
                  <a:srgbClr val="000000"/>
                </a:solidFill>
                <a:effectLst/>
                <a:uLnTx/>
                <a:uFillTx/>
                <a:latin typeface="微软雅黑" panose="020B0503020204020204" pitchFamily="34" charset="-122"/>
              </a:rPr>
              <a:t>WBS</a:t>
            </a:r>
            <a:r>
              <a:rPr kumimoji="0" lang="zh-CN" altLang="en-US" b="0" i="0" u="none" strike="noStrike" kern="1200" cap="none" spc="0" normalizeH="0" baseline="0" noProof="0" dirty="0">
                <a:ln>
                  <a:noFill/>
                </a:ln>
                <a:solidFill>
                  <a:srgbClr val="000000"/>
                </a:solidFill>
                <a:effectLst/>
                <a:uLnTx/>
                <a:uFillTx/>
                <a:latin typeface="微软雅黑" panose="020B0503020204020204" pitchFamily="34" charset="-122"/>
              </a:rPr>
              <a:t>中识别的成果或子成果。下列所有关于活动定义的输出活动列表的说法，哪些是不对的：</a:t>
            </a:r>
          </a:p>
          <a:p>
            <a:pPr marL="457200" marR="0" lvl="1" indent="0" algn="l" defTabSz="914400" rtl="0" eaLnBrk="1" fontAlgn="base" latinLnBrk="0" hangingPunct="1">
              <a:lnSpc>
                <a:spcPct val="150000"/>
              </a:lnSpc>
              <a:spcBef>
                <a:spcPct val="20000"/>
              </a:spcBef>
              <a:spcAft>
                <a:spcPct val="0"/>
              </a:spcAft>
              <a:buClr>
                <a:srgbClr val="FF0000"/>
              </a:buClr>
              <a:buSzTx/>
              <a:buNone/>
              <a:tabLst/>
              <a:defRPr/>
            </a:pP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rPr>
              <a:t>A. </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rPr>
              <a:t>活动列表必须包括项目要执行的所有活动</a:t>
            </a:r>
          </a:p>
          <a:p>
            <a:pPr marL="457200" marR="0" lvl="1" indent="0" algn="l" defTabSz="914400" rtl="0" eaLnBrk="1" fontAlgn="base" latinLnBrk="0" hangingPunct="1">
              <a:lnSpc>
                <a:spcPct val="150000"/>
              </a:lnSpc>
              <a:spcBef>
                <a:spcPct val="20000"/>
              </a:spcBef>
              <a:spcAft>
                <a:spcPct val="0"/>
              </a:spcAft>
              <a:buClr>
                <a:srgbClr val="FF0000"/>
              </a:buClr>
              <a:buSzTx/>
              <a:buNone/>
              <a:tabLst/>
              <a:defRPr/>
            </a:pP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rPr>
              <a:t>B. </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rPr>
              <a:t>活动列表可能包括些活动这些活动不是项目被要求的部分</a:t>
            </a:r>
          </a:p>
          <a:p>
            <a:pPr marL="457200" marR="0" lvl="1" indent="0" algn="l" defTabSz="914400" rtl="0" eaLnBrk="1" fontAlgn="base" latinLnBrk="0" hangingPunct="1">
              <a:lnSpc>
                <a:spcPct val="150000"/>
              </a:lnSpc>
              <a:spcBef>
                <a:spcPct val="20000"/>
              </a:spcBef>
              <a:spcAft>
                <a:spcPct val="0"/>
              </a:spcAft>
              <a:buClr>
                <a:srgbClr val="FF0000"/>
              </a:buClr>
              <a:buSzTx/>
              <a:buNone/>
              <a:tabLst/>
              <a:defRPr/>
            </a:pP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rPr>
              <a:t>C. </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rPr>
              <a:t>活动列表包括每个活动的描述确保项目团队成员理解需要做什么工作</a:t>
            </a:r>
          </a:p>
          <a:p>
            <a:pPr marL="457200" marR="0" lvl="1" indent="0" algn="l" defTabSz="914400" rtl="0" eaLnBrk="1" fontAlgn="base" latinLnBrk="0" hangingPunct="1">
              <a:lnSpc>
                <a:spcPct val="150000"/>
              </a:lnSpc>
              <a:spcBef>
                <a:spcPct val="20000"/>
              </a:spcBef>
              <a:spcAft>
                <a:spcPct val="0"/>
              </a:spcAft>
              <a:buClr>
                <a:srgbClr val="FF0000"/>
              </a:buClr>
              <a:buSzTx/>
              <a:buNone/>
              <a:tabLst/>
              <a:defRPr/>
            </a:pP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rPr>
              <a:t>D. </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rPr>
              <a:t>活动列表用于进度模型是项目管理计划的组成部分</a:t>
            </a:r>
          </a:p>
          <a:p>
            <a:endParaRPr lang="zh-CN" altLang="en-US" dirty="0"/>
          </a:p>
        </p:txBody>
      </p:sp>
    </p:spTree>
    <p:extLst>
      <p:ext uri="{BB962C8B-B14F-4D97-AF65-F5344CB8AC3E}">
        <p14:creationId xmlns:p14="http://schemas.microsoft.com/office/powerpoint/2010/main" val="2661859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91EC7E-062E-42B6-BB70-FDB6952E905C}"/>
              </a:ext>
            </a:extLst>
          </p:cNvPr>
          <p:cNvSpPr>
            <a:spLocks noGrp="1"/>
          </p:cNvSpPr>
          <p:nvPr>
            <p:ph type="title"/>
          </p:nvPr>
        </p:nvSpPr>
        <p:spPr/>
        <p:txBody>
          <a:bodyPr/>
          <a:lstStyle/>
          <a:p>
            <a:r>
              <a:rPr lang="en-US" altLang="zh-CN" dirty="0"/>
              <a:t>12.4 </a:t>
            </a:r>
            <a:r>
              <a:rPr lang="zh-CN" altLang="en-US" dirty="0"/>
              <a:t>排列活动顺序</a:t>
            </a:r>
          </a:p>
        </p:txBody>
      </p:sp>
      <p:sp>
        <p:nvSpPr>
          <p:cNvPr id="4" name="Rectangle 3">
            <a:extLst>
              <a:ext uri="{FF2B5EF4-FFF2-40B4-BE49-F238E27FC236}">
                <a16:creationId xmlns:a16="http://schemas.microsoft.com/office/drawing/2014/main" id="{8DBDAA45-3FBD-40BC-8229-FAB7FF26E7D9}"/>
              </a:ext>
            </a:extLst>
          </p:cNvPr>
          <p:cNvSpPr txBox="1">
            <a:spLocks noChangeArrowheads="1"/>
          </p:cNvSpPr>
          <p:nvPr/>
        </p:nvSpPr>
        <p:spPr>
          <a:xfrm>
            <a:off x="525954" y="1321221"/>
            <a:ext cx="11129485" cy="170618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defRPr/>
            </a:pPr>
            <a:r>
              <a:rPr lang="zh-CN" altLang="en-US" sz="2400" b="1" dirty="0"/>
              <a:t>排序活动</a:t>
            </a:r>
            <a:endParaRPr lang="en-US" altLang="zh-CN" sz="2400" b="1" dirty="0"/>
          </a:p>
          <a:p>
            <a:pPr marL="0" indent="0">
              <a:buNone/>
              <a:defRPr/>
            </a:pPr>
            <a:r>
              <a:rPr lang="zh-CN" altLang="zh-CN" sz="2000" b="1" dirty="0"/>
              <a:t>是根据项目清单的各项活动，确定各活动之间的相互关联以及依赖关系，科学合理地确定项目活动的先后顺序，并形成相应文档的过程。</a:t>
            </a:r>
            <a:endParaRPr lang="en-US" altLang="zh-CN" sz="2000" b="1" dirty="0"/>
          </a:p>
          <a:p>
            <a:pPr marL="0" indent="0">
              <a:buNone/>
              <a:defRPr/>
            </a:pPr>
            <a:r>
              <a:rPr lang="zh-CN" altLang="zh-CN" sz="2000" b="1" dirty="0"/>
              <a:t>定义工作之间的逻辑顺序，以便在既定的所有项目制约因素下获得最高的效率</a:t>
            </a:r>
            <a:endParaRPr lang="en-US" altLang="zh-CN" sz="2000" b="1" dirty="0"/>
          </a:p>
          <a:p>
            <a:pPr marL="87313" lvl="1" indent="0">
              <a:buNone/>
              <a:defRPr/>
            </a:pPr>
            <a:endParaRPr lang="zh-CN" altLang="en-US" dirty="0"/>
          </a:p>
        </p:txBody>
      </p:sp>
      <p:pic>
        <p:nvPicPr>
          <p:cNvPr id="7" name="图片 1">
            <a:extLst>
              <a:ext uri="{FF2B5EF4-FFF2-40B4-BE49-F238E27FC236}">
                <a16:creationId xmlns:a16="http://schemas.microsoft.com/office/drawing/2014/main" id="{E63A92BA-6714-4FA0-A9D2-D5433024FD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0584" y="2959629"/>
            <a:ext cx="8394195" cy="3532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65145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91EC7E-062E-42B6-BB70-FDB6952E905C}"/>
              </a:ext>
            </a:extLst>
          </p:cNvPr>
          <p:cNvSpPr>
            <a:spLocks noGrp="1"/>
          </p:cNvSpPr>
          <p:nvPr>
            <p:ph type="title"/>
          </p:nvPr>
        </p:nvSpPr>
        <p:spPr/>
        <p:txBody>
          <a:bodyPr/>
          <a:lstStyle/>
          <a:p>
            <a:r>
              <a:rPr lang="en-US" altLang="zh-CN" dirty="0"/>
              <a:t>12.4 </a:t>
            </a:r>
            <a:r>
              <a:rPr lang="zh-CN" altLang="en-US" dirty="0"/>
              <a:t>排列活动顺序</a:t>
            </a:r>
          </a:p>
        </p:txBody>
      </p:sp>
      <p:sp>
        <p:nvSpPr>
          <p:cNvPr id="4" name="Rectangle 3">
            <a:extLst>
              <a:ext uri="{FF2B5EF4-FFF2-40B4-BE49-F238E27FC236}">
                <a16:creationId xmlns:a16="http://schemas.microsoft.com/office/drawing/2014/main" id="{8DBDAA45-3FBD-40BC-8229-FAB7FF26E7D9}"/>
              </a:ext>
            </a:extLst>
          </p:cNvPr>
          <p:cNvSpPr txBox="1">
            <a:spLocks noChangeArrowheads="1"/>
          </p:cNvSpPr>
          <p:nvPr/>
        </p:nvSpPr>
        <p:spPr>
          <a:xfrm>
            <a:off x="489859" y="1321221"/>
            <a:ext cx="5922974" cy="477248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defRPr/>
            </a:pPr>
            <a:r>
              <a:rPr lang="zh-CN" altLang="en-US" sz="2400" b="1" dirty="0">
                <a:cs typeface="Times New Roman" pitchFamily="18" charset="0"/>
              </a:rPr>
              <a:t>确定和整合</a:t>
            </a:r>
            <a:r>
              <a:rPr lang="zh-CN" altLang="zh-CN" sz="2400" b="1" dirty="0">
                <a:cs typeface="Times New Roman" pitchFamily="18" charset="0"/>
              </a:rPr>
              <a:t>活动依赖关系</a:t>
            </a:r>
            <a:endParaRPr lang="en-US" altLang="zh-CN" sz="2400" b="1" dirty="0"/>
          </a:p>
          <a:p>
            <a:pPr marL="630238" lvl="3" indent="0" defTabSz="449263">
              <a:spcBef>
                <a:spcPts val="600"/>
              </a:spcBef>
              <a:buNone/>
            </a:pPr>
            <a:r>
              <a:rPr lang="en-US" altLang="zh-CN" dirty="0">
                <a:cs typeface="Times New Roman" pitchFamily="18" charset="0"/>
              </a:rPr>
              <a:t>(1) </a:t>
            </a:r>
            <a:r>
              <a:rPr lang="zh-CN" altLang="zh-CN" dirty="0">
                <a:cs typeface="Times New Roman" pitchFamily="18" charset="0"/>
              </a:rPr>
              <a:t>强制性依赖关系</a:t>
            </a:r>
            <a:endParaRPr lang="en-US" altLang="zh-CN" dirty="0">
              <a:cs typeface="Times New Roman" pitchFamily="18" charset="0"/>
            </a:endParaRPr>
          </a:p>
          <a:p>
            <a:pPr marL="1087438" lvl="4" indent="0" defTabSz="449263">
              <a:spcBef>
                <a:spcPts val="600"/>
              </a:spcBef>
              <a:buNone/>
            </a:pPr>
            <a:r>
              <a:rPr lang="zh-CN" altLang="zh-CN" sz="1800" dirty="0"/>
              <a:t>法律或合同要求的或工作内在性质决定的依赖关系。</a:t>
            </a:r>
            <a:endParaRPr lang="en-US" altLang="zh-CN" sz="1800" dirty="0"/>
          </a:p>
          <a:p>
            <a:pPr marL="1087438" lvl="4" indent="0" defTabSz="449263">
              <a:spcBef>
                <a:spcPts val="600"/>
              </a:spcBef>
              <a:buNone/>
            </a:pPr>
            <a:r>
              <a:rPr lang="zh-CN" altLang="zh-CN" sz="1800" dirty="0"/>
              <a:t>往往与客观限制有关。也称为硬逻辑或硬依赖。</a:t>
            </a:r>
            <a:endParaRPr lang="en-US" altLang="zh-CN" sz="1800" dirty="0"/>
          </a:p>
          <a:p>
            <a:pPr marL="630238" lvl="3" indent="0" defTabSz="449263">
              <a:spcBef>
                <a:spcPts val="600"/>
              </a:spcBef>
              <a:buNone/>
            </a:pPr>
            <a:r>
              <a:rPr lang="en-US" altLang="zh-CN" dirty="0">
                <a:cs typeface="Times New Roman" pitchFamily="18" charset="0"/>
              </a:rPr>
              <a:t>(2) </a:t>
            </a:r>
            <a:r>
              <a:rPr lang="zh-CN" altLang="en-US" dirty="0">
                <a:cs typeface="Times New Roman" pitchFamily="18" charset="0"/>
              </a:rPr>
              <a:t>选择性依赖关系</a:t>
            </a:r>
            <a:endParaRPr lang="en-US" altLang="zh-CN" dirty="0">
              <a:cs typeface="Times New Roman" pitchFamily="18" charset="0"/>
            </a:endParaRPr>
          </a:p>
          <a:p>
            <a:pPr marL="630238" lvl="3" indent="0" defTabSz="449263">
              <a:spcBef>
                <a:spcPts val="600"/>
              </a:spcBef>
              <a:buNone/>
            </a:pPr>
            <a:r>
              <a:rPr lang="en-US" altLang="zh-CN" sz="1800" dirty="0"/>
              <a:t>	  </a:t>
            </a:r>
            <a:r>
              <a:rPr lang="zh-CN" altLang="zh-CN" sz="1800" dirty="0"/>
              <a:t>也称首选依赖关系、优先依赖关系或软逻辑关系。</a:t>
            </a:r>
          </a:p>
          <a:p>
            <a:pPr marL="630238" lvl="3" indent="0" defTabSz="449263">
              <a:spcBef>
                <a:spcPts val="600"/>
              </a:spcBef>
              <a:buNone/>
            </a:pPr>
            <a:r>
              <a:rPr lang="en-US" altLang="zh-CN" dirty="0">
                <a:cs typeface="Times New Roman" pitchFamily="18" charset="0"/>
              </a:rPr>
              <a:t>(3) </a:t>
            </a:r>
            <a:r>
              <a:rPr lang="zh-CN" altLang="zh-CN" dirty="0">
                <a:cs typeface="Times New Roman" pitchFamily="18" charset="0"/>
              </a:rPr>
              <a:t>外部依赖关系</a:t>
            </a:r>
            <a:endParaRPr lang="en-US" altLang="zh-CN" dirty="0">
              <a:cs typeface="Times New Roman" pitchFamily="18" charset="0"/>
            </a:endParaRPr>
          </a:p>
          <a:p>
            <a:pPr marL="630238" lvl="3" indent="0" defTabSz="449263">
              <a:spcBef>
                <a:spcPts val="600"/>
              </a:spcBef>
              <a:buNone/>
            </a:pPr>
            <a:r>
              <a:rPr lang="en-US" altLang="zh-CN" dirty="0">
                <a:cs typeface="Times New Roman" pitchFamily="18" charset="0"/>
              </a:rPr>
              <a:t>	</a:t>
            </a:r>
            <a:r>
              <a:rPr lang="zh-CN" altLang="zh-CN" sz="1800" dirty="0"/>
              <a:t>项目活动与非项目活动之间的依赖关系。这些关系往往不在项目团队的控制范围内。</a:t>
            </a:r>
            <a:endParaRPr lang="en-US" altLang="zh-CN" sz="1800" dirty="0"/>
          </a:p>
          <a:p>
            <a:pPr marL="630238" lvl="3" indent="0" defTabSz="449263">
              <a:spcBef>
                <a:spcPts val="600"/>
              </a:spcBef>
              <a:buNone/>
            </a:pPr>
            <a:r>
              <a:rPr lang="en-US" altLang="zh-CN" dirty="0"/>
              <a:t>(4) </a:t>
            </a:r>
            <a:r>
              <a:rPr lang="zh-CN" altLang="zh-CN" dirty="0"/>
              <a:t>内部依赖关系</a:t>
            </a:r>
            <a:endParaRPr lang="en-US" altLang="zh-CN" dirty="0"/>
          </a:p>
          <a:p>
            <a:pPr marL="630238" lvl="3" indent="0" defTabSz="449263">
              <a:spcBef>
                <a:spcPts val="600"/>
              </a:spcBef>
              <a:buNone/>
            </a:pPr>
            <a:r>
              <a:rPr lang="en-US" altLang="zh-CN" sz="1800" dirty="0"/>
              <a:t>	</a:t>
            </a:r>
            <a:r>
              <a:rPr lang="zh-CN" altLang="zh-CN" sz="1800" dirty="0"/>
              <a:t>内部依赖关系是项目活动之间的紧前关系</a:t>
            </a:r>
            <a:r>
              <a:rPr lang="zh-CN" altLang="en-US" sz="1800" b="0" i="0" u="none" strike="noStrike" baseline="0" dirty="0">
                <a:latin typeface="SourceHanSansSC-Regular"/>
              </a:rPr>
              <a:t>，通常在项目团队的控制之中</a:t>
            </a:r>
            <a:r>
              <a:rPr lang="zh-CN" altLang="zh-CN" sz="1800" dirty="0"/>
              <a:t>。</a:t>
            </a:r>
          </a:p>
          <a:p>
            <a:pPr marL="630238" lvl="3" indent="0" defTabSz="449263">
              <a:spcBef>
                <a:spcPts val="600"/>
              </a:spcBef>
              <a:buNone/>
            </a:pPr>
            <a:endParaRPr lang="zh-CN" altLang="zh-CN" dirty="0"/>
          </a:p>
          <a:p>
            <a:pPr marL="630238" lvl="3" indent="0" defTabSz="449263">
              <a:spcBef>
                <a:spcPts val="600"/>
              </a:spcBef>
              <a:buNone/>
            </a:pPr>
            <a:endParaRPr lang="en-US" altLang="zh-CN" dirty="0">
              <a:cs typeface="Times New Roman" pitchFamily="18" charset="0"/>
            </a:endParaRPr>
          </a:p>
          <a:p>
            <a:pPr marL="87313" lvl="1" indent="0">
              <a:buNone/>
              <a:defRPr/>
            </a:pPr>
            <a:endParaRPr lang="zh-CN" altLang="en-US" dirty="0"/>
          </a:p>
        </p:txBody>
      </p:sp>
      <p:pic>
        <p:nvPicPr>
          <p:cNvPr id="7" name="Picture 4">
            <a:extLst>
              <a:ext uri="{FF2B5EF4-FFF2-40B4-BE49-F238E27FC236}">
                <a16:creationId xmlns:a16="http://schemas.microsoft.com/office/drawing/2014/main" id="{72261E88-D151-4699-9E03-94224AB9D4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38297" y="2992520"/>
            <a:ext cx="1489279" cy="1486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5">
            <a:extLst>
              <a:ext uri="{FF2B5EF4-FFF2-40B4-BE49-F238E27FC236}">
                <a16:creationId xmlns:a16="http://schemas.microsoft.com/office/drawing/2014/main" id="{BC27F2D0-D5B3-4667-A54F-838A32EEF0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8556" y="4844426"/>
            <a:ext cx="1447933" cy="1547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 Box 7">
            <a:extLst>
              <a:ext uri="{FF2B5EF4-FFF2-40B4-BE49-F238E27FC236}">
                <a16:creationId xmlns:a16="http://schemas.microsoft.com/office/drawing/2014/main" id="{250D52EE-2EB7-4CDB-A3B5-07031B14FF77}"/>
              </a:ext>
            </a:extLst>
          </p:cNvPr>
          <p:cNvSpPr txBox="1">
            <a:spLocks noChangeArrowheads="1"/>
          </p:cNvSpPr>
          <p:nvPr/>
        </p:nvSpPr>
        <p:spPr bwMode="auto">
          <a:xfrm>
            <a:off x="7088556" y="3432341"/>
            <a:ext cx="2670916"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外部逻辑：依赖于其他因素，如只有天气合适，才适合滑雪</a:t>
            </a:r>
          </a:p>
        </p:txBody>
      </p:sp>
      <p:sp>
        <p:nvSpPr>
          <p:cNvPr id="13" name="Text Box 8">
            <a:extLst>
              <a:ext uri="{FF2B5EF4-FFF2-40B4-BE49-F238E27FC236}">
                <a16:creationId xmlns:a16="http://schemas.microsoft.com/office/drawing/2014/main" id="{3EC21029-7D5C-42AB-B301-40E425E82D8F}"/>
              </a:ext>
            </a:extLst>
          </p:cNvPr>
          <p:cNvSpPr txBox="1">
            <a:spLocks noChangeArrowheads="1"/>
          </p:cNvSpPr>
          <p:nvPr/>
        </p:nvSpPr>
        <p:spPr bwMode="auto">
          <a:xfrm>
            <a:off x="8555978" y="5643604"/>
            <a:ext cx="288549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软逻辑：可以先高尔夫，再游泳，也可反之进行</a:t>
            </a:r>
          </a:p>
        </p:txBody>
      </p:sp>
      <p:graphicFrame>
        <p:nvGraphicFramePr>
          <p:cNvPr id="10" name="对象 9">
            <a:extLst>
              <a:ext uri="{FF2B5EF4-FFF2-40B4-BE49-F238E27FC236}">
                <a16:creationId xmlns:a16="http://schemas.microsoft.com/office/drawing/2014/main" id="{D44F5C56-C950-4A75-8F77-BC4BFADB4F0A}"/>
              </a:ext>
            </a:extLst>
          </p:cNvPr>
          <p:cNvGraphicFramePr>
            <a:graphicFrameLocks noChangeAspect="1"/>
          </p:cNvGraphicFramePr>
          <p:nvPr>
            <p:extLst>
              <p:ext uri="{D42A27DB-BD31-4B8C-83A1-F6EECF244321}">
                <p14:modId xmlns:p14="http://schemas.microsoft.com/office/powerpoint/2010/main" val="2731765297"/>
              </p:ext>
            </p:extLst>
          </p:nvPr>
        </p:nvGraphicFramePr>
        <p:xfrm>
          <a:off x="7088556" y="1249086"/>
          <a:ext cx="3822090" cy="1695827"/>
        </p:xfrm>
        <a:graphic>
          <a:graphicData uri="http://schemas.openxmlformats.org/presentationml/2006/ole">
            <mc:AlternateContent xmlns:mc="http://schemas.openxmlformats.org/markup-compatibility/2006">
              <mc:Choice xmlns:v="urn:schemas-microsoft-com:vml" Requires="v">
                <p:oleObj name="Visio" r:id="rId5" imgW="2373286" imgH="1288571" progId="Visio.Drawing.11">
                  <p:embed/>
                </p:oleObj>
              </mc:Choice>
              <mc:Fallback>
                <p:oleObj name="Visio" r:id="rId5" imgW="2373286" imgH="1288571" progId="Visio.Drawing.11">
                  <p:embed/>
                  <p:pic>
                    <p:nvPicPr>
                      <p:cNvPr id="9" name="对象 8">
                        <a:extLst>
                          <a:ext uri="{FF2B5EF4-FFF2-40B4-BE49-F238E27FC236}">
                            <a16:creationId xmlns:a16="http://schemas.microsoft.com/office/drawing/2014/main" id="{9DC6BDD6-D000-4A98-A3F9-C245ED83CC2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88556" y="1249086"/>
                        <a:ext cx="3822090" cy="1695827"/>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461153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91EC7E-062E-42B6-BB70-FDB6952E905C}"/>
              </a:ext>
            </a:extLst>
          </p:cNvPr>
          <p:cNvSpPr>
            <a:spLocks noGrp="1"/>
          </p:cNvSpPr>
          <p:nvPr>
            <p:ph type="title"/>
          </p:nvPr>
        </p:nvSpPr>
        <p:spPr/>
        <p:txBody>
          <a:bodyPr/>
          <a:lstStyle/>
          <a:p>
            <a:r>
              <a:rPr lang="en-US" altLang="zh-CN" dirty="0"/>
              <a:t>12.4 </a:t>
            </a:r>
            <a:r>
              <a:rPr lang="zh-CN" altLang="en-US" dirty="0"/>
              <a:t>排列活动顺序</a:t>
            </a:r>
          </a:p>
        </p:txBody>
      </p:sp>
      <p:sp>
        <p:nvSpPr>
          <p:cNvPr id="4" name="Rectangle 3">
            <a:extLst>
              <a:ext uri="{FF2B5EF4-FFF2-40B4-BE49-F238E27FC236}">
                <a16:creationId xmlns:a16="http://schemas.microsoft.com/office/drawing/2014/main" id="{8DBDAA45-3FBD-40BC-8229-FAB7FF26E7D9}"/>
              </a:ext>
            </a:extLst>
          </p:cNvPr>
          <p:cNvSpPr txBox="1">
            <a:spLocks noChangeArrowheads="1"/>
          </p:cNvSpPr>
          <p:nvPr/>
        </p:nvSpPr>
        <p:spPr>
          <a:xfrm>
            <a:off x="597466" y="3287265"/>
            <a:ext cx="3096984" cy="210193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defRPr/>
            </a:pPr>
            <a:r>
              <a:rPr lang="zh-CN" altLang="en-US" sz="2200" b="1" dirty="0"/>
              <a:t>活动时间相关性</a:t>
            </a:r>
            <a:endParaRPr lang="en-US" altLang="zh-CN" sz="2200" b="1" dirty="0"/>
          </a:p>
          <a:p>
            <a:pPr marL="271463" lvl="3" indent="0" defTabSz="449263">
              <a:spcBef>
                <a:spcPts val="600"/>
              </a:spcBef>
              <a:buNone/>
            </a:pPr>
            <a:r>
              <a:rPr lang="en-US" altLang="zh-CN" dirty="0">
                <a:cs typeface="Times New Roman" pitchFamily="18" charset="0"/>
              </a:rPr>
              <a:t>(1) </a:t>
            </a:r>
            <a:r>
              <a:rPr lang="zh-CN" altLang="en-US" dirty="0">
                <a:cs typeface="Times New Roman" pitchFamily="18" charset="0"/>
              </a:rPr>
              <a:t>完成</a:t>
            </a:r>
            <a:r>
              <a:rPr lang="en-US" altLang="zh-CN" dirty="0">
                <a:cs typeface="Times New Roman" pitchFamily="18" charset="0"/>
              </a:rPr>
              <a:t>—</a:t>
            </a:r>
            <a:r>
              <a:rPr lang="zh-CN" altLang="en-US" dirty="0">
                <a:cs typeface="Times New Roman" pitchFamily="18" charset="0"/>
              </a:rPr>
              <a:t>开始</a:t>
            </a:r>
            <a:endParaRPr lang="en-US" altLang="zh-CN" dirty="0">
              <a:cs typeface="Times New Roman" pitchFamily="18" charset="0"/>
            </a:endParaRPr>
          </a:p>
          <a:p>
            <a:pPr marL="271463" lvl="3" indent="0" defTabSz="449263">
              <a:spcBef>
                <a:spcPts val="600"/>
              </a:spcBef>
              <a:buNone/>
            </a:pPr>
            <a:r>
              <a:rPr lang="en-US" altLang="zh-CN" dirty="0">
                <a:cs typeface="Times New Roman" pitchFamily="18" charset="0"/>
              </a:rPr>
              <a:t>(2) </a:t>
            </a:r>
            <a:r>
              <a:rPr lang="zh-CN" altLang="en-US" dirty="0">
                <a:cs typeface="Times New Roman" pitchFamily="18" charset="0"/>
              </a:rPr>
              <a:t>完成</a:t>
            </a:r>
            <a:r>
              <a:rPr lang="en-US" altLang="zh-CN" dirty="0">
                <a:cs typeface="Times New Roman" pitchFamily="18" charset="0"/>
              </a:rPr>
              <a:t>—</a:t>
            </a:r>
            <a:r>
              <a:rPr lang="zh-CN" altLang="en-US" dirty="0">
                <a:cs typeface="Times New Roman" pitchFamily="18" charset="0"/>
              </a:rPr>
              <a:t>完成 </a:t>
            </a:r>
            <a:endParaRPr lang="en-US" altLang="zh-CN" dirty="0">
              <a:cs typeface="Times New Roman" pitchFamily="18" charset="0"/>
            </a:endParaRPr>
          </a:p>
          <a:p>
            <a:pPr marL="271463" lvl="3" indent="0" defTabSz="449263">
              <a:spcBef>
                <a:spcPts val="600"/>
              </a:spcBef>
              <a:buNone/>
            </a:pPr>
            <a:r>
              <a:rPr lang="en-US" altLang="zh-CN" dirty="0">
                <a:cs typeface="Times New Roman" pitchFamily="18" charset="0"/>
              </a:rPr>
              <a:t>(3) </a:t>
            </a:r>
            <a:r>
              <a:rPr lang="zh-CN" altLang="en-US" dirty="0">
                <a:cs typeface="Times New Roman" pitchFamily="18" charset="0"/>
              </a:rPr>
              <a:t>开始</a:t>
            </a:r>
            <a:r>
              <a:rPr lang="en-US" altLang="zh-CN" dirty="0">
                <a:cs typeface="Times New Roman" pitchFamily="18" charset="0"/>
              </a:rPr>
              <a:t>—</a:t>
            </a:r>
            <a:r>
              <a:rPr lang="zh-CN" altLang="en-US" dirty="0">
                <a:cs typeface="Times New Roman" pitchFamily="18" charset="0"/>
              </a:rPr>
              <a:t>开始 </a:t>
            </a:r>
            <a:endParaRPr lang="en-US" altLang="zh-CN" dirty="0">
              <a:cs typeface="Times New Roman" pitchFamily="18" charset="0"/>
            </a:endParaRPr>
          </a:p>
          <a:p>
            <a:pPr marL="271463" lvl="3" indent="0" defTabSz="449263">
              <a:spcBef>
                <a:spcPts val="600"/>
              </a:spcBef>
              <a:buNone/>
            </a:pPr>
            <a:r>
              <a:rPr lang="en-US" altLang="zh-CN" dirty="0">
                <a:cs typeface="Times New Roman" pitchFamily="18" charset="0"/>
              </a:rPr>
              <a:t>(4) </a:t>
            </a:r>
            <a:r>
              <a:rPr lang="zh-CN" altLang="en-US" dirty="0">
                <a:cs typeface="Times New Roman" pitchFamily="18" charset="0"/>
              </a:rPr>
              <a:t>开始</a:t>
            </a:r>
            <a:r>
              <a:rPr lang="en-US" altLang="zh-CN" dirty="0">
                <a:cs typeface="Times New Roman" pitchFamily="18" charset="0"/>
              </a:rPr>
              <a:t>—</a:t>
            </a:r>
            <a:r>
              <a:rPr lang="zh-CN" altLang="en-US" dirty="0">
                <a:cs typeface="Times New Roman" pitchFamily="18" charset="0"/>
              </a:rPr>
              <a:t>完成</a:t>
            </a:r>
            <a:endParaRPr lang="en-US" altLang="zh-CN" dirty="0">
              <a:cs typeface="Times New Roman" pitchFamily="18" charset="0"/>
            </a:endParaRPr>
          </a:p>
          <a:p>
            <a:pPr marL="0" indent="0">
              <a:buNone/>
              <a:defRPr/>
            </a:pPr>
            <a:endParaRPr lang="en-US" altLang="zh-CN" sz="2000" dirty="0">
              <a:latin typeface="Microsoft YaHei Light" panose="020B0502040204020203" pitchFamily="34" charset="-122"/>
              <a:ea typeface="Microsoft YaHei Light" panose="020B0502040204020203" pitchFamily="34" charset="-122"/>
            </a:endParaRPr>
          </a:p>
          <a:p>
            <a:pPr marL="87313" lvl="1" indent="0">
              <a:buNone/>
              <a:defRPr/>
            </a:pPr>
            <a:endParaRPr lang="zh-CN" altLang="en-US" dirty="0"/>
          </a:p>
        </p:txBody>
      </p:sp>
      <p:sp>
        <p:nvSpPr>
          <p:cNvPr id="6" name="Rectangle 2">
            <a:extLst>
              <a:ext uri="{FF2B5EF4-FFF2-40B4-BE49-F238E27FC236}">
                <a16:creationId xmlns:a16="http://schemas.microsoft.com/office/drawing/2014/main" id="{2B1AC587-150D-48B8-ACC2-5DF5090F9696}"/>
              </a:ext>
            </a:extLst>
          </p:cNvPr>
          <p:cNvSpPr txBox="1">
            <a:spLocks noChangeArrowheads="1"/>
          </p:cNvSpPr>
          <p:nvPr/>
        </p:nvSpPr>
        <p:spPr bwMode="auto">
          <a:xfrm>
            <a:off x="5140247" y="2753544"/>
            <a:ext cx="5084762" cy="563562"/>
          </a:xfrm>
          <a:prstGeom prst="rect">
            <a:avLst/>
          </a:prstGeom>
          <a:noFill/>
          <a:ln>
            <a:noFill/>
          </a:ln>
        </p:spPr>
        <p:txBody>
          <a:bodyPr anchor="ctr"/>
          <a:lstStyle>
            <a:lvl1pPr algn="ctr" rtl="0" eaLnBrk="0" fontAlgn="base" hangingPunct="0">
              <a:spcBef>
                <a:spcPct val="0"/>
              </a:spcBef>
              <a:spcAft>
                <a:spcPct val="0"/>
              </a:spcAft>
              <a:defRPr sz="4400" b="1">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pPr eaLnBrk="1" hangingPunct="1">
              <a:defRPr/>
            </a:pPr>
            <a:r>
              <a:rPr lang="zh-CN" altLang="en-US" sz="2400" kern="0" dirty="0">
                <a:latin typeface="微软雅黑" panose="020B0503020204020204" pitchFamily="34" charset="-122"/>
                <a:ea typeface="微软雅黑" panose="020B0503020204020204" pitchFamily="34" charset="-122"/>
              </a:rPr>
              <a:t>活动逻辑关系表达</a:t>
            </a:r>
          </a:p>
        </p:txBody>
      </p:sp>
      <p:grpSp>
        <p:nvGrpSpPr>
          <p:cNvPr id="2" name="组合 1">
            <a:extLst>
              <a:ext uri="{FF2B5EF4-FFF2-40B4-BE49-F238E27FC236}">
                <a16:creationId xmlns:a16="http://schemas.microsoft.com/office/drawing/2014/main" id="{0F159FB7-866B-9750-6ACD-B2E70AEBF779}"/>
              </a:ext>
            </a:extLst>
          </p:cNvPr>
          <p:cNvGrpSpPr/>
          <p:nvPr/>
        </p:nvGrpSpPr>
        <p:grpSpPr>
          <a:xfrm>
            <a:off x="3953552" y="3258367"/>
            <a:ext cx="7704138" cy="3243261"/>
            <a:chOff x="4005942" y="2890763"/>
            <a:chExt cx="7704138" cy="3243261"/>
          </a:xfrm>
        </p:grpSpPr>
        <p:sp>
          <p:nvSpPr>
            <p:cNvPr id="7" name="Rectangle 3">
              <a:extLst>
                <a:ext uri="{FF2B5EF4-FFF2-40B4-BE49-F238E27FC236}">
                  <a16:creationId xmlns:a16="http://schemas.microsoft.com/office/drawing/2014/main" id="{144D59C5-E619-444A-AB84-9F358653521B}"/>
                </a:ext>
              </a:extLst>
            </p:cNvPr>
            <p:cNvSpPr>
              <a:spLocks noChangeArrowheads="1"/>
            </p:cNvSpPr>
            <p:nvPr/>
          </p:nvSpPr>
          <p:spPr bwMode="auto">
            <a:xfrm>
              <a:off x="4005942" y="2890763"/>
              <a:ext cx="7696200" cy="3243261"/>
            </a:xfrm>
            <a:prstGeom prst="rect">
              <a:avLst/>
            </a:prstGeom>
            <a:blipFill dpi="0" rotWithShape="1">
              <a:blip r:embed="rId3"/>
              <a:srcRect/>
              <a:tile tx="0" ty="0" sx="100000" sy="100000" flip="none" algn="tl"/>
            </a:blip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b="1">
                <a:latin typeface="黑体" panose="02010609060101010101" pitchFamily="49" charset="-122"/>
                <a:ea typeface="黑体" panose="02010609060101010101" pitchFamily="49" charset="-122"/>
              </a:endParaRPr>
            </a:p>
          </p:txBody>
        </p:sp>
        <p:sp>
          <p:nvSpPr>
            <p:cNvPr id="8" name="Line 4">
              <a:extLst>
                <a:ext uri="{FF2B5EF4-FFF2-40B4-BE49-F238E27FC236}">
                  <a16:creationId xmlns:a16="http://schemas.microsoft.com/office/drawing/2014/main" id="{B1FD39DE-AF70-4F74-8E22-6604DFCB990A}"/>
                </a:ext>
              </a:extLst>
            </p:cNvPr>
            <p:cNvSpPr>
              <a:spLocks noChangeShapeType="1"/>
            </p:cNvSpPr>
            <p:nvPr/>
          </p:nvSpPr>
          <p:spPr bwMode="auto">
            <a:xfrm>
              <a:off x="7814355" y="2890763"/>
              <a:ext cx="0" cy="324326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9" name="Line 5">
              <a:extLst>
                <a:ext uri="{FF2B5EF4-FFF2-40B4-BE49-F238E27FC236}">
                  <a16:creationId xmlns:a16="http://schemas.microsoft.com/office/drawing/2014/main" id="{D314EC90-71D8-454E-AC3D-18C8A4A1DFCA}"/>
                </a:ext>
              </a:extLst>
            </p:cNvPr>
            <p:cNvSpPr>
              <a:spLocks noChangeShapeType="1"/>
            </p:cNvSpPr>
            <p:nvPr/>
          </p:nvSpPr>
          <p:spPr bwMode="auto">
            <a:xfrm>
              <a:off x="4005942" y="4414763"/>
              <a:ext cx="38100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1" name="Line 7">
              <a:extLst>
                <a:ext uri="{FF2B5EF4-FFF2-40B4-BE49-F238E27FC236}">
                  <a16:creationId xmlns:a16="http://schemas.microsoft.com/office/drawing/2014/main" id="{5FC0F49F-4C84-49BF-85D9-F4C58812B821}"/>
                </a:ext>
              </a:extLst>
            </p:cNvPr>
            <p:cNvSpPr>
              <a:spLocks noChangeShapeType="1"/>
            </p:cNvSpPr>
            <p:nvPr/>
          </p:nvSpPr>
          <p:spPr bwMode="auto">
            <a:xfrm>
              <a:off x="7823880" y="4410882"/>
              <a:ext cx="38862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2" name="Rectangle 8">
              <a:extLst>
                <a:ext uri="{FF2B5EF4-FFF2-40B4-BE49-F238E27FC236}">
                  <a16:creationId xmlns:a16="http://schemas.microsoft.com/office/drawing/2014/main" id="{9F7C0E9E-6234-41E4-9697-1307B9861F23}"/>
                </a:ext>
              </a:extLst>
            </p:cNvPr>
            <p:cNvSpPr>
              <a:spLocks noChangeArrowheads="1"/>
            </p:cNvSpPr>
            <p:nvPr/>
          </p:nvSpPr>
          <p:spPr bwMode="auto">
            <a:xfrm>
              <a:off x="4615542" y="3728963"/>
              <a:ext cx="762000" cy="381000"/>
            </a:xfrm>
            <a:prstGeom prst="rect">
              <a:avLst/>
            </a:prstGeom>
            <a:gradFill rotWithShape="1">
              <a:gsLst>
                <a:gs pos="0">
                  <a:srgbClr val="8AB5EA"/>
                </a:gs>
                <a:gs pos="50000">
                  <a:srgbClr val="D8E6F8"/>
                </a:gs>
                <a:gs pos="100000">
                  <a:srgbClr val="8AB5EA"/>
                </a:gs>
              </a:gsLst>
              <a:lin ang="5400000" scaled="1"/>
            </a:gra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600" b="1">
                  <a:ea typeface="黑体" panose="02010609060101010101" pitchFamily="49" charset="-122"/>
                </a:rPr>
                <a:t>活动</a:t>
              </a:r>
              <a:r>
                <a:rPr lang="en-US" altLang="zh-CN" sz="1600" b="1">
                  <a:ea typeface="黑体" panose="02010609060101010101" pitchFamily="49" charset="-122"/>
                </a:rPr>
                <a:t>A</a:t>
              </a:r>
            </a:p>
          </p:txBody>
        </p:sp>
        <p:sp>
          <p:nvSpPr>
            <p:cNvPr id="13" name="Rectangle 9">
              <a:extLst>
                <a:ext uri="{FF2B5EF4-FFF2-40B4-BE49-F238E27FC236}">
                  <a16:creationId xmlns:a16="http://schemas.microsoft.com/office/drawing/2014/main" id="{2DCAC396-DCA3-47A9-BB77-A99D269FF2E7}"/>
                </a:ext>
              </a:extLst>
            </p:cNvPr>
            <p:cNvSpPr>
              <a:spLocks noChangeArrowheads="1"/>
            </p:cNvSpPr>
            <p:nvPr/>
          </p:nvSpPr>
          <p:spPr bwMode="auto">
            <a:xfrm>
              <a:off x="6139542" y="3728963"/>
              <a:ext cx="762000" cy="381000"/>
            </a:xfrm>
            <a:prstGeom prst="rect">
              <a:avLst/>
            </a:prstGeom>
            <a:gradFill rotWithShape="1">
              <a:gsLst>
                <a:gs pos="0">
                  <a:srgbClr val="8AB5EA"/>
                </a:gs>
                <a:gs pos="50000">
                  <a:srgbClr val="D8E6F8"/>
                </a:gs>
                <a:gs pos="100000">
                  <a:srgbClr val="8AB5EA"/>
                </a:gs>
              </a:gsLst>
              <a:lin ang="5400000" scaled="1"/>
            </a:gra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600" b="1">
                  <a:ea typeface="黑体" panose="02010609060101010101" pitchFamily="49" charset="-122"/>
                </a:rPr>
                <a:t>活动</a:t>
              </a:r>
              <a:r>
                <a:rPr lang="en-US" altLang="zh-CN" sz="1600">
                  <a:ea typeface="黑体" panose="02010609060101010101" pitchFamily="49" charset="-122"/>
                </a:rPr>
                <a:t>B</a:t>
              </a:r>
              <a:endParaRPr lang="en-US" altLang="zh-CN" sz="1600" b="1">
                <a:ea typeface="黑体" panose="02010609060101010101" pitchFamily="49" charset="-122"/>
              </a:endParaRPr>
            </a:p>
          </p:txBody>
        </p:sp>
        <p:sp>
          <p:nvSpPr>
            <p:cNvPr id="14" name="Rectangle 10">
              <a:extLst>
                <a:ext uri="{FF2B5EF4-FFF2-40B4-BE49-F238E27FC236}">
                  <a16:creationId xmlns:a16="http://schemas.microsoft.com/office/drawing/2014/main" id="{B1EF3146-1665-4E45-B716-2550A577B1BC}"/>
                </a:ext>
              </a:extLst>
            </p:cNvPr>
            <p:cNvSpPr>
              <a:spLocks noChangeArrowheads="1"/>
            </p:cNvSpPr>
            <p:nvPr/>
          </p:nvSpPr>
          <p:spPr bwMode="auto">
            <a:xfrm>
              <a:off x="8242980" y="3096765"/>
              <a:ext cx="762000" cy="381000"/>
            </a:xfrm>
            <a:prstGeom prst="rect">
              <a:avLst/>
            </a:prstGeom>
            <a:gradFill rotWithShape="1">
              <a:gsLst>
                <a:gs pos="0">
                  <a:srgbClr val="8AB5EA"/>
                </a:gs>
                <a:gs pos="50000">
                  <a:srgbClr val="D8E6F8"/>
                </a:gs>
                <a:gs pos="100000">
                  <a:srgbClr val="8AB5EA"/>
                </a:gs>
              </a:gsLst>
              <a:lin ang="5400000" scaled="1"/>
            </a:gra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600" b="1">
                  <a:ea typeface="黑体" panose="02010609060101010101" pitchFamily="49" charset="-122"/>
                </a:rPr>
                <a:t>活动</a:t>
              </a:r>
              <a:r>
                <a:rPr lang="en-US" altLang="zh-CN" sz="1600" b="1">
                  <a:ea typeface="黑体" panose="02010609060101010101" pitchFamily="49" charset="-122"/>
                </a:rPr>
                <a:t>A</a:t>
              </a:r>
            </a:p>
          </p:txBody>
        </p:sp>
        <p:sp>
          <p:nvSpPr>
            <p:cNvPr id="15" name="Rectangle 11">
              <a:extLst>
                <a:ext uri="{FF2B5EF4-FFF2-40B4-BE49-F238E27FC236}">
                  <a16:creationId xmlns:a16="http://schemas.microsoft.com/office/drawing/2014/main" id="{E25CBA4C-6375-45A3-B3CC-4BF186E09C8B}"/>
                </a:ext>
              </a:extLst>
            </p:cNvPr>
            <p:cNvSpPr>
              <a:spLocks noChangeArrowheads="1"/>
            </p:cNvSpPr>
            <p:nvPr/>
          </p:nvSpPr>
          <p:spPr bwMode="auto">
            <a:xfrm>
              <a:off x="9766980" y="3782565"/>
              <a:ext cx="762000" cy="381000"/>
            </a:xfrm>
            <a:prstGeom prst="rect">
              <a:avLst/>
            </a:prstGeom>
            <a:gradFill rotWithShape="1">
              <a:gsLst>
                <a:gs pos="0">
                  <a:srgbClr val="8AB5EA"/>
                </a:gs>
                <a:gs pos="50000">
                  <a:srgbClr val="D8E6F8"/>
                </a:gs>
                <a:gs pos="100000">
                  <a:srgbClr val="8AB5EA"/>
                </a:gs>
              </a:gsLst>
              <a:lin ang="5400000" scaled="1"/>
            </a:gra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600" b="1">
                  <a:ea typeface="黑体" panose="02010609060101010101" pitchFamily="49" charset="-122"/>
                </a:rPr>
                <a:t>活动</a:t>
              </a:r>
              <a:r>
                <a:rPr lang="en-US" altLang="zh-CN" sz="1600">
                  <a:ea typeface="黑体" panose="02010609060101010101" pitchFamily="49" charset="-122"/>
                </a:rPr>
                <a:t>B</a:t>
              </a:r>
              <a:endParaRPr lang="en-US" altLang="zh-CN" sz="1600" b="1">
                <a:ea typeface="黑体" panose="02010609060101010101" pitchFamily="49" charset="-122"/>
              </a:endParaRPr>
            </a:p>
          </p:txBody>
        </p:sp>
        <p:sp>
          <p:nvSpPr>
            <p:cNvPr id="16" name="Rectangle 12">
              <a:extLst>
                <a:ext uri="{FF2B5EF4-FFF2-40B4-BE49-F238E27FC236}">
                  <a16:creationId xmlns:a16="http://schemas.microsoft.com/office/drawing/2014/main" id="{D72AF37B-9A04-4FB8-92AB-03F875DAFEEF}"/>
                </a:ext>
              </a:extLst>
            </p:cNvPr>
            <p:cNvSpPr>
              <a:spLocks noChangeArrowheads="1"/>
            </p:cNvSpPr>
            <p:nvPr/>
          </p:nvSpPr>
          <p:spPr bwMode="auto">
            <a:xfrm>
              <a:off x="8502536" y="5660912"/>
              <a:ext cx="762000" cy="381000"/>
            </a:xfrm>
            <a:prstGeom prst="rect">
              <a:avLst/>
            </a:prstGeom>
            <a:gradFill rotWithShape="1">
              <a:gsLst>
                <a:gs pos="0">
                  <a:srgbClr val="8AB5EA"/>
                </a:gs>
                <a:gs pos="50000">
                  <a:srgbClr val="D8E6F8"/>
                </a:gs>
                <a:gs pos="100000">
                  <a:srgbClr val="8AB5EA"/>
                </a:gs>
              </a:gsLst>
              <a:lin ang="5400000" scaled="1"/>
            </a:gra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600" b="1">
                  <a:ea typeface="黑体" panose="02010609060101010101" pitchFamily="49" charset="-122"/>
                </a:rPr>
                <a:t>活动</a:t>
              </a:r>
              <a:r>
                <a:rPr lang="en-US" altLang="zh-CN" sz="1600" b="1">
                  <a:ea typeface="黑体" panose="02010609060101010101" pitchFamily="49" charset="-122"/>
                </a:rPr>
                <a:t>A</a:t>
              </a:r>
            </a:p>
          </p:txBody>
        </p:sp>
        <p:sp>
          <p:nvSpPr>
            <p:cNvPr id="17" name="Rectangle 13">
              <a:extLst>
                <a:ext uri="{FF2B5EF4-FFF2-40B4-BE49-F238E27FC236}">
                  <a16:creationId xmlns:a16="http://schemas.microsoft.com/office/drawing/2014/main" id="{4CE09FBA-4660-4B3D-BC11-0436592108A3}"/>
                </a:ext>
              </a:extLst>
            </p:cNvPr>
            <p:cNvSpPr>
              <a:spLocks noChangeArrowheads="1"/>
            </p:cNvSpPr>
            <p:nvPr/>
          </p:nvSpPr>
          <p:spPr bwMode="auto">
            <a:xfrm>
              <a:off x="10028124" y="5664087"/>
              <a:ext cx="762000" cy="381000"/>
            </a:xfrm>
            <a:prstGeom prst="rect">
              <a:avLst/>
            </a:prstGeom>
            <a:gradFill rotWithShape="1">
              <a:gsLst>
                <a:gs pos="0">
                  <a:srgbClr val="8AB5EA"/>
                </a:gs>
                <a:gs pos="50000">
                  <a:srgbClr val="D8E6F8"/>
                </a:gs>
                <a:gs pos="100000">
                  <a:srgbClr val="8AB5EA"/>
                </a:gs>
              </a:gsLst>
              <a:lin ang="5400000" scaled="1"/>
            </a:gra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600" b="1">
                  <a:ea typeface="黑体" panose="02010609060101010101" pitchFamily="49" charset="-122"/>
                </a:rPr>
                <a:t>活动</a:t>
              </a:r>
              <a:r>
                <a:rPr lang="en-US" altLang="zh-CN" sz="1600">
                  <a:ea typeface="黑体" panose="02010609060101010101" pitchFamily="49" charset="-122"/>
                </a:rPr>
                <a:t>B</a:t>
              </a:r>
              <a:endParaRPr lang="en-US" altLang="zh-CN" sz="1600" b="1">
                <a:ea typeface="黑体" panose="02010609060101010101" pitchFamily="49" charset="-122"/>
              </a:endParaRPr>
            </a:p>
          </p:txBody>
        </p:sp>
        <p:sp>
          <p:nvSpPr>
            <p:cNvPr id="18" name="Line 14">
              <a:extLst>
                <a:ext uri="{FF2B5EF4-FFF2-40B4-BE49-F238E27FC236}">
                  <a16:creationId xmlns:a16="http://schemas.microsoft.com/office/drawing/2014/main" id="{E9BCDC1D-D275-4C52-9151-DF4326DD69DD}"/>
                </a:ext>
              </a:extLst>
            </p:cNvPr>
            <p:cNvSpPr>
              <a:spLocks noChangeShapeType="1"/>
            </p:cNvSpPr>
            <p:nvPr/>
          </p:nvSpPr>
          <p:spPr bwMode="auto">
            <a:xfrm>
              <a:off x="5379130" y="3955975"/>
              <a:ext cx="763587" cy="0"/>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9" name="Line 15">
              <a:extLst>
                <a:ext uri="{FF2B5EF4-FFF2-40B4-BE49-F238E27FC236}">
                  <a16:creationId xmlns:a16="http://schemas.microsoft.com/office/drawing/2014/main" id="{4B1A8553-7741-4380-B663-D03109511BB6}"/>
                </a:ext>
              </a:extLst>
            </p:cNvPr>
            <p:cNvSpPr>
              <a:spLocks noChangeShapeType="1"/>
            </p:cNvSpPr>
            <p:nvPr/>
          </p:nvSpPr>
          <p:spPr bwMode="auto">
            <a:xfrm>
              <a:off x="8242980" y="3934965"/>
              <a:ext cx="1524000" cy="0"/>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20" name="Line 16">
              <a:extLst>
                <a:ext uri="{FF2B5EF4-FFF2-40B4-BE49-F238E27FC236}">
                  <a16:creationId xmlns:a16="http://schemas.microsoft.com/office/drawing/2014/main" id="{45268D07-681C-4499-8AE6-E8F48CE9D47E}"/>
                </a:ext>
              </a:extLst>
            </p:cNvPr>
            <p:cNvSpPr>
              <a:spLocks noChangeShapeType="1"/>
            </p:cNvSpPr>
            <p:nvPr/>
          </p:nvSpPr>
          <p:spPr bwMode="auto">
            <a:xfrm>
              <a:off x="8242980" y="3477765"/>
              <a:ext cx="0" cy="45720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21" name="Line 17">
              <a:extLst>
                <a:ext uri="{FF2B5EF4-FFF2-40B4-BE49-F238E27FC236}">
                  <a16:creationId xmlns:a16="http://schemas.microsoft.com/office/drawing/2014/main" id="{554A98D5-7D09-48FB-A8EA-44D1002414AB}"/>
                </a:ext>
              </a:extLst>
            </p:cNvPr>
            <p:cNvSpPr>
              <a:spLocks noChangeShapeType="1"/>
            </p:cNvSpPr>
            <p:nvPr/>
          </p:nvSpPr>
          <p:spPr bwMode="auto">
            <a:xfrm>
              <a:off x="8504124" y="5130687"/>
              <a:ext cx="2286000" cy="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22" name="Line 18">
              <a:extLst>
                <a:ext uri="{FF2B5EF4-FFF2-40B4-BE49-F238E27FC236}">
                  <a16:creationId xmlns:a16="http://schemas.microsoft.com/office/drawing/2014/main" id="{0E381CE1-B241-4414-979A-ECAC47C2C4F3}"/>
                </a:ext>
              </a:extLst>
            </p:cNvPr>
            <p:cNvSpPr>
              <a:spLocks noChangeShapeType="1"/>
            </p:cNvSpPr>
            <p:nvPr/>
          </p:nvSpPr>
          <p:spPr bwMode="auto">
            <a:xfrm>
              <a:off x="10790124" y="5130687"/>
              <a:ext cx="0" cy="533400"/>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23" name="Text Box 19">
              <a:extLst>
                <a:ext uri="{FF2B5EF4-FFF2-40B4-BE49-F238E27FC236}">
                  <a16:creationId xmlns:a16="http://schemas.microsoft.com/office/drawing/2014/main" id="{066C3B34-47ED-4BAF-9CB2-338FF0FF2EBE}"/>
                </a:ext>
              </a:extLst>
            </p:cNvPr>
            <p:cNvSpPr txBox="1">
              <a:spLocks noChangeArrowheads="1"/>
            </p:cNvSpPr>
            <p:nvPr/>
          </p:nvSpPr>
          <p:spPr bwMode="auto">
            <a:xfrm>
              <a:off x="4386942" y="3043163"/>
              <a:ext cx="1752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600" b="1">
                  <a:solidFill>
                    <a:srgbClr val="FF6600"/>
                  </a:solidFill>
                  <a:ea typeface="黑体" panose="02010609060101010101" pitchFamily="49" charset="-122"/>
                </a:rPr>
                <a:t>完成</a:t>
              </a:r>
              <a:r>
                <a:rPr lang="en-US" altLang="zh-CN" sz="1600" b="1">
                  <a:solidFill>
                    <a:srgbClr val="FF6600"/>
                  </a:solidFill>
                  <a:ea typeface="黑体" panose="02010609060101010101" pitchFamily="49" charset="-122"/>
                </a:rPr>
                <a:t>-</a:t>
              </a:r>
              <a:r>
                <a:rPr lang="zh-CN" altLang="en-US" sz="1600" b="1">
                  <a:solidFill>
                    <a:srgbClr val="FF6600"/>
                  </a:solidFill>
                  <a:ea typeface="黑体" panose="02010609060101010101" pitchFamily="49" charset="-122"/>
                </a:rPr>
                <a:t>开始（</a:t>
              </a:r>
              <a:r>
                <a:rPr lang="en-US" altLang="zh-CN" sz="1600" b="1">
                  <a:solidFill>
                    <a:srgbClr val="FF6600"/>
                  </a:solidFill>
                  <a:ea typeface="黑体" panose="02010609060101010101" pitchFamily="49" charset="-122"/>
                </a:rPr>
                <a:t>FS</a:t>
              </a:r>
              <a:r>
                <a:rPr lang="zh-CN" altLang="en-US" sz="1600" b="1">
                  <a:solidFill>
                    <a:srgbClr val="FF6600"/>
                  </a:solidFill>
                  <a:ea typeface="黑体" panose="02010609060101010101" pitchFamily="49" charset="-122"/>
                </a:rPr>
                <a:t>）</a:t>
              </a:r>
            </a:p>
          </p:txBody>
        </p:sp>
        <p:sp>
          <p:nvSpPr>
            <p:cNvPr id="24" name="Text Box 20">
              <a:extLst>
                <a:ext uri="{FF2B5EF4-FFF2-40B4-BE49-F238E27FC236}">
                  <a16:creationId xmlns:a16="http://schemas.microsoft.com/office/drawing/2014/main" id="{E1E65456-C525-4292-AD91-9EA85055EC88}"/>
                </a:ext>
              </a:extLst>
            </p:cNvPr>
            <p:cNvSpPr txBox="1">
              <a:spLocks noChangeArrowheads="1"/>
            </p:cNvSpPr>
            <p:nvPr/>
          </p:nvSpPr>
          <p:spPr bwMode="auto">
            <a:xfrm>
              <a:off x="9224055" y="3055490"/>
              <a:ext cx="1752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600" b="1">
                  <a:solidFill>
                    <a:srgbClr val="FF6600"/>
                  </a:solidFill>
                  <a:ea typeface="黑体" panose="02010609060101010101" pitchFamily="49" charset="-122"/>
                </a:rPr>
                <a:t>开始</a:t>
              </a:r>
              <a:r>
                <a:rPr lang="en-US" altLang="zh-CN" sz="1600" b="1">
                  <a:solidFill>
                    <a:srgbClr val="FF6600"/>
                  </a:solidFill>
                  <a:ea typeface="黑体" panose="02010609060101010101" pitchFamily="49" charset="-122"/>
                </a:rPr>
                <a:t>-</a:t>
              </a:r>
              <a:r>
                <a:rPr lang="zh-CN" altLang="en-US" sz="1600" b="1">
                  <a:solidFill>
                    <a:srgbClr val="FF6600"/>
                  </a:solidFill>
                  <a:ea typeface="黑体" panose="02010609060101010101" pitchFamily="49" charset="-122"/>
                </a:rPr>
                <a:t>开始（</a:t>
              </a:r>
              <a:r>
                <a:rPr lang="en-US" altLang="zh-CN" sz="1600" b="1">
                  <a:solidFill>
                    <a:srgbClr val="FF6600"/>
                  </a:solidFill>
                  <a:ea typeface="黑体" panose="02010609060101010101" pitchFamily="49" charset="-122"/>
                </a:rPr>
                <a:t>SS</a:t>
              </a:r>
              <a:r>
                <a:rPr lang="zh-CN" altLang="en-US" sz="1600" b="1">
                  <a:solidFill>
                    <a:srgbClr val="FF6600"/>
                  </a:solidFill>
                  <a:ea typeface="黑体" panose="02010609060101010101" pitchFamily="49" charset="-122"/>
                </a:rPr>
                <a:t>）</a:t>
              </a:r>
            </a:p>
          </p:txBody>
        </p:sp>
        <p:sp>
          <p:nvSpPr>
            <p:cNvPr id="25" name="Text Box 21">
              <a:extLst>
                <a:ext uri="{FF2B5EF4-FFF2-40B4-BE49-F238E27FC236}">
                  <a16:creationId xmlns:a16="http://schemas.microsoft.com/office/drawing/2014/main" id="{A71E3A93-3ECD-411C-8567-ED4DB7934BE5}"/>
                </a:ext>
              </a:extLst>
            </p:cNvPr>
            <p:cNvSpPr txBox="1">
              <a:spLocks noChangeArrowheads="1"/>
            </p:cNvSpPr>
            <p:nvPr/>
          </p:nvSpPr>
          <p:spPr bwMode="auto">
            <a:xfrm>
              <a:off x="8805749" y="4765562"/>
              <a:ext cx="1752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600" b="1">
                  <a:solidFill>
                    <a:srgbClr val="FF6600"/>
                  </a:solidFill>
                  <a:ea typeface="黑体" panose="02010609060101010101" pitchFamily="49" charset="-122"/>
                </a:rPr>
                <a:t>开始</a:t>
              </a:r>
              <a:r>
                <a:rPr lang="en-US" altLang="zh-CN" sz="1600" b="1">
                  <a:solidFill>
                    <a:srgbClr val="FF6600"/>
                  </a:solidFill>
                  <a:ea typeface="黑体" panose="02010609060101010101" pitchFamily="49" charset="-122"/>
                </a:rPr>
                <a:t>-</a:t>
              </a:r>
              <a:r>
                <a:rPr lang="zh-CN" altLang="en-US" sz="1600" b="1">
                  <a:solidFill>
                    <a:srgbClr val="FF6600"/>
                  </a:solidFill>
                  <a:ea typeface="黑体" panose="02010609060101010101" pitchFamily="49" charset="-122"/>
                </a:rPr>
                <a:t>完成（</a:t>
              </a:r>
              <a:r>
                <a:rPr lang="en-US" altLang="zh-CN" sz="1600" b="1">
                  <a:solidFill>
                    <a:srgbClr val="FF6600"/>
                  </a:solidFill>
                  <a:ea typeface="黑体" panose="02010609060101010101" pitchFamily="49" charset="-122"/>
                </a:rPr>
                <a:t>SF</a:t>
              </a:r>
              <a:r>
                <a:rPr lang="zh-CN" altLang="en-US" sz="1600" b="1">
                  <a:solidFill>
                    <a:srgbClr val="FF6600"/>
                  </a:solidFill>
                  <a:ea typeface="黑体" panose="02010609060101010101" pitchFamily="49" charset="-122"/>
                </a:rPr>
                <a:t>）</a:t>
              </a:r>
            </a:p>
          </p:txBody>
        </p:sp>
        <p:sp>
          <p:nvSpPr>
            <p:cNvPr id="39" name="Rectangle 12">
              <a:extLst>
                <a:ext uri="{FF2B5EF4-FFF2-40B4-BE49-F238E27FC236}">
                  <a16:creationId xmlns:a16="http://schemas.microsoft.com/office/drawing/2014/main" id="{6CABB322-3C0A-4873-B731-AA6C8CB81885}"/>
                </a:ext>
              </a:extLst>
            </p:cNvPr>
            <p:cNvSpPr>
              <a:spLocks noChangeArrowheads="1"/>
            </p:cNvSpPr>
            <p:nvPr/>
          </p:nvSpPr>
          <p:spPr bwMode="auto">
            <a:xfrm>
              <a:off x="4729842" y="4616375"/>
              <a:ext cx="762000" cy="381000"/>
            </a:xfrm>
            <a:prstGeom prst="rect">
              <a:avLst/>
            </a:prstGeom>
            <a:gradFill rotWithShape="1">
              <a:gsLst>
                <a:gs pos="0">
                  <a:srgbClr val="8AB5EA"/>
                </a:gs>
                <a:gs pos="50000">
                  <a:srgbClr val="D8E6F8"/>
                </a:gs>
                <a:gs pos="100000">
                  <a:srgbClr val="8AB5EA"/>
                </a:gs>
              </a:gsLst>
              <a:lin ang="5400000" scaled="1"/>
            </a:gra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600" b="1">
                  <a:ea typeface="黑体" panose="02010609060101010101" pitchFamily="49" charset="-122"/>
                </a:rPr>
                <a:t>活动</a:t>
              </a:r>
              <a:r>
                <a:rPr lang="en-US" altLang="zh-CN" sz="1600" b="1">
                  <a:ea typeface="黑体" panose="02010609060101010101" pitchFamily="49" charset="-122"/>
                </a:rPr>
                <a:t>A</a:t>
              </a:r>
            </a:p>
          </p:txBody>
        </p:sp>
        <p:sp>
          <p:nvSpPr>
            <p:cNvPr id="40" name="Rectangle 13">
              <a:extLst>
                <a:ext uri="{FF2B5EF4-FFF2-40B4-BE49-F238E27FC236}">
                  <a16:creationId xmlns:a16="http://schemas.microsoft.com/office/drawing/2014/main" id="{95DC4D9B-5C40-4BC9-B977-A9BD2BB0A9EA}"/>
                </a:ext>
              </a:extLst>
            </p:cNvPr>
            <p:cNvSpPr>
              <a:spLocks noChangeArrowheads="1"/>
            </p:cNvSpPr>
            <p:nvPr/>
          </p:nvSpPr>
          <p:spPr bwMode="auto">
            <a:xfrm>
              <a:off x="6253842" y="5302175"/>
              <a:ext cx="762000" cy="381000"/>
            </a:xfrm>
            <a:prstGeom prst="rect">
              <a:avLst/>
            </a:prstGeom>
            <a:gradFill rotWithShape="1">
              <a:gsLst>
                <a:gs pos="0">
                  <a:srgbClr val="8AB5EA"/>
                </a:gs>
                <a:gs pos="50000">
                  <a:srgbClr val="D8E6F8"/>
                </a:gs>
                <a:gs pos="100000">
                  <a:srgbClr val="8AB5EA"/>
                </a:gs>
              </a:gsLst>
              <a:lin ang="5400000" scaled="1"/>
            </a:gra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600" b="1">
                  <a:ea typeface="黑体" panose="02010609060101010101" pitchFamily="49" charset="-122"/>
                </a:rPr>
                <a:t>活动</a:t>
              </a:r>
              <a:r>
                <a:rPr lang="en-US" altLang="zh-CN" sz="1600">
                  <a:ea typeface="黑体" panose="02010609060101010101" pitchFamily="49" charset="-122"/>
                </a:rPr>
                <a:t>B</a:t>
              </a:r>
              <a:endParaRPr lang="en-US" altLang="zh-CN" sz="1600" b="1">
                <a:ea typeface="黑体" panose="02010609060101010101" pitchFamily="49" charset="-122"/>
              </a:endParaRPr>
            </a:p>
          </p:txBody>
        </p:sp>
        <p:sp>
          <p:nvSpPr>
            <p:cNvPr id="41" name="Line 17">
              <a:extLst>
                <a:ext uri="{FF2B5EF4-FFF2-40B4-BE49-F238E27FC236}">
                  <a16:creationId xmlns:a16="http://schemas.microsoft.com/office/drawing/2014/main" id="{2CEF458D-4AD4-433D-A501-A1BFB5CBE20D}"/>
                </a:ext>
              </a:extLst>
            </p:cNvPr>
            <p:cNvSpPr>
              <a:spLocks noChangeShapeType="1"/>
            </p:cNvSpPr>
            <p:nvPr/>
          </p:nvSpPr>
          <p:spPr bwMode="auto">
            <a:xfrm>
              <a:off x="5491842" y="4768775"/>
              <a:ext cx="1524000" cy="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42" name="Line 18">
              <a:extLst>
                <a:ext uri="{FF2B5EF4-FFF2-40B4-BE49-F238E27FC236}">
                  <a16:creationId xmlns:a16="http://schemas.microsoft.com/office/drawing/2014/main" id="{72ADE808-3DB8-4C88-A330-4DF6C3F3AA71}"/>
                </a:ext>
              </a:extLst>
            </p:cNvPr>
            <p:cNvSpPr>
              <a:spLocks noChangeShapeType="1"/>
            </p:cNvSpPr>
            <p:nvPr/>
          </p:nvSpPr>
          <p:spPr bwMode="auto">
            <a:xfrm>
              <a:off x="7015842" y="4768775"/>
              <a:ext cx="0" cy="533400"/>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43" name="Text Box 21">
              <a:extLst>
                <a:ext uri="{FF2B5EF4-FFF2-40B4-BE49-F238E27FC236}">
                  <a16:creationId xmlns:a16="http://schemas.microsoft.com/office/drawing/2014/main" id="{BBD6FC50-00F3-40F3-A6D8-2FEE7F88F005}"/>
                </a:ext>
              </a:extLst>
            </p:cNvPr>
            <p:cNvSpPr txBox="1">
              <a:spLocks noChangeArrowheads="1"/>
            </p:cNvSpPr>
            <p:nvPr/>
          </p:nvSpPr>
          <p:spPr bwMode="auto">
            <a:xfrm>
              <a:off x="4425042" y="5194225"/>
              <a:ext cx="1752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600" b="1" dirty="0">
                  <a:solidFill>
                    <a:srgbClr val="FF6600"/>
                  </a:solidFill>
                  <a:ea typeface="黑体" panose="02010609060101010101" pitchFamily="49" charset="-122"/>
                </a:rPr>
                <a:t>完成</a:t>
              </a:r>
              <a:r>
                <a:rPr lang="en-US" altLang="zh-CN" sz="1600" b="1" dirty="0">
                  <a:solidFill>
                    <a:srgbClr val="FF6600"/>
                  </a:solidFill>
                  <a:ea typeface="黑体" panose="02010609060101010101" pitchFamily="49" charset="-122"/>
                </a:rPr>
                <a:t>-</a:t>
              </a:r>
              <a:r>
                <a:rPr lang="zh-CN" altLang="en-US" sz="1600" b="1" dirty="0">
                  <a:solidFill>
                    <a:srgbClr val="FF6600"/>
                  </a:solidFill>
                  <a:ea typeface="黑体" panose="02010609060101010101" pitchFamily="49" charset="-122"/>
                </a:rPr>
                <a:t>完成（</a:t>
              </a:r>
              <a:r>
                <a:rPr lang="en-US" altLang="zh-CN" sz="1600" b="1" dirty="0">
                  <a:solidFill>
                    <a:srgbClr val="FF6600"/>
                  </a:solidFill>
                  <a:ea typeface="黑体" panose="02010609060101010101" pitchFamily="49" charset="-122"/>
                </a:rPr>
                <a:t>FF</a:t>
              </a:r>
              <a:r>
                <a:rPr lang="zh-CN" altLang="en-US" sz="1600" b="1" dirty="0">
                  <a:solidFill>
                    <a:srgbClr val="FF6600"/>
                  </a:solidFill>
                  <a:ea typeface="黑体" panose="02010609060101010101" pitchFamily="49" charset="-122"/>
                </a:rPr>
                <a:t>）</a:t>
              </a:r>
            </a:p>
          </p:txBody>
        </p:sp>
        <p:sp>
          <p:nvSpPr>
            <p:cNvPr id="44" name="Line 16">
              <a:extLst>
                <a:ext uri="{FF2B5EF4-FFF2-40B4-BE49-F238E27FC236}">
                  <a16:creationId xmlns:a16="http://schemas.microsoft.com/office/drawing/2014/main" id="{7914A788-2A56-47B5-8EB3-2A7F7A11049D}"/>
                </a:ext>
              </a:extLst>
            </p:cNvPr>
            <p:cNvSpPr>
              <a:spLocks noChangeShapeType="1"/>
            </p:cNvSpPr>
            <p:nvPr/>
          </p:nvSpPr>
          <p:spPr bwMode="auto">
            <a:xfrm>
              <a:off x="8502536" y="5106874"/>
              <a:ext cx="0" cy="557213"/>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46" name="文本框 45">
              <a:extLst>
                <a:ext uri="{FF2B5EF4-FFF2-40B4-BE49-F238E27FC236}">
                  <a16:creationId xmlns:a16="http://schemas.microsoft.com/office/drawing/2014/main" id="{9D4C6F57-991C-4C7F-8BD8-154752850707}"/>
                </a:ext>
              </a:extLst>
            </p:cNvPr>
            <p:cNvSpPr txBox="1"/>
            <p:nvPr/>
          </p:nvSpPr>
          <p:spPr>
            <a:xfrm>
              <a:off x="4405895" y="3325777"/>
              <a:ext cx="1901922" cy="369332"/>
            </a:xfrm>
            <a:prstGeom prst="rect">
              <a:avLst/>
            </a:prstGeom>
            <a:noFill/>
          </p:spPr>
          <p:txBody>
            <a:bodyPr wrap="square">
              <a:spAutoFit/>
            </a:bodyPr>
            <a:lstStyle/>
            <a:p>
              <a:r>
                <a:rPr lang="en-US" altLang="zh-CN" dirty="0">
                  <a:latin typeface="Times New Roman" pitchFamily="18" charset="0"/>
                  <a:ea typeface="黑体" pitchFamily="2" charset="-122"/>
                  <a:cs typeface="Times New Roman" pitchFamily="18" charset="0"/>
                </a:rPr>
                <a:t>Finish-to-Start</a:t>
              </a:r>
              <a:endParaRPr lang="zh-CN" altLang="en-US" dirty="0"/>
            </a:p>
          </p:txBody>
        </p:sp>
        <p:sp>
          <p:nvSpPr>
            <p:cNvPr id="48" name="文本框 47">
              <a:extLst>
                <a:ext uri="{FF2B5EF4-FFF2-40B4-BE49-F238E27FC236}">
                  <a16:creationId xmlns:a16="http://schemas.microsoft.com/office/drawing/2014/main" id="{B0BC50CC-302B-4648-85BE-5A0A19F1EA94}"/>
                </a:ext>
              </a:extLst>
            </p:cNvPr>
            <p:cNvSpPr txBox="1"/>
            <p:nvPr/>
          </p:nvSpPr>
          <p:spPr>
            <a:xfrm>
              <a:off x="4447386" y="5526583"/>
              <a:ext cx="1800321" cy="369332"/>
            </a:xfrm>
            <a:prstGeom prst="rect">
              <a:avLst/>
            </a:prstGeom>
            <a:noFill/>
          </p:spPr>
          <p:txBody>
            <a:bodyPr wrap="square">
              <a:spAutoFit/>
            </a:bodyPr>
            <a:lstStyle/>
            <a:p>
              <a:r>
                <a:rPr lang="en-US" altLang="zh-CN" dirty="0">
                  <a:latin typeface="Times New Roman" pitchFamily="18" charset="0"/>
                  <a:ea typeface="黑体" pitchFamily="2" charset="-122"/>
                  <a:cs typeface="Times New Roman" pitchFamily="18" charset="0"/>
                </a:rPr>
                <a:t>Finish-to-Finish</a:t>
              </a:r>
              <a:endParaRPr lang="zh-CN" altLang="en-US" dirty="0"/>
            </a:p>
          </p:txBody>
        </p:sp>
        <p:sp>
          <p:nvSpPr>
            <p:cNvPr id="50" name="文本框 49">
              <a:extLst>
                <a:ext uri="{FF2B5EF4-FFF2-40B4-BE49-F238E27FC236}">
                  <a16:creationId xmlns:a16="http://schemas.microsoft.com/office/drawing/2014/main" id="{5B09C509-D358-4CA1-A149-90D849FC6448}"/>
                </a:ext>
              </a:extLst>
            </p:cNvPr>
            <p:cNvSpPr txBox="1"/>
            <p:nvPr/>
          </p:nvSpPr>
          <p:spPr>
            <a:xfrm>
              <a:off x="9170570" y="3313736"/>
              <a:ext cx="1400389" cy="369332"/>
            </a:xfrm>
            <a:prstGeom prst="rect">
              <a:avLst/>
            </a:prstGeom>
            <a:noFill/>
          </p:spPr>
          <p:txBody>
            <a:bodyPr wrap="square">
              <a:spAutoFit/>
            </a:bodyPr>
            <a:lstStyle/>
            <a:p>
              <a:r>
                <a:rPr lang="en-US" altLang="zh-CN" dirty="0">
                  <a:latin typeface="Times New Roman" pitchFamily="18" charset="0"/>
                  <a:ea typeface="黑体" pitchFamily="2" charset="-122"/>
                  <a:cs typeface="Times New Roman" pitchFamily="18" charset="0"/>
                </a:rPr>
                <a:t>Start-Start</a:t>
              </a:r>
              <a:endParaRPr lang="zh-CN" altLang="en-US" dirty="0"/>
            </a:p>
          </p:txBody>
        </p:sp>
        <p:sp>
          <p:nvSpPr>
            <p:cNvPr id="52" name="文本框 51">
              <a:extLst>
                <a:ext uri="{FF2B5EF4-FFF2-40B4-BE49-F238E27FC236}">
                  <a16:creationId xmlns:a16="http://schemas.microsoft.com/office/drawing/2014/main" id="{1CFDA4E8-1492-462A-978A-5546DBCB65CC}"/>
                </a:ext>
              </a:extLst>
            </p:cNvPr>
            <p:cNvSpPr txBox="1"/>
            <p:nvPr/>
          </p:nvSpPr>
          <p:spPr>
            <a:xfrm>
              <a:off x="8883536" y="5126996"/>
              <a:ext cx="1400389" cy="369332"/>
            </a:xfrm>
            <a:prstGeom prst="rect">
              <a:avLst/>
            </a:prstGeom>
            <a:noFill/>
          </p:spPr>
          <p:txBody>
            <a:bodyPr wrap="square">
              <a:spAutoFit/>
            </a:bodyPr>
            <a:lstStyle/>
            <a:p>
              <a:r>
                <a:rPr lang="en-US" altLang="zh-CN" dirty="0">
                  <a:latin typeface="Times New Roman" pitchFamily="18" charset="0"/>
                  <a:ea typeface="黑体" pitchFamily="2" charset="-122"/>
                  <a:cs typeface="Times New Roman" pitchFamily="18" charset="0"/>
                </a:rPr>
                <a:t>Start-Finish</a:t>
              </a:r>
              <a:endParaRPr lang="zh-CN" altLang="en-US" dirty="0"/>
            </a:p>
          </p:txBody>
        </p:sp>
      </p:grpSp>
      <p:sp>
        <p:nvSpPr>
          <p:cNvPr id="56" name="文本框 55">
            <a:extLst>
              <a:ext uri="{FF2B5EF4-FFF2-40B4-BE49-F238E27FC236}">
                <a16:creationId xmlns:a16="http://schemas.microsoft.com/office/drawing/2014/main" id="{285BA0D7-205A-4B6F-B8C0-601F4E61166B}"/>
              </a:ext>
            </a:extLst>
          </p:cNvPr>
          <p:cNvSpPr txBox="1"/>
          <p:nvPr/>
        </p:nvSpPr>
        <p:spPr>
          <a:xfrm>
            <a:off x="612298" y="1266655"/>
            <a:ext cx="11089844" cy="1508105"/>
          </a:xfrm>
          <a:prstGeom prst="rect">
            <a:avLst/>
          </a:prstGeom>
          <a:noFill/>
        </p:spPr>
        <p:txBody>
          <a:bodyPr wrap="square">
            <a:spAutoFit/>
          </a:bodyPr>
          <a:lstStyle/>
          <a:p>
            <a:r>
              <a:rPr lang="zh-CN" altLang="zh-CN" sz="2400" b="1" dirty="0">
                <a:latin typeface="微软雅黑" panose="020B0503020204020204" pitchFamily="34" charset="-122"/>
                <a:ea typeface="微软雅黑" panose="020B0503020204020204" pitchFamily="34" charset="-122"/>
              </a:rPr>
              <a:t>重点工具</a:t>
            </a:r>
            <a:r>
              <a:rPr lang="zh-CN" altLang="en-US" sz="2400" b="1" dirty="0">
                <a:latin typeface="微软雅黑" panose="020B0503020204020204" pitchFamily="34" charset="-122"/>
                <a:ea typeface="微软雅黑" panose="020B0503020204020204" pitchFamily="34" charset="-122"/>
              </a:rPr>
              <a:t>：</a:t>
            </a:r>
            <a:r>
              <a:rPr lang="zh-CN" altLang="zh-CN" sz="2400" b="1" dirty="0">
                <a:latin typeface="微软雅黑" panose="020B0503020204020204" pitchFamily="34" charset="-122"/>
                <a:ea typeface="微软雅黑" panose="020B0503020204020204" pitchFamily="34" charset="-122"/>
              </a:rPr>
              <a:t>紧前关系绘图法</a:t>
            </a:r>
            <a:r>
              <a:rPr lang="zh-CN" altLang="en-US" sz="2400" b="1" dirty="0">
                <a:latin typeface="微软雅黑" panose="020B0503020204020204" pitchFamily="34" charset="-122"/>
                <a:ea typeface="微软雅黑" panose="020B0503020204020204" pitchFamily="34" charset="-122"/>
              </a:rPr>
              <a:t>（顺序图</a:t>
            </a:r>
            <a:r>
              <a:rPr lang="zh-CN" altLang="zh-CN" sz="2400" b="1" dirty="0">
                <a:latin typeface="微软雅黑" panose="020B0503020204020204" pitchFamily="34" charset="-122"/>
                <a:ea typeface="微软雅黑" panose="020B0503020204020204" pitchFamily="34" charset="-122"/>
              </a:rPr>
              <a:t>法</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前导图法）</a:t>
            </a:r>
            <a:r>
              <a:rPr lang="en-US" altLang="zh-CN" sz="2400" b="1" dirty="0">
                <a:latin typeface="微软雅黑" panose="020B0503020204020204" pitchFamily="34" charset="-122"/>
                <a:ea typeface="微软雅黑" panose="020B0503020204020204" pitchFamily="34" charset="-122"/>
              </a:rPr>
              <a:t>PDM</a:t>
            </a:r>
            <a:r>
              <a:rPr lang="zh-CN" altLang="en-US" sz="2400"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Precedence Diagramming Method</a:t>
            </a:r>
            <a:r>
              <a:rPr lang="zh-CN" altLang="en-US" sz="2400" b="1" dirty="0">
                <a:latin typeface="微软雅黑" panose="020B0503020204020204" pitchFamily="34" charset="-122"/>
                <a:ea typeface="微软雅黑" panose="020B0503020204020204" pitchFamily="34" charset="-122"/>
              </a:rPr>
              <a:t>）</a:t>
            </a:r>
            <a:endParaRPr lang="en-US" altLang="zh-CN" sz="2400" b="1" dirty="0">
              <a:latin typeface="微软雅黑" panose="020B0503020204020204" pitchFamily="34" charset="-122"/>
              <a:ea typeface="微软雅黑" panose="020B0503020204020204" pitchFamily="34" charset="-122"/>
            </a:endParaRPr>
          </a:p>
          <a:p>
            <a:r>
              <a:rPr lang="en-US" altLang="zh-CN" sz="1600" dirty="0"/>
              <a:t> </a:t>
            </a:r>
            <a:r>
              <a:rPr lang="zh-CN" altLang="zh-CN" sz="2200" dirty="0">
                <a:latin typeface="微软雅黑" panose="020B0503020204020204" pitchFamily="34" charset="-122"/>
                <a:ea typeface="微软雅黑" panose="020B0503020204020204" pitchFamily="34" charset="-122"/>
              </a:rPr>
              <a:t>用节点表示活动，用一种或多种逻辑关系连接活动，显示活动的实施顺序。</a:t>
            </a:r>
            <a:r>
              <a:rPr lang="zh-CN" altLang="zh-CN" sz="2200" b="1" dirty="0">
                <a:latin typeface="微软雅黑" panose="020B0503020204020204" pitchFamily="34" charset="-122"/>
                <a:ea typeface="微软雅黑" panose="020B0503020204020204" pitchFamily="34" charset="-122"/>
              </a:rPr>
              <a:t>活动节点法</a:t>
            </a:r>
            <a:r>
              <a:rPr lang="en-US" altLang="zh-CN" sz="2200" b="1" dirty="0">
                <a:latin typeface="微软雅黑" panose="020B0503020204020204" pitchFamily="34" charset="-122"/>
                <a:ea typeface="微软雅黑" panose="020B0503020204020204" pitchFamily="34" charset="-122"/>
              </a:rPr>
              <a:t>AON</a:t>
            </a:r>
            <a:r>
              <a:rPr lang="zh-CN" altLang="en-US" sz="2200" b="1" dirty="0">
                <a:latin typeface="微软雅黑" panose="020B0503020204020204" pitchFamily="34" charset="-122"/>
                <a:ea typeface="微软雅黑" panose="020B0503020204020204" pitchFamily="34" charset="-122"/>
              </a:rPr>
              <a:t>（</a:t>
            </a:r>
            <a:r>
              <a:rPr lang="en-US" altLang="zh-CN" sz="2000" dirty="0"/>
              <a:t> </a:t>
            </a:r>
            <a:r>
              <a:rPr lang="en-US" altLang="zh-CN" b="1" dirty="0">
                <a:latin typeface="微软雅黑" panose="020B0503020204020204" pitchFamily="34" charset="-122"/>
                <a:ea typeface="微软雅黑" panose="020B0503020204020204" pitchFamily="34" charset="-122"/>
              </a:rPr>
              <a:t>Activity on Node </a:t>
            </a:r>
            <a:r>
              <a:rPr lang="en-US" altLang="zh-CN" sz="2200" b="1" dirty="0">
                <a:latin typeface="微软雅黑" panose="020B0503020204020204" pitchFamily="34" charset="-122"/>
                <a:ea typeface="微软雅黑" panose="020B0503020204020204" pitchFamily="34" charset="-122"/>
              </a:rPr>
              <a:t>)</a:t>
            </a:r>
            <a:r>
              <a:rPr lang="zh-CN" altLang="zh-CN" sz="2200" dirty="0">
                <a:latin typeface="微软雅黑" panose="020B0503020204020204" pitchFamily="34" charset="-122"/>
                <a:ea typeface="微软雅黑" panose="020B0503020204020204" pitchFamily="34" charset="-122"/>
              </a:rPr>
              <a:t>，紧前绘图法的一种展示方法。</a:t>
            </a:r>
            <a:endParaRPr lang="zh-CN" altLang="en-US" sz="22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0961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2795C3-9277-4689-8ACA-277234F135CA}"/>
              </a:ext>
            </a:extLst>
          </p:cNvPr>
          <p:cNvSpPr>
            <a:spLocks noGrp="1"/>
          </p:cNvSpPr>
          <p:nvPr>
            <p:ph type="title"/>
          </p:nvPr>
        </p:nvSpPr>
        <p:spPr/>
        <p:txBody>
          <a:bodyPr/>
          <a:lstStyle/>
          <a:p>
            <a:r>
              <a:rPr lang="en-US" altLang="zh-CN" dirty="0"/>
              <a:t>12.4 </a:t>
            </a:r>
            <a:r>
              <a:rPr lang="zh-CN" altLang="en-US" dirty="0"/>
              <a:t>排列活动顺序</a:t>
            </a:r>
          </a:p>
        </p:txBody>
      </p:sp>
      <p:sp>
        <p:nvSpPr>
          <p:cNvPr id="3" name="Rectangle 3">
            <a:extLst>
              <a:ext uri="{FF2B5EF4-FFF2-40B4-BE49-F238E27FC236}">
                <a16:creationId xmlns:a16="http://schemas.microsoft.com/office/drawing/2014/main" id="{BF7AFEE8-EA65-4E2A-BC10-79BFA0B78C20}"/>
              </a:ext>
            </a:extLst>
          </p:cNvPr>
          <p:cNvSpPr txBox="1">
            <a:spLocks noChangeArrowheads="1"/>
          </p:cNvSpPr>
          <p:nvPr/>
        </p:nvSpPr>
        <p:spPr>
          <a:xfrm>
            <a:off x="1311443" y="2069431"/>
            <a:ext cx="9841830" cy="351322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2400" dirty="0"/>
              <a:t>在开始制造之前必须完成设计工作是个什么的例子：</a:t>
            </a:r>
          </a:p>
          <a:p>
            <a:pPr marL="457200" lvl="1" indent="0">
              <a:buNone/>
            </a:pPr>
            <a:r>
              <a:rPr lang="en-US" altLang="zh-CN" sz="2400" dirty="0"/>
              <a:t>A. </a:t>
            </a:r>
            <a:r>
              <a:rPr lang="zh-CN" altLang="en-US" sz="2400" dirty="0"/>
              <a:t>自由依赖</a:t>
            </a:r>
          </a:p>
          <a:p>
            <a:pPr marL="457200" lvl="1" indent="0">
              <a:buNone/>
            </a:pPr>
            <a:r>
              <a:rPr lang="en-US" altLang="zh-CN" sz="2400" dirty="0"/>
              <a:t>B. </a:t>
            </a:r>
            <a:r>
              <a:rPr lang="zh-CN" altLang="en-US" sz="2400" dirty="0"/>
              <a:t>外部依赖</a:t>
            </a:r>
          </a:p>
          <a:p>
            <a:pPr marL="457200" lvl="1" indent="0">
              <a:buNone/>
            </a:pPr>
            <a:r>
              <a:rPr lang="en-US" altLang="zh-CN" sz="2400" dirty="0"/>
              <a:t>C. </a:t>
            </a:r>
            <a:r>
              <a:rPr lang="zh-CN" altLang="en-US" sz="2400" dirty="0"/>
              <a:t>强制依赖</a:t>
            </a:r>
          </a:p>
          <a:p>
            <a:pPr marL="457200" lvl="1" indent="0">
              <a:buNone/>
            </a:pPr>
            <a:r>
              <a:rPr lang="en-US" altLang="zh-CN" sz="2400" dirty="0"/>
              <a:t>D .</a:t>
            </a:r>
            <a:r>
              <a:rPr lang="zh-CN" altLang="en-US" sz="2400" dirty="0"/>
              <a:t>范围依赖</a:t>
            </a:r>
          </a:p>
        </p:txBody>
      </p:sp>
    </p:spTree>
    <p:extLst>
      <p:ext uri="{BB962C8B-B14F-4D97-AF65-F5344CB8AC3E}">
        <p14:creationId xmlns:p14="http://schemas.microsoft.com/office/powerpoint/2010/main" val="3176324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716B8079-619E-44D8-B124-5F4701E412BE}"/>
              </a:ext>
            </a:extLst>
          </p:cNvPr>
          <p:cNvPicPr>
            <a:picLocks noChangeAspect="1"/>
          </p:cNvPicPr>
          <p:nvPr/>
        </p:nvPicPr>
        <p:blipFill>
          <a:blip r:embed="rId3"/>
          <a:stretch>
            <a:fillRect/>
          </a:stretch>
        </p:blipFill>
        <p:spPr>
          <a:xfrm>
            <a:off x="1710771" y="3508124"/>
            <a:ext cx="8478457" cy="2999938"/>
          </a:xfrm>
          <a:prstGeom prst="rect">
            <a:avLst/>
          </a:prstGeom>
        </p:spPr>
      </p:pic>
      <p:sp>
        <p:nvSpPr>
          <p:cNvPr id="5" name="标题 4">
            <a:extLst>
              <a:ext uri="{FF2B5EF4-FFF2-40B4-BE49-F238E27FC236}">
                <a16:creationId xmlns:a16="http://schemas.microsoft.com/office/drawing/2014/main" id="{9191EC7E-062E-42B6-BB70-FDB6952E905C}"/>
              </a:ext>
            </a:extLst>
          </p:cNvPr>
          <p:cNvSpPr>
            <a:spLocks noGrp="1"/>
          </p:cNvSpPr>
          <p:nvPr>
            <p:ph type="title"/>
          </p:nvPr>
        </p:nvSpPr>
        <p:spPr>
          <a:xfrm>
            <a:off x="608116" y="716145"/>
            <a:ext cx="10972800" cy="437186"/>
          </a:xfrm>
        </p:spPr>
        <p:txBody>
          <a:bodyPr/>
          <a:lstStyle/>
          <a:p>
            <a:r>
              <a:rPr lang="en-US" altLang="zh-CN" dirty="0"/>
              <a:t>12.4 </a:t>
            </a:r>
            <a:r>
              <a:rPr lang="zh-CN" altLang="en-US" dirty="0"/>
              <a:t>排列活动顺序</a:t>
            </a:r>
          </a:p>
        </p:txBody>
      </p:sp>
      <p:sp>
        <p:nvSpPr>
          <p:cNvPr id="7" name="Rectangle 3">
            <a:extLst>
              <a:ext uri="{FF2B5EF4-FFF2-40B4-BE49-F238E27FC236}">
                <a16:creationId xmlns:a16="http://schemas.microsoft.com/office/drawing/2014/main" id="{144D59C5-E619-444A-AB84-9F358653521B}"/>
              </a:ext>
            </a:extLst>
          </p:cNvPr>
          <p:cNvSpPr>
            <a:spLocks noChangeArrowheads="1"/>
          </p:cNvSpPr>
          <p:nvPr/>
        </p:nvSpPr>
        <p:spPr bwMode="auto">
          <a:xfrm>
            <a:off x="5349976" y="1747203"/>
            <a:ext cx="6305428" cy="1805824"/>
          </a:xfrm>
          <a:prstGeom prst="rect">
            <a:avLst/>
          </a:prstGeom>
          <a:blipFill dpi="0" rotWithShape="1">
            <a:blip r:embed="rId4"/>
            <a:srcRect/>
            <a:tile tx="0" ty="0" sx="100000" sy="100000" flip="none" algn="tl"/>
          </a:blip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b="1">
              <a:latin typeface="黑体" panose="02010609060101010101" pitchFamily="49" charset="-122"/>
              <a:ea typeface="黑体" panose="02010609060101010101" pitchFamily="49" charset="-122"/>
            </a:endParaRPr>
          </a:p>
        </p:txBody>
      </p:sp>
      <p:sp>
        <p:nvSpPr>
          <p:cNvPr id="8" name="Line 4">
            <a:extLst>
              <a:ext uri="{FF2B5EF4-FFF2-40B4-BE49-F238E27FC236}">
                <a16:creationId xmlns:a16="http://schemas.microsoft.com/office/drawing/2014/main" id="{B1FD39DE-AF70-4F74-8E22-6604DFCB990A}"/>
              </a:ext>
            </a:extLst>
          </p:cNvPr>
          <p:cNvSpPr>
            <a:spLocks noChangeShapeType="1"/>
          </p:cNvSpPr>
          <p:nvPr/>
        </p:nvSpPr>
        <p:spPr bwMode="auto">
          <a:xfrm>
            <a:off x="8514455" y="1689591"/>
            <a:ext cx="27871" cy="180582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32" name="Rectangle 28">
            <a:extLst>
              <a:ext uri="{FF2B5EF4-FFF2-40B4-BE49-F238E27FC236}">
                <a16:creationId xmlns:a16="http://schemas.microsoft.com/office/drawing/2014/main" id="{FAF3C3C7-7D62-46B5-92E7-BA63DF5AA69A}"/>
              </a:ext>
            </a:extLst>
          </p:cNvPr>
          <p:cNvSpPr>
            <a:spLocks noChangeArrowheads="1"/>
          </p:cNvSpPr>
          <p:nvPr/>
        </p:nvSpPr>
        <p:spPr bwMode="auto">
          <a:xfrm>
            <a:off x="8787504" y="2385460"/>
            <a:ext cx="838200" cy="381000"/>
          </a:xfrm>
          <a:prstGeom prst="rect">
            <a:avLst/>
          </a:prstGeom>
          <a:gradFill rotWithShape="1">
            <a:gsLst>
              <a:gs pos="0">
                <a:srgbClr val="8AB5EA"/>
              </a:gs>
              <a:gs pos="50000">
                <a:srgbClr val="D8E6F8"/>
              </a:gs>
              <a:gs pos="100000">
                <a:srgbClr val="8AB5EA"/>
              </a:gs>
            </a:gsLst>
            <a:lin ang="5400000" scaled="1"/>
          </a:gra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600" b="1">
                <a:ea typeface="黑体" panose="02010609060101010101" pitchFamily="49" charset="-122"/>
              </a:rPr>
              <a:t>活动</a:t>
            </a:r>
            <a:r>
              <a:rPr lang="en-US" altLang="zh-CN" sz="1600" b="1">
                <a:ea typeface="黑体" panose="02010609060101010101" pitchFamily="49" charset="-122"/>
              </a:rPr>
              <a:t>A</a:t>
            </a:r>
          </a:p>
        </p:txBody>
      </p:sp>
      <p:sp>
        <p:nvSpPr>
          <p:cNvPr id="33" name="Rectangle 29">
            <a:extLst>
              <a:ext uri="{FF2B5EF4-FFF2-40B4-BE49-F238E27FC236}">
                <a16:creationId xmlns:a16="http://schemas.microsoft.com/office/drawing/2014/main" id="{BDFD2266-4710-410D-86EA-7D140749CC62}"/>
              </a:ext>
            </a:extLst>
          </p:cNvPr>
          <p:cNvSpPr>
            <a:spLocks noChangeArrowheads="1"/>
          </p:cNvSpPr>
          <p:nvPr/>
        </p:nvSpPr>
        <p:spPr bwMode="auto">
          <a:xfrm>
            <a:off x="10295629" y="2385460"/>
            <a:ext cx="762000" cy="381000"/>
          </a:xfrm>
          <a:prstGeom prst="rect">
            <a:avLst/>
          </a:prstGeom>
          <a:gradFill rotWithShape="1">
            <a:gsLst>
              <a:gs pos="0">
                <a:srgbClr val="8AB5EA"/>
              </a:gs>
              <a:gs pos="50000">
                <a:srgbClr val="D8E6F8"/>
              </a:gs>
              <a:gs pos="100000">
                <a:srgbClr val="8AB5EA"/>
              </a:gs>
            </a:gsLst>
            <a:lin ang="5400000" scaled="1"/>
          </a:gra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600" b="1">
                <a:ea typeface="黑体" panose="02010609060101010101" pitchFamily="49" charset="-122"/>
              </a:rPr>
              <a:t>活动</a:t>
            </a:r>
            <a:r>
              <a:rPr lang="en-US" altLang="zh-CN" sz="1600">
                <a:ea typeface="黑体" panose="02010609060101010101" pitchFamily="49" charset="-122"/>
              </a:rPr>
              <a:t>B</a:t>
            </a:r>
            <a:endParaRPr lang="en-US" altLang="zh-CN" sz="1600" b="1">
              <a:ea typeface="黑体" panose="02010609060101010101" pitchFamily="49" charset="-122"/>
            </a:endParaRPr>
          </a:p>
        </p:txBody>
      </p:sp>
      <p:sp>
        <p:nvSpPr>
          <p:cNvPr id="34" name="Line 30">
            <a:extLst>
              <a:ext uri="{FF2B5EF4-FFF2-40B4-BE49-F238E27FC236}">
                <a16:creationId xmlns:a16="http://schemas.microsoft.com/office/drawing/2014/main" id="{3A14F80E-1836-4FCF-AFB4-6CD21DB21837}"/>
              </a:ext>
            </a:extLst>
          </p:cNvPr>
          <p:cNvSpPr>
            <a:spLocks noChangeShapeType="1"/>
          </p:cNvSpPr>
          <p:nvPr/>
        </p:nvSpPr>
        <p:spPr bwMode="auto">
          <a:xfrm>
            <a:off x="9484417" y="2575960"/>
            <a:ext cx="827087" cy="0"/>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35" name="Text Box 31">
            <a:extLst>
              <a:ext uri="{FF2B5EF4-FFF2-40B4-BE49-F238E27FC236}">
                <a16:creationId xmlns:a16="http://schemas.microsoft.com/office/drawing/2014/main" id="{6677606D-6B5C-4234-9BD2-CFC1D7EA8EC8}"/>
              </a:ext>
            </a:extLst>
          </p:cNvPr>
          <p:cNvSpPr txBox="1">
            <a:spLocks noChangeArrowheads="1"/>
          </p:cNvSpPr>
          <p:nvPr/>
        </p:nvSpPr>
        <p:spPr bwMode="auto">
          <a:xfrm>
            <a:off x="8570017" y="1853647"/>
            <a:ext cx="2209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600" b="1">
                <a:solidFill>
                  <a:srgbClr val="FF6600"/>
                </a:solidFill>
                <a:ea typeface="黑体" panose="02010609060101010101" pitchFamily="49" charset="-122"/>
              </a:rPr>
              <a:t>提前（</a:t>
            </a:r>
            <a:r>
              <a:rPr lang="en-US" altLang="zh-CN" sz="1600" b="1">
                <a:solidFill>
                  <a:srgbClr val="FF6600"/>
                </a:solidFill>
                <a:ea typeface="黑体" panose="02010609060101010101" pitchFamily="49" charset="-122"/>
              </a:rPr>
              <a:t>Leading</a:t>
            </a:r>
            <a:r>
              <a:rPr lang="zh-CN" altLang="en-US" sz="1600" b="1">
                <a:solidFill>
                  <a:srgbClr val="FF6600"/>
                </a:solidFill>
                <a:ea typeface="黑体" panose="02010609060101010101" pitchFamily="49" charset="-122"/>
              </a:rPr>
              <a:t>）</a:t>
            </a:r>
          </a:p>
        </p:txBody>
      </p:sp>
      <p:sp>
        <p:nvSpPr>
          <p:cNvPr id="36" name="Text Box 32">
            <a:extLst>
              <a:ext uri="{FF2B5EF4-FFF2-40B4-BE49-F238E27FC236}">
                <a16:creationId xmlns:a16="http://schemas.microsoft.com/office/drawing/2014/main" id="{501F6937-50FA-46A5-82FA-906CA5F2A5E2}"/>
              </a:ext>
            </a:extLst>
          </p:cNvPr>
          <p:cNvSpPr txBox="1">
            <a:spLocks noChangeArrowheads="1"/>
          </p:cNvSpPr>
          <p:nvPr/>
        </p:nvSpPr>
        <p:spPr bwMode="auto">
          <a:xfrm>
            <a:off x="9625704" y="2107647"/>
            <a:ext cx="685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600" b="1">
                <a:ea typeface="黑体" panose="02010609060101010101" pitchFamily="49" charset="-122"/>
              </a:rPr>
              <a:t>-2</a:t>
            </a:r>
            <a:r>
              <a:rPr lang="zh-CN" altLang="en-US" sz="1600" b="1">
                <a:ea typeface="黑体" panose="02010609060101010101" pitchFamily="49" charset="-122"/>
              </a:rPr>
              <a:t>天</a:t>
            </a:r>
          </a:p>
        </p:txBody>
      </p:sp>
      <p:sp>
        <p:nvSpPr>
          <p:cNvPr id="37" name="Text Box 33">
            <a:extLst>
              <a:ext uri="{FF2B5EF4-FFF2-40B4-BE49-F238E27FC236}">
                <a16:creationId xmlns:a16="http://schemas.microsoft.com/office/drawing/2014/main" id="{8EC2AA16-7F92-4928-A440-174CC6EF75CB}"/>
              </a:ext>
            </a:extLst>
          </p:cNvPr>
          <p:cNvSpPr txBox="1">
            <a:spLocks noChangeArrowheads="1"/>
          </p:cNvSpPr>
          <p:nvPr/>
        </p:nvSpPr>
        <p:spPr bwMode="auto">
          <a:xfrm>
            <a:off x="8528742" y="2890285"/>
            <a:ext cx="3352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600" b="1">
                <a:ea typeface="黑体" panose="02010609060101010101" pitchFamily="49" charset="-122"/>
              </a:rPr>
              <a:t>活动</a:t>
            </a:r>
            <a:r>
              <a:rPr lang="en-US" altLang="zh-CN" sz="1600" b="1">
                <a:ea typeface="黑体" panose="02010609060101010101" pitchFamily="49" charset="-122"/>
              </a:rPr>
              <a:t>A</a:t>
            </a:r>
            <a:r>
              <a:rPr lang="zh-CN" altLang="en-US" sz="1600" b="1">
                <a:ea typeface="黑体" panose="02010609060101010101" pitchFamily="49" charset="-122"/>
              </a:rPr>
              <a:t>完成</a:t>
            </a:r>
            <a:r>
              <a:rPr lang="en-US" altLang="zh-CN" sz="1600" b="1">
                <a:ea typeface="黑体" panose="02010609060101010101" pitchFamily="49" charset="-122"/>
              </a:rPr>
              <a:t>2</a:t>
            </a:r>
            <a:r>
              <a:rPr lang="zh-CN" altLang="en-US" sz="1600" b="1">
                <a:ea typeface="黑体" panose="02010609060101010101" pitchFamily="49" charset="-122"/>
              </a:rPr>
              <a:t>天前，活动</a:t>
            </a:r>
            <a:r>
              <a:rPr lang="en-US" altLang="zh-CN" sz="1600" b="1">
                <a:ea typeface="黑体" panose="02010609060101010101" pitchFamily="49" charset="-122"/>
              </a:rPr>
              <a:t>B</a:t>
            </a:r>
            <a:r>
              <a:rPr lang="zh-CN" altLang="en-US" sz="1600" b="1">
                <a:ea typeface="黑体" panose="02010609060101010101" pitchFamily="49" charset="-122"/>
              </a:rPr>
              <a:t>就开始</a:t>
            </a:r>
          </a:p>
        </p:txBody>
      </p:sp>
      <p:sp>
        <p:nvSpPr>
          <p:cNvPr id="54" name="文本框 53">
            <a:extLst>
              <a:ext uri="{FF2B5EF4-FFF2-40B4-BE49-F238E27FC236}">
                <a16:creationId xmlns:a16="http://schemas.microsoft.com/office/drawing/2014/main" id="{895D7788-3ED4-4DFE-AFF3-EA2162D4F533}"/>
              </a:ext>
            </a:extLst>
          </p:cNvPr>
          <p:cNvSpPr txBox="1"/>
          <p:nvPr/>
        </p:nvSpPr>
        <p:spPr>
          <a:xfrm>
            <a:off x="608721" y="1265891"/>
            <a:ext cx="4465540" cy="1815882"/>
          </a:xfrm>
          <a:prstGeom prst="rect">
            <a:avLst/>
          </a:prstGeom>
          <a:noFill/>
        </p:spPr>
        <p:txBody>
          <a:bodyPr wrap="square">
            <a:spAutoFit/>
          </a:bodyPr>
          <a:lstStyle/>
          <a:p>
            <a:r>
              <a:rPr lang="zh-CN" altLang="zh-CN" sz="2400" b="1" dirty="0">
                <a:latin typeface="微软雅黑" panose="020B0503020204020204" pitchFamily="34" charset="-122"/>
                <a:ea typeface="微软雅黑" panose="020B0503020204020204" pitchFamily="34" charset="-122"/>
              </a:rPr>
              <a:t>提前量和滞后量</a:t>
            </a:r>
            <a:endParaRPr lang="en-US" altLang="zh-CN" sz="2400" b="1" dirty="0">
              <a:latin typeface="微软雅黑" panose="020B0503020204020204" pitchFamily="34" charset="-122"/>
              <a:ea typeface="微软雅黑" panose="020B0503020204020204" pitchFamily="34" charset="-122"/>
            </a:endParaRPr>
          </a:p>
          <a:p>
            <a:pPr algn="just"/>
            <a:r>
              <a:rPr lang="zh-CN" altLang="zh-CN" sz="2200" b="1" dirty="0"/>
              <a:t>提前量：是相对与紧前活动，紧后活动可以提前的时间量</a:t>
            </a:r>
            <a:endParaRPr lang="en-US" altLang="zh-CN" sz="2200" b="1" dirty="0"/>
          </a:p>
          <a:p>
            <a:pPr algn="just"/>
            <a:r>
              <a:rPr lang="zh-CN" altLang="zh-CN" sz="2200" b="1" dirty="0"/>
              <a:t>滞后量：相对于紧前活动，紧后活动需要推迟的的时间量</a:t>
            </a:r>
            <a:endParaRPr lang="zh-CN" altLang="en-US" sz="2200" b="1" dirty="0"/>
          </a:p>
        </p:txBody>
      </p:sp>
      <p:sp>
        <p:nvSpPr>
          <p:cNvPr id="51" name="Rectangle 22">
            <a:extLst>
              <a:ext uri="{FF2B5EF4-FFF2-40B4-BE49-F238E27FC236}">
                <a16:creationId xmlns:a16="http://schemas.microsoft.com/office/drawing/2014/main" id="{5B5DBF65-2AE4-46A9-9C41-C08F8BBAA3F4}"/>
              </a:ext>
            </a:extLst>
          </p:cNvPr>
          <p:cNvSpPr>
            <a:spLocks noChangeArrowheads="1"/>
          </p:cNvSpPr>
          <p:nvPr/>
        </p:nvSpPr>
        <p:spPr bwMode="auto">
          <a:xfrm>
            <a:off x="5579961" y="2469222"/>
            <a:ext cx="762000" cy="381000"/>
          </a:xfrm>
          <a:prstGeom prst="rect">
            <a:avLst/>
          </a:prstGeom>
          <a:gradFill rotWithShape="1">
            <a:gsLst>
              <a:gs pos="0">
                <a:srgbClr val="8AB5EA"/>
              </a:gs>
              <a:gs pos="50000">
                <a:srgbClr val="D8E6F8"/>
              </a:gs>
              <a:gs pos="100000">
                <a:srgbClr val="8AB5EA"/>
              </a:gs>
            </a:gsLst>
            <a:lin ang="5400000" scaled="1"/>
          </a:gra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600" b="1">
                <a:ea typeface="黑体" panose="02010609060101010101" pitchFamily="49" charset="-122"/>
              </a:rPr>
              <a:t>活动</a:t>
            </a:r>
            <a:r>
              <a:rPr lang="en-US" altLang="zh-CN" sz="1600" b="1">
                <a:ea typeface="黑体" panose="02010609060101010101" pitchFamily="49" charset="-122"/>
              </a:rPr>
              <a:t>A</a:t>
            </a:r>
          </a:p>
        </p:txBody>
      </p:sp>
      <p:sp>
        <p:nvSpPr>
          <p:cNvPr id="53" name="Rectangle 23">
            <a:extLst>
              <a:ext uri="{FF2B5EF4-FFF2-40B4-BE49-F238E27FC236}">
                <a16:creationId xmlns:a16="http://schemas.microsoft.com/office/drawing/2014/main" id="{F6F9D182-8358-4C3C-9799-A513B861CBA7}"/>
              </a:ext>
            </a:extLst>
          </p:cNvPr>
          <p:cNvSpPr>
            <a:spLocks noChangeArrowheads="1"/>
          </p:cNvSpPr>
          <p:nvPr/>
        </p:nvSpPr>
        <p:spPr bwMode="auto">
          <a:xfrm>
            <a:off x="7103961" y="2469222"/>
            <a:ext cx="762000" cy="381000"/>
          </a:xfrm>
          <a:prstGeom prst="rect">
            <a:avLst/>
          </a:prstGeom>
          <a:gradFill rotWithShape="1">
            <a:gsLst>
              <a:gs pos="0">
                <a:srgbClr val="8AB5EA"/>
              </a:gs>
              <a:gs pos="50000">
                <a:srgbClr val="D8E6F8"/>
              </a:gs>
              <a:gs pos="100000">
                <a:srgbClr val="8AB5EA"/>
              </a:gs>
            </a:gsLst>
            <a:lin ang="5400000" scaled="1"/>
          </a:gra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600" b="1">
                <a:ea typeface="黑体" panose="02010609060101010101" pitchFamily="49" charset="-122"/>
              </a:rPr>
              <a:t>活动</a:t>
            </a:r>
            <a:r>
              <a:rPr lang="en-US" altLang="zh-CN" sz="1600">
                <a:ea typeface="黑体" panose="02010609060101010101" pitchFamily="49" charset="-122"/>
              </a:rPr>
              <a:t>B</a:t>
            </a:r>
            <a:endParaRPr lang="en-US" altLang="zh-CN" sz="1600" b="1">
              <a:ea typeface="黑体" panose="02010609060101010101" pitchFamily="49" charset="-122"/>
            </a:endParaRPr>
          </a:p>
        </p:txBody>
      </p:sp>
      <p:sp>
        <p:nvSpPr>
          <p:cNvPr id="55" name="Line 24">
            <a:extLst>
              <a:ext uri="{FF2B5EF4-FFF2-40B4-BE49-F238E27FC236}">
                <a16:creationId xmlns:a16="http://schemas.microsoft.com/office/drawing/2014/main" id="{2DB4003E-5F7A-4740-8D65-2EDD1FE53684}"/>
              </a:ext>
            </a:extLst>
          </p:cNvPr>
          <p:cNvSpPr>
            <a:spLocks noChangeShapeType="1"/>
          </p:cNvSpPr>
          <p:nvPr/>
        </p:nvSpPr>
        <p:spPr bwMode="auto">
          <a:xfrm>
            <a:off x="6491186" y="2678772"/>
            <a:ext cx="611187" cy="0"/>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57" name="Text Box 25">
            <a:extLst>
              <a:ext uri="{FF2B5EF4-FFF2-40B4-BE49-F238E27FC236}">
                <a16:creationId xmlns:a16="http://schemas.microsoft.com/office/drawing/2014/main" id="{74B168DB-D3AD-420F-A3AE-2E8128629A8F}"/>
              </a:ext>
            </a:extLst>
          </p:cNvPr>
          <p:cNvSpPr txBox="1">
            <a:spLocks noChangeArrowheads="1"/>
          </p:cNvSpPr>
          <p:nvPr/>
        </p:nvSpPr>
        <p:spPr bwMode="auto">
          <a:xfrm>
            <a:off x="5351361" y="1880259"/>
            <a:ext cx="1752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600" b="1">
                <a:solidFill>
                  <a:srgbClr val="FF6600"/>
                </a:solidFill>
                <a:ea typeface="黑体" panose="02010609060101010101" pitchFamily="49" charset="-122"/>
              </a:rPr>
              <a:t>滞后（</a:t>
            </a:r>
            <a:r>
              <a:rPr lang="en-US" altLang="zh-CN" sz="1600" b="1">
                <a:solidFill>
                  <a:srgbClr val="FF6600"/>
                </a:solidFill>
                <a:ea typeface="黑体" panose="02010609060101010101" pitchFamily="49" charset="-122"/>
              </a:rPr>
              <a:t>Lag</a:t>
            </a:r>
            <a:r>
              <a:rPr lang="zh-CN" altLang="en-US" sz="1600" b="1">
                <a:solidFill>
                  <a:srgbClr val="FF6600"/>
                </a:solidFill>
                <a:ea typeface="黑体" panose="02010609060101010101" pitchFamily="49" charset="-122"/>
              </a:rPr>
              <a:t>）</a:t>
            </a:r>
          </a:p>
        </p:txBody>
      </p:sp>
      <p:sp>
        <p:nvSpPr>
          <p:cNvPr id="58" name="Text Box 26">
            <a:extLst>
              <a:ext uri="{FF2B5EF4-FFF2-40B4-BE49-F238E27FC236}">
                <a16:creationId xmlns:a16="http://schemas.microsoft.com/office/drawing/2014/main" id="{13F37121-45AB-482E-8FC5-F94B82D25C16}"/>
              </a:ext>
            </a:extLst>
          </p:cNvPr>
          <p:cNvSpPr txBox="1">
            <a:spLocks noChangeArrowheads="1"/>
          </p:cNvSpPr>
          <p:nvPr/>
        </p:nvSpPr>
        <p:spPr bwMode="auto">
          <a:xfrm>
            <a:off x="6418161" y="2164422"/>
            <a:ext cx="685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600" b="1">
                <a:ea typeface="黑体" panose="02010609060101010101" pitchFamily="49" charset="-122"/>
              </a:rPr>
              <a:t>2</a:t>
            </a:r>
            <a:r>
              <a:rPr lang="zh-CN" altLang="en-US" sz="1600" b="1">
                <a:ea typeface="黑体" panose="02010609060101010101" pitchFamily="49" charset="-122"/>
              </a:rPr>
              <a:t>天</a:t>
            </a:r>
          </a:p>
        </p:txBody>
      </p:sp>
      <p:sp>
        <p:nvSpPr>
          <p:cNvPr id="59" name="Text Box 27">
            <a:extLst>
              <a:ext uri="{FF2B5EF4-FFF2-40B4-BE49-F238E27FC236}">
                <a16:creationId xmlns:a16="http://schemas.microsoft.com/office/drawing/2014/main" id="{CA2A50B2-2C6F-47CD-8D17-4D58CC2E40BA}"/>
              </a:ext>
            </a:extLst>
          </p:cNvPr>
          <p:cNvSpPr txBox="1">
            <a:spLocks noChangeArrowheads="1"/>
          </p:cNvSpPr>
          <p:nvPr/>
        </p:nvSpPr>
        <p:spPr bwMode="auto">
          <a:xfrm>
            <a:off x="5302148" y="2891497"/>
            <a:ext cx="3352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600" b="1">
                <a:ea typeface="黑体" panose="02010609060101010101" pitchFamily="49" charset="-122"/>
              </a:rPr>
              <a:t>活动</a:t>
            </a:r>
            <a:r>
              <a:rPr lang="en-US" altLang="zh-CN" sz="1600" b="1">
                <a:ea typeface="黑体" panose="02010609060101010101" pitchFamily="49" charset="-122"/>
              </a:rPr>
              <a:t>A</a:t>
            </a:r>
            <a:r>
              <a:rPr lang="zh-CN" altLang="en-US" sz="1600" b="1">
                <a:ea typeface="黑体" panose="02010609060101010101" pitchFamily="49" charset="-122"/>
              </a:rPr>
              <a:t>完成</a:t>
            </a:r>
            <a:r>
              <a:rPr lang="en-US" altLang="zh-CN" sz="1600" b="1">
                <a:ea typeface="黑体" panose="02010609060101010101" pitchFamily="49" charset="-122"/>
              </a:rPr>
              <a:t>2</a:t>
            </a:r>
            <a:r>
              <a:rPr lang="zh-CN" altLang="en-US" sz="1600" b="1">
                <a:ea typeface="黑体" panose="02010609060101010101" pitchFamily="49" charset="-122"/>
              </a:rPr>
              <a:t>天后，活动</a:t>
            </a:r>
            <a:r>
              <a:rPr lang="en-US" altLang="zh-CN" sz="1600" b="1">
                <a:ea typeface="黑体" panose="02010609060101010101" pitchFamily="49" charset="-122"/>
              </a:rPr>
              <a:t>B</a:t>
            </a:r>
            <a:r>
              <a:rPr lang="zh-CN" altLang="en-US" sz="1600" b="1">
                <a:ea typeface="黑体" panose="02010609060101010101" pitchFamily="49" charset="-122"/>
              </a:rPr>
              <a:t>才能开始</a:t>
            </a:r>
          </a:p>
        </p:txBody>
      </p:sp>
    </p:spTree>
    <p:extLst>
      <p:ext uri="{BB962C8B-B14F-4D97-AF65-F5344CB8AC3E}">
        <p14:creationId xmlns:p14="http://schemas.microsoft.com/office/powerpoint/2010/main" val="335249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91EC7E-062E-42B6-BB70-FDB6952E905C}"/>
              </a:ext>
            </a:extLst>
          </p:cNvPr>
          <p:cNvSpPr>
            <a:spLocks noGrp="1"/>
          </p:cNvSpPr>
          <p:nvPr>
            <p:ph type="title"/>
          </p:nvPr>
        </p:nvSpPr>
        <p:spPr/>
        <p:txBody>
          <a:bodyPr/>
          <a:lstStyle/>
          <a:p>
            <a:r>
              <a:rPr lang="en-US" altLang="zh-CN" dirty="0"/>
              <a:t>12.4 </a:t>
            </a:r>
            <a:r>
              <a:rPr lang="zh-CN" altLang="en-US" dirty="0"/>
              <a:t>排列活动顺序</a:t>
            </a:r>
          </a:p>
        </p:txBody>
      </p:sp>
      <p:sp>
        <p:nvSpPr>
          <p:cNvPr id="4" name="内容占位符 2">
            <a:extLst>
              <a:ext uri="{FF2B5EF4-FFF2-40B4-BE49-F238E27FC236}">
                <a16:creationId xmlns:a16="http://schemas.microsoft.com/office/drawing/2014/main" id="{1D10008B-CFBF-4465-878C-367A318D6E50}"/>
              </a:ext>
            </a:extLst>
          </p:cNvPr>
          <p:cNvSpPr txBox="1">
            <a:spLocks noChangeArrowheads="1"/>
          </p:cNvSpPr>
          <p:nvPr/>
        </p:nvSpPr>
        <p:spPr>
          <a:xfrm>
            <a:off x="547873" y="1302885"/>
            <a:ext cx="11129485" cy="1748517"/>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2400" b="1" dirty="0"/>
              <a:t>重点输出：项目进度网络图</a:t>
            </a:r>
            <a:endParaRPr lang="en-US" altLang="zh-CN" sz="2400" b="1" dirty="0"/>
          </a:p>
          <a:p>
            <a:pPr marL="0" indent="0">
              <a:buNone/>
            </a:pPr>
            <a:r>
              <a:rPr lang="zh-CN" altLang="en-US" sz="2400" b="1" dirty="0"/>
              <a:t>顺序图法</a:t>
            </a:r>
            <a:r>
              <a:rPr lang="zh-CN" altLang="en-US" sz="2400" dirty="0"/>
              <a:t>（</a:t>
            </a:r>
            <a:r>
              <a:rPr lang="en-US" altLang="zh-CN" sz="2400" dirty="0"/>
              <a:t>PDM</a:t>
            </a:r>
            <a:r>
              <a:rPr lang="zh-CN" altLang="en-US" sz="2400" dirty="0"/>
              <a:t>）</a:t>
            </a:r>
            <a:endParaRPr lang="en-US" altLang="zh-CN" sz="2400" dirty="0"/>
          </a:p>
          <a:p>
            <a:pPr marL="457200" lvl="1" indent="0">
              <a:buNone/>
            </a:pPr>
            <a:r>
              <a:rPr lang="zh-CN" altLang="en-US" sz="2400" dirty="0"/>
              <a:t>一种画法是单节点网络图法（</a:t>
            </a:r>
            <a:r>
              <a:rPr lang="en-US" altLang="zh-CN" sz="2400" dirty="0"/>
              <a:t>AON</a:t>
            </a:r>
            <a:r>
              <a:rPr lang="zh-CN" altLang="en-US" sz="2400" dirty="0"/>
              <a:t>），它用单个节点（方框）表示一项活动，用节点之间的箭线表示项目活动之间的相互依赖关系。</a:t>
            </a:r>
          </a:p>
          <a:p>
            <a:pPr lvl="1"/>
            <a:endParaRPr lang="zh-CN" altLang="en-US" dirty="0"/>
          </a:p>
        </p:txBody>
      </p:sp>
      <p:grpSp>
        <p:nvGrpSpPr>
          <p:cNvPr id="6" name="Group 34">
            <a:extLst>
              <a:ext uri="{FF2B5EF4-FFF2-40B4-BE49-F238E27FC236}">
                <a16:creationId xmlns:a16="http://schemas.microsoft.com/office/drawing/2014/main" id="{835A0256-61EF-403F-9F19-599D1AC0AC86}"/>
              </a:ext>
            </a:extLst>
          </p:cNvPr>
          <p:cNvGrpSpPr>
            <a:grpSpLocks/>
          </p:cNvGrpSpPr>
          <p:nvPr/>
        </p:nvGrpSpPr>
        <p:grpSpPr bwMode="auto">
          <a:xfrm>
            <a:off x="4051216" y="3429000"/>
            <a:ext cx="7121525" cy="2743200"/>
            <a:chOff x="912" y="2400"/>
            <a:chExt cx="4486" cy="1344"/>
          </a:xfrm>
        </p:grpSpPr>
        <p:sp>
          <p:nvSpPr>
            <p:cNvPr id="7" name="Text Box 35">
              <a:extLst>
                <a:ext uri="{FF2B5EF4-FFF2-40B4-BE49-F238E27FC236}">
                  <a16:creationId xmlns:a16="http://schemas.microsoft.com/office/drawing/2014/main" id="{A9C993D2-5C14-44AE-A48D-A4C4F41EE7A7}"/>
                </a:ext>
              </a:extLst>
            </p:cNvPr>
            <p:cNvSpPr txBox="1">
              <a:spLocks noChangeArrowheads="1"/>
            </p:cNvSpPr>
            <p:nvPr/>
          </p:nvSpPr>
          <p:spPr bwMode="auto">
            <a:xfrm>
              <a:off x="3731" y="2400"/>
              <a:ext cx="586" cy="252"/>
            </a:xfrm>
            <a:prstGeom prst="rect">
              <a:avLst/>
            </a:prstGeom>
            <a:solidFill>
              <a:srgbClr val="FFFF99"/>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800" dirty="0"/>
                <a:t>活动</a:t>
              </a:r>
              <a:r>
                <a:rPr kumimoji="1" lang="en-US" altLang="zh-CN" sz="1800" dirty="0"/>
                <a:t>C</a:t>
              </a:r>
            </a:p>
          </p:txBody>
        </p:sp>
        <p:sp>
          <p:nvSpPr>
            <p:cNvPr id="8" name="Text Box 36">
              <a:extLst>
                <a:ext uri="{FF2B5EF4-FFF2-40B4-BE49-F238E27FC236}">
                  <a16:creationId xmlns:a16="http://schemas.microsoft.com/office/drawing/2014/main" id="{0C12757C-4A9C-4489-AF20-60EA5F7E8349}"/>
                </a:ext>
              </a:extLst>
            </p:cNvPr>
            <p:cNvSpPr txBox="1">
              <a:spLocks noChangeArrowheads="1"/>
            </p:cNvSpPr>
            <p:nvPr/>
          </p:nvSpPr>
          <p:spPr bwMode="auto">
            <a:xfrm>
              <a:off x="3731" y="3168"/>
              <a:ext cx="586" cy="252"/>
            </a:xfrm>
            <a:prstGeom prst="rect">
              <a:avLst/>
            </a:prstGeom>
            <a:solidFill>
              <a:srgbClr val="FFFF99"/>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800" dirty="0"/>
                <a:t>活动</a:t>
              </a:r>
              <a:r>
                <a:rPr kumimoji="1" lang="en-US" altLang="zh-CN" sz="1800" dirty="0"/>
                <a:t>F</a:t>
              </a:r>
            </a:p>
          </p:txBody>
        </p:sp>
        <p:sp>
          <p:nvSpPr>
            <p:cNvPr id="9" name="Text Box 37">
              <a:extLst>
                <a:ext uri="{FF2B5EF4-FFF2-40B4-BE49-F238E27FC236}">
                  <a16:creationId xmlns:a16="http://schemas.microsoft.com/office/drawing/2014/main" id="{2BD24E02-4334-45F3-8F8F-1553463A60F6}"/>
                </a:ext>
              </a:extLst>
            </p:cNvPr>
            <p:cNvSpPr txBox="1">
              <a:spLocks noChangeArrowheads="1"/>
            </p:cNvSpPr>
            <p:nvPr/>
          </p:nvSpPr>
          <p:spPr bwMode="auto">
            <a:xfrm>
              <a:off x="4812" y="2832"/>
              <a:ext cx="586" cy="252"/>
            </a:xfrm>
            <a:prstGeom prst="rect">
              <a:avLst/>
            </a:prstGeom>
            <a:solidFill>
              <a:srgbClr val="FFFF99"/>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800"/>
                <a:t>结束</a:t>
              </a:r>
            </a:p>
          </p:txBody>
        </p:sp>
        <p:sp>
          <p:nvSpPr>
            <p:cNvPr id="10" name="Line 38">
              <a:extLst>
                <a:ext uri="{FF2B5EF4-FFF2-40B4-BE49-F238E27FC236}">
                  <a16:creationId xmlns:a16="http://schemas.microsoft.com/office/drawing/2014/main" id="{CC79F3A5-2801-4EBD-A835-61DE19C06367}"/>
                </a:ext>
              </a:extLst>
            </p:cNvPr>
            <p:cNvSpPr>
              <a:spLocks noChangeShapeType="1"/>
            </p:cNvSpPr>
            <p:nvPr/>
          </p:nvSpPr>
          <p:spPr bwMode="auto">
            <a:xfrm>
              <a:off x="4344" y="2496"/>
              <a:ext cx="23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Line 39">
              <a:extLst>
                <a:ext uri="{FF2B5EF4-FFF2-40B4-BE49-F238E27FC236}">
                  <a16:creationId xmlns:a16="http://schemas.microsoft.com/office/drawing/2014/main" id="{80D2AC47-2B1C-4BBD-BC86-6C8C57CE2755}"/>
                </a:ext>
              </a:extLst>
            </p:cNvPr>
            <p:cNvSpPr>
              <a:spLocks noChangeShapeType="1"/>
            </p:cNvSpPr>
            <p:nvPr/>
          </p:nvSpPr>
          <p:spPr bwMode="auto">
            <a:xfrm>
              <a:off x="4344" y="3336"/>
              <a:ext cx="23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 name="Line 40">
              <a:extLst>
                <a:ext uri="{FF2B5EF4-FFF2-40B4-BE49-F238E27FC236}">
                  <a16:creationId xmlns:a16="http://schemas.microsoft.com/office/drawing/2014/main" id="{6DA7B596-4201-4CCC-B232-34E94832854E}"/>
                </a:ext>
              </a:extLst>
            </p:cNvPr>
            <p:cNvSpPr>
              <a:spLocks noChangeShapeType="1"/>
            </p:cNvSpPr>
            <p:nvPr/>
          </p:nvSpPr>
          <p:spPr bwMode="auto">
            <a:xfrm>
              <a:off x="4579" y="2496"/>
              <a:ext cx="0" cy="8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Line 41">
              <a:extLst>
                <a:ext uri="{FF2B5EF4-FFF2-40B4-BE49-F238E27FC236}">
                  <a16:creationId xmlns:a16="http://schemas.microsoft.com/office/drawing/2014/main" id="{A8EB5690-84F2-4ADB-97AF-4B7032D8208D}"/>
                </a:ext>
              </a:extLst>
            </p:cNvPr>
            <p:cNvSpPr>
              <a:spLocks noChangeShapeType="1"/>
            </p:cNvSpPr>
            <p:nvPr/>
          </p:nvSpPr>
          <p:spPr bwMode="auto">
            <a:xfrm>
              <a:off x="4579" y="2916"/>
              <a:ext cx="233"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 name="Text Box 42">
              <a:extLst>
                <a:ext uri="{FF2B5EF4-FFF2-40B4-BE49-F238E27FC236}">
                  <a16:creationId xmlns:a16="http://schemas.microsoft.com/office/drawing/2014/main" id="{3F968BD0-23AF-4B40-ADAD-67E0ED3C61C8}"/>
                </a:ext>
              </a:extLst>
            </p:cNvPr>
            <p:cNvSpPr txBox="1">
              <a:spLocks noChangeArrowheads="1"/>
            </p:cNvSpPr>
            <p:nvPr/>
          </p:nvSpPr>
          <p:spPr bwMode="auto">
            <a:xfrm>
              <a:off x="912" y="2820"/>
              <a:ext cx="586" cy="252"/>
            </a:xfrm>
            <a:prstGeom prst="rect">
              <a:avLst/>
            </a:prstGeom>
            <a:solidFill>
              <a:srgbClr val="FFFF99"/>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800"/>
                <a:t>开始</a:t>
              </a:r>
            </a:p>
          </p:txBody>
        </p:sp>
        <p:sp>
          <p:nvSpPr>
            <p:cNvPr id="15" name="Text Box 43">
              <a:extLst>
                <a:ext uri="{FF2B5EF4-FFF2-40B4-BE49-F238E27FC236}">
                  <a16:creationId xmlns:a16="http://schemas.microsoft.com/office/drawing/2014/main" id="{CCEAAF81-61C4-461C-991C-752BF00037FA}"/>
                </a:ext>
              </a:extLst>
            </p:cNvPr>
            <p:cNvSpPr txBox="1">
              <a:spLocks noChangeArrowheads="1"/>
            </p:cNvSpPr>
            <p:nvPr/>
          </p:nvSpPr>
          <p:spPr bwMode="auto">
            <a:xfrm>
              <a:off x="1966" y="2400"/>
              <a:ext cx="585" cy="252"/>
            </a:xfrm>
            <a:prstGeom prst="rect">
              <a:avLst/>
            </a:prstGeom>
            <a:solidFill>
              <a:srgbClr val="FFFF99"/>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800" dirty="0"/>
                <a:t>活动</a:t>
              </a:r>
              <a:r>
                <a:rPr kumimoji="1" lang="en-US" altLang="zh-CN" sz="1800" dirty="0"/>
                <a:t>A</a:t>
              </a:r>
            </a:p>
          </p:txBody>
        </p:sp>
        <p:sp>
          <p:nvSpPr>
            <p:cNvPr id="16" name="Text Box 44">
              <a:extLst>
                <a:ext uri="{FF2B5EF4-FFF2-40B4-BE49-F238E27FC236}">
                  <a16:creationId xmlns:a16="http://schemas.microsoft.com/office/drawing/2014/main" id="{387115B4-4F0B-4823-9689-61C80DC7F7B2}"/>
                </a:ext>
              </a:extLst>
            </p:cNvPr>
            <p:cNvSpPr txBox="1">
              <a:spLocks noChangeArrowheads="1"/>
            </p:cNvSpPr>
            <p:nvPr/>
          </p:nvSpPr>
          <p:spPr bwMode="auto">
            <a:xfrm>
              <a:off x="2786" y="2400"/>
              <a:ext cx="585" cy="252"/>
            </a:xfrm>
            <a:prstGeom prst="rect">
              <a:avLst/>
            </a:prstGeom>
            <a:solidFill>
              <a:srgbClr val="FFFF99"/>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800" dirty="0"/>
                <a:t>活动</a:t>
              </a:r>
              <a:r>
                <a:rPr kumimoji="1" lang="en-US" altLang="zh-CN" sz="1800" dirty="0"/>
                <a:t>B</a:t>
              </a:r>
            </a:p>
          </p:txBody>
        </p:sp>
        <p:sp>
          <p:nvSpPr>
            <p:cNvPr id="17" name="Text Box 45">
              <a:extLst>
                <a:ext uri="{FF2B5EF4-FFF2-40B4-BE49-F238E27FC236}">
                  <a16:creationId xmlns:a16="http://schemas.microsoft.com/office/drawing/2014/main" id="{D99BD110-80D6-48C2-81EC-11CFA070B8D4}"/>
                </a:ext>
              </a:extLst>
            </p:cNvPr>
            <p:cNvSpPr txBox="1">
              <a:spLocks noChangeArrowheads="1"/>
            </p:cNvSpPr>
            <p:nvPr/>
          </p:nvSpPr>
          <p:spPr bwMode="auto">
            <a:xfrm>
              <a:off x="1966" y="3156"/>
              <a:ext cx="585" cy="252"/>
            </a:xfrm>
            <a:prstGeom prst="rect">
              <a:avLst/>
            </a:prstGeom>
            <a:solidFill>
              <a:srgbClr val="FFFF99"/>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800" dirty="0"/>
                <a:t>活动</a:t>
              </a:r>
              <a:r>
                <a:rPr kumimoji="1" lang="en-US" altLang="zh-CN" sz="1800" dirty="0"/>
                <a:t>D</a:t>
              </a:r>
            </a:p>
          </p:txBody>
        </p:sp>
        <p:sp>
          <p:nvSpPr>
            <p:cNvPr id="18" name="Text Box 46">
              <a:extLst>
                <a:ext uri="{FF2B5EF4-FFF2-40B4-BE49-F238E27FC236}">
                  <a16:creationId xmlns:a16="http://schemas.microsoft.com/office/drawing/2014/main" id="{B50714E1-6E9C-4FC9-8227-0299CA5CFEF9}"/>
                </a:ext>
              </a:extLst>
            </p:cNvPr>
            <p:cNvSpPr txBox="1">
              <a:spLocks noChangeArrowheads="1"/>
            </p:cNvSpPr>
            <p:nvPr/>
          </p:nvSpPr>
          <p:spPr bwMode="auto">
            <a:xfrm>
              <a:off x="2786" y="3156"/>
              <a:ext cx="585" cy="252"/>
            </a:xfrm>
            <a:prstGeom prst="rect">
              <a:avLst/>
            </a:prstGeom>
            <a:solidFill>
              <a:srgbClr val="FFFF99"/>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800" dirty="0"/>
                <a:t>活动</a:t>
              </a:r>
              <a:r>
                <a:rPr kumimoji="1" lang="en-US" altLang="zh-CN" sz="1800" dirty="0"/>
                <a:t>E</a:t>
              </a:r>
            </a:p>
          </p:txBody>
        </p:sp>
        <p:sp>
          <p:nvSpPr>
            <p:cNvPr id="19" name="Line 47">
              <a:extLst>
                <a:ext uri="{FF2B5EF4-FFF2-40B4-BE49-F238E27FC236}">
                  <a16:creationId xmlns:a16="http://schemas.microsoft.com/office/drawing/2014/main" id="{42FCF11A-CAD2-4B41-A386-2C2F7C38DFA3}"/>
                </a:ext>
              </a:extLst>
            </p:cNvPr>
            <p:cNvSpPr>
              <a:spLocks noChangeShapeType="1"/>
            </p:cNvSpPr>
            <p:nvPr/>
          </p:nvSpPr>
          <p:spPr bwMode="auto">
            <a:xfrm>
              <a:off x="2551" y="2484"/>
              <a:ext cx="23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 name="Line 48">
              <a:extLst>
                <a:ext uri="{FF2B5EF4-FFF2-40B4-BE49-F238E27FC236}">
                  <a16:creationId xmlns:a16="http://schemas.microsoft.com/office/drawing/2014/main" id="{DFB38450-424C-45FF-93DB-D3C9755F8EF1}"/>
                </a:ext>
              </a:extLst>
            </p:cNvPr>
            <p:cNvSpPr>
              <a:spLocks noChangeShapeType="1"/>
            </p:cNvSpPr>
            <p:nvPr/>
          </p:nvSpPr>
          <p:spPr bwMode="auto">
            <a:xfrm>
              <a:off x="3371" y="2484"/>
              <a:ext cx="351"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 name="Line 49">
              <a:extLst>
                <a:ext uri="{FF2B5EF4-FFF2-40B4-BE49-F238E27FC236}">
                  <a16:creationId xmlns:a16="http://schemas.microsoft.com/office/drawing/2014/main" id="{BB475838-B759-405A-B1B8-C4D061A8F0AF}"/>
                </a:ext>
              </a:extLst>
            </p:cNvPr>
            <p:cNvSpPr>
              <a:spLocks noChangeShapeType="1"/>
            </p:cNvSpPr>
            <p:nvPr/>
          </p:nvSpPr>
          <p:spPr bwMode="auto">
            <a:xfrm>
              <a:off x="2551" y="3324"/>
              <a:ext cx="23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 name="Line 50">
              <a:extLst>
                <a:ext uri="{FF2B5EF4-FFF2-40B4-BE49-F238E27FC236}">
                  <a16:creationId xmlns:a16="http://schemas.microsoft.com/office/drawing/2014/main" id="{4D8DB3A6-414A-4243-832F-1FE175589E94}"/>
                </a:ext>
              </a:extLst>
            </p:cNvPr>
            <p:cNvSpPr>
              <a:spLocks noChangeShapeType="1"/>
            </p:cNvSpPr>
            <p:nvPr/>
          </p:nvSpPr>
          <p:spPr bwMode="auto">
            <a:xfrm>
              <a:off x="3371" y="3324"/>
              <a:ext cx="351"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Line 51">
              <a:extLst>
                <a:ext uri="{FF2B5EF4-FFF2-40B4-BE49-F238E27FC236}">
                  <a16:creationId xmlns:a16="http://schemas.microsoft.com/office/drawing/2014/main" id="{28115589-B3ED-4FB9-A75D-9C81F74C7799}"/>
                </a:ext>
              </a:extLst>
            </p:cNvPr>
            <p:cNvSpPr>
              <a:spLocks noChangeShapeType="1"/>
            </p:cNvSpPr>
            <p:nvPr/>
          </p:nvSpPr>
          <p:spPr bwMode="auto">
            <a:xfrm>
              <a:off x="1732" y="2484"/>
              <a:ext cx="234"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 name="Line 52">
              <a:extLst>
                <a:ext uri="{FF2B5EF4-FFF2-40B4-BE49-F238E27FC236}">
                  <a16:creationId xmlns:a16="http://schemas.microsoft.com/office/drawing/2014/main" id="{7FAD00C2-CBD2-4FEC-BDF4-1E42B1E5AF22}"/>
                </a:ext>
              </a:extLst>
            </p:cNvPr>
            <p:cNvSpPr>
              <a:spLocks noChangeShapeType="1"/>
            </p:cNvSpPr>
            <p:nvPr/>
          </p:nvSpPr>
          <p:spPr bwMode="auto">
            <a:xfrm>
              <a:off x="1732" y="3324"/>
              <a:ext cx="234"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 name="Line 53">
              <a:extLst>
                <a:ext uri="{FF2B5EF4-FFF2-40B4-BE49-F238E27FC236}">
                  <a16:creationId xmlns:a16="http://schemas.microsoft.com/office/drawing/2014/main" id="{DC99D002-8CFD-423E-A0DC-1526986D660A}"/>
                </a:ext>
              </a:extLst>
            </p:cNvPr>
            <p:cNvSpPr>
              <a:spLocks noChangeShapeType="1"/>
            </p:cNvSpPr>
            <p:nvPr/>
          </p:nvSpPr>
          <p:spPr bwMode="auto">
            <a:xfrm flipH="1">
              <a:off x="1732" y="2484"/>
              <a:ext cx="0" cy="8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54">
              <a:extLst>
                <a:ext uri="{FF2B5EF4-FFF2-40B4-BE49-F238E27FC236}">
                  <a16:creationId xmlns:a16="http://schemas.microsoft.com/office/drawing/2014/main" id="{BB881A2D-DB5D-4889-9AE3-CC425B7EFEEB}"/>
                </a:ext>
              </a:extLst>
            </p:cNvPr>
            <p:cNvSpPr>
              <a:spLocks noChangeShapeType="1"/>
            </p:cNvSpPr>
            <p:nvPr/>
          </p:nvSpPr>
          <p:spPr bwMode="auto">
            <a:xfrm>
              <a:off x="1498" y="2904"/>
              <a:ext cx="234"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 name="Line 56">
              <a:extLst>
                <a:ext uri="{FF2B5EF4-FFF2-40B4-BE49-F238E27FC236}">
                  <a16:creationId xmlns:a16="http://schemas.microsoft.com/office/drawing/2014/main" id="{748942B5-8C20-4A60-92E9-CD99A5F9DE3E}"/>
                </a:ext>
              </a:extLst>
            </p:cNvPr>
            <p:cNvSpPr>
              <a:spLocks noChangeShapeType="1"/>
            </p:cNvSpPr>
            <p:nvPr/>
          </p:nvSpPr>
          <p:spPr bwMode="auto">
            <a:xfrm flipV="1">
              <a:off x="2551" y="2568"/>
              <a:ext cx="1171" cy="65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 name="Text Box 57">
              <a:extLst>
                <a:ext uri="{FF2B5EF4-FFF2-40B4-BE49-F238E27FC236}">
                  <a16:creationId xmlns:a16="http://schemas.microsoft.com/office/drawing/2014/main" id="{E2420A0E-A67C-46B8-B5AF-499D0756F50C}"/>
                </a:ext>
              </a:extLst>
            </p:cNvPr>
            <p:cNvSpPr txBox="1">
              <a:spLocks noChangeArrowheads="1"/>
            </p:cNvSpPr>
            <p:nvPr/>
          </p:nvSpPr>
          <p:spPr bwMode="auto">
            <a:xfrm>
              <a:off x="1498" y="3492"/>
              <a:ext cx="2645" cy="252"/>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000" b="1"/>
                <a:t>用顺序图法绘制的项目网络图示例</a:t>
              </a:r>
              <a:endParaRPr kumimoji="1" lang="zh-CN" altLang="en-US" sz="2000"/>
            </a:p>
          </p:txBody>
        </p:sp>
      </p:grpSp>
      <p:sp>
        <p:nvSpPr>
          <p:cNvPr id="29" name="AutoShape 18">
            <a:extLst>
              <a:ext uri="{FF2B5EF4-FFF2-40B4-BE49-F238E27FC236}">
                <a16:creationId xmlns:a16="http://schemas.microsoft.com/office/drawing/2014/main" id="{946FA313-4731-4F30-862A-78375B113AD4}"/>
              </a:ext>
            </a:extLst>
          </p:cNvPr>
          <p:cNvSpPr>
            <a:spLocks noChangeArrowheads="1"/>
          </p:cNvSpPr>
          <p:nvPr/>
        </p:nvSpPr>
        <p:spPr bwMode="auto">
          <a:xfrm>
            <a:off x="533400" y="4724400"/>
            <a:ext cx="2787316" cy="1190618"/>
          </a:xfrm>
          <a:prstGeom prst="wedgeRectCallout">
            <a:avLst>
              <a:gd name="adj1" fmla="val -18921"/>
              <a:gd name="adj2" fmla="val -16796"/>
            </a:avLst>
          </a:prstGeom>
          <a:gradFill rotWithShape="1">
            <a:gsLst>
              <a:gs pos="0">
                <a:srgbClr val="BBD4F3"/>
              </a:gs>
              <a:gs pos="50000">
                <a:srgbClr val="FFFFFF"/>
              </a:gs>
              <a:gs pos="100000">
                <a:srgbClr val="BBD4F3"/>
              </a:gs>
            </a:gsLst>
            <a:lin ang="540000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0"/>
              </a:spcBef>
              <a:buFontTx/>
              <a:buNone/>
            </a:pPr>
            <a:r>
              <a:rPr lang="en-US" altLang="zh-CN" sz="1600"/>
              <a:t>1</a:t>
            </a:r>
            <a:r>
              <a:rPr lang="zh-CN" altLang="en-US" sz="1600"/>
              <a:t>、单代号、</a:t>
            </a:r>
            <a:r>
              <a:rPr lang="en-US" altLang="zh-CN" sz="1600"/>
              <a:t>AON</a:t>
            </a:r>
          </a:p>
          <a:p>
            <a:pPr eaLnBrk="1" hangingPunct="1">
              <a:lnSpc>
                <a:spcPct val="100000"/>
              </a:lnSpc>
              <a:spcBef>
                <a:spcPct val="0"/>
              </a:spcBef>
              <a:buFontTx/>
              <a:buNone/>
            </a:pPr>
            <a:r>
              <a:rPr lang="en-US" altLang="zh-CN" sz="1600"/>
              <a:t>2</a:t>
            </a:r>
            <a:r>
              <a:rPr lang="zh-CN" altLang="en-US" sz="1600"/>
              <a:t>、清楚表达</a:t>
            </a:r>
            <a:r>
              <a:rPr lang="en-US" altLang="zh-CN" sz="1600"/>
              <a:t>4</a:t>
            </a:r>
            <a:r>
              <a:rPr lang="zh-CN" altLang="en-US" sz="1600"/>
              <a:t>种逻辑关系</a:t>
            </a:r>
          </a:p>
          <a:p>
            <a:pPr eaLnBrk="1" hangingPunct="1">
              <a:lnSpc>
                <a:spcPct val="100000"/>
              </a:lnSpc>
              <a:spcBef>
                <a:spcPct val="0"/>
              </a:spcBef>
              <a:buFontTx/>
              <a:buNone/>
            </a:pPr>
            <a:r>
              <a:rPr lang="en-US" altLang="zh-CN" sz="1600"/>
              <a:t>3</a:t>
            </a:r>
            <a:r>
              <a:rPr lang="zh-CN" altLang="en-US" sz="1600"/>
              <a:t>、信息量大</a:t>
            </a:r>
          </a:p>
        </p:txBody>
      </p:sp>
    </p:spTree>
    <p:extLst>
      <p:ext uri="{BB962C8B-B14F-4D97-AF65-F5344CB8AC3E}">
        <p14:creationId xmlns:p14="http://schemas.microsoft.com/office/powerpoint/2010/main" val="3113101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blinds(horizontal)">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grpId="1" nodeType="clickEffect">
                                  <p:stCondLst>
                                    <p:cond delay="0"/>
                                  </p:stCondLst>
                                  <p:childTnLst>
                                    <p:animEffect transition="out" filter="blinds(horizontal)">
                                      <p:cBhvr>
                                        <p:cTn id="11" dur="500"/>
                                        <p:tgtEl>
                                          <p:spTgt spid="29"/>
                                        </p:tgtEl>
                                      </p:cBhvr>
                                    </p:animEffect>
                                    <p:set>
                                      <p:cBhvr>
                                        <p:cTn id="12" dur="1" fill="hold">
                                          <p:stCondLst>
                                            <p:cond delay="499"/>
                                          </p:stCondLst>
                                        </p:cTn>
                                        <p:tgtEl>
                                          <p:spTgt spid="2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29"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AF6EB1-03AC-4739-AE01-69A9893AEA88}"/>
              </a:ext>
            </a:extLst>
          </p:cNvPr>
          <p:cNvSpPr>
            <a:spLocks noGrp="1"/>
          </p:cNvSpPr>
          <p:nvPr>
            <p:ph type="title"/>
          </p:nvPr>
        </p:nvSpPr>
        <p:spPr/>
        <p:txBody>
          <a:bodyPr/>
          <a:lstStyle/>
          <a:p>
            <a:r>
              <a:rPr lang="en-US" altLang="zh-CN" dirty="0"/>
              <a:t>12.4 </a:t>
            </a:r>
            <a:r>
              <a:rPr lang="zh-CN" altLang="en-US" dirty="0"/>
              <a:t>排列活动顺序</a:t>
            </a:r>
          </a:p>
        </p:txBody>
      </p:sp>
      <p:pic>
        <p:nvPicPr>
          <p:cNvPr id="4" name="图片 3">
            <a:extLst>
              <a:ext uri="{FF2B5EF4-FFF2-40B4-BE49-F238E27FC236}">
                <a16:creationId xmlns:a16="http://schemas.microsoft.com/office/drawing/2014/main" id="{8884F2A3-A8AB-460D-B88D-6B843CB50E88}"/>
              </a:ext>
            </a:extLst>
          </p:cNvPr>
          <p:cNvPicPr>
            <a:picLocks noChangeAspect="1"/>
          </p:cNvPicPr>
          <p:nvPr/>
        </p:nvPicPr>
        <p:blipFill>
          <a:blip r:embed="rId3"/>
          <a:stretch>
            <a:fillRect/>
          </a:stretch>
        </p:blipFill>
        <p:spPr>
          <a:xfrm>
            <a:off x="3657600" y="1719669"/>
            <a:ext cx="7324474" cy="4701672"/>
          </a:xfrm>
          <a:prstGeom prst="rect">
            <a:avLst/>
          </a:prstGeom>
        </p:spPr>
      </p:pic>
      <p:sp>
        <p:nvSpPr>
          <p:cNvPr id="6" name="文本框 5">
            <a:extLst>
              <a:ext uri="{FF2B5EF4-FFF2-40B4-BE49-F238E27FC236}">
                <a16:creationId xmlns:a16="http://schemas.microsoft.com/office/drawing/2014/main" id="{14A18DB1-C9EB-402C-8B5D-C57C1B3741CF}"/>
              </a:ext>
            </a:extLst>
          </p:cNvPr>
          <p:cNvSpPr txBox="1"/>
          <p:nvPr/>
        </p:nvSpPr>
        <p:spPr>
          <a:xfrm>
            <a:off x="613885" y="1445766"/>
            <a:ext cx="2550420" cy="461665"/>
          </a:xfrm>
          <a:prstGeom prst="rect">
            <a:avLst/>
          </a:prstGeom>
          <a:noFill/>
        </p:spPr>
        <p:txBody>
          <a:bodyPr wrap="square">
            <a:spAutoFit/>
          </a:bodyPr>
          <a:lstStyle/>
          <a:p>
            <a:r>
              <a:rPr lang="zh-CN" altLang="en-US" sz="2400" b="1" dirty="0">
                <a:latin typeface="微软雅黑" panose="020B0503020204020204" pitchFamily="34" charset="-122"/>
                <a:ea typeface="微软雅黑" panose="020B0503020204020204" pitchFamily="34" charset="-122"/>
              </a:rPr>
              <a:t>项目进度网络图</a:t>
            </a:r>
          </a:p>
        </p:txBody>
      </p:sp>
    </p:spTree>
    <p:extLst>
      <p:ext uri="{BB962C8B-B14F-4D97-AF65-F5344CB8AC3E}">
        <p14:creationId xmlns:p14="http://schemas.microsoft.com/office/powerpoint/2010/main" val="964707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91EC7E-062E-42B6-BB70-FDB6952E905C}"/>
              </a:ext>
            </a:extLst>
          </p:cNvPr>
          <p:cNvSpPr>
            <a:spLocks noGrp="1"/>
          </p:cNvSpPr>
          <p:nvPr>
            <p:ph type="title"/>
          </p:nvPr>
        </p:nvSpPr>
        <p:spPr/>
        <p:txBody>
          <a:bodyPr/>
          <a:lstStyle/>
          <a:p>
            <a:r>
              <a:rPr lang="en-US" altLang="zh-CN" dirty="0"/>
              <a:t>12.4 </a:t>
            </a:r>
            <a:r>
              <a:rPr lang="zh-CN" altLang="en-US" dirty="0"/>
              <a:t>排列活动顺序</a:t>
            </a:r>
          </a:p>
        </p:txBody>
      </p:sp>
      <p:sp>
        <p:nvSpPr>
          <p:cNvPr id="4" name="内容占位符 2">
            <a:extLst>
              <a:ext uri="{FF2B5EF4-FFF2-40B4-BE49-F238E27FC236}">
                <a16:creationId xmlns:a16="http://schemas.microsoft.com/office/drawing/2014/main" id="{1D10008B-CFBF-4465-878C-367A318D6E50}"/>
              </a:ext>
            </a:extLst>
          </p:cNvPr>
          <p:cNvSpPr txBox="1">
            <a:spLocks noChangeArrowheads="1"/>
          </p:cNvSpPr>
          <p:nvPr/>
        </p:nvSpPr>
        <p:spPr>
          <a:xfrm>
            <a:off x="558759" y="1335541"/>
            <a:ext cx="11129485" cy="12192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2400" b="1" dirty="0"/>
              <a:t>项目进度网络图</a:t>
            </a:r>
            <a:endParaRPr lang="en-US" altLang="zh-CN" sz="2400" b="1" dirty="0"/>
          </a:p>
          <a:p>
            <a:pPr marL="0" indent="0">
              <a:buNone/>
            </a:pPr>
            <a:r>
              <a:rPr lang="zh-CN" altLang="en-US" sz="2000" b="1" dirty="0">
                <a:latin typeface="Times New Roman" pitchFamily="18" charset="0"/>
                <a:ea typeface="黑体" pitchFamily="2" charset="-122"/>
                <a:cs typeface="Times New Roman" pitchFamily="18" charset="0"/>
              </a:rPr>
              <a:t>双代号网络图法（</a:t>
            </a:r>
            <a:r>
              <a:rPr lang="en-US" altLang="zh-CN" sz="2000" b="1" dirty="0">
                <a:latin typeface="Times New Roman" pitchFamily="18" charset="0"/>
                <a:ea typeface="黑体" pitchFamily="2" charset="-122"/>
                <a:cs typeface="Times New Roman" pitchFamily="18" charset="0"/>
              </a:rPr>
              <a:t>activity-on-arrow</a:t>
            </a:r>
            <a:r>
              <a:rPr lang="zh-CN" altLang="en-US" sz="2000" b="1" dirty="0">
                <a:latin typeface="Times New Roman" pitchFamily="18" charset="0"/>
                <a:ea typeface="黑体" pitchFamily="2" charset="-122"/>
                <a:cs typeface="Times New Roman" pitchFamily="18" charset="0"/>
              </a:rPr>
              <a:t>，</a:t>
            </a:r>
            <a:r>
              <a:rPr lang="en-US" altLang="zh-CN" sz="2000" b="1" dirty="0">
                <a:latin typeface="Times New Roman" pitchFamily="18" charset="0"/>
                <a:ea typeface="黑体" pitchFamily="2" charset="-122"/>
                <a:cs typeface="Times New Roman" pitchFamily="18" charset="0"/>
              </a:rPr>
              <a:t>AOA</a:t>
            </a:r>
            <a:r>
              <a:rPr lang="zh-CN" altLang="en-US" sz="2000" b="1" dirty="0">
                <a:latin typeface="Times New Roman" pitchFamily="18" charset="0"/>
                <a:ea typeface="黑体" pitchFamily="2" charset="-122"/>
                <a:cs typeface="Times New Roman" pitchFamily="18" charset="0"/>
              </a:rPr>
              <a:t>），即箭线图法</a:t>
            </a:r>
            <a:r>
              <a:rPr lang="en-US" altLang="zh-CN" sz="2000" b="1" dirty="0">
                <a:latin typeface="Times New Roman" pitchFamily="18" charset="0"/>
                <a:ea typeface="黑体" pitchFamily="2" charset="-122"/>
                <a:cs typeface="Times New Roman" pitchFamily="18" charset="0"/>
              </a:rPr>
              <a:t>(Arrow Diagramming Method</a:t>
            </a:r>
            <a:r>
              <a:rPr lang="zh-CN" altLang="en-US" sz="2000" b="1" dirty="0">
                <a:latin typeface="Times New Roman" pitchFamily="18" charset="0"/>
                <a:ea typeface="黑体" pitchFamily="2" charset="-122"/>
                <a:cs typeface="Times New Roman" pitchFamily="18" charset="0"/>
              </a:rPr>
              <a:t>，</a:t>
            </a:r>
            <a:r>
              <a:rPr lang="en-US" altLang="zh-CN" sz="2000" b="1" dirty="0">
                <a:latin typeface="Times New Roman" pitchFamily="18" charset="0"/>
                <a:ea typeface="黑体" pitchFamily="2" charset="-122"/>
                <a:cs typeface="Times New Roman" pitchFamily="18" charset="0"/>
              </a:rPr>
              <a:t>ADM)</a:t>
            </a:r>
            <a:endParaRPr lang="en-US" altLang="zh-CN" sz="2000" b="1" dirty="0"/>
          </a:p>
          <a:p>
            <a:pPr marL="457200" lvl="1" indent="0">
              <a:buNone/>
            </a:pPr>
            <a:r>
              <a:rPr lang="zh-CN" altLang="en-US" sz="2000" b="1" dirty="0"/>
              <a:t>“节点数字”表示活动代号，“字母”表示活动内容，“</a:t>
            </a:r>
            <a:r>
              <a:rPr lang="en-US" altLang="zh-CN" sz="2000" b="1" dirty="0"/>
              <a:t>=</a:t>
            </a:r>
            <a:r>
              <a:rPr lang="zh-CN" altLang="en-US" sz="2000" b="1" dirty="0"/>
              <a:t>数字”表示历时</a:t>
            </a:r>
            <a:r>
              <a:rPr lang="en-US" altLang="zh-CN" sz="2000" b="1" dirty="0"/>
              <a:t>(</a:t>
            </a:r>
            <a:r>
              <a:rPr lang="zh-CN" altLang="en-US" sz="2000" b="1" dirty="0"/>
              <a:t>天）</a:t>
            </a:r>
            <a:r>
              <a:rPr lang="zh-CN" altLang="en-US" sz="2400" b="1" dirty="0"/>
              <a:t>。</a:t>
            </a:r>
            <a:endParaRPr lang="en-US" altLang="zh-CN" sz="2400" b="1" dirty="0"/>
          </a:p>
          <a:p>
            <a:pPr marL="785813" lvl="3" indent="0" algn="just" defTabSz="449263">
              <a:lnSpc>
                <a:spcPts val="2800"/>
              </a:lnSpc>
              <a:buFont typeface="Wingdings" pitchFamily="2" charset="2"/>
              <a:buChar char="Ø"/>
            </a:pPr>
            <a:r>
              <a:rPr lang="zh-CN" altLang="en-US" dirty="0">
                <a:cs typeface="Times New Roman" pitchFamily="18" charset="0"/>
              </a:rPr>
              <a:t> 基本原则</a:t>
            </a:r>
          </a:p>
          <a:p>
            <a:pPr marL="1185863" lvl="4" indent="0" algn="just" defTabSz="449263">
              <a:lnSpc>
                <a:spcPts val="2800"/>
              </a:lnSpc>
              <a:buNone/>
            </a:pPr>
            <a:r>
              <a:rPr lang="zh-CN" altLang="en-US" dirty="0">
                <a:cs typeface="Times New Roman" pitchFamily="18" charset="0"/>
              </a:rPr>
              <a:t>① 箭线图中每一事件必须有唯一的一个事件号，即箭线网络图中不能有相同的事件号。</a:t>
            </a:r>
            <a:endParaRPr lang="en-US" altLang="zh-CN" dirty="0">
              <a:cs typeface="Times New Roman" pitchFamily="18" charset="0"/>
            </a:endParaRPr>
          </a:p>
          <a:p>
            <a:pPr marL="1185863" lvl="4" indent="0" algn="just" defTabSz="449263">
              <a:lnSpc>
                <a:spcPts val="2800"/>
              </a:lnSpc>
              <a:buNone/>
            </a:pPr>
            <a:r>
              <a:rPr lang="zh-CN" altLang="en-US" dirty="0">
                <a:cs typeface="Times New Roman" pitchFamily="18" charset="0"/>
              </a:rPr>
              <a:t>② 任意两项活动的前置事件和后续事件至少有一个不相同。</a:t>
            </a:r>
            <a:endParaRPr lang="zh-CN" altLang="zh-CN" dirty="0">
              <a:cs typeface="Times New Roman" pitchFamily="18" charset="0"/>
            </a:endParaRPr>
          </a:p>
          <a:p>
            <a:pPr marL="457200" lvl="1" indent="0">
              <a:buNone/>
            </a:pPr>
            <a:endParaRPr lang="zh-CN" altLang="en-US" sz="2400" dirty="0"/>
          </a:p>
          <a:p>
            <a:pPr lvl="1"/>
            <a:endParaRPr lang="zh-CN" altLang="en-US" dirty="0"/>
          </a:p>
        </p:txBody>
      </p:sp>
      <p:sp>
        <p:nvSpPr>
          <p:cNvPr id="34" name="Oval 4">
            <a:extLst>
              <a:ext uri="{FF2B5EF4-FFF2-40B4-BE49-F238E27FC236}">
                <a16:creationId xmlns:a16="http://schemas.microsoft.com/office/drawing/2014/main" id="{A33F1354-0784-4A6B-8360-69DEAF599D6B}"/>
              </a:ext>
            </a:extLst>
          </p:cNvPr>
          <p:cNvSpPr>
            <a:spLocks noChangeArrowheads="1"/>
          </p:cNvSpPr>
          <p:nvPr/>
        </p:nvSpPr>
        <p:spPr bwMode="auto">
          <a:xfrm>
            <a:off x="3108358" y="4799525"/>
            <a:ext cx="1338931" cy="6477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5" name="Oval 5">
            <a:extLst>
              <a:ext uri="{FF2B5EF4-FFF2-40B4-BE49-F238E27FC236}">
                <a16:creationId xmlns:a16="http://schemas.microsoft.com/office/drawing/2014/main" id="{4FECABDA-E872-4D51-B816-E9C671A7DAE2}"/>
              </a:ext>
            </a:extLst>
          </p:cNvPr>
          <p:cNvSpPr>
            <a:spLocks noChangeArrowheads="1"/>
          </p:cNvSpPr>
          <p:nvPr/>
        </p:nvSpPr>
        <p:spPr bwMode="auto">
          <a:xfrm>
            <a:off x="4736215" y="4008950"/>
            <a:ext cx="1223962" cy="6477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6" name="Oval 6">
            <a:extLst>
              <a:ext uri="{FF2B5EF4-FFF2-40B4-BE49-F238E27FC236}">
                <a16:creationId xmlns:a16="http://schemas.microsoft.com/office/drawing/2014/main" id="{B4EB7820-15F2-43DF-BD7F-838873CF1DA1}"/>
              </a:ext>
            </a:extLst>
          </p:cNvPr>
          <p:cNvSpPr>
            <a:spLocks noChangeArrowheads="1"/>
          </p:cNvSpPr>
          <p:nvPr/>
        </p:nvSpPr>
        <p:spPr bwMode="auto">
          <a:xfrm>
            <a:off x="6536440" y="4008950"/>
            <a:ext cx="1223962" cy="6477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7" name="Oval 7">
            <a:extLst>
              <a:ext uri="{FF2B5EF4-FFF2-40B4-BE49-F238E27FC236}">
                <a16:creationId xmlns:a16="http://schemas.microsoft.com/office/drawing/2014/main" id="{1BC960E5-E65F-4B60-B1A6-73CF244E7564}"/>
              </a:ext>
            </a:extLst>
          </p:cNvPr>
          <p:cNvSpPr>
            <a:spLocks noChangeArrowheads="1"/>
          </p:cNvSpPr>
          <p:nvPr/>
        </p:nvSpPr>
        <p:spPr bwMode="auto">
          <a:xfrm>
            <a:off x="5601402" y="4799525"/>
            <a:ext cx="1223963" cy="6477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8" name="Oval 8">
            <a:extLst>
              <a:ext uri="{FF2B5EF4-FFF2-40B4-BE49-F238E27FC236}">
                <a16:creationId xmlns:a16="http://schemas.microsoft.com/office/drawing/2014/main" id="{BEC03978-17A9-4A31-8197-FCD5CF15551A}"/>
              </a:ext>
            </a:extLst>
          </p:cNvPr>
          <p:cNvSpPr>
            <a:spLocks noChangeArrowheads="1"/>
          </p:cNvSpPr>
          <p:nvPr/>
        </p:nvSpPr>
        <p:spPr bwMode="auto">
          <a:xfrm>
            <a:off x="6609465" y="5591688"/>
            <a:ext cx="1223962" cy="6477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9" name="Oval 9">
            <a:extLst>
              <a:ext uri="{FF2B5EF4-FFF2-40B4-BE49-F238E27FC236}">
                <a16:creationId xmlns:a16="http://schemas.microsoft.com/office/drawing/2014/main" id="{946136AF-3D12-4147-A8BF-0EEC5400D8A1}"/>
              </a:ext>
            </a:extLst>
          </p:cNvPr>
          <p:cNvSpPr>
            <a:spLocks noChangeArrowheads="1"/>
          </p:cNvSpPr>
          <p:nvPr/>
        </p:nvSpPr>
        <p:spPr bwMode="auto">
          <a:xfrm>
            <a:off x="4664777" y="5591688"/>
            <a:ext cx="1223963" cy="6477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40" name="Oval 10">
            <a:extLst>
              <a:ext uri="{FF2B5EF4-FFF2-40B4-BE49-F238E27FC236}">
                <a16:creationId xmlns:a16="http://schemas.microsoft.com/office/drawing/2014/main" id="{860BFBE8-C24C-4E60-9539-CC2C7A02C7DE}"/>
              </a:ext>
            </a:extLst>
          </p:cNvPr>
          <p:cNvSpPr>
            <a:spLocks noChangeArrowheads="1"/>
          </p:cNvSpPr>
          <p:nvPr/>
        </p:nvSpPr>
        <p:spPr bwMode="auto">
          <a:xfrm>
            <a:off x="8336665" y="4656650"/>
            <a:ext cx="1234475" cy="7921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41" name="Line 11">
            <a:extLst>
              <a:ext uri="{FF2B5EF4-FFF2-40B4-BE49-F238E27FC236}">
                <a16:creationId xmlns:a16="http://schemas.microsoft.com/office/drawing/2014/main" id="{4B62CA90-6923-4E2D-BA98-47D8C90DE4E9}"/>
              </a:ext>
            </a:extLst>
          </p:cNvPr>
          <p:cNvSpPr>
            <a:spLocks noChangeShapeType="1"/>
          </p:cNvSpPr>
          <p:nvPr/>
        </p:nvSpPr>
        <p:spPr bwMode="auto">
          <a:xfrm>
            <a:off x="4448877" y="5088450"/>
            <a:ext cx="11525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Line 12">
            <a:extLst>
              <a:ext uri="{FF2B5EF4-FFF2-40B4-BE49-F238E27FC236}">
                <a16:creationId xmlns:a16="http://schemas.microsoft.com/office/drawing/2014/main" id="{A5D63DA8-0AF2-4FA1-866E-7C6884863FDB}"/>
              </a:ext>
            </a:extLst>
          </p:cNvPr>
          <p:cNvSpPr>
            <a:spLocks noChangeShapeType="1"/>
          </p:cNvSpPr>
          <p:nvPr/>
        </p:nvSpPr>
        <p:spPr bwMode="auto">
          <a:xfrm flipV="1">
            <a:off x="6844348" y="5127341"/>
            <a:ext cx="1490127" cy="33339"/>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Line 13">
            <a:extLst>
              <a:ext uri="{FF2B5EF4-FFF2-40B4-BE49-F238E27FC236}">
                <a16:creationId xmlns:a16="http://schemas.microsoft.com/office/drawing/2014/main" id="{E5B212A1-A352-42C0-8A60-E060218B000A}"/>
              </a:ext>
            </a:extLst>
          </p:cNvPr>
          <p:cNvSpPr>
            <a:spLocks noChangeShapeType="1"/>
          </p:cNvSpPr>
          <p:nvPr/>
        </p:nvSpPr>
        <p:spPr bwMode="auto">
          <a:xfrm flipV="1">
            <a:off x="4159952" y="4440750"/>
            <a:ext cx="649288"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Line 14">
            <a:extLst>
              <a:ext uri="{FF2B5EF4-FFF2-40B4-BE49-F238E27FC236}">
                <a16:creationId xmlns:a16="http://schemas.microsoft.com/office/drawing/2014/main" id="{386E7005-2280-41B7-89FB-968C5AF6DA6C}"/>
              </a:ext>
            </a:extLst>
          </p:cNvPr>
          <p:cNvSpPr>
            <a:spLocks noChangeShapeType="1"/>
          </p:cNvSpPr>
          <p:nvPr/>
        </p:nvSpPr>
        <p:spPr bwMode="auto">
          <a:xfrm>
            <a:off x="6033202" y="4367725"/>
            <a:ext cx="50323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Line 15">
            <a:extLst>
              <a:ext uri="{FF2B5EF4-FFF2-40B4-BE49-F238E27FC236}">
                <a16:creationId xmlns:a16="http://schemas.microsoft.com/office/drawing/2014/main" id="{9CAE31C4-927F-4E83-BE78-22E3ECE98E56}"/>
              </a:ext>
            </a:extLst>
          </p:cNvPr>
          <p:cNvSpPr>
            <a:spLocks noChangeShapeType="1"/>
          </p:cNvSpPr>
          <p:nvPr/>
        </p:nvSpPr>
        <p:spPr bwMode="auto">
          <a:xfrm>
            <a:off x="7833427" y="4440750"/>
            <a:ext cx="647700" cy="2873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Line 16">
            <a:extLst>
              <a:ext uri="{FF2B5EF4-FFF2-40B4-BE49-F238E27FC236}">
                <a16:creationId xmlns:a16="http://schemas.microsoft.com/office/drawing/2014/main" id="{593064CC-C23C-4EDE-8BC5-75D81971D35C}"/>
              </a:ext>
            </a:extLst>
          </p:cNvPr>
          <p:cNvSpPr>
            <a:spLocks noChangeShapeType="1"/>
          </p:cNvSpPr>
          <p:nvPr/>
        </p:nvSpPr>
        <p:spPr bwMode="auto">
          <a:xfrm>
            <a:off x="4159952" y="5448813"/>
            <a:ext cx="504825" cy="28733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Line 17">
            <a:extLst>
              <a:ext uri="{FF2B5EF4-FFF2-40B4-BE49-F238E27FC236}">
                <a16:creationId xmlns:a16="http://schemas.microsoft.com/office/drawing/2014/main" id="{0ADD9AA0-3327-43A5-839D-EC938D6A87C0}"/>
              </a:ext>
            </a:extLst>
          </p:cNvPr>
          <p:cNvSpPr>
            <a:spLocks noChangeShapeType="1"/>
          </p:cNvSpPr>
          <p:nvPr/>
        </p:nvSpPr>
        <p:spPr bwMode="auto">
          <a:xfrm>
            <a:off x="5960177" y="5952050"/>
            <a:ext cx="6492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Line 18">
            <a:extLst>
              <a:ext uri="{FF2B5EF4-FFF2-40B4-BE49-F238E27FC236}">
                <a16:creationId xmlns:a16="http://schemas.microsoft.com/office/drawing/2014/main" id="{BFA57C33-9933-45FB-82D4-21CDA280CC21}"/>
              </a:ext>
            </a:extLst>
          </p:cNvPr>
          <p:cNvSpPr>
            <a:spLocks noChangeShapeType="1"/>
          </p:cNvSpPr>
          <p:nvPr/>
        </p:nvSpPr>
        <p:spPr bwMode="auto">
          <a:xfrm flipV="1">
            <a:off x="7873044" y="5408330"/>
            <a:ext cx="761015" cy="44227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Text Box 19">
            <a:extLst>
              <a:ext uri="{FF2B5EF4-FFF2-40B4-BE49-F238E27FC236}">
                <a16:creationId xmlns:a16="http://schemas.microsoft.com/office/drawing/2014/main" id="{C8B429C3-FC93-4C12-A5FA-A91DD58607A3}"/>
              </a:ext>
            </a:extLst>
          </p:cNvPr>
          <p:cNvSpPr txBox="1">
            <a:spLocks noChangeArrowheads="1"/>
          </p:cNvSpPr>
          <p:nvPr/>
        </p:nvSpPr>
        <p:spPr bwMode="auto">
          <a:xfrm>
            <a:off x="3439227" y="4385188"/>
            <a:ext cx="115252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dirty="0">
                <a:latin typeface="Times New Roman" panose="02020603050405020304" pitchFamily="18" charset="0"/>
              </a:rPr>
              <a:t>活动</a:t>
            </a:r>
            <a:r>
              <a:rPr lang="en-US" altLang="zh-CN" sz="1800" dirty="0">
                <a:latin typeface="Times New Roman" panose="02020603050405020304" pitchFamily="18" charset="0"/>
              </a:rPr>
              <a:t>A=1</a:t>
            </a:r>
          </a:p>
        </p:txBody>
      </p:sp>
      <p:sp>
        <p:nvSpPr>
          <p:cNvPr id="50" name="Text Box 20">
            <a:extLst>
              <a:ext uri="{FF2B5EF4-FFF2-40B4-BE49-F238E27FC236}">
                <a16:creationId xmlns:a16="http://schemas.microsoft.com/office/drawing/2014/main" id="{C74F48B7-38D1-4194-A394-5D6281E9D968}"/>
              </a:ext>
            </a:extLst>
          </p:cNvPr>
          <p:cNvSpPr txBox="1">
            <a:spLocks noChangeArrowheads="1"/>
          </p:cNvSpPr>
          <p:nvPr/>
        </p:nvSpPr>
        <p:spPr bwMode="auto">
          <a:xfrm>
            <a:off x="5968969" y="3945129"/>
            <a:ext cx="863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dirty="0">
                <a:latin typeface="Times New Roman" panose="02020603050405020304" pitchFamily="18" charset="0"/>
              </a:rPr>
              <a:t>D=4</a:t>
            </a:r>
          </a:p>
        </p:txBody>
      </p:sp>
      <p:sp>
        <p:nvSpPr>
          <p:cNvPr id="51" name="Text Box 21">
            <a:extLst>
              <a:ext uri="{FF2B5EF4-FFF2-40B4-BE49-F238E27FC236}">
                <a16:creationId xmlns:a16="http://schemas.microsoft.com/office/drawing/2014/main" id="{29F7ED70-D320-438B-AE58-2C7902A323DF}"/>
              </a:ext>
            </a:extLst>
          </p:cNvPr>
          <p:cNvSpPr txBox="1">
            <a:spLocks noChangeArrowheads="1"/>
          </p:cNvSpPr>
          <p:nvPr/>
        </p:nvSpPr>
        <p:spPr bwMode="auto">
          <a:xfrm>
            <a:off x="4520315" y="4728088"/>
            <a:ext cx="863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dirty="0">
                <a:latin typeface="Times New Roman" panose="02020603050405020304" pitchFamily="18" charset="0"/>
              </a:rPr>
              <a:t>B=2</a:t>
            </a:r>
          </a:p>
        </p:txBody>
      </p:sp>
      <p:sp>
        <p:nvSpPr>
          <p:cNvPr id="52" name="Text Box 22">
            <a:extLst>
              <a:ext uri="{FF2B5EF4-FFF2-40B4-BE49-F238E27FC236}">
                <a16:creationId xmlns:a16="http://schemas.microsoft.com/office/drawing/2014/main" id="{16025333-3F10-4280-A99E-7DD6325D9F76}"/>
              </a:ext>
            </a:extLst>
          </p:cNvPr>
          <p:cNvSpPr txBox="1">
            <a:spLocks noChangeArrowheads="1"/>
          </p:cNvSpPr>
          <p:nvPr/>
        </p:nvSpPr>
        <p:spPr bwMode="auto">
          <a:xfrm>
            <a:off x="3691640" y="5664713"/>
            <a:ext cx="863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latin typeface="Times New Roman" panose="02020603050405020304" pitchFamily="18" charset="0"/>
              </a:rPr>
              <a:t>C=2</a:t>
            </a:r>
          </a:p>
        </p:txBody>
      </p:sp>
      <p:sp>
        <p:nvSpPr>
          <p:cNvPr id="53" name="Text Box 23">
            <a:extLst>
              <a:ext uri="{FF2B5EF4-FFF2-40B4-BE49-F238E27FC236}">
                <a16:creationId xmlns:a16="http://schemas.microsoft.com/office/drawing/2014/main" id="{BA8A3875-2ACA-4BF9-8DCD-E75C0326A65C}"/>
              </a:ext>
            </a:extLst>
          </p:cNvPr>
          <p:cNvSpPr txBox="1">
            <a:spLocks noChangeArrowheads="1"/>
          </p:cNvSpPr>
          <p:nvPr/>
        </p:nvSpPr>
        <p:spPr bwMode="auto">
          <a:xfrm>
            <a:off x="3631018" y="4967800"/>
            <a:ext cx="5762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dirty="0">
                <a:latin typeface="Times New Roman" panose="02020603050405020304" pitchFamily="18" charset="0"/>
              </a:rPr>
              <a:t>1</a:t>
            </a:r>
          </a:p>
        </p:txBody>
      </p:sp>
      <p:sp>
        <p:nvSpPr>
          <p:cNvPr id="54" name="Text Box 24">
            <a:extLst>
              <a:ext uri="{FF2B5EF4-FFF2-40B4-BE49-F238E27FC236}">
                <a16:creationId xmlns:a16="http://schemas.microsoft.com/office/drawing/2014/main" id="{8D9C7824-642C-4BD4-B5D2-117D7BDE681B}"/>
              </a:ext>
            </a:extLst>
          </p:cNvPr>
          <p:cNvSpPr txBox="1">
            <a:spLocks noChangeArrowheads="1"/>
          </p:cNvSpPr>
          <p:nvPr/>
        </p:nvSpPr>
        <p:spPr bwMode="auto">
          <a:xfrm>
            <a:off x="5025140" y="4151825"/>
            <a:ext cx="5762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latin typeface="Times New Roman" panose="02020603050405020304" pitchFamily="18" charset="0"/>
              </a:rPr>
              <a:t>2</a:t>
            </a:r>
          </a:p>
        </p:txBody>
      </p:sp>
      <p:sp>
        <p:nvSpPr>
          <p:cNvPr id="55" name="Text Box 25">
            <a:extLst>
              <a:ext uri="{FF2B5EF4-FFF2-40B4-BE49-F238E27FC236}">
                <a16:creationId xmlns:a16="http://schemas.microsoft.com/office/drawing/2014/main" id="{A1A1C739-B05C-43A9-8069-2077ABE849CE}"/>
              </a:ext>
            </a:extLst>
          </p:cNvPr>
          <p:cNvSpPr txBox="1">
            <a:spLocks noChangeArrowheads="1"/>
          </p:cNvSpPr>
          <p:nvPr/>
        </p:nvSpPr>
        <p:spPr bwMode="auto">
          <a:xfrm>
            <a:off x="5888740" y="4943988"/>
            <a:ext cx="5762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latin typeface="Times New Roman" panose="02020603050405020304" pitchFamily="18" charset="0"/>
              </a:rPr>
              <a:t>3</a:t>
            </a:r>
          </a:p>
        </p:txBody>
      </p:sp>
      <p:sp>
        <p:nvSpPr>
          <p:cNvPr id="56" name="Text Box 26">
            <a:extLst>
              <a:ext uri="{FF2B5EF4-FFF2-40B4-BE49-F238E27FC236}">
                <a16:creationId xmlns:a16="http://schemas.microsoft.com/office/drawing/2014/main" id="{93DB3BD5-323E-442B-8569-6365479637EF}"/>
              </a:ext>
            </a:extLst>
          </p:cNvPr>
          <p:cNvSpPr txBox="1">
            <a:spLocks noChangeArrowheads="1"/>
          </p:cNvSpPr>
          <p:nvPr/>
        </p:nvSpPr>
        <p:spPr bwMode="auto">
          <a:xfrm>
            <a:off x="4880677" y="5736150"/>
            <a:ext cx="5762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latin typeface="Times New Roman" panose="02020603050405020304" pitchFamily="18" charset="0"/>
              </a:rPr>
              <a:t>4</a:t>
            </a:r>
          </a:p>
        </p:txBody>
      </p:sp>
      <p:sp>
        <p:nvSpPr>
          <p:cNvPr id="57" name="Text Box 27">
            <a:extLst>
              <a:ext uri="{FF2B5EF4-FFF2-40B4-BE49-F238E27FC236}">
                <a16:creationId xmlns:a16="http://schemas.microsoft.com/office/drawing/2014/main" id="{A8FB4EF5-FDD4-4203-BF04-ACCDC42EEA76}"/>
              </a:ext>
            </a:extLst>
          </p:cNvPr>
          <p:cNvSpPr txBox="1">
            <a:spLocks noChangeArrowheads="1"/>
          </p:cNvSpPr>
          <p:nvPr/>
        </p:nvSpPr>
        <p:spPr bwMode="auto">
          <a:xfrm>
            <a:off x="6896802" y="4080388"/>
            <a:ext cx="5762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latin typeface="Times New Roman" panose="02020603050405020304" pitchFamily="18" charset="0"/>
              </a:rPr>
              <a:t>5</a:t>
            </a:r>
          </a:p>
        </p:txBody>
      </p:sp>
      <p:sp>
        <p:nvSpPr>
          <p:cNvPr id="58" name="Text Box 28">
            <a:extLst>
              <a:ext uri="{FF2B5EF4-FFF2-40B4-BE49-F238E27FC236}">
                <a16:creationId xmlns:a16="http://schemas.microsoft.com/office/drawing/2014/main" id="{A6241E2E-2BD8-4B85-82C7-AF5ABD57DBE8}"/>
              </a:ext>
            </a:extLst>
          </p:cNvPr>
          <p:cNvSpPr txBox="1">
            <a:spLocks noChangeArrowheads="1"/>
          </p:cNvSpPr>
          <p:nvPr/>
        </p:nvSpPr>
        <p:spPr bwMode="auto">
          <a:xfrm>
            <a:off x="6994805" y="5743977"/>
            <a:ext cx="5762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latin typeface="Times New Roman" panose="02020603050405020304" pitchFamily="18" charset="0"/>
              </a:rPr>
              <a:t>6</a:t>
            </a:r>
          </a:p>
        </p:txBody>
      </p:sp>
      <p:sp>
        <p:nvSpPr>
          <p:cNvPr id="59" name="Text Box 29">
            <a:extLst>
              <a:ext uri="{FF2B5EF4-FFF2-40B4-BE49-F238E27FC236}">
                <a16:creationId xmlns:a16="http://schemas.microsoft.com/office/drawing/2014/main" id="{340F9233-CF7C-48E9-B2DE-B0CDDD91902D}"/>
              </a:ext>
            </a:extLst>
          </p:cNvPr>
          <p:cNvSpPr txBox="1">
            <a:spLocks noChangeArrowheads="1"/>
          </p:cNvSpPr>
          <p:nvPr/>
        </p:nvSpPr>
        <p:spPr bwMode="auto">
          <a:xfrm>
            <a:off x="8834616" y="4872550"/>
            <a:ext cx="5762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latin typeface="Times New Roman" panose="02020603050405020304" pitchFamily="18" charset="0"/>
              </a:rPr>
              <a:t>7</a:t>
            </a:r>
          </a:p>
        </p:txBody>
      </p:sp>
      <p:sp>
        <p:nvSpPr>
          <p:cNvPr id="30" name="Text Box 21">
            <a:extLst>
              <a:ext uri="{FF2B5EF4-FFF2-40B4-BE49-F238E27FC236}">
                <a16:creationId xmlns:a16="http://schemas.microsoft.com/office/drawing/2014/main" id="{23AC6F9B-3763-4BA3-ABEC-4FE740A1B127}"/>
              </a:ext>
            </a:extLst>
          </p:cNvPr>
          <p:cNvSpPr txBox="1">
            <a:spLocks noChangeArrowheads="1"/>
          </p:cNvSpPr>
          <p:nvPr/>
        </p:nvSpPr>
        <p:spPr bwMode="auto">
          <a:xfrm>
            <a:off x="7194783" y="4807462"/>
            <a:ext cx="863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dirty="0">
                <a:latin typeface="Times New Roman" panose="02020603050405020304" pitchFamily="18" charset="0"/>
              </a:rPr>
              <a:t>F=4</a:t>
            </a:r>
          </a:p>
        </p:txBody>
      </p:sp>
      <p:sp>
        <p:nvSpPr>
          <p:cNvPr id="31" name="Line 17">
            <a:extLst>
              <a:ext uri="{FF2B5EF4-FFF2-40B4-BE49-F238E27FC236}">
                <a16:creationId xmlns:a16="http://schemas.microsoft.com/office/drawing/2014/main" id="{C4B72EF5-68A7-4252-A166-C236061D3A3A}"/>
              </a:ext>
            </a:extLst>
          </p:cNvPr>
          <p:cNvSpPr>
            <a:spLocks noChangeShapeType="1"/>
          </p:cNvSpPr>
          <p:nvPr/>
        </p:nvSpPr>
        <p:spPr bwMode="auto">
          <a:xfrm flipV="1">
            <a:off x="6356258" y="4512187"/>
            <a:ext cx="397669" cy="2873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Text Box 21">
            <a:extLst>
              <a:ext uri="{FF2B5EF4-FFF2-40B4-BE49-F238E27FC236}">
                <a16:creationId xmlns:a16="http://schemas.microsoft.com/office/drawing/2014/main" id="{52F2FDB1-5631-401B-AB78-5E71FB7DC77C}"/>
              </a:ext>
            </a:extLst>
          </p:cNvPr>
          <p:cNvSpPr txBox="1">
            <a:spLocks noChangeArrowheads="1"/>
          </p:cNvSpPr>
          <p:nvPr/>
        </p:nvSpPr>
        <p:spPr bwMode="auto">
          <a:xfrm>
            <a:off x="5918234" y="4465357"/>
            <a:ext cx="863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dirty="0">
                <a:latin typeface="Times New Roman" panose="02020603050405020304" pitchFamily="18" charset="0"/>
              </a:rPr>
              <a:t>E=5</a:t>
            </a:r>
          </a:p>
        </p:txBody>
      </p:sp>
      <p:sp>
        <p:nvSpPr>
          <p:cNvPr id="33" name="Text Box 21">
            <a:extLst>
              <a:ext uri="{FF2B5EF4-FFF2-40B4-BE49-F238E27FC236}">
                <a16:creationId xmlns:a16="http://schemas.microsoft.com/office/drawing/2014/main" id="{C359F677-D046-45D1-AF4D-205F179C63CA}"/>
              </a:ext>
            </a:extLst>
          </p:cNvPr>
          <p:cNvSpPr txBox="1">
            <a:spLocks noChangeArrowheads="1"/>
          </p:cNvSpPr>
          <p:nvPr/>
        </p:nvSpPr>
        <p:spPr bwMode="auto">
          <a:xfrm>
            <a:off x="8058383" y="4178020"/>
            <a:ext cx="863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dirty="0">
                <a:latin typeface="Times New Roman" panose="02020603050405020304" pitchFamily="18" charset="0"/>
              </a:rPr>
              <a:t>H=4</a:t>
            </a:r>
          </a:p>
        </p:txBody>
      </p:sp>
      <p:sp>
        <p:nvSpPr>
          <p:cNvPr id="60" name="Oval 10">
            <a:extLst>
              <a:ext uri="{FF2B5EF4-FFF2-40B4-BE49-F238E27FC236}">
                <a16:creationId xmlns:a16="http://schemas.microsoft.com/office/drawing/2014/main" id="{9E424518-B7D3-4ECF-AE29-5C214A5A194D}"/>
              </a:ext>
            </a:extLst>
          </p:cNvPr>
          <p:cNvSpPr>
            <a:spLocks noChangeArrowheads="1"/>
          </p:cNvSpPr>
          <p:nvPr/>
        </p:nvSpPr>
        <p:spPr bwMode="auto">
          <a:xfrm>
            <a:off x="10143169" y="4663556"/>
            <a:ext cx="1347516" cy="7921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1" name="Text Box 29">
            <a:extLst>
              <a:ext uri="{FF2B5EF4-FFF2-40B4-BE49-F238E27FC236}">
                <a16:creationId xmlns:a16="http://schemas.microsoft.com/office/drawing/2014/main" id="{F88BC328-3F96-4467-8EAE-1326B6EEEB75}"/>
              </a:ext>
            </a:extLst>
          </p:cNvPr>
          <p:cNvSpPr txBox="1">
            <a:spLocks noChangeArrowheads="1"/>
          </p:cNvSpPr>
          <p:nvPr/>
        </p:nvSpPr>
        <p:spPr bwMode="auto">
          <a:xfrm>
            <a:off x="10658681" y="4872550"/>
            <a:ext cx="5762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dirty="0">
                <a:latin typeface="Times New Roman" panose="02020603050405020304" pitchFamily="18" charset="0"/>
              </a:rPr>
              <a:t>8</a:t>
            </a:r>
          </a:p>
        </p:txBody>
      </p:sp>
      <p:sp>
        <p:nvSpPr>
          <p:cNvPr id="62" name="Line 14">
            <a:extLst>
              <a:ext uri="{FF2B5EF4-FFF2-40B4-BE49-F238E27FC236}">
                <a16:creationId xmlns:a16="http://schemas.microsoft.com/office/drawing/2014/main" id="{DF4A04D2-D7F8-4DDF-8268-129B46B3E354}"/>
              </a:ext>
            </a:extLst>
          </p:cNvPr>
          <p:cNvSpPr>
            <a:spLocks noChangeShapeType="1"/>
          </p:cNvSpPr>
          <p:nvPr/>
        </p:nvSpPr>
        <p:spPr bwMode="auto">
          <a:xfrm>
            <a:off x="9620948" y="5084662"/>
            <a:ext cx="50323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 name="Text Box 21">
            <a:extLst>
              <a:ext uri="{FF2B5EF4-FFF2-40B4-BE49-F238E27FC236}">
                <a16:creationId xmlns:a16="http://schemas.microsoft.com/office/drawing/2014/main" id="{66AFF476-2AF0-43E7-BFF0-1AAE0BC67C28}"/>
              </a:ext>
            </a:extLst>
          </p:cNvPr>
          <p:cNvSpPr txBox="1">
            <a:spLocks noChangeArrowheads="1"/>
          </p:cNvSpPr>
          <p:nvPr/>
        </p:nvSpPr>
        <p:spPr bwMode="auto">
          <a:xfrm>
            <a:off x="9608674" y="4717950"/>
            <a:ext cx="863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dirty="0">
                <a:latin typeface="Times New Roman" panose="02020603050405020304" pitchFamily="18" charset="0"/>
              </a:rPr>
              <a:t>J=3</a:t>
            </a:r>
          </a:p>
        </p:txBody>
      </p:sp>
      <p:sp>
        <p:nvSpPr>
          <p:cNvPr id="64" name="Text Box 21">
            <a:extLst>
              <a:ext uri="{FF2B5EF4-FFF2-40B4-BE49-F238E27FC236}">
                <a16:creationId xmlns:a16="http://schemas.microsoft.com/office/drawing/2014/main" id="{15B754D1-01D0-4108-99D3-7199A057CF71}"/>
              </a:ext>
            </a:extLst>
          </p:cNvPr>
          <p:cNvSpPr txBox="1">
            <a:spLocks noChangeArrowheads="1"/>
          </p:cNvSpPr>
          <p:nvPr/>
        </p:nvSpPr>
        <p:spPr bwMode="auto">
          <a:xfrm>
            <a:off x="8193790" y="5591688"/>
            <a:ext cx="863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dirty="0">
                <a:latin typeface="Times New Roman" panose="02020603050405020304" pitchFamily="18" charset="0"/>
              </a:rPr>
              <a:t>I=2</a:t>
            </a:r>
          </a:p>
        </p:txBody>
      </p:sp>
      <p:sp>
        <p:nvSpPr>
          <p:cNvPr id="65" name="Text Box 21">
            <a:extLst>
              <a:ext uri="{FF2B5EF4-FFF2-40B4-BE49-F238E27FC236}">
                <a16:creationId xmlns:a16="http://schemas.microsoft.com/office/drawing/2014/main" id="{36EF291D-9857-475E-A05C-92E740478B1E}"/>
              </a:ext>
            </a:extLst>
          </p:cNvPr>
          <p:cNvSpPr txBox="1">
            <a:spLocks noChangeArrowheads="1"/>
          </p:cNvSpPr>
          <p:nvPr/>
        </p:nvSpPr>
        <p:spPr bwMode="auto">
          <a:xfrm>
            <a:off x="6001085" y="5919507"/>
            <a:ext cx="863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dirty="0">
                <a:latin typeface="Times New Roman" panose="02020603050405020304" pitchFamily="18" charset="0"/>
              </a:rPr>
              <a:t>G=6</a:t>
            </a:r>
          </a:p>
        </p:txBody>
      </p:sp>
      <p:sp>
        <p:nvSpPr>
          <p:cNvPr id="66" name="AutoShape 10">
            <a:extLst>
              <a:ext uri="{FF2B5EF4-FFF2-40B4-BE49-F238E27FC236}">
                <a16:creationId xmlns:a16="http://schemas.microsoft.com/office/drawing/2014/main" id="{D68114A8-2588-453F-8EEA-BD8B3BCD2937}"/>
              </a:ext>
            </a:extLst>
          </p:cNvPr>
          <p:cNvSpPr>
            <a:spLocks noChangeArrowheads="1"/>
          </p:cNvSpPr>
          <p:nvPr/>
        </p:nvSpPr>
        <p:spPr bwMode="auto">
          <a:xfrm>
            <a:off x="533399" y="4967800"/>
            <a:ext cx="2437515" cy="975800"/>
          </a:xfrm>
          <a:prstGeom prst="wedgeRectCallout">
            <a:avLst>
              <a:gd name="adj1" fmla="val -18921"/>
              <a:gd name="adj2" fmla="val -16796"/>
            </a:avLst>
          </a:prstGeom>
          <a:gradFill rotWithShape="1">
            <a:gsLst>
              <a:gs pos="0">
                <a:srgbClr val="BBD4F3"/>
              </a:gs>
              <a:gs pos="50000">
                <a:srgbClr val="FFFFFF"/>
              </a:gs>
              <a:gs pos="100000">
                <a:srgbClr val="BBD4F3"/>
              </a:gs>
            </a:gsLst>
            <a:lin ang="540000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0"/>
              </a:spcBef>
              <a:buFontTx/>
              <a:buNone/>
            </a:pP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、双代号、</a:t>
            </a:r>
            <a:r>
              <a:rPr lang="en-US" altLang="zh-CN" sz="1600" dirty="0">
                <a:latin typeface="微软雅黑" panose="020B0503020204020204" pitchFamily="34" charset="-122"/>
                <a:ea typeface="微软雅黑" panose="020B0503020204020204" pitchFamily="34" charset="-122"/>
              </a:rPr>
              <a:t>AOA</a:t>
            </a:r>
          </a:p>
          <a:p>
            <a:pPr eaLnBrk="1" hangingPunct="1">
              <a:lnSpc>
                <a:spcPct val="100000"/>
              </a:lnSpc>
              <a:spcBef>
                <a:spcPct val="0"/>
              </a:spcBef>
              <a:buFontTx/>
              <a:buNone/>
            </a:pPr>
            <a:r>
              <a:rPr lang="en-US" altLang="zh-CN" sz="16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、只有</a:t>
            </a:r>
            <a:r>
              <a:rPr lang="en-US" altLang="zh-CN" sz="1600" dirty="0">
                <a:latin typeface="微软雅黑" panose="020B0503020204020204" pitchFamily="34" charset="-122"/>
                <a:ea typeface="微软雅黑" panose="020B0503020204020204" pitchFamily="34" charset="-122"/>
              </a:rPr>
              <a:t>F-S</a:t>
            </a:r>
            <a:r>
              <a:rPr lang="zh-CN" altLang="en-US" sz="1600" dirty="0">
                <a:latin typeface="微软雅黑" panose="020B0503020204020204" pitchFamily="34" charset="-122"/>
                <a:ea typeface="微软雅黑" panose="020B0503020204020204" pitchFamily="34" charset="-122"/>
              </a:rPr>
              <a:t>表达的清楚</a:t>
            </a:r>
          </a:p>
          <a:p>
            <a:pPr eaLnBrk="1" hangingPunct="1">
              <a:lnSpc>
                <a:spcPct val="100000"/>
              </a:lnSpc>
              <a:spcBef>
                <a:spcPct val="0"/>
              </a:spcBef>
              <a:buFontTx/>
              <a:buNone/>
            </a:pPr>
            <a:r>
              <a:rPr lang="en-US" altLang="zh-CN" sz="1600" dirty="0">
                <a:latin typeface="微软雅黑" panose="020B0503020204020204" pitchFamily="34" charset="-122"/>
                <a:ea typeface="微软雅黑" panose="020B0503020204020204" pitchFamily="34" charset="-122"/>
              </a:rPr>
              <a:t>3</a:t>
            </a:r>
            <a:r>
              <a:rPr lang="zh-CN" altLang="en-US" sz="1600" dirty="0">
                <a:latin typeface="微软雅黑" panose="020B0503020204020204" pitchFamily="34" charset="-122"/>
                <a:ea typeface="微软雅黑" panose="020B0503020204020204" pitchFamily="34" charset="-122"/>
              </a:rPr>
              <a:t>、有虚活动</a:t>
            </a:r>
          </a:p>
        </p:txBody>
      </p:sp>
    </p:spTree>
    <p:extLst>
      <p:ext uri="{BB962C8B-B14F-4D97-AF65-F5344CB8AC3E}">
        <p14:creationId xmlns:p14="http://schemas.microsoft.com/office/powerpoint/2010/main" val="387890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blinds(horizontal)">
                                      <p:cBhvr>
                                        <p:cTn id="7" dur="500"/>
                                        <p:tgtEl>
                                          <p:spTgt spid="6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grpId="1" nodeType="clickEffect">
                                  <p:stCondLst>
                                    <p:cond delay="0"/>
                                  </p:stCondLst>
                                  <p:childTnLst>
                                    <p:animEffect transition="out" filter="blinds(horizontal)">
                                      <p:cBhvr>
                                        <p:cTn id="11" dur="500"/>
                                        <p:tgtEl>
                                          <p:spTgt spid="66"/>
                                        </p:tgtEl>
                                      </p:cBhvr>
                                    </p:animEffect>
                                    <p:set>
                                      <p:cBhvr>
                                        <p:cTn id="12" dur="1" fill="hold">
                                          <p:stCondLst>
                                            <p:cond delay="499"/>
                                          </p:stCondLst>
                                        </p:cTn>
                                        <p:tgtEl>
                                          <p:spTgt spid="6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P spid="66" grpId="1"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91EC7E-062E-42B6-BB70-FDB6952E905C}"/>
              </a:ext>
            </a:extLst>
          </p:cNvPr>
          <p:cNvSpPr>
            <a:spLocks noGrp="1"/>
          </p:cNvSpPr>
          <p:nvPr>
            <p:ph type="title"/>
          </p:nvPr>
        </p:nvSpPr>
        <p:spPr/>
        <p:txBody>
          <a:bodyPr/>
          <a:lstStyle/>
          <a:p>
            <a:r>
              <a:rPr lang="en-US" altLang="zh-CN" dirty="0"/>
              <a:t>12.4 </a:t>
            </a:r>
            <a:r>
              <a:rPr lang="zh-CN" altLang="en-US" dirty="0"/>
              <a:t>排列活动顺序</a:t>
            </a:r>
          </a:p>
        </p:txBody>
      </p:sp>
      <p:pic>
        <p:nvPicPr>
          <p:cNvPr id="6" name="图片 5">
            <a:extLst>
              <a:ext uri="{FF2B5EF4-FFF2-40B4-BE49-F238E27FC236}">
                <a16:creationId xmlns:a16="http://schemas.microsoft.com/office/drawing/2014/main" id="{B9DF33D7-1AF0-4947-8C1D-A69540B8F8AE}"/>
              </a:ext>
            </a:extLst>
          </p:cNvPr>
          <p:cNvPicPr>
            <a:picLocks noChangeAspect="1"/>
          </p:cNvPicPr>
          <p:nvPr/>
        </p:nvPicPr>
        <p:blipFill rotWithShape="1">
          <a:blip r:embed="rId3"/>
          <a:srcRect l="15680" r="15360" b="7115"/>
          <a:stretch/>
        </p:blipFill>
        <p:spPr>
          <a:xfrm>
            <a:off x="3368842" y="1506461"/>
            <a:ext cx="7158790" cy="4794296"/>
          </a:xfrm>
          <a:prstGeom prst="rect">
            <a:avLst/>
          </a:prstGeom>
        </p:spPr>
      </p:pic>
      <p:sp>
        <p:nvSpPr>
          <p:cNvPr id="8" name="文本框 7">
            <a:extLst>
              <a:ext uri="{FF2B5EF4-FFF2-40B4-BE49-F238E27FC236}">
                <a16:creationId xmlns:a16="http://schemas.microsoft.com/office/drawing/2014/main" id="{E059F53A-98F1-4003-9C91-83D0C1103978}"/>
              </a:ext>
            </a:extLst>
          </p:cNvPr>
          <p:cNvSpPr txBox="1"/>
          <p:nvPr/>
        </p:nvSpPr>
        <p:spPr>
          <a:xfrm>
            <a:off x="677778" y="4546258"/>
            <a:ext cx="3088106" cy="461665"/>
          </a:xfrm>
          <a:prstGeom prst="rect">
            <a:avLst/>
          </a:prstGeom>
          <a:noFill/>
        </p:spPr>
        <p:txBody>
          <a:bodyPr wrap="square">
            <a:spAutoFit/>
          </a:bodyPr>
          <a:lstStyle/>
          <a:p>
            <a:r>
              <a:rPr lang="zh-CN" altLang="en-US" sz="2400" b="1" dirty="0">
                <a:latin typeface="微软雅黑" panose="020B0503020204020204" pitchFamily="34" charset="-122"/>
                <a:ea typeface="微软雅黑" panose="020B0503020204020204" pitchFamily="34" charset="-122"/>
              </a:rPr>
              <a:t>网络图中的节点表示</a:t>
            </a:r>
          </a:p>
        </p:txBody>
      </p:sp>
    </p:spTree>
    <p:extLst>
      <p:ext uri="{BB962C8B-B14F-4D97-AF65-F5344CB8AC3E}">
        <p14:creationId xmlns:p14="http://schemas.microsoft.com/office/powerpoint/2010/main" val="1407646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91EC7E-062E-42B6-BB70-FDB6952E905C}"/>
              </a:ext>
            </a:extLst>
          </p:cNvPr>
          <p:cNvSpPr>
            <a:spLocks noGrp="1"/>
          </p:cNvSpPr>
          <p:nvPr>
            <p:ph type="title"/>
          </p:nvPr>
        </p:nvSpPr>
        <p:spPr/>
        <p:txBody>
          <a:bodyPr/>
          <a:lstStyle/>
          <a:p>
            <a:r>
              <a:rPr lang="en-US" altLang="zh-CN" dirty="0"/>
              <a:t>12.5 </a:t>
            </a:r>
            <a:r>
              <a:rPr lang="zh-CN" altLang="en-US" dirty="0"/>
              <a:t>估算活动持续时间</a:t>
            </a:r>
          </a:p>
        </p:txBody>
      </p:sp>
      <p:sp>
        <p:nvSpPr>
          <p:cNvPr id="4" name="Rectangle 3">
            <a:extLst>
              <a:ext uri="{FF2B5EF4-FFF2-40B4-BE49-F238E27FC236}">
                <a16:creationId xmlns:a16="http://schemas.microsoft.com/office/drawing/2014/main" id="{ECCDC64D-58B4-444E-9CD1-C02393C8A320}"/>
              </a:ext>
            </a:extLst>
          </p:cNvPr>
          <p:cNvSpPr txBox="1">
            <a:spLocks noChangeArrowheads="1"/>
          </p:cNvSpPr>
          <p:nvPr/>
        </p:nvSpPr>
        <p:spPr>
          <a:xfrm>
            <a:off x="514571" y="1362120"/>
            <a:ext cx="11096828" cy="4768658"/>
          </a:xfrm>
          <a:prstGeom prst="rect">
            <a:avLst/>
          </a:prstGeom>
        </p:spPr>
        <p:txBody>
          <a:bodyPr>
            <a:normAutofit fontScale="92500"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600"/>
              </a:spcBef>
              <a:spcAft>
                <a:spcPts val="600"/>
              </a:spcAft>
              <a:buNone/>
              <a:defRPr/>
            </a:pPr>
            <a:r>
              <a:rPr lang="zh-CN" altLang="en-US" sz="2400" b="1" dirty="0"/>
              <a:t>项目活动工期估算</a:t>
            </a:r>
            <a:endParaRPr lang="en-US" altLang="zh-CN" sz="2400" b="1" dirty="0"/>
          </a:p>
          <a:p>
            <a:pPr marL="540000" indent="0">
              <a:lnSpc>
                <a:spcPct val="120000"/>
              </a:lnSpc>
              <a:spcBef>
                <a:spcPts val="600"/>
              </a:spcBef>
              <a:spcAft>
                <a:spcPts val="600"/>
              </a:spcAft>
              <a:buNone/>
              <a:defRPr/>
            </a:pPr>
            <a:r>
              <a:rPr lang="zh-CN" altLang="en-US" sz="2400" dirty="0"/>
              <a:t>是根据</a:t>
            </a:r>
            <a:r>
              <a:rPr lang="en-US" altLang="zh-CN" sz="2400" dirty="0"/>
              <a:t>WBS</a:t>
            </a:r>
            <a:r>
              <a:rPr lang="zh-CN" altLang="en-US" sz="2400" dirty="0"/>
              <a:t>中定义的项目活动和项目活动清单来估计完成这些项目活动所需的工期。</a:t>
            </a:r>
            <a:r>
              <a:rPr lang="zh-CN" altLang="en-US" sz="2200" dirty="0">
                <a:cs typeface="Times New Roman" pitchFamily="18" charset="0"/>
              </a:rPr>
              <a:t>活动时间估计是在确定了活动的排序关系后，预计完成各项活动所需时间长短，它直接关系到各项活动时间的估算和完成整个项目任务所需要的总时间。</a:t>
            </a:r>
            <a:endParaRPr lang="en-US" altLang="zh-CN" sz="2200" dirty="0">
              <a:cs typeface="Times New Roman" pitchFamily="18" charset="0"/>
            </a:endParaRPr>
          </a:p>
          <a:p>
            <a:pPr marL="1371600" lvl="2" indent="-457200">
              <a:spcBef>
                <a:spcPts val="600"/>
              </a:spcBef>
              <a:spcAft>
                <a:spcPts val="600"/>
              </a:spcAft>
              <a:buFontTx/>
              <a:buNone/>
              <a:defRPr/>
            </a:pPr>
            <a:r>
              <a:rPr lang="zh-CN" altLang="en-US" dirty="0"/>
              <a:t>影响实际的活动工期的主要因素：</a:t>
            </a:r>
          </a:p>
          <a:p>
            <a:pPr marL="1371600" lvl="2" indent="-457200">
              <a:spcBef>
                <a:spcPts val="600"/>
              </a:spcBef>
              <a:spcAft>
                <a:spcPts val="600"/>
              </a:spcAft>
              <a:buClr>
                <a:srgbClr val="003366"/>
              </a:buClr>
              <a:buFont typeface="Wingdings" pitchFamily="2" charset="2"/>
              <a:buChar char="Ø"/>
              <a:defRPr/>
            </a:pPr>
            <a:r>
              <a:rPr lang="zh-CN" altLang="en-US" sz="2000" dirty="0"/>
              <a:t>投入活动中的资源，资源获得的难易程度</a:t>
            </a:r>
          </a:p>
          <a:p>
            <a:pPr marL="1371600" lvl="2" indent="-457200">
              <a:spcBef>
                <a:spcPts val="600"/>
              </a:spcBef>
              <a:spcAft>
                <a:spcPts val="600"/>
              </a:spcAft>
              <a:buClr>
                <a:srgbClr val="003366"/>
              </a:buClr>
              <a:buFont typeface="Wingdings" pitchFamily="2" charset="2"/>
              <a:buChar char="Ø"/>
              <a:defRPr/>
            </a:pPr>
            <a:r>
              <a:rPr lang="zh-CN" altLang="en-US" sz="2000" dirty="0"/>
              <a:t>不同技能水平的资源的工作分配（资源能力）</a:t>
            </a:r>
          </a:p>
          <a:p>
            <a:pPr marL="1371600" lvl="2" indent="-457200">
              <a:spcBef>
                <a:spcPts val="600"/>
              </a:spcBef>
              <a:spcAft>
                <a:spcPts val="600"/>
              </a:spcAft>
              <a:buClr>
                <a:srgbClr val="003366"/>
              </a:buClr>
              <a:buFont typeface="Wingdings" pitchFamily="2" charset="2"/>
              <a:buChar char="Ø"/>
              <a:defRPr/>
            </a:pPr>
            <a:r>
              <a:rPr lang="zh-CN" altLang="en-US" sz="2000" dirty="0"/>
              <a:t>突发事件和其他识别出的风险</a:t>
            </a:r>
          </a:p>
          <a:p>
            <a:pPr marL="1371600" lvl="2" indent="-457200">
              <a:spcBef>
                <a:spcPts val="600"/>
              </a:spcBef>
              <a:spcAft>
                <a:spcPts val="600"/>
              </a:spcAft>
              <a:buClr>
                <a:srgbClr val="003366"/>
              </a:buClr>
              <a:buFont typeface="Wingdings" pitchFamily="2" charset="2"/>
              <a:buChar char="Ø"/>
              <a:defRPr/>
            </a:pPr>
            <a:r>
              <a:rPr lang="zh-CN" altLang="en-US" sz="2000" dirty="0"/>
              <a:t>工作实践的有效性（效率）</a:t>
            </a:r>
          </a:p>
          <a:p>
            <a:pPr marL="1371600" lvl="2" indent="-457200">
              <a:spcBef>
                <a:spcPts val="600"/>
              </a:spcBef>
              <a:spcAft>
                <a:spcPts val="600"/>
              </a:spcAft>
              <a:buClr>
                <a:srgbClr val="003366"/>
              </a:buClr>
              <a:buFont typeface="Wingdings" pitchFamily="2" charset="2"/>
              <a:buChar char="Ø"/>
              <a:defRPr/>
            </a:pPr>
            <a:r>
              <a:rPr lang="zh-CN" altLang="en-US" sz="2000" dirty="0"/>
              <a:t>错误的或者遗漏的工期估算</a:t>
            </a:r>
            <a:endParaRPr lang="en-US" altLang="zh-CN" sz="2000" dirty="0"/>
          </a:p>
          <a:p>
            <a:pPr marL="631825" lvl="1" indent="0">
              <a:spcBef>
                <a:spcPts val="600"/>
              </a:spcBef>
              <a:spcAft>
                <a:spcPts val="600"/>
              </a:spcAft>
              <a:buNone/>
              <a:defRPr/>
            </a:pPr>
            <a:r>
              <a:rPr lang="zh-CN" altLang="en-US" sz="2400" dirty="0"/>
              <a:t>一定要考虑间歇时间</a:t>
            </a:r>
            <a:endParaRPr lang="en-US" altLang="zh-CN" sz="2400" dirty="0"/>
          </a:p>
        </p:txBody>
      </p:sp>
    </p:spTree>
    <p:extLst>
      <p:ext uri="{BB962C8B-B14F-4D97-AF65-F5344CB8AC3E}">
        <p14:creationId xmlns:p14="http://schemas.microsoft.com/office/powerpoint/2010/main" val="1109768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CBDEE8-AC19-4152-9007-2E2AA98A6223}"/>
              </a:ext>
            </a:extLst>
          </p:cNvPr>
          <p:cNvSpPr>
            <a:spLocks noGrp="1"/>
          </p:cNvSpPr>
          <p:nvPr>
            <p:ph type="title"/>
          </p:nvPr>
        </p:nvSpPr>
        <p:spPr/>
        <p:txBody>
          <a:bodyPr/>
          <a:lstStyle/>
          <a:p>
            <a:r>
              <a:rPr lang="en-US" altLang="zh-CN" dirty="0"/>
              <a:t>12.5 </a:t>
            </a:r>
            <a:r>
              <a:rPr lang="zh-CN" altLang="en-US" dirty="0"/>
              <a:t>估算活动持续时间</a:t>
            </a:r>
          </a:p>
        </p:txBody>
      </p:sp>
      <p:sp>
        <p:nvSpPr>
          <p:cNvPr id="3" name="内容占位符 2">
            <a:extLst>
              <a:ext uri="{FF2B5EF4-FFF2-40B4-BE49-F238E27FC236}">
                <a16:creationId xmlns:a16="http://schemas.microsoft.com/office/drawing/2014/main" id="{FD351F2A-FB6E-47C1-8DE5-BDC857BD2969}"/>
              </a:ext>
            </a:extLst>
          </p:cNvPr>
          <p:cNvSpPr txBox="1">
            <a:spLocks noChangeArrowheads="1"/>
          </p:cNvSpPr>
          <p:nvPr/>
        </p:nvSpPr>
        <p:spPr bwMode="auto">
          <a:xfrm>
            <a:off x="637668" y="1453733"/>
            <a:ext cx="109728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0" marR="0" lvl="0" indent="0" algn="l" defTabSz="914400" rtl="0" eaLnBrk="1" fontAlgn="base" latinLnBrk="0" hangingPunct="1">
              <a:lnSpc>
                <a:spcPct val="100000"/>
              </a:lnSpc>
              <a:spcBef>
                <a:spcPct val="20000"/>
              </a:spcBef>
              <a:spcAft>
                <a:spcPct val="0"/>
              </a:spcAft>
              <a:buClrTx/>
              <a:buSzTx/>
              <a:buNone/>
              <a:tabLst/>
              <a:defRPr/>
            </a:pPr>
            <a:r>
              <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一个项目由三个活动组成。</a:t>
            </a:r>
            <a:r>
              <a:rPr kumimoji="0" lang="en-US" altLang="zh-CN"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A</a:t>
            </a:r>
            <a:r>
              <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活动历时</a:t>
            </a:r>
            <a:r>
              <a:rPr kumimoji="0" lang="en-US" altLang="zh-CN"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5</a:t>
            </a:r>
            <a:r>
              <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周，</a:t>
            </a:r>
            <a:r>
              <a:rPr kumimoji="0" lang="en-US" altLang="zh-CN"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B</a:t>
            </a:r>
            <a:r>
              <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活动历时</a:t>
            </a:r>
            <a:r>
              <a:rPr kumimoji="0" lang="en-US" altLang="zh-CN"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6</a:t>
            </a:r>
            <a:r>
              <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周，</a:t>
            </a:r>
            <a:r>
              <a:rPr kumimoji="0" lang="en-US" altLang="zh-CN"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C</a:t>
            </a:r>
            <a:r>
              <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活动历时</a:t>
            </a:r>
            <a:r>
              <a:rPr kumimoji="0" lang="en-US" altLang="zh-CN"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7</a:t>
            </a:r>
            <a:r>
              <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周。活动排序为</a:t>
            </a:r>
            <a:r>
              <a:rPr kumimoji="0" lang="en-US" altLang="zh-CN"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A-B-C</a:t>
            </a:r>
            <a:r>
              <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。但是，活动</a:t>
            </a:r>
            <a:r>
              <a:rPr kumimoji="0" lang="en-US" altLang="zh-CN"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B</a:t>
            </a:r>
            <a:r>
              <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a:t>
            </a:r>
            <a:r>
              <a:rPr kumimoji="0" lang="en-US" altLang="zh-CN"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A</a:t>
            </a:r>
            <a:r>
              <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结束后的资源分配要</a:t>
            </a:r>
            <a:r>
              <a:rPr kumimoji="0" lang="en-US" altLang="zh-CN"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1</a:t>
            </a:r>
            <a:r>
              <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周，</a:t>
            </a:r>
            <a:r>
              <a:rPr kumimoji="0" lang="en-US" altLang="zh-CN"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C</a:t>
            </a:r>
            <a:r>
              <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a:t>
            </a:r>
            <a:r>
              <a:rPr kumimoji="0" lang="en-US" altLang="zh-CN"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B</a:t>
            </a:r>
            <a:r>
              <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活动开始</a:t>
            </a:r>
            <a:r>
              <a:rPr kumimoji="0" lang="en-US" altLang="zh-CN"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1</a:t>
            </a:r>
            <a:r>
              <a:rPr kumimoji="0" lang="zh-CN" altLang="en-US" sz="2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周后开始。则该项目最短工期是多少？</a:t>
            </a:r>
          </a:p>
          <a:p>
            <a:pPr marL="457200" marR="0" lvl="1" indent="0" algn="l" defTabSz="914400" rtl="0" eaLnBrk="1" fontAlgn="base" latinLnBrk="0" hangingPunct="1">
              <a:lnSpc>
                <a:spcPct val="100000"/>
              </a:lnSpc>
              <a:spcBef>
                <a:spcPct val="20000"/>
              </a:spcBef>
              <a:spcAft>
                <a:spcPct val="0"/>
              </a:spcAft>
              <a:buClrTx/>
              <a:buSzTx/>
              <a:buNone/>
              <a:tabLst/>
              <a:defRPr/>
            </a:pPr>
            <a:r>
              <a:rPr kumimoji="0" lang="en-US" altLang="zh-CN" sz="2400" b="1" i="0" u="none" strike="noStrike" kern="0" cap="none" spc="0" normalizeH="0" baseline="0" noProof="0" dirty="0">
                <a:ln>
                  <a:noFill/>
                </a:ln>
                <a:solidFill>
                  <a:srgbClr val="000000"/>
                </a:solidFill>
                <a:effectLst/>
                <a:uLnTx/>
                <a:uFillTx/>
                <a:latin typeface="Arial"/>
                <a:ea typeface="宋体"/>
              </a:rPr>
              <a:t>A. 12</a:t>
            </a:r>
            <a:r>
              <a:rPr kumimoji="0" lang="zh-CN" altLang="en-US" sz="2400" b="1" i="0" u="none" strike="noStrike" kern="0" cap="none" spc="0" normalizeH="0" baseline="0" noProof="0" dirty="0">
                <a:ln>
                  <a:noFill/>
                </a:ln>
                <a:solidFill>
                  <a:srgbClr val="000000"/>
                </a:solidFill>
                <a:effectLst/>
                <a:uLnTx/>
                <a:uFillTx/>
                <a:latin typeface="Arial"/>
                <a:ea typeface="宋体"/>
              </a:rPr>
              <a:t>周</a:t>
            </a:r>
          </a:p>
          <a:p>
            <a:pPr marL="457200" marR="0" lvl="1" indent="0" algn="l" defTabSz="914400" rtl="0" eaLnBrk="1" fontAlgn="base" latinLnBrk="0" hangingPunct="1">
              <a:lnSpc>
                <a:spcPct val="100000"/>
              </a:lnSpc>
              <a:spcBef>
                <a:spcPct val="20000"/>
              </a:spcBef>
              <a:spcAft>
                <a:spcPct val="0"/>
              </a:spcAft>
              <a:buClrTx/>
              <a:buSzTx/>
              <a:buNone/>
              <a:tabLst/>
              <a:defRPr/>
            </a:pPr>
            <a:r>
              <a:rPr kumimoji="0" lang="en-US" altLang="zh-CN" sz="2400" b="1" i="0" u="none" strike="noStrike" kern="0" cap="none" spc="0" normalizeH="0" baseline="0" noProof="0" dirty="0">
                <a:ln>
                  <a:noFill/>
                </a:ln>
                <a:solidFill>
                  <a:srgbClr val="000000"/>
                </a:solidFill>
                <a:effectLst/>
                <a:uLnTx/>
                <a:uFillTx/>
                <a:latin typeface="Arial"/>
                <a:ea typeface="宋体"/>
              </a:rPr>
              <a:t>B. 13</a:t>
            </a:r>
            <a:r>
              <a:rPr kumimoji="0" lang="zh-CN" altLang="en-US" sz="2400" b="1" i="0" u="none" strike="noStrike" kern="0" cap="none" spc="0" normalizeH="0" baseline="0" noProof="0" dirty="0">
                <a:ln>
                  <a:noFill/>
                </a:ln>
                <a:solidFill>
                  <a:srgbClr val="000000"/>
                </a:solidFill>
                <a:effectLst/>
                <a:uLnTx/>
                <a:uFillTx/>
                <a:latin typeface="Arial"/>
                <a:ea typeface="宋体"/>
              </a:rPr>
              <a:t>周</a:t>
            </a:r>
          </a:p>
          <a:p>
            <a:pPr marL="457200" marR="0" lvl="1" indent="0" algn="l" defTabSz="914400" rtl="0" eaLnBrk="1" fontAlgn="base" latinLnBrk="0" hangingPunct="1">
              <a:lnSpc>
                <a:spcPct val="100000"/>
              </a:lnSpc>
              <a:spcBef>
                <a:spcPct val="20000"/>
              </a:spcBef>
              <a:spcAft>
                <a:spcPct val="0"/>
              </a:spcAft>
              <a:buClrTx/>
              <a:buSzTx/>
              <a:buNone/>
              <a:tabLst/>
              <a:defRPr/>
            </a:pPr>
            <a:r>
              <a:rPr kumimoji="0" lang="en-US" altLang="zh-CN" sz="2400" b="1" i="0" u="none" strike="noStrike" kern="0" cap="none" spc="0" normalizeH="0" baseline="0" noProof="0" dirty="0">
                <a:ln>
                  <a:noFill/>
                </a:ln>
                <a:solidFill>
                  <a:srgbClr val="000000"/>
                </a:solidFill>
                <a:effectLst/>
                <a:uLnTx/>
                <a:uFillTx/>
                <a:latin typeface="Arial"/>
                <a:ea typeface="宋体"/>
              </a:rPr>
              <a:t>C. 14</a:t>
            </a:r>
            <a:r>
              <a:rPr kumimoji="0" lang="zh-CN" altLang="en-US" sz="2400" b="1" i="0" u="none" strike="noStrike" kern="0" cap="none" spc="0" normalizeH="0" baseline="0" noProof="0" dirty="0">
                <a:ln>
                  <a:noFill/>
                </a:ln>
                <a:solidFill>
                  <a:srgbClr val="000000"/>
                </a:solidFill>
                <a:effectLst/>
                <a:uLnTx/>
                <a:uFillTx/>
                <a:latin typeface="Arial"/>
                <a:ea typeface="宋体"/>
              </a:rPr>
              <a:t>周</a:t>
            </a:r>
          </a:p>
          <a:p>
            <a:pPr marL="457200" marR="0" lvl="1" indent="0" algn="l" defTabSz="914400" rtl="0" eaLnBrk="1" fontAlgn="base" latinLnBrk="0" hangingPunct="1">
              <a:lnSpc>
                <a:spcPct val="100000"/>
              </a:lnSpc>
              <a:spcBef>
                <a:spcPct val="20000"/>
              </a:spcBef>
              <a:spcAft>
                <a:spcPct val="0"/>
              </a:spcAft>
              <a:buClrTx/>
              <a:buSzTx/>
              <a:buNone/>
              <a:tabLst/>
              <a:defRPr/>
            </a:pPr>
            <a:r>
              <a:rPr kumimoji="0" lang="en-US" altLang="zh-CN" sz="2400" b="1" i="0" u="none" strike="noStrike" kern="0" cap="none" spc="0" normalizeH="0" baseline="0" noProof="0" dirty="0">
                <a:ln>
                  <a:noFill/>
                </a:ln>
                <a:solidFill>
                  <a:srgbClr val="000000"/>
                </a:solidFill>
                <a:effectLst/>
                <a:uLnTx/>
                <a:uFillTx/>
                <a:latin typeface="Arial"/>
                <a:ea typeface="宋体"/>
              </a:rPr>
              <a:t>D. 16</a:t>
            </a:r>
            <a:r>
              <a:rPr kumimoji="0" lang="zh-CN" altLang="en-US" sz="2400" b="1" i="0" u="none" strike="noStrike" kern="0" cap="none" spc="0" normalizeH="0" baseline="0" noProof="0" dirty="0">
                <a:ln>
                  <a:noFill/>
                </a:ln>
                <a:solidFill>
                  <a:srgbClr val="000000"/>
                </a:solidFill>
                <a:effectLst/>
                <a:uLnTx/>
                <a:uFillTx/>
                <a:latin typeface="Arial"/>
                <a:ea typeface="宋体"/>
              </a:rPr>
              <a:t>周</a:t>
            </a:r>
          </a:p>
          <a:p>
            <a:pPr marL="342900" marR="0" lvl="0" indent="-342900" algn="l" defTabSz="914400" rtl="0" eaLnBrk="0" fontAlgn="base" latinLnBrk="0" hangingPunct="0">
              <a:lnSpc>
                <a:spcPct val="100000"/>
              </a:lnSpc>
              <a:spcBef>
                <a:spcPct val="20000"/>
              </a:spcBef>
              <a:spcAft>
                <a:spcPct val="0"/>
              </a:spcAft>
              <a:buClrTx/>
              <a:buSzTx/>
              <a:buFontTx/>
              <a:buChar char="•"/>
              <a:tabLst/>
              <a:defRPr/>
            </a:pPr>
            <a:endParaRPr kumimoji="0" lang="zh-CN" altLang="en-US" sz="2400" b="1" i="0" u="none" strike="noStrike" kern="0" cap="none" spc="0" normalizeH="0" baseline="0" noProof="0" dirty="0">
              <a:ln>
                <a:noFill/>
              </a:ln>
              <a:solidFill>
                <a:srgbClr val="000000"/>
              </a:solidFill>
              <a:effectLst/>
              <a:uLnTx/>
              <a:uFillTx/>
              <a:latin typeface="Arial"/>
              <a:ea typeface="宋体"/>
              <a:cs typeface="+mn-cs"/>
            </a:endParaRPr>
          </a:p>
        </p:txBody>
      </p:sp>
      <p:pic>
        <p:nvPicPr>
          <p:cNvPr id="4" name="图片 3">
            <a:extLst>
              <a:ext uri="{FF2B5EF4-FFF2-40B4-BE49-F238E27FC236}">
                <a16:creationId xmlns:a16="http://schemas.microsoft.com/office/drawing/2014/main" id="{C0E17AD6-593A-4F97-87D8-B324B5A752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66832" y="2818824"/>
            <a:ext cx="5427662" cy="341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33939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91EC7E-062E-42B6-BB70-FDB6952E905C}"/>
              </a:ext>
            </a:extLst>
          </p:cNvPr>
          <p:cNvSpPr>
            <a:spLocks noGrp="1"/>
          </p:cNvSpPr>
          <p:nvPr>
            <p:ph type="title"/>
          </p:nvPr>
        </p:nvSpPr>
        <p:spPr/>
        <p:txBody>
          <a:bodyPr/>
          <a:lstStyle/>
          <a:p>
            <a:r>
              <a:rPr lang="en-US" altLang="zh-CN" dirty="0"/>
              <a:t>12.5 </a:t>
            </a:r>
            <a:r>
              <a:rPr lang="zh-CN" altLang="en-US" dirty="0"/>
              <a:t>估算活动持续时间</a:t>
            </a:r>
          </a:p>
        </p:txBody>
      </p:sp>
      <p:pic>
        <p:nvPicPr>
          <p:cNvPr id="4" name="图片 1">
            <a:extLst>
              <a:ext uri="{FF2B5EF4-FFF2-40B4-BE49-F238E27FC236}">
                <a16:creationId xmlns:a16="http://schemas.microsoft.com/office/drawing/2014/main" id="{10CBD6BB-6DB8-4B9D-A1E3-5D7A3544A3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1804" y="1201479"/>
            <a:ext cx="9468000" cy="5280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52547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91EC7E-062E-42B6-BB70-FDB6952E905C}"/>
              </a:ext>
            </a:extLst>
          </p:cNvPr>
          <p:cNvSpPr>
            <a:spLocks noGrp="1"/>
          </p:cNvSpPr>
          <p:nvPr>
            <p:ph type="title"/>
          </p:nvPr>
        </p:nvSpPr>
        <p:spPr/>
        <p:txBody>
          <a:bodyPr/>
          <a:lstStyle/>
          <a:p>
            <a:r>
              <a:rPr lang="en-US" altLang="zh-CN" dirty="0"/>
              <a:t>12.5 </a:t>
            </a:r>
            <a:r>
              <a:rPr lang="zh-CN" altLang="en-US" dirty="0"/>
              <a:t>估算活动持续时间</a:t>
            </a:r>
          </a:p>
        </p:txBody>
      </p:sp>
      <p:sp>
        <p:nvSpPr>
          <p:cNvPr id="2" name="文本框 1">
            <a:extLst>
              <a:ext uri="{FF2B5EF4-FFF2-40B4-BE49-F238E27FC236}">
                <a16:creationId xmlns:a16="http://schemas.microsoft.com/office/drawing/2014/main" id="{D2086EE1-E822-4CBC-863D-62E889011C72}"/>
              </a:ext>
            </a:extLst>
          </p:cNvPr>
          <p:cNvSpPr txBox="1"/>
          <p:nvPr/>
        </p:nvSpPr>
        <p:spPr>
          <a:xfrm>
            <a:off x="605314" y="1201479"/>
            <a:ext cx="11183031" cy="5539978"/>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工期和人工量</a:t>
            </a:r>
            <a:endParaRPr lang="en-US" altLang="zh-CN" sz="2400" b="1" dirty="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工期 </a:t>
            </a:r>
            <a:r>
              <a:rPr lang="zh-CN" altLang="en-US" sz="2000" dirty="0">
                <a:latin typeface="微软雅黑" panose="020B0503020204020204" pitchFamily="34" charset="-122"/>
                <a:ea typeface="微软雅黑" panose="020B0503020204020204" pitchFamily="34" charset="-122"/>
              </a:rPr>
              <a:t>包括活动上花费的实际时间和占用时间。</a:t>
            </a:r>
            <a:endParaRPr lang="en-US" altLang="zh-CN" sz="2000" dirty="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人工量 </a:t>
            </a:r>
            <a:r>
              <a:rPr lang="zh-CN" altLang="en-US" sz="2000" dirty="0">
                <a:latin typeface="微软雅黑" panose="020B0503020204020204" pitchFamily="34" charset="-122"/>
                <a:ea typeface="微软雅黑" panose="020B0503020204020204" pitchFamily="34" charset="-122"/>
              </a:rPr>
              <a:t>是指完成任务所需要的工作天数或者工作小时数。</a:t>
            </a:r>
            <a:endParaRPr lang="en-US" altLang="zh-CN" sz="2000" dirty="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例如：你可能计划化</a:t>
            </a:r>
            <a:r>
              <a:rPr lang="en-US" altLang="zh-CN" sz="2000" dirty="0">
                <a:latin typeface="微软雅黑" panose="020B0503020204020204" pitchFamily="34" charset="-122"/>
                <a:ea typeface="微软雅黑" panose="020B0503020204020204" pitchFamily="34" charset="-122"/>
              </a:rPr>
              <a:t>20</a:t>
            </a:r>
            <a:r>
              <a:rPr lang="zh-CN" altLang="en-US" sz="2000" dirty="0">
                <a:latin typeface="微软雅黑" panose="020B0503020204020204" pitchFamily="34" charset="-122"/>
                <a:ea typeface="微软雅黑" panose="020B0503020204020204" pitchFamily="34" charset="-122"/>
              </a:rPr>
              <a:t>小时读一本书（人工量的估计值），但实际上花费的时间超过</a:t>
            </a:r>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个月（工期）。</a:t>
            </a:r>
            <a:endParaRPr lang="en-US" altLang="zh-CN" sz="2000" dirty="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a:p>
            <a:r>
              <a:rPr lang="zh-CN" altLang="en-US" sz="2400" b="1" dirty="0">
                <a:latin typeface="微软雅黑" panose="020B0503020204020204" pitchFamily="34" charset="-122"/>
                <a:ea typeface="微软雅黑" panose="020B0503020204020204" pitchFamily="34" charset="-122"/>
              </a:rPr>
              <a:t>估算活动持续时间：工具与技术</a:t>
            </a:r>
            <a:endParaRPr lang="en-US" altLang="zh-CN" sz="2400" b="1"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专家判断法</a:t>
            </a:r>
            <a:endParaRPr lang="en-US" altLang="zh-CN" sz="24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类比估算：</a:t>
            </a:r>
            <a:endParaRPr lang="en-US" altLang="zh-CN" sz="2400" dirty="0">
              <a:latin typeface="微软雅黑" panose="020B0503020204020204" pitchFamily="34" charset="-122"/>
              <a:ea typeface="微软雅黑" panose="020B0503020204020204" pitchFamily="34" charset="-122"/>
            </a:endParaRPr>
          </a:p>
          <a:p>
            <a:r>
              <a:rPr lang="en-US" altLang="zh-CN" sz="24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类比估算法使用以前某个实际项目中完成的类似活动所需的时间来估计当前活动的时间。</a:t>
            </a:r>
            <a:endParaRPr lang="en-US" altLang="zh-CN" sz="20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参数估算：</a:t>
            </a:r>
            <a:endParaRPr lang="en-US" altLang="zh-CN" sz="2400" dirty="0">
              <a:latin typeface="微软雅黑" panose="020B0503020204020204" pitchFamily="34" charset="-122"/>
              <a:ea typeface="微软雅黑" panose="020B0503020204020204" pitchFamily="34" charset="-122"/>
            </a:endParaRPr>
          </a:p>
          <a:p>
            <a:r>
              <a:rPr lang="en-US" altLang="zh-CN" sz="24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是一种基于历史数据和项目参数，使用某种算法来计算成本或持续时间的估算技术。</a:t>
            </a:r>
          </a:p>
          <a:p>
            <a:r>
              <a:rPr lang="zh-CN" altLang="en-US" sz="2000" dirty="0">
                <a:latin typeface="微软雅黑" panose="020B0503020204020204" pitchFamily="34" charset="-122"/>
                <a:ea typeface="微软雅黑" panose="020B0503020204020204" pitchFamily="34" charset="-122"/>
              </a:rPr>
              <a:t>它是指利用历史数据之间的统计关系和其他变量（如建筑施工中的平方米），来估算诸如成本、</a:t>
            </a:r>
          </a:p>
          <a:p>
            <a:r>
              <a:rPr lang="zh-CN" altLang="en-US" sz="2000" dirty="0">
                <a:latin typeface="微软雅黑" panose="020B0503020204020204" pitchFamily="34" charset="-122"/>
                <a:ea typeface="微软雅黑" panose="020B0503020204020204" pitchFamily="34" charset="-122"/>
              </a:rPr>
              <a:t>预算和持续时间等活动参数</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p>
          <a:p>
            <a:endParaRPr lang="zh-CN" altLang="en-US" dirty="0"/>
          </a:p>
        </p:txBody>
      </p:sp>
    </p:spTree>
    <p:extLst>
      <p:ext uri="{BB962C8B-B14F-4D97-AF65-F5344CB8AC3E}">
        <p14:creationId xmlns:p14="http://schemas.microsoft.com/office/powerpoint/2010/main" val="3658784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91EC7E-062E-42B6-BB70-FDB6952E905C}"/>
              </a:ext>
            </a:extLst>
          </p:cNvPr>
          <p:cNvSpPr>
            <a:spLocks noGrp="1"/>
          </p:cNvSpPr>
          <p:nvPr>
            <p:ph type="title"/>
          </p:nvPr>
        </p:nvSpPr>
        <p:spPr/>
        <p:txBody>
          <a:bodyPr/>
          <a:lstStyle/>
          <a:p>
            <a:r>
              <a:rPr lang="en-US" altLang="zh-CN" dirty="0"/>
              <a:t>12.5 </a:t>
            </a:r>
            <a:r>
              <a:rPr lang="zh-CN" altLang="en-US" dirty="0"/>
              <a:t>估算活动持续时间</a:t>
            </a:r>
          </a:p>
        </p:txBody>
      </p:sp>
      <p:sp>
        <p:nvSpPr>
          <p:cNvPr id="2" name="文本框 1">
            <a:extLst>
              <a:ext uri="{FF2B5EF4-FFF2-40B4-BE49-F238E27FC236}">
                <a16:creationId xmlns:a16="http://schemas.microsoft.com/office/drawing/2014/main" id="{D2086EE1-E822-4CBC-863D-62E889011C72}"/>
              </a:ext>
            </a:extLst>
          </p:cNvPr>
          <p:cNvSpPr txBox="1"/>
          <p:nvPr/>
        </p:nvSpPr>
        <p:spPr>
          <a:xfrm>
            <a:off x="543530" y="1250907"/>
            <a:ext cx="11043156" cy="5262979"/>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估算活动持续时间：工具与技术</a:t>
            </a:r>
            <a:endParaRPr lang="en-US" altLang="zh-CN" sz="2400" b="1"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l"/>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三点估算：</a:t>
            </a:r>
            <a:r>
              <a:rPr lang="zh-CN" altLang="en-US" sz="2000" dirty="0">
                <a:latin typeface="微软雅黑" panose="020B0503020204020204" pitchFamily="34" charset="-122"/>
                <a:ea typeface="微软雅黑" panose="020B0503020204020204" pitchFamily="34" charset="-122"/>
              </a:rPr>
              <a:t>通过考虑估算中的不确定性和风险，可以提高持续时间估算的准确性。使用三点估算有助于界定活动持续时间的近似区间。</a:t>
            </a:r>
            <a:endParaRPr lang="en-US" altLang="zh-CN" sz="2000" dirty="0">
              <a:latin typeface="微软雅黑" panose="020B0503020204020204" pitchFamily="34" charset="-122"/>
              <a:ea typeface="微软雅黑" panose="020B0503020204020204" pitchFamily="34" charset="-122"/>
            </a:endParaRPr>
          </a:p>
          <a:p>
            <a:pPr algn="just">
              <a:spcAft>
                <a:spcPts val="1200"/>
              </a:spcAft>
            </a:pPr>
            <a:r>
              <a:rPr lang="zh-CN" altLang="en-US" sz="2000" b="1" dirty="0">
                <a:latin typeface="微软雅黑" panose="020B0503020204020204" pitchFamily="34" charset="-122"/>
                <a:ea typeface="微软雅黑" panose="020B0503020204020204" pitchFamily="34" charset="-122"/>
              </a:rPr>
              <a:t>最可能时间 </a:t>
            </a:r>
            <a:r>
              <a:rPr lang="en-US" altLang="zh-CN" sz="2000" b="1" i="1" dirty="0">
                <a:latin typeface="微软雅黑" panose="020B0503020204020204" pitchFamily="34" charset="-122"/>
                <a:ea typeface="微软雅黑" panose="020B0503020204020204" pitchFamily="34" charset="-122"/>
              </a:rPr>
              <a:t>(</a:t>
            </a:r>
            <a:r>
              <a:rPr lang="en-US" altLang="zh-CN" sz="2000" b="1" i="1" dirty="0" err="1">
                <a:latin typeface="微软雅黑" panose="020B0503020204020204" pitchFamily="34" charset="-122"/>
                <a:ea typeface="微软雅黑" panose="020B0503020204020204" pitchFamily="34" charset="-122"/>
              </a:rPr>
              <a:t>t</a:t>
            </a:r>
            <a:r>
              <a:rPr lang="en-US" altLang="zh-CN" sz="2000" i="1" baseline="-25000" dirty="0" err="1">
                <a:latin typeface="微软雅黑" panose="020B0503020204020204" pitchFamily="34" charset="-122"/>
                <a:ea typeface="微软雅黑" panose="020B0503020204020204" pitchFamily="34" charset="-122"/>
              </a:rPr>
              <a:t>M</a:t>
            </a:r>
            <a:r>
              <a:rPr lang="en-US" altLang="zh-CN" sz="2000" b="1" i="1" dirty="0">
                <a:latin typeface="微软雅黑" panose="020B0503020204020204" pitchFamily="34" charset="-122"/>
                <a:ea typeface="微软雅黑" panose="020B0503020204020204" pitchFamily="34" charset="-122"/>
              </a:rPr>
              <a:t>)</a:t>
            </a:r>
            <a:r>
              <a:rPr lang="zh-CN" altLang="en-US" sz="2000" b="1" i="1"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基于最可能获得的资源、最可能取得的资源生产率、对资源可用时间的现实</a:t>
            </a:r>
          </a:p>
          <a:p>
            <a:pPr algn="just">
              <a:spcAft>
                <a:spcPts val="1200"/>
              </a:spcAft>
            </a:pPr>
            <a:r>
              <a:rPr lang="zh-CN" altLang="en-US" sz="2000" dirty="0">
                <a:latin typeface="微软雅黑" panose="020B0503020204020204" pitchFamily="34" charset="-122"/>
                <a:ea typeface="微软雅黑" panose="020B0503020204020204" pitchFamily="34" charset="-122"/>
              </a:rPr>
              <a:t>预计、资源对其他参与者的可能依赖关系及可能发生的各种干扰等，所估算的活动持续时间。</a:t>
            </a:r>
          </a:p>
          <a:p>
            <a:pPr algn="just">
              <a:spcAft>
                <a:spcPts val="1200"/>
              </a:spcAft>
            </a:pPr>
            <a:r>
              <a:rPr lang="zh-CN" altLang="en-US" sz="2000" b="1" dirty="0">
                <a:latin typeface="微软雅黑" panose="020B0503020204020204" pitchFamily="34" charset="-122"/>
                <a:ea typeface="微软雅黑" panose="020B0503020204020204" pitchFamily="34" charset="-122"/>
              </a:rPr>
              <a:t>最乐观时间 </a:t>
            </a:r>
            <a:r>
              <a:rPr lang="en-US" altLang="zh-CN" sz="2000" b="1" i="1" dirty="0">
                <a:latin typeface="微软雅黑" panose="020B0503020204020204" pitchFamily="34" charset="-122"/>
                <a:ea typeface="微软雅黑" panose="020B0503020204020204" pitchFamily="34" charset="-122"/>
              </a:rPr>
              <a:t>(</a:t>
            </a:r>
            <a:r>
              <a:rPr lang="en-US" altLang="zh-CN" sz="2000" b="1" i="1" dirty="0" err="1">
                <a:latin typeface="微软雅黑" panose="020B0503020204020204" pitchFamily="34" charset="-122"/>
                <a:ea typeface="微软雅黑" panose="020B0503020204020204" pitchFamily="34" charset="-122"/>
              </a:rPr>
              <a:t>t</a:t>
            </a:r>
            <a:r>
              <a:rPr lang="en-US" altLang="zh-CN" sz="2000" i="1" baseline="-25000" dirty="0" err="1">
                <a:latin typeface="微软雅黑" panose="020B0503020204020204" pitchFamily="34" charset="-122"/>
                <a:ea typeface="微软雅黑" panose="020B0503020204020204" pitchFamily="34" charset="-122"/>
              </a:rPr>
              <a:t>O</a:t>
            </a:r>
            <a:r>
              <a:rPr lang="en-US" altLang="zh-CN" sz="2000" b="1" i="1" dirty="0">
                <a:latin typeface="微软雅黑" panose="020B0503020204020204" pitchFamily="34" charset="-122"/>
                <a:ea typeface="微软雅黑" panose="020B0503020204020204" pitchFamily="34" charset="-122"/>
              </a:rPr>
              <a:t>)</a:t>
            </a:r>
            <a:r>
              <a:rPr lang="zh-CN" altLang="en-US" sz="2000" b="1" i="1"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基于活动的最好情况所估算的活动持续时间。</a:t>
            </a:r>
          </a:p>
          <a:p>
            <a:pPr algn="just">
              <a:spcAft>
                <a:spcPts val="1200"/>
              </a:spcAft>
            </a:pPr>
            <a:r>
              <a:rPr lang="zh-CN" altLang="en-US" sz="2000" b="1" dirty="0">
                <a:latin typeface="微软雅黑" panose="020B0503020204020204" pitchFamily="34" charset="-122"/>
                <a:ea typeface="微软雅黑" panose="020B0503020204020204" pitchFamily="34" charset="-122"/>
              </a:rPr>
              <a:t>最悲观时间 </a:t>
            </a:r>
            <a:r>
              <a:rPr lang="en-US" altLang="zh-CN" sz="2000" b="1" i="1" dirty="0">
                <a:latin typeface="微软雅黑" panose="020B0503020204020204" pitchFamily="34" charset="-122"/>
                <a:ea typeface="微软雅黑" panose="020B0503020204020204" pitchFamily="34" charset="-122"/>
              </a:rPr>
              <a:t>(</a:t>
            </a:r>
            <a:r>
              <a:rPr lang="en-US" altLang="zh-CN" sz="2000" b="1" i="1" dirty="0" err="1">
                <a:latin typeface="微软雅黑" panose="020B0503020204020204" pitchFamily="34" charset="-122"/>
                <a:ea typeface="微软雅黑" panose="020B0503020204020204" pitchFamily="34" charset="-122"/>
              </a:rPr>
              <a:t>t</a:t>
            </a:r>
            <a:r>
              <a:rPr lang="en-US" altLang="zh-CN" sz="2000" i="1" baseline="-25000" dirty="0" err="1">
                <a:latin typeface="微软雅黑" panose="020B0503020204020204" pitchFamily="34" charset="-122"/>
                <a:ea typeface="微软雅黑" panose="020B0503020204020204" pitchFamily="34" charset="-122"/>
              </a:rPr>
              <a:t>P</a:t>
            </a:r>
            <a:r>
              <a:rPr lang="en-US" altLang="zh-CN" sz="2000" b="1" i="1" dirty="0">
                <a:latin typeface="微软雅黑" panose="020B0503020204020204" pitchFamily="34" charset="-122"/>
                <a:ea typeface="微软雅黑" panose="020B0503020204020204" pitchFamily="34" charset="-122"/>
              </a:rPr>
              <a:t>)</a:t>
            </a:r>
            <a:r>
              <a:rPr lang="zh-CN" altLang="en-US" sz="2000" b="1" i="1"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基于活动的最差情况所估算的持续时间。</a:t>
            </a:r>
          </a:p>
          <a:p>
            <a:pPr algn="just">
              <a:spcAft>
                <a:spcPts val="1200"/>
              </a:spcAft>
            </a:pPr>
            <a:r>
              <a:rPr lang="zh-CN" altLang="en-US" sz="2000" dirty="0">
                <a:latin typeface="微软雅黑" panose="020B0503020204020204" pitchFamily="34" charset="-122"/>
                <a:ea typeface="微软雅黑" panose="020B0503020204020204" pitchFamily="34" charset="-122"/>
              </a:rPr>
              <a:t>基于持续时间在三种估算值区间内的假定分布情况，可计算期望持续时间 </a:t>
            </a:r>
            <a:r>
              <a:rPr lang="en-US" altLang="zh-CN" sz="2000" i="1" dirty="0" err="1">
                <a:latin typeface="微软雅黑" panose="020B0503020204020204" pitchFamily="34" charset="-122"/>
                <a:ea typeface="微软雅黑" panose="020B0503020204020204" pitchFamily="34" charset="-122"/>
              </a:rPr>
              <a:t>t</a:t>
            </a:r>
            <a:r>
              <a:rPr lang="en-US" altLang="zh-CN" sz="2000" i="1" baseline="-25000" dirty="0" err="1">
                <a:latin typeface="微软雅黑" panose="020B0503020204020204" pitchFamily="34" charset="-122"/>
                <a:ea typeface="微软雅黑" panose="020B0503020204020204" pitchFamily="34" charset="-122"/>
              </a:rPr>
              <a:t>E</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gn="just">
              <a:spcAft>
                <a:spcPts val="1200"/>
              </a:spcAft>
            </a:pPr>
            <a:r>
              <a:rPr lang="zh-CN" altLang="en-US" sz="2000" dirty="0">
                <a:latin typeface="微软雅黑" panose="020B0503020204020204" pitchFamily="34" charset="-122"/>
                <a:ea typeface="微软雅黑" panose="020B0503020204020204" pitchFamily="34" charset="-122"/>
              </a:rPr>
              <a:t>常用三角分布： </a:t>
            </a:r>
            <a:r>
              <a:rPr lang="pl-PL" altLang="zh-CN" sz="2000" i="1" dirty="0">
                <a:latin typeface="微软雅黑" panose="020B0503020204020204" pitchFamily="34" charset="-122"/>
                <a:ea typeface="微软雅黑" panose="020B0503020204020204" pitchFamily="34" charset="-122"/>
              </a:rPr>
              <a:t>t</a:t>
            </a:r>
            <a:r>
              <a:rPr lang="pl-PL" altLang="zh-CN" sz="2000" i="1" baseline="-25000" dirty="0">
                <a:latin typeface="微软雅黑" panose="020B0503020204020204" pitchFamily="34" charset="-122"/>
                <a:ea typeface="微软雅黑" panose="020B0503020204020204" pitchFamily="34" charset="-122"/>
              </a:rPr>
              <a:t>E</a:t>
            </a:r>
            <a:r>
              <a:rPr lang="pl-PL" altLang="zh-CN" sz="2000" i="1" dirty="0">
                <a:latin typeface="微软雅黑" panose="020B0503020204020204" pitchFamily="34" charset="-122"/>
                <a:ea typeface="微软雅黑" panose="020B0503020204020204" pitchFamily="34" charset="-122"/>
              </a:rPr>
              <a:t> </a:t>
            </a:r>
            <a:r>
              <a:rPr lang="pl-PL" altLang="zh-CN" sz="2000" dirty="0">
                <a:latin typeface="微软雅黑" panose="020B0503020204020204" pitchFamily="34" charset="-122"/>
                <a:ea typeface="微软雅黑" panose="020B0503020204020204" pitchFamily="34" charset="-122"/>
              </a:rPr>
              <a:t>= (</a:t>
            </a:r>
            <a:r>
              <a:rPr lang="pl-PL" altLang="zh-CN" sz="2000" i="1" dirty="0">
                <a:latin typeface="微软雅黑" panose="020B0503020204020204" pitchFamily="34" charset="-122"/>
                <a:ea typeface="微软雅黑" panose="020B0503020204020204" pitchFamily="34" charset="-122"/>
              </a:rPr>
              <a:t>t</a:t>
            </a:r>
            <a:r>
              <a:rPr lang="pl-PL" altLang="zh-CN" sz="2000" i="1" baseline="-25000" dirty="0">
                <a:latin typeface="微软雅黑" panose="020B0503020204020204" pitchFamily="34" charset="-122"/>
                <a:ea typeface="微软雅黑" panose="020B0503020204020204" pitchFamily="34" charset="-122"/>
              </a:rPr>
              <a:t>O</a:t>
            </a:r>
            <a:r>
              <a:rPr lang="pl-PL" altLang="zh-CN" sz="2000" i="1" dirty="0">
                <a:latin typeface="微软雅黑" panose="020B0503020204020204" pitchFamily="34" charset="-122"/>
                <a:ea typeface="微软雅黑" panose="020B0503020204020204" pitchFamily="34" charset="-122"/>
              </a:rPr>
              <a:t> </a:t>
            </a:r>
            <a:r>
              <a:rPr lang="pl-PL" altLang="zh-CN" sz="2000" dirty="0">
                <a:latin typeface="微软雅黑" panose="020B0503020204020204" pitchFamily="34" charset="-122"/>
                <a:ea typeface="微软雅黑" panose="020B0503020204020204" pitchFamily="34" charset="-122"/>
              </a:rPr>
              <a:t>+ </a:t>
            </a:r>
            <a:r>
              <a:rPr lang="pl-PL" altLang="zh-CN" sz="2000" i="1" dirty="0">
                <a:latin typeface="微软雅黑" panose="020B0503020204020204" pitchFamily="34" charset="-122"/>
                <a:ea typeface="微软雅黑" panose="020B0503020204020204" pitchFamily="34" charset="-122"/>
              </a:rPr>
              <a:t>t</a:t>
            </a:r>
            <a:r>
              <a:rPr lang="pl-PL" altLang="zh-CN" sz="2000" i="1" baseline="-25000" dirty="0">
                <a:latin typeface="微软雅黑" panose="020B0503020204020204" pitchFamily="34" charset="-122"/>
                <a:ea typeface="微软雅黑" panose="020B0503020204020204" pitchFamily="34" charset="-122"/>
              </a:rPr>
              <a:t>M</a:t>
            </a:r>
            <a:r>
              <a:rPr lang="pl-PL" altLang="zh-CN" sz="2000" i="1" dirty="0">
                <a:latin typeface="微软雅黑" panose="020B0503020204020204" pitchFamily="34" charset="-122"/>
                <a:ea typeface="微软雅黑" panose="020B0503020204020204" pitchFamily="34" charset="-122"/>
              </a:rPr>
              <a:t> </a:t>
            </a:r>
            <a:r>
              <a:rPr lang="pl-PL" altLang="zh-CN" sz="2000" dirty="0">
                <a:latin typeface="微软雅黑" panose="020B0503020204020204" pitchFamily="34" charset="-122"/>
                <a:ea typeface="微软雅黑" panose="020B0503020204020204" pitchFamily="34" charset="-122"/>
              </a:rPr>
              <a:t>+ </a:t>
            </a:r>
            <a:r>
              <a:rPr lang="pl-PL" altLang="zh-CN" sz="2000" i="1" dirty="0">
                <a:latin typeface="微软雅黑" panose="020B0503020204020204" pitchFamily="34" charset="-122"/>
                <a:ea typeface="微软雅黑" panose="020B0503020204020204" pitchFamily="34" charset="-122"/>
              </a:rPr>
              <a:t>t</a:t>
            </a:r>
            <a:r>
              <a:rPr lang="pl-PL" altLang="zh-CN" sz="2000" i="1" baseline="-25000" dirty="0">
                <a:latin typeface="微软雅黑" panose="020B0503020204020204" pitchFamily="34" charset="-122"/>
                <a:ea typeface="微软雅黑" panose="020B0503020204020204" pitchFamily="34" charset="-122"/>
              </a:rPr>
              <a:t>P</a:t>
            </a:r>
            <a:r>
              <a:rPr lang="pl-PL" altLang="zh-CN" sz="2000" dirty="0">
                <a:latin typeface="微软雅黑" panose="020B0503020204020204" pitchFamily="34" charset="-122"/>
                <a:ea typeface="微软雅黑" panose="020B0503020204020204" pitchFamily="34" charset="-122"/>
              </a:rPr>
              <a:t>) / 3.</a:t>
            </a:r>
            <a:endParaRPr lang="en-US" altLang="zh-CN" sz="2000" dirty="0">
              <a:latin typeface="微软雅黑" panose="020B0503020204020204" pitchFamily="34" charset="-122"/>
              <a:ea typeface="微软雅黑" panose="020B0503020204020204" pitchFamily="34" charset="-122"/>
            </a:endParaRPr>
          </a:p>
          <a:p>
            <a:pPr algn="just">
              <a:spcAft>
                <a:spcPts val="1200"/>
              </a:spcAft>
            </a:pPr>
            <a:r>
              <a:rPr lang="zh-CN" altLang="en-US" sz="2000" dirty="0">
                <a:latin typeface="微软雅黑" panose="020B0503020204020204" pitchFamily="34" charset="-122"/>
                <a:ea typeface="微软雅黑" panose="020B0503020204020204" pitchFamily="34" charset="-122"/>
              </a:rPr>
              <a:t>或贝塔分布</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源自传统的</a:t>
            </a:r>
            <a:r>
              <a:rPr lang="pl-PL" altLang="zh-CN" sz="2000" dirty="0">
                <a:latin typeface="微软雅黑" panose="020B0503020204020204" pitchFamily="34" charset="-122"/>
                <a:ea typeface="微软雅黑" panose="020B0503020204020204" pitchFamily="34" charset="-122"/>
              </a:rPr>
              <a:t>PERT</a:t>
            </a:r>
            <a:r>
              <a:rPr lang="zh-CN" altLang="en-US" sz="2000" dirty="0">
                <a:latin typeface="微软雅黑" panose="020B0503020204020204" pitchFamily="34" charset="-122"/>
                <a:ea typeface="微软雅黑" panose="020B0503020204020204" pitchFamily="34" charset="-122"/>
              </a:rPr>
              <a:t>技术</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a:t>
            </a:r>
            <a:r>
              <a:rPr lang="pl-PL" altLang="zh-CN" sz="2000" dirty="0">
                <a:latin typeface="微软雅黑" panose="020B0503020204020204" pitchFamily="34" charset="-122"/>
                <a:ea typeface="微软雅黑" panose="020B0503020204020204" pitchFamily="34" charset="-122"/>
              </a:rPr>
              <a:t>t</a:t>
            </a:r>
            <a:r>
              <a:rPr lang="pl-PL" altLang="zh-CN" sz="2000" i="1" baseline="-25000" dirty="0">
                <a:latin typeface="微软雅黑" panose="020B0503020204020204" pitchFamily="34" charset="-122"/>
                <a:ea typeface="微软雅黑" panose="020B0503020204020204" pitchFamily="34" charset="-122"/>
              </a:rPr>
              <a:t>E</a:t>
            </a:r>
            <a:r>
              <a:rPr lang="pl-PL" altLang="zh-CN" sz="2000" dirty="0">
                <a:latin typeface="微软雅黑" panose="020B0503020204020204" pitchFamily="34" charset="-122"/>
                <a:ea typeface="微软雅黑" panose="020B0503020204020204" pitchFamily="34" charset="-122"/>
              </a:rPr>
              <a:t>=(t</a:t>
            </a:r>
            <a:r>
              <a:rPr lang="pl-PL" altLang="zh-CN" sz="2000" i="1" baseline="-25000" dirty="0">
                <a:latin typeface="微软雅黑" panose="020B0503020204020204" pitchFamily="34" charset="-122"/>
                <a:ea typeface="微软雅黑" panose="020B0503020204020204" pitchFamily="34" charset="-122"/>
              </a:rPr>
              <a:t>O</a:t>
            </a:r>
            <a:r>
              <a:rPr lang="pl-PL" altLang="zh-CN" sz="2000" dirty="0">
                <a:latin typeface="微软雅黑" panose="020B0503020204020204" pitchFamily="34" charset="-122"/>
                <a:ea typeface="微软雅黑" panose="020B0503020204020204" pitchFamily="34" charset="-122"/>
              </a:rPr>
              <a:t>+4t</a:t>
            </a:r>
            <a:r>
              <a:rPr lang="pl-PL" altLang="zh-CN" sz="2000" i="1" baseline="-25000" dirty="0">
                <a:latin typeface="微软雅黑" panose="020B0503020204020204" pitchFamily="34" charset="-122"/>
                <a:ea typeface="微软雅黑" panose="020B0503020204020204" pitchFamily="34" charset="-122"/>
              </a:rPr>
              <a:t>M</a:t>
            </a:r>
            <a:r>
              <a:rPr lang="pl-PL" altLang="zh-CN" sz="2000" dirty="0">
                <a:latin typeface="微软雅黑" panose="020B0503020204020204" pitchFamily="34" charset="-122"/>
                <a:ea typeface="微软雅黑" panose="020B0503020204020204" pitchFamily="34" charset="-122"/>
              </a:rPr>
              <a:t>+t</a:t>
            </a:r>
            <a:r>
              <a:rPr lang="pl-PL" altLang="zh-CN" sz="2000" i="1" baseline="-25000" dirty="0">
                <a:latin typeface="微软雅黑" panose="020B0503020204020204" pitchFamily="34" charset="-122"/>
                <a:ea typeface="微软雅黑" panose="020B0503020204020204" pitchFamily="34" charset="-122"/>
              </a:rPr>
              <a:t>P</a:t>
            </a:r>
            <a:r>
              <a:rPr lang="pl-PL" altLang="zh-CN" sz="2000" dirty="0">
                <a:latin typeface="微软雅黑" panose="020B0503020204020204" pitchFamily="34" charset="-122"/>
                <a:ea typeface="微软雅黑" panose="020B0503020204020204" pitchFamily="34" charset="-122"/>
              </a:rPr>
              <a:t>)/6  </a:t>
            </a:r>
            <a:r>
              <a:rPr lang="zh-CN" altLang="pl-PL"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加权平均）</a:t>
            </a:r>
          </a:p>
          <a:p>
            <a:pPr algn="just">
              <a:spcAft>
                <a:spcPts val="1200"/>
              </a:spcAft>
            </a:pPr>
            <a:r>
              <a:rPr lang="zh-CN" altLang="en-US" sz="2000" dirty="0">
                <a:latin typeface="微软雅黑" panose="020B0503020204020204" pitchFamily="34" charset="-122"/>
                <a:ea typeface="微软雅黑" panose="020B0503020204020204" pitchFamily="34" charset="-122"/>
              </a:rPr>
              <a:t>历史数据不充分或使用判断数据时，使用三角分布，基于三点的假定分布估算出期望持续时间，</a:t>
            </a:r>
          </a:p>
          <a:p>
            <a:pPr algn="just">
              <a:spcAft>
                <a:spcPts val="1200"/>
              </a:spcAft>
            </a:pPr>
            <a:r>
              <a:rPr lang="zh-CN" altLang="en-US" sz="2000" dirty="0">
                <a:latin typeface="微软雅黑" panose="020B0503020204020204" pitchFamily="34" charset="-122"/>
                <a:ea typeface="微软雅黑" panose="020B0503020204020204" pitchFamily="34" charset="-122"/>
              </a:rPr>
              <a:t>并说明期望持续时间的不确定区间</a:t>
            </a:r>
            <a:r>
              <a:rPr lang="zh-CN" altLang="en-US" dirty="0">
                <a:latin typeface="微软雅黑" panose="020B0503020204020204" pitchFamily="34" charset="-122"/>
                <a:ea typeface="微软雅黑" panose="020B0503020204020204" pitchFamily="34" charset="-122"/>
              </a:rPr>
              <a:t>。估计 标准差</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t</a:t>
            </a:r>
            <a:r>
              <a:rPr lang="en-US" altLang="zh-CN" sz="2000" i="1" baseline="-25000" dirty="0" err="1">
                <a:latin typeface="微软雅黑" panose="020B0503020204020204" pitchFamily="34" charset="-122"/>
                <a:ea typeface="微软雅黑" panose="020B0503020204020204" pitchFamily="34" charset="-122"/>
              </a:rPr>
              <a:t>P</a:t>
            </a:r>
            <a:r>
              <a:rPr lang="en-US" altLang="zh-CN" dirty="0" err="1">
                <a:latin typeface="微软雅黑" panose="020B0503020204020204" pitchFamily="34" charset="-122"/>
                <a:ea typeface="微软雅黑" panose="020B0503020204020204" pitchFamily="34" charset="-122"/>
              </a:rPr>
              <a:t>-t</a:t>
            </a:r>
            <a:r>
              <a:rPr lang="en-US" altLang="zh-CN" sz="2000" i="1" baseline="-25000" dirty="0" err="1">
                <a:latin typeface="微软雅黑" panose="020B0503020204020204" pitchFamily="34" charset="-122"/>
                <a:ea typeface="微软雅黑" panose="020B0503020204020204" pitchFamily="34" charset="-122"/>
              </a:rPr>
              <a:t>O</a:t>
            </a:r>
            <a:r>
              <a:rPr lang="en-US" altLang="zh-CN" dirty="0">
                <a:latin typeface="微软雅黑" panose="020B0503020204020204" pitchFamily="34" charset="-122"/>
                <a:ea typeface="微软雅黑" panose="020B0503020204020204" pitchFamily="34" charset="-122"/>
              </a:rPr>
              <a:t>)/6</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13133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89955D-721C-40DB-B057-4CFE0A63BCFA}"/>
              </a:ext>
            </a:extLst>
          </p:cNvPr>
          <p:cNvSpPr>
            <a:spLocks noGrp="1"/>
          </p:cNvSpPr>
          <p:nvPr>
            <p:ph type="title"/>
          </p:nvPr>
        </p:nvSpPr>
        <p:spPr/>
        <p:txBody>
          <a:bodyPr/>
          <a:lstStyle/>
          <a:p>
            <a:r>
              <a:rPr lang="en-US" altLang="zh-CN" dirty="0"/>
              <a:t>12.5 </a:t>
            </a:r>
            <a:r>
              <a:rPr lang="zh-CN" altLang="en-US" dirty="0"/>
              <a:t>估算活动持续时间</a:t>
            </a:r>
          </a:p>
        </p:txBody>
      </p:sp>
      <p:sp>
        <p:nvSpPr>
          <p:cNvPr id="4" name="文本框 3">
            <a:extLst>
              <a:ext uri="{FF2B5EF4-FFF2-40B4-BE49-F238E27FC236}">
                <a16:creationId xmlns:a16="http://schemas.microsoft.com/office/drawing/2014/main" id="{DF0F58FC-EFEC-44BB-99E5-159EAB4A4856}"/>
              </a:ext>
            </a:extLst>
          </p:cNvPr>
          <p:cNvSpPr txBox="1"/>
          <p:nvPr/>
        </p:nvSpPr>
        <p:spPr>
          <a:xfrm>
            <a:off x="613885" y="1454142"/>
            <a:ext cx="10972800" cy="4447371"/>
          </a:xfrm>
          <a:prstGeom prst="rect">
            <a:avLst/>
          </a:prstGeom>
          <a:noFill/>
        </p:spPr>
        <p:txBody>
          <a:bodyPr wrap="square">
            <a:spAutoFit/>
          </a:bodyPr>
          <a:lstStyle/>
          <a:p>
            <a:pPr marL="342900" indent="-342900">
              <a:spcAft>
                <a:spcPts val="600"/>
              </a:spcAft>
              <a:buFont typeface="Wingdings" panose="05000000000000000000" pitchFamily="2" charset="2"/>
              <a:buChar char="l"/>
            </a:pPr>
            <a:r>
              <a:rPr lang="en-US" altLang="zh-CN" sz="2000" dirty="0">
                <a:latin typeface="微软雅黑" panose="020B0503020204020204" pitchFamily="34" charset="-122"/>
                <a:ea typeface="微软雅黑" panose="020B0503020204020204" pitchFamily="34" charset="-122"/>
              </a:rPr>
              <a:t> </a:t>
            </a:r>
            <a:r>
              <a:rPr lang="zh-CN" altLang="en-US" sz="2400" b="1" dirty="0">
                <a:latin typeface="微软雅黑" panose="020B0503020204020204" pitchFamily="34" charset="-122"/>
                <a:ea typeface="微软雅黑" panose="020B0503020204020204" pitchFamily="34" charset="-122"/>
              </a:rPr>
              <a:t>自下而上估算</a:t>
            </a:r>
          </a:p>
          <a:p>
            <a:pPr>
              <a:spcAft>
                <a:spcPts val="600"/>
              </a:spcAft>
            </a:pPr>
            <a:r>
              <a:rPr lang="zh-CN" altLang="en-US" sz="2000" dirty="0">
                <a:latin typeface="微软雅黑" panose="020B0503020204020204" pitchFamily="34" charset="-122"/>
                <a:ea typeface="微软雅黑" panose="020B0503020204020204" pitchFamily="34" charset="-122"/>
              </a:rPr>
              <a:t>自下而上估算是一种估算项目持续时间或成本的方法，通过从下到上逐层汇总 </a:t>
            </a:r>
            <a:r>
              <a:rPr lang="en-US" altLang="zh-CN" sz="2000" dirty="0">
                <a:latin typeface="微软雅黑" panose="020B0503020204020204" pitchFamily="34" charset="-122"/>
                <a:ea typeface="微软雅黑" panose="020B0503020204020204" pitchFamily="34" charset="-122"/>
              </a:rPr>
              <a:t>WBS </a:t>
            </a:r>
            <a:r>
              <a:rPr lang="zh-CN" altLang="en-US" sz="2000" dirty="0">
                <a:latin typeface="微软雅黑" panose="020B0503020204020204" pitchFamily="34" charset="-122"/>
                <a:ea typeface="微软雅黑" panose="020B0503020204020204" pitchFamily="34" charset="-122"/>
              </a:rPr>
              <a:t>组成部分的估算而得到项目估算。</a:t>
            </a:r>
            <a:endParaRPr lang="en-US" altLang="zh-CN" sz="2000" dirty="0">
              <a:latin typeface="微软雅黑" panose="020B0503020204020204" pitchFamily="34" charset="-122"/>
              <a:ea typeface="微软雅黑" panose="020B0503020204020204" pitchFamily="34" charset="-122"/>
            </a:endParaRPr>
          </a:p>
          <a:p>
            <a:pPr marL="342900" indent="-342900">
              <a:spcAft>
                <a:spcPts val="600"/>
              </a:spcAft>
              <a:buFont typeface="Wingdings" panose="05000000000000000000" pitchFamily="2" charset="2"/>
              <a:buChar char="l"/>
            </a:pPr>
            <a:r>
              <a:rPr lang="en-US" altLang="zh-CN" sz="2000" dirty="0">
                <a:latin typeface="微软雅黑" panose="020B0503020204020204" pitchFamily="34" charset="-122"/>
                <a:ea typeface="微软雅黑" panose="020B0503020204020204" pitchFamily="34" charset="-122"/>
              </a:rPr>
              <a:t> </a:t>
            </a:r>
            <a:r>
              <a:rPr lang="zh-CN" altLang="en-US" sz="2400" b="1" dirty="0">
                <a:latin typeface="微软雅黑" panose="020B0503020204020204" pitchFamily="34" charset="-122"/>
                <a:ea typeface="微软雅黑" panose="020B0503020204020204" pitchFamily="34" charset="-122"/>
              </a:rPr>
              <a:t>数据分析</a:t>
            </a:r>
            <a:endParaRPr lang="en-US" altLang="zh-CN" sz="2400" b="1" dirty="0">
              <a:latin typeface="微软雅黑" panose="020B0503020204020204" pitchFamily="34" charset="-122"/>
              <a:ea typeface="微软雅黑" panose="020B0503020204020204" pitchFamily="34" charset="-122"/>
            </a:endParaRPr>
          </a:p>
          <a:p>
            <a:pPr>
              <a:spcAft>
                <a:spcPts val="600"/>
              </a:spcAft>
            </a:pPr>
            <a:r>
              <a:rPr lang="en-US" altLang="zh-CN" sz="2000" b="1" dirty="0">
                <a:latin typeface="微软雅黑" panose="020B0503020204020204" pitchFamily="34" charset="-122"/>
                <a:ea typeface="微软雅黑" panose="020B0503020204020204" pitchFamily="34" charset="-122"/>
              </a:rPr>
              <a:t>   </a:t>
            </a:r>
            <a:r>
              <a:rPr lang="zh-CN" altLang="en-US" sz="2000" dirty="0">
                <a:solidFill>
                  <a:srgbClr val="800000"/>
                </a:solidFill>
                <a:latin typeface="微软雅黑" panose="020B0503020204020204" pitchFamily="34" charset="-122"/>
                <a:ea typeface="微软雅黑" panose="020B0503020204020204" pitchFamily="34" charset="-122"/>
              </a:rPr>
              <a:t>备选方案分析    </a:t>
            </a:r>
            <a:r>
              <a:rPr lang="zh-CN" altLang="en-US" sz="2000" dirty="0">
                <a:latin typeface="微软雅黑" panose="020B0503020204020204" pitchFamily="34" charset="-122"/>
                <a:ea typeface="微软雅黑" panose="020B0503020204020204" pitchFamily="34" charset="-122"/>
              </a:rPr>
              <a:t>备选方案分析用于比较不同的资源能力或技能水平、进度压缩技术、不同工具（手动和自动），以及关于资源的创建、租赁和购买决策。</a:t>
            </a:r>
            <a:endParaRPr lang="en-US" altLang="zh-CN" sz="2000" dirty="0">
              <a:latin typeface="微软雅黑" panose="020B0503020204020204" pitchFamily="34" charset="-122"/>
              <a:ea typeface="微软雅黑" panose="020B0503020204020204" pitchFamily="34" charset="-122"/>
            </a:endParaRPr>
          </a:p>
          <a:p>
            <a:pPr>
              <a:spcAft>
                <a:spcPts val="600"/>
              </a:spcAft>
            </a:pPr>
            <a:r>
              <a:rPr lang="zh-CN" altLang="en-US" sz="2000" dirty="0">
                <a:latin typeface="微软雅黑" panose="020B0503020204020204" pitchFamily="34" charset="-122"/>
                <a:ea typeface="微软雅黑" panose="020B0503020204020204" pitchFamily="34" charset="-122"/>
              </a:rPr>
              <a:t>   </a:t>
            </a:r>
            <a:r>
              <a:rPr lang="zh-CN" altLang="en-US" sz="2000" dirty="0">
                <a:solidFill>
                  <a:srgbClr val="800000"/>
                </a:solidFill>
                <a:latin typeface="微软雅黑" panose="020B0503020204020204" pitchFamily="34" charset="-122"/>
                <a:ea typeface="微软雅黑" panose="020B0503020204020204" pitchFamily="34" charset="-122"/>
              </a:rPr>
              <a:t>储备分析    </a:t>
            </a:r>
            <a:r>
              <a:rPr lang="zh-CN" altLang="en-US" sz="2000" dirty="0">
                <a:latin typeface="微软雅黑" panose="020B0503020204020204" pitchFamily="34" charset="-122"/>
                <a:ea typeface="微软雅黑" panose="020B0503020204020204" pitchFamily="34" charset="-122"/>
              </a:rPr>
              <a:t>在进行持续时间估算时，需考虑应急储备</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有时称为时间储备或缓冲时间</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和管理储备，并将其纳入项目进度计划中，用来应对进度方面的不确定性。</a:t>
            </a:r>
            <a:endParaRPr lang="en-US" altLang="zh-CN" sz="2000" dirty="0">
              <a:latin typeface="微软雅黑" panose="020B0503020204020204" pitchFamily="34" charset="-122"/>
              <a:ea typeface="微软雅黑" panose="020B0503020204020204" pitchFamily="34" charset="-122"/>
            </a:endParaRPr>
          </a:p>
          <a:p>
            <a:pPr marL="342900" indent="-342900">
              <a:spcAft>
                <a:spcPts val="600"/>
              </a:spcAft>
              <a:buFont typeface="Wingdings" panose="05000000000000000000" pitchFamily="2" charset="2"/>
              <a:buChar char="l"/>
            </a:pPr>
            <a:r>
              <a:rPr lang="en-US" altLang="zh-CN" sz="2000"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群体决策技术</a:t>
            </a:r>
          </a:p>
          <a:p>
            <a:pPr>
              <a:spcAft>
                <a:spcPts val="600"/>
              </a:spcAft>
            </a:pPr>
            <a:r>
              <a:rPr lang="zh-CN" altLang="en-US" sz="2000" b="1"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基于团队的方法</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如头脑风暴、德尔菲技术</a:t>
            </a:r>
            <a:r>
              <a:rPr lang="en-US" altLang="zh-CN" sz="2000" dirty="0">
                <a:latin typeface="微软雅黑" panose="020B0503020204020204" pitchFamily="34" charset="-122"/>
                <a:ea typeface="微软雅黑" panose="020B0503020204020204" pitchFamily="34" charset="-122"/>
              </a:rPr>
              <a:t>&lt;</a:t>
            </a:r>
            <a:r>
              <a:rPr lang="zh-CN" altLang="en-US" sz="2000" dirty="0">
                <a:solidFill>
                  <a:srgbClr val="333333"/>
                </a:solidFill>
                <a:latin typeface="微软雅黑" panose="020B0503020204020204" pitchFamily="34" charset="-122"/>
                <a:ea typeface="微软雅黑" panose="020B0503020204020204" pitchFamily="34" charset="-122"/>
              </a:rPr>
              <a:t>也称专家调查法</a:t>
            </a:r>
            <a:r>
              <a:rPr lang="en-US" altLang="zh-CN" sz="2000" dirty="0">
                <a:solidFill>
                  <a:srgbClr val="333333"/>
                </a:solidFill>
                <a:latin typeface="微软雅黑" panose="020B0503020204020204" pitchFamily="34" charset="-122"/>
                <a:ea typeface="微软雅黑" panose="020B0503020204020204" pitchFamily="34" charset="-122"/>
              </a:rPr>
              <a:t>&gt;</a:t>
            </a:r>
            <a:r>
              <a:rPr lang="zh-CN" altLang="en-US" sz="2000" dirty="0">
                <a:latin typeface="微软雅黑" panose="020B0503020204020204" pitchFamily="34" charset="-122"/>
                <a:ea typeface="微软雅黑" panose="020B0503020204020204" pitchFamily="34" charset="-122"/>
              </a:rPr>
              <a:t>或名义小组技术</a:t>
            </a:r>
            <a:r>
              <a:rPr lang="en-US" altLang="zh-CN" sz="2000" dirty="0">
                <a:latin typeface="微软雅黑" panose="020B0503020204020204" pitchFamily="34" charset="-122"/>
                <a:ea typeface="微软雅黑" panose="020B0503020204020204" pitchFamily="34" charset="-122"/>
              </a:rPr>
              <a:t>&lt;</a:t>
            </a:r>
            <a:r>
              <a:rPr lang="zh-CN" altLang="en-US" sz="2000" dirty="0">
                <a:solidFill>
                  <a:srgbClr val="333333"/>
                </a:solidFill>
                <a:latin typeface="微软雅黑" panose="020B0503020204020204" pitchFamily="34" charset="-122"/>
                <a:ea typeface="微软雅黑" panose="020B0503020204020204" pitchFamily="34" charset="-122"/>
              </a:rPr>
              <a:t>群体成员是独立思考的</a:t>
            </a:r>
            <a:r>
              <a:rPr lang="en-US" altLang="zh-CN" sz="2000" dirty="0">
                <a:solidFill>
                  <a:srgbClr val="333333"/>
                </a:solidFill>
                <a:latin typeface="微软雅黑" panose="020B0503020204020204" pitchFamily="34" charset="-122"/>
                <a:ea typeface="微软雅黑" panose="020B0503020204020204" pitchFamily="34" charset="-122"/>
              </a:rPr>
              <a:t>&gt;</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可以调动团队成员的参与，以提高估算的准确度，并提高对估算结果的责任感。</a:t>
            </a:r>
            <a:endParaRPr lang="en-US" altLang="zh-CN" sz="2000" dirty="0">
              <a:latin typeface="微软雅黑" panose="020B0503020204020204" pitchFamily="34" charset="-122"/>
              <a:ea typeface="微软雅黑" panose="020B0503020204020204" pitchFamily="34" charset="-122"/>
            </a:endParaRPr>
          </a:p>
          <a:p>
            <a:pPr marL="342900" indent="-342900">
              <a:spcAft>
                <a:spcPts val="600"/>
              </a:spcAft>
              <a:buFont typeface="Wingdings" panose="05000000000000000000" pitchFamily="2" charset="2"/>
              <a:buChar char="l"/>
            </a:pP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会议</a:t>
            </a:r>
          </a:p>
        </p:txBody>
      </p:sp>
    </p:spTree>
    <p:extLst>
      <p:ext uri="{BB962C8B-B14F-4D97-AF65-F5344CB8AC3E}">
        <p14:creationId xmlns:p14="http://schemas.microsoft.com/office/powerpoint/2010/main" val="3122706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E8B904-31B8-43BD-89FE-12A85EC8FB5A}"/>
              </a:ext>
            </a:extLst>
          </p:cNvPr>
          <p:cNvSpPr>
            <a:spLocks noGrp="1"/>
          </p:cNvSpPr>
          <p:nvPr>
            <p:ph type="title"/>
          </p:nvPr>
        </p:nvSpPr>
        <p:spPr/>
        <p:txBody>
          <a:bodyPr/>
          <a:lstStyle/>
          <a:p>
            <a:r>
              <a:rPr lang="en-US" altLang="zh-CN" dirty="0"/>
              <a:t>12.5 </a:t>
            </a:r>
            <a:r>
              <a:rPr lang="zh-CN" altLang="en-US" dirty="0"/>
              <a:t>估算活动持续时间</a:t>
            </a:r>
          </a:p>
        </p:txBody>
      </p:sp>
      <p:sp>
        <p:nvSpPr>
          <p:cNvPr id="4" name="文本框 3">
            <a:extLst>
              <a:ext uri="{FF2B5EF4-FFF2-40B4-BE49-F238E27FC236}">
                <a16:creationId xmlns:a16="http://schemas.microsoft.com/office/drawing/2014/main" id="{550C4B40-74A7-446E-99B8-29B40CD246A3}"/>
              </a:ext>
            </a:extLst>
          </p:cNvPr>
          <p:cNvSpPr txBox="1"/>
          <p:nvPr/>
        </p:nvSpPr>
        <p:spPr>
          <a:xfrm>
            <a:off x="697829" y="1400356"/>
            <a:ext cx="10840727" cy="4677691"/>
          </a:xfrm>
          <a:prstGeom prst="rect">
            <a:avLst/>
          </a:prstGeom>
          <a:noFill/>
        </p:spPr>
        <p:txBody>
          <a:bodyPr wrap="square">
            <a:spAutoFit/>
          </a:bodyPr>
          <a:lstStyle/>
          <a:p>
            <a:pPr algn="just" eaLnBrk="1" hangingPunct="1">
              <a:lnSpc>
                <a:spcPct val="120000"/>
              </a:lnSpc>
              <a:spcBef>
                <a:spcPct val="0"/>
              </a:spcBef>
            </a:pPr>
            <a:r>
              <a:rPr lang="zh-CN" altLang="en-US" sz="2400" b="1" dirty="0">
                <a:latin typeface="微软雅黑" panose="020B0503020204020204" pitchFamily="34" charset="-122"/>
                <a:ea typeface="微软雅黑" panose="020B0503020204020204" pitchFamily="34" charset="-122"/>
              </a:rPr>
              <a:t>项目活动工期（持续时间）估算的结果</a:t>
            </a:r>
          </a:p>
          <a:p>
            <a:pPr marL="342900" indent="-342900" algn="just" eaLnBrk="1" hangingPunct="1">
              <a:lnSpc>
                <a:spcPct val="120000"/>
              </a:lnSpc>
              <a:spcBef>
                <a:spcPct val="0"/>
              </a:spcBef>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估算出的项目活动工期：</a:t>
            </a:r>
            <a:r>
              <a:rPr lang="zh-CN" altLang="zh-CN" sz="2000" b="1" dirty="0">
                <a:latin typeface="微软雅黑" panose="020B0503020204020204" pitchFamily="34" charset="-122"/>
                <a:ea typeface="微软雅黑" panose="020B0503020204020204" pitchFamily="34" charset="-122"/>
              </a:rPr>
              <a:t>对完成某项活动所需的工作时段数的定量评估。估算的时间不包含任何滞后量。可以给出一定的变动区间。</a:t>
            </a:r>
            <a:endParaRPr lang="en-US" altLang="zh-CN" sz="2000" b="1" dirty="0">
              <a:latin typeface="微软雅黑" panose="020B0503020204020204" pitchFamily="34" charset="-122"/>
              <a:ea typeface="微软雅黑" panose="020B0503020204020204" pitchFamily="34" charset="-122"/>
            </a:endParaRPr>
          </a:p>
          <a:p>
            <a:pPr algn="l"/>
            <a:r>
              <a:rPr lang="zh-CN" altLang="en-US" sz="2000" b="0" i="0" u="none" strike="noStrike" baseline="0" dirty="0">
                <a:latin typeface="微软雅黑" panose="020B0503020204020204" pitchFamily="34" charset="-122"/>
                <a:ea typeface="微软雅黑" panose="020B0503020204020204" pitchFamily="34" charset="-122"/>
              </a:rPr>
              <a:t>  例如：</a:t>
            </a:r>
          </a:p>
          <a:p>
            <a:pPr algn="l"/>
            <a:r>
              <a:rPr lang="en-US" altLang="zh-CN" sz="2000" b="0" i="0" u="none" strike="noStrike" baseline="0" dirty="0">
                <a:latin typeface="微软雅黑" panose="020B0503020204020204" pitchFamily="34" charset="-122"/>
                <a:ea typeface="微软雅黑" panose="020B0503020204020204" pitchFamily="34" charset="-122"/>
              </a:rPr>
              <a:t>   2 </a:t>
            </a:r>
            <a:r>
              <a:rPr lang="zh-CN" altLang="en-US" sz="2000" b="0" i="0" u="none" strike="noStrike" baseline="0" dirty="0">
                <a:latin typeface="微软雅黑" panose="020B0503020204020204" pitchFamily="34" charset="-122"/>
                <a:ea typeface="微软雅黑" panose="020B0503020204020204" pitchFamily="34" charset="-122"/>
              </a:rPr>
              <a:t>周 </a:t>
            </a:r>
            <a:r>
              <a:rPr lang="en-US" altLang="zh-CN" sz="2000" b="0" i="0" u="none" strike="noStrike" baseline="0" dirty="0">
                <a:latin typeface="微软雅黑" panose="020B0503020204020204" pitchFamily="34" charset="-122"/>
                <a:ea typeface="微软雅黑" panose="020B0503020204020204" pitchFamily="34" charset="-122"/>
              </a:rPr>
              <a:t>± 2 </a:t>
            </a:r>
            <a:r>
              <a:rPr lang="zh-CN" altLang="en-US" sz="2000" b="0" i="0" u="none" strike="noStrike" baseline="0" dirty="0">
                <a:latin typeface="微软雅黑" panose="020B0503020204020204" pitchFamily="34" charset="-122"/>
                <a:ea typeface="微软雅黑" panose="020B0503020204020204" pitchFamily="34" charset="-122"/>
              </a:rPr>
              <a:t>天，表明活动至少需要 </a:t>
            </a:r>
            <a:r>
              <a:rPr lang="en-US" altLang="zh-CN" sz="2000" b="0" i="0" u="none" strike="noStrike" baseline="0" dirty="0">
                <a:latin typeface="微软雅黑" panose="020B0503020204020204" pitchFamily="34" charset="-122"/>
                <a:ea typeface="微软雅黑" panose="020B0503020204020204" pitchFamily="34" charset="-122"/>
              </a:rPr>
              <a:t>8 </a:t>
            </a:r>
            <a:r>
              <a:rPr lang="zh-CN" altLang="en-US" sz="2000" b="0" i="0" u="none" strike="noStrike" baseline="0" dirty="0">
                <a:latin typeface="微软雅黑" panose="020B0503020204020204" pitchFamily="34" charset="-122"/>
                <a:ea typeface="微软雅黑" panose="020B0503020204020204" pitchFamily="34" charset="-122"/>
              </a:rPr>
              <a:t>天，最多不超过 </a:t>
            </a:r>
            <a:r>
              <a:rPr lang="en-US" altLang="zh-CN" sz="2000" b="0" i="0" u="none" strike="noStrike" baseline="0" dirty="0">
                <a:latin typeface="微软雅黑" panose="020B0503020204020204" pitchFamily="34" charset="-122"/>
                <a:ea typeface="微软雅黑" panose="020B0503020204020204" pitchFamily="34" charset="-122"/>
              </a:rPr>
              <a:t>12 </a:t>
            </a:r>
            <a:r>
              <a:rPr lang="zh-CN" altLang="en-US" sz="2000" b="0" i="0" u="none" strike="noStrike" baseline="0" dirty="0">
                <a:latin typeface="微软雅黑" panose="020B0503020204020204" pitchFamily="34" charset="-122"/>
                <a:ea typeface="微软雅黑" panose="020B0503020204020204" pitchFamily="34" charset="-122"/>
              </a:rPr>
              <a:t>天（假定每周工作 </a:t>
            </a:r>
            <a:r>
              <a:rPr lang="en-US" altLang="zh-CN" sz="2000" b="0" i="0" u="none" strike="noStrike" baseline="0" dirty="0">
                <a:latin typeface="微软雅黑" panose="020B0503020204020204" pitchFamily="34" charset="-122"/>
                <a:ea typeface="微软雅黑" panose="020B0503020204020204" pitchFamily="34" charset="-122"/>
              </a:rPr>
              <a:t>5 </a:t>
            </a:r>
            <a:r>
              <a:rPr lang="zh-CN" altLang="en-US" sz="2000" b="0" i="0" u="none" strike="noStrike" baseline="0" dirty="0">
                <a:latin typeface="微软雅黑" panose="020B0503020204020204" pitchFamily="34" charset="-122"/>
                <a:ea typeface="微软雅黑" panose="020B0503020204020204" pitchFamily="34" charset="-122"/>
              </a:rPr>
              <a:t>天）；</a:t>
            </a:r>
          </a:p>
          <a:p>
            <a:pPr algn="l"/>
            <a:r>
              <a:rPr lang="zh-CN" altLang="en-US" sz="2000" b="0" i="0" u="none" strike="noStrike" baseline="0" dirty="0">
                <a:latin typeface="微软雅黑" panose="020B0503020204020204" pitchFamily="34" charset="-122"/>
                <a:ea typeface="微软雅黑" panose="020B0503020204020204" pitchFamily="34" charset="-122"/>
              </a:rPr>
              <a:t>    超过 </a:t>
            </a:r>
            <a:r>
              <a:rPr lang="en-US" altLang="zh-CN" sz="2000" b="0" i="0" u="none" strike="noStrike" baseline="0" dirty="0">
                <a:latin typeface="微软雅黑" panose="020B0503020204020204" pitchFamily="34" charset="-122"/>
                <a:ea typeface="微软雅黑" panose="020B0503020204020204" pitchFamily="34" charset="-122"/>
              </a:rPr>
              <a:t>3 </a:t>
            </a:r>
            <a:r>
              <a:rPr lang="zh-CN" altLang="en-US" sz="2000" b="0" i="0" u="none" strike="noStrike" baseline="0" dirty="0">
                <a:latin typeface="微软雅黑" panose="020B0503020204020204" pitchFamily="34" charset="-122"/>
                <a:ea typeface="微软雅黑" panose="020B0503020204020204" pitchFamily="34" charset="-122"/>
              </a:rPr>
              <a:t>周的概率为 </a:t>
            </a:r>
            <a:r>
              <a:rPr lang="en-US" altLang="zh-CN" sz="2000" b="0" i="0" u="none" strike="noStrike" baseline="0" dirty="0">
                <a:latin typeface="微软雅黑" panose="020B0503020204020204" pitchFamily="34" charset="-122"/>
                <a:ea typeface="微软雅黑" panose="020B0503020204020204" pitchFamily="34" charset="-122"/>
              </a:rPr>
              <a:t>15%</a:t>
            </a:r>
            <a:r>
              <a:rPr lang="zh-CN" altLang="en-US" sz="2000" b="0" i="0" u="none" strike="noStrike" baseline="0" dirty="0">
                <a:latin typeface="微软雅黑" panose="020B0503020204020204" pitchFamily="34" charset="-122"/>
                <a:ea typeface="微软雅黑" panose="020B0503020204020204" pitchFamily="34" charset="-122"/>
              </a:rPr>
              <a:t>，表明该活动将在 </a:t>
            </a:r>
            <a:r>
              <a:rPr lang="en-US" altLang="zh-CN" sz="2000" b="0" i="0" u="none" strike="noStrike" baseline="0" dirty="0">
                <a:latin typeface="微软雅黑" panose="020B0503020204020204" pitchFamily="34" charset="-122"/>
                <a:ea typeface="微软雅黑" panose="020B0503020204020204" pitchFamily="34" charset="-122"/>
              </a:rPr>
              <a:t>3 </a:t>
            </a:r>
            <a:r>
              <a:rPr lang="zh-CN" altLang="en-US" sz="2000" b="0" i="0" u="none" strike="noStrike" baseline="0" dirty="0">
                <a:latin typeface="微软雅黑" panose="020B0503020204020204" pitchFamily="34" charset="-122"/>
                <a:ea typeface="微软雅黑" panose="020B0503020204020204" pitchFamily="34" charset="-122"/>
              </a:rPr>
              <a:t>周内（含 </a:t>
            </a:r>
            <a:r>
              <a:rPr lang="en-US" altLang="zh-CN" sz="2000" b="0" i="0" u="none" strike="noStrike" baseline="0" dirty="0">
                <a:latin typeface="微软雅黑" panose="020B0503020204020204" pitchFamily="34" charset="-122"/>
                <a:ea typeface="微软雅黑" panose="020B0503020204020204" pitchFamily="34" charset="-122"/>
              </a:rPr>
              <a:t>3 </a:t>
            </a:r>
            <a:r>
              <a:rPr lang="zh-CN" altLang="en-US" sz="2000" b="0" i="0" u="none" strike="noStrike" baseline="0" dirty="0">
                <a:latin typeface="微软雅黑" panose="020B0503020204020204" pitchFamily="34" charset="-122"/>
                <a:ea typeface="微软雅黑" panose="020B0503020204020204" pitchFamily="34" charset="-122"/>
              </a:rPr>
              <a:t>周）完工的概率为 </a:t>
            </a:r>
            <a:r>
              <a:rPr lang="en-US" altLang="zh-CN" sz="2000" b="0" i="0" u="none" strike="noStrike" baseline="0" dirty="0">
                <a:latin typeface="微软雅黑" panose="020B0503020204020204" pitchFamily="34" charset="-122"/>
                <a:ea typeface="微软雅黑" panose="020B0503020204020204" pitchFamily="34" charset="-122"/>
              </a:rPr>
              <a:t>85%</a:t>
            </a:r>
            <a:r>
              <a:rPr lang="zh-CN" altLang="en-US" sz="2000" b="0" i="0" u="none" strike="noStrike" baseline="0" dirty="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a:p>
            <a:pPr marL="342900" indent="-342900" eaLnBrk="1" hangingPunct="1">
              <a:lnSpc>
                <a:spcPct val="120000"/>
              </a:lnSpc>
              <a:spcBef>
                <a:spcPct val="0"/>
              </a:spcBef>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项目工期估算的依据</a:t>
            </a:r>
            <a:endParaRPr lang="en-US" altLang="zh-CN" sz="2000" b="1" dirty="0">
              <a:latin typeface="微软雅黑" panose="020B0503020204020204" pitchFamily="34" charset="-122"/>
              <a:ea typeface="微软雅黑" panose="020B0503020204020204" pitchFamily="34" charset="-122"/>
            </a:endParaRPr>
          </a:p>
          <a:p>
            <a:pPr eaLnBrk="1" hangingPunct="1">
              <a:lnSpc>
                <a:spcPct val="120000"/>
              </a:lnSpc>
              <a:spcBef>
                <a:spcPct val="0"/>
              </a:spcBef>
            </a:pPr>
            <a:r>
              <a:rPr lang="en-US" altLang="zh-CN" sz="2000" b="1" i="0" u="none" strike="noStrike" baseline="0" dirty="0">
                <a:latin typeface="微软雅黑" panose="020B0503020204020204" pitchFamily="34" charset="-122"/>
                <a:ea typeface="微软雅黑" panose="020B0503020204020204" pitchFamily="34" charset="-122"/>
              </a:rPr>
              <a:t>     </a:t>
            </a:r>
            <a:r>
              <a:rPr lang="zh-CN" altLang="en-US" sz="1800" b="0" i="0" u="none" strike="noStrike" baseline="0" dirty="0">
                <a:latin typeface="微软雅黑" panose="020B0503020204020204" pitchFamily="34" charset="-122"/>
                <a:ea typeface="微软雅黑" panose="020B0503020204020204" pitchFamily="34" charset="-122"/>
              </a:rPr>
              <a:t>持续时间估算所需的支持信息的数量和种类，因应用领域而异。不论其详细程度如何，支持性文件都应该清晰、完整地说明持续时间估算是如何得出的。</a:t>
            </a:r>
            <a:endParaRPr lang="zh-CN" altLang="en-US" sz="2000" b="1" dirty="0">
              <a:latin typeface="微软雅黑" panose="020B0503020204020204" pitchFamily="34" charset="-122"/>
              <a:ea typeface="微软雅黑" panose="020B0503020204020204" pitchFamily="34" charset="-122"/>
            </a:endParaRPr>
          </a:p>
          <a:p>
            <a:pPr marL="342900" indent="-342900" eaLnBrk="1" hangingPunct="1">
              <a:lnSpc>
                <a:spcPct val="120000"/>
              </a:lnSpc>
              <a:spcBef>
                <a:spcPct val="0"/>
              </a:spcBef>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项目文件更新</a:t>
            </a:r>
            <a:endParaRPr lang="en-US" altLang="zh-CN" sz="2000" b="1" dirty="0">
              <a:latin typeface="微软雅黑" panose="020B0503020204020204" pitchFamily="34" charset="-122"/>
              <a:ea typeface="微软雅黑" panose="020B0503020204020204" pitchFamily="34" charset="-122"/>
            </a:endParaRPr>
          </a:p>
          <a:p>
            <a:pPr eaLnBrk="1" hangingPunct="1">
              <a:lnSpc>
                <a:spcPct val="120000"/>
              </a:lnSpc>
              <a:spcBef>
                <a:spcPct val="0"/>
              </a:spcBef>
            </a:pPr>
            <a:r>
              <a:rPr lang="zh-CN" altLang="en-US" sz="2000" b="1" i="0" u="none" strike="noStrike" baseline="0" dirty="0">
                <a:latin typeface="微软雅黑" panose="020B0503020204020204" pitchFamily="34" charset="-122"/>
                <a:ea typeface="微软雅黑" panose="020B0503020204020204" pitchFamily="34" charset="-122"/>
              </a:rPr>
              <a:t>     活动属性 </a:t>
            </a:r>
            <a:r>
              <a:rPr lang="zh-CN" altLang="en-US" sz="2000" dirty="0">
                <a:latin typeface="SourceHanSansSC-Regular"/>
              </a:rPr>
              <a:t>本过程输出的活动持续时间估算将记录在活动属性中</a:t>
            </a:r>
            <a:endParaRPr lang="en-US" altLang="zh-CN" sz="2000" dirty="0">
              <a:latin typeface="SourceHanSansSC-Regular"/>
            </a:endParaRPr>
          </a:p>
          <a:p>
            <a:pPr eaLnBrk="1" hangingPunct="1">
              <a:lnSpc>
                <a:spcPct val="120000"/>
              </a:lnSpc>
              <a:spcBef>
                <a:spcPct val="0"/>
              </a:spcBef>
            </a:pPr>
            <a:r>
              <a:rPr lang="zh-CN" altLang="en-US" sz="2000" b="1" i="0" u="none" strike="noStrike" baseline="0" dirty="0">
                <a:latin typeface="微软雅黑" panose="020B0503020204020204" pitchFamily="34" charset="-122"/>
                <a:ea typeface="微软雅黑" panose="020B0503020204020204" pitchFamily="34" charset="-122"/>
              </a:rPr>
              <a:t>     假设日志 </a:t>
            </a:r>
            <a:r>
              <a:rPr lang="zh-CN" altLang="en-US" sz="2000" b="0" i="0" u="none" strike="noStrike" baseline="0" dirty="0">
                <a:latin typeface="SourceHanSansSC-Regular"/>
              </a:rPr>
              <a:t>这包括为估算持续时间而制定的假设条件</a:t>
            </a:r>
            <a:endParaRPr lang="en-US" altLang="zh-CN" sz="2000" b="1" i="0" u="none" strike="noStrike" baseline="0" dirty="0">
              <a:latin typeface="微软雅黑" panose="020B0503020204020204" pitchFamily="34" charset="-122"/>
              <a:ea typeface="微软雅黑" panose="020B0503020204020204" pitchFamily="34" charset="-122"/>
            </a:endParaRPr>
          </a:p>
          <a:p>
            <a:pPr eaLnBrk="1" hangingPunct="1">
              <a:lnSpc>
                <a:spcPct val="120000"/>
              </a:lnSpc>
              <a:spcBef>
                <a:spcPct val="0"/>
              </a:spcBef>
            </a:pPr>
            <a:r>
              <a:rPr lang="zh-CN" altLang="en-US" sz="2000" b="1" i="0" u="none" strike="noStrike" baseline="0" dirty="0">
                <a:latin typeface="微软雅黑" panose="020B0503020204020204" pitchFamily="34" charset="-122"/>
                <a:ea typeface="微软雅黑" panose="020B0503020204020204" pitchFamily="34" charset="-122"/>
              </a:rPr>
              <a:t>     经验教训登记册  </a:t>
            </a:r>
            <a:r>
              <a:rPr lang="zh-CN" altLang="en-US" sz="2000" b="0" i="0" u="none" strike="noStrike" baseline="0" dirty="0">
                <a:latin typeface="SourceHanSansSC-Regular"/>
              </a:rPr>
              <a:t>可以增加能够有效和高效地估算人力投入和持续时间的技术</a:t>
            </a:r>
            <a:endParaRPr lang="zh-CN" altLang="en-US" sz="20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885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1" name="Rectangle 2">
            <a:extLst>
              <a:ext uri="{FF2B5EF4-FFF2-40B4-BE49-F238E27FC236}">
                <a16:creationId xmlns:a16="http://schemas.microsoft.com/office/drawing/2014/main" id="{48179041-9EF0-40D9-8509-F4231A77876F}"/>
              </a:ext>
            </a:extLst>
          </p:cNvPr>
          <p:cNvSpPr>
            <a:spLocks noGrp="1" noChangeArrowheads="1"/>
          </p:cNvSpPr>
          <p:nvPr>
            <p:ph type="title"/>
          </p:nvPr>
        </p:nvSpPr>
        <p:spPr>
          <a:xfrm>
            <a:off x="609600" y="1361151"/>
            <a:ext cx="10972800" cy="437186"/>
          </a:xfrm>
        </p:spPr>
        <p:txBody>
          <a:bodyPr/>
          <a:lstStyle/>
          <a:p>
            <a:pPr eaLnBrk="1" hangingPunct="1"/>
            <a:r>
              <a:rPr lang="zh-CN" altLang="en-US" dirty="0"/>
              <a:t>参数估算法</a:t>
            </a:r>
          </a:p>
        </p:txBody>
      </p:sp>
      <p:pic>
        <p:nvPicPr>
          <p:cNvPr id="227332" name="Picture 3">
            <a:extLst>
              <a:ext uri="{FF2B5EF4-FFF2-40B4-BE49-F238E27FC236}">
                <a16:creationId xmlns:a16="http://schemas.microsoft.com/office/drawing/2014/main" id="{DF4578B5-D82D-4A63-A696-309DC790A7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7486" y="1438667"/>
            <a:ext cx="128905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7333" name="Picture 4">
            <a:extLst>
              <a:ext uri="{FF2B5EF4-FFF2-40B4-BE49-F238E27FC236}">
                <a16:creationId xmlns:a16="http://schemas.microsoft.com/office/drawing/2014/main" id="{82E1B6B8-07ED-4F8B-BE05-E93150F880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35406" y="3322638"/>
            <a:ext cx="1208088"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2197" name="Text Box 5">
            <a:extLst>
              <a:ext uri="{FF2B5EF4-FFF2-40B4-BE49-F238E27FC236}">
                <a16:creationId xmlns:a16="http://schemas.microsoft.com/office/drawing/2014/main" id="{0771CB95-620E-48D1-8BAD-E604E6801372}"/>
              </a:ext>
            </a:extLst>
          </p:cNvPr>
          <p:cNvSpPr txBox="1">
            <a:spLocks noChangeArrowheads="1"/>
          </p:cNvSpPr>
          <p:nvPr/>
        </p:nvSpPr>
        <p:spPr bwMode="auto">
          <a:xfrm>
            <a:off x="4154905" y="1782256"/>
            <a:ext cx="61441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dirty="0">
                <a:latin typeface="微软雅黑" panose="020B0503020204020204" pitchFamily="34" charset="-122"/>
                <a:ea typeface="微软雅黑" panose="020B0503020204020204" pitchFamily="34" charset="-122"/>
              </a:rPr>
              <a:t>生产率：生产单位成果单位资源所需要花费的</a:t>
            </a:r>
            <a:r>
              <a:rPr lang="zh-CN" altLang="en-US" dirty="0">
                <a:solidFill>
                  <a:srgbClr val="FF6600"/>
                </a:solidFill>
                <a:latin typeface="微软雅黑" panose="020B0503020204020204" pitchFamily="34" charset="-122"/>
                <a:ea typeface="微软雅黑" panose="020B0503020204020204" pitchFamily="34" charset="-122"/>
              </a:rPr>
              <a:t>时间</a:t>
            </a:r>
          </a:p>
        </p:txBody>
      </p:sp>
      <p:sp>
        <p:nvSpPr>
          <p:cNvPr id="392198" name="Text Box 6">
            <a:extLst>
              <a:ext uri="{FF2B5EF4-FFF2-40B4-BE49-F238E27FC236}">
                <a16:creationId xmlns:a16="http://schemas.microsoft.com/office/drawing/2014/main" id="{68AB9098-D80F-44E9-B951-DD4D2D12957F}"/>
              </a:ext>
            </a:extLst>
          </p:cNvPr>
          <p:cNvSpPr txBox="1">
            <a:spLocks noChangeArrowheads="1"/>
          </p:cNvSpPr>
          <p:nvPr/>
        </p:nvSpPr>
        <p:spPr bwMode="auto">
          <a:xfrm>
            <a:off x="4419600" y="2803526"/>
            <a:ext cx="4876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dirty="0">
                <a:latin typeface="微软雅黑" panose="020B0503020204020204" pitchFamily="34" charset="-122"/>
                <a:ea typeface="微软雅黑" panose="020B0503020204020204" pitchFamily="34" charset="-122"/>
              </a:rPr>
              <a:t>如建设一座埃菲尔铁塔需要</a:t>
            </a: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年，那么建设</a:t>
            </a:r>
            <a:r>
              <a:rPr lang="en-US" altLang="zh-CN" dirty="0">
                <a:latin typeface="微软雅黑" panose="020B0503020204020204" pitchFamily="34" charset="-122"/>
                <a:ea typeface="微软雅黑" panose="020B0503020204020204" pitchFamily="34" charset="-122"/>
              </a:rPr>
              <a:t>10</a:t>
            </a:r>
            <a:r>
              <a:rPr lang="zh-CN" altLang="en-US" dirty="0">
                <a:latin typeface="微软雅黑" panose="020B0503020204020204" pitchFamily="34" charset="-122"/>
                <a:ea typeface="微软雅黑" panose="020B0503020204020204" pitchFamily="34" charset="-122"/>
              </a:rPr>
              <a:t>座需要的历时为？</a:t>
            </a:r>
            <a:endParaRPr lang="zh-CN" altLang="en-US" dirty="0">
              <a:solidFill>
                <a:srgbClr val="FF6600"/>
              </a:solidFill>
              <a:latin typeface="微软雅黑" panose="020B0503020204020204" pitchFamily="34" charset="-122"/>
              <a:ea typeface="微软雅黑" panose="020B0503020204020204" pitchFamily="34" charset="-122"/>
            </a:endParaRPr>
          </a:p>
        </p:txBody>
      </p:sp>
      <p:sp>
        <p:nvSpPr>
          <p:cNvPr id="392199" name="Text Box 7">
            <a:extLst>
              <a:ext uri="{FF2B5EF4-FFF2-40B4-BE49-F238E27FC236}">
                <a16:creationId xmlns:a16="http://schemas.microsoft.com/office/drawing/2014/main" id="{4F1FE5B3-655D-470C-A704-AFCF70D9773E}"/>
              </a:ext>
            </a:extLst>
          </p:cNvPr>
          <p:cNvSpPr txBox="1">
            <a:spLocks noChangeArrowheads="1"/>
          </p:cNvSpPr>
          <p:nvPr/>
        </p:nvSpPr>
        <p:spPr bwMode="auto">
          <a:xfrm>
            <a:off x="4419600" y="3581401"/>
            <a:ext cx="4876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dirty="0">
                <a:latin typeface="微软雅黑" panose="020B0503020204020204" pitchFamily="34" charset="-122"/>
                <a:ea typeface="微软雅黑" panose="020B0503020204020204" pitchFamily="34" charset="-122"/>
              </a:rPr>
              <a:t>如果只是一个建筑公司，则需要</a:t>
            </a:r>
            <a:r>
              <a:rPr lang="en-US" altLang="zh-CN" sz="4000" dirty="0">
                <a:solidFill>
                  <a:srgbClr val="FF3300"/>
                </a:solidFill>
                <a:latin typeface="微软雅黑" panose="020B0503020204020204" pitchFamily="34" charset="-122"/>
                <a:ea typeface="微软雅黑" panose="020B0503020204020204" pitchFamily="34" charset="-122"/>
              </a:rPr>
              <a:t>30</a:t>
            </a:r>
            <a:r>
              <a:rPr lang="zh-CN" altLang="en-US" sz="4000" dirty="0">
                <a:solidFill>
                  <a:srgbClr val="FF3300"/>
                </a:solidFill>
                <a:latin typeface="微软雅黑" panose="020B0503020204020204" pitchFamily="34" charset="-122"/>
                <a:ea typeface="微软雅黑" panose="020B0503020204020204" pitchFamily="34" charset="-122"/>
              </a:rPr>
              <a:t>年</a:t>
            </a:r>
          </a:p>
        </p:txBody>
      </p:sp>
      <p:sp>
        <p:nvSpPr>
          <p:cNvPr id="392200" name="AutoShape 8">
            <a:extLst>
              <a:ext uri="{FF2B5EF4-FFF2-40B4-BE49-F238E27FC236}">
                <a16:creationId xmlns:a16="http://schemas.microsoft.com/office/drawing/2014/main" id="{B8B581E3-6900-4B0F-95E5-392FAB8EC3C4}"/>
              </a:ext>
            </a:extLst>
          </p:cNvPr>
          <p:cNvSpPr>
            <a:spLocks noChangeArrowheads="1"/>
          </p:cNvSpPr>
          <p:nvPr/>
        </p:nvSpPr>
        <p:spPr bwMode="auto">
          <a:xfrm>
            <a:off x="3545305" y="5193797"/>
            <a:ext cx="5101389" cy="701675"/>
          </a:xfrm>
          <a:prstGeom prst="wedgeRectCallout">
            <a:avLst>
              <a:gd name="adj1" fmla="val -18921"/>
              <a:gd name="adj2" fmla="val -16796"/>
            </a:avLst>
          </a:prstGeom>
          <a:gradFill rotWithShape="1">
            <a:gsLst>
              <a:gs pos="0">
                <a:srgbClr val="BBD4F3"/>
              </a:gs>
              <a:gs pos="50000">
                <a:srgbClr val="FFFFFF"/>
              </a:gs>
              <a:gs pos="100000">
                <a:srgbClr val="BBD4F3"/>
              </a:gs>
            </a:gsLst>
            <a:lin ang="540000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0"/>
              </a:spcBef>
              <a:buFontTx/>
              <a:buNone/>
            </a:pPr>
            <a:r>
              <a:rPr lang="zh-CN" altLang="en-US" dirty="0">
                <a:latin typeface="微软雅黑" panose="020B0503020204020204" pitchFamily="34" charset="-122"/>
                <a:ea typeface="微软雅黑" panose="020B0503020204020204" pitchFamily="34" charset="-122"/>
              </a:rPr>
              <a:t>活动历时</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成果数量*生产率</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可用资源数量</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92197"/>
                                        </p:tgtEl>
                                        <p:attrNameLst>
                                          <p:attrName>style.visibility</p:attrName>
                                        </p:attrNameLst>
                                      </p:cBhvr>
                                      <p:to>
                                        <p:strVal val="visible"/>
                                      </p:to>
                                    </p:set>
                                    <p:animEffect transition="in" filter="blinds(horizontal)">
                                      <p:cBhvr>
                                        <p:cTn id="7" dur="500"/>
                                        <p:tgtEl>
                                          <p:spTgt spid="39219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92198"/>
                                        </p:tgtEl>
                                        <p:attrNameLst>
                                          <p:attrName>style.visibility</p:attrName>
                                        </p:attrNameLst>
                                      </p:cBhvr>
                                      <p:to>
                                        <p:strVal val="visible"/>
                                      </p:to>
                                    </p:set>
                                    <p:animEffect transition="in" filter="blinds(horizontal)">
                                      <p:cBhvr>
                                        <p:cTn id="12" dur="500"/>
                                        <p:tgtEl>
                                          <p:spTgt spid="39219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92199"/>
                                        </p:tgtEl>
                                        <p:attrNameLst>
                                          <p:attrName>style.visibility</p:attrName>
                                        </p:attrNameLst>
                                      </p:cBhvr>
                                      <p:to>
                                        <p:strVal val="visible"/>
                                      </p:to>
                                    </p:set>
                                    <p:animEffect transition="in" filter="blinds(horizontal)">
                                      <p:cBhvr>
                                        <p:cTn id="17" dur="500"/>
                                        <p:tgtEl>
                                          <p:spTgt spid="39219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92200"/>
                                        </p:tgtEl>
                                        <p:attrNameLst>
                                          <p:attrName>style.visibility</p:attrName>
                                        </p:attrNameLst>
                                      </p:cBhvr>
                                      <p:to>
                                        <p:strVal val="visible"/>
                                      </p:to>
                                    </p:set>
                                    <p:animEffect transition="in" filter="blinds(horizontal)">
                                      <p:cBhvr>
                                        <p:cTn id="22" dur="500"/>
                                        <p:tgtEl>
                                          <p:spTgt spid="39220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xit" presetSubtype="10" fill="hold" grpId="1" nodeType="clickEffect">
                                  <p:stCondLst>
                                    <p:cond delay="0"/>
                                  </p:stCondLst>
                                  <p:childTnLst>
                                    <p:animEffect transition="out" filter="blinds(horizontal)">
                                      <p:cBhvr>
                                        <p:cTn id="26" dur="500"/>
                                        <p:tgtEl>
                                          <p:spTgt spid="392200"/>
                                        </p:tgtEl>
                                      </p:cBhvr>
                                    </p:animEffect>
                                    <p:set>
                                      <p:cBhvr>
                                        <p:cTn id="27" dur="1" fill="hold">
                                          <p:stCondLst>
                                            <p:cond delay="499"/>
                                          </p:stCondLst>
                                        </p:cTn>
                                        <p:tgtEl>
                                          <p:spTgt spid="39220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2197" grpId="0"/>
      <p:bldP spid="392198" grpId="0"/>
      <p:bldP spid="392199" grpId="0"/>
      <p:bldP spid="392200" grpId="0" animBg="1"/>
      <p:bldP spid="392200" grpId="1"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5" name="Rectangle 2">
            <a:extLst>
              <a:ext uri="{FF2B5EF4-FFF2-40B4-BE49-F238E27FC236}">
                <a16:creationId xmlns:a16="http://schemas.microsoft.com/office/drawing/2014/main" id="{A8B597E4-EC1E-44E0-BA4B-93232DC688ED}"/>
              </a:ext>
            </a:extLst>
          </p:cNvPr>
          <p:cNvSpPr>
            <a:spLocks noGrp="1" noChangeArrowheads="1"/>
          </p:cNvSpPr>
          <p:nvPr>
            <p:ph type="title"/>
          </p:nvPr>
        </p:nvSpPr>
        <p:spPr>
          <a:xfrm>
            <a:off x="609600" y="1201479"/>
            <a:ext cx="10972800" cy="437186"/>
          </a:xfrm>
        </p:spPr>
        <p:txBody>
          <a:bodyPr/>
          <a:lstStyle/>
          <a:p>
            <a:pPr eaLnBrk="1" hangingPunct="1"/>
            <a:r>
              <a:rPr lang="zh-CN" altLang="en-US" dirty="0"/>
              <a:t>三点估算法</a:t>
            </a:r>
          </a:p>
        </p:txBody>
      </p:sp>
      <p:pic>
        <p:nvPicPr>
          <p:cNvPr id="228356" name="Picture 3">
            <a:extLst>
              <a:ext uri="{FF2B5EF4-FFF2-40B4-BE49-F238E27FC236}">
                <a16:creationId xmlns:a16="http://schemas.microsoft.com/office/drawing/2014/main" id="{9C6621F1-748E-4FE8-BB20-7706317161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5105" y="2125289"/>
            <a:ext cx="128905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8357" name="Text Box 4">
            <a:extLst>
              <a:ext uri="{FF2B5EF4-FFF2-40B4-BE49-F238E27FC236}">
                <a16:creationId xmlns:a16="http://schemas.microsoft.com/office/drawing/2014/main" id="{97F4B685-B821-40F7-8F4D-3C4B3CEBEB92}"/>
              </a:ext>
            </a:extLst>
          </p:cNvPr>
          <p:cNvSpPr txBox="1">
            <a:spLocks noChangeArrowheads="1"/>
          </p:cNvSpPr>
          <p:nvPr/>
        </p:nvSpPr>
        <p:spPr bwMode="auto">
          <a:xfrm>
            <a:off x="4275221" y="1771346"/>
            <a:ext cx="67818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dirty="0">
                <a:latin typeface="微软雅黑" panose="020B0503020204020204" pitchFamily="34" charset="-122"/>
                <a:ea typeface="微软雅黑" panose="020B0503020204020204" pitchFamily="34" charset="-122"/>
              </a:rPr>
              <a:t>平时回家，如果不堵车，最快</a:t>
            </a:r>
            <a:r>
              <a:rPr lang="en-US" altLang="zh-CN" dirty="0">
                <a:solidFill>
                  <a:srgbClr val="FF3300"/>
                </a:solidFill>
                <a:latin typeface="微软雅黑" panose="020B0503020204020204" pitchFamily="34" charset="-122"/>
                <a:ea typeface="微软雅黑" panose="020B0503020204020204" pitchFamily="34" charset="-122"/>
              </a:rPr>
              <a:t>30</a:t>
            </a:r>
            <a:r>
              <a:rPr lang="zh-CN" altLang="en-US" dirty="0">
                <a:solidFill>
                  <a:srgbClr val="FF3300"/>
                </a:solidFill>
                <a:latin typeface="微软雅黑" panose="020B0503020204020204" pitchFamily="34" charset="-122"/>
                <a:ea typeface="微软雅黑" panose="020B0503020204020204" pitchFamily="34" charset="-122"/>
              </a:rPr>
              <a:t>分钟</a:t>
            </a:r>
            <a:r>
              <a:rPr lang="zh-CN" altLang="en-US" dirty="0">
                <a:latin typeface="微软雅黑" panose="020B0503020204020204" pitchFamily="34" charset="-122"/>
                <a:ea typeface="微软雅黑" panose="020B0503020204020204" pitchFamily="34" charset="-122"/>
              </a:rPr>
              <a:t>；如果堵车，最慢</a:t>
            </a:r>
            <a:r>
              <a:rPr lang="en-US" altLang="zh-CN" dirty="0">
                <a:solidFill>
                  <a:srgbClr val="FF3300"/>
                </a:solidFill>
                <a:latin typeface="微软雅黑" panose="020B0503020204020204" pitchFamily="34" charset="-122"/>
                <a:ea typeface="微软雅黑" panose="020B0503020204020204" pitchFamily="34" charset="-122"/>
              </a:rPr>
              <a:t>2</a:t>
            </a:r>
            <a:r>
              <a:rPr lang="zh-CN" altLang="en-US" dirty="0">
                <a:solidFill>
                  <a:srgbClr val="FF3300"/>
                </a:solidFill>
                <a:latin typeface="微软雅黑" panose="020B0503020204020204" pitchFamily="34" charset="-122"/>
                <a:ea typeface="微软雅黑" panose="020B0503020204020204" pitchFamily="34" charset="-122"/>
              </a:rPr>
              <a:t>小时</a:t>
            </a:r>
            <a:r>
              <a:rPr lang="en-US" altLang="zh-CN" dirty="0">
                <a:solidFill>
                  <a:srgbClr val="FF3300"/>
                </a:solidFill>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大多数情况是</a:t>
            </a:r>
            <a:r>
              <a:rPr lang="en-US" altLang="zh-CN" dirty="0">
                <a:solidFill>
                  <a:srgbClr val="FF3300"/>
                </a:solidFill>
                <a:latin typeface="微软雅黑" panose="020B0503020204020204" pitchFamily="34" charset="-122"/>
                <a:ea typeface="微软雅黑" panose="020B0503020204020204" pitchFamily="34" charset="-122"/>
              </a:rPr>
              <a:t>1</a:t>
            </a:r>
            <a:r>
              <a:rPr lang="zh-CN" altLang="en-US" dirty="0">
                <a:solidFill>
                  <a:srgbClr val="FF3300"/>
                </a:solidFill>
                <a:latin typeface="微软雅黑" panose="020B0503020204020204" pitchFamily="34" charset="-122"/>
                <a:ea typeface="微软雅黑" panose="020B0503020204020204" pitchFamily="34" charset="-122"/>
              </a:rPr>
              <a:t>小时。</a:t>
            </a:r>
            <a:r>
              <a:rPr lang="zh-CN" altLang="en-US" dirty="0">
                <a:latin typeface="微软雅黑" panose="020B0503020204020204" pitchFamily="34" charset="-122"/>
                <a:ea typeface="微软雅黑" panose="020B0503020204020204" pitchFamily="34" charset="-122"/>
              </a:rPr>
              <a:t>请估算回家所需时间</a:t>
            </a:r>
            <a:endParaRPr lang="zh-CN" altLang="en-US" dirty="0">
              <a:solidFill>
                <a:srgbClr val="FF6600"/>
              </a:solidFill>
              <a:latin typeface="微软雅黑" panose="020B0503020204020204" pitchFamily="34" charset="-122"/>
              <a:ea typeface="微软雅黑" panose="020B0503020204020204" pitchFamily="34" charset="-122"/>
            </a:endParaRPr>
          </a:p>
        </p:txBody>
      </p:sp>
      <p:sp>
        <p:nvSpPr>
          <p:cNvPr id="393221" name="Text Box 5">
            <a:extLst>
              <a:ext uri="{FF2B5EF4-FFF2-40B4-BE49-F238E27FC236}">
                <a16:creationId xmlns:a16="http://schemas.microsoft.com/office/drawing/2014/main" id="{9ACF45E6-79E9-48AE-B266-6012C80FBBB6}"/>
              </a:ext>
            </a:extLst>
          </p:cNvPr>
          <p:cNvSpPr txBox="1">
            <a:spLocks noChangeArrowheads="1"/>
          </p:cNvSpPr>
          <p:nvPr/>
        </p:nvSpPr>
        <p:spPr bwMode="auto">
          <a:xfrm>
            <a:off x="4275221" y="3429000"/>
            <a:ext cx="48768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dirty="0">
                <a:latin typeface="微软雅黑" panose="020B0503020204020204" pitchFamily="34" charset="-122"/>
                <a:ea typeface="微软雅黑" panose="020B0503020204020204" pitchFamily="34" charset="-122"/>
              </a:rPr>
              <a:t>回家所需时间</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60*4+30+120)/6=</a:t>
            </a:r>
          </a:p>
          <a:p>
            <a:pPr eaLnBrk="1" hangingPunct="1">
              <a:lnSpc>
                <a:spcPct val="100000"/>
              </a:lnSpc>
              <a:spcBef>
                <a:spcPct val="50000"/>
              </a:spcBef>
              <a:buFontTx/>
              <a:buNone/>
            </a:pPr>
            <a:r>
              <a:rPr lang="en-US" altLang="zh-CN" sz="4000" dirty="0">
                <a:solidFill>
                  <a:srgbClr val="FF3300"/>
                </a:solidFill>
              </a:rPr>
              <a:t>65</a:t>
            </a:r>
            <a:r>
              <a:rPr lang="zh-CN" altLang="en-US" dirty="0"/>
              <a:t>分钟</a:t>
            </a:r>
            <a:endParaRPr lang="zh-CN" altLang="en-US" sz="4000" dirty="0">
              <a:solidFill>
                <a:srgbClr val="FF3300"/>
              </a:solidFill>
            </a:endParaRPr>
          </a:p>
        </p:txBody>
      </p:sp>
      <p:sp>
        <p:nvSpPr>
          <p:cNvPr id="393222" name="AutoShape 6">
            <a:extLst>
              <a:ext uri="{FF2B5EF4-FFF2-40B4-BE49-F238E27FC236}">
                <a16:creationId xmlns:a16="http://schemas.microsoft.com/office/drawing/2014/main" id="{D3DFF501-D45E-44DD-B318-7C5B2930BF36}"/>
              </a:ext>
            </a:extLst>
          </p:cNvPr>
          <p:cNvSpPr>
            <a:spLocks noChangeArrowheads="1"/>
          </p:cNvSpPr>
          <p:nvPr/>
        </p:nvSpPr>
        <p:spPr bwMode="auto">
          <a:xfrm>
            <a:off x="2362200" y="5310142"/>
            <a:ext cx="7467600" cy="529389"/>
          </a:xfrm>
          <a:prstGeom prst="wedgeRectCallout">
            <a:avLst>
              <a:gd name="adj1" fmla="val -18921"/>
              <a:gd name="adj2" fmla="val 45704"/>
            </a:avLst>
          </a:prstGeom>
          <a:gradFill rotWithShape="1">
            <a:gsLst>
              <a:gs pos="0">
                <a:srgbClr val="BBD4F3"/>
              </a:gs>
              <a:gs pos="50000">
                <a:srgbClr val="FFFFFF"/>
              </a:gs>
              <a:gs pos="100000">
                <a:srgbClr val="BBD4F3"/>
              </a:gs>
            </a:gsLst>
            <a:lin ang="540000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0"/>
              </a:spcBef>
              <a:buFontTx/>
              <a:buNone/>
            </a:pPr>
            <a:r>
              <a:rPr lang="zh-CN" altLang="en-US" dirty="0">
                <a:latin typeface="微软雅黑" panose="020B0503020204020204" pitchFamily="34" charset="-122"/>
                <a:ea typeface="微软雅黑" panose="020B0503020204020204" pitchFamily="34" charset="-122"/>
              </a:rPr>
              <a:t>平均估算值</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（最可能持续时间*</a:t>
            </a: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最乐观</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最悲观）</a:t>
            </a:r>
            <a:r>
              <a:rPr lang="en-US" altLang="zh-CN" dirty="0">
                <a:latin typeface="微软雅黑" panose="020B0503020204020204" pitchFamily="34" charset="-122"/>
                <a:ea typeface="微软雅黑" panose="020B0503020204020204" pitchFamily="34" charset="-122"/>
              </a:rPr>
              <a:t>/6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93221"/>
                                        </p:tgtEl>
                                        <p:attrNameLst>
                                          <p:attrName>style.visibility</p:attrName>
                                        </p:attrNameLst>
                                      </p:cBhvr>
                                      <p:to>
                                        <p:strVal val="visible"/>
                                      </p:to>
                                    </p:set>
                                    <p:animEffect transition="in" filter="diamond(in)">
                                      <p:cBhvr>
                                        <p:cTn id="7" dur="2000"/>
                                        <p:tgtEl>
                                          <p:spTgt spid="39322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93222"/>
                                        </p:tgtEl>
                                        <p:attrNameLst>
                                          <p:attrName>style.visibility</p:attrName>
                                        </p:attrNameLst>
                                      </p:cBhvr>
                                      <p:to>
                                        <p:strVal val="visible"/>
                                      </p:to>
                                    </p:set>
                                    <p:animEffect transition="in" filter="blinds(horizontal)">
                                      <p:cBhvr>
                                        <p:cTn id="12" dur="500"/>
                                        <p:tgtEl>
                                          <p:spTgt spid="3932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3221" grpId="0"/>
      <p:bldP spid="39322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9" name="Rectangle 2">
            <a:extLst>
              <a:ext uri="{FF2B5EF4-FFF2-40B4-BE49-F238E27FC236}">
                <a16:creationId xmlns:a16="http://schemas.microsoft.com/office/drawing/2014/main" id="{00083178-D52E-41CF-ABE0-ECB860E13614}"/>
              </a:ext>
            </a:extLst>
          </p:cNvPr>
          <p:cNvSpPr>
            <a:spLocks noGrp="1" noChangeArrowheads="1"/>
          </p:cNvSpPr>
          <p:nvPr>
            <p:ph type="title"/>
          </p:nvPr>
        </p:nvSpPr>
        <p:spPr>
          <a:xfrm>
            <a:off x="609600" y="858434"/>
            <a:ext cx="10972800" cy="437186"/>
          </a:xfrm>
        </p:spPr>
        <p:txBody>
          <a:bodyPr/>
          <a:lstStyle/>
          <a:p>
            <a:pPr eaLnBrk="1" hangingPunct="1"/>
            <a:r>
              <a:rPr lang="zh-CN" altLang="en-US" dirty="0"/>
              <a:t>三点估算法</a:t>
            </a:r>
          </a:p>
        </p:txBody>
      </p:sp>
      <p:sp>
        <p:nvSpPr>
          <p:cNvPr id="229381" name="Text Box 4">
            <a:extLst>
              <a:ext uri="{FF2B5EF4-FFF2-40B4-BE49-F238E27FC236}">
                <a16:creationId xmlns:a16="http://schemas.microsoft.com/office/drawing/2014/main" id="{600C0E94-5B11-4428-AC81-B09C9F7E5FB7}"/>
              </a:ext>
            </a:extLst>
          </p:cNvPr>
          <p:cNvSpPr txBox="1">
            <a:spLocks noChangeArrowheads="1"/>
          </p:cNvSpPr>
          <p:nvPr/>
        </p:nvSpPr>
        <p:spPr bwMode="auto">
          <a:xfrm>
            <a:off x="4419599" y="838201"/>
            <a:ext cx="7070557" cy="115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dirty="0">
                <a:latin typeface="微软雅黑" panose="020B0503020204020204" pitchFamily="34" charset="-122"/>
                <a:ea typeface="微软雅黑" panose="020B0503020204020204" pitchFamily="34" charset="-122"/>
              </a:rPr>
              <a:t>平时回家，如果不堵车，最快</a:t>
            </a:r>
            <a:r>
              <a:rPr lang="en-US" altLang="zh-CN" dirty="0">
                <a:solidFill>
                  <a:srgbClr val="FF3300"/>
                </a:solidFill>
                <a:latin typeface="微软雅黑" panose="020B0503020204020204" pitchFamily="34" charset="-122"/>
                <a:ea typeface="微软雅黑" panose="020B0503020204020204" pitchFamily="34" charset="-122"/>
              </a:rPr>
              <a:t>30</a:t>
            </a:r>
            <a:r>
              <a:rPr lang="zh-CN" altLang="en-US" dirty="0">
                <a:solidFill>
                  <a:srgbClr val="FF3300"/>
                </a:solidFill>
                <a:latin typeface="微软雅黑" panose="020B0503020204020204" pitchFamily="34" charset="-122"/>
                <a:ea typeface="微软雅黑" panose="020B0503020204020204" pitchFamily="34" charset="-122"/>
              </a:rPr>
              <a:t>分钟</a:t>
            </a:r>
            <a:r>
              <a:rPr lang="zh-CN" altLang="en-US" dirty="0">
                <a:latin typeface="微软雅黑" panose="020B0503020204020204" pitchFamily="34" charset="-122"/>
                <a:ea typeface="微软雅黑" panose="020B0503020204020204" pitchFamily="34" charset="-122"/>
              </a:rPr>
              <a:t>；如果堵车，最慢</a:t>
            </a:r>
            <a:r>
              <a:rPr lang="en-US" altLang="zh-CN" dirty="0">
                <a:solidFill>
                  <a:srgbClr val="FF3300"/>
                </a:solidFill>
                <a:latin typeface="微软雅黑" panose="020B0503020204020204" pitchFamily="34" charset="-122"/>
                <a:ea typeface="微软雅黑" panose="020B0503020204020204" pitchFamily="34" charset="-122"/>
              </a:rPr>
              <a:t>2</a:t>
            </a:r>
            <a:r>
              <a:rPr lang="zh-CN" altLang="en-US" dirty="0">
                <a:solidFill>
                  <a:srgbClr val="FF3300"/>
                </a:solidFill>
                <a:latin typeface="微软雅黑" panose="020B0503020204020204" pitchFamily="34" charset="-122"/>
                <a:ea typeface="微软雅黑" panose="020B0503020204020204" pitchFamily="34" charset="-122"/>
              </a:rPr>
              <a:t>小时</a:t>
            </a:r>
            <a:r>
              <a:rPr lang="zh-CN" altLang="en-US" dirty="0">
                <a:latin typeface="微软雅黑" panose="020B0503020204020204" pitchFamily="34" charset="-122"/>
                <a:ea typeface="微软雅黑" panose="020B0503020204020204" pitchFamily="34" charset="-122"/>
              </a:rPr>
              <a:t>。大多数情况是</a:t>
            </a:r>
            <a:r>
              <a:rPr lang="en-US" altLang="zh-CN" dirty="0">
                <a:solidFill>
                  <a:srgbClr val="FF3300"/>
                </a:solidFill>
                <a:latin typeface="微软雅黑" panose="020B0503020204020204" pitchFamily="34" charset="-122"/>
                <a:ea typeface="微软雅黑" panose="020B0503020204020204" pitchFamily="34" charset="-122"/>
              </a:rPr>
              <a:t>1</a:t>
            </a:r>
            <a:r>
              <a:rPr lang="zh-CN" altLang="en-US" dirty="0">
                <a:solidFill>
                  <a:srgbClr val="FF3300"/>
                </a:solidFill>
                <a:latin typeface="微软雅黑" panose="020B0503020204020204" pitchFamily="34" charset="-122"/>
                <a:ea typeface="微软雅黑" panose="020B0503020204020204" pitchFamily="34" charset="-122"/>
              </a:rPr>
              <a:t>小时</a:t>
            </a:r>
            <a:r>
              <a:rPr lang="zh-CN" altLang="en-US" dirty="0">
                <a:latin typeface="微软雅黑" panose="020B0503020204020204" pitchFamily="34" charset="-122"/>
                <a:ea typeface="微软雅黑" panose="020B0503020204020204" pitchFamily="34" charset="-122"/>
              </a:rPr>
              <a:t>，假设回家时间服从正态分布。</a:t>
            </a:r>
          </a:p>
          <a:p>
            <a:pPr eaLnBrk="1" hangingPunct="1">
              <a:lnSpc>
                <a:spcPct val="100000"/>
              </a:lnSpc>
              <a:spcBef>
                <a:spcPct val="50000"/>
              </a:spcBef>
              <a:buFontTx/>
              <a:buNone/>
            </a:pPr>
            <a:r>
              <a:rPr lang="zh-CN" altLang="en-US" dirty="0">
                <a:latin typeface="微软雅黑" panose="020B0503020204020204" pitchFamily="34" charset="-122"/>
                <a:ea typeface="微软雅黑" panose="020B0503020204020204" pitchFamily="34" charset="-122"/>
              </a:rPr>
              <a:t>请估算</a:t>
            </a:r>
            <a:r>
              <a:rPr lang="en-US" altLang="zh-CN" dirty="0">
                <a:latin typeface="微软雅黑" panose="020B0503020204020204" pitchFamily="34" charset="-122"/>
                <a:ea typeface="微软雅黑" panose="020B0503020204020204" pitchFamily="34" charset="-122"/>
              </a:rPr>
              <a:t>80</a:t>
            </a:r>
            <a:r>
              <a:rPr lang="zh-CN" altLang="en-US" dirty="0">
                <a:latin typeface="微软雅黑" panose="020B0503020204020204" pitchFamily="34" charset="-122"/>
                <a:ea typeface="微软雅黑" panose="020B0503020204020204" pitchFamily="34" charset="-122"/>
              </a:rPr>
              <a:t>分钟内回家的概率是？ </a:t>
            </a:r>
            <a:endParaRPr lang="zh-CN" altLang="en-US" dirty="0">
              <a:solidFill>
                <a:srgbClr val="FF6600"/>
              </a:solidFill>
              <a:latin typeface="微软雅黑" panose="020B0503020204020204" pitchFamily="34" charset="-122"/>
              <a:ea typeface="微软雅黑" panose="020B0503020204020204" pitchFamily="34" charset="-122"/>
            </a:endParaRPr>
          </a:p>
        </p:txBody>
      </p:sp>
      <p:sp>
        <p:nvSpPr>
          <p:cNvPr id="394245" name="Text Box 5">
            <a:extLst>
              <a:ext uri="{FF2B5EF4-FFF2-40B4-BE49-F238E27FC236}">
                <a16:creationId xmlns:a16="http://schemas.microsoft.com/office/drawing/2014/main" id="{0EB36FD8-F893-4431-BC52-877A8E4E6F6A}"/>
              </a:ext>
            </a:extLst>
          </p:cNvPr>
          <p:cNvSpPr txBox="1">
            <a:spLocks noChangeArrowheads="1"/>
          </p:cNvSpPr>
          <p:nvPr/>
        </p:nvSpPr>
        <p:spPr bwMode="auto">
          <a:xfrm>
            <a:off x="782057" y="2252404"/>
            <a:ext cx="5161543"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、计算平均值：回家所需时间</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60*4+30+120)/6=</a:t>
            </a:r>
            <a:r>
              <a:rPr lang="en-US" altLang="zh-CN" sz="4000" dirty="0">
                <a:solidFill>
                  <a:srgbClr val="FF3300"/>
                </a:solidFill>
                <a:latin typeface="微软雅黑" panose="020B0503020204020204" pitchFamily="34" charset="-122"/>
                <a:ea typeface="微软雅黑" panose="020B0503020204020204" pitchFamily="34" charset="-122"/>
              </a:rPr>
              <a:t>65</a:t>
            </a:r>
            <a:r>
              <a:rPr lang="zh-CN" altLang="en-US" dirty="0">
                <a:latin typeface="微软雅黑" panose="020B0503020204020204" pitchFamily="34" charset="-122"/>
                <a:ea typeface="微软雅黑" panose="020B0503020204020204" pitchFamily="34" charset="-122"/>
              </a:rPr>
              <a:t>分钟</a:t>
            </a:r>
          </a:p>
          <a:p>
            <a:pPr eaLnBrk="1" hangingPunct="1">
              <a:lnSpc>
                <a:spcPct val="100000"/>
              </a:lnSpc>
              <a:spcBef>
                <a:spcPct val="50000"/>
              </a:spcBef>
              <a:buFontTx/>
              <a:buNone/>
            </a:pP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、估算标准差：</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120-30</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/6=</a:t>
            </a:r>
            <a:r>
              <a:rPr lang="en-US" altLang="zh-CN" dirty="0">
                <a:solidFill>
                  <a:srgbClr val="FF0000"/>
                </a:solidFill>
                <a:latin typeface="微软雅黑" panose="020B0503020204020204" pitchFamily="34" charset="-122"/>
                <a:ea typeface="微软雅黑" panose="020B0503020204020204" pitchFamily="34" charset="-122"/>
              </a:rPr>
              <a:t>15</a:t>
            </a:r>
            <a:r>
              <a:rPr lang="zh-CN" altLang="en-US" dirty="0">
                <a:latin typeface="微软雅黑" panose="020B0503020204020204" pitchFamily="34" charset="-122"/>
                <a:ea typeface="微软雅黑" panose="020B0503020204020204" pitchFamily="34" charset="-122"/>
              </a:rPr>
              <a:t>分钟</a:t>
            </a:r>
          </a:p>
          <a:p>
            <a:pPr eaLnBrk="1" hangingPunct="1">
              <a:lnSpc>
                <a:spcPct val="100000"/>
              </a:lnSpc>
              <a:spcBef>
                <a:spcPct val="50000"/>
              </a:spcBef>
              <a:buFontTx/>
              <a:buNone/>
            </a:pP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、绘制正态分布图</a:t>
            </a:r>
            <a:endParaRPr lang="zh-CN" altLang="en-US" sz="4000" dirty="0">
              <a:solidFill>
                <a:srgbClr val="FF3300"/>
              </a:solidFill>
              <a:latin typeface="微软雅黑" panose="020B0503020204020204" pitchFamily="34" charset="-122"/>
              <a:ea typeface="微软雅黑" panose="020B0503020204020204" pitchFamily="34" charset="-122"/>
            </a:endParaRPr>
          </a:p>
        </p:txBody>
      </p:sp>
      <p:sp>
        <p:nvSpPr>
          <p:cNvPr id="394246" name="AutoShape 6">
            <a:extLst>
              <a:ext uri="{FF2B5EF4-FFF2-40B4-BE49-F238E27FC236}">
                <a16:creationId xmlns:a16="http://schemas.microsoft.com/office/drawing/2014/main" id="{DC221283-06D9-4F03-9FA1-DFC42EF83C17}"/>
              </a:ext>
            </a:extLst>
          </p:cNvPr>
          <p:cNvSpPr>
            <a:spLocks noChangeArrowheads="1"/>
          </p:cNvSpPr>
          <p:nvPr/>
        </p:nvSpPr>
        <p:spPr bwMode="auto">
          <a:xfrm>
            <a:off x="529389" y="4668994"/>
            <a:ext cx="6208549" cy="854461"/>
          </a:xfrm>
          <a:prstGeom prst="wedgeRectCallout">
            <a:avLst>
              <a:gd name="adj1" fmla="val -19940"/>
              <a:gd name="adj2" fmla="val -16796"/>
            </a:avLst>
          </a:prstGeom>
          <a:gradFill rotWithShape="1">
            <a:gsLst>
              <a:gs pos="0">
                <a:srgbClr val="BBD4F3"/>
              </a:gs>
              <a:gs pos="50000">
                <a:srgbClr val="FFFFFF"/>
              </a:gs>
              <a:gs pos="100000">
                <a:srgbClr val="BBD4F3"/>
              </a:gs>
            </a:gsLst>
            <a:lin ang="540000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0"/>
              </a:spcBef>
              <a:buFontTx/>
              <a:buNone/>
            </a:pPr>
            <a:r>
              <a:rPr lang="zh-CN" altLang="en-US" sz="1800" dirty="0">
                <a:latin typeface="微软雅黑" panose="020B0503020204020204" pitchFamily="34" charset="-122"/>
                <a:ea typeface="微软雅黑" panose="020B0503020204020204" pitchFamily="34" charset="-122"/>
              </a:rPr>
              <a:t>平均估算值</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（最可能持续时间*</a:t>
            </a:r>
            <a:r>
              <a:rPr lang="en-US" altLang="zh-CN" sz="1800" dirty="0">
                <a:latin typeface="微软雅黑" panose="020B0503020204020204" pitchFamily="34" charset="-122"/>
                <a:ea typeface="微软雅黑" panose="020B0503020204020204" pitchFamily="34" charset="-122"/>
              </a:rPr>
              <a:t>4+</a:t>
            </a:r>
            <a:r>
              <a:rPr lang="zh-CN" altLang="en-US" sz="1800" dirty="0">
                <a:latin typeface="微软雅黑" panose="020B0503020204020204" pitchFamily="34" charset="-122"/>
                <a:ea typeface="微软雅黑" panose="020B0503020204020204" pitchFamily="34" charset="-122"/>
              </a:rPr>
              <a:t>最乐观</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最悲观）</a:t>
            </a:r>
            <a:r>
              <a:rPr lang="en-US" altLang="zh-CN" sz="1800" dirty="0">
                <a:latin typeface="微软雅黑" panose="020B0503020204020204" pitchFamily="34" charset="-122"/>
                <a:ea typeface="微软雅黑" panose="020B0503020204020204" pitchFamily="34" charset="-122"/>
              </a:rPr>
              <a:t>/6</a:t>
            </a:r>
          </a:p>
          <a:p>
            <a:pPr eaLnBrk="1" hangingPunct="1">
              <a:lnSpc>
                <a:spcPct val="100000"/>
              </a:lnSpc>
              <a:spcBef>
                <a:spcPct val="0"/>
              </a:spcBef>
              <a:buFontTx/>
              <a:buNone/>
            </a:pPr>
            <a:r>
              <a:rPr lang="zh-CN" altLang="en-US" sz="1800" dirty="0">
                <a:latin typeface="微软雅黑" panose="020B0503020204020204" pitchFamily="34" charset="-122"/>
                <a:ea typeface="微软雅黑" panose="020B0503020204020204" pitchFamily="34" charset="-122"/>
              </a:rPr>
              <a:t>标准差</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（最悲观</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最乐观）</a:t>
            </a:r>
            <a:r>
              <a:rPr lang="en-US" altLang="zh-CN" sz="1800" dirty="0">
                <a:latin typeface="微软雅黑" panose="020B0503020204020204" pitchFamily="34" charset="-122"/>
                <a:ea typeface="微软雅黑" panose="020B0503020204020204" pitchFamily="34" charset="-122"/>
              </a:rPr>
              <a:t>/6</a:t>
            </a:r>
          </a:p>
        </p:txBody>
      </p:sp>
      <p:grpSp>
        <p:nvGrpSpPr>
          <p:cNvPr id="2" name="组合 1">
            <a:extLst>
              <a:ext uri="{FF2B5EF4-FFF2-40B4-BE49-F238E27FC236}">
                <a16:creationId xmlns:a16="http://schemas.microsoft.com/office/drawing/2014/main" id="{8C0D6408-E140-455D-8163-F3F2886E57B4}"/>
              </a:ext>
            </a:extLst>
          </p:cNvPr>
          <p:cNvGrpSpPr/>
          <p:nvPr/>
        </p:nvGrpSpPr>
        <p:grpSpPr>
          <a:xfrm>
            <a:off x="5507804" y="2178424"/>
            <a:ext cx="6154807" cy="3240504"/>
            <a:chOff x="914400" y="495300"/>
            <a:chExt cx="8001000" cy="4440238"/>
          </a:xfrm>
        </p:grpSpPr>
        <p:sp>
          <p:nvSpPr>
            <p:cNvPr id="9" name="Text Box 3">
              <a:extLst>
                <a:ext uri="{FF2B5EF4-FFF2-40B4-BE49-F238E27FC236}">
                  <a16:creationId xmlns:a16="http://schemas.microsoft.com/office/drawing/2014/main" id="{022173AB-7394-4B5A-A4F8-E6EED2465CC8}"/>
                </a:ext>
              </a:extLst>
            </p:cNvPr>
            <p:cNvSpPr txBox="1">
              <a:spLocks noChangeArrowheads="1"/>
            </p:cNvSpPr>
            <p:nvPr/>
          </p:nvSpPr>
          <p:spPr bwMode="auto">
            <a:xfrm>
              <a:off x="4619625" y="4419600"/>
              <a:ext cx="1383093"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kumimoji="1" lang="en-US" altLang="zh-CN" sz="1800" b="0" dirty="0">
                  <a:solidFill>
                    <a:srgbClr val="161BE8"/>
                  </a:solidFill>
                  <a:latin typeface="Times New Roman" panose="02020603050405020304" pitchFamily="18" charset="0"/>
                  <a:ea typeface="宋体" panose="02010600030101010101" pitchFamily="2" charset="-122"/>
                  <a:cs typeface="Arial" panose="020B0604020202020204" pitchFamily="34" charset="0"/>
                </a:rPr>
                <a:t>99.73%</a:t>
              </a:r>
            </a:p>
          </p:txBody>
        </p:sp>
        <p:sp>
          <p:nvSpPr>
            <p:cNvPr id="10" name="Freeform 4">
              <a:extLst>
                <a:ext uri="{FF2B5EF4-FFF2-40B4-BE49-F238E27FC236}">
                  <a16:creationId xmlns:a16="http://schemas.microsoft.com/office/drawing/2014/main" id="{2899A3A2-8854-46C7-A860-3F595F91AE65}"/>
                </a:ext>
              </a:extLst>
            </p:cNvPr>
            <p:cNvSpPr>
              <a:spLocks/>
            </p:cNvSpPr>
            <p:nvPr/>
          </p:nvSpPr>
          <p:spPr bwMode="auto">
            <a:xfrm>
              <a:off x="2112963" y="762000"/>
              <a:ext cx="5616575" cy="2863850"/>
            </a:xfrm>
            <a:custGeom>
              <a:avLst/>
              <a:gdLst>
                <a:gd name="T0" fmla="*/ 0 w 5560"/>
                <a:gd name="T1" fmla="*/ 2147483646 h 2710"/>
                <a:gd name="T2" fmla="*/ 775544959 w 5560"/>
                <a:gd name="T3" fmla="*/ 2147483646 h 2710"/>
                <a:gd name="T4" fmla="*/ 1510272773 w 5560"/>
                <a:gd name="T5" fmla="*/ 2147483646 h 2710"/>
                <a:gd name="T6" fmla="*/ 2147483646 w 5560"/>
                <a:gd name="T7" fmla="*/ 1574638783 h 2710"/>
                <a:gd name="T8" fmla="*/ 2147483646 w 5560"/>
                <a:gd name="T9" fmla="*/ 122844370 h 2710"/>
                <a:gd name="T10" fmla="*/ 2147483646 w 5560"/>
                <a:gd name="T11" fmla="*/ 837573618 h 2710"/>
                <a:gd name="T12" fmla="*/ 2147483646 w 5560"/>
                <a:gd name="T13" fmla="*/ 1574638783 h 2710"/>
                <a:gd name="T14" fmla="*/ 2147483646 w 5560"/>
                <a:gd name="T15" fmla="*/ 2147483646 h 2710"/>
                <a:gd name="T16" fmla="*/ 2147483646 w 5560"/>
                <a:gd name="T17" fmla="*/ 2147483646 h 2710"/>
                <a:gd name="T18" fmla="*/ 2147483646 w 5560"/>
                <a:gd name="T19" fmla="*/ 2147483646 h 27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560" h="2710">
                  <a:moveTo>
                    <a:pt x="0" y="2710"/>
                  </a:moveTo>
                  <a:cubicBezTo>
                    <a:pt x="256" y="2698"/>
                    <a:pt x="513" y="2687"/>
                    <a:pt x="760" y="2630"/>
                  </a:cubicBezTo>
                  <a:cubicBezTo>
                    <a:pt x="1007" y="2573"/>
                    <a:pt x="1240" y="2573"/>
                    <a:pt x="1480" y="2370"/>
                  </a:cubicBezTo>
                  <a:cubicBezTo>
                    <a:pt x="1720" y="2167"/>
                    <a:pt x="1967" y="1787"/>
                    <a:pt x="2200" y="1410"/>
                  </a:cubicBezTo>
                  <a:cubicBezTo>
                    <a:pt x="2433" y="1033"/>
                    <a:pt x="2693" y="220"/>
                    <a:pt x="2880" y="110"/>
                  </a:cubicBezTo>
                  <a:cubicBezTo>
                    <a:pt x="3067" y="0"/>
                    <a:pt x="3200" y="533"/>
                    <a:pt x="3320" y="750"/>
                  </a:cubicBezTo>
                  <a:cubicBezTo>
                    <a:pt x="3440" y="967"/>
                    <a:pt x="3447" y="1140"/>
                    <a:pt x="3600" y="1410"/>
                  </a:cubicBezTo>
                  <a:cubicBezTo>
                    <a:pt x="3753" y="1680"/>
                    <a:pt x="4033" y="2163"/>
                    <a:pt x="4240" y="2370"/>
                  </a:cubicBezTo>
                  <a:cubicBezTo>
                    <a:pt x="4447" y="2577"/>
                    <a:pt x="4620" y="2593"/>
                    <a:pt x="4840" y="2650"/>
                  </a:cubicBezTo>
                  <a:cubicBezTo>
                    <a:pt x="5060" y="2707"/>
                    <a:pt x="5310" y="2708"/>
                    <a:pt x="5560" y="2710"/>
                  </a:cubicBezTo>
                </a:path>
              </a:pathLst>
            </a:custGeom>
            <a:solidFill>
              <a:srgbClr val="00CCFF"/>
            </a:solidFill>
            <a:ln w="25400">
              <a:solidFill>
                <a:srgbClr val="161BE8"/>
              </a:solidFill>
              <a:round/>
              <a:headEnd/>
              <a:tailEnd/>
            </a:ln>
          </p:spPr>
          <p:txBody>
            <a:bodyPr/>
            <a:lstStyle/>
            <a:p>
              <a:endParaRPr lang="zh-CN" altLang="en-US"/>
            </a:p>
          </p:txBody>
        </p:sp>
        <p:sp>
          <p:nvSpPr>
            <p:cNvPr id="11" name="Line 5">
              <a:extLst>
                <a:ext uri="{FF2B5EF4-FFF2-40B4-BE49-F238E27FC236}">
                  <a16:creationId xmlns:a16="http://schemas.microsoft.com/office/drawing/2014/main" id="{5BAB2E18-2E48-4E2B-9EF3-2BFF83AC3702}"/>
                </a:ext>
              </a:extLst>
            </p:cNvPr>
            <p:cNvSpPr>
              <a:spLocks noChangeShapeType="1"/>
            </p:cNvSpPr>
            <p:nvPr/>
          </p:nvSpPr>
          <p:spPr bwMode="auto">
            <a:xfrm>
              <a:off x="1282700" y="3657600"/>
              <a:ext cx="7099300" cy="0"/>
            </a:xfrm>
            <a:prstGeom prst="line">
              <a:avLst/>
            </a:prstGeom>
            <a:noFill/>
            <a:ln w="38100" cap="rnd">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 name="Line 6">
              <a:extLst>
                <a:ext uri="{FF2B5EF4-FFF2-40B4-BE49-F238E27FC236}">
                  <a16:creationId xmlns:a16="http://schemas.microsoft.com/office/drawing/2014/main" id="{A13CAC17-933D-4F33-BFD1-F15D48AB9C4D}"/>
                </a:ext>
              </a:extLst>
            </p:cNvPr>
            <p:cNvSpPr>
              <a:spLocks noChangeShapeType="1"/>
            </p:cNvSpPr>
            <p:nvPr/>
          </p:nvSpPr>
          <p:spPr bwMode="auto">
            <a:xfrm flipV="1">
              <a:off x="1295400" y="533400"/>
              <a:ext cx="0" cy="3074988"/>
            </a:xfrm>
            <a:prstGeom prst="line">
              <a:avLst/>
            </a:prstGeom>
            <a:noFill/>
            <a:ln w="38100" cap="rnd">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 name="Line 7">
              <a:extLst>
                <a:ext uri="{FF2B5EF4-FFF2-40B4-BE49-F238E27FC236}">
                  <a16:creationId xmlns:a16="http://schemas.microsoft.com/office/drawing/2014/main" id="{BB7DCF65-FDEC-4740-A689-400E6B06AD8A}"/>
                </a:ext>
              </a:extLst>
            </p:cNvPr>
            <p:cNvSpPr>
              <a:spLocks noChangeShapeType="1"/>
            </p:cNvSpPr>
            <p:nvPr/>
          </p:nvSpPr>
          <p:spPr bwMode="auto">
            <a:xfrm flipV="1">
              <a:off x="5800725" y="2320925"/>
              <a:ext cx="0" cy="110807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Line 8">
              <a:extLst>
                <a:ext uri="{FF2B5EF4-FFF2-40B4-BE49-F238E27FC236}">
                  <a16:creationId xmlns:a16="http://schemas.microsoft.com/office/drawing/2014/main" id="{2E9C5A6C-E731-4EEF-A785-D394D8AF3AD1}"/>
                </a:ext>
              </a:extLst>
            </p:cNvPr>
            <p:cNvSpPr>
              <a:spLocks noChangeShapeType="1"/>
            </p:cNvSpPr>
            <p:nvPr/>
          </p:nvSpPr>
          <p:spPr bwMode="auto">
            <a:xfrm>
              <a:off x="4256088" y="2320925"/>
              <a:ext cx="11112" cy="171767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Text Box 9">
              <a:extLst>
                <a:ext uri="{FF2B5EF4-FFF2-40B4-BE49-F238E27FC236}">
                  <a16:creationId xmlns:a16="http://schemas.microsoft.com/office/drawing/2014/main" id="{19F3CB04-ED38-4FFB-924A-519DF41B99CF}"/>
                </a:ext>
              </a:extLst>
            </p:cNvPr>
            <p:cNvSpPr txBox="1">
              <a:spLocks noChangeArrowheads="1"/>
            </p:cNvSpPr>
            <p:nvPr/>
          </p:nvSpPr>
          <p:spPr bwMode="auto">
            <a:xfrm>
              <a:off x="4760913" y="3278188"/>
              <a:ext cx="914400"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00000"/>
                </a:lnSpc>
                <a:spcBef>
                  <a:spcPct val="0"/>
                </a:spcBef>
                <a:buFontTx/>
                <a:buNone/>
              </a:pPr>
              <a:r>
                <a:rPr kumimoji="1" lang="en-US" altLang="zh-CN" sz="1000" b="0">
                  <a:latin typeface="Times New Roman" panose="02020603050405020304" pitchFamily="18" charset="0"/>
                  <a:ea typeface="宋体" panose="02010600030101010101" pitchFamily="2" charset="-122"/>
                  <a:cs typeface="Arial" panose="020B0604020202020204" pitchFamily="34" charset="0"/>
                </a:rPr>
                <a:t>Te</a:t>
              </a:r>
            </a:p>
          </p:txBody>
        </p:sp>
        <p:sp>
          <p:nvSpPr>
            <p:cNvPr id="16" name="Line 10">
              <a:extLst>
                <a:ext uri="{FF2B5EF4-FFF2-40B4-BE49-F238E27FC236}">
                  <a16:creationId xmlns:a16="http://schemas.microsoft.com/office/drawing/2014/main" id="{B52CF13E-9EEF-4BB6-9B65-79614A516DBB}"/>
                </a:ext>
              </a:extLst>
            </p:cNvPr>
            <p:cNvSpPr>
              <a:spLocks noChangeShapeType="1"/>
            </p:cNvSpPr>
            <p:nvPr/>
          </p:nvSpPr>
          <p:spPr bwMode="auto">
            <a:xfrm>
              <a:off x="5800725" y="2514600"/>
              <a:ext cx="0" cy="1508125"/>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Line 11">
              <a:extLst>
                <a:ext uri="{FF2B5EF4-FFF2-40B4-BE49-F238E27FC236}">
                  <a16:creationId xmlns:a16="http://schemas.microsoft.com/office/drawing/2014/main" id="{90943699-3388-4732-B954-08E0DC544324}"/>
                </a:ext>
              </a:extLst>
            </p:cNvPr>
            <p:cNvSpPr>
              <a:spLocks noChangeShapeType="1"/>
            </p:cNvSpPr>
            <p:nvPr/>
          </p:nvSpPr>
          <p:spPr bwMode="auto">
            <a:xfrm>
              <a:off x="3581400" y="3276600"/>
              <a:ext cx="0" cy="99060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Line 12">
              <a:extLst>
                <a:ext uri="{FF2B5EF4-FFF2-40B4-BE49-F238E27FC236}">
                  <a16:creationId xmlns:a16="http://schemas.microsoft.com/office/drawing/2014/main" id="{1F92ACFD-E1B7-4664-B41F-7A8044CE1D49}"/>
                </a:ext>
              </a:extLst>
            </p:cNvPr>
            <p:cNvSpPr>
              <a:spLocks noChangeShapeType="1"/>
            </p:cNvSpPr>
            <p:nvPr/>
          </p:nvSpPr>
          <p:spPr bwMode="auto">
            <a:xfrm flipH="1">
              <a:off x="6553200" y="3352800"/>
              <a:ext cx="17463" cy="91440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13">
              <a:extLst>
                <a:ext uri="{FF2B5EF4-FFF2-40B4-BE49-F238E27FC236}">
                  <a16:creationId xmlns:a16="http://schemas.microsoft.com/office/drawing/2014/main" id="{9332506E-93FC-4A08-8A5F-84080B9EA208}"/>
                </a:ext>
              </a:extLst>
            </p:cNvPr>
            <p:cNvSpPr>
              <a:spLocks noChangeShapeType="1"/>
            </p:cNvSpPr>
            <p:nvPr/>
          </p:nvSpPr>
          <p:spPr bwMode="auto">
            <a:xfrm>
              <a:off x="7315200" y="3657600"/>
              <a:ext cx="0" cy="91440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Text Box 14">
              <a:extLst>
                <a:ext uri="{FF2B5EF4-FFF2-40B4-BE49-F238E27FC236}">
                  <a16:creationId xmlns:a16="http://schemas.microsoft.com/office/drawing/2014/main" id="{90927958-CDE7-4435-A4EC-A20344259924}"/>
                </a:ext>
              </a:extLst>
            </p:cNvPr>
            <p:cNvSpPr txBox="1">
              <a:spLocks noChangeArrowheads="1"/>
            </p:cNvSpPr>
            <p:nvPr/>
          </p:nvSpPr>
          <p:spPr bwMode="auto">
            <a:xfrm>
              <a:off x="4602163" y="3769729"/>
              <a:ext cx="107315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kumimoji="1" lang="en-US" altLang="zh-CN" sz="1600" b="0" dirty="0">
                  <a:solidFill>
                    <a:srgbClr val="161BE8"/>
                  </a:solidFill>
                  <a:latin typeface="Times New Roman" panose="02020603050405020304" pitchFamily="18" charset="0"/>
                  <a:ea typeface="宋体" panose="02010600030101010101" pitchFamily="2" charset="-122"/>
                  <a:cs typeface="Arial" panose="020B0604020202020204" pitchFamily="34" charset="0"/>
                </a:rPr>
                <a:t>68%</a:t>
              </a:r>
            </a:p>
          </p:txBody>
        </p:sp>
        <p:sp>
          <p:nvSpPr>
            <p:cNvPr id="21" name="Text Box 15">
              <a:extLst>
                <a:ext uri="{FF2B5EF4-FFF2-40B4-BE49-F238E27FC236}">
                  <a16:creationId xmlns:a16="http://schemas.microsoft.com/office/drawing/2014/main" id="{28CADE07-9BC3-4BB9-B626-EF7E8A60D16F}"/>
                </a:ext>
              </a:extLst>
            </p:cNvPr>
            <p:cNvSpPr txBox="1">
              <a:spLocks noChangeArrowheads="1"/>
            </p:cNvSpPr>
            <p:nvPr/>
          </p:nvSpPr>
          <p:spPr bwMode="auto">
            <a:xfrm>
              <a:off x="4602161" y="4113213"/>
              <a:ext cx="911223" cy="303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kumimoji="1" lang="en-US" altLang="zh-CN" sz="1600" b="0" dirty="0">
                  <a:solidFill>
                    <a:srgbClr val="161BE8"/>
                  </a:solidFill>
                  <a:latin typeface="Times New Roman" panose="02020603050405020304" pitchFamily="18" charset="0"/>
                  <a:ea typeface="宋体" panose="02010600030101010101" pitchFamily="2" charset="-122"/>
                  <a:cs typeface="Arial" panose="020B0604020202020204" pitchFamily="34" charset="0"/>
                </a:rPr>
                <a:t>95</a:t>
              </a:r>
              <a:r>
                <a:rPr kumimoji="1" lang="en-US" altLang="zh-CN" sz="1800" b="0" dirty="0">
                  <a:solidFill>
                    <a:srgbClr val="161BE8"/>
                  </a:solidFill>
                  <a:latin typeface="Times New Roman" panose="02020603050405020304" pitchFamily="18" charset="0"/>
                  <a:ea typeface="宋体" panose="02010600030101010101" pitchFamily="2" charset="-122"/>
                  <a:cs typeface="Arial" panose="020B0604020202020204" pitchFamily="34" charset="0"/>
                </a:rPr>
                <a:t>%</a:t>
              </a:r>
            </a:p>
          </p:txBody>
        </p:sp>
        <p:sp>
          <p:nvSpPr>
            <p:cNvPr id="22" name="Line 16">
              <a:extLst>
                <a:ext uri="{FF2B5EF4-FFF2-40B4-BE49-F238E27FC236}">
                  <a16:creationId xmlns:a16="http://schemas.microsoft.com/office/drawing/2014/main" id="{F1D9D99B-DE93-4507-81F2-1C4F4C7E7C6F}"/>
                </a:ext>
              </a:extLst>
            </p:cNvPr>
            <p:cNvSpPr>
              <a:spLocks noChangeShapeType="1"/>
            </p:cNvSpPr>
            <p:nvPr/>
          </p:nvSpPr>
          <p:spPr bwMode="auto">
            <a:xfrm>
              <a:off x="5210175" y="4038600"/>
              <a:ext cx="5905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Line 17">
              <a:extLst>
                <a:ext uri="{FF2B5EF4-FFF2-40B4-BE49-F238E27FC236}">
                  <a16:creationId xmlns:a16="http://schemas.microsoft.com/office/drawing/2014/main" id="{F0BE7238-7F5E-4D75-B91C-FB66D4C0F413}"/>
                </a:ext>
              </a:extLst>
            </p:cNvPr>
            <p:cNvSpPr>
              <a:spLocks noChangeShapeType="1"/>
            </p:cNvSpPr>
            <p:nvPr/>
          </p:nvSpPr>
          <p:spPr bwMode="auto">
            <a:xfrm>
              <a:off x="5210175" y="4273550"/>
              <a:ext cx="136048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 name="Line 18">
              <a:extLst>
                <a:ext uri="{FF2B5EF4-FFF2-40B4-BE49-F238E27FC236}">
                  <a16:creationId xmlns:a16="http://schemas.microsoft.com/office/drawing/2014/main" id="{D6E11BEF-F3FE-4187-A3C9-B1FED9ECD752}"/>
                </a:ext>
              </a:extLst>
            </p:cNvPr>
            <p:cNvSpPr>
              <a:spLocks noChangeShapeType="1"/>
            </p:cNvSpPr>
            <p:nvPr/>
          </p:nvSpPr>
          <p:spPr bwMode="auto">
            <a:xfrm>
              <a:off x="5715000" y="4572000"/>
              <a:ext cx="160813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 name="Line 19">
              <a:extLst>
                <a:ext uri="{FF2B5EF4-FFF2-40B4-BE49-F238E27FC236}">
                  <a16:creationId xmlns:a16="http://schemas.microsoft.com/office/drawing/2014/main" id="{A4AADB60-8568-46A5-82EF-BFB61A78B519}"/>
                </a:ext>
              </a:extLst>
            </p:cNvPr>
            <p:cNvSpPr>
              <a:spLocks noChangeShapeType="1"/>
            </p:cNvSpPr>
            <p:nvPr/>
          </p:nvSpPr>
          <p:spPr bwMode="auto">
            <a:xfrm flipH="1">
              <a:off x="4256088" y="4038600"/>
              <a:ext cx="5048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 name="Line 20">
              <a:extLst>
                <a:ext uri="{FF2B5EF4-FFF2-40B4-BE49-F238E27FC236}">
                  <a16:creationId xmlns:a16="http://schemas.microsoft.com/office/drawing/2014/main" id="{4DD25E00-07F0-4091-85D7-878D88F0EBF1}"/>
                </a:ext>
              </a:extLst>
            </p:cNvPr>
            <p:cNvSpPr>
              <a:spLocks noChangeShapeType="1"/>
            </p:cNvSpPr>
            <p:nvPr/>
          </p:nvSpPr>
          <p:spPr bwMode="auto">
            <a:xfrm flipH="1" flipV="1">
              <a:off x="3581400" y="4267200"/>
              <a:ext cx="1179513" cy="63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 name="Line 21">
              <a:extLst>
                <a:ext uri="{FF2B5EF4-FFF2-40B4-BE49-F238E27FC236}">
                  <a16:creationId xmlns:a16="http://schemas.microsoft.com/office/drawing/2014/main" id="{041AF834-E713-4DDF-ABCA-D66CA80CE22C}"/>
                </a:ext>
              </a:extLst>
            </p:cNvPr>
            <p:cNvSpPr>
              <a:spLocks noChangeShapeType="1"/>
            </p:cNvSpPr>
            <p:nvPr/>
          </p:nvSpPr>
          <p:spPr bwMode="auto">
            <a:xfrm flipH="1">
              <a:off x="2711450" y="4572000"/>
              <a:ext cx="19367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 name="Text Box 22">
              <a:extLst>
                <a:ext uri="{FF2B5EF4-FFF2-40B4-BE49-F238E27FC236}">
                  <a16:creationId xmlns:a16="http://schemas.microsoft.com/office/drawing/2014/main" id="{4A86A2FC-3BBF-433F-B15C-33EB8BF1EA92}"/>
                </a:ext>
              </a:extLst>
            </p:cNvPr>
            <p:cNvSpPr txBox="1">
              <a:spLocks noChangeArrowheads="1"/>
            </p:cNvSpPr>
            <p:nvPr/>
          </p:nvSpPr>
          <p:spPr bwMode="auto">
            <a:xfrm>
              <a:off x="914400" y="495300"/>
              <a:ext cx="893763" cy="820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vert="eaVert"/>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00000"/>
                </a:lnSpc>
                <a:spcBef>
                  <a:spcPct val="0"/>
                </a:spcBef>
                <a:buFontTx/>
                <a:buNone/>
              </a:pPr>
              <a:endParaRPr kumimoji="1" lang="zh-CN" altLang="zh-CN" sz="1400" b="0">
                <a:latin typeface="Times New Roman" panose="02020603050405020304" pitchFamily="18" charset="0"/>
                <a:ea typeface="宋体" panose="02010600030101010101" pitchFamily="2" charset="-122"/>
                <a:cs typeface="Arial" panose="020B0604020202020204" pitchFamily="34" charset="0"/>
              </a:endParaRPr>
            </a:p>
          </p:txBody>
        </p:sp>
        <p:sp>
          <p:nvSpPr>
            <p:cNvPr id="29" name="Line 23">
              <a:extLst>
                <a:ext uri="{FF2B5EF4-FFF2-40B4-BE49-F238E27FC236}">
                  <a16:creationId xmlns:a16="http://schemas.microsoft.com/office/drawing/2014/main" id="{7DE906A6-01C2-456C-A05F-087F814C05C7}"/>
                </a:ext>
              </a:extLst>
            </p:cNvPr>
            <p:cNvSpPr>
              <a:spLocks noChangeShapeType="1"/>
            </p:cNvSpPr>
            <p:nvPr/>
          </p:nvSpPr>
          <p:spPr bwMode="auto">
            <a:xfrm>
              <a:off x="5062538" y="609600"/>
              <a:ext cx="0" cy="29797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0" name="Line 24">
              <a:extLst>
                <a:ext uri="{FF2B5EF4-FFF2-40B4-BE49-F238E27FC236}">
                  <a16:creationId xmlns:a16="http://schemas.microsoft.com/office/drawing/2014/main" id="{66FE7EC5-0878-42B8-8FDF-64881AC75A71}"/>
                </a:ext>
              </a:extLst>
            </p:cNvPr>
            <p:cNvSpPr>
              <a:spLocks noChangeShapeType="1"/>
            </p:cNvSpPr>
            <p:nvPr/>
          </p:nvSpPr>
          <p:spPr bwMode="auto">
            <a:xfrm>
              <a:off x="2743200" y="3581400"/>
              <a:ext cx="0" cy="99060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 name="AutoShape 26">
              <a:extLst>
                <a:ext uri="{FF2B5EF4-FFF2-40B4-BE49-F238E27FC236}">
                  <a16:creationId xmlns:a16="http://schemas.microsoft.com/office/drawing/2014/main" id="{7DB47BE6-7375-400C-A058-F105987E009E}"/>
                </a:ext>
              </a:extLst>
            </p:cNvPr>
            <p:cNvSpPr>
              <a:spLocks noChangeArrowheads="1"/>
            </p:cNvSpPr>
            <p:nvPr/>
          </p:nvSpPr>
          <p:spPr bwMode="auto">
            <a:xfrm>
              <a:off x="7478715" y="1289053"/>
              <a:ext cx="838200" cy="685800"/>
            </a:xfrm>
            <a:prstGeom prst="wedgeRectCallout">
              <a:avLst>
                <a:gd name="adj1" fmla="val -321496"/>
                <a:gd name="adj2" fmla="val 273676"/>
              </a:avLst>
            </a:prstGeom>
            <a:gradFill rotWithShape="1">
              <a:gsLst>
                <a:gs pos="0">
                  <a:srgbClr val="BBD4F3"/>
                </a:gs>
                <a:gs pos="50000">
                  <a:srgbClr val="FFFFFF"/>
                </a:gs>
                <a:gs pos="100000">
                  <a:srgbClr val="BBD4F3"/>
                </a:gs>
              </a:gsLst>
              <a:lin ang="540000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0"/>
                </a:spcBef>
                <a:buFontTx/>
                <a:buNone/>
              </a:pPr>
              <a:r>
                <a:rPr lang="en-US" altLang="zh-CN" sz="1600" b="0" dirty="0"/>
                <a:t>65</a:t>
              </a:r>
              <a:r>
                <a:rPr lang="zh-CN" altLang="en-US" sz="1600" b="0" dirty="0"/>
                <a:t>分</a:t>
              </a:r>
            </a:p>
          </p:txBody>
        </p:sp>
        <p:sp>
          <p:nvSpPr>
            <p:cNvPr id="32" name="AutoShape 27">
              <a:extLst>
                <a:ext uri="{FF2B5EF4-FFF2-40B4-BE49-F238E27FC236}">
                  <a16:creationId xmlns:a16="http://schemas.microsoft.com/office/drawing/2014/main" id="{1562ABF5-4FA6-46ED-A80F-E64E5A5BA2BD}"/>
                </a:ext>
              </a:extLst>
            </p:cNvPr>
            <p:cNvSpPr>
              <a:spLocks noChangeArrowheads="1"/>
            </p:cNvSpPr>
            <p:nvPr/>
          </p:nvSpPr>
          <p:spPr bwMode="auto">
            <a:xfrm>
              <a:off x="8077200" y="2204323"/>
              <a:ext cx="838200" cy="666424"/>
            </a:xfrm>
            <a:prstGeom prst="wedgeRectCallout">
              <a:avLst>
                <a:gd name="adj1" fmla="val -311576"/>
                <a:gd name="adj2" fmla="val 156440"/>
              </a:avLst>
            </a:prstGeom>
            <a:gradFill rotWithShape="1">
              <a:gsLst>
                <a:gs pos="0">
                  <a:srgbClr val="BBD4F3"/>
                </a:gs>
                <a:gs pos="50000">
                  <a:srgbClr val="FFFFFF"/>
                </a:gs>
                <a:gs pos="100000">
                  <a:srgbClr val="BBD4F3"/>
                </a:gs>
              </a:gsLst>
              <a:lin ang="540000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0"/>
                </a:spcBef>
                <a:buFontTx/>
                <a:buNone/>
              </a:pPr>
              <a:r>
                <a:rPr lang="en-US" altLang="zh-CN" sz="1600" b="0"/>
                <a:t>80</a:t>
              </a:r>
              <a:r>
                <a:rPr lang="zh-CN" altLang="en-US" sz="1600" b="0"/>
                <a:t>分</a:t>
              </a:r>
            </a:p>
          </p:txBody>
        </p:sp>
        <p:sp>
          <p:nvSpPr>
            <p:cNvPr id="33" name="AutoShape 28">
              <a:extLst>
                <a:ext uri="{FF2B5EF4-FFF2-40B4-BE49-F238E27FC236}">
                  <a16:creationId xmlns:a16="http://schemas.microsoft.com/office/drawing/2014/main" id="{9D6922F0-07C1-4745-B739-3862F9C66D2F}"/>
                </a:ext>
              </a:extLst>
            </p:cNvPr>
            <p:cNvSpPr>
              <a:spLocks/>
            </p:cNvSpPr>
            <p:nvPr/>
          </p:nvSpPr>
          <p:spPr bwMode="auto">
            <a:xfrm rot="5400000" flipV="1">
              <a:off x="2819400" y="685800"/>
              <a:ext cx="1524000" cy="4419600"/>
            </a:xfrm>
            <a:prstGeom prst="leftBrace">
              <a:avLst>
                <a:gd name="adj1" fmla="val 2416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a:latin typeface="黑体" panose="02010609060101010101" pitchFamily="49" charset="-122"/>
              </a:endParaRPr>
            </a:p>
          </p:txBody>
        </p:sp>
        <p:sp>
          <p:nvSpPr>
            <p:cNvPr id="34" name="AutoShape 29">
              <a:extLst>
                <a:ext uri="{FF2B5EF4-FFF2-40B4-BE49-F238E27FC236}">
                  <a16:creationId xmlns:a16="http://schemas.microsoft.com/office/drawing/2014/main" id="{41A523C3-1C54-4D1C-8BA8-857230C38A53}"/>
                </a:ext>
              </a:extLst>
            </p:cNvPr>
            <p:cNvSpPr>
              <a:spLocks noChangeArrowheads="1"/>
            </p:cNvSpPr>
            <p:nvPr/>
          </p:nvSpPr>
          <p:spPr bwMode="auto">
            <a:xfrm>
              <a:off x="1361281" y="856813"/>
              <a:ext cx="2841623" cy="457199"/>
            </a:xfrm>
            <a:prstGeom prst="wedgeRectCallout">
              <a:avLst>
                <a:gd name="adj1" fmla="val 28921"/>
                <a:gd name="adj2" fmla="val 230208"/>
              </a:avLst>
            </a:prstGeom>
            <a:gradFill rotWithShape="1">
              <a:gsLst>
                <a:gs pos="0">
                  <a:srgbClr val="BBD4F3"/>
                </a:gs>
                <a:gs pos="50000">
                  <a:srgbClr val="FFFFFF"/>
                </a:gs>
                <a:gs pos="100000">
                  <a:srgbClr val="BBD4F3"/>
                </a:gs>
              </a:gsLst>
              <a:lin ang="540000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0"/>
                </a:spcBef>
                <a:buFontTx/>
                <a:buNone/>
              </a:pPr>
              <a:r>
                <a:rPr lang="en-US" altLang="zh-CN" sz="1800" b="0" dirty="0"/>
                <a:t>50%+68%/2=</a:t>
              </a:r>
              <a:r>
                <a:rPr lang="en-US" altLang="zh-CN" sz="1800" b="0" dirty="0">
                  <a:solidFill>
                    <a:srgbClr val="FF0000"/>
                  </a:solidFill>
                </a:rPr>
                <a:t>84</a:t>
              </a:r>
              <a:r>
                <a:rPr lang="en-US" altLang="zh-CN" sz="1800" b="0" dirty="0"/>
                <a:t>%</a:t>
              </a:r>
            </a:p>
          </p:txBody>
        </p:sp>
      </p:grpSp>
      <p:sp>
        <p:nvSpPr>
          <p:cNvPr id="35" name="AutoShape 25">
            <a:extLst>
              <a:ext uri="{FF2B5EF4-FFF2-40B4-BE49-F238E27FC236}">
                <a16:creationId xmlns:a16="http://schemas.microsoft.com/office/drawing/2014/main" id="{F2F9ABA1-4371-4A4B-950E-B34D54FDAC73}"/>
              </a:ext>
            </a:extLst>
          </p:cNvPr>
          <p:cNvSpPr>
            <a:spLocks noChangeArrowheads="1"/>
          </p:cNvSpPr>
          <p:nvPr/>
        </p:nvSpPr>
        <p:spPr bwMode="auto">
          <a:xfrm>
            <a:off x="4018547" y="5600276"/>
            <a:ext cx="7685372" cy="916909"/>
          </a:xfrm>
          <a:prstGeom prst="wedgeRectCallout">
            <a:avLst>
              <a:gd name="adj1" fmla="val -22917"/>
              <a:gd name="adj2" fmla="val -48958"/>
            </a:avLst>
          </a:prstGeom>
          <a:gradFill rotWithShape="1">
            <a:gsLst>
              <a:gs pos="0">
                <a:srgbClr val="BBD4F3"/>
              </a:gs>
              <a:gs pos="50000">
                <a:srgbClr val="FFFFFF"/>
              </a:gs>
              <a:gs pos="100000">
                <a:srgbClr val="BBD4F3"/>
              </a:gs>
            </a:gsLst>
            <a:lin ang="540000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0"/>
              </a:spcBef>
              <a:buFontTx/>
              <a:buNone/>
            </a:pPr>
            <a:r>
              <a:rPr lang="zh-CN" altLang="en-US" sz="1800" b="0" dirty="0">
                <a:latin typeface="微软雅黑" panose="020B0503020204020204" pitchFamily="34" charset="-122"/>
                <a:ea typeface="微软雅黑" panose="020B0503020204020204" pitchFamily="34" charset="-122"/>
              </a:rPr>
              <a:t>如果问在</a:t>
            </a:r>
            <a:r>
              <a:rPr lang="en-US" altLang="zh-CN" sz="1800" b="0" dirty="0">
                <a:latin typeface="微软雅黑" panose="020B0503020204020204" pitchFamily="34" charset="-122"/>
                <a:ea typeface="微软雅黑" panose="020B0503020204020204" pitchFamily="34" charset="-122"/>
              </a:rPr>
              <a:t>80</a:t>
            </a:r>
            <a:r>
              <a:rPr lang="zh-CN" altLang="en-US" sz="1800" b="0" dirty="0">
                <a:latin typeface="微软雅黑" panose="020B0503020204020204" pitchFamily="34" charset="-122"/>
                <a:ea typeface="微软雅黑" panose="020B0503020204020204" pitchFamily="34" charset="-122"/>
              </a:rPr>
              <a:t>分到</a:t>
            </a:r>
            <a:r>
              <a:rPr lang="en-US" altLang="zh-CN" sz="1800" b="0" dirty="0">
                <a:latin typeface="微软雅黑" panose="020B0503020204020204" pitchFamily="34" charset="-122"/>
                <a:ea typeface="微软雅黑" panose="020B0503020204020204" pitchFamily="34" charset="-122"/>
              </a:rPr>
              <a:t>50</a:t>
            </a:r>
            <a:r>
              <a:rPr lang="zh-CN" altLang="en-US" sz="1800" b="0" dirty="0">
                <a:latin typeface="微软雅黑" panose="020B0503020204020204" pitchFamily="34" charset="-122"/>
                <a:ea typeface="微软雅黑" panose="020B0503020204020204" pitchFamily="34" charset="-122"/>
              </a:rPr>
              <a:t>分之间到家的概率，则是</a:t>
            </a:r>
            <a:r>
              <a:rPr lang="en-US" altLang="zh-CN" sz="1800" b="0" dirty="0">
                <a:solidFill>
                  <a:srgbClr val="FF0000"/>
                </a:solidFill>
                <a:latin typeface="微软雅黑" panose="020B0503020204020204" pitchFamily="34" charset="-122"/>
                <a:ea typeface="微软雅黑" panose="020B0503020204020204" pitchFamily="34" charset="-122"/>
              </a:rPr>
              <a:t>68%</a:t>
            </a:r>
          </a:p>
          <a:p>
            <a:pPr eaLnBrk="1" hangingPunct="1">
              <a:lnSpc>
                <a:spcPct val="100000"/>
              </a:lnSpc>
              <a:spcBef>
                <a:spcPct val="0"/>
              </a:spcBef>
              <a:buFontTx/>
              <a:buNone/>
            </a:pPr>
            <a:r>
              <a:rPr lang="zh-CN" altLang="en-US" sz="1800" b="0" dirty="0">
                <a:latin typeface="微软雅黑" panose="020B0503020204020204" pitchFamily="34" charset="-122"/>
                <a:ea typeface="微软雅黑" panose="020B0503020204020204" pitchFamily="34" charset="-122"/>
              </a:rPr>
              <a:t>如果问在</a:t>
            </a:r>
            <a:r>
              <a:rPr lang="en-US" altLang="zh-CN" sz="1800" b="0" dirty="0">
                <a:latin typeface="微软雅黑" panose="020B0503020204020204" pitchFamily="34" charset="-122"/>
                <a:ea typeface="微软雅黑" panose="020B0503020204020204" pitchFamily="34" charset="-122"/>
              </a:rPr>
              <a:t>80</a:t>
            </a:r>
            <a:r>
              <a:rPr lang="zh-CN" altLang="en-US" sz="1800" b="0" dirty="0">
                <a:latin typeface="微软雅黑" panose="020B0503020204020204" pitchFamily="34" charset="-122"/>
                <a:ea typeface="微软雅黑" panose="020B0503020204020204" pitchFamily="34" charset="-122"/>
              </a:rPr>
              <a:t>分钟以上回家的概率，则是</a:t>
            </a:r>
            <a:r>
              <a:rPr lang="en-US" altLang="zh-CN" sz="1800" b="0" dirty="0">
                <a:solidFill>
                  <a:srgbClr val="FF0000"/>
                </a:solidFill>
                <a:latin typeface="微软雅黑" panose="020B0503020204020204" pitchFamily="34" charset="-122"/>
                <a:ea typeface="微软雅黑" panose="020B0503020204020204" pitchFamily="34" charset="-122"/>
              </a:rPr>
              <a:t>15%</a:t>
            </a:r>
            <a:r>
              <a:rPr lang="zh-CN" altLang="en-US" sz="1800" b="0" dirty="0">
                <a:latin typeface="微软雅黑" panose="020B0503020204020204" pitchFamily="34" charset="-122"/>
                <a:ea typeface="微软雅黑" panose="020B0503020204020204" pitchFamily="34" charset="-122"/>
              </a:rPr>
              <a:t>（大约），在正态图位置为“</a:t>
            </a:r>
            <a:r>
              <a:rPr lang="zh-CN" altLang="en-US" sz="1800" b="0" dirty="0">
                <a:solidFill>
                  <a:srgbClr val="FF0000"/>
                </a:solidFill>
                <a:latin typeface="微软雅黑" panose="020B0503020204020204" pitchFamily="34" charset="-122"/>
                <a:ea typeface="微软雅黑" panose="020B0503020204020204" pitchFamily="34" charset="-122"/>
              </a:rPr>
              <a:t>大约平均值右侧超过一个标准差</a:t>
            </a:r>
            <a:r>
              <a:rPr lang="zh-CN" altLang="en-US" sz="1800" b="0" dirty="0">
                <a:latin typeface="微软雅黑" panose="020B0503020204020204" pitchFamily="34" charset="-122"/>
                <a:ea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94245">
                                            <p:txEl>
                                              <p:pRg st="0" end="0"/>
                                            </p:txEl>
                                          </p:spTgt>
                                        </p:tgtEl>
                                        <p:attrNameLst>
                                          <p:attrName>style.visibility</p:attrName>
                                        </p:attrNameLst>
                                      </p:cBhvr>
                                      <p:to>
                                        <p:strVal val="visible"/>
                                      </p:to>
                                    </p:set>
                                    <p:animEffect transition="in" filter="blinds(horizontal)">
                                      <p:cBhvr>
                                        <p:cTn id="7" dur="500"/>
                                        <p:tgtEl>
                                          <p:spTgt spid="39424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94245">
                                            <p:txEl>
                                              <p:pRg st="1" end="1"/>
                                            </p:txEl>
                                          </p:spTgt>
                                        </p:tgtEl>
                                        <p:attrNameLst>
                                          <p:attrName>style.visibility</p:attrName>
                                        </p:attrNameLst>
                                      </p:cBhvr>
                                      <p:to>
                                        <p:strVal val="visible"/>
                                      </p:to>
                                    </p:set>
                                    <p:animEffect transition="in" filter="blinds(horizontal)">
                                      <p:cBhvr>
                                        <p:cTn id="12" dur="500"/>
                                        <p:tgtEl>
                                          <p:spTgt spid="39424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94245">
                                            <p:txEl>
                                              <p:pRg st="2" end="2"/>
                                            </p:txEl>
                                          </p:spTgt>
                                        </p:tgtEl>
                                        <p:attrNameLst>
                                          <p:attrName>style.visibility</p:attrName>
                                        </p:attrNameLst>
                                      </p:cBhvr>
                                      <p:to>
                                        <p:strVal val="visible"/>
                                      </p:to>
                                    </p:set>
                                    <p:animEffect transition="in" filter="blinds(horizontal)">
                                      <p:cBhvr>
                                        <p:cTn id="17" dur="500"/>
                                        <p:tgtEl>
                                          <p:spTgt spid="39424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94246"/>
                                        </p:tgtEl>
                                        <p:attrNameLst>
                                          <p:attrName>style.visibility</p:attrName>
                                        </p:attrNameLst>
                                      </p:cBhvr>
                                      <p:to>
                                        <p:strVal val="visible"/>
                                      </p:to>
                                    </p:set>
                                    <p:animEffect transition="in" filter="blinds(horizontal)">
                                      <p:cBhvr>
                                        <p:cTn id="22" dur="500"/>
                                        <p:tgtEl>
                                          <p:spTgt spid="394246"/>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5">
                                            <p:txEl>
                                              <p:pRg st="0" end="0"/>
                                            </p:txEl>
                                          </p:spTgt>
                                        </p:tgtEl>
                                        <p:attrNameLst>
                                          <p:attrName>style.visibility</p:attrName>
                                        </p:attrNameLst>
                                      </p:cBhvr>
                                      <p:to>
                                        <p:strVal val="visible"/>
                                      </p:to>
                                    </p:set>
                                    <p:animEffect transition="in" filter="blinds(horizontal)">
                                      <p:cBhvr>
                                        <p:cTn id="27" dur="500"/>
                                        <p:tgtEl>
                                          <p:spTgt spid="35">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5">
                                            <p:txEl>
                                              <p:pRg st="1" end="1"/>
                                            </p:txEl>
                                          </p:spTgt>
                                        </p:tgtEl>
                                        <p:attrNameLst>
                                          <p:attrName>style.visibility</p:attrName>
                                        </p:attrNameLst>
                                      </p:cBhvr>
                                      <p:to>
                                        <p:strVal val="visible"/>
                                      </p:to>
                                    </p:set>
                                    <p:animEffect transition="in" filter="blinds(horizontal)">
                                      <p:cBhvr>
                                        <p:cTn id="32" dur="500"/>
                                        <p:tgtEl>
                                          <p:spTgt spid="3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424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11B1EC-6B38-414C-AFC6-E92443172E16}"/>
              </a:ext>
            </a:extLst>
          </p:cNvPr>
          <p:cNvSpPr>
            <a:spLocks noGrp="1"/>
          </p:cNvSpPr>
          <p:nvPr>
            <p:ph type="title"/>
          </p:nvPr>
        </p:nvSpPr>
        <p:spPr/>
        <p:txBody>
          <a:bodyPr/>
          <a:lstStyle/>
          <a:p>
            <a:pPr algn="ctr"/>
            <a:r>
              <a:rPr lang="en-US" altLang="zh-CN" dirty="0"/>
              <a:t>12.5 </a:t>
            </a:r>
            <a:r>
              <a:rPr lang="zh-CN" altLang="en-US" dirty="0"/>
              <a:t>估算活动持续时间</a:t>
            </a:r>
          </a:p>
        </p:txBody>
      </p:sp>
      <p:sp>
        <p:nvSpPr>
          <p:cNvPr id="4" name="Rectangle 3">
            <a:extLst>
              <a:ext uri="{FF2B5EF4-FFF2-40B4-BE49-F238E27FC236}">
                <a16:creationId xmlns:a16="http://schemas.microsoft.com/office/drawing/2014/main" id="{77A94198-9A68-4AD3-AAD0-3116D94FB157}"/>
              </a:ext>
            </a:extLst>
          </p:cNvPr>
          <p:cNvSpPr txBox="1">
            <a:spLocks noChangeArrowheads="1"/>
          </p:cNvSpPr>
          <p:nvPr/>
        </p:nvSpPr>
        <p:spPr>
          <a:xfrm>
            <a:off x="613886" y="1824790"/>
            <a:ext cx="5482114" cy="3721768"/>
          </a:xfrm>
          <a:prstGeom prst="rect">
            <a:avLst/>
          </a:prstGeom>
          <a:noFill/>
          <a:ln cap="flat"/>
        </p:spPr>
        <p:txBody>
          <a:bodyPr/>
          <a:lstStyle>
            <a:lvl1pPr marL="266400" indent="-266400" algn="l" defTabSz="914400" rtl="0" eaLnBrk="1" latinLnBrk="0" hangingPunct="1">
              <a:lnSpc>
                <a:spcPct val="150000"/>
              </a:lnSpc>
              <a:spcBef>
                <a:spcPts val="720"/>
              </a:spcBef>
              <a:spcAft>
                <a:spcPts val="240"/>
              </a:spcAft>
              <a:buFont typeface="Wingdings" pitchFamily="2" charset="2"/>
              <a:buChar char=""/>
              <a:defRPr sz="2000" b="1" kern="1200" baseline="0">
                <a:solidFill>
                  <a:srgbClr val="333333"/>
                </a:solidFill>
                <a:latin typeface="Georgia" panose="02040502050405020303" pitchFamily="18" charset="0"/>
                <a:ea typeface="微软雅黑" pitchFamily="34" charset="-122"/>
                <a:cs typeface="+mn-cs"/>
              </a:defRPr>
            </a:lvl1pPr>
            <a:lvl2pPr marL="712800" indent="-270000" algn="l" defTabSz="914400" rtl="0" eaLnBrk="1" latinLnBrk="0" hangingPunct="1">
              <a:lnSpc>
                <a:spcPct val="150000"/>
              </a:lnSpc>
              <a:spcBef>
                <a:spcPts val="36"/>
              </a:spcBef>
              <a:spcAft>
                <a:spcPts val="12"/>
              </a:spcAft>
              <a:buFont typeface="Arial" pitchFamily="34" charset="0"/>
              <a:buChar char="–"/>
              <a:defRPr sz="1800" b="1" kern="1200" baseline="0">
                <a:solidFill>
                  <a:srgbClr val="333333"/>
                </a:solidFill>
                <a:latin typeface="Georgia" panose="02040502050405020303" pitchFamily="18" charset="0"/>
                <a:ea typeface="微软雅黑" pitchFamily="34" charset="-122"/>
                <a:cs typeface="+mn-cs"/>
              </a:defRPr>
            </a:lvl2pPr>
            <a:lvl3pPr marL="1072800" indent="-176400" algn="l" defTabSz="914400" rtl="0" eaLnBrk="1" latinLnBrk="0" hangingPunct="1">
              <a:lnSpc>
                <a:spcPct val="150000"/>
              </a:lnSpc>
              <a:spcBef>
                <a:spcPts val="36"/>
              </a:spcBef>
              <a:spcAft>
                <a:spcPts val="12"/>
              </a:spcAft>
              <a:buFont typeface="Arial" pitchFamily="34" charset="0"/>
              <a:buChar char="•"/>
              <a:defRPr sz="1600" b="1" kern="1200" baseline="0">
                <a:solidFill>
                  <a:srgbClr val="333333"/>
                </a:solidFill>
                <a:latin typeface="Georgia" panose="02040502050405020303" pitchFamily="18" charset="0"/>
                <a:ea typeface="微软雅黑" pitchFamily="34" charset="-122"/>
                <a:cs typeface="+mn-cs"/>
              </a:defRPr>
            </a:lvl3pPr>
            <a:lvl4pPr marL="1440000" indent="-1872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4pPr>
            <a:lvl5pPr marL="2057400" indent="-2286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00000"/>
              </a:lnSpc>
              <a:buFont typeface="Wingdings" pitchFamily="2" charset="2"/>
              <a:buNone/>
            </a:pPr>
            <a:r>
              <a:rPr lang="zh-CN" altLang="en-US" sz="2200" b="0" dirty="0">
                <a:latin typeface="微软雅黑" panose="020B0503020204020204" pitchFamily="34" charset="-122"/>
                <a:cs typeface="Times New Roman" panose="02020603050405020304" pitchFamily="18" charset="0"/>
              </a:rPr>
              <a:t>任务</a:t>
            </a:r>
            <a:r>
              <a:rPr lang="en-US" altLang="zh-CN" sz="2200" b="0" dirty="0">
                <a:latin typeface="微软雅黑" panose="020B0503020204020204" pitchFamily="34" charset="-122"/>
                <a:cs typeface="Times New Roman" panose="02020603050405020304" pitchFamily="18" charset="0"/>
              </a:rPr>
              <a:t>A</a:t>
            </a:r>
            <a:r>
              <a:rPr lang="zh-CN" altLang="en-US" sz="2200" b="0" dirty="0">
                <a:latin typeface="微软雅黑" panose="020B0503020204020204" pitchFamily="34" charset="-122"/>
                <a:cs typeface="Times New Roman" panose="02020603050405020304" pitchFamily="18" charset="0"/>
              </a:rPr>
              <a:t>持续时间的悲观估计为</a:t>
            </a:r>
            <a:r>
              <a:rPr lang="en-US" altLang="zh-CN" sz="2200" b="0" dirty="0">
                <a:latin typeface="微软雅黑" panose="020B0503020204020204" pitchFamily="34" charset="-122"/>
                <a:cs typeface="Times New Roman" panose="02020603050405020304" pitchFamily="18" charset="0"/>
              </a:rPr>
              <a:t>36</a:t>
            </a:r>
            <a:r>
              <a:rPr lang="zh-CN" altLang="en-US" sz="2200" b="0" dirty="0">
                <a:latin typeface="微软雅黑" panose="020B0503020204020204" pitchFamily="34" charset="-122"/>
                <a:cs typeface="Times New Roman" panose="02020603050405020304" pitchFamily="18" charset="0"/>
              </a:rPr>
              <a:t>天， 最可能估计为</a:t>
            </a:r>
            <a:r>
              <a:rPr lang="en-US" altLang="zh-CN" sz="2200" b="0" dirty="0">
                <a:latin typeface="微软雅黑" panose="020B0503020204020204" pitchFamily="34" charset="-122"/>
                <a:cs typeface="Times New Roman" panose="02020603050405020304" pitchFamily="18" charset="0"/>
              </a:rPr>
              <a:t>21</a:t>
            </a:r>
            <a:r>
              <a:rPr lang="zh-CN" altLang="en-US" sz="2200" b="0" dirty="0">
                <a:latin typeface="微软雅黑" panose="020B0503020204020204" pitchFamily="34" charset="-122"/>
                <a:cs typeface="Times New Roman" panose="02020603050405020304" pitchFamily="18" charset="0"/>
              </a:rPr>
              <a:t>天， 乐观估计为</a:t>
            </a:r>
            <a:r>
              <a:rPr lang="en-US" altLang="zh-CN" sz="2200" b="0" dirty="0">
                <a:latin typeface="微软雅黑" panose="020B0503020204020204" pitchFamily="34" charset="-122"/>
                <a:cs typeface="Times New Roman" panose="02020603050405020304" pitchFamily="18" charset="0"/>
              </a:rPr>
              <a:t>6 </a:t>
            </a:r>
            <a:r>
              <a:rPr lang="zh-CN" altLang="en-US" sz="2200" b="0" dirty="0">
                <a:latin typeface="微软雅黑" panose="020B0503020204020204" pitchFamily="34" charset="-122"/>
                <a:cs typeface="Times New Roman" panose="02020603050405020304" pitchFamily="18" charset="0"/>
              </a:rPr>
              <a:t>天。 那么任务</a:t>
            </a:r>
            <a:r>
              <a:rPr lang="en-US" altLang="zh-CN" sz="2200" b="0" dirty="0">
                <a:latin typeface="微软雅黑" panose="020B0503020204020204" pitchFamily="34" charset="-122"/>
                <a:cs typeface="Times New Roman" panose="02020603050405020304" pitchFamily="18" charset="0"/>
              </a:rPr>
              <a:t>A</a:t>
            </a:r>
            <a:r>
              <a:rPr lang="zh-CN" altLang="en-US" sz="2200" b="0" dirty="0">
                <a:latin typeface="微软雅黑" panose="020B0503020204020204" pitchFamily="34" charset="-122"/>
                <a:cs typeface="Times New Roman" panose="02020603050405020304" pitchFamily="18" charset="0"/>
              </a:rPr>
              <a:t>在</a:t>
            </a:r>
            <a:r>
              <a:rPr lang="en-US" altLang="zh-CN" sz="2200" b="0" dirty="0">
                <a:latin typeface="微软雅黑" panose="020B0503020204020204" pitchFamily="34" charset="-122"/>
                <a:cs typeface="Times New Roman" panose="02020603050405020304" pitchFamily="18" charset="0"/>
              </a:rPr>
              <a:t>16</a:t>
            </a:r>
            <a:r>
              <a:rPr lang="zh-CN" altLang="en-US" sz="2200" b="0" dirty="0">
                <a:latin typeface="微软雅黑" panose="020B0503020204020204" pitchFamily="34" charset="-122"/>
                <a:cs typeface="Times New Roman" panose="02020603050405020304" pitchFamily="18" charset="0"/>
              </a:rPr>
              <a:t>到</a:t>
            </a:r>
            <a:r>
              <a:rPr lang="en-US" altLang="zh-CN" sz="2200" b="0" dirty="0">
                <a:latin typeface="微软雅黑" panose="020B0503020204020204" pitchFamily="34" charset="-122"/>
                <a:cs typeface="Times New Roman" panose="02020603050405020304" pitchFamily="18" charset="0"/>
              </a:rPr>
              <a:t>26</a:t>
            </a:r>
            <a:r>
              <a:rPr lang="zh-CN" altLang="en-US" sz="2200" b="0" dirty="0">
                <a:latin typeface="微软雅黑" panose="020B0503020204020204" pitchFamily="34" charset="-122"/>
                <a:cs typeface="Times New Roman" panose="02020603050405020304" pitchFamily="18" charset="0"/>
              </a:rPr>
              <a:t>天之间完成的概率有多大</a:t>
            </a:r>
            <a:r>
              <a:rPr lang="en-US" altLang="zh-CN" sz="2200" b="0" dirty="0">
                <a:latin typeface="微软雅黑" panose="020B0503020204020204" pitchFamily="34" charset="-122"/>
                <a:cs typeface="Times New Roman" panose="02020603050405020304" pitchFamily="18" charset="0"/>
              </a:rPr>
              <a:t>?</a:t>
            </a:r>
          </a:p>
          <a:p>
            <a:pPr marL="0" indent="0" algn="just">
              <a:lnSpc>
                <a:spcPct val="100000"/>
              </a:lnSpc>
              <a:buFont typeface="Wingdings" pitchFamily="2" charset="2"/>
              <a:buNone/>
            </a:pPr>
            <a:r>
              <a:rPr lang="en-US" altLang="zh-CN" sz="2200" b="0" dirty="0">
                <a:latin typeface="微软雅黑" panose="020B0503020204020204" pitchFamily="34" charset="-122"/>
                <a:cs typeface="Times New Roman" panose="02020603050405020304" pitchFamily="18" charset="0"/>
              </a:rPr>
              <a:t>A. 55.70%</a:t>
            </a:r>
          </a:p>
          <a:p>
            <a:pPr marL="0" indent="0" algn="just">
              <a:lnSpc>
                <a:spcPct val="100000"/>
              </a:lnSpc>
              <a:buFont typeface="Wingdings" pitchFamily="2" charset="2"/>
              <a:buNone/>
            </a:pPr>
            <a:r>
              <a:rPr lang="en-US" altLang="zh-CN" sz="2200" b="0" dirty="0">
                <a:latin typeface="微软雅黑" panose="020B0503020204020204" pitchFamily="34" charset="-122"/>
                <a:cs typeface="Times New Roman" panose="02020603050405020304" pitchFamily="18" charset="0"/>
              </a:rPr>
              <a:t>B. 68.26%</a:t>
            </a:r>
          </a:p>
          <a:p>
            <a:pPr marL="0" indent="0" algn="just">
              <a:lnSpc>
                <a:spcPct val="100000"/>
              </a:lnSpc>
              <a:buFont typeface="Wingdings" pitchFamily="2" charset="2"/>
              <a:buNone/>
            </a:pPr>
            <a:r>
              <a:rPr lang="en-US" altLang="zh-CN" sz="2200" b="0" dirty="0">
                <a:latin typeface="微软雅黑" panose="020B0503020204020204" pitchFamily="34" charset="-122"/>
                <a:cs typeface="Times New Roman" panose="02020603050405020304" pitchFamily="18" charset="0"/>
              </a:rPr>
              <a:t>C. 95.46%	</a:t>
            </a:r>
          </a:p>
          <a:p>
            <a:pPr marL="0" indent="0" algn="just">
              <a:lnSpc>
                <a:spcPct val="100000"/>
              </a:lnSpc>
              <a:buFont typeface="Wingdings" pitchFamily="2" charset="2"/>
              <a:buNone/>
            </a:pPr>
            <a:r>
              <a:rPr lang="en-US" altLang="zh-CN" sz="2200" b="0" dirty="0">
                <a:latin typeface="微软雅黑" panose="020B0503020204020204" pitchFamily="34" charset="-122"/>
                <a:cs typeface="Times New Roman" panose="02020603050405020304" pitchFamily="18" charset="0"/>
              </a:rPr>
              <a:t>D. 99.73%</a:t>
            </a:r>
          </a:p>
        </p:txBody>
      </p:sp>
      <p:sp>
        <p:nvSpPr>
          <p:cNvPr id="6" name="Rectangle 3">
            <a:extLst>
              <a:ext uri="{FF2B5EF4-FFF2-40B4-BE49-F238E27FC236}">
                <a16:creationId xmlns:a16="http://schemas.microsoft.com/office/drawing/2014/main" id="{D4BE5351-C53E-4F4B-BD35-30F59AABF592}"/>
              </a:ext>
            </a:extLst>
          </p:cNvPr>
          <p:cNvSpPr txBox="1">
            <a:spLocks noChangeArrowheads="1"/>
          </p:cNvSpPr>
          <p:nvPr/>
        </p:nvSpPr>
        <p:spPr>
          <a:xfrm>
            <a:off x="5955630" y="3159333"/>
            <a:ext cx="5763127" cy="3097087"/>
          </a:xfrm>
          <a:prstGeom prst="rect">
            <a:avLst/>
          </a:prstGeom>
        </p:spPr>
        <p:txBody>
          <a:bodyPr/>
          <a:lstStyle>
            <a:lvl1pPr marL="266400" indent="-266400" algn="l" defTabSz="914400" rtl="0" eaLnBrk="1" latinLnBrk="0" hangingPunct="1">
              <a:lnSpc>
                <a:spcPct val="150000"/>
              </a:lnSpc>
              <a:spcBef>
                <a:spcPts val="720"/>
              </a:spcBef>
              <a:spcAft>
                <a:spcPts val="240"/>
              </a:spcAft>
              <a:buFont typeface="Wingdings" pitchFamily="2" charset="2"/>
              <a:buChar char=""/>
              <a:defRPr sz="2000" b="1" kern="1200" baseline="0">
                <a:solidFill>
                  <a:srgbClr val="333333"/>
                </a:solidFill>
                <a:latin typeface="Georgia" panose="02040502050405020303" pitchFamily="18" charset="0"/>
                <a:ea typeface="微软雅黑" pitchFamily="34" charset="-122"/>
                <a:cs typeface="+mn-cs"/>
              </a:defRPr>
            </a:lvl1pPr>
            <a:lvl2pPr marL="712800" indent="-270000" algn="l" defTabSz="914400" rtl="0" eaLnBrk="1" latinLnBrk="0" hangingPunct="1">
              <a:lnSpc>
                <a:spcPct val="150000"/>
              </a:lnSpc>
              <a:spcBef>
                <a:spcPts val="36"/>
              </a:spcBef>
              <a:spcAft>
                <a:spcPts val="12"/>
              </a:spcAft>
              <a:buFont typeface="Arial" pitchFamily="34" charset="0"/>
              <a:buChar char="–"/>
              <a:defRPr sz="1800" b="1" kern="1200" baseline="0">
                <a:solidFill>
                  <a:srgbClr val="333333"/>
                </a:solidFill>
                <a:latin typeface="Georgia" panose="02040502050405020303" pitchFamily="18" charset="0"/>
                <a:ea typeface="微软雅黑" pitchFamily="34" charset="-122"/>
                <a:cs typeface="+mn-cs"/>
              </a:defRPr>
            </a:lvl2pPr>
            <a:lvl3pPr marL="1072800" indent="-176400" algn="l" defTabSz="914400" rtl="0" eaLnBrk="1" latinLnBrk="0" hangingPunct="1">
              <a:lnSpc>
                <a:spcPct val="150000"/>
              </a:lnSpc>
              <a:spcBef>
                <a:spcPts val="36"/>
              </a:spcBef>
              <a:spcAft>
                <a:spcPts val="12"/>
              </a:spcAft>
              <a:buFont typeface="Arial" pitchFamily="34" charset="0"/>
              <a:buChar char="•"/>
              <a:defRPr sz="1600" b="1" kern="1200" baseline="0">
                <a:solidFill>
                  <a:srgbClr val="333333"/>
                </a:solidFill>
                <a:latin typeface="Georgia" panose="02040502050405020303" pitchFamily="18" charset="0"/>
                <a:ea typeface="微软雅黑" pitchFamily="34" charset="-122"/>
                <a:cs typeface="+mn-cs"/>
              </a:defRPr>
            </a:lvl3pPr>
            <a:lvl4pPr marL="1440000" indent="-1872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4pPr>
            <a:lvl5pPr marL="2057400" indent="-2286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2200" b="0" dirty="0">
                <a:latin typeface="微软雅黑" panose="020B0503020204020204" pitchFamily="34" charset="-122"/>
              </a:rPr>
              <a:t>一个开发者每天可以写</a:t>
            </a:r>
            <a:r>
              <a:rPr lang="en-US" altLang="zh-CN" sz="2200" b="0" dirty="0">
                <a:latin typeface="微软雅黑" panose="020B0503020204020204" pitchFamily="34" charset="-122"/>
              </a:rPr>
              <a:t>100</a:t>
            </a:r>
            <a:r>
              <a:rPr lang="zh-CN" altLang="en-US" sz="2200" b="0" dirty="0">
                <a:latin typeface="微软雅黑" panose="020B0503020204020204" pitchFamily="34" charset="-122"/>
              </a:rPr>
              <a:t>行代码。</a:t>
            </a:r>
            <a:r>
              <a:rPr lang="en-US" altLang="zh-CN" sz="2200" b="0" dirty="0">
                <a:latin typeface="微软雅黑" panose="020B0503020204020204" pitchFamily="34" charset="-122"/>
              </a:rPr>
              <a:t>5</a:t>
            </a:r>
            <a:r>
              <a:rPr lang="zh-CN" altLang="en-US" sz="2200" b="0" dirty="0">
                <a:latin typeface="微软雅黑" panose="020B0503020204020204" pitchFamily="34" charset="-122"/>
              </a:rPr>
              <a:t>天可以写</a:t>
            </a:r>
            <a:r>
              <a:rPr lang="en-US" altLang="zh-CN" sz="2200" b="0" dirty="0">
                <a:latin typeface="微软雅黑" panose="020B0503020204020204" pitchFamily="34" charset="-122"/>
              </a:rPr>
              <a:t>500</a:t>
            </a:r>
            <a:r>
              <a:rPr lang="zh-CN" altLang="en-US" sz="2200" b="0" dirty="0">
                <a:latin typeface="微软雅黑" panose="020B0503020204020204" pitchFamily="34" charset="-122"/>
              </a:rPr>
              <a:t>行代码。这样的估算方法是：</a:t>
            </a:r>
          </a:p>
          <a:p>
            <a:pPr marL="442800" lvl="1" indent="0">
              <a:buNone/>
            </a:pPr>
            <a:r>
              <a:rPr lang="en-US" altLang="zh-CN" sz="2200" b="0" dirty="0">
                <a:latin typeface="微软雅黑" panose="020B0503020204020204" pitchFamily="34" charset="-122"/>
              </a:rPr>
              <a:t>A. </a:t>
            </a:r>
            <a:r>
              <a:rPr lang="zh-CN" altLang="en-US" sz="2200" b="0" dirty="0">
                <a:latin typeface="微软雅黑" panose="020B0503020204020204" pitchFamily="34" charset="-122"/>
              </a:rPr>
              <a:t>专家判断</a:t>
            </a:r>
          </a:p>
          <a:p>
            <a:pPr marL="442800" lvl="1" indent="0">
              <a:buNone/>
            </a:pPr>
            <a:r>
              <a:rPr lang="en-US" altLang="zh-CN" sz="2200" b="0" dirty="0">
                <a:latin typeface="微软雅黑" panose="020B0503020204020204" pitchFamily="34" charset="-122"/>
              </a:rPr>
              <a:t>B. </a:t>
            </a:r>
            <a:r>
              <a:rPr lang="zh-CN" altLang="en-US" sz="2200" b="0" dirty="0">
                <a:latin typeface="微软雅黑" panose="020B0503020204020204" pitchFamily="34" charset="-122"/>
              </a:rPr>
              <a:t>类比估算</a:t>
            </a:r>
          </a:p>
          <a:p>
            <a:pPr marL="442800" lvl="1" indent="0">
              <a:buNone/>
            </a:pPr>
            <a:r>
              <a:rPr lang="en-US" altLang="zh-CN" sz="2200" b="0" dirty="0">
                <a:latin typeface="微软雅黑" panose="020B0503020204020204" pitchFamily="34" charset="-122"/>
              </a:rPr>
              <a:t>C. </a:t>
            </a:r>
            <a:r>
              <a:rPr lang="zh-CN" altLang="en-US" sz="2200" b="0" dirty="0">
                <a:latin typeface="微软雅黑" panose="020B0503020204020204" pitchFamily="34" charset="-122"/>
              </a:rPr>
              <a:t>参数估算</a:t>
            </a:r>
          </a:p>
          <a:p>
            <a:pPr marL="442800" lvl="1" indent="0">
              <a:buNone/>
            </a:pPr>
            <a:r>
              <a:rPr lang="en-US" altLang="zh-CN" sz="2200" b="0" dirty="0">
                <a:latin typeface="微软雅黑" panose="020B0503020204020204" pitchFamily="34" charset="-122"/>
              </a:rPr>
              <a:t>D .</a:t>
            </a:r>
            <a:r>
              <a:rPr lang="zh-CN" altLang="en-US" sz="2200" b="0" dirty="0">
                <a:latin typeface="微软雅黑" panose="020B0503020204020204" pitchFamily="34" charset="-122"/>
              </a:rPr>
              <a:t>三点估算</a:t>
            </a:r>
          </a:p>
        </p:txBody>
      </p:sp>
    </p:spTree>
    <p:extLst>
      <p:ext uri="{BB962C8B-B14F-4D97-AF65-F5344CB8AC3E}">
        <p14:creationId xmlns:p14="http://schemas.microsoft.com/office/powerpoint/2010/main" val="2453745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91EC7E-062E-42B6-BB70-FDB6952E905C}"/>
              </a:ext>
            </a:extLst>
          </p:cNvPr>
          <p:cNvSpPr>
            <a:spLocks noGrp="1"/>
          </p:cNvSpPr>
          <p:nvPr>
            <p:ph type="title"/>
          </p:nvPr>
        </p:nvSpPr>
        <p:spPr/>
        <p:txBody>
          <a:bodyPr/>
          <a:lstStyle/>
          <a:p>
            <a:r>
              <a:rPr lang="en-US" altLang="zh-CN" dirty="0"/>
              <a:t>12.6 </a:t>
            </a:r>
            <a:r>
              <a:rPr lang="zh-CN" altLang="en-US" dirty="0"/>
              <a:t>制定进度计划</a:t>
            </a:r>
          </a:p>
        </p:txBody>
      </p:sp>
      <p:sp>
        <p:nvSpPr>
          <p:cNvPr id="4" name="Rectangle 3">
            <a:extLst>
              <a:ext uri="{FF2B5EF4-FFF2-40B4-BE49-F238E27FC236}">
                <a16:creationId xmlns:a16="http://schemas.microsoft.com/office/drawing/2014/main" id="{FAEAEB21-79A1-46E2-BF3E-2E13A6BC6867}"/>
              </a:ext>
            </a:extLst>
          </p:cNvPr>
          <p:cNvSpPr txBox="1">
            <a:spLocks noChangeArrowheads="1"/>
          </p:cNvSpPr>
          <p:nvPr/>
        </p:nvSpPr>
        <p:spPr>
          <a:xfrm>
            <a:off x="500070" y="1377038"/>
            <a:ext cx="11129485" cy="9336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2400" b="1" dirty="0"/>
              <a:t>制定进度计划</a:t>
            </a:r>
            <a:r>
              <a:rPr lang="zh-CN" altLang="en-US" sz="2400" dirty="0"/>
              <a:t>是分析活动顺序、持续时间、资源需求和进度制约因素，创建进度模型，从而落实项目执行和监控的过程。</a:t>
            </a:r>
            <a:endParaRPr lang="en-US" altLang="zh-CN" dirty="0">
              <a:ea typeface="幼圆" panose="02010509060101010101" pitchFamily="49" charset="-122"/>
            </a:endParaRPr>
          </a:p>
          <a:p>
            <a:pPr marL="0" indent="0">
              <a:buNone/>
            </a:pPr>
            <a:endParaRPr lang="en-US" altLang="zh-CN" dirty="0">
              <a:ea typeface="幼圆" panose="02010509060101010101" pitchFamily="49" charset="-122"/>
            </a:endParaRPr>
          </a:p>
        </p:txBody>
      </p:sp>
      <p:pic>
        <p:nvPicPr>
          <p:cNvPr id="7" name="图片 1">
            <a:extLst>
              <a:ext uri="{FF2B5EF4-FFF2-40B4-BE49-F238E27FC236}">
                <a16:creationId xmlns:a16="http://schemas.microsoft.com/office/drawing/2014/main" id="{D24EC3C6-9F29-458D-9318-841510B089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6012" y="2310713"/>
            <a:ext cx="6477600" cy="4171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59507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A680EC-888F-4D37-BA16-486BE74C10AD}"/>
              </a:ext>
            </a:extLst>
          </p:cNvPr>
          <p:cNvSpPr>
            <a:spLocks noGrp="1"/>
          </p:cNvSpPr>
          <p:nvPr>
            <p:ph type="title"/>
          </p:nvPr>
        </p:nvSpPr>
        <p:spPr/>
        <p:txBody>
          <a:bodyPr/>
          <a:lstStyle/>
          <a:p>
            <a:r>
              <a:rPr lang="en-US" altLang="zh-CN" dirty="0"/>
              <a:t>12.6 </a:t>
            </a:r>
            <a:r>
              <a:rPr lang="zh-CN" altLang="en-US" dirty="0"/>
              <a:t>制定进度计划</a:t>
            </a:r>
          </a:p>
        </p:txBody>
      </p:sp>
      <p:sp>
        <p:nvSpPr>
          <p:cNvPr id="4" name="文本框 3">
            <a:extLst>
              <a:ext uri="{FF2B5EF4-FFF2-40B4-BE49-F238E27FC236}">
                <a16:creationId xmlns:a16="http://schemas.microsoft.com/office/drawing/2014/main" id="{40E5765E-AAF0-4096-AF9F-4578F4395407}"/>
              </a:ext>
            </a:extLst>
          </p:cNvPr>
          <p:cNvSpPr txBox="1"/>
          <p:nvPr/>
        </p:nvSpPr>
        <p:spPr>
          <a:xfrm>
            <a:off x="609600" y="1453634"/>
            <a:ext cx="10972800" cy="4370427"/>
          </a:xfrm>
          <a:prstGeom prst="rect">
            <a:avLst/>
          </a:prstGeom>
          <a:noFill/>
        </p:spPr>
        <p:txBody>
          <a:bodyPr wrap="square">
            <a:spAutoFit/>
          </a:bodyPr>
          <a:lstStyle/>
          <a:p>
            <a:r>
              <a:rPr lang="zh-CN" altLang="en-US" sz="2400" b="1" dirty="0">
                <a:latin typeface="微软雅黑" panose="020B0503020204020204" pitchFamily="34" charset="-122"/>
                <a:ea typeface="微软雅黑" panose="020B0503020204020204" pitchFamily="34" charset="-122"/>
              </a:rPr>
              <a:t>制定进度计划：输出</a:t>
            </a:r>
            <a:endParaRPr lang="en-US" altLang="zh-CN" sz="2400" b="1" dirty="0">
              <a:latin typeface="微软雅黑" panose="020B0503020204020204" pitchFamily="34" charset="-122"/>
              <a:ea typeface="微软雅黑" panose="020B0503020204020204" pitchFamily="34" charset="-122"/>
            </a:endParaRPr>
          </a:p>
          <a:p>
            <a:pPr algn="l"/>
            <a:r>
              <a:rPr lang="zh-CN" altLang="en-US" sz="2000" b="1" dirty="0">
                <a:solidFill>
                  <a:srgbClr val="800000"/>
                </a:solidFill>
                <a:latin typeface="微软雅黑" panose="020B0503020204020204" pitchFamily="34" charset="-122"/>
                <a:ea typeface="微软雅黑" panose="020B0503020204020204" pitchFamily="34" charset="-122"/>
              </a:rPr>
              <a:t>  进度基准</a:t>
            </a:r>
          </a:p>
          <a:p>
            <a:pPr algn="l"/>
            <a:r>
              <a:rPr lang="zh-CN" altLang="en-US" sz="2000" b="1" i="0" u="none" strike="noStrike" baseline="0" dirty="0">
                <a:latin typeface="SourceHanSansSC-Regular"/>
              </a:rPr>
              <a:t>         </a:t>
            </a:r>
            <a:r>
              <a:rPr lang="zh-CN" altLang="en-US" sz="2000" i="0" u="none" strike="noStrike" baseline="0" dirty="0">
                <a:latin typeface="微软雅黑" panose="020B0503020204020204" pitchFamily="34" charset="-122"/>
                <a:ea typeface="微软雅黑" panose="020B0503020204020204" pitchFamily="34" charset="-122"/>
              </a:rPr>
              <a:t>进度基准是经过批准的进度模型，只有通过正式的变更控制程序才能进行变更，用作与实际结果进行比较的依据。</a:t>
            </a:r>
            <a:endParaRPr lang="en-US" altLang="zh-CN" sz="2000" i="0" u="none" strike="noStrike" baseline="0" dirty="0">
              <a:latin typeface="微软雅黑" panose="020B0503020204020204" pitchFamily="34" charset="-122"/>
              <a:ea typeface="微软雅黑" panose="020B0503020204020204" pitchFamily="34" charset="-122"/>
            </a:endParaRPr>
          </a:p>
          <a:p>
            <a:pPr algn="l"/>
            <a:r>
              <a:rPr lang="zh-CN" altLang="en-US" sz="2000" b="1" dirty="0">
                <a:solidFill>
                  <a:srgbClr val="800000"/>
                </a:solidFill>
                <a:latin typeface="微软雅黑" panose="020B0503020204020204" pitchFamily="34" charset="-122"/>
                <a:ea typeface="微软雅黑" panose="020B0503020204020204" pitchFamily="34" charset="-122"/>
              </a:rPr>
              <a:t>  项目进度计划</a:t>
            </a:r>
            <a:endParaRPr lang="en-US" altLang="zh-CN" sz="2000" b="1" dirty="0">
              <a:solidFill>
                <a:srgbClr val="800000"/>
              </a:solidFill>
              <a:latin typeface="微软雅黑" panose="020B0503020204020204" pitchFamily="34" charset="-122"/>
              <a:ea typeface="微软雅黑" panose="020B0503020204020204" pitchFamily="34" charset="-122"/>
            </a:endParaRPr>
          </a:p>
          <a:p>
            <a:pPr algn="l"/>
            <a:r>
              <a:rPr lang="zh-CN" altLang="en-US" sz="2000" b="1" dirty="0">
                <a:latin typeface="SourceHanSansSC-Regular"/>
              </a:rPr>
              <a:t>         </a:t>
            </a:r>
            <a:r>
              <a:rPr lang="zh-CN" altLang="en-US" sz="2000" dirty="0">
                <a:latin typeface="微软雅黑" panose="020B0503020204020204" pitchFamily="34" charset="-122"/>
                <a:ea typeface="微软雅黑" panose="020B0503020204020204" pitchFamily="34" charset="-122"/>
              </a:rPr>
              <a:t>项目进度计划是进度模型的输出，为各个相互关联的活动标注了计划日期、持续时间、里程碑和所需资源等</a:t>
            </a:r>
            <a:endParaRPr lang="en-US" altLang="zh-CN" sz="2000" dirty="0">
              <a:latin typeface="微软雅黑" panose="020B0503020204020204" pitchFamily="34" charset="-122"/>
              <a:ea typeface="微软雅黑" panose="020B0503020204020204" pitchFamily="34" charset="-122"/>
            </a:endParaRPr>
          </a:p>
          <a:p>
            <a:pPr algn="l"/>
            <a:r>
              <a:rPr lang="zh-CN" altLang="en-US" sz="2000" b="1" dirty="0">
                <a:latin typeface="SourceHanSansSC-Regular"/>
              </a:rPr>
              <a:t>         </a:t>
            </a:r>
            <a:r>
              <a:rPr lang="zh-CN" altLang="en-US" sz="2000" dirty="0">
                <a:latin typeface="微软雅黑" panose="020B0503020204020204" pitchFamily="34" charset="-122"/>
                <a:ea typeface="微软雅黑" panose="020B0503020204020204" pitchFamily="34" charset="-122"/>
              </a:rPr>
              <a:t>还可以编制一份目标项目进度模型，规定每个活动的目标开始日期与目标完成日期。</a:t>
            </a:r>
            <a:endParaRPr lang="en-US" altLang="zh-CN" sz="2000" dirty="0">
              <a:latin typeface="微软雅黑" panose="020B0503020204020204" pitchFamily="34" charset="-122"/>
              <a:ea typeface="微软雅黑" panose="020B0503020204020204" pitchFamily="34" charset="-122"/>
            </a:endParaRPr>
          </a:p>
          <a:p>
            <a:pPr algn="l"/>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项目进度计划可以是</a:t>
            </a:r>
            <a:r>
              <a:rPr lang="zh-CN" altLang="en-US" sz="2000" dirty="0">
                <a:solidFill>
                  <a:srgbClr val="800000"/>
                </a:solidFill>
                <a:latin typeface="微软雅黑" panose="020B0503020204020204" pitchFamily="34" charset="-122"/>
                <a:ea typeface="微软雅黑" panose="020B0503020204020204" pitchFamily="34" charset="-122"/>
              </a:rPr>
              <a:t>概括的</a:t>
            </a:r>
            <a:r>
              <a:rPr lang="zh-CN" altLang="en-US" sz="2000" dirty="0">
                <a:latin typeface="微软雅黑" panose="020B0503020204020204" pitchFamily="34" charset="-122"/>
                <a:ea typeface="微软雅黑" panose="020B0503020204020204" pitchFamily="34" charset="-122"/>
              </a:rPr>
              <a:t>（有时称为主进度计划或里程碑进度计划）或</a:t>
            </a:r>
            <a:r>
              <a:rPr lang="zh-CN" altLang="en-US" sz="2000" dirty="0">
                <a:solidFill>
                  <a:srgbClr val="800000"/>
                </a:solidFill>
                <a:latin typeface="微软雅黑" panose="020B0503020204020204" pitchFamily="34" charset="-122"/>
                <a:ea typeface="微软雅黑" panose="020B0503020204020204" pitchFamily="34" charset="-122"/>
              </a:rPr>
              <a:t>详细的</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gn="l"/>
            <a:r>
              <a:rPr lang="en-US" altLang="zh-CN" sz="2000" b="1" dirty="0">
                <a:latin typeface="SourceHanSansSC-Regular"/>
              </a:rPr>
              <a:t>   </a:t>
            </a:r>
          </a:p>
          <a:p>
            <a:pPr algn="l"/>
            <a:r>
              <a:rPr lang="zh-CN" altLang="en-US" sz="1800" b="1" i="0" u="none" strike="noStrike" baseline="0" dirty="0">
                <a:latin typeface="微软雅黑" panose="020B0503020204020204" pitchFamily="34" charset="-122"/>
                <a:ea typeface="微软雅黑" panose="020B0503020204020204" pitchFamily="34" charset="-122"/>
              </a:rPr>
              <a:t>横道图。</a:t>
            </a:r>
            <a:r>
              <a:rPr lang="zh-CN" altLang="en-US" sz="1800" b="0" i="0" u="none" strike="noStrike" baseline="0" dirty="0">
                <a:latin typeface="微软雅黑" panose="020B0503020204020204" pitchFamily="34" charset="-122"/>
                <a:ea typeface="微软雅黑" panose="020B0503020204020204" pitchFamily="34" charset="-122"/>
              </a:rPr>
              <a:t>也称为“甘特图”，是展示进度信息的一种图表方式</a:t>
            </a:r>
            <a:r>
              <a:rPr lang="en-US" altLang="zh-CN" sz="2000" b="1" i="0" u="none" strike="noStrike" baseline="0" dirty="0">
                <a:latin typeface="微软雅黑" panose="020B0503020204020204" pitchFamily="34" charset="-122"/>
                <a:ea typeface="微软雅黑" panose="020B0503020204020204" pitchFamily="34" charset="-122"/>
              </a:rPr>
              <a:t>.</a:t>
            </a:r>
          </a:p>
          <a:p>
            <a:pPr algn="l"/>
            <a:r>
              <a:rPr lang="zh-CN" altLang="en-US" sz="1800" b="1" i="0" u="none" strike="noStrike" baseline="0" dirty="0">
                <a:latin typeface="微软雅黑" panose="020B0503020204020204" pitchFamily="34" charset="-122"/>
                <a:ea typeface="微软雅黑" panose="020B0503020204020204" pitchFamily="34" charset="-122"/>
              </a:rPr>
              <a:t>里程碑图。</a:t>
            </a:r>
            <a:r>
              <a:rPr lang="zh-CN" altLang="en-US" sz="1800" b="0" i="0" u="none" strike="noStrike" baseline="0" dirty="0">
                <a:latin typeface="微软雅黑" panose="020B0503020204020204" pitchFamily="34" charset="-122"/>
                <a:ea typeface="微软雅黑" panose="020B0503020204020204" pitchFamily="34" charset="-122"/>
              </a:rPr>
              <a:t>与横道图类似，但仅标示出主要可交付成果和关键外部接口的计划开始或完成日期</a:t>
            </a:r>
            <a:endParaRPr lang="en-US" altLang="zh-CN" sz="1800" b="0" i="0" u="none" strike="noStrike" baseline="0" dirty="0">
              <a:latin typeface="微软雅黑" panose="020B0503020204020204" pitchFamily="34" charset="-122"/>
              <a:ea typeface="微软雅黑" panose="020B0503020204020204" pitchFamily="34" charset="-122"/>
            </a:endParaRPr>
          </a:p>
          <a:p>
            <a:pPr algn="l"/>
            <a:r>
              <a:rPr lang="zh-CN" altLang="en-US" sz="1800" b="1" i="0" u="none" strike="noStrike" baseline="0" dirty="0">
                <a:latin typeface="微软雅黑" panose="020B0503020204020204" pitchFamily="34" charset="-122"/>
                <a:ea typeface="微软雅黑" panose="020B0503020204020204" pitchFamily="34" charset="-122"/>
              </a:rPr>
              <a:t>项目进度网络图。</a:t>
            </a:r>
            <a:r>
              <a:rPr lang="zh-CN" altLang="en-US" sz="1800" b="0" i="0" u="none" strike="noStrike" baseline="0" dirty="0">
                <a:latin typeface="微软雅黑" panose="020B0503020204020204" pitchFamily="34" charset="-122"/>
                <a:ea typeface="微软雅黑" panose="020B0503020204020204" pitchFamily="34" charset="-122"/>
              </a:rPr>
              <a:t>这些图形通常用活动节点法绘制，没有时间刻度，纯粹显示活动及其相互关系，有时也称为“纯逻辑图”</a:t>
            </a:r>
            <a:endParaRPr lang="zh-CN" altLang="en-US" sz="2000" b="1" dirty="0">
              <a:latin typeface="微软雅黑" panose="020B0503020204020204" pitchFamily="34" charset="-122"/>
              <a:ea typeface="微软雅黑" panose="020B0503020204020204" pitchFamily="34" charset="-122"/>
            </a:endParaRPr>
          </a:p>
        </p:txBody>
      </p:sp>
      <mc:AlternateContent xmlns:mc="http://schemas.openxmlformats.org/markup-compatibility/2006" xmlns:pslz="http://schemas.microsoft.com/office/powerpoint/2016/slidezoom">
        <mc:Choice Requires="pslz">
          <p:graphicFrame>
            <p:nvGraphicFramePr>
              <p:cNvPr id="6" name="幻灯片缩放定位 5">
                <a:extLst>
                  <a:ext uri="{FF2B5EF4-FFF2-40B4-BE49-F238E27FC236}">
                    <a16:creationId xmlns:a16="http://schemas.microsoft.com/office/drawing/2014/main" id="{4F77ED9F-C722-412C-899F-B1878ACE52BE}"/>
                  </a:ext>
                </a:extLst>
              </p:cNvPr>
              <p:cNvGraphicFramePr>
                <a:graphicFrameLocks noChangeAspect="1"/>
              </p:cNvGraphicFramePr>
              <p:nvPr>
                <p:extLst>
                  <p:ext uri="{D42A27DB-BD31-4B8C-83A1-F6EECF244321}">
                    <p14:modId xmlns:p14="http://schemas.microsoft.com/office/powerpoint/2010/main" val="2174858996"/>
                  </p:ext>
                </p:extLst>
              </p:nvPr>
            </p:nvGraphicFramePr>
            <p:xfrm>
              <a:off x="9079605" y="599869"/>
              <a:ext cx="2587336" cy="1455376"/>
            </p:xfrm>
            <a:graphic>
              <a:graphicData uri="http://schemas.microsoft.com/office/powerpoint/2016/slidezoom">
                <pslz:sldZm>
                  <pslz:sldZmObj sldId="496" cId="387890878">
                    <pslz:zmPr id="{B1C00D67-8881-4DC7-8CC8-46849FBE0879}" returnToParent="0" transitionDur="1000">
                      <p166:blipFill xmlns:p166="http://schemas.microsoft.com/office/powerpoint/2016/6/main">
                        <a:blip r:embed="rId3"/>
                        <a:stretch>
                          <a:fillRect/>
                        </a:stretch>
                      </p166:blipFill>
                      <p166:spPr xmlns:p166="http://schemas.microsoft.com/office/powerpoint/2016/6/main">
                        <a:xfrm>
                          <a:off x="0" y="0"/>
                          <a:ext cx="2587336" cy="1455376"/>
                        </a:xfrm>
                        <a:prstGeom prst="rect">
                          <a:avLst/>
                        </a:prstGeom>
                        <a:ln w="3175">
                          <a:solidFill>
                            <a:prstClr val="ltGray"/>
                          </a:solidFill>
                        </a:ln>
                      </p166:spPr>
                    </pslz:zmPr>
                  </pslz:sldZmObj>
                </pslz:sldZm>
              </a:graphicData>
            </a:graphic>
          </p:graphicFrame>
        </mc:Choice>
        <mc:Fallback xmlns="">
          <p:pic>
            <p:nvPicPr>
              <p:cNvPr id="6" name="幻灯片缩放定位 5">
                <a:hlinkClick r:id="rId4" action="ppaction://hlinksldjump"/>
                <a:extLst>
                  <a:ext uri="{FF2B5EF4-FFF2-40B4-BE49-F238E27FC236}">
                    <a16:creationId xmlns:a16="http://schemas.microsoft.com/office/drawing/2014/main" id="{4F77ED9F-C722-412C-899F-B1878ACE52BE}"/>
                  </a:ext>
                </a:extLst>
              </p:cNvPr>
              <p:cNvPicPr>
                <a:picLocks noGrp="1" noRot="1" noChangeAspect="1" noMove="1" noResize="1" noEditPoints="1" noAdjustHandles="1" noChangeArrowheads="1" noChangeShapeType="1"/>
              </p:cNvPicPr>
              <p:nvPr/>
            </p:nvPicPr>
            <p:blipFill>
              <a:blip r:embed="rId5"/>
              <a:stretch>
                <a:fillRect/>
              </a:stretch>
            </p:blipFill>
            <p:spPr>
              <a:xfrm>
                <a:off x="9079605" y="599869"/>
                <a:ext cx="2587336" cy="1455376"/>
              </a:xfrm>
              <a:prstGeom prst="rect">
                <a:avLst/>
              </a:prstGeom>
              <a:ln w="3175">
                <a:solidFill>
                  <a:prstClr val="ltGray"/>
                </a:solidFill>
              </a:ln>
            </p:spPr>
          </p:pic>
        </mc:Fallback>
      </mc:AlternateContent>
    </p:spTree>
    <p:extLst>
      <p:ext uri="{BB962C8B-B14F-4D97-AF65-F5344CB8AC3E}">
        <p14:creationId xmlns:p14="http://schemas.microsoft.com/office/powerpoint/2010/main" val="6587825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3" name="Rectangle 2">
            <a:extLst>
              <a:ext uri="{FF2B5EF4-FFF2-40B4-BE49-F238E27FC236}">
                <a16:creationId xmlns:a16="http://schemas.microsoft.com/office/drawing/2014/main" id="{75C23442-4DF2-4669-BA55-DC4B17CA4190}"/>
              </a:ext>
            </a:extLst>
          </p:cNvPr>
          <p:cNvSpPr>
            <a:spLocks noGrp="1" noChangeArrowheads="1"/>
          </p:cNvSpPr>
          <p:nvPr>
            <p:ph type="title"/>
          </p:nvPr>
        </p:nvSpPr>
        <p:spPr/>
        <p:txBody>
          <a:bodyPr/>
          <a:lstStyle/>
          <a:p>
            <a:r>
              <a:rPr lang="zh-CN" altLang="en-US" dirty="0"/>
              <a:t>横道图（甘特图）</a:t>
            </a:r>
          </a:p>
        </p:txBody>
      </p:sp>
      <p:sp>
        <p:nvSpPr>
          <p:cNvPr id="250884" name="Text Box 3">
            <a:extLst>
              <a:ext uri="{FF2B5EF4-FFF2-40B4-BE49-F238E27FC236}">
                <a16:creationId xmlns:a16="http://schemas.microsoft.com/office/drawing/2014/main" id="{73FBA3FA-BCA0-4BBF-8BA3-9F66D55E99ED}"/>
              </a:ext>
            </a:extLst>
          </p:cNvPr>
          <p:cNvSpPr txBox="1">
            <a:spLocks noChangeArrowheads="1"/>
          </p:cNvSpPr>
          <p:nvPr/>
        </p:nvSpPr>
        <p:spPr bwMode="auto">
          <a:xfrm>
            <a:off x="8857129" y="3619341"/>
            <a:ext cx="1524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1600" dirty="0"/>
              <a:t>日期</a:t>
            </a:r>
          </a:p>
        </p:txBody>
      </p:sp>
      <p:sp>
        <p:nvSpPr>
          <p:cNvPr id="250886" name="AutoShape 18">
            <a:extLst>
              <a:ext uri="{FF2B5EF4-FFF2-40B4-BE49-F238E27FC236}">
                <a16:creationId xmlns:a16="http://schemas.microsoft.com/office/drawing/2014/main" id="{13E7A3AD-B6A0-47C2-828D-20A9BC6DFA04}"/>
              </a:ext>
            </a:extLst>
          </p:cNvPr>
          <p:cNvSpPr>
            <a:spLocks noChangeArrowheads="1"/>
          </p:cNvSpPr>
          <p:nvPr/>
        </p:nvSpPr>
        <p:spPr bwMode="auto">
          <a:xfrm>
            <a:off x="2362200" y="4825521"/>
            <a:ext cx="7467600" cy="1062155"/>
          </a:xfrm>
          <a:prstGeom prst="wedgeRectCallout">
            <a:avLst>
              <a:gd name="adj1" fmla="val -18921"/>
              <a:gd name="adj2" fmla="val 14454"/>
            </a:avLst>
          </a:prstGeom>
          <a:gradFill rotWithShape="1">
            <a:gsLst>
              <a:gs pos="0">
                <a:srgbClr val="BBD4F3"/>
              </a:gs>
              <a:gs pos="50000">
                <a:srgbClr val="FFFFFF"/>
              </a:gs>
              <a:gs pos="100000">
                <a:srgbClr val="BBD4F3"/>
              </a:gs>
            </a:gsLst>
            <a:lin ang="540000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0"/>
              </a:spcBef>
              <a:buFontTx/>
              <a:buNone/>
            </a:pP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、可以显示活动历时长短</a:t>
            </a:r>
          </a:p>
          <a:p>
            <a:pPr eaLnBrk="1" hangingPunct="1">
              <a:lnSpc>
                <a:spcPct val="100000"/>
              </a:lnSpc>
              <a:spcBef>
                <a:spcPct val="0"/>
              </a:spcBef>
              <a:buFontTx/>
              <a:buNone/>
            </a:pP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、适合向管理层汇报</a:t>
            </a:r>
          </a:p>
        </p:txBody>
      </p:sp>
      <p:grpSp>
        <p:nvGrpSpPr>
          <p:cNvPr id="21" name="Group 3">
            <a:extLst>
              <a:ext uri="{FF2B5EF4-FFF2-40B4-BE49-F238E27FC236}">
                <a16:creationId xmlns:a16="http://schemas.microsoft.com/office/drawing/2014/main" id="{00BF26AC-7271-41D8-80C4-5A7ED0068C8B}"/>
              </a:ext>
            </a:extLst>
          </p:cNvPr>
          <p:cNvGrpSpPr>
            <a:grpSpLocks/>
          </p:cNvGrpSpPr>
          <p:nvPr/>
        </p:nvGrpSpPr>
        <p:grpSpPr bwMode="auto">
          <a:xfrm>
            <a:off x="2989729" y="1827746"/>
            <a:ext cx="5867400" cy="2484437"/>
            <a:chOff x="1080" y="3156"/>
            <a:chExt cx="6120" cy="3432"/>
          </a:xfrm>
        </p:grpSpPr>
        <p:grpSp>
          <p:nvGrpSpPr>
            <p:cNvPr id="22" name="Group 4">
              <a:extLst>
                <a:ext uri="{FF2B5EF4-FFF2-40B4-BE49-F238E27FC236}">
                  <a16:creationId xmlns:a16="http://schemas.microsoft.com/office/drawing/2014/main" id="{A99F4F3F-1D2C-4DD7-A250-A4EF5D4CF2BA}"/>
                </a:ext>
              </a:extLst>
            </p:cNvPr>
            <p:cNvGrpSpPr>
              <a:grpSpLocks/>
            </p:cNvGrpSpPr>
            <p:nvPr/>
          </p:nvGrpSpPr>
          <p:grpSpPr bwMode="auto">
            <a:xfrm>
              <a:off x="1080" y="3156"/>
              <a:ext cx="6120" cy="2964"/>
              <a:chOff x="1080" y="3156"/>
              <a:chExt cx="6120" cy="2964"/>
            </a:xfrm>
          </p:grpSpPr>
          <p:grpSp>
            <p:nvGrpSpPr>
              <p:cNvPr id="24" name="Group 5">
                <a:extLst>
                  <a:ext uri="{FF2B5EF4-FFF2-40B4-BE49-F238E27FC236}">
                    <a16:creationId xmlns:a16="http://schemas.microsoft.com/office/drawing/2014/main" id="{26BB143E-2E67-47BC-AE59-75553817AABA}"/>
                  </a:ext>
                </a:extLst>
              </p:cNvPr>
              <p:cNvGrpSpPr>
                <a:grpSpLocks/>
              </p:cNvGrpSpPr>
              <p:nvPr/>
            </p:nvGrpSpPr>
            <p:grpSpPr bwMode="auto">
              <a:xfrm>
                <a:off x="1760" y="5652"/>
                <a:ext cx="5020" cy="468"/>
                <a:chOff x="1760" y="5652"/>
                <a:chExt cx="5020" cy="468"/>
              </a:xfrm>
            </p:grpSpPr>
            <p:sp>
              <p:nvSpPr>
                <p:cNvPr id="43" name="Text Box 6">
                  <a:extLst>
                    <a:ext uri="{FF2B5EF4-FFF2-40B4-BE49-F238E27FC236}">
                      <a16:creationId xmlns:a16="http://schemas.microsoft.com/office/drawing/2014/main" id="{8C2E7EBC-298F-49ED-A84F-C17DFDFA4E1A}"/>
                    </a:ext>
                  </a:extLst>
                </p:cNvPr>
                <p:cNvSpPr txBox="1">
                  <a:spLocks noChangeArrowheads="1"/>
                </p:cNvSpPr>
                <p:nvPr/>
              </p:nvSpPr>
              <p:spPr bwMode="auto">
                <a:xfrm>
                  <a:off x="1760" y="5652"/>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 tIns="360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800"/>
                    <a:t>6</a:t>
                  </a:r>
                  <a:r>
                    <a:rPr kumimoji="1" lang="zh-CN" altLang="en-US" sz="1800"/>
                    <a:t>月</a:t>
                  </a:r>
                </a:p>
              </p:txBody>
            </p:sp>
            <p:sp>
              <p:nvSpPr>
                <p:cNvPr id="44" name="Text Box 7">
                  <a:extLst>
                    <a:ext uri="{FF2B5EF4-FFF2-40B4-BE49-F238E27FC236}">
                      <a16:creationId xmlns:a16="http://schemas.microsoft.com/office/drawing/2014/main" id="{AD99CE89-0C9C-4DCC-9F99-3EEBC97BA698}"/>
                    </a:ext>
                  </a:extLst>
                </p:cNvPr>
                <p:cNvSpPr txBox="1">
                  <a:spLocks noChangeArrowheads="1"/>
                </p:cNvSpPr>
                <p:nvPr/>
              </p:nvSpPr>
              <p:spPr bwMode="auto">
                <a:xfrm>
                  <a:off x="3540" y="5652"/>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 tIns="360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800"/>
                    <a:t>8</a:t>
                  </a:r>
                  <a:r>
                    <a:rPr kumimoji="1" lang="zh-CN" altLang="en-US" sz="1800"/>
                    <a:t>月</a:t>
                  </a:r>
                </a:p>
              </p:txBody>
            </p:sp>
            <p:sp>
              <p:nvSpPr>
                <p:cNvPr id="45" name="Text Box 8">
                  <a:extLst>
                    <a:ext uri="{FF2B5EF4-FFF2-40B4-BE49-F238E27FC236}">
                      <a16:creationId xmlns:a16="http://schemas.microsoft.com/office/drawing/2014/main" id="{8419649A-DA49-41AB-ACC4-37DE9451C331}"/>
                    </a:ext>
                  </a:extLst>
                </p:cNvPr>
                <p:cNvSpPr txBox="1">
                  <a:spLocks noChangeArrowheads="1"/>
                </p:cNvSpPr>
                <p:nvPr/>
              </p:nvSpPr>
              <p:spPr bwMode="auto">
                <a:xfrm>
                  <a:off x="2640" y="5652"/>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 tIns="360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800"/>
                    <a:t>7</a:t>
                  </a:r>
                  <a:r>
                    <a:rPr kumimoji="1" lang="zh-CN" altLang="en-US" sz="1800"/>
                    <a:t>月</a:t>
                  </a:r>
                </a:p>
              </p:txBody>
            </p:sp>
            <p:sp>
              <p:nvSpPr>
                <p:cNvPr id="46" name="Text Box 9">
                  <a:extLst>
                    <a:ext uri="{FF2B5EF4-FFF2-40B4-BE49-F238E27FC236}">
                      <a16:creationId xmlns:a16="http://schemas.microsoft.com/office/drawing/2014/main" id="{DC5DC714-5078-4B34-860A-079AABE0C269}"/>
                    </a:ext>
                  </a:extLst>
                </p:cNvPr>
                <p:cNvSpPr txBox="1">
                  <a:spLocks noChangeArrowheads="1"/>
                </p:cNvSpPr>
                <p:nvPr/>
              </p:nvSpPr>
              <p:spPr bwMode="auto">
                <a:xfrm>
                  <a:off x="5280" y="5652"/>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 tIns="360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800"/>
                    <a:t>10</a:t>
                  </a:r>
                  <a:r>
                    <a:rPr kumimoji="1" lang="zh-CN" altLang="en-US" sz="1800"/>
                    <a:t>月</a:t>
                  </a:r>
                </a:p>
              </p:txBody>
            </p:sp>
            <p:sp>
              <p:nvSpPr>
                <p:cNvPr id="47" name="Text Box 10">
                  <a:extLst>
                    <a:ext uri="{FF2B5EF4-FFF2-40B4-BE49-F238E27FC236}">
                      <a16:creationId xmlns:a16="http://schemas.microsoft.com/office/drawing/2014/main" id="{8CF12995-AB0B-487F-860C-3E8F6B457888}"/>
                    </a:ext>
                  </a:extLst>
                </p:cNvPr>
                <p:cNvSpPr txBox="1">
                  <a:spLocks noChangeArrowheads="1"/>
                </p:cNvSpPr>
                <p:nvPr/>
              </p:nvSpPr>
              <p:spPr bwMode="auto">
                <a:xfrm>
                  <a:off x="4440" y="5652"/>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 tIns="360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800"/>
                    <a:t>9</a:t>
                  </a:r>
                  <a:r>
                    <a:rPr kumimoji="1" lang="zh-CN" altLang="en-US" sz="1800"/>
                    <a:t>月</a:t>
                  </a:r>
                </a:p>
              </p:txBody>
            </p:sp>
            <p:sp>
              <p:nvSpPr>
                <p:cNvPr id="48" name="Text Box 11">
                  <a:extLst>
                    <a:ext uri="{FF2B5EF4-FFF2-40B4-BE49-F238E27FC236}">
                      <a16:creationId xmlns:a16="http://schemas.microsoft.com/office/drawing/2014/main" id="{0467A7C8-D7CC-4347-ADC9-9B86BD59FF67}"/>
                    </a:ext>
                  </a:extLst>
                </p:cNvPr>
                <p:cNvSpPr txBox="1">
                  <a:spLocks noChangeArrowheads="1"/>
                </p:cNvSpPr>
                <p:nvPr/>
              </p:nvSpPr>
              <p:spPr bwMode="auto">
                <a:xfrm>
                  <a:off x="6240" y="5652"/>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 tIns="360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800"/>
                    <a:t>11</a:t>
                  </a:r>
                  <a:r>
                    <a:rPr kumimoji="1" lang="zh-CN" altLang="en-US" sz="1800"/>
                    <a:t>月</a:t>
                  </a:r>
                </a:p>
              </p:txBody>
            </p:sp>
          </p:grpSp>
          <p:grpSp>
            <p:nvGrpSpPr>
              <p:cNvPr id="25" name="Group 12">
                <a:extLst>
                  <a:ext uri="{FF2B5EF4-FFF2-40B4-BE49-F238E27FC236}">
                    <a16:creationId xmlns:a16="http://schemas.microsoft.com/office/drawing/2014/main" id="{85200947-2F3E-4293-9158-036077C95541}"/>
                  </a:ext>
                </a:extLst>
              </p:cNvPr>
              <p:cNvGrpSpPr>
                <a:grpSpLocks/>
              </p:cNvGrpSpPr>
              <p:nvPr/>
            </p:nvGrpSpPr>
            <p:grpSpPr bwMode="auto">
              <a:xfrm>
                <a:off x="1080" y="3156"/>
                <a:ext cx="6120" cy="2496"/>
                <a:chOff x="1080" y="3156"/>
                <a:chExt cx="6120" cy="2496"/>
              </a:xfrm>
            </p:grpSpPr>
            <p:grpSp>
              <p:nvGrpSpPr>
                <p:cNvPr id="26" name="Group 13">
                  <a:extLst>
                    <a:ext uri="{FF2B5EF4-FFF2-40B4-BE49-F238E27FC236}">
                      <a16:creationId xmlns:a16="http://schemas.microsoft.com/office/drawing/2014/main" id="{5559FDD2-E3CB-43BB-8913-9FB7315ABA99}"/>
                    </a:ext>
                  </a:extLst>
                </p:cNvPr>
                <p:cNvGrpSpPr>
                  <a:grpSpLocks/>
                </p:cNvGrpSpPr>
                <p:nvPr/>
              </p:nvGrpSpPr>
              <p:grpSpPr bwMode="auto">
                <a:xfrm>
                  <a:off x="1980" y="3156"/>
                  <a:ext cx="5220" cy="2496"/>
                  <a:chOff x="1980" y="3156"/>
                  <a:chExt cx="5220" cy="2496"/>
                </a:xfrm>
              </p:grpSpPr>
              <p:sp>
                <p:nvSpPr>
                  <p:cNvPr id="31" name="Line 14">
                    <a:extLst>
                      <a:ext uri="{FF2B5EF4-FFF2-40B4-BE49-F238E27FC236}">
                        <a16:creationId xmlns:a16="http://schemas.microsoft.com/office/drawing/2014/main" id="{CFDC71E8-CA27-46D5-AB74-1632465606B7}"/>
                      </a:ext>
                    </a:extLst>
                  </p:cNvPr>
                  <p:cNvSpPr>
                    <a:spLocks noChangeShapeType="1"/>
                  </p:cNvSpPr>
                  <p:nvPr/>
                </p:nvSpPr>
                <p:spPr bwMode="auto">
                  <a:xfrm>
                    <a:off x="1980" y="3156"/>
                    <a:ext cx="0" cy="249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2" name="Group 15">
                    <a:extLst>
                      <a:ext uri="{FF2B5EF4-FFF2-40B4-BE49-F238E27FC236}">
                        <a16:creationId xmlns:a16="http://schemas.microsoft.com/office/drawing/2014/main" id="{DC70457B-D2C8-48A6-B004-53182C4418DE}"/>
                      </a:ext>
                    </a:extLst>
                  </p:cNvPr>
                  <p:cNvGrpSpPr>
                    <a:grpSpLocks/>
                  </p:cNvGrpSpPr>
                  <p:nvPr/>
                </p:nvGrpSpPr>
                <p:grpSpPr bwMode="auto">
                  <a:xfrm>
                    <a:off x="1980" y="5496"/>
                    <a:ext cx="5220" cy="156"/>
                    <a:chOff x="1980" y="5340"/>
                    <a:chExt cx="5220" cy="156"/>
                  </a:xfrm>
                </p:grpSpPr>
                <p:sp>
                  <p:nvSpPr>
                    <p:cNvPr id="37" name="Line 16">
                      <a:extLst>
                        <a:ext uri="{FF2B5EF4-FFF2-40B4-BE49-F238E27FC236}">
                          <a16:creationId xmlns:a16="http://schemas.microsoft.com/office/drawing/2014/main" id="{4247995C-252D-415E-AAE5-515AEFF3A7E9}"/>
                        </a:ext>
                      </a:extLst>
                    </p:cNvPr>
                    <p:cNvSpPr>
                      <a:spLocks noChangeShapeType="1"/>
                    </p:cNvSpPr>
                    <p:nvPr/>
                  </p:nvSpPr>
                  <p:spPr bwMode="auto">
                    <a:xfrm>
                      <a:off x="1980" y="5496"/>
                      <a:ext cx="52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Line 17">
                      <a:extLst>
                        <a:ext uri="{FF2B5EF4-FFF2-40B4-BE49-F238E27FC236}">
                          <a16:creationId xmlns:a16="http://schemas.microsoft.com/office/drawing/2014/main" id="{AEA18D4C-614D-46CC-A6FE-48E04FC512D9}"/>
                        </a:ext>
                      </a:extLst>
                    </p:cNvPr>
                    <p:cNvSpPr>
                      <a:spLocks noChangeShapeType="1"/>
                    </p:cNvSpPr>
                    <p:nvPr/>
                  </p:nvSpPr>
                  <p:spPr bwMode="auto">
                    <a:xfrm flipV="1">
                      <a:off x="2880" y="5340"/>
                      <a:ext cx="0" cy="15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 name="Line 18">
                      <a:extLst>
                        <a:ext uri="{FF2B5EF4-FFF2-40B4-BE49-F238E27FC236}">
                          <a16:creationId xmlns:a16="http://schemas.microsoft.com/office/drawing/2014/main" id="{63C742B1-1C56-4A31-8228-F8538DB730FF}"/>
                        </a:ext>
                      </a:extLst>
                    </p:cNvPr>
                    <p:cNvSpPr>
                      <a:spLocks noChangeShapeType="1"/>
                    </p:cNvSpPr>
                    <p:nvPr/>
                  </p:nvSpPr>
                  <p:spPr bwMode="auto">
                    <a:xfrm flipV="1">
                      <a:off x="3780" y="5340"/>
                      <a:ext cx="0" cy="15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 name="Line 19">
                      <a:extLst>
                        <a:ext uri="{FF2B5EF4-FFF2-40B4-BE49-F238E27FC236}">
                          <a16:creationId xmlns:a16="http://schemas.microsoft.com/office/drawing/2014/main" id="{1D897C0B-1C14-40B4-8E9B-7199AA9688CC}"/>
                        </a:ext>
                      </a:extLst>
                    </p:cNvPr>
                    <p:cNvSpPr>
                      <a:spLocks noChangeShapeType="1"/>
                    </p:cNvSpPr>
                    <p:nvPr/>
                  </p:nvSpPr>
                  <p:spPr bwMode="auto">
                    <a:xfrm flipV="1">
                      <a:off x="4680" y="5340"/>
                      <a:ext cx="0" cy="15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 name="Line 20">
                      <a:extLst>
                        <a:ext uri="{FF2B5EF4-FFF2-40B4-BE49-F238E27FC236}">
                          <a16:creationId xmlns:a16="http://schemas.microsoft.com/office/drawing/2014/main" id="{6D01A83F-504E-4C7C-BFE8-4309CA684B23}"/>
                        </a:ext>
                      </a:extLst>
                    </p:cNvPr>
                    <p:cNvSpPr>
                      <a:spLocks noChangeShapeType="1"/>
                    </p:cNvSpPr>
                    <p:nvPr/>
                  </p:nvSpPr>
                  <p:spPr bwMode="auto">
                    <a:xfrm flipV="1">
                      <a:off x="5580" y="5340"/>
                      <a:ext cx="0" cy="15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 name="Line 21">
                      <a:extLst>
                        <a:ext uri="{FF2B5EF4-FFF2-40B4-BE49-F238E27FC236}">
                          <a16:creationId xmlns:a16="http://schemas.microsoft.com/office/drawing/2014/main" id="{29F5CF8C-0D26-4B02-94E1-459E32607836}"/>
                        </a:ext>
                      </a:extLst>
                    </p:cNvPr>
                    <p:cNvSpPr>
                      <a:spLocks noChangeShapeType="1"/>
                    </p:cNvSpPr>
                    <p:nvPr/>
                  </p:nvSpPr>
                  <p:spPr bwMode="auto">
                    <a:xfrm flipV="1">
                      <a:off x="6480" y="5340"/>
                      <a:ext cx="0" cy="15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3" name="Rectangle 22">
                    <a:extLst>
                      <a:ext uri="{FF2B5EF4-FFF2-40B4-BE49-F238E27FC236}">
                        <a16:creationId xmlns:a16="http://schemas.microsoft.com/office/drawing/2014/main" id="{21D1993E-AB97-4CAE-8107-86477A872EBC}"/>
                      </a:ext>
                    </a:extLst>
                  </p:cNvPr>
                  <p:cNvSpPr>
                    <a:spLocks noChangeArrowheads="1"/>
                  </p:cNvSpPr>
                  <p:nvPr/>
                </p:nvSpPr>
                <p:spPr bwMode="auto">
                  <a:xfrm>
                    <a:off x="2880" y="4404"/>
                    <a:ext cx="4140" cy="31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4" name="Rectangle 23">
                    <a:extLst>
                      <a:ext uri="{FF2B5EF4-FFF2-40B4-BE49-F238E27FC236}">
                        <a16:creationId xmlns:a16="http://schemas.microsoft.com/office/drawing/2014/main" id="{AF9196A7-D706-4CED-ADC3-E18EEEA2346D}"/>
                      </a:ext>
                    </a:extLst>
                  </p:cNvPr>
                  <p:cNvSpPr>
                    <a:spLocks noChangeArrowheads="1"/>
                  </p:cNvSpPr>
                  <p:nvPr/>
                </p:nvSpPr>
                <p:spPr bwMode="auto">
                  <a:xfrm>
                    <a:off x="1980" y="3780"/>
                    <a:ext cx="2340" cy="31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5" name="Rectangle 24">
                    <a:extLst>
                      <a:ext uri="{FF2B5EF4-FFF2-40B4-BE49-F238E27FC236}">
                        <a16:creationId xmlns:a16="http://schemas.microsoft.com/office/drawing/2014/main" id="{4DCDC365-77C5-4207-B512-42447EE5B5D7}"/>
                      </a:ext>
                    </a:extLst>
                  </p:cNvPr>
                  <p:cNvSpPr>
                    <a:spLocks noChangeArrowheads="1"/>
                  </p:cNvSpPr>
                  <p:nvPr/>
                </p:nvSpPr>
                <p:spPr bwMode="auto">
                  <a:xfrm>
                    <a:off x="1980" y="3156"/>
                    <a:ext cx="900" cy="31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6" name="Rectangle 25">
                    <a:extLst>
                      <a:ext uri="{FF2B5EF4-FFF2-40B4-BE49-F238E27FC236}">
                        <a16:creationId xmlns:a16="http://schemas.microsoft.com/office/drawing/2014/main" id="{B7989C9B-5C9A-4C8B-AC3D-1B019A0182FD}"/>
                      </a:ext>
                    </a:extLst>
                  </p:cNvPr>
                  <p:cNvSpPr>
                    <a:spLocks noChangeArrowheads="1"/>
                  </p:cNvSpPr>
                  <p:nvPr/>
                </p:nvSpPr>
                <p:spPr bwMode="auto">
                  <a:xfrm>
                    <a:off x="3580" y="5028"/>
                    <a:ext cx="1440" cy="31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sp>
              <p:nvSpPr>
                <p:cNvPr id="27" name="Text Box 26">
                  <a:extLst>
                    <a:ext uri="{FF2B5EF4-FFF2-40B4-BE49-F238E27FC236}">
                      <a16:creationId xmlns:a16="http://schemas.microsoft.com/office/drawing/2014/main" id="{61E3876B-A37B-407B-9FA3-CD8CFD1B3DB4}"/>
                    </a:ext>
                  </a:extLst>
                </p:cNvPr>
                <p:cNvSpPr txBox="1">
                  <a:spLocks noChangeArrowheads="1"/>
                </p:cNvSpPr>
                <p:nvPr/>
              </p:nvSpPr>
              <p:spPr bwMode="auto">
                <a:xfrm>
                  <a:off x="1100" y="3312"/>
                  <a:ext cx="9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 tIns="360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800"/>
                    <a:t>活动</a:t>
                  </a:r>
                  <a:r>
                    <a:rPr kumimoji="1" lang="en-US" altLang="zh-CN" sz="1800"/>
                    <a:t>A</a:t>
                  </a:r>
                </a:p>
              </p:txBody>
            </p:sp>
            <p:sp>
              <p:nvSpPr>
                <p:cNvPr id="28" name="Text Box 27">
                  <a:extLst>
                    <a:ext uri="{FF2B5EF4-FFF2-40B4-BE49-F238E27FC236}">
                      <a16:creationId xmlns:a16="http://schemas.microsoft.com/office/drawing/2014/main" id="{15D96EE0-0C22-4522-A487-B90386558620}"/>
                    </a:ext>
                  </a:extLst>
                </p:cNvPr>
                <p:cNvSpPr txBox="1">
                  <a:spLocks noChangeArrowheads="1"/>
                </p:cNvSpPr>
                <p:nvPr/>
              </p:nvSpPr>
              <p:spPr bwMode="auto">
                <a:xfrm>
                  <a:off x="1080" y="3936"/>
                  <a:ext cx="9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 tIns="360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800"/>
                    <a:t>活动</a:t>
                  </a:r>
                  <a:r>
                    <a:rPr kumimoji="1" lang="en-US" altLang="zh-CN" sz="1800"/>
                    <a:t>B</a:t>
                  </a:r>
                </a:p>
              </p:txBody>
            </p:sp>
            <p:sp>
              <p:nvSpPr>
                <p:cNvPr id="29" name="Text Box 28">
                  <a:extLst>
                    <a:ext uri="{FF2B5EF4-FFF2-40B4-BE49-F238E27FC236}">
                      <a16:creationId xmlns:a16="http://schemas.microsoft.com/office/drawing/2014/main" id="{FC9502CF-AAFE-47F0-BF68-678358FE9924}"/>
                    </a:ext>
                  </a:extLst>
                </p:cNvPr>
                <p:cNvSpPr txBox="1">
                  <a:spLocks noChangeArrowheads="1"/>
                </p:cNvSpPr>
                <p:nvPr/>
              </p:nvSpPr>
              <p:spPr bwMode="auto">
                <a:xfrm>
                  <a:off x="1080" y="4560"/>
                  <a:ext cx="9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 tIns="360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800"/>
                    <a:t>活动</a:t>
                  </a:r>
                  <a:r>
                    <a:rPr kumimoji="1" lang="en-US" altLang="zh-CN" sz="1800"/>
                    <a:t>C</a:t>
                  </a:r>
                </a:p>
              </p:txBody>
            </p:sp>
            <p:sp>
              <p:nvSpPr>
                <p:cNvPr id="30" name="Text Box 29">
                  <a:extLst>
                    <a:ext uri="{FF2B5EF4-FFF2-40B4-BE49-F238E27FC236}">
                      <a16:creationId xmlns:a16="http://schemas.microsoft.com/office/drawing/2014/main" id="{45C9DCAE-3695-425D-A738-BAFC90224C90}"/>
                    </a:ext>
                  </a:extLst>
                </p:cNvPr>
                <p:cNvSpPr txBox="1">
                  <a:spLocks noChangeArrowheads="1"/>
                </p:cNvSpPr>
                <p:nvPr/>
              </p:nvSpPr>
              <p:spPr bwMode="auto">
                <a:xfrm>
                  <a:off x="1100" y="5184"/>
                  <a:ext cx="9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 tIns="360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800"/>
                    <a:t>活动</a:t>
                  </a:r>
                  <a:r>
                    <a:rPr kumimoji="1" lang="en-US" altLang="zh-CN" sz="1800"/>
                    <a:t>D</a:t>
                  </a:r>
                </a:p>
              </p:txBody>
            </p:sp>
          </p:grpSp>
        </p:grpSp>
        <p:sp>
          <p:nvSpPr>
            <p:cNvPr id="23" name="Text Box 30">
              <a:extLst>
                <a:ext uri="{FF2B5EF4-FFF2-40B4-BE49-F238E27FC236}">
                  <a16:creationId xmlns:a16="http://schemas.microsoft.com/office/drawing/2014/main" id="{B5742950-A216-4AD2-A6CB-4CAFE74A6759}"/>
                </a:ext>
              </a:extLst>
            </p:cNvPr>
            <p:cNvSpPr txBox="1">
              <a:spLocks noChangeArrowheads="1"/>
            </p:cNvSpPr>
            <p:nvPr/>
          </p:nvSpPr>
          <p:spPr bwMode="auto">
            <a:xfrm>
              <a:off x="2180" y="6120"/>
              <a:ext cx="46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 tIns="360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000" b="1"/>
                <a:t>甘特图的示意图</a:t>
              </a: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页脚占位符 4">
            <a:extLst>
              <a:ext uri="{FF2B5EF4-FFF2-40B4-BE49-F238E27FC236}">
                <a16:creationId xmlns:a16="http://schemas.microsoft.com/office/drawing/2014/main" id="{F1987A0C-AD91-4C22-AD98-6C93935BE27B}"/>
              </a:ext>
            </a:extLst>
          </p:cNvPr>
          <p:cNvSpPr>
            <a:spLocks noGrp="1"/>
          </p:cNvSpPr>
          <p:nvPr>
            <p:ph type="ftr" sz="quarter" idx="11"/>
          </p:nvPr>
        </p:nvSpPr>
        <p:spPr/>
        <p:txBody>
          <a:bodyPr/>
          <a:lstStyle/>
          <a:p>
            <a:pPr>
              <a:defRPr/>
            </a:pPr>
            <a:endParaRPr lang="zh-CN" altLang="en-US" dirty="0"/>
          </a:p>
        </p:txBody>
      </p:sp>
      <p:sp>
        <p:nvSpPr>
          <p:cNvPr id="251907" name="Rectangle 2">
            <a:extLst>
              <a:ext uri="{FF2B5EF4-FFF2-40B4-BE49-F238E27FC236}">
                <a16:creationId xmlns:a16="http://schemas.microsoft.com/office/drawing/2014/main" id="{7E3A5F73-7FE8-45DF-9BAF-9539E3E81E9C}"/>
              </a:ext>
            </a:extLst>
          </p:cNvPr>
          <p:cNvSpPr>
            <a:spLocks noGrp="1" noChangeArrowheads="1"/>
          </p:cNvSpPr>
          <p:nvPr>
            <p:ph type="title"/>
          </p:nvPr>
        </p:nvSpPr>
        <p:spPr>
          <a:xfrm>
            <a:off x="528053" y="989806"/>
            <a:ext cx="2660316" cy="563563"/>
          </a:xfrm>
        </p:spPr>
        <p:txBody>
          <a:bodyPr/>
          <a:lstStyle/>
          <a:p>
            <a:pPr eaLnBrk="1" hangingPunct="1"/>
            <a:r>
              <a:rPr lang="zh-CN" altLang="en-US" sz="2400" dirty="0"/>
              <a:t>甘特图与里程碑</a:t>
            </a:r>
          </a:p>
        </p:txBody>
      </p:sp>
      <p:graphicFrame>
        <p:nvGraphicFramePr>
          <p:cNvPr id="405656" name="Group 152">
            <a:extLst>
              <a:ext uri="{FF2B5EF4-FFF2-40B4-BE49-F238E27FC236}">
                <a16:creationId xmlns:a16="http://schemas.microsoft.com/office/drawing/2014/main" id="{E7B1D032-180F-4325-8CBE-1A69C0A38CE7}"/>
              </a:ext>
            </a:extLst>
          </p:cNvPr>
          <p:cNvGraphicFramePr>
            <a:graphicFrameLocks noGrp="1"/>
          </p:cNvGraphicFramePr>
          <p:nvPr>
            <p:ph idx="1"/>
            <p:extLst>
              <p:ext uri="{D42A27DB-BD31-4B8C-83A1-F6EECF244321}">
                <p14:modId xmlns:p14="http://schemas.microsoft.com/office/powerpoint/2010/main" val="945800817"/>
              </p:ext>
            </p:extLst>
          </p:nvPr>
        </p:nvGraphicFramePr>
        <p:xfrm>
          <a:off x="3302000" y="1271588"/>
          <a:ext cx="8229600" cy="5148538"/>
        </p:xfrm>
        <a:graphic>
          <a:graphicData uri="http://schemas.openxmlformats.org/drawingml/2006/table">
            <a:tbl>
              <a:tblPr/>
              <a:tblGrid>
                <a:gridCol w="6858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028700">
                  <a:extLst>
                    <a:ext uri="{9D8B030D-6E8A-4147-A177-3AD203B41FA5}">
                      <a16:colId xmlns:a16="http://schemas.microsoft.com/office/drawing/2014/main" val="20002"/>
                    </a:ext>
                  </a:extLst>
                </a:gridCol>
                <a:gridCol w="1028700">
                  <a:extLst>
                    <a:ext uri="{9D8B030D-6E8A-4147-A177-3AD203B41FA5}">
                      <a16:colId xmlns:a16="http://schemas.microsoft.com/office/drawing/2014/main" val="20003"/>
                    </a:ext>
                  </a:extLst>
                </a:gridCol>
                <a:gridCol w="1028700">
                  <a:extLst>
                    <a:ext uri="{9D8B030D-6E8A-4147-A177-3AD203B41FA5}">
                      <a16:colId xmlns:a16="http://schemas.microsoft.com/office/drawing/2014/main" val="20004"/>
                    </a:ext>
                  </a:extLst>
                </a:gridCol>
                <a:gridCol w="1028700">
                  <a:extLst>
                    <a:ext uri="{9D8B030D-6E8A-4147-A177-3AD203B41FA5}">
                      <a16:colId xmlns:a16="http://schemas.microsoft.com/office/drawing/2014/main" val="20005"/>
                    </a:ext>
                  </a:extLst>
                </a:gridCol>
                <a:gridCol w="1028700">
                  <a:extLst>
                    <a:ext uri="{9D8B030D-6E8A-4147-A177-3AD203B41FA5}">
                      <a16:colId xmlns:a16="http://schemas.microsoft.com/office/drawing/2014/main" val="20006"/>
                    </a:ext>
                  </a:extLst>
                </a:gridCol>
                <a:gridCol w="1028700">
                  <a:extLst>
                    <a:ext uri="{9D8B030D-6E8A-4147-A177-3AD203B41FA5}">
                      <a16:colId xmlns:a16="http://schemas.microsoft.com/office/drawing/2014/main" val="20007"/>
                    </a:ext>
                  </a:extLst>
                </a:gridCol>
              </a:tblGrid>
              <a:tr h="367887">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rPr>
                        <a:t>NO</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chemeClr val="accent1"/>
                        </a:gs>
                        <a:gs pos="100000">
                          <a:schemeClr val="accent1">
                            <a:gamma/>
                            <a:tint val="40000"/>
                            <a:invGamma/>
                          </a:schemeClr>
                        </a:gs>
                      </a:gsLst>
                      <a:lin ang="5400000" scaled="1"/>
                    </a:gra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任务</a:t>
                      </a: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a:t>
                      </a:r>
                      <a:r>
                        <a:rPr kumimoji="0" lang="zh-CN" altLang="en-US"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日期</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chemeClr val="accent1"/>
                        </a:gs>
                        <a:gs pos="100000">
                          <a:schemeClr val="accent1">
                            <a:gamma/>
                            <a:tint val="40000"/>
                            <a:invGamma/>
                          </a:schemeClr>
                        </a:gs>
                      </a:gsLst>
                      <a:lin ang="5400000" scaled="1"/>
                    </a:gra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r>
                        <a:rPr kumimoji="0" lang="zh-CN" altLang="en-US"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月</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chemeClr val="accent1"/>
                        </a:gs>
                        <a:gs pos="100000">
                          <a:schemeClr val="accent1">
                            <a:gamma/>
                            <a:tint val="40000"/>
                            <a:invGamma/>
                          </a:schemeClr>
                        </a:gs>
                      </a:gsLst>
                      <a:lin ang="5400000" scaled="1"/>
                    </a:gra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2</a:t>
                      </a:r>
                      <a:r>
                        <a:rPr kumimoji="0" lang="zh-CN" altLang="en-US"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月</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chemeClr val="accent1"/>
                        </a:gs>
                        <a:gs pos="100000">
                          <a:schemeClr val="accent1">
                            <a:gamma/>
                            <a:tint val="40000"/>
                            <a:invGamma/>
                          </a:schemeClr>
                        </a:gs>
                      </a:gsLst>
                      <a:lin ang="5400000" scaled="1"/>
                    </a:gra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3</a:t>
                      </a:r>
                      <a:r>
                        <a:rPr kumimoji="0" lang="zh-CN" altLang="en-US"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月</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chemeClr val="accent1"/>
                        </a:gs>
                        <a:gs pos="100000">
                          <a:schemeClr val="accent1">
                            <a:gamma/>
                            <a:tint val="40000"/>
                            <a:invGamma/>
                          </a:schemeClr>
                        </a:gs>
                      </a:gsLst>
                      <a:lin ang="5400000" scaled="1"/>
                    </a:gra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4</a:t>
                      </a:r>
                      <a:r>
                        <a:rPr kumimoji="0" lang="zh-CN" altLang="en-US"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月</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chemeClr val="accent1"/>
                        </a:gs>
                        <a:gs pos="100000">
                          <a:schemeClr val="accent1">
                            <a:gamma/>
                            <a:tint val="40000"/>
                            <a:invGamma/>
                          </a:schemeClr>
                        </a:gs>
                      </a:gsLst>
                      <a:lin ang="5400000" scaled="1"/>
                    </a:gra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5</a:t>
                      </a:r>
                      <a:r>
                        <a:rPr kumimoji="0" lang="zh-CN" altLang="en-US"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月</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chemeClr val="accent1"/>
                        </a:gs>
                        <a:gs pos="100000">
                          <a:schemeClr val="accent1">
                            <a:gamma/>
                            <a:tint val="40000"/>
                            <a:invGamma/>
                          </a:schemeClr>
                        </a:gs>
                      </a:gsLst>
                      <a:lin ang="5400000" scaled="1"/>
                    </a:gra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6</a:t>
                      </a:r>
                      <a:r>
                        <a:rPr kumimoji="0" lang="zh-CN" altLang="en-US"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月</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chemeClr val="accent1"/>
                        </a:gs>
                        <a:gs pos="100000">
                          <a:schemeClr val="accent1">
                            <a:gamma/>
                            <a:tint val="40000"/>
                            <a:invGamma/>
                          </a:schemeClr>
                        </a:gs>
                      </a:gsLst>
                      <a:lin ang="5400000" scaled="1"/>
                    </a:gradFill>
                  </a:tcPr>
                </a:tc>
                <a:extLst>
                  <a:ext uri="{0D108BD9-81ED-4DB2-BD59-A6C34878D82A}">
                    <a16:rowId xmlns:a16="http://schemas.microsoft.com/office/drawing/2014/main" val="10000"/>
                  </a:ext>
                </a:extLst>
              </a:tr>
              <a:tr h="398365">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Arial" panose="020B0604020202020204" pitchFamily="34" charset="0"/>
                          <a:ea typeface="黑体" panose="02010609060101010101" pitchFamily="49" charset="-122"/>
                        </a:rPr>
                        <a:t>1</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chemeClr val="tx1"/>
                          </a:solidFill>
                          <a:effectLst/>
                          <a:latin typeface="Arial" panose="020B0604020202020204" pitchFamily="34" charset="0"/>
                          <a:ea typeface="黑体" panose="02010609060101010101" pitchFamily="49" charset="-122"/>
                        </a:rPr>
                        <a:t>技术论证</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8365">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Arial" panose="020B0604020202020204" pitchFamily="34" charset="0"/>
                          <a:ea typeface="黑体" panose="02010609060101010101" pitchFamily="49" charset="-122"/>
                        </a:rPr>
                        <a:t>2</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chemeClr val="tx1"/>
                          </a:solidFill>
                          <a:effectLst/>
                          <a:latin typeface="Arial" panose="020B0604020202020204" pitchFamily="34" charset="0"/>
                          <a:ea typeface="黑体" panose="02010609060101010101" pitchFamily="49" charset="-122"/>
                        </a:rPr>
                        <a:t>招聘员工</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8365">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Arial" panose="020B0604020202020204" pitchFamily="34" charset="0"/>
                          <a:ea typeface="黑体" panose="02010609060101010101" pitchFamily="49" charset="-122"/>
                        </a:rPr>
                        <a:t>3</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chemeClr val="tx1"/>
                          </a:solidFill>
                          <a:effectLst/>
                          <a:latin typeface="Arial" panose="020B0604020202020204" pitchFamily="34" charset="0"/>
                          <a:ea typeface="黑体" panose="02010609060101010101" pitchFamily="49" charset="-122"/>
                        </a:rPr>
                        <a:t>员工培训</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8365">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Arial" panose="020B0604020202020204" pitchFamily="34" charset="0"/>
                          <a:ea typeface="黑体" panose="02010609060101010101" pitchFamily="49" charset="-122"/>
                        </a:rPr>
                        <a:t>4</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chemeClr val="tx1"/>
                          </a:solidFill>
                          <a:effectLst/>
                          <a:latin typeface="Arial" panose="020B0604020202020204" pitchFamily="34" charset="0"/>
                          <a:ea typeface="黑体" panose="02010609060101010101" pitchFamily="49" charset="-122"/>
                        </a:rPr>
                        <a:t>软件开发</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8365">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Arial" panose="020B0604020202020204" pitchFamily="34" charset="0"/>
                          <a:ea typeface="黑体" panose="02010609060101010101" pitchFamily="49" charset="-122"/>
                        </a:rPr>
                        <a:t>5</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chemeClr val="tx1"/>
                          </a:solidFill>
                          <a:effectLst/>
                          <a:latin typeface="Arial" panose="020B0604020202020204" pitchFamily="34" charset="0"/>
                          <a:ea typeface="黑体" panose="02010609060101010101" pitchFamily="49" charset="-122"/>
                        </a:rPr>
                        <a:t>加工样品</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98365">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Arial" panose="020B0604020202020204" pitchFamily="34" charset="0"/>
                          <a:ea typeface="黑体" panose="02010609060101010101" pitchFamily="49" charset="-122"/>
                        </a:rPr>
                        <a:t>6</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chemeClr val="tx1"/>
                          </a:solidFill>
                          <a:effectLst/>
                          <a:latin typeface="Arial" panose="020B0604020202020204" pitchFamily="34" charset="0"/>
                          <a:ea typeface="黑体" panose="02010609060101010101" pitchFamily="49" charset="-122"/>
                        </a:rPr>
                        <a:t>模拟测试</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98365">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Arial" panose="020B0604020202020204" pitchFamily="34" charset="0"/>
                          <a:ea typeface="黑体" panose="02010609060101010101" pitchFamily="49" charset="-122"/>
                        </a:rPr>
                        <a:t>7</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chemeClr val="tx1"/>
                          </a:solidFill>
                          <a:effectLst/>
                          <a:latin typeface="Arial" panose="020B0604020202020204" pitchFamily="34" charset="0"/>
                          <a:ea typeface="黑体" panose="02010609060101010101" pitchFamily="49" charset="-122"/>
                        </a:rPr>
                        <a:t>制作模型</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98365">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Arial" panose="020B0604020202020204" pitchFamily="34" charset="0"/>
                          <a:ea typeface="黑体" panose="02010609060101010101" pitchFamily="49" charset="-122"/>
                        </a:rPr>
                        <a:t>8</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chemeClr val="tx1"/>
                          </a:solidFill>
                          <a:effectLst/>
                          <a:latin typeface="Arial" panose="020B0604020202020204" pitchFamily="34" charset="0"/>
                          <a:ea typeface="黑体" panose="02010609060101010101" pitchFamily="49" charset="-122"/>
                        </a:rPr>
                        <a:t>申报检验</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98365">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Arial" panose="020B0604020202020204" pitchFamily="34" charset="0"/>
                          <a:ea typeface="黑体" panose="02010609060101010101" pitchFamily="49" charset="-122"/>
                        </a:rPr>
                        <a:t>9</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chemeClr val="tx1"/>
                          </a:solidFill>
                          <a:effectLst/>
                          <a:latin typeface="Arial" panose="020B0604020202020204" pitchFamily="34" charset="0"/>
                          <a:ea typeface="黑体" panose="02010609060101010101" pitchFamily="49" charset="-122"/>
                        </a:rPr>
                        <a:t>通过检验</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98365">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Arial" panose="020B0604020202020204" pitchFamily="34" charset="0"/>
                          <a:ea typeface="黑体" panose="02010609060101010101" pitchFamily="49" charset="-122"/>
                        </a:rPr>
                        <a:t>10</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chemeClr val="tx1"/>
                          </a:solidFill>
                          <a:effectLst/>
                          <a:latin typeface="Arial" panose="020B0604020202020204" pitchFamily="34" charset="0"/>
                          <a:ea typeface="黑体" panose="02010609060101010101" pitchFamily="49" charset="-122"/>
                        </a:rPr>
                        <a:t>委托加工</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98365">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Arial" panose="020B0604020202020204" pitchFamily="34" charset="0"/>
                          <a:ea typeface="黑体" panose="02010609060101010101" pitchFamily="49" charset="-122"/>
                        </a:rPr>
                        <a:t>11</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chemeClr val="tx1"/>
                          </a:solidFill>
                          <a:effectLst/>
                          <a:latin typeface="Arial" panose="020B0604020202020204" pitchFamily="34" charset="0"/>
                          <a:ea typeface="黑体" panose="02010609060101010101" pitchFamily="49" charset="-122"/>
                        </a:rPr>
                        <a:t>试点安装</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98365">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Arial" panose="020B0604020202020204" pitchFamily="34" charset="0"/>
                          <a:ea typeface="黑体" panose="02010609060101010101" pitchFamily="49" charset="-122"/>
                        </a:rPr>
                        <a:t>12</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chemeClr val="tx1"/>
                          </a:solidFill>
                          <a:effectLst/>
                          <a:latin typeface="Arial" panose="020B0604020202020204" pitchFamily="34" charset="0"/>
                          <a:ea typeface="黑体" panose="02010609060101010101" pitchFamily="49" charset="-122"/>
                        </a:rPr>
                        <a:t>试点验收</a:t>
                      </a: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dirty="0">
                        <a:ln>
                          <a:noFill/>
                        </a:ln>
                        <a:solidFill>
                          <a:schemeClr val="tx1"/>
                        </a:solidFill>
                        <a:effectLst/>
                        <a:latin typeface="Arial" panose="020B0604020202020204" pitchFamily="34" charset="0"/>
                        <a:ea typeface="黑体" panose="02010609060101010101" pitchFamily="49" charset="-122"/>
                      </a:endParaRPr>
                    </a:p>
                  </a:txBody>
                  <a:tcPr marL="90000" marR="90000" marT="46793" marB="46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bl>
          </a:graphicData>
        </a:graphic>
      </p:graphicFrame>
      <p:sp>
        <p:nvSpPr>
          <p:cNvPr id="405639" name="Rectangle 135">
            <a:extLst>
              <a:ext uri="{FF2B5EF4-FFF2-40B4-BE49-F238E27FC236}">
                <a16:creationId xmlns:a16="http://schemas.microsoft.com/office/drawing/2014/main" id="{AD9B1453-D3DD-4A30-A5F5-05D067C1F95E}"/>
              </a:ext>
            </a:extLst>
          </p:cNvPr>
          <p:cNvSpPr>
            <a:spLocks noChangeArrowheads="1"/>
          </p:cNvSpPr>
          <p:nvPr/>
        </p:nvSpPr>
        <p:spPr bwMode="auto">
          <a:xfrm>
            <a:off x="5435600" y="1600200"/>
            <a:ext cx="381000" cy="381000"/>
          </a:xfrm>
          <a:prstGeom prst="rect">
            <a:avLst/>
          </a:prstGeom>
          <a:solidFill>
            <a:srgbClr val="D60093"/>
          </a:solidFill>
          <a:ln w="9525" algn="ctr">
            <a:solidFill>
              <a:schemeClr val="tx1"/>
            </a:solidFill>
            <a:miter lim="800000"/>
            <a:headEnd/>
            <a:tailEnd/>
          </a:ln>
          <a:effectLst/>
        </p:spPr>
        <p:txBody>
          <a:bodyPr wrap="none" lIns="90000" tIns="46800" rIns="90000" bIns="46800" anchor="ctr"/>
          <a:lstStyle/>
          <a:p>
            <a:pPr algn="ctr" eaLnBrk="1" hangingPunct="1">
              <a:spcBef>
                <a:spcPct val="20000"/>
              </a:spcBef>
              <a:defRPr/>
            </a:pPr>
            <a:r>
              <a:rPr lang="en-US" altLang="zh-CN" sz="2000">
                <a:solidFill>
                  <a:schemeClr val="bg1"/>
                </a:solidFill>
                <a:effectLst>
                  <a:outerShdw blurRad="38100" dist="38100" dir="2700000" algn="tl">
                    <a:srgbClr val="000000"/>
                  </a:outerShdw>
                </a:effectLst>
                <a:latin typeface="Arial" panose="020B0604020202020204" pitchFamily="34" charset="0"/>
                <a:ea typeface="宋体" panose="02010600030101010101" pitchFamily="2" charset="-122"/>
              </a:rPr>
              <a:t>10</a:t>
            </a:r>
          </a:p>
        </p:txBody>
      </p:sp>
      <p:sp>
        <p:nvSpPr>
          <p:cNvPr id="405640" name="Rectangle 136">
            <a:extLst>
              <a:ext uri="{FF2B5EF4-FFF2-40B4-BE49-F238E27FC236}">
                <a16:creationId xmlns:a16="http://schemas.microsoft.com/office/drawing/2014/main" id="{604190E6-6CCB-40D4-86B5-AC8D6B813694}"/>
              </a:ext>
            </a:extLst>
          </p:cNvPr>
          <p:cNvSpPr>
            <a:spLocks noChangeArrowheads="1"/>
          </p:cNvSpPr>
          <p:nvPr/>
        </p:nvSpPr>
        <p:spPr bwMode="auto">
          <a:xfrm>
            <a:off x="5816600" y="2057400"/>
            <a:ext cx="609600" cy="381000"/>
          </a:xfrm>
          <a:prstGeom prst="rect">
            <a:avLst/>
          </a:prstGeom>
          <a:solidFill>
            <a:srgbClr val="D60093"/>
          </a:solidFill>
          <a:ln w="9525" algn="ctr">
            <a:solidFill>
              <a:schemeClr val="tx1"/>
            </a:solidFill>
            <a:miter lim="800000"/>
            <a:headEnd/>
            <a:tailEnd/>
          </a:ln>
          <a:effectLst/>
        </p:spPr>
        <p:txBody>
          <a:bodyPr wrap="none" lIns="90000" tIns="46800" rIns="90000" bIns="46800" anchor="ctr"/>
          <a:lstStyle/>
          <a:p>
            <a:pPr algn="ctr" eaLnBrk="1" hangingPunct="1">
              <a:spcBef>
                <a:spcPct val="20000"/>
              </a:spcBef>
              <a:defRPr/>
            </a:pPr>
            <a:r>
              <a:rPr lang="en-US" altLang="zh-CN" sz="2000">
                <a:solidFill>
                  <a:schemeClr val="bg1"/>
                </a:solidFill>
                <a:effectLst>
                  <a:outerShdw blurRad="38100" dist="38100" dir="2700000" algn="tl">
                    <a:srgbClr val="000000"/>
                  </a:outerShdw>
                </a:effectLst>
                <a:latin typeface="Arial" panose="020B0604020202020204" pitchFamily="34" charset="0"/>
                <a:ea typeface="宋体" panose="02010600030101010101" pitchFamily="2" charset="-122"/>
              </a:rPr>
              <a:t>20</a:t>
            </a:r>
          </a:p>
        </p:txBody>
      </p:sp>
      <p:sp>
        <p:nvSpPr>
          <p:cNvPr id="405641" name="Rectangle 137">
            <a:extLst>
              <a:ext uri="{FF2B5EF4-FFF2-40B4-BE49-F238E27FC236}">
                <a16:creationId xmlns:a16="http://schemas.microsoft.com/office/drawing/2014/main" id="{FDF9E297-F263-472C-8035-CDBB772D9F90}"/>
              </a:ext>
            </a:extLst>
          </p:cNvPr>
          <p:cNvSpPr>
            <a:spLocks noChangeArrowheads="1"/>
          </p:cNvSpPr>
          <p:nvPr/>
        </p:nvSpPr>
        <p:spPr bwMode="auto">
          <a:xfrm>
            <a:off x="6045200" y="2438400"/>
            <a:ext cx="914400" cy="381000"/>
          </a:xfrm>
          <a:prstGeom prst="rect">
            <a:avLst/>
          </a:prstGeom>
          <a:solidFill>
            <a:srgbClr val="D60093"/>
          </a:solidFill>
          <a:ln w="9525" algn="ctr">
            <a:solidFill>
              <a:schemeClr val="tx1"/>
            </a:solidFill>
            <a:miter lim="800000"/>
            <a:headEnd/>
            <a:tailEnd/>
          </a:ln>
          <a:effectLst/>
        </p:spPr>
        <p:txBody>
          <a:bodyPr wrap="none" lIns="90000" tIns="46800" rIns="90000" bIns="46800" anchor="ctr"/>
          <a:lstStyle/>
          <a:p>
            <a:pPr algn="ctr" eaLnBrk="1" hangingPunct="1">
              <a:spcBef>
                <a:spcPct val="20000"/>
              </a:spcBef>
              <a:defRPr/>
            </a:pPr>
            <a:r>
              <a:rPr lang="en-US" altLang="zh-CN" sz="2000">
                <a:solidFill>
                  <a:schemeClr val="bg1"/>
                </a:solidFill>
                <a:effectLst>
                  <a:outerShdw blurRad="38100" dist="38100" dir="2700000" algn="tl">
                    <a:srgbClr val="000000"/>
                  </a:outerShdw>
                </a:effectLst>
                <a:latin typeface="Arial" panose="020B0604020202020204" pitchFamily="34" charset="0"/>
                <a:ea typeface="宋体" panose="02010600030101010101" pitchFamily="2" charset="-122"/>
              </a:rPr>
              <a:t>30</a:t>
            </a:r>
          </a:p>
        </p:txBody>
      </p:sp>
      <p:sp>
        <p:nvSpPr>
          <p:cNvPr id="405642" name="Rectangle 138">
            <a:extLst>
              <a:ext uri="{FF2B5EF4-FFF2-40B4-BE49-F238E27FC236}">
                <a16:creationId xmlns:a16="http://schemas.microsoft.com/office/drawing/2014/main" id="{CC0382DB-035C-439E-B872-2903454C614D}"/>
              </a:ext>
            </a:extLst>
          </p:cNvPr>
          <p:cNvSpPr>
            <a:spLocks noChangeArrowheads="1"/>
          </p:cNvSpPr>
          <p:nvPr/>
        </p:nvSpPr>
        <p:spPr bwMode="auto">
          <a:xfrm>
            <a:off x="6045200" y="2819400"/>
            <a:ext cx="1371600" cy="381000"/>
          </a:xfrm>
          <a:prstGeom prst="rect">
            <a:avLst/>
          </a:prstGeom>
          <a:solidFill>
            <a:srgbClr val="1106E4"/>
          </a:solidFill>
          <a:ln w="9525" algn="ctr">
            <a:solidFill>
              <a:schemeClr val="tx1"/>
            </a:solidFill>
            <a:miter lim="800000"/>
            <a:headEnd/>
            <a:tailEnd/>
          </a:ln>
          <a:effectLst/>
        </p:spPr>
        <p:txBody>
          <a:bodyPr wrap="none" lIns="90000" tIns="46800" rIns="90000" bIns="46800" anchor="ctr"/>
          <a:lstStyle/>
          <a:p>
            <a:pPr algn="ctr" eaLnBrk="1" hangingPunct="1">
              <a:spcBef>
                <a:spcPct val="20000"/>
              </a:spcBef>
              <a:defRPr/>
            </a:pPr>
            <a:r>
              <a:rPr lang="en-US" altLang="zh-CN" sz="2000">
                <a:solidFill>
                  <a:schemeClr val="bg1"/>
                </a:solidFill>
                <a:effectLst>
                  <a:outerShdw blurRad="38100" dist="38100" dir="2700000" algn="tl">
                    <a:srgbClr val="000000"/>
                  </a:outerShdw>
                </a:effectLst>
                <a:latin typeface="Arial" panose="020B0604020202020204" pitchFamily="34" charset="0"/>
                <a:ea typeface="宋体" panose="02010600030101010101" pitchFamily="2" charset="-122"/>
              </a:rPr>
              <a:t>40</a:t>
            </a:r>
          </a:p>
        </p:txBody>
      </p:sp>
      <p:sp>
        <p:nvSpPr>
          <p:cNvPr id="405643" name="Rectangle 139">
            <a:extLst>
              <a:ext uri="{FF2B5EF4-FFF2-40B4-BE49-F238E27FC236}">
                <a16:creationId xmlns:a16="http://schemas.microsoft.com/office/drawing/2014/main" id="{741BB3F0-0E53-4755-AF5F-342D52044927}"/>
              </a:ext>
            </a:extLst>
          </p:cNvPr>
          <p:cNvSpPr>
            <a:spLocks noChangeArrowheads="1"/>
          </p:cNvSpPr>
          <p:nvPr/>
        </p:nvSpPr>
        <p:spPr bwMode="auto">
          <a:xfrm>
            <a:off x="6426200" y="3200400"/>
            <a:ext cx="990600" cy="381000"/>
          </a:xfrm>
          <a:prstGeom prst="rect">
            <a:avLst/>
          </a:prstGeom>
          <a:solidFill>
            <a:srgbClr val="1106E4"/>
          </a:solidFill>
          <a:ln w="9525" algn="ctr">
            <a:solidFill>
              <a:schemeClr val="tx1"/>
            </a:solidFill>
            <a:miter lim="800000"/>
            <a:headEnd/>
            <a:tailEnd/>
          </a:ln>
          <a:effectLst/>
        </p:spPr>
        <p:txBody>
          <a:bodyPr wrap="none" lIns="90000" tIns="46800" rIns="90000" bIns="46800" anchor="ctr"/>
          <a:lstStyle/>
          <a:p>
            <a:pPr algn="ctr" eaLnBrk="1" hangingPunct="1">
              <a:spcBef>
                <a:spcPct val="20000"/>
              </a:spcBef>
              <a:defRPr/>
            </a:pPr>
            <a:r>
              <a:rPr lang="en-US" altLang="zh-CN" sz="2000">
                <a:solidFill>
                  <a:schemeClr val="bg1"/>
                </a:solidFill>
                <a:effectLst>
                  <a:outerShdw blurRad="38100" dist="38100" dir="2700000" algn="tl">
                    <a:srgbClr val="000000"/>
                  </a:outerShdw>
                </a:effectLst>
                <a:latin typeface="Arial" panose="020B0604020202020204" pitchFamily="34" charset="0"/>
                <a:ea typeface="宋体" panose="02010600030101010101" pitchFamily="2" charset="-122"/>
              </a:rPr>
              <a:t>30</a:t>
            </a:r>
          </a:p>
        </p:txBody>
      </p:sp>
      <p:sp>
        <p:nvSpPr>
          <p:cNvPr id="405644" name="Rectangle 140">
            <a:extLst>
              <a:ext uri="{FF2B5EF4-FFF2-40B4-BE49-F238E27FC236}">
                <a16:creationId xmlns:a16="http://schemas.microsoft.com/office/drawing/2014/main" id="{6DED8B3B-2881-444A-B59A-EEBDE9697AC0}"/>
              </a:ext>
            </a:extLst>
          </p:cNvPr>
          <p:cNvSpPr>
            <a:spLocks noChangeArrowheads="1"/>
          </p:cNvSpPr>
          <p:nvPr/>
        </p:nvSpPr>
        <p:spPr bwMode="auto">
          <a:xfrm>
            <a:off x="7416800" y="3581400"/>
            <a:ext cx="381000" cy="381000"/>
          </a:xfrm>
          <a:prstGeom prst="rect">
            <a:avLst/>
          </a:prstGeom>
          <a:solidFill>
            <a:srgbClr val="1106E4"/>
          </a:solidFill>
          <a:ln w="9525" algn="ctr">
            <a:solidFill>
              <a:schemeClr val="tx1"/>
            </a:solidFill>
            <a:miter lim="800000"/>
            <a:headEnd/>
            <a:tailEnd/>
          </a:ln>
          <a:effectLst/>
        </p:spPr>
        <p:txBody>
          <a:bodyPr wrap="none" lIns="90000" tIns="46800" rIns="90000" bIns="46800" anchor="ctr"/>
          <a:lstStyle/>
          <a:p>
            <a:pPr algn="ctr" eaLnBrk="1" hangingPunct="1">
              <a:spcBef>
                <a:spcPct val="20000"/>
              </a:spcBef>
              <a:defRPr/>
            </a:pPr>
            <a:r>
              <a:rPr lang="en-US" altLang="zh-CN" sz="2000">
                <a:solidFill>
                  <a:schemeClr val="bg1"/>
                </a:solidFill>
                <a:effectLst>
                  <a:outerShdw blurRad="38100" dist="38100" dir="2700000" algn="tl">
                    <a:srgbClr val="000000"/>
                  </a:outerShdw>
                </a:effectLst>
                <a:latin typeface="Arial" panose="020B0604020202020204" pitchFamily="34" charset="0"/>
                <a:ea typeface="宋体" panose="02010600030101010101" pitchFamily="2" charset="-122"/>
              </a:rPr>
              <a:t>10</a:t>
            </a:r>
          </a:p>
        </p:txBody>
      </p:sp>
      <p:sp>
        <p:nvSpPr>
          <p:cNvPr id="405645" name="Rectangle 141">
            <a:extLst>
              <a:ext uri="{FF2B5EF4-FFF2-40B4-BE49-F238E27FC236}">
                <a16:creationId xmlns:a16="http://schemas.microsoft.com/office/drawing/2014/main" id="{CCBCCA8D-0F6B-4BD0-B9EA-33B514C45B6C}"/>
              </a:ext>
            </a:extLst>
          </p:cNvPr>
          <p:cNvSpPr>
            <a:spLocks noChangeArrowheads="1"/>
          </p:cNvSpPr>
          <p:nvPr/>
        </p:nvSpPr>
        <p:spPr bwMode="auto">
          <a:xfrm>
            <a:off x="7797800" y="4038600"/>
            <a:ext cx="609600" cy="381000"/>
          </a:xfrm>
          <a:prstGeom prst="rect">
            <a:avLst/>
          </a:prstGeom>
          <a:solidFill>
            <a:srgbClr val="1106E4"/>
          </a:solidFill>
          <a:ln w="9525" algn="ctr">
            <a:solidFill>
              <a:schemeClr val="tx1"/>
            </a:solidFill>
            <a:miter lim="800000"/>
            <a:headEnd/>
            <a:tailEnd/>
          </a:ln>
          <a:effectLst/>
        </p:spPr>
        <p:txBody>
          <a:bodyPr wrap="none" lIns="90000" tIns="46800" rIns="90000" bIns="46800" anchor="ctr"/>
          <a:lstStyle/>
          <a:p>
            <a:pPr algn="ctr" eaLnBrk="1" hangingPunct="1">
              <a:spcBef>
                <a:spcPct val="20000"/>
              </a:spcBef>
              <a:defRPr/>
            </a:pPr>
            <a:r>
              <a:rPr lang="en-US" altLang="zh-CN" sz="2000">
                <a:solidFill>
                  <a:schemeClr val="bg1"/>
                </a:solidFill>
                <a:effectLst>
                  <a:outerShdw blurRad="38100" dist="38100" dir="2700000" algn="tl">
                    <a:srgbClr val="000000"/>
                  </a:outerShdw>
                </a:effectLst>
                <a:latin typeface="Arial" panose="020B0604020202020204" pitchFamily="34" charset="0"/>
                <a:ea typeface="宋体" panose="02010600030101010101" pitchFamily="2" charset="-122"/>
              </a:rPr>
              <a:t>20</a:t>
            </a:r>
          </a:p>
        </p:txBody>
      </p:sp>
      <p:sp>
        <p:nvSpPr>
          <p:cNvPr id="405646" name="Rectangle 142">
            <a:extLst>
              <a:ext uri="{FF2B5EF4-FFF2-40B4-BE49-F238E27FC236}">
                <a16:creationId xmlns:a16="http://schemas.microsoft.com/office/drawing/2014/main" id="{E2A08CC4-479F-478E-BE76-2E2B1EDAB970}"/>
              </a:ext>
            </a:extLst>
          </p:cNvPr>
          <p:cNvSpPr>
            <a:spLocks noChangeArrowheads="1"/>
          </p:cNvSpPr>
          <p:nvPr/>
        </p:nvSpPr>
        <p:spPr bwMode="auto">
          <a:xfrm>
            <a:off x="7797800" y="4419600"/>
            <a:ext cx="152400" cy="381000"/>
          </a:xfrm>
          <a:prstGeom prst="rect">
            <a:avLst/>
          </a:prstGeom>
          <a:solidFill>
            <a:srgbClr val="1106E4"/>
          </a:solidFill>
          <a:ln w="9525" algn="ctr">
            <a:solidFill>
              <a:schemeClr val="tx1"/>
            </a:solidFill>
            <a:miter lim="800000"/>
            <a:headEnd/>
            <a:tailEnd/>
          </a:ln>
          <a:effectLst/>
        </p:spPr>
        <p:txBody>
          <a:bodyPr wrap="none" lIns="90000" tIns="46800" rIns="90000" bIns="46800" anchor="ctr"/>
          <a:lstStyle/>
          <a:p>
            <a:pPr algn="ctr" eaLnBrk="1" hangingPunct="1">
              <a:spcBef>
                <a:spcPct val="20000"/>
              </a:spcBef>
              <a:defRPr/>
            </a:pPr>
            <a:r>
              <a:rPr lang="en-US" altLang="zh-CN" sz="2000">
                <a:solidFill>
                  <a:schemeClr val="bg1"/>
                </a:solidFill>
                <a:effectLst>
                  <a:outerShdw blurRad="38100" dist="38100" dir="2700000" algn="tl">
                    <a:srgbClr val="000000"/>
                  </a:outerShdw>
                </a:effectLst>
                <a:latin typeface="Arial" panose="020B0604020202020204" pitchFamily="34" charset="0"/>
                <a:ea typeface="宋体" panose="02010600030101010101" pitchFamily="2" charset="-122"/>
              </a:rPr>
              <a:t>3</a:t>
            </a:r>
          </a:p>
        </p:txBody>
      </p:sp>
      <p:sp>
        <p:nvSpPr>
          <p:cNvPr id="405647" name="Rectangle 143">
            <a:extLst>
              <a:ext uri="{FF2B5EF4-FFF2-40B4-BE49-F238E27FC236}">
                <a16:creationId xmlns:a16="http://schemas.microsoft.com/office/drawing/2014/main" id="{A9999167-37B6-411D-8FF7-7F5C05BF2710}"/>
              </a:ext>
            </a:extLst>
          </p:cNvPr>
          <p:cNvSpPr>
            <a:spLocks noChangeArrowheads="1"/>
          </p:cNvSpPr>
          <p:nvPr/>
        </p:nvSpPr>
        <p:spPr bwMode="auto">
          <a:xfrm>
            <a:off x="8407400" y="4800600"/>
            <a:ext cx="1066800" cy="381000"/>
          </a:xfrm>
          <a:prstGeom prst="rect">
            <a:avLst/>
          </a:prstGeom>
          <a:solidFill>
            <a:srgbClr val="1106E4"/>
          </a:solidFill>
          <a:ln w="9525" algn="ctr">
            <a:solidFill>
              <a:schemeClr val="tx1"/>
            </a:solidFill>
            <a:miter lim="800000"/>
            <a:headEnd/>
            <a:tailEnd/>
          </a:ln>
          <a:effectLst/>
        </p:spPr>
        <p:txBody>
          <a:bodyPr wrap="none" lIns="90000" tIns="46800" rIns="90000" bIns="46800" anchor="ctr"/>
          <a:lstStyle/>
          <a:p>
            <a:pPr algn="ctr" eaLnBrk="1" hangingPunct="1">
              <a:spcBef>
                <a:spcPct val="20000"/>
              </a:spcBef>
              <a:defRPr/>
            </a:pPr>
            <a:r>
              <a:rPr lang="en-US" altLang="zh-CN" sz="2000">
                <a:solidFill>
                  <a:schemeClr val="bg1"/>
                </a:solidFill>
                <a:effectLst>
                  <a:outerShdw blurRad="38100" dist="38100" dir="2700000" algn="tl">
                    <a:srgbClr val="000000"/>
                  </a:outerShdw>
                </a:effectLst>
                <a:latin typeface="Arial" panose="020B0604020202020204" pitchFamily="34" charset="0"/>
                <a:ea typeface="宋体" panose="02010600030101010101" pitchFamily="2" charset="-122"/>
              </a:rPr>
              <a:t>30</a:t>
            </a:r>
          </a:p>
        </p:txBody>
      </p:sp>
      <p:sp>
        <p:nvSpPr>
          <p:cNvPr id="405648" name="Rectangle 144">
            <a:extLst>
              <a:ext uri="{FF2B5EF4-FFF2-40B4-BE49-F238E27FC236}">
                <a16:creationId xmlns:a16="http://schemas.microsoft.com/office/drawing/2014/main" id="{54C39567-5315-492E-ABD4-FCC776FF8D9D}"/>
              </a:ext>
            </a:extLst>
          </p:cNvPr>
          <p:cNvSpPr>
            <a:spLocks noChangeArrowheads="1"/>
          </p:cNvSpPr>
          <p:nvPr/>
        </p:nvSpPr>
        <p:spPr bwMode="auto">
          <a:xfrm>
            <a:off x="9474200" y="5181600"/>
            <a:ext cx="685800" cy="381000"/>
          </a:xfrm>
          <a:prstGeom prst="rect">
            <a:avLst/>
          </a:prstGeom>
          <a:solidFill>
            <a:schemeClr val="accent2"/>
          </a:solidFill>
          <a:ln w="9525" algn="ctr">
            <a:solidFill>
              <a:schemeClr val="tx1"/>
            </a:solidFill>
            <a:miter lim="800000"/>
            <a:headEnd/>
            <a:tailEnd/>
          </a:ln>
          <a:effectLst/>
        </p:spPr>
        <p:txBody>
          <a:bodyPr wrap="none" lIns="90000" tIns="46800" rIns="90000" bIns="46800" anchor="ctr"/>
          <a:lstStyle/>
          <a:p>
            <a:pPr algn="ctr" eaLnBrk="1" hangingPunct="1">
              <a:spcBef>
                <a:spcPct val="20000"/>
              </a:spcBef>
              <a:defRPr/>
            </a:pPr>
            <a:r>
              <a:rPr lang="en-US" altLang="zh-CN" sz="2000">
                <a:solidFill>
                  <a:schemeClr val="bg1"/>
                </a:solidFill>
                <a:effectLst>
                  <a:outerShdw blurRad="38100" dist="38100" dir="2700000" algn="tl">
                    <a:srgbClr val="000000"/>
                  </a:outerShdw>
                </a:effectLst>
                <a:latin typeface="Arial" panose="020B0604020202020204" pitchFamily="34" charset="0"/>
                <a:ea typeface="宋体" panose="02010600030101010101" pitchFamily="2" charset="-122"/>
              </a:rPr>
              <a:t>20</a:t>
            </a:r>
          </a:p>
        </p:txBody>
      </p:sp>
      <p:sp>
        <p:nvSpPr>
          <p:cNvPr id="405649" name="Rectangle 145">
            <a:extLst>
              <a:ext uri="{FF2B5EF4-FFF2-40B4-BE49-F238E27FC236}">
                <a16:creationId xmlns:a16="http://schemas.microsoft.com/office/drawing/2014/main" id="{E6A32407-6E74-4355-ADE7-D5F539E6EE11}"/>
              </a:ext>
            </a:extLst>
          </p:cNvPr>
          <p:cNvSpPr>
            <a:spLocks noChangeArrowheads="1"/>
          </p:cNvSpPr>
          <p:nvPr/>
        </p:nvSpPr>
        <p:spPr bwMode="auto">
          <a:xfrm>
            <a:off x="10160000" y="5562600"/>
            <a:ext cx="685800" cy="381000"/>
          </a:xfrm>
          <a:prstGeom prst="rect">
            <a:avLst/>
          </a:prstGeom>
          <a:solidFill>
            <a:schemeClr val="accent2"/>
          </a:solidFill>
          <a:ln w="9525" algn="ctr">
            <a:solidFill>
              <a:schemeClr val="tx1"/>
            </a:solidFill>
            <a:miter lim="800000"/>
            <a:headEnd/>
            <a:tailEnd/>
          </a:ln>
          <a:effectLst/>
        </p:spPr>
        <p:txBody>
          <a:bodyPr wrap="none" lIns="90000" tIns="46800" rIns="90000" bIns="46800" anchor="ctr"/>
          <a:lstStyle/>
          <a:p>
            <a:pPr algn="ctr" eaLnBrk="1" hangingPunct="1">
              <a:spcBef>
                <a:spcPct val="20000"/>
              </a:spcBef>
              <a:defRPr/>
            </a:pPr>
            <a:r>
              <a:rPr lang="en-US" altLang="zh-CN" sz="2000">
                <a:solidFill>
                  <a:schemeClr val="bg1"/>
                </a:solidFill>
                <a:effectLst>
                  <a:outerShdw blurRad="38100" dist="38100" dir="2700000" algn="tl">
                    <a:srgbClr val="000000"/>
                  </a:outerShdw>
                </a:effectLst>
                <a:latin typeface="Arial" panose="020B0604020202020204" pitchFamily="34" charset="0"/>
                <a:ea typeface="宋体" panose="02010600030101010101" pitchFamily="2" charset="-122"/>
              </a:rPr>
              <a:t>20</a:t>
            </a:r>
          </a:p>
        </p:txBody>
      </p:sp>
      <p:sp>
        <p:nvSpPr>
          <p:cNvPr id="405650" name="Rectangle 146">
            <a:extLst>
              <a:ext uri="{FF2B5EF4-FFF2-40B4-BE49-F238E27FC236}">
                <a16:creationId xmlns:a16="http://schemas.microsoft.com/office/drawing/2014/main" id="{C1A72B1E-6ED8-4C5F-972B-1B6CA07D3075}"/>
              </a:ext>
            </a:extLst>
          </p:cNvPr>
          <p:cNvSpPr>
            <a:spLocks noChangeArrowheads="1"/>
          </p:cNvSpPr>
          <p:nvPr/>
        </p:nvSpPr>
        <p:spPr bwMode="auto">
          <a:xfrm>
            <a:off x="10845800" y="6019800"/>
            <a:ext cx="228600" cy="381000"/>
          </a:xfrm>
          <a:prstGeom prst="rect">
            <a:avLst/>
          </a:prstGeom>
          <a:solidFill>
            <a:schemeClr val="accent2"/>
          </a:solidFill>
          <a:ln w="9525" algn="ctr">
            <a:solidFill>
              <a:schemeClr val="tx1"/>
            </a:solidFill>
            <a:miter lim="800000"/>
            <a:headEnd/>
            <a:tailEnd/>
          </a:ln>
          <a:effectLst/>
        </p:spPr>
        <p:txBody>
          <a:bodyPr wrap="none" lIns="90000" tIns="46800" rIns="90000" bIns="46800" anchor="ctr"/>
          <a:lstStyle/>
          <a:p>
            <a:pPr algn="ctr" eaLnBrk="1" hangingPunct="1">
              <a:spcBef>
                <a:spcPct val="20000"/>
              </a:spcBef>
              <a:defRPr/>
            </a:pPr>
            <a:r>
              <a:rPr lang="en-US" altLang="zh-CN" sz="2000">
                <a:solidFill>
                  <a:schemeClr val="bg1"/>
                </a:solidFill>
                <a:effectLst>
                  <a:outerShdw blurRad="38100" dist="38100" dir="2700000" algn="tl">
                    <a:srgbClr val="000000"/>
                  </a:outerShdw>
                </a:effectLst>
                <a:latin typeface="Arial" panose="020B0604020202020204" pitchFamily="34" charset="0"/>
                <a:ea typeface="宋体" panose="02010600030101010101" pitchFamily="2" charset="-122"/>
              </a:rPr>
              <a:t>3</a:t>
            </a:r>
          </a:p>
        </p:txBody>
      </p:sp>
      <p:sp>
        <p:nvSpPr>
          <p:cNvPr id="252048" name="AutoShape 147">
            <a:extLst>
              <a:ext uri="{FF2B5EF4-FFF2-40B4-BE49-F238E27FC236}">
                <a16:creationId xmlns:a16="http://schemas.microsoft.com/office/drawing/2014/main" id="{9D549E9C-32CC-424D-8237-67C4B4BB4532}"/>
              </a:ext>
            </a:extLst>
          </p:cNvPr>
          <p:cNvSpPr>
            <a:spLocks noChangeArrowheads="1"/>
          </p:cNvSpPr>
          <p:nvPr/>
        </p:nvSpPr>
        <p:spPr bwMode="auto">
          <a:xfrm rot="10800000">
            <a:off x="7188200" y="2362200"/>
            <a:ext cx="457200" cy="457200"/>
          </a:xfrm>
          <a:prstGeom prst="triangle">
            <a:avLst>
              <a:gd name="adj" fmla="val 49995"/>
            </a:avLst>
          </a:prstGeom>
          <a:solidFill>
            <a:srgbClr val="FF66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a:latin typeface="黑体" panose="02010609060101010101" pitchFamily="49" charset="-122"/>
            </a:endParaRPr>
          </a:p>
        </p:txBody>
      </p:sp>
      <p:sp>
        <p:nvSpPr>
          <p:cNvPr id="252049" name="AutoShape 148">
            <a:extLst>
              <a:ext uri="{FF2B5EF4-FFF2-40B4-BE49-F238E27FC236}">
                <a16:creationId xmlns:a16="http://schemas.microsoft.com/office/drawing/2014/main" id="{25EE26C7-86A9-4EDC-ABCD-1E7D1D5CB7E0}"/>
              </a:ext>
            </a:extLst>
          </p:cNvPr>
          <p:cNvSpPr>
            <a:spLocks noChangeArrowheads="1"/>
          </p:cNvSpPr>
          <p:nvPr/>
        </p:nvSpPr>
        <p:spPr bwMode="auto">
          <a:xfrm rot="10800000">
            <a:off x="9245600" y="4324074"/>
            <a:ext cx="457200" cy="457200"/>
          </a:xfrm>
          <a:prstGeom prst="triangle">
            <a:avLst>
              <a:gd name="adj" fmla="val 49995"/>
            </a:avLst>
          </a:prstGeom>
          <a:solidFill>
            <a:srgbClr val="FF66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a:latin typeface="黑体" panose="02010609060101010101" pitchFamily="49" charset="-122"/>
            </a:endParaRPr>
          </a:p>
        </p:txBody>
      </p:sp>
      <p:sp>
        <p:nvSpPr>
          <p:cNvPr id="252050" name="AutoShape 149">
            <a:extLst>
              <a:ext uri="{FF2B5EF4-FFF2-40B4-BE49-F238E27FC236}">
                <a16:creationId xmlns:a16="http://schemas.microsoft.com/office/drawing/2014/main" id="{5B2377EA-3512-49A0-B2DE-F81FE1AA1835}"/>
              </a:ext>
            </a:extLst>
          </p:cNvPr>
          <p:cNvSpPr>
            <a:spLocks noChangeArrowheads="1"/>
          </p:cNvSpPr>
          <p:nvPr/>
        </p:nvSpPr>
        <p:spPr bwMode="auto">
          <a:xfrm rot="10800000">
            <a:off x="10845800" y="5486400"/>
            <a:ext cx="457200" cy="457200"/>
          </a:xfrm>
          <a:prstGeom prst="triangle">
            <a:avLst>
              <a:gd name="adj" fmla="val 49995"/>
            </a:avLst>
          </a:prstGeom>
          <a:solidFill>
            <a:srgbClr val="FF66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a:latin typeface="黑体" panose="02010609060101010101" pitchFamily="49" charset="-122"/>
            </a:endParaRPr>
          </a:p>
        </p:txBody>
      </p:sp>
      <p:sp>
        <p:nvSpPr>
          <p:cNvPr id="405654" name="Text Box 150">
            <a:extLst>
              <a:ext uri="{FF2B5EF4-FFF2-40B4-BE49-F238E27FC236}">
                <a16:creationId xmlns:a16="http://schemas.microsoft.com/office/drawing/2014/main" id="{652621A8-FBDC-45F3-A7DD-AF92BFC4480A}"/>
              </a:ext>
            </a:extLst>
          </p:cNvPr>
          <p:cNvSpPr txBox="1">
            <a:spLocks noChangeArrowheads="1"/>
          </p:cNvSpPr>
          <p:nvPr/>
        </p:nvSpPr>
        <p:spPr bwMode="auto">
          <a:xfrm>
            <a:off x="660400" y="2871730"/>
            <a:ext cx="2527968" cy="1325620"/>
          </a:xfrm>
          <a:prstGeom prst="rect">
            <a:avLst/>
          </a:prstGeom>
          <a:noFill/>
          <a:ln>
            <a:noFill/>
          </a:ln>
          <a:effectLst/>
        </p:spPr>
        <p:txBody>
          <a:bodyPr wrap="square" lIns="90000" tIns="46800" rIns="90000" bIns="46800">
            <a:spAutoFit/>
          </a:bodyPr>
          <a:lstStyle/>
          <a:p>
            <a:pPr eaLnBrk="1" hangingPunct="1">
              <a:spcBef>
                <a:spcPct val="50000"/>
              </a:spcBef>
              <a:defRPr/>
            </a:pPr>
            <a:r>
              <a:rPr lang="zh-CN" altLang="en-US" sz="2000" dirty="0">
                <a:solidFill>
                  <a:srgbClr val="FF0000"/>
                </a:solidFill>
                <a:effectLst>
                  <a:outerShdw blurRad="38100" dist="38100" dir="2700000" algn="tl">
                    <a:srgbClr val="C0C0C0"/>
                  </a:outerShdw>
                </a:effectLst>
                <a:latin typeface="Arial" panose="020B0604020202020204" pitchFamily="34" charset="0"/>
              </a:rPr>
              <a:t>里程碑</a:t>
            </a:r>
            <a:r>
              <a:rPr lang="zh-CN" altLang="en-US" sz="2000" dirty="0">
                <a:effectLst>
                  <a:outerShdw blurRad="38100" dist="38100" dir="2700000" algn="tl">
                    <a:srgbClr val="C0C0C0"/>
                  </a:outerShdw>
                </a:effectLst>
                <a:latin typeface="Arial" panose="020B0604020202020204" pitchFamily="34" charset="0"/>
              </a:rPr>
              <a:t>：化远景为近景，积小胜为大胜，变黑箱为明帐，截大限为小限</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BE38F7-4E15-45BC-AAA0-F1E7A5A4E775}"/>
              </a:ext>
            </a:extLst>
          </p:cNvPr>
          <p:cNvSpPr>
            <a:spLocks noGrp="1"/>
          </p:cNvSpPr>
          <p:nvPr>
            <p:ph type="title"/>
          </p:nvPr>
        </p:nvSpPr>
        <p:spPr/>
        <p:txBody>
          <a:bodyPr/>
          <a:lstStyle/>
          <a:p>
            <a:endParaRPr lang="zh-CN" altLang="en-US" dirty="0"/>
          </a:p>
        </p:txBody>
      </p:sp>
      <p:pic>
        <p:nvPicPr>
          <p:cNvPr id="4" name="图片 3">
            <a:extLst>
              <a:ext uri="{FF2B5EF4-FFF2-40B4-BE49-F238E27FC236}">
                <a16:creationId xmlns:a16="http://schemas.microsoft.com/office/drawing/2014/main" id="{E3CDB0CC-0169-4790-AECA-E571DD45D338}"/>
              </a:ext>
            </a:extLst>
          </p:cNvPr>
          <p:cNvPicPr>
            <a:picLocks noChangeAspect="1"/>
          </p:cNvPicPr>
          <p:nvPr/>
        </p:nvPicPr>
        <p:blipFill>
          <a:blip r:embed="rId3"/>
          <a:stretch>
            <a:fillRect/>
          </a:stretch>
        </p:blipFill>
        <p:spPr>
          <a:xfrm>
            <a:off x="3111500" y="764293"/>
            <a:ext cx="6912523" cy="5828061"/>
          </a:xfrm>
          <a:prstGeom prst="rect">
            <a:avLst/>
          </a:prstGeom>
        </p:spPr>
      </p:pic>
    </p:spTree>
    <p:extLst>
      <p:ext uri="{BB962C8B-B14F-4D97-AF65-F5344CB8AC3E}">
        <p14:creationId xmlns:p14="http://schemas.microsoft.com/office/powerpoint/2010/main" val="364445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2" name="Rectangle 3">
            <a:extLst>
              <a:ext uri="{FF2B5EF4-FFF2-40B4-BE49-F238E27FC236}">
                <a16:creationId xmlns:a16="http://schemas.microsoft.com/office/drawing/2014/main" id="{4D795D87-F5A1-464C-8D10-9F0565E12F1D}"/>
              </a:ext>
            </a:extLst>
          </p:cNvPr>
          <p:cNvSpPr>
            <a:spLocks noGrp="1" noChangeArrowheads="1"/>
          </p:cNvSpPr>
          <p:nvPr>
            <p:ph type="body" idx="1"/>
          </p:nvPr>
        </p:nvSpPr>
        <p:spPr>
          <a:xfrm>
            <a:off x="609600" y="1433016"/>
            <a:ext cx="10972800" cy="3163047"/>
          </a:xfrm>
        </p:spPr>
        <p:txBody>
          <a:bodyPr/>
          <a:lstStyle/>
          <a:p>
            <a:pPr marL="0" indent="0" eaLnBrk="1" hangingPunct="1">
              <a:buNone/>
            </a:pPr>
            <a:r>
              <a:rPr lang="zh-CN" altLang="en-US" sz="2200" b="0" dirty="0">
                <a:latin typeface="微软雅黑" panose="020B0503020204020204" pitchFamily="34" charset="-122"/>
              </a:rPr>
              <a:t>你的组织面临管理项目的困难时期。你被要求帮助高层管理者理解这个情形，下列哪个类型的报告可以最好地帮助向高层管理者提供摘要信息？</a:t>
            </a:r>
          </a:p>
          <a:p>
            <a:pPr marL="442800" lvl="1" indent="0" eaLnBrk="1" hangingPunct="1">
              <a:buNone/>
            </a:pPr>
            <a:r>
              <a:rPr lang="en-US" altLang="zh-CN" sz="2200" b="0" dirty="0">
                <a:latin typeface="微软雅黑" panose="020B0503020204020204" pitchFamily="34" charset="-122"/>
              </a:rPr>
              <a:t>A. </a:t>
            </a:r>
            <a:r>
              <a:rPr lang="zh-CN" altLang="en-US" sz="2200" b="0" dirty="0">
                <a:latin typeface="微软雅黑" panose="020B0503020204020204" pitchFamily="34" charset="-122"/>
              </a:rPr>
              <a:t>详细的成本估算</a:t>
            </a:r>
          </a:p>
          <a:p>
            <a:pPr marL="442800" lvl="1" indent="0" eaLnBrk="1" hangingPunct="1">
              <a:buNone/>
            </a:pPr>
            <a:r>
              <a:rPr lang="en-US" altLang="zh-CN" sz="2200" b="0" dirty="0">
                <a:latin typeface="微软雅黑" panose="020B0503020204020204" pitchFamily="34" charset="-122"/>
              </a:rPr>
              <a:t>B. </a:t>
            </a:r>
            <a:r>
              <a:rPr lang="zh-CN" altLang="en-US" sz="2200" b="0" dirty="0">
                <a:latin typeface="微软雅黑" panose="020B0503020204020204" pitchFamily="34" charset="-122"/>
              </a:rPr>
              <a:t>项目管理计划</a:t>
            </a:r>
          </a:p>
          <a:p>
            <a:pPr marL="442800" lvl="1" indent="0" eaLnBrk="1" hangingPunct="1">
              <a:buNone/>
            </a:pPr>
            <a:r>
              <a:rPr lang="en-US" altLang="zh-CN" sz="2200" b="0" dirty="0">
                <a:latin typeface="微软雅黑" panose="020B0503020204020204" pitchFamily="34" charset="-122"/>
              </a:rPr>
              <a:t>C. </a:t>
            </a:r>
            <a:r>
              <a:rPr lang="zh-CN" altLang="en-US" sz="2200" b="0" dirty="0">
                <a:latin typeface="微软雅黑" panose="020B0503020204020204" pitchFamily="34" charset="-122"/>
              </a:rPr>
              <a:t>横道图</a:t>
            </a:r>
          </a:p>
          <a:p>
            <a:pPr marL="442800" lvl="1" indent="0" eaLnBrk="1" hangingPunct="1">
              <a:buNone/>
            </a:pPr>
            <a:r>
              <a:rPr lang="en-US" altLang="zh-CN" sz="2200" b="0" dirty="0">
                <a:latin typeface="微软雅黑" panose="020B0503020204020204" pitchFamily="34" charset="-122"/>
              </a:rPr>
              <a:t>D. </a:t>
            </a:r>
            <a:r>
              <a:rPr lang="zh-CN" altLang="en-US" sz="2200" b="0" dirty="0">
                <a:latin typeface="微软雅黑" panose="020B0503020204020204" pitchFamily="34" charset="-122"/>
              </a:rPr>
              <a:t>里程碑报告</a:t>
            </a:r>
          </a:p>
        </p:txBody>
      </p:sp>
      <p:sp>
        <p:nvSpPr>
          <p:cNvPr id="3" name="标题 2">
            <a:extLst>
              <a:ext uri="{FF2B5EF4-FFF2-40B4-BE49-F238E27FC236}">
                <a16:creationId xmlns:a16="http://schemas.microsoft.com/office/drawing/2014/main" id="{D63672BF-3E3A-4FD3-811C-27DEDBA76739}"/>
              </a:ext>
            </a:extLst>
          </p:cNvPr>
          <p:cNvSpPr>
            <a:spLocks noGrp="1"/>
          </p:cNvSpPr>
          <p:nvPr>
            <p:ph type="title"/>
          </p:nvPr>
        </p:nvSpPr>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6" name="Rectangle 3">
            <a:extLst>
              <a:ext uri="{FF2B5EF4-FFF2-40B4-BE49-F238E27FC236}">
                <a16:creationId xmlns:a16="http://schemas.microsoft.com/office/drawing/2014/main" id="{8461B627-7D5C-42E5-AD0D-B6D293834589}"/>
              </a:ext>
            </a:extLst>
          </p:cNvPr>
          <p:cNvSpPr>
            <a:spLocks noGrp="1" noChangeArrowheads="1"/>
          </p:cNvSpPr>
          <p:nvPr>
            <p:ph type="body" idx="1"/>
          </p:nvPr>
        </p:nvSpPr>
        <p:spPr/>
        <p:txBody>
          <a:bodyPr/>
          <a:lstStyle/>
          <a:p>
            <a:pPr marL="0" indent="0" eaLnBrk="1" hangingPunct="1">
              <a:buNone/>
            </a:pPr>
            <a:r>
              <a:rPr lang="zh-CN" altLang="en-US" sz="2200" b="0" dirty="0">
                <a:latin typeface="微软雅黑" panose="020B0503020204020204" pitchFamily="34" charset="-122"/>
              </a:rPr>
              <a:t>你在软件项目的开发阶段，你在会见开发团队来收集项目状态。你想向团队成员展示不同任务之间的逻辑关系。哪个进度工具可以用在此过程（选择最好的答案）？</a:t>
            </a:r>
          </a:p>
          <a:p>
            <a:pPr marL="442800" lvl="1" indent="0" eaLnBrk="1" hangingPunct="1">
              <a:buNone/>
            </a:pPr>
            <a:r>
              <a:rPr lang="en-US" altLang="zh-CN" sz="2200" b="0" dirty="0">
                <a:latin typeface="微软雅黑" panose="020B0503020204020204" pitchFamily="34" charset="-122"/>
              </a:rPr>
              <a:t>A. </a:t>
            </a:r>
            <a:r>
              <a:rPr lang="zh-CN" altLang="en-US" sz="2200" b="0" dirty="0">
                <a:latin typeface="微软雅黑" panose="020B0503020204020204" pitchFamily="34" charset="-122"/>
              </a:rPr>
              <a:t>里程碑</a:t>
            </a:r>
          </a:p>
          <a:p>
            <a:pPr marL="442800" lvl="1" indent="0" eaLnBrk="1" hangingPunct="1">
              <a:buNone/>
            </a:pPr>
            <a:r>
              <a:rPr lang="en-US" altLang="zh-CN" sz="2200" b="0" dirty="0">
                <a:latin typeface="微软雅黑" panose="020B0503020204020204" pitchFamily="34" charset="-122"/>
              </a:rPr>
              <a:t>B. </a:t>
            </a:r>
            <a:r>
              <a:rPr lang="zh-CN" altLang="en-US" sz="2200" b="0" dirty="0">
                <a:latin typeface="微软雅黑" panose="020B0503020204020204" pitchFamily="34" charset="-122"/>
              </a:rPr>
              <a:t>流程图</a:t>
            </a:r>
          </a:p>
          <a:p>
            <a:pPr marL="442800" lvl="1" indent="0" eaLnBrk="1" hangingPunct="1">
              <a:buNone/>
            </a:pPr>
            <a:r>
              <a:rPr lang="en-US" altLang="zh-CN" sz="2200" b="0" dirty="0">
                <a:latin typeface="微软雅黑" panose="020B0503020204020204" pitchFamily="34" charset="-122"/>
              </a:rPr>
              <a:t>C. </a:t>
            </a:r>
            <a:r>
              <a:rPr lang="zh-CN" altLang="en-US" sz="2200" b="0" dirty="0">
                <a:latin typeface="微软雅黑" panose="020B0503020204020204" pitchFamily="34" charset="-122"/>
              </a:rPr>
              <a:t>网络图</a:t>
            </a:r>
          </a:p>
          <a:p>
            <a:pPr marL="442800" lvl="1" indent="0" eaLnBrk="1" hangingPunct="1">
              <a:buNone/>
            </a:pPr>
            <a:r>
              <a:rPr lang="en-US" altLang="zh-CN" sz="2200" b="0" dirty="0">
                <a:latin typeface="微软雅黑" panose="020B0503020204020204" pitchFamily="34" charset="-122"/>
              </a:rPr>
              <a:t>D. </a:t>
            </a:r>
            <a:r>
              <a:rPr lang="zh-CN" altLang="en-US" sz="2200" b="0" dirty="0">
                <a:latin typeface="微软雅黑" panose="020B0503020204020204" pitchFamily="34" charset="-122"/>
              </a:rPr>
              <a:t>甘特图</a:t>
            </a:r>
          </a:p>
        </p:txBody>
      </p:sp>
      <p:sp>
        <p:nvSpPr>
          <p:cNvPr id="3" name="标题 2">
            <a:extLst>
              <a:ext uri="{FF2B5EF4-FFF2-40B4-BE49-F238E27FC236}">
                <a16:creationId xmlns:a16="http://schemas.microsoft.com/office/drawing/2014/main" id="{0FEA8BE3-CEF6-491E-BAD4-E9A4245BEC18}"/>
              </a:ext>
            </a:extLst>
          </p:cNvPr>
          <p:cNvSpPr>
            <a:spLocks noGrp="1"/>
          </p:cNvSpPr>
          <p:nvPr>
            <p:ph type="title"/>
          </p:nvPr>
        </p:nvSpPr>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B8815C-90F1-405F-A0E9-8B22BE70806E}"/>
              </a:ext>
            </a:extLst>
          </p:cNvPr>
          <p:cNvSpPr>
            <a:spLocks noGrp="1"/>
          </p:cNvSpPr>
          <p:nvPr>
            <p:ph type="title"/>
          </p:nvPr>
        </p:nvSpPr>
        <p:spPr/>
        <p:txBody>
          <a:bodyPr/>
          <a:lstStyle/>
          <a:p>
            <a:pPr algn="ctr"/>
            <a:r>
              <a:rPr lang="en-US" altLang="zh-CN" dirty="0"/>
              <a:t>12.6 </a:t>
            </a:r>
            <a:r>
              <a:rPr lang="zh-CN" altLang="en-US" dirty="0"/>
              <a:t>制定进度计划</a:t>
            </a:r>
          </a:p>
        </p:txBody>
      </p:sp>
      <p:sp>
        <p:nvSpPr>
          <p:cNvPr id="5" name="文本框 4">
            <a:extLst>
              <a:ext uri="{FF2B5EF4-FFF2-40B4-BE49-F238E27FC236}">
                <a16:creationId xmlns:a16="http://schemas.microsoft.com/office/drawing/2014/main" id="{5D25785D-3D7D-4049-B26D-8E293631E71A}"/>
              </a:ext>
            </a:extLst>
          </p:cNvPr>
          <p:cNvSpPr txBox="1"/>
          <p:nvPr/>
        </p:nvSpPr>
        <p:spPr>
          <a:xfrm>
            <a:off x="553725" y="1558755"/>
            <a:ext cx="11116904" cy="418576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制定进度计划：输出（续）</a:t>
            </a:r>
            <a:endParaRPr kumimoji="0" lang="en-US" altLang="zh-CN" sz="2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800000"/>
                </a:solidFill>
                <a:effectLst/>
                <a:uLnTx/>
                <a:uFillTx/>
                <a:latin typeface="微软雅黑" panose="020B0503020204020204" pitchFamily="34" charset="-122"/>
                <a:ea typeface="微软雅黑" panose="020B0503020204020204" pitchFamily="34" charset="-122"/>
              </a:rPr>
              <a:t>  进度数据</a:t>
            </a:r>
            <a:endParaRPr kumimoji="0" lang="en-US" altLang="zh-CN" sz="2000" b="1" i="0" u="none" strike="noStrike" kern="1200" cap="none" spc="0" normalizeH="0" baseline="0" noProof="0" dirty="0">
              <a:ln>
                <a:noFill/>
              </a:ln>
              <a:solidFill>
                <a:srgbClr val="800000"/>
              </a:solidFill>
              <a:effectLst/>
              <a:uLnTx/>
              <a:uFillTx/>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0" i="0" u="none" strike="noStrike" baseline="0" dirty="0">
                <a:latin typeface="微软雅黑" panose="020B0503020204020204" pitchFamily="34" charset="-122"/>
                <a:ea typeface="微软雅黑" panose="020B0503020204020204" pitchFamily="34" charset="-122"/>
              </a:rPr>
              <a:t>       项目进度模型中的进度数据是用以描述和控制进度计划的信息集合</a:t>
            </a:r>
            <a:endParaRPr lang="en-US" altLang="zh-CN" sz="1800" b="0" i="0" u="none" strike="noStrike" baseline="0" dirty="0">
              <a:latin typeface="微软雅黑" panose="020B0503020204020204" pitchFamily="34" charset="-122"/>
              <a:ea typeface="微软雅黑" panose="020B0503020204020204" pitchFamily="34" charset="-122"/>
            </a:endParaRPr>
          </a:p>
          <a:p>
            <a:pPr algn="l"/>
            <a:r>
              <a:rPr lang="zh-CN" altLang="en-US" sz="1800" b="0" i="0" u="none" strike="noStrike" baseline="0" dirty="0">
                <a:latin typeface="微软雅黑" panose="020B0503020204020204" pitchFamily="34" charset="-122"/>
                <a:ea typeface="微软雅黑" panose="020B0503020204020204" pitchFamily="34" charset="-122"/>
              </a:rPr>
              <a:t>       至少包括进度里程碑、进度活动、活动属性，以及已知的全部假设条件与制约因素</a:t>
            </a:r>
            <a:endParaRPr lang="en-US" altLang="zh-CN" sz="1800" b="0" i="0" u="none" strike="noStrike" baseline="0" dirty="0">
              <a:latin typeface="微软雅黑" panose="020B0503020204020204" pitchFamily="34" charset="-122"/>
              <a:ea typeface="微软雅黑" panose="020B0503020204020204" pitchFamily="34" charset="-122"/>
            </a:endParaRPr>
          </a:p>
          <a:p>
            <a:pPr algn="l"/>
            <a:r>
              <a:rPr lang="zh-CN" altLang="en-US" sz="2000" b="1" dirty="0">
                <a:solidFill>
                  <a:srgbClr val="800000"/>
                </a:solidFill>
                <a:latin typeface="微软雅黑" panose="020B0503020204020204" pitchFamily="34" charset="-122"/>
                <a:ea typeface="微软雅黑" panose="020B0503020204020204" pitchFamily="34" charset="-122"/>
              </a:rPr>
              <a:t>  项目日历</a:t>
            </a:r>
            <a:endParaRPr lang="en-US" altLang="zh-CN" sz="2000" b="1" dirty="0">
              <a:solidFill>
                <a:srgbClr val="800000"/>
              </a:solidFill>
              <a:latin typeface="微软雅黑" panose="020B0503020204020204" pitchFamily="34" charset="-122"/>
              <a:ea typeface="微软雅黑" panose="020B0503020204020204" pitchFamily="34" charset="-122"/>
            </a:endParaRPr>
          </a:p>
          <a:p>
            <a:pPr algn="l"/>
            <a:r>
              <a:rPr lang="zh-CN" altLang="en-US" sz="1800" b="0" i="0" u="none" strike="noStrike" baseline="0" dirty="0">
                <a:latin typeface="微软雅黑" panose="020B0503020204020204" pitchFamily="34" charset="-122"/>
                <a:ea typeface="微软雅黑" panose="020B0503020204020204" pitchFamily="34" charset="-122"/>
              </a:rPr>
              <a:t>       规定可以开展进度活动的可用工作日和工作班次，它把可用于开展进度活动的时间段（按天或更小的时间单位）与不可用的时间段区分开来</a:t>
            </a:r>
            <a:endParaRPr lang="en-US" altLang="zh-CN" sz="1800" b="0" i="0" u="none" strike="noStrike" baseline="0" dirty="0">
              <a:latin typeface="微软雅黑" panose="020B0503020204020204" pitchFamily="34" charset="-122"/>
              <a:ea typeface="微软雅黑" panose="020B0503020204020204" pitchFamily="34" charset="-122"/>
            </a:endParaRPr>
          </a:p>
          <a:p>
            <a:pPr algn="l"/>
            <a:r>
              <a:rPr lang="zh-CN" altLang="en-US" sz="2000" b="1" dirty="0">
                <a:solidFill>
                  <a:srgbClr val="800000"/>
                </a:solidFill>
                <a:latin typeface="微软雅黑" panose="020B0503020204020204" pitchFamily="34" charset="-122"/>
                <a:ea typeface="微软雅黑" panose="020B0503020204020204" pitchFamily="34" charset="-122"/>
              </a:rPr>
              <a:t>  变更请求</a:t>
            </a:r>
            <a:endParaRPr lang="en-US" altLang="zh-CN" sz="2000" b="1" dirty="0">
              <a:solidFill>
                <a:srgbClr val="800000"/>
              </a:solidFill>
              <a:latin typeface="微软雅黑" panose="020B0503020204020204" pitchFamily="34" charset="-122"/>
              <a:ea typeface="微软雅黑" panose="020B0503020204020204" pitchFamily="34" charset="-122"/>
            </a:endParaRPr>
          </a:p>
          <a:p>
            <a:pPr algn="l"/>
            <a:r>
              <a:rPr lang="zh-CN" altLang="en-US" sz="1800" b="0" i="0" u="none" strike="noStrike" baseline="0" dirty="0">
                <a:latin typeface="微软雅黑" panose="020B0503020204020204" pitchFamily="34" charset="-122"/>
                <a:ea typeface="微软雅黑" panose="020B0503020204020204" pitchFamily="34" charset="-122"/>
              </a:rPr>
              <a:t>       修改项目范围或项目进度计划之后，可能会对范围基准和</a:t>
            </a:r>
            <a:r>
              <a:rPr lang="en-US" altLang="zh-CN" sz="1800" b="0" i="0" u="none" strike="noStrike" baseline="0" dirty="0">
                <a:latin typeface="微软雅黑" panose="020B0503020204020204" pitchFamily="34" charset="-122"/>
                <a:ea typeface="微软雅黑" panose="020B0503020204020204" pitchFamily="34" charset="-122"/>
              </a:rPr>
              <a:t>/</a:t>
            </a:r>
            <a:r>
              <a:rPr lang="zh-CN" altLang="en-US" sz="1800" b="0" i="0" u="none" strike="noStrike" baseline="0" dirty="0">
                <a:latin typeface="微软雅黑" panose="020B0503020204020204" pitchFamily="34" charset="-122"/>
                <a:ea typeface="微软雅黑" panose="020B0503020204020204" pitchFamily="34" charset="-122"/>
              </a:rPr>
              <a:t>或项目管理计划的其他组成部分提出变更请求</a:t>
            </a:r>
            <a:endParaRPr lang="en-US" altLang="zh-CN" sz="1800" b="0" i="0" u="none" strike="noStrike" baseline="0" dirty="0">
              <a:latin typeface="微软雅黑" panose="020B0503020204020204" pitchFamily="34" charset="-122"/>
              <a:ea typeface="微软雅黑" panose="020B0503020204020204" pitchFamily="34" charset="-122"/>
            </a:endParaRPr>
          </a:p>
          <a:p>
            <a:pPr algn="l"/>
            <a:r>
              <a:rPr lang="zh-CN" altLang="en-US" sz="2000" b="1" dirty="0">
                <a:solidFill>
                  <a:srgbClr val="800000"/>
                </a:solidFill>
                <a:latin typeface="微软雅黑" panose="020B0503020204020204" pitchFamily="34" charset="-122"/>
                <a:ea typeface="微软雅黑" panose="020B0503020204020204" pitchFamily="34" charset="-122"/>
              </a:rPr>
              <a:t>  项目管理计划更新</a:t>
            </a:r>
            <a:endParaRPr lang="en-US" altLang="zh-CN" sz="2000" b="1" dirty="0">
              <a:solidFill>
                <a:srgbClr val="800000"/>
              </a:solidFill>
              <a:latin typeface="微软雅黑" panose="020B0503020204020204" pitchFamily="34" charset="-122"/>
              <a:ea typeface="微软雅黑" panose="020B0503020204020204" pitchFamily="34" charset="-122"/>
            </a:endParaRPr>
          </a:p>
          <a:p>
            <a:pPr algn="l"/>
            <a:r>
              <a:rPr lang="zh-CN" altLang="en-US" sz="1800" b="1" i="0" u="none" strike="noStrike" baseline="0" dirty="0">
                <a:latin typeface="微软雅黑" panose="020B0503020204020204" pitchFamily="34" charset="-122"/>
                <a:ea typeface="微软雅黑" panose="020B0503020204020204" pitchFamily="34" charset="-122"/>
              </a:rPr>
              <a:t>进度管理计划</a:t>
            </a:r>
            <a:endParaRPr lang="en-US" altLang="zh-CN" sz="1800" b="1" i="0" u="none" strike="noStrike" baseline="0" dirty="0">
              <a:latin typeface="微软雅黑" panose="020B0503020204020204" pitchFamily="34" charset="-122"/>
              <a:ea typeface="微软雅黑" panose="020B0503020204020204" pitchFamily="34" charset="-122"/>
            </a:endParaRPr>
          </a:p>
          <a:p>
            <a:pPr algn="l"/>
            <a:r>
              <a:rPr lang="zh-CN" altLang="en-US" sz="1800" b="1" i="0" u="none" strike="noStrike" baseline="0" dirty="0">
                <a:latin typeface="微软雅黑" panose="020B0503020204020204" pitchFamily="34" charset="-122"/>
                <a:ea typeface="微软雅黑" panose="020B0503020204020204" pitchFamily="34" charset="-122"/>
              </a:rPr>
              <a:t>成本基准</a:t>
            </a:r>
            <a:endParaRPr lang="en-US" altLang="zh-CN" b="1" dirty="0">
              <a:latin typeface="微软雅黑" panose="020B0503020204020204" pitchFamily="34" charset="-122"/>
              <a:ea typeface="微软雅黑" panose="020B0503020204020204" pitchFamily="34" charset="-122"/>
            </a:endParaRPr>
          </a:p>
          <a:p>
            <a:r>
              <a:rPr lang="zh-CN" altLang="en-US" sz="2000" b="1" dirty="0">
                <a:solidFill>
                  <a:srgbClr val="800000"/>
                </a:solidFill>
                <a:latin typeface="微软雅黑" panose="020B0503020204020204" pitchFamily="34" charset="-122"/>
                <a:ea typeface="微软雅黑" panose="020B0503020204020204" pitchFamily="34" charset="-122"/>
              </a:rPr>
              <a:t>  项目文件更新</a:t>
            </a:r>
            <a:endParaRPr lang="en-US" altLang="zh-CN" sz="2000" b="1" dirty="0">
              <a:solidFill>
                <a:srgbClr val="800000"/>
              </a:solidFill>
              <a:latin typeface="微软雅黑" panose="020B0503020204020204" pitchFamily="34" charset="-122"/>
              <a:ea typeface="微软雅黑" panose="020B0503020204020204" pitchFamily="34" charset="-122"/>
            </a:endParaRPr>
          </a:p>
          <a:p>
            <a:pPr algn="l"/>
            <a:r>
              <a:rPr lang="zh-CN" altLang="en-US" sz="1800" b="1" i="0" u="none" strike="noStrike" baseline="0" dirty="0">
                <a:latin typeface="微软雅黑" panose="020B0503020204020204" pitchFamily="34" charset="-122"/>
                <a:ea typeface="微软雅黑" panose="020B0503020204020204" pitchFamily="34" charset="-122"/>
              </a:rPr>
              <a:t>活动属性；假设日志；持续时间估算；经验教训登记册；资源需求；风险登记册 </a:t>
            </a:r>
            <a:endParaRPr lang="zh-CN" altLang="en-US" sz="2000" b="1" dirty="0">
              <a:solidFill>
                <a:srgbClr val="8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87049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91EC7E-062E-42B6-BB70-FDB6952E905C}"/>
              </a:ext>
            </a:extLst>
          </p:cNvPr>
          <p:cNvSpPr>
            <a:spLocks noGrp="1"/>
          </p:cNvSpPr>
          <p:nvPr>
            <p:ph type="title"/>
          </p:nvPr>
        </p:nvSpPr>
        <p:spPr/>
        <p:txBody>
          <a:bodyPr/>
          <a:lstStyle/>
          <a:p>
            <a:r>
              <a:rPr lang="en-US" altLang="zh-CN" dirty="0"/>
              <a:t>12.6 </a:t>
            </a:r>
            <a:r>
              <a:rPr lang="zh-CN" altLang="en-US" dirty="0"/>
              <a:t>制定进度计划</a:t>
            </a:r>
          </a:p>
        </p:txBody>
      </p:sp>
      <p:sp>
        <p:nvSpPr>
          <p:cNvPr id="6" name="内容占位符 2">
            <a:extLst>
              <a:ext uri="{FF2B5EF4-FFF2-40B4-BE49-F238E27FC236}">
                <a16:creationId xmlns:a16="http://schemas.microsoft.com/office/drawing/2014/main" id="{8CCD3C12-219C-440F-AA68-09E28CD202EA}"/>
              </a:ext>
            </a:extLst>
          </p:cNvPr>
          <p:cNvSpPr txBox="1">
            <a:spLocks/>
          </p:cNvSpPr>
          <p:nvPr/>
        </p:nvSpPr>
        <p:spPr>
          <a:xfrm>
            <a:off x="566737" y="1339163"/>
            <a:ext cx="11172182" cy="4754543"/>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469900" lvl="2" indent="-469900">
              <a:buFont typeface="Wingdings" pitchFamily="2" charset="2"/>
              <a:buNone/>
              <a:defRPr/>
            </a:pPr>
            <a:r>
              <a:rPr lang="zh-CN" altLang="en-US" sz="2400" b="1" dirty="0">
                <a:latin typeface="微软雅黑" panose="020B0503020204020204" pitchFamily="34" charset="-122"/>
                <a:ea typeface="微软雅黑" panose="020B0503020204020204" pitchFamily="34" charset="-122"/>
                <a:cs typeface="Times New Roman" pitchFamily="18" charset="0"/>
              </a:rPr>
              <a:t>制定</a:t>
            </a:r>
            <a:r>
              <a:rPr lang="zh-CN" altLang="zh-CN" sz="2400" b="1" dirty="0">
                <a:latin typeface="微软雅黑" panose="020B0503020204020204" pitchFamily="34" charset="-122"/>
                <a:ea typeface="微软雅黑" panose="020B0503020204020204" pitchFamily="34" charset="-122"/>
                <a:cs typeface="Times New Roman" pitchFamily="18" charset="0"/>
              </a:rPr>
              <a:t>项目进度计划</a:t>
            </a:r>
            <a:r>
              <a:rPr lang="zh-CN" altLang="en-US" sz="2400" b="1" dirty="0">
                <a:latin typeface="微软雅黑" panose="020B0503020204020204" pitchFamily="34" charset="-122"/>
                <a:ea typeface="微软雅黑" panose="020B0503020204020204" pitchFamily="34" charset="-122"/>
                <a:cs typeface="Times New Roman" pitchFamily="18" charset="0"/>
              </a:rPr>
              <a:t>的工具和</a:t>
            </a:r>
            <a:r>
              <a:rPr lang="zh-CN" altLang="zh-CN" sz="2400" b="1" dirty="0">
                <a:latin typeface="微软雅黑" panose="020B0503020204020204" pitchFamily="34" charset="-122"/>
                <a:ea typeface="微软雅黑" panose="020B0503020204020204" pitchFamily="34" charset="-122"/>
                <a:cs typeface="Times New Roman" pitchFamily="18" charset="0"/>
              </a:rPr>
              <a:t>方法</a:t>
            </a:r>
            <a:endParaRPr lang="en-US" altLang="zh-CN" sz="2400" b="1" dirty="0">
              <a:latin typeface="微软雅黑" panose="020B0503020204020204" pitchFamily="34" charset="-122"/>
              <a:ea typeface="微软雅黑" panose="020B0503020204020204" pitchFamily="34" charset="-122"/>
              <a:cs typeface="Times New Roman" pitchFamily="18" charset="0"/>
            </a:endParaRPr>
          </a:p>
          <a:p>
            <a:pPr marL="438150" lvl="1" indent="0">
              <a:buNone/>
              <a:defRPr/>
            </a:pPr>
            <a:r>
              <a:rPr lang="en-US" altLang="zh-CN" b="1" dirty="0">
                <a:latin typeface="微软雅黑" panose="020B0503020204020204" pitchFamily="34" charset="-122"/>
                <a:ea typeface="微软雅黑" panose="020B0503020204020204" pitchFamily="34" charset="-122"/>
                <a:cs typeface="Times New Roman" pitchFamily="18" charset="0"/>
              </a:rPr>
              <a:t>(1) </a:t>
            </a:r>
            <a:r>
              <a:rPr lang="zh-CN" altLang="en-US" b="1" dirty="0">
                <a:latin typeface="微软雅黑" panose="020B0503020204020204" pitchFamily="34" charset="-122"/>
                <a:ea typeface="微软雅黑" panose="020B0503020204020204" pitchFamily="34" charset="-122"/>
                <a:cs typeface="Times New Roman" pitchFamily="18" charset="0"/>
              </a:rPr>
              <a:t>进度网络分析</a:t>
            </a:r>
            <a:endParaRPr lang="en-US" altLang="zh-CN" b="1" dirty="0">
              <a:latin typeface="微软雅黑" panose="020B0503020204020204" pitchFamily="34" charset="-122"/>
              <a:ea typeface="微软雅黑" panose="020B0503020204020204" pitchFamily="34" charset="-122"/>
              <a:cs typeface="Times New Roman" pitchFamily="18" charset="0"/>
            </a:endParaRPr>
          </a:p>
          <a:p>
            <a:pPr marL="438150" lvl="1" indent="0">
              <a:buNone/>
              <a:defRPr/>
            </a:pPr>
            <a:r>
              <a:rPr lang="en-US" altLang="zh-CN" b="1" dirty="0">
                <a:latin typeface="微软雅黑" panose="020B0503020204020204" pitchFamily="34" charset="-122"/>
                <a:ea typeface="微软雅黑" panose="020B0503020204020204" pitchFamily="34" charset="-122"/>
                <a:cs typeface="Times New Roman" pitchFamily="18" charset="0"/>
              </a:rPr>
              <a:t>	</a:t>
            </a:r>
            <a:r>
              <a:rPr lang="zh-CN" altLang="en-US" sz="2400" b="1" i="0" u="none" strike="noStrike" baseline="0" dirty="0">
                <a:latin typeface="SourceHanSansSC-Regular"/>
              </a:rPr>
              <a:t>进度网络分析是创建项目进度模型的一种综合技术，它采用了其他几种技术，例如关键路径法、资源优化技术和建模技术</a:t>
            </a:r>
            <a:endParaRPr lang="en-US" altLang="zh-CN" b="1" dirty="0">
              <a:latin typeface="微软雅黑" panose="020B0503020204020204" pitchFamily="34" charset="-122"/>
              <a:ea typeface="微软雅黑" panose="020B0503020204020204" pitchFamily="34" charset="-122"/>
              <a:cs typeface="Times New Roman" pitchFamily="18" charset="0"/>
            </a:endParaRPr>
          </a:p>
          <a:p>
            <a:pPr marL="438150" lvl="1" indent="0">
              <a:buNone/>
              <a:defRPr/>
            </a:pPr>
            <a:r>
              <a:rPr lang="en-US" altLang="zh-CN" b="1" dirty="0">
                <a:latin typeface="微软雅黑" panose="020B0503020204020204" pitchFamily="34" charset="-122"/>
                <a:ea typeface="微软雅黑" panose="020B0503020204020204" pitchFamily="34" charset="-122"/>
                <a:cs typeface="Times New Roman" pitchFamily="18" charset="0"/>
              </a:rPr>
              <a:t>(2) </a:t>
            </a:r>
            <a:r>
              <a:rPr lang="zh-CN" altLang="en-US" b="1" dirty="0">
                <a:latin typeface="微软雅黑" panose="020B0503020204020204" pitchFamily="34" charset="-122"/>
                <a:ea typeface="微软雅黑" panose="020B0503020204020204" pitchFamily="34" charset="-122"/>
                <a:cs typeface="Times New Roman" pitchFamily="18" charset="0"/>
              </a:rPr>
              <a:t>关键路径法（关键链法）</a:t>
            </a:r>
            <a:endParaRPr lang="en-US" altLang="zh-CN" b="1" dirty="0">
              <a:latin typeface="微软雅黑" panose="020B0503020204020204" pitchFamily="34" charset="-122"/>
              <a:ea typeface="微软雅黑" panose="020B0503020204020204" pitchFamily="34" charset="-122"/>
              <a:cs typeface="Times New Roman" pitchFamily="18" charset="0"/>
            </a:endParaRPr>
          </a:p>
          <a:p>
            <a:pPr marL="438150" lvl="1" indent="0">
              <a:buNone/>
              <a:defRPr/>
            </a:pPr>
            <a:r>
              <a:rPr lang="zh-CN" altLang="en-US" sz="2400" b="1" dirty="0"/>
              <a:t>在项目网络图中，从左到右把时间相加，</a:t>
            </a:r>
            <a:r>
              <a:rPr lang="zh-CN" altLang="en-US" sz="2400" b="1" dirty="0">
                <a:solidFill>
                  <a:srgbClr val="0070C0"/>
                </a:solidFill>
              </a:rPr>
              <a:t>时间最长的路径就是关键路径</a:t>
            </a:r>
            <a:r>
              <a:rPr lang="zh-CN" altLang="en-US" sz="2400" b="1" dirty="0"/>
              <a:t>，它表明了完成项目所需的最短时间。</a:t>
            </a:r>
            <a:endParaRPr lang="en-US" altLang="zh-CN" sz="2400" b="1" dirty="0"/>
          </a:p>
          <a:p>
            <a:pPr marL="438150" lvl="1" indent="0">
              <a:buNone/>
              <a:defRPr/>
            </a:pPr>
            <a:r>
              <a:rPr lang="en-US" altLang="zh-CN" sz="2400" b="1" dirty="0"/>
              <a:t>	</a:t>
            </a:r>
            <a:r>
              <a:rPr lang="zh-CN" altLang="en-US" sz="2400" b="1" dirty="0">
                <a:solidFill>
                  <a:srgbClr val="800000"/>
                </a:solidFill>
              </a:rPr>
              <a:t>关键路径的确定方式</a:t>
            </a:r>
          </a:p>
          <a:p>
            <a:pPr marL="438150" lvl="1" indent="0">
              <a:buNone/>
              <a:defRPr/>
            </a:pPr>
            <a:r>
              <a:rPr lang="en-US" altLang="zh-CN" sz="2400" b="1" dirty="0"/>
              <a:t>	</a:t>
            </a:r>
            <a:r>
              <a:rPr lang="zh-CN" altLang="en-US" sz="2400" b="1" dirty="0">
                <a:solidFill>
                  <a:srgbClr val="0070C0"/>
                </a:solidFill>
              </a:rPr>
              <a:t>顺推</a:t>
            </a:r>
          </a:p>
          <a:p>
            <a:pPr marL="895350" lvl="2" indent="0">
              <a:buNone/>
              <a:defRPr/>
            </a:pPr>
            <a:r>
              <a:rPr lang="zh-CN" altLang="en-US" b="1" dirty="0"/>
              <a:t>从网络图的左边开始，把前两个活动的时间相加，框图中右上角的数字就是执行第二个活动的最早时间，依次类推，计算并写下每个活动的累计时间。顺推法确定项目活动的最早结束时间。</a:t>
            </a:r>
            <a:endParaRPr lang="en-US" altLang="zh-CN" b="1" dirty="0"/>
          </a:p>
          <a:p>
            <a:pPr marL="895350" lvl="2" indent="0">
              <a:buNone/>
              <a:defRPr/>
            </a:pPr>
            <a:endParaRPr lang="en-US" altLang="zh-CN" b="1" dirty="0"/>
          </a:p>
        </p:txBody>
      </p:sp>
    </p:spTree>
    <p:extLst>
      <p:ext uri="{BB962C8B-B14F-4D97-AF65-F5344CB8AC3E}">
        <p14:creationId xmlns:p14="http://schemas.microsoft.com/office/powerpoint/2010/main" val="4015911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0098" name="Group 2">
            <a:extLst>
              <a:ext uri="{FF2B5EF4-FFF2-40B4-BE49-F238E27FC236}">
                <a16:creationId xmlns:a16="http://schemas.microsoft.com/office/drawing/2014/main" id="{7D8195AC-B8CF-41DA-98BB-39DBD7988458}"/>
              </a:ext>
            </a:extLst>
          </p:cNvPr>
          <p:cNvGrpSpPr>
            <a:grpSpLocks noChangeAspect="1"/>
          </p:cNvGrpSpPr>
          <p:nvPr/>
        </p:nvGrpSpPr>
        <p:grpSpPr bwMode="auto">
          <a:xfrm>
            <a:off x="1487487" y="441758"/>
            <a:ext cx="8986838" cy="6069012"/>
            <a:chOff x="0" y="0"/>
            <a:chExt cx="9237" cy="6250"/>
          </a:xfrm>
        </p:grpSpPr>
        <p:sp>
          <p:nvSpPr>
            <p:cNvPr id="260099" name="AutoShape 3">
              <a:extLst>
                <a:ext uri="{FF2B5EF4-FFF2-40B4-BE49-F238E27FC236}">
                  <a16:creationId xmlns:a16="http://schemas.microsoft.com/office/drawing/2014/main" id="{00967217-1FCD-453C-8519-4BAA4EBC901E}"/>
                </a:ext>
              </a:extLst>
            </p:cNvPr>
            <p:cNvSpPr>
              <a:spLocks noChangeAspect="1" noChangeArrowheads="1"/>
            </p:cNvSpPr>
            <p:nvPr/>
          </p:nvSpPr>
          <p:spPr bwMode="auto">
            <a:xfrm>
              <a:off x="0" y="0"/>
              <a:ext cx="9237" cy="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3600" b="1"/>
            </a:p>
          </p:txBody>
        </p:sp>
        <p:grpSp>
          <p:nvGrpSpPr>
            <p:cNvPr id="260100" name="Group 4">
              <a:extLst>
                <a:ext uri="{FF2B5EF4-FFF2-40B4-BE49-F238E27FC236}">
                  <a16:creationId xmlns:a16="http://schemas.microsoft.com/office/drawing/2014/main" id="{D3C4DAAB-7C6B-49B8-9E58-E231356DA1A4}"/>
                </a:ext>
              </a:extLst>
            </p:cNvPr>
            <p:cNvGrpSpPr>
              <a:grpSpLocks/>
            </p:cNvGrpSpPr>
            <p:nvPr/>
          </p:nvGrpSpPr>
          <p:grpSpPr bwMode="auto">
            <a:xfrm>
              <a:off x="313" y="408"/>
              <a:ext cx="8924" cy="5762"/>
              <a:chOff x="0" y="0"/>
              <a:chExt cx="10262" cy="6616"/>
            </a:xfrm>
          </p:grpSpPr>
          <p:sp>
            <p:nvSpPr>
              <p:cNvPr id="260101" name="Line 5">
                <a:extLst>
                  <a:ext uri="{FF2B5EF4-FFF2-40B4-BE49-F238E27FC236}">
                    <a16:creationId xmlns:a16="http://schemas.microsoft.com/office/drawing/2014/main" id="{92D187A3-0AC8-47CA-8D71-5A563FD6EE3E}"/>
                  </a:ext>
                </a:extLst>
              </p:cNvPr>
              <p:cNvSpPr>
                <a:spLocks noChangeShapeType="1"/>
              </p:cNvSpPr>
              <p:nvPr/>
            </p:nvSpPr>
            <p:spPr bwMode="auto">
              <a:xfrm>
                <a:off x="900" y="4056"/>
                <a:ext cx="72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102" name="Line 6">
                <a:extLst>
                  <a:ext uri="{FF2B5EF4-FFF2-40B4-BE49-F238E27FC236}">
                    <a16:creationId xmlns:a16="http://schemas.microsoft.com/office/drawing/2014/main" id="{716081B0-5368-43A9-A474-E0E3200C4271}"/>
                  </a:ext>
                </a:extLst>
              </p:cNvPr>
              <p:cNvSpPr>
                <a:spLocks noChangeShapeType="1"/>
              </p:cNvSpPr>
              <p:nvPr/>
            </p:nvSpPr>
            <p:spPr bwMode="auto">
              <a:xfrm>
                <a:off x="2520" y="4056"/>
                <a:ext cx="36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103" name="Line 7">
                <a:extLst>
                  <a:ext uri="{FF2B5EF4-FFF2-40B4-BE49-F238E27FC236}">
                    <a16:creationId xmlns:a16="http://schemas.microsoft.com/office/drawing/2014/main" id="{EBD6AD76-0AE4-4154-9F91-42BA5A14E009}"/>
                  </a:ext>
                </a:extLst>
              </p:cNvPr>
              <p:cNvSpPr>
                <a:spLocks noChangeShapeType="1"/>
              </p:cNvSpPr>
              <p:nvPr/>
            </p:nvSpPr>
            <p:spPr bwMode="auto">
              <a:xfrm>
                <a:off x="3780" y="4056"/>
                <a:ext cx="36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104" name="Line 8">
                <a:extLst>
                  <a:ext uri="{FF2B5EF4-FFF2-40B4-BE49-F238E27FC236}">
                    <a16:creationId xmlns:a16="http://schemas.microsoft.com/office/drawing/2014/main" id="{2C65E475-D621-44AE-A9F0-D95677196D06}"/>
                  </a:ext>
                </a:extLst>
              </p:cNvPr>
              <p:cNvSpPr>
                <a:spLocks noChangeShapeType="1"/>
              </p:cNvSpPr>
              <p:nvPr/>
            </p:nvSpPr>
            <p:spPr bwMode="auto">
              <a:xfrm>
                <a:off x="5040" y="4056"/>
                <a:ext cx="362"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105" name="Line 9">
                <a:extLst>
                  <a:ext uri="{FF2B5EF4-FFF2-40B4-BE49-F238E27FC236}">
                    <a16:creationId xmlns:a16="http://schemas.microsoft.com/office/drawing/2014/main" id="{097418E6-DDAA-4173-A8E1-3A0E1DA684D6}"/>
                  </a:ext>
                </a:extLst>
              </p:cNvPr>
              <p:cNvSpPr>
                <a:spLocks noChangeShapeType="1"/>
              </p:cNvSpPr>
              <p:nvPr/>
            </p:nvSpPr>
            <p:spPr bwMode="auto">
              <a:xfrm>
                <a:off x="6480" y="4056"/>
                <a:ext cx="36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106" name="Line 10">
                <a:extLst>
                  <a:ext uri="{FF2B5EF4-FFF2-40B4-BE49-F238E27FC236}">
                    <a16:creationId xmlns:a16="http://schemas.microsoft.com/office/drawing/2014/main" id="{F5F402D6-9905-4D36-A29D-C5870AEBB6D4}"/>
                  </a:ext>
                </a:extLst>
              </p:cNvPr>
              <p:cNvSpPr>
                <a:spLocks noChangeShapeType="1"/>
              </p:cNvSpPr>
              <p:nvPr/>
            </p:nvSpPr>
            <p:spPr bwMode="auto">
              <a:xfrm>
                <a:off x="7740" y="4056"/>
                <a:ext cx="36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107" name="Line 11">
                <a:extLst>
                  <a:ext uri="{FF2B5EF4-FFF2-40B4-BE49-F238E27FC236}">
                    <a16:creationId xmlns:a16="http://schemas.microsoft.com/office/drawing/2014/main" id="{CEA90047-2952-4074-BD97-8205838627CC}"/>
                  </a:ext>
                </a:extLst>
              </p:cNvPr>
              <p:cNvSpPr>
                <a:spLocks noChangeShapeType="1"/>
              </p:cNvSpPr>
              <p:nvPr/>
            </p:nvSpPr>
            <p:spPr bwMode="auto">
              <a:xfrm>
                <a:off x="9000" y="4056"/>
                <a:ext cx="3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108" name="Line 12">
                <a:extLst>
                  <a:ext uri="{FF2B5EF4-FFF2-40B4-BE49-F238E27FC236}">
                    <a16:creationId xmlns:a16="http://schemas.microsoft.com/office/drawing/2014/main" id="{5F562541-2CF8-4150-8047-5EA67AEEB78C}"/>
                  </a:ext>
                </a:extLst>
              </p:cNvPr>
              <p:cNvSpPr>
                <a:spLocks noChangeShapeType="1"/>
              </p:cNvSpPr>
              <p:nvPr/>
            </p:nvSpPr>
            <p:spPr bwMode="auto">
              <a:xfrm flipV="1">
                <a:off x="1260" y="1872"/>
                <a:ext cx="1" cy="218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109" name="Line 13">
                <a:extLst>
                  <a:ext uri="{FF2B5EF4-FFF2-40B4-BE49-F238E27FC236}">
                    <a16:creationId xmlns:a16="http://schemas.microsoft.com/office/drawing/2014/main" id="{7A20A0EF-B5E8-44B5-B32A-06DBAA5E59C3}"/>
                  </a:ext>
                </a:extLst>
              </p:cNvPr>
              <p:cNvSpPr>
                <a:spLocks noChangeShapeType="1"/>
              </p:cNvSpPr>
              <p:nvPr/>
            </p:nvSpPr>
            <p:spPr bwMode="auto">
              <a:xfrm flipV="1">
                <a:off x="1260" y="1872"/>
                <a:ext cx="36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110" name="Line 14">
                <a:extLst>
                  <a:ext uri="{FF2B5EF4-FFF2-40B4-BE49-F238E27FC236}">
                    <a16:creationId xmlns:a16="http://schemas.microsoft.com/office/drawing/2014/main" id="{217C5592-7FC9-4161-9F87-42C64896A1F7}"/>
                  </a:ext>
                </a:extLst>
              </p:cNvPr>
              <p:cNvSpPr>
                <a:spLocks noChangeShapeType="1"/>
              </p:cNvSpPr>
              <p:nvPr/>
            </p:nvSpPr>
            <p:spPr bwMode="auto">
              <a:xfrm>
                <a:off x="2521" y="1872"/>
                <a:ext cx="17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111" name="Line 15">
                <a:extLst>
                  <a:ext uri="{FF2B5EF4-FFF2-40B4-BE49-F238E27FC236}">
                    <a16:creationId xmlns:a16="http://schemas.microsoft.com/office/drawing/2014/main" id="{6AFFECD8-07C2-45BE-B1BA-71E9D7856EEF}"/>
                  </a:ext>
                </a:extLst>
              </p:cNvPr>
              <p:cNvSpPr>
                <a:spLocks noChangeShapeType="1"/>
              </p:cNvSpPr>
              <p:nvPr/>
            </p:nvSpPr>
            <p:spPr bwMode="auto">
              <a:xfrm>
                <a:off x="2700" y="1872"/>
                <a:ext cx="1" cy="15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112" name="Line 16">
                <a:extLst>
                  <a:ext uri="{FF2B5EF4-FFF2-40B4-BE49-F238E27FC236}">
                    <a16:creationId xmlns:a16="http://schemas.microsoft.com/office/drawing/2014/main" id="{7D833CD4-A4F5-40E7-A915-EEB3C51CDD4E}"/>
                  </a:ext>
                </a:extLst>
              </p:cNvPr>
              <p:cNvSpPr>
                <a:spLocks noChangeShapeType="1"/>
              </p:cNvSpPr>
              <p:nvPr/>
            </p:nvSpPr>
            <p:spPr bwMode="auto">
              <a:xfrm>
                <a:off x="2700" y="3431"/>
                <a:ext cx="1" cy="249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113" name="Line 17">
                <a:extLst>
                  <a:ext uri="{FF2B5EF4-FFF2-40B4-BE49-F238E27FC236}">
                    <a16:creationId xmlns:a16="http://schemas.microsoft.com/office/drawing/2014/main" id="{0E7D5B4B-DC07-484E-A815-3FC97F5BB443}"/>
                  </a:ext>
                </a:extLst>
              </p:cNvPr>
              <p:cNvSpPr>
                <a:spLocks noChangeShapeType="1"/>
              </p:cNvSpPr>
              <p:nvPr/>
            </p:nvSpPr>
            <p:spPr bwMode="auto">
              <a:xfrm>
                <a:off x="2700" y="5928"/>
                <a:ext cx="36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114" name="Line 18">
                <a:extLst>
                  <a:ext uri="{FF2B5EF4-FFF2-40B4-BE49-F238E27FC236}">
                    <a16:creationId xmlns:a16="http://schemas.microsoft.com/office/drawing/2014/main" id="{7D06F8A9-C64B-4F78-9AEC-4356D0EB5955}"/>
                  </a:ext>
                </a:extLst>
              </p:cNvPr>
              <p:cNvSpPr>
                <a:spLocks noChangeShapeType="1"/>
              </p:cNvSpPr>
              <p:nvPr/>
            </p:nvSpPr>
            <p:spPr bwMode="auto">
              <a:xfrm>
                <a:off x="3960" y="5928"/>
                <a:ext cx="71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115" name="Line 19">
                <a:extLst>
                  <a:ext uri="{FF2B5EF4-FFF2-40B4-BE49-F238E27FC236}">
                    <a16:creationId xmlns:a16="http://schemas.microsoft.com/office/drawing/2014/main" id="{0E8A47DD-2B7C-41F7-B2E8-2BF1CA883108}"/>
                  </a:ext>
                </a:extLst>
              </p:cNvPr>
              <p:cNvSpPr>
                <a:spLocks noChangeShapeType="1"/>
              </p:cNvSpPr>
              <p:nvPr/>
            </p:nvSpPr>
            <p:spPr bwMode="auto">
              <a:xfrm>
                <a:off x="5580" y="5928"/>
                <a:ext cx="71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116" name="Line 20">
                <a:extLst>
                  <a:ext uri="{FF2B5EF4-FFF2-40B4-BE49-F238E27FC236}">
                    <a16:creationId xmlns:a16="http://schemas.microsoft.com/office/drawing/2014/main" id="{24A52EF5-AA49-454A-BBF9-8A8DE5A8404B}"/>
                  </a:ext>
                </a:extLst>
              </p:cNvPr>
              <p:cNvSpPr>
                <a:spLocks noChangeShapeType="1"/>
              </p:cNvSpPr>
              <p:nvPr/>
            </p:nvSpPr>
            <p:spPr bwMode="auto">
              <a:xfrm>
                <a:off x="7200" y="5928"/>
                <a:ext cx="72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117" name="Line 21">
                <a:extLst>
                  <a:ext uri="{FF2B5EF4-FFF2-40B4-BE49-F238E27FC236}">
                    <a16:creationId xmlns:a16="http://schemas.microsoft.com/office/drawing/2014/main" id="{38FD3FE2-68DF-490F-BA5F-8688F23AD190}"/>
                  </a:ext>
                </a:extLst>
              </p:cNvPr>
              <p:cNvSpPr>
                <a:spLocks noChangeShapeType="1"/>
              </p:cNvSpPr>
              <p:nvPr/>
            </p:nvSpPr>
            <p:spPr bwMode="auto">
              <a:xfrm>
                <a:off x="7920" y="4056"/>
                <a:ext cx="1" cy="187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118" name="Line 22">
                <a:extLst>
                  <a:ext uri="{FF2B5EF4-FFF2-40B4-BE49-F238E27FC236}">
                    <a16:creationId xmlns:a16="http://schemas.microsoft.com/office/drawing/2014/main" id="{7D4C4093-EA8D-4BB3-8154-CA1D6620C3DD}"/>
                  </a:ext>
                </a:extLst>
              </p:cNvPr>
              <p:cNvSpPr>
                <a:spLocks noChangeShapeType="1"/>
              </p:cNvSpPr>
              <p:nvPr/>
            </p:nvSpPr>
            <p:spPr bwMode="auto">
              <a:xfrm flipV="1">
                <a:off x="5400" y="780"/>
                <a:ext cx="1" cy="32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119" name="Line 23">
                <a:extLst>
                  <a:ext uri="{FF2B5EF4-FFF2-40B4-BE49-F238E27FC236}">
                    <a16:creationId xmlns:a16="http://schemas.microsoft.com/office/drawing/2014/main" id="{EC70AE10-90B9-4D78-B97C-1F7B146C630C}"/>
                  </a:ext>
                </a:extLst>
              </p:cNvPr>
              <p:cNvSpPr>
                <a:spLocks noChangeShapeType="1"/>
              </p:cNvSpPr>
              <p:nvPr/>
            </p:nvSpPr>
            <p:spPr bwMode="auto">
              <a:xfrm>
                <a:off x="5400" y="780"/>
                <a:ext cx="181" cy="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120" name="Line 24">
                <a:extLst>
                  <a:ext uri="{FF2B5EF4-FFF2-40B4-BE49-F238E27FC236}">
                    <a16:creationId xmlns:a16="http://schemas.microsoft.com/office/drawing/2014/main" id="{6418327D-4D1F-4EE5-A7C8-CABBE24095A3}"/>
                  </a:ext>
                </a:extLst>
              </p:cNvPr>
              <p:cNvSpPr>
                <a:spLocks noChangeShapeType="1"/>
              </p:cNvSpPr>
              <p:nvPr/>
            </p:nvSpPr>
            <p:spPr bwMode="auto">
              <a:xfrm>
                <a:off x="5400" y="2183"/>
                <a:ext cx="181"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121" name="Line 25">
                <a:extLst>
                  <a:ext uri="{FF2B5EF4-FFF2-40B4-BE49-F238E27FC236}">
                    <a16:creationId xmlns:a16="http://schemas.microsoft.com/office/drawing/2014/main" id="{D611E43B-491A-487F-A554-A1B38D3A538C}"/>
                  </a:ext>
                </a:extLst>
              </p:cNvPr>
              <p:cNvSpPr>
                <a:spLocks noChangeShapeType="1"/>
              </p:cNvSpPr>
              <p:nvPr/>
            </p:nvSpPr>
            <p:spPr bwMode="auto">
              <a:xfrm>
                <a:off x="6660" y="780"/>
                <a:ext cx="1" cy="327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122" name="Line 26">
                <a:extLst>
                  <a:ext uri="{FF2B5EF4-FFF2-40B4-BE49-F238E27FC236}">
                    <a16:creationId xmlns:a16="http://schemas.microsoft.com/office/drawing/2014/main" id="{3538000A-9738-4845-AAF5-6B94C9F0DA33}"/>
                  </a:ext>
                </a:extLst>
              </p:cNvPr>
              <p:cNvSpPr>
                <a:spLocks noChangeShapeType="1"/>
              </p:cNvSpPr>
              <p:nvPr/>
            </p:nvSpPr>
            <p:spPr bwMode="auto">
              <a:xfrm>
                <a:off x="6482" y="2183"/>
                <a:ext cx="178"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123" name="Line 27">
                <a:extLst>
                  <a:ext uri="{FF2B5EF4-FFF2-40B4-BE49-F238E27FC236}">
                    <a16:creationId xmlns:a16="http://schemas.microsoft.com/office/drawing/2014/main" id="{D4A7DDAE-6E7E-4963-BBBB-C2F5286FAC41}"/>
                  </a:ext>
                </a:extLst>
              </p:cNvPr>
              <p:cNvSpPr>
                <a:spLocks noChangeShapeType="1"/>
              </p:cNvSpPr>
              <p:nvPr/>
            </p:nvSpPr>
            <p:spPr bwMode="auto">
              <a:xfrm>
                <a:off x="5400" y="4056"/>
                <a:ext cx="1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60124" name="Group 28">
                <a:extLst>
                  <a:ext uri="{FF2B5EF4-FFF2-40B4-BE49-F238E27FC236}">
                    <a16:creationId xmlns:a16="http://schemas.microsoft.com/office/drawing/2014/main" id="{C00F25BB-1708-4A9C-81A9-56ED4540E11C}"/>
                  </a:ext>
                </a:extLst>
              </p:cNvPr>
              <p:cNvGrpSpPr>
                <a:grpSpLocks/>
              </p:cNvGrpSpPr>
              <p:nvPr/>
            </p:nvGrpSpPr>
            <p:grpSpPr bwMode="auto">
              <a:xfrm>
                <a:off x="0" y="3432"/>
                <a:ext cx="900" cy="1466"/>
                <a:chOff x="0" y="0"/>
                <a:chExt cx="900" cy="1466"/>
              </a:xfrm>
            </p:grpSpPr>
            <p:sp>
              <p:nvSpPr>
                <p:cNvPr id="260165" name="Rectangle 29">
                  <a:extLst>
                    <a:ext uri="{FF2B5EF4-FFF2-40B4-BE49-F238E27FC236}">
                      <a16:creationId xmlns:a16="http://schemas.microsoft.com/office/drawing/2014/main" id="{AEE1FE49-E8E7-4E71-8176-EB07B1332B2C}"/>
                    </a:ext>
                  </a:extLst>
                </p:cNvPr>
                <p:cNvSpPr>
                  <a:spLocks noChangeArrowheads="1"/>
                </p:cNvSpPr>
                <p:nvPr/>
              </p:nvSpPr>
              <p:spPr bwMode="auto">
                <a:xfrm>
                  <a:off x="0" y="0"/>
                  <a:ext cx="900" cy="109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600" b="1"/>
                    <a:t>确定</a:t>
                  </a:r>
                </a:p>
                <a:p>
                  <a:pPr eaLnBrk="1" hangingPunct="1">
                    <a:spcBef>
                      <a:spcPct val="0"/>
                    </a:spcBef>
                    <a:buFontTx/>
                    <a:buNone/>
                  </a:pPr>
                  <a:r>
                    <a:rPr lang="zh-CN" altLang="en-US" sz="1600" b="1"/>
                    <a:t>客户</a:t>
                  </a:r>
                </a:p>
                <a:p>
                  <a:pPr eaLnBrk="1" hangingPunct="1">
                    <a:spcBef>
                      <a:spcPct val="0"/>
                    </a:spcBef>
                    <a:buFontTx/>
                    <a:buNone/>
                  </a:pPr>
                  <a:r>
                    <a:rPr lang="zh-CN" altLang="en-US" sz="1600" b="1"/>
                    <a:t>需求</a:t>
                  </a:r>
                  <a:endParaRPr lang="zh-CN" altLang="en-US" sz="3600" b="1">
                    <a:latin typeface="Arial Black" panose="020B0A04020102020204" pitchFamily="34" charset="0"/>
                  </a:endParaRPr>
                </a:p>
              </p:txBody>
            </p:sp>
            <p:sp>
              <p:nvSpPr>
                <p:cNvPr id="260166" name="Text Box 30">
                  <a:extLst>
                    <a:ext uri="{FF2B5EF4-FFF2-40B4-BE49-F238E27FC236}">
                      <a16:creationId xmlns:a16="http://schemas.microsoft.com/office/drawing/2014/main" id="{B081E91E-254A-4062-8434-DF761DFEC798}"/>
                    </a:ext>
                  </a:extLst>
                </p:cNvPr>
                <p:cNvSpPr txBox="1">
                  <a:spLocks noChangeArrowheads="1"/>
                </p:cNvSpPr>
                <p:nvPr/>
              </p:nvSpPr>
              <p:spPr bwMode="auto">
                <a:xfrm>
                  <a:off x="0" y="1092"/>
                  <a:ext cx="900" cy="374"/>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2</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grpSp>
            <p:nvGrpSpPr>
              <p:cNvPr id="260125" name="Group 31">
                <a:extLst>
                  <a:ext uri="{FF2B5EF4-FFF2-40B4-BE49-F238E27FC236}">
                    <a16:creationId xmlns:a16="http://schemas.microsoft.com/office/drawing/2014/main" id="{D657FA49-8F5A-4C34-B664-6DA02BB892B2}"/>
                  </a:ext>
                </a:extLst>
              </p:cNvPr>
              <p:cNvGrpSpPr>
                <a:grpSpLocks/>
              </p:cNvGrpSpPr>
              <p:nvPr/>
            </p:nvGrpSpPr>
            <p:grpSpPr bwMode="auto">
              <a:xfrm>
                <a:off x="1620" y="1247"/>
                <a:ext cx="901" cy="1468"/>
                <a:chOff x="0" y="0"/>
                <a:chExt cx="901" cy="1468"/>
              </a:xfrm>
            </p:grpSpPr>
            <p:sp>
              <p:nvSpPr>
                <p:cNvPr id="260163" name="Rectangle 32">
                  <a:extLst>
                    <a:ext uri="{FF2B5EF4-FFF2-40B4-BE49-F238E27FC236}">
                      <a16:creationId xmlns:a16="http://schemas.microsoft.com/office/drawing/2014/main" id="{1D85E8DE-68C1-4BE6-AF61-72717F647DE6}"/>
                    </a:ext>
                  </a:extLst>
                </p:cNvPr>
                <p:cNvSpPr>
                  <a:spLocks noChangeArrowheads="1"/>
                </p:cNvSpPr>
                <p:nvPr/>
              </p:nvSpPr>
              <p:spPr bwMode="auto">
                <a:xfrm>
                  <a:off x="0" y="0"/>
                  <a:ext cx="901" cy="109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设计</a:t>
                  </a:r>
                  <a:r>
                    <a:rPr lang="en-US" altLang="zh-CN" sz="1600" b="1" baseline="30000"/>
                    <a:t>12</a:t>
                  </a:r>
                  <a:endParaRPr lang="en-US" altLang="zh-CN" sz="1600" b="1"/>
                </a:p>
                <a:p>
                  <a:pPr algn="just" eaLnBrk="1" hangingPunct="1">
                    <a:spcBef>
                      <a:spcPct val="0"/>
                    </a:spcBef>
                    <a:buFontTx/>
                    <a:buNone/>
                  </a:pPr>
                  <a:r>
                    <a:rPr lang="zh-CN" altLang="en-US" sz="1600" b="1"/>
                    <a:t>工艺</a:t>
                  </a:r>
                </a:p>
                <a:p>
                  <a:pPr algn="just" eaLnBrk="1" hangingPunct="1">
                    <a:spcBef>
                      <a:spcPct val="0"/>
                    </a:spcBef>
                    <a:buFontTx/>
                    <a:buNone/>
                  </a:pPr>
                  <a:r>
                    <a:rPr lang="zh-CN" altLang="en-US" sz="1600" b="1"/>
                    <a:t>要求</a:t>
                  </a:r>
                  <a:endParaRPr lang="zh-CN" altLang="en-US" sz="3600" b="1">
                    <a:latin typeface="Arial Black" panose="020B0A04020102020204" pitchFamily="34" charset="0"/>
                  </a:endParaRPr>
                </a:p>
              </p:txBody>
            </p:sp>
            <p:sp>
              <p:nvSpPr>
                <p:cNvPr id="260164" name="Text Box 33">
                  <a:extLst>
                    <a:ext uri="{FF2B5EF4-FFF2-40B4-BE49-F238E27FC236}">
                      <a16:creationId xmlns:a16="http://schemas.microsoft.com/office/drawing/2014/main" id="{912A6D5F-7D19-48AB-B1CE-6059E9CE6248}"/>
                    </a:ext>
                  </a:extLst>
                </p:cNvPr>
                <p:cNvSpPr txBox="1">
                  <a:spLocks noChangeArrowheads="1"/>
                </p:cNvSpPr>
                <p:nvPr/>
              </p:nvSpPr>
              <p:spPr bwMode="auto">
                <a:xfrm>
                  <a:off x="0" y="1093"/>
                  <a:ext cx="900" cy="375"/>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10</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grpSp>
            <p:nvGrpSpPr>
              <p:cNvPr id="260126" name="Group 34">
                <a:extLst>
                  <a:ext uri="{FF2B5EF4-FFF2-40B4-BE49-F238E27FC236}">
                    <a16:creationId xmlns:a16="http://schemas.microsoft.com/office/drawing/2014/main" id="{378EB55B-51A6-4962-AA43-9F0260C52CFF}"/>
                  </a:ext>
                </a:extLst>
              </p:cNvPr>
              <p:cNvGrpSpPr>
                <a:grpSpLocks/>
              </p:cNvGrpSpPr>
              <p:nvPr/>
            </p:nvGrpSpPr>
            <p:grpSpPr bwMode="auto">
              <a:xfrm>
                <a:off x="5580" y="3432"/>
                <a:ext cx="902" cy="1467"/>
                <a:chOff x="0" y="0"/>
                <a:chExt cx="902" cy="1467"/>
              </a:xfrm>
            </p:grpSpPr>
            <p:sp>
              <p:nvSpPr>
                <p:cNvPr id="260161" name="Rectangle 35">
                  <a:extLst>
                    <a:ext uri="{FF2B5EF4-FFF2-40B4-BE49-F238E27FC236}">
                      <a16:creationId xmlns:a16="http://schemas.microsoft.com/office/drawing/2014/main" id="{D0A42849-7B1A-49C4-B5ED-0C5E3F452D62}"/>
                    </a:ext>
                  </a:extLst>
                </p:cNvPr>
                <p:cNvSpPr>
                  <a:spLocks noChangeArrowheads="1"/>
                </p:cNvSpPr>
                <p:nvPr/>
              </p:nvSpPr>
              <p:spPr bwMode="auto">
                <a:xfrm>
                  <a:off x="1" y="0"/>
                  <a:ext cx="901" cy="1091"/>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采购</a:t>
                  </a:r>
                  <a:r>
                    <a:rPr lang="en-US" altLang="zh-CN" sz="1600" b="1" baseline="30000"/>
                    <a:t>65</a:t>
                  </a:r>
                  <a:endParaRPr lang="en-US" altLang="zh-CN" sz="1600" b="1"/>
                </a:p>
                <a:p>
                  <a:pPr algn="just" eaLnBrk="1" hangingPunct="1">
                    <a:lnSpc>
                      <a:spcPct val="80000"/>
                    </a:lnSpc>
                    <a:spcBef>
                      <a:spcPct val="0"/>
                    </a:spcBef>
                    <a:buFontTx/>
                    <a:buNone/>
                  </a:pPr>
                  <a:endParaRPr lang="en-US" altLang="zh-CN" sz="1600" b="1"/>
                </a:p>
                <a:p>
                  <a:pPr algn="just" eaLnBrk="1" hangingPunct="1">
                    <a:spcBef>
                      <a:spcPct val="0"/>
                    </a:spcBef>
                    <a:buFontTx/>
                    <a:buNone/>
                  </a:pPr>
                  <a:r>
                    <a:rPr lang="zh-CN" altLang="en-US" sz="1600" b="1"/>
                    <a:t>零件</a:t>
                  </a:r>
                  <a:endParaRPr lang="zh-CN" altLang="en-US" sz="3600" b="1">
                    <a:latin typeface="Arial Black" panose="020B0A04020102020204" pitchFamily="34" charset="0"/>
                  </a:endParaRPr>
                </a:p>
              </p:txBody>
            </p:sp>
            <p:sp>
              <p:nvSpPr>
                <p:cNvPr id="260162" name="Text Box 36">
                  <a:extLst>
                    <a:ext uri="{FF2B5EF4-FFF2-40B4-BE49-F238E27FC236}">
                      <a16:creationId xmlns:a16="http://schemas.microsoft.com/office/drawing/2014/main" id="{43C60FC8-19D6-4740-AF08-08E91F62EA28}"/>
                    </a:ext>
                  </a:extLst>
                </p:cNvPr>
                <p:cNvSpPr txBox="1">
                  <a:spLocks noChangeArrowheads="1"/>
                </p:cNvSpPr>
                <p:nvPr/>
              </p:nvSpPr>
              <p:spPr bwMode="auto">
                <a:xfrm>
                  <a:off x="0" y="1092"/>
                  <a:ext cx="900" cy="375"/>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30</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grpSp>
            <p:nvGrpSpPr>
              <p:cNvPr id="260127" name="Group 37">
                <a:extLst>
                  <a:ext uri="{FF2B5EF4-FFF2-40B4-BE49-F238E27FC236}">
                    <a16:creationId xmlns:a16="http://schemas.microsoft.com/office/drawing/2014/main" id="{479206E5-D7AB-4DB5-9801-42118F7717D4}"/>
                  </a:ext>
                </a:extLst>
              </p:cNvPr>
              <p:cNvGrpSpPr>
                <a:grpSpLocks/>
              </p:cNvGrpSpPr>
              <p:nvPr/>
            </p:nvGrpSpPr>
            <p:grpSpPr bwMode="auto">
              <a:xfrm>
                <a:off x="4680" y="5148"/>
                <a:ext cx="901" cy="1468"/>
                <a:chOff x="0" y="0"/>
                <a:chExt cx="901" cy="1468"/>
              </a:xfrm>
            </p:grpSpPr>
            <p:sp>
              <p:nvSpPr>
                <p:cNvPr id="260159" name="Rectangle 38">
                  <a:extLst>
                    <a:ext uri="{FF2B5EF4-FFF2-40B4-BE49-F238E27FC236}">
                      <a16:creationId xmlns:a16="http://schemas.microsoft.com/office/drawing/2014/main" id="{3B37FE2B-D746-4173-A2FF-77B293245879}"/>
                    </a:ext>
                  </a:extLst>
                </p:cNvPr>
                <p:cNvSpPr>
                  <a:spLocks noChangeArrowheads="1"/>
                </p:cNvSpPr>
                <p:nvPr/>
              </p:nvSpPr>
              <p:spPr bwMode="auto">
                <a:xfrm>
                  <a:off x="0" y="0"/>
                  <a:ext cx="901" cy="109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标准</a:t>
                  </a:r>
                  <a:r>
                    <a:rPr lang="en-US" altLang="zh-CN" sz="1600" b="1" baseline="30000"/>
                    <a:t>46</a:t>
                  </a:r>
                  <a:endParaRPr lang="en-US" altLang="zh-CN" sz="1600" b="1"/>
                </a:p>
                <a:p>
                  <a:pPr algn="just" eaLnBrk="1" hangingPunct="1">
                    <a:spcBef>
                      <a:spcPct val="0"/>
                    </a:spcBef>
                    <a:buFontTx/>
                    <a:buNone/>
                  </a:pPr>
                  <a:r>
                    <a:rPr lang="zh-CN" altLang="en-US" sz="1600" b="1"/>
                    <a:t>测试</a:t>
                  </a:r>
                </a:p>
                <a:p>
                  <a:pPr algn="just" eaLnBrk="1" hangingPunct="1">
                    <a:spcBef>
                      <a:spcPct val="0"/>
                    </a:spcBef>
                    <a:buFontTx/>
                    <a:buNone/>
                  </a:pPr>
                  <a:r>
                    <a:rPr lang="zh-CN" altLang="en-US" sz="1600" b="1"/>
                    <a:t>文件</a:t>
                  </a:r>
                  <a:endParaRPr lang="zh-CN" altLang="en-US" sz="3600" b="1">
                    <a:latin typeface="Arial Black" panose="020B0A04020102020204" pitchFamily="34" charset="0"/>
                  </a:endParaRPr>
                </a:p>
              </p:txBody>
            </p:sp>
            <p:sp>
              <p:nvSpPr>
                <p:cNvPr id="260160" name="Text Box 39">
                  <a:extLst>
                    <a:ext uri="{FF2B5EF4-FFF2-40B4-BE49-F238E27FC236}">
                      <a16:creationId xmlns:a16="http://schemas.microsoft.com/office/drawing/2014/main" id="{C3794769-715F-4793-9CE4-D095F431211B}"/>
                    </a:ext>
                  </a:extLst>
                </p:cNvPr>
                <p:cNvSpPr txBox="1">
                  <a:spLocks noChangeArrowheads="1"/>
                </p:cNvSpPr>
                <p:nvPr/>
              </p:nvSpPr>
              <p:spPr bwMode="auto">
                <a:xfrm>
                  <a:off x="0" y="1093"/>
                  <a:ext cx="900" cy="375"/>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8</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grpSp>
            <p:nvGrpSpPr>
              <p:cNvPr id="260128" name="Group 40">
                <a:extLst>
                  <a:ext uri="{FF2B5EF4-FFF2-40B4-BE49-F238E27FC236}">
                    <a16:creationId xmlns:a16="http://schemas.microsoft.com/office/drawing/2014/main" id="{FF5F463F-D128-440C-A5C9-F74D2F6B7DF3}"/>
                  </a:ext>
                </a:extLst>
              </p:cNvPr>
              <p:cNvGrpSpPr>
                <a:grpSpLocks/>
              </p:cNvGrpSpPr>
              <p:nvPr/>
            </p:nvGrpSpPr>
            <p:grpSpPr bwMode="auto">
              <a:xfrm>
                <a:off x="3060" y="5148"/>
                <a:ext cx="901" cy="1468"/>
                <a:chOff x="0" y="0"/>
                <a:chExt cx="901" cy="1468"/>
              </a:xfrm>
            </p:grpSpPr>
            <p:sp>
              <p:nvSpPr>
                <p:cNvPr id="260157" name="Rectangle 41">
                  <a:extLst>
                    <a:ext uri="{FF2B5EF4-FFF2-40B4-BE49-F238E27FC236}">
                      <a16:creationId xmlns:a16="http://schemas.microsoft.com/office/drawing/2014/main" id="{9EA7A004-CB99-4C96-A236-83BB52B5148B}"/>
                    </a:ext>
                  </a:extLst>
                </p:cNvPr>
                <p:cNvSpPr>
                  <a:spLocks noChangeArrowheads="1"/>
                </p:cNvSpPr>
                <p:nvPr/>
              </p:nvSpPr>
              <p:spPr bwMode="auto">
                <a:xfrm>
                  <a:off x="0" y="0"/>
                  <a:ext cx="900" cy="109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确定</a:t>
                  </a:r>
                  <a:r>
                    <a:rPr lang="en-US" altLang="zh-CN" sz="1600" b="1" baseline="30000"/>
                    <a:t>38</a:t>
                  </a:r>
                  <a:endParaRPr lang="en-US" altLang="zh-CN" sz="1600" b="1"/>
                </a:p>
                <a:p>
                  <a:pPr algn="just" eaLnBrk="1" hangingPunct="1">
                    <a:spcBef>
                      <a:spcPct val="0"/>
                    </a:spcBef>
                    <a:buFontTx/>
                    <a:buNone/>
                  </a:pPr>
                  <a:r>
                    <a:rPr lang="zh-CN" altLang="en-US" sz="1600" b="1"/>
                    <a:t>设计</a:t>
                  </a:r>
                </a:p>
                <a:p>
                  <a:pPr algn="just" eaLnBrk="1" hangingPunct="1">
                    <a:spcBef>
                      <a:spcPct val="0"/>
                    </a:spcBef>
                    <a:buFontTx/>
                    <a:buNone/>
                  </a:pPr>
                  <a:r>
                    <a:rPr lang="zh-CN" altLang="en-US" sz="1600" b="1"/>
                    <a:t>标准</a:t>
                  </a:r>
                  <a:endParaRPr lang="zh-CN" altLang="en-US" sz="3600" b="1">
                    <a:latin typeface="Arial Black" panose="020B0A04020102020204" pitchFamily="34" charset="0"/>
                  </a:endParaRPr>
                </a:p>
              </p:txBody>
            </p:sp>
            <p:sp>
              <p:nvSpPr>
                <p:cNvPr id="260158" name="Text Box 42">
                  <a:extLst>
                    <a:ext uri="{FF2B5EF4-FFF2-40B4-BE49-F238E27FC236}">
                      <a16:creationId xmlns:a16="http://schemas.microsoft.com/office/drawing/2014/main" id="{C6A91219-B92B-4940-AFBE-C3509976CB4F}"/>
                    </a:ext>
                  </a:extLst>
                </p:cNvPr>
                <p:cNvSpPr txBox="1">
                  <a:spLocks noChangeArrowheads="1"/>
                </p:cNvSpPr>
                <p:nvPr/>
              </p:nvSpPr>
              <p:spPr bwMode="auto">
                <a:xfrm>
                  <a:off x="0" y="1093"/>
                  <a:ext cx="901" cy="375"/>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6</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grpSp>
            <p:nvGrpSpPr>
              <p:cNvPr id="260129" name="Group 43">
                <a:extLst>
                  <a:ext uri="{FF2B5EF4-FFF2-40B4-BE49-F238E27FC236}">
                    <a16:creationId xmlns:a16="http://schemas.microsoft.com/office/drawing/2014/main" id="{F012DB10-5CE4-4622-9322-18D72D8F296B}"/>
                  </a:ext>
                </a:extLst>
              </p:cNvPr>
              <p:cNvGrpSpPr>
                <a:grpSpLocks/>
              </p:cNvGrpSpPr>
              <p:nvPr/>
            </p:nvGrpSpPr>
            <p:grpSpPr bwMode="auto">
              <a:xfrm>
                <a:off x="4140" y="3432"/>
                <a:ext cx="900" cy="1464"/>
                <a:chOff x="0" y="0"/>
                <a:chExt cx="900" cy="1464"/>
              </a:xfrm>
            </p:grpSpPr>
            <p:sp>
              <p:nvSpPr>
                <p:cNvPr id="260155" name="Rectangle 44">
                  <a:extLst>
                    <a:ext uri="{FF2B5EF4-FFF2-40B4-BE49-F238E27FC236}">
                      <a16:creationId xmlns:a16="http://schemas.microsoft.com/office/drawing/2014/main" id="{47C959DD-7FDD-4B66-84BD-8C086860F858}"/>
                    </a:ext>
                  </a:extLst>
                </p:cNvPr>
                <p:cNvSpPr>
                  <a:spLocks noChangeArrowheads="1"/>
                </p:cNvSpPr>
                <p:nvPr/>
              </p:nvSpPr>
              <p:spPr bwMode="auto">
                <a:xfrm>
                  <a:off x="1" y="0"/>
                  <a:ext cx="899" cy="109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认可</a:t>
                  </a:r>
                  <a:r>
                    <a:rPr lang="en-US" altLang="zh-CN" sz="1600" b="1" baseline="30000"/>
                    <a:t>35</a:t>
                  </a:r>
                  <a:endParaRPr lang="en-US" altLang="zh-CN" sz="1600" b="1"/>
                </a:p>
                <a:p>
                  <a:pPr algn="just" eaLnBrk="1" hangingPunct="1">
                    <a:spcBef>
                      <a:spcPct val="0"/>
                    </a:spcBef>
                    <a:buFontTx/>
                    <a:buNone/>
                  </a:pPr>
                  <a:r>
                    <a:rPr lang="zh-CN" altLang="en-US" sz="1600" b="1"/>
                    <a:t>设计</a:t>
                  </a:r>
                </a:p>
                <a:p>
                  <a:pPr algn="just" eaLnBrk="1" hangingPunct="1">
                    <a:spcBef>
                      <a:spcPct val="0"/>
                    </a:spcBef>
                    <a:buFontTx/>
                    <a:buNone/>
                  </a:pPr>
                  <a:r>
                    <a:rPr lang="zh-CN" altLang="en-US" sz="1600" b="1"/>
                    <a:t>方案</a:t>
                  </a:r>
                  <a:endParaRPr lang="zh-CN" altLang="en-US" sz="3600" b="1">
                    <a:latin typeface="Arial Black" panose="020B0A04020102020204" pitchFamily="34" charset="0"/>
                  </a:endParaRPr>
                </a:p>
              </p:txBody>
            </p:sp>
            <p:sp>
              <p:nvSpPr>
                <p:cNvPr id="260156" name="Text Box 45">
                  <a:extLst>
                    <a:ext uri="{FF2B5EF4-FFF2-40B4-BE49-F238E27FC236}">
                      <a16:creationId xmlns:a16="http://schemas.microsoft.com/office/drawing/2014/main" id="{E0093424-CC46-4AD7-B9FD-332C908E9BDD}"/>
                    </a:ext>
                  </a:extLst>
                </p:cNvPr>
                <p:cNvSpPr txBox="1">
                  <a:spLocks noChangeArrowheads="1"/>
                </p:cNvSpPr>
                <p:nvPr/>
              </p:nvSpPr>
              <p:spPr bwMode="auto">
                <a:xfrm>
                  <a:off x="0" y="1092"/>
                  <a:ext cx="900" cy="37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1</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grpSp>
            <p:nvGrpSpPr>
              <p:cNvPr id="260130" name="Group 46">
                <a:extLst>
                  <a:ext uri="{FF2B5EF4-FFF2-40B4-BE49-F238E27FC236}">
                    <a16:creationId xmlns:a16="http://schemas.microsoft.com/office/drawing/2014/main" id="{D7D432D8-772C-40A8-BEE5-C6668654F2F4}"/>
                  </a:ext>
                </a:extLst>
              </p:cNvPr>
              <p:cNvGrpSpPr>
                <a:grpSpLocks/>
              </p:cNvGrpSpPr>
              <p:nvPr/>
            </p:nvGrpSpPr>
            <p:grpSpPr bwMode="auto">
              <a:xfrm>
                <a:off x="2880" y="3432"/>
                <a:ext cx="901" cy="1464"/>
                <a:chOff x="0" y="0"/>
                <a:chExt cx="901" cy="1464"/>
              </a:xfrm>
            </p:grpSpPr>
            <p:sp>
              <p:nvSpPr>
                <p:cNvPr id="260153" name="Rectangle 47">
                  <a:extLst>
                    <a:ext uri="{FF2B5EF4-FFF2-40B4-BE49-F238E27FC236}">
                      <a16:creationId xmlns:a16="http://schemas.microsoft.com/office/drawing/2014/main" id="{390F9A96-32BB-4C7B-8CD7-F23D01B19F46}"/>
                    </a:ext>
                  </a:extLst>
                </p:cNvPr>
                <p:cNvSpPr>
                  <a:spLocks noChangeArrowheads="1"/>
                </p:cNvSpPr>
                <p:nvPr/>
              </p:nvSpPr>
              <p:spPr bwMode="auto">
                <a:xfrm>
                  <a:off x="1" y="0"/>
                  <a:ext cx="899" cy="109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评审</a:t>
                  </a:r>
                  <a:r>
                    <a:rPr lang="en-US" altLang="zh-CN" sz="1600" b="1" baseline="30000"/>
                    <a:t>34</a:t>
                  </a:r>
                  <a:endParaRPr lang="en-US" altLang="zh-CN" sz="1600" b="1"/>
                </a:p>
                <a:p>
                  <a:pPr algn="just" eaLnBrk="1" hangingPunct="1">
                    <a:spcBef>
                      <a:spcPct val="0"/>
                    </a:spcBef>
                    <a:buFontTx/>
                    <a:buNone/>
                  </a:pPr>
                  <a:r>
                    <a:rPr lang="zh-CN" altLang="en-US" sz="1600" b="1"/>
                    <a:t>设计</a:t>
                  </a:r>
                </a:p>
                <a:p>
                  <a:pPr algn="just" eaLnBrk="1" hangingPunct="1">
                    <a:spcBef>
                      <a:spcPct val="0"/>
                    </a:spcBef>
                    <a:buFontTx/>
                    <a:buNone/>
                  </a:pPr>
                  <a:r>
                    <a:rPr lang="zh-CN" altLang="en-US" sz="1600" b="1"/>
                    <a:t>方案</a:t>
                  </a:r>
                  <a:endParaRPr lang="zh-CN" altLang="en-US" sz="3600" b="1">
                    <a:latin typeface="Arial Black" panose="020B0A04020102020204" pitchFamily="34" charset="0"/>
                  </a:endParaRPr>
                </a:p>
              </p:txBody>
            </p:sp>
            <p:sp>
              <p:nvSpPr>
                <p:cNvPr id="260154" name="Text Box 48">
                  <a:extLst>
                    <a:ext uri="{FF2B5EF4-FFF2-40B4-BE49-F238E27FC236}">
                      <a16:creationId xmlns:a16="http://schemas.microsoft.com/office/drawing/2014/main" id="{7AF0D978-4361-4B82-BF69-B213BB12A569}"/>
                    </a:ext>
                  </a:extLst>
                </p:cNvPr>
                <p:cNvSpPr txBox="1">
                  <a:spLocks noChangeArrowheads="1"/>
                </p:cNvSpPr>
                <p:nvPr/>
              </p:nvSpPr>
              <p:spPr bwMode="auto">
                <a:xfrm>
                  <a:off x="0" y="1092"/>
                  <a:ext cx="901" cy="37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2</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grpSp>
            <p:nvGrpSpPr>
              <p:cNvPr id="260131" name="Group 49">
                <a:extLst>
                  <a:ext uri="{FF2B5EF4-FFF2-40B4-BE49-F238E27FC236}">
                    <a16:creationId xmlns:a16="http://schemas.microsoft.com/office/drawing/2014/main" id="{DC4AB7D2-81E1-468E-ABA6-E6BB63AB0058}"/>
                  </a:ext>
                </a:extLst>
              </p:cNvPr>
              <p:cNvGrpSpPr>
                <a:grpSpLocks/>
              </p:cNvGrpSpPr>
              <p:nvPr/>
            </p:nvGrpSpPr>
            <p:grpSpPr bwMode="auto">
              <a:xfrm>
                <a:off x="1620" y="3432"/>
                <a:ext cx="901" cy="1464"/>
                <a:chOff x="0" y="0"/>
                <a:chExt cx="901" cy="1464"/>
              </a:xfrm>
            </p:grpSpPr>
            <p:sp>
              <p:nvSpPr>
                <p:cNvPr id="260151" name="Rectangle 50">
                  <a:extLst>
                    <a:ext uri="{FF2B5EF4-FFF2-40B4-BE49-F238E27FC236}">
                      <a16:creationId xmlns:a16="http://schemas.microsoft.com/office/drawing/2014/main" id="{09A73DD1-B23D-413E-96A8-41B6F4D21A09}"/>
                    </a:ext>
                  </a:extLst>
                </p:cNvPr>
                <p:cNvSpPr>
                  <a:spLocks noChangeArrowheads="1"/>
                </p:cNvSpPr>
                <p:nvPr/>
              </p:nvSpPr>
              <p:spPr bwMode="auto">
                <a:xfrm>
                  <a:off x="0" y="0"/>
                  <a:ext cx="901" cy="109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设计</a:t>
                  </a:r>
                  <a:r>
                    <a:rPr lang="en-US" altLang="zh-CN" sz="1600" b="1" baseline="30000"/>
                    <a:t>32</a:t>
                  </a:r>
                  <a:endParaRPr lang="en-US" altLang="zh-CN" sz="1600" b="1"/>
                </a:p>
                <a:p>
                  <a:pPr algn="just" eaLnBrk="1" hangingPunct="1">
                    <a:spcBef>
                      <a:spcPct val="0"/>
                    </a:spcBef>
                    <a:buFontTx/>
                    <a:buNone/>
                  </a:pPr>
                  <a:r>
                    <a:rPr lang="zh-CN" altLang="en-US" sz="1600" b="1"/>
                    <a:t>产品</a:t>
                  </a:r>
                </a:p>
                <a:p>
                  <a:pPr algn="just" eaLnBrk="1" hangingPunct="1">
                    <a:spcBef>
                      <a:spcPct val="0"/>
                    </a:spcBef>
                    <a:buFontTx/>
                    <a:buNone/>
                  </a:pPr>
                  <a:r>
                    <a:rPr lang="zh-CN" altLang="en-US" sz="1600" b="1"/>
                    <a:t>性能</a:t>
                  </a:r>
                  <a:endParaRPr lang="zh-CN" altLang="en-US" sz="3600" b="1">
                    <a:latin typeface="Arial Black" panose="020B0A04020102020204" pitchFamily="34" charset="0"/>
                  </a:endParaRPr>
                </a:p>
              </p:txBody>
            </p:sp>
            <p:sp>
              <p:nvSpPr>
                <p:cNvPr id="260152" name="Text Box 51">
                  <a:extLst>
                    <a:ext uri="{FF2B5EF4-FFF2-40B4-BE49-F238E27FC236}">
                      <a16:creationId xmlns:a16="http://schemas.microsoft.com/office/drawing/2014/main" id="{5AD7EFBF-4C35-4C56-AF2B-39F9966622C2}"/>
                    </a:ext>
                  </a:extLst>
                </p:cNvPr>
                <p:cNvSpPr txBox="1">
                  <a:spLocks noChangeArrowheads="1"/>
                </p:cNvSpPr>
                <p:nvPr/>
              </p:nvSpPr>
              <p:spPr bwMode="auto">
                <a:xfrm>
                  <a:off x="0" y="1092"/>
                  <a:ext cx="900" cy="37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30</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sp>
            <p:nvSpPr>
              <p:cNvPr id="260132" name="Line 52">
                <a:extLst>
                  <a:ext uri="{FF2B5EF4-FFF2-40B4-BE49-F238E27FC236}">
                    <a16:creationId xmlns:a16="http://schemas.microsoft.com/office/drawing/2014/main" id="{986CAC94-D558-4DD7-B6CD-4A4EAFA3A876}"/>
                  </a:ext>
                </a:extLst>
              </p:cNvPr>
              <p:cNvSpPr>
                <a:spLocks noChangeShapeType="1"/>
              </p:cNvSpPr>
              <p:nvPr/>
            </p:nvSpPr>
            <p:spPr bwMode="auto">
              <a:xfrm>
                <a:off x="6480" y="780"/>
                <a:ext cx="178" cy="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60133" name="Group 53">
                <a:extLst>
                  <a:ext uri="{FF2B5EF4-FFF2-40B4-BE49-F238E27FC236}">
                    <a16:creationId xmlns:a16="http://schemas.microsoft.com/office/drawing/2014/main" id="{8424AC7B-480B-48E9-8D7D-D8EF05BC57E0}"/>
                  </a:ext>
                </a:extLst>
              </p:cNvPr>
              <p:cNvGrpSpPr>
                <a:grpSpLocks/>
              </p:cNvGrpSpPr>
              <p:nvPr/>
            </p:nvGrpSpPr>
            <p:grpSpPr bwMode="auto">
              <a:xfrm>
                <a:off x="5580" y="0"/>
                <a:ext cx="902" cy="1465"/>
                <a:chOff x="0" y="0"/>
                <a:chExt cx="902" cy="1465"/>
              </a:xfrm>
            </p:grpSpPr>
            <p:sp>
              <p:nvSpPr>
                <p:cNvPr id="260149" name="Rectangle 54">
                  <a:extLst>
                    <a:ext uri="{FF2B5EF4-FFF2-40B4-BE49-F238E27FC236}">
                      <a16:creationId xmlns:a16="http://schemas.microsoft.com/office/drawing/2014/main" id="{B2C85C8B-1E5B-4B1A-A30E-BCD20BF4C475}"/>
                    </a:ext>
                  </a:extLst>
                </p:cNvPr>
                <p:cNvSpPr>
                  <a:spLocks noChangeArrowheads="1"/>
                </p:cNvSpPr>
                <p:nvPr/>
              </p:nvSpPr>
              <p:spPr bwMode="auto">
                <a:xfrm>
                  <a:off x="1" y="0"/>
                  <a:ext cx="901" cy="109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采购</a:t>
                  </a:r>
                  <a:r>
                    <a:rPr lang="en-US" altLang="zh-CN" sz="1600" b="1" baseline="30000"/>
                    <a:t>45</a:t>
                  </a:r>
                  <a:endParaRPr lang="en-US" altLang="zh-CN" sz="1600" b="1"/>
                </a:p>
                <a:p>
                  <a:pPr algn="just" eaLnBrk="1" hangingPunct="1">
                    <a:spcBef>
                      <a:spcPct val="0"/>
                    </a:spcBef>
                    <a:buFontTx/>
                    <a:buNone/>
                  </a:pPr>
                  <a:r>
                    <a:rPr lang="zh-CN" altLang="en-US" sz="1600" b="1"/>
                    <a:t>工装</a:t>
                  </a:r>
                </a:p>
                <a:p>
                  <a:pPr algn="just" eaLnBrk="1" hangingPunct="1">
                    <a:spcBef>
                      <a:spcPct val="0"/>
                    </a:spcBef>
                    <a:buFontTx/>
                    <a:buNone/>
                  </a:pPr>
                  <a:r>
                    <a:rPr lang="zh-CN" altLang="en-US" sz="1600" b="1"/>
                    <a:t>模具</a:t>
                  </a:r>
                  <a:endParaRPr lang="zh-CN" altLang="en-US" sz="3600" b="1">
                    <a:latin typeface="Arial Black" panose="020B0A04020102020204" pitchFamily="34" charset="0"/>
                  </a:endParaRPr>
                </a:p>
              </p:txBody>
            </p:sp>
            <p:sp>
              <p:nvSpPr>
                <p:cNvPr id="260150" name="Text Box 55">
                  <a:extLst>
                    <a:ext uri="{FF2B5EF4-FFF2-40B4-BE49-F238E27FC236}">
                      <a16:creationId xmlns:a16="http://schemas.microsoft.com/office/drawing/2014/main" id="{26832D82-695A-40E5-B108-5CEE254B8079}"/>
                    </a:ext>
                  </a:extLst>
                </p:cNvPr>
                <p:cNvSpPr txBox="1">
                  <a:spLocks noChangeArrowheads="1"/>
                </p:cNvSpPr>
                <p:nvPr/>
              </p:nvSpPr>
              <p:spPr bwMode="auto">
                <a:xfrm>
                  <a:off x="0" y="1091"/>
                  <a:ext cx="900" cy="374"/>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10</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grpSp>
            <p:nvGrpSpPr>
              <p:cNvPr id="260134" name="Group 56">
                <a:extLst>
                  <a:ext uri="{FF2B5EF4-FFF2-40B4-BE49-F238E27FC236}">
                    <a16:creationId xmlns:a16="http://schemas.microsoft.com/office/drawing/2014/main" id="{E4E5D7A3-E61F-4CC8-B90F-AF571117554A}"/>
                  </a:ext>
                </a:extLst>
              </p:cNvPr>
              <p:cNvGrpSpPr>
                <a:grpSpLocks/>
              </p:cNvGrpSpPr>
              <p:nvPr/>
            </p:nvGrpSpPr>
            <p:grpSpPr bwMode="auto">
              <a:xfrm>
                <a:off x="6300" y="5148"/>
                <a:ext cx="903" cy="1467"/>
                <a:chOff x="0" y="0"/>
                <a:chExt cx="903" cy="1467"/>
              </a:xfrm>
            </p:grpSpPr>
            <p:sp>
              <p:nvSpPr>
                <p:cNvPr id="260147" name="Rectangle 57">
                  <a:extLst>
                    <a:ext uri="{FF2B5EF4-FFF2-40B4-BE49-F238E27FC236}">
                      <a16:creationId xmlns:a16="http://schemas.microsoft.com/office/drawing/2014/main" id="{0DB2BCD2-BD74-4010-B045-F54A4F75E262}"/>
                    </a:ext>
                  </a:extLst>
                </p:cNvPr>
                <p:cNvSpPr>
                  <a:spLocks noChangeArrowheads="1"/>
                </p:cNvSpPr>
                <p:nvPr/>
              </p:nvSpPr>
              <p:spPr bwMode="auto">
                <a:xfrm>
                  <a:off x="1" y="0"/>
                  <a:ext cx="902" cy="109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确定</a:t>
                  </a:r>
                  <a:r>
                    <a:rPr lang="en-US" altLang="zh-CN" sz="1600" b="1" baseline="30000"/>
                    <a:t>47</a:t>
                  </a:r>
                  <a:endParaRPr lang="en-US" altLang="zh-CN" sz="1600" b="1"/>
                </a:p>
                <a:p>
                  <a:pPr algn="just" eaLnBrk="1" hangingPunct="1">
                    <a:spcBef>
                      <a:spcPct val="0"/>
                    </a:spcBef>
                    <a:buFontTx/>
                    <a:buNone/>
                  </a:pPr>
                  <a:r>
                    <a:rPr lang="zh-CN" altLang="en-US" sz="1600" b="1"/>
                    <a:t>测试</a:t>
                  </a:r>
                </a:p>
                <a:p>
                  <a:pPr algn="just" eaLnBrk="1" hangingPunct="1">
                    <a:spcBef>
                      <a:spcPct val="0"/>
                    </a:spcBef>
                    <a:buFontTx/>
                    <a:buNone/>
                  </a:pPr>
                  <a:r>
                    <a:rPr lang="zh-CN" altLang="en-US" sz="1600" b="1"/>
                    <a:t>现场</a:t>
                  </a:r>
                  <a:endParaRPr lang="zh-CN" altLang="en-US" sz="3600" b="1">
                    <a:latin typeface="Arial Black" panose="020B0A04020102020204" pitchFamily="34" charset="0"/>
                  </a:endParaRPr>
                </a:p>
              </p:txBody>
            </p:sp>
            <p:sp>
              <p:nvSpPr>
                <p:cNvPr id="260148" name="Text Box 58">
                  <a:extLst>
                    <a:ext uri="{FF2B5EF4-FFF2-40B4-BE49-F238E27FC236}">
                      <a16:creationId xmlns:a16="http://schemas.microsoft.com/office/drawing/2014/main" id="{9D0B1B9E-BBC6-4FCF-92FE-C8DB0D41B3A7}"/>
                    </a:ext>
                  </a:extLst>
                </p:cNvPr>
                <p:cNvSpPr txBox="1">
                  <a:spLocks noChangeArrowheads="1"/>
                </p:cNvSpPr>
                <p:nvPr/>
              </p:nvSpPr>
              <p:spPr bwMode="auto">
                <a:xfrm>
                  <a:off x="0" y="1093"/>
                  <a:ext cx="900" cy="374"/>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1</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grpSp>
            <p:nvGrpSpPr>
              <p:cNvPr id="260135" name="Group 59">
                <a:extLst>
                  <a:ext uri="{FF2B5EF4-FFF2-40B4-BE49-F238E27FC236}">
                    <a16:creationId xmlns:a16="http://schemas.microsoft.com/office/drawing/2014/main" id="{83F5F84E-6E95-428E-AA88-7F74FDF5E4AA}"/>
                  </a:ext>
                </a:extLst>
              </p:cNvPr>
              <p:cNvGrpSpPr>
                <a:grpSpLocks/>
              </p:cNvGrpSpPr>
              <p:nvPr/>
            </p:nvGrpSpPr>
            <p:grpSpPr bwMode="auto">
              <a:xfrm>
                <a:off x="9360" y="3432"/>
                <a:ext cx="902" cy="1466"/>
                <a:chOff x="0" y="0"/>
                <a:chExt cx="902" cy="1466"/>
              </a:xfrm>
            </p:grpSpPr>
            <p:sp>
              <p:nvSpPr>
                <p:cNvPr id="260145" name="Rectangle 60">
                  <a:extLst>
                    <a:ext uri="{FF2B5EF4-FFF2-40B4-BE49-F238E27FC236}">
                      <a16:creationId xmlns:a16="http://schemas.microsoft.com/office/drawing/2014/main" id="{D5A109F1-3526-4E5E-AC76-063018F3BADF}"/>
                    </a:ext>
                  </a:extLst>
                </p:cNvPr>
                <p:cNvSpPr>
                  <a:spLocks noChangeArrowheads="1"/>
                </p:cNvSpPr>
                <p:nvPr/>
              </p:nvSpPr>
              <p:spPr bwMode="auto">
                <a:xfrm>
                  <a:off x="1" y="0"/>
                  <a:ext cx="901" cy="1091"/>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提交</a:t>
                  </a:r>
                  <a:r>
                    <a:rPr lang="en-US" altLang="zh-CN" sz="1600" b="1" baseline="30000"/>
                    <a:t>83</a:t>
                  </a:r>
                  <a:endParaRPr lang="en-US" altLang="zh-CN" sz="1600" b="1"/>
                </a:p>
                <a:p>
                  <a:pPr algn="just" eaLnBrk="1" hangingPunct="1">
                    <a:lnSpc>
                      <a:spcPct val="80000"/>
                    </a:lnSpc>
                    <a:spcBef>
                      <a:spcPct val="0"/>
                    </a:spcBef>
                    <a:buFontTx/>
                    <a:buNone/>
                  </a:pPr>
                  <a:endParaRPr lang="en-US" altLang="zh-CN" sz="1600" b="1"/>
                </a:p>
                <a:p>
                  <a:pPr algn="just" eaLnBrk="1" hangingPunct="1">
                    <a:spcBef>
                      <a:spcPct val="0"/>
                    </a:spcBef>
                    <a:buFontTx/>
                    <a:buNone/>
                  </a:pPr>
                  <a:r>
                    <a:rPr lang="zh-CN" altLang="en-US" sz="1600" b="1"/>
                    <a:t>样件</a:t>
                  </a:r>
                  <a:endParaRPr lang="zh-CN" altLang="en-US" sz="3600" b="1">
                    <a:latin typeface="Arial Black" panose="020B0A04020102020204" pitchFamily="34" charset="0"/>
                  </a:endParaRPr>
                </a:p>
              </p:txBody>
            </p:sp>
            <p:sp>
              <p:nvSpPr>
                <p:cNvPr id="260146" name="Text Box 61">
                  <a:extLst>
                    <a:ext uri="{FF2B5EF4-FFF2-40B4-BE49-F238E27FC236}">
                      <a16:creationId xmlns:a16="http://schemas.microsoft.com/office/drawing/2014/main" id="{34FC3046-25D2-472E-A81E-E2B0950BAB00}"/>
                    </a:ext>
                  </a:extLst>
                </p:cNvPr>
                <p:cNvSpPr txBox="1">
                  <a:spLocks noChangeArrowheads="1"/>
                </p:cNvSpPr>
                <p:nvPr/>
              </p:nvSpPr>
              <p:spPr bwMode="auto">
                <a:xfrm>
                  <a:off x="0" y="1092"/>
                  <a:ext cx="900" cy="374"/>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1</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grpSp>
            <p:nvGrpSpPr>
              <p:cNvPr id="260136" name="Group 62">
                <a:extLst>
                  <a:ext uri="{FF2B5EF4-FFF2-40B4-BE49-F238E27FC236}">
                    <a16:creationId xmlns:a16="http://schemas.microsoft.com/office/drawing/2014/main" id="{38F975C1-E1B5-411F-A50F-0B29BE5F7CB6}"/>
                  </a:ext>
                </a:extLst>
              </p:cNvPr>
              <p:cNvGrpSpPr>
                <a:grpSpLocks/>
              </p:cNvGrpSpPr>
              <p:nvPr/>
            </p:nvGrpSpPr>
            <p:grpSpPr bwMode="auto">
              <a:xfrm>
                <a:off x="8100" y="3432"/>
                <a:ext cx="901" cy="1466"/>
                <a:chOff x="0" y="0"/>
                <a:chExt cx="901" cy="1466"/>
              </a:xfrm>
            </p:grpSpPr>
            <p:sp>
              <p:nvSpPr>
                <p:cNvPr id="260143" name="Rectangle 63">
                  <a:extLst>
                    <a:ext uri="{FF2B5EF4-FFF2-40B4-BE49-F238E27FC236}">
                      <a16:creationId xmlns:a16="http://schemas.microsoft.com/office/drawing/2014/main" id="{B773E705-5855-4C5B-AB04-6989D2F72499}"/>
                    </a:ext>
                  </a:extLst>
                </p:cNvPr>
                <p:cNvSpPr>
                  <a:spLocks noChangeArrowheads="1"/>
                </p:cNvSpPr>
                <p:nvPr/>
              </p:nvSpPr>
              <p:spPr bwMode="auto">
                <a:xfrm>
                  <a:off x="1" y="0"/>
                  <a:ext cx="900" cy="1091"/>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测试</a:t>
                  </a:r>
                  <a:r>
                    <a:rPr lang="en-US" altLang="zh-CN" sz="1600" b="1" baseline="30000"/>
                    <a:t>82</a:t>
                  </a:r>
                  <a:endParaRPr lang="en-US" altLang="zh-CN" sz="1600" b="1"/>
                </a:p>
                <a:p>
                  <a:pPr algn="just" eaLnBrk="1" hangingPunct="1">
                    <a:lnSpc>
                      <a:spcPct val="80000"/>
                    </a:lnSpc>
                    <a:spcBef>
                      <a:spcPct val="0"/>
                    </a:spcBef>
                    <a:buFontTx/>
                    <a:buNone/>
                  </a:pPr>
                  <a:endParaRPr lang="en-US" altLang="zh-CN" sz="1600" b="1"/>
                </a:p>
                <a:p>
                  <a:pPr algn="just" eaLnBrk="1" hangingPunct="1">
                    <a:spcBef>
                      <a:spcPct val="0"/>
                    </a:spcBef>
                    <a:buFontTx/>
                    <a:buNone/>
                  </a:pPr>
                  <a:r>
                    <a:rPr lang="zh-CN" altLang="en-US" sz="1600" b="1"/>
                    <a:t>样件</a:t>
                  </a:r>
                  <a:endParaRPr lang="zh-CN" altLang="en-US" sz="3600" b="1">
                    <a:latin typeface="Arial Black" panose="020B0A04020102020204" pitchFamily="34" charset="0"/>
                  </a:endParaRPr>
                </a:p>
              </p:txBody>
            </p:sp>
            <p:sp>
              <p:nvSpPr>
                <p:cNvPr id="260144" name="Text Box 64">
                  <a:extLst>
                    <a:ext uri="{FF2B5EF4-FFF2-40B4-BE49-F238E27FC236}">
                      <a16:creationId xmlns:a16="http://schemas.microsoft.com/office/drawing/2014/main" id="{E9BFD6EA-FEE3-4EEF-8C88-1DB7190886D2}"/>
                    </a:ext>
                  </a:extLst>
                </p:cNvPr>
                <p:cNvSpPr txBox="1">
                  <a:spLocks noChangeArrowheads="1"/>
                </p:cNvSpPr>
                <p:nvPr/>
              </p:nvSpPr>
              <p:spPr bwMode="auto">
                <a:xfrm>
                  <a:off x="0" y="1092"/>
                  <a:ext cx="900" cy="374"/>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7</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grpSp>
            <p:nvGrpSpPr>
              <p:cNvPr id="260137" name="Group 65">
                <a:extLst>
                  <a:ext uri="{FF2B5EF4-FFF2-40B4-BE49-F238E27FC236}">
                    <a16:creationId xmlns:a16="http://schemas.microsoft.com/office/drawing/2014/main" id="{D3B97DC0-DE44-4E08-B001-2CF072A06F4E}"/>
                  </a:ext>
                </a:extLst>
              </p:cNvPr>
              <p:cNvGrpSpPr>
                <a:grpSpLocks/>
              </p:cNvGrpSpPr>
              <p:nvPr/>
            </p:nvGrpSpPr>
            <p:grpSpPr bwMode="auto">
              <a:xfrm>
                <a:off x="6840" y="3432"/>
                <a:ext cx="901" cy="1466"/>
                <a:chOff x="0" y="0"/>
                <a:chExt cx="901" cy="1466"/>
              </a:xfrm>
            </p:grpSpPr>
            <p:sp>
              <p:nvSpPr>
                <p:cNvPr id="260141" name="Rectangle 66">
                  <a:extLst>
                    <a:ext uri="{FF2B5EF4-FFF2-40B4-BE49-F238E27FC236}">
                      <a16:creationId xmlns:a16="http://schemas.microsoft.com/office/drawing/2014/main" id="{160038F7-1E3D-4A57-86B5-9238BCE8B9AD}"/>
                    </a:ext>
                  </a:extLst>
                </p:cNvPr>
                <p:cNvSpPr>
                  <a:spLocks noChangeArrowheads="1"/>
                </p:cNvSpPr>
                <p:nvPr/>
              </p:nvSpPr>
              <p:spPr bwMode="auto">
                <a:xfrm>
                  <a:off x="2" y="0"/>
                  <a:ext cx="899" cy="109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制作</a:t>
                  </a:r>
                  <a:r>
                    <a:rPr lang="en-US" altLang="zh-CN" sz="1600" b="1" baseline="30000"/>
                    <a:t>75</a:t>
                  </a:r>
                  <a:endParaRPr lang="en-US" altLang="zh-CN" sz="1600" b="1"/>
                </a:p>
                <a:p>
                  <a:pPr algn="just" eaLnBrk="1" hangingPunct="1">
                    <a:lnSpc>
                      <a:spcPct val="80000"/>
                    </a:lnSpc>
                    <a:spcBef>
                      <a:spcPct val="0"/>
                    </a:spcBef>
                    <a:buFontTx/>
                    <a:buNone/>
                  </a:pPr>
                  <a:endParaRPr lang="en-US" altLang="zh-CN" sz="1600" b="1"/>
                </a:p>
                <a:p>
                  <a:pPr algn="just" eaLnBrk="1" hangingPunct="1">
                    <a:spcBef>
                      <a:spcPct val="0"/>
                    </a:spcBef>
                    <a:buFontTx/>
                    <a:buNone/>
                  </a:pPr>
                  <a:r>
                    <a:rPr lang="zh-CN" altLang="en-US" sz="1600" b="1"/>
                    <a:t>样件</a:t>
                  </a:r>
                  <a:endParaRPr lang="zh-CN" altLang="en-US" sz="3600" b="1">
                    <a:latin typeface="Arial Black" panose="020B0A04020102020204" pitchFamily="34" charset="0"/>
                  </a:endParaRPr>
                </a:p>
              </p:txBody>
            </p:sp>
            <p:sp>
              <p:nvSpPr>
                <p:cNvPr id="260142" name="Text Box 67">
                  <a:extLst>
                    <a:ext uri="{FF2B5EF4-FFF2-40B4-BE49-F238E27FC236}">
                      <a16:creationId xmlns:a16="http://schemas.microsoft.com/office/drawing/2014/main" id="{B118D546-8182-4E26-822E-B6A2F5260514}"/>
                    </a:ext>
                  </a:extLst>
                </p:cNvPr>
                <p:cNvSpPr txBox="1">
                  <a:spLocks noChangeArrowheads="1"/>
                </p:cNvSpPr>
                <p:nvPr/>
              </p:nvSpPr>
              <p:spPr bwMode="auto">
                <a:xfrm>
                  <a:off x="0" y="1092"/>
                  <a:ext cx="900" cy="374"/>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10</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grpSp>
            <p:nvGrpSpPr>
              <p:cNvPr id="260138" name="Group 68">
                <a:extLst>
                  <a:ext uri="{FF2B5EF4-FFF2-40B4-BE49-F238E27FC236}">
                    <a16:creationId xmlns:a16="http://schemas.microsoft.com/office/drawing/2014/main" id="{0E69DF1C-D554-49A2-82F3-46D7C694F47D}"/>
                  </a:ext>
                </a:extLst>
              </p:cNvPr>
              <p:cNvGrpSpPr>
                <a:grpSpLocks/>
              </p:cNvGrpSpPr>
              <p:nvPr/>
            </p:nvGrpSpPr>
            <p:grpSpPr bwMode="auto">
              <a:xfrm>
                <a:off x="5580" y="1716"/>
                <a:ext cx="902" cy="1466"/>
                <a:chOff x="0" y="0"/>
                <a:chExt cx="902" cy="1466"/>
              </a:xfrm>
            </p:grpSpPr>
            <p:sp>
              <p:nvSpPr>
                <p:cNvPr id="260139" name="Rectangle 69">
                  <a:extLst>
                    <a:ext uri="{FF2B5EF4-FFF2-40B4-BE49-F238E27FC236}">
                      <a16:creationId xmlns:a16="http://schemas.microsoft.com/office/drawing/2014/main" id="{D8B274A6-4A60-4567-86A6-F24B4B990B45}"/>
                    </a:ext>
                  </a:extLst>
                </p:cNvPr>
                <p:cNvSpPr>
                  <a:spLocks noChangeArrowheads="1"/>
                </p:cNvSpPr>
                <p:nvPr/>
              </p:nvSpPr>
              <p:spPr bwMode="auto">
                <a:xfrm>
                  <a:off x="1" y="0"/>
                  <a:ext cx="901" cy="1089"/>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采购</a:t>
                  </a:r>
                  <a:r>
                    <a:rPr lang="en-US" altLang="zh-CN" sz="1600" b="1" baseline="30000"/>
                    <a:t>45</a:t>
                  </a:r>
                  <a:endParaRPr lang="en-US" altLang="zh-CN" sz="1600" b="1"/>
                </a:p>
                <a:p>
                  <a:pPr algn="just" eaLnBrk="1" hangingPunct="1">
                    <a:spcBef>
                      <a:spcPct val="0"/>
                    </a:spcBef>
                    <a:buFontTx/>
                    <a:buNone/>
                  </a:pPr>
                  <a:r>
                    <a:rPr lang="zh-CN" altLang="en-US" sz="1600" b="1"/>
                    <a:t>测试</a:t>
                  </a:r>
                </a:p>
                <a:p>
                  <a:pPr algn="just" eaLnBrk="1" hangingPunct="1">
                    <a:spcBef>
                      <a:spcPct val="0"/>
                    </a:spcBef>
                    <a:buFontTx/>
                    <a:buNone/>
                  </a:pPr>
                  <a:r>
                    <a:rPr lang="zh-CN" altLang="en-US" sz="1600" b="1"/>
                    <a:t>设备</a:t>
                  </a:r>
                  <a:endParaRPr lang="zh-CN" altLang="en-US" sz="3600" b="1">
                    <a:latin typeface="Arial Black" panose="020B0A04020102020204" pitchFamily="34" charset="0"/>
                  </a:endParaRPr>
                </a:p>
              </p:txBody>
            </p:sp>
            <p:sp>
              <p:nvSpPr>
                <p:cNvPr id="260140" name="Text Box 70">
                  <a:extLst>
                    <a:ext uri="{FF2B5EF4-FFF2-40B4-BE49-F238E27FC236}">
                      <a16:creationId xmlns:a16="http://schemas.microsoft.com/office/drawing/2014/main" id="{BB61E09E-9FC6-4E57-AAAF-D7B2ACAA1D13}"/>
                    </a:ext>
                  </a:extLst>
                </p:cNvPr>
                <p:cNvSpPr txBox="1">
                  <a:spLocks noChangeArrowheads="1"/>
                </p:cNvSpPr>
                <p:nvPr/>
              </p:nvSpPr>
              <p:spPr bwMode="auto">
                <a:xfrm>
                  <a:off x="0" y="1092"/>
                  <a:ext cx="900" cy="374"/>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10</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901A07-6091-43E1-BB64-414992BEABB0}"/>
              </a:ext>
            </a:extLst>
          </p:cNvPr>
          <p:cNvSpPr>
            <a:spLocks noGrp="1"/>
          </p:cNvSpPr>
          <p:nvPr>
            <p:ph type="title"/>
          </p:nvPr>
        </p:nvSpPr>
        <p:spPr/>
        <p:txBody>
          <a:bodyPr/>
          <a:lstStyle/>
          <a:p>
            <a:r>
              <a:rPr lang="en-US" altLang="zh-CN" dirty="0"/>
              <a:t>12.6 </a:t>
            </a:r>
            <a:r>
              <a:rPr lang="zh-CN" altLang="en-US" dirty="0"/>
              <a:t>制定进度计划</a:t>
            </a:r>
          </a:p>
        </p:txBody>
      </p:sp>
      <p:sp>
        <p:nvSpPr>
          <p:cNvPr id="6" name="文本框 5">
            <a:extLst>
              <a:ext uri="{FF2B5EF4-FFF2-40B4-BE49-F238E27FC236}">
                <a16:creationId xmlns:a16="http://schemas.microsoft.com/office/drawing/2014/main" id="{D613F728-A5D0-4DC2-9B43-EFBB93293829}"/>
              </a:ext>
            </a:extLst>
          </p:cNvPr>
          <p:cNvSpPr txBox="1"/>
          <p:nvPr/>
        </p:nvSpPr>
        <p:spPr>
          <a:xfrm>
            <a:off x="1028700" y="1310940"/>
            <a:ext cx="10134600" cy="5198346"/>
          </a:xfrm>
          <a:prstGeom prst="rect">
            <a:avLst/>
          </a:prstGeom>
          <a:noFill/>
        </p:spPr>
        <p:txBody>
          <a:bodyPr wrap="square">
            <a:spAutoFit/>
          </a:bodyPr>
          <a:lstStyle/>
          <a:p>
            <a:pPr lvl="1" eaLnBrk="1" hangingPunct="1"/>
            <a:r>
              <a:rPr lang="zh-CN" altLang="en-US" sz="2400" b="1" dirty="0">
                <a:solidFill>
                  <a:srgbClr val="0070C0"/>
                </a:solidFill>
                <a:sym typeface="Calibri" pitchFamily="34" charset="0"/>
              </a:rPr>
              <a:t>逆推 </a:t>
            </a:r>
            <a:endParaRPr lang="en-US" altLang="zh-CN" sz="2400" b="1" dirty="0">
              <a:solidFill>
                <a:srgbClr val="0070C0"/>
              </a:solidFill>
              <a:sym typeface="Calibri" pitchFamily="34" charset="0"/>
            </a:endParaRPr>
          </a:p>
          <a:p>
            <a:pPr lvl="1" eaLnBrk="1" hangingPunct="1"/>
            <a:r>
              <a:rPr lang="zh-CN" altLang="en-US" sz="2000" b="1" dirty="0">
                <a:sym typeface="Calibri" pitchFamily="34" charset="0"/>
              </a:rPr>
              <a:t>把关键路径需要的时间写在最后一个活动的右下角，然后从后往前依次计算，从该数字中减去活动的持续时间，框图中右下角的数字就是每个活动必须结束的最晚时间。</a:t>
            </a:r>
            <a:endParaRPr lang="en-US" altLang="zh-CN" sz="2000" b="1" dirty="0">
              <a:sym typeface="Calibri" pitchFamily="34" charset="0"/>
            </a:endParaRPr>
          </a:p>
          <a:p>
            <a:pPr lvl="1" eaLnBrk="1" hangingPunct="1"/>
            <a:endParaRPr lang="en-US" altLang="zh-CN" sz="2000" b="1" dirty="0">
              <a:solidFill>
                <a:srgbClr val="800000"/>
              </a:solidFill>
              <a:sym typeface="Calibri" pitchFamily="34" charset="0"/>
            </a:endParaRPr>
          </a:p>
          <a:p>
            <a:pPr lvl="1" eaLnBrk="1" hangingPunct="1"/>
            <a:r>
              <a:rPr lang="zh-CN" altLang="en-US" sz="2400" b="1" dirty="0">
                <a:solidFill>
                  <a:srgbClr val="800000"/>
                </a:solidFill>
                <a:sym typeface="Calibri" pitchFamily="34" charset="0"/>
              </a:rPr>
              <a:t>浮动时间</a:t>
            </a:r>
            <a:endParaRPr lang="en-US" altLang="zh-CN" sz="2400" b="1" dirty="0">
              <a:solidFill>
                <a:srgbClr val="800000"/>
              </a:solidFill>
              <a:sym typeface="Calibri" pitchFamily="34" charset="0"/>
            </a:endParaRPr>
          </a:p>
          <a:p>
            <a:pPr lvl="1" eaLnBrk="1" hangingPunct="1">
              <a:lnSpc>
                <a:spcPct val="90000"/>
              </a:lnSpc>
            </a:pPr>
            <a:r>
              <a:rPr lang="zh-CN" altLang="en-US" sz="2000" b="1" dirty="0"/>
              <a:t>在非关键路径上的活动，其最晚的完成时间即框图中右下角的数字，要比其最早的完成时间即框图中有上角的数字大，它们之间的差即为浮动时间，也就是该活动能推迟的时间推迟后不影响后面活动的最早开始，也不增加整个项目的持续时间。</a:t>
            </a:r>
            <a:endParaRPr lang="en-US" altLang="zh-CN" sz="2000" b="1" dirty="0"/>
          </a:p>
          <a:p>
            <a:pPr algn="just">
              <a:lnSpc>
                <a:spcPct val="115000"/>
              </a:lnSpc>
              <a:spcBef>
                <a:spcPct val="0"/>
              </a:spcBef>
              <a:buFontTx/>
              <a:buNone/>
              <a:defRPr/>
            </a:pPr>
            <a:r>
              <a:rPr lang="zh-CN" altLang="en-US" sz="2400" b="1" dirty="0">
                <a:solidFill>
                  <a:srgbClr val="800000"/>
                </a:solidFill>
              </a:rPr>
              <a:t>计划评审技术（</a:t>
            </a:r>
            <a:r>
              <a:rPr lang="en-US" altLang="zh-CN" sz="2400" b="1" dirty="0">
                <a:solidFill>
                  <a:srgbClr val="800000"/>
                </a:solidFill>
              </a:rPr>
              <a:t>PERT</a:t>
            </a:r>
            <a:r>
              <a:rPr lang="zh-CN" altLang="en-US" sz="2400" b="1" dirty="0">
                <a:solidFill>
                  <a:srgbClr val="800000"/>
                </a:solidFill>
              </a:rPr>
              <a:t>）</a:t>
            </a:r>
          </a:p>
          <a:p>
            <a:pPr lvl="1" algn="just">
              <a:lnSpc>
                <a:spcPct val="115000"/>
              </a:lnSpc>
              <a:spcBef>
                <a:spcPct val="0"/>
              </a:spcBef>
              <a:defRPr/>
            </a:pPr>
            <a:r>
              <a:rPr lang="en-US" altLang="zh-CN" sz="2400" dirty="0">
                <a:solidFill>
                  <a:srgbClr val="FF0000"/>
                </a:solidFill>
              </a:rPr>
              <a:t>PERT</a:t>
            </a:r>
            <a:r>
              <a:rPr lang="zh-CN" altLang="en-US" sz="2400" dirty="0">
                <a:solidFill>
                  <a:srgbClr val="FF0000"/>
                </a:solidFill>
              </a:rPr>
              <a:t>加权平均</a:t>
            </a:r>
            <a:r>
              <a:rPr lang="en-US" altLang="zh-CN" sz="2400" dirty="0">
                <a:solidFill>
                  <a:srgbClr val="FF0000"/>
                </a:solidFill>
              </a:rPr>
              <a:t>=</a:t>
            </a:r>
            <a:r>
              <a:rPr lang="zh-CN" altLang="en-US" sz="2400" dirty="0">
                <a:solidFill>
                  <a:srgbClr val="FF0000"/>
                </a:solidFill>
              </a:rPr>
              <a:t>（乐观时间</a:t>
            </a:r>
            <a:r>
              <a:rPr lang="en-US" altLang="zh-CN" sz="2400" dirty="0">
                <a:solidFill>
                  <a:srgbClr val="FF0000"/>
                </a:solidFill>
              </a:rPr>
              <a:t>+4×</a:t>
            </a:r>
            <a:r>
              <a:rPr lang="zh-CN" altLang="en-US" sz="2400" dirty="0">
                <a:solidFill>
                  <a:srgbClr val="FF0000"/>
                </a:solidFill>
              </a:rPr>
              <a:t>最可能时间</a:t>
            </a:r>
            <a:r>
              <a:rPr lang="en-US" altLang="zh-CN" sz="2400" dirty="0">
                <a:solidFill>
                  <a:srgbClr val="FF0000"/>
                </a:solidFill>
              </a:rPr>
              <a:t>+</a:t>
            </a:r>
            <a:r>
              <a:rPr lang="zh-CN" altLang="en-US" sz="2400" dirty="0">
                <a:solidFill>
                  <a:srgbClr val="FF0000"/>
                </a:solidFill>
              </a:rPr>
              <a:t>悲观时间）</a:t>
            </a:r>
            <a:r>
              <a:rPr lang="en-US" altLang="zh-CN" sz="2400" dirty="0">
                <a:solidFill>
                  <a:srgbClr val="FF0000"/>
                </a:solidFill>
              </a:rPr>
              <a:t>/6</a:t>
            </a:r>
          </a:p>
          <a:p>
            <a:pPr algn="just">
              <a:lnSpc>
                <a:spcPct val="115000"/>
              </a:lnSpc>
              <a:spcBef>
                <a:spcPct val="0"/>
              </a:spcBef>
              <a:defRPr/>
            </a:pPr>
            <a:r>
              <a:rPr lang="zh-CN" altLang="en-US" sz="2400" b="1" dirty="0">
                <a:solidFill>
                  <a:srgbClr val="800000"/>
                </a:solidFill>
              </a:rPr>
              <a:t>关键链法确定整个项目的进度计划</a:t>
            </a:r>
            <a:endParaRPr lang="en-US" altLang="zh-CN" sz="2400" b="1" dirty="0">
              <a:solidFill>
                <a:srgbClr val="800000"/>
              </a:solidFill>
            </a:endParaRPr>
          </a:p>
          <a:p>
            <a:pPr lvl="1" algn="just">
              <a:lnSpc>
                <a:spcPct val="115000"/>
              </a:lnSpc>
              <a:spcBef>
                <a:spcPct val="0"/>
              </a:spcBef>
              <a:defRPr/>
            </a:pPr>
            <a:r>
              <a:rPr lang="zh-CN" altLang="en-US" sz="2000" b="1" dirty="0"/>
              <a:t>按照乐观估算项目计划的末尾</a:t>
            </a:r>
            <a:endParaRPr lang="en-US" altLang="zh-CN" sz="2000" b="1" dirty="0"/>
          </a:p>
          <a:p>
            <a:pPr lvl="1" algn="just">
              <a:lnSpc>
                <a:spcPct val="115000"/>
              </a:lnSpc>
              <a:spcBef>
                <a:spcPct val="0"/>
              </a:spcBef>
              <a:defRPr/>
            </a:pPr>
            <a:r>
              <a:rPr lang="zh-CN" altLang="en-US" sz="2000" b="1" dirty="0"/>
              <a:t>根据项目目标的时间要求，用逆推法倒排工期</a:t>
            </a:r>
            <a:endParaRPr lang="en-US" altLang="zh-CN" sz="2000" b="1" dirty="0"/>
          </a:p>
          <a:p>
            <a:pPr lvl="1" algn="just">
              <a:lnSpc>
                <a:spcPct val="115000"/>
              </a:lnSpc>
              <a:spcBef>
                <a:spcPct val="0"/>
              </a:spcBef>
              <a:defRPr/>
            </a:pPr>
            <a:r>
              <a:rPr lang="zh-CN" altLang="en-US" sz="2000" b="1" dirty="0"/>
              <a:t>增加项目的备用裕量</a:t>
            </a:r>
            <a:endParaRPr lang="en-US" altLang="zh-CN" sz="2000" b="1" dirty="0"/>
          </a:p>
          <a:p>
            <a:pPr lvl="1" eaLnBrk="1" hangingPunct="1">
              <a:lnSpc>
                <a:spcPct val="90000"/>
              </a:lnSpc>
            </a:pPr>
            <a:endParaRPr lang="en-US" altLang="zh-CN" sz="2000" b="1" dirty="0"/>
          </a:p>
        </p:txBody>
      </p:sp>
    </p:spTree>
    <p:extLst>
      <p:ext uri="{BB962C8B-B14F-4D97-AF65-F5344CB8AC3E}">
        <p14:creationId xmlns:p14="http://schemas.microsoft.com/office/powerpoint/2010/main" val="2396746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2146" name="Group 2">
            <a:extLst>
              <a:ext uri="{FF2B5EF4-FFF2-40B4-BE49-F238E27FC236}">
                <a16:creationId xmlns:a16="http://schemas.microsoft.com/office/drawing/2014/main" id="{181061D3-9B42-4018-AAEF-113C75E6B863}"/>
              </a:ext>
            </a:extLst>
          </p:cNvPr>
          <p:cNvGrpSpPr>
            <a:grpSpLocks noChangeAspect="1"/>
          </p:cNvGrpSpPr>
          <p:nvPr/>
        </p:nvGrpSpPr>
        <p:grpSpPr bwMode="auto">
          <a:xfrm>
            <a:off x="1730375" y="476251"/>
            <a:ext cx="8758238" cy="6075363"/>
            <a:chOff x="0" y="0"/>
            <a:chExt cx="9392" cy="6386"/>
          </a:xfrm>
        </p:grpSpPr>
        <p:sp>
          <p:nvSpPr>
            <p:cNvPr id="262147" name="AutoShape 3">
              <a:extLst>
                <a:ext uri="{FF2B5EF4-FFF2-40B4-BE49-F238E27FC236}">
                  <a16:creationId xmlns:a16="http://schemas.microsoft.com/office/drawing/2014/main" id="{B88F6261-B7AA-4B77-8EEB-3136078F5D28}"/>
                </a:ext>
              </a:extLst>
            </p:cNvPr>
            <p:cNvSpPr>
              <a:spLocks noChangeAspect="1" noChangeArrowheads="1"/>
            </p:cNvSpPr>
            <p:nvPr/>
          </p:nvSpPr>
          <p:spPr bwMode="auto">
            <a:xfrm>
              <a:off x="0" y="0"/>
              <a:ext cx="9392" cy="6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3600" b="1"/>
            </a:p>
          </p:txBody>
        </p:sp>
        <p:grpSp>
          <p:nvGrpSpPr>
            <p:cNvPr id="262148" name="Group 4">
              <a:extLst>
                <a:ext uri="{FF2B5EF4-FFF2-40B4-BE49-F238E27FC236}">
                  <a16:creationId xmlns:a16="http://schemas.microsoft.com/office/drawing/2014/main" id="{E1AA4A34-21B8-4375-A0D8-30006734CF74}"/>
                </a:ext>
              </a:extLst>
            </p:cNvPr>
            <p:cNvGrpSpPr>
              <a:grpSpLocks/>
            </p:cNvGrpSpPr>
            <p:nvPr/>
          </p:nvGrpSpPr>
          <p:grpSpPr bwMode="auto">
            <a:xfrm>
              <a:off x="0" y="242"/>
              <a:ext cx="9392" cy="6064"/>
              <a:chOff x="0" y="0"/>
              <a:chExt cx="10262" cy="6616"/>
            </a:xfrm>
          </p:grpSpPr>
          <p:sp>
            <p:nvSpPr>
              <p:cNvPr id="262149" name="Line 5">
                <a:extLst>
                  <a:ext uri="{FF2B5EF4-FFF2-40B4-BE49-F238E27FC236}">
                    <a16:creationId xmlns:a16="http://schemas.microsoft.com/office/drawing/2014/main" id="{4791C2F5-0064-4ECB-908A-5C8815BB39C6}"/>
                  </a:ext>
                </a:extLst>
              </p:cNvPr>
              <p:cNvSpPr>
                <a:spLocks noChangeShapeType="1"/>
              </p:cNvSpPr>
              <p:nvPr/>
            </p:nvSpPr>
            <p:spPr bwMode="auto">
              <a:xfrm>
                <a:off x="900" y="4056"/>
                <a:ext cx="72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150" name="Line 6">
                <a:extLst>
                  <a:ext uri="{FF2B5EF4-FFF2-40B4-BE49-F238E27FC236}">
                    <a16:creationId xmlns:a16="http://schemas.microsoft.com/office/drawing/2014/main" id="{BFA491C6-5EC1-4E39-9840-73EAA4CB8A71}"/>
                  </a:ext>
                </a:extLst>
              </p:cNvPr>
              <p:cNvSpPr>
                <a:spLocks noChangeShapeType="1"/>
              </p:cNvSpPr>
              <p:nvPr/>
            </p:nvSpPr>
            <p:spPr bwMode="auto">
              <a:xfrm>
                <a:off x="2520" y="4056"/>
                <a:ext cx="36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151" name="Line 7">
                <a:extLst>
                  <a:ext uri="{FF2B5EF4-FFF2-40B4-BE49-F238E27FC236}">
                    <a16:creationId xmlns:a16="http://schemas.microsoft.com/office/drawing/2014/main" id="{21EB79D9-18D3-4109-860F-B97814DD90B2}"/>
                  </a:ext>
                </a:extLst>
              </p:cNvPr>
              <p:cNvSpPr>
                <a:spLocks noChangeShapeType="1"/>
              </p:cNvSpPr>
              <p:nvPr/>
            </p:nvSpPr>
            <p:spPr bwMode="auto">
              <a:xfrm>
                <a:off x="3780" y="4056"/>
                <a:ext cx="36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152" name="Line 8">
                <a:extLst>
                  <a:ext uri="{FF2B5EF4-FFF2-40B4-BE49-F238E27FC236}">
                    <a16:creationId xmlns:a16="http://schemas.microsoft.com/office/drawing/2014/main" id="{DB1C5F5B-07C1-43B7-B478-AE8DB38298EF}"/>
                  </a:ext>
                </a:extLst>
              </p:cNvPr>
              <p:cNvSpPr>
                <a:spLocks noChangeShapeType="1"/>
              </p:cNvSpPr>
              <p:nvPr/>
            </p:nvSpPr>
            <p:spPr bwMode="auto">
              <a:xfrm>
                <a:off x="5040" y="4056"/>
                <a:ext cx="362"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153" name="Line 9">
                <a:extLst>
                  <a:ext uri="{FF2B5EF4-FFF2-40B4-BE49-F238E27FC236}">
                    <a16:creationId xmlns:a16="http://schemas.microsoft.com/office/drawing/2014/main" id="{B05355A2-FF47-44A3-8209-C98381E3D606}"/>
                  </a:ext>
                </a:extLst>
              </p:cNvPr>
              <p:cNvSpPr>
                <a:spLocks noChangeShapeType="1"/>
              </p:cNvSpPr>
              <p:nvPr/>
            </p:nvSpPr>
            <p:spPr bwMode="auto">
              <a:xfrm>
                <a:off x="6480" y="4056"/>
                <a:ext cx="36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154" name="Line 10">
                <a:extLst>
                  <a:ext uri="{FF2B5EF4-FFF2-40B4-BE49-F238E27FC236}">
                    <a16:creationId xmlns:a16="http://schemas.microsoft.com/office/drawing/2014/main" id="{DDFAD8B0-08CC-4058-9806-ED8243BCBEB2}"/>
                  </a:ext>
                </a:extLst>
              </p:cNvPr>
              <p:cNvSpPr>
                <a:spLocks noChangeShapeType="1"/>
              </p:cNvSpPr>
              <p:nvPr/>
            </p:nvSpPr>
            <p:spPr bwMode="auto">
              <a:xfrm>
                <a:off x="7740" y="4056"/>
                <a:ext cx="36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155" name="Line 11">
                <a:extLst>
                  <a:ext uri="{FF2B5EF4-FFF2-40B4-BE49-F238E27FC236}">
                    <a16:creationId xmlns:a16="http://schemas.microsoft.com/office/drawing/2014/main" id="{5C5604AF-861D-42B5-80A5-4330EF850AF1}"/>
                  </a:ext>
                </a:extLst>
              </p:cNvPr>
              <p:cNvSpPr>
                <a:spLocks noChangeShapeType="1"/>
              </p:cNvSpPr>
              <p:nvPr/>
            </p:nvSpPr>
            <p:spPr bwMode="auto">
              <a:xfrm>
                <a:off x="9000" y="4056"/>
                <a:ext cx="35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156" name="Line 12">
                <a:extLst>
                  <a:ext uri="{FF2B5EF4-FFF2-40B4-BE49-F238E27FC236}">
                    <a16:creationId xmlns:a16="http://schemas.microsoft.com/office/drawing/2014/main" id="{E97FA817-74CF-46D3-8314-0F30F5B41B07}"/>
                  </a:ext>
                </a:extLst>
              </p:cNvPr>
              <p:cNvSpPr>
                <a:spLocks noChangeShapeType="1"/>
              </p:cNvSpPr>
              <p:nvPr/>
            </p:nvSpPr>
            <p:spPr bwMode="auto">
              <a:xfrm flipV="1">
                <a:off x="1260" y="1872"/>
                <a:ext cx="1" cy="218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157" name="Line 13">
                <a:extLst>
                  <a:ext uri="{FF2B5EF4-FFF2-40B4-BE49-F238E27FC236}">
                    <a16:creationId xmlns:a16="http://schemas.microsoft.com/office/drawing/2014/main" id="{DBCC9104-51E0-4574-9FEF-8F1969B1CD88}"/>
                  </a:ext>
                </a:extLst>
              </p:cNvPr>
              <p:cNvSpPr>
                <a:spLocks noChangeShapeType="1"/>
              </p:cNvSpPr>
              <p:nvPr/>
            </p:nvSpPr>
            <p:spPr bwMode="auto">
              <a:xfrm flipV="1">
                <a:off x="1260" y="1872"/>
                <a:ext cx="36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158" name="Line 14">
                <a:extLst>
                  <a:ext uri="{FF2B5EF4-FFF2-40B4-BE49-F238E27FC236}">
                    <a16:creationId xmlns:a16="http://schemas.microsoft.com/office/drawing/2014/main" id="{FB698B7A-05CA-41C4-849E-01329AB9E690}"/>
                  </a:ext>
                </a:extLst>
              </p:cNvPr>
              <p:cNvSpPr>
                <a:spLocks noChangeShapeType="1"/>
              </p:cNvSpPr>
              <p:nvPr/>
            </p:nvSpPr>
            <p:spPr bwMode="auto">
              <a:xfrm>
                <a:off x="2521" y="1872"/>
                <a:ext cx="17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159" name="Line 15">
                <a:extLst>
                  <a:ext uri="{FF2B5EF4-FFF2-40B4-BE49-F238E27FC236}">
                    <a16:creationId xmlns:a16="http://schemas.microsoft.com/office/drawing/2014/main" id="{0ED7394D-D4BA-4EE3-89BB-9A6E96DC6F3E}"/>
                  </a:ext>
                </a:extLst>
              </p:cNvPr>
              <p:cNvSpPr>
                <a:spLocks noChangeShapeType="1"/>
              </p:cNvSpPr>
              <p:nvPr/>
            </p:nvSpPr>
            <p:spPr bwMode="auto">
              <a:xfrm>
                <a:off x="2700" y="1872"/>
                <a:ext cx="1" cy="15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160" name="Line 16">
                <a:extLst>
                  <a:ext uri="{FF2B5EF4-FFF2-40B4-BE49-F238E27FC236}">
                    <a16:creationId xmlns:a16="http://schemas.microsoft.com/office/drawing/2014/main" id="{536368E3-FD5C-4DE4-9EE3-0E21CC04F268}"/>
                  </a:ext>
                </a:extLst>
              </p:cNvPr>
              <p:cNvSpPr>
                <a:spLocks noChangeShapeType="1"/>
              </p:cNvSpPr>
              <p:nvPr/>
            </p:nvSpPr>
            <p:spPr bwMode="auto">
              <a:xfrm>
                <a:off x="2700" y="3431"/>
                <a:ext cx="1" cy="249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161" name="Line 17">
                <a:extLst>
                  <a:ext uri="{FF2B5EF4-FFF2-40B4-BE49-F238E27FC236}">
                    <a16:creationId xmlns:a16="http://schemas.microsoft.com/office/drawing/2014/main" id="{3379906C-E94F-4431-8D36-5FEC29DB8ABE}"/>
                  </a:ext>
                </a:extLst>
              </p:cNvPr>
              <p:cNvSpPr>
                <a:spLocks noChangeShapeType="1"/>
              </p:cNvSpPr>
              <p:nvPr/>
            </p:nvSpPr>
            <p:spPr bwMode="auto">
              <a:xfrm>
                <a:off x="2700" y="5928"/>
                <a:ext cx="36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162" name="Line 18">
                <a:extLst>
                  <a:ext uri="{FF2B5EF4-FFF2-40B4-BE49-F238E27FC236}">
                    <a16:creationId xmlns:a16="http://schemas.microsoft.com/office/drawing/2014/main" id="{13042AB0-2960-41EF-8D52-314A5EAF72B2}"/>
                  </a:ext>
                </a:extLst>
              </p:cNvPr>
              <p:cNvSpPr>
                <a:spLocks noChangeShapeType="1"/>
              </p:cNvSpPr>
              <p:nvPr/>
            </p:nvSpPr>
            <p:spPr bwMode="auto">
              <a:xfrm>
                <a:off x="3960" y="5928"/>
                <a:ext cx="71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163" name="Line 19">
                <a:extLst>
                  <a:ext uri="{FF2B5EF4-FFF2-40B4-BE49-F238E27FC236}">
                    <a16:creationId xmlns:a16="http://schemas.microsoft.com/office/drawing/2014/main" id="{17706EAE-608E-4ADE-A5C4-8807C0DFE304}"/>
                  </a:ext>
                </a:extLst>
              </p:cNvPr>
              <p:cNvSpPr>
                <a:spLocks noChangeShapeType="1"/>
              </p:cNvSpPr>
              <p:nvPr/>
            </p:nvSpPr>
            <p:spPr bwMode="auto">
              <a:xfrm>
                <a:off x="5580" y="5928"/>
                <a:ext cx="71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164" name="Line 20">
                <a:extLst>
                  <a:ext uri="{FF2B5EF4-FFF2-40B4-BE49-F238E27FC236}">
                    <a16:creationId xmlns:a16="http://schemas.microsoft.com/office/drawing/2014/main" id="{D86EB948-6295-4947-A538-6B97449F4E45}"/>
                  </a:ext>
                </a:extLst>
              </p:cNvPr>
              <p:cNvSpPr>
                <a:spLocks noChangeShapeType="1"/>
              </p:cNvSpPr>
              <p:nvPr/>
            </p:nvSpPr>
            <p:spPr bwMode="auto">
              <a:xfrm>
                <a:off x="7200" y="5928"/>
                <a:ext cx="72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165" name="Line 21">
                <a:extLst>
                  <a:ext uri="{FF2B5EF4-FFF2-40B4-BE49-F238E27FC236}">
                    <a16:creationId xmlns:a16="http://schemas.microsoft.com/office/drawing/2014/main" id="{5645CED3-9999-449D-A73D-BFA6DE37CC57}"/>
                  </a:ext>
                </a:extLst>
              </p:cNvPr>
              <p:cNvSpPr>
                <a:spLocks noChangeShapeType="1"/>
              </p:cNvSpPr>
              <p:nvPr/>
            </p:nvSpPr>
            <p:spPr bwMode="auto">
              <a:xfrm>
                <a:off x="7920" y="4056"/>
                <a:ext cx="1" cy="187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166" name="Line 22">
                <a:extLst>
                  <a:ext uri="{FF2B5EF4-FFF2-40B4-BE49-F238E27FC236}">
                    <a16:creationId xmlns:a16="http://schemas.microsoft.com/office/drawing/2014/main" id="{1889D0C1-765C-4D7C-8FD8-CC4035798071}"/>
                  </a:ext>
                </a:extLst>
              </p:cNvPr>
              <p:cNvSpPr>
                <a:spLocks noChangeShapeType="1"/>
              </p:cNvSpPr>
              <p:nvPr/>
            </p:nvSpPr>
            <p:spPr bwMode="auto">
              <a:xfrm flipV="1">
                <a:off x="5400" y="780"/>
                <a:ext cx="1" cy="32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167" name="Line 23">
                <a:extLst>
                  <a:ext uri="{FF2B5EF4-FFF2-40B4-BE49-F238E27FC236}">
                    <a16:creationId xmlns:a16="http://schemas.microsoft.com/office/drawing/2014/main" id="{0AF3E754-412E-4A59-8093-4653377F4F09}"/>
                  </a:ext>
                </a:extLst>
              </p:cNvPr>
              <p:cNvSpPr>
                <a:spLocks noChangeShapeType="1"/>
              </p:cNvSpPr>
              <p:nvPr/>
            </p:nvSpPr>
            <p:spPr bwMode="auto">
              <a:xfrm>
                <a:off x="5400" y="780"/>
                <a:ext cx="181" cy="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168" name="Line 24">
                <a:extLst>
                  <a:ext uri="{FF2B5EF4-FFF2-40B4-BE49-F238E27FC236}">
                    <a16:creationId xmlns:a16="http://schemas.microsoft.com/office/drawing/2014/main" id="{F26C9569-9065-4401-83E3-E83CD2C36920}"/>
                  </a:ext>
                </a:extLst>
              </p:cNvPr>
              <p:cNvSpPr>
                <a:spLocks noChangeShapeType="1"/>
              </p:cNvSpPr>
              <p:nvPr/>
            </p:nvSpPr>
            <p:spPr bwMode="auto">
              <a:xfrm>
                <a:off x="5400" y="2183"/>
                <a:ext cx="181"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169" name="Line 25">
                <a:extLst>
                  <a:ext uri="{FF2B5EF4-FFF2-40B4-BE49-F238E27FC236}">
                    <a16:creationId xmlns:a16="http://schemas.microsoft.com/office/drawing/2014/main" id="{E3BF2440-6E11-43A6-AF1C-25F3D697509D}"/>
                  </a:ext>
                </a:extLst>
              </p:cNvPr>
              <p:cNvSpPr>
                <a:spLocks noChangeShapeType="1"/>
              </p:cNvSpPr>
              <p:nvPr/>
            </p:nvSpPr>
            <p:spPr bwMode="auto">
              <a:xfrm>
                <a:off x="6660" y="780"/>
                <a:ext cx="1" cy="327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170" name="Line 26">
                <a:extLst>
                  <a:ext uri="{FF2B5EF4-FFF2-40B4-BE49-F238E27FC236}">
                    <a16:creationId xmlns:a16="http://schemas.microsoft.com/office/drawing/2014/main" id="{7977A66E-A9FB-4E1C-A72E-6F2B9529D1B3}"/>
                  </a:ext>
                </a:extLst>
              </p:cNvPr>
              <p:cNvSpPr>
                <a:spLocks noChangeShapeType="1"/>
              </p:cNvSpPr>
              <p:nvPr/>
            </p:nvSpPr>
            <p:spPr bwMode="auto">
              <a:xfrm>
                <a:off x="6482" y="2183"/>
                <a:ext cx="178"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171" name="Line 27">
                <a:extLst>
                  <a:ext uri="{FF2B5EF4-FFF2-40B4-BE49-F238E27FC236}">
                    <a16:creationId xmlns:a16="http://schemas.microsoft.com/office/drawing/2014/main" id="{3069A164-4ADB-409D-A016-D571139B6A16}"/>
                  </a:ext>
                </a:extLst>
              </p:cNvPr>
              <p:cNvSpPr>
                <a:spLocks noChangeShapeType="1"/>
              </p:cNvSpPr>
              <p:nvPr/>
            </p:nvSpPr>
            <p:spPr bwMode="auto">
              <a:xfrm>
                <a:off x="5400" y="4056"/>
                <a:ext cx="1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62172" name="Group 28">
                <a:extLst>
                  <a:ext uri="{FF2B5EF4-FFF2-40B4-BE49-F238E27FC236}">
                    <a16:creationId xmlns:a16="http://schemas.microsoft.com/office/drawing/2014/main" id="{66D45D57-EF1E-48CA-A0B6-189F443E9AB2}"/>
                  </a:ext>
                </a:extLst>
              </p:cNvPr>
              <p:cNvGrpSpPr>
                <a:grpSpLocks/>
              </p:cNvGrpSpPr>
              <p:nvPr/>
            </p:nvGrpSpPr>
            <p:grpSpPr bwMode="auto">
              <a:xfrm>
                <a:off x="0" y="3432"/>
                <a:ext cx="900" cy="1466"/>
                <a:chOff x="0" y="0"/>
                <a:chExt cx="900" cy="1466"/>
              </a:xfrm>
            </p:grpSpPr>
            <p:sp>
              <p:nvSpPr>
                <p:cNvPr id="262213" name="Rectangle 29">
                  <a:extLst>
                    <a:ext uri="{FF2B5EF4-FFF2-40B4-BE49-F238E27FC236}">
                      <a16:creationId xmlns:a16="http://schemas.microsoft.com/office/drawing/2014/main" id="{01286099-8A13-43CD-95EA-D00C214A1990}"/>
                    </a:ext>
                  </a:extLst>
                </p:cNvPr>
                <p:cNvSpPr>
                  <a:spLocks noChangeArrowheads="1"/>
                </p:cNvSpPr>
                <p:nvPr/>
              </p:nvSpPr>
              <p:spPr bwMode="auto">
                <a:xfrm>
                  <a:off x="0" y="0"/>
                  <a:ext cx="900" cy="109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确定</a:t>
                  </a:r>
                </a:p>
                <a:p>
                  <a:pPr algn="just" eaLnBrk="1" hangingPunct="1">
                    <a:spcBef>
                      <a:spcPct val="0"/>
                    </a:spcBef>
                    <a:buFontTx/>
                    <a:buNone/>
                  </a:pPr>
                  <a:r>
                    <a:rPr lang="zh-CN" altLang="en-US" sz="1600" b="1"/>
                    <a:t>客户</a:t>
                  </a:r>
                </a:p>
                <a:p>
                  <a:pPr algn="just" eaLnBrk="1" hangingPunct="1">
                    <a:spcBef>
                      <a:spcPct val="0"/>
                    </a:spcBef>
                    <a:buFontTx/>
                    <a:buNone/>
                  </a:pPr>
                  <a:r>
                    <a:rPr lang="zh-CN" altLang="en-US" sz="1600" b="1"/>
                    <a:t>需求</a:t>
                  </a:r>
                  <a:r>
                    <a:rPr lang="en-US" altLang="zh-CN" sz="1600" b="1" baseline="-25000"/>
                    <a:t>2</a:t>
                  </a:r>
                  <a:endParaRPr lang="en-US" altLang="zh-CN" sz="3600" b="1">
                    <a:latin typeface="Arial Black" panose="020B0A04020102020204" pitchFamily="34" charset="0"/>
                  </a:endParaRPr>
                </a:p>
              </p:txBody>
            </p:sp>
            <p:sp>
              <p:nvSpPr>
                <p:cNvPr id="262214" name="Text Box 30">
                  <a:extLst>
                    <a:ext uri="{FF2B5EF4-FFF2-40B4-BE49-F238E27FC236}">
                      <a16:creationId xmlns:a16="http://schemas.microsoft.com/office/drawing/2014/main" id="{038BD485-3901-4925-A8A3-9665E9CF297A}"/>
                    </a:ext>
                  </a:extLst>
                </p:cNvPr>
                <p:cNvSpPr txBox="1">
                  <a:spLocks noChangeArrowheads="1"/>
                </p:cNvSpPr>
                <p:nvPr/>
              </p:nvSpPr>
              <p:spPr bwMode="auto">
                <a:xfrm>
                  <a:off x="0" y="1092"/>
                  <a:ext cx="900" cy="374"/>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2</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grpSp>
            <p:nvGrpSpPr>
              <p:cNvPr id="262173" name="Group 31">
                <a:extLst>
                  <a:ext uri="{FF2B5EF4-FFF2-40B4-BE49-F238E27FC236}">
                    <a16:creationId xmlns:a16="http://schemas.microsoft.com/office/drawing/2014/main" id="{01F09C12-667F-4B84-90CD-76707FCD718E}"/>
                  </a:ext>
                </a:extLst>
              </p:cNvPr>
              <p:cNvGrpSpPr>
                <a:grpSpLocks/>
              </p:cNvGrpSpPr>
              <p:nvPr/>
            </p:nvGrpSpPr>
            <p:grpSpPr bwMode="auto">
              <a:xfrm>
                <a:off x="1620" y="1247"/>
                <a:ext cx="901" cy="1468"/>
                <a:chOff x="0" y="0"/>
                <a:chExt cx="901" cy="1468"/>
              </a:xfrm>
            </p:grpSpPr>
            <p:sp>
              <p:nvSpPr>
                <p:cNvPr id="262211" name="Rectangle 32">
                  <a:extLst>
                    <a:ext uri="{FF2B5EF4-FFF2-40B4-BE49-F238E27FC236}">
                      <a16:creationId xmlns:a16="http://schemas.microsoft.com/office/drawing/2014/main" id="{9C711A66-3199-45D2-AC05-7227DCB6528D}"/>
                    </a:ext>
                  </a:extLst>
                </p:cNvPr>
                <p:cNvSpPr>
                  <a:spLocks noChangeArrowheads="1"/>
                </p:cNvSpPr>
                <p:nvPr/>
              </p:nvSpPr>
              <p:spPr bwMode="auto">
                <a:xfrm>
                  <a:off x="0" y="0"/>
                  <a:ext cx="901" cy="109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设计</a:t>
                  </a:r>
                  <a:r>
                    <a:rPr lang="en-US" altLang="zh-CN" sz="1600" b="1" baseline="30000"/>
                    <a:t>12</a:t>
                  </a:r>
                  <a:endParaRPr lang="en-US" altLang="zh-CN" sz="1600" b="1"/>
                </a:p>
                <a:p>
                  <a:pPr algn="just" eaLnBrk="1" hangingPunct="1">
                    <a:spcBef>
                      <a:spcPct val="0"/>
                    </a:spcBef>
                    <a:buFontTx/>
                    <a:buNone/>
                  </a:pPr>
                  <a:r>
                    <a:rPr lang="zh-CN" altLang="en-US" sz="1600" b="1"/>
                    <a:t>工艺</a:t>
                  </a:r>
                </a:p>
                <a:p>
                  <a:pPr algn="just" eaLnBrk="1" hangingPunct="1">
                    <a:spcBef>
                      <a:spcPct val="0"/>
                    </a:spcBef>
                    <a:buFontTx/>
                    <a:buNone/>
                  </a:pPr>
                  <a:r>
                    <a:rPr lang="zh-CN" altLang="en-US" sz="1600" b="1"/>
                    <a:t>要求</a:t>
                  </a:r>
                  <a:r>
                    <a:rPr lang="en-US" altLang="zh-CN" sz="1600" b="1" baseline="-25000"/>
                    <a:t>32</a:t>
                  </a:r>
                  <a:endParaRPr lang="en-US" altLang="zh-CN" sz="3600" b="1">
                    <a:latin typeface="Arial Black" panose="020B0A04020102020204" pitchFamily="34" charset="0"/>
                  </a:endParaRPr>
                </a:p>
              </p:txBody>
            </p:sp>
            <p:sp>
              <p:nvSpPr>
                <p:cNvPr id="262212" name="Text Box 33">
                  <a:extLst>
                    <a:ext uri="{FF2B5EF4-FFF2-40B4-BE49-F238E27FC236}">
                      <a16:creationId xmlns:a16="http://schemas.microsoft.com/office/drawing/2014/main" id="{DFFB3A6B-B0CB-496F-A3CD-60D736AC83DF}"/>
                    </a:ext>
                  </a:extLst>
                </p:cNvPr>
                <p:cNvSpPr txBox="1">
                  <a:spLocks noChangeArrowheads="1"/>
                </p:cNvSpPr>
                <p:nvPr/>
              </p:nvSpPr>
              <p:spPr bwMode="auto">
                <a:xfrm>
                  <a:off x="0" y="1093"/>
                  <a:ext cx="900" cy="375"/>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10</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grpSp>
            <p:nvGrpSpPr>
              <p:cNvPr id="262174" name="Group 34">
                <a:extLst>
                  <a:ext uri="{FF2B5EF4-FFF2-40B4-BE49-F238E27FC236}">
                    <a16:creationId xmlns:a16="http://schemas.microsoft.com/office/drawing/2014/main" id="{9CA8BD64-D7EE-4262-BB47-D888A21CC45F}"/>
                  </a:ext>
                </a:extLst>
              </p:cNvPr>
              <p:cNvGrpSpPr>
                <a:grpSpLocks/>
              </p:cNvGrpSpPr>
              <p:nvPr/>
            </p:nvGrpSpPr>
            <p:grpSpPr bwMode="auto">
              <a:xfrm>
                <a:off x="5580" y="3432"/>
                <a:ext cx="902" cy="1467"/>
                <a:chOff x="0" y="0"/>
                <a:chExt cx="902" cy="1467"/>
              </a:xfrm>
            </p:grpSpPr>
            <p:sp>
              <p:nvSpPr>
                <p:cNvPr id="262209" name="Rectangle 35">
                  <a:extLst>
                    <a:ext uri="{FF2B5EF4-FFF2-40B4-BE49-F238E27FC236}">
                      <a16:creationId xmlns:a16="http://schemas.microsoft.com/office/drawing/2014/main" id="{98F99A82-BF13-49DC-9BC6-56D82E37D456}"/>
                    </a:ext>
                  </a:extLst>
                </p:cNvPr>
                <p:cNvSpPr>
                  <a:spLocks noChangeArrowheads="1"/>
                </p:cNvSpPr>
                <p:nvPr/>
              </p:nvSpPr>
              <p:spPr bwMode="auto">
                <a:xfrm>
                  <a:off x="1" y="0"/>
                  <a:ext cx="901" cy="1091"/>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采购</a:t>
                  </a:r>
                  <a:r>
                    <a:rPr lang="en-US" altLang="zh-CN" sz="1600" b="1" baseline="30000"/>
                    <a:t>65</a:t>
                  </a:r>
                  <a:endParaRPr lang="en-US" altLang="zh-CN" sz="1600" b="1"/>
                </a:p>
                <a:p>
                  <a:pPr algn="just" eaLnBrk="1" hangingPunct="1">
                    <a:lnSpc>
                      <a:spcPct val="80000"/>
                    </a:lnSpc>
                    <a:spcBef>
                      <a:spcPct val="0"/>
                    </a:spcBef>
                    <a:buFontTx/>
                    <a:buNone/>
                  </a:pPr>
                  <a:endParaRPr lang="en-US" altLang="zh-CN" sz="1600" b="1"/>
                </a:p>
                <a:p>
                  <a:pPr algn="just" eaLnBrk="1" hangingPunct="1">
                    <a:spcBef>
                      <a:spcPct val="0"/>
                    </a:spcBef>
                    <a:buFontTx/>
                    <a:buNone/>
                  </a:pPr>
                  <a:r>
                    <a:rPr lang="zh-CN" altLang="en-US" sz="1600" b="1"/>
                    <a:t>零件</a:t>
                  </a:r>
                  <a:r>
                    <a:rPr lang="en-US" altLang="zh-CN" sz="1600" b="1" baseline="-25000"/>
                    <a:t>65</a:t>
                  </a:r>
                  <a:endParaRPr lang="en-US" altLang="zh-CN" sz="3600" b="1">
                    <a:latin typeface="Arial Black" panose="020B0A04020102020204" pitchFamily="34" charset="0"/>
                  </a:endParaRPr>
                </a:p>
              </p:txBody>
            </p:sp>
            <p:sp>
              <p:nvSpPr>
                <p:cNvPr id="262210" name="Text Box 36">
                  <a:extLst>
                    <a:ext uri="{FF2B5EF4-FFF2-40B4-BE49-F238E27FC236}">
                      <a16:creationId xmlns:a16="http://schemas.microsoft.com/office/drawing/2014/main" id="{4B2D428D-9F7E-4E17-A892-8937377A0E4B}"/>
                    </a:ext>
                  </a:extLst>
                </p:cNvPr>
                <p:cNvSpPr txBox="1">
                  <a:spLocks noChangeArrowheads="1"/>
                </p:cNvSpPr>
                <p:nvPr/>
              </p:nvSpPr>
              <p:spPr bwMode="auto">
                <a:xfrm>
                  <a:off x="0" y="1092"/>
                  <a:ext cx="900" cy="375"/>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30</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grpSp>
            <p:nvGrpSpPr>
              <p:cNvPr id="262175" name="Group 37">
                <a:extLst>
                  <a:ext uri="{FF2B5EF4-FFF2-40B4-BE49-F238E27FC236}">
                    <a16:creationId xmlns:a16="http://schemas.microsoft.com/office/drawing/2014/main" id="{6F5BDA4A-5C75-468A-B9AF-D017959A31A9}"/>
                  </a:ext>
                </a:extLst>
              </p:cNvPr>
              <p:cNvGrpSpPr>
                <a:grpSpLocks/>
              </p:cNvGrpSpPr>
              <p:nvPr/>
            </p:nvGrpSpPr>
            <p:grpSpPr bwMode="auto">
              <a:xfrm>
                <a:off x="4680" y="5148"/>
                <a:ext cx="901" cy="1468"/>
                <a:chOff x="0" y="0"/>
                <a:chExt cx="901" cy="1468"/>
              </a:xfrm>
            </p:grpSpPr>
            <p:sp>
              <p:nvSpPr>
                <p:cNvPr id="262207" name="Rectangle 38">
                  <a:extLst>
                    <a:ext uri="{FF2B5EF4-FFF2-40B4-BE49-F238E27FC236}">
                      <a16:creationId xmlns:a16="http://schemas.microsoft.com/office/drawing/2014/main" id="{A0EA8264-2378-45DA-9968-550B231682E5}"/>
                    </a:ext>
                  </a:extLst>
                </p:cNvPr>
                <p:cNvSpPr>
                  <a:spLocks noChangeArrowheads="1"/>
                </p:cNvSpPr>
                <p:nvPr/>
              </p:nvSpPr>
              <p:spPr bwMode="auto">
                <a:xfrm>
                  <a:off x="0" y="0"/>
                  <a:ext cx="901" cy="109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标准</a:t>
                  </a:r>
                  <a:r>
                    <a:rPr lang="en-US" altLang="zh-CN" sz="1600" b="1" baseline="30000"/>
                    <a:t>46</a:t>
                  </a:r>
                  <a:endParaRPr lang="en-US" altLang="zh-CN" sz="1600" b="1"/>
                </a:p>
                <a:p>
                  <a:pPr algn="just" eaLnBrk="1" hangingPunct="1">
                    <a:spcBef>
                      <a:spcPct val="0"/>
                    </a:spcBef>
                    <a:buFontTx/>
                    <a:buNone/>
                  </a:pPr>
                  <a:r>
                    <a:rPr lang="zh-CN" altLang="en-US" sz="1600" b="1"/>
                    <a:t>测试</a:t>
                  </a:r>
                </a:p>
                <a:p>
                  <a:pPr algn="just" eaLnBrk="1" hangingPunct="1">
                    <a:spcBef>
                      <a:spcPct val="0"/>
                    </a:spcBef>
                    <a:buFontTx/>
                    <a:buNone/>
                  </a:pPr>
                  <a:r>
                    <a:rPr lang="zh-CN" altLang="en-US" sz="1600" b="1"/>
                    <a:t>文件</a:t>
                  </a:r>
                  <a:r>
                    <a:rPr lang="en-US" altLang="zh-CN" sz="1600" b="1" baseline="-25000"/>
                    <a:t>74</a:t>
                  </a:r>
                  <a:endParaRPr lang="en-US" altLang="zh-CN" sz="3600" b="1">
                    <a:latin typeface="Arial Black" panose="020B0A04020102020204" pitchFamily="34" charset="0"/>
                  </a:endParaRPr>
                </a:p>
              </p:txBody>
            </p:sp>
            <p:sp>
              <p:nvSpPr>
                <p:cNvPr id="262208" name="Text Box 39">
                  <a:extLst>
                    <a:ext uri="{FF2B5EF4-FFF2-40B4-BE49-F238E27FC236}">
                      <a16:creationId xmlns:a16="http://schemas.microsoft.com/office/drawing/2014/main" id="{FD9E177B-D287-45CA-BEEC-A23DB408EE4A}"/>
                    </a:ext>
                  </a:extLst>
                </p:cNvPr>
                <p:cNvSpPr txBox="1">
                  <a:spLocks noChangeArrowheads="1"/>
                </p:cNvSpPr>
                <p:nvPr/>
              </p:nvSpPr>
              <p:spPr bwMode="auto">
                <a:xfrm>
                  <a:off x="0" y="1093"/>
                  <a:ext cx="900" cy="375"/>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8</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grpSp>
            <p:nvGrpSpPr>
              <p:cNvPr id="262176" name="Group 40">
                <a:extLst>
                  <a:ext uri="{FF2B5EF4-FFF2-40B4-BE49-F238E27FC236}">
                    <a16:creationId xmlns:a16="http://schemas.microsoft.com/office/drawing/2014/main" id="{424866CD-7782-4989-A936-1E6961D80267}"/>
                  </a:ext>
                </a:extLst>
              </p:cNvPr>
              <p:cNvGrpSpPr>
                <a:grpSpLocks/>
              </p:cNvGrpSpPr>
              <p:nvPr/>
            </p:nvGrpSpPr>
            <p:grpSpPr bwMode="auto">
              <a:xfrm>
                <a:off x="3060" y="5148"/>
                <a:ext cx="901" cy="1468"/>
                <a:chOff x="0" y="0"/>
                <a:chExt cx="901" cy="1468"/>
              </a:xfrm>
            </p:grpSpPr>
            <p:sp>
              <p:nvSpPr>
                <p:cNvPr id="262205" name="Rectangle 41">
                  <a:extLst>
                    <a:ext uri="{FF2B5EF4-FFF2-40B4-BE49-F238E27FC236}">
                      <a16:creationId xmlns:a16="http://schemas.microsoft.com/office/drawing/2014/main" id="{A9D06D63-1ED0-4886-9E3D-5E013D9AF987}"/>
                    </a:ext>
                  </a:extLst>
                </p:cNvPr>
                <p:cNvSpPr>
                  <a:spLocks noChangeArrowheads="1"/>
                </p:cNvSpPr>
                <p:nvPr/>
              </p:nvSpPr>
              <p:spPr bwMode="auto">
                <a:xfrm>
                  <a:off x="0" y="0"/>
                  <a:ext cx="900" cy="109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确定</a:t>
                  </a:r>
                  <a:r>
                    <a:rPr lang="en-US" altLang="zh-CN" sz="1600" b="1" baseline="30000"/>
                    <a:t>38</a:t>
                  </a:r>
                  <a:endParaRPr lang="en-US" altLang="zh-CN" sz="1600" b="1"/>
                </a:p>
                <a:p>
                  <a:pPr algn="just" eaLnBrk="1" hangingPunct="1">
                    <a:spcBef>
                      <a:spcPct val="0"/>
                    </a:spcBef>
                    <a:buFontTx/>
                    <a:buNone/>
                  </a:pPr>
                  <a:r>
                    <a:rPr lang="zh-CN" altLang="en-US" sz="1600" b="1"/>
                    <a:t>设计</a:t>
                  </a:r>
                </a:p>
                <a:p>
                  <a:pPr algn="just" eaLnBrk="1" hangingPunct="1">
                    <a:spcBef>
                      <a:spcPct val="0"/>
                    </a:spcBef>
                    <a:buFontTx/>
                    <a:buNone/>
                  </a:pPr>
                  <a:r>
                    <a:rPr lang="zh-CN" altLang="en-US" sz="1600" b="1"/>
                    <a:t>标准</a:t>
                  </a:r>
                  <a:r>
                    <a:rPr lang="en-US" altLang="zh-CN" sz="1600" b="1" baseline="-25000"/>
                    <a:t>66</a:t>
                  </a:r>
                  <a:endParaRPr lang="en-US" altLang="zh-CN" sz="3600" b="1">
                    <a:latin typeface="Arial Black" panose="020B0A04020102020204" pitchFamily="34" charset="0"/>
                  </a:endParaRPr>
                </a:p>
              </p:txBody>
            </p:sp>
            <p:sp>
              <p:nvSpPr>
                <p:cNvPr id="262206" name="Text Box 42">
                  <a:extLst>
                    <a:ext uri="{FF2B5EF4-FFF2-40B4-BE49-F238E27FC236}">
                      <a16:creationId xmlns:a16="http://schemas.microsoft.com/office/drawing/2014/main" id="{EDDC1F63-202C-4CF4-A54A-76C220EB6F80}"/>
                    </a:ext>
                  </a:extLst>
                </p:cNvPr>
                <p:cNvSpPr txBox="1">
                  <a:spLocks noChangeArrowheads="1"/>
                </p:cNvSpPr>
                <p:nvPr/>
              </p:nvSpPr>
              <p:spPr bwMode="auto">
                <a:xfrm>
                  <a:off x="0" y="1093"/>
                  <a:ext cx="901" cy="375"/>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6</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grpSp>
            <p:nvGrpSpPr>
              <p:cNvPr id="262177" name="Group 43">
                <a:extLst>
                  <a:ext uri="{FF2B5EF4-FFF2-40B4-BE49-F238E27FC236}">
                    <a16:creationId xmlns:a16="http://schemas.microsoft.com/office/drawing/2014/main" id="{82306BD8-23A9-4B9B-8089-2F106EFA0E76}"/>
                  </a:ext>
                </a:extLst>
              </p:cNvPr>
              <p:cNvGrpSpPr>
                <a:grpSpLocks/>
              </p:cNvGrpSpPr>
              <p:nvPr/>
            </p:nvGrpSpPr>
            <p:grpSpPr bwMode="auto">
              <a:xfrm>
                <a:off x="4140" y="3432"/>
                <a:ext cx="900" cy="1464"/>
                <a:chOff x="0" y="0"/>
                <a:chExt cx="900" cy="1464"/>
              </a:xfrm>
            </p:grpSpPr>
            <p:sp>
              <p:nvSpPr>
                <p:cNvPr id="262203" name="Rectangle 44">
                  <a:extLst>
                    <a:ext uri="{FF2B5EF4-FFF2-40B4-BE49-F238E27FC236}">
                      <a16:creationId xmlns:a16="http://schemas.microsoft.com/office/drawing/2014/main" id="{5A1887CA-A767-410E-BABC-430DA2F4C34F}"/>
                    </a:ext>
                  </a:extLst>
                </p:cNvPr>
                <p:cNvSpPr>
                  <a:spLocks noChangeArrowheads="1"/>
                </p:cNvSpPr>
                <p:nvPr/>
              </p:nvSpPr>
              <p:spPr bwMode="auto">
                <a:xfrm>
                  <a:off x="1" y="0"/>
                  <a:ext cx="899" cy="109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认可</a:t>
                  </a:r>
                  <a:r>
                    <a:rPr lang="en-US" altLang="zh-CN" sz="1600" b="1" baseline="30000"/>
                    <a:t>35</a:t>
                  </a:r>
                  <a:endParaRPr lang="en-US" altLang="zh-CN" sz="1600" b="1"/>
                </a:p>
                <a:p>
                  <a:pPr algn="just" eaLnBrk="1" hangingPunct="1">
                    <a:spcBef>
                      <a:spcPct val="0"/>
                    </a:spcBef>
                    <a:buFontTx/>
                    <a:buNone/>
                  </a:pPr>
                  <a:r>
                    <a:rPr lang="zh-CN" altLang="en-US" sz="1600" b="1"/>
                    <a:t>设计</a:t>
                  </a:r>
                </a:p>
                <a:p>
                  <a:pPr algn="just" eaLnBrk="1" hangingPunct="1">
                    <a:spcBef>
                      <a:spcPct val="0"/>
                    </a:spcBef>
                    <a:buFontTx/>
                    <a:buNone/>
                  </a:pPr>
                  <a:r>
                    <a:rPr lang="zh-CN" altLang="en-US" sz="1600" b="1"/>
                    <a:t>方案</a:t>
                  </a:r>
                  <a:r>
                    <a:rPr lang="en-US" altLang="zh-CN" sz="1600" b="1" baseline="-25000"/>
                    <a:t>35</a:t>
                  </a:r>
                  <a:endParaRPr lang="en-US" altLang="zh-CN" sz="3600" b="1">
                    <a:latin typeface="Arial Black" panose="020B0A04020102020204" pitchFamily="34" charset="0"/>
                  </a:endParaRPr>
                </a:p>
              </p:txBody>
            </p:sp>
            <p:sp>
              <p:nvSpPr>
                <p:cNvPr id="262204" name="Text Box 45">
                  <a:extLst>
                    <a:ext uri="{FF2B5EF4-FFF2-40B4-BE49-F238E27FC236}">
                      <a16:creationId xmlns:a16="http://schemas.microsoft.com/office/drawing/2014/main" id="{A777DB7A-DF8B-418C-B30B-F3B43EA4EF8C}"/>
                    </a:ext>
                  </a:extLst>
                </p:cNvPr>
                <p:cNvSpPr txBox="1">
                  <a:spLocks noChangeArrowheads="1"/>
                </p:cNvSpPr>
                <p:nvPr/>
              </p:nvSpPr>
              <p:spPr bwMode="auto">
                <a:xfrm>
                  <a:off x="0" y="1092"/>
                  <a:ext cx="900" cy="37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1</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grpSp>
            <p:nvGrpSpPr>
              <p:cNvPr id="262178" name="Group 46">
                <a:extLst>
                  <a:ext uri="{FF2B5EF4-FFF2-40B4-BE49-F238E27FC236}">
                    <a16:creationId xmlns:a16="http://schemas.microsoft.com/office/drawing/2014/main" id="{588FE675-3068-4EBD-92F1-DB7895F7EE4F}"/>
                  </a:ext>
                </a:extLst>
              </p:cNvPr>
              <p:cNvGrpSpPr>
                <a:grpSpLocks/>
              </p:cNvGrpSpPr>
              <p:nvPr/>
            </p:nvGrpSpPr>
            <p:grpSpPr bwMode="auto">
              <a:xfrm>
                <a:off x="2880" y="3432"/>
                <a:ext cx="901" cy="1464"/>
                <a:chOff x="0" y="0"/>
                <a:chExt cx="901" cy="1464"/>
              </a:xfrm>
            </p:grpSpPr>
            <p:sp>
              <p:nvSpPr>
                <p:cNvPr id="262201" name="Rectangle 47">
                  <a:extLst>
                    <a:ext uri="{FF2B5EF4-FFF2-40B4-BE49-F238E27FC236}">
                      <a16:creationId xmlns:a16="http://schemas.microsoft.com/office/drawing/2014/main" id="{30D7DE16-43E7-4E9B-AF1D-DA0D5A38A103}"/>
                    </a:ext>
                  </a:extLst>
                </p:cNvPr>
                <p:cNvSpPr>
                  <a:spLocks noChangeArrowheads="1"/>
                </p:cNvSpPr>
                <p:nvPr/>
              </p:nvSpPr>
              <p:spPr bwMode="auto">
                <a:xfrm>
                  <a:off x="1" y="0"/>
                  <a:ext cx="899" cy="109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评审</a:t>
                  </a:r>
                  <a:r>
                    <a:rPr lang="en-US" altLang="zh-CN" sz="1600" b="1" baseline="30000"/>
                    <a:t>34</a:t>
                  </a:r>
                  <a:endParaRPr lang="en-US" altLang="zh-CN" sz="1600" b="1"/>
                </a:p>
                <a:p>
                  <a:pPr algn="just" eaLnBrk="1" hangingPunct="1">
                    <a:spcBef>
                      <a:spcPct val="0"/>
                    </a:spcBef>
                    <a:buFontTx/>
                    <a:buNone/>
                  </a:pPr>
                  <a:r>
                    <a:rPr lang="zh-CN" altLang="en-US" sz="1600" b="1"/>
                    <a:t>设计</a:t>
                  </a:r>
                </a:p>
                <a:p>
                  <a:pPr algn="just" eaLnBrk="1" hangingPunct="1">
                    <a:spcBef>
                      <a:spcPct val="0"/>
                    </a:spcBef>
                    <a:buFontTx/>
                    <a:buNone/>
                  </a:pPr>
                  <a:r>
                    <a:rPr lang="zh-CN" altLang="en-US" sz="1600" b="1"/>
                    <a:t>方案</a:t>
                  </a:r>
                  <a:r>
                    <a:rPr lang="en-US" altLang="zh-CN" sz="1600" b="1" baseline="-25000"/>
                    <a:t>34</a:t>
                  </a:r>
                  <a:endParaRPr lang="en-US" altLang="zh-CN" sz="3600" b="1">
                    <a:latin typeface="Arial Black" panose="020B0A04020102020204" pitchFamily="34" charset="0"/>
                  </a:endParaRPr>
                </a:p>
              </p:txBody>
            </p:sp>
            <p:sp>
              <p:nvSpPr>
                <p:cNvPr id="262202" name="Text Box 48">
                  <a:extLst>
                    <a:ext uri="{FF2B5EF4-FFF2-40B4-BE49-F238E27FC236}">
                      <a16:creationId xmlns:a16="http://schemas.microsoft.com/office/drawing/2014/main" id="{7C0F56B0-29DD-4B7E-A6A6-246608A562BA}"/>
                    </a:ext>
                  </a:extLst>
                </p:cNvPr>
                <p:cNvSpPr txBox="1">
                  <a:spLocks noChangeArrowheads="1"/>
                </p:cNvSpPr>
                <p:nvPr/>
              </p:nvSpPr>
              <p:spPr bwMode="auto">
                <a:xfrm>
                  <a:off x="0" y="1092"/>
                  <a:ext cx="901" cy="37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2</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grpSp>
            <p:nvGrpSpPr>
              <p:cNvPr id="262179" name="Group 49">
                <a:extLst>
                  <a:ext uri="{FF2B5EF4-FFF2-40B4-BE49-F238E27FC236}">
                    <a16:creationId xmlns:a16="http://schemas.microsoft.com/office/drawing/2014/main" id="{65C61E36-A50A-46EF-882A-4992914FCF98}"/>
                  </a:ext>
                </a:extLst>
              </p:cNvPr>
              <p:cNvGrpSpPr>
                <a:grpSpLocks/>
              </p:cNvGrpSpPr>
              <p:nvPr/>
            </p:nvGrpSpPr>
            <p:grpSpPr bwMode="auto">
              <a:xfrm>
                <a:off x="1620" y="3432"/>
                <a:ext cx="901" cy="1464"/>
                <a:chOff x="0" y="0"/>
                <a:chExt cx="901" cy="1464"/>
              </a:xfrm>
            </p:grpSpPr>
            <p:sp>
              <p:nvSpPr>
                <p:cNvPr id="262199" name="Rectangle 50">
                  <a:extLst>
                    <a:ext uri="{FF2B5EF4-FFF2-40B4-BE49-F238E27FC236}">
                      <a16:creationId xmlns:a16="http://schemas.microsoft.com/office/drawing/2014/main" id="{E359D179-4294-4E19-90F3-4BFD30942762}"/>
                    </a:ext>
                  </a:extLst>
                </p:cNvPr>
                <p:cNvSpPr>
                  <a:spLocks noChangeArrowheads="1"/>
                </p:cNvSpPr>
                <p:nvPr/>
              </p:nvSpPr>
              <p:spPr bwMode="auto">
                <a:xfrm>
                  <a:off x="0" y="0"/>
                  <a:ext cx="901" cy="109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设计</a:t>
                  </a:r>
                  <a:r>
                    <a:rPr lang="en-US" altLang="zh-CN" sz="1600" b="1" baseline="30000"/>
                    <a:t>32</a:t>
                  </a:r>
                  <a:endParaRPr lang="en-US" altLang="zh-CN" sz="1600" b="1"/>
                </a:p>
                <a:p>
                  <a:pPr algn="just" eaLnBrk="1" hangingPunct="1">
                    <a:spcBef>
                      <a:spcPct val="0"/>
                    </a:spcBef>
                    <a:buFontTx/>
                    <a:buNone/>
                  </a:pPr>
                  <a:r>
                    <a:rPr lang="zh-CN" altLang="en-US" sz="1600" b="1"/>
                    <a:t>产品</a:t>
                  </a:r>
                </a:p>
                <a:p>
                  <a:pPr algn="just" eaLnBrk="1" hangingPunct="1">
                    <a:spcBef>
                      <a:spcPct val="0"/>
                    </a:spcBef>
                    <a:buFontTx/>
                    <a:buNone/>
                  </a:pPr>
                  <a:r>
                    <a:rPr lang="zh-CN" altLang="en-US" sz="1600" b="1"/>
                    <a:t>性能</a:t>
                  </a:r>
                  <a:r>
                    <a:rPr lang="en-US" altLang="zh-CN" sz="1600" b="1" baseline="-25000"/>
                    <a:t>32</a:t>
                  </a:r>
                  <a:endParaRPr lang="en-US" altLang="zh-CN" sz="3600" b="1">
                    <a:latin typeface="Arial Black" panose="020B0A04020102020204" pitchFamily="34" charset="0"/>
                  </a:endParaRPr>
                </a:p>
              </p:txBody>
            </p:sp>
            <p:sp>
              <p:nvSpPr>
                <p:cNvPr id="262200" name="Text Box 51">
                  <a:extLst>
                    <a:ext uri="{FF2B5EF4-FFF2-40B4-BE49-F238E27FC236}">
                      <a16:creationId xmlns:a16="http://schemas.microsoft.com/office/drawing/2014/main" id="{96DC7333-7AAC-4BB1-85B5-A820E82C7B4D}"/>
                    </a:ext>
                  </a:extLst>
                </p:cNvPr>
                <p:cNvSpPr txBox="1">
                  <a:spLocks noChangeArrowheads="1"/>
                </p:cNvSpPr>
                <p:nvPr/>
              </p:nvSpPr>
              <p:spPr bwMode="auto">
                <a:xfrm>
                  <a:off x="0" y="1092"/>
                  <a:ext cx="900" cy="37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30</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sp>
            <p:nvSpPr>
              <p:cNvPr id="262180" name="Line 52">
                <a:extLst>
                  <a:ext uri="{FF2B5EF4-FFF2-40B4-BE49-F238E27FC236}">
                    <a16:creationId xmlns:a16="http://schemas.microsoft.com/office/drawing/2014/main" id="{B0A95432-EF35-4601-BB72-AAE09B448B77}"/>
                  </a:ext>
                </a:extLst>
              </p:cNvPr>
              <p:cNvSpPr>
                <a:spLocks noChangeShapeType="1"/>
              </p:cNvSpPr>
              <p:nvPr/>
            </p:nvSpPr>
            <p:spPr bwMode="auto">
              <a:xfrm>
                <a:off x="6480" y="780"/>
                <a:ext cx="178" cy="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62181" name="Group 53">
                <a:extLst>
                  <a:ext uri="{FF2B5EF4-FFF2-40B4-BE49-F238E27FC236}">
                    <a16:creationId xmlns:a16="http://schemas.microsoft.com/office/drawing/2014/main" id="{6970030F-304B-4FFF-A5BF-5B16F1E2DA04}"/>
                  </a:ext>
                </a:extLst>
              </p:cNvPr>
              <p:cNvGrpSpPr>
                <a:grpSpLocks/>
              </p:cNvGrpSpPr>
              <p:nvPr/>
            </p:nvGrpSpPr>
            <p:grpSpPr bwMode="auto">
              <a:xfrm>
                <a:off x="5580" y="0"/>
                <a:ext cx="902" cy="1465"/>
                <a:chOff x="0" y="0"/>
                <a:chExt cx="902" cy="1465"/>
              </a:xfrm>
            </p:grpSpPr>
            <p:sp>
              <p:nvSpPr>
                <p:cNvPr id="262197" name="Rectangle 54">
                  <a:extLst>
                    <a:ext uri="{FF2B5EF4-FFF2-40B4-BE49-F238E27FC236}">
                      <a16:creationId xmlns:a16="http://schemas.microsoft.com/office/drawing/2014/main" id="{C597AD83-837F-4D58-97B8-BF9CE0838CEC}"/>
                    </a:ext>
                  </a:extLst>
                </p:cNvPr>
                <p:cNvSpPr>
                  <a:spLocks noChangeArrowheads="1"/>
                </p:cNvSpPr>
                <p:nvPr/>
              </p:nvSpPr>
              <p:spPr bwMode="auto">
                <a:xfrm>
                  <a:off x="1" y="0"/>
                  <a:ext cx="901" cy="109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采购</a:t>
                  </a:r>
                  <a:r>
                    <a:rPr lang="en-US" altLang="zh-CN" sz="1600" b="1" baseline="30000"/>
                    <a:t>45</a:t>
                  </a:r>
                  <a:endParaRPr lang="en-US" altLang="zh-CN" sz="1600" b="1"/>
                </a:p>
                <a:p>
                  <a:pPr algn="just" eaLnBrk="1" hangingPunct="1">
                    <a:spcBef>
                      <a:spcPct val="0"/>
                    </a:spcBef>
                    <a:buFontTx/>
                    <a:buNone/>
                  </a:pPr>
                  <a:r>
                    <a:rPr lang="zh-CN" altLang="en-US" sz="1600" b="1"/>
                    <a:t>工装</a:t>
                  </a:r>
                </a:p>
                <a:p>
                  <a:pPr algn="just" eaLnBrk="1" hangingPunct="1">
                    <a:spcBef>
                      <a:spcPct val="0"/>
                    </a:spcBef>
                    <a:buFontTx/>
                    <a:buNone/>
                  </a:pPr>
                  <a:r>
                    <a:rPr lang="zh-CN" altLang="en-US" sz="1600" b="1"/>
                    <a:t>模具</a:t>
                  </a:r>
                  <a:r>
                    <a:rPr lang="en-US" altLang="zh-CN" sz="1600" b="1" baseline="-25000"/>
                    <a:t>65</a:t>
                  </a:r>
                  <a:endParaRPr lang="en-US" altLang="zh-CN" sz="3600" b="1">
                    <a:latin typeface="Arial Black" panose="020B0A04020102020204" pitchFamily="34" charset="0"/>
                  </a:endParaRPr>
                </a:p>
              </p:txBody>
            </p:sp>
            <p:sp>
              <p:nvSpPr>
                <p:cNvPr id="262198" name="Text Box 55">
                  <a:extLst>
                    <a:ext uri="{FF2B5EF4-FFF2-40B4-BE49-F238E27FC236}">
                      <a16:creationId xmlns:a16="http://schemas.microsoft.com/office/drawing/2014/main" id="{17FD8AD9-BA25-442F-B65D-007EE1E8D82B}"/>
                    </a:ext>
                  </a:extLst>
                </p:cNvPr>
                <p:cNvSpPr txBox="1">
                  <a:spLocks noChangeArrowheads="1"/>
                </p:cNvSpPr>
                <p:nvPr/>
              </p:nvSpPr>
              <p:spPr bwMode="auto">
                <a:xfrm>
                  <a:off x="0" y="1091"/>
                  <a:ext cx="900" cy="374"/>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10</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grpSp>
            <p:nvGrpSpPr>
              <p:cNvPr id="262182" name="Group 56">
                <a:extLst>
                  <a:ext uri="{FF2B5EF4-FFF2-40B4-BE49-F238E27FC236}">
                    <a16:creationId xmlns:a16="http://schemas.microsoft.com/office/drawing/2014/main" id="{5E7392FD-67A7-4268-B032-AA5B8EB1BE2D}"/>
                  </a:ext>
                </a:extLst>
              </p:cNvPr>
              <p:cNvGrpSpPr>
                <a:grpSpLocks/>
              </p:cNvGrpSpPr>
              <p:nvPr/>
            </p:nvGrpSpPr>
            <p:grpSpPr bwMode="auto">
              <a:xfrm>
                <a:off x="6300" y="5148"/>
                <a:ext cx="903" cy="1467"/>
                <a:chOff x="0" y="0"/>
                <a:chExt cx="903" cy="1467"/>
              </a:xfrm>
            </p:grpSpPr>
            <p:sp>
              <p:nvSpPr>
                <p:cNvPr id="262195" name="Rectangle 57">
                  <a:extLst>
                    <a:ext uri="{FF2B5EF4-FFF2-40B4-BE49-F238E27FC236}">
                      <a16:creationId xmlns:a16="http://schemas.microsoft.com/office/drawing/2014/main" id="{08ADD09E-D417-4AB4-9289-0CFF595D357D}"/>
                    </a:ext>
                  </a:extLst>
                </p:cNvPr>
                <p:cNvSpPr>
                  <a:spLocks noChangeArrowheads="1"/>
                </p:cNvSpPr>
                <p:nvPr/>
              </p:nvSpPr>
              <p:spPr bwMode="auto">
                <a:xfrm>
                  <a:off x="1" y="0"/>
                  <a:ext cx="902" cy="109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确定</a:t>
                  </a:r>
                  <a:r>
                    <a:rPr lang="en-US" altLang="zh-CN" sz="1600" b="1" baseline="30000"/>
                    <a:t>47</a:t>
                  </a:r>
                  <a:endParaRPr lang="en-US" altLang="zh-CN" sz="1600" b="1"/>
                </a:p>
                <a:p>
                  <a:pPr algn="just" eaLnBrk="1" hangingPunct="1">
                    <a:spcBef>
                      <a:spcPct val="0"/>
                    </a:spcBef>
                    <a:buFontTx/>
                    <a:buNone/>
                  </a:pPr>
                  <a:r>
                    <a:rPr lang="zh-CN" altLang="en-US" sz="1600" b="1"/>
                    <a:t>测试</a:t>
                  </a:r>
                </a:p>
                <a:p>
                  <a:pPr algn="just" eaLnBrk="1" hangingPunct="1">
                    <a:spcBef>
                      <a:spcPct val="0"/>
                    </a:spcBef>
                    <a:buFontTx/>
                    <a:buNone/>
                  </a:pPr>
                  <a:r>
                    <a:rPr lang="zh-CN" altLang="en-US" sz="1600" b="1"/>
                    <a:t>现场</a:t>
                  </a:r>
                  <a:r>
                    <a:rPr lang="en-US" altLang="zh-CN" sz="1600" b="1" baseline="-25000"/>
                    <a:t>75</a:t>
                  </a:r>
                  <a:endParaRPr lang="en-US" altLang="zh-CN" sz="3600" b="1">
                    <a:latin typeface="Arial Black" panose="020B0A04020102020204" pitchFamily="34" charset="0"/>
                  </a:endParaRPr>
                </a:p>
              </p:txBody>
            </p:sp>
            <p:sp>
              <p:nvSpPr>
                <p:cNvPr id="262196" name="Text Box 58">
                  <a:extLst>
                    <a:ext uri="{FF2B5EF4-FFF2-40B4-BE49-F238E27FC236}">
                      <a16:creationId xmlns:a16="http://schemas.microsoft.com/office/drawing/2014/main" id="{AEF594D0-3AF8-448E-80F6-53F86AADEEE8}"/>
                    </a:ext>
                  </a:extLst>
                </p:cNvPr>
                <p:cNvSpPr txBox="1">
                  <a:spLocks noChangeArrowheads="1"/>
                </p:cNvSpPr>
                <p:nvPr/>
              </p:nvSpPr>
              <p:spPr bwMode="auto">
                <a:xfrm>
                  <a:off x="0" y="1093"/>
                  <a:ext cx="900" cy="374"/>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1</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grpSp>
            <p:nvGrpSpPr>
              <p:cNvPr id="262183" name="Group 59">
                <a:extLst>
                  <a:ext uri="{FF2B5EF4-FFF2-40B4-BE49-F238E27FC236}">
                    <a16:creationId xmlns:a16="http://schemas.microsoft.com/office/drawing/2014/main" id="{5D384E43-E8F8-43F0-801C-585E562C0AE2}"/>
                  </a:ext>
                </a:extLst>
              </p:cNvPr>
              <p:cNvGrpSpPr>
                <a:grpSpLocks/>
              </p:cNvGrpSpPr>
              <p:nvPr/>
            </p:nvGrpSpPr>
            <p:grpSpPr bwMode="auto">
              <a:xfrm>
                <a:off x="9360" y="3432"/>
                <a:ext cx="902" cy="1466"/>
                <a:chOff x="0" y="0"/>
                <a:chExt cx="902" cy="1466"/>
              </a:xfrm>
            </p:grpSpPr>
            <p:sp>
              <p:nvSpPr>
                <p:cNvPr id="262193" name="Rectangle 60">
                  <a:extLst>
                    <a:ext uri="{FF2B5EF4-FFF2-40B4-BE49-F238E27FC236}">
                      <a16:creationId xmlns:a16="http://schemas.microsoft.com/office/drawing/2014/main" id="{B773AF26-B0F3-4D57-BD90-4A953312F11F}"/>
                    </a:ext>
                  </a:extLst>
                </p:cNvPr>
                <p:cNvSpPr>
                  <a:spLocks noChangeArrowheads="1"/>
                </p:cNvSpPr>
                <p:nvPr/>
              </p:nvSpPr>
              <p:spPr bwMode="auto">
                <a:xfrm>
                  <a:off x="1" y="0"/>
                  <a:ext cx="901" cy="1091"/>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提交</a:t>
                  </a:r>
                  <a:r>
                    <a:rPr lang="en-US" altLang="zh-CN" sz="1600" b="1" baseline="30000"/>
                    <a:t>83</a:t>
                  </a:r>
                  <a:endParaRPr lang="en-US" altLang="zh-CN" sz="1600" b="1"/>
                </a:p>
                <a:p>
                  <a:pPr algn="just" eaLnBrk="1" hangingPunct="1">
                    <a:lnSpc>
                      <a:spcPct val="80000"/>
                    </a:lnSpc>
                    <a:spcBef>
                      <a:spcPct val="0"/>
                    </a:spcBef>
                    <a:buFontTx/>
                    <a:buNone/>
                  </a:pPr>
                  <a:endParaRPr lang="en-US" altLang="zh-CN" sz="1600" b="1"/>
                </a:p>
                <a:p>
                  <a:pPr algn="just" eaLnBrk="1" hangingPunct="1">
                    <a:spcBef>
                      <a:spcPct val="0"/>
                    </a:spcBef>
                    <a:buFontTx/>
                    <a:buNone/>
                  </a:pPr>
                  <a:r>
                    <a:rPr lang="zh-CN" altLang="en-US" sz="1600" b="1"/>
                    <a:t>样件</a:t>
                  </a:r>
                  <a:r>
                    <a:rPr lang="en-US" altLang="zh-CN" sz="1600" b="1" baseline="-25000"/>
                    <a:t>83</a:t>
                  </a:r>
                  <a:endParaRPr lang="en-US" altLang="zh-CN" sz="3600" b="1">
                    <a:latin typeface="Arial Black" panose="020B0A04020102020204" pitchFamily="34" charset="0"/>
                  </a:endParaRPr>
                </a:p>
              </p:txBody>
            </p:sp>
            <p:sp>
              <p:nvSpPr>
                <p:cNvPr id="262194" name="Text Box 61">
                  <a:extLst>
                    <a:ext uri="{FF2B5EF4-FFF2-40B4-BE49-F238E27FC236}">
                      <a16:creationId xmlns:a16="http://schemas.microsoft.com/office/drawing/2014/main" id="{3D9D7E10-6CD3-4C46-9340-3B959CE0C1FC}"/>
                    </a:ext>
                  </a:extLst>
                </p:cNvPr>
                <p:cNvSpPr txBox="1">
                  <a:spLocks noChangeArrowheads="1"/>
                </p:cNvSpPr>
                <p:nvPr/>
              </p:nvSpPr>
              <p:spPr bwMode="auto">
                <a:xfrm>
                  <a:off x="0" y="1092"/>
                  <a:ext cx="900" cy="374"/>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1</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grpSp>
            <p:nvGrpSpPr>
              <p:cNvPr id="262184" name="Group 62">
                <a:extLst>
                  <a:ext uri="{FF2B5EF4-FFF2-40B4-BE49-F238E27FC236}">
                    <a16:creationId xmlns:a16="http://schemas.microsoft.com/office/drawing/2014/main" id="{65830136-1B5F-44C7-8930-D1E4642EFFAA}"/>
                  </a:ext>
                </a:extLst>
              </p:cNvPr>
              <p:cNvGrpSpPr>
                <a:grpSpLocks/>
              </p:cNvGrpSpPr>
              <p:nvPr/>
            </p:nvGrpSpPr>
            <p:grpSpPr bwMode="auto">
              <a:xfrm>
                <a:off x="8100" y="3432"/>
                <a:ext cx="901" cy="1466"/>
                <a:chOff x="0" y="0"/>
                <a:chExt cx="901" cy="1466"/>
              </a:xfrm>
            </p:grpSpPr>
            <p:sp>
              <p:nvSpPr>
                <p:cNvPr id="262191" name="Rectangle 63">
                  <a:extLst>
                    <a:ext uri="{FF2B5EF4-FFF2-40B4-BE49-F238E27FC236}">
                      <a16:creationId xmlns:a16="http://schemas.microsoft.com/office/drawing/2014/main" id="{B6EF3264-3DD9-4B6F-8FC0-0EDCFD7FA46E}"/>
                    </a:ext>
                  </a:extLst>
                </p:cNvPr>
                <p:cNvSpPr>
                  <a:spLocks noChangeArrowheads="1"/>
                </p:cNvSpPr>
                <p:nvPr/>
              </p:nvSpPr>
              <p:spPr bwMode="auto">
                <a:xfrm>
                  <a:off x="1" y="0"/>
                  <a:ext cx="900" cy="1091"/>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测试</a:t>
                  </a:r>
                  <a:r>
                    <a:rPr lang="en-US" altLang="zh-CN" sz="1600" b="1" baseline="30000"/>
                    <a:t>82</a:t>
                  </a:r>
                  <a:endParaRPr lang="en-US" altLang="zh-CN" sz="1600" b="1"/>
                </a:p>
                <a:p>
                  <a:pPr algn="just" eaLnBrk="1" hangingPunct="1">
                    <a:lnSpc>
                      <a:spcPct val="80000"/>
                    </a:lnSpc>
                    <a:spcBef>
                      <a:spcPct val="0"/>
                    </a:spcBef>
                    <a:buFontTx/>
                    <a:buNone/>
                  </a:pPr>
                  <a:endParaRPr lang="en-US" altLang="zh-CN" sz="1600" b="1"/>
                </a:p>
                <a:p>
                  <a:pPr algn="just" eaLnBrk="1" hangingPunct="1">
                    <a:spcBef>
                      <a:spcPct val="0"/>
                    </a:spcBef>
                    <a:buFontTx/>
                    <a:buNone/>
                  </a:pPr>
                  <a:r>
                    <a:rPr lang="zh-CN" altLang="en-US" sz="1600" b="1"/>
                    <a:t>样件</a:t>
                  </a:r>
                  <a:r>
                    <a:rPr lang="en-US" altLang="zh-CN" sz="1600" b="1" baseline="-25000"/>
                    <a:t>82</a:t>
                  </a:r>
                  <a:endParaRPr lang="en-US" altLang="zh-CN" sz="3600" b="1">
                    <a:latin typeface="Arial Black" panose="020B0A04020102020204" pitchFamily="34" charset="0"/>
                  </a:endParaRPr>
                </a:p>
              </p:txBody>
            </p:sp>
            <p:sp>
              <p:nvSpPr>
                <p:cNvPr id="262192" name="Text Box 64">
                  <a:extLst>
                    <a:ext uri="{FF2B5EF4-FFF2-40B4-BE49-F238E27FC236}">
                      <a16:creationId xmlns:a16="http://schemas.microsoft.com/office/drawing/2014/main" id="{3F5B914B-7102-4878-88A6-AA0D87271B60}"/>
                    </a:ext>
                  </a:extLst>
                </p:cNvPr>
                <p:cNvSpPr txBox="1">
                  <a:spLocks noChangeArrowheads="1"/>
                </p:cNvSpPr>
                <p:nvPr/>
              </p:nvSpPr>
              <p:spPr bwMode="auto">
                <a:xfrm>
                  <a:off x="0" y="1092"/>
                  <a:ext cx="900" cy="374"/>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7</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grpSp>
            <p:nvGrpSpPr>
              <p:cNvPr id="262185" name="Group 65">
                <a:extLst>
                  <a:ext uri="{FF2B5EF4-FFF2-40B4-BE49-F238E27FC236}">
                    <a16:creationId xmlns:a16="http://schemas.microsoft.com/office/drawing/2014/main" id="{7FB544AA-A3E4-4279-B21F-EDF1FA5FACFF}"/>
                  </a:ext>
                </a:extLst>
              </p:cNvPr>
              <p:cNvGrpSpPr>
                <a:grpSpLocks/>
              </p:cNvGrpSpPr>
              <p:nvPr/>
            </p:nvGrpSpPr>
            <p:grpSpPr bwMode="auto">
              <a:xfrm>
                <a:off x="6840" y="3432"/>
                <a:ext cx="901" cy="1466"/>
                <a:chOff x="0" y="0"/>
                <a:chExt cx="901" cy="1466"/>
              </a:xfrm>
            </p:grpSpPr>
            <p:sp>
              <p:nvSpPr>
                <p:cNvPr id="262189" name="Rectangle 66">
                  <a:extLst>
                    <a:ext uri="{FF2B5EF4-FFF2-40B4-BE49-F238E27FC236}">
                      <a16:creationId xmlns:a16="http://schemas.microsoft.com/office/drawing/2014/main" id="{72BB445F-628C-4BE0-8D10-FB73F1A34E45}"/>
                    </a:ext>
                  </a:extLst>
                </p:cNvPr>
                <p:cNvSpPr>
                  <a:spLocks noChangeArrowheads="1"/>
                </p:cNvSpPr>
                <p:nvPr/>
              </p:nvSpPr>
              <p:spPr bwMode="auto">
                <a:xfrm>
                  <a:off x="2" y="0"/>
                  <a:ext cx="899" cy="109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制作</a:t>
                  </a:r>
                  <a:r>
                    <a:rPr lang="en-US" altLang="zh-CN" sz="1600" b="1" baseline="30000"/>
                    <a:t>75</a:t>
                  </a:r>
                  <a:endParaRPr lang="en-US" altLang="zh-CN" sz="1600" b="1"/>
                </a:p>
                <a:p>
                  <a:pPr algn="just" eaLnBrk="1" hangingPunct="1">
                    <a:lnSpc>
                      <a:spcPct val="80000"/>
                    </a:lnSpc>
                    <a:spcBef>
                      <a:spcPct val="0"/>
                    </a:spcBef>
                    <a:buFontTx/>
                    <a:buNone/>
                  </a:pPr>
                  <a:endParaRPr lang="en-US" altLang="zh-CN" sz="1600" b="1"/>
                </a:p>
                <a:p>
                  <a:pPr algn="just" eaLnBrk="1" hangingPunct="1">
                    <a:spcBef>
                      <a:spcPct val="0"/>
                    </a:spcBef>
                    <a:buFontTx/>
                    <a:buNone/>
                  </a:pPr>
                  <a:r>
                    <a:rPr lang="zh-CN" altLang="en-US" sz="1600" b="1"/>
                    <a:t>样件</a:t>
                  </a:r>
                  <a:r>
                    <a:rPr lang="en-US" altLang="zh-CN" sz="1600" b="1" baseline="-25000"/>
                    <a:t>75</a:t>
                  </a:r>
                  <a:endParaRPr lang="en-US" altLang="zh-CN" sz="3600" b="1">
                    <a:latin typeface="Arial Black" panose="020B0A04020102020204" pitchFamily="34" charset="0"/>
                  </a:endParaRPr>
                </a:p>
              </p:txBody>
            </p:sp>
            <p:sp>
              <p:nvSpPr>
                <p:cNvPr id="262190" name="Text Box 67">
                  <a:extLst>
                    <a:ext uri="{FF2B5EF4-FFF2-40B4-BE49-F238E27FC236}">
                      <a16:creationId xmlns:a16="http://schemas.microsoft.com/office/drawing/2014/main" id="{1A371C8B-8AA3-4E33-B795-D85414A15214}"/>
                    </a:ext>
                  </a:extLst>
                </p:cNvPr>
                <p:cNvSpPr txBox="1">
                  <a:spLocks noChangeArrowheads="1"/>
                </p:cNvSpPr>
                <p:nvPr/>
              </p:nvSpPr>
              <p:spPr bwMode="auto">
                <a:xfrm>
                  <a:off x="0" y="1092"/>
                  <a:ext cx="900" cy="374"/>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10</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grpSp>
            <p:nvGrpSpPr>
              <p:cNvPr id="262186" name="Group 68">
                <a:extLst>
                  <a:ext uri="{FF2B5EF4-FFF2-40B4-BE49-F238E27FC236}">
                    <a16:creationId xmlns:a16="http://schemas.microsoft.com/office/drawing/2014/main" id="{FE7A711F-FDAD-4A43-BD55-2D3995643015}"/>
                  </a:ext>
                </a:extLst>
              </p:cNvPr>
              <p:cNvGrpSpPr>
                <a:grpSpLocks/>
              </p:cNvGrpSpPr>
              <p:nvPr/>
            </p:nvGrpSpPr>
            <p:grpSpPr bwMode="auto">
              <a:xfrm>
                <a:off x="5580" y="1716"/>
                <a:ext cx="902" cy="1466"/>
                <a:chOff x="0" y="0"/>
                <a:chExt cx="902" cy="1466"/>
              </a:xfrm>
            </p:grpSpPr>
            <p:sp>
              <p:nvSpPr>
                <p:cNvPr id="262187" name="Rectangle 69">
                  <a:extLst>
                    <a:ext uri="{FF2B5EF4-FFF2-40B4-BE49-F238E27FC236}">
                      <a16:creationId xmlns:a16="http://schemas.microsoft.com/office/drawing/2014/main" id="{583C43E3-7DCC-46E7-8944-19CC2874FF4E}"/>
                    </a:ext>
                  </a:extLst>
                </p:cNvPr>
                <p:cNvSpPr>
                  <a:spLocks noChangeArrowheads="1"/>
                </p:cNvSpPr>
                <p:nvPr/>
              </p:nvSpPr>
              <p:spPr bwMode="auto">
                <a:xfrm>
                  <a:off x="1" y="0"/>
                  <a:ext cx="901" cy="1089"/>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b="1"/>
                    <a:t>采购</a:t>
                  </a:r>
                  <a:r>
                    <a:rPr lang="en-US" altLang="zh-CN" sz="1600" b="1" baseline="30000"/>
                    <a:t>45</a:t>
                  </a:r>
                  <a:endParaRPr lang="en-US" altLang="zh-CN" sz="1600" b="1"/>
                </a:p>
                <a:p>
                  <a:pPr algn="just" eaLnBrk="1" hangingPunct="1">
                    <a:spcBef>
                      <a:spcPct val="0"/>
                    </a:spcBef>
                    <a:buFontTx/>
                    <a:buNone/>
                  </a:pPr>
                  <a:r>
                    <a:rPr lang="zh-CN" altLang="en-US" sz="1600" b="1"/>
                    <a:t>测试</a:t>
                  </a:r>
                </a:p>
                <a:p>
                  <a:pPr algn="just" eaLnBrk="1" hangingPunct="1">
                    <a:spcBef>
                      <a:spcPct val="0"/>
                    </a:spcBef>
                    <a:buFontTx/>
                    <a:buNone/>
                  </a:pPr>
                  <a:r>
                    <a:rPr lang="zh-CN" altLang="en-US" sz="1600" b="1"/>
                    <a:t>设备</a:t>
                  </a:r>
                  <a:r>
                    <a:rPr lang="en-US" altLang="zh-CN" sz="1600" b="1" baseline="-25000"/>
                    <a:t>65</a:t>
                  </a:r>
                  <a:endParaRPr lang="en-US" altLang="zh-CN" sz="3600" b="1">
                    <a:latin typeface="Arial Black" panose="020B0A04020102020204" pitchFamily="34" charset="0"/>
                  </a:endParaRPr>
                </a:p>
              </p:txBody>
            </p:sp>
            <p:sp>
              <p:nvSpPr>
                <p:cNvPr id="262188" name="Text Box 70">
                  <a:extLst>
                    <a:ext uri="{FF2B5EF4-FFF2-40B4-BE49-F238E27FC236}">
                      <a16:creationId xmlns:a16="http://schemas.microsoft.com/office/drawing/2014/main" id="{10BD8298-6442-4954-A42E-01A4855401B1}"/>
                    </a:ext>
                  </a:extLst>
                </p:cNvPr>
                <p:cNvSpPr txBox="1">
                  <a:spLocks noChangeArrowheads="1"/>
                </p:cNvSpPr>
                <p:nvPr/>
              </p:nvSpPr>
              <p:spPr bwMode="auto">
                <a:xfrm>
                  <a:off x="0" y="1092"/>
                  <a:ext cx="900" cy="374"/>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6000"/>
                    </a:lnSpc>
                    <a:spcBef>
                      <a:spcPct val="0"/>
                    </a:spcBef>
                    <a:buFontTx/>
                    <a:buNone/>
                  </a:pPr>
                  <a:r>
                    <a:rPr lang="en-US" altLang="zh-CN" sz="1400" b="1">
                      <a:latin typeface="Times New Roman" panose="02020603050405020304" pitchFamily="18" charset="0"/>
                    </a:rPr>
                    <a:t>10</a:t>
                  </a:r>
                  <a:r>
                    <a:rPr lang="zh-CN" altLang="en-US" sz="1400" b="1">
                      <a:latin typeface="Times New Roman" panose="02020603050405020304" pitchFamily="18" charset="0"/>
                    </a:rPr>
                    <a:t>天</a:t>
                  </a:r>
                  <a:endParaRPr lang="zh-CN" altLang="en-US" sz="3600" b="1">
                    <a:latin typeface="Arial Black" panose="020B0A04020102020204" pitchFamily="34" charset="0"/>
                  </a:endParaRPr>
                </a:p>
              </p:txBody>
            </p:sp>
          </p:gr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50D4B81F-A4FC-CD02-0017-559CA4BE4A39}"/>
              </a:ext>
            </a:extLst>
          </p:cNvPr>
          <p:cNvPicPr>
            <a:picLocks noChangeAspect="1"/>
          </p:cNvPicPr>
          <p:nvPr/>
        </p:nvPicPr>
        <p:blipFill>
          <a:blip r:embed="rId3"/>
          <a:stretch>
            <a:fillRect/>
          </a:stretch>
        </p:blipFill>
        <p:spPr>
          <a:xfrm>
            <a:off x="1407946" y="635513"/>
            <a:ext cx="9143749" cy="5586973"/>
          </a:xfrm>
          <a:prstGeom prst="rect">
            <a:avLst/>
          </a:prstGeom>
        </p:spPr>
      </p:pic>
    </p:spTree>
    <p:extLst>
      <p:ext uri="{BB962C8B-B14F-4D97-AF65-F5344CB8AC3E}">
        <p14:creationId xmlns:p14="http://schemas.microsoft.com/office/powerpoint/2010/main" val="611925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D682AD-044F-4C8C-BEEA-E92DAABB1E8C}"/>
              </a:ext>
            </a:extLst>
          </p:cNvPr>
          <p:cNvSpPr>
            <a:spLocks noGrp="1"/>
          </p:cNvSpPr>
          <p:nvPr>
            <p:ph type="title"/>
          </p:nvPr>
        </p:nvSpPr>
        <p:spPr/>
        <p:txBody>
          <a:bodyPr/>
          <a:lstStyle/>
          <a:p>
            <a:r>
              <a:rPr lang="en-US" altLang="zh-CN" dirty="0"/>
              <a:t>12.6 </a:t>
            </a:r>
            <a:r>
              <a:rPr lang="zh-CN" altLang="en-US" dirty="0"/>
              <a:t>制定进度计划</a:t>
            </a:r>
          </a:p>
        </p:txBody>
      </p:sp>
      <p:sp>
        <p:nvSpPr>
          <p:cNvPr id="4" name="文本框 3">
            <a:extLst>
              <a:ext uri="{FF2B5EF4-FFF2-40B4-BE49-F238E27FC236}">
                <a16:creationId xmlns:a16="http://schemas.microsoft.com/office/drawing/2014/main" id="{A6914465-264C-43FA-8D1D-E2363E94DF25}"/>
              </a:ext>
            </a:extLst>
          </p:cNvPr>
          <p:cNvSpPr txBox="1"/>
          <p:nvPr/>
        </p:nvSpPr>
        <p:spPr>
          <a:xfrm>
            <a:off x="613884" y="1431836"/>
            <a:ext cx="10972799" cy="3108543"/>
          </a:xfrm>
          <a:prstGeom prst="rect">
            <a:avLst/>
          </a:prstGeom>
          <a:noFill/>
        </p:spPr>
        <p:txBody>
          <a:bodyPr wrap="square">
            <a:spAutoFit/>
          </a:bodyPr>
          <a:lstStyle/>
          <a:p>
            <a:pPr marL="438150" lvl="1">
              <a:defRPr/>
            </a:pPr>
            <a:r>
              <a:rPr lang="zh-CN" altLang="en-US" sz="2400" b="1" dirty="0">
                <a:latin typeface="微软雅黑" panose="020B0503020204020204" pitchFamily="34" charset="-122"/>
                <a:ea typeface="微软雅黑" panose="020B0503020204020204" pitchFamily="34" charset="-122"/>
                <a:cs typeface="Times New Roman" pitchFamily="18" charset="0"/>
              </a:rPr>
              <a:t>制定</a:t>
            </a:r>
            <a:r>
              <a:rPr lang="zh-CN" altLang="zh-CN" sz="2400" b="1" dirty="0">
                <a:latin typeface="微软雅黑" panose="020B0503020204020204" pitchFamily="34" charset="-122"/>
                <a:ea typeface="微软雅黑" panose="020B0503020204020204" pitchFamily="34" charset="-122"/>
                <a:cs typeface="Times New Roman" pitchFamily="18" charset="0"/>
              </a:rPr>
              <a:t>项目进度计划</a:t>
            </a:r>
            <a:r>
              <a:rPr lang="zh-CN" altLang="en-US" sz="2400" b="1" dirty="0">
                <a:latin typeface="微软雅黑" panose="020B0503020204020204" pitchFamily="34" charset="-122"/>
                <a:ea typeface="微软雅黑" panose="020B0503020204020204" pitchFamily="34" charset="-122"/>
                <a:cs typeface="Times New Roman" pitchFamily="18" charset="0"/>
              </a:rPr>
              <a:t>的工具和</a:t>
            </a:r>
            <a:r>
              <a:rPr lang="zh-CN" altLang="zh-CN" sz="2400" b="1" dirty="0">
                <a:latin typeface="微软雅黑" panose="020B0503020204020204" pitchFamily="34" charset="-122"/>
                <a:ea typeface="微软雅黑" panose="020B0503020204020204" pitchFamily="34" charset="-122"/>
                <a:cs typeface="Times New Roman" pitchFamily="18" charset="0"/>
              </a:rPr>
              <a:t>方法</a:t>
            </a:r>
            <a:endParaRPr lang="en-US" altLang="zh-CN" sz="2400" b="1" dirty="0">
              <a:latin typeface="微软雅黑" panose="020B0503020204020204" pitchFamily="34" charset="-122"/>
              <a:ea typeface="微软雅黑" panose="020B0503020204020204" pitchFamily="34" charset="-122"/>
              <a:cs typeface="Times New Roman" pitchFamily="18" charset="0"/>
              <a:sym typeface="Calibri" pitchFamily="34" charset="0"/>
            </a:endParaRPr>
          </a:p>
          <a:p>
            <a:pPr marL="438150" lvl="1" indent="0">
              <a:buNone/>
              <a:defRPr/>
            </a:pPr>
            <a:r>
              <a:rPr lang="en-US" altLang="zh-CN" sz="2400" b="1" dirty="0">
                <a:latin typeface="微软雅黑" panose="020B0503020204020204" pitchFamily="34" charset="-122"/>
                <a:ea typeface="微软雅黑" panose="020B0503020204020204" pitchFamily="34" charset="-122"/>
                <a:cs typeface="Times New Roman" pitchFamily="18" charset="0"/>
                <a:sym typeface="Calibri" pitchFamily="34" charset="0"/>
              </a:rPr>
              <a:t>(3)</a:t>
            </a:r>
            <a:r>
              <a:rPr lang="zh-CN" altLang="en-US" sz="2400" b="1" dirty="0">
                <a:latin typeface="微软雅黑" panose="020B0503020204020204" pitchFamily="34" charset="-122"/>
                <a:ea typeface="微软雅黑" panose="020B0503020204020204" pitchFamily="34" charset="-122"/>
                <a:cs typeface="Times New Roman" pitchFamily="18" charset="0"/>
                <a:sym typeface="Calibri" pitchFamily="34" charset="0"/>
              </a:rPr>
              <a:t>资源优化</a:t>
            </a:r>
            <a:endParaRPr lang="en-US" altLang="zh-CN" sz="2400" b="1" dirty="0">
              <a:latin typeface="微软雅黑" panose="020B0503020204020204" pitchFamily="34" charset="-122"/>
              <a:ea typeface="微软雅黑" panose="020B0503020204020204" pitchFamily="34" charset="-122"/>
              <a:cs typeface="Times New Roman" pitchFamily="18" charset="0"/>
              <a:sym typeface="Calibri" pitchFamily="34" charset="0"/>
            </a:endParaRPr>
          </a:p>
          <a:p>
            <a:pPr algn="l"/>
            <a:r>
              <a:rPr lang="zh-CN" altLang="en-US" sz="2000" b="0" i="0" u="none" strike="noStrike" baseline="0" dirty="0">
                <a:latin typeface="SourceHanSansSC-Regular"/>
              </a:rPr>
              <a:t>   </a:t>
            </a:r>
            <a:r>
              <a:rPr lang="zh-CN" altLang="en-US" sz="2400" b="1" i="0" u="none" strike="noStrike" baseline="0" dirty="0">
                <a:latin typeface="SourceHanSansSC-Regular"/>
              </a:rPr>
              <a:t>资源优化用于调整活动的开始和完成日期，以调整计划使用的资源，使其等于或少于可用的资源。资源优化技术是根据资源供需情况，来调整进度模型的技术</a:t>
            </a:r>
            <a:endParaRPr lang="en-US" altLang="zh-CN" sz="2400" b="1" i="0" u="none" strike="noStrike" baseline="0" dirty="0">
              <a:latin typeface="SourceHanSansSC-Regular"/>
            </a:endParaRPr>
          </a:p>
          <a:p>
            <a:pPr algn="l"/>
            <a:r>
              <a:rPr lang="en-US" altLang="zh-CN" sz="2800" b="1" i="0" u="none" strike="noStrike" baseline="0" dirty="0">
                <a:latin typeface="SourceHanSansSC-Regular"/>
                <a:ea typeface="微软雅黑" panose="020B0503020204020204" pitchFamily="34" charset="-122"/>
                <a:cs typeface="Times New Roman" pitchFamily="18" charset="0"/>
                <a:sym typeface="Calibri" pitchFamily="34" charset="0"/>
              </a:rPr>
              <a:t>       </a:t>
            </a:r>
            <a:r>
              <a:rPr lang="en-US" altLang="zh-CN" sz="2400" b="0" i="0" u="none" strike="noStrike" baseline="0" dirty="0">
                <a:latin typeface="Wingdings-Regular"/>
              </a:rPr>
              <a:t>u</a:t>
            </a:r>
            <a:r>
              <a:rPr lang="zh-CN" altLang="en-US" sz="2400" b="1" i="0" u="none" strike="noStrike" baseline="0" dirty="0">
                <a:latin typeface="SourceHanSansSC-Bold"/>
              </a:rPr>
              <a:t>资源平衡：</a:t>
            </a:r>
            <a:r>
              <a:rPr lang="zh-CN" altLang="en-US" sz="2400" b="0" i="0" u="none" strike="noStrike" baseline="0" dirty="0">
                <a:latin typeface="SourceHanSansSC-Regular"/>
              </a:rPr>
              <a:t>在资源需求与资源供给之间取得平衡，根据资源制约因素对开始日期和完成日期进行调整的一种技术</a:t>
            </a:r>
            <a:endParaRPr lang="en-US" altLang="zh-CN" sz="2800" b="1" dirty="0">
              <a:latin typeface="SourceHanSansSC-Regular"/>
            </a:endParaRPr>
          </a:p>
          <a:p>
            <a:pPr algn="l"/>
            <a:r>
              <a:rPr lang="en-US" altLang="zh-CN" sz="2400" b="0" i="0" u="none" strike="noStrike" baseline="0" dirty="0">
                <a:latin typeface="Wingdings-Regular"/>
              </a:rPr>
              <a:t>  u</a:t>
            </a:r>
            <a:r>
              <a:rPr lang="zh-CN" altLang="en-US" sz="2400" b="1" i="0" u="none" strike="noStrike" baseline="0" dirty="0">
                <a:latin typeface="SourceHanSansSC-Bold"/>
              </a:rPr>
              <a:t>资源平滑：</a:t>
            </a:r>
            <a:r>
              <a:rPr lang="zh-CN" altLang="en-US" sz="2400" b="0" i="0" u="none" strike="noStrike" baseline="0" dirty="0">
                <a:latin typeface="SourceHanSansSC-Regular"/>
              </a:rPr>
              <a:t>对进度模型中的活动进行调整，使项目资源需求不超过预定的资源限制</a:t>
            </a:r>
            <a:endParaRPr lang="en-US" altLang="zh-CN" sz="3600" b="1" dirty="0">
              <a:latin typeface="微软雅黑" panose="020B0503020204020204" pitchFamily="34" charset="-122"/>
              <a:ea typeface="微软雅黑" panose="020B0503020204020204" pitchFamily="34" charset="-122"/>
              <a:cs typeface="Times New Roman" pitchFamily="18" charset="0"/>
              <a:sym typeface="Calibri" pitchFamily="34" charset="0"/>
            </a:endParaRPr>
          </a:p>
        </p:txBody>
      </p:sp>
      <p:pic>
        <p:nvPicPr>
          <p:cNvPr id="3" name="图片 2">
            <a:extLst>
              <a:ext uri="{FF2B5EF4-FFF2-40B4-BE49-F238E27FC236}">
                <a16:creationId xmlns:a16="http://schemas.microsoft.com/office/drawing/2014/main" id="{77C00968-88FB-7FCA-DEA1-D45E27AB5EFC}"/>
              </a:ext>
            </a:extLst>
          </p:cNvPr>
          <p:cNvPicPr>
            <a:picLocks noChangeAspect="1"/>
          </p:cNvPicPr>
          <p:nvPr/>
        </p:nvPicPr>
        <p:blipFill>
          <a:blip r:embed="rId3"/>
          <a:stretch>
            <a:fillRect/>
          </a:stretch>
        </p:blipFill>
        <p:spPr>
          <a:xfrm>
            <a:off x="7162800" y="4635720"/>
            <a:ext cx="4312207" cy="1818039"/>
          </a:xfrm>
          <a:prstGeom prst="rect">
            <a:avLst/>
          </a:prstGeom>
        </p:spPr>
      </p:pic>
    </p:spTree>
    <p:extLst>
      <p:ext uri="{BB962C8B-B14F-4D97-AF65-F5344CB8AC3E}">
        <p14:creationId xmlns:p14="http://schemas.microsoft.com/office/powerpoint/2010/main" val="4209023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AEA34A-7C22-4771-8E48-9D2E00773D0A}"/>
              </a:ext>
            </a:extLst>
          </p:cNvPr>
          <p:cNvSpPr>
            <a:spLocks noGrp="1"/>
          </p:cNvSpPr>
          <p:nvPr>
            <p:ph type="title"/>
          </p:nvPr>
        </p:nvSpPr>
        <p:spPr/>
        <p:txBody>
          <a:bodyPr/>
          <a:lstStyle/>
          <a:p>
            <a:endParaRPr lang="zh-CN" altLang="en-US"/>
          </a:p>
        </p:txBody>
      </p:sp>
      <p:pic>
        <p:nvPicPr>
          <p:cNvPr id="4" name="图片 3">
            <a:extLst>
              <a:ext uri="{FF2B5EF4-FFF2-40B4-BE49-F238E27FC236}">
                <a16:creationId xmlns:a16="http://schemas.microsoft.com/office/drawing/2014/main" id="{799C9EBF-0C96-42EF-A7AE-7303104A5154}"/>
              </a:ext>
            </a:extLst>
          </p:cNvPr>
          <p:cNvPicPr>
            <a:picLocks noChangeAspect="1"/>
          </p:cNvPicPr>
          <p:nvPr/>
        </p:nvPicPr>
        <p:blipFill>
          <a:blip r:embed="rId3"/>
          <a:stretch>
            <a:fillRect/>
          </a:stretch>
        </p:blipFill>
        <p:spPr>
          <a:xfrm>
            <a:off x="2433746" y="336550"/>
            <a:ext cx="7037409" cy="6381750"/>
          </a:xfrm>
          <a:prstGeom prst="rect">
            <a:avLst/>
          </a:prstGeom>
        </p:spPr>
      </p:pic>
    </p:spTree>
    <p:extLst>
      <p:ext uri="{BB962C8B-B14F-4D97-AF65-F5344CB8AC3E}">
        <p14:creationId xmlns:p14="http://schemas.microsoft.com/office/powerpoint/2010/main" val="2977398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0F3AF7-DDB2-7728-BE6F-1EF579335BAF}"/>
              </a:ext>
            </a:extLst>
          </p:cNvPr>
          <p:cNvSpPr>
            <a:spLocks noGrp="1"/>
          </p:cNvSpPr>
          <p:nvPr>
            <p:ph type="title"/>
          </p:nvPr>
        </p:nvSpPr>
        <p:spPr/>
        <p:txBody>
          <a:bodyPr/>
          <a:lstStyle/>
          <a:p>
            <a:r>
              <a:rPr lang="en-US" altLang="zh-CN" dirty="0"/>
              <a:t>12.6 </a:t>
            </a:r>
            <a:r>
              <a:rPr lang="zh-CN" altLang="en-US" dirty="0"/>
              <a:t>制定进度计划</a:t>
            </a:r>
          </a:p>
        </p:txBody>
      </p:sp>
      <p:sp>
        <p:nvSpPr>
          <p:cNvPr id="4" name="文本框 3">
            <a:extLst>
              <a:ext uri="{FF2B5EF4-FFF2-40B4-BE49-F238E27FC236}">
                <a16:creationId xmlns:a16="http://schemas.microsoft.com/office/drawing/2014/main" id="{D41774FF-3362-07A9-AAFC-6AB87D1527D0}"/>
              </a:ext>
            </a:extLst>
          </p:cNvPr>
          <p:cNvSpPr txBox="1"/>
          <p:nvPr/>
        </p:nvSpPr>
        <p:spPr>
          <a:xfrm>
            <a:off x="965200" y="1370906"/>
            <a:ext cx="10350500" cy="4524315"/>
          </a:xfrm>
          <a:prstGeom prst="rect">
            <a:avLst/>
          </a:prstGeom>
          <a:noFill/>
        </p:spPr>
        <p:txBody>
          <a:bodyPr wrap="square">
            <a:spAutoFit/>
          </a:bodyPr>
          <a:lstStyle/>
          <a:p>
            <a:pPr marL="438150" lvl="1" indent="0">
              <a:buNone/>
              <a:defRPr/>
            </a:pPr>
            <a:r>
              <a:rPr lang="en-US" altLang="zh-CN" sz="2400" b="1" dirty="0">
                <a:latin typeface="微软雅黑" panose="020B0503020204020204" pitchFamily="34" charset="-122"/>
                <a:ea typeface="微软雅黑" panose="020B0503020204020204" pitchFamily="34" charset="-122"/>
                <a:cs typeface="Times New Roman" pitchFamily="18" charset="0"/>
                <a:sym typeface="Calibri" pitchFamily="34" charset="0"/>
              </a:rPr>
              <a:t>(4)</a:t>
            </a:r>
            <a:r>
              <a:rPr lang="zh-CN" altLang="en-US" sz="2400" b="1" dirty="0">
                <a:latin typeface="微软雅黑" panose="020B0503020204020204" pitchFamily="34" charset="-122"/>
                <a:ea typeface="微软雅黑" panose="020B0503020204020204" pitchFamily="34" charset="-122"/>
                <a:cs typeface="Times New Roman" pitchFamily="18" charset="0"/>
                <a:sym typeface="Calibri" pitchFamily="34" charset="0"/>
              </a:rPr>
              <a:t>数据分析</a:t>
            </a:r>
            <a:endParaRPr lang="en-US" altLang="zh-CN" sz="2400" b="1" dirty="0">
              <a:latin typeface="微软雅黑" panose="020B0503020204020204" pitchFamily="34" charset="-122"/>
              <a:ea typeface="微软雅黑" panose="020B0503020204020204" pitchFamily="34" charset="-122"/>
              <a:cs typeface="Times New Roman" pitchFamily="18" charset="0"/>
              <a:sym typeface="Calibri" pitchFamily="34" charset="0"/>
            </a:endParaRPr>
          </a:p>
          <a:p>
            <a:pPr algn="l"/>
            <a:r>
              <a:rPr lang="en-US" altLang="zh-CN" sz="2400" b="0" i="0" u="none" strike="noStrike" baseline="0" dirty="0">
                <a:latin typeface="Wingdings-Regular"/>
              </a:rPr>
              <a:t>  u</a:t>
            </a:r>
            <a:r>
              <a:rPr lang="zh-CN" altLang="en-US" sz="2400" b="1" i="0" u="none" strike="noStrike" baseline="0" dirty="0">
                <a:latin typeface="SourceHanSansSC-Bold"/>
              </a:rPr>
              <a:t>假设情景分析：</a:t>
            </a:r>
            <a:r>
              <a:rPr lang="zh-CN" altLang="en-US" sz="2400" b="1" i="0" u="none" strike="noStrike" baseline="0" dirty="0">
                <a:latin typeface="SourceHanSansSC-Regular"/>
              </a:rPr>
              <a:t>对各种情景进行评估，预测它们对项目目标的影响（积极或消极的）</a:t>
            </a:r>
            <a:endParaRPr lang="en-US" altLang="zh-CN" sz="2400" b="1" i="0" u="none" strike="noStrike" baseline="0" dirty="0">
              <a:latin typeface="SourceHanSansSC-Regular"/>
            </a:endParaRPr>
          </a:p>
          <a:p>
            <a:pPr algn="l"/>
            <a:r>
              <a:rPr lang="en-US" altLang="zh-CN" sz="2000" dirty="0">
                <a:latin typeface="SourceHanSansSC-Regular"/>
              </a:rPr>
              <a:t>	</a:t>
            </a:r>
            <a:r>
              <a:rPr lang="zh-CN" altLang="en-US" sz="2000" dirty="0">
                <a:latin typeface="SourceHanSansSC-Regular"/>
              </a:rPr>
              <a:t>假设情景分析就是对“如果情景 </a:t>
            </a:r>
            <a:r>
              <a:rPr lang="en-US" altLang="zh-CN" sz="2000" dirty="0">
                <a:latin typeface="SourceHanSansSC-Regular"/>
              </a:rPr>
              <a:t>X </a:t>
            </a:r>
            <a:r>
              <a:rPr lang="zh-CN" altLang="en-US" sz="2000" dirty="0">
                <a:latin typeface="SourceHanSansSC-Regular"/>
              </a:rPr>
              <a:t>出现，情况会怎样？”这样的问题进行分析，即基于已有的进度计划，考虑各种各样的情景。</a:t>
            </a:r>
            <a:endParaRPr lang="en-US" altLang="zh-CN" sz="2000" b="1" i="0" u="none" strike="noStrike" baseline="0" dirty="0">
              <a:latin typeface="SourceHanSansSC-Bold"/>
            </a:endParaRPr>
          </a:p>
          <a:p>
            <a:pPr algn="l"/>
            <a:r>
              <a:rPr lang="en-US" altLang="zh-CN" sz="2000" b="0" i="0" u="none" strike="noStrike" baseline="0" dirty="0">
                <a:latin typeface="Wingdings-Regular"/>
              </a:rPr>
              <a:t>  u</a:t>
            </a:r>
            <a:r>
              <a:rPr lang="zh-CN" altLang="en-US" sz="2400" b="1" i="0" u="none" strike="noStrike" baseline="0" dirty="0">
                <a:latin typeface="SourceHanSansSC-Regular"/>
              </a:rPr>
              <a:t>模拟：把单个项目风险和不确定性的其他来源模型化，评估它们对项目目标的潜在影响。</a:t>
            </a:r>
            <a:endParaRPr lang="en-US" altLang="zh-CN" sz="2400" b="1" i="0" u="none" strike="noStrike" baseline="0" dirty="0">
              <a:latin typeface="SourceHanSansSC-Regular"/>
            </a:endParaRPr>
          </a:p>
          <a:p>
            <a:pPr algn="l"/>
            <a:r>
              <a:rPr lang="en-US" altLang="zh-CN" sz="2400" b="1" i="0" u="none" strike="noStrike" baseline="0" dirty="0">
                <a:latin typeface="SourceHanSansSC-Regular"/>
              </a:rPr>
              <a:t>	</a:t>
            </a:r>
            <a:r>
              <a:rPr lang="zh-CN" altLang="en-US" sz="2000" dirty="0">
                <a:latin typeface="SourceHanSansSC-Regular"/>
              </a:rPr>
              <a:t>最常见的是蒙特卡罗分析，它利用风险和其他不确定资源计算整个项目可能的进度结果。模拟包括基于多种不同的活动假设、制约因素、风险、问题或情景，使用概率分布和不确定性的其他表现形式，来计算出多种可能的工作包持续时间</a:t>
            </a:r>
            <a:endParaRPr lang="en-US" altLang="zh-CN" sz="2000" dirty="0">
              <a:latin typeface="SourceHanSansSC-Regular"/>
            </a:endParaRPr>
          </a:p>
          <a:p>
            <a:pPr marL="438150" lvl="1" indent="0">
              <a:buNone/>
              <a:defRPr/>
            </a:pPr>
            <a:r>
              <a:rPr lang="en-US" altLang="zh-CN" sz="2400" b="1" dirty="0">
                <a:latin typeface="微软雅黑" panose="020B0503020204020204" pitchFamily="34" charset="-122"/>
                <a:ea typeface="微软雅黑" panose="020B0503020204020204" pitchFamily="34" charset="-122"/>
                <a:cs typeface="Times New Roman" pitchFamily="18" charset="0"/>
                <a:sym typeface="Calibri" pitchFamily="34" charset="0"/>
              </a:rPr>
              <a:t>(5)</a:t>
            </a:r>
            <a:r>
              <a:rPr lang="zh-CN" altLang="en-US" sz="2400" b="1" dirty="0">
                <a:latin typeface="微软雅黑" panose="020B0503020204020204" pitchFamily="34" charset="-122"/>
                <a:ea typeface="微软雅黑" panose="020B0503020204020204" pitchFamily="34" charset="-122"/>
                <a:cs typeface="Times New Roman" pitchFamily="18" charset="0"/>
                <a:sym typeface="Calibri" pitchFamily="34" charset="0"/>
              </a:rPr>
              <a:t>提前量和滞后量</a:t>
            </a:r>
            <a:endParaRPr lang="en-US" altLang="zh-CN" sz="2400" b="1" dirty="0">
              <a:latin typeface="微软雅黑" panose="020B0503020204020204" pitchFamily="34" charset="-122"/>
              <a:ea typeface="微软雅黑" panose="020B0503020204020204" pitchFamily="34" charset="-122"/>
              <a:cs typeface="Times New Roman" pitchFamily="18" charset="0"/>
              <a:sym typeface="Calibri" pitchFamily="34" charset="0"/>
            </a:endParaRPr>
          </a:p>
          <a:p>
            <a:pPr algn="l"/>
            <a:r>
              <a:rPr lang="en-US" altLang="zh-CN" dirty="0">
                <a:latin typeface="SourceHanSansSC-Regular"/>
              </a:rPr>
              <a:t>      </a:t>
            </a:r>
            <a:r>
              <a:rPr lang="zh-CN" altLang="en-US" sz="2000" b="1" i="0" u="none" strike="noStrike" baseline="0" dirty="0">
                <a:latin typeface="SourceHanSansSC-Regular"/>
              </a:rPr>
              <a:t>网络分析中使用的一种调整方法，通过调整紧后活动的开始时间来编制一份切实可行的进度计划</a:t>
            </a:r>
            <a:endParaRPr lang="zh-CN" altLang="en-US" sz="2400" b="1" dirty="0">
              <a:latin typeface="微软雅黑" panose="020B0503020204020204" pitchFamily="34" charset="-122"/>
              <a:ea typeface="微软雅黑" panose="020B0503020204020204" pitchFamily="34" charset="-122"/>
              <a:cs typeface="Times New Roman" pitchFamily="18" charset="0"/>
              <a:sym typeface="Calibri" pitchFamily="34" charset="0"/>
            </a:endParaRPr>
          </a:p>
        </p:txBody>
      </p:sp>
    </p:spTree>
    <p:extLst>
      <p:ext uri="{BB962C8B-B14F-4D97-AF65-F5344CB8AC3E}">
        <p14:creationId xmlns:p14="http://schemas.microsoft.com/office/powerpoint/2010/main" val="7324250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91EC7E-062E-42B6-BB70-FDB6952E905C}"/>
              </a:ext>
            </a:extLst>
          </p:cNvPr>
          <p:cNvSpPr>
            <a:spLocks noGrp="1"/>
          </p:cNvSpPr>
          <p:nvPr>
            <p:ph type="title"/>
          </p:nvPr>
        </p:nvSpPr>
        <p:spPr/>
        <p:txBody>
          <a:bodyPr/>
          <a:lstStyle/>
          <a:p>
            <a:r>
              <a:rPr lang="en-US" altLang="zh-CN" dirty="0"/>
              <a:t>12.6 </a:t>
            </a:r>
            <a:r>
              <a:rPr lang="zh-CN" altLang="en-US" dirty="0"/>
              <a:t>制定进度计划</a:t>
            </a:r>
          </a:p>
        </p:txBody>
      </p:sp>
      <p:sp>
        <p:nvSpPr>
          <p:cNvPr id="2" name="矩形 1">
            <a:extLst>
              <a:ext uri="{FF2B5EF4-FFF2-40B4-BE49-F238E27FC236}">
                <a16:creationId xmlns:a16="http://schemas.microsoft.com/office/drawing/2014/main" id="{3BB27BF2-65E4-4C84-AD61-DE85E0FAEE86}"/>
              </a:ext>
            </a:extLst>
          </p:cNvPr>
          <p:cNvSpPr/>
          <p:nvPr/>
        </p:nvSpPr>
        <p:spPr>
          <a:xfrm>
            <a:off x="489857" y="1320504"/>
            <a:ext cx="11096828" cy="4998548"/>
          </a:xfrm>
          <a:prstGeom prst="rect">
            <a:avLst/>
          </a:prstGeom>
        </p:spPr>
        <p:txBody>
          <a:bodyPr wrap="square">
            <a:spAutoFit/>
          </a:bodyPr>
          <a:lstStyle/>
          <a:p>
            <a:pPr marL="438150" lvl="1" indent="0">
              <a:buNone/>
              <a:defRPr/>
            </a:pPr>
            <a:r>
              <a:rPr lang="en-US" altLang="zh-CN" sz="2400" b="1" dirty="0">
                <a:latin typeface="微软雅黑" panose="020B0503020204020204" pitchFamily="34" charset="-122"/>
                <a:ea typeface="微软雅黑" panose="020B0503020204020204" pitchFamily="34" charset="-122"/>
                <a:cs typeface="Times New Roman" pitchFamily="18" charset="0"/>
                <a:sym typeface="Calibri" pitchFamily="34" charset="0"/>
              </a:rPr>
              <a:t>(6)</a:t>
            </a:r>
            <a:r>
              <a:rPr lang="zh-CN" altLang="en-US" sz="2400" b="1" dirty="0">
                <a:latin typeface="微软雅黑" panose="020B0503020204020204" pitchFamily="34" charset="-122"/>
                <a:ea typeface="微软雅黑" panose="020B0503020204020204" pitchFamily="34" charset="-122"/>
                <a:cs typeface="Times New Roman" pitchFamily="18" charset="0"/>
                <a:sym typeface="Calibri" pitchFamily="34" charset="0"/>
              </a:rPr>
              <a:t>进度压缩</a:t>
            </a:r>
            <a:endParaRPr lang="en-US" altLang="zh-CN" sz="2400" b="1" dirty="0">
              <a:latin typeface="微软雅黑" panose="020B0503020204020204" pitchFamily="34" charset="-122"/>
              <a:ea typeface="微软雅黑" panose="020B0503020204020204" pitchFamily="34" charset="-122"/>
              <a:cs typeface="Times New Roman" pitchFamily="18" charset="0"/>
              <a:sym typeface="Calibri" pitchFamily="34" charset="0"/>
            </a:endParaRPr>
          </a:p>
          <a:p>
            <a:pPr algn="just">
              <a:lnSpc>
                <a:spcPct val="115000"/>
              </a:lnSpc>
              <a:spcBef>
                <a:spcPct val="0"/>
              </a:spcBef>
              <a:defRPr/>
            </a:pPr>
            <a:r>
              <a:rPr lang="zh-CN" altLang="en-US" sz="2400" b="1" dirty="0">
                <a:latin typeface="微软雅黑" panose="020B0503020204020204" pitchFamily="34" charset="-122"/>
                <a:ea typeface="微软雅黑" panose="020B0503020204020204" pitchFamily="34" charset="-122"/>
              </a:rPr>
              <a:t>进度压缩技术</a:t>
            </a:r>
            <a:r>
              <a:rPr lang="zh-CN" altLang="en-US" sz="2000" dirty="0">
                <a:latin typeface="微软雅黑" panose="020B0503020204020204" pitchFamily="34" charset="-122"/>
                <a:ea typeface="微软雅黑" panose="020B0503020204020204" pitchFamily="34" charset="-122"/>
              </a:rPr>
              <a:t>是指在不缩减项目范围的前提下，缩短或加快进度工期，以满足进度制约因素、强制日期或其他进度目标。负值浮动时间分析是一种有用的技术。关键路径法是浮动时间最少的方法。</a:t>
            </a:r>
            <a:endParaRPr lang="en-US" altLang="zh-CN" sz="2000" dirty="0">
              <a:latin typeface="微软雅黑" panose="020B0503020204020204" pitchFamily="34" charset="-122"/>
              <a:ea typeface="微软雅黑" panose="020B0503020204020204" pitchFamily="34" charset="-122"/>
            </a:endParaRPr>
          </a:p>
          <a:p>
            <a:pPr marL="285750" indent="-285750" algn="just">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赶工：</a:t>
            </a:r>
            <a:r>
              <a:rPr lang="zh-CN" altLang="en-US" sz="2000" dirty="0">
                <a:latin typeface="微软雅黑" panose="020B0503020204020204" pitchFamily="34" charset="-122"/>
                <a:ea typeface="微软雅黑" panose="020B0503020204020204" pitchFamily="34" charset="-122"/>
              </a:rPr>
              <a:t>通过增加资源，以最小的成本代价来压缩进度工期的一种技术。</a:t>
            </a:r>
            <a:endParaRPr lang="en-US" altLang="zh-CN" sz="2000" dirty="0">
              <a:latin typeface="微软雅黑" panose="020B0503020204020204" pitchFamily="34" charset="-122"/>
              <a:ea typeface="微软雅黑" panose="020B0503020204020204" pitchFamily="34" charset="-122"/>
            </a:endParaRPr>
          </a:p>
          <a:p>
            <a:pPr marL="742950" lvl="1" indent="-285750" algn="just">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赶工的例子包括：批准加班、增加额外资源或支付加急费用，来加快关键路径上的活动。赶工只适用于那些通过增加资源就能缩短持续时间的，且位于关键路径上的活动。</a:t>
            </a:r>
            <a:endParaRPr lang="en-US" altLang="zh-CN" sz="2000" dirty="0">
              <a:latin typeface="微软雅黑" panose="020B0503020204020204" pitchFamily="34" charset="-122"/>
              <a:ea typeface="微软雅黑" panose="020B0503020204020204" pitchFamily="34" charset="-122"/>
            </a:endParaRPr>
          </a:p>
          <a:p>
            <a:pPr marL="742950" lvl="1" indent="-285750" algn="just">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但赶工并非总是切实可行的，因它可能导致风险和</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或成本的增加。</a:t>
            </a:r>
          </a:p>
          <a:p>
            <a:pPr marL="285750" indent="-285750" algn="just">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快速跟进：</a:t>
            </a:r>
            <a:r>
              <a:rPr lang="zh-CN" altLang="en-US" sz="2000" dirty="0">
                <a:latin typeface="微软雅黑" panose="020B0503020204020204" pitchFamily="34" charset="-122"/>
                <a:ea typeface="微软雅黑" panose="020B0503020204020204" pitchFamily="34" charset="-122"/>
              </a:rPr>
              <a:t>一种进度压缩技术，将正常情况下按顺序进行的活动或阶段改为至少是部分并行开展。</a:t>
            </a:r>
            <a:endParaRPr lang="en-US" altLang="zh-CN" sz="2000" dirty="0">
              <a:latin typeface="微软雅黑" panose="020B0503020204020204" pitchFamily="34" charset="-122"/>
              <a:ea typeface="微软雅黑" panose="020B0503020204020204" pitchFamily="34" charset="-122"/>
            </a:endParaRPr>
          </a:p>
          <a:p>
            <a:pPr marL="742950" lvl="1" indent="-285750" algn="just">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例如，在大楼的建筑图纸尚未全部完成前就开始建地基。</a:t>
            </a:r>
            <a:endParaRPr lang="en-US" altLang="zh-CN" sz="2000" dirty="0">
              <a:latin typeface="微软雅黑" panose="020B0503020204020204" pitchFamily="34" charset="-122"/>
              <a:ea typeface="微软雅黑" panose="020B0503020204020204" pitchFamily="34" charset="-122"/>
            </a:endParaRPr>
          </a:p>
          <a:p>
            <a:pPr marL="742950" lvl="1" indent="-285750" algn="just">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快速跟进可能造成返工和风险增加，所以它只适用于能够通过并行活动来缩短关键路径上的项目工期的情况。以防进度加快而使用提前量通常增加相关活动之间的协调工作，并增加质量风险。快速跟进还有可能增加项目成本。</a:t>
            </a:r>
            <a:endParaRPr lang="en-US" altLang="zh-CN" sz="2000" dirty="0">
              <a:latin typeface="微软雅黑" panose="020B0503020204020204" pitchFamily="34" charset="-122"/>
              <a:ea typeface="微软雅黑" panose="020B0503020204020204" pitchFamily="34" charset="-122"/>
            </a:endParaRPr>
          </a:p>
          <a:p>
            <a:pPr algn="just">
              <a:lnSpc>
                <a:spcPct val="115000"/>
              </a:lnSpc>
              <a:spcBef>
                <a:spcPct val="0"/>
              </a:spcBef>
              <a:defRPr/>
            </a:pPr>
            <a:endParaRPr lang="en-US" altLang="zh-CN"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18083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91EC7E-062E-42B6-BB70-FDB6952E905C}"/>
              </a:ext>
            </a:extLst>
          </p:cNvPr>
          <p:cNvSpPr>
            <a:spLocks noGrp="1"/>
          </p:cNvSpPr>
          <p:nvPr>
            <p:ph type="title"/>
          </p:nvPr>
        </p:nvSpPr>
        <p:spPr/>
        <p:txBody>
          <a:bodyPr/>
          <a:lstStyle/>
          <a:p>
            <a:r>
              <a:rPr lang="en-US" altLang="zh-CN" dirty="0"/>
              <a:t>12.6 </a:t>
            </a:r>
            <a:r>
              <a:rPr lang="zh-CN" altLang="en-US" dirty="0"/>
              <a:t>制定进度计划</a:t>
            </a:r>
          </a:p>
        </p:txBody>
      </p:sp>
      <p:sp>
        <p:nvSpPr>
          <p:cNvPr id="2" name="矩形 1">
            <a:extLst>
              <a:ext uri="{FF2B5EF4-FFF2-40B4-BE49-F238E27FC236}">
                <a16:creationId xmlns:a16="http://schemas.microsoft.com/office/drawing/2014/main" id="{3BB27BF2-65E4-4C84-AD61-DE85E0FAEE86}"/>
              </a:ext>
            </a:extLst>
          </p:cNvPr>
          <p:cNvSpPr/>
          <p:nvPr/>
        </p:nvSpPr>
        <p:spPr>
          <a:xfrm>
            <a:off x="613885" y="1201479"/>
            <a:ext cx="10972800" cy="484107"/>
          </a:xfrm>
          <a:prstGeom prst="rect">
            <a:avLst/>
          </a:prstGeom>
        </p:spPr>
        <p:txBody>
          <a:bodyPr wrap="square">
            <a:spAutoFit/>
          </a:bodyPr>
          <a:lstStyle/>
          <a:p>
            <a:pPr algn="just">
              <a:lnSpc>
                <a:spcPct val="115000"/>
              </a:lnSpc>
              <a:spcBef>
                <a:spcPct val="0"/>
              </a:spcBef>
              <a:defRPr/>
            </a:pPr>
            <a:r>
              <a:rPr lang="zh-CN" altLang="en-US" sz="2400" b="1" dirty="0">
                <a:latin typeface="微软雅黑" panose="020B0503020204020204" pitchFamily="34" charset="-122"/>
                <a:ea typeface="微软雅黑" panose="020B0503020204020204" pitchFamily="34" charset="-122"/>
              </a:rPr>
              <a:t>使用关键路径来缩短项目的进度</a:t>
            </a:r>
            <a:endParaRPr lang="en-US" altLang="zh-CN" sz="2400" b="1" dirty="0">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7E96B902-7063-4C97-B077-2C17141955D8}"/>
              </a:ext>
            </a:extLst>
          </p:cNvPr>
          <p:cNvPicPr>
            <a:picLocks noChangeAspect="1"/>
          </p:cNvPicPr>
          <p:nvPr/>
        </p:nvPicPr>
        <p:blipFill>
          <a:blip r:embed="rId2"/>
          <a:stretch>
            <a:fillRect/>
          </a:stretch>
        </p:blipFill>
        <p:spPr>
          <a:xfrm>
            <a:off x="3809590" y="1742286"/>
            <a:ext cx="7595420" cy="4762500"/>
          </a:xfrm>
          <a:prstGeom prst="rect">
            <a:avLst/>
          </a:prstGeom>
        </p:spPr>
      </p:pic>
    </p:spTree>
    <p:extLst>
      <p:ext uri="{BB962C8B-B14F-4D97-AF65-F5344CB8AC3E}">
        <p14:creationId xmlns:p14="http://schemas.microsoft.com/office/powerpoint/2010/main" val="1498917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91EC7E-062E-42B6-BB70-FDB6952E905C}"/>
              </a:ext>
            </a:extLst>
          </p:cNvPr>
          <p:cNvSpPr>
            <a:spLocks noGrp="1"/>
          </p:cNvSpPr>
          <p:nvPr>
            <p:ph type="title"/>
          </p:nvPr>
        </p:nvSpPr>
        <p:spPr/>
        <p:txBody>
          <a:bodyPr/>
          <a:lstStyle/>
          <a:p>
            <a:r>
              <a:rPr lang="en-US" altLang="zh-CN" dirty="0"/>
              <a:t>12.6 </a:t>
            </a:r>
            <a:r>
              <a:rPr lang="zh-CN" altLang="en-US" dirty="0"/>
              <a:t>制定进度计划</a:t>
            </a:r>
          </a:p>
        </p:txBody>
      </p:sp>
      <p:sp>
        <p:nvSpPr>
          <p:cNvPr id="4" name="矩形 3">
            <a:extLst>
              <a:ext uri="{FF2B5EF4-FFF2-40B4-BE49-F238E27FC236}">
                <a16:creationId xmlns:a16="http://schemas.microsoft.com/office/drawing/2014/main" id="{B2E0487A-DB6F-2723-08F0-CD50AC9C8519}"/>
              </a:ext>
            </a:extLst>
          </p:cNvPr>
          <p:cNvSpPr/>
          <p:nvPr/>
        </p:nvSpPr>
        <p:spPr>
          <a:xfrm>
            <a:off x="489857" y="1320504"/>
            <a:ext cx="11096828" cy="3776675"/>
          </a:xfrm>
          <a:prstGeom prst="rect">
            <a:avLst/>
          </a:prstGeom>
        </p:spPr>
        <p:txBody>
          <a:bodyPr wrap="square">
            <a:spAutoFit/>
          </a:bodyPr>
          <a:lstStyle/>
          <a:p>
            <a:pPr marL="438150" lvl="1" indent="0">
              <a:buNone/>
              <a:defRPr/>
            </a:pPr>
            <a:r>
              <a:rPr lang="en-US" altLang="zh-CN" sz="2400" b="1" dirty="0">
                <a:latin typeface="微软雅黑" panose="020B0503020204020204" pitchFamily="34" charset="-122"/>
                <a:ea typeface="微软雅黑" panose="020B0503020204020204" pitchFamily="34" charset="-122"/>
                <a:cs typeface="Times New Roman" pitchFamily="18" charset="0"/>
                <a:sym typeface="Calibri" pitchFamily="34" charset="0"/>
              </a:rPr>
              <a:t>(7)</a:t>
            </a:r>
            <a:r>
              <a:rPr lang="zh-CN" altLang="en-US" sz="2400" b="1" dirty="0">
                <a:latin typeface="微软雅黑" panose="020B0503020204020204" pitchFamily="34" charset="-122"/>
                <a:ea typeface="微软雅黑" panose="020B0503020204020204" pitchFamily="34" charset="-122"/>
                <a:cs typeface="Times New Roman" pitchFamily="18" charset="0"/>
                <a:sym typeface="Calibri" pitchFamily="34" charset="0"/>
              </a:rPr>
              <a:t>项目管理信息系统 </a:t>
            </a:r>
            <a:r>
              <a:rPr lang="en-US" altLang="zh-CN" sz="2400" b="1" dirty="0">
                <a:latin typeface="微软雅黑" panose="020B0503020204020204" pitchFamily="34" charset="-122"/>
                <a:ea typeface="微软雅黑" panose="020B0503020204020204" pitchFamily="34" charset="-122"/>
                <a:cs typeface="Times New Roman" pitchFamily="18" charset="0"/>
                <a:sym typeface="Calibri" pitchFamily="34" charset="0"/>
              </a:rPr>
              <a:t>(PMIS)</a:t>
            </a:r>
          </a:p>
          <a:p>
            <a:pPr algn="just">
              <a:lnSpc>
                <a:spcPct val="115000"/>
              </a:lnSpc>
              <a:spcBef>
                <a:spcPct val="0"/>
              </a:spcBef>
              <a:defRPr/>
            </a:pPr>
            <a:r>
              <a:rPr lang="zh-CN" altLang="en-US" sz="2400" b="1" dirty="0">
                <a:latin typeface="微软雅黑" panose="020B0503020204020204" pitchFamily="34" charset="-122"/>
                <a:ea typeface="微软雅黑" panose="020B0503020204020204" pitchFamily="34" charset="-122"/>
              </a:rPr>
              <a:t>项目管理信息系统</a:t>
            </a:r>
            <a:r>
              <a:rPr lang="zh-CN" altLang="en-US" sz="2000" dirty="0">
                <a:latin typeface="微软雅黑" panose="020B0503020204020204" pitchFamily="34" charset="-122"/>
                <a:ea typeface="微软雅黑" panose="020B0503020204020204" pitchFamily="34" charset="-122"/>
              </a:rPr>
              <a:t>包括进度计划软件，这些软件用活动、网络图、资源需求和活动持续时间等作为输入，自动生成开始和完成日期，从而可加快进度计划的编制过程。</a:t>
            </a:r>
            <a:endParaRPr lang="en-US" altLang="zh-CN" sz="2000" dirty="0">
              <a:latin typeface="微软雅黑" panose="020B0503020204020204" pitchFamily="34" charset="-122"/>
              <a:ea typeface="微软雅黑" panose="020B0503020204020204" pitchFamily="34" charset="-122"/>
            </a:endParaRPr>
          </a:p>
          <a:p>
            <a:pPr algn="l"/>
            <a:r>
              <a:rPr lang="zh-CN" altLang="en-US" sz="2400" b="1" dirty="0">
                <a:latin typeface="微软雅黑" panose="020B0503020204020204" pitchFamily="34" charset="-122"/>
                <a:ea typeface="微软雅黑" panose="020B0503020204020204" pitchFamily="34" charset="-122"/>
                <a:cs typeface="Times New Roman" pitchFamily="18" charset="0"/>
              </a:rPr>
              <a:t>  （</a:t>
            </a:r>
            <a:r>
              <a:rPr lang="en-US" altLang="zh-CN" sz="2400" b="1" dirty="0">
                <a:latin typeface="微软雅黑" panose="020B0503020204020204" pitchFamily="34" charset="-122"/>
                <a:ea typeface="微软雅黑" panose="020B0503020204020204" pitchFamily="34" charset="-122"/>
                <a:cs typeface="Times New Roman" pitchFamily="18" charset="0"/>
              </a:rPr>
              <a:t>8</a:t>
            </a:r>
            <a:r>
              <a:rPr lang="zh-CN" altLang="en-US" sz="2400" b="1" dirty="0">
                <a:latin typeface="微软雅黑" panose="020B0503020204020204" pitchFamily="34" charset="-122"/>
                <a:ea typeface="微软雅黑" panose="020B0503020204020204" pitchFamily="34" charset="-122"/>
                <a:cs typeface="Times New Roman" pitchFamily="18" charset="0"/>
              </a:rPr>
              <a:t>）敏捷发布规划</a:t>
            </a:r>
            <a:endParaRPr lang="en-US" altLang="zh-CN" sz="2400" b="1" dirty="0">
              <a:latin typeface="微软雅黑" panose="020B0503020204020204" pitchFamily="34" charset="-122"/>
              <a:ea typeface="微软雅黑" panose="020B0503020204020204" pitchFamily="34" charset="-122"/>
              <a:cs typeface="Times New Roman" pitchFamily="18" charset="0"/>
            </a:endParaRPr>
          </a:p>
          <a:p>
            <a:pPr algn="just">
              <a:lnSpc>
                <a:spcPct val="115000"/>
              </a:lnSpc>
              <a:spcBef>
                <a:spcPct val="0"/>
              </a:spcBef>
              <a:defRPr/>
            </a:pPr>
            <a:r>
              <a:rPr lang="zh-CN" altLang="en-US" sz="2400" b="1" dirty="0">
                <a:latin typeface="微软雅黑" panose="020B0503020204020204" pitchFamily="34" charset="-122"/>
                <a:ea typeface="微软雅黑" panose="020B0503020204020204" pitchFamily="34" charset="-122"/>
              </a:rPr>
              <a:t>敏捷发布规划</a:t>
            </a:r>
            <a:r>
              <a:rPr lang="zh-CN" altLang="en-US" sz="2000" dirty="0">
                <a:latin typeface="微软雅黑" panose="020B0503020204020204" pitchFamily="34" charset="-122"/>
                <a:ea typeface="微软雅黑" panose="020B0503020204020204" pitchFamily="34" charset="-122"/>
              </a:rPr>
              <a:t>基于项目路线图和产品发展愿景，提供了高度概括的发布进度时间轴（通常是 </a:t>
            </a:r>
            <a:r>
              <a:rPr lang="en-US" altLang="zh-CN" sz="2000" dirty="0">
                <a:latin typeface="微软雅黑" panose="020B0503020204020204" pitchFamily="34" charset="-122"/>
                <a:ea typeface="微软雅黑" panose="020B0503020204020204" pitchFamily="34" charset="-122"/>
              </a:rPr>
              <a:t>3 </a:t>
            </a:r>
            <a:r>
              <a:rPr lang="zh-CN" altLang="en-US" sz="2000" dirty="0">
                <a:latin typeface="微软雅黑" panose="020B0503020204020204" pitchFamily="34" charset="-122"/>
                <a:ea typeface="微软雅黑" panose="020B0503020204020204" pitchFamily="34" charset="-122"/>
              </a:rPr>
              <a:t>到 </a:t>
            </a:r>
            <a:r>
              <a:rPr lang="en-US" altLang="zh-CN" sz="2000" dirty="0">
                <a:latin typeface="微软雅黑" panose="020B0503020204020204" pitchFamily="34" charset="-122"/>
                <a:ea typeface="微软雅黑" panose="020B0503020204020204" pitchFamily="34" charset="-122"/>
              </a:rPr>
              <a:t>6</a:t>
            </a:r>
            <a:r>
              <a:rPr lang="zh-CN" altLang="en-US" sz="2000" dirty="0">
                <a:latin typeface="微软雅黑" panose="020B0503020204020204" pitchFamily="34" charset="-122"/>
                <a:ea typeface="微软雅黑" panose="020B0503020204020204" pitchFamily="34" charset="-122"/>
              </a:rPr>
              <a:t>个月）。</a:t>
            </a:r>
            <a:endParaRPr lang="en-US" altLang="zh-CN" sz="2000" dirty="0">
              <a:latin typeface="微软雅黑" panose="020B0503020204020204" pitchFamily="34" charset="-122"/>
              <a:ea typeface="微软雅黑" panose="020B0503020204020204" pitchFamily="34" charset="-122"/>
            </a:endParaRPr>
          </a:p>
          <a:p>
            <a:pPr algn="just">
              <a:lnSpc>
                <a:spcPct val="115000"/>
              </a:lnSpc>
              <a:spcBef>
                <a:spcPct val="0"/>
              </a:spcBef>
              <a:defRPr/>
            </a:pP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同时，敏捷发布规划还确定了发布的迭代或冲刺次数，使产品负责人和团队能够决定需要开发的内容，并基于业务目标、依赖关系和障碍因素确定达到产品放行所需的时间。</a:t>
            </a:r>
            <a:endParaRPr lang="en-US" altLang="zh-CN" sz="2000" dirty="0">
              <a:latin typeface="微软雅黑" panose="020B0503020204020204" pitchFamily="34" charset="-122"/>
              <a:ea typeface="微软雅黑" panose="020B0503020204020204" pitchFamily="34" charset="-122"/>
            </a:endParaRPr>
          </a:p>
          <a:p>
            <a:pPr algn="just">
              <a:lnSpc>
                <a:spcPct val="115000"/>
              </a:lnSpc>
              <a:spcBef>
                <a:spcPct val="0"/>
              </a:spcBef>
              <a:defRPr/>
            </a:pPr>
            <a:r>
              <a:rPr lang="zh-CN" altLang="en-US" sz="2000" dirty="0">
                <a:latin typeface="微软雅黑" panose="020B0503020204020204" pitchFamily="34" charset="-122"/>
                <a:ea typeface="微软雅黑" panose="020B0503020204020204" pitchFamily="34" charset="-122"/>
              </a:rPr>
              <a:t>    对客户而言，产品功能就是价值，因此，该时间轴定义了每次迭代结束时交付的功能，提供了更易于理解的项目进度计划，而这些就是客户真正需要的信息。</a:t>
            </a:r>
            <a:endParaRPr lang="en-US" altLang="zh-CN"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61020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91EC7E-062E-42B6-BB70-FDB6952E905C}"/>
              </a:ext>
            </a:extLst>
          </p:cNvPr>
          <p:cNvSpPr>
            <a:spLocks noGrp="1"/>
          </p:cNvSpPr>
          <p:nvPr>
            <p:ph type="title"/>
          </p:nvPr>
        </p:nvSpPr>
        <p:spPr/>
        <p:txBody>
          <a:bodyPr/>
          <a:lstStyle/>
          <a:p>
            <a:r>
              <a:rPr lang="en-US" altLang="zh-CN" dirty="0"/>
              <a:t>12.7 </a:t>
            </a:r>
            <a:r>
              <a:rPr lang="zh-CN" altLang="en-US" dirty="0"/>
              <a:t>控制进度</a:t>
            </a:r>
          </a:p>
        </p:txBody>
      </p:sp>
      <p:sp>
        <p:nvSpPr>
          <p:cNvPr id="76" name="内容占位符 2">
            <a:extLst>
              <a:ext uri="{FF2B5EF4-FFF2-40B4-BE49-F238E27FC236}">
                <a16:creationId xmlns:a16="http://schemas.microsoft.com/office/drawing/2014/main" id="{89E1171F-CF9D-4BB0-A887-57A01A8BB37A}"/>
              </a:ext>
            </a:extLst>
          </p:cNvPr>
          <p:cNvSpPr txBox="1">
            <a:spLocks noChangeArrowheads="1"/>
          </p:cNvSpPr>
          <p:nvPr/>
        </p:nvSpPr>
        <p:spPr>
          <a:xfrm>
            <a:off x="473528" y="1295400"/>
            <a:ext cx="11244943" cy="54737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buNone/>
            </a:pPr>
            <a:r>
              <a:rPr lang="zh-CN" altLang="en-US" sz="2400" b="1" dirty="0"/>
              <a:t>控制进度</a:t>
            </a:r>
            <a:r>
              <a:rPr lang="zh-CN" altLang="en-US" sz="2400" dirty="0"/>
              <a:t>：是监督项目状态，以更新项目进度和管理进度基准变更的过程。需要在整个项目期间开展。</a:t>
            </a:r>
            <a:endParaRPr lang="en-US" altLang="zh-CN" sz="2400" dirty="0"/>
          </a:p>
          <a:p>
            <a:pPr marL="0" indent="0">
              <a:spcBef>
                <a:spcPts val="600"/>
              </a:spcBef>
              <a:spcAft>
                <a:spcPts val="600"/>
              </a:spcAft>
              <a:buNone/>
            </a:pPr>
            <a:r>
              <a:rPr lang="zh-CN" altLang="en-US" sz="2400" b="1" dirty="0"/>
              <a:t>进度控制</a:t>
            </a:r>
            <a:r>
              <a:rPr lang="zh-CN" altLang="zh-CN" sz="2400" b="1" dirty="0"/>
              <a:t>目的</a:t>
            </a:r>
          </a:p>
          <a:p>
            <a:pPr marL="631825" lvl="1" indent="0">
              <a:spcBef>
                <a:spcPts val="600"/>
              </a:spcBef>
              <a:spcAft>
                <a:spcPts val="600"/>
              </a:spcAft>
              <a:buNone/>
            </a:pPr>
            <a:r>
              <a:rPr lang="zh-CN" altLang="zh-CN" sz="2400" dirty="0"/>
              <a:t>提供发现计划偏离的方法，及时采取纠正和预防措施，从而降低风险。</a:t>
            </a:r>
          </a:p>
          <a:p>
            <a:pPr marL="0" indent="0">
              <a:spcBef>
                <a:spcPts val="600"/>
              </a:spcBef>
              <a:spcAft>
                <a:spcPts val="600"/>
              </a:spcAft>
              <a:buNone/>
            </a:pPr>
            <a:r>
              <a:rPr lang="zh-CN" altLang="zh-CN" sz="2400" dirty="0"/>
              <a:t>监督项目活动状态</a:t>
            </a:r>
            <a:r>
              <a:rPr lang="zh-CN" altLang="en-US" sz="2400" dirty="0"/>
              <a:t>、</a:t>
            </a:r>
            <a:r>
              <a:rPr lang="zh-CN" altLang="zh-CN" sz="2400" dirty="0"/>
              <a:t>更新项目进展</a:t>
            </a:r>
            <a:r>
              <a:rPr lang="zh-CN" altLang="en-US" sz="2400" dirty="0"/>
              <a:t>、</a:t>
            </a:r>
            <a:r>
              <a:rPr lang="zh-CN" altLang="zh-CN" sz="2400" dirty="0"/>
              <a:t>管理进度基准变更</a:t>
            </a:r>
            <a:r>
              <a:rPr lang="zh-CN" altLang="en-US" sz="2400" dirty="0"/>
              <a:t>、</a:t>
            </a:r>
            <a:r>
              <a:rPr lang="zh-CN" altLang="zh-CN" sz="2400" dirty="0"/>
              <a:t>实现项目计划。</a:t>
            </a:r>
            <a:endParaRPr lang="en-US" altLang="zh-CN" sz="2400" dirty="0"/>
          </a:p>
          <a:p>
            <a:pPr marL="0" indent="0">
              <a:spcBef>
                <a:spcPts val="600"/>
              </a:spcBef>
              <a:spcAft>
                <a:spcPts val="600"/>
              </a:spcAft>
              <a:buNone/>
            </a:pPr>
            <a:r>
              <a:rPr lang="zh-CN" altLang="zh-CN" sz="2400" b="1" dirty="0"/>
              <a:t>控制变更关注内容</a:t>
            </a:r>
          </a:p>
          <a:p>
            <a:pPr marL="974725" lvl="1" indent="-342900">
              <a:spcBef>
                <a:spcPts val="600"/>
              </a:spcBef>
              <a:spcAft>
                <a:spcPts val="600"/>
              </a:spcAft>
              <a:buFont typeface="Wingdings" panose="05000000000000000000" pitchFamily="2" charset="2"/>
              <a:buChar char="l"/>
            </a:pPr>
            <a:r>
              <a:rPr lang="zh-CN" altLang="zh-CN" sz="2000" dirty="0"/>
              <a:t>判断项目进度的当前状态</a:t>
            </a:r>
          </a:p>
          <a:p>
            <a:pPr marL="974725" lvl="1" indent="-342900">
              <a:spcBef>
                <a:spcPts val="600"/>
              </a:spcBef>
              <a:spcAft>
                <a:spcPts val="600"/>
              </a:spcAft>
              <a:buFont typeface="Wingdings" panose="05000000000000000000" pitchFamily="2" charset="2"/>
              <a:buChar char="l"/>
            </a:pPr>
            <a:r>
              <a:rPr lang="zh-CN" altLang="zh-CN" sz="2000" dirty="0"/>
              <a:t>对引起进度变更的因素施加影响</a:t>
            </a:r>
            <a:endParaRPr lang="en-US" altLang="zh-CN" sz="2000" dirty="0"/>
          </a:p>
          <a:p>
            <a:pPr marL="974725" lvl="1" indent="-342900">
              <a:spcBef>
                <a:spcPts val="600"/>
              </a:spcBef>
              <a:spcAft>
                <a:spcPts val="600"/>
              </a:spcAft>
              <a:buFont typeface="Wingdings" panose="05000000000000000000" pitchFamily="2" charset="2"/>
              <a:buChar char="l"/>
            </a:pPr>
            <a:r>
              <a:rPr lang="zh-CN" altLang="en-US" sz="2000" dirty="0"/>
              <a:t>重新考虑必要的进度储备</a:t>
            </a:r>
            <a:endParaRPr lang="zh-CN" altLang="zh-CN" sz="2000" dirty="0"/>
          </a:p>
          <a:p>
            <a:pPr marL="974725" lvl="1" indent="-342900">
              <a:spcBef>
                <a:spcPts val="600"/>
              </a:spcBef>
              <a:spcAft>
                <a:spcPts val="600"/>
              </a:spcAft>
              <a:buFont typeface="Wingdings" panose="05000000000000000000" pitchFamily="2" charset="2"/>
              <a:buChar char="l"/>
            </a:pPr>
            <a:r>
              <a:rPr lang="zh-CN" altLang="zh-CN" sz="2000" dirty="0"/>
              <a:t>判断项目进度是否已经发生变更</a:t>
            </a:r>
          </a:p>
          <a:p>
            <a:pPr marL="974725" lvl="1" indent="-342900">
              <a:spcBef>
                <a:spcPts val="600"/>
              </a:spcBef>
              <a:spcAft>
                <a:spcPts val="600"/>
              </a:spcAft>
              <a:buFont typeface="Wingdings" panose="05000000000000000000" pitchFamily="2" charset="2"/>
              <a:buChar char="l"/>
            </a:pPr>
            <a:r>
              <a:rPr lang="zh-CN" altLang="zh-CN" sz="2000" dirty="0"/>
              <a:t>在实际变更时对其进行管理</a:t>
            </a:r>
          </a:p>
          <a:p>
            <a:endParaRPr lang="zh-CN" altLang="en-US" sz="2800" dirty="0"/>
          </a:p>
        </p:txBody>
      </p:sp>
    </p:spTree>
    <p:extLst>
      <p:ext uri="{BB962C8B-B14F-4D97-AF65-F5344CB8AC3E}">
        <p14:creationId xmlns:p14="http://schemas.microsoft.com/office/powerpoint/2010/main" val="686580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91EC7E-062E-42B6-BB70-FDB6952E905C}"/>
              </a:ext>
            </a:extLst>
          </p:cNvPr>
          <p:cNvSpPr>
            <a:spLocks noGrp="1"/>
          </p:cNvSpPr>
          <p:nvPr>
            <p:ph type="title"/>
          </p:nvPr>
        </p:nvSpPr>
        <p:spPr/>
        <p:txBody>
          <a:bodyPr/>
          <a:lstStyle/>
          <a:p>
            <a:r>
              <a:rPr lang="en-US" altLang="zh-CN" dirty="0"/>
              <a:t>12.7 </a:t>
            </a:r>
            <a:r>
              <a:rPr lang="zh-CN" altLang="en-US" dirty="0"/>
              <a:t>控制进度</a:t>
            </a:r>
          </a:p>
        </p:txBody>
      </p:sp>
      <p:pic>
        <p:nvPicPr>
          <p:cNvPr id="4" name="图片 1">
            <a:extLst>
              <a:ext uri="{FF2B5EF4-FFF2-40B4-BE49-F238E27FC236}">
                <a16:creationId xmlns:a16="http://schemas.microsoft.com/office/drawing/2014/main" id="{49853B2A-712C-4CCC-B375-540E3D8981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1794" y="1201482"/>
            <a:ext cx="9252000" cy="5275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02804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91EC7E-062E-42B6-BB70-FDB6952E905C}"/>
              </a:ext>
            </a:extLst>
          </p:cNvPr>
          <p:cNvSpPr>
            <a:spLocks noGrp="1"/>
          </p:cNvSpPr>
          <p:nvPr>
            <p:ph type="title"/>
          </p:nvPr>
        </p:nvSpPr>
        <p:spPr/>
        <p:txBody>
          <a:bodyPr/>
          <a:lstStyle/>
          <a:p>
            <a:r>
              <a:rPr lang="en-US" altLang="zh-CN" dirty="0"/>
              <a:t>12.7 </a:t>
            </a:r>
            <a:r>
              <a:rPr lang="zh-CN" altLang="en-US" dirty="0"/>
              <a:t>控制进度</a:t>
            </a:r>
          </a:p>
        </p:txBody>
      </p:sp>
      <p:sp>
        <p:nvSpPr>
          <p:cNvPr id="2" name="矩形 1">
            <a:extLst>
              <a:ext uri="{FF2B5EF4-FFF2-40B4-BE49-F238E27FC236}">
                <a16:creationId xmlns:a16="http://schemas.microsoft.com/office/drawing/2014/main" id="{6E147173-6BFE-4162-A4B2-EF69BAF3F414}"/>
              </a:ext>
            </a:extLst>
          </p:cNvPr>
          <p:cNvSpPr/>
          <p:nvPr/>
        </p:nvSpPr>
        <p:spPr>
          <a:xfrm>
            <a:off x="494271" y="1257769"/>
            <a:ext cx="4065698" cy="4678204"/>
          </a:xfrm>
          <a:prstGeom prst="rect">
            <a:avLst/>
          </a:prstGeom>
        </p:spPr>
        <p:txBody>
          <a:bodyPr wrap="square">
            <a:spAutoFit/>
          </a:bodyPr>
          <a:lstStyle/>
          <a:p>
            <a:pPr>
              <a:spcAft>
                <a:spcPts val="1200"/>
              </a:spcAft>
            </a:pPr>
            <a:r>
              <a:rPr lang="zh-CN" altLang="en-US" sz="2400" b="1" dirty="0">
                <a:latin typeface="微软雅黑" panose="020B0503020204020204" pitchFamily="34" charset="-122"/>
                <a:ea typeface="微软雅黑" panose="020B0503020204020204" pitchFamily="34" charset="-122"/>
              </a:rPr>
              <a:t>控制进度的工具与技术：</a:t>
            </a:r>
            <a:endParaRPr lang="en-US" altLang="zh-CN" sz="2400" b="1" dirty="0">
              <a:latin typeface="微软雅黑" panose="020B0503020204020204" pitchFamily="34" charset="-122"/>
              <a:ea typeface="微软雅黑" panose="020B0503020204020204" pitchFamily="34" charset="-122"/>
            </a:endParaRPr>
          </a:p>
          <a:p>
            <a:pPr>
              <a:spcAft>
                <a:spcPts val="1200"/>
              </a:spcAft>
            </a:pPr>
            <a:r>
              <a:rPr lang="en-US" altLang="zh-CN" sz="2000" b="1" dirty="0">
                <a:latin typeface="微软雅黑" panose="020B0503020204020204" pitchFamily="34" charset="-122"/>
                <a:ea typeface="微软雅黑" panose="020B0503020204020204" pitchFamily="34" charset="-122"/>
              </a:rPr>
              <a:t>1.</a:t>
            </a:r>
            <a:r>
              <a:rPr lang="zh-CN" altLang="en-US" sz="2000" b="1" dirty="0">
                <a:latin typeface="微软雅黑" panose="020B0503020204020204" pitchFamily="34" charset="-122"/>
                <a:ea typeface="微软雅黑" panose="020B0503020204020204" pitchFamily="34" charset="-122"/>
              </a:rPr>
              <a:t>数据分析</a:t>
            </a:r>
            <a:endParaRPr lang="en-US" altLang="zh-CN" sz="2000" b="1" dirty="0">
              <a:latin typeface="微软雅黑" panose="020B0503020204020204" pitchFamily="34" charset="-122"/>
              <a:ea typeface="微软雅黑" panose="020B0503020204020204" pitchFamily="34" charset="-122"/>
            </a:endParaRPr>
          </a:p>
          <a:p>
            <a:pPr marL="342900" indent="-342900">
              <a:spcAft>
                <a:spcPts val="1200"/>
              </a:spcAft>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挣值分析。</a:t>
            </a:r>
            <a:r>
              <a:rPr lang="zh-CN" altLang="en-US" sz="2000" dirty="0">
                <a:latin typeface="微软雅黑" panose="020B0503020204020204" pitchFamily="34" charset="-122"/>
                <a:ea typeface="微软雅黑" panose="020B0503020204020204" pitchFamily="34" charset="-122"/>
              </a:rPr>
              <a:t>进度绩效测量指标（如进度偏差（</a:t>
            </a:r>
            <a:r>
              <a:rPr lang="en-US" altLang="zh-CN" sz="2000" dirty="0">
                <a:latin typeface="微软雅黑" panose="020B0503020204020204" pitchFamily="34" charset="-122"/>
                <a:ea typeface="微软雅黑" panose="020B0503020204020204" pitchFamily="34" charset="-122"/>
              </a:rPr>
              <a:t>SV</a:t>
            </a:r>
            <a:r>
              <a:rPr lang="zh-CN" altLang="en-US" sz="2000" dirty="0">
                <a:latin typeface="微软雅黑" panose="020B0503020204020204" pitchFamily="34" charset="-122"/>
                <a:ea typeface="微软雅黑" panose="020B0503020204020204" pitchFamily="34" charset="-122"/>
              </a:rPr>
              <a:t>）和进度绩效指数（</a:t>
            </a:r>
            <a:r>
              <a:rPr lang="en-US" altLang="zh-CN" sz="2000" dirty="0">
                <a:latin typeface="微软雅黑" panose="020B0503020204020204" pitchFamily="34" charset="-122"/>
                <a:ea typeface="微软雅黑" panose="020B0503020204020204" pitchFamily="34" charset="-122"/>
              </a:rPr>
              <a:t>SPI</a:t>
            </a:r>
            <a:r>
              <a:rPr lang="zh-CN" altLang="en-US" sz="2000" dirty="0">
                <a:latin typeface="微软雅黑" panose="020B0503020204020204" pitchFamily="34" charset="-122"/>
                <a:ea typeface="微软雅黑" panose="020B0503020204020204" pitchFamily="34" charset="-122"/>
              </a:rPr>
              <a:t>））用于评价偏离初始进度基准的程度。</a:t>
            </a:r>
          </a:p>
          <a:p>
            <a:pPr marL="342900" indent="-342900">
              <a:spcAft>
                <a:spcPts val="1200"/>
              </a:spcAft>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迭代燃尽图。</a:t>
            </a:r>
            <a:r>
              <a:rPr lang="zh-CN" altLang="en-US" sz="2000" dirty="0">
                <a:latin typeface="微软雅黑" panose="020B0503020204020204" pitchFamily="34" charset="-122"/>
                <a:ea typeface="微软雅黑" panose="020B0503020204020204" pitchFamily="34" charset="-122"/>
              </a:rPr>
              <a:t>这类图用于追踪迭代未完项中尚待完成的工作。它基于迭代规划中确定的工作，分析与理想燃尽图的偏差。可使用预测趋势线来预测迭代结束时可能出现的偏差，以及在迭代期间应该采取的合理行动。</a:t>
            </a:r>
          </a:p>
        </p:txBody>
      </p:sp>
      <p:pic>
        <p:nvPicPr>
          <p:cNvPr id="3" name="图片 2">
            <a:extLst>
              <a:ext uri="{FF2B5EF4-FFF2-40B4-BE49-F238E27FC236}">
                <a16:creationId xmlns:a16="http://schemas.microsoft.com/office/drawing/2014/main" id="{33F83F87-1CC1-47AD-8E22-3B436B5F8828}"/>
              </a:ext>
            </a:extLst>
          </p:cNvPr>
          <p:cNvPicPr>
            <a:picLocks noChangeAspect="1"/>
          </p:cNvPicPr>
          <p:nvPr/>
        </p:nvPicPr>
        <p:blipFill>
          <a:blip r:embed="rId3"/>
          <a:stretch>
            <a:fillRect/>
          </a:stretch>
        </p:blipFill>
        <p:spPr>
          <a:xfrm>
            <a:off x="4554586" y="2303584"/>
            <a:ext cx="7143143" cy="3838249"/>
          </a:xfrm>
          <a:prstGeom prst="rect">
            <a:avLst/>
          </a:prstGeom>
        </p:spPr>
      </p:pic>
    </p:spTree>
    <p:extLst>
      <p:ext uri="{BB962C8B-B14F-4D97-AF65-F5344CB8AC3E}">
        <p14:creationId xmlns:p14="http://schemas.microsoft.com/office/powerpoint/2010/main" val="1445308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36149E-EF0C-4E52-BD5E-649003F69A50}"/>
              </a:ext>
            </a:extLst>
          </p:cNvPr>
          <p:cNvSpPr>
            <a:spLocks noGrp="1"/>
          </p:cNvSpPr>
          <p:nvPr>
            <p:ph type="title"/>
          </p:nvPr>
        </p:nvSpPr>
        <p:spPr/>
        <p:txBody>
          <a:bodyPr/>
          <a:lstStyle/>
          <a:p>
            <a:r>
              <a:rPr lang="en-US" altLang="zh-CN" dirty="0"/>
              <a:t>12.7 </a:t>
            </a:r>
            <a:r>
              <a:rPr lang="zh-CN" altLang="en-US" dirty="0"/>
              <a:t>控制进度</a:t>
            </a:r>
          </a:p>
        </p:txBody>
      </p:sp>
      <p:sp>
        <p:nvSpPr>
          <p:cNvPr id="5" name="矩形 4">
            <a:extLst>
              <a:ext uri="{FF2B5EF4-FFF2-40B4-BE49-F238E27FC236}">
                <a16:creationId xmlns:a16="http://schemas.microsoft.com/office/drawing/2014/main" id="{E1CB51B1-F2CD-4483-84F8-0DC0167ACEC8}"/>
              </a:ext>
            </a:extLst>
          </p:cNvPr>
          <p:cNvSpPr/>
          <p:nvPr/>
        </p:nvSpPr>
        <p:spPr>
          <a:xfrm>
            <a:off x="722871" y="1187769"/>
            <a:ext cx="10972800" cy="5601533"/>
          </a:xfrm>
          <a:prstGeom prst="rect">
            <a:avLst/>
          </a:prstGeom>
        </p:spPr>
        <p:txBody>
          <a:bodyPr wrap="square">
            <a:spAutoFit/>
          </a:bodyPr>
          <a:lstStyle/>
          <a:p>
            <a:pPr>
              <a:spcAft>
                <a:spcPts val="1200"/>
              </a:spcAft>
            </a:pPr>
            <a:r>
              <a:rPr lang="en-US" altLang="zh-CN" sz="2000" b="1" dirty="0">
                <a:latin typeface="微软雅黑" panose="020B0503020204020204" pitchFamily="34" charset="-122"/>
                <a:ea typeface="微软雅黑" panose="020B0503020204020204" pitchFamily="34" charset="-122"/>
              </a:rPr>
              <a:t>1. </a:t>
            </a:r>
            <a:r>
              <a:rPr lang="zh-CN" altLang="en-US" sz="2000" b="1" dirty="0">
                <a:latin typeface="微软雅黑" panose="020B0503020204020204" pitchFamily="34" charset="-122"/>
                <a:ea typeface="微软雅黑" panose="020B0503020204020204" pitchFamily="34" charset="-122"/>
              </a:rPr>
              <a:t>数据分析</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续</a:t>
            </a:r>
            <a:r>
              <a:rPr lang="en-US" altLang="zh-CN" sz="2000" b="1" dirty="0">
                <a:latin typeface="微软雅黑" panose="020B0503020204020204" pitchFamily="34" charset="-122"/>
                <a:ea typeface="微软雅黑" panose="020B0503020204020204" pitchFamily="34" charset="-122"/>
              </a:rPr>
              <a:t>)</a:t>
            </a:r>
          </a:p>
          <a:p>
            <a:pPr marL="342900" indent="-342900">
              <a:spcAft>
                <a:spcPts val="1200"/>
              </a:spcAft>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绩效审查。</a:t>
            </a:r>
            <a:r>
              <a:rPr lang="zh-CN" altLang="en-US" sz="2000" dirty="0">
                <a:latin typeface="微软雅黑" panose="020B0503020204020204" pitchFamily="34" charset="-122"/>
                <a:ea typeface="微软雅黑" panose="020B0503020204020204" pitchFamily="34" charset="-122"/>
              </a:rPr>
              <a:t>根据进度基准，测量、对比和分析进度绩效，如实际开始和完成日期、已完成百分比，以及当前工作的剩余持续时间。</a:t>
            </a:r>
            <a:endParaRPr lang="en-US" altLang="zh-CN" sz="2000" dirty="0">
              <a:latin typeface="微软雅黑" panose="020B0503020204020204" pitchFamily="34" charset="-122"/>
              <a:ea typeface="微软雅黑" panose="020B0503020204020204" pitchFamily="34" charset="-122"/>
            </a:endParaRPr>
          </a:p>
          <a:p>
            <a:pPr marL="342900" indent="-342900">
              <a:spcAft>
                <a:spcPts val="1200"/>
              </a:spcAft>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趋势分析。</a:t>
            </a:r>
            <a:r>
              <a:rPr lang="zh-CN" altLang="en-US" sz="2000" b="0" i="0" u="none" strike="noStrike" baseline="0" dirty="0">
                <a:solidFill>
                  <a:srgbClr val="000000"/>
                </a:solidFill>
                <a:latin typeface="微软雅黑" panose="020B0503020204020204" pitchFamily="34" charset="-122"/>
                <a:ea typeface="微软雅黑" panose="020B0503020204020204" pitchFamily="34" charset="-122"/>
              </a:rPr>
              <a:t>检查项目绩效随时间的变化情况，以确定绩效是在改善还是在恶化。</a:t>
            </a:r>
            <a:endParaRPr lang="zh-CN" altLang="en-US" sz="2000" dirty="0">
              <a:latin typeface="微软雅黑" panose="020B0503020204020204" pitchFamily="34" charset="-122"/>
              <a:ea typeface="微软雅黑" panose="020B0503020204020204" pitchFamily="34" charset="-122"/>
            </a:endParaRPr>
          </a:p>
          <a:p>
            <a:pPr marL="342900" indent="-342900">
              <a:spcAft>
                <a:spcPts val="1200"/>
              </a:spcAft>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偏差分析。</a:t>
            </a:r>
            <a:r>
              <a:rPr lang="zh-CN" altLang="en-US" sz="2000" dirty="0">
                <a:solidFill>
                  <a:srgbClr val="000000"/>
                </a:solidFill>
                <a:latin typeface="微软雅黑" panose="020B0503020204020204" pitchFamily="34" charset="-122"/>
                <a:ea typeface="微软雅黑" panose="020B0503020204020204" pitchFamily="34" charset="-122"/>
              </a:rPr>
              <a:t>关注实际开始和完成日期与计划的偏离，实际持续时间与计划的差异，以及浮动时间的偏差。</a:t>
            </a:r>
            <a:endParaRPr lang="en-US" altLang="zh-CN" sz="2000" dirty="0">
              <a:solidFill>
                <a:srgbClr val="000000"/>
              </a:solidFill>
              <a:latin typeface="微软雅黑" panose="020B0503020204020204" pitchFamily="34" charset="-122"/>
              <a:ea typeface="微软雅黑" panose="020B0503020204020204" pitchFamily="34" charset="-122"/>
            </a:endParaRPr>
          </a:p>
          <a:p>
            <a:pPr marL="342900" indent="-342900">
              <a:spcAft>
                <a:spcPts val="1200"/>
              </a:spcAft>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假设情景分析。</a:t>
            </a:r>
            <a:r>
              <a:rPr lang="zh-CN" altLang="en-US" sz="2000" b="0" i="0" u="none" strike="noStrike" baseline="0" dirty="0">
                <a:solidFill>
                  <a:srgbClr val="000000"/>
                </a:solidFill>
                <a:latin typeface="微软雅黑" panose="020B0503020204020204" pitchFamily="34" charset="-122"/>
                <a:ea typeface="微软雅黑" panose="020B0503020204020204" pitchFamily="34" charset="-122"/>
              </a:rPr>
              <a:t>基于项目风险管理过程的输出，对各种不同的情景进行评估，促使进度模型符合项目管理计划和批准的基准。</a:t>
            </a:r>
            <a:endParaRPr lang="en-US" altLang="zh-CN" sz="2000" b="0" i="0" u="none" strike="noStrike" baseline="0" dirty="0">
              <a:solidFill>
                <a:srgbClr val="000000"/>
              </a:solidFill>
              <a:latin typeface="微软雅黑" panose="020B0503020204020204" pitchFamily="34" charset="-122"/>
              <a:ea typeface="微软雅黑" panose="020B0503020204020204" pitchFamily="34" charset="-122"/>
            </a:endParaRPr>
          </a:p>
          <a:p>
            <a:pPr>
              <a:spcAft>
                <a:spcPts val="1200"/>
              </a:spcAft>
            </a:pPr>
            <a:r>
              <a:rPr lang="en-US" altLang="zh-CN" sz="2000" b="1" dirty="0">
                <a:latin typeface="微软雅黑" panose="020B0503020204020204" pitchFamily="34" charset="-122"/>
                <a:ea typeface="微软雅黑" panose="020B0503020204020204" pitchFamily="34" charset="-122"/>
              </a:rPr>
              <a:t>2. </a:t>
            </a:r>
            <a:r>
              <a:rPr lang="zh-CN" altLang="en-US" sz="2000" b="1" dirty="0">
                <a:latin typeface="微软雅黑" panose="020B0503020204020204" pitchFamily="34" charset="-122"/>
                <a:ea typeface="微软雅黑" panose="020B0503020204020204" pitchFamily="34" charset="-122"/>
              </a:rPr>
              <a:t>关键路径法  </a:t>
            </a:r>
            <a:r>
              <a:rPr lang="zh-CN" altLang="en-US" sz="1800" b="0" i="0" u="none" strike="noStrike" baseline="0" dirty="0">
                <a:latin typeface="微软雅黑" panose="020B0503020204020204" pitchFamily="34" charset="-122"/>
                <a:ea typeface="微软雅黑" panose="020B0503020204020204" pitchFamily="34" charset="-122"/>
              </a:rPr>
              <a:t>检查关键路径的进展情况</a:t>
            </a:r>
            <a:endParaRPr lang="en-US" altLang="zh-CN" sz="2400" b="1" dirty="0">
              <a:latin typeface="微软雅黑" panose="020B0503020204020204" pitchFamily="34" charset="-122"/>
              <a:ea typeface="微软雅黑" panose="020B0503020204020204" pitchFamily="34" charset="-122"/>
            </a:endParaRPr>
          </a:p>
          <a:p>
            <a:pPr>
              <a:spcAft>
                <a:spcPts val="1200"/>
              </a:spcAft>
            </a:pPr>
            <a:r>
              <a:rPr lang="en-US" altLang="zh-CN" sz="2000" b="1" dirty="0">
                <a:latin typeface="微软雅黑" panose="020B0503020204020204" pitchFamily="34" charset="-122"/>
                <a:ea typeface="微软雅黑" panose="020B0503020204020204" pitchFamily="34" charset="-122"/>
              </a:rPr>
              <a:t>3. </a:t>
            </a:r>
            <a:r>
              <a:rPr lang="zh-CN" altLang="en-US" sz="2000" b="1" dirty="0">
                <a:latin typeface="微软雅黑" panose="020B0503020204020204" pitchFamily="34" charset="-122"/>
                <a:ea typeface="微软雅黑" panose="020B0503020204020204" pitchFamily="34" charset="-122"/>
              </a:rPr>
              <a:t>项目管理信息系统 </a:t>
            </a:r>
            <a:r>
              <a:rPr lang="en-US" altLang="zh-CN" sz="2000" b="1" dirty="0">
                <a:latin typeface="微软雅黑" panose="020B0503020204020204" pitchFamily="34" charset="-122"/>
                <a:ea typeface="微软雅黑" panose="020B0503020204020204" pitchFamily="34" charset="-122"/>
              </a:rPr>
              <a:t>(PMIS)</a:t>
            </a:r>
          </a:p>
          <a:p>
            <a:pPr>
              <a:spcAft>
                <a:spcPts val="1200"/>
              </a:spcAft>
            </a:pPr>
            <a:r>
              <a:rPr lang="en-US" altLang="zh-CN" sz="2000" b="1" dirty="0">
                <a:latin typeface="微软雅黑" panose="020B0503020204020204" pitchFamily="34" charset="-122"/>
                <a:ea typeface="微软雅黑" panose="020B0503020204020204" pitchFamily="34" charset="-122"/>
              </a:rPr>
              <a:t>4. </a:t>
            </a:r>
            <a:r>
              <a:rPr lang="zh-CN" altLang="en-US" sz="2000" b="1" dirty="0">
                <a:latin typeface="微软雅黑" panose="020B0503020204020204" pitchFamily="34" charset="-122"/>
                <a:ea typeface="微软雅黑" panose="020B0503020204020204" pitchFamily="34" charset="-122"/>
              </a:rPr>
              <a:t>资源优化</a:t>
            </a:r>
            <a:endParaRPr lang="en-US" altLang="zh-CN" sz="2000" b="1" dirty="0">
              <a:latin typeface="微软雅黑" panose="020B0503020204020204" pitchFamily="34" charset="-122"/>
              <a:ea typeface="微软雅黑" panose="020B0503020204020204" pitchFamily="34" charset="-122"/>
            </a:endParaRPr>
          </a:p>
          <a:p>
            <a:pPr>
              <a:spcAft>
                <a:spcPts val="1200"/>
              </a:spcAft>
            </a:pPr>
            <a:r>
              <a:rPr lang="en-US" altLang="zh-CN" sz="2000" b="1" dirty="0">
                <a:latin typeface="微软雅黑" panose="020B0503020204020204" pitchFamily="34" charset="-122"/>
                <a:ea typeface="微软雅黑" panose="020B0503020204020204" pitchFamily="34" charset="-122"/>
              </a:rPr>
              <a:t>5. </a:t>
            </a:r>
            <a:r>
              <a:rPr lang="zh-CN" altLang="en-US" sz="2000" b="1" dirty="0">
                <a:latin typeface="微软雅黑" panose="020B0503020204020204" pitchFamily="34" charset="-122"/>
                <a:ea typeface="微软雅黑" panose="020B0503020204020204" pitchFamily="34" charset="-122"/>
              </a:rPr>
              <a:t>提前量和滞后量</a:t>
            </a:r>
            <a:endParaRPr lang="en-US" altLang="zh-CN" sz="2000" b="1" dirty="0">
              <a:latin typeface="微软雅黑" panose="020B0503020204020204" pitchFamily="34" charset="-122"/>
              <a:ea typeface="微软雅黑" panose="020B0503020204020204" pitchFamily="34" charset="-122"/>
            </a:endParaRPr>
          </a:p>
          <a:p>
            <a:pPr>
              <a:spcAft>
                <a:spcPts val="1200"/>
              </a:spcAft>
            </a:pPr>
            <a:r>
              <a:rPr lang="en-US" altLang="zh-CN" sz="2000" b="1" dirty="0">
                <a:latin typeface="微软雅黑" panose="020B0503020204020204" pitchFamily="34" charset="-122"/>
                <a:ea typeface="微软雅黑" panose="020B0503020204020204" pitchFamily="34" charset="-122"/>
              </a:rPr>
              <a:t>6. </a:t>
            </a:r>
            <a:r>
              <a:rPr lang="zh-CN" altLang="en-US" sz="2000" b="1" dirty="0">
                <a:latin typeface="微软雅黑" panose="020B0503020204020204" pitchFamily="34" charset="-122"/>
                <a:ea typeface="微软雅黑" panose="020B0503020204020204" pitchFamily="34" charset="-122"/>
              </a:rPr>
              <a:t>进度压缩</a:t>
            </a:r>
          </a:p>
        </p:txBody>
      </p:sp>
    </p:spTree>
    <p:extLst>
      <p:ext uri="{BB962C8B-B14F-4D97-AF65-F5344CB8AC3E}">
        <p14:creationId xmlns:p14="http://schemas.microsoft.com/office/powerpoint/2010/main" val="251461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4F9163-4E5B-41A8-A5F0-9EEE7756B16D}"/>
              </a:ext>
            </a:extLst>
          </p:cNvPr>
          <p:cNvSpPr>
            <a:spLocks noGrp="1"/>
          </p:cNvSpPr>
          <p:nvPr>
            <p:ph type="title"/>
          </p:nvPr>
        </p:nvSpPr>
        <p:spPr/>
        <p:txBody>
          <a:bodyPr/>
          <a:lstStyle/>
          <a:p>
            <a:r>
              <a:rPr lang="en-US" altLang="zh-CN" dirty="0"/>
              <a:t>12.7 </a:t>
            </a:r>
            <a:r>
              <a:rPr lang="zh-CN" altLang="en-US" dirty="0"/>
              <a:t>控制进度</a:t>
            </a:r>
          </a:p>
        </p:txBody>
      </p:sp>
      <p:sp>
        <p:nvSpPr>
          <p:cNvPr id="3" name="矩形 2">
            <a:extLst>
              <a:ext uri="{FF2B5EF4-FFF2-40B4-BE49-F238E27FC236}">
                <a16:creationId xmlns:a16="http://schemas.microsoft.com/office/drawing/2014/main" id="{89CDED71-919D-4156-9F66-4B940AA67228}"/>
              </a:ext>
            </a:extLst>
          </p:cNvPr>
          <p:cNvSpPr/>
          <p:nvPr/>
        </p:nvSpPr>
        <p:spPr>
          <a:xfrm>
            <a:off x="626791" y="1257769"/>
            <a:ext cx="10972800" cy="5109091"/>
          </a:xfrm>
          <a:prstGeom prst="rect">
            <a:avLst/>
          </a:prstGeom>
        </p:spPr>
        <p:txBody>
          <a:bodyPr wrap="square">
            <a:spAutoFit/>
          </a:bodyPr>
          <a:lstStyle/>
          <a:p>
            <a:pPr>
              <a:spcAft>
                <a:spcPts val="1200"/>
              </a:spcAft>
            </a:pPr>
            <a:r>
              <a:rPr lang="zh-CN" altLang="en-US" sz="2400" b="1" dirty="0">
                <a:latin typeface="微软雅黑" panose="020B0503020204020204" pitchFamily="34" charset="-122"/>
                <a:ea typeface="微软雅黑" panose="020B0503020204020204" pitchFamily="34" charset="-122"/>
              </a:rPr>
              <a:t>控制进度的输出：</a:t>
            </a:r>
            <a:endParaRPr lang="en-US" altLang="zh-CN" sz="2400" b="1" dirty="0">
              <a:latin typeface="微软雅黑" panose="020B0503020204020204" pitchFamily="34" charset="-122"/>
              <a:ea typeface="微软雅黑" panose="020B0503020204020204" pitchFamily="34" charset="-122"/>
            </a:endParaRPr>
          </a:p>
          <a:p>
            <a:pPr marL="342900" indent="-342900">
              <a:spcAft>
                <a:spcPts val="1200"/>
              </a:spcAft>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工作绩效信息  </a:t>
            </a:r>
            <a:r>
              <a:rPr lang="zh-CN" altLang="en-US" sz="2000" dirty="0">
                <a:latin typeface="微软雅黑" panose="020B0503020204020204" pitchFamily="34" charset="-122"/>
                <a:ea typeface="微软雅黑" panose="020B0503020204020204" pitchFamily="34" charset="-122"/>
              </a:rPr>
              <a:t>包括与进度基准相比较的项目工作执行情况</a:t>
            </a:r>
            <a:endParaRPr lang="en-US" altLang="zh-CN" sz="2000" dirty="0">
              <a:latin typeface="微软雅黑" panose="020B0503020204020204" pitchFamily="34" charset="-122"/>
              <a:ea typeface="微软雅黑" panose="020B0503020204020204" pitchFamily="34" charset="-122"/>
            </a:endParaRPr>
          </a:p>
          <a:p>
            <a:pPr marL="342900" indent="-342900" algn="l">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进度预测 </a:t>
            </a:r>
            <a:r>
              <a:rPr lang="zh-CN" altLang="en-US" sz="2000" b="0" i="0" u="none" strike="noStrike" baseline="0" dirty="0">
                <a:latin typeface="微软雅黑" panose="020B0503020204020204" pitchFamily="34" charset="-122"/>
                <a:ea typeface="微软雅黑" panose="020B0503020204020204" pitchFamily="34" charset="-122"/>
              </a:rPr>
              <a:t>进度更新即进度预测，指根据已有的信息和知识，对项目未来的情况和事件进行的估算或预计。</a:t>
            </a:r>
            <a:endParaRPr lang="en-US" altLang="zh-CN" sz="2000" b="1" dirty="0">
              <a:latin typeface="微软雅黑" panose="020B0503020204020204" pitchFamily="34" charset="-122"/>
              <a:ea typeface="微软雅黑" panose="020B0503020204020204" pitchFamily="34" charset="-122"/>
            </a:endParaRPr>
          </a:p>
          <a:p>
            <a:pPr marL="342900" indent="-342900">
              <a:spcAft>
                <a:spcPts val="1200"/>
              </a:spcAft>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变更请求。</a:t>
            </a:r>
            <a:r>
              <a:rPr lang="zh-CN" altLang="en-US" sz="2000" b="0" i="0" u="none" strike="noStrike" baseline="0" dirty="0">
                <a:latin typeface="微软雅黑" panose="020B0503020204020204" pitchFamily="34" charset="-122"/>
                <a:ea typeface="微软雅黑" panose="020B0503020204020204" pitchFamily="34" charset="-122"/>
              </a:rPr>
              <a:t>可能会对进度基准、范围基准和</a:t>
            </a:r>
            <a:r>
              <a:rPr lang="en-US" altLang="zh-CN" sz="2000" b="0" i="0" u="none" strike="noStrike" baseline="0" dirty="0">
                <a:latin typeface="微软雅黑" panose="020B0503020204020204" pitchFamily="34" charset="-122"/>
                <a:ea typeface="微软雅黑" panose="020B0503020204020204" pitchFamily="34" charset="-122"/>
              </a:rPr>
              <a:t>/</a:t>
            </a:r>
            <a:r>
              <a:rPr lang="zh-CN" altLang="en-US" sz="2000" b="0" i="0" u="none" strike="noStrike" baseline="0" dirty="0">
                <a:latin typeface="微软雅黑" panose="020B0503020204020204" pitchFamily="34" charset="-122"/>
                <a:ea typeface="微软雅黑" panose="020B0503020204020204" pitchFamily="34" charset="-122"/>
              </a:rPr>
              <a:t>或项目管理计划的其他组成部分提出变更请求</a:t>
            </a:r>
            <a:endParaRPr lang="en-US" altLang="zh-CN" sz="2000" b="0" i="0" u="none" strike="noStrike" baseline="0" dirty="0">
              <a:latin typeface="微软雅黑" panose="020B0503020204020204" pitchFamily="34" charset="-122"/>
              <a:ea typeface="微软雅黑" panose="020B0503020204020204" pitchFamily="34" charset="-122"/>
            </a:endParaRPr>
          </a:p>
          <a:p>
            <a:pPr marL="342900" indent="-342900" algn="l">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项目管理计划更新。</a:t>
            </a:r>
            <a:r>
              <a:rPr lang="zh-CN" altLang="en-US" sz="2000" b="0" i="0" u="none" strike="noStrike" baseline="0" dirty="0">
                <a:latin typeface="微软雅黑" panose="020B0503020204020204" pitchFamily="34" charset="-122"/>
                <a:ea typeface="微软雅黑" panose="020B0503020204020204" pitchFamily="34" charset="-122"/>
              </a:rPr>
              <a:t>以变更请求的形式提出，且通过组织的变更控制过程进行处理。</a:t>
            </a:r>
            <a:endParaRPr lang="en-US" altLang="zh-CN" sz="2000" b="0" i="0" u="none" strike="noStrike" baseline="0" dirty="0">
              <a:latin typeface="微软雅黑" panose="020B0503020204020204" pitchFamily="34" charset="-122"/>
              <a:ea typeface="微软雅黑" panose="020B0503020204020204" pitchFamily="34" charset="-122"/>
            </a:endParaRPr>
          </a:p>
          <a:p>
            <a:pPr lvl="1"/>
            <a:r>
              <a:rPr lang="zh-CN" altLang="en-US" sz="2000" b="1" i="0" u="none" strike="noStrike" baseline="0" dirty="0">
                <a:latin typeface="微软雅黑" panose="020B0503020204020204" pitchFamily="34" charset="-122"/>
                <a:ea typeface="微软雅黑" panose="020B0503020204020204" pitchFamily="34" charset="-122"/>
              </a:rPr>
              <a:t>进度管理计划</a:t>
            </a:r>
            <a:endParaRPr lang="en-US" altLang="zh-CN" sz="2000" b="1" i="0" u="none" strike="noStrike" baseline="0" dirty="0">
              <a:latin typeface="微软雅黑" panose="020B0503020204020204" pitchFamily="34" charset="-122"/>
              <a:ea typeface="微软雅黑" panose="020B0503020204020204" pitchFamily="34" charset="-122"/>
            </a:endParaRPr>
          </a:p>
          <a:p>
            <a:pPr lvl="1"/>
            <a:r>
              <a:rPr lang="zh-CN" altLang="en-US" sz="2000" b="1" i="0" u="none" strike="noStrike" baseline="0" dirty="0">
                <a:latin typeface="微软雅黑" panose="020B0503020204020204" pitchFamily="34" charset="-122"/>
                <a:ea typeface="微软雅黑" panose="020B0503020204020204" pitchFamily="34" charset="-122"/>
              </a:rPr>
              <a:t>进度基准</a:t>
            </a:r>
            <a:endParaRPr lang="en-US" altLang="zh-CN" sz="2000" b="1" i="0" u="none" strike="noStrike" baseline="0" dirty="0">
              <a:latin typeface="微软雅黑" panose="020B0503020204020204" pitchFamily="34" charset="-122"/>
              <a:ea typeface="微软雅黑" panose="020B0503020204020204" pitchFamily="34" charset="-122"/>
            </a:endParaRPr>
          </a:p>
          <a:p>
            <a:pPr lvl="1"/>
            <a:r>
              <a:rPr lang="zh-CN" altLang="en-US" sz="2000" b="1" i="0" u="none" strike="noStrike" baseline="0" dirty="0">
                <a:latin typeface="微软雅黑" panose="020B0503020204020204" pitchFamily="34" charset="-122"/>
                <a:ea typeface="微软雅黑" panose="020B0503020204020204" pitchFamily="34" charset="-122"/>
              </a:rPr>
              <a:t>成本基准</a:t>
            </a:r>
            <a:endParaRPr lang="en-US" altLang="zh-CN" sz="2000" b="1" i="0" u="none" strike="noStrike" baseline="0" dirty="0">
              <a:latin typeface="微软雅黑" panose="020B0503020204020204" pitchFamily="34" charset="-122"/>
              <a:ea typeface="微软雅黑" panose="020B0503020204020204" pitchFamily="34" charset="-122"/>
            </a:endParaRPr>
          </a:p>
          <a:p>
            <a:pPr lvl="1"/>
            <a:r>
              <a:rPr lang="zh-CN" altLang="en-US" sz="2000" b="1" i="0" u="none" strike="noStrike" baseline="0" dirty="0">
                <a:latin typeface="微软雅黑" panose="020B0503020204020204" pitchFamily="34" charset="-122"/>
                <a:ea typeface="微软雅黑" panose="020B0503020204020204" pitchFamily="34" charset="-122"/>
              </a:rPr>
              <a:t>绩效测量基准</a:t>
            </a:r>
            <a:endParaRPr lang="en-US" altLang="zh-CN" sz="2000" b="1" i="0" u="none" strike="noStrike" baseline="0" dirty="0">
              <a:latin typeface="微软雅黑" panose="020B0503020204020204" pitchFamily="34" charset="-122"/>
              <a:ea typeface="微软雅黑" panose="020B0503020204020204" pitchFamily="34" charset="-122"/>
            </a:endParaRPr>
          </a:p>
          <a:p>
            <a:pPr marL="342900" indent="-342900" algn="l">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项目文件更新</a:t>
            </a:r>
            <a:endParaRPr lang="en-US" altLang="zh-CN" sz="2000" b="1" dirty="0">
              <a:latin typeface="微软雅黑" panose="020B0503020204020204" pitchFamily="34" charset="-122"/>
              <a:ea typeface="微软雅黑" panose="020B0503020204020204" pitchFamily="34" charset="-122"/>
            </a:endParaRPr>
          </a:p>
          <a:p>
            <a:pPr algn="just"/>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假设日志</a:t>
            </a: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估算依据</a:t>
            </a:r>
            <a:r>
              <a:rPr lang="en-US" altLang="zh-CN" sz="1800" dirty="0">
                <a:latin typeface="微软雅黑" panose="020B0503020204020204" pitchFamily="34" charset="-122"/>
                <a:ea typeface="微软雅黑" panose="020B0503020204020204" pitchFamily="34" charset="-122"/>
              </a:rPr>
              <a:t>		</a:t>
            </a:r>
          </a:p>
          <a:p>
            <a:pPr algn="just"/>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经验教训登记册</a:t>
            </a: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项目进度计划</a:t>
            </a:r>
            <a:endParaRPr lang="en-US" altLang="zh-CN" sz="1800" dirty="0">
              <a:latin typeface="微软雅黑" panose="020B0503020204020204" pitchFamily="34" charset="-122"/>
              <a:ea typeface="微软雅黑" panose="020B0503020204020204" pitchFamily="34" charset="-122"/>
            </a:endParaRPr>
          </a:p>
          <a:p>
            <a:pPr algn="just"/>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资源日历</a:t>
            </a: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风险登记册</a:t>
            </a:r>
          </a:p>
          <a:p>
            <a:pPr algn="just"/>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进度数据</a:t>
            </a:r>
            <a:endParaRPr lang="zh-CN" altLang="en-US" sz="20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63159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9D9A18-0A95-4656-B7D2-43E4EA6C78AC}"/>
              </a:ext>
            </a:extLst>
          </p:cNvPr>
          <p:cNvSpPr>
            <a:spLocks noGrp="1"/>
          </p:cNvSpPr>
          <p:nvPr>
            <p:ph type="title"/>
          </p:nvPr>
        </p:nvSpPr>
        <p:spPr/>
        <p:txBody>
          <a:bodyPr/>
          <a:lstStyle/>
          <a:p>
            <a:r>
              <a:rPr lang="en-US" altLang="zh-CN" dirty="0"/>
              <a:t>12.7 </a:t>
            </a:r>
            <a:r>
              <a:rPr lang="zh-CN" altLang="en-US" dirty="0"/>
              <a:t>控制进度</a:t>
            </a:r>
          </a:p>
        </p:txBody>
      </p:sp>
      <p:sp>
        <p:nvSpPr>
          <p:cNvPr id="4" name="文本框 3">
            <a:extLst>
              <a:ext uri="{FF2B5EF4-FFF2-40B4-BE49-F238E27FC236}">
                <a16:creationId xmlns:a16="http://schemas.microsoft.com/office/drawing/2014/main" id="{A4E84031-9670-4DBD-BF6F-6B211C5C2140}"/>
              </a:ext>
            </a:extLst>
          </p:cNvPr>
          <p:cNvSpPr txBox="1"/>
          <p:nvPr/>
        </p:nvSpPr>
        <p:spPr>
          <a:xfrm>
            <a:off x="613885" y="1702112"/>
            <a:ext cx="10972800" cy="4708981"/>
          </a:xfrm>
          <a:prstGeom prst="rect">
            <a:avLst/>
          </a:prstGeom>
          <a:noFill/>
        </p:spPr>
        <p:txBody>
          <a:bodyPr wrap="square">
            <a:spAutoFit/>
          </a:bodyPr>
          <a:lstStyle/>
          <a:p>
            <a:pPr algn="just"/>
            <a:r>
              <a:rPr lang="zh-CN" altLang="en-US" sz="2000" dirty="0">
                <a:latin typeface="微软雅黑" panose="020B0503020204020204" pitchFamily="34" charset="-122"/>
                <a:ea typeface="微软雅黑" panose="020B0503020204020204" pitchFamily="34" charset="-122"/>
              </a:rPr>
              <a:t>   现在是</a:t>
            </a:r>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月</a:t>
            </a:r>
            <a:r>
              <a:rPr lang="en-US" altLang="zh-CN" sz="2000" dirty="0">
                <a:latin typeface="微软雅黑" panose="020B0503020204020204" pitchFamily="34" charset="-122"/>
                <a:ea typeface="微软雅黑" panose="020B0503020204020204" pitchFamily="34" charset="-122"/>
              </a:rPr>
              <a:t>15</a:t>
            </a:r>
            <a:r>
              <a:rPr lang="zh-CN" altLang="en-US" sz="2000" dirty="0">
                <a:latin typeface="微软雅黑" panose="020B0503020204020204" pitchFamily="34" charset="-122"/>
                <a:ea typeface="微软雅黑" panose="020B0503020204020204" pitchFamily="34" charset="-122"/>
              </a:rPr>
              <a:t>日，离新的在线注册系统项目的完工刚好还有一个半月的时间。整个项目乱成了一锅粥。</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苏</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约翰逊自认为她能够解决项目中出现的所有矛盾，并且她过于自负，没有向项目高层领导或学院院长汇报项目中出现的问题。她花费了大量时间来制定该项目的详细进度。她自认为能够熟练使用项目管理软件来管好该项目的进度。</a:t>
            </a:r>
            <a:endParaRPr lang="en-US" altLang="zh-CN" sz="2000" dirty="0">
              <a:latin typeface="微软雅黑" panose="020B0503020204020204" pitchFamily="34" charset="-122"/>
              <a:ea typeface="微软雅黑" panose="020B0503020204020204" pitchFamily="34" charset="-122"/>
            </a:endParaRPr>
          </a:p>
          <a:p>
            <a:pPr algn="just"/>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然而，该项目的</a:t>
            </a:r>
            <a:r>
              <a:rPr lang="en-US" altLang="zh-CN" sz="2000" dirty="0">
                <a:latin typeface="微软雅黑" panose="020B0503020204020204" pitchFamily="34" charset="-122"/>
                <a:ea typeface="微软雅黑" panose="020B0503020204020204" pitchFamily="34" charset="-122"/>
              </a:rPr>
              <a:t>5</a:t>
            </a:r>
            <a:r>
              <a:rPr lang="zh-CN" altLang="en-US" sz="2000" dirty="0">
                <a:latin typeface="微软雅黑" panose="020B0503020204020204" pitchFamily="34" charset="-122"/>
                <a:ea typeface="微软雅黑" panose="020B0503020204020204" pitchFamily="34" charset="-122"/>
              </a:rPr>
              <a:t>位主要程序员都利用一种方法自动更新他们每周的任务，并且声称一切活动都在按原计划进行。他们很少关注实际的计划，也不愿填写项目状况信息。苏没有核查他们所做的大部分工作，所以不能确定工作是否真的已经完成。另外，注册办公室主任对该系统并不感兴趣，并把与该项目有关的签署权交给了他下属的一名职员，而该职员并不真正了解整个注册流程。当苏和她的团队开始测试新系统时，她发现他们使用的还是去年的课程数据，而使用去年的课程数据会引发新的问题，因为新学期学院将不再使用</a:t>
            </a:r>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个月的学期制，而是改为</a:t>
            </a:r>
            <a:r>
              <a:rPr lang="en-US" altLang="zh-CN" sz="2000" dirty="0">
                <a:latin typeface="微软雅黑" panose="020B0503020204020204" pitchFamily="34" charset="-122"/>
                <a:ea typeface="微软雅黑" panose="020B0503020204020204" pitchFamily="34" charset="-122"/>
              </a:rPr>
              <a:t>6</a:t>
            </a:r>
            <a:r>
              <a:rPr lang="zh-CN" altLang="en-US" sz="2000" dirty="0">
                <a:latin typeface="微软雅黑" panose="020B0503020204020204" pitchFamily="34" charset="-122"/>
                <a:ea typeface="微软雅黑" panose="020B0503020204020204" pitchFamily="34" charset="-122"/>
              </a:rPr>
              <a:t>个月的学期制。他们怎么能够无视这一要求呢？当苏和她的经理们一起走进会场时面带愧疚，最终她向她的经理求助了。</a:t>
            </a:r>
            <a:endParaRPr lang="en-US" altLang="zh-CN" sz="2000" dirty="0">
              <a:latin typeface="微软雅黑" panose="020B0503020204020204" pitchFamily="34" charset="-122"/>
              <a:ea typeface="微软雅黑" panose="020B0503020204020204" pitchFamily="34" charset="-122"/>
            </a:endParaRPr>
          </a:p>
          <a:p>
            <a:pPr algn="just"/>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苏明白了要想使项目按进度开展是多么困难！她希望能够多花一点时间和项目的关键利益相关者面对面地交谈，尤其和她的程序员及注册办公室代表，进而核查项目是否能按原进度开展，以及进度是否能准确地得到更新。</a:t>
            </a:r>
          </a:p>
        </p:txBody>
      </p:sp>
      <p:sp>
        <p:nvSpPr>
          <p:cNvPr id="6" name="文本框 5">
            <a:extLst>
              <a:ext uri="{FF2B5EF4-FFF2-40B4-BE49-F238E27FC236}">
                <a16:creationId xmlns:a16="http://schemas.microsoft.com/office/drawing/2014/main" id="{0E6BAC68-91AF-4CC5-B0CD-A0B788757A2F}"/>
              </a:ext>
            </a:extLst>
          </p:cNvPr>
          <p:cNvSpPr txBox="1"/>
          <p:nvPr/>
        </p:nvSpPr>
        <p:spPr>
          <a:xfrm>
            <a:off x="613885" y="1240447"/>
            <a:ext cx="609600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案例结局：</a:t>
            </a:r>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677425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C3AE267F-8215-4A91-AD02-2DCE040B5BDD}"/>
              </a:ext>
            </a:extLst>
          </p:cNvPr>
          <p:cNvSpPr>
            <a:spLocks noGrp="1"/>
          </p:cNvSpPr>
          <p:nvPr>
            <p:ph type="title"/>
          </p:nvPr>
        </p:nvSpPr>
        <p:spPr>
          <a:xfrm>
            <a:off x="613885" y="764293"/>
            <a:ext cx="10972800" cy="437186"/>
          </a:xfrm>
        </p:spPr>
        <p:txBody>
          <a:bodyPr/>
          <a:lstStyle/>
          <a:p>
            <a:r>
              <a:rPr lang="zh-CN" altLang="en-US" dirty="0"/>
              <a:t>扩展阅读</a:t>
            </a:r>
          </a:p>
        </p:txBody>
      </p:sp>
      <p:sp>
        <p:nvSpPr>
          <p:cNvPr id="4" name="内容占位符 2">
            <a:extLst>
              <a:ext uri="{FF2B5EF4-FFF2-40B4-BE49-F238E27FC236}">
                <a16:creationId xmlns:a16="http://schemas.microsoft.com/office/drawing/2014/main" id="{E2E83417-C831-4E5A-8164-51A8EF6C654D}"/>
              </a:ext>
            </a:extLst>
          </p:cNvPr>
          <p:cNvSpPr txBox="1">
            <a:spLocks/>
          </p:cNvSpPr>
          <p:nvPr/>
        </p:nvSpPr>
        <p:spPr>
          <a:xfrm>
            <a:off x="962480" y="1424398"/>
            <a:ext cx="10467520" cy="4384963"/>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“双输”之路的困局</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Font typeface="Wingdings" pitchFamily="2" charset="2"/>
              <a:buNone/>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hlinkClick r:id="" action="ppaction://noaction"/>
              </a:rPr>
              <a:t>http://www.mypm.net/case/show_case_content.asp?caseID=3520</a:t>
            </a:r>
          </a:p>
          <a:p>
            <a:pPr marL="0" indent="0"/>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9.11”</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为包装行业所带来的困惑</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Font typeface="Wingdings" pitchFamily="2" charset="2"/>
              <a:buNone/>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hlinkClick r:id="" action="ppaction://noaction"/>
              </a:rPr>
              <a:t>http://www.mypm.net/case/show_case_content.asp?caseID=2618</a:t>
            </a:r>
          </a:p>
          <a:p>
            <a:pPr marL="0" indent="0"/>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WBS</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与设计进度管理间的矛盾</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Font typeface="Wingdings" pitchFamily="2" charset="2"/>
              <a:buNone/>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hlinkClick r:id="" action="ppaction://noaction"/>
              </a:rPr>
              <a:t>http://www.mypm.net/case/show_case_content.asp?caseID=2610</a:t>
            </a:r>
          </a:p>
          <a:p>
            <a:pPr marL="0" indent="0"/>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项目组经常拖延进度的问题</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Font typeface="Wingdings" pitchFamily="2" charset="2"/>
              <a:buNone/>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hlinkClick r:id="" action="ppaction://noaction"/>
              </a:rPr>
              <a:t>http://www.mypm.net/case/show_case_content.asp?caseID=1796</a:t>
            </a:r>
          </a:p>
          <a:p>
            <a:pPr marL="0" indent="0"/>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不能保证按时完成？</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0" indent="0">
              <a:buFont typeface="Wingdings" pitchFamily="2" charset="2"/>
              <a:buNone/>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hlinkClick r:id="" action="ppaction://noaction"/>
              </a:rPr>
              <a:t>http://www.mypm.net/case/show_case_content.asp?caseID=75</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hlinkClick r:id="" action="ppaction://noaction"/>
            </a:endParaRPr>
          </a:p>
        </p:txBody>
      </p:sp>
    </p:spTree>
    <p:extLst>
      <p:ext uri="{BB962C8B-B14F-4D97-AF65-F5344CB8AC3E}">
        <p14:creationId xmlns:p14="http://schemas.microsoft.com/office/powerpoint/2010/main" val="4027404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13">
            <a:extLst>
              <a:ext uri="{FF2B5EF4-FFF2-40B4-BE49-F238E27FC236}">
                <a16:creationId xmlns:a16="http://schemas.microsoft.com/office/drawing/2014/main" id="{B3748B09-7F9B-49A0-97A2-021A4D5EFA50}"/>
              </a:ext>
            </a:extLst>
          </p:cNvPr>
          <p:cNvSpPr>
            <a:spLocks noChangeArrowheads="1"/>
          </p:cNvSpPr>
          <p:nvPr/>
        </p:nvSpPr>
        <p:spPr bwMode="auto">
          <a:xfrm>
            <a:off x="1732547" y="2405112"/>
            <a:ext cx="2643163" cy="1284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4000" b="1" dirty="0">
                <a:latin typeface="方正兰亭粗黑_GBK" charset="-122"/>
                <a:ea typeface="微软雅黑" pitchFamily="34" charset="-122"/>
              </a:rPr>
              <a:t>第</a:t>
            </a:r>
            <a:r>
              <a:rPr lang="en-US" altLang="zh-CN" sz="4000" b="1" dirty="0">
                <a:latin typeface="方正兰亭粗黑_GBK" charset="-122"/>
                <a:ea typeface="微软雅黑" pitchFamily="34" charset="-122"/>
              </a:rPr>
              <a:t>11</a:t>
            </a:r>
            <a:r>
              <a:rPr lang="zh-CN" altLang="en-US" sz="4000" b="1" dirty="0">
                <a:latin typeface="方正兰亭粗黑_GBK" charset="-122"/>
                <a:ea typeface="微软雅黑" pitchFamily="34" charset="-122"/>
              </a:rPr>
              <a:t>次课</a:t>
            </a:r>
            <a:r>
              <a:rPr lang="zh-CN" altLang="en-US" sz="3750" b="1" dirty="0">
                <a:latin typeface="方正兰亭粗黑_GBK" charset="-122"/>
                <a:ea typeface="微软雅黑" panose="020B0503020204020204" pitchFamily="34" charset="-122"/>
              </a:rPr>
              <a:t>讲目录</a:t>
            </a:r>
          </a:p>
        </p:txBody>
      </p:sp>
      <p:sp>
        <p:nvSpPr>
          <p:cNvPr id="4" name="内容占位符 2">
            <a:extLst>
              <a:ext uri="{FF2B5EF4-FFF2-40B4-BE49-F238E27FC236}">
                <a16:creationId xmlns:a16="http://schemas.microsoft.com/office/drawing/2014/main" id="{DFC159EA-3C39-4D8E-8805-0D437E2547B4}"/>
              </a:ext>
            </a:extLst>
          </p:cNvPr>
          <p:cNvSpPr txBox="1">
            <a:spLocks/>
          </p:cNvSpPr>
          <p:nvPr/>
        </p:nvSpPr>
        <p:spPr>
          <a:xfrm>
            <a:off x="6400434" y="1503486"/>
            <a:ext cx="4175324" cy="3723607"/>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tLang="zh-CN" sz="2400" dirty="0">
                <a:latin typeface="Impact" pitchFamily="34" charset="0"/>
                <a:ea typeface="微软雅黑" pitchFamily="34" charset="-122"/>
                <a:sym typeface="Impact" pitchFamily="34" charset="0"/>
              </a:rPr>
              <a:t>12</a:t>
            </a:r>
            <a:r>
              <a:rPr lang="zh-CN" altLang="zh-CN" sz="2400" dirty="0">
                <a:latin typeface="Impact" pitchFamily="34" charset="0"/>
                <a:ea typeface="微软雅黑" pitchFamily="34" charset="-122"/>
                <a:sym typeface="Impact" pitchFamily="34" charset="0"/>
              </a:rPr>
              <a:t>    </a:t>
            </a:r>
            <a:r>
              <a:rPr lang="zh-CN" altLang="en-US" sz="2400" dirty="0">
                <a:latin typeface="Impact" pitchFamily="34" charset="0"/>
                <a:ea typeface="微软雅黑" pitchFamily="34" charset="-122"/>
                <a:sym typeface="Impact" pitchFamily="34" charset="0"/>
              </a:rPr>
              <a:t>项目进度（时间）管理</a:t>
            </a:r>
            <a:endParaRPr lang="en-US" altLang="zh-CN" sz="2400" dirty="0">
              <a:latin typeface="Impact" panose="020B0806030902050204" pitchFamily="34" charset="0"/>
              <a:sym typeface="Impact" panose="020B0806030902050204" pitchFamily="34" charset="0"/>
            </a:endParaRPr>
          </a:p>
          <a:p>
            <a:pPr marL="0" indent="0">
              <a:buNone/>
            </a:pPr>
            <a:r>
              <a:rPr lang="en-US" altLang="zh-CN" sz="2400" dirty="0">
                <a:solidFill>
                  <a:srgbClr val="00B0F0"/>
                </a:solidFill>
                <a:latin typeface="Impact" panose="020B0806030902050204" pitchFamily="34" charset="0"/>
                <a:sym typeface="Impact" panose="020B0806030902050204" pitchFamily="34" charset="0"/>
              </a:rPr>
              <a:t>13   </a:t>
            </a:r>
            <a:r>
              <a:rPr lang="zh-CN" altLang="en-US" sz="2400" dirty="0">
                <a:solidFill>
                  <a:srgbClr val="00B0F0"/>
                </a:solidFill>
                <a:latin typeface="Impact" panose="020B0806030902050204" pitchFamily="34" charset="0"/>
              </a:rPr>
              <a:t>成本管理</a:t>
            </a:r>
            <a:endParaRPr lang="en-US" altLang="zh-CN" sz="2400" dirty="0">
              <a:solidFill>
                <a:srgbClr val="00B0F0"/>
              </a:solidFill>
              <a:latin typeface="Impact" panose="020B0806030902050204" pitchFamily="34" charset="0"/>
            </a:endParaRPr>
          </a:p>
          <a:p>
            <a:pPr marL="457200" lvl="1" indent="0">
              <a:buNone/>
            </a:pPr>
            <a:r>
              <a:rPr lang="zh-CN" altLang="en-US" sz="2000" dirty="0">
                <a:solidFill>
                  <a:srgbClr val="00B0F0"/>
                </a:solidFill>
              </a:rPr>
              <a:t>开篇案例</a:t>
            </a:r>
          </a:p>
          <a:p>
            <a:pPr marL="457200" lvl="1" indent="0">
              <a:buNone/>
            </a:pPr>
            <a:r>
              <a:rPr lang="en-US" altLang="zh-CN" sz="2000" dirty="0">
                <a:solidFill>
                  <a:srgbClr val="00B0F0"/>
                </a:solidFill>
              </a:rPr>
              <a:t>13.1 </a:t>
            </a:r>
            <a:r>
              <a:rPr lang="zh-CN" altLang="en-US" sz="2000" dirty="0">
                <a:solidFill>
                  <a:srgbClr val="00B0F0"/>
                </a:solidFill>
              </a:rPr>
              <a:t>成本及成本管理</a:t>
            </a:r>
            <a:endParaRPr lang="en-US" altLang="zh-CN" sz="2000" dirty="0">
              <a:solidFill>
                <a:srgbClr val="00B0F0"/>
              </a:solidFill>
            </a:endParaRPr>
          </a:p>
          <a:p>
            <a:pPr marL="457200" lvl="1" indent="0">
              <a:buNone/>
            </a:pPr>
            <a:r>
              <a:rPr lang="en-US" altLang="zh-CN" sz="2000" dirty="0">
                <a:solidFill>
                  <a:srgbClr val="00B0F0"/>
                </a:solidFill>
              </a:rPr>
              <a:t>13.2 </a:t>
            </a:r>
            <a:r>
              <a:rPr lang="zh-CN" altLang="en-US" sz="2000" dirty="0">
                <a:solidFill>
                  <a:srgbClr val="00B0F0"/>
                </a:solidFill>
              </a:rPr>
              <a:t>规划成本管理</a:t>
            </a:r>
            <a:endParaRPr lang="en-US" altLang="zh-CN" sz="2000" dirty="0">
              <a:solidFill>
                <a:srgbClr val="00B0F0"/>
              </a:solidFill>
            </a:endParaRPr>
          </a:p>
          <a:p>
            <a:pPr marL="457200" lvl="1" indent="0">
              <a:buNone/>
            </a:pPr>
            <a:r>
              <a:rPr lang="en-US" altLang="zh-CN" sz="2000" dirty="0">
                <a:solidFill>
                  <a:srgbClr val="00B0F0"/>
                </a:solidFill>
              </a:rPr>
              <a:t>13.3</a:t>
            </a:r>
            <a:r>
              <a:rPr lang="zh-CN" altLang="en-US" sz="2000" dirty="0">
                <a:solidFill>
                  <a:srgbClr val="00B0F0"/>
                </a:solidFill>
              </a:rPr>
              <a:t> 成本估算</a:t>
            </a:r>
            <a:endParaRPr lang="en-US" altLang="zh-CN" sz="2000" dirty="0">
              <a:solidFill>
                <a:srgbClr val="00B0F0"/>
              </a:solidFill>
            </a:endParaRPr>
          </a:p>
          <a:p>
            <a:pPr marL="457200" lvl="1" indent="0">
              <a:buNone/>
            </a:pPr>
            <a:r>
              <a:rPr lang="en-US" altLang="zh-CN" sz="2000" dirty="0">
                <a:solidFill>
                  <a:srgbClr val="00B0F0"/>
                </a:solidFill>
              </a:rPr>
              <a:t>13.4 </a:t>
            </a:r>
            <a:r>
              <a:rPr lang="zh-CN" altLang="en-US" sz="2000" dirty="0">
                <a:solidFill>
                  <a:srgbClr val="00B0F0"/>
                </a:solidFill>
              </a:rPr>
              <a:t>成本预算</a:t>
            </a:r>
            <a:endParaRPr lang="en-US" altLang="zh-CN" sz="2000" dirty="0">
              <a:solidFill>
                <a:srgbClr val="00B0F0"/>
              </a:solidFill>
            </a:endParaRPr>
          </a:p>
          <a:p>
            <a:pPr marL="457200" lvl="1" indent="0">
              <a:buNone/>
            </a:pPr>
            <a:r>
              <a:rPr lang="en-US" altLang="zh-CN" sz="2000" dirty="0">
                <a:solidFill>
                  <a:srgbClr val="00B0F0"/>
                </a:solidFill>
              </a:rPr>
              <a:t>13.5 </a:t>
            </a:r>
            <a:r>
              <a:rPr lang="zh-CN" altLang="en-US" sz="2000" dirty="0">
                <a:solidFill>
                  <a:srgbClr val="00B0F0"/>
                </a:solidFill>
              </a:rPr>
              <a:t>成本控制</a:t>
            </a:r>
            <a:endParaRPr lang="en-US" altLang="zh-CN" sz="2000" dirty="0">
              <a:solidFill>
                <a:srgbClr val="00B0F0"/>
              </a:solidFill>
            </a:endParaRPr>
          </a:p>
          <a:p>
            <a:pPr marL="0" indent="0">
              <a:buNone/>
            </a:pPr>
            <a:endParaRPr kumimoji="1" lang="zh-CN" altLang="en-US" dirty="0"/>
          </a:p>
        </p:txBody>
      </p:sp>
    </p:spTree>
    <p:extLst>
      <p:ext uri="{BB962C8B-B14F-4D97-AF65-F5344CB8AC3E}">
        <p14:creationId xmlns:p14="http://schemas.microsoft.com/office/powerpoint/2010/main" val="1004559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184D86-EC12-4C35-972B-81EA07077863}"/>
              </a:ext>
            </a:extLst>
          </p:cNvPr>
          <p:cNvSpPr>
            <a:spLocks noGrp="1"/>
          </p:cNvSpPr>
          <p:nvPr>
            <p:ph type="title"/>
          </p:nvPr>
        </p:nvSpPr>
        <p:spPr>
          <a:xfrm>
            <a:off x="1981200" y="655236"/>
            <a:ext cx="8229600" cy="437186"/>
          </a:xfrm>
        </p:spPr>
        <p:txBody>
          <a:bodyPr/>
          <a:lstStyle/>
          <a:p>
            <a:r>
              <a:rPr lang="zh-CN" altLang="en-US" dirty="0"/>
              <a:t>开篇案例</a:t>
            </a:r>
          </a:p>
        </p:txBody>
      </p:sp>
      <p:sp>
        <p:nvSpPr>
          <p:cNvPr id="3" name="内容占位符 2">
            <a:extLst>
              <a:ext uri="{FF2B5EF4-FFF2-40B4-BE49-F238E27FC236}">
                <a16:creationId xmlns:a16="http://schemas.microsoft.com/office/drawing/2014/main" id="{ADA1727F-5D4F-4360-A32C-BD4BD1BE9796}"/>
              </a:ext>
            </a:extLst>
          </p:cNvPr>
          <p:cNvSpPr>
            <a:spLocks noGrp="1"/>
          </p:cNvSpPr>
          <p:nvPr>
            <p:ph idx="1"/>
          </p:nvPr>
        </p:nvSpPr>
        <p:spPr>
          <a:xfrm>
            <a:off x="964602" y="1092422"/>
            <a:ext cx="10262795" cy="5062843"/>
          </a:xfrm>
        </p:spPr>
        <p:txBody>
          <a:bodyPr/>
          <a:lstStyle/>
          <a:p>
            <a:pPr marL="0" indent="0" algn="just">
              <a:buNone/>
            </a:pPr>
            <a:r>
              <a:rPr lang="zh-CN" altLang="en-US" sz="1800" dirty="0">
                <a:latin typeface="Times New Roman" panose="02020603050405020304" pitchFamily="18" charset="0"/>
              </a:rPr>
              <a:t>背景</a:t>
            </a:r>
            <a:r>
              <a:rPr lang="zh-CN" altLang="en-US" dirty="0">
                <a:latin typeface="Times New Roman" panose="02020603050405020304" pitchFamily="18" charset="0"/>
              </a:rPr>
              <a:t>      </a:t>
            </a:r>
            <a:endParaRPr lang="en-US" altLang="zh-CN" dirty="0">
              <a:latin typeface="Times New Roman" panose="02020603050405020304" pitchFamily="18" charset="0"/>
            </a:endParaRPr>
          </a:p>
          <a:p>
            <a:pPr marL="0" indent="0" algn="just">
              <a:buNone/>
            </a:pPr>
            <a:r>
              <a:rPr lang="zh-CN" altLang="en-US" sz="1400" dirty="0">
                <a:latin typeface="Times New Roman" panose="02020603050405020304" pitchFamily="18" charset="0"/>
              </a:rPr>
              <a:t>    胡先生是一名系统分析师和</a:t>
            </a:r>
            <a:r>
              <a:rPr lang="en-US" altLang="zh-CN" sz="1400" dirty="0">
                <a:latin typeface="Times New Roman" panose="02020603050405020304" pitchFamily="18" charset="0"/>
              </a:rPr>
              <a:t>IT</a:t>
            </a:r>
            <a:r>
              <a:rPr lang="zh-CN" altLang="en-US" sz="1400" dirty="0">
                <a:latin typeface="Times New Roman" panose="02020603050405020304" pitchFamily="18" charset="0"/>
              </a:rPr>
              <a:t>项目专家，参加一个重大项目的评审会，其中包括他最感兴趣的“智能巡检机器人”项目。“智能巡检机器人”这个概念是开发一个复杂信息系统，该信息系统包括图像处理系统、机器人控制系统、数据库和无线通信系统，该系统能为电力公司的维护人员提供帮助，能够在变电站按照规划好的路线自动巡检电力变压器、刀闸等设备的工作状况。</a:t>
            </a:r>
            <a:endParaRPr lang="en-US" altLang="zh-CN" sz="1400" dirty="0">
              <a:latin typeface="Times New Roman" panose="02020603050405020304" pitchFamily="18" charset="0"/>
            </a:endParaRPr>
          </a:p>
          <a:p>
            <a:pPr marL="0" indent="0" algn="just">
              <a:buNone/>
            </a:pPr>
            <a:r>
              <a:rPr lang="zh-CN" altLang="en-US" sz="1800" dirty="0">
                <a:latin typeface="Times New Roman" panose="02020603050405020304" pitchFamily="18" charset="0"/>
              </a:rPr>
              <a:t>遇到的问题</a:t>
            </a:r>
          </a:p>
          <a:p>
            <a:pPr marL="0" indent="0" algn="just">
              <a:buNone/>
            </a:pPr>
            <a:r>
              <a:rPr lang="zh-CN" altLang="en-US" sz="1400" dirty="0">
                <a:latin typeface="Times New Roman" panose="02020603050405020304" pitchFamily="18" charset="0"/>
              </a:rPr>
              <a:t>    会议的大部分时间只讨论有关成本问题时。在讨论任何新项目的投资之前，电力公司管理人员会审查许多现有的项目，评估它们目前的实施情况以及预计可能产生的潜在影响。</a:t>
            </a:r>
            <a:endParaRPr lang="en-US" altLang="zh-CN" sz="1400" dirty="0">
              <a:latin typeface="Times New Roman" panose="02020603050405020304" pitchFamily="18" charset="0"/>
            </a:endParaRPr>
          </a:p>
          <a:p>
            <a:pPr marL="0" indent="0" algn="just">
              <a:buNone/>
            </a:pPr>
            <a:r>
              <a:rPr lang="en-US" altLang="zh-CN" sz="1400" dirty="0">
                <a:latin typeface="Times New Roman" panose="02020603050405020304" pitchFamily="18" charset="0"/>
              </a:rPr>
              <a:t>    </a:t>
            </a:r>
            <a:r>
              <a:rPr lang="zh-CN" altLang="en-US" sz="1400" dirty="0">
                <a:latin typeface="Times New Roman" panose="02020603050405020304" pitchFamily="18" charset="0"/>
              </a:rPr>
              <a:t>会上讲的很多术语和图表胡先生都不理解。如挣值管理，估计完成项目所需的成本或所需的时间？</a:t>
            </a:r>
            <a:endParaRPr lang="en-US" altLang="zh-CN" sz="1400" dirty="0">
              <a:latin typeface="Times New Roman" panose="02020603050405020304" pitchFamily="18" charset="0"/>
            </a:endParaRPr>
          </a:p>
          <a:p>
            <a:pPr marL="0" indent="0" algn="just">
              <a:buNone/>
            </a:pPr>
            <a:r>
              <a:rPr lang="en-US" altLang="zh-CN" sz="1400" dirty="0">
                <a:latin typeface="Times New Roman" panose="02020603050405020304" pitchFamily="18" charset="0"/>
              </a:rPr>
              <a:t>    </a:t>
            </a:r>
            <a:r>
              <a:rPr lang="zh-CN" altLang="en-US" sz="1400" dirty="0">
                <a:latin typeface="Times New Roman" panose="02020603050405020304" pitchFamily="18" charset="0"/>
              </a:rPr>
              <a:t>本想学习更多的在智能巡检机器人相关新技术，但成本估算和项目收益才是管理人员最感兴趣的事。</a:t>
            </a:r>
            <a:endParaRPr lang="en-US" altLang="zh-CN" sz="1400" dirty="0">
              <a:latin typeface="Times New Roman" panose="02020603050405020304" pitchFamily="18" charset="0"/>
            </a:endParaRPr>
          </a:p>
          <a:p>
            <a:pPr marL="0" indent="0" algn="just">
              <a:buNone/>
            </a:pPr>
            <a:r>
              <a:rPr lang="zh-CN" altLang="en-US" sz="1800" dirty="0">
                <a:latin typeface="Times New Roman" panose="02020603050405020304" pitchFamily="18" charset="0"/>
              </a:rPr>
              <a:t>挑战</a:t>
            </a:r>
          </a:p>
          <a:p>
            <a:pPr marL="0" indent="0" algn="just">
              <a:buNone/>
            </a:pPr>
            <a:r>
              <a:rPr lang="zh-CN" altLang="en-US" sz="1400" dirty="0">
                <a:latin typeface="Times New Roman" panose="02020603050405020304" pitchFamily="18" charset="0"/>
              </a:rPr>
              <a:t>学习会计和金融方面的知识，使能够理解人们正在讨论的缩写词和概念</a:t>
            </a:r>
          </a:p>
        </p:txBody>
      </p:sp>
    </p:spTree>
    <p:extLst>
      <p:ext uri="{BB962C8B-B14F-4D97-AF65-F5344CB8AC3E}">
        <p14:creationId xmlns:p14="http://schemas.microsoft.com/office/powerpoint/2010/main" val="1928327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lstStyle/>
          <a:p>
            <a:r>
              <a:rPr lang="en-US" altLang="zh-CN" dirty="0"/>
              <a:t>13.0 </a:t>
            </a:r>
            <a:r>
              <a:rPr lang="zh-CN" altLang="en-US" dirty="0"/>
              <a:t>项目成本管理学习要点</a:t>
            </a:r>
          </a:p>
        </p:txBody>
      </p:sp>
      <p:sp>
        <p:nvSpPr>
          <p:cNvPr id="4" name="矩形 3"/>
          <p:cNvSpPr/>
          <p:nvPr/>
        </p:nvSpPr>
        <p:spPr>
          <a:xfrm>
            <a:off x="604151" y="1686115"/>
            <a:ext cx="10134472" cy="3046988"/>
          </a:xfrm>
          <a:prstGeom prst="rect">
            <a:avLst/>
          </a:prstGeom>
        </p:spPr>
        <p:txBody>
          <a:bodyPr wrap="square">
            <a:spAutoFit/>
          </a:bodyPr>
          <a:lstStyle/>
          <a:p>
            <a:pPr marL="342900" marR="0" lvl="0" indent="-342900" algn="just" defTabSz="914400" rtl="0" eaLnBrk="1" fontAlgn="auto" latinLnBrk="0" hangingPunct="1">
              <a:lnSpc>
                <a:spcPct val="100000"/>
              </a:lnSpc>
              <a:spcBef>
                <a:spcPts val="0"/>
              </a:spcBef>
              <a:spcAft>
                <a:spcPts val="0"/>
              </a:spcAft>
              <a:buClrTx/>
              <a:buSzTx/>
              <a:buFont typeface="Times New Roman"/>
              <a:buAutoNum type="arabicParenBoth"/>
              <a:tabLst/>
              <a:defRPr/>
            </a:pPr>
            <a:r>
              <a:rPr lang="zh-CN" altLang="en-US" sz="2400" kern="1200" dirty="0">
                <a:latin typeface="微软雅黑" panose="020B0503020204020204" pitchFamily="34" charset="-122"/>
                <a:ea typeface="微软雅黑" panose="020B0503020204020204" pitchFamily="34" charset="-122"/>
              </a:rPr>
              <a:t> 理解并掌握项目成本管理的概念</a:t>
            </a:r>
            <a:endParaRPr lang="zh-CN" altLang="zh-CN" sz="2400" kern="1200" dirty="0">
              <a:latin typeface="微软雅黑" panose="020B0503020204020204" pitchFamily="34" charset="-122"/>
              <a:ea typeface="微软雅黑" panose="020B0503020204020204" pitchFamily="34" charset="-122"/>
            </a:endParaRPr>
          </a:p>
          <a:p>
            <a:pPr marL="342900" marR="0" lvl="0" indent="-342900" algn="just" defTabSz="914400" rtl="0" eaLnBrk="1" fontAlgn="auto" latinLnBrk="0" hangingPunct="1">
              <a:lnSpc>
                <a:spcPct val="100000"/>
              </a:lnSpc>
              <a:spcBef>
                <a:spcPts val="0"/>
              </a:spcBef>
              <a:spcAft>
                <a:spcPts val="0"/>
              </a:spcAft>
              <a:buClrTx/>
              <a:buSzTx/>
              <a:buFont typeface="Times New Roman"/>
              <a:buAutoNum type="arabicParenBoth"/>
              <a:tabLst/>
              <a:defRPr/>
            </a:pPr>
            <a:r>
              <a:rPr lang="zh-CN" altLang="en-US" sz="2400" kern="1200" dirty="0">
                <a:latin typeface="微软雅黑" panose="020B0503020204020204" pitchFamily="34" charset="-122"/>
                <a:ea typeface="微软雅黑" panose="020B0503020204020204" pitchFamily="34" charset="-122"/>
              </a:rPr>
              <a:t> 了解项目成本管理重要性</a:t>
            </a:r>
            <a:endParaRPr lang="zh-CN" altLang="zh-CN" sz="2400" kern="1200" dirty="0">
              <a:latin typeface="微软雅黑" panose="020B0503020204020204" pitchFamily="34" charset="-122"/>
              <a:ea typeface="微软雅黑" panose="020B0503020204020204" pitchFamily="34" charset="-122"/>
            </a:endParaRPr>
          </a:p>
          <a:p>
            <a:pPr marL="342900" marR="0" lvl="0" indent="-342900" algn="just" defTabSz="914400" rtl="0" eaLnBrk="1" fontAlgn="auto" latinLnBrk="0" hangingPunct="1">
              <a:lnSpc>
                <a:spcPct val="100000"/>
              </a:lnSpc>
              <a:spcBef>
                <a:spcPts val="0"/>
              </a:spcBef>
              <a:spcAft>
                <a:spcPts val="0"/>
              </a:spcAft>
              <a:buClrTx/>
              <a:buSzTx/>
              <a:buFont typeface="Times New Roman"/>
              <a:buAutoNum type="arabicParenBoth"/>
              <a:tabLst/>
              <a:defRPr/>
            </a:pPr>
            <a:r>
              <a:rPr lang="zh-CN" altLang="en-US" sz="2400" kern="1200" dirty="0">
                <a:latin typeface="微软雅黑" panose="020B0503020204020204" pitchFamily="34" charset="-122"/>
                <a:ea typeface="微软雅黑" panose="020B0503020204020204" pitchFamily="34" charset="-122"/>
              </a:rPr>
              <a:t> 掌握项目成本管理的四个过程</a:t>
            </a:r>
            <a:endParaRPr lang="zh-CN" altLang="zh-CN" sz="2400" kern="1200" dirty="0">
              <a:latin typeface="微软雅黑" panose="020B0503020204020204" pitchFamily="34" charset="-122"/>
              <a:ea typeface="微软雅黑" panose="020B0503020204020204" pitchFamily="34" charset="-122"/>
            </a:endParaRPr>
          </a:p>
          <a:p>
            <a:pPr marL="342900" marR="0" lvl="0" indent="-342900" algn="just" defTabSz="914400" rtl="0" eaLnBrk="1" fontAlgn="auto" latinLnBrk="0" hangingPunct="1">
              <a:lnSpc>
                <a:spcPct val="100000"/>
              </a:lnSpc>
              <a:spcBef>
                <a:spcPts val="0"/>
              </a:spcBef>
              <a:spcAft>
                <a:spcPts val="0"/>
              </a:spcAft>
              <a:buClrTx/>
              <a:buSzTx/>
              <a:buFont typeface="Times New Roman"/>
              <a:buAutoNum type="arabicParenBoth"/>
              <a:tabLst/>
              <a:defRPr/>
            </a:pPr>
            <a:r>
              <a:rPr lang="zh-CN" altLang="en-US" sz="2400" kern="1200" dirty="0">
                <a:latin typeface="微软雅黑" panose="020B0503020204020204" pitchFamily="34" charset="-122"/>
                <a:ea typeface="微软雅黑" panose="020B0503020204020204" pitchFamily="34" charset="-122"/>
              </a:rPr>
              <a:t> 理解并应用资源计划的编制，了解成本估算类型</a:t>
            </a:r>
            <a:endParaRPr lang="zh-CN" altLang="zh-CN" sz="2400" kern="1200" dirty="0">
              <a:latin typeface="微软雅黑" panose="020B0503020204020204" pitchFamily="34" charset="-122"/>
              <a:ea typeface="微软雅黑" panose="020B0503020204020204" pitchFamily="34" charset="-122"/>
            </a:endParaRPr>
          </a:p>
          <a:p>
            <a:pPr marL="342900" marR="0" lvl="0" indent="-342900" algn="just" defTabSz="914400" rtl="0" eaLnBrk="1" fontAlgn="auto" latinLnBrk="0" hangingPunct="1">
              <a:lnSpc>
                <a:spcPct val="100000"/>
              </a:lnSpc>
              <a:spcBef>
                <a:spcPts val="0"/>
              </a:spcBef>
              <a:spcAft>
                <a:spcPts val="0"/>
              </a:spcAft>
              <a:buClrTx/>
              <a:buSzTx/>
              <a:buFont typeface="Times New Roman"/>
              <a:buAutoNum type="arabicParenBoth"/>
              <a:tabLst/>
              <a:defRPr/>
            </a:pPr>
            <a:r>
              <a:rPr lang="zh-CN" altLang="en-US" sz="2400" kern="1200" dirty="0">
                <a:latin typeface="微软雅黑" panose="020B0503020204020204" pitchFamily="34" charset="-122"/>
                <a:ea typeface="微软雅黑" panose="020B0503020204020204" pitchFamily="34" charset="-122"/>
              </a:rPr>
              <a:t> 掌握成本估算、成本预算和成本控制的方法</a:t>
            </a:r>
            <a:endParaRPr lang="en-US" altLang="zh-CN" sz="2400" kern="1200" dirty="0">
              <a:latin typeface="微软雅黑" panose="020B0503020204020204" pitchFamily="34" charset="-122"/>
              <a:ea typeface="微软雅黑" panose="020B0503020204020204" pitchFamily="34" charset="-122"/>
            </a:endParaRPr>
          </a:p>
          <a:p>
            <a:pPr marL="342900" marR="0" lvl="0" indent="-342900" algn="just" defTabSz="914400" rtl="0" eaLnBrk="1" fontAlgn="auto" latinLnBrk="0" hangingPunct="1">
              <a:lnSpc>
                <a:spcPct val="100000"/>
              </a:lnSpc>
              <a:spcBef>
                <a:spcPts val="0"/>
              </a:spcBef>
              <a:spcAft>
                <a:spcPts val="0"/>
              </a:spcAft>
              <a:buClrTx/>
              <a:buSzTx/>
              <a:buFont typeface="Times New Roman"/>
              <a:buNone/>
              <a:tabLst/>
              <a:defRPr/>
            </a:pPr>
            <a:r>
              <a:rPr lang="en-US" altLang="zh-CN" sz="2400" kern="1200" dirty="0">
                <a:latin typeface="微软雅黑" panose="020B0503020204020204" pitchFamily="34" charset="-122"/>
                <a:ea typeface="微软雅黑" panose="020B0503020204020204" pitchFamily="34" charset="-122"/>
              </a:rPr>
              <a:t>(6)  </a:t>
            </a:r>
            <a:r>
              <a:rPr lang="zh-CN" altLang="en-US" sz="2400" kern="1200" dirty="0">
                <a:latin typeface="微软雅黑" panose="020B0503020204020204" pitchFamily="34" charset="-122"/>
                <a:ea typeface="微软雅黑" panose="020B0503020204020204" pitchFamily="34" charset="-122"/>
              </a:rPr>
              <a:t>理解项目预算、成本基准、应急储备 和管理储备的关系</a:t>
            </a:r>
          </a:p>
          <a:p>
            <a:pPr marL="342900" marR="0" lvl="0" indent="-342900" algn="just" defTabSz="914400" rtl="0" eaLnBrk="1" fontAlgn="auto" latinLnBrk="0" hangingPunct="1">
              <a:lnSpc>
                <a:spcPct val="100000"/>
              </a:lnSpc>
              <a:spcBef>
                <a:spcPts val="0"/>
              </a:spcBef>
              <a:spcAft>
                <a:spcPts val="0"/>
              </a:spcAft>
              <a:buClrTx/>
              <a:buSzTx/>
              <a:buFont typeface="Times New Roman"/>
              <a:buNone/>
              <a:tabLst/>
              <a:defRPr/>
            </a:pPr>
            <a:r>
              <a:rPr lang="en-US" altLang="zh-CN" sz="2400" kern="1200" dirty="0">
                <a:latin typeface="微软雅黑" panose="020B0503020204020204" pitchFamily="34" charset="-122"/>
                <a:ea typeface="微软雅黑" panose="020B0503020204020204" pitchFamily="34" charset="-122"/>
              </a:rPr>
              <a:t>(7)  </a:t>
            </a:r>
            <a:r>
              <a:rPr lang="zh-CN" altLang="en-US" sz="2400" kern="1200" dirty="0">
                <a:latin typeface="微软雅黑" panose="020B0503020204020204" pitchFamily="34" charset="-122"/>
                <a:ea typeface="微软雅黑" panose="020B0503020204020204" pitchFamily="34" charset="-122"/>
              </a:rPr>
              <a:t>理解并掌握挣值分析法的应用</a:t>
            </a:r>
          </a:p>
          <a:p>
            <a:pPr marL="342900" marR="0" lvl="0" indent="-342900" algn="just" defTabSz="914400" rtl="0" eaLnBrk="1" fontAlgn="auto" latinLnBrk="0" hangingPunct="1">
              <a:lnSpc>
                <a:spcPct val="100000"/>
              </a:lnSpc>
              <a:spcBef>
                <a:spcPts val="0"/>
              </a:spcBef>
              <a:spcAft>
                <a:spcPts val="0"/>
              </a:spcAft>
              <a:buClrTx/>
              <a:buSzTx/>
              <a:buFont typeface="Times New Roman"/>
              <a:buNone/>
              <a:tabLst/>
              <a:defRPr/>
            </a:pPr>
            <a:r>
              <a:rPr lang="en-US" altLang="zh-CN" sz="2400" kern="1200" dirty="0">
                <a:latin typeface="微软雅黑" panose="020B0503020204020204" pitchFamily="34" charset="-122"/>
                <a:ea typeface="微软雅黑" panose="020B0503020204020204" pitchFamily="34" charset="-122"/>
              </a:rPr>
              <a:t>(8)  </a:t>
            </a:r>
            <a:r>
              <a:rPr lang="zh-CN" altLang="en-US" sz="2400" kern="1200" dirty="0">
                <a:latin typeface="微软雅黑" panose="020B0503020204020204" pitchFamily="34" charset="-122"/>
                <a:ea typeface="微软雅黑" panose="020B0503020204020204" pitchFamily="34" charset="-122"/>
              </a:rPr>
              <a:t>掌握挣值分析法的十二个基本指标</a:t>
            </a:r>
            <a:endParaRPr lang="en-US" altLang="zh-CN" sz="24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lstStyle/>
          <a:p>
            <a:r>
              <a:rPr lang="en-US" altLang="zh-CN" dirty="0"/>
              <a:t>13.0 </a:t>
            </a:r>
            <a:r>
              <a:rPr lang="zh-CN" altLang="en-US" dirty="0"/>
              <a:t>项目成本管理概述</a:t>
            </a:r>
          </a:p>
        </p:txBody>
      </p:sp>
      <p:sp>
        <p:nvSpPr>
          <p:cNvPr id="6" name="矩形 5">
            <a:extLst>
              <a:ext uri="{FF2B5EF4-FFF2-40B4-BE49-F238E27FC236}">
                <a16:creationId xmlns:a16="http://schemas.microsoft.com/office/drawing/2014/main" id="{5449A3B2-45BE-4EB1-8147-4A553A00193F}"/>
              </a:ext>
            </a:extLst>
          </p:cNvPr>
          <p:cNvSpPr/>
          <p:nvPr/>
        </p:nvSpPr>
        <p:spPr>
          <a:xfrm>
            <a:off x="604150" y="1429640"/>
            <a:ext cx="10972800" cy="5339923"/>
          </a:xfrm>
          <a:prstGeom prst="rect">
            <a:avLst/>
          </a:prstGeom>
        </p:spPr>
        <p:txBody>
          <a:bodyPr wrap="square">
            <a:spAutoFit/>
          </a:bodyPr>
          <a:lstStyle/>
          <a:p>
            <a:pPr algn="l">
              <a:spcAft>
                <a:spcPts val="600"/>
              </a:spcAft>
            </a:pPr>
            <a:r>
              <a:rPr lang="zh-CN" altLang="en-US" sz="2400" b="1" i="0" u="none" strike="noStrike" baseline="0" dirty="0">
                <a:solidFill>
                  <a:srgbClr val="800000"/>
                </a:solidFill>
                <a:latin typeface="微软雅黑" panose="020B0503020204020204" pitchFamily="34" charset="-122"/>
                <a:ea typeface="微软雅黑" panose="020B0503020204020204" pitchFamily="34" charset="-122"/>
              </a:rPr>
              <a:t>项目成本管理的重要性</a:t>
            </a:r>
            <a:endParaRPr lang="en-US" altLang="zh-CN" sz="2400" b="1" i="0" u="none" strike="noStrike" baseline="0" dirty="0">
              <a:solidFill>
                <a:srgbClr val="800000"/>
              </a:solidFill>
              <a:latin typeface="微软雅黑" panose="020B0503020204020204" pitchFamily="34" charset="-122"/>
              <a:ea typeface="微软雅黑" panose="020B0503020204020204" pitchFamily="34" charset="-122"/>
            </a:endParaRPr>
          </a:p>
          <a:p>
            <a:pPr marL="438150" lvl="1">
              <a:lnSpc>
                <a:spcPct val="110000"/>
              </a:lnSpc>
              <a:spcBef>
                <a:spcPts val="600"/>
              </a:spcBef>
              <a:defRPr/>
            </a:pPr>
            <a:r>
              <a:rPr lang="en-US" altLang="zh-CN" sz="2000" dirty="0">
                <a:latin typeface="微软雅黑" panose="020B0503020204020204" pitchFamily="34" charset="-122"/>
                <a:ea typeface="微软雅黑" panose="020B0503020204020204" pitchFamily="34" charset="-122"/>
                <a:cs typeface="Times New Roman" pitchFamily="18" charset="0"/>
              </a:rPr>
              <a:t>(1) </a:t>
            </a:r>
            <a:r>
              <a:rPr lang="zh-CN" altLang="zh-CN" sz="2000" dirty="0">
                <a:latin typeface="微软雅黑" panose="020B0503020204020204" pitchFamily="34" charset="-122"/>
                <a:ea typeface="微软雅黑" panose="020B0503020204020204" pitchFamily="34" charset="-122"/>
                <a:cs typeface="Times New Roman" pitchFamily="18" charset="0"/>
              </a:rPr>
              <a:t>项目成本管理是项目成功的关键，贯穿于项目生命周期各阶段</a:t>
            </a:r>
            <a:endParaRPr lang="en-US" altLang="zh-CN" sz="2000" dirty="0">
              <a:latin typeface="微软雅黑" panose="020B0503020204020204" pitchFamily="34" charset="-122"/>
              <a:ea typeface="微软雅黑" panose="020B0503020204020204" pitchFamily="34" charset="-122"/>
              <a:cs typeface="Times New Roman" pitchFamily="18" charset="0"/>
            </a:endParaRPr>
          </a:p>
          <a:p>
            <a:pPr marL="438150" lvl="1">
              <a:lnSpc>
                <a:spcPct val="110000"/>
              </a:lnSpc>
              <a:spcBef>
                <a:spcPts val="600"/>
              </a:spcBef>
              <a:defRPr/>
            </a:pPr>
            <a:r>
              <a:rPr lang="en-US" altLang="zh-CN" sz="2000" dirty="0">
                <a:latin typeface="微软雅黑" panose="020B0503020204020204" pitchFamily="34" charset="-122"/>
                <a:ea typeface="微软雅黑" panose="020B0503020204020204" pitchFamily="34" charset="-122"/>
                <a:cs typeface="Times New Roman" pitchFamily="18" charset="0"/>
              </a:rPr>
              <a:t>(2) </a:t>
            </a:r>
            <a:r>
              <a:rPr lang="zh-CN" altLang="en-US" sz="2000" dirty="0">
                <a:latin typeface="微软雅黑" panose="020B0503020204020204" pitchFamily="34" charset="-122"/>
                <a:ea typeface="微软雅黑" panose="020B0503020204020204" pitchFamily="34" charset="-122"/>
                <a:cs typeface="Times New Roman" pitchFamily="18" charset="0"/>
              </a:rPr>
              <a:t>成本的不确定性需要施加全面的管理和控制</a:t>
            </a:r>
            <a:endParaRPr lang="en-US" altLang="zh-CN" sz="2000" dirty="0">
              <a:latin typeface="微软雅黑" panose="020B0503020204020204" pitchFamily="34" charset="-122"/>
              <a:ea typeface="微软雅黑" panose="020B0503020204020204" pitchFamily="34" charset="-122"/>
              <a:cs typeface="Times New Roman" pitchFamily="18" charset="0"/>
            </a:endParaRPr>
          </a:p>
          <a:p>
            <a:pPr marL="835025" lvl="2" indent="0">
              <a:lnSpc>
                <a:spcPct val="110000"/>
              </a:lnSpc>
              <a:spcBef>
                <a:spcPts val="600"/>
              </a:spcBef>
              <a:buFont typeface="Wingdings" pitchFamily="2" charset="2"/>
              <a:buChar char="Ø"/>
              <a:defRPr/>
            </a:pPr>
            <a:r>
              <a:rPr lang="zh-CN" altLang="en-US" sz="2000" dirty="0">
                <a:latin typeface="微软雅黑" panose="020B0503020204020204" pitchFamily="34" charset="-122"/>
                <a:ea typeface="微软雅黑" panose="020B0503020204020204" pitchFamily="34" charset="-122"/>
                <a:cs typeface="Times New Roman" pitchFamily="18" charset="0"/>
              </a:rPr>
              <a:t> 导致项目成本不确定的主要原因有三：</a:t>
            </a:r>
            <a:endParaRPr lang="en-US" altLang="zh-CN" sz="2000" dirty="0">
              <a:latin typeface="微软雅黑" panose="020B0503020204020204" pitchFamily="34" charset="-122"/>
              <a:ea typeface="微软雅黑" panose="020B0503020204020204" pitchFamily="34" charset="-122"/>
              <a:cs typeface="Times New Roman" pitchFamily="18" charset="0"/>
            </a:endParaRPr>
          </a:p>
          <a:p>
            <a:pPr marL="1223963" lvl="3" indent="0">
              <a:lnSpc>
                <a:spcPct val="110000"/>
              </a:lnSpc>
              <a:spcBef>
                <a:spcPts val="600"/>
              </a:spcBef>
              <a:buFont typeface="Wingdings" pitchFamily="2" charset="2"/>
              <a:buChar char="ü"/>
              <a:defRPr/>
            </a:pPr>
            <a:r>
              <a:rPr lang="zh-CN" altLang="en-US" sz="2000" dirty="0">
                <a:latin typeface="微软雅黑" panose="020B0503020204020204" pitchFamily="34" charset="-122"/>
                <a:ea typeface="微软雅黑" panose="020B0503020204020204" pitchFamily="34" charset="-122"/>
                <a:cs typeface="Times New Roman" pitchFamily="18" charset="0"/>
              </a:rPr>
              <a:t> 预测导致的不确定性</a:t>
            </a:r>
            <a:endParaRPr lang="en-US" altLang="zh-CN" sz="2000" dirty="0">
              <a:latin typeface="微软雅黑" panose="020B0503020204020204" pitchFamily="34" charset="-122"/>
              <a:ea typeface="微软雅黑" panose="020B0503020204020204" pitchFamily="34" charset="-122"/>
              <a:cs typeface="Times New Roman" pitchFamily="18" charset="0"/>
            </a:endParaRPr>
          </a:p>
          <a:p>
            <a:pPr marL="1223963" lvl="3" indent="0">
              <a:lnSpc>
                <a:spcPct val="110000"/>
              </a:lnSpc>
              <a:spcBef>
                <a:spcPts val="600"/>
              </a:spcBef>
              <a:buFont typeface="Wingdings" pitchFamily="2" charset="2"/>
              <a:buChar char="ü"/>
              <a:defRPr/>
            </a:pPr>
            <a:r>
              <a:rPr lang="zh-CN" altLang="en-US" sz="2000" dirty="0">
                <a:latin typeface="微软雅黑" panose="020B0503020204020204" pitchFamily="34" charset="-122"/>
                <a:ea typeface="微软雅黑" panose="020B0503020204020204" pitchFamily="34" charset="-122"/>
                <a:cs typeface="Times New Roman" pitchFamily="18" charset="0"/>
              </a:rPr>
              <a:t> 决策导致的不确定性</a:t>
            </a:r>
            <a:endParaRPr lang="en-US" altLang="zh-CN" sz="2000" dirty="0">
              <a:latin typeface="微软雅黑" panose="020B0503020204020204" pitchFamily="34" charset="-122"/>
              <a:ea typeface="微软雅黑" panose="020B0503020204020204" pitchFamily="34" charset="-122"/>
              <a:cs typeface="Times New Roman" pitchFamily="18" charset="0"/>
            </a:endParaRPr>
          </a:p>
          <a:p>
            <a:pPr marL="1223963" lvl="3" indent="0">
              <a:lnSpc>
                <a:spcPct val="110000"/>
              </a:lnSpc>
              <a:spcBef>
                <a:spcPts val="600"/>
              </a:spcBef>
              <a:buFont typeface="Wingdings" pitchFamily="2" charset="2"/>
              <a:buChar char="ü"/>
              <a:defRPr/>
            </a:pPr>
            <a:r>
              <a:rPr lang="zh-CN" altLang="en-US" sz="2000" dirty="0">
                <a:latin typeface="微软雅黑" panose="020B0503020204020204" pitchFamily="34" charset="-122"/>
                <a:ea typeface="微软雅黑" panose="020B0503020204020204" pitchFamily="34" charset="-122"/>
                <a:cs typeface="Times New Roman" pitchFamily="18" charset="0"/>
              </a:rPr>
              <a:t> 项目管理体制导致的不确定性</a:t>
            </a:r>
            <a:endParaRPr lang="en-US" altLang="zh-CN" sz="2000" dirty="0">
              <a:latin typeface="微软雅黑" panose="020B0503020204020204" pitchFamily="34" charset="-122"/>
              <a:ea typeface="微软雅黑" panose="020B0503020204020204" pitchFamily="34" charset="-122"/>
              <a:cs typeface="Times New Roman" pitchFamily="18" charset="0"/>
            </a:endParaRPr>
          </a:p>
          <a:p>
            <a:pPr marL="835025" lvl="2" indent="0">
              <a:lnSpc>
                <a:spcPct val="110000"/>
              </a:lnSpc>
              <a:spcBef>
                <a:spcPts val="600"/>
              </a:spcBef>
              <a:buFont typeface="Wingdings" pitchFamily="2" charset="2"/>
              <a:buChar char="Ø"/>
              <a:defRPr/>
            </a:pPr>
            <a:r>
              <a:rPr lang="en-US" altLang="zh-CN" sz="2000" dirty="0">
                <a:latin typeface="微软雅黑" panose="020B0503020204020204" pitchFamily="34" charset="-122"/>
                <a:ea typeface="微软雅黑" panose="020B0503020204020204" pitchFamily="34" charset="-122"/>
                <a:cs typeface="Times New Roman" pitchFamily="18" charset="0"/>
              </a:rPr>
              <a:t> </a:t>
            </a:r>
            <a:r>
              <a:rPr lang="zh-CN" altLang="zh-CN" sz="2000" dirty="0">
                <a:latin typeface="微软雅黑" panose="020B0503020204020204" pitchFamily="34" charset="-122"/>
                <a:ea typeface="微软雅黑" panose="020B0503020204020204" pitchFamily="34" charset="-122"/>
                <a:cs typeface="Times New Roman" pitchFamily="18" charset="0"/>
              </a:rPr>
              <a:t>三种成本类型</a:t>
            </a:r>
            <a:r>
              <a:rPr lang="zh-CN" altLang="en-US" sz="2000" dirty="0">
                <a:latin typeface="微软雅黑" panose="020B0503020204020204" pitchFamily="34" charset="-122"/>
                <a:ea typeface="微软雅黑" panose="020B0503020204020204" pitchFamily="34" charset="-122"/>
                <a:cs typeface="Times New Roman" pitchFamily="18" charset="0"/>
              </a:rPr>
              <a:t>：</a:t>
            </a:r>
            <a:endParaRPr lang="en-US" altLang="zh-CN" sz="2000" dirty="0">
              <a:latin typeface="微软雅黑" panose="020B0503020204020204" pitchFamily="34" charset="-122"/>
              <a:ea typeface="微软雅黑" panose="020B0503020204020204" pitchFamily="34" charset="-122"/>
              <a:cs typeface="Times New Roman" pitchFamily="18" charset="0"/>
            </a:endParaRPr>
          </a:p>
          <a:p>
            <a:pPr marL="1223963" lvl="3" indent="0">
              <a:lnSpc>
                <a:spcPct val="110000"/>
              </a:lnSpc>
              <a:spcBef>
                <a:spcPts val="600"/>
              </a:spcBef>
              <a:buFont typeface="Wingdings" pitchFamily="2" charset="2"/>
              <a:buChar char="ü"/>
              <a:defRPr/>
            </a:pPr>
            <a:r>
              <a:rPr lang="zh-CN" altLang="en-US" sz="2000" dirty="0">
                <a:latin typeface="微软雅黑" panose="020B0503020204020204" pitchFamily="34" charset="-122"/>
                <a:ea typeface="微软雅黑" panose="020B0503020204020204" pitchFamily="34" charset="-122"/>
                <a:cs typeface="Times New Roman" pitchFamily="18" charset="0"/>
              </a:rPr>
              <a:t> 确定型成本</a:t>
            </a:r>
            <a:endParaRPr lang="en-US" altLang="zh-CN" sz="2000" dirty="0">
              <a:latin typeface="微软雅黑" panose="020B0503020204020204" pitchFamily="34" charset="-122"/>
              <a:ea typeface="微软雅黑" panose="020B0503020204020204" pitchFamily="34" charset="-122"/>
              <a:cs typeface="Times New Roman" pitchFamily="18" charset="0"/>
            </a:endParaRPr>
          </a:p>
          <a:p>
            <a:pPr marL="1223963" lvl="3" indent="0">
              <a:lnSpc>
                <a:spcPct val="110000"/>
              </a:lnSpc>
              <a:spcBef>
                <a:spcPts val="600"/>
              </a:spcBef>
              <a:buFont typeface="Wingdings" pitchFamily="2" charset="2"/>
              <a:buChar char="ü"/>
              <a:defRPr/>
            </a:pPr>
            <a:r>
              <a:rPr lang="zh-CN" altLang="en-US" sz="2000" dirty="0">
                <a:latin typeface="微软雅黑" panose="020B0503020204020204" pitchFamily="34" charset="-122"/>
                <a:ea typeface="微软雅黑" panose="020B0503020204020204" pitchFamily="34" charset="-122"/>
                <a:cs typeface="Times New Roman" pitchFamily="18" charset="0"/>
              </a:rPr>
              <a:t> 风险型成本</a:t>
            </a:r>
            <a:endParaRPr lang="en-US" altLang="zh-CN" sz="2000" dirty="0">
              <a:latin typeface="微软雅黑" panose="020B0503020204020204" pitchFamily="34" charset="-122"/>
              <a:ea typeface="微软雅黑" panose="020B0503020204020204" pitchFamily="34" charset="-122"/>
              <a:cs typeface="Times New Roman" pitchFamily="18" charset="0"/>
            </a:endParaRPr>
          </a:p>
          <a:p>
            <a:pPr marL="1223963" lvl="3" indent="0">
              <a:lnSpc>
                <a:spcPct val="110000"/>
              </a:lnSpc>
              <a:spcBef>
                <a:spcPts val="600"/>
              </a:spcBef>
              <a:buFont typeface="Wingdings" pitchFamily="2" charset="2"/>
              <a:buChar char="ü"/>
              <a:defRPr/>
            </a:pPr>
            <a:r>
              <a:rPr lang="en-US" altLang="zh-CN" sz="2000" dirty="0">
                <a:latin typeface="微软雅黑" panose="020B0503020204020204" pitchFamily="34" charset="-122"/>
                <a:ea typeface="微软雅黑" panose="020B0503020204020204" pitchFamily="34" charset="-122"/>
                <a:cs typeface="Times New Roman" pitchFamily="18" charset="0"/>
              </a:rPr>
              <a:t> </a:t>
            </a:r>
            <a:r>
              <a:rPr lang="zh-CN" altLang="zh-CN" sz="2000" dirty="0">
                <a:latin typeface="微软雅黑" panose="020B0503020204020204" pitchFamily="34" charset="-122"/>
                <a:ea typeface="微软雅黑" panose="020B0503020204020204" pitchFamily="34" charset="-122"/>
                <a:cs typeface="Times New Roman" pitchFamily="18" charset="0"/>
              </a:rPr>
              <a:t>完全不确定型成本</a:t>
            </a:r>
            <a:endParaRPr lang="en-US" altLang="zh-CN" sz="2000" dirty="0">
              <a:latin typeface="微软雅黑" panose="020B0503020204020204" pitchFamily="34" charset="-122"/>
              <a:ea typeface="微软雅黑" panose="020B0503020204020204" pitchFamily="34" charset="-122"/>
              <a:cs typeface="Times New Roman" pitchFamily="18" charset="0"/>
            </a:endParaRPr>
          </a:p>
          <a:p>
            <a:pPr marL="438150" lvl="1">
              <a:defRPr/>
            </a:pPr>
            <a:r>
              <a:rPr lang="en-US" altLang="zh-CN" sz="2000" dirty="0">
                <a:latin typeface="微软雅黑" panose="020B0503020204020204" pitchFamily="34" charset="-122"/>
                <a:ea typeface="微软雅黑" panose="020B0503020204020204" pitchFamily="34" charset="-122"/>
                <a:cs typeface="Times New Roman" pitchFamily="18" charset="0"/>
              </a:rPr>
              <a:t>(3) </a:t>
            </a:r>
            <a:r>
              <a:rPr lang="zh-CN" altLang="zh-CN" sz="2000" dirty="0">
                <a:latin typeface="微软雅黑" panose="020B0503020204020204" pitchFamily="34" charset="-122"/>
                <a:ea typeface="微软雅黑" panose="020B0503020204020204" pitchFamily="34" charset="-122"/>
                <a:cs typeface="Times New Roman" pitchFamily="18" charset="0"/>
              </a:rPr>
              <a:t>项目成本的管理可以增加项目盈利能力、减少资源浪费</a:t>
            </a:r>
            <a:endParaRPr lang="zh-CN" altLang="en-US" sz="2000" dirty="0">
              <a:latin typeface="微软雅黑" panose="020B0503020204020204" pitchFamily="34" charset="-122"/>
              <a:ea typeface="微软雅黑" panose="020B0503020204020204" pitchFamily="34" charset="-122"/>
              <a:cs typeface="Times New Roman" pitchFamily="18" charset="0"/>
            </a:endParaRPr>
          </a:p>
          <a:p>
            <a:pPr algn="l">
              <a:spcAft>
                <a:spcPts val="600"/>
              </a:spcAft>
            </a:pPr>
            <a:endParaRPr lang="en-US" altLang="zh-CN" sz="2400" b="1" i="0" u="none" strike="noStrike" baseline="0" dirty="0">
              <a:solidFill>
                <a:srgbClr val="8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13595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1" name="Rectangle 3">
            <a:extLst>
              <a:ext uri="{FF2B5EF4-FFF2-40B4-BE49-F238E27FC236}">
                <a16:creationId xmlns:a16="http://schemas.microsoft.com/office/drawing/2014/main" id="{393D3B9B-8020-4265-9026-355A449D4AAC}"/>
              </a:ext>
            </a:extLst>
          </p:cNvPr>
          <p:cNvSpPr>
            <a:spLocks noGrp="1" noChangeArrowheads="1"/>
          </p:cNvSpPr>
          <p:nvPr>
            <p:ph type="body" idx="1"/>
          </p:nvPr>
        </p:nvSpPr>
        <p:spPr/>
        <p:txBody>
          <a:bodyPr/>
          <a:lstStyle/>
          <a:p>
            <a:r>
              <a:rPr lang="zh-CN" altLang="en-US" dirty="0"/>
              <a:t>什么是成本？</a:t>
            </a:r>
            <a:endParaRPr lang="en-US" altLang="zh-CN" dirty="0"/>
          </a:p>
          <a:p>
            <a:pPr lvl="1">
              <a:lnSpc>
                <a:spcPct val="100000"/>
              </a:lnSpc>
            </a:pPr>
            <a:r>
              <a:rPr lang="zh-CN" altLang="en-US" b="0" dirty="0"/>
              <a:t>成本的定义：为了达到某一特定目标花费或用掉的资源</a:t>
            </a:r>
            <a:endParaRPr lang="en-US" altLang="zh-CN" b="0" dirty="0"/>
          </a:p>
          <a:p>
            <a:pPr lvl="1">
              <a:lnSpc>
                <a:spcPct val="100000"/>
              </a:lnSpc>
            </a:pPr>
            <a:r>
              <a:rPr lang="zh-CN" altLang="en-US" b="0" dirty="0"/>
              <a:t>成本的衡量：为获得商品或服务支付的货币量</a:t>
            </a:r>
            <a:endParaRPr lang="en-US" altLang="zh-CN" b="0" dirty="0"/>
          </a:p>
          <a:p>
            <a:pPr eaLnBrk="1" hangingPunct="1">
              <a:lnSpc>
                <a:spcPct val="90000"/>
              </a:lnSpc>
            </a:pPr>
            <a:r>
              <a:rPr lang="zh-CN" altLang="en-US" dirty="0"/>
              <a:t>什么是项目成本管理？</a:t>
            </a:r>
            <a:endParaRPr lang="en-US" altLang="zh-CN" dirty="0"/>
          </a:p>
          <a:p>
            <a:pPr lvl="1">
              <a:lnSpc>
                <a:spcPct val="90000"/>
              </a:lnSpc>
            </a:pPr>
            <a:r>
              <a:rPr lang="zh-CN" altLang="en-US" dirty="0"/>
              <a:t>确保在批准的预算范围内完成项目所需的各个过程</a:t>
            </a:r>
          </a:p>
          <a:p>
            <a:pPr>
              <a:lnSpc>
                <a:spcPct val="90000"/>
              </a:lnSpc>
            </a:pPr>
            <a:r>
              <a:rPr lang="zh-CN" altLang="en-US" dirty="0"/>
              <a:t>项目成本管理的核心概念</a:t>
            </a:r>
            <a:endParaRPr lang="en-US" altLang="zh-CN" dirty="0"/>
          </a:p>
          <a:p>
            <a:pPr lvl="1"/>
            <a:r>
              <a:rPr lang="zh-CN" altLang="en-US" b="0" dirty="0"/>
              <a:t>项目成本管理重点关注完成项目活动所需资源的成本，但同时也应考虑</a:t>
            </a:r>
            <a:r>
              <a:rPr lang="zh-CN" altLang="en-US" dirty="0"/>
              <a:t>项目决策</a:t>
            </a:r>
            <a:r>
              <a:rPr lang="zh-CN" altLang="en-US" b="0" dirty="0"/>
              <a:t>对项目产品、服务或成果的使用成本、维护成本和支持成本的影响。</a:t>
            </a:r>
            <a:endParaRPr lang="en-US" altLang="zh-CN" b="0" dirty="0"/>
          </a:p>
          <a:p>
            <a:pPr lvl="2"/>
            <a:r>
              <a:rPr lang="zh-CN" altLang="en-US" b="0" dirty="0"/>
              <a:t>例如，限制设计审查的次数可降低项目成本，但可能增加由此带来的产品运营成本。</a:t>
            </a:r>
            <a:endParaRPr lang="en-US" altLang="zh-CN" b="0" dirty="0"/>
          </a:p>
          <a:p>
            <a:pPr lvl="1"/>
            <a:r>
              <a:rPr lang="zh-CN" altLang="en-US" b="0" dirty="0">
                <a:latin typeface="SourceHanSansSC-Regular"/>
              </a:rPr>
              <a:t>成本管理的另一个方面是认识到不同的相关方会在不同的时间，用不同的方法</a:t>
            </a:r>
            <a:r>
              <a:rPr lang="zh-CN" altLang="en-US" dirty="0">
                <a:latin typeface="SourceHanSansSC-Regular"/>
              </a:rPr>
              <a:t>测算项目成本</a:t>
            </a:r>
            <a:r>
              <a:rPr lang="zh-CN" altLang="en-US" b="0" dirty="0">
                <a:latin typeface="SourceHanSansSC-Regular"/>
              </a:rPr>
              <a:t>。</a:t>
            </a:r>
            <a:endParaRPr lang="en-US" altLang="zh-CN" b="0" dirty="0">
              <a:latin typeface="SourceHanSansSC-Regular"/>
            </a:endParaRPr>
          </a:p>
          <a:p>
            <a:pPr lvl="2"/>
            <a:r>
              <a:rPr lang="zh-CN" altLang="en-US" b="0" dirty="0">
                <a:latin typeface="SourceHanSansSC-Regular"/>
              </a:rPr>
              <a:t>例如，对于某采购品，可在做出采购决策、下达订单、实际交货、实际成本发生或进行项目会计记账时，测算其成本。</a:t>
            </a:r>
            <a:endParaRPr lang="en-US" altLang="zh-CN" b="0" dirty="0">
              <a:latin typeface="SourceHanSansSC-Regular"/>
            </a:endParaRPr>
          </a:p>
          <a:p>
            <a:pPr lvl="2"/>
            <a:r>
              <a:rPr lang="zh-CN" altLang="en-US" b="0" dirty="0">
                <a:latin typeface="SourceHanSansSC-Regular"/>
              </a:rPr>
              <a:t>例如，项目成本管理还可能需使用其他过程和许多通用财务管理技术，如投资回报率分析、现金流贴现分析和投资回收期分析等。</a:t>
            </a:r>
            <a:endParaRPr lang="en-US" altLang="zh-CN" b="0" dirty="0">
              <a:latin typeface="SourceHanSansSC-Regular"/>
            </a:endParaRPr>
          </a:p>
          <a:p>
            <a:pPr lvl="1"/>
            <a:endParaRPr lang="en-US" altLang="zh-CN" sz="2200" dirty="0">
              <a:ea typeface="幼圆" panose="02010509060101010101" pitchFamily="49" charset="-122"/>
            </a:endParaRPr>
          </a:p>
        </p:txBody>
      </p:sp>
      <p:sp>
        <p:nvSpPr>
          <p:cNvPr id="4" name="标题 1">
            <a:extLst>
              <a:ext uri="{FF2B5EF4-FFF2-40B4-BE49-F238E27FC236}">
                <a16:creationId xmlns:a16="http://schemas.microsoft.com/office/drawing/2014/main" id="{551E5569-4C7F-EB51-3C6C-F56DDEE57FC7}"/>
              </a:ext>
            </a:extLst>
          </p:cNvPr>
          <p:cNvSpPr txBox="1">
            <a:spLocks/>
          </p:cNvSpPr>
          <p:nvPr/>
        </p:nvSpPr>
        <p:spPr>
          <a:xfrm>
            <a:off x="609600" y="819874"/>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pPr algn="ctr"/>
            <a:r>
              <a:rPr lang="en-US" altLang="zh-CN" dirty="0"/>
              <a:t>13.0 </a:t>
            </a:r>
            <a:r>
              <a:rPr lang="zh-CN" altLang="en-US" dirty="0"/>
              <a:t>项目成本管理概述</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a:extLst>
              <a:ext uri="{FF2B5EF4-FFF2-40B4-BE49-F238E27FC236}">
                <a16:creationId xmlns:a16="http://schemas.microsoft.com/office/drawing/2014/main" id="{3F234B6F-9D6A-4DA1-9B89-AD766054DA99}"/>
              </a:ext>
            </a:extLst>
          </p:cNvPr>
          <p:cNvSpPr>
            <a:spLocks noGrp="1"/>
          </p:cNvSpPr>
          <p:nvPr>
            <p:ph type="title"/>
          </p:nvPr>
        </p:nvSpPr>
        <p:spPr/>
        <p:txBody>
          <a:bodyPr/>
          <a:lstStyle/>
          <a:p>
            <a:pPr algn="ctr" eaLnBrk="1" hangingPunct="1"/>
            <a:r>
              <a:rPr lang="en-US" altLang="zh-CN" dirty="0"/>
              <a:t>13.0 </a:t>
            </a:r>
            <a:r>
              <a:rPr lang="zh-CN" altLang="en-US" dirty="0"/>
              <a:t>项目成本管理概述</a:t>
            </a:r>
          </a:p>
        </p:txBody>
      </p:sp>
      <p:sp>
        <p:nvSpPr>
          <p:cNvPr id="4" name="Rectangle 3">
            <a:extLst>
              <a:ext uri="{FF2B5EF4-FFF2-40B4-BE49-F238E27FC236}">
                <a16:creationId xmlns:a16="http://schemas.microsoft.com/office/drawing/2014/main" id="{186A5046-185E-4E26-B6DA-D0012731012F}"/>
              </a:ext>
            </a:extLst>
          </p:cNvPr>
          <p:cNvSpPr txBox="1">
            <a:spLocks noChangeArrowheads="1"/>
          </p:cNvSpPr>
          <p:nvPr/>
        </p:nvSpPr>
        <p:spPr bwMode="auto">
          <a:xfrm>
            <a:off x="613885" y="1285876"/>
            <a:ext cx="10972800" cy="714375"/>
          </a:xfrm>
          <a:prstGeom prst="rect">
            <a:avLst/>
          </a:prstGeom>
          <a:noFill/>
          <a:ln w="9525">
            <a:noFill/>
            <a:miter lim="800000"/>
            <a:headEnd/>
            <a:tailEnd/>
          </a:ln>
          <a:effectLst/>
        </p:spPr>
        <p:txBody>
          <a:bodyPr/>
          <a:lstStyle/>
          <a:p>
            <a:pPr>
              <a:spcBef>
                <a:spcPct val="20000"/>
              </a:spcBef>
              <a:buClr>
                <a:schemeClr val="hlink"/>
              </a:buClr>
              <a:defRPr/>
            </a:pPr>
            <a:r>
              <a:rPr lang="zh-CN" altLang="en-US" sz="2400" kern="0" dirty="0">
                <a:latin typeface="微软雅黑" pitchFamily="34" charset="-122"/>
                <a:ea typeface="微软雅黑" pitchFamily="34" charset="-122"/>
              </a:rPr>
              <a:t>成本管理是一个组织用来计划、监督和控制成本以支持管理决策和管理行为的基本流程。</a:t>
            </a:r>
          </a:p>
        </p:txBody>
      </p:sp>
      <p:sp>
        <p:nvSpPr>
          <p:cNvPr id="5" name="Rectangle 6">
            <a:extLst>
              <a:ext uri="{FF2B5EF4-FFF2-40B4-BE49-F238E27FC236}">
                <a16:creationId xmlns:a16="http://schemas.microsoft.com/office/drawing/2014/main" id="{BA933967-5CCE-4E8A-B2D8-68E17BF1A07A}"/>
              </a:ext>
            </a:extLst>
          </p:cNvPr>
          <p:cNvSpPr>
            <a:spLocks noChangeArrowheads="1"/>
          </p:cNvSpPr>
          <p:nvPr/>
        </p:nvSpPr>
        <p:spPr bwMode="auto">
          <a:xfrm>
            <a:off x="1698165" y="2190740"/>
            <a:ext cx="3571875"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企业成本管理</a:t>
            </a:r>
          </a:p>
        </p:txBody>
      </p:sp>
      <p:sp>
        <p:nvSpPr>
          <p:cNvPr id="5125" name="Rectangle 7">
            <a:extLst>
              <a:ext uri="{FF2B5EF4-FFF2-40B4-BE49-F238E27FC236}">
                <a16:creationId xmlns:a16="http://schemas.microsoft.com/office/drawing/2014/main" id="{A85C585B-3D91-4BE7-80E8-9B5EF1B514C2}"/>
              </a:ext>
            </a:extLst>
          </p:cNvPr>
          <p:cNvSpPr>
            <a:spLocks noChangeArrowheads="1"/>
          </p:cNvSpPr>
          <p:nvPr/>
        </p:nvSpPr>
        <p:spPr bwMode="auto">
          <a:xfrm>
            <a:off x="1698165" y="2622541"/>
            <a:ext cx="3857625" cy="925513"/>
          </a:xfrm>
          <a:prstGeom prst="rect">
            <a:avLst/>
          </a:prstGeom>
          <a:solidFill>
            <a:schemeClr val="bg1"/>
          </a:solidFill>
          <a:ln w="9525">
            <a:solidFill>
              <a:schemeClr val="tx1"/>
            </a:solidFill>
            <a:miter lim="800000"/>
            <a:headEnd/>
            <a:tailEnd/>
          </a:ln>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zh-CN" altLang="en-US" b="0" dirty="0">
                <a:latin typeface="微软雅黑" panose="020B0503020204020204" pitchFamily="34" charset="-122"/>
                <a:ea typeface="微软雅黑" panose="020B0503020204020204" pitchFamily="34" charset="-122"/>
              </a:rPr>
              <a:t>企业生产经营过程中各项成本核算、成本分析、成本决策和成本控制等一系列科学管理行为的总称</a:t>
            </a:r>
          </a:p>
        </p:txBody>
      </p:sp>
      <p:sp>
        <p:nvSpPr>
          <p:cNvPr id="7" name="Rectangle 6">
            <a:extLst>
              <a:ext uri="{FF2B5EF4-FFF2-40B4-BE49-F238E27FC236}">
                <a16:creationId xmlns:a16="http://schemas.microsoft.com/office/drawing/2014/main" id="{47F69C13-A055-4440-982C-54706F63072D}"/>
              </a:ext>
            </a:extLst>
          </p:cNvPr>
          <p:cNvSpPr>
            <a:spLocks noChangeArrowheads="1"/>
          </p:cNvSpPr>
          <p:nvPr/>
        </p:nvSpPr>
        <p:spPr bwMode="auto">
          <a:xfrm>
            <a:off x="4176252" y="3646253"/>
            <a:ext cx="3571875"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产品成本管理</a:t>
            </a:r>
          </a:p>
        </p:txBody>
      </p:sp>
      <p:sp>
        <p:nvSpPr>
          <p:cNvPr id="5127" name="Rectangle 7">
            <a:extLst>
              <a:ext uri="{FF2B5EF4-FFF2-40B4-BE49-F238E27FC236}">
                <a16:creationId xmlns:a16="http://schemas.microsoft.com/office/drawing/2014/main" id="{B481F9D1-3D19-4D97-8618-A86A98D9D5A7}"/>
              </a:ext>
            </a:extLst>
          </p:cNvPr>
          <p:cNvSpPr>
            <a:spLocks noChangeArrowheads="1"/>
          </p:cNvSpPr>
          <p:nvPr/>
        </p:nvSpPr>
        <p:spPr bwMode="auto">
          <a:xfrm>
            <a:off x="4176252" y="4078054"/>
            <a:ext cx="3571875" cy="925513"/>
          </a:xfrm>
          <a:prstGeom prst="rect">
            <a:avLst/>
          </a:prstGeom>
          <a:solidFill>
            <a:schemeClr val="bg1"/>
          </a:solidFill>
          <a:ln w="9525">
            <a:solidFill>
              <a:schemeClr val="tx1"/>
            </a:solidFill>
            <a:miter lim="800000"/>
            <a:headEnd/>
            <a:tailEnd/>
          </a:ln>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zh-CN" altLang="en-US" b="0" dirty="0">
                <a:latin typeface="微软雅黑" panose="020B0503020204020204" pitchFamily="34" charset="-122"/>
                <a:ea typeface="微软雅黑" panose="020B0503020204020204" pitchFamily="34" charset="-122"/>
              </a:rPr>
              <a:t>以产品为核算单元，围绕产品生命周期进行的成本核算，分析，决策和控制的全过程</a:t>
            </a:r>
          </a:p>
        </p:txBody>
      </p:sp>
      <p:sp>
        <p:nvSpPr>
          <p:cNvPr id="9" name="Rectangle 6">
            <a:extLst>
              <a:ext uri="{FF2B5EF4-FFF2-40B4-BE49-F238E27FC236}">
                <a16:creationId xmlns:a16="http://schemas.microsoft.com/office/drawing/2014/main" id="{C669015A-BB38-40C7-92FB-B8E21E6D0E8F}"/>
              </a:ext>
            </a:extLst>
          </p:cNvPr>
          <p:cNvSpPr>
            <a:spLocks noChangeArrowheads="1"/>
          </p:cNvSpPr>
          <p:nvPr/>
        </p:nvSpPr>
        <p:spPr bwMode="auto">
          <a:xfrm>
            <a:off x="6319377" y="5152563"/>
            <a:ext cx="3571875"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项目成本管理</a:t>
            </a:r>
          </a:p>
        </p:txBody>
      </p:sp>
      <p:sp>
        <p:nvSpPr>
          <p:cNvPr id="5129" name="Rectangle 7">
            <a:extLst>
              <a:ext uri="{FF2B5EF4-FFF2-40B4-BE49-F238E27FC236}">
                <a16:creationId xmlns:a16="http://schemas.microsoft.com/office/drawing/2014/main" id="{5CFD363E-2508-4116-87D0-98D32E1F3C4F}"/>
              </a:ext>
            </a:extLst>
          </p:cNvPr>
          <p:cNvSpPr>
            <a:spLocks noChangeArrowheads="1"/>
          </p:cNvSpPr>
          <p:nvPr/>
        </p:nvSpPr>
        <p:spPr bwMode="auto">
          <a:xfrm>
            <a:off x="6319377" y="5584364"/>
            <a:ext cx="3571875" cy="925513"/>
          </a:xfrm>
          <a:prstGeom prst="rect">
            <a:avLst/>
          </a:prstGeom>
          <a:solidFill>
            <a:schemeClr val="bg1"/>
          </a:solidFill>
          <a:ln w="9525">
            <a:solidFill>
              <a:schemeClr val="tx1"/>
            </a:solidFill>
            <a:miter lim="800000"/>
            <a:headEnd/>
            <a:tailEnd/>
          </a:ln>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zh-CN" altLang="en-US" b="0" dirty="0">
                <a:latin typeface="微软雅黑" panose="020B0503020204020204" pitchFamily="34" charset="-122"/>
                <a:ea typeface="微软雅黑" panose="020B0503020204020204" pitchFamily="34" charset="-122"/>
              </a:rPr>
              <a:t>项目成本管理包括对成本进行估算，预算和控制的各过程，从而确保项目在批准的预算内完工。</a:t>
            </a:r>
          </a:p>
        </p:txBody>
      </p:sp>
      <p:sp>
        <p:nvSpPr>
          <p:cNvPr id="14" name="虚尾箭头 13">
            <a:extLst>
              <a:ext uri="{FF2B5EF4-FFF2-40B4-BE49-F238E27FC236}">
                <a16:creationId xmlns:a16="http://schemas.microsoft.com/office/drawing/2014/main" id="{9BD367A6-76D6-49EB-81F8-BC90A1D34E39}"/>
              </a:ext>
            </a:extLst>
          </p:cNvPr>
          <p:cNvSpPr/>
          <p:nvPr/>
        </p:nvSpPr>
        <p:spPr bwMode="auto">
          <a:xfrm rot="2216729">
            <a:off x="2039477" y="4762039"/>
            <a:ext cx="4071937" cy="428625"/>
          </a:xfrm>
          <a:prstGeom prst="stripedRightArrow">
            <a:avLst>
              <a:gd name="adj1" fmla="val 50000"/>
              <a:gd name="adj2" fmla="val 50000"/>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400" dirty="0">
              <a:solidFill>
                <a:srgbClr val="FFFFCC"/>
              </a:solidFill>
              <a:latin typeface="+mj-ea"/>
              <a:ea typeface="+mj-ea"/>
            </a:endParaRPr>
          </a:p>
        </p:txBody>
      </p:sp>
      <p:sp>
        <p:nvSpPr>
          <p:cNvPr id="15" name="椭圆 14">
            <a:extLst>
              <a:ext uri="{FF2B5EF4-FFF2-40B4-BE49-F238E27FC236}">
                <a16:creationId xmlns:a16="http://schemas.microsoft.com/office/drawing/2014/main" id="{1483E5EA-1441-446F-9054-480C50AC9316}"/>
              </a:ext>
            </a:extLst>
          </p:cNvPr>
          <p:cNvSpPr/>
          <p:nvPr/>
        </p:nvSpPr>
        <p:spPr bwMode="auto">
          <a:xfrm>
            <a:off x="4984290" y="2047866"/>
            <a:ext cx="785813" cy="714375"/>
          </a:xfrm>
          <a:prstGeom prst="ellips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altLang="zh-CN" sz="1200" dirty="0">
                <a:solidFill>
                  <a:srgbClr val="FFFFCC"/>
                </a:solidFill>
                <a:latin typeface="+mj-ea"/>
                <a:ea typeface="+mj-ea"/>
              </a:rPr>
              <a:t>ERP</a:t>
            </a:r>
            <a:endParaRPr lang="zh-CN" altLang="en-US" sz="1200" dirty="0">
              <a:solidFill>
                <a:srgbClr val="FFFFCC"/>
              </a:solidFill>
              <a:latin typeface="+mj-ea"/>
              <a:ea typeface="+mj-ea"/>
            </a:endParaRPr>
          </a:p>
        </p:txBody>
      </p:sp>
      <p:sp>
        <p:nvSpPr>
          <p:cNvPr id="16" name="椭圆 15">
            <a:extLst>
              <a:ext uri="{FF2B5EF4-FFF2-40B4-BE49-F238E27FC236}">
                <a16:creationId xmlns:a16="http://schemas.microsoft.com/office/drawing/2014/main" id="{000165B3-322A-4154-A173-8149395F5254}"/>
              </a:ext>
            </a:extLst>
          </p:cNvPr>
          <p:cNvSpPr/>
          <p:nvPr/>
        </p:nvSpPr>
        <p:spPr bwMode="auto">
          <a:xfrm>
            <a:off x="7533814" y="3503379"/>
            <a:ext cx="785813" cy="714375"/>
          </a:xfrm>
          <a:prstGeom prst="ellips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altLang="zh-CN" sz="1200" dirty="0">
                <a:solidFill>
                  <a:srgbClr val="FFFFCC"/>
                </a:solidFill>
                <a:latin typeface="+mj-ea"/>
                <a:ea typeface="+mj-ea"/>
              </a:rPr>
              <a:t>PLM</a:t>
            </a:r>
            <a:endParaRPr lang="zh-CN" altLang="en-US" sz="1200" dirty="0">
              <a:solidFill>
                <a:srgbClr val="FFFFCC"/>
              </a:solidFill>
              <a:latin typeface="+mj-ea"/>
              <a:ea typeface="+mj-ea"/>
            </a:endParaRPr>
          </a:p>
        </p:txBody>
      </p:sp>
      <p:sp>
        <p:nvSpPr>
          <p:cNvPr id="17" name="椭圆 16">
            <a:extLst>
              <a:ext uri="{FF2B5EF4-FFF2-40B4-BE49-F238E27FC236}">
                <a16:creationId xmlns:a16="http://schemas.microsoft.com/office/drawing/2014/main" id="{35E7504B-33E8-4118-8DD3-13C96C94ED05}"/>
              </a:ext>
            </a:extLst>
          </p:cNvPr>
          <p:cNvSpPr/>
          <p:nvPr/>
        </p:nvSpPr>
        <p:spPr bwMode="auto">
          <a:xfrm>
            <a:off x="9534064" y="5009689"/>
            <a:ext cx="785813" cy="714375"/>
          </a:xfrm>
          <a:prstGeom prst="ellips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altLang="zh-CN" sz="1200" dirty="0">
                <a:solidFill>
                  <a:srgbClr val="FFFFCC"/>
                </a:solidFill>
                <a:latin typeface="+mj-ea"/>
                <a:ea typeface="+mj-ea"/>
              </a:rPr>
              <a:t>PMS</a:t>
            </a:r>
            <a:endParaRPr lang="zh-CN" altLang="en-US" sz="1200" dirty="0">
              <a:solidFill>
                <a:srgbClr val="FFFFCC"/>
              </a:solidFill>
              <a:latin typeface="+mj-ea"/>
              <a:ea typeface="+mj-ea"/>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18827D83-7882-4F0A-81BE-9C2AFF1EE8BA}"/>
              </a:ext>
            </a:extLst>
          </p:cNvPr>
          <p:cNvSpPr>
            <a:spLocks noGrp="1"/>
          </p:cNvSpPr>
          <p:nvPr>
            <p:ph type="title"/>
          </p:nvPr>
        </p:nvSpPr>
        <p:spPr/>
        <p:txBody>
          <a:bodyPr/>
          <a:lstStyle/>
          <a:p>
            <a:r>
              <a:rPr lang="zh-CN" altLang="en-US" dirty="0"/>
              <a:t>项目成本管理的基本原理</a:t>
            </a:r>
          </a:p>
        </p:txBody>
      </p:sp>
      <p:sp>
        <p:nvSpPr>
          <p:cNvPr id="94" name="内容占位符 2">
            <a:extLst>
              <a:ext uri="{FF2B5EF4-FFF2-40B4-BE49-F238E27FC236}">
                <a16:creationId xmlns:a16="http://schemas.microsoft.com/office/drawing/2014/main" id="{8F2D6CB8-FA4E-4331-8C2E-DFF4FFA7A273}"/>
              </a:ext>
            </a:extLst>
          </p:cNvPr>
          <p:cNvSpPr>
            <a:spLocks noGrp="1"/>
          </p:cNvSpPr>
          <p:nvPr>
            <p:ph idx="1"/>
          </p:nvPr>
        </p:nvSpPr>
        <p:spPr>
          <a:xfrm>
            <a:off x="1037320" y="1323296"/>
            <a:ext cx="10215786" cy="5066745"/>
          </a:xfrm>
        </p:spPr>
        <p:txBody>
          <a:bodyPr/>
          <a:lstStyle/>
          <a:p>
            <a:pPr>
              <a:lnSpc>
                <a:spcPct val="130000"/>
              </a:lnSpc>
              <a:defRPr/>
            </a:pPr>
            <a:r>
              <a:rPr lang="zh-CN" altLang="zh-CN" kern="0" dirty="0">
                <a:solidFill>
                  <a:srgbClr val="121212"/>
                </a:solidFill>
                <a:effectLst/>
                <a:ea typeface="微软雅黑" panose="020B0503020204020204" pitchFamily="34" charset="-122"/>
                <a:cs typeface="宋体" panose="02010600030101010101" pitchFamily="2" charset="-122"/>
              </a:rPr>
              <a:t>利润</a:t>
            </a:r>
            <a:r>
              <a:rPr lang="zh-CN" altLang="en-US" sz="2000" dirty="0"/>
              <a:t>（</a:t>
            </a:r>
            <a:r>
              <a:rPr lang="en-US" altLang="zh-CN" sz="2000" dirty="0"/>
              <a:t>profit</a:t>
            </a:r>
            <a:r>
              <a:rPr lang="zh-CN" altLang="en-US" sz="2000" dirty="0"/>
              <a:t>） </a:t>
            </a:r>
            <a:r>
              <a:rPr lang="zh-CN" altLang="zh-CN" kern="0" dirty="0">
                <a:solidFill>
                  <a:srgbClr val="121212"/>
                </a:solidFill>
                <a:effectLst/>
                <a:ea typeface="微软雅黑" panose="020B0503020204020204" pitchFamily="34" charset="-122"/>
                <a:cs typeface="宋体" panose="02010600030101010101" pitchFamily="2" charset="-122"/>
              </a:rPr>
              <a:t>：收入减去支</a:t>
            </a:r>
            <a:r>
              <a:rPr lang="zh-CN" altLang="en-US" kern="0" dirty="0">
                <a:solidFill>
                  <a:srgbClr val="121212"/>
                </a:solidFill>
                <a:effectLst/>
                <a:ea typeface="微软雅黑" panose="020B0503020204020204" pitchFamily="34" charset="-122"/>
                <a:cs typeface="宋体" panose="02010600030101010101" pitchFamily="2" charset="-122"/>
              </a:rPr>
              <a:t>出</a:t>
            </a:r>
            <a:endParaRPr lang="en-US" altLang="zh-CN" kern="0" dirty="0">
              <a:solidFill>
                <a:srgbClr val="121212"/>
              </a:solidFill>
              <a:effectLst/>
              <a:ea typeface="微软雅黑" panose="020B0503020204020204" pitchFamily="34" charset="-122"/>
              <a:cs typeface="宋体" panose="02010600030101010101" pitchFamily="2" charset="-122"/>
            </a:endParaRPr>
          </a:p>
          <a:p>
            <a:pPr>
              <a:lnSpc>
                <a:spcPct val="130000"/>
              </a:lnSpc>
              <a:defRPr/>
            </a:pPr>
            <a:r>
              <a:rPr lang="zh-CN" altLang="zh-CN" kern="0" dirty="0">
                <a:solidFill>
                  <a:srgbClr val="121212"/>
                </a:solidFill>
                <a:effectLst/>
                <a:ea typeface="微软雅黑" panose="020B0503020204020204" pitchFamily="34" charset="-122"/>
                <a:cs typeface="宋体" panose="02010600030101010101" pitchFamily="2" charset="-122"/>
              </a:rPr>
              <a:t>利润率</a:t>
            </a:r>
            <a:r>
              <a:rPr lang="zh-CN" altLang="en-US" sz="2000" dirty="0"/>
              <a:t>（</a:t>
            </a:r>
            <a:r>
              <a:rPr lang="en-US" altLang="zh-CN" sz="2000" dirty="0"/>
              <a:t>profit margin</a:t>
            </a:r>
            <a:r>
              <a:rPr lang="zh-CN" altLang="en-US" sz="2000" dirty="0"/>
              <a:t>） </a:t>
            </a:r>
            <a:r>
              <a:rPr lang="zh-CN" altLang="zh-CN" kern="0" dirty="0">
                <a:solidFill>
                  <a:srgbClr val="121212"/>
                </a:solidFill>
                <a:effectLst/>
                <a:ea typeface="微软雅黑" panose="020B0503020204020204" pitchFamily="34" charset="-122"/>
                <a:cs typeface="宋体" panose="02010600030101010101" pitchFamily="2" charset="-122"/>
              </a:rPr>
              <a:t>：利润与收入之</a:t>
            </a:r>
            <a:r>
              <a:rPr lang="zh-CN" altLang="en-US" kern="0" dirty="0">
                <a:solidFill>
                  <a:srgbClr val="121212"/>
                </a:solidFill>
                <a:cs typeface="宋体" panose="02010600030101010101" pitchFamily="2" charset="-122"/>
              </a:rPr>
              <a:t>比</a:t>
            </a:r>
            <a:endParaRPr lang="en-US" altLang="zh-CN" kern="0" dirty="0">
              <a:solidFill>
                <a:srgbClr val="121212"/>
              </a:solidFill>
              <a:cs typeface="宋体" panose="02010600030101010101" pitchFamily="2" charset="-122"/>
            </a:endParaRPr>
          </a:p>
          <a:p>
            <a:pPr>
              <a:lnSpc>
                <a:spcPct val="130000"/>
              </a:lnSpc>
              <a:defRPr/>
            </a:pPr>
            <a:r>
              <a:rPr lang="zh-CN" altLang="zh-CN" kern="0" dirty="0">
                <a:solidFill>
                  <a:srgbClr val="121212"/>
                </a:solidFill>
                <a:effectLst/>
                <a:ea typeface="微软雅黑" panose="020B0503020204020204" pitchFamily="34" charset="-122"/>
                <a:cs typeface="宋体" panose="02010600030101010101" pitchFamily="2" charset="-122"/>
              </a:rPr>
              <a:t>生命周期成本</a:t>
            </a:r>
            <a:r>
              <a:rPr lang="zh-CN" altLang="en-US" sz="2000" dirty="0">
                <a:solidFill>
                  <a:schemeClr val="tx1"/>
                </a:solidFill>
              </a:rPr>
              <a:t>（</a:t>
            </a:r>
            <a:r>
              <a:rPr lang="en-US" altLang="zh-CN" sz="2000" dirty="0">
                <a:solidFill>
                  <a:schemeClr val="tx1"/>
                </a:solidFill>
              </a:rPr>
              <a:t>life cycle costing</a:t>
            </a:r>
            <a:r>
              <a:rPr lang="zh-CN" altLang="en-US" sz="2000" dirty="0">
                <a:solidFill>
                  <a:schemeClr val="tx1"/>
                </a:solidFill>
              </a:rPr>
              <a:t>）</a:t>
            </a:r>
            <a:r>
              <a:rPr lang="zh-CN" altLang="zh-CN" kern="0" dirty="0">
                <a:solidFill>
                  <a:srgbClr val="121212"/>
                </a:solidFill>
                <a:effectLst/>
                <a:ea typeface="微软雅黑" panose="020B0503020204020204" pitchFamily="34" charset="-122"/>
                <a:cs typeface="宋体" panose="02010600030101010101" pitchFamily="2" charset="-122"/>
              </a:rPr>
              <a:t>：项目的总持有成本，或开发加维护成</a:t>
            </a:r>
            <a:r>
              <a:rPr lang="zh-CN" altLang="en-US" kern="0" dirty="0">
                <a:solidFill>
                  <a:srgbClr val="121212"/>
                </a:solidFill>
                <a:effectLst/>
                <a:ea typeface="微软雅黑" panose="020B0503020204020204" pitchFamily="34" charset="-122"/>
                <a:cs typeface="宋体" panose="02010600030101010101" pitchFamily="2" charset="-122"/>
              </a:rPr>
              <a:t>本</a:t>
            </a:r>
            <a:endParaRPr lang="en-US" altLang="zh-CN" kern="0" dirty="0">
              <a:solidFill>
                <a:srgbClr val="121212"/>
              </a:solidFill>
              <a:effectLst/>
              <a:ea typeface="微软雅黑" panose="020B0503020204020204" pitchFamily="34" charset="-122"/>
              <a:cs typeface="宋体" panose="02010600030101010101" pitchFamily="2" charset="-122"/>
            </a:endParaRPr>
          </a:p>
          <a:p>
            <a:pPr lvl="1">
              <a:lnSpc>
                <a:spcPct val="130000"/>
              </a:lnSpc>
              <a:defRPr/>
            </a:pPr>
            <a:r>
              <a:rPr lang="zh-CN" altLang="en-US" kern="0" dirty="0">
                <a:solidFill>
                  <a:srgbClr val="121212"/>
                </a:solidFill>
                <a:effectLst/>
                <a:ea typeface="微软雅黑" panose="020B0503020204020204" pitchFamily="34" charset="-122"/>
                <a:cs typeface="宋体" panose="02010600030101010101" pitchFamily="2" charset="-122"/>
              </a:rPr>
              <a:t>通过在项目的整个生命周期来对项目成本进行全面的审视，来帮助你对项目的财务成本和收益进行精确的计划</a:t>
            </a:r>
            <a:endParaRPr lang="en-US" altLang="zh-CN" kern="0" dirty="0">
              <a:solidFill>
                <a:srgbClr val="121212"/>
              </a:solidFill>
              <a:effectLst/>
              <a:ea typeface="微软雅黑" panose="020B0503020204020204" pitchFamily="34" charset="-122"/>
              <a:cs typeface="宋体" panose="02010600030101010101" pitchFamily="2" charset="-122"/>
            </a:endParaRPr>
          </a:p>
          <a:p>
            <a:pPr>
              <a:lnSpc>
                <a:spcPct val="130000"/>
              </a:lnSpc>
              <a:defRPr/>
            </a:pPr>
            <a:r>
              <a:rPr lang="zh-CN" altLang="zh-CN" kern="0" dirty="0">
                <a:solidFill>
                  <a:srgbClr val="121212"/>
                </a:solidFill>
                <a:effectLst/>
                <a:ea typeface="微软雅黑" panose="020B0503020204020204" pitchFamily="34" charset="-122"/>
                <a:cs typeface="宋体" panose="02010600030101010101" pitchFamily="2" charset="-122"/>
              </a:rPr>
              <a:t>现金流分析：预估项目的年度成本和收益以及产生的年度现金</a:t>
            </a:r>
            <a:r>
              <a:rPr lang="zh-CN" altLang="en-US" kern="0" dirty="0">
                <a:solidFill>
                  <a:srgbClr val="121212"/>
                </a:solidFill>
                <a:cs typeface="宋体" panose="02010600030101010101" pitchFamily="2" charset="-122"/>
              </a:rPr>
              <a:t>流</a:t>
            </a:r>
            <a:endParaRPr lang="en-US" altLang="zh-CN" kern="0" dirty="0">
              <a:solidFill>
                <a:srgbClr val="121212"/>
              </a:solidFill>
              <a:cs typeface="宋体" panose="02010600030101010101" pitchFamily="2" charset="-122"/>
            </a:endParaRPr>
          </a:p>
          <a:p>
            <a:pPr>
              <a:lnSpc>
                <a:spcPct val="130000"/>
              </a:lnSpc>
              <a:defRPr/>
            </a:pPr>
            <a:r>
              <a:rPr lang="zh-CN" altLang="zh-CN" kern="0" dirty="0">
                <a:solidFill>
                  <a:srgbClr val="121212"/>
                </a:solidFill>
                <a:effectLst/>
                <a:ea typeface="微软雅黑" panose="020B0503020204020204" pitchFamily="34" charset="-122"/>
                <a:cs typeface="宋体" panose="02010600030101010101" pitchFamily="2" charset="-122"/>
              </a:rPr>
              <a:t>有形成本或收益</a:t>
            </a:r>
            <a:r>
              <a:rPr lang="zh-CN" altLang="en-US" kern="0" dirty="0">
                <a:solidFill>
                  <a:srgbClr val="121212"/>
                </a:solidFill>
                <a:effectLst/>
                <a:ea typeface="微软雅黑" panose="020B0503020204020204" pitchFamily="34" charset="-122"/>
                <a:cs typeface="宋体" panose="02010600030101010101" pitchFamily="2" charset="-122"/>
              </a:rPr>
              <a:t>：</a:t>
            </a:r>
            <a:r>
              <a:rPr lang="zh-CN" altLang="zh-CN" kern="0" dirty="0">
                <a:solidFill>
                  <a:srgbClr val="121212"/>
                </a:solidFill>
                <a:effectLst/>
                <a:ea typeface="微软雅黑" panose="020B0503020204020204" pitchFamily="34" charset="-122"/>
                <a:cs typeface="宋体" panose="02010600030101010101" pitchFamily="2" charset="-122"/>
              </a:rPr>
              <a:t>是组织可以直接用货币计量的成本或</a:t>
            </a:r>
            <a:r>
              <a:rPr lang="zh-CN" altLang="en-US" kern="0" dirty="0">
                <a:solidFill>
                  <a:srgbClr val="121212"/>
                </a:solidFill>
                <a:effectLst/>
                <a:ea typeface="微软雅黑" panose="020B0503020204020204" pitchFamily="34" charset="-122"/>
                <a:cs typeface="宋体" panose="02010600030101010101" pitchFamily="2" charset="-122"/>
              </a:rPr>
              <a:t>收益</a:t>
            </a:r>
            <a:endParaRPr lang="en-US" altLang="zh-CN" kern="0" dirty="0">
              <a:solidFill>
                <a:srgbClr val="121212"/>
              </a:solidFill>
              <a:effectLst/>
              <a:ea typeface="微软雅黑" panose="020B0503020204020204" pitchFamily="34" charset="-122"/>
              <a:cs typeface="宋体" panose="02010600030101010101" pitchFamily="2" charset="-122"/>
            </a:endParaRPr>
          </a:p>
          <a:p>
            <a:pPr>
              <a:lnSpc>
                <a:spcPct val="130000"/>
              </a:lnSpc>
              <a:defRPr/>
            </a:pPr>
            <a:r>
              <a:rPr lang="zh-CN" altLang="zh-CN" kern="0" dirty="0">
                <a:solidFill>
                  <a:srgbClr val="121212"/>
                </a:solidFill>
                <a:effectLst/>
                <a:ea typeface="微软雅黑" panose="020B0503020204020204" pitchFamily="34" charset="-122"/>
                <a:cs typeface="宋体" panose="02010600030101010101" pitchFamily="2" charset="-122"/>
              </a:rPr>
              <a:t>无形成本或收益</a:t>
            </a:r>
            <a:r>
              <a:rPr lang="zh-CN" altLang="en-US" kern="0" dirty="0">
                <a:solidFill>
                  <a:srgbClr val="121212"/>
                </a:solidFill>
                <a:effectLst/>
                <a:ea typeface="微软雅黑" panose="020B0503020204020204" pitchFamily="34" charset="-122"/>
                <a:cs typeface="宋体" panose="02010600030101010101" pitchFamily="2" charset="-122"/>
              </a:rPr>
              <a:t>：</a:t>
            </a:r>
            <a:r>
              <a:rPr lang="zh-CN" altLang="zh-CN" kern="0" dirty="0">
                <a:solidFill>
                  <a:srgbClr val="121212"/>
                </a:solidFill>
                <a:effectLst/>
                <a:ea typeface="微软雅黑" panose="020B0503020204020204" pitchFamily="34" charset="-122"/>
                <a:cs typeface="宋体" panose="02010600030101010101" pitchFamily="2" charset="-122"/>
              </a:rPr>
              <a:t>是难以用货币计量的成本或</a:t>
            </a:r>
            <a:r>
              <a:rPr lang="zh-CN" altLang="en-US" kern="0" dirty="0">
                <a:solidFill>
                  <a:srgbClr val="121212"/>
                </a:solidFill>
                <a:cs typeface="宋体" panose="02010600030101010101" pitchFamily="2" charset="-122"/>
              </a:rPr>
              <a:t>收益</a:t>
            </a:r>
            <a:endParaRPr lang="en-US" altLang="zh-CN" kern="0" dirty="0">
              <a:solidFill>
                <a:srgbClr val="121212"/>
              </a:solidFill>
              <a:cs typeface="宋体" panose="02010600030101010101" pitchFamily="2" charset="-122"/>
            </a:endParaRPr>
          </a:p>
          <a:p>
            <a:pPr>
              <a:lnSpc>
                <a:spcPct val="130000"/>
              </a:lnSpc>
            </a:pPr>
            <a:r>
              <a:rPr lang="zh-CN" altLang="en-US" kern="0" dirty="0">
                <a:solidFill>
                  <a:srgbClr val="121212"/>
                </a:solidFill>
              </a:rPr>
              <a:t>固定成本：不会随着产品生产数量而增加</a:t>
            </a:r>
            <a:r>
              <a:rPr lang="en-US" altLang="zh-CN" kern="0" dirty="0">
                <a:solidFill>
                  <a:srgbClr val="121212"/>
                </a:solidFill>
              </a:rPr>
              <a:t>,</a:t>
            </a:r>
            <a:r>
              <a:rPr lang="zh-CN" altLang="en-US" kern="0" dirty="0">
                <a:solidFill>
                  <a:srgbClr val="121212"/>
                </a:solidFill>
              </a:rPr>
              <a:t>如电脑等设备</a:t>
            </a:r>
          </a:p>
          <a:p>
            <a:pPr>
              <a:lnSpc>
                <a:spcPct val="130000"/>
              </a:lnSpc>
            </a:pPr>
            <a:r>
              <a:rPr lang="zh-CN" altLang="en-US" kern="0" dirty="0">
                <a:solidFill>
                  <a:srgbClr val="121212"/>
                </a:solidFill>
              </a:rPr>
              <a:t>可变成本：随着生产产品的数量增加而增加，如原材料</a:t>
            </a:r>
          </a:p>
          <a:p>
            <a:pPr>
              <a:defRPr/>
            </a:pPr>
            <a:endParaRPr lang="zh-CN" altLang="en-US" dirty="0">
              <a:latin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70F5A404-442C-4F93-8508-0064BD027795}"/>
              </a:ext>
            </a:extLst>
          </p:cNvPr>
          <p:cNvSpPr>
            <a:spLocks noGrp="1"/>
          </p:cNvSpPr>
          <p:nvPr>
            <p:ph type="title"/>
          </p:nvPr>
        </p:nvSpPr>
        <p:spPr/>
        <p:txBody>
          <a:bodyPr/>
          <a:lstStyle/>
          <a:p>
            <a:r>
              <a:rPr lang="zh-CN" altLang="en-US" dirty="0"/>
              <a:t>直接成本和间接成本</a:t>
            </a:r>
          </a:p>
        </p:txBody>
      </p:sp>
      <p:sp>
        <p:nvSpPr>
          <p:cNvPr id="4" name="Rectangle 6">
            <a:extLst>
              <a:ext uri="{FF2B5EF4-FFF2-40B4-BE49-F238E27FC236}">
                <a16:creationId xmlns:a16="http://schemas.microsoft.com/office/drawing/2014/main" id="{71BC6662-B4CE-41C6-A27B-C6805C78B00F}"/>
              </a:ext>
            </a:extLst>
          </p:cNvPr>
          <p:cNvSpPr>
            <a:spLocks noChangeArrowheads="1"/>
          </p:cNvSpPr>
          <p:nvPr/>
        </p:nvSpPr>
        <p:spPr bwMode="auto">
          <a:xfrm>
            <a:off x="3238500" y="2287295"/>
            <a:ext cx="255270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2000" dirty="0">
                <a:solidFill>
                  <a:schemeClr val="bg1"/>
                </a:solidFill>
                <a:latin typeface="微软雅黑" pitchFamily="34" charset="-122"/>
                <a:ea typeface="微软雅黑" pitchFamily="34" charset="-122"/>
              </a:rPr>
              <a:t>直接成本</a:t>
            </a:r>
          </a:p>
        </p:txBody>
      </p:sp>
      <p:sp>
        <p:nvSpPr>
          <p:cNvPr id="8196" name="Rectangle 7">
            <a:extLst>
              <a:ext uri="{FF2B5EF4-FFF2-40B4-BE49-F238E27FC236}">
                <a16:creationId xmlns:a16="http://schemas.microsoft.com/office/drawing/2014/main" id="{A4EE3C81-25FE-4276-82E9-73E519BDE044}"/>
              </a:ext>
            </a:extLst>
          </p:cNvPr>
          <p:cNvSpPr>
            <a:spLocks noChangeArrowheads="1"/>
          </p:cNvSpPr>
          <p:nvPr/>
        </p:nvSpPr>
        <p:spPr bwMode="auto">
          <a:xfrm>
            <a:off x="3103418" y="2719096"/>
            <a:ext cx="2687782" cy="1646366"/>
          </a:xfrm>
          <a:prstGeom prst="rect">
            <a:avLst/>
          </a:prstGeom>
          <a:solidFill>
            <a:schemeClr val="bg1"/>
          </a:solidFill>
          <a:ln w="9525">
            <a:solidFill>
              <a:schemeClr val="tx1"/>
            </a:solidFill>
            <a:miter lim="800000"/>
            <a:headEnd/>
            <a:tailEnd/>
          </a:ln>
        </p:spPr>
        <p:txBody>
          <a:bodyPr wrap="none"/>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en-US" altLang="zh-CN" sz="2000" b="0" dirty="0">
                <a:latin typeface="微软雅黑" panose="020B0503020204020204" pitchFamily="34" charset="-122"/>
                <a:ea typeface="微软雅黑" panose="020B0503020204020204" pitchFamily="34" charset="-122"/>
              </a:rPr>
              <a:t>1. </a:t>
            </a:r>
            <a:r>
              <a:rPr lang="zh-CN" altLang="en-US" sz="2000" b="0" dirty="0">
                <a:latin typeface="微软雅黑" panose="020B0503020204020204" pitchFamily="34" charset="-122"/>
                <a:ea typeface="微软雅黑" panose="020B0503020204020204" pitchFamily="34" charset="-122"/>
              </a:rPr>
              <a:t>人员工资</a:t>
            </a:r>
          </a:p>
          <a:p>
            <a:pPr eaLnBrk="1" hangingPunct="1"/>
            <a:r>
              <a:rPr lang="en-US" altLang="zh-CN" sz="2000" b="0" dirty="0">
                <a:latin typeface="微软雅黑" panose="020B0503020204020204" pitchFamily="34" charset="-122"/>
                <a:ea typeface="微软雅黑" panose="020B0503020204020204" pitchFamily="34" charset="-122"/>
              </a:rPr>
              <a:t>2. </a:t>
            </a:r>
            <a:r>
              <a:rPr lang="zh-CN" altLang="en-US" sz="2000" b="0" dirty="0">
                <a:latin typeface="微软雅黑" panose="020B0503020204020204" pitchFamily="34" charset="-122"/>
                <a:ea typeface="微软雅黑" panose="020B0503020204020204" pitchFamily="34" charset="-122"/>
              </a:rPr>
              <a:t>人员差旅费</a:t>
            </a:r>
            <a:endParaRPr lang="en-US" altLang="zh-CN" sz="2000" b="0" dirty="0">
              <a:latin typeface="微软雅黑" panose="020B0503020204020204" pitchFamily="34" charset="-122"/>
              <a:ea typeface="微软雅黑" panose="020B0503020204020204" pitchFamily="34" charset="-122"/>
            </a:endParaRPr>
          </a:p>
          <a:p>
            <a:pPr eaLnBrk="1" hangingPunct="1"/>
            <a:r>
              <a:rPr lang="en-US" altLang="zh-CN" sz="2000" b="0" dirty="0">
                <a:latin typeface="微软雅黑" panose="020B0503020204020204" pitchFamily="34" charset="-122"/>
                <a:ea typeface="微软雅黑" panose="020B0503020204020204" pitchFamily="34" charset="-122"/>
              </a:rPr>
              <a:t>3. </a:t>
            </a:r>
            <a:r>
              <a:rPr lang="zh-CN" altLang="en-US" sz="2000" b="0" dirty="0">
                <a:latin typeface="微软雅黑" panose="020B0503020204020204" pitchFamily="34" charset="-122"/>
                <a:ea typeface="微软雅黑" panose="020B0503020204020204" pitchFamily="34" charset="-122"/>
              </a:rPr>
              <a:t>项目相关的采购发生</a:t>
            </a:r>
            <a:endParaRPr lang="en-US" altLang="zh-CN" sz="2000" b="0" dirty="0">
              <a:latin typeface="微软雅黑" panose="020B0503020204020204" pitchFamily="34" charset="-122"/>
              <a:ea typeface="微软雅黑" panose="020B0503020204020204" pitchFamily="34" charset="-122"/>
            </a:endParaRPr>
          </a:p>
          <a:p>
            <a:pPr eaLnBrk="1" hangingPunct="1"/>
            <a:r>
              <a:rPr lang="en-US" altLang="zh-CN" sz="2000" b="0" dirty="0">
                <a:latin typeface="微软雅黑" panose="020B0503020204020204" pitchFamily="34" charset="-122"/>
                <a:ea typeface="微软雅黑" panose="020B0503020204020204" pitchFamily="34" charset="-122"/>
              </a:rPr>
              <a:t>4. </a:t>
            </a:r>
            <a:r>
              <a:rPr lang="zh-CN" altLang="en-US" sz="2000" b="0" dirty="0">
                <a:latin typeface="微软雅黑" panose="020B0503020204020204" pitchFamily="34" charset="-122"/>
                <a:ea typeface="微软雅黑" panose="020B0503020204020204" pitchFamily="34" charset="-122"/>
              </a:rPr>
              <a:t>围绕项目市场活动费</a:t>
            </a:r>
            <a:endParaRPr lang="en-US" altLang="zh-CN" sz="2000" b="0" dirty="0">
              <a:latin typeface="微软雅黑" panose="020B0503020204020204" pitchFamily="34" charset="-122"/>
              <a:ea typeface="微软雅黑" panose="020B0503020204020204" pitchFamily="34" charset="-122"/>
            </a:endParaRPr>
          </a:p>
          <a:p>
            <a:pPr eaLnBrk="1" hangingPunct="1"/>
            <a:r>
              <a:rPr lang="en-US" altLang="zh-CN" sz="2000" b="0" dirty="0">
                <a:latin typeface="微软雅黑" panose="020B0503020204020204" pitchFamily="34" charset="-122"/>
                <a:ea typeface="微软雅黑" panose="020B0503020204020204" pitchFamily="34" charset="-122"/>
              </a:rPr>
              <a:t>5. </a:t>
            </a:r>
            <a:r>
              <a:rPr lang="zh-CN" altLang="en-US" sz="2000" b="0" dirty="0">
                <a:latin typeface="微软雅黑" panose="020B0503020204020204" pitchFamily="34" charset="-122"/>
                <a:ea typeface="微软雅黑" panose="020B0503020204020204" pitchFamily="34" charset="-122"/>
              </a:rPr>
              <a:t>围绕项目外包等</a:t>
            </a:r>
            <a:endParaRPr lang="en-US" altLang="zh-CN" sz="2000" b="0" dirty="0">
              <a:latin typeface="微软雅黑" panose="020B0503020204020204" pitchFamily="34" charset="-122"/>
              <a:ea typeface="微软雅黑" panose="020B0503020204020204" pitchFamily="34" charset="-122"/>
            </a:endParaRPr>
          </a:p>
        </p:txBody>
      </p:sp>
      <p:sp>
        <p:nvSpPr>
          <p:cNvPr id="6" name="Rectangle 8">
            <a:extLst>
              <a:ext uri="{FF2B5EF4-FFF2-40B4-BE49-F238E27FC236}">
                <a16:creationId xmlns:a16="http://schemas.microsoft.com/office/drawing/2014/main" id="{6B5922D1-3C49-4DA7-A1F1-0C4940236A25}"/>
              </a:ext>
            </a:extLst>
          </p:cNvPr>
          <p:cNvSpPr>
            <a:spLocks noChangeArrowheads="1"/>
          </p:cNvSpPr>
          <p:nvPr/>
        </p:nvSpPr>
        <p:spPr bwMode="auto">
          <a:xfrm>
            <a:off x="6115050" y="2287295"/>
            <a:ext cx="255270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2000" dirty="0">
                <a:solidFill>
                  <a:schemeClr val="bg1"/>
                </a:solidFill>
                <a:latin typeface="微软雅黑" pitchFamily="34" charset="-122"/>
                <a:ea typeface="微软雅黑" pitchFamily="34" charset="-122"/>
              </a:rPr>
              <a:t>间接成本</a:t>
            </a:r>
          </a:p>
        </p:txBody>
      </p:sp>
      <p:sp>
        <p:nvSpPr>
          <p:cNvPr id="8198" name="Rectangle 9">
            <a:extLst>
              <a:ext uri="{FF2B5EF4-FFF2-40B4-BE49-F238E27FC236}">
                <a16:creationId xmlns:a16="http://schemas.microsoft.com/office/drawing/2014/main" id="{6C991B59-94DD-4FBA-996B-1B8546435835}"/>
              </a:ext>
            </a:extLst>
          </p:cNvPr>
          <p:cNvSpPr>
            <a:spLocks noChangeArrowheads="1"/>
          </p:cNvSpPr>
          <p:nvPr/>
        </p:nvSpPr>
        <p:spPr bwMode="auto">
          <a:xfrm>
            <a:off x="6115049" y="2719097"/>
            <a:ext cx="2862695" cy="1646366"/>
          </a:xfrm>
          <a:prstGeom prst="rect">
            <a:avLst/>
          </a:prstGeom>
          <a:solidFill>
            <a:schemeClr val="bg1"/>
          </a:solidFill>
          <a:ln w="9525">
            <a:solidFill>
              <a:schemeClr val="tx1"/>
            </a:solidFill>
            <a:miter lim="800000"/>
            <a:headEnd/>
            <a:tailEnd/>
          </a:ln>
        </p:spPr>
        <p:txBody>
          <a:bodyPr wrap="none"/>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en-US" altLang="zh-CN" sz="2000" b="0" dirty="0">
                <a:latin typeface="微软雅黑" panose="020B0503020204020204" pitchFamily="34" charset="-122"/>
                <a:ea typeface="微软雅黑" panose="020B0503020204020204" pitchFamily="34" charset="-122"/>
              </a:rPr>
              <a:t>1. </a:t>
            </a:r>
            <a:r>
              <a:rPr lang="zh-CN" altLang="en-US" sz="2000" b="0" dirty="0">
                <a:latin typeface="微软雅黑" panose="020B0503020204020204" pitchFamily="34" charset="-122"/>
                <a:ea typeface="微软雅黑" panose="020B0503020204020204" pitchFamily="34" charset="-122"/>
              </a:rPr>
              <a:t>市场人员分摊</a:t>
            </a:r>
          </a:p>
          <a:p>
            <a:pPr eaLnBrk="1" hangingPunct="1"/>
            <a:r>
              <a:rPr lang="en-US" altLang="zh-CN" sz="2000" b="0" dirty="0">
                <a:latin typeface="微软雅黑" panose="020B0503020204020204" pitchFamily="34" charset="-122"/>
                <a:ea typeface="微软雅黑" panose="020B0503020204020204" pitchFamily="34" charset="-122"/>
              </a:rPr>
              <a:t>2. </a:t>
            </a:r>
            <a:r>
              <a:rPr lang="zh-CN" altLang="en-US" sz="2000" b="0" dirty="0">
                <a:latin typeface="微软雅黑" panose="020B0503020204020204" pitchFamily="34" charset="-122"/>
                <a:ea typeface="微软雅黑" panose="020B0503020204020204" pitchFamily="34" charset="-122"/>
              </a:rPr>
              <a:t>人事部门分摊</a:t>
            </a:r>
          </a:p>
          <a:p>
            <a:pPr eaLnBrk="1" hangingPunct="1"/>
            <a:r>
              <a:rPr lang="en-US" altLang="zh-CN" sz="2000" b="0" dirty="0">
                <a:latin typeface="微软雅黑" panose="020B0503020204020204" pitchFamily="34" charset="-122"/>
                <a:ea typeface="微软雅黑" panose="020B0503020204020204" pitchFamily="34" charset="-122"/>
              </a:rPr>
              <a:t>3. </a:t>
            </a:r>
            <a:r>
              <a:rPr lang="zh-CN" altLang="en-US" sz="2000" b="0" dirty="0">
                <a:latin typeface="微软雅黑" panose="020B0503020204020204" pitchFamily="34" charset="-122"/>
                <a:ea typeface="微软雅黑" panose="020B0503020204020204" pitchFamily="34" charset="-122"/>
              </a:rPr>
              <a:t>财务部门分摊</a:t>
            </a:r>
          </a:p>
          <a:p>
            <a:pPr eaLnBrk="1" hangingPunct="1"/>
            <a:r>
              <a:rPr lang="en-US" altLang="zh-CN" sz="2000" b="0" dirty="0">
                <a:latin typeface="微软雅黑" panose="020B0503020204020204" pitchFamily="34" charset="-122"/>
                <a:ea typeface="微软雅黑" panose="020B0503020204020204" pitchFamily="34" charset="-122"/>
              </a:rPr>
              <a:t>4. </a:t>
            </a:r>
            <a:r>
              <a:rPr lang="zh-CN" altLang="en-US" sz="2000" b="0" dirty="0">
                <a:latin typeface="微软雅黑" panose="020B0503020204020204" pitchFamily="34" charset="-122"/>
                <a:ea typeface="微软雅黑" panose="020B0503020204020204" pitchFamily="34" charset="-122"/>
              </a:rPr>
              <a:t>生产要素，资产折旧</a:t>
            </a:r>
            <a:endParaRPr lang="en-US" altLang="zh-CN" sz="2000" b="0" dirty="0">
              <a:latin typeface="微软雅黑" panose="020B0503020204020204" pitchFamily="34" charset="-122"/>
              <a:ea typeface="微软雅黑" panose="020B0503020204020204" pitchFamily="34" charset="-122"/>
            </a:endParaRPr>
          </a:p>
          <a:p>
            <a:pPr eaLnBrk="1" hangingPunct="1"/>
            <a:r>
              <a:rPr lang="en-US" altLang="zh-CN" sz="2000" b="0" dirty="0">
                <a:latin typeface="微软雅黑" panose="020B0503020204020204" pitchFamily="34" charset="-122"/>
                <a:ea typeface="微软雅黑" panose="020B0503020204020204" pitchFamily="34" charset="-122"/>
              </a:rPr>
              <a:t>5. </a:t>
            </a:r>
            <a:r>
              <a:rPr lang="zh-CN" altLang="en-US" sz="2000" b="0" dirty="0">
                <a:latin typeface="微软雅黑" panose="020B0503020204020204" pitchFamily="34" charset="-122"/>
                <a:ea typeface="微软雅黑" panose="020B0503020204020204" pitchFamily="34" charset="-122"/>
              </a:rPr>
              <a:t>企业公共的一些税金</a:t>
            </a:r>
            <a:endParaRPr lang="en-US" altLang="zh-CN" sz="2000" b="0" dirty="0">
              <a:latin typeface="微软雅黑" panose="020B0503020204020204" pitchFamily="34" charset="-122"/>
              <a:ea typeface="微软雅黑" panose="020B0503020204020204" pitchFamily="34" charset="-122"/>
            </a:endParaRPr>
          </a:p>
        </p:txBody>
      </p:sp>
      <p:sp>
        <p:nvSpPr>
          <p:cNvPr id="8" name="Rectangle 3">
            <a:extLst>
              <a:ext uri="{FF2B5EF4-FFF2-40B4-BE49-F238E27FC236}">
                <a16:creationId xmlns:a16="http://schemas.microsoft.com/office/drawing/2014/main" id="{FBE4209E-C2BE-4309-9A30-CEF0A25D6C9F}"/>
              </a:ext>
            </a:extLst>
          </p:cNvPr>
          <p:cNvSpPr txBox="1">
            <a:spLocks noChangeArrowheads="1"/>
          </p:cNvSpPr>
          <p:nvPr/>
        </p:nvSpPr>
        <p:spPr bwMode="auto">
          <a:xfrm>
            <a:off x="1490550" y="1279395"/>
            <a:ext cx="9309326" cy="714375"/>
          </a:xfrm>
          <a:prstGeom prst="rect">
            <a:avLst/>
          </a:prstGeom>
          <a:noFill/>
          <a:ln w="9525">
            <a:noFill/>
            <a:miter lim="800000"/>
            <a:headEnd/>
            <a:tailEnd/>
          </a:ln>
          <a:effectLst/>
        </p:spPr>
        <p:txBody>
          <a:bodyPr/>
          <a:lstStyle/>
          <a:p>
            <a:pPr marL="342900" indent="-342900">
              <a:spcBef>
                <a:spcPct val="20000"/>
              </a:spcBef>
              <a:buClr>
                <a:schemeClr val="hlink"/>
              </a:buClr>
              <a:buFont typeface="Wingdings" pitchFamily="2" charset="2"/>
              <a:buChar char="v"/>
              <a:defRPr/>
            </a:pPr>
            <a:r>
              <a:rPr lang="zh-CN" altLang="en-US" sz="2000" kern="0" dirty="0">
                <a:latin typeface="微软雅黑" pitchFamily="34" charset="-122"/>
                <a:ea typeface="微软雅黑" pitchFamily="34" charset="-122"/>
              </a:rPr>
              <a:t>直接成本：直接为项目服务的各种资源投入，容易计入单一项目</a:t>
            </a:r>
            <a:endParaRPr lang="en-US" altLang="zh-CN" sz="2000" kern="0" dirty="0">
              <a:latin typeface="微软雅黑" pitchFamily="34" charset="-122"/>
              <a:ea typeface="微软雅黑" pitchFamily="34" charset="-122"/>
            </a:endParaRPr>
          </a:p>
          <a:p>
            <a:pPr marL="342900" indent="-342900">
              <a:spcBef>
                <a:spcPct val="20000"/>
              </a:spcBef>
              <a:buClr>
                <a:schemeClr val="hlink"/>
              </a:buClr>
              <a:buFont typeface="Wingdings" pitchFamily="2" charset="2"/>
              <a:buChar char="v"/>
              <a:defRPr/>
            </a:pPr>
            <a:r>
              <a:rPr lang="zh-CN" altLang="en-US" sz="2000" kern="0" dirty="0">
                <a:latin typeface="微软雅黑" pitchFamily="34" charset="-122"/>
                <a:ea typeface="微软雅黑" pitchFamily="34" charset="-122"/>
              </a:rPr>
              <a:t>间接成本：支撑项目运作和服务的各种过程成本投入，难以计入单一项目</a:t>
            </a:r>
          </a:p>
        </p:txBody>
      </p:sp>
      <p:sp>
        <p:nvSpPr>
          <p:cNvPr id="2" name="文本框 1">
            <a:extLst>
              <a:ext uri="{FF2B5EF4-FFF2-40B4-BE49-F238E27FC236}">
                <a16:creationId xmlns:a16="http://schemas.microsoft.com/office/drawing/2014/main" id="{0D2D92AF-EFEC-47E9-B5DA-6ABF48DE8F45}"/>
              </a:ext>
            </a:extLst>
          </p:cNvPr>
          <p:cNvSpPr txBox="1"/>
          <p:nvPr/>
        </p:nvSpPr>
        <p:spPr>
          <a:xfrm>
            <a:off x="613886" y="4504012"/>
            <a:ext cx="10972800" cy="707886"/>
          </a:xfrm>
          <a:prstGeom prst="rect">
            <a:avLst/>
          </a:prstGeom>
          <a:noFill/>
        </p:spPr>
        <p:txBody>
          <a:bodyPr wrap="square" rtlCol="0">
            <a:spAutoFit/>
          </a:bodyPr>
          <a:lstStyle/>
          <a:p>
            <a:r>
              <a:rPr lang="zh-CN" altLang="en-US" sz="2000" b="1" dirty="0">
                <a:solidFill>
                  <a:schemeClr val="tx1"/>
                </a:solidFill>
                <a:latin typeface="微软雅黑" panose="020B0503020204020204" pitchFamily="34" charset="-122"/>
                <a:ea typeface="微软雅黑" panose="020B0503020204020204" pitchFamily="34" charset="-122"/>
              </a:rPr>
              <a:t>可控成本：</a:t>
            </a:r>
            <a:r>
              <a:rPr lang="zh-CN" altLang="en-US" sz="2000" dirty="0">
                <a:solidFill>
                  <a:schemeClr val="tx1"/>
                </a:solidFill>
                <a:latin typeface="微软雅黑" panose="020B0503020204020204" pitchFamily="34" charset="-122"/>
                <a:ea typeface="微软雅黑" panose="020B0503020204020204" pitchFamily="34" charset="-122"/>
              </a:rPr>
              <a:t>项目经理可以控制的，如直接成本、可变成本</a:t>
            </a:r>
          </a:p>
          <a:p>
            <a:r>
              <a:rPr lang="zh-CN" altLang="en-US" sz="2000" b="1" dirty="0">
                <a:solidFill>
                  <a:schemeClr val="tx1"/>
                </a:solidFill>
                <a:latin typeface="微软雅黑" panose="020B0503020204020204" pitchFamily="34" charset="-122"/>
                <a:ea typeface="微软雅黑" panose="020B0503020204020204" pitchFamily="34" charset="-122"/>
              </a:rPr>
              <a:t>不可控成本：</a:t>
            </a:r>
            <a:r>
              <a:rPr lang="zh-CN" altLang="en-US" sz="2000" dirty="0">
                <a:solidFill>
                  <a:schemeClr val="tx1"/>
                </a:solidFill>
                <a:latin typeface="微软雅黑" panose="020B0503020204020204" pitchFamily="34" charset="-122"/>
                <a:ea typeface="微软雅黑" panose="020B0503020204020204" pitchFamily="34" charset="-122"/>
              </a:rPr>
              <a:t>项目经理不能直接控制，如间接成本、部分固定成本等</a:t>
            </a:r>
            <a:endParaRPr lang="en-US" altLang="zh-CN" sz="20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5" name="Rectangle 2">
            <a:extLst>
              <a:ext uri="{FF2B5EF4-FFF2-40B4-BE49-F238E27FC236}">
                <a16:creationId xmlns:a16="http://schemas.microsoft.com/office/drawing/2014/main" id="{A69486FC-7DD4-4BC6-B3D9-78EF903869BB}"/>
              </a:ext>
            </a:extLst>
          </p:cNvPr>
          <p:cNvSpPr>
            <a:spLocks noGrp="1" noChangeArrowheads="1"/>
          </p:cNvSpPr>
          <p:nvPr>
            <p:ph type="title"/>
          </p:nvPr>
        </p:nvSpPr>
        <p:spPr/>
        <p:txBody>
          <a:bodyPr/>
          <a:lstStyle/>
          <a:p>
            <a:pPr eaLnBrk="1" hangingPunct="1"/>
            <a:r>
              <a:rPr lang="zh-CN" altLang="en-US" dirty="0"/>
              <a:t>习题</a:t>
            </a:r>
          </a:p>
        </p:txBody>
      </p:sp>
      <p:sp>
        <p:nvSpPr>
          <p:cNvPr id="264196" name="Rectangle 3">
            <a:extLst>
              <a:ext uri="{FF2B5EF4-FFF2-40B4-BE49-F238E27FC236}">
                <a16:creationId xmlns:a16="http://schemas.microsoft.com/office/drawing/2014/main" id="{594712C9-0A44-4922-A2E9-6AB35C16A49B}"/>
              </a:ext>
            </a:extLst>
          </p:cNvPr>
          <p:cNvSpPr>
            <a:spLocks noGrp="1" noChangeArrowheads="1"/>
          </p:cNvSpPr>
          <p:nvPr>
            <p:ph type="body" idx="1"/>
          </p:nvPr>
        </p:nvSpPr>
        <p:spPr/>
        <p:txBody>
          <a:bodyPr/>
          <a:lstStyle/>
          <a:p>
            <a:pPr eaLnBrk="1" hangingPunct="1"/>
            <a:r>
              <a:rPr lang="zh-CN" altLang="en-US" dirty="0">
                <a:ea typeface="宋体" panose="02010600030101010101" pitchFamily="2" charset="-122"/>
              </a:rPr>
              <a:t>你负责一个大型公司的聚会活动，你预期有</a:t>
            </a:r>
            <a:r>
              <a:rPr lang="en-US" altLang="zh-CN" dirty="0">
                <a:ea typeface="宋体" panose="02010600030101010101" pitchFamily="2" charset="-122"/>
              </a:rPr>
              <a:t>1000</a:t>
            </a:r>
            <a:r>
              <a:rPr lang="zh-CN" altLang="en-US" dirty="0">
                <a:ea typeface="宋体" panose="02010600030101010101" pitchFamily="2" charset="-122"/>
              </a:rPr>
              <a:t>多人会参加。你租借了巨大的礼堂，由于大雨只有</a:t>
            </a:r>
            <a:r>
              <a:rPr lang="en-US" altLang="zh-CN" dirty="0">
                <a:ea typeface="宋体" panose="02010600030101010101" pitchFamily="2" charset="-122"/>
              </a:rPr>
              <a:t>800</a:t>
            </a:r>
            <a:r>
              <a:rPr lang="zh-CN" altLang="en-US" dirty="0">
                <a:ea typeface="宋体" panose="02010600030101010101" pitchFamily="2" charset="-122"/>
              </a:rPr>
              <a:t>人到场参加此活动。你为礼堂花费了</a:t>
            </a:r>
            <a:r>
              <a:rPr lang="en-US" altLang="zh-CN" dirty="0">
                <a:ea typeface="宋体" panose="02010600030101010101" pitchFamily="2" charset="-122"/>
              </a:rPr>
              <a:t>1000</a:t>
            </a:r>
            <a:r>
              <a:rPr lang="zh-CN" altLang="en-US" dirty="0">
                <a:ea typeface="宋体" panose="02010600030101010101" pitchFamily="2" charset="-122"/>
              </a:rPr>
              <a:t>美元。下列哪个是正确的？</a:t>
            </a:r>
          </a:p>
          <a:p>
            <a:pPr lvl="1" eaLnBrk="1" hangingPunct="1"/>
            <a:r>
              <a:rPr lang="en-US" altLang="zh-CN" dirty="0">
                <a:ea typeface="宋体" panose="02010600030101010101" pitchFamily="2" charset="-122"/>
              </a:rPr>
              <a:t>A.800</a:t>
            </a:r>
            <a:r>
              <a:rPr lang="zh-CN" altLang="en-US" dirty="0">
                <a:ea typeface="宋体" panose="02010600030101010101" pitchFamily="2" charset="-122"/>
              </a:rPr>
              <a:t>美元是直接成本，</a:t>
            </a:r>
            <a:r>
              <a:rPr lang="en-US" altLang="zh-CN" dirty="0">
                <a:ea typeface="宋体" panose="02010600030101010101" pitchFamily="2" charset="-122"/>
              </a:rPr>
              <a:t>200</a:t>
            </a:r>
            <a:r>
              <a:rPr lang="zh-CN" altLang="en-US" dirty="0">
                <a:ea typeface="宋体" panose="02010600030101010101" pitchFamily="2" charset="-122"/>
              </a:rPr>
              <a:t>美元是间接成本</a:t>
            </a:r>
          </a:p>
          <a:p>
            <a:pPr lvl="1" eaLnBrk="1" hangingPunct="1"/>
            <a:r>
              <a:rPr lang="en-US" altLang="zh-CN" dirty="0">
                <a:ea typeface="宋体" panose="02010600030101010101" pitchFamily="2" charset="-122"/>
              </a:rPr>
              <a:t>B.800</a:t>
            </a:r>
            <a:r>
              <a:rPr lang="zh-CN" altLang="en-US" dirty="0">
                <a:ea typeface="宋体" panose="02010600030101010101" pitchFamily="2" charset="-122"/>
              </a:rPr>
              <a:t>美元是固定成本，</a:t>
            </a:r>
            <a:r>
              <a:rPr lang="en-US" altLang="zh-CN" dirty="0">
                <a:ea typeface="宋体" panose="02010600030101010101" pitchFamily="2" charset="-122"/>
              </a:rPr>
              <a:t>200</a:t>
            </a:r>
            <a:r>
              <a:rPr lang="zh-CN" altLang="en-US" dirty="0">
                <a:ea typeface="宋体" panose="02010600030101010101" pitchFamily="2" charset="-122"/>
              </a:rPr>
              <a:t>美元是可变成本</a:t>
            </a:r>
          </a:p>
          <a:p>
            <a:pPr lvl="1" eaLnBrk="1" hangingPunct="1"/>
            <a:r>
              <a:rPr lang="en-US" altLang="zh-CN" dirty="0">
                <a:ea typeface="宋体" panose="02010600030101010101" pitchFamily="2" charset="-122"/>
              </a:rPr>
              <a:t>C.1000</a:t>
            </a:r>
            <a:r>
              <a:rPr lang="zh-CN" altLang="en-US" dirty="0">
                <a:ea typeface="宋体" panose="02010600030101010101" pitchFamily="2" charset="-122"/>
              </a:rPr>
              <a:t>美元是固定成本</a:t>
            </a:r>
          </a:p>
          <a:p>
            <a:pPr lvl="1" eaLnBrk="1" hangingPunct="1"/>
            <a:r>
              <a:rPr lang="en-US" altLang="zh-CN" dirty="0">
                <a:ea typeface="宋体" panose="02010600030101010101" pitchFamily="2" charset="-122"/>
              </a:rPr>
              <a:t>D.800</a:t>
            </a:r>
            <a:r>
              <a:rPr lang="zh-CN" altLang="en-US" dirty="0">
                <a:ea typeface="宋体" panose="02010600030101010101" pitchFamily="2" charset="-122"/>
              </a:rPr>
              <a:t>美元是可变成本，</a:t>
            </a:r>
            <a:r>
              <a:rPr lang="en-US" altLang="zh-CN" dirty="0">
                <a:ea typeface="宋体" panose="02010600030101010101" pitchFamily="2" charset="-122"/>
              </a:rPr>
              <a:t>200</a:t>
            </a:r>
            <a:r>
              <a:rPr lang="zh-CN" altLang="en-US" dirty="0">
                <a:ea typeface="宋体" panose="02010600030101010101" pitchFamily="2" charset="-122"/>
              </a:rPr>
              <a:t>美元是固定成本</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a:extLst>
              <a:ext uri="{FF2B5EF4-FFF2-40B4-BE49-F238E27FC236}">
                <a16:creationId xmlns:a16="http://schemas.microsoft.com/office/drawing/2014/main" id="{D89303DB-08D6-4F8B-BA52-2C433B87E8AC}"/>
              </a:ext>
            </a:extLst>
          </p:cNvPr>
          <p:cNvSpPr>
            <a:spLocks noGrp="1"/>
          </p:cNvSpPr>
          <p:nvPr>
            <p:ph type="title"/>
          </p:nvPr>
        </p:nvSpPr>
        <p:spPr/>
        <p:txBody>
          <a:bodyPr/>
          <a:lstStyle/>
          <a:p>
            <a:r>
              <a:rPr lang="zh-CN" altLang="en-US" dirty="0"/>
              <a:t>沉没成本</a:t>
            </a:r>
          </a:p>
        </p:txBody>
      </p:sp>
      <p:sp>
        <p:nvSpPr>
          <p:cNvPr id="3" name="内容占位符 2">
            <a:extLst>
              <a:ext uri="{FF2B5EF4-FFF2-40B4-BE49-F238E27FC236}">
                <a16:creationId xmlns:a16="http://schemas.microsoft.com/office/drawing/2014/main" id="{30ADEB83-F3DE-4C4C-BC1E-853C51BED7A4}"/>
              </a:ext>
            </a:extLst>
          </p:cNvPr>
          <p:cNvSpPr>
            <a:spLocks noGrp="1"/>
          </p:cNvSpPr>
          <p:nvPr>
            <p:ph idx="1"/>
          </p:nvPr>
        </p:nvSpPr>
        <p:spPr>
          <a:xfrm>
            <a:off x="1370899" y="1278328"/>
            <a:ext cx="9548628" cy="1559312"/>
          </a:xfrm>
        </p:spPr>
        <p:txBody>
          <a:bodyPr/>
          <a:lstStyle/>
          <a:p>
            <a:pPr>
              <a:lnSpc>
                <a:spcPct val="100000"/>
              </a:lnSpc>
              <a:defRPr/>
            </a:pPr>
            <a:r>
              <a:rPr lang="zh-CN" altLang="en-US" dirty="0"/>
              <a:t>由于过去的决策已经发生了的，而不能由现在或将来的任何决策改变的成本</a:t>
            </a:r>
            <a:endParaRPr lang="en-US" altLang="zh-CN" dirty="0"/>
          </a:p>
          <a:p>
            <a:pPr>
              <a:lnSpc>
                <a:spcPct val="100000"/>
              </a:lnSpc>
              <a:defRPr/>
            </a:pPr>
            <a:r>
              <a:rPr lang="zh-CN" altLang="en-US" dirty="0"/>
              <a:t>时间，金钱，精力各方面都是沉没成本</a:t>
            </a:r>
            <a:endParaRPr lang="en-US" altLang="zh-CN" dirty="0"/>
          </a:p>
          <a:p>
            <a:pPr>
              <a:lnSpc>
                <a:spcPct val="100000"/>
              </a:lnSpc>
              <a:defRPr/>
            </a:pPr>
            <a:endParaRPr lang="en-US" altLang="zh-CN" dirty="0"/>
          </a:p>
          <a:p>
            <a:pPr lvl="1">
              <a:lnSpc>
                <a:spcPct val="100000"/>
              </a:lnSpc>
              <a:defRPr/>
            </a:pPr>
            <a:r>
              <a:rPr lang="zh-CN" altLang="en-US" dirty="0"/>
              <a:t>例：已买了一张电影票，不能退票，发现电影不好看，你的决策？</a:t>
            </a:r>
            <a:endParaRPr lang="en-US" altLang="zh-CN" dirty="0"/>
          </a:p>
          <a:p>
            <a:pPr>
              <a:defRPr/>
            </a:pPr>
            <a:endParaRPr lang="en-US" altLang="zh-CN" sz="1800" dirty="0"/>
          </a:p>
          <a:p>
            <a:pPr>
              <a:defRPr/>
            </a:pPr>
            <a:endParaRPr lang="zh-CN" altLang="en-US" dirty="0"/>
          </a:p>
        </p:txBody>
      </p:sp>
      <p:graphicFrame>
        <p:nvGraphicFramePr>
          <p:cNvPr id="4" name="Group 148">
            <a:extLst>
              <a:ext uri="{FF2B5EF4-FFF2-40B4-BE49-F238E27FC236}">
                <a16:creationId xmlns:a16="http://schemas.microsoft.com/office/drawing/2014/main" id="{D58BC3CF-ED39-4171-8D63-BEC3B276BB5A}"/>
              </a:ext>
            </a:extLst>
          </p:cNvPr>
          <p:cNvGraphicFramePr>
            <a:graphicFrameLocks noGrp="1"/>
          </p:cNvGraphicFramePr>
          <p:nvPr/>
        </p:nvGraphicFramePr>
        <p:xfrm>
          <a:off x="2166938" y="3189706"/>
          <a:ext cx="7620000" cy="938213"/>
        </p:xfrm>
        <a:graphic>
          <a:graphicData uri="http://schemas.openxmlformats.org/drawingml/2006/table">
            <a:tbl>
              <a:tblPr/>
              <a:tblGrid>
                <a:gridCol w="922983">
                  <a:extLst>
                    <a:ext uri="{9D8B030D-6E8A-4147-A177-3AD203B41FA5}">
                      <a16:colId xmlns:a16="http://schemas.microsoft.com/office/drawing/2014/main" val="20000"/>
                    </a:ext>
                  </a:extLst>
                </a:gridCol>
                <a:gridCol w="1560680">
                  <a:extLst>
                    <a:ext uri="{9D8B030D-6E8A-4147-A177-3AD203B41FA5}">
                      <a16:colId xmlns:a16="http://schemas.microsoft.com/office/drawing/2014/main" val="20001"/>
                    </a:ext>
                  </a:extLst>
                </a:gridCol>
                <a:gridCol w="1403653">
                  <a:extLst>
                    <a:ext uri="{9D8B030D-6E8A-4147-A177-3AD203B41FA5}">
                      <a16:colId xmlns:a16="http://schemas.microsoft.com/office/drawing/2014/main" val="20002"/>
                    </a:ext>
                  </a:extLst>
                </a:gridCol>
                <a:gridCol w="1866342">
                  <a:extLst>
                    <a:ext uri="{9D8B030D-6E8A-4147-A177-3AD203B41FA5}">
                      <a16:colId xmlns:a16="http://schemas.microsoft.com/office/drawing/2014/main" val="20003"/>
                    </a:ext>
                  </a:extLst>
                </a:gridCol>
                <a:gridCol w="1866342">
                  <a:extLst>
                    <a:ext uri="{9D8B030D-6E8A-4147-A177-3AD203B41FA5}">
                      <a16:colId xmlns:a16="http://schemas.microsoft.com/office/drawing/2014/main" val="20004"/>
                    </a:ext>
                  </a:extLst>
                </a:gridCol>
              </a:tblGrid>
              <a:tr h="215900">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4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项目</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0000"/>
                    </a:solid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4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已花费</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0000"/>
                    </a:solid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4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将花费</a:t>
                      </a:r>
                      <a:r>
                        <a:rPr kumimoji="0" lang="en-US" altLang="zh-CN" sz="14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C</a:t>
                      </a:r>
                      <a:endParaRPr kumimoji="0" lang="zh-CN" altLang="en-US" sz="14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0000"/>
                    </a:solid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4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效益</a:t>
                      </a:r>
                      <a:r>
                        <a:rPr kumimoji="0" lang="en-US" altLang="zh-CN" sz="14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B</a:t>
                      </a:r>
                      <a:endParaRPr kumimoji="0" lang="zh-CN" altLang="en-US" sz="14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0000"/>
                    </a:solid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4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效益</a:t>
                      </a:r>
                      <a:r>
                        <a:rPr kumimoji="0" lang="en-US" altLang="zh-CN" sz="14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B/</a:t>
                      </a:r>
                      <a:r>
                        <a:rPr kumimoji="0" lang="zh-CN" altLang="en-US" sz="14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成本</a:t>
                      </a:r>
                      <a:r>
                        <a:rPr kumimoji="0" lang="en-US" altLang="zh-CN" sz="14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C</a:t>
                      </a:r>
                      <a:endParaRPr kumimoji="0" lang="zh-CN" altLang="en-US" sz="14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0000"/>
                    </a:solidFill>
                  </a:tcPr>
                </a:tc>
                <a:extLst>
                  <a:ext uri="{0D108BD9-81ED-4DB2-BD59-A6C34878D82A}">
                    <a16:rowId xmlns:a16="http://schemas.microsoft.com/office/drawing/2014/main" val="10000"/>
                  </a:ext>
                </a:extLst>
              </a:tr>
              <a:tr h="315913">
                <a:tc>
                  <a:txBody>
                    <a:bodyPr/>
                    <a:lstStyle/>
                    <a:p>
                      <a:pPr marL="292100" marR="0" lvl="0" indent="-29210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A</a:t>
                      </a:r>
                      <a:endParaRPr kumimoji="0" lang="zh-CN" altLang="en-US"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en-US" altLang="zh-CN"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0</a:t>
                      </a:r>
                      <a:endParaRPr kumimoji="0" lang="zh-CN" altLang="en-US"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2100" marR="0" lvl="0" indent="-19050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en-US" altLang="zh-CN"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200</a:t>
                      </a:r>
                      <a:r>
                        <a:rPr kumimoji="0" lang="zh-CN" altLang="en-US"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万元</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2100" marR="0" lvl="0" indent="-29210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400</a:t>
                      </a:r>
                      <a:r>
                        <a:rPr kumimoji="0" lang="zh-CN" altLang="en-US"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万元</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2100" marR="0" lvl="0" indent="-29210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2</a:t>
                      </a:r>
                      <a:endParaRPr kumimoji="0" lang="zh-CN" altLang="en-US"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7500">
                <a:tc>
                  <a:txBody>
                    <a:bodyPr/>
                    <a:lstStyle/>
                    <a:p>
                      <a:pPr marL="292100" marR="0" lvl="0" indent="-29210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B</a:t>
                      </a:r>
                      <a:endParaRPr kumimoji="0" lang="zh-CN" altLang="en-US"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en-US" altLang="zh-CN"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100</a:t>
                      </a:r>
                      <a:r>
                        <a:rPr kumimoji="0" lang="zh-CN" altLang="en-US"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万元</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2100" marR="0" lvl="0" indent="-19050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en-US" altLang="zh-CN"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200</a:t>
                      </a:r>
                      <a:r>
                        <a:rPr kumimoji="0" lang="zh-CN" altLang="en-US"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万元</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400</a:t>
                      </a:r>
                      <a:r>
                        <a:rPr kumimoji="0" lang="zh-CN" altLang="en-US"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万元</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2</a:t>
                      </a:r>
                      <a:endParaRPr kumimoji="0" lang="zh-CN" altLang="en-US"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5" name="Group 148">
            <a:extLst>
              <a:ext uri="{FF2B5EF4-FFF2-40B4-BE49-F238E27FC236}">
                <a16:creationId xmlns:a16="http://schemas.microsoft.com/office/drawing/2014/main" id="{549BDA30-1163-4E04-83E8-115B06F23E9C}"/>
              </a:ext>
            </a:extLst>
          </p:cNvPr>
          <p:cNvGraphicFramePr>
            <a:graphicFrameLocks noGrp="1"/>
          </p:cNvGraphicFramePr>
          <p:nvPr/>
        </p:nvGraphicFramePr>
        <p:xfrm>
          <a:off x="2166938" y="4466873"/>
          <a:ext cx="7620000" cy="938213"/>
        </p:xfrm>
        <a:graphic>
          <a:graphicData uri="http://schemas.openxmlformats.org/drawingml/2006/table">
            <a:tbl>
              <a:tblPr/>
              <a:tblGrid>
                <a:gridCol w="922983">
                  <a:extLst>
                    <a:ext uri="{9D8B030D-6E8A-4147-A177-3AD203B41FA5}">
                      <a16:colId xmlns:a16="http://schemas.microsoft.com/office/drawing/2014/main" val="20000"/>
                    </a:ext>
                  </a:extLst>
                </a:gridCol>
                <a:gridCol w="1560680">
                  <a:extLst>
                    <a:ext uri="{9D8B030D-6E8A-4147-A177-3AD203B41FA5}">
                      <a16:colId xmlns:a16="http://schemas.microsoft.com/office/drawing/2014/main" val="20001"/>
                    </a:ext>
                  </a:extLst>
                </a:gridCol>
                <a:gridCol w="1403653">
                  <a:extLst>
                    <a:ext uri="{9D8B030D-6E8A-4147-A177-3AD203B41FA5}">
                      <a16:colId xmlns:a16="http://schemas.microsoft.com/office/drawing/2014/main" val="20002"/>
                    </a:ext>
                  </a:extLst>
                </a:gridCol>
                <a:gridCol w="1866342">
                  <a:extLst>
                    <a:ext uri="{9D8B030D-6E8A-4147-A177-3AD203B41FA5}">
                      <a16:colId xmlns:a16="http://schemas.microsoft.com/office/drawing/2014/main" val="20003"/>
                    </a:ext>
                  </a:extLst>
                </a:gridCol>
                <a:gridCol w="1866342">
                  <a:extLst>
                    <a:ext uri="{9D8B030D-6E8A-4147-A177-3AD203B41FA5}">
                      <a16:colId xmlns:a16="http://schemas.microsoft.com/office/drawing/2014/main" val="20004"/>
                    </a:ext>
                  </a:extLst>
                </a:gridCol>
              </a:tblGrid>
              <a:tr h="304800">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4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项目</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0000"/>
                    </a:solid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4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已花费</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0000"/>
                    </a:solid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4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将花费</a:t>
                      </a:r>
                      <a:r>
                        <a:rPr kumimoji="0" lang="en-US" altLang="zh-CN" sz="14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C</a:t>
                      </a:r>
                      <a:endParaRPr kumimoji="0" lang="zh-CN" altLang="en-US" sz="14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0000"/>
                    </a:solid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4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效益</a:t>
                      </a:r>
                      <a:r>
                        <a:rPr kumimoji="0" lang="en-US" altLang="zh-CN" sz="14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B</a:t>
                      </a:r>
                      <a:endParaRPr kumimoji="0" lang="zh-CN" altLang="en-US" sz="14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0000"/>
                    </a:solid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4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效益</a:t>
                      </a:r>
                      <a:r>
                        <a:rPr kumimoji="0" lang="en-US" altLang="zh-CN" sz="14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B/</a:t>
                      </a:r>
                      <a:r>
                        <a:rPr kumimoji="0" lang="zh-CN" altLang="en-US" sz="14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成本</a:t>
                      </a:r>
                      <a:r>
                        <a:rPr kumimoji="0" lang="en-US" altLang="zh-CN" sz="14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C</a:t>
                      </a:r>
                      <a:endParaRPr kumimoji="0" lang="zh-CN" altLang="en-US" sz="14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0000"/>
                    </a:solidFill>
                  </a:tcPr>
                </a:tc>
                <a:extLst>
                  <a:ext uri="{0D108BD9-81ED-4DB2-BD59-A6C34878D82A}">
                    <a16:rowId xmlns:a16="http://schemas.microsoft.com/office/drawing/2014/main" val="10000"/>
                  </a:ext>
                </a:extLst>
              </a:tr>
              <a:tr h="315913">
                <a:tc>
                  <a:txBody>
                    <a:bodyPr/>
                    <a:lstStyle/>
                    <a:p>
                      <a:pPr marL="292100" marR="0" lvl="0" indent="-29210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A</a:t>
                      </a:r>
                      <a:endParaRPr kumimoji="0" lang="zh-CN" altLang="en-US"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en-US" altLang="zh-CN"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0</a:t>
                      </a:r>
                      <a:endParaRPr kumimoji="0" lang="zh-CN" altLang="en-US"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2100" marR="0" lvl="0" indent="-19050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en-US" altLang="zh-CN"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200</a:t>
                      </a:r>
                      <a:r>
                        <a:rPr kumimoji="0" lang="zh-CN" altLang="en-US"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万元</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2100" marR="0" lvl="0" indent="-29210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400</a:t>
                      </a:r>
                      <a:r>
                        <a:rPr kumimoji="0" lang="zh-CN" altLang="en-US"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万元</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2100" marR="0" lvl="0" indent="-29210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2</a:t>
                      </a:r>
                      <a:endParaRPr kumimoji="0" lang="zh-CN" altLang="en-US"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7500">
                <a:tc>
                  <a:txBody>
                    <a:bodyPr/>
                    <a:lstStyle/>
                    <a:p>
                      <a:pPr marL="292100" marR="0" lvl="0" indent="-29210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B</a:t>
                      </a:r>
                      <a:endParaRPr kumimoji="0" lang="zh-CN" altLang="en-US"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en-US" altLang="zh-CN"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100</a:t>
                      </a:r>
                      <a:r>
                        <a:rPr kumimoji="0" lang="zh-CN" altLang="en-US"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万元</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2100" marR="0" lvl="0" indent="-19050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en-US" altLang="zh-CN"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120</a:t>
                      </a:r>
                      <a:r>
                        <a:rPr kumimoji="0" lang="zh-CN" altLang="en-US"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万元</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400</a:t>
                      </a:r>
                      <a:r>
                        <a:rPr kumimoji="0" lang="zh-CN" altLang="en-US"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万元</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3.33</a:t>
                      </a:r>
                      <a:endParaRPr kumimoji="0" lang="zh-CN" altLang="en-US" sz="14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a:extLst>
              <a:ext uri="{FF2B5EF4-FFF2-40B4-BE49-F238E27FC236}">
                <a16:creationId xmlns:a16="http://schemas.microsoft.com/office/drawing/2014/main" id="{D89303DB-08D6-4F8B-BA52-2C433B87E8AC}"/>
              </a:ext>
            </a:extLst>
          </p:cNvPr>
          <p:cNvSpPr>
            <a:spLocks noGrp="1"/>
          </p:cNvSpPr>
          <p:nvPr>
            <p:ph type="title"/>
          </p:nvPr>
        </p:nvSpPr>
        <p:spPr/>
        <p:txBody>
          <a:bodyPr/>
          <a:lstStyle/>
          <a:p>
            <a:r>
              <a:rPr lang="zh-CN" altLang="en-US" dirty="0"/>
              <a:t>学习曲线理论、储备金</a:t>
            </a:r>
          </a:p>
        </p:txBody>
      </p:sp>
      <p:sp>
        <p:nvSpPr>
          <p:cNvPr id="3" name="内容占位符 2">
            <a:extLst>
              <a:ext uri="{FF2B5EF4-FFF2-40B4-BE49-F238E27FC236}">
                <a16:creationId xmlns:a16="http://schemas.microsoft.com/office/drawing/2014/main" id="{30ADEB83-F3DE-4C4C-BC1E-853C51BED7A4}"/>
              </a:ext>
            </a:extLst>
          </p:cNvPr>
          <p:cNvSpPr>
            <a:spLocks noGrp="1"/>
          </p:cNvSpPr>
          <p:nvPr>
            <p:ph idx="1"/>
          </p:nvPr>
        </p:nvSpPr>
        <p:spPr>
          <a:xfrm>
            <a:off x="1037320" y="1323297"/>
            <a:ext cx="10215786" cy="3128781"/>
          </a:xfrm>
        </p:spPr>
        <p:txBody>
          <a:bodyPr/>
          <a:lstStyle/>
          <a:p>
            <a:pPr>
              <a:defRPr/>
            </a:pPr>
            <a:r>
              <a:rPr lang="zh-CN" altLang="en-US" kern="0" dirty="0">
                <a:solidFill>
                  <a:srgbClr val="121212"/>
                </a:solidFill>
                <a:effectLst/>
                <a:latin typeface="微软雅黑" panose="020B0503020204020204" pitchFamily="34" charset="-122"/>
                <a:cs typeface="宋体" panose="02010600030101010101" pitchFamily="2" charset="-122"/>
              </a:rPr>
              <a:t>学习</a:t>
            </a:r>
            <a:r>
              <a:rPr lang="zh-CN" altLang="zh-CN" kern="0" dirty="0">
                <a:solidFill>
                  <a:srgbClr val="121212"/>
                </a:solidFill>
                <a:effectLst/>
                <a:latin typeface="微软雅黑" panose="020B0503020204020204" pitchFamily="34" charset="-122"/>
                <a:cs typeface="宋体" panose="02010600030101010101" pitchFamily="2" charset="-122"/>
              </a:rPr>
              <a:t>曲线理论</a:t>
            </a:r>
            <a:endParaRPr lang="en-US" altLang="zh-CN" kern="0" dirty="0">
              <a:solidFill>
                <a:srgbClr val="121212"/>
              </a:solidFill>
              <a:effectLst/>
              <a:latin typeface="微软雅黑" panose="020B0503020204020204" pitchFamily="34" charset="-122"/>
              <a:cs typeface="宋体" panose="02010600030101010101" pitchFamily="2" charset="-122"/>
            </a:endParaRPr>
          </a:p>
          <a:p>
            <a:pPr lvl="1">
              <a:defRPr/>
            </a:pPr>
            <a:r>
              <a:rPr lang="zh-CN" altLang="zh-CN" kern="0" dirty="0">
                <a:solidFill>
                  <a:srgbClr val="121212"/>
                </a:solidFill>
                <a:effectLst/>
                <a:latin typeface="微软雅黑" panose="020B0503020204020204" pitchFamily="34" charset="-122"/>
                <a:cs typeface="宋体" panose="02010600030101010101" pitchFamily="2" charset="-122"/>
              </a:rPr>
              <a:t>当重复生产产品时，随着生产</a:t>
            </a:r>
            <a:r>
              <a:rPr lang="zh-CN" altLang="en-US" kern="0" dirty="0">
                <a:solidFill>
                  <a:srgbClr val="121212"/>
                </a:solidFill>
                <a:effectLst/>
                <a:latin typeface="微软雅黑" panose="020B0503020204020204" pitchFamily="34" charset="-122"/>
                <a:cs typeface="宋体" panose="02010600030101010101" pitchFamily="2" charset="-122"/>
              </a:rPr>
              <a:t>件数增</a:t>
            </a:r>
            <a:r>
              <a:rPr lang="zh-CN" altLang="zh-CN" kern="0" dirty="0">
                <a:solidFill>
                  <a:srgbClr val="121212"/>
                </a:solidFill>
                <a:effectLst/>
                <a:latin typeface="微软雅黑" panose="020B0503020204020204" pitchFamily="34" charset="-122"/>
                <a:cs typeface="宋体" panose="02010600030101010101" pitchFamily="2" charset="-122"/>
              </a:rPr>
              <a:t>多，单位成本</a:t>
            </a:r>
            <a:r>
              <a:rPr lang="zh-CN" altLang="en-US" kern="0" dirty="0">
                <a:solidFill>
                  <a:srgbClr val="121212"/>
                </a:solidFill>
                <a:effectLst/>
                <a:latin typeface="微软雅黑" panose="020B0503020204020204" pitchFamily="34" charset="-122"/>
                <a:cs typeface="宋体" panose="02010600030101010101" pitchFamily="2" charset="-122"/>
              </a:rPr>
              <a:t>会</a:t>
            </a:r>
            <a:r>
              <a:rPr lang="zh-CN" altLang="zh-CN" kern="0" dirty="0">
                <a:solidFill>
                  <a:srgbClr val="121212"/>
                </a:solidFill>
                <a:effectLst/>
                <a:latin typeface="微软雅黑" panose="020B0503020204020204" pitchFamily="34" charset="-122"/>
                <a:cs typeface="宋体" panose="02010600030101010101" pitchFamily="2" charset="-122"/>
              </a:rPr>
              <a:t>以一定的规律下降，也就是常说的规模效</a:t>
            </a:r>
            <a:r>
              <a:rPr lang="zh-CN" altLang="en-US" kern="0" dirty="0">
                <a:solidFill>
                  <a:srgbClr val="121212"/>
                </a:solidFill>
                <a:effectLst/>
                <a:latin typeface="微软雅黑" panose="020B0503020204020204" pitchFamily="34" charset="-122"/>
                <a:cs typeface="宋体" panose="02010600030101010101" pitchFamily="2" charset="-122"/>
              </a:rPr>
              <a:t>应</a:t>
            </a:r>
            <a:endParaRPr lang="en-US" altLang="zh-CN" kern="0" dirty="0">
              <a:solidFill>
                <a:srgbClr val="121212"/>
              </a:solidFill>
              <a:effectLst/>
              <a:latin typeface="微软雅黑" panose="020B0503020204020204" pitchFamily="34" charset="-122"/>
              <a:cs typeface="宋体" panose="02010600030101010101" pitchFamily="2" charset="-122"/>
            </a:endParaRPr>
          </a:p>
          <a:p>
            <a:pPr>
              <a:defRPr/>
            </a:pPr>
            <a:r>
              <a:rPr lang="zh-CN" altLang="zh-CN" kern="0" dirty="0">
                <a:solidFill>
                  <a:srgbClr val="121212"/>
                </a:solidFill>
                <a:effectLst/>
                <a:latin typeface="微软雅黑" panose="020B0503020204020204" pitchFamily="34" charset="-122"/>
                <a:cs typeface="宋体" panose="02010600030101010101" pitchFamily="2" charset="-122"/>
              </a:rPr>
              <a:t>储备金</a:t>
            </a:r>
            <a:endParaRPr lang="en-US" altLang="zh-CN" kern="0" dirty="0">
              <a:solidFill>
                <a:srgbClr val="121212"/>
              </a:solidFill>
              <a:effectLst/>
              <a:latin typeface="微软雅黑" panose="020B0503020204020204" pitchFamily="34" charset="-122"/>
              <a:cs typeface="宋体" panose="02010600030101010101" pitchFamily="2" charset="-122"/>
            </a:endParaRPr>
          </a:p>
          <a:p>
            <a:pPr lvl="1">
              <a:defRPr/>
            </a:pPr>
            <a:r>
              <a:rPr lang="zh-CN" altLang="zh-CN" kern="0" dirty="0">
                <a:solidFill>
                  <a:srgbClr val="121212"/>
                </a:solidFill>
                <a:effectLst/>
                <a:latin typeface="微软雅黑" panose="020B0503020204020204" pitchFamily="34" charset="-122"/>
                <a:cs typeface="宋体" panose="02010600030101010101" pitchFamily="2" charset="-122"/>
              </a:rPr>
              <a:t>是预先考虑难以预测的未来情况来减轻成本风险的金</a:t>
            </a:r>
            <a:r>
              <a:rPr lang="zh-CN" altLang="en-US" kern="0" dirty="0">
                <a:solidFill>
                  <a:srgbClr val="121212"/>
                </a:solidFill>
                <a:latin typeface="微软雅黑" panose="020B0503020204020204" pitchFamily="34" charset="-122"/>
                <a:cs typeface="宋体" panose="02010600030101010101" pitchFamily="2" charset="-122"/>
              </a:rPr>
              <a:t>额</a:t>
            </a:r>
            <a:endParaRPr lang="en-US" altLang="zh-CN" kern="0" dirty="0">
              <a:solidFill>
                <a:srgbClr val="121212"/>
              </a:solidFill>
              <a:latin typeface="微软雅黑" panose="020B0503020204020204" pitchFamily="34" charset="-122"/>
              <a:cs typeface="宋体" panose="02010600030101010101" pitchFamily="2" charset="-122"/>
            </a:endParaRPr>
          </a:p>
          <a:p>
            <a:pPr lvl="1">
              <a:defRPr/>
            </a:pPr>
            <a:r>
              <a:rPr lang="zh-CN" altLang="zh-CN" kern="0" dirty="0">
                <a:solidFill>
                  <a:srgbClr val="121212"/>
                </a:solidFill>
                <a:effectLst/>
                <a:latin typeface="微软雅黑" panose="020B0503020204020204" pitchFamily="34" charset="-122"/>
                <a:cs typeface="宋体" panose="02010600030101010101" pitchFamily="2" charset="-122"/>
              </a:rPr>
              <a:t>应急储备金可应对未来可能会发生的情况（</a:t>
            </a:r>
            <a:r>
              <a:rPr lang="en-US" altLang="zh-CN" kern="0" dirty="0">
                <a:solidFill>
                  <a:srgbClr val="121212"/>
                </a:solidFill>
                <a:effectLst/>
                <a:latin typeface="微软雅黑" panose="020B0503020204020204" pitchFamily="34" charset="-122"/>
                <a:cs typeface="宋体" panose="02010600030101010101" pitchFamily="2" charset="-122"/>
              </a:rPr>
              <a:t>known unknowns</a:t>
            </a:r>
            <a:r>
              <a:rPr lang="zh-CN" altLang="zh-CN" kern="0" dirty="0">
                <a:solidFill>
                  <a:srgbClr val="121212"/>
                </a:solidFill>
                <a:effectLst/>
                <a:latin typeface="微软雅黑" panose="020B0503020204020204" pitchFamily="34" charset="-122"/>
                <a:cs typeface="宋体" panose="02010600030101010101" pitchFamily="2" charset="-122"/>
              </a:rPr>
              <a:t>）</a:t>
            </a:r>
            <a:r>
              <a:rPr lang="en-US" altLang="zh-CN" kern="0" dirty="0">
                <a:solidFill>
                  <a:srgbClr val="121212"/>
                </a:solidFill>
                <a:effectLst/>
                <a:latin typeface="微软雅黑" panose="020B0503020204020204" pitchFamily="34" charset="-122"/>
                <a:cs typeface="宋体" panose="02010600030101010101" pitchFamily="2" charset="-122"/>
              </a:rPr>
              <a:t>,</a:t>
            </a:r>
            <a:r>
              <a:rPr lang="zh-CN" altLang="zh-CN" kern="0" dirty="0">
                <a:solidFill>
                  <a:srgbClr val="121212"/>
                </a:solidFill>
                <a:effectLst/>
                <a:latin typeface="微软雅黑" panose="020B0503020204020204" pitchFamily="34" charset="-122"/>
                <a:cs typeface="宋体" panose="02010600030101010101" pitchFamily="2" charset="-122"/>
              </a:rPr>
              <a:t>计入项目成本基准，</a:t>
            </a:r>
            <a:endParaRPr lang="en-US" altLang="zh-CN" kern="0" dirty="0">
              <a:solidFill>
                <a:srgbClr val="121212"/>
              </a:solidFill>
              <a:effectLst/>
              <a:latin typeface="微软雅黑" panose="020B0503020204020204" pitchFamily="34" charset="-122"/>
              <a:cs typeface="宋体" panose="02010600030101010101" pitchFamily="2" charset="-122"/>
            </a:endParaRPr>
          </a:p>
          <a:p>
            <a:pPr lvl="2">
              <a:defRPr/>
            </a:pPr>
            <a:r>
              <a:rPr lang="zh-CN" altLang="zh-CN" kern="0" dirty="0">
                <a:solidFill>
                  <a:srgbClr val="121212"/>
                </a:solidFill>
                <a:effectLst/>
                <a:latin typeface="微软雅黑" panose="020B0503020204020204" pitchFamily="34" charset="-122"/>
                <a:cs typeface="宋体" panose="02010600030101010101" pitchFamily="2" charset="-122"/>
              </a:rPr>
              <a:t>例如疫情前屯足生活用</a:t>
            </a:r>
            <a:endParaRPr lang="zh-CN" altLang="en-US" dirty="0">
              <a:latin typeface="微软雅黑" panose="020B0503020204020204" pitchFamily="34" charset="-122"/>
            </a:endParaRPr>
          </a:p>
        </p:txBody>
      </p:sp>
    </p:spTree>
    <p:extLst>
      <p:ext uri="{BB962C8B-B14F-4D97-AF65-F5344CB8AC3E}">
        <p14:creationId xmlns:p14="http://schemas.microsoft.com/office/powerpoint/2010/main" val="3452649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a:extLst>
              <a:ext uri="{FF2B5EF4-FFF2-40B4-BE49-F238E27FC236}">
                <a16:creationId xmlns:a16="http://schemas.microsoft.com/office/drawing/2014/main" id="{10ED8102-234A-4687-8A92-FD49B90C8F69}"/>
              </a:ext>
            </a:extLst>
          </p:cNvPr>
          <p:cNvSpPr>
            <a:spLocks noGrp="1"/>
          </p:cNvSpPr>
          <p:nvPr>
            <p:ph type="title"/>
          </p:nvPr>
        </p:nvSpPr>
        <p:spPr/>
        <p:txBody>
          <a:bodyPr/>
          <a:lstStyle/>
          <a:p>
            <a:r>
              <a:rPr lang="zh-CN" altLang="en-US" dirty="0"/>
              <a:t>机会成本</a:t>
            </a:r>
          </a:p>
        </p:txBody>
      </p:sp>
      <p:sp>
        <p:nvSpPr>
          <p:cNvPr id="4" name="内容占位符 2">
            <a:extLst>
              <a:ext uri="{FF2B5EF4-FFF2-40B4-BE49-F238E27FC236}">
                <a16:creationId xmlns:a16="http://schemas.microsoft.com/office/drawing/2014/main" id="{828B6A99-B8BC-41BB-A41E-55322A9D99A7}"/>
              </a:ext>
            </a:extLst>
          </p:cNvPr>
          <p:cNvSpPr>
            <a:spLocks noGrp="1"/>
          </p:cNvSpPr>
          <p:nvPr>
            <p:ph idx="1"/>
          </p:nvPr>
        </p:nvSpPr>
        <p:spPr>
          <a:xfrm>
            <a:off x="1981200" y="1295401"/>
            <a:ext cx="8401050" cy="919163"/>
          </a:xfrm>
        </p:spPr>
        <p:txBody>
          <a:bodyPr/>
          <a:lstStyle/>
          <a:p>
            <a:pPr>
              <a:lnSpc>
                <a:spcPct val="100000"/>
              </a:lnSpc>
              <a:defRPr/>
            </a:pPr>
            <a:r>
              <a:rPr lang="zh-CN" altLang="en-US" dirty="0">
                <a:latin typeface="微软雅黑" panose="020B0503020204020204" pitchFamily="34" charset="-122"/>
              </a:rPr>
              <a:t>为了得到某一样东西而要放弃其他东西中的最大价值</a:t>
            </a:r>
            <a:endParaRPr lang="en-US" altLang="zh-CN" dirty="0">
              <a:latin typeface="微软雅黑" panose="020B0503020204020204" pitchFamily="34" charset="-122"/>
            </a:endParaRPr>
          </a:p>
          <a:p>
            <a:pPr>
              <a:lnSpc>
                <a:spcPct val="100000"/>
              </a:lnSpc>
              <a:defRPr/>
            </a:pPr>
            <a:r>
              <a:rPr lang="zh-CN" altLang="en-US" dirty="0">
                <a:latin typeface="微软雅黑" panose="020B0503020204020204" pitchFamily="34" charset="-122"/>
              </a:rPr>
              <a:t>你放弃的东西必须仍然是你能力和机会得到，才能谈上机会成本</a:t>
            </a:r>
            <a:endParaRPr lang="en-US" altLang="zh-CN" dirty="0">
              <a:latin typeface="微软雅黑" panose="020B0503020204020204" pitchFamily="34" charset="-122"/>
            </a:endParaRPr>
          </a:p>
          <a:p>
            <a:pPr>
              <a:buFont typeface="Wingdings" panose="05000000000000000000" pitchFamily="2" charset="2"/>
              <a:buNone/>
              <a:defRPr/>
            </a:pPr>
            <a:endParaRPr lang="en-US" altLang="zh-CN" sz="1800" dirty="0"/>
          </a:p>
          <a:p>
            <a:pPr>
              <a:defRPr/>
            </a:pPr>
            <a:endParaRPr lang="zh-CN" altLang="en-US" dirty="0"/>
          </a:p>
        </p:txBody>
      </p:sp>
      <p:sp>
        <p:nvSpPr>
          <p:cNvPr id="5" name="矩形 4">
            <a:extLst>
              <a:ext uri="{FF2B5EF4-FFF2-40B4-BE49-F238E27FC236}">
                <a16:creationId xmlns:a16="http://schemas.microsoft.com/office/drawing/2014/main" id="{F1A7FFD3-125A-4E5F-A59D-F97D5EFE0DEC}"/>
              </a:ext>
            </a:extLst>
          </p:cNvPr>
          <p:cNvSpPr/>
          <p:nvPr/>
        </p:nvSpPr>
        <p:spPr>
          <a:xfrm>
            <a:off x="1469731" y="3066371"/>
            <a:ext cx="9423988" cy="1323439"/>
          </a:xfrm>
          <a:prstGeom prst="rect">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p:spPr>
        <p:style>
          <a:lnRef idx="1">
            <a:schemeClr val="dk1"/>
          </a:lnRef>
          <a:fillRef idx="2">
            <a:schemeClr val="dk1"/>
          </a:fillRef>
          <a:effectRef idx="1">
            <a:schemeClr val="dk1"/>
          </a:effectRef>
          <a:fontRef idx="minor">
            <a:schemeClr val="dk1"/>
          </a:fontRef>
        </p:style>
        <p:txBody>
          <a:bodyPr wrap="square">
            <a:spAutoFit/>
          </a:bodyPr>
          <a:lstStyle/>
          <a:p>
            <a:pPr>
              <a:defRPr/>
            </a:pPr>
            <a:r>
              <a:rPr lang="zh-CN" altLang="en-US" sz="2000" dirty="0">
                <a:solidFill>
                  <a:schemeClr val="tx1"/>
                </a:solidFill>
                <a:latin typeface="微软雅黑" pitchFamily="34" charset="-122"/>
                <a:ea typeface="微软雅黑" pitchFamily="34" charset="-122"/>
              </a:rPr>
              <a:t>农民在获得更多土地时，如果选择养猪就不能选择养其他家禽，养猪的机会成本就是放弃养鸡或养鸭等的收益。假设养猪可以获得</a:t>
            </a:r>
            <a:r>
              <a:rPr lang="en-US" altLang="zh-CN" sz="2000" dirty="0">
                <a:solidFill>
                  <a:schemeClr val="tx1"/>
                </a:solidFill>
                <a:latin typeface="微软雅黑" pitchFamily="34" charset="-122"/>
                <a:ea typeface="微软雅黑" pitchFamily="34" charset="-122"/>
              </a:rPr>
              <a:t>9</a:t>
            </a:r>
            <a:r>
              <a:rPr lang="zh-CN" altLang="en-US" sz="2000" dirty="0">
                <a:solidFill>
                  <a:schemeClr val="tx1"/>
                </a:solidFill>
                <a:latin typeface="微软雅黑" pitchFamily="34" charset="-122"/>
                <a:ea typeface="微软雅黑" pitchFamily="34" charset="-122"/>
              </a:rPr>
              <a:t>万元，养鸡可以获得</a:t>
            </a:r>
            <a:r>
              <a:rPr lang="en-US" altLang="zh-CN" sz="2000" dirty="0">
                <a:solidFill>
                  <a:schemeClr val="tx1"/>
                </a:solidFill>
                <a:latin typeface="微软雅黑" pitchFamily="34" charset="-122"/>
                <a:ea typeface="微软雅黑" pitchFamily="34" charset="-122"/>
              </a:rPr>
              <a:t>7</a:t>
            </a:r>
            <a:r>
              <a:rPr lang="zh-CN" altLang="en-US" sz="2000" dirty="0">
                <a:solidFill>
                  <a:schemeClr val="tx1"/>
                </a:solidFill>
                <a:latin typeface="微软雅黑" pitchFamily="34" charset="-122"/>
                <a:ea typeface="微软雅黑" pitchFamily="34" charset="-122"/>
              </a:rPr>
              <a:t>万元，养鸭可以获得</a:t>
            </a:r>
            <a:r>
              <a:rPr lang="en-US" altLang="zh-CN" sz="2000" dirty="0">
                <a:solidFill>
                  <a:schemeClr val="tx1"/>
                </a:solidFill>
                <a:latin typeface="微软雅黑" pitchFamily="34" charset="-122"/>
                <a:ea typeface="微软雅黑" pitchFamily="34" charset="-122"/>
              </a:rPr>
              <a:t>8</a:t>
            </a:r>
            <a:r>
              <a:rPr lang="zh-CN" altLang="en-US" sz="2000" dirty="0">
                <a:solidFill>
                  <a:schemeClr val="tx1"/>
                </a:solidFill>
                <a:latin typeface="微软雅黑" pitchFamily="34" charset="-122"/>
                <a:ea typeface="微软雅黑" pitchFamily="34" charset="-122"/>
              </a:rPr>
              <a:t>万元，那么养猪的机会成本是</a:t>
            </a:r>
            <a:r>
              <a:rPr lang="en-US" altLang="zh-CN" sz="2000" dirty="0">
                <a:solidFill>
                  <a:schemeClr val="tx1"/>
                </a:solidFill>
                <a:latin typeface="微软雅黑" pitchFamily="34" charset="-122"/>
                <a:ea typeface="微软雅黑" pitchFamily="34" charset="-122"/>
              </a:rPr>
              <a:t>8</a:t>
            </a:r>
            <a:r>
              <a:rPr lang="zh-CN" altLang="en-US" sz="2000" dirty="0">
                <a:solidFill>
                  <a:schemeClr val="tx1"/>
                </a:solidFill>
                <a:latin typeface="微软雅黑" pitchFamily="34" charset="-122"/>
                <a:ea typeface="微软雅黑" pitchFamily="34" charset="-122"/>
              </a:rPr>
              <a:t>万元，养鸡的机会成本为</a:t>
            </a:r>
            <a:r>
              <a:rPr lang="en-US" altLang="zh-CN" sz="2000" dirty="0">
                <a:solidFill>
                  <a:schemeClr val="tx1"/>
                </a:solidFill>
                <a:latin typeface="微软雅黑" pitchFamily="34" charset="-122"/>
                <a:ea typeface="微软雅黑" pitchFamily="34" charset="-122"/>
              </a:rPr>
              <a:t>9</a:t>
            </a:r>
            <a:r>
              <a:rPr lang="zh-CN" altLang="en-US" sz="2000" dirty="0">
                <a:solidFill>
                  <a:schemeClr val="tx1"/>
                </a:solidFill>
                <a:latin typeface="微软雅黑" pitchFamily="34" charset="-122"/>
                <a:ea typeface="微软雅黑" pitchFamily="34" charset="-122"/>
              </a:rPr>
              <a:t>万元，养鸭的机会成本也为</a:t>
            </a:r>
            <a:r>
              <a:rPr lang="en-US" altLang="zh-CN" sz="2000" dirty="0">
                <a:solidFill>
                  <a:schemeClr val="tx1"/>
                </a:solidFill>
                <a:latin typeface="微软雅黑" pitchFamily="34" charset="-122"/>
                <a:ea typeface="微软雅黑" pitchFamily="34" charset="-122"/>
              </a:rPr>
              <a:t>9</a:t>
            </a:r>
            <a:r>
              <a:rPr lang="zh-CN" altLang="en-US" sz="2000" dirty="0">
                <a:solidFill>
                  <a:schemeClr val="tx1"/>
                </a:solidFill>
                <a:latin typeface="微软雅黑" pitchFamily="34" charset="-122"/>
                <a:ea typeface="微软雅黑" pitchFamily="34" charset="-122"/>
              </a:rPr>
              <a:t>万元。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266" name="标题 1">
            <a:extLst>
              <a:ext uri="{FF2B5EF4-FFF2-40B4-BE49-F238E27FC236}">
                <a16:creationId xmlns:a16="http://schemas.microsoft.com/office/drawing/2014/main" id="{FD726E75-64E0-4C05-A3AB-BC9B67332A1C}"/>
              </a:ext>
            </a:extLst>
          </p:cNvPr>
          <p:cNvSpPr>
            <a:spLocks noGrp="1"/>
          </p:cNvSpPr>
          <p:nvPr>
            <p:ph type="title"/>
          </p:nvPr>
        </p:nvSpPr>
        <p:spPr/>
        <p:txBody>
          <a:bodyPr/>
          <a:lstStyle/>
          <a:p>
            <a:r>
              <a:rPr lang="zh-CN" altLang="en-US" dirty="0"/>
              <a:t>折旧</a:t>
            </a:r>
          </a:p>
        </p:txBody>
      </p:sp>
      <p:sp>
        <p:nvSpPr>
          <p:cNvPr id="4" name="内容占位符 2">
            <a:extLst>
              <a:ext uri="{FF2B5EF4-FFF2-40B4-BE49-F238E27FC236}">
                <a16:creationId xmlns:a16="http://schemas.microsoft.com/office/drawing/2014/main" id="{FEFF74C5-19D6-4FB6-B5EA-F7DD62BF83BD}"/>
              </a:ext>
            </a:extLst>
          </p:cNvPr>
          <p:cNvSpPr>
            <a:spLocks noGrp="1"/>
          </p:cNvSpPr>
          <p:nvPr>
            <p:ph idx="1"/>
          </p:nvPr>
        </p:nvSpPr>
        <p:spPr>
          <a:xfrm>
            <a:off x="1881188" y="1214438"/>
            <a:ext cx="9468130" cy="1571800"/>
          </a:xfrm>
        </p:spPr>
        <p:txBody>
          <a:bodyPr/>
          <a:lstStyle/>
          <a:p>
            <a:pPr>
              <a:lnSpc>
                <a:spcPct val="100000"/>
              </a:lnSpc>
              <a:defRPr/>
            </a:pPr>
            <a:r>
              <a:rPr lang="zh-CN" altLang="en-US" dirty="0">
                <a:latin typeface="微软雅黑" panose="020B0503020204020204" pitchFamily="34" charset="-122"/>
              </a:rPr>
              <a:t>直线折旧：       年折旧率</a:t>
            </a:r>
            <a:r>
              <a:rPr lang="en-US" altLang="zh-CN" dirty="0">
                <a:latin typeface="微软雅黑" panose="020B0503020204020204" pitchFamily="34" charset="-122"/>
              </a:rPr>
              <a:t>= (</a:t>
            </a:r>
            <a:r>
              <a:rPr lang="zh-CN" altLang="en-US" dirty="0">
                <a:latin typeface="微软雅黑" panose="020B0503020204020204" pitchFamily="34" charset="-122"/>
              </a:rPr>
              <a:t>固定资产原值</a:t>
            </a:r>
            <a:r>
              <a:rPr lang="en-US" altLang="zh-CN" dirty="0">
                <a:latin typeface="微软雅黑" panose="020B0503020204020204" pitchFamily="34" charset="-122"/>
              </a:rPr>
              <a:t>-</a:t>
            </a:r>
            <a:r>
              <a:rPr lang="zh-CN" altLang="en-US" dirty="0">
                <a:latin typeface="微软雅黑" panose="020B0503020204020204" pitchFamily="34" charset="-122"/>
              </a:rPr>
              <a:t>残值</a:t>
            </a:r>
            <a:r>
              <a:rPr lang="en-US" altLang="zh-CN" dirty="0">
                <a:latin typeface="微软雅黑" panose="020B0503020204020204" pitchFamily="34" charset="-122"/>
              </a:rPr>
              <a:t>)/</a:t>
            </a:r>
            <a:r>
              <a:rPr lang="zh-CN" altLang="en-US" dirty="0">
                <a:latin typeface="微软雅黑" panose="020B0503020204020204" pitchFamily="34" charset="-122"/>
              </a:rPr>
              <a:t>预计使用年限</a:t>
            </a:r>
          </a:p>
          <a:p>
            <a:pPr>
              <a:lnSpc>
                <a:spcPct val="100000"/>
              </a:lnSpc>
              <a:defRPr/>
            </a:pPr>
            <a:r>
              <a:rPr lang="zh-CN" altLang="en-US" dirty="0">
                <a:latin typeface="微软雅黑" panose="020B0503020204020204" pitchFamily="34" charset="-122"/>
              </a:rPr>
              <a:t>双倍余额折旧：年折旧率</a:t>
            </a:r>
            <a:r>
              <a:rPr lang="en-US" altLang="zh-CN" dirty="0">
                <a:latin typeface="微软雅黑" panose="020B0503020204020204" pitchFamily="34" charset="-122"/>
              </a:rPr>
              <a:t>= (2/</a:t>
            </a:r>
            <a:r>
              <a:rPr lang="zh-CN" altLang="en-US" dirty="0">
                <a:latin typeface="微软雅黑" panose="020B0503020204020204" pitchFamily="34" charset="-122"/>
              </a:rPr>
              <a:t>预计折旧年限</a:t>
            </a:r>
            <a:r>
              <a:rPr lang="en-US" altLang="zh-CN" dirty="0">
                <a:latin typeface="微软雅黑" panose="020B0503020204020204" pitchFamily="34" charset="-122"/>
              </a:rPr>
              <a:t>)*100%</a:t>
            </a:r>
          </a:p>
          <a:p>
            <a:pPr>
              <a:lnSpc>
                <a:spcPct val="100000"/>
              </a:lnSpc>
              <a:defRPr/>
            </a:pPr>
            <a:r>
              <a:rPr lang="zh-CN" altLang="en-US" dirty="0">
                <a:latin typeface="微软雅黑" panose="020B0503020204020204" pitchFamily="34" charset="-122"/>
              </a:rPr>
              <a:t>年数总和折旧：年折旧率</a:t>
            </a:r>
            <a:r>
              <a:rPr lang="en-US" altLang="zh-CN" dirty="0">
                <a:latin typeface="微软雅黑" panose="020B0503020204020204" pitchFamily="34" charset="-122"/>
              </a:rPr>
              <a:t>= (</a:t>
            </a:r>
            <a:r>
              <a:rPr lang="zh-CN" altLang="en-US" dirty="0">
                <a:latin typeface="微软雅黑" panose="020B0503020204020204" pitchFamily="34" charset="-122"/>
              </a:rPr>
              <a:t>尚可使用年限</a:t>
            </a:r>
            <a:r>
              <a:rPr lang="en-US" altLang="zh-CN" dirty="0">
                <a:latin typeface="微软雅黑" panose="020B0503020204020204" pitchFamily="34" charset="-122"/>
              </a:rPr>
              <a:t>/</a:t>
            </a:r>
            <a:r>
              <a:rPr lang="zh-CN" altLang="en-US" dirty="0">
                <a:latin typeface="微软雅黑" panose="020B0503020204020204" pitchFamily="34" charset="-122"/>
              </a:rPr>
              <a:t>预计使用年限的年数总和</a:t>
            </a:r>
            <a:r>
              <a:rPr lang="en-US" altLang="zh-CN" dirty="0">
                <a:latin typeface="微软雅黑" panose="020B0503020204020204" pitchFamily="34" charset="-122"/>
              </a:rPr>
              <a:t>)*100%</a:t>
            </a:r>
          </a:p>
          <a:p>
            <a:pPr>
              <a:defRPr/>
            </a:pPr>
            <a:endParaRPr lang="zh-CN" altLang="en-US" dirty="0"/>
          </a:p>
        </p:txBody>
      </p:sp>
      <p:graphicFrame>
        <p:nvGraphicFramePr>
          <p:cNvPr id="5" name="Group 148">
            <a:extLst>
              <a:ext uri="{FF2B5EF4-FFF2-40B4-BE49-F238E27FC236}">
                <a16:creationId xmlns:a16="http://schemas.microsoft.com/office/drawing/2014/main" id="{9ED64584-504E-42EE-ADE0-2F5B3497065D}"/>
              </a:ext>
            </a:extLst>
          </p:cNvPr>
          <p:cNvGraphicFramePr>
            <a:graphicFrameLocks noGrp="1"/>
          </p:cNvGraphicFramePr>
          <p:nvPr/>
        </p:nvGraphicFramePr>
        <p:xfrm>
          <a:off x="2059781" y="3337561"/>
          <a:ext cx="8072437" cy="2773680"/>
        </p:xfrm>
        <a:graphic>
          <a:graphicData uri="http://schemas.openxmlformats.org/drawingml/2006/table">
            <a:tbl>
              <a:tblPr/>
              <a:tblGrid>
                <a:gridCol w="1881210">
                  <a:extLst>
                    <a:ext uri="{9D8B030D-6E8A-4147-A177-3AD203B41FA5}">
                      <a16:colId xmlns:a16="http://schemas.microsoft.com/office/drawing/2014/main" val="20000"/>
                    </a:ext>
                  </a:extLst>
                </a:gridCol>
                <a:gridCol w="1691933">
                  <a:extLst>
                    <a:ext uri="{9D8B030D-6E8A-4147-A177-3AD203B41FA5}">
                      <a16:colId xmlns:a16="http://schemas.microsoft.com/office/drawing/2014/main" val="20001"/>
                    </a:ext>
                  </a:extLst>
                </a:gridCol>
                <a:gridCol w="2249647">
                  <a:extLst>
                    <a:ext uri="{9D8B030D-6E8A-4147-A177-3AD203B41FA5}">
                      <a16:colId xmlns:a16="http://schemas.microsoft.com/office/drawing/2014/main" val="20002"/>
                    </a:ext>
                  </a:extLst>
                </a:gridCol>
                <a:gridCol w="2249647">
                  <a:extLst>
                    <a:ext uri="{9D8B030D-6E8A-4147-A177-3AD203B41FA5}">
                      <a16:colId xmlns:a16="http://schemas.microsoft.com/office/drawing/2014/main" val="20003"/>
                    </a:ext>
                  </a:extLst>
                </a:gridCol>
              </a:tblGrid>
              <a:tr h="215900">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20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年限</a:t>
                      </a: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0000"/>
                    </a:solid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20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直线法</a:t>
                      </a: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0000"/>
                    </a:solid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20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双倍余额</a:t>
                      </a: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0000"/>
                    </a:solid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20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年数总和</a:t>
                      </a: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0000"/>
                    </a:solidFill>
                  </a:tcPr>
                </a:tc>
                <a:extLst>
                  <a:ext uri="{0D108BD9-81ED-4DB2-BD59-A6C34878D82A}">
                    <a16:rowId xmlns:a16="http://schemas.microsoft.com/office/drawing/2014/main" val="10000"/>
                  </a:ext>
                </a:extLst>
              </a:tr>
              <a:tr h="315913">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1</a:t>
                      </a:r>
                      <a:r>
                        <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年</a:t>
                      </a: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2100" marR="0" lvl="0" indent="-19050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en-US" altLang="zh-CN"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3400</a:t>
                      </a:r>
                      <a:endPar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2100" marR="0" lvl="0" indent="-29210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7200</a:t>
                      </a:r>
                      <a:endPar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2100" marR="0" lvl="0" indent="-29210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5667</a:t>
                      </a:r>
                      <a:endPar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7500">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2</a:t>
                      </a:r>
                      <a:r>
                        <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年</a:t>
                      </a: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2100" marR="0" lvl="0" indent="-19050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en-US" altLang="zh-CN"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3400</a:t>
                      </a:r>
                      <a:endPar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4320</a:t>
                      </a:r>
                      <a:endPar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4533</a:t>
                      </a:r>
                      <a:endPar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7500">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3</a:t>
                      </a:r>
                      <a:r>
                        <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年</a:t>
                      </a: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2100" marR="0" lvl="0" indent="-19050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en-US" altLang="zh-CN"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3400</a:t>
                      </a:r>
                      <a:endPar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2592</a:t>
                      </a:r>
                      <a:endPar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3400</a:t>
                      </a:r>
                      <a:endPar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7500">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4</a:t>
                      </a:r>
                      <a:r>
                        <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年</a:t>
                      </a: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2100" marR="0" lvl="0" indent="-19050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en-US" altLang="zh-CN"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3400</a:t>
                      </a:r>
                      <a:endPar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1444</a:t>
                      </a:r>
                      <a:endPar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2267</a:t>
                      </a:r>
                      <a:endPar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7500">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5</a:t>
                      </a:r>
                      <a:r>
                        <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年</a:t>
                      </a: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2100" marR="0" lvl="0" indent="-19050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en-US" altLang="zh-CN"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3400</a:t>
                      </a:r>
                      <a:endPar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1444</a:t>
                      </a:r>
                      <a:endPar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1133</a:t>
                      </a:r>
                      <a:endPar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7500">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合计</a:t>
                      </a: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2100" marR="0" lvl="0" indent="-19050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en-US" altLang="zh-CN"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17000</a:t>
                      </a:r>
                      <a:endPar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17000</a:t>
                      </a:r>
                      <a:endPar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17000</a:t>
                      </a:r>
                      <a:endParaRPr kumimoji="0" lang="zh-CN" altLang="en-US" sz="20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1310" name="矩形 5">
            <a:extLst>
              <a:ext uri="{FF2B5EF4-FFF2-40B4-BE49-F238E27FC236}">
                <a16:creationId xmlns:a16="http://schemas.microsoft.com/office/drawing/2014/main" id="{2F6E01E5-4867-4A20-9436-174210CDD9E9}"/>
              </a:ext>
            </a:extLst>
          </p:cNvPr>
          <p:cNvSpPr>
            <a:spLocks noChangeArrowheads="1"/>
          </p:cNvSpPr>
          <p:nvPr/>
        </p:nvSpPr>
        <p:spPr bwMode="auto">
          <a:xfrm>
            <a:off x="2559842" y="2786238"/>
            <a:ext cx="70723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zh-CN" altLang="en-US" dirty="0">
                <a:latin typeface="微软雅黑" panose="020B0503020204020204" pitchFamily="34" charset="-122"/>
                <a:ea typeface="微软雅黑" panose="020B0503020204020204" pitchFamily="34" charset="-122"/>
              </a:rPr>
              <a:t>某企业固定资产原值为</a:t>
            </a:r>
            <a:r>
              <a:rPr lang="en-US" altLang="zh-CN" dirty="0">
                <a:latin typeface="微软雅黑" panose="020B0503020204020204" pitchFamily="34" charset="-122"/>
                <a:ea typeface="微软雅黑" panose="020B0503020204020204" pitchFamily="34" charset="-122"/>
              </a:rPr>
              <a:t>18000</a:t>
            </a:r>
            <a:r>
              <a:rPr lang="zh-CN" altLang="en-US" dirty="0">
                <a:latin typeface="微软雅黑" panose="020B0503020204020204" pitchFamily="34" charset="-122"/>
                <a:ea typeface="微软雅黑" panose="020B0503020204020204" pitchFamily="34" charset="-122"/>
              </a:rPr>
              <a:t>元，预计残值</a:t>
            </a:r>
            <a:r>
              <a:rPr lang="en-US" altLang="zh-CN" dirty="0">
                <a:latin typeface="微软雅黑" panose="020B0503020204020204" pitchFamily="34" charset="-122"/>
                <a:ea typeface="微软雅黑" panose="020B0503020204020204" pitchFamily="34" charset="-122"/>
              </a:rPr>
              <a:t>1000</a:t>
            </a:r>
            <a:r>
              <a:rPr lang="zh-CN" altLang="en-US" dirty="0">
                <a:latin typeface="微软雅黑" panose="020B0503020204020204" pitchFamily="34" charset="-122"/>
                <a:ea typeface="微软雅黑" panose="020B0503020204020204" pitchFamily="34" charset="-122"/>
              </a:rPr>
              <a:t>元，使用年限</a:t>
            </a:r>
            <a:r>
              <a:rPr lang="en-US" altLang="zh-CN" dirty="0">
                <a:latin typeface="微软雅黑" panose="020B0503020204020204" pitchFamily="34" charset="-122"/>
                <a:ea typeface="微软雅黑" panose="020B0503020204020204" pitchFamily="34" charset="-122"/>
              </a:rPr>
              <a:t>5</a:t>
            </a:r>
            <a:r>
              <a:rPr lang="zh-CN" altLang="en-US" dirty="0">
                <a:latin typeface="微软雅黑" panose="020B0503020204020204" pitchFamily="34" charset="-122"/>
                <a:ea typeface="微软雅黑" panose="020B0503020204020204" pitchFamily="34" charset="-122"/>
              </a:rPr>
              <a:t>年</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椭圆 9">
            <a:extLst>
              <a:ext uri="{FF2B5EF4-FFF2-40B4-BE49-F238E27FC236}">
                <a16:creationId xmlns:a16="http://schemas.microsoft.com/office/drawing/2014/main" id="{8E09D5A4-FBB8-F0F5-DC7F-DB112995A2E4}"/>
              </a:ext>
            </a:extLst>
          </p:cNvPr>
          <p:cNvSpPr/>
          <p:nvPr/>
        </p:nvSpPr>
        <p:spPr bwMode="auto">
          <a:xfrm>
            <a:off x="6504247" y="4407850"/>
            <a:ext cx="4816994" cy="2122042"/>
          </a:xfrm>
          <a:prstGeom prst="ellipse">
            <a:avLst/>
          </a:prstGeom>
          <a:solidFill>
            <a:schemeClr val="accent5">
              <a:lumMod val="60000"/>
              <a:lumOff val="40000"/>
            </a:schemeClr>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defRPr/>
            </a:pPr>
            <a:r>
              <a:rPr lang="zh-CN" altLang="en-US" sz="1400" dirty="0">
                <a:solidFill>
                  <a:schemeClr val="tx2">
                    <a:lumMod val="50000"/>
                  </a:schemeClr>
                </a:solidFill>
                <a:latin typeface="微软雅黑" panose="020B0503020204020204" pitchFamily="34" charset="-122"/>
                <a:ea typeface="微软雅黑" panose="020B0503020204020204" pitchFamily="34" charset="-122"/>
              </a:rPr>
              <a:t>项目范围</a:t>
            </a:r>
          </a:p>
        </p:txBody>
      </p:sp>
      <p:sp>
        <p:nvSpPr>
          <p:cNvPr id="14338" name="标题 1">
            <a:extLst>
              <a:ext uri="{FF2B5EF4-FFF2-40B4-BE49-F238E27FC236}">
                <a16:creationId xmlns:a16="http://schemas.microsoft.com/office/drawing/2014/main" id="{FBE720B1-D39D-4397-9485-7D1858FDC4F4}"/>
              </a:ext>
            </a:extLst>
          </p:cNvPr>
          <p:cNvSpPr>
            <a:spLocks noGrp="1"/>
          </p:cNvSpPr>
          <p:nvPr>
            <p:ph type="title"/>
          </p:nvPr>
        </p:nvSpPr>
        <p:spPr/>
        <p:txBody>
          <a:bodyPr/>
          <a:lstStyle/>
          <a:p>
            <a:r>
              <a:rPr lang="zh-CN" altLang="en-US" dirty="0"/>
              <a:t>成本意识</a:t>
            </a:r>
          </a:p>
        </p:txBody>
      </p:sp>
      <p:sp>
        <p:nvSpPr>
          <p:cNvPr id="4" name="内容占位符 2">
            <a:extLst>
              <a:ext uri="{FF2B5EF4-FFF2-40B4-BE49-F238E27FC236}">
                <a16:creationId xmlns:a16="http://schemas.microsoft.com/office/drawing/2014/main" id="{A7378883-4BCE-4D6E-B44C-B7F2F82BB799}"/>
              </a:ext>
            </a:extLst>
          </p:cNvPr>
          <p:cNvSpPr>
            <a:spLocks noGrp="1"/>
          </p:cNvSpPr>
          <p:nvPr>
            <p:ph idx="1"/>
          </p:nvPr>
        </p:nvSpPr>
        <p:spPr>
          <a:xfrm>
            <a:off x="1131680" y="1550350"/>
            <a:ext cx="9496346" cy="2857500"/>
          </a:xfrm>
        </p:spPr>
        <p:txBody>
          <a:bodyPr/>
          <a:lstStyle/>
          <a:p>
            <a:pPr>
              <a:lnSpc>
                <a:spcPct val="100000"/>
              </a:lnSpc>
              <a:defRPr/>
            </a:pPr>
            <a:r>
              <a:rPr lang="zh-CN" altLang="en-US" b="0" dirty="0"/>
              <a:t>项目能否按进度完成？</a:t>
            </a:r>
            <a:r>
              <a:rPr lang="en-US" altLang="zh-CN" b="0" dirty="0">
                <a:solidFill>
                  <a:schemeClr val="tx2"/>
                </a:solidFill>
              </a:rPr>
              <a:t>-&gt;</a:t>
            </a:r>
            <a:r>
              <a:rPr lang="zh-CN" altLang="en-US" b="0" dirty="0">
                <a:solidFill>
                  <a:schemeClr val="tx2"/>
                </a:solidFill>
              </a:rPr>
              <a:t>项目能赚多少钱，什么时候能收款</a:t>
            </a:r>
            <a:endParaRPr lang="en-US" altLang="zh-CN" b="0" dirty="0">
              <a:solidFill>
                <a:schemeClr val="tx2"/>
              </a:solidFill>
            </a:endParaRPr>
          </a:p>
          <a:p>
            <a:pPr>
              <a:lnSpc>
                <a:spcPct val="100000"/>
              </a:lnSpc>
              <a:defRPr/>
            </a:pPr>
            <a:r>
              <a:rPr lang="zh-CN" altLang="en-US" b="0" dirty="0"/>
              <a:t>项目需要多少人？</a:t>
            </a:r>
            <a:r>
              <a:rPr lang="en-US" altLang="zh-CN" b="0" dirty="0">
                <a:solidFill>
                  <a:schemeClr val="tx2"/>
                </a:solidFill>
              </a:rPr>
              <a:t>-&gt;</a:t>
            </a:r>
            <a:r>
              <a:rPr lang="zh-CN" altLang="en-US" b="0" dirty="0">
                <a:solidFill>
                  <a:schemeClr val="tx2"/>
                </a:solidFill>
              </a:rPr>
              <a:t>人力成本投入预计要多少</a:t>
            </a:r>
            <a:endParaRPr lang="en-US" altLang="zh-CN" b="0" dirty="0">
              <a:solidFill>
                <a:schemeClr val="tx2"/>
              </a:solidFill>
            </a:endParaRPr>
          </a:p>
          <a:p>
            <a:pPr>
              <a:lnSpc>
                <a:spcPct val="100000"/>
              </a:lnSpc>
              <a:defRPr/>
            </a:pPr>
            <a:r>
              <a:rPr lang="zh-CN" altLang="en-US" b="0" dirty="0"/>
              <a:t>公司现金流能否支撑项目运作？</a:t>
            </a:r>
            <a:r>
              <a:rPr lang="en-US" altLang="zh-CN" b="0" dirty="0">
                <a:solidFill>
                  <a:schemeClr val="tx2"/>
                </a:solidFill>
              </a:rPr>
              <a:t>-&gt;</a:t>
            </a:r>
            <a:r>
              <a:rPr lang="zh-CN" altLang="en-US" b="0" dirty="0">
                <a:solidFill>
                  <a:schemeClr val="tx2"/>
                </a:solidFill>
              </a:rPr>
              <a:t>项目资金平衡和资金计划</a:t>
            </a:r>
            <a:endParaRPr lang="en-US" altLang="zh-CN" b="0" dirty="0">
              <a:solidFill>
                <a:schemeClr val="tx2"/>
              </a:solidFill>
            </a:endParaRPr>
          </a:p>
          <a:p>
            <a:pPr>
              <a:lnSpc>
                <a:spcPct val="100000"/>
              </a:lnSpc>
              <a:defRPr/>
            </a:pPr>
            <a:r>
              <a:rPr lang="zh-CN" altLang="en-US" b="0" dirty="0"/>
              <a:t>项目成本支出如何控制？</a:t>
            </a:r>
            <a:r>
              <a:rPr lang="en-US" altLang="zh-CN" b="0" dirty="0">
                <a:solidFill>
                  <a:schemeClr val="tx2"/>
                </a:solidFill>
              </a:rPr>
              <a:t>-&gt;</a:t>
            </a:r>
            <a:r>
              <a:rPr lang="zh-CN" altLang="en-US" b="0" dirty="0">
                <a:solidFill>
                  <a:schemeClr val="tx2"/>
                </a:solidFill>
              </a:rPr>
              <a:t>项目花钱要有预算，有计划</a:t>
            </a:r>
            <a:endParaRPr lang="en-US" altLang="zh-CN" b="0" dirty="0">
              <a:solidFill>
                <a:schemeClr val="tx2"/>
              </a:solidFill>
            </a:endParaRPr>
          </a:p>
          <a:p>
            <a:pPr>
              <a:lnSpc>
                <a:spcPct val="100000"/>
              </a:lnSpc>
              <a:defRPr/>
            </a:pPr>
            <a:r>
              <a:rPr lang="zh-CN" altLang="en-US" b="0" dirty="0"/>
              <a:t>项目成本绩效如何？</a:t>
            </a:r>
            <a:r>
              <a:rPr lang="en-US" altLang="zh-CN" b="0" dirty="0">
                <a:solidFill>
                  <a:schemeClr val="tx2"/>
                </a:solidFill>
              </a:rPr>
              <a:t>-&gt;</a:t>
            </a:r>
            <a:r>
              <a:rPr lang="zh-CN" altLang="en-US" b="0" dirty="0">
                <a:solidFill>
                  <a:schemeClr val="tx2"/>
                </a:solidFill>
              </a:rPr>
              <a:t>项目挣值分析</a:t>
            </a:r>
            <a:endParaRPr lang="en-US" altLang="zh-CN" b="0" dirty="0">
              <a:solidFill>
                <a:schemeClr val="tx2"/>
              </a:solidFill>
            </a:endParaRPr>
          </a:p>
          <a:p>
            <a:pPr>
              <a:lnSpc>
                <a:spcPct val="100000"/>
              </a:lnSpc>
              <a:defRPr/>
            </a:pPr>
            <a:r>
              <a:rPr lang="zh-CN" altLang="en-US" b="0" dirty="0"/>
              <a:t>项目每花一分钱是否都有价值？</a:t>
            </a:r>
            <a:r>
              <a:rPr lang="en-US" altLang="zh-CN" b="0" dirty="0">
                <a:solidFill>
                  <a:schemeClr val="tx2"/>
                </a:solidFill>
              </a:rPr>
              <a:t>-&gt;</a:t>
            </a:r>
            <a:r>
              <a:rPr lang="zh-CN" altLang="en-US" b="0" dirty="0">
                <a:solidFill>
                  <a:schemeClr val="tx2"/>
                </a:solidFill>
              </a:rPr>
              <a:t>项目业务活动成本投入和价值分析</a:t>
            </a:r>
            <a:endParaRPr lang="en-US" altLang="zh-CN" b="0" dirty="0">
              <a:solidFill>
                <a:schemeClr val="tx2"/>
              </a:solidFill>
            </a:endParaRPr>
          </a:p>
          <a:p>
            <a:pPr>
              <a:lnSpc>
                <a:spcPct val="100000"/>
              </a:lnSpc>
              <a:defRPr/>
            </a:pPr>
            <a:r>
              <a:rPr lang="zh-CN" altLang="en-US" b="0" dirty="0"/>
              <a:t>项目又哪些不确定性和不可预知风险？</a:t>
            </a:r>
            <a:r>
              <a:rPr lang="en-US" altLang="zh-CN" b="0" dirty="0">
                <a:solidFill>
                  <a:schemeClr val="tx2"/>
                </a:solidFill>
              </a:rPr>
              <a:t>-&gt;</a:t>
            </a:r>
            <a:r>
              <a:rPr lang="zh-CN" altLang="en-US" b="0" dirty="0">
                <a:solidFill>
                  <a:schemeClr val="tx2"/>
                </a:solidFill>
              </a:rPr>
              <a:t>应对风险的储备金</a:t>
            </a:r>
            <a:endParaRPr lang="en-US" altLang="zh-CN" b="0" dirty="0">
              <a:solidFill>
                <a:schemeClr val="tx2"/>
              </a:solidFill>
            </a:endParaRPr>
          </a:p>
          <a:p>
            <a:pPr>
              <a:lnSpc>
                <a:spcPct val="100000"/>
              </a:lnSpc>
              <a:defRPr/>
            </a:pPr>
            <a:endParaRPr lang="en-US" altLang="zh-CN" sz="1800" dirty="0"/>
          </a:p>
        </p:txBody>
      </p:sp>
      <p:sp>
        <p:nvSpPr>
          <p:cNvPr id="5" name="椭圆 4">
            <a:extLst>
              <a:ext uri="{FF2B5EF4-FFF2-40B4-BE49-F238E27FC236}">
                <a16:creationId xmlns:a16="http://schemas.microsoft.com/office/drawing/2014/main" id="{766DC5CA-8A28-484A-950E-C6DE6551B2A9}"/>
              </a:ext>
            </a:extLst>
          </p:cNvPr>
          <p:cNvSpPr/>
          <p:nvPr/>
        </p:nvSpPr>
        <p:spPr bwMode="auto">
          <a:xfrm>
            <a:off x="8055494" y="4542568"/>
            <a:ext cx="857250" cy="714375"/>
          </a:xfrm>
          <a:prstGeom prst="ellipse">
            <a:avLst/>
          </a:prstGeom>
          <a:solidFill>
            <a:schemeClr val="accent2">
              <a:lumMod val="75000"/>
            </a:schemeClr>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进度意识</a:t>
            </a:r>
          </a:p>
        </p:txBody>
      </p:sp>
      <p:sp>
        <p:nvSpPr>
          <p:cNvPr id="6" name="椭圆 5">
            <a:extLst>
              <a:ext uri="{FF2B5EF4-FFF2-40B4-BE49-F238E27FC236}">
                <a16:creationId xmlns:a16="http://schemas.microsoft.com/office/drawing/2014/main" id="{2B83D223-BEA2-4741-A271-139565222D11}"/>
              </a:ext>
            </a:extLst>
          </p:cNvPr>
          <p:cNvSpPr/>
          <p:nvPr/>
        </p:nvSpPr>
        <p:spPr bwMode="auto">
          <a:xfrm>
            <a:off x="8055494" y="5685568"/>
            <a:ext cx="857250" cy="714375"/>
          </a:xfrm>
          <a:prstGeom prst="ellipse">
            <a:avLst/>
          </a:prstGeom>
          <a:solidFill>
            <a:schemeClr val="accent2">
              <a:lumMod val="75000"/>
            </a:schemeClr>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质量意识</a:t>
            </a:r>
          </a:p>
        </p:txBody>
      </p:sp>
      <p:sp>
        <p:nvSpPr>
          <p:cNvPr id="7" name="右箭头 6">
            <a:extLst>
              <a:ext uri="{FF2B5EF4-FFF2-40B4-BE49-F238E27FC236}">
                <a16:creationId xmlns:a16="http://schemas.microsoft.com/office/drawing/2014/main" id="{A420A823-D881-4933-95EE-5FA9C993A66F}"/>
              </a:ext>
            </a:extLst>
          </p:cNvPr>
          <p:cNvSpPr/>
          <p:nvPr/>
        </p:nvSpPr>
        <p:spPr bwMode="auto">
          <a:xfrm rot="1374709">
            <a:off x="9158808" y="4947379"/>
            <a:ext cx="808037" cy="357188"/>
          </a:xfrm>
          <a:prstGeom prst="rightArrow">
            <a:avLst/>
          </a:prstGeom>
          <a:solidFill>
            <a:schemeClr val="accent2">
              <a:lumMod val="75000"/>
            </a:schemeClr>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400" dirty="0">
              <a:solidFill>
                <a:srgbClr val="FFFFCC"/>
              </a:solidFill>
              <a:latin typeface="微软雅黑" panose="020B0503020204020204" pitchFamily="34" charset="-122"/>
              <a:ea typeface="微软雅黑" panose="020B0503020204020204" pitchFamily="34" charset="-122"/>
            </a:endParaRPr>
          </a:p>
        </p:txBody>
      </p:sp>
      <p:sp>
        <p:nvSpPr>
          <p:cNvPr id="8" name="右箭头 7">
            <a:extLst>
              <a:ext uri="{FF2B5EF4-FFF2-40B4-BE49-F238E27FC236}">
                <a16:creationId xmlns:a16="http://schemas.microsoft.com/office/drawing/2014/main" id="{992F23DD-2D2D-4059-B53E-379F987DD56F}"/>
              </a:ext>
            </a:extLst>
          </p:cNvPr>
          <p:cNvSpPr/>
          <p:nvPr/>
        </p:nvSpPr>
        <p:spPr bwMode="auto">
          <a:xfrm rot="20241224">
            <a:off x="9150869" y="5683979"/>
            <a:ext cx="806450" cy="357188"/>
          </a:xfrm>
          <a:prstGeom prst="rightArrow">
            <a:avLst/>
          </a:prstGeom>
          <a:solidFill>
            <a:schemeClr val="accent2">
              <a:lumMod val="75000"/>
            </a:schemeClr>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400" dirty="0">
              <a:solidFill>
                <a:srgbClr val="FFFFCC"/>
              </a:solidFill>
              <a:latin typeface="微软雅黑" panose="020B0503020204020204" pitchFamily="34" charset="-122"/>
              <a:ea typeface="微软雅黑" panose="020B0503020204020204" pitchFamily="34" charset="-122"/>
            </a:endParaRPr>
          </a:p>
        </p:txBody>
      </p:sp>
      <p:sp>
        <p:nvSpPr>
          <p:cNvPr id="9" name="椭圆 8">
            <a:extLst>
              <a:ext uri="{FF2B5EF4-FFF2-40B4-BE49-F238E27FC236}">
                <a16:creationId xmlns:a16="http://schemas.microsoft.com/office/drawing/2014/main" id="{B7240580-8734-4F72-B71C-76815469BA67}"/>
              </a:ext>
            </a:extLst>
          </p:cNvPr>
          <p:cNvSpPr/>
          <p:nvPr/>
        </p:nvSpPr>
        <p:spPr bwMode="auto">
          <a:xfrm>
            <a:off x="10055744" y="5114068"/>
            <a:ext cx="857250" cy="714375"/>
          </a:xfrm>
          <a:prstGeom prst="ellipse">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成本意识</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DA558B8-FB07-4F40-A335-358FD03A68E0}"/>
              </a:ext>
            </a:extLst>
          </p:cNvPr>
          <p:cNvSpPr>
            <a:spLocks noGrp="1"/>
          </p:cNvSpPr>
          <p:nvPr>
            <p:ph idx="1"/>
          </p:nvPr>
        </p:nvSpPr>
        <p:spPr>
          <a:xfrm>
            <a:off x="2030413" y="930219"/>
            <a:ext cx="8229600" cy="5276617"/>
          </a:xfrm>
        </p:spPr>
        <p:txBody>
          <a:bodyPr>
            <a:normAutofit fontScale="62500" lnSpcReduction="20000"/>
          </a:bodyPr>
          <a:lstStyle/>
          <a:p>
            <a:pPr>
              <a:defRPr/>
            </a:pPr>
            <a:r>
              <a:rPr lang="en-US" altLang="zh-CN" sz="2900" dirty="0"/>
              <a:t>IT</a:t>
            </a:r>
            <a:r>
              <a:rPr lang="zh-CN" altLang="en-US" sz="2900" dirty="0"/>
              <a:t>项目成本构成</a:t>
            </a:r>
          </a:p>
          <a:p>
            <a:pPr lvl="1">
              <a:defRPr/>
            </a:pPr>
            <a:r>
              <a:rPr lang="zh-CN" altLang="en-US" sz="2900" b="0" dirty="0"/>
              <a:t>设备、软硬件、材料购置成本</a:t>
            </a:r>
          </a:p>
          <a:p>
            <a:pPr lvl="1">
              <a:defRPr/>
            </a:pPr>
            <a:r>
              <a:rPr lang="zh-CN" altLang="en-US" sz="2900" b="0" dirty="0"/>
              <a:t>建筑安装工程费用</a:t>
            </a:r>
          </a:p>
          <a:p>
            <a:pPr lvl="1">
              <a:defRPr/>
            </a:pPr>
            <a:r>
              <a:rPr lang="zh-CN" altLang="en-US" sz="2900" b="0" dirty="0"/>
              <a:t>人工成本（软件开发、系统集成费用）</a:t>
            </a:r>
          </a:p>
          <a:p>
            <a:pPr lvl="1">
              <a:defRPr/>
            </a:pPr>
            <a:r>
              <a:rPr lang="zh-CN" altLang="en-US" sz="2900" b="0" dirty="0"/>
              <a:t>维护成本</a:t>
            </a:r>
          </a:p>
          <a:p>
            <a:pPr lvl="1">
              <a:defRPr/>
            </a:pPr>
            <a:r>
              <a:rPr lang="zh-CN" altLang="en-US" sz="2900" b="0" dirty="0"/>
              <a:t>培训费</a:t>
            </a:r>
          </a:p>
          <a:p>
            <a:pPr lvl="1">
              <a:defRPr/>
            </a:pPr>
            <a:r>
              <a:rPr lang="zh-CN" altLang="en-US" sz="2900" b="0" dirty="0"/>
              <a:t>业务费、差旅费</a:t>
            </a:r>
          </a:p>
          <a:p>
            <a:pPr>
              <a:defRPr/>
            </a:pPr>
            <a:r>
              <a:rPr lang="en-US" altLang="zh-CN" sz="2900" dirty="0"/>
              <a:t>IT</a:t>
            </a:r>
            <a:r>
              <a:rPr lang="zh-CN" altLang="en-US" sz="2900" dirty="0"/>
              <a:t>项目成本特点</a:t>
            </a:r>
          </a:p>
          <a:p>
            <a:pPr lvl="1">
              <a:defRPr/>
            </a:pPr>
            <a:r>
              <a:rPr lang="zh-CN" altLang="en-US" sz="2900" b="0" dirty="0"/>
              <a:t>人工成本高</a:t>
            </a:r>
          </a:p>
          <a:p>
            <a:pPr lvl="1">
              <a:defRPr/>
            </a:pPr>
            <a:r>
              <a:rPr lang="zh-CN" altLang="en-US" sz="2900" b="0" dirty="0"/>
              <a:t>直接成本低，间接成本高</a:t>
            </a:r>
          </a:p>
          <a:p>
            <a:pPr lvl="1">
              <a:defRPr/>
            </a:pPr>
            <a:r>
              <a:rPr lang="zh-CN" altLang="en-US" sz="2900" b="0" dirty="0"/>
              <a:t>维护成本高且较难确定</a:t>
            </a:r>
          </a:p>
          <a:p>
            <a:pPr lvl="1">
              <a:defRPr/>
            </a:pPr>
            <a:r>
              <a:rPr lang="zh-CN" altLang="en-US" sz="2900" b="0" dirty="0"/>
              <a:t>成本变动频繁，风险成本高</a:t>
            </a:r>
          </a:p>
          <a:p>
            <a:pPr lvl="1">
              <a:defRPr/>
            </a:pPr>
            <a:r>
              <a:rPr lang="zh-CN" altLang="en-US" sz="2900" b="0" dirty="0"/>
              <a:t>成本管理工作复杂</a:t>
            </a:r>
          </a:p>
          <a:p>
            <a:pPr>
              <a:defRPr/>
            </a:pPr>
            <a:endParaRPr lang="zh-CN" altLang="en-US" dirty="0"/>
          </a:p>
        </p:txBody>
      </p:sp>
    </p:spTree>
    <p:extLst>
      <p:ext uri="{BB962C8B-B14F-4D97-AF65-F5344CB8AC3E}">
        <p14:creationId xmlns:p14="http://schemas.microsoft.com/office/powerpoint/2010/main" val="2400713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lstStyle/>
          <a:p>
            <a:r>
              <a:rPr lang="en-US" altLang="zh-CN" dirty="0"/>
              <a:t>13.0 </a:t>
            </a:r>
            <a:r>
              <a:rPr lang="zh-CN" altLang="en-US" dirty="0"/>
              <a:t>项目成本管理概述</a:t>
            </a:r>
          </a:p>
        </p:txBody>
      </p:sp>
      <p:sp>
        <p:nvSpPr>
          <p:cNvPr id="4" name="矩形 3"/>
          <p:cNvSpPr/>
          <p:nvPr/>
        </p:nvSpPr>
        <p:spPr>
          <a:xfrm>
            <a:off x="604150" y="1249760"/>
            <a:ext cx="10972799" cy="2893100"/>
          </a:xfrm>
          <a:prstGeom prst="rect">
            <a:avLst/>
          </a:prstGeom>
        </p:spPr>
        <p:txBody>
          <a:bodyPr wrap="square">
            <a:spAutoFit/>
          </a:bodyPr>
          <a:lstStyle/>
          <a:p>
            <a:pPr algn="l">
              <a:spcAft>
                <a:spcPts val="1200"/>
              </a:spcAft>
            </a:pPr>
            <a:r>
              <a:rPr lang="zh-CN" altLang="en-US" sz="2400" b="1" i="0" u="none" strike="noStrike" baseline="0" dirty="0">
                <a:solidFill>
                  <a:srgbClr val="C00000"/>
                </a:solidFill>
                <a:latin typeface="微软雅黑" panose="020B0503020204020204" pitchFamily="34" charset="-122"/>
                <a:ea typeface="微软雅黑" panose="020B0503020204020204" pitchFamily="34" charset="-122"/>
              </a:rPr>
              <a:t>项目成本管理过程</a:t>
            </a:r>
            <a:endParaRPr lang="en-US" altLang="zh-CN" sz="2400" b="1" i="0" u="none" strike="noStrike" baseline="0" dirty="0">
              <a:solidFill>
                <a:srgbClr val="C00000"/>
              </a:solidFill>
              <a:latin typeface="微软雅黑" panose="020B0503020204020204" pitchFamily="34" charset="-122"/>
              <a:ea typeface="微软雅黑" panose="020B0503020204020204" pitchFamily="34" charset="-122"/>
            </a:endParaRPr>
          </a:p>
          <a:p>
            <a:pPr algn="l">
              <a:spcAft>
                <a:spcPts val="600"/>
              </a:spcAft>
            </a:pPr>
            <a:r>
              <a:rPr lang="zh-CN" altLang="en-US" sz="2200" b="0" i="0" u="none" strike="noStrike" baseline="0" dirty="0">
                <a:latin typeface="微软雅黑" panose="020B0503020204020204" pitchFamily="34" charset="-122"/>
                <a:ea typeface="微软雅黑" panose="020B0503020204020204" pitchFamily="34" charset="-122"/>
              </a:rPr>
              <a:t>项目成本管理包括为使项目在批准的预算内完成而对成本进行规划、估算、预算、融资、筹资、管理和控制的各个过程，从而确保项目在批准的预算内完工。过程包括：</a:t>
            </a:r>
          </a:p>
          <a:p>
            <a:pPr marL="342900" indent="-342900" algn="l">
              <a:spcAft>
                <a:spcPts val="600"/>
              </a:spcAft>
              <a:buFont typeface="Wingdings" panose="05000000000000000000" pitchFamily="2" charset="2"/>
              <a:buChar char="l"/>
            </a:pPr>
            <a:r>
              <a:rPr lang="zh-CN" altLang="en-US" sz="2000" b="1" i="0" u="none" strike="noStrike" baseline="0" dirty="0">
                <a:latin typeface="微软雅黑" panose="020B0503020204020204" pitchFamily="34" charset="-122"/>
                <a:ea typeface="微软雅黑" panose="020B0503020204020204" pitchFamily="34" charset="-122"/>
              </a:rPr>
              <a:t>规划成本管理 </a:t>
            </a:r>
            <a:r>
              <a:rPr lang="en-US" altLang="zh-CN" sz="2000" b="1" i="0" u="none" strike="noStrike" baseline="0" dirty="0">
                <a:latin typeface="微软雅黑" panose="020B0503020204020204" pitchFamily="34" charset="-122"/>
                <a:ea typeface="微软雅黑" panose="020B0503020204020204" pitchFamily="34" charset="-122"/>
              </a:rPr>
              <a:t>— </a:t>
            </a:r>
            <a:r>
              <a:rPr lang="zh-CN" altLang="en-US" sz="2000" b="0" i="0" u="none" strike="noStrike" baseline="0" dirty="0">
                <a:latin typeface="微软雅黑" panose="020B0503020204020204" pitchFamily="34" charset="-122"/>
                <a:ea typeface="微软雅黑" panose="020B0503020204020204" pitchFamily="34" charset="-122"/>
              </a:rPr>
              <a:t>确定如何估算、预算、管理、监督和控制项目成本的过程。</a:t>
            </a:r>
          </a:p>
          <a:p>
            <a:pPr marL="342900" indent="-342900" algn="l">
              <a:spcAft>
                <a:spcPts val="600"/>
              </a:spcAft>
              <a:buFont typeface="Wingdings" panose="05000000000000000000" pitchFamily="2" charset="2"/>
              <a:buChar char="l"/>
            </a:pPr>
            <a:r>
              <a:rPr lang="zh-CN" altLang="en-US" sz="2000" b="1" i="0" u="none" strike="noStrike" baseline="0" dirty="0">
                <a:latin typeface="微软雅黑" panose="020B0503020204020204" pitchFamily="34" charset="-122"/>
                <a:ea typeface="微软雅黑" panose="020B0503020204020204" pitchFamily="34" charset="-122"/>
              </a:rPr>
              <a:t>估算成本 </a:t>
            </a:r>
            <a:r>
              <a:rPr lang="en-US" altLang="zh-CN" sz="2000" b="1" i="0" u="none" strike="noStrike" baseline="0" dirty="0">
                <a:latin typeface="微软雅黑" panose="020B0503020204020204" pitchFamily="34" charset="-122"/>
                <a:ea typeface="微软雅黑" panose="020B0503020204020204" pitchFamily="34" charset="-122"/>
              </a:rPr>
              <a:t>— </a:t>
            </a:r>
            <a:r>
              <a:rPr lang="zh-CN" altLang="en-US" sz="2000" b="0" i="0" u="none" strike="noStrike" baseline="0" dirty="0">
                <a:latin typeface="微软雅黑" panose="020B0503020204020204" pitchFamily="34" charset="-122"/>
                <a:ea typeface="微软雅黑" panose="020B0503020204020204" pitchFamily="34" charset="-122"/>
              </a:rPr>
              <a:t>对完成项目活动所需货币资源进行近似估算的过程。</a:t>
            </a:r>
          </a:p>
          <a:p>
            <a:pPr marL="342900" indent="-342900" algn="l">
              <a:spcAft>
                <a:spcPts val="600"/>
              </a:spcAft>
              <a:buFont typeface="Wingdings" panose="05000000000000000000" pitchFamily="2" charset="2"/>
              <a:buChar char="l"/>
            </a:pPr>
            <a:r>
              <a:rPr lang="zh-CN" altLang="en-US" sz="2000" b="1" i="0" u="none" strike="noStrike" baseline="0" dirty="0">
                <a:latin typeface="微软雅黑" panose="020B0503020204020204" pitchFamily="34" charset="-122"/>
                <a:ea typeface="微软雅黑" panose="020B0503020204020204" pitchFamily="34" charset="-122"/>
              </a:rPr>
              <a:t>制定预算 </a:t>
            </a:r>
            <a:r>
              <a:rPr lang="en-US" altLang="zh-CN" sz="2000" b="1" i="0" u="none" strike="noStrike" baseline="0" dirty="0">
                <a:latin typeface="微软雅黑" panose="020B0503020204020204" pitchFamily="34" charset="-122"/>
                <a:ea typeface="微软雅黑" panose="020B0503020204020204" pitchFamily="34" charset="-122"/>
              </a:rPr>
              <a:t>— </a:t>
            </a:r>
            <a:r>
              <a:rPr lang="zh-CN" altLang="en-US" sz="2000" b="0" i="0" u="none" strike="noStrike" baseline="0" dirty="0">
                <a:latin typeface="微软雅黑" panose="020B0503020204020204" pitchFamily="34" charset="-122"/>
                <a:ea typeface="微软雅黑" panose="020B0503020204020204" pitchFamily="34" charset="-122"/>
              </a:rPr>
              <a:t>汇总所有单个活动或工作包的估算成本，建立一个经批准的成本基准的过程。</a:t>
            </a:r>
          </a:p>
          <a:p>
            <a:pPr marL="342900" indent="-342900" algn="l">
              <a:spcAft>
                <a:spcPts val="600"/>
              </a:spcAft>
              <a:buFont typeface="Wingdings" panose="05000000000000000000" pitchFamily="2" charset="2"/>
              <a:buChar char="l"/>
            </a:pPr>
            <a:r>
              <a:rPr lang="zh-CN" altLang="en-US" sz="2000" b="1" i="0" u="none" strike="noStrike" baseline="0" dirty="0">
                <a:latin typeface="微软雅黑" panose="020B0503020204020204" pitchFamily="34" charset="-122"/>
                <a:ea typeface="微软雅黑" panose="020B0503020204020204" pitchFamily="34" charset="-122"/>
              </a:rPr>
              <a:t>控制成本 </a:t>
            </a:r>
            <a:r>
              <a:rPr lang="en-US" altLang="zh-CN" sz="2000" b="1" i="0" u="none" strike="noStrike" baseline="0" dirty="0">
                <a:latin typeface="微软雅黑" panose="020B0503020204020204" pitchFamily="34" charset="-122"/>
                <a:ea typeface="微软雅黑" panose="020B0503020204020204" pitchFamily="34" charset="-122"/>
              </a:rPr>
              <a:t>— </a:t>
            </a:r>
            <a:r>
              <a:rPr lang="zh-CN" altLang="en-US" sz="2000" b="0" i="0" u="none" strike="noStrike" baseline="0" dirty="0">
                <a:latin typeface="微软雅黑" panose="020B0503020204020204" pitchFamily="34" charset="-122"/>
                <a:ea typeface="微软雅黑" panose="020B0503020204020204" pitchFamily="34" charset="-122"/>
              </a:rPr>
              <a:t>监督项目状态，以更新项目成本和管理成本基准变更的过程</a:t>
            </a:r>
            <a:r>
              <a:rPr lang="zh-CN" altLang="en-US" sz="2400" b="0" i="0" u="none" strike="noStrike" baseline="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19348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lstStyle/>
          <a:p>
            <a:r>
              <a:rPr lang="en-US" altLang="zh-CN" dirty="0"/>
              <a:t>13.0 </a:t>
            </a:r>
            <a:r>
              <a:rPr lang="zh-CN" altLang="en-US" dirty="0"/>
              <a:t>项目成本管理概述</a:t>
            </a:r>
          </a:p>
        </p:txBody>
      </p:sp>
      <p:sp>
        <p:nvSpPr>
          <p:cNvPr id="4" name="矩形 3"/>
          <p:cNvSpPr/>
          <p:nvPr/>
        </p:nvSpPr>
        <p:spPr>
          <a:xfrm>
            <a:off x="604150" y="1249760"/>
            <a:ext cx="10972799" cy="461665"/>
          </a:xfrm>
          <a:prstGeom prst="rect">
            <a:avLst/>
          </a:prstGeom>
        </p:spPr>
        <p:txBody>
          <a:bodyPr wrap="square">
            <a:spAutoFit/>
          </a:bodyPr>
          <a:lstStyle/>
          <a:p>
            <a:pPr algn="l">
              <a:spcAft>
                <a:spcPts val="1200"/>
              </a:spcAft>
            </a:pPr>
            <a:r>
              <a:rPr lang="zh-CN" altLang="en-US" sz="2400" b="1" i="0" u="none" strike="noStrike" baseline="0" dirty="0">
                <a:solidFill>
                  <a:srgbClr val="C00000"/>
                </a:solidFill>
                <a:latin typeface="微软雅黑" panose="020B0503020204020204" pitchFamily="34" charset="-122"/>
                <a:ea typeface="微软雅黑" panose="020B0503020204020204" pitchFamily="34" charset="-122"/>
              </a:rPr>
              <a:t>项目成本管理</a:t>
            </a:r>
            <a:r>
              <a:rPr lang="zh-CN" altLang="en-US" sz="2400" b="1" dirty="0">
                <a:solidFill>
                  <a:srgbClr val="C00000"/>
                </a:solidFill>
                <a:latin typeface="微软雅黑" panose="020B0503020204020204" pitchFamily="34" charset="-122"/>
                <a:ea typeface="微软雅黑" panose="020B0503020204020204" pitchFamily="34" charset="-122"/>
              </a:rPr>
              <a:t>过程</a:t>
            </a:r>
            <a:endParaRPr lang="en-US" altLang="zh-CN" sz="2400" b="1" i="0" u="none" strike="noStrike" baseline="0" dirty="0">
              <a:solidFill>
                <a:srgbClr val="C00000"/>
              </a:solidFill>
              <a:latin typeface="微软雅黑" panose="020B0503020204020204" pitchFamily="34" charset="-122"/>
              <a:ea typeface="微软雅黑" panose="020B0503020204020204" pitchFamily="34" charset="-122"/>
            </a:endParaRPr>
          </a:p>
        </p:txBody>
      </p:sp>
      <p:sp>
        <p:nvSpPr>
          <p:cNvPr id="5" name="AutoShape 4">
            <a:extLst>
              <a:ext uri="{FF2B5EF4-FFF2-40B4-BE49-F238E27FC236}">
                <a16:creationId xmlns:a16="http://schemas.microsoft.com/office/drawing/2014/main" id="{6792892A-F268-4D3C-B2A1-2FCE06C197BE}"/>
              </a:ext>
            </a:extLst>
          </p:cNvPr>
          <p:cNvSpPr>
            <a:spLocks noChangeArrowheads="1"/>
          </p:cNvSpPr>
          <p:nvPr/>
        </p:nvSpPr>
        <p:spPr bwMode="auto">
          <a:xfrm>
            <a:off x="7812059" y="2403285"/>
            <a:ext cx="1706014"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000">
              <a:solidFill>
                <a:srgbClr val="FFFFFF"/>
              </a:solidFill>
              <a:latin typeface="微软雅黑" panose="020B0503020204020204" pitchFamily="34" charset="-122"/>
              <a:ea typeface="微软雅黑" panose="020B0503020204020204" pitchFamily="34" charset="-122"/>
            </a:endParaRPr>
          </a:p>
        </p:txBody>
      </p:sp>
      <p:sp>
        <p:nvSpPr>
          <p:cNvPr id="6" name="AutoShape 5">
            <a:extLst>
              <a:ext uri="{FF2B5EF4-FFF2-40B4-BE49-F238E27FC236}">
                <a16:creationId xmlns:a16="http://schemas.microsoft.com/office/drawing/2014/main" id="{93C1946A-2458-4E6F-B98F-D415B16FDAFC}"/>
              </a:ext>
            </a:extLst>
          </p:cNvPr>
          <p:cNvSpPr>
            <a:spLocks noChangeArrowheads="1"/>
          </p:cNvSpPr>
          <p:nvPr/>
        </p:nvSpPr>
        <p:spPr bwMode="auto">
          <a:xfrm>
            <a:off x="1939636" y="2403285"/>
            <a:ext cx="5317769"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000" dirty="0">
              <a:solidFill>
                <a:srgbClr val="FFFFFF"/>
              </a:solidFill>
              <a:latin typeface="微软雅黑" panose="020B0503020204020204" pitchFamily="34" charset="-122"/>
              <a:ea typeface="微软雅黑" panose="020B0503020204020204" pitchFamily="34" charset="-122"/>
            </a:endParaRPr>
          </a:p>
        </p:txBody>
      </p:sp>
      <p:sp>
        <p:nvSpPr>
          <p:cNvPr id="7" name="AutoShape 6">
            <a:extLst>
              <a:ext uri="{FF2B5EF4-FFF2-40B4-BE49-F238E27FC236}">
                <a16:creationId xmlns:a16="http://schemas.microsoft.com/office/drawing/2014/main" id="{7EDB070E-6A2C-461B-A55D-7608EEE4524A}"/>
              </a:ext>
            </a:extLst>
          </p:cNvPr>
          <p:cNvSpPr>
            <a:spLocks noChangeArrowheads="1"/>
          </p:cNvSpPr>
          <p:nvPr/>
        </p:nvSpPr>
        <p:spPr bwMode="auto">
          <a:xfrm>
            <a:off x="2036608" y="2662047"/>
            <a:ext cx="1549756"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2000" b="1" dirty="0">
                <a:latin typeface="微软雅黑" panose="020B0503020204020204" pitchFamily="34" charset="-122"/>
                <a:ea typeface="微软雅黑" panose="020B0503020204020204" pitchFamily="34" charset="-122"/>
              </a:rPr>
              <a:t>规划成本</a:t>
            </a:r>
            <a:endParaRPr lang="en-US" altLang="zh-CN" sz="2000" b="1" dirty="0">
              <a:latin typeface="微软雅黑" panose="020B0503020204020204" pitchFamily="34" charset="-122"/>
              <a:ea typeface="微软雅黑" panose="020B0503020204020204" pitchFamily="34" charset="-122"/>
            </a:endParaRPr>
          </a:p>
          <a:p>
            <a:pPr algn="ctr" fontAlgn="base">
              <a:spcBef>
                <a:spcPct val="0"/>
              </a:spcBef>
              <a:spcAft>
                <a:spcPct val="0"/>
              </a:spcAft>
              <a:buSzPct val="95000"/>
              <a:buFont typeface="Wingdings" panose="05000000000000000000" pitchFamily="2" charset="2"/>
              <a:buNone/>
            </a:pPr>
            <a:r>
              <a:rPr lang="zh-CN" altLang="en-US" sz="2000" b="1" dirty="0">
                <a:latin typeface="微软雅黑" panose="020B0503020204020204" pitchFamily="34" charset="-122"/>
                <a:ea typeface="微软雅黑" panose="020B0503020204020204" pitchFamily="34" charset="-122"/>
              </a:rPr>
              <a:t>管理</a:t>
            </a:r>
          </a:p>
        </p:txBody>
      </p:sp>
      <p:sp>
        <p:nvSpPr>
          <p:cNvPr id="8" name="AutoShape 7">
            <a:extLst>
              <a:ext uri="{FF2B5EF4-FFF2-40B4-BE49-F238E27FC236}">
                <a16:creationId xmlns:a16="http://schemas.microsoft.com/office/drawing/2014/main" id="{A8EEBDE1-4E85-43E7-A085-4E632740A7FF}"/>
              </a:ext>
            </a:extLst>
          </p:cNvPr>
          <p:cNvSpPr>
            <a:spLocks noChangeArrowheads="1"/>
          </p:cNvSpPr>
          <p:nvPr/>
        </p:nvSpPr>
        <p:spPr bwMode="auto">
          <a:xfrm>
            <a:off x="4089344" y="2662047"/>
            <a:ext cx="1328111"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2000" b="1">
                <a:solidFill>
                  <a:srgbClr val="000066"/>
                </a:solidFill>
                <a:latin typeface="微软雅黑" panose="020B0503020204020204" pitchFamily="34" charset="-122"/>
                <a:ea typeface="微软雅黑" panose="020B0503020204020204" pitchFamily="34" charset="-122"/>
              </a:rPr>
              <a:t>估算成本</a:t>
            </a:r>
            <a:endParaRPr lang="zh-CN" altLang="en-US" sz="2000" b="1" dirty="0">
              <a:solidFill>
                <a:srgbClr val="000066"/>
              </a:solidFill>
              <a:latin typeface="微软雅黑" panose="020B0503020204020204" pitchFamily="34" charset="-122"/>
              <a:ea typeface="微软雅黑" panose="020B0503020204020204" pitchFamily="34" charset="-122"/>
            </a:endParaRPr>
          </a:p>
        </p:txBody>
      </p:sp>
      <p:sp>
        <p:nvSpPr>
          <p:cNvPr id="9" name="AutoShape 8">
            <a:extLst>
              <a:ext uri="{FF2B5EF4-FFF2-40B4-BE49-F238E27FC236}">
                <a16:creationId xmlns:a16="http://schemas.microsoft.com/office/drawing/2014/main" id="{F746D3BD-043E-48C5-95B9-EB0D05D6B715}"/>
              </a:ext>
            </a:extLst>
          </p:cNvPr>
          <p:cNvSpPr>
            <a:spLocks noChangeArrowheads="1"/>
          </p:cNvSpPr>
          <p:nvPr/>
        </p:nvSpPr>
        <p:spPr bwMode="auto">
          <a:xfrm>
            <a:off x="5920435" y="2662047"/>
            <a:ext cx="118457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2000" b="1" dirty="0">
                <a:solidFill>
                  <a:srgbClr val="000066"/>
                </a:solidFill>
                <a:latin typeface="微软雅黑" panose="020B0503020204020204" pitchFamily="34" charset="-122"/>
                <a:ea typeface="微软雅黑" panose="020B0503020204020204" pitchFamily="34" charset="-122"/>
              </a:rPr>
              <a:t>制定预算</a:t>
            </a:r>
          </a:p>
        </p:txBody>
      </p:sp>
      <p:sp>
        <p:nvSpPr>
          <p:cNvPr id="10" name="AutoShape 10">
            <a:extLst>
              <a:ext uri="{FF2B5EF4-FFF2-40B4-BE49-F238E27FC236}">
                <a16:creationId xmlns:a16="http://schemas.microsoft.com/office/drawing/2014/main" id="{3BA99D33-BE1E-4FDE-AE97-F37D29D35276}"/>
              </a:ext>
            </a:extLst>
          </p:cNvPr>
          <p:cNvSpPr>
            <a:spLocks noChangeArrowheads="1"/>
          </p:cNvSpPr>
          <p:nvPr/>
        </p:nvSpPr>
        <p:spPr bwMode="auto">
          <a:xfrm>
            <a:off x="8010874" y="2612041"/>
            <a:ext cx="1329443"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2000" b="1" dirty="0">
                <a:solidFill>
                  <a:srgbClr val="000066"/>
                </a:solidFill>
                <a:latin typeface="微软雅黑" panose="020B0503020204020204" pitchFamily="34" charset="-122"/>
                <a:ea typeface="微软雅黑" panose="020B0503020204020204" pitchFamily="34" charset="-122"/>
              </a:rPr>
              <a:t>控制成本</a:t>
            </a:r>
          </a:p>
        </p:txBody>
      </p:sp>
      <p:sp>
        <p:nvSpPr>
          <p:cNvPr id="11" name="AutoShape 11">
            <a:extLst>
              <a:ext uri="{FF2B5EF4-FFF2-40B4-BE49-F238E27FC236}">
                <a16:creationId xmlns:a16="http://schemas.microsoft.com/office/drawing/2014/main" id="{D0566668-1D1C-45C6-B410-0865AD99FB80}"/>
              </a:ext>
            </a:extLst>
          </p:cNvPr>
          <p:cNvSpPr>
            <a:spLocks noChangeArrowheads="1"/>
          </p:cNvSpPr>
          <p:nvPr/>
        </p:nvSpPr>
        <p:spPr bwMode="auto">
          <a:xfrm>
            <a:off x="3661209" y="2920810"/>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000">
              <a:solidFill>
                <a:srgbClr val="FFFFFF"/>
              </a:solidFill>
              <a:latin typeface="微软雅黑" panose="020B0503020204020204" pitchFamily="34" charset="-122"/>
              <a:ea typeface="微软雅黑" panose="020B0503020204020204" pitchFamily="34" charset="-122"/>
            </a:endParaRPr>
          </a:p>
        </p:txBody>
      </p:sp>
      <p:sp>
        <p:nvSpPr>
          <p:cNvPr id="12" name="AutoShape 12">
            <a:extLst>
              <a:ext uri="{FF2B5EF4-FFF2-40B4-BE49-F238E27FC236}">
                <a16:creationId xmlns:a16="http://schemas.microsoft.com/office/drawing/2014/main" id="{10F5A93C-F5DA-46DA-BC34-749D3BAB465A}"/>
              </a:ext>
            </a:extLst>
          </p:cNvPr>
          <p:cNvSpPr>
            <a:spLocks noChangeArrowheads="1"/>
          </p:cNvSpPr>
          <p:nvPr/>
        </p:nvSpPr>
        <p:spPr bwMode="auto">
          <a:xfrm>
            <a:off x="5515582" y="2920810"/>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000">
              <a:solidFill>
                <a:srgbClr val="FFFFFF"/>
              </a:solidFill>
              <a:latin typeface="微软雅黑" panose="020B0503020204020204" pitchFamily="34" charset="-122"/>
              <a:ea typeface="微软雅黑" panose="020B0503020204020204" pitchFamily="34" charset="-122"/>
            </a:endParaRPr>
          </a:p>
        </p:txBody>
      </p:sp>
      <p:grpSp>
        <p:nvGrpSpPr>
          <p:cNvPr id="13" name="Group 15">
            <a:extLst>
              <a:ext uri="{FF2B5EF4-FFF2-40B4-BE49-F238E27FC236}">
                <a16:creationId xmlns:a16="http://schemas.microsoft.com/office/drawing/2014/main" id="{0C26FB75-56D0-40A7-9794-DCC5F42DF5B2}"/>
              </a:ext>
            </a:extLst>
          </p:cNvPr>
          <p:cNvGrpSpPr>
            <a:grpSpLocks/>
          </p:cNvGrpSpPr>
          <p:nvPr/>
        </p:nvGrpSpPr>
        <p:grpSpPr bwMode="auto">
          <a:xfrm>
            <a:off x="1848458" y="3470083"/>
            <a:ext cx="1854200" cy="2237422"/>
            <a:chOff x="-550" y="3120"/>
            <a:chExt cx="2044" cy="972"/>
          </a:xfrm>
        </p:grpSpPr>
        <p:sp>
          <p:nvSpPr>
            <p:cNvPr id="14" name="Rectangle 16">
              <a:extLst>
                <a:ext uri="{FF2B5EF4-FFF2-40B4-BE49-F238E27FC236}">
                  <a16:creationId xmlns:a16="http://schemas.microsoft.com/office/drawing/2014/main" id="{FDF92645-3114-49EC-B442-A91B7BF0517B}"/>
                </a:ext>
              </a:extLst>
            </p:cNvPr>
            <p:cNvSpPr>
              <a:spLocks noChangeArrowheads="1"/>
            </p:cNvSpPr>
            <p:nvPr/>
          </p:nvSpPr>
          <p:spPr bwMode="auto">
            <a:xfrm>
              <a:off x="-550" y="3372"/>
              <a:ext cx="2044" cy="720"/>
            </a:xfrm>
            <a:prstGeom prst="rect">
              <a:avLst/>
            </a:prstGeom>
            <a:solidFill>
              <a:schemeClr val="accent2">
                <a:lumMod val="20000"/>
                <a:lumOff val="80000"/>
              </a:schemeClr>
            </a:solidFill>
            <a:ln w="9525">
              <a:solidFill>
                <a:schemeClr val="accent2">
                  <a:lumMod val="40000"/>
                  <a:lumOff val="60000"/>
                </a:schemeClr>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r>
                <a:rPr kumimoji="1" lang="zh-CN" altLang="en-US" sz="2000" b="1" i="0" u="none" strike="noStrike" kern="0" cap="none" spc="0" normalizeH="0" baseline="0" noProof="0" dirty="0">
                  <a:ln>
                    <a:noFill/>
                  </a:ln>
                  <a:solidFill>
                    <a:schemeClr val="tx2">
                      <a:lumMod val="50000"/>
                    </a:schemeClr>
                  </a:solidFill>
                  <a:effectLst/>
                  <a:uLnTx/>
                  <a:uFillTx/>
                  <a:latin typeface="微软雅黑" panose="020B0503020204020204" pitchFamily="34" charset="-122"/>
                  <a:ea typeface="微软雅黑" panose="020B0503020204020204" pitchFamily="34" charset="-122"/>
                </a:rPr>
                <a:t>输出：</a:t>
              </a:r>
            </a:p>
            <a:p>
              <a:pPr lvl="0" fontAlgn="base">
                <a:spcAft>
                  <a:spcPct val="0"/>
                </a:spcAft>
                <a:buClr>
                  <a:srgbClr val="FFFFFF"/>
                </a:buClr>
                <a:buSzPct val="75000"/>
                <a:buNone/>
              </a:pPr>
              <a:r>
                <a:rPr lang="zh-CN" altLang="en-US" sz="2000" b="1" kern="0" dirty="0">
                  <a:solidFill>
                    <a:schemeClr val="tx2">
                      <a:lumMod val="50000"/>
                    </a:schemeClr>
                  </a:solidFill>
                  <a:latin typeface="微软雅黑" panose="020B0503020204020204" pitchFamily="34" charset="-122"/>
                  <a:ea typeface="微软雅黑" panose="020B0503020204020204" pitchFamily="34" charset="-122"/>
                </a:rPr>
                <a:t>成本管理计划</a:t>
              </a:r>
              <a:endParaRPr kumimoji="1" lang="ja-JP" altLang="en-US" sz="2000" b="0" i="0" u="none" strike="noStrike" kern="0" cap="none" spc="0" normalizeH="0" baseline="0" noProof="0" dirty="0">
                <a:ln>
                  <a:noFill/>
                </a:ln>
                <a:solidFill>
                  <a:schemeClr val="tx2">
                    <a:lumMod val="50000"/>
                  </a:schemeClr>
                </a:solidFill>
                <a:effectLst/>
                <a:uLnTx/>
                <a:uFillTx/>
                <a:latin typeface="微软雅黑" panose="020B0503020204020204" pitchFamily="34" charset="-122"/>
                <a:ea typeface="微软雅黑" panose="020B0503020204020204" pitchFamily="34" charset="-122"/>
              </a:endParaRPr>
            </a:p>
          </p:txBody>
        </p:sp>
        <p:sp>
          <p:nvSpPr>
            <p:cNvPr id="15" name="AutoShape 17">
              <a:extLst>
                <a:ext uri="{FF2B5EF4-FFF2-40B4-BE49-F238E27FC236}">
                  <a16:creationId xmlns:a16="http://schemas.microsoft.com/office/drawing/2014/main" id="{5BAA728E-5F55-411F-8980-52339D4281E5}"/>
                </a:ext>
              </a:extLst>
            </p:cNvPr>
            <p:cNvSpPr>
              <a:spLocks noChangeArrowheads="1"/>
            </p:cNvSpPr>
            <p:nvPr/>
          </p:nvSpPr>
          <p:spPr bwMode="auto">
            <a:xfrm>
              <a:off x="799"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000" b="0" i="0" u="none" strike="noStrike" kern="0" cap="none" spc="0" normalizeH="0" baseline="0" noProof="0">
                <a:ln>
                  <a:noFill/>
                </a:ln>
                <a:solidFill>
                  <a:schemeClr val="tx2">
                    <a:lumMod val="50000"/>
                  </a:schemeClr>
                </a:solidFill>
                <a:effectLst/>
                <a:uLnTx/>
                <a:uFillTx/>
                <a:latin typeface="微软雅黑" panose="020B0503020204020204" pitchFamily="34" charset="-122"/>
                <a:ea typeface="微软雅黑" panose="020B0503020204020204" pitchFamily="34" charset="-122"/>
              </a:endParaRPr>
            </a:p>
          </p:txBody>
        </p:sp>
      </p:grpSp>
      <p:grpSp>
        <p:nvGrpSpPr>
          <p:cNvPr id="16" name="Group 18">
            <a:extLst>
              <a:ext uri="{FF2B5EF4-FFF2-40B4-BE49-F238E27FC236}">
                <a16:creationId xmlns:a16="http://schemas.microsoft.com/office/drawing/2014/main" id="{E96AE932-37C9-45EF-86E1-A1EACC9205B4}"/>
              </a:ext>
            </a:extLst>
          </p:cNvPr>
          <p:cNvGrpSpPr>
            <a:grpSpLocks/>
          </p:cNvGrpSpPr>
          <p:nvPr/>
        </p:nvGrpSpPr>
        <p:grpSpPr bwMode="auto">
          <a:xfrm>
            <a:off x="3913413" y="3470085"/>
            <a:ext cx="1854313" cy="2209800"/>
            <a:chOff x="245" y="3120"/>
            <a:chExt cx="1817" cy="960"/>
          </a:xfrm>
        </p:grpSpPr>
        <p:sp>
          <p:nvSpPr>
            <p:cNvPr id="17" name="Rectangle 19">
              <a:extLst>
                <a:ext uri="{FF2B5EF4-FFF2-40B4-BE49-F238E27FC236}">
                  <a16:creationId xmlns:a16="http://schemas.microsoft.com/office/drawing/2014/main" id="{9DF41E44-CB07-4E41-BFA8-A1BBB88020B7}"/>
                </a:ext>
              </a:extLst>
            </p:cNvPr>
            <p:cNvSpPr>
              <a:spLocks noChangeArrowheads="1"/>
            </p:cNvSpPr>
            <p:nvPr/>
          </p:nvSpPr>
          <p:spPr bwMode="auto">
            <a:xfrm>
              <a:off x="245" y="3360"/>
              <a:ext cx="1817" cy="720"/>
            </a:xfrm>
            <a:prstGeom prst="rect">
              <a:avLst/>
            </a:prstGeom>
            <a:solidFill>
              <a:schemeClr val="accent5">
                <a:lumMod val="20000"/>
                <a:lumOff val="80000"/>
              </a:schemeClr>
            </a:solidFill>
            <a:ln w="9525">
              <a:solidFill>
                <a:schemeClr val="accent2">
                  <a:lumMod val="20000"/>
                  <a:lumOff val="80000"/>
                </a:schemeClr>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r>
                <a:rPr kumimoji="1" lang="zh-CN" altLang="en-US" sz="2000" b="1" i="0" u="none" strike="noStrike" kern="0" cap="none" spc="0" normalizeH="0" baseline="0" noProof="0" dirty="0">
                  <a:ln>
                    <a:noFill/>
                  </a:ln>
                  <a:solidFill>
                    <a:schemeClr val="tx2">
                      <a:lumMod val="50000"/>
                    </a:schemeClr>
                  </a:solidFill>
                  <a:effectLst/>
                  <a:uLnTx/>
                  <a:uFillTx/>
                  <a:latin typeface="微软雅黑" panose="020B0503020204020204" pitchFamily="34" charset="-122"/>
                  <a:ea typeface="微软雅黑" panose="020B0503020204020204" pitchFamily="34" charset="-122"/>
                </a:rPr>
                <a:t>输出：</a:t>
              </a:r>
            </a:p>
            <a:p>
              <a:pPr lvl="0" fontAlgn="base">
                <a:spcAft>
                  <a:spcPct val="0"/>
                </a:spcAft>
                <a:buClr>
                  <a:srgbClr val="FFFFFF"/>
                </a:buClr>
                <a:buSzPct val="75000"/>
                <a:buNone/>
              </a:pPr>
              <a:r>
                <a:rPr lang="zh-CN" altLang="en-US" sz="2000" b="1" kern="0" dirty="0">
                  <a:solidFill>
                    <a:schemeClr val="tx2">
                      <a:lumMod val="50000"/>
                    </a:schemeClr>
                  </a:solidFill>
                  <a:latin typeface="微软雅黑" panose="020B0503020204020204" pitchFamily="34" charset="-122"/>
                  <a:ea typeface="微软雅黑" panose="020B0503020204020204" pitchFamily="34" charset="-122"/>
                </a:rPr>
                <a:t>成本估算</a:t>
              </a:r>
              <a:endParaRPr lang="en-US" altLang="zh-CN" sz="2000" b="1" kern="0" dirty="0">
                <a:solidFill>
                  <a:schemeClr val="tx2">
                    <a:lumMod val="50000"/>
                  </a:schemeClr>
                </a:solidFill>
                <a:latin typeface="微软雅黑" panose="020B0503020204020204" pitchFamily="34" charset="-122"/>
                <a:ea typeface="微软雅黑" panose="020B0503020204020204" pitchFamily="34" charset="-122"/>
              </a:endParaRPr>
            </a:p>
            <a:p>
              <a:pPr lvl="0" fontAlgn="base">
                <a:spcAft>
                  <a:spcPct val="0"/>
                </a:spcAft>
                <a:buClr>
                  <a:srgbClr val="FFFFFF"/>
                </a:buClr>
                <a:buSzPct val="75000"/>
                <a:buNone/>
              </a:pPr>
              <a:r>
                <a:rPr lang="zh-CN" altLang="en-US" sz="2000" b="1" kern="0" dirty="0">
                  <a:solidFill>
                    <a:schemeClr val="tx2">
                      <a:lumMod val="50000"/>
                    </a:schemeClr>
                  </a:solidFill>
                  <a:latin typeface="微软雅黑" panose="020B0503020204020204" pitchFamily="34" charset="-122"/>
                  <a:ea typeface="微软雅黑" panose="020B0503020204020204" pitchFamily="34" charset="-122"/>
                </a:rPr>
                <a:t>估算依据</a:t>
              </a:r>
              <a:endParaRPr lang="en-US" altLang="zh-CN" sz="2000" b="1" kern="0" dirty="0">
                <a:solidFill>
                  <a:schemeClr val="tx2">
                    <a:lumMod val="50000"/>
                  </a:schemeClr>
                </a:solidFill>
                <a:latin typeface="微软雅黑" panose="020B0503020204020204" pitchFamily="34" charset="-122"/>
                <a:ea typeface="微软雅黑" panose="020B0503020204020204" pitchFamily="34" charset="-122"/>
              </a:endParaRPr>
            </a:p>
            <a:p>
              <a:pPr lvl="0" fontAlgn="base">
                <a:spcAft>
                  <a:spcPct val="0"/>
                </a:spcAft>
                <a:buClr>
                  <a:srgbClr val="FFFFFF"/>
                </a:buClr>
                <a:buSzPct val="75000"/>
                <a:buNone/>
              </a:pPr>
              <a:r>
                <a:rPr lang="zh-CN" altLang="en-US" sz="2000" b="1" kern="0" dirty="0">
                  <a:solidFill>
                    <a:schemeClr val="tx2">
                      <a:lumMod val="50000"/>
                    </a:schemeClr>
                  </a:solidFill>
                  <a:latin typeface="微软雅黑" panose="020B0503020204020204" pitchFamily="34" charset="-122"/>
                  <a:ea typeface="微软雅黑" panose="020B0503020204020204" pitchFamily="34" charset="-122"/>
                </a:rPr>
                <a:t>项目文件更新</a:t>
              </a:r>
            </a:p>
          </p:txBody>
        </p:sp>
        <p:sp>
          <p:nvSpPr>
            <p:cNvPr id="18" name="AutoShape 20">
              <a:extLst>
                <a:ext uri="{FF2B5EF4-FFF2-40B4-BE49-F238E27FC236}">
                  <a16:creationId xmlns:a16="http://schemas.microsoft.com/office/drawing/2014/main" id="{B0E2DF7B-D82B-4D9F-A2D3-E1C76FBFE4A8}"/>
                </a:ext>
              </a:extLst>
            </p:cNvPr>
            <p:cNvSpPr>
              <a:spLocks noChangeArrowheads="1"/>
            </p:cNvSpPr>
            <p:nvPr/>
          </p:nvSpPr>
          <p:spPr bwMode="auto">
            <a:xfrm>
              <a:off x="1178"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000" b="0" i="0" u="none" strike="noStrike" kern="0" cap="none" spc="0" normalizeH="0" baseline="0" noProof="0">
                <a:ln>
                  <a:noFill/>
                </a:ln>
                <a:solidFill>
                  <a:schemeClr val="tx2">
                    <a:lumMod val="50000"/>
                  </a:schemeClr>
                </a:solidFill>
                <a:effectLst/>
                <a:uLnTx/>
                <a:uFillTx/>
                <a:latin typeface="微软雅黑" panose="020B0503020204020204" pitchFamily="34" charset="-122"/>
                <a:ea typeface="微软雅黑" panose="020B0503020204020204" pitchFamily="34" charset="-122"/>
              </a:endParaRPr>
            </a:p>
          </p:txBody>
        </p:sp>
      </p:grpSp>
      <p:grpSp>
        <p:nvGrpSpPr>
          <p:cNvPr id="19" name="Group 21">
            <a:extLst>
              <a:ext uri="{FF2B5EF4-FFF2-40B4-BE49-F238E27FC236}">
                <a16:creationId xmlns:a16="http://schemas.microsoft.com/office/drawing/2014/main" id="{E8E99430-D903-469A-83E0-036E184BE400}"/>
              </a:ext>
            </a:extLst>
          </p:cNvPr>
          <p:cNvGrpSpPr>
            <a:grpSpLocks/>
          </p:cNvGrpSpPr>
          <p:nvPr/>
        </p:nvGrpSpPr>
        <p:grpSpPr bwMode="auto">
          <a:xfrm>
            <a:off x="5858591" y="3470085"/>
            <a:ext cx="1869621" cy="2209800"/>
            <a:chOff x="618" y="3120"/>
            <a:chExt cx="2061" cy="960"/>
          </a:xfrm>
        </p:grpSpPr>
        <p:sp>
          <p:nvSpPr>
            <p:cNvPr id="20" name="Rectangle 22">
              <a:extLst>
                <a:ext uri="{FF2B5EF4-FFF2-40B4-BE49-F238E27FC236}">
                  <a16:creationId xmlns:a16="http://schemas.microsoft.com/office/drawing/2014/main" id="{F4902743-7563-4FD3-A7F8-C3CDBBDCBCFD}"/>
                </a:ext>
              </a:extLst>
            </p:cNvPr>
            <p:cNvSpPr>
              <a:spLocks noChangeArrowheads="1"/>
            </p:cNvSpPr>
            <p:nvPr/>
          </p:nvSpPr>
          <p:spPr bwMode="auto">
            <a:xfrm>
              <a:off x="618" y="3360"/>
              <a:ext cx="2061" cy="720"/>
            </a:xfrm>
            <a:prstGeom prst="rect">
              <a:avLst/>
            </a:prstGeom>
            <a:solidFill>
              <a:schemeClr val="accent3">
                <a:lumMod val="20000"/>
                <a:lumOff val="80000"/>
              </a:schemeClr>
            </a:solidFill>
            <a:ln w="9525">
              <a:solidFill>
                <a:srgbClr val="FFFFFF"/>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r>
                <a:rPr kumimoji="1" lang="zh-CN" altLang="en-US" sz="2000" b="1" i="0" u="none" strike="noStrike" kern="0" cap="none" spc="0" normalizeH="0" baseline="0" noProof="0" dirty="0">
                  <a:ln>
                    <a:noFill/>
                  </a:ln>
                  <a:solidFill>
                    <a:schemeClr val="tx2">
                      <a:lumMod val="50000"/>
                    </a:schemeClr>
                  </a:solidFill>
                  <a:effectLst/>
                  <a:uLnTx/>
                  <a:uFillTx/>
                  <a:latin typeface="微软雅黑" panose="020B0503020204020204" pitchFamily="34" charset="-122"/>
                  <a:ea typeface="微软雅黑" panose="020B0503020204020204" pitchFamily="34" charset="-122"/>
                </a:rPr>
                <a:t>输出：</a:t>
              </a:r>
            </a:p>
            <a:p>
              <a:pPr lvl="0" fontAlgn="base">
                <a:spcAft>
                  <a:spcPct val="0"/>
                </a:spcAft>
                <a:buClr>
                  <a:srgbClr val="FFFFFF"/>
                </a:buClr>
                <a:buSzPct val="75000"/>
                <a:buNone/>
              </a:pPr>
              <a:r>
                <a:rPr lang="zh-CN" altLang="en-US" sz="2000" b="1" kern="0" dirty="0">
                  <a:solidFill>
                    <a:schemeClr val="tx2">
                      <a:lumMod val="50000"/>
                    </a:schemeClr>
                  </a:solidFill>
                  <a:latin typeface="微软雅黑" panose="020B0503020204020204" pitchFamily="34" charset="-122"/>
                  <a:ea typeface="微软雅黑" panose="020B0503020204020204" pitchFamily="34" charset="-122"/>
                </a:rPr>
                <a:t>成本基准</a:t>
              </a:r>
              <a:endParaRPr lang="en-US" altLang="zh-CN" sz="2000" b="1" kern="0" dirty="0">
                <a:solidFill>
                  <a:schemeClr val="tx2">
                    <a:lumMod val="50000"/>
                  </a:schemeClr>
                </a:solidFill>
                <a:latin typeface="微软雅黑" panose="020B0503020204020204" pitchFamily="34" charset="-122"/>
                <a:ea typeface="微软雅黑" panose="020B0503020204020204" pitchFamily="34" charset="-122"/>
              </a:endParaRPr>
            </a:p>
            <a:p>
              <a:pPr lvl="0" fontAlgn="base">
                <a:spcAft>
                  <a:spcPct val="0"/>
                </a:spcAft>
                <a:buClr>
                  <a:srgbClr val="FFFFFF"/>
                </a:buClr>
                <a:buSzPct val="75000"/>
                <a:buNone/>
              </a:pPr>
              <a:r>
                <a:rPr lang="zh-CN" altLang="en-US" sz="2000" b="1" kern="0" dirty="0">
                  <a:solidFill>
                    <a:schemeClr val="tx2">
                      <a:lumMod val="50000"/>
                    </a:schemeClr>
                  </a:solidFill>
                  <a:latin typeface="微软雅黑" panose="020B0503020204020204" pitchFamily="34" charset="-122"/>
                  <a:ea typeface="微软雅黑" panose="020B0503020204020204" pitchFamily="34" charset="-122"/>
                </a:rPr>
                <a:t>项目资金需求</a:t>
              </a:r>
              <a:endParaRPr lang="en-US" altLang="zh-CN" sz="2000" b="1" kern="0" dirty="0">
                <a:solidFill>
                  <a:schemeClr val="tx2">
                    <a:lumMod val="50000"/>
                  </a:schemeClr>
                </a:solidFill>
                <a:latin typeface="微软雅黑" panose="020B0503020204020204" pitchFamily="34" charset="-122"/>
                <a:ea typeface="微软雅黑" panose="020B0503020204020204" pitchFamily="34" charset="-122"/>
              </a:endParaRPr>
            </a:p>
            <a:p>
              <a:pPr lvl="0" fontAlgn="base">
                <a:spcAft>
                  <a:spcPct val="0"/>
                </a:spcAft>
                <a:buClr>
                  <a:srgbClr val="FFFFFF"/>
                </a:buClr>
                <a:buSzPct val="75000"/>
                <a:buNone/>
              </a:pPr>
              <a:r>
                <a:rPr lang="zh-CN" altLang="en-US" sz="2000" b="1" kern="0" dirty="0">
                  <a:solidFill>
                    <a:schemeClr val="tx2">
                      <a:lumMod val="50000"/>
                    </a:schemeClr>
                  </a:solidFill>
                  <a:latin typeface="微软雅黑" panose="020B0503020204020204" pitchFamily="34" charset="-122"/>
                  <a:ea typeface="微软雅黑" panose="020B0503020204020204" pitchFamily="34" charset="-122"/>
                </a:rPr>
                <a:t>项目文件更新</a:t>
              </a:r>
            </a:p>
            <a:p>
              <a:pPr lvl="0" fontAlgn="base">
                <a:spcAft>
                  <a:spcPct val="0"/>
                </a:spcAft>
                <a:buClr>
                  <a:srgbClr val="FFFFFF"/>
                </a:buClr>
                <a:buSzPct val="75000"/>
                <a:buNone/>
              </a:pPr>
              <a:endParaRPr lang="en-US" altLang="zh-CN" sz="2000" b="1" kern="0" dirty="0">
                <a:solidFill>
                  <a:schemeClr val="tx2">
                    <a:lumMod val="50000"/>
                  </a:schemeClr>
                </a:solidFill>
                <a:latin typeface="微软雅黑" panose="020B0503020204020204" pitchFamily="34" charset="-122"/>
                <a:ea typeface="微软雅黑" panose="020B0503020204020204" pitchFamily="34" charset="-122"/>
              </a:endParaRPr>
            </a:p>
          </p:txBody>
        </p:sp>
        <p:sp>
          <p:nvSpPr>
            <p:cNvPr id="21" name="AutoShape 23">
              <a:extLst>
                <a:ext uri="{FF2B5EF4-FFF2-40B4-BE49-F238E27FC236}">
                  <a16:creationId xmlns:a16="http://schemas.microsoft.com/office/drawing/2014/main" id="{C9781DFC-3F9B-46EA-9570-9723137035B0}"/>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000" b="0" i="0" u="none" strike="noStrike" kern="0" cap="none" spc="0" normalizeH="0" baseline="0" noProof="0">
                <a:ln>
                  <a:noFill/>
                </a:ln>
                <a:solidFill>
                  <a:schemeClr val="tx2">
                    <a:lumMod val="50000"/>
                  </a:schemeClr>
                </a:solidFill>
                <a:effectLst/>
                <a:uLnTx/>
                <a:uFillTx/>
                <a:latin typeface="微软雅黑" panose="020B0503020204020204" pitchFamily="34" charset="-122"/>
                <a:ea typeface="微软雅黑" panose="020B0503020204020204" pitchFamily="34" charset="-122"/>
              </a:endParaRPr>
            </a:p>
          </p:txBody>
        </p:sp>
      </p:grpSp>
      <p:sp>
        <p:nvSpPr>
          <p:cNvPr id="22" name="AutoShape 14">
            <a:extLst>
              <a:ext uri="{FF2B5EF4-FFF2-40B4-BE49-F238E27FC236}">
                <a16:creationId xmlns:a16="http://schemas.microsoft.com/office/drawing/2014/main" id="{4BCB1697-259A-46C6-A447-E76CE4323B17}"/>
              </a:ext>
            </a:extLst>
          </p:cNvPr>
          <p:cNvSpPr>
            <a:spLocks noChangeArrowheads="1"/>
          </p:cNvSpPr>
          <p:nvPr/>
        </p:nvSpPr>
        <p:spPr bwMode="auto">
          <a:xfrm>
            <a:off x="7346775" y="2920809"/>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000">
              <a:solidFill>
                <a:srgbClr val="FFFFFF"/>
              </a:solidFill>
              <a:latin typeface="微软雅黑" panose="020B0503020204020204" pitchFamily="34" charset="-122"/>
              <a:ea typeface="微软雅黑" panose="020B0503020204020204" pitchFamily="34" charset="-122"/>
            </a:endParaRPr>
          </a:p>
        </p:txBody>
      </p:sp>
      <p:sp>
        <p:nvSpPr>
          <p:cNvPr id="23" name="Rectangle 28">
            <a:extLst>
              <a:ext uri="{FF2B5EF4-FFF2-40B4-BE49-F238E27FC236}">
                <a16:creationId xmlns:a16="http://schemas.microsoft.com/office/drawing/2014/main" id="{08CF0827-8176-46CC-AF3B-36F94D93B9CE}"/>
              </a:ext>
            </a:extLst>
          </p:cNvPr>
          <p:cNvSpPr>
            <a:spLocks noChangeArrowheads="1"/>
          </p:cNvSpPr>
          <p:nvPr/>
        </p:nvSpPr>
        <p:spPr bwMode="auto">
          <a:xfrm>
            <a:off x="7923398" y="4007454"/>
            <a:ext cx="2135001" cy="1936146"/>
          </a:xfrm>
          <a:prstGeom prst="rect">
            <a:avLst/>
          </a:prstGeom>
          <a:solidFill>
            <a:schemeClr val="bg2">
              <a:lumMod val="90000"/>
            </a:schemeClr>
          </a:solidFill>
          <a:ln w="9525">
            <a:solidFill>
              <a:srgbClr val="FFFFFF"/>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r>
              <a:rPr kumimoji="1" lang="zh-CN" altLang="en-US" sz="2000" b="1" i="0" u="none" strike="noStrike" kern="0" cap="none" spc="0" normalizeH="0" baseline="0" noProof="0" dirty="0">
                <a:ln>
                  <a:noFill/>
                </a:ln>
                <a:solidFill>
                  <a:schemeClr val="tx2">
                    <a:lumMod val="50000"/>
                  </a:schemeClr>
                </a:solidFill>
                <a:effectLst/>
                <a:uLnTx/>
                <a:uFillTx/>
                <a:latin typeface="微软雅黑" panose="020B0503020204020204" pitchFamily="34" charset="-122"/>
                <a:ea typeface="微软雅黑" panose="020B0503020204020204" pitchFamily="34" charset="-122"/>
              </a:rPr>
              <a:t>输出：</a:t>
            </a:r>
          </a:p>
          <a:p>
            <a:pPr lvl="0" fontAlgn="base">
              <a:spcAft>
                <a:spcPct val="0"/>
              </a:spcAft>
              <a:buClr>
                <a:srgbClr val="FFFFFF"/>
              </a:buClr>
              <a:buSzPct val="75000"/>
              <a:buNone/>
            </a:pPr>
            <a:r>
              <a:rPr lang="zh-CN" altLang="en-US" sz="2000" b="1" kern="0" dirty="0">
                <a:solidFill>
                  <a:schemeClr val="tx2">
                    <a:lumMod val="50000"/>
                  </a:schemeClr>
                </a:solidFill>
                <a:latin typeface="微软雅黑" panose="020B0503020204020204" pitchFamily="34" charset="-122"/>
                <a:ea typeface="微软雅黑" panose="020B0503020204020204" pitchFamily="34" charset="-122"/>
              </a:rPr>
              <a:t>工作绩效信息</a:t>
            </a:r>
            <a:endParaRPr lang="en-US" altLang="zh-CN" sz="2000" b="1" kern="0" dirty="0">
              <a:solidFill>
                <a:schemeClr val="tx2">
                  <a:lumMod val="50000"/>
                </a:schemeClr>
              </a:solidFill>
              <a:latin typeface="微软雅黑" panose="020B0503020204020204" pitchFamily="34" charset="-122"/>
              <a:ea typeface="微软雅黑" panose="020B0503020204020204" pitchFamily="34" charset="-122"/>
            </a:endParaRPr>
          </a:p>
          <a:p>
            <a:pPr lvl="0" fontAlgn="base">
              <a:spcAft>
                <a:spcPct val="0"/>
              </a:spcAft>
              <a:buClr>
                <a:srgbClr val="FFFFFF"/>
              </a:buClr>
              <a:buSzPct val="75000"/>
              <a:buNone/>
            </a:pPr>
            <a:r>
              <a:rPr lang="zh-CN" altLang="en-US" sz="2000" b="1" kern="0" dirty="0">
                <a:solidFill>
                  <a:schemeClr val="tx2">
                    <a:lumMod val="50000"/>
                  </a:schemeClr>
                </a:solidFill>
                <a:latin typeface="微软雅黑" panose="020B0503020204020204" pitchFamily="34" charset="-122"/>
                <a:ea typeface="微软雅黑" panose="020B0503020204020204" pitchFamily="34" charset="-122"/>
              </a:rPr>
              <a:t>成本预测</a:t>
            </a:r>
            <a:endParaRPr lang="en-US" altLang="zh-CN" sz="2000" b="1" kern="0" dirty="0">
              <a:solidFill>
                <a:schemeClr val="tx2">
                  <a:lumMod val="50000"/>
                </a:schemeClr>
              </a:solidFill>
              <a:latin typeface="微软雅黑" panose="020B0503020204020204" pitchFamily="34" charset="-122"/>
              <a:ea typeface="微软雅黑" panose="020B0503020204020204" pitchFamily="34" charset="-122"/>
            </a:endParaRPr>
          </a:p>
          <a:p>
            <a:pPr lvl="0" fontAlgn="base">
              <a:spcAft>
                <a:spcPct val="0"/>
              </a:spcAft>
              <a:buClr>
                <a:srgbClr val="FFFFFF"/>
              </a:buClr>
              <a:buSzPct val="75000"/>
              <a:buNone/>
            </a:pPr>
            <a:r>
              <a:rPr lang="zh-CN" altLang="en-US" sz="2000" b="1" kern="0" dirty="0">
                <a:solidFill>
                  <a:schemeClr val="tx2">
                    <a:lumMod val="50000"/>
                  </a:schemeClr>
                </a:solidFill>
                <a:latin typeface="微软雅黑" panose="020B0503020204020204" pitchFamily="34" charset="-122"/>
                <a:ea typeface="微软雅黑" panose="020B0503020204020204" pitchFamily="34" charset="-122"/>
              </a:rPr>
              <a:t>变更请求</a:t>
            </a:r>
            <a:endParaRPr lang="en-US" altLang="zh-CN" sz="2000" b="1" kern="0" dirty="0">
              <a:solidFill>
                <a:schemeClr val="tx2">
                  <a:lumMod val="50000"/>
                </a:schemeClr>
              </a:solidFill>
              <a:latin typeface="微软雅黑" panose="020B0503020204020204" pitchFamily="34" charset="-122"/>
              <a:ea typeface="微软雅黑" panose="020B0503020204020204" pitchFamily="34" charset="-122"/>
            </a:endParaRPr>
          </a:p>
          <a:p>
            <a:pPr lvl="0" fontAlgn="base">
              <a:spcAft>
                <a:spcPct val="0"/>
              </a:spcAft>
              <a:buClr>
                <a:srgbClr val="FFFFFF"/>
              </a:buClr>
              <a:buSzPct val="75000"/>
              <a:buNone/>
            </a:pPr>
            <a:r>
              <a:rPr lang="zh-CN" altLang="en-US" sz="2000" b="1" kern="0" dirty="0">
                <a:solidFill>
                  <a:schemeClr val="tx2">
                    <a:lumMod val="50000"/>
                  </a:schemeClr>
                </a:solidFill>
                <a:latin typeface="微软雅黑" panose="020B0503020204020204" pitchFamily="34" charset="-122"/>
                <a:ea typeface="微软雅黑" panose="020B0503020204020204" pitchFamily="34" charset="-122"/>
              </a:rPr>
              <a:t>项目文件更新</a:t>
            </a:r>
            <a:endParaRPr kumimoji="1" lang="ja-JP" altLang="en-US" sz="2000" b="0" i="0" u="none" strike="noStrike" kern="0" cap="none" spc="0" normalizeH="0" baseline="0" noProof="0" dirty="0">
              <a:ln>
                <a:noFill/>
              </a:ln>
              <a:solidFill>
                <a:schemeClr val="tx2">
                  <a:lumMod val="50000"/>
                </a:schemeClr>
              </a:solidFill>
              <a:effectLst/>
              <a:uLnTx/>
              <a:uFillTx/>
              <a:latin typeface="微软雅黑" panose="020B0503020204020204" pitchFamily="34" charset="-122"/>
              <a:ea typeface="微软雅黑" panose="020B0503020204020204" pitchFamily="34" charset="-122"/>
            </a:endParaRPr>
          </a:p>
        </p:txBody>
      </p:sp>
      <p:sp>
        <p:nvSpPr>
          <p:cNvPr id="24" name="AutoShape 29">
            <a:extLst>
              <a:ext uri="{FF2B5EF4-FFF2-40B4-BE49-F238E27FC236}">
                <a16:creationId xmlns:a16="http://schemas.microsoft.com/office/drawing/2014/main" id="{8ABAD6A5-1360-4826-80CF-194ED20C7BC4}"/>
              </a:ext>
            </a:extLst>
          </p:cNvPr>
          <p:cNvSpPr>
            <a:spLocks noChangeArrowheads="1"/>
          </p:cNvSpPr>
          <p:nvPr/>
        </p:nvSpPr>
        <p:spPr bwMode="auto">
          <a:xfrm>
            <a:off x="8524835" y="3455004"/>
            <a:ext cx="138793" cy="55245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000" b="0" i="0" u="none" strike="noStrike" kern="0" cap="none" spc="0" normalizeH="0" baseline="0" noProof="0">
              <a:ln>
                <a:noFill/>
              </a:ln>
              <a:solidFill>
                <a:schemeClr val="tx2">
                  <a:lumMod val="50000"/>
                </a:schemeClr>
              </a:solidFill>
              <a:effectLst/>
              <a:uLnTx/>
              <a:uFillTx/>
              <a:latin typeface="微软雅黑" panose="020B0503020204020204" pitchFamily="34" charset="-122"/>
              <a:ea typeface="微软雅黑" panose="020B0503020204020204" pitchFamily="34" charset="-122"/>
            </a:endParaRPr>
          </a:p>
        </p:txBody>
      </p:sp>
      <p:sp>
        <p:nvSpPr>
          <p:cNvPr id="25" name="矩形 24">
            <a:extLst>
              <a:ext uri="{FF2B5EF4-FFF2-40B4-BE49-F238E27FC236}">
                <a16:creationId xmlns:a16="http://schemas.microsoft.com/office/drawing/2014/main" id="{12BA633F-F38E-43A1-8F82-D14F7A5219C6}"/>
              </a:ext>
            </a:extLst>
          </p:cNvPr>
          <p:cNvSpPr/>
          <p:nvPr/>
        </p:nvSpPr>
        <p:spPr>
          <a:xfrm>
            <a:off x="3860978" y="1851760"/>
            <a:ext cx="1475084" cy="400110"/>
          </a:xfrm>
          <a:prstGeom prst="rect">
            <a:avLst/>
          </a:prstGeom>
        </p:spPr>
        <p:txBody>
          <a:bodyPr wrap="none">
            <a:spAutoFit/>
          </a:bodyPr>
          <a:lstStyle/>
          <a:p>
            <a:pPr algn="just"/>
            <a:r>
              <a:rPr lang="zh-CN" altLang="en-US" sz="2000" b="1" dirty="0">
                <a:solidFill>
                  <a:srgbClr val="FF0000"/>
                </a:solidFill>
                <a:latin typeface="微软雅黑" panose="020B0503020204020204" pitchFamily="34" charset="-122"/>
                <a:ea typeface="微软雅黑" panose="020B0503020204020204" pitchFamily="34" charset="-122"/>
              </a:rPr>
              <a:t>规划过程组</a:t>
            </a:r>
          </a:p>
        </p:txBody>
      </p:sp>
      <p:sp>
        <p:nvSpPr>
          <p:cNvPr id="26" name="矩形 25">
            <a:extLst>
              <a:ext uri="{FF2B5EF4-FFF2-40B4-BE49-F238E27FC236}">
                <a16:creationId xmlns:a16="http://schemas.microsoft.com/office/drawing/2014/main" id="{B7C29FFC-2B40-4A6B-99CF-B7D9FFB143CE}"/>
              </a:ext>
            </a:extLst>
          </p:cNvPr>
          <p:cNvSpPr/>
          <p:nvPr/>
        </p:nvSpPr>
        <p:spPr>
          <a:xfrm>
            <a:off x="6999505" y="1861005"/>
            <a:ext cx="2398413" cy="400110"/>
          </a:xfrm>
          <a:prstGeom prst="rect">
            <a:avLst/>
          </a:prstGeom>
        </p:spPr>
        <p:txBody>
          <a:bodyPr wrap="none">
            <a:spAutoFit/>
          </a:bodyPr>
          <a:lstStyle/>
          <a:p>
            <a:pPr lvl="2" algn="just"/>
            <a:r>
              <a:rPr lang="zh-CN" altLang="en-US" sz="2000" b="1" dirty="0">
                <a:solidFill>
                  <a:srgbClr val="FF0000"/>
                </a:solidFill>
                <a:latin typeface="微软雅黑" panose="020B0503020204020204" pitchFamily="34" charset="-122"/>
                <a:ea typeface="微软雅黑" panose="020B0503020204020204" pitchFamily="34" charset="-122"/>
              </a:rPr>
              <a:t>监控过程组</a:t>
            </a:r>
          </a:p>
        </p:txBody>
      </p:sp>
    </p:spTree>
    <p:extLst>
      <p:ext uri="{BB962C8B-B14F-4D97-AF65-F5344CB8AC3E}">
        <p14:creationId xmlns:p14="http://schemas.microsoft.com/office/powerpoint/2010/main" val="2826773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strips(down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up)">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up)">
                                      <p:cBhvr>
                                        <p:cTn id="1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标题 1">
            <a:extLst>
              <a:ext uri="{FF2B5EF4-FFF2-40B4-BE49-F238E27FC236}">
                <a16:creationId xmlns:a16="http://schemas.microsoft.com/office/drawing/2014/main" id="{E41D4BA4-C53F-43AF-AC79-69768DB80CAE}"/>
              </a:ext>
            </a:extLst>
          </p:cNvPr>
          <p:cNvSpPr>
            <a:spLocks noGrp="1"/>
          </p:cNvSpPr>
          <p:nvPr>
            <p:ph type="title"/>
          </p:nvPr>
        </p:nvSpPr>
        <p:spPr/>
        <p:txBody>
          <a:bodyPr/>
          <a:lstStyle/>
          <a:p>
            <a:r>
              <a:rPr lang="zh-CN" altLang="en-US" dirty="0"/>
              <a:t>常用成本管理框架</a:t>
            </a:r>
          </a:p>
        </p:txBody>
      </p:sp>
      <p:sp>
        <p:nvSpPr>
          <p:cNvPr id="33" name="Freeform 2">
            <a:extLst>
              <a:ext uri="{FF2B5EF4-FFF2-40B4-BE49-F238E27FC236}">
                <a16:creationId xmlns:a16="http://schemas.microsoft.com/office/drawing/2014/main" id="{15F3F59F-910D-463C-9195-1D2CD7BDBA61}"/>
              </a:ext>
            </a:extLst>
          </p:cNvPr>
          <p:cNvSpPr>
            <a:spLocks/>
          </p:cNvSpPr>
          <p:nvPr/>
        </p:nvSpPr>
        <p:spPr bwMode="auto">
          <a:xfrm>
            <a:off x="7423150" y="1749426"/>
            <a:ext cx="2755900" cy="3808413"/>
          </a:xfrm>
          <a:custGeom>
            <a:avLst/>
            <a:gdLst/>
            <a:ahLst/>
            <a:cxnLst>
              <a:cxn ang="0">
                <a:pos x="0" y="2158"/>
              </a:cxn>
              <a:cxn ang="0">
                <a:pos x="0" y="412"/>
              </a:cxn>
              <a:cxn ang="0">
                <a:pos x="1662" y="0"/>
              </a:cxn>
              <a:cxn ang="0">
                <a:pos x="1662" y="2573"/>
              </a:cxn>
              <a:cxn ang="0">
                <a:pos x="0" y="2158"/>
              </a:cxn>
              <a:cxn ang="0">
                <a:pos x="0" y="2158"/>
              </a:cxn>
            </a:cxnLst>
            <a:rect l="0" t="0" r="r" b="b"/>
            <a:pathLst>
              <a:path w="1663" h="2574">
                <a:moveTo>
                  <a:pt x="0" y="2158"/>
                </a:moveTo>
                <a:lnTo>
                  <a:pt x="0" y="412"/>
                </a:lnTo>
                <a:lnTo>
                  <a:pt x="1662" y="0"/>
                </a:lnTo>
                <a:lnTo>
                  <a:pt x="1662" y="2573"/>
                </a:lnTo>
                <a:lnTo>
                  <a:pt x="0" y="2158"/>
                </a:lnTo>
                <a:lnTo>
                  <a:pt x="0" y="2158"/>
                </a:lnTo>
              </a:path>
            </a:pathLst>
          </a:custGeom>
          <a:solidFill>
            <a:srgbClr val="333399"/>
          </a:solidFill>
          <a:ln w="18669" cap="flat" cmpd="sng">
            <a:solidFill>
              <a:srgbClr val="FFFFFF"/>
            </a:solidFill>
            <a:prstDash val="solid"/>
            <a:round/>
            <a:headEnd type="none" w="med" len="med"/>
            <a:tailEnd type="none" w="med" len="med"/>
          </a:ln>
          <a:effectLst/>
        </p:spPr>
        <p:txBody>
          <a:bodyPr/>
          <a:lstStyle/>
          <a:p>
            <a:pPr>
              <a:defRPr/>
            </a:pPr>
            <a:endParaRPr lang="zh-CN" altLang="en-US" sz="1400" kern="0">
              <a:solidFill>
                <a:sysClr val="windowText" lastClr="000000"/>
              </a:solidFill>
              <a:latin typeface="+mj-ea"/>
              <a:ea typeface="+mj-ea"/>
            </a:endParaRPr>
          </a:p>
        </p:txBody>
      </p:sp>
      <p:sp>
        <p:nvSpPr>
          <p:cNvPr id="34" name="Freeform 3">
            <a:extLst>
              <a:ext uri="{FF2B5EF4-FFF2-40B4-BE49-F238E27FC236}">
                <a16:creationId xmlns:a16="http://schemas.microsoft.com/office/drawing/2014/main" id="{DCB30930-86EA-4EC4-B94F-EE5601EADEBA}"/>
              </a:ext>
            </a:extLst>
          </p:cNvPr>
          <p:cNvSpPr>
            <a:spLocks/>
          </p:cNvSpPr>
          <p:nvPr/>
        </p:nvSpPr>
        <p:spPr bwMode="auto">
          <a:xfrm>
            <a:off x="4681539" y="2357438"/>
            <a:ext cx="2727325" cy="2571750"/>
          </a:xfrm>
          <a:custGeom>
            <a:avLst/>
            <a:gdLst/>
            <a:ahLst/>
            <a:cxnLst>
              <a:cxn ang="0">
                <a:pos x="0" y="1339"/>
              </a:cxn>
              <a:cxn ang="0">
                <a:pos x="0" y="412"/>
              </a:cxn>
              <a:cxn ang="0">
                <a:pos x="1678" y="0"/>
              </a:cxn>
              <a:cxn ang="0">
                <a:pos x="1678" y="1749"/>
              </a:cxn>
              <a:cxn ang="0">
                <a:pos x="0" y="1339"/>
              </a:cxn>
              <a:cxn ang="0">
                <a:pos x="0" y="1339"/>
              </a:cxn>
            </a:cxnLst>
            <a:rect l="0" t="0" r="r" b="b"/>
            <a:pathLst>
              <a:path w="1679" h="1750">
                <a:moveTo>
                  <a:pt x="0" y="1339"/>
                </a:moveTo>
                <a:lnTo>
                  <a:pt x="0" y="412"/>
                </a:lnTo>
                <a:lnTo>
                  <a:pt x="1678" y="0"/>
                </a:lnTo>
                <a:lnTo>
                  <a:pt x="1678" y="1749"/>
                </a:lnTo>
                <a:lnTo>
                  <a:pt x="0" y="1339"/>
                </a:lnTo>
                <a:lnTo>
                  <a:pt x="0" y="1339"/>
                </a:lnTo>
              </a:path>
            </a:pathLst>
          </a:custGeom>
          <a:solidFill>
            <a:srgbClr val="99CC00"/>
          </a:solidFill>
          <a:ln w="18669" cap="flat" cmpd="sng">
            <a:solidFill>
              <a:srgbClr val="FFFFFF"/>
            </a:solidFill>
            <a:prstDash val="solid"/>
            <a:round/>
            <a:headEnd type="none" w="med" len="med"/>
            <a:tailEnd type="none" w="med" len="med"/>
          </a:ln>
          <a:effectLst/>
        </p:spPr>
        <p:txBody>
          <a:bodyPr/>
          <a:lstStyle/>
          <a:p>
            <a:pPr>
              <a:defRPr/>
            </a:pPr>
            <a:endParaRPr lang="zh-CN" altLang="en-US" sz="1200" kern="0">
              <a:solidFill>
                <a:sysClr val="windowText" lastClr="000000"/>
              </a:solidFill>
              <a:latin typeface="+mj-ea"/>
              <a:ea typeface="+mj-ea"/>
            </a:endParaRPr>
          </a:p>
        </p:txBody>
      </p:sp>
      <p:sp>
        <p:nvSpPr>
          <p:cNvPr id="35" name="Freeform 4">
            <a:extLst>
              <a:ext uri="{FF2B5EF4-FFF2-40B4-BE49-F238E27FC236}">
                <a16:creationId xmlns:a16="http://schemas.microsoft.com/office/drawing/2014/main" id="{CA7D905A-279A-4C79-B132-1EB2223FF7BB}"/>
              </a:ext>
            </a:extLst>
          </p:cNvPr>
          <p:cNvSpPr>
            <a:spLocks/>
          </p:cNvSpPr>
          <p:nvPr/>
        </p:nvSpPr>
        <p:spPr bwMode="auto">
          <a:xfrm>
            <a:off x="1952625" y="2962276"/>
            <a:ext cx="2719388" cy="1355725"/>
          </a:xfrm>
          <a:custGeom>
            <a:avLst/>
            <a:gdLst/>
            <a:ahLst/>
            <a:cxnLst>
              <a:cxn ang="0">
                <a:pos x="1880" y="927"/>
              </a:cxn>
              <a:cxn ang="0">
                <a:pos x="0" y="462"/>
              </a:cxn>
              <a:cxn ang="0">
                <a:pos x="1883" y="0"/>
              </a:cxn>
              <a:cxn ang="0">
                <a:pos x="1880" y="927"/>
              </a:cxn>
              <a:cxn ang="0">
                <a:pos x="1880" y="927"/>
              </a:cxn>
            </a:cxnLst>
            <a:rect l="0" t="0" r="r" b="b"/>
            <a:pathLst>
              <a:path w="1884" h="928">
                <a:moveTo>
                  <a:pt x="1880" y="927"/>
                </a:moveTo>
                <a:lnTo>
                  <a:pt x="0" y="462"/>
                </a:lnTo>
                <a:lnTo>
                  <a:pt x="1883" y="0"/>
                </a:lnTo>
                <a:lnTo>
                  <a:pt x="1880" y="927"/>
                </a:lnTo>
                <a:lnTo>
                  <a:pt x="1880" y="927"/>
                </a:lnTo>
              </a:path>
            </a:pathLst>
          </a:custGeom>
          <a:solidFill>
            <a:srgbClr val="000000"/>
          </a:solidFill>
          <a:ln w="18669" cap="flat" cmpd="sng">
            <a:noFill/>
            <a:prstDash val="solid"/>
            <a:round/>
            <a:headEnd type="none" w="med" len="med"/>
            <a:tailEnd type="none" w="med" len="med"/>
          </a:ln>
          <a:effectLst/>
        </p:spPr>
        <p:txBody>
          <a:bodyPr/>
          <a:lstStyle/>
          <a:p>
            <a:pPr>
              <a:defRPr/>
            </a:pPr>
            <a:endParaRPr lang="zh-CN" altLang="en-US" sz="1400" kern="0">
              <a:solidFill>
                <a:sysClr val="windowText" lastClr="000000"/>
              </a:solidFill>
              <a:latin typeface="+mj-ea"/>
              <a:ea typeface="+mj-ea"/>
            </a:endParaRPr>
          </a:p>
        </p:txBody>
      </p:sp>
      <p:sp>
        <p:nvSpPr>
          <p:cNvPr id="37" name="Oval 6">
            <a:extLst>
              <a:ext uri="{FF2B5EF4-FFF2-40B4-BE49-F238E27FC236}">
                <a16:creationId xmlns:a16="http://schemas.microsoft.com/office/drawing/2014/main" id="{ED6D537A-E6F2-452B-B5BB-CECF75A3F699}"/>
              </a:ext>
            </a:extLst>
          </p:cNvPr>
          <p:cNvSpPr>
            <a:spLocks noChangeArrowheads="1"/>
          </p:cNvSpPr>
          <p:nvPr/>
        </p:nvSpPr>
        <p:spPr bwMode="auto">
          <a:xfrm>
            <a:off x="5646738" y="3627439"/>
            <a:ext cx="1376362" cy="669925"/>
          </a:xfrm>
          <a:prstGeom prst="ellipse">
            <a:avLst/>
          </a:prstGeom>
          <a:solidFill>
            <a:srgbClr val="C0C0C0"/>
          </a:solidFill>
          <a:ln w="18669">
            <a:solidFill>
              <a:srgbClr val="FFFFFF"/>
            </a:solidFill>
            <a:round/>
            <a:headEnd/>
            <a:tailEnd/>
          </a:ln>
          <a:effectLst/>
        </p:spPr>
        <p:txBody>
          <a:bodyPr wrap="none" anchor="ctr"/>
          <a:lstStyle/>
          <a:p>
            <a:pPr>
              <a:defRPr/>
            </a:pPr>
            <a:endParaRPr lang="zh-CN" altLang="en-US" sz="1200" kern="0">
              <a:solidFill>
                <a:sysClr val="windowText" lastClr="000000"/>
              </a:solidFill>
              <a:latin typeface="+mj-ea"/>
              <a:ea typeface="+mj-ea"/>
            </a:endParaRPr>
          </a:p>
        </p:txBody>
      </p:sp>
      <p:sp>
        <p:nvSpPr>
          <p:cNvPr id="38" name="Text Box 7">
            <a:extLst>
              <a:ext uri="{FF2B5EF4-FFF2-40B4-BE49-F238E27FC236}">
                <a16:creationId xmlns:a16="http://schemas.microsoft.com/office/drawing/2014/main" id="{EF39BA62-C3EF-4E1B-BD49-2CA892913585}"/>
              </a:ext>
            </a:extLst>
          </p:cNvPr>
          <p:cNvSpPr txBox="1">
            <a:spLocks noChangeArrowheads="1"/>
          </p:cNvSpPr>
          <p:nvPr/>
        </p:nvSpPr>
        <p:spPr bwMode="auto">
          <a:xfrm>
            <a:off x="2487614" y="4464050"/>
            <a:ext cx="1101725" cy="236538"/>
          </a:xfrm>
          <a:prstGeom prst="rect">
            <a:avLst/>
          </a:prstGeom>
          <a:noFill/>
          <a:ln w="9525">
            <a:noFill/>
            <a:miter lim="800000"/>
            <a:headEnd/>
            <a:tailEnd/>
          </a:ln>
          <a:effectLst/>
        </p:spPr>
        <p:txBody>
          <a:bodyPr lIns="0" tIns="0" rIns="0" bIns="0" anchor="ctr"/>
          <a:lstStyle/>
          <a:p>
            <a:pPr defTabSz="401638">
              <a:buClr>
                <a:srgbClr val="0080FF"/>
              </a:buClr>
              <a:buSzPct val="90000"/>
              <a:defRPr/>
            </a:pPr>
            <a:r>
              <a:rPr lang="zh-CN" altLang="en-US" sz="2000" dirty="0">
                <a:latin typeface="微软雅黑" panose="020B0503020204020204" pitchFamily="34" charset="-122"/>
                <a:ea typeface="微软雅黑" panose="020B0503020204020204" pitchFamily="34" charset="-122"/>
              </a:rPr>
              <a:t>战略性</a:t>
            </a:r>
            <a:endParaRPr lang="zh-CN" altLang="en-GB" sz="2000" dirty="0">
              <a:latin typeface="微软雅黑" panose="020B0503020204020204" pitchFamily="34" charset="-122"/>
              <a:ea typeface="微软雅黑" panose="020B0503020204020204" pitchFamily="34" charset="-122"/>
            </a:endParaRPr>
          </a:p>
        </p:txBody>
      </p:sp>
      <p:sp>
        <p:nvSpPr>
          <p:cNvPr id="39" name="Line 8">
            <a:extLst>
              <a:ext uri="{FF2B5EF4-FFF2-40B4-BE49-F238E27FC236}">
                <a16:creationId xmlns:a16="http://schemas.microsoft.com/office/drawing/2014/main" id="{F5087D9D-9AE3-4778-BDD9-364D7D3651C4}"/>
              </a:ext>
            </a:extLst>
          </p:cNvPr>
          <p:cNvSpPr>
            <a:spLocks noChangeShapeType="1"/>
          </p:cNvSpPr>
          <p:nvPr/>
        </p:nvSpPr>
        <p:spPr bwMode="auto">
          <a:xfrm flipV="1">
            <a:off x="1547813" y="1571625"/>
            <a:ext cx="8723312" cy="1957388"/>
          </a:xfrm>
          <a:prstGeom prst="line">
            <a:avLst/>
          </a:prstGeom>
          <a:noFill/>
          <a:ln w="18649">
            <a:solidFill>
              <a:srgbClr val="FFFFFF"/>
            </a:solidFill>
            <a:round/>
            <a:headEnd type="triangle" w="med" len="med"/>
            <a:tailEnd type="triangle" w="med" len="med"/>
          </a:ln>
          <a:effectLst/>
        </p:spPr>
        <p:txBody>
          <a:bodyPr/>
          <a:lstStyle/>
          <a:p>
            <a:pPr>
              <a:defRPr/>
            </a:pPr>
            <a:endParaRPr lang="zh-CN" altLang="en-US" sz="1400" kern="0">
              <a:solidFill>
                <a:sysClr val="windowText" lastClr="000000"/>
              </a:solidFill>
              <a:latin typeface="+mj-ea"/>
              <a:ea typeface="+mj-ea"/>
            </a:endParaRPr>
          </a:p>
        </p:txBody>
      </p:sp>
      <p:sp>
        <p:nvSpPr>
          <p:cNvPr id="40" name="Line 9">
            <a:extLst>
              <a:ext uri="{FF2B5EF4-FFF2-40B4-BE49-F238E27FC236}">
                <a16:creationId xmlns:a16="http://schemas.microsoft.com/office/drawing/2014/main" id="{4D517669-50A8-4336-972E-6459C74480B4}"/>
              </a:ext>
            </a:extLst>
          </p:cNvPr>
          <p:cNvSpPr>
            <a:spLocks noChangeShapeType="1"/>
          </p:cNvSpPr>
          <p:nvPr/>
        </p:nvSpPr>
        <p:spPr bwMode="auto">
          <a:xfrm flipV="1">
            <a:off x="4676775" y="2946400"/>
            <a:ext cx="0" cy="1397000"/>
          </a:xfrm>
          <a:prstGeom prst="line">
            <a:avLst/>
          </a:prstGeom>
          <a:noFill/>
          <a:ln w="18649">
            <a:solidFill>
              <a:srgbClr val="FFFFFF"/>
            </a:solidFill>
            <a:round/>
            <a:headEnd/>
            <a:tailEnd/>
          </a:ln>
          <a:effectLst/>
        </p:spPr>
        <p:txBody>
          <a:bodyPr/>
          <a:lstStyle/>
          <a:p>
            <a:pPr>
              <a:defRPr/>
            </a:pPr>
            <a:endParaRPr lang="zh-CN" altLang="en-US" sz="1200" kern="0">
              <a:solidFill>
                <a:sysClr val="windowText" lastClr="000000"/>
              </a:solidFill>
              <a:latin typeface="+mj-ea"/>
              <a:ea typeface="+mj-ea"/>
            </a:endParaRPr>
          </a:p>
        </p:txBody>
      </p:sp>
      <p:sp>
        <p:nvSpPr>
          <p:cNvPr id="41" name="Oval 10">
            <a:extLst>
              <a:ext uri="{FF2B5EF4-FFF2-40B4-BE49-F238E27FC236}">
                <a16:creationId xmlns:a16="http://schemas.microsoft.com/office/drawing/2014/main" id="{E9515FA4-CB12-4401-91C4-BC7E6C23B817}"/>
              </a:ext>
            </a:extLst>
          </p:cNvPr>
          <p:cNvSpPr>
            <a:spLocks noChangeArrowheads="1"/>
          </p:cNvSpPr>
          <p:nvPr/>
        </p:nvSpPr>
        <p:spPr bwMode="auto">
          <a:xfrm>
            <a:off x="6837363" y="4235450"/>
            <a:ext cx="1312862" cy="577850"/>
          </a:xfrm>
          <a:prstGeom prst="ellipse">
            <a:avLst/>
          </a:prstGeom>
          <a:solidFill>
            <a:srgbClr val="C0C0C0"/>
          </a:solidFill>
          <a:ln w="18669">
            <a:solidFill>
              <a:srgbClr val="FFFFFF"/>
            </a:solidFill>
            <a:round/>
            <a:headEnd/>
            <a:tailEnd/>
          </a:ln>
          <a:effectLst/>
        </p:spPr>
        <p:txBody>
          <a:bodyPr wrap="none" anchor="ctr"/>
          <a:lstStyle/>
          <a:p>
            <a:pPr>
              <a:defRPr/>
            </a:pPr>
            <a:endParaRPr lang="zh-CN" altLang="en-US" sz="1200" kern="0">
              <a:solidFill>
                <a:sysClr val="windowText" lastClr="000000"/>
              </a:solidFill>
              <a:latin typeface="+mj-ea"/>
              <a:ea typeface="+mj-ea"/>
            </a:endParaRPr>
          </a:p>
        </p:txBody>
      </p:sp>
      <p:sp>
        <p:nvSpPr>
          <p:cNvPr id="42" name="Text Box 11">
            <a:extLst>
              <a:ext uri="{FF2B5EF4-FFF2-40B4-BE49-F238E27FC236}">
                <a16:creationId xmlns:a16="http://schemas.microsoft.com/office/drawing/2014/main" id="{0C46DF0E-D740-493B-B788-3D2CE5A94D0E}"/>
              </a:ext>
            </a:extLst>
          </p:cNvPr>
          <p:cNvSpPr txBox="1">
            <a:spLocks noChangeArrowheads="1"/>
          </p:cNvSpPr>
          <p:nvPr/>
        </p:nvSpPr>
        <p:spPr bwMode="auto">
          <a:xfrm>
            <a:off x="7004051" y="4249739"/>
            <a:ext cx="1020763" cy="573087"/>
          </a:xfrm>
          <a:prstGeom prst="rect">
            <a:avLst/>
          </a:prstGeom>
          <a:noFill/>
          <a:ln w="9525">
            <a:noFill/>
            <a:miter lim="800000"/>
            <a:headEnd/>
            <a:tailEnd/>
          </a:ln>
          <a:effectLst/>
        </p:spPr>
        <p:txBody>
          <a:bodyPr lIns="0" tIns="0" rIns="0" bIns="0" anchor="ctr"/>
          <a:lstStyle/>
          <a:p>
            <a:pPr algn="ctr" defTabSz="401638">
              <a:buClr>
                <a:srgbClr val="0080FF"/>
              </a:buClr>
              <a:buSzPct val="90000"/>
              <a:defRPr/>
            </a:pPr>
            <a:r>
              <a:rPr lang="zh-CN" altLang="en-GB" sz="1200">
                <a:latin typeface="+mj-ea"/>
                <a:ea typeface="+mj-ea"/>
              </a:rPr>
              <a:t>基于作业</a:t>
            </a:r>
            <a:endParaRPr lang="zh-CN" altLang="en-US" sz="1200">
              <a:latin typeface="+mj-ea"/>
              <a:ea typeface="+mj-ea"/>
            </a:endParaRPr>
          </a:p>
          <a:p>
            <a:pPr algn="ctr" defTabSz="401638">
              <a:buClr>
                <a:srgbClr val="0080FF"/>
              </a:buClr>
              <a:buSzPct val="90000"/>
              <a:defRPr/>
            </a:pPr>
            <a:r>
              <a:rPr lang="zh-CN" altLang="en-GB" sz="1200">
                <a:latin typeface="+mj-ea"/>
                <a:ea typeface="+mj-ea"/>
              </a:rPr>
              <a:t>的预算</a:t>
            </a:r>
          </a:p>
        </p:txBody>
      </p:sp>
      <p:sp>
        <p:nvSpPr>
          <p:cNvPr id="43" name="Oval 12">
            <a:extLst>
              <a:ext uri="{FF2B5EF4-FFF2-40B4-BE49-F238E27FC236}">
                <a16:creationId xmlns:a16="http://schemas.microsoft.com/office/drawing/2014/main" id="{13048C2A-FDC2-42F6-8BD0-47AEC784E8C9}"/>
              </a:ext>
            </a:extLst>
          </p:cNvPr>
          <p:cNvSpPr>
            <a:spLocks noChangeArrowheads="1"/>
          </p:cNvSpPr>
          <p:nvPr/>
        </p:nvSpPr>
        <p:spPr bwMode="auto">
          <a:xfrm>
            <a:off x="8547101" y="4111625"/>
            <a:ext cx="1311275" cy="573088"/>
          </a:xfrm>
          <a:prstGeom prst="ellipse">
            <a:avLst/>
          </a:prstGeom>
          <a:solidFill>
            <a:srgbClr val="C0C0C0"/>
          </a:solidFill>
          <a:ln w="18669">
            <a:solidFill>
              <a:srgbClr val="FFFFFF"/>
            </a:solidFill>
            <a:round/>
            <a:headEnd/>
            <a:tailEnd/>
          </a:ln>
          <a:effectLst/>
        </p:spPr>
        <p:txBody>
          <a:bodyPr wrap="none" anchor="ctr"/>
          <a:lstStyle/>
          <a:p>
            <a:pPr>
              <a:defRPr/>
            </a:pPr>
            <a:endParaRPr lang="zh-CN" altLang="en-US" sz="1200" kern="0">
              <a:solidFill>
                <a:sysClr val="windowText" lastClr="000000"/>
              </a:solidFill>
              <a:latin typeface="+mj-ea"/>
              <a:ea typeface="+mj-ea"/>
            </a:endParaRPr>
          </a:p>
        </p:txBody>
      </p:sp>
      <p:sp>
        <p:nvSpPr>
          <p:cNvPr id="44" name="Text Box 13">
            <a:extLst>
              <a:ext uri="{FF2B5EF4-FFF2-40B4-BE49-F238E27FC236}">
                <a16:creationId xmlns:a16="http://schemas.microsoft.com/office/drawing/2014/main" id="{5C07E00B-8968-4F05-9183-A01FFCA05268}"/>
              </a:ext>
            </a:extLst>
          </p:cNvPr>
          <p:cNvSpPr txBox="1">
            <a:spLocks noChangeArrowheads="1"/>
          </p:cNvSpPr>
          <p:nvPr/>
        </p:nvSpPr>
        <p:spPr bwMode="auto">
          <a:xfrm>
            <a:off x="8683626" y="4202113"/>
            <a:ext cx="1046163" cy="385762"/>
          </a:xfrm>
          <a:prstGeom prst="rect">
            <a:avLst/>
          </a:prstGeom>
          <a:noFill/>
          <a:ln w="9525">
            <a:noFill/>
            <a:miter lim="800000"/>
            <a:headEnd/>
            <a:tailEnd/>
          </a:ln>
          <a:effectLst/>
        </p:spPr>
        <p:txBody>
          <a:bodyPr lIns="0" tIns="0" rIns="0" bIns="0" anchor="ctr"/>
          <a:lstStyle/>
          <a:p>
            <a:pPr algn="ctr" defTabSz="401638">
              <a:buClr>
                <a:srgbClr val="0080FF"/>
              </a:buClr>
              <a:buSzPct val="90000"/>
              <a:defRPr/>
            </a:pPr>
            <a:r>
              <a:rPr lang="zh-CN" altLang="en-GB" sz="1200">
                <a:latin typeface="+mj-ea"/>
                <a:ea typeface="+mj-ea"/>
              </a:rPr>
              <a:t>持续改进</a:t>
            </a:r>
          </a:p>
        </p:txBody>
      </p:sp>
      <p:sp>
        <p:nvSpPr>
          <p:cNvPr id="45" name="Oval 14">
            <a:extLst>
              <a:ext uri="{FF2B5EF4-FFF2-40B4-BE49-F238E27FC236}">
                <a16:creationId xmlns:a16="http://schemas.microsoft.com/office/drawing/2014/main" id="{65CA3F7C-E243-4AAF-8E6B-82C41C4B0C2B}"/>
              </a:ext>
            </a:extLst>
          </p:cNvPr>
          <p:cNvSpPr>
            <a:spLocks noChangeArrowheads="1"/>
          </p:cNvSpPr>
          <p:nvPr/>
        </p:nvSpPr>
        <p:spPr bwMode="auto">
          <a:xfrm>
            <a:off x="8315326" y="2376488"/>
            <a:ext cx="1312863" cy="577850"/>
          </a:xfrm>
          <a:prstGeom prst="ellipse">
            <a:avLst/>
          </a:prstGeom>
          <a:solidFill>
            <a:srgbClr val="C0C0C0"/>
          </a:solidFill>
          <a:ln w="18669">
            <a:solidFill>
              <a:srgbClr val="FFFFFF"/>
            </a:solidFill>
            <a:round/>
            <a:headEnd/>
            <a:tailEnd/>
          </a:ln>
          <a:effectLst/>
        </p:spPr>
        <p:txBody>
          <a:bodyPr wrap="none" anchor="ctr"/>
          <a:lstStyle/>
          <a:p>
            <a:pPr>
              <a:defRPr/>
            </a:pPr>
            <a:endParaRPr lang="zh-CN" altLang="en-US" sz="1200" kern="0">
              <a:solidFill>
                <a:sysClr val="windowText" lastClr="000000"/>
              </a:solidFill>
              <a:latin typeface="+mj-ea"/>
              <a:ea typeface="+mj-ea"/>
            </a:endParaRPr>
          </a:p>
        </p:txBody>
      </p:sp>
      <p:sp>
        <p:nvSpPr>
          <p:cNvPr id="46" name="Text Box 15">
            <a:extLst>
              <a:ext uri="{FF2B5EF4-FFF2-40B4-BE49-F238E27FC236}">
                <a16:creationId xmlns:a16="http://schemas.microsoft.com/office/drawing/2014/main" id="{CD66991D-2AEE-4BDC-844F-84EE4A21D7F5}"/>
              </a:ext>
            </a:extLst>
          </p:cNvPr>
          <p:cNvSpPr txBox="1">
            <a:spLocks noChangeArrowheads="1"/>
          </p:cNvSpPr>
          <p:nvPr/>
        </p:nvSpPr>
        <p:spPr bwMode="auto">
          <a:xfrm>
            <a:off x="8453438" y="2489201"/>
            <a:ext cx="1130300" cy="384175"/>
          </a:xfrm>
          <a:prstGeom prst="rect">
            <a:avLst/>
          </a:prstGeom>
          <a:noFill/>
          <a:ln w="9525">
            <a:noFill/>
            <a:miter lim="800000"/>
            <a:headEnd/>
            <a:tailEnd/>
          </a:ln>
          <a:effectLst/>
        </p:spPr>
        <p:txBody>
          <a:bodyPr lIns="0" tIns="0" rIns="0" bIns="0" anchor="ctr"/>
          <a:lstStyle/>
          <a:p>
            <a:pPr algn="ctr" defTabSz="401638">
              <a:buClr>
                <a:srgbClr val="0080FF"/>
              </a:buClr>
              <a:buSzPct val="90000"/>
              <a:defRPr/>
            </a:pPr>
            <a:r>
              <a:rPr lang="zh-CN" altLang="en-GB" sz="1200">
                <a:latin typeface="+mj-ea"/>
                <a:ea typeface="+mj-ea"/>
              </a:rPr>
              <a:t>业绩评估</a:t>
            </a:r>
          </a:p>
        </p:txBody>
      </p:sp>
      <p:sp>
        <p:nvSpPr>
          <p:cNvPr id="47" name="Oval 16">
            <a:extLst>
              <a:ext uri="{FF2B5EF4-FFF2-40B4-BE49-F238E27FC236}">
                <a16:creationId xmlns:a16="http://schemas.microsoft.com/office/drawing/2014/main" id="{E284D09C-C5DB-4E0F-813D-83B74F990496}"/>
              </a:ext>
            </a:extLst>
          </p:cNvPr>
          <p:cNvSpPr>
            <a:spLocks noChangeArrowheads="1"/>
          </p:cNvSpPr>
          <p:nvPr/>
        </p:nvSpPr>
        <p:spPr bwMode="auto">
          <a:xfrm>
            <a:off x="4195763" y="3803650"/>
            <a:ext cx="1047750" cy="444500"/>
          </a:xfrm>
          <a:prstGeom prst="ellipse">
            <a:avLst/>
          </a:prstGeom>
          <a:solidFill>
            <a:srgbClr val="C0C0C0"/>
          </a:solidFill>
          <a:ln w="18669">
            <a:solidFill>
              <a:srgbClr val="FFFFFF"/>
            </a:solidFill>
            <a:round/>
            <a:headEnd/>
            <a:tailEnd/>
          </a:ln>
          <a:effectLst/>
        </p:spPr>
        <p:txBody>
          <a:bodyPr wrap="none" anchor="ctr"/>
          <a:lstStyle/>
          <a:p>
            <a:pPr>
              <a:defRPr/>
            </a:pPr>
            <a:endParaRPr lang="zh-CN" altLang="en-US" sz="1200" kern="0">
              <a:solidFill>
                <a:sysClr val="windowText" lastClr="000000"/>
              </a:solidFill>
              <a:latin typeface="+mj-ea"/>
              <a:ea typeface="+mj-ea"/>
            </a:endParaRPr>
          </a:p>
        </p:txBody>
      </p:sp>
      <p:sp>
        <p:nvSpPr>
          <p:cNvPr id="48" name="Text Box 17">
            <a:extLst>
              <a:ext uri="{FF2B5EF4-FFF2-40B4-BE49-F238E27FC236}">
                <a16:creationId xmlns:a16="http://schemas.microsoft.com/office/drawing/2014/main" id="{63021DE9-D892-4129-A1FD-3A08EC07A8BF}"/>
              </a:ext>
            </a:extLst>
          </p:cNvPr>
          <p:cNvSpPr txBox="1">
            <a:spLocks noChangeArrowheads="1"/>
          </p:cNvSpPr>
          <p:nvPr/>
        </p:nvSpPr>
        <p:spPr bwMode="auto">
          <a:xfrm>
            <a:off x="4217989" y="3841751"/>
            <a:ext cx="1017587" cy="385763"/>
          </a:xfrm>
          <a:prstGeom prst="rect">
            <a:avLst/>
          </a:prstGeom>
          <a:noFill/>
          <a:ln w="9525">
            <a:noFill/>
            <a:miter lim="800000"/>
            <a:headEnd/>
            <a:tailEnd/>
          </a:ln>
          <a:effectLst/>
        </p:spPr>
        <p:txBody>
          <a:bodyPr lIns="0" tIns="0" rIns="0" bIns="0" anchor="ctr"/>
          <a:lstStyle/>
          <a:p>
            <a:pPr algn="ctr" defTabSz="401638">
              <a:buClr>
                <a:srgbClr val="0080FF"/>
              </a:buClr>
              <a:buSzPct val="90000"/>
              <a:defRPr/>
            </a:pPr>
            <a:r>
              <a:rPr lang="zh-CN" altLang="en-GB" sz="1200">
                <a:latin typeface="+mj-ea"/>
                <a:ea typeface="+mj-ea"/>
              </a:rPr>
              <a:t>产品周期成本</a:t>
            </a:r>
          </a:p>
        </p:txBody>
      </p:sp>
      <p:sp>
        <p:nvSpPr>
          <p:cNvPr id="49" name="Oval 18">
            <a:extLst>
              <a:ext uri="{FF2B5EF4-FFF2-40B4-BE49-F238E27FC236}">
                <a16:creationId xmlns:a16="http://schemas.microsoft.com/office/drawing/2014/main" id="{2B347B32-213B-4478-A32D-D4AF5ACE79DC}"/>
              </a:ext>
            </a:extLst>
          </p:cNvPr>
          <p:cNvSpPr>
            <a:spLocks noChangeArrowheads="1"/>
          </p:cNvSpPr>
          <p:nvPr/>
        </p:nvSpPr>
        <p:spPr bwMode="auto">
          <a:xfrm>
            <a:off x="2709863" y="3349626"/>
            <a:ext cx="1046162" cy="587375"/>
          </a:xfrm>
          <a:prstGeom prst="ellipse">
            <a:avLst/>
          </a:prstGeom>
          <a:solidFill>
            <a:srgbClr val="C0C0C0"/>
          </a:solidFill>
          <a:ln w="18669">
            <a:solidFill>
              <a:srgbClr val="FFFFFF"/>
            </a:solidFill>
            <a:round/>
            <a:headEnd/>
            <a:tailEnd/>
          </a:ln>
          <a:effectLst/>
        </p:spPr>
        <p:txBody>
          <a:bodyPr wrap="none" anchor="ctr"/>
          <a:lstStyle/>
          <a:p>
            <a:pPr>
              <a:defRPr/>
            </a:pPr>
            <a:endParaRPr lang="zh-CN" altLang="en-US" sz="1200" kern="0">
              <a:solidFill>
                <a:sysClr val="windowText" lastClr="000000"/>
              </a:solidFill>
              <a:latin typeface="+mj-ea"/>
              <a:ea typeface="+mj-ea"/>
            </a:endParaRPr>
          </a:p>
        </p:txBody>
      </p:sp>
      <p:sp>
        <p:nvSpPr>
          <p:cNvPr id="50" name="Text Box 19">
            <a:extLst>
              <a:ext uri="{FF2B5EF4-FFF2-40B4-BE49-F238E27FC236}">
                <a16:creationId xmlns:a16="http://schemas.microsoft.com/office/drawing/2014/main" id="{E666BFC0-062E-42A6-9B43-9F71A46D367B}"/>
              </a:ext>
            </a:extLst>
          </p:cNvPr>
          <p:cNvSpPr txBox="1">
            <a:spLocks noChangeArrowheads="1"/>
          </p:cNvSpPr>
          <p:nvPr/>
        </p:nvSpPr>
        <p:spPr bwMode="auto">
          <a:xfrm>
            <a:off x="2697164" y="3454401"/>
            <a:ext cx="1177925" cy="385763"/>
          </a:xfrm>
          <a:prstGeom prst="rect">
            <a:avLst/>
          </a:prstGeom>
          <a:noFill/>
          <a:ln w="9525">
            <a:noFill/>
            <a:miter lim="800000"/>
            <a:headEnd/>
            <a:tailEnd/>
          </a:ln>
          <a:effectLst/>
        </p:spPr>
        <p:txBody>
          <a:bodyPr lIns="0" tIns="0" rIns="0" bIns="0" anchor="ctr"/>
          <a:lstStyle/>
          <a:p>
            <a:pPr algn="ctr" defTabSz="401638">
              <a:buClr>
                <a:srgbClr val="FFFF00"/>
              </a:buClr>
              <a:buSzPct val="90000"/>
              <a:defRPr/>
            </a:pPr>
            <a:r>
              <a:rPr lang="zh-CN" altLang="en-US" sz="1200" dirty="0">
                <a:latin typeface="+mj-ea"/>
                <a:ea typeface="+mj-ea"/>
              </a:rPr>
              <a:t>价值链分析</a:t>
            </a:r>
            <a:endParaRPr lang="zh-CN" altLang="en-GB" sz="1200" dirty="0">
              <a:latin typeface="+mj-ea"/>
              <a:ea typeface="+mj-ea"/>
            </a:endParaRPr>
          </a:p>
        </p:txBody>
      </p:sp>
      <p:sp>
        <p:nvSpPr>
          <p:cNvPr id="51" name="Oval 20">
            <a:extLst>
              <a:ext uri="{FF2B5EF4-FFF2-40B4-BE49-F238E27FC236}">
                <a16:creationId xmlns:a16="http://schemas.microsoft.com/office/drawing/2014/main" id="{BDE630BD-E18C-45E8-A841-8098FE3646D7}"/>
              </a:ext>
            </a:extLst>
          </p:cNvPr>
          <p:cNvSpPr>
            <a:spLocks noChangeArrowheads="1"/>
          </p:cNvSpPr>
          <p:nvPr/>
        </p:nvSpPr>
        <p:spPr bwMode="auto">
          <a:xfrm>
            <a:off x="5600700" y="3341689"/>
            <a:ext cx="1352550" cy="587375"/>
          </a:xfrm>
          <a:prstGeom prst="ellipse">
            <a:avLst/>
          </a:prstGeom>
          <a:solidFill>
            <a:srgbClr val="C0C0C0"/>
          </a:solidFill>
          <a:ln w="18669">
            <a:solidFill>
              <a:srgbClr val="FFFFFF"/>
            </a:solidFill>
            <a:round/>
            <a:headEnd/>
            <a:tailEnd/>
          </a:ln>
          <a:effectLst/>
        </p:spPr>
        <p:txBody>
          <a:bodyPr wrap="none" anchor="ctr"/>
          <a:lstStyle/>
          <a:p>
            <a:pPr>
              <a:defRPr/>
            </a:pPr>
            <a:endParaRPr lang="zh-CN" altLang="en-US" sz="1200" kern="0">
              <a:solidFill>
                <a:sysClr val="windowText" lastClr="000000"/>
              </a:solidFill>
              <a:latin typeface="+mj-ea"/>
              <a:ea typeface="+mj-ea"/>
            </a:endParaRPr>
          </a:p>
        </p:txBody>
      </p:sp>
      <p:sp>
        <p:nvSpPr>
          <p:cNvPr id="52" name="Text Box 21">
            <a:extLst>
              <a:ext uri="{FF2B5EF4-FFF2-40B4-BE49-F238E27FC236}">
                <a16:creationId xmlns:a16="http://schemas.microsoft.com/office/drawing/2014/main" id="{FB88A84D-97F9-4F77-A385-7CBD46177289}"/>
              </a:ext>
            </a:extLst>
          </p:cNvPr>
          <p:cNvSpPr txBox="1">
            <a:spLocks noChangeArrowheads="1"/>
          </p:cNvSpPr>
          <p:nvPr/>
        </p:nvSpPr>
        <p:spPr bwMode="auto">
          <a:xfrm>
            <a:off x="5791201" y="3478214"/>
            <a:ext cx="1006475" cy="384175"/>
          </a:xfrm>
          <a:prstGeom prst="rect">
            <a:avLst/>
          </a:prstGeom>
          <a:noFill/>
          <a:ln w="9525">
            <a:noFill/>
            <a:miter lim="800000"/>
            <a:headEnd/>
            <a:tailEnd/>
          </a:ln>
          <a:effectLst/>
        </p:spPr>
        <p:txBody>
          <a:bodyPr lIns="0" tIns="0" rIns="0" bIns="0" anchor="ctr"/>
          <a:lstStyle/>
          <a:p>
            <a:pPr algn="ctr" defTabSz="401638">
              <a:buClr>
                <a:srgbClr val="0080FF"/>
              </a:buClr>
              <a:buSzPct val="90000"/>
              <a:defRPr/>
            </a:pPr>
            <a:r>
              <a:rPr lang="zh-CN" altLang="en-GB" sz="1200">
                <a:latin typeface="+mj-ea"/>
                <a:ea typeface="+mj-ea"/>
              </a:rPr>
              <a:t>成本对象</a:t>
            </a:r>
          </a:p>
        </p:txBody>
      </p:sp>
      <p:sp>
        <p:nvSpPr>
          <p:cNvPr id="53" name="Oval 22">
            <a:extLst>
              <a:ext uri="{FF2B5EF4-FFF2-40B4-BE49-F238E27FC236}">
                <a16:creationId xmlns:a16="http://schemas.microsoft.com/office/drawing/2014/main" id="{DE79AD30-2807-457D-B554-4ADCC74FFB66}"/>
              </a:ext>
            </a:extLst>
          </p:cNvPr>
          <p:cNvSpPr>
            <a:spLocks noChangeArrowheads="1"/>
          </p:cNvSpPr>
          <p:nvPr/>
        </p:nvSpPr>
        <p:spPr bwMode="auto">
          <a:xfrm>
            <a:off x="6715125" y="2714626"/>
            <a:ext cx="1373188" cy="582613"/>
          </a:xfrm>
          <a:prstGeom prst="ellipse">
            <a:avLst/>
          </a:prstGeom>
          <a:solidFill>
            <a:srgbClr val="C0C0C0"/>
          </a:solidFill>
          <a:ln w="18669">
            <a:solidFill>
              <a:srgbClr val="FFFFFF"/>
            </a:solidFill>
            <a:round/>
            <a:headEnd/>
            <a:tailEnd/>
          </a:ln>
          <a:effectLst/>
        </p:spPr>
        <p:txBody>
          <a:bodyPr wrap="none" anchor="ctr"/>
          <a:lstStyle/>
          <a:p>
            <a:pPr>
              <a:defRPr/>
            </a:pPr>
            <a:endParaRPr lang="zh-CN" altLang="en-US" sz="1200" kern="0">
              <a:solidFill>
                <a:sysClr val="windowText" lastClr="000000"/>
              </a:solidFill>
              <a:latin typeface="+mj-ea"/>
              <a:ea typeface="+mj-ea"/>
            </a:endParaRPr>
          </a:p>
        </p:txBody>
      </p:sp>
      <p:sp>
        <p:nvSpPr>
          <p:cNvPr id="54" name="Text Box 23">
            <a:extLst>
              <a:ext uri="{FF2B5EF4-FFF2-40B4-BE49-F238E27FC236}">
                <a16:creationId xmlns:a16="http://schemas.microsoft.com/office/drawing/2014/main" id="{EBDC9CCF-28F4-4D5B-9D85-9FF78400BC4F}"/>
              </a:ext>
            </a:extLst>
          </p:cNvPr>
          <p:cNvSpPr txBox="1">
            <a:spLocks noChangeArrowheads="1"/>
          </p:cNvSpPr>
          <p:nvPr/>
        </p:nvSpPr>
        <p:spPr bwMode="auto">
          <a:xfrm>
            <a:off x="6981826" y="2817813"/>
            <a:ext cx="879475" cy="385762"/>
          </a:xfrm>
          <a:prstGeom prst="rect">
            <a:avLst/>
          </a:prstGeom>
          <a:noFill/>
          <a:ln w="9525">
            <a:noFill/>
            <a:miter lim="800000"/>
            <a:headEnd/>
            <a:tailEnd/>
          </a:ln>
          <a:effectLst/>
        </p:spPr>
        <p:txBody>
          <a:bodyPr lIns="0" tIns="0" rIns="0" bIns="0" anchor="ctr"/>
          <a:lstStyle/>
          <a:p>
            <a:pPr algn="ctr" defTabSz="401638">
              <a:buClr>
                <a:srgbClr val="0080FF"/>
              </a:buClr>
              <a:buSzPct val="90000"/>
              <a:defRPr/>
            </a:pPr>
            <a:r>
              <a:rPr lang="zh-CN" altLang="en-GB" sz="1200">
                <a:latin typeface="+mj-ea"/>
                <a:ea typeface="+mj-ea"/>
              </a:rPr>
              <a:t>盈亏平衡点分析</a:t>
            </a:r>
          </a:p>
        </p:txBody>
      </p:sp>
      <p:sp>
        <p:nvSpPr>
          <p:cNvPr id="55" name="Text Box 24">
            <a:extLst>
              <a:ext uri="{FF2B5EF4-FFF2-40B4-BE49-F238E27FC236}">
                <a16:creationId xmlns:a16="http://schemas.microsoft.com/office/drawing/2014/main" id="{3F49222C-E61E-4A50-9B72-F22E5368153B}"/>
              </a:ext>
            </a:extLst>
          </p:cNvPr>
          <p:cNvSpPr txBox="1">
            <a:spLocks noChangeArrowheads="1"/>
          </p:cNvSpPr>
          <p:nvPr/>
        </p:nvSpPr>
        <p:spPr bwMode="auto">
          <a:xfrm>
            <a:off x="5348289" y="5057776"/>
            <a:ext cx="962025" cy="238125"/>
          </a:xfrm>
          <a:prstGeom prst="rect">
            <a:avLst/>
          </a:prstGeom>
          <a:noFill/>
          <a:ln w="9525">
            <a:noFill/>
            <a:miter lim="800000"/>
            <a:headEnd/>
            <a:tailEnd/>
          </a:ln>
          <a:effectLst/>
        </p:spPr>
        <p:txBody>
          <a:bodyPr lIns="0" tIns="0" rIns="0" bIns="0" anchor="ctr"/>
          <a:lstStyle/>
          <a:p>
            <a:pPr defTabSz="401638">
              <a:buClr>
                <a:srgbClr val="0080FF"/>
              </a:buClr>
              <a:buSzPct val="90000"/>
              <a:defRPr/>
            </a:pPr>
            <a:r>
              <a:rPr lang="zh-CN" altLang="en-GB" sz="2000" dirty="0">
                <a:latin typeface="微软雅黑" panose="020B0503020204020204" pitchFamily="34" charset="-122"/>
                <a:ea typeface="微软雅黑" panose="020B0503020204020204" pitchFamily="34" charset="-122"/>
              </a:rPr>
              <a:t>策略性</a:t>
            </a:r>
          </a:p>
        </p:txBody>
      </p:sp>
      <p:sp>
        <p:nvSpPr>
          <p:cNvPr id="56" name="Text Box 25">
            <a:extLst>
              <a:ext uri="{FF2B5EF4-FFF2-40B4-BE49-F238E27FC236}">
                <a16:creationId xmlns:a16="http://schemas.microsoft.com/office/drawing/2014/main" id="{C9D8855E-04F4-4519-A6A8-01E9662FEA11}"/>
              </a:ext>
            </a:extLst>
          </p:cNvPr>
          <p:cNvSpPr txBox="1">
            <a:spLocks noChangeArrowheads="1"/>
          </p:cNvSpPr>
          <p:nvPr/>
        </p:nvSpPr>
        <p:spPr bwMode="auto">
          <a:xfrm>
            <a:off x="8069264" y="5653089"/>
            <a:ext cx="1398587" cy="236537"/>
          </a:xfrm>
          <a:prstGeom prst="rect">
            <a:avLst/>
          </a:prstGeom>
          <a:noFill/>
          <a:ln w="9525">
            <a:noFill/>
            <a:miter lim="800000"/>
            <a:headEnd/>
            <a:tailEnd/>
          </a:ln>
          <a:effectLst/>
        </p:spPr>
        <p:txBody>
          <a:bodyPr lIns="0" tIns="0" rIns="0" bIns="0" anchor="ctr"/>
          <a:lstStyle/>
          <a:p>
            <a:pPr defTabSz="401638">
              <a:buClr>
                <a:srgbClr val="0080FF"/>
              </a:buClr>
              <a:buSzPct val="90000"/>
              <a:defRPr/>
            </a:pPr>
            <a:r>
              <a:rPr lang="zh-CN" altLang="en-GB" sz="2000" dirty="0">
                <a:latin typeface="微软雅黑" panose="020B0503020204020204" pitchFamily="34" charset="-122"/>
                <a:ea typeface="微软雅黑" panose="020B0503020204020204" pitchFamily="34" charset="-122"/>
              </a:rPr>
              <a:t>经营性</a:t>
            </a:r>
          </a:p>
        </p:txBody>
      </p:sp>
      <p:sp>
        <p:nvSpPr>
          <p:cNvPr id="57" name="Oval 26">
            <a:extLst>
              <a:ext uri="{FF2B5EF4-FFF2-40B4-BE49-F238E27FC236}">
                <a16:creationId xmlns:a16="http://schemas.microsoft.com/office/drawing/2014/main" id="{750152B3-4384-4D70-BB36-78F553ECE979}"/>
              </a:ext>
            </a:extLst>
          </p:cNvPr>
          <p:cNvSpPr>
            <a:spLocks noChangeArrowheads="1"/>
          </p:cNvSpPr>
          <p:nvPr/>
        </p:nvSpPr>
        <p:spPr bwMode="auto">
          <a:xfrm>
            <a:off x="4167188" y="3467100"/>
            <a:ext cx="1047750" cy="444500"/>
          </a:xfrm>
          <a:prstGeom prst="ellipse">
            <a:avLst/>
          </a:prstGeom>
          <a:solidFill>
            <a:srgbClr val="C0C0C0"/>
          </a:solidFill>
          <a:ln w="18669">
            <a:solidFill>
              <a:srgbClr val="FFFFFF"/>
            </a:solidFill>
            <a:round/>
            <a:headEnd/>
            <a:tailEnd/>
          </a:ln>
          <a:effectLst/>
        </p:spPr>
        <p:txBody>
          <a:bodyPr wrap="none" anchor="ctr"/>
          <a:lstStyle/>
          <a:p>
            <a:pPr>
              <a:defRPr/>
            </a:pPr>
            <a:endParaRPr lang="zh-CN" altLang="en-US" sz="1200" kern="0">
              <a:solidFill>
                <a:sysClr val="windowText" lastClr="000000"/>
              </a:solidFill>
              <a:latin typeface="+mj-ea"/>
              <a:ea typeface="+mj-ea"/>
            </a:endParaRPr>
          </a:p>
        </p:txBody>
      </p:sp>
      <p:sp>
        <p:nvSpPr>
          <p:cNvPr id="58" name="Text Box 27">
            <a:extLst>
              <a:ext uri="{FF2B5EF4-FFF2-40B4-BE49-F238E27FC236}">
                <a16:creationId xmlns:a16="http://schemas.microsoft.com/office/drawing/2014/main" id="{0E72F910-0B72-4F88-AB3B-42652AE94314}"/>
              </a:ext>
            </a:extLst>
          </p:cNvPr>
          <p:cNvSpPr txBox="1">
            <a:spLocks noChangeArrowheads="1"/>
          </p:cNvSpPr>
          <p:nvPr/>
        </p:nvSpPr>
        <p:spPr bwMode="auto">
          <a:xfrm>
            <a:off x="4370389" y="3492501"/>
            <a:ext cx="808037" cy="384175"/>
          </a:xfrm>
          <a:prstGeom prst="rect">
            <a:avLst/>
          </a:prstGeom>
          <a:noFill/>
          <a:ln w="9525">
            <a:noFill/>
            <a:miter lim="800000"/>
            <a:headEnd/>
            <a:tailEnd/>
          </a:ln>
          <a:effectLst/>
        </p:spPr>
        <p:txBody>
          <a:bodyPr lIns="0" tIns="0" rIns="0" bIns="0"/>
          <a:lstStyle/>
          <a:p>
            <a:pPr defTabSz="401638">
              <a:buClr>
                <a:srgbClr val="0080FF"/>
              </a:buClr>
              <a:buSzPct val="90000"/>
              <a:defRPr/>
            </a:pPr>
            <a:r>
              <a:rPr lang="zh-CN" altLang="en-GB" sz="1200">
                <a:latin typeface="+mj-ea"/>
                <a:ea typeface="+mj-ea"/>
              </a:rPr>
              <a:t>成本动因分析</a:t>
            </a:r>
          </a:p>
        </p:txBody>
      </p:sp>
      <p:sp>
        <p:nvSpPr>
          <p:cNvPr id="59" name="Text Box 28">
            <a:extLst>
              <a:ext uri="{FF2B5EF4-FFF2-40B4-BE49-F238E27FC236}">
                <a16:creationId xmlns:a16="http://schemas.microsoft.com/office/drawing/2014/main" id="{B5FE0117-B9B5-46FB-8B56-F006B02DDC86}"/>
              </a:ext>
            </a:extLst>
          </p:cNvPr>
          <p:cNvSpPr txBox="1">
            <a:spLocks noChangeArrowheads="1"/>
          </p:cNvSpPr>
          <p:nvPr/>
        </p:nvSpPr>
        <p:spPr bwMode="auto">
          <a:xfrm>
            <a:off x="5997576" y="4029075"/>
            <a:ext cx="862013" cy="196850"/>
          </a:xfrm>
          <a:prstGeom prst="rect">
            <a:avLst/>
          </a:prstGeom>
          <a:noFill/>
          <a:ln w="9525">
            <a:noFill/>
            <a:miter lim="800000"/>
            <a:headEnd/>
            <a:tailEnd/>
          </a:ln>
          <a:effectLst/>
        </p:spPr>
        <p:txBody>
          <a:bodyPr lIns="0" tIns="0" rIns="0" bIns="0"/>
          <a:lstStyle/>
          <a:p>
            <a:pPr defTabSz="401638">
              <a:buClr>
                <a:srgbClr val="0080FF"/>
              </a:buClr>
              <a:buSzPct val="90000"/>
              <a:defRPr/>
            </a:pPr>
            <a:r>
              <a:rPr lang="zh-CN" altLang="en-GB" sz="1200">
                <a:latin typeface="+mj-ea"/>
                <a:ea typeface="+mj-ea"/>
              </a:rPr>
              <a:t>复杂性</a:t>
            </a:r>
          </a:p>
        </p:txBody>
      </p:sp>
      <p:sp>
        <p:nvSpPr>
          <p:cNvPr id="60" name="Oval 30">
            <a:extLst>
              <a:ext uri="{FF2B5EF4-FFF2-40B4-BE49-F238E27FC236}">
                <a16:creationId xmlns:a16="http://schemas.microsoft.com/office/drawing/2014/main" id="{11FC90CA-253B-4D05-B099-69E051F93C8E}"/>
              </a:ext>
            </a:extLst>
          </p:cNvPr>
          <p:cNvSpPr>
            <a:spLocks noChangeArrowheads="1"/>
          </p:cNvSpPr>
          <p:nvPr/>
        </p:nvSpPr>
        <p:spPr bwMode="auto">
          <a:xfrm>
            <a:off x="4167188" y="3060700"/>
            <a:ext cx="1047750" cy="444500"/>
          </a:xfrm>
          <a:prstGeom prst="ellipse">
            <a:avLst/>
          </a:prstGeom>
          <a:solidFill>
            <a:srgbClr val="C0C0C0"/>
          </a:solidFill>
          <a:ln w="18669">
            <a:solidFill>
              <a:srgbClr val="FFFFFF"/>
            </a:solidFill>
            <a:round/>
            <a:headEnd/>
            <a:tailEnd/>
          </a:ln>
          <a:effectLst/>
        </p:spPr>
        <p:txBody>
          <a:bodyPr wrap="none" anchor="ctr"/>
          <a:lstStyle/>
          <a:p>
            <a:pPr>
              <a:defRPr/>
            </a:pPr>
            <a:endParaRPr lang="zh-CN" altLang="en-US" sz="1200" kern="0">
              <a:solidFill>
                <a:sysClr val="windowText" lastClr="000000"/>
              </a:solidFill>
              <a:latin typeface="+mj-ea"/>
              <a:ea typeface="+mj-ea"/>
            </a:endParaRPr>
          </a:p>
        </p:txBody>
      </p:sp>
      <p:sp>
        <p:nvSpPr>
          <p:cNvPr id="61" name="Text Box 31">
            <a:extLst>
              <a:ext uri="{FF2B5EF4-FFF2-40B4-BE49-F238E27FC236}">
                <a16:creationId xmlns:a16="http://schemas.microsoft.com/office/drawing/2014/main" id="{908DB247-98F6-4CDD-9D57-47F6E4C2BC05}"/>
              </a:ext>
            </a:extLst>
          </p:cNvPr>
          <p:cNvSpPr txBox="1">
            <a:spLocks noChangeArrowheads="1"/>
          </p:cNvSpPr>
          <p:nvPr/>
        </p:nvSpPr>
        <p:spPr bwMode="auto">
          <a:xfrm>
            <a:off x="4357689" y="3175001"/>
            <a:ext cx="808037" cy="269875"/>
          </a:xfrm>
          <a:prstGeom prst="rect">
            <a:avLst/>
          </a:prstGeom>
          <a:noFill/>
          <a:ln w="9525">
            <a:noFill/>
            <a:miter lim="800000"/>
            <a:headEnd/>
            <a:tailEnd/>
          </a:ln>
          <a:effectLst/>
        </p:spPr>
        <p:txBody>
          <a:bodyPr lIns="0" tIns="0" rIns="0" bIns="0"/>
          <a:lstStyle/>
          <a:p>
            <a:pPr defTabSz="401638">
              <a:buClr>
                <a:srgbClr val="0080FF"/>
              </a:buClr>
              <a:buSzPct val="90000"/>
              <a:defRPr/>
            </a:pPr>
            <a:r>
              <a:rPr lang="zh-CN" altLang="en-GB" sz="1200" dirty="0">
                <a:latin typeface="+mj-ea"/>
                <a:ea typeface="+mj-ea"/>
              </a:rPr>
              <a:t>目标成本</a:t>
            </a:r>
          </a:p>
        </p:txBody>
      </p:sp>
    </p:spTree>
    <p:extLst>
      <p:ext uri="{BB962C8B-B14F-4D97-AF65-F5344CB8AC3E}">
        <p14:creationId xmlns:p14="http://schemas.microsoft.com/office/powerpoint/2010/main" val="863710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7" name="内容占位符 2">
            <a:extLst>
              <a:ext uri="{FF2B5EF4-FFF2-40B4-BE49-F238E27FC236}">
                <a16:creationId xmlns:a16="http://schemas.microsoft.com/office/drawing/2014/main" id="{12BEE0B3-513B-49F3-8450-CEEDB3B267E2}"/>
              </a:ext>
            </a:extLst>
          </p:cNvPr>
          <p:cNvSpPr>
            <a:spLocks noGrp="1" noChangeArrowheads="1"/>
          </p:cNvSpPr>
          <p:nvPr>
            <p:ph idx="1"/>
          </p:nvPr>
        </p:nvSpPr>
        <p:spPr>
          <a:xfrm>
            <a:off x="613885" y="1210813"/>
            <a:ext cx="10972800" cy="4784725"/>
          </a:xfrm>
        </p:spPr>
        <p:txBody>
          <a:bodyPr/>
          <a:lstStyle/>
          <a:p>
            <a:pPr marL="0" indent="0">
              <a:buNone/>
            </a:pPr>
            <a:r>
              <a:rPr lang="zh-CN" altLang="zh-CN" sz="2400" dirty="0">
                <a:solidFill>
                  <a:srgbClr val="800000"/>
                </a:solidFill>
              </a:rPr>
              <a:t>规划成本管理</a:t>
            </a:r>
            <a:endParaRPr lang="en-US" altLang="zh-CN" sz="2800" dirty="0">
              <a:solidFill>
                <a:srgbClr val="800000"/>
              </a:solidFill>
            </a:endParaRPr>
          </a:p>
          <a:p>
            <a:pPr marL="0" indent="0" algn="l">
              <a:lnSpc>
                <a:spcPts val="2600"/>
              </a:lnSpc>
              <a:spcBef>
                <a:spcPts val="0"/>
              </a:spcBef>
              <a:spcAft>
                <a:spcPts val="600"/>
              </a:spcAft>
              <a:buNone/>
            </a:pPr>
            <a:r>
              <a:rPr lang="zh-CN" altLang="en-US" i="0" u="none" strike="noStrike" baseline="0" dirty="0">
                <a:latin typeface="SourceHanSansSC-Regular"/>
              </a:rPr>
              <a:t>是确定如何估算、预算、管理、监督和控制项目成本的过程。本过程的主要作用是，在整个项目期间为如何管理项目成本提供指南和方向。本过程仅开展一次或仅在项目的预定义点开展。</a:t>
            </a:r>
            <a:endParaRPr lang="en-US" altLang="zh-CN" i="0" u="none" strike="noStrike" baseline="0" dirty="0">
              <a:latin typeface="SourceHanSansSC-Regular"/>
            </a:endParaRPr>
          </a:p>
          <a:p>
            <a:endParaRPr lang="zh-CN" altLang="en-US" sz="2800" dirty="0"/>
          </a:p>
        </p:txBody>
      </p:sp>
      <p:pic>
        <p:nvPicPr>
          <p:cNvPr id="221188" name="图片 1">
            <a:extLst>
              <a:ext uri="{FF2B5EF4-FFF2-40B4-BE49-F238E27FC236}">
                <a16:creationId xmlns:a16="http://schemas.microsoft.com/office/drawing/2014/main" id="{19D08E32-54B2-4E40-9F93-D47AB9D990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0138" y="3119952"/>
            <a:ext cx="9209542" cy="2884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1">
            <a:extLst>
              <a:ext uri="{FF2B5EF4-FFF2-40B4-BE49-F238E27FC236}">
                <a16:creationId xmlns:a16="http://schemas.microsoft.com/office/drawing/2014/main" id="{50EF4F25-F5E3-42D3-9CCC-790200796573}"/>
              </a:ext>
            </a:extLst>
          </p:cNvPr>
          <p:cNvSpPr>
            <a:spLocks noGrp="1"/>
          </p:cNvSpPr>
          <p:nvPr>
            <p:ph type="title"/>
          </p:nvPr>
        </p:nvSpPr>
        <p:spPr>
          <a:xfrm>
            <a:off x="613885" y="764293"/>
            <a:ext cx="10972800" cy="437186"/>
          </a:xfrm>
          <a:prstGeom prst="rect">
            <a:avLst/>
          </a:prstGeom>
        </p:spPr>
        <p:txBody>
          <a:bodyPr/>
          <a:lstStyle/>
          <a:p>
            <a:pPr algn="ctr"/>
            <a:r>
              <a:rPr lang="en-US" altLang="zh-CN" dirty="0"/>
              <a:t>13.1 </a:t>
            </a:r>
            <a:r>
              <a:rPr lang="zh-CN" altLang="en-US" dirty="0"/>
              <a:t>规划成本管理</a:t>
            </a:r>
          </a:p>
        </p:txBody>
      </p:sp>
    </p:spTree>
    <p:extLst>
      <p:ext uri="{BB962C8B-B14F-4D97-AF65-F5344CB8AC3E}">
        <p14:creationId xmlns:p14="http://schemas.microsoft.com/office/powerpoint/2010/main" val="393522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7" name="内容占位符 2">
            <a:extLst>
              <a:ext uri="{FF2B5EF4-FFF2-40B4-BE49-F238E27FC236}">
                <a16:creationId xmlns:a16="http://schemas.microsoft.com/office/drawing/2014/main" id="{12BEE0B3-513B-49F3-8450-CEEDB3B267E2}"/>
              </a:ext>
            </a:extLst>
          </p:cNvPr>
          <p:cNvSpPr>
            <a:spLocks noGrp="1" noChangeArrowheads="1"/>
          </p:cNvSpPr>
          <p:nvPr>
            <p:ph idx="1"/>
          </p:nvPr>
        </p:nvSpPr>
        <p:spPr>
          <a:xfrm>
            <a:off x="613885" y="1210813"/>
            <a:ext cx="10972800" cy="4882893"/>
          </a:xfrm>
        </p:spPr>
        <p:txBody>
          <a:bodyPr/>
          <a:lstStyle/>
          <a:p>
            <a:pPr marL="0" indent="0">
              <a:buNone/>
            </a:pPr>
            <a:r>
              <a:rPr lang="zh-CN" altLang="en-US" sz="2400" dirty="0">
                <a:solidFill>
                  <a:srgbClr val="800000"/>
                </a:solidFill>
              </a:rPr>
              <a:t>成本管理计划</a:t>
            </a:r>
          </a:p>
          <a:p>
            <a:pPr marL="0" indent="0" algn="l">
              <a:lnSpc>
                <a:spcPts val="2600"/>
              </a:lnSpc>
              <a:spcBef>
                <a:spcPts val="0"/>
              </a:spcBef>
              <a:spcAft>
                <a:spcPts val="600"/>
              </a:spcAft>
              <a:buNone/>
            </a:pPr>
            <a:r>
              <a:rPr lang="zh-CN" altLang="en-US" b="0" i="0" u="none" strike="noStrike" baseline="0" dirty="0">
                <a:latin typeface="SourceHanSansSC-Regular"/>
              </a:rPr>
              <a:t>成本管理计划是项目管理计划的组成部分，其过程及工具与技术应记录在成本管理计划中</a:t>
            </a:r>
            <a:r>
              <a:rPr lang="zh-CN" altLang="en-US" sz="1800" b="0" i="0" u="none" strike="noStrike" baseline="0" dirty="0">
                <a:latin typeface="SourceHanSansSC-Regular"/>
              </a:rPr>
              <a:t>。</a:t>
            </a:r>
            <a:r>
              <a:rPr lang="zh-CN" altLang="en-US" b="0" i="0" u="none" strike="noStrike" baseline="0" dirty="0">
                <a:latin typeface="SourceHanSansSC-Regular"/>
              </a:rPr>
              <a:t>例如，在成本管理计划中规定：</a:t>
            </a:r>
          </a:p>
          <a:p>
            <a:pPr marL="0" algn="l">
              <a:lnSpc>
                <a:spcPts val="2400"/>
              </a:lnSpc>
              <a:spcBef>
                <a:spcPts val="0"/>
              </a:spcBef>
              <a:spcAft>
                <a:spcPts val="600"/>
              </a:spcAft>
            </a:pPr>
            <a:r>
              <a:rPr lang="zh-CN" altLang="en-US" b="1" i="0" u="none" strike="noStrike" baseline="0" dirty="0">
                <a:latin typeface="微软雅黑" panose="020B0503020204020204" pitchFamily="34" charset="-122"/>
              </a:rPr>
              <a:t>计量单位。</a:t>
            </a:r>
            <a:r>
              <a:rPr lang="zh-CN" altLang="en-US" b="0" i="0" u="none" strike="noStrike" baseline="0" dirty="0">
                <a:latin typeface="微软雅黑" panose="020B0503020204020204" pitchFamily="34" charset="-122"/>
              </a:rPr>
              <a:t>需要规定每种资源的计量单位，例如用于测量时间的人时数、人天数或周数，用于计量数量的米、升、吨、千米或立方码，或者用货币表示的总价。</a:t>
            </a:r>
          </a:p>
          <a:p>
            <a:pPr marL="0" algn="l">
              <a:lnSpc>
                <a:spcPts val="2400"/>
              </a:lnSpc>
              <a:spcBef>
                <a:spcPts val="0"/>
              </a:spcBef>
              <a:spcAft>
                <a:spcPts val="600"/>
              </a:spcAft>
            </a:pPr>
            <a:r>
              <a:rPr lang="zh-CN" altLang="en-US" b="1" i="0" u="none" strike="noStrike" baseline="0" dirty="0">
                <a:latin typeface="微软雅黑" panose="020B0503020204020204" pitchFamily="34" charset="-122"/>
              </a:rPr>
              <a:t>精确度。</a:t>
            </a:r>
            <a:r>
              <a:rPr lang="zh-CN" altLang="en-US" b="0" i="0" u="none" strike="noStrike" baseline="0" dirty="0">
                <a:latin typeface="微软雅黑" panose="020B0503020204020204" pitchFamily="34" charset="-122"/>
              </a:rPr>
              <a:t>根据活动范围和项目规模，设定成本估算向上或向下取整的程度（例如 </a:t>
            </a:r>
            <a:r>
              <a:rPr lang="en-US" altLang="zh-CN" b="0" i="0" u="none" strike="noStrike" baseline="0" dirty="0">
                <a:latin typeface="微软雅黑" panose="020B0503020204020204" pitchFamily="34" charset="-122"/>
              </a:rPr>
              <a:t>995.59 </a:t>
            </a:r>
            <a:r>
              <a:rPr lang="zh-CN" altLang="en-US" b="0" i="0" u="none" strike="noStrike" baseline="0" dirty="0">
                <a:latin typeface="微软雅黑" panose="020B0503020204020204" pitchFamily="34" charset="-122"/>
              </a:rPr>
              <a:t>元取整为 </a:t>
            </a:r>
            <a:r>
              <a:rPr lang="en-US" altLang="zh-CN" b="0" i="0" u="none" strike="noStrike" baseline="0" dirty="0">
                <a:latin typeface="微软雅黑" panose="020B0503020204020204" pitchFamily="34" charset="-122"/>
              </a:rPr>
              <a:t>1,000 </a:t>
            </a:r>
            <a:r>
              <a:rPr lang="zh-CN" altLang="en-US" b="0" i="0" u="none" strike="noStrike" baseline="0" dirty="0">
                <a:latin typeface="微软雅黑" panose="020B0503020204020204" pitchFamily="34" charset="-122"/>
              </a:rPr>
              <a:t>元）。</a:t>
            </a:r>
          </a:p>
          <a:p>
            <a:pPr marL="0" algn="l">
              <a:lnSpc>
                <a:spcPts val="2400"/>
              </a:lnSpc>
              <a:spcBef>
                <a:spcPts val="0"/>
              </a:spcBef>
              <a:spcAft>
                <a:spcPts val="600"/>
              </a:spcAft>
            </a:pPr>
            <a:r>
              <a:rPr lang="zh-CN" altLang="en-US" b="1" i="0" u="none" strike="noStrike" baseline="0" dirty="0">
                <a:latin typeface="微软雅黑" panose="020B0503020204020204" pitchFamily="34" charset="-122"/>
              </a:rPr>
              <a:t>准确度。</a:t>
            </a:r>
            <a:r>
              <a:rPr lang="zh-CN" altLang="en-US" b="0" i="0" u="none" strike="noStrike" baseline="0" dirty="0">
                <a:latin typeface="微软雅黑" panose="020B0503020204020204" pitchFamily="34" charset="-122"/>
              </a:rPr>
              <a:t>为活动成本估算规定一个可接受的区间（如 </a:t>
            </a:r>
            <a:r>
              <a:rPr lang="en-US" altLang="zh-CN" b="0" i="0" u="none" strike="noStrike" baseline="0" dirty="0">
                <a:latin typeface="微软雅黑" panose="020B0503020204020204" pitchFamily="34" charset="-122"/>
              </a:rPr>
              <a:t>±10%</a:t>
            </a:r>
            <a:r>
              <a:rPr lang="zh-CN" altLang="en-US" b="0" i="0" u="none" strike="noStrike" baseline="0" dirty="0">
                <a:latin typeface="微软雅黑" panose="020B0503020204020204" pitchFamily="34" charset="-122"/>
              </a:rPr>
              <a:t>），其中可能包括一定数量的应急储备。</a:t>
            </a:r>
            <a:endParaRPr lang="en-US" altLang="zh-CN" b="0" i="0" u="none" strike="noStrike" baseline="0" dirty="0">
              <a:latin typeface="微软雅黑" panose="020B0503020204020204" pitchFamily="34" charset="-122"/>
            </a:endParaRPr>
          </a:p>
          <a:p>
            <a:pPr marL="0">
              <a:lnSpc>
                <a:spcPts val="2400"/>
              </a:lnSpc>
              <a:spcBef>
                <a:spcPts val="0"/>
              </a:spcBef>
              <a:spcAft>
                <a:spcPts val="600"/>
              </a:spcAft>
            </a:pPr>
            <a:r>
              <a:rPr lang="zh-CN" altLang="en-US" sz="2000" b="1" i="0" u="none" strike="noStrike" baseline="0" dirty="0">
                <a:latin typeface="SourceHanSansSC-Bold"/>
              </a:rPr>
              <a:t>组织程序链接。</a:t>
            </a:r>
            <a:r>
              <a:rPr lang="zh-CN" altLang="en-US" b="0" dirty="0">
                <a:latin typeface="SourceHanSansSC-Regular"/>
              </a:rPr>
              <a:t>如用于项目成本账户的组成结构，称为控制账户（</a:t>
            </a:r>
            <a:r>
              <a:rPr lang="en-US" altLang="zh-CN" b="0" dirty="0">
                <a:latin typeface="SourceHanSansSC-Regular"/>
              </a:rPr>
              <a:t>CA</a:t>
            </a:r>
            <a:r>
              <a:rPr lang="zh-CN" altLang="en-US" b="0" dirty="0">
                <a:latin typeface="SourceHanSansSC-Regular"/>
              </a:rPr>
              <a:t>）。它利用</a:t>
            </a:r>
            <a:r>
              <a:rPr lang="zh-CN" altLang="en-US" sz="2000" b="0" i="0" u="none" strike="noStrike" baseline="0" dirty="0">
                <a:latin typeface="SourceHanSansSC-Regular"/>
              </a:rPr>
              <a:t>工作分解结构为框架，以便据此规范地开展成本估算、预算和控制。每个控制账户都有唯一的编码或账号，直接与执行组织的会计制度相联系。</a:t>
            </a:r>
          </a:p>
          <a:p>
            <a:pPr marL="0" indent="0" algn="l">
              <a:buNone/>
            </a:pPr>
            <a:endParaRPr lang="zh-CN" altLang="en-US" dirty="0">
              <a:latin typeface="微软雅黑" panose="020B0503020204020204" pitchFamily="34" charset="-122"/>
            </a:endParaRPr>
          </a:p>
        </p:txBody>
      </p:sp>
      <p:sp>
        <p:nvSpPr>
          <p:cNvPr id="4" name="标题 1">
            <a:extLst>
              <a:ext uri="{FF2B5EF4-FFF2-40B4-BE49-F238E27FC236}">
                <a16:creationId xmlns:a16="http://schemas.microsoft.com/office/drawing/2014/main" id="{50EF4F25-F5E3-42D3-9CCC-790200796573}"/>
              </a:ext>
            </a:extLst>
          </p:cNvPr>
          <p:cNvSpPr>
            <a:spLocks noGrp="1"/>
          </p:cNvSpPr>
          <p:nvPr>
            <p:ph type="title"/>
          </p:nvPr>
        </p:nvSpPr>
        <p:spPr>
          <a:xfrm>
            <a:off x="613885" y="764293"/>
            <a:ext cx="10972800" cy="437186"/>
          </a:xfrm>
          <a:prstGeom prst="rect">
            <a:avLst/>
          </a:prstGeom>
        </p:spPr>
        <p:txBody>
          <a:bodyPr/>
          <a:lstStyle/>
          <a:p>
            <a:pPr algn="ctr"/>
            <a:r>
              <a:rPr lang="en-US" altLang="zh-CN" dirty="0"/>
              <a:t>13.1 </a:t>
            </a:r>
            <a:r>
              <a:rPr lang="zh-CN" altLang="en-US" dirty="0"/>
              <a:t>规划成本管理</a:t>
            </a:r>
          </a:p>
        </p:txBody>
      </p:sp>
    </p:spTree>
    <p:extLst>
      <p:ext uri="{BB962C8B-B14F-4D97-AF65-F5344CB8AC3E}">
        <p14:creationId xmlns:p14="http://schemas.microsoft.com/office/powerpoint/2010/main" val="2344930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7" name="内容占位符 2">
            <a:extLst>
              <a:ext uri="{FF2B5EF4-FFF2-40B4-BE49-F238E27FC236}">
                <a16:creationId xmlns:a16="http://schemas.microsoft.com/office/drawing/2014/main" id="{12BEE0B3-513B-49F3-8450-CEEDB3B267E2}"/>
              </a:ext>
            </a:extLst>
          </p:cNvPr>
          <p:cNvSpPr>
            <a:spLocks noGrp="1" noChangeArrowheads="1"/>
          </p:cNvSpPr>
          <p:nvPr>
            <p:ph idx="1"/>
          </p:nvPr>
        </p:nvSpPr>
        <p:spPr>
          <a:xfrm>
            <a:off x="613885" y="1210814"/>
            <a:ext cx="10972800" cy="5339888"/>
          </a:xfrm>
        </p:spPr>
        <p:txBody>
          <a:bodyPr/>
          <a:lstStyle/>
          <a:p>
            <a:pPr marL="0" indent="0">
              <a:buNone/>
            </a:pPr>
            <a:r>
              <a:rPr lang="zh-CN" altLang="en-US" sz="2400" dirty="0">
                <a:solidFill>
                  <a:srgbClr val="800000"/>
                </a:solidFill>
              </a:rPr>
              <a:t>成本管理计划</a:t>
            </a:r>
          </a:p>
          <a:p>
            <a:pPr algn="l">
              <a:lnSpc>
                <a:spcPts val="2600"/>
              </a:lnSpc>
              <a:spcBef>
                <a:spcPts val="0"/>
              </a:spcBef>
              <a:spcAft>
                <a:spcPts val="600"/>
              </a:spcAft>
            </a:pPr>
            <a:r>
              <a:rPr lang="zh-CN" altLang="en-US" b="1" i="0" u="none" strike="noStrike" baseline="0" dirty="0">
                <a:latin typeface="微软雅黑" panose="020B0503020204020204" pitchFamily="34" charset="-122"/>
              </a:rPr>
              <a:t>控制临界值。</a:t>
            </a:r>
            <a:r>
              <a:rPr lang="zh-CN" altLang="en-US" b="0" i="0" u="none" strike="noStrike" baseline="0" dirty="0">
                <a:latin typeface="微软雅黑" panose="020B0503020204020204" pitchFamily="34" charset="-122"/>
              </a:rPr>
              <a:t>可能需要规定偏差临界值，用于监督成本绩效。它是在需要采取某种措施前，允许出现的最大差异，通常用偏离基准计划的百分数来表示。</a:t>
            </a:r>
          </a:p>
          <a:p>
            <a:pPr algn="l">
              <a:lnSpc>
                <a:spcPts val="2600"/>
              </a:lnSpc>
              <a:spcBef>
                <a:spcPts val="0"/>
              </a:spcBef>
              <a:spcAft>
                <a:spcPts val="600"/>
              </a:spcAft>
            </a:pPr>
            <a:r>
              <a:rPr lang="zh-CN" altLang="en-US" b="1" i="0" u="none" strike="noStrike" baseline="0" dirty="0">
                <a:latin typeface="微软雅黑" panose="020B0503020204020204" pitchFamily="34" charset="-122"/>
              </a:rPr>
              <a:t>绩效测量规则。</a:t>
            </a:r>
            <a:r>
              <a:rPr lang="zh-CN" altLang="en-US" b="0" i="0" u="none" strike="noStrike" baseline="0" dirty="0">
                <a:latin typeface="微软雅黑" panose="020B0503020204020204" pitchFamily="34" charset="-122"/>
              </a:rPr>
              <a:t>需要规定用于绩效测量的挣值管理（</a:t>
            </a:r>
            <a:r>
              <a:rPr lang="en-US" altLang="zh-CN" b="0" i="0" u="none" strike="noStrike" baseline="0" dirty="0">
                <a:latin typeface="微软雅黑" panose="020B0503020204020204" pitchFamily="34" charset="-122"/>
              </a:rPr>
              <a:t>EVM</a:t>
            </a:r>
            <a:r>
              <a:rPr lang="zh-CN" altLang="en-US" b="0" i="0" u="none" strike="noStrike" baseline="0" dirty="0">
                <a:latin typeface="微软雅黑" panose="020B0503020204020204" pitchFamily="34" charset="-122"/>
              </a:rPr>
              <a:t>）规则。例如，成本管理计划应该：</a:t>
            </a:r>
          </a:p>
          <a:p>
            <a:pPr algn="l">
              <a:lnSpc>
                <a:spcPts val="2600"/>
              </a:lnSpc>
              <a:spcBef>
                <a:spcPts val="0"/>
              </a:spcBef>
              <a:spcAft>
                <a:spcPts val="600"/>
              </a:spcAft>
              <a:buFont typeface="Wingdings" panose="05000000000000000000" pitchFamily="2" charset="2"/>
              <a:buChar char="Ø"/>
            </a:pPr>
            <a:r>
              <a:rPr lang="zh-CN" altLang="en-US" sz="1800" b="0" i="0" u="none" strike="noStrike" baseline="0" dirty="0">
                <a:latin typeface="微软雅黑" panose="020B0503020204020204" pitchFamily="34" charset="-122"/>
              </a:rPr>
              <a:t>定义 </a:t>
            </a:r>
            <a:r>
              <a:rPr lang="en-US" altLang="zh-CN" sz="1800" b="0" i="0" u="none" strike="noStrike" baseline="0" dirty="0">
                <a:latin typeface="微软雅黑" panose="020B0503020204020204" pitchFamily="34" charset="-122"/>
              </a:rPr>
              <a:t>WBS </a:t>
            </a:r>
            <a:r>
              <a:rPr lang="zh-CN" altLang="en-US" sz="1800" b="0" i="0" u="none" strike="noStrike" baseline="0" dirty="0">
                <a:latin typeface="微软雅黑" panose="020B0503020204020204" pitchFamily="34" charset="-122"/>
              </a:rPr>
              <a:t>中用于绩效测量的控制账户；</a:t>
            </a:r>
          </a:p>
          <a:p>
            <a:pPr algn="l">
              <a:lnSpc>
                <a:spcPts val="2600"/>
              </a:lnSpc>
              <a:spcBef>
                <a:spcPts val="0"/>
              </a:spcBef>
              <a:spcAft>
                <a:spcPts val="600"/>
              </a:spcAft>
              <a:buFont typeface="Wingdings" panose="05000000000000000000" pitchFamily="2" charset="2"/>
              <a:buChar char="Ø"/>
            </a:pPr>
            <a:r>
              <a:rPr lang="zh-CN" altLang="en-US" sz="1800" b="0" i="0" u="none" strike="noStrike" baseline="0" dirty="0">
                <a:latin typeface="微软雅黑" panose="020B0503020204020204" pitchFamily="34" charset="-122"/>
              </a:rPr>
              <a:t>确定拟用的 </a:t>
            </a:r>
            <a:r>
              <a:rPr lang="en-US" altLang="zh-CN" sz="1800" b="0" i="0" u="none" strike="noStrike" baseline="0" dirty="0">
                <a:latin typeface="微软雅黑" panose="020B0503020204020204" pitchFamily="34" charset="-122"/>
              </a:rPr>
              <a:t>EVM </a:t>
            </a:r>
            <a:r>
              <a:rPr lang="zh-CN" altLang="en-US" sz="1800" b="0" i="0" u="none" strike="noStrike" baseline="0" dirty="0">
                <a:latin typeface="微软雅黑" panose="020B0503020204020204" pitchFamily="34" charset="-122"/>
              </a:rPr>
              <a:t>技术（如加权里程碑法、固定公式法、完成百分比法等）；</a:t>
            </a:r>
          </a:p>
          <a:p>
            <a:pPr algn="l">
              <a:lnSpc>
                <a:spcPts val="2600"/>
              </a:lnSpc>
              <a:spcBef>
                <a:spcPts val="0"/>
              </a:spcBef>
              <a:spcAft>
                <a:spcPts val="600"/>
              </a:spcAft>
              <a:buFont typeface="Wingdings" panose="05000000000000000000" pitchFamily="2" charset="2"/>
              <a:buChar char="Ø"/>
            </a:pPr>
            <a:r>
              <a:rPr lang="zh-CN" altLang="en-US" sz="1800" b="0" i="0" u="none" strike="noStrike" baseline="0" dirty="0">
                <a:latin typeface="微软雅黑" panose="020B0503020204020204" pitchFamily="34" charset="-122"/>
              </a:rPr>
              <a:t>规定跟踪方法，以及用于计算项目完工估算（</a:t>
            </a:r>
            <a:r>
              <a:rPr lang="en-US" altLang="zh-CN" sz="1800" b="0" i="0" u="none" strike="noStrike" baseline="0" dirty="0">
                <a:latin typeface="微软雅黑" panose="020B0503020204020204" pitchFamily="34" charset="-122"/>
              </a:rPr>
              <a:t>EAC</a:t>
            </a:r>
            <a:r>
              <a:rPr lang="zh-CN" altLang="en-US" sz="1800" b="0" i="0" u="none" strike="noStrike" baseline="0" dirty="0">
                <a:latin typeface="微软雅黑" panose="020B0503020204020204" pitchFamily="34" charset="-122"/>
              </a:rPr>
              <a:t>）的 </a:t>
            </a:r>
            <a:r>
              <a:rPr lang="en-US" altLang="zh-CN" sz="1800" b="0" i="0" u="none" strike="noStrike" baseline="0" dirty="0">
                <a:latin typeface="微软雅黑" panose="020B0503020204020204" pitchFamily="34" charset="-122"/>
              </a:rPr>
              <a:t>EVM </a:t>
            </a:r>
            <a:r>
              <a:rPr lang="zh-CN" altLang="en-US" sz="1800" b="0" i="0" u="none" strike="noStrike" baseline="0" dirty="0">
                <a:latin typeface="微软雅黑" panose="020B0503020204020204" pitchFamily="34" charset="-122"/>
              </a:rPr>
              <a:t>公式，该公式计算出的结果可用于验证通过自下而上方法得出的完工估算。</a:t>
            </a:r>
          </a:p>
          <a:p>
            <a:pPr algn="l">
              <a:lnSpc>
                <a:spcPts val="2600"/>
              </a:lnSpc>
              <a:spcBef>
                <a:spcPts val="0"/>
              </a:spcBef>
              <a:spcAft>
                <a:spcPts val="600"/>
              </a:spcAft>
            </a:pPr>
            <a:r>
              <a:rPr lang="zh-CN" altLang="en-US" b="1" i="0" u="none" strike="noStrike" baseline="0" dirty="0">
                <a:latin typeface="微软雅黑" panose="020B0503020204020204" pitchFamily="34" charset="-122"/>
              </a:rPr>
              <a:t>报告格式。</a:t>
            </a:r>
            <a:r>
              <a:rPr lang="zh-CN" altLang="en-US" b="0" i="0" u="none" strike="noStrike" baseline="0" dirty="0">
                <a:latin typeface="微软雅黑" panose="020B0503020204020204" pitchFamily="34" charset="-122"/>
              </a:rPr>
              <a:t>需要规定各种成本报告的格式和编制频率。</a:t>
            </a:r>
          </a:p>
          <a:p>
            <a:pPr algn="l">
              <a:lnSpc>
                <a:spcPts val="2600"/>
              </a:lnSpc>
              <a:spcBef>
                <a:spcPts val="0"/>
              </a:spcBef>
              <a:spcAft>
                <a:spcPts val="600"/>
              </a:spcAft>
            </a:pPr>
            <a:r>
              <a:rPr lang="zh-CN" altLang="en-US" b="1" i="0" u="none" strike="noStrike" baseline="0" dirty="0">
                <a:latin typeface="微软雅黑" panose="020B0503020204020204" pitchFamily="34" charset="-122"/>
              </a:rPr>
              <a:t>其他细节。</a:t>
            </a:r>
            <a:r>
              <a:rPr lang="zh-CN" altLang="en-US" b="0" i="0" u="none" strike="noStrike" baseline="0" dirty="0">
                <a:latin typeface="微软雅黑" panose="020B0503020204020204" pitchFamily="34" charset="-122"/>
              </a:rPr>
              <a:t>关于成本管理活动的其他细节包括（但不限于）：</a:t>
            </a:r>
          </a:p>
          <a:p>
            <a:pPr algn="l">
              <a:lnSpc>
                <a:spcPts val="2600"/>
              </a:lnSpc>
              <a:spcBef>
                <a:spcPts val="0"/>
              </a:spcBef>
              <a:spcAft>
                <a:spcPts val="600"/>
              </a:spcAft>
              <a:buFont typeface="Wingdings" panose="05000000000000000000" pitchFamily="2" charset="2"/>
              <a:buChar char="Ø"/>
            </a:pPr>
            <a:r>
              <a:rPr lang="zh-CN" altLang="en-US" sz="1800" b="0" i="0" u="none" strike="noStrike" baseline="0" dirty="0">
                <a:latin typeface="微软雅黑" panose="020B0503020204020204" pitchFamily="34" charset="-122"/>
              </a:rPr>
              <a:t>对战略筹资方案的说明；</a:t>
            </a:r>
          </a:p>
          <a:p>
            <a:pPr algn="l">
              <a:lnSpc>
                <a:spcPts val="2600"/>
              </a:lnSpc>
              <a:spcBef>
                <a:spcPts val="0"/>
              </a:spcBef>
              <a:spcAft>
                <a:spcPts val="600"/>
              </a:spcAft>
              <a:buFont typeface="Wingdings" panose="05000000000000000000" pitchFamily="2" charset="2"/>
              <a:buChar char="Ø"/>
            </a:pPr>
            <a:r>
              <a:rPr lang="zh-CN" altLang="en-US" sz="1800" b="0" i="0" u="none" strike="noStrike" baseline="0" dirty="0">
                <a:latin typeface="微软雅黑" panose="020B0503020204020204" pitchFamily="34" charset="-122"/>
              </a:rPr>
              <a:t>处理汇率波动的程序；</a:t>
            </a:r>
          </a:p>
          <a:p>
            <a:pPr algn="l">
              <a:lnSpc>
                <a:spcPts val="2600"/>
              </a:lnSpc>
              <a:spcBef>
                <a:spcPts val="0"/>
              </a:spcBef>
              <a:spcAft>
                <a:spcPts val="600"/>
              </a:spcAft>
              <a:buFont typeface="Wingdings" panose="05000000000000000000" pitchFamily="2" charset="2"/>
              <a:buChar char="Ø"/>
            </a:pPr>
            <a:r>
              <a:rPr lang="zh-CN" altLang="en-US" sz="1800" b="0" i="0" u="none" strike="noStrike" baseline="0" dirty="0">
                <a:latin typeface="微软雅黑" panose="020B0503020204020204" pitchFamily="34" charset="-122"/>
              </a:rPr>
              <a:t>记录项目成本的程序。</a:t>
            </a:r>
            <a:endParaRPr lang="en-US" altLang="zh-CN" sz="2800" dirty="0">
              <a:latin typeface="微软雅黑" panose="020B0503020204020204" pitchFamily="34" charset="-122"/>
            </a:endParaRPr>
          </a:p>
        </p:txBody>
      </p:sp>
      <p:sp>
        <p:nvSpPr>
          <p:cNvPr id="4" name="标题 1">
            <a:extLst>
              <a:ext uri="{FF2B5EF4-FFF2-40B4-BE49-F238E27FC236}">
                <a16:creationId xmlns:a16="http://schemas.microsoft.com/office/drawing/2014/main" id="{50EF4F25-F5E3-42D3-9CCC-790200796573}"/>
              </a:ext>
            </a:extLst>
          </p:cNvPr>
          <p:cNvSpPr>
            <a:spLocks noGrp="1"/>
          </p:cNvSpPr>
          <p:nvPr>
            <p:ph type="title"/>
          </p:nvPr>
        </p:nvSpPr>
        <p:spPr>
          <a:xfrm>
            <a:off x="613885" y="764293"/>
            <a:ext cx="10972800" cy="437186"/>
          </a:xfrm>
          <a:prstGeom prst="rect">
            <a:avLst/>
          </a:prstGeom>
        </p:spPr>
        <p:txBody>
          <a:bodyPr/>
          <a:lstStyle/>
          <a:p>
            <a:pPr algn="ctr"/>
            <a:r>
              <a:rPr lang="en-US" altLang="zh-CN" dirty="0"/>
              <a:t>13.1 </a:t>
            </a:r>
            <a:r>
              <a:rPr lang="zh-CN" altLang="en-US" dirty="0"/>
              <a:t>规划成本管理</a:t>
            </a:r>
          </a:p>
        </p:txBody>
      </p:sp>
    </p:spTree>
    <p:extLst>
      <p:ext uri="{BB962C8B-B14F-4D97-AF65-F5344CB8AC3E}">
        <p14:creationId xmlns:p14="http://schemas.microsoft.com/office/powerpoint/2010/main" val="1303851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5" name="内容占位符 2">
            <a:extLst>
              <a:ext uri="{FF2B5EF4-FFF2-40B4-BE49-F238E27FC236}">
                <a16:creationId xmlns:a16="http://schemas.microsoft.com/office/drawing/2014/main" id="{F30FEB23-34C3-4901-90C7-733525AD9675}"/>
              </a:ext>
            </a:extLst>
          </p:cNvPr>
          <p:cNvSpPr>
            <a:spLocks noGrp="1" noChangeArrowheads="1"/>
          </p:cNvSpPr>
          <p:nvPr>
            <p:ph idx="1"/>
          </p:nvPr>
        </p:nvSpPr>
        <p:spPr>
          <a:xfrm>
            <a:off x="741425" y="982886"/>
            <a:ext cx="10414255" cy="1910958"/>
          </a:xfrm>
        </p:spPr>
        <p:txBody>
          <a:bodyPr/>
          <a:lstStyle/>
          <a:p>
            <a:pPr marL="0" indent="0">
              <a:buNone/>
            </a:pPr>
            <a:r>
              <a:rPr lang="zh-CN" altLang="zh-CN" sz="2400" dirty="0">
                <a:solidFill>
                  <a:srgbClr val="800000"/>
                </a:solidFill>
              </a:rPr>
              <a:t>估算成本</a:t>
            </a:r>
            <a:endParaRPr lang="en-US" altLang="zh-CN" sz="2400" dirty="0">
              <a:solidFill>
                <a:srgbClr val="800000"/>
              </a:solidFill>
            </a:endParaRPr>
          </a:p>
          <a:p>
            <a:pPr marL="0" indent="0" algn="l">
              <a:lnSpc>
                <a:spcPts val="2600"/>
              </a:lnSpc>
              <a:spcBef>
                <a:spcPts val="0"/>
              </a:spcBef>
              <a:spcAft>
                <a:spcPts val="600"/>
              </a:spcAft>
              <a:buNone/>
            </a:pPr>
            <a:r>
              <a:rPr lang="zh-CN" altLang="en-US" b="0" i="0" u="none" strike="noStrike" baseline="0" dirty="0">
                <a:latin typeface="SourceHanSansSC-Regular"/>
              </a:rPr>
              <a:t>估算成本是对完成项目工作所需资源成本进行近似估算的过程。</a:t>
            </a:r>
            <a:endParaRPr lang="en-US" altLang="zh-CN" b="0" i="0" u="none" strike="noStrike" baseline="0" dirty="0">
              <a:latin typeface="SourceHanSansSC-Regular"/>
            </a:endParaRPr>
          </a:p>
          <a:p>
            <a:pPr marL="0" indent="0" algn="l">
              <a:lnSpc>
                <a:spcPts val="2600"/>
              </a:lnSpc>
              <a:spcBef>
                <a:spcPts val="0"/>
              </a:spcBef>
              <a:spcAft>
                <a:spcPts val="600"/>
              </a:spcAft>
              <a:buNone/>
            </a:pPr>
            <a:r>
              <a:rPr lang="zh-CN" altLang="en-US" b="0" i="0" u="none" strike="noStrike" baseline="0" dirty="0">
                <a:latin typeface="SourceHanSansSC-Regular"/>
              </a:rPr>
              <a:t>本过程的主要作用是，确定项目所需的资金。</a:t>
            </a:r>
            <a:endParaRPr lang="en-US" altLang="zh-CN" b="0" i="0" u="none" strike="noStrike" baseline="0" dirty="0">
              <a:latin typeface="SourceHanSansSC-Regular"/>
            </a:endParaRPr>
          </a:p>
          <a:p>
            <a:pPr marL="0" indent="0" algn="l">
              <a:lnSpc>
                <a:spcPts val="2600"/>
              </a:lnSpc>
              <a:spcBef>
                <a:spcPts val="0"/>
              </a:spcBef>
              <a:spcAft>
                <a:spcPts val="600"/>
              </a:spcAft>
              <a:buNone/>
            </a:pPr>
            <a:r>
              <a:rPr lang="zh-CN" altLang="en-US" b="0" i="0" u="none" strike="noStrike" baseline="0" dirty="0">
                <a:latin typeface="SourceHanSansSC-Regular"/>
              </a:rPr>
              <a:t>本过程应根据需要在整个项目期间定期开展，估算过程：</a:t>
            </a:r>
            <a:endParaRPr lang="en-US" altLang="zh-CN" sz="3200" dirty="0"/>
          </a:p>
        </p:txBody>
      </p:sp>
      <p:pic>
        <p:nvPicPr>
          <p:cNvPr id="223236" name="图片 1">
            <a:extLst>
              <a:ext uri="{FF2B5EF4-FFF2-40B4-BE49-F238E27FC236}">
                <a16:creationId xmlns:a16="http://schemas.microsoft.com/office/drawing/2014/main" id="{F8C885D6-E780-4477-9B06-E73B339004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3446" y="2731685"/>
            <a:ext cx="8105108" cy="37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1">
            <a:extLst>
              <a:ext uri="{FF2B5EF4-FFF2-40B4-BE49-F238E27FC236}">
                <a16:creationId xmlns:a16="http://schemas.microsoft.com/office/drawing/2014/main" id="{35E59828-B2AA-479B-B61F-1E940684FDC3}"/>
              </a:ext>
            </a:extLst>
          </p:cNvPr>
          <p:cNvSpPr>
            <a:spLocks noGrp="1"/>
          </p:cNvSpPr>
          <p:nvPr>
            <p:ph type="title"/>
          </p:nvPr>
        </p:nvSpPr>
        <p:spPr>
          <a:xfrm>
            <a:off x="613885" y="764293"/>
            <a:ext cx="10972800" cy="437186"/>
          </a:xfrm>
          <a:prstGeom prst="rect">
            <a:avLst/>
          </a:prstGeom>
        </p:spPr>
        <p:txBody>
          <a:bodyPr/>
          <a:lstStyle/>
          <a:p>
            <a:pPr algn="ctr"/>
            <a:r>
              <a:rPr lang="en-US" altLang="zh-CN" dirty="0"/>
              <a:t>13.2 </a:t>
            </a:r>
            <a:r>
              <a:rPr lang="zh-CN" altLang="en-US" dirty="0"/>
              <a:t>估算成本</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a:extLst>
              <a:ext uri="{FF2B5EF4-FFF2-40B4-BE49-F238E27FC236}">
                <a16:creationId xmlns:a16="http://schemas.microsoft.com/office/drawing/2014/main" id="{E519921B-5422-4340-9A22-E047ADEDE83A}"/>
              </a:ext>
            </a:extLst>
          </p:cNvPr>
          <p:cNvSpPr>
            <a:spLocks noGrp="1"/>
          </p:cNvSpPr>
          <p:nvPr>
            <p:ph type="title"/>
          </p:nvPr>
        </p:nvSpPr>
        <p:spPr>
          <a:xfrm>
            <a:off x="613885" y="1054577"/>
            <a:ext cx="10972800" cy="437186"/>
          </a:xfrm>
        </p:spPr>
        <p:txBody>
          <a:bodyPr/>
          <a:lstStyle/>
          <a:p>
            <a:r>
              <a:rPr lang="zh-CN" altLang="en-US" dirty="0"/>
              <a:t>项目成本分解结构示例</a:t>
            </a:r>
          </a:p>
        </p:txBody>
      </p:sp>
      <p:sp>
        <p:nvSpPr>
          <p:cNvPr id="4" name="矩形 3">
            <a:extLst>
              <a:ext uri="{FF2B5EF4-FFF2-40B4-BE49-F238E27FC236}">
                <a16:creationId xmlns:a16="http://schemas.microsoft.com/office/drawing/2014/main" id="{2F2E1E6E-8C7B-4AE6-8CB0-E23240DB3F31}"/>
              </a:ext>
            </a:extLst>
          </p:cNvPr>
          <p:cNvSpPr/>
          <p:nvPr/>
        </p:nvSpPr>
        <p:spPr bwMode="auto">
          <a:xfrm>
            <a:off x="5381626" y="1428751"/>
            <a:ext cx="1513161" cy="785812"/>
          </a:xfrm>
          <a:prstGeom prst="rect">
            <a:avLst/>
          </a:prstGeom>
          <a:solidFill>
            <a:srgbClr val="99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altLang="zh-CN" dirty="0">
                <a:solidFill>
                  <a:srgbClr val="FFFFCC"/>
                </a:solidFill>
                <a:latin typeface="Times New Roman" panose="02020603050405020304" pitchFamily="18" charset="0"/>
                <a:ea typeface="+mj-ea"/>
                <a:cs typeface="Times New Roman" panose="02020603050405020304" pitchFamily="18" charset="0"/>
              </a:rPr>
              <a:t>CBS</a:t>
            </a:r>
            <a:r>
              <a:rPr lang="zh-CN" altLang="en-US" dirty="0">
                <a:solidFill>
                  <a:srgbClr val="FFFFCC"/>
                </a:solidFill>
                <a:latin typeface="Times New Roman" panose="02020603050405020304" pitchFamily="18" charset="0"/>
                <a:ea typeface="+mj-ea"/>
                <a:cs typeface="Times New Roman" panose="02020603050405020304" pitchFamily="18" charset="0"/>
              </a:rPr>
              <a:t>（</a:t>
            </a:r>
            <a:r>
              <a:rPr lang="en-US" altLang="zh-CN" dirty="0">
                <a:solidFill>
                  <a:srgbClr val="FFFFCC"/>
                </a:solidFill>
                <a:latin typeface="Times New Roman" panose="02020603050405020304" pitchFamily="18" charset="0"/>
                <a:ea typeface="+mj-ea"/>
                <a:cs typeface="Times New Roman" panose="02020603050405020304" pitchFamily="18" charset="0"/>
              </a:rPr>
              <a:t>cost breakdown structure</a:t>
            </a:r>
            <a:r>
              <a:rPr lang="zh-CN" altLang="en-US" sz="1600" dirty="0">
                <a:solidFill>
                  <a:srgbClr val="FFFFCC"/>
                </a:solidFill>
                <a:latin typeface="+mj-ea"/>
                <a:ea typeface="+mj-ea"/>
              </a:rPr>
              <a:t>）</a:t>
            </a:r>
          </a:p>
        </p:txBody>
      </p:sp>
      <p:sp>
        <p:nvSpPr>
          <p:cNvPr id="5" name="矩形 4">
            <a:extLst>
              <a:ext uri="{FF2B5EF4-FFF2-40B4-BE49-F238E27FC236}">
                <a16:creationId xmlns:a16="http://schemas.microsoft.com/office/drawing/2014/main" id="{6DC996EC-390A-4DD1-A97E-2129D902A5E3}"/>
              </a:ext>
            </a:extLst>
          </p:cNvPr>
          <p:cNvSpPr/>
          <p:nvPr/>
        </p:nvSpPr>
        <p:spPr bwMode="auto">
          <a:xfrm>
            <a:off x="1952626" y="2786063"/>
            <a:ext cx="1285875" cy="571500"/>
          </a:xfrm>
          <a:prstGeom prst="rect">
            <a:avLst/>
          </a:prstGeom>
          <a:solidFill>
            <a:srgbClr val="99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600" dirty="0">
                <a:solidFill>
                  <a:srgbClr val="FFFFCC"/>
                </a:solidFill>
                <a:latin typeface="微软雅黑" panose="020B0503020204020204" pitchFamily="34" charset="-122"/>
                <a:ea typeface="微软雅黑" panose="020B0503020204020204" pitchFamily="34" charset="-122"/>
              </a:rPr>
              <a:t>人力成本</a:t>
            </a:r>
          </a:p>
        </p:txBody>
      </p:sp>
      <p:sp>
        <p:nvSpPr>
          <p:cNvPr id="6" name="矩形 5">
            <a:extLst>
              <a:ext uri="{FF2B5EF4-FFF2-40B4-BE49-F238E27FC236}">
                <a16:creationId xmlns:a16="http://schemas.microsoft.com/office/drawing/2014/main" id="{7D97405E-3AAC-445F-9D3C-550E582882FD}"/>
              </a:ext>
            </a:extLst>
          </p:cNvPr>
          <p:cNvSpPr/>
          <p:nvPr/>
        </p:nvSpPr>
        <p:spPr bwMode="auto">
          <a:xfrm>
            <a:off x="3667126" y="2786063"/>
            <a:ext cx="1285875" cy="571500"/>
          </a:xfrm>
          <a:prstGeom prst="rect">
            <a:avLst/>
          </a:prstGeom>
          <a:solidFill>
            <a:srgbClr val="99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600" dirty="0">
                <a:solidFill>
                  <a:srgbClr val="FFFFCC"/>
                </a:solidFill>
                <a:latin typeface="微软雅黑" panose="020B0503020204020204" pitchFamily="34" charset="-122"/>
                <a:ea typeface="微软雅黑" panose="020B0503020204020204" pitchFamily="34" charset="-122"/>
              </a:rPr>
              <a:t>生产要素</a:t>
            </a:r>
          </a:p>
        </p:txBody>
      </p:sp>
      <p:sp>
        <p:nvSpPr>
          <p:cNvPr id="7" name="矩形 6">
            <a:extLst>
              <a:ext uri="{FF2B5EF4-FFF2-40B4-BE49-F238E27FC236}">
                <a16:creationId xmlns:a16="http://schemas.microsoft.com/office/drawing/2014/main" id="{3E6C56C3-2892-48D5-9DE7-73B4A2E73992}"/>
              </a:ext>
            </a:extLst>
          </p:cNvPr>
          <p:cNvSpPr/>
          <p:nvPr/>
        </p:nvSpPr>
        <p:spPr bwMode="auto">
          <a:xfrm>
            <a:off x="5381626" y="2786063"/>
            <a:ext cx="1285875" cy="571500"/>
          </a:xfrm>
          <a:prstGeom prst="rect">
            <a:avLst/>
          </a:prstGeom>
          <a:solidFill>
            <a:srgbClr val="99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600" dirty="0">
                <a:solidFill>
                  <a:srgbClr val="FFFFCC"/>
                </a:solidFill>
                <a:latin typeface="微软雅黑" panose="020B0503020204020204" pitchFamily="34" charset="-122"/>
                <a:ea typeface="微软雅黑" panose="020B0503020204020204" pitchFamily="34" charset="-122"/>
              </a:rPr>
              <a:t>采购成本</a:t>
            </a:r>
          </a:p>
        </p:txBody>
      </p:sp>
      <p:sp>
        <p:nvSpPr>
          <p:cNvPr id="8" name="矩形 7">
            <a:extLst>
              <a:ext uri="{FF2B5EF4-FFF2-40B4-BE49-F238E27FC236}">
                <a16:creationId xmlns:a16="http://schemas.microsoft.com/office/drawing/2014/main" id="{92C3005D-9894-478B-B728-6711A109F177}"/>
              </a:ext>
            </a:extLst>
          </p:cNvPr>
          <p:cNvSpPr/>
          <p:nvPr/>
        </p:nvSpPr>
        <p:spPr bwMode="auto">
          <a:xfrm>
            <a:off x="7096126" y="2786063"/>
            <a:ext cx="1285875" cy="571500"/>
          </a:xfrm>
          <a:prstGeom prst="rect">
            <a:avLst/>
          </a:prstGeom>
          <a:solidFill>
            <a:srgbClr val="99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600" dirty="0">
                <a:solidFill>
                  <a:srgbClr val="FFFFCC"/>
                </a:solidFill>
                <a:latin typeface="微软雅黑" panose="020B0503020204020204" pitchFamily="34" charset="-122"/>
                <a:ea typeface="微软雅黑" panose="020B0503020204020204" pitchFamily="34" charset="-122"/>
              </a:rPr>
              <a:t>公共分摊</a:t>
            </a:r>
          </a:p>
        </p:txBody>
      </p:sp>
      <p:sp>
        <p:nvSpPr>
          <p:cNvPr id="9" name="矩形 8">
            <a:extLst>
              <a:ext uri="{FF2B5EF4-FFF2-40B4-BE49-F238E27FC236}">
                <a16:creationId xmlns:a16="http://schemas.microsoft.com/office/drawing/2014/main" id="{E69A4C95-9295-4D7F-A334-1EF5F6211C48}"/>
              </a:ext>
            </a:extLst>
          </p:cNvPr>
          <p:cNvSpPr/>
          <p:nvPr/>
        </p:nvSpPr>
        <p:spPr bwMode="auto">
          <a:xfrm>
            <a:off x="8810626" y="2786063"/>
            <a:ext cx="1285875" cy="571500"/>
          </a:xfrm>
          <a:prstGeom prst="rect">
            <a:avLst/>
          </a:prstGeom>
          <a:solidFill>
            <a:srgbClr val="99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600" dirty="0">
                <a:solidFill>
                  <a:srgbClr val="FFFFCC"/>
                </a:solidFill>
                <a:latin typeface="微软雅黑" panose="020B0503020204020204" pitchFamily="34" charset="-122"/>
                <a:ea typeface="微软雅黑" panose="020B0503020204020204" pitchFamily="34" charset="-122"/>
              </a:rPr>
              <a:t>费用类</a:t>
            </a:r>
          </a:p>
        </p:txBody>
      </p:sp>
      <p:sp>
        <p:nvSpPr>
          <p:cNvPr id="10" name="矩形 9">
            <a:extLst>
              <a:ext uri="{FF2B5EF4-FFF2-40B4-BE49-F238E27FC236}">
                <a16:creationId xmlns:a16="http://schemas.microsoft.com/office/drawing/2014/main" id="{57BEC11C-1869-4B19-A4EB-DA241F5E600B}"/>
              </a:ext>
            </a:extLst>
          </p:cNvPr>
          <p:cNvSpPr/>
          <p:nvPr/>
        </p:nvSpPr>
        <p:spPr bwMode="auto">
          <a:xfrm>
            <a:off x="2667001" y="3929063"/>
            <a:ext cx="428625" cy="1357312"/>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外部人员</a:t>
            </a:r>
          </a:p>
        </p:txBody>
      </p:sp>
      <p:sp>
        <p:nvSpPr>
          <p:cNvPr id="11" name="矩形 10">
            <a:extLst>
              <a:ext uri="{FF2B5EF4-FFF2-40B4-BE49-F238E27FC236}">
                <a16:creationId xmlns:a16="http://schemas.microsoft.com/office/drawing/2014/main" id="{484AA328-368E-4DD6-952A-93F3F2D23644}"/>
              </a:ext>
            </a:extLst>
          </p:cNvPr>
          <p:cNvSpPr/>
          <p:nvPr/>
        </p:nvSpPr>
        <p:spPr bwMode="auto">
          <a:xfrm>
            <a:off x="2024064" y="3929063"/>
            <a:ext cx="428625" cy="1357312"/>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常驻人员</a:t>
            </a:r>
          </a:p>
        </p:txBody>
      </p:sp>
      <p:sp>
        <p:nvSpPr>
          <p:cNvPr id="12" name="矩形 11">
            <a:extLst>
              <a:ext uri="{FF2B5EF4-FFF2-40B4-BE49-F238E27FC236}">
                <a16:creationId xmlns:a16="http://schemas.microsoft.com/office/drawing/2014/main" id="{F039A2AC-2F4E-41A2-BACD-5E8FC8D0FE8E}"/>
              </a:ext>
            </a:extLst>
          </p:cNvPr>
          <p:cNvSpPr/>
          <p:nvPr/>
        </p:nvSpPr>
        <p:spPr bwMode="auto">
          <a:xfrm>
            <a:off x="4381501" y="3929063"/>
            <a:ext cx="428625" cy="1357312"/>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固定资产</a:t>
            </a:r>
          </a:p>
        </p:txBody>
      </p:sp>
      <p:sp>
        <p:nvSpPr>
          <p:cNvPr id="13" name="矩形 12">
            <a:extLst>
              <a:ext uri="{FF2B5EF4-FFF2-40B4-BE49-F238E27FC236}">
                <a16:creationId xmlns:a16="http://schemas.microsoft.com/office/drawing/2014/main" id="{ED9F4D00-6FE5-4D99-85AF-6FAC1A5C854F}"/>
              </a:ext>
            </a:extLst>
          </p:cNvPr>
          <p:cNvSpPr/>
          <p:nvPr/>
        </p:nvSpPr>
        <p:spPr bwMode="auto">
          <a:xfrm>
            <a:off x="3738564" y="3929063"/>
            <a:ext cx="428625" cy="1357312"/>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生产设备</a:t>
            </a:r>
          </a:p>
        </p:txBody>
      </p:sp>
      <p:sp>
        <p:nvSpPr>
          <p:cNvPr id="14" name="矩形 13">
            <a:extLst>
              <a:ext uri="{FF2B5EF4-FFF2-40B4-BE49-F238E27FC236}">
                <a16:creationId xmlns:a16="http://schemas.microsoft.com/office/drawing/2014/main" id="{A2C03A15-B97B-439F-B690-0C0E0719F1E4}"/>
              </a:ext>
            </a:extLst>
          </p:cNvPr>
          <p:cNvSpPr/>
          <p:nvPr/>
        </p:nvSpPr>
        <p:spPr bwMode="auto">
          <a:xfrm>
            <a:off x="5953126" y="3929063"/>
            <a:ext cx="428625" cy="1357312"/>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分包合同</a:t>
            </a:r>
          </a:p>
        </p:txBody>
      </p:sp>
      <p:sp>
        <p:nvSpPr>
          <p:cNvPr id="15" name="矩形 14">
            <a:extLst>
              <a:ext uri="{FF2B5EF4-FFF2-40B4-BE49-F238E27FC236}">
                <a16:creationId xmlns:a16="http://schemas.microsoft.com/office/drawing/2014/main" id="{7D12C785-59AD-4E67-ABB3-98EA9DC7881B}"/>
              </a:ext>
            </a:extLst>
          </p:cNvPr>
          <p:cNvSpPr/>
          <p:nvPr/>
        </p:nvSpPr>
        <p:spPr bwMode="auto">
          <a:xfrm>
            <a:off x="5310189" y="3929063"/>
            <a:ext cx="428625" cy="1357312"/>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原材料</a:t>
            </a:r>
          </a:p>
        </p:txBody>
      </p:sp>
      <p:sp>
        <p:nvSpPr>
          <p:cNvPr id="16" name="矩形 15">
            <a:extLst>
              <a:ext uri="{FF2B5EF4-FFF2-40B4-BE49-F238E27FC236}">
                <a16:creationId xmlns:a16="http://schemas.microsoft.com/office/drawing/2014/main" id="{FEA89312-DD8C-479D-A17D-CB95C5F08DF9}"/>
              </a:ext>
            </a:extLst>
          </p:cNvPr>
          <p:cNvSpPr/>
          <p:nvPr/>
        </p:nvSpPr>
        <p:spPr bwMode="auto">
          <a:xfrm>
            <a:off x="8667751" y="3929063"/>
            <a:ext cx="428625" cy="1357312"/>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团队活动费</a:t>
            </a:r>
          </a:p>
        </p:txBody>
      </p:sp>
      <p:sp>
        <p:nvSpPr>
          <p:cNvPr id="17" name="矩形 16">
            <a:extLst>
              <a:ext uri="{FF2B5EF4-FFF2-40B4-BE49-F238E27FC236}">
                <a16:creationId xmlns:a16="http://schemas.microsoft.com/office/drawing/2014/main" id="{34CA4353-63FB-461A-8A5C-283252E29DFB}"/>
              </a:ext>
            </a:extLst>
          </p:cNvPr>
          <p:cNvSpPr/>
          <p:nvPr/>
        </p:nvSpPr>
        <p:spPr bwMode="auto">
          <a:xfrm>
            <a:off x="8024814" y="3929063"/>
            <a:ext cx="428625" cy="1357312"/>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差旅费</a:t>
            </a:r>
          </a:p>
        </p:txBody>
      </p:sp>
      <p:sp>
        <p:nvSpPr>
          <p:cNvPr id="18" name="矩形 17">
            <a:extLst>
              <a:ext uri="{FF2B5EF4-FFF2-40B4-BE49-F238E27FC236}">
                <a16:creationId xmlns:a16="http://schemas.microsoft.com/office/drawing/2014/main" id="{2F2D3C52-80A9-433E-984D-00B89CAA6BA5}"/>
              </a:ext>
            </a:extLst>
          </p:cNvPr>
          <p:cNvSpPr/>
          <p:nvPr/>
        </p:nvSpPr>
        <p:spPr bwMode="auto">
          <a:xfrm>
            <a:off x="9953626" y="3929063"/>
            <a:ext cx="428625" cy="1357312"/>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交通费</a:t>
            </a:r>
          </a:p>
        </p:txBody>
      </p:sp>
      <p:sp>
        <p:nvSpPr>
          <p:cNvPr id="19" name="矩形 18">
            <a:extLst>
              <a:ext uri="{FF2B5EF4-FFF2-40B4-BE49-F238E27FC236}">
                <a16:creationId xmlns:a16="http://schemas.microsoft.com/office/drawing/2014/main" id="{E98D18F9-331C-465B-BCDF-FBDDD1F001D6}"/>
              </a:ext>
            </a:extLst>
          </p:cNvPr>
          <p:cNvSpPr/>
          <p:nvPr/>
        </p:nvSpPr>
        <p:spPr bwMode="auto">
          <a:xfrm>
            <a:off x="9310689" y="3929063"/>
            <a:ext cx="428625" cy="1357312"/>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通讯费</a:t>
            </a:r>
          </a:p>
        </p:txBody>
      </p:sp>
      <p:cxnSp>
        <p:nvCxnSpPr>
          <p:cNvPr id="17427" name="肘形连接符 22">
            <a:extLst>
              <a:ext uri="{FF2B5EF4-FFF2-40B4-BE49-F238E27FC236}">
                <a16:creationId xmlns:a16="http://schemas.microsoft.com/office/drawing/2014/main" id="{D6F91370-EDE5-466D-B3C8-2C33CC9FD270}"/>
              </a:ext>
            </a:extLst>
          </p:cNvPr>
          <p:cNvCxnSpPr>
            <a:cxnSpLocks noChangeShapeType="1"/>
            <a:stCxn id="4" idx="2"/>
            <a:endCxn id="5" idx="0"/>
          </p:cNvCxnSpPr>
          <p:nvPr/>
        </p:nvCxnSpPr>
        <p:spPr bwMode="auto">
          <a:xfrm rot="5400000">
            <a:off x="4081135" y="728993"/>
            <a:ext cx="571500" cy="3542643"/>
          </a:xfrm>
          <a:prstGeom prst="bentConnector3">
            <a:avLst>
              <a:gd name="adj1" fmla="val 50000"/>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17428" name="肘形连接符 24">
            <a:extLst>
              <a:ext uri="{FF2B5EF4-FFF2-40B4-BE49-F238E27FC236}">
                <a16:creationId xmlns:a16="http://schemas.microsoft.com/office/drawing/2014/main" id="{E8EA97E8-141F-4679-A20F-3B1ECC824B54}"/>
              </a:ext>
            </a:extLst>
          </p:cNvPr>
          <p:cNvCxnSpPr>
            <a:cxnSpLocks noChangeShapeType="1"/>
            <a:stCxn id="4" idx="2"/>
            <a:endCxn id="6" idx="0"/>
          </p:cNvCxnSpPr>
          <p:nvPr/>
        </p:nvCxnSpPr>
        <p:spPr bwMode="auto">
          <a:xfrm rot="5400000">
            <a:off x="4938385" y="1586243"/>
            <a:ext cx="571500" cy="1828143"/>
          </a:xfrm>
          <a:prstGeom prst="bentConnector3">
            <a:avLst>
              <a:gd name="adj1" fmla="val 50000"/>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17429" name="肘形连接符 26">
            <a:extLst>
              <a:ext uri="{FF2B5EF4-FFF2-40B4-BE49-F238E27FC236}">
                <a16:creationId xmlns:a16="http://schemas.microsoft.com/office/drawing/2014/main" id="{4A3D9E13-FE6D-42C1-9091-36A106F1532B}"/>
              </a:ext>
            </a:extLst>
          </p:cNvPr>
          <p:cNvCxnSpPr>
            <a:cxnSpLocks noChangeShapeType="1"/>
            <a:stCxn id="4" idx="2"/>
            <a:endCxn id="7" idx="0"/>
          </p:cNvCxnSpPr>
          <p:nvPr/>
        </p:nvCxnSpPr>
        <p:spPr bwMode="auto">
          <a:xfrm rot="5400000">
            <a:off x="5795635" y="2443493"/>
            <a:ext cx="571500" cy="113643"/>
          </a:xfrm>
          <a:prstGeom prst="bentConnector3">
            <a:avLst>
              <a:gd name="adj1" fmla="val 50000"/>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17430" name="肘形连接符 28">
            <a:extLst>
              <a:ext uri="{FF2B5EF4-FFF2-40B4-BE49-F238E27FC236}">
                <a16:creationId xmlns:a16="http://schemas.microsoft.com/office/drawing/2014/main" id="{88B40EED-5251-4CFE-94FF-F465F0F6CD50}"/>
              </a:ext>
            </a:extLst>
          </p:cNvPr>
          <p:cNvCxnSpPr>
            <a:cxnSpLocks noChangeShapeType="1"/>
            <a:stCxn id="4" idx="2"/>
            <a:endCxn id="8" idx="0"/>
          </p:cNvCxnSpPr>
          <p:nvPr/>
        </p:nvCxnSpPr>
        <p:spPr bwMode="auto">
          <a:xfrm rot="16200000" flipH="1">
            <a:off x="6652884" y="1699885"/>
            <a:ext cx="571500" cy="1600857"/>
          </a:xfrm>
          <a:prstGeom prst="bentConnector3">
            <a:avLst>
              <a:gd name="adj1" fmla="val 50000"/>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17431" name="肘形连接符 30">
            <a:extLst>
              <a:ext uri="{FF2B5EF4-FFF2-40B4-BE49-F238E27FC236}">
                <a16:creationId xmlns:a16="http://schemas.microsoft.com/office/drawing/2014/main" id="{DCAEA30B-50DE-49FA-A69E-44C52B979720}"/>
              </a:ext>
            </a:extLst>
          </p:cNvPr>
          <p:cNvCxnSpPr>
            <a:cxnSpLocks noChangeShapeType="1"/>
            <a:stCxn id="4" idx="2"/>
            <a:endCxn id="9" idx="0"/>
          </p:cNvCxnSpPr>
          <p:nvPr/>
        </p:nvCxnSpPr>
        <p:spPr bwMode="auto">
          <a:xfrm rot="16200000" flipH="1">
            <a:off x="7510134" y="842635"/>
            <a:ext cx="571500" cy="3315357"/>
          </a:xfrm>
          <a:prstGeom prst="bentConnector3">
            <a:avLst>
              <a:gd name="adj1" fmla="val 50000"/>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17432" name="肘形连接符 32">
            <a:extLst>
              <a:ext uri="{FF2B5EF4-FFF2-40B4-BE49-F238E27FC236}">
                <a16:creationId xmlns:a16="http://schemas.microsoft.com/office/drawing/2014/main" id="{ABB12757-E55E-4563-8D53-F690A355643E}"/>
              </a:ext>
            </a:extLst>
          </p:cNvPr>
          <p:cNvCxnSpPr>
            <a:cxnSpLocks noChangeShapeType="1"/>
            <a:stCxn id="5" idx="2"/>
            <a:endCxn id="11" idx="0"/>
          </p:cNvCxnSpPr>
          <p:nvPr/>
        </p:nvCxnSpPr>
        <p:spPr bwMode="auto">
          <a:xfrm rot="5400000">
            <a:off x="2131219" y="3464719"/>
            <a:ext cx="571500" cy="357188"/>
          </a:xfrm>
          <a:prstGeom prst="bentConnector3">
            <a:avLst>
              <a:gd name="adj1" fmla="val 50000"/>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17433" name="肘形连接符 34">
            <a:extLst>
              <a:ext uri="{FF2B5EF4-FFF2-40B4-BE49-F238E27FC236}">
                <a16:creationId xmlns:a16="http://schemas.microsoft.com/office/drawing/2014/main" id="{E863F365-9C59-4B6D-9745-1962738774C1}"/>
              </a:ext>
            </a:extLst>
          </p:cNvPr>
          <p:cNvCxnSpPr>
            <a:cxnSpLocks noChangeShapeType="1"/>
            <a:stCxn id="5" idx="2"/>
            <a:endCxn id="10" idx="0"/>
          </p:cNvCxnSpPr>
          <p:nvPr/>
        </p:nvCxnSpPr>
        <p:spPr bwMode="auto">
          <a:xfrm rot="16200000" flipH="1">
            <a:off x="2452688" y="3500438"/>
            <a:ext cx="571500" cy="285750"/>
          </a:xfrm>
          <a:prstGeom prst="bentConnector3">
            <a:avLst>
              <a:gd name="adj1" fmla="val 50000"/>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17434" name="肘形连接符 36">
            <a:extLst>
              <a:ext uri="{FF2B5EF4-FFF2-40B4-BE49-F238E27FC236}">
                <a16:creationId xmlns:a16="http://schemas.microsoft.com/office/drawing/2014/main" id="{D0147A53-BC6A-44C9-B7D3-900F67FE58CA}"/>
              </a:ext>
            </a:extLst>
          </p:cNvPr>
          <p:cNvCxnSpPr>
            <a:cxnSpLocks noChangeShapeType="1"/>
            <a:stCxn id="6" idx="2"/>
            <a:endCxn id="13" idx="0"/>
          </p:cNvCxnSpPr>
          <p:nvPr/>
        </p:nvCxnSpPr>
        <p:spPr bwMode="auto">
          <a:xfrm rot="5400000">
            <a:off x="3845719" y="3464719"/>
            <a:ext cx="571500" cy="357188"/>
          </a:xfrm>
          <a:prstGeom prst="bentConnector3">
            <a:avLst>
              <a:gd name="adj1" fmla="val 50000"/>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17435" name="肘形连接符 38">
            <a:extLst>
              <a:ext uri="{FF2B5EF4-FFF2-40B4-BE49-F238E27FC236}">
                <a16:creationId xmlns:a16="http://schemas.microsoft.com/office/drawing/2014/main" id="{84E4FD31-4E78-45D8-B7B6-06A9D6F4919B}"/>
              </a:ext>
            </a:extLst>
          </p:cNvPr>
          <p:cNvCxnSpPr>
            <a:cxnSpLocks noChangeShapeType="1"/>
            <a:stCxn id="6" idx="2"/>
            <a:endCxn id="12" idx="0"/>
          </p:cNvCxnSpPr>
          <p:nvPr/>
        </p:nvCxnSpPr>
        <p:spPr bwMode="auto">
          <a:xfrm rot="16200000" flipH="1">
            <a:off x="4167188" y="3500438"/>
            <a:ext cx="571500" cy="285750"/>
          </a:xfrm>
          <a:prstGeom prst="bentConnector3">
            <a:avLst>
              <a:gd name="adj1" fmla="val 50000"/>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17436" name="肘形连接符 40">
            <a:extLst>
              <a:ext uri="{FF2B5EF4-FFF2-40B4-BE49-F238E27FC236}">
                <a16:creationId xmlns:a16="http://schemas.microsoft.com/office/drawing/2014/main" id="{FED1C4C0-9D3B-478C-891A-08075296780F}"/>
              </a:ext>
            </a:extLst>
          </p:cNvPr>
          <p:cNvCxnSpPr>
            <a:cxnSpLocks noChangeShapeType="1"/>
            <a:stCxn id="7" idx="2"/>
            <a:endCxn id="15" idx="0"/>
          </p:cNvCxnSpPr>
          <p:nvPr/>
        </p:nvCxnSpPr>
        <p:spPr bwMode="auto">
          <a:xfrm rot="5400000">
            <a:off x="5488782" y="3393282"/>
            <a:ext cx="571500" cy="500063"/>
          </a:xfrm>
          <a:prstGeom prst="bentConnector3">
            <a:avLst>
              <a:gd name="adj1" fmla="val 50000"/>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17437" name="肘形连接符 42">
            <a:extLst>
              <a:ext uri="{FF2B5EF4-FFF2-40B4-BE49-F238E27FC236}">
                <a16:creationId xmlns:a16="http://schemas.microsoft.com/office/drawing/2014/main" id="{A3EDF2DF-3DB1-41B9-8C4D-672282690E8F}"/>
              </a:ext>
            </a:extLst>
          </p:cNvPr>
          <p:cNvCxnSpPr>
            <a:cxnSpLocks noChangeShapeType="1"/>
            <a:stCxn id="7" idx="2"/>
            <a:endCxn id="14" idx="0"/>
          </p:cNvCxnSpPr>
          <p:nvPr/>
        </p:nvCxnSpPr>
        <p:spPr bwMode="auto">
          <a:xfrm rot="16200000" flipH="1">
            <a:off x="5810251" y="3571876"/>
            <a:ext cx="571500" cy="142875"/>
          </a:xfrm>
          <a:prstGeom prst="bentConnector3">
            <a:avLst>
              <a:gd name="adj1" fmla="val 50000"/>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17438" name="肘形连接符 44">
            <a:extLst>
              <a:ext uri="{FF2B5EF4-FFF2-40B4-BE49-F238E27FC236}">
                <a16:creationId xmlns:a16="http://schemas.microsoft.com/office/drawing/2014/main" id="{3A17DAC0-7506-4BA4-A6BB-AA9C6687E9E2}"/>
              </a:ext>
            </a:extLst>
          </p:cNvPr>
          <p:cNvCxnSpPr>
            <a:cxnSpLocks noChangeShapeType="1"/>
            <a:stCxn id="9" idx="2"/>
            <a:endCxn id="17" idx="0"/>
          </p:cNvCxnSpPr>
          <p:nvPr/>
        </p:nvCxnSpPr>
        <p:spPr bwMode="auto">
          <a:xfrm rot="5400000">
            <a:off x="8560594" y="3036094"/>
            <a:ext cx="571500" cy="1214438"/>
          </a:xfrm>
          <a:prstGeom prst="bentConnector3">
            <a:avLst>
              <a:gd name="adj1" fmla="val 50000"/>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17439" name="肘形连接符 46">
            <a:extLst>
              <a:ext uri="{FF2B5EF4-FFF2-40B4-BE49-F238E27FC236}">
                <a16:creationId xmlns:a16="http://schemas.microsoft.com/office/drawing/2014/main" id="{7BAB2D54-8BD9-40F9-A87B-F3F29FAA8F91}"/>
              </a:ext>
            </a:extLst>
          </p:cNvPr>
          <p:cNvCxnSpPr>
            <a:cxnSpLocks noChangeShapeType="1"/>
            <a:stCxn id="9" idx="2"/>
            <a:endCxn id="16" idx="0"/>
          </p:cNvCxnSpPr>
          <p:nvPr/>
        </p:nvCxnSpPr>
        <p:spPr bwMode="auto">
          <a:xfrm rot="5400000">
            <a:off x="8882063" y="3357563"/>
            <a:ext cx="571500" cy="571500"/>
          </a:xfrm>
          <a:prstGeom prst="bentConnector3">
            <a:avLst>
              <a:gd name="adj1" fmla="val 50000"/>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17440" name="肘形连接符 48">
            <a:extLst>
              <a:ext uri="{FF2B5EF4-FFF2-40B4-BE49-F238E27FC236}">
                <a16:creationId xmlns:a16="http://schemas.microsoft.com/office/drawing/2014/main" id="{54DA878C-B679-4089-A62C-A5EFCDC04754}"/>
              </a:ext>
            </a:extLst>
          </p:cNvPr>
          <p:cNvCxnSpPr>
            <a:cxnSpLocks noChangeShapeType="1"/>
            <a:stCxn id="9" idx="2"/>
            <a:endCxn id="19" idx="0"/>
          </p:cNvCxnSpPr>
          <p:nvPr/>
        </p:nvCxnSpPr>
        <p:spPr bwMode="auto">
          <a:xfrm rot="16200000" flipH="1">
            <a:off x="9203532" y="3607595"/>
            <a:ext cx="571500" cy="71437"/>
          </a:xfrm>
          <a:prstGeom prst="bentConnector3">
            <a:avLst>
              <a:gd name="adj1" fmla="val 50000"/>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17441" name="肘形连接符 50">
            <a:extLst>
              <a:ext uri="{FF2B5EF4-FFF2-40B4-BE49-F238E27FC236}">
                <a16:creationId xmlns:a16="http://schemas.microsoft.com/office/drawing/2014/main" id="{CFCABAFB-0382-4427-9CAC-51429120A947}"/>
              </a:ext>
            </a:extLst>
          </p:cNvPr>
          <p:cNvCxnSpPr>
            <a:cxnSpLocks noChangeShapeType="1"/>
            <a:stCxn id="9" idx="2"/>
            <a:endCxn id="18" idx="0"/>
          </p:cNvCxnSpPr>
          <p:nvPr/>
        </p:nvCxnSpPr>
        <p:spPr bwMode="auto">
          <a:xfrm rot="16200000" flipH="1">
            <a:off x="9525001" y="3286126"/>
            <a:ext cx="571500" cy="714375"/>
          </a:xfrm>
          <a:prstGeom prst="bentConnector3">
            <a:avLst>
              <a:gd name="adj1" fmla="val 50000"/>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sp>
        <p:nvSpPr>
          <p:cNvPr id="53" name="矩形 52">
            <a:extLst>
              <a:ext uri="{FF2B5EF4-FFF2-40B4-BE49-F238E27FC236}">
                <a16:creationId xmlns:a16="http://schemas.microsoft.com/office/drawing/2014/main" id="{BD96257C-73E0-4CF7-B8DB-2D45633FD3B5}"/>
              </a:ext>
            </a:extLst>
          </p:cNvPr>
          <p:cNvSpPr/>
          <p:nvPr/>
        </p:nvSpPr>
        <p:spPr bwMode="auto">
          <a:xfrm>
            <a:off x="6596064" y="3929063"/>
            <a:ext cx="428625" cy="1357312"/>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技术合作</a:t>
            </a:r>
          </a:p>
        </p:txBody>
      </p:sp>
      <p:cxnSp>
        <p:nvCxnSpPr>
          <p:cNvPr id="17443" name="肘形连接符 54">
            <a:extLst>
              <a:ext uri="{FF2B5EF4-FFF2-40B4-BE49-F238E27FC236}">
                <a16:creationId xmlns:a16="http://schemas.microsoft.com/office/drawing/2014/main" id="{30378004-2D1A-41B0-B4B8-C0D5CDE0DDB7}"/>
              </a:ext>
            </a:extLst>
          </p:cNvPr>
          <p:cNvCxnSpPr>
            <a:cxnSpLocks noChangeShapeType="1"/>
            <a:stCxn id="7" idx="2"/>
            <a:endCxn id="53" idx="0"/>
          </p:cNvCxnSpPr>
          <p:nvPr/>
        </p:nvCxnSpPr>
        <p:spPr bwMode="auto">
          <a:xfrm rot="16200000" flipH="1">
            <a:off x="6131719" y="3250407"/>
            <a:ext cx="571500" cy="785812"/>
          </a:xfrm>
          <a:prstGeom prst="bentConnector3">
            <a:avLst>
              <a:gd name="adj1" fmla="val 50000"/>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sp>
        <p:nvSpPr>
          <p:cNvPr id="57" name="矩形 56">
            <a:extLst>
              <a:ext uri="{FF2B5EF4-FFF2-40B4-BE49-F238E27FC236}">
                <a16:creationId xmlns:a16="http://schemas.microsoft.com/office/drawing/2014/main" id="{F9499274-5AF9-4058-95AA-D2F56613B2A5}"/>
              </a:ext>
            </a:extLst>
          </p:cNvPr>
          <p:cNvSpPr/>
          <p:nvPr/>
        </p:nvSpPr>
        <p:spPr bwMode="auto">
          <a:xfrm>
            <a:off x="7381876" y="3929063"/>
            <a:ext cx="428625" cy="1357312"/>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租赁费</a:t>
            </a:r>
          </a:p>
        </p:txBody>
      </p:sp>
      <p:cxnSp>
        <p:nvCxnSpPr>
          <p:cNvPr id="17445" name="肘形连接符 58">
            <a:extLst>
              <a:ext uri="{FF2B5EF4-FFF2-40B4-BE49-F238E27FC236}">
                <a16:creationId xmlns:a16="http://schemas.microsoft.com/office/drawing/2014/main" id="{852FB3BA-82DF-4971-97E7-9ED1D2256F97}"/>
              </a:ext>
            </a:extLst>
          </p:cNvPr>
          <p:cNvCxnSpPr>
            <a:cxnSpLocks noChangeShapeType="1"/>
            <a:stCxn id="9" idx="2"/>
            <a:endCxn id="57" idx="0"/>
          </p:cNvCxnSpPr>
          <p:nvPr/>
        </p:nvCxnSpPr>
        <p:spPr bwMode="auto">
          <a:xfrm rot="5400000">
            <a:off x="8239126" y="2714626"/>
            <a:ext cx="571500" cy="1857375"/>
          </a:xfrm>
          <a:prstGeom prst="bentConnector3">
            <a:avLst>
              <a:gd name="adj1" fmla="val 50000"/>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FFEE3A-1D8B-447F-A902-928E30804B5B}"/>
              </a:ext>
            </a:extLst>
          </p:cNvPr>
          <p:cNvSpPr>
            <a:spLocks noGrp="1"/>
          </p:cNvSpPr>
          <p:nvPr>
            <p:ph type="title"/>
          </p:nvPr>
        </p:nvSpPr>
        <p:spPr/>
        <p:txBody>
          <a:bodyPr/>
          <a:lstStyle/>
          <a:p>
            <a:r>
              <a:rPr lang="en-US" altLang="zh-CN" dirty="0"/>
              <a:t>13.3 </a:t>
            </a:r>
            <a:r>
              <a:rPr lang="zh-CN" altLang="en-US" dirty="0"/>
              <a:t>估算成本</a:t>
            </a:r>
          </a:p>
        </p:txBody>
      </p:sp>
      <p:sp>
        <p:nvSpPr>
          <p:cNvPr id="3" name="内容占位符 2">
            <a:extLst>
              <a:ext uri="{FF2B5EF4-FFF2-40B4-BE49-F238E27FC236}">
                <a16:creationId xmlns:a16="http://schemas.microsoft.com/office/drawing/2014/main" id="{B3004CEF-27CA-4D5C-831A-181ABEC7C788}"/>
              </a:ext>
            </a:extLst>
          </p:cNvPr>
          <p:cNvSpPr>
            <a:spLocks noGrp="1"/>
          </p:cNvSpPr>
          <p:nvPr>
            <p:ph idx="1"/>
          </p:nvPr>
        </p:nvSpPr>
        <p:spPr/>
        <p:txBody>
          <a:bodyPr/>
          <a:lstStyle/>
          <a:p>
            <a:r>
              <a:rPr lang="zh-CN" altLang="en-US" dirty="0"/>
              <a:t>成本估计的类型</a:t>
            </a:r>
            <a:endParaRPr lang="en-US" altLang="zh-CN" dirty="0"/>
          </a:p>
          <a:p>
            <a:pPr lvl="1"/>
            <a:r>
              <a:rPr lang="zh-CN" altLang="en-US" dirty="0"/>
              <a:t>应用领域不同，成本估计的类型和数量也不同</a:t>
            </a:r>
            <a:endParaRPr lang="en-US" altLang="zh-CN" dirty="0"/>
          </a:p>
          <a:p>
            <a:pPr lvl="1"/>
            <a:r>
              <a:rPr lang="zh-CN" altLang="en-US" dirty="0"/>
              <a:t>通常会在项目不同的阶段做出成本估计，并且随着时间的推进，估计应该变得越来越精确</a:t>
            </a:r>
          </a:p>
          <a:p>
            <a:endParaRPr lang="zh-CN" altLang="en-US" dirty="0"/>
          </a:p>
        </p:txBody>
      </p:sp>
      <p:graphicFrame>
        <p:nvGraphicFramePr>
          <p:cNvPr id="4" name="表格 4">
            <a:extLst>
              <a:ext uri="{FF2B5EF4-FFF2-40B4-BE49-F238E27FC236}">
                <a16:creationId xmlns:a16="http://schemas.microsoft.com/office/drawing/2014/main" id="{4BE5233F-206F-4FAF-B755-FA8028C0C8A3}"/>
              </a:ext>
            </a:extLst>
          </p:cNvPr>
          <p:cNvGraphicFramePr>
            <a:graphicFrameLocks noGrp="1"/>
          </p:cNvGraphicFramePr>
          <p:nvPr/>
        </p:nvGraphicFramePr>
        <p:xfrm>
          <a:off x="2144486" y="2950687"/>
          <a:ext cx="7903029" cy="3221163"/>
        </p:xfrm>
        <a:graphic>
          <a:graphicData uri="http://schemas.openxmlformats.org/drawingml/2006/table">
            <a:tbl>
              <a:tblPr firstRow="1" bandRow="1">
                <a:tableStyleId>{5C22544A-7EE6-4342-B048-85BDC9FD1C3A}</a:tableStyleId>
              </a:tblPr>
              <a:tblGrid>
                <a:gridCol w="1670228">
                  <a:extLst>
                    <a:ext uri="{9D8B030D-6E8A-4147-A177-3AD203B41FA5}">
                      <a16:colId xmlns:a16="http://schemas.microsoft.com/office/drawing/2014/main" val="3939041971"/>
                    </a:ext>
                  </a:extLst>
                </a:gridCol>
                <a:gridCol w="1668679">
                  <a:extLst>
                    <a:ext uri="{9D8B030D-6E8A-4147-A177-3AD203B41FA5}">
                      <a16:colId xmlns:a16="http://schemas.microsoft.com/office/drawing/2014/main" val="4020728167"/>
                    </a:ext>
                  </a:extLst>
                </a:gridCol>
                <a:gridCol w="2588364">
                  <a:extLst>
                    <a:ext uri="{9D8B030D-6E8A-4147-A177-3AD203B41FA5}">
                      <a16:colId xmlns:a16="http://schemas.microsoft.com/office/drawing/2014/main" val="1269967031"/>
                    </a:ext>
                  </a:extLst>
                </a:gridCol>
                <a:gridCol w="1975758">
                  <a:extLst>
                    <a:ext uri="{9D8B030D-6E8A-4147-A177-3AD203B41FA5}">
                      <a16:colId xmlns:a16="http://schemas.microsoft.com/office/drawing/2014/main" val="3269779036"/>
                    </a:ext>
                  </a:extLst>
                </a:gridCol>
              </a:tblGrid>
              <a:tr h="423099">
                <a:tc>
                  <a:txBody>
                    <a:bodyPr/>
                    <a:lstStyle/>
                    <a:p>
                      <a:r>
                        <a:rPr lang="zh-CN" altLang="en-US" sz="1800" dirty="0"/>
                        <a:t>估计类型</a:t>
                      </a:r>
                    </a:p>
                  </a:txBody>
                  <a:tcPr/>
                </a:tc>
                <a:tc>
                  <a:txBody>
                    <a:bodyPr/>
                    <a:lstStyle/>
                    <a:p>
                      <a:r>
                        <a:rPr lang="zh-CN" altLang="en-US" sz="1800" dirty="0"/>
                        <a:t>什么时候做</a:t>
                      </a:r>
                    </a:p>
                  </a:txBody>
                  <a:tcPr/>
                </a:tc>
                <a:tc>
                  <a:txBody>
                    <a:bodyPr/>
                    <a:lstStyle/>
                    <a:p>
                      <a:r>
                        <a:rPr lang="zh-CN" altLang="en-US" sz="1800" dirty="0"/>
                        <a:t>为什么做</a:t>
                      </a:r>
                    </a:p>
                  </a:txBody>
                  <a:tcPr/>
                </a:tc>
                <a:tc>
                  <a:txBody>
                    <a:bodyPr/>
                    <a:lstStyle/>
                    <a:p>
                      <a:r>
                        <a:rPr lang="zh-CN" altLang="en-US" sz="1800" dirty="0"/>
                        <a:t>精度</a:t>
                      </a:r>
                    </a:p>
                  </a:txBody>
                  <a:tcPr/>
                </a:tc>
                <a:extLst>
                  <a:ext uri="{0D108BD9-81ED-4DB2-BD59-A6C34878D82A}">
                    <a16:rowId xmlns:a16="http://schemas.microsoft.com/office/drawing/2014/main" val="320879088"/>
                  </a:ext>
                </a:extLst>
              </a:tr>
              <a:tr h="291265">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lang="zh-CN" altLang="en-US" sz="1800" dirty="0"/>
                        <a:t>初步估计</a:t>
                      </a:r>
                      <a:r>
                        <a:rPr lang="en-US" altLang="zh-CN" sz="1800" dirty="0"/>
                        <a:t>(ROM)</a:t>
                      </a:r>
                    </a:p>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1800" b="0" i="0" u="none" strike="noStrike" cap="none" normalizeH="0" baseline="0" dirty="0">
                          <a:ln>
                            <a:noFill/>
                          </a:ln>
                          <a:solidFill>
                            <a:schemeClr val="tx1"/>
                          </a:solidFill>
                          <a:effectLst/>
                          <a:latin typeface="Arial" panose="020B0604020202020204" pitchFamily="34" charset="0"/>
                          <a:ea typeface="+mn-ea"/>
                        </a:rPr>
                        <a:t>(</a:t>
                      </a:r>
                      <a:r>
                        <a:rPr kumimoji="1" lang="zh-CN" altLang="en-US" sz="1800" b="0" i="0" u="none" strike="noStrike" cap="none" normalizeH="0" baseline="0" dirty="0">
                          <a:ln>
                            <a:noFill/>
                          </a:ln>
                          <a:solidFill>
                            <a:schemeClr val="tx1"/>
                          </a:solidFill>
                          <a:effectLst/>
                          <a:latin typeface="Arial" panose="020B0604020202020204" pitchFamily="34" charset="0"/>
                          <a:ea typeface="+mn-ea"/>
                        </a:rPr>
                        <a:t>概念估算、可行性估算</a:t>
                      </a:r>
                      <a:r>
                        <a:rPr kumimoji="1" lang="en-US" altLang="zh-CN" sz="1800" b="0" i="0" u="none" strike="noStrike" cap="none" normalizeH="0" baseline="0" dirty="0">
                          <a:ln>
                            <a:noFill/>
                          </a:ln>
                          <a:solidFill>
                            <a:schemeClr val="tx1"/>
                          </a:solidFill>
                          <a:effectLst/>
                          <a:latin typeface="Arial" panose="020B0604020202020204" pitchFamily="34" charset="0"/>
                          <a:ea typeface="+mn-ea"/>
                        </a:rPr>
                        <a:t>)</a:t>
                      </a:r>
                      <a:endParaRPr kumimoji="1" lang="ja-JP"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tc>
                <a:tc>
                  <a:txBody>
                    <a:bodyPr/>
                    <a:lstStyle/>
                    <a:p>
                      <a:r>
                        <a:rPr lang="zh-CN" altLang="en-US" sz="1800" dirty="0"/>
                        <a:t>早期，项目启动前或启动阶段</a:t>
                      </a:r>
                    </a:p>
                  </a:txBody>
                  <a:tcPr/>
                </a:tc>
                <a:tc>
                  <a:txBody>
                    <a:bodyPr/>
                    <a:lstStyle/>
                    <a:p>
                      <a:r>
                        <a:rPr lang="zh-CN" altLang="en-US" sz="1800" dirty="0"/>
                        <a:t>为项目选择决策提供成本估计</a:t>
                      </a:r>
                    </a:p>
                  </a:txBody>
                  <a:tcPr/>
                </a:tc>
                <a:tc>
                  <a:txBody>
                    <a:bodyPr/>
                    <a:lstStyle/>
                    <a:p>
                      <a:r>
                        <a:rPr lang="en-US" altLang="zh-CN" sz="1800" dirty="0"/>
                        <a:t>-50%~100%</a:t>
                      </a:r>
                      <a:endParaRPr lang="zh-CN" altLang="en-US" sz="1800" dirty="0"/>
                    </a:p>
                  </a:txBody>
                  <a:tcPr/>
                </a:tc>
                <a:extLst>
                  <a:ext uri="{0D108BD9-81ED-4DB2-BD59-A6C34878D82A}">
                    <a16:rowId xmlns:a16="http://schemas.microsoft.com/office/drawing/2014/main" val="2968854804"/>
                  </a:ext>
                </a:extLst>
              </a:tr>
              <a:tr h="423099">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lang="zh-CN" altLang="en-US" sz="1800" dirty="0"/>
                        <a:t>预算估计</a:t>
                      </a:r>
                      <a:r>
                        <a:rPr kumimoji="1" lang="zh-CN" altLang="en-US" sz="1800" b="0" i="0" u="none" strike="noStrike" cap="none" normalizeH="0" baseline="0" dirty="0">
                          <a:ln>
                            <a:noFill/>
                          </a:ln>
                          <a:solidFill>
                            <a:schemeClr val="tx1"/>
                          </a:solidFill>
                          <a:effectLst/>
                          <a:latin typeface="Arial" panose="020B0604020202020204" pitchFamily="34" charset="0"/>
                          <a:ea typeface="+mn-ea"/>
                        </a:rPr>
                        <a:t>（类比估算、自上而下估算）</a:t>
                      </a:r>
                      <a:endParaRPr kumimoji="1" lang="ja-JP"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tc>
                <a:tc>
                  <a:txBody>
                    <a:bodyPr/>
                    <a:lstStyle/>
                    <a:p>
                      <a:r>
                        <a:rPr lang="zh-CN" altLang="en-US" sz="1800" dirty="0"/>
                        <a:t>早期，项目规划阶段</a:t>
                      </a:r>
                    </a:p>
                  </a:txBody>
                  <a:tcPr/>
                </a:tc>
                <a:tc>
                  <a:txBody>
                    <a:bodyPr/>
                    <a:lstStyle/>
                    <a:p>
                      <a:r>
                        <a:rPr lang="zh-CN" altLang="en-US" sz="1800" dirty="0"/>
                        <a:t>把资金分配到预算</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t>-10%~25%</a:t>
                      </a:r>
                      <a:endParaRPr lang="zh-CN" altLang="en-US" sz="1800" dirty="0"/>
                    </a:p>
                  </a:txBody>
                  <a:tcPr/>
                </a:tc>
                <a:extLst>
                  <a:ext uri="{0D108BD9-81ED-4DB2-BD59-A6C34878D82A}">
                    <a16:rowId xmlns:a16="http://schemas.microsoft.com/office/drawing/2014/main" val="2658400057"/>
                  </a:ext>
                </a:extLst>
              </a:tr>
              <a:tr h="423099">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lang="zh-CN" altLang="en-US" sz="1800" dirty="0"/>
                        <a:t>确定性估计（</a:t>
                      </a:r>
                      <a:r>
                        <a:rPr kumimoji="1" lang="zh-CN" altLang="en-US" sz="1800" b="0" i="0" u="none" strike="noStrike" cap="none" normalizeH="0" baseline="0" dirty="0">
                          <a:ln>
                            <a:noFill/>
                          </a:ln>
                          <a:solidFill>
                            <a:schemeClr val="tx1"/>
                          </a:solidFill>
                          <a:effectLst/>
                          <a:latin typeface="Arial" panose="020B0604020202020204" pitchFamily="34" charset="0"/>
                          <a:ea typeface="+mn-ea"/>
                        </a:rPr>
                        <a:t>详细估算、自下而上估算）</a:t>
                      </a:r>
                      <a:endParaRPr kumimoji="1" lang="ja-JP"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tc>
                <a:tc>
                  <a:txBody>
                    <a:bodyPr/>
                    <a:lstStyle/>
                    <a:p>
                      <a:r>
                        <a:rPr lang="zh-CN" altLang="en-US" sz="1800" dirty="0"/>
                        <a:t>项目实施前或实施期间</a:t>
                      </a:r>
                    </a:p>
                  </a:txBody>
                  <a:tcPr/>
                </a:tc>
                <a:tc>
                  <a:txBody>
                    <a:bodyPr/>
                    <a:lstStyle/>
                    <a:p>
                      <a:r>
                        <a:rPr lang="zh-CN" altLang="en-US" sz="1800" dirty="0"/>
                        <a:t>为采购提供详细情，估计实际费用</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t>-5%~10%</a:t>
                      </a:r>
                      <a:endParaRPr lang="zh-CN" altLang="en-US" sz="1800" dirty="0"/>
                    </a:p>
                    <a:p>
                      <a:endParaRPr lang="zh-CN" altLang="en-US" sz="1800" dirty="0"/>
                    </a:p>
                  </a:txBody>
                  <a:tcPr/>
                </a:tc>
                <a:extLst>
                  <a:ext uri="{0D108BD9-81ED-4DB2-BD59-A6C34878D82A}">
                    <a16:rowId xmlns:a16="http://schemas.microsoft.com/office/drawing/2014/main" val="1654701320"/>
                  </a:ext>
                </a:extLst>
              </a:tr>
            </a:tbl>
          </a:graphicData>
        </a:graphic>
      </p:graphicFrame>
    </p:spTree>
    <p:extLst>
      <p:ext uri="{BB962C8B-B14F-4D97-AF65-F5344CB8AC3E}">
        <p14:creationId xmlns:p14="http://schemas.microsoft.com/office/powerpoint/2010/main" val="1750699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a:extLst>
              <a:ext uri="{FF2B5EF4-FFF2-40B4-BE49-F238E27FC236}">
                <a16:creationId xmlns:a16="http://schemas.microsoft.com/office/drawing/2014/main" id="{27A4F461-418D-4DC5-B0AD-21CC209D2585}"/>
              </a:ext>
            </a:extLst>
          </p:cNvPr>
          <p:cNvSpPr>
            <a:spLocks noGrp="1"/>
          </p:cNvSpPr>
          <p:nvPr>
            <p:ph type="title"/>
          </p:nvPr>
        </p:nvSpPr>
        <p:spPr>
          <a:xfrm>
            <a:off x="613885" y="967491"/>
            <a:ext cx="10972800" cy="437186"/>
          </a:xfrm>
        </p:spPr>
        <p:txBody>
          <a:bodyPr/>
          <a:lstStyle/>
          <a:p>
            <a:r>
              <a:rPr lang="zh-CN" altLang="en-US" dirty="0"/>
              <a:t>成本估算类型（项目不同阶段）</a:t>
            </a:r>
          </a:p>
        </p:txBody>
      </p:sp>
      <p:sp>
        <p:nvSpPr>
          <p:cNvPr id="19" name="五边形 18">
            <a:extLst>
              <a:ext uri="{FF2B5EF4-FFF2-40B4-BE49-F238E27FC236}">
                <a16:creationId xmlns:a16="http://schemas.microsoft.com/office/drawing/2014/main" id="{C0FEE2B7-CB85-4EC4-A75B-49DED09DE2CC}"/>
              </a:ext>
            </a:extLst>
          </p:cNvPr>
          <p:cNvSpPr/>
          <p:nvPr/>
        </p:nvSpPr>
        <p:spPr bwMode="auto">
          <a:xfrm>
            <a:off x="2100033" y="2090739"/>
            <a:ext cx="1857375" cy="500062"/>
          </a:xfrm>
          <a:prstGeom prst="homePlat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2000" b="1" dirty="0">
                <a:solidFill>
                  <a:schemeClr val="bg1"/>
                </a:solidFill>
                <a:latin typeface="微软雅黑" panose="020B0503020204020204" pitchFamily="34" charset="-122"/>
                <a:ea typeface="微软雅黑" panose="020B0503020204020204" pitchFamily="34" charset="-122"/>
              </a:rPr>
              <a:t>销售机会阶段</a:t>
            </a:r>
          </a:p>
        </p:txBody>
      </p:sp>
      <p:sp>
        <p:nvSpPr>
          <p:cNvPr id="20" name="五边形 19">
            <a:extLst>
              <a:ext uri="{FF2B5EF4-FFF2-40B4-BE49-F238E27FC236}">
                <a16:creationId xmlns:a16="http://schemas.microsoft.com/office/drawing/2014/main" id="{6C848E95-91F3-4081-86F6-1BB3A55BB72D}"/>
              </a:ext>
            </a:extLst>
          </p:cNvPr>
          <p:cNvSpPr/>
          <p:nvPr/>
        </p:nvSpPr>
        <p:spPr bwMode="auto">
          <a:xfrm>
            <a:off x="4171720" y="2090739"/>
            <a:ext cx="1857375" cy="500062"/>
          </a:xfrm>
          <a:prstGeom prst="homePlat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2000" b="1" dirty="0">
                <a:solidFill>
                  <a:schemeClr val="bg1"/>
                </a:solidFill>
                <a:latin typeface="微软雅黑" panose="020B0503020204020204" pitchFamily="34" charset="-122"/>
                <a:ea typeface="微软雅黑" panose="020B0503020204020204" pitchFamily="34" charset="-122"/>
              </a:rPr>
              <a:t>项目报价</a:t>
            </a:r>
          </a:p>
        </p:txBody>
      </p:sp>
      <p:sp>
        <p:nvSpPr>
          <p:cNvPr id="21" name="五边形 20">
            <a:extLst>
              <a:ext uri="{FF2B5EF4-FFF2-40B4-BE49-F238E27FC236}">
                <a16:creationId xmlns:a16="http://schemas.microsoft.com/office/drawing/2014/main" id="{75328799-A666-4922-B348-AD3455D0568F}"/>
              </a:ext>
            </a:extLst>
          </p:cNvPr>
          <p:cNvSpPr/>
          <p:nvPr/>
        </p:nvSpPr>
        <p:spPr bwMode="auto">
          <a:xfrm>
            <a:off x="6243408" y="2090739"/>
            <a:ext cx="1857375" cy="500062"/>
          </a:xfrm>
          <a:prstGeom prst="homePlat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2000" b="1" dirty="0">
                <a:solidFill>
                  <a:schemeClr val="bg1"/>
                </a:solidFill>
                <a:latin typeface="微软雅黑" panose="020B0503020204020204" pitchFamily="34" charset="-122"/>
                <a:ea typeface="微软雅黑" panose="020B0503020204020204" pitchFamily="34" charset="-122"/>
              </a:rPr>
              <a:t>项目预算</a:t>
            </a:r>
          </a:p>
        </p:txBody>
      </p:sp>
      <p:sp>
        <p:nvSpPr>
          <p:cNvPr id="22" name="五边形 21">
            <a:extLst>
              <a:ext uri="{FF2B5EF4-FFF2-40B4-BE49-F238E27FC236}">
                <a16:creationId xmlns:a16="http://schemas.microsoft.com/office/drawing/2014/main" id="{65D7A24A-D7EA-435C-82F2-5DECDFDABB33}"/>
              </a:ext>
            </a:extLst>
          </p:cNvPr>
          <p:cNvSpPr/>
          <p:nvPr/>
        </p:nvSpPr>
        <p:spPr bwMode="auto">
          <a:xfrm>
            <a:off x="8315095" y="2090739"/>
            <a:ext cx="1857375" cy="500062"/>
          </a:xfrm>
          <a:prstGeom prst="homePlat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2000" b="1" dirty="0">
                <a:solidFill>
                  <a:schemeClr val="bg1"/>
                </a:solidFill>
                <a:latin typeface="微软雅黑" panose="020B0503020204020204" pitchFamily="34" charset="-122"/>
                <a:ea typeface="微软雅黑" panose="020B0503020204020204" pitchFamily="34" charset="-122"/>
              </a:rPr>
              <a:t>详细项目计划</a:t>
            </a:r>
          </a:p>
        </p:txBody>
      </p:sp>
      <p:sp>
        <p:nvSpPr>
          <p:cNvPr id="23" name="TextBox 22">
            <a:extLst>
              <a:ext uri="{FF2B5EF4-FFF2-40B4-BE49-F238E27FC236}">
                <a16:creationId xmlns:a16="http://schemas.microsoft.com/office/drawing/2014/main" id="{43AF2136-B343-4F38-9B96-6ECEF6CA57A2}"/>
              </a:ext>
            </a:extLst>
          </p:cNvPr>
          <p:cNvSpPr txBox="1"/>
          <p:nvPr/>
        </p:nvSpPr>
        <p:spPr>
          <a:xfrm>
            <a:off x="2087932" y="2995137"/>
            <a:ext cx="2203244" cy="1508105"/>
          </a:xfrm>
          <a:prstGeom prst="rect">
            <a:avLst/>
          </a:prstGeom>
          <a:noFill/>
        </p:spPr>
        <p:txBody>
          <a:bodyPr wrap="square">
            <a:spAutoFit/>
          </a:bodyPr>
          <a:lstStyle/>
          <a:p>
            <a:pPr>
              <a:defRPr/>
            </a:pPr>
            <a:r>
              <a:rPr lang="zh-CN" altLang="en-US" sz="2000" b="1" dirty="0">
                <a:solidFill>
                  <a:srgbClr val="0070C0"/>
                </a:solidFill>
                <a:latin typeface="微软雅黑" panose="020B0503020204020204" pitchFamily="34" charset="-122"/>
                <a:ea typeface="微软雅黑" panose="020B0503020204020204" pitchFamily="34" charset="-122"/>
              </a:rPr>
              <a:t>量级估算</a:t>
            </a:r>
            <a:endParaRPr lang="en-US" altLang="zh-CN" sz="2000" b="1" dirty="0">
              <a:solidFill>
                <a:srgbClr val="0070C0"/>
              </a:solidFill>
              <a:latin typeface="微软雅黑" panose="020B0503020204020204" pitchFamily="34" charset="-122"/>
              <a:ea typeface="微软雅黑" panose="020B0503020204020204" pitchFamily="34" charset="-122"/>
            </a:endParaRPr>
          </a:p>
          <a:p>
            <a:pPr>
              <a:defRPr/>
            </a:pPr>
            <a:r>
              <a:rPr lang="zh-CN" altLang="en-US" dirty="0">
                <a:latin typeface="微软雅黑" panose="020B0503020204020204" pitchFamily="34" charset="-122"/>
                <a:ea typeface="微软雅黑" panose="020B0503020204020204" pitchFamily="34" charset="-122"/>
              </a:rPr>
              <a:t>客户初步范围</a:t>
            </a:r>
            <a:endParaRPr lang="en-US" altLang="zh-CN" dirty="0">
              <a:latin typeface="微软雅黑" panose="020B0503020204020204" pitchFamily="34" charset="-122"/>
              <a:ea typeface="微软雅黑" panose="020B0503020204020204" pitchFamily="34" charset="-122"/>
            </a:endParaRPr>
          </a:p>
          <a:p>
            <a:pPr>
              <a:defRPr/>
            </a:pPr>
            <a:r>
              <a:rPr lang="zh-CN" altLang="en-US" dirty="0">
                <a:latin typeface="微软雅黑" panose="020B0503020204020204" pitchFamily="34" charset="-122"/>
                <a:ea typeface="微软雅黑" panose="020B0503020204020204" pitchFamily="34" charset="-122"/>
              </a:rPr>
              <a:t>客户方大立项</a:t>
            </a:r>
            <a:endParaRPr lang="en-US" altLang="zh-CN" dirty="0">
              <a:latin typeface="微软雅黑" panose="020B0503020204020204" pitchFamily="34" charset="-122"/>
              <a:ea typeface="微软雅黑" panose="020B0503020204020204" pitchFamily="34" charset="-122"/>
            </a:endParaRPr>
          </a:p>
          <a:p>
            <a:pPr>
              <a:defRPr/>
            </a:pPr>
            <a:r>
              <a:rPr lang="zh-CN" altLang="en-US" dirty="0">
                <a:latin typeface="微软雅黑" panose="020B0503020204020204" pitchFamily="34" charset="-122"/>
                <a:ea typeface="微软雅黑" panose="020B0503020204020204" pitchFamily="34" charset="-122"/>
              </a:rPr>
              <a:t>不细到工作项</a:t>
            </a:r>
            <a:endParaRPr lang="en-US" altLang="zh-CN" dirty="0">
              <a:latin typeface="微软雅黑" panose="020B0503020204020204" pitchFamily="34" charset="-122"/>
              <a:ea typeface="微软雅黑" panose="020B0503020204020204" pitchFamily="34" charset="-122"/>
            </a:endParaRPr>
          </a:p>
          <a:p>
            <a:pPr>
              <a:defRPr/>
            </a:pPr>
            <a:r>
              <a:rPr lang="en-US" altLang="zh-CN" dirty="0">
                <a:latin typeface="微软雅黑" panose="020B0503020204020204" pitchFamily="34" charset="-122"/>
                <a:ea typeface="微软雅黑" panose="020B0503020204020204" pitchFamily="34" charset="-122"/>
              </a:rPr>
              <a:t>-50%</a:t>
            </a:r>
            <a:r>
              <a:rPr lang="zh-CN" altLang="en-US" dirty="0">
                <a:latin typeface="微软雅黑" panose="020B0503020204020204" pitchFamily="34" charset="-122"/>
                <a:ea typeface="微软雅黑" panose="020B0503020204020204" pitchFamily="34" charset="-122"/>
              </a:rPr>
              <a:t>到</a:t>
            </a:r>
            <a:r>
              <a:rPr lang="en-US" altLang="zh-CN" dirty="0">
                <a:latin typeface="微软雅黑" panose="020B0503020204020204" pitchFamily="34" charset="-122"/>
                <a:ea typeface="微软雅黑" panose="020B0503020204020204" pitchFamily="34" charset="-122"/>
              </a:rPr>
              <a:t>+100%</a:t>
            </a:r>
            <a:endParaRPr lang="zh-CN" altLang="en-US" dirty="0">
              <a:latin typeface="微软雅黑" panose="020B0503020204020204" pitchFamily="34" charset="-122"/>
              <a:ea typeface="微软雅黑" panose="020B0503020204020204" pitchFamily="34" charset="-122"/>
            </a:endParaRPr>
          </a:p>
        </p:txBody>
      </p:sp>
      <p:sp>
        <p:nvSpPr>
          <p:cNvPr id="24" name="TextBox 23">
            <a:extLst>
              <a:ext uri="{FF2B5EF4-FFF2-40B4-BE49-F238E27FC236}">
                <a16:creationId xmlns:a16="http://schemas.microsoft.com/office/drawing/2014/main" id="{E85392CD-9B20-4464-BE75-CA0651F6FC19}"/>
              </a:ext>
            </a:extLst>
          </p:cNvPr>
          <p:cNvSpPr txBox="1"/>
          <p:nvPr/>
        </p:nvSpPr>
        <p:spPr>
          <a:xfrm>
            <a:off x="4137028" y="3019427"/>
            <a:ext cx="1895071" cy="1508105"/>
          </a:xfrm>
          <a:prstGeom prst="rect">
            <a:avLst/>
          </a:prstGeom>
          <a:noFill/>
        </p:spPr>
        <p:txBody>
          <a:bodyPr wrap="none">
            <a:spAutoFit/>
          </a:bodyPr>
          <a:lstStyle/>
          <a:p>
            <a:pPr>
              <a:defRPr/>
            </a:pPr>
            <a:r>
              <a:rPr lang="zh-CN" altLang="en-US" sz="2000" b="1" dirty="0">
                <a:solidFill>
                  <a:srgbClr val="0070C0"/>
                </a:solidFill>
                <a:latin typeface="微软雅黑" panose="020B0503020204020204" pitchFamily="34" charset="-122"/>
                <a:ea typeface="微软雅黑" panose="020B0503020204020204" pitchFamily="34" charset="-122"/>
              </a:rPr>
              <a:t>量级估算</a:t>
            </a:r>
            <a:endParaRPr lang="en-US" altLang="zh-CN" sz="2000" b="1" dirty="0">
              <a:solidFill>
                <a:srgbClr val="0070C0"/>
              </a:solidFill>
              <a:latin typeface="微软雅黑" panose="020B0503020204020204" pitchFamily="34" charset="-122"/>
              <a:ea typeface="微软雅黑" panose="020B0503020204020204" pitchFamily="34" charset="-122"/>
            </a:endParaRPr>
          </a:p>
          <a:p>
            <a:pPr>
              <a:defRPr/>
            </a:pPr>
            <a:r>
              <a:rPr lang="zh-CN" altLang="en-US" dirty="0">
                <a:latin typeface="微软雅黑" panose="020B0503020204020204" pitchFamily="34" charset="-122"/>
                <a:ea typeface="微软雅黑" panose="020B0503020204020204" pitchFamily="34" charset="-122"/>
              </a:rPr>
              <a:t>客户有</a:t>
            </a:r>
            <a:r>
              <a:rPr lang="en-US" altLang="zh-CN" dirty="0">
                <a:latin typeface="微软雅黑" panose="020B0503020204020204" pitchFamily="34" charset="-122"/>
                <a:ea typeface="微软雅黑" panose="020B0503020204020204" pitchFamily="34" charset="-122"/>
              </a:rPr>
              <a:t>SOW</a:t>
            </a:r>
            <a:r>
              <a:rPr lang="zh-CN" altLang="en-US" dirty="0">
                <a:latin typeface="微软雅黑" panose="020B0503020204020204" pitchFamily="34" charset="-122"/>
                <a:ea typeface="微软雅黑" panose="020B0503020204020204" pitchFamily="34" charset="-122"/>
              </a:rPr>
              <a:t>出来</a:t>
            </a:r>
            <a:endParaRPr lang="en-US" altLang="zh-CN" dirty="0">
              <a:latin typeface="微软雅黑" panose="020B0503020204020204" pitchFamily="34" charset="-122"/>
              <a:ea typeface="微软雅黑" panose="020B0503020204020204" pitchFamily="34" charset="-122"/>
            </a:endParaRPr>
          </a:p>
          <a:p>
            <a:pPr>
              <a:defRPr/>
            </a:pPr>
            <a:r>
              <a:rPr lang="zh-CN" altLang="en-US" dirty="0">
                <a:latin typeface="微软雅黑" panose="020B0503020204020204" pitchFamily="34" charset="-122"/>
                <a:ea typeface="微软雅黑" panose="020B0503020204020204" pitchFamily="34" charset="-122"/>
              </a:rPr>
              <a:t>业务报价</a:t>
            </a:r>
            <a:endParaRPr lang="en-US" altLang="zh-CN" dirty="0">
              <a:latin typeface="微软雅黑" panose="020B0503020204020204" pitchFamily="34" charset="-122"/>
              <a:ea typeface="微软雅黑" panose="020B0503020204020204" pitchFamily="34" charset="-122"/>
            </a:endParaRPr>
          </a:p>
          <a:p>
            <a:pPr>
              <a:defRPr/>
            </a:pPr>
            <a:r>
              <a:rPr lang="zh-CN" altLang="en-US" dirty="0">
                <a:latin typeface="微软雅黑" panose="020B0503020204020204" pitchFamily="34" charset="-122"/>
                <a:ea typeface="微软雅黑" panose="020B0503020204020204" pitchFamily="34" charset="-122"/>
              </a:rPr>
              <a:t>要到工作包</a:t>
            </a:r>
            <a:endParaRPr lang="en-US" altLang="zh-CN" dirty="0">
              <a:latin typeface="微软雅黑" panose="020B0503020204020204" pitchFamily="34" charset="-122"/>
              <a:ea typeface="微软雅黑" panose="020B0503020204020204" pitchFamily="34" charset="-122"/>
            </a:endParaRPr>
          </a:p>
          <a:p>
            <a:pPr>
              <a:defRPr/>
            </a:pPr>
            <a:r>
              <a:rPr lang="en-US" altLang="zh-CN" dirty="0">
                <a:latin typeface="微软雅黑" panose="020B0503020204020204" pitchFamily="34" charset="-122"/>
                <a:ea typeface="微软雅黑" panose="020B0503020204020204" pitchFamily="34" charset="-122"/>
              </a:rPr>
              <a:t>-25%</a:t>
            </a:r>
            <a:r>
              <a:rPr lang="zh-CN" altLang="en-US" dirty="0">
                <a:latin typeface="微软雅黑" panose="020B0503020204020204" pitchFamily="34" charset="-122"/>
                <a:ea typeface="微软雅黑" panose="020B0503020204020204" pitchFamily="34" charset="-122"/>
              </a:rPr>
              <a:t>到</a:t>
            </a:r>
            <a:r>
              <a:rPr lang="en-US" altLang="zh-CN" dirty="0">
                <a:latin typeface="微软雅黑" panose="020B0503020204020204" pitchFamily="34" charset="-122"/>
                <a:ea typeface="微软雅黑" panose="020B0503020204020204" pitchFamily="34" charset="-122"/>
              </a:rPr>
              <a:t>+75%</a:t>
            </a:r>
            <a:endParaRPr lang="zh-CN" altLang="en-US" dirty="0">
              <a:latin typeface="微软雅黑" panose="020B0503020204020204" pitchFamily="34" charset="-122"/>
              <a:ea typeface="微软雅黑" panose="020B0503020204020204" pitchFamily="34" charset="-122"/>
            </a:endParaRPr>
          </a:p>
        </p:txBody>
      </p:sp>
      <p:sp>
        <p:nvSpPr>
          <p:cNvPr id="25" name="TextBox 24">
            <a:extLst>
              <a:ext uri="{FF2B5EF4-FFF2-40B4-BE49-F238E27FC236}">
                <a16:creationId xmlns:a16="http://schemas.microsoft.com/office/drawing/2014/main" id="{4579C0D7-F574-4190-81C5-B3D625D77B73}"/>
              </a:ext>
            </a:extLst>
          </p:cNvPr>
          <p:cNvSpPr txBox="1"/>
          <p:nvPr/>
        </p:nvSpPr>
        <p:spPr>
          <a:xfrm>
            <a:off x="6323694" y="3019427"/>
            <a:ext cx="1635384" cy="1508105"/>
          </a:xfrm>
          <a:prstGeom prst="rect">
            <a:avLst/>
          </a:prstGeom>
          <a:noFill/>
        </p:spPr>
        <p:txBody>
          <a:bodyPr wrap="none">
            <a:spAutoFit/>
          </a:bodyPr>
          <a:lstStyle/>
          <a:p>
            <a:pPr>
              <a:defRPr/>
            </a:pPr>
            <a:r>
              <a:rPr lang="zh-CN" altLang="en-US" sz="2000" b="1" dirty="0">
                <a:solidFill>
                  <a:srgbClr val="0070C0"/>
                </a:solidFill>
                <a:latin typeface="微软雅黑" panose="020B0503020204020204" pitchFamily="34" charset="-122"/>
                <a:ea typeface="微软雅黑" panose="020B0503020204020204" pitchFamily="34" charset="-122"/>
              </a:rPr>
              <a:t>预算级估算</a:t>
            </a:r>
            <a:endParaRPr lang="en-US" altLang="zh-CN" sz="2000" b="1" dirty="0">
              <a:solidFill>
                <a:srgbClr val="0070C0"/>
              </a:solidFill>
              <a:latin typeface="微软雅黑" panose="020B0503020204020204" pitchFamily="34" charset="-122"/>
              <a:ea typeface="微软雅黑" panose="020B0503020204020204" pitchFamily="34" charset="-122"/>
            </a:endParaRPr>
          </a:p>
          <a:p>
            <a:pPr>
              <a:defRPr/>
            </a:pPr>
            <a:r>
              <a:rPr lang="zh-CN" altLang="en-US" dirty="0">
                <a:latin typeface="微软雅黑" panose="020B0503020204020204" pitchFamily="34" charset="-122"/>
                <a:ea typeface="微软雅黑" panose="020B0503020204020204" pitchFamily="34" charset="-122"/>
              </a:rPr>
              <a:t>内部预算申请</a:t>
            </a:r>
            <a:endParaRPr lang="en-US" altLang="zh-CN" dirty="0">
              <a:latin typeface="微软雅黑" panose="020B0503020204020204" pitchFamily="34" charset="-122"/>
              <a:ea typeface="微软雅黑" panose="020B0503020204020204" pitchFamily="34" charset="-122"/>
            </a:endParaRPr>
          </a:p>
          <a:p>
            <a:pPr>
              <a:defRPr/>
            </a:pPr>
            <a:r>
              <a:rPr lang="zh-CN" altLang="en-US" dirty="0">
                <a:latin typeface="微软雅黑" panose="020B0503020204020204" pitchFamily="34" charset="-122"/>
                <a:ea typeface="微软雅黑" panose="020B0503020204020204" pitchFamily="34" charset="-122"/>
              </a:rPr>
              <a:t>要到工作包</a:t>
            </a:r>
            <a:endParaRPr lang="en-US" altLang="zh-CN" dirty="0">
              <a:latin typeface="微软雅黑" panose="020B0503020204020204" pitchFamily="34" charset="-122"/>
              <a:ea typeface="微软雅黑" panose="020B0503020204020204" pitchFamily="34" charset="-122"/>
            </a:endParaRPr>
          </a:p>
          <a:p>
            <a:pPr>
              <a:defRPr/>
            </a:pPr>
            <a:r>
              <a:rPr lang="zh-CN" altLang="en-US" dirty="0">
                <a:latin typeface="微软雅黑" panose="020B0503020204020204" pitchFamily="34" charset="-122"/>
                <a:ea typeface="微软雅黑" panose="020B0503020204020204" pitchFamily="34" charset="-122"/>
              </a:rPr>
              <a:t>自上而下</a:t>
            </a:r>
            <a:endParaRPr lang="en-US" altLang="zh-CN" dirty="0">
              <a:latin typeface="微软雅黑" panose="020B0503020204020204" pitchFamily="34" charset="-122"/>
              <a:ea typeface="微软雅黑" panose="020B0503020204020204" pitchFamily="34" charset="-122"/>
            </a:endParaRPr>
          </a:p>
          <a:p>
            <a:pPr>
              <a:defRPr/>
            </a:pPr>
            <a:r>
              <a:rPr lang="en-US" altLang="zh-CN" dirty="0">
                <a:latin typeface="微软雅黑" panose="020B0503020204020204" pitchFamily="34" charset="-122"/>
                <a:ea typeface="微软雅黑" panose="020B0503020204020204" pitchFamily="34" charset="-122"/>
              </a:rPr>
              <a:t>-10%</a:t>
            </a:r>
            <a:r>
              <a:rPr lang="zh-CN" altLang="en-US" dirty="0">
                <a:latin typeface="微软雅黑" panose="020B0503020204020204" pitchFamily="34" charset="-122"/>
                <a:ea typeface="微软雅黑" panose="020B0503020204020204" pitchFamily="34" charset="-122"/>
              </a:rPr>
              <a:t>到</a:t>
            </a:r>
            <a:r>
              <a:rPr lang="en-US" altLang="zh-CN" dirty="0">
                <a:latin typeface="微软雅黑" panose="020B0503020204020204" pitchFamily="34" charset="-122"/>
                <a:ea typeface="微软雅黑" panose="020B0503020204020204" pitchFamily="34" charset="-122"/>
              </a:rPr>
              <a:t>+25%</a:t>
            </a:r>
            <a:endParaRPr lang="zh-CN" altLang="en-US" dirty="0">
              <a:latin typeface="微软雅黑" panose="020B0503020204020204" pitchFamily="34" charset="-122"/>
              <a:ea typeface="微软雅黑" panose="020B0503020204020204" pitchFamily="34" charset="-122"/>
            </a:endParaRPr>
          </a:p>
        </p:txBody>
      </p:sp>
      <p:sp>
        <p:nvSpPr>
          <p:cNvPr id="26" name="TextBox 25">
            <a:extLst>
              <a:ext uri="{FF2B5EF4-FFF2-40B4-BE49-F238E27FC236}">
                <a16:creationId xmlns:a16="http://schemas.microsoft.com/office/drawing/2014/main" id="{E04663FD-9EFF-41B8-A960-621D18FE8751}"/>
              </a:ext>
            </a:extLst>
          </p:cNvPr>
          <p:cNvSpPr txBox="1"/>
          <p:nvPr/>
        </p:nvSpPr>
        <p:spPr>
          <a:xfrm>
            <a:off x="8453439" y="3019427"/>
            <a:ext cx="1800493" cy="1508105"/>
          </a:xfrm>
          <a:prstGeom prst="rect">
            <a:avLst/>
          </a:prstGeom>
          <a:noFill/>
        </p:spPr>
        <p:txBody>
          <a:bodyPr wrap="none">
            <a:spAutoFit/>
          </a:bodyPr>
          <a:lstStyle/>
          <a:p>
            <a:pPr>
              <a:defRPr/>
            </a:pPr>
            <a:r>
              <a:rPr lang="zh-CN" altLang="en-US" sz="2000" b="1" dirty="0">
                <a:solidFill>
                  <a:srgbClr val="0070C0"/>
                </a:solidFill>
                <a:latin typeface="微软雅黑" panose="020B0503020204020204" pitchFamily="34" charset="-122"/>
                <a:ea typeface="微软雅黑" panose="020B0503020204020204" pitchFamily="34" charset="-122"/>
              </a:rPr>
              <a:t>确定性估算</a:t>
            </a:r>
            <a:endParaRPr lang="en-US" altLang="zh-CN" sz="2000" b="1" dirty="0">
              <a:solidFill>
                <a:srgbClr val="0070C0"/>
              </a:solidFill>
              <a:latin typeface="微软雅黑" panose="020B0503020204020204" pitchFamily="34" charset="-122"/>
              <a:ea typeface="微软雅黑" panose="020B0503020204020204" pitchFamily="34" charset="-122"/>
            </a:endParaRPr>
          </a:p>
          <a:p>
            <a:pPr>
              <a:defRPr/>
            </a:pPr>
            <a:r>
              <a:rPr lang="zh-CN" altLang="en-US" dirty="0">
                <a:latin typeface="微软雅黑" panose="020B0503020204020204" pitchFamily="34" charset="-122"/>
                <a:ea typeface="微软雅黑" panose="020B0503020204020204" pitchFamily="34" charset="-122"/>
              </a:rPr>
              <a:t>活动任务级估算</a:t>
            </a:r>
            <a:endParaRPr lang="en-US" altLang="zh-CN" dirty="0">
              <a:latin typeface="微软雅黑" panose="020B0503020204020204" pitchFamily="34" charset="-122"/>
              <a:ea typeface="微软雅黑" panose="020B0503020204020204" pitchFamily="34" charset="-122"/>
            </a:endParaRPr>
          </a:p>
          <a:p>
            <a:pPr>
              <a:defRPr/>
            </a:pPr>
            <a:r>
              <a:rPr lang="zh-CN" altLang="en-US" dirty="0">
                <a:latin typeface="微软雅黑" panose="020B0503020204020204" pitchFamily="34" charset="-122"/>
                <a:ea typeface="微软雅黑" panose="020B0503020204020204" pitchFamily="34" charset="-122"/>
              </a:rPr>
              <a:t>要到活动任务</a:t>
            </a:r>
            <a:endParaRPr lang="en-US" altLang="zh-CN" dirty="0">
              <a:latin typeface="微软雅黑" panose="020B0503020204020204" pitchFamily="34" charset="-122"/>
              <a:ea typeface="微软雅黑" panose="020B0503020204020204" pitchFamily="34" charset="-122"/>
            </a:endParaRPr>
          </a:p>
          <a:p>
            <a:pPr>
              <a:defRPr/>
            </a:pPr>
            <a:r>
              <a:rPr lang="zh-CN" altLang="en-US" dirty="0">
                <a:latin typeface="微软雅黑" panose="020B0503020204020204" pitchFamily="34" charset="-122"/>
                <a:ea typeface="微软雅黑" panose="020B0503020204020204" pitchFamily="34" charset="-122"/>
              </a:rPr>
              <a:t>成本基准</a:t>
            </a:r>
            <a:endParaRPr lang="en-US" altLang="zh-CN" dirty="0">
              <a:latin typeface="微软雅黑" panose="020B0503020204020204" pitchFamily="34" charset="-122"/>
              <a:ea typeface="微软雅黑" panose="020B0503020204020204" pitchFamily="34" charset="-122"/>
            </a:endParaRPr>
          </a:p>
          <a:p>
            <a:pPr>
              <a:defRPr/>
            </a:pPr>
            <a:r>
              <a:rPr lang="en-US" altLang="zh-CN" dirty="0">
                <a:latin typeface="微软雅黑" panose="020B0503020204020204" pitchFamily="34" charset="-122"/>
                <a:ea typeface="微软雅黑" panose="020B0503020204020204" pitchFamily="34" charset="-122"/>
              </a:rPr>
              <a:t>-5%</a:t>
            </a:r>
            <a:r>
              <a:rPr lang="zh-CN" altLang="en-US" dirty="0">
                <a:latin typeface="微软雅黑" panose="020B0503020204020204" pitchFamily="34" charset="-122"/>
                <a:ea typeface="微软雅黑" panose="020B0503020204020204" pitchFamily="34" charset="-122"/>
              </a:rPr>
              <a:t>到</a:t>
            </a:r>
            <a:r>
              <a:rPr lang="en-US" altLang="zh-CN" dirty="0">
                <a:latin typeface="微软雅黑" panose="020B0503020204020204" pitchFamily="34" charset="-122"/>
                <a:ea typeface="微软雅黑" panose="020B0503020204020204" pitchFamily="34" charset="-122"/>
              </a:rPr>
              <a:t>+10%</a:t>
            </a:r>
            <a:endParaRPr lang="zh-CN" altLang="en-US" dirty="0">
              <a:latin typeface="微软雅黑" panose="020B0503020204020204" pitchFamily="34" charset="-122"/>
              <a:ea typeface="微软雅黑" panose="020B0503020204020204" pitchFamily="34" charset="-122"/>
            </a:endParaRPr>
          </a:p>
        </p:txBody>
      </p:sp>
      <p:sp>
        <p:nvSpPr>
          <p:cNvPr id="11" name="TextBox 10">
            <a:extLst>
              <a:ext uri="{FF2B5EF4-FFF2-40B4-BE49-F238E27FC236}">
                <a16:creationId xmlns:a16="http://schemas.microsoft.com/office/drawing/2014/main" id="{A94C4281-422C-49D2-AA94-262ED6BD8E92}"/>
              </a:ext>
            </a:extLst>
          </p:cNvPr>
          <p:cNvSpPr txBox="1"/>
          <p:nvPr/>
        </p:nvSpPr>
        <p:spPr>
          <a:xfrm>
            <a:off x="4076857" y="4925381"/>
            <a:ext cx="4038285" cy="369332"/>
          </a:xfrm>
          <a:prstGeom prst="rect">
            <a:avLst/>
          </a:prstGeom>
          <a:noFill/>
        </p:spPr>
        <p:txBody>
          <a:bodyPr wrap="none">
            <a:spAutoFit/>
          </a:bodyPr>
          <a:lstStyle/>
          <a:p>
            <a:pPr>
              <a:defRPr/>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SOW</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statement of work </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工作说明书）</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a:extLst>
              <a:ext uri="{FF2B5EF4-FFF2-40B4-BE49-F238E27FC236}">
                <a16:creationId xmlns:a16="http://schemas.microsoft.com/office/drawing/2014/main" id="{6D2BDB05-00CB-4505-89CF-50670C7C90AF}"/>
              </a:ext>
            </a:extLst>
          </p:cNvPr>
          <p:cNvSpPr>
            <a:spLocks noGrp="1"/>
          </p:cNvSpPr>
          <p:nvPr>
            <p:ph type="title"/>
          </p:nvPr>
        </p:nvSpPr>
        <p:spPr/>
        <p:txBody>
          <a:bodyPr/>
          <a:lstStyle/>
          <a:p>
            <a:r>
              <a:rPr lang="zh-CN" altLang="en-US" dirty="0"/>
              <a:t>资源预算到成本估算</a:t>
            </a:r>
          </a:p>
        </p:txBody>
      </p:sp>
      <p:pic>
        <p:nvPicPr>
          <p:cNvPr id="76802" name="Picture 2">
            <a:extLst>
              <a:ext uri="{FF2B5EF4-FFF2-40B4-BE49-F238E27FC236}">
                <a16:creationId xmlns:a16="http://schemas.microsoft.com/office/drawing/2014/main" id="{DF262732-230B-4550-9AEF-7362BADAB1B7}"/>
              </a:ext>
            </a:extLst>
          </p:cNvPr>
          <p:cNvPicPr>
            <a:picLocks noChangeAspect="1" noChangeArrowheads="1"/>
          </p:cNvPicPr>
          <p:nvPr/>
        </p:nvPicPr>
        <p:blipFill>
          <a:blip r:embed="rId3"/>
          <a:srcRect/>
          <a:stretch>
            <a:fillRect/>
          </a:stretch>
        </p:blipFill>
        <p:spPr bwMode="auto">
          <a:xfrm>
            <a:off x="1986079" y="1308178"/>
            <a:ext cx="4614863" cy="2233613"/>
          </a:xfrm>
          <a:prstGeom prst="rect">
            <a:avLst/>
          </a:prstGeom>
          <a:ln>
            <a:headEnd/>
            <a:tailEnd/>
          </a:ln>
        </p:spPr>
        <p:style>
          <a:lnRef idx="2">
            <a:schemeClr val="accent3"/>
          </a:lnRef>
          <a:fillRef idx="1">
            <a:schemeClr val="lt1"/>
          </a:fillRef>
          <a:effectRef idx="0">
            <a:schemeClr val="accent3"/>
          </a:effectRef>
          <a:fontRef idx="minor">
            <a:schemeClr val="dk1"/>
          </a:fontRef>
        </p:style>
      </p:pic>
      <p:pic>
        <p:nvPicPr>
          <p:cNvPr id="76803" name="Picture 3">
            <a:extLst>
              <a:ext uri="{FF2B5EF4-FFF2-40B4-BE49-F238E27FC236}">
                <a16:creationId xmlns:a16="http://schemas.microsoft.com/office/drawing/2014/main" id="{F6B0E856-2140-4C93-9F4A-58C3A0CC5A87}"/>
              </a:ext>
            </a:extLst>
          </p:cNvPr>
          <p:cNvPicPr>
            <a:picLocks noChangeAspect="1" noChangeArrowheads="1"/>
          </p:cNvPicPr>
          <p:nvPr/>
        </p:nvPicPr>
        <p:blipFill>
          <a:blip r:embed="rId4"/>
          <a:srcRect/>
          <a:stretch>
            <a:fillRect/>
          </a:stretch>
        </p:blipFill>
        <p:spPr bwMode="auto">
          <a:xfrm>
            <a:off x="5226206" y="4044289"/>
            <a:ext cx="4987809" cy="2454433"/>
          </a:xfrm>
          <a:prstGeom prst="rect">
            <a:avLst/>
          </a:prstGeom>
          <a:ln>
            <a:headEnd/>
            <a:tailEnd/>
          </a:ln>
        </p:spPr>
        <p:style>
          <a:lnRef idx="2">
            <a:schemeClr val="accent3"/>
          </a:lnRef>
          <a:fillRef idx="1">
            <a:schemeClr val="lt1"/>
          </a:fillRef>
          <a:effectRef idx="0">
            <a:schemeClr val="accent3"/>
          </a:effectRef>
          <a:fontRef idx="minor">
            <a:schemeClr val="dk1"/>
          </a:fontRef>
        </p:style>
      </p:pic>
      <p:sp>
        <p:nvSpPr>
          <p:cNvPr id="6" name="右箭头 5">
            <a:extLst>
              <a:ext uri="{FF2B5EF4-FFF2-40B4-BE49-F238E27FC236}">
                <a16:creationId xmlns:a16="http://schemas.microsoft.com/office/drawing/2014/main" id="{0D7959DB-C2A3-45B9-99AF-E05ABFAEF200}"/>
              </a:ext>
            </a:extLst>
          </p:cNvPr>
          <p:cNvSpPr/>
          <p:nvPr/>
        </p:nvSpPr>
        <p:spPr bwMode="auto">
          <a:xfrm rot="2233793">
            <a:off x="4921833" y="3635300"/>
            <a:ext cx="546473" cy="320644"/>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400" dirty="0">
              <a:solidFill>
                <a:srgbClr val="FFFFCC"/>
              </a:solidFill>
              <a:latin typeface="+mj-ea"/>
              <a:ea typeface="+mj-ea"/>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482" name="标题 1">
            <a:extLst>
              <a:ext uri="{FF2B5EF4-FFF2-40B4-BE49-F238E27FC236}">
                <a16:creationId xmlns:a16="http://schemas.microsoft.com/office/drawing/2014/main" id="{0FD4D313-14DA-4218-9BE3-5A4F6778FC09}"/>
              </a:ext>
            </a:extLst>
          </p:cNvPr>
          <p:cNvSpPr>
            <a:spLocks noGrp="1"/>
          </p:cNvSpPr>
          <p:nvPr>
            <p:ph type="title"/>
          </p:nvPr>
        </p:nvSpPr>
        <p:spPr/>
        <p:txBody>
          <a:bodyPr/>
          <a:lstStyle/>
          <a:p>
            <a:r>
              <a:rPr lang="zh-CN" altLang="en-US" dirty="0"/>
              <a:t>成本估算的工具和技术</a:t>
            </a:r>
          </a:p>
        </p:txBody>
      </p:sp>
      <p:sp>
        <p:nvSpPr>
          <p:cNvPr id="12" name="五边形 11">
            <a:extLst>
              <a:ext uri="{FF2B5EF4-FFF2-40B4-BE49-F238E27FC236}">
                <a16:creationId xmlns:a16="http://schemas.microsoft.com/office/drawing/2014/main" id="{D2C6C0D9-E374-42D5-881A-A6480DFDE68B}"/>
              </a:ext>
            </a:extLst>
          </p:cNvPr>
          <p:cNvSpPr/>
          <p:nvPr/>
        </p:nvSpPr>
        <p:spPr bwMode="auto">
          <a:xfrm>
            <a:off x="1163186" y="1857376"/>
            <a:ext cx="714375" cy="1857375"/>
          </a:xfrm>
          <a:prstGeom prst="homePlate">
            <a:avLst>
              <a:gd name="adj" fmla="val 36627"/>
            </a:avLst>
          </a:prstGeom>
          <a:solidFill>
            <a:schemeClr val="accent2">
              <a:lumMod val="75000"/>
            </a:schemeClr>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dirty="0">
                <a:solidFill>
                  <a:srgbClr val="FFFFCC"/>
                </a:solidFill>
                <a:latin typeface="微软雅黑" panose="020B0503020204020204" pitchFamily="34" charset="-122"/>
                <a:ea typeface="微软雅黑" panose="020B0503020204020204" pitchFamily="34" charset="-122"/>
              </a:rPr>
              <a:t>类</a:t>
            </a:r>
            <a:endParaRPr lang="en-US" altLang="zh-CN" dirty="0">
              <a:solidFill>
                <a:srgbClr val="FFFFCC"/>
              </a:solidFill>
              <a:latin typeface="微软雅黑" panose="020B0503020204020204" pitchFamily="34" charset="-122"/>
              <a:ea typeface="微软雅黑" panose="020B0503020204020204" pitchFamily="34" charset="-122"/>
            </a:endParaRPr>
          </a:p>
          <a:p>
            <a:pPr algn="ctr">
              <a:defRPr/>
            </a:pPr>
            <a:r>
              <a:rPr lang="zh-CN" altLang="en-US" dirty="0">
                <a:solidFill>
                  <a:srgbClr val="FFFFCC"/>
                </a:solidFill>
                <a:latin typeface="微软雅黑" panose="020B0503020204020204" pitchFamily="34" charset="-122"/>
                <a:ea typeface="微软雅黑" panose="020B0503020204020204" pitchFamily="34" charset="-122"/>
              </a:rPr>
              <a:t>比</a:t>
            </a:r>
            <a:endParaRPr lang="en-US" altLang="zh-CN" dirty="0">
              <a:solidFill>
                <a:srgbClr val="FFFFCC"/>
              </a:solidFill>
              <a:latin typeface="微软雅黑" panose="020B0503020204020204" pitchFamily="34" charset="-122"/>
              <a:ea typeface="微软雅黑" panose="020B0503020204020204" pitchFamily="34" charset="-122"/>
            </a:endParaRPr>
          </a:p>
          <a:p>
            <a:pPr algn="ctr">
              <a:defRPr/>
            </a:pPr>
            <a:r>
              <a:rPr lang="zh-CN" altLang="en-US" dirty="0">
                <a:solidFill>
                  <a:srgbClr val="FFFFCC"/>
                </a:solidFill>
                <a:latin typeface="微软雅黑" panose="020B0503020204020204" pitchFamily="34" charset="-122"/>
                <a:ea typeface="微软雅黑" panose="020B0503020204020204" pitchFamily="34" charset="-122"/>
              </a:rPr>
              <a:t>估</a:t>
            </a:r>
            <a:endParaRPr lang="en-US" altLang="zh-CN" dirty="0">
              <a:solidFill>
                <a:srgbClr val="FFFFCC"/>
              </a:solidFill>
              <a:latin typeface="微软雅黑" panose="020B0503020204020204" pitchFamily="34" charset="-122"/>
              <a:ea typeface="微软雅黑" panose="020B0503020204020204" pitchFamily="34" charset="-122"/>
            </a:endParaRPr>
          </a:p>
          <a:p>
            <a:pPr algn="ctr">
              <a:defRPr/>
            </a:pPr>
            <a:r>
              <a:rPr lang="zh-CN" altLang="en-US" dirty="0">
                <a:solidFill>
                  <a:srgbClr val="FFFFCC"/>
                </a:solidFill>
                <a:latin typeface="微软雅黑" panose="020B0503020204020204" pitchFamily="34" charset="-122"/>
                <a:ea typeface="微软雅黑" panose="020B0503020204020204" pitchFamily="34" charset="-122"/>
              </a:rPr>
              <a:t>算</a:t>
            </a:r>
          </a:p>
        </p:txBody>
      </p:sp>
      <p:sp>
        <p:nvSpPr>
          <p:cNvPr id="13" name="矩形 12">
            <a:extLst>
              <a:ext uri="{FF2B5EF4-FFF2-40B4-BE49-F238E27FC236}">
                <a16:creationId xmlns:a16="http://schemas.microsoft.com/office/drawing/2014/main" id="{3BC1C4D3-4A56-4078-A497-03AE558560EE}"/>
              </a:ext>
            </a:extLst>
          </p:cNvPr>
          <p:cNvSpPr/>
          <p:nvPr/>
        </p:nvSpPr>
        <p:spPr bwMode="auto">
          <a:xfrm>
            <a:off x="2207985" y="1857376"/>
            <a:ext cx="8416471" cy="1857375"/>
          </a:xfrm>
          <a:prstGeom prst="rect">
            <a:avLst/>
          </a:prstGeom>
          <a:solidFill>
            <a:schemeClr val="bg1"/>
          </a:solidFill>
          <a:ln>
            <a:headEnd type="none" w="med" len="med"/>
            <a:tailEnd type="none" w="med" len="med"/>
          </a:ln>
        </p:spPr>
        <p:style>
          <a:lnRef idx="1">
            <a:schemeClr val="dk1"/>
          </a:lnRef>
          <a:fillRef idx="2">
            <a:schemeClr val="dk1"/>
          </a:fillRef>
          <a:effectRef idx="1">
            <a:schemeClr val="dk1"/>
          </a:effectRef>
          <a:fontRef idx="minor">
            <a:schemeClr val="dk1"/>
          </a:fontRef>
        </p:style>
        <p:txBody>
          <a:bodyPr anchor="ctr"/>
          <a:lstStyle/>
          <a:p>
            <a:pPr>
              <a:lnSpc>
                <a:spcPct val="125000"/>
              </a:lnSpc>
              <a:buFont typeface="Wingdings" pitchFamily="2" charset="2"/>
              <a:buChar char="u"/>
              <a:defRPr/>
            </a:pPr>
            <a:r>
              <a:rPr lang="zh-CN" altLang="en-US" sz="2000" dirty="0">
                <a:solidFill>
                  <a:schemeClr val="tx1"/>
                </a:solidFill>
                <a:latin typeface="微软雅黑" panose="020B0503020204020204" pitchFamily="34" charset="-122"/>
                <a:ea typeface="微软雅黑" panose="020B0503020204020204" pitchFamily="34" charset="-122"/>
              </a:rPr>
              <a:t> 以过去类似项目的参数和指标来估算当前项目的参数和指标</a:t>
            </a:r>
          </a:p>
          <a:p>
            <a:pPr>
              <a:lnSpc>
                <a:spcPct val="125000"/>
              </a:lnSpc>
              <a:buFont typeface="Wingdings" pitchFamily="2" charset="2"/>
              <a:buChar char="u"/>
              <a:defRPr/>
            </a:pPr>
            <a:r>
              <a:rPr lang="zh-CN" altLang="en-US" sz="2000" dirty="0">
                <a:solidFill>
                  <a:schemeClr val="tx1"/>
                </a:solidFill>
                <a:latin typeface="微软雅黑" panose="020B0503020204020204" pitchFamily="34" charset="-122"/>
                <a:ea typeface="微软雅黑" panose="020B0503020204020204" pitchFamily="34" charset="-122"/>
              </a:rPr>
              <a:t> 是一种自上而下的估算方式，不需要下到详细的工作包和工作项</a:t>
            </a:r>
          </a:p>
          <a:p>
            <a:pPr>
              <a:lnSpc>
                <a:spcPct val="125000"/>
              </a:lnSpc>
              <a:buFont typeface="Wingdings" pitchFamily="2" charset="2"/>
              <a:buChar char="u"/>
              <a:defRPr/>
            </a:pPr>
            <a:r>
              <a:rPr lang="zh-CN" altLang="en-US" sz="2000" dirty="0">
                <a:solidFill>
                  <a:schemeClr val="tx1"/>
                </a:solidFill>
                <a:latin typeface="微软雅黑" panose="020B0503020204020204" pitchFamily="34" charset="-122"/>
                <a:ea typeface="微软雅黑" panose="020B0503020204020204" pitchFamily="34" charset="-122"/>
              </a:rPr>
              <a:t> 是一种粗略性质的估算，一般应用在项目早期</a:t>
            </a:r>
          </a:p>
          <a:p>
            <a:pPr>
              <a:lnSpc>
                <a:spcPct val="125000"/>
              </a:lnSpc>
              <a:buFont typeface="Wingdings" pitchFamily="2" charset="2"/>
              <a:buChar char="u"/>
              <a:defRPr/>
            </a:pPr>
            <a:r>
              <a:rPr lang="zh-CN" altLang="en-US" sz="2000" dirty="0">
                <a:solidFill>
                  <a:schemeClr val="tx1"/>
                </a:solidFill>
                <a:latin typeface="微软雅黑" panose="020B0503020204020204" pitchFamily="34" charset="-122"/>
                <a:ea typeface="微软雅黑" panose="020B0503020204020204" pitchFamily="34" charset="-122"/>
              </a:rPr>
              <a:t> 结合专家法和已有项目历史信息使用，本身就是一种专家判断</a:t>
            </a:r>
          </a:p>
        </p:txBody>
      </p:sp>
      <p:sp>
        <p:nvSpPr>
          <p:cNvPr id="15" name="五边形 14">
            <a:extLst>
              <a:ext uri="{FF2B5EF4-FFF2-40B4-BE49-F238E27FC236}">
                <a16:creationId xmlns:a16="http://schemas.microsoft.com/office/drawing/2014/main" id="{E93C2126-8D53-4B62-85F2-643914AF1EA3}"/>
              </a:ext>
            </a:extLst>
          </p:cNvPr>
          <p:cNvSpPr/>
          <p:nvPr/>
        </p:nvSpPr>
        <p:spPr bwMode="auto">
          <a:xfrm>
            <a:off x="1163186" y="4000501"/>
            <a:ext cx="714375" cy="1857375"/>
          </a:xfrm>
          <a:prstGeom prst="homePlate">
            <a:avLst>
              <a:gd name="adj" fmla="val 36627"/>
            </a:avLst>
          </a:prstGeom>
          <a:solidFill>
            <a:schemeClr val="accent2">
              <a:lumMod val="75000"/>
            </a:schemeClr>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dirty="0">
                <a:solidFill>
                  <a:srgbClr val="FFFFCC"/>
                </a:solidFill>
                <a:latin typeface="微软雅黑" panose="020B0503020204020204" pitchFamily="34" charset="-122"/>
                <a:ea typeface="微软雅黑" panose="020B0503020204020204" pitchFamily="34" charset="-122"/>
              </a:rPr>
              <a:t>自下而上估算</a:t>
            </a:r>
          </a:p>
        </p:txBody>
      </p:sp>
      <p:sp>
        <p:nvSpPr>
          <p:cNvPr id="16" name="矩形 15">
            <a:extLst>
              <a:ext uri="{FF2B5EF4-FFF2-40B4-BE49-F238E27FC236}">
                <a16:creationId xmlns:a16="http://schemas.microsoft.com/office/drawing/2014/main" id="{6237DBBE-42F9-4B00-9D01-1F065814CEA5}"/>
              </a:ext>
            </a:extLst>
          </p:cNvPr>
          <p:cNvSpPr/>
          <p:nvPr/>
        </p:nvSpPr>
        <p:spPr bwMode="auto">
          <a:xfrm>
            <a:off x="2207985" y="4000501"/>
            <a:ext cx="8416472" cy="1857375"/>
          </a:xfrm>
          <a:prstGeom prst="rect">
            <a:avLst/>
          </a:prstGeom>
          <a:solidFill>
            <a:schemeClr val="bg1"/>
          </a:solidFill>
          <a:ln>
            <a:headEnd type="none" w="med" len="med"/>
            <a:tailEnd type="none" w="med" len="med"/>
          </a:ln>
        </p:spPr>
        <p:style>
          <a:lnRef idx="1">
            <a:schemeClr val="dk1"/>
          </a:lnRef>
          <a:fillRef idx="2">
            <a:schemeClr val="dk1"/>
          </a:fillRef>
          <a:effectRef idx="1">
            <a:schemeClr val="dk1"/>
          </a:effectRef>
          <a:fontRef idx="minor">
            <a:schemeClr val="dk1"/>
          </a:fontRef>
        </p:style>
        <p:txBody>
          <a:bodyPr anchor="ctr"/>
          <a:lstStyle/>
          <a:p>
            <a:pPr>
              <a:lnSpc>
                <a:spcPct val="125000"/>
              </a:lnSpc>
              <a:buFont typeface="Wingdings" pitchFamily="2" charset="2"/>
              <a:buChar char="u"/>
              <a:defRPr/>
            </a:pPr>
            <a:r>
              <a:rPr lang="zh-CN" altLang="en-US" sz="2000" dirty="0">
                <a:solidFill>
                  <a:schemeClr val="tx1"/>
                </a:solidFill>
                <a:latin typeface="微软雅黑" panose="020B0503020204020204" pitchFamily="34" charset="-122"/>
                <a:ea typeface="微软雅黑" panose="020B0503020204020204" pitchFamily="34" charset="-122"/>
              </a:rPr>
              <a:t> 先对项目各个活动进行估算，汇总到工作包，再汇总到整个项目</a:t>
            </a:r>
          </a:p>
          <a:p>
            <a:pPr>
              <a:lnSpc>
                <a:spcPct val="125000"/>
              </a:lnSpc>
              <a:buFont typeface="Wingdings" pitchFamily="2" charset="2"/>
              <a:buChar char="u"/>
              <a:defRPr/>
            </a:pPr>
            <a:r>
              <a:rPr lang="zh-CN" altLang="en-US" sz="2000" dirty="0">
                <a:solidFill>
                  <a:schemeClr val="tx1"/>
                </a:solidFill>
                <a:latin typeface="微软雅黑" panose="020B0503020204020204" pitchFamily="34" charset="-122"/>
                <a:ea typeface="微软雅黑" panose="020B0503020204020204" pitchFamily="34" charset="-122"/>
              </a:rPr>
              <a:t> 必须根据项目范围列全所有项目活动，每个活动都涉及到资源成本投入</a:t>
            </a:r>
            <a:endParaRPr lang="en-US" altLang="zh-CN" sz="2000" dirty="0">
              <a:solidFill>
                <a:schemeClr val="tx1"/>
              </a:solidFill>
              <a:latin typeface="微软雅黑" panose="020B0503020204020204" pitchFamily="34" charset="-122"/>
              <a:ea typeface="微软雅黑" panose="020B0503020204020204" pitchFamily="34" charset="-122"/>
            </a:endParaRPr>
          </a:p>
          <a:p>
            <a:pPr>
              <a:lnSpc>
                <a:spcPct val="125000"/>
              </a:lnSpc>
              <a:buFont typeface="Wingdings" pitchFamily="2" charset="2"/>
              <a:buChar char="u"/>
              <a:defRPr/>
            </a:pPr>
            <a:r>
              <a:rPr lang="zh-CN" altLang="en-US" sz="2000" dirty="0">
                <a:solidFill>
                  <a:schemeClr val="tx1"/>
                </a:solidFill>
                <a:latin typeface="微软雅黑" panose="020B0503020204020204" pitchFamily="34" charset="-122"/>
                <a:ea typeface="微软雅黑" panose="020B0503020204020204" pitchFamily="34" charset="-122"/>
              </a:rPr>
              <a:t> 项目成本归集到工作包，工作包和会计科目关联</a:t>
            </a:r>
            <a:endParaRPr lang="en-US" altLang="zh-CN" sz="2000" dirty="0">
              <a:solidFill>
                <a:schemeClr val="tx1"/>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B4BA2338-876C-4B72-A295-68C93C7EDC09}"/>
              </a:ext>
            </a:extLst>
          </p:cNvPr>
          <p:cNvSpPr txBox="1"/>
          <p:nvPr/>
        </p:nvSpPr>
        <p:spPr>
          <a:xfrm>
            <a:off x="613885" y="1302563"/>
            <a:ext cx="3288080" cy="430887"/>
          </a:xfrm>
          <a:prstGeom prst="rect">
            <a:avLst/>
          </a:prstGeom>
          <a:noFill/>
        </p:spPr>
        <p:txBody>
          <a:bodyPr wrap="none" rtlCol="0">
            <a:spAutoFit/>
          </a:bodyPr>
          <a:lstStyle/>
          <a:p>
            <a:r>
              <a:rPr lang="zh-CN" altLang="en-US" sz="2200" b="1" dirty="0">
                <a:solidFill>
                  <a:srgbClr val="0070C0"/>
                </a:solidFill>
                <a:latin typeface="微软雅黑" panose="020B0503020204020204" pitchFamily="34" charset="-122"/>
                <a:ea typeface="微软雅黑" panose="020B0503020204020204" pitchFamily="34" charset="-122"/>
              </a:rPr>
              <a:t>类别估算和自下而上估算</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4" name="Rectangle 2">
            <a:extLst>
              <a:ext uri="{FF2B5EF4-FFF2-40B4-BE49-F238E27FC236}">
                <a16:creationId xmlns:a16="http://schemas.microsoft.com/office/drawing/2014/main" id="{091FA954-1186-4E5F-8CD5-2D3526F8529C}"/>
              </a:ext>
            </a:extLst>
          </p:cNvPr>
          <p:cNvSpPr>
            <a:spLocks noGrp="1" noChangeArrowheads="1"/>
          </p:cNvSpPr>
          <p:nvPr>
            <p:ph type="title"/>
          </p:nvPr>
        </p:nvSpPr>
        <p:spPr/>
        <p:txBody>
          <a:bodyPr/>
          <a:lstStyle/>
          <a:p>
            <a:r>
              <a:rPr lang="en-US" altLang="zh-CN" dirty="0"/>
              <a:t>13.3 </a:t>
            </a:r>
            <a:r>
              <a:rPr lang="zh-CN" altLang="en-US" dirty="0"/>
              <a:t>估算成本</a:t>
            </a:r>
            <a:endParaRPr lang="ja-JP" altLang="en-US" b="1" dirty="0">
              <a:solidFill>
                <a:srgbClr val="FF9933"/>
              </a:solidFill>
              <a:latin typeface="宋体" panose="02010600030101010101" pitchFamily="2" charset="-122"/>
            </a:endParaRPr>
          </a:p>
        </p:txBody>
      </p:sp>
      <p:graphicFrame>
        <p:nvGraphicFramePr>
          <p:cNvPr id="509990" name="Group 38">
            <a:extLst>
              <a:ext uri="{FF2B5EF4-FFF2-40B4-BE49-F238E27FC236}">
                <a16:creationId xmlns:a16="http://schemas.microsoft.com/office/drawing/2014/main" id="{7B0C939D-7DC4-442D-A601-2B13FFDB0E59}"/>
              </a:ext>
            </a:extLst>
          </p:cNvPr>
          <p:cNvGraphicFramePr>
            <a:graphicFrameLocks noGrp="1"/>
          </p:cNvGraphicFramePr>
          <p:nvPr/>
        </p:nvGraphicFramePr>
        <p:xfrm>
          <a:off x="2063750" y="1892354"/>
          <a:ext cx="8280400" cy="3297174"/>
        </p:xfrm>
        <a:graphic>
          <a:graphicData uri="http://schemas.openxmlformats.org/drawingml/2006/table">
            <a:tbl>
              <a:tblPr/>
              <a:tblGrid>
                <a:gridCol w="1563688">
                  <a:extLst>
                    <a:ext uri="{9D8B030D-6E8A-4147-A177-3AD203B41FA5}">
                      <a16:colId xmlns:a16="http://schemas.microsoft.com/office/drawing/2014/main" val="1022106856"/>
                    </a:ext>
                  </a:extLst>
                </a:gridCol>
                <a:gridCol w="3732212">
                  <a:extLst>
                    <a:ext uri="{9D8B030D-6E8A-4147-A177-3AD203B41FA5}">
                      <a16:colId xmlns:a16="http://schemas.microsoft.com/office/drawing/2014/main" val="4126936559"/>
                    </a:ext>
                  </a:extLst>
                </a:gridCol>
                <a:gridCol w="2984500">
                  <a:extLst>
                    <a:ext uri="{9D8B030D-6E8A-4147-A177-3AD203B41FA5}">
                      <a16:colId xmlns:a16="http://schemas.microsoft.com/office/drawing/2014/main" val="3582278249"/>
                    </a:ext>
                  </a:extLst>
                </a:gridCol>
              </a:tblGrid>
              <a:tr h="381000">
                <a:tc>
                  <a:txBody>
                    <a:bodyPr/>
                    <a:lstStyle>
                      <a:lvl1pPr>
                        <a:spcBef>
                          <a:spcPct val="20000"/>
                        </a:spcBef>
                        <a:buSzPct val="85000"/>
                        <a:defRPr kumimoji="1"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spcBef>
                          <a:spcPct val="20000"/>
                        </a:spcBef>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spcBef>
                          <a:spcPct val="20000"/>
                        </a:spcBef>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技术名称</a:t>
                      </a:r>
                      <a:endParaRPr kumimoji="1" lang="ja-JP" altLang="en-US"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BD294"/>
                    </a:solidFill>
                  </a:tcPr>
                </a:tc>
                <a:tc>
                  <a:txBody>
                    <a:bodyPr/>
                    <a:lstStyle>
                      <a:lvl1pPr>
                        <a:spcBef>
                          <a:spcPct val="20000"/>
                        </a:spcBef>
                        <a:buSzPct val="85000"/>
                        <a:defRPr kumimoji="1"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spcBef>
                          <a:spcPct val="20000"/>
                        </a:spcBef>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spcBef>
                          <a:spcPct val="20000"/>
                        </a:spcBef>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手段</a:t>
                      </a:r>
                      <a:endParaRPr kumimoji="1" lang="ja-JP" altLang="en-US"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BD294"/>
                    </a:solidFill>
                  </a:tcPr>
                </a:tc>
                <a:tc>
                  <a:txBody>
                    <a:bodyPr/>
                    <a:lstStyle>
                      <a:lvl1pPr>
                        <a:spcBef>
                          <a:spcPct val="20000"/>
                        </a:spcBef>
                        <a:buSzPct val="85000"/>
                        <a:defRPr kumimoji="1"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spcBef>
                          <a:spcPct val="20000"/>
                        </a:spcBef>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spcBef>
                          <a:spcPct val="20000"/>
                        </a:spcBef>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特点</a:t>
                      </a:r>
                      <a:endParaRPr kumimoji="1" lang="ja-JP" altLang="en-US"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BD294"/>
                    </a:solidFill>
                  </a:tcPr>
                </a:tc>
                <a:extLst>
                  <a:ext uri="{0D108BD9-81ED-4DB2-BD59-A6C34878D82A}">
                    <a16:rowId xmlns:a16="http://schemas.microsoft.com/office/drawing/2014/main" val="1817988536"/>
                  </a:ext>
                </a:extLst>
              </a:tr>
              <a:tr h="609600">
                <a:tc>
                  <a:txBody>
                    <a:bodyPr/>
                    <a:lstStyle>
                      <a:lvl1pPr>
                        <a:spcBef>
                          <a:spcPct val="20000"/>
                        </a:spcBef>
                        <a:buSzPct val="85000"/>
                        <a:defRPr kumimoji="1"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spcBef>
                          <a:spcPct val="20000"/>
                        </a:spcBef>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spcBef>
                          <a:spcPct val="20000"/>
                        </a:spcBef>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类比估算法</a:t>
                      </a:r>
                      <a:endParaRPr kumimoji="1" lang="ja-JP"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5000"/>
                        <a:defRPr kumimoji="1"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spcBef>
                          <a:spcPct val="20000"/>
                        </a:spcBef>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spcBef>
                          <a:spcPct val="20000"/>
                        </a:spcBef>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使用以前的相似项目的实际成本作为目前项目成本估算的依据。</a:t>
                      </a:r>
                      <a:endParaRPr kumimoji="1" lang="ja-JP"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5000"/>
                        <a:defRPr kumimoji="1"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spcBef>
                          <a:spcPct val="20000"/>
                        </a:spcBef>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spcBef>
                          <a:spcPct val="20000"/>
                        </a:spcBef>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较其他方法更节省但不是很精确。</a:t>
                      </a:r>
                      <a:endParaRPr kumimoji="1" lang="ja-JP"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55320940"/>
                  </a:ext>
                </a:extLst>
              </a:tr>
              <a:tr h="609600">
                <a:tc>
                  <a:txBody>
                    <a:bodyPr/>
                    <a:lstStyle>
                      <a:lvl1pPr>
                        <a:spcBef>
                          <a:spcPct val="20000"/>
                        </a:spcBef>
                        <a:buSzPct val="85000"/>
                        <a:defRPr kumimoji="1"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spcBef>
                          <a:spcPct val="20000"/>
                        </a:spcBef>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spcBef>
                          <a:spcPct val="20000"/>
                        </a:spcBef>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自下而上</a:t>
                      </a:r>
                    </a:p>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估算法</a:t>
                      </a:r>
                      <a:endParaRPr kumimoji="1" lang="ja-JP"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5000"/>
                        <a:defRPr kumimoji="1"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spcBef>
                          <a:spcPct val="20000"/>
                        </a:spcBef>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spcBef>
                          <a:spcPct val="20000"/>
                        </a:spcBef>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估算单个工作项，然后汇总成整体项目。</a:t>
                      </a:r>
                      <a:endParaRPr kumimoji="1" lang="ja-JP"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5000"/>
                        <a:defRPr kumimoji="1"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spcBef>
                          <a:spcPct val="20000"/>
                        </a:spcBef>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spcBef>
                          <a:spcPct val="20000"/>
                        </a:spcBef>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能够提高估算的精确度但花费时间长，应用代价高。</a:t>
                      </a:r>
                      <a:endParaRPr kumimoji="1" lang="ja-JP"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18365075"/>
                  </a:ext>
                </a:extLst>
              </a:tr>
              <a:tr h="666750">
                <a:tc>
                  <a:txBody>
                    <a:bodyPr/>
                    <a:lstStyle>
                      <a:lvl1pPr>
                        <a:spcBef>
                          <a:spcPct val="20000"/>
                        </a:spcBef>
                        <a:buSzPct val="85000"/>
                        <a:defRPr kumimoji="1"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spcBef>
                          <a:spcPct val="20000"/>
                        </a:spcBef>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spcBef>
                          <a:spcPct val="20000"/>
                        </a:spcBef>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参数估算法</a:t>
                      </a:r>
                      <a:endParaRPr kumimoji="1" lang="ja-JP"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5000"/>
                        <a:defRPr kumimoji="1"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spcBef>
                          <a:spcPct val="20000"/>
                        </a:spcBef>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spcBef>
                          <a:spcPct val="20000"/>
                        </a:spcBef>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在数学模型中应用项目特征（参数）以估计项目成本。</a:t>
                      </a:r>
                      <a:endParaRPr kumimoji="1" lang="ja-JP"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5000"/>
                        <a:defRPr kumimoji="1"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spcBef>
                          <a:spcPct val="20000"/>
                        </a:spcBef>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spcBef>
                          <a:spcPct val="20000"/>
                        </a:spcBef>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参数易于定量时，参数模型是最可靠的。</a:t>
                      </a:r>
                      <a:endParaRPr kumimoji="1" lang="ja-JP"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14684971"/>
                  </a:ext>
                </a:extLst>
              </a:tr>
              <a:tr h="762000">
                <a:tc>
                  <a:txBody>
                    <a:bodyPr/>
                    <a:lstStyle>
                      <a:lvl1pPr>
                        <a:spcBef>
                          <a:spcPct val="20000"/>
                        </a:spcBef>
                        <a:buSzPct val="85000"/>
                        <a:defRPr kumimoji="1"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spcBef>
                          <a:spcPct val="20000"/>
                        </a:spcBef>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spcBef>
                          <a:spcPct val="20000"/>
                        </a:spcBef>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工具软件</a:t>
                      </a:r>
                      <a:r>
                        <a:rPr kumimoji="1"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lang="zh-CN" altLang="en-US" sz="1800" b="1" dirty="0"/>
                        <a:t>计算机化的工具</a:t>
                      </a:r>
                      <a:r>
                        <a:rPr lang="en-US" altLang="zh-CN" sz="1800" b="1" dirty="0"/>
                        <a:t>)</a:t>
                      </a:r>
                      <a:endParaRPr kumimoji="1" lang="ja-JP"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5000"/>
                        <a:defRPr kumimoji="1"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spcBef>
                          <a:spcPct val="20000"/>
                        </a:spcBef>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spcBef>
                          <a:spcPct val="20000"/>
                        </a:spcBef>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电子数据表和项目管理软件等工具软件</a:t>
                      </a:r>
                      <a:endParaRPr kumimoji="1" lang="ja-JP"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5000"/>
                        <a:defRPr kumimoji="1" sz="2800">
                          <a:solidFill>
                            <a:schemeClr val="tx1"/>
                          </a:solidFill>
                          <a:latin typeface="Arial" panose="020B0604020202020204" pitchFamily="34" charset="0"/>
                          <a:ea typeface="宋体" panose="02010600030101010101" pitchFamily="2" charset="-122"/>
                        </a:defRPr>
                      </a:lvl1pPr>
                      <a:lvl2pPr>
                        <a:spcBef>
                          <a:spcPct val="20000"/>
                        </a:spcBef>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spcBef>
                          <a:spcPct val="20000"/>
                        </a:spcBef>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spcBef>
                          <a:spcPct val="20000"/>
                        </a:spcBef>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使用恰当的话能够改善</a:t>
                      </a:r>
                    </a:p>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估算的精确性。</a:t>
                      </a:r>
                      <a:endParaRPr kumimoji="1" lang="ja-JP"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36320388"/>
                  </a:ext>
                </a:extLst>
              </a:tr>
            </a:tbl>
          </a:graphicData>
        </a:graphic>
      </p:graphicFrame>
      <p:sp>
        <p:nvSpPr>
          <p:cNvPr id="509985" name="Rectangle 33">
            <a:extLst>
              <a:ext uri="{FF2B5EF4-FFF2-40B4-BE49-F238E27FC236}">
                <a16:creationId xmlns:a16="http://schemas.microsoft.com/office/drawing/2014/main" id="{6AD1CD61-638E-476E-A705-C25F0789CD43}"/>
              </a:ext>
            </a:extLst>
          </p:cNvPr>
          <p:cNvSpPr>
            <a:spLocks noChangeArrowheads="1"/>
          </p:cNvSpPr>
          <p:nvPr/>
        </p:nvSpPr>
        <p:spPr bwMode="auto">
          <a:xfrm>
            <a:off x="2063751" y="5348341"/>
            <a:ext cx="3912507"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0"/>
              </a:spcBef>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0"/>
              </a:spcBef>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0"/>
              </a:spcBef>
              <a:defRPr kumimoji="1" sz="2400">
                <a:solidFill>
                  <a:schemeClr val="tx1"/>
                </a:solidFill>
                <a:latin typeface="Times New Roman" panose="02020603050405020304" pitchFamily="18" charset="0"/>
                <a:ea typeface="宋体" panose="02010600030101010101" pitchFamily="2" charset="-122"/>
              </a:defRPr>
            </a:lvl4pPr>
            <a:lvl5pPr marL="2057400" indent="-228600">
              <a:spcBef>
                <a:spcPct val="0"/>
              </a:spcBef>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buClr>
                <a:schemeClr val="tx1"/>
              </a:buClr>
              <a:buSzPct val="75000"/>
              <a:buFont typeface="Wingdings" panose="05000000000000000000" pitchFamily="2" charset="2"/>
              <a:buNone/>
            </a:pPr>
            <a:r>
              <a:rPr lang="ja-JP" altLang="en-US" sz="2000" dirty="0">
                <a:latin typeface="Arial" panose="020B0604020202020204" pitchFamily="34" charset="0"/>
              </a:rPr>
              <a:t> </a:t>
            </a:r>
            <a:r>
              <a:rPr lang="zh-CN" altLang="en-US" sz="1600" dirty="0">
                <a:latin typeface="Arial" panose="020B0604020202020204" pitchFamily="34" charset="0"/>
              </a:rPr>
              <a:t>复杂的参数模型通常被制成工具软件。</a:t>
            </a:r>
          </a:p>
        </p:txBody>
      </p:sp>
      <p:sp>
        <p:nvSpPr>
          <p:cNvPr id="509986" name="AutoShape 34">
            <a:extLst>
              <a:ext uri="{FF2B5EF4-FFF2-40B4-BE49-F238E27FC236}">
                <a16:creationId xmlns:a16="http://schemas.microsoft.com/office/drawing/2014/main" id="{E7BE3355-E4A7-48A5-83DB-89C6430FA057}"/>
              </a:ext>
            </a:extLst>
          </p:cNvPr>
          <p:cNvSpPr>
            <a:spLocks noChangeArrowheads="1"/>
          </p:cNvSpPr>
          <p:nvPr/>
        </p:nvSpPr>
        <p:spPr bwMode="auto">
          <a:xfrm>
            <a:off x="6762750" y="5106254"/>
            <a:ext cx="3581400" cy="1295400"/>
          </a:xfrm>
          <a:prstGeom prst="wedgeRoundRectCallout">
            <a:avLst>
              <a:gd name="adj1" fmla="val -51463"/>
              <a:gd name="adj2" fmla="val -129532"/>
              <a:gd name="adj3" fmla="val 16667"/>
            </a:avLst>
          </a:prstGeom>
          <a:solidFill>
            <a:srgbClr val="FFFFCC">
              <a:alpha val="50000"/>
            </a:srgbClr>
          </a:solidFill>
          <a:ln w="9525">
            <a:solidFill>
              <a:schemeClr val="tx1"/>
            </a:solidFill>
            <a:miter lim="800000"/>
            <a:headEnd/>
            <a:tailEnd/>
          </a:ln>
          <a:effectLst/>
        </p:spPr>
        <p:txBody>
          <a:bodyPr/>
          <a:lstStyle/>
          <a:p>
            <a:pPr>
              <a:spcBef>
                <a:spcPct val="20000"/>
              </a:spcBef>
              <a:buClr>
                <a:schemeClr val="tx1"/>
              </a:buClr>
              <a:buSzPct val="75000"/>
              <a:buFont typeface="Wingdings" panose="05000000000000000000" pitchFamily="2" charset="2"/>
              <a:buNone/>
            </a:pPr>
            <a:r>
              <a:rPr lang="zh-CN" altLang="en-US" dirty="0">
                <a:solidFill>
                  <a:srgbClr val="000000"/>
                </a:solidFill>
                <a:latin typeface="Arial" panose="020B0604020202020204" pitchFamily="34" charset="0"/>
              </a:rPr>
              <a:t>项目特征例如：软件开发项目中使用的编程语言，编程人员的专业知识水平，程序大小和设计数据的复杂性，等等。</a:t>
            </a:r>
            <a:endParaRPr lang="ja-JP" altLang="en-US" dirty="0">
              <a:solidFill>
                <a:srgbClr val="000000"/>
              </a:solidFill>
              <a:latin typeface="Arial" panose="020B0604020202020204" pitchFamily="34" charset="0"/>
            </a:endParaRPr>
          </a:p>
        </p:txBody>
      </p:sp>
      <p:sp>
        <p:nvSpPr>
          <p:cNvPr id="7" name="标题 1">
            <a:extLst>
              <a:ext uri="{FF2B5EF4-FFF2-40B4-BE49-F238E27FC236}">
                <a16:creationId xmlns:a16="http://schemas.microsoft.com/office/drawing/2014/main" id="{00544FB9-8B47-4DB1-A6A8-075E3B1ECD1B}"/>
              </a:ext>
            </a:extLst>
          </p:cNvPr>
          <p:cNvSpPr txBox="1">
            <a:spLocks/>
          </p:cNvSpPr>
          <p:nvPr/>
        </p:nvSpPr>
        <p:spPr>
          <a:xfrm>
            <a:off x="613884" y="1295592"/>
            <a:ext cx="4607033" cy="341300"/>
          </a:xfrm>
          <a:prstGeom prst="rect">
            <a:avLst/>
          </a:prstGeom>
        </p:spPr>
        <p:txBody>
          <a:bodyPr>
            <a:noAutofit/>
          </a:bodyPr>
          <a:lstStyle>
            <a:lvl1pPr algn="ctr" defTabSz="914400" rtl="0" eaLnBrk="1" latinLnBrk="0" hangingPunct="1">
              <a:spcBef>
                <a:spcPct val="0"/>
              </a:spcBef>
              <a:buNone/>
              <a:defRPr sz="2000" b="1" kern="1200" baseline="0">
                <a:solidFill>
                  <a:srgbClr val="663300"/>
                </a:solidFill>
                <a:latin typeface="Georgia" panose="02040502050405020303" pitchFamily="18" charset="0"/>
                <a:ea typeface="微软雅黑" pitchFamily="34" charset="-122"/>
                <a:cs typeface="+mj-cs"/>
              </a:defRPr>
            </a:lvl1pPr>
          </a:lstStyle>
          <a:p>
            <a:r>
              <a:rPr lang="zh-CN" altLang="en-US" sz="1800" dirty="0"/>
              <a:t>成本估算的主要工具和技术</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a:extLst>
              <a:ext uri="{FF2B5EF4-FFF2-40B4-BE49-F238E27FC236}">
                <a16:creationId xmlns:a16="http://schemas.microsoft.com/office/drawing/2014/main" id="{48C52BD9-BEBE-4CFC-A211-B8DA94E2879F}"/>
              </a:ext>
            </a:extLst>
          </p:cNvPr>
          <p:cNvSpPr>
            <a:spLocks noGrp="1"/>
          </p:cNvSpPr>
          <p:nvPr>
            <p:ph type="title"/>
          </p:nvPr>
        </p:nvSpPr>
        <p:spPr/>
        <p:txBody>
          <a:bodyPr/>
          <a:lstStyle/>
          <a:p>
            <a:r>
              <a:rPr lang="zh-CN" altLang="en-US" sz="2200" dirty="0">
                <a:solidFill>
                  <a:srgbClr val="0070C0"/>
                </a:solidFill>
              </a:rPr>
              <a:t>三点估算</a:t>
            </a:r>
          </a:p>
        </p:txBody>
      </p:sp>
      <p:sp>
        <p:nvSpPr>
          <p:cNvPr id="4" name="内容占位符 2">
            <a:extLst>
              <a:ext uri="{FF2B5EF4-FFF2-40B4-BE49-F238E27FC236}">
                <a16:creationId xmlns:a16="http://schemas.microsoft.com/office/drawing/2014/main" id="{81F2B948-21F2-4930-828D-BD4B6BD40B08}"/>
              </a:ext>
            </a:extLst>
          </p:cNvPr>
          <p:cNvSpPr>
            <a:spLocks noGrp="1"/>
          </p:cNvSpPr>
          <p:nvPr>
            <p:ph idx="1"/>
          </p:nvPr>
        </p:nvSpPr>
        <p:spPr>
          <a:xfrm>
            <a:off x="1190172" y="1368823"/>
            <a:ext cx="10116457" cy="1285875"/>
          </a:xfrm>
        </p:spPr>
        <p:txBody>
          <a:bodyPr/>
          <a:lstStyle/>
          <a:p>
            <a:pPr>
              <a:lnSpc>
                <a:spcPct val="100000"/>
              </a:lnSpc>
              <a:defRPr/>
            </a:pPr>
            <a:r>
              <a:rPr lang="zh-CN" altLang="en-US" dirty="0"/>
              <a:t>最可能成本（</a:t>
            </a:r>
            <a:r>
              <a:rPr lang="en-US" altLang="zh-CN" dirty="0" err="1"/>
              <a:t>cM</a:t>
            </a:r>
            <a:r>
              <a:rPr lang="zh-CN" altLang="en-US" dirty="0"/>
              <a:t>）：对所需要进行工作和费用比较现实的估算，所得到的活动成本</a:t>
            </a:r>
          </a:p>
          <a:p>
            <a:pPr>
              <a:lnSpc>
                <a:spcPct val="100000"/>
              </a:lnSpc>
              <a:defRPr/>
            </a:pPr>
            <a:r>
              <a:rPr lang="zh-CN" altLang="en-US" dirty="0"/>
              <a:t>最乐观成本（</a:t>
            </a:r>
            <a:r>
              <a:rPr lang="en-US" altLang="zh-CN" dirty="0" err="1"/>
              <a:t>cO</a:t>
            </a:r>
            <a:r>
              <a:rPr lang="zh-CN" altLang="en-US" dirty="0"/>
              <a:t>）：基于活动最好情况，所得到的活动成本</a:t>
            </a:r>
          </a:p>
          <a:p>
            <a:pPr>
              <a:lnSpc>
                <a:spcPct val="100000"/>
              </a:lnSpc>
              <a:defRPr/>
            </a:pPr>
            <a:r>
              <a:rPr lang="zh-CN" altLang="en-US" dirty="0"/>
              <a:t>最悲观成本（</a:t>
            </a:r>
            <a:r>
              <a:rPr lang="en-US" altLang="zh-CN" dirty="0" err="1"/>
              <a:t>cP</a:t>
            </a:r>
            <a:r>
              <a:rPr lang="zh-CN" altLang="en-US" dirty="0"/>
              <a:t>）：基于活动最差情况，所得到的活动成本</a:t>
            </a:r>
            <a:endParaRPr lang="zh-CN" altLang="en-US" sz="2400" dirty="0"/>
          </a:p>
        </p:txBody>
      </p:sp>
      <p:sp>
        <p:nvSpPr>
          <p:cNvPr id="21508" name="矩形 4">
            <a:extLst>
              <a:ext uri="{FF2B5EF4-FFF2-40B4-BE49-F238E27FC236}">
                <a16:creationId xmlns:a16="http://schemas.microsoft.com/office/drawing/2014/main" id="{06F80477-F89A-4BF8-84C6-E7DA14DEA001}"/>
              </a:ext>
            </a:extLst>
          </p:cNvPr>
          <p:cNvSpPr>
            <a:spLocks noChangeArrowheads="1"/>
          </p:cNvSpPr>
          <p:nvPr/>
        </p:nvSpPr>
        <p:spPr bwMode="auto">
          <a:xfrm>
            <a:off x="973614" y="3002974"/>
            <a:ext cx="4918334"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zh-CN" altLang="en-US" sz="2400"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预期成本（</a:t>
            </a:r>
            <a:r>
              <a:rPr lang="en-US" altLang="zh-CN" sz="2400" dirty="0" err="1">
                <a:solidFill>
                  <a:srgbClr val="FF0000"/>
                </a:solidFill>
                <a:latin typeface="微软雅黑" panose="020B0503020204020204" pitchFamily="34" charset="-122"/>
                <a:ea typeface="微软雅黑" panose="020B0503020204020204" pitchFamily="34" charset="-122"/>
                <a:cs typeface="Arial" panose="020B0604020202020204" pitchFamily="34" charset="0"/>
              </a:rPr>
              <a:t>cE</a:t>
            </a:r>
            <a:r>
              <a:rPr lang="zh-CN" altLang="en-US" sz="2400"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）的两种公式</a:t>
            </a:r>
            <a:endParaRPr lang="en-US" altLang="zh-CN" sz="2400" dirty="0">
              <a:solidFill>
                <a:srgbClr val="FF0000"/>
              </a:solidFill>
              <a:latin typeface="微软雅黑" panose="020B0503020204020204" pitchFamily="34" charset="-122"/>
              <a:ea typeface="微软雅黑" panose="020B0503020204020204" pitchFamily="34" charset="-122"/>
              <a:cs typeface="Arial" panose="020B0604020202020204" pitchFamily="34" charset="0"/>
            </a:endParaRPr>
          </a:p>
          <a:p>
            <a:pPr marL="342900" indent="-342900" eaLnBrk="1" hangingPunct="1">
              <a:buFont typeface="Wingdings" panose="05000000000000000000" pitchFamily="2" charset="2"/>
              <a:buChar char="Ø"/>
            </a:pPr>
            <a:r>
              <a:rPr lang="zh-CN" altLang="en-US" sz="2400"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三角分布：</a:t>
            </a:r>
            <a:r>
              <a:rPr lang="en-US" altLang="zh-CN" sz="2400" dirty="0" err="1">
                <a:solidFill>
                  <a:srgbClr val="FF0000"/>
                </a:solidFill>
                <a:latin typeface="微软雅黑" panose="020B0503020204020204" pitchFamily="34" charset="-122"/>
                <a:ea typeface="微软雅黑" panose="020B0503020204020204" pitchFamily="34" charset="-122"/>
                <a:cs typeface="Arial" panose="020B0604020202020204" pitchFamily="34" charset="0"/>
              </a:rPr>
              <a:t>cE</a:t>
            </a:r>
            <a:r>
              <a:rPr lang="en-US" altLang="zh-CN" sz="2400" i="1" dirty="0">
                <a:solidFill>
                  <a:srgbClr val="FF0000"/>
                </a:solidFill>
                <a:ea typeface="Arial Unicode MS" pitchFamily="34" charset="-122"/>
                <a:cs typeface="Arial" panose="020B0604020202020204" pitchFamily="34" charset="0"/>
              </a:rPr>
              <a:t>=(cO+4cM+cP)/3</a:t>
            </a:r>
          </a:p>
          <a:p>
            <a:pPr marL="342900" indent="-342900" eaLnBrk="1" hangingPunct="1">
              <a:buFont typeface="Wingdings" panose="05000000000000000000" pitchFamily="2" charset="2"/>
              <a:buChar char="Ø"/>
            </a:pPr>
            <a:r>
              <a:rPr lang="zh-CN" altLang="en-US" sz="2400"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贝塔分布：</a:t>
            </a:r>
            <a:r>
              <a:rPr lang="en-US" altLang="zh-CN" sz="2400" dirty="0" err="1">
                <a:solidFill>
                  <a:srgbClr val="FF0000"/>
                </a:solidFill>
                <a:ea typeface="Arial Unicode MS" pitchFamily="34" charset="-122"/>
                <a:cs typeface="Arial" panose="020B0604020202020204" pitchFamily="34" charset="0"/>
              </a:rPr>
              <a:t>cE</a:t>
            </a:r>
            <a:r>
              <a:rPr lang="en-US" altLang="zh-CN" sz="2400" i="1" dirty="0">
                <a:solidFill>
                  <a:srgbClr val="FF0000"/>
                </a:solidFill>
                <a:ea typeface="Arial Unicode MS" pitchFamily="34" charset="-122"/>
                <a:cs typeface="Arial" panose="020B0604020202020204" pitchFamily="34" charset="0"/>
              </a:rPr>
              <a:t> =(cO+4cM+cP)/6</a:t>
            </a:r>
          </a:p>
        </p:txBody>
      </p:sp>
      <p:pic>
        <p:nvPicPr>
          <p:cNvPr id="21509" name="Picture 2">
            <a:extLst>
              <a:ext uri="{FF2B5EF4-FFF2-40B4-BE49-F238E27FC236}">
                <a16:creationId xmlns:a16="http://schemas.microsoft.com/office/drawing/2014/main" id="{4D9931B9-759D-4715-84CD-0DB12C6F84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3648" y="3603138"/>
            <a:ext cx="5253037" cy="2847975"/>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a:extLst>
              <a:ext uri="{FF2B5EF4-FFF2-40B4-BE49-F238E27FC236}">
                <a16:creationId xmlns:a16="http://schemas.microsoft.com/office/drawing/2014/main" id="{F3C67F5F-6A43-4C3C-972C-D69D59CE15FE}"/>
              </a:ext>
            </a:extLst>
          </p:cNvPr>
          <p:cNvSpPr>
            <a:spLocks noGrp="1"/>
          </p:cNvSpPr>
          <p:nvPr>
            <p:ph type="title"/>
          </p:nvPr>
        </p:nvSpPr>
        <p:spPr>
          <a:xfrm>
            <a:off x="613885" y="764294"/>
            <a:ext cx="10972800" cy="419930"/>
          </a:xfrm>
        </p:spPr>
        <p:txBody>
          <a:bodyPr/>
          <a:lstStyle/>
          <a:p>
            <a:pPr>
              <a:spcBef>
                <a:spcPts val="1200"/>
              </a:spcBef>
            </a:pPr>
            <a:r>
              <a:rPr lang="zh-CN" altLang="en-US" sz="2200" dirty="0">
                <a:solidFill>
                  <a:srgbClr val="0070C0"/>
                </a:solidFill>
              </a:rPr>
              <a:t>数据分析</a:t>
            </a:r>
            <a:br>
              <a:rPr lang="en-US" altLang="zh-CN" dirty="0"/>
            </a:br>
            <a:endParaRPr lang="zh-CN" altLang="en-US" sz="2200" dirty="0">
              <a:solidFill>
                <a:schemeClr val="tx1"/>
              </a:solidFill>
            </a:endParaRPr>
          </a:p>
        </p:txBody>
      </p:sp>
      <p:sp>
        <p:nvSpPr>
          <p:cNvPr id="4" name="内容占位符 2">
            <a:extLst>
              <a:ext uri="{FF2B5EF4-FFF2-40B4-BE49-F238E27FC236}">
                <a16:creationId xmlns:a16="http://schemas.microsoft.com/office/drawing/2014/main" id="{ECCD4599-4EE8-491F-9CD1-FEF8745D0F1F}"/>
              </a:ext>
            </a:extLst>
          </p:cNvPr>
          <p:cNvSpPr>
            <a:spLocks noGrp="1"/>
          </p:cNvSpPr>
          <p:nvPr>
            <p:ph idx="1"/>
          </p:nvPr>
        </p:nvSpPr>
        <p:spPr>
          <a:xfrm>
            <a:off x="938212" y="1298113"/>
            <a:ext cx="7420480" cy="5199506"/>
          </a:xfrm>
        </p:spPr>
        <p:txBody>
          <a:bodyPr/>
          <a:lstStyle/>
          <a:p>
            <a:pPr>
              <a:lnSpc>
                <a:spcPct val="100000"/>
              </a:lnSpc>
              <a:buFont typeface="Wingdings" panose="05000000000000000000" pitchFamily="2" charset="2"/>
              <a:buChar char="u"/>
              <a:defRPr/>
            </a:pPr>
            <a:r>
              <a:rPr lang="zh-CN" altLang="en-US" sz="2000" b="1" i="0" u="none" strike="noStrike" baseline="0" dirty="0">
                <a:solidFill>
                  <a:schemeClr val="tx1"/>
                </a:solidFill>
                <a:latin typeface="SourceHanSansSC-Bold"/>
              </a:rPr>
              <a:t>备选方案分析</a:t>
            </a:r>
            <a:endParaRPr lang="en-US" altLang="zh-CN" sz="2000" b="1" i="0" u="none" strike="noStrike" baseline="0" dirty="0">
              <a:solidFill>
                <a:schemeClr val="tx1"/>
              </a:solidFill>
              <a:latin typeface="SourceHanSansSC-Bold"/>
            </a:endParaRPr>
          </a:p>
          <a:p>
            <a:pPr>
              <a:lnSpc>
                <a:spcPct val="100000"/>
              </a:lnSpc>
              <a:buFont typeface="Wingdings" panose="05000000000000000000" pitchFamily="2" charset="2"/>
              <a:buChar char="u"/>
              <a:defRPr/>
            </a:pPr>
            <a:r>
              <a:rPr lang="zh-CN" altLang="en-US" sz="2000" b="1" i="0" u="none" strike="noStrike" baseline="0" dirty="0">
                <a:solidFill>
                  <a:srgbClr val="C00000"/>
                </a:solidFill>
                <a:latin typeface="SourceHanSansSC-Bold"/>
              </a:rPr>
              <a:t>储备</a:t>
            </a:r>
            <a:r>
              <a:rPr lang="zh-CN" altLang="en-US" sz="2000" dirty="0">
                <a:solidFill>
                  <a:srgbClr val="C00000"/>
                </a:solidFill>
                <a:latin typeface="SourceHanSansSC-Bold"/>
              </a:rPr>
              <a:t>分析</a:t>
            </a:r>
            <a:endParaRPr lang="en-US" altLang="zh-CN" sz="2000" dirty="0">
              <a:solidFill>
                <a:srgbClr val="C00000"/>
              </a:solidFill>
              <a:latin typeface="SourceHanSansSC-Bold"/>
            </a:endParaRPr>
          </a:p>
          <a:p>
            <a:pPr lvl="1">
              <a:lnSpc>
                <a:spcPct val="100000"/>
              </a:lnSpc>
              <a:defRPr/>
            </a:pPr>
            <a:r>
              <a:rPr lang="zh-CN" altLang="en-US" sz="1800" dirty="0"/>
              <a:t>成本估算时，应对成本估算的不确定性，为总成本的百分比或定量分析</a:t>
            </a:r>
            <a:endParaRPr lang="en-US" altLang="zh-CN" sz="1800" dirty="0"/>
          </a:p>
          <a:p>
            <a:pPr lvl="1">
              <a:lnSpc>
                <a:spcPct val="100000"/>
              </a:lnSpc>
              <a:defRPr/>
            </a:pPr>
            <a:r>
              <a:rPr lang="zh-CN" altLang="en-US" sz="1800" dirty="0"/>
              <a:t>成本预算中包括</a:t>
            </a:r>
            <a:r>
              <a:rPr lang="zh-CN" altLang="en-US" sz="1800" dirty="0">
                <a:solidFill>
                  <a:srgbClr val="0070C0"/>
                </a:solidFill>
              </a:rPr>
              <a:t>应急储备</a:t>
            </a:r>
            <a:r>
              <a:rPr lang="zh-CN" altLang="en-US" sz="1800" dirty="0"/>
              <a:t>和</a:t>
            </a:r>
            <a:r>
              <a:rPr lang="zh-CN" altLang="en-US" sz="1800" dirty="0">
                <a:solidFill>
                  <a:srgbClr val="0070C0"/>
                </a:solidFill>
              </a:rPr>
              <a:t>管理储备</a:t>
            </a:r>
            <a:r>
              <a:rPr lang="zh-CN" altLang="en-US" sz="1800" dirty="0"/>
              <a:t>，管理储备完全不可预见</a:t>
            </a:r>
            <a:endParaRPr lang="en-US" altLang="zh-CN" sz="1800" dirty="0"/>
          </a:p>
          <a:p>
            <a:pPr lvl="2">
              <a:lnSpc>
                <a:spcPct val="100000"/>
              </a:lnSpc>
              <a:defRPr/>
            </a:pPr>
            <a:r>
              <a:rPr lang="zh-CN" altLang="en-US" sz="1600" dirty="0">
                <a:solidFill>
                  <a:srgbClr val="663300"/>
                </a:solidFill>
              </a:rPr>
              <a:t>应急储备</a:t>
            </a:r>
            <a:r>
              <a:rPr lang="zh-CN" altLang="en-US" sz="1600" dirty="0">
                <a:solidFill>
                  <a:schemeClr val="tx2">
                    <a:lumMod val="50000"/>
                  </a:schemeClr>
                </a:solidFill>
              </a:rPr>
              <a:t>是包含在成本基准内的一部分预算，用来应对已识别的风险</a:t>
            </a:r>
          </a:p>
          <a:p>
            <a:pPr lvl="2">
              <a:lnSpc>
                <a:spcPct val="100000"/>
              </a:lnSpc>
              <a:defRPr/>
            </a:pPr>
            <a:r>
              <a:rPr lang="zh-CN" altLang="en-US" sz="1600" dirty="0">
                <a:solidFill>
                  <a:srgbClr val="663300"/>
                </a:solidFill>
              </a:rPr>
              <a:t>管理储备</a:t>
            </a:r>
            <a:r>
              <a:rPr lang="zh-CN" altLang="en-US" sz="1600" dirty="0">
                <a:solidFill>
                  <a:schemeClr val="tx2">
                    <a:lumMod val="50000"/>
                  </a:schemeClr>
                </a:solidFill>
              </a:rPr>
              <a:t>是为管理控制的目的而特别留出的项目预算，用来应对项目范围中不可预见的工作</a:t>
            </a:r>
            <a:endParaRPr lang="en-US" altLang="zh-CN" sz="1600" dirty="0">
              <a:solidFill>
                <a:srgbClr val="663300"/>
              </a:solidFill>
            </a:endParaRPr>
          </a:p>
          <a:p>
            <a:pPr lvl="1">
              <a:lnSpc>
                <a:spcPct val="100000"/>
              </a:lnSpc>
              <a:defRPr/>
            </a:pPr>
            <a:r>
              <a:rPr lang="zh-CN" altLang="en-US" sz="1800" dirty="0"/>
              <a:t>注意：</a:t>
            </a:r>
            <a:endParaRPr lang="en-US" altLang="zh-CN" sz="1800" dirty="0"/>
          </a:p>
          <a:p>
            <a:pPr lvl="2">
              <a:lnSpc>
                <a:spcPct val="100000"/>
              </a:lnSpc>
              <a:defRPr/>
            </a:pPr>
            <a:r>
              <a:rPr lang="zh-CN" altLang="en-US" sz="1600" dirty="0"/>
              <a:t>管理储备不属于成本基准，也不属于后续成本控制内容</a:t>
            </a:r>
            <a:endParaRPr lang="en-US" altLang="zh-CN" sz="1600" dirty="0"/>
          </a:p>
          <a:p>
            <a:pPr lvl="2">
              <a:lnSpc>
                <a:spcPct val="100000"/>
              </a:lnSpc>
              <a:defRPr/>
            </a:pPr>
            <a:r>
              <a:rPr lang="zh-CN" altLang="en-US" sz="1600" dirty="0">
                <a:solidFill>
                  <a:schemeClr val="tx1"/>
                </a:solidFill>
              </a:rPr>
              <a:t>随着项目信息越来越明确，可以动用、减少或取消应急储备</a:t>
            </a:r>
            <a:endParaRPr lang="en-US" altLang="zh-CN" sz="1600" dirty="0"/>
          </a:p>
          <a:p>
            <a:pPr>
              <a:lnSpc>
                <a:spcPct val="100000"/>
              </a:lnSpc>
              <a:buFont typeface="Wingdings" panose="05000000000000000000" pitchFamily="2" charset="2"/>
              <a:buChar char="u"/>
              <a:defRPr/>
            </a:pPr>
            <a:r>
              <a:rPr lang="zh-CN" altLang="en-US" sz="2000" b="1" i="0" u="none" strike="noStrike" baseline="0" dirty="0">
                <a:solidFill>
                  <a:schemeClr val="tx1"/>
                </a:solidFill>
                <a:latin typeface="SourceHanSansSC-Bold"/>
              </a:rPr>
              <a:t>质量成本</a:t>
            </a:r>
            <a:endParaRPr lang="en-US" altLang="zh-CN" dirty="0"/>
          </a:p>
          <a:p>
            <a:pPr lvl="1"/>
            <a:r>
              <a:rPr lang="zh-CN" altLang="en-US" sz="1600" dirty="0"/>
              <a:t>是为达到要求而增加投入，还是承担不符合要求而造成的成本；</a:t>
            </a:r>
            <a:endParaRPr lang="en-US" altLang="zh-CN" sz="1600" dirty="0"/>
          </a:p>
          <a:p>
            <a:pPr lvl="1"/>
            <a:r>
              <a:rPr lang="zh-CN" altLang="en-US" sz="1600" dirty="0"/>
              <a:t>是寻求短期成本降低，还是承担产品生命周期后期频繁出现问题的后果</a:t>
            </a:r>
            <a:endParaRPr lang="en-US" altLang="zh-CN" sz="1600" dirty="0"/>
          </a:p>
        </p:txBody>
      </p:sp>
      <p:sp>
        <p:nvSpPr>
          <p:cNvPr id="5" name="矩形 4">
            <a:extLst>
              <a:ext uri="{FF2B5EF4-FFF2-40B4-BE49-F238E27FC236}">
                <a16:creationId xmlns:a16="http://schemas.microsoft.com/office/drawing/2014/main" id="{364D06D2-2961-4405-9C91-EB24D93BAEE9}"/>
              </a:ext>
            </a:extLst>
          </p:cNvPr>
          <p:cNvSpPr/>
          <p:nvPr/>
        </p:nvSpPr>
        <p:spPr>
          <a:xfrm>
            <a:off x="8809923" y="1784415"/>
            <a:ext cx="2679943" cy="3289170"/>
          </a:xfrm>
          <a:prstGeom prst="rect">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p:spPr>
        <p:style>
          <a:lnRef idx="1">
            <a:schemeClr val="dk1"/>
          </a:lnRef>
          <a:fillRef idx="2">
            <a:schemeClr val="dk1"/>
          </a:fillRef>
          <a:effectRef idx="1">
            <a:schemeClr val="dk1"/>
          </a:effectRef>
          <a:fontRef idx="minor">
            <a:schemeClr val="dk1"/>
          </a:fontRef>
        </p:style>
        <p:txBody>
          <a:bodyPr wrap="square">
            <a:spAutoFit/>
          </a:bodyPr>
          <a:lstStyle/>
          <a:p>
            <a:pPr>
              <a:lnSpc>
                <a:spcPts val="2800"/>
              </a:lnSpc>
              <a:defRPr/>
            </a:pPr>
            <a:r>
              <a:rPr lang="en-US" altLang="zh-CN" dirty="0">
                <a:solidFill>
                  <a:schemeClr val="tx1"/>
                </a:solidFill>
                <a:latin typeface="微软雅黑" pitchFamily="34" charset="-122"/>
                <a:ea typeface="微软雅黑" pitchFamily="34" charset="-122"/>
              </a:rPr>
              <a:t>A</a:t>
            </a:r>
            <a:r>
              <a:rPr lang="zh-CN" altLang="en-US" dirty="0">
                <a:solidFill>
                  <a:schemeClr val="tx1"/>
                </a:solidFill>
                <a:latin typeface="微软雅黑" pitchFamily="34" charset="-122"/>
                <a:ea typeface="微软雅黑" pitchFamily="34" charset="-122"/>
              </a:rPr>
              <a:t>项目在成本估算中，涉及到一项客户培训活动</a:t>
            </a:r>
            <a:r>
              <a:rPr lang="en-US" altLang="zh-CN" dirty="0">
                <a:solidFill>
                  <a:schemeClr val="tx1"/>
                </a:solidFill>
                <a:latin typeface="微软雅黑" pitchFamily="34" charset="-122"/>
                <a:ea typeface="微软雅黑" pitchFamily="34" charset="-122"/>
              </a:rPr>
              <a:t>2</a:t>
            </a:r>
            <a:r>
              <a:rPr lang="zh-CN" altLang="en-US" dirty="0">
                <a:solidFill>
                  <a:schemeClr val="tx1"/>
                </a:solidFill>
                <a:latin typeface="微软雅黑" pitchFamily="34" charset="-122"/>
                <a:ea typeface="微软雅黑" pitchFamily="34" charset="-122"/>
              </a:rPr>
              <a:t>天，估算成本为</a:t>
            </a:r>
            <a:r>
              <a:rPr lang="en-US" altLang="zh-CN" dirty="0">
                <a:solidFill>
                  <a:schemeClr val="tx1"/>
                </a:solidFill>
                <a:latin typeface="微软雅黑" pitchFamily="34" charset="-122"/>
                <a:ea typeface="微软雅黑" pitchFamily="34" charset="-122"/>
              </a:rPr>
              <a:t>2</a:t>
            </a:r>
            <a:r>
              <a:rPr lang="zh-CN" altLang="en-US" dirty="0">
                <a:solidFill>
                  <a:schemeClr val="tx1"/>
                </a:solidFill>
                <a:latin typeface="微软雅黑" pitchFamily="34" charset="-122"/>
                <a:ea typeface="微软雅黑" pitchFamily="34" charset="-122"/>
              </a:rPr>
              <a:t>万元，由于参加人数不确定性，实际预留</a:t>
            </a:r>
            <a:r>
              <a:rPr lang="en-US" altLang="zh-CN" dirty="0">
                <a:solidFill>
                  <a:schemeClr val="tx1"/>
                </a:solidFill>
                <a:latin typeface="微软雅黑" pitchFamily="34" charset="-122"/>
                <a:ea typeface="微软雅黑" pitchFamily="34" charset="-122"/>
              </a:rPr>
              <a:t>5000</a:t>
            </a:r>
            <a:r>
              <a:rPr lang="zh-CN" altLang="en-US" dirty="0">
                <a:solidFill>
                  <a:schemeClr val="tx1"/>
                </a:solidFill>
                <a:latin typeface="微软雅黑" pitchFamily="34" charset="-122"/>
                <a:ea typeface="微软雅黑" pitchFamily="34" charset="-122"/>
              </a:rPr>
              <a:t>元的应急储备。整个项目预算汇总</a:t>
            </a:r>
            <a:r>
              <a:rPr lang="en-US" altLang="zh-CN" dirty="0">
                <a:solidFill>
                  <a:schemeClr val="tx1"/>
                </a:solidFill>
                <a:latin typeface="微软雅黑" pitchFamily="34" charset="-122"/>
                <a:ea typeface="微软雅黑" pitchFamily="34" charset="-122"/>
              </a:rPr>
              <a:t>50</a:t>
            </a:r>
            <a:r>
              <a:rPr lang="zh-CN" altLang="en-US" dirty="0">
                <a:solidFill>
                  <a:schemeClr val="tx1"/>
                </a:solidFill>
                <a:latin typeface="微软雅黑" pitchFamily="34" charset="-122"/>
                <a:ea typeface="微软雅黑" pitchFamily="34" charset="-122"/>
              </a:rPr>
              <a:t>万到管理层，管理层考虑了其它未知风险，预留</a:t>
            </a:r>
            <a:r>
              <a:rPr lang="en-US" altLang="zh-CN" dirty="0">
                <a:solidFill>
                  <a:schemeClr val="tx1"/>
                </a:solidFill>
                <a:latin typeface="微软雅黑" pitchFamily="34" charset="-122"/>
                <a:ea typeface="微软雅黑" pitchFamily="34" charset="-122"/>
              </a:rPr>
              <a:t>5</a:t>
            </a:r>
            <a:r>
              <a:rPr lang="zh-CN" altLang="en-US" dirty="0">
                <a:solidFill>
                  <a:schemeClr val="tx1"/>
                </a:solidFill>
                <a:latin typeface="微软雅黑" pitchFamily="34" charset="-122"/>
                <a:ea typeface="微软雅黑" pitchFamily="34" charset="-122"/>
              </a:rPr>
              <a:t>万管理储备。</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a:extLst>
              <a:ext uri="{FF2B5EF4-FFF2-40B4-BE49-F238E27FC236}">
                <a16:creationId xmlns:a16="http://schemas.microsoft.com/office/drawing/2014/main" id="{0FD4D313-14DA-4218-9BE3-5A4F6778FC09}"/>
              </a:ext>
            </a:extLst>
          </p:cNvPr>
          <p:cNvSpPr>
            <a:spLocks noGrp="1"/>
          </p:cNvSpPr>
          <p:nvPr>
            <p:ph type="title"/>
          </p:nvPr>
        </p:nvSpPr>
        <p:spPr>
          <a:xfrm>
            <a:off x="613885" y="764293"/>
            <a:ext cx="10972800" cy="629792"/>
          </a:xfrm>
        </p:spPr>
        <p:txBody>
          <a:bodyPr/>
          <a:lstStyle/>
          <a:p>
            <a:pPr>
              <a:lnSpc>
                <a:spcPct val="150000"/>
              </a:lnSpc>
              <a:spcAft>
                <a:spcPts val="1800"/>
              </a:spcAft>
            </a:pPr>
            <a:r>
              <a:rPr lang="en-US" altLang="zh-CN" dirty="0"/>
              <a:t>IT </a:t>
            </a:r>
            <a:r>
              <a:rPr lang="zh-CN" altLang="en-US" dirty="0"/>
              <a:t>项目成本估算的典型问题</a:t>
            </a:r>
            <a:br>
              <a:rPr lang="en-US" altLang="zh-CN" dirty="0"/>
            </a:br>
            <a:endParaRPr lang="zh-CN" altLang="en-US" dirty="0"/>
          </a:p>
        </p:txBody>
      </p:sp>
      <p:sp>
        <p:nvSpPr>
          <p:cNvPr id="9" name="文本框 8">
            <a:extLst>
              <a:ext uri="{FF2B5EF4-FFF2-40B4-BE49-F238E27FC236}">
                <a16:creationId xmlns:a16="http://schemas.microsoft.com/office/drawing/2014/main" id="{B1AD668C-352C-47C6-898C-2622530EEC80}"/>
              </a:ext>
            </a:extLst>
          </p:cNvPr>
          <p:cNvSpPr txBox="1"/>
          <p:nvPr/>
        </p:nvSpPr>
        <p:spPr>
          <a:xfrm>
            <a:off x="827839" y="1232721"/>
            <a:ext cx="10536321" cy="2063835"/>
          </a:xfrm>
          <a:prstGeom prst="rect">
            <a:avLst/>
          </a:prstGeom>
          <a:noFill/>
        </p:spPr>
        <p:txBody>
          <a:bodyPr wrap="square">
            <a:spAutoFit/>
          </a:bodyPr>
          <a:lstStyle/>
          <a:p>
            <a:pPr marL="342900" indent="-342900">
              <a:lnSpc>
                <a:spcPct val="150000"/>
              </a:lnSpc>
              <a:buFont typeface="Wingdings" panose="05000000000000000000" pitchFamily="2" charset="2"/>
              <a:buChar char="u"/>
            </a:pPr>
            <a:r>
              <a:rPr lang="zh-CN" altLang="en-US" sz="2200" b="1" dirty="0">
                <a:solidFill>
                  <a:schemeClr val="tx1"/>
                </a:solidFill>
                <a:latin typeface="微软雅黑" panose="020B0503020204020204" pitchFamily="34" charset="-122"/>
                <a:ea typeface="微软雅黑" panose="020B0503020204020204" pitchFamily="34" charset="-122"/>
              </a:rPr>
              <a:t>估算做得太急</a:t>
            </a:r>
            <a:endParaRPr lang="en-US" altLang="zh-CN" sz="2200" b="1" dirty="0">
              <a:solidFill>
                <a:schemeClr val="tx1"/>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u"/>
            </a:pPr>
            <a:r>
              <a:rPr lang="zh-CN" altLang="en-US" sz="2200" b="1" dirty="0">
                <a:solidFill>
                  <a:schemeClr val="tx1"/>
                </a:solidFill>
                <a:latin typeface="微软雅黑" panose="020B0503020204020204" pitchFamily="34" charset="-122"/>
                <a:ea typeface="微软雅黑" panose="020B0503020204020204" pitchFamily="34" charset="-122"/>
              </a:rPr>
              <a:t>缺乏估算经验</a:t>
            </a:r>
            <a:endParaRPr lang="en-US" altLang="zh-CN" sz="2200" b="1" dirty="0">
              <a:solidFill>
                <a:schemeClr val="tx1"/>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u"/>
            </a:pPr>
            <a:r>
              <a:rPr lang="zh-CN" altLang="en-US" sz="2200" b="1" dirty="0">
                <a:solidFill>
                  <a:schemeClr val="tx1"/>
                </a:solidFill>
                <a:latin typeface="微软雅黑" panose="020B0503020204020204" pitchFamily="34" charset="-122"/>
                <a:ea typeface="微软雅黑" panose="020B0503020204020204" pitchFamily="34" charset="-122"/>
              </a:rPr>
              <a:t>低估困难的倾向</a:t>
            </a:r>
            <a:endParaRPr lang="en-US" altLang="zh-CN" sz="2200" b="1" dirty="0">
              <a:solidFill>
                <a:schemeClr val="tx1"/>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u"/>
            </a:pPr>
            <a:r>
              <a:rPr lang="zh-CN" altLang="en-US" sz="2200" b="1" dirty="0">
                <a:solidFill>
                  <a:schemeClr val="tx1"/>
                </a:solidFill>
                <a:latin typeface="微软雅黑" panose="020B0503020204020204" pitchFamily="34" charset="-122"/>
                <a:ea typeface="微软雅黑" panose="020B0503020204020204" pitchFamily="34" charset="-122"/>
              </a:rPr>
              <a:t>管理要求准确性</a:t>
            </a:r>
            <a:endParaRPr lang="en-US" altLang="zh-CN" sz="2200" b="1" dirty="0">
              <a:solidFill>
                <a:schemeClr val="tx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21364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1" name="Rectangle 2">
            <a:extLst>
              <a:ext uri="{FF2B5EF4-FFF2-40B4-BE49-F238E27FC236}">
                <a16:creationId xmlns:a16="http://schemas.microsoft.com/office/drawing/2014/main" id="{7F745A4A-A40F-4E4A-A78A-F8D59531BBCD}"/>
              </a:ext>
            </a:extLst>
          </p:cNvPr>
          <p:cNvSpPr>
            <a:spLocks noGrp="1" noChangeArrowheads="1"/>
          </p:cNvSpPr>
          <p:nvPr>
            <p:ph type="title"/>
          </p:nvPr>
        </p:nvSpPr>
        <p:spPr/>
        <p:txBody>
          <a:bodyPr/>
          <a:lstStyle/>
          <a:p>
            <a:pPr eaLnBrk="1" hangingPunct="1"/>
            <a:r>
              <a:rPr lang="zh-CN" altLang="en-US" dirty="0"/>
              <a:t>练习</a:t>
            </a:r>
            <a:endParaRPr lang="zh-CN" altLang="zh-CN" dirty="0"/>
          </a:p>
        </p:txBody>
      </p:sp>
      <p:sp>
        <p:nvSpPr>
          <p:cNvPr id="273412" name="Rectangle 3">
            <a:extLst>
              <a:ext uri="{FF2B5EF4-FFF2-40B4-BE49-F238E27FC236}">
                <a16:creationId xmlns:a16="http://schemas.microsoft.com/office/drawing/2014/main" id="{E60816FC-F2F0-42BF-B8BE-2C7E43420617}"/>
              </a:ext>
            </a:extLst>
          </p:cNvPr>
          <p:cNvSpPr>
            <a:spLocks noGrp="1" noChangeArrowheads="1"/>
          </p:cNvSpPr>
          <p:nvPr>
            <p:ph type="body" idx="1"/>
          </p:nvPr>
        </p:nvSpPr>
        <p:spPr/>
        <p:txBody>
          <a:bodyPr/>
          <a:lstStyle/>
          <a:p>
            <a:pPr eaLnBrk="1" hangingPunct="1"/>
            <a:r>
              <a:rPr lang="zh-CN" altLang="en-US" dirty="0">
                <a:ea typeface="宋体" panose="02010600030101010101" pitchFamily="2" charset="-122"/>
              </a:rPr>
              <a:t>你是一个项目经理负责在沿河建造房子，在雨季，由于河水上涨房子被冲垮对项目造成了损失。你需要应对这个风险，为此你可以自由动用下列哪部分的资金？</a:t>
            </a:r>
          </a:p>
          <a:p>
            <a:pPr lvl="1" eaLnBrk="1" hangingPunct="1"/>
            <a:r>
              <a:rPr lang="en-US" altLang="zh-CN" dirty="0">
                <a:ea typeface="宋体" panose="02010600030101010101" pitchFamily="2" charset="-122"/>
              </a:rPr>
              <a:t>A	</a:t>
            </a:r>
            <a:r>
              <a:rPr lang="zh-CN" altLang="en-US" dirty="0">
                <a:ea typeface="宋体" panose="02010600030101010101" pitchFamily="2" charset="-122"/>
              </a:rPr>
              <a:t>管理储备</a:t>
            </a:r>
          </a:p>
          <a:p>
            <a:pPr lvl="1" eaLnBrk="1" hangingPunct="1"/>
            <a:r>
              <a:rPr lang="en-US" altLang="zh-CN" dirty="0">
                <a:ea typeface="宋体" panose="02010600030101010101" pitchFamily="2" charset="-122"/>
              </a:rPr>
              <a:t>B	</a:t>
            </a:r>
            <a:r>
              <a:rPr lang="zh-CN" altLang="en-US" dirty="0">
                <a:ea typeface="宋体" panose="02010600030101010101" pitchFamily="2" charset="-122"/>
              </a:rPr>
              <a:t>应急储备</a:t>
            </a:r>
          </a:p>
          <a:p>
            <a:pPr lvl="1" eaLnBrk="1" hangingPunct="1"/>
            <a:r>
              <a:rPr lang="en-US" altLang="zh-CN" dirty="0">
                <a:ea typeface="宋体" panose="02010600030101010101" pitchFamily="2" charset="-122"/>
              </a:rPr>
              <a:t>C	</a:t>
            </a:r>
            <a:r>
              <a:rPr lang="zh-CN" altLang="en-US" dirty="0">
                <a:ea typeface="宋体" panose="02010600030101010101" pitchFamily="2" charset="-122"/>
              </a:rPr>
              <a:t>保险费</a:t>
            </a:r>
          </a:p>
          <a:p>
            <a:pPr lvl="1" eaLnBrk="1" hangingPunct="1"/>
            <a:r>
              <a:rPr lang="en-US" altLang="zh-CN" dirty="0">
                <a:ea typeface="宋体" panose="02010600030101010101" pitchFamily="2" charset="-122"/>
              </a:rPr>
              <a:t>D</a:t>
            </a:r>
            <a:r>
              <a:rPr lang="zh-CN" altLang="en-US" dirty="0">
                <a:ea typeface="宋体" panose="02010600030101010101" pitchFamily="2" charset="-122"/>
              </a:rPr>
              <a:t>项目成本预算</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3" name="内容占位符 2">
            <a:extLst>
              <a:ext uri="{FF2B5EF4-FFF2-40B4-BE49-F238E27FC236}">
                <a16:creationId xmlns:a16="http://schemas.microsoft.com/office/drawing/2014/main" id="{05A16105-F8EC-471A-B203-FD8F23C93846}"/>
              </a:ext>
            </a:extLst>
          </p:cNvPr>
          <p:cNvSpPr>
            <a:spLocks noGrp="1" noChangeArrowheads="1"/>
          </p:cNvSpPr>
          <p:nvPr>
            <p:ph idx="1"/>
          </p:nvPr>
        </p:nvSpPr>
        <p:spPr>
          <a:xfrm>
            <a:off x="613885" y="1398494"/>
            <a:ext cx="10964230" cy="4583207"/>
          </a:xfrm>
        </p:spPr>
        <p:txBody>
          <a:bodyPr/>
          <a:lstStyle/>
          <a:p>
            <a:pPr marL="0" indent="0" algn="l">
              <a:lnSpc>
                <a:spcPts val="2800"/>
              </a:lnSpc>
              <a:spcBef>
                <a:spcPts val="0"/>
              </a:spcBef>
              <a:spcAft>
                <a:spcPts val="0"/>
              </a:spcAft>
              <a:buNone/>
            </a:pPr>
            <a:r>
              <a:rPr lang="zh-CN" altLang="en-US" sz="2200" i="0" u="none" strike="noStrike" baseline="0" dirty="0">
                <a:latin typeface="SourceHanSansSC-Regular"/>
              </a:rPr>
              <a:t>制定预算是汇总所有单个活动或工作包的估算成本，建立一个经批准的成本基准的过程。</a:t>
            </a:r>
            <a:endParaRPr lang="en-US" altLang="zh-CN" sz="2200" i="0" u="none" strike="noStrike" baseline="0" dirty="0">
              <a:latin typeface="SourceHanSansSC-Regular"/>
            </a:endParaRPr>
          </a:p>
          <a:p>
            <a:pPr marL="0" indent="0" algn="l">
              <a:lnSpc>
                <a:spcPts val="2800"/>
              </a:lnSpc>
              <a:spcBef>
                <a:spcPts val="0"/>
              </a:spcBef>
              <a:spcAft>
                <a:spcPts val="0"/>
              </a:spcAft>
              <a:buNone/>
            </a:pPr>
            <a:r>
              <a:rPr lang="zh-CN" altLang="en-US" sz="2200" i="0" u="none" strike="noStrike" baseline="0" dirty="0">
                <a:latin typeface="SourceHanSansSC-Regular"/>
              </a:rPr>
              <a:t>本过程的主要作用是，确定可据以监督和控制项目绩效的成本基准。</a:t>
            </a:r>
            <a:endParaRPr lang="en-US" altLang="zh-CN" sz="2200" i="0" u="none" strike="noStrike" baseline="0" dirty="0">
              <a:latin typeface="SourceHanSansSC-Regular"/>
            </a:endParaRPr>
          </a:p>
          <a:p>
            <a:pPr marL="0" indent="0" algn="l">
              <a:lnSpc>
                <a:spcPts val="2800"/>
              </a:lnSpc>
              <a:spcBef>
                <a:spcPts val="0"/>
              </a:spcBef>
              <a:spcAft>
                <a:spcPts val="0"/>
              </a:spcAft>
              <a:buNone/>
            </a:pPr>
            <a:r>
              <a:rPr lang="zh-CN" altLang="en-US" sz="2200" i="0" u="none" strike="noStrike" baseline="0" dirty="0">
                <a:latin typeface="SourceHanSansSC-Regular"/>
              </a:rPr>
              <a:t>本过程仅开展一次或仅在项目的预定义点开展。</a:t>
            </a:r>
            <a:endParaRPr lang="zh-CN" altLang="zh-CN" sz="2200" dirty="0"/>
          </a:p>
          <a:p>
            <a:endParaRPr lang="zh-CN" altLang="en-US" sz="2800" dirty="0"/>
          </a:p>
        </p:txBody>
      </p:sp>
      <p:pic>
        <p:nvPicPr>
          <p:cNvPr id="225284" name="图片 1">
            <a:extLst>
              <a:ext uri="{FF2B5EF4-FFF2-40B4-BE49-F238E27FC236}">
                <a16:creationId xmlns:a16="http://schemas.microsoft.com/office/drawing/2014/main" id="{45962C24-0055-49CF-B3C6-7B7204F396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4822" y="2701996"/>
            <a:ext cx="6608559" cy="35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1">
            <a:extLst>
              <a:ext uri="{FF2B5EF4-FFF2-40B4-BE49-F238E27FC236}">
                <a16:creationId xmlns:a16="http://schemas.microsoft.com/office/drawing/2014/main" id="{335542BC-377B-4C87-99B9-FB9EFA62D91A}"/>
              </a:ext>
            </a:extLst>
          </p:cNvPr>
          <p:cNvSpPr>
            <a:spLocks noGrp="1"/>
          </p:cNvSpPr>
          <p:nvPr>
            <p:ph type="title"/>
          </p:nvPr>
        </p:nvSpPr>
        <p:spPr>
          <a:xfrm>
            <a:off x="613885" y="764293"/>
            <a:ext cx="10972800" cy="437186"/>
          </a:xfrm>
          <a:prstGeom prst="rect">
            <a:avLst/>
          </a:prstGeom>
        </p:spPr>
        <p:txBody>
          <a:bodyPr/>
          <a:lstStyle/>
          <a:p>
            <a:pPr algn="ctr"/>
            <a:r>
              <a:rPr lang="en-US" altLang="zh-CN" dirty="0"/>
              <a:t>13.3 </a:t>
            </a:r>
            <a:r>
              <a:rPr lang="zh-CN" altLang="en-US" dirty="0"/>
              <a:t>制定预算</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a:extLst>
              <a:ext uri="{FF2B5EF4-FFF2-40B4-BE49-F238E27FC236}">
                <a16:creationId xmlns:a16="http://schemas.microsoft.com/office/drawing/2014/main" id="{E2E5176F-7799-4439-9B3C-42A782381F3F}"/>
              </a:ext>
            </a:extLst>
          </p:cNvPr>
          <p:cNvSpPr>
            <a:spLocks noGrp="1"/>
          </p:cNvSpPr>
          <p:nvPr>
            <p:ph type="title"/>
          </p:nvPr>
        </p:nvSpPr>
        <p:spPr/>
        <p:txBody>
          <a:bodyPr/>
          <a:lstStyle/>
          <a:p>
            <a:r>
              <a:rPr lang="zh-CN" altLang="en-US" dirty="0"/>
              <a:t>制定预算</a:t>
            </a:r>
          </a:p>
        </p:txBody>
      </p:sp>
      <p:sp>
        <p:nvSpPr>
          <p:cNvPr id="3" name="内容占位符 2">
            <a:extLst>
              <a:ext uri="{FF2B5EF4-FFF2-40B4-BE49-F238E27FC236}">
                <a16:creationId xmlns:a16="http://schemas.microsoft.com/office/drawing/2014/main" id="{BC232F28-FA2D-44BB-9BC3-E7485205D5E3}"/>
              </a:ext>
            </a:extLst>
          </p:cNvPr>
          <p:cNvSpPr>
            <a:spLocks noGrp="1"/>
          </p:cNvSpPr>
          <p:nvPr>
            <p:ph idx="1"/>
          </p:nvPr>
        </p:nvSpPr>
        <p:spPr>
          <a:xfrm>
            <a:off x="1259174" y="1295400"/>
            <a:ext cx="8875426" cy="1282908"/>
          </a:xfrm>
        </p:spPr>
        <p:txBody>
          <a:bodyPr/>
          <a:lstStyle/>
          <a:p>
            <a:pPr>
              <a:lnSpc>
                <a:spcPct val="100000"/>
              </a:lnSpc>
              <a:defRPr/>
            </a:pPr>
            <a:r>
              <a:rPr lang="zh-CN" altLang="en-US" dirty="0"/>
              <a:t>以货币为计量，将决策的目标具体的，系统的反映出来</a:t>
            </a:r>
            <a:endParaRPr lang="en-US" altLang="zh-CN" dirty="0"/>
          </a:p>
          <a:p>
            <a:pPr>
              <a:lnSpc>
                <a:spcPct val="100000"/>
              </a:lnSpc>
              <a:defRPr/>
            </a:pPr>
            <a:r>
              <a:rPr lang="zh-CN" altLang="en-US" dirty="0"/>
              <a:t>一套整体的经营计划，以财务数据来表达对企业未来经营的预测</a:t>
            </a:r>
            <a:endParaRPr lang="en-US" altLang="zh-CN" dirty="0"/>
          </a:p>
          <a:p>
            <a:pPr>
              <a:lnSpc>
                <a:spcPct val="100000"/>
              </a:lnSpc>
              <a:defRPr/>
            </a:pPr>
            <a:r>
              <a:rPr lang="zh-CN" altLang="en-US" dirty="0"/>
              <a:t>平衡各项资源的有效方法：是进行事前、事中、事后控制的有效工具</a:t>
            </a:r>
          </a:p>
        </p:txBody>
      </p:sp>
      <p:pic>
        <p:nvPicPr>
          <p:cNvPr id="75778" name="Picture 2">
            <a:extLst>
              <a:ext uri="{FF2B5EF4-FFF2-40B4-BE49-F238E27FC236}">
                <a16:creationId xmlns:a16="http://schemas.microsoft.com/office/drawing/2014/main" id="{D577BEA2-6C4C-4C89-8C99-39A63A1B9E8D}"/>
              </a:ext>
            </a:extLst>
          </p:cNvPr>
          <p:cNvPicPr>
            <a:picLocks noChangeAspect="1" noChangeArrowheads="1"/>
          </p:cNvPicPr>
          <p:nvPr/>
        </p:nvPicPr>
        <p:blipFill>
          <a:blip r:embed="rId2"/>
          <a:srcRect/>
          <a:stretch>
            <a:fillRect/>
          </a:stretch>
        </p:blipFill>
        <p:spPr bwMode="auto">
          <a:xfrm>
            <a:off x="3071761" y="2776557"/>
            <a:ext cx="6048478" cy="3655134"/>
          </a:xfrm>
          <a:prstGeom prst="rect">
            <a:avLst/>
          </a:prstGeom>
          <a:ln>
            <a:headEnd/>
            <a:tailEnd/>
          </a:ln>
        </p:spPr>
        <p:style>
          <a:lnRef idx="2">
            <a:schemeClr val="accent3"/>
          </a:lnRef>
          <a:fillRef idx="1">
            <a:schemeClr val="lt1"/>
          </a:fillRef>
          <a:effectRef idx="0">
            <a:schemeClr val="accent3"/>
          </a:effectRef>
          <a:fontRef idx="minor">
            <a:schemeClr val="dk1"/>
          </a:fontRef>
        </p:style>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a:extLst>
              <a:ext uri="{FF2B5EF4-FFF2-40B4-BE49-F238E27FC236}">
                <a16:creationId xmlns:a16="http://schemas.microsoft.com/office/drawing/2014/main" id="{7DCC1A4F-8EA2-4A36-A598-D3A65CBF3919}"/>
              </a:ext>
            </a:extLst>
          </p:cNvPr>
          <p:cNvSpPr>
            <a:spLocks noGrp="1"/>
          </p:cNvSpPr>
          <p:nvPr>
            <p:ph type="title"/>
          </p:nvPr>
        </p:nvSpPr>
        <p:spPr/>
        <p:txBody>
          <a:bodyPr/>
          <a:lstStyle/>
          <a:p>
            <a:r>
              <a:rPr lang="zh-CN" altLang="en-US" i="0" u="none" strike="noStrike" baseline="0" dirty="0">
                <a:solidFill>
                  <a:srgbClr val="800000"/>
                </a:solidFill>
                <a:latin typeface="SourceHanSansSC-Medium"/>
              </a:rPr>
              <a:t>制定预算的工具与技术</a:t>
            </a:r>
            <a:endParaRPr lang="zh-CN" altLang="en-US" dirty="0"/>
          </a:p>
        </p:txBody>
      </p:sp>
      <p:sp>
        <p:nvSpPr>
          <p:cNvPr id="4" name="内容占位符 2">
            <a:extLst>
              <a:ext uri="{FF2B5EF4-FFF2-40B4-BE49-F238E27FC236}">
                <a16:creationId xmlns:a16="http://schemas.microsoft.com/office/drawing/2014/main" id="{EFCC1F0C-2C3D-40A5-B3C5-4CFB06BD1185}"/>
              </a:ext>
            </a:extLst>
          </p:cNvPr>
          <p:cNvSpPr>
            <a:spLocks noGrp="1"/>
          </p:cNvSpPr>
          <p:nvPr>
            <p:ph idx="1"/>
          </p:nvPr>
        </p:nvSpPr>
        <p:spPr>
          <a:xfrm>
            <a:off x="813730" y="1365540"/>
            <a:ext cx="9995941" cy="4550518"/>
          </a:xfrm>
        </p:spPr>
        <p:txBody>
          <a:bodyPr/>
          <a:lstStyle/>
          <a:p>
            <a:pPr>
              <a:lnSpc>
                <a:spcPct val="100000"/>
              </a:lnSpc>
              <a:defRPr/>
            </a:pPr>
            <a:r>
              <a:rPr lang="zh-CN" altLang="en-US" dirty="0">
                <a:latin typeface="微软雅黑" panose="020B0503020204020204" pitchFamily="34" charset="-122"/>
              </a:rPr>
              <a:t>专家判断</a:t>
            </a:r>
            <a:endParaRPr lang="en-US" altLang="zh-CN" dirty="0">
              <a:latin typeface="微软雅黑" panose="020B0503020204020204" pitchFamily="34" charset="-122"/>
            </a:endParaRPr>
          </a:p>
          <a:p>
            <a:pPr>
              <a:lnSpc>
                <a:spcPct val="100000"/>
              </a:lnSpc>
              <a:defRPr/>
            </a:pPr>
            <a:r>
              <a:rPr lang="zh-CN" altLang="en-US" dirty="0">
                <a:latin typeface="微软雅黑" panose="020B0503020204020204" pitchFamily="34" charset="-122"/>
              </a:rPr>
              <a:t>成本汇总</a:t>
            </a:r>
            <a:endParaRPr lang="en-US" altLang="zh-CN" dirty="0">
              <a:latin typeface="微软雅黑" panose="020B0503020204020204" pitchFamily="34" charset="-122"/>
            </a:endParaRPr>
          </a:p>
          <a:p>
            <a:pPr>
              <a:lnSpc>
                <a:spcPct val="100000"/>
              </a:lnSpc>
              <a:defRPr/>
            </a:pPr>
            <a:r>
              <a:rPr lang="zh-CN" altLang="en-US" dirty="0">
                <a:latin typeface="微软雅黑" panose="020B0503020204020204" pitchFamily="34" charset="-122"/>
              </a:rPr>
              <a:t>数据分析</a:t>
            </a:r>
            <a:endParaRPr lang="en-US" altLang="zh-CN" dirty="0">
              <a:latin typeface="微软雅黑" panose="020B0503020204020204" pitchFamily="34" charset="-122"/>
            </a:endParaRPr>
          </a:p>
          <a:p>
            <a:pPr lvl="1">
              <a:lnSpc>
                <a:spcPct val="100000"/>
              </a:lnSpc>
              <a:defRPr/>
            </a:pPr>
            <a:r>
              <a:rPr lang="zh-CN" altLang="en-US" dirty="0">
                <a:latin typeface="微软雅黑" panose="020B0503020204020204" pitchFamily="34" charset="-122"/>
              </a:rPr>
              <a:t>如，建立项目管理储备的储备分析</a:t>
            </a:r>
            <a:endParaRPr lang="en-US" altLang="zh-CN" dirty="0">
              <a:latin typeface="微软雅黑" panose="020B0503020204020204" pitchFamily="34" charset="-122"/>
            </a:endParaRPr>
          </a:p>
          <a:p>
            <a:pPr>
              <a:lnSpc>
                <a:spcPct val="100000"/>
              </a:lnSpc>
              <a:defRPr/>
            </a:pPr>
            <a:r>
              <a:rPr lang="zh-CN" altLang="en-US" dirty="0">
                <a:latin typeface="微软雅黑" panose="020B0503020204020204" pitchFamily="34" charset="-122"/>
              </a:rPr>
              <a:t>历史信息审核</a:t>
            </a:r>
            <a:endParaRPr lang="en-US" altLang="zh-CN" dirty="0">
              <a:latin typeface="微软雅黑" panose="020B0503020204020204" pitchFamily="34" charset="-122"/>
            </a:endParaRPr>
          </a:p>
          <a:p>
            <a:pPr lvl="1">
              <a:lnSpc>
                <a:spcPct val="100000"/>
              </a:lnSpc>
              <a:defRPr/>
            </a:pPr>
            <a:r>
              <a:rPr lang="zh-CN" altLang="en-US" dirty="0">
                <a:latin typeface="微软雅黑" panose="020B0503020204020204" pitchFamily="34" charset="-122"/>
              </a:rPr>
              <a:t>可包括各种项目特征（参数），它们用于建立数学模型预测项目总成本</a:t>
            </a:r>
          </a:p>
          <a:p>
            <a:pPr>
              <a:lnSpc>
                <a:spcPct val="100000"/>
              </a:lnSpc>
              <a:defRPr/>
            </a:pPr>
            <a:r>
              <a:rPr lang="zh-CN" altLang="en-US" dirty="0">
                <a:latin typeface="微软雅黑" panose="020B0503020204020204" pitchFamily="34" charset="-122"/>
              </a:rPr>
              <a:t>资金限制平衡</a:t>
            </a:r>
            <a:endParaRPr lang="en-US" altLang="zh-CN" dirty="0">
              <a:latin typeface="微软雅黑" panose="020B0503020204020204" pitchFamily="34" charset="-122"/>
            </a:endParaRPr>
          </a:p>
          <a:p>
            <a:pPr lvl="1">
              <a:lnSpc>
                <a:spcPct val="100000"/>
              </a:lnSpc>
              <a:defRPr/>
            </a:pPr>
            <a:r>
              <a:rPr lang="zh-CN" altLang="en-US" dirty="0">
                <a:latin typeface="微软雅黑" panose="020B0503020204020204" pitchFamily="34" charset="-122"/>
              </a:rPr>
              <a:t>企业有资金收入和开支计划，资金计划能否满足项目支出要求？</a:t>
            </a:r>
            <a:endParaRPr lang="en-US" altLang="zh-CN" dirty="0">
              <a:latin typeface="微软雅黑" panose="020B0503020204020204" pitchFamily="34" charset="-122"/>
            </a:endParaRPr>
          </a:p>
          <a:p>
            <a:pPr lvl="1">
              <a:lnSpc>
                <a:spcPct val="100000"/>
              </a:lnSpc>
              <a:defRPr/>
            </a:pPr>
            <a:r>
              <a:rPr lang="zh-CN" altLang="en-US" dirty="0">
                <a:latin typeface="微软雅黑" panose="020B0503020204020204" pitchFamily="34" charset="-122"/>
              </a:rPr>
              <a:t>如果不满足，需要调整项目范围，或者调整项目进度计划，以平衡资金支出水平。</a:t>
            </a:r>
            <a:endParaRPr lang="en-US" altLang="zh-CN" dirty="0">
              <a:latin typeface="微软雅黑" panose="020B0503020204020204" pitchFamily="34" charset="-122"/>
            </a:endParaRPr>
          </a:p>
          <a:p>
            <a:pPr>
              <a:lnSpc>
                <a:spcPct val="100000"/>
              </a:lnSpc>
              <a:defRPr/>
            </a:pPr>
            <a:r>
              <a:rPr lang="zh-CN" altLang="en-US" dirty="0">
                <a:latin typeface="微软雅黑" panose="020B0503020204020204" pitchFamily="34" charset="-122"/>
              </a:rPr>
              <a:t>融资</a:t>
            </a:r>
            <a:endParaRPr lang="en-US" altLang="zh-CN" dirty="0">
              <a:latin typeface="微软雅黑" panose="020B0503020204020204" pitchFamily="34" charset="-122"/>
            </a:endParaRPr>
          </a:p>
          <a:p>
            <a:pPr lvl="1">
              <a:lnSpc>
                <a:spcPct val="100000"/>
              </a:lnSpc>
              <a:defRPr/>
            </a:pPr>
            <a:r>
              <a:rPr lang="zh-CN" altLang="en-US" dirty="0">
                <a:latin typeface="微软雅黑" panose="020B0503020204020204" pitchFamily="34" charset="-122"/>
              </a:rPr>
              <a:t>为项目获取资金</a:t>
            </a:r>
          </a:p>
          <a:p>
            <a:pPr>
              <a:lnSpc>
                <a:spcPct val="100000"/>
              </a:lnSpc>
              <a:defRPr/>
            </a:pPr>
            <a:endParaRPr lang="en-US" altLang="zh-CN" dirty="0">
              <a:latin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B95FEF-B2B4-4427-B07E-26D5F5706CF7}"/>
              </a:ext>
            </a:extLst>
          </p:cNvPr>
          <p:cNvSpPr>
            <a:spLocks noGrp="1"/>
          </p:cNvSpPr>
          <p:nvPr>
            <p:ph type="title"/>
          </p:nvPr>
        </p:nvSpPr>
        <p:spPr/>
        <p:txBody>
          <a:bodyPr/>
          <a:lstStyle/>
          <a:p>
            <a:pPr algn="ctr"/>
            <a:r>
              <a:rPr lang="en-US" altLang="zh-CN" dirty="0"/>
              <a:t>13.3 </a:t>
            </a:r>
            <a:r>
              <a:rPr lang="zh-CN" altLang="en-US" dirty="0"/>
              <a:t>制定预算</a:t>
            </a:r>
          </a:p>
        </p:txBody>
      </p:sp>
      <p:sp>
        <p:nvSpPr>
          <p:cNvPr id="3" name="内容占位符 2">
            <a:extLst>
              <a:ext uri="{FF2B5EF4-FFF2-40B4-BE49-F238E27FC236}">
                <a16:creationId xmlns:a16="http://schemas.microsoft.com/office/drawing/2014/main" id="{D8390E44-0B1B-41AD-A3D1-E7CD188923C0}"/>
              </a:ext>
            </a:extLst>
          </p:cNvPr>
          <p:cNvSpPr>
            <a:spLocks noGrp="1"/>
          </p:cNvSpPr>
          <p:nvPr>
            <p:ph idx="1"/>
          </p:nvPr>
        </p:nvSpPr>
        <p:spPr>
          <a:xfrm>
            <a:off x="914400" y="1138846"/>
            <a:ext cx="10488706" cy="1909155"/>
          </a:xfrm>
        </p:spPr>
        <p:txBody>
          <a:bodyPr/>
          <a:lstStyle/>
          <a:p>
            <a:pPr marL="0" indent="0">
              <a:buNone/>
            </a:pPr>
            <a:r>
              <a:rPr lang="zh-CN" altLang="en-US" sz="2400" dirty="0">
                <a:solidFill>
                  <a:srgbClr val="663300"/>
                </a:solidFill>
                <a:cs typeface="+mj-cs"/>
              </a:rPr>
              <a:t>制定预算的输出：</a:t>
            </a:r>
            <a:endParaRPr lang="en-US" altLang="zh-CN" sz="2400" dirty="0">
              <a:solidFill>
                <a:srgbClr val="663300"/>
              </a:solidFill>
              <a:cs typeface="+mj-cs"/>
            </a:endParaRPr>
          </a:p>
          <a:p>
            <a:pPr lvl="1"/>
            <a:r>
              <a:rPr lang="zh-CN" altLang="en-US" b="0" dirty="0">
                <a:latin typeface="SourceHanSansSC-Medium"/>
              </a:rPr>
              <a:t>成本基准</a:t>
            </a:r>
            <a:endParaRPr lang="en-US" altLang="zh-CN" b="0" dirty="0">
              <a:latin typeface="SourceHanSansSC-Medium"/>
            </a:endParaRPr>
          </a:p>
          <a:p>
            <a:pPr lvl="2"/>
            <a:r>
              <a:rPr lang="zh-CN" altLang="en-US" dirty="0">
                <a:solidFill>
                  <a:schemeClr val="tx2"/>
                </a:solidFill>
              </a:rPr>
              <a:t>成本基准</a:t>
            </a:r>
            <a:r>
              <a:rPr lang="zh-CN" altLang="en-US" dirty="0"/>
              <a:t>是经过批准的、按时间段分配的</a:t>
            </a:r>
            <a:r>
              <a:rPr lang="zh-CN" altLang="en-US" dirty="0">
                <a:solidFill>
                  <a:schemeClr val="tx2"/>
                </a:solidFill>
              </a:rPr>
              <a:t>项目预算</a:t>
            </a:r>
            <a:r>
              <a:rPr lang="zh-CN" altLang="en-US" dirty="0"/>
              <a:t>，不包括任何</a:t>
            </a:r>
            <a:r>
              <a:rPr lang="zh-CN" altLang="en-US" dirty="0">
                <a:solidFill>
                  <a:schemeClr val="tx2"/>
                </a:solidFill>
              </a:rPr>
              <a:t>管理储备</a:t>
            </a:r>
            <a:r>
              <a:rPr lang="zh-CN" altLang="en-US" dirty="0"/>
              <a:t>，只有通过正式的变更控制程序才能变更，用作与实际结果进行比较的依据。</a:t>
            </a:r>
            <a:endParaRPr lang="en-US" altLang="zh-CN" dirty="0"/>
          </a:p>
          <a:p>
            <a:pPr lvl="2"/>
            <a:r>
              <a:rPr lang="zh-CN" altLang="en-US" dirty="0">
                <a:solidFill>
                  <a:schemeClr val="tx2"/>
                </a:solidFill>
              </a:rPr>
              <a:t>成本基准</a:t>
            </a:r>
            <a:r>
              <a:rPr lang="zh-CN" altLang="en-US" dirty="0"/>
              <a:t>是不同进度活动经批准的预算的总和。</a:t>
            </a:r>
          </a:p>
        </p:txBody>
      </p:sp>
      <p:pic>
        <p:nvPicPr>
          <p:cNvPr id="5" name="图片 4">
            <a:extLst>
              <a:ext uri="{FF2B5EF4-FFF2-40B4-BE49-F238E27FC236}">
                <a16:creationId xmlns:a16="http://schemas.microsoft.com/office/drawing/2014/main" id="{94E8178B-1808-4E58-B253-85AD906B50EC}"/>
              </a:ext>
            </a:extLst>
          </p:cNvPr>
          <p:cNvPicPr>
            <a:picLocks noChangeAspect="1"/>
          </p:cNvPicPr>
          <p:nvPr/>
        </p:nvPicPr>
        <p:blipFill>
          <a:blip r:embed="rId3"/>
          <a:stretch>
            <a:fillRect/>
          </a:stretch>
        </p:blipFill>
        <p:spPr>
          <a:xfrm>
            <a:off x="4152451" y="3247051"/>
            <a:ext cx="6576637" cy="3437245"/>
          </a:xfrm>
          <a:prstGeom prst="rect">
            <a:avLst/>
          </a:prstGeom>
        </p:spPr>
      </p:pic>
    </p:spTree>
    <p:extLst>
      <p:ext uri="{BB962C8B-B14F-4D97-AF65-F5344CB8AC3E}">
        <p14:creationId xmlns:p14="http://schemas.microsoft.com/office/powerpoint/2010/main" val="906054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页脚占位符 4">
            <a:extLst>
              <a:ext uri="{FF2B5EF4-FFF2-40B4-BE49-F238E27FC236}">
                <a16:creationId xmlns:a16="http://schemas.microsoft.com/office/drawing/2014/main" id="{043066A6-14A7-45FD-88FD-E725DCC162CA}"/>
              </a:ext>
            </a:extLst>
          </p:cNvPr>
          <p:cNvSpPr>
            <a:spLocks noGrp="1"/>
          </p:cNvSpPr>
          <p:nvPr>
            <p:ph type="ftr" sz="quarter" idx="11"/>
          </p:nvPr>
        </p:nvSpPr>
        <p:spPr/>
        <p:txBody>
          <a:bodyPr/>
          <a:lstStyle/>
          <a:p>
            <a:pPr>
              <a:defRPr/>
            </a:pPr>
            <a:endParaRPr lang="zh-CN" altLang="en-US" dirty="0"/>
          </a:p>
        </p:txBody>
      </p:sp>
      <p:sp>
        <p:nvSpPr>
          <p:cNvPr id="280579" name="Rectangle 2">
            <a:extLst>
              <a:ext uri="{FF2B5EF4-FFF2-40B4-BE49-F238E27FC236}">
                <a16:creationId xmlns:a16="http://schemas.microsoft.com/office/drawing/2014/main" id="{F7B01CC4-BE3D-4365-B313-04EC516364DC}"/>
              </a:ext>
            </a:extLst>
          </p:cNvPr>
          <p:cNvSpPr>
            <a:spLocks noGrp="1" noChangeArrowheads="1"/>
          </p:cNvSpPr>
          <p:nvPr>
            <p:ph type="title"/>
          </p:nvPr>
        </p:nvSpPr>
        <p:spPr>
          <a:xfrm>
            <a:off x="297219" y="648892"/>
            <a:ext cx="7558961" cy="563563"/>
          </a:xfrm>
        </p:spPr>
        <p:txBody>
          <a:bodyPr/>
          <a:lstStyle/>
          <a:p>
            <a:pPr eaLnBrk="1" hangingPunct="1"/>
            <a:r>
              <a:rPr lang="zh-CN" altLang="en-US" sz="2400" dirty="0"/>
              <a:t>成本预算切段分配示例，</a:t>
            </a:r>
            <a:r>
              <a:rPr lang="zh-CN" altLang="en-US" sz="2400" dirty="0">
                <a:solidFill>
                  <a:srgbClr val="C00000"/>
                </a:solidFill>
              </a:rPr>
              <a:t>含持续时间（天）甘特图</a:t>
            </a:r>
          </a:p>
        </p:txBody>
      </p:sp>
      <p:graphicFrame>
        <p:nvGraphicFramePr>
          <p:cNvPr id="483496" name="Group 168">
            <a:extLst>
              <a:ext uri="{FF2B5EF4-FFF2-40B4-BE49-F238E27FC236}">
                <a16:creationId xmlns:a16="http://schemas.microsoft.com/office/drawing/2014/main" id="{4A1C9723-6A95-4AB9-B15F-90169FE503BD}"/>
              </a:ext>
            </a:extLst>
          </p:cNvPr>
          <p:cNvGraphicFramePr>
            <a:graphicFrameLocks noGrp="1"/>
          </p:cNvGraphicFramePr>
          <p:nvPr>
            <p:ph idx="1"/>
          </p:nvPr>
        </p:nvGraphicFramePr>
        <p:xfrm>
          <a:off x="1804980" y="1212455"/>
          <a:ext cx="8799754" cy="5064938"/>
        </p:xfrm>
        <a:graphic>
          <a:graphicData uri="http://schemas.openxmlformats.org/drawingml/2006/table">
            <a:tbl>
              <a:tblPr/>
              <a:tblGrid>
                <a:gridCol w="733313">
                  <a:extLst>
                    <a:ext uri="{9D8B030D-6E8A-4147-A177-3AD203B41FA5}">
                      <a16:colId xmlns:a16="http://schemas.microsoft.com/office/drawing/2014/main" val="20000"/>
                    </a:ext>
                  </a:extLst>
                </a:gridCol>
                <a:gridCol w="1466627">
                  <a:extLst>
                    <a:ext uri="{9D8B030D-6E8A-4147-A177-3AD203B41FA5}">
                      <a16:colId xmlns:a16="http://schemas.microsoft.com/office/drawing/2014/main" val="20001"/>
                    </a:ext>
                  </a:extLst>
                </a:gridCol>
                <a:gridCol w="1099969">
                  <a:extLst>
                    <a:ext uri="{9D8B030D-6E8A-4147-A177-3AD203B41FA5}">
                      <a16:colId xmlns:a16="http://schemas.microsoft.com/office/drawing/2014/main" val="20002"/>
                    </a:ext>
                  </a:extLst>
                </a:gridCol>
                <a:gridCol w="1099969">
                  <a:extLst>
                    <a:ext uri="{9D8B030D-6E8A-4147-A177-3AD203B41FA5}">
                      <a16:colId xmlns:a16="http://schemas.microsoft.com/office/drawing/2014/main" val="20003"/>
                    </a:ext>
                  </a:extLst>
                </a:gridCol>
                <a:gridCol w="1099969">
                  <a:extLst>
                    <a:ext uri="{9D8B030D-6E8A-4147-A177-3AD203B41FA5}">
                      <a16:colId xmlns:a16="http://schemas.microsoft.com/office/drawing/2014/main" val="20004"/>
                    </a:ext>
                  </a:extLst>
                </a:gridCol>
                <a:gridCol w="1099969">
                  <a:extLst>
                    <a:ext uri="{9D8B030D-6E8A-4147-A177-3AD203B41FA5}">
                      <a16:colId xmlns:a16="http://schemas.microsoft.com/office/drawing/2014/main" val="20005"/>
                    </a:ext>
                  </a:extLst>
                </a:gridCol>
                <a:gridCol w="1099969">
                  <a:extLst>
                    <a:ext uri="{9D8B030D-6E8A-4147-A177-3AD203B41FA5}">
                      <a16:colId xmlns:a16="http://schemas.microsoft.com/office/drawing/2014/main" val="20006"/>
                    </a:ext>
                  </a:extLst>
                </a:gridCol>
                <a:gridCol w="1099969">
                  <a:extLst>
                    <a:ext uri="{9D8B030D-6E8A-4147-A177-3AD203B41FA5}">
                      <a16:colId xmlns:a16="http://schemas.microsoft.com/office/drawing/2014/main" val="20007"/>
                    </a:ext>
                  </a:extLst>
                </a:gridCol>
              </a:tblGrid>
              <a:tr h="336182">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黑体" panose="02010609060101010101" pitchFamily="49" charset="-122"/>
                          <a:ea typeface="宋体" panose="02010600030101010101" pitchFamily="2" charset="-122"/>
                        </a:rPr>
                        <a:t>NO</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黑体" panose="02010609060101010101" pitchFamily="49" charset="-122"/>
                          <a:ea typeface="宋体" panose="02010600030101010101" pitchFamily="2" charset="-122"/>
                        </a:rPr>
                        <a:t>任务</a:t>
                      </a:r>
                      <a:r>
                        <a:rPr kumimoji="0" lang="en-US" altLang="zh-CN" sz="1600" b="1" i="0" u="none" strike="noStrike" cap="none" normalizeH="0" baseline="0">
                          <a:ln>
                            <a:noFill/>
                          </a:ln>
                          <a:solidFill>
                            <a:schemeClr val="tx1"/>
                          </a:solidFill>
                          <a:effectLst/>
                          <a:latin typeface="黑体" panose="02010609060101010101" pitchFamily="49" charset="-122"/>
                          <a:ea typeface="宋体" panose="02010600030101010101" pitchFamily="2" charset="-122"/>
                        </a:rPr>
                        <a:t>/</a:t>
                      </a:r>
                      <a:r>
                        <a:rPr kumimoji="0" lang="zh-CN" altLang="en-US" sz="1600" b="1" i="0" u="none" strike="noStrike" cap="none" normalizeH="0" baseline="0">
                          <a:ln>
                            <a:noFill/>
                          </a:ln>
                          <a:solidFill>
                            <a:schemeClr val="tx1"/>
                          </a:solidFill>
                          <a:effectLst/>
                          <a:latin typeface="黑体" panose="02010609060101010101" pitchFamily="49" charset="-122"/>
                          <a:ea typeface="宋体" panose="02010600030101010101" pitchFamily="2" charset="-122"/>
                        </a:rPr>
                        <a:t>日期</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黑体" panose="02010609060101010101" pitchFamily="49" charset="-122"/>
                          <a:ea typeface="宋体" panose="02010600030101010101" pitchFamily="2" charset="-122"/>
                        </a:rPr>
                        <a:t>第</a:t>
                      </a:r>
                      <a:r>
                        <a:rPr kumimoji="0" lang="en-US" altLang="zh-CN" sz="1600" b="1" i="0" u="none" strike="noStrike" cap="none" normalizeH="0" baseline="0">
                          <a:ln>
                            <a:noFill/>
                          </a:ln>
                          <a:solidFill>
                            <a:schemeClr val="tx1"/>
                          </a:solidFill>
                          <a:effectLst/>
                          <a:latin typeface="黑体" panose="02010609060101010101" pitchFamily="49" charset="-122"/>
                          <a:ea typeface="宋体" panose="02010600030101010101" pitchFamily="2" charset="-122"/>
                        </a:rPr>
                        <a:t>1</a:t>
                      </a:r>
                      <a:r>
                        <a:rPr kumimoji="0" lang="zh-CN" altLang="en-US" sz="1600" b="1" i="0" u="none" strike="noStrike" cap="none" normalizeH="0" baseline="0">
                          <a:ln>
                            <a:noFill/>
                          </a:ln>
                          <a:solidFill>
                            <a:schemeClr val="tx1"/>
                          </a:solidFill>
                          <a:effectLst/>
                          <a:latin typeface="黑体" panose="02010609060101010101" pitchFamily="49" charset="-122"/>
                          <a:ea typeface="宋体" panose="02010600030101010101" pitchFamily="2" charset="-122"/>
                        </a:rPr>
                        <a:t>月</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solidFill>
                            <a:schemeClr val="tx1"/>
                          </a:solidFill>
                          <a:effectLst/>
                          <a:latin typeface="黑体" panose="02010609060101010101" pitchFamily="49" charset="-122"/>
                          <a:ea typeface="宋体" panose="02010600030101010101" pitchFamily="2" charset="-122"/>
                        </a:rPr>
                        <a:t>第</a:t>
                      </a:r>
                      <a:r>
                        <a:rPr kumimoji="0" lang="en-US" altLang="zh-CN" sz="1600" b="1" i="0" u="none" strike="noStrike" cap="none" normalizeH="0" baseline="0" dirty="0">
                          <a:ln>
                            <a:noFill/>
                          </a:ln>
                          <a:solidFill>
                            <a:schemeClr val="tx1"/>
                          </a:solidFill>
                          <a:effectLst/>
                          <a:latin typeface="黑体" panose="02010609060101010101" pitchFamily="49" charset="-122"/>
                          <a:ea typeface="宋体" panose="02010600030101010101" pitchFamily="2" charset="-122"/>
                        </a:rPr>
                        <a:t>2</a:t>
                      </a:r>
                      <a:r>
                        <a:rPr kumimoji="0" lang="zh-CN" altLang="en-US" sz="1600" b="1" i="0" u="none" strike="noStrike" cap="none" normalizeH="0" baseline="0" dirty="0">
                          <a:ln>
                            <a:noFill/>
                          </a:ln>
                          <a:solidFill>
                            <a:schemeClr val="tx1"/>
                          </a:solidFill>
                          <a:effectLst/>
                          <a:latin typeface="黑体" panose="02010609060101010101" pitchFamily="49" charset="-122"/>
                          <a:ea typeface="宋体" panose="02010600030101010101" pitchFamily="2" charset="-122"/>
                        </a:rPr>
                        <a:t>月</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solidFill>
                            <a:schemeClr val="tx1"/>
                          </a:solidFill>
                          <a:effectLst/>
                          <a:latin typeface="黑体" panose="02010609060101010101" pitchFamily="49" charset="-122"/>
                          <a:ea typeface="宋体" panose="02010600030101010101" pitchFamily="2" charset="-122"/>
                        </a:rPr>
                        <a:t>第</a:t>
                      </a:r>
                      <a:r>
                        <a:rPr kumimoji="0" lang="en-US" altLang="zh-CN" sz="1600" b="1" i="0" u="none" strike="noStrike" cap="none" normalizeH="0" baseline="0" dirty="0">
                          <a:ln>
                            <a:noFill/>
                          </a:ln>
                          <a:solidFill>
                            <a:schemeClr val="tx1"/>
                          </a:solidFill>
                          <a:effectLst/>
                          <a:latin typeface="黑体" panose="02010609060101010101" pitchFamily="49" charset="-122"/>
                          <a:ea typeface="宋体" panose="02010600030101010101" pitchFamily="2" charset="-122"/>
                        </a:rPr>
                        <a:t>3</a:t>
                      </a:r>
                      <a:r>
                        <a:rPr kumimoji="0" lang="zh-CN" altLang="en-US" sz="1600" b="1" i="0" u="none" strike="noStrike" cap="none" normalizeH="0" baseline="0" dirty="0">
                          <a:ln>
                            <a:noFill/>
                          </a:ln>
                          <a:solidFill>
                            <a:schemeClr val="tx1"/>
                          </a:solidFill>
                          <a:effectLst/>
                          <a:latin typeface="黑体" panose="02010609060101010101" pitchFamily="49" charset="-122"/>
                          <a:ea typeface="宋体" panose="02010600030101010101" pitchFamily="2" charset="-122"/>
                        </a:rPr>
                        <a:t>月</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黑体" panose="02010609060101010101" pitchFamily="49" charset="-122"/>
                          <a:ea typeface="宋体" panose="02010600030101010101" pitchFamily="2" charset="-122"/>
                        </a:rPr>
                        <a:t>第</a:t>
                      </a:r>
                      <a:r>
                        <a:rPr kumimoji="0" lang="en-US" altLang="zh-CN" sz="1600" b="1" i="0" u="none" strike="noStrike" cap="none" normalizeH="0" baseline="0">
                          <a:ln>
                            <a:noFill/>
                          </a:ln>
                          <a:solidFill>
                            <a:schemeClr val="tx1"/>
                          </a:solidFill>
                          <a:effectLst/>
                          <a:latin typeface="黑体" panose="02010609060101010101" pitchFamily="49" charset="-122"/>
                          <a:ea typeface="宋体" panose="02010600030101010101" pitchFamily="2" charset="-122"/>
                        </a:rPr>
                        <a:t>4</a:t>
                      </a:r>
                      <a:r>
                        <a:rPr kumimoji="0" lang="zh-CN" altLang="en-US" sz="1600" b="1" i="0" u="none" strike="noStrike" cap="none" normalizeH="0" baseline="0">
                          <a:ln>
                            <a:noFill/>
                          </a:ln>
                          <a:solidFill>
                            <a:schemeClr val="tx1"/>
                          </a:solidFill>
                          <a:effectLst/>
                          <a:latin typeface="黑体" panose="02010609060101010101" pitchFamily="49" charset="-122"/>
                          <a:ea typeface="宋体" panose="02010600030101010101" pitchFamily="2" charset="-122"/>
                        </a:rPr>
                        <a:t>月</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黑体" panose="02010609060101010101" pitchFamily="49" charset="-122"/>
                          <a:ea typeface="宋体" panose="02010600030101010101" pitchFamily="2" charset="-122"/>
                        </a:rPr>
                        <a:t>第</a:t>
                      </a:r>
                      <a:r>
                        <a:rPr kumimoji="0" lang="en-US" altLang="zh-CN" sz="1600" b="1" i="0" u="none" strike="noStrike" cap="none" normalizeH="0" baseline="0">
                          <a:ln>
                            <a:noFill/>
                          </a:ln>
                          <a:solidFill>
                            <a:schemeClr val="tx1"/>
                          </a:solidFill>
                          <a:effectLst/>
                          <a:latin typeface="黑体" panose="02010609060101010101" pitchFamily="49" charset="-122"/>
                          <a:ea typeface="宋体" panose="02010600030101010101" pitchFamily="2" charset="-122"/>
                        </a:rPr>
                        <a:t>5</a:t>
                      </a:r>
                      <a:r>
                        <a:rPr kumimoji="0" lang="zh-CN" altLang="en-US" sz="1600" b="1" i="0" u="none" strike="noStrike" cap="none" normalizeH="0" baseline="0">
                          <a:ln>
                            <a:noFill/>
                          </a:ln>
                          <a:solidFill>
                            <a:schemeClr val="tx1"/>
                          </a:solidFill>
                          <a:effectLst/>
                          <a:latin typeface="黑体" panose="02010609060101010101" pitchFamily="49" charset="-122"/>
                          <a:ea typeface="宋体" panose="02010600030101010101" pitchFamily="2" charset="-122"/>
                        </a:rPr>
                        <a:t>月</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黑体" panose="02010609060101010101" pitchFamily="49" charset="-122"/>
                          <a:ea typeface="宋体" panose="02010600030101010101" pitchFamily="2" charset="-122"/>
                        </a:rPr>
                        <a:t>第</a:t>
                      </a:r>
                      <a:r>
                        <a:rPr kumimoji="0" lang="en-US" altLang="zh-CN" sz="1600" b="1" i="0" u="none" strike="noStrike" cap="none" normalizeH="0" baseline="0">
                          <a:ln>
                            <a:noFill/>
                          </a:ln>
                          <a:solidFill>
                            <a:schemeClr val="tx1"/>
                          </a:solidFill>
                          <a:effectLst/>
                          <a:latin typeface="黑体" panose="02010609060101010101" pitchFamily="49" charset="-122"/>
                          <a:ea typeface="宋体" panose="02010600030101010101" pitchFamily="2" charset="-122"/>
                        </a:rPr>
                        <a:t>6</a:t>
                      </a:r>
                      <a:r>
                        <a:rPr kumimoji="0" lang="zh-CN" altLang="en-US" sz="1600" b="1" i="0" u="none" strike="noStrike" cap="none" normalizeH="0" baseline="0">
                          <a:ln>
                            <a:noFill/>
                          </a:ln>
                          <a:solidFill>
                            <a:schemeClr val="tx1"/>
                          </a:solidFill>
                          <a:effectLst/>
                          <a:latin typeface="黑体" panose="02010609060101010101" pitchFamily="49" charset="-122"/>
                          <a:ea typeface="宋体" panose="02010600030101010101" pitchFamily="2" charset="-122"/>
                        </a:rPr>
                        <a:t>月</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extLst>
                  <a:ext uri="{0D108BD9-81ED-4DB2-BD59-A6C34878D82A}">
                    <a16:rowId xmlns:a16="http://schemas.microsoft.com/office/drawing/2014/main" val="10000"/>
                  </a:ext>
                </a:extLst>
              </a:tr>
              <a:tr h="336182">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技术论证</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6182">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招聘员工</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6182">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3</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员工培训</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6182">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4</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软件开发</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6182">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5</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加工样品</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6182">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6</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模拟测试</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6182">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7</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制作模型</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36182">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8</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申报检验</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36182">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9</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通过检验</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36182">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10</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委托加工</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36182">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11</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试点安装</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36182">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12</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试点验收</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40638">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成本预算</a:t>
                      </a: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元</a:t>
                      </a: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rgbClr val="1106E4"/>
                          </a:solidFill>
                          <a:effectLst/>
                          <a:latin typeface="Arial" panose="020B0604020202020204" pitchFamily="34" charset="0"/>
                          <a:ea typeface="宋体" panose="02010600030101010101" pitchFamily="2" charset="-122"/>
                        </a:rPr>
                        <a:t>250,000</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rgbClr val="1106E4"/>
                          </a:solidFill>
                          <a:effectLst/>
                          <a:latin typeface="Arial" panose="020B0604020202020204" pitchFamily="34" charset="0"/>
                          <a:ea typeface="宋体" panose="02010600030101010101" pitchFamily="2" charset="-122"/>
                        </a:rPr>
                        <a:t>150,000</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rgbClr val="1106E4"/>
                          </a:solidFill>
                          <a:effectLst/>
                          <a:latin typeface="Arial" panose="020B0604020202020204" pitchFamily="34" charset="0"/>
                          <a:ea typeface="宋体" panose="02010600030101010101" pitchFamily="2" charset="-122"/>
                        </a:rPr>
                        <a:t>200,000</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rgbClr val="1106E4"/>
                          </a:solidFill>
                          <a:effectLst/>
                          <a:latin typeface="Arial" panose="020B0604020202020204" pitchFamily="34" charset="0"/>
                          <a:ea typeface="宋体" panose="02010600030101010101" pitchFamily="2" charset="-122"/>
                        </a:rPr>
                        <a:t>100,000</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rgbClr val="1106E4"/>
                          </a:solidFill>
                          <a:effectLst/>
                          <a:latin typeface="Arial" panose="020B0604020202020204" pitchFamily="34" charset="0"/>
                          <a:ea typeface="宋体" panose="02010600030101010101" pitchFamily="2" charset="-122"/>
                        </a:rPr>
                        <a:t>150,000</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rgbClr val="1106E4"/>
                          </a:solidFill>
                          <a:effectLst/>
                          <a:latin typeface="Arial" panose="020B0604020202020204" pitchFamily="34" charset="0"/>
                          <a:ea typeface="宋体" panose="02010600030101010101" pitchFamily="2" charset="-122"/>
                        </a:rPr>
                        <a:t>100,000</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extLst>
                  <a:ext uri="{0D108BD9-81ED-4DB2-BD59-A6C34878D82A}">
                    <a16:rowId xmlns:a16="http://schemas.microsoft.com/office/drawing/2014/main" val="10013"/>
                  </a:ext>
                </a:extLst>
              </a:tr>
              <a:tr h="333487">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累计预算</a:t>
                      </a: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元</a:t>
                      </a: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250,000</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400,000</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600,000</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700,000</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850,000</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950,000</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extLst>
                  <a:ext uri="{0D108BD9-81ED-4DB2-BD59-A6C34878D82A}">
                    <a16:rowId xmlns:a16="http://schemas.microsoft.com/office/drawing/2014/main" val="10014"/>
                  </a:ext>
                </a:extLst>
              </a:tr>
            </a:tbl>
          </a:graphicData>
        </a:graphic>
      </p:graphicFrame>
      <p:grpSp>
        <p:nvGrpSpPr>
          <p:cNvPr id="19" name="组合 18">
            <a:extLst>
              <a:ext uri="{FF2B5EF4-FFF2-40B4-BE49-F238E27FC236}">
                <a16:creationId xmlns:a16="http://schemas.microsoft.com/office/drawing/2014/main" id="{D79D3CDA-077C-4771-BC7B-BD27F1618C02}"/>
              </a:ext>
            </a:extLst>
          </p:cNvPr>
          <p:cNvGrpSpPr/>
          <p:nvPr/>
        </p:nvGrpSpPr>
        <p:grpSpPr>
          <a:xfrm>
            <a:off x="4076700" y="1533499"/>
            <a:ext cx="6390491" cy="4036742"/>
            <a:chOff x="2590800" y="1134590"/>
            <a:chExt cx="5638800" cy="4059445"/>
          </a:xfrm>
        </p:grpSpPr>
        <p:sp>
          <p:nvSpPr>
            <p:cNvPr id="20" name="Rectangle 153">
              <a:extLst>
                <a:ext uri="{FF2B5EF4-FFF2-40B4-BE49-F238E27FC236}">
                  <a16:creationId xmlns:a16="http://schemas.microsoft.com/office/drawing/2014/main" id="{5225D8DD-220F-9D99-A6F5-67ACCF6164A7}"/>
                </a:ext>
              </a:extLst>
            </p:cNvPr>
            <p:cNvSpPr>
              <a:spLocks noChangeArrowheads="1"/>
            </p:cNvSpPr>
            <p:nvPr/>
          </p:nvSpPr>
          <p:spPr bwMode="auto">
            <a:xfrm>
              <a:off x="2590800" y="1134590"/>
              <a:ext cx="381000" cy="322788"/>
            </a:xfrm>
            <a:prstGeom prst="rect">
              <a:avLst/>
            </a:prstGeom>
            <a:solidFill>
              <a:schemeClr val="accent2"/>
            </a:solidFill>
            <a:ln w="9525" algn="ctr">
              <a:solidFill>
                <a:schemeClr val="tx1"/>
              </a:solidFill>
              <a:miter lim="800000"/>
              <a:headEnd/>
              <a:tailEnd/>
            </a:ln>
            <a:effectLst/>
          </p:spPr>
          <p:txBody>
            <a:bodyPr wrap="none" lIns="90000" tIns="46800" rIns="90000" bIns="46800" anchor="ctr"/>
            <a:lstStyle/>
            <a:p>
              <a:pPr algn="ctr" eaLnBrk="1" hangingPunct="1">
                <a:spcBef>
                  <a:spcPct val="20000"/>
                </a:spcBef>
                <a:defRPr/>
              </a:pPr>
              <a:r>
                <a:rPr lang="en-US" altLang="zh-CN" sz="2000" dirty="0">
                  <a:solidFill>
                    <a:schemeClr val="bg1"/>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10</a:t>
              </a:r>
            </a:p>
          </p:txBody>
        </p:sp>
        <p:sp>
          <p:nvSpPr>
            <p:cNvPr id="21" name="Rectangle 154">
              <a:extLst>
                <a:ext uri="{FF2B5EF4-FFF2-40B4-BE49-F238E27FC236}">
                  <a16:creationId xmlns:a16="http://schemas.microsoft.com/office/drawing/2014/main" id="{29309132-42D3-AE10-2385-6B5EBE8BAB9E}"/>
                </a:ext>
              </a:extLst>
            </p:cNvPr>
            <p:cNvSpPr>
              <a:spLocks noChangeArrowheads="1"/>
            </p:cNvSpPr>
            <p:nvPr/>
          </p:nvSpPr>
          <p:spPr bwMode="auto">
            <a:xfrm>
              <a:off x="2971800" y="1466958"/>
              <a:ext cx="609600" cy="332888"/>
            </a:xfrm>
            <a:prstGeom prst="rect">
              <a:avLst/>
            </a:prstGeom>
            <a:solidFill>
              <a:schemeClr val="accent2"/>
            </a:solidFill>
            <a:ln w="9525" algn="ctr">
              <a:solidFill>
                <a:schemeClr val="tx1"/>
              </a:solidFill>
              <a:miter lim="800000"/>
              <a:headEnd/>
              <a:tailEnd/>
            </a:ln>
            <a:effectLst/>
          </p:spPr>
          <p:txBody>
            <a:bodyPr wrap="none" lIns="90000" tIns="46800" rIns="90000" bIns="46800" anchor="ctr"/>
            <a:lstStyle/>
            <a:p>
              <a:pPr algn="ctr" eaLnBrk="1" hangingPunct="1">
                <a:spcBef>
                  <a:spcPct val="20000"/>
                </a:spcBef>
                <a:defRPr/>
              </a:pPr>
              <a:r>
                <a:rPr lang="en-US" altLang="zh-CN" sz="2000" dirty="0">
                  <a:solidFill>
                    <a:schemeClr val="bg1"/>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20</a:t>
              </a:r>
            </a:p>
          </p:txBody>
        </p:sp>
        <p:sp>
          <p:nvSpPr>
            <p:cNvPr id="22" name="Rectangle 155">
              <a:extLst>
                <a:ext uri="{FF2B5EF4-FFF2-40B4-BE49-F238E27FC236}">
                  <a16:creationId xmlns:a16="http://schemas.microsoft.com/office/drawing/2014/main" id="{8EE226DD-B2CB-9287-344D-AB7897E3E734}"/>
                </a:ext>
              </a:extLst>
            </p:cNvPr>
            <p:cNvSpPr>
              <a:spLocks noChangeArrowheads="1"/>
            </p:cNvSpPr>
            <p:nvPr/>
          </p:nvSpPr>
          <p:spPr bwMode="auto">
            <a:xfrm>
              <a:off x="3200400" y="1796084"/>
              <a:ext cx="914400" cy="337515"/>
            </a:xfrm>
            <a:prstGeom prst="rect">
              <a:avLst/>
            </a:prstGeom>
            <a:solidFill>
              <a:schemeClr val="accent2"/>
            </a:solidFill>
            <a:ln w="9525" algn="ctr">
              <a:solidFill>
                <a:schemeClr val="tx1"/>
              </a:solidFill>
              <a:miter lim="800000"/>
              <a:headEnd/>
              <a:tailEnd/>
            </a:ln>
            <a:effectLst/>
          </p:spPr>
          <p:txBody>
            <a:bodyPr wrap="none" lIns="90000" tIns="46800" rIns="90000" bIns="46800" anchor="ctr"/>
            <a:lstStyle/>
            <a:p>
              <a:pPr algn="ctr" eaLnBrk="1" hangingPunct="1">
                <a:spcBef>
                  <a:spcPct val="20000"/>
                </a:spcBef>
                <a:defRPr/>
              </a:pPr>
              <a:r>
                <a:rPr lang="en-US" altLang="zh-CN" sz="2000" dirty="0">
                  <a:solidFill>
                    <a:schemeClr val="bg1"/>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30</a:t>
              </a:r>
            </a:p>
          </p:txBody>
        </p:sp>
        <p:sp>
          <p:nvSpPr>
            <p:cNvPr id="23" name="Rectangle 156">
              <a:extLst>
                <a:ext uri="{FF2B5EF4-FFF2-40B4-BE49-F238E27FC236}">
                  <a16:creationId xmlns:a16="http://schemas.microsoft.com/office/drawing/2014/main" id="{6F6D99D8-EED7-4282-6599-169F32850B10}"/>
                </a:ext>
              </a:extLst>
            </p:cNvPr>
            <p:cNvSpPr>
              <a:spLocks noChangeArrowheads="1"/>
            </p:cNvSpPr>
            <p:nvPr/>
          </p:nvSpPr>
          <p:spPr bwMode="auto">
            <a:xfrm>
              <a:off x="3200400" y="2143178"/>
              <a:ext cx="1371600" cy="333538"/>
            </a:xfrm>
            <a:prstGeom prst="rect">
              <a:avLst/>
            </a:prstGeom>
            <a:solidFill>
              <a:schemeClr val="accent2"/>
            </a:solidFill>
            <a:ln w="9525" algn="ctr">
              <a:solidFill>
                <a:schemeClr val="tx1"/>
              </a:solidFill>
              <a:miter lim="800000"/>
              <a:headEnd/>
              <a:tailEnd/>
            </a:ln>
            <a:effectLst/>
          </p:spPr>
          <p:txBody>
            <a:bodyPr wrap="none" lIns="90000" tIns="46800" rIns="90000" bIns="46800" anchor="ctr"/>
            <a:lstStyle/>
            <a:p>
              <a:pPr algn="ctr" eaLnBrk="1" hangingPunct="1">
                <a:spcBef>
                  <a:spcPct val="20000"/>
                </a:spcBef>
                <a:defRPr/>
              </a:pPr>
              <a:r>
                <a:rPr lang="en-US" altLang="zh-CN" sz="2000" dirty="0">
                  <a:solidFill>
                    <a:schemeClr val="bg1"/>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40</a:t>
              </a:r>
            </a:p>
          </p:txBody>
        </p:sp>
        <p:sp>
          <p:nvSpPr>
            <p:cNvPr id="24" name="Rectangle 157">
              <a:extLst>
                <a:ext uri="{FF2B5EF4-FFF2-40B4-BE49-F238E27FC236}">
                  <a16:creationId xmlns:a16="http://schemas.microsoft.com/office/drawing/2014/main" id="{9E8A0EAF-79D1-26A9-A351-A881466EB32C}"/>
                </a:ext>
              </a:extLst>
            </p:cNvPr>
            <p:cNvSpPr>
              <a:spLocks noChangeArrowheads="1"/>
            </p:cNvSpPr>
            <p:nvPr/>
          </p:nvSpPr>
          <p:spPr bwMode="auto">
            <a:xfrm>
              <a:off x="3581400" y="2484450"/>
              <a:ext cx="990600" cy="327506"/>
            </a:xfrm>
            <a:prstGeom prst="rect">
              <a:avLst/>
            </a:prstGeom>
            <a:solidFill>
              <a:schemeClr val="accent2"/>
            </a:solidFill>
            <a:ln w="9525" algn="ctr">
              <a:solidFill>
                <a:schemeClr val="tx1"/>
              </a:solidFill>
              <a:miter lim="800000"/>
              <a:headEnd/>
              <a:tailEnd/>
            </a:ln>
            <a:effectLst/>
          </p:spPr>
          <p:txBody>
            <a:bodyPr wrap="none" lIns="90000" tIns="46800" rIns="90000" bIns="46800" anchor="ctr"/>
            <a:lstStyle/>
            <a:p>
              <a:pPr algn="ctr" eaLnBrk="1" hangingPunct="1">
                <a:spcBef>
                  <a:spcPct val="20000"/>
                </a:spcBef>
                <a:defRPr/>
              </a:pPr>
              <a:r>
                <a:rPr lang="en-US" altLang="zh-CN" sz="2000" dirty="0">
                  <a:solidFill>
                    <a:schemeClr val="bg1"/>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30</a:t>
              </a:r>
            </a:p>
          </p:txBody>
        </p:sp>
        <p:sp>
          <p:nvSpPr>
            <p:cNvPr id="25" name="Rectangle 158">
              <a:extLst>
                <a:ext uri="{FF2B5EF4-FFF2-40B4-BE49-F238E27FC236}">
                  <a16:creationId xmlns:a16="http://schemas.microsoft.com/office/drawing/2014/main" id="{031D9573-C07F-C609-03DC-46E9CFBC0850}"/>
                </a:ext>
              </a:extLst>
            </p:cNvPr>
            <p:cNvSpPr>
              <a:spLocks noChangeArrowheads="1"/>
            </p:cNvSpPr>
            <p:nvPr/>
          </p:nvSpPr>
          <p:spPr bwMode="auto">
            <a:xfrm>
              <a:off x="4572000" y="2825652"/>
              <a:ext cx="381000" cy="327506"/>
            </a:xfrm>
            <a:prstGeom prst="rect">
              <a:avLst/>
            </a:prstGeom>
            <a:solidFill>
              <a:schemeClr val="accent2"/>
            </a:solidFill>
            <a:ln w="9525" algn="ctr">
              <a:solidFill>
                <a:schemeClr val="tx1"/>
              </a:solidFill>
              <a:miter lim="800000"/>
              <a:headEnd/>
              <a:tailEnd/>
            </a:ln>
            <a:effectLst/>
          </p:spPr>
          <p:txBody>
            <a:bodyPr wrap="none" lIns="90000" tIns="46800" rIns="90000" bIns="46800" anchor="ctr"/>
            <a:lstStyle/>
            <a:p>
              <a:pPr algn="ctr" eaLnBrk="1" hangingPunct="1">
                <a:spcBef>
                  <a:spcPct val="20000"/>
                </a:spcBef>
                <a:defRPr/>
              </a:pPr>
              <a:r>
                <a:rPr lang="en-US" altLang="zh-CN" sz="2000" dirty="0">
                  <a:solidFill>
                    <a:schemeClr val="bg1"/>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10</a:t>
              </a:r>
            </a:p>
          </p:txBody>
        </p:sp>
        <p:sp>
          <p:nvSpPr>
            <p:cNvPr id="26" name="Rectangle 159">
              <a:extLst>
                <a:ext uri="{FF2B5EF4-FFF2-40B4-BE49-F238E27FC236}">
                  <a16:creationId xmlns:a16="http://schemas.microsoft.com/office/drawing/2014/main" id="{A04BB634-9C46-42B1-8F92-7562F6872C7D}"/>
                </a:ext>
              </a:extLst>
            </p:cNvPr>
            <p:cNvSpPr>
              <a:spLocks noChangeArrowheads="1"/>
            </p:cNvSpPr>
            <p:nvPr/>
          </p:nvSpPr>
          <p:spPr bwMode="auto">
            <a:xfrm>
              <a:off x="4953000" y="3153158"/>
              <a:ext cx="609600" cy="352040"/>
            </a:xfrm>
            <a:prstGeom prst="rect">
              <a:avLst/>
            </a:prstGeom>
            <a:solidFill>
              <a:schemeClr val="accent2"/>
            </a:solidFill>
            <a:ln w="9525" algn="ctr">
              <a:solidFill>
                <a:schemeClr val="tx1"/>
              </a:solidFill>
              <a:miter lim="800000"/>
              <a:headEnd/>
              <a:tailEnd/>
            </a:ln>
            <a:effectLst/>
          </p:spPr>
          <p:txBody>
            <a:bodyPr wrap="none" lIns="90000" tIns="46800" rIns="90000" bIns="46800" anchor="ctr"/>
            <a:lstStyle/>
            <a:p>
              <a:pPr algn="ctr" eaLnBrk="1" hangingPunct="1">
                <a:spcBef>
                  <a:spcPct val="20000"/>
                </a:spcBef>
                <a:defRPr/>
              </a:pPr>
              <a:r>
                <a:rPr lang="en-US" altLang="zh-CN" sz="2000" dirty="0">
                  <a:solidFill>
                    <a:schemeClr val="bg1"/>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20</a:t>
              </a:r>
            </a:p>
          </p:txBody>
        </p:sp>
        <p:sp>
          <p:nvSpPr>
            <p:cNvPr id="27" name="Rectangle 160">
              <a:extLst>
                <a:ext uri="{FF2B5EF4-FFF2-40B4-BE49-F238E27FC236}">
                  <a16:creationId xmlns:a16="http://schemas.microsoft.com/office/drawing/2014/main" id="{A0568F9A-AFBE-A063-E312-FE9C379A4BFF}"/>
                </a:ext>
              </a:extLst>
            </p:cNvPr>
            <p:cNvSpPr>
              <a:spLocks noChangeArrowheads="1"/>
            </p:cNvSpPr>
            <p:nvPr/>
          </p:nvSpPr>
          <p:spPr bwMode="auto">
            <a:xfrm>
              <a:off x="4953000" y="3506662"/>
              <a:ext cx="152400" cy="327507"/>
            </a:xfrm>
            <a:prstGeom prst="rect">
              <a:avLst/>
            </a:prstGeom>
            <a:solidFill>
              <a:schemeClr val="accent2"/>
            </a:solidFill>
            <a:ln w="9525" algn="ctr">
              <a:solidFill>
                <a:schemeClr val="tx1"/>
              </a:solidFill>
              <a:miter lim="800000"/>
              <a:headEnd/>
              <a:tailEnd/>
            </a:ln>
            <a:effectLst/>
          </p:spPr>
          <p:txBody>
            <a:bodyPr wrap="none" lIns="90000" tIns="46800" rIns="90000" bIns="46800" anchor="ctr"/>
            <a:lstStyle/>
            <a:p>
              <a:pPr algn="ctr" eaLnBrk="1" hangingPunct="1">
                <a:spcBef>
                  <a:spcPct val="20000"/>
                </a:spcBef>
                <a:defRPr/>
              </a:pPr>
              <a:r>
                <a:rPr lang="en-US" altLang="zh-CN" sz="2000" dirty="0">
                  <a:solidFill>
                    <a:schemeClr val="bg1"/>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3</a:t>
              </a:r>
            </a:p>
          </p:txBody>
        </p:sp>
        <p:sp>
          <p:nvSpPr>
            <p:cNvPr id="28" name="Rectangle 161">
              <a:extLst>
                <a:ext uri="{FF2B5EF4-FFF2-40B4-BE49-F238E27FC236}">
                  <a16:creationId xmlns:a16="http://schemas.microsoft.com/office/drawing/2014/main" id="{15E8D095-4284-B006-C1DC-19B9C22275AB}"/>
                </a:ext>
              </a:extLst>
            </p:cNvPr>
            <p:cNvSpPr>
              <a:spLocks noChangeArrowheads="1"/>
            </p:cNvSpPr>
            <p:nvPr/>
          </p:nvSpPr>
          <p:spPr bwMode="auto">
            <a:xfrm>
              <a:off x="5562600" y="3847073"/>
              <a:ext cx="1066800" cy="327507"/>
            </a:xfrm>
            <a:prstGeom prst="rect">
              <a:avLst/>
            </a:prstGeom>
            <a:solidFill>
              <a:schemeClr val="accent2"/>
            </a:solidFill>
            <a:ln w="9525" algn="ctr">
              <a:solidFill>
                <a:schemeClr val="tx1"/>
              </a:solidFill>
              <a:miter lim="800000"/>
              <a:headEnd/>
              <a:tailEnd/>
            </a:ln>
            <a:effectLst/>
          </p:spPr>
          <p:txBody>
            <a:bodyPr wrap="none" lIns="90000" tIns="46800" rIns="90000" bIns="46800" anchor="ctr"/>
            <a:lstStyle/>
            <a:p>
              <a:pPr algn="ctr" eaLnBrk="1" hangingPunct="1">
                <a:spcBef>
                  <a:spcPct val="20000"/>
                </a:spcBef>
                <a:defRPr/>
              </a:pPr>
              <a:r>
                <a:rPr lang="en-US" altLang="zh-CN" sz="2000" dirty="0">
                  <a:solidFill>
                    <a:schemeClr val="bg1"/>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30</a:t>
              </a:r>
            </a:p>
          </p:txBody>
        </p:sp>
        <p:sp>
          <p:nvSpPr>
            <p:cNvPr id="29" name="Rectangle 162">
              <a:extLst>
                <a:ext uri="{FF2B5EF4-FFF2-40B4-BE49-F238E27FC236}">
                  <a16:creationId xmlns:a16="http://schemas.microsoft.com/office/drawing/2014/main" id="{4E2647CC-EAAD-87B1-DC0D-DF867884A266}"/>
                </a:ext>
              </a:extLst>
            </p:cNvPr>
            <p:cNvSpPr>
              <a:spLocks noChangeArrowheads="1"/>
            </p:cNvSpPr>
            <p:nvPr/>
          </p:nvSpPr>
          <p:spPr bwMode="auto">
            <a:xfrm>
              <a:off x="6629400" y="4187672"/>
              <a:ext cx="685800" cy="323992"/>
            </a:xfrm>
            <a:prstGeom prst="rect">
              <a:avLst/>
            </a:prstGeom>
            <a:solidFill>
              <a:schemeClr val="accent2"/>
            </a:solidFill>
            <a:ln w="9525" algn="ctr">
              <a:solidFill>
                <a:schemeClr val="tx1"/>
              </a:solidFill>
              <a:miter lim="800000"/>
              <a:headEnd/>
              <a:tailEnd/>
            </a:ln>
            <a:effectLst/>
          </p:spPr>
          <p:txBody>
            <a:bodyPr wrap="none" lIns="90000" tIns="46800" rIns="90000" bIns="46800" anchor="ctr"/>
            <a:lstStyle/>
            <a:p>
              <a:pPr algn="ctr" eaLnBrk="1" hangingPunct="1">
                <a:spcBef>
                  <a:spcPct val="20000"/>
                </a:spcBef>
                <a:defRPr/>
              </a:pPr>
              <a:r>
                <a:rPr lang="en-US" altLang="zh-CN" sz="2000" dirty="0">
                  <a:solidFill>
                    <a:schemeClr val="bg1"/>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20</a:t>
              </a:r>
            </a:p>
          </p:txBody>
        </p:sp>
        <p:sp>
          <p:nvSpPr>
            <p:cNvPr id="30" name="Rectangle 163">
              <a:extLst>
                <a:ext uri="{FF2B5EF4-FFF2-40B4-BE49-F238E27FC236}">
                  <a16:creationId xmlns:a16="http://schemas.microsoft.com/office/drawing/2014/main" id="{5BEB87DA-0177-07C3-B605-5CCAB16BAF47}"/>
                </a:ext>
              </a:extLst>
            </p:cNvPr>
            <p:cNvSpPr>
              <a:spLocks noChangeArrowheads="1"/>
            </p:cNvSpPr>
            <p:nvPr/>
          </p:nvSpPr>
          <p:spPr bwMode="auto">
            <a:xfrm>
              <a:off x="7315200" y="4528858"/>
              <a:ext cx="685800" cy="323992"/>
            </a:xfrm>
            <a:prstGeom prst="rect">
              <a:avLst/>
            </a:prstGeom>
            <a:solidFill>
              <a:schemeClr val="accent2"/>
            </a:solidFill>
            <a:ln w="9525" algn="ctr">
              <a:solidFill>
                <a:schemeClr val="tx1"/>
              </a:solidFill>
              <a:miter lim="800000"/>
              <a:headEnd/>
              <a:tailEnd/>
            </a:ln>
            <a:effectLst/>
          </p:spPr>
          <p:txBody>
            <a:bodyPr wrap="none" lIns="90000" tIns="46800" rIns="90000" bIns="46800" anchor="ctr"/>
            <a:lstStyle/>
            <a:p>
              <a:pPr algn="ctr" eaLnBrk="1" hangingPunct="1">
                <a:spcBef>
                  <a:spcPct val="20000"/>
                </a:spcBef>
                <a:defRPr/>
              </a:pPr>
              <a:r>
                <a:rPr lang="en-US" altLang="zh-CN" sz="2000" dirty="0">
                  <a:solidFill>
                    <a:schemeClr val="bg1"/>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20</a:t>
              </a:r>
            </a:p>
          </p:txBody>
        </p:sp>
        <p:sp>
          <p:nvSpPr>
            <p:cNvPr id="31" name="Rectangle 164">
              <a:extLst>
                <a:ext uri="{FF2B5EF4-FFF2-40B4-BE49-F238E27FC236}">
                  <a16:creationId xmlns:a16="http://schemas.microsoft.com/office/drawing/2014/main" id="{46385D6D-2536-EC72-E5FD-32D073FACCFA}"/>
                </a:ext>
              </a:extLst>
            </p:cNvPr>
            <p:cNvSpPr>
              <a:spLocks noChangeArrowheads="1"/>
            </p:cNvSpPr>
            <p:nvPr/>
          </p:nvSpPr>
          <p:spPr bwMode="auto">
            <a:xfrm>
              <a:off x="8001000" y="4870043"/>
              <a:ext cx="228600" cy="323992"/>
            </a:xfrm>
            <a:prstGeom prst="rect">
              <a:avLst/>
            </a:prstGeom>
            <a:solidFill>
              <a:schemeClr val="accent2"/>
            </a:solidFill>
            <a:ln w="9525" algn="ctr">
              <a:solidFill>
                <a:schemeClr val="tx1"/>
              </a:solidFill>
              <a:miter lim="800000"/>
              <a:headEnd/>
              <a:tailEnd/>
            </a:ln>
            <a:effectLst/>
          </p:spPr>
          <p:txBody>
            <a:bodyPr wrap="none" lIns="90000" tIns="46800" rIns="90000" bIns="46800" anchor="ctr"/>
            <a:lstStyle/>
            <a:p>
              <a:pPr algn="ctr" eaLnBrk="1" hangingPunct="1">
                <a:spcBef>
                  <a:spcPct val="20000"/>
                </a:spcBef>
                <a:defRPr/>
              </a:pPr>
              <a:r>
                <a:rPr lang="en-US" altLang="zh-CN" sz="2000" dirty="0">
                  <a:solidFill>
                    <a:schemeClr val="bg1"/>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3</a:t>
              </a:r>
            </a:p>
          </p:txBody>
        </p:sp>
      </p:gr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a:extLst>
              <a:ext uri="{FF2B5EF4-FFF2-40B4-BE49-F238E27FC236}">
                <a16:creationId xmlns:a16="http://schemas.microsoft.com/office/drawing/2014/main" id="{B5D36708-4ABE-4407-8BC7-575C06464370}"/>
              </a:ext>
            </a:extLst>
          </p:cNvPr>
          <p:cNvSpPr>
            <a:spLocks noGrp="1"/>
          </p:cNvSpPr>
          <p:nvPr>
            <p:ph type="title"/>
          </p:nvPr>
        </p:nvSpPr>
        <p:spPr/>
        <p:txBody>
          <a:bodyPr/>
          <a:lstStyle/>
          <a:p>
            <a:r>
              <a:rPr lang="zh-CN" altLang="en-US" sz="2400" dirty="0">
                <a:solidFill>
                  <a:srgbClr val="663300"/>
                </a:solidFill>
                <a:cs typeface="+mj-cs"/>
              </a:rPr>
              <a:t>制定预算的输出：</a:t>
            </a:r>
            <a:endParaRPr lang="en-US" altLang="zh-CN" sz="2400" dirty="0">
              <a:solidFill>
                <a:srgbClr val="663300"/>
              </a:solidFill>
              <a:cs typeface="+mj-cs"/>
            </a:endParaRPr>
          </a:p>
        </p:txBody>
      </p:sp>
      <p:sp>
        <p:nvSpPr>
          <p:cNvPr id="5" name="内容占位符 2">
            <a:extLst>
              <a:ext uri="{FF2B5EF4-FFF2-40B4-BE49-F238E27FC236}">
                <a16:creationId xmlns:a16="http://schemas.microsoft.com/office/drawing/2014/main" id="{3FB23A23-0F40-469D-A0B7-53EDB320FDD0}"/>
              </a:ext>
            </a:extLst>
          </p:cNvPr>
          <p:cNvSpPr>
            <a:spLocks noGrp="1"/>
          </p:cNvSpPr>
          <p:nvPr>
            <p:ph idx="1"/>
          </p:nvPr>
        </p:nvSpPr>
        <p:spPr>
          <a:xfrm>
            <a:off x="613884" y="1371827"/>
            <a:ext cx="8153400" cy="1352433"/>
          </a:xfrm>
        </p:spPr>
        <p:txBody>
          <a:bodyPr/>
          <a:lstStyle/>
          <a:p>
            <a:pPr lvl="1">
              <a:lnSpc>
                <a:spcPct val="100000"/>
              </a:lnSpc>
              <a:defRPr/>
            </a:pPr>
            <a:r>
              <a:rPr lang="zh-CN" altLang="en-US" sz="2000" dirty="0">
                <a:latin typeface="微软雅黑" panose="020B0503020204020204" pitchFamily="34" charset="-122"/>
              </a:rPr>
              <a:t>项目资金需求</a:t>
            </a:r>
            <a:endParaRPr lang="en-US" altLang="zh-CN" sz="2000" dirty="0">
              <a:latin typeface="微软雅黑" panose="020B0503020204020204" pitchFamily="34" charset="-122"/>
            </a:endParaRPr>
          </a:p>
          <a:p>
            <a:pPr lvl="2">
              <a:lnSpc>
                <a:spcPct val="100000"/>
              </a:lnSpc>
              <a:defRPr/>
            </a:pPr>
            <a:r>
              <a:rPr lang="zh-CN" altLang="en-US" sz="1800" dirty="0">
                <a:latin typeface="微软雅黑" panose="020B0503020204020204" pitchFamily="34" charset="-122"/>
              </a:rPr>
              <a:t>项目的资金投入以增量而非连续的方式进行</a:t>
            </a:r>
            <a:endParaRPr lang="en-US" altLang="zh-CN" sz="1800" dirty="0">
              <a:latin typeface="微软雅黑" panose="020B0503020204020204" pitchFamily="34" charset="-122"/>
            </a:endParaRPr>
          </a:p>
          <a:p>
            <a:pPr lvl="2">
              <a:lnSpc>
                <a:spcPct val="100000"/>
              </a:lnSpc>
              <a:defRPr/>
            </a:pPr>
            <a:r>
              <a:rPr lang="zh-CN" altLang="en-US" sz="1800" dirty="0">
                <a:latin typeface="微软雅黑" panose="020B0503020204020204" pitchFamily="34" charset="-122"/>
              </a:rPr>
              <a:t>总体资金需求</a:t>
            </a:r>
            <a:r>
              <a:rPr lang="en-US" altLang="zh-CN" sz="1800" dirty="0">
                <a:latin typeface="微软雅黑" panose="020B0503020204020204" pitchFamily="34" charset="-122"/>
              </a:rPr>
              <a:t>=</a:t>
            </a:r>
            <a:r>
              <a:rPr lang="zh-CN" altLang="en-US" sz="1800" dirty="0">
                <a:latin typeface="微软雅黑" panose="020B0503020204020204" pitchFamily="34" charset="-122"/>
              </a:rPr>
              <a:t>成本基准</a:t>
            </a:r>
            <a:r>
              <a:rPr lang="en-US" altLang="zh-CN" sz="1800" dirty="0">
                <a:latin typeface="微软雅黑" panose="020B0503020204020204" pitchFamily="34" charset="-122"/>
              </a:rPr>
              <a:t>+</a:t>
            </a:r>
            <a:r>
              <a:rPr lang="zh-CN" altLang="en-US" sz="1800" dirty="0">
                <a:latin typeface="微软雅黑" panose="020B0503020204020204" pitchFamily="34" charset="-122"/>
              </a:rPr>
              <a:t>管理应急储备金</a:t>
            </a:r>
          </a:p>
          <a:p>
            <a:pPr lvl="2">
              <a:lnSpc>
                <a:spcPct val="100000"/>
              </a:lnSpc>
              <a:defRPr/>
            </a:pPr>
            <a:r>
              <a:rPr lang="zh-CN" altLang="en-US" sz="1800" dirty="0">
                <a:latin typeface="微软雅黑" panose="020B0503020204020204" pitchFamily="34" charset="-122"/>
              </a:rPr>
              <a:t>项目资金需求根据成本基准确定，可设一定容差，以应对成本超支</a:t>
            </a:r>
            <a:endParaRPr lang="en-US" altLang="zh-CN" sz="1800" dirty="0">
              <a:latin typeface="微软雅黑" panose="020B0503020204020204" pitchFamily="34" charset="-122"/>
            </a:endParaRPr>
          </a:p>
        </p:txBody>
      </p:sp>
      <p:pic>
        <p:nvPicPr>
          <p:cNvPr id="3" name="图片 2">
            <a:extLst>
              <a:ext uri="{FF2B5EF4-FFF2-40B4-BE49-F238E27FC236}">
                <a16:creationId xmlns:a16="http://schemas.microsoft.com/office/drawing/2014/main" id="{10843157-61FB-4A65-8D26-6F6405E9BFDB}"/>
              </a:ext>
            </a:extLst>
          </p:cNvPr>
          <p:cNvPicPr>
            <a:picLocks noChangeAspect="1"/>
          </p:cNvPicPr>
          <p:nvPr/>
        </p:nvPicPr>
        <p:blipFill>
          <a:blip r:embed="rId3"/>
          <a:stretch>
            <a:fillRect/>
          </a:stretch>
        </p:blipFill>
        <p:spPr>
          <a:xfrm>
            <a:off x="4570404" y="2541380"/>
            <a:ext cx="7016281" cy="3672000"/>
          </a:xfrm>
          <a:prstGeom prst="rect">
            <a:avLst/>
          </a:prstGeom>
        </p:spPr>
      </p:pic>
      <p:sp>
        <p:nvSpPr>
          <p:cNvPr id="8" name="文本框 7">
            <a:extLst>
              <a:ext uri="{FF2B5EF4-FFF2-40B4-BE49-F238E27FC236}">
                <a16:creationId xmlns:a16="http://schemas.microsoft.com/office/drawing/2014/main" id="{71B04B9E-210A-4AC4-9A64-3538D5753144}"/>
              </a:ext>
            </a:extLst>
          </p:cNvPr>
          <p:cNvSpPr txBox="1"/>
          <p:nvPr/>
        </p:nvSpPr>
        <p:spPr>
          <a:xfrm>
            <a:off x="1319425" y="3521046"/>
            <a:ext cx="3371159" cy="400110"/>
          </a:xfrm>
          <a:prstGeom prst="rect">
            <a:avLst/>
          </a:prstGeom>
          <a:noFill/>
        </p:spPr>
        <p:txBody>
          <a:bodyPr wrap="square">
            <a:spAutoFit/>
          </a:bodyPr>
          <a:lstStyle/>
          <a:p>
            <a:r>
              <a:rPr lang="zh-CN" altLang="en-US" sz="2000" b="1" i="0" u="none" strike="noStrike" baseline="0" dirty="0">
                <a:latin typeface="微软雅黑" panose="020B0503020204020204" pitchFamily="34" charset="-122"/>
                <a:ea typeface="微软雅黑" panose="020B0503020204020204" pitchFamily="34" charset="-122"/>
              </a:rPr>
              <a:t>成本基准、支出与资金需求</a:t>
            </a:r>
            <a:endParaRPr lang="zh-CN" altLang="en-US" sz="2000" dirty="0">
              <a:latin typeface="微软雅黑" panose="020B0503020204020204" pitchFamily="34" charset="-122"/>
              <a:ea typeface="微软雅黑" panose="020B0503020204020204" pitchFamily="34" charset="-122"/>
            </a:endParaRPr>
          </a:p>
        </p:txBody>
      </p:sp>
      <p:sp>
        <p:nvSpPr>
          <p:cNvPr id="11" name="内容占位符 2">
            <a:extLst>
              <a:ext uri="{FF2B5EF4-FFF2-40B4-BE49-F238E27FC236}">
                <a16:creationId xmlns:a16="http://schemas.microsoft.com/office/drawing/2014/main" id="{C9139635-2E4B-C175-75F0-909F48EBA85A}"/>
              </a:ext>
            </a:extLst>
          </p:cNvPr>
          <p:cNvSpPr txBox="1">
            <a:spLocks/>
          </p:cNvSpPr>
          <p:nvPr/>
        </p:nvSpPr>
        <p:spPr>
          <a:xfrm>
            <a:off x="411282" y="5043827"/>
            <a:ext cx="8153400" cy="1352433"/>
          </a:xfrm>
          <a:prstGeom prst="rect">
            <a:avLst/>
          </a:prstGeom>
        </p:spPr>
        <p:txBody>
          <a:bodyPr/>
          <a:lstStyle>
            <a:lvl1pPr marL="266400" indent="-266400" algn="l" defTabSz="914400" rtl="0" eaLnBrk="1" latinLnBrk="0" hangingPunct="1">
              <a:lnSpc>
                <a:spcPct val="150000"/>
              </a:lnSpc>
              <a:spcBef>
                <a:spcPts val="720"/>
              </a:spcBef>
              <a:spcAft>
                <a:spcPts val="240"/>
              </a:spcAft>
              <a:buFont typeface="Wingdings" pitchFamily="2" charset="2"/>
              <a:buChar char=""/>
              <a:defRPr sz="2000" b="1" kern="1200" baseline="0">
                <a:solidFill>
                  <a:srgbClr val="333333"/>
                </a:solidFill>
                <a:latin typeface="Georgia" panose="02040502050405020303" pitchFamily="18" charset="0"/>
                <a:ea typeface="微软雅黑" pitchFamily="34" charset="-122"/>
                <a:cs typeface="+mn-cs"/>
              </a:defRPr>
            </a:lvl1pPr>
            <a:lvl2pPr marL="712800" indent="-270000" algn="l" defTabSz="914400" rtl="0" eaLnBrk="1" latinLnBrk="0" hangingPunct="1">
              <a:lnSpc>
                <a:spcPct val="150000"/>
              </a:lnSpc>
              <a:spcBef>
                <a:spcPts val="36"/>
              </a:spcBef>
              <a:spcAft>
                <a:spcPts val="12"/>
              </a:spcAft>
              <a:buFont typeface="Arial" pitchFamily="34" charset="0"/>
              <a:buChar char="–"/>
              <a:defRPr sz="1800" b="1" kern="1200" baseline="0">
                <a:solidFill>
                  <a:srgbClr val="333333"/>
                </a:solidFill>
                <a:latin typeface="Georgia" panose="02040502050405020303" pitchFamily="18" charset="0"/>
                <a:ea typeface="微软雅黑" pitchFamily="34" charset="-122"/>
                <a:cs typeface="+mn-cs"/>
              </a:defRPr>
            </a:lvl2pPr>
            <a:lvl3pPr marL="1072800" indent="-176400" algn="l" defTabSz="914400" rtl="0" eaLnBrk="1" latinLnBrk="0" hangingPunct="1">
              <a:lnSpc>
                <a:spcPct val="150000"/>
              </a:lnSpc>
              <a:spcBef>
                <a:spcPts val="36"/>
              </a:spcBef>
              <a:spcAft>
                <a:spcPts val="12"/>
              </a:spcAft>
              <a:buFont typeface="Arial" pitchFamily="34" charset="0"/>
              <a:buChar char="•"/>
              <a:defRPr sz="1600" b="1" kern="1200" baseline="0">
                <a:solidFill>
                  <a:srgbClr val="333333"/>
                </a:solidFill>
                <a:latin typeface="Georgia" panose="02040502050405020303" pitchFamily="18" charset="0"/>
                <a:ea typeface="微软雅黑" pitchFamily="34" charset="-122"/>
                <a:cs typeface="+mn-cs"/>
              </a:defRPr>
            </a:lvl3pPr>
            <a:lvl4pPr marL="1440000" indent="-1872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4pPr>
            <a:lvl5pPr marL="2057400" indent="-2286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lnSpc>
                <a:spcPct val="100000"/>
              </a:lnSpc>
              <a:defRPr/>
            </a:pPr>
            <a:r>
              <a:rPr lang="zh-CN" altLang="en-US" sz="2000" dirty="0">
                <a:latin typeface="微软雅黑" panose="020B0503020204020204" pitchFamily="34" charset="-122"/>
              </a:rPr>
              <a:t>项目文件更新</a:t>
            </a:r>
            <a:endParaRPr lang="en-US" altLang="zh-CN" sz="2000" dirty="0">
              <a:latin typeface="微软雅黑" panose="020B0503020204020204" pitchFamily="34" charset="-122"/>
            </a:endParaRPr>
          </a:p>
          <a:p>
            <a:pPr lvl="2">
              <a:lnSpc>
                <a:spcPct val="100000"/>
              </a:lnSpc>
              <a:defRPr/>
            </a:pPr>
            <a:r>
              <a:rPr lang="zh-CN" altLang="en-US" b="1" i="0" u="none" strike="noStrike" baseline="0" dirty="0">
                <a:latin typeface="SourceHanSansSC-Bold"/>
              </a:rPr>
              <a:t>成本估算</a:t>
            </a:r>
            <a:endParaRPr lang="en-US" altLang="zh-CN" b="1" i="0" u="none" strike="noStrike" baseline="0" dirty="0">
              <a:latin typeface="SourceHanSansSC-Bold"/>
            </a:endParaRPr>
          </a:p>
          <a:p>
            <a:pPr lvl="2">
              <a:lnSpc>
                <a:spcPct val="100000"/>
              </a:lnSpc>
              <a:defRPr/>
            </a:pPr>
            <a:r>
              <a:rPr lang="zh-CN" altLang="en-US" b="1" i="0" u="none" strike="noStrike" baseline="0" dirty="0">
                <a:latin typeface="SourceHanSansSC-Bold"/>
              </a:rPr>
              <a:t>项目进度计划</a:t>
            </a:r>
            <a:endParaRPr lang="en-US" altLang="zh-CN" b="1" i="0" u="none" strike="noStrike" baseline="0" dirty="0">
              <a:latin typeface="SourceHanSansSC-Bold"/>
            </a:endParaRPr>
          </a:p>
          <a:p>
            <a:pPr lvl="2">
              <a:lnSpc>
                <a:spcPct val="100000"/>
              </a:lnSpc>
              <a:defRPr/>
            </a:pPr>
            <a:r>
              <a:rPr lang="zh-CN" altLang="en-US" b="1" i="0" u="none" strike="noStrike" baseline="0" dirty="0">
                <a:latin typeface="SourceHanSansSC-Bold"/>
              </a:rPr>
              <a:t>风险登记册</a:t>
            </a:r>
            <a:endParaRPr lang="en-US" altLang="zh-CN" dirty="0">
              <a:latin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a:extLst>
              <a:ext uri="{FF2B5EF4-FFF2-40B4-BE49-F238E27FC236}">
                <a16:creationId xmlns:a16="http://schemas.microsoft.com/office/drawing/2014/main" id="{B5D36708-4ABE-4407-8BC7-575C06464370}"/>
              </a:ext>
            </a:extLst>
          </p:cNvPr>
          <p:cNvSpPr>
            <a:spLocks noGrp="1"/>
          </p:cNvSpPr>
          <p:nvPr>
            <p:ph type="title"/>
          </p:nvPr>
        </p:nvSpPr>
        <p:spPr/>
        <p:txBody>
          <a:bodyPr/>
          <a:lstStyle/>
          <a:p>
            <a:r>
              <a:rPr lang="zh-CN" altLang="en-US" dirty="0"/>
              <a:t>费用基准和资金需求示例</a:t>
            </a:r>
          </a:p>
        </p:txBody>
      </p:sp>
      <p:sp>
        <p:nvSpPr>
          <p:cNvPr id="9" name="内容占位符 2">
            <a:extLst>
              <a:ext uri="{FF2B5EF4-FFF2-40B4-BE49-F238E27FC236}">
                <a16:creationId xmlns:a16="http://schemas.microsoft.com/office/drawing/2014/main" id="{35D957A2-753C-42B4-BE04-82C460917A56}"/>
              </a:ext>
            </a:extLst>
          </p:cNvPr>
          <p:cNvSpPr>
            <a:spLocks noGrp="1"/>
          </p:cNvSpPr>
          <p:nvPr>
            <p:ph idx="1"/>
          </p:nvPr>
        </p:nvSpPr>
        <p:spPr>
          <a:xfrm>
            <a:off x="780065" y="1705599"/>
            <a:ext cx="10631870" cy="3098414"/>
          </a:xfrm>
        </p:spPr>
        <p:txBody>
          <a:bodyPr/>
          <a:lstStyle/>
          <a:p>
            <a:r>
              <a:rPr lang="zh-CN" altLang="en-US" dirty="0"/>
              <a:t>练习题</a:t>
            </a:r>
            <a:endParaRPr lang="en-US" altLang="zh-CN" dirty="0"/>
          </a:p>
          <a:p>
            <a:pPr lvl="1"/>
            <a:r>
              <a:rPr lang="zh-CN" altLang="en-US" sz="2000" b="0" dirty="0"/>
              <a:t>下列哪个最好地描述了成本基准？</a:t>
            </a:r>
          </a:p>
          <a:p>
            <a:pPr marL="450850" lvl="2" indent="0">
              <a:buNone/>
            </a:pPr>
            <a:r>
              <a:rPr lang="en-US" altLang="zh-CN" sz="2000" b="0" dirty="0"/>
              <a:t>A</a:t>
            </a:r>
            <a:r>
              <a:rPr lang="zh-CN" altLang="en-US" sz="2000" b="0" dirty="0"/>
              <a:t>．成本基准总是转换以时间分段的成本信息到费用数据在活动或工作包层面上而创建</a:t>
            </a:r>
          </a:p>
          <a:p>
            <a:pPr marL="450850" lvl="2" indent="0">
              <a:buNone/>
            </a:pPr>
            <a:r>
              <a:rPr lang="en-US" altLang="zh-CN" sz="2000" b="0" dirty="0"/>
              <a:t>B</a:t>
            </a:r>
            <a:r>
              <a:rPr lang="zh-CN" altLang="en-US" sz="2000" b="0" dirty="0"/>
              <a:t>．成本基准是批准后的按时间分段的预算用来测量和监控项目的成本绩效</a:t>
            </a:r>
          </a:p>
          <a:p>
            <a:pPr marL="450850" lvl="2" indent="0">
              <a:buNone/>
            </a:pPr>
            <a:r>
              <a:rPr lang="en-US" altLang="zh-CN" sz="2000" b="0" dirty="0"/>
              <a:t>C</a:t>
            </a:r>
            <a:r>
              <a:rPr lang="zh-CN" altLang="en-US" sz="2000" b="0" dirty="0"/>
              <a:t>．通过必要的来自真实项目成本的信息，绘制成本基准上的数据可以容易的获得和更新</a:t>
            </a:r>
          </a:p>
          <a:p>
            <a:pPr marL="450850" lvl="2" indent="0">
              <a:buNone/>
            </a:pPr>
            <a:r>
              <a:rPr lang="en-US" altLang="zh-CN" sz="2000" b="0" dirty="0"/>
              <a:t>D</a:t>
            </a:r>
            <a:r>
              <a:rPr lang="zh-CN" altLang="en-US" sz="2000" b="0" dirty="0"/>
              <a:t>．成本基准通常显示为从项目开始到项目结束日期的逆</a:t>
            </a:r>
            <a:r>
              <a:rPr lang="en-US" altLang="zh-CN" sz="2000" b="0" dirty="0"/>
              <a:t>S</a:t>
            </a:r>
            <a:r>
              <a:rPr lang="zh-CN" altLang="en-US" sz="2000" b="0" dirty="0"/>
              <a:t>曲线</a:t>
            </a:r>
            <a:endParaRPr lang="zh-CN" altLang="en-US" dirty="0"/>
          </a:p>
        </p:txBody>
      </p:sp>
    </p:spTree>
    <p:extLst>
      <p:ext uri="{BB962C8B-B14F-4D97-AF65-F5344CB8AC3E}">
        <p14:creationId xmlns:p14="http://schemas.microsoft.com/office/powerpoint/2010/main" val="2558048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1" name="内容占位符 2">
            <a:extLst>
              <a:ext uri="{FF2B5EF4-FFF2-40B4-BE49-F238E27FC236}">
                <a16:creationId xmlns:a16="http://schemas.microsoft.com/office/drawing/2014/main" id="{A7302EF5-9226-4FDF-831A-B436C71E8AE9}"/>
              </a:ext>
            </a:extLst>
          </p:cNvPr>
          <p:cNvSpPr>
            <a:spLocks noGrp="1" noChangeArrowheads="1"/>
          </p:cNvSpPr>
          <p:nvPr>
            <p:ph idx="1"/>
          </p:nvPr>
        </p:nvSpPr>
        <p:spPr>
          <a:xfrm>
            <a:off x="605315" y="1166018"/>
            <a:ext cx="10853589" cy="4525963"/>
          </a:xfrm>
        </p:spPr>
        <p:txBody>
          <a:bodyPr/>
          <a:lstStyle/>
          <a:p>
            <a:pPr marL="0" indent="0">
              <a:buNone/>
            </a:pPr>
            <a:r>
              <a:rPr lang="zh-CN" altLang="zh-CN" sz="2400" dirty="0">
                <a:solidFill>
                  <a:srgbClr val="800000"/>
                </a:solidFill>
                <a:latin typeface="微软雅黑" panose="020B0503020204020204" pitchFamily="34" charset="-122"/>
              </a:rPr>
              <a:t>控制成本</a:t>
            </a:r>
            <a:endParaRPr lang="en-US" altLang="zh-CN" sz="2400" dirty="0">
              <a:solidFill>
                <a:srgbClr val="800000"/>
              </a:solidFill>
              <a:latin typeface="微软雅黑" panose="020B0503020204020204" pitchFamily="34" charset="-122"/>
            </a:endParaRPr>
          </a:p>
          <a:p>
            <a:pPr marL="0" indent="0" algn="l">
              <a:lnSpc>
                <a:spcPts val="2800"/>
              </a:lnSpc>
              <a:spcBef>
                <a:spcPts val="0"/>
              </a:spcBef>
              <a:spcAft>
                <a:spcPts val="0"/>
              </a:spcAft>
              <a:buNone/>
            </a:pPr>
            <a:r>
              <a:rPr lang="zh-CN" altLang="en-US" sz="2200" i="0" u="none" strike="noStrike" baseline="0" dirty="0">
                <a:latin typeface="SourceHanSansSC-Regular"/>
              </a:rPr>
              <a:t>控制成本是监督项目状态，以更新项目成本和管理成本基准变更的过程。本过程的主要作用是，在整个项目期间保持对成本基准的维护。本过程需要在整个项目期间开展</a:t>
            </a:r>
            <a:endParaRPr lang="zh-CN" altLang="en-US" sz="2200" dirty="0"/>
          </a:p>
        </p:txBody>
      </p:sp>
      <p:pic>
        <p:nvPicPr>
          <p:cNvPr id="227332" name="图片 1">
            <a:extLst>
              <a:ext uri="{FF2B5EF4-FFF2-40B4-BE49-F238E27FC236}">
                <a16:creationId xmlns:a16="http://schemas.microsoft.com/office/drawing/2014/main" id="{6B09F374-8F88-4C5A-8BD0-1711BAD2A4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6493" y="2566014"/>
            <a:ext cx="7899013" cy="3932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1">
            <a:extLst>
              <a:ext uri="{FF2B5EF4-FFF2-40B4-BE49-F238E27FC236}">
                <a16:creationId xmlns:a16="http://schemas.microsoft.com/office/drawing/2014/main" id="{8D6805DB-8BEE-4B5B-93AC-DB8D7AE5C38D}"/>
              </a:ext>
            </a:extLst>
          </p:cNvPr>
          <p:cNvSpPr>
            <a:spLocks noGrp="1"/>
          </p:cNvSpPr>
          <p:nvPr>
            <p:ph type="title"/>
          </p:nvPr>
        </p:nvSpPr>
        <p:spPr>
          <a:xfrm>
            <a:off x="613885" y="764293"/>
            <a:ext cx="10972800" cy="437186"/>
          </a:xfrm>
          <a:prstGeom prst="rect">
            <a:avLst/>
          </a:prstGeom>
        </p:spPr>
        <p:txBody>
          <a:bodyPr/>
          <a:lstStyle/>
          <a:p>
            <a:pPr algn="ctr"/>
            <a:r>
              <a:rPr lang="en-US" altLang="zh-CN" dirty="0"/>
              <a:t>13.4 </a:t>
            </a:r>
            <a:r>
              <a:rPr lang="zh-CN" altLang="en-US" dirty="0"/>
              <a:t>控制成本</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746" name="标题 1">
            <a:extLst>
              <a:ext uri="{FF2B5EF4-FFF2-40B4-BE49-F238E27FC236}">
                <a16:creationId xmlns:a16="http://schemas.microsoft.com/office/drawing/2014/main" id="{0070745A-60C3-4E97-91D6-B6D785BE10DF}"/>
              </a:ext>
            </a:extLst>
          </p:cNvPr>
          <p:cNvSpPr>
            <a:spLocks noGrp="1"/>
          </p:cNvSpPr>
          <p:nvPr>
            <p:ph type="title"/>
          </p:nvPr>
        </p:nvSpPr>
        <p:spPr/>
        <p:txBody>
          <a:bodyPr/>
          <a:lstStyle/>
          <a:p>
            <a:r>
              <a:rPr lang="zh-CN" altLang="en-US"/>
              <a:t>成本控制</a:t>
            </a:r>
          </a:p>
        </p:txBody>
      </p:sp>
      <p:sp>
        <p:nvSpPr>
          <p:cNvPr id="5" name="内容占位符 2">
            <a:extLst>
              <a:ext uri="{FF2B5EF4-FFF2-40B4-BE49-F238E27FC236}">
                <a16:creationId xmlns:a16="http://schemas.microsoft.com/office/drawing/2014/main" id="{BBF8F092-7A3C-4856-B37A-A43CA47759E0}"/>
              </a:ext>
            </a:extLst>
          </p:cNvPr>
          <p:cNvSpPr>
            <a:spLocks noGrp="1"/>
          </p:cNvSpPr>
          <p:nvPr>
            <p:ph idx="1"/>
          </p:nvPr>
        </p:nvSpPr>
        <p:spPr>
          <a:xfrm>
            <a:off x="1936596" y="1357313"/>
            <a:ext cx="8329961" cy="1284287"/>
          </a:xfrm>
        </p:spPr>
        <p:txBody>
          <a:bodyPr/>
          <a:lstStyle/>
          <a:p>
            <a:pPr>
              <a:lnSpc>
                <a:spcPct val="100000"/>
              </a:lnSpc>
              <a:defRPr/>
            </a:pPr>
            <a:r>
              <a:rPr lang="zh-CN" altLang="en-US" dirty="0"/>
              <a:t>形成基准后，按基准申报分阶段申报预算，超出部分不能进行资金支出</a:t>
            </a:r>
            <a:endParaRPr lang="en-US" altLang="zh-CN" dirty="0"/>
          </a:p>
          <a:p>
            <a:pPr>
              <a:lnSpc>
                <a:spcPct val="100000"/>
              </a:lnSpc>
              <a:defRPr/>
            </a:pPr>
            <a:r>
              <a:rPr lang="zh-CN" altLang="en-US" dirty="0"/>
              <a:t>实际发生活动是否创造的业务价值？资金支出和业务活动间关系是如何</a:t>
            </a:r>
            <a:r>
              <a:rPr lang="en-US" altLang="zh-CN" dirty="0"/>
              <a:t>?</a:t>
            </a:r>
            <a:endParaRPr lang="zh-CN" altLang="en-US" dirty="0"/>
          </a:p>
          <a:p>
            <a:pPr>
              <a:lnSpc>
                <a:spcPct val="100000"/>
              </a:lnSpc>
              <a:defRPr/>
            </a:pPr>
            <a:r>
              <a:rPr lang="zh-CN" altLang="en-US" dirty="0"/>
              <a:t>成本控制不仅仅控制资金支出，更要关注业务活动发生成本带来的价值。</a:t>
            </a:r>
            <a:endParaRPr lang="en-US" altLang="zh-CN" dirty="0"/>
          </a:p>
        </p:txBody>
      </p:sp>
      <p:sp>
        <p:nvSpPr>
          <p:cNvPr id="6" name="矩形 5">
            <a:extLst>
              <a:ext uri="{FF2B5EF4-FFF2-40B4-BE49-F238E27FC236}">
                <a16:creationId xmlns:a16="http://schemas.microsoft.com/office/drawing/2014/main" id="{86415C52-8AA6-4C43-83C0-D84F1FBAF243}"/>
              </a:ext>
            </a:extLst>
          </p:cNvPr>
          <p:cNvSpPr/>
          <p:nvPr/>
        </p:nvSpPr>
        <p:spPr bwMode="auto">
          <a:xfrm>
            <a:off x="2024064" y="3786188"/>
            <a:ext cx="1285875" cy="571500"/>
          </a:xfrm>
          <a:prstGeom prst="rect">
            <a:avLst/>
          </a:prstGeom>
          <a:solidFill>
            <a:srgbClr val="99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600" dirty="0">
                <a:solidFill>
                  <a:srgbClr val="FFFFCC"/>
                </a:solidFill>
                <a:latin typeface="微软雅黑" panose="020B0503020204020204" pitchFamily="34" charset="-122"/>
                <a:ea typeface="微软雅黑" panose="020B0503020204020204" pitchFamily="34" charset="-122"/>
              </a:rPr>
              <a:t>项目活动</a:t>
            </a:r>
          </a:p>
        </p:txBody>
      </p:sp>
      <p:sp>
        <p:nvSpPr>
          <p:cNvPr id="7" name="矩形 6">
            <a:extLst>
              <a:ext uri="{FF2B5EF4-FFF2-40B4-BE49-F238E27FC236}">
                <a16:creationId xmlns:a16="http://schemas.microsoft.com/office/drawing/2014/main" id="{1ED17C83-6C56-4862-B08B-5F6206DFE095}"/>
              </a:ext>
            </a:extLst>
          </p:cNvPr>
          <p:cNvSpPr/>
          <p:nvPr/>
        </p:nvSpPr>
        <p:spPr bwMode="auto">
          <a:xfrm>
            <a:off x="3738564" y="3786188"/>
            <a:ext cx="1285875" cy="571500"/>
          </a:xfrm>
          <a:prstGeom prst="rect">
            <a:avLst/>
          </a:prstGeom>
          <a:solidFill>
            <a:srgbClr val="99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600" dirty="0">
                <a:solidFill>
                  <a:srgbClr val="FFFFCC"/>
                </a:solidFill>
                <a:latin typeface="微软雅黑" panose="020B0503020204020204" pitchFamily="34" charset="-122"/>
                <a:ea typeface="微软雅黑" panose="020B0503020204020204" pitchFamily="34" charset="-122"/>
              </a:rPr>
              <a:t>项目估算</a:t>
            </a:r>
          </a:p>
        </p:txBody>
      </p:sp>
      <p:sp>
        <p:nvSpPr>
          <p:cNvPr id="8" name="矩形 7">
            <a:extLst>
              <a:ext uri="{FF2B5EF4-FFF2-40B4-BE49-F238E27FC236}">
                <a16:creationId xmlns:a16="http://schemas.microsoft.com/office/drawing/2014/main" id="{3FDCE5AA-9BCB-4D4D-9F03-4D24311CDC19}"/>
              </a:ext>
            </a:extLst>
          </p:cNvPr>
          <p:cNvSpPr/>
          <p:nvPr/>
        </p:nvSpPr>
        <p:spPr bwMode="auto">
          <a:xfrm>
            <a:off x="5453064" y="3786188"/>
            <a:ext cx="1285875" cy="571500"/>
          </a:xfrm>
          <a:prstGeom prst="rect">
            <a:avLst/>
          </a:prstGeom>
          <a:solidFill>
            <a:srgbClr val="99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600" dirty="0">
                <a:solidFill>
                  <a:srgbClr val="FFFFCC"/>
                </a:solidFill>
                <a:latin typeface="微软雅黑" panose="020B0503020204020204" pitchFamily="34" charset="-122"/>
                <a:ea typeface="微软雅黑" panose="020B0503020204020204" pitchFamily="34" charset="-122"/>
              </a:rPr>
              <a:t>估算汇总</a:t>
            </a:r>
            <a:endParaRPr lang="en-US" altLang="zh-CN" sz="1600" dirty="0">
              <a:solidFill>
                <a:srgbClr val="FFFFCC"/>
              </a:solidFill>
              <a:latin typeface="微软雅黑" panose="020B0503020204020204" pitchFamily="34" charset="-122"/>
              <a:ea typeface="微软雅黑" panose="020B0503020204020204" pitchFamily="34" charset="-122"/>
            </a:endParaRPr>
          </a:p>
          <a:p>
            <a:pPr algn="ctr">
              <a:defRPr/>
            </a:pPr>
            <a:r>
              <a:rPr lang="zh-CN" altLang="en-US" sz="1600" dirty="0">
                <a:solidFill>
                  <a:srgbClr val="FFFFCC"/>
                </a:solidFill>
                <a:latin typeface="微软雅黑" panose="020B0503020204020204" pitchFamily="34" charset="-122"/>
                <a:ea typeface="微软雅黑" panose="020B0503020204020204" pitchFamily="34" charset="-122"/>
              </a:rPr>
              <a:t>项目预算</a:t>
            </a:r>
          </a:p>
        </p:txBody>
      </p:sp>
      <p:sp>
        <p:nvSpPr>
          <p:cNvPr id="9" name="矩形 8">
            <a:extLst>
              <a:ext uri="{FF2B5EF4-FFF2-40B4-BE49-F238E27FC236}">
                <a16:creationId xmlns:a16="http://schemas.microsoft.com/office/drawing/2014/main" id="{9D43F92C-D8FC-493C-80B7-BCF212CDF519}"/>
              </a:ext>
            </a:extLst>
          </p:cNvPr>
          <p:cNvSpPr/>
          <p:nvPr/>
        </p:nvSpPr>
        <p:spPr bwMode="auto">
          <a:xfrm>
            <a:off x="7167564" y="3786188"/>
            <a:ext cx="1285875" cy="571500"/>
          </a:xfrm>
          <a:prstGeom prst="rect">
            <a:avLst/>
          </a:prstGeom>
          <a:solidFill>
            <a:srgbClr val="99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600" dirty="0">
                <a:solidFill>
                  <a:srgbClr val="FFFFCC"/>
                </a:solidFill>
                <a:latin typeface="微软雅黑" panose="020B0503020204020204" pitchFamily="34" charset="-122"/>
                <a:ea typeface="微软雅黑" panose="020B0503020204020204" pitchFamily="34" charset="-122"/>
              </a:rPr>
              <a:t>项目预算申请</a:t>
            </a:r>
          </a:p>
        </p:txBody>
      </p:sp>
      <p:cxnSp>
        <p:nvCxnSpPr>
          <p:cNvPr id="31752" name="直接箭头连接符 10">
            <a:extLst>
              <a:ext uri="{FF2B5EF4-FFF2-40B4-BE49-F238E27FC236}">
                <a16:creationId xmlns:a16="http://schemas.microsoft.com/office/drawing/2014/main" id="{85920BB8-BBC5-4742-9A84-B87DDE08A712}"/>
              </a:ext>
            </a:extLst>
          </p:cNvPr>
          <p:cNvCxnSpPr>
            <a:cxnSpLocks noChangeShapeType="1"/>
            <a:stCxn id="6" idx="3"/>
            <a:endCxn id="7" idx="1"/>
          </p:cNvCxnSpPr>
          <p:nvPr/>
        </p:nvCxnSpPr>
        <p:spPr bwMode="auto">
          <a:xfrm>
            <a:off x="3309939" y="4071939"/>
            <a:ext cx="428625" cy="1587"/>
          </a:xfrm>
          <a:prstGeom prst="straightConnector1">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31753" name="直接箭头连接符 12">
            <a:extLst>
              <a:ext uri="{FF2B5EF4-FFF2-40B4-BE49-F238E27FC236}">
                <a16:creationId xmlns:a16="http://schemas.microsoft.com/office/drawing/2014/main" id="{1C997CAC-1950-40CB-8D14-B4A12034692D}"/>
              </a:ext>
            </a:extLst>
          </p:cNvPr>
          <p:cNvCxnSpPr>
            <a:cxnSpLocks noChangeShapeType="1"/>
            <a:stCxn id="7" idx="3"/>
            <a:endCxn id="8" idx="1"/>
          </p:cNvCxnSpPr>
          <p:nvPr/>
        </p:nvCxnSpPr>
        <p:spPr bwMode="auto">
          <a:xfrm>
            <a:off x="5024439" y="4071939"/>
            <a:ext cx="428625" cy="1587"/>
          </a:xfrm>
          <a:prstGeom prst="straightConnector1">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31754" name="直接箭头连接符 14">
            <a:extLst>
              <a:ext uri="{FF2B5EF4-FFF2-40B4-BE49-F238E27FC236}">
                <a16:creationId xmlns:a16="http://schemas.microsoft.com/office/drawing/2014/main" id="{9112F970-6435-4045-8D79-D1E3C52E0CFC}"/>
              </a:ext>
            </a:extLst>
          </p:cNvPr>
          <p:cNvCxnSpPr>
            <a:cxnSpLocks noChangeShapeType="1"/>
            <a:stCxn id="8" idx="3"/>
            <a:endCxn id="9" idx="1"/>
          </p:cNvCxnSpPr>
          <p:nvPr/>
        </p:nvCxnSpPr>
        <p:spPr bwMode="auto">
          <a:xfrm>
            <a:off x="6738939" y="4071939"/>
            <a:ext cx="428625" cy="1587"/>
          </a:xfrm>
          <a:prstGeom prst="straightConnector1">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sp>
        <p:nvSpPr>
          <p:cNvPr id="17" name="矩形 16">
            <a:extLst>
              <a:ext uri="{FF2B5EF4-FFF2-40B4-BE49-F238E27FC236}">
                <a16:creationId xmlns:a16="http://schemas.microsoft.com/office/drawing/2014/main" id="{3D7CF76A-7DA1-4206-9A95-1D6D433CC73A}"/>
              </a:ext>
            </a:extLst>
          </p:cNvPr>
          <p:cNvSpPr/>
          <p:nvPr/>
        </p:nvSpPr>
        <p:spPr bwMode="auto">
          <a:xfrm>
            <a:off x="7167564" y="4714875"/>
            <a:ext cx="1285875" cy="571500"/>
          </a:xfrm>
          <a:prstGeom prst="rect">
            <a:avLst/>
          </a:prstGeom>
          <a:solidFill>
            <a:srgbClr val="99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600" dirty="0">
                <a:solidFill>
                  <a:srgbClr val="FFFFCC"/>
                </a:solidFill>
                <a:latin typeface="微软雅黑" panose="020B0503020204020204" pitchFamily="34" charset="-122"/>
                <a:ea typeface="微软雅黑" panose="020B0503020204020204" pitchFamily="34" charset="-122"/>
              </a:rPr>
              <a:t>活动支出报销</a:t>
            </a:r>
          </a:p>
        </p:txBody>
      </p:sp>
      <p:sp>
        <p:nvSpPr>
          <p:cNvPr id="19" name="矩形 18">
            <a:extLst>
              <a:ext uri="{FF2B5EF4-FFF2-40B4-BE49-F238E27FC236}">
                <a16:creationId xmlns:a16="http://schemas.microsoft.com/office/drawing/2014/main" id="{6E044E44-9B43-489F-8B11-545E2E52AC20}"/>
              </a:ext>
            </a:extLst>
          </p:cNvPr>
          <p:cNvSpPr/>
          <p:nvPr/>
        </p:nvSpPr>
        <p:spPr bwMode="auto">
          <a:xfrm>
            <a:off x="8882064" y="3786188"/>
            <a:ext cx="1285875" cy="571500"/>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600" dirty="0">
                <a:solidFill>
                  <a:srgbClr val="FFFFCC"/>
                </a:solidFill>
                <a:latin typeface="微软雅黑" panose="020B0503020204020204" pitchFamily="34" charset="-122"/>
                <a:ea typeface="微软雅黑" panose="020B0503020204020204" pitchFamily="34" charset="-122"/>
              </a:rPr>
              <a:t>预算控制</a:t>
            </a:r>
          </a:p>
        </p:txBody>
      </p:sp>
      <p:cxnSp>
        <p:nvCxnSpPr>
          <p:cNvPr id="31757" name="直接箭头连接符 20">
            <a:extLst>
              <a:ext uri="{FF2B5EF4-FFF2-40B4-BE49-F238E27FC236}">
                <a16:creationId xmlns:a16="http://schemas.microsoft.com/office/drawing/2014/main" id="{F9FCCD60-E22F-4B73-A0B8-3485DB737DCA}"/>
              </a:ext>
            </a:extLst>
          </p:cNvPr>
          <p:cNvCxnSpPr>
            <a:cxnSpLocks noChangeShapeType="1"/>
            <a:stCxn id="9" idx="3"/>
            <a:endCxn id="19" idx="1"/>
          </p:cNvCxnSpPr>
          <p:nvPr/>
        </p:nvCxnSpPr>
        <p:spPr bwMode="auto">
          <a:xfrm>
            <a:off x="8453439" y="4071939"/>
            <a:ext cx="428625" cy="1587"/>
          </a:xfrm>
          <a:prstGeom prst="straightConnector1">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sp>
        <p:nvSpPr>
          <p:cNvPr id="22" name="矩形 21">
            <a:extLst>
              <a:ext uri="{FF2B5EF4-FFF2-40B4-BE49-F238E27FC236}">
                <a16:creationId xmlns:a16="http://schemas.microsoft.com/office/drawing/2014/main" id="{81B4E943-3E9E-484D-88BA-64EBE23A0472}"/>
              </a:ext>
            </a:extLst>
          </p:cNvPr>
          <p:cNvSpPr/>
          <p:nvPr/>
        </p:nvSpPr>
        <p:spPr bwMode="auto">
          <a:xfrm>
            <a:off x="8882064" y="2928938"/>
            <a:ext cx="1285875" cy="571500"/>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600" dirty="0">
                <a:solidFill>
                  <a:srgbClr val="FFFFCC"/>
                </a:solidFill>
                <a:latin typeface="微软雅黑" panose="020B0503020204020204" pitchFamily="34" charset="-122"/>
                <a:ea typeface="微软雅黑" panose="020B0503020204020204" pitchFamily="34" charset="-122"/>
              </a:rPr>
              <a:t>资金计划</a:t>
            </a:r>
          </a:p>
        </p:txBody>
      </p:sp>
      <p:cxnSp>
        <p:nvCxnSpPr>
          <p:cNvPr id="31759" name="形状 23">
            <a:extLst>
              <a:ext uri="{FF2B5EF4-FFF2-40B4-BE49-F238E27FC236}">
                <a16:creationId xmlns:a16="http://schemas.microsoft.com/office/drawing/2014/main" id="{F7F5F1C5-3EE7-45EE-A509-FCE8D63B0A31}"/>
              </a:ext>
            </a:extLst>
          </p:cNvPr>
          <p:cNvCxnSpPr>
            <a:cxnSpLocks noChangeShapeType="1"/>
            <a:stCxn id="9" idx="0"/>
            <a:endCxn id="22" idx="1"/>
          </p:cNvCxnSpPr>
          <p:nvPr/>
        </p:nvCxnSpPr>
        <p:spPr bwMode="auto">
          <a:xfrm rot="5400000" flipH="1" flipV="1">
            <a:off x="8060532" y="2964657"/>
            <a:ext cx="571500" cy="1071563"/>
          </a:xfrm>
          <a:prstGeom prst="bentConnector2">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31760" name="形状 25">
            <a:extLst>
              <a:ext uri="{FF2B5EF4-FFF2-40B4-BE49-F238E27FC236}">
                <a16:creationId xmlns:a16="http://schemas.microsoft.com/office/drawing/2014/main" id="{0F10A7C8-5B5D-4B5B-BD80-179ABC0275E2}"/>
              </a:ext>
            </a:extLst>
          </p:cNvPr>
          <p:cNvCxnSpPr>
            <a:cxnSpLocks noChangeShapeType="1"/>
            <a:stCxn id="19" idx="2"/>
            <a:endCxn id="17" idx="3"/>
          </p:cNvCxnSpPr>
          <p:nvPr/>
        </p:nvCxnSpPr>
        <p:spPr bwMode="auto">
          <a:xfrm rot="5400000">
            <a:off x="8667751" y="4143376"/>
            <a:ext cx="642937" cy="1071562"/>
          </a:xfrm>
          <a:prstGeom prst="bentConnector2">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31761" name="直接箭头连接符 27">
            <a:extLst>
              <a:ext uri="{FF2B5EF4-FFF2-40B4-BE49-F238E27FC236}">
                <a16:creationId xmlns:a16="http://schemas.microsoft.com/office/drawing/2014/main" id="{122A6F9B-92E3-4AB4-BAA6-D690220CBDB4}"/>
              </a:ext>
            </a:extLst>
          </p:cNvPr>
          <p:cNvCxnSpPr>
            <a:cxnSpLocks noChangeShapeType="1"/>
            <a:stCxn id="9" idx="2"/>
            <a:endCxn id="17" idx="0"/>
          </p:cNvCxnSpPr>
          <p:nvPr/>
        </p:nvCxnSpPr>
        <p:spPr bwMode="auto">
          <a:xfrm rot="5400000">
            <a:off x="7632700" y="4537075"/>
            <a:ext cx="357188" cy="1588"/>
          </a:xfrm>
          <a:prstGeom prst="straightConnector1">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sp>
        <p:nvSpPr>
          <p:cNvPr id="31" name="矩形 30">
            <a:extLst>
              <a:ext uri="{FF2B5EF4-FFF2-40B4-BE49-F238E27FC236}">
                <a16:creationId xmlns:a16="http://schemas.microsoft.com/office/drawing/2014/main" id="{A92FE90F-DD74-4ADF-B587-4EDA515E61CA}"/>
              </a:ext>
            </a:extLst>
          </p:cNvPr>
          <p:cNvSpPr/>
          <p:nvPr/>
        </p:nvSpPr>
        <p:spPr bwMode="auto">
          <a:xfrm>
            <a:off x="3738564" y="4714875"/>
            <a:ext cx="3000375" cy="571500"/>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600" dirty="0">
                <a:solidFill>
                  <a:srgbClr val="FFFFCC"/>
                </a:solidFill>
                <a:latin typeface="微软雅黑" panose="020B0503020204020204" pitchFamily="34" charset="-122"/>
                <a:ea typeface="微软雅黑" panose="020B0503020204020204" pitchFamily="34" charset="-122"/>
              </a:rPr>
              <a:t>业务活动的价值输出？</a:t>
            </a:r>
          </a:p>
        </p:txBody>
      </p:sp>
      <p:cxnSp>
        <p:nvCxnSpPr>
          <p:cNvPr id="31763" name="形状 32">
            <a:extLst>
              <a:ext uri="{FF2B5EF4-FFF2-40B4-BE49-F238E27FC236}">
                <a16:creationId xmlns:a16="http://schemas.microsoft.com/office/drawing/2014/main" id="{5D51E0B0-005C-4744-985A-88468CDEAAAF}"/>
              </a:ext>
            </a:extLst>
          </p:cNvPr>
          <p:cNvCxnSpPr>
            <a:cxnSpLocks noChangeShapeType="1"/>
            <a:stCxn id="6" idx="2"/>
            <a:endCxn id="31" idx="1"/>
          </p:cNvCxnSpPr>
          <p:nvPr/>
        </p:nvCxnSpPr>
        <p:spPr bwMode="auto">
          <a:xfrm rot="16200000" flipH="1">
            <a:off x="2881314" y="4143376"/>
            <a:ext cx="642937" cy="1071563"/>
          </a:xfrm>
          <a:prstGeom prst="bentConnector2">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31764" name="直接箭头连接符 34">
            <a:extLst>
              <a:ext uri="{FF2B5EF4-FFF2-40B4-BE49-F238E27FC236}">
                <a16:creationId xmlns:a16="http://schemas.microsoft.com/office/drawing/2014/main" id="{5FD8183E-E8D0-4772-823B-374CBE385E18}"/>
              </a:ext>
            </a:extLst>
          </p:cNvPr>
          <p:cNvCxnSpPr>
            <a:cxnSpLocks noChangeShapeType="1"/>
            <a:stCxn id="31" idx="3"/>
            <a:endCxn id="17" idx="1"/>
          </p:cNvCxnSpPr>
          <p:nvPr/>
        </p:nvCxnSpPr>
        <p:spPr bwMode="auto">
          <a:xfrm>
            <a:off x="6738939" y="5000625"/>
            <a:ext cx="428625" cy="1588"/>
          </a:xfrm>
          <a:prstGeom prst="straightConnector1">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31765" name="直接箭头连接符 36">
            <a:extLst>
              <a:ext uri="{FF2B5EF4-FFF2-40B4-BE49-F238E27FC236}">
                <a16:creationId xmlns:a16="http://schemas.microsoft.com/office/drawing/2014/main" id="{F4D9D842-0708-4581-BCBD-D23EE341491E}"/>
              </a:ext>
            </a:extLst>
          </p:cNvPr>
          <p:cNvCxnSpPr>
            <a:cxnSpLocks noChangeShapeType="1"/>
            <a:stCxn id="22" idx="2"/>
            <a:endCxn id="19" idx="0"/>
          </p:cNvCxnSpPr>
          <p:nvPr/>
        </p:nvCxnSpPr>
        <p:spPr bwMode="auto">
          <a:xfrm rot="5400000">
            <a:off x="9382919" y="3644106"/>
            <a:ext cx="285750" cy="1588"/>
          </a:xfrm>
          <a:prstGeom prst="straightConnector1">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a:extLst>
              <a:ext uri="{FF2B5EF4-FFF2-40B4-BE49-F238E27FC236}">
                <a16:creationId xmlns:a16="http://schemas.microsoft.com/office/drawing/2014/main" id="{FEBE949F-E63D-4BCF-9BD8-FA044685CFC6}"/>
              </a:ext>
            </a:extLst>
          </p:cNvPr>
          <p:cNvSpPr>
            <a:spLocks noGrp="1"/>
          </p:cNvSpPr>
          <p:nvPr>
            <p:ph type="title"/>
          </p:nvPr>
        </p:nvSpPr>
        <p:spPr/>
        <p:txBody>
          <a:bodyPr/>
          <a:lstStyle/>
          <a:p>
            <a:r>
              <a:rPr lang="zh-CN" altLang="en-US" i="0" u="none" strike="noStrike" baseline="0" dirty="0">
                <a:solidFill>
                  <a:srgbClr val="800000"/>
                </a:solidFill>
                <a:latin typeface="SourceHanSansSC-Medium"/>
              </a:rPr>
              <a:t>控制成本的工具与技术</a:t>
            </a:r>
            <a:r>
              <a:rPr lang="zh-CN" altLang="en-US" dirty="0">
                <a:solidFill>
                  <a:srgbClr val="800000"/>
                </a:solidFill>
                <a:latin typeface="SourceHanSansSC-Medium"/>
              </a:rPr>
              <a:t>：</a:t>
            </a:r>
            <a:r>
              <a:rPr lang="zh-CN" altLang="en-US" dirty="0"/>
              <a:t>挣值管理</a:t>
            </a:r>
          </a:p>
        </p:txBody>
      </p:sp>
      <p:sp>
        <p:nvSpPr>
          <p:cNvPr id="33795" name="Rectangle 12">
            <a:extLst>
              <a:ext uri="{FF2B5EF4-FFF2-40B4-BE49-F238E27FC236}">
                <a16:creationId xmlns:a16="http://schemas.microsoft.com/office/drawing/2014/main" id="{5D56116E-5DA1-43DC-A318-CED991CF5702}"/>
              </a:ext>
            </a:extLst>
          </p:cNvPr>
          <p:cNvSpPr>
            <a:spLocks noChangeArrowheads="1"/>
          </p:cNvSpPr>
          <p:nvPr/>
        </p:nvSpPr>
        <p:spPr bwMode="auto">
          <a:xfrm>
            <a:off x="613885" y="1271628"/>
            <a:ext cx="10972799"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zh-CN" altLang="en-US" sz="2200" dirty="0">
                <a:latin typeface="微软雅黑" panose="020B0503020204020204" pitchFamily="34" charset="-122"/>
                <a:ea typeface="微软雅黑" panose="020B0503020204020204" pitchFamily="34" charset="-122"/>
              </a:rPr>
              <a:t>挣值管理</a:t>
            </a:r>
            <a:r>
              <a:rPr lang="en-US" altLang="zh-CN" sz="2200" dirty="0">
                <a:latin typeface="微软雅黑" panose="020B0503020204020204" pitchFamily="34" charset="-122"/>
                <a:ea typeface="微软雅黑" panose="020B0503020204020204" pitchFamily="34" charset="-122"/>
              </a:rPr>
              <a:t>(EVM</a:t>
            </a:r>
            <a:r>
              <a:rPr lang="en-US" altLang="zh-CN" sz="2200" b="0" dirty="0">
                <a:latin typeface="微软雅黑" panose="020B0503020204020204" pitchFamily="34" charset="-122"/>
                <a:ea typeface="微软雅黑" panose="020B0503020204020204" pitchFamily="34" charset="-122"/>
              </a:rPr>
              <a:t>)</a:t>
            </a:r>
            <a:r>
              <a:rPr lang="zh-CN" altLang="en-US" sz="2200" b="0" dirty="0">
                <a:latin typeface="微软雅黑" panose="020B0503020204020204" pitchFamily="34" charset="-122"/>
                <a:ea typeface="微软雅黑" panose="020B0503020204020204" pitchFamily="34" charset="-122"/>
              </a:rPr>
              <a:t>是一种常用的绩效测量方法，可采用多种形式。它综合考虑项目范围，成本与进度指标，帮助项目管理团队评估与策略项目绩效和进展。</a:t>
            </a:r>
          </a:p>
        </p:txBody>
      </p:sp>
      <p:sp>
        <p:nvSpPr>
          <p:cNvPr id="6" name="矩形 5">
            <a:extLst>
              <a:ext uri="{FF2B5EF4-FFF2-40B4-BE49-F238E27FC236}">
                <a16:creationId xmlns:a16="http://schemas.microsoft.com/office/drawing/2014/main" id="{C23B510A-1A63-432F-9D48-6241DB8E265E}"/>
              </a:ext>
            </a:extLst>
          </p:cNvPr>
          <p:cNvSpPr/>
          <p:nvPr/>
        </p:nvSpPr>
        <p:spPr bwMode="auto">
          <a:xfrm>
            <a:off x="2881314" y="2643188"/>
            <a:ext cx="1285875" cy="571500"/>
          </a:xfrm>
          <a:prstGeom prst="rect">
            <a:avLst/>
          </a:prstGeom>
          <a:solidFill>
            <a:srgbClr val="00B05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dirty="0">
                <a:solidFill>
                  <a:srgbClr val="FFFFCC"/>
                </a:solidFill>
                <a:latin typeface="微软雅黑" panose="020B0503020204020204" pitchFamily="34" charset="-122"/>
                <a:ea typeface="微软雅黑" panose="020B0503020204020204" pitchFamily="34" charset="-122"/>
              </a:rPr>
              <a:t>进度基准</a:t>
            </a:r>
          </a:p>
        </p:txBody>
      </p:sp>
      <p:sp>
        <p:nvSpPr>
          <p:cNvPr id="7" name="矩形 6">
            <a:extLst>
              <a:ext uri="{FF2B5EF4-FFF2-40B4-BE49-F238E27FC236}">
                <a16:creationId xmlns:a16="http://schemas.microsoft.com/office/drawing/2014/main" id="{BB116B85-316B-496D-8901-038389207B8F}"/>
              </a:ext>
            </a:extLst>
          </p:cNvPr>
          <p:cNvSpPr/>
          <p:nvPr/>
        </p:nvSpPr>
        <p:spPr bwMode="auto">
          <a:xfrm>
            <a:off x="2881314" y="3571875"/>
            <a:ext cx="1285875" cy="571500"/>
          </a:xfrm>
          <a:prstGeom prst="rect">
            <a:avLst/>
          </a:prstGeom>
          <a:solidFill>
            <a:srgbClr val="00B05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dirty="0">
                <a:solidFill>
                  <a:srgbClr val="FFFFCC"/>
                </a:solidFill>
                <a:latin typeface="微软雅黑" panose="020B0503020204020204" pitchFamily="34" charset="-122"/>
                <a:ea typeface="微软雅黑" panose="020B0503020204020204" pitchFamily="34" charset="-122"/>
              </a:rPr>
              <a:t>成本基准</a:t>
            </a:r>
          </a:p>
        </p:txBody>
      </p:sp>
      <p:sp>
        <p:nvSpPr>
          <p:cNvPr id="9" name="矩形 8">
            <a:extLst>
              <a:ext uri="{FF2B5EF4-FFF2-40B4-BE49-F238E27FC236}">
                <a16:creationId xmlns:a16="http://schemas.microsoft.com/office/drawing/2014/main" id="{DF46D891-D280-47EE-87BA-0D5E0CE1B604}"/>
              </a:ext>
            </a:extLst>
          </p:cNvPr>
          <p:cNvSpPr/>
          <p:nvPr/>
        </p:nvSpPr>
        <p:spPr bwMode="auto">
          <a:xfrm>
            <a:off x="5024439" y="2643188"/>
            <a:ext cx="1285875" cy="571500"/>
          </a:xfrm>
          <a:prstGeom prst="rect">
            <a:avLst/>
          </a:prstGeom>
          <a:solidFill>
            <a:srgbClr val="99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dirty="0">
                <a:solidFill>
                  <a:srgbClr val="FFFFCC"/>
                </a:solidFill>
                <a:latin typeface="微软雅黑" panose="020B0503020204020204" pitchFamily="34" charset="-122"/>
                <a:ea typeface="微软雅黑" panose="020B0503020204020204" pitchFamily="34" charset="-122"/>
              </a:rPr>
              <a:t>进度执行有偏差</a:t>
            </a:r>
          </a:p>
        </p:txBody>
      </p:sp>
      <p:sp>
        <p:nvSpPr>
          <p:cNvPr id="10" name="矩形 9">
            <a:extLst>
              <a:ext uri="{FF2B5EF4-FFF2-40B4-BE49-F238E27FC236}">
                <a16:creationId xmlns:a16="http://schemas.microsoft.com/office/drawing/2014/main" id="{E51DF2D2-4A65-4981-A156-F08726F1C007}"/>
              </a:ext>
            </a:extLst>
          </p:cNvPr>
          <p:cNvSpPr/>
          <p:nvPr/>
        </p:nvSpPr>
        <p:spPr bwMode="auto">
          <a:xfrm>
            <a:off x="5024439" y="3571875"/>
            <a:ext cx="1285875" cy="571500"/>
          </a:xfrm>
          <a:prstGeom prst="rect">
            <a:avLst/>
          </a:prstGeom>
          <a:solidFill>
            <a:srgbClr val="99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dirty="0">
                <a:solidFill>
                  <a:srgbClr val="FFFFCC"/>
                </a:solidFill>
                <a:latin typeface="微软雅黑" panose="020B0503020204020204" pitchFamily="34" charset="-122"/>
                <a:ea typeface="微软雅黑" panose="020B0503020204020204" pitchFamily="34" charset="-122"/>
              </a:rPr>
              <a:t>费用开支也有偏差</a:t>
            </a:r>
          </a:p>
        </p:txBody>
      </p:sp>
      <p:cxnSp>
        <p:nvCxnSpPr>
          <p:cNvPr id="33800" name="直接箭头连接符 11">
            <a:extLst>
              <a:ext uri="{FF2B5EF4-FFF2-40B4-BE49-F238E27FC236}">
                <a16:creationId xmlns:a16="http://schemas.microsoft.com/office/drawing/2014/main" id="{10A1BDD4-291F-40AE-ABFE-A511096EBCF7}"/>
              </a:ext>
            </a:extLst>
          </p:cNvPr>
          <p:cNvCxnSpPr>
            <a:cxnSpLocks noChangeShapeType="1"/>
            <a:stCxn id="6" idx="3"/>
            <a:endCxn id="9" idx="1"/>
          </p:cNvCxnSpPr>
          <p:nvPr/>
        </p:nvCxnSpPr>
        <p:spPr bwMode="auto">
          <a:xfrm>
            <a:off x="4167188" y="2928939"/>
            <a:ext cx="857250" cy="1587"/>
          </a:xfrm>
          <a:prstGeom prst="straightConnector1">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33801" name="直接箭头连接符 13">
            <a:extLst>
              <a:ext uri="{FF2B5EF4-FFF2-40B4-BE49-F238E27FC236}">
                <a16:creationId xmlns:a16="http://schemas.microsoft.com/office/drawing/2014/main" id="{EF5A7152-9622-4A8D-9351-8E076605B9CA}"/>
              </a:ext>
            </a:extLst>
          </p:cNvPr>
          <p:cNvCxnSpPr>
            <a:cxnSpLocks noChangeShapeType="1"/>
            <a:stCxn id="7" idx="3"/>
            <a:endCxn id="10" idx="1"/>
          </p:cNvCxnSpPr>
          <p:nvPr/>
        </p:nvCxnSpPr>
        <p:spPr bwMode="auto">
          <a:xfrm>
            <a:off x="4167188" y="3857625"/>
            <a:ext cx="857250" cy="1588"/>
          </a:xfrm>
          <a:prstGeom prst="straightConnector1">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sp>
        <p:nvSpPr>
          <p:cNvPr id="15" name="圆角矩形 14">
            <a:extLst>
              <a:ext uri="{FF2B5EF4-FFF2-40B4-BE49-F238E27FC236}">
                <a16:creationId xmlns:a16="http://schemas.microsoft.com/office/drawing/2014/main" id="{2AAE7C87-B621-496A-A886-11BF550B2B6A}"/>
              </a:ext>
            </a:extLst>
          </p:cNvPr>
          <p:cNvSpPr/>
          <p:nvPr/>
        </p:nvSpPr>
        <p:spPr bwMode="auto">
          <a:xfrm>
            <a:off x="7167563" y="3000376"/>
            <a:ext cx="2286000" cy="714375"/>
          </a:xfrm>
          <a:prstGeom prst="roundRect">
            <a:avLst/>
          </a:prstGeom>
          <a:solidFill>
            <a:srgbClr val="FFC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dirty="0">
                <a:solidFill>
                  <a:schemeClr val="tx2"/>
                </a:solidFill>
                <a:latin typeface="微软雅黑" panose="020B0503020204020204" pitchFamily="34" charset="-122"/>
                <a:ea typeface="微软雅黑" panose="020B0503020204020204" pitchFamily="34" charset="-122"/>
              </a:rPr>
              <a:t>都存在偏差的时候成本绩效究竟如何？</a:t>
            </a:r>
          </a:p>
        </p:txBody>
      </p:sp>
      <p:cxnSp>
        <p:nvCxnSpPr>
          <p:cNvPr id="33803" name="直接箭头连接符 16">
            <a:extLst>
              <a:ext uri="{FF2B5EF4-FFF2-40B4-BE49-F238E27FC236}">
                <a16:creationId xmlns:a16="http://schemas.microsoft.com/office/drawing/2014/main" id="{F312C2D9-7319-4D3B-A814-0097F06E9F21}"/>
              </a:ext>
            </a:extLst>
          </p:cNvPr>
          <p:cNvCxnSpPr>
            <a:cxnSpLocks noChangeShapeType="1"/>
            <a:stCxn id="9" idx="3"/>
            <a:endCxn id="15" idx="1"/>
          </p:cNvCxnSpPr>
          <p:nvPr/>
        </p:nvCxnSpPr>
        <p:spPr bwMode="auto">
          <a:xfrm>
            <a:off x="6310313" y="2928939"/>
            <a:ext cx="857250" cy="428625"/>
          </a:xfrm>
          <a:prstGeom prst="straightConnector1">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33804" name="直接箭头连接符 18">
            <a:extLst>
              <a:ext uri="{FF2B5EF4-FFF2-40B4-BE49-F238E27FC236}">
                <a16:creationId xmlns:a16="http://schemas.microsoft.com/office/drawing/2014/main" id="{FD6C117C-9351-4BD7-BBC3-06BA1E905FA0}"/>
              </a:ext>
            </a:extLst>
          </p:cNvPr>
          <p:cNvCxnSpPr>
            <a:cxnSpLocks noChangeShapeType="1"/>
            <a:stCxn id="10" idx="3"/>
            <a:endCxn id="15" idx="1"/>
          </p:cNvCxnSpPr>
          <p:nvPr/>
        </p:nvCxnSpPr>
        <p:spPr bwMode="auto">
          <a:xfrm flipV="1">
            <a:off x="6310313" y="3357563"/>
            <a:ext cx="857250" cy="500062"/>
          </a:xfrm>
          <a:prstGeom prst="straightConnector1">
            <a:avLst/>
          </a:prstGeom>
          <a:noFill/>
          <a:ln w="19050" algn="ctr">
            <a:solidFill>
              <a:schemeClr val="tx2"/>
            </a:solidFill>
            <a:round/>
            <a:headEnd/>
            <a:tailEnd type="arrow" w="med" len="med"/>
          </a:ln>
          <a:extLst>
            <a:ext uri="{909E8E84-426E-40DD-AFC4-6F175D3DCCD1}">
              <a14:hiddenFill xmlns:a14="http://schemas.microsoft.com/office/drawing/2010/main">
                <a:noFill/>
              </a14:hiddenFill>
            </a:ext>
          </a:extLst>
        </p:spPr>
      </p:cxnSp>
      <p:sp>
        <p:nvSpPr>
          <p:cNvPr id="20" name="内容占位符 2">
            <a:extLst>
              <a:ext uri="{FF2B5EF4-FFF2-40B4-BE49-F238E27FC236}">
                <a16:creationId xmlns:a16="http://schemas.microsoft.com/office/drawing/2014/main" id="{0300C8FA-A2D9-428E-9083-323FDA5B43C8}"/>
              </a:ext>
            </a:extLst>
          </p:cNvPr>
          <p:cNvSpPr>
            <a:spLocks noGrp="1"/>
          </p:cNvSpPr>
          <p:nvPr>
            <p:ph idx="1"/>
          </p:nvPr>
        </p:nvSpPr>
        <p:spPr>
          <a:xfrm>
            <a:off x="1981200" y="4786313"/>
            <a:ext cx="9171482" cy="1305806"/>
          </a:xfrm>
        </p:spPr>
        <p:txBody>
          <a:bodyPr/>
          <a:lstStyle/>
          <a:p>
            <a:pPr>
              <a:lnSpc>
                <a:spcPct val="100000"/>
              </a:lnSpc>
              <a:defRPr/>
            </a:pPr>
            <a:r>
              <a:rPr lang="zh-CN" altLang="en-US" dirty="0">
                <a:latin typeface="Times New Roman" panose="02020603050405020304" pitchFamily="18" charset="0"/>
                <a:cs typeface="Times New Roman" panose="02020603050405020304" pitchFamily="18" charset="0"/>
              </a:rPr>
              <a:t>计划价值（</a:t>
            </a:r>
            <a:r>
              <a:rPr lang="en-US" altLang="zh-CN" dirty="0">
                <a:latin typeface="Times New Roman" panose="02020603050405020304" pitchFamily="18" charset="0"/>
                <a:cs typeface="Times New Roman" panose="02020603050405020304" pitchFamily="18" charset="0"/>
              </a:rPr>
              <a:t>PV</a:t>
            </a:r>
            <a:r>
              <a:rPr lang="zh-CN" altLang="en-US" dirty="0">
                <a:latin typeface="Times New Roman" panose="02020603050405020304" pitchFamily="18" charset="0"/>
                <a:cs typeface="Times New Roman" panose="02020603050405020304" pitchFamily="18" charset="0"/>
              </a:rPr>
              <a:t>）：计划完成工作的价值，和实际执行无任何关系</a:t>
            </a:r>
            <a:endParaRPr lang="en-US" altLang="zh-CN" dirty="0">
              <a:latin typeface="Times New Roman" panose="02020603050405020304" pitchFamily="18" charset="0"/>
              <a:cs typeface="Times New Roman" panose="02020603050405020304" pitchFamily="18" charset="0"/>
            </a:endParaRPr>
          </a:p>
          <a:p>
            <a:pPr>
              <a:lnSpc>
                <a:spcPct val="100000"/>
              </a:lnSpc>
              <a:defRPr/>
            </a:pPr>
            <a:r>
              <a:rPr lang="zh-CN" altLang="en-US" dirty="0">
                <a:latin typeface="Times New Roman" panose="02020603050405020304" pitchFamily="18" charset="0"/>
                <a:cs typeface="Times New Roman" panose="02020603050405020304" pitchFamily="18" charset="0"/>
              </a:rPr>
              <a:t>实际成本（</a:t>
            </a:r>
            <a:r>
              <a:rPr lang="en-US" altLang="zh-CN" dirty="0">
                <a:latin typeface="Times New Roman" panose="02020603050405020304" pitchFamily="18" charset="0"/>
                <a:cs typeface="Times New Roman" panose="02020603050405020304" pitchFamily="18" charset="0"/>
              </a:rPr>
              <a:t>AC</a:t>
            </a:r>
            <a:r>
              <a:rPr lang="zh-CN" altLang="en-US" dirty="0">
                <a:latin typeface="Times New Roman" panose="02020603050405020304" pitchFamily="18" charset="0"/>
                <a:cs typeface="Times New Roman" panose="02020603050405020304" pitchFamily="18" charset="0"/>
              </a:rPr>
              <a:t>）：实际发生的成本，该项和进度没有任何关系，实际支出</a:t>
            </a:r>
            <a:endParaRPr lang="en-US" altLang="zh-CN" dirty="0">
              <a:latin typeface="Times New Roman" panose="02020603050405020304" pitchFamily="18" charset="0"/>
              <a:cs typeface="Times New Roman" panose="02020603050405020304" pitchFamily="18" charset="0"/>
            </a:endParaRPr>
          </a:p>
          <a:p>
            <a:pPr>
              <a:lnSpc>
                <a:spcPct val="100000"/>
              </a:lnSpc>
              <a:defRPr/>
            </a:pPr>
            <a:r>
              <a:rPr lang="zh-CN" altLang="en-US" dirty="0">
                <a:latin typeface="Times New Roman" panose="02020603050405020304" pitchFamily="18" charset="0"/>
                <a:cs typeface="Times New Roman" panose="02020603050405020304" pitchFamily="18" charset="0"/>
              </a:rPr>
              <a:t>挣值（</a:t>
            </a:r>
            <a:r>
              <a:rPr lang="en-US" altLang="zh-CN" dirty="0">
                <a:latin typeface="Times New Roman" panose="02020603050405020304" pitchFamily="18" charset="0"/>
                <a:cs typeface="Times New Roman" panose="02020603050405020304" pitchFamily="18" charset="0"/>
              </a:rPr>
              <a:t>EV</a:t>
            </a:r>
            <a:r>
              <a:rPr lang="zh-CN" altLang="en-US" dirty="0">
                <a:latin typeface="Times New Roman" panose="02020603050405020304" pitchFamily="18" charset="0"/>
                <a:cs typeface="Times New Roman" panose="02020603050405020304" pitchFamily="18" charset="0"/>
              </a:rPr>
              <a:t>）：实际完成工作，按理论应该付出的成本</a:t>
            </a:r>
            <a:endParaRPr lang="en-US" altLang="zh-CN"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2" descr="Large confetti">
            <a:extLst>
              <a:ext uri="{FF2B5EF4-FFF2-40B4-BE49-F238E27FC236}">
                <a16:creationId xmlns:a16="http://schemas.microsoft.com/office/drawing/2014/main" id="{C416D49F-9D73-4A3A-ADFF-55D7CD46AA25}"/>
              </a:ext>
            </a:extLst>
          </p:cNvPr>
          <p:cNvSpPr>
            <a:spLocks noGrp="1" noChangeArrowheads="1"/>
          </p:cNvSpPr>
          <p:nvPr>
            <p:ph type="title"/>
          </p:nvPr>
        </p:nvSpPr>
        <p:spPr/>
        <p:txBody>
          <a:bodyPr/>
          <a:lstStyle/>
          <a:p>
            <a:pPr eaLnBrk="1" hangingPunct="1"/>
            <a:r>
              <a:rPr lang="zh-CN" altLang="en-US" dirty="0">
                <a:solidFill>
                  <a:schemeClr val="tx1"/>
                </a:solidFill>
                <a:latin typeface="微软雅黑" panose="020B0503020204020204" pitchFamily="34" charset="-122"/>
              </a:rPr>
              <a:t>挣值分析</a:t>
            </a:r>
          </a:p>
        </p:txBody>
      </p:sp>
      <p:sp>
        <p:nvSpPr>
          <p:cNvPr id="92163" name="Rectangle 3">
            <a:extLst>
              <a:ext uri="{FF2B5EF4-FFF2-40B4-BE49-F238E27FC236}">
                <a16:creationId xmlns:a16="http://schemas.microsoft.com/office/drawing/2014/main" id="{2FB265B0-53DB-4D2A-AF62-1518285454E4}"/>
              </a:ext>
            </a:extLst>
          </p:cNvPr>
          <p:cNvSpPr>
            <a:spLocks noGrp="1" noChangeArrowheads="1"/>
          </p:cNvSpPr>
          <p:nvPr>
            <p:ph type="body" idx="1"/>
          </p:nvPr>
        </p:nvSpPr>
        <p:spPr>
          <a:xfrm>
            <a:off x="1229193" y="1416435"/>
            <a:ext cx="10357491" cy="4968875"/>
          </a:xfrm>
        </p:spPr>
        <p:txBody>
          <a:bodyPr>
            <a:noAutofit/>
          </a:bodyPr>
          <a:lstStyle/>
          <a:p>
            <a:pPr marL="0">
              <a:lnSpc>
                <a:spcPct val="100000"/>
              </a:lnSpc>
              <a:spcBef>
                <a:spcPts val="0"/>
              </a:spcBef>
              <a:spcAft>
                <a:spcPts val="600"/>
              </a:spcAft>
              <a:defRPr/>
            </a:pPr>
            <a:r>
              <a:rPr lang="zh-CN" altLang="en-US" b="0" dirty="0">
                <a:solidFill>
                  <a:srgbClr val="C00000"/>
                </a:solidFill>
                <a:latin typeface="Times New Roman" panose="02020603050405020304" pitchFamily="18" charset="0"/>
                <a:cs typeface="Times New Roman" panose="02020603050405020304" pitchFamily="18" charset="0"/>
              </a:rPr>
              <a:t>挣值</a:t>
            </a:r>
            <a:r>
              <a:rPr lang="en-US" altLang="zh-CN" b="0" dirty="0">
                <a:solidFill>
                  <a:srgbClr val="C00000"/>
                </a:solidFill>
                <a:latin typeface="Times New Roman" panose="02020603050405020304" pitchFamily="18" charset="0"/>
                <a:cs typeface="Times New Roman" panose="02020603050405020304" pitchFamily="18" charset="0"/>
              </a:rPr>
              <a:t>EV</a:t>
            </a:r>
            <a:r>
              <a:rPr lang="zh-CN" altLang="en-US" b="0" dirty="0">
                <a:latin typeface="Times New Roman" panose="02020603050405020304" pitchFamily="18" charset="0"/>
                <a:cs typeface="Times New Roman" panose="02020603050405020304" pitchFamily="18" charset="0"/>
              </a:rPr>
              <a:t>（已完成工作量的预算成本）</a:t>
            </a:r>
            <a:r>
              <a:rPr lang="en-US" altLang="zh-CN" b="0" dirty="0">
                <a:latin typeface="Times New Roman" panose="02020603050405020304" pitchFamily="18" charset="0"/>
                <a:cs typeface="Times New Roman" panose="02020603050405020304" pitchFamily="18" charset="0"/>
              </a:rPr>
              <a:t>=</a:t>
            </a:r>
            <a:r>
              <a:rPr lang="zh-CN" altLang="en-US" b="0" dirty="0">
                <a:latin typeface="Times New Roman" panose="02020603050405020304" pitchFamily="18" charset="0"/>
                <a:cs typeface="Times New Roman" panose="02020603050405020304" pitchFamily="18" charset="0"/>
              </a:rPr>
              <a:t>预算成本*完成的百分比</a:t>
            </a:r>
          </a:p>
          <a:p>
            <a:pPr marL="0">
              <a:lnSpc>
                <a:spcPct val="100000"/>
              </a:lnSpc>
              <a:spcBef>
                <a:spcPts val="0"/>
              </a:spcBef>
              <a:spcAft>
                <a:spcPts val="600"/>
              </a:spcAft>
              <a:defRPr/>
            </a:pPr>
            <a:r>
              <a:rPr lang="zh-CN" altLang="en-US" b="0" dirty="0">
                <a:solidFill>
                  <a:srgbClr val="C00000"/>
                </a:solidFill>
                <a:latin typeface="Times New Roman" panose="02020603050405020304" pitchFamily="18" charset="0"/>
                <a:cs typeface="Times New Roman" panose="02020603050405020304" pitchFamily="18" charset="0"/>
              </a:rPr>
              <a:t>成本偏差</a:t>
            </a:r>
            <a:r>
              <a:rPr lang="en-US" altLang="zh-CN" b="0" dirty="0">
                <a:solidFill>
                  <a:srgbClr val="C00000"/>
                </a:solidFill>
                <a:latin typeface="Times New Roman" panose="02020603050405020304" pitchFamily="18" charset="0"/>
                <a:cs typeface="Times New Roman" panose="02020603050405020304" pitchFamily="18" charset="0"/>
              </a:rPr>
              <a:t>CV</a:t>
            </a:r>
            <a:r>
              <a:rPr lang="zh-CN" altLang="en-US" b="0" dirty="0">
                <a:latin typeface="Times New Roman" panose="02020603050405020304" pitchFamily="18" charset="0"/>
                <a:cs typeface="Times New Roman" panose="02020603050405020304" pitchFamily="18" charset="0"/>
              </a:rPr>
              <a:t>（</a:t>
            </a:r>
            <a:r>
              <a:rPr lang="en-US" altLang="zh-CN" b="0" dirty="0">
                <a:latin typeface="Times New Roman" panose="02020603050405020304" pitchFamily="18" charset="0"/>
                <a:cs typeface="Times New Roman" panose="02020603050405020304" pitchFamily="18" charset="0"/>
              </a:rPr>
              <a:t>Cost Variance</a:t>
            </a:r>
            <a:r>
              <a:rPr lang="zh-CN" altLang="en-US" b="0" dirty="0">
                <a:latin typeface="Times New Roman" panose="02020603050405020304" pitchFamily="18" charset="0"/>
                <a:cs typeface="Times New Roman" panose="02020603050405020304" pitchFamily="18" charset="0"/>
              </a:rPr>
              <a:t>）</a:t>
            </a:r>
          </a:p>
          <a:p>
            <a:pPr marL="360000" lvl="2">
              <a:lnSpc>
                <a:spcPct val="100000"/>
              </a:lnSpc>
              <a:spcBef>
                <a:spcPts val="0"/>
              </a:spcBef>
              <a:spcAft>
                <a:spcPts val="600"/>
              </a:spcAft>
              <a:defRPr/>
            </a:pPr>
            <a:r>
              <a:rPr lang="en-US" altLang="zh-CN" sz="1800" b="0" dirty="0">
                <a:latin typeface="Times New Roman" panose="02020603050405020304" pitchFamily="18" charset="0"/>
                <a:cs typeface="Times New Roman" panose="02020603050405020304" pitchFamily="18" charset="0"/>
              </a:rPr>
              <a:t>CV = EV(BCWP</a:t>
            </a:r>
            <a:r>
              <a:rPr lang="zh-CN" altLang="en-US" sz="1800" b="0" dirty="0">
                <a:latin typeface="Times New Roman" panose="02020603050405020304" pitchFamily="18" charset="0"/>
                <a:cs typeface="Times New Roman" panose="02020603050405020304" pitchFamily="18" charset="0"/>
              </a:rPr>
              <a:t>挣值</a:t>
            </a:r>
            <a:r>
              <a:rPr lang="en-US" altLang="zh-CN" sz="1800" b="0" dirty="0">
                <a:latin typeface="Times New Roman" panose="02020603050405020304" pitchFamily="18" charset="0"/>
                <a:cs typeface="Times New Roman" panose="02020603050405020304" pitchFamily="18" charset="0"/>
              </a:rPr>
              <a:t>) - AC(ACWP</a:t>
            </a:r>
            <a:r>
              <a:rPr lang="zh-CN" altLang="en-US" sz="1800" b="0" dirty="0">
                <a:latin typeface="Times New Roman" panose="02020603050405020304" pitchFamily="18" charset="0"/>
                <a:cs typeface="Times New Roman" panose="02020603050405020304" pitchFamily="18" charset="0"/>
              </a:rPr>
              <a:t>实际成本</a:t>
            </a:r>
            <a:r>
              <a:rPr lang="en-US" altLang="zh-CN" sz="1800" b="0" dirty="0">
                <a:latin typeface="Times New Roman" panose="02020603050405020304" pitchFamily="18" charset="0"/>
                <a:cs typeface="Times New Roman" panose="02020603050405020304" pitchFamily="18" charset="0"/>
              </a:rPr>
              <a:t>)</a:t>
            </a:r>
          </a:p>
          <a:p>
            <a:pPr marL="0">
              <a:lnSpc>
                <a:spcPct val="100000"/>
              </a:lnSpc>
              <a:spcBef>
                <a:spcPts val="0"/>
              </a:spcBef>
              <a:spcAft>
                <a:spcPts val="600"/>
              </a:spcAft>
              <a:buNone/>
              <a:defRPr/>
            </a:pPr>
            <a:r>
              <a:rPr lang="en-US" altLang="zh-CN" b="0" dirty="0">
                <a:latin typeface="Times New Roman" panose="02020603050405020304" pitchFamily="18" charset="0"/>
                <a:cs typeface="Times New Roman" panose="02020603050405020304" pitchFamily="18" charset="0"/>
              </a:rPr>
              <a:t>   	</a:t>
            </a:r>
            <a:r>
              <a:rPr lang="zh-CN" altLang="en-US" b="0" dirty="0">
                <a:latin typeface="Times New Roman" panose="02020603050405020304" pitchFamily="18" charset="0"/>
                <a:cs typeface="Times New Roman" panose="02020603050405020304" pitchFamily="18" charset="0"/>
              </a:rPr>
              <a:t>即：对所完成的工作，预算成本与实际成本之差 ，大于零为好</a:t>
            </a:r>
          </a:p>
          <a:p>
            <a:pPr marL="0">
              <a:lnSpc>
                <a:spcPct val="100000"/>
              </a:lnSpc>
              <a:spcBef>
                <a:spcPts val="0"/>
              </a:spcBef>
              <a:spcAft>
                <a:spcPts val="600"/>
              </a:spcAft>
              <a:defRPr/>
            </a:pPr>
            <a:r>
              <a:rPr lang="zh-CN" altLang="en-US" b="0" dirty="0">
                <a:solidFill>
                  <a:srgbClr val="C00000"/>
                </a:solidFill>
                <a:latin typeface="Times New Roman" panose="02020603050405020304" pitchFamily="18" charset="0"/>
                <a:cs typeface="Times New Roman" panose="02020603050405020304" pitchFamily="18" charset="0"/>
              </a:rPr>
              <a:t>进度偏差</a:t>
            </a:r>
            <a:r>
              <a:rPr lang="en-US" altLang="zh-CN" b="0" dirty="0">
                <a:solidFill>
                  <a:srgbClr val="C00000"/>
                </a:solidFill>
                <a:latin typeface="Times New Roman" panose="02020603050405020304" pitchFamily="18" charset="0"/>
                <a:cs typeface="Times New Roman" panose="02020603050405020304" pitchFamily="18" charset="0"/>
              </a:rPr>
              <a:t>SV</a:t>
            </a:r>
            <a:r>
              <a:rPr lang="zh-CN" altLang="en-US" b="0" dirty="0">
                <a:latin typeface="Times New Roman" panose="02020603050405020304" pitchFamily="18" charset="0"/>
                <a:cs typeface="Times New Roman" panose="02020603050405020304" pitchFamily="18" charset="0"/>
              </a:rPr>
              <a:t>（</a:t>
            </a:r>
            <a:r>
              <a:rPr lang="en-US" altLang="zh-CN" b="0" dirty="0">
                <a:latin typeface="Times New Roman" panose="02020603050405020304" pitchFamily="18" charset="0"/>
                <a:cs typeface="Times New Roman" panose="02020603050405020304" pitchFamily="18" charset="0"/>
              </a:rPr>
              <a:t>Schedule Variance</a:t>
            </a:r>
            <a:r>
              <a:rPr lang="zh-CN" altLang="en-US" b="0" dirty="0">
                <a:latin typeface="Times New Roman" panose="02020603050405020304" pitchFamily="18" charset="0"/>
                <a:cs typeface="Times New Roman" panose="02020603050405020304" pitchFamily="18" charset="0"/>
              </a:rPr>
              <a:t>）</a:t>
            </a:r>
          </a:p>
          <a:p>
            <a:pPr marL="360000" lvl="2">
              <a:lnSpc>
                <a:spcPct val="100000"/>
              </a:lnSpc>
              <a:spcBef>
                <a:spcPts val="0"/>
              </a:spcBef>
              <a:spcAft>
                <a:spcPts val="600"/>
              </a:spcAft>
              <a:defRPr/>
            </a:pPr>
            <a:r>
              <a:rPr lang="en-US" altLang="zh-CN" sz="1800" b="0" dirty="0">
                <a:latin typeface="Times New Roman" panose="02020603050405020304" pitchFamily="18" charset="0"/>
                <a:cs typeface="Times New Roman" panose="02020603050405020304" pitchFamily="18" charset="0"/>
              </a:rPr>
              <a:t>SV = EV(BCWP) - PV(BCWS)</a:t>
            </a:r>
          </a:p>
          <a:p>
            <a:pPr marL="0" lvl="1" indent="0">
              <a:lnSpc>
                <a:spcPct val="100000"/>
              </a:lnSpc>
              <a:spcBef>
                <a:spcPts val="0"/>
              </a:spcBef>
              <a:spcAft>
                <a:spcPts val="600"/>
              </a:spcAft>
              <a:buNone/>
              <a:defRPr/>
            </a:pPr>
            <a:r>
              <a:rPr lang="zh-CN" altLang="en-US" sz="2000" b="0" dirty="0">
                <a:latin typeface="Times New Roman" panose="02020603050405020304" pitchFamily="18" charset="0"/>
                <a:cs typeface="Times New Roman" panose="02020603050405020304" pitchFamily="18" charset="0"/>
              </a:rPr>
              <a:t>   </a:t>
            </a:r>
            <a:r>
              <a:rPr lang="en-US" altLang="zh-CN" sz="2000" b="0" dirty="0">
                <a:latin typeface="Times New Roman" panose="02020603050405020304" pitchFamily="18" charset="0"/>
                <a:cs typeface="Times New Roman" panose="02020603050405020304" pitchFamily="18" charset="0"/>
              </a:rPr>
              <a:t>	</a:t>
            </a:r>
            <a:r>
              <a:rPr lang="zh-CN" altLang="en-US" sz="2000" b="0" dirty="0">
                <a:latin typeface="Times New Roman" panose="02020603050405020304" pitchFamily="18" charset="0"/>
                <a:cs typeface="Times New Roman" panose="02020603050405020304" pitchFamily="18" charset="0"/>
              </a:rPr>
              <a:t>即：已完成工作量的</a:t>
            </a:r>
            <a:r>
              <a:rPr lang="zh-CN" altLang="en-US" sz="2000" b="0" i="1" dirty="0">
                <a:latin typeface="Times New Roman" panose="02020603050405020304" pitchFamily="18" charset="0"/>
                <a:cs typeface="Times New Roman" panose="02020603050405020304" pitchFamily="18" charset="0"/>
              </a:rPr>
              <a:t>预算费用</a:t>
            </a:r>
            <a:r>
              <a:rPr lang="zh-CN" altLang="en-US" sz="2000" b="0" dirty="0">
                <a:latin typeface="Times New Roman" panose="02020603050405020304" pitchFamily="18" charset="0"/>
                <a:cs typeface="Times New Roman" panose="02020603050405020304" pitchFamily="18" charset="0"/>
              </a:rPr>
              <a:t>－计划工作量的</a:t>
            </a:r>
            <a:r>
              <a:rPr lang="zh-CN" altLang="en-US" sz="2000" b="0" i="1" dirty="0">
                <a:latin typeface="Times New Roman" panose="02020603050405020304" pitchFamily="18" charset="0"/>
                <a:cs typeface="Times New Roman" panose="02020603050405020304" pitchFamily="18" charset="0"/>
              </a:rPr>
              <a:t>预算费用</a:t>
            </a:r>
            <a:r>
              <a:rPr lang="zh-CN" altLang="en-US" sz="2000" b="0" dirty="0">
                <a:latin typeface="Times New Roman" panose="02020603050405020304" pitchFamily="18" charset="0"/>
                <a:cs typeface="Times New Roman" panose="02020603050405020304" pitchFamily="18" charset="0"/>
              </a:rPr>
              <a:t>， 其大于零为好</a:t>
            </a:r>
          </a:p>
          <a:p>
            <a:pPr marL="0">
              <a:lnSpc>
                <a:spcPct val="100000"/>
              </a:lnSpc>
              <a:spcBef>
                <a:spcPts val="0"/>
              </a:spcBef>
              <a:spcAft>
                <a:spcPts val="600"/>
              </a:spcAft>
              <a:defRPr/>
            </a:pPr>
            <a:r>
              <a:rPr lang="zh-CN" altLang="en-US" b="0" dirty="0">
                <a:solidFill>
                  <a:srgbClr val="C00000"/>
                </a:solidFill>
                <a:latin typeface="Times New Roman" panose="02020603050405020304" pitchFamily="18" charset="0"/>
                <a:cs typeface="Times New Roman" panose="02020603050405020304" pitchFamily="18" charset="0"/>
              </a:rPr>
              <a:t>成本执行指数</a:t>
            </a:r>
            <a:r>
              <a:rPr lang="en-US" altLang="zh-CN" b="0" dirty="0">
                <a:solidFill>
                  <a:srgbClr val="C00000"/>
                </a:solidFill>
                <a:latin typeface="Times New Roman" panose="02020603050405020304" pitchFamily="18" charset="0"/>
                <a:cs typeface="Times New Roman" panose="02020603050405020304" pitchFamily="18" charset="0"/>
              </a:rPr>
              <a:t>CPI</a:t>
            </a:r>
            <a:r>
              <a:rPr lang="zh-CN" altLang="en-US" b="0" dirty="0">
                <a:latin typeface="Times New Roman" panose="02020603050405020304" pitchFamily="18" charset="0"/>
                <a:cs typeface="Times New Roman" panose="02020603050405020304" pitchFamily="18" charset="0"/>
              </a:rPr>
              <a:t>（</a:t>
            </a:r>
            <a:r>
              <a:rPr lang="en-US" altLang="zh-CN" b="0" dirty="0">
                <a:latin typeface="Times New Roman" panose="02020603050405020304" pitchFamily="18" charset="0"/>
                <a:cs typeface="Times New Roman" panose="02020603050405020304" pitchFamily="18" charset="0"/>
              </a:rPr>
              <a:t>Cost Performance Index</a:t>
            </a:r>
            <a:r>
              <a:rPr lang="zh-CN" altLang="en-US" b="0" dirty="0">
                <a:latin typeface="Times New Roman" panose="02020603050405020304" pitchFamily="18" charset="0"/>
                <a:cs typeface="Times New Roman" panose="02020603050405020304" pitchFamily="18" charset="0"/>
              </a:rPr>
              <a:t>）</a:t>
            </a:r>
            <a:endParaRPr lang="en-US" altLang="zh-CN" b="0" dirty="0">
              <a:latin typeface="Times New Roman" panose="02020603050405020304" pitchFamily="18" charset="0"/>
              <a:cs typeface="Times New Roman" panose="02020603050405020304" pitchFamily="18" charset="0"/>
            </a:endParaRPr>
          </a:p>
          <a:p>
            <a:pPr marL="360000" lvl="2">
              <a:lnSpc>
                <a:spcPct val="100000"/>
              </a:lnSpc>
              <a:spcBef>
                <a:spcPts val="0"/>
              </a:spcBef>
              <a:spcAft>
                <a:spcPts val="600"/>
              </a:spcAft>
              <a:defRPr/>
            </a:pPr>
            <a:r>
              <a:rPr lang="en-US" altLang="zh-CN" sz="1800" b="0" dirty="0">
                <a:latin typeface="Times New Roman" panose="02020603050405020304" pitchFamily="18" charset="0"/>
                <a:cs typeface="Times New Roman" panose="02020603050405020304" pitchFamily="18" charset="0"/>
              </a:rPr>
              <a:t>CPI= EV(BCWP)/AC(ACWP)</a:t>
            </a:r>
          </a:p>
          <a:p>
            <a:pPr marL="0" lvl="1" indent="0">
              <a:lnSpc>
                <a:spcPct val="100000"/>
              </a:lnSpc>
              <a:spcBef>
                <a:spcPts val="0"/>
              </a:spcBef>
              <a:spcAft>
                <a:spcPts val="600"/>
              </a:spcAft>
              <a:buNone/>
              <a:defRPr/>
            </a:pPr>
            <a:r>
              <a:rPr lang="en-US" altLang="zh-CN" sz="2000" b="0" dirty="0">
                <a:latin typeface="Times New Roman" panose="02020603050405020304" pitchFamily="18" charset="0"/>
                <a:cs typeface="Times New Roman" panose="02020603050405020304" pitchFamily="18" charset="0"/>
              </a:rPr>
              <a:t>   	WP</a:t>
            </a:r>
            <a:r>
              <a:rPr lang="zh-CN" altLang="en-US" sz="2000" b="0" dirty="0">
                <a:latin typeface="Times New Roman" panose="02020603050405020304" pitchFamily="18" charset="0"/>
                <a:cs typeface="Times New Roman" panose="02020603050405020304" pitchFamily="18" charset="0"/>
              </a:rPr>
              <a:t>不变，</a:t>
            </a:r>
            <a:r>
              <a:rPr lang="en-US" altLang="zh-CN" sz="2000" b="0" dirty="0">
                <a:latin typeface="Times New Roman" panose="02020603050405020304" pitchFamily="18" charset="0"/>
                <a:cs typeface="Times New Roman" panose="02020603050405020304" pitchFamily="18" charset="0"/>
              </a:rPr>
              <a:t>BC</a:t>
            </a:r>
            <a:r>
              <a:rPr lang="zh-CN" altLang="en-US" sz="2000" b="0" dirty="0">
                <a:latin typeface="Times New Roman" panose="02020603050405020304" pitchFamily="18" charset="0"/>
                <a:cs typeface="Times New Roman" panose="02020603050405020304" pitchFamily="18" charset="0"/>
              </a:rPr>
              <a:t>变为</a:t>
            </a:r>
            <a:r>
              <a:rPr lang="en-US" altLang="zh-CN" sz="2000" b="0" dirty="0">
                <a:latin typeface="Times New Roman" panose="02020603050405020304" pitchFamily="18" charset="0"/>
                <a:cs typeface="Times New Roman" panose="02020603050405020304" pitchFamily="18" charset="0"/>
              </a:rPr>
              <a:t>AC</a:t>
            </a:r>
            <a:r>
              <a:rPr lang="zh-CN" altLang="en-US" sz="2000" b="0" dirty="0">
                <a:latin typeface="Times New Roman" panose="02020603050405020304" pitchFamily="18" charset="0"/>
                <a:cs typeface="Times New Roman" panose="02020603050405020304" pitchFamily="18" charset="0"/>
              </a:rPr>
              <a:t>所造成的项目成本或造价的相对差异程度。大于</a:t>
            </a:r>
            <a:r>
              <a:rPr lang="en-US" altLang="zh-CN" sz="2000" b="0" dirty="0">
                <a:latin typeface="Times New Roman" panose="02020603050405020304" pitchFamily="18" charset="0"/>
                <a:cs typeface="Times New Roman" panose="02020603050405020304" pitchFamily="18" charset="0"/>
              </a:rPr>
              <a:t>1</a:t>
            </a:r>
            <a:r>
              <a:rPr lang="zh-CN" altLang="en-US" sz="2000" b="0" dirty="0">
                <a:latin typeface="Times New Roman" panose="02020603050405020304" pitchFamily="18" charset="0"/>
                <a:cs typeface="Times New Roman" panose="02020603050405020304" pitchFamily="18" charset="0"/>
              </a:rPr>
              <a:t>为好。</a:t>
            </a:r>
          </a:p>
          <a:p>
            <a:pPr marL="0">
              <a:lnSpc>
                <a:spcPct val="100000"/>
              </a:lnSpc>
              <a:spcBef>
                <a:spcPts val="0"/>
              </a:spcBef>
              <a:spcAft>
                <a:spcPts val="600"/>
              </a:spcAft>
              <a:defRPr/>
            </a:pPr>
            <a:r>
              <a:rPr lang="zh-CN" altLang="en-US" b="0" dirty="0">
                <a:solidFill>
                  <a:srgbClr val="C00000"/>
                </a:solidFill>
                <a:latin typeface="Times New Roman" panose="02020603050405020304" pitchFamily="18" charset="0"/>
                <a:cs typeface="Times New Roman" panose="02020603050405020304" pitchFamily="18" charset="0"/>
              </a:rPr>
              <a:t>进度执行指数</a:t>
            </a:r>
            <a:r>
              <a:rPr lang="en-US" altLang="zh-CN" b="0" dirty="0">
                <a:solidFill>
                  <a:srgbClr val="C00000"/>
                </a:solidFill>
                <a:latin typeface="Times New Roman" panose="02020603050405020304" pitchFamily="18" charset="0"/>
                <a:cs typeface="Times New Roman" panose="02020603050405020304" pitchFamily="18" charset="0"/>
              </a:rPr>
              <a:t>SPI</a:t>
            </a:r>
            <a:r>
              <a:rPr lang="zh-CN" altLang="en-US" b="0" dirty="0">
                <a:latin typeface="Times New Roman" panose="02020603050405020304" pitchFamily="18" charset="0"/>
                <a:cs typeface="Times New Roman" panose="02020603050405020304" pitchFamily="18" charset="0"/>
              </a:rPr>
              <a:t>（</a:t>
            </a:r>
            <a:r>
              <a:rPr lang="en-US" altLang="zh-CN" b="0" dirty="0">
                <a:latin typeface="Times New Roman" panose="02020603050405020304" pitchFamily="18" charset="0"/>
                <a:cs typeface="Times New Roman" panose="02020603050405020304" pitchFamily="18" charset="0"/>
              </a:rPr>
              <a:t>Schedule Performance Index</a:t>
            </a:r>
            <a:r>
              <a:rPr lang="zh-CN" altLang="en-US" b="0" dirty="0">
                <a:latin typeface="Times New Roman" panose="02020603050405020304" pitchFamily="18" charset="0"/>
                <a:cs typeface="Times New Roman" panose="02020603050405020304" pitchFamily="18" charset="0"/>
              </a:rPr>
              <a:t>）</a:t>
            </a:r>
            <a:endParaRPr lang="en-US" altLang="zh-CN" b="0" dirty="0">
              <a:latin typeface="Times New Roman" panose="02020603050405020304" pitchFamily="18" charset="0"/>
              <a:cs typeface="Times New Roman" panose="02020603050405020304" pitchFamily="18" charset="0"/>
            </a:endParaRPr>
          </a:p>
          <a:p>
            <a:pPr marL="360000" lvl="2">
              <a:lnSpc>
                <a:spcPct val="100000"/>
              </a:lnSpc>
              <a:spcBef>
                <a:spcPts val="0"/>
              </a:spcBef>
              <a:spcAft>
                <a:spcPts val="600"/>
              </a:spcAft>
              <a:defRPr/>
            </a:pPr>
            <a:r>
              <a:rPr lang="en-US" altLang="zh-CN" sz="1800" b="0" dirty="0">
                <a:latin typeface="Times New Roman" panose="02020603050405020304" pitchFamily="18" charset="0"/>
                <a:cs typeface="Times New Roman" panose="02020603050405020304" pitchFamily="18" charset="0"/>
              </a:rPr>
              <a:t>SPI=EV(BCWP)/PV(BCWS) </a:t>
            </a:r>
          </a:p>
          <a:p>
            <a:pPr marL="0" lvl="1" indent="0">
              <a:lnSpc>
                <a:spcPct val="100000"/>
              </a:lnSpc>
              <a:spcBef>
                <a:spcPts val="0"/>
              </a:spcBef>
              <a:spcAft>
                <a:spcPts val="600"/>
              </a:spcAft>
              <a:buNone/>
              <a:defRPr/>
            </a:pPr>
            <a:r>
              <a:rPr lang="en-US" altLang="zh-CN" sz="2000" b="0" dirty="0">
                <a:latin typeface="Times New Roman" panose="02020603050405020304" pitchFamily="18" charset="0"/>
                <a:cs typeface="Times New Roman" panose="02020603050405020304" pitchFamily="18" charset="0"/>
              </a:rPr>
              <a:t>   	BC</a:t>
            </a:r>
            <a:r>
              <a:rPr lang="zh-CN" altLang="en-US" sz="2000" b="0" dirty="0">
                <a:latin typeface="Times New Roman" panose="02020603050405020304" pitchFamily="18" charset="0"/>
                <a:cs typeface="Times New Roman" panose="02020603050405020304" pitchFamily="18" charset="0"/>
              </a:rPr>
              <a:t>不变，</a:t>
            </a:r>
            <a:r>
              <a:rPr lang="en-US" altLang="zh-CN" sz="2000" b="0" dirty="0">
                <a:latin typeface="Times New Roman" panose="02020603050405020304" pitchFamily="18" charset="0"/>
                <a:cs typeface="Times New Roman" panose="02020603050405020304" pitchFamily="18" charset="0"/>
              </a:rPr>
              <a:t>WS</a:t>
            </a:r>
            <a:r>
              <a:rPr lang="zh-CN" altLang="en-US" sz="2000" b="0" dirty="0">
                <a:latin typeface="Times New Roman" panose="02020603050405020304" pitchFamily="18" charset="0"/>
                <a:cs typeface="Times New Roman" panose="02020603050405020304" pitchFamily="18" charset="0"/>
              </a:rPr>
              <a:t>变成</a:t>
            </a:r>
            <a:r>
              <a:rPr lang="en-US" altLang="zh-CN" sz="2000" b="0" dirty="0">
                <a:latin typeface="Times New Roman" panose="02020603050405020304" pitchFamily="18" charset="0"/>
                <a:cs typeface="Times New Roman" panose="02020603050405020304" pitchFamily="18" charset="0"/>
              </a:rPr>
              <a:t>WP</a:t>
            </a:r>
            <a:r>
              <a:rPr lang="zh-CN" altLang="en-US" sz="2000" b="0" dirty="0">
                <a:latin typeface="Times New Roman" panose="02020603050405020304" pitchFamily="18" charset="0"/>
                <a:cs typeface="Times New Roman" panose="02020603050405020304" pitchFamily="18" charset="0"/>
              </a:rPr>
              <a:t>所造成的项目成本或造价的相对差异程度。大于</a:t>
            </a:r>
            <a:r>
              <a:rPr lang="en-US" altLang="zh-CN" sz="2000" b="0" dirty="0">
                <a:latin typeface="Times New Roman" panose="02020603050405020304" pitchFamily="18" charset="0"/>
                <a:cs typeface="Times New Roman" panose="02020603050405020304" pitchFamily="18" charset="0"/>
              </a:rPr>
              <a:t>1</a:t>
            </a:r>
            <a:r>
              <a:rPr lang="zh-CN" altLang="en-US" sz="2000" b="0" dirty="0">
                <a:latin typeface="Times New Roman" panose="02020603050405020304" pitchFamily="18" charset="0"/>
                <a:cs typeface="Times New Roman" panose="02020603050405020304" pitchFamily="18" charset="0"/>
              </a:rPr>
              <a:t>为好</a:t>
            </a:r>
          </a:p>
        </p:txBody>
      </p:sp>
    </p:spTree>
    <p:extLst>
      <p:ext uri="{BB962C8B-B14F-4D97-AF65-F5344CB8AC3E}">
        <p14:creationId xmlns:p14="http://schemas.microsoft.com/office/powerpoint/2010/main" val="505365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a:extLst>
              <a:ext uri="{FF2B5EF4-FFF2-40B4-BE49-F238E27FC236}">
                <a16:creationId xmlns:a16="http://schemas.microsoft.com/office/drawing/2014/main" id="{05ECAC84-22CD-4C64-B318-70B6D36C0BD9}"/>
              </a:ext>
            </a:extLst>
          </p:cNvPr>
          <p:cNvSpPr>
            <a:spLocks noGrp="1"/>
          </p:cNvSpPr>
          <p:nvPr>
            <p:ph type="title"/>
          </p:nvPr>
        </p:nvSpPr>
        <p:spPr/>
        <p:txBody>
          <a:bodyPr/>
          <a:lstStyle/>
          <a:p>
            <a:r>
              <a:rPr lang="zh-CN" altLang="en-US" dirty="0">
                <a:solidFill>
                  <a:schemeClr val="tx1"/>
                </a:solidFill>
              </a:rPr>
              <a:t>挣值分析公式</a:t>
            </a:r>
          </a:p>
        </p:txBody>
      </p:sp>
      <p:pic>
        <p:nvPicPr>
          <p:cNvPr id="72706" name="Picture 2">
            <a:extLst>
              <a:ext uri="{FF2B5EF4-FFF2-40B4-BE49-F238E27FC236}">
                <a16:creationId xmlns:a16="http://schemas.microsoft.com/office/drawing/2014/main" id="{07432B04-957A-403F-A887-E4B6C883DC49}"/>
              </a:ext>
            </a:extLst>
          </p:cNvPr>
          <p:cNvPicPr>
            <a:picLocks noChangeAspect="1" noChangeArrowheads="1"/>
          </p:cNvPicPr>
          <p:nvPr/>
        </p:nvPicPr>
        <p:blipFill>
          <a:blip r:embed="rId2"/>
          <a:srcRect/>
          <a:stretch>
            <a:fillRect/>
          </a:stretch>
        </p:blipFill>
        <p:spPr bwMode="auto">
          <a:xfrm>
            <a:off x="2238375" y="1379346"/>
            <a:ext cx="7715250" cy="5065713"/>
          </a:xfrm>
          <a:prstGeom prst="rect">
            <a:avLst/>
          </a:prstGeom>
          <a:ln>
            <a:headEnd/>
            <a:tailEnd/>
          </a:ln>
        </p:spPr>
        <p:style>
          <a:lnRef idx="2">
            <a:schemeClr val="accent3"/>
          </a:lnRef>
          <a:fillRef idx="1">
            <a:schemeClr val="lt1"/>
          </a:fillRef>
          <a:effectRef idx="0">
            <a:schemeClr val="accent3"/>
          </a:effectRef>
          <a:fontRef idx="minor">
            <a:schemeClr val="dk1"/>
          </a:fontRef>
        </p:style>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a:extLst>
              <a:ext uri="{FF2B5EF4-FFF2-40B4-BE49-F238E27FC236}">
                <a16:creationId xmlns:a16="http://schemas.microsoft.com/office/drawing/2014/main" id="{B6830E12-BC5F-4BB1-9911-A42A1243D2E6}"/>
              </a:ext>
            </a:extLst>
          </p:cNvPr>
          <p:cNvSpPr>
            <a:spLocks noGrp="1"/>
          </p:cNvSpPr>
          <p:nvPr>
            <p:ph type="title"/>
          </p:nvPr>
        </p:nvSpPr>
        <p:spPr/>
        <p:txBody>
          <a:bodyPr/>
          <a:lstStyle/>
          <a:p>
            <a:r>
              <a:rPr lang="zh-CN" altLang="en-US" dirty="0">
                <a:solidFill>
                  <a:schemeClr val="tx1"/>
                </a:solidFill>
              </a:rPr>
              <a:t>挣值管理</a:t>
            </a:r>
            <a:r>
              <a:rPr lang="en-US" altLang="zh-CN" dirty="0">
                <a:solidFill>
                  <a:schemeClr val="tx1"/>
                </a:solidFill>
              </a:rPr>
              <a:t>-</a:t>
            </a:r>
            <a:r>
              <a:rPr lang="zh-CN" altLang="en-US" dirty="0">
                <a:solidFill>
                  <a:schemeClr val="tx1"/>
                </a:solidFill>
              </a:rPr>
              <a:t>简化例子</a:t>
            </a:r>
          </a:p>
        </p:txBody>
      </p:sp>
      <p:sp>
        <p:nvSpPr>
          <p:cNvPr id="18" name="矩形 17">
            <a:extLst>
              <a:ext uri="{FF2B5EF4-FFF2-40B4-BE49-F238E27FC236}">
                <a16:creationId xmlns:a16="http://schemas.microsoft.com/office/drawing/2014/main" id="{816AF7CD-D43A-484A-A9C5-71B8B81D0027}"/>
              </a:ext>
            </a:extLst>
          </p:cNvPr>
          <p:cNvSpPr/>
          <p:nvPr/>
        </p:nvSpPr>
        <p:spPr>
          <a:xfrm>
            <a:off x="2024064" y="1500188"/>
            <a:ext cx="8072437" cy="923330"/>
          </a:xfrm>
          <a:prstGeom prst="rect">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p:spPr>
        <p:style>
          <a:lnRef idx="1">
            <a:schemeClr val="dk1"/>
          </a:lnRef>
          <a:fillRef idx="2">
            <a:schemeClr val="dk1"/>
          </a:fillRef>
          <a:effectRef idx="1">
            <a:schemeClr val="dk1"/>
          </a:effectRef>
          <a:fontRef idx="minor">
            <a:schemeClr val="dk1"/>
          </a:fontRef>
        </p:style>
        <p:txBody>
          <a:bodyPr>
            <a:spAutoFit/>
          </a:bodyPr>
          <a:lstStyle/>
          <a:p>
            <a:pPr>
              <a:defRPr/>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一个搬运</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万块砖的工程，成本基准为</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1000</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块，进度基准为</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10</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天完成。请了一个搬运工，该搬运工平均每天可以搬运</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1000</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块，刚好</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10</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天搬完，每天支付搬运工</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100</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块。在第</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5</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天末实际情况为已经搬运完</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6000</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块，支付了搬运工</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800</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块钱。</a:t>
            </a:r>
          </a:p>
        </p:txBody>
      </p:sp>
      <p:sp>
        <p:nvSpPr>
          <p:cNvPr id="35844" name="TextBox 20">
            <a:extLst>
              <a:ext uri="{FF2B5EF4-FFF2-40B4-BE49-F238E27FC236}">
                <a16:creationId xmlns:a16="http://schemas.microsoft.com/office/drawing/2014/main" id="{14EC846D-455F-4C05-85E0-3B7A9F995901}"/>
              </a:ext>
            </a:extLst>
          </p:cNvPr>
          <p:cNvSpPr txBox="1">
            <a:spLocks noChangeArrowheads="1"/>
          </p:cNvSpPr>
          <p:nvPr/>
        </p:nvSpPr>
        <p:spPr bwMode="auto">
          <a:xfrm>
            <a:off x="2381251" y="2857501"/>
            <a:ext cx="3864199" cy="2951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lnSpc>
                <a:spcPct val="150000"/>
              </a:lnSpc>
              <a:buFont typeface="Wingdings" panose="05000000000000000000" pitchFamily="2" charset="2"/>
              <a:buChar char="u"/>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计划价值</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PV = (1000/10)*5 = 500</a:t>
            </a:r>
          </a:p>
          <a:p>
            <a:pPr eaLnBrk="1" hangingPunct="1">
              <a:lnSpc>
                <a:spcPct val="150000"/>
              </a:lnSpc>
              <a:buFont typeface="Wingdings" panose="05000000000000000000" pitchFamily="2" charset="2"/>
              <a:buChar char="u"/>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实际成本</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AC = 800</a:t>
            </a:r>
          </a:p>
          <a:p>
            <a:pPr eaLnBrk="1" hangingPunct="1">
              <a:lnSpc>
                <a:spcPct val="150000"/>
              </a:lnSpc>
              <a:buFont typeface="Wingdings" panose="05000000000000000000" pitchFamily="2" charset="2"/>
              <a:buChar char="u"/>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挣值</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EV = 1000*(6000/10000) = 600</a:t>
            </a:r>
          </a:p>
          <a:p>
            <a:pPr eaLnBrk="1" hangingPunct="1">
              <a:lnSpc>
                <a:spcPct val="150000"/>
              </a:lnSpc>
              <a:buFont typeface="Wingdings" panose="05000000000000000000" pitchFamily="2" charset="2"/>
              <a:buChar char="u"/>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进度偏差</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SV = EV-PV = 100</a:t>
            </a:r>
          </a:p>
          <a:p>
            <a:pPr eaLnBrk="1" hangingPunct="1">
              <a:lnSpc>
                <a:spcPct val="150000"/>
              </a:lnSpc>
              <a:buFont typeface="Wingdings" panose="05000000000000000000" pitchFamily="2" charset="2"/>
              <a:buChar char="u"/>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成本偏差</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CV = EV-AC = -200</a:t>
            </a:r>
          </a:p>
          <a:p>
            <a:pPr eaLnBrk="1" hangingPunct="1">
              <a:lnSpc>
                <a:spcPct val="150000"/>
              </a:lnSpc>
              <a:buFont typeface="Wingdings" panose="05000000000000000000" pitchFamily="2" charset="2"/>
              <a:buChar char="u"/>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进度偏差</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SPI = EV/PV = 1.2 &gt;1</a:t>
            </a:r>
          </a:p>
          <a:p>
            <a:pPr eaLnBrk="1" hangingPunct="1">
              <a:lnSpc>
                <a:spcPct val="150000"/>
              </a:lnSpc>
              <a:buFont typeface="Wingdings" panose="05000000000000000000" pitchFamily="2" charset="2"/>
              <a:buChar char="u"/>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成本偏差</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CPI = EV/AC = 0.75 &lt;1</a:t>
            </a:r>
            <a:endParaRPr lang="zh-CN" altLang="en-US" b="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2" name="TextBox 21">
            <a:extLst>
              <a:ext uri="{FF2B5EF4-FFF2-40B4-BE49-F238E27FC236}">
                <a16:creationId xmlns:a16="http://schemas.microsoft.com/office/drawing/2014/main" id="{57293738-D00B-445A-876B-CE33862E6449}"/>
              </a:ext>
            </a:extLst>
          </p:cNvPr>
          <p:cNvSpPr txBox="1"/>
          <p:nvPr/>
        </p:nvSpPr>
        <p:spPr>
          <a:xfrm>
            <a:off x="6596064" y="3929063"/>
            <a:ext cx="3570287" cy="461962"/>
          </a:xfrm>
          <a:prstGeom prst="rect">
            <a:avLst/>
          </a:prstGeom>
          <a:noFill/>
        </p:spPr>
        <p:txBody>
          <a:bodyPr wrap="none">
            <a:spAutoFit/>
          </a:bodyPr>
          <a:lstStyle/>
          <a:p>
            <a:pPr>
              <a:defRPr/>
            </a:pPr>
            <a:r>
              <a:rPr lang="zh-CN" altLang="en-US" sz="2400" dirty="0">
                <a:solidFill>
                  <a:srgbClr val="FF0000"/>
                </a:solidFill>
                <a:latin typeface="微软雅黑" panose="020B0503020204020204" pitchFamily="34" charset="-122"/>
                <a:ea typeface="微软雅黑" panose="020B0503020204020204" pitchFamily="34" charset="-122"/>
              </a:rPr>
              <a:t>进度提前，但成本超支！</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a:extLst>
              <a:ext uri="{FF2B5EF4-FFF2-40B4-BE49-F238E27FC236}">
                <a16:creationId xmlns:a16="http://schemas.microsoft.com/office/drawing/2014/main" id="{F830D2D2-C1AA-4FE8-95CC-01CD2153108F}"/>
              </a:ext>
            </a:extLst>
          </p:cNvPr>
          <p:cNvSpPr>
            <a:spLocks noGrp="1"/>
          </p:cNvSpPr>
          <p:nvPr>
            <p:ph type="title"/>
          </p:nvPr>
        </p:nvSpPr>
        <p:spPr/>
        <p:txBody>
          <a:bodyPr/>
          <a:lstStyle/>
          <a:p>
            <a:r>
              <a:rPr lang="en-US" altLang="zh-CN" dirty="0">
                <a:solidFill>
                  <a:schemeClr val="tx1"/>
                </a:solidFill>
                <a:latin typeface="微软雅黑" panose="020B0503020204020204" pitchFamily="34" charset="-122"/>
              </a:rPr>
              <a:t>EAC</a:t>
            </a:r>
            <a:r>
              <a:rPr lang="zh-CN" altLang="en-US" dirty="0">
                <a:solidFill>
                  <a:schemeClr val="tx1"/>
                </a:solidFill>
                <a:latin typeface="微软雅黑" panose="020B0503020204020204" pitchFamily="34" charset="-122"/>
              </a:rPr>
              <a:t>竣工估算</a:t>
            </a:r>
          </a:p>
        </p:txBody>
      </p:sp>
      <p:sp>
        <p:nvSpPr>
          <p:cNvPr id="4" name="内容占位符 2">
            <a:extLst>
              <a:ext uri="{FF2B5EF4-FFF2-40B4-BE49-F238E27FC236}">
                <a16:creationId xmlns:a16="http://schemas.microsoft.com/office/drawing/2014/main" id="{8F2559C7-F8DE-4312-A5F6-5734D6056F88}"/>
              </a:ext>
            </a:extLst>
          </p:cNvPr>
          <p:cNvSpPr>
            <a:spLocks noGrp="1"/>
          </p:cNvSpPr>
          <p:nvPr>
            <p:ph idx="1"/>
          </p:nvPr>
        </p:nvSpPr>
        <p:spPr>
          <a:xfrm>
            <a:off x="1981200" y="1357314"/>
            <a:ext cx="8153400" cy="1214437"/>
          </a:xfrm>
        </p:spPr>
        <p:txBody>
          <a:bodyPr/>
          <a:lstStyle/>
          <a:p>
            <a:pPr>
              <a:lnSpc>
                <a:spcPct val="100000"/>
              </a:lnSpc>
              <a:defRPr/>
            </a:pPr>
            <a:r>
              <a:rPr lang="zh-CN" altLang="en-US" sz="1800" dirty="0">
                <a:latin typeface="Times New Roman" panose="02020603050405020304" pitchFamily="18" charset="0"/>
                <a:cs typeface="Times New Roman" panose="02020603050405020304" pitchFamily="18" charset="0"/>
              </a:rPr>
              <a:t>由于存在进度和成本执行偏差，需要对竣工实际开销进行估算。</a:t>
            </a:r>
            <a:endParaRPr lang="en-US" altLang="zh-CN" sz="1800" dirty="0">
              <a:latin typeface="Times New Roman" panose="02020603050405020304" pitchFamily="18" charset="0"/>
              <a:cs typeface="Times New Roman" panose="02020603050405020304" pitchFamily="18" charset="0"/>
            </a:endParaRPr>
          </a:p>
          <a:p>
            <a:pPr>
              <a:lnSpc>
                <a:spcPct val="100000"/>
              </a:lnSpc>
              <a:defRPr/>
            </a:pPr>
            <a:r>
              <a:rPr lang="zh-CN" altLang="en-US" sz="1800" dirty="0">
                <a:latin typeface="Times New Roman" panose="02020603050405020304" pitchFamily="18" charset="0"/>
                <a:cs typeface="Times New Roman" panose="02020603050405020304" pitchFamily="18" charset="0"/>
              </a:rPr>
              <a:t>偏差典型：</a:t>
            </a:r>
            <a:r>
              <a:rPr lang="en-US" altLang="zh-CN" sz="1800" dirty="0">
                <a:latin typeface="Times New Roman" panose="02020603050405020304" pitchFamily="18" charset="0"/>
                <a:cs typeface="Times New Roman" panose="02020603050405020304" pitchFamily="18" charset="0"/>
              </a:rPr>
              <a:t>EAC = BAC*AC/EV = BAC/CPI = 1000/0.75 = 1333</a:t>
            </a:r>
          </a:p>
          <a:p>
            <a:pPr>
              <a:lnSpc>
                <a:spcPct val="100000"/>
              </a:lnSpc>
              <a:defRPr/>
            </a:pPr>
            <a:r>
              <a:rPr lang="zh-CN" altLang="en-US" sz="1800" dirty="0">
                <a:latin typeface="Times New Roman" panose="02020603050405020304" pitchFamily="18" charset="0"/>
                <a:cs typeface="Times New Roman" panose="02020603050405020304" pitchFamily="18" charset="0"/>
              </a:rPr>
              <a:t>偏差非典型：</a:t>
            </a:r>
            <a:r>
              <a:rPr lang="en-US" altLang="zh-CN" sz="1800" dirty="0">
                <a:latin typeface="Times New Roman" panose="02020603050405020304" pitchFamily="18" charset="0"/>
                <a:cs typeface="Times New Roman" panose="02020603050405020304" pitchFamily="18" charset="0"/>
              </a:rPr>
              <a:t>EAC =AC +</a:t>
            </a:r>
            <a:r>
              <a:rPr lang="zh-CN" altLang="en-US"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BAC-EV</a:t>
            </a:r>
            <a:r>
              <a:rPr lang="zh-CN" altLang="en-US"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 800+</a:t>
            </a:r>
            <a:r>
              <a:rPr lang="zh-CN" altLang="en-US"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1000-600</a:t>
            </a:r>
            <a:r>
              <a:rPr lang="zh-CN" altLang="en-US" sz="1800" dirty="0">
                <a:latin typeface="Times New Roman" panose="02020603050405020304" pitchFamily="18" charset="0"/>
                <a:cs typeface="Times New Roman" panose="02020603050405020304" pitchFamily="18" charset="0"/>
              </a:rPr>
              <a:t>） </a:t>
            </a:r>
            <a:r>
              <a:rPr lang="en-US" altLang="zh-CN" sz="1800" dirty="0">
                <a:latin typeface="Times New Roman" panose="02020603050405020304" pitchFamily="18" charset="0"/>
                <a:cs typeface="Times New Roman" panose="02020603050405020304" pitchFamily="18" charset="0"/>
              </a:rPr>
              <a:t>= 1200</a:t>
            </a:r>
          </a:p>
        </p:txBody>
      </p:sp>
      <p:sp>
        <p:nvSpPr>
          <p:cNvPr id="5" name="矩形 4">
            <a:extLst>
              <a:ext uri="{FF2B5EF4-FFF2-40B4-BE49-F238E27FC236}">
                <a16:creationId xmlns:a16="http://schemas.microsoft.com/office/drawing/2014/main" id="{E6F05D2B-A842-4052-B2F3-EDA8CCAA8743}"/>
              </a:ext>
            </a:extLst>
          </p:cNvPr>
          <p:cNvSpPr/>
          <p:nvPr/>
        </p:nvSpPr>
        <p:spPr>
          <a:xfrm>
            <a:off x="2024063" y="2571751"/>
            <a:ext cx="8286750" cy="1200329"/>
          </a:xfrm>
          <a:prstGeom prst="rect">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p:spPr>
        <p:style>
          <a:lnRef idx="1">
            <a:schemeClr val="dk1"/>
          </a:lnRef>
          <a:fillRef idx="2">
            <a:schemeClr val="dk1"/>
          </a:fillRef>
          <a:effectRef idx="1">
            <a:schemeClr val="dk1"/>
          </a:effectRef>
          <a:fontRef idx="minor">
            <a:schemeClr val="dk1"/>
          </a:fontRef>
        </p:style>
        <p:txBody>
          <a:bodyPr>
            <a:spAutoFit/>
          </a:bodyPr>
          <a:lstStyle/>
          <a:p>
            <a:pPr>
              <a:defRPr/>
            </a:pPr>
            <a:r>
              <a:rPr lang="zh-CN" altLang="en-US" dirty="0">
                <a:latin typeface="微软雅黑" panose="020B0503020204020204" pitchFamily="34" charset="-122"/>
                <a:ea typeface="微软雅黑" panose="020B0503020204020204" pitchFamily="34" charset="-122"/>
              </a:rPr>
              <a:t>分析了成本超支偏差，多开支是搬用工很卖力，干的也快，每天给搬运工买了</a:t>
            </a:r>
            <a:r>
              <a:rPr lang="en-US" altLang="zh-CN" dirty="0">
                <a:latin typeface="微软雅黑" panose="020B0503020204020204" pitchFamily="34" charset="-122"/>
                <a:ea typeface="微软雅黑" panose="020B0503020204020204" pitchFamily="34" charset="-122"/>
              </a:rPr>
              <a:t>40</a:t>
            </a:r>
            <a:r>
              <a:rPr lang="zh-CN" altLang="en-US" dirty="0">
                <a:latin typeface="微软雅黑" panose="020B0503020204020204" pitchFamily="34" charset="-122"/>
                <a:ea typeface="微软雅黑" panose="020B0503020204020204" pitchFamily="34" charset="-122"/>
              </a:rPr>
              <a:t>块的快餐。而这个没有在预计内。如果后续还是延续这个偏差，则最终需要花</a:t>
            </a:r>
            <a:r>
              <a:rPr lang="en-US" altLang="zh-CN" sz="1800" dirty="0">
                <a:latin typeface="Times New Roman" panose="02020603050405020304" pitchFamily="18" charset="0"/>
                <a:cs typeface="Times New Roman" panose="02020603050405020304" pitchFamily="18" charset="0"/>
              </a:rPr>
              <a:t>1333</a:t>
            </a:r>
            <a:r>
              <a:rPr lang="zh-CN" altLang="en-US" dirty="0">
                <a:latin typeface="微软雅黑" panose="020B0503020204020204" pitchFamily="34" charset="-122"/>
                <a:ea typeface="微软雅黑" panose="020B0503020204020204" pitchFamily="34" charset="-122"/>
              </a:rPr>
              <a:t>元，如果后面这个福利取消，由于还剩余</a:t>
            </a:r>
            <a:r>
              <a:rPr lang="en-US" altLang="zh-CN" dirty="0">
                <a:latin typeface="微软雅黑" panose="020B0503020204020204" pitchFamily="34" charset="-122"/>
                <a:ea typeface="微软雅黑" panose="020B0503020204020204" pitchFamily="34" charset="-122"/>
              </a:rPr>
              <a:t>4000</a:t>
            </a:r>
            <a:r>
              <a:rPr lang="zh-CN" altLang="en-US" dirty="0">
                <a:latin typeface="微软雅黑" panose="020B0503020204020204" pitchFamily="34" charset="-122"/>
                <a:ea typeface="微软雅黑" panose="020B0503020204020204" pitchFamily="34" charset="-122"/>
              </a:rPr>
              <a:t>块砖，</a:t>
            </a: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天即搬完，最终只需花</a:t>
            </a:r>
            <a:r>
              <a:rPr lang="en-US" altLang="zh-CN" dirty="0">
                <a:latin typeface="微软雅黑" panose="020B0503020204020204" pitchFamily="34" charset="-122"/>
                <a:ea typeface="微软雅黑" panose="020B0503020204020204" pitchFamily="34" charset="-122"/>
              </a:rPr>
              <a:t>1200</a:t>
            </a:r>
            <a:r>
              <a:rPr lang="zh-CN" altLang="en-US" dirty="0">
                <a:latin typeface="微软雅黑" panose="020B0503020204020204" pitchFamily="34" charset="-122"/>
                <a:ea typeface="微软雅黑" panose="020B0503020204020204" pitchFamily="34" charset="-122"/>
              </a:rPr>
              <a:t>元。</a:t>
            </a:r>
          </a:p>
        </p:txBody>
      </p:sp>
      <p:pic>
        <p:nvPicPr>
          <p:cNvPr id="73730" name="Picture 2">
            <a:extLst>
              <a:ext uri="{FF2B5EF4-FFF2-40B4-BE49-F238E27FC236}">
                <a16:creationId xmlns:a16="http://schemas.microsoft.com/office/drawing/2014/main" id="{6CB238F7-D924-409A-A227-EB709FEE2235}"/>
              </a:ext>
            </a:extLst>
          </p:cNvPr>
          <p:cNvPicPr>
            <a:picLocks noChangeAspect="1" noChangeArrowheads="1"/>
          </p:cNvPicPr>
          <p:nvPr/>
        </p:nvPicPr>
        <p:blipFill>
          <a:blip r:embed="rId3"/>
          <a:srcRect/>
          <a:stretch>
            <a:fillRect/>
          </a:stretch>
        </p:blipFill>
        <p:spPr bwMode="auto">
          <a:xfrm>
            <a:off x="3921516" y="3942022"/>
            <a:ext cx="4415535" cy="2498437"/>
          </a:xfrm>
          <a:prstGeom prst="rect">
            <a:avLst/>
          </a:prstGeom>
          <a:ln>
            <a:headEnd/>
            <a:tailEnd/>
          </a:ln>
        </p:spPr>
        <p:style>
          <a:lnRef idx="1">
            <a:schemeClr val="dk1"/>
          </a:lnRef>
          <a:fillRef idx="2">
            <a:schemeClr val="dk1"/>
          </a:fillRef>
          <a:effectRef idx="1">
            <a:schemeClr val="dk1"/>
          </a:effectRef>
          <a:fontRef idx="minor">
            <a:schemeClr val="dk1"/>
          </a:fontRef>
        </p:style>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文本框 45">
            <a:extLst>
              <a:ext uri="{FF2B5EF4-FFF2-40B4-BE49-F238E27FC236}">
                <a16:creationId xmlns:a16="http://schemas.microsoft.com/office/drawing/2014/main" id="{814825A8-7B90-4E79-96FC-BA42E4CBC99A}"/>
              </a:ext>
            </a:extLst>
          </p:cNvPr>
          <p:cNvSpPr txBox="1"/>
          <p:nvPr/>
        </p:nvSpPr>
        <p:spPr>
          <a:xfrm>
            <a:off x="517047" y="2082702"/>
            <a:ext cx="3179174" cy="3995966"/>
          </a:xfrm>
          <a:prstGeom prst="rect">
            <a:avLst/>
          </a:prstGeom>
          <a:noFill/>
        </p:spPr>
        <p:txBody>
          <a:bodyPr wrap="square">
            <a:spAutoFit/>
          </a:bodyPr>
          <a:lstStyle/>
          <a:p>
            <a:pPr marL="266400" marR="0" lvl="0" indent="-266400" algn="l" defTabSz="914400" rtl="0" eaLnBrk="1" fontAlgn="auto" latinLnBrk="0" hangingPunct="1">
              <a:lnSpc>
                <a:spcPct val="100000"/>
              </a:lnSpc>
              <a:spcBef>
                <a:spcPts val="720"/>
              </a:spcBef>
              <a:spcAft>
                <a:spcPts val="240"/>
              </a:spcAft>
              <a:buClrTx/>
              <a:buSzTx/>
              <a:buFont typeface="Wingdings" pitchFamily="2" charset="2"/>
              <a:buChar char=""/>
              <a:tabLst/>
              <a:defRPr/>
            </a:pPr>
            <a:r>
              <a:rPr kumimoji="0" lang="zh-CN" altLang="en-US" b="1"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rPr>
              <a:t>三个关键指标</a:t>
            </a:r>
            <a:endParaRPr kumimoji="0" lang="en-US" altLang="zh-CN" b="1"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endParaRPr>
          </a:p>
          <a:p>
            <a:pPr>
              <a:spcBef>
                <a:spcPts val="36"/>
              </a:spcBef>
              <a:spcAft>
                <a:spcPts val="12"/>
              </a:spcAft>
              <a:defRPr/>
            </a:pPr>
            <a:r>
              <a:rPr kumimoji="0" lang="en-US" altLang="zh-CN" b="1"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rPr>
              <a:t>  PV</a:t>
            </a:r>
            <a:r>
              <a:rPr kumimoji="0" lang="zh-CN" altLang="en-US" b="1"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rPr>
              <a:t>计划价值：</a:t>
            </a:r>
            <a:r>
              <a:rPr kumimoji="0" lang="zh-CN" altLang="en-US"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rPr>
              <a:t>计划完成工作的价值</a:t>
            </a:r>
            <a:endParaRPr kumimoji="0" lang="en-US" altLang="zh-CN"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endParaRPr>
          </a:p>
          <a:p>
            <a:pPr>
              <a:spcBef>
                <a:spcPts val="36"/>
              </a:spcBef>
              <a:spcAft>
                <a:spcPts val="12"/>
              </a:spcAft>
              <a:defRPr/>
            </a:pPr>
            <a:r>
              <a:rPr kumimoji="0" lang="en-US" altLang="zh-CN" b="1"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rPr>
              <a:t>  EV</a:t>
            </a:r>
            <a:r>
              <a:rPr kumimoji="0" lang="zh-CN" altLang="en-US" b="1"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rPr>
              <a:t>挣值：</a:t>
            </a:r>
            <a:r>
              <a:rPr kumimoji="0" lang="zh-CN" altLang="en-US"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rPr>
              <a:t>实际完成工作，按理论应该付出的成本。</a:t>
            </a:r>
            <a:endParaRPr kumimoji="0" lang="en-US" altLang="zh-CN"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endParaRPr>
          </a:p>
          <a:p>
            <a:pPr>
              <a:spcBef>
                <a:spcPts val="36"/>
              </a:spcBef>
              <a:spcAft>
                <a:spcPts val="12"/>
              </a:spcAft>
              <a:defRPr/>
            </a:pPr>
            <a:r>
              <a:rPr kumimoji="0" lang="en-US" altLang="zh-CN" b="1"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rPr>
              <a:t>  AC</a:t>
            </a:r>
            <a:r>
              <a:rPr kumimoji="0" lang="zh-CN" altLang="en-US" b="1"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rPr>
              <a:t>实际成本：</a:t>
            </a:r>
            <a:r>
              <a:rPr kumimoji="0" lang="zh-CN" altLang="en-US"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rPr>
              <a:t>实际发生的成本，该项和进度没有任何关系，实际支出</a:t>
            </a:r>
            <a:endParaRPr kumimoji="0" lang="en-US" altLang="zh-CN"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endParaRPr>
          </a:p>
          <a:p>
            <a:pPr>
              <a:spcBef>
                <a:spcPts val="36"/>
              </a:spcBef>
              <a:spcAft>
                <a:spcPts val="12"/>
              </a:spcAft>
              <a:defRPr/>
            </a:pPr>
            <a:endParaRPr kumimoji="0" lang="en-US" altLang="zh-CN"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endParaRPr>
          </a:p>
          <a:p>
            <a:pPr>
              <a:spcBef>
                <a:spcPts val="36"/>
              </a:spcBef>
              <a:spcAft>
                <a:spcPts val="12"/>
              </a:spcAft>
              <a:defRPr/>
            </a:pPr>
            <a:r>
              <a:rPr lang="zh-CN" altLang="en-US" b="1" dirty="0">
                <a:solidFill>
                  <a:srgbClr val="333333"/>
                </a:solidFill>
                <a:latin typeface="微软雅黑" panose="020B0503020204020204" pitchFamily="34" charset="-122"/>
                <a:ea typeface="微软雅黑" panose="020B0503020204020204" pitchFamily="34" charset="-122"/>
              </a:rPr>
              <a:t>偏差分析：</a:t>
            </a:r>
            <a:endParaRPr lang="en-US" altLang="zh-CN" b="1" dirty="0">
              <a:solidFill>
                <a:srgbClr val="333333"/>
              </a:solidFill>
              <a:latin typeface="微软雅黑" panose="020B0503020204020204" pitchFamily="34" charset="-122"/>
              <a:ea typeface="微软雅黑" panose="020B0503020204020204" pitchFamily="34" charset="-122"/>
            </a:endParaRPr>
          </a:p>
          <a:p>
            <a:pPr>
              <a:spcBef>
                <a:spcPts val="36"/>
              </a:spcBef>
              <a:spcAft>
                <a:spcPts val="12"/>
              </a:spcAft>
              <a:defRPr/>
            </a:pPr>
            <a:r>
              <a:rPr lang="zh-CN" altLang="en-US" b="0" dirty="0">
                <a:solidFill>
                  <a:srgbClr val="C00000"/>
                </a:solidFill>
                <a:latin typeface="Times New Roman" panose="02020603050405020304" pitchFamily="18" charset="0"/>
                <a:cs typeface="Times New Roman" panose="02020603050405020304" pitchFamily="18" charset="0"/>
              </a:rPr>
              <a:t>成本偏差</a:t>
            </a:r>
            <a:r>
              <a:rPr lang="en-US" altLang="zh-CN" b="0" dirty="0">
                <a:solidFill>
                  <a:srgbClr val="C00000"/>
                </a:solidFill>
                <a:latin typeface="Times New Roman" panose="02020603050405020304" pitchFamily="18" charset="0"/>
                <a:cs typeface="Times New Roman" panose="02020603050405020304" pitchFamily="18" charset="0"/>
              </a:rPr>
              <a:t>CV</a:t>
            </a:r>
            <a:endParaRPr lang="en-US" altLang="zh-CN" dirty="0">
              <a:solidFill>
                <a:srgbClr val="C00000"/>
              </a:solidFill>
              <a:latin typeface="Times New Roman" panose="02020603050405020304" pitchFamily="18" charset="0"/>
              <a:cs typeface="Times New Roman" panose="02020603050405020304" pitchFamily="18" charset="0"/>
            </a:endParaRPr>
          </a:p>
          <a:p>
            <a:pPr>
              <a:spcBef>
                <a:spcPts val="36"/>
              </a:spcBef>
              <a:spcAft>
                <a:spcPts val="12"/>
              </a:spcAft>
              <a:defRPr/>
            </a:pPr>
            <a:r>
              <a:rPr lang="zh-CN" altLang="en-US" b="0" dirty="0">
                <a:solidFill>
                  <a:srgbClr val="C00000"/>
                </a:solidFill>
                <a:latin typeface="Times New Roman" panose="02020603050405020304" pitchFamily="18" charset="0"/>
                <a:cs typeface="Times New Roman" panose="02020603050405020304" pitchFamily="18" charset="0"/>
              </a:rPr>
              <a:t>成本执行指数</a:t>
            </a:r>
            <a:r>
              <a:rPr lang="en-US" altLang="zh-CN" b="0" dirty="0">
                <a:solidFill>
                  <a:srgbClr val="C00000"/>
                </a:solidFill>
                <a:latin typeface="Times New Roman" panose="02020603050405020304" pitchFamily="18" charset="0"/>
                <a:cs typeface="Times New Roman" panose="02020603050405020304" pitchFamily="18" charset="0"/>
              </a:rPr>
              <a:t>CPI</a:t>
            </a:r>
            <a:endParaRPr lang="en-US" altLang="zh-CN" dirty="0">
              <a:solidFill>
                <a:srgbClr val="C00000"/>
              </a:solidFill>
              <a:latin typeface="Times New Roman" panose="02020603050405020304" pitchFamily="18" charset="0"/>
              <a:cs typeface="Times New Roman" panose="02020603050405020304" pitchFamily="18" charset="0"/>
            </a:endParaRPr>
          </a:p>
          <a:p>
            <a:pPr>
              <a:spcBef>
                <a:spcPts val="36"/>
              </a:spcBef>
              <a:spcAft>
                <a:spcPts val="12"/>
              </a:spcAft>
              <a:defRPr/>
            </a:pPr>
            <a:r>
              <a:rPr lang="zh-CN" altLang="en-US" b="0" dirty="0">
                <a:solidFill>
                  <a:srgbClr val="C00000"/>
                </a:solidFill>
                <a:latin typeface="Times New Roman" panose="02020603050405020304" pitchFamily="18" charset="0"/>
                <a:cs typeface="Times New Roman" panose="02020603050405020304" pitchFamily="18" charset="0"/>
              </a:rPr>
              <a:t>进度偏差</a:t>
            </a:r>
            <a:r>
              <a:rPr lang="en-US" altLang="zh-CN" b="0" dirty="0">
                <a:solidFill>
                  <a:srgbClr val="C00000"/>
                </a:solidFill>
                <a:latin typeface="Times New Roman" panose="02020603050405020304" pitchFamily="18" charset="0"/>
                <a:cs typeface="Times New Roman" panose="02020603050405020304" pitchFamily="18" charset="0"/>
              </a:rPr>
              <a:t>SV</a:t>
            </a:r>
            <a:endParaRPr lang="en-US" altLang="zh-CN" dirty="0">
              <a:solidFill>
                <a:srgbClr val="C00000"/>
              </a:solidFill>
              <a:latin typeface="Times New Roman" panose="02020603050405020304" pitchFamily="18" charset="0"/>
              <a:cs typeface="Times New Roman" panose="02020603050405020304" pitchFamily="18" charset="0"/>
            </a:endParaRPr>
          </a:p>
          <a:p>
            <a:pPr>
              <a:spcBef>
                <a:spcPts val="36"/>
              </a:spcBef>
              <a:spcAft>
                <a:spcPts val="12"/>
              </a:spcAft>
              <a:defRPr/>
            </a:pPr>
            <a:r>
              <a:rPr lang="zh-CN" altLang="en-US" b="0" dirty="0">
                <a:solidFill>
                  <a:srgbClr val="C00000"/>
                </a:solidFill>
                <a:latin typeface="Times New Roman" panose="02020603050405020304" pitchFamily="18" charset="0"/>
                <a:cs typeface="Times New Roman" panose="02020603050405020304" pitchFamily="18" charset="0"/>
              </a:rPr>
              <a:t>进度执行指数</a:t>
            </a:r>
            <a:r>
              <a:rPr lang="en-US" altLang="zh-CN" b="0" dirty="0">
                <a:solidFill>
                  <a:srgbClr val="C00000"/>
                </a:solidFill>
                <a:latin typeface="Times New Roman" panose="02020603050405020304" pitchFamily="18" charset="0"/>
                <a:cs typeface="Times New Roman" panose="02020603050405020304" pitchFamily="18" charset="0"/>
              </a:rPr>
              <a:t>SPI</a:t>
            </a:r>
            <a:endParaRPr lang="zh-CN" altLang="en-US" dirty="0"/>
          </a:p>
        </p:txBody>
      </p:sp>
      <p:grpSp>
        <p:nvGrpSpPr>
          <p:cNvPr id="47" name="组合 46">
            <a:extLst>
              <a:ext uri="{FF2B5EF4-FFF2-40B4-BE49-F238E27FC236}">
                <a16:creationId xmlns:a16="http://schemas.microsoft.com/office/drawing/2014/main" id="{C461C189-C447-48A6-AF64-DDA78CDFF87D}"/>
              </a:ext>
            </a:extLst>
          </p:cNvPr>
          <p:cNvGrpSpPr/>
          <p:nvPr/>
        </p:nvGrpSpPr>
        <p:grpSpPr>
          <a:xfrm>
            <a:off x="4569679" y="1054801"/>
            <a:ext cx="6442657" cy="4748398"/>
            <a:chOff x="2261908" y="997527"/>
            <a:chExt cx="6442657" cy="4748398"/>
          </a:xfrm>
        </p:grpSpPr>
        <p:grpSp>
          <p:nvGrpSpPr>
            <p:cNvPr id="48" name="组合 47">
              <a:extLst>
                <a:ext uri="{FF2B5EF4-FFF2-40B4-BE49-F238E27FC236}">
                  <a16:creationId xmlns:a16="http://schemas.microsoft.com/office/drawing/2014/main" id="{0A716DB9-85F2-4D49-9E92-B22A6C30E9F8}"/>
                </a:ext>
              </a:extLst>
            </p:cNvPr>
            <p:cNvGrpSpPr/>
            <p:nvPr/>
          </p:nvGrpSpPr>
          <p:grpSpPr>
            <a:xfrm>
              <a:off x="2261908" y="997527"/>
              <a:ext cx="6442657" cy="4748398"/>
              <a:chOff x="2175219" y="1352832"/>
              <a:chExt cx="6442657" cy="4748398"/>
            </a:xfrm>
          </p:grpSpPr>
          <p:sp>
            <p:nvSpPr>
              <p:cNvPr id="50" name="Text Box 34">
                <a:extLst>
                  <a:ext uri="{FF2B5EF4-FFF2-40B4-BE49-F238E27FC236}">
                    <a16:creationId xmlns:a16="http://schemas.microsoft.com/office/drawing/2014/main" id="{99E9D224-D0C9-48F8-BA23-7A8B1B39CD14}"/>
                  </a:ext>
                </a:extLst>
              </p:cNvPr>
              <p:cNvSpPr txBox="1">
                <a:spLocks noChangeArrowheads="1"/>
              </p:cNvSpPr>
              <p:nvPr/>
            </p:nvSpPr>
            <p:spPr bwMode="auto">
              <a:xfrm>
                <a:off x="7136137" y="2402101"/>
                <a:ext cx="1481739" cy="307777"/>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400" b="1" dirty="0">
                    <a:solidFill>
                      <a:srgbClr val="800000"/>
                    </a:solidFill>
                  </a:rPr>
                  <a:t>完工预算（</a:t>
                </a:r>
                <a:r>
                  <a:rPr lang="en-US" altLang="zh-CN" sz="1400" b="1" dirty="0">
                    <a:solidFill>
                      <a:srgbClr val="800000"/>
                    </a:solidFill>
                  </a:rPr>
                  <a:t>BAC</a:t>
                </a:r>
                <a:r>
                  <a:rPr lang="zh-CN" altLang="en-US" sz="1400" b="1" dirty="0">
                    <a:solidFill>
                      <a:srgbClr val="800000"/>
                    </a:solidFill>
                  </a:rPr>
                  <a:t>）</a:t>
                </a:r>
              </a:p>
            </p:txBody>
          </p:sp>
          <p:sp>
            <p:nvSpPr>
              <p:cNvPr id="51" name="Text Box 34">
                <a:extLst>
                  <a:ext uri="{FF2B5EF4-FFF2-40B4-BE49-F238E27FC236}">
                    <a16:creationId xmlns:a16="http://schemas.microsoft.com/office/drawing/2014/main" id="{40FFA067-A93F-491C-8F5F-EC35F6206EB3}"/>
                  </a:ext>
                </a:extLst>
              </p:cNvPr>
              <p:cNvSpPr txBox="1">
                <a:spLocks noChangeArrowheads="1"/>
              </p:cNvSpPr>
              <p:nvPr/>
            </p:nvSpPr>
            <p:spPr bwMode="auto">
              <a:xfrm>
                <a:off x="6391237" y="2107850"/>
                <a:ext cx="1124892" cy="307777"/>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400" b="1" dirty="0">
                    <a:solidFill>
                      <a:schemeClr val="accent2">
                        <a:lumMod val="50000"/>
                      </a:schemeClr>
                    </a:solidFill>
                  </a:rPr>
                  <a:t>管理储备</a:t>
                </a:r>
              </a:p>
            </p:txBody>
          </p:sp>
          <p:grpSp>
            <p:nvGrpSpPr>
              <p:cNvPr id="52" name="组合 51">
                <a:extLst>
                  <a:ext uri="{FF2B5EF4-FFF2-40B4-BE49-F238E27FC236}">
                    <a16:creationId xmlns:a16="http://schemas.microsoft.com/office/drawing/2014/main" id="{BDA3CA80-C8FF-4868-A061-1DC35EFEC062}"/>
                  </a:ext>
                </a:extLst>
              </p:cNvPr>
              <p:cNvGrpSpPr/>
              <p:nvPr/>
            </p:nvGrpSpPr>
            <p:grpSpPr>
              <a:xfrm>
                <a:off x="2175219" y="1352832"/>
                <a:ext cx="6131542" cy="4748398"/>
                <a:chOff x="1220568" y="960619"/>
                <a:chExt cx="6692301" cy="5269935"/>
              </a:xfrm>
            </p:grpSpPr>
            <p:grpSp>
              <p:nvGrpSpPr>
                <p:cNvPr id="57" name="Group 2">
                  <a:extLst>
                    <a:ext uri="{FF2B5EF4-FFF2-40B4-BE49-F238E27FC236}">
                      <a16:creationId xmlns:a16="http://schemas.microsoft.com/office/drawing/2014/main" id="{2CF92CD6-D01C-475D-9629-92621C571778}"/>
                    </a:ext>
                  </a:extLst>
                </p:cNvPr>
                <p:cNvGrpSpPr>
                  <a:grpSpLocks/>
                </p:cNvGrpSpPr>
                <p:nvPr/>
              </p:nvGrpSpPr>
              <p:grpSpPr bwMode="auto">
                <a:xfrm>
                  <a:off x="1220568" y="960619"/>
                  <a:ext cx="6692301" cy="5269935"/>
                  <a:chOff x="864" y="170"/>
                  <a:chExt cx="4436" cy="3494"/>
                </a:xfrm>
              </p:grpSpPr>
              <p:sp>
                <p:nvSpPr>
                  <p:cNvPr id="60" name="Line 4">
                    <a:extLst>
                      <a:ext uri="{FF2B5EF4-FFF2-40B4-BE49-F238E27FC236}">
                        <a16:creationId xmlns:a16="http://schemas.microsoft.com/office/drawing/2014/main" id="{6A4CF4C5-30F9-413D-A653-DB8222BCFC29}"/>
                      </a:ext>
                    </a:extLst>
                  </p:cNvPr>
                  <p:cNvSpPr>
                    <a:spLocks noChangeShapeType="1"/>
                  </p:cNvSpPr>
                  <p:nvPr/>
                </p:nvSpPr>
                <p:spPr bwMode="auto">
                  <a:xfrm flipH="1">
                    <a:off x="4340" y="910"/>
                    <a:ext cx="0" cy="2352"/>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 name="AutoShape 5">
                    <a:extLst>
                      <a:ext uri="{FF2B5EF4-FFF2-40B4-BE49-F238E27FC236}">
                        <a16:creationId xmlns:a16="http://schemas.microsoft.com/office/drawing/2014/main" id="{0DD807E3-0998-4284-9BC6-69C0C8C584D8}"/>
                      </a:ext>
                    </a:extLst>
                  </p:cNvPr>
                  <p:cNvSpPr>
                    <a:spLocks noChangeArrowheads="1"/>
                  </p:cNvSpPr>
                  <p:nvPr/>
                </p:nvSpPr>
                <p:spPr bwMode="auto">
                  <a:xfrm>
                    <a:off x="4104" y="2115"/>
                    <a:ext cx="928" cy="384"/>
                  </a:xfrm>
                  <a:prstGeom prst="wedgeRoundRectCallout">
                    <a:avLst>
                      <a:gd name="adj1" fmla="val -172211"/>
                      <a:gd name="adj2" fmla="val -59169"/>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80000"/>
                      </a:lnSpc>
                      <a:spcBef>
                        <a:spcPct val="50000"/>
                      </a:spcBef>
                      <a:buFontTx/>
                      <a:buNone/>
                    </a:pPr>
                    <a:r>
                      <a:rPr lang="en-US" altLang="zh-CN" sz="1200" b="1" dirty="0"/>
                      <a:t>SV=EV-PV  &gt;0</a:t>
                    </a:r>
                  </a:p>
                  <a:p>
                    <a:pPr eaLnBrk="1" hangingPunct="1">
                      <a:lnSpc>
                        <a:spcPct val="80000"/>
                      </a:lnSpc>
                      <a:spcBef>
                        <a:spcPct val="50000"/>
                      </a:spcBef>
                      <a:buFontTx/>
                      <a:buNone/>
                    </a:pPr>
                    <a:r>
                      <a:rPr lang="en-US" altLang="zh-CN" sz="1200" b="1" dirty="0"/>
                      <a:t>SPI=EV/PV</a:t>
                    </a:r>
                  </a:p>
                  <a:p>
                    <a:pPr eaLnBrk="1" hangingPunct="1">
                      <a:lnSpc>
                        <a:spcPct val="80000"/>
                      </a:lnSpc>
                      <a:spcBef>
                        <a:spcPct val="50000"/>
                      </a:spcBef>
                      <a:buFontTx/>
                      <a:buNone/>
                    </a:pPr>
                    <a:endParaRPr lang="en-US" altLang="zh-CN" sz="1200" b="1" dirty="0"/>
                  </a:p>
                </p:txBody>
              </p:sp>
              <p:sp>
                <p:nvSpPr>
                  <p:cNvPr id="62" name="Line 6">
                    <a:extLst>
                      <a:ext uri="{FF2B5EF4-FFF2-40B4-BE49-F238E27FC236}">
                        <a16:creationId xmlns:a16="http://schemas.microsoft.com/office/drawing/2014/main" id="{C1724DD3-1ABA-4A40-A573-4C3E95F6A20D}"/>
                      </a:ext>
                    </a:extLst>
                  </p:cNvPr>
                  <p:cNvSpPr>
                    <a:spLocks noChangeShapeType="1"/>
                  </p:cNvSpPr>
                  <p:nvPr/>
                </p:nvSpPr>
                <p:spPr bwMode="auto">
                  <a:xfrm flipV="1">
                    <a:off x="864" y="3072"/>
                    <a:ext cx="3648"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3" name="Line 7">
                    <a:extLst>
                      <a:ext uri="{FF2B5EF4-FFF2-40B4-BE49-F238E27FC236}">
                        <a16:creationId xmlns:a16="http://schemas.microsoft.com/office/drawing/2014/main" id="{5010988B-C07F-4962-A0EF-CB95C7213807}"/>
                      </a:ext>
                    </a:extLst>
                  </p:cNvPr>
                  <p:cNvSpPr>
                    <a:spLocks noChangeShapeType="1"/>
                  </p:cNvSpPr>
                  <p:nvPr/>
                </p:nvSpPr>
                <p:spPr bwMode="auto">
                  <a:xfrm flipH="1">
                    <a:off x="1056" y="336"/>
                    <a:ext cx="0" cy="3168"/>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64" name="Line 8">
                    <a:extLst>
                      <a:ext uri="{FF2B5EF4-FFF2-40B4-BE49-F238E27FC236}">
                        <a16:creationId xmlns:a16="http://schemas.microsoft.com/office/drawing/2014/main" id="{5E168B9B-FB61-4183-BC00-EE4E1F54D1F8}"/>
                      </a:ext>
                    </a:extLst>
                  </p:cNvPr>
                  <p:cNvSpPr>
                    <a:spLocks noChangeShapeType="1"/>
                  </p:cNvSpPr>
                  <p:nvPr/>
                </p:nvSpPr>
                <p:spPr bwMode="auto">
                  <a:xfrm>
                    <a:off x="1056" y="720"/>
                    <a:ext cx="1762" cy="3"/>
                  </a:xfrm>
                  <a:prstGeom prst="line">
                    <a:avLst/>
                  </a:prstGeom>
                  <a:noFill/>
                  <a:ln w="9525" cap="rnd">
                    <a:solidFill>
                      <a:srgbClr val="000000"/>
                    </a:solidFill>
                    <a:prstDash val="sysDot"/>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5" name="Line 9">
                    <a:extLst>
                      <a:ext uri="{FF2B5EF4-FFF2-40B4-BE49-F238E27FC236}">
                        <a16:creationId xmlns:a16="http://schemas.microsoft.com/office/drawing/2014/main" id="{4C34A5B8-0788-4D39-BC86-29AAEF681585}"/>
                      </a:ext>
                    </a:extLst>
                  </p:cNvPr>
                  <p:cNvSpPr>
                    <a:spLocks noChangeShapeType="1"/>
                  </p:cNvSpPr>
                  <p:nvPr/>
                </p:nvSpPr>
                <p:spPr bwMode="auto">
                  <a:xfrm flipV="1">
                    <a:off x="912" y="1488"/>
                    <a:ext cx="2880" cy="0"/>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 name="Freeform 10">
                    <a:extLst>
                      <a:ext uri="{FF2B5EF4-FFF2-40B4-BE49-F238E27FC236}">
                        <a16:creationId xmlns:a16="http://schemas.microsoft.com/office/drawing/2014/main" id="{2E8EE282-37D9-4770-BAE4-6635A40F61AA}"/>
                      </a:ext>
                    </a:extLst>
                  </p:cNvPr>
                  <p:cNvSpPr>
                    <a:spLocks/>
                  </p:cNvSpPr>
                  <p:nvPr/>
                </p:nvSpPr>
                <p:spPr bwMode="auto">
                  <a:xfrm>
                    <a:off x="1040" y="967"/>
                    <a:ext cx="3304" cy="2086"/>
                  </a:xfrm>
                  <a:custGeom>
                    <a:avLst/>
                    <a:gdLst>
                      <a:gd name="T0" fmla="*/ 2147483646 w 2660"/>
                      <a:gd name="T1" fmla="*/ 0 h 2360"/>
                      <a:gd name="T2" fmla="*/ 2147483646 w 2660"/>
                      <a:gd name="T3" fmla="*/ 4 h 2360"/>
                      <a:gd name="T4" fmla="*/ 2147483646 w 2660"/>
                      <a:gd name="T5" fmla="*/ 4 h 2360"/>
                      <a:gd name="T6" fmla="*/ 2147483646 w 2660"/>
                      <a:gd name="T7" fmla="*/ 4 h 2360"/>
                      <a:gd name="T8" fmla="*/ 0 w 2660"/>
                      <a:gd name="T9" fmla="*/ 4 h 2360"/>
                      <a:gd name="T10" fmla="*/ 0 60000 65536"/>
                      <a:gd name="T11" fmla="*/ 0 60000 65536"/>
                      <a:gd name="T12" fmla="*/ 0 60000 65536"/>
                      <a:gd name="T13" fmla="*/ 0 60000 65536"/>
                      <a:gd name="T14" fmla="*/ 0 60000 65536"/>
                      <a:gd name="connsiteX0" fmla="*/ 10000 w 10000"/>
                      <a:gd name="connsiteY0" fmla="*/ 0 h 10000"/>
                      <a:gd name="connsiteX1" fmla="*/ 7895 w 10000"/>
                      <a:gd name="connsiteY1" fmla="*/ 424 h 10000"/>
                      <a:gd name="connsiteX2" fmla="*/ 6206 w 10000"/>
                      <a:gd name="connsiteY2" fmla="*/ 2535 h 10000"/>
                      <a:gd name="connsiteX3" fmla="*/ 3910 w 10000"/>
                      <a:gd name="connsiteY3" fmla="*/ 7458 h 10000"/>
                      <a:gd name="connsiteX4" fmla="*/ 0 w 10000"/>
                      <a:gd name="connsiteY4" fmla="*/ 10000 h 10000"/>
                      <a:gd name="connsiteX0" fmla="*/ 10000 w 10000"/>
                      <a:gd name="connsiteY0" fmla="*/ 0 h 10000"/>
                      <a:gd name="connsiteX1" fmla="*/ 7895 w 10000"/>
                      <a:gd name="connsiteY1" fmla="*/ 424 h 10000"/>
                      <a:gd name="connsiteX2" fmla="*/ 6134 w 10000"/>
                      <a:gd name="connsiteY2" fmla="*/ 2535 h 10000"/>
                      <a:gd name="connsiteX3" fmla="*/ 3910 w 10000"/>
                      <a:gd name="connsiteY3" fmla="*/ 7458 h 10000"/>
                      <a:gd name="connsiteX4" fmla="*/ 0 w 10000"/>
                      <a:gd name="connsiteY4" fmla="*/ 10000 h 10000"/>
                      <a:gd name="connsiteX0" fmla="*/ 10000 w 10000"/>
                      <a:gd name="connsiteY0" fmla="*/ 0 h 10000"/>
                      <a:gd name="connsiteX1" fmla="*/ 7847 w 10000"/>
                      <a:gd name="connsiteY1" fmla="*/ 616 h 10000"/>
                      <a:gd name="connsiteX2" fmla="*/ 6134 w 10000"/>
                      <a:gd name="connsiteY2" fmla="*/ 2535 h 10000"/>
                      <a:gd name="connsiteX3" fmla="*/ 3910 w 10000"/>
                      <a:gd name="connsiteY3" fmla="*/ 7458 h 10000"/>
                      <a:gd name="connsiteX4" fmla="*/ 0 w 10000"/>
                      <a:gd name="connsiteY4" fmla="*/ 10000 h 10000"/>
                      <a:gd name="connsiteX0" fmla="*/ 10000 w 10000"/>
                      <a:gd name="connsiteY0" fmla="*/ 0 h 10000"/>
                      <a:gd name="connsiteX1" fmla="*/ 7847 w 10000"/>
                      <a:gd name="connsiteY1" fmla="*/ 616 h 10000"/>
                      <a:gd name="connsiteX2" fmla="*/ 6134 w 10000"/>
                      <a:gd name="connsiteY2" fmla="*/ 2535 h 10000"/>
                      <a:gd name="connsiteX3" fmla="*/ 3769 w 10000"/>
                      <a:gd name="connsiteY3" fmla="*/ 7534 h 10000"/>
                      <a:gd name="connsiteX4" fmla="*/ 0 w 10000"/>
                      <a:gd name="connsiteY4" fmla="*/ 10000 h 10000"/>
                      <a:gd name="connsiteX0" fmla="*/ 10000 w 10000"/>
                      <a:gd name="connsiteY0" fmla="*/ 0 h 10000"/>
                      <a:gd name="connsiteX1" fmla="*/ 7847 w 10000"/>
                      <a:gd name="connsiteY1" fmla="*/ 616 h 10000"/>
                      <a:gd name="connsiteX2" fmla="*/ 6134 w 10000"/>
                      <a:gd name="connsiteY2" fmla="*/ 2535 h 10000"/>
                      <a:gd name="connsiteX3" fmla="*/ 4997 w 10000"/>
                      <a:gd name="connsiteY3" fmla="*/ 5942 h 10000"/>
                      <a:gd name="connsiteX4" fmla="*/ 3769 w 10000"/>
                      <a:gd name="connsiteY4" fmla="*/ 7534 h 10000"/>
                      <a:gd name="connsiteX5" fmla="*/ 0 w 10000"/>
                      <a:gd name="connsiteY5" fmla="*/ 10000 h 10000"/>
                      <a:gd name="connsiteX0" fmla="*/ 10000 w 10000"/>
                      <a:gd name="connsiteY0" fmla="*/ 0 h 10000"/>
                      <a:gd name="connsiteX1" fmla="*/ 7847 w 10000"/>
                      <a:gd name="connsiteY1" fmla="*/ 616 h 10000"/>
                      <a:gd name="connsiteX2" fmla="*/ 6134 w 10000"/>
                      <a:gd name="connsiteY2" fmla="*/ 2535 h 10000"/>
                      <a:gd name="connsiteX3" fmla="*/ 4997 w 10000"/>
                      <a:gd name="connsiteY3" fmla="*/ 5942 h 10000"/>
                      <a:gd name="connsiteX4" fmla="*/ 3745 w 10000"/>
                      <a:gd name="connsiteY4" fmla="*/ 7724 h 10000"/>
                      <a:gd name="connsiteX5" fmla="*/ 0 w 10000"/>
                      <a:gd name="connsiteY5"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0">
                        <a:moveTo>
                          <a:pt x="10000" y="0"/>
                        </a:moveTo>
                        <a:cubicBezTo>
                          <a:pt x="9278" y="4"/>
                          <a:pt x="8491" y="194"/>
                          <a:pt x="7847" y="616"/>
                        </a:cubicBezTo>
                        <a:cubicBezTo>
                          <a:pt x="7203" y="1038"/>
                          <a:pt x="6609" y="1647"/>
                          <a:pt x="6134" y="2535"/>
                        </a:cubicBezTo>
                        <a:cubicBezTo>
                          <a:pt x="5659" y="3423"/>
                          <a:pt x="5391" y="5109"/>
                          <a:pt x="4997" y="5942"/>
                        </a:cubicBezTo>
                        <a:cubicBezTo>
                          <a:pt x="4603" y="6775"/>
                          <a:pt x="4550" y="6991"/>
                          <a:pt x="3745" y="7724"/>
                        </a:cubicBezTo>
                        <a:cubicBezTo>
                          <a:pt x="2741" y="8982"/>
                          <a:pt x="1451" y="9356"/>
                          <a:pt x="0" y="10000"/>
                        </a:cubicBezTo>
                      </a:path>
                    </a:pathLst>
                  </a:custGeom>
                  <a:noFill/>
                  <a:ln w="381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7" name="Line 11">
                    <a:extLst>
                      <a:ext uri="{FF2B5EF4-FFF2-40B4-BE49-F238E27FC236}">
                        <a16:creationId xmlns:a16="http://schemas.microsoft.com/office/drawing/2014/main" id="{9D5F2078-1350-4E01-A76D-2550B64DCE49}"/>
                      </a:ext>
                    </a:extLst>
                  </p:cNvPr>
                  <p:cNvSpPr>
                    <a:spLocks noChangeShapeType="1"/>
                  </p:cNvSpPr>
                  <p:nvPr/>
                </p:nvSpPr>
                <p:spPr bwMode="auto">
                  <a:xfrm flipH="1" flipV="1">
                    <a:off x="3472" y="1168"/>
                    <a:ext cx="885" cy="1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8" name="Text Box 12">
                    <a:extLst>
                      <a:ext uri="{FF2B5EF4-FFF2-40B4-BE49-F238E27FC236}">
                        <a16:creationId xmlns:a16="http://schemas.microsoft.com/office/drawing/2014/main" id="{7FC42D1A-532A-4DD4-9ACC-D1C39E1B03D8}"/>
                      </a:ext>
                    </a:extLst>
                  </p:cNvPr>
                  <p:cNvSpPr txBox="1">
                    <a:spLocks noChangeArrowheads="1"/>
                  </p:cNvSpPr>
                  <p:nvPr/>
                </p:nvSpPr>
                <p:spPr bwMode="auto">
                  <a:xfrm>
                    <a:off x="3119" y="3424"/>
                    <a:ext cx="2181" cy="240"/>
                  </a:xfrm>
                  <a:prstGeom prst="rect">
                    <a:avLst/>
                  </a:prstGeom>
                  <a:noFill/>
                  <a:ln w="9525">
                    <a:noFill/>
                    <a:miter lim="800000"/>
                    <a:headEnd/>
                    <a:tailEnd/>
                  </a:ln>
                </p:spPr>
                <p:txBody>
                  <a:bodyPr lIns="0" tIns="720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800" b="1" dirty="0"/>
                      <a:t>项目成本挣值分析示意图</a:t>
                    </a:r>
                  </a:p>
                </p:txBody>
              </p:sp>
              <p:sp>
                <p:nvSpPr>
                  <p:cNvPr id="69" name="Text Box 13">
                    <a:extLst>
                      <a:ext uri="{FF2B5EF4-FFF2-40B4-BE49-F238E27FC236}">
                        <a16:creationId xmlns:a16="http://schemas.microsoft.com/office/drawing/2014/main" id="{856F1D8E-08EF-4CE5-872F-296447145906}"/>
                      </a:ext>
                    </a:extLst>
                  </p:cNvPr>
                  <p:cNvSpPr txBox="1">
                    <a:spLocks noChangeArrowheads="1"/>
                  </p:cNvSpPr>
                  <p:nvPr/>
                </p:nvSpPr>
                <p:spPr bwMode="auto">
                  <a:xfrm>
                    <a:off x="989" y="170"/>
                    <a:ext cx="521" cy="211"/>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lIns="0" tIns="720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600" b="1" dirty="0"/>
                      <a:t>成本  </a:t>
                    </a:r>
                  </a:p>
                </p:txBody>
              </p:sp>
              <p:sp>
                <p:nvSpPr>
                  <p:cNvPr id="70" name="Text Box 14">
                    <a:extLst>
                      <a:ext uri="{FF2B5EF4-FFF2-40B4-BE49-F238E27FC236}">
                        <a16:creationId xmlns:a16="http://schemas.microsoft.com/office/drawing/2014/main" id="{CDDBA9BA-FB24-4690-9AD4-30C88C39A5A1}"/>
                      </a:ext>
                    </a:extLst>
                  </p:cNvPr>
                  <p:cNvSpPr txBox="1">
                    <a:spLocks noChangeArrowheads="1"/>
                  </p:cNvSpPr>
                  <p:nvPr/>
                </p:nvSpPr>
                <p:spPr bwMode="auto">
                  <a:xfrm>
                    <a:off x="1248" y="1200"/>
                    <a:ext cx="1008" cy="220"/>
                  </a:xfrm>
                  <a:prstGeom prst="rect">
                    <a:avLst/>
                  </a:prstGeom>
                  <a:solidFill>
                    <a:srgbClr val="FFFF00"/>
                  </a:solidFill>
                  <a:ln w="9525">
                    <a:solidFill>
                      <a:schemeClr val="tx1"/>
                    </a:solidFill>
                    <a:miter lim="800000"/>
                    <a:headEnd/>
                    <a:tailEnd/>
                  </a:ln>
                </p:spPr>
                <p:txBody>
                  <a:bodyPr lIns="0" tIns="720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600" b="1"/>
                      <a:t>实际成本曲线</a:t>
                    </a:r>
                  </a:p>
                </p:txBody>
              </p:sp>
              <p:sp>
                <p:nvSpPr>
                  <p:cNvPr id="71" name="Text Box 15">
                    <a:extLst>
                      <a:ext uri="{FF2B5EF4-FFF2-40B4-BE49-F238E27FC236}">
                        <a16:creationId xmlns:a16="http://schemas.microsoft.com/office/drawing/2014/main" id="{59AA377B-9131-4DA3-8407-355B51D1F7A8}"/>
                      </a:ext>
                    </a:extLst>
                  </p:cNvPr>
                  <p:cNvSpPr txBox="1">
                    <a:spLocks noChangeArrowheads="1"/>
                  </p:cNvSpPr>
                  <p:nvPr/>
                </p:nvSpPr>
                <p:spPr bwMode="auto">
                  <a:xfrm>
                    <a:off x="1392" y="1661"/>
                    <a:ext cx="720" cy="211"/>
                  </a:xfrm>
                  <a:prstGeom prst="rect">
                    <a:avLst/>
                  </a:prstGeom>
                  <a:solidFill>
                    <a:srgbClr val="FFFF00"/>
                  </a:solidFill>
                  <a:ln w="9525">
                    <a:solidFill>
                      <a:schemeClr val="tx1"/>
                    </a:solidFill>
                    <a:miter lim="800000"/>
                    <a:headEnd/>
                    <a:tailEnd/>
                  </a:ln>
                </p:spPr>
                <p:txBody>
                  <a:bodyPr lIns="0" tIns="720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600" b="1" dirty="0"/>
                      <a:t> </a:t>
                    </a:r>
                    <a:r>
                      <a:rPr kumimoji="1" lang="zh-CN" altLang="en-US" sz="1600" b="1" dirty="0"/>
                      <a:t>挣值曲线</a:t>
                    </a:r>
                  </a:p>
                </p:txBody>
              </p:sp>
              <p:sp>
                <p:nvSpPr>
                  <p:cNvPr id="72" name="Text Box 16">
                    <a:extLst>
                      <a:ext uri="{FF2B5EF4-FFF2-40B4-BE49-F238E27FC236}">
                        <a16:creationId xmlns:a16="http://schemas.microsoft.com/office/drawing/2014/main" id="{EFB14C4A-CC94-464B-8493-10D45C4BCCF9}"/>
                      </a:ext>
                    </a:extLst>
                  </p:cNvPr>
                  <p:cNvSpPr txBox="1">
                    <a:spLocks noChangeArrowheads="1"/>
                  </p:cNvSpPr>
                  <p:nvPr/>
                </p:nvSpPr>
                <p:spPr bwMode="auto">
                  <a:xfrm>
                    <a:off x="4353" y="2998"/>
                    <a:ext cx="904" cy="240"/>
                  </a:xfrm>
                  <a:prstGeom prst="rect">
                    <a:avLst/>
                  </a:prstGeom>
                  <a:noFill/>
                  <a:ln w="9525">
                    <a:noFill/>
                    <a:miter lim="800000"/>
                    <a:headEnd/>
                    <a:tailEnd/>
                  </a:ln>
                </p:spPr>
                <p:txBody>
                  <a:bodyPr lIns="0" tIns="720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400" b="1" dirty="0"/>
                      <a:t>日历工期</a:t>
                    </a:r>
                  </a:p>
                </p:txBody>
              </p:sp>
              <p:sp>
                <p:nvSpPr>
                  <p:cNvPr id="73" name="Line 17">
                    <a:extLst>
                      <a:ext uri="{FF2B5EF4-FFF2-40B4-BE49-F238E27FC236}">
                        <a16:creationId xmlns:a16="http://schemas.microsoft.com/office/drawing/2014/main" id="{1D935885-FE84-417C-9B95-B2AFC0221873}"/>
                      </a:ext>
                    </a:extLst>
                  </p:cNvPr>
                  <p:cNvSpPr>
                    <a:spLocks noChangeShapeType="1"/>
                  </p:cNvSpPr>
                  <p:nvPr/>
                </p:nvSpPr>
                <p:spPr bwMode="auto">
                  <a:xfrm>
                    <a:off x="2688" y="942"/>
                    <a:ext cx="0" cy="2448"/>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 name="Rectangle 18">
                    <a:extLst>
                      <a:ext uri="{FF2B5EF4-FFF2-40B4-BE49-F238E27FC236}">
                        <a16:creationId xmlns:a16="http://schemas.microsoft.com/office/drawing/2014/main" id="{EC0E1E7E-4494-4764-951B-170C886E21FB}"/>
                      </a:ext>
                    </a:extLst>
                  </p:cNvPr>
                  <p:cNvSpPr>
                    <a:spLocks noChangeArrowheads="1"/>
                  </p:cNvSpPr>
                  <p:nvPr/>
                </p:nvSpPr>
                <p:spPr bwMode="auto">
                  <a:xfrm>
                    <a:off x="3992" y="1200"/>
                    <a:ext cx="928" cy="329"/>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600" b="1" dirty="0"/>
                      <a:t>预算（基线）</a:t>
                    </a:r>
                    <a:r>
                      <a:rPr kumimoji="1" lang="en-US" altLang="zh-CN" sz="1600" b="1" dirty="0"/>
                      <a:t>,</a:t>
                    </a:r>
                  </a:p>
                  <a:p>
                    <a:pPr algn="ctr">
                      <a:spcBef>
                        <a:spcPct val="0"/>
                      </a:spcBef>
                      <a:buNone/>
                    </a:pPr>
                    <a:r>
                      <a:rPr kumimoji="1" lang="zh-CN" altLang="en-US" sz="1600" b="1" dirty="0"/>
                      <a:t>计划价值</a:t>
                    </a:r>
                  </a:p>
                </p:txBody>
              </p:sp>
              <p:sp>
                <p:nvSpPr>
                  <p:cNvPr id="75" name="Freeform 20">
                    <a:extLst>
                      <a:ext uri="{FF2B5EF4-FFF2-40B4-BE49-F238E27FC236}">
                        <a16:creationId xmlns:a16="http://schemas.microsoft.com/office/drawing/2014/main" id="{227AB385-12F4-4B15-9D36-BF4462790D36}"/>
                      </a:ext>
                    </a:extLst>
                  </p:cNvPr>
                  <p:cNvSpPr>
                    <a:spLocks/>
                  </p:cNvSpPr>
                  <p:nvPr/>
                </p:nvSpPr>
                <p:spPr bwMode="auto">
                  <a:xfrm>
                    <a:off x="1040" y="1955"/>
                    <a:ext cx="1637" cy="1098"/>
                  </a:xfrm>
                  <a:custGeom>
                    <a:avLst/>
                    <a:gdLst>
                      <a:gd name="T0" fmla="*/ 0 w 1584"/>
                      <a:gd name="T1" fmla="*/ 1152 h 1152"/>
                      <a:gd name="T2" fmla="*/ 672 w 1584"/>
                      <a:gd name="T3" fmla="*/ 864 h 1152"/>
                      <a:gd name="T4" fmla="*/ 1200 w 1584"/>
                      <a:gd name="T5" fmla="*/ 528 h 1152"/>
                      <a:gd name="T6" fmla="*/ 1488 w 1584"/>
                      <a:gd name="T7" fmla="*/ 192 h 1152"/>
                      <a:gd name="T8" fmla="*/ 1584 w 1584"/>
                      <a:gd name="T9" fmla="*/ 0 h 1152"/>
                      <a:gd name="T10" fmla="*/ 0 60000 65536"/>
                      <a:gd name="T11" fmla="*/ 0 60000 65536"/>
                      <a:gd name="T12" fmla="*/ 0 60000 65536"/>
                      <a:gd name="T13" fmla="*/ 0 60000 65536"/>
                      <a:gd name="T14" fmla="*/ 0 60000 65536"/>
                      <a:gd name="connsiteX0" fmla="*/ 0 w 10000"/>
                      <a:gd name="connsiteY0" fmla="*/ 10000 h 10000"/>
                      <a:gd name="connsiteX1" fmla="*/ 4242 w 10000"/>
                      <a:gd name="connsiteY1" fmla="*/ 7500 h 10000"/>
                      <a:gd name="connsiteX2" fmla="*/ 7576 w 10000"/>
                      <a:gd name="connsiteY2" fmla="*/ 4583 h 10000"/>
                      <a:gd name="connsiteX3" fmla="*/ 9202 w 10000"/>
                      <a:gd name="connsiteY3" fmla="*/ 1667 h 10000"/>
                      <a:gd name="connsiteX4" fmla="*/ 10000 w 10000"/>
                      <a:gd name="connsiteY4" fmla="*/ 0 h 10000"/>
                      <a:gd name="connsiteX0" fmla="*/ 0 w 10000"/>
                      <a:gd name="connsiteY0" fmla="*/ 10000 h 10000"/>
                      <a:gd name="connsiteX1" fmla="*/ 4242 w 10000"/>
                      <a:gd name="connsiteY1" fmla="*/ 7500 h 10000"/>
                      <a:gd name="connsiteX2" fmla="*/ 7335 w 10000"/>
                      <a:gd name="connsiteY2" fmla="*/ 4583 h 10000"/>
                      <a:gd name="connsiteX3" fmla="*/ 9202 w 10000"/>
                      <a:gd name="connsiteY3" fmla="*/ 1667 h 10000"/>
                      <a:gd name="connsiteX4" fmla="*/ 10000 w 10000"/>
                      <a:gd name="connsiteY4" fmla="*/ 0 h 10000"/>
                      <a:gd name="connsiteX0" fmla="*/ 0 w 10000"/>
                      <a:gd name="connsiteY0" fmla="*/ 10000 h 10000"/>
                      <a:gd name="connsiteX1" fmla="*/ 4242 w 10000"/>
                      <a:gd name="connsiteY1" fmla="*/ 7500 h 10000"/>
                      <a:gd name="connsiteX2" fmla="*/ 7335 w 10000"/>
                      <a:gd name="connsiteY2" fmla="*/ 4583 h 10000"/>
                      <a:gd name="connsiteX3" fmla="*/ 9058 w 10000"/>
                      <a:gd name="connsiteY3" fmla="*/ 1667 h 10000"/>
                      <a:gd name="connsiteX4" fmla="*/ 10000 w 10000"/>
                      <a:gd name="connsiteY4" fmla="*/ 0 h 10000"/>
                      <a:gd name="connsiteX0" fmla="*/ 0 w 10000"/>
                      <a:gd name="connsiteY0" fmla="*/ 10000 h 10000"/>
                      <a:gd name="connsiteX1" fmla="*/ 4242 w 10000"/>
                      <a:gd name="connsiteY1" fmla="*/ 7500 h 10000"/>
                      <a:gd name="connsiteX2" fmla="*/ 7335 w 10000"/>
                      <a:gd name="connsiteY2" fmla="*/ 4583 h 10000"/>
                      <a:gd name="connsiteX3" fmla="*/ 9154 w 10000"/>
                      <a:gd name="connsiteY3" fmla="*/ 2032 h 10000"/>
                      <a:gd name="connsiteX4" fmla="*/ 10000 w 10000"/>
                      <a:gd name="connsiteY4" fmla="*/ 0 h 10000"/>
                      <a:gd name="connsiteX0" fmla="*/ 0 w 10000"/>
                      <a:gd name="connsiteY0" fmla="*/ 10000 h 10000"/>
                      <a:gd name="connsiteX1" fmla="*/ 4242 w 10000"/>
                      <a:gd name="connsiteY1" fmla="*/ 7500 h 10000"/>
                      <a:gd name="connsiteX2" fmla="*/ 7335 w 10000"/>
                      <a:gd name="connsiteY2" fmla="*/ 4583 h 10000"/>
                      <a:gd name="connsiteX3" fmla="*/ 9154 w 10000"/>
                      <a:gd name="connsiteY3" fmla="*/ 2032 h 10000"/>
                      <a:gd name="connsiteX4" fmla="*/ 10000 w 10000"/>
                      <a:gd name="connsiteY4" fmla="*/ 0 h 10000"/>
                      <a:gd name="connsiteX0" fmla="*/ 0 w 10000"/>
                      <a:gd name="connsiteY0" fmla="*/ 10000 h 10000"/>
                      <a:gd name="connsiteX1" fmla="*/ 4242 w 10000"/>
                      <a:gd name="connsiteY1" fmla="*/ 7500 h 10000"/>
                      <a:gd name="connsiteX2" fmla="*/ 7335 w 10000"/>
                      <a:gd name="connsiteY2" fmla="*/ 4583 h 10000"/>
                      <a:gd name="connsiteX3" fmla="*/ 9154 w 10000"/>
                      <a:gd name="connsiteY3" fmla="*/ 2032 h 10000"/>
                      <a:gd name="connsiteX4" fmla="*/ 10000 w 10000"/>
                      <a:gd name="connsiteY4" fmla="*/ 0 h 10000"/>
                      <a:gd name="connsiteX0" fmla="*/ 0 w 10000"/>
                      <a:gd name="connsiteY0" fmla="*/ 10000 h 10000"/>
                      <a:gd name="connsiteX1" fmla="*/ 4242 w 10000"/>
                      <a:gd name="connsiteY1" fmla="*/ 7500 h 10000"/>
                      <a:gd name="connsiteX2" fmla="*/ 7335 w 10000"/>
                      <a:gd name="connsiteY2" fmla="*/ 4583 h 10000"/>
                      <a:gd name="connsiteX3" fmla="*/ 8962 w 10000"/>
                      <a:gd name="connsiteY3" fmla="*/ 1813 h 10000"/>
                      <a:gd name="connsiteX4" fmla="*/ 10000 w 10000"/>
                      <a:gd name="connsiteY4" fmla="*/ 0 h 10000"/>
                      <a:gd name="connsiteX0" fmla="*/ 0 w 10000"/>
                      <a:gd name="connsiteY0" fmla="*/ 10000 h 10000"/>
                      <a:gd name="connsiteX1" fmla="*/ 4242 w 10000"/>
                      <a:gd name="connsiteY1" fmla="*/ 7500 h 10000"/>
                      <a:gd name="connsiteX2" fmla="*/ 7335 w 10000"/>
                      <a:gd name="connsiteY2" fmla="*/ 4583 h 10000"/>
                      <a:gd name="connsiteX3" fmla="*/ 9154 w 10000"/>
                      <a:gd name="connsiteY3" fmla="*/ 1886 h 10000"/>
                      <a:gd name="connsiteX4" fmla="*/ 1000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cubicBezTo>
                          <a:pt x="1490" y="9201"/>
                          <a:pt x="3019" y="8403"/>
                          <a:pt x="4242" y="7500"/>
                        </a:cubicBezTo>
                        <a:cubicBezTo>
                          <a:pt x="5465" y="6597"/>
                          <a:pt x="6516" y="5519"/>
                          <a:pt x="7335" y="4583"/>
                        </a:cubicBezTo>
                        <a:cubicBezTo>
                          <a:pt x="8154" y="3647"/>
                          <a:pt x="8509" y="2650"/>
                          <a:pt x="9154" y="1886"/>
                        </a:cubicBezTo>
                        <a:cubicBezTo>
                          <a:pt x="9414" y="1122"/>
                          <a:pt x="9899" y="451"/>
                          <a:pt x="10000" y="0"/>
                        </a:cubicBezTo>
                      </a:path>
                    </a:pathLst>
                  </a:custGeom>
                  <a:noFill/>
                  <a:ln w="38100" cap="flat" cmpd="sng">
                    <a:solidFill>
                      <a:schemeClr val="tx1"/>
                    </a:solidFill>
                    <a:prstDash val="lg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 name="Line 21">
                    <a:extLst>
                      <a:ext uri="{FF2B5EF4-FFF2-40B4-BE49-F238E27FC236}">
                        <a16:creationId xmlns:a16="http://schemas.microsoft.com/office/drawing/2014/main" id="{0D253974-6C00-4A14-9BEF-E99ADCA58E99}"/>
                      </a:ext>
                    </a:extLst>
                  </p:cNvPr>
                  <p:cNvSpPr>
                    <a:spLocks noChangeShapeType="1"/>
                  </p:cNvSpPr>
                  <p:nvPr/>
                </p:nvSpPr>
                <p:spPr bwMode="auto">
                  <a:xfrm flipH="1">
                    <a:off x="944" y="1949"/>
                    <a:ext cx="24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 name="Line 22">
                    <a:extLst>
                      <a:ext uri="{FF2B5EF4-FFF2-40B4-BE49-F238E27FC236}">
                        <a16:creationId xmlns:a16="http://schemas.microsoft.com/office/drawing/2014/main" id="{B102BD16-BDD9-47E3-AC8A-C20327BAD54A}"/>
                      </a:ext>
                    </a:extLst>
                  </p:cNvPr>
                  <p:cNvSpPr>
                    <a:spLocks noChangeShapeType="1"/>
                  </p:cNvSpPr>
                  <p:nvPr/>
                </p:nvSpPr>
                <p:spPr bwMode="auto">
                  <a:xfrm>
                    <a:off x="1808" y="1853"/>
                    <a:ext cx="432" cy="57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 name="Line 23">
                    <a:extLst>
                      <a:ext uri="{FF2B5EF4-FFF2-40B4-BE49-F238E27FC236}">
                        <a16:creationId xmlns:a16="http://schemas.microsoft.com/office/drawing/2014/main" id="{8ABE622A-1277-489C-94EC-A853E9E81ABB}"/>
                      </a:ext>
                    </a:extLst>
                  </p:cNvPr>
                  <p:cNvSpPr>
                    <a:spLocks noChangeShapeType="1"/>
                  </p:cNvSpPr>
                  <p:nvPr/>
                </p:nvSpPr>
                <p:spPr bwMode="auto">
                  <a:xfrm>
                    <a:off x="2064" y="1392"/>
                    <a:ext cx="464" cy="36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 name="Line 24">
                    <a:extLst>
                      <a:ext uri="{FF2B5EF4-FFF2-40B4-BE49-F238E27FC236}">
                        <a16:creationId xmlns:a16="http://schemas.microsoft.com/office/drawing/2014/main" id="{3B92FFF2-A6D7-4E94-941F-C5F4158A86E2}"/>
                      </a:ext>
                    </a:extLst>
                  </p:cNvPr>
                  <p:cNvSpPr>
                    <a:spLocks noChangeShapeType="1"/>
                  </p:cNvSpPr>
                  <p:nvPr/>
                </p:nvSpPr>
                <p:spPr bwMode="auto">
                  <a:xfrm>
                    <a:off x="960" y="2208"/>
                    <a:ext cx="21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 name="Line 25">
                    <a:extLst>
                      <a:ext uri="{FF2B5EF4-FFF2-40B4-BE49-F238E27FC236}">
                        <a16:creationId xmlns:a16="http://schemas.microsoft.com/office/drawing/2014/main" id="{095BE6B5-5D00-4176-B4E3-F7F25810DC3D}"/>
                      </a:ext>
                    </a:extLst>
                  </p:cNvPr>
                  <p:cNvSpPr>
                    <a:spLocks noChangeShapeType="1"/>
                  </p:cNvSpPr>
                  <p:nvPr/>
                </p:nvSpPr>
                <p:spPr bwMode="auto">
                  <a:xfrm>
                    <a:off x="2823" y="515"/>
                    <a:ext cx="0" cy="14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 name="Text Box 26">
                    <a:extLst>
                      <a:ext uri="{FF2B5EF4-FFF2-40B4-BE49-F238E27FC236}">
                        <a16:creationId xmlns:a16="http://schemas.microsoft.com/office/drawing/2014/main" id="{4BD8650A-4FD1-4213-A31C-4074A3B59CDA}"/>
                      </a:ext>
                    </a:extLst>
                  </p:cNvPr>
                  <p:cNvSpPr txBox="1">
                    <a:spLocks noChangeArrowheads="1"/>
                  </p:cNvSpPr>
                  <p:nvPr/>
                </p:nvSpPr>
                <p:spPr bwMode="auto">
                  <a:xfrm>
                    <a:off x="1376" y="461"/>
                    <a:ext cx="1168" cy="249"/>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600" b="1" dirty="0"/>
                      <a:t>已完成作业量</a:t>
                    </a:r>
                  </a:p>
                </p:txBody>
              </p:sp>
              <p:sp>
                <p:nvSpPr>
                  <p:cNvPr id="82" name="Line 27">
                    <a:extLst>
                      <a:ext uri="{FF2B5EF4-FFF2-40B4-BE49-F238E27FC236}">
                        <a16:creationId xmlns:a16="http://schemas.microsoft.com/office/drawing/2014/main" id="{0B5E6C9F-1F3D-4899-9B18-191BFD9F8C30}"/>
                      </a:ext>
                    </a:extLst>
                  </p:cNvPr>
                  <p:cNvSpPr>
                    <a:spLocks noChangeShapeType="1"/>
                  </p:cNvSpPr>
                  <p:nvPr/>
                </p:nvSpPr>
                <p:spPr bwMode="auto">
                  <a:xfrm>
                    <a:off x="1040" y="3341"/>
                    <a:ext cx="1584"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3" name="Text Box 28">
                    <a:extLst>
                      <a:ext uri="{FF2B5EF4-FFF2-40B4-BE49-F238E27FC236}">
                        <a16:creationId xmlns:a16="http://schemas.microsoft.com/office/drawing/2014/main" id="{341166BE-9381-4167-B919-52B227AF7D4D}"/>
                      </a:ext>
                    </a:extLst>
                  </p:cNvPr>
                  <p:cNvSpPr txBox="1">
                    <a:spLocks noChangeArrowheads="1"/>
                  </p:cNvSpPr>
                  <p:nvPr/>
                </p:nvSpPr>
                <p:spPr bwMode="auto">
                  <a:xfrm>
                    <a:off x="1584" y="3101"/>
                    <a:ext cx="720" cy="2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400" b="1" dirty="0"/>
                      <a:t>实际工期</a:t>
                    </a:r>
                  </a:p>
                </p:txBody>
              </p:sp>
              <p:sp>
                <p:nvSpPr>
                  <p:cNvPr id="84" name="Line 29">
                    <a:extLst>
                      <a:ext uri="{FF2B5EF4-FFF2-40B4-BE49-F238E27FC236}">
                        <a16:creationId xmlns:a16="http://schemas.microsoft.com/office/drawing/2014/main" id="{4E65F1E2-2F4E-4D4C-9F11-D3C587AC8306}"/>
                      </a:ext>
                    </a:extLst>
                  </p:cNvPr>
                  <p:cNvSpPr>
                    <a:spLocks noChangeShapeType="1"/>
                  </p:cNvSpPr>
                  <p:nvPr/>
                </p:nvSpPr>
                <p:spPr bwMode="auto">
                  <a:xfrm>
                    <a:off x="2960" y="2189"/>
                    <a:ext cx="0" cy="864"/>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5" name="Line 30">
                    <a:extLst>
                      <a:ext uri="{FF2B5EF4-FFF2-40B4-BE49-F238E27FC236}">
                        <a16:creationId xmlns:a16="http://schemas.microsoft.com/office/drawing/2014/main" id="{8EE51341-221B-4CDF-8474-55CC1892617E}"/>
                      </a:ext>
                    </a:extLst>
                  </p:cNvPr>
                  <p:cNvSpPr>
                    <a:spLocks noChangeShapeType="1"/>
                  </p:cNvSpPr>
                  <p:nvPr/>
                </p:nvSpPr>
                <p:spPr bwMode="auto">
                  <a:xfrm>
                    <a:off x="3296" y="1949"/>
                    <a:ext cx="0" cy="1104"/>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6" name="Line 31">
                    <a:extLst>
                      <a:ext uri="{FF2B5EF4-FFF2-40B4-BE49-F238E27FC236}">
                        <a16:creationId xmlns:a16="http://schemas.microsoft.com/office/drawing/2014/main" id="{41D39608-93CF-4B75-AF98-BD82593BE940}"/>
                      </a:ext>
                    </a:extLst>
                  </p:cNvPr>
                  <p:cNvSpPr>
                    <a:spLocks noChangeShapeType="1"/>
                  </p:cNvSpPr>
                  <p:nvPr/>
                </p:nvSpPr>
                <p:spPr bwMode="auto">
                  <a:xfrm>
                    <a:off x="3680" y="1496"/>
                    <a:ext cx="0" cy="1557"/>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7" name="Text Box 32">
                    <a:extLst>
                      <a:ext uri="{FF2B5EF4-FFF2-40B4-BE49-F238E27FC236}">
                        <a16:creationId xmlns:a16="http://schemas.microsoft.com/office/drawing/2014/main" id="{45325D70-1BAD-46E0-A499-50E8212FC1BA}"/>
                      </a:ext>
                    </a:extLst>
                  </p:cNvPr>
                  <p:cNvSpPr txBox="1">
                    <a:spLocks noChangeArrowheads="1"/>
                  </p:cNvSpPr>
                  <p:nvPr/>
                </p:nvSpPr>
                <p:spPr bwMode="auto">
                  <a:xfrm>
                    <a:off x="2832" y="2416"/>
                    <a:ext cx="192" cy="38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400" b="1" dirty="0"/>
                      <a:t>PV</a:t>
                    </a:r>
                  </a:p>
                </p:txBody>
              </p:sp>
              <p:sp>
                <p:nvSpPr>
                  <p:cNvPr id="88" name="Text Box 33">
                    <a:extLst>
                      <a:ext uri="{FF2B5EF4-FFF2-40B4-BE49-F238E27FC236}">
                        <a16:creationId xmlns:a16="http://schemas.microsoft.com/office/drawing/2014/main" id="{ADCC5872-AF6D-4531-8CA3-5190EF82FBEF}"/>
                      </a:ext>
                    </a:extLst>
                  </p:cNvPr>
                  <p:cNvSpPr txBox="1">
                    <a:spLocks noChangeArrowheads="1"/>
                  </p:cNvSpPr>
                  <p:nvPr/>
                </p:nvSpPr>
                <p:spPr bwMode="auto">
                  <a:xfrm>
                    <a:off x="2592" y="3116"/>
                    <a:ext cx="432" cy="226"/>
                  </a:xfrm>
                  <a:prstGeom prst="rect">
                    <a:avLst/>
                  </a:prstGeom>
                  <a:no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400" b="1" dirty="0"/>
                      <a:t>2 </a:t>
                    </a:r>
                    <a:r>
                      <a:rPr lang="zh-CN" altLang="en-US" sz="1400" b="1" dirty="0"/>
                      <a:t>年</a:t>
                    </a:r>
                  </a:p>
                </p:txBody>
              </p:sp>
              <p:sp>
                <p:nvSpPr>
                  <p:cNvPr id="89" name="Text Box 34">
                    <a:extLst>
                      <a:ext uri="{FF2B5EF4-FFF2-40B4-BE49-F238E27FC236}">
                        <a16:creationId xmlns:a16="http://schemas.microsoft.com/office/drawing/2014/main" id="{2AB5F10A-C6FF-416F-8E38-7DC312690E05}"/>
                      </a:ext>
                    </a:extLst>
                  </p:cNvPr>
                  <p:cNvSpPr txBox="1">
                    <a:spLocks noChangeArrowheads="1"/>
                  </p:cNvSpPr>
                  <p:nvPr/>
                </p:nvSpPr>
                <p:spPr bwMode="auto">
                  <a:xfrm>
                    <a:off x="4233" y="3172"/>
                    <a:ext cx="432" cy="226"/>
                  </a:xfrm>
                  <a:prstGeom prst="rect">
                    <a:avLst/>
                  </a:prstGeom>
                  <a:no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400" b="1" dirty="0"/>
                      <a:t>4</a:t>
                    </a:r>
                    <a:r>
                      <a:rPr lang="zh-CN" altLang="en-US" sz="1400" b="1" dirty="0"/>
                      <a:t>年</a:t>
                    </a:r>
                  </a:p>
                </p:txBody>
              </p:sp>
              <p:sp>
                <p:nvSpPr>
                  <p:cNvPr id="90" name="Text Box 35">
                    <a:extLst>
                      <a:ext uri="{FF2B5EF4-FFF2-40B4-BE49-F238E27FC236}">
                        <a16:creationId xmlns:a16="http://schemas.microsoft.com/office/drawing/2014/main" id="{F49AFE7A-E155-41A7-A84A-06283973BC89}"/>
                      </a:ext>
                    </a:extLst>
                  </p:cNvPr>
                  <p:cNvSpPr txBox="1">
                    <a:spLocks noChangeArrowheads="1"/>
                  </p:cNvSpPr>
                  <p:nvPr/>
                </p:nvSpPr>
                <p:spPr bwMode="auto">
                  <a:xfrm>
                    <a:off x="3147" y="2354"/>
                    <a:ext cx="240" cy="38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400" b="1" dirty="0"/>
                      <a:t>EV </a:t>
                    </a:r>
                  </a:p>
                </p:txBody>
              </p:sp>
              <p:sp>
                <p:nvSpPr>
                  <p:cNvPr id="91" name="Text Box 36">
                    <a:extLst>
                      <a:ext uri="{FF2B5EF4-FFF2-40B4-BE49-F238E27FC236}">
                        <a16:creationId xmlns:a16="http://schemas.microsoft.com/office/drawing/2014/main" id="{32CD951A-2560-4E1B-B7B7-0694518A4127}"/>
                      </a:ext>
                    </a:extLst>
                  </p:cNvPr>
                  <p:cNvSpPr txBox="1">
                    <a:spLocks noChangeArrowheads="1"/>
                  </p:cNvSpPr>
                  <p:nvPr/>
                </p:nvSpPr>
                <p:spPr bwMode="auto">
                  <a:xfrm>
                    <a:off x="3568" y="2371"/>
                    <a:ext cx="192" cy="38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400" b="1" dirty="0"/>
                      <a:t>AC</a:t>
                    </a:r>
                  </a:p>
                </p:txBody>
              </p:sp>
              <p:sp>
                <p:nvSpPr>
                  <p:cNvPr id="92" name="Line 37">
                    <a:extLst>
                      <a:ext uri="{FF2B5EF4-FFF2-40B4-BE49-F238E27FC236}">
                        <a16:creationId xmlns:a16="http://schemas.microsoft.com/office/drawing/2014/main" id="{2E6FB1F3-A581-4199-81A0-E6E92EEEA00C}"/>
                      </a:ext>
                    </a:extLst>
                  </p:cNvPr>
                  <p:cNvSpPr>
                    <a:spLocks noChangeShapeType="1"/>
                  </p:cNvSpPr>
                  <p:nvPr/>
                </p:nvSpPr>
                <p:spPr bwMode="auto">
                  <a:xfrm>
                    <a:off x="3295" y="1496"/>
                    <a:ext cx="1" cy="453"/>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3" name="Line 38">
                    <a:extLst>
                      <a:ext uri="{FF2B5EF4-FFF2-40B4-BE49-F238E27FC236}">
                        <a16:creationId xmlns:a16="http://schemas.microsoft.com/office/drawing/2014/main" id="{54B8C5DF-D39C-41B7-9943-4D26206AA1AF}"/>
                      </a:ext>
                    </a:extLst>
                  </p:cNvPr>
                  <p:cNvSpPr>
                    <a:spLocks noChangeShapeType="1"/>
                  </p:cNvSpPr>
                  <p:nvPr/>
                </p:nvSpPr>
                <p:spPr bwMode="auto">
                  <a:xfrm>
                    <a:off x="2960" y="1949"/>
                    <a:ext cx="0" cy="24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 name="Line 39">
                    <a:extLst>
                      <a:ext uri="{FF2B5EF4-FFF2-40B4-BE49-F238E27FC236}">
                        <a16:creationId xmlns:a16="http://schemas.microsoft.com/office/drawing/2014/main" id="{AE4D517A-62E8-4CAC-B9BF-825763516B61}"/>
                      </a:ext>
                    </a:extLst>
                  </p:cNvPr>
                  <p:cNvSpPr>
                    <a:spLocks noChangeShapeType="1"/>
                  </p:cNvSpPr>
                  <p:nvPr/>
                </p:nvSpPr>
                <p:spPr bwMode="auto">
                  <a:xfrm>
                    <a:off x="1424" y="989"/>
                    <a:ext cx="125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5" name="Line 40">
                    <a:extLst>
                      <a:ext uri="{FF2B5EF4-FFF2-40B4-BE49-F238E27FC236}">
                        <a16:creationId xmlns:a16="http://schemas.microsoft.com/office/drawing/2014/main" id="{1B3EDFEA-39EF-4E9A-A9A3-006072638382}"/>
                      </a:ext>
                    </a:extLst>
                  </p:cNvPr>
                  <p:cNvSpPr>
                    <a:spLocks noChangeShapeType="1"/>
                  </p:cNvSpPr>
                  <p:nvPr/>
                </p:nvSpPr>
                <p:spPr bwMode="auto">
                  <a:xfrm>
                    <a:off x="2679" y="989"/>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 name="Line 41">
                    <a:extLst>
                      <a:ext uri="{FF2B5EF4-FFF2-40B4-BE49-F238E27FC236}">
                        <a16:creationId xmlns:a16="http://schemas.microsoft.com/office/drawing/2014/main" id="{A648DE21-1927-4D63-854F-007C401B7390}"/>
                      </a:ext>
                    </a:extLst>
                  </p:cNvPr>
                  <p:cNvSpPr>
                    <a:spLocks noChangeShapeType="1"/>
                  </p:cNvSpPr>
                  <p:nvPr/>
                </p:nvSpPr>
                <p:spPr bwMode="auto">
                  <a:xfrm flipH="1">
                    <a:off x="2823" y="990"/>
                    <a:ext cx="57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 name="AutoShape 42">
                    <a:extLst>
                      <a:ext uri="{FF2B5EF4-FFF2-40B4-BE49-F238E27FC236}">
                        <a16:creationId xmlns:a16="http://schemas.microsoft.com/office/drawing/2014/main" id="{BD209F12-C494-482C-A7BC-9D169B2FA782}"/>
                      </a:ext>
                    </a:extLst>
                  </p:cNvPr>
                  <p:cNvSpPr>
                    <a:spLocks noChangeArrowheads="1"/>
                  </p:cNvSpPr>
                  <p:nvPr/>
                </p:nvSpPr>
                <p:spPr bwMode="auto">
                  <a:xfrm>
                    <a:off x="4086" y="1619"/>
                    <a:ext cx="952" cy="384"/>
                  </a:xfrm>
                  <a:prstGeom prst="wedgeRoundRectCallout">
                    <a:avLst>
                      <a:gd name="adj1" fmla="val -130816"/>
                      <a:gd name="adj2" fmla="val -15980"/>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80000"/>
                      </a:lnSpc>
                      <a:spcBef>
                        <a:spcPct val="50000"/>
                      </a:spcBef>
                      <a:buFontTx/>
                      <a:buNone/>
                    </a:pPr>
                    <a:r>
                      <a:rPr lang="en-US" altLang="zh-CN" sz="1200" b="1" dirty="0"/>
                      <a:t>CV= EV-AC  &lt;0</a:t>
                    </a:r>
                  </a:p>
                  <a:p>
                    <a:pPr eaLnBrk="1" hangingPunct="1">
                      <a:lnSpc>
                        <a:spcPct val="80000"/>
                      </a:lnSpc>
                      <a:spcBef>
                        <a:spcPct val="50000"/>
                      </a:spcBef>
                      <a:buFontTx/>
                      <a:buNone/>
                    </a:pPr>
                    <a:r>
                      <a:rPr lang="en-US" altLang="zh-CN" sz="1200" b="1" dirty="0"/>
                      <a:t>CPI= EV/AC &lt;1</a:t>
                    </a:r>
                  </a:p>
                </p:txBody>
              </p:sp>
              <p:sp>
                <p:nvSpPr>
                  <p:cNvPr id="98" name="Text Box 43">
                    <a:extLst>
                      <a:ext uri="{FF2B5EF4-FFF2-40B4-BE49-F238E27FC236}">
                        <a16:creationId xmlns:a16="http://schemas.microsoft.com/office/drawing/2014/main" id="{FDC2F6FC-21ED-498D-9616-5B3291A8EE63}"/>
                      </a:ext>
                    </a:extLst>
                  </p:cNvPr>
                  <p:cNvSpPr txBox="1">
                    <a:spLocks noChangeArrowheads="1"/>
                  </p:cNvSpPr>
                  <p:nvPr/>
                </p:nvSpPr>
                <p:spPr bwMode="auto">
                  <a:xfrm>
                    <a:off x="1308" y="864"/>
                    <a:ext cx="948" cy="249"/>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600" b="1"/>
                      <a:t>工期差异量 </a:t>
                    </a:r>
                  </a:p>
                </p:txBody>
              </p:sp>
            </p:grpSp>
            <p:sp>
              <p:nvSpPr>
                <p:cNvPr id="58" name="Freeform 19">
                  <a:extLst>
                    <a:ext uri="{FF2B5EF4-FFF2-40B4-BE49-F238E27FC236}">
                      <a16:creationId xmlns:a16="http://schemas.microsoft.com/office/drawing/2014/main" id="{7C7154BD-036B-4E5F-8F11-F892A68F62B0}"/>
                    </a:ext>
                  </a:extLst>
                </p:cNvPr>
                <p:cNvSpPr>
                  <a:spLocks/>
                </p:cNvSpPr>
                <p:nvPr/>
              </p:nvSpPr>
              <p:spPr bwMode="auto">
                <a:xfrm>
                  <a:off x="1531417" y="2972666"/>
                  <a:ext cx="2442408" cy="2320287"/>
                </a:xfrm>
                <a:custGeom>
                  <a:avLst/>
                  <a:gdLst>
                    <a:gd name="T0" fmla="*/ 0 w 1608"/>
                    <a:gd name="T1" fmla="*/ 12 h 1768"/>
                    <a:gd name="T2" fmla="*/ 187 w 1608"/>
                    <a:gd name="T3" fmla="*/ 10 h 1768"/>
                    <a:gd name="T4" fmla="*/ 392 w 1608"/>
                    <a:gd name="T5" fmla="*/ 6 h 1768"/>
                    <a:gd name="T6" fmla="*/ 559 w 1608"/>
                    <a:gd name="T7" fmla="*/ 6 h 1768"/>
                    <a:gd name="T8" fmla="*/ 615 w 1608"/>
                    <a:gd name="T9" fmla="*/ 6 h 1768"/>
                    <a:gd name="T10" fmla="*/ 615 w 1608"/>
                    <a:gd name="T11" fmla="*/ 6 h 1768"/>
                    <a:gd name="T12" fmla="*/ 0 60000 65536"/>
                    <a:gd name="T13" fmla="*/ 0 60000 65536"/>
                    <a:gd name="T14" fmla="*/ 0 60000 65536"/>
                    <a:gd name="T15" fmla="*/ 0 60000 65536"/>
                    <a:gd name="T16" fmla="*/ 0 60000 65536"/>
                    <a:gd name="T17" fmla="*/ 0 60000 65536"/>
                    <a:gd name="connsiteX0" fmla="*/ 0 w 9936"/>
                    <a:gd name="connsiteY0" fmla="*/ 9872 h 9872"/>
                    <a:gd name="connsiteX1" fmla="*/ 2985 w 9936"/>
                    <a:gd name="connsiteY1" fmla="*/ 8243 h 9872"/>
                    <a:gd name="connsiteX2" fmla="*/ 6269 w 9936"/>
                    <a:gd name="connsiteY2" fmla="*/ 6071 h 9872"/>
                    <a:gd name="connsiteX3" fmla="*/ 8955 w 9936"/>
                    <a:gd name="connsiteY3" fmla="*/ 3085 h 9872"/>
                    <a:gd name="connsiteX4" fmla="*/ 9851 w 9936"/>
                    <a:gd name="connsiteY4" fmla="*/ 370 h 9872"/>
                    <a:gd name="connsiteX5" fmla="*/ 9851 w 9936"/>
                    <a:gd name="connsiteY5" fmla="*/ 98 h 9872"/>
                    <a:gd name="connsiteX0" fmla="*/ 0 w 10000"/>
                    <a:gd name="connsiteY0" fmla="*/ 10000 h 10000"/>
                    <a:gd name="connsiteX1" fmla="*/ 3004 w 10000"/>
                    <a:gd name="connsiteY1" fmla="*/ 8350 h 10000"/>
                    <a:gd name="connsiteX2" fmla="*/ 6309 w 10000"/>
                    <a:gd name="connsiteY2" fmla="*/ 6150 h 10000"/>
                    <a:gd name="connsiteX3" fmla="*/ 9013 w 10000"/>
                    <a:gd name="connsiteY3" fmla="*/ 3125 h 10000"/>
                    <a:gd name="connsiteX4" fmla="*/ 9914 w 10000"/>
                    <a:gd name="connsiteY4" fmla="*/ 375 h 10000"/>
                    <a:gd name="connsiteX5" fmla="*/ 9914 w 10000"/>
                    <a:gd name="connsiteY5" fmla="*/ 99 h 10000"/>
                    <a:gd name="connsiteX0" fmla="*/ 0 w 10000"/>
                    <a:gd name="connsiteY0" fmla="*/ 10000 h 10000"/>
                    <a:gd name="connsiteX1" fmla="*/ 3004 w 10000"/>
                    <a:gd name="connsiteY1" fmla="*/ 8350 h 10000"/>
                    <a:gd name="connsiteX2" fmla="*/ 6309 w 10000"/>
                    <a:gd name="connsiteY2" fmla="*/ 6150 h 10000"/>
                    <a:gd name="connsiteX3" fmla="*/ 9013 w 10000"/>
                    <a:gd name="connsiteY3" fmla="*/ 3125 h 10000"/>
                    <a:gd name="connsiteX4" fmla="*/ 9914 w 10000"/>
                    <a:gd name="connsiteY4" fmla="*/ 375 h 10000"/>
                    <a:gd name="connsiteX5" fmla="*/ 9914 w 10000"/>
                    <a:gd name="connsiteY5" fmla="*/ 99 h 10000"/>
                    <a:gd name="connsiteX0" fmla="*/ 0 w 10000"/>
                    <a:gd name="connsiteY0" fmla="*/ 10000 h 10000"/>
                    <a:gd name="connsiteX1" fmla="*/ 3004 w 10000"/>
                    <a:gd name="connsiteY1" fmla="*/ 8350 h 10000"/>
                    <a:gd name="connsiteX2" fmla="*/ 6309 w 10000"/>
                    <a:gd name="connsiteY2" fmla="*/ 6150 h 10000"/>
                    <a:gd name="connsiteX3" fmla="*/ 8542 w 10000"/>
                    <a:gd name="connsiteY3" fmla="*/ 3081 h 10000"/>
                    <a:gd name="connsiteX4" fmla="*/ 9914 w 10000"/>
                    <a:gd name="connsiteY4" fmla="*/ 375 h 10000"/>
                    <a:gd name="connsiteX5" fmla="*/ 9914 w 10000"/>
                    <a:gd name="connsiteY5" fmla="*/ 99 h 10000"/>
                    <a:gd name="connsiteX0" fmla="*/ 0 w 9922"/>
                    <a:gd name="connsiteY0" fmla="*/ 9937 h 9937"/>
                    <a:gd name="connsiteX1" fmla="*/ 3004 w 9922"/>
                    <a:gd name="connsiteY1" fmla="*/ 8287 h 9937"/>
                    <a:gd name="connsiteX2" fmla="*/ 6309 w 9922"/>
                    <a:gd name="connsiteY2" fmla="*/ 6087 h 9937"/>
                    <a:gd name="connsiteX3" fmla="*/ 8542 w 9922"/>
                    <a:gd name="connsiteY3" fmla="*/ 3018 h 9937"/>
                    <a:gd name="connsiteX4" fmla="*/ 9401 w 9922"/>
                    <a:gd name="connsiteY4" fmla="*/ 578 h 9937"/>
                    <a:gd name="connsiteX5" fmla="*/ 9914 w 9922"/>
                    <a:gd name="connsiteY5" fmla="*/ 36 h 9937"/>
                    <a:gd name="connsiteX0" fmla="*/ 0 w 10007"/>
                    <a:gd name="connsiteY0" fmla="*/ 9985 h 9985"/>
                    <a:gd name="connsiteX1" fmla="*/ 3028 w 10007"/>
                    <a:gd name="connsiteY1" fmla="*/ 8325 h 9985"/>
                    <a:gd name="connsiteX2" fmla="*/ 6359 w 10007"/>
                    <a:gd name="connsiteY2" fmla="*/ 6111 h 9985"/>
                    <a:gd name="connsiteX3" fmla="*/ 8609 w 10007"/>
                    <a:gd name="connsiteY3" fmla="*/ 3022 h 9985"/>
                    <a:gd name="connsiteX4" fmla="*/ 9691 w 10007"/>
                    <a:gd name="connsiteY4" fmla="*/ 790 h 9985"/>
                    <a:gd name="connsiteX5" fmla="*/ 9992 w 10007"/>
                    <a:gd name="connsiteY5" fmla="*/ 21 h 9985"/>
                    <a:gd name="connsiteX0" fmla="*/ 0 w 10000"/>
                    <a:gd name="connsiteY0" fmla="*/ 10000 h 10000"/>
                    <a:gd name="connsiteX1" fmla="*/ 3026 w 10000"/>
                    <a:gd name="connsiteY1" fmla="*/ 8338 h 10000"/>
                    <a:gd name="connsiteX2" fmla="*/ 6014 w 10000"/>
                    <a:gd name="connsiteY2" fmla="*/ 6068 h 10000"/>
                    <a:gd name="connsiteX3" fmla="*/ 8603 w 10000"/>
                    <a:gd name="connsiteY3" fmla="*/ 3027 h 10000"/>
                    <a:gd name="connsiteX4" fmla="*/ 9684 w 10000"/>
                    <a:gd name="connsiteY4" fmla="*/ 791 h 10000"/>
                    <a:gd name="connsiteX5" fmla="*/ 9985 w 10000"/>
                    <a:gd name="connsiteY5" fmla="*/ 21 h 10000"/>
                    <a:gd name="connsiteX0" fmla="*/ 0 w 10000"/>
                    <a:gd name="connsiteY0" fmla="*/ 10000 h 10000"/>
                    <a:gd name="connsiteX1" fmla="*/ 3026 w 10000"/>
                    <a:gd name="connsiteY1" fmla="*/ 8338 h 10000"/>
                    <a:gd name="connsiteX2" fmla="*/ 6014 w 10000"/>
                    <a:gd name="connsiteY2" fmla="*/ 6068 h 10000"/>
                    <a:gd name="connsiteX3" fmla="*/ 8214 w 10000"/>
                    <a:gd name="connsiteY3" fmla="*/ 2975 h 10000"/>
                    <a:gd name="connsiteX4" fmla="*/ 9684 w 10000"/>
                    <a:gd name="connsiteY4" fmla="*/ 791 h 10000"/>
                    <a:gd name="connsiteX5" fmla="*/ 9985 w 10000"/>
                    <a:gd name="connsiteY5" fmla="*/ 21 h 10000"/>
                    <a:gd name="connsiteX0" fmla="*/ 0 w 10000"/>
                    <a:gd name="connsiteY0" fmla="*/ 10000 h 10000"/>
                    <a:gd name="connsiteX1" fmla="*/ 3026 w 10000"/>
                    <a:gd name="connsiteY1" fmla="*/ 8338 h 10000"/>
                    <a:gd name="connsiteX2" fmla="*/ 6014 w 10000"/>
                    <a:gd name="connsiteY2" fmla="*/ 6068 h 10000"/>
                    <a:gd name="connsiteX3" fmla="*/ 8555 w 10000"/>
                    <a:gd name="connsiteY3" fmla="*/ 3131 h 10000"/>
                    <a:gd name="connsiteX4" fmla="*/ 9684 w 10000"/>
                    <a:gd name="connsiteY4" fmla="*/ 791 h 10000"/>
                    <a:gd name="connsiteX5" fmla="*/ 9985 w 10000"/>
                    <a:gd name="connsiteY5" fmla="*/ 21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0">
                      <a:moveTo>
                        <a:pt x="0" y="10000"/>
                      </a:moveTo>
                      <a:cubicBezTo>
                        <a:pt x="983" y="9492"/>
                        <a:pt x="2024" y="8993"/>
                        <a:pt x="3026" y="8338"/>
                      </a:cubicBezTo>
                      <a:cubicBezTo>
                        <a:pt x="4028" y="7683"/>
                        <a:pt x="5093" y="6936"/>
                        <a:pt x="6014" y="6068"/>
                      </a:cubicBezTo>
                      <a:cubicBezTo>
                        <a:pt x="6936" y="5200"/>
                        <a:pt x="7943" y="4011"/>
                        <a:pt x="8555" y="3131"/>
                      </a:cubicBezTo>
                      <a:cubicBezTo>
                        <a:pt x="9167" y="2251"/>
                        <a:pt x="9532" y="1298"/>
                        <a:pt x="9684" y="791"/>
                      </a:cubicBezTo>
                      <a:cubicBezTo>
                        <a:pt x="9835" y="281"/>
                        <a:pt x="10061" y="-93"/>
                        <a:pt x="9985" y="21"/>
                      </a:cubicBezTo>
                    </a:path>
                  </a:pathLst>
                </a:custGeom>
                <a:noFill/>
                <a:ln w="3810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 name="任意多边形: 形状 58">
                  <a:extLst>
                    <a:ext uri="{FF2B5EF4-FFF2-40B4-BE49-F238E27FC236}">
                      <a16:creationId xmlns:a16="http://schemas.microsoft.com/office/drawing/2014/main" id="{B14B7E82-4A1C-4645-9D41-11E95D56603E}"/>
                    </a:ext>
                  </a:extLst>
                </p:cNvPr>
                <p:cNvSpPr/>
                <p:nvPr/>
              </p:nvSpPr>
              <p:spPr>
                <a:xfrm>
                  <a:off x="3972315" y="1839646"/>
                  <a:ext cx="2519487" cy="1121268"/>
                </a:xfrm>
                <a:custGeom>
                  <a:avLst/>
                  <a:gdLst>
                    <a:gd name="connsiteX0" fmla="*/ 0 w 2917372"/>
                    <a:gd name="connsiteY0" fmla="*/ 1121246 h 1121246"/>
                    <a:gd name="connsiteX1" fmla="*/ 163286 w 2917372"/>
                    <a:gd name="connsiteY1" fmla="*/ 859989 h 1121246"/>
                    <a:gd name="connsiteX2" fmla="*/ 468086 w 2917372"/>
                    <a:gd name="connsiteY2" fmla="*/ 544303 h 1121246"/>
                    <a:gd name="connsiteX3" fmla="*/ 816429 w 2917372"/>
                    <a:gd name="connsiteY3" fmla="*/ 359246 h 1121246"/>
                    <a:gd name="connsiteX4" fmla="*/ 1513115 w 2917372"/>
                    <a:gd name="connsiteY4" fmla="*/ 195960 h 1121246"/>
                    <a:gd name="connsiteX5" fmla="*/ 2917372 w 2917372"/>
                    <a:gd name="connsiteY5" fmla="*/ 17 h 1121246"/>
                    <a:gd name="connsiteX0" fmla="*/ 0 w 2917372"/>
                    <a:gd name="connsiteY0" fmla="*/ 1121268 h 1121268"/>
                    <a:gd name="connsiteX1" fmla="*/ 163286 w 2917372"/>
                    <a:gd name="connsiteY1" fmla="*/ 860011 h 1121268"/>
                    <a:gd name="connsiteX2" fmla="*/ 468086 w 2917372"/>
                    <a:gd name="connsiteY2" fmla="*/ 544325 h 1121268"/>
                    <a:gd name="connsiteX3" fmla="*/ 816429 w 2917372"/>
                    <a:gd name="connsiteY3" fmla="*/ 359268 h 1121268"/>
                    <a:gd name="connsiteX4" fmla="*/ 1631040 w 2917372"/>
                    <a:gd name="connsiteY4" fmla="*/ 119782 h 1121268"/>
                    <a:gd name="connsiteX5" fmla="*/ 2917372 w 2917372"/>
                    <a:gd name="connsiteY5" fmla="*/ 39 h 1121268"/>
                    <a:gd name="connsiteX0" fmla="*/ 0 w 2917372"/>
                    <a:gd name="connsiteY0" fmla="*/ 1121268 h 1121268"/>
                    <a:gd name="connsiteX1" fmla="*/ 163286 w 2917372"/>
                    <a:gd name="connsiteY1" fmla="*/ 860011 h 1121268"/>
                    <a:gd name="connsiteX2" fmla="*/ 468086 w 2917372"/>
                    <a:gd name="connsiteY2" fmla="*/ 544325 h 1121268"/>
                    <a:gd name="connsiteX3" fmla="*/ 875391 w 2917372"/>
                    <a:gd name="connsiteY3" fmla="*/ 283068 h 1121268"/>
                    <a:gd name="connsiteX4" fmla="*/ 1631040 w 2917372"/>
                    <a:gd name="connsiteY4" fmla="*/ 119782 h 1121268"/>
                    <a:gd name="connsiteX5" fmla="*/ 2917372 w 2917372"/>
                    <a:gd name="connsiteY5" fmla="*/ 39 h 1121268"/>
                    <a:gd name="connsiteX0" fmla="*/ 0 w 2917372"/>
                    <a:gd name="connsiteY0" fmla="*/ 1121268 h 1121268"/>
                    <a:gd name="connsiteX1" fmla="*/ 163286 w 2917372"/>
                    <a:gd name="connsiteY1" fmla="*/ 860011 h 1121268"/>
                    <a:gd name="connsiteX2" fmla="*/ 468086 w 2917372"/>
                    <a:gd name="connsiteY2" fmla="*/ 544325 h 1121268"/>
                    <a:gd name="connsiteX3" fmla="*/ 981524 w 2917372"/>
                    <a:gd name="connsiteY3" fmla="*/ 283068 h 1121268"/>
                    <a:gd name="connsiteX4" fmla="*/ 1631040 w 2917372"/>
                    <a:gd name="connsiteY4" fmla="*/ 119782 h 1121268"/>
                    <a:gd name="connsiteX5" fmla="*/ 2917372 w 2917372"/>
                    <a:gd name="connsiteY5" fmla="*/ 39 h 1121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17372" h="1121268">
                      <a:moveTo>
                        <a:pt x="0" y="1121268"/>
                      </a:moveTo>
                      <a:cubicBezTo>
                        <a:pt x="42636" y="1038718"/>
                        <a:pt x="85272" y="956168"/>
                        <a:pt x="163286" y="860011"/>
                      </a:cubicBezTo>
                      <a:cubicBezTo>
                        <a:pt x="241300" y="763854"/>
                        <a:pt x="331713" y="640482"/>
                        <a:pt x="468086" y="544325"/>
                      </a:cubicBezTo>
                      <a:cubicBezTo>
                        <a:pt x="604459" y="448168"/>
                        <a:pt x="787698" y="353825"/>
                        <a:pt x="981524" y="283068"/>
                      </a:cubicBezTo>
                      <a:cubicBezTo>
                        <a:pt x="1175350" y="212311"/>
                        <a:pt x="1280883" y="179653"/>
                        <a:pt x="1631040" y="119782"/>
                      </a:cubicBezTo>
                      <a:cubicBezTo>
                        <a:pt x="1981197" y="59911"/>
                        <a:pt x="2665186" y="-1775"/>
                        <a:pt x="2917372" y="39"/>
                      </a:cubicBezTo>
                    </a:path>
                  </a:pathLst>
                </a:custGeom>
                <a:noFill/>
                <a:ln w="19050">
                  <a:solidFill>
                    <a:schemeClr val="tx1">
                      <a:lumMod val="75000"/>
                      <a:lumOff val="2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3" name="Line 29">
                <a:extLst>
                  <a:ext uri="{FF2B5EF4-FFF2-40B4-BE49-F238E27FC236}">
                    <a16:creationId xmlns:a16="http://schemas.microsoft.com/office/drawing/2014/main" id="{9717D3A9-3FB8-45FD-9ECF-E7FA4BD6FA99}"/>
                  </a:ext>
                </a:extLst>
              </p:cNvPr>
              <p:cNvSpPr>
                <a:spLocks noChangeShapeType="1"/>
              </p:cNvSpPr>
              <p:nvPr/>
            </p:nvSpPr>
            <p:spPr bwMode="auto">
              <a:xfrm>
                <a:off x="7433387" y="2123635"/>
                <a:ext cx="0" cy="259650"/>
              </a:xfrm>
              <a:prstGeom prst="line">
                <a:avLst/>
              </a:prstGeom>
              <a:noFill/>
              <a:ln w="9525">
                <a:solidFill>
                  <a:schemeClr val="accent2">
                    <a:lumMod val="50000"/>
                  </a:schemeClr>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 name="Line 9">
                <a:extLst>
                  <a:ext uri="{FF2B5EF4-FFF2-40B4-BE49-F238E27FC236}">
                    <a16:creationId xmlns:a16="http://schemas.microsoft.com/office/drawing/2014/main" id="{2A972C5E-CECA-4F67-A2BE-0AB09817F162}"/>
                  </a:ext>
                </a:extLst>
              </p:cNvPr>
              <p:cNvSpPr>
                <a:spLocks noChangeShapeType="1"/>
              </p:cNvSpPr>
              <p:nvPr/>
            </p:nvSpPr>
            <p:spPr bwMode="auto">
              <a:xfrm flipV="1">
                <a:off x="2447367" y="2134901"/>
                <a:ext cx="5110920" cy="0"/>
              </a:xfrm>
              <a:prstGeom prst="line">
                <a:avLst/>
              </a:prstGeom>
              <a:noFill/>
              <a:ln w="19050">
                <a:solidFill>
                  <a:schemeClr val="tx2">
                    <a:lumMod val="75000"/>
                  </a:scheme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 name="Line 9">
                <a:extLst>
                  <a:ext uri="{FF2B5EF4-FFF2-40B4-BE49-F238E27FC236}">
                    <a16:creationId xmlns:a16="http://schemas.microsoft.com/office/drawing/2014/main" id="{848F5577-0E25-4380-A724-A6539B1DA153}"/>
                  </a:ext>
                </a:extLst>
              </p:cNvPr>
              <p:cNvSpPr>
                <a:spLocks noChangeShapeType="1"/>
              </p:cNvSpPr>
              <p:nvPr/>
            </p:nvSpPr>
            <p:spPr bwMode="auto">
              <a:xfrm flipV="1">
                <a:off x="2482614" y="2410314"/>
                <a:ext cx="5110920" cy="0"/>
              </a:xfrm>
              <a:prstGeom prst="line">
                <a:avLst/>
              </a:prstGeom>
              <a:noFill/>
              <a:ln w="190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 name="Text Box 34">
                <a:extLst>
                  <a:ext uri="{FF2B5EF4-FFF2-40B4-BE49-F238E27FC236}">
                    <a16:creationId xmlns:a16="http://schemas.microsoft.com/office/drawing/2014/main" id="{21C7CF28-4592-4CCA-842B-C9D594132BD7}"/>
                  </a:ext>
                </a:extLst>
              </p:cNvPr>
              <p:cNvSpPr txBox="1">
                <a:spLocks noChangeArrowheads="1"/>
              </p:cNvSpPr>
              <p:nvPr/>
            </p:nvSpPr>
            <p:spPr bwMode="auto">
              <a:xfrm>
                <a:off x="6633007" y="1786396"/>
                <a:ext cx="1124892" cy="307777"/>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400" b="1" dirty="0">
                    <a:solidFill>
                      <a:schemeClr val="tx2"/>
                    </a:solidFill>
                  </a:rPr>
                  <a:t>项目预算</a:t>
                </a:r>
              </a:p>
            </p:txBody>
          </p:sp>
        </p:grpSp>
        <p:sp>
          <p:nvSpPr>
            <p:cNvPr id="49" name="文本框 48">
              <a:extLst>
                <a:ext uri="{FF2B5EF4-FFF2-40B4-BE49-F238E27FC236}">
                  <a16:creationId xmlns:a16="http://schemas.microsoft.com/office/drawing/2014/main" id="{01313D1B-62F8-4C75-984E-591A67D76E88}"/>
                </a:ext>
              </a:extLst>
            </p:cNvPr>
            <p:cNvSpPr txBox="1"/>
            <p:nvPr/>
          </p:nvSpPr>
          <p:spPr>
            <a:xfrm>
              <a:off x="7793131" y="1622312"/>
              <a:ext cx="639968" cy="369332"/>
            </a:xfrm>
            <a:prstGeom prst="rect">
              <a:avLst/>
            </a:prstGeom>
            <a:noFill/>
            <a:ln>
              <a:solidFill>
                <a:schemeClr val="tx1"/>
              </a:solidFill>
              <a:prstDash val="dash"/>
            </a:ln>
          </p:spPr>
          <p:txBody>
            <a:bodyPr wrap="square">
              <a:spAutoFit/>
            </a:bodyPr>
            <a:lstStyle/>
            <a:p>
              <a:r>
                <a:rPr lang="en-US" altLang="zh-CN" dirty="0"/>
                <a:t>EAC</a:t>
              </a:r>
              <a:endParaRPr lang="zh-CN" altLang="en-US" dirty="0"/>
            </a:p>
          </p:txBody>
        </p:sp>
      </p:grpSp>
    </p:spTree>
    <p:extLst>
      <p:ext uri="{BB962C8B-B14F-4D97-AF65-F5344CB8AC3E}">
        <p14:creationId xmlns:p14="http://schemas.microsoft.com/office/powerpoint/2010/main" val="434396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a:extLst>
              <a:ext uri="{FF2B5EF4-FFF2-40B4-BE49-F238E27FC236}">
                <a16:creationId xmlns:a16="http://schemas.microsoft.com/office/drawing/2014/main" id="{0F92ABCA-4083-4ABD-AC10-540621A5EC71}"/>
              </a:ext>
            </a:extLst>
          </p:cNvPr>
          <p:cNvSpPr>
            <a:spLocks noGrp="1"/>
          </p:cNvSpPr>
          <p:nvPr>
            <p:ph type="title"/>
          </p:nvPr>
        </p:nvSpPr>
        <p:spPr>
          <a:xfrm>
            <a:off x="613885" y="764292"/>
            <a:ext cx="10972800" cy="839655"/>
          </a:xfrm>
        </p:spPr>
        <p:txBody>
          <a:bodyPr/>
          <a:lstStyle/>
          <a:p>
            <a:r>
              <a:rPr lang="zh-CN" altLang="en-US" dirty="0"/>
              <a:t>偏差 分析</a:t>
            </a:r>
            <a:r>
              <a:rPr lang="en-US" altLang="zh-CN" dirty="0"/>
              <a:t>– </a:t>
            </a:r>
            <a:r>
              <a:rPr lang="zh-CN" altLang="en-US" dirty="0"/>
              <a:t>进度偏差（</a:t>
            </a:r>
            <a:r>
              <a:rPr lang="en-US" altLang="zh-CN" dirty="0"/>
              <a:t>SV</a:t>
            </a:r>
            <a:r>
              <a:rPr lang="zh-CN" altLang="en-US" dirty="0"/>
              <a:t>）、成本偏差（</a:t>
            </a:r>
            <a:r>
              <a:rPr lang="en-US" altLang="zh-CN" dirty="0"/>
              <a:t>CV</a:t>
            </a:r>
            <a:r>
              <a:rPr lang="zh-CN" altLang="en-US" dirty="0"/>
              <a:t>）、进度绩效指数（</a:t>
            </a:r>
            <a:r>
              <a:rPr lang="en-US" altLang="zh-CN" dirty="0"/>
              <a:t>SPI</a:t>
            </a:r>
            <a:r>
              <a:rPr lang="zh-CN" altLang="en-US" dirty="0"/>
              <a:t>）、成本绩效指数（</a:t>
            </a:r>
            <a:r>
              <a:rPr lang="en-US" altLang="zh-CN" dirty="0"/>
              <a:t>CPI</a:t>
            </a:r>
            <a:r>
              <a:rPr lang="zh-CN" altLang="en-US" dirty="0"/>
              <a:t>）</a:t>
            </a:r>
          </a:p>
        </p:txBody>
      </p:sp>
      <p:graphicFrame>
        <p:nvGraphicFramePr>
          <p:cNvPr id="4" name="Group 148">
            <a:extLst>
              <a:ext uri="{FF2B5EF4-FFF2-40B4-BE49-F238E27FC236}">
                <a16:creationId xmlns:a16="http://schemas.microsoft.com/office/drawing/2014/main" id="{5C9EE8D0-13C2-4AE2-A9C6-A7F2BA3D56BE}"/>
              </a:ext>
            </a:extLst>
          </p:cNvPr>
          <p:cNvGraphicFramePr>
            <a:graphicFrameLocks noGrp="1"/>
          </p:cNvGraphicFramePr>
          <p:nvPr/>
        </p:nvGraphicFramePr>
        <p:xfrm>
          <a:off x="2095500" y="2071689"/>
          <a:ext cx="8072438" cy="3500435"/>
        </p:xfrm>
        <a:graphic>
          <a:graphicData uri="http://schemas.openxmlformats.org/drawingml/2006/table">
            <a:tbl>
              <a:tblPr/>
              <a:tblGrid>
                <a:gridCol w="1881210">
                  <a:extLst>
                    <a:ext uri="{9D8B030D-6E8A-4147-A177-3AD203B41FA5}">
                      <a16:colId xmlns:a16="http://schemas.microsoft.com/office/drawing/2014/main" val="20000"/>
                    </a:ext>
                  </a:extLst>
                </a:gridCol>
                <a:gridCol w="1904978">
                  <a:extLst>
                    <a:ext uri="{9D8B030D-6E8A-4147-A177-3AD203B41FA5}">
                      <a16:colId xmlns:a16="http://schemas.microsoft.com/office/drawing/2014/main" val="20001"/>
                    </a:ext>
                  </a:extLst>
                </a:gridCol>
                <a:gridCol w="2143125">
                  <a:extLst>
                    <a:ext uri="{9D8B030D-6E8A-4147-A177-3AD203B41FA5}">
                      <a16:colId xmlns:a16="http://schemas.microsoft.com/office/drawing/2014/main" val="20002"/>
                    </a:ext>
                  </a:extLst>
                </a:gridCol>
                <a:gridCol w="2143125">
                  <a:extLst>
                    <a:ext uri="{9D8B030D-6E8A-4147-A177-3AD203B41FA5}">
                      <a16:colId xmlns:a16="http://schemas.microsoft.com/office/drawing/2014/main" val="20003"/>
                    </a:ext>
                  </a:extLst>
                </a:gridCol>
              </a:tblGrid>
              <a:tr h="398683">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8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SPI</a:t>
                      </a:r>
                      <a:r>
                        <a:rPr kumimoji="0" lang="zh-CN" altLang="en-US" sz="18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和</a:t>
                      </a:r>
                      <a:r>
                        <a:rPr kumimoji="0" lang="en-US" altLang="zh-CN" sz="18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CPI</a:t>
                      </a:r>
                      <a:endParaRPr kumimoji="0" lang="zh-CN" altLang="en-US" sz="18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0000"/>
                    </a:solid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8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18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偏差分析</a:t>
                      </a: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0000"/>
                    </a:solid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8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绩效预测</a:t>
                      </a: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0000"/>
                    </a:solid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8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应对策略</a:t>
                      </a:r>
                    </a:p>
                  </a:txBody>
                  <a:tcPr marL="91439" marR="914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0000"/>
                    </a:solidFill>
                  </a:tcPr>
                </a:tc>
                <a:extLst>
                  <a:ext uri="{0D108BD9-81ED-4DB2-BD59-A6C34878D82A}">
                    <a16:rowId xmlns:a16="http://schemas.microsoft.com/office/drawing/2014/main" val="10000"/>
                  </a:ext>
                </a:extLst>
              </a:tr>
              <a:tr h="775438">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CPI&gt;1</a:t>
                      </a:r>
                    </a:p>
                    <a:p>
                      <a:pPr marL="0" marR="0" lvl="0" indent="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SPI&gt;1</a:t>
                      </a:r>
                      <a:endParaRPr kumimoji="0" lang="zh-CN" altLang="en-US"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2100" marR="0" lvl="0" indent="-19050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成本节约</a:t>
                      </a:r>
                      <a:endParaRPr kumimoji="0" lang="en-US" altLang="zh-CN"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292100" marR="0" lvl="0" indent="-19050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进度超前</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2100" marR="0" lvl="0" indent="-29210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绩效好</a:t>
                      </a:r>
                      <a:endParaRPr kumimoji="0" lang="en-US" altLang="zh-CN"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2100" marR="0" lvl="0" indent="-29210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一定要分析可持续性</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75438">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CPI&gt;1</a:t>
                      </a:r>
                    </a:p>
                    <a:p>
                      <a:pPr marL="0" marR="0" lvl="0" indent="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SPI&lt;1</a:t>
                      </a:r>
                      <a:endParaRPr kumimoji="0" lang="zh-CN" altLang="en-US"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2100" marR="0" lvl="0" indent="-19050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成本节约</a:t>
                      </a:r>
                      <a:endParaRPr kumimoji="0" lang="en-US" altLang="zh-CN"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292100" marR="0" lvl="0" indent="-19050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进度落后</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绩效较差</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太悲观和谨慎</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75438">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CPI&lt;1</a:t>
                      </a:r>
                    </a:p>
                    <a:p>
                      <a:pPr marL="0" marR="0" lvl="0" indent="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SPI&gt;1</a:t>
                      </a:r>
                      <a:endParaRPr kumimoji="0" lang="zh-CN" altLang="en-US"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2100" marR="0" lvl="0" indent="-19050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成本超支</a:t>
                      </a:r>
                      <a:endParaRPr kumimoji="0" lang="en-US" altLang="zh-CN"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292100" marR="0" lvl="0" indent="-19050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进度超前</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绩效较好</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资金计划有无问题？</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75438">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CPI&lt;1</a:t>
                      </a:r>
                    </a:p>
                    <a:p>
                      <a:pPr marL="0" marR="0" lvl="0" indent="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SPI&lt;1</a:t>
                      </a:r>
                      <a:endParaRPr kumimoji="0" lang="zh-CN" altLang="en-US"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2100" marR="0" lvl="0" indent="-19050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成本超支</a:t>
                      </a:r>
                      <a:endParaRPr kumimoji="0" lang="en-US" altLang="zh-CN"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292100" marR="0" lvl="0" indent="-190500" algn="ctr" defTabSz="914400" rtl="0" eaLnBrk="0" fontAlgn="base" latinLnBrk="0" hangingPunct="0">
                        <a:lnSpc>
                          <a:spcPct val="100000"/>
                        </a:lnSpc>
                        <a:spcBef>
                          <a:spcPct val="35000"/>
                        </a:spcBef>
                        <a:spcAft>
                          <a:spcPct val="0"/>
                        </a:spcAft>
                        <a:buClr>
                          <a:schemeClr val="accent1"/>
                        </a:buClr>
                        <a:buSzPct val="50000"/>
                        <a:buFont typeface="Wingdings" pitchFamily="2" charset="2"/>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进度落后</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绩效差</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需重大改进，问题项目</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a:extLst>
              <a:ext uri="{FF2B5EF4-FFF2-40B4-BE49-F238E27FC236}">
                <a16:creationId xmlns:a16="http://schemas.microsoft.com/office/drawing/2014/main" id="{0F92ABCA-4083-4ABD-AC10-540621A5EC71}"/>
              </a:ext>
            </a:extLst>
          </p:cNvPr>
          <p:cNvSpPr>
            <a:spLocks noGrp="1"/>
          </p:cNvSpPr>
          <p:nvPr>
            <p:ph type="title"/>
          </p:nvPr>
        </p:nvSpPr>
        <p:spPr>
          <a:xfrm>
            <a:off x="613885" y="764293"/>
            <a:ext cx="10972800" cy="629792"/>
          </a:xfrm>
        </p:spPr>
        <p:txBody>
          <a:bodyPr/>
          <a:lstStyle/>
          <a:p>
            <a:pPr algn="l"/>
            <a:r>
              <a:rPr lang="zh-CN" altLang="en-US" dirty="0"/>
              <a:t>趋势分析 </a:t>
            </a:r>
            <a:br>
              <a:rPr lang="en-US" altLang="zh-CN" dirty="0"/>
            </a:br>
            <a:endParaRPr lang="zh-CN" altLang="en-US" sz="2200" dirty="0">
              <a:latin typeface="微软雅黑" panose="020B0503020204020204" pitchFamily="34" charset="-122"/>
            </a:endParaRPr>
          </a:p>
        </p:txBody>
      </p:sp>
      <p:sp>
        <p:nvSpPr>
          <p:cNvPr id="5" name="文本框 4">
            <a:extLst>
              <a:ext uri="{FF2B5EF4-FFF2-40B4-BE49-F238E27FC236}">
                <a16:creationId xmlns:a16="http://schemas.microsoft.com/office/drawing/2014/main" id="{5F342803-1DC2-4B0A-9650-413AB97E85F3}"/>
              </a:ext>
            </a:extLst>
          </p:cNvPr>
          <p:cNvSpPr txBox="1"/>
          <p:nvPr/>
        </p:nvSpPr>
        <p:spPr>
          <a:xfrm>
            <a:off x="605315" y="1260843"/>
            <a:ext cx="10972799" cy="1477328"/>
          </a:xfrm>
          <a:prstGeom prst="rect">
            <a:avLst/>
          </a:prstGeom>
          <a:noFill/>
        </p:spPr>
        <p:txBody>
          <a:bodyPr wrap="square">
            <a:spAutoFit/>
          </a:bodyPr>
          <a:lstStyle/>
          <a:p>
            <a:pPr algn="just"/>
            <a:r>
              <a:rPr lang="zh-CN" altLang="en-US" sz="2200" b="0" i="0" u="none" strike="noStrike" baseline="0" dirty="0">
                <a:latin typeface="微软雅黑" panose="020B0503020204020204" pitchFamily="34" charset="-122"/>
                <a:ea typeface="微软雅黑" panose="020B0503020204020204" pitchFamily="34" charset="-122"/>
              </a:rPr>
              <a:t>趋势分析旨在审查项目绩效随时间的变化情况，以判断绩效是正在改善还是正在恶化。图形分析技术有助于了解截至目前的绩效情况，并把发展趋势与未来的绩效目标进行比较，如</a:t>
            </a:r>
            <a:r>
              <a:rPr lang="zh-CN" altLang="en-US" sz="2200" dirty="0">
                <a:latin typeface="微软雅黑" panose="020B0503020204020204" pitchFamily="34" charset="-122"/>
                <a:ea typeface="微软雅黑" panose="020B0503020204020204" pitchFamily="34" charset="-122"/>
              </a:rPr>
              <a:t>完工预算</a:t>
            </a:r>
            <a:r>
              <a:rPr lang="en-US" altLang="zh-CN" sz="2200" dirty="0">
                <a:latin typeface="微软雅黑" panose="020B0503020204020204" pitchFamily="34" charset="-122"/>
                <a:ea typeface="微软雅黑" panose="020B0503020204020204" pitchFamily="34" charset="-122"/>
              </a:rPr>
              <a:t>BAC </a:t>
            </a:r>
            <a:r>
              <a:rPr lang="zh-CN" altLang="en-US" sz="2200" dirty="0">
                <a:latin typeface="微软雅黑" panose="020B0503020204020204" pitchFamily="34" charset="-122"/>
                <a:ea typeface="微软雅黑" panose="020B0503020204020204" pitchFamily="34" charset="-122"/>
              </a:rPr>
              <a:t>与完工估算</a:t>
            </a:r>
            <a:r>
              <a:rPr lang="en-US" altLang="zh-CN" sz="2200" dirty="0">
                <a:latin typeface="微软雅黑" panose="020B0503020204020204" pitchFamily="34" charset="-122"/>
                <a:ea typeface="微软雅黑" panose="020B0503020204020204" pitchFamily="34" charset="-122"/>
              </a:rPr>
              <a:t>EAC</a:t>
            </a:r>
            <a:r>
              <a:rPr lang="zh-CN" altLang="en-US" sz="2200" b="0" i="0" u="none" strike="noStrike" baseline="0" dirty="0">
                <a:latin typeface="微软雅黑" panose="020B0503020204020204" pitchFamily="34" charset="-122"/>
                <a:ea typeface="微软雅黑" panose="020B0503020204020204" pitchFamily="34" charset="-122"/>
              </a:rPr>
              <a:t>、预测完工日期与计划完工日期的比较。趋势分析技术包括（但不限于）图表、预测等</a:t>
            </a:r>
            <a:r>
              <a:rPr lang="en-US" altLang="zh-CN" sz="2200" dirty="0">
                <a:latin typeface="微软雅黑" panose="020B0503020204020204" pitchFamily="34" charset="-122"/>
                <a:ea typeface="微软雅黑" panose="020B0503020204020204" pitchFamily="34" charset="-122"/>
              </a:rPr>
              <a:t> </a:t>
            </a:r>
            <a:endParaRPr lang="zh-CN" altLang="en-US" sz="2200" dirty="0">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227006D4-1DD8-46AC-A4FF-202DAF64174C}"/>
              </a:ext>
            </a:extLst>
          </p:cNvPr>
          <p:cNvSpPr txBox="1"/>
          <p:nvPr/>
        </p:nvSpPr>
        <p:spPr>
          <a:xfrm>
            <a:off x="843197" y="4365968"/>
            <a:ext cx="3354049" cy="400110"/>
          </a:xfrm>
          <a:prstGeom prst="rect">
            <a:avLst/>
          </a:prstGeom>
          <a:noFill/>
        </p:spPr>
        <p:txBody>
          <a:bodyPr wrap="square">
            <a:spAutoFit/>
          </a:bodyPr>
          <a:lstStyle/>
          <a:p>
            <a:r>
              <a:rPr lang="zh-CN" altLang="en-US" sz="2000" b="1" i="0" u="none" strike="noStrike" baseline="0" dirty="0">
                <a:latin typeface="微软雅黑" panose="020B0503020204020204" pitchFamily="34" charset="-122"/>
                <a:ea typeface="微软雅黑" panose="020B0503020204020204" pitchFamily="34" charset="-122"/>
              </a:rPr>
              <a:t>挣值、计划价值和实际成本</a:t>
            </a:r>
            <a:endParaRPr lang="zh-CN" altLang="en-US" sz="2000" dirty="0">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B0AFCC36-1FCB-40D7-F5B0-3EADBF9CA558}"/>
              </a:ext>
            </a:extLst>
          </p:cNvPr>
          <p:cNvPicPr>
            <a:picLocks noChangeAspect="1"/>
          </p:cNvPicPr>
          <p:nvPr/>
        </p:nvPicPr>
        <p:blipFill>
          <a:blip r:embed="rId3"/>
          <a:stretch>
            <a:fillRect/>
          </a:stretch>
        </p:blipFill>
        <p:spPr>
          <a:xfrm>
            <a:off x="4611754" y="2604929"/>
            <a:ext cx="6966361" cy="3922188"/>
          </a:xfrm>
          <a:prstGeom prst="rect">
            <a:avLst/>
          </a:prstGeom>
        </p:spPr>
      </p:pic>
    </p:spTree>
    <p:extLst>
      <p:ext uri="{BB962C8B-B14F-4D97-AF65-F5344CB8AC3E}">
        <p14:creationId xmlns:p14="http://schemas.microsoft.com/office/powerpoint/2010/main" val="3867379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a:extLst>
              <a:ext uri="{FF2B5EF4-FFF2-40B4-BE49-F238E27FC236}">
                <a16:creationId xmlns:a16="http://schemas.microsoft.com/office/drawing/2014/main" id="{19676330-E909-482D-A0D8-04A52AA4DCDF}"/>
              </a:ext>
            </a:extLst>
          </p:cNvPr>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Project</a:t>
            </a:r>
            <a:r>
              <a:rPr lang="zh-CN" altLang="en-US" dirty="0">
                <a:latin typeface="Times New Roman" panose="02020603050405020304" pitchFamily="18" charset="0"/>
                <a:cs typeface="Times New Roman" panose="02020603050405020304" pitchFamily="18" charset="0"/>
              </a:rPr>
              <a:t>进行挣值分析</a:t>
            </a:r>
          </a:p>
        </p:txBody>
      </p:sp>
      <p:sp>
        <p:nvSpPr>
          <p:cNvPr id="4" name="TextBox 3">
            <a:extLst>
              <a:ext uri="{FF2B5EF4-FFF2-40B4-BE49-F238E27FC236}">
                <a16:creationId xmlns:a16="http://schemas.microsoft.com/office/drawing/2014/main" id="{CF168F5E-7C5C-4E29-A17B-D9DFC91FC560}"/>
              </a:ext>
            </a:extLst>
          </p:cNvPr>
          <p:cNvSpPr txBox="1"/>
          <p:nvPr/>
        </p:nvSpPr>
        <p:spPr>
          <a:xfrm>
            <a:off x="978264" y="1389734"/>
            <a:ext cx="3759362" cy="2104872"/>
          </a:xfrm>
          <a:prstGeom prst="rect">
            <a:avLst/>
          </a:prstGeom>
          <a:noFill/>
        </p:spPr>
        <p:txBody>
          <a:bodyPr wrap="none">
            <a:spAutoFit/>
          </a:bodyPr>
          <a:lstStyle/>
          <a:p>
            <a:pPr>
              <a:lnSpc>
                <a:spcPct val="150000"/>
              </a:lnSpc>
              <a:buFont typeface="Wingdings" pitchFamily="2" charset="2"/>
              <a:buChar char="u"/>
              <a:defRPr/>
            </a:pPr>
            <a:r>
              <a:rPr lang="zh-CN" altLang="en-US" dirty="0">
                <a:latin typeface="+mj-ea"/>
                <a:ea typeface="+mj-ea"/>
              </a:rPr>
              <a:t>项目进度计划</a:t>
            </a:r>
            <a:endParaRPr lang="en-US" altLang="zh-CN" dirty="0">
              <a:latin typeface="+mj-ea"/>
              <a:ea typeface="+mj-ea"/>
            </a:endParaRPr>
          </a:p>
          <a:p>
            <a:pPr>
              <a:lnSpc>
                <a:spcPct val="150000"/>
              </a:lnSpc>
              <a:buFont typeface="Wingdings" pitchFamily="2" charset="2"/>
              <a:buChar char="u"/>
              <a:defRPr/>
            </a:pPr>
            <a:r>
              <a:rPr lang="zh-CN" altLang="en-US" dirty="0">
                <a:latin typeface="+mj-ea"/>
                <a:ea typeface="+mj-ea"/>
              </a:rPr>
              <a:t>设置资源投入和资源费率</a:t>
            </a:r>
            <a:endParaRPr lang="en-US" altLang="zh-CN" dirty="0">
              <a:latin typeface="+mj-ea"/>
              <a:ea typeface="+mj-ea"/>
            </a:endParaRPr>
          </a:p>
          <a:p>
            <a:pPr>
              <a:lnSpc>
                <a:spcPct val="150000"/>
              </a:lnSpc>
              <a:buFont typeface="Wingdings" pitchFamily="2" charset="2"/>
              <a:buChar char="u"/>
              <a:defRPr/>
            </a:pPr>
            <a:r>
              <a:rPr lang="zh-CN" altLang="en-US" dirty="0">
                <a:latin typeface="+mj-ea"/>
                <a:ea typeface="+mj-ea"/>
              </a:rPr>
              <a:t>项目基线，存为比较基准</a:t>
            </a:r>
            <a:endParaRPr lang="en-US" altLang="zh-CN" dirty="0">
              <a:latin typeface="+mj-ea"/>
              <a:ea typeface="+mj-ea"/>
            </a:endParaRPr>
          </a:p>
          <a:p>
            <a:pPr>
              <a:lnSpc>
                <a:spcPct val="150000"/>
              </a:lnSpc>
              <a:buFont typeface="Wingdings" pitchFamily="2" charset="2"/>
              <a:buChar char="u"/>
              <a:defRPr/>
            </a:pPr>
            <a:r>
              <a:rPr lang="zh-CN" altLang="en-US" dirty="0">
                <a:latin typeface="+mj-ea"/>
                <a:ea typeface="+mj-ea"/>
              </a:rPr>
              <a:t>模拟项目进展，填写完工比例</a:t>
            </a:r>
            <a:endParaRPr lang="en-US" altLang="zh-CN" dirty="0">
              <a:latin typeface="+mj-ea"/>
              <a:ea typeface="+mj-ea"/>
            </a:endParaRPr>
          </a:p>
          <a:p>
            <a:pPr>
              <a:lnSpc>
                <a:spcPct val="150000"/>
              </a:lnSpc>
              <a:buFont typeface="Wingdings" pitchFamily="2" charset="2"/>
              <a:buChar char="u"/>
              <a:defRPr/>
            </a:pPr>
            <a:r>
              <a:rPr lang="zh-CN" altLang="en-US" dirty="0">
                <a:latin typeface="+mj-ea"/>
                <a:ea typeface="+mj-ea"/>
              </a:rPr>
              <a:t>视图</a:t>
            </a:r>
            <a:r>
              <a:rPr lang="en-US" altLang="zh-CN" dirty="0">
                <a:latin typeface="+mj-ea"/>
                <a:ea typeface="+mj-ea"/>
              </a:rPr>
              <a:t>-&gt;</a:t>
            </a:r>
            <a:r>
              <a:rPr lang="zh-CN" altLang="en-US" dirty="0">
                <a:latin typeface="+mj-ea"/>
                <a:ea typeface="+mj-ea"/>
              </a:rPr>
              <a:t>表</a:t>
            </a:r>
            <a:r>
              <a:rPr lang="en-US" altLang="zh-CN" dirty="0">
                <a:latin typeface="+mj-ea"/>
                <a:ea typeface="+mj-ea"/>
              </a:rPr>
              <a:t>-&gt;</a:t>
            </a:r>
            <a:r>
              <a:rPr lang="zh-CN" altLang="en-US" dirty="0">
                <a:latin typeface="+mj-ea"/>
                <a:ea typeface="+mj-ea"/>
              </a:rPr>
              <a:t>其他表 选择盈余分析</a:t>
            </a:r>
            <a:endParaRPr lang="en-US" altLang="zh-CN" dirty="0">
              <a:latin typeface="+mj-ea"/>
              <a:ea typeface="+mj-ea"/>
            </a:endParaRPr>
          </a:p>
        </p:txBody>
      </p:sp>
      <p:pic>
        <p:nvPicPr>
          <p:cNvPr id="74754" name="Picture 2">
            <a:extLst>
              <a:ext uri="{FF2B5EF4-FFF2-40B4-BE49-F238E27FC236}">
                <a16:creationId xmlns:a16="http://schemas.microsoft.com/office/drawing/2014/main" id="{34D3EFA7-4235-4721-8CC8-D1F8A58EBA19}"/>
              </a:ext>
            </a:extLst>
          </p:cNvPr>
          <p:cNvPicPr>
            <a:picLocks noChangeAspect="1" noChangeArrowheads="1"/>
          </p:cNvPicPr>
          <p:nvPr/>
        </p:nvPicPr>
        <p:blipFill>
          <a:blip r:embed="rId2"/>
          <a:srcRect/>
          <a:stretch>
            <a:fillRect/>
          </a:stretch>
        </p:blipFill>
        <p:spPr bwMode="auto">
          <a:xfrm>
            <a:off x="5642014" y="1528109"/>
            <a:ext cx="4572000" cy="2019300"/>
          </a:xfrm>
          <a:prstGeom prst="rect">
            <a:avLst/>
          </a:prstGeom>
          <a:ln>
            <a:headEnd/>
            <a:tailEnd/>
          </a:ln>
        </p:spPr>
        <p:style>
          <a:lnRef idx="1">
            <a:schemeClr val="dk1"/>
          </a:lnRef>
          <a:fillRef idx="2">
            <a:schemeClr val="dk1"/>
          </a:fillRef>
          <a:effectRef idx="1">
            <a:schemeClr val="dk1"/>
          </a:effectRef>
          <a:fontRef idx="minor">
            <a:schemeClr val="dk1"/>
          </a:fontRef>
        </p:style>
      </p:pic>
      <p:pic>
        <p:nvPicPr>
          <p:cNvPr id="74755" name="Picture 3">
            <a:extLst>
              <a:ext uri="{FF2B5EF4-FFF2-40B4-BE49-F238E27FC236}">
                <a16:creationId xmlns:a16="http://schemas.microsoft.com/office/drawing/2014/main" id="{C3B4CE1C-A9C1-4128-AC4C-30F249019623}"/>
              </a:ext>
            </a:extLst>
          </p:cNvPr>
          <p:cNvPicPr>
            <a:picLocks noChangeAspect="1" noChangeArrowheads="1"/>
          </p:cNvPicPr>
          <p:nvPr/>
        </p:nvPicPr>
        <p:blipFill>
          <a:blip r:embed="rId3"/>
          <a:srcRect/>
          <a:stretch>
            <a:fillRect/>
          </a:stretch>
        </p:blipFill>
        <p:spPr bwMode="auto">
          <a:xfrm>
            <a:off x="2024063" y="3929064"/>
            <a:ext cx="3929062" cy="1990725"/>
          </a:xfrm>
          <a:prstGeom prst="rect">
            <a:avLst/>
          </a:prstGeom>
          <a:ln>
            <a:headEnd/>
            <a:tailEnd/>
          </a:ln>
        </p:spPr>
        <p:style>
          <a:lnRef idx="1">
            <a:schemeClr val="dk1"/>
          </a:lnRef>
          <a:fillRef idx="2">
            <a:schemeClr val="dk1"/>
          </a:fillRef>
          <a:effectRef idx="1">
            <a:schemeClr val="dk1"/>
          </a:effectRef>
          <a:fontRef idx="minor">
            <a:schemeClr val="dk1"/>
          </a:fontRef>
        </p:style>
      </p:pic>
      <p:pic>
        <p:nvPicPr>
          <p:cNvPr id="74756" name="Picture 4">
            <a:extLst>
              <a:ext uri="{FF2B5EF4-FFF2-40B4-BE49-F238E27FC236}">
                <a16:creationId xmlns:a16="http://schemas.microsoft.com/office/drawing/2014/main" id="{130F5621-727D-4020-8F8A-10978DC2035D}"/>
              </a:ext>
            </a:extLst>
          </p:cNvPr>
          <p:cNvPicPr>
            <a:picLocks noChangeAspect="1" noChangeArrowheads="1"/>
          </p:cNvPicPr>
          <p:nvPr/>
        </p:nvPicPr>
        <p:blipFill>
          <a:blip r:embed="rId4"/>
          <a:srcRect/>
          <a:stretch>
            <a:fillRect/>
          </a:stretch>
        </p:blipFill>
        <p:spPr bwMode="auto">
          <a:xfrm>
            <a:off x="6183122" y="3919538"/>
            <a:ext cx="4071938" cy="2000250"/>
          </a:xfrm>
          <a:prstGeom prst="rect">
            <a:avLst/>
          </a:prstGeom>
          <a:ln>
            <a:headEnd/>
            <a:tailEnd/>
          </a:ln>
        </p:spPr>
        <p:style>
          <a:lnRef idx="1">
            <a:schemeClr val="dk1"/>
          </a:lnRef>
          <a:fillRef idx="2">
            <a:schemeClr val="dk1"/>
          </a:fillRef>
          <a:effectRef idx="1">
            <a:schemeClr val="dk1"/>
          </a:effectRef>
          <a:fontRef idx="minor">
            <a:schemeClr val="dk1"/>
          </a:fontRef>
        </p:style>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6347CFFF-852D-4447-B677-335B25C00D4C}"/>
              </a:ext>
            </a:extLst>
          </p:cNvPr>
          <p:cNvSpPr txBox="1">
            <a:spLocks/>
          </p:cNvSpPr>
          <p:nvPr/>
        </p:nvSpPr>
        <p:spPr>
          <a:xfrm>
            <a:off x="1775012" y="1480039"/>
            <a:ext cx="8485001" cy="264158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2000" dirty="0">
                <a:latin typeface="Times New Roman" panose="02020603050405020304" pitchFamily="18" charset="0"/>
                <a:cs typeface="Times New Roman" panose="02020603050405020304" pitchFamily="18" charset="0"/>
              </a:rPr>
              <a:t>练习</a:t>
            </a:r>
            <a:endParaRPr lang="en-US" altLang="zh-CN" sz="2000" dirty="0">
              <a:latin typeface="Times New Roman" panose="02020603050405020304" pitchFamily="18" charset="0"/>
              <a:cs typeface="Times New Roman" panose="02020603050405020304" pitchFamily="18" charset="0"/>
            </a:endParaRPr>
          </a:p>
          <a:p>
            <a:pPr lvl="1"/>
            <a:r>
              <a:rPr lang="zh-CN" altLang="en-US" sz="2000" dirty="0">
                <a:latin typeface="Times New Roman" panose="02020603050405020304" pitchFamily="18" charset="0"/>
                <a:cs typeface="Times New Roman" panose="02020603050405020304" pitchFamily="18" charset="0"/>
              </a:rPr>
              <a:t>项目实现值分析数据如下：</a:t>
            </a:r>
            <a:r>
              <a:rPr lang="en-US" altLang="zh-CN" sz="2000" dirty="0">
                <a:latin typeface="Times New Roman" panose="02020603050405020304" pitchFamily="18" charset="0"/>
                <a:cs typeface="Times New Roman" panose="02020603050405020304" pitchFamily="18" charset="0"/>
              </a:rPr>
              <a:t>EV=523000</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PV=623000</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AC=643000</a:t>
            </a:r>
            <a:r>
              <a:rPr lang="zh-CN" altLang="en-US" sz="2000" dirty="0">
                <a:latin typeface="Times New Roman" panose="02020603050405020304" pitchFamily="18" charset="0"/>
                <a:cs typeface="Times New Roman" panose="02020603050405020304" pitchFamily="18" charset="0"/>
              </a:rPr>
              <a:t>；下列哪个结果是正确的？</a:t>
            </a:r>
          </a:p>
          <a:p>
            <a:pPr marL="914400" lvl="2" indent="0">
              <a:buNone/>
            </a:pPr>
            <a:r>
              <a:rPr lang="en-US" altLang="zh-CN" sz="2000" dirty="0">
                <a:latin typeface="Times New Roman" panose="02020603050405020304" pitchFamily="18" charset="0"/>
                <a:cs typeface="Times New Roman" panose="02020603050405020304" pitchFamily="18" charset="0"/>
              </a:rPr>
              <a:t>A</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CV: +120,000; SV: +100,000</a:t>
            </a:r>
          </a:p>
          <a:p>
            <a:pPr marL="914400" lvl="2" indent="0">
              <a:buNone/>
            </a:pPr>
            <a:r>
              <a:rPr lang="en-US" altLang="zh-CN" sz="2000" dirty="0">
                <a:latin typeface="Times New Roman" panose="02020603050405020304" pitchFamily="18" charset="0"/>
                <a:cs typeface="Times New Roman" panose="02020603050405020304" pitchFamily="18" charset="0"/>
              </a:rPr>
              <a:t>B</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CV: +100,000; SV: +120,000</a:t>
            </a:r>
          </a:p>
          <a:p>
            <a:pPr marL="914400" lvl="2" indent="0">
              <a:buNone/>
            </a:pPr>
            <a:r>
              <a:rPr lang="en-US" altLang="zh-CN" sz="2000" dirty="0">
                <a:latin typeface="Times New Roman" panose="02020603050405020304" pitchFamily="18" charset="0"/>
                <a:cs typeface="Times New Roman" panose="02020603050405020304" pitchFamily="18" charset="0"/>
              </a:rPr>
              <a:t>C</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CV: -100,000; SV: -120,000</a:t>
            </a:r>
          </a:p>
          <a:p>
            <a:pPr marL="914400" lvl="2" indent="0">
              <a:buNone/>
            </a:pPr>
            <a:r>
              <a:rPr lang="en-US" altLang="zh-CN" sz="2000" dirty="0">
                <a:latin typeface="Times New Roman" panose="02020603050405020304" pitchFamily="18" charset="0"/>
                <a:cs typeface="Times New Roman" panose="02020603050405020304" pitchFamily="18" charset="0"/>
              </a:rPr>
              <a:t>D</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CV: -120,000; SV: -100,000</a:t>
            </a:r>
          </a:p>
          <a:p>
            <a:pPr lvl="1"/>
            <a:endParaRPr lang="zh-CN" altLang="en-US" dirty="0"/>
          </a:p>
        </p:txBody>
      </p:sp>
    </p:spTree>
    <p:extLst>
      <p:ext uri="{BB962C8B-B14F-4D97-AF65-F5344CB8AC3E}">
        <p14:creationId xmlns:p14="http://schemas.microsoft.com/office/powerpoint/2010/main" val="2609881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EF7D992C-9E32-5388-E8CC-44CC9E5E8726}"/>
              </a:ext>
            </a:extLst>
          </p:cNvPr>
          <p:cNvSpPr>
            <a:spLocks noGrp="1"/>
          </p:cNvSpPr>
          <p:nvPr>
            <p:ph type="title"/>
          </p:nvPr>
        </p:nvSpPr>
        <p:spPr>
          <a:xfrm>
            <a:off x="613885" y="764292"/>
            <a:ext cx="10972800" cy="662363"/>
          </a:xfrm>
        </p:spPr>
        <p:txBody>
          <a:bodyPr/>
          <a:lstStyle/>
          <a:p>
            <a:r>
              <a:rPr lang="zh-CN" altLang="en-US" dirty="0">
                <a:solidFill>
                  <a:schemeClr val="tx1"/>
                </a:solidFill>
              </a:rPr>
              <a:t>某新能源车企的车机研制共分为以下五个步骤，截至研制过程中的某日，各步骤的进度安排及执行情况如下表所示</a:t>
            </a:r>
          </a:p>
        </p:txBody>
      </p:sp>
      <p:graphicFrame>
        <p:nvGraphicFramePr>
          <p:cNvPr id="6" name="表格 5">
            <a:extLst>
              <a:ext uri="{FF2B5EF4-FFF2-40B4-BE49-F238E27FC236}">
                <a16:creationId xmlns:a16="http://schemas.microsoft.com/office/drawing/2014/main" id="{0EF914CC-CAF8-D697-0A6E-65C3D915BC0B}"/>
              </a:ext>
            </a:extLst>
          </p:cNvPr>
          <p:cNvGraphicFramePr>
            <a:graphicFrameLocks noGrp="1"/>
          </p:cNvGraphicFramePr>
          <p:nvPr/>
        </p:nvGraphicFramePr>
        <p:xfrm>
          <a:off x="2032000" y="2079423"/>
          <a:ext cx="8128000" cy="222504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335117750"/>
                    </a:ext>
                  </a:extLst>
                </a:gridCol>
                <a:gridCol w="1625600">
                  <a:extLst>
                    <a:ext uri="{9D8B030D-6E8A-4147-A177-3AD203B41FA5}">
                      <a16:colId xmlns:a16="http://schemas.microsoft.com/office/drawing/2014/main" val="3360221242"/>
                    </a:ext>
                  </a:extLst>
                </a:gridCol>
                <a:gridCol w="1625600">
                  <a:extLst>
                    <a:ext uri="{9D8B030D-6E8A-4147-A177-3AD203B41FA5}">
                      <a16:colId xmlns:a16="http://schemas.microsoft.com/office/drawing/2014/main" val="2668461337"/>
                    </a:ext>
                  </a:extLst>
                </a:gridCol>
                <a:gridCol w="1625600">
                  <a:extLst>
                    <a:ext uri="{9D8B030D-6E8A-4147-A177-3AD203B41FA5}">
                      <a16:colId xmlns:a16="http://schemas.microsoft.com/office/drawing/2014/main" val="3293973701"/>
                    </a:ext>
                  </a:extLst>
                </a:gridCol>
                <a:gridCol w="1625600">
                  <a:extLst>
                    <a:ext uri="{9D8B030D-6E8A-4147-A177-3AD203B41FA5}">
                      <a16:colId xmlns:a16="http://schemas.microsoft.com/office/drawing/2014/main" val="13461691"/>
                    </a:ext>
                  </a:extLst>
                </a:gridCol>
              </a:tblGrid>
              <a:tr h="370840">
                <a:tc>
                  <a:txBody>
                    <a:bodyPr/>
                    <a:lstStyle/>
                    <a:p>
                      <a:pPr algn="ctr"/>
                      <a:r>
                        <a:rPr lang="zh-CN" altLang="en-US" dirty="0">
                          <a:solidFill>
                            <a:schemeClr val="bg1"/>
                          </a:solidFill>
                        </a:rPr>
                        <a:t>步骤</a:t>
                      </a:r>
                    </a:p>
                  </a:txBody>
                  <a:tcPr/>
                </a:tc>
                <a:tc>
                  <a:txBody>
                    <a:bodyPr/>
                    <a:lstStyle/>
                    <a:p>
                      <a:pPr algn="ctr"/>
                      <a:r>
                        <a:rPr lang="zh-CN" altLang="en-US" dirty="0"/>
                        <a:t>计划成本（元）</a:t>
                      </a:r>
                    </a:p>
                  </a:txBody>
                  <a:tcPr/>
                </a:tc>
                <a:tc>
                  <a:txBody>
                    <a:bodyPr/>
                    <a:lstStyle/>
                    <a:p>
                      <a:pPr algn="ctr"/>
                      <a:r>
                        <a:rPr lang="zh-CN" altLang="en-US" dirty="0"/>
                        <a:t>计划进度</a:t>
                      </a:r>
                    </a:p>
                  </a:txBody>
                  <a:tcPr/>
                </a:tc>
                <a:tc>
                  <a:txBody>
                    <a:bodyPr/>
                    <a:lstStyle/>
                    <a:p>
                      <a:pPr algn="ctr"/>
                      <a:r>
                        <a:rPr lang="zh-CN" altLang="en-US" dirty="0"/>
                        <a:t>实际进度</a:t>
                      </a:r>
                    </a:p>
                  </a:txBody>
                  <a:tcPr/>
                </a:tc>
                <a:tc>
                  <a:txBody>
                    <a:bodyPr/>
                    <a:lstStyle/>
                    <a:p>
                      <a:pPr algn="ctr"/>
                      <a:r>
                        <a:rPr lang="zh-CN" altLang="en-US" dirty="0"/>
                        <a:t>实际花费（元）</a:t>
                      </a:r>
                    </a:p>
                  </a:txBody>
                  <a:tcPr/>
                </a:tc>
                <a:extLst>
                  <a:ext uri="{0D108BD9-81ED-4DB2-BD59-A6C34878D82A}">
                    <a16:rowId xmlns:a16="http://schemas.microsoft.com/office/drawing/2014/main" val="3281526354"/>
                  </a:ext>
                </a:extLst>
              </a:tr>
              <a:tr h="370840">
                <a:tc>
                  <a:txBody>
                    <a:bodyPr/>
                    <a:lstStyle/>
                    <a:p>
                      <a:pPr algn="ctr"/>
                      <a:r>
                        <a:rPr lang="en-US" altLang="zh-CN" dirty="0"/>
                        <a:t>A</a:t>
                      </a:r>
                      <a:endParaRPr lang="zh-CN" altLang="en-US" dirty="0"/>
                    </a:p>
                  </a:txBody>
                  <a:tcPr/>
                </a:tc>
                <a:tc>
                  <a:txBody>
                    <a:bodyPr/>
                    <a:lstStyle/>
                    <a:p>
                      <a:pPr algn="ctr"/>
                      <a:r>
                        <a:rPr lang="en-US" altLang="zh-CN" dirty="0"/>
                        <a:t>10000</a:t>
                      </a:r>
                      <a:endParaRPr lang="zh-CN" altLang="en-US" dirty="0"/>
                    </a:p>
                  </a:txBody>
                  <a:tcPr/>
                </a:tc>
                <a:tc>
                  <a:txBody>
                    <a:bodyPr/>
                    <a:lstStyle/>
                    <a:p>
                      <a:pPr algn="ctr"/>
                      <a:r>
                        <a:rPr lang="en-US" altLang="zh-CN" dirty="0"/>
                        <a:t>80%</a:t>
                      </a:r>
                      <a:endParaRPr lang="zh-CN" altLang="en-US" dirty="0"/>
                    </a:p>
                  </a:txBody>
                  <a:tcPr/>
                </a:tc>
                <a:tc>
                  <a:txBody>
                    <a:bodyPr/>
                    <a:lstStyle/>
                    <a:p>
                      <a:pPr algn="ctr"/>
                      <a:r>
                        <a:rPr lang="en-US" altLang="zh-CN" dirty="0"/>
                        <a:t>90%</a:t>
                      </a:r>
                      <a:endParaRPr lang="zh-CN" altLang="en-US" dirty="0"/>
                    </a:p>
                  </a:txBody>
                  <a:tcPr/>
                </a:tc>
                <a:tc>
                  <a:txBody>
                    <a:bodyPr/>
                    <a:lstStyle/>
                    <a:p>
                      <a:pPr algn="ctr"/>
                      <a:r>
                        <a:rPr lang="en-US" altLang="zh-CN" dirty="0"/>
                        <a:t>9500</a:t>
                      </a:r>
                      <a:endParaRPr lang="zh-CN" altLang="en-US" dirty="0"/>
                    </a:p>
                  </a:txBody>
                  <a:tcPr/>
                </a:tc>
                <a:extLst>
                  <a:ext uri="{0D108BD9-81ED-4DB2-BD59-A6C34878D82A}">
                    <a16:rowId xmlns:a16="http://schemas.microsoft.com/office/drawing/2014/main" val="3925689766"/>
                  </a:ext>
                </a:extLst>
              </a:tr>
              <a:tr h="370840">
                <a:tc>
                  <a:txBody>
                    <a:bodyPr/>
                    <a:lstStyle/>
                    <a:p>
                      <a:pPr algn="ctr"/>
                      <a:r>
                        <a:rPr lang="en-US" altLang="zh-CN" dirty="0"/>
                        <a:t>B</a:t>
                      </a:r>
                      <a:endParaRPr lang="zh-CN" altLang="en-US" dirty="0"/>
                    </a:p>
                  </a:txBody>
                  <a:tcPr/>
                </a:tc>
                <a:tc>
                  <a:txBody>
                    <a:bodyPr/>
                    <a:lstStyle/>
                    <a:p>
                      <a:pPr algn="ctr"/>
                      <a:r>
                        <a:rPr lang="en-US" altLang="zh-CN" dirty="0"/>
                        <a:t>20000</a:t>
                      </a:r>
                      <a:endParaRPr lang="zh-CN" altLang="en-US" dirty="0"/>
                    </a:p>
                  </a:txBody>
                  <a:tcPr/>
                </a:tc>
                <a:tc>
                  <a:txBody>
                    <a:bodyPr/>
                    <a:lstStyle/>
                    <a:p>
                      <a:pPr algn="ctr"/>
                      <a:r>
                        <a:rPr lang="en-US" altLang="zh-CN" dirty="0"/>
                        <a:t>70%</a:t>
                      </a:r>
                      <a:endParaRPr lang="zh-CN" altLang="en-US" dirty="0"/>
                    </a:p>
                  </a:txBody>
                  <a:tcPr/>
                </a:tc>
                <a:tc>
                  <a:txBody>
                    <a:bodyPr/>
                    <a:lstStyle/>
                    <a:p>
                      <a:pPr algn="ctr"/>
                      <a:r>
                        <a:rPr lang="en-US" altLang="zh-CN" dirty="0"/>
                        <a:t>60%</a:t>
                      </a:r>
                      <a:endParaRPr lang="zh-CN" altLang="en-US" dirty="0"/>
                    </a:p>
                  </a:txBody>
                  <a:tcPr/>
                </a:tc>
                <a:tc>
                  <a:txBody>
                    <a:bodyPr/>
                    <a:lstStyle/>
                    <a:p>
                      <a:pPr algn="ctr"/>
                      <a:r>
                        <a:rPr lang="en-US" altLang="zh-CN" dirty="0"/>
                        <a:t>13000</a:t>
                      </a:r>
                      <a:endParaRPr lang="zh-CN" altLang="en-US" dirty="0"/>
                    </a:p>
                  </a:txBody>
                  <a:tcPr/>
                </a:tc>
                <a:extLst>
                  <a:ext uri="{0D108BD9-81ED-4DB2-BD59-A6C34878D82A}">
                    <a16:rowId xmlns:a16="http://schemas.microsoft.com/office/drawing/2014/main" val="806398578"/>
                  </a:ext>
                </a:extLst>
              </a:tr>
              <a:tr h="370840">
                <a:tc>
                  <a:txBody>
                    <a:bodyPr/>
                    <a:lstStyle/>
                    <a:p>
                      <a:pPr algn="ctr"/>
                      <a:r>
                        <a:rPr lang="en-US" altLang="zh-CN" dirty="0"/>
                        <a:t>C</a:t>
                      </a:r>
                      <a:endParaRPr lang="zh-CN" altLang="en-US" dirty="0"/>
                    </a:p>
                  </a:txBody>
                  <a:tcPr/>
                </a:tc>
                <a:tc>
                  <a:txBody>
                    <a:bodyPr/>
                    <a:lstStyle/>
                    <a:p>
                      <a:pPr algn="ctr"/>
                      <a:r>
                        <a:rPr lang="en-US" altLang="zh-CN" dirty="0"/>
                        <a:t>15000</a:t>
                      </a:r>
                      <a:endParaRPr lang="zh-CN" altLang="en-US" dirty="0"/>
                    </a:p>
                  </a:txBody>
                  <a:tcPr/>
                </a:tc>
                <a:tc>
                  <a:txBody>
                    <a:bodyPr/>
                    <a:lstStyle/>
                    <a:p>
                      <a:pPr algn="ctr"/>
                      <a:r>
                        <a:rPr lang="en-US" altLang="zh-CN" dirty="0"/>
                        <a:t>90%</a:t>
                      </a:r>
                      <a:endParaRPr lang="zh-CN" altLang="en-US" dirty="0"/>
                    </a:p>
                  </a:txBody>
                  <a:tcPr/>
                </a:tc>
                <a:tc>
                  <a:txBody>
                    <a:bodyPr/>
                    <a:lstStyle/>
                    <a:p>
                      <a:pPr algn="ctr"/>
                      <a:r>
                        <a:rPr lang="en-US" altLang="zh-CN" dirty="0"/>
                        <a:t>85%</a:t>
                      </a:r>
                      <a:endParaRPr lang="zh-CN" altLang="en-US" dirty="0"/>
                    </a:p>
                  </a:txBody>
                  <a:tcPr/>
                </a:tc>
                <a:tc>
                  <a:txBody>
                    <a:bodyPr/>
                    <a:lstStyle/>
                    <a:p>
                      <a:pPr algn="ctr"/>
                      <a:r>
                        <a:rPr lang="en-US" altLang="zh-CN" dirty="0"/>
                        <a:t>13500</a:t>
                      </a:r>
                      <a:endParaRPr lang="zh-CN" altLang="en-US" dirty="0"/>
                    </a:p>
                  </a:txBody>
                  <a:tcPr/>
                </a:tc>
                <a:extLst>
                  <a:ext uri="{0D108BD9-81ED-4DB2-BD59-A6C34878D82A}">
                    <a16:rowId xmlns:a16="http://schemas.microsoft.com/office/drawing/2014/main" val="2576226275"/>
                  </a:ext>
                </a:extLst>
              </a:tr>
              <a:tr h="370840">
                <a:tc>
                  <a:txBody>
                    <a:bodyPr/>
                    <a:lstStyle/>
                    <a:p>
                      <a:pPr algn="ctr"/>
                      <a:r>
                        <a:rPr lang="en-US" altLang="zh-CN" dirty="0"/>
                        <a:t>D</a:t>
                      </a:r>
                      <a:endParaRPr lang="zh-CN" altLang="en-US" dirty="0"/>
                    </a:p>
                  </a:txBody>
                  <a:tcPr/>
                </a:tc>
                <a:tc>
                  <a:txBody>
                    <a:bodyPr/>
                    <a:lstStyle/>
                    <a:p>
                      <a:pPr algn="ctr"/>
                      <a:r>
                        <a:rPr lang="en-US" altLang="zh-CN" dirty="0"/>
                        <a:t>5000</a:t>
                      </a:r>
                      <a:endParaRPr lang="zh-CN" altLang="en-US" dirty="0"/>
                    </a:p>
                  </a:txBody>
                  <a:tcPr/>
                </a:tc>
                <a:tc>
                  <a:txBody>
                    <a:bodyPr/>
                    <a:lstStyle/>
                    <a:p>
                      <a:pPr algn="ctr"/>
                      <a:r>
                        <a:rPr lang="en-US" altLang="zh-CN" dirty="0"/>
                        <a:t>60%</a:t>
                      </a:r>
                      <a:endParaRPr lang="zh-CN" altLang="en-US" dirty="0"/>
                    </a:p>
                  </a:txBody>
                  <a:tcPr/>
                </a:tc>
                <a:tc>
                  <a:txBody>
                    <a:bodyPr/>
                    <a:lstStyle/>
                    <a:p>
                      <a:pPr algn="ctr"/>
                      <a:r>
                        <a:rPr lang="en-US" altLang="zh-CN" dirty="0"/>
                        <a:t>65%</a:t>
                      </a:r>
                      <a:endParaRPr lang="zh-CN" altLang="en-US" dirty="0"/>
                    </a:p>
                  </a:txBody>
                  <a:tcPr/>
                </a:tc>
                <a:tc>
                  <a:txBody>
                    <a:bodyPr/>
                    <a:lstStyle/>
                    <a:p>
                      <a:pPr algn="ctr"/>
                      <a:r>
                        <a:rPr lang="en-US" altLang="zh-CN" dirty="0"/>
                        <a:t>1500</a:t>
                      </a:r>
                      <a:endParaRPr lang="zh-CN" altLang="en-US" dirty="0"/>
                    </a:p>
                  </a:txBody>
                  <a:tcPr/>
                </a:tc>
                <a:extLst>
                  <a:ext uri="{0D108BD9-81ED-4DB2-BD59-A6C34878D82A}">
                    <a16:rowId xmlns:a16="http://schemas.microsoft.com/office/drawing/2014/main" val="1532079549"/>
                  </a:ext>
                </a:extLst>
              </a:tr>
              <a:tr h="370840">
                <a:tc>
                  <a:txBody>
                    <a:bodyPr/>
                    <a:lstStyle/>
                    <a:p>
                      <a:pPr algn="ctr"/>
                      <a:r>
                        <a:rPr lang="en-US" altLang="zh-CN" dirty="0"/>
                        <a:t>E</a:t>
                      </a:r>
                      <a:endParaRPr lang="zh-CN" altLang="en-US" dirty="0"/>
                    </a:p>
                  </a:txBody>
                  <a:tcPr/>
                </a:tc>
                <a:tc>
                  <a:txBody>
                    <a:bodyPr/>
                    <a:lstStyle/>
                    <a:p>
                      <a:pPr algn="ctr"/>
                      <a:r>
                        <a:rPr lang="en-US" altLang="zh-CN" dirty="0"/>
                        <a:t>10000</a:t>
                      </a:r>
                      <a:endParaRPr lang="zh-CN" altLang="en-US" dirty="0"/>
                    </a:p>
                  </a:txBody>
                  <a:tcPr/>
                </a:tc>
                <a:tc>
                  <a:txBody>
                    <a:bodyPr/>
                    <a:lstStyle/>
                    <a:p>
                      <a:pPr algn="ctr"/>
                      <a:r>
                        <a:rPr lang="en-US" altLang="zh-CN" dirty="0"/>
                        <a:t>50%</a:t>
                      </a:r>
                      <a:endParaRPr lang="zh-CN" altLang="en-US" dirty="0"/>
                    </a:p>
                  </a:txBody>
                  <a:tcPr/>
                </a:tc>
                <a:tc>
                  <a:txBody>
                    <a:bodyPr/>
                    <a:lstStyle/>
                    <a:p>
                      <a:pPr algn="ctr"/>
                      <a:r>
                        <a:rPr lang="en-US" altLang="zh-CN" dirty="0"/>
                        <a:t>50%</a:t>
                      </a:r>
                      <a:endParaRPr lang="zh-CN" altLang="en-US" dirty="0"/>
                    </a:p>
                  </a:txBody>
                  <a:tcPr/>
                </a:tc>
                <a:tc>
                  <a:txBody>
                    <a:bodyPr/>
                    <a:lstStyle/>
                    <a:p>
                      <a:pPr algn="ctr"/>
                      <a:r>
                        <a:rPr lang="en-US" altLang="zh-CN" dirty="0"/>
                        <a:t>4000</a:t>
                      </a:r>
                      <a:endParaRPr lang="zh-CN" altLang="en-US" dirty="0"/>
                    </a:p>
                  </a:txBody>
                  <a:tcPr/>
                </a:tc>
                <a:extLst>
                  <a:ext uri="{0D108BD9-81ED-4DB2-BD59-A6C34878D82A}">
                    <a16:rowId xmlns:a16="http://schemas.microsoft.com/office/drawing/2014/main" val="3413860413"/>
                  </a:ext>
                </a:extLst>
              </a:tr>
            </a:tbl>
          </a:graphicData>
        </a:graphic>
      </p:graphicFrame>
      <p:sp>
        <p:nvSpPr>
          <p:cNvPr id="7" name="文本框 6">
            <a:extLst>
              <a:ext uri="{FF2B5EF4-FFF2-40B4-BE49-F238E27FC236}">
                <a16:creationId xmlns:a16="http://schemas.microsoft.com/office/drawing/2014/main" id="{BA19BE92-7854-D324-C23B-0A29C890895D}"/>
              </a:ext>
            </a:extLst>
          </p:cNvPr>
          <p:cNvSpPr txBox="1"/>
          <p:nvPr/>
        </p:nvSpPr>
        <p:spPr>
          <a:xfrm>
            <a:off x="726892" y="4470641"/>
            <a:ext cx="10738216" cy="369332"/>
          </a:xfrm>
          <a:prstGeom prst="rect">
            <a:avLst/>
          </a:prstGeom>
          <a:noFill/>
        </p:spPr>
        <p:txBody>
          <a:bodyPr wrap="square" rtlCol="0">
            <a:spAutoFit/>
          </a:bodyPr>
          <a:lstStyle/>
          <a:p>
            <a:pPr algn="ctr"/>
            <a:r>
              <a:rPr lang="zh-CN" altLang="zh-CN" sz="1800" b="1" kern="100" dirty="0">
                <a:effectLst/>
                <a:latin typeface="等线" panose="02010600030101010101" pitchFamily="2" charset="-122"/>
                <a:ea typeface="等线" panose="02010600030101010101" pitchFamily="2" charset="-122"/>
                <a:cs typeface="Times New Roman" panose="02020603050405020304" pitchFamily="18" charset="0"/>
              </a:rPr>
              <a:t>请计算截至</a:t>
            </a:r>
            <a:r>
              <a:rPr lang="zh-CN" altLang="en-US" b="1" kern="100" dirty="0">
                <a:latin typeface="等线" panose="02010600030101010101" pitchFamily="2" charset="-122"/>
                <a:ea typeface="等线" panose="02010600030101010101" pitchFamily="2" charset="-122"/>
                <a:cs typeface="Times New Roman" panose="02020603050405020304" pitchFamily="18" charset="0"/>
              </a:rPr>
              <a:t>目前</a:t>
            </a:r>
            <a:r>
              <a:rPr lang="zh-CN" altLang="zh-CN" sz="1800" b="1" kern="100" dirty="0">
                <a:effectLst/>
                <a:latin typeface="等线" panose="02010600030101010101" pitchFamily="2" charset="-122"/>
                <a:ea typeface="等线" panose="02010600030101010101" pitchFamily="2" charset="-122"/>
                <a:cs typeface="Times New Roman" panose="02020603050405020304" pitchFamily="18" charset="0"/>
              </a:rPr>
              <a:t>，各</a:t>
            </a:r>
            <a:r>
              <a:rPr lang="zh-CN" altLang="en-US" b="1" kern="100" dirty="0">
                <a:latin typeface="等线" panose="02010600030101010101" pitchFamily="2" charset="-122"/>
                <a:ea typeface="等线" panose="02010600030101010101" pitchFamily="2" charset="-122"/>
                <a:cs typeface="Times New Roman" panose="02020603050405020304" pitchFamily="18" charset="0"/>
              </a:rPr>
              <a:t>步骤</a:t>
            </a:r>
            <a:r>
              <a:rPr lang="zh-CN" altLang="zh-CN" sz="1800" b="1" kern="100" dirty="0">
                <a:effectLst/>
                <a:latin typeface="等线" panose="02010600030101010101" pitchFamily="2" charset="-122"/>
                <a:ea typeface="等线" panose="02010600030101010101" pitchFamily="2" charset="-122"/>
                <a:cs typeface="Times New Roman" panose="02020603050405020304" pitchFamily="18" charset="0"/>
              </a:rPr>
              <a:t>的挣值、</a:t>
            </a:r>
            <a:r>
              <a:rPr lang="zh-CN" altLang="en-US" sz="1800" b="1" kern="100" dirty="0">
                <a:effectLst/>
                <a:latin typeface="等线" panose="02010600030101010101" pitchFamily="2" charset="-122"/>
                <a:ea typeface="等线" panose="02010600030101010101" pitchFamily="2" charset="-122"/>
                <a:cs typeface="Times New Roman" panose="02020603050405020304" pitchFamily="18" charset="0"/>
              </a:rPr>
              <a:t>车机研制项目</a:t>
            </a:r>
            <a:r>
              <a:rPr lang="zh-CN" altLang="zh-CN" sz="1800" b="1" kern="100" dirty="0">
                <a:effectLst/>
                <a:latin typeface="等线" panose="02010600030101010101" pitchFamily="2" charset="-122"/>
                <a:ea typeface="等线" panose="02010600030101010101" pitchFamily="2" charset="-122"/>
                <a:cs typeface="Times New Roman" panose="02020603050405020304" pitchFamily="18" charset="0"/>
              </a:rPr>
              <a:t>的</a:t>
            </a:r>
            <a:r>
              <a:rPr lang="en-US" altLang="zh-CN" sz="1800" b="1" kern="100" dirty="0">
                <a:effectLst/>
                <a:latin typeface="等线" panose="02010600030101010101" pitchFamily="2" charset="-122"/>
                <a:ea typeface="等线" panose="02010600030101010101" pitchFamily="2" charset="-122"/>
                <a:cs typeface="Times New Roman" panose="02020603050405020304" pitchFamily="18" charset="0"/>
              </a:rPr>
              <a:t>SPI</a:t>
            </a:r>
            <a:r>
              <a:rPr lang="zh-CN" altLang="en-US" sz="1800" b="1"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b="1" kern="100" dirty="0">
                <a:effectLst/>
                <a:latin typeface="等线" panose="02010600030101010101" pitchFamily="2" charset="-122"/>
                <a:ea typeface="等线" panose="02010600030101010101" pitchFamily="2" charset="-122"/>
                <a:cs typeface="Times New Roman" panose="02020603050405020304" pitchFamily="18" charset="0"/>
              </a:rPr>
              <a:t>CPI</a:t>
            </a:r>
            <a:r>
              <a:rPr lang="zh-CN" altLang="en-US" sz="1800" b="1"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b="1" kern="100" dirty="0">
                <a:effectLst/>
                <a:latin typeface="等线" panose="02010600030101010101" pitchFamily="2" charset="-122"/>
                <a:ea typeface="等线" panose="02010600030101010101" pitchFamily="2" charset="-122"/>
                <a:cs typeface="Times New Roman" panose="02020603050405020304" pitchFamily="18" charset="0"/>
              </a:rPr>
              <a:t>SV</a:t>
            </a:r>
            <a:r>
              <a:rPr lang="zh-CN" altLang="en-US" sz="1800" b="1"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b="1" kern="100" dirty="0">
                <a:effectLst/>
                <a:latin typeface="等线" panose="02010600030101010101" pitchFamily="2" charset="-122"/>
                <a:ea typeface="等线" panose="02010600030101010101" pitchFamily="2" charset="-122"/>
                <a:cs typeface="Times New Roman" panose="02020603050405020304" pitchFamily="18" charset="0"/>
              </a:rPr>
              <a:t>CV,</a:t>
            </a:r>
            <a:r>
              <a:rPr lang="zh-CN" altLang="zh-CN" sz="1800" b="1" kern="100" dirty="0">
                <a:effectLst/>
                <a:latin typeface="等线" panose="02010600030101010101" pitchFamily="2" charset="-122"/>
                <a:ea typeface="等线" panose="02010600030101010101" pitchFamily="2" charset="-122"/>
                <a:cs typeface="Times New Roman" panose="02020603050405020304" pitchFamily="18" charset="0"/>
              </a:rPr>
              <a:t>并判断目前的执行绩效。</a:t>
            </a:r>
          </a:p>
        </p:txBody>
      </p:sp>
    </p:spTree>
    <p:extLst>
      <p:ext uri="{BB962C8B-B14F-4D97-AF65-F5344CB8AC3E}">
        <p14:creationId xmlns:p14="http://schemas.microsoft.com/office/powerpoint/2010/main" val="3930573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ln w="19050">
          <a:solidFill>
            <a:schemeClr val="tx1">
              <a:lumMod val="75000"/>
              <a:lumOff val="25000"/>
            </a:schemeClr>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28215</TotalTime>
  <Words>31822</Words>
  <Application>Microsoft Office PowerPoint</Application>
  <PresentationFormat>宽屏</PresentationFormat>
  <Paragraphs>2177</Paragraphs>
  <Slides>112</Slides>
  <Notes>102</Notes>
  <HiddenSlides>5</HiddenSlides>
  <MMClips>0</MMClips>
  <ScaleCrop>false</ScaleCrop>
  <HeadingPairs>
    <vt:vector size="8" baseType="variant">
      <vt:variant>
        <vt:lpstr>已用的字体</vt:lpstr>
      </vt:variant>
      <vt:variant>
        <vt:i4>31</vt:i4>
      </vt:variant>
      <vt:variant>
        <vt:lpstr>主题</vt:lpstr>
      </vt:variant>
      <vt:variant>
        <vt:i4>1</vt:i4>
      </vt:variant>
      <vt:variant>
        <vt:lpstr>嵌入 OLE 服务器</vt:lpstr>
      </vt:variant>
      <vt:variant>
        <vt:i4>2</vt:i4>
      </vt:variant>
      <vt:variant>
        <vt:lpstr>幻灯片标题</vt:lpstr>
      </vt:variant>
      <vt:variant>
        <vt:i4>112</vt:i4>
      </vt:variant>
    </vt:vector>
  </HeadingPairs>
  <TitlesOfParts>
    <vt:vector size="146" baseType="lpstr">
      <vt:lpstr>-apple-system</vt:lpstr>
      <vt:lpstr>Arial Unicode MS</vt:lpstr>
      <vt:lpstr>HelveticaNeue-BoldCond</vt:lpstr>
      <vt:lpstr>HelveticaNeue-Condensed</vt:lpstr>
      <vt:lpstr>HelveticaNeue-MediumCond</vt:lpstr>
      <vt:lpstr>HiddenHorzOCR</vt:lpstr>
      <vt:lpstr>Microsoft YaHei Light</vt:lpstr>
      <vt:lpstr>Monotype Sorts</vt:lpstr>
      <vt:lpstr>MS PGothic</vt:lpstr>
      <vt:lpstr>PingFang SC</vt:lpstr>
      <vt:lpstr>SourceHanSansSC-Bold</vt:lpstr>
      <vt:lpstr>SourceHanSansSC-Medium</vt:lpstr>
      <vt:lpstr>SourceHanSansSC-Regular</vt:lpstr>
      <vt:lpstr>Univers (W1)</vt:lpstr>
      <vt:lpstr>Wingdings-Regular</vt:lpstr>
      <vt:lpstr>方正兰亭粗黑_GBK</vt:lpstr>
      <vt:lpstr>方正兰亭细黑_GBK</vt:lpstr>
      <vt:lpstr>宋体</vt:lpstr>
      <vt:lpstr>幼圆</vt:lpstr>
      <vt:lpstr>arial</vt:lpstr>
      <vt:lpstr>arial</vt:lpstr>
      <vt:lpstr>Arial Black</vt:lpstr>
      <vt:lpstr>Brush Script MT</vt:lpstr>
      <vt:lpstr>Calibri</vt:lpstr>
      <vt:lpstr>Georgia</vt:lpstr>
      <vt:lpstr>Impact</vt:lpstr>
      <vt:lpstr>Times New Roman</vt:lpstr>
      <vt:lpstr>Wingdings</vt:lpstr>
      <vt:lpstr>等线</vt:lpstr>
      <vt:lpstr>黑体</vt:lpstr>
      <vt:lpstr>微软雅黑</vt:lpstr>
      <vt:lpstr>Office 主题​​</vt:lpstr>
      <vt:lpstr>ビットマップ イメージ</vt:lpstr>
      <vt:lpstr>Visio</vt:lpstr>
      <vt:lpstr>IT 工程伦理和项目管理</vt:lpstr>
      <vt:lpstr>PowerPoint 演示文稿</vt:lpstr>
      <vt:lpstr>PowerPoint 演示文稿</vt:lpstr>
      <vt:lpstr>开篇案例：大学在线注册系统</vt:lpstr>
      <vt:lpstr>12.0 学习要点</vt:lpstr>
      <vt:lpstr>12.1 项目进度（时间）管理概述</vt:lpstr>
      <vt:lpstr>12.1 项目进度（时间）管理概述</vt:lpstr>
      <vt:lpstr>12.1 项目进度（时间）管理概述</vt:lpstr>
      <vt:lpstr>12.2 规划进度管理</vt:lpstr>
      <vt:lpstr>12.2 规划进度管理</vt:lpstr>
      <vt:lpstr>12.2规划进度管理</vt:lpstr>
      <vt:lpstr>12.3 定义活动</vt:lpstr>
      <vt:lpstr>12.3 定义活动</vt:lpstr>
      <vt:lpstr>12.3 定义活动</vt:lpstr>
      <vt:lpstr>12.4 排列活动顺序</vt:lpstr>
      <vt:lpstr>12.4 排列活动顺序</vt:lpstr>
      <vt:lpstr>12.4 排列活动顺序</vt:lpstr>
      <vt:lpstr>12.4 排列活动顺序</vt:lpstr>
      <vt:lpstr>12.4 排列活动顺序</vt:lpstr>
      <vt:lpstr>12.4 排列活动顺序</vt:lpstr>
      <vt:lpstr>12.4 排列活动顺序</vt:lpstr>
      <vt:lpstr>12.4 排列活动顺序</vt:lpstr>
      <vt:lpstr>12.4 排列活动顺序</vt:lpstr>
      <vt:lpstr>12.5 估算活动持续时间</vt:lpstr>
      <vt:lpstr>12.5 估算活动持续时间</vt:lpstr>
      <vt:lpstr>12.5 估算活动持续时间</vt:lpstr>
      <vt:lpstr>12.5 估算活动持续时间</vt:lpstr>
      <vt:lpstr>12.5 估算活动持续时间</vt:lpstr>
      <vt:lpstr>12.5 估算活动持续时间</vt:lpstr>
      <vt:lpstr>12.5 估算活动持续时间</vt:lpstr>
      <vt:lpstr>参数估算法</vt:lpstr>
      <vt:lpstr>三点估算法</vt:lpstr>
      <vt:lpstr>三点估算法</vt:lpstr>
      <vt:lpstr>12.5 估算活动持续时间</vt:lpstr>
      <vt:lpstr>12.6 制定进度计划</vt:lpstr>
      <vt:lpstr>12.6 制定进度计划</vt:lpstr>
      <vt:lpstr>横道图（甘特图）</vt:lpstr>
      <vt:lpstr>甘特图与里程碑</vt:lpstr>
      <vt:lpstr>PowerPoint 演示文稿</vt:lpstr>
      <vt:lpstr>PowerPoint 演示文稿</vt:lpstr>
      <vt:lpstr>PowerPoint 演示文稿</vt:lpstr>
      <vt:lpstr>12.6 制定进度计划</vt:lpstr>
      <vt:lpstr>12.6 制定进度计划</vt:lpstr>
      <vt:lpstr>PowerPoint 演示文稿</vt:lpstr>
      <vt:lpstr>12.6 制定进度计划</vt:lpstr>
      <vt:lpstr>PowerPoint 演示文稿</vt:lpstr>
      <vt:lpstr>PowerPoint 演示文稿</vt:lpstr>
      <vt:lpstr>12.6 制定进度计划</vt:lpstr>
      <vt:lpstr>PowerPoint 演示文稿</vt:lpstr>
      <vt:lpstr>12.6 制定进度计划</vt:lpstr>
      <vt:lpstr>12.6 制定进度计划</vt:lpstr>
      <vt:lpstr>12.6 制定进度计划</vt:lpstr>
      <vt:lpstr>12.6 制定进度计划</vt:lpstr>
      <vt:lpstr>12.7 控制进度</vt:lpstr>
      <vt:lpstr>12.7 控制进度</vt:lpstr>
      <vt:lpstr>12.7 控制进度</vt:lpstr>
      <vt:lpstr>12.7 控制进度</vt:lpstr>
      <vt:lpstr>12.7 控制进度</vt:lpstr>
      <vt:lpstr>12.7 控制进度</vt:lpstr>
      <vt:lpstr>扩展阅读</vt:lpstr>
      <vt:lpstr>PowerPoint 演示文稿</vt:lpstr>
      <vt:lpstr>开篇案例</vt:lpstr>
      <vt:lpstr>13.0 项目成本管理学习要点</vt:lpstr>
      <vt:lpstr>13.0 项目成本管理概述</vt:lpstr>
      <vt:lpstr>PowerPoint 演示文稿</vt:lpstr>
      <vt:lpstr>13.0 项目成本管理概述</vt:lpstr>
      <vt:lpstr>项目成本管理的基本原理</vt:lpstr>
      <vt:lpstr>直接成本和间接成本</vt:lpstr>
      <vt:lpstr>习题</vt:lpstr>
      <vt:lpstr>沉没成本</vt:lpstr>
      <vt:lpstr>学习曲线理论、储备金</vt:lpstr>
      <vt:lpstr>机会成本</vt:lpstr>
      <vt:lpstr>折旧</vt:lpstr>
      <vt:lpstr>成本意识</vt:lpstr>
      <vt:lpstr>PowerPoint 演示文稿</vt:lpstr>
      <vt:lpstr>13.0 项目成本管理概述</vt:lpstr>
      <vt:lpstr>13.0 项目成本管理概述</vt:lpstr>
      <vt:lpstr>常用成本管理框架</vt:lpstr>
      <vt:lpstr>13.1 规划成本管理</vt:lpstr>
      <vt:lpstr>13.1 规划成本管理</vt:lpstr>
      <vt:lpstr>13.1 规划成本管理</vt:lpstr>
      <vt:lpstr>13.2 估算成本</vt:lpstr>
      <vt:lpstr>项目成本分解结构示例</vt:lpstr>
      <vt:lpstr>13.3 估算成本</vt:lpstr>
      <vt:lpstr>成本估算类型（项目不同阶段）</vt:lpstr>
      <vt:lpstr>资源预算到成本估算</vt:lpstr>
      <vt:lpstr>成本估算的工具和技术</vt:lpstr>
      <vt:lpstr>13.3 估算成本</vt:lpstr>
      <vt:lpstr>三点估算</vt:lpstr>
      <vt:lpstr>数据分析 </vt:lpstr>
      <vt:lpstr>IT 项目成本估算的典型问题 </vt:lpstr>
      <vt:lpstr>练习</vt:lpstr>
      <vt:lpstr>13.3 制定预算</vt:lpstr>
      <vt:lpstr>制定预算</vt:lpstr>
      <vt:lpstr>制定预算的工具与技术</vt:lpstr>
      <vt:lpstr>13.3 制定预算</vt:lpstr>
      <vt:lpstr>成本预算切段分配示例，含持续时间（天）甘特图</vt:lpstr>
      <vt:lpstr>制定预算的输出：</vt:lpstr>
      <vt:lpstr>费用基准和资金需求示例</vt:lpstr>
      <vt:lpstr>13.4 控制成本</vt:lpstr>
      <vt:lpstr>成本控制</vt:lpstr>
      <vt:lpstr>控制成本的工具与技术：挣值管理</vt:lpstr>
      <vt:lpstr>挣值分析</vt:lpstr>
      <vt:lpstr>挣值分析公式</vt:lpstr>
      <vt:lpstr>挣值管理-简化例子</vt:lpstr>
      <vt:lpstr>EAC竣工估算</vt:lpstr>
      <vt:lpstr>PowerPoint 演示文稿</vt:lpstr>
      <vt:lpstr>偏差 分析– 进度偏差（SV）、成本偏差（CV）、进度绩效指数（SPI）、成本绩效指数（CPI）</vt:lpstr>
      <vt:lpstr>趋势分析  </vt:lpstr>
      <vt:lpstr>Project进行挣值分析</vt:lpstr>
      <vt:lpstr>PowerPoint 演示文稿</vt:lpstr>
      <vt:lpstr>某新能源车企的车机研制共分为以下五个步骤，截至研制过程中的某日，各步骤的进度安排及执行情况如下表所示</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Zhang XM</dc:creator>
  <cp:lastModifiedBy>Xunzhao Yin</cp:lastModifiedBy>
  <cp:revision>1272</cp:revision>
  <cp:lastPrinted>2018-11-29T14:31:17Z</cp:lastPrinted>
  <dcterms:created xsi:type="dcterms:W3CDTF">2012-01-19T22:55:48Z</dcterms:created>
  <dcterms:modified xsi:type="dcterms:W3CDTF">2024-05-30T12:26:48Z</dcterms:modified>
</cp:coreProperties>
</file>