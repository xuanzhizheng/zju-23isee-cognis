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25" r:id="rId1"/>
  </p:sldMasterIdLst>
  <p:notesMasterIdLst>
    <p:notesMasterId r:id="rId26"/>
  </p:notesMasterIdLst>
  <p:handoutMasterIdLst>
    <p:handoutMasterId r:id="rId27"/>
  </p:handoutMasterIdLst>
  <p:sldIdLst>
    <p:sldId id="479" r:id="rId2"/>
    <p:sldId id="553" r:id="rId3"/>
    <p:sldId id="630" r:id="rId4"/>
    <p:sldId id="690" r:id="rId5"/>
    <p:sldId id="668" r:id="rId6"/>
    <p:sldId id="691" r:id="rId7"/>
    <p:sldId id="647" r:id="rId8"/>
    <p:sldId id="692" r:id="rId9"/>
    <p:sldId id="669" r:id="rId10"/>
    <p:sldId id="694" r:id="rId11"/>
    <p:sldId id="696" r:id="rId12"/>
    <p:sldId id="695" r:id="rId13"/>
    <p:sldId id="671" r:id="rId14"/>
    <p:sldId id="698" r:id="rId15"/>
    <p:sldId id="697" r:id="rId16"/>
    <p:sldId id="667" r:id="rId17"/>
    <p:sldId id="674" r:id="rId18"/>
    <p:sldId id="672" r:id="rId19"/>
    <p:sldId id="676" r:id="rId20"/>
    <p:sldId id="673" r:id="rId21"/>
    <p:sldId id="675" r:id="rId22"/>
    <p:sldId id="635" r:id="rId23"/>
    <p:sldId id="699" r:id="rId24"/>
    <p:sldId id="700"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E9E4"/>
    <a:srgbClr val="9E0000"/>
    <a:srgbClr val="FDD5D5"/>
    <a:srgbClr val="640E00"/>
    <a:srgbClr val="FED5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37" autoAdjust="0"/>
    <p:restoredTop sz="95657" autoAdjust="0"/>
  </p:normalViewPr>
  <p:slideViewPr>
    <p:cSldViewPr snapToGrid="0">
      <p:cViewPr varScale="1">
        <p:scale>
          <a:sx n="92" d="100"/>
          <a:sy n="92" d="100"/>
        </p:scale>
        <p:origin x="1392" y="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2FED03B-8713-423C-851D-50A6C1177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0EEF400-8678-4702-8C69-AC0124F656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88B7A2-AE07-4777-BD5F-9EA6CD7E243A}" type="datetimeFigureOut">
              <a:rPr lang="en-US" smtClean="0"/>
              <a:t>3/4/2025</a:t>
            </a:fld>
            <a:endParaRPr lang="en-US"/>
          </a:p>
        </p:txBody>
      </p:sp>
      <p:sp>
        <p:nvSpPr>
          <p:cNvPr id="4" name="Footer Placeholder 3">
            <a:extLst>
              <a:ext uri="{FF2B5EF4-FFF2-40B4-BE49-F238E27FC236}">
                <a16:creationId xmlns:a16="http://schemas.microsoft.com/office/drawing/2014/main" id="{AE16B06D-7168-4094-AAF2-34BDECE207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2B5E041-D031-4590-9BD2-066A4525684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F77D9D-0B32-498F-BF2A-3621F9DDCD43}" type="slidenum">
              <a:rPr lang="en-US" smtClean="0"/>
              <a:t>‹#›</a:t>
            </a:fld>
            <a:endParaRPr lang="en-US"/>
          </a:p>
        </p:txBody>
      </p:sp>
    </p:spTree>
    <p:extLst>
      <p:ext uri="{BB962C8B-B14F-4D97-AF65-F5344CB8AC3E}">
        <p14:creationId xmlns:p14="http://schemas.microsoft.com/office/powerpoint/2010/main" val="34996117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AF2513-D640-4369-B0B6-06CC860D0AC5}" type="datetimeFigureOut">
              <a:rPr lang="en-US" smtClean="0"/>
              <a:t>3/4/2025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D961B-05A6-47CD-9654-EAA20B766657}" type="slidenum">
              <a:rPr lang="en-US" smtClean="0"/>
              <a:t>‹#›</a:t>
            </a:fld>
            <a:endParaRPr lang="en-US"/>
          </a:p>
        </p:txBody>
      </p:sp>
    </p:spTree>
    <p:extLst>
      <p:ext uri="{BB962C8B-B14F-4D97-AF65-F5344CB8AC3E}">
        <p14:creationId xmlns:p14="http://schemas.microsoft.com/office/powerpoint/2010/main" val="230595508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88984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46424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en-US" altLang="zh-CN" kern="1200" dirty="0">
                <a:solidFill>
                  <a:schemeClr val="tx1"/>
                </a:solidFill>
                <a:effectLst/>
                <a:latin typeface="+mn-lt"/>
                <a:ea typeface="+mn-ea"/>
                <a:cs typeface="+mn-cs"/>
              </a:rPr>
              <a:t>1638</a:t>
            </a:r>
            <a:r>
              <a:rPr lang="zh-CN" altLang="en-US" kern="1200" dirty="0">
                <a:solidFill>
                  <a:schemeClr val="tx1"/>
                </a:solidFill>
                <a:effectLst/>
                <a:latin typeface="+mn-lt"/>
                <a:ea typeface="+mn-ea"/>
                <a:cs typeface="+mn-cs"/>
              </a:rPr>
              <a:t>年法国数学家皮埃尔</a:t>
            </a:r>
            <a:r>
              <a:rPr lang="en-US" altLang="zh-CN" kern="1200" dirty="0">
                <a:solidFill>
                  <a:schemeClr val="tx1"/>
                </a:solidFill>
                <a:effectLst/>
                <a:latin typeface="+mn-lt"/>
                <a:ea typeface="+mn-ea"/>
                <a:cs typeface="+mn-cs"/>
              </a:rPr>
              <a:t>·</a:t>
            </a:r>
            <a:r>
              <a:rPr lang="zh-CN" altLang="en-US" kern="1200" dirty="0">
                <a:solidFill>
                  <a:schemeClr val="tx1"/>
                </a:solidFill>
                <a:effectLst/>
                <a:latin typeface="+mn-lt"/>
                <a:ea typeface="+mn-ea"/>
                <a:cs typeface="+mn-cs"/>
              </a:rPr>
              <a:t>伽森荻提出物体是由大量坚硬粒子组成的。牛顿随后对于伽森荻的这种观点进行研究，于</a:t>
            </a:r>
            <a:r>
              <a:rPr lang="en-US" altLang="zh-CN" kern="1200" dirty="0">
                <a:solidFill>
                  <a:schemeClr val="tx1"/>
                </a:solidFill>
                <a:effectLst/>
                <a:latin typeface="+mn-lt"/>
                <a:ea typeface="+mn-ea"/>
                <a:cs typeface="+mn-cs"/>
              </a:rPr>
              <a:t>1675</a:t>
            </a:r>
            <a:r>
              <a:rPr lang="zh-CN" altLang="en-US" kern="1200" dirty="0">
                <a:solidFill>
                  <a:schemeClr val="tx1"/>
                </a:solidFill>
                <a:effectLst/>
                <a:latin typeface="+mn-lt"/>
                <a:ea typeface="+mn-ea"/>
                <a:cs typeface="+mn-cs"/>
              </a:rPr>
              <a:t>年提出假设，认为光是从光源发出的一种物质微粒。惠更斯认为，光是一种机械波；光波是一种靠物质载体来传播的纵向波，传播它的物质载体是“以太”；波面上的各点本身就是引起媒质振动的波源。根据这一理论，惠更斯证明了光的反射定律和折射定律，也比较好的解释了光的衍射、双折射现象和著名的“牛顿环”实验。</a:t>
            </a:r>
            <a:r>
              <a:rPr lang="en-US" altLang="zh-CN" kern="1200" dirty="0">
                <a:solidFill>
                  <a:schemeClr val="tx1"/>
                </a:solidFill>
                <a:effectLst/>
                <a:latin typeface="+mn-lt"/>
                <a:ea typeface="+mn-ea"/>
                <a:cs typeface="+mn-cs"/>
              </a:rPr>
              <a:t>1817</a:t>
            </a:r>
            <a:r>
              <a:rPr lang="zh-CN" altLang="en-US" kern="1200" dirty="0">
                <a:solidFill>
                  <a:schemeClr val="tx1"/>
                </a:solidFill>
                <a:effectLst/>
                <a:latin typeface="+mn-lt"/>
                <a:ea typeface="+mn-ea"/>
                <a:cs typeface="+mn-cs"/>
              </a:rPr>
              <a:t>年，托马斯</a:t>
            </a:r>
            <a:r>
              <a:rPr lang="en-US" altLang="zh-CN" kern="1200" dirty="0">
                <a:solidFill>
                  <a:schemeClr val="tx1"/>
                </a:solidFill>
                <a:effectLst/>
                <a:latin typeface="+mn-lt"/>
                <a:ea typeface="+mn-ea"/>
                <a:cs typeface="+mn-cs"/>
              </a:rPr>
              <a:t>·</a:t>
            </a:r>
            <a:r>
              <a:rPr lang="zh-CN" altLang="en-US" kern="1200" dirty="0">
                <a:solidFill>
                  <a:schemeClr val="tx1"/>
                </a:solidFill>
                <a:effectLst/>
                <a:latin typeface="+mn-lt"/>
                <a:ea typeface="+mn-ea"/>
                <a:cs typeface="+mn-cs"/>
              </a:rPr>
              <a:t>杨放弃了惠更斯的光是一种纵波的说法，提出了光是一种横波的假说，比较成功的解释了光的偏振现象。</a:t>
            </a:r>
            <a:r>
              <a:rPr lang="en-US" altLang="zh-CN" kern="1200" dirty="0">
                <a:solidFill>
                  <a:schemeClr val="tx1"/>
                </a:solidFill>
                <a:effectLst/>
                <a:latin typeface="+mn-lt"/>
                <a:ea typeface="+mn-ea"/>
                <a:cs typeface="+mn-cs"/>
              </a:rPr>
              <a:t>1905</a:t>
            </a:r>
            <a:r>
              <a:rPr lang="zh-CN" altLang="en-US" kern="1200" dirty="0">
                <a:solidFill>
                  <a:schemeClr val="tx1"/>
                </a:solidFill>
                <a:effectLst/>
                <a:latin typeface="+mn-lt"/>
                <a:ea typeface="+mn-ea"/>
                <a:cs typeface="+mn-cs"/>
              </a:rPr>
              <a:t>年</a:t>
            </a:r>
            <a:r>
              <a:rPr lang="en-US" altLang="zh-CN" kern="1200" dirty="0">
                <a:solidFill>
                  <a:schemeClr val="tx1"/>
                </a:solidFill>
                <a:effectLst/>
                <a:latin typeface="+mn-lt"/>
                <a:ea typeface="+mn-ea"/>
                <a:cs typeface="+mn-cs"/>
              </a:rPr>
              <a:t>3</a:t>
            </a:r>
            <a:r>
              <a:rPr lang="zh-CN" altLang="en-US" kern="1200" dirty="0">
                <a:solidFill>
                  <a:schemeClr val="tx1"/>
                </a:solidFill>
                <a:effectLst/>
                <a:latin typeface="+mn-lt"/>
                <a:ea typeface="+mn-ea"/>
                <a:cs typeface="+mn-cs"/>
              </a:rPr>
              <a:t>月，爱因斯坦在德国</a:t>
            </a:r>
            <a:r>
              <a:rPr lang="en-US" altLang="zh-CN" kern="1200" dirty="0">
                <a:solidFill>
                  <a:schemeClr val="tx1"/>
                </a:solidFill>
                <a:effectLst/>
                <a:latin typeface="+mn-lt"/>
                <a:ea typeface="+mn-ea"/>
                <a:cs typeface="+mn-cs"/>
              </a:rPr>
              <a:t>《</a:t>
            </a:r>
            <a:r>
              <a:rPr lang="zh-CN" altLang="en-US" kern="1200" dirty="0">
                <a:solidFill>
                  <a:schemeClr val="tx1"/>
                </a:solidFill>
                <a:effectLst/>
                <a:latin typeface="+mn-lt"/>
                <a:ea typeface="+mn-ea"/>
                <a:cs typeface="+mn-cs"/>
              </a:rPr>
              <a:t>物理年报</a:t>
            </a:r>
            <a:r>
              <a:rPr lang="en-US" altLang="zh-CN" kern="1200" dirty="0">
                <a:solidFill>
                  <a:schemeClr val="tx1"/>
                </a:solidFill>
                <a:effectLst/>
                <a:latin typeface="+mn-lt"/>
                <a:ea typeface="+mn-ea"/>
                <a:cs typeface="+mn-cs"/>
              </a:rPr>
              <a:t>》</a:t>
            </a:r>
            <a:r>
              <a:rPr lang="zh-CN" altLang="en-US" kern="1200" dirty="0">
                <a:solidFill>
                  <a:schemeClr val="tx1"/>
                </a:solidFill>
                <a:effectLst/>
                <a:latin typeface="+mn-lt"/>
                <a:ea typeface="+mn-ea"/>
                <a:cs typeface="+mn-cs"/>
              </a:rPr>
              <a:t>上发表了题为</a:t>
            </a:r>
            <a:r>
              <a:rPr lang="en-US" altLang="zh-CN" kern="1200" dirty="0">
                <a:solidFill>
                  <a:schemeClr val="tx1"/>
                </a:solidFill>
                <a:effectLst/>
                <a:latin typeface="+mn-lt"/>
                <a:ea typeface="+mn-ea"/>
                <a:cs typeface="+mn-cs"/>
              </a:rPr>
              <a:t>《</a:t>
            </a:r>
            <a:r>
              <a:rPr lang="zh-CN" altLang="en-US" kern="1200" dirty="0">
                <a:solidFill>
                  <a:schemeClr val="tx1"/>
                </a:solidFill>
                <a:effectLst/>
                <a:latin typeface="+mn-lt"/>
                <a:ea typeface="+mn-ea"/>
                <a:cs typeface="+mn-cs"/>
              </a:rPr>
              <a:t>关于光的产生和转化的一个推测性观点</a:t>
            </a:r>
            <a:r>
              <a:rPr lang="en-US" altLang="zh-CN" kern="1200" dirty="0">
                <a:solidFill>
                  <a:schemeClr val="tx1"/>
                </a:solidFill>
                <a:effectLst/>
                <a:latin typeface="+mn-lt"/>
                <a:ea typeface="+mn-ea"/>
                <a:cs typeface="+mn-cs"/>
              </a:rPr>
              <a:t>》</a:t>
            </a:r>
            <a:r>
              <a:rPr lang="zh-CN" altLang="en-US" kern="1200" dirty="0">
                <a:solidFill>
                  <a:schemeClr val="tx1"/>
                </a:solidFill>
                <a:effectLst/>
                <a:latin typeface="+mn-lt"/>
                <a:ea typeface="+mn-ea"/>
                <a:cs typeface="+mn-cs"/>
              </a:rPr>
              <a:t>的论文他认为对于时间的平均值，光表现为波动；对于时间的瞬间值，光表现为粒子性。</a:t>
            </a:r>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588928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21069-CE08-0D53-AC7A-C8D2A619A8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6D7483-B324-3368-41B2-AACB1B7BE5F6}"/>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5146BBC0-9124-0577-9CBA-162577A73AE8}"/>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76328AEA-6EC3-B2A9-566A-1CA674490E2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67190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1BE74-7C02-0474-1771-28CD65481F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F271BA-9F78-6E92-FC3E-8008F607D6AE}"/>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0DC93445-52BC-B4CE-EDDD-25159C4D0F95}"/>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8D84DBBC-C567-2F6D-A4CF-E24D2D30131B}"/>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55590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DEB72-F61A-B694-E549-9FD5581939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D0CEB0-2602-24E2-0735-57343696CC5D}"/>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6A52E1E8-EBB8-0A08-3EB6-610646682FDA}"/>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7C20ECA8-C5E5-6E3C-6361-C079E282422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5194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07A9C-6709-5545-640A-4EA7EF32CA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85BD55-AE8E-E4DE-77B9-5B9C4B8B5F97}"/>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263040E4-5B58-6DEB-DC62-4A9F085F5AAB}"/>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33A5264-171A-F5BE-5E08-ADAE8AA86F9D}"/>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30472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CE35A-EF92-E4E6-DA4B-40B4A5CBEB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D8F372-F872-63EA-73E5-330185DB8370}"/>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982F9813-8F60-306D-0CFE-46871AAFF0DA}"/>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9DF09ADA-765B-92D4-A49D-728BA6A048E6}"/>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72966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99562-027C-4D15-2B37-A8BAE5EAC1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21B5B2-0B30-B68A-165A-E3E885A82B18}"/>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C54C8507-53C2-6D01-5C7E-45F0981AB72A}"/>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DE3901D-391E-36D0-F5D7-0F504D0DEDB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96041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4DF94-24A4-801D-A04E-CB7A2BAC58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4CC798-F4C2-F8C1-82F9-54598E1BAEE9}"/>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D9953062-D376-974D-A5CD-FA1FEBE51C25}"/>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F72981E6-5E18-5DBD-25F9-9798A3456B9E}"/>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662619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4FDF5-A728-5CD7-BEEA-920F3E3850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7F4E18-20CA-74AF-1BCA-89E5DA16EFF5}"/>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90DBA1FB-DEEF-4988-A8F6-9BFE629A5E81}"/>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1F5DA7F-BF74-C354-4B88-0E28581FC765}"/>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10991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DEB72-F61A-B694-E549-9FD5581939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D0CEB0-2602-24E2-0735-57343696CC5D}"/>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6A52E1E8-EBB8-0A08-3EB6-610646682FDA}"/>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7C20ECA8-C5E5-6E3C-6361-C079E282422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986640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FD5D0-E1B1-C0C7-E5EB-5417C6261CD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AB31B6-1EDE-44D9-1364-7D1A280DA54C}"/>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E1F079B3-5527-CC46-F385-DF60F9B95B74}"/>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E77608E2-57D4-571F-4AEE-539119D9906C}"/>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105275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83DA0-9BDA-8582-5992-C9F9F5CE10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38C760-3D83-E308-0D0A-DB0F81119515}"/>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B4CC4F85-2DCD-EF5F-C4CB-070416B3A1B4}"/>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E46E30F6-E716-1187-C268-80BF40CB383A}"/>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84743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93CFB-82A8-F855-C0D2-725C1E3FAD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C8CCA6-7D86-AB04-9A04-1EFAFC2A43CD}"/>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387C82A4-DA15-09A9-379B-7046150ABD1B}"/>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F48E61A3-C8EA-62AE-59EC-49FDC2D09042}"/>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003052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D3F4B-CE4C-F986-4600-BD830A27BCE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E316CA-2612-4D16-FB67-AA23625DE6BC}"/>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B969FD79-FBB4-6B7D-292D-A15FFC0731E9}"/>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04439D4A-1059-2C2E-AF50-8CC84FA4F99A}"/>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4665744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3F059-9EAE-2F1B-34FB-C4F35152C6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566FDB-63C1-A3FE-0B43-29A2AE9C6DCE}"/>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CF79C857-ADA8-1B80-A02C-670C07CC6EA8}"/>
              </a:ext>
            </a:extLst>
          </p:cNvPr>
          <p:cNvSpPr>
            <a:spLocks noGrp="1"/>
          </p:cNvSpPr>
          <p:nvPr>
            <p:ph type="body" idx="1"/>
          </p:nvPr>
        </p:nvSpPr>
        <p:spPr/>
        <p:txBody>
          <a:bodyPr/>
          <a:lstStyle/>
          <a:p>
            <a:r>
              <a:rPr lang="en-US" altLang="en-US" kern="1200" dirty="0">
                <a:solidFill>
                  <a:schemeClr val="tx1"/>
                </a:solidFill>
                <a:effectLst/>
                <a:latin typeface="+mn-lt"/>
                <a:ea typeface="+mn-ea"/>
                <a:cs typeface="+mn-cs"/>
              </a:rPr>
              <a:t>Let’s construct the wave equation using a guitar string.</a:t>
            </a:r>
          </a:p>
          <a:p>
            <a:r>
              <a:rPr lang="en-US" altLang="en-US" kern="1200" dirty="0">
                <a:solidFill>
                  <a:schemeClr val="tx1"/>
                </a:solidFill>
                <a:effectLst/>
                <a:latin typeface="+mn-lt"/>
                <a:ea typeface="+mn-ea"/>
                <a:cs typeface="+mn-cs"/>
              </a:rPr>
              <a:t>A guitar string wants to be straight, but, if we pluck it, there’ll be a force pulling it back to its desired straight shape, which is called the restoring force and is proportional to how much it’s stretched, that is, its curvature, which is given by some constant </a:t>
            </a:r>
            <a:r>
              <a:rPr lang="en-US" altLang="en-US" sz="1200" dirty="0"/>
              <a:t>γ</a:t>
            </a:r>
            <a:r>
              <a:rPr lang="en-US" altLang="en-US" kern="1200" dirty="0">
                <a:solidFill>
                  <a:schemeClr val="tx1"/>
                </a:solidFill>
                <a:effectLst/>
                <a:latin typeface="+mn-lt"/>
                <a:ea typeface="+mn-ea"/>
                <a:cs typeface="+mn-cs"/>
              </a:rPr>
              <a:t> times ∂2f/∂x2, where f(</a:t>
            </a:r>
            <a:r>
              <a:rPr lang="en-US" altLang="en-US" kern="1200" dirty="0" err="1">
                <a:solidFill>
                  <a:schemeClr val="tx1"/>
                </a:solidFill>
                <a:effectLst/>
                <a:latin typeface="+mn-lt"/>
                <a:ea typeface="+mn-ea"/>
                <a:cs typeface="+mn-cs"/>
              </a:rPr>
              <a:t>x,t</a:t>
            </a:r>
            <a:r>
              <a:rPr lang="en-US" altLang="en-US" kern="1200" dirty="0">
                <a:solidFill>
                  <a:schemeClr val="tx1"/>
                </a:solidFill>
                <a:effectLst/>
                <a:latin typeface="+mn-lt"/>
                <a:ea typeface="+mn-ea"/>
                <a:cs typeface="+mn-cs"/>
              </a:rPr>
              <a:t>) is the displacement from straight at the point x at time t.</a:t>
            </a:r>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A41EA51-C58A-2F99-34A3-AD3843DAC2F1}"/>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974369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B994E-69FF-843D-D110-8553128717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6850B9-6BF9-536E-4FC1-2117900DFAE4}"/>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71DB6A44-81ED-6E2E-2207-126329082B07}"/>
              </a:ext>
            </a:extLst>
          </p:cNvPr>
          <p:cNvSpPr>
            <a:spLocks noGrp="1"/>
          </p:cNvSpPr>
          <p:nvPr>
            <p:ph type="body" idx="1"/>
          </p:nvPr>
        </p:nvSpPr>
        <p:spPr/>
        <p:txBody>
          <a:bodyPr/>
          <a:lstStyle/>
          <a:p>
            <a:r>
              <a:rPr lang="en-US" altLang="en-US" kern="1200" dirty="0">
                <a:solidFill>
                  <a:schemeClr val="tx1"/>
                </a:solidFill>
                <a:effectLst/>
                <a:latin typeface="+mn-lt"/>
                <a:ea typeface="+mn-ea"/>
                <a:cs typeface="+mn-cs"/>
              </a:rPr>
              <a:t>Let’s construct the wave equation using a guitar string.</a:t>
            </a:r>
          </a:p>
          <a:p>
            <a:r>
              <a:rPr lang="en-US" altLang="en-US" kern="1200" dirty="0">
                <a:solidFill>
                  <a:schemeClr val="tx1"/>
                </a:solidFill>
                <a:effectLst/>
                <a:latin typeface="+mn-lt"/>
                <a:ea typeface="+mn-ea"/>
                <a:cs typeface="+mn-cs"/>
              </a:rPr>
              <a:t>A guitar string wants to be straight, but, if we pluck it, there’ll be a force pulling it back to its desired straight shape, which is called the restoring force and is proportional to how much it’s stretched, that is, its curvature, which is given by some constant </a:t>
            </a:r>
            <a:r>
              <a:rPr lang="en-US" altLang="en-US" sz="1200" dirty="0"/>
              <a:t>γ</a:t>
            </a:r>
            <a:r>
              <a:rPr lang="en-US" altLang="en-US" kern="1200" dirty="0">
                <a:solidFill>
                  <a:schemeClr val="tx1"/>
                </a:solidFill>
                <a:effectLst/>
                <a:latin typeface="+mn-lt"/>
                <a:ea typeface="+mn-ea"/>
                <a:cs typeface="+mn-cs"/>
              </a:rPr>
              <a:t> times ∂2f/∂x2, where f(</a:t>
            </a:r>
            <a:r>
              <a:rPr lang="en-US" altLang="en-US" kern="1200" dirty="0" err="1">
                <a:solidFill>
                  <a:schemeClr val="tx1"/>
                </a:solidFill>
                <a:effectLst/>
                <a:latin typeface="+mn-lt"/>
                <a:ea typeface="+mn-ea"/>
                <a:cs typeface="+mn-cs"/>
              </a:rPr>
              <a:t>x,t</a:t>
            </a:r>
            <a:r>
              <a:rPr lang="en-US" altLang="en-US" kern="1200" dirty="0">
                <a:solidFill>
                  <a:schemeClr val="tx1"/>
                </a:solidFill>
                <a:effectLst/>
                <a:latin typeface="+mn-lt"/>
                <a:ea typeface="+mn-ea"/>
                <a:cs typeface="+mn-cs"/>
              </a:rPr>
              <a:t>) is the displacement from straight at the point x at time t.</a:t>
            </a:r>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572BEA2-69D6-38EE-0094-31F4580E5AB4}"/>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749443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6F0F6-EAC7-B65B-23BA-DE13A52932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E6A895A-E852-5CBC-C291-1EAA7635D870}"/>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60222659-7334-9E55-A910-51EF4544F5C8}"/>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D2A6DCF-86F6-E9A5-34EF-6790CFD5691C}"/>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138243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36A77-6903-84D3-85A6-6EF7ADB44B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1B69EA-F0DE-CBA1-DECD-27758DCBCA02}"/>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6553CF06-A6AC-BEA0-A033-FAF1A07A1D5E}"/>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92E9313-ABC2-21EA-DDB8-E65E65D1D0AA}"/>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99619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315549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B197A-83B3-B7EF-83DD-84BBE63D30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D98570-AD2F-F5B2-D013-D8C6F6F66EFB}"/>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3BDF59DB-7C52-CDE5-5C34-C81B7859FCCF}"/>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990642C8-68F7-C3B8-3489-FACB2DF72D8A}"/>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373794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291929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Rectangle 3"/>
          <p:cNvSpPr/>
          <p:nvPr userDrawn="1"/>
        </p:nvSpPr>
        <p:spPr>
          <a:xfrm>
            <a:off x="0" y="-1"/>
            <a:ext cx="9144000" cy="535633"/>
          </a:xfrm>
          <a:prstGeom prst="rect">
            <a:avLst/>
          </a:prstGeom>
          <a:solidFill>
            <a:srgbClr val="255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5" name="文本框 4">
            <a:extLst>
              <a:ext uri="{FF2B5EF4-FFF2-40B4-BE49-F238E27FC236}">
                <a16:creationId xmlns:a16="http://schemas.microsoft.com/office/drawing/2014/main" id="{2DC5DAE3-429C-42DB-97F0-AD39CBCD7152}"/>
              </a:ext>
            </a:extLst>
          </p:cNvPr>
          <p:cNvSpPr txBox="1"/>
          <p:nvPr userDrawn="1"/>
        </p:nvSpPr>
        <p:spPr>
          <a:xfrm>
            <a:off x="7032349" y="6564442"/>
            <a:ext cx="1561146" cy="219291"/>
          </a:xfrm>
          <a:prstGeom prst="rect">
            <a:avLst/>
          </a:prstGeom>
          <a:noFill/>
        </p:spPr>
        <p:txBody>
          <a:bodyPr wrap="square" rtlCol="0">
            <a:spAutoFit/>
          </a:bodyPr>
          <a:lstStyle/>
          <a:p>
            <a:r>
              <a:rPr lang="en-GB" sz="800" i="0" dirty="0">
                <a:solidFill>
                  <a:schemeClr val="tx1">
                    <a:lumMod val="50000"/>
                    <a:lumOff val="50000"/>
                  </a:schemeClr>
                </a:solidFill>
              </a:rPr>
              <a:t>www.optoelectronicszju.com</a:t>
            </a:r>
          </a:p>
        </p:txBody>
      </p:sp>
      <p:cxnSp>
        <p:nvCxnSpPr>
          <p:cNvPr id="7" name="直接连接符 6">
            <a:extLst>
              <a:ext uri="{FF2B5EF4-FFF2-40B4-BE49-F238E27FC236}">
                <a16:creationId xmlns:a16="http://schemas.microsoft.com/office/drawing/2014/main" id="{9AFB3084-8C45-4CE7-BAD9-6E31676DB22E}"/>
              </a:ext>
            </a:extLst>
          </p:cNvPr>
          <p:cNvCxnSpPr>
            <a:cxnSpLocks/>
          </p:cNvCxnSpPr>
          <p:nvPr userDrawn="1"/>
        </p:nvCxnSpPr>
        <p:spPr>
          <a:xfrm>
            <a:off x="5930209" y="6572154"/>
            <a:ext cx="2459264" cy="0"/>
          </a:xfrm>
          <a:prstGeom prst="line">
            <a:avLst/>
          </a:prstGeom>
          <a:ln w="952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643D7414-6D27-4C12-A2F7-8BB79A5325D6}"/>
              </a:ext>
            </a:extLst>
          </p:cNvPr>
          <p:cNvSpPr txBox="1"/>
          <p:nvPr userDrawn="1"/>
        </p:nvSpPr>
        <p:spPr>
          <a:xfrm>
            <a:off x="5888123" y="6568347"/>
            <a:ext cx="1220477" cy="215444"/>
          </a:xfrm>
          <a:prstGeom prst="rect">
            <a:avLst/>
          </a:prstGeom>
          <a:noFill/>
        </p:spPr>
        <p:txBody>
          <a:bodyPr wrap="square" rtlCol="0">
            <a:spAutoFit/>
          </a:bodyPr>
          <a:lstStyle/>
          <a:p>
            <a:r>
              <a:rPr lang="zh-CN" altLang="en-US" sz="800" b="1" i="0" dirty="0">
                <a:solidFill>
                  <a:schemeClr val="tx1">
                    <a:lumMod val="50000"/>
                    <a:lumOff val="50000"/>
                  </a:schemeClr>
                </a:solidFill>
                <a:latin typeface="幼圆" panose="02010509060101010101" pitchFamily="49" charset="-122"/>
                <a:ea typeface="幼圆" panose="02010509060101010101" pitchFamily="49" charset="-122"/>
              </a:rPr>
              <a:t>浙江大学光电子研究组</a:t>
            </a:r>
            <a:endParaRPr lang="en-GB" sz="800" b="1" i="0" dirty="0">
              <a:solidFill>
                <a:schemeClr val="tx1">
                  <a:lumMod val="50000"/>
                  <a:lumOff val="50000"/>
                </a:schemeClr>
              </a:solidFill>
              <a:latin typeface="幼圆" panose="02010509060101010101" pitchFamily="49" charset="-122"/>
              <a:ea typeface="幼圆" panose="02010509060101010101" pitchFamily="49" charset="-122"/>
            </a:endParaRPr>
          </a:p>
        </p:txBody>
      </p:sp>
      <p:pic>
        <p:nvPicPr>
          <p:cNvPr id="10" name="Picture 9">
            <a:extLst>
              <a:ext uri="{FF2B5EF4-FFF2-40B4-BE49-F238E27FC236}">
                <a16:creationId xmlns:a16="http://schemas.microsoft.com/office/drawing/2014/main" id="{A4FCEC2C-122F-450E-A6DC-E6F63C651A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38094" y="6515890"/>
            <a:ext cx="1448927" cy="261160"/>
          </a:xfrm>
          <a:prstGeom prst="rect">
            <a:avLst/>
          </a:prstGeom>
        </p:spPr>
      </p:pic>
      <p:sp>
        <p:nvSpPr>
          <p:cNvPr id="2" name="TextBox 1">
            <a:extLst>
              <a:ext uri="{FF2B5EF4-FFF2-40B4-BE49-F238E27FC236}">
                <a16:creationId xmlns:a16="http://schemas.microsoft.com/office/drawing/2014/main" id="{59F6D9F7-53B9-4D42-A324-14F37B1BDADD}"/>
              </a:ext>
            </a:extLst>
          </p:cNvPr>
          <p:cNvSpPr txBox="1"/>
          <p:nvPr userDrawn="1"/>
        </p:nvSpPr>
        <p:spPr>
          <a:xfrm>
            <a:off x="8485123" y="6500051"/>
            <a:ext cx="609140" cy="276999"/>
          </a:xfrm>
          <a:prstGeom prst="rect">
            <a:avLst/>
          </a:prstGeom>
          <a:noFill/>
        </p:spPr>
        <p:txBody>
          <a:bodyPr wrap="square" rtlCol="0">
            <a:spAutoFit/>
          </a:bodyPr>
          <a:lstStyle/>
          <a:p>
            <a:fld id="{5DC27B55-73FB-40DB-940F-0D374B25B093}" type="slidenum">
              <a:rPr lang="en-US" sz="1200" smtClean="0">
                <a:solidFill>
                  <a:schemeClr val="bg2">
                    <a:lumMod val="50000"/>
                  </a:schemeClr>
                </a:solidFill>
                <a:latin typeface="Arial" panose="020B0604020202020204" pitchFamily="34" charset="0"/>
                <a:cs typeface="Arial" panose="020B0604020202020204" pitchFamily="34" charset="0"/>
              </a:rPr>
              <a:t>‹#›</a:t>
            </a:fld>
            <a:endParaRPr lang="en-US" sz="1200" dirty="0">
              <a:solidFill>
                <a:schemeClr val="bg2">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5958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DC5DAE3-429C-42DB-97F0-AD39CBCD7152}"/>
              </a:ext>
            </a:extLst>
          </p:cNvPr>
          <p:cNvSpPr txBox="1"/>
          <p:nvPr userDrawn="1"/>
        </p:nvSpPr>
        <p:spPr>
          <a:xfrm>
            <a:off x="7047656" y="6438186"/>
            <a:ext cx="1561146" cy="219291"/>
          </a:xfrm>
          <a:prstGeom prst="rect">
            <a:avLst/>
          </a:prstGeom>
          <a:noFill/>
        </p:spPr>
        <p:txBody>
          <a:bodyPr wrap="square" rtlCol="0">
            <a:spAutoFit/>
          </a:bodyPr>
          <a:lstStyle/>
          <a:p>
            <a:r>
              <a:rPr lang="en-GB" sz="800" i="0" dirty="0">
                <a:solidFill>
                  <a:schemeClr val="tx1">
                    <a:lumMod val="50000"/>
                    <a:lumOff val="50000"/>
                  </a:schemeClr>
                </a:solidFill>
              </a:rPr>
              <a:t>www.optoelectronicszju.com</a:t>
            </a:r>
          </a:p>
        </p:txBody>
      </p:sp>
      <p:cxnSp>
        <p:nvCxnSpPr>
          <p:cNvPr id="7" name="直接连接符 6">
            <a:extLst>
              <a:ext uri="{FF2B5EF4-FFF2-40B4-BE49-F238E27FC236}">
                <a16:creationId xmlns:a16="http://schemas.microsoft.com/office/drawing/2014/main" id="{9AFB3084-8C45-4CE7-BAD9-6E31676DB22E}"/>
              </a:ext>
            </a:extLst>
          </p:cNvPr>
          <p:cNvCxnSpPr>
            <a:cxnSpLocks/>
          </p:cNvCxnSpPr>
          <p:nvPr userDrawn="1"/>
        </p:nvCxnSpPr>
        <p:spPr>
          <a:xfrm>
            <a:off x="5945516" y="6445898"/>
            <a:ext cx="2459264" cy="0"/>
          </a:xfrm>
          <a:prstGeom prst="line">
            <a:avLst/>
          </a:prstGeom>
          <a:ln w="952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643D7414-6D27-4C12-A2F7-8BB79A5325D6}"/>
              </a:ext>
            </a:extLst>
          </p:cNvPr>
          <p:cNvSpPr txBox="1"/>
          <p:nvPr userDrawn="1"/>
        </p:nvSpPr>
        <p:spPr>
          <a:xfrm>
            <a:off x="5903430" y="6442091"/>
            <a:ext cx="1220477" cy="215444"/>
          </a:xfrm>
          <a:prstGeom prst="rect">
            <a:avLst/>
          </a:prstGeom>
          <a:noFill/>
        </p:spPr>
        <p:txBody>
          <a:bodyPr wrap="square" rtlCol="0">
            <a:spAutoFit/>
          </a:bodyPr>
          <a:lstStyle/>
          <a:p>
            <a:r>
              <a:rPr lang="zh-CN" altLang="en-US" sz="800" b="1" i="0" dirty="0">
                <a:solidFill>
                  <a:schemeClr val="tx1">
                    <a:lumMod val="50000"/>
                    <a:lumOff val="50000"/>
                  </a:schemeClr>
                </a:solidFill>
                <a:latin typeface="幼圆" panose="02010509060101010101" pitchFamily="49" charset="-122"/>
                <a:ea typeface="幼圆" panose="02010509060101010101" pitchFamily="49" charset="-122"/>
              </a:rPr>
              <a:t>浙江大学光电子研究组</a:t>
            </a:r>
            <a:endParaRPr lang="en-GB" sz="800" b="1" i="0" dirty="0">
              <a:solidFill>
                <a:schemeClr val="tx1">
                  <a:lumMod val="50000"/>
                  <a:lumOff val="50000"/>
                </a:schemeClr>
              </a:solidFill>
              <a:latin typeface="幼圆" panose="02010509060101010101" pitchFamily="49" charset="-122"/>
              <a:ea typeface="幼圆" panose="02010509060101010101" pitchFamily="49" charset="-122"/>
            </a:endParaRPr>
          </a:p>
        </p:txBody>
      </p:sp>
      <p:pic>
        <p:nvPicPr>
          <p:cNvPr id="10" name="Picture 9">
            <a:extLst>
              <a:ext uri="{FF2B5EF4-FFF2-40B4-BE49-F238E27FC236}">
                <a16:creationId xmlns:a16="http://schemas.microsoft.com/office/drawing/2014/main" id="{A4FCEC2C-122F-450E-A6DC-E6F63C651A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53401" y="6389634"/>
            <a:ext cx="1448927" cy="261160"/>
          </a:xfrm>
          <a:prstGeom prst="rect">
            <a:avLst/>
          </a:prstGeom>
        </p:spPr>
      </p:pic>
      <p:pic>
        <p:nvPicPr>
          <p:cNvPr id="11" name="Picture 10">
            <a:extLst>
              <a:ext uri="{FF2B5EF4-FFF2-40B4-BE49-F238E27FC236}">
                <a16:creationId xmlns:a16="http://schemas.microsoft.com/office/drawing/2014/main" id="{4BC586DF-A652-4DEE-BFED-C9A13C22D1A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489765" y="6234797"/>
            <a:ext cx="528933" cy="528933"/>
          </a:xfrm>
          <a:prstGeom prst="rect">
            <a:avLst/>
          </a:prstGeom>
        </p:spPr>
      </p:pic>
    </p:spTree>
    <p:extLst>
      <p:ext uri="{BB962C8B-B14F-4D97-AF65-F5344CB8AC3E}">
        <p14:creationId xmlns:p14="http://schemas.microsoft.com/office/powerpoint/2010/main" val="1700831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99330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856881"/>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37"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3.xml"/><Relationship Id="rId6" Type="http://schemas.openxmlformats.org/officeDocument/2006/relationships/hyperlink" Target="optoelectronicszju.com" TargetMode="External"/><Relationship Id="rId5" Type="http://schemas.openxmlformats.org/officeDocument/2006/relationships/hyperlink" Target="mailto:yangzongyin@zju.edu.cn"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youtube.com/watch?v=a-V7zVKYPlo"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6.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130.png"/><Relationship Id="rId7"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0.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3.gif"/><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38.jpe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60.png"/><Relationship Id="rId5" Type="http://schemas.openxmlformats.org/officeDocument/2006/relationships/image" Target="../media/image350.png"/><Relationship Id="rId4" Type="http://schemas.openxmlformats.org/officeDocument/2006/relationships/image" Target="../media/image340.png"/></Relationships>
</file>

<file path=ppt/slides/_rels/slide17.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90.png"/><Relationship Id="rId4" Type="http://schemas.openxmlformats.org/officeDocument/2006/relationships/image" Target="../media/image380.png"/></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image" Target="../media/image40.jpg"/><Relationship Id="rId7"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41.wmf"/></Relationships>
</file>

<file path=ppt/slides/_rels/slide19.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oleObject" Target="../embeddings/oleObject7.bin"/><Relationship Id="rId18" Type="http://schemas.openxmlformats.org/officeDocument/2006/relationships/image" Target="../media/image49.wmf"/><Relationship Id="rId3" Type="http://schemas.openxmlformats.org/officeDocument/2006/relationships/oleObject" Target="../embeddings/oleObject2.bin"/><Relationship Id="rId21" Type="http://schemas.openxmlformats.org/officeDocument/2006/relationships/oleObject" Target="../embeddings/oleObject11.bin"/><Relationship Id="rId7" Type="http://schemas.openxmlformats.org/officeDocument/2006/relationships/oleObject" Target="../embeddings/oleObject4.bin"/><Relationship Id="rId12" Type="http://schemas.openxmlformats.org/officeDocument/2006/relationships/image" Target="../media/image46.wmf"/><Relationship Id="rId17" Type="http://schemas.openxmlformats.org/officeDocument/2006/relationships/oleObject" Target="../embeddings/oleObject9.bin"/><Relationship Id="rId2" Type="http://schemas.openxmlformats.org/officeDocument/2006/relationships/notesSlide" Target="../notesSlides/notesSlide18.xml"/><Relationship Id="rId16" Type="http://schemas.openxmlformats.org/officeDocument/2006/relationships/image" Target="../media/image48.wmf"/><Relationship Id="rId20" Type="http://schemas.openxmlformats.org/officeDocument/2006/relationships/image" Target="../media/image50.wmf"/><Relationship Id="rId1" Type="http://schemas.openxmlformats.org/officeDocument/2006/relationships/slideLayout" Target="../slideLayouts/slideLayout1.xml"/><Relationship Id="rId6" Type="http://schemas.openxmlformats.org/officeDocument/2006/relationships/image" Target="../media/image43.wmf"/><Relationship Id="rId11" Type="http://schemas.openxmlformats.org/officeDocument/2006/relationships/oleObject" Target="../embeddings/oleObject6.bin"/><Relationship Id="rId24" Type="http://schemas.openxmlformats.org/officeDocument/2006/relationships/image" Target="../media/image52.wmf"/><Relationship Id="rId5" Type="http://schemas.openxmlformats.org/officeDocument/2006/relationships/oleObject" Target="../embeddings/oleObject3.bin"/><Relationship Id="rId15" Type="http://schemas.openxmlformats.org/officeDocument/2006/relationships/oleObject" Target="../embeddings/oleObject8.bin"/><Relationship Id="rId23" Type="http://schemas.openxmlformats.org/officeDocument/2006/relationships/oleObject" Target="../embeddings/oleObject12.bin"/><Relationship Id="rId10" Type="http://schemas.openxmlformats.org/officeDocument/2006/relationships/image" Target="../media/image45.wmf"/><Relationship Id="rId19" Type="http://schemas.openxmlformats.org/officeDocument/2006/relationships/oleObject" Target="../embeddings/oleObject10.bin"/><Relationship Id="rId4" Type="http://schemas.openxmlformats.org/officeDocument/2006/relationships/image" Target="../media/image42.wmf"/><Relationship Id="rId9" Type="http://schemas.openxmlformats.org/officeDocument/2006/relationships/oleObject" Target="../embeddings/oleObject5.bin"/><Relationship Id="rId14" Type="http://schemas.openxmlformats.org/officeDocument/2006/relationships/image" Target="../media/image47.wmf"/><Relationship Id="rId22" Type="http://schemas.openxmlformats.org/officeDocument/2006/relationships/image" Target="../media/image51.wmf"/></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53.jp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470.png"/><Relationship Id="rId4" Type="http://schemas.openxmlformats.org/officeDocument/2006/relationships/image" Target="../media/image61.png"/></Relationships>
</file>

<file path=ppt/slides/_rels/slide21.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3" Type="http://schemas.openxmlformats.org/officeDocument/2006/relationships/image" Target="../media/image49.pn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5" Type="http://schemas.openxmlformats.org/officeDocument/2006/relationships/image" Target="../media/image611.png"/><Relationship Id="rId10" Type="http://schemas.openxmlformats.org/officeDocument/2006/relationships/image" Target="../media/image64.png"/><Relationship Id="rId4" Type="http://schemas.openxmlformats.org/officeDocument/2006/relationships/image" Target="../media/image50.png"/><Relationship Id="rId9" Type="http://schemas.openxmlformats.org/officeDocument/2006/relationships/image" Target="../media/image55.png"/><Relationship Id="rId14" Type="http://schemas.openxmlformats.org/officeDocument/2006/relationships/image" Target="../media/image60.png"/></Relationships>
</file>

<file path=ppt/slides/_rels/slide2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66.png"/></Relationships>
</file>

<file path=ppt/slides/_rels/slide2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24.xml.rels><?xml version="1.0" encoding="UTF-8" standalone="yes"?>
<Relationships xmlns="http://schemas.openxmlformats.org/package/2006/relationships"><Relationship Id="rId13" Type="http://schemas.openxmlformats.org/officeDocument/2006/relationships/image" Target="../media/image700.png"/><Relationship Id="rId3" Type="http://schemas.openxmlformats.org/officeDocument/2006/relationships/image" Target="../media/image56.png"/><Relationship Id="rId7" Type="http://schemas.openxmlformats.org/officeDocument/2006/relationships/image" Target="../media/image7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28681D-1331-4A4D-B3D4-917B209F5B69}"/>
              </a:ext>
            </a:extLst>
          </p:cNvPr>
          <p:cNvPicPr>
            <a:picLocks noChangeAspect="1"/>
          </p:cNvPicPr>
          <p:nvPr/>
        </p:nvPicPr>
        <p:blipFill rotWithShape="1">
          <a:blip r:embed="rId2">
            <a:extLst>
              <a:ext uri="{28A0092B-C50C-407E-A947-70E740481C1C}">
                <a14:useLocalDpi xmlns:a14="http://schemas.microsoft.com/office/drawing/2010/main" val="0"/>
              </a:ext>
            </a:extLst>
          </a:blip>
          <a:srcRect t="17968" b="9757"/>
          <a:stretch/>
        </p:blipFill>
        <p:spPr>
          <a:xfrm>
            <a:off x="0" y="957600"/>
            <a:ext cx="9144000" cy="1116733"/>
          </a:xfrm>
          <a:prstGeom prst="rect">
            <a:avLst/>
          </a:prstGeom>
        </p:spPr>
      </p:pic>
      <p:pic>
        <p:nvPicPr>
          <p:cNvPr id="3" name="Picture 2">
            <a:extLst>
              <a:ext uri="{FF2B5EF4-FFF2-40B4-BE49-F238E27FC236}">
                <a16:creationId xmlns:a16="http://schemas.microsoft.com/office/drawing/2014/main" id="{2E37FF98-0CEF-4B09-ADEE-D9C3C08E8F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8262" y="367392"/>
            <a:ext cx="1803065" cy="515161"/>
          </a:xfrm>
          <a:prstGeom prst="rect">
            <a:avLst/>
          </a:prstGeom>
        </p:spPr>
      </p:pic>
      <p:pic>
        <p:nvPicPr>
          <p:cNvPr id="10" name="Picture 9">
            <a:extLst>
              <a:ext uri="{FF2B5EF4-FFF2-40B4-BE49-F238E27FC236}">
                <a16:creationId xmlns:a16="http://schemas.microsoft.com/office/drawing/2014/main" id="{BC6DB705-7990-41D0-9679-E670917E46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0" y="420003"/>
            <a:ext cx="2274358" cy="409938"/>
          </a:xfrm>
          <a:prstGeom prst="rect">
            <a:avLst/>
          </a:prstGeom>
        </p:spPr>
      </p:pic>
      <p:sp>
        <p:nvSpPr>
          <p:cNvPr id="8" name="object 3">
            <a:extLst>
              <a:ext uri="{FF2B5EF4-FFF2-40B4-BE49-F238E27FC236}">
                <a16:creationId xmlns:a16="http://schemas.microsoft.com/office/drawing/2014/main" id="{7D84DD68-DA40-4669-8F41-E077D801DCB5}"/>
              </a:ext>
            </a:extLst>
          </p:cNvPr>
          <p:cNvSpPr txBox="1">
            <a:spLocks noChangeArrowheads="1"/>
          </p:cNvSpPr>
          <p:nvPr/>
        </p:nvSpPr>
        <p:spPr bwMode="auto">
          <a:xfrm>
            <a:off x="0" y="2469215"/>
            <a:ext cx="9144000" cy="2339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tabLst>
                <a:tab pos="1125538" algn="l"/>
              </a:tabLst>
              <a:defRPr>
                <a:solidFill>
                  <a:schemeClr val="tx1"/>
                </a:solidFill>
                <a:latin typeface="Calibri" charset="0"/>
                <a:ea typeface="ＭＳ Ｐゴシック" charset="0"/>
              </a:defRPr>
            </a:lvl1pPr>
            <a:lvl2pPr marL="742950" indent="-285750">
              <a:tabLst>
                <a:tab pos="1125538" algn="l"/>
              </a:tabLst>
              <a:defRPr>
                <a:solidFill>
                  <a:schemeClr val="tx1"/>
                </a:solidFill>
                <a:latin typeface="Calibri" charset="0"/>
                <a:ea typeface="ＭＳ Ｐゴシック" charset="0"/>
              </a:defRPr>
            </a:lvl2pPr>
            <a:lvl3pPr marL="1143000" indent="-228600">
              <a:tabLst>
                <a:tab pos="1125538" algn="l"/>
              </a:tabLst>
              <a:defRPr>
                <a:solidFill>
                  <a:schemeClr val="tx1"/>
                </a:solidFill>
                <a:latin typeface="Calibri" charset="0"/>
                <a:ea typeface="ＭＳ Ｐゴシック" charset="0"/>
              </a:defRPr>
            </a:lvl3pPr>
            <a:lvl4pPr marL="1600200" indent="-228600">
              <a:tabLst>
                <a:tab pos="1125538" algn="l"/>
              </a:tabLst>
              <a:defRPr>
                <a:solidFill>
                  <a:schemeClr val="tx1"/>
                </a:solidFill>
                <a:latin typeface="Calibri" charset="0"/>
                <a:ea typeface="ＭＳ Ｐゴシック" charset="0"/>
              </a:defRPr>
            </a:lvl4pPr>
            <a:lvl5pPr marL="2057400" indent="-228600">
              <a:tabLst>
                <a:tab pos="1125538" algn="l"/>
              </a:tabLst>
              <a:defRPr>
                <a:solidFill>
                  <a:schemeClr val="tx1"/>
                </a:solidFill>
                <a:latin typeface="Calibri" charset="0"/>
                <a:ea typeface="ＭＳ Ｐゴシック" charset="0"/>
              </a:defRPr>
            </a:lvl5pPr>
            <a:lvl6pPr marL="2514600" indent="-228600" fontAlgn="base">
              <a:spcBef>
                <a:spcPct val="0"/>
              </a:spcBef>
              <a:spcAft>
                <a:spcPct val="0"/>
              </a:spcAft>
              <a:tabLst>
                <a:tab pos="1125538" algn="l"/>
              </a:tabLst>
              <a:defRPr>
                <a:solidFill>
                  <a:schemeClr val="tx1"/>
                </a:solidFill>
                <a:latin typeface="Calibri" charset="0"/>
                <a:ea typeface="ＭＳ Ｐゴシック" charset="0"/>
              </a:defRPr>
            </a:lvl6pPr>
            <a:lvl7pPr marL="2971800" indent="-228600" fontAlgn="base">
              <a:spcBef>
                <a:spcPct val="0"/>
              </a:spcBef>
              <a:spcAft>
                <a:spcPct val="0"/>
              </a:spcAft>
              <a:tabLst>
                <a:tab pos="1125538" algn="l"/>
              </a:tabLst>
              <a:defRPr>
                <a:solidFill>
                  <a:schemeClr val="tx1"/>
                </a:solidFill>
                <a:latin typeface="Calibri" charset="0"/>
                <a:ea typeface="ＭＳ Ｐゴシック" charset="0"/>
              </a:defRPr>
            </a:lvl7pPr>
            <a:lvl8pPr marL="3429000" indent="-228600" fontAlgn="base">
              <a:spcBef>
                <a:spcPct val="0"/>
              </a:spcBef>
              <a:spcAft>
                <a:spcPct val="0"/>
              </a:spcAft>
              <a:tabLst>
                <a:tab pos="1125538" algn="l"/>
              </a:tabLst>
              <a:defRPr>
                <a:solidFill>
                  <a:schemeClr val="tx1"/>
                </a:solidFill>
                <a:latin typeface="Calibri" charset="0"/>
                <a:ea typeface="ＭＳ Ｐゴシック" charset="0"/>
              </a:defRPr>
            </a:lvl8pPr>
            <a:lvl9pPr marL="3886200" indent="-228600" fontAlgn="base">
              <a:spcBef>
                <a:spcPct val="0"/>
              </a:spcBef>
              <a:spcAft>
                <a:spcPct val="0"/>
              </a:spcAft>
              <a:tabLst>
                <a:tab pos="1125538" algn="l"/>
              </a:tabLst>
              <a:defRPr>
                <a:solidFill>
                  <a:schemeClr val="tx1"/>
                </a:solidFill>
                <a:latin typeface="Calibri" charset="0"/>
                <a:ea typeface="ＭＳ Ｐゴシック" charset="0"/>
              </a:defRPr>
            </a:lvl9pPr>
          </a:lstStyle>
          <a:p>
            <a:pPr algn="ctr"/>
            <a:r>
              <a:rPr lang="en-US" altLang="zh-CN" sz="2800" b="1" dirty="0">
                <a:solidFill>
                  <a:srgbClr val="0070C0"/>
                </a:solidFill>
                <a:latin typeface="微软雅黑" panose="020B0503020204020204" pitchFamily="34" charset="-122"/>
                <a:ea typeface="微软雅黑" panose="020B0503020204020204" pitchFamily="34" charset="-122"/>
                <a:cs typeface="Microsoft YaHei" charset="0"/>
              </a:rPr>
              <a:t>Fundamentals of Optoelectronics</a:t>
            </a:r>
          </a:p>
          <a:p>
            <a:pPr algn="ctr"/>
            <a:r>
              <a:rPr lang="zh-CN" altLang="en-US" sz="2800" b="1" dirty="0">
                <a:solidFill>
                  <a:srgbClr val="0070C0"/>
                </a:solidFill>
                <a:latin typeface="微软雅黑" panose="020B0503020204020204" pitchFamily="34" charset="-122"/>
                <a:ea typeface="微软雅黑" panose="020B0503020204020204" pitchFamily="34" charset="-122"/>
                <a:cs typeface="Microsoft YaHei" charset="0"/>
              </a:rPr>
              <a:t>（光电子学基础）</a:t>
            </a:r>
            <a:endParaRPr lang="en-US" altLang="zh-CN" sz="2800" b="1" dirty="0">
              <a:solidFill>
                <a:srgbClr val="0070C0"/>
              </a:solidFill>
              <a:latin typeface="微软雅黑" panose="020B0503020204020204" pitchFamily="34" charset="-122"/>
              <a:ea typeface="微软雅黑" panose="020B0503020204020204" pitchFamily="34" charset="-122"/>
              <a:cs typeface="Microsoft YaHei" charset="0"/>
            </a:endParaRPr>
          </a:p>
          <a:p>
            <a:pPr algn="ctr"/>
            <a:endParaRPr lang="en-US" altLang="zh-CN" sz="2400" b="1" dirty="0">
              <a:solidFill>
                <a:srgbClr val="0070C0"/>
              </a:solidFill>
              <a:latin typeface="微软雅黑" panose="020B0503020204020204" pitchFamily="34" charset="-122"/>
              <a:ea typeface="微软雅黑" panose="020B0503020204020204" pitchFamily="34" charset="-122"/>
              <a:cs typeface="Microsoft YaHei" charset="0"/>
            </a:endParaRPr>
          </a:p>
          <a:p>
            <a:pPr algn="ct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rPr>
              <a:t>Prof. Zongyin Yang </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Microsoft YaHei" charset="0"/>
              </a:rPr>
              <a:t>杨宗银</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rPr>
              <a:t> College of Information Science and Electronic Engineering, </a:t>
            </a:r>
          </a:p>
          <a:p>
            <a:pPr algn="ct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rPr>
              <a:t>Zhejiang University </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Microsoft YaHei" charset="0"/>
              </a:rPr>
              <a:t>浙江大学信息与电子工程学院</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object 3">
            <a:extLst>
              <a:ext uri="{FF2B5EF4-FFF2-40B4-BE49-F238E27FC236}">
                <a16:creationId xmlns:a16="http://schemas.microsoft.com/office/drawing/2014/main" id="{74D597F1-A8DA-DD99-AD4F-8CF28C8135E2}"/>
              </a:ext>
            </a:extLst>
          </p:cNvPr>
          <p:cNvSpPr txBox="1">
            <a:spLocks noChangeArrowheads="1"/>
          </p:cNvSpPr>
          <p:nvPr/>
        </p:nvSpPr>
        <p:spPr bwMode="auto">
          <a:xfrm>
            <a:off x="0" y="5900399"/>
            <a:ext cx="9144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tabLst>
                <a:tab pos="1125538" algn="l"/>
              </a:tabLst>
              <a:defRPr>
                <a:solidFill>
                  <a:schemeClr val="tx1"/>
                </a:solidFill>
                <a:latin typeface="Calibri" charset="0"/>
                <a:ea typeface="ＭＳ Ｐゴシック" charset="0"/>
              </a:defRPr>
            </a:lvl1pPr>
            <a:lvl2pPr marL="742950" indent="-285750">
              <a:tabLst>
                <a:tab pos="1125538" algn="l"/>
              </a:tabLst>
              <a:defRPr>
                <a:solidFill>
                  <a:schemeClr val="tx1"/>
                </a:solidFill>
                <a:latin typeface="Calibri" charset="0"/>
                <a:ea typeface="ＭＳ Ｐゴシック" charset="0"/>
              </a:defRPr>
            </a:lvl2pPr>
            <a:lvl3pPr marL="1143000" indent="-228600">
              <a:tabLst>
                <a:tab pos="1125538" algn="l"/>
              </a:tabLst>
              <a:defRPr>
                <a:solidFill>
                  <a:schemeClr val="tx1"/>
                </a:solidFill>
                <a:latin typeface="Calibri" charset="0"/>
                <a:ea typeface="ＭＳ Ｐゴシック" charset="0"/>
              </a:defRPr>
            </a:lvl3pPr>
            <a:lvl4pPr marL="1600200" indent="-228600">
              <a:tabLst>
                <a:tab pos="1125538" algn="l"/>
              </a:tabLst>
              <a:defRPr>
                <a:solidFill>
                  <a:schemeClr val="tx1"/>
                </a:solidFill>
                <a:latin typeface="Calibri" charset="0"/>
                <a:ea typeface="ＭＳ Ｐゴシック" charset="0"/>
              </a:defRPr>
            </a:lvl4pPr>
            <a:lvl5pPr marL="2057400" indent="-228600">
              <a:tabLst>
                <a:tab pos="1125538" algn="l"/>
              </a:tabLst>
              <a:defRPr>
                <a:solidFill>
                  <a:schemeClr val="tx1"/>
                </a:solidFill>
                <a:latin typeface="Calibri" charset="0"/>
                <a:ea typeface="ＭＳ Ｐゴシック" charset="0"/>
              </a:defRPr>
            </a:lvl5pPr>
            <a:lvl6pPr marL="2514600" indent="-228600" fontAlgn="base">
              <a:spcBef>
                <a:spcPct val="0"/>
              </a:spcBef>
              <a:spcAft>
                <a:spcPct val="0"/>
              </a:spcAft>
              <a:tabLst>
                <a:tab pos="1125538" algn="l"/>
              </a:tabLst>
              <a:defRPr>
                <a:solidFill>
                  <a:schemeClr val="tx1"/>
                </a:solidFill>
                <a:latin typeface="Calibri" charset="0"/>
                <a:ea typeface="ＭＳ Ｐゴシック" charset="0"/>
              </a:defRPr>
            </a:lvl6pPr>
            <a:lvl7pPr marL="2971800" indent="-228600" fontAlgn="base">
              <a:spcBef>
                <a:spcPct val="0"/>
              </a:spcBef>
              <a:spcAft>
                <a:spcPct val="0"/>
              </a:spcAft>
              <a:tabLst>
                <a:tab pos="1125538" algn="l"/>
              </a:tabLst>
              <a:defRPr>
                <a:solidFill>
                  <a:schemeClr val="tx1"/>
                </a:solidFill>
                <a:latin typeface="Calibri" charset="0"/>
                <a:ea typeface="ＭＳ Ｐゴシック" charset="0"/>
              </a:defRPr>
            </a:lvl7pPr>
            <a:lvl8pPr marL="3429000" indent="-228600" fontAlgn="base">
              <a:spcBef>
                <a:spcPct val="0"/>
              </a:spcBef>
              <a:spcAft>
                <a:spcPct val="0"/>
              </a:spcAft>
              <a:tabLst>
                <a:tab pos="1125538" algn="l"/>
              </a:tabLst>
              <a:defRPr>
                <a:solidFill>
                  <a:schemeClr val="tx1"/>
                </a:solidFill>
                <a:latin typeface="Calibri" charset="0"/>
                <a:ea typeface="ＭＳ Ｐゴシック" charset="0"/>
              </a:defRPr>
            </a:lvl8pPr>
            <a:lvl9pPr marL="3886200" indent="-228600" fontAlgn="base">
              <a:spcBef>
                <a:spcPct val="0"/>
              </a:spcBef>
              <a:spcAft>
                <a:spcPct val="0"/>
              </a:spcAft>
              <a:tabLst>
                <a:tab pos="1125538" algn="l"/>
              </a:tabLst>
              <a:defRPr>
                <a:solidFill>
                  <a:schemeClr val="tx1"/>
                </a:solidFill>
                <a:latin typeface="Calibri" charset="0"/>
                <a:ea typeface="ＭＳ Ｐゴシック" charset="0"/>
              </a:defRPr>
            </a:lvl9pPr>
          </a:lstStyle>
          <a:p>
            <a:pPr algn="ct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2025</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 春夏学期</a:t>
            </a:r>
            <a:endPar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 name="object 3">
            <a:extLst>
              <a:ext uri="{FF2B5EF4-FFF2-40B4-BE49-F238E27FC236}">
                <a16:creationId xmlns:a16="http://schemas.microsoft.com/office/drawing/2014/main" id="{6C4B7BDA-A0F4-689F-FDEC-11F407361EDB}"/>
              </a:ext>
            </a:extLst>
          </p:cNvPr>
          <p:cNvSpPr txBox="1">
            <a:spLocks noChangeArrowheads="1"/>
          </p:cNvSpPr>
          <p:nvPr/>
        </p:nvSpPr>
        <p:spPr bwMode="auto">
          <a:xfrm>
            <a:off x="0" y="5006763"/>
            <a:ext cx="9144000" cy="69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tabLst>
                <a:tab pos="1125538" algn="l"/>
              </a:tabLst>
              <a:defRPr>
                <a:solidFill>
                  <a:schemeClr val="tx1"/>
                </a:solidFill>
                <a:latin typeface="Calibri" charset="0"/>
                <a:ea typeface="ＭＳ Ｐゴシック" charset="0"/>
              </a:defRPr>
            </a:lvl1pPr>
            <a:lvl2pPr marL="742950" indent="-285750">
              <a:tabLst>
                <a:tab pos="1125538" algn="l"/>
              </a:tabLst>
              <a:defRPr>
                <a:solidFill>
                  <a:schemeClr val="tx1"/>
                </a:solidFill>
                <a:latin typeface="Calibri" charset="0"/>
                <a:ea typeface="ＭＳ Ｐゴシック" charset="0"/>
              </a:defRPr>
            </a:lvl2pPr>
            <a:lvl3pPr marL="1143000" indent="-228600">
              <a:tabLst>
                <a:tab pos="1125538" algn="l"/>
              </a:tabLst>
              <a:defRPr>
                <a:solidFill>
                  <a:schemeClr val="tx1"/>
                </a:solidFill>
                <a:latin typeface="Calibri" charset="0"/>
                <a:ea typeface="ＭＳ Ｐゴシック" charset="0"/>
              </a:defRPr>
            </a:lvl3pPr>
            <a:lvl4pPr marL="1600200" indent="-228600">
              <a:tabLst>
                <a:tab pos="1125538" algn="l"/>
              </a:tabLst>
              <a:defRPr>
                <a:solidFill>
                  <a:schemeClr val="tx1"/>
                </a:solidFill>
                <a:latin typeface="Calibri" charset="0"/>
                <a:ea typeface="ＭＳ Ｐゴシック" charset="0"/>
              </a:defRPr>
            </a:lvl4pPr>
            <a:lvl5pPr marL="2057400" indent="-228600">
              <a:tabLst>
                <a:tab pos="1125538" algn="l"/>
              </a:tabLst>
              <a:defRPr>
                <a:solidFill>
                  <a:schemeClr val="tx1"/>
                </a:solidFill>
                <a:latin typeface="Calibri" charset="0"/>
                <a:ea typeface="ＭＳ Ｐゴシック" charset="0"/>
              </a:defRPr>
            </a:lvl5pPr>
            <a:lvl6pPr marL="2514600" indent="-228600" fontAlgn="base">
              <a:spcBef>
                <a:spcPct val="0"/>
              </a:spcBef>
              <a:spcAft>
                <a:spcPct val="0"/>
              </a:spcAft>
              <a:tabLst>
                <a:tab pos="1125538" algn="l"/>
              </a:tabLst>
              <a:defRPr>
                <a:solidFill>
                  <a:schemeClr val="tx1"/>
                </a:solidFill>
                <a:latin typeface="Calibri" charset="0"/>
                <a:ea typeface="ＭＳ Ｐゴシック" charset="0"/>
              </a:defRPr>
            </a:lvl6pPr>
            <a:lvl7pPr marL="2971800" indent="-228600" fontAlgn="base">
              <a:spcBef>
                <a:spcPct val="0"/>
              </a:spcBef>
              <a:spcAft>
                <a:spcPct val="0"/>
              </a:spcAft>
              <a:tabLst>
                <a:tab pos="1125538" algn="l"/>
              </a:tabLst>
              <a:defRPr>
                <a:solidFill>
                  <a:schemeClr val="tx1"/>
                </a:solidFill>
                <a:latin typeface="Calibri" charset="0"/>
                <a:ea typeface="ＭＳ Ｐゴシック" charset="0"/>
              </a:defRPr>
            </a:lvl7pPr>
            <a:lvl8pPr marL="3429000" indent="-228600" fontAlgn="base">
              <a:spcBef>
                <a:spcPct val="0"/>
              </a:spcBef>
              <a:spcAft>
                <a:spcPct val="0"/>
              </a:spcAft>
              <a:tabLst>
                <a:tab pos="1125538" algn="l"/>
              </a:tabLst>
              <a:defRPr>
                <a:solidFill>
                  <a:schemeClr val="tx1"/>
                </a:solidFill>
                <a:latin typeface="Calibri" charset="0"/>
                <a:ea typeface="ＭＳ Ｐゴシック" charset="0"/>
              </a:defRPr>
            </a:lvl8pPr>
            <a:lvl9pPr marL="3886200" indent="-228600" fontAlgn="base">
              <a:spcBef>
                <a:spcPct val="0"/>
              </a:spcBef>
              <a:spcAft>
                <a:spcPct val="0"/>
              </a:spcAft>
              <a:tabLst>
                <a:tab pos="1125538" algn="l"/>
              </a:tabLst>
              <a:defRPr>
                <a:solidFill>
                  <a:schemeClr val="tx1"/>
                </a:solidFill>
                <a:latin typeface="Calibri" charset="0"/>
                <a:ea typeface="ＭＳ Ｐゴシック" charset="0"/>
              </a:defRPr>
            </a:lvl9pPr>
          </a:lstStyle>
          <a:p>
            <a:pPr algn="ctr">
              <a:lnSpc>
                <a:spcPct val="150000"/>
              </a:lnSpc>
            </a:pP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Email</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hlinkClick r:id="rId5"/>
              </a:rPr>
              <a:t>yangzongyin@zju.edu.cn</a:t>
            </a:r>
            <a:endPar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Website: </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hlinkClick r:id="rId6" action="ppaction://hlinkfile"/>
              </a:rPr>
              <a:t>optoelectronicszju.com</a:t>
            </a:r>
            <a:endPar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30876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Greek Letters</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1025" name="Picture 1">
            <a:extLst>
              <a:ext uri="{FF2B5EF4-FFF2-40B4-BE49-F238E27FC236}">
                <a16:creationId xmlns:a16="http://schemas.microsoft.com/office/drawing/2014/main" id="{7CA40DF6-637F-6005-2DDE-FFFB903726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52" t="4952" r="4945" b="47599"/>
          <a:stretch/>
        </p:blipFill>
        <p:spPr bwMode="auto">
          <a:xfrm>
            <a:off x="180109" y="1594591"/>
            <a:ext cx="4370522" cy="37891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AAFA626B-6F26-EFA3-6151-BE581ECB6C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52401" r="4728" b="3921"/>
          <a:stretch/>
        </p:blipFill>
        <p:spPr bwMode="auto">
          <a:xfrm>
            <a:off x="4639550" y="1941957"/>
            <a:ext cx="4370522" cy="3487915"/>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a:extLst>
              <a:ext uri="{FF2B5EF4-FFF2-40B4-BE49-F238E27FC236}">
                <a16:creationId xmlns:a16="http://schemas.microsoft.com/office/drawing/2014/main" id="{44A5A6CE-D969-49C7-B637-17520C8B37EA}"/>
              </a:ext>
            </a:extLst>
          </p:cNvPr>
          <p:cNvSpPr/>
          <p:nvPr/>
        </p:nvSpPr>
        <p:spPr>
          <a:xfrm>
            <a:off x="2859724" y="759688"/>
            <a:ext cx="3382080" cy="369332"/>
          </a:xfrm>
          <a:prstGeom prst="rect">
            <a:avLst/>
          </a:prstGeom>
        </p:spPr>
        <p:txBody>
          <a:bodyPr wrap="none">
            <a:spAutoFit/>
          </a:bodyPr>
          <a:lstStyle/>
          <a:p>
            <a:r>
              <a:rPr lang="en-US" altLang="zh-CN" b="1" dirty="0">
                <a:hlinkClick r:id="rId4"/>
              </a:rPr>
              <a:t>Greek Alphabet Symbols List</a:t>
            </a:r>
            <a:endParaRPr lang="zh-CN" altLang="en-US" b="1" dirty="0"/>
          </a:p>
        </p:txBody>
      </p:sp>
    </p:spTree>
    <p:extLst>
      <p:ext uri="{BB962C8B-B14F-4D97-AF65-F5344CB8AC3E}">
        <p14:creationId xmlns:p14="http://schemas.microsoft.com/office/powerpoint/2010/main" val="1445643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Quiz:</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Greek letters</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B0B080BD-126E-2703-3475-35B28A52B80A}"/>
              </a:ext>
            </a:extLst>
          </p:cNvPr>
          <p:cNvSpPr txBox="1"/>
          <p:nvPr/>
        </p:nvSpPr>
        <p:spPr>
          <a:xfrm>
            <a:off x="1042193" y="1355324"/>
            <a:ext cx="411841" cy="2246769"/>
          </a:xfrm>
          <a:prstGeom prst="rect">
            <a:avLst/>
          </a:prstGeom>
          <a:noFill/>
        </p:spPr>
        <p:txBody>
          <a:bodyPr wrap="square">
            <a:spAutoFit/>
          </a:bodyPr>
          <a:lstStyle/>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Γ</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Ε</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Ι </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Λ</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H</a:t>
            </a:r>
            <a:endParaRPr lang="en-US" altLang="zh-CN" sz="2800" dirty="0">
              <a:latin typeface="Cambria Math" panose="02040503050406030204" pitchFamily="18" charset="0"/>
              <a:ea typeface="Cambria Math" panose="02040503050406030204" pitchFamily="18" charset="0"/>
              <a:cs typeface="Arial" panose="020B0604020202020204" pitchFamily="34" charset="0"/>
            </a:endParaRPr>
          </a:p>
        </p:txBody>
      </p:sp>
      <p:sp>
        <p:nvSpPr>
          <p:cNvPr id="5" name="文本框 4">
            <a:extLst>
              <a:ext uri="{FF2B5EF4-FFF2-40B4-BE49-F238E27FC236}">
                <a16:creationId xmlns:a16="http://schemas.microsoft.com/office/drawing/2014/main" id="{DE3E4BBC-A838-F959-8BEE-C524E4F48658}"/>
              </a:ext>
            </a:extLst>
          </p:cNvPr>
          <p:cNvSpPr txBox="1"/>
          <p:nvPr/>
        </p:nvSpPr>
        <p:spPr>
          <a:xfrm>
            <a:off x="6351589" y="3585806"/>
            <a:ext cx="504836" cy="2246769"/>
          </a:xfrm>
          <a:prstGeom prst="rect">
            <a:avLst/>
          </a:prstGeom>
          <a:noFill/>
        </p:spPr>
        <p:txBody>
          <a:bodyPr wrap="square">
            <a:spAutoFit/>
          </a:bodyPr>
          <a:lstStyle/>
          <a:p>
            <a:pPr algn="just"/>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ξ </a:t>
            </a:r>
          </a:p>
          <a:p>
            <a:pPr algn="just"/>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σ </a:t>
            </a:r>
          </a:p>
          <a:p>
            <a:pPr algn="just"/>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υ </a:t>
            </a:r>
          </a:p>
          <a:p>
            <a:pPr algn="just"/>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χ </a:t>
            </a:r>
          </a:p>
          <a:p>
            <a:pPr algn="just"/>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ψ</a:t>
            </a:r>
            <a:endParaRPr lang="en-US" altLang="zh-CN" sz="2800" dirty="0">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76D093CA-7952-4698-C918-842282210DFC}"/>
              </a:ext>
            </a:extLst>
          </p:cNvPr>
          <p:cNvSpPr txBox="1"/>
          <p:nvPr/>
        </p:nvSpPr>
        <p:spPr>
          <a:xfrm>
            <a:off x="3874431" y="1355324"/>
            <a:ext cx="504837" cy="1815882"/>
          </a:xfrm>
          <a:prstGeom prst="rect">
            <a:avLst/>
          </a:prstGeom>
          <a:noFill/>
        </p:spPr>
        <p:txBody>
          <a:bodyPr wrap="square">
            <a:spAutoFit/>
          </a:bodyPr>
          <a:lstStyle/>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Μ</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Ν</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Ξ</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Ο</a:t>
            </a:r>
            <a:endParaRPr lang="en-US" altLang="zh-CN" sz="2800" dirty="0">
              <a:latin typeface="Cambria Math" panose="02040503050406030204" pitchFamily="18" charset="0"/>
              <a:ea typeface="Cambria Math" panose="02040503050406030204" pitchFamily="18" charset="0"/>
              <a:cs typeface="Arial" panose="020B0604020202020204" pitchFamily="34" charset="0"/>
            </a:endParaRPr>
          </a:p>
        </p:txBody>
      </p:sp>
      <p:sp>
        <p:nvSpPr>
          <p:cNvPr id="7" name="文本框 6">
            <a:extLst>
              <a:ext uri="{FF2B5EF4-FFF2-40B4-BE49-F238E27FC236}">
                <a16:creationId xmlns:a16="http://schemas.microsoft.com/office/drawing/2014/main" id="{C991FD9B-7668-D02A-4341-41FED5C3CFD0}"/>
              </a:ext>
            </a:extLst>
          </p:cNvPr>
          <p:cNvSpPr txBox="1"/>
          <p:nvPr/>
        </p:nvSpPr>
        <p:spPr>
          <a:xfrm>
            <a:off x="6316550" y="1355324"/>
            <a:ext cx="400905" cy="1815882"/>
          </a:xfrm>
          <a:prstGeom prst="rect">
            <a:avLst/>
          </a:prstGeom>
          <a:noFill/>
        </p:spPr>
        <p:txBody>
          <a:bodyPr wrap="square">
            <a:spAutoFit/>
          </a:bodyPr>
          <a:lstStyle/>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Σ</a:t>
            </a:r>
          </a:p>
          <a:p>
            <a:pPr algn="just"/>
            <a:r>
              <a:rPr lang="en-US" altLang="zh-CN" sz="2800" b="1" dirty="0">
                <a:latin typeface="Calibri" panose="020F0502020204030204" pitchFamily="34" charset="0"/>
                <a:ea typeface="Cambria Math" panose="02040503050406030204" pitchFamily="18" charset="0"/>
                <a:cs typeface="Calibri" panose="020F0502020204030204" pitchFamily="34" charset="0"/>
              </a:rPr>
              <a:t>Υ</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Χ</a:t>
            </a:r>
          </a:p>
          <a:p>
            <a:pPr algn="just"/>
            <a:r>
              <a:rPr lang="en-US" altLang="zh-CN" sz="2800" b="1" dirty="0">
                <a:latin typeface="Cambria Math" panose="02040503050406030204" pitchFamily="18" charset="0"/>
                <a:ea typeface="Cambria Math" panose="02040503050406030204" pitchFamily="18" charset="0"/>
                <a:cs typeface="Arial" panose="020B0604020202020204" pitchFamily="34" charset="0"/>
              </a:rPr>
              <a:t>Ψ</a:t>
            </a:r>
            <a:endParaRPr lang="en-US" altLang="zh-CN" sz="2800" dirty="0">
              <a:latin typeface="Cambria Math" panose="02040503050406030204" pitchFamily="18" charset="0"/>
              <a:ea typeface="Cambria Math" panose="02040503050406030204" pitchFamily="18" charset="0"/>
              <a:cs typeface="Arial" panose="020B0604020202020204" pitchFamily="34" charset="0"/>
            </a:endParaRPr>
          </a:p>
        </p:txBody>
      </p:sp>
      <p:sp>
        <p:nvSpPr>
          <p:cNvPr id="10" name="文本框 9">
            <a:extLst>
              <a:ext uri="{FF2B5EF4-FFF2-40B4-BE49-F238E27FC236}">
                <a16:creationId xmlns:a16="http://schemas.microsoft.com/office/drawing/2014/main" id="{BCB1BC9C-C132-B546-979B-69511B45C6CD}"/>
              </a:ext>
            </a:extLst>
          </p:cNvPr>
          <p:cNvSpPr txBox="1"/>
          <p:nvPr/>
        </p:nvSpPr>
        <p:spPr>
          <a:xfrm>
            <a:off x="1042193" y="3949363"/>
            <a:ext cx="466795" cy="1815882"/>
          </a:xfrm>
          <a:prstGeom prst="rect">
            <a:avLst/>
          </a:prstGeom>
          <a:noFill/>
        </p:spPr>
        <p:txBody>
          <a:bodyPr wrap="square">
            <a:spAutoFit/>
          </a:bodyPr>
          <a:lstStyle/>
          <a:p>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γ </a:t>
            </a:r>
          </a:p>
          <a:p>
            <a:r>
              <a:rPr lang="el-GR" altLang="zh-CN" sz="2800" b="1" dirty="0">
                <a:latin typeface="Times New Roman" panose="02020603050405020304" pitchFamily="18" charset="0"/>
                <a:ea typeface="Cambria Math" panose="02040503050406030204" pitchFamily="18" charset="0"/>
                <a:cs typeface="Times New Roman" panose="02020603050405020304" pitchFamily="18" charset="0"/>
              </a:rPr>
              <a:t>Δ</a:t>
            </a:r>
            <a:endParaRPr lang="en-US" altLang="zh-CN" sz="2800" b="1" dirty="0">
              <a:latin typeface="Times New Roman" panose="02020603050405020304" pitchFamily="18" charset="0"/>
              <a:ea typeface="Cambria Math" panose="02040503050406030204" pitchFamily="18" charset="0"/>
              <a:cs typeface="Times New Roman" panose="02020603050405020304" pitchFamily="18" charset="0"/>
            </a:endParaRPr>
          </a:p>
          <a:p>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ε </a:t>
            </a:r>
          </a:p>
          <a:p>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ζ</a:t>
            </a:r>
            <a:endParaRPr lang="zh-CN" altLang="en-US" sz="28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6F4924EF-A081-6BE7-9B27-616D5F4B5706}"/>
              </a:ext>
            </a:extLst>
          </p:cNvPr>
          <p:cNvSpPr txBox="1"/>
          <p:nvPr/>
        </p:nvSpPr>
        <p:spPr>
          <a:xfrm>
            <a:off x="3874432" y="3949363"/>
            <a:ext cx="504836" cy="1815882"/>
          </a:xfrm>
          <a:prstGeom prst="rect">
            <a:avLst/>
          </a:prstGeom>
          <a:noFill/>
        </p:spPr>
        <p:txBody>
          <a:bodyPr wrap="square">
            <a:spAutoFit/>
          </a:bodyPr>
          <a:lstStyle/>
          <a:p>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η</a:t>
            </a:r>
          </a:p>
          <a:p>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ι </a:t>
            </a:r>
          </a:p>
          <a:p>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κ </a:t>
            </a:r>
          </a:p>
          <a:p>
            <a:r>
              <a:rPr lang="en-US" altLang="zh-CN" sz="2800" b="1" dirty="0">
                <a:latin typeface="Times New Roman" panose="02020603050405020304" pitchFamily="18" charset="0"/>
                <a:ea typeface="Cambria Math" panose="02040503050406030204" pitchFamily="18" charset="0"/>
                <a:cs typeface="Times New Roman" panose="02020603050405020304" pitchFamily="18" charset="0"/>
              </a:rPr>
              <a:t>ν</a:t>
            </a:r>
            <a:endParaRPr lang="zh-CN" altLang="en-US" sz="2800"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ED4ED2DB-9A91-CD44-572F-D840A12251BB}"/>
              </a:ext>
            </a:extLst>
          </p:cNvPr>
          <p:cNvSpPr txBox="1"/>
          <p:nvPr/>
        </p:nvSpPr>
        <p:spPr>
          <a:xfrm>
            <a:off x="1825213" y="1378891"/>
            <a:ext cx="1701761" cy="2246769"/>
          </a:xfrm>
          <a:prstGeom prst="rect">
            <a:avLst/>
          </a:prstGeom>
          <a:noFill/>
        </p:spPr>
        <p:txBody>
          <a:bodyPr wrap="square">
            <a:spAutoFit/>
          </a:bodyPr>
          <a:lstStyle/>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Gamma</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Epsilon</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Iota</a:t>
            </a:r>
          </a:p>
          <a:p>
            <a:pPr algn="just"/>
            <a:r>
              <a:rPr lang="en-US" altLang="zh-CN" sz="2800" b="1" dirty="0" err="1">
                <a:solidFill>
                  <a:schemeClr val="accent1"/>
                </a:solidFill>
                <a:latin typeface="Cambria Math" panose="02040503050406030204" pitchFamily="18" charset="0"/>
                <a:ea typeface="Cambria Math" panose="02040503050406030204" pitchFamily="18" charset="0"/>
                <a:cs typeface="Arial" panose="020B0604020202020204" pitchFamily="34" charset="0"/>
              </a:rPr>
              <a:t>Lamda</a:t>
            </a:r>
            <a:endPar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Eta</a:t>
            </a:r>
            <a:endParaRPr lang="en-US" altLang="zh-CN" sz="2800"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p:txBody>
      </p:sp>
      <p:sp>
        <p:nvSpPr>
          <p:cNvPr id="3" name="文本框 2">
            <a:extLst>
              <a:ext uri="{FF2B5EF4-FFF2-40B4-BE49-F238E27FC236}">
                <a16:creationId xmlns:a16="http://schemas.microsoft.com/office/drawing/2014/main" id="{797D3204-7A03-0E53-C6E5-281C8AC6AA4A}"/>
              </a:ext>
            </a:extLst>
          </p:cNvPr>
          <p:cNvSpPr txBox="1"/>
          <p:nvPr/>
        </p:nvSpPr>
        <p:spPr>
          <a:xfrm>
            <a:off x="4522618" y="1355324"/>
            <a:ext cx="1701761" cy="1815882"/>
          </a:xfrm>
          <a:prstGeom prst="rect">
            <a:avLst/>
          </a:prstGeom>
          <a:noFill/>
        </p:spPr>
        <p:txBody>
          <a:bodyPr wrap="square">
            <a:spAutoFit/>
          </a:bodyPr>
          <a:lstStyle/>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Mu</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Nu</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ξ </a:t>
            </a:r>
            <a:r>
              <a:rPr lang="zh-CN" altLang="en-US"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克西</a:t>
            </a:r>
            <a:endPar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Omicron</a:t>
            </a:r>
            <a:endParaRPr lang="en-US" altLang="zh-CN" sz="2800"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p:txBody>
      </p:sp>
      <p:sp>
        <p:nvSpPr>
          <p:cNvPr id="9" name="文本框 8">
            <a:extLst>
              <a:ext uri="{FF2B5EF4-FFF2-40B4-BE49-F238E27FC236}">
                <a16:creationId xmlns:a16="http://schemas.microsoft.com/office/drawing/2014/main" id="{B3DADDDB-3007-9AB7-1BA3-C03DBD4DFAD1}"/>
              </a:ext>
            </a:extLst>
          </p:cNvPr>
          <p:cNvSpPr txBox="1"/>
          <p:nvPr/>
        </p:nvSpPr>
        <p:spPr>
          <a:xfrm>
            <a:off x="6809626" y="1355324"/>
            <a:ext cx="1701761" cy="1815882"/>
          </a:xfrm>
          <a:prstGeom prst="rect">
            <a:avLst/>
          </a:prstGeom>
          <a:noFill/>
        </p:spPr>
        <p:txBody>
          <a:bodyPr wrap="square">
            <a:spAutoFit/>
          </a:bodyPr>
          <a:lstStyle/>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Sigma</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Upsilon</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Kai</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Psi</a:t>
            </a:r>
            <a:endParaRPr lang="en-US" altLang="zh-CN" sz="2800"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p:txBody>
      </p:sp>
      <p:sp>
        <p:nvSpPr>
          <p:cNvPr id="11" name="文本框 10">
            <a:extLst>
              <a:ext uri="{FF2B5EF4-FFF2-40B4-BE49-F238E27FC236}">
                <a16:creationId xmlns:a16="http://schemas.microsoft.com/office/drawing/2014/main" id="{4631432A-B734-2993-2335-274525D1EE44}"/>
              </a:ext>
            </a:extLst>
          </p:cNvPr>
          <p:cNvSpPr txBox="1"/>
          <p:nvPr/>
        </p:nvSpPr>
        <p:spPr>
          <a:xfrm>
            <a:off x="1784967" y="4016693"/>
            <a:ext cx="1701761" cy="1815882"/>
          </a:xfrm>
          <a:prstGeom prst="rect">
            <a:avLst/>
          </a:prstGeom>
          <a:noFill/>
        </p:spPr>
        <p:txBody>
          <a:bodyPr wrap="square">
            <a:spAutoFit/>
          </a:bodyPr>
          <a:lstStyle/>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Gamma</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Delta</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Epsilon</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Zeta</a:t>
            </a:r>
            <a:endParaRPr lang="en-US" altLang="zh-CN" sz="2800"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p:txBody>
      </p:sp>
      <p:sp>
        <p:nvSpPr>
          <p:cNvPr id="12" name="文本框 11">
            <a:extLst>
              <a:ext uri="{FF2B5EF4-FFF2-40B4-BE49-F238E27FC236}">
                <a16:creationId xmlns:a16="http://schemas.microsoft.com/office/drawing/2014/main" id="{FF3BF8B4-321E-C823-940E-F0ECCF46213F}"/>
              </a:ext>
            </a:extLst>
          </p:cNvPr>
          <p:cNvSpPr txBox="1"/>
          <p:nvPr/>
        </p:nvSpPr>
        <p:spPr>
          <a:xfrm>
            <a:off x="4566912" y="3949363"/>
            <a:ext cx="1701761" cy="1815882"/>
          </a:xfrm>
          <a:prstGeom prst="rect">
            <a:avLst/>
          </a:prstGeom>
          <a:noFill/>
        </p:spPr>
        <p:txBody>
          <a:bodyPr wrap="square">
            <a:spAutoFit/>
          </a:bodyPr>
          <a:lstStyle/>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Eta</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Iota</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Kappa</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Nu</a:t>
            </a:r>
          </a:p>
        </p:txBody>
      </p:sp>
      <p:sp>
        <p:nvSpPr>
          <p:cNvPr id="13" name="文本框 12">
            <a:extLst>
              <a:ext uri="{FF2B5EF4-FFF2-40B4-BE49-F238E27FC236}">
                <a16:creationId xmlns:a16="http://schemas.microsoft.com/office/drawing/2014/main" id="{B7111AFB-C20D-2CB9-5209-D4628B10A6B9}"/>
              </a:ext>
            </a:extLst>
          </p:cNvPr>
          <p:cNvSpPr txBox="1"/>
          <p:nvPr/>
        </p:nvSpPr>
        <p:spPr>
          <a:xfrm>
            <a:off x="6809625" y="3602093"/>
            <a:ext cx="1701761" cy="2246769"/>
          </a:xfrm>
          <a:prstGeom prst="rect">
            <a:avLst/>
          </a:prstGeom>
          <a:noFill/>
        </p:spPr>
        <p:txBody>
          <a:bodyPr wrap="square">
            <a:spAutoFit/>
          </a:bodyPr>
          <a:lstStyle/>
          <a:p>
            <a:pPr algn="just"/>
            <a:r>
              <a:rPr lang="zh-CN" altLang="en-US"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克西</a:t>
            </a:r>
            <a:endPar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Sigma</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Upsilon</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Kai</a:t>
            </a:r>
          </a:p>
          <a:p>
            <a:pPr algn="just"/>
            <a:r>
              <a:rPr lang="en-US" altLang="zh-CN" sz="2800" b="1" dirty="0">
                <a:solidFill>
                  <a:schemeClr val="accent1"/>
                </a:solidFill>
                <a:latin typeface="Cambria Math" panose="02040503050406030204" pitchFamily="18" charset="0"/>
                <a:ea typeface="Cambria Math" panose="02040503050406030204" pitchFamily="18" charset="0"/>
                <a:cs typeface="Arial" panose="020B0604020202020204" pitchFamily="34" charset="0"/>
              </a:rPr>
              <a:t>Psi</a:t>
            </a:r>
            <a:endParaRPr lang="en-US" altLang="zh-CN" sz="2800" dirty="0">
              <a:solidFill>
                <a:schemeClr val="accent1"/>
              </a:solidFill>
              <a:latin typeface="Cambria Math" panose="02040503050406030204" pitchFamily="18" charset="0"/>
              <a:ea typeface="Cambria Math" panose="02040503050406030204" pitchFamily="18" charset="0"/>
              <a:cs typeface="Arial" panose="020B0604020202020204" pitchFamily="34" charset="0"/>
            </a:endParaRPr>
          </a:p>
        </p:txBody>
      </p:sp>
    </p:spTree>
    <p:extLst>
      <p:ext uri="{BB962C8B-B14F-4D97-AF65-F5344CB8AC3E}">
        <p14:creationId xmlns:p14="http://schemas.microsoft.com/office/powerpoint/2010/main" val="1067717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0" grpId="0"/>
      <p:bldP spid="14" grpId="0"/>
      <p:bldP spid="2" grpId="0"/>
      <p:bldP spid="3" grpId="0"/>
      <p:bldP spid="9" grpId="0"/>
      <p:bldP spid="11" grpId="0"/>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What is light?</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文本框 3">
            <a:extLst>
              <a:ext uri="{FF2B5EF4-FFF2-40B4-BE49-F238E27FC236}">
                <a16:creationId xmlns:a16="http://schemas.microsoft.com/office/drawing/2014/main" id="{246C8F8A-A598-6BB7-82D4-3B57324AF64E}"/>
              </a:ext>
            </a:extLst>
          </p:cNvPr>
          <p:cNvSpPr txBox="1"/>
          <p:nvPr/>
        </p:nvSpPr>
        <p:spPr>
          <a:xfrm>
            <a:off x="3753098" y="5345647"/>
            <a:ext cx="4286774"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Ray optics</a:t>
            </a:r>
            <a:r>
              <a:rPr lang="en-US" altLang="zh-CN" dirty="0"/>
              <a:t>: the limit of wave optics when the wavelength is very short</a:t>
            </a:r>
            <a:endParaRPr lang="zh-CN" altLang="en-US" dirty="0"/>
          </a:p>
        </p:txBody>
      </p:sp>
      <p:sp>
        <p:nvSpPr>
          <p:cNvPr id="3" name="椭圆 2">
            <a:extLst>
              <a:ext uri="{FF2B5EF4-FFF2-40B4-BE49-F238E27FC236}">
                <a16:creationId xmlns:a16="http://schemas.microsoft.com/office/drawing/2014/main" id="{FE37DF86-15E2-22EE-956D-32C6BAC2A4A9}"/>
              </a:ext>
            </a:extLst>
          </p:cNvPr>
          <p:cNvSpPr/>
          <p:nvPr/>
        </p:nvSpPr>
        <p:spPr>
          <a:xfrm>
            <a:off x="409951" y="3477092"/>
            <a:ext cx="3112315" cy="3021621"/>
          </a:xfrm>
          <a:prstGeom prst="ellipse">
            <a:avLst/>
          </a:prstGeom>
          <a:solidFill>
            <a:srgbClr val="FED5D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93F484BA-AA55-5030-5560-1F11ACE58502}"/>
              </a:ext>
            </a:extLst>
          </p:cNvPr>
          <p:cNvSpPr/>
          <p:nvPr/>
        </p:nvSpPr>
        <p:spPr>
          <a:xfrm>
            <a:off x="939856" y="4132833"/>
            <a:ext cx="1971133" cy="1913694"/>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C996BA00-B40D-67EE-6F76-397654AE19A7}"/>
              </a:ext>
            </a:extLst>
          </p:cNvPr>
          <p:cNvSpPr/>
          <p:nvPr/>
        </p:nvSpPr>
        <p:spPr>
          <a:xfrm>
            <a:off x="1456901" y="4825060"/>
            <a:ext cx="937041" cy="90973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a:extLst>
              <a:ext uri="{FF2B5EF4-FFF2-40B4-BE49-F238E27FC236}">
                <a16:creationId xmlns:a16="http://schemas.microsoft.com/office/drawing/2014/main" id="{431D88A1-1ACC-C304-57B8-5E5BB1D2092A}"/>
              </a:ext>
            </a:extLst>
          </p:cNvPr>
          <p:cNvCxnSpPr>
            <a:cxnSpLocks/>
          </p:cNvCxnSpPr>
          <p:nvPr/>
        </p:nvCxnSpPr>
        <p:spPr>
          <a:xfrm>
            <a:off x="1966108" y="5558306"/>
            <a:ext cx="17868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80FF22A6-A7A3-93A3-AD79-820DB49A0893}"/>
              </a:ext>
            </a:extLst>
          </p:cNvPr>
          <p:cNvCxnSpPr>
            <a:cxnSpLocks/>
          </p:cNvCxnSpPr>
          <p:nvPr/>
        </p:nvCxnSpPr>
        <p:spPr>
          <a:xfrm>
            <a:off x="1966108" y="4552283"/>
            <a:ext cx="17868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3">
            <a:extLst>
              <a:ext uri="{FF2B5EF4-FFF2-40B4-BE49-F238E27FC236}">
                <a16:creationId xmlns:a16="http://schemas.microsoft.com/office/drawing/2014/main" id="{D2505B41-F028-3C44-01DB-79BFFE062A85}"/>
              </a:ext>
            </a:extLst>
          </p:cNvPr>
          <p:cNvSpPr txBox="1"/>
          <p:nvPr/>
        </p:nvSpPr>
        <p:spPr>
          <a:xfrm>
            <a:off x="3799104" y="4090618"/>
            <a:ext cx="5037588"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Wave optics</a:t>
            </a:r>
            <a:r>
              <a:rPr lang="en-US" altLang="zh-CN" dirty="0"/>
              <a:t>: approximation to electromagnetic optics that relies on the wavefunction, a scalar function of time and space.</a:t>
            </a:r>
            <a:endParaRPr lang="zh-CN" altLang="en-US" dirty="0"/>
          </a:p>
        </p:txBody>
      </p:sp>
      <p:cxnSp>
        <p:nvCxnSpPr>
          <p:cNvPr id="19" name="直接箭头连接符 18">
            <a:extLst>
              <a:ext uri="{FF2B5EF4-FFF2-40B4-BE49-F238E27FC236}">
                <a16:creationId xmlns:a16="http://schemas.microsoft.com/office/drawing/2014/main" id="{0720EB48-3EFF-491C-734A-3560A1DE55CB}"/>
              </a:ext>
            </a:extLst>
          </p:cNvPr>
          <p:cNvCxnSpPr>
            <a:cxnSpLocks/>
          </p:cNvCxnSpPr>
          <p:nvPr/>
        </p:nvCxnSpPr>
        <p:spPr>
          <a:xfrm>
            <a:off x="1966108" y="3639281"/>
            <a:ext cx="17868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本框 3">
            <a:extLst>
              <a:ext uri="{FF2B5EF4-FFF2-40B4-BE49-F238E27FC236}">
                <a16:creationId xmlns:a16="http://schemas.microsoft.com/office/drawing/2014/main" id="{E4BCFD42-6A4D-4C4C-9D40-DD473F34FCDA}"/>
              </a:ext>
            </a:extLst>
          </p:cNvPr>
          <p:cNvSpPr txBox="1"/>
          <p:nvPr/>
        </p:nvSpPr>
        <p:spPr>
          <a:xfrm>
            <a:off x="3799104" y="2945876"/>
            <a:ext cx="5037588"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Electromagnetic optics</a:t>
            </a:r>
            <a:r>
              <a:rPr lang="en-US" altLang="zh-CN" dirty="0"/>
              <a:t>: vector theory comprising an electric field and magnetic field that vary in time and space.</a:t>
            </a:r>
            <a:endParaRPr lang="zh-CN" altLang="en-US" dirty="0"/>
          </a:p>
        </p:txBody>
      </p:sp>
      <p:sp>
        <p:nvSpPr>
          <p:cNvPr id="4" name="文本框 3">
            <a:extLst>
              <a:ext uri="{FF2B5EF4-FFF2-40B4-BE49-F238E27FC236}">
                <a16:creationId xmlns:a16="http://schemas.microsoft.com/office/drawing/2014/main" id="{084C0BC6-3159-FD04-5B05-F248DE006EDF}"/>
              </a:ext>
            </a:extLst>
          </p:cNvPr>
          <p:cNvSpPr txBox="1"/>
          <p:nvPr/>
        </p:nvSpPr>
        <p:spPr>
          <a:xfrm>
            <a:off x="409951" y="1858950"/>
            <a:ext cx="1220199"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b="1" dirty="0"/>
              <a:t>几何光学</a:t>
            </a:r>
            <a:endParaRPr lang="zh-CN" altLang="en-US" dirty="0"/>
          </a:p>
        </p:txBody>
      </p:sp>
      <p:sp>
        <p:nvSpPr>
          <p:cNvPr id="7" name="文本框 6">
            <a:extLst>
              <a:ext uri="{FF2B5EF4-FFF2-40B4-BE49-F238E27FC236}">
                <a16:creationId xmlns:a16="http://schemas.microsoft.com/office/drawing/2014/main" id="{5B8DDFF5-998A-0331-D753-9BDFABB0678F}"/>
              </a:ext>
            </a:extLst>
          </p:cNvPr>
          <p:cNvSpPr txBox="1"/>
          <p:nvPr/>
        </p:nvSpPr>
        <p:spPr>
          <a:xfrm>
            <a:off x="2162551" y="1858950"/>
            <a:ext cx="1220199"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b="1" dirty="0"/>
              <a:t>粒子学说</a:t>
            </a:r>
            <a:endParaRPr lang="zh-CN" altLang="en-US" dirty="0"/>
          </a:p>
        </p:txBody>
      </p:sp>
      <p:sp>
        <p:nvSpPr>
          <p:cNvPr id="11" name="文本框 10">
            <a:extLst>
              <a:ext uri="{FF2B5EF4-FFF2-40B4-BE49-F238E27FC236}">
                <a16:creationId xmlns:a16="http://schemas.microsoft.com/office/drawing/2014/main" id="{9C668CBB-88CF-F952-FBED-5C322EB53318}"/>
              </a:ext>
            </a:extLst>
          </p:cNvPr>
          <p:cNvSpPr txBox="1"/>
          <p:nvPr/>
        </p:nvSpPr>
        <p:spPr>
          <a:xfrm>
            <a:off x="3822172" y="1858950"/>
            <a:ext cx="1220199"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b="1" dirty="0"/>
              <a:t>波动光学</a:t>
            </a:r>
            <a:endParaRPr lang="zh-CN" altLang="en-US" dirty="0"/>
          </a:p>
        </p:txBody>
      </p:sp>
      <p:sp>
        <p:nvSpPr>
          <p:cNvPr id="12" name="文本框 11">
            <a:extLst>
              <a:ext uri="{FF2B5EF4-FFF2-40B4-BE49-F238E27FC236}">
                <a16:creationId xmlns:a16="http://schemas.microsoft.com/office/drawing/2014/main" id="{211B0751-0A18-0139-1003-2143DDE90C74}"/>
              </a:ext>
            </a:extLst>
          </p:cNvPr>
          <p:cNvSpPr txBox="1"/>
          <p:nvPr/>
        </p:nvSpPr>
        <p:spPr>
          <a:xfrm>
            <a:off x="5401601" y="1858950"/>
            <a:ext cx="1220199"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b="1" dirty="0"/>
              <a:t>电磁光学</a:t>
            </a:r>
            <a:endParaRPr lang="zh-CN" altLang="en-US" dirty="0"/>
          </a:p>
        </p:txBody>
      </p:sp>
      <p:sp>
        <p:nvSpPr>
          <p:cNvPr id="13" name="文本框 12">
            <a:extLst>
              <a:ext uri="{FF2B5EF4-FFF2-40B4-BE49-F238E27FC236}">
                <a16:creationId xmlns:a16="http://schemas.microsoft.com/office/drawing/2014/main" id="{2AAC9757-00D6-0ED1-B750-6FCAE071BAF6}"/>
              </a:ext>
            </a:extLst>
          </p:cNvPr>
          <p:cNvSpPr txBox="1"/>
          <p:nvPr/>
        </p:nvSpPr>
        <p:spPr>
          <a:xfrm>
            <a:off x="7309722" y="1867349"/>
            <a:ext cx="1416141"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b="1" dirty="0"/>
              <a:t>波粒二象性</a:t>
            </a:r>
            <a:endParaRPr lang="zh-CN" altLang="en-US" dirty="0"/>
          </a:p>
        </p:txBody>
      </p:sp>
      <p:cxnSp>
        <p:nvCxnSpPr>
          <p:cNvPr id="15" name="直接箭头连接符 14">
            <a:extLst>
              <a:ext uri="{FF2B5EF4-FFF2-40B4-BE49-F238E27FC236}">
                <a16:creationId xmlns:a16="http://schemas.microsoft.com/office/drawing/2014/main" id="{0437B49C-2843-6DA9-771C-08E8CBF3DD43}"/>
              </a:ext>
            </a:extLst>
          </p:cNvPr>
          <p:cNvCxnSpPr/>
          <p:nvPr/>
        </p:nvCxnSpPr>
        <p:spPr>
          <a:xfrm>
            <a:off x="1547124" y="2033122"/>
            <a:ext cx="5579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1E49290C-4576-056B-AFAC-21E032D61BFA}"/>
              </a:ext>
            </a:extLst>
          </p:cNvPr>
          <p:cNvSpPr txBox="1"/>
          <p:nvPr/>
        </p:nvSpPr>
        <p:spPr>
          <a:xfrm>
            <a:off x="1097270" y="722625"/>
            <a:ext cx="1498129" cy="107721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t>17</a:t>
            </a:r>
            <a:r>
              <a:rPr lang="zh-CN" altLang="en-US" sz="1600" dirty="0"/>
              <a:t>世纪，牛顿力学，光是粒子，解释反射、折射、色散</a:t>
            </a:r>
          </a:p>
        </p:txBody>
      </p:sp>
      <p:cxnSp>
        <p:nvCxnSpPr>
          <p:cNvPr id="17" name="直接箭头连接符 16">
            <a:extLst>
              <a:ext uri="{FF2B5EF4-FFF2-40B4-BE49-F238E27FC236}">
                <a16:creationId xmlns:a16="http://schemas.microsoft.com/office/drawing/2014/main" id="{9D4592B8-0758-5114-448E-DD570DF85F65}"/>
              </a:ext>
            </a:extLst>
          </p:cNvPr>
          <p:cNvCxnSpPr/>
          <p:nvPr/>
        </p:nvCxnSpPr>
        <p:spPr>
          <a:xfrm>
            <a:off x="3262074" y="2033122"/>
            <a:ext cx="5579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9E1CFF8F-B704-3126-0CB9-2DDF40F0A861}"/>
              </a:ext>
            </a:extLst>
          </p:cNvPr>
          <p:cNvSpPr txBox="1"/>
          <p:nvPr/>
        </p:nvSpPr>
        <p:spPr>
          <a:xfrm>
            <a:off x="2772070" y="719625"/>
            <a:ext cx="1575742" cy="107721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t>杨氏双缝干涉，为什么光变暗。惠更斯原理光是波</a:t>
            </a:r>
          </a:p>
        </p:txBody>
      </p:sp>
      <p:cxnSp>
        <p:nvCxnSpPr>
          <p:cNvPr id="21" name="直接箭头连接符 20">
            <a:extLst>
              <a:ext uri="{FF2B5EF4-FFF2-40B4-BE49-F238E27FC236}">
                <a16:creationId xmlns:a16="http://schemas.microsoft.com/office/drawing/2014/main" id="{9B19B060-F64C-7F9F-3A7B-294E27A23EC3}"/>
              </a:ext>
            </a:extLst>
          </p:cNvPr>
          <p:cNvCxnSpPr/>
          <p:nvPr/>
        </p:nvCxnSpPr>
        <p:spPr>
          <a:xfrm>
            <a:off x="4870599" y="2043225"/>
            <a:ext cx="5579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14E0CAF-F4E6-77F3-27BD-8AA2305293C7}"/>
              </a:ext>
            </a:extLst>
          </p:cNvPr>
          <p:cNvSpPr txBox="1"/>
          <p:nvPr/>
        </p:nvSpPr>
        <p:spPr>
          <a:xfrm>
            <a:off x="4394845" y="685487"/>
            <a:ext cx="1891880" cy="107721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t>光偏振无法机械波解释，传播介质解释，麦克斯韦推导电磁波速等于光速</a:t>
            </a:r>
          </a:p>
        </p:txBody>
      </p:sp>
      <p:cxnSp>
        <p:nvCxnSpPr>
          <p:cNvPr id="23" name="直接箭头连接符 22">
            <a:extLst>
              <a:ext uri="{FF2B5EF4-FFF2-40B4-BE49-F238E27FC236}">
                <a16:creationId xmlns:a16="http://schemas.microsoft.com/office/drawing/2014/main" id="{8DD55648-D03B-B6FC-8113-332B5353F941}"/>
              </a:ext>
            </a:extLst>
          </p:cNvPr>
          <p:cNvCxnSpPr/>
          <p:nvPr/>
        </p:nvCxnSpPr>
        <p:spPr>
          <a:xfrm>
            <a:off x="6712538" y="2054111"/>
            <a:ext cx="5579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DD04625F-742D-2F97-F705-5C2223355F64}"/>
              </a:ext>
            </a:extLst>
          </p:cNvPr>
          <p:cNvSpPr txBox="1"/>
          <p:nvPr/>
        </p:nvSpPr>
        <p:spPr>
          <a:xfrm>
            <a:off x="6266313" y="562312"/>
            <a:ext cx="1891879" cy="132343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t>光电效应不满足波动理论的光强对应能量，黑体辐射紫外灾难，杰弗里泰勒单光子双缝干涉</a:t>
            </a:r>
          </a:p>
        </p:txBody>
      </p:sp>
      <p:sp>
        <p:nvSpPr>
          <p:cNvPr id="28" name="矩形 27">
            <a:extLst>
              <a:ext uri="{FF2B5EF4-FFF2-40B4-BE49-F238E27FC236}">
                <a16:creationId xmlns:a16="http://schemas.microsoft.com/office/drawing/2014/main" id="{E6CCFF63-12C5-34FB-EBE0-2BCDA92BBDAB}"/>
              </a:ext>
            </a:extLst>
          </p:cNvPr>
          <p:cNvSpPr/>
          <p:nvPr/>
        </p:nvSpPr>
        <p:spPr>
          <a:xfrm>
            <a:off x="3799104" y="4147400"/>
            <a:ext cx="5116090" cy="86152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962753BC-8963-67EA-23C1-5C4310C996AE}"/>
              </a:ext>
            </a:extLst>
          </p:cNvPr>
          <p:cNvSpPr txBox="1"/>
          <p:nvPr/>
        </p:nvSpPr>
        <p:spPr>
          <a:xfrm>
            <a:off x="5023386" y="3758919"/>
            <a:ext cx="2916183" cy="369332"/>
          </a:xfrm>
          <a:prstGeom prst="rect">
            <a:avLst/>
          </a:prstGeom>
          <a:noFill/>
        </p:spPr>
        <p:txBody>
          <a:bodyPr wrap="none" rtlCol="0">
            <a:spAutoFit/>
          </a:bodyPr>
          <a:lstStyle/>
          <a:p>
            <a:r>
              <a:rPr lang="en-US" altLang="zh-CN" b="1" dirty="0">
                <a:solidFill>
                  <a:srgbClr val="C00000"/>
                </a:solidFill>
              </a:rPr>
              <a:t>1. Our course starts here</a:t>
            </a:r>
            <a:endParaRPr lang="zh-CN" altLang="en-US" b="1" dirty="0">
              <a:solidFill>
                <a:srgbClr val="C00000"/>
              </a:solidFill>
            </a:endParaRPr>
          </a:p>
        </p:txBody>
      </p:sp>
      <p:sp>
        <p:nvSpPr>
          <p:cNvPr id="30" name="矩形 29">
            <a:extLst>
              <a:ext uri="{FF2B5EF4-FFF2-40B4-BE49-F238E27FC236}">
                <a16:creationId xmlns:a16="http://schemas.microsoft.com/office/drawing/2014/main" id="{36FD32BD-AE65-8FC4-C961-D0384D910B4F}"/>
              </a:ext>
            </a:extLst>
          </p:cNvPr>
          <p:cNvSpPr/>
          <p:nvPr/>
        </p:nvSpPr>
        <p:spPr>
          <a:xfrm>
            <a:off x="3799104" y="2951302"/>
            <a:ext cx="5116090" cy="86152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3E5CE370-4E7C-EF15-6307-DCB5F2100ADB}"/>
              </a:ext>
            </a:extLst>
          </p:cNvPr>
          <p:cNvSpPr txBox="1"/>
          <p:nvPr/>
        </p:nvSpPr>
        <p:spPr>
          <a:xfrm>
            <a:off x="5666924" y="4971295"/>
            <a:ext cx="1608133" cy="369332"/>
          </a:xfrm>
          <a:prstGeom prst="rect">
            <a:avLst/>
          </a:prstGeom>
          <a:noFill/>
        </p:spPr>
        <p:txBody>
          <a:bodyPr wrap="none" rtlCol="0">
            <a:spAutoFit/>
          </a:bodyPr>
          <a:lstStyle/>
          <a:p>
            <a:r>
              <a:rPr lang="en-US" altLang="zh-CN" b="1" dirty="0">
                <a:solidFill>
                  <a:srgbClr val="C00000"/>
                </a:solidFill>
              </a:rPr>
              <a:t>2. Next stage</a:t>
            </a:r>
            <a:endParaRPr lang="zh-CN" altLang="en-US" b="1" dirty="0">
              <a:solidFill>
                <a:srgbClr val="C00000"/>
              </a:solidFill>
            </a:endParaRPr>
          </a:p>
        </p:txBody>
      </p:sp>
      <p:pic>
        <p:nvPicPr>
          <p:cNvPr id="25" name="a414a6fc17619b1be4f20af307c32bad">
            <a:hlinkClick r:id="" action="ppaction://media"/>
            <a:extLst>
              <a:ext uri="{FF2B5EF4-FFF2-40B4-BE49-F238E27FC236}">
                <a16:creationId xmlns:a16="http://schemas.microsoft.com/office/drawing/2014/main" id="{1DE2DBDF-CC0B-0DF0-3AEE-B10DE7F0F269}"/>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t="12594" b="12579"/>
          <a:stretch/>
        </p:blipFill>
        <p:spPr>
          <a:xfrm>
            <a:off x="8083488" y="610332"/>
            <a:ext cx="771175" cy="1332202"/>
          </a:xfrm>
          <a:prstGeom prst="rect">
            <a:avLst/>
          </a:prstGeom>
        </p:spPr>
      </p:pic>
      <p:sp>
        <p:nvSpPr>
          <p:cNvPr id="32" name="文本框 31">
            <a:extLst>
              <a:ext uri="{FF2B5EF4-FFF2-40B4-BE49-F238E27FC236}">
                <a16:creationId xmlns:a16="http://schemas.microsoft.com/office/drawing/2014/main" id="{7DCC379C-9911-AB8F-9252-3FF5DC421688}"/>
              </a:ext>
            </a:extLst>
          </p:cNvPr>
          <p:cNvSpPr txBox="1"/>
          <p:nvPr/>
        </p:nvSpPr>
        <p:spPr>
          <a:xfrm>
            <a:off x="1649314" y="2315517"/>
            <a:ext cx="6719023" cy="369332"/>
          </a:xfrm>
          <a:prstGeom prst="rect">
            <a:avLst/>
          </a:prstGeom>
          <a:noFill/>
        </p:spPr>
        <p:txBody>
          <a:bodyPr wrap="square">
            <a:spAutoFit/>
          </a:bodyPr>
          <a:lstStyle/>
          <a:p>
            <a:r>
              <a:rPr lang="zh-CN" altLang="en-US" dirty="0"/>
              <a:t> 光被视为电磁场的量子化激发态，表现为离散的能量包，即光子。</a:t>
            </a:r>
          </a:p>
        </p:txBody>
      </p:sp>
      <p:sp>
        <p:nvSpPr>
          <p:cNvPr id="26" name="文本框 25">
            <a:extLst>
              <a:ext uri="{FF2B5EF4-FFF2-40B4-BE49-F238E27FC236}">
                <a16:creationId xmlns:a16="http://schemas.microsoft.com/office/drawing/2014/main" id="{B7E60943-AD5D-734C-833B-1057E5742E09}"/>
              </a:ext>
            </a:extLst>
          </p:cNvPr>
          <p:cNvSpPr txBox="1"/>
          <p:nvPr/>
        </p:nvSpPr>
        <p:spPr>
          <a:xfrm>
            <a:off x="545226" y="2299091"/>
            <a:ext cx="1104088" cy="369332"/>
          </a:xfrm>
          <a:prstGeom prst="rect">
            <a:avLst/>
          </a:prstGeom>
          <a:noFill/>
        </p:spPr>
        <p:txBody>
          <a:bodyPr wrap="square">
            <a:spAutoFit/>
          </a:bodyPr>
          <a:lstStyle/>
          <a:p>
            <a:r>
              <a:rPr lang="zh-CN" altLang="en-US" b="1" dirty="0"/>
              <a:t>量子场论：</a:t>
            </a:r>
          </a:p>
        </p:txBody>
      </p:sp>
      <p:cxnSp>
        <p:nvCxnSpPr>
          <p:cNvPr id="34" name="连接符: 肘形 33">
            <a:extLst>
              <a:ext uri="{FF2B5EF4-FFF2-40B4-BE49-F238E27FC236}">
                <a16:creationId xmlns:a16="http://schemas.microsoft.com/office/drawing/2014/main" id="{9C63BE33-F9E2-F2C9-4137-7CDB2DB7F34F}"/>
              </a:ext>
            </a:extLst>
          </p:cNvPr>
          <p:cNvCxnSpPr>
            <a:cxnSpLocks/>
            <a:stCxn id="13" idx="2"/>
            <a:endCxn id="26" idx="1"/>
          </p:cNvCxnSpPr>
          <p:nvPr/>
        </p:nvCxnSpPr>
        <p:spPr>
          <a:xfrm rot="5400000">
            <a:off x="4157972" y="-1376064"/>
            <a:ext cx="247076" cy="7472567"/>
          </a:xfrm>
          <a:prstGeom prst="bentConnector4">
            <a:avLst>
              <a:gd name="adj1" fmla="val 12630"/>
              <a:gd name="adj2" fmla="val 103059"/>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981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183"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cTn>
                <p:tgtEl>
                  <p:spTgt spid="25"/>
                </p:tgtEl>
              </p:cMediaNode>
            </p:video>
            <p:seq concurrent="1" nextAc="seek">
              <p:cTn id="8" restart="whenNotActive" fill="hold" evtFilter="cancelBubble" nodeType="interactiveSeq">
                <p:stCondLst>
                  <p:cond evt="onClick" delay="0">
                    <p:tgtEl>
                      <p:spTgt spid="2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5"/>
                                        </p:tgtEl>
                                      </p:cBhvr>
                                    </p:cmd>
                                  </p:childTnLst>
                                </p:cTn>
                              </p:par>
                            </p:childTnLst>
                          </p:cTn>
                        </p:par>
                      </p:childTnLst>
                    </p:cTn>
                  </p:par>
                </p:childTnLst>
              </p:cTn>
              <p:nextCondLst>
                <p:cond evt="onClick" delay="0">
                  <p:tgtEl>
                    <p:spTgt spid="25"/>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DC6E2-A714-186D-1F05-E9B68961216D}"/>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545D3BBF-A7CC-A174-0002-60E07DC57B01}"/>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2" name="图片 1">
            <a:extLst>
              <a:ext uri="{FF2B5EF4-FFF2-40B4-BE49-F238E27FC236}">
                <a16:creationId xmlns:a16="http://schemas.microsoft.com/office/drawing/2014/main" id="{09EE59B6-94C2-4E93-BDD6-5C775C063AF4}"/>
              </a:ext>
            </a:extLst>
          </p:cNvPr>
          <p:cNvPicPr>
            <a:picLocks noChangeAspect="1"/>
          </p:cNvPicPr>
          <p:nvPr/>
        </p:nvPicPr>
        <p:blipFill rotWithShape="1">
          <a:blip r:embed="rId3"/>
          <a:srcRect b="4595"/>
          <a:stretch/>
        </p:blipFill>
        <p:spPr>
          <a:xfrm>
            <a:off x="642291" y="603223"/>
            <a:ext cx="1392025" cy="1677791"/>
          </a:xfrm>
          <a:prstGeom prst="rect">
            <a:avLst/>
          </a:prstGeom>
        </p:spPr>
      </p:pic>
      <p:sp>
        <p:nvSpPr>
          <p:cNvPr id="12" name="文本框 3">
            <a:extLst>
              <a:ext uri="{FF2B5EF4-FFF2-40B4-BE49-F238E27FC236}">
                <a16:creationId xmlns:a16="http://schemas.microsoft.com/office/drawing/2014/main" id="{D8D91EAA-9BCB-4A27-90A0-F7DC1E14F0A9}"/>
              </a:ext>
            </a:extLst>
          </p:cNvPr>
          <p:cNvSpPr txBox="1"/>
          <p:nvPr/>
        </p:nvSpPr>
        <p:spPr>
          <a:xfrm>
            <a:off x="2211600" y="603223"/>
            <a:ext cx="2183116" cy="1754326"/>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Maxwell’s Equation: In honor of Scottish physicist James Clerk Maxwell, who published them in 1865.</a:t>
            </a:r>
            <a:endParaRPr lang="zh-CN" altLang="en-US" dirty="0"/>
          </a:p>
        </p:txBody>
      </p:sp>
      <p:pic>
        <p:nvPicPr>
          <p:cNvPr id="4098" name="Picture 2" descr="undefined">
            <a:extLst>
              <a:ext uri="{FF2B5EF4-FFF2-40B4-BE49-F238E27FC236}">
                <a16:creationId xmlns:a16="http://schemas.microsoft.com/office/drawing/2014/main" id="{CBAC1CD1-AFAF-4B4D-897F-A6C6A9378D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603223"/>
            <a:ext cx="1532408" cy="184970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undefined">
            <a:extLst>
              <a:ext uri="{FF2B5EF4-FFF2-40B4-BE49-F238E27FC236}">
                <a16:creationId xmlns:a16="http://schemas.microsoft.com/office/drawing/2014/main" id="{E11ABD74-F56D-4E85-9DD4-E8AF48F45F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8977" y="608888"/>
            <a:ext cx="2465514" cy="1849136"/>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2520C2AC-114F-5E57-1F52-8C4F0DB10F48}"/>
              </a:ext>
            </a:extLst>
          </p:cNvPr>
          <p:cNvSpPr txBox="1"/>
          <p:nvPr/>
        </p:nvSpPr>
        <p:spPr>
          <a:xfrm>
            <a:off x="96167" y="2730289"/>
            <a:ext cx="8951663" cy="3339376"/>
          </a:xfrm>
          <a:prstGeom prst="rect">
            <a:avLst/>
          </a:prstGeom>
          <a:noFill/>
        </p:spPr>
        <p:txBody>
          <a:bodyPr wrap="square">
            <a:spAutoFit/>
          </a:bodyPr>
          <a:lstStyle/>
          <a:p>
            <a:r>
              <a:rPr lang="en-US" altLang="zh-CN" sz="1400" dirty="0"/>
              <a:t>Before Maxwell unified electromagnetism into a single framework, the study of electricity, magnetism, and light was fragmented. Key developments leading to Maxwell's work include:</a:t>
            </a:r>
          </a:p>
          <a:p>
            <a:endParaRPr lang="en-US" altLang="zh-CN" sz="1400" dirty="0"/>
          </a:p>
          <a:p>
            <a:r>
              <a:rPr lang="en-US" altLang="zh-CN" sz="1400" dirty="0"/>
              <a:t>(1) Ancient Observations : The Greeks discovered </a:t>
            </a:r>
            <a:r>
              <a:rPr lang="en-US" altLang="zh-CN" sz="1400" b="1" dirty="0"/>
              <a:t>static electricity </a:t>
            </a:r>
            <a:r>
              <a:rPr lang="en-US" altLang="zh-CN" sz="1400" dirty="0"/>
              <a:t>by rubbing amber and observed natural </a:t>
            </a:r>
            <a:r>
              <a:rPr lang="en-US" altLang="zh-CN" sz="1400" b="1" dirty="0"/>
              <a:t>magnets</a:t>
            </a:r>
            <a:r>
              <a:rPr lang="en-US" altLang="zh-CN" sz="1400" dirty="0"/>
              <a:t> (lodestones).</a:t>
            </a:r>
          </a:p>
          <a:p>
            <a:r>
              <a:rPr lang="en-US" altLang="zh-CN" sz="1400" dirty="0"/>
              <a:t>18th Century : Scientists like Benjamin Franklin and Charles-Augustin de Coulomb studied electric charges and forces, leading to </a:t>
            </a:r>
            <a:r>
              <a:rPr lang="en-US" altLang="zh-CN" sz="1400" b="1" dirty="0"/>
              <a:t>Coulomb's law </a:t>
            </a:r>
            <a:r>
              <a:rPr lang="en-US" altLang="zh-CN" sz="1400" dirty="0"/>
              <a:t>for electrostatics.</a:t>
            </a:r>
          </a:p>
          <a:p>
            <a:pPr>
              <a:spcBef>
                <a:spcPts val="600"/>
              </a:spcBef>
            </a:pPr>
            <a:r>
              <a:rPr lang="en-US" altLang="zh-CN" sz="1400" dirty="0"/>
              <a:t>(2) Hans Christian </a:t>
            </a:r>
            <a:r>
              <a:rPr lang="en-US" altLang="zh-CN" sz="1400" dirty="0" err="1"/>
              <a:t>Ørsted</a:t>
            </a:r>
            <a:r>
              <a:rPr lang="en-US" altLang="zh-CN" sz="1400" dirty="0"/>
              <a:t> discovered that an </a:t>
            </a:r>
            <a:r>
              <a:rPr lang="en-US" altLang="zh-CN" sz="1400" b="1" dirty="0"/>
              <a:t>electric current could deflect a compass needle, showing a connection between electricity and magnetism</a:t>
            </a:r>
            <a:r>
              <a:rPr lang="en-US" altLang="zh-CN" sz="1400" dirty="0"/>
              <a:t>. This marked the beginning of the study of electromagnetism.</a:t>
            </a:r>
          </a:p>
          <a:p>
            <a:pPr>
              <a:spcBef>
                <a:spcPts val="600"/>
              </a:spcBef>
            </a:pPr>
            <a:r>
              <a:rPr lang="en-US" altLang="zh-CN" sz="1400" dirty="0"/>
              <a:t>(3) André-Marie Ampère's formulated the </a:t>
            </a:r>
            <a:r>
              <a:rPr lang="en-US" altLang="zh-CN" sz="1400" b="1" dirty="0"/>
              <a:t>relationship between electric currents and magnetic fields</a:t>
            </a:r>
            <a:r>
              <a:rPr lang="en-US" altLang="zh-CN" sz="1400" dirty="0"/>
              <a:t>, now known as Ampère's law. He showed that moving charges produce magnetic fields.</a:t>
            </a:r>
          </a:p>
          <a:p>
            <a:pPr>
              <a:spcBef>
                <a:spcPts val="600"/>
              </a:spcBef>
            </a:pPr>
            <a:r>
              <a:rPr lang="en-US" altLang="zh-CN" sz="1400" dirty="0"/>
              <a:t>(4) Michael Faraday's discovered electromagnetic induction: a </a:t>
            </a:r>
            <a:r>
              <a:rPr lang="en-US" altLang="zh-CN" sz="1400" b="1" dirty="0"/>
              <a:t>changing magnetic field induces an electric field</a:t>
            </a:r>
            <a:r>
              <a:rPr lang="en-US" altLang="zh-CN" sz="1400" dirty="0"/>
              <a:t>. His work introduced the concept of "fields" and laid the groundwork for understanding how electric and magnetic phenomena are interconnected.</a:t>
            </a:r>
            <a:endParaRPr lang="zh-CN" altLang="en-US" sz="1400" dirty="0"/>
          </a:p>
        </p:txBody>
      </p:sp>
    </p:spTree>
    <p:extLst>
      <p:ext uri="{BB962C8B-B14F-4D97-AF65-F5344CB8AC3E}">
        <p14:creationId xmlns:p14="http://schemas.microsoft.com/office/powerpoint/2010/main" val="706353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59756-AADD-B50E-2AC1-5D19C0038F8F}"/>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379989FF-09A8-0617-CE09-86B64384D13B}"/>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in free space</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9B9BCFFF-40C8-F94A-309F-06DAB959342C}"/>
                  </a:ext>
                </a:extLst>
              </p:cNvPr>
              <p:cNvSpPr txBox="1"/>
              <p:nvPr/>
            </p:nvSpPr>
            <p:spPr>
              <a:xfrm>
                <a:off x="1294420" y="3105049"/>
                <a:ext cx="1271438" cy="4140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r>
                        <a:rPr lang="zh-CN" altLang="en-US" sz="2400" i="0">
                          <a:solidFill>
                            <a:schemeClr val="tx1"/>
                          </a:solidFill>
                          <a:latin typeface="Cambria Math" panose="02040503050406030204" pitchFamily="18" charset="0"/>
                        </a:rPr>
                        <m:t>=0</m:t>
                      </m:r>
                    </m:oMath>
                  </m:oMathPara>
                </a14:m>
                <a:endParaRPr lang="zh-CN" altLang="en-US" sz="2400" dirty="0">
                  <a:solidFill>
                    <a:schemeClr val="tx1"/>
                  </a:solidFill>
                </a:endParaRPr>
              </a:p>
            </p:txBody>
          </p:sp>
        </mc:Choice>
        <mc:Fallback xmlns="">
          <p:sp>
            <p:nvSpPr>
              <p:cNvPr id="19" name="文本框 18">
                <a:extLst>
                  <a:ext uri="{FF2B5EF4-FFF2-40B4-BE49-F238E27FC236}">
                    <a16:creationId xmlns:a16="http://schemas.microsoft.com/office/drawing/2014/main" id="{9B9BCFFF-40C8-F94A-309F-06DAB959342C}"/>
                  </a:ext>
                </a:extLst>
              </p:cNvPr>
              <p:cNvSpPr txBox="1">
                <a:spLocks noRot="1" noChangeAspect="1" noMove="1" noResize="1" noEditPoints="1" noAdjustHandles="1" noChangeArrowheads="1" noChangeShapeType="1" noTextEdit="1"/>
              </p:cNvSpPr>
              <p:nvPr/>
            </p:nvSpPr>
            <p:spPr>
              <a:xfrm>
                <a:off x="1294420" y="3105049"/>
                <a:ext cx="1271438" cy="41408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FB0F6D11-5E54-E788-698E-8C6C257305F2}"/>
                  </a:ext>
                </a:extLst>
              </p:cNvPr>
              <p:cNvSpPr txBox="1"/>
              <p:nvPr/>
            </p:nvSpPr>
            <p:spPr>
              <a:xfrm>
                <a:off x="1296119" y="3818474"/>
                <a:ext cx="1380955" cy="695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en-US" altLang="zh-CN" sz="2400" b="0" i="1" smtClean="0">
                              <a:solidFill>
                                <a:schemeClr val="tx1"/>
                              </a:solidFill>
                              <a:latin typeface="Cambria Math" panose="02040503050406030204" pitchFamily="18" charset="0"/>
                            </a:rPr>
                            <m:t>𝐸</m:t>
                          </m:r>
                        </m:e>
                      </m:acc>
                      <m:r>
                        <a:rPr lang="zh-CN" altLang="en-US" sz="2400" i="0">
                          <a:solidFill>
                            <a:schemeClr val="tx1"/>
                          </a:solidFill>
                          <a:latin typeface="Cambria Math" panose="02040503050406030204" pitchFamily="18" charset="0"/>
                        </a:rPr>
                        <m:t>=</m:t>
                      </m:r>
                      <m:f>
                        <m:fPr>
                          <m:ctrlPr>
                            <a:rPr lang="en-US" altLang="zh-CN" sz="2400" i="1" smtClean="0">
                              <a:solidFill>
                                <a:schemeClr val="tx1"/>
                              </a:solidFill>
                              <a:latin typeface="Cambria Math" panose="02040503050406030204" pitchFamily="18" charset="0"/>
                            </a:rPr>
                          </m:ctrlPr>
                        </m:fPr>
                        <m:num>
                          <m:r>
                            <a:rPr lang="zh-CN" altLang="en-US" sz="2400" i="1">
                              <a:solidFill>
                                <a:schemeClr val="tx1"/>
                              </a:solidFill>
                              <a:latin typeface="Cambria Math" panose="02040503050406030204" pitchFamily="18" charset="0"/>
                            </a:rPr>
                            <m:t>𝜌</m:t>
                          </m:r>
                        </m:num>
                        <m:den>
                          <m:sSub>
                            <m:sSubPr>
                              <m:ctrlPr>
                                <a:rPr lang="en-US" altLang="zh-CN" sz="2400" i="1" smtClean="0">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𝜀</m:t>
                              </m:r>
                            </m:e>
                            <m:sub>
                              <m:r>
                                <a:rPr lang="en-US" altLang="zh-CN" sz="2400" b="0" i="1" smtClean="0">
                                  <a:solidFill>
                                    <a:schemeClr val="tx1"/>
                                  </a:solidFill>
                                  <a:latin typeface="Cambria Math" panose="02040503050406030204" pitchFamily="18" charset="0"/>
                                </a:rPr>
                                <m:t>0</m:t>
                              </m:r>
                            </m:sub>
                          </m:sSub>
                        </m:den>
                      </m:f>
                    </m:oMath>
                  </m:oMathPara>
                </a14:m>
                <a:endParaRPr lang="zh-CN" altLang="en-US" sz="2400" dirty="0"/>
              </a:p>
            </p:txBody>
          </p:sp>
        </mc:Choice>
        <mc:Fallback xmlns="">
          <p:sp>
            <p:nvSpPr>
              <p:cNvPr id="20" name="文本框 19">
                <a:extLst>
                  <a:ext uri="{FF2B5EF4-FFF2-40B4-BE49-F238E27FC236}">
                    <a16:creationId xmlns:a16="http://schemas.microsoft.com/office/drawing/2014/main" id="{FB0F6D11-5E54-E788-698E-8C6C257305F2}"/>
                  </a:ext>
                </a:extLst>
              </p:cNvPr>
              <p:cNvSpPr txBox="1">
                <a:spLocks noRot="1" noChangeAspect="1" noMove="1" noResize="1" noEditPoints="1" noAdjustHandles="1" noChangeArrowheads="1" noChangeShapeType="1" noTextEdit="1"/>
              </p:cNvSpPr>
              <p:nvPr/>
            </p:nvSpPr>
            <p:spPr>
              <a:xfrm>
                <a:off x="1296119" y="3818474"/>
                <a:ext cx="1380955" cy="69512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B480851-A2A7-B812-25E5-40FF235F5A5C}"/>
                  </a:ext>
                </a:extLst>
              </p:cNvPr>
              <p:cNvSpPr txBox="1"/>
              <p:nvPr/>
            </p:nvSpPr>
            <p:spPr>
              <a:xfrm>
                <a:off x="1294420" y="4561827"/>
                <a:ext cx="1887824" cy="7869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𝐸</m:t>
                          </m:r>
                        </m:e>
                      </m:acc>
                      <m:r>
                        <a:rPr lang="zh-CN" altLang="en-US" sz="2400" i="0">
                          <a:solidFill>
                            <a:schemeClr val="tx1"/>
                          </a:solidFill>
                          <a:latin typeface="Cambria Math" panose="02040503050406030204" pitchFamily="18" charset="0"/>
                        </a:rPr>
                        <m:t>=−</m:t>
                      </m:r>
                      <m:f>
                        <m:fPr>
                          <m:ctrlPr>
                            <a:rPr lang="zh-CN" altLang="en-US" sz="2400" i="1">
                              <a:solidFill>
                                <a:schemeClr val="tx1"/>
                              </a:solidFill>
                              <a:latin typeface="Cambria Math" panose="02040503050406030204" pitchFamily="18" charset="0"/>
                            </a:rPr>
                          </m:ctrlPr>
                        </m:fPr>
                        <m:num>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num>
                        <m:den>
                          <m:r>
                            <a:rPr lang="zh-CN" altLang="en-US" sz="2400" i="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𝑡</m:t>
                          </m:r>
                        </m:den>
                      </m:f>
                    </m:oMath>
                  </m:oMathPara>
                </a14:m>
                <a:endParaRPr lang="zh-CN" altLang="en-US" sz="2400" dirty="0"/>
              </a:p>
            </p:txBody>
          </p:sp>
        </mc:Choice>
        <mc:Fallback xmlns="">
          <p:sp>
            <p:nvSpPr>
              <p:cNvPr id="21" name="文本框 20">
                <a:extLst>
                  <a:ext uri="{FF2B5EF4-FFF2-40B4-BE49-F238E27FC236}">
                    <a16:creationId xmlns:a16="http://schemas.microsoft.com/office/drawing/2014/main" id="{5B480851-A2A7-B812-25E5-40FF235F5A5C}"/>
                  </a:ext>
                </a:extLst>
              </p:cNvPr>
              <p:cNvSpPr txBox="1">
                <a:spLocks noRot="1" noChangeAspect="1" noMove="1" noResize="1" noEditPoints="1" noAdjustHandles="1" noChangeArrowheads="1" noChangeShapeType="1" noTextEdit="1"/>
              </p:cNvSpPr>
              <p:nvPr/>
            </p:nvSpPr>
            <p:spPr>
              <a:xfrm>
                <a:off x="1294420" y="4561827"/>
                <a:ext cx="1887824" cy="78694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3ED07311-EBE3-6BF6-E389-0BEF4C194180}"/>
                  </a:ext>
                </a:extLst>
              </p:cNvPr>
              <p:cNvSpPr txBox="1"/>
              <p:nvPr/>
            </p:nvSpPr>
            <p:spPr>
              <a:xfrm>
                <a:off x="1294420" y="5397000"/>
                <a:ext cx="3046219" cy="7869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r>
                        <a:rPr lang="zh-CN" altLang="en-US" sz="2400" i="0">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𝜇</m:t>
                          </m:r>
                        </m:e>
                        <m:sub>
                          <m:r>
                            <a:rPr lang="zh-CN" altLang="en-US" sz="2400" i="0">
                              <a:solidFill>
                                <a:schemeClr val="tx1"/>
                              </a:solidFill>
                              <a:latin typeface="Cambria Math" panose="02040503050406030204" pitchFamily="18" charset="0"/>
                            </a:rPr>
                            <m:t>0</m:t>
                          </m:r>
                        </m:sub>
                      </m:sSub>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𝐽</m:t>
                          </m:r>
                        </m:e>
                      </m:acc>
                      <m:r>
                        <a:rPr lang="zh-CN" altLang="en-US" sz="2400" i="0">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𝜇</m:t>
                          </m:r>
                        </m:e>
                        <m:sub>
                          <m:r>
                            <a:rPr lang="zh-CN" altLang="en-US" sz="2400">
                              <a:solidFill>
                                <a:schemeClr val="tx1"/>
                              </a:solidFill>
                              <a:latin typeface="Cambria Math" panose="02040503050406030204" pitchFamily="18" charset="0"/>
                            </a:rPr>
                            <m:t>0</m:t>
                          </m:r>
                        </m:sub>
                      </m:sSub>
                      <m:sSub>
                        <m:sSubPr>
                          <m:ctrlPr>
                            <a:rPr lang="en-US" altLang="zh-CN"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𝜀</m:t>
                          </m:r>
                        </m:e>
                        <m:sub>
                          <m:r>
                            <a:rPr lang="en-US" altLang="zh-CN" sz="2400" i="1">
                              <a:solidFill>
                                <a:schemeClr val="tx1"/>
                              </a:solidFill>
                              <a:latin typeface="Cambria Math" panose="02040503050406030204" pitchFamily="18" charset="0"/>
                            </a:rPr>
                            <m:t>0</m:t>
                          </m:r>
                        </m:sub>
                      </m:sSub>
                      <m:f>
                        <m:fPr>
                          <m:ctrlPr>
                            <a:rPr lang="zh-CN" altLang="en-US" sz="2400" i="1">
                              <a:solidFill>
                                <a:schemeClr val="tx1"/>
                              </a:solidFill>
                              <a:latin typeface="Cambria Math" panose="02040503050406030204" pitchFamily="18" charset="0"/>
                            </a:rPr>
                          </m:ctrlPr>
                        </m:fPr>
                        <m:num>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𝐸</m:t>
                              </m:r>
                            </m:e>
                          </m:acc>
                        </m:num>
                        <m:den>
                          <m:r>
                            <a:rPr lang="zh-CN" altLang="en-US" sz="2400" i="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𝑡</m:t>
                          </m:r>
                        </m:den>
                      </m:f>
                    </m:oMath>
                  </m:oMathPara>
                </a14:m>
                <a:endParaRPr lang="zh-CN" altLang="en-US" sz="2400" dirty="0"/>
              </a:p>
            </p:txBody>
          </p:sp>
        </mc:Choice>
        <mc:Fallback xmlns="">
          <p:sp>
            <p:nvSpPr>
              <p:cNvPr id="22" name="文本框 21">
                <a:extLst>
                  <a:ext uri="{FF2B5EF4-FFF2-40B4-BE49-F238E27FC236}">
                    <a16:creationId xmlns:a16="http://schemas.microsoft.com/office/drawing/2014/main" id="{3ED07311-EBE3-6BF6-E389-0BEF4C194180}"/>
                  </a:ext>
                </a:extLst>
              </p:cNvPr>
              <p:cNvSpPr txBox="1">
                <a:spLocks noRot="1" noChangeAspect="1" noMove="1" noResize="1" noEditPoints="1" noAdjustHandles="1" noChangeArrowheads="1" noChangeShapeType="1" noTextEdit="1"/>
              </p:cNvSpPr>
              <p:nvPr/>
            </p:nvSpPr>
            <p:spPr>
              <a:xfrm>
                <a:off x="1294420" y="5397000"/>
                <a:ext cx="3046219" cy="786947"/>
              </a:xfrm>
              <a:prstGeom prst="rect">
                <a:avLst/>
              </a:prstGeom>
              <a:blipFill>
                <a:blip r:embed="rId6"/>
                <a:stretch>
                  <a:fillRect/>
                </a:stretch>
              </a:blipFill>
            </p:spPr>
            <p:txBody>
              <a:bodyPr/>
              <a:lstStyle/>
              <a:p>
                <a:r>
                  <a:rPr lang="zh-CN" altLang="en-US">
                    <a:noFill/>
                  </a:rPr>
                  <a:t> </a:t>
                </a:r>
              </a:p>
            </p:txBody>
          </p:sp>
        </mc:Fallback>
      </mc:AlternateContent>
      <p:sp>
        <p:nvSpPr>
          <p:cNvPr id="23" name="文本框 3">
            <a:extLst>
              <a:ext uri="{FF2B5EF4-FFF2-40B4-BE49-F238E27FC236}">
                <a16:creationId xmlns:a16="http://schemas.microsoft.com/office/drawing/2014/main" id="{1A14A500-B6AA-46D7-F5D3-CA72A1D62364}"/>
              </a:ext>
            </a:extLst>
          </p:cNvPr>
          <p:cNvSpPr txBox="1"/>
          <p:nvPr/>
        </p:nvSpPr>
        <p:spPr>
          <a:xfrm>
            <a:off x="4481496" y="3105049"/>
            <a:ext cx="3502162"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Gauss’s law of magnetism</a:t>
            </a:r>
          </a:p>
          <a:p>
            <a:r>
              <a:rPr lang="zh-CN" altLang="en-US" dirty="0"/>
              <a:t>（高斯磁定律</a:t>
            </a:r>
            <a:r>
              <a:rPr lang="en-US" altLang="zh-CN" dirty="0"/>
              <a:t>: </a:t>
            </a:r>
            <a:r>
              <a:rPr lang="zh-CN" altLang="en-US" dirty="0"/>
              <a:t>磁单极不存在）</a:t>
            </a:r>
          </a:p>
        </p:txBody>
      </p:sp>
      <p:sp>
        <p:nvSpPr>
          <p:cNvPr id="24" name="文本框 3">
            <a:extLst>
              <a:ext uri="{FF2B5EF4-FFF2-40B4-BE49-F238E27FC236}">
                <a16:creationId xmlns:a16="http://schemas.microsoft.com/office/drawing/2014/main" id="{F808F628-02C5-377B-ACBB-E4B16841FB10}"/>
              </a:ext>
            </a:extLst>
          </p:cNvPr>
          <p:cNvSpPr txBox="1"/>
          <p:nvPr/>
        </p:nvSpPr>
        <p:spPr>
          <a:xfrm>
            <a:off x="4481496" y="3898480"/>
            <a:ext cx="4214764"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Gauss’s law of electrostatic</a:t>
            </a:r>
          </a:p>
          <a:p>
            <a:r>
              <a:rPr lang="zh-CN" altLang="en-US" dirty="0"/>
              <a:t>（高斯静电定律：电荷如何产生电场）</a:t>
            </a:r>
          </a:p>
        </p:txBody>
      </p:sp>
      <p:sp>
        <p:nvSpPr>
          <p:cNvPr id="25" name="文本框 3">
            <a:extLst>
              <a:ext uri="{FF2B5EF4-FFF2-40B4-BE49-F238E27FC236}">
                <a16:creationId xmlns:a16="http://schemas.microsoft.com/office/drawing/2014/main" id="{015511F8-E9D5-AA9A-2E54-BC13A78273A0}"/>
              </a:ext>
            </a:extLst>
          </p:cNvPr>
          <p:cNvSpPr txBox="1"/>
          <p:nvPr/>
        </p:nvSpPr>
        <p:spPr>
          <a:xfrm>
            <a:off x="4481496" y="4691911"/>
            <a:ext cx="4069866"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Faraday’s law of  </a:t>
            </a:r>
            <a:r>
              <a:rPr lang="en-US" altLang="zh-CN" dirty="0" err="1"/>
              <a:t>of</a:t>
            </a:r>
            <a:r>
              <a:rPr lang="en-US" altLang="zh-CN" dirty="0"/>
              <a:t> Induction</a:t>
            </a:r>
          </a:p>
          <a:p>
            <a:r>
              <a:rPr lang="zh-CN" altLang="en-US" dirty="0"/>
              <a:t>（法拉第感应定律：时变磁场产生电场）</a:t>
            </a:r>
          </a:p>
        </p:txBody>
      </p:sp>
      <p:sp>
        <p:nvSpPr>
          <p:cNvPr id="26" name="文本框 3">
            <a:extLst>
              <a:ext uri="{FF2B5EF4-FFF2-40B4-BE49-F238E27FC236}">
                <a16:creationId xmlns:a16="http://schemas.microsoft.com/office/drawing/2014/main" id="{95940FC8-1DF6-432B-35B1-EC84A9D03B8B}"/>
              </a:ext>
            </a:extLst>
          </p:cNvPr>
          <p:cNvSpPr txBox="1"/>
          <p:nvPr/>
        </p:nvSpPr>
        <p:spPr>
          <a:xfrm>
            <a:off x="4549072" y="5537808"/>
            <a:ext cx="3585935"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Ampere’s Circuital law </a:t>
            </a:r>
          </a:p>
          <a:p>
            <a:r>
              <a:rPr lang="zh-CN" altLang="en-US" dirty="0"/>
              <a:t>（安培定律：时变电场产生磁场）</a:t>
            </a:r>
          </a:p>
        </p:txBody>
      </p:sp>
      <p:sp>
        <p:nvSpPr>
          <p:cNvPr id="4" name="文本框 3">
            <a:extLst>
              <a:ext uri="{FF2B5EF4-FFF2-40B4-BE49-F238E27FC236}">
                <a16:creationId xmlns:a16="http://schemas.microsoft.com/office/drawing/2014/main" id="{93B1DE7B-85E3-A8AB-5C19-9387DD699BEA}"/>
              </a:ext>
            </a:extLst>
          </p:cNvPr>
          <p:cNvSpPr txBox="1"/>
          <p:nvPr/>
        </p:nvSpPr>
        <p:spPr>
          <a:xfrm>
            <a:off x="127699" y="589721"/>
            <a:ext cx="8888599" cy="2215991"/>
          </a:xfrm>
          <a:prstGeom prst="rect">
            <a:avLst/>
          </a:prstGeom>
          <a:noFill/>
        </p:spPr>
        <p:txBody>
          <a:bodyPr wrap="square">
            <a:spAutoFit/>
          </a:bodyPr>
          <a:lstStyle/>
          <a:p>
            <a:r>
              <a:rPr lang="en-US" altLang="zh-CN" sz="1600" dirty="0"/>
              <a:t>James Clerk Maxwell synthesized the existing knowledge of electricity and magnetism into a coherent theoretical framework. His key contributions include:</a:t>
            </a:r>
          </a:p>
          <a:p>
            <a:pPr>
              <a:spcBef>
                <a:spcPts val="600"/>
              </a:spcBef>
            </a:pPr>
            <a:r>
              <a:rPr lang="en-US" altLang="zh-CN" sz="1600" dirty="0"/>
              <a:t>(1) Unification of Electric and Magnetic Fields</a:t>
            </a:r>
          </a:p>
          <a:p>
            <a:r>
              <a:rPr lang="en-US" altLang="zh-CN" sz="1600" dirty="0"/>
              <a:t>Maxwell combined the works of Gauss, Faraday, and Ampère into a single set of equations.</a:t>
            </a:r>
          </a:p>
          <a:p>
            <a:pPr>
              <a:spcBef>
                <a:spcPts val="600"/>
              </a:spcBef>
            </a:pPr>
            <a:r>
              <a:rPr lang="en-US" altLang="zh-CN" sz="1600" dirty="0"/>
              <a:t>(2) Prediction of Electromagnetic Waves</a:t>
            </a:r>
          </a:p>
          <a:p>
            <a:r>
              <a:rPr lang="en-US" altLang="zh-CN" sz="1600" dirty="0"/>
              <a:t>Maxwell's equations predicted that electric and magnetic fields could propagate through space as waves. He calculated the speed of these waves and found it to be equal to the speed of light, leading him to conclude that light is an electromagnetic wave .</a:t>
            </a:r>
            <a:endParaRPr lang="zh-CN" altLang="en-US" sz="1600" dirty="0"/>
          </a:p>
        </p:txBody>
      </p:sp>
    </p:spTree>
    <p:extLst>
      <p:ext uri="{BB962C8B-B14F-4D97-AF65-F5344CB8AC3E}">
        <p14:creationId xmlns:p14="http://schemas.microsoft.com/office/powerpoint/2010/main" val="1680171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EFED9-76D1-77A3-D6C4-7A3D7F58B60A}"/>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BD87FA85-66BB-0A1B-F71F-354358E351F1}"/>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1: Gauss’s law of magnetism</a:t>
            </a:r>
          </a:p>
          <a:p>
            <a:pPr algn="ct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1124464-F655-537C-3F8C-04CD0D0966E7}"/>
                  </a:ext>
                </a:extLst>
              </p:cNvPr>
              <p:cNvSpPr txBox="1"/>
              <p:nvPr/>
            </p:nvSpPr>
            <p:spPr>
              <a:xfrm>
                <a:off x="1228014" y="652136"/>
                <a:ext cx="1271438" cy="4140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r>
                        <a:rPr lang="zh-CN" altLang="en-US" sz="2400" i="0">
                          <a:solidFill>
                            <a:schemeClr val="tx1"/>
                          </a:solidFill>
                          <a:latin typeface="Cambria Math" panose="02040503050406030204" pitchFamily="18" charset="0"/>
                        </a:rPr>
                        <m:t>=0</m:t>
                      </m:r>
                    </m:oMath>
                  </m:oMathPara>
                </a14:m>
                <a:endParaRPr lang="zh-CN" altLang="en-US" sz="2400" dirty="0">
                  <a:solidFill>
                    <a:schemeClr val="tx1"/>
                  </a:solidFill>
                </a:endParaRPr>
              </a:p>
            </p:txBody>
          </p:sp>
        </mc:Choice>
        <mc:Fallback xmlns="">
          <p:sp>
            <p:nvSpPr>
              <p:cNvPr id="3" name="文本框 2">
                <a:extLst>
                  <a:ext uri="{FF2B5EF4-FFF2-40B4-BE49-F238E27FC236}">
                    <a16:creationId xmlns:a16="http://schemas.microsoft.com/office/drawing/2014/main" id="{B1124464-F655-537C-3F8C-04CD0D0966E7}"/>
                  </a:ext>
                </a:extLst>
              </p:cNvPr>
              <p:cNvSpPr txBox="1">
                <a:spLocks noRot="1" noChangeAspect="1" noMove="1" noResize="1" noEditPoints="1" noAdjustHandles="1" noChangeArrowheads="1" noChangeShapeType="1" noTextEdit="1"/>
              </p:cNvSpPr>
              <p:nvPr/>
            </p:nvSpPr>
            <p:spPr>
              <a:xfrm>
                <a:off x="1228014" y="652136"/>
                <a:ext cx="1271438" cy="414088"/>
              </a:xfrm>
              <a:prstGeom prst="rect">
                <a:avLst/>
              </a:prstGeom>
              <a:blipFill>
                <a:blip r:embed="rId3"/>
                <a:stretch>
                  <a:fillRect/>
                </a:stretch>
              </a:blipFill>
            </p:spPr>
            <p:txBody>
              <a:bodyPr/>
              <a:lstStyle/>
              <a:p>
                <a:r>
                  <a:rPr lang="zh-CN" altLang="en-US">
                    <a:noFill/>
                  </a:rPr>
                  <a:t> </a:t>
                </a:r>
              </a:p>
            </p:txBody>
          </p:sp>
        </mc:Fallback>
      </mc:AlternateContent>
      <p:cxnSp>
        <p:nvCxnSpPr>
          <p:cNvPr id="5" name="直接箭头连接符 4">
            <a:extLst>
              <a:ext uri="{FF2B5EF4-FFF2-40B4-BE49-F238E27FC236}">
                <a16:creationId xmlns:a16="http://schemas.microsoft.com/office/drawing/2014/main" id="{94DD96BF-22D9-615F-C0B9-F93A6DF97EFC}"/>
              </a:ext>
            </a:extLst>
          </p:cNvPr>
          <p:cNvCxnSpPr>
            <a:cxnSpLocks/>
          </p:cNvCxnSpPr>
          <p:nvPr/>
        </p:nvCxnSpPr>
        <p:spPr>
          <a:xfrm flipH="1" flipV="1">
            <a:off x="1777493" y="1066225"/>
            <a:ext cx="133288" cy="213436"/>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3">
            <a:extLst>
              <a:ext uri="{FF2B5EF4-FFF2-40B4-BE49-F238E27FC236}">
                <a16:creationId xmlns:a16="http://schemas.microsoft.com/office/drawing/2014/main" id="{970DD613-B2A6-6236-0F28-4017FB16DA16}"/>
              </a:ext>
            </a:extLst>
          </p:cNvPr>
          <p:cNvSpPr txBox="1"/>
          <p:nvPr/>
        </p:nvSpPr>
        <p:spPr>
          <a:xfrm>
            <a:off x="1861506" y="1066224"/>
            <a:ext cx="1454388"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2">
                    <a:lumMod val="75000"/>
                  </a:schemeClr>
                </a:solidFill>
              </a:rPr>
              <a:t>Magnetic flux density</a:t>
            </a:r>
            <a:endParaRPr lang="zh-CN" altLang="en-US" sz="1600" dirty="0">
              <a:solidFill>
                <a:schemeClr val="accent2">
                  <a:lumMod val="75000"/>
                </a:schemeClr>
              </a:solidFill>
            </a:endParaRPr>
          </a:p>
        </p:txBody>
      </p:sp>
      <p:sp>
        <p:nvSpPr>
          <p:cNvPr id="8" name="文本框 3">
            <a:extLst>
              <a:ext uri="{FF2B5EF4-FFF2-40B4-BE49-F238E27FC236}">
                <a16:creationId xmlns:a16="http://schemas.microsoft.com/office/drawing/2014/main" id="{931A5E8D-6C9C-2180-79A6-03964920F5C6}"/>
              </a:ext>
            </a:extLst>
          </p:cNvPr>
          <p:cNvSpPr txBox="1"/>
          <p:nvPr/>
        </p:nvSpPr>
        <p:spPr>
          <a:xfrm>
            <a:off x="221337" y="1179324"/>
            <a:ext cx="2023667" cy="107721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5">
                    <a:lumMod val="75000"/>
                  </a:schemeClr>
                </a:solidFill>
              </a:rPr>
              <a:t>Divergence</a:t>
            </a:r>
          </a:p>
          <a:p>
            <a:r>
              <a:rPr lang="en-US" altLang="zh-CN" sz="1600" dirty="0">
                <a:solidFill>
                  <a:schemeClr val="accent5">
                    <a:lumMod val="75000"/>
                  </a:schemeClr>
                </a:solidFill>
              </a:rPr>
              <a:t>(</a:t>
            </a:r>
            <a:r>
              <a:rPr lang="zh-CN" altLang="en-US" sz="1600" dirty="0">
                <a:solidFill>
                  <a:schemeClr val="accent5">
                    <a:lumMod val="75000"/>
                  </a:schemeClr>
                </a:solidFill>
              </a:rPr>
              <a:t>散度）读</a:t>
            </a:r>
            <a:r>
              <a:rPr lang="en-US" altLang="zh-CN" sz="1600" dirty="0">
                <a:solidFill>
                  <a:schemeClr val="accent5">
                    <a:lumMod val="75000"/>
                  </a:schemeClr>
                </a:solidFill>
              </a:rPr>
              <a:t>del</a:t>
            </a:r>
            <a:r>
              <a:rPr lang="zh-CN" altLang="en-US" sz="1600" dirty="0">
                <a:solidFill>
                  <a:schemeClr val="accent5">
                    <a:lumMod val="75000"/>
                  </a:schemeClr>
                </a:solidFill>
              </a:rPr>
              <a:t>或</a:t>
            </a:r>
            <a:r>
              <a:rPr lang="en-US" altLang="zh-CN" sz="1600" dirty="0" err="1">
                <a:solidFill>
                  <a:schemeClr val="accent5">
                    <a:lumMod val="75000"/>
                  </a:schemeClr>
                </a:solidFill>
              </a:rPr>
              <a:t>nabla</a:t>
            </a:r>
            <a:r>
              <a:rPr lang="en-US" altLang="zh-CN" sz="1600" dirty="0">
                <a:solidFill>
                  <a:schemeClr val="accent5">
                    <a:lumMod val="75000"/>
                  </a:schemeClr>
                </a:solidFill>
              </a:rPr>
              <a:t> /ˈ</a:t>
            </a:r>
            <a:r>
              <a:rPr lang="en-US" altLang="zh-CN" sz="1600" dirty="0" err="1">
                <a:solidFill>
                  <a:schemeClr val="accent5">
                    <a:lumMod val="75000"/>
                  </a:schemeClr>
                </a:solidFill>
              </a:rPr>
              <a:t>næblə</a:t>
            </a:r>
            <a:r>
              <a:rPr lang="en-US" altLang="zh-CN" sz="1600" dirty="0">
                <a:solidFill>
                  <a:schemeClr val="accent5">
                    <a:lumMod val="75000"/>
                  </a:schemeClr>
                </a:solidFill>
              </a:rPr>
              <a:t>/</a:t>
            </a:r>
            <a:r>
              <a:rPr lang="zh-CN" altLang="en-US" sz="1600" dirty="0">
                <a:solidFill>
                  <a:schemeClr val="accent5">
                    <a:lumMod val="75000"/>
                  </a:schemeClr>
                </a:solidFill>
              </a:rPr>
              <a:t>算子，黑体代表矢量算符</a:t>
            </a:r>
          </a:p>
        </p:txBody>
      </p:sp>
      <p:cxnSp>
        <p:nvCxnSpPr>
          <p:cNvPr id="9" name="直接箭头连接符 8">
            <a:extLst>
              <a:ext uri="{FF2B5EF4-FFF2-40B4-BE49-F238E27FC236}">
                <a16:creationId xmlns:a16="http://schemas.microsoft.com/office/drawing/2014/main" id="{F0C8CEEF-9044-AEB8-AE8D-73F34FB2BBE4}"/>
              </a:ext>
            </a:extLst>
          </p:cNvPr>
          <p:cNvCxnSpPr>
            <a:cxnSpLocks/>
          </p:cNvCxnSpPr>
          <p:nvPr/>
        </p:nvCxnSpPr>
        <p:spPr>
          <a:xfrm flipV="1">
            <a:off x="1367830" y="1066224"/>
            <a:ext cx="0" cy="264253"/>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3">
            <a:extLst>
              <a:ext uri="{FF2B5EF4-FFF2-40B4-BE49-F238E27FC236}">
                <a16:creationId xmlns:a16="http://schemas.microsoft.com/office/drawing/2014/main" id="{3EBA61B5-E5FA-D119-18E4-19F49D937903}"/>
              </a:ext>
            </a:extLst>
          </p:cNvPr>
          <p:cNvSpPr txBox="1"/>
          <p:nvPr/>
        </p:nvSpPr>
        <p:spPr>
          <a:xfrm>
            <a:off x="221337" y="2286855"/>
            <a:ext cx="3112312" cy="4031873"/>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t>Divergence of a vector field at a particular point of the plane tells you how much the fluid tends to flow out of or into small regions near it.</a:t>
            </a:r>
          </a:p>
          <a:p>
            <a:r>
              <a:rPr lang="zh-CN" altLang="en-US" sz="1600" dirty="0"/>
              <a:t>散度（</a:t>
            </a:r>
            <a:r>
              <a:rPr lang="en-US" altLang="zh-CN" sz="1600" dirty="0"/>
              <a:t>divergence</a:t>
            </a:r>
            <a:r>
              <a:rPr lang="zh-CN" altLang="en-US" sz="1600" dirty="0"/>
              <a:t>）可用于表征空间各点矢量场发散的强弱程度，能够反映该点通量体积变化率的重要度量。</a:t>
            </a:r>
            <a:endParaRPr lang="en-US" altLang="zh-CN" sz="1600" dirty="0"/>
          </a:p>
          <a:p>
            <a:r>
              <a:rPr lang="zh-CN" altLang="en-US" sz="1600" dirty="0"/>
              <a:t>物理上，散度的意义是场的有源性。当</a:t>
            </a:r>
            <a:r>
              <a:rPr lang="en-US" altLang="zh-CN" sz="1600" dirty="0"/>
              <a:t>div F&gt;0 </a:t>
            </a:r>
            <a:r>
              <a:rPr lang="zh-CN" altLang="en-US" sz="1600" dirty="0"/>
              <a:t>，表示该点有散发通量的正源（发散源）；当</a:t>
            </a:r>
            <a:r>
              <a:rPr lang="en-US" altLang="zh-CN" sz="1600" dirty="0"/>
              <a:t>div F&lt;0 </a:t>
            </a:r>
            <a:r>
              <a:rPr lang="zh-CN" altLang="en-US" sz="1600" dirty="0"/>
              <a:t>表示该点有吸收通量的负源（洞或汇）；当</a:t>
            </a:r>
            <a:r>
              <a:rPr lang="en-US" altLang="zh-CN" sz="1600" dirty="0"/>
              <a:t>div F=0</a:t>
            </a:r>
            <a:r>
              <a:rPr lang="zh-CN" altLang="en-US" sz="1600" dirty="0"/>
              <a:t>，表示该点的矢量场场线没有发出也没有汇聚。</a:t>
            </a:r>
          </a:p>
        </p:txBody>
      </p:sp>
      <p:pic>
        <p:nvPicPr>
          <p:cNvPr id="12" name="图片 11">
            <a:extLst>
              <a:ext uri="{FF2B5EF4-FFF2-40B4-BE49-F238E27FC236}">
                <a16:creationId xmlns:a16="http://schemas.microsoft.com/office/drawing/2014/main" id="{6CE70E15-AACF-2173-B3E3-2C0EA20742DF}"/>
              </a:ext>
            </a:extLst>
          </p:cNvPr>
          <p:cNvPicPr>
            <a:picLocks noChangeAspect="1"/>
          </p:cNvPicPr>
          <p:nvPr/>
        </p:nvPicPr>
        <p:blipFill rotWithShape="1">
          <a:blip r:embed="rId4"/>
          <a:srcRect l="2818" r="7002"/>
          <a:stretch/>
        </p:blipFill>
        <p:spPr>
          <a:xfrm>
            <a:off x="3381308" y="1670773"/>
            <a:ext cx="2662990" cy="2188659"/>
          </a:xfrm>
          <a:prstGeom prst="rect">
            <a:avLst/>
          </a:prstGeom>
        </p:spPr>
      </p:pic>
      <p:pic>
        <p:nvPicPr>
          <p:cNvPr id="14" name="图片 13">
            <a:extLst>
              <a:ext uri="{FF2B5EF4-FFF2-40B4-BE49-F238E27FC236}">
                <a16:creationId xmlns:a16="http://schemas.microsoft.com/office/drawing/2014/main" id="{2AEFE9E1-D281-8A8B-3DBD-8FEA6DDE0204}"/>
              </a:ext>
            </a:extLst>
          </p:cNvPr>
          <p:cNvPicPr>
            <a:picLocks noChangeAspect="1"/>
          </p:cNvPicPr>
          <p:nvPr/>
        </p:nvPicPr>
        <p:blipFill rotWithShape="1">
          <a:blip r:embed="rId5"/>
          <a:srcRect l="2422" r="4317"/>
          <a:stretch/>
        </p:blipFill>
        <p:spPr>
          <a:xfrm>
            <a:off x="6131043" y="1670774"/>
            <a:ext cx="2902591" cy="2188658"/>
          </a:xfrm>
          <a:prstGeom prst="rect">
            <a:avLst/>
          </a:prstGeom>
        </p:spPr>
      </p:pic>
      <p:pic>
        <p:nvPicPr>
          <p:cNvPr id="17" name="图片 16">
            <a:extLst>
              <a:ext uri="{FF2B5EF4-FFF2-40B4-BE49-F238E27FC236}">
                <a16:creationId xmlns:a16="http://schemas.microsoft.com/office/drawing/2014/main" id="{511B759D-735A-03CA-6C9E-3673D847FB4F}"/>
              </a:ext>
            </a:extLst>
          </p:cNvPr>
          <p:cNvPicPr>
            <a:picLocks noChangeAspect="1"/>
          </p:cNvPicPr>
          <p:nvPr/>
        </p:nvPicPr>
        <p:blipFill>
          <a:blip r:embed="rId6"/>
          <a:stretch>
            <a:fillRect/>
          </a:stretch>
        </p:blipFill>
        <p:spPr>
          <a:xfrm>
            <a:off x="3381307" y="3999451"/>
            <a:ext cx="2662989" cy="2110293"/>
          </a:xfrm>
          <a:prstGeom prst="rect">
            <a:avLst/>
          </a:prstGeom>
        </p:spPr>
      </p:pic>
      <p:pic>
        <p:nvPicPr>
          <p:cNvPr id="2050" name="Picture 2" descr="遠得要命的數學王國: Maxwell's Equations">
            <a:extLst>
              <a:ext uri="{FF2B5EF4-FFF2-40B4-BE49-F238E27FC236}">
                <a16:creationId xmlns:a16="http://schemas.microsoft.com/office/drawing/2014/main" id="{582BAB62-FFB9-466C-726C-D544443B06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0" y="4282909"/>
            <a:ext cx="2937634" cy="154337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436EA01-5360-AA88-D0B7-3C27A295BA77}"/>
                  </a:ext>
                </a:extLst>
              </p:cNvPr>
              <p:cNvSpPr txBox="1"/>
              <p:nvPr/>
            </p:nvSpPr>
            <p:spPr>
              <a:xfrm>
                <a:off x="4096140" y="834529"/>
                <a:ext cx="3298018" cy="5815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mtClean="0">
                          <a:solidFill>
                            <a:schemeClr val="tx1"/>
                          </a:solidFill>
                          <a:latin typeface="Cambria Math" panose="02040503050406030204" pitchFamily="18" charset="0"/>
                        </a:rPr>
                        <m:t>∇</m:t>
                      </m:r>
                      <m:r>
                        <a:rPr lang="zh-CN" altLang="en-US" i="0">
                          <a:solidFill>
                            <a:schemeClr val="tx1"/>
                          </a:solidFill>
                          <a:latin typeface="Cambria Math" panose="02040503050406030204" pitchFamily="18" charset="0"/>
                        </a:rPr>
                        <m:t>⋅</m:t>
                      </m:r>
                      <m:acc>
                        <m:accPr>
                          <m:chr m:val="⃗"/>
                          <m:ctrlPr>
                            <a:rPr lang="zh-CN" altLang="en-US" i="1">
                              <a:solidFill>
                                <a:schemeClr val="tx1"/>
                              </a:solidFill>
                              <a:latin typeface="Cambria Math" panose="02040503050406030204" pitchFamily="18" charset="0"/>
                            </a:rPr>
                          </m:ctrlPr>
                        </m:accPr>
                        <m:e>
                          <m:r>
                            <a:rPr lang="zh-CN" altLang="en-US" i="1">
                              <a:solidFill>
                                <a:schemeClr val="tx1"/>
                              </a:solidFill>
                              <a:latin typeface="Cambria Math" panose="02040503050406030204" pitchFamily="18" charset="0"/>
                            </a:rPr>
                            <m:t>𝐵</m:t>
                          </m:r>
                        </m:e>
                      </m:acc>
                      <m:r>
                        <a:rPr lang="zh-CN" altLang="en-US" i="0">
                          <a:solidFill>
                            <a:schemeClr val="tx1"/>
                          </a:solidFill>
                          <a:latin typeface="Cambria Math" panose="02040503050406030204" pitchFamily="18" charset="0"/>
                        </a:rPr>
                        <m:t>=</m:t>
                      </m:r>
                      <m:func>
                        <m:funcPr>
                          <m:ctrlPr>
                            <a:rPr lang="zh-CN" altLang="en-US" i="1">
                              <a:solidFill>
                                <a:schemeClr val="tx1"/>
                              </a:solidFill>
                              <a:latin typeface="Cambria Math" panose="02040503050406030204" pitchFamily="18" charset="0"/>
                            </a:rPr>
                          </m:ctrlPr>
                        </m:funcPr>
                        <m:fName>
                          <m:r>
                            <m:rPr>
                              <m:sty m:val="p"/>
                            </m:rPr>
                            <a:rPr lang="zh-CN" altLang="en-US" i="0">
                              <a:solidFill>
                                <a:schemeClr val="tx1"/>
                              </a:solidFill>
                              <a:latin typeface="Cambria Math" panose="02040503050406030204" pitchFamily="18" charset="0"/>
                            </a:rPr>
                            <m:t>div</m:t>
                          </m:r>
                        </m:fName>
                        <m:e>
                          <m:acc>
                            <m:accPr>
                              <m:chr m:val="⃗"/>
                              <m:ctrlPr>
                                <a:rPr lang="zh-CN" altLang="en-US" i="1">
                                  <a:solidFill>
                                    <a:schemeClr val="tx1"/>
                                  </a:solidFill>
                                  <a:latin typeface="Cambria Math" panose="02040503050406030204" pitchFamily="18" charset="0"/>
                                </a:rPr>
                              </m:ctrlPr>
                            </m:accPr>
                            <m:e>
                              <m:r>
                                <a:rPr lang="zh-CN" altLang="en-US" i="1">
                                  <a:solidFill>
                                    <a:schemeClr val="tx1"/>
                                  </a:solidFill>
                                  <a:latin typeface="Cambria Math" panose="02040503050406030204" pitchFamily="18" charset="0"/>
                                </a:rPr>
                                <m:t>𝐵</m:t>
                              </m:r>
                            </m:e>
                          </m:acc>
                        </m:e>
                      </m:func>
                      <m:r>
                        <a:rPr lang="zh-CN" altLang="en-US" i="0">
                          <a:solidFill>
                            <a:schemeClr val="tx1"/>
                          </a:solidFill>
                          <a:latin typeface="Cambria Math" panose="02040503050406030204" pitchFamily="18" charset="0"/>
                        </a:rPr>
                        <m:t>=</m:t>
                      </m:r>
                      <m:f>
                        <m:fPr>
                          <m:ctrlPr>
                            <a:rPr lang="zh-CN" altLang="en-US" i="1">
                              <a:solidFill>
                                <a:schemeClr val="tx1"/>
                              </a:solidFill>
                              <a:latin typeface="Cambria Math" panose="02040503050406030204" pitchFamily="18" charset="0"/>
                            </a:rPr>
                          </m:ctrlPr>
                        </m:fPr>
                        <m:num>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𝐵</m:t>
                              </m:r>
                            </m:e>
                            <m:sub>
                              <m:r>
                                <a:rPr lang="zh-CN" altLang="en-US" i="1">
                                  <a:solidFill>
                                    <a:schemeClr val="tx1"/>
                                  </a:solidFill>
                                  <a:latin typeface="Cambria Math" panose="02040503050406030204" pitchFamily="18" charset="0"/>
                                </a:rPr>
                                <m:t>𝑥</m:t>
                              </m:r>
                            </m:sub>
                          </m:sSub>
                        </m:num>
                        <m:den>
                          <m:r>
                            <a:rPr lang="zh-CN" altLang="en-US" i="0">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𝑥</m:t>
                          </m:r>
                        </m:den>
                      </m:f>
                      <m:r>
                        <a:rPr lang="zh-CN" altLang="en-US" i="0">
                          <a:solidFill>
                            <a:schemeClr val="tx1"/>
                          </a:solidFill>
                          <a:latin typeface="Cambria Math" panose="02040503050406030204" pitchFamily="18" charset="0"/>
                        </a:rPr>
                        <m:t>+</m:t>
                      </m:r>
                      <m:f>
                        <m:fPr>
                          <m:ctrlPr>
                            <a:rPr lang="zh-CN" altLang="en-US" i="1">
                              <a:solidFill>
                                <a:schemeClr val="tx1"/>
                              </a:solidFill>
                              <a:latin typeface="Cambria Math" panose="02040503050406030204" pitchFamily="18" charset="0"/>
                            </a:rPr>
                          </m:ctrlPr>
                        </m:fPr>
                        <m:num>
                          <m:r>
                            <a:rPr lang="zh-CN" altLang="en-US" i="0">
                              <a:solidFill>
                                <a:schemeClr val="tx1"/>
                              </a:solidFill>
                              <a:latin typeface="Cambria Math" panose="02040503050406030204" pitchFamily="18" charset="0"/>
                            </a:rPr>
                            <m:t>𝜕</m:t>
                          </m:r>
                          <m:sSub>
                            <m:sSubPr>
                              <m:ctrlPr>
                                <a:rPr lang="en-US" altLang="zh-CN" i="1" smtClean="0">
                                  <a:solidFill>
                                    <a:schemeClr val="tx1"/>
                                  </a:solidFill>
                                  <a:latin typeface="Cambria Math" panose="02040503050406030204" pitchFamily="18" charset="0"/>
                                </a:rPr>
                              </m:ctrlPr>
                            </m:sSubPr>
                            <m:e>
                              <m:r>
                                <a:rPr lang="zh-CN" altLang="en-US" i="1">
                                  <a:latin typeface="Cambria Math" panose="02040503050406030204" pitchFamily="18" charset="0"/>
                                </a:rPr>
                                <m:t>𝐵</m:t>
                              </m:r>
                            </m:e>
                            <m:sub>
                              <m:r>
                                <a:rPr lang="zh-CN" altLang="en-US" i="1">
                                  <a:latin typeface="Cambria Math" panose="02040503050406030204" pitchFamily="18" charset="0"/>
                                </a:rPr>
                                <m:t>𝑦</m:t>
                              </m:r>
                            </m:sub>
                          </m:sSub>
                        </m:num>
                        <m:den>
                          <m:r>
                            <a:rPr lang="zh-CN" altLang="en-US" i="0">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𝑦</m:t>
                          </m:r>
                        </m:den>
                      </m:f>
                      <m:r>
                        <a:rPr lang="zh-CN" altLang="en-US" i="0">
                          <a:solidFill>
                            <a:schemeClr val="tx1"/>
                          </a:solidFill>
                          <a:latin typeface="Cambria Math" panose="02040503050406030204" pitchFamily="18" charset="0"/>
                        </a:rPr>
                        <m:t>+</m:t>
                      </m:r>
                      <m:f>
                        <m:fPr>
                          <m:ctrlPr>
                            <a:rPr lang="zh-CN" altLang="en-US" i="1">
                              <a:solidFill>
                                <a:schemeClr val="tx1"/>
                              </a:solidFill>
                              <a:latin typeface="Cambria Math" panose="02040503050406030204" pitchFamily="18" charset="0"/>
                            </a:rPr>
                          </m:ctrlPr>
                        </m:fPr>
                        <m:num>
                          <m:r>
                            <a:rPr lang="zh-CN" altLang="en-US" i="0">
                              <a:solidFill>
                                <a:schemeClr val="tx1"/>
                              </a:solidFill>
                              <a:latin typeface="Cambria Math" panose="02040503050406030204" pitchFamily="18" charset="0"/>
                            </a:rPr>
                            <m:t>𝜕</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𝐵</m:t>
                              </m:r>
                            </m:e>
                            <m:sub>
                              <m:r>
                                <a:rPr lang="zh-CN" altLang="en-US" i="1">
                                  <a:solidFill>
                                    <a:schemeClr val="tx1"/>
                                  </a:solidFill>
                                  <a:latin typeface="Cambria Math" panose="02040503050406030204" pitchFamily="18" charset="0"/>
                                </a:rPr>
                                <m:t>𝑧</m:t>
                              </m:r>
                            </m:sub>
                          </m:sSub>
                        </m:num>
                        <m:den>
                          <m:r>
                            <a:rPr lang="zh-CN" altLang="en-US" i="0">
                              <a:solidFill>
                                <a:schemeClr val="tx1"/>
                              </a:solidFill>
                              <a:latin typeface="Cambria Math" panose="02040503050406030204" pitchFamily="18" charset="0"/>
                            </a:rPr>
                            <m:t>𝜕</m:t>
                          </m:r>
                          <m:r>
                            <a:rPr lang="zh-CN" altLang="en-US" i="1">
                              <a:solidFill>
                                <a:schemeClr val="tx1"/>
                              </a:solidFill>
                              <a:latin typeface="Cambria Math" panose="02040503050406030204" pitchFamily="18" charset="0"/>
                            </a:rPr>
                            <m:t>𝑧</m:t>
                          </m:r>
                        </m:den>
                      </m:f>
                    </m:oMath>
                  </m:oMathPara>
                </a14:m>
                <a:endParaRPr lang="zh-CN" altLang="en-US" dirty="0">
                  <a:solidFill>
                    <a:schemeClr val="tx1"/>
                  </a:solidFill>
                </a:endParaRPr>
              </a:p>
            </p:txBody>
          </p:sp>
        </mc:Choice>
        <mc:Fallback xmlns="">
          <p:sp>
            <p:nvSpPr>
              <p:cNvPr id="4" name="文本框 3">
                <a:extLst>
                  <a:ext uri="{FF2B5EF4-FFF2-40B4-BE49-F238E27FC236}">
                    <a16:creationId xmlns:a16="http://schemas.microsoft.com/office/drawing/2014/main" id="{3436EA01-5360-AA88-D0B7-3C27A295BA77}"/>
                  </a:ext>
                </a:extLst>
              </p:cNvPr>
              <p:cNvSpPr txBox="1">
                <a:spLocks noRot="1" noChangeAspect="1" noMove="1" noResize="1" noEditPoints="1" noAdjustHandles="1" noChangeArrowheads="1" noChangeShapeType="1" noTextEdit="1"/>
              </p:cNvSpPr>
              <p:nvPr/>
            </p:nvSpPr>
            <p:spPr>
              <a:xfrm>
                <a:off x="4096140" y="834529"/>
                <a:ext cx="3298018" cy="581569"/>
              </a:xfrm>
              <a:prstGeom prst="rect">
                <a:avLst/>
              </a:prstGeom>
              <a:blipFill>
                <a:blip r:embed="rId8"/>
                <a:stretch>
                  <a:fillRect/>
                </a:stretch>
              </a:blipFill>
            </p:spPr>
            <p:txBody>
              <a:bodyPr/>
              <a:lstStyle/>
              <a:p>
                <a:r>
                  <a:rPr lang="zh-CN" altLang="en-US">
                    <a:noFill/>
                  </a:rPr>
                  <a:t> </a:t>
                </a:r>
              </a:p>
            </p:txBody>
          </p:sp>
        </mc:Fallback>
      </mc:AlternateContent>
      <p:sp>
        <p:nvSpPr>
          <p:cNvPr id="6" name="文本框 3">
            <a:extLst>
              <a:ext uri="{FF2B5EF4-FFF2-40B4-BE49-F238E27FC236}">
                <a16:creationId xmlns:a16="http://schemas.microsoft.com/office/drawing/2014/main" id="{2B483E37-7EA9-661F-9BF6-9A49D8AE2C27}"/>
              </a:ext>
            </a:extLst>
          </p:cNvPr>
          <p:cNvSpPr txBox="1"/>
          <p:nvPr/>
        </p:nvSpPr>
        <p:spPr>
          <a:xfrm>
            <a:off x="7500263" y="940647"/>
            <a:ext cx="1130131"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dirty="0"/>
              <a:t>一阶偏导</a:t>
            </a:r>
          </a:p>
        </p:txBody>
      </p:sp>
    </p:spTree>
    <p:extLst>
      <p:ext uri="{BB962C8B-B14F-4D97-AF65-F5344CB8AC3E}">
        <p14:creationId xmlns:p14="http://schemas.microsoft.com/office/powerpoint/2010/main" val="1134647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5C4DC-9B18-4815-45CC-A8E12070F5F3}"/>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F62D4CC6-8DFF-195B-929A-2343571FAAB1}"/>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1: Gauss’s law of magnetism</a:t>
            </a:r>
          </a:p>
          <a:p>
            <a:pPr algn="ct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F34029B-BEED-04B3-1097-446EC7F8F992}"/>
                  </a:ext>
                </a:extLst>
              </p:cNvPr>
              <p:cNvSpPr txBox="1"/>
              <p:nvPr/>
            </p:nvSpPr>
            <p:spPr>
              <a:xfrm>
                <a:off x="548840" y="2030541"/>
                <a:ext cx="2859821" cy="4591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m:t>
                          </m:r>
                        </m:e>
                        <m:sub>
                          <m:r>
                            <a:rPr lang="en-US" altLang="zh-CN" sz="2400" b="0" i="1" smtClean="0">
                              <a:latin typeface="Cambria Math" panose="02040503050406030204" pitchFamily="18" charset="0"/>
                            </a:rPr>
                            <m:t>𝑠</m:t>
                          </m:r>
                        </m:sub>
                      </m:sSub>
                      <m:acc>
                        <m:accPr>
                          <m:chr m:val="⃗"/>
                          <m:ctrlPr>
                            <a:rPr lang="zh-CN" altLang="en-US" sz="2400" i="1">
                              <a:latin typeface="Cambria Math" panose="02040503050406030204" pitchFamily="18" charset="0"/>
                            </a:rPr>
                          </m:ctrlPr>
                        </m:accPr>
                        <m:e>
                          <m:r>
                            <a:rPr lang="zh-CN" altLang="en-US" sz="2400" i="1">
                              <a:latin typeface="Cambria Math" panose="02040503050406030204" pitchFamily="18" charset="0"/>
                            </a:rPr>
                            <m:t>𝐵</m:t>
                          </m:r>
                        </m:e>
                      </m:acc>
                      <m:r>
                        <a:rPr lang="en-US" altLang="zh-CN" sz="2400" i="1">
                          <a:latin typeface="Cambria Math" panose="02040503050406030204" pitchFamily="18" charset="0"/>
                        </a:rPr>
                        <m:t>⋅</m:t>
                      </m:r>
                      <m:r>
                        <a:rPr lang="en-US" altLang="zh-CN" sz="2400" i="1">
                          <a:latin typeface="Cambria Math" panose="02040503050406030204" pitchFamily="18" charset="0"/>
                        </a:rPr>
                        <m:t>𝑑𝐴</m:t>
                      </m:r>
                      <m:r>
                        <a:rPr lang="en-US" altLang="zh-CN" sz="2400" i="1">
                          <a:latin typeface="Cambria Math" panose="02040503050406030204" pitchFamily="18" charset="0"/>
                        </a:rPr>
                        <m:t>=</m:t>
                      </m:r>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r>
                        <a:rPr lang="zh-CN" altLang="en-US" sz="2400" i="0">
                          <a:solidFill>
                            <a:schemeClr val="tx1"/>
                          </a:solidFill>
                          <a:latin typeface="Cambria Math" panose="02040503050406030204" pitchFamily="18" charset="0"/>
                        </a:rPr>
                        <m:t>=0</m:t>
                      </m:r>
                    </m:oMath>
                  </m:oMathPara>
                </a14:m>
                <a:endParaRPr lang="zh-CN" altLang="en-US" sz="2400" dirty="0">
                  <a:solidFill>
                    <a:schemeClr val="tx1"/>
                  </a:solidFill>
                </a:endParaRPr>
              </a:p>
            </p:txBody>
          </p:sp>
        </mc:Choice>
        <mc:Fallback xmlns="">
          <p:sp>
            <p:nvSpPr>
              <p:cNvPr id="3" name="文本框 2">
                <a:extLst>
                  <a:ext uri="{FF2B5EF4-FFF2-40B4-BE49-F238E27FC236}">
                    <a16:creationId xmlns:a16="http://schemas.microsoft.com/office/drawing/2014/main" id="{3F34029B-BEED-04B3-1097-446EC7F8F992}"/>
                  </a:ext>
                </a:extLst>
              </p:cNvPr>
              <p:cNvSpPr txBox="1">
                <a:spLocks noRot="1" noChangeAspect="1" noMove="1" noResize="1" noEditPoints="1" noAdjustHandles="1" noChangeArrowheads="1" noChangeShapeType="1" noTextEdit="1"/>
              </p:cNvSpPr>
              <p:nvPr/>
            </p:nvSpPr>
            <p:spPr>
              <a:xfrm>
                <a:off x="548840" y="2030541"/>
                <a:ext cx="2859821" cy="459100"/>
              </a:xfrm>
              <a:prstGeom prst="rect">
                <a:avLst/>
              </a:prstGeom>
              <a:blipFill>
                <a:blip r:embed="rId3"/>
                <a:stretch>
                  <a:fillRect/>
                </a:stretch>
              </a:blipFill>
            </p:spPr>
            <p:txBody>
              <a:bodyPr/>
              <a:lstStyle/>
              <a:p>
                <a:r>
                  <a:rPr lang="zh-CN" altLang="en-US">
                    <a:noFill/>
                  </a:rPr>
                  <a:t> </a:t>
                </a:r>
              </a:p>
            </p:txBody>
          </p:sp>
        </mc:Fallback>
      </mc:AlternateContent>
      <p:sp>
        <p:nvSpPr>
          <p:cNvPr id="7" name="文本框 3">
            <a:extLst>
              <a:ext uri="{FF2B5EF4-FFF2-40B4-BE49-F238E27FC236}">
                <a16:creationId xmlns:a16="http://schemas.microsoft.com/office/drawing/2014/main" id="{9D4FE825-C8C7-92FB-74CE-08B3DAE891B9}"/>
              </a:ext>
            </a:extLst>
          </p:cNvPr>
          <p:cNvSpPr txBox="1"/>
          <p:nvPr/>
        </p:nvSpPr>
        <p:spPr>
          <a:xfrm>
            <a:off x="3591300" y="2093081"/>
            <a:ext cx="5256309"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2">
                    <a:lumMod val="75000"/>
                  </a:schemeClr>
                </a:solidFill>
              </a:rPr>
              <a:t> Total magnetic flux through any closed surface is zero.</a:t>
            </a:r>
            <a:endParaRPr lang="zh-CN" altLang="en-US" sz="1600" dirty="0">
              <a:solidFill>
                <a:schemeClr val="accent2">
                  <a:lumMod val="75000"/>
                </a:schemeClr>
              </a:solidFill>
            </a:endParaRPr>
          </a:p>
        </p:txBody>
      </p:sp>
      <p:sp>
        <p:nvSpPr>
          <p:cNvPr id="8" name="文本框 3">
            <a:extLst>
              <a:ext uri="{FF2B5EF4-FFF2-40B4-BE49-F238E27FC236}">
                <a16:creationId xmlns:a16="http://schemas.microsoft.com/office/drawing/2014/main" id="{61374F3C-DEA9-8DED-249C-74074B0738B9}"/>
              </a:ext>
            </a:extLst>
          </p:cNvPr>
          <p:cNvSpPr txBox="1"/>
          <p:nvPr/>
        </p:nvSpPr>
        <p:spPr>
          <a:xfrm>
            <a:off x="383004" y="2598490"/>
            <a:ext cx="6416592"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5">
                    <a:lumMod val="75000"/>
                  </a:schemeClr>
                </a:solidFill>
              </a:rPr>
              <a:t>Flux of the magnetic field through an infinitesimal area element </a:t>
            </a:r>
            <a:r>
              <a:rPr lang="en-US" altLang="zh-CN" sz="1600" dirty="0" err="1">
                <a:solidFill>
                  <a:schemeClr val="accent5">
                    <a:lumMod val="75000"/>
                  </a:schemeClr>
                </a:solidFill>
              </a:rPr>
              <a:t>dA</a:t>
            </a:r>
            <a:endParaRPr lang="zh-CN" altLang="en-US" sz="1600" dirty="0">
              <a:solidFill>
                <a:schemeClr val="accent5">
                  <a:lumMod val="75000"/>
                </a:schemeClr>
              </a:solidFill>
            </a:endParaRPr>
          </a:p>
        </p:txBody>
      </p:sp>
      <p:cxnSp>
        <p:nvCxnSpPr>
          <p:cNvPr id="9" name="直接箭头连接符 8">
            <a:extLst>
              <a:ext uri="{FF2B5EF4-FFF2-40B4-BE49-F238E27FC236}">
                <a16:creationId xmlns:a16="http://schemas.microsoft.com/office/drawing/2014/main" id="{BFFCA801-AD5E-7DB4-7D0C-3C075622D8EF}"/>
              </a:ext>
            </a:extLst>
          </p:cNvPr>
          <p:cNvCxnSpPr>
            <a:cxnSpLocks/>
          </p:cNvCxnSpPr>
          <p:nvPr/>
        </p:nvCxnSpPr>
        <p:spPr>
          <a:xfrm flipV="1">
            <a:off x="1248013" y="2381660"/>
            <a:ext cx="0" cy="264253"/>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050" name="Picture 2" descr="遠得要命的數學王國: Maxwell's Equations">
            <a:extLst>
              <a:ext uri="{FF2B5EF4-FFF2-40B4-BE49-F238E27FC236}">
                <a16:creationId xmlns:a16="http://schemas.microsoft.com/office/drawing/2014/main" id="{FB2F975E-3A54-4A68-69E1-B32DC59B29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9975" y="3376783"/>
            <a:ext cx="2937634" cy="1543376"/>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825E4ED1-0DA1-4F87-4D90-F7C55F66A63B}"/>
              </a:ext>
            </a:extLst>
          </p:cNvPr>
          <p:cNvSpPr txBox="1"/>
          <p:nvPr/>
        </p:nvSpPr>
        <p:spPr>
          <a:xfrm>
            <a:off x="383004" y="3376783"/>
            <a:ext cx="5380869" cy="1754326"/>
          </a:xfrm>
          <a:prstGeom prst="rect">
            <a:avLst/>
          </a:prstGeom>
          <a:noFill/>
        </p:spPr>
        <p:txBody>
          <a:bodyPr wrap="square">
            <a:spAutoFit/>
          </a:bodyPr>
          <a:lstStyle/>
          <a:p>
            <a:r>
              <a:rPr lang="en-US" altLang="zh-CN" dirty="0"/>
              <a:t>Consider a bar magnet enclosed by a Gaussian surface. The magnetic field lines form closed loops, and the total flux through the surface is zero.</a:t>
            </a:r>
          </a:p>
          <a:p>
            <a:r>
              <a:rPr lang="en-US" altLang="zh-CN" dirty="0"/>
              <a:t>No matter how you position the surface, the number of field lines entering equals the number leaving.</a:t>
            </a:r>
            <a:endParaRPr lang="zh-CN" altLang="en-US" dirty="0"/>
          </a:p>
        </p:txBody>
      </p:sp>
      <p:sp>
        <p:nvSpPr>
          <p:cNvPr id="15" name="文本框 14">
            <a:extLst>
              <a:ext uri="{FF2B5EF4-FFF2-40B4-BE49-F238E27FC236}">
                <a16:creationId xmlns:a16="http://schemas.microsoft.com/office/drawing/2014/main" id="{27671906-B09F-CCF4-7C14-87F65B59ABAB}"/>
              </a:ext>
            </a:extLst>
          </p:cNvPr>
          <p:cNvSpPr txBox="1"/>
          <p:nvPr/>
        </p:nvSpPr>
        <p:spPr>
          <a:xfrm>
            <a:off x="909273" y="1478473"/>
            <a:ext cx="1203221" cy="523220"/>
          </a:xfrm>
          <a:prstGeom prst="rect">
            <a:avLst/>
          </a:prstGeom>
          <a:noFill/>
        </p:spPr>
        <p:txBody>
          <a:bodyPr wrap="square">
            <a:spAutoFit/>
          </a:bodyPr>
          <a:lstStyle/>
          <a:p>
            <a:r>
              <a:rPr lang="en-US" altLang="zh-CN" sz="1400" dirty="0"/>
              <a:t>Integral Form</a:t>
            </a:r>
            <a:endParaRPr lang="zh-CN" altLang="en-US" sz="1400" dirty="0"/>
          </a:p>
        </p:txBody>
      </p:sp>
      <p:sp>
        <p:nvSpPr>
          <p:cNvPr id="18" name="文本框 17">
            <a:extLst>
              <a:ext uri="{FF2B5EF4-FFF2-40B4-BE49-F238E27FC236}">
                <a16:creationId xmlns:a16="http://schemas.microsoft.com/office/drawing/2014/main" id="{B69164B5-2E5B-2CD4-72DC-144EC466F5E2}"/>
              </a:ext>
            </a:extLst>
          </p:cNvPr>
          <p:cNvSpPr txBox="1"/>
          <p:nvPr/>
        </p:nvSpPr>
        <p:spPr>
          <a:xfrm>
            <a:off x="2112494" y="1478473"/>
            <a:ext cx="1478806" cy="523220"/>
          </a:xfrm>
          <a:prstGeom prst="rect">
            <a:avLst/>
          </a:prstGeom>
          <a:noFill/>
        </p:spPr>
        <p:txBody>
          <a:bodyPr wrap="square">
            <a:spAutoFit/>
          </a:bodyPr>
          <a:lstStyle/>
          <a:p>
            <a:r>
              <a:rPr lang="en-US" altLang="zh-CN" sz="1400" dirty="0"/>
              <a:t>Differential Form</a:t>
            </a:r>
            <a:endParaRPr lang="zh-CN" altLang="en-US" sz="1400" dirty="0"/>
          </a:p>
        </p:txBody>
      </p:sp>
    </p:spTree>
    <p:extLst>
      <p:ext uri="{BB962C8B-B14F-4D97-AF65-F5344CB8AC3E}">
        <p14:creationId xmlns:p14="http://schemas.microsoft.com/office/powerpoint/2010/main" val="65366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B1BA8-A671-B406-5BF1-94A928512BC2}"/>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705910A8-B244-357E-CC57-26B22D821F05}"/>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2</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Gauss’s law of electrostatic</a:t>
            </a:r>
          </a:p>
          <a:p>
            <a:pPr algn="ct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5" name="直接箭头连接符 4">
            <a:extLst>
              <a:ext uri="{FF2B5EF4-FFF2-40B4-BE49-F238E27FC236}">
                <a16:creationId xmlns:a16="http://schemas.microsoft.com/office/drawing/2014/main" id="{1D86B009-7FA2-F384-101F-F66C549B764E}"/>
              </a:ext>
            </a:extLst>
          </p:cNvPr>
          <p:cNvCxnSpPr>
            <a:cxnSpLocks/>
          </p:cNvCxnSpPr>
          <p:nvPr/>
        </p:nvCxnSpPr>
        <p:spPr>
          <a:xfrm flipV="1">
            <a:off x="1893325" y="1387948"/>
            <a:ext cx="0" cy="264253"/>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3">
            <a:extLst>
              <a:ext uri="{FF2B5EF4-FFF2-40B4-BE49-F238E27FC236}">
                <a16:creationId xmlns:a16="http://schemas.microsoft.com/office/drawing/2014/main" id="{EE685ADE-8E71-4795-240C-2745F534B23A}"/>
              </a:ext>
            </a:extLst>
          </p:cNvPr>
          <p:cNvSpPr txBox="1"/>
          <p:nvPr/>
        </p:nvSpPr>
        <p:spPr>
          <a:xfrm>
            <a:off x="1185706" y="1643761"/>
            <a:ext cx="1380955"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2">
                    <a:lumMod val="75000"/>
                  </a:schemeClr>
                </a:solidFill>
              </a:rPr>
              <a:t>Electric field</a:t>
            </a:r>
            <a:endParaRPr lang="zh-CN" altLang="en-US" sz="1600" dirty="0">
              <a:solidFill>
                <a:schemeClr val="accent2">
                  <a:lumMod val="75000"/>
                </a:schemeClr>
              </a:solidFill>
            </a:endParaRPr>
          </a:p>
        </p:txBody>
      </p:sp>
      <mc:AlternateContent xmlns:mc="http://schemas.openxmlformats.org/markup-compatibility/2006" xmlns:a14="http://schemas.microsoft.com/office/drawing/2010/main">
        <mc:Choice Requires="a14">
          <p:sp>
            <p:nvSpPr>
              <p:cNvPr id="8" name="文本框 3">
                <a:extLst>
                  <a:ext uri="{FF2B5EF4-FFF2-40B4-BE49-F238E27FC236}">
                    <a16:creationId xmlns:a16="http://schemas.microsoft.com/office/drawing/2014/main" id="{C37BD855-69FF-30D0-BEBA-F45F288EE553}"/>
                  </a:ext>
                </a:extLst>
              </p:cNvPr>
              <p:cNvSpPr txBox="1"/>
              <p:nvPr/>
            </p:nvSpPr>
            <p:spPr>
              <a:xfrm>
                <a:off x="3147096" y="606932"/>
                <a:ext cx="3773913" cy="45352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5">
                        <a:lumMod val="75000"/>
                      </a:schemeClr>
                    </a:solidFill>
                  </a:rPr>
                  <a:t>Charge density </a:t>
                </a:r>
                <a14:m>
                  <m:oMath xmlns:m="http://schemas.openxmlformats.org/officeDocument/2006/math">
                    <m:r>
                      <m:rPr>
                        <m:nor/>
                      </m:rPr>
                      <a:rPr lang="en-US" altLang="zh-CN" sz="1600" dirty="0">
                        <a:solidFill>
                          <a:schemeClr val="accent5">
                            <a:lumMod val="75000"/>
                          </a:schemeClr>
                        </a:solidFill>
                      </a:rPr>
                      <m:t>(</m:t>
                    </m:r>
                    <m:r>
                      <m:rPr>
                        <m:nor/>
                      </m:rPr>
                      <a:rPr lang="zh-CN" altLang="en-US" sz="1600" dirty="0">
                        <a:solidFill>
                          <a:schemeClr val="accent5">
                            <a:lumMod val="75000"/>
                          </a:schemeClr>
                        </a:solidFill>
                      </a:rPr>
                      <m:t>电荷密度）</m:t>
                    </m:r>
                    <m:r>
                      <a:rPr lang="en-US" altLang="zh-CN" sz="1600" i="1" dirty="0" smtClean="0">
                        <a:solidFill>
                          <a:schemeClr val="accent5">
                            <a:lumMod val="75000"/>
                          </a:schemeClr>
                        </a:solidFill>
                        <a:latin typeface="Cambria Math" panose="02040503050406030204" pitchFamily="18" charset="0"/>
                      </a:rPr>
                      <m:t>𝜌</m:t>
                    </m:r>
                    <m:r>
                      <a:rPr lang="en-US" altLang="zh-CN" sz="1600" i="0" dirty="0" smtClean="0">
                        <a:solidFill>
                          <a:schemeClr val="accent5">
                            <a:lumMod val="75000"/>
                          </a:schemeClr>
                        </a:solidFill>
                        <a:latin typeface="Cambria Math" panose="02040503050406030204" pitchFamily="18" charset="0"/>
                      </a:rPr>
                      <m:t>=</m:t>
                    </m:r>
                    <m:f>
                      <m:fPr>
                        <m:ctrlPr>
                          <a:rPr lang="en-US" altLang="zh-CN" sz="1600" i="1" dirty="0" smtClean="0">
                            <a:solidFill>
                              <a:schemeClr val="accent5">
                                <a:lumMod val="75000"/>
                              </a:schemeClr>
                            </a:solidFill>
                            <a:latin typeface="Cambria Math" panose="02040503050406030204" pitchFamily="18" charset="0"/>
                          </a:rPr>
                        </m:ctrlPr>
                      </m:fPr>
                      <m:num>
                        <m:r>
                          <a:rPr lang="en-US" altLang="zh-CN" sz="1600" i="0" dirty="0" smtClean="0">
                            <a:solidFill>
                              <a:schemeClr val="accent5">
                                <a:lumMod val="75000"/>
                              </a:schemeClr>
                            </a:solidFill>
                            <a:latin typeface="Cambria Math" panose="02040503050406030204" pitchFamily="18" charset="0"/>
                          </a:rPr>
                          <m:t>ⅆ</m:t>
                        </m:r>
                        <m:r>
                          <a:rPr lang="en-US" altLang="zh-CN" sz="1600" i="1" dirty="0" smtClean="0">
                            <a:solidFill>
                              <a:schemeClr val="accent5">
                                <a:lumMod val="75000"/>
                              </a:schemeClr>
                            </a:solidFill>
                            <a:latin typeface="Cambria Math" panose="02040503050406030204" pitchFamily="18" charset="0"/>
                          </a:rPr>
                          <m:t>𝑞</m:t>
                        </m:r>
                      </m:num>
                      <m:den>
                        <m:r>
                          <a:rPr lang="en-US" altLang="zh-CN" sz="1600" i="0" dirty="0" smtClean="0">
                            <a:solidFill>
                              <a:schemeClr val="accent5">
                                <a:lumMod val="75000"/>
                              </a:schemeClr>
                            </a:solidFill>
                            <a:latin typeface="Cambria Math" panose="02040503050406030204" pitchFamily="18" charset="0"/>
                          </a:rPr>
                          <m:t>ⅆ</m:t>
                        </m:r>
                        <m:r>
                          <a:rPr lang="en-US" altLang="zh-CN" sz="1600" i="1" dirty="0" smtClean="0">
                            <a:solidFill>
                              <a:schemeClr val="accent5">
                                <a:lumMod val="75000"/>
                              </a:schemeClr>
                            </a:solidFill>
                            <a:latin typeface="Cambria Math" panose="02040503050406030204" pitchFamily="18" charset="0"/>
                          </a:rPr>
                          <m:t>𝑣</m:t>
                        </m:r>
                      </m:den>
                    </m:f>
                  </m:oMath>
                </a14:m>
                <a:endParaRPr lang="zh-CN" altLang="en-US" sz="1600" dirty="0">
                  <a:solidFill>
                    <a:schemeClr val="accent5">
                      <a:lumMod val="75000"/>
                    </a:schemeClr>
                  </a:solidFill>
                </a:endParaRPr>
              </a:p>
            </p:txBody>
          </p:sp>
        </mc:Choice>
        <mc:Fallback xmlns="">
          <p:sp>
            <p:nvSpPr>
              <p:cNvPr id="8" name="文本框 3">
                <a:extLst>
                  <a:ext uri="{FF2B5EF4-FFF2-40B4-BE49-F238E27FC236}">
                    <a16:creationId xmlns:a16="http://schemas.microsoft.com/office/drawing/2014/main" id="{C37BD855-69FF-30D0-BEBA-F45F288EE553}"/>
                  </a:ext>
                </a:extLst>
              </p:cNvPr>
              <p:cNvSpPr txBox="1">
                <a:spLocks noRot="1" noChangeAspect="1" noMove="1" noResize="1" noEditPoints="1" noAdjustHandles="1" noChangeArrowheads="1" noChangeShapeType="1" noTextEdit="1"/>
              </p:cNvSpPr>
              <p:nvPr/>
            </p:nvSpPr>
            <p:spPr>
              <a:xfrm>
                <a:off x="3147096" y="606932"/>
                <a:ext cx="3773913" cy="453522"/>
              </a:xfrm>
              <a:prstGeom prst="rect">
                <a:avLst/>
              </a:prstGeom>
              <a:blipFill>
                <a:blip r:embed="rId3"/>
                <a:stretch>
                  <a:fillRect l="-808" b="-5405"/>
                </a:stretch>
              </a:blipFill>
            </p:spPr>
            <p:txBody>
              <a:bodyPr/>
              <a:lstStyle/>
              <a:p>
                <a:r>
                  <a:rPr lang="zh-CN" altLang="en-US">
                    <a:noFill/>
                  </a:rPr>
                  <a:t> </a:t>
                </a:r>
              </a:p>
            </p:txBody>
          </p:sp>
        </mc:Fallback>
      </mc:AlternateContent>
      <p:cxnSp>
        <p:nvCxnSpPr>
          <p:cNvPr id="9" name="直接箭头连接符 8">
            <a:extLst>
              <a:ext uri="{FF2B5EF4-FFF2-40B4-BE49-F238E27FC236}">
                <a16:creationId xmlns:a16="http://schemas.microsoft.com/office/drawing/2014/main" id="{A9D117B3-0480-F1E3-EE98-309A2D6F57E4}"/>
              </a:ext>
            </a:extLst>
          </p:cNvPr>
          <p:cNvCxnSpPr>
            <a:cxnSpLocks/>
          </p:cNvCxnSpPr>
          <p:nvPr/>
        </p:nvCxnSpPr>
        <p:spPr>
          <a:xfrm flipH="1">
            <a:off x="2799376" y="1024642"/>
            <a:ext cx="347720" cy="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3">
            <a:extLst>
              <a:ext uri="{FF2B5EF4-FFF2-40B4-BE49-F238E27FC236}">
                <a16:creationId xmlns:a16="http://schemas.microsoft.com/office/drawing/2014/main" id="{F0D822F4-4392-763A-657D-A314F7701CF9}"/>
              </a:ext>
            </a:extLst>
          </p:cNvPr>
          <p:cNvSpPr txBox="1"/>
          <p:nvPr/>
        </p:nvSpPr>
        <p:spPr>
          <a:xfrm>
            <a:off x="460682" y="5339237"/>
            <a:ext cx="8572339"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The integral of electric flux density is always equal to charge enclosed over a closed surface.</a:t>
            </a:r>
            <a:r>
              <a:rPr lang="zh-CN" altLang="en-US" dirty="0"/>
              <a:t> </a:t>
            </a:r>
            <a:r>
              <a:rPr lang="en-US" altLang="zh-CN" dirty="0"/>
              <a:t>It implies that electric field lines originate from positive charges and terminate on negative charges.</a:t>
            </a:r>
            <a:r>
              <a:rPr lang="zh-CN" altLang="en-US" dirty="0"/>
              <a:t>（电场的</a:t>
            </a:r>
            <a:r>
              <a:rPr lang="zh-CN" altLang="en-US" b="1" dirty="0"/>
              <a:t>源</a:t>
            </a:r>
            <a:r>
              <a:rPr lang="zh-CN" altLang="en-US" dirty="0"/>
              <a:t>与</a:t>
            </a:r>
            <a:r>
              <a:rPr lang="zh-CN" altLang="en-US" b="1" dirty="0"/>
              <a:t>汇</a:t>
            </a:r>
            <a:r>
              <a:rPr lang="zh-CN" altLang="en-US" dirty="0"/>
              <a:t>大小正比于电荷密度）</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21E44E4-8823-266F-9636-EDE265018978}"/>
                  </a:ext>
                </a:extLst>
              </p:cNvPr>
              <p:cNvSpPr txBox="1"/>
              <p:nvPr/>
            </p:nvSpPr>
            <p:spPr>
              <a:xfrm>
                <a:off x="1331218" y="879004"/>
                <a:ext cx="1380955" cy="6951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en-US" altLang="zh-CN" sz="2400" b="0" i="1" smtClean="0">
                              <a:solidFill>
                                <a:schemeClr val="tx1"/>
                              </a:solidFill>
                              <a:latin typeface="Cambria Math" panose="02040503050406030204" pitchFamily="18" charset="0"/>
                            </a:rPr>
                            <m:t>𝐸</m:t>
                          </m:r>
                        </m:e>
                      </m:acc>
                      <m:r>
                        <a:rPr lang="zh-CN" altLang="en-US" sz="2400" i="0">
                          <a:solidFill>
                            <a:schemeClr val="tx1"/>
                          </a:solidFill>
                          <a:latin typeface="Cambria Math" panose="02040503050406030204" pitchFamily="18" charset="0"/>
                        </a:rPr>
                        <m:t>=</m:t>
                      </m:r>
                      <m:f>
                        <m:fPr>
                          <m:ctrlPr>
                            <a:rPr lang="en-US" altLang="zh-CN" sz="2400" i="1" smtClean="0">
                              <a:solidFill>
                                <a:schemeClr val="tx1"/>
                              </a:solidFill>
                              <a:latin typeface="Cambria Math" panose="02040503050406030204" pitchFamily="18" charset="0"/>
                            </a:rPr>
                          </m:ctrlPr>
                        </m:fPr>
                        <m:num>
                          <m:r>
                            <a:rPr lang="zh-CN" altLang="en-US" sz="2400" i="1">
                              <a:solidFill>
                                <a:schemeClr val="tx1"/>
                              </a:solidFill>
                              <a:latin typeface="Cambria Math" panose="02040503050406030204" pitchFamily="18" charset="0"/>
                            </a:rPr>
                            <m:t>𝜌</m:t>
                          </m:r>
                        </m:num>
                        <m:den>
                          <m:sSub>
                            <m:sSubPr>
                              <m:ctrlPr>
                                <a:rPr lang="en-US" altLang="zh-CN" sz="2400" i="1" smtClean="0">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𝜀</m:t>
                              </m:r>
                            </m:e>
                            <m:sub>
                              <m:r>
                                <a:rPr lang="en-US" altLang="zh-CN" sz="2400" b="0" i="1" smtClean="0">
                                  <a:solidFill>
                                    <a:schemeClr val="tx1"/>
                                  </a:solidFill>
                                  <a:latin typeface="Cambria Math" panose="02040503050406030204" pitchFamily="18" charset="0"/>
                                </a:rPr>
                                <m:t>0</m:t>
                              </m:r>
                            </m:sub>
                          </m:sSub>
                        </m:den>
                      </m:f>
                    </m:oMath>
                  </m:oMathPara>
                </a14:m>
                <a:endParaRPr lang="zh-CN" altLang="en-US" sz="2400" dirty="0"/>
              </a:p>
            </p:txBody>
          </p:sp>
        </mc:Choice>
        <mc:Fallback xmlns="">
          <p:sp>
            <p:nvSpPr>
              <p:cNvPr id="6" name="文本框 5">
                <a:extLst>
                  <a:ext uri="{FF2B5EF4-FFF2-40B4-BE49-F238E27FC236}">
                    <a16:creationId xmlns:a16="http://schemas.microsoft.com/office/drawing/2014/main" id="{A21E44E4-8823-266F-9636-EDE265018978}"/>
                  </a:ext>
                </a:extLst>
              </p:cNvPr>
              <p:cNvSpPr txBox="1">
                <a:spLocks noRot="1" noChangeAspect="1" noMove="1" noResize="1" noEditPoints="1" noAdjustHandles="1" noChangeArrowheads="1" noChangeShapeType="1" noTextEdit="1"/>
              </p:cNvSpPr>
              <p:nvPr/>
            </p:nvSpPr>
            <p:spPr>
              <a:xfrm>
                <a:off x="1331218" y="879004"/>
                <a:ext cx="1380955" cy="695127"/>
              </a:xfrm>
              <a:prstGeom prst="rect">
                <a:avLst/>
              </a:prstGeom>
              <a:blipFill>
                <a:blip r:embed="rId4"/>
                <a:stretch>
                  <a:fillRect/>
                </a:stretch>
              </a:blipFill>
            </p:spPr>
            <p:txBody>
              <a:bodyPr/>
              <a:lstStyle/>
              <a:p>
                <a:r>
                  <a:rPr lang="zh-CN" altLang="en-US">
                    <a:noFill/>
                  </a:rPr>
                  <a:t> </a:t>
                </a:r>
              </a:p>
            </p:txBody>
          </p:sp>
        </mc:Fallback>
      </mc:AlternateContent>
      <p:sp>
        <p:nvSpPr>
          <p:cNvPr id="15" name="文本框 3">
            <a:extLst>
              <a:ext uri="{FF2B5EF4-FFF2-40B4-BE49-F238E27FC236}">
                <a16:creationId xmlns:a16="http://schemas.microsoft.com/office/drawing/2014/main" id="{DC49E0BC-39DD-4AF8-9101-EA29FD078CBC}"/>
              </a:ext>
            </a:extLst>
          </p:cNvPr>
          <p:cNvSpPr txBox="1"/>
          <p:nvPr/>
        </p:nvSpPr>
        <p:spPr>
          <a:xfrm>
            <a:off x="3165682" y="1054357"/>
            <a:ext cx="5891731" cy="107721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5">
                    <a:lumMod val="75000"/>
                  </a:schemeClr>
                </a:solidFill>
              </a:rPr>
              <a:t>Permittivity (</a:t>
            </a:r>
            <a:r>
              <a:rPr lang="zh-CN" altLang="en-US" sz="1600" dirty="0">
                <a:solidFill>
                  <a:schemeClr val="accent5">
                    <a:lumMod val="75000"/>
                  </a:schemeClr>
                </a:solidFill>
              </a:rPr>
              <a:t>介电常数，电容率，诱电率）电介质是在电场作用下能建立极化的物质。介电常数是描述某种材料放入电容器中增加电容器存储电荷能力的物理量，是相对介电常数与真空中绝对介电常数乘积。</a:t>
            </a:r>
          </a:p>
        </p:txBody>
      </p:sp>
      <p:cxnSp>
        <p:nvCxnSpPr>
          <p:cNvPr id="16" name="直接箭头连接符 15">
            <a:extLst>
              <a:ext uri="{FF2B5EF4-FFF2-40B4-BE49-F238E27FC236}">
                <a16:creationId xmlns:a16="http://schemas.microsoft.com/office/drawing/2014/main" id="{1D95E50D-C062-4B7B-9FD1-8257BFE017F6}"/>
              </a:ext>
            </a:extLst>
          </p:cNvPr>
          <p:cNvCxnSpPr>
            <a:cxnSpLocks/>
          </p:cNvCxnSpPr>
          <p:nvPr/>
        </p:nvCxnSpPr>
        <p:spPr>
          <a:xfrm flipH="1">
            <a:off x="2817962" y="1478124"/>
            <a:ext cx="347720" cy="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AD43069-E4BD-4292-801D-C34C85BF83F8}"/>
                  </a:ext>
                </a:extLst>
              </p:cNvPr>
              <p:cNvSpPr txBox="1"/>
              <p:nvPr/>
            </p:nvSpPr>
            <p:spPr>
              <a:xfrm>
                <a:off x="3535215" y="2163411"/>
                <a:ext cx="1290417" cy="4140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smtClean="0">
                          <a:latin typeface="Cambria Math" panose="02040503050406030204" pitchFamily="18" charset="0"/>
                        </a:rPr>
                        <m:t>∇</m:t>
                      </m:r>
                      <m:r>
                        <a:rPr lang="zh-CN" altLang="en-US" sz="2400" i="0">
                          <a:latin typeface="Cambria Math" panose="02040503050406030204" pitchFamily="18" charset="0"/>
                        </a:rPr>
                        <m:t>⋅</m:t>
                      </m:r>
                      <m:acc>
                        <m:accPr>
                          <m:chr m:val="⃗"/>
                          <m:ctrlPr>
                            <a:rPr lang="zh-CN" altLang="en-US" sz="2400" i="1">
                              <a:latin typeface="Cambria Math" panose="02040503050406030204" pitchFamily="18" charset="0"/>
                            </a:rPr>
                          </m:ctrlPr>
                        </m:accPr>
                        <m:e>
                          <m:r>
                            <a:rPr lang="en-US" altLang="zh-CN" sz="2400" b="0" i="1" smtClean="0">
                              <a:latin typeface="Cambria Math" panose="02040503050406030204" pitchFamily="18" charset="0"/>
                            </a:rPr>
                            <m:t>𝐷</m:t>
                          </m:r>
                        </m:e>
                      </m:acc>
                      <m:r>
                        <a:rPr lang="zh-CN" altLang="en-US" sz="2400" i="0">
                          <a:latin typeface="Cambria Math" panose="02040503050406030204" pitchFamily="18" charset="0"/>
                        </a:rPr>
                        <m:t>=</m:t>
                      </m:r>
                      <m:r>
                        <a:rPr lang="zh-CN" altLang="en-US" sz="2400" i="1">
                          <a:latin typeface="Cambria Math" panose="02040503050406030204" pitchFamily="18" charset="0"/>
                        </a:rPr>
                        <m:t>𝜌</m:t>
                      </m:r>
                    </m:oMath>
                  </m:oMathPara>
                </a14:m>
                <a:endParaRPr lang="zh-CN" altLang="en-US" sz="2400" dirty="0"/>
              </a:p>
            </p:txBody>
          </p:sp>
        </mc:Choice>
        <mc:Fallback xmlns="">
          <p:sp>
            <p:nvSpPr>
              <p:cNvPr id="3" name="文本框 2">
                <a:extLst>
                  <a:ext uri="{FF2B5EF4-FFF2-40B4-BE49-F238E27FC236}">
                    <a16:creationId xmlns:a16="http://schemas.microsoft.com/office/drawing/2014/main" id="{2AD43069-E4BD-4292-801D-C34C85BF83F8}"/>
                  </a:ext>
                </a:extLst>
              </p:cNvPr>
              <p:cNvSpPr txBox="1">
                <a:spLocks noRot="1" noChangeAspect="1" noMove="1" noResize="1" noEditPoints="1" noAdjustHandles="1" noChangeArrowheads="1" noChangeShapeType="1" noTextEdit="1"/>
              </p:cNvSpPr>
              <p:nvPr/>
            </p:nvSpPr>
            <p:spPr>
              <a:xfrm>
                <a:off x="3535215" y="2163411"/>
                <a:ext cx="1290417" cy="414088"/>
              </a:xfrm>
              <a:prstGeom prst="rect">
                <a:avLst/>
              </a:prstGeom>
              <a:blipFill>
                <a:blip r:embed="rId5"/>
                <a:stretch>
                  <a:fillRect/>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5206DD2B-4404-44BF-A7BE-7CF20ADBF231}"/>
              </a:ext>
            </a:extLst>
          </p:cNvPr>
          <p:cNvSpPr/>
          <p:nvPr/>
        </p:nvSpPr>
        <p:spPr>
          <a:xfrm>
            <a:off x="1733087" y="2143834"/>
            <a:ext cx="1802128" cy="369332"/>
          </a:xfrm>
          <a:prstGeom prst="rect">
            <a:avLst/>
          </a:prstGeom>
        </p:spPr>
        <p:txBody>
          <a:bodyPr wrap="square">
            <a:spAutoFit/>
          </a:bodyPr>
          <a:lstStyle/>
          <a:p>
            <a:r>
              <a:rPr lang="en-US" altLang="zh-CN" dirty="0"/>
              <a:t>In general form:</a:t>
            </a:r>
            <a:endParaRPr lang="zh-CN" altLang="en-US" dirty="0"/>
          </a:p>
        </p:txBody>
      </p:sp>
      <mc:AlternateContent xmlns:mc="http://schemas.openxmlformats.org/markup-compatibility/2006" xmlns:a14="http://schemas.microsoft.com/office/drawing/2010/main">
        <mc:Choice Requires="a14">
          <p:sp>
            <p:nvSpPr>
              <p:cNvPr id="20" name="文本框 3">
                <a:extLst>
                  <a:ext uri="{FF2B5EF4-FFF2-40B4-BE49-F238E27FC236}">
                    <a16:creationId xmlns:a16="http://schemas.microsoft.com/office/drawing/2014/main" id="{80D97D09-453E-4DD6-909C-BDFBDCD98498}"/>
                  </a:ext>
                </a:extLst>
              </p:cNvPr>
              <p:cNvSpPr txBox="1"/>
              <p:nvPr/>
            </p:nvSpPr>
            <p:spPr>
              <a:xfrm>
                <a:off x="4847939" y="2163411"/>
                <a:ext cx="2060092" cy="36849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solidFill>
                      <a:schemeClr val="accent2">
                        <a:lumMod val="75000"/>
                      </a:schemeClr>
                    </a:solidFill>
                  </a:rPr>
                  <a:t>电感应强度 </a:t>
                </a:r>
                <a14:m>
                  <m:oMath xmlns:m="http://schemas.openxmlformats.org/officeDocument/2006/math">
                    <m:acc>
                      <m:accPr>
                        <m:chr m:val="⃗"/>
                        <m:ctrlPr>
                          <a:rPr lang="zh-CN" altLang="en-US" sz="1600" i="1" dirty="0" smtClean="0">
                            <a:solidFill>
                              <a:schemeClr val="accent2">
                                <a:lumMod val="75000"/>
                              </a:schemeClr>
                            </a:solidFill>
                            <a:latin typeface="Cambria Math" panose="02040503050406030204" pitchFamily="18" charset="0"/>
                          </a:rPr>
                        </m:ctrlPr>
                      </m:accPr>
                      <m:e>
                        <m:r>
                          <a:rPr lang="zh-CN" altLang="en-US" sz="1600" i="1" dirty="0">
                            <a:solidFill>
                              <a:schemeClr val="accent2">
                                <a:lumMod val="75000"/>
                              </a:schemeClr>
                            </a:solidFill>
                            <a:latin typeface="Cambria Math" panose="02040503050406030204" pitchFamily="18" charset="0"/>
                          </a:rPr>
                          <m:t>𝐷</m:t>
                        </m:r>
                      </m:e>
                    </m:acc>
                    <m:r>
                      <a:rPr lang="zh-CN" altLang="en-US" sz="1600" i="0" dirty="0">
                        <a:solidFill>
                          <a:schemeClr val="accent2">
                            <a:lumMod val="75000"/>
                          </a:schemeClr>
                        </a:solidFill>
                        <a:latin typeface="Cambria Math" panose="02040503050406030204" pitchFamily="18" charset="0"/>
                      </a:rPr>
                      <m:t>=</m:t>
                    </m:r>
                    <m:sSub>
                      <m:sSubPr>
                        <m:ctrlPr>
                          <a:rPr lang="zh-CN" altLang="en-US" sz="1600" i="1" dirty="0">
                            <a:solidFill>
                              <a:schemeClr val="accent2">
                                <a:lumMod val="75000"/>
                              </a:schemeClr>
                            </a:solidFill>
                            <a:latin typeface="Cambria Math" panose="02040503050406030204" pitchFamily="18" charset="0"/>
                          </a:rPr>
                        </m:ctrlPr>
                      </m:sSubPr>
                      <m:e>
                        <m:r>
                          <a:rPr lang="zh-CN" altLang="en-US" sz="1600" i="1" dirty="0">
                            <a:solidFill>
                              <a:schemeClr val="accent2">
                                <a:lumMod val="75000"/>
                              </a:schemeClr>
                            </a:solidFill>
                            <a:latin typeface="Cambria Math" panose="02040503050406030204" pitchFamily="18" charset="0"/>
                          </a:rPr>
                          <m:t>𝜀</m:t>
                        </m:r>
                      </m:e>
                      <m:sub>
                        <m:r>
                          <a:rPr lang="zh-CN" altLang="en-US" sz="1600" i="0" dirty="0">
                            <a:solidFill>
                              <a:schemeClr val="accent2">
                                <a:lumMod val="75000"/>
                              </a:schemeClr>
                            </a:solidFill>
                            <a:latin typeface="Cambria Math" panose="02040503050406030204" pitchFamily="18" charset="0"/>
                          </a:rPr>
                          <m:t>0</m:t>
                        </m:r>
                      </m:sub>
                    </m:sSub>
                    <m:acc>
                      <m:accPr>
                        <m:chr m:val="⃗"/>
                        <m:ctrlPr>
                          <a:rPr lang="zh-CN" altLang="en-US" sz="1600" i="1" dirty="0">
                            <a:solidFill>
                              <a:schemeClr val="accent2">
                                <a:lumMod val="75000"/>
                              </a:schemeClr>
                            </a:solidFill>
                            <a:latin typeface="Cambria Math" panose="02040503050406030204" pitchFamily="18" charset="0"/>
                          </a:rPr>
                        </m:ctrlPr>
                      </m:accPr>
                      <m:e>
                        <m:r>
                          <a:rPr lang="zh-CN" altLang="en-US" sz="1600" i="1" dirty="0">
                            <a:solidFill>
                              <a:schemeClr val="accent2">
                                <a:lumMod val="75000"/>
                              </a:schemeClr>
                            </a:solidFill>
                            <a:latin typeface="Cambria Math" panose="02040503050406030204" pitchFamily="18" charset="0"/>
                          </a:rPr>
                          <m:t>𝐸</m:t>
                        </m:r>
                      </m:e>
                    </m:acc>
                  </m:oMath>
                </a14:m>
                <a:endParaRPr lang="zh-CN" altLang="en-US" sz="1600" dirty="0">
                  <a:solidFill>
                    <a:schemeClr val="accent2">
                      <a:lumMod val="75000"/>
                    </a:schemeClr>
                  </a:solidFill>
                </a:endParaRPr>
              </a:p>
            </p:txBody>
          </p:sp>
        </mc:Choice>
        <mc:Fallback xmlns="">
          <p:sp>
            <p:nvSpPr>
              <p:cNvPr id="20" name="文本框 3">
                <a:extLst>
                  <a:ext uri="{FF2B5EF4-FFF2-40B4-BE49-F238E27FC236}">
                    <a16:creationId xmlns:a16="http://schemas.microsoft.com/office/drawing/2014/main" id="{80D97D09-453E-4DD6-909C-BDFBDCD98498}"/>
                  </a:ext>
                </a:extLst>
              </p:cNvPr>
              <p:cNvSpPr txBox="1">
                <a:spLocks noRot="1" noChangeAspect="1" noMove="1" noResize="1" noEditPoints="1" noAdjustHandles="1" noChangeArrowheads="1" noChangeShapeType="1" noTextEdit="1"/>
              </p:cNvSpPr>
              <p:nvPr/>
            </p:nvSpPr>
            <p:spPr>
              <a:xfrm>
                <a:off x="4847939" y="2163411"/>
                <a:ext cx="2060092" cy="368499"/>
              </a:xfrm>
              <a:prstGeom prst="rect">
                <a:avLst/>
              </a:prstGeom>
              <a:blipFill>
                <a:blip r:embed="rId6"/>
                <a:stretch>
                  <a:fillRect l="-1479" b="-21667"/>
                </a:stretch>
              </a:blipFill>
            </p:spPr>
            <p:txBody>
              <a:bodyPr/>
              <a:lstStyle/>
              <a:p>
                <a:r>
                  <a:rPr lang="zh-CN" altLang="en-US">
                    <a:noFill/>
                  </a:rPr>
                  <a:t> </a:t>
                </a:r>
              </a:p>
            </p:txBody>
          </p:sp>
        </mc:Fallback>
      </mc:AlternateContent>
      <p:pic>
        <p:nvPicPr>
          <p:cNvPr id="21" name="图片 20">
            <a:extLst>
              <a:ext uri="{FF2B5EF4-FFF2-40B4-BE49-F238E27FC236}">
                <a16:creationId xmlns:a16="http://schemas.microsoft.com/office/drawing/2014/main" id="{FA55E751-FB14-49C2-90A1-0A81963DE41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29170" y="2845152"/>
            <a:ext cx="3088866" cy="1811080"/>
          </a:xfrm>
          <a:prstGeom prst="rect">
            <a:avLst/>
          </a:prstGeom>
        </p:spPr>
      </p:pic>
      <p:sp>
        <p:nvSpPr>
          <p:cNvPr id="22" name="椭圆 21">
            <a:extLst>
              <a:ext uri="{FF2B5EF4-FFF2-40B4-BE49-F238E27FC236}">
                <a16:creationId xmlns:a16="http://schemas.microsoft.com/office/drawing/2014/main" id="{231D2FA4-F60E-4697-802E-048DAB747322}"/>
              </a:ext>
            </a:extLst>
          </p:cNvPr>
          <p:cNvSpPr/>
          <p:nvPr/>
        </p:nvSpPr>
        <p:spPr>
          <a:xfrm>
            <a:off x="6753529" y="3948577"/>
            <a:ext cx="309004" cy="615343"/>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a:extLst>
              <a:ext uri="{FF2B5EF4-FFF2-40B4-BE49-F238E27FC236}">
                <a16:creationId xmlns:a16="http://schemas.microsoft.com/office/drawing/2014/main" id="{F24E592A-0996-46BA-A85E-7AAE6D37A502}"/>
              </a:ext>
            </a:extLst>
          </p:cNvPr>
          <p:cNvCxnSpPr>
            <a:cxnSpLocks/>
            <a:endCxn id="22" idx="3"/>
          </p:cNvCxnSpPr>
          <p:nvPr/>
        </p:nvCxnSpPr>
        <p:spPr>
          <a:xfrm flipV="1">
            <a:off x="5858466" y="4473805"/>
            <a:ext cx="940316" cy="241805"/>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EB0C4DF5-CA1A-4A88-938B-555368672497}"/>
              </a:ext>
            </a:extLst>
          </p:cNvPr>
          <p:cNvSpPr/>
          <p:nvPr/>
        </p:nvSpPr>
        <p:spPr>
          <a:xfrm>
            <a:off x="1733087" y="2163411"/>
            <a:ext cx="5266803" cy="4080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09C52108-AD9D-B773-8586-17B4612D1EDA}"/>
              </a:ext>
            </a:extLst>
          </p:cNvPr>
          <p:cNvSpPr txBox="1"/>
          <p:nvPr/>
        </p:nvSpPr>
        <p:spPr>
          <a:xfrm>
            <a:off x="513376" y="2899728"/>
            <a:ext cx="4572000" cy="1815882"/>
          </a:xfrm>
          <a:prstGeom prst="rect">
            <a:avLst/>
          </a:prstGeom>
          <a:noFill/>
        </p:spPr>
        <p:txBody>
          <a:bodyPr wrap="square">
            <a:spAutoFit/>
          </a:bodyPr>
          <a:lstStyle/>
          <a:p>
            <a:r>
              <a:rPr lang="en-US" altLang="zh-CN" sz="1400" dirty="0"/>
              <a:t>Positive charges act as sources of electric field lines (field lines radiate outward).</a:t>
            </a:r>
          </a:p>
          <a:p>
            <a:r>
              <a:rPr lang="en-US" altLang="zh-CN" sz="1400" dirty="0"/>
              <a:t>Negative charges act as sinks of electric field lines (field lines converge inward).</a:t>
            </a:r>
          </a:p>
          <a:p>
            <a:endParaRPr lang="en-US" altLang="zh-CN" sz="1400" dirty="0"/>
          </a:p>
          <a:p>
            <a:r>
              <a:rPr lang="en-US" altLang="zh-CN" sz="1400" dirty="0"/>
              <a:t>If there is no net charge inside the closed surface, the total electric flux through the surface is zero. This does not mean the electric field is zero everywhere.</a:t>
            </a:r>
            <a:endParaRPr lang="zh-CN" altLang="en-US" sz="1400" dirty="0"/>
          </a:p>
        </p:txBody>
      </p:sp>
      <p:sp>
        <p:nvSpPr>
          <p:cNvPr id="19" name="文本框 18">
            <a:extLst>
              <a:ext uri="{FF2B5EF4-FFF2-40B4-BE49-F238E27FC236}">
                <a16:creationId xmlns:a16="http://schemas.microsoft.com/office/drawing/2014/main" id="{F565A669-79DF-5ECB-241D-BDD7111A0C66}"/>
              </a:ext>
            </a:extLst>
          </p:cNvPr>
          <p:cNvSpPr txBox="1"/>
          <p:nvPr/>
        </p:nvSpPr>
        <p:spPr>
          <a:xfrm>
            <a:off x="368235" y="613667"/>
            <a:ext cx="1586690" cy="307777"/>
          </a:xfrm>
          <a:prstGeom prst="rect">
            <a:avLst/>
          </a:prstGeom>
          <a:noFill/>
        </p:spPr>
        <p:txBody>
          <a:bodyPr wrap="square">
            <a:spAutoFit/>
          </a:bodyPr>
          <a:lstStyle/>
          <a:p>
            <a:r>
              <a:rPr lang="en-US" altLang="zh-CN" sz="1400" dirty="0"/>
              <a:t>Differential Form</a:t>
            </a:r>
            <a:endParaRPr lang="zh-CN" altLang="en-US" sz="1400" dirty="0"/>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00D190FD-F533-B7CD-B05D-00079C397FED}"/>
                  </a:ext>
                </a:extLst>
              </p:cNvPr>
              <p:cNvSpPr/>
              <p:nvPr/>
            </p:nvSpPr>
            <p:spPr>
              <a:xfrm>
                <a:off x="4795478" y="4622592"/>
                <a:ext cx="4225106" cy="614720"/>
              </a:xfrm>
              <a:prstGeom prst="rect">
                <a:avLst/>
              </a:prstGeom>
            </p:spPr>
            <p:txBody>
              <a:bodyPr wrap="square">
                <a:spAutoFit/>
              </a:bodyPr>
              <a:lstStyle/>
              <a:p>
                <a14:m>
                  <m:oMath xmlns:m="http://schemas.openxmlformats.org/officeDocument/2006/math">
                    <m:r>
                      <m:rPr>
                        <m:sty m:val="p"/>
                      </m:rPr>
                      <a:rPr lang="zh-CN" altLang="en-US" sz="1600">
                        <a:latin typeface="Cambria Math" panose="02040503050406030204" pitchFamily="18" charset="0"/>
                      </a:rPr>
                      <m:t>∇</m:t>
                    </m:r>
                    <m:r>
                      <a:rPr lang="zh-CN" altLang="en-US" sz="1600">
                        <a:latin typeface="Cambria Math" panose="02040503050406030204" pitchFamily="18" charset="0"/>
                      </a:rPr>
                      <m:t>⋅</m:t>
                    </m:r>
                    <m:acc>
                      <m:accPr>
                        <m:chr m:val="⃗"/>
                        <m:ctrlPr>
                          <a:rPr lang="zh-CN" altLang="en-US" sz="1600" i="1">
                            <a:latin typeface="Cambria Math" panose="02040503050406030204" pitchFamily="18" charset="0"/>
                          </a:rPr>
                        </m:ctrlPr>
                      </m:accPr>
                      <m:e>
                        <m:r>
                          <a:rPr lang="en-US" altLang="zh-CN" sz="1600">
                            <a:latin typeface="Cambria Math" panose="02040503050406030204" pitchFamily="18" charset="0"/>
                          </a:rPr>
                          <m:t>𝐸</m:t>
                        </m:r>
                      </m:e>
                    </m:acc>
                    <m:r>
                      <a:rPr lang="zh-CN" altLang="en-US" sz="1600">
                        <a:latin typeface="Cambria Math" panose="02040503050406030204" pitchFamily="18" charset="0"/>
                      </a:rPr>
                      <m:t>=</m:t>
                    </m:r>
                    <m:r>
                      <a:rPr lang="en-US" altLang="zh-CN" sz="1600">
                        <a:latin typeface="Cambria Math" panose="02040503050406030204" pitchFamily="18" charset="0"/>
                      </a:rPr>
                      <m:t>0 </m:t>
                    </m:r>
                  </m:oMath>
                </a14:m>
                <a:r>
                  <a:rPr lang="en-US" altLang="zh-CN" sz="1600" dirty="0"/>
                  <a:t>means no charge inside the closed surface S, </a:t>
                </a:r>
                <a:r>
                  <a:rPr lang="zh-CN" altLang="en-US" sz="1600" dirty="0"/>
                  <a:t>闭合曲面形成体积内无电荷</a:t>
                </a:r>
              </a:p>
            </p:txBody>
          </p:sp>
        </mc:Choice>
        <mc:Fallback xmlns="">
          <p:sp>
            <p:nvSpPr>
              <p:cNvPr id="23" name="矩形 22">
                <a:extLst>
                  <a:ext uri="{FF2B5EF4-FFF2-40B4-BE49-F238E27FC236}">
                    <a16:creationId xmlns:a16="http://schemas.microsoft.com/office/drawing/2014/main" id="{00D190FD-F533-B7CD-B05D-00079C397FED}"/>
                  </a:ext>
                </a:extLst>
              </p:cNvPr>
              <p:cNvSpPr>
                <a:spLocks noRot="1" noChangeAspect="1" noMove="1" noResize="1" noEditPoints="1" noAdjustHandles="1" noChangeArrowheads="1" noChangeShapeType="1" noTextEdit="1"/>
              </p:cNvSpPr>
              <p:nvPr/>
            </p:nvSpPr>
            <p:spPr>
              <a:xfrm>
                <a:off x="4795478" y="4622592"/>
                <a:ext cx="4225106" cy="614720"/>
              </a:xfrm>
              <a:prstGeom prst="rect">
                <a:avLst/>
              </a:prstGeom>
              <a:blipFill>
                <a:blip r:embed="rId8"/>
                <a:stretch>
                  <a:fillRect l="-866" r="-144" b="-118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00108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07807-9D81-0FC0-B3AC-FFCA1373053E}"/>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020AD3BD-29C7-C323-1E33-84AB26B69293}"/>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2</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Gauss’s law of electrostatic</a:t>
            </a:r>
          </a:p>
          <a:p>
            <a:pPr algn="ct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 name="文本框 3">
            <a:extLst>
              <a:ext uri="{FF2B5EF4-FFF2-40B4-BE49-F238E27FC236}">
                <a16:creationId xmlns:a16="http://schemas.microsoft.com/office/drawing/2014/main" id="{929BC8E7-D17F-2B65-BA26-66B317771FDA}"/>
              </a:ext>
            </a:extLst>
          </p:cNvPr>
          <p:cNvSpPr txBox="1"/>
          <p:nvPr/>
        </p:nvSpPr>
        <p:spPr>
          <a:xfrm>
            <a:off x="166665" y="1957718"/>
            <a:ext cx="9144001"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The integral form states that the electric flux through any closed surface is proportional to the net charge enclosed by the surface.</a:t>
            </a:r>
            <a:endParaRPr lang="zh-CN" altLang="en-US" dirty="0"/>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C1DFFB55-23D1-14DE-A62D-ADCCF35D2B51}"/>
                  </a:ext>
                </a:extLst>
              </p:cNvPr>
              <p:cNvSpPr txBox="1"/>
              <p:nvPr/>
            </p:nvSpPr>
            <p:spPr>
              <a:xfrm>
                <a:off x="2885229" y="764485"/>
                <a:ext cx="1389483" cy="8135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limLoc m:val="subSup"/>
                          <m:grow m:val="on"/>
                          <m:supHide m:val="on"/>
                          <m:ctrlPr>
                            <a:rPr lang="zh-CN" altLang="en-US" i="1">
                              <a:latin typeface="Cambria Math" panose="02040503050406030204" pitchFamily="18" charset="0"/>
                            </a:rPr>
                          </m:ctrlPr>
                        </m:naryPr>
                        <m:sub>
                          <m:r>
                            <a:rPr lang="zh-CN" altLang="en-US" i="1">
                              <a:latin typeface="Cambria Math" panose="02040503050406030204" pitchFamily="18" charset="0"/>
                            </a:rPr>
                            <m:t>𝑆</m:t>
                          </m:r>
                        </m:sub>
                        <m:sup/>
                        <m:e>
                          <m:r>
                            <a:rPr lang="zh-CN" altLang="en-US" i="1">
                              <a:latin typeface="Cambria Math" panose="02040503050406030204" pitchFamily="18" charset="0"/>
                            </a:rPr>
                            <m:t>𝐸</m:t>
                          </m:r>
                          <m:r>
                            <a:rPr lang="zh-CN" altLang="en-US" i="0">
                              <a:latin typeface="Cambria Math" panose="02040503050406030204" pitchFamily="18" charset="0"/>
                            </a:rPr>
                            <m:t>⋅ⅆ</m:t>
                          </m:r>
                          <m:r>
                            <a:rPr lang="zh-CN" altLang="en-US" i="1">
                              <a:latin typeface="Cambria Math" panose="02040503050406030204" pitchFamily="18" charset="0"/>
                            </a:rPr>
                            <m:t>𝑆</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𝑄</m:t>
                              </m:r>
                            </m:num>
                            <m:den>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𝜀</m:t>
                                  </m:r>
                                </m:e>
                                <m:sub>
                                  <m:r>
                                    <a:rPr lang="en-US" altLang="zh-CN" b="0" i="1" smtClean="0">
                                      <a:latin typeface="Cambria Math" panose="02040503050406030204" pitchFamily="18" charset="0"/>
                                    </a:rPr>
                                    <m:t>0</m:t>
                                  </m:r>
                                </m:sub>
                              </m:sSub>
                            </m:den>
                          </m:f>
                        </m:e>
                      </m:nary>
                    </m:oMath>
                  </m:oMathPara>
                </a14:m>
                <a:endParaRPr lang="zh-CN" altLang="en-US" dirty="0"/>
              </a:p>
            </p:txBody>
          </p:sp>
        </mc:Choice>
        <mc:Fallback xmlns="">
          <p:sp>
            <p:nvSpPr>
              <p:cNvPr id="30" name="文本框 29">
                <a:extLst>
                  <a:ext uri="{FF2B5EF4-FFF2-40B4-BE49-F238E27FC236}">
                    <a16:creationId xmlns:a16="http://schemas.microsoft.com/office/drawing/2014/main" id="{C1DFFB55-23D1-14DE-A62D-ADCCF35D2B51}"/>
                  </a:ext>
                </a:extLst>
              </p:cNvPr>
              <p:cNvSpPr txBox="1">
                <a:spLocks noRot="1" noChangeAspect="1" noMove="1" noResize="1" noEditPoints="1" noAdjustHandles="1" noChangeArrowheads="1" noChangeShapeType="1" noTextEdit="1"/>
              </p:cNvSpPr>
              <p:nvPr/>
            </p:nvSpPr>
            <p:spPr>
              <a:xfrm>
                <a:off x="2885229" y="764485"/>
                <a:ext cx="1389483" cy="813556"/>
              </a:xfrm>
              <a:prstGeom prst="rect">
                <a:avLst/>
              </a:prstGeom>
              <a:blipFill>
                <a:blip r:embed="rId3"/>
                <a:stretch>
                  <a:fillRect/>
                </a:stretch>
              </a:blipFill>
            </p:spPr>
            <p:txBody>
              <a:bodyPr/>
              <a:lstStyle/>
              <a:p>
                <a:r>
                  <a:rPr lang="zh-CN" altLang="en-US">
                    <a:noFill/>
                  </a:rPr>
                  <a:t> </a:t>
                </a:r>
              </a:p>
            </p:txBody>
          </p:sp>
        </mc:Fallback>
      </mc:AlternateContent>
      <p:sp>
        <p:nvSpPr>
          <p:cNvPr id="34" name="文本框 3">
            <a:extLst>
              <a:ext uri="{FF2B5EF4-FFF2-40B4-BE49-F238E27FC236}">
                <a16:creationId xmlns:a16="http://schemas.microsoft.com/office/drawing/2014/main" id="{E3152360-12F4-42AA-0E53-333890D8A32B}"/>
              </a:ext>
            </a:extLst>
          </p:cNvPr>
          <p:cNvSpPr txBox="1"/>
          <p:nvPr/>
        </p:nvSpPr>
        <p:spPr>
          <a:xfrm>
            <a:off x="509692" y="783792"/>
            <a:ext cx="2753763"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t>Integral Form</a:t>
            </a:r>
            <a:endParaRPr lang="zh-CN" altLang="en-US" sz="1600" dirty="0"/>
          </a:p>
        </p:txBody>
      </p:sp>
      <p:cxnSp>
        <p:nvCxnSpPr>
          <p:cNvPr id="35" name="直接箭头连接符 34">
            <a:extLst>
              <a:ext uri="{FF2B5EF4-FFF2-40B4-BE49-F238E27FC236}">
                <a16:creationId xmlns:a16="http://schemas.microsoft.com/office/drawing/2014/main" id="{31ADD183-31CF-D773-83CC-D5557CBA0FDA}"/>
              </a:ext>
            </a:extLst>
          </p:cNvPr>
          <p:cNvCxnSpPr>
            <a:cxnSpLocks/>
          </p:cNvCxnSpPr>
          <p:nvPr/>
        </p:nvCxnSpPr>
        <p:spPr>
          <a:xfrm flipV="1">
            <a:off x="3441307" y="1308936"/>
            <a:ext cx="0" cy="264253"/>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文本框 3">
            <a:extLst>
              <a:ext uri="{FF2B5EF4-FFF2-40B4-BE49-F238E27FC236}">
                <a16:creationId xmlns:a16="http://schemas.microsoft.com/office/drawing/2014/main" id="{1F01625E-0F93-77DD-1B0C-5A0865685E1C}"/>
              </a:ext>
            </a:extLst>
          </p:cNvPr>
          <p:cNvSpPr txBox="1"/>
          <p:nvPr/>
        </p:nvSpPr>
        <p:spPr>
          <a:xfrm>
            <a:off x="2770772" y="1633365"/>
            <a:ext cx="4411998"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solidFill>
                  <a:schemeClr val="accent2">
                    <a:lumMod val="75000"/>
                  </a:schemeClr>
                </a:solidFill>
              </a:rPr>
              <a:t>面积分，表示电场穿过闭合曲面</a:t>
            </a:r>
            <a:r>
              <a:rPr lang="en-US" altLang="zh-CN" sz="1600" dirty="0">
                <a:solidFill>
                  <a:schemeClr val="accent2">
                    <a:lumMod val="75000"/>
                  </a:schemeClr>
                </a:solidFill>
              </a:rPr>
              <a:t>S</a:t>
            </a:r>
            <a:r>
              <a:rPr lang="zh-CN" altLang="en-US" sz="1600" dirty="0">
                <a:solidFill>
                  <a:schemeClr val="accent2">
                    <a:lumMod val="75000"/>
                  </a:schemeClr>
                </a:solidFill>
              </a:rPr>
              <a:t>的通量</a:t>
            </a:r>
          </a:p>
        </p:txBody>
      </p:sp>
      <p:sp>
        <p:nvSpPr>
          <p:cNvPr id="37" name="文本框 3">
            <a:extLst>
              <a:ext uri="{FF2B5EF4-FFF2-40B4-BE49-F238E27FC236}">
                <a16:creationId xmlns:a16="http://schemas.microsoft.com/office/drawing/2014/main" id="{8373179F-70D8-E1DB-B7BD-C4A5E7A2D107}"/>
              </a:ext>
            </a:extLst>
          </p:cNvPr>
          <p:cNvSpPr txBox="1"/>
          <p:nvPr/>
        </p:nvSpPr>
        <p:spPr>
          <a:xfrm>
            <a:off x="5139665" y="672659"/>
            <a:ext cx="1948509" cy="83099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5">
                    <a:lumMod val="75000"/>
                  </a:schemeClr>
                </a:solidFill>
              </a:rPr>
              <a:t>Total electric charge enclosed by the surface S</a:t>
            </a:r>
            <a:endParaRPr lang="zh-CN" altLang="en-US" sz="1600" dirty="0">
              <a:solidFill>
                <a:schemeClr val="accent5">
                  <a:lumMod val="75000"/>
                </a:schemeClr>
              </a:solidFill>
            </a:endParaRPr>
          </a:p>
        </p:txBody>
      </p:sp>
      <p:cxnSp>
        <p:nvCxnSpPr>
          <p:cNvPr id="38" name="直接箭头连接符 37">
            <a:extLst>
              <a:ext uri="{FF2B5EF4-FFF2-40B4-BE49-F238E27FC236}">
                <a16:creationId xmlns:a16="http://schemas.microsoft.com/office/drawing/2014/main" id="{E607AE9C-C351-685E-9F02-51629985ED9F}"/>
              </a:ext>
            </a:extLst>
          </p:cNvPr>
          <p:cNvCxnSpPr>
            <a:cxnSpLocks/>
          </p:cNvCxnSpPr>
          <p:nvPr/>
        </p:nvCxnSpPr>
        <p:spPr>
          <a:xfrm flipH="1">
            <a:off x="4274712" y="819809"/>
            <a:ext cx="927909" cy="157655"/>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AF7E51CF-3EA2-82A4-4EFE-F7CA2CE5882F}"/>
                  </a:ext>
                </a:extLst>
              </p:cNvPr>
              <p:cNvSpPr txBox="1"/>
              <p:nvPr/>
            </p:nvSpPr>
            <p:spPr>
              <a:xfrm>
                <a:off x="721062" y="3080027"/>
                <a:ext cx="1326576" cy="70866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en-US" altLang="zh-CN" sz="2400" b="0" i="1" smtClean="0">
                              <a:solidFill>
                                <a:schemeClr val="tx1"/>
                              </a:solidFill>
                              <a:latin typeface="Cambria Math" panose="02040503050406030204" pitchFamily="18" charset="0"/>
                            </a:rPr>
                            <m:t>𝐸</m:t>
                          </m:r>
                        </m:e>
                      </m:acc>
                      <m:r>
                        <a:rPr lang="zh-CN" altLang="en-US" sz="2400" i="0">
                          <a:solidFill>
                            <a:schemeClr val="tx1"/>
                          </a:solidFill>
                          <a:latin typeface="Cambria Math" panose="02040503050406030204" pitchFamily="18" charset="0"/>
                        </a:rPr>
                        <m:t>=</m:t>
                      </m:r>
                      <m:f>
                        <m:fPr>
                          <m:ctrlPr>
                            <a:rPr lang="en-US" altLang="zh-CN" sz="2400" i="1" smtClean="0">
                              <a:solidFill>
                                <a:schemeClr val="tx1"/>
                              </a:solidFill>
                              <a:latin typeface="Cambria Math" panose="02040503050406030204" pitchFamily="18" charset="0"/>
                            </a:rPr>
                          </m:ctrlPr>
                        </m:fPr>
                        <m:num>
                          <m:r>
                            <a:rPr lang="zh-CN" altLang="en-US" sz="2400" i="1">
                              <a:solidFill>
                                <a:schemeClr val="tx1"/>
                              </a:solidFill>
                              <a:latin typeface="Cambria Math" panose="02040503050406030204" pitchFamily="18" charset="0"/>
                            </a:rPr>
                            <m:t>𝜌</m:t>
                          </m:r>
                        </m:num>
                        <m:den>
                          <m:sSub>
                            <m:sSubPr>
                              <m:ctrlPr>
                                <a:rPr lang="en-US" altLang="zh-CN" sz="2400" i="1" smtClean="0">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𝜀</m:t>
                              </m:r>
                            </m:e>
                            <m:sub>
                              <m:r>
                                <a:rPr lang="en-US" altLang="zh-CN" sz="2400" b="0" i="1" smtClean="0">
                                  <a:solidFill>
                                    <a:schemeClr val="tx1"/>
                                  </a:solidFill>
                                  <a:latin typeface="Cambria Math" panose="02040503050406030204" pitchFamily="18" charset="0"/>
                                </a:rPr>
                                <m:t>0</m:t>
                              </m:r>
                            </m:sub>
                          </m:sSub>
                        </m:den>
                      </m:f>
                    </m:oMath>
                  </m:oMathPara>
                </a14:m>
                <a:endParaRPr lang="zh-CN" altLang="en-US" sz="2400" dirty="0"/>
              </a:p>
            </p:txBody>
          </p:sp>
        </mc:Choice>
        <mc:Fallback xmlns="">
          <p:sp>
            <p:nvSpPr>
              <p:cNvPr id="14" name="文本框 13">
                <a:extLst>
                  <a:ext uri="{FF2B5EF4-FFF2-40B4-BE49-F238E27FC236}">
                    <a16:creationId xmlns:a16="http://schemas.microsoft.com/office/drawing/2014/main" id="{AF7E51CF-3EA2-82A4-4EFE-F7CA2CE5882F}"/>
                  </a:ext>
                </a:extLst>
              </p:cNvPr>
              <p:cNvSpPr txBox="1">
                <a:spLocks noRot="1" noChangeAspect="1" noMove="1" noResize="1" noEditPoints="1" noAdjustHandles="1" noChangeArrowheads="1" noChangeShapeType="1" noTextEdit="1"/>
              </p:cNvSpPr>
              <p:nvPr/>
            </p:nvSpPr>
            <p:spPr>
              <a:xfrm>
                <a:off x="721062" y="3080027"/>
                <a:ext cx="1326576" cy="70866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2F7307A-8BFF-8F90-468E-378D19FA53D2}"/>
                  </a:ext>
                </a:extLst>
              </p:cNvPr>
              <p:cNvSpPr txBox="1"/>
              <p:nvPr/>
            </p:nvSpPr>
            <p:spPr>
              <a:xfrm>
                <a:off x="2638480" y="3668007"/>
                <a:ext cx="3712683" cy="8135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limLoc m:val="subSup"/>
                          <m:grow m:val="on"/>
                          <m:supHide m:val="on"/>
                          <m:ctrlPr>
                            <a:rPr lang="zh-CN" altLang="en-US" i="1" smtClean="0">
                              <a:latin typeface="Cambria Math" panose="02040503050406030204" pitchFamily="18" charset="0"/>
                            </a:rPr>
                          </m:ctrlPr>
                        </m:naryPr>
                        <m:sub>
                          <m:r>
                            <a:rPr lang="zh-CN" altLang="en-US" i="1">
                              <a:latin typeface="Cambria Math" panose="02040503050406030204" pitchFamily="18" charset="0"/>
                            </a:rPr>
                            <m:t>𝜈</m:t>
                          </m:r>
                        </m:sub>
                        <m:sup/>
                        <m:e>
                          <m:r>
                            <m:rPr>
                              <m:sty m:val="p"/>
                            </m:rPr>
                            <a:rPr lang="zh-CN" altLang="en-US" i="0">
                              <a:latin typeface="Cambria Math" panose="02040503050406030204" pitchFamily="18" charset="0"/>
                            </a:rPr>
                            <m:t>∇</m:t>
                          </m:r>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𝐸</m:t>
                              </m:r>
                            </m:e>
                          </m:acc>
                          <m:r>
                            <a:rPr lang="zh-CN" altLang="en-US" i="0">
                              <a:latin typeface="Cambria Math" panose="02040503050406030204" pitchFamily="18" charset="0"/>
                            </a:rPr>
                            <m:t>ⅆ</m:t>
                          </m:r>
                          <m:r>
                            <a:rPr lang="zh-CN" altLang="en-US" i="1">
                              <a:latin typeface="Cambria Math" panose="02040503050406030204" pitchFamily="18" charset="0"/>
                            </a:rPr>
                            <m:t>𝑉</m:t>
                          </m:r>
                        </m:e>
                      </m:nary>
                      <m:r>
                        <a:rPr lang="zh-CN" altLang="en-US" i="0">
                          <a:latin typeface="Cambria Math" panose="02040503050406030204" pitchFamily="18" charset="0"/>
                        </a:rPr>
                        <m:t>=</m:t>
                      </m:r>
                      <m:nary>
                        <m:naryPr>
                          <m:limLoc m:val="subSup"/>
                          <m:grow m:val="on"/>
                          <m:supHide m:val="on"/>
                          <m:ctrlPr>
                            <a:rPr lang="zh-CN" altLang="en-US" i="1">
                              <a:latin typeface="Cambria Math" panose="02040503050406030204" pitchFamily="18" charset="0"/>
                            </a:rPr>
                          </m:ctrlPr>
                        </m:naryPr>
                        <m:sub>
                          <m:r>
                            <a:rPr lang="zh-CN" altLang="en-US" i="1">
                              <a:latin typeface="Cambria Math" panose="02040503050406030204" pitchFamily="18" charset="0"/>
                            </a:rPr>
                            <m:t>𝜈</m:t>
                          </m:r>
                        </m:sub>
                        <m:sup/>
                        <m:e>
                          <m:f>
                            <m:fPr>
                              <m:ctrlPr>
                                <a:rPr lang="en-US" altLang="zh-CN" i="1">
                                  <a:latin typeface="Cambria Math" panose="02040503050406030204" pitchFamily="18" charset="0"/>
                                </a:rPr>
                              </m:ctrlPr>
                            </m:fPr>
                            <m:num>
                              <m:r>
                                <a:rPr lang="zh-CN" altLang="en-US" i="1">
                                  <a:latin typeface="Cambria Math" panose="02040503050406030204" pitchFamily="18" charset="0"/>
                                </a:rPr>
                                <m:t>𝜌</m:t>
                              </m:r>
                            </m:num>
                            <m:den>
                              <m:sSub>
                                <m:sSubPr>
                                  <m:ctrlPr>
                                    <a:rPr lang="en-US" altLang="zh-CN" i="1">
                                      <a:latin typeface="Cambria Math" panose="02040503050406030204" pitchFamily="18" charset="0"/>
                                    </a:rPr>
                                  </m:ctrlPr>
                                </m:sSubPr>
                                <m:e>
                                  <m:r>
                                    <a:rPr lang="zh-CN" altLang="en-US" i="1">
                                      <a:latin typeface="Cambria Math" panose="02040503050406030204" pitchFamily="18" charset="0"/>
                                    </a:rPr>
                                    <m:t>𝜀</m:t>
                                  </m:r>
                                </m:e>
                                <m:sub>
                                  <m:r>
                                    <a:rPr lang="en-US" altLang="zh-CN" i="1">
                                      <a:latin typeface="Cambria Math" panose="02040503050406030204" pitchFamily="18" charset="0"/>
                                    </a:rPr>
                                    <m:t>0</m:t>
                                  </m:r>
                                </m:sub>
                              </m:sSub>
                            </m:den>
                          </m:f>
                          <m:r>
                            <a:rPr lang="zh-CN" altLang="en-US">
                              <a:latin typeface="Cambria Math" panose="02040503050406030204" pitchFamily="18" charset="0"/>
                            </a:rPr>
                            <m:t>ⅆ</m:t>
                          </m:r>
                          <m:r>
                            <a:rPr lang="zh-CN" altLang="en-US" i="1">
                              <a:latin typeface="Cambria Math" panose="02040503050406030204" pitchFamily="18" charset="0"/>
                            </a:rPr>
                            <m:t>𝑉</m:t>
                          </m:r>
                          <m:r>
                            <a:rPr lang="en-US" altLang="zh-CN" b="0" i="1" smtClean="0">
                              <a:latin typeface="Cambria Math" panose="02040503050406030204" pitchFamily="18" charset="0"/>
                            </a:rPr>
                            <m:t>=</m:t>
                          </m:r>
                        </m:e>
                      </m:nary>
                      <m:nary>
                        <m:naryPr>
                          <m:chr m:val="∮"/>
                          <m:limLoc m:val="subSup"/>
                          <m:grow m:val="on"/>
                          <m:supHide m:val="on"/>
                          <m:ctrlPr>
                            <a:rPr lang="zh-CN" altLang="en-US" i="1">
                              <a:latin typeface="Cambria Math" panose="02040503050406030204" pitchFamily="18" charset="0"/>
                            </a:rPr>
                          </m:ctrlPr>
                        </m:naryPr>
                        <m:sub>
                          <m:r>
                            <a:rPr lang="zh-CN" altLang="en-US" i="1">
                              <a:latin typeface="Cambria Math" panose="02040503050406030204" pitchFamily="18" charset="0"/>
                            </a:rPr>
                            <m:t>𝑆</m:t>
                          </m:r>
                        </m:sub>
                        <m:sup/>
                        <m:e>
                          <m:r>
                            <a:rPr lang="zh-CN" altLang="en-US" i="1">
                              <a:latin typeface="Cambria Math" panose="02040503050406030204" pitchFamily="18" charset="0"/>
                            </a:rPr>
                            <m:t>𝐸</m:t>
                          </m:r>
                          <m:r>
                            <a:rPr lang="zh-CN" altLang="en-US">
                              <a:latin typeface="Cambria Math" panose="02040503050406030204" pitchFamily="18" charset="0"/>
                            </a:rPr>
                            <m:t>⋅ⅆ</m:t>
                          </m:r>
                          <m:r>
                            <a:rPr lang="zh-CN" altLang="en-US" i="1">
                              <a:latin typeface="Cambria Math" panose="02040503050406030204" pitchFamily="18" charset="0"/>
                            </a:rPr>
                            <m:t>𝑆</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𝑄</m:t>
                              </m:r>
                            </m:num>
                            <m:den>
                              <m:sSub>
                                <m:sSubPr>
                                  <m:ctrlPr>
                                    <a:rPr lang="en-US" altLang="zh-CN" i="1">
                                      <a:latin typeface="Cambria Math" panose="02040503050406030204" pitchFamily="18" charset="0"/>
                                    </a:rPr>
                                  </m:ctrlPr>
                                </m:sSubPr>
                                <m:e>
                                  <m:r>
                                    <a:rPr lang="zh-CN" altLang="en-US" i="1">
                                      <a:latin typeface="Cambria Math" panose="02040503050406030204" pitchFamily="18" charset="0"/>
                                    </a:rPr>
                                    <m:t>𝜀</m:t>
                                  </m:r>
                                </m:e>
                                <m:sub>
                                  <m:r>
                                    <a:rPr lang="en-US" altLang="zh-CN" i="1">
                                      <a:latin typeface="Cambria Math" panose="02040503050406030204" pitchFamily="18" charset="0"/>
                                    </a:rPr>
                                    <m:t>0</m:t>
                                  </m:r>
                                </m:sub>
                              </m:sSub>
                            </m:den>
                          </m:f>
                        </m:e>
                      </m:nary>
                    </m:oMath>
                  </m:oMathPara>
                </a14:m>
                <a:endParaRPr lang="zh-CN" altLang="en-US" dirty="0"/>
              </a:p>
            </p:txBody>
          </p:sp>
        </mc:Choice>
        <mc:Fallback xmlns="">
          <p:sp>
            <p:nvSpPr>
              <p:cNvPr id="17" name="文本框 16">
                <a:extLst>
                  <a:ext uri="{FF2B5EF4-FFF2-40B4-BE49-F238E27FC236}">
                    <a16:creationId xmlns:a16="http://schemas.microsoft.com/office/drawing/2014/main" id="{E2F7307A-8BFF-8F90-468E-378D19FA53D2}"/>
                  </a:ext>
                </a:extLst>
              </p:cNvPr>
              <p:cNvSpPr txBox="1">
                <a:spLocks noRot="1" noChangeAspect="1" noMove="1" noResize="1" noEditPoints="1" noAdjustHandles="1" noChangeArrowheads="1" noChangeShapeType="1" noTextEdit="1"/>
              </p:cNvSpPr>
              <p:nvPr/>
            </p:nvSpPr>
            <p:spPr>
              <a:xfrm>
                <a:off x="2638480" y="3668007"/>
                <a:ext cx="3712683" cy="813556"/>
              </a:xfrm>
              <a:prstGeom prst="rect">
                <a:avLst/>
              </a:prstGeom>
              <a:blipFill>
                <a:blip r:embed="rId5"/>
                <a:stretch>
                  <a:fillRect/>
                </a:stretch>
              </a:blipFill>
            </p:spPr>
            <p:txBody>
              <a:bodyPr/>
              <a:lstStyle/>
              <a:p>
                <a:r>
                  <a:rPr lang="zh-CN" altLang="en-US">
                    <a:noFill/>
                  </a:rPr>
                  <a:t> </a:t>
                </a:r>
              </a:p>
            </p:txBody>
          </p:sp>
        </mc:Fallback>
      </mc:AlternateContent>
      <p:sp>
        <p:nvSpPr>
          <p:cNvPr id="18" name="文本框 3">
            <a:extLst>
              <a:ext uri="{FF2B5EF4-FFF2-40B4-BE49-F238E27FC236}">
                <a16:creationId xmlns:a16="http://schemas.microsoft.com/office/drawing/2014/main" id="{31DF9DED-7C51-E87A-428E-8EC4AE0E31BA}"/>
              </a:ext>
            </a:extLst>
          </p:cNvPr>
          <p:cNvSpPr txBox="1"/>
          <p:nvPr/>
        </p:nvSpPr>
        <p:spPr>
          <a:xfrm>
            <a:off x="2428510" y="4536438"/>
            <a:ext cx="2666905"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solidFill>
                  <a:schemeClr val="accent5">
                    <a:lumMod val="75000"/>
                  </a:schemeClr>
                </a:solidFill>
              </a:rPr>
              <a:t>散度的体积分，即体积</a:t>
            </a:r>
            <a:r>
              <a:rPr lang="en-US" altLang="zh-CN" sz="1600" dirty="0">
                <a:solidFill>
                  <a:schemeClr val="accent5">
                    <a:lumMod val="75000"/>
                  </a:schemeClr>
                </a:solidFill>
              </a:rPr>
              <a:t>V</a:t>
            </a:r>
            <a:r>
              <a:rPr lang="zh-CN" altLang="en-US" sz="1600" dirty="0">
                <a:solidFill>
                  <a:schemeClr val="accent5">
                    <a:lumMod val="75000"/>
                  </a:schemeClr>
                </a:solidFill>
              </a:rPr>
              <a:t>中所有源点和汇点的总流量</a:t>
            </a:r>
          </a:p>
        </p:txBody>
      </p:sp>
      <p:cxnSp>
        <p:nvCxnSpPr>
          <p:cNvPr id="19" name="直接箭头连接符 18">
            <a:extLst>
              <a:ext uri="{FF2B5EF4-FFF2-40B4-BE49-F238E27FC236}">
                <a16:creationId xmlns:a16="http://schemas.microsoft.com/office/drawing/2014/main" id="{38F8DDB3-7CBF-9627-A6FB-A86B45CD7B01}"/>
              </a:ext>
            </a:extLst>
          </p:cNvPr>
          <p:cNvCxnSpPr>
            <a:cxnSpLocks/>
          </p:cNvCxnSpPr>
          <p:nvPr/>
        </p:nvCxnSpPr>
        <p:spPr>
          <a:xfrm flipV="1">
            <a:off x="2770772" y="4395017"/>
            <a:ext cx="0" cy="26333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A9EDE7D6-F567-09F9-E122-211670B4EC4C}"/>
                  </a:ext>
                </a:extLst>
              </p:cNvPr>
              <p:cNvSpPr txBox="1"/>
              <p:nvPr/>
            </p:nvSpPr>
            <p:spPr>
              <a:xfrm>
                <a:off x="6605846" y="3022841"/>
                <a:ext cx="2023473" cy="9058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limLoc m:val="subSup"/>
                          <m:grow m:val="on"/>
                          <m:supHide m:val="on"/>
                          <m:ctrlPr>
                            <a:rPr lang="zh-CN" altLang="en-US" i="1" smtClean="0">
                              <a:latin typeface="Cambria Math" panose="02040503050406030204" pitchFamily="18" charset="0"/>
                            </a:rPr>
                          </m:ctrlPr>
                        </m:naryPr>
                        <m:sub>
                          <m:r>
                            <a:rPr lang="zh-CN" altLang="en-US" i="1">
                              <a:latin typeface="Cambria Math" panose="02040503050406030204" pitchFamily="18" charset="0"/>
                            </a:rPr>
                            <m:t>𝑆</m:t>
                          </m:r>
                        </m:sub>
                        <m:sup/>
                        <m:e>
                          <m:r>
                            <a:rPr lang="zh-CN" altLang="en-US" i="1">
                              <a:latin typeface="Cambria Math" panose="02040503050406030204" pitchFamily="18" charset="0"/>
                            </a:rPr>
                            <m:t>𝐸</m:t>
                          </m:r>
                          <m:r>
                            <a:rPr lang="zh-CN" altLang="en-US" i="0">
                              <a:latin typeface="Cambria Math" panose="02040503050406030204" pitchFamily="18" charset="0"/>
                            </a:rPr>
                            <m:t>⋅ⅆ</m:t>
                          </m:r>
                          <m:r>
                            <a:rPr lang="zh-CN" altLang="en-US" i="1">
                              <a:latin typeface="Cambria Math" panose="02040503050406030204" pitchFamily="18" charset="0"/>
                            </a:rPr>
                            <m:t>𝑆</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𝑄</m:t>
                              </m:r>
                            </m:num>
                            <m:den>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𝜀</m:t>
                                  </m:r>
                                </m:e>
                                <m:sub>
                                  <m:r>
                                    <a:rPr lang="en-US" altLang="zh-CN" b="0" i="1" smtClean="0">
                                      <a:latin typeface="Cambria Math" panose="02040503050406030204" pitchFamily="18" charset="0"/>
                                    </a:rPr>
                                    <m:t>0</m:t>
                                  </m:r>
                                </m:sub>
                              </m:sSub>
                            </m:den>
                          </m:f>
                        </m:e>
                      </m:nary>
                    </m:oMath>
                  </m:oMathPara>
                </a14:m>
                <a:endParaRPr lang="zh-CN" altLang="en-US" dirty="0"/>
              </a:p>
            </p:txBody>
          </p:sp>
        </mc:Choice>
        <mc:Fallback xmlns="">
          <p:sp>
            <p:nvSpPr>
              <p:cNvPr id="24" name="文本框 23">
                <a:extLst>
                  <a:ext uri="{FF2B5EF4-FFF2-40B4-BE49-F238E27FC236}">
                    <a16:creationId xmlns:a16="http://schemas.microsoft.com/office/drawing/2014/main" id="{A9EDE7D6-F567-09F9-E122-211670B4EC4C}"/>
                  </a:ext>
                </a:extLst>
              </p:cNvPr>
              <p:cNvSpPr txBox="1">
                <a:spLocks noRot="1" noChangeAspect="1" noMove="1" noResize="1" noEditPoints="1" noAdjustHandles="1" noChangeArrowheads="1" noChangeShapeType="1" noTextEdit="1"/>
              </p:cNvSpPr>
              <p:nvPr/>
            </p:nvSpPr>
            <p:spPr>
              <a:xfrm>
                <a:off x="6605846" y="3022841"/>
                <a:ext cx="2023473" cy="905889"/>
              </a:xfrm>
              <a:prstGeom prst="rect">
                <a:avLst/>
              </a:prstGeom>
              <a:blipFill>
                <a:blip r:embed="rId6"/>
                <a:stretch>
                  <a:fillRect/>
                </a:stretch>
              </a:blipFill>
            </p:spPr>
            <p:txBody>
              <a:bodyPr/>
              <a:lstStyle/>
              <a:p>
                <a:r>
                  <a:rPr lang="zh-CN" altLang="en-US">
                    <a:noFill/>
                  </a:rPr>
                  <a:t> </a:t>
                </a:r>
              </a:p>
            </p:txBody>
          </p:sp>
        </mc:Fallback>
      </mc:AlternateContent>
      <p:sp>
        <p:nvSpPr>
          <p:cNvPr id="27" name="文本框 3">
            <a:extLst>
              <a:ext uri="{FF2B5EF4-FFF2-40B4-BE49-F238E27FC236}">
                <a16:creationId xmlns:a16="http://schemas.microsoft.com/office/drawing/2014/main" id="{88D9A19B-163E-7EB6-CD5C-BD6B09F7C390}"/>
              </a:ext>
            </a:extLst>
          </p:cNvPr>
          <p:cNvSpPr txBox="1"/>
          <p:nvPr/>
        </p:nvSpPr>
        <p:spPr>
          <a:xfrm>
            <a:off x="6830776" y="2638014"/>
            <a:ext cx="160693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t>Integral Form</a:t>
            </a:r>
            <a:endParaRPr lang="zh-CN" altLang="en-US" sz="1600" dirty="0"/>
          </a:p>
        </p:txBody>
      </p:sp>
      <p:sp>
        <p:nvSpPr>
          <p:cNvPr id="28" name="文本框 27">
            <a:extLst>
              <a:ext uri="{FF2B5EF4-FFF2-40B4-BE49-F238E27FC236}">
                <a16:creationId xmlns:a16="http://schemas.microsoft.com/office/drawing/2014/main" id="{D598E63B-6D7D-FEDC-8E67-253E317B818F}"/>
              </a:ext>
            </a:extLst>
          </p:cNvPr>
          <p:cNvSpPr txBox="1"/>
          <p:nvPr/>
        </p:nvSpPr>
        <p:spPr>
          <a:xfrm>
            <a:off x="631854" y="2656754"/>
            <a:ext cx="2006626" cy="338554"/>
          </a:xfrm>
          <a:prstGeom prst="rect">
            <a:avLst/>
          </a:prstGeom>
          <a:noFill/>
        </p:spPr>
        <p:txBody>
          <a:bodyPr wrap="square">
            <a:spAutoFit/>
          </a:bodyPr>
          <a:lstStyle/>
          <a:p>
            <a:r>
              <a:rPr lang="en-US" altLang="zh-CN" sz="1600" dirty="0"/>
              <a:t>Differential Form</a:t>
            </a:r>
            <a:endParaRPr lang="zh-CN" altLang="en-US" sz="1600"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C4A3474-2D46-B99D-E066-F46D6B80827B}"/>
                  </a:ext>
                </a:extLst>
              </p:cNvPr>
              <p:cNvSpPr txBox="1"/>
              <p:nvPr/>
            </p:nvSpPr>
            <p:spPr>
              <a:xfrm>
                <a:off x="6928986" y="6001091"/>
                <a:ext cx="2060092" cy="36849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solidFill>
                      <a:schemeClr val="accent2">
                        <a:lumMod val="75000"/>
                      </a:schemeClr>
                    </a:solidFill>
                  </a:rPr>
                  <a:t>电感应强度 </a:t>
                </a:r>
                <a14:m>
                  <m:oMath xmlns:m="http://schemas.openxmlformats.org/officeDocument/2006/math">
                    <m:acc>
                      <m:accPr>
                        <m:chr m:val="⃗"/>
                        <m:ctrlPr>
                          <a:rPr lang="zh-CN" altLang="en-US" sz="1600" i="1" dirty="0" smtClean="0">
                            <a:solidFill>
                              <a:schemeClr val="accent2">
                                <a:lumMod val="75000"/>
                              </a:schemeClr>
                            </a:solidFill>
                            <a:latin typeface="Cambria Math" panose="02040503050406030204" pitchFamily="18" charset="0"/>
                          </a:rPr>
                        </m:ctrlPr>
                      </m:accPr>
                      <m:e>
                        <m:r>
                          <a:rPr lang="zh-CN" altLang="en-US" sz="1600" i="1" dirty="0">
                            <a:solidFill>
                              <a:schemeClr val="accent2">
                                <a:lumMod val="75000"/>
                              </a:schemeClr>
                            </a:solidFill>
                            <a:latin typeface="Cambria Math" panose="02040503050406030204" pitchFamily="18" charset="0"/>
                          </a:rPr>
                          <m:t>𝐷</m:t>
                        </m:r>
                      </m:e>
                    </m:acc>
                    <m:r>
                      <a:rPr lang="zh-CN" altLang="en-US" sz="1600" i="0" dirty="0">
                        <a:solidFill>
                          <a:schemeClr val="accent2">
                            <a:lumMod val="75000"/>
                          </a:schemeClr>
                        </a:solidFill>
                        <a:latin typeface="Cambria Math" panose="02040503050406030204" pitchFamily="18" charset="0"/>
                      </a:rPr>
                      <m:t>=</m:t>
                    </m:r>
                    <m:sSub>
                      <m:sSubPr>
                        <m:ctrlPr>
                          <a:rPr lang="zh-CN" altLang="en-US" sz="1600" i="1" dirty="0">
                            <a:solidFill>
                              <a:schemeClr val="accent2">
                                <a:lumMod val="75000"/>
                              </a:schemeClr>
                            </a:solidFill>
                            <a:latin typeface="Cambria Math" panose="02040503050406030204" pitchFamily="18" charset="0"/>
                          </a:rPr>
                        </m:ctrlPr>
                      </m:sSubPr>
                      <m:e>
                        <m:r>
                          <a:rPr lang="zh-CN" altLang="en-US" sz="1600" i="1" dirty="0">
                            <a:solidFill>
                              <a:schemeClr val="accent2">
                                <a:lumMod val="75000"/>
                              </a:schemeClr>
                            </a:solidFill>
                            <a:latin typeface="Cambria Math" panose="02040503050406030204" pitchFamily="18" charset="0"/>
                          </a:rPr>
                          <m:t>𝜀</m:t>
                        </m:r>
                      </m:e>
                      <m:sub>
                        <m:r>
                          <a:rPr lang="zh-CN" altLang="en-US" sz="1600" i="0" dirty="0">
                            <a:solidFill>
                              <a:schemeClr val="accent2">
                                <a:lumMod val="75000"/>
                              </a:schemeClr>
                            </a:solidFill>
                            <a:latin typeface="Cambria Math" panose="02040503050406030204" pitchFamily="18" charset="0"/>
                          </a:rPr>
                          <m:t>0</m:t>
                        </m:r>
                      </m:sub>
                    </m:sSub>
                    <m:acc>
                      <m:accPr>
                        <m:chr m:val="⃗"/>
                        <m:ctrlPr>
                          <a:rPr lang="zh-CN" altLang="en-US" sz="1600" i="1" dirty="0">
                            <a:solidFill>
                              <a:schemeClr val="accent2">
                                <a:lumMod val="75000"/>
                              </a:schemeClr>
                            </a:solidFill>
                            <a:latin typeface="Cambria Math" panose="02040503050406030204" pitchFamily="18" charset="0"/>
                          </a:rPr>
                        </m:ctrlPr>
                      </m:accPr>
                      <m:e>
                        <m:r>
                          <a:rPr lang="zh-CN" altLang="en-US" sz="1600" i="1" dirty="0">
                            <a:solidFill>
                              <a:schemeClr val="accent2">
                                <a:lumMod val="75000"/>
                              </a:schemeClr>
                            </a:solidFill>
                            <a:latin typeface="Cambria Math" panose="02040503050406030204" pitchFamily="18" charset="0"/>
                          </a:rPr>
                          <m:t>𝐸</m:t>
                        </m:r>
                      </m:e>
                    </m:acc>
                  </m:oMath>
                </a14:m>
                <a:endParaRPr lang="zh-CN" altLang="en-US" sz="1600" dirty="0">
                  <a:solidFill>
                    <a:schemeClr val="accent2">
                      <a:lumMod val="75000"/>
                    </a:schemeClr>
                  </a:solidFill>
                </a:endParaRPr>
              </a:p>
            </p:txBody>
          </p:sp>
        </mc:Choice>
        <mc:Fallback xmlns="">
          <p:sp>
            <p:nvSpPr>
              <p:cNvPr id="4" name="文本框 3">
                <a:extLst>
                  <a:ext uri="{FF2B5EF4-FFF2-40B4-BE49-F238E27FC236}">
                    <a16:creationId xmlns:a16="http://schemas.microsoft.com/office/drawing/2014/main" id="{FC4A3474-2D46-B99D-E066-F46D6B80827B}"/>
                  </a:ext>
                </a:extLst>
              </p:cNvPr>
              <p:cNvSpPr txBox="1">
                <a:spLocks noRot="1" noChangeAspect="1" noMove="1" noResize="1" noEditPoints="1" noAdjustHandles="1" noChangeArrowheads="1" noChangeShapeType="1" noTextEdit="1"/>
              </p:cNvSpPr>
              <p:nvPr/>
            </p:nvSpPr>
            <p:spPr>
              <a:xfrm>
                <a:off x="6928986" y="6001091"/>
                <a:ext cx="2060092" cy="368499"/>
              </a:xfrm>
              <a:prstGeom prst="rect">
                <a:avLst/>
              </a:prstGeom>
              <a:blipFill>
                <a:blip r:embed="rId7"/>
                <a:stretch>
                  <a:fillRect l="-1775" b="-19672"/>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E1CD4136-5ABC-6253-C792-FDECC4A39CB1}"/>
              </a:ext>
            </a:extLst>
          </p:cNvPr>
          <p:cNvSpPr txBox="1"/>
          <p:nvPr/>
        </p:nvSpPr>
        <p:spPr>
          <a:xfrm>
            <a:off x="166665" y="5169261"/>
            <a:ext cx="6453977" cy="1200329"/>
          </a:xfrm>
          <a:prstGeom prst="rect">
            <a:avLst/>
          </a:prstGeom>
          <a:noFill/>
        </p:spPr>
        <p:txBody>
          <a:bodyPr wrap="square">
            <a:spAutoFit/>
          </a:bodyPr>
          <a:lstStyle/>
          <a:p>
            <a:r>
              <a:rPr lang="en-US" altLang="zh-CN" dirty="0"/>
              <a:t>Divergence Theorem</a:t>
            </a:r>
            <a:r>
              <a:rPr lang="zh-CN" altLang="en-US" dirty="0"/>
              <a:t>（散度定理）：散度体积分等效于面积分。</a:t>
            </a:r>
            <a:endParaRPr lang="en-US" altLang="zh-CN" dirty="0"/>
          </a:p>
          <a:p>
            <a:r>
              <a:rPr lang="en-US" altLang="zh-CN" dirty="0"/>
              <a:t>Total net flow generated inside the volume (volume integral of divergence) equals the total flow exiting or entering the surface enclosing the volume (surface integral of the field).</a:t>
            </a:r>
            <a:endParaRPr lang="zh-CN" altLang="en-US" dirty="0"/>
          </a:p>
        </p:txBody>
      </p:sp>
      <p:sp>
        <p:nvSpPr>
          <p:cNvPr id="15" name="箭头: 丁字 14">
            <a:extLst>
              <a:ext uri="{FF2B5EF4-FFF2-40B4-BE49-F238E27FC236}">
                <a16:creationId xmlns:a16="http://schemas.microsoft.com/office/drawing/2014/main" id="{5DC0A115-C676-F321-4481-C37EDCD9BE2D}"/>
              </a:ext>
            </a:extLst>
          </p:cNvPr>
          <p:cNvSpPr/>
          <p:nvPr/>
        </p:nvSpPr>
        <p:spPr>
          <a:xfrm flipV="1">
            <a:off x="2329565" y="3349661"/>
            <a:ext cx="4484867" cy="252248"/>
          </a:xfrm>
          <a:prstGeom prst="leftRightUpArrow">
            <a:avLst>
              <a:gd name="adj1" fmla="val 10000"/>
              <a:gd name="adj2" fmla="val 25000"/>
              <a:gd name="adj3" fmla="val 25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26" name="Picture 2" descr="Gauss' Law for Electric Fields">
            <a:extLst>
              <a:ext uri="{FF2B5EF4-FFF2-40B4-BE49-F238E27FC236}">
                <a16:creationId xmlns:a16="http://schemas.microsoft.com/office/drawing/2014/main" id="{A543B33B-38B1-A91E-2DA4-E26F631ACCE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56491" y="5070892"/>
            <a:ext cx="1272828" cy="922111"/>
          </a:xfrm>
          <a:prstGeom prst="rect">
            <a:avLst/>
          </a:prstGeom>
          <a:noFill/>
          <a:extLst>
            <a:ext uri="{909E8E84-426E-40DD-AFC4-6F175D3DCCD1}">
              <a14:hiddenFill xmlns:a14="http://schemas.microsoft.com/office/drawing/2010/main">
                <a:solidFill>
                  <a:srgbClr val="FFFFFF"/>
                </a:solidFill>
              </a14:hiddenFill>
            </a:ext>
          </a:extLst>
        </p:spPr>
      </p:pic>
      <p:sp>
        <p:nvSpPr>
          <p:cNvPr id="16" name="矩形 15">
            <a:extLst>
              <a:ext uri="{FF2B5EF4-FFF2-40B4-BE49-F238E27FC236}">
                <a16:creationId xmlns:a16="http://schemas.microsoft.com/office/drawing/2014/main" id="{2F44A3FE-422C-4DD6-5313-07101CB60C1B}"/>
              </a:ext>
            </a:extLst>
          </p:cNvPr>
          <p:cNvSpPr/>
          <p:nvPr/>
        </p:nvSpPr>
        <p:spPr>
          <a:xfrm>
            <a:off x="6830776" y="4654956"/>
            <a:ext cx="2262774" cy="17836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74F66F6F-4458-949A-60C3-4C60BA862623}"/>
              </a:ext>
            </a:extLst>
          </p:cNvPr>
          <p:cNvSpPr txBox="1"/>
          <p:nvPr/>
        </p:nvSpPr>
        <p:spPr>
          <a:xfrm>
            <a:off x="6856987" y="4688921"/>
            <a:ext cx="2132091" cy="338554"/>
          </a:xfrm>
          <a:prstGeom prst="rect">
            <a:avLst/>
          </a:prstGeom>
          <a:noFill/>
        </p:spPr>
        <p:txBody>
          <a:bodyPr wrap="square">
            <a:spAutoFit/>
          </a:bodyPr>
          <a:lstStyle/>
          <a:p>
            <a:r>
              <a:rPr lang="en-US" altLang="zh-CN" sz="1600" dirty="0"/>
              <a:t>Other form derivation</a:t>
            </a:r>
            <a:endParaRPr lang="zh-CN" altLang="en-US" sz="1600" dirty="0"/>
          </a:p>
        </p:txBody>
      </p:sp>
    </p:spTree>
    <p:extLst>
      <p:ext uri="{BB962C8B-B14F-4D97-AF65-F5344CB8AC3E}">
        <p14:creationId xmlns:p14="http://schemas.microsoft.com/office/powerpoint/2010/main" val="1187950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E4FB1-1F49-12CE-E41C-28A00F914FAA}"/>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8E949DDE-4E59-D81A-F6D8-C5F7E3AB03DC}"/>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3</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2" name="文本框 3">
            <a:extLst>
              <a:ext uri="{FF2B5EF4-FFF2-40B4-BE49-F238E27FC236}">
                <a16:creationId xmlns:a16="http://schemas.microsoft.com/office/drawing/2014/main" id="{7C910798-D1EF-6124-7BCD-00D145E479BA}"/>
              </a:ext>
            </a:extLst>
          </p:cNvPr>
          <p:cNvSpPr txBox="1"/>
          <p:nvPr/>
        </p:nvSpPr>
        <p:spPr>
          <a:xfrm>
            <a:off x="510811" y="575921"/>
            <a:ext cx="8185448"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Faraday’s law of electromotive force </a:t>
            </a:r>
            <a:r>
              <a:rPr lang="zh-CN" altLang="en-US" b="1" dirty="0"/>
              <a:t>（法拉第感应定律：时变磁场产生电场）</a:t>
            </a:r>
          </a:p>
        </p:txBody>
      </p:sp>
      <p:pic>
        <p:nvPicPr>
          <p:cNvPr id="2050" name="Picture 2" descr="https://pic2.zhimg.com/v2-f36676cd96b0616dd40c357f2375e6a1_r.jpg">
            <a:extLst>
              <a:ext uri="{FF2B5EF4-FFF2-40B4-BE49-F238E27FC236}">
                <a16:creationId xmlns:a16="http://schemas.microsoft.com/office/drawing/2014/main" id="{B4A0045C-AEAB-0D59-A74D-2B611EF17AF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72" b="2642"/>
          <a:stretch/>
        </p:blipFill>
        <p:spPr bwMode="auto">
          <a:xfrm>
            <a:off x="6973269" y="4764252"/>
            <a:ext cx="2170731" cy="1557105"/>
          </a:xfrm>
          <a:prstGeom prst="rect">
            <a:avLst/>
          </a:prstGeom>
          <a:noFill/>
          <a:extLst>
            <a:ext uri="{909E8E84-426E-40DD-AFC4-6F175D3DCCD1}">
              <a14:hiddenFill xmlns:a14="http://schemas.microsoft.com/office/drawing/2010/main">
                <a:solidFill>
                  <a:srgbClr val="FFFFFF"/>
                </a:solidFill>
              </a14:hiddenFill>
            </a:ext>
          </a:extLst>
        </p:spPr>
      </p:pic>
      <p:sp>
        <p:nvSpPr>
          <p:cNvPr id="14" name="矩形 13">
            <a:extLst>
              <a:ext uri="{FF2B5EF4-FFF2-40B4-BE49-F238E27FC236}">
                <a16:creationId xmlns:a16="http://schemas.microsoft.com/office/drawing/2014/main" id="{8AE1A16C-FD71-C5F5-C72C-E447CFEC94A0}"/>
              </a:ext>
            </a:extLst>
          </p:cNvPr>
          <p:cNvSpPr/>
          <p:nvPr/>
        </p:nvSpPr>
        <p:spPr>
          <a:xfrm>
            <a:off x="510811" y="4997918"/>
            <a:ext cx="6710498" cy="1323439"/>
          </a:xfrm>
          <a:prstGeom prst="rect">
            <a:avLst/>
          </a:prstGeom>
        </p:spPr>
        <p:txBody>
          <a:bodyPr wrap="square">
            <a:spAutoFit/>
          </a:bodyPr>
          <a:lstStyle/>
          <a:p>
            <a:r>
              <a:rPr lang="zh-CN" altLang="en-US" sz="1600" dirty="0"/>
              <a:t>楞次总结了安培的电动力学与法拉第的电磁感应现象后，于</a:t>
            </a:r>
            <a:r>
              <a:rPr lang="en-US" altLang="zh-CN" sz="1600" dirty="0"/>
              <a:t>1833</a:t>
            </a:r>
            <a:r>
              <a:rPr lang="zh-CN" altLang="en-US" sz="1600" dirty="0"/>
              <a:t>年在圣彼得堡科学院宣读了题为“关于用电动力学方法决定感生电流方向”的论文，提出了感应电动势阻止产生电磁感应的磁铁或线圈的运动，后来这条定律被称为楞次定律，在</a:t>
            </a:r>
            <a:r>
              <a:rPr lang="en-US" altLang="zh-CN" sz="1600" dirty="0"/>
              <a:t>1834</a:t>
            </a:r>
            <a:r>
              <a:rPr lang="zh-CN" altLang="en-US" sz="1600" dirty="0"/>
              <a:t>年的</a:t>
            </a:r>
            <a:r>
              <a:rPr lang="en-US" altLang="zh-CN" sz="1600" dirty="0"/>
              <a:t>《</a:t>
            </a:r>
            <a:r>
              <a:rPr lang="zh-CN" altLang="en-US" sz="1600" dirty="0"/>
              <a:t>物理学和化学年鉴</a:t>
            </a:r>
            <a:r>
              <a:rPr lang="en-US" altLang="zh-CN" sz="1600" dirty="0"/>
              <a:t>》</a:t>
            </a:r>
            <a:r>
              <a:rPr lang="zh-CN" altLang="en-US" sz="1600" dirty="0"/>
              <a:t>上发表。随后德国物理学家亥姆霍兹证明楞次定律实际上是电磁现象的能量守恒定律。</a:t>
            </a:r>
          </a:p>
        </p:txBody>
      </p:sp>
      <p:sp>
        <p:nvSpPr>
          <p:cNvPr id="6" name="文本框 5">
            <a:extLst>
              <a:ext uri="{FF2B5EF4-FFF2-40B4-BE49-F238E27FC236}">
                <a16:creationId xmlns:a16="http://schemas.microsoft.com/office/drawing/2014/main" id="{762B01AA-574E-3279-D37A-63D5F2A619DE}"/>
              </a:ext>
            </a:extLst>
          </p:cNvPr>
          <p:cNvSpPr txBox="1"/>
          <p:nvPr/>
        </p:nvSpPr>
        <p:spPr>
          <a:xfrm>
            <a:off x="510812" y="945253"/>
            <a:ext cx="8185447" cy="3031599"/>
          </a:xfrm>
          <a:prstGeom prst="rect">
            <a:avLst/>
          </a:prstGeom>
          <a:noFill/>
        </p:spPr>
        <p:txBody>
          <a:bodyPr wrap="square">
            <a:spAutoFit/>
          </a:bodyPr>
          <a:lstStyle/>
          <a:p>
            <a:r>
              <a:rPr lang="en-US" altLang="zh-CN" sz="1600" dirty="0"/>
              <a:t>Michael Faraday, a self-taught scientist, conducted a series of experiments </a:t>
            </a:r>
          </a:p>
          <a:p>
            <a:r>
              <a:rPr lang="en-US" altLang="zh-CN" sz="1600" dirty="0"/>
              <a:t>(1831) that led to the discovery of electromagnetic induction. </a:t>
            </a:r>
          </a:p>
          <a:p>
            <a:pPr>
              <a:spcBef>
                <a:spcPts val="600"/>
              </a:spcBef>
            </a:pPr>
            <a:r>
              <a:rPr lang="en-US" altLang="zh-CN" sz="1600" dirty="0"/>
              <a:t>(1)The Induction Ring: Faraday wound two coils of wire around an iron ring. When he connected one coil to a battery, creating a current, he observed a transient current in the second coil, even though it was not directly connected to the battery.</a:t>
            </a:r>
          </a:p>
          <a:p>
            <a:pPr>
              <a:spcBef>
                <a:spcPts val="600"/>
              </a:spcBef>
            </a:pPr>
            <a:r>
              <a:rPr lang="en-US" altLang="zh-CN" sz="1600" dirty="0"/>
              <a:t>(2) Magnetic Flux and Motion: Faraday also experimented with moving magnets near coils of wire. He found that moving a magnet through a coil or moving a coil relative to a magnet induced an EMF in the coil.</a:t>
            </a:r>
          </a:p>
          <a:p>
            <a:pPr>
              <a:spcBef>
                <a:spcPts val="600"/>
              </a:spcBef>
            </a:pPr>
            <a:r>
              <a:rPr lang="en-US" altLang="zh-CN" sz="1600" dirty="0"/>
              <a:t>Based on his experiments, Faraday formulated the principle of electromagnetic induction: "An electromotive force is induced in a conductor whenever there is a change in the magnetic flux linked with the conductor."</a:t>
            </a:r>
            <a:endParaRPr lang="zh-CN" altLang="en-US" sz="1600" dirty="0"/>
          </a:p>
        </p:txBody>
      </p:sp>
      <p:sp>
        <p:nvSpPr>
          <p:cNvPr id="17" name="文本框 16">
            <a:extLst>
              <a:ext uri="{FF2B5EF4-FFF2-40B4-BE49-F238E27FC236}">
                <a16:creationId xmlns:a16="http://schemas.microsoft.com/office/drawing/2014/main" id="{F4A93392-4D00-FBA2-83D1-9D6CB5EAFE53}"/>
              </a:ext>
            </a:extLst>
          </p:cNvPr>
          <p:cNvSpPr txBox="1"/>
          <p:nvPr/>
        </p:nvSpPr>
        <p:spPr>
          <a:xfrm>
            <a:off x="510811" y="3910277"/>
            <a:ext cx="8317879" cy="1077218"/>
          </a:xfrm>
          <a:prstGeom prst="rect">
            <a:avLst/>
          </a:prstGeom>
          <a:noFill/>
        </p:spPr>
        <p:txBody>
          <a:bodyPr wrap="square">
            <a:spAutoFit/>
          </a:bodyPr>
          <a:lstStyle/>
          <a:p>
            <a:r>
              <a:rPr lang="en-US" altLang="zh-CN" sz="1600" b="1" dirty="0"/>
              <a:t>Lenz's Law</a:t>
            </a:r>
          </a:p>
          <a:p>
            <a:r>
              <a:rPr lang="en-US" altLang="zh-CN" sz="1600" dirty="0"/>
              <a:t>Heinrich Lenz later clarified the direction of the induced current, stating that the induced EMF always opposes the change in magnetic flux that caused it. This is now known as Lenz's Law , which explains the negative sign in Faraday's equation.</a:t>
            </a:r>
            <a:endParaRPr lang="zh-CN" altLang="en-US" sz="1600" dirty="0"/>
          </a:p>
        </p:txBody>
      </p:sp>
    </p:spTree>
    <p:extLst>
      <p:ext uri="{BB962C8B-B14F-4D97-AF65-F5344CB8AC3E}">
        <p14:creationId xmlns:p14="http://schemas.microsoft.com/office/powerpoint/2010/main" val="2078566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9CE01-B129-23FF-BE26-9AC55A799FFF}"/>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E3E70C59-58D9-06A2-6DAD-0E4AE39AC1CC}"/>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3</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5" name="直接箭头连接符 4">
            <a:extLst>
              <a:ext uri="{FF2B5EF4-FFF2-40B4-BE49-F238E27FC236}">
                <a16:creationId xmlns:a16="http://schemas.microsoft.com/office/drawing/2014/main" id="{FC89550A-FFEF-C366-6C3A-BF7172607219}"/>
              </a:ext>
            </a:extLst>
          </p:cNvPr>
          <p:cNvCxnSpPr>
            <a:cxnSpLocks/>
          </p:cNvCxnSpPr>
          <p:nvPr/>
        </p:nvCxnSpPr>
        <p:spPr>
          <a:xfrm flipV="1">
            <a:off x="4166104" y="2055042"/>
            <a:ext cx="0" cy="264253"/>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3">
            <a:extLst>
              <a:ext uri="{FF2B5EF4-FFF2-40B4-BE49-F238E27FC236}">
                <a16:creationId xmlns:a16="http://schemas.microsoft.com/office/drawing/2014/main" id="{416593AE-6EAE-525A-2F56-530FDD547D2F}"/>
              </a:ext>
            </a:extLst>
          </p:cNvPr>
          <p:cNvSpPr txBox="1"/>
          <p:nvPr/>
        </p:nvSpPr>
        <p:spPr>
          <a:xfrm>
            <a:off x="3650474" y="2300964"/>
            <a:ext cx="1887811"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solidFill>
                  <a:schemeClr val="accent2">
                    <a:lumMod val="75000"/>
                  </a:schemeClr>
                </a:solidFill>
              </a:rPr>
              <a:t>叉乘将微分算子</a:t>
            </a:r>
            <a:r>
              <a:rPr lang="en-US" altLang="zh-CN" sz="1600" dirty="0">
                <a:solidFill>
                  <a:schemeClr val="accent2">
                    <a:lumMod val="75000"/>
                  </a:schemeClr>
                </a:solidFill>
              </a:rPr>
              <a:t>del</a:t>
            </a:r>
            <a:r>
              <a:rPr lang="zh-CN" altLang="en-US" sz="1600" dirty="0">
                <a:solidFill>
                  <a:schemeClr val="accent2">
                    <a:lumMod val="75000"/>
                  </a:schemeClr>
                </a:solidFill>
              </a:rPr>
              <a:t>转换为</a:t>
            </a:r>
            <a:r>
              <a:rPr lang="en-US" altLang="zh-CN" sz="1600" dirty="0">
                <a:solidFill>
                  <a:schemeClr val="accent2">
                    <a:lumMod val="75000"/>
                  </a:schemeClr>
                </a:solidFill>
              </a:rPr>
              <a:t>Curl </a:t>
            </a:r>
            <a:r>
              <a:rPr lang="zh-CN" altLang="en-US" sz="1600" dirty="0">
                <a:solidFill>
                  <a:schemeClr val="accent2">
                    <a:lumMod val="75000"/>
                  </a:schemeClr>
                </a:solidFill>
              </a:rPr>
              <a:t>旋度</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26B577F-A87E-9B7B-EEAD-C4788993EDD0}"/>
                  </a:ext>
                </a:extLst>
              </p:cNvPr>
              <p:cNvSpPr txBox="1"/>
              <p:nvPr/>
            </p:nvSpPr>
            <p:spPr>
              <a:xfrm>
                <a:off x="3759210" y="1429146"/>
                <a:ext cx="1887824" cy="7869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𝐸</m:t>
                          </m:r>
                        </m:e>
                      </m:acc>
                      <m:r>
                        <a:rPr lang="zh-CN" altLang="en-US" sz="2400" i="0">
                          <a:solidFill>
                            <a:schemeClr val="tx1"/>
                          </a:solidFill>
                          <a:latin typeface="Cambria Math" panose="02040503050406030204" pitchFamily="18" charset="0"/>
                        </a:rPr>
                        <m:t>=−</m:t>
                      </m:r>
                      <m:f>
                        <m:fPr>
                          <m:ctrlPr>
                            <a:rPr lang="zh-CN" altLang="en-US" sz="2400" i="1">
                              <a:solidFill>
                                <a:schemeClr val="tx1"/>
                              </a:solidFill>
                              <a:latin typeface="Cambria Math" panose="02040503050406030204" pitchFamily="18" charset="0"/>
                            </a:rPr>
                          </m:ctrlPr>
                        </m:fPr>
                        <m:num>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num>
                        <m:den>
                          <m:r>
                            <a:rPr lang="zh-CN" altLang="en-US" sz="2400" i="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𝑡</m:t>
                          </m:r>
                        </m:den>
                      </m:f>
                    </m:oMath>
                  </m:oMathPara>
                </a14:m>
                <a:endParaRPr lang="zh-CN" altLang="en-US" sz="2400" dirty="0"/>
              </a:p>
            </p:txBody>
          </p:sp>
        </mc:Choice>
        <mc:Fallback xmlns="">
          <p:sp>
            <p:nvSpPr>
              <p:cNvPr id="11" name="文本框 10">
                <a:extLst>
                  <a:ext uri="{FF2B5EF4-FFF2-40B4-BE49-F238E27FC236}">
                    <a16:creationId xmlns:a16="http://schemas.microsoft.com/office/drawing/2014/main" id="{926B577F-A87E-9B7B-EEAD-C4788993EDD0}"/>
                  </a:ext>
                </a:extLst>
              </p:cNvPr>
              <p:cNvSpPr txBox="1">
                <a:spLocks noRot="1" noChangeAspect="1" noMove="1" noResize="1" noEditPoints="1" noAdjustHandles="1" noChangeArrowheads="1" noChangeShapeType="1" noTextEdit="1"/>
              </p:cNvSpPr>
              <p:nvPr/>
            </p:nvSpPr>
            <p:spPr>
              <a:xfrm>
                <a:off x="3759210" y="1429146"/>
                <a:ext cx="1887824" cy="786947"/>
              </a:xfrm>
              <a:prstGeom prst="rect">
                <a:avLst/>
              </a:prstGeom>
              <a:blipFill>
                <a:blip r:embed="rId3"/>
                <a:stretch>
                  <a:fillRect/>
                </a:stretch>
              </a:blipFill>
            </p:spPr>
            <p:txBody>
              <a:bodyPr/>
              <a:lstStyle/>
              <a:p>
                <a:r>
                  <a:rPr lang="zh-CN" altLang="en-US">
                    <a:noFill/>
                  </a:rPr>
                  <a:t> </a:t>
                </a:r>
              </a:p>
            </p:txBody>
          </p:sp>
        </mc:Fallback>
      </mc:AlternateContent>
      <p:sp>
        <p:nvSpPr>
          <p:cNvPr id="12" name="文本框 3">
            <a:extLst>
              <a:ext uri="{FF2B5EF4-FFF2-40B4-BE49-F238E27FC236}">
                <a16:creationId xmlns:a16="http://schemas.microsoft.com/office/drawing/2014/main" id="{B74EB742-9431-9938-CBAE-EFDEE1191817}"/>
              </a:ext>
            </a:extLst>
          </p:cNvPr>
          <p:cNvSpPr txBox="1"/>
          <p:nvPr/>
        </p:nvSpPr>
        <p:spPr>
          <a:xfrm>
            <a:off x="510811" y="575921"/>
            <a:ext cx="8185448"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Faraday’s law of electromotive force </a:t>
            </a:r>
            <a:r>
              <a:rPr lang="zh-CN" altLang="en-US" b="1" dirty="0"/>
              <a:t>（法拉第感应定律：时变磁场产生电场）</a:t>
            </a:r>
          </a:p>
        </p:txBody>
      </p:sp>
      <p:sp>
        <p:nvSpPr>
          <p:cNvPr id="3" name="矩形 2">
            <a:extLst>
              <a:ext uri="{FF2B5EF4-FFF2-40B4-BE49-F238E27FC236}">
                <a16:creationId xmlns:a16="http://schemas.microsoft.com/office/drawing/2014/main" id="{42C41B76-2407-3F06-8ED3-6EC2403471BC}"/>
              </a:ext>
            </a:extLst>
          </p:cNvPr>
          <p:cNvSpPr/>
          <p:nvPr/>
        </p:nvSpPr>
        <p:spPr>
          <a:xfrm>
            <a:off x="6529185" y="3313674"/>
            <a:ext cx="1653972" cy="1077218"/>
          </a:xfrm>
          <a:prstGeom prst="rect">
            <a:avLst/>
          </a:prstGeom>
        </p:spPr>
        <p:txBody>
          <a:bodyPr wrap="square">
            <a:spAutoFit/>
          </a:bodyPr>
          <a:lstStyle/>
          <a:p>
            <a:r>
              <a:rPr lang="zh-CN" altLang="en-US" sz="1600" dirty="0"/>
              <a:t>一侧快，另一侧慢（颜色代表速度），则该点也是有旋的。</a:t>
            </a:r>
          </a:p>
        </p:txBody>
      </p:sp>
      <p:pic>
        <p:nvPicPr>
          <p:cNvPr id="4" name="图片 3">
            <a:extLst>
              <a:ext uri="{FF2B5EF4-FFF2-40B4-BE49-F238E27FC236}">
                <a16:creationId xmlns:a16="http://schemas.microsoft.com/office/drawing/2014/main" id="{551D25B5-3565-B5C2-02CA-7FAD7687E6CB}"/>
              </a:ext>
            </a:extLst>
          </p:cNvPr>
          <p:cNvPicPr>
            <a:picLocks noChangeAspect="1"/>
          </p:cNvPicPr>
          <p:nvPr/>
        </p:nvPicPr>
        <p:blipFill>
          <a:blip r:embed="rId4"/>
          <a:stretch>
            <a:fillRect/>
          </a:stretch>
        </p:blipFill>
        <p:spPr>
          <a:xfrm>
            <a:off x="806486" y="3065117"/>
            <a:ext cx="3194645" cy="2058006"/>
          </a:xfrm>
          <a:prstGeom prst="rect">
            <a:avLst/>
          </a:prstGeom>
        </p:spPr>
      </p:pic>
      <p:pic>
        <p:nvPicPr>
          <p:cNvPr id="13" name="图片 12">
            <a:extLst>
              <a:ext uri="{FF2B5EF4-FFF2-40B4-BE49-F238E27FC236}">
                <a16:creationId xmlns:a16="http://schemas.microsoft.com/office/drawing/2014/main" id="{FC8D262C-995D-E49B-B052-905A64736DA0}"/>
              </a:ext>
            </a:extLst>
          </p:cNvPr>
          <p:cNvPicPr>
            <a:picLocks noChangeAspect="1"/>
          </p:cNvPicPr>
          <p:nvPr/>
        </p:nvPicPr>
        <p:blipFill>
          <a:blip r:embed="rId5"/>
          <a:srcRect l="8609" r="11321"/>
          <a:stretch/>
        </p:blipFill>
        <p:spPr>
          <a:xfrm>
            <a:off x="4118865" y="3062658"/>
            <a:ext cx="2199359" cy="1579250"/>
          </a:xfrm>
          <a:prstGeom prst="rect">
            <a:avLst/>
          </a:prstGeom>
        </p:spPr>
      </p:pic>
      <p:pic>
        <p:nvPicPr>
          <p:cNvPr id="15" name="图片 14">
            <a:extLst>
              <a:ext uri="{FF2B5EF4-FFF2-40B4-BE49-F238E27FC236}">
                <a16:creationId xmlns:a16="http://schemas.microsoft.com/office/drawing/2014/main" id="{34B05CA1-D65D-3969-C329-E7EA21F4BCA5}"/>
              </a:ext>
            </a:extLst>
          </p:cNvPr>
          <p:cNvPicPr>
            <a:picLocks noChangeAspect="1"/>
          </p:cNvPicPr>
          <p:nvPr/>
        </p:nvPicPr>
        <p:blipFill>
          <a:blip r:embed="rId6"/>
          <a:stretch>
            <a:fillRect/>
          </a:stretch>
        </p:blipFill>
        <p:spPr>
          <a:xfrm>
            <a:off x="510811" y="1651520"/>
            <a:ext cx="2894256" cy="1016165"/>
          </a:xfrm>
          <a:prstGeom prst="rect">
            <a:avLst/>
          </a:prstGeom>
        </p:spPr>
      </p:pic>
      <p:sp>
        <p:nvSpPr>
          <p:cNvPr id="6" name="文本框 5">
            <a:extLst>
              <a:ext uri="{FF2B5EF4-FFF2-40B4-BE49-F238E27FC236}">
                <a16:creationId xmlns:a16="http://schemas.microsoft.com/office/drawing/2014/main" id="{EE0B5222-68CA-C720-97E2-F528FFC8C923}"/>
              </a:ext>
            </a:extLst>
          </p:cNvPr>
          <p:cNvSpPr txBox="1"/>
          <p:nvPr/>
        </p:nvSpPr>
        <p:spPr>
          <a:xfrm>
            <a:off x="352131" y="905080"/>
            <a:ext cx="8634213" cy="646331"/>
          </a:xfrm>
          <a:prstGeom prst="rect">
            <a:avLst/>
          </a:prstGeom>
          <a:noFill/>
        </p:spPr>
        <p:txBody>
          <a:bodyPr wrap="square">
            <a:spAutoFit/>
          </a:bodyPr>
          <a:lstStyle/>
          <a:p>
            <a:r>
              <a:rPr lang="en-US" altLang="zh-CN" dirty="0"/>
              <a:t>Faraday's experimental findings were later formalized mathematically by James Clerk Maxwell in the 1860s. </a:t>
            </a:r>
            <a:endParaRPr lang="zh-CN" altLang="en-US" dirty="0"/>
          </a:p>
        </p:txBody>
      </p:sp>
      <p:sp>
        <p:nvSpPr>
          <p:cNvPr id="9" name="文本框 8">
            <a:extLst>
              <a:ext uri="{FF2B5EF4-FFF2-40B4-BE49-F238E27FC236}">
                <a16:creationId xmlns:a16="http://schemas.microsoft.com/office/drawing/2014/main" id="{24AEFFFE-51E5-F33C-B671-C3A4A0ECFEC5}"/>
              </a:ext>
            </a:extLst>
          </p:cNvPr>
          <p:cNvSpPr txBox="1"/>
          <p:nvPr/>
        </p:nvSpPr>
        <p:spPr>
          <a:xfrm>
            <a:off x="5892427" y="1803676"/>
            <a:ext cx="3161671" cy="646331"/>
          </a:xfrm>
          <a:prstGeom prst="rect">
            <a:avLst/>
          </a:prstGeom>
          <a:noFill/>
        </p:spPr>
        <p:txBody>
          <a:bodyPr wrap="square">
            <a:spAutoFit/>
          </a:bodyPr>
          <a:lstStyle/>
          <a:p>
            <a:r>
              <a:rPr lang="zh-CN" altLang="en-US" dirty="0"/>
              <a:t>旋度是描述向量场中是否存在“旋转”或“涡旋”的趋势。</a:t>
            </a:r>
          </a:p>
        </p:txBody>
      </p:sp>
      <p:pic>
        <p:nvPicPr>
          <p:cNvPr id="16" name="图片 15">
            <a:extLst>
              <a:ext uri="{FF2B5EF4-FFF2-40B4-BE49-F238E27FC236}">
                <a16:creationId xmlns:a16="http://schemas.microsoft.com/office/drawing/2014/main" id="{C1B8880C-90CC-8236-6DF6-7A7FFA95B975}"/>
              </a:ext>
            </a:extLst>
          </p:cNvPr>
          <p:cNvPicPr>
            <a:picLocks noChangeAspect="1"/>
          </p:cNvPicPr>
          <p:nvPr/>
        </p:nvPicPr>
        <p:blipFill>
          <a:blip r:embed="rId7"/>
          <a:stretch>
            <a:fillRect/>
          </a:stretch>
        </p:blipFill>
        <p:spPr>
          <a:xfrm>
            <a:off x="1249084" y="5513511"/>
            <a:ext cx="6840305" cy="768163"/>
          </a:xfrm>
          <a:prstGeom prst="rect">
            <a:avLst/>
          </a:prstGeom>
        </p:spPr>
      </p:pic>
    </p:spTree>
    <p:extLst>
      <p:ext uri="{BB962C8B-B14F-4D97-AF65-F5344CB8AC3E}">
        <p14:creationId xmlns:p14="http://schemas.microsoft.com/office/powerpoint/2010/main" val="1426465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EFED9-76D1-77A3-D6C4-7A3D7F58B60A}"/>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BD87FA85-66BB-0A1B-F71F-354358E351F1}"/>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4</a:t>
            </a:r>
          </a:p>
          <a:p>
            <a:pPr algn="ct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8" name="文本框 3">
            <a:extLst>
              <a:ext uri="{FF2B5EF4-FFF2-40B4-BE49-F238E27FC236}">
                <a16:creationId xmlns:a16="http://schemas.microsoft.com/office/drawing/2014/main" id="{8DB19C42-6F64-4AE6-8555-59313D38AFAD}"/>
              </a:ext>
            </a:extLst>
          </p:cNvPr>
          <p:cNvSpPr txBox="1"/>
          <p:nvPr/>
        </p:nvSpPr>
        <p:spPr>
          <a:xfrm>
            <a:off x="1296880" y="594272"/>
            <a:ext cx="6713803"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Ampere’s Circuital law </a:t>
            </a:r>
            <a:r>
              <a:rPr lang="zh-CN" altLang="en-US" b="1" dirty="0"/>
              <a:t>（安培定律：时变电场产生磁场）</a:t>
            </a:r>
          </a:p>
        </p:txBody>
      </p:sp>
      <p:sp>
        <p:nvSpPr>
          <p:cNvPr id="3" name="文本框 2">
            <a:extLst>
              <a:ext uri="{FF2B5EF4-FFF2-40B4-BE49-F238E27FC236}">
                <a16:creationId xmlns:a16="http://schemas.microsoft.com/office/drawing/2014/main" id="{2C3F5385-AC1C-D21C-051F-B03F53099DA4}"/>
              </a:ext>
            </a:extLst>
          </p:cNvPr>
          <p:cNvSpPr txBox="1"/>
          <p:nvPr/>
        </p:nvSpPr>
        <p:spPr>
          <a:xfrm>
            <a:off x="274319" y="927358"/>
            <a:ext cx="8595360" cy="2631490"/>
          </a:xfrm>
          <a:prstGeom prst="rect">
            <a:avLst/>
          </a:prstGeom>
          <a:noFill/>
        </p:spPr>
        <p:txBody>
          <a:bodyPr wrap="square">
            <a:spAutoFit/>
          </a:bodyPr>
          <a:lstStyle/>
          <a:p>
            <a:pPr algn="l"/>
            <a:r>
              <a:rPr lang="en-US" altLang="zh-CN" sz="1600" b="1" i="0" dirty="0">
                <a:effectLst/>
              </a:rPr>
              <a:t>1820s</a:t>
            </a:r>
            <a:r>
              <a:rPr lang="zh-CN" altLang="en-US" sz="1600" b="1" i="0" dirty="0">
                <a:effectLst/>
              </a:rPr>
              <a:t>，</a:t>
            </a:r>
            <a:r>
              <a:rPr lang="en-US" altLang="zh-CN" sz="1600" b="1" i="0" dirty="0">
                <a:effectLst/>
              </a:rPr>
              <a:t>Ampère conducted experiments with two parallel current-carrying wires and observed that they exerted forces on each other. </a:t>
            </a:r>
            <a:r>
              <a:rPr lang="en-US" altLang="zh-CN" sz="1600" b="0" i="0" dirty="0">
                <a:effectLst/>
              </a:rPr>
              <a:t>Ampère generalized his findings into a mathematical law, now known as </a:t>
            </a:r>
            <a:r>
              <a:rPr lang="en-US" altLang="zh-CN" sz="1600" b="1" i="0" dirty="0">
                <a:effectLst/>
              </a:rPr>
              <a:t>Ampère's Circuital Law </a:t>
            </a:r>
            <a:r>
              <a:rPr lang="en-US" altLang="zh-CN" sz="1600" b="0" i="0" dirty="0">
                <a:effectLst/>
              </a:rPr>
              <a:t>: ​</a:t>
            </a:r>
          </a:p>
          <a:p>
            <a:pPr algn="l"/>
            <a:endParaRPr lang="en-US" altLang="zh-CN" sz="1600" dirty="0"/>
          </a:p>
          <a:p>
            <a:pPr algn="l"/>
            <a:endParaRPr lang="en-US" altLang="zh-CN" sz="1600" b="0" i="0" dirty="0">
              <a:effectLst/>
            </a:endParaRPr>
          </a:p>
          <a:p>
            <a:pPr algn="l"/>
            <a:endParaRPr lang="en-US" altLang="zh-CN" sz="1600" dirty="0"/>
          </a:p>
          <a:p>
            <a:pPr algn="l"/>
            <a:r>
              <a:rPr lang="en-US" altLang="zh-CN" sz="1600" b="0" i="0" dirty="0">
                <a:effectLst/>
              </a:rPr>
              <a:t>where: </a:t>
            </a:r>
            <a:r>
              <a:rPr lang="en-US" altLang="zh-CN" sz="1600" b="1" i="0" dirty="0">
                <a:effectLst/>
              </a:rPr>
              <a:t>B</a:t>
            </a:r>
            <a:r>
              <a:rPr lang="en-US" altLang="zh-CN" sz="1600" b="0" i="0" dirty="0">
                <a:effectLst/>
              </a:rPr>
              <a:t> is the magnetic field, </a:t>
            </a:r>
            <a:r>
              <a:rPr lang="en-US" altLang="zh-CN" sz="1600" b="0" i="1" dirty="0">
                <a:effectLst/>
              </a:rPr>
              <a:t>C</a:t>
            </a:r>
            <a:r>
              <a:rPr lang="en-US" altLang="zh-CN" sz="1600" b="0" i="0" dirty="0">
                <a:effectLst/>
              </a:rPr>
              <a:t> is a closed loop, </a:t>
            </a:r>
            <a:r>
              <a:rPr lang="en-US" altLang="zh-CN" sz="1600" b="0" i="1" dirty="0">
                <a:effectLst/>
              </a:rPr>
              <a:t>d</a:t>
            </a:r>
            <a:r>
              <a:rPr lang="en-US" altLang="zh-CN" sz="1600" b="1" i="0" dirty="0">
                <a:effectLst/>
              </a:rPr>
              <a:t>l</a:t>
            </a:r>
            <a:r>
              <a:rPr lang="en-US" altLang="zh-CN" sz="1600" b="0" i="0" dirty="0">
                <a:effectLst/>
              </a:rPr>
              <a:t> is an infinitesimal segment of the loop, </a:t>
            </a:r>
            <a:r>
              <a:rPr lang="en-US" altLang="zh-CN" sz="1600" b="0" i="1" dirty="0" err="1">
                <a:effectLst/>
              </a:rPr>
              <a:t>I</a:t>
            </a:r>
            <a:r>
              <a:rPr lang="en-US" altLang="zh-CN" sz="1600" b="0" i="0" baseline="-25000" dirty="0" err="1">
                <a:effectLst/>
              </a:rPr>
              <a:t>enc</a:t>
            </a:r>
            <a:r>
              <a:rPr lang="en-US" altLang="zh-CN" sz="1600" b="0" i="0" dirty="0">
                <a:effectLst/>
              </a:rPr>
              <a:t>​ is the total current enclosed by the loop, </a:t>
            </a:r>
            <a:r>
              <a:rPr lang="en-US" altLang="zh-CN" sz="1600" b="0" i="1" dirty="0">
                <a:effectLst/>
              </a:rPr>
              <a:t>μ</a:t>
            </a:r>
            <a:r>
              <a:rPr lang="en-US" altLang="zh-CN" sz="1600" b="0" i="0" baseline="-25000" dirty="0">
                <a:effectLst/>
              </a:rPr>
              <a:t>0</a:t>
            </a:r>
            <a:r>
              <a:rPr lang="en-US" altLang="zh-CN" sz="1600" b="0" i="0" dirty="0">
                <a:effectLst/>
              </a:rPr>
              <a:t>​ is the permeability of free space.</a:t>
            </a:r>
          </a:p>
          <a:p>
            <a:pPr algn="l">
              <a:spcBef>
                <a:spcPts val="600"/>
              </a:spcBef>
            </a:pPr>
            <a:r>
              <a:rPr lang="en-US" altLang="zh-CN" sz="1600" b="0" i="0" dirty="0">
                <a:effectLst/>
              </a:rPr>
              <a:t>The law states that the line integral of the magnetic field around a closed loop is proportional to the total current passing through the surface bounded by the loop.</a:t>
            </a:r>
          </a:p>
        </p:txBody>
      </p:sp>
      <p:pic>
        <p:nvPicPr>
          <p:cNvPr id="6" name="图片 5">
            <a:extLst>
              <a:ext uri="{FF2B5EF4-FFF2-40B4-BE49-F238E27FC236}">
                <a16:creationId xmlns:a16="http://schemas.microsoft.com/office/drawing/2014/main" id="{D635603E-0D79-6CDF-7EBE-62B08E422E4C}"/>
              </a:ext>
            </a:extLst>
          </p:cNvPr>
          <p:cNvPicPr>
            <a:picLocks noChangeAspect="1"/>
          </p:cNvPicPr>
          <p:nvPr/>
        </p:nvPicPr>
        <p:blipFill>
          <a:blip r:embed="rId3"/>
          <a:stretch>
            <a:fillRect/>
          </a:stretch>
        </p:blipFill>
        <p:spPr>
          <a:xfrm>
            <a:off x="3844086" y="1716727"/>
            <a:ext cx="1619390" cy="628704"/>
          </a:xfrm>
          <a:prstGeom prst="rect">
            <a:avLst/>
          </a:prstGeom>
        </p:spPr>
      </p:pic>
      <p:sp>
        <p:nvSpPr>
          <p:cNvPr id="12" name="文本框 11">
            <a:extLst>
              <a:ext uri="{FF2B5EF4-FFF2-40B4-BE49-F238E27FC236}">
                <a16:creationId xmlns:a16="http://schemas.microsoft.com/office/drawing/2014/main" id="{5B6E9D40-B438-2F1E-B93B-738C7D5B738E}"/>
              </a:ext>
            </a:extLst>
          </p:cNvPr>
          <p:cNvSpPr txBox="1"/>
          <p:nvPr/>
        </p:nvSpPr>
        <p:spPr>
          <a:xfrm>
            <a:off x="274319" y="3697923"/>
            <a:ext cx="8270590" cy="646331"/>
          </a:xfrm>
          <a:prstGeom prst="rect">
            <a:avLst/>
          </a:prstGeom>
          <a:noFill/>
        </p:spPr>
        <p:txBody>
          <a:bodyPr wrap="square">
            <a:spAutoFit/>
          </a:bodyPr>
          <a:lstStyle/>
          <a:p>
            <a:r>
              <a:rPr lang="en-US" altLang="zh-CN" b="1" dirty="0"/>
              <a:t>The original form of Ampère's law did not account for the displacement current, which arises when electric fields change with time.</a:t>
            </a:r>
            <a:endParaRPr lang="zh-CN" altLang="en-US" b="1" dirty="0"/>
          </a:p>
        </p:txBody>
      </p:sp>
      <p:sp>
        <p:nvSpPr>
          <p:cNvPr id="16" name="文本框 15">
            <a:extLst>
              <a:ext uri="{FF2B5EF4-FFF2-40B4-BE49-F238E27FC236}">
                <a16:creationId xmlns:a16="http://schemas.microsoft.com/office/drawing/2014/main" id="{8AD701E9-E381-824F-DDC0-D09ECA21A050}"/>
              </a:ext>
            </a:extLst>
          </p:cNvPr>
          <p:cNvSpPr txBox="1"/>
          <p:nvPr/>
        </p:nvSpPr>
        <p:spPr>
          <a:xfrm>
            <a:off x="275697" y="4483329"/>
            <a:ext cx="8756168" cy="646331"/>
          </a:xfrm>
          <a:prstGeom prst="rect">
            <a:avLst/>
          </a:prstGeom>
          <a:noFill/>
        </p:spPr>
        <p:txBody>
          <a:bodyPr wrap="square">
            <a:spAutoFit/>
          </a:bodyPr>
          <a:lstStyle/>
          <a:p>
            <a:r>
              <a:rPr lang="en-US" altLang="zh-CN" dirty="0">
                <a:effectLst/>
              </a:rPr>
              <a:t>Maxwell introduced the concept of </a:t>
            </a:r>
            <a:r>
              <a:rPr lang="en-US" altLang="zh-CN" b="1" dirty="0">
                <a:effectLst/>
              </a:rPr>
              <a:t>displacement current </a:t>
            </a:r>
            <a:r>
              <a:rPr lang="en-US" altLang="zh-CN" dirty="0">
                <a:effectLst/>
              </a:rPr>
              <a:t>, which accounts for the changing electric flux through a surface:</a:t>
            </a:r>
            <a:endParaRPr lang="zh-CN" altLang="en-US" dirty="0"/>
          </a:p>
        </p:txBody>
      </p:sp>
      <p:pic>
        <p:nvPicPr>
          <p:cNvPr id="19" name="图片 18">
            <a:extLst>
              <a:ext uri="{FF2B5EF4-FFF2-40B4-BE49-F238E27FC236}">
                <a16:creationId xmlns:a16="http://schemas.microsoft.com/office/drawing/2014/main" id="{D7A169CC-C4EA-8D64-5C95-6A71D9C68B83}"/>
              </a:ext>
            </a:extLst>
          </p:cNvPr>
          <p:cNvPicPr>
            <a:picLocks noChangeAspect="1"/>
          </p:cNvPicPr>
          <p:nvPr/>
        </p:nvPicPr>
        <p:blipFill>
          <a:blip r:embed="rId4"/>
          <a:stretch>
            <a:fillRect/>
          </a:stretch>
        </p:blipFill>
        <p:spPr>
          <a:xfrm>
            <a:off x="3953912" y="5166498"/>
            <a:ext cx="1828958" cy="533446"/>
          </a:xfrm>
          <a:prstGeom prst="rect">
            <a:avLst/>
          </a:prstGeom>
        </p:spPr>
      </p:pic>
      <p:sp>
        <p:nvSpPr>
          <p:cNvPr id="23" name="文本框 22">
            <a:extLst>
              <a:ext uri="{FF2B5EF4-FFF2-40B4-BE49-F238E27FC236}">
                <a16:creationId xmlns:a16="http://schemas.microsoft.com/office/drawing/2014/main" id="{216DF34C-4926-6410-AB54-737DEA29BC0C}"/>
              </a:ext>
            </a:extLst>
          </p:cNvPr>
          <p:cNvSpPr txBox="1"/>
          <p:nvPr/>
        </p:nvSpPr>
        <p:spPr>
          <a:xfrm>
            <a:off x="435128" y="5793497"/>
            <a:ext cx="4723349" cy="646331"/>
          </a:xfrm>
          <a:prstGeom prst="rect">
            <a:avLst/>
          </a:prstGeom>
          <a:noFill/>
        </p:spPr>
        <p:txBody>
          <a:bodyPr wrap="square">
            <a:spAutoFit/>
          </a:bodyPr>
          <a:lstStyle/>
          <a:p>
            <a:r>
              <a:rPr lang="en-US" altLang="zh-CN" dirty="0"/>
              <a:t>Leading to the modern (integral) form of the equation</a:t>
            </a:r>
            <a:r>
              <a:rPr lang="zh-CN" altLang="en-US" dirty="0"/>
              <a:t>：</a:t>
            </a:r>
          </a:p>
        </p:txBody>
      </p:sp>
      <p:pic>
        <p:nvPicPr>
          <p:cNvPr id="31" name="图片 30">
            <a:extLst>
              <a:ext uri="{FF2B5EF4-FFF2-40B4-BE49-F238E27FC236}">
                <a16:creationId xmlns:a16="http://schemas.microsoft.com/office/drawing/2014/main" id="{C77D2954-C3C3-B4C4-A54F-6923596C8C41}"/>
              </a:ext>
            </a:extLst>
          </p:cNvPr>
          <p:cNvPicPr>
            <a:picLocks noChangeAspect="1"/>
          </p:cNvPicPr>
          <p:nvPr/>
        </p:nvPicPr>
        <p:blipFill>
          <a:blip r:embed="rId5"/>
          <a:stretch>
            <a:fillRect/>
          </a:stretch>
        </p:blipFill>
        <p:spPr>
          <a:xfrm>
            <a:off x="5404418" y="5699944"/>
            <a:ext cx="2571973" cy="647756"/>
          </a:xfrm>
          <a:prstGeom prst="rect">
            <a:avLst/>
          </a:prstGeom>
        </p:spPr>
      </p:pic>
    </p:spTree>
    <p:extLst>
      <p:ext uri="{BB962C8B-B14F-4D97-AF65-F5344CB8AC3E}">
        <p14:creationId xmlns:p14="http://schemas.microsoft.com/office/powerpoint/2010/main" val="3023847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7E416-87F0-B05B-8D67-7D5A33D0F85B}"/>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A9617788-717C-A021-BF42-DA720FCA2211}"/>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4</a:t>
            </a:r>
          </a:p>
          <a:p>
            <a:pPr algn="ct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D170EDFA-1637-CE2D-2B75-4440E8B033E2}"/>
                  </a:ext>
                </a:extLst>
              </p:cNvPr>
              <p:cNvSpPr txBox="1"/>
              <p:nvPr/>
            </p:nvSpPr>
            <p:spPr>
              <a:xfrm>
                <a:off x="4953436" y="623071"/>
                <a:ext cx="3057247" cy="7869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r>
                        <a:rPr lang="zh-CN" altLang="en-US" sz="2400" i="0">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𝜇</m:t>
                          </m:r>
                        </m:e>
                        <m:sub>
                          <m:r>
                            <a:rPr lang="zh-CN" altLang="en-US" sz="2400" i="0">
                              <a:solidFill>
                                <a:schemeClr val="tx1"/>
                              </a:solidFill>
                              <a:latin typeface="Cambria Math" panose="02040503050406030204" pitchFamily="18" charset="0"/>
                            </a:rPr>
                            <m:t>0</m:t>
                          </m:r>
                        </m:sub>
                      </m:sSub>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𝐽</m:t>
                          </m:r>
                        </m:e>
                      </m:acc>
                      <m:r>
                        <a:rPr lang="zh-CN" altLang="en-US" sz="2400" i="0">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𝜇</m:t>
                          </m:r>
                        </m:e>
                        <m:sub>
                          <m:r>
                            <a:rPr lang="zh-CN" altLang="en-US" sz="2400">
                              <a:solidFill>
                                <a:schemeClr val="tx1"/>
                              </a:solidFill>
                              <a:latin typeface="Cambria Math" panose="02040503050406030204" pitchFamily="18" charset="0"/>
                            </a:rPr>
                            <m:t>0</m:t>
                          </m:r>
                        </m:sub>
                      </m:sSub>
                      <m:sSub>
                        <m:sSubPr>
                          <m:ctrlPr>
                            <a:rPr lang="en-US" altLang="zh-CN"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𝜀</m:t>
                          </m:r>
                        </m:e>
                        <m:sub>
                          <m:r>
                            <a:rPr lang="en-US" altLang="zh-CN" sz="2400" i="1">
                              <a:solidFill>
                                <a:schemeClr val="tx1"/>
                              </a:solidFill>
                              <a:latin typeface="Cambria Math" panose="02040503050406030204" pitchFamily="18" charset="0"/>
                            </a:rPr>
                            <m:t>0</m:t>
                          </m:r>
                        </m:sub>
                      </m:sSub>
                      <m:f>
                        <m:fPr>
                          <m:ctrlPr>
                            <a:rPr lang="zh-CN" altLang="en-US" sz="2400" i="1">
                              <a:solidFill>
                                <a:schemeClr val="tx1"/>
                              </a:solidFill>
                              <a:latin typeface="Cambria Math" panose="02040503050406030204" pitchFamily="18" charset="0"/>
                            </a:rPr>
                          </m:ctrlPr>
                        </m:fPr>
                        <m:num>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𝐸</m:t>
                              </m:r>
                            </m:e>
                          </m:acc>
                        </m:num>
                        <m:den>
                          <m:r>
                            <a:rPr lang="zh-CN" altLang="en-US" sz="2400" i="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𝑡</m:t>
                          </m:r>
                        </m:den>
                      </m:f>
                    </m:oMath>
                  </m:oMathPara>
                </a14:m>
                <a:endParaRPr lang="zh-CN" altLang="en-US" sz="2400" dirty="0"/>
              </a:p>
            </p:txBody>
          </p:sp>
        </mc:Choice>
        <mc:Fallback xmlns="">
          <p:sp>
            <p:nvSpPr>
              <p:cNvPr id="15" name="文本框 14">
                <a:extLst>
                  <a:ext uri="{FF2B5EF4-FFF2-40B4-BE49-F238E27FC236}">
                    <a16:creationId xmlns:a16="http://schemas.microsoft.com/office/drawing/2014/main" id="{D170EDFA-1637-CE2D-2B75-4440E8B033E2}"/>
                  </a:ext>
                </a:extLst>
              </p:cNvPr>
              <p:cNvSpPr txBox="1">
                <a:spLocks noRot="1" noChangeAspect="1" noMove="1" noResize="1" noEditPoints="1" noAdjustHandles="1" noChangeArrowheads="1" noChangeShapeType="1" noTextEdit="1"/>
              </p:cNvSpPr>
              <p:nvPr/>
            </p:nvSpPr>
            <p:spPr>
              <a:xfrm>
                <a:off x="4953436" y="623071"/>
                <a:ext cx="3057247" cy="786947"/>
              </a:xfrm>
              <a:prstGeom prst="rect">
                <a:avLst/>
              </a:prstGeom>
              <a:blipFill>
                <a:blip r:embed="rId3"/>
                <a:stretch>
                  <a:fillRect/>
                </a:stretch>
              </a:blipFill>
            </p:spPr>
            <p:txBody>
              <a:bodyPr/>
              <a:lstStyle/>
              <a:p>
                <a:r>
                  <a:rPr lang="zh-CN" altLang="en-US">
                    <a:noFill/>
                  </a:rPr>
                  <a:t> </a:t>
                </a:r>
              </a:p>
            </p:txBody>
          </p:sp>
        </mc:Fallback>
      </mc:AlternateContent>
      <p:sp>
        <p:nvSpPr>
          <p:cNvPr id="23" name="文本框 22">
            <a:extLst>
              <a:ext uri="{FF2B5EF4-FFF2-40B4-BE49-F238E27FC236}">
                <a16:creationId xmlns:a16="http://schemas.microsoft.com/office/drawing/2014/main" id="{ACC30498-8FAB-FFC4-5AB5-66889209EC25}"/>
              </a:ext>
            </a:extLst>
          </p:cNvPr>
          <p:cNvSpPr txBox="1"/>
          <p:nvPr/>
        </p:nvSpPr>
        <p:spPr>
          <a:xfrm>
            <a:off x="811417" y="899882"/>
            <a:ext cx="3610958" cy="369332"/>
          </a:xfrm>
          <a:prstGeom prst="rect">
            <a:avLst/>
          </a:prstGeom>
          <a:noFill/>
        </p:spPr>
        <p:txBody>
          <a:bodyPr wrap="square">
            <a:spAutoFit/>
          </a:bodyPr>
          <a:lstStyle/>
          <a:p>
            <a:r>
              <a:rPr lang="en-US" altLang="zh-CN" dirty="0"/>
              <a:t>Differential Form of the equation</a:t>
            </a:r>
            <a:r>
              <a:rPr lang="zh-CN" altLang="en-US" dirty="0"/>
              <a:t>：</a:t>
            </a:r>
          </a:p>
        </p:txBody>
      </p:sp>
      <p:pic>
        <p:nvPicPr>
          <p:cNvPr id="4" name="图片 3">
            <a:extLst>
              <a:ext uri="{FF2B5EF4-FFF2-40B4-BE49-F238E27FC236}">
                <a16:creationId xmlns:a16="http://schemas.microsoft.com/office/drawing/2014/main" id="{49213CB2-2661-EAE8-0697-74DA2BD91F0D}"/>
              </a:ext>
            </a:extLst>
          </p:cNvPr>
          <p:cNvPicPr>
            <a:picLocks noChangeAspect="1"/>
          </p:cNvPicPr>
          <p:nvPr/>
        </p:nvPicPr>
        <p:blipFill>
          <a:blip r:embed="rId4"/>
          <a:stretch>
            <a:fillRect/>
          </a:stretch>
        </p:blipFill>
        <p:spPr>
          <a:xfrm>
            <a:off x="1533261" y="1938230"/>
            <a:ext cx="6077477" cy="4290795"/>
          </a:xfrm>
          <a:prstGeom prst="rect">
            <a:avLst/>
          </a:prstGeom>
        </p:spPr>
      </p:pic>
      <p:sp>
        <p:nvSpPr>
          <p:cNvPr id="7" name="文本框 6">
            <a:extLst>
              <a:ext uri="{FF2B5EF4-FFF2-40B4-BE49-F238E27FC236}">
                <a16:creationId xmlns:a16="http://schemas.microsoft.com/office/drawing/2014/main" id="{C18F6525-4E96-93B6-75F8-686AF0B2CC13}"/>
              </a:ext>
            </a:extLst>
          </p:cNvPr>
          <p:cNvSpPr txBox="1"/>
          <p:nvPr/>
        </p:nvSpPr>
        <p:spPr>
          <a:xfrm>
            <a:off x="811417" y="1419056"/>
            <a:ext cx="4572000" cy="369332"/>
          </a:xfrm>
          <a:prstGeom prst="rect">
            <a:avLst/>
          </a:prstGeom>
          <a:noFill/>
        </p:spPr>
        <p:txBody>
          <a:bodyPr wrap="square">
            <a:spAutoFit/>
          </a:bodyPr>
          <a:lstStyle/>
          <a:p>
            <a:r>
              <a:rPr lang="zh-CN" altLang="en-US" dirty="0"/>
              <a:t>从积分形式到微分形式的转换</a:t>
            </a:r>
          </a:p>
        </p:txBody>
      </p:sp>
    </p:spTree>
    <p:extLst>
      <p:ext uri="{BB962C8B-B14F-4D97-AF65-F5344CB8AC3E}">
        <p14:creationId xmlns:p14="http://schemas.microsoft.com/office/powerpoint/2010/main" val="745517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9630C-7072-664B-D7EC-21E8052D3827}"/>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9F871397-5735-8014-AB62-5684C1BC48A3}"/>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Maxwell’s Equation 4</a:t>
            </a:r>
          </a:p>
          <a:p>
            <a:pPr algn="ct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5" name="直接箭头连接符 4">
            <a:extLst>
              <a:ext uri="{FF2B5EF4-FFF2-40B4-BE49-F238E27FC236}">
                <a16:creationId xmlns:a16="http://schemas.microsoft.com/office/drawing/2014/main" id="{D55933BF-5B4F-C219-036A-B4C1FF8384FD}"/>
              </a:ext>
            </a:extLst>
          </p:cNvPr>
          <p:cNvCxnSpPr>
            <a:cxnSpLocks/>
          </p:cNvCxnSpPr>
          <p:nvPr/>
        </p:nvCxnSpPr>
        <p:spPr>
          <a:xfrm flipV="1">
            <a:off x="4445874" y="1618425"/>
            <a:ext cx="0" cy="264252"/>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3">
            <a:extLst>
              <a:ext uri="{FF2B5EF4-FFF2-40B4-BE49-F238E27FC236}">
                <a16:creationId xmlns:a16="http://schemas.microsoft.com/office/drawing/2014/main" id="{B3ABFE32-7D4C-1C4E-594D-D89428204B42}"/>
              </a:ext>
            </a:extLst>
          </p:cNvPr>
          <p:cNvSpPr txBox="1"/>
          <p:nvPr/>
        </p:nvSpPr>
        <p:spPr>
          <a:xfrm>
            <a:off x="4348526" y="1805471"/>
            <a:ext cx="910072"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2">
                    <a:lumMod val="75000"/>
                  </a:schemeClr>
                </a:solidFill>
              </a:rPr>
              <a:t>Current density</a:t>
            </a:r>
            <a:endParaRPr lang="zh-CN" altLang="en-US" sz="1600" dirty="0">
              <a:solidFill>
                <a:schemeClr val="accent2">
                  <a:lumMod val="75000"/>
                </a:schemeClr>
              </a:solidFill>
            </a:endParaRPr>
          </a:p>
        </p:txBody>
      </p:sp>
      <p:sp>
        <p:nvSpPr>
          <p:cNvPr id="8" name="文本框 3">
            <a:extLst>
              <a:ext uri="{FF2B5EF4-FFF2-40B4-BE49-F238E27FC236}">
                <a16:creationId xmlns:a16="http://schemas.microsoft.com/office/drawing/2014/main" id="{B2C0439E-7E54-5EBB-D53A-1B3C8C02127F}"/>
              </a:ext>
            </a:extLst>
          </p:cNvPr>
          <p:cNvSpPr txBox="1"/>
          <p:nvPr/>
        </p:nvSpPr>
        <p:spPr>
          <a:xfrm>
            <a:off x="385521" y="1631488"/>
            <a:ext cx="4037308" cy="83099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5">
                    <a:lumMod val="75000"/>
                  </a:schemeClr>
                </a:solidFill>
              </a:rPr>
              <a:t>Permeability /ˌ</a:t>
            </a:r>
            <a:r>
              <a:rPr lang="en-US" altLang="zh-CN" sz="1600" dirty="0" err="1">
                <a:solidFill>
                  <a:schemeClr val="accent5">
                    <a:lumMod val="75000"/>
                  </a:schemeClr>
                </a:solidFill>
              </a:rPr>
              <a:t>pɜːmiəˈbɪləti</a:t>
            </a:r>
            <a:r>
              <a:rPr lang="en-US" altLang="zh-CN" sz="1600" dirty="0">
                <a:solidFill>
                  <a:schemeClr val="accent5">
                    <a:lumMod val="75000"/>
                  </a:schemeClr>
                </a:solidFill>
              </a:rPr>
              <a:t>/ (</a:t>
            </a:r>
            <a:r>
              <a:rPr lang="zh-CN" altLang="en-US" sz="1600" dirty="0">
                <a:solidFill>
                  <a:schemeClr val="accent5">
                    <a:lumMod val="75000"/>
                  </a:schemeClr>
                </a:solidFill>
              </a:rPr>
              <a:t>磁导率</a:t>
            </a:r>
            <a:r>
              <a:rPr lang="en-US" altLang="zh-CN" sz="1600" dirty="0">
                <a:solidFill>
                  <a:schemeClr val="accent5">
                    <a:lumMod val="75000"/>
                  </a:schemeClr>
                </a:solidFill>
              </a:rPr>
              <a:t>): </a:t>
            </a:r>
          </a:p>
          <a:p>
            <a:r>
              <a:rPr lang="en-US" altLang="zh-CN" sz="1600" dirty="0">
                <a:solidFill>
                  <a:schemeClr val="accent5">
                    <a:lumMod val="75000"/>
                  </a:schemeClr>
                </a:solidFill>
              </a:rPr>
              <a:t>the measure of magnetization produced in a material in response to magnetic field. </a:t>
            </a:r>
            <a:endParaRPr lang="zh-CN" altLang="en-US" sz="1600" dirty="0">
              <a:solidFill>
                <a:schemeClr val="accent5">
                  <a:lumMod val="75000"/>
                </a:schemeClr>
              </a:solidFill>
            </a:endParaRPr>
          </a:p>
        </p:txBody>
      </p:sp>
      <p:cxnSp>
        <p:nvCxnSpPr>
          <p:cNvPr id="9" name="直接箭头连接符 8">
            <a:extLst>
              <a:ext uri="{FF2B5EF4-FFF2-40B4-BE49-F238E27FC236}">
                <a16:creationId xmlns:a16="http://schemas.microsoft.com/office/drawing/2014/main" id="{D672EF96-B5EE-844C-52D3-04A47B4D6C03}"/>
              </a:ext>
            </a:extLst>
          </p:cNvPr>
          <p:cNvCxnSpPr>
            <a:cxnSpLocks/>
          </p:cNvCxnSpPr>
          <p:nvPr/>
        </p:nvCxnSpPr>
        <p:spPr>
          <a:xfrm flipV="1">
            <a:off x="4221288" y="1618425"/>
            <a:ext cx="0" cy="264253"/>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3">
            <a:extLst>
              <a:ext uri="{FF2B5EF4-FFF2-40B4-BE49-F238E27FC236}">
                <a16:creationId xmlns:a16="http://schemas.microsoft.com/office/drawing/2014/main" id="{4BD82C61-90E7-8AD0-E002-780753568C8C}"/>
              </a:ext>
            </a:extLst>
          </p:cNvPr>
          <p:cNvSpPr txBox="1"/>
          <p:nvPr/>
        </p:nvSpPr>
        <p:spPr>
          <a:xfrm>
            <a:off x="1424863" y="2517405"/>
            <a:ext cx="6457835"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dirty="0"/>
              <a:t>电流和随时间变化的电场</a:t>
            </a:r>
            <a:r>
              <a:rPr lang="en-US" altLang="zh-CN" dirty="0"/>
              <a:t>(</a:t>
            </a:r>
            <a:r>
              <a:rPr lang="zh-CN" altLang="en-US" dirty="0"/>
              <a:t>移动电场</a:t>
            </a:r>
            <a:r>
              <a:rPr lang="en-US" altLang="zh-CN" dirty="0"/>
              <a:t>)</a:t>
            </a:r>
            <a:r>
              <a:rPr lang="zh-CN" altLang="en-US" dirty="0"/>
              <a:t>会激发出环绕的涡旋磁场</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E1459B9-B088-BA0A-DD1A-2C986757A80B}"/>
                  </a:ext>
                </a:extLst>
              </p:cNvPr>
              <p:cNvSpPr txBox="1"/>
              <p:nvPr/>
            </p:nvSpPr>
            <p:spPr>
              <a:xfrm>
                <a:off x="2922765" y="963604"/>
                <a:ext cx="3046219" cy="7869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r>
                        <a:rPr lang="zh-CN" altLang="en-US" sz="2400" i="0">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𝜇</m:t>
                          </m:r>
                        </m:e>
                        <m:sub>
                          <m:r>
                            <a:rPr lang="zh-CN" altLang="en-US" sz="2400" i="0">
                              <a:solidFill>
                                <a:schemeClr val="tx1"/>
                              </a:solidFill>
                              <a:latin typeface="Cambria Math" panose="02040503050406030204" pitchFamily="18" charset="0"/>
                            </a:rPr>
                            <m:t>0</m:t>
                          </m:r>
                        </m:sub>
                      </m:sSub>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𝐽</m:t>
                          </m:r>
                        </m:e>
                      </m:acc>
                      <m:r>
                        <a:rPr lang="zh-CN" altLang="en-US" sz="2400" i="0">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𝜇</m:t>
                          </m:r>
                        </m:e>
                        <m:sub>
                          <m:r>
                            <a:rPr lang="zh-CN" altLang="en-US" sz="2400">
                              <a:solidFill>
                                <a:schemeClr val="tx1"/>
                              </a:solidFill>
                              <a:latin typeface="Cambria Math" panose="02040503050406030204" pitchFamily="18" charset="0"/>
                            </a:rPr>
                            <m:t>0</m:t>
                          </m:r>
                        </m:sub>
                      </m:sSub>
                      <m:sSub>
                        <m:sSubPr>
                          <m:ctrlPr>
                            <a:rPr lang="en-US" altLang="zh-CN"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𝜀</m:t>
                          </m:r>
                        </m:e>
                        <m:sub>
                          <m:r>
                            <a:rPr lang="en-US" altLang="zh-CN" sz="2400" i="1">
                              <a:solidFill>
                                <a:schemeClr val="tx1"/>
                              </a:solidFill>
                              <a:latin typeface="Cambria Math" panose="02040503050406030204" pitchFamily="18" charset="0"/>
                            </a:rPr>
                            <m:t>0</m:t>
                          </m:r>
                        </m:sub>
                      </m:sSub>
                      <m:f>
                        <m:fPr>
                          <m:ctrlPr>
                            <a:rPr lang="zh-CN" altLang="en-US" sz="2400" i="1">
                              <a:solidFill>
                                <a:schemeClr val="tx1"/>
                              </a:solidFill>
                              <a:latin typeface="Cambria Math" panose="02040503050406030204" pitchFamily="18" charset="0"/>
                            </a:rPr>
                          </m:ctrlPr>
                        </m:fPr>
                        <m:num>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𝐸</m:t>
                              </m:r>
                            </m:e>
                          </m:acc>
                        </m:num>
                        <m:den>
                          <m:r>
                            <a:rPr lang="zh-CN" altLang="en-US" sz="2400" i="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𝑡</m:t>
                          </m:r>
                        </m:den>
                      </m:f>
                    </m:oMath>
                  </m:oMathPara>
                </a14:m>
                <a:endParaRPr lang="zh-CN" altLang="en-US" sz="2400" dirty="0"/>
              </a:p>
            </p:txBody>
          </p:sp>
        </mc:Choice>
        <mc:Fallback xmlns="">
          <p:sp>
            <p:nvSpPr>
              <p:cNvPr id="15" name="文本框 14">
                <a:extLst>
                  <a:ext uri="{FF2B5EF4-FFF2-40B4-BE49-F238E27FC236}">
                    <a16:creationId xmlns:a16="http://schemas.microsoft.com/office/drawing/2014/main" id="{7E1459B9-B088-BA0A-DD1A-2C986757A80B}"/>
                  </a:ext>
                </a:extLst>
              </p:cNvPr>
              <p:cNvSpPr txBox="1">
                <a:spLocks noRot="1" noChangeAspect="1" noMove="1" noResize="1" noEditPoints="1" noAdjustHandles="1" noChangeArrowheads="1" noChangeShapeType="1" noTextEdit="1"/>
              </p:cNvSpPr>
              <p:nvPr/>
            </p:nvSpPr>
            <p:spPr>
              <a:xfrm>
                <a:off x="2922765" y="963604"/>
                <a:ext cx="3046219" cy="786947"/>
              </a:xfrm>
              <a:prstGeom prst="rect">
                <a:avLst/>
              </a:prstGeom>
              <a:blipFill>
                <a:blip r:embed="rId3"/>
                <a:stretch>
                  <a:fillRect/>
                </a:stretch>
              </a:blipFill>
            </p:spPr>
            <p:txBody>
              <a:bodyPr/>
              <a:lstStyle/>
              <a:p>
                <a:r>
                  <a:rPr lang="zh-CN" altLang="en-US">
                    <a:noFill/>
                  </a:rPr>
                  <a:t> </a:t>
                </a:r>
              </a:p>
            </p:txBody>
          </p:sp>
        </mc:Fallback>
      </mc:AlternateContent>
      <p:sp>
        <p:nvSpPr>
          <p:cNvPr id="18" name="文本框 3">
            <a:extLst>
              <a:ext uri="{FF2B5EF4-FFF2-40B4-BE49-F238E27FC236}">
                <a16:creationId xmlns:a16="http://schemas.microsoft.com/office/drawing/2014/main" id="{98EE51A8-BCBA-1113-D0D1-D4BB005E9AF7}"/>
              </a:ext>
            </a:extLst>
          </p:cNvPr>
          <p:cNvSpPr txBox="1"/>
          <p:nvPr/>
        </p:nvSpPr>
        <p:spPr>
          <a:xfrm>
            <a:off x="1296880" y="594272"/>
            <a:ext cx="6713803"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Ampere’s Circuital law </a:t>
            </a:r>
            <a:r>
              <a:rPr lang="zh-CN" altLang="en-US" b="1" dirty="0"/>
              <a:t>（安培定律：时变电场产生磁场）</a:t>
            </a:r>
          </a:p>
        </p:txBody>
      </p:sp>
      <p:cxnSp>
        <p:nvCxnSpPr>
          <p:cNvPr id="13" name="直接箭头连接符 12">
            <a:extLst>
              <a:ext uri="{FF2B5EF4-FFF2-40B4-BE49-F238E27FC236}">
                <a16:creationId xmlns:a16="http://schemas.microsoft.com/office/drawing/2014/main" id="{CACE3232-06CD-0080-FC2C-BF36A9100529}"/>
              </a:ext>
            </a:extLst>
          </p:cNvPr>
          <p:cNvCxnSpPr/>
          <p:nvPr/>
        </p:nvCxnSpPr>
        <p:spPr>
          <a:xfrm>
            <a:off x="6022428" y="1218859"/>
            <a:ext cx="22702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0" name="文本框 3">
            <a:extLst>
              <a:ext uri="{FF2B5EF4-FFF2-40B4-BE49-F238E27FC236}">
                <a16:creationId xmlns:a16="http://schemas.microsoft.com/office/drawing/2014/main" id="{57031DEA-8289-8CD5-0A70-61F920191973}"/>
              </a:ext>
            </a:extLst>
          </p:cNvPr>
          <p:cNvSpPr txBox="1"/>
          <p:nvPr/>
        </p:nvSpPr>
        <p:spPr>
          <a:xfrm>
            <a:off x="6380680" y="992547"/>
            <a:ext cx="910072" cy="83099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600" dirty="0">
                <a:solidFill>
                  <a:schemeClr val="accent2">
                    <a:lumMod val="75000"/>
                  </a:schemeClr>
                </a:solidFill>
              </a:rPr>
              <a:t>电场随时间变化率</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BCD1AF3-C56E-3EBC-A2DA-31E879849BAB}"/>
                  </a:ext>
                </a:extLst>
              </p:cNvPr>
              <p:cNvSpPr txBox="1"/>
              <p:nvPr/>
            </p:nvSpPr>
            <p:spPr>
              <a:xfrm>
                <a:off x="692182" y="3521465"/>
                <a:ext cx="2768322" cy="7871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r>
                        <a:rPr lang="zh-CN" altLang="en-US" sz="2400" i="0">
                          <a:solidFill>
                            <a:schemeClr val="tx1"/>
                          </a:solidFill>
                          <a:latin typeface="Cambria Math" panose="02040503050406030204" pitchFamily="18" charset="0"/>
                        </a:rPr>
                        <m:t>=</m:t>
                      </m:r>
                      <m:sSub>
                        <m:sSubPr>
                          <m:ctrlPr>
                            <a:rPr lang="zh-CN" altLang="en-US" sz="2400" i="1">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𝜇</m:t>
                          </m:r>
                        </m:e>
                        <m:sub>
                          <m:r>
                            <a:rPr lang="zh-CN" altLang="en-US" sz="2400" i="0">
                              <a:solidFill>
                                <a:schemeClr val="tx1"/>
                              </a:solidFill>
                              <a:latin typeface="Cambria Math" panose="02040503050406030204" pitchFamily="18" charset="0"/>
                            </a:rPr>
                            <m:t>0</m:t>
                          </m:r>
                        </m:sub>
                      </m:sSub>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𝐽</m:t>
                          </m:r>
                        </m:e>
                      </m:acc>
                      <m:r>
                        <a:rPr lang="zh-CN" altLang="en-US" sz="2400" i="0">
                          <a:solidFill>
                            <a:schemeClr val="tx1"/>
                          </a:solidFill>
                          <a:latin typeface="Cambria Math" panose="02040503050406030204" pitchFamily="18" charset="0"/>
                        </a:rPr>
                        <m:t>+</m:t>
                      </m:r>
                      <m:f>
                        <m:fPr>
                          <m:ctrlPr>
                            <a:rPr lang="en-US" altLang="zh-CN" sz="2400" i="1" smtClean="0">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1</m:t>
                          </m:r>
                        </m:num>
                        <m:den>
                          <m:sSup>
                            <m:sSupPr>
                              <m:ctrlPr>
                                <a:rPr lang="en-US" altLang="zh-CN" sz="2400" i="1" smtClean="0">
                                  <a:solidFill>
                                    <a:schemeClr val="tx1"/>
                                  </a:solidFill>
                                  <a:latin typeface="Cambria Math" panose="02040503050406030204" pitchFamily="18" charset="0"/>
                                </a:rPr>
                              </m:ctrlPr>
                            </m:sSupPr>
                            <m:e>
                              <m:r>
                                <a:rPr lang="en-US" altLang="zh-CN" sz="2400" b="0" i="1" smtClean="0">
                                  <a:solidFill>
                                    <a:schemeClr val="tx1"/>
                                  </a:solidFill>
                                  <a:latin typeface="Cambria Math" panose="02040503050406030204" pitchFamily="18" charset="0"/>
                                </a:rPr>
                                <m:t>𝑐</m:t>
                              </m:r>
                            </m:e>
                            <m:sup>
                              <m:r>
                                <a:rPr lang="en-US" altLang="zh-CN" sz="2400" b="0" i="1" smtClean="0">
                                  <a:solidFill>
                                    <a:schemeClr val="tx1"/>
                                  </a:solidFill>
                                  <a:latin typeface="Cambria Math" panose="02040503050406030204" pitchFamily="18" charset="0"/>
                                </a:rPr>
                                <m:t>2</m:t>
                              </m:r>
                            </m:sup>
                          </m:sSup>
                        </m:den>
                      </m:f>
                      <m:f>
                        <m:fPr>
                          <m:ctrlPr>
                            <a:rPr lang="zh-CN" altLang="en-US" sz="2400" i="1">
                              <a:solidFill>
                                <a:schemeClr val="tx1"/>
                              </a:solidFill>
                              <a:latin typeface="Cambria Math" panose="02040503050406030204" pitchFamily="18" charset="0"/>
                            </a:rPr>
                          </m:ctrlPr>
                        </m:fPr>
                        <m:num>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𝐸</m:t>
                              </m:r>
                            </m:e>
                          </m:acc>
                        </m:num>
                        <m:den>
                          <m:r>
                            <a:rPr lang="zh-CN" altLang="en-US" sz="2400" i="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𝑡</m:t>
                          </m:r>
                        </m:den>
                      </m:f>
                    </m:oMath>
                  </m:oMathPara>
                </a14:m>
                <a:endParaRPr lang="zh-CN" altLang="en-US" sz="2400" dirty="0"/>
              </a:p>
            </p:txBody>
          </p:sp>
        </mc:Choice>
        <mc:Fallback xmlns="">
          <p:sp>
            <p:nvSpPr>
              <p:cNvPr id="21" name="文本框 20">
                <a:extLst>
                  <a:ext uri="{FF2B5EF4-FFF2-40B4-BE49-F238E27FC236}">
                    <a16:creationId xmlns:a16="http://schemas.microsoft.com/office/drawing/2014/main" id="{5BCD1AF3-C56E-3EBC-A2DA-31E879849BAB}"/>
                  </a:ext>
                </a:extLst>
              </p:cNvPr>
              <p:cNvSpPr txBox="1">
                <a:spLocks noRot="1" noChangeAspect="1" noMove="1" noResize="1" noEditPoints="1" noAdjustHandles="1" noChangeArrowheads="1" noChangeShapeType="1" noTextEdit="1"/>
              </p:cNvSpPr>
              <p:nvPr/>
            </p:nvSpPr>
            <p:spPr>
              <a:xfrm>
                <a:off x="692182" y="3521465"/>
                <a:ext cx="2768322" cy="787139"/>
              </a:xfrm>
              <a:prstGeom prst="rect">
                <a:avLst/>
              </a:prstGeom>
              <a:blipFill>
                <a:blip r:embed="rId4"/>
                <a:stretch>
                  <a:fillRect/>
                </a:stretch>
              </a:blipFill>
            </p:spPr>
            <p:txBody>
              <a:bodyPr/>
              <a:lstStyle/>
              <a:p>
                <a:r>
                  <a:rPr lang="zh-CN" altLang="en-US">
                    <a:noFill/>
                  </a:rPr>
                  <a:t> </a:t>
                </a:r>
              </a:p>
            </p:txBody>
          </p:sp>
        </mc:Fallback>
      </mc:AlternateContent>
      <p:pic>
        <p:nvPicPr>
          <p:cNvPr id="3074" name="Picture 2" descr="si units - Speed of light definition - Physics Stack Exchange">
            <a:extLst>
              <a:ext uri="{FF2B5EF4-FFF2-40B4-BE49-F238E27FC236}">
                <a16:creationId xmlns:a16="http://schemas.microsoft.com/office/drawing/2014/main" id="{193228F9-6406-DCFA-B1AF-BC30C6A8FF7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6573" b="22144"/>
          <a:stretch/>
        </p:blipFill>
        <p:spPr bwMode="auto">
          <a:xfrm>
            <a:off x="4611637" y="2976587"/>
            <a:ext cx="3646306" cy="1305266"/>
          </a:xfrm>
          <a:prstGeom prst="rect">
            <a:avLst/>
          </a:prstGeom>
          <a:noFill/>
          <a:extLst>
            <a:ext uri="{909E8E84-426E-40DD-AFC4-6F175D3DCCD1}">
              <a14:hiddenFill xmlns:a14="http://schemas.microsoft.com/office/drawing/2010/main">
                <a:solidFill>
                  <a:srgbClr val="FFFFFF"/>
                </a:solidFill>
              </a14:hiddenFill>
            </a:ext>
          </a:extLst>
        </p:spPr>
      </p:pic>
      <p:sp>
        <p:nvSpPr>
          <p:cNvPr id="25" name="矩形 24">
            <a:extLst>
              <a:ext uri="{FF2B5EF4-FFF2-40B4-BE49-F238E27FC236}">
                <a16:creationId xmlns:a16="http://schemas.microsoft.com/office/drawing/2014/main" id="{81793973-0131-7AA8-1CEA-62AF6C08C97E}"/>
              </a:ext>
            </a:extLst>
          </p:cNvPr>
          <p:cNvSpPr/>
          <p:nvPr/>
        </p:nvSpPr>
        <p:spPr>
          <a:xfrm>
            <a:off x="4516347" y="3762672"/>
            <a:ext cx="2768322" cy="5847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B456D858-7B65-FCE2-1F5A-340550F240FC}"/>
              </a:ext>
            </a:extLst>
          </p:cNvPr>
          <p:cNvSpPr/>
          <p:nvPr/>
        </p:nvSpPr>
        <p:spPr>
          <a:xfrm>
            <a:off x="418454" y="2961980"/>
            <a:ext cx="8422848" cy="31361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7" name="文本框 3">
                <a:extLst>
                  <a:ext uri="{FF2B5EF4-FFF2-40B4-BE49-F238E27FC236}">
                    <a16:creationId xmlns:a16="http://schemas.microsoft.com/office/drawing/2014/main" id="{2A0B26AA-6FA4-EB60-9E29-7EE299DAF161}"/>
                  </a:ext>
                </a:extLst>
              </p:cNvPr>
              <p:cNvSpPr txBox="1"/>
              <p:nvPr/>
            </p:nvSpPr>
            <p:spPr>
              <a:xfrm>
                <a:off x="434616" y="4788235"/>
                <a:ext cx="8298126" cy="107721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i="1" dirty="0"/>
                  <a:t>μ</a:t>
                </a:r>
                <a:r>
                  <a:rPr lang="en-US" altLang="zh-CN" sz="1600" dirty="0"/>
                  <a:t> </a:t>
                </a:r>
                <a:r>
                  <a:rPr lang="zh-CN" altLang="en-US" sz="1600" dirty="0"/>
                  <a:t>和 </a:t>
                </a:r>
                <a:r>
                  <a:rPr lang="en-US" altLang="zh-CN" sz="1600" i="1" dirty="0"/>
                  <a:t>ε</a:t>
                </a:r>
                <a:r>
                  <a:rPr lang="en-US" altLang="zh-CN" sz="1600" dirty="0"/>
                  <a:t> </a:t>
                </a:r>
                <a:r>
                  <a:rPr lang="zh-CN" altLang="en-US" sz="1600" dirty="0"/>
                  <a:t>分别反映了电场和磁场在空间中的“惯性”和“弹性”，它们的乘积决定了电磁波传播的时间尺度。</a:t>
                </a:r>
                <a:endParaRPr lang="en-US" altLang="zh-CN" sz="1600" dirty="0"/>
              </a:p>
              <a:p>
                <a:r>
                  <a:rPr lang="en-US" altLang="zh-CN" sz="1600" dirty="0"/>
                  <a:t>Permittivity </a:t>
                </a:r>
                <a14:m>
                  <m:oMath xmlns:m="http://schemas.openxmlformats.org/officeDocument/2006/math">
                    <m:sSub>
                      <m:sSubPr>
                        <m:ctrlPr>
                          <a:rPr lang="en-US" altLang="zh-CN" sz="1600" i="1">
                            <a:latin typeface="Cambria Math" panose="02040503050406030204" pitchFamily="18" charset="0"/>
                          </a:rPr>
                        </m:ctrlPr>
                      </m:sSubPr>
                      <m:e>
                        <m:r>
                          <a:rPr lang="zh-CN" altLang="en-US" sz="1600" i="1">
                            <a:latin typeface="Cambria Math" panose="02040503050406030204" pitchFamily="18" charset="0"/>
                          </a:rPr>
                          <m:t>𝜀</m:t>
                        </m:r>
                      </m:e>
                      <m:sub>
                        <m:r>
                          <a:rPr lang="en-US" altLang="zh-CN" sz="1600" i="1">
                            <a:latin typeface="Cambria Math" panose="02040503050406030204" pitchFamily="18" charset="0"/>
                          </a:rPr>
                          <m:t>0</m:t>
                        </m:r>
                      </m:sub>
                    </m:sSub>
                  </m:oMath>
                </a14:m>
                <a:r>
                  <a:rPr lang="en-US" altLang="zh-CN" sz="1600" dirty="0"/>
                  <a:t> and Permeability</a:t>
                </a:r>
                <a:r>
                  <a:rPr lang="zh-CN" altLang="en-US" sz="1600" dirty="0"/>
                  <a:t> </a:t>
                </a:r>
                <a14:m>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𝜇</m:t>
                        </m:r>
                      </m:e>
                      <m:sub>
                        <m:r>
                          <a:rPr lang="zh-CN" altLang="en-US" sz="1600">
                            <a:latin typeface="Cambria Math" panose="02040503050406030204" pitchFamily="18" charset="0"/>
                          </a:rPr>
                          <m:t>0</m:t>
                        </m:r>
                      </m:sub>
                    </m:sSub>
                  </m:oMath>
                </a14:m>
                <a:r>
                  <a:rPr lang="en-US" altLang="zh-CN" sz="1600" dirty="0"/>
                  <a:t> can be thought as the resistance of free space against the formation of electric fields and magnetic fields, respectively. Like viscosity in water.</a:t>
                </a:r>
                <a:endParaRPr lang="zh-CN" altLang="en-US" sz="1600" dirty="0"/>
              </a:p>
            </p:txBody>
          </p:sp>
        </mc:Choice>
        <mc:Fallback xmlns="">
          <p:sp>
            <p:nvSpPr>
              <p:cNvPr id="27" name="文本框 3">
                <a:extLst>
                  <a:ext uri="{FF2B5EF4-FFF2-40B4-BE49-F238E27FC236}">
                    <a16:creationId xmlns:a16="http://schemas.microsoft.com/office/drawing/2014/main" id="{2A0B26AA-6FA4-EB60-9E29-7EE299DAF161}"/>
                  </a:ext>
                </a:extLst>
              </p:cNvPr>
              <p:cNvSpPr txBox="1">
                <a:spLocks noRot="1" noChangeAspect="1" noMove="1" noResize="1" noEditPoints="1" noAdjustHandles="1" noChangeArrowheads="1" noChangeShapeType="1" noTextEdit="1"/>
              </p:cNvSpPr>
              <p:nvPr/>
            </p:nvSpPr>
            <p:spPr>
              <a:xfrm>
                <a:off x="434616" y="4788235"/>
                <a:ext cx="8298126" cy="1077218"/>
              </a:xfrm>
              <a:prstGeom prst="rect">
                <a:avLst/>
              </a:prstGeom>
              <a:blipFill>
                <a:blip r:embed="rId6"/>
                <a:stretch>
                  <a:fillRect l="-367" t="-1695" b="-6215"/>
                </a:stretch>
              </a:blipFill>
            </p:spPr>
            <p:txBody>
              <a:bodyPr/>
              <a:lstStyle/>
              <a:p>
                <a:r>
                  <a:rPr lang="zh-CN" altLang="en-US">
                    <a:noFill/>
                  </a:rPr>
                  <a:t> </a:t>
                </a:r>
              </a:p>
            </p:txBody>
          </p:sp>
        </mc:Fallback>
      </mc:AlternateContent>
      <p:sp>
        <p:nvSpPr>
          <p:cNvPr id="30" name="矩形 29">
            <a:extLst>
              <a:ext uri="{FF2B5EF4-FFF2-40B4-BE49-F238E27FC236}">
                <a16:creationId xmlns:a16="http://schemas.microsoft.com/office/drawing/2014/main" id="{020770AE-9B26-6AB8-D550-627D208ABB4F}"/>
              </a:ext>
            </a:extLst>
          </p:cNvPr>
          <p:cNvSpPr/>
          <p:nvPr/>
        </p:nvSpPr>
        <p:spPr>
          <a:xfrm>
            <a:off x="1296880" y="3037186"/>
            <a:ext cx="1710725" cy="369332"/>
          </a:xfrm>
          <a:prstGeom prst="rect">
            <a:avLst/>
          </a:prstGeom>
        </p:spPr>
        <p:txBody>
          <a:bodyPr wrap="none">
            <a:spAutoFit/>
          </a:bodyPr>
          <a:lstStyle/>
          <a:p>
            <a:r>
              <a:rPr lang="en-US" altLang="zh-CN" b="1" dirty="0"/>
              <a:t>Speed of light</a:t>
            </a:r>
            <a:endParaRPr lang="zh-CN" altLang="en-US" b="1" dirty="0"/>
          </a:p>
        </p:txBody>
      </p:sp>
      <p:sp>
        <p:nvSpPr>
          <p:cNvPr id="3" name="文本框 2">
            <a:extLst>
              <a:ext uri="{FF2B5EF4-FFF2-40B4-BE49-F238E27FC236}">
                <a16:creationId xmlns:a16="http://schemas.microsoft.com/office/drawing/2014/main" id="{880C64D4-4B47-7A73-8E7A-B1046732AF16}"/>
              </a:ext>
            </a:extLst>
          </p:cNvPr>
          <p:cNvSpPr txBox="1"/>
          <p:nvPr/>
        </p:nvSpPr>
        <p:spPr>
          <a:xfrm>
            <a:off x="5342209" y="1867497"/>
            <a:ext cx="2185161" cy="338554"/>
          </a:xfrm>
          <a:prstGeom prst="rect">
            <a:avLst/>
          </a:prstGeom>
          <a:noFill/>
        </p:spPr>
        <p:txBody>
          <a:bodyPr wrap="square">
            <a:spAutoFit/>
          </a:bodyPr>
          <a:lstStyle/>
          <a:p>
            <a:r>
              <a:rPr lang="en-US" altLang="zh-CN" sz="1600" dirty="0">
                <a:solidFill>
                  <a:schemeClr val="accent5">
                    <a:lumMod val="75000"/>
                  </a:schemeClr>
                </a:solidFill>
              </a:rPr>
              <a:t>Permittivity (</a:t>
            </a:r>
            <a:r>
              <a:rPr lang="zh-CN" altLang="en-US" sz="1600" dirty="0">
                <a:solidFill>
                  <a:schemeClr val="accent5">
                    <a:lumMod val="75000"/>
                  </a:schemeClr>
                </a:solidFill>
              </a:rPr>
              <a:t>介电常数）</a:t>
            </a:r>
            <a:endParaRPr lang="zh-CN" altLang="en-US" sz="1600" dirty="0"/>
          </a:p>
        </p:txBody>
      </p:sp>
      <p:cxnSp>
        <p:nvCxnSpPr>
          <p:cNvPr id="4" name="直接箭头连接符 3">
            <a:extLst>
              <a:ext uri="{FF2B5EF4-FFF2-40B4-BE49-F238E27FC236}">
                <a16:creationId xmlns:a16="http://schemas.microsoft.com/office/drawing/2014/main" id="{50A58A4A-561A-DDFE-0C91-AECB2CBF742E}"/>
              </a:ext>
            </a:extLst>
          </p:cNvPr>
          <p:cNvCxnSpPr>
            <a:cxnSpLocks/>
          </p:cNvCxnSpPr>
          <p:nvPr/>
        </p:nvCxnSpPr>
        <p:spPr>
          <a:xfrm flipV="1">
            <a:off x="5437729" y="1618424"/>
            <a:ext cx="0" cy="264253"/>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9675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6E3FD-579B-0338-F196-FCCC41DEC9B2}"/>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48E08281-51F4-5C17-5436-5A8B3DBA9291}"/>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Wave optics</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What is a wave?</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0" name="文本框 3">
            <a:extLst>
              <a:ext uri="{FF2B5EF4-FFF2-40B4-BE49-F238E27FC236}">
                <a16:creationId xmlns:a16="http://schemas.microsoft.com/office/drawing/2014/main" id="{31A084EB-65ED-1598-36DC-B8550958DBD6}"/>
              </a:ext>
            </a:extLst>
          </p:cNvPr>
          <p:cNvSpPr txBox="1"/>
          <p:nvPr/>
        </p:nvSpPr>
        <p:spPr>
          <a:xfrm>
            <a:off x="402595" y="3410983"/>
            <a:ext cx="8436779"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One space dimensional</a:t>
            </a:r>
            <a:r>
              <a:rPr lang="zh-CN" altLang="en-US" b="1" dirty="0"/>
              <a:t>（</a:t>
            </a:r>
            <a:r>
              <a:rPr lang="en-US" altLang="zh-CN" b="1" dirty="0"/>
              <a:t>only in x direction</a:t>
            </a:r>
            <a:r>
              <a:rPr lang="zh-CN" altLang="en-US" b="1" dirty="0"/>
              <a:t>）</a:t>
            </a:r>
            <a:r>
              <a:rPr lang="en-US" altLang="zh-CN" b="1" dirty="0"/>
              <a:t>wave equation in simple</a:t>
            </a:r>
            <a:r>
              <a:rPr lang="zh-CN" altLang="en-US" b="1" dirty="0"/>
              <a:t> </a:t>
            </a:r>
            <a:r>
              <a:rPr lang="en-US" altLang="zh-CN" b="1" dirty="0"/>
              <a:t>form</a:t>
            </a:r>
            <a:r>
              <a:rPr lang="en-US" altLang="zh-CN" dirty="0"/>
              <a:t>: </a:t>
            </a:r>
          </a:p>
          <a:p>
            <a:r>
              <a:rPr lang="en-US" altLang="zh-CN" dirty="0"/>
              <a:t>Forward f(x-</a:t>
            </a:r>
            <a:r>
              <a:rPr lang="en-US" altLang="zh-CN" dirty="0" err="1"/>
              <a:t>vt</a:t>
            </a:r>
            <a:r>
              <a:rPr lang="en-US" altLang="zh-CN" dirty="0"/>
              <a:t>) and backward f(</a:t>
            </a:r>
            <a:r>
              <a:rPr lang="en-US" altLang="zh-CN" dirty="0" err="1"/>
              <a:t>x+vt</a:t>
            </a:r>
            <a:r>
              <a:rPr lang="en-US" altLang="zh-CN" dirty="0"/>
              <a:t>)</a:t>
            </a:r>
            <a:r>
              <a:rPr lang="zh-CN" altLang="en-US" dirty="0"/>
              <a:t>，</a:t>
            </a:r>
            <a:r>
              <a:rPr lang="en-US" altLang="zh-CN" dirty="0"/>
              <a:t>where v is phase velocity of the wave. </a:t>
            </a:r>
            <a:endParaRPr lang="zh-CN" altLang="en-US" dirty="0"/>
          </a:p>
        </p:txBody>
      </p:sp>
      <p:pic>
        <p:nvPicPr>
          <p:cNvPr id="5" name="图片 4">
            <a:extLst>
              <a:ext uri="{FF2B5EF4-FFF2-40B4-BE49-F238E27FC236}">
                <a16:creationId xmlns:a16="http://schemas.microsoft.com/office/drawing/2014/main" id="{D1085BD4-7B97-E46C-56F0-281BFE8086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7537" y="611544"/>
            <a:ext cx="4068926" cy="2063105"/>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13D1452-899F-730C-BC6A-6453E54FFFA1}"/>
                  </a:ext>
                </a:extLst>
              </p:cNvPr>
              <p:cNvSpPr txBox="1"/>
              <p:nvPr/>
            </p:nvSpPr>
            <p:spPr>
              <a:xfrm>
                <a:off x="4554747" y="5189795"/>
                <a:ext cx="345274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b="0" i="1" smtClean="0">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en-US" altLang="zh-CN" sz="2000" b="0" i="1" smtClean="0">
                              <a:latin typeface="Cambria Math" panose="02040503050406030204" pitchFamily="18" charset="0"/>
                            </a:rPr>
                            <m:t>𝑥</m:t>
                          </m:r>
                          <m:r>
                            <a:rPr lang="zh-CN" altLang="en-US" sz="2000" b="0" i="1">
                              <a:latin typeface="Cambria Math" panose="02040503050406030204" pitchFamily="18" charset="0"/>
                            </a:rPr>
                            <m:t>,</m:t>
                          </m:r>
                          <m:r>
                            <a:rPr lang="zh-CN" altLang="en-US" sz="2000" b="0" i="1">
                              <a:latin typeface="Cambria Math" panose="02040503050406030204" pitchFamily="18" charset="0"/>
                            </a:rPr>
                            <m:t>𝑡</m:t>
                          </m:r>
                        </m:e>
                      </m:d>
                      <m:r>
                        <a:rPr lang="zh-CN" altLang="en-US" sz="2000" b="0" i="1">
                          <a:latin typeface="Cambria Math" panose="02040503050406030204" pitchFamily="18" charset="0"/>
                        </a:rPr>
                        <m:t>=</m:t>
                      </m:r>
                      <m:r>
                        <a:rPr lang="zh-CN" altLang="en-US" sz="2000" b="0" i="1">
                          <a:latin typeface="Cambria Math" panose="02040503050406030204" pitchFamily="18" charset="0"/>
                        </a:rPr>
                        <m:t>𝐴</m:t>
                      </m:r>
                      <m:func>
                        <m:funcPr>
                          <m:ctrlPr>
                            <a:rPr lang="zh-CN" altLang="en-US" sz="2000" i="1">
                              <a:latin typeface="Cambria Math" panose="02040503050406030204" pitchFamily="18" charset="0"/>
                            </a:rPr>
                          </m:ctrlPr>
                        </m:funcPr>
                        <m:fName>
                          <m:r>
                            <a:rPr lang="zh-CN" altLang="en-US" sz="2000" b="0" i="1">
                              <a:latin typeface="Cambria Math" panose="02040503050406030204" pitchFamily="18" charset="0"/>
                            </a:rPr>
                            <m:t>𝑐𝑜𝑠</m:t>
                          </m:r>
                        </m:fName>
                        <m:e>
                          <m:d>
                            <m:dPr>
                              <m:begChr m:val="["/>
                              <m:endChr m:val="]"/>
                              <m:ctrlPr>
                                <a:rPr lang="zh-CN" altLang="en-US" sz="2000" i="1">
                                  <a:solidFill>
                                    <a:srgbClr val="836967"/>
                                  </a:solidFill>
                                  <a:latin typeface="Cambria Math" panose="02040503050406030204" pitchFamily="18" charset="0"/>
                                </a:rPr>
                              </m:ctrlPr>
                            </m:dPr>
                            <m:e>
                              <m:d>
                                <m:dPr>
                                  <m:ctrlPr>
                                    <a:rPr lang="zh-CN" altLang="en-US" sz="2000" i="1">
                                      <a:solidFill>
                                        <a:srgbClr val="836967"/>
                                      </a:solidFill>
                                      <a:latin typeface="Cambria Math" panose="02040503050406030204" pitchFamily="18" charset="0"/>
                                    </a:rPr>
                                  </m:ctrlPr>
                                </m:dPr>
                                <m:e>
                                  <m:r>
                                    <a:rPr lang="zh-CN" altLang="en-US" sz="2000" b="0" i="1">
                                      <a:latin typeface="Cambria Math" panose="02040503050406030204" pitchFamily="18" charset="0"/>
                                    </a:rPr>
                                    <m:t>𝑘</m:t>
                                  </m:r>
                                  <m:r>
                                    <a:rPr lang="en-US" altLang="zh-CN" sz="2000" b="0" i="1" smtClean="0">
                                      <a:latin typeface="Cambria Math" panose="02040503050406030204" pitchFamily="18" charset="0"/>
                                    </a:rPr>
                                    <m:t>𝑥</m:t>
                                  </m:r>
                                  <m:r>
                                    <a:rPr lang="en-US" altLang="zh-CN" sz="2000" b="0" i="1">
                                      <a:latin typeface="Cambria Math" panose="02040503050406030204" pitchFamily="18" charset="0"/>
                                    </a:rPr>
                                    <m:t>−</m:t>
                                  </m:r>
                                  <m:r>
                                    <a:rPr lang="en-US" altLang="zh-CN" sz="2000" b="0" i="1" dirty="0">
                                      <a:latin typeface="Cambria Math" panose="02040503050406030204" pitchFamily="18" charset="0"/>
                                      <a:ea typeface="Cambria Math" panose="02040503050406030204" pitchFamily="18" charset="0"/>
                                    </a:rPr>
                                    <m:t>𝜔</m:t>
                                  </m:r>
                                  <m:r>
                                    <a:rPr lang="en-US" altLang="zh-CN" sz="2000" b="0" i="1">
                                      <a:latin typeface="Cambria Math" panose="02040503050406030204" pitchFamily="18" charset="0"/>
                                    </a:rPr>
                                    <m:t>𝑡</m:t>
                                  </m:r>
                                </m:e>
                              </m:d>
                              <m:r>
                                <a:rPr lang="en-US" altLang="zh-CN" sz="2000" b="0" i="1" smtClean="0">
                                  <a:latin typeface="Cambria Math" panose="02040503050406030204" pitchFamily="18" charset="0"/>
                                </a:rPr>
                                <m:t>−</m:t>
                              </m:r>
                              <m:r>
                                <a:rPr lang="zh-CN" altLang="en-US" sz="2000" b="0" i="1">
                                  <a:latin typeface="Cambria Math" panose="02040503050406030204" pitchFamily="18" charset="0"/>
                                </a:rPr>
                                <m:t>𝛿</m:t>
                              </m:r>
                            </m:e>
                          </m:d>
                        </m:e>
                      </m:func>
                    </m:oMath>
                  </m:oMathPara>
                </a14:m>
                <a:endParaRPr lang="zh-CN" altLang="en-US" sz="2000" i="1" dirty="0"/>
              </a:p>
            </p:txBody>
          </p:sp>
        </mc:Choice>
        <mc:Fallback xmlns="">
          <p:sp>
            <p:nvSpPr>
              <p:cNvPr id="2" name="文本框 1">
                <a:extLst>
                  <a:ext uri="{FF2B5EF4-FFF2-40B4-BE49-F238E27FC236}">
                    <a16:creationId xmlns:a16="http://schemas.microsoft.com/office/drawing/2014/main" id="{613D1452-899F-730C-BC6A-6453E54FFFA1}"/>
                  </a:ext>
                </a:extLst>
              </p:cNvPr>
              <p:cNvSpPr txBox="1">
                <a:spLocks noRot="1" noChangeAspect="1" noMove="1" noResize="1" noEditPoints="1" noAdjustHandles="1" noChangeArrowheads="1" noChangeShapeType="1" noTextEdit="1"/>
              </p:cNvSpPr>
              <p:nvPr/>
            </p:nvSpPr>
            <p:spPr>
              <a:xfrm>
                <a:off x="4554747" y="5189795"/>
                <a:ext cx="3452740" cy="307777"/>
              </a:xfrm>
              <a:prstGeom prst="rect">
                <a:avLst/>
              </a:prstGeom>
              <a:blipFill>
                <a:blip r:embed="rId4"/>
                <a:stretch>
                  <a:fillRect l="-1058"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3754E2E-A039-29BC-F67F-A64F69B199B8}"/>
                  </a:ext>
                </a:extLst>
              </p:cNvPr>
              <p:cNvSpPr txBox="1"/>
              <p:nvPr/>
            </p:nvSpPr>
            <p:spPr>
              <a:xfrm>
                <a:off x="4554747" y="5851383"/>
                <a:ext cx="2398029" cy="3286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𝑡</m:t>
                          </m:r>
                        </m:e>
                      </m:d>
                      <m:r>
                        <a:rPr lang="zh-CN" altLang="en-US" sz="2000" i="0">
                          <a:latin typeface="Cambria Math" panose="02040503050406030204" pitchFamily="18" charset="0"/>
                        </a:rPr>
                        <m:t>=</m:t>
                      </m:r>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𝐸</m:t>
                          </m:r>
                        </m:e>
                        <m:sub>
                          <m:r>
                            <a:rPr lang="zh-CN" altLang="en-US" sz="2000" i="0">
                              <a:latin typeface="Cambria Math" panose="02040503050406030204" pitchFamily="18" charset="0"/>
                            </a:rPr>
                            <m:t>0</m:t>
                          </m:r>
                        </m:sub>
                      </m:sSub>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ⅇ</m:t>
                          </m:r>
                        </m:e>
                        <m:sup>
                          <m:r>
                            <a:rPr lang="zh-CN" altLang="en-US" sz="2000" i="1">
                              <a:latin typeface="Cambria Math" panose="02040503050406030204" pitchFamily="18" charset="0"/>
                            </a:rPr>
                            <m:t>𝑗</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i="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sup>
                      </m:sSup>
                    </m:oMath>
                  </m:oMathPara>
                </a14:m>
                <a:endParaRPr lang="zh-CN" altLang="en-US" sz="2000" dirty="0"/>
              </a:p>
            </p:txBody>
          </p:sp>
        </mc:Choice>
        <mc:Fallback xmlns="">
          <p:sp>
            <p:nvSpPr>
              <p:cNvPr id="3" name="文本框 2">
                <a:extLst>
                  <a:ext uri="{FF2B5EF4-FFF2-40B4-BE49-F238E27FC236}">
                    <a16:creationId xmlns:a16="http://schemas.microsoft.com/office/drawing/2014/main" id="{A3754E2E-A039-29BC-F67F-A64F69B199B8}"/>
                  </a:ext>
                </a:extLst>
              </p:cNvPr>
              <p:cNvSpPr txBox="1">
                <a:spLocks noRot="1" noChangeAspect="1" noMove="1" noResize="1" noEditPoints="1" noAdjustHandles="1" noChangeArrowheads="1" noChangeShapeType="1" noTextEdit="1"/>
              </p:cNvSpPr>
              <p:nvPr/>
            </p:nvSpPr>
            <p:spPr>
              <a:xfrm>
                <a:off x="4554747" y="5851383"/>
                <a:ext cx="2398029" cy="328680"/>
              </a:xfrm>
              <a:prstGeom prst="rect">
                <a:avLst/>
              </a:prstGeom>
              <a:blipFill>
                <a:blip r:embed="rId5"/>
                <a:stretch>
                  <a:fillRect l="-1523" b="-16667"/>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254C0595-7A0C-C601-455F-51A0FD073094}"/>
              </a:ext>
            </a:extLst>
          </p:cNvPr>
          <p:cNvSpPr txBox="1"/>
          <p:nvPr/>
        </p:nvSpPr>
        <p:spPr>
          <a:xfrm>
            <a:off x="1295401" y="2708842"/>
            <a:ext cx="7696200" cy="646331"/>
          </a:xfrm>
          <a:prstGeom prst="rect">
            <a:avLst/>
          </a:prstGeom>
          <a:noFill/>
        </p:spPr>
        <p:txBody>
          <a:bodyPr wrap="square">
            <a:spAutoFit/>
          </a:bodyPr>
          <a:lstStyle/>
          <a:p>
            <a:r>
              <a:rPr lang="en-US" altLang="zh-CN" dirty="0"/>
              <a:t>In the mathematical sense, a wave is any function that moves. </a:t>
            </a:r>
          </a:p>
          <a:p>
            <a:r>
              <a:rPr lang="en-US" altLang="zh-CN" dirty="0"/>
              <a:t>Define the concept of a wave: function of space (x) and time (t).</a:t>
            </a:r>
            <a:endParaRPr lang="zh-CN" altLang="en-US"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5B4289-B880-81B6-509A-52904ED3AC3A}"/>
                  </a:ext>
                </a:extLst>
              </p:cNvPr>
              <p:cNvSpPr txBox="1"/>
              <p:nvPr/>
            </p:nvSpPr>
            <p:spPr>
              <a:xfrm>
                <a:off x="4572000" y="4218380"/>
                <a:ext cx="2051716" cy="6176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zh-CN" altLang="en-US" sz="2000" i="1" smtClean="0">
                              <a:solidFill>
                                <a:srgbClr val="836967"/>
                              </a:solidFill>
                              <a:latin typeface="Cambria Math" panose="02040503050406030204" pitchFamily="18" charset="0"/>
                            </a:rPr>
                          </m:ctrlPr>
                        </m:fPr>
                        <m:num>
                          <m:sSup>
                            <m:sSupPr>
                              <m:ctrlPr>
                                <a:rPr lang="zh-CN" altLang="en-US" sz="2000" i="1">
                                  <a:solidFill>
                                    <a:srgbClr val="836967"/>
                                  </a:solidFill>
                                  <a:latin typeface="Cambria Math" panose="02040503050406030204" pitchFamily="18" charset="0"/>
                                </a:rPr>
                              </m:ctrlPr>
                            </m:sSupPr>
                            <m:e>
                              <m:r>
                                <a:rPr lang="zh-CN" altLang="en-US" sz="2000">
                                  <a:latin typeface="Cambria Math" panose="02040503050406030204" pitchFamily="18" charset="0"/>
                                </a:rPr>
                                <m:t>𝜕</m:t>
                              </m:r>
                            </m:e>
                            <m:sup>
                              <m:r>
                                <a:rPr lang="zh-CN" altLang="en-US" sz="2000" i="0">
                                  <a:latin typeface="Cambria Math" panose="02040503050406030204" pitchFamily="18" charset="0"/>
                                </a:rPr>
                                <m:t>2</m:t>
                              </m:r>
                            </m:sup>
                          </m:sSup>
                          <m:r>
                            <a:rPr lang="zh-CN" altLang="en-US" sz="2000" i="1">
                              <a:latin typeface="Cambria Math" panose="02040503050406030204" pitchFamily="18" charset="0"/>
                            </a:rPr>
                            <m:t>𝐸</m:t>
                          </m:r>
                        </m:num>
                        <m:den>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i="0">
                                  <a:latin typeface="Cambria Math" panose="02040503050406030204" pitchFamily="18" charset="0"/>
                                </a:rPr>
                                <m:t>2</m:t>
                              </m:r>
                            </m:sup>
                          </m:sSup>
                        </m:den>
                      </m:f>
                      <m:r>
                        <a:rPr lang="zh-CN" altLang="en-US" sz="2000" i="0">
                          <a:latin typeface="Cambria Math" panose="02040503050406030204" pitchFamily="18" charset="0"/>
                        </a:rPr>
                        <m:t>−</m:t>
                      </m:r>
                      <m:r>
                        <a:rPr lang="en-US" altLang="zh-CN" sz="2000" i="1" smtClean="0">
                          <a:latin typeface="Cambria Math" panose="02040503050406030204" pitchFamily="18" charset="0"/>
                        </a:rPr>
                        <m:t>𝜇</m:t>
                      </m:r>
                      <m:r>
                        <a:rPr lang="zh-CN" altLang="en-US" sz="2000" i="1">
                          <a:latin typeface="Cambria Math" panose="02040503050406030204" pitchFamily="18" charset="0"/>
                        </a:rPr>
                        <m:t>𝜀</m:t>
                      </m:r>
                      <m:f>
                        <m:fPr>
                          <m:ctrlPr>
                            <a:rPr lang="zh-CN" altLang="en-US" sz="2000" i="1">
                              <a:solidFill>
                                <a:srgbClr val="836967"/>
                              </a:solidFill>
                              <a:latin typeface="Cambria Math" panose="02040503050406030204" pitchFamily="18" charset="0"/>
                            </a:rPr>
                          </m:ctrlPr>
                        </m:fPr>
                        <m:num>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m:t>
                              </m:r>
                            </m:e>
                            <m:sup>
                              <m:r>
                                <a:rPr lang="zh-CN" altLang="en-US" sz="2000" i="0">
                                  <a:latin typeface="Cambria Math" panose="02040503050406030204" pitchFamily="18" charset="0"/>
                                </a:rPr>
                                <m:t>2</m:t>
                              </m:r>
                            </m:sup>
                          </m:sSup>
                          <m:r>
                            <a:rPr lang="zh-CN" altLang="en-US" sz="2000" i="1">
                              <a:latin typeface="Cambria Math" panose="02040503050406030204" pitchFamily="18" charset="0"/>
                            </a:rPr>
                            <m:t>𝐸</m:t>
                          </m:r>
                        </m:num>
                        <m:den>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𝑡</m:t>
                              </m:r>
                            </m:e>
                            <m:sup>
                              <m:r>
                                <a:rPr lang="zh-CN" altLang="en-US" sz="2000" i="0">
                                  <a:latin typeface="Cambria Math" panose="02040503050406030204" pitchFamily="18" charset="0"/>
                                </a:rPr>
                                <m:t>2</m:t>
                              </m:r>
                            </m:sup>
                          </m:sSup>
                        </m:den>
                      </m:f>
                      <m:r>
                        <a:rPr lang="zh-CN" altLang="en-US" sz="2000" i="0">
                          <a:latin typeface="Cambria Math" panose="02040503050406030204" pitchFamily="18" charset="0"/>
                        </a:rPr>
                        <m:t>=0</m:t>
                      </m:r>
                    </m:oMath>
                  </m:oMathPara>
                </a14:m>
                <a:endParaRPr lang="zh-CN" altLang="en-US" sz="2000" dirty="0"/>
              </a:p>
            </p:txBody>
          </p:sp>
        </mc:Choice>
        <mc:Fallback xmlns="">
          <p:sp>
            <p:nvSpPr>
              <p:cNvPr id="7" name="文本框 6">
                <a:extLst>
                  <a:ext uri="{FF2B5EF4-FFF2-40B4-BE49-F238E27FC236}">
                    <a16:creationId xmlns:a16="http://schemas.microsoft.com/office/drawing/2014/main" id="{4D5B4289-B880-81B6-509A-52904ED3AC3A}"/>
                  </a:ext>
                </a:extLst>
              </p:cNvPr>
              <p:cNvSpPr txBox="1">
                <a:spLocks noRot="1" noChangeAspect="1" noMove="1" noResize="1" noEditPoints="1" noAdjustHandles="1" noChangeArrowheads="1" noChangeShapeType="1" noTextEdit="1"/>
              </p:cNvSpPr>
              <p:nvPr/>
            </p:nvSpPr>
            <p:spPr>
              <a:xfrm>
                <a:off x="4572000" y="4218380"/>
                <a:ext cx="2051716" cy="617605"/>
              </a:xfrm>
              <a:prstGeom prst="rect">
                <a:avLst/>
              </a:prstGeom>
              <a:blipFill>
                <a:blip r:embed="rId6"/>
                <a:stretch>
                  <a:fillRect/>
                </a:stretch>
              </a:blipFill>
            </p:spPr>
            <p:txBody>
              <a:bodyPr/>
              <a:lstStyle/>
              <a:p>
                <a:r>
                  <a:rPr lang="zh-CN" altLang="en-US">
                    <a:noFill/>
                  </a:rPr>
                  <a:t> </a:t>
                </a:r>
              </a:p>
            </p:txBody>
          </p:sp>
        </mc:Fallback>
      </mc:AlternateContent>
      <p:sp>
        <p:nvSpPr>
          <p:cNvPr id="8" name="文本框 3">
            <a:extLst>
              <a:ext uri="{FF2B5EF4-FFF2-40B4-BE49-F238E27FC236}">
                <a16:creationId xmlns:a16="http://schemas.microsoft.com/office/drawing/2014/main" id="{A83FCC1D-086E-600E-BC6C-C981CD675461}"/>
              </a:ext>
            </a:extLst>
          </p:cNvPr>
          <p:cNvSpPr txBox="1"/>
          <p:nvPr/>
        </p:nvSpPr>
        <p:spPr>
          <a:xfrm>
            <a:off x="1349816" y="4590491"/>
            <a:ext cx="2770766" cy="147732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b="1" dirty="0"/>
              <a:t>But…why do I always see wave equations like these</a:t>
            </a:r>
          </a:p>
          <a:p>
            <a:endParaRPr lang="en-US" altLang="zh-CN" b="1" dirty="0"/>
          </a:p>
          <a:p>
            <a:r>
              <a:rPr lang="en-US" altLang="zh-CN" b="1" dirty="0"/>
              <a:t>What are they???</a:t>
            </a:r>
            <a:endParaRPr lang="zh-CN" altLang="en-US" dirty="0"/>
          </a:p>
        </p:txBody>
      </p:sp>
      <p:sp>
        <p:nvSpPr>
          <p:cNvPr id="9" name="左大括号 8">
            <a:extLst>
              <a:ext uri="{FF2B5EF4-FFF2-40B4-BE49-F238E27FC236}">
                <a16:creationId xmlns:a16="http://schemas.microsoft.com/office/drawing/2014/main" id="{A8493978-4871-084E-DD69-1914832D2E8E}"/>
              </a:ext>
            </a:extLst>
          </p:cNvPr>
          <p:cNvSpPr/>
          <p:nvPr/>
        </p:nvSpPr>
        <p:spPr>
          <a:xfrm>
            <a:off x="4044382" y="4462949"/>
            <a:ext cx="364671" cy="160487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337724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A6340-1B85-4079-EB29-AA407163F51F}"/>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7C2D297F-E9E4-8BEF-5527-1B26758A2FCC}"/>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Partial derivatives </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37" name="Text Box 8">
                <a:extLst>
                  <a:ext uri="{FF2B5EF4-FFF2-40B4-BE49-F238E27FC236}">
                    <a16:creationId xmlns:a16="http://schemas.microsoft.com/office/drawing/2014/main" id="{A239921B-8265-0EE9-99C1-1EF16FE1331F}"/>
                  </a:ext>
                </a:extLst>
              </p:cNvPr>
              <p:cNvSpPr txBox="1">
                <a:spLocks noChangeArrowheads="1"/>
              </p:cNvSpPr>
              <p:nvPr/>
            </p:nvSpPr>
            <p:spPr bwMode="auto">
              <a:xfrm>
                <a:off x="710293" y="2019120"/>
                <a:ext cx="8030937" cy="380777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14:m>
                  <m:oMath xmlns:m="http://schemas.openxmlformats.org/officeDocument/2006/math">
                    <m:f>
                      <m:fPr>
                        <m:ctrlPr>
                          <a:rPr lang="zh-CN" altLang="en-US" sz="2400" i="1" smtClean="0">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𝑓</m:t>
                        </m:r>
                      </m:num>
                      <m:den>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den>
                    </m:f>
                    <m:r>
                      <a:rPr lang="zh-CN" altLang="en-US" sz="2400" i="1">
                        <a:solidFill>
                          <a:srgbClr val="000000"/>
                        </a:solidFill>
                        <a:latin typeface="Cambria Math" panose="02040503050406030204" pitchFamily="18" charset="0"/>
                      </a:rPr>
                      <m:t> </m:t>
                    </m:r>
                  </m:oMath>
                </a14:m>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This is called a partial derivative (</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偏导</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p>
              <a:p>
                <a:pPr marL="0" marR="0" lvl="0" indent="0" algn="l" defTabSz="914400" rtl="0" eaLnBrk="1" fontAlgn="base" latinLnBrk="0" hangingPunct="1">
                  <a:lnSpc>
                    <a:spcPct val="100000"/>
                  </a:lnSpc>
                  <a:spcBef>
                    <a:spcPct val="50000"/>
                  </a:spcBef>
                  <a:spcAft>
                    <a:spcPct val="0"/>
                  </a:spcAft>
                  <a:buClrTx/>
                  <a:buSzTx/>
                  <a:buFontTx/>
                  <a:buNone/>
                  <a:tabLst/>
                  <a:defRPr/>
                </a:pPr>
                <a14:m>
                  <m:oMath xmlns:m="http://schemas.openxmlformats.org/officeDocument/2006/math">
                    <m:f>
                      <m:fPr>
                        <m:ctrlPr>
                          <a:rPr lang="zh-CN" altLang="en-US" sz="2400" i="1" smtClean="0">
                            <a:solidFill>
                              <a:srgbClr val="836967"/>
                            </a:solidFill>
                            <a:latin typeface="Cambria Math" panose="02040503050406030204" pitchFamily="18" charset="0"/>
                          </a:rPr>
                        </m:ctrlPr>
                      </m:fPr>
                      <m:num>
                        <m:sSup>
                          <m:sSupPr>
                            <m:ctrlPr>
                              <a:rPr lang="zh-CN" altLang="en-US" sz="2400" i="1">
                                <a:solidFill>
                                  <a:srgbClr val="836967"/>
                                </a:solidFill>
                                <a:latin typeface="Cambria Math" panose="02040503050406030204" pitchFamily="18" charset="0"/>
                              </a:rPr>
                            </m:ctrlPr>
                          </m:sSupPr>
                          <m:e>
                            <m:r>
                              <a:rPr lang="zh-CN" altLang="en-US" sz="2400">
                                <a:latin typeface="Cambria Math" panose="02040503050406030204" pitchFamily="18" charset="0"/>
                              </a:rPr>
                              <m:t>𝜕</m:t>
                            </m:r>
                          </m:e>
                          <m:sup>
                            <m:r>
                              <a:rPr lang="zh-CN" altLang="en-US" sz="2400" i="0">
                                <a:latin typeface="Cambria Math" panose="02040503050406030204" pitchFamily="18" charset="0"/>
                              </a:rPr>
                              <m:t>2</m:t>
                            </m:r>
                          </m:sup>
                        </m:sSup>
                        <m:r>
                          <a:rPr lang="zh-CN" altLang="en-US" sz="2400" i="1">
                            <a:latin typeface="Cambria Math" panose="02040503050406030204" pitchFamily="18" charset="0"/>
                          </a:rPr>
                          <m:t>𝐸</m:t>
                        </m:r>
                      </m:num>
                      <m:den>
                        <m:r>
                          <a:rPr lang="zh-CN" altLang="en-US" sz="2400" i="0">
                            <a:latin typeface="Cambria Math" panose="02040503050406030204" pitchFamily="18" charset="0"/>
                          </a:rPr>
                          <m:t>𝜕</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den>
                    </m:f>
                    <m:r>
                      <a:rPr lang="zh-CN" altLang="en-US" sz="2400" i="1">
                        <a:latin typeface="Cambria Math" panose="02040503050406030204" pitchFamily="18" charset="0"/>
                      </a:rPr>
                      <m:t> </m:t>
                    </m:r>
                  </m:oMath>
                </a14:m>
                <a:r>
                  <a:rPr kumimoji="0" lang="en-US" altLang="en-US" sz="2400" b="0" i="0" u="none" strike="noStrike" kern="1200" cap="none" spc="0" normalizeH="0" baseline="0" noProof="0" dirty="0">
                    <a:ln>
                      <a:noFill/>
                    </a:ln>
                    <a:solidFill>
                      <a:srgbClr val="000000"/>
                    </a:solidFill>
                    <a:effectLst/>
                    <a:uLnTx/>
                    <a:uFillTx/>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Second partial derivatives </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r>
                  <a:rPr kumimoji="0" lang="zh-CN"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二阶偏导数</a:t>
                </a:r>
                <a:r>
                  <a:rPr kumimoji="0" lang="en-US" altLang="zh-CN"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t>
                </a:r>
              </a:p>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This d-like character has been around for two hundred years, but, strangely, it has no actual name, so we just say, “the partial derivative of f with respect to x or t”.</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0" u="none" strike="noStrike" kern="1200" cap="none" spc="0" normalizeH="0" baseline="0" noProof="0" dirty="0" err="1">
                    <a:ln>
                      <a:noFill/>
                    </a:ln>
                    <a:solidFill>
                      <a:srgbClr val="000000"/>
                    </a:solidFill>
                    <a:effectLst/>
                    <a:uLnTx/>
                    <a:uFillTx/>
                    <a:latin typeface="Arial" panose="020B0604020202020204" pitchFamily="34" charset="0"/>
                    <a:ea typeface="+mn-ea"/>
                    <a:cs typeface="+mn-cs"/>
                  </a:rPr>
                  <a:t>Tha</a:t>
                </a:r>
                <a:r>
                  <a:rPr lang="en-US" altLang="en-US" dirty="0">
                    <a:solidFill>
                      <a:srgbClr val="000000"/>
                    </a:solidFill>
                  </a:rPr>
                  <a:t>t is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 mouthful</a:t>
                </a:r>
                <a:r>
                  <a:rPr lang="en-US" altLang="en-US" dirty="0">
                    <a:solidFill>
                      <a:srgbClr val="000000"/>
                    </a:solidFill>
                  </a:rPr>
                  <a:t>, so we can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just call it “d” because it’ll usually be clear from the slide what it means. </a:t>
                </a:r>
              </a:p>
            </p:txBody>
          </p:sp>
        </mc:Choice>
        <mc:Fallback xmlns="">
          <p:sp>
            <p:nvSpPr>
              <p:cNvPr id="37" name="Text Box 8">
                <a:extLst>
                  <a:ext uri="{FF2B5EF4-FFF2-40B4-BE49-F238E27FC236}">
                    <a16:creationId xmlns:a16="http://schemas.microsoft.com/office/drawing/2014/main" id="{A239921B-8265-0EE9-99C1-1EF16FE1331F}"/>
                  </a:ext>
                </a:extLst>
              </p:cNvPr>
              <p:cNvSpPr txBox="1">
                <a:spLocks noRot="1" noChangeAspect="1" noMove="1" noResize="1" noEditPoints="1" noAdjustHandles="1" noChangeArrowheads="1" noChangeShapeType="1" noTextEdit="1"/>
              </p:cNvSpPr>
              <p:nvPr/>
            </p:nvSpPr>
            <p:spPr bwMode="auto">
              <a:xfrm>
                <a:off x="710293" y="2019120"/>
                <a:ext cx="8030937" cy="3807774"/>
              </a:xfrm>
              <a:prstGeom prst="rect">
                <a:avLst/>
              </a:prstGeom>
              <a:blipFill>
                <a:blip r:embed="rId3"/>
                <a:stretch>
                  <a:fillRect l="-835" r="-759" b="-192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Object 4">
                <a:extLst>
                  <a:ext uri="{FF2B5EF4-FFF2-40B4-BE49-F238E27FC236}">
                    <a16:creationId xmlns:a16="http://schemas.microsoft.com/office/drawing/2014/main" id="{D14FC27C-DF30-FC7D-C9B2-6EE8D18B123B}"/>
                  </a:ext>
                </a:extLst>
              </p:cNvPr>
              <p:cNvSpPr txBox="1"/>
              <p:nvPr/>
            </p:nvSpPr>
            <p:spPr bwMode="auto">
              <a:xfrm>
                <a:off x="4829175" y="1049338"/>
                <a:ext cx="2104285" cy="80645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000" i="1">
                          <a:solidFill>
                            <a:srgbClr val="000000"/>
                          </a:solidFill>
                          <a:latin typeface="Cambria Math" panose="02040503050406030204" pitchFamily="18" charset="0"/>
                        </a:rPr>
                        <m:t> </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𝑓</m:t>
                          </m:r>
                        </m:num>
                        <m:den>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𝑥</m:t>
                          </m:r>
                        </m:den>
                      </m:f>
                      <m:r>
                        <a:rPr lang="zh-CN" altLang="en-US" sz="2000" i="1">
                          <a:solidFill>
                            <a:srgbClr val="000000"/>
                          </a:solidFill>
                          <a:latin typeface="Cambria Math" panose="02040503050406030204" pitchFamily="18" charset="0"/>
                        </a:rPr>
                        <m:t>  =  </m:t>
                      </m:r>
                      <m:r>
                        <a:rPr lang="zh-CN" altLang="en-US" sz="2000" i="1">
                          <a:solidFill>
                            <a:srgbClr val="000000"/>
                          </a:solidFill>
                          <a:latin typeface="Cambria Math" panose="02040503050406030204" pitchFamily="18" charset="0"/>
                        </a:rPr>
                        <m:t>𝑎</m:t>
                      </m:r>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𝑒</m:t>
                          </m:r>
                        </m:e>
                        <m:sup>
                          <m:r>
                            <a:rPr lang="zh-CN" altLang="en-US" sz="2000" i="1">
                              <a:solidFill>
                                <a:srgbClr val="000000"/>
                              </a:solidFill>
                              <a:latin typeface="Cambria Math" panose="02040503050406030204" pitchFamily="18" charset="0"/>
                            </a:rPr>
                            <m:t>𝑎𝑥</m:t>
                          </m:r>
                        </m:sup>
                      </m:sSup>
                      <m:r>
                        <a:rPr lang="zh-CN" altLang="en-US" sz="2000" i="1">
                          <a:solidFill>
                            <a:srgbClr val="000000"/>
                          </a:solidFill>
                          <a:latin typeface="Cambria Math" panose="02040503050406030204" pitchFamily="18" charset="0"/>
                        </a:rPr>
                        <m:t> </m:t>
                      </m:r>
                    </m:oMath>
                  </m:oMathPara>
                </a14:m>
                <a:endParaRPr lang="zh-CN" altLang="en-US" sz="2000" dirty="0"/>
              </a:p>
            </p:txBody>
          </p:sp>
        </mc:Choice>
        <mc:Fallback xmlns="">
          <p:sp>
            <p:nvSpPr>
              <p:cNvPr id="2" name="Object 4">
                <a:extLst>
                  <a:ext uri="{FF2B5EF4-FFF2-40B4-BE49-F238E27FC236}">
                    <a16:creationId xmlns:a16="http://schemas.microsoft.com/office/drawing/2014/main" id="{D14FC27C-DF30-FC7D-C9B2-6EE8D18B123B}"/>
                  </a:ext>
                </a:extLst>
              </p:cNvPr>
              <p:cNvSpPr txBox="1">
                <a:spLocks noRot="1" noChangeAspect="1" noMove="1" noResize="1" noEditPoints="1" noAdjustHandles="1" noChangeArrowheads="1" noChangeShapeType="1" noTextEdit="1"/>
              </p:cNvSpPr>
              <p:nvPr/>
            </p:nvSpPr>
            <p:spPr bwMode="auto">
              <a:xfrm>
                <a:off x="4829175" y="1049338"/>
                <a:ext cx="2104285" cy="806450"/>
              </a:xfrm>
              <a:prstGeom prst="rect">
                <a:avLst/>
              </a:prstGeom>
              <a:blipFill>
                <a:blip r:embed="rId4"/>
                <a:stretch>
                  <a:fillRect/>
                </a:stretch>
              </a:blipFill>
              <a:ln>
                <a:noFill/>
              </a:ln>
            </p:spPr>
            <p:txBody>
              <a:bodyPr/>
              <a:lstStyle/>
              <a:p>
                <a:r>
                  <a:rPr lang="zh-CN" altLang="en-US">
                    <a:noFill/>
                  </a:rPr>
                  <a:t> </a:t>
                </a:r>
              </a:p>
            </p:txBody>
          </p:sp>
        </mc:Fallback>
      </mc:AlternateContent>
      <p:sp>
        <p:nvSpPr>
          <p:cNvPr id="3" name="TextBox 8">
            <a:extLst>
              <a:ext uri="{FF2B5EF4-FFF2-40B4-BE49-F238E27FC236}">
                <a16:creationId xmlns:a16="http://schemas.microsoft.com/office/drawing/2014/main" id="{8D8DA4CD-7B13-7FD1-FA76-1CEEDC24BDC3}"/>
              </a:ext>
            </a:extLst>
          </p:cNvPr>
          <p:cNvSpPr txBox="1"/>
          <p:nvPr/>
        </p:nvSpPr>
        <p:spPr bwMode="auto">
          <a:xfrm>
            <a:off x="526653" y="1175597"/>
            <a:ext cx="4492625" cy="430213"/>
          </a:xfrm>
          <a:prstGeom prst="rect">
            <a:avLst/>
          </a:prstGeom>
          <a:noFill/>
          <a:ln>
            <a:noFill/>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For example, if </a:t>
            </a:r>
            <a:r>
              <a:rPr kumimoji="0" lang="en-US" sz="22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f</a:t>
            </a:r>
            <a:r>
              <a:rPr kumimoji="0" 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sz="2200" b="0" i="1"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x</a:t>
            </a:r>
            <a:r>
              <a:rPr kumimoji="0" lang="en-US" sz="22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sz="2200" b="0" i="1"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t</a:t>
            </a:r>
            <a:r>
              <a:rPr kumimoji="0" 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sz="2200" b="0" i="0" u="none" strike="noStrike" kern="1200" cap="none" spc="0" normalizeH="0" baseline="0" noProof="0" dirty="0">
                <a:ln>
                  <a:noFill/>
                </a:ln>
                <a:solidFill>
                  <a:srgbClr val="000000"/>
                </a:solidFill>
                <a:effectLst/>
                <a:uLnTx/>
                <a:uFillTx/>
                <a:latin typeface="Arial"/>
                <a:ea typeface="+mn-ea"/>
                <a:cs typeface="Times New Roman" panose="02020603050405020304" pitchFamily="18" charset="0"/>
              </a:rPr>
              <a:t> </a:t>
            </a:r>
            <a:r>
              <a:rPr kumimoji="0" 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sz="2200" b="0" i="1"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e</a:t>
            </a:r>
            <a:r>
              <a:rPr kumimoji="0" lang="en-US" sz="2200" b="0" i="1" u="none" strike="noStrike" kern="1200" cap="none" spc="0" normalizeH="0" baseline="3000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ax</a:t>
            </a:r>
            <a:r>
              <a:rPr kumimoji="0" 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en-US" sz="2200" b="0" i="1"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e</a:t>
            </a:r>
            <a:r>
              <a:rPr kumimoji="0" lang="en-US" sz="2200" b="0" i="1" u="none" strike="noStrike" kern="1200" cap="none" spc="0" normalizeH="0" baseline="3000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bt</a:t>
            </a:r>
            <a:r>
              <a:rPr kumimoji="0" lang="en-US" sz="2000" b="0" i="0" u="none" strike="noStrike" kern="1200" cap="none" spc="0" normalizeH="0" baseline="0" noProof="0" dirty="0">
                <a:ln>
                  <a:noFill/>
                </a:ln>
                <a:solidFill>
                  <a:srgbClr val="000000"/>
                </a:solidFill>
                <a:effectLst/>
                <a:uLnTx/>
                <a:uFillTx/>
                <a:latin typeface="Arial"/>
                <a:ea typeface="+mn-ea"/>
                <a:cs typeface="Times New Roman" panose="02020603050405020304" pitchFamily="18" charset="0"/>
              </a:rPr>
              <a:t>, then: </a:t>
            </a:r>
            <a:endParaRPr kumimoji="0" lang="en-US" sz="2000" b="0" i="0" u="none" strike="noStrike" kern="1200" cap="none" spc="0" normalizeH="0" baseline="3000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Object 4">
                <a:extLst>
                  <a:ext uri="{FF2B5EF4-FFF2-40B4-BE49-F238E27FC236}">
                    <a16:creationId xmlns:a16="http://schemas.microsoft.com/office/drawing/2014/main" id="{A59BCE04-4D6D-A98C-FD30-1F384020E812}"/>
                  </a:ext>
                </a:extLst>
              </p:cNvPr>
              <p:cNvSpPr txBox="1"/>
              <p:nvPr/>
            </p:nvSpPr>
            <p:spPr bwMode="auto">
              <a:xfrm>
                <a:off x="7166199" y="1056248"/>
                <a:ext cx="1901599" cy="80645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000" i="1">
                          <a:solidFill>
                            <a:srgbClr val="000000"/>
                          </a:solidFill>
                          <a:latin typeface="Cambria Math" panose="02040503050406030204" pitchFamily="18" charset="0"/>
                        </a:rPr>
                        <m:t> </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𝑓</m:t>
                          </m:r>
                        </m:num>
                        <m:den>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den>
                      </m:f>
                      <m:r>
                        <a:rPr lang="zh-CN" altLang="en-US" sz="2000" i="1">
                          <a:solidFill>
                            <a:srgbClr val="000000"/>
                          </a:solidFill>
                          <a:latin typeface="Cambria Math" panose="02040503050406030204" pitchFamily="18" charset="0"/>
                        </a:rPr>
                        <m:t>  =  </m:t>
                      </m:r>
                      <m:r>
                        <a:rPr lang="zh-CN" altLang="en-US" sz="2000" i="1">
                          <a:solidFill>
                            <a:srgbClr val="000000"/>
                          </a:solidFill>
                          <a:latin typeface="Cambria Math" panose="02040503050406030204" pitchFamily="18" charset="0"/>
                        </a:rPr>
                        <m:t>𝑏</m:t>
                      </m:r>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𝑒</m:t>
                          </m:r>
                        </m:e>
                        <m:sup>
                          <m:r>
                            <a:rPr lang="zh-CN" altLang="en-US" sz="2000" i="1">
                              <a:solidFill>
                                <a:srgbClr val="000000"/>
                              </a:solidFill>
                              <a:latin typeface="Cambria Math" panose="02040503050406030204" pitchFamily="18" charset="0"/>
                            </a:rPr>
                            <m:t>𝑏𝑡</m:t>
                          </m:r>
                        </m:sup>
                      </m:sSup>
                      <m:r>
                        <a:rPr lang="zh-CN" altLang="en-US" sz="2000" i="1">
                          <a:solidFill>
                            <a:srgbClr val="000000"/>
                          </a:solidFill>
                          <a:latin typeface="Cambria Math" panose="02040503050406030204" pitchFamily="18" charset="0"/>
                        </a:rPr>
                        <m:t> </m:t>
                      </m:r>
                    </m:oMath>
                  </m:oMathPara>
                </a14:m>
                <a:endParaRPr lang="zh-CN" altLang="en-US" sz="1400" dirty="0"/>
              </a:p>
            </p:txBody>
          </p:sp>
        </mc:Choice>
        <mc:Fallback xmlns="">
          <p:sp>
            <p:nvSpPr>
              <p:cNvPr id="4" name="Object 4">
                <a:extLst>
                  <a:ext uri="{FF2B5EF4-FFF2-40B4-BE49-F238E27FC236}">
                    <a16:creationId xmlns:a16="http://schemas.microsoft.com/office/drawing/2014/main" id="{A59BCE04-4D6D-A98C-FD30-1F384020E812}"/>
                  </a:ext>
                </a:extLst>
              </p:cNvPr>
              <p:cNvSpPr txBox="1">
                <a:spLocks noRot="1" noChangeAspect="1" noMove="1" noResize="1" noEditPoints="1" noAdjustHandles="1" noChangeArrowheads="1" noChangeShapeType="1" noTextEdit="1"/>
              </p:cNvSpPr>
              <p:nvPr/>
            </p:nvSpPr>
            <p:spPr bwMode="auto">
              <a:xfrm>
                <a:off x="7166199" y="1056248"/>
                <a:ext cx="1901599" cy="806450"/>
              </a:xfrm>
              <a:prstGeom prst="rect">
                <a:avLst/>
              </a:prstGeom>
              <a:blipFill>
                <a:blip r:embed="rId5"/>
                <a:stretch>
                  <a:fillRect/>
                </a:stretch>
              </a:blipFill>
              <a:ln>
                <a:noFill/>
              </a:ln>
            </p:spPr>
            <p:txBody>
              <a:bodyPr/>
              <a:lstStyle/>
              <a:p>
                <a:r>
                  <a:rPr lang="zh-CN" altLang="en-US">
                    <a:noFill/>
                  </a:rPr>
                  <a:t> </a:t>
                </a:r>
              </a:p>
            </p:txBody>
          </p:sp>
        </mc:Fallback>
      </mc:AlternateContent>
      <p:sp>
        <p:nvSpPr>
          <p:cNvPr id="9" name="Rectangle 13">
            <a:extLst>
              <a:ext uri="{FF2B5EF4-FFF2-40B4-BE49-F238E27FC236}">
                <a16:creationId xmlns:a16="http://schemas.microsoft.com/office/drawing/2014/main" id="{531B7006-6B49-8DA0-7821-A9F1F5F77292}"/>
              </a:ext>
            </a:extLst>
          </p:cNvPr>
          <p:cNvSpPr>
            <a:spLocks noChangeArrowheads="1"/>
          </p:cNvSpPr>
          <p:nvPr/>
        </p:nvSpPr>
        <p:spPr bwMode="auto">
          <a:xfrm>
            <a:off x="6627072" y="1205760"/>
            <a:ext cx="612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Times New Roman" panose="02020603050405020304" pitchFamily="18" charset="0"/>
              </a:rPr>
              <a:t>and</a:t>
            </a:r>
            <a:endParaRPr kumimoji="0" lang="en-US"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82667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2599E-EBF4-E323-8CEA-77B5D4C94F7B}"/>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261ED4C6-92E3-E7DE-4F13-8910B981870F}"/>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General wave equation</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10" name="图片 9">
            <a:extLst>
              <a:ext uri="{FF2B5EF4-FFF2-40B4-BE49-F238E27FC236}">
                <a16:creationId xmlns:a16="http://schemas.microsoft.com/office/drawing/2014/main" id="{6FA69CE6-E6C0-C8D4-A88A-F17BB63A78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3899" y="840423"/>
            <a:ext cx="4874986" cy="999547"/>
          </a:xfrm>
          <a:prstGeom prst="rect">
            <a:avLst/>
          </a:prstGeom>
        </p:spPr>
      </p:pic>
      <p:sp>
        <p:nvSpPr>
          <p:cNvPr id="11" name="Text Box 20">
            <a:extLst>
              <a:ext uri="{FF2B5EF4-FFF2-40B4-BE49-F238E27FC236}">
                <a16:creationId xmlns:a16="http://schemas.microsoft.com/office/drawing/2014/main" id="{F6622F6D-F0AF-140C-08BF-677C94B07843}"/>
              </a:ext>
            </a:extLst>
          </p:cNvPr>
          <p:cNvSpPr txBox="1">
            <a:spLocks noChangeArrowheads="1"/>
          </p:cNvSpPr>
          <p:nvPr/>
        </p:nvSpPr>
        <p:spPr bwMode="auto">
          <a:xfrm>
            <a:off x="4742513" y="1804976"/>
            <a:ext cx="492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400" b="0" i="1" u="none" strike="noStrike" kern="1200" cap="none" spc="0" normalizeH="0" baseline="0" noProof="0" dirty="0">
                <a:ln>
                  <a:noFill/>
                </a:ln>
                <a:solidFill>
                  <a:srgbClr val="000000"/>
                </a:solidFill>
                <a:effectLst/>
                <a:uLnTx/>
                <a:uFillTx/>
                <a:latin typeface="+mn-lt"/>
                <a:ea typeface="+mn-ea"/>
                <a:cs typeface="+mn-cs"/>
              </a:rPr>
              <a:t>x</a:t>
            </a:r>
          </a:p>
        </p:txBody>
      </p:sp>
      <p:sp>
        <p:nvSpPr>
          <p:cNvPr id="12" name="Text Box 22">
            <a:extLst>
              <a:ext uri="{FF2B5EF4-FFF2-40B4-BE49-F238E27FC236}">
                <a16:creationId xmlns:a16="http://schemas.microsoft.com/office/drawing/2014/main" id="{CCD3D76A-3CB2-E1F6-6DA1-08200079CA60}"/>
              </a:ext>
            </a:extLst>
          </p:cNvPr>
          <p:cNvSpPr txBox="1">
            <a:spLocks noChangeArrowheads="1"/>
          </p:cNvSpPr>
          <p:nvPr/>
        </p:nvSpPr>
        <p:spPr bwMode="auto">
          <a:xfrm>
            <a:off x="1970998" y="1057599"/>
            <a:ext cx="492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400" b="0" i="1" u="none" strike="noStrike" kern="1200" cap="none" spc="0" normalizeH="0" baseline="0" noProof="0" dirty="0">
                <a:ln>
                  <a:noFill/>
                </a:ln>
                <a:solidFill>
                  <a:srgbClr val="000000"/>
                </a:solidFill>
                <a:effectLst/>
                <a:uLnTx/>
                <a:uFillTx/>
                <a:latin typeface="+mn-lt"/>
                <a:ea typeface="+mn-ea"/>
                <a:cs typeface="+mn-cs"/>
              </a:rPr>
              <a:t>f</a:t>
            </a:r>
          </a:p>
        </p:txBody>
      </p:sp>
      <p:cxnSp>
        <p:nvCxnSpPr>
          <p:cNvPr id="14" name="直接箭头连接符 13">
            <a:extLst>
              <a:ext uri="{FF2B5EF4-FFF2-40B4-BE49-F238E27FC236}">
                <a16:creationId xmlns:a16="http://schemas.microsoft.com/office/drawing/2014/main" id="{DEDA0DA7-6290-7F54-7CB6-9E041EB5FF3D}"/>
              </a:ext>
            </a:extLst>
          </p:cNvPr>
          <p:cNvCxnSpPr/>
          <p:nvPr/>
        </p:nvCxnSpPr>
        <p:spPr>
          <a:xfrm>
            <a:off x="2859285" y="1778457"/>
            <a:ext cx="44196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F16378F8-8BFC-2A43-3EEF-6B8385F3AF4B}"/>
              </a:ext>
            </a:extLst>
          </p:cNvPr>
          <p:cNvCxnSpPr>
            <a:cxnSpLocks/>
          </p:cNvCxnSpPr>
          <p:nvPr/>
        </p:nvCxnSpPr>
        <p:spPr>
          <a:xfrm flipV="1">
            <a:off x="2331328" y="840423"/>
            <a:ext cx="0" cy="8960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 Box 17">
            <a:extLst>
              <a:ext uri="{FF2B5EF4-FFF2-40B4-BE49-F238E27FC236}">
                <a16:creationId xmlns:a16="http://schemas.microsoft.com/office/drawing/2014/main" id="{9A947DFC-18B1-06F2-63D3-DDA8424E5068}"/>
              </a:ext>
            </a:extLst>
          </p:cNvPr>
          <p:cNvSpPr txBox="1">
            <a:spLocks noChangeArrowheads="1"/>
          </p:cNvSpPr>
          <p:nvPr/>
        </p:nvSpPr>
        <p:spPr bwMode="auto">
          <a:xfrm>
            <a:off x="438149" y="2195925"/>
            <a:ext cx="697374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 guitar string wants to be straight; the restoring force is proportional to how much it’s stretched </a:t>
            </a:r>
            <a:r>
              <a:rPr kumimoji="0" lang="en-US" altLang="zh-CN"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or </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curvature: </a:t>
            </a:r>
          </a:p>
        </p:txBody>
      </p:sp>
      <mc:AlternateContent xmlns:mc="http://schemas.openxmlformats.org/markup-compatibility/2006" xmlns:a14="http://schemas.microsoft.com/office/drawing/2010/main">
        <mc:Choice Requires="a14">
          <p:sp>
            <p:nvSpPr>
              <p:cNvPr id="19" name="Object 15">
                <a:extLst>
                  <a:ext uri="{FF2B5EF4-FFF2-40B4-BE49-F238E27FC236}">
                    <a16:creationId xmlns:a16="http://schemas.microsoft.com/office/drawing/2014/main" id="{44443162-6F55-BBF8-DD5A-0FDD32428774}"/>
                  </a:ext>
                </a:extLst>
              </p:cNvPr>
              <p:cNvSpPr txBox="1"/>
              <p:nvPr/>
            </p:nvSpPr>
            <p:spPr bwMode="auto">
              <a:xfrm>
                <a:off x="7091525" y="2104622"/>
                <a:ext cx="1627931" cy="89512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altLang="zh-CN" sz="2000" b="0" i="1" smtClean="0">
                          <a:solidFill>
                            <a:srgbClr val="000000"/>
                          </a:solidFill>
                          <a:latin typeface="Cambria Math" panose="02040503050406030204" pitchFamily="18" charset="0"/>
                        </a:rPr>
                        <m:t>𝐹</m:t>
                      </m:r>
                      <m:r>
                        <a:rPr lang="en-US" altLang="zh-CN" sz="2000" b="0" i="1" smtClean="0">
                          <a:solidFill>
                            <a:srgbClr val="000000"/>
                          </a:solidFill>
                          <a:latin typeface="Cambria Math" panose="02040503050406030204" pitchFamily="18" charset="0"/>
                        </a:rPr>
                        <m:t>=</m:t>
                      </m:r>
                      <m:r>
                        <a:rPr lang="zh-CN" altLang="en-US" sz="2000" b="0" i="1">
                          <a:solidFill>
                            <a:srgbClr val="000000"/>
                          </a:solidFill>
                          <a:latin typeface="Cambria Math" panose="02040503050406030204" pitchFamily="18" charset="0"/>
                        </a:rPr>
                        <m:t>𝛾</m:t>
                      </m:r>
                      <m:r>
                        <a:rPr lang="zh-CN" altLang="en-US" sz="2000" b="0" i="1">
                          <a:solidFill>
                            <a:srgbClr val="000000"/>
                          </a:solidFill>
                          <a:latin typeface="Cambria Math" panose="02040503050406030204" pitchFamily="18" charset="0"/>
                        </a:rPr>
                        <m:t> </m:t>
                      </m:r>
                      <m:f>
                        <m:fPr>
                          <m:ctrlPr>
                            <a:rPr lang="zh-CN" altLang="en-US" sz="2000" i="1">
                              <a:solidFill>
                                <a:srgbClr val="000000"/>
                              </a:solidFill>
                              <a:latin typeface="Cambria Math" panose="02040503050406030204" pitchFamily="18" charset="0"/>
                            </a:rPr>
                          </m:ctrlPr>
                        </m:fPr>
                        <m:num>
                          <m:sSup>
                            <m:sSupPr>
                              <m:ctrlPr>
                                <a:rPr lang="zh-CN" altLang="en-US" sz="2000" i="1">
                                  <a:solidFill>
                                    <a:srgbClr val="000000"/>
                                  </a:solidFill>
                                  <a:latin typeface="Cambria Math" panose="02040503050406030204" pitchFamily="18" charset="0"/>
                                </a:rPr>
                              </m:ctrlPr>
                            </m:sSupPr>
                            <m:e>
                              <m:r>
                                <a:rPr lang="zh-CN" altLang="en-US" sz="2000" b="0" i="1">
                                  <a:solidFill>
                                    <a:srgbClr val="000000"/>
                                  </a:solidFill>
                                  <a:latin typeface="Cambria Math" panose="02040503050406030204" pitchFamily="18" charset="0"/>
                                </a:rPr>
                                <m:t>𝜕</m:t>
                              </m:r>
                            </m:e>
                            <m:sup>
                              <m:r>
                                <a:rPr lang="zh-CN" altLang="en-US" sz="2000" b="0" i="1">
                                  <a:solidFill>
                                    <a:srgbClr val="000000"/>
                                  </a:solidFill>
                                  <a:latin typeface="Cambria Math" panose="02040503050406030204" pitchFamily="18" charset="0"/>
                                </a:rPr>
                                <m:t>2</m:t>
                              </m:r>
                            </m:sup>
                          </m:sSup>
                          <m:r>
                            <a:rPr lang="zh-CN" altLang="en-US" sz="2000" b="0" i="1">
                              <a:solidFill>
                                <a:srgbClr val="000000"/>
                              </a:solidFill>
                              <a:latin typeface="Cambria Math" panose="02040503050406030204" pitchFamily="18" charset="0"/>
                            </a:rPr>
                            <m:t>𝑓</m:t>
                          </m:r>
                        </m:num>
                        <m:den>
                          <m:r>
                            <a:rPr lang="zh-CN" altLang="en-US" sz="2000" b="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b="0" i="1">
                                  <a:solidFill>
                                    <a:srgbClr val="000000"/>
                                  </a:solidFill>
                                  <a:latin typeface="Cambria Math" panose="02040503050406030204" pitchFamily="18" charset="0"/>
                                </a:rPr>
                                <m:t>𝑥</m:t>
                              </m:r>
                            </m:e>
                            <m:sup>
                              <m:r>
                                <a:rPr lang="zh-CN" altLang="en-US" sz="2000" b="0" i="1">
                                  <a:solidFill>
                                    <a:srgbClr val="000000"/>
                                  </a:solidFill>
                                  <a:latin typeface="Cambria Math" panose="02040503050406030204" pitchFamily="18" charset="0"/>
                                </a:rPr>
                                <m:t>2</m:t>
                              </m:r>
                            </m:sup>
                          </m:sSup>
                        </m:den>
                      </m:f>
                    </m:oMath>
                  </m:oMathPara>
                </a14:m>
                <a:endParaRPr lang="zh-CN" altLang="en-US" sz="2000" dirty="0"/>
              </a:p>
            </p:txBody>
          </p:sp>
        </mc:Choice>
        <mc:Fallback xmlns="">
          <p:sp>
            <p:nvSpPr>
              <p:cNvPr id="19" name="Object 15">
                <a:extLst>
                  <a:ext uri="{FF2B5EF4-FFF2-40B4-BE49-F238E27FC236}">
                    <a16:creationId xmlns:a16="http://schemas.microsoft.com/office/drawing/2014/main" id="{44443162-6F55-BBF8-DD5A-0FDD32428774}"/>
                  </a:ext>
                </a:extLst>
              </p:cNvPr>
              <p:cNvSpPr txBox="1">
                <a:spLocks noRot="1" noChangeAspect="1" noMove="1" noResize="1" noEditPoints="1" noAdjustHandles="1" noChangeArrowheads="1" noChangeShapeType="1" noTextEdit="1"/>
              </p:cNvSpPr>
              <p:nvPr/>
            </p:nvSpPr>
            <p:spPr bwMode="auto">
              <a:xfrm>
                <a:off x="7091525" y="2104622"/>
                <a:ext cx="1627931" cy="895123"/>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22" name="Text Box 24">
            <a:extLst>
              <a:ext uri="{FF2B5EF4-FFF2-40B4-BE49-F238E27FC236}">
                <a16:creationId xmlns:a16="http://schemas.microsoft.com/office/drawing/2014/main" id="{79AE7C03-42B9-DC58-6456-0D12C5DF50DA}"/>
              </a:ext>
            </a:extLst>
          </p:cNvPr>
          <p:cNvSpPr txBox="1">
            <a:spLocks noChangeArrowheads="1"/>
          </p:cNvSpPr>
          <p:nvPr/>
        </p:nvSpPr>
        <p:spPr bwMode="auto">
          <a:xfrm>
            <a:off x="438149" y="3740156"/>
            <a:ext cx="65532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But Newton’s 2</a:t>
            </a:r>
            <a:r>
              <a:rPr kumimoji="0" lang="en-US" altLang="en-US" sz="20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nd</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Law (</a:t>
            </a:r>
            <a:r>
              <a:rPr kumimoji="0" lang="en-US" altLang="en-US" sz="22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Arial" panose="020B0604020202020204" pitchFamily="34" charset="0"/>
              </a:rPr>
              <a:t>F = ma</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says that this equals: </a:t>
            </a:r>
            <a:endParaRPr kumimoji="0" lang="en-US" altLang="en-US" sz="24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mc:AlternateContent xmlns:mc="http://schemas.openxmlformats.org/markup-compatibility/2006" xmlns:a14="http://schemas.microsoft.com/office/drawing/2010/main">
        <mc:Choice Requires="a14">
          <p:sp>
            <p:nvSpPr>
              <p:cNvPr id="23" name="Object 25">
                <a:extLst>
                  <a:ext uri="{FF2B5EF4-FFF2-40B4-BE49-F238E27FC236}">
                    <a16:creationId xmlns:a16="http://schemas.microsoft.com/office/drawing/2014/main" id="{C98FDF12-7886-CF0A-C771-52AEDA57D566}"/>
                  </a:ext>
                </a:extLst>
              </p:cNvPr>
              <p:cNvSpPr txBox="1"/>
              <p:nvPr/>
            </p:nvSpPr>
            <p:spPr bwMode="auto">
              <a:xfrm>
                <a:off x="6891565" y="3545231"/>
                <a:ext cx="1426322" cy="820738"/>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en-US" altLang="zh-CN" sz="2000" i="1" smtClean="0">
                          <a:solidFill>
                            <a:srgbClr val="000000"/>
                          </a:solidFill>
                          <a:latin typeface="Cambria Math" panose="02040503050406030204" pitchFamily="18" charset="0"/>
                        </a:rPr>
                        <m:t>𝐹</m:t>
                      </m:r>
                      <m:r>
                        <a:rPr lang="en-US" altLang="zh-CN" sz="2000" b="0" i="1" smtClean="0">
                          <a:solidFill>
                            <a:srgbClr val="000000"/>
                          </a:solidFill>
                          <a:latin typeface="Cambria Math" panose="02040503050406030204" pitchFamily="18" charset="0"/>
                        </a:rPr>
                        <m:t>=</m:t>
                      </m:r>
                      <m:r>
                        <a:rPr lang="zh-CN" altLang="en-US" sz="2000" b="0" i="1">
                          <a:solidFill>
                            <a:srgbClr val="000000"/>
                          </a:solidFill>
                          <a:latin typeface="Cambria Math" panose="02040503050406030204" pitchFamily="18" charset="0"/>
                        </a:rPr>
                        <m:t>𝑚</m:t>
                      </m:r>
                      <m:f>
                        <m:fPr>
                          <m:ctrlPr>
                            <a:rPr lang="zh-CN" altLang="en-US" sz="2000" i="1">
                              <a:solidFill>
                                <a:srgbClr val="000000"/>
                              </a:solidFill>
                              <a:latin typeface="Cambria Math" panose="02040503050406030204" pitchFamily="18" charset="0"/>
                            </a:rPr>
                          </m:ctrlPr>
                        </m:fPr>
                        <m:num>
                          <m:sSup>
                            <m:sSupPr>
                              <m:ctrlPr>
                                <a:rPr lang="zh-CN" altLang="en-US" sz="2000" i="1">
                                  <a:solidFill>
                                    <a:srgbClr val="000000"/>
                                  </a:solidFill>
                                  <a:latin typeface="Cambria Math" panose="02040503050406030204" pitchFamily="18" charset="0"/>
                                </a:rPr>
                              </m:ctrlPr>
                            </m:sSupPr>
                            <m:e>
                              <m:r>
                                <a:rPr lang="zh-CN" altLang="en-US" sz="2000" b="0" i="1">
                                  <a:solidFill>
                                    <a:srgbClr val="000000"/>
                                  </a:solidFill>
                                  <a:latin typeface="Cambria Math" panose="02040503050406030204" pitchFamily="18" charset="0"/>
                                </a:rPr>
                                <m:t>𝜕</m:t>
                              </m:r>
                            </m:e>
                            <m:sup>
                              <m:r>
                                <a:rPr lang="zh-CN" altLang="en-US" sz="2000" b="0" i="1">
                                  <a:solidFill>
                                    <a:srgbClr val="000000"/>
                                  </a:solidFill>
                                  <a:latin typeface="Cambria Math" panose="02040503050406030204" pitchFamily="18" charset="0"/>
                                </a:rPr>
                                <m:t>2</m:t>
                              </m:r>
                            </m:sup>
                          </m:sSup>
                          <m:r>
                            <a:rPr lang="zh-CN" altLang="en-US" sz="2000" b="0" i="1">
                              <a:solidFill>
                                <a:srgbClr val="000000"/>
                              </a:solidFill>
                              <a:latin typeface="Cambria Math" panose="02040503050406030204" pitchFamily="18" charset="0"/>
                            </a:rPr>
                            <m:t>𝑓</m:t>
                          </m:r>
                        </m:num>
                        <m:den>
                          <m:r>
                            <a:rPr lang="zh-CN" altLang="en-US" sz="2000" b="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b="0" i="1">
                                  <a:solidFill>
                                    <a:srgbClr val="000000"/>
                                  </a:solidFill>
                                  <a:latin typeface="Cambria Math" panose="02040503050406030204" pitchFamily="18" charset="0"/>
                                </a:rPr>
                                <m:t>𝑡</m:t>
                              </m:r>
                            </m:e>
                            <m:sup>
                              <m:r>
                                <a:rPr lang="zh-CN" altLang="en-US" sz="2000" b="0" i="1">
                                  <a:solidFill>
                                    <a:srgbClr val="000000"/>
                                  </a:solidFill>
                                  <a:latin typeface="Cambria Math" panose="02040503050406030204" pitchFamily="18" charset="0"/>
                                </a:rPr>
                                <m:t>2</m:t>
                              </m:r>
                            </m:sup>
                          </m:sSup>
                        </m:den>
                      </m:f>
                      <m:r>
                        <a:rPr lang="zh-CN" altLang="en-US" sz="2000" b="0" i="1">
                          <a:solidFill>
                            <a:srgbClr val="000000"/>
                          </a:solidFill>
                          <a:latin typeface="Cambria Math" panose="02040503050406030204" pitchFamily="18" charset="0"/>
                        </a:rPr>
                        <m:t> </m:t>
                      </m:r>
                    </m:oMath>
                  </m:oMathPara>
                </a14:m>
                <a:endParaRPr lang="zh-CN" altLang="en-US" sz="2000" dirty="0"/>
              </a:p>
            </p:txBody>
          </p:sp>
        </mc:Choice>
        <mc:Fallback xmlns="">
          <p:sp>
            <p:nvSpPr>
              <p:cNvPr id="23" name="Object 25">
                <a:extLst>
                  <a:ext uri="{FF2B5EF4-FFF2-40B4-BE49-F238E27FC236}">
                    <a16:creationId xmlns:a16="http://schemas.microsoft.com/office/drawing/2014/main" id="{C98FDF12-7886-CF0A-C771-52AEDA57D566}"/>
                  </a:ext>
                </a:extLst>
              </p:cNvPr>
              <p:cNvSpPr txBox="1">
                <a:spLocks noRot="1" noChangeAspect="1" noMove="1" noResize="1" noEditPoints="1" noAdjustHandles="1" noChangeArrowheads="1" noChangeShapeType="1" noTextEdit="1"/>
              </p:cNvSpPr>
              <p:nvPr/>
            </p:nvSpPr>
            <p:spPr bwMode="auto">
              <a:xfrm>
                <a:off x="6891565" y="3545231"/>
                <a:ext cx="1426322" cy="820738"/>
              </a:xfrm>
              <a:prstGeom prst="rect">
                <a:avLst/>
              </a:prstGeom>
              <a:blipFill>
                <a:blip r:embed="rId5"/>
                <a:stretch>
                  <a:fillRect/>
                </a:stretch>
              </a:blipFill>
              <a:ln>
                <a:noFill/>
              </a:ln>
              <a:effectLst/>
            </p:spPr>
            <p:txBody>
              <a:bodyPr/>
              <a:lstStyle/>
              <a:p>
                <a:r>
                  <a:rPr lang="zh-CN" altLang="en-US">
                    <a:noFill/>
                  </a:rPr>
                  <a:t> </a:t>
                </a:r>
              </a:p>
            </p:txBody>
          </p:sp>
        </mc:Fallback>
      </mc:AlternateContent>
      <p:sp>
        <p:nvSpPr>
          <p:cNvPr id="29" name="文本框 28">
            <a:extLst>
              <a:ext uri="{FF2B5EF4-FFF2-40B4-BE49-F238E27FC236}">
                <a16:creationId xmlns:a16="http://schemas.microsoft.com/office/drawing/2014/main" id="{5326FEB4-1AC7-9C7D-A830-1647F3D03E73}"/>
              </a:ext>
            </a:extLst>
          </p:cNvPr>
          <p:cNvSpPr txBox="1"/>
          <p:nvPr/>
        </p:nvSpPr>
        <p:spPr>
          <a:xfrm>
            <a:off x="438149" y="2911054"/>
            <a:ext cx="7826827" cy="707886"/>
          </a:xfrm>
          <a:prstGeom prst="rect">
            <a:avLst/>
          </a:prstGeom>
          <a:noFill/>
        </p:spPr>
        <p:txBody>
          <a:bodyPr wrap="square">
            <a:spAutoFit/>
          </a:bodyPr>
          <a:lstStyle/>
          <a:p>
            <a:r>
              <a:rPr lang="en-US" altLang="zh-CN" sz="2000" dirty="0"/>
              <a:t>where </a:t>
            </a:r>
            <a:r>
              <a:rPr lang="en-US" altLang="en-US" sz="2000" dirty="0">
                <a:latin typeface="Times New Roman" panose="02020603050405020304" pitchFamily="18" charset="0"/>
                <a:cs typeface="Times New Roman" panose="02020603050405020304" pitchFamily="18" charset="0"/>
              </a:rPr>
              <a:t>γ</a:t>
            </a:r>
            <a:r>
              <a:rPr lang="en-US" altLang="en-US" sz="2000" dirty="0"/>
              <a:t> is constant </a:t>
            </a:r>
            <a:r>
              <a:rPr lang="zh-CN" altLang="en-US" sz="2000" dirty="0"/>
              <a:t>张力</a:t>
            </a:r>
            <a:r>
              <a:rPr lang="en-US" altLang="en-US" sz="2000" dirty="0"/>
              <a:t>, </a:t>
            </a:r>
            <a:r>
              <a:rPr lang="en-US" altLang="zh-CN" sz="2000" dirty="0"/>
              <a:t> </a:t>
            </a:r>
            <a:r>
              <a:rPr lang="en-US" altLang="zh-CN" sz="2000" i="1" dirty="0"/>
              <a:t>f(</a:t>
            </a:r>
            <a:r>
              <a:rPr lang="en-US" altLang="zh-CN" sz="2000" i="1" dirty="0" err="1"/>
              <a:t>x,t</a:t>
            </a:r>
            <a:r>
              <a:rPr lang="en-US" altLang="zh-CN" sz="2000" i="1" dirty="0"/>
              <a:t>)</a:t>
            </a:r>
            <a:r>
              <a:rPr lang="en-US" altLang="zh-CN" sz="2000" dirty="0"/>
              <a:t> is the displacement </a:t>
            </a:r>
            <a:r>
              <a:rPr lang="zh-CN" altLang="en-US" sz="2000" dirty="0"/>
              <a:t>（弦中横向位移）</a:t>
            </a:r>
            <a:r>
              <a:rPr lang="en-US" altLang="zh-CN" sz="2000" dirty="0"/>
              <a:t>from straight at the point </a:t>
            </a:r>
            <a:r>
              <a:rPr lang="en-US" altLang="zh-CN" sz="2000" i="1" dirty="0"/>
              <a:t>x</a:t>
            </a:r>
            <a:r>
              <a:rPr lang="en-US" altLang="zh-CN" sz="2000" dirty="0"/>
              <a:t> at time </a:t>
            </a:r>
            <a:r>
              <a:rPr lang="en-US" altLang="zh-CN" sz="2000" i="1" dirty="0"/>
              <a:t>t</a:t>
            </a:r>
            <a:r>
              <a:rPr lang="en-US" altLang="zh-CN" sz="2000" dirty="0"/>
              <a:t>. f</a:t>
            </a:r>
            <a:endParaRPr lang="zh-CN" altLang="en-US" sz="2000" dirty="0"/>
          </a:p>
        </p:txBody>
      </p:sp>
      <mc:AlternateContent xmlns:mc="http://schemas.openxmlformats.org/markup-compatibility/2006" xmlns:a14="http://schemas.microsoft.com/office/drawing/2010/main">
        <mc:Choice Requires="a14">
          <p:sp>
            <p:nvSpPr>
              <p:cNvPr id="30" name="Object 4">
                <a:extLst>
                  <a:ext uri="{FF2B5EF4-FFF2-40B4-BE49-F238E27FC236}">
                    <a16:creationId xmlns:a16="http://schemas.microsoft.com/office/drawing/2014/main" id="{9B4FBCFC-3C40-6365-C60A-67AD784A047D}"/>
                  </a:ext>
                </a:extLst>
              </p:cNvPr>
              <p:cNvSpPr txBox="1"/>
              <p:nvPr/>
            </p:nvSpPr>
            <p:spPr bwMode="auto">
              <a:xfrm>
                <a:off x="2982913" y="4487863"/>
                <a:ext cx="3058658" cy="830262"/>
              </a:xfrm>
              <a:prstGeom prst="rect">
                <a:avLst/>
              </a:prstGeom>
              <a:solidFill>
                <a:schemeClr val="bg1"/>
              </a:solidFill>
              <a:ln w="38100">
                <a:solidFill>
                  <a:srgbClr val="C00000"/>
                </a:solid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000" i="1">
                          <a:solidFill>
                            <a:srgbClr val="000000"/>
                          </a:solidFill>
                          <a:latin typeface="Cambria Math" panose="02040503050406030204" pitchFamily="18" charset="0"/>
                        </a:rPr>
                        <m:t> </m:t>
                      </m:r>
                      <m:f>
                        <m:fPr>
                          <m:ctrlPr>
                            <a:rPr lang="zh-CN" altLang="en-US" sz="2000" i="1">
                              <a:solidFill>
                                <a:srgbClr val="000000"/>
                              </a:solidFill>
                              <a:latin typeface="Cambria Math" panose="02040503050406030204" pitchFamily="18" charset="0"/>
                            </a:rPr>
                          </m:ctrlPr>
                        </m:fPr>
                        <m:num>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r>
                            <a:rPr lang="zh-CN" altLang="en-US" sz="2000" i="1">
                              <a:solidFill>
                                <a:srgbClr val="000000"/>
                              </a:solidFill>
                              <a:latin typeface="Cambria Math" panose="02040503050406030204" pitchFamily="18" charset="0"/>
                            </a:rPr>
                            <m:t>𝑓</m:t>
                          </m:r>
                        </m:num>
                        <m:den>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𝑥</m:t>
                              </m:r>
                            </m:e>
                            <m:sup>
                              <m:r>
                                <a:rPr lang="zh-CN" altLang="en-US" sz="2000" i="1">
                                  <a:solidFill>
                                    <a:srgbClr val="000000"/>
                                  </a:solidFill>
                                  <a:latin typeface="Cambria Math" panose="02040503050406030204" pitchFamily="18" charset="0"/>
                                </a:rPr>
                                <m:t>2</m:t>
                              </m:r>
                            </m:sup>
                          </m:sSup>
                        </m:den>
                      </m:f>
                      <m:r>
                        <a:rPr lang="zh-CN" altLang="en-US" sz="2000" i="1">
                          <a:solidFill>
                            <a:srgbClr val="000000"/>
                          </a:solidFill>
                          <a:latin typeface="Cambria Math" panose="02040503050406030204" pitchFamily="18" charset="0"/>
                        </a:rPr>
                        <m:t>  −  </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1</m:t>
                          </m:r>
                        </m:num>
                        <m:den>
                          <m:sSup>
                            <m:sSupPr>
                              <m:ctrlPr>
                                <a:rPr lang="zh-CN" altLang="en-US" sz="2000" i="1">
                                  <a:solidFill>
                                    <a:srgbClr val="000000"/>
                                  </a:solidFill>
                                  <a:latin typeface="Cambria Math" panose="02040503050406030204" pitchFamily="18" charset="0"/>
                                </a:rPr>
                              </m:ctrlPr>
                            </m:sSupPr>
                            <m:e>
                              <m:r>
                                <m:rPr>
                                  <m:sty m:val="p"/>
                                </m:rPr>
                                <a:rPr lang="zh-CN" altLang="en-US" sz="2000" i="1">
                                  <a:solidFill>
                                    <a:srgbClr val="000000"/>
                                  </a:solidFill>
                                  <a:latin typeface="Cambria Math" panose="02040503050406030204" pitchFamily="18" charset="0"/>
                                </a:rPr>
                                <m:t>v</m:t>
                              </m:r>
                            </m:e>
                            <m:sup>
                              <m:r>
                                <a:rPr lang="zh-CN" altLang="en-US" sz="2000" i="1">
                                  <a:solidFill>
                                    <a:srgbClr val="000000"/>
                                  </a:solidFill>
                                  <a:latin typeface="Cambria Math" panose="02040503050406030204" pitchFamily="18" charset="0"/>
                                </a:rPr>
                                <m:t>2</m:t>
                              </m:r>
                            </m:sup>
                          </m:sSup>
                        </m:den>
                      </m:f>
                      <m:f>
                        <m:fPr>
                          <m:ctrlPr>
                            <a:rPr lang="zh-CN" altLang="en-US" sz="2000" i="1">
                              <a:solidFill>
                                <a:srgbClr val="000000"/>
                              </a:solidFill>
                              <a:latin typeface="Cambria Math" panose="02040503050406030204" pitchFamily="18" charset="0"/>
                            </a:rPr>
                          </m:ctrlPr>
                        </m:fPr>
                        <m:num>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r>
                            <a:rPr lang="zh-CN" altLang="en-US" sz="2000" i="1">
                              <a:solidFill>
                                <a:srgbClr val="000000"/>
                              </a:solidFill>
                              <a:latin typeface="Cambria Math" panose="02040503050406030204" pitchFamily="18" charset="0"/>
                            </a:rPr>
                            <m:t>𝑓</m:t>
                          </m:r>
                        </m:num>
                        <m:den>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𝑡</m:t>
                              </m:r>
                            </m:e>
                            <m:sup>
                              <m:r>
                                <a:rPr lang="zh-CN" altLang="en-US" sz="2000" i="1">
                                  <a:solidFill>
                                    <a:srgbClr val="000000"/>
                                  </a:solidFill>
                                  <a:latin typeface="Cambria Math" panose="02040503050406030204" pitchFamily="18" charset="0"/>
                                </a:rPr>
                                <m:t>2</m:t>
                              </m:r>
                            </m:sup>
                          </m:sSup>
                        </m:den>
                      </m:f>
                      <m:r>
                        <a:rPr lang="zh-CN" altLang="en-US" sz="2000" i="1">
                          <a:solidFill>
                            <a:srgbClr val="000000"/>
                          </a:solidFill>
                          <a:latin typeface="Cambria Math" panose="02040503050406030204" pitchFamily="18" charset="0"/>
                        </a:rPr>
                        <m:t>  =  0 </m:t>
                      </m:r>
                    </m:oMath>
                  </m:oMathPara>
                </a14:m>
                <a:endParaRPr lang="zh-CN" altLang="en-US" sz="2000" dirty="0"/>
              </a:p>
            </p:txBody>
          </p:sp>
        </mc:Choice>
        <mc:Fallback xmlns="">
          <p:sp>
            <p:nvSpPr>
              <p:cNvPr id="30" name="Object 4">
                <a:extLst>
                  <a:ext uri="{FF2B5EF4-FFF2-40B4-BE49-F238E27FC236}">
                    <a16:creationId xmlns:a16="http://schemas.microsoft.com/office/drawing/2014/main" id="{9B4FBCFC-3C40-6365-C60A-67AD784A047D}"/>
                  </a:ext>
                </a:extLst>
              </p:cNvPr>
              <p:cNvSpPr txBox="1">
                <a:spLocks noRot="1" noChangeAspect="1" noMove="1" noResize="1" noEditPoints="1" noAdjustHandles="1" noChangeArrowheads="1" noChangeShapeType="1" noTextEdit="1"/>
              </p:cNvSpPr>
              <p:nvPr/>
            </p:nvSpPr>
            <p:spPr bwMode="auto">
              <a:xfrm>
                <a:off x="2982913" y="4487863"/>
                <a:ext cx="3058658" cy="830262"/>
              </a:xfrm>
              <a:prstGeom prst="rect">
                <a:avLst/>
              </a:prstGeom>
              <a:blipFill>
                <a:blip r:embed="rId7"/>
                <a:stretch>
                  <a:fillRect/>
                </a:stretch>
              </a:blipFill>
              <a:ln w="38100">
                <a:solidFill>
                  <a:srgbClr val="C00000"/>
                </a:solidFill>
                <a:miter lim="800000"/>
                <a:headEnd/>
                <a:tailEnd/>
              </a:ln>
              <a:effectLst/>
            </p:spPr>
            <p:txBody>
              <a:bodyPr/>
              <a:lstStyle/>
              <a:p>
                <a:r>
                  <a:rPr lang="zh-CN" altLang="en-US">
                    <a:noFill/>
                  </a:rPr>
                  <a:t> </a:t>
                </a:r>
              </a:p>
            </p:txBody>
          </p:sp>
        </mc:Fallback>
      </mc:AlternateContent>
      <p:sp>
        <p:nvSpPr>
          <p:cNvPr id="31" name="Text Box 26">
            <a:extLst>
              <a:ext uri="{FF2B5EF4-FFF2-40B4-BE49-F238E27FC236}">
                <a16:creationId xmlns:a16="http://schemas.microsoft.com/office/drawing/2014/main" id="{CEE086B6-5493-E17B-775C-88462DDCF70B}"/>
              </a:ext>
            </a:extLst>
          </p:cNvPr>
          <p:cNvSpPr txBox="1">
            <a:spLocks noChangeArrowheads="1"/>
          </p:cNvSpPr>
          <p:nvPr/>
        </p:nvSpPr>
        <p:spPr bwMode="auto">
          <a:xfrm>
            <a:off x="438149" y="4658250"/>
            <a:ext cx="26733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Setting them equal:</a:t>
            </a:r>
            <a:endParaRPr kumimoji="0" lang="en-US" altLang="en-US" sz="24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graphicFrame>
        <p:nvGraphicFramePr>
          <p:cNvPr id="32" name="Object 27">
            <a:extLst>
              <a:ext uri="{FF2B5EF4-FFF2-40B4-BE49-F238E27FC236}">
                <a16:creationId xmlns:a16="http://schemas.microsoft.com/office/drawing/2014/main" id="{54F84D46-85E9-99A1-1BEC-B7A03270A4EF}"/>
              </a:ext>
            </a:extLst>
          </p:cNvPr>
          <p:cNvGraphicFramePr>
            <a:graphicFrameLocks noChangeAspect="1"/>
          </p:cNvGraphicFramePr>
          <p:nvPr>
            <p:extLst>
              <p:ext uri="{D42A27DB-BD31-4B8C-83A1-F6EECF244321}">
                <p14:modId xmlns:p14="http://schemas.microsoft.com/office/powerpoint/2010/main" val="3153862671"/>
              </p:ext>
            </p:extLst>
          </p:nvPr>
        </p:nvGraphicFramePr>
        <p:xfrm>
          <a:off x="7048947" y="4629118"/>
          <a:ext cx="1357312" cy="503237"/>
        </p:xfrm>
        <a:graphic>
          <a:graphicData uri="http://schemas.openxmlformats.org/presentationml/2006/ole">
            <mc:AlternateContent xmlns:mc="http://schemas.openxmlformats.org/markup-compatibility/2006">
              <mc:Choice xmlns:v="urn:schemas-microsoft-com:vml" Requires="v">
                <p:oleObj name="Equation" r:id="rId8" imgW="685800" imgH="254000" progId="Equation.DSMT4">
                  <p:embed/>
                </p:oleObj>
              </mc:Choice>
              <mc:Fallback>
                <p:oleObj name="Equation" r:id="rId8" imgW="685800" imgH="254000" progId="Equation.DSMT4">
                  <p:embed/>
                  <p:pic>
                    <p:nvPicPr>
                      <p:cNvPr id="83980" name="Object 27">
                        <a:extLst>
                          <a:ext uri="{FF2B5EF4-FFF2-40B4-BE49-F238E27FC236}">
                            <a16:creationId xmlns:a16="http://schemas.microsoft.com/office/drawing/2014/main" id="{7809537F-455C-454C-ACBD-1668BB03413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48947" y="4629118"/>
                        <a:ext cx="1357312" cy="5032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66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 name="Text Box 26">
            <a:extLst>
              <a:ext uri="{FF2B5EF4-FFF2-40B4-BE49-F238E27FC236}">
                <a16:creationId xmlns:a16="http://schemas.microsoft.com/office/drawing/2014/main" id="{47A4850B-2B22-5E90-4EE8-104E39584743}"/>
              </a:ext>
            </a:extLst>
          </p:cNvPr>
          <p:cNvSpPr txBox="1">
            <a:spLocks noChangeArrowheads="1"/>
          </p:cNvSpPr>
          <p:nvPr/>
        </p:nvSpPr>
        <p:spPr bwMode="auto">
          <a:xfrm>
            <a:off x="6041571" y="4703226"/>
            <a:ext cx="10499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where:</a:t>
            </a:r>
            <a:endParaRPr kumimoji="0" lang="en-US" altLang="en-US" sz="24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37" name="Text Box 8">
            <a:extLst>
              <a:ext uri="{FF2B5EF4-FFF2-40B4-BE49-F238E27FC236}">
                <a16:creationId xmlns:a16="http://schemas.microsoft.com/office/drawing/2014/main" id="{424380C1-07BA-902F-4030-51A7EC5B7680}"/>
              </a:ext>
            </a:extLst>
          </p:cNvPr>
          <p:cNvSpPr txBox="1">
            <a:spLocks noChangeArrowheads="1"/>
          </p:cNvSpPr>
          <p:nvPr/>
        </p:nvSpPr>
        <p:spPr bwMode="auto">
          <a:xfrm>
            <a:off x="438149" y="5533488"/>
            <a:ext cx="803093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Waves are a solution to this equation.  And </a:t>
            </a:r>
            <a:r>
              <a:rPr kumimoji="0" lang="en-US"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v</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is the wave’s velocity, also called its phase velocity.</a:t>
            </a:r>
          </a:p>
        </p:txBody>
      </p:sp>
      <p:sp>
        <p:nvSpPr>
          <p:cNvPr id="38" name="矩形 37">
            <a:extLst>
              <a:ext uri="{FF2B5EF4-FFF2-40B4-BE49-F238E27FC236}">
                <a16:creationId xmlns:a16="http://schemas.microsoft.com/office/drawing/2014/main" id="{7C09F9AE-7D3F-15D5-9384-EE1CD9D15A21}"/>
              </a:ext>
            </a:extLst>
          </p:cNvPr>
          <p:cNvSpPr/>
          <p:nvPr/>
        </p:nvSpPr>
        <p:spPr>
          <a:xfrm>
            <a:off x="6991349" y="2064799"/>
            <a:ext cx="1597803" cy="813582"/>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FA726344-ED83-0372-FE2A-3EA56A86A9C0}"/>
              </a:ext>
            </a:extLst>
          </p:cNvPr>
          <p:cNvSpPr/>
          <p:nvPr/>
        </p:nvSpPr>
        <p:spPr>
          <a:xfrm>
            <a:off x="6831239" y="3534188"/>
            <a:ext cx="1575019" cy="813582"/>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19290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323C2-3481-34EC-FA21-C379FE75B2A5}"/>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B00A7BA9-CE1C-1948-24F4-F882E5BE63D0}"/>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Proof that f (x ± </a:t>
            </a:r>
            <a:r>
              <a:rPr lang="en-US" altLang="zh-CN" sz="2400" b="1" dirty="0" err="1">
                <a:solidFill>
                  <a:schemeClr val="bg1"/>
                </a:solidFill>
                <a:latin typeface="微软雅黑" panose="020B0503020204020204" pitchFamily="34" charset="-122"/>
                <a:ea typeface="微软雅黑" panose="020B0503020204020204" pitchFamily="34" charset="-122"/>
                <a:cs typeface="Arial" panose="020B0604020202020204" pitchFamily="34" charset="0"/>
              </a:rPr>
              <a:t>vt</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solves the wave equation</a:t>
            </a:r>
          </a:p>
        </p:txBody>
      </p:sp>
      <p:graphicFrame>
        <p:nvGraphicFramePr>
          <p:cNvPr id="3" name="Object 4">
            <a:extLst>
              <a:ext uri="{FF2B5EF4-FFF2-40B4-BE49-F238E27FC236}">
                <a16:creationId xmlns:a16="http://schemas.microsoft.com/office/drawing/2014/main" id="{98DC9217-91C2-EE30-432B-DDF6616338F0}"/>
              </a:ext>
            </a:extLst>
          </p:cNvPr>
          <p:cNvGraphicFramePr>
            <a:graphicFrameLocks noChangeAspect="1"/>
          </p:cNvGraphicFramePr>
          <p:nvPr>
            <p:extLst>
              <p:ext uri="{D42A27DB-BD31-4B8C-83A1-F6EECF244321}">
                <p14:modId xmlns:p14="http://schemas.microsoft.com/office/powerpoint/2010/main" val="95082646"/>
              </p:ext>
            </p:extLst>
          </p:nvPr>
        </p:nvGraphicFramePr>
        <p:xfrm>
          <a:off x="5704257" y="885973"/>
          <a:ext cx="839787" cy="765175"/>
        </p:xfrm>
        <a:graphic>
          <a:graphicData uri="http://schemas.openxmlformats.org/presentationml/2006/ole">
            <mc:AlternateContent xmlns:mc="http://schemas.openxmlformats.org/markup-compatibility/2006">
              <mc:Choice xmlns:v="urn:schemas-microsoft-com:vml" Requires="v">
                <p:oleObj name="Equation" r:id="rId3" imgW="431613" imgH="393529" progId="Equation.DSMT4">
                  <p:embed/>
                </p:oleObj>
              </mc:Choice>
              <mc:Fallback>
                <p:oleObj name="Equation" r:id="rId3" imgW="431613" imgH="393529" progId="Equation.DSMT4">
                  <p:embed/>
                  <p:pic>
                    <p:nvPicPr>
                      <p:cNvPr id="159747" name="Object 4">
                        <a:extLst>
                          <a:ext uri="{FF2B5EF4-FFF2-40B4-BE49-F238E27FC236}">
                            <a16:creationId xmlns:a16="http://schemas.microsoft.com/office/drawing/2014/main" id="{6812A8F0-B694-4C07-A646-5C596DAE23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4257" y="885973"/>
                        <a:ext cx="839787"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5">
            <a:extLst>
              <a:ext uri="{FF2B5EF4-FFF2-40B4-BE49-F238E27FC236}">
                <a16:creationId xmlns:a16="http://schemas.microsoft.com/office/drawing/2014/main" id="{9CFFADAE-5BFC-25B4-2F26-D6CCEB5BA660}"/>
              </a:ext>
            </a:extLst>
          </p:cNvPr>
          <p:cNvGraphicFramePr>
            <a:graphicFrameLocks noChangeAspect="1"/>
          </p:cNvGraphicFramePr>
          <p:nvPr>
            <p:extLst>
              <p:ext uri="{D42A27DB-BD31-4B8C-83A1-F6EECF244321}">
                <p14:modId xmlns:p14="http://schemas.microsoft.com/office/powerpoint/2010/main" val="2362685921"/>
              </p:ext>
            </p:extLst>
          </p:nvPr>
        </p:nvGraphicFramePr>
        <p:xfrm>
          <a:off x="7267944" y="901848"/>
          <a:ext cx="1103313" cy="760412"/>
        </p:xfrm>
        <a:graphic>
          <a:graphicData uri="http://schemas.openxmlformats.org/presentationml/2006/ole">
            <mc:AlternateContent xmlns:mc="http://schemas.openxmlformats.org/markup-compatibility/2006">
              <mc:Choice xmlns:v="urn:schemas-microsoft-com:vml" Requires="v">
                <p:oleObj name="Equation" r:id="rId5" imgW="571252" imgH="393529" progId="Equation.DSMT4">
                  <p:embed/>
                </p:oleObj>
              </mc:Choice>
              <mc:Fallback>
                <p:oleObj name="Equation" r:id="rId5" imgW="571252" imgH="393529" progId="Equation.DSMT4">
                  <p:embed/>
                  <p:pic>
                    <p:nvPicPr>
                      <p:cNvPr id="159748" name="Object 5">
                        <a:extLst>
                          <a:ext uri="{FF2B5EF4-FFF2-40B4-BE49-F238E27FC236}">
                            <a16:creationId xmlns:a16="http://schemas.microsoft.com/office/drawing/2014/main" id="{ED205C97-31FA-428E-AF0F-FCEDD36310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67944" y="901848"/>
                        <a:ext cx="1103313"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6">
            <a:extLst>
              <a:ext uri="{FF2B5EF4-FFF2-40B4-BE49-F238E27FC236}">
                <a16:creationId xmlns:a16="http://schemas.microsoft.com/office/drawing/2014/main" id="{CB36A333-1C45-90EA-8727-51820E9AF661}"/>
              </a:ext>
            </a:extLst>
          </p:cNvPr>
          <p:cNvGraphicFramePr>
            <a:graphicFrameLocks noChangeAspect="1"/>
          </p:cNvGraphicFramePr>
          <p:nvPr>
            <p:extLst>
              <p:ext uri="{D42A27DB-BD31-4B8C-83A1-F6EECF244321}">
                <p14:modId xmlns:p14="http://schemas.microsoft.com/office/powerpoint/2010/main" val="829014835"/>
              </p:ext>
            </p:extLst>
          </p:nvPr>
        </p:nvGraphicFramePr>
        <p:xfrm>
          <a:off x="3089644" y="2133748"/>
          <a:ext cx="1546225" cy="777875"/>
        </p:xfrm>
        <a:graphic>
          <a:graphicData uri="http://schemas.openxmlformats.org/presentationml/2006/ole">
            <mc:AlternateContent xmlns:mc="http://schemas.openxmlformats.org/markup-compatibility/2006">
              <mc:Choice xmlns:v="urn:schemas-microsoft-com:vml" Requires="v">
                <p:oleObj name="Equation" r:id="rId7" imgW="787058" imgH="393529" progId="Equation.DSMT4">
                  <p:embed/>
                </p:oleObj>
              </mc:Choice>
              <mc:Fallback>
                <p:oleObj name="Equation" r:id="rId7" imgW="787058" imgH="393529" progId="Equation.DSMT4">
                  <p:embed/>
                  <p:pic>
                    <p:nvPicPr>
                      <p:cNvPr id="159749" name="Object 6">
                        <a:extLst>
                          <a:ext uri="{FF2B5EF4-FFF2-40B4-BE49-F238E27FC236}">
                            <a16:creationId xmlns:a16="http://schemas.microsoft.com/office/drawing/2014/main" id="{6C4E6C97-843C-4CD4-9E41-C52AF8DF77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89644" y="2133748"/>
                        <a:ext cx="154622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7">
            <a:extLst>
              <a:ext uri="{FF2B5EF4-FFF2-40B4-BE49-F238E27FC236}">
                <a16:creationId xmlns:a16="http://schemas.microsoft.com/office/drawing/2014/main" id="{162DB804-12B0-9032-3C1E-7FD590CA49F5}"/>
              </a:ext>
            </a:extLst>
          </p:cNvPr>
          <p:cNvGraphicFramePr>
            <a:graphicFrameLocks noChangeAspect="1"/>
          </p:cNvGraphicFramePr>
          <p:nvPr>
            <p:extLst>
              <p:ext uri="{D42A27DB-BD31-4B8C-83A1-F6EECF244321}">
                <p14:modId xmlns:p14="http://schemas.microsoft.com/office/powerpoint/2010/main" val="3524901298"/>
              </p:ext>
            </p:extLst>
          </p:nvPr>
        </p:nvGraphicFramePr>
        <p:xfrm>
          <a:off x="5782044" y="2143273"/>
          <a:ext cx="1473200" cy="760412"/>
        </p:xfrm>
        <a:graphic>
          <a:graphicData uri="http://schemas.openxmlformats.org/presentationml/2006/ole">
            <mc:AlternateContent xmlns:mc="http://schemas.openxmlformats.org/markup-compatibility/2006">
              <mc:Choice xmlns:v="urn:schemas-microsoft-com:vml" Requires="v">
                <p:oleObj name="Equation" r:id="rId9" imgW="761669" imgH="393529" progId="Equation.DSMT4">
                  <p:embed/>
                </p:oleObj>
              </mc:Choice>
              <mc:Fallback>
                <p:oleObj name="Equation" r:id="rId9" imgW="761669" imgH="393529" progId="Equation.DSMT4">
                  <p:embed/>
                  <p:pic>
                    <p:nvPicPr>
                      <p:cNvPr id="159750" name="Object 7">
                        <a:extLst>
                          <a:ext uri="{FF2B5EF4-FFF2-40B4-BE49-F238E27FC236}">
                            <a16:creationId xmlns:a16="http://schemas.microsoft.com/office/drawing/2014/main" id="{DC23542A-0AC1-42CF-B8A5-1C22F2ED96D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82044" y="2143273"/>
                        <a:ext cx="1473200"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0">
            <a:extLst>
              <a:ext uri="{FF2B5EF4-FFF2-40B4-BE49-F238E27FC236}">
                <a16:creationId xmlns:a16="http://schemas.microsoft.com/office/drawing/2014/main" id="{7006BF40-6495-8FF9-74A4-B1E6D3CB5523}"/>
              </a:ext>
            </a:extLst>
          </p:cNvPr>
          <p:cNvGraphicFramePr>
            <a:graphicFrameLocks noChangeAspect="1"/>
          </p:cNvGraphicFramePr>
          <p:nvPr>
            <p:extLst>
              <p:ext uri="{D42A27DB-BD31-4B8C-83A1-F6EECF244321}">
                <p14:modId xmlns:p14="http://schemas.microsoft.com/office/powerpoint/2010/main" val="4273139486"/>
              </p:ext>
            </p:extLst>
          </p:nvPr>
        </p:nvGraphicFramePr>
        <p:xfrm>
          <a:off x="6832969" y="3294210"/>
          <a:ext cx="1731963" cy="793750"/>
        </p:xfrm>
        <a:graphic>
          <a:graphicData uri="http://schemas.openxmlformats.org/presentationml/2006/ole">
            <mc:AlternateContent xmlns:mc="http://schemas.openxmlformats.org/markup-compatibility/2006">
              <mc:Choice xmlns:v="urn:schemas-microsoft-com:vml" Requires="v">
                <p:oleObj name="Equation" r:id="rId11" imgW="914400" imgH="419100" progId="Equation.DSMT4">
                  <p:embed/>
                </p:oleObj>
              </mc:Choice>
              <mc:Fallback>
                <p:oleObj name="Equation" r:id="rId11" imgW="914400" imgH="419100" progId="Equation.DSMT4">
                  <p:embed/>
                  <p:pic>
                    <p:nvPicPr>
                      <p:cNvPr id="159751" name="Object 10">
                        <a:extLst>
                          <a:ext uri="{FF2B5EF4-FFF2-40B4-BE49-F238E27FC236}">
                            <a16:creationId xmlns:a16="http://schemas.microsoft.com/office/drawing/2014/main" id="{478F2CD6-09C7-439B-9233-E7060CA5F63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32969" y="3294210"/>
                        <a:ext cx="1731963"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1">
            <a:extLst>
              <a:ext uri="{FF2B5EF4-FFF2-40B4-BE49-F238E27FC236}">
                <a16:creationId xmlns:a16="http://schemas.microsoft.com/office/drawing/2014/main" id="{FD1BAA73-513A-22B7-CC4E-2D1114C83E43}"/>
              </a:ext>
            </a:extLst>
          </p:cNvPr>
          <p:cNvGraphicFramePr>
            <a:graphicFrameLocks noChangeAspect="1"/>
          </p:cNvGraphicFramePr>
          <p:nvPr>
            <p:extLst>
              <p:ext uri="{D42A27DB-BD31-4B8C-83A1-F6EECF244321}">
                <p14:modId xmlns:p14="http://schemas.microsoft.com/office/powerpoint/2010/main" val="2711000805"/>
              </p:ext>
            </p:extLst>
          </p:nvPr>
        </p:nvGraphicFramePr>
        <p:xfrm>
          <a:off x="5074019" y="3300560"/>
          <a:ext cx="1346200" cy="781050"/>
        </p:xfrm>
        <a:graphic>
          <a:graphicData uri="http://schemas.openxmlformats.org/presentationml/2006/ole">
            <mc:AlternateContent xmlns:mc="http://schemas.openxmlformats.org/markup-compatibility/2006">
              <mc:Choice xmlns:v="urn:schemas-microsoft-com:vml" Requires="v">
                <p:oleObj name="Equation" r:id="rId13" imgW="723586" imgH="418918" progId="Equation.DSMT4">
                  <p:embed/>
                </p:oleObj>
              </mc:Choice>
              <mc:Fallback>
                <p:oleObj name="Equation" r:id="rId13" imgW="723586" imgH="418918" progId="Equation.DSMT4">
                  <p:embed/>
                  <p:pic>
                    <p:nvPicPr>
                      <p:cNvPr id="159752" name="Object 11">
                        <a:extLst>
                          <a:ext uri="{FF2B5EF4-FFF2-40B4-BE49-F238E27FC236}">
                            <a16:creationId xmlns:a16="http://schemas.microsoft.com/office/drawing/2014/main" id="{48D95613-C2FC-4725-9406-272F8735AE0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74019" y="3300560"/>
                        <a:ext cx="13462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3">
            <a:extLst>
              <a:ext uri="{FF2B5EF4-FFF2-40B4-BE49-F238E27FC236}">
                <a16:creationId xmlns:a16="http://schemas.microsoft.com/office/drawing/2014/main" id="{A4F537C0-414C-0B70-C334-85AD05E85B22}"/>
              </a:ext>
            </a:extLst>
          </p:cNvPr>
          <p:cNvSpPr/>
          <p:nvPr/>
        </p:nvSpPr>
        <p:spPr>
          <a:xfrm>
            <a:off x="536944" y="4230835"/>
            <a:ext cx="4230688" cy="552450"/>
          </a:xfrm>
          <a:prstGeom prst="rect">
            <a:avLst/>
          </a:prstGeom>
        </p:spPr>
        <p:txBody>
          <a:bodyPr wrap="none">
            <a:spAutoFit/>
          </a:bodyPr>
          <a:lstStyle/>
          <a:p>
            <a:pPr marL="342900" marR="0" lvl="0" indent="-342900" algn="l" defTabSz="914400" rtl="0" eaLnBrk="1" fontAlgn="base" latinLnBrk="0" hangingPunct="1">
              <a:lnSpc>
                <a:spcPct val="150000"/>
              </a:lnSpc>
              <a:spcBef>
                <a:spcPct val="2000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a:ea typeface="+mn-ea"/>
                <a:cs typeface="Arial" charset="0"/>
              </a:rPr>
              <a:t>Substituting into the wave equation:</a:t>
            </a:r>
            <a:endParaRPr kumimoji="0" lang="en-US" sz="2000" b="0" i="0" u="none" strike="noStrike" kern="0" cap="none" spc="0" normalizeH="0" baseline="0" noProof="0" dirty="0">
              <a:ln>
                <a:noFill/>
              </a:ln>
              <a:solidFill>
                <a:srgbClr val="000000"/>
              </a:solidFill>
              <a:effectLst/>
              <a:uLnTx/>
              <a:uFillTx/>
              <a:latin typeface="Arial"/>
              <a:ea typeface="+mn-ea"/>
              <a:cs typeface="+mn-cs"/>
            </a:endParaRPr>
          </a:p>
        </p:txBody>
      </p:sp>
      <p:sp>
        <p:nvSpPr>
          <p:cNvPr id="16" name="Rectangle 5">
            <a:extLst>
              <a:ext uri="{FF2B5EF4-FFF2-40B4-BE49-F238E27FC236}">
                <a16:creationId xmlns:a16="http://schemas.microsoft.com/office/drawing/2014/main" id="{B32AC24D-FE26-06D0-7F58-020A88EA4D19}"/>
              </a:ext>
            </a:extLst>
          </p:cNvPr>
          <p:cNvSpPr/>
          <p:nvPr/>
        </p:nvSpPr>
        <p:spPr>
          <a:xfrm>
            <a:off x="536944" y="928835"/>
            <a:ext cx="4775200" cy="600075"/>
          </a:xfrm>
          <a:prstGeom prst="rect">
            <a:avLst/>
          </a:prstGeom>
        </p:spPr>
        <p:txBody>
          <a:bodyPr>
            <a:spAutoFit/>
          </a:bodyPr>
          <a:lstStyle/>
          <a:p>
            <a:pPr marL="342900" marR="0" lvl="0" indent="-342900" algn="l" defTabSz="914400" rtl="0" eaLnBrk="1" fontAlgn="base" latinLnBrk="0" hangingPunct="1">
              <a:lnSpc>
                <a:spcPct val="150000"/>
              </a:lnSpc>
              <a:spcBef>
                <a:spcPct val="2000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a:ea typeface="+mn-ea"/>
                <a:cs typeface="Arial" charset="0"/>
              </a:rPr>
              <a:t>Write </a:t>
            </a:r>
            <a:r>
              <a:rPr kumimoji="0" lang="en-US" sz="22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f</a:t>
            </a:r>
            <a:r>
              <a:rPr kumimoji="0" lang="en-US" sz="16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 </a:t>
            </a: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a:t>
            </a:r>
            <a:r>
              <a:rPr kumimoji="0" lang="en-US" sz="22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x</a:t>
            </a:r>
            <a:r>
              <a:rPr kumimoji="0" lang="en-US" sz="16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 </a:t>
            </a: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a:t>
            </a:r>
            <a:r>
              <a:rPr kumimoji="0" lang="en-US" sz="20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 </a:t>
            </a:r>
            <a:r>
              <a:rPr kumimoji="0" lang="en-US" sz="22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Arial" charset="0"/>
              </a:rPr>
              <a:t>v</a:t>
            </a:r>
            <a:r>
              <a:rPr kumimoji="0" lang="en-US" sz="220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Arial" charset="0"/>
              </a:rPr>
              <a:t>t</a:t>
            </a: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a:t>
            </a:r>
            <a:r>
              <a:rPr kumimoji="0" lang="en-US" sz="2000" b="0" i="0" u="none" strike="noStrike" kern="0" cap="none" spc="0" normalizeH="0" baseline="0" noProof="0" dirty="0">
                <a:ln>
                  <a:noFill/>
                </a:ln>
                <a:solidFill>
                  <a:srgbClr val="000000"/>
                </a:solidFill>
                <a:effectLst/>
                <a:uLnTx/>
                <a:uFillTx/>
                <a:latin typeface="Arial"/>
                <a:ea typeface="+mn-ea"/>
                <a:cs typeface="Arial" charset="0"/>
              </a:rPr>
              <a:t> as  </a:t>
            </a:r>
            <a:r>
              <a:rPr kumimoji="0" lang="en-US" sz="20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f</a:t>
            </a:r>
            <a:r>
              <a:rPr kumimoji="0" lang="en-US" sz="12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 </a:t>
            </a: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a:t>
            </a:r>
            <a:r>
              <a:rPr kumimoji="0" lang="en-US" sz="20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u</a:t>
            </a: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a:t>
            </a:r>
            <a:r>
              <a:rPr kumimoji="0" lang="en-US" sz="2000" b="0" i="0" u="none" strike="noStrike" kern="0" cap="none" spc="0" normalizeH="0" baseline="0" noProof="0" dirty="0">
                <a:ln>
                  <a:noFill/>
                </a:ln>
                <a:solidFill>
                  <a:srgbClr val="000000"/>
                </a:solidFill>
                <a:effectLst/>
                <a:uLnTx/>
                <a:uFillTx/>
                <a:latin typeface="Arial"/>
                <a:ea typeface="+mn-ea"/>
                <a:cs typeface="Arial" charset="0"/>
              </a:rPr>
              <a:t>, where </a:t>
            </a:r>
            <a:r>
              <a:rPr kumimoji="0" lang="en-US" sz="20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u = x </a:t>
            </a: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a:t>
            </a:r>
            <a:r>
              <a:rPr kumimoji="0" lang="en-US" sz="20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rPr>
              <a:t> </a:t>
            </a:r>
            <a:r>
              <a:rPr kumimoji="0" lang="en-US" sz="2000" b="0" i="0" u="none" strike="noStrike" kern="0" cap="none" spc="0" normalizeH="0" baseline="0" noProof="0" dirty="0" err="1">
                <a:ln>
                  <a:noFill/>
                </a:ln>
                <a:solidFill>
                  <a:srgbClr val="000000"/>
                </a:solidFill>
                <a:effectLst/>
                <a:uLnTx/>
                <a:uFillTx/>
                <a:latin typeface="Times New Roman" panose="02020603050405020304" pitchFamily="18" charset="0"/>
                <a:ea typeface="+mn-ea"/>
                <a:cs typeface="Arial" charset="0"/>
              </a:rPr>
              <a:t>v</a:t>
            </a:r>
            <a:r>
              <a:rPr kumimoji="0" lang="en-US" sz="2000" b="0" i="1" u="none" strike="noStrike" kern="0" cap="none" spc="0" normalizeH="0" baseline="0" noProof="0" dirty="0" err="1">
                <a:ln>
                  <a:noFill/>
                </a:ln>
                <a:solidFill>
                  <a:srgbClr val="000000"/>
                </a:solidFill>
                <a:effectLst/>
                <a:uLnTx/>
                <a:uFillTx/>
                <a:latin typeface="Times New Roman" panose="02020603050405020304" pitchFamily="18" charset="0"/>
                <a:ea typeface="+mn-ea"/>
                <a:cs typeface="Arial" charset="0"/>
              </a:rPr>
              <a:t>t</a:t>
            </a:r>
            <a:r>
              <a:rPr kumimoji="0" lang="en-US" sz="2000" b="0" i="0" u="none" strike="noStrike" kern="0" cap="none" spc="0" normalizeH="0" baseline="0" noProof="0" dirty="0" err="1">
                <a:ln>
                  <a:noFill/>
                </a:ln>
                <a:solidFill>
                  <a:srgbClr val="000000"/>
                </a:solidFill>
                <a:effectLst/>
                <a:uLnTx/>
                <a:uFillTx/>
                <a:latin typeface="Arial"/>
                <a:ea typeface="+mn-ea"/>
                <a:cs typeface="Arial" charset="0"/>
              </a:rPr>
              <a:t>.</a:t>
            </a:r>
            <a:r>
              <a:rPr kumimoji="0" lang="en-US" sz="2000" b="0" i="0" u="none" strike="noStrike" kern="0" cap="none" spc="0" normalizeH="0" baseline="0" noProof="0" dirty="0">
                <a:ln>
                  <a:noFill/>
                </a:ln>
                <a:solidFill>
                  <a:srgbClr val="000000"/>
                </a:solidFill>
                <a:effectLst/>
                <a:uLnTx/>
                <a:uFillTx/>
                <a:latin typeface="Arial"/>
                <a:ea typeface="+mn-ea"/>
                <a:cs typeface="Arial" charset="0"/>
              </a:rPr>
              <a:t> </a:t>
            </a:r>
            <a:endPar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endParaRPr>
          </a:p>
        </p:txBody>
      </p:sp>
      <p:sp>
        <p:nvSpPr>
          <p:cNvPr id="18" name="Rectangle 7">
            <a:extLst>
              <a:ext uri="{FF2B5EF4-FFF2-40B4-BE49-F238E27FC236}">
                <a16:creationId xmlns:a16="http://schemas.microsoft.com/office/drawing/2014/main" id="{CC4DF348-6F3E-64DF-4355-3030898C3A87}"/>
              </a:ext>
            </a:extLst>
          </p:cNvPr>
          <p:cNvSpPr/>
          <p:nvPr/>
        </p:nvSpPr>
        <p:spPr>
          <a:xfrm>
            <a:off x="536944" y="2190898"/>
            <a:ext cx="2489200" cy="498475"/>
          </a:xfrm>
          <a:prstGeom prst="rect">
            <a:avLst/>
          </a:prstGeom>
        </p:spPr>
        <p:txBody>
          <a:bodyPr>
            <a:spAutoFit/>
          </a:bodyPr>
          <a:lstStyle/>
          <a:p>
            <a:pPr marL="342900" marR="0" lvl="0" indent="-342900" algn="l" defTabSz="914400" rtl="0" eaLnBrk="1" fontAlgn="base" latinLnBrk="0" hangingPunct="1">
              <a:lnSpc>
                <a:spcPct val="150000"/>
              </a:lnSpc>
              <a:spcBef>
                <a:spcPct val="2000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a:ea typeface="+mn-ea"/>
                <a:cs typeface="Arial" charset="0"/>
              </a:rPr>
              <a:t>Use the chain rule:          </a:t>
            </a:r>
            <a:endPar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Arial" charset="0"/>
            </a:endParaRPr>
          </a:p>
        </p:txBody>
      </p:sp>
      <p:grpSp>
        <p:nvGrpSpPr>
          <p:cNvPr id="20" name="Group 11">
            <a:extLst>
              <a:ext uri="{FF2B5EF4-FFF2-40B4-BE49-F238E27FC236}">
                <a16:creationId xmlns:a16="http://schemas.microsoft.com/office/drawing/2014/main" id="{B9F195BF-F31E-7595-E32F-3EC11915110E}"/>
              </a:ext>
            </a:extLst>
          </p:cNvPr>
          <p:cNvGrpSpPr>
            <a:grpSpLocks/>
          </p:cNvGrpSpPr>
          <p:nvPr/>
        </p:nvGrpSpPr>
        <p:grpSpPr bwMode="auto">
          <a:xfrm>
            <a:off x="4375519" y="1649560"/>
            <a:ext cx="1549400" cy="541338"/>
            <a:chOff x="4295775" y="2032000"/>
            <a:chExt cx="1549400" cy="400050"/>
          </a:xfrm>
        </p:grpSpPr>
        <p:cxnSp>
          <p:nvCxnSpPr>
            <p:cNvPr id="21" name="Straight Connector 8">
              <a:extLst>
                <a:ext uri="{FF2B5EF4-FFF2-40B4-BE49-F238E27FC236}">
                  <a16:creationId xmlns:a16="http://schemas.microsoft.com/office/drawing/2014/main" id="{02F4F83A-767E-0C61-69B4-0CE7147CED88}"/>
                </a:ext>
              </a:extLst>
            </p:cNvPr>
            <p:cNvCxnSpPr>
              <a:cxnSpLocks noChangeShapeType="1"/>
            </p:cNvCxnSpPr>
            <p:nvPr/>
          </p:nvCxnSpPr>
          <p:spPr bwMode="auto">
            <a:xfrm>
              <a:off x="5842000" y="2032000"/>
              <a:ext cx="0" cy="20320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0">
              <a:extLst>
                <a:ext uri="{FF2B5EF4-FFF2-40B4-BE49-F238E27FC236}">
                  <a16:creationId xmlns:a16="http://schemas.microsoft.com/office/drawing/2014/main" id="{F91468F0-3759-5313-8FDD-A02ECB99BB92}"/>
                </a:ext>
              </a:extLst>
            </p:cNvPr>
            <p:cNvCxnSpPr>
              <a:cxnSpLocks noChangeShapeType="1"/>
            </p:cNvCxnSpPr>
            <p:nvPr/>
          </p:nvCxnSpPr>
          <p:spPr bwMode="auto">
            <a:xfrm>
              <a:off x="4295775" y="2228850"/>
              <a:ext cx="1549400"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3">
              <a:extLst>
                <a:ext uri="{FF2B5EF4-FFF2-40B4-BE49-F238E27FC236}">
                  <a16:creationId xmlns:a16="http://schemas.microsoft.com/office/drawing/2014/main" id="{626A7F08-32C8-1886-4F98-F96E72C78CDB}"/>
                </a:ext>
              </a:extLst>
            </p:cNvPr>
            <p:cNvCxnSpPr>
              <a:cxnSpLocks noChangeShapeType="1"/>
            </p:cNvCxnSpPr>
            <p:nvPr/>
          </p:nvCxnSpPr>
          <p:spPr bwMode="auto">
            <a:xfrm>
              <a:off x="4302125" y="2228850"/>
              <a:ext cx="0" cy="20320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6" name="Group 25">
            <a:extLst>
              <a:ext uri="{FF2B5EF4-FFF2-40B4-BE49-F238E27FC236}">
                <a16:creationId xmlns:a16="http://schemas.microsoft.com/office/drawing/2014/main" id="{5948BF05-781E-D8F5-1F71-27CE9204CD10}"/>
              </a:ext>
            </a:extLst>
          </p:cNvPr>
          <p:cNvGrpSpPr>
            <a:grpSpLocks/>
          </p:cNvGrpSpPr>
          <p:nvPr/>
        </p:nvGrpSpPr>
        <p:grpSpPr bwMode="auto">
          <a:xfrm>
            <a:off x="7052044" y="1649560"/>
            <a:ext cx="422275" cy="541338"/>
            <a:chOff x="4295775" y="2032000"/>
            <a:chExt cx="1549400" cy="400050"/>
          </a:xfrm>
        </p:grpSpPr>
        <p:cxnSp>
          <p:nvCxnSpPr>
            <p:cNvPr id="27" name="Straight Connector 26">
              <a:extLst>
                <a:ext uri="{FF2B5EF4-FFF2-40B4-BE49-F238E27FC236}">
                  <a16:creationId xmlns:a16="http://schemas.microsoft.com/office/drawing/2014/main" id="{00C08445-06C3-F2A0-2CB2-4EA1B8FDDEDB}"/>
                </a:ext>
              </a:extLst>
            </p:cNvPr>
            <p:cNvCxnSpPr>
              <a:cxnSpLocks noChangeShapeType="1"/>
            </p:cNvCxnSpPr>
            <p:nvPr/>
          </p:nvCxnSpPr>
          <p:spPr bwMode="auto">
            <a:xfrm>
              <a:off x="5842000" y="2032000"/>
              <a:ext cx="0" cy="20320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a:extLst>
                <a:ext uri="{FF2B5EF4-FFF2-40B4-BE49-F238E27FC236}">
                  <a16:creationId xmlns:a16="http://schemas.microsoft.com/office/drawing/2014/main" id="{6BD463E9-65C2-0374-217B-326BD561C95B}"/>
                </a:ext>
              </a:extLst>
            </p:cNvPr>
            <p:cNvCxnSpPr>
              <a:cxnSpLocks noChangeShapeType="1"/>
            </p:cNvCxnSpPr>
            <p:nvPr/>
          </p:nvCxnSpPr>
          <p:spPr bwMode="auto">
            <a:xfrm>
              <a:off x="4295775" y="2228850"/>
              <a:ext cx="1549400"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Straight Connector 28">
              <a:extLst>
                <a:ext uri="{FF2B5EF4-FFF2-40B4-BE49-F238E27FC236}">
                  <a16:creationId xmlns:a16="http://schemas.microsoft.com/office/drawing/2014/main" id="{D5AF6A30-A5D2-0557-A236-D3CC96A96C6F}"/>
                </a:ext>
              </a:extLst>
            </p:cNvPr>
            <p:cNvCxnSpPr>
              <a:cxnSpLocks noChangeShapeType="1"/>
            </p:cNvCxnSpPr>
            <p:nvPr/>
          </p:nvCxnSpPr>
          <p:spPr bwMode="auto">
            <a:xfrm>
              <a:off x="4302125" y="2228850"/>
              <a:ext cx="0" cy="20320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6" name="TextBox 12">
            <a:extLst>
              <a:ext uri="{FF2B5EF4-FFF2-40B4-BE49-F238E27FC236}">
                <a16:creationId xmlns:a16="http://schemas.microsoft.com/office/drawing/2014/main" id="{1FCA22D6-1EAA-1B8C-8719-F273DBA0554E}"/>
              </a:ext>
            </a:extLst>
          </p:cNvPr>
          <p:cNvSpPr txBox="1"/>
          <p:nvPr/>
        </p:nvSpPr>
        <p:spPr>
          <a:xfrm>
            <a:off x="536944" y="3300560"/>
            <a:ext cx="4419600" cy="708025"/>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Computing the second derivatives adds another factor of </a:t>
            </a:r>
            <a:r>
              <a:rPr kumimoji="0" lang="en-US" sz="2000" b="0" i="0" u="none" strike="noStrike" kern="1200" cap="none" spc="0" normalizeH="0" baseline="0" noProof="0" dirty="0">
                <a:ln>
                  <a:noFill/>
                </a:ln>
                <a:solidFill>
                  <a:srgbClr val="000000"/>
                </a:solidFill>
                <a:effectLst/>
                <a:uLnTx/>
                <a:uFillTx/>
                <a:latin typeface="Times New Roman"/>
                <a:ea typeface="+mn-ea"/>
                <a:cs typeface="Times New Roman"/>
              </a:rPr>
              <a:t>∂</a:t>
            </a:r>
            <a:r>
              <a:rPr kumimoji="0" 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u</a:t>
            </a: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sz="2000" b="0" i="0" u="none" strike="noStrike" kern="1200" cap="none" spc="0" normalizeH="0" baseline="0" noProof="0" dirty="0">
                <a:ln>
                  <a:noFill/>
                </a:ln>
                <a:solidFill>
                  <a:srgbClr val="000000"/>
                </a:solidFill>
                <a:effectLst/>
                <a:uLnTx/>
                <a:uFillTx/>
                <a:latin typeface="Times New Roman"/>
                <a:ea typeface="+mn-ea"/>
                <a:cs typeface="Times New Roman"/>
              </a:rPr>
              <a:t>∂</a:t>
            </a:r>
            <a:r>
              <a:rPr kumimoji="0" 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x</a:t>
            </a:r>
            <a:r>
              <a:rPr kumimoji="0" lang="en-US" sz="2000" b="0" i="0" u="none" strike="noStrike" kern="1200" cap="none" spc="0" normalizeH="0" baseline="0" noProof="0" dirty="0">
                <a:ln>
                  <a:noFill/>
                </a:ln>
                <a:solidFill>
                  <a:srgbClr val="000000"/>
                </a:solidFill>
                <a:effectLst/>
                <a:uLnTx/>
                <a:uFillTx/>
                <a:latin typeface="Arial"/>
                <a:ea typeface="+mn-ea"/>
                <a:cs typeface="+mn-cs"/>
              </a:rPr>
              <a:t> or </a:t>
            </a:r>
            <a:r>
              <a:rPr kumimoji="0" lang="en-US" sz="2000" b="0" i="0" u="none" strike="noStrike" kern="1200" cap="none" spc="0" normalizeH="0" baseline="0" noProof="0" dirty="0">
                <a:ln>
                  <a:noFill/>
                </a:ln>
                <a:solidFill>
                  <a:srgbClr val="000000"/>
                </a:solidFill>
                <a:effectLst/>
                <a:uLnTx/>
                <a:uFillTx/>
                <a:latin typeface="Times New Roman"/>
                <a:ea typeface="+mn-ea"/>
                <a:cs typeface="Times New Roman"/>
              </a:rPr>
              <a:t>∂</a:t>
            </a:r>
            <a:r>
              <a:rPr kumimoji="0" 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u</a:t>
            </a: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sz="2000" b="0" i="0" u="none" strike="noStrike" kern="1200" cap="none" spc="0" normalizeH="0" baseline="0" noProof="0" dirty="0">
                <a:ln>
                  <a:noFill/>
                </a:ln>
                <a:solidFill>
                  <a:srgbClr val="000000"/>
                </a:solidFill>
                <a:effectLst/>
                <a:uLnTx/>
                <a:uFillTx/>
                <a:latin typeface="Times New Roman"/>
                <a:ea typeface="+mn-ea"/>
                <a:cs typeface="Times New Roman"/>
              </a:rPr>
              <a:t>∂</a:t>
            </a:r>
            <a:r>
              <a:rPr kumimoji="0" lang="en-US" sz="20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a:t>
            </a:r>
            <a:r>
              <a:rPr kumimoji="0" lang="en-US" sz="2000" b="0" i="0" u="none" strike="noStrike" kern="1200" cap="none" spc="0" normalizeH="0" baseline="0" noProof="0" dirty="0">
                <a:ln>
                  <a:noFill/>
                </a:ln>
                <a:solidFill>
                  <a:srgbClr val="000000"/>
                </a:solidFill>
                <a:effectLst/>
                <a:uLnTx/>
                <a:uFillTx/>
                <a:latin typeface="Arial"/>
                <a:ea typeface="+mn-ea"/>
                <a:cs typeface="+mn-cs"/>
              </a:rPr>
              <a:t>:</a:t>
            </a:r>
          </a:p>
        </p:txBody>
      </p:sp>
      <p:graphicFrame>
        <p:nvGraphicFramePr>
          <p:cNvPr id="40" name="Object 2">
            <a:extLst>
              <a:ext uri="{FF2B5EF4-FFF2-40B4-BE49-F238E27FC236}">
                <a16:creationId xmlns:a16="http://schemas.microsoft.com/office/drawing/2014/main" id="{773815BC-C583-4095-DBAF-214D6C52E6D8}"/>
              </a:ext>
            </a:extLst>
          </p:cNvPr>
          <p:cNvGraphicFramePr>
            <a:graphicFrameLocks noChangeAspect="1"/>
          </p:cNvGraphicFramePr>
          <p:nvPr>
            <p:extLst>
              <p:ext uri="{D42A27DB-BD31-4B8C-83A1-F6EECF244321}">
                <p14:modId xmlns:p14="http://schemas.microsoft.com/office/powerpoint/2010/main" val="3506720794"/>
              </p:ext>
            </p:extLst>
          </p:nvPr>
        </p:nvGraphicFramePr>
        <p:xfrm>
          <a:off x="4640632" y="2133748"/>
          <a:ext cx="673100" cy="777875"/>
        </p:xfrm>
        <a:graphic>
          <a:graphicData uri="http://schemas.openxmlformats.org/presentationml/2006/ole">
            <mc:AlternateContent xmlns:mc="http://schemas.openxmlformats.org/markup-compatibility/2006">
              <mc:Choice xmlns:v="urn:schemas-microsoft-com:vml" Requires="v">
                <p:oleObj name="Equation" r:id="rId15" imgW="342751" imgH="393529" progId="Equation.DSMT4">
                  <p:embed/>
                </p:oleObj>
              </mc:Choice>
              <mc:Fallback>
                <p:oleObj name="Equation" r:id="rId15" imgW="342751" imgH="393529" progId="Equation.DSMT4">
                  <p:embed/>
                  <p:pic>
                    <p:nvPicPr>
                      <p:cNvPr id="3" name="Object 2">
                        <a:extLst>
                          <a:ext uri="{FF2B5EF4-FFF2-40B4-BE49-F238E27FC236}">
                            <a16:creationId xmlns:a16="http://schemas.microsoft.com/office/drawing/2014/main" id="{CD54600C-2D76-4CB9-95C3-0CDC809B52F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40632" y="2133748"/>
                        <a:ext cx="6731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 name="Object 4">
            <a:extLst>
              <a:ext uri="{FF2B5EF4-FFF2-40B4-BE49-F238E27FC236}">
                <a16:creationId xmlns:a16="http://schemas.microsoft.com/office/drawing/2014/main" id="{B34B0CC1-25C8-928D-A5BB-E53B47C3E334}"/>
              </a:ext>
            </a:extLst>
          </p:cNvPr>
          <p:cNvGraphicFramePr>
            <a:graphicFrameLocks noChangeAspect="1"/>
          </p:cNvGraphicFramePr>
          <p:nvPr>
            <p:extLst>
              <p:ext uri="{D42A27DB-BD31-4B8C-83A1-F6EECF244321}">
                <p14:modId xmlns:p14="http://schemas.microsoft.com/office/powerpoint/2010/main" val="508046818"/>
              </p:ext>
            </p:extLst>
          </p:nvPr>
        </p:nvGraphicFramePr>
        <p:xfrm>
          <a:off x="7263182" y="2143273"/>
          <a:ext cx="1079500" cy="760412"/>
        </p:xfrm>
        <a:graphic>
          <a:graphicData uri="http://schemas.openxmlformats.org/presentationml/2006/ole">
            <mc:AlternateContent xmlns:mc="http://schemas.openxmlformats.org/markup-compatibility/2006">
              <mc:Choice xmlns:v="urn:schemas-microsoft-com:vml" Requires="v">
                <p:oleObj name="Equation" r:id="rId17" imgW="558558" imgH="393529" progId="Equation.DSMT4">
                  <p:embed/>
                </p:oleObj>
              </mc:Choice>
              <mc:Fallback>
                <p:oleObj name="Equation" r:id="rId17" imgW="558558" imgH="393529" progId="Equation.DSMT4">
                  <p:embed/>
                  <p:pic>
                    <p:nvPicPr>
                      <p:cNvPr id="5" name="Object 4">
                        <a:extLst>
                          <a:ext uri="{FF2B5EF4-FFF2-40B4-BE49-F238E27FC236}">
                            <a16:creationId xmlns:a16="http://schemas.microsoft.com/office/drawing/2014/main" id="{4D2AF108-6462-42E6-AD25-9936644A8C2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263182" y="2143273"/>
                        <a:ext cx="1079500"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 name="Rectangle 10">
            <a:extLst>
              <a:ext uri="{FF2B5EF4-FFF2-40B4-BE49-F238E27FC236}">
                <a16:creationId xmlns:a16="http://schemas.microsoft.com/office/drawing/2014/main" id="{6D6D92A8-5DB1-C8E0-8241-22B303A02E12}"/>
              </a:ext>
            </a:extLst>
          </p:cNvPr>
          <p:cNvSpPr/>
          <p:nvPr/>
        </p:nvSpPr>
        <p:spPr>
          <a:xfrm>
            <a:off x="5235944" y="1079648"/>
            <a:ext cx="2055813" cy="40005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a:ea typeface="+mn-ea"/>
                <a:cs typeface="Arial" charset="0"/>
              </a:rPr>
              <a:t>So               and</a:t>
            </a:r>
            <a:endPar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graphicFrame>
        <p:nvGraphicFramePr>
          <p:cNvPr id="44" name="Object 12">
            <a:extLst>
              <a:ext uri="{FF2B5EF4-FFF2-40B4-BE49-F238E27FC236}">
                <a16:creationId xmlns:a16="http://schemas.microsoft.com/office/drawing/2014/main" id="{47B1B509-A6EA-7715-64AD-DDC064862D2B}"/>
              </a:ext>
            </a:extLst>
          </p:cNvPr>
          <p:cNvGraphicFramePr>
            <a:graphicFrameLocks noChangeAspect="1"/>
          </p:cNvGraphicFramePr>
          <p:nvPr>
            <p:extLst>
              <p:ext uri="{D42A27DB-BD31-4B8C-83A1-F6EECF244321}">
                <p14:modId xmlns:p14="http://schemas.microsoft.com/office/powerpoint/2010/main" val="2850484605"/>
              </p:ext>
            </p:extLst>
          </p:nvPr>
        </p:nvGraphicFramePr>
        <p:xfrm>
          <a:off x="1855362" y="4897585"/>
          <a:ext cx="1790700" cy="809625"/>
        </p:xfrm>
        <a:graphic>
          <a:graphicData uri="http://schemas.openxmlformats.org/presentationml/2006/ole">
            <mc:AlternateContent xmlns:mc="http://schemas.openxmlformats.org/markup-compatibility/2006">
              <mc:Choice xmlns:v="urn:schemas-microsoft-com:vml" Requires="v">
                <p:oleObj name="Equation" r:id="rId19" imgW="927100" imgH="419100" progId="Equation.DSMT4">
                  <p:embed/>
                </p:oleObj>
              </mc:Choice>
              <mc:Fallback>
                <p:oleObj name="Equation" r:id="rId19" imgW="927100" imgH="419100" progId="Equation.DSMT4">
                  <p:embed/>
                  <p:pic>
                    <p:nvPicPr>
                      <p:cNvPr id="159753" name="Object 12">
                        <a:extLst>
                          <a:ext uri="{FF2B5EF4-FFF2-40B4-BE49-F238E27FC236}">
                            <a16:creationId xmlns:a16="http://schemas.microsoft.com/office/drawing/2014/main" id="{46200F61-2CC0-4710-8524-B3A4F810788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55362" y="4897585"/>
                        <a:ext cx="17907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 name="Object 6">
            <a:extLst>
              <a:ext uri="{FF2B5EF4-FFF2-40B4-BE49-F238E27FC236}">
                <a16:creationId xmlns:a16="http://schemas.microsoft.com/office/drawing/2014/main" id="{AC579EAD-5E76-0C23-81F5-D46BEA8C658C}"/>
              </a:ext>
            </a:extLst>
          </p:cNvPr>
          <p:cNvGraphicFramePr>
            <a:graphicFrameLocks noChangeAspect="1"/>
          </p:cNvGraphicFramePr>
          <p:nvPr>
            <p:extLst>
              <p:ext uri="{D42A27DB-BD31-4B8C-83A1-F6EECF244321}">
                <p14:modId xmlns:p14="http://schemas.microsoft.com/office/powerpoint/2010/main" val="1136044378"/>
              </p:ext>
            </p:extLst>
          </p:nvPr>
        </p:nvGraphicFramePr>
        <p:xfrm>
          <a:off x="3801637" y="4848373"/>
          <a:ext cx="2868613" cy="931862"/>
        </p:xfrm>
        <a:graphic>
          <a:graphicData uri="http://schemas.openxmlformats.org/presentationml/2006/ole">
            <mc:AlternateContent xmlns:mc="http://schemas.openxmlformats.org/markup-compatibility/2006">
              <mc:Choice xmlns:v="urn:schemas-microsoft-com:vml" Requires="v">
                <p:oleObj name="Equation" r:id="rId21" imgW="1485900" imgH="482600" progId="Equation.DSMT4">
                  <p:embed/>
                </p:oleObj>
              </mc:Choice>
              <mc:Fallback>
                <p:oleObj name="Equation" r:id="rId21" imgW="1485900" imgH="482600" progId="Equation.DSMT4">
                  <p:embed/>
                  <p:pic>
                    <p:nvPicPr>
                      <p:cNvPr id="7" name="Object 6">
                        <a:extLst>
                          <a:ext uri="{FF2B5EF4-FFF2-40B4-BE49-F238E27FC236}">
                            <a16:creationId xmlns:a16="http://schemas.microsoft.com/office/drawing/2014/main" id="{941714FE-A530-45DF-B718-19C402AA977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01637" y="4848373"/>
                        <a:ext cx="286861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 name="Object 8">
            <a:extLst>
              <a:ext uri="{FF2B5EF4-FFF2-40B4-BE49-F238E27FC236}">
                <a16:creationId xmlns:a16="http://schemas.microsoft.com/office/drawing/2014/main" id="{C0FE4F9C-BC6D-DA7C-1355-87AEC6018C78}"/>
              </a:ext>
            </a:extLst>
          </p:cNvPr>
          <p:cNvGraphicFramePr>
            <a:graphicFrameLocks noChangeAspect="1"/>
          </p:cNvGraphicFramePr>
          <p:nvPr>
            <p:extLst>
              <p:ext uri="{D42A27DB-BD31-4B8C-83A1-F6EECF244321}">
                <p14:modId xmlns:p14="http://schemas.microsoft.com/office/powerpoint/2010/main" val="1427686660"/>
              </p:ext>
            </p:extLst>
          </p:nvPr>
        </p:nvGraphicFramePr>
        <p:xfrm>
          <a:off x="6873450" y="5105548"/>
          <a:ext cx="685800" cy="392112"/>
        </p:xfrm>
        <a:graphic>
          <a:graphicData uri="http://schemas.openxmlformats.org/presentationml/2006/ole">
            <mc:AlternateContent xmlns:mc="http://schemas.openxmlformats.org/markup-compatibility/2006">
              <mc:Choice xmlns:v="urn:schemas-microsoft-com:vml" Requires="v">
                <p:oleObj name="Equation" r:id="rId23" imgW="355292" imgH="203024" progId="Equation.DSMT4">
                  <p:embed/>
                </p:oleObj>
              </mc:Choice>
              <mc:Fallback>
                <p:oleObj name="Equation" r:id="rId23" imgW="355292" imgH="203024" progId="Equation.DSMT4">
                  <p:embed/>
                  <p:pic>
                    <p:nvPicPr>
                      <p:cNvPr id="9" name="Object 8">
                        <a:extLst>
                          <a:ext uri="{FF2B5EF4-FFF2-40B4-BE49-F238E27FC236}">
                            <a16:creationId xmlns:a16="http://schemas.microsoft.com/office/drawing/2014/main" id="{C8EF3A03-1F29-46DE-B462-9FA2AA7DA5BA}"/>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873450" y="5105548"/>
                        <a:ext cx="6858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67685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9EF33-0A31-C376-D6D3-A01464DBC2E9}"/>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40DC8629-FA6B-2A7C-55D6-224D2A883EAA}"/>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Electromagnetic wave equation</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30" name="Object 4">
                <a:extLst>
                  <a:ext uri="{FF2B5EF4-FFF2-40B4-BE49-F238E27FC236}">
                    <a16:creationId xmlns:a16="http://schemas.microsoft.com/office/drawing/2014/main" id="{0585A3AA-DCF5-C1AD-9998-12E9499A7014}"/>
                  </a:ext>
                </a:extLst>
              </p:cNvPr>
              <p:cNvSpPr txBox="1"/>
              <p:nvPr/>
            </p:nvSpPr>
            <p:spPr bwMode="auto">
              <a:xfrm>
                <a:off x="669698" y="706649"/>
                <a:ext cx="3581172" cy="830262"/>
              </a:xfrm>
              <a:prstGeom prst="rect">
                <a:avLst/>
              </a:prstGeom>
              <a:solidFill>
                <a:schemeClr val="bg1"/>
              </a:solidFill>
              <a:ln w="38100">
                <a:no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 </m:t>
                      </m:r>
                      <m:f>
                        <m:fPr>
                          <m:ctrlPr>
                            <a:rPr lang="zh-CN" altLang="en-US" sz="2400" i="1">
                              <a:solidFill>
                                <a:srgbClr val="000000"/>
                              </a:solidFill>
                              <a:latin typeface="Cambria Math" panose="02040503050406030204" pitchFamily="18" charset="0"/>
                            </a:rPr>
                          </m:ctrlPr>
                        </m:fPr>
                        <m:num>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𝑓</m:t>
                          </m:r>
                        </m:num>
                        <m:den>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2</m:t>
                              </m:r>
                            </m:sup>
                          </m:sSup>
                        </m:den>
                      </m:f>
                      <m:r>
                        <a:rPr lang="zh-CN" altLang="en-US" sz="2400" i="1">
                          <a:solidFill>
                            <a:srgbClr val="000000"/>
                          </a:solidFill>
                          <a:latin typeface="Cambria Math" panose="02040503050406030204" pitchFamily="18" charset="0"/>
                        </a:rPr>
                        <m:t>  −  </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sSup>
                            <m:sSupPr>
                              <m:ctrlPr>
                                <a:rPr lang="zh-CN" altLang="en-US" sz="2400" i="1">
                                  <a:solidFill>
                                    <a:srgbClr val="000000"/>
                                  </a:solidFill>
                                  <a:latin typeface="Cambria Math" panose="02040503050406030204" pitchFamily="18" charset="0"/>
                                </a:rPr>
                              </m:ctrlPr>
                            </m:sSupPr>
                            <m:e>
                              <m:r>
                                <m:rPr>
                                  <m:sty m:val="p"/>
                                </m:rPr>
                                <a:rPr lang="zh-CN" altLang="en-US" sz="2400" i="1">
                                  <a:solidFill>
                                    <a:srgbClr val="000000"/>
                                  </a:solidFill>
                                  <a:latin typeface="Cambria Math" panose="02040503050406030204" pitchFamily="18" charset="0"/>
                                </a:rPr>
                                <m:t>v</m:t>
                              </m:r>
                            </m:e>
                            <m:sup>
                              <m:r>
                                <a:rPr lang="zh-CN" altLang="en-US" sz="2400" i="1">
                                  <a:solidFill>
                                    <a:srgbClr val="000000"/>
                                  </a:solidFill>
                                  <a:latin typeface="Cambria Math" panose="02040503050406030204" pitchFamily="18" charset="0"/>
                                </a:rPr>
                                <m:t>2</m:t>
                              </m:r>
                            </m:sup>
                          </m:sSup>
                        </m:den>
                      </m:f>
                      <m:f>
                        <m:fPr>
                          <m:ctrlPr>
                            <a:rPr lang="zh-CN" altLang="en-US" sz="2400" i="1">
                              <a:solidFill>
                                <a:srgbClr val="000000"/>
                              </a:solidFill>
                              <a:latin typeface="Cambria Math" panose="02040503050406030204" pitchFamily="18" charset="0"/>
                            </a:rPr>
                          </m:ctrlPr>
                        </m:fPr>
                        <m:num>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m:t>
                              </m:r>
                            </m:e>
                            <m:sup>
                              <m:r>
                                <a:rPr lang="zh-CN" altLang="en-US" sz="2400" i="1">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𝑓</m:t>
                          </m:r>
                        </m:num>
                        <m:den>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𝑡</m:t>
                              </m:r>
                            </m:e>
                            <m:sup>
                              <m:r>
                                <a:rPr lang="zh-CN" altLang="en-US" sz="2400" i="1">
                                  <a:solidFill>
                                    <a:srgbClr val="000000"/>
                                  </a:solidFill>
                                  <a:latin typeface="Cambria Math" panose="02040503050406030204" pitchFamily="18" charset="0"/>
                                </a:rPr>
                                <m:t>2</m:t>
                              </m:r>
                            </m:sup>
                          </m:sSup>
                        </m:den>
                      </m:f>
                      <m:r>
                        <a:rPr lang="zh-CN" altLang="en-US" sz="2400" i="1">
                          <a:solidFill>
                            <a:srgbClr val="000000"/>
                          </a:solidFill>
                          <a:latin typeface="Cambria Math" panose="02040503050406030204" pitchFamily="18" charset="0"/>
                        </a:rPr>
                        <m:t>  =  0 </m:t>
                      </m:r>
                    </m:oMath>
                  </m:oMathPara>
                </a14:m>
                <a:endParaRPr lang="zh-CN" altLang="en-US" sz="2400" dirty="0"/>
              </a:p>
            </p:txBody>
          </p:sp>
        </mc:Choice>
        <mc:Fallback xmlns="">
          <p:sp>
            <p:nvSpPr>
              <p:cNvPr id="30" name="Object 4">
                <a:extLst>
                  <a:ext uri="{FF2B5EF4-FFF2-40B4-BE49-F238E27FC236}">
                    <a16:creationId xmlns:a16="http://schemas.microsoft.com/office/drawing/2014/main" id="{0585A3AA-DCF5-C1AD-9998-12E9499A7014}"/>
                  </a:ext>
                </a:extLst>
              </p:cNvPr>
              <p:cNvSpPr txBox="1">
                <a:spLocks noRot="1" noChangeAspect="1" noMove="1" noResize="1" noEditPoints="1" noAdjustHandles="1" noChangeArrowheads="1" noChangeShapeType="1" noTextEdit="1"/>
              </p:cNvSpPr>
              <p:nvPr/>
            </p:nvSpPr>
            <p:spPr bwMode="auto">
              <a:xfrm>
                <a:off x="669698" y="706649"/>
                <a:ext cx="3581172" cy="830262"/>
              </a:xfrm>
              <a:prstGeom prst="rect">
                <a:avLst/>
              </a:prstGeom>
              <a:blipFill>
                <a:blip r:embed="rId3"/>
                <a:stretch>
                  <a:fillRect/>
                </a:stretch>
              </a:blipFill>
              <a:ln w="38100">
                <a:noFill/>
                <a:miter lim="800000"/>
                <a:headEnd/>
                <a:tailEnd/>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7F0D851E-634C-14F4-119F-D49053A0ACB3}"/>
                  </a:ext>
                </a:extLst>
              </p:cNvPr>
              <p:cNvSpPr txBox="1"/>
              <p:nvPr/>
            </p:nvSpPr>
            <p:spPr>
              <a:xfrm>
                <a:off x="5633529" y="689199"/>
                <a:ext cx="2454711" cy="7411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zh-CN" altLang="en-US" sz="2400" i="1" smtClean="0">
                              <a:solidFill>
                                <a:srgbClr val="836967"/>
                              </a:solidFill>
                              <a:latin typeface="Cambria Math" panose="02040503050406030204" pitchFamily="18" charset="0"/>
                            </a:rPr>
                          </m:ctrlPr>
                        </m:fPr>
                        <m:num>
                          <m:sSup>
                            <m:sSupPr>
                              <m:ctrlPr>
                                <a:rPr lang="zh-CN" altLang="en-US" sz="2400" i="1">
                                  <a:solidFill>
                                    <a:srgbClr val="836967"/>
                                  </a:solidFill>
                                  <a:latin typeface="Cambria Math" panose="02040503050406030204" pitchFamily="18" charset="0"/>
                                </a:rPr>
                              </m:ctrlPr>
                            </m:sSupPr>
                            <m:e>
                              <m:r>
                                <a:rPr lang="zh-CN" altLang="en-US" sz="2400">
                                  <a:latin typeface="Cambria Math" panose="02040503050406030204" pitchFamily="18" charset="0"/>
                                </a:rPr>
                                <m:t>𝜕</m:t>
                              </m:r>
                            </m:e>
                            <m:sup>
                              <m:r>
                                <a:rPr lang="zh-CN" altLang="en-US" sz="2400" i="0">
                                  <a:latin typeface="Cambria Math" panose="02040503050406030204" pitchFamily="18" charset="0"/>
                                </a:rPr>
                                <m:t>2</m:t>
                              </m:r>
                            </m:sup>
                          </m:sSup>
                          <m:r>
                            <a:rPr lang="zh-CN" altLang="en-US" sz="2400" i="1">
                              <a:latin typeface="Cambria Math" panose="02040503050406030204" pitchFamily="18" charset="0"/>
                            </a:rPr>
                            <m:t>𝐸</m:t>
                          </m:r>
                        </m:num>
                        <m:den>
                          <m:r>
                            <a:rPr lang="zh-CN" altLang="en-US" sz="2400" i="0">
                              <a:latin typeface="Cambria Math" panose="02040503050406030204" pitchFamily="18" charset="0"/>
                            </a:rPr>
                            <m:t>𝜕</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0">
                                  <a:latin typeface="Cambria Math" panose="02040503050406030204" pitchFamily="18" charset="0"/>
                                </a:rPr>
                                <m:t>2</m:t>
                              </m:r>
                            </m:sup>
                          </m:sSup>
                        </m:den>
                      </m:f>
                      <m:r>
                        <a:rPr lang="zh-CN" altLang="en-US" sz="2400" i="0">
                          <a:latin typeface="Cambria Math" panose="02040503050406030204" pitchFamily="18" charset="0"/>
                        </a:rPr>
                        <m:t>−</m:t>
                      </m:r>
                      <m:r>
                        <a:rPr lang="en-US" altLang="zh-CN" sz="2400" i="1" smtClean="0">
                          <a:latin typeface="Cambria Math" panose="02040503050406030204" pitchFamily="18" charset="0"/>
                        </a:rPr>
                        <m:t>𝜇</m:t>
                      </m:r>
                      <m:r>
                        <a:rPr lang="zh-CN" altLang="en-US" sz="2400" i="1">
                          <a:latin typeface="Cambria Math" panose="02040503050406030204" pitchFamily="18" charset="0"/>
                        </a:rPr>
                        <m:t>𝜀</m:t>
                      </m:r>
                      <m:f>
                        <m:fPr>
                          <m:ctrlPr>
                            <a:rPr lang="zh-CN" altLang="en-US" sz="2400" i="1">
                              <a:solidFill>
                                <a:srgbClr val="836967"/>
                              </a:solidFill>
                              <a:latin typeface="Cambria Math" panose="02040503050406030204" pitchFamily="18" charset="0"/>
                            </a:rPr>
                          </m:ctrlPr>
                        </m:fPr>
                        <m:num>
                          <m:sSup>
                            <m:sSupPr>
                              <m:ctrlPr>
                                <a:rPr lang="zh-CN" altLang="en-US" sz="2400" i="1">
                                  <a:solidFill>
                                    <a:srgbClr val="836967"/>
                                  </a:solidFill>
                                  <a:latin typeface="Cambria Math" panose="02040503050406030204" pitchFamily="18" charset="0"/>
                                </a:rPr>
                              </m:ctrlPr>
                            </m:sSupPr>
                            <m:e>
                              <m:r>
                                <a:rPr lang="zh-CN" altLang="en-US" sz="2400" i="0">
                                  <a:latin typeface="Cambria Math" panose="02040503050406030204" pitchFamily="18" charset="0"/>
                                </a:rPr>
                                <m:t>𝜕</m:t>
                              </m:r>
                            </m:e>
                            <m:sup>
                              <m:r>
                                <a:rPr lang="zh-CN" altLang="en-US" sz="2400" i="0">
                                  <a:latin typeface="Cambria Math" panose="02040503050406030204" pitchFamily="18" charset="0"/>
                                </a:rPr>
                                <m:t>2</m:t>
                              </m:r>
                            </m:sup>
                          </m:sSup>
                          <m:r>
                            <a:rPr lang="zh-CN" altLang="en-US" sz="2400" i="1">
                              <a:latin typeface="Cambria Math" panose="02040503050406030204" pitchFamily="18" charset="0"/>
                            </a:rPr>
                            <m:t>𝐸</m:t>
                          </m:r>
                        </m:num>
                        <m:den>
                          <m:r>
                            <a:rPr lang="zh-CN" altLang="en-US" sz="2400" i="0">
                              <a:latin typeface="Cambria Math" panose="02040503050406030204" pitchFamily="18" charset="0"/>
                            </a:rPr>
                            <m:t>𝜕</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𝑡</m:t>
                              </m:r>
                            </m:e>
                            <m:sup>
                              <m:r>
                                <a:rPr lang="zh-CN" altLang="en-US" sz="2400" i="0">
                                  <a:latin typeface="Cambria Math" panose="02040503050406030204" pitchFamily="18" charset="0"/>
                                </a:rPr>
                                <m:t>2</m:t>
                              </m:r>
                            </m:sup>
                          </m:sSup>
                        </m:den>
                      </m:f>
                      <m:r>
                        <a:rPr lang="zh-CN" altLang="en-US" sz="2400" i="0">
                          <a:latin typeface="Cambria Math" panose="02040503050406030204" pitchFamily="18" charset="0"/>
                        </a:rPr>
                        <m:t>=0</m:t>
                      </m:r>
                    </m:oMath>
                  </m:oMathPara>
                </a14:m>
                <a:endParaRPr lang="zh-CN" altLang="en-US" sz="2400" dirty="0"/>
              </a:p>
            </p:txBody>
          </p:sp>
        </mc:Choice>
        <mc:Fallback xmlns="">
          <p:sp>
            <p:nvSpPr>
              <p:cNvPr id="2" name="文本框 1">
                <a:extLst>
                  <a:ext uri="{FF2B5EF4-FFF2-40B4-BE49-F238E27FC236}">
                    <a16:creationId xmlns:a16="http://schemas.microsoft.com/office/drawing/2014/main" id="{7F0D851E-634C-14F4-119F-D49053A0ACB3}"/>
                  </a:ext>
                </a:extLst>
              </p:cNvPr>
              <p:cNvSpPr txBox="1">
                <a:spLocks noRot="1" noChangeAspect="1" noMove="1" noResize="1" noEditPoints="1" noAdjustHandles="1" noChangeArrowheads="1" noChangeShapeType="1" noTextEdit="1"/>
              </p:cNvSpPr>
              <p:nvPr/>
            </p:nvSpPr>
            <p:spPr>
              <a:xfrm>
                <a:off x="5633529" y="689199"/>
                <a:ext cx="2454711" cy="741165"/>
              </a:xfrm>
              <a:prstGeom prst="rect">
                <a:avLst/>
              </a:prstGeom>
              <a:blipFill>
                <a:blip r:embed="rId4"/>
                <a:stretch>
                  <a:fillRect/>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43D2D7C8-07FD-7712-EFAE-CA4C0CDBB45F}"/>
              </a:ext>
            </a:extLst>
          </p:cNvPr>
          <p:cNvSpPr txBox="1"/>
          <p:nvPr/>
        </p:nvSpPr>
        <p:spPr>
          <a:xfrm>
            <a:off x="1039686" y="2297074"/>
            <a:ext cx="2596243" cy="369332"/>
          </a:xfrm>
          <a:prstGeom prst="rect">
            <a:avLst/>
          </a:prstGeom>
          <a:noFill/>
        </p:spPr>
        <p:txBody>
          <a:bodyPr wrap="square">
            <a:spAutoFit/>
          </a:bodyPr>
          <a:lstStyle/>
          <a:p>
            <a:r>
              <a:rPr kumimoji="0" lang="en-US" altLang="en-US" sz="1800" b="0"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mn-ea"/>
                <a:cs typeface="+mn-cs"/>
              </a:rPr>
              <a:t>v</a:t>
            </a:r>
            <a:r>
              <a:rPr kumimoji="0" lang="en-US" altLang="en-US" sz="1800" b="0" i="0" u="none" strike="noStrike" kern="1200" cap="none" spc="0" normalizeH="0" baseline="0" noProof="0" dirty="0">
                <a:ln>
                  <a:noFill/>
                </a:ln>
                <a:solidFill>
                  <a:schemeClr val="accent6">
                    <a:lumMod val="75000"/>
                  </a:schemeClr>
                </a:solidFill>
                <a:effectLst/>
                <a:uLnTx/>
                <a:uFillTx/>
                <a:latin typeface="Arial" panose="020B0604020202020204" pitchFamily="34" charset="0"/>
                <a:ea typeface="+mn-ea"/>
                <a:cs typeface="+mn-cs"/>
              </a:rPr>
              <a:t> is the wave’s velocity</a:t>
            </a:r>
            <a:endParaRPr lang="zh-CN" altLang="en-US" dirty="0">
              <a:solidFill>
                <a:schemeClr val="accent6">
                  <a:lumMod val="75000"/>
                </a:schemeClr>
              </a:solidFill>
            </a:endParaRPr>
          </a:p>
        </p:txBody>
      </p:sp>
      <p:sp>
        <p:nvSpPr>
          <p:cNvPr id="7" name="矩形 6">
            <a:extLst>
              <a:ext uri="{FF2B5EF4-FFF2-40B4-BE49-F238E27FC236}">
                <a16:creationId xmlns:a16="http://schemas.microsoft.com/office/drawing/2014/main" id="{FE36C709-6D2E-8A4E-5F32-67222D23E298}"/>
              </a:ext>
            </a:extLst>
          </p:cNvPr>
          <p:cNvSpPr/>
          <p:nvPr/>
        </p:nvSpPr>
        <p:spPr>
          <a:xfrm>
            <a:off x="511628" y="600669"/>
            <a:ext cx="3690257" cy="242556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37198FD-5C78-15E9-A3F4-4EF4B5DA3EED}"/>
              </a:ext>
            </a:extLst>
          </p:cNvPr>
          <p:cNvSpPr/>
          <p:nvPr/>
        </p:nvSpPr>
        <p:spPr>
          <a:xfrm>
            <a:off x="4848447" y="600669"/>
            <a:ext cx="3864934" cy="242556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2D545F7E-6211-73F6-7F8E-5931AC2A6243}"/>
              </a:ext>
            </a:extLst>
          </p:cNvPr>
          <p:cNvSpPr txBox="1"/>
          <p:nvPr/>
        </p:nvSpPr>
        <p:spPr>
          <a:xfrm>
            <a:off x="6599047" y="2481740"/>
            <a:ext cx="1632858" cy="369332"/>
          </a:xfrm>
          <a:prstGeom prst="rect">
            <a:avLst/>
          </a:prstGeom>
          <a:noFill/>
        </p:spPr>
        <p:txBody>
          <a:bodyPr wrap="square">
            <a:spAutoFit/>
          </a:bodyPr>
          <a:lstStyle/>
          <a:p>
            <a:r>
              <a:rPr kumimoji="0" lang="en-US" altLang="zh-CN" sz="1800" b="0" i="0" u="none" strike="noStrike" kern="1200" cap="none" spc="0" normalizeH="0" baseline="0" noProof="0" dirty="0">
                <a:ln>
                  <a:noFill/>
                </a:ln>
                <a:solidFill>
                  <a:schemeClr val="accent6">
                    <a:lumMod val="75000"/>
                  </a:schemeClr>
                </a:solidFill>
                <a:effectLst/>
                <a:uLnTx/>
                <a:uFillTx/>
                <a:ea typeface="+mn-ea"/>
                <a:cs typeface="+mn-cs"/>
              </a:rPr>
              <a:t>Light </a:t>
            </a:r>
            <a:r>
              <a:rPr kumimoji="0" lang="en-US" altLang="en-US" sz="1800" b="0" i="0" u="none" strike="noStrike" kern="1200" cap="none" spc="0" normalizeH="0" baseline="0" noProof="0" dirty="0">
                <a:ln>
                  <a:noFill/>
                </a:ln>
                <a:solidFill>
                  <a:schemeClr val="accent6">
                    <a:lumMod val="75000"/>
                  </a:schemeClr>
                </a:solidFill>
                <a:effectLst/>
                <a:uLnTx/>
                <a:uFillTx/>
                <a:ea typeface="+mn-ea"/>
                <a:cs typeface="+mn-cs"/>
              </a:rPr>
              <a:t>velocity</a:t>
            </a:r>
            <a:endParaRPr lang="zh-CN" altLang="en-US" dirty="0">
              <a:solidFill>
                <a:schemeClr val="accent6">
                  <a:lumMod val="75000"/>
                </a:schemeClr>
              </a:solidFill>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A3A93E1C-C609-C346-7243-D6D645443CFF}"/>
                  </a:ext>
                </a:extLst>
              </p:cNvPr>
              <p:cNvSpPr txBox="1"/>
              <p:nvPr/>
            </p:nvSpPr>
            <p:spPr>
              <a:xfrm>
                <a:off x="5546534" y="2361429"/>
                <a:ext cx="857799" cy="5824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i="1" smtClean="0">
                          <a:solidFill>
                            <a:schemeClr val="accent6">
                              <a:lumMod val="75000"/>
                            </a:schemeClr>
                          </a:solidFill>
                          <a:latin typeface="Cambria Math" panose="02040503050406030204" pitchFamily="18" charset="0"/>
                        </a:rPr>
                        <m:t>c</m:t>
                      </m:r>
                      <m:r>
                        <a:rPr lang="zh-CN" altLang="en-US" i="0">
                          <a:solidFill>
                            <a:schemeClr val="accent6">
                              <a:lumMod val="75000"/>
                            </a:schemeClr>
                          </a:solidFill>
                          <a:latin typeface="Cambria Math" panose="02040503050406030204" pitchFamily="18" charset="0"/>
                        </a:rPr>
                        <m:t>=</m:t>
                      </m:r>
                      <m:f>
                        <m:fPr>
                          <m:ctrlPr>
                            <a:rPr lang="zh-CN" altLang="en-US" i="1">
                              <a:solidFill>
                                <a:schemeClr val="accent6">
                                  <a:lumMod val="75000"/>
                                </a:schemeClr>
                              </a:solidFill>
                              <a:latin typeface="Cambria Math" panose="02040503050406030204" pitchFamily="18" charset="0"/>
                            </a:rPr>
                          </m:ctrlPr>
                        </m:fPr>
                        <m:num>
                          <m:r>
                            <a:rPr lang="zh-CN" altLang="en-US" i="0">
                              <a:solidFill>
                                <a:schemeClr val="accent6">
                                  <a:lumMod val="75000"/>
                                </a:schemeClr>
                              </a:solidFill>
                              <a:latin typeface="Cambria Math" panose="02040503050406030204" pitchFamily="18" charset="0"/>
                            </a:rPr>
                            <m:t>1</m:t>
                          </m:r>
                        </m:num>
                        <m:den>
                          <m:rad>
                            <m:radPr>
                              <m:degHide m:val="on"/>
                              <m:ctrlPr>
                                <a:rPr lang="zh-CN" altLang="en-US" i="1">
                                  <a:solidFill>
                                    <a:schemeClr val="accent6">
                                      <a:lumMod val="75000"/>
                                    </a:schemeClr>
                                  </a:solidFill>
                                  <a:latin typeface="Cambria Math" panose="02040503050406030204" pitchFamily="18" charset="0"/>
                                </a:rPr>
                              </m:ctrlPr>
                            </m:radPr>
                            <m:deg/>
                            <m:e>
                              <m:r>
                                <a:rPr lang="zh-CN" altLang="en-US" i="1" smtClean="0">
                                  <a:solidFill>
                                    <a:schemeClr val="accent6">
                                      <a:lumMod val="75000"/>
                                    </a:schemeClr>
                                  </a:solidFill>
                                  <a:latin typeface="Cambria Math" panose="02040503050406030204" pitchFamily="18" charset="0"/>
                                </a:rPr>
                                <m:t>𝜇</m:t>
                              </m:r>
                              <m:r>
                                <a:rPr lang="zh-CN" altLang="en-US" i="1">
                                  <a:solidFill>
                                    <a:schemeClr val="accent6">
                                      <a:lumMod val="75000"/>
                                    </a:schemeClr>
                                  </a:solidFill>
                                  <a:latin typeface="Cambria Math" panose="02040503050406030204" pitchFamily="18" charset="0"/>
                                </a:rPr>
                                <m:t>𝜀</m:t>
                              </m:r>
                            </m:e>
                          </m:rad>
                        </m:den>
                      </m:f>
                    </m:oMath>
                  </m:oMathPara>
                </a14:m>
                <a:endParaRPr lang="zh-CN" altLang="en-US" dirty="0">
                  <a:solidFill>
                    <a:schemeClr val="accent6">
                      <a:lumMod val="75000"/>
                    </a:schemeClr>
                  </a:solidFill>
                </a:endParaRPr>
              </a:p>
            </p:txBody>
          </p:sp>
        </mc:Choice>
        <mc:Fallback xmlns="">
          <p:sp>
            <p:nvSpPr>
              <p:cNvPr id="13" name="文本框 12">
                <a:extLst>
                  <a:ext uri="{FF2B5EF4-FFF2-40B4-BE49-F238E27FC236}">
                    <a16:creationId xmlns:a16="http://schemas.microsoft.com/office/drawing/2014/main" id="{A3A93E1C-C609-C346-7243-D6D645443CFF}"/>
                  </a:ext>
                </a:extLst>
              </p:cNvPr>
              <p:cNvSpPr txBox="1">
                <a:spLocks noRot="1" noChangeAspect="1" noMove="1" noResize="1" noEditPoints="1" noAdjustHandles="1" noChangeArrowheads="1" noChangeShapeType="1" noTextEdit="1"/>
              </p:cNvSpPr>
              <p:nvPr/>
            </p:nvSpPr>
            <p:spPr>
              <a:xfrm>
                <a:off x="5546534" y="2361429"/>
                <a:ext cx="857799" cy="582467"/>
              </a:xfrm>
              <a:prstGeom prst="rect">
                <a:avLst/>
              </a:prstGeom>
              <a:blipFill>
                <a:blip r:embed="rId5"/>
                <a:stretch>
                  <a:fillRect/>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60BD9D1A-DC0F-F7C8-AC4C-02B17CC5B79C}"/>
              </a:ext>
            </a:extLst>
          </p:cNvPr>
          <p:cNvSpPr txBox="1"/>
          <p:nvPr/>
        </p:nvSpPr>
        <p:spPr>
          <a:xfrm>
            <a:off x="623488" y="4882244"/>
            <a:ext cx="8449918" cy="400110"/>
          </a:xfrm>
          <a:prstGeom prst="rect">
            <a:avLst/>
          </a:prstGeom>
          <a:noFill/>
        </p:spPr>
        <p:txBody>
          <a:bodyPr wrap="square">
            <a:spAutoFit/>
          </a:bodyPr>
          <a:lstStyle/>
          <a:p>
            <a:r>
              <a:rPr lang="en-US" altLang="zh-CN" sz="2000" dirty="0"/>
              <a:t>We derive the electromagnetic wave equation from Maxwell’s equations.</a:t>
            </a:r>
            <a:endParaRPr lang="zh-CN" altLang="en-US" sz="2000" dirty="0"/>
          </a:p>
        </p:txBody>
      </p:sp>
      <p:sp>
        <p:nvSpPr>
          <p:cNvPr id="20" name="文本框 19">
            <a:extLst>
              <a:ext uri="{FF2B5EF4-FFF2-40B4-BE49-F238E27FC236}">
                <a16:creationId xmlns:a16="http://schemas.microsoft.com/office/drawing/2014/main" id="{15225AB9-3EE0-65A6-07EE-5909F40F49F9}"/>
              </a:ext>
            </a:extLst>
          </p:cNvPr>
          <p:cNvSpPr txBox="1"/>
          <p:nvPr/>
        </p:nvSpPr>
        <p:spPr>
          <a:xfrm>
            <a:off x="5034527" y="1487134"/>
            <a:ext cx="3652713" cy="923330"/>
          </a:xfrm>
          <a:prstGeom prst="rect">
            <a:avLst/>
          </a:prstGeom>
          <a:noFill/>
        </p:spPr>
        <p:txBody>
          <a:bodyPr wrap="square">
            <a:spAutoFit/>
          </a:bodyPr>
          <a:lstStyle/>
          <a:p>
            <a:pPr algn="ctr"/>
            <a:r>
              <a:rPr lang="en-US" altLang="zh-CN" i="1" dirty="0">
                <a:solidFill>
                  <a:srgbClr val="0070C0"/>
                </a:solidFill>
              </a:rPr>
              <a:t>E(</a:t>
            </a:r>
            <a:r>
              <a:rPr lang="en-US" altLang="zh-CN" i="1" dirty="0" err="1">
                <a:solidFill>
                  <a:srgbClr val="0070C0"/>
                </a:solidFill>
              </a:rPr>
              <a:t>x,t</a:t>
            </a:r>
            <a:r>
              <a:rPr lang="en-US" altLang="zh-CN" i="1" dirty="0">
                <a:solidFill>
                  <a:srgbClr val="0070C0"/>
                </a:solidFill>
              </a:rPr>
              <a:t>)</a:t>
            </a:r>
            <a:r>
              <a:rPr lang="en-US" altLang="zh-CN" dirty="0">
                <a:solidFill>
                  <a:srgbClr val="0070C0"/>
                </a:solidFill>
              </a:rPr>
              <a:t> is electric field</a:t>
            </a:r>
            <a:r>
              <a:rPr lang="zh-CN" altLang="en-US" dirty="0"/>
              <a:t>，</a:t>
            </a:r>
            <a:endParaRPr lang="en-US" altLang="zh-CN" dirty="0"/>
          </a:p>
          <a:p>
            <a:pPr algn="ctr"/>
            <a:r>
              <a:rPr lang="en-US" altLang="zh-CN" i="1" dirty="0"/>
              <a:t>μ</a:t>
            </a:r>
            <a:r>
              <a:rPr lang="en-US" altLang="zh-CN" dirty="0"/>
              <a:t> is permeability </a:t>
            </a:r>
            <a:r>
              <a:rPr lang="zh-CN" altLang="en-US" dirty="0"/>
              <a:t>磁导率，</a:t>
            </a:r>
            <a:endParaRPr lang="en-US" altLang="zh-CN" dirty="0"/>
          </a:p>
          <a:p>
            <a:pPr algn="ctr"/>
            <a:r>
              <a:rPr lang="en-US" altLang="zh-CN" i="1" dirty="0"/>
              <a:t>ε</a:t>
            </a:r>
            <a:r>
              <a:rPr lang="en-US" altLang="zh-CN" dirty="0"/>
              <a:t> is permittivity </a:t>
            </a:r>
            <a:r>
              <a:rPr lang="zh-CN" altLang="en-US" dirty="0"/>
              <a:t>介电常数</a:t>
            </a:r>
          </a:p>
        </p:txBody>
      </p:sp>
      <p:sp>
        <p:nvSpPr>
          <p:cNvPr id="24" name="文本框 23">
            <a:extLst>
              <a:ext uri="{FF2B5EF4-FFF2-40B4-BE49-F238E27FC236}">
                <a16:creationId xmlns:a16="http://schemas.microsoft.com/office/drawing/2014/main" id="{487C031C-28B5-CFA3-9557-1A4EA2962006}"/>
              </a:ext>
            </a:extLst>
          </p:cNvPr>
          <p:cNvSpPr txBox="1"/>
          <p:nvPr/>
        </p:nvSpPr>
        <p:spPr>
          <a:xfrm>
            <a:off x="968987" y="1907202"/>
            <a:ext cx="2775537" cy="369332"/>
          </a:xfrm>
          <a:prstGeom prst="rect">
            <a:avLst/>
          </a:prstGeom>
          <a:noFill/>
        </p:spPr>
        <p:txBody>
          <a:bodyPr wrap="square">
            <a:spAutoFit/>
          </a:bodyPr>
          <a:lstStyle/>
          <a:p>
            <a:r>
              <a:rPr lang="en-US" altLang="zh-CN" i="1" dirty="0">
                <a:solidFill>
                  <a:srgbClr val="0070C0"/>
                </a:solidFill>
              </a:rPr>
              <a:t>f(</a:t>
            </a:r>
            <a:r>
              <a:rPr lang="en-US" altLang="zh-CN" i="1" dirty="0" err="1">
                <a:solidFill>
                  <a:srgbClr val="0070C0"/>
                </a:solidFill>
              </a:rPr>
              <a:t>x,t</a:t>
            </a:r>
            <a:r>
              <a:rPr lang="en-US" altLang="zh-CN" i="1" dirty="0">
                <a:solidFill>
                  <a:srgbClr val="0070C0"/>
                </a:solidFill>
              </a:rPr>
              <a:t>) </a:t>
            </a:r>
            <a:r>
              <a:rPr lang="en-US" altLang="zh-CN" dirty="0">
                <a:solidFill>
                  <a:srgbClr val="0070C0"/>
                </a:solidFill>
              </a:rPr>
              <a:t>is the displacement</a:t>
            </a:r>
            <a:endParaRPr lang="zh-CN" altLang="en-US" dirty="0">
              <a:solidFill>
                <a:srgbClr val="0070C0"/>
              </a:solidFill>
            </a:endParaRPr>
          </a:p>
        </p:txBody>
      </p:sp>
      <p:sp>
        <p:nvSpPr>
          <p:cNvPr id="25" name="箭头: 右 24">
            <a:extLst>
              <a:ext uri="{FF2B5EF4-FFF2-40B4-BE49-F238E27FC236}">
                <a16:creationId xmlns:a16="http://schemas.microsoft.com/office/drawing/2014/main" id="{70C47212-4909-F5A3-6E92-29E5713BCA55}"/>
              </a:ext>
            </a:extLst>
          </p:cNvPr>
          <p:cNvSpPr/>
          <p:nvPr/>
        </p:nvSpPr>
        <p:spPr>
          <a:xfrm>
            <a:off x="4381393" y="1676718"/>
            <a:ext cx="336531" cy="299039"/>
          </a:xfrm>
          <a:prstGeom prst="rightArrow">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15570337-E43A-B45C-93A1-F6B6F77F44A0}"/>
                  </a:ext>
                </a:extLst>
              </p:cNvPr>
              <p:cNvSpPr txBox="1"/>
              <p:nvPr/>
            </p:nvSpPr>
            <p:spPr>
              <a:xfrm>
                <a:off x="3664037" y="5294292"/>
                <a:ext cx="1887824" cy="7869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400" i="1" smtClean="0">
                          <a:solidFill>
                            <a:schemeClr val="tx1"/>
                          </a:solidFill>
                          <a:latin typeface="Cambria Math" panose="02040503050406030204" pitchFamily="18" charset="0"/>
                        </a:rPr>
                        <m:t>∇</m:t>
                      </m:r>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𝐸</m:t>
                          </m:r>
                        </m:e>
                      </m:acc>
                      <m:r>
                        <a:rPr lang="zh-CN" altLang="en-US" sz="2400" i="0">
                          <a:solidFill>
                            <a:schemeClr val="tx1"/>
                          </a:solidFill>
                          <a:latin typeface="Cambria Math" panose="02040503050406030204" pitchFamily="18" charset="0"/>
                        </a:rPr>
                        <m:t>=−</m:t>
                      </m:r>
                      <m:f>
                        <m:fPr>
                          <m:ctrlPr>
                            <a:rPr lang="zh-CN" altLang="en-US" sz="2400" i="1">
                              <a:solidFill>
                                <a:schemeClr val="tx1"/>
                              </a:solidFill>
                              <a:latin typeface="Cambria Math" panose="02040503050406030204" pitchFamily="18" charset="0"/>
                            </a:rPr>
                          </m:ctrlPr>
                        </m:fPr>
                        <m:num>
                          <m:r>
                            <a:rPr lang="zh-CN" altLang="en-US" sz="2400" i="0">
                              <a:solidFill>
                                <a:schemeClr val="tx1"/>
                              </a:solidFill>
                              <a:latin typeface="Cambria Math" panose="02040503050406030204" pitchFamily="18" charset="0"/>
                            </a:rPr>
                            <m:t>𝜕</m:t>
                          </m:r>
                          <m:acc>
                            <m:accPr>
                              <m:chr m:val="⃗"/>
                              <m:ctrlPr>
                                <a:rPr lang="zh-CN" altLang="en-US" sz="2400" i="1">
                                  <a:solidFill>
                                    <a:schemeClr val="tx1"/>
                                  </a:solidFill>
                                  <a:latin typeface="Cambria Math" panose="02040503050406030204" pitchFamily="18" charset="0"/>
                                </a:rPr>
                              </m:ctrlPr>
                            </m:accPr>
                            <m:e>
                              <m:r>
                                <a:rPr lang="zh-CN" altLang="en-US" sz="2400" i="1">
                                  <a:solidFill>
                                    <a:schemeClr val="tx1"/>
                                  </a:solidFill>
                                  <a:latin typeface="Cambria Math" panose="02040503050406030204" pitchFamily="18" charset="0"/>
                                </a:rPr>
                                <m:t>𝐵</m:t>
                              </m:r>
                            </m:e>
                          </m:acc>
                        </m:num>
                        <m:den>
                          <m:r>
                            <a:rPr lang="zh-CN" altLang="en-US" sz="2400" i="0">
                              <a:solidFill>
                                <a:schemeClr val="tx1"/>
                              </a:solidFill>
                              <a:latin typeface="Cambria Math" panose="02040503050406030204" pitchFamily="18" charset="0"/>
                            </a:rPr>
                            <m:t>𝜕</m:t>
                          </m:r>
                          <m:r>
                            <a:rPr lang="zh-CN" altLang="en-US" sz="2400" i="1">
                              <a:solidFill>
                                <a:schemeClr val="tx1"/>
                              </a:solidFill>
                              <a:latin typeface="Cambria Math" panose="02040503050406030204" pitchFamily="18" charset="0"/>
                            </a:rPr>
                            <m:t>𝑡</m:t>
                          </m:r>
                        </m:den>
                      </m:f>
                    </m:oMath>
                  </m:oMathPara>
                </a14:m>
                <a:endParaRPr lang="zh-CN" altLang="en-US" sz="2400" dirty="0"/>
              </a:p>
            </p:txBody>
          </p:sp>
        </mc:Choice>
        <mc:Fallback xmlns="">
          <p:sp>
            <p:nvSpPr>
              <p:cNvPr id="28" name="文本框 27">
                <a:extLst>
                  <a:ext uri="{FF2B5EF4-FFF2-40B4-BE49-F238E27FC236}">
                    <a16:creationId xmlns:a16="http://schemas.microsoft.com/office/drawing/2014/main" id="{15570337-E43A-B45C-93A1-F6B6F77F44A0}"/>
                  </a:ext>
                </a:extLst>
              </p:cNvPr>
              <p:cNvSpPr txBox="1">
                <a:spLocks noRot="1" noChangeAspect="1" noMove="1" noResize="1" noEditPoints="1" noAdjustHandles="1" noChangeArrowheads="1" noChangeShapeType="1" noTextEdit="1"/>
              </p:cNvSpPr>
              <p:nvPr/>
            </p:nvSpPr>
            <p:spPr>
              <a:xfrm>
                <a:off x="3664037" y="5294292"/>
                <a:ext cx="1887824" cy="786947"/>
              </a:xfrm>
              <a:prstGeom prst="rect">
                <a:avLst/>
              </a:prstGeom>
              <a:blipFill>
                <a:blip r:embed="rId6"/>
                <a:stretch>
                  <a:fillRect/>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A06EFAFF-D32E-FD74-2CFB-7360551C6F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75433" y="3152503"/>
            <a:ext cx="2893510" cy="1358538"/>
          </a:xfrm>
          <a:prstGeom prst="rect">
            <a:avLst/>
          </a:prstGeom>
        </p:spPr>
      </p:pic>
      <p:sp>
        <p:nvSpPr>
          <p:cNvPr id="5" name="矩形 4">
            <a:extLst>
              <a:ext uri="{FF2B5EF4-FFF2-40B4-BE49-F238E27FC236}">
                <a16:creationId xmlns:a16="http://schemas.microsoft.com/office/drawing/2014/main" id="{61F1AAAC-FFA2-F6BC-0927-3E6D094591C6}"/>
              </a:ext>
            </a:extLst>
          </p:cNvPr>
          <p:cNvSpPr/>
          <p:nvPr/>
        </p:nvSpPr>
        <p:spPr>
          <a:xfrm>
            <a:off x="431560" y="3533639"/>
            <a:ext cx="5543873" cy="830997"/>
          </a:xfrm>
          <a:prstGeom prst="rect">
            <a:avLst/>
          </a:prstGeom>
        </p:spPr>
        <p:txBody>
          <a:bodyPr wrap="square">
            <a:spAutoFit/>
          </a:bodyPr>
          <a:lstStyle/>
          <a:p>
            <a:r>
              <a:rPr lang="zh-CN" altLang="en-US" sz="1600" dirty="0"/>
              <a:t>时变电场和磁场相互激发，有一个</a:t>
            </a:r>
            <a:r>
              <a:rPr lang="en-US" altLang="zh-CN" sz="1600" dirty="0"/>
              <a:t>π/2</a:t>
            </a:r>
            <a:r>
              <a:rPr lang="zh-CN" altLang="en-US" sz="1600" dirty="0"/>
              <a:t>的相位差。电场激发的磁场往前移了</a:t>
            </a:r>
            <a:r>
              <a:rPr lang="en-US" altLang="zh-CN" sz="1600" dirty="0"/>
              <a:t>λ/4</a:t>
            </a:r>
            <a:r>
              <a:rPr lang="zh-CN" altLang="en-US" sz="1600" dirty="0"/>
              <a:t>个波长的位置，磁场激发电场也是一样，相互激发往前传播。</a:t>
            </a:r>
          </a:p>
        </p:txBody>
      </p:sp>
    </p:spTree>
    <p:extLst>
      <p:ext uri="{BB962C8B-B14F-4D97-AF65-F5344CB8AC3E}">
        <p14:creationId xmlns:p14="http://schemas.microsoft.com/office/powerpoint/2010/main" val="2589721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636C6-952D-D6D5-808A-6619A3CE18B1}"/>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4F6DDE3C-52D3-9422-B646-D2AFC0C3D4FD}"/>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Electromagnetic wave equation</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C592F429-5A9F-3056-BA22-CC9601BBED0A}"/>
                  </a:ext>
                </a:extLst>
              </p:cNvPr>
              <p:cNvSpPr txBox="1"/>
              <p:nvPr/>
            </p:nvSpPr>
            <p:spPr>
              <a:xfrm>
                <a:off x="3364533" y="560006"/>
                <a:ext cx="1584215" cy="6558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i="1" smtClean="0">
                          <a:solidFill>
                            <a:schemeClr val="tx1"/>
                          </a:solidFill>
                          <a:latin typeface="Cambria Math" panose="02040503050406030204" pitchFamily="18" charset="0"/>
                        </a:rPr>
                        <m:t>∇</m:t>
                      </m:r>
                      <m:r>
                        <a:rPr lang="zh-CN" altLang="en-US" sz="2000" i="0">
                          <a:solidFill>
                            <a:schemeClr val="tx1"/>
                          </a:solidFill>
                          <a:latin typeface="Cambria Math" panose="02040503050406030204" pitchFamily="18" charset="0"/>
                        </a:rPr>
                        <m:t>×</m:t>
                      </m:r>
                      <m:acc>
                        <m:accPr>
                          <m:chr m:val="⃗"/>
                          <m:ctrlPr>
                            <a:rPr lang="zh-CN" altLang="en-US" sz="2000" i="1">
                              <a:solidFill>
                                <a:schemeClr val="tx1"/>
                              </a:solidFill>
                              <a:latin typeface="Cambria Math" panose="02040503050406030204" pitchFamily="18" charset="0"/>
                            </a:rPr>
                          </m:ctrlPr>
                        </m:accPr>
                        <m:e>
                          <m:r>
                            <a:rPr lang="zh-CN" altLang="en-US" sz="2000" i="1">
                              <a:solidFill>
                                <a:schemeClr val="tx1"/>
                              </a:solidFill>
                              <a:latin typeface="Cambria Math" panose="02040503050406030204" pitchFamily="18" charset="0"/>
                            </a:rPr>
                            <m:t>𝐸</m:t>
                          </m:r>
                        </m:e>
                      </m:acc>
                      <m:r>
                        <a:rPr lang="zh-CN" altLang="en-US" sz="2000" i="0">
                          <a:solidFill>
                            <a:schemeClr val="tx1"/>
                          </a:solidFill>
                          <a:latin typeface="Cambria Math" panose="02040503050406030204" pitchFamily="18" charset="0"/>
                        </a:rPr>
                        <m:t>=−</m:t>
                      </m:r>
                      <m:f>
                        <m:fPr>
                          <m:ctrlPr>
                            <a:rPr lang="zh-CN" altLang="en-US" sz="2000" i="1">
                              <a:solidFill>
                                <a:schemeClr val="tx1"/>
                              </a:solidFill>
                              <a:latin typeface="Cambria Math" panose="02040503050406030204" pitchFamily="18" charset="0"/>
                            </a:rPr>
                          </m:ctrlPr>
                        </m:fPr>
                        <m:num>
                          <m:r>
                            <a:rPr lang="zh-CN" altLang="en-US" sz="2000" i="0">
                              <a:solidFill>
                                <a:schemeClr val="tx1"/>
                              </a:solidFill>
                              <a:latin typeface="Cambria Math" panose="02040503050406030204" pitchFamily="18" charset="0"/>
                            </a:rPr>
                            <m:t>𝜕</m:t>
                          </m:r>
                          <m:acc>
                            <m:accPr>
                              <m:chr m:val="⃗"/>
                              <m:ctrlPr>
                                <a:rPr lang="zh-CN" altLang="en-US" sz="2000" i="1">
                                  <a:solidFill>
                                    <a:schemeClr val="tx1"/>
                                  </a:solidFill>
                                  <a:latin typeface="Cambria Math" panose="02040503050406030204" pitchFamily="18" charset="0"/>
                                </a:rPr>
                              </m:ctrlPr>
                            </m:accPr>
                            <m:e>
                              <m:r>
                                <a:rPr lang="zh-CN" altLang="en-US" sz="2000" i="1">
                                  <a:solidFill>
                                    <a:schemeClr val="tx1"/>
                                  </a:solidFill>
                                  <a:latin typeface="Cambria Math" panose="02040503050406030204" pitchFamily="18" charset="0"/>
                                </a:rPr>
                                <m:t>𝐵</m:t>
                              </m:r>
                            </m:e>
                          </m:acc>
                        </m:num>
                        <m:den>
                          <m:r>
                            <a:rPr lang="zh-CN" altLang="en-US" sz="2000" i="0">
                              <a:solidFill>
                                <a:schemeClr val="tx1"/>
                              </a:solidFill>
                              <a:latin typeface="Cambria Math" panose="02040503050406030204" pitchFamily="18" charset="0"/>
                            </a:rPr>
                            <m:t>𝜕</m:t>
                          </m:r>
                          <m:r>
                            <a:rPr lang="zh-CN" altLang="en-US" sz="2000" i="1">
                              <a:solidFill>
                                <a:schemeClr val="tx1"/>
                              </a:solidFill>
                              <a:latin typeface="Cambria Math" panose="02040503050406030204" pitchFamily="18" charset="0"/>
                            </a:rPr>
                            <m:t>𝑡</m:t>
                          </m:r>
                        </m:den>
                      </m:f>
                    </m:oMath>
                  </m:oMathPara>
                </a14:m>
                <a:endParaRPr lang="zh-CN" altLang="en-US" sz="2000" dirty="0"/>
              </a:p>
            </p:txBody>
          </p:sp>
        </mc:Choice>
        <mc:Fallback xmlns="">
          <p:sp>
            <p:nvSpPr>
              <p:cNvPr id="28" name="文本框 27">
                <a:extLst>
                  <a:ext uri="{FF2B5EF4-FFF2-40B4-BE49-F238E27FC236}">
                    <a16:creationId xmlns:a16="http://schemas.microsoft.com/office/drawing/2014/main" id="{C592F429-5A9F-3056-BA22-CC9601BBED0A}"/>
                  </a:ext>
                </a:extLst>
              </p:cNvPr>
              <p:cNvSpPr txBox="1">
                <a:spLocks noRot="1" noChangeAspect="1" noMove="1" noResize="1" noEditPoints="1" noAdjustHandles="1" noChangeArrowheads="1" noChangeShapeType="1" noTextEdit="1"/>
              </p:cNvSpPr>
              <p:nvPr/>
            </p:nvSpPr>
            <p:spPr>
              <a:xfrm>
                <a:off x="3364533" y="560006"/>
                <a:ext cx="1584215" cy="655821"/>
              </a:xfrm>
              <a:prstGeom prst="rect">
                <a:avLst/>
              </a:prstGeom>
              <a:blipFill>
                <a:blip r:embed="rId3"/>
                <a:stretch>
                  <a:fillRect/>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F07A1F12-968D-3BB6-3B96-F955CD48B430}"/>
              </a:ext>
            </a:extLst>
          </p:cNvPr>
          <p:cNvSpPr txBox="1"/>
          <p:nvPr/>
        </p:nvSpPr>
        <p:spPr>
          <a:xfrm>
            <a:off x="185056" y="752484"/>
            <a:ext cx="3096985" cy="369332"/>
          </a:xfrm>
          <a:prstGeom prst="rect">
            <a:avLst/>
          </a:prstGeom>
          <a:noFill/>
        </p:spPr>
        <p:txBody>
          <a:bodyPr wrap="square">
            <a:spAutoFit/>
          </a:bodyPr>
          <a:lstStyle/>
          <a:p>
            <a:r>
              <a:rPr lang="en-US" altLang="zh-CN" dirty="0"/>
              <a:t>Taking the curl of both sides:</a:t>
            </a:r>
            <a:endParaRPr lang="zh-CN" altLang="en-US" dirty="0"/>
          </a:p>
        </p:txBody>
      </p:sp>
      <p:sp>
        <p:nvSpPr>
          <p:cNvPr id="6" name="箭头: 右 5">
            <a:extLst>
              <a:ext uri="{FF2B5EF4-FFF2-40B4-BE49-F238E27FC236}">
                <a16:creationId xmlns:a16="http://schemas.microsoft.com/office/drawing/2014/main" id="{21D0D3EB-0C56-DA1C-0A36-9F9D1905C1A1}"/>
              </a:ext>
            </a:extLst>
          </p:cNvPr>
          <p:cNvSpPr/>
          <p:nvPr/>
        </p:nvSpPr>
        <p:spPr>
          <a:xfrm>
            <a:off x="5171256" y="787630"/>
            <a:ext cx="336531" cy="299039"/>
          </a:xfrm>
          <a:prstGeom prst="rightArrow">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5176FF9-1C17-CBC6-FC03-8A245F8790D7}"/>
                  </a:ext>
                </a:extLst>
              </p:cNvPr>
              <p:cNvSpPr txBox="1"/>
              <p:nvPr/>
            </p:nvSpPr>
            <p:spPr>
              <a:xfrm>
                <a:off x="5675866" y="523669"/>
                <a:ext cx="3018326" cy="691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smtClean="0">
                          <a:latin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m:t>
                      </m:r>
                      <m:d>
                        <m:dPr>
                          <m:ctrlPr>
                            <a:rPr lang="zh-CN" altLang="en-US" sz="2000" i="1">
                              <a:solidFill>
                                <a:srgbClr val="836967"/>
                              </a:solidFill>
                              <a:latin typeface="Cambria Math" panose="02040503050406030204" pitchFamily="18" charset="0"/>
                            </a:rPr>
                          </m:ctrlPr>
                        </m:dPr>
                        <m:e>
                          <m:r>
                            <m:rPr>
                              <m:sty m:val="p"/>
                            </m:rPr>
                            <a:rPr lang="zh-CN" altLang="en-US" sz="2000" i="0">
                              <a:latin typeface="Cambria Math" panose="02040503050406030204" pitchFamily="18" charset="0"/>
                            </a:rPr>
                            <m:t>∇</m:t>
                          </m:r>
                          <m:r>
                            <a:rPr lang="zh-CN" altLang="en-US" sz="2000" i="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𝐸</m:t>
                              </m:r>
                            </m:e>
                          </m:acc>
                        </m:e>
                      </m:d>
                      <m:r>
                        <a:rPr lang="zh-CN" altLang="en-US" sz="2000" i="0">
                          <a:latin typeface="Cambria Math" panose="02040503050406030204" pitchFamily="18" charset="0"/>
                        </a:rPr>
                        <m:t>=</m:t>
                      </m:r>
                      <m:r>
                        <m:rPr>
                          <m:sty m:val="p"/>
                        </m:rPr>
                        <a:rPr lang="zh-CN" altLang="en-US" sz="2000" i="0">
                          <a:latin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m:t>
                      </m:r>
                      <m:d>
                        <m:dPr>
                          <m:ctrlPr>
                            <a:rPr lang="zh-CN" altLang="en-US" sz="2000" i="1">
                              <a:solidFill>
                                <a:srgbClr val="836967"/>
                              </a:solidFill>
                              <a:latin typeface="Cambria Math" panose="02040503050406030204" pitchFamily="18" charset="0"/>
                            </a:rPr>
                          </m:ctrlPr>
                        </m:dPr>
                        <m:e>
                          <m:r>
                            <a:rPr lang="zh-CN" altLang="en-US" sz="2000" i="0">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𝐵</m:t>
                                  </m:r>
                                </m:e>
                              </m:acc>
                            </m:num>
                            <m:den>
                              <m:r>
                                <a:rPr lang="zh-CN" altLang="en-US" sz="2000" i="0">
                                  <a:latin typeface="Cambria Math" panose="02040503050406030204" pitchFamily="18" charset="0"/>
                                </a:rPr>
                                <m:t>𝜕</m:t>
                              </m:r>
                              <m:r>
                                <a:rPr lang="zh-CN" altLang="en-US" sz="2000" i="1">
                                  <a:latin typeface="Cambria Math" panose="02040503050406030204" pitchFamily="18" charset="0"/>
                                </a:rPr>
                                <m:t>𝑡</m:t>
                              </m:r>
                            </m:den>
                          </m:f>
                        </m:e>
                      </m:d>
                    </m:oMath>
                  </m:oMathPara>
                </a14:m>
                <a:endParaRPr lang="zh-CN" altLang="en-US" sz="2000" dirty="0"/>
              </a:p>
            </p:txBody>
          </p:sp>
        </mc:Choice>
        <mc:Fallback xmlns="">
          <p:sp>
            <p:nvSpPr>
              <p:cNvPr id="11" name="文本框 10">
                <a:extLst>
                  <a:ext uri="{FF2B5EF4-FFF2-40B4-BE49-F238E27FC236}">
                    <a16:creationId xmlns:a16="http://schemas.microsoft.com/office/drawing/2014/main" id="{35176FF9-1C17-CBC6-FC03-8A245F8790D7}"/>
                  </a:ext>
                </a:extLst>
              </p:cNvPr>
              <p:cNvSpPr txBox="1">
                <a:spLocks noRot="1" noChangeAspect="1" noMove="1" noResize="1" noEditPoints="1" noAdjustHandles="1" noChangeArrowheads="1" noChangeShapeType="1" noTextEdit="1"/>
              </p:cNvSpPr>
              <p:nvPr/>
            </p:nvSpPr>
            <p:spPr>
              <a:xfrm>
                <a:off x="5675866" y="523669"/>
                <a:ext cx="3018326" cy="691536"/>
              </a:xfrm>
              <a:prstGeom prst="rect">
                <a:avLst/>
              </a:prstGeom>
              <a:blipFill>
                <a:blip r:embed="rId4"/>
                <a:stretch>
                  <a:fillRect/>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8D00D8EC-62F3-7FC7-151B-FCB58F3E1041}"/>
              </a:ext>
            </a:extLst>
          </p:cNvPr>
          <p:cNvSpPr txBox="1"/>
          <p:nvPr/>
        </p:nvSpPr>
        <p:spPr>
          <a:xfrm>
            <a:off x="185056" y="1374432"/>
            <a:ext cx="5546271" cy="369332"/>
          </a:xfrm>
          <a:prstGeom prst="rect">
            <a:avLst/>
          </a:prstGeom>
          <a:noFill/>
        </p:spPr>
        <p:txBody>
          <a:bodyPr wrap="square">
            <a:spAutoFit/>
          </a:bodyPr>
          <a:lstStyle/>
          <a:p>
            <a:r>
              <a:rPr lang="en-US" altLang="zh-CN" dirty="0"/>
              <a:t>The right-hand side is simplified by noting that</a:t>
            </a:r>
            <a:r>
              <a:rPr lang="zh-CN" altLang="en-US" dirty="0"/>
              <a:t>：</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D216AE8-975E-3A0F-93F5-747DF585E795}"/>
                  </a:ext>
                </a:extLst>
              </p:cNvPr>
              <p:cNvSpPr txBox="1"/>
              <p:nvPr/>
            </p:nvSpPr>
            <p:spPr>
              <a:xfrm>
                <a:off x="5507787" y="1397996"/>
                <a:ext cx="3098797" cy="6915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smtClean="0">
                          <a:latin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m:t>
                      </m:r>
                      <m:d>
                        <m:dPr>
                          <m:ctrlPr>
                            <a:rPr lang="zh-CN" altLang="en-US" sz="2000" i="1">
                              <a:solidFill>
                                <a:srgbClr val="836967"/>
                              </a:solidFill>
                              <a:latin typeface="Cambria Math" panose="02040503050406030204" pitchFamily="18" charset="0"/>
                            </a:rPr>
                          </m:ctrlPr>
                        </m:dPr>
                        <m:e>
                          <m:r>
                            <a:rPr lang="zh-CN" altLang="en-US" sz="2000" i="0">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𝐵</m:t>
                                  </m:r>
                                </m:e>
                              </m:acc>
                            </m:num>
                            <m:den>
                              <m:r>
                                <a:rPr lang="zh-CN" altLang="en-US" sz="2000" i="0">
                                  <a:latin typeface="Cambria Math" panose="02040503050406030204" pitchFamily="18" charset="0"/>
                                </a:rPr>
                                <m:t>𝜕</m:t>
                              </m:r>
                              <m:r>
                                <a:rPr lang="zh-CN" altLang="en-US" sz="2000" i="1">
                                  <a:latin typeface="Cambria Math" panose="02040503050406030204" pitchFamily="18" charset="0"/>
                                </a:rPr>
                                <m:t>𝑡</m:t>
                              </m:r>
                            </m:den>
                          </m:f>
                        </m:e>
                      </m:d>
                      <m:r>
                        <a:rPr lang="zh-CN" altLang="en-US" sz="2000" i="0">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m:t>
                          </m:r>
                        </m:num>
                        <m:den>
                          <m:r>
                            <a:rPr lang="zh-CN" altLang="en-US" sz="2000" i="0">
                              <a:latin typeface="Cambria Math" panose="02040503050406030204" pitchFamily="18" charset="0"/>
                            </a:rPr>
                            <m:t>𝜕</m:t>
                          </m:r>
                          <m:r>
                            <a:rPr lang="zh-CN" altLang="en-US" sz="2000" i="1">
                              <a:latin typeface="Cambria Math" panose="02040503050406030204" pitchFamily="18" charset="0"/>
                            </a:rPr>
                            <m:t>𝑡</m:t>
                          </m:r>
                        </m:den>
                      </m:f>
                      <m:d>
                        <m:dPr>
                          <m:ctrlPr>
                            <a:rPr lang="zh-CN" altLang="en-US" sz="2000" i="1">
                              <a:solidFill>
                                <a:srgbClr val="836967"/>
                              </a:solidFill>
                              <a:latin typeface="Cambria Math" panose="02040503050406030204" pitchFamily="18" charset="0"/>
                            </a:rPr>
                          </m:ctrlPr>
                        </m:dPr>
                        <m:e>
                          <m:r>
                            <m:rPr>
                              <m:sty m:val="p"/>
                            </m:rPr>
                            <a:rPr lang="zh-CN" altLang="en-US" sz="2000" i="0" smtClean="0">
                              <a:latin typeface="Cambria Math" panose="02040503050406030204" pitchFamily="18" charset="0"/>
                            </a:rPr>
                            <m:t>∇</m:t>
                          </m:r>
                          <m:r>
                            <a:rPr lang="zh-CN" altLang="en-US" sz="2000" i="0" smtClean="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𝐵</m:t>
                              </m:r>
                            </m:e>
                          </m:acc>
                        </m:e>
                      </m:d>
                    </m:oMath>
                  </m:oMathPara>
                </a14:m>
                <a:endParaRPr lang="zh-CN" altLang="en-US" sz="2000" dirty="0"/>
              </a:p>
            </p:txBody>
          </p:sp>
        </mc:Choice>
        <mc:Fallback xmlns="">
          <p:sp>
            <p:nvSpPr>
              <p:cNvPr id="15" name="文本框 14">
                <a:extLst>
                  <a:ext uri="{FF2B5EF4-FFF2-40B4-BE49-F238E27FC236}">
                    <a16:creationId xmlns:a16="http://schemas.microsoft.com/office/drawing/2014/main" id="{ED216AE8-975E-3A0F-93F5-747DF585E795}"/>
                  </a:ext>
                </a:extLst>
              </p:cNvPr>
              <p:cNvSpPr txBox="1">
                <a:spLocks noRot="1" noChangeAspect="1" noMove="1" noResize="1" noEditPoints="1" noAdjustHandles="1" noChangeArrowheads="1" noChangeShapeType="1" noTextEdit="1"/>
              </p:cNvSpPr>
              <p:nvPr/>
            </p:nvSpPr>
            <p:spPr>
              <a:xfrm>
                <a:off x="5507787" y="1397996"/>
                <a:ext cx="3098797" cy="691536"/>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5BB5B601-4240-EFF8-5C91-104F231DBB79}"/>
                  </a:ext>
                </a:extLst>
              </p:cNvPr>
              <p:cNvSpPr txBox="1"/>
              <p:nvPr/>
            </p:nvSpPr>
            <p:spPr>
              <a:xfrm>
                <a:off x="245776" y="1665810"/>
                <a:ext cx="5262011" cy="499560"/>
              </a:xfrm>
              <a:prstGeom prst="rect">
                <a:avLst/>
              </a:prstGeom>
              <a:noFill/>
            </p:spPr>
            <p:txBody>
              <a:bodyPr wrap="square">
                <a:spAutoFit/>
              </a:bodyPr>
              <a:lstStyle/>
              <a:p>
                <a14:m>
                  <m:oMath xmlns:m="http://schemas.openxmlformats.org/officeDocument/2006/math">
                    <m:r>
                      <m:rPr>
                        <m:sty m:val="p"/>
                      </m:rPr>
                      <a:rPr lang="zh-CN" altLang="en-US" i="0" smtClean="0">
                        <a:latin typeface="Cambria Math" panose="02040503050406030204" pitchFamily="18" charset="0"/>
                      </a:rPr>
                      <m:t>∇</m:t>
                    </m:r>
                    <m:r>
                      <a:rPr lang="zh-CN" altLang="en-US" i="0" smtClean="0">
                        <a:latin typeface="Cambria Math" panose="02040503050406030204" pitchFamily="18" charset="0"/>
                      </a:rPr>
                      <m:t>× </m:t>
                    </m:r>
                    <m:r>
                      <m:rPr>
                        <m:sty m:val="p"/>
                      </m:rPr>
                      <a:rPr lang="en-US" altLang="zh-CN" i="1">
                        <a:latin typeface="Cambria Math" panose="02040503050406030204" pitchFamily="18" charset="0"/>
                      </a:rPr>
                      <m:t>is</m:t>
                    </m:r>
                  </m:oMath>
                </a14:m>
                <a:r>
                  <a:rPr lang="zh-CN" altLang="en-US" dirty="0"/>
                  <a:t> </a:t>
                </a:r>
                <a:r>
                  <a:rPr lang="en-US" altLang="zh-CN" dirty="0"/>
                  <a:t>for spatial operation, do not related to </a:t>
                </a:r>
                <a14:m>
                  <m:oMath xmlns:m="http://schemas.openxmlformats.org/officeDocument/2006/math">
                    <m:f>
                      <m:fPr>
                        <m:ctrlPr>
                          <a:rPr lang="zh-CN" altLang="en-US" i="1">
                            <a:solidFill>
                              <a:srgbClr val="836967"/>
                            </a:solidFill>
                            <a:latin typeface="Cambria Math" panose="02040503050406030204" pitchFamily="18" charset="0"/>
                          </a:rPr>
                        </m:ctrlPr>
                      </m:fPr>
                      <m:num>
                        <m:r>
                          <a:rPr lang="zh-CN" altLang="en-US">
                            <a:latin typeface="Cambria Math" panose="02040503050406030204" pitchFamily="18" charset="0"/>
                          </a:rPr>
                          <m:t>𝜕</m:t>
                        </m:r>
                      </m:num>
                      <m:den>
                        <m:r>
                          <a:rPr lang="zh-CN" altLang="en-US">
                            <a:latin typeface="Cambria Math" panose="02040503050406030204" pitchFamily="18" charset="0"/>
                          </a:rPr>
                          <m:t>𝜕</m:t>
                        </m:r>
                        <m:r>
                          <a:rPr lang="zh-CN" altLang="en-US" i="1">
                            <a:latin typeface="Cambria Math" panose="02040503050406030204" pitchFamily="18" charset="0"/>
                          </a:rPr>
                          <m:t>𝑡</m:t>
                        </m:r>
                      </m:den>
                    </m:f>
                  </m:oMath>
                </a14:m>
                <a:endParaRPr lang="zh-CN" altLang="en-US" dirty="0"/>
              </a:p>
            </p:txBody>
          </p:sp>
        </mc:Choice>
        <mc:Fallback xmlns="">
          <p:sp>
            <p:nvSpPr>
              <p:cNvPr id="18" name="文本框 17">
                <a:extLst>
                  <a:ext uri="{FF2B5EF4-FFF2-40B4-BE49-F238E27FC236}">
                    <a16:creationId xmlns:a16="http://schemas.microsoft.com/office/drawing/2014/main" id="{5BB5B601-4240-EFF8-5C91-104F231DBB79}"/>
                  </a:ext>
                </a:extLst>
              </p:cNvPr>
              <p:cNvSpPr txBox="1">
                <a:spLocks noRot="1" noChangeAspect="1" noMove="1" noResize="1" noEditPoints="1" noAdjustHandles="1" noChangeArrowheads="1" noChangeShapeType="1" noTextEdit="1"/>
              </p:cNvSpPr>
              <p:nvPr/>
            </p:nvSpPr>
            <p:spPr>
              <a:xfrm>
                <a:off x="245776" y="1665810"/>
                <a:ext cx="5262011" cy="499560"/>
              </a:xfrm>
              <a:prstGeom prst="rect">
                <a:avLst/>
              </a:prstGeom>
              <a:blipFill>
                <a:blip r:embed="rId6"/>
                <a:stretch>
                  <a:fillRect b="-6098"/>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D96E5B8E-F362-FE26-97A9-2FD190A4C1EE}"/>
              </a:ext>
            </a:extLst>
          </p:cNvPr>
          <p:cNvSpPr txBox="1"/>
          <p:nvPr/>
        </p:nvSpPr>
        <p:spPr>
          <a:xfrm>
            <a:off x="245776" y="2240544"/>
            <a:ext cx="3036265" cy="646331"/>
          </a:xfrm>
          <a:prstGeom prst="rect">
            <a:avLst/>
          </a:prstGeom>
          <a:noFill/>
        </p:spPr>
        <p:txBody>
          <a:bodyPr wrap="square">
            <a:spAutoFit/>
          </a:bodyPr>
          <a:lstStyle/>
          <a:p>
            <a:r>
              <a:rPr lang="en-US" altLang="zh-CN" dirty="0"/>
              <a:t>Recalling Maxwell’s Equation 4 (Ampère’s Law)</a:t>
            </a:r>
            <a:endParaRPr lang="zh-CN" altLang="en-US" dirty="0"/>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4002492D-D560-AE21-B32C-DFDB49044318}"/>
                  </a:ext>
                </a:extLst>
              </p:cNvPr>
              <p:cNvSpPr txBox="1"/>
              <p:nvPr/>
            </p:nvSpPr>
            <p:spPr>
              <a:xfrm>
                <a:off x="3734647" y="2210055"/>
                <a:ext cx="2554610" cy="6558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i="1" smtClean="0">
                          <a:solidFill>
                            <a:schemeClr val="tx1"/>
                          </a:solidFill>
                          <a:latin typeface="Cambria Math" panose="02040503050406030204" pitchFamily="18" charset="0"/>
                        </a:rPr>
                        <m:t>∇</m:t>
                      </m:r>
                      <m:r>
                        <a:rPr lang="zh-CN" altLang="en-US" sz="2000" i="0">
                          <a:solidFill>
                            <a:schemeClr val="tx1"/>
                          </a:solidFill>
                          <a:latin typeface="Cambria Math" panose="02040503050406030204" pitchFamily="18" charset="0"/>
                        </a:rPr>
                        <m:t>×</m:t>
                      </m:r>
                      <m:acc>
                        <m:accPr>
                          <m:chr m:val="⃗"/>
                          <m:ctrlPr>
                            <a:rPr lang="zh-CN" altLang="en-US" sz="2000" i="1">
                              <a:solidFill>
                                <a:schemeClr val="tx1"/>
                              </a:solidFill>
                              <a:latin typeface="Cambria Math" panose="02040503050406030204" pitchFamily="18" charset="0"/>
                            </a:rPr>
                          </m:ctrlPr>
                        </m:accPr>
                        <m:e>
                          <m:r>
                            <a:rPr lang="zh-CN" altLang="en-US" sz="2000" i="1">
                              <a:solidFill>
                                <a:schemeClr val="tx1"/>
                              </a:solidFill>
                              <a:latin typeface="Cambria Math" panose="02040503050406030204" pitchFamily="18" charset="0"/>
                            </a:rPr>
                            <m:t>𝐵</m:t>
                          </m:r>
                        </m:e>
                      </m:acc>
                      <m:r>
                        <a:rPr lang="zh-CN" altLang="en-US" sz="2000" i="0">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i="1" smtClean="0">
                              <a:solidFill>
                                <a:schemeClr val="tx1"/>
                              </a:solidFill>
                              <a:latin typeface="Cambria Math" panose="02040503050406030204" pitchFamily="18" charset="0"/>
                            </a:rPr>
                            <m:t>𝜇</m:t>
                          </m:r>
                        </m:e>
                        <m:sub>
                          <m:r>
                            <a:rPr lang="zh-CN" altLang="en-US" sz="2000" i="0">
                              <a:solidFill>
                                <a:schemeClr val="tx1"/>
                              </a:solidFill>
                              <a:latin typeface="Cambria Math" panose="02040503050406030204" pitchFamily="18" charset="0"/>
                            </a:rPr>
                            <m:t>0</m:t>
                          </m:r>
                        </m:sub>
                      </m:sSub>
                      <m:acc>
                        <m:accPr>
                          <m:chr m:val="⃗"/>
                          <m:ctrlPr>
                            <a:rPr lang="zh-CN" altLang="en-US" sz="2000" i="1">
                              <a:solidFill>
                                <a:schemeClr val="tx1"/>
                              </a:solidFill>
                              <a:latin typeface="Cambria Math" panose="02040503050406030204" pitchFamily="18" charset="0"/>
                            </a:rPr>
                          </m:ctrlPr>
                        </m:accPr>
                        <m:e>
                          <m:r>
                            <a:rPr lang="zh-CN" altLang="en-US" sz="2000" i="1">
                              <a:solidFill>
                                <a:schemeClr val="tx1"/>
                              </a:solidFill>
                              <a:latin typeface="Cambria Math" panose="02040503050406030204" pitchFamily="18" charset="0"/>
                            </a:rPr>
                            <m:t>𝐽</m:t>
                          </m:r>
                        </m:e>
                      </m:acc>
                      <m:r>
                        <a:rPr lang="zh-CN" altLang="en-US" sz="2000" i="0">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i="1">
                              <a:solidFill>
                                <a:schemeClr val="tx1"/>
                              </a:solidFill>
                              <a:latin typeface="Cambria Math" panose="02040503050406030204" pitchFamily="18" charset="0"/>
                            </a:rPr>
                            <m:t>𝜇</m:t>
                          </m:r>
                        </m:e>
                        <m:sub>
                          <m:r>
                            <a:rPr lang="zh-CN" altLang="en-US" sz="2000">
                              <a:solidFill>
                                <a:schemeClr val="tx1"/>
                              </a:solidFill>
                              <a:latin typeface="Cambria Math" panose="02040503050406030204" pitchFamily="18" charset="0"/>
                            </a:rPr>
                            <m:t>0</m:t>
                          </m:r>
                        </m:sub>
                      </m:sSub>
                      <m:sSub>
                        <m:sSubPr>
                          <m:ctrlPr>
                            <a:rPr lang="en-US" altLang="zh-CN" sz="2000" i="1">
                              <a:solidFill>
                                <a:schemeClr val="tx1"/>
                              </a:solidFill>
                              <a:latin typeface="Cambria Math" panose="02040503050406030204" pitchFamily="18" charset="0"/>
                            </a:rPr>
                          </m:ctrlPr>
                        </m:sSubPr>
                        <m:e>
                          <m:r>
                            <a:rPr lang="zh-CN" altLang="en-US" sz="2000" i="1">
                              <a:solidFill>
                                <a:schemeClr val="tx1"/>
                              </a:solidFill>
                              <a:latin typeface="Cambria Math" panose="02040503050406030204" pitchFamily="18" charset="0"/>
                            </a:rPr>
                            <m:t>𝜀</m:t>
                          </m:r>
                        </m:e>
                        <m:sub>
                          <m:r>
                            <a:rPr lang="en-US" altLang="zh-CN" sz="2000" i="1">
                              <a:solidFill>
                                <a:schemeClr val="tx1"/>
                              </a:solidFill>
                              <a:latin typeface="Cambria Math" panose="02040503050406030204" pitchFamily="18" charset="0"/>
                            </a:rPr>
                            <m:t>0</m:t>
                          </m:r>
                        </m:sub>
                      </m:sSub>
                      <m:f>
                        <m:fPr>
                          <m:ctrlPr>
                            <a:rPr lang="zh-CN" altLang="en-US" sz="2000" i="1">
                              <a:solidFill>
                                <a:schemeClr val="tx1"/>
                              </a:solidFill>
                              <a:latin typeface="Cambria Math" panose="02040503050406030204" pitchFamily="18" charset="0"/>
                            </a:rPr>
                          </m:ctrlPr>
                        </m:fPr>
                        <m:num>
                          <m:r>
                            <a:rPr lang="zh-CN" altLang="en-US" sz="2000" i="0">
                              <a:solidFill>
                                <a:schemeClr val="tx1"/>
                              </a:solidFill>
                              <a:latin typeface="Cambria Math" panose="02040503050406030204" pitchFamily="18" charset="0"/>
                            </a:rPr>
                            <m:t>𝜕</m:t>
                          </m:r>
                          <m:acc>
                            <m:accPr>
                              <m:chr m:val="⃗"/>
                              <m:ctrlPr>
                                <a:rPr lang="zh-CN" altLang="en-US" sz="2000" i="1">
                                  <a:solidFill>
                                    <a:schemeClr val="tx1"/>
                                  </a:solidFill>
                                  <a:latin typeface="Cambria Math" panose="02040503050406030204" pitchFamily="18" charset="0"/>
                                </a:rPr>
                              </m:ctrlPr>
                            </m:accPr>
                            <m:e>
                              <m:r>
                                <a:rPr lang="zh-CN" altLang="en-US" sz="2000" i="1">
                                  <a:solidFill>
                                    <a:schemeClr val="tx1"/>
                                  </a:solidFill>
                                  <a:latin typeface="Cambria Math" panose="02040503050406030204" pitchFamily="18" charset="0"/>
                                </a:rPr>
                                <m:t>𝐸</m:t>
                              </m:r>
                            </m:e>
                          </m:acc>
                        </m:num>
                        <m:den>
                          <m:r>
                            <a:rPr lang="zh-CN" altLang="en-US" sz="2000" i="0">
                              <a:solidFill>
                                <a:schemeClr val="tx1"/>
                              </a:solidFill>
                              <a:latin typeface="Cambria Math" panose="02040503050406030204" pitchFamily="18" charset="0"/>
                            </a:rPr>
                            <m:t>𝜕</m:t>
                          </m:r>
                          <m:r>
                            <a:rPr lang="zh-CN" altLang="en-US" sz="2000" i="1">
                              <a:solidFill>
                                <a:schemeClr val="tx1"/>
                              </a:solidFill>
                              <a:latin typeface="Cambria Math" panose="02040503050406030204" pitchFamily="18" charset="0"/>
                            </a:rPr>
                            <m:t>𝑡</m:t>
                          </m:r>
                        </m:den>
                      </m:f>
                    </m:oMath>
                  </m:oMathPara>
                </a14:m>
                <a:endParaRPr lang="zh-CN" altLang="en-US" sz="2000" dirty="0"/>
              </a:p>
            </p:txBody>
          </p:sp>
        </mc:Choice>
        <mc:Fallback xmlns="">
          <p:sp>
            <p:nvSpPr>
              <p:cNvPr id="22" name="文本框 21">
                <a:extLst>
                  <a:ext uri="{FF2B5EF4-FFF2-40B4-BE49-F238E27FC236}">
                    <a16:creationId xmlns:a16="http://schemas.microsoft.com/office/drawing/2014/main" id="{4002492D-D560-AE21-B32C-DFDB49044318}"/>
                  </a:ext>
                </a:extLst>
              </p:cNvPr>
              <p:cNvSpPr txBox="1">
                <a:spLocks noRot="1" noChangeAspect="1" noMove="1" noResize="1" noEditPoints="1" noAdjustHandles="1" noChangeArrowheads="1" noChangeShapeType="1" noTextEdit="1"/>
              </p:cNvSpPr>
              <p:nvPr/>
            </p:nvSpPr>
            <p:spPr>
              <a:xfrm>
                <a:off x="3734647" y="2210055"/>
                <a:ext cx="2554610" cy="655821"/>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A24B926C-A97A-24DC-6387-8DF1770D5188}"/>
                  </a:ext>
                </a:extLst>
              </p:cNvPr>
              <p:cNvSpPr txBox="1"/>
              <p:nvPr/>
            </p:nvSpPr>
            <p:spPr>
              <a:xfrm>
                <a:off x="288470" y="3093191"/>
                <a:ext cx="2933701" cy="402931"/>
              </a:xfrm>
              <a:prstGeom prst="rect">
                <a:avLst/>
              </a:prstGeom>
              <a:noFill/>
            </p:spPr>
            <p:txBody>
              <a:bodyPr wrap="square">
                <a:spAutoFit/>
              </a:bodyPr>
              <a:lstStyle/>
              <a:p>
                <a:r>
                  <a:rPr lang="en-US" altLang="zh-CN" dirty="0"/>
                  <a:t>Substituting</a:t>
                </a:r>
                <a:r>
                  <a:rPr lang="zh-CN" altLang="en-US" sz="1800" dirty="0">
                    <a:solidFill>
                      <a:schemeClr val="tx1"/>
                    </a:solidFill>
                  </a:rPr>
                  <a:t> </a:t>
                </a:r>
                <a14:m>
                  <m:oMath xmlns:m="http://schemas.openxmlformats.org/officeDocument/2006/math">
                    <m:r>
                      <m:rPr>
                        <m:sty m:val="p"/>
                      </m:rPr>
                      <a:rPr lang="zh-CN" altLang="en-US" sz="1800" i="1" smtClean="0">
                        <a:solidFill>
                          <a:schemeClr val="tx1"/>
                        </a:solidFill>
                        <a:latin typeface="Cambria Math" panose="02040503050406030204" pitchFamily="18" charset="0"/>
                      </a:rPr>
                      <m:t>∇</m:t>
                    </m:r>
                    <m:r>
                      <a:rPr lang="zh-CN" altLang="en-US" sz="1800" i="0">
                        <a:solidFill>
                          <a:schemeClr val="tx1"/>
                        </a:solidFill>
                        <a:latin typeface="Cambria Math" panose="02040503050406030204" pitchFamily="18" charset="0"/>
                      </a:rPr>
                      <m:t>×</m:t>
                    </m:r>
                    <m:acc>
                      <m:accPr>
                        <m:chr m:val="⃗"/>
                        <m:ctrlPr>
                          <a:rPr lang="zh-CN" altLang="en-US" sz="1800" i="1">
                            <a:solidFill>
                              <a:schemeClr val="tx1"/>
                            </a:solidFill>
                            <a:latin typeface="Cambria Math" panose="02040503050406030204" pitchFamily="18" charset="0"/>
                          </a:rPr>
                        </m:ctrlPr>
                      </m:accPr>
                      <m:e>
                        <m:r>
                          <a:rPr lang="zh-CN" altLang="en-US" sz="1800" i="1">
                            <a:solidFill>
                              <a:schemeClr val="tx1"/>
                            </a:solidFill>
                            <a:latin typeface="Cambria Math" panose="02040503050406030204" pitchFamily="18" charset="0"/>
                          </a:rPr>
                          <m:t>𝐵</m:t>
                        </m:r>
                      </m:e>
                    </m:acc>
                  </m:oMath>
                </a14:m>
                <a:r>
                  <a:rPr lang="zh-CN" altLang="en-US" dirty="0"/>
                  <a:t> </a:t>
                </a:r>
                <a:r>
                  <a:rPr lang="en-US" altLang="zh-CN" dirty="0"/>
                  <a:t>in eq.2 :</a:t>
                </a:r>
                <a:endParaRPr lang="zh-CN" altLang="en-US" dirty="0"/>
              </a:p>
            </p:txBody>
          </p:sp>
        </mc:Choice>
        <mc:Fallback xmlns="">
          <p:sp>
            <p:nvSpPr>
              <p:cNvPr id="34" name="文本框 33">
                <a:extLst>
                  <a:ext uri="{FF2B5EF4-FFF2-40B4-BE49-F238E27FC236}">
                    <a16:creationId xmlns:a16="http://schemas.microsoft.com/office/drawing/2014/main" id="{A24B926C-A97A-24DC-6387-8DF1770D5188}"/>
                  </a:ext>
                </a:extLst>
              </p:cNvPr>
              <p:cNvSpPr txBox="1">
                <a:spLocks noRot="1" noChangeAspect="1" noMove="1" noResize="1" noEditPoints="1" noAdjustHandles="1" noChangeArrowheads="1" noChangeShapeType="1" noTextEdit="1"/>
              </p:cNvSpPr>
              <p:nvPr/>
            </p:nvSpPr>
            <p:spPr>
              <a:xfrm>
                <a:off x="288470" y="3093191"/>
                <a:ext cx="2933701" cy="402931"/>
              </a:xfrm>
              <a:prstGeom prst="rect">
                <a:avLst/>
              </a:prstGeom>
              <a:blipFill>
                <a:blip r:embed="rId8"/>
                <a:stretch>
                  <a:fillRect l="-1660" b="-22388"/>
                </a:stretch>
              </a:blipFill>
            </p:spPr>
            <p:txBody>
              <a:bodyPr/>
              <a:lstStyle/>
              <a:p>
                <a:r>
                  <a:rPr lang="zh-CN" altLang="en-US">
                    <a:noFill/>
                  </a:rPr>
                  <a:t> </a:t>
                </a:r>
              </a:p>
            </p:txBody>
          </p:sp>
        </mc:Fallback>
      </mc:AlternateContent>
      <p:sp>
        <p:nvSpPr>
          <p:cNvPr id="37" name="文本框 36">
            <a:extLst>
              <a:ext uri="{FF2B5EF4-FFF2-40B4-BE49-F238E27FC236}">
                <a16:creationId xmlns:a16="http://schemas.microsoft.com/office/drawing/2014/main" id="{65C31492-B76F-EA8D-254F-221AE42A8FAB}"/>
              </a:ext>
            </a:extLst>
          </p:cNvPr>
          <p:cNvSpPr txBox="1"/>
          <p:nvPr/>
        </p:nvSpPr>
        <p:spPr>
          <a:xfrm>
            <a:off x="8719879" y="698848"/>
            <a:ext cx="369691" cy="461665"/>
          </a:xfrm>
          <a:prstGeom prst="rect">
            <a:avLst/>
          </a:prstGeom>
          <a:noFill/>
        </p:spPr>
        <p:txBody>
          <a:bodyPr wrap="square">
            <a:spAutoFit/>
          </a:bodyPr>
          <a:lstStyle/>
          <a:p>
            <a:r>
              <a:rPr lang="en-US" altLang="zh-CN" sz="2400" b="1" dirty="0">
                <a:solidFill>
                  <a:srgbClr val="C00000"/>
                </a:solidFill>
              </a:rPr>
              <a:t>1</a:t>
            </a:r>
            <a:endParaRPr lang="zh-CN" altLang="en-US" sz="2400" b="1" dirty="0">
              <a:solidFill>
                <a:srgbClr val="C00000"/>
              </a:solidFill>
            </a:endParaRPr>
          </a:p>
        </p:txBody>
      </p:sp>
      <p:sp>
        <p:nvSpPr>
          <p:cNvPr id="38" name="文本框 37">
            <a:extLst>
              <a:ext uri="{FF2B5EF4-FFF2-40B4-BE49-F238E27FC236}">
                <a16:creationId xmlns:a16="http://schemas.microsoft.com/office/drawing/2014/main" id="{947E6BB3-9503-8905-B02E-41924995258B}"/>
              </a:ext>
            </a:extLst>
          </p:cNvPr>
          <p:cNvSpPr txBox="1"/>
          <p:nvPr/>
        </p:nvSpPr>
        <p:spPr>
          <a:xfrm>
            <a:off x="8741227" y="1530843"/>
            <a:ext cx="369691" cy="461665"/>
          </a:xfrm>
          <a:prstGeom prst="rect">
            <a:avLst/>
          </a:prstGeom>
          <a:noFill/>
        </p:spPr>
        <p:txBody>
          <a:bodyPr wrap="square">
            <a:spAutoFit/>
          </a:bodyPr>
          <a:lstStyle/>
          <a:p>
            <a:r>
              <a:rPr lang="en-US" altLang="zh-CN" sz="2400" b="1" dirty="0">
                <a:solidFill>
                  <a:srgbClr val="C00000"/>
                </a:solidFill>
              </a:rPr>
              <a:t>2</a:t>
            </a:r>
            <a:endParaRPr lang="zh-CN" altLang="en-US" sz="2400" b="1" dirty="0">
              <a:solidFill>
                <a:srgbClr val="C00000"/>
              </a:solidFill>
            </a:endParaRPr>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E2E6EA41-62C5-65CE-EE12-2EC74AC8F835}"/>
                  </a:ext>
                </a:extLst>
              </p:cNvPr>
              <p:cNvSpPr txBox="1"/>
              <p:nvPr/>
            </p:nvSpPr>
            <p:spPr>
              <a:xfrm>
                <a:off x="3651778" y="2940158"/>
                <a:ext cx="4624215" cy="6558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a:latin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m:t>
                      </m:r>
                      <m:d>
                        <m:dPr>
                          <m:ctrlPr>
                            <a:rPr lang="zh-CN" altLang="en-US" sz="2000" i="1">
                              <a:solidFill>
                                <a:srgbClr val="836967"/>
                              </a:solidFill>
                              <a:latin typeface="Cambria Math" panose="02040503050406030204" pitchFamily="18" charset="0"/>
                            </a:rPr>
                          </m:ctrlPr>
                        </m:dPr>
                        <m:e>
                          <m:r>
                            <m:rPr>
                              <m:sty m:val="p"/>
                            </m:rPr>
                            <a:rPr lang="zh-CN" altLang="en-US" sz="2000">
                              <a:latin typeface="Cambria Math" panose="02040503050406030204" pitchFamily="18" charset="0"/>
                            </a:rPr>
                            <m:t>∇</m:t>
                          </m:r>
                          <m:r>
                            <a:rPr lang="zh-CN" altLang="en-US" sz="2000">
                              <a:latin typeface="Cambria Math" panose="02040503050406030204" pitchFamily="18" charset="0"/>
                            </a:rPr>
                            <m:t>×</m:t>
                          </m:r>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𝐸</m:t>
                              </m:r>
                            </m:e>
                          </m:acc>
                        </m:e>
                      </m:d>
                      <m:r>
                        <a:rPr lang="zh-CN" altLang="en-US" sz="2000">
                          <a:latin typeface="Cambria Math" panose="02040503050406030204" pitchFamily="18" charset="0"/>
                        </a:rPr>
                        <m:t>=</m:t>
                      </m:r>
                      <m:r>
                        <a:rPr lang="zh-CN" altLang="en-US" sz="2000" smtClean="0">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r>
                            <a:rPr lang="zh-CN" altLang="en-US" sz="2000" i="0">
                              <a:latin typeface="Cambria Math" panose="02040503050406030204" pitchFamily="18" charset="0"/>
                            </a:rPr>
                            <m:t>𝜕</m:t>
                          </m:r>
                        </m:num>
                        <m:den>
                          <m:r>
                            <a:rPr lang="zh-CN" altLang="en-US" sz="2000" i="0">
                              <a:latin typeface="Cambria Math" panose="02040503050406030204" pitchFamily="18" charset="0"/>
                            </a:rPr>
                            <m:t>𝜕</m:t>
                          </m:r>
                          <m:r>
                            <a:rPr lang="zh-CN" altLang="en-US" sz="2000" i="1">
                              <a:latin typeface="Cambria Math" panose="02040503050406030204" pitchFamily="18" charset="0"/>
                            </a:rPr>
                            <m:t>𝑡</m:t>
                          </m:r>
                        </m:den>
                      </m:f>
                      <m:d>
                        <m:dPr>
                          <m:ctrlPr>
                            <a:rPr lang="zh-CN" altLang="en-US" sz="2000" i="1">
                              <a:solidFill>
                                <a:srgbClr val="836967"/>
                              </a:solidFill>
                              <a:latin typeface="Cambria Math" panose="02040503050406030204" pitchFamily="18" charset="0"/>
                            </a:rPr>
                          </m:ctrlPr>
                        </m:dPr>
                        <m:e>
                          <m:r>
                            <m:rPr>
                              <m:sty m:val="p"/>
                            </m:rPr>
                            <a:rPr lang="zh-CN" altLang="en-US" sz="2000" i="0">
                              <a:latin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m:t>
                          </m:r>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𝐵</m:t>
                              </m:r>
                            </m:e>
                          </m:acc>
                        </m:e>
                      </m:d>
                      <m:r>
                        <a:rPr lang="zh-CN" altLang="en-US" sz="2000" i="0">
                          <a:latin typeface="Cambria Math" panose="02040503050406030204" pitchFamily="18" charset="0"/>
                        </a:rPr>
                        <m:t>=−</m:t>
                      </m:r>
                      <m:sSub>
                        <m:sSubPr>
                          <m:ctrlPr>
                            <a:rPr lang="zh-CN" altLang="en-US" sz="2000" i="1">
                              <a:solidFill>
                                <a:srgbClr val="836967"/>
                              </a:solidFill>
                              <a:latin typeface="Cambria Math" panose="02040503050406030204" pitchFamily="18" charset="0"/>
                            </a:rPr>
                          </m:ctrlPr>
                        </m:sSubPr>
                        <m:e>
                          <m:r>
                            <a:rPr lang="zh-CN" altLang="en-US" sz="2000" i="1" smtClean="0">
                              <a:latin typeface="Cambria Math" panose="02040503050406030204" pitchFamily="18" charset="0"/>
                            </a:rPr>
                            <m:t>𝜇</m:t>
                          </m:r>
                        </m:e>
                        <m:sub>
                          <m:r>
                            <a:rPr lang="zh-CN" altLang="en-US" sz="2000" i="0">
                              <a:latin typeface="Cambria Math" panose="02040503050406030204" pitchFamily="18" charset="0"/>
                            </a:rPr>
                            <m:t>0</m:t>
                          </m:r>
                        </m:sub>
                      </m:sSub>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𝜀</m:t>
                          </m:r>
                        </m:e>
                        <m:sub>
                          <m:r>
                            <a:rPr lang="zh-CN" altLang="en-US" sz="2000" i="0">
                              <a:latin typeface="Cambria Math" panose="02040503050406030204" pitchFamily="18" charset="0"/>
                            </a:rPr>
                            <m:t>0</m:t>
                          </m:r>
                        </m:sub>
                      </m:sSub>
                      <m:f>
                        <m:fPr>
                          <m:ctrlPr>
                            <a:rPr lang="zh-CN" altLang="en-US" sz="2000" i="1">
                              <a:solidFill>
                                <a:srgbClr val="836967"/>
                              </a:solidFill>
                              <a:latin typeface="Cambria Math" panose="02040503050406030204" pitchFamily="18" charset="0"/>
                            </a:rPr>
                          </m:ctrlPr>
                        </m:fPr>
                        <m:num>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m:t>
                              </m:r>
                            </m:e>
                            <m:sup>
                              <m:r>
                                <a:rPr lang="zh-CN" altLang="en-US" sz="2000" i="0">
                                  <a:latin typeface="Cambria Math" panose="02040503050406030204" pitchFamily="18" charset="0"/>
                                </a:rPr>
                                <m:t>2</m:t>
                              </m:r>
                            </m:sup>
                          </m:sSup>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𝐸</m:t>
                              </m:r>
                            </m:e>
                          </m:acc>
                        </m:num>
                        <m:den>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𝑡</m:t>
                              </m:r>
                            </m:e>
                            <m:sup>
                              <m:r>
                                <a:rPr lang="zh-CN" altLang="en-US" sz="2000" i="0">
                                  <a:latin typeface="Cambria Math" panose="02040503050406030204" pitchFamily="18" charset="0"/>
                                </a:rPr>
                                <m:t>2</m:t>
                              </m:r>
                            </m:sup>
                          </m:sSup>
                        </m:den>
                      </m:f>
                    </m:oMath>
                  </m:oMathPara>
                </a14:m>
                <a:endParaRPr lang="zh-CN" altLang="en-US" sz="2000" dirty="0"/>
              </a:p>
            </p:txBody>
          </p:sp>
        </mc:Choice>
        <mc:Fallback xmlns="">
          <p:sp>
            <p:nvSpPr>
              <p:cNvPr id="40" name="文本框 39">
                <a:extLst>
                  <a:ext uri="{FF2B5EF4-FFF2-40B4-BE49-F238E27FC236}">
                    <a16:creationId xmlns:a16="http://schemas.microsoft.com/office/drawing/2014/main" id="{E2E6EA41-62C5-65CE-EE12-2EC74AC8F835}"/>
                  </a:ext>
                </a:extLst>
              </p:cNvPr>
              <p:cNvSpPr txBox="1">
                <a:spLocks noRot="1" noChangeAspect="1" noMove="1" noResize="1" noEditPoints="1" noAdjustHandles="1" noChangeArrowheads="1" noChangeShapeType="1" noTextEdit="1"/>
              </p:cNvSpPr>
              <p:nvPr/>
            </p:nvSpPr>
            <p:spPr>
              <a:xfrm>
                <a:off x="3651778" y="2940158"/>
                <a:ext cx="4624215" cy="655821"/>
              </a:xfrm>
              <a:prstGeom prst="rect">
                <a:avLst/>
              </a:prstGeom>
              <a:blipFill>
                <a:blip r:embed="rId9"/>
                <a:stretch>
                  <a:fillRect/>
                </a:stretch>
              </a:blipFill>
            </p:spPr>
            <p:txBody>
              <a:bodyPr/>
              <a:lstStyle/>
              <a:p>
                <a:r>
                  <a:rPr lang="zh-CN" altLang="en-US">
                    <a:noFill/>
                  </a:rPr>
                  <a:t> </a:t>
                </a:r>
              </a:p>
            </p:txBody>
          </p:sp>
        </mc:Fallback>
      </mc:AlternateContent>
      <p:sp>
        <p:nvSpPr>
          <p:cNvPr id="43" name="文本框 42">
            <a:extLst>
              <a:ext uri="{FF2B5EF4-FFF2-40B4-BE49-F238E27FC236}">
                <a16:creationId xmlns:a16="http://schemas.microsoft.com/office/drawing/2014/main" id="{BE7BFA2A-A668-CA24-B4B1-6600C3CD1B7F}"/>
              </a:ext>
            </a:extLst>
          </p:cNvPr>
          <p:cNvSpPr txBox="1"/>
          <p:nvPr/>
        </p:nvSpPr>
        <p:spPr>
          <a:xfrm>
            <a:off x="288470" y="3732522"/>
            <a:ext cx="3360709" cy="923330"/>
          </a:xfrm>
          <a:prstGeom prst="rect">
            <a:avLst/>
          </a:prstGeom>
          <a:noFill/>
        </p:spPr>
        <p:txBody>
          <a:bodyPr wrap="square">
            <a:spAutoFit/>
          </a:bodyPr>
          <a:lstStyle/>
          <a:p>
            <a:r>
              <a:rPr lang="en-US" altLang="zh-CN" dirty="0"/>
              <a:t>The left hand side is simplified by the following vector identity</a:t>
            </a:r>
            <a:r>
              <a:rPr lang="zh-CN" altLang="en-US" dirty="0"/>
              <a:t>（向量恒等式）</a:t>
            </a:r>
            <a:r>
              <a:rPr lang="en-US" altLang="zh-CN" dirty="0"/>
              <a:t>:</a:t>
            </a:r>
            <a:endParaRPr lang="zh-CN" altLang="en-US" dirty="0"/>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4DC50997-9C4B-34DE-AB1A-54D8142BA773}"/>
                  </a:ext>
                </a:extLst>
              </p:cNvPr>
              <p:cNvSpPr txBox="1"/>
              <p:nvPr/>
            </p:nvSpPr>
            <p:spPr>
              <a:xfrm>
                <a:off x="3864137" y="3933247"/>
                <a:ext cx="3429079" cy="4606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smtClean="0">
                          <a:latin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m:t>
                      </m:r>
                      <m:d>
                        <m:dPr>
                          <m:ctrlPr>
                            <a:rPr lang="zh-CN" altLang="en-US" sz="2000" i="1">
                              <a:solidFill>
                                <a:srgbClr val="836967"/>
                              </a:solidFill>
                              <a:latin typeface="Cambria Math" panose="02040503050406030204" pitchFamily="18" charset="0"/>
                            </a:rPr>
                          </m:ctrlPr>
                        </m:dPr>
                        <m:e>
                          <m:r>
                            <m:rPr>
                              <m:sty m:val="p"/>
                            </m:rPr>
                            <a:rPr lang="zh-CN" altLang="en-US" sz="2000" i="0">
                              <a:latin typeface="Cambria Math" panose="02040503050406030204" pitchFamily="18" charset="0"/>
                            </a:rPr>
                            <m:t>∇</m:t>
                          </m:r>
                          <m:r>
                            <a:rPr lang="zh-CN" altLang="en-US" sz="2000" i="0">
                              <a:latin typeface="Cambria Math" panose="02040503050406030204" pitchFamily="18" charset="0"/>
                            </a:rPr>
                            <m:t>×</m:t>
                          </m:r>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e>
                      </m:d>
                      <m:r>
                        <a:rPr lang="zh-CN" altLang="en-US" sz="2000" i="0">
                          <a:latin typeface="Cambria Math" panose="02040503050406030204" pitchFamily="18" charset="0"/>
                        </a:rPr>
                        <m:t>=</m:t>
                      </m:r>
                      <m:r>
                        <m:rPr>
                          <m:sty m:val="p"/>
                        </m:rPr>
                        <a:rPr lang="zh-CN" altLang="en-US" sz="2000" i="0">
                          <a:latin typeface="Cambria Math" panose="02040503050406030204" pitchFamily="18" charset="0"/>
                        </a:rPr>
                        <m:t>∇</m:t>
                      </m:r>
                      <m:d>
                        <m:dPr>
                          <m:ctrlPr>
                            <a:rPr lang="zh-CN" altLang="en-US" sz="2000" i="1">
                              <a:solidFill>
                                <a:srgbClr val="836967"/>
                              </a:solidFill>
                              <a:latin typeface="Cambria Math" panose="02040503050406030204" pitchFamily="18" charset="0"/>
                            </a:rPr>
                          </m:ctrlPr>
                        </m:dPr>
                        <m:e>
                          <m:r>
                            <m:rPr>
                              <m:sty m:val="p"/>
                            </m:rPr>
                            <a:rPr lang="zh-CN" altLang="en-US" sz="2000" i="0">
                              <a:latin typeface="Cambria Math" panose="02040503050406030204" pitchFamily="18" charset="0"/>
                            </a:rPr>
                            <m:t>∇</m:t>
                          </m:r>
                          <m:r>
                            <a:rPr lang="zh-CN" altLang="en-US" sz="2000" i="0">
                              <a:latin typeface="Cambria Math" panose="02040503050406030204" pitchFamily="18" charset="0"/>
                            </a:rPr>
                            <m:t>⋅</m:t>
                          </m:r>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e>
                      </m:d>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m:rPr>
                              <m:sty m:val="p"/>
                            </m:rPr>
                            <a:rPr lang="zh-CN" altLang="en-US" sz="2000" i="0">
                              <a:latin typeface="Cambria Math" panose="02040503050406030204" pitchFamily="18" charset="0"/>
                            </a:rPr>
                            <m:t>∇</m:t>
                          </m:r>
                        </m:e>
                        <m:sup>
                          <m:r>
                            <a:rPr lang="zh-CN" altLang="en-US" sz="2000" i="0">
                              <a:latin typeface="Cambria Math" panose="02040503050406030204" pitchFamily="18" charset="0"/>
                            </a:rPr>
                            <m:t>2</m:t>
                          </m:r>
                        </m:sup>
                      </m:sSup>
                      <m:acc>
                        <m:accPr>
                          <m:chr m:val="⃗"/>
                          <m:ctrlPr>
                            <a:rPr lang="zh-CN" altLang="en-US" sz="2000" i="1" smtClean="0">
                              <a:solidFill>
                                <a:srgbClr val="836967"/>
                              </a:solidFill>
                              <a:latin typeface="Cambria Math" panose="02040503050406030204" pitchFamily="18" charset="0"/>
                            </a:rPr>
                          </m:ctrlPr>
                        </m:accPr>
                        <m:e>
                          <m:r>
                            <a:rPr lang="zh-CN" altLang="en-US" sz="2000" i="1" smtClean="0">
                              <a:latin typeface="Cambria Math" panose="02040503050406030204" pitchFamily="18" charset="0"/>
                            </a:rPr>
                            <m:t>𝐸</m:t>
                          </m:r>
                        </m:e>
                      </m:acc>
                    </m:oMath>
                  </m:oMathPara>
                </a14:m>
                <a:endParaRPr lang="zh-CN" altLang="en-US" sz="2000" dirty="0"/>
              </a:p>
            </p:txBody>
          </p:sp>
        </mc:Choice>
        <mc:Fallback xmlns="">
          <p:sp>
            <p:nvSpPr>
              <p:cNvPr id="44" name="文本框 43">
                <a:extLst>
                  <a:ext uri="{FF2B5EF4-FFF2-40B4-BE49-F238E27FC236}">
                    <a16:creationId xmlns:a16="http://schemas.microsoft.com/office/drawing/2014/main" id="{4DC50997-9C4B-34DE-AB1A-54D8142BA773}"/>
                  </a:ext>
                </a:extLst>
              </p:cNvPr>
              <p:cNvSpPr txBox="1">
                <a:spLocks noRot="1" noChangeAspect="1" noMove="1" noResize="1" noEditPoints="1" noAdjustHandles="1" noChangeArrowheads="1" noChangeShapeType="1" noTextEdit="1"/>
              </p:cNvSpPr>
              <p:nvPr/>
            </p:nvSpPr>
            <p:spPr>
              <a:xfrm>
                <a:off x="3864137" y="3933247"/>
                <a:ext cx="3429079" cy="460639"/>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6AB0745B-EF72-9946-4648-7F3B133C83D9}"/>
                  </a:ext>
                </a:extLst>
              </p:cNvPr>
              <p:cNvSpPr txBox="1"/>
              <p:nvPr/>
            </p:nvSpPr>
            <p:spPr>
              <a:xfrm>
                <a:off x="3940148" y="4624763"/>
                <a:ext cx="1623778" cy="5791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i="1" smtClean="0">
                          <a:solidFill>
                            <a:schemeClr val="tx1"/>
                          </a:solidFill>
                          <a:latin typeface="Cambria Math" panose="02040503050406030204" pitchFamily="18" charset="0"/>
                        </a:rPr>
                        <m:t>∇</m:t>
                      </m:r>
                      <m:r>
                        <a:rPr lang="zh-CN" altLang="en-US" sz="2000" i="0">
                          <a:solidFill>
                            <a:schemeClr val="tx1"/>
                          </a:solidFill>
                          <a:latin typeface="Cambria Math" panose="02040503050406030204" pitchFamily="18" charset="0"/>
                        </a:rPr>
                        <m:t>⋅</m:t>
                      </m:r>
                      <m:acc>
                        <m:accPr>
                          <m:chr m:val="⃗"/>
                          <m:ctrlPr>
                            <a:rPr lang="zh-CN" altLang="en-US" sz="2000" i="1">
                              <a:solidFill>
                                <a:schemeClr val="tx1"/>
                              </a:solidFill>
                              <a:latin typeface="Cambria Math" panose="02040503050406030204" pitchFamily="18" charset="0"/>
                            </a:rPr>
                          </m:ctrlPr>
                        </m:accPr>
                        <m:e>
                          <m:r>
                            <a:rPr lang="en-US" altLang="zh-CN" sz="2000" b="0" i="1" smtClean="0">
                              <a:solidFill>
                                <a:schemeClr val="tx1"/>
                              </a:solidFill>
                              <a:latin typeface="Cambria Math" panose="02040503050406030204" pitchFamily="18" charset="0"/>
                            </a:rPr>
                            <m:t>𝐸</m:t>
                          </m:r>
                        </m:e>
                      </m:acc>
                      <m:r>
                        <a:rPr lang="zh-CN" altLang="en-US" sz="2000" i="0">
                          <a:solidFill>
                            <a:schemeClr val="tx1"/>
                          </a:solidFill>
                          <a:latin typeface="Cambria Math" panose="02040503050406030204" pitchFamily="18" charset="0"/>
                        </a:rPr>
                        <m:t>=</m:t>
                      </m:r>
                      <m:f>
                        <m:fPr>
                          <m:ctrlPr>
                            <a:rPr lang="en-US" altLang="zh-CN" sz="2000" i="1" smtClean="0">
                              <a:solidFill>
                                <a:schemeClr val="tx1"/>
                              </a:solidFill>
                              <a:latin typeface="Cambria Math" panose="02040503050406030204" pitchFamily="18" charset="0"/>
                            </a:rPr>
                          </m:ctrlPr>
                        </m:fPr>
                        <m:num>
                          <m:r>
                            <a:rPr lang="zh-CN" altLang="en-US" sz="2000" i="1">
                              <a:solidFill>
                                <a:schemeClr val="tx1"/>
                              </a:solidFill>
                              <a:latin typeface="Cambria Math" panose="02040503050406030204" pitchFamily="18" charset="0"/>
                            </a:rPr>
                            <m:t>𝜌</m:t>
                          </m:r>
                        </m:num>
                        <m:den>
                          <m:sSub>
                            <m:sSubPr>
                              <m:ctrlPr>
                                <a:rPr lang="en-US" altLang="zh-CN" sz="2000" i="1" smtClean="0">
                                  <a:solidFill>
                                    <a:schemeClr val="tx1"/>
                                  </a:solidFill>
                                  <a:latin typeface="Cambria Math" panose="02040503050406030204" pitchFamily="18" charset="0"/>
                                </a:rPr>
                              </m:ctrlPr>
                            </m:sSubPr>
                            <m:e>
                              <m:r>
                                <a:rPr lang="zh-CN" altLang="en-US" sz="2000" i="1" smtClean="0">
                                  <a:solidFill>
                                    <a:schemeClr val="tx1"/>
                                  </a:solidFill>
                                  <a:latin typeface="Cambria Math" panose="02040503050406030204" pitchFamily="18" charset="0"/>
                                </a:rPr>
                                <m:t>𝜀</m:t>
                              </m:r>
                            </m:e>
                            <m:sub>
                              <m:r>
                                <a:rPr lang="en-US" altLang="zh-CN" sz="2000" b="0" i="1" smtClean="0">
                                  <a:solidFill>
                                    <a:schemeClr val="tx1"/>
                                  </a:solidFill>
                                  <a:latin typeface="Cambria Math" panose="02040503050406030204" pitchFamily="18" charset="0"/>
                                </a:rPr>
                                <m:t>0</m:t>
                              </m:r>
                            </m:sub>
                          </m:sSub>
                        </m:den>
                      </m:f>
                      <m:r>
                        <a:rPr lang="pt-BR" altLang="zh-CN" sz="2000" i="1" dirty="0" smtClean="0">
                          <a:latin typeface="Cambria Math" panose="02040503050406030204" pitchFamily="18" charset="0"/>
                        </a:rPr>
                        <m:t>=</m:t>
                      </m:r>
                      <m:r>
                        <a:rPr lang="en-US" altLang="zh-CN" sz="2000" b="0" i="1" dirty="0" smtClean="0">
                          <a:latin typeface="Cambria Math" panose="02040503050406030204" pitchFamily="18" charset="0"/>
                        </a:rPr>
                        <m:t>0</m:t>
                      </m:r>
                    </m:oMath>
                  </m:oMathPara>
                </a14:m>
                <a:endParaRPr lang="zh-CN" altLang="en-US" sz="2000" dirty="0"/>
              </a:p>
            </p:txBody>
          </p:sp>
        </mc:Choice>
        <mc:Fallback xmlns="">
          <p:sp>
            <p:nvSpPr>
              <p:cNvPr id="45" name="文本框 44">
                <a:extLst>
                  <a:ext uri="{FF2B5EF4-FFF2-40B4-BE49-F238E27FC236}">
                    <a16:creationId xmlns:a16="http://schemas.microsoft.com/office/drawing/2014/main" id="{6AB0745B-EF72-9946-4648-7F3B133C83D9}"/>
                  </a:ext>
                </a:extLst>
              </p:cNvPr>
              <p:cNvSpPr txBox="1">
                <a:spLocks noRot="1" noChangeAspect="1" noMove="1" noResize="1" noEditPoints="1" noAdjustHandles="1" noChangeArrowheads="1" noChangeShapeType="1" noTextEdit="1"/>
              </p:cNvSpPr>
              <p:nvPr/>
            </p:nvSpPr>
            <p:spPr>
              <a:xfrm>
                <a:off x="3940148" y="4624763"/>
                <a:ext cx="1623778" cy="579198"/>
              </a:xfrm>
              <a:prstGeom prst="rect">
                <a:avLst/>
              </a:prstGeom>
              <a:blipFill>
                <a:blip r:embed="rId11"/>
                <a:stretch>
                  <a:fillRect/>
                </a:stretch>
              </a:blipFill>
            </p:spPr>
            <p:txBody>
              <a:bodyPr/>
              <a:lstStyle/>
              <a:p>
                <a:r>
                  <a:rPr lang="zh-CN" altLang="en-US">
                    <a:noFill/>
                  </a:rPr>
                  <a:t> </a:t>
                </a:r>
              </a:p>
            </p:txBody>
          </p:sp>
        </mc:Fallback>
      </mc:AlternateContent>
      <p:sp>
        <p:nvSpPr>
          <p:cNvPr id="48" name="文本框 47">
            <a:extLst>
              <a:ext uri="{FF2B5EF4-FFF2-40B4-BE49-F238E27FC236}">
                <a16:creationId xmlns:a16="http://schemas.microsoft.com/office/drawing/2014/main" id="{3E3090C9-7B52-5C6A-4106-EC6588F64EC1}"/>
              </a:ext>
            </a:extLst>
          </p:cNvPr>
          <p:cNvSpPr txBox="1"/>
          <p:nvPr/>
        </p:nvSpPr>
        <p:spPr>
          <a:xfrm>
            <a:off x="288470" y="4692538"/>
            <a:ext cx="3768948" cy="369332"/>
          </a:xfrm>
          <a:prstGeom prst="rect">
            <a:avLst/>
          </a:prstGeom>
          <a:noFill/>
        </p:spPr>
        <p:txBody>
          <a:bodyPr wrap="square">
            <a:spAutoFit/>
          </a:bodyPr>
          <a:lstStyle/>
          <a:p>
            <a:r>
              <a:rPr lang="en-US" altLang="zh-CN" dirty="0"/>
              <a:t>For a constant field or no charges</a:t>
            </a:r>
            <a:endParaRPr lang="zh-CN" altLang="en-US" dirty="0"/>
          </a:p>
        </p:txBody>
      </p:sp>
      <p:sp>
        <p:nvSpPr>
          <p:cNvPr id="51" name="文本框 50">
            <a:extLst>
              <a:ext uri="{FF2B5EF4-FFF2-40B4-BE49-F238E27FC236}">
                <a16:creationId xmlns:a16="http://schemas.microsoft.com/office/drawing/2014/main" id="{358CF5CC-21D0-81DB-B7D9-27A9AE02E6E9}"/>
              </a:ext>
            </a:extLst>
          </p:cNvPr>
          <p:cNvSpPr txBox="1"/>
          <p:nvPr/>
        </p:nvSpPr>
        <p:spPr>
          <a:xfrm>
            <a:off x="5011952" y="5637273"/>
            <a:ext cx="1380842" cy="369332"/>
          </a:xfrm>
          <a:prstGeom prst="rect">
            <a:avLst/>
          </a:prstGeom>
          <a:noFill/>
        </p:spPr>
        <p:txBody>
          <a:bodyPr wrap="square">
            <a:spAutoFit/>
          </a:bodyPr>
          <a:lstStyle/>
          <a:p>
            <a:r>
              <a:rPr lang="en-US" altLang="zh-CN" b="0" i="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Therefore</a:t>
            </a:r>
            <a:endParaRPr lang="zh-CN" alt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17BAA524-E29B-BEDC-4A90-78A83720AAC9}"/>
                  </a:ext>
                </a:extLst>
              </p:cNvPr>
              <p:cNvSpPr txBox="1"/>
              <p:nvPr/>
            </p:nvSpPr>
            <p:spPr>
              <a:xfrm>
                <a:off x="6472550" y="5431391"/>
                <a:ext cx="1829347" cy="6558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zh-CN" altLang="en-US" sz="2000" i="1">
                              <a:solidFill>
                                <a:srgbClr val="836967"/>
                              </a:solidFill>
                              <a:latin typeface="Cambria Math" panose="02040503050406030204" pitchFamily="18" charset="0"/>
                            </a:rPr>
                          </m:ctrlPr>
                        </m:fPr>
                        <m:num>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m:t>
                              </m:r>
                            </m:e>
                            <m:sup>
                              <m:r>
                                <a:rPr lang="zh-CN" altLang="en-US" sz="2000" i="0">
                                  <a:latin typeface="Cambria Math" panose="02040503050406030204" pitchFamily="18" charset="0"/>
                                </a:rPr>
                                <m:t>2</m:t>
                              </m:r>
                            </m:sup>
                          </m:sSup>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num>
                        <m:den>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i="0">
                                  <a:latin typeface="Cambria Math" panose="02040503050406030204" pitchFamily="18" charset="0"/>
                                </a:rPr>
                                <m:t>2</m:t>
                              </m:r>
                            </m:sup>
                          </m:sSup>
                        </m:den>
                      </m:f>
                      <m:r>
                        <a:rPr lang="zh-CN" altLang="en-US" sz="2000" i="0">
                          <a:latin typeface="Cambria Math" panose="02040503050406030204" pitchFamily="18" charset="0"/>
                        </a:rPr>
                        <m:t>=</m:t>
                      </m:r>
                      <m:sSub>
                        <m:sSubPr>
                          <m:ctrlPr>
                            <a:rPr lang="zh-CN" altLang="en-US" sz="2000" i="1">
                              <a:solidFill>
                                <a:srgbClr val="836967"/>
                              </a:solidFill>
                              <a:latin typeface="Cambria Math" panose="02040503050406030204" pitchFamily="18" charset="0"/>
                            </a:rPr>
                          </m:ctrlPr>
                        </m:sSubPr>
                        <m:e>
                          <m:r>
                            <a:rPr lang="zh-CN" altLang="en-US" sz="2000" i="1" smtClean="0">
                              <a:latin typeface="Cambria Math" panose="02040503050406030204" pitchFamily="18" charset="0"/>
                            </a:rPr>
                            <m:t>𝜇</m:t>
                          </m:r>
                        </m:e>
                        <m:sub>
                          <m:r>
                            <a:rPr lang="zh-CN" altLang="en-US" sz="2000" i="0">
                              <a:latin typeface="Cambria Math" panose="02040503050406030204" pitchFamily="18" charset="0"/>
                            </a:rPr>
                            <m:t>0</m:t>
                          </m:r>
                        </m:sub>
                      </m:sSub>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𝜀</m:t>
                          </m:r>
                        </m:e>
                        <m:sub>
                          <m:r>
                            <a:rPr lang="zh-CN" altLang="en-US" sz="2000" i="0">
                              <a:latin typeface="Cambria Math" panose="02040503050406030204" pitchFamily="18" charset="0"/>
                            </a:rPr>
                            <m:t>0</m:t>
                          </m:r>
                        </m:sub>
                      </m:sSub>
                      <m:f>
                        <m:fPr>
                          <m:ctrlPr>
                            <a:rPr lang="zh-CN" altLang="en-US" sz="2000" i="1">
                              <a:solidFill>
                                <a:srgbClr val="836967"/>
                              </a:solidFill>
                              <a:latin typeface="Cambria Math" panose="02040503050406030204" pitchFamily="18" charset="0"/>
                            </a:rPr>
                          </m:ctrlPr>
                        </m:fPr>
                        <m:num>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m:t>
                              </m:r>
                            </m:e>
                            <m:sup>
                              <m:r>
                                <a:rPr lang="zh-CN" altLang="en-US" sz="2000" i="0">
                                  <a:latin typeface="Cambria Math" panose="02040503050406030204" pitchFamily="18" charset="0"/>
                                </a:rPr>
                                <m:t>2</m:t>
                              </m:r>
                            </m:sup>
                          </m:sSup>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num>
                        <m:den>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𝑡</m:t>
                              </m:r>
                            </m:e>
                            <m:sup>
                              <m:r>
                                <a:rPr lang="zh-CN" altLang="en-US" sz="2000" i="0">
                                  <a:latin typeface="Cambria Math" panose="02040503050406030204" pitchFamily="18" charset="0"/>
                                </a:rPr>
                                <m:t>2</m:t>
                              </m:r>
                            </m:sup>
                          </m:sSup>
                        </m:den>
                      </m:f>
                    </m:oMath>
                  </m:oMathPara>
                </a14:m>
                <a:endParaRPr lang="zh-CN" altLang="en-US" sz="2000" dirty="0"/>
              </a:p>
            </p:txBody>
          </p:sp>
        </mc:Choice>
        <mc:Fallback xmlns="">
          <p:sp>
            <p:nvSpPr>
              <p:cNvPr id="52" name="文本框 51">
                <a:extLst>
                  <a:ext uri="{FF2B5EF4-FFF2-40B4-BE49-F238E27FC236}">
                    <a16:creationId xmlns:a16="http://schemas.microsoft.com/office/drawing/2014/main" id="{17BAA524-E29B-BEDC-4A90-78A83720AAC9}"/>
                  </a:ext>
                </a:extLst>
              </p:cNvPr>
              <p:cNvSpPr txBox="1">
                <a:spLocks noRot="1" noChangeAspect="1" noMove="1" noResize="1" noEditPoints="1" noAdjustHandles="1" noChangeArrowheads="1" noChangeShapeType="1" noTextEdit="1"/>
              </p:cNvSpPr>
              <p:nvPr/>
            </p:nvSpPr>
            <p:spPr>
              <a:xfrm>
                <a:off x="6472550" y="5431391"/>
                <a:ext cx="1829347" cy="655885"/>
              </a:xfrm>
              <a:prstGeom prst="rect">
                <a:avLst/>
              </a:prstGeom>
              <a:blipFill>
                <a:blip r:embed="rId12"/>
                <a:stretch>
                  <a:fillRect/>
                </a:stretch>
              </a:blipFill>
            </p:spPr>
            <p:txBody>
              <a:bodyPr/>
              <a:lstStyle/>
              <a:p>
                <a:r>
                  <a:rPr lang="zh-CN" altLang="en-US">
                    <a:noFill/>
                  </a:rPr>
                  <a:t> </a:t>
                </a:r>
              </a:p>
            </p:txBody>
          </p:sp>
        </mc:Fallback>
      </mc:AlternateContent>
      <p:sp>
        <p:nvSpPr>
          <p:cNvPr id="53" name="矩形 52">
            <a:extLst>
              <a:ext uri="{FF2B5EF4-FFF2-40B4-BE49-F238E27FC236}">
                <a16:creationId xmlns:a16="http://schemas.microsoft.com/office/drawing/2014/main" id="{C13190D7-CAB0-4DE7-F57D-4A6AA8B9D5FD}"/>
              </a:ext>
            </a:extLst>
          </p:cNvPr>
          <p:cNvSpPr/>
          <p:nvPr/>
        </p:nvSpPr>
        <p:spPr>
          <a:xfrm>
            <a:off x="6391482" y="5347096"/>
            <a:ext cx="2031752" cy="908957"/>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50238F9A-F967-967C-CCDF-92933C44007D}"/>
              </a:ext>
            </a:extLst>
          </p:cNvPr>
          <p:cNvSpPr txBox="1"/>
          <p:nvPr/>
        </p:nvSpPr>
        <p:spPr>
          <a:xfrm>
            <a:off x="5635494" y="4665669"/>
            <a:ext cx="921636" cy="369332"/>
          </a:xfrm>
          <a:prstGeom prst="rect">
            <a:avLst/>
          </a:prstGeom>
          <a:noFill/>
        </p:spPr>
        <p:txBody>
          <a:bodyPr wrap="square">
            <a:spAutoFit/>
          </a:bodyPr>
          <a:lstStyle/>
          <a:p>
            <a:r>
              <a:rPr lang="en-US" altLang="zh-CN" b="0" i="0" dirty="0">
                <a:solidFill>
                  <a:srgbClr val="000000"/>
                </a:solidFill>
                <a:effectLst/>
                <a:latin typeface="Arial" panose="020B0604020202020204" pitchFamily="34" charset="0"/>
                <a:ea typeface="Microsoft YaHei" panose="020B0503020204020204" pitchFamily="34" charset="-122"/>
                <a:cs typeface="Arial" panose="020B0604020202020204" pitchFamily="34" charset="0"/>
              </a:rPr>
              <a:t>Hence</a:t>
            </a:r>
            <a:endParaRPr lang="zh-CN" alt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2E6D2F4-683A-D949-575C-32C6CE99BC99}"/>
                  </a:ext>
                </a:extLst>
              </p:cNvPr>
              <p:cNvSpPr txBox="1"/>
              <p:nvPr/>
            </p:nvSpPr>
            <p:spPr>
              <a:xfrm>
                <a:off x="6547478" y="4617349"/>
                <a:ext cx="2359812" cy="4606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zh-CN" altLang="en-US" sz="2000" smtClean="0">
                          <a:latin typeface="Cambria Math" panose="02040503050406030204" pitchFamily="18" charset="0"/>
                        </a:rPr>
                        <m:t>∇</m:t>
                      </m:r>
                      <m:r>
                        <a:rPr lang="en-US" altLang="zh-CN" sz="2000" i="1" smtClean="0">
                          <a:latin typeface="Cambria Math" panose="02040503050406030204" pitchFamily="18" charset="0"/>
                          <a:ea typeface="Cambria Math" panose="02040503050406030204" pitchFamily="18" charset="0"/>
                        </a:rPr>
                        <m:t>×</m:t>
                      </m:r>
                      <m:d>
                        <m:dPr>
                          <m:ctrlPr>
                            <a:rPr lang="zh-CN" altLang="en-US" sz="2000" i="1">
                              <a:solidFill>
                                <a:srgbClr val="836967"/>
                              </a:solidFill>
                              <a:latin typeface="Cambria Math" panose="02040503050406030204" pitchFamily="18" charset="0"/>
                            </a:rPr>
                          </m:ctrlPr>
                        </m:dPr>
                        <m:e>
                          <m:r>
                            <m:rPr>
                              <m:sty m:val="p"/>
                            </m:rPr>
                            <a:rPr lang="zh-CN" altLang="en-US" sz="2000" i="0">
                              <a:latin typeface="Cambria Math" panose="02040503050406030204" pitchFamily="18" charset="0"/>
                            </a:rPr>
                            <m:t>∇</m:t>
                          </m:r>
                          <m:r>
                            <a:rPr lang="zh-CN" altLang="en-US" sz="2000" i="0">
                              <a:latin typeface="Cambria Math" panose="02040503050406030204" pitchFamily="18" charset="0"/>
                            </a:rPr>
                            <m:t>×</m:t>
                          </m:r>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e>
                      </m:d>
                      <m:r>
                        <a:rPr lang="zh-CN" altLang="en-US" sz="2000" i="0">
                          <a:latin typeface="Cambria Math" panose="02040503050406030204" pitchFamily="18" charset="0"/>
                        </a:rPr>
                        <m:t>=</m:t>
                      </m:r>
                      <m:r>
                        <a:rPr lang="zh-CN" altLang="en-US" sz="200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m:rPr>
                              <m:sty m:val="p"/>
                            </m:rPr>
                            <a:rPr lang="zh-CN" altLang="en-US" sz="2000">
                              <a:latin typeface="Cambria Math" panose="02040503050406030204" pitchFamily="18" charset="0"/>
                            </a:rPr>
                            <m:t>∇</m:t>
                          </m:r>
                        </m:e>
                        <m:sup>
                          <m:r>
                            <a:rPr lang="zh-CN" altLang="en-US" sz="2000">
                              <a:latin typeface="Cambria Math" panose="02040503050406030204" pitchFamily="18" charset="0"/>
                            </a:rPr>
                            <m:t>2</m:t>
                          </m:r>
                        </m:sup>
                      </m:sSup>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oMath>
                  </m:oMathPara>
                </a14:m>
                <a:endParaRPr lang="zh-CN" altLang="en-US" sz="2000" dirty="0"/>
              </a:p>
            </p:txBody>
          </p:sp>
        </mc:Choice>
        <mc:Fallback xmlns="">
          <p:sp>
            <p:nvSpPr>
              <p:cNvPr id="4" name="文本框 3">
                <a:extLst>
                  <a:ext uri="{FF2B5EF4-FFF2-40B4-BE49-F238E27FC236}">
                    <a16:creationId xmlns:a16="http://schemas.microsoft.com/office/drawing/2014/main" id="{62E6D2F4-683A-D949-575C-32C6CE99BC99}"/>
                  </a:ext>
                </a:extLst>
              </p:cNvPr>
              <p:cNvSpPr txBox="1">
                <a:spLocks noRot="1" noChangeAspect="1" noMove="1" noResize="1" noEditPoints="1" noAdjustHandles="1" noChangeArrowheads="1" noChangeShapeType="1" noTextEdit="1"/>
              </p:cNvSpPr>
              <p:nvPr/>
            </p:nvSpPr>
            <p:spPr>
              <a:xfrm>
                <a:off x="6547478" y="4617349"/>
                <a:ext cx="2359812" cy="460639"/>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9EB57BA-24A1-8173-3130-886E31F05636}"/>
                  </a:ext>
                </a:extLst>
              </p:cNvPr>
              <p:cNvSpPr txBox="1"/>
              <p:nvPr/>
            </p:nvSpPr>
            <p:spPr>
              <a:xfrm>
                <a:off x="1468427" y="5069353"/>
                <a:ext cx="1291764" cy="6558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zh-CN" altLang="en-US" sz="2000" i="1" smtClean="0">
                              <a:solidFill>
                                <a:srgbClr val="836967"/>
                              </a:solidFill>
                              <a:latin typeface="Cambria Math" panose="02040503050406030204" pitchFamily="18" charset="0"/>
                            </a:rPr>
                          </m:ctrlPr>
                        </m:sSupPr>
                        <m:e>
                          <m:r>
                            <m:rPr>
                              <m:sty m:val="p"/>
                            </m:rPr>
                            <a:rPr lang="zh-CN" altLang="en-US" sz="2000">
                              <a:latin typeface="Cambria Math" panose="02040503050406030204" pitchFamily="18" charset="0"/>
                            </a:rPr>
                            <m:t>∇</m:t>
                          </m:r>
                        </m:e>
                        <m:sup>
                          <m:r>
                            <a:rPr lang="zh-CN" altLang="en-US" sz="2000" i="0">
                              <a:latin typeface="Cambria Math" panose="02040503050406030204" pitchFamily="18" charset="0"/>
                            </a:rPr>
                            <m:t>2</m:t>
                          </m:r>
                        </m:sup>
                      </m:sSup>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r>
                        <a:rPr lang="zh-CN" altLang="en-US" sz="2000" i="0">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m:t>
                              </m:r>
                            </m:e>
                            <m:sup>
                              <m:r>
                                <a:rPr lang="zh-CN" altLang="en-US" sz="2000" i="0">
                                  <a:latin typeface="Cambria Math" panose="02040503050406030204" pitchFamily="18" charset="0"/>
                                </a:rPr>
                                <m:t>2</m:t>
                              </m:r>
                            </m:sup>
                          </m:sSup>
                          <m:acc>
                            <m:accPr>
                              <m:chr m:val="⃗"/>
                              <m:ctrlPr>
                                <a:rPr lang="zh-CN" altLang="en-US" sz="2000" i="1">
                                  <a:solidFill>
                                    <a:srgbClr val="836967"/>
                                  </a:solidFill>
                                  <a:latin typeface="Cambria Math" panose="02040503050406030204" pitchFamily="18" charset="0"/>
                                </a:rPr>
                              </m:ctrlPr>
                            </m:accPr>
                            <m:e>
                              <m:r>
                                <a:rPr lang="zh-CN" altLang="en-US" sz="2000" i="1">
                                  <a:latin typeface="Cambria Math" panose="02040503050406030204" pitchFamily="18" charset="0"/>
                                </a:rPr>
                                <m:t>𝐸</m:t>
                              </m:r>
                            </m:e>
                          </m:acc>
                        </m:num>
                        <m:den>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i="0">
                                  <a:latin typeface="Cambria Math" panose="02040503050406030204" pitchFamily="18" charset="0"/>
                                </a:rPr>
                                <m:t>2</m:t>
                              </m:r>
                            </m:sup>
                          </m:sSup>
                        </m:den>
                      </m:f>
                    </m:oMath>
                  </m:oMathPara>
                </a14:m>
                <a:endParaRPr lang="zh-CN" altLang="en-US" sz="2000" dirty="0"/>
              </a:p>
            </p:txBody>
          </p:sp>
        </mc:Choice>
        <mc:Fallback xmlns="">
          <p:sp>
            <p:nvSpPr>
              <p:cNvPr id="7" name="文本框 6">
                <a:extLst>
                  <a:ext uri="{FF2B5EF4-FFF2-40B4-BE49-F238E27FC236}">
                    <a16:creationId xmlns:a16="http://schemas.microsoft.com/office/drawing/2014/main" id="{59EB57BA-24A1-8173-3130-886E31F05636}"/>
                  </a:ext>
                </a:extLst>
              </p:cNvPr>
              <p:cNvSpPr txBox="1">
                <a:spLocks noRot="1" noChangeAspect="1" noMove="1" noResize="1" noEditPoints="1" noAdjustHandles="1" noChangeArrowheads="1" noChangeShapeType="1" noTextEdit="1"/>
              </p:cNvSpPr>
              <p:nvPr/>
            </p:nvSpPr>
            <p:spPr>
              <a:xfrm>
                <a:off x="1468427" y="5069353"/>
                <a:ext cx="1291764" cy="655885"/>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3">
                <a:extLst>
                  <a:ext uri="{FF2B5EF4-FFF2-40B4-BE49-F238E27FC236}">
                    <a16:creationId xmlns:a16="http://schemas.microsoft.com/office/drawing/2014/main" id="{3CAE4098-2B52-C312-E0E8-DE64E5ED361B}"/>
                  </a:ext>
                </a:extLst>
              </p:cNvPr>
              <p:cNvSpPr txBox="1"/>
              <p:nvPr/>
            </p:nvSpPr>
            <p:spPr>
              <a:xfrm>
                <a:off x="462907" y="5744266"/>
                <a:ext cx="4037308" cy="83099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600" dirty="0">
                    <a:solidFill>
                      <a:schemeClr val="accent5">
                        <a:lumMod val="75000"/>
                      </a:schemeClr>
                    </a:solidFill>
                  </a:rPr>
                  <a:t>Laplace operator, Laplacian </a:t>
                </a:r>
              </a:p>
              <a:p>
                <a:r>
                  <a:rPr lang="zh-CN" altLang="en-US" sz="1600" dirty="0">
                    <a:solidFill>
                      <a:schemeClr val="accent5">
                        <a:lumMod val="75000"/>
                      </a:schemeClr>
                    </a:solidFill>
                  </a:rPr>
                  <a:t>拉普拉斯算子：函数的梯度的散度给出的微分算子，通常写成 </a:t>
                </a:r>
                <a:r>
                  <a:rPr lang="el-GR" altLang="zh-CN" sz="1600" dirty="0">
                    <a:solidFill>
                      <a:schemeClr val="accent5">
                        <a:lumMod val="75000"/>
                      </a:schemeClr>
                    </a:solidFill>
                  </a:rPr>
                  <a:t>Δ</a:t>
                </a:r>
                <a:r>
                  <a:rPr lang="zh-CN" altLang="en-US" sz="1600" dirty="0">
                    <a:solidFill>
                      <a:schemeClr val="accent5">
                        <a:lumMod val="75000"/>
                      </a:schemeClr>
                    </a:solidFill>
                  </a:rPr>
                  <a:t>或 </a:t>
                </a:r>
                <a14:m>
                  <m:oMath xmlns:m="http://schemas.openxmlformats.org/officeDocument/2006/math">
                    <m:sSup>
                      <m:sSupPr>
                        <m:ctrlPr>
                          <a:rPr lang="zh-CN" altLang="en-US" sz="1600" i="1" smtClean="0">
                            <a:solidFill>
                              <a:srgbClr val="836967"/>
                            </a:solidFill>
                            <a:latin typeface="Cambria Math" panose="02040503050406030204" pitchFamily="18" charset="0"/>
                          </a:rPr>
                        </m:ctrlPr>
                      </m:sSupPr>
                      <m:e>
                        <m:r>
                          <m:rPr>
                            <m:sty m:val="p"/>
                          </m:rPr>
                          <a:rPr lang="zh-CN" altLang="en-US" sz="1600">
                            <a:latin typeface="Cambria Math" panose="02040503050406030204" pitchFamily="18" charset="0"/>
                          </a:rPr>
                          <m:t>∇</m:t>
                        </m:r>
                      </m:e>
                      <m:sup>
                        <m:r>
                          <a:rPr lang="zh-CN" altLang="en-US" sz="1600" i="0">
                            <a:latin typeface="Cambria Math" panose="02040503050406030204" pitchFamily="18" charset="0"/>
                          </a:rPr>
                          <m:t>2</m:t>
                        </m:r>
                      </m:sup>
                    </m:sSup>
                  </m:oMath>
                </a14:m>
                <a:r>
                  <a:rPr lang="zh-CN" altLang="en-US" sz="1600" dirty="0">
                    <a:solidFill>
                      <a:schemeClr val="accent5">
                        <a:lumMod val="75000"/>
                      </a:schemeClr>
                    </a:solidFill>
                  </a:rPr>
                  <a:t>，二阶偏导数</a:t>
                </a:r>
              </a:p>
            </p:txBody>
          </p:sp>
        </mc:Choice>
        <mc:Fallback xmlns="">
          <p:sp>
            <p:nvSpPr>
              <p:cNvPr id="8" name="文本框 3">
                <a:extLst>
                  <a:ext uri="{FF2B5EF4-FFF2-40B4-BE49-F238E27FC236}">
                    <a16:creationId xmlns:a16="http://schemas.microsoft.com/office/drawing/2014/main" id="{3CAE4098-2B52-C312-E0E8-DE64E5ED361B}"/>
                  </a:ext>
                </a:extLst>
              </p:cNvPr>
              <p:cNvSpPr txBox="1">
                <a:spLocks noRot="1" noChangeAspect="1" noMove="1" noResize="1" noEditPoints="1" noAdjustHandles="1" noChangeArrowheads="1" noChangeShapeType="1" noTextEdit="1"/>
              </p:cNvSpPr>
              <p:nvPr/>
            </p:nvSpPr>
            <p:spPr>
              <a:xfrm>
                <a:off x="462907" y="5744266"/>
                <a:ext cx="4037308" cy="830997"/>
              </a:xfrm>
              <a:prstGeom prst="rect">
                <a:avLst/>
              </a:prstGeom>
              <a:blipFill>
                <a:blip r:embed="rId15"/>
                <a:stretch>
                  <a:fillRect l="-906" t="-2190" b="-8029"/>
                </a:stretch>
              </a:blipFill>
            </p:spPr>
            <p:txBody>
              <a:bodyPr/>
              <a:lstStyle/>
              <a:p>
                <a:r>
                  <a:rPr lang="zh-CN" altLang="en-US">
                    <a:noFill/>
                  </a:rPr>
                  <a:t> </a:t>
                </a:r>
              </a:p>
            </p:txBody>
          </p:sp>
        </mc:Fallback>
      </mc:AlternateContent>
      <p:cxnSp>
        <p:nvCxnSpPr>
          <p:cNvPr id="9" name="直接箭头连接符 8">
            <a:extLst>
              <a:ext uri="{FF2B5EF4-FFF2-40B4-BE49-F238E27FC236}">
                <a16:creationId xmlns:a16="http://schemas.microsoft.com/office/drawing/2014/main" id="{6E136937-3B34-D74A-0CE5-0D01E0765831}"/>
              </a:ext>
            </a:extLst>
          </p:cNvPr>
          <p:cNvCxnSpPr>
            <a:cxnSpLocks/>
          </p:cNvCxnSpPr>
          <p:nvPr/>
        </p:nvCxnSpPr>
        <p:spPr>
          <a:xfrm flipV="1">
            <a:off x="1584904" y="5589719"/>
            <a:ext cx="0" cy="264253"/>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14719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Harmonic wave solutions to the wave equation</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文本框 4">
            <a:extLst>
              <a:ext uri="{FF2B5EF4-FFF2-40B4-BE49-F238E27FC236}">
                <a16:creationId xmlns:a16="http://schemas.microsoft.com/office/drawing/2014/main" id="{C9C78134-9EDA-3867-F94B-057769E68C67}"/>
              </a:ext>
            </a:extLst>
          </p:cNvPr>
          <p:cNvSpPr txBox="1"/>
          <p:nvPr/>
        </p:nvSpPr>
        <p:spPr>
          <a:xfrm>
            <a:off x="923858" y="1921277"/>
            <a:ext cx="7557990" cy="923330"/>
          </a:xfrm>
          <a:prstGeom prst="rect">
            <a:avLst/>
          </a:prstGeom>
          <a:noFill/>
        </p:spPr>
        <p:txBody>
          <a:bodyPr wrap="square">
            <a:spAutoFit/>
          </a:bodyPr>
          <a:lstStyle/>
          <a:p>
            <a:r>
              <a:rPr lang="en-US" altLang="zh-CN" dirty="0"/>
              <a:t>Harmonic waves are sinusoidal solutions to the wave equation. They are periodic in both space and time and can be written in the general form:</a:t>
            </a:r>
          </a:p>
          <a:p>
            <a:endParaRPr lang="en-US" altLang="zh-CN" dirty="0"/>
          </a:p>
        </p:txBody>
      </p:sp>
      <p:sp>
        <p:nvSpPr>
          <p:cNvPr id="13" name="文本框 12">
            <a:extLst>
              <a:ext uri="{FF2B5EF4-FFF2-40B4-BE49-F238E27FC236}">
                <a16:creationId xmlns:a16="http://schemas.microsoft.com/office/drawing/2014/main" id="{77B4A8D0-8934-9D48-99E7-8D7037BA5144}"/>
              </a:ext>
            </a:extLst>
          </p:cNvPr>
          <p:cNvSpPr txBox="1"/>
          <p:nvPr/>
        </p:nvSpPr>
        <p:spPr>
          <a:xfrm>
            <a:off x="2021139" y="3475259"/>
            <a:ext cx="1787811" cy="369332"/>
          </a:xfrm>
          <a:prstGeom prst="rect">
            <a:avLst/>
          </a:prstGeom>
          <a:noFill/>
        </p:spPr>
        <p:txBody>
          <a:bodyPr wrap="square">
            <a:spAutoFit/>
          </a:bodyPr>
          <a:lstStyle/>
          <a:p>
            <a:pPr algn="l"/>
            <a:r>
              <a:rPr lang="en-US" altLang="zh-CN" b="0" i="0" dirty="0">
                <a:effectLst/>
              </a:rPr>
              <a:t>or equivalently:</a:t>
            </a:r>
          </a:p>
        </p:txBody>
      </p:sp>
      <p:sp>
        <p:nvSpPr>
          <p:cNvPr id="17" name="文本框 16">
            <a:extLst>
              <a:ext uri="{FF2B5EF4-FFF2-40B4-BE49-F238E27FC236}">
                <a16:creationId xmlns:a16="http://schemas.microsoft.com/office/drawing/2014/main" id="{854F074F-FFA3-6A70-2D2A-962E2B146A3F}"/>
              </a:ext>
            </a:extLst>
          </p:cNvPr>
          <p:cNvSpPr txBox="1"/>
          <p:nvPr/>
        </p:nvSpPr>
        <p:spPr>
          <a:xfrm>
            <a:off x="3239813" y="4071868"/>
            <a:ext cx="3961875" cy="2031325"/>
          </a:xfrm>
          <a:prstGeom prst="rect">
            <a:avLst/>
          </a:prstGeom>
          <a:noFill/>
        </p:spPr>
        <p:txBody>
          <a:bodyPr wrap="square">
            <a:spAutoFit/>
          </a:bodyPr>
          <a:lstStyle/>
          <a:p>
            <a:pPr algn="l">
              <a:buFont typeface="Arial" panose="020B0604020202020204" pitchFamily="34" charset="0"/>
              <a:buChar char="•"/>
            </a:pPr>
            <a:r>
              <a:rPr lang="en-US" altLang="zh-CN" b="0" i="1" dirty="0">
                <a:effectLst/>
                <a:latin typeface="KaTeX_Math"/>
              </a:rPr>
              <a:t>A</a:t>
            </a:r>
            <a:r>
              <a:rPr lang="en-US" altLang="zh-CN" b="0" i="0" dirty="0">
                <a:effectLst/>
                <a:latin typeface="ui-sans-serif"/>
              </a:rPr>
              <a:t> is the amplitude of the wave,</a:t>
            </a:r>
          </a:p>
          <a:p>
            <a:pPr algn="l">
              <a:buFont typeface="Arial" panose="020B0604020202020204" pitchFamily="34" charset="0"/>
              <a:buChar char="•"/>
            </a:pPr>
            <a:r>
              <a:rPr lang="en-US" altLang="zh-CN" b="0" i="1" dirty="0">
                <a:effectLst/>
                <a:latin typeface="KaTeX_Math"/>
              </a:rPr>
              <a:t>k</a:t>
            </a:r>
            <a:r>
              <a:rPr lang="en-US" altLang="zh-CN" b="0" i="0" dirty="0">
                <a:effectLst/>
                <a:latin typeface="ui-sans-serif"/>
              </a:rPr>
              <a:t> is the </a:t>
            </a:r>
            <a:r>
              <a:rPr lang="en-US" altLang="zh-CN" b="1" i="0" dirty="0">
                <a:effectLst/>
                <a:latin typeface="ui-sans-serif"/>
              </a:rPr>
              <a:t>wave number </a:t>
            </a:r>
            <a:r>
              <a:rPr lang="en-US" altLang="zh-CN" b="0" i="0" dirty="0">
                <a:effectLst/>
                <a:latin typeface="ui-sans-serif"/>
              </a:rPr>
              <a:t>, related to the wavelength </a:t>
            </a:r>
            <a:r>
              <a:rPr lang="en-US" altLang="zh-CN" b="0" i="1" dirty="0">
                <a:effectLst/>
                <a:latin typeface="KaTeX_Math"/>
              </a:rPr>
              <a:t>λ</a:t>
            </a:r>
            <a:r>
              <a:rPr lang="en-US" altLang="zh-CN" b="0" i="0" dirty="0">
                <a:effectLst/>
                <a:latin typeface="ui-sans-serif"/>
              </a:rPr>
              <a:t> by </a:t>
            </a:r>
            <a:r>
              <a:rPr lang="en-US" altLang="zh-CN" b="0" i="1" dirty="0">
                <a:effectLst/>
                <a:latin typeface="KaTeX_Math"/>
              </a:rPr>
              <a:t>k</a:t>
            </a:r>
            <a:r>
              <a:rPr lang="en-US" altLang="zh-CN" b="0" i="0" dirty="0">
                <a:effectLst/>
                <a:latin typeface="KaTeX_Main"/>
              </a:rPr>
              <a:t>=</a:t>
            </a:r>
            <a:r>
              <a:rPr lang="en-US" altLang="zh-CN" b="0" i="1" dirty="0">
                <a:effectLst/>
                <a:latin typeface="KaTeX_Math"/>
              </a:rPr>
              <a:t>λ</a:t>
            </a:r>
            <a:r>
              <a:rPr lang="en-US" altLang="zh-CN" b="0" i="0" dirty="0">
                <a:effectLst/>
                <a:latin typeface="KaTeX_Main"/>
              </a:rPr>
              <a:t>2</a:t>
            </a:r>
            <a:r>
              <a:rPr lang="en-US" altLang="zh-CN" b="0" i="1" dirty="0">
                <a:effectLst/>
                <a:latin typeface="KaTeX_Math"/>
              </a:rPr>
              <a:t>π</a:t>
            </a:r>
            <a:r>
              <a:rPr lang="en-US" altLang="zh-CN" b="0" i="0" dirty="0">
                <a:effectLst/>
                <a:latin typeface="KaTeX_Main"/>
              </a:rPr>
              <a:t>​</a:t>
            </a:r>
            <a:r>
              <a:rPr lang="en-US" altLang="zh-CN" b="0" i="0" dirty="0">
                <a:effectLst/>
                <a:latin typeface="ui-sans-serif"/>
              </a:rPr>
              <a:t>,</a:t>
            </a:r>
          </a:p>
          <a:p>
            <a:pPr algn="l">
              <a:buFont typeface="Arial" panose="020B0604020202020204" pitchFamily="34" charset="0"/>
              <a:buChar char="•"/>
            </a:pPr>
            <a:r>
              <a:rPr lang="en-US" altLang="zh-CN" b="0" i="1" dirty="0">
                <a:effectLst/>
                <a:latin typeface="KaTeX_Math"/>
              </a:rPr>
              <a:t>ω</a:t>
            </a:r>
            <a:r>
              <a:rPr lang="en-US" altLang="zh-CN" b="0" i="0" dirty="0">
                <a:effectLst/>
                <a:latin typeface="ui-sans-serif"/>
              </a:rPr>
              <a:t> is the </a:t>
            </a:r>
            <a:r>
              <a:rPr lang="en-US" altLang="zh-CN" b="1" i="0" dirty="0">
                <a:effectLst/>
                <a:latin typeface="ui-sans-serif"/>
              </a:rPr>
              <a:t>angular frequency </a:t>
            </a:r>
            <a:r>
              <a:rPr lang="en-US" altLang="zh-CN" b="0" i="0" dirty="0">
                <a:effectLst/>
                <a:latin typeface="ui-sans-serif"/>
              </a:rPr>
              <a:t>, related to the frequency </a:t>
            </a:r>
            <a:r>
              <a:rPr lang="en-US" altLang="zh-CN" b="0" i="1" dirty="0">
                <a:effectLst/>
                <a:latin typeface="KaTeX_Math"/>
              </a:rPr>
              <a:t>f</a:t>
            </a:r>
            <a:r>
              <a:rPr lang="en-US" altLang="zh-CN" b="0" i="0" dirty="0">
                <a:effectLst/>
                <a:latin typeface="ui-sans-serif"/>
              </a:rPr>
              <a:t> by </a:t>
            </a:r>
            <a:r>
              <a:rPr lang="en-US" altLang="zh-CN" b="0" i="1" dirty="0">
                <a:effectLst/>
                <a:latin typeface="KaTeX_Math"/>
              </a:rPr>
              <a:t>ω</a:t>
            </a:r>
            <a:r>
              <a:rPr lang="en-US" altLang="zh-CN" b="0" i="0" dirty="0">
                <a:effectLst/>
                <a:latin typeface="KaTeX_Main"/>
              </a:rPr>
              <a:t>=2</a:t>
            </a:r>
            <a:r>
              <a:rPr lang="en-US" altLang="zh-CN" b="0" i="1" dirty="0">
                <a:effectLst/>
                <a:latin typeface="KaTeX_Math"/>
              </a:rPr>
              <a:t>πf</a:t>
            </a:r>
            <a:r>
              <a:rPr lang="en-US" altLang="zh-CN" b="0" i="0" dirty="0">
                <a:effectLst/>
                <a:latin typeface="ui-sans-serif"/>
              </a:rPr>
              <a:t>,</a:t>
            </a:r>
          </a:p>
          <a:p>
            <a:pPr algn="l">
              <a:buFont typeface="Arial" panose="020B0604020202020204" pitchFamily="34" charset="0"/>
              <a:buChar char="•"/>
            </a:pPr>
            <a:r>
              <a:rPr lang="en-US" altLang="zh-CN" b="0" i="1" dirty="0">
                <a:effectLst/>
                <a:latin typeface="KaTeX_Math"/>
              </a:rPr>
              <a:t>δ</a:t>
            </a:r>
            <a:r>
              <a:rPr lang="en-US" altLang="zh-CN" b="0" i="0" dirty="0">
                <a:effectLst/>
                <a:latin typeface="ui-sans-serif"/>
              </a:rPr>
              <a:t> is the phase constant,</a:t>
            </a:r>
          </a:p>
          <a:p>
            <a:pPr algn="l">
              <a:buFont typeface="Arial" panose="020B0604020202020204" pitchFamily="34" charset="0"/>
              <a:buChar char="•"/>
            </a:pPr>
            <a:r>
              <a:rPr lang="en-US" altLang="zh-CN" b="0" i="1" dirty="0">
                <a:effectLst/>
                <a:latin typeface="KaTeX_Math"/>
              </a:rPr>
              <a:t>v</a:t>
            </a:r>
            <a:r>
              <a:rPr lang="en-US" altLang="zh-CN" b="0" i="0" dirty="0">
                <a:effectLst/>
                <a:latin typeface="KaTeX_Main"/>
              </a:rPr>
              <a:t>=</a:t>
            </a:r>
            <a:r>
              <a:rPr lang="en-US" altLang="zh-CN" b="0" i="1" dirty="0" err="1">
                <a:effectLst/>
                <a:latin typeface="KaTeX_Math"/>
              </a:rPr>
              <a:t>kω</a:t>
            </a:r>
            <a:r>
              <a:rPr lang="en-US" altLang="zh-CN" b="0" i="0" dirty="0">
                <a:effectLst/>
                <a:latin typeface="KaTeX_Main"/>
              </a:rPr>
              <a:t>​</a:t>
            </a:r>
            <a:r>
              <a:rPr lang="en-US" altLang="zh-CN" b="0" i="0" dirty="0">
                <a:effectLst/>
                <a:latin typeface="ui-sans-serif"/>
              </a:rPr>
              <a:t> is the wave speed.</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C3B7EDEF-D1E3-1DF8-07DD-6E0473018B62}"/>
                  </a:ext>
                </a:extLst>
              </p:cNvPr>
              <p:cNvSpPr txBox="1"/>
              <p:nvPr/>
            </p:nvSpPr>
            <p:spPr>
              <a:xfrm>
                <a:off x="2976483" y="2841993"/>
                <a:ext cx="345274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b="0" i="1" smtClean="0">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en-US" altLang="zh-CN" sz="2000" b="0" i="1" smtClean="0">
                              <a:latin typeface="Cambria Math" panose="02040503050406030204" pitchFamily="18" charset="0"/>
                            </a:rPr>
                            <m:t>𝑥</m:t>
                          </m:r>
                          <m:r>
                            <a:rPr lang="zh-CN" altLang="en-US" sz="2000" b="0" i="1">
                              <a:latin typeface="Cambria Math" panose="02040503050406030204" pitchFamily="18" charset="0"/>
                            </a:rPr>
                            <m:t>,</m:t>
                          </m:r>
                          <m:r>
                            <a:rPr lang="zh-CN" altLang="en-US" sz="2000" b="0" i="1">
                              <a:latin typeface="Cambria Math" panose="02040503050406030204" pitchFamily="18" charset="0"/>
                            </a:rPr>
                            <m:t>𝑡</m:t>
                          </m:r>
                        </m:e>
                      </m:d>
                      <m:r>
                        <a:rPr lang="zh-CN" altLang="en-US" sz="2000" b="0" i="1">
                          <a:latin typeface="Cambria Math" panose="02040503050406030204" pitchFamily="18" charset="0"/>
                        </a:rPr>
                        <m:t>=</m:t>
                      </m:r>
                      <m:r>
                        <a:rPr lang="zh-CN" altLang="en-US" sz="2000" b="0" i="1">
                          <a:latin typeface="Cambria Math" panose="02040503050406030204" pitchFamily="18" charset="0"/>
                        </a:rPr>
                        <m:t>𝐴</m:t>
                      </m:r>
                      <m:func>
                        <m:funcPr>
                          <m:ctrlPr>
                            <a:rPr lang="zh-CN" altLang="en-US" sz="2000" i="1">
                              <a:latin typeface="Cambria Math" panose="02040503050406030204" pitchFamily="18" charset="0"/>
                            </a:rPr>
                          </m:ctrlPr>
                        </m:funcPr>
                        <m:fName>
                          <m:r>
                            <a:rPr lang="zh-CN" altLang="en-US" sz="2000" b="0" i="1">
                              <a:latin typeface="Cambria Math" panose="02040503050406030204" pitchFamily="18" charset="0"/>
                            </a:rPr>
                            <m:t>𝑐𝑜𝑠</m:t>
                          </m:r>
                        </m:fName>
                        <m:e>
                          <m:d>
                            <m:dPr>
                              <m:begChr m:val="["/>
                              <m:endChr m:val="]"/>
                              <m:ctrlPr>
                                <a:rPr lang="zh-CN" altLang="en-US" sz="2000" i="1">
                                  <a:solidFill>
                                    <a:srgbClr val="836967"/>
                                  </a:solidFill>
                                  <a:latin typeface="Cambria Math" panose="02040503050406030204" pitchFamily="18" charset="0"/>
                                </a:rPr>
                              </m:ctrlPr>
                            </m:dPr>
                            <m:e>
                              <m:d>
                                <m:dPr>
                                  <m:ctrlPr>
                                    <a:rPr lang="zh-CN" altLang="en-US" sz="2000" i="1">
                                      <a:solidFill>
                                        <a:srgbClr val="836967"/>
                                      </a:solidFill>
                                      <a:latin typeface="Cambria Math" panose="02040503050406030204" pitchFamily="18" charset="0"/>
                                    </a:rPr>
                                  </m:ctrlPr>
                                </m:dPr>
                                <m:e>
                                  <m:r>
                                    <a:rPr lang="zh-CN" altLang="en-US" sz="2000" b="0" i="1">
                                      <a:latin typeface="Cambria Math" panose="02040503050406030204" pitchFamily="18" charset="0"/>
                                    </a:rPr>
                                    <m:t>𝑘</m:t>
                                  </m:r>
                                  <m:r>
                                    <a:rPr lang="en-US" altLang="zh-CN" sz="2000" b="0" i="1" smtClean="0">
                                      <a:latin typeface="Cambria Math" panose="02040503050406030204" pitchFamily="18" charset="0"/>
                                    </a:rPr>
                                    <m:t>𝑥</m:t>
                                  </m:r>
                                  <m:r>
                                    <a:rPr lang="en-US" altLang="zh-CN" sz="2000" b="0" i="1">
                                      <a:latin typeface="Cambria Math" panose="02040503050406030204" pitchFamily="18" charset="0"/>
                                    </a:rPr>
                                    <m:t>−</m:t>
                                  </m:r>
                                  <m:r>
                                    <a:rPr lang="en-US" altLang="zh-CN" sz="2000" b="0" i="1" dirty="0">
                                      <a:latin typeface="Cambria Math" panose="02040503050406030204" pitchFamily="18" charset="0"/>
                                      <a:ea typeface="Cambria Math" panose="02040503050406030204" pitchFamily="18" charset="0"/>
                                    </a:rPr>
                                    <m:t>𝜔</m:t>
                                  </m:r>
                                  <m:r>
                                    <a:rPr lang="en-US" altLang="zh-CN" sz="2000" b="0" i="1">
                                      <a:latin typeface="Cambria Math" panose="02040503050406030204" pitchFamily="18" charset="0"/>
                                    </a:rPr>
                                    <m:t>𝑡</m:t>
                                  </m:r>
                                </m:e>
                              </m:d>
                              <m:r>
                                <a:rPr lang="en-US" altLang="zh-CN" sz="2000" b="0" i="1" smtClean="0">
                                  <a:latin typeface="Cambria Math" panose="02040503050406030204" pitchFamily="18" charset="0"/>
                                </a:rPr>
                                <m:t>−</m:t>
                              </m:r>
                              <m:r>
                                <a:rPr lang="zh-CN" altLang="en-US" sz="2000" b="0" i="1">
                                  <a:latin typeface="Cambria Math" panose="02040503050406030204" pitchFamily="18" charset="0"/>
                                </a:rPr>
                                <m:t>𝛿</m:t>
                              </m:r>
                            </m:e>
                          </m:d>
                        </m:e>
                      </m:func>
                    </m:oMath>
                  </m:oMathPara>
                </a14:m>
                <a:endParaRPr lang="zh-CN" altLang="en-US" sz="2000" i="1" dirty="0"/>
              </a:p>
            </p:txBody>
          </p:sp>
        </mc:Choice>
        <mc:Fallback xmlns="">
          <p:sp>
            <p:nvSpPr>
              <p:cNvPr id="18" name="文本框 17">
                <a:extLst>
                  <a:ext uri="{FF2B5EF4-FFF2-40B4-BE49-F238E27FC236}">
                    <a16:creationId xmlns:a16="http://schemas.microsoft.com/office/drawing/2014/main" id="{C3B7EDEF-D1E3-1DF8-07DD-6E0473018B62}"/>
                  </a:ext>
                </a:extLst>
              </p:cNvPr>
              <p:cNvSpPr txBox="1">
                <a:spLocks noRot="1" noChangeAspect="1" noMove="1" noResize="1" noEditPoints="1" noAdjustHandles="1" noChangeArrowheads="1" noChangeShapeType="1" noTextEdit="1"/>
              </p:cNvSpPr>
              <p:nvPr/>
            </p:nvSpPr>
            <p:spPr>
              <a:xfrm>
                <a:off x="2976483" y="2841993"/>
                <a:ext cx="3452740" cy="307777"/>
              </a:xfrm>
              <a:prstGeom prst="rect">
                <a:avLst/>
              </a:prstGeom>
              <a:blipFill>
                <a:blip r:embed="rId3"/>
                <a:stretch>
                  <a:fillRect l="-1058"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4DF35DB3-6B9A-888A-40A9-B588CFB39B33}"/>
                  </a:ext>
                </a:extLst>
              </p:cNvPr>
              <p:cNvSpPr txBox="1"/>
              <p:nvPr/>
            </p:nvSpPr>
            <p:spPr>
              <a:xfrm>
                <a:off x="3963450" y="3495585"/>
                <a:ext cx="2398029" cy="3286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𝑡</m:t>
                          </m:r>
                        </m:e>
                      </m:d>
                      <m:r>
                        <a:rPr lang="zh-CN" altLang="en-US" sz="2000" i="0">
                          <a:latin typeface="Cambria Math" panose="02040503050406030204" pitchFamily="18" charset="0"/>
                        </a:rPr>
                        <m:t>=</m:t>
                      </m:r>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𝐸</m:t>
                          </m:r>
                        </m:e>
                        <m:sub>
                          <m:r>
                            <a:rPr lang="zh-CN" altLang="en-US" sz="2000" i="0">
                              <a:latin typeface="Cambria Math" panose="02040503050406030204" pitchFamily="18" charset="0"/>
                            </a:rPr>
                            <m:t>0</m:t>
                          </m:r>
                        </m:sub>
                      </m:sSub>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ⅇ</m:t>
                          </m:r>
                        </m:e>
                        <m:sup>
                          <m:r>
                            <a:rPr lang="zh-CN" altLang="en-US" sz="2000" i="1">
                              <a:latin typeface="Cambria Math" panose="02040503050406030204" pitchFamily="18" charset="0"/>
                            </a:rPr>
                            <m:t>𝑗</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i="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sup>
                      </m:sSup>
                    </m:oMath>
                  </m:oMathPara>
                </a14:m>
                <a:endParaRPr lang="zh-CN" altLang="en-US" sz="2000" dirty="0"/>
              </a:p>
            </p:txBody>
          </p:sp>
        </mc:Choice>
        <mc:Fallback xmlns="">
          <p:sp>
            <p:nvSpPr>
              <p:cNvPr id="19" name="文本框 18">
                <a:extLst>
                  <a:ext uri="{FF2B5EF4-FFF2-40B4-BE49-F238E27FC236}">
                    <a16:creationId xmlns:a16="http://schemas.microsoft.com/office/drawing/2014/main" id="{4DF35DB3-6B9A-888A-40A9-B588CFB39B33}"/>
                  </a:ext>
                </a:extLst>
              </p:cNvPr>
              <p:cNvSpPr txBox="1">
                <a:spLocks noRot="1" noChangeAspect="1" noMove="1" noResize="1" noEditPoints="1" noAdjustHandles="1" noChangeArrowheads="1" noChangeShapeType="1" noTextEdit="1"/>
              </p:cNvSpPr>
              <p:nvPr/>
            </p:nvSpPr>
            <p:spPr>
              <a:xfrm>
                <a:off x="3963450" y="3495585"/>
                <a:ext cx="2398029" cy="328680"/>
              </a:xfrm>
              <a:prstGeom prst="rect">
                <a:avLst/>
              </a:prstGeom>
              <a:blipFill>
                <a:blip r:embed="rId4"/>
                <a:stretch>
                  <a:fillRect l="-1523" b="-18519"/>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292115B8-025D-38B8-D008-A0EECBC9DEDD}"/>
              </a:ext>
            </a:extLst>
          </p:cNvPr>
          <p:cNvSpPr txBox="1"/>
          <p:nvPr/>
        </p:nvSpPr>
        <p:spPr>
          <a:xfrm>
            <a:off x="923856" y="884309"/>
            <a:ext cx="7557991" cy="923330"/>
          </a:xfrm>
          <a:prstGeom prst="rect">
            <a:avLst/>
          </a:prstGeom>
          <a:noFill/>
        </p:spPr>
        <p:txBody>
          <a:bodyPr wrap="square">
            <a:spAutoFit/>
          </a:bodyPr>
          <a:lstStyle/>
          <a:p>
            <a:r>
              <a:rPr lang="en-US" altLang="zh-CN" dirty="0"/>
              <a:t>Harmonic solutions </a:t>
            </a:r>
            <a:r>
              <a:rPr lang="zh-CN" altLang="en-US" dirty="0"/>
              <a:t>是波动方程的特定解，描述了在空间和时间上呈正弦或余弦形式的周期性波。这些解通常被称为简谐波解 ，因为它们具有简单的正弦或余弦形式，并且是波动方程中最基本、最重要的解之一。</a:t>
            </a:r>
          </a:p>
        </p:txBody>
      </p:sp>
    </p:spTree>
    <p:extLst>
      <p:ext uri="{BB962C8B-B14F-4D97-AF65-F5344CB8AC3E}">
        <p14:creationId xmlns:p14="http://schemas.microsoft.com/office/powerpoint/2010/main" val="4017212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A2D72-B390-D657-0F00-F7FA1480DAEE}"/>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DBE60328-E4ED-F896-EC51-5534833CDDCF}"/>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Harmonic wave solutions to the wave equation</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7D5655B-0042-5D42-55A9-0118FCD53E1C}"/>
                  </a:ext>
                </a:extLst>
              </p:cNvPr>
              <p:cNvSpPr txBox="1"/>
              <p:nvPr/>
            </p:nvSpPr>
            <p:spPr>
              <a:xfrm>
                <a:off x="3725410" y="888541"/>
                <a:ext cx="2022220" cy="6176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zh-CN" altLang="en-US" sz="2000" i="1" smtClean="0">
                              <a:solidFill>
                                <a:srgbClr val="836967"/>
                              </a:solidFill>
                              <a:latin typeface="Cambria Math" panose="02040503050406030204" pitchFamily="18" charset="0"/>
                            </a:rPr>
                          </m:ctrlPr>
                        </m:fPr>
                        <m:num>
                          <m:sSup>
                            <m:sSupPr>
                              <m:ctrlPr>
                                <a:rPr lang="zh-CN" altLang="en-US" sz="2000" i="1">
                                  <a:solidFill>
                                    <a:srgbClr val="836967"/>
                                  </a:solidFill>
                                  <a:latin typeface="Cambria Math" panose="02040503050406030204" pitchFamily="18" charset="0"/>
                                </a:rPr>
                              </m:ctrlPr>
                            </m:sSupPr>
                            <m:e>
                              <m:r>
                                <a:rPr lang="zh-CN" altLang="en-US" sz="2000">
                                  <a:latin typeface="Cambria Math" panose="02040503050406030204" pitchFamily="18" charset="0"/>
                                </a:rPr>
                                <m:t>𝜕</m:t>
                              </m:r>
                            </m:e>
                            <m:sup>
                              <m:r>
                                <a:rPr lang="zh-CN" altLang="en-US" sz="2000" i="0">
                                  <a:latin typeface="Cambria Math" panose="02040503050406030204" pitchFamily="18" charset="0"/>
                                </a:rPr>
                                <m:t>2</m:t>
                              </m:r>
                            </m:sup>
                          </m:sSup>
                          <m:r>
                            <a:rPr lang="zh-CN" altLang="en-US" sz="2000" i="1">
                              <a:latin typeface="Cambria Math" panose="02040503050406030204" pitchFamily="18" charset="0"/>
                            </a:rPr>
                            <m:t>𝐸</m:t>
                          </m:r>
                        </m:num>
                        <m:den>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i="0">
                                  <a:latin typeface="Cambria Math" panose="02040503050406030204" pitchFamily="18" charset="0"/>
                                </a:rPr>
                                <m:t>2</m:t>
                              </m:r>
                            </m:sup>
                          </m:sSup>
                        </m:den>
                      </m:f>
                      <m:r>
                        <a:rPr lang="zh-CN" altLang="en-US" sz="2000" i="0">
                          <a:latin typeface="Cambria Math" panose="02040503050406030204" pitchFamily="18" charset="0"/>
                        </a:rPr>
                        <m:t>−</m:t>
                      </m:r>
                      <m:r>
                        <a:rPr lang="en-US" altLang="zh-CN" sz="2000" i="1" smtClean="0">
                          <a:latin typeface="Cambria Math" panose="02040503050406030204" pitchFamily="18" charset="0"/>
                        </a:rPr>
                        <m:t>𝜇</m:t>
                      </m:r>
                      <m:r>
                        <a:rPr lang="zh-CN" altLang="en-US" sz="2000" i="1">
                          <a:latin typeface="Cambria Math" panose="02040503050406030204" pitchFamily="18" charset="0"/>
                        </a:rPr>
                        <m:t>𝜀</m:t>
                      </m:r>
                      <m:f>
                        <m:fPr>
                          <m:ctrlPr>
                            <a:rPr lang="zh-CN" altLang="en-US" sz="2000" i="1">
                              <a:solidFill>
                                <a:srgbClr val="836967"/>
                              </a:solidFill>
                              <a:latin typeface="Cambria Math" panose="02040503050406030204" pitchFamily="18" charset="0"/>
                            </a:rPr>
                          </m:ctrlPr>
                        </m:fPr>
                        <m:num>
                          <m:sSup>
                            <m:sSupPr>
                              <m:ctrlPr>
                                <a:rPr lang="zh-CN" altLang="en-US" sz="2000" i="1">
                                  <a:solidFill>
                                    <a:srgbClr val="836967"/>
                                  </a:solidFill>
                                  <a:latin typeface="Cambria Math" panose="02040503050406030204" pitchFamily="18" charset="0"/>
                                </a:rPr>
                              </m:ctrlPr>
                            </m:sSupPr>
                            <m:e>
                              <m:r>
                                <a:rPr lang="zh-CN" altLang="en-US" sz="2000" i="0">
                                  <a:latin typeface="Cambria Math" panose="02040503050406030204" pitchFamily="18" charset="0"/>
                                </a:rPr>
                                <m:t>𝜕</m:t>
                              </m:r>
                            </m:e>
                            <m:sup>
                              <m:r>
                                <a:rPr lang="zh-CN" altLang="en-US" sz="2000" i="0">
                                  <a:latin typeface="Cambria Math" panose="02040503050406030204" pitchFamily="18" charset="0"/>
                                </a:rPr>
                                <m:t>2</m:t>
                              </m:r>
                            </m:sup>
                          </m:sSup>
                          <m:r>
                            <a:rPr lang="zh-CN" altLang="en-US" sz="2000" i="1">
                              <a:latin typeface="Cambria Math" panose="02040503050406030204" pitchFamily="18" charset="0"/>
                            </a:rPr>
                            <m:t>𝐸</m:t>
                          </m:r>
                        </m:num>
                        <m:den>
                          <m:r>
                            <a:rPr lang="zh-CN" altLang="en-US" sz="2000" i="0">
                              <a:latin typeface="Cambria Math" panose="02040503050406030204" pitchFamily="18" charset="0"/>
                            </a:rPr>
                            <m:t>𝜕</m:t>
                          </m:r>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𝑡</m:t>
                              </m:r>
                            </m:e>
                            <m:sup>
                              <m:r>
                                <a:rPr lang="zh-CN" altLang="en-US" sz="2000" i="0">
                                  <a:latin typeface="Cambria Math" panose="02040503050406030204" pitchFamily="18" charset="0"/>
                                </a:rPr>
                                <m:t>2</m:t>
                              </m:r>
                            </m:sup>
                          </m:sSup>
                        </m:den>
                      </m:f>
                      <m:r>
                        <a:rPr lang="zh-CN" altLang="en-US" sz="2000" i="0">
                          <a:latin typeface="Cambria Math" panose="02040503050406030204" pitchFamily="18" charset="0"/>
                        </a:rPr>
                        <m:t>=0</m:t>
                      </m:r>
                    </m:oMath>
                  </m:oMathPara>
                </a14:m>
                <a:endParaRPr lang="zh-CN" altLang="en-US" sz="2000" dirty="0"/>
              </a:p>
            </p:txBody>
          </p:sp>
        </mc:Choice>
        <mc:Fallback xmlns="">
          <p:sp>
            <p:nvSpPr>
              <p:cNvPr id="4" name="文本框 3">
                <a:extLst>
                  <a:ext uri="{FF2B5EF4-FFF2-40B4-BE49-F238E27FC236}">
                    <a16:creationId xmlns:a16="http://schemas.microsoft.com/office/drawing/2014/main" id="{97D5655B-0042-5D42-55A9-0118FCD53E1C}"/>
                  </a:ext>
                </a:extLst>
              </p:cNvPr>
              <p:cNvSpPr txBox="1">
                <a:spLocks noRot="1" noChangeAspect="1" noMove="1" noResize="1" noEditPoints="1" noAdjustHandles="1" noChangeArrowheads="1" noChangeShapeType="1" noTextEdit="1"/>
              </p:cNvSpPr>
              <p:nvPr/>
            </p:nvSpPr>
            <p:spPr>
              <a:xfrm>
                <a:off x="3725410" y="888541"/>
                <a:ext cx="2022220" cy="617605"/>
              </a:xfrm>
              <a:prstGeom prst="rect">
                <a:avLst/>
              </a:prstGeom>
              <a:blipFill>
                <a:blip r:embed="rId3"/>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4FA69866-238A-5FE9-7ECA-3ACC677DFBB4}"/>
              </a:ext>
            </a:extLst>
          </p:cNvPr>
          <p:cNvSpPr txBox="1"/>
          <p:nvPr/>
        </p:nvSpPr>
        <p:spPr>
          <a:xfrm>
            <a:off x="834288" y="1764466"/>
            <a:ext cx="7700111" cy="1631216"/>
          </a:xfrm>
          <a:prstGeom prst="rect">
            <a:avLst/>
          </a:prstGeom>
          <a:noFill/>
        </p:spPr>
        <p:txBody>
          <a:bodyPr wrap="square">
            <a:spAutoFit/>
          </a:bodyPr>
          <a:lstStyle/>
          <a:p>
            <a:r>
              <a:rPr lang="en-US" altLang="zh-CN" sz="2000" dirty="0"/>
              <a:t>The most general solution has </a:t>
            </a:r>
            <a:r>
              <a:rPr lang="en-US" altLang="zh-CN" sz="2000" b="1" dirty="0"/>
              <a:t>two</a:t>
            </a:r>
            <a:r>
              <a:rPr lang="en-US" altLang="zh-CN" sz="2000" dirty="0"/>
              <a:t> unknown constants, which</a:t>
            </a:r>
          </a:p>
          <a:p>
            <a:r>
              <a:rPr lang="en-US" altLang="zh-CN" sz="2000" dirty="0"/>
              <a:t>cannot be determined without some additional information about</a:t>
            </a:r>
          </a:p>
          <a:p>
            <a:r>
              <a:rPr lang="en-US" altLang="zh-CN" sz="2000" dirty="0"/>
              <a:t>the problem.</a:t>
            </a:r>
          </a:p>
          <a:p>
            <a:r>
              <a:rPr lang="en-US" altLang="zh-CN" sz="2000" dirty="0"/>
              <a:t>We might expect that oscillatory solutions (</a:t>
            </a:r>
            <a:r>
              <a:rPr lang="en-US" altLang="zh-CN" sz="2000" b="1" dirty="0"/>
              <a:t>sines</a:t>
            </a:r>
            <a:r>
              <a:rPr lang="en-US" altLang="zh-CN" sz="2000" dirty="0"/>
              <a:t> and </a:t>
            </a:r>
            <a:r>
              <a:rPr lang="en-US" altLang="zh-CN" sz="2000" b="1" dirty="0"/>
              <a:t>cosines</a:t>
            </a:r>
            <a:r>
              <a:rPr lang="en-US" altLang="zh-CN" sz="2000" dirty="0"/>
              <a:t>) will be very relevant for light waves. (</a:t>
            </a:r>
            <a:r>
              <a:rPr lang="zh-CN" altLang="en-US" sz="2000" dirty="0"/>
              <a:t>二阶线性齐次微分方程通解：</a:t>
            </a:r>
            <a:r>
              <a:rPr lang="en-US" altLang="zh-CN" sz="2000" dirty="0"/>
              <a:t>)</a:t>
            </a:r>
            <a:endParaRPr lang="zh-CN" altLang="en-US" sz="2000" dirty="0"/>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C64DB2A-7A2E-23DA-3945-E31EC183F7CC}"/>
                  </a:ext>
                </a:extLst>
              </p:cNvPr>
              <p:cNvSpPr txBox="1"/>
              <p:nvPr/>
            </p:nvSpPr>
            <p:spPr>
              <a:xfrm>
                <a:off x="2243947" y="3938608"/>
                <a:ext cx="498514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smtClean="0">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en-US" altLang="zh-CN" sz="2000" b="0" i="1" smtClean="0">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𝑡</m:t>
                          </m:r>
                        </m:e>
                      </m:d>
                      <m:r>
                        <a:rPr lang="zh-CN" altLang="en-US" sz="2000" i="0">
                          <a:latin typeface="Cambria Math" panose="02040503050406030204" pitchFamily="18" charset="0"/>
                        </a:rPr>
                        <m:t>=</m:t>
                      </m:r>
                      <m:r>
                        <a:rPr lang="en-US" altLang="zh-CN" sz="2000" b="0" i="1" smtClean="0">
                          <a:latin typeface="Cambria Math" panose="02040503050406030204" pitchFamily="18" charset="0"/>
                        </a:rPr>
                        <m:t>𝐵</m:t>
                      </m:r>
                      <m:func>
                        <m:funcPr>
                          <m:ctrlPr>
                            <a:rPr lang="zh-CN" altLang="en-US" sz="2000" i="1">
                              <a:latin typeface="Cambria Math" panose="02040503050406030204" pitchFamily="18" charset="0"/>
                            </a:rPr>
                          </m:ctrlPr>
                        </m:funcPr>
                        <m:fName>
                          <m:r>
                            <m:rPr>
                              <m:sty m:val="p"/>
                            </m:rPr>
                            <a:rPr lang="zh-CN" altLang="en-US" sz="2000" i="0">
                              <a:latin typeface="Cambria Math" panose="02040503050406030204" pitchFamily="18" charset="0"/>
                            </a:rPr>
                            <m:t>cos</m:t>
                          </m:r>
                        </m:fName>
                        <m:e>
                          <m:d>
                            <m:dPr>
                              <m:begChr m:val="["/>
                              <m:endChr m:val="]"/>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m:t>
                              </m:r>
                              <m:d>
                                <m:dPr>
                                  <m:ctrlPr>
                                    <a:rPr lang="zh-CN" altLang="en-US" sz="2000" i="1">
                                      <a:solidFill>
                                        <a:srgbClr val="836967"/>
                                      </a:solidFill>
                                      <a:latin typeface="Cambria Math" panose="02040503050406030204" pitchFamily="18" charset="0"/>
                                    </a:rPr>
                                  </m:ctrlPr>
                                </m:dPr>
                                <m:e>
                                  <m:r>
                                    <a:rPr lang="en-US" altLang="zh-CN" sz="2000" b="0" i="1" smtClean="0">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𝑐𝑡</m:t>
                                  </m:r>
                                </m:e>
                              </m:d>
                            </m:e>
                          </m:d>
                        </m:e>
                      </m:func>
                      <m:r>
                        <a:rPr lang="zh-CN" altLang="en-US" sz="2000" i="0">
                          <a:latin typeface="Cambria Math" panose="02040503050406030204" pitchFamily="18" charset="0"/>
                        </a:rPr>
                        <m:t>+</m:t>
                      </m:r>
                      <m:r>
                        <a:rPr lang="zh-CN" altLang="en-US" sz="2000" i="1">
                          <a:latin typeface="Cambria Math" panose="02040503050406030204" pitchFamily="18" charset="0"/>
                        </a:rPr>
                        <m:t>𝐶</m:t>
                      </m:r>
                      <m:func>
                        <m:funcPr>
                          <m:ctrlPr>
                            <a:rPr lang="zh-CN" altLang="en-US" sz="2000" i="1">
                              <a:latin typeface="Cambria Math" panose="02040503050406030204" pitchFamily="18" charset="0"/>
                            </a:rPr>
                          </m:ctrlPr>
                        </m:funcPr>
                        <m:fName>
                          <m:r>
                            <m:rPr>
                              <m:sty m:val="p"/>
                            </m:rPr>
                            <a:rPr lang="zh-CN" altLang="en-US" sz="2000" i="0">
                              <a:latin typeface="Cambria Math" panose="02040503050406030204" pitchFamily="18" charset="0"/>
                            </a:rPr>
                            <m:t>sin</m:t>
                          </m:r>
                        </m:fName>
                        <m:e>
                          <m:d>
                            <m:dPr>
                              <m:begChr m:val="["/>
                              <m:endChr m:val="]"/>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m:t>
                              </m:r>
                              <m:d>
                                <m:dPr>
                                  <m:ctrlPr>
                                    <a:rPr lang="zh-CN" altLang="en-US" sz="2000" i="1">
                                      <a:solidFill>
                                        <a:srgbClr val="836967"/>
                                      </a:solidFill>
                                      <a:latin typeface="Cambria Math" panose="02040503050406030204" pitchFamily="18" charset="0"/>
                                    </a:rPr>
                                  </m:ctrlPr>
                                </m:dPr>
                                <m:e>
                                  <m:r>
                                    <a:rPr lang="en-US" altLang="zh-CN" sz="2000" b="0" i="1" smtClean="0">
                                      <a:latin typeface="Cambria Math" panose="02040503050406030204" pitchFamily="18" charset="0"/>
                                    </a:rPr>
                                    <m:t>𝑥</m:t>
                                  </m:r>
                                  <m:r>
                                    <a:rPr lang="zh-CN" altLang="en-US" sz="2000" i="0">
                                      <a:latin typeface="Cambria Math" panose="02040503050406030204" pitchFamily="18" charset="0"/>
                                    </a:rPr>
                                    <m:t>±</m:t>
                                  </m:r>
                                  <m:r>
                                    <a:rPr lang="en-US" altLang="zh-CN" sz="2000" b="0" i="1" smtClean="0">
                                      <a:latin typeface="Cambria Math" panose="02040503050406030204" pitchFamily="18" charset="0"/>
                                    </a:rPr>
                                    <m:t>𝑐</m:t>
                                  </m:r>
                                  <m:r>
                                    <a:rPr lang="zh-CN" altLang="en-US" sz="2000" i="1">
                                      <a:latin typeface="Cambria Math" panose="02040503050406030204" pitchFamily="18" charset="0"/>
                                    </a:rPr>
                                    <m:t>𝑡</m:t>
                                  </m:r>
                                </m:e>
                              </m:d>
                            </m:e>
                          </m:d>
                        </m:e>
                      </m:func>
                    </m:oMath>
                  </m:oMathPara>
                </a14:m>
                <a:endParaRPr lang="zh-CN" altLang="en-US" sz="2000" dirty="0"/>
              </a:p>
            </p:txBody>
          </p:sp>
        </mc:Choice>
        <mc:Fallback xmlns="">
          <p:sp>
            <p:nvSpPr>
              <p:cNvPr id="9" name="文本框 8">
                <a:extLst>
                  <a:ext uri="{FF2B5EF4-FFF2-40B4-BE49-F238E27FC236}">
                    <a16:creationId xmlns:a16="http://schemas.microsoft.com/office/drawing/2014/main" id="{5C64DB2A-7A2E-23DA-3945-E31EC183F7CC}"/>
                  </a:ext>
                </a:extLst>
              </p:cNvPr>
              <p:cNvSpPr txBox="1">
                <a:spLocks noRot="1" noChangeAspect="1" noMove="1" noResize="1" noEditPoints="1" noAdjustHandles="1" noChangeArrowheads="1" noChangeShapeType="1" noTextEdit="1"/>
              </p:cNvSpPr>
              <p:nvPr/>
            </p:nvSpPr>
            <p:spPr>
              <a:xfrm>
                <a:off x="2243947" y="3938608"/>
                <a:ext cx="4985146" cy="307777"/>
              </a:xfrm>
              <a:prstGeom prst="rect">
                <a:avLst/>
              </a:prstGeom>
              <a:blipFill>
                <a:blip r:embed="rId4"/>
                <a:stretch>
                  <a:fillRect l="-489" b="-2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5DBA2CDD-1034-5C13-64B3-AA08E755FB46}"/>
                  </a:ext>
                </a:extLst>
              </p:cNvPr>
              <p:cNvSpPr txBox="1"/>
              <p:nvPr/>
            </p:nvSpPr>
            <p:spPr>
              <a:xfrm>
                <a:off x="2380490" y="5348884"/>
                <a:ext cx="474572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smtClean="0">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𝑡</m:t>
                          </m:r>
                        </m:e>
                      </m:d>
                      <m:r>
                        <a:rPr lang="zh-CN" altLang="en-US" sz="2000" i="0">
                          <a:latin typeface="Cambria Math" panose="02040503050406030204" pitchFamily="18" charset="0"/>
                        </a:rPr>
                        <m:t>=</m:t>
                      </m:r>
                      <m:r>
                        <a:rPr lang="zh-CN" altLang="en-US" sz="2000" i="1">
                          <a:latin typeface="Cambria Math" panose="02040503050406030204" pitchFamily="18" charset="0"/>
                        </a:rPr>
                        <m:t>𝐵</m:t>
                      </m:r>
                      <m:func>
                        <m:funcPr>
                          <m:ctrlPr>
                            <a:rPr lang="zh-CN" altLang="en-US" sz="2000" i="1">
                              <a:latin typeface="Cambria Math" panose="02040503050406030204" pitchFamily="18" charset="0"/>
                            </a:rPr>
                          </m:ctrlPr>
                        </m:funcPr>
                        <m:fName>
                          <m:r>
                            <m:rPr>
                              <m:sty m:val="p"/>
                            </m:rPr>
                            <a:rPr lang="zh-CN" altLang="en-US" sz="2000" i="0">
                              <a:latin typeface="Cambria Math" panose="02040503050406030204" pitchFamily="18" charset="0"/>
                            </a:rPr>
                            <m:t>cos</m:t>
                          </m:r>
                        </m:fName>
                        <m:e>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e>
                      </m:func>
                      <m:r>
                        <a:rPr lang="zh-CN" altLang="en-US" sz="2000" i="0">
                          <a:latin typeface="Cambria Math" panose="02040503050406030204" pitchFamily="18" charset="0"/>
                        </a:rPr>
                        <m:t>+</m:t>
                      </m:r>
                      <m:r>
                        <a:rPr lang="zh-CN" altLang="en-US" sz="2000" i="1">
                          <a:latin typeface="Cambria Math" panose="02040503050406030204" pitchFamily="18" charset="0"/>
                        </a:rPr>
                        <m:t>𝐶</m:t>
                      </m:r>
                      <m:func>
                        <m:funcPr>
                          <m:ctrlPr>
                            <a:rPr lang="zh-CN" altLang="en-US" sz="2000" i="1">
                              <a:latin typeface="Cambria Math" panose="02040503050406030204" pitchFamily="18" charset="0"/>
                            </a:rPr>
                          </m:ctrlPr>
                        </m:funcPr>
                        <m:fName>
                          <m:r>
                            <m:rPr>
                              <m:sty m:val="p"/>
                            </m:rPr>
                            <a:rPr lang="zh-CN" altLang="en-US" sz="2000" i="0">
                              <a:latin typeface="Cambria Math" panose="02040503050406030204" pitchFamily="18" charset="0"/>
                            </a:rPr>
                            <m:t>sin</m:t>
                          </m:r>
                        </m:fName>
                        <m:e>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e>
                      </m:func>
                    </m:oMath>
                  </m:oMathPara>
                </a14:m>
                <a:endParaRPr lang="zh-CN" altLang="en-US" sz="2000" dirty="0"/>
              </a:p>
            </p:txBody>
          </p:sp>
        </mc:Choice>
        <mc:Fallback xmlns="">
          <p:sp>
            <p:nvSpPr>
              <p:cNvPr id="10" name="文本框 9">
                <a:extLst>
                  <a:ext uri="{FF2B5EF4-FFF2-40B4-BE49-F238E27FC236}">
                    <a16:creationId xmlns:a16="http://schemas.microsoft.com/office/drawing/2014/main" id="{5DBA2CDD-1034-5C13-64B3-AA08E755FB46}"/>
                  </a:ext>
                </a:extLst>
              </p:cNvPr>
              <p:cNvSpPr txBox="1">
                <a:spLocks noRot="1" noChangeAspect="1" noMove="1" noResize="1" noEditPoints="1" noAdjustHandles="1" noChangeArrowheads="1" noChangeShapeType="1" noTextEdit="1"/>
              </p:cNvSpPr>
              <p:nvPr/>
            </p:nvSpPr>
            <p:spPr>
              <a:xfrm>
                <a:off x="2380490" y="5348884"/>
                <a:ext cx="4745723" cy="307777"/>
              </a:xfrm>
              <a:prstGeom prst="rect">
                <a:avLst/>
              </a:prstGeom>
              <a:blipFill>
                <a:blip r:embed="rId5"/>
                <a:stretch>
                  <a:fillRect l="-771" b="-2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2577094-3DF5-4F72-8B4F-74CDC8F41F70}"/>
                  </a:ext>
                </a:extLst>
              </p:cNvPr>
              <p:cNvSpPr txBox="1"/>
              <p:nvPr/>
            </p:nvSpPr>
            <p:spPr>
              <a:xfrm>
                <a:off x="5081528" y="4635423"/>
                <a:ext cx="86478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smtClean="0">
                          <a:latin typeface="Cambria Math" panose="02040503050406030204" pitchFamily="18" charset="0"/>
                        </a:rPr>
                        <m:t>𝑘𝑐</m:t>
                      </m:r>
                      <m:r>
                        <a:rPr lang="zh-CN" altLang="en-US" sz="2000" i="0">
                          <a:latin typeface="Cambria Math" panose="02040503050406030204" pitchFamily="18" charset="0"/>
                        </a:rPr>
                        <m:t>=</m:t>
                      </m:r>
                      <m:r>
                        <a:rPr lang="zh-CN" altLang="en-US" sz="2000" i="1">
                          <a:latin typeface="Cambria Math" panose="02040503050406030204" pitchFamily="18" charset="0"/>
                        </a:rPr>
                        <m:t>𝜔</m:t>
                      </m:r>
                    </m:oMath>
                  </m:oMathPara>
                </a14:m>
                <a:endParaRPr lang="zh-CN" altLang="en-US" sz="2000" dirty="0"/>
              </a:p>
            </p:txBody>
          </p:sp>
        </mc:Choice>
        <mc:Fallback xmlns="">
          <p:sp>
            <p:nvSpPr>
              <p:cNvPr id="12" name="文本框 11">
                <a:extLst>
                  <a:ext uri="{FF2B5EF4-FFF2-40B4-BE49-F238E27FC236}">
                    <a16:creationId xmlns:a16="http://schemas.microsoft.com/office/drawing/2014/main" id="{D2577094-3DF5-4F72-8B4F-74CDC8F41F70}"/>
                  </a:ext>
                </a:extLst>
              </p:cNvPr>
              <p:cNvSpPr txBox="1">
                <a:spLocks noRot="1" noChangeAspect="1" noMove="1" noResize="1" noEditPoints="1" noAdjustHandles="1" noChangeArrowheads="1" noChangeShapeType="1" noTextEdit="1"/>
              </p:cNvSpPr>
              <p:nvPr/>
            </p:nvSpPr>
            <p:spPr>
              <a:xfrm>
                <a:off x="5081528" y="4635423"/>
                <a:ext cx="864789" cy="307777"/>
              </a:xfrm>
              <a:prstGeom prst="rect">
                <a:avLst/>
              </a:prstGeom>
              <a:blipFill>
                <a:blip r:embed="rId6"/>
                <a:stretch>
                  <a:fillRect l="-6383" r="-2128" b="-9804"/>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433F2803-AE4B-AAF6-623A-28B5D552AE71}"/>
              </a:ext>
            </a:extLst>
          </p:cNvPr>
          <p:cNvSpPr txBox="1"/>
          <p:nvPr/>
        </p:nvSpPr>
        <p:spPr>
          <a:xfrm>
            <a:off x="2253084" y="4604645"/>
            <a:ext cx="2615610" cy="369332"/>
          </a:xfrm>
          <a:prstGeom prst="rect">
            <a:avLst/>
          </a:prstGeom>
          <a:noFill/>
        </p:spPr>
        <p:txBody>
          <a:bodyPr wrap="square">
            <a:spAutoFit/>
          </a:bodyPr>
          <a:lstStyle/>
          <a:p>
            <a:r>
              <a:rPr lang="en-US" altLang="zh-CN" dirty="0"/>
              <a:t>Making the substitution</a:t>
            </a:r>
            <a:endParaRPr lang="zh-CN" altLang="en-US" dirty="0"/>
          </a:p>
        </p:txBody>
      </p:sp>
    </p:spTree>
    <p:extLst>
      <p:ext uri="{BB962C8B-B14F-4D97-AF65-F5344CB8AC3E}">
        <p14:creationId xmlns:p14="http://schemas.microsoft.com/office/powerpoint/2010/main" val="20603763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 simpler equation for a harmonic wave</a:t>
            </a:r>
          </a:p>
        </p:txBody>
      </p:sp>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48160AB2-11C6-0325-BD5B-24D6EA134D1C}"/>
                  </a:ext>
                </a:extLst>
              </p:cNvPr>
              <p:cNvSpPr txBox="1"/>
              <p:nvPr/>
            </p:nvSpPr>
            <p:spPr>
              <a:xfrm>
                <a:off x="3312100" y="1084386"/>
                <a:ext cx="136094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𝐵</m:t>
                      </m:r>
                      <m:r>
                        <a:rPr lang="zh-CN" altLang="en-US" i="0">
                          <a:latin typeface="Cambria Math" panose="02040503050406030204" pitchFamily="18" charset="0"/>
                        </a:rPr>
                        <m:t>=</m:t>
                      </m:r>
                      <m:r>
                        <a:rPr lang="zh-CN" altLang="en-US" i="1">
                          <a:latin typeface="Cambria Math" panose="02040503050406030204" pitchFamily="18" charset="0"/>
                        </a:rPr>
                        <m:t>𝐴</m:t>
                      </m:r>
                      <m:func>
                        <m:funcPr>
                          <m:ctrlPr>
                            <a:rPr lang="zh-CN" altLang="en-US" i="1">
                              <a:latin typeface="Cambria Math" panose="02040503050406030204" pitchFamily="18" charset="0"/>
                            </a:rPr>
                          </m:ctrlPr>
                        </m:funcPr>
                        <m:fName>
                          <m:r>
                            <m:rPr>
                              <m:sty m:val="p"/>
                            </m:rPr>
                            <a:rPr lang="zh-CN" altLang="en-US" i="0">
                              <a:latin typeface="Cambria Math" panose="02040503050406030204" pitchFamily="18" charset="0"/>
                            </a:rPr>
                            <m:t>cos</m:t>
                          </m:r>
                        </m:fName>
                        <m:e>
                          <m:d>
                            <m:dPr>
                              <m:ctrlPr>
                                <a:rPr lang="zh-CN" altLang="en-US" i="1">
                                  <a:solidFill>
                                    <a:srgbClr val="836967"/>
                                  </a:solidFill>
                                  <a:latin typeface="Cambria Math" panose="02040503050406030204" pitchFamily="18" charset="0"/>
                                </a:rPr>
                              </m:ctrlPr>
                            </m:dPr>
                            <m:e>
                              <m:r>
                                <a:rPr lang="zh-CN" altLang="en-US" i="1" smtClean="0">
                                  <a:latin typeface="Cambria Math" panose="02040503050406030204" pitchFamily="18" charset="0"/>
                                </a:rPr>
                                <m:t>𝜃</m:t>
                              </m:r>
                            </m:e>
                          </m:d>
                        </m:e>
                      </m:func>
                    </m:oMath>
                  </m:oMathPara>
                </a14:m>
                <a:endParaRPr lang="zh-CN" altLang="en-US" dirty="0"/>
              </a:p>
            </p:txBody>
          </p:sp>
        </mc:Choice>
        <mc:Fallback>
          <p:sp>
            <p:nvSpPr>
              <p:cNvPr id="2" name="文本框 1">
                <a:extLst>
                  <a:ext uri="{FF2B5EF4-FFF2-40B4-BE49-F238E27FC236}">
                    <a16:creationId xmlns:a16="http://schemas.microsoft.com/office/drawing/2014/main" id="{48160AB2-11C6-0325-BD5B-24D6EA134D1C}"/>
                  </a:ext>
                </a:extLst>
              </p:cNvPr>
              <p:cNvSpPr txBox="1">
                <a:spLocks noRot="1" noChangeAspect="1" noMove="1" noResize="1" noEditPoints="1" noAdjustHandles="1" noChangeArrowheads="1" noChangeShapeType="1" noTextEdit="1"/>
              </p:cNvSpPr>
              <p:nvPr/>
            </p:nvSpPr>
            <p:spPr>
              <a:xfrm>
                <a:off x="3312100" y="1084386"/>
                <a:ext cx="1360949" cy="276999"/>
              </a:xfrm>
              <a:prstGeom prst="rect">
                <a:avLst/>
              </a:prstGeom>
              <a:blipFill>
                <a:blip r:embed="rId3"/>
                <a:stretch>
                  <a:fillRect l="-3125" b="-888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0DAD16E1-AFCD-3AD5-21E3-4C93021DD58B}"/>
                  </a:ext>
                </a:extLst>
              </p:cNvPr>
              <p:cNvSpPr txBox="1"/>
              <p:nvPr/>
            </p:nvSpPr>
            <p:spPr>
              <a:xfrm>
                <a:off x="5266865" y="1078999"/>
                <a:ext cx="13199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m:t>
                      </m:r>
                      <m:r>
                        <a:rPr lang="zh-CN" altLang="en-US" i="0">
                          <a:latin typeface="Cambria Math" panose="02040503050406030204" pitchFamily="18" charset="0"/>
                        </a:rPr>
                        <m:t>=</m:t>
                      </m:r>
                      <m:r>
                        <a:rPr lang="zh-CN" altLang="en-US" i="1">
                          <a:latin typeface="Cambria Math" panose="02040503050406030204" pitchFamily="18" charset="0"/>
                        </a:rPr>
                        <m:t>𝐴</m:t>
                      </m:r>
                      <m:func>
                        <m:funcPr>
                          <m:ctrlPr>
                            <a:rPr lang="zh-CN" altLang="en-US" i="1">
                              <a:latin typeface="Cambria Math" panose="02040503050406030204" pitchFamily="18" charset="0"/>
                            </a:rPr>
                          </m:ctrlPr>
                        </m:funcPr>
                        <m:fName>
                          <m:r>
                            <m:rPr>
                              <m:sty m:val="p"/>
                            </m:rPr>
                            <a:rPr lang="en-US" altLang="zh-CN" b="0" i="0" smtClean="0">
                              <a:latin typeface="Cambria Math" panose="02040503050406030204" pitchFamily="18" charset="0"/>
                            </a:rPr>
                            <m:t>sin</m:t>
                          </m:r>
                        </m:fName>
                        <m:e>
                          <m:d>
                            <m:dPr>
                              <m:ctrlPr>
                                <a:rPr lang="zh-CN" altLang="en-US" i="1">
                                  <a:solidFill>
                                    <a:srgbClr val="836967"/>
                                  </a:solidFill>
                                  <a:latin typeface="Cambria Math" panose="02040503050406030204" pitchFamily="18" charset="0"/>
                                </a:rPr>
                              </m:ctrlPr>
                            </m:dPr>
                            <m:e>
                              <m:r>
                                <a:rPr lang="zh-CN" altLang="en-US" i="1" smtClean="0">
                                  <a:latin typeface="Cambria Math" panose="02040503050406030204" pitchFamily="18" charset="0"/>
                                </a:rPr>
                                <m:t>𝜃</m:t>
                              </m:r>
                            </m:e>
                          </m:d>
                        </m:e>
                      </m:func>
                    </m:oMath>
                  </m:oMathPara>
                </a14:m>
                <a:endParaRPr lang="zh-CN" altLang="en-US" dirty="0"/>
              </a:p>
            </p:txBody>
          </p:sp>
        </mc:Choice>
        <mc:Fallback>
          <p:sp>
            <p:nvSpPr>
              <p:cNvPr id="3" name="文本框 2">
                <a:extLst>
                  <a:ext uri="{FF2B5EF4-FFF2-40B4-BE49-F238E27FC236}">
                    <a16:creationId xmlns:a16="http://schemas.microsoft.com/office/drawing/2014/main" id="{0DAD16E1-AFCD-3AD5-21E3-4C93021DD58B}"/>
                  </a:ext>
                </a:extLst>
              </p:cNvPr>
              <p:cNvSpPr txBox="1">
                <a:spLocks noRot="1" noChangeAspect="1" noMove="1" noResize="1" noEditPoints="1" noAdjustHandles="1" noChangeArrowheads="1" noChangeShapeType="1" noTextEdit="1"/>
              </p:cNvSpPr>
              <p:nvPr/>
            </p:nvSpPr>
            <p:spPr>
              <a:xfrm>
                <a:off x="5266865" y="1078999"/>
                <a:ext cx="1319977" cy="276999"/>
              </a:xfrm>
              <a:prstGeom prst="rect">
                <a:avLst/>
              </a:prstGeom>
              <a:blipFill>
                <a:blip r:embed="rId4"/>
                <a:stretch>
                  <a:fillRect l="-3687" b="-111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63CAEA0D-1A4A-544B-3D94-28A9311D14F6}"/>
                  </a:ext>
                </a:extLst>
              </p:cNvPr>
              <p:cNvSpPr txBox="1"/>
              <p:nvPr/>
            </p:nvSpPr>
            <p:spPr>
              <a:xfrm>
                <a:off x="1588683" y="1967985"/>
                <a:ext cx="623510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smtClean="0">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en-US" altLang="zh-CN" sz="2000" b="0" i="1" smtClean="0">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𝑡</m:t>
                          </m:r>
                        </m:e>
                      </m:d>
                      <m:r>
                        <a:rPr lang="zh-CN" altLang="en-US" sz="2000" i="0">
                          <a:latin typeface="Cambria Math" panose="02040503050406030204" pitchFamily="18" charset="0"/>
                        </a:rPr>
                        <m:t>=</m:t>
                      </m:r>
                      <m:r>
                        <a:rPr lang="zh-CN" altLang="en-US" sz="2000" i="1">
                          <a:latin typeface="Cambria Math" panose="02040503050406030204" pitchFamily="18" charset="0"/>
                        </a:rPr>
                        <m:t>𝐴</m:t>
                      </m:r>
                      <m:func>
                        <m:funcPr>
                          <m:ctrlPr>
                            <a:rPr lang="zh-CN" altLang="en-US" sz="2000" i="1">
                              <a:latin typeface="Cambria Math" panose="02040503050406030204" pitchFamily="18" charset="0"/>
                            </a:rPr>
                          </m:ctrlPr>
                        </m:funcPr>
                        <m:fName>
                          <m:r>
                            <m:rPr>
                              <m:sty m:val="p"/>
                            </m:rPr>
                            <a:rPr lang="zh-CN" altLang="en-US" sz="2000">
                              <a:latin typeface="Cambria Math" panose="02040503050406030204" pitchFamily="18" charset="0"/>
                            </a:rPr>
                            <m:t>cos</m:t>
                          </m:r>
                        </m:fName>
                        <m:e>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func>
                            <m:funcPr>
                              <m:ctrlPr>
                                <a:rPr lang="zh-CN" altLang="en-US" sz="2000" i="1">
                                  <a:latin typeface="Cambria Math" panose="02040503050406030204" pitchFamily="18" charset="0"/>
                                </a:rPr>
                              </m:ctrlPr>
                            </m:funcPr>
                            <m:fName>
                              <m:r>
                                <m:rPr>
                                  <m:sty m:val="p"/>
                                </m:rPr>
                                <a:rPr lang="zh-CN" altLang="en-US" sz="2000">
                                  <a:latin typeface="Cambria Math" panose="02040503050406030204" pitchFamily="18" charset="0"/>
                                </a:rPr>
                                <m:t>cos</m:t>
                              </m:r>
                            </m:fName>
                            <m:e>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𝜃</m:t>
                                  </m:r>
                                </m:e>
                              </m:d>
                            </m:e>
                          </m:func>
                        </m:e>
                      </m:func>
                      <m:r>
                        <a:rPr lang="zh-CN" altLang="en-US" sz="2000" i="0">
                          <a:latin typeface="Cambria Math" panose="02040503050406030204" pitchFamily="18" charset="0"/>
                        </a:rPr>
                        <m:t>+</m:t>
                      </m:r>
                      <m:r>
                        <a:rPr lang="zh-CN" altLang="en-US" sz="2000" i="1">
                          <a:latin typeface="Cambria Math" panose="02040503050406030204" pitchFamily="18" charset="0"/>
                        </a:rPr>
                        <m:t>𝐴</m:t>
                      </m:r>
                      <m:func>
                        <m:funcPr>
                          <m:ctrlPr>
                            <a:rPr lang="zh-CN" altLang="en-US" sz="2000" i="1">
                              <a:latin typeface="Cambria Math" panose="02040503050406030204" pitchFamily="18" charset="0"/>
                            </a:rPr>
                          </m:ctrlPr>
                        </m:funcPr>
                        <m:fName>
                          <m:r>
                            <m:rPr>
                              <m:sty m:val="p"/>
                            </m:rPr>
                            <a:rPr lang="zh-CN" altLang="en-US" sz="2000">
                              <a:latin typeface="Cambria Math" panose="02040503050406030204" pitchFamily="18" charset="0"/>
                            </a:rPr>
                            <m:t>sin</m:t>
                          </m:r>
                        </m:fName>
                        <m:e>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e>
                      </m:func>
                      <m:func>
                        <m:funcPr>
                          <m:ctrlPr>
                            <a:rPr lang="zh-CN" altLang="en-US" sz="2000" i="1">
                              <a:latin typeface="Cambria Math" panose="02040503050406030204" pitchFamily="18" charset="0"/>
                            </a:rPr>
                          </m:ctrlPr>
                        </m:funcPr>
                        <m:fName>
                          <m:r>
                            <m:rPr>
                              <m:sty m:val="p"/>
                            </m:rPr>
                            <a:rPr lang="en-US" altLang="zh-CN" sz="2000">
                              <a:latin typeface="Cambria Math" panose="02040503050406030204" pitchFamily="18" charset="0"/>
                            </a:rPr>
                            <m:t>sin</m:t>
                          </m:r>
                        </m:fName>
                        <m:e>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𝜃</m:t>
                              </m:r>
                            </m:e>
                          </m:d>
                        </m:e>
                      </m:func>
                    </m:oMath>
                  </m:oMathPara>
                </a14:m>
                <a:endParaRPr lang="zh-CN" altLang="en-US" sz="2000" dirty="0"/>
              </a:p>
            </p:txBody>
          </p:sp>
        </mc:Choice>
        <mc:Fallback>
          <p:sp>
            <p:nvSpPr>
              <p:cNvPr id="5" name="文本框 4">
                <a:extLst>
                  <a:ext uri="{FF2B5EF4-FFF2-40B4-BE49-F238E27FC236}">
                    <a16:creationId xmlns:a16="http://schemas.microsoft.com/office/drawing/2014/main" id="{63CAEA0D-1A4A-544B-3D94-28A9311D14F6}"/>
                  </a:ext>
                </a:extLst>
              </p:cNvPr>
              <p:cNvSpPr txBox="1">
                <a:spLocks noRot="1" noChangeAspect="1" noMove="1" noResize="1" noEditPoints="1" noAdjustHandles="1" noChangeArrowheads="1" noChangeShapeType="1" noTextEdit="1"/>
              </p:cNvSpPr>
              <p:nvPr/>
            </p:nvSpPr>
            <p:spPr>
              <a:xfrm>
                <a:off x="1588683" y="1967985"/>
                <a:ext cx="6235105" cy="307777"/>
              </a:xfrm>
              <a:prstGeom prst="rect">
                <a:avLst/>
              </a:prstGeom>
              <a:blipFill>
                <a:blip r:embed="rId5"/>
                <a:stretch>
                  <a:fillRect l="-391" b="-260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a:extLst>
                  <a:ext uri="{FF2B5EF4-FFF2-40B4-BE49-F238E27FC236}">
                    <a16:creationId xmlns:a16="http://schemas.microsoft.com/office/drawing/2014/main" id="{F7B8330B-CFE6-2C35-288A-E27F3136525E}"/>
                  </a:ext>
                </a:extLst>
              </p:cNvPr>
              <p:cNvSpPr txBox="1"/>
              <p:nvPr/>
            </p:nvSpPr>
            <p:spPr>
              <a:xfrm>
                <a:off x="2417243" y="4918467"/>
                <a:ext cx="430951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b="0" i="1" smtClean="0">
                          <a:latin typeface="Cambria Math" panose="02040503050406030204" pitchFamily="18" charset="0"/>
                        </a:rPr>
                        <m:t>𝐸</m:t>
                      </m:r>
                      <m:d>
                        <m:dPr>
                          <m:ctrlPr>
                            <a:rPr lang="zh-CN" altLang="en-US" sz="2400" i="1">
                              <a:solidFill>
                                <a:srgbClr val="836967"/>
                              </a:solidFill>
                              <a:latin typeface="Cambria Math" panose="02040503050406030204" pitchFamily="18" charset="0"/>
                            </a:rPr>
                          </m:ctrlPr>
                        </m:dPr>
                        <m:e>
                          <m:r>
                            <a:rPr lang="en-US" altLang="zh-CN" sz="2400" b="0" i="1" smtClean="0">
                              <a:latin typeface="Cambria Math" panose="02040503050406030204" pitchFamily="18" charset="0"/>
                            </a:rPr>
                            <m:t>𝑥</m:t>
                          </m:r>
                          <m:r>
                            <a:rPr lang="zh-CN" altLang="en-US" sz="2400" b="0" i="1">
                              <a:latin typeface="Cambria Math" panose="02040503050406030204" pitchFamily="18" charset="0"/>
                            </a:rPr>
                            <m:t>,</m:t>
                          </m:r>
                          <m:r>
                            <a:rPr lang="zh-CN" altLang="en-US" sz="2400" b="0" i="1">
                              <a:latin typeface="Cambria Math" panose="02040503050406030204" pitchFamily="18" charset="0"/>
                            </a:rPr>
                            <m:t>𝑡</m:t>
                          </m:r>
                        </m:e>
                      </m:d>
                      <m:r>
                        <a:rPr lang="zh-CN" altLang="en-US" sz="2400" b="0" i="1">
                          <a:latin typeface="Cambria Math" panose="02040503050406030204" pitchFamily="18" charset="0"/>
                        </a:rPr>
                        <m:t>=</m:t>
                      </m:r>
                      <m:r>
                        <a:rPr lang="zh-CN" altLang="en-US" sz="2400" b="0" i="1">
                          <a:latin typeface="Cambria Math" panose="02040503050406030204" pitchFamily="18" charset="0"/>
                        </a:rPr>
                        <m:t>𝐴</m:t>
                      </m:r>
                      <m:func>
                        <m:funcPr>
                          <m:ctrlPr>
                            <a:rPr lang="zh-CN" altLang="en-US" sz="2400" i="1">
                              <a:latin typeface="Cambria Math" panose="02040503050406030204" pitchFamily="18" charset="0"/>
                            </a:rPr>
                          </m:ctrlPr>
                        </m:funcPr>
                        <m:fName>
                          <m:r>
                            <a:rPr lang="zh-CN" altLang="en-US" sz="2400" b="0" i="1">
                              <a:latin typeface="Cambria Math" panose="02040503050406030204" pitchFamily="18" charset="0"/>
                            </a:rPr>
                            <m:t>𝑐𝑜𝑠</m:t>
                          </m:r>
                        </m:fName>
                        <m:e>
                          <m:d>
                            <m:dPr>
                              <m:begChr m:val="["/>
                              <m:endChr m:val="]"/>
                              <m:ctrlPr>
                                <a:rPr lang="zh-CN" altLang="en-US" sz="2400" i="1">
                                  <a:solidFill>
                                    <a:srgbClr val="836967"/>
                                  </a:solidFill>
                                  <a:latin typeface="Cambria Math" panose="02040503050406030204" pitchFamily="18" charset="0"/>
                                </a:rPr>
                              </m:ctrlPr>
                            </m:dPr>
                            <m:e>
                              <m:d>
                                <m:dPr>
                                  <m:ctrlPr>
                                    <a:rPr lang="zh-CN" altLang="en-US" sz="2400" i="1">
                                      <a:solidFill>
                                        <a:srgbClr val="836967"/>
                                      </a:solidFill>
                                      <a:latin typeface="Cambria Math" panose="02040503050406030204" pitchFamily="18" charset="0"/>
                                    </a:rPr>
                                  </m:ctrlPr>
                                </m:dPr>
                                <m:e>
                                  <m:r>
                                    <a:rPr lang="zh-CN" altLang="en-US" sz="2400" b="0" i="1">
                                      <a:latin typeface="Cambria Math" panose="02040503050406030204" pitchFamily="18" charset="0"/>
                                    </a:rPr>
                                    <m:t>𝑘</m:t>
                                  </m:r>
                                  <m:r>
                                    <a:rPr lang="en-US" altLang="zh-CN" sz="2400" b="0" i="1" smtClean="0">
                                      <a:latin typeface="Cambria Math" panose="02040503050406030204" pitchFamily="18" charset="0"/>
                                    </a:rPr>
                                    <m:t>𝑥</m:t>
                                  </m:r>
                                  <m:r>
                                    <a:rPr lang="zh-CN" altLang="en-US" sz="2400">
                                      <a:latin typeface="Cambria Math" panose="02040503050406030204" pitchFamily="18" charset="0"/>
                                    </a:rPr>
                                    <m:t>±</m:t>
                                  </m:r>
                                  <m:r>
                                    <a:rPr lang="en-US" altLang="zh-CN" sz="2400" b="0" i="1" dirty="0">
                                      <a:latin typeface="Cambria Math" panose="02040503050406030204" pitchFamily="18" charset="0"/>
                                      <a:ea typeface="Cambria Math" panose="02040503050406030204" pitchFamily="18" charset="0"/>
                                    </a:rPr>
                                    <m:t>𝜔</m:t>
                                  </m:r>
                                  <m:r>
                                    <a:rPr lang="en-US" altLang="zh-CN" sz="2400" b="0" i="1">
                                      <a:latin typeface="Cambria Math" panose="02040503050406030204" pitchFamily="18" charset="0"/>
                                    </a:rPr>
                                    <m:t>𝑡</m:t>
                                  </m:r>
                                </m:e>
                              </m:d>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𝜃</m:t>
                              </m:r>
                            </m:e>
                          </m:d>
                        </m:e>
                      </m:func>
                    </m:oMath>
                  </m:oMathPara>
                </a14:m>
                <a:endParaRPr lang="zh-CN" altLang="en-US" sz="2400" i="1" dirty="0"/>
              </a:p>
            </p:txBody>
          </p:sp>
        </mc:Choice>
        <mc:Fallback>
          <p:sp>
            <p:nvSpPr>
              <p:cNvPr id="19" name="文本框 18">
                <a:extLst>
                  <a:ext uri="{FF2B5EF4-FFF2-40B4-BE49-F238E27FC236}">
                    <a16:creationId xmlns:a16="http://schemas.microsoft.com/office/drawing/2014/main" id="{F7B8330B-CFE6-2C35-288A-E27F3136525E}"/>
                  </a:ext>
                </a:extLst>
              </p:cNvPr>
              <p:cNvSpPr txBox="1">
                <a:spLocks noRot="1" noChangeAspect="1" noMove="1" noResize="1" noEditPoints="1" noAdjustHandles="1" noChangeArrowheads="1" noChangeShapeType="1" noTextEdit="1"/>
              </p:cNvSpPr>
              <p:nvPr/>
            </p:nvSpPr>
            <p:spPr>
              <a:xfrm>
                <a:off x="2417243" y="4918467"/>
                <a:ext cx="4309513" cy="369332"/>
              </a:xfrm>
              <a:prstGeom prst="rect">
                <a:avLst/>
              </a:prstGeom>
              <a:blipFill>
                <a:blip r:embed="rId6"/>
                <a:stretch>
                  <a:fillRect b="-200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a:extLst>
                  <a:ext uri="{FF2B5EF4-FFF2-40B4-BE49-F238E27FC236}">
                    <a16:creationId xmlns:a16="http://schemas.microsoft.com/office/drawing/2014/main" id="{99CE564F-F7E9-8859-9ACE-2DA5FF4D8769}"/>
                  </a:ext>
                </a:extLst>
              </p:cNvPr>
              <p:cNvSpPr txBox="1"/>
              <p:nvPr/>
            </p:nvSpPr>
            <p:spPr>
              <a:xfrm>
                <a:off x="1447885" y="5859168"/>
                <a:ext cx="6450329" cy="369332"/>
              </a:xfrm>
              <a:prstGeom prst="rect">
                <a:avLst/>
              </a:prstGeom>
              <a:noFill/>
            </p:spPr>
            <p:txBody>
              <a:bodyPr wrap="square">
                <a:spAutoFit/>
              </a:bodyPr>
              <a:lstStyle/>
              <a:p>
                <a:pPr algn="l"/>
                <a:r>
                  <a:rPr lang="en-US" altLang="zh-CN" sz="1800" b="0" i="1" u="none" strike="noStrike" baseline="0" dirty="0">
                    <a:latin typeface="Times New Roman" panose="02020603050405020304" pitchFamily="18" charset="0"/>
                  </a:rPr>
                  <a:t>A </a:t>
                </a:r>
                <a:r>
                  <a:rPr lang="en-US" altLang="zh-CN" sz="1800" b="0" i="0" u="none" strike="noStrike" baseline="0" dirty="0">
                    <a:latin typeface="Arial" panose="020B0604020202020204" pitchFamily="34" charset="0"/>
                  </a:rPr>
                  <a:t>= </a:t>
                </a:r>
                <a:r>
                  <a:rPr lang="en-US" altLang="zh-CN" sz="1800" b="1" i="0" u="none" strike="noStrike" baseline="0" dirty="0">
                    <a:latin typeface="Arial" panose="020B0604020202020204" pitchFamily="34" charset="0"/>
                  </a:rPr>
                  <a:t>Amplitude</a:t>
                </a:r>
                <a:r>
                  <a:rPr lang="zh-CN" altLang="en-US" sz="1800" b="1" i="0" u="none" strike="noStrike" baseline="0" dirty="0">
                    <a:latin typeface="Arial" panose="020B0604020202020204" pitchFamily="34" charset="0"/>
                  </a:rPr>
                  <a:t>，</a:t>
                </a:r>
                <a:r>
                  <a:rPr lang="en-US" altLang="zh-CN" sz="1800" b="1" i="0" u="none" strike="noStrike" baseline="0" dirty="0">
                    <a:latin typeface="Arial" panose="020B0604020202020204" pitchFamily="34" charset="0"/>
                  </a:rPr>
                  <a:t> </a:t>
                </a:r>
                <a14:m>
                  <m:oMath xmlns:m="http://schemas.openxmlformats.org/officeDocument/2006/math">
                    <m:r>
                      <a:rPr lang="zh-CN" altLang="en-US" i="1" smtClean="0">
                        <a:latin typeface="Cambria Math" panose="02040503050406030204" pitchFamily="18" charset="0"/>
                      </a:rPr>
                      <m:t>𝜃</m:t>
                    </m:r>
                  </m:oMath>
                </a14:m>
                <a:r>
                  <a:rPr lang="en-US" altLang="zh-CN" sz="1800" b="0" i="0" u="none" strike="noStrike" baseline="0" dirty="0">
                    <a:latin typeface="Arial" panose="020B0604020202020204" pitchFamily="34" charset="0"/>
                  </a:rPr>
                  <a:t> = </a:t>
                </a:r>
                <a:r>
                  <a:rPr lang="en-US" altLang="zh-CN" sz="1800" b="1" i="0" u="none" strike="noStrike" baseline="0" dirty="0">
                    <a:latin typeface="Arial" panose="020B0604020202020204" pitchFamily="34" charset="0"/>
                  </a:rPr>
                  <a:t>Absolute phase </a:t>
                </a:r>
                <a:r>
                  <a:rPr lang="en-US" altLang="zh-CN" sz="1800" b="0" i="0" u="none" strike="noStrike" baseline="0" dirty="0">
                    <a:latin typeface="Arial" panose="020B0604020202020204" pitchFamily="34" charset="0"/>
                  </a:rPr>
                  <a:t>(or “initial” phase</a:t>
                </a:r>
                <a:r>
                  <a:rPr lang="en-US" altLang="zh-CN" sz="1800" b="0" i="0" u="none" strike="noStrike" dirty="0">
                    <a:latin typeface="Arial" panose="020B0604020202020204" pitchFamily="34" charset="0"/>
                  </a:rPr>
                  <a:t> </a:t>
                </a:r>
                <a:r>
                  <a:rPr lang="en-US" altLang="zh-CN" sz="1800" b="0" i="0" u="none" strike="noStrike" baseline="0" dirty="0">
                    <a:latin typeface="Arial" panose="020B0604020202020204" pitchFamily="34" charset="0"/>
                  </a:rPr>
                  <a:t>t = 0)</a:t>
                </a:r>
                <a:endParaRPr lang="zh-CN" altLang="en-US" dirty="0"/>
              </a:p>
            </p:txBody>
          </p:sp>
        </mc:Choice>
        <mc:Fallback>
          <p:sp>
            <p:nvSpPr>
              <p:cNvPr id="21" name="文本框 20">
                <a:extLst>
                  <a:ext uri="{FF2B5EF4-FFF2-40B4-BE49-F238E27FC236}">
                    <a16:creationId xmlns:a16="http://schemas.microsoft.com/office/drawing/2014/main" id="{99CE564F-F7E9-8859-9ACE-2DA5FF4D8769}"/>
                  </a:ext>
                </a:extLst>
              </p:cNvPr>
              <p:cNvSpPr txBox="1">
                <a:spLocks noRot="1" noChangeAspect="1" noMove="1" noResize="1" noEditPoints="1" noAdjustHandles="1" noChangeArrowheads="1" noChangeShapeType="1" noTextEdit="1"/>
              </p:cNvSpPr>
              <p:nvPr/>
            </p:nvSpPr>
            <p:spPr>
              <a:xfrm>
                <a:off x="1447885" y="5859168"/>
                <a:ext cx="6450329" cy="369332"/>
              </a:xfrm>
              <a:prstGeom prst="rect">
                <a:avLst/>
              </a:prstGeom>
              <a:blipFill>
                <a:blip r:embed="rId7"/>
                <a:stretch>
                  <a:fillRect l="-851" t="-8197" r="-567" b="-24590"/>
                </a:stretch>
              </a:blipFill>
            </p:spPr>
            <p:txBody>
              <a:bodyPr/>
              <a:lstStyle/>
              <a:p>
                <a:r>
                  <a:rPr lang="zh-CN" altLang="en-US">
                    <a:noFill/>
                  </a:rPr>
                  <a:t> </a:t>
                </a:r>
              </a:p>
            </p:txBody>
          </p:sp>
        </mc:Fallback>
      </mc:AlternateContent>
      <p:sp>
        <p:nvSpPr>
          <p:cNvPr id="23" name="文本框 22">
            <a:extLst>
              <a:ext uri="{FF2B5EF4-FFF2-40B4-BE49-F238E27FC236}">
                <a16:creationId xmlns:a16="http://schemas.microsoft.com/office/drawing/2014/main" id="{78D43DEA-4DAA-B255-F2A3-F6E2AC7A5816}"/>
              </a:ext>
            </a:extLst>
          </p:cNvPr>
          <p:cNvSpPr txBox="1"/>
          <p:nvPr/>
        </p:nvSpPr>
        <p:spPr>
          <a:xfrm>
            <a:off x="1049391" y="4425251"/>
            <a:ext cx="7014652" cy="369332"/>
          </a:xfrm>
          <a:prstGeom prst="rect">
            <a:avLst/>
          </a:prstGeom>
          <a:noFill/>
        </p:spPr>
        <p:txBody>
          <a:bodyPr wrap="square">
            <a:spAutoFit/>
          </a:bodyPr>
          <a:lstStyle/>
          <a:p>
            <a:pPr algn="ctr"/>
            <a:r>
              <a:rPr lang="en-US" altLang="zh-CN" dirty="0">
                <a:latin typeface="Arial" panose="020B0604020202020204" pitchFamily="34" charset="0"/>
              </a:rPr>
              <a:t>C</a:t>
            </a:r>
            <a:r>
              <a:rPr lang="en-US" altLang="zh-CN" sz="1800" b="0" i="0" u="none" strike="noStrike" baseline="0" dirty="0">
                <a:latin typeface="Arial" panose="020B0604020202020204" pitchFamily="34" charset="0"/>
              </a:rPr>
              <a:t>ommon way of writing the solution to the wave equation:</a:t>
            </a:r>
            <a:endParaRPr lang="zh-CN" altLang="en-US" dirty="0"/>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626B2AAC-044C-1D01-CCD4-F74DDF71E7CD}"/>
                  </a:ext>
                </a:extLst>
              </p:cNvPr>
              <p:cNvSpPr txBox="1"/>
              <p:nvPr/>
            </p:nvSpPr>
            <p:spPr>
              <a:xfrm>
                <a:off x="2238506" y="713154"/>
                <a:ext cx="474572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smtClean="0">
                          <a:latin typeface="Cambria Math" panose="02040503050406030204" pitchFamily="18" charset="0"/>
                        </a:rPr>
                        <m:t>𝐸</m:t>
                      </m:r>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𝑡</m:t>
                          </m:r>
                        </m:e>
                      </m:d>
                      <m:r>
                        <a:rPr lang="zh-CN" altLang="en-US" sz="2000" i="0">
                          <a:latin typeface="Cambria Math" panose="02040503050406030204" pitchFamily="18" charset="0"/>
                        </a:rPr>
                        <m:t>=</m:t>
                      </m:r>
                      <m:r>
                        <a:rPr lang="zh-CN" altLang="en-US" sz="2000" i="1">
                          <a:latin typeface="Cambria Math" panose="02040503050406030204" pitchFamily="18" charset="0"/>
                        </a:rPr>
                        <m:t>𝐵</m:t>
                      </m:r>
                      <m:func>
                        <m:funcPr>
                          <m:ctrlPr>
                            <a:rPr lang="zh-CN" altLang="en-US" sz="2000" i="1">
                              <a:latin typeface="Cambria Math" panose="02040503050406030204" pitchFamily="18" charset="0"/>
                            </a:rPr>
                          </m:ctrlPr>
                        </m:funcPr>
                        <m:fName>
                          <m:r>
                            <m:rPr>
                              <m:sty m:val="p"/>
                            </m:rPr>
                            <a:rPr lang="zh-CN" altLang="en-US" sz="2000" i="0">
                              <a:latin typeface="Cambria Math" panose="02040503050406030204" pitchFamily="18" charset="0"/>
                            </a:rPr>
                            <m:t>cos</m:t>
                          </m:r>
                        </m:fName>
                        <m:e>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e>
                      </m:func>
                      <m:r>
                        <a:rPr lang="zh-CN" altLang="en-US" sz="2000" i="0">
                          <a:latin typeface="Cambria Math" panose="02040503050406030204" pitchFamily="18" charset="0"/>
                        </a:rPr>
                        <m:t>+</m:t>
                      </m:r>
                      <m:r>
                        <a:rPr lang="zh-CN" altLang="en-US" sz="2000" i="1">
                          <a:latin typeface="Cambria Math" panose="02040503050406030204" pitchFamily="18" charset="0"/>
                        </a:rPr>
                        <m:t>𝐶</m:t>
                      </m:r>
                      <m:func>
                        <m:funcPr>
                          <m:ctrlPr>
                            <a:rPr lang="zh-CN" altLang="en-US" sz="2000" i="1">
                              <a:latin typeface="Cambria Math" panose="02040503050406030204" pitchFamily="18" charset="0"/>
                            </a:rPr>
                          </m:ctrlPr>
                        </m:funcPr>
                        <m:fName>
                          <m:r>
                            <m:rPr>
                              <m:sty m:val="p"/>
                            </m:rPr>
                            <a:rPr lang="zh-CN" altLang="en-US" sz="2000" i="0">
                              <a:latin typeface="Cambria Math" panose="02040503050406030204" pitchFamily="18" charset="0"/>
                            </a:rPr>
                            <m:t>sin</m:t>
                          </m:r>
                        </m:fName>
                        <m:e>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𝑘𝑥</m:t>
                              </m:r>
                              <m:r>
                                <a:rPr lang="zh-CN" altLang="en-US" sz="2000">
                                  <a:latin typeface="Cambria Math" panose="02040503050406030204" pitchFamily="18" charset="0"/>
                                </a:rPr>
                                <m:t>±</m:t>
                              </m:r>
                              <m:r>
                                <a:rPr lang="zh-CN" altLang="en-US" sz="2000" i="1">
                                  <a:latin typeface="Cambria Math" panose="02040503050406030204" pitchFamily="18" charset="0"/>
                                </a:rPr>
                                <m:t>𝜔</m:t>
                              </m:r>
                              <m:r>
                                <a:rPr lang="zh-CN" altLang="en-US" sz="2000" i="1">
                                  <a:latin typeface="Cambria Math" panose="02040503050406030204" pitchFamily="18" charset="0"/>
                                </a:rPr>
                                <m:t>𝑡</m:t>
                              </m:r>
                            </m:e>
                          </m:d>
                        </m:e>
                      </m:func>
                    </m:oMath>
                  </m:oMathPara>
                </a14:m>
                <a:endParaRPr lang="zh-CN" altLang="en-US" sz="2000" dirty="0"/>
              </a:p>
            </p:txBody>
          </p:sp>
        </mc:Choice>
        <mc:Fallback xmlns="">
          <p:sp>
            <p:nvSpPr>
              <p:cNvPr id="24" name="文本框 23">
                <a:extLst>
                  <a:ext uri="{FF2B5EF4-FFF2-40B4-BE49-F238E27FC236}">
                    <a16:creationId xmlns:a16="http://schemas.microsoft.com/office/drawing/2014/main" id="{626B2AAC-044C-1D01-CCD4-F74DDF71E7CD}"/>
                  </a:ext>
                </a:extLst>
              </p:cNvPr>
              <p:cNvSpPr txBox="1">
                <a:spLocks noRot="1" noChangeAspect="1" noMove="1" noResize="1" noEditPoints="1" noAdjustHandles="1" noChangeArrowheads="1" noChangeShapeType="1" noTextEdit="1"/>
              </p:cNvSpPr>
              <p:nvPr/>
            </p:nvSpPr>
            <p:spPr>
              <a:xfrm>
                <a:off x="2238506" y="713154"/>
                <a:ext cx="4745723" cy="307777"/>
              </a:xfrm>
              <a:prstGeom prst="rect">
                <a:avLst/>
              </a:prstGeom>
              <a:blipFill>
                <a:blip r:embed="rId13"/>
                <a:stretch>
                  <a:fillRect l="-642" b="-26000"/>
                </a:stretch>
              </a:blipFill>
            </p:spPr>
            <p:txBody>
              <a:bodyPr/>
              <a:lstStyle/>
              <a:p>
                <a:r>
                  <a:rPr lang="zh-CN" altLang="en-US">
                    <a:noFill/>
                  </a:rPr>
                  <a:t> </a:t>
                </a:r>
              </a:p>
            </p:txBody>
          </p:sp>
        </mc:Fallback>
      </mc:AlternateContent>
      <p:sp>
        <p:nvSpPr>
          <p:cNvPr id="4" name="Rectangle 12">
            <a:extLst>
              <a:ext uri="{FF2B5EF4-FFF2-40B4-BE49-F238E27FC236}">
                <a16:creationId xmlns:a16="http://schemas.microsoft.com/office/drawing/2014/main" id="{F4BF42C6-BF74-EB77-0EA1-E00670C7D321}"/>
              </a:ext>
            </a:extLst>
          </p:cNvPr>
          <p:cNvSpPr/>
          <p:nvPr/>
        </p:nvSpPr>
        <p:spPr>
          <a:xfrm>
            <a:off x="2556828" y="3224881"/>
            <a:ext cx="4708236" cy="40011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cos(</a:t>
            </a:r>
            <a:r>
              <a:rPr kumimoji="0" lang="en-US" altLang="en-US" sz="2000" b="0" i="1" u="none" strike="noStrike" kern="0" cap="none" spc="0" normalizeH="0" baseline="0" noProof="0" dirty="0">
                <a:ln>
                  <a:noFill/>
                </a:ln>
                <a:solidFill>
                  <a:srgbClr val="000000"/>
                </a:solidFill>
                <a:effectLst/>
                <a:uLnTx/>
                <a:uFillTx/>
                <a:latin typeface="Symbol" panose="05050102010706020507" pitchFamily="18" charset="2"/>
                <a:ea typeface="+mn-ea"/>
                <a:cs typeface="+mn-cs"/>
              </a:rPr>
              <a:t>a </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US" altLang="en-US" sz="2000" b="0" i="1" u="none" strike="noStrike" kern="0" cap="none" spc="0" normalizeH="0" baseline="0" noProof="0" dirty="0">
                <a:ln>
                  <a:noFill/>
                </a:ln>
                <a:solidFill>
                  <a:srgbClr val="000000"/>
                </a:solidFill>
                <a:effectLst/>
                <a:uLnTx/>
                <a:uFillTx/>
                <a:latin typeface="Symbol" panose="05050102010706020507" pitchFamily="18" charset="2"/>
                <a:ea typeface="+mn-ea"/>
                <a:cs typeface="+mn-cs"/>
              </a:rPr>
              <a:t>b</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 cos(</a:t>
            </a:r>
            <a:r>
              <a:rPr kumimoji="0" lang="en-US" altLang="en-US" sz="2000" b="0" i="1" u="none" strike="noStrike" kern="0" cap="none" spc="0" normalizeH="0" baseline="0" noProof="0" dirty="0">
                <a:ln>
                  <a:noFill/>
                </a:ln>
                <a:solidFill>
                  <a:srgbClr val="000000"/>
                </a:solidFill>
                <a:effectLst/>
                <a:uLnTx/>
                <a:uFillTx/>
                <a:latin typeface="Symbol" panose="05050102010706020507" pitchFamily="18" charset="2"/>
                <a:ea typeface="+mn-ea"/>
                <a:cs typeface="+mn-cs"/>
              </a:rPr>
              <a:t>a</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cos(</a:t>
            </a:r>
            <a:r>
              <a:rPr kumimoji="0" lang="en-US" altLang="en-US" sz="2000" b="0" i="1" u="none" strike="noStrike" kern="0" cap="none" spc="0" normalizeH="0" baseline="0" noProof="0" dirty="0">
                <a:ln>
                  <a:noFill/>
                </a:ln>
                <a:solidFill>
                  <a:srgbClr val="000000"/>
                </a:solidFill>
                <a:effectLst/>
                <a:uLnTx/>
                <a:uFillTx/>
                <a:latin typeface="Symbol" panose="05050102010706020507" pitchFamily="18" charset="2"/>
                <a:ea typeface="+mn-ea"/>
                <a:cs typeface="+mn-cs"/>
              </a:rPr>
              <a:t>b</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 sin(</a:t>
            </a:r>
            <a:r>
              <a:rPr kumimoji="0" lang="en-US" altLang="en-US" sz="2000" b="0" i="1" u="none" strike="noStrike" kern="0" cap="none" spc="0" normalizeH="0" baseline="0" noProof="0" dirty="0">
                <a:ln>
                  <a:noFill/>
                </a:ln>
                <a:solidFill>
                  <a:srgbClr val="000000"/>
                </a:solidFill>
                <a:effectLst/>
                <a:uLnTx/>
                <a:uFillTx/>
                <a:latin typeface="Symbol" panose="05050102010706020507" pitchFamily="18" charset="2"/>
                <a:ea typeface="+mn-ea"/>
                <a:cs typeface="+mn-cs"/>
              </a:rPr>
              <a:t>a</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sin(</a:t>
            </a:r>
            <a:r>
              <a:rPr kumimoji="0" lang="en-US" altLang="en-US" sz="2000" b="0" i="1" u="none" strike="noStrike" kern="0" cap="none" spc="0" normalizeH="0" baseline="0" noProof="0" dirty="0">
                <a:ln>
                  <a:noFill/>
                </a:ln>
                <a:solidFill>
                  <a:srgbClr val="000000"/>
                </a:solidFill>
                <a:effectLst/>
                <a:uLnTx/>
                <a:uFillTx/>
                <a:latin typeface="Symbol" panose="05050102010706020507" pitchFamily="18" charset="2"/>
                <a:ea typeface="+mn-ea"/>
                <a:cs typeface="+mn-cs"/>
              </a:rPr>
              <a:t>b</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a:t>
            </a:r>
            <a:endParaRPr kumimoji="0" 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
        <p:nvSpPr>
          <p:cNvPr id="6" name="左大括号 5">
            <a:extLst>
              <a:ext uri="{FF2B5EF4-FFF2-40B4-BE49-F238E27FC236}">
                <a16:creationId xmlns:a16="http://schemas.microsoft.com/office/drawing/2014/main" id="{6E83BA8C-BE1E-F60B-E554-16229BD91691}"/>
              </a:ext>
            </a:extLst>
          </p:cNvPr>
          <p:cNvSpPr/>
          <p:nvPr/>
        </p:nvSpPr>
        <p:spPr>
          <a:xfrm rot="16200000">
            <a:off x="5182939" y="4889592"/>
            <a:ext cx="167852" cy="102813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TextBox 5">
            <a:extLst>
              <a:ext uri="{FF2B5EF4-FFF2-40B4-BE49-F238E27FC236}">
                <a16:creationId xmlns:a16="http://schemas.microsoft.com/office/drawing/2014/main" id="{A520C3DE-2F21-9A42-9FE9-2F5B24B5DBA7}"/>
              </a:ext>
            </a:extLst>
          </p:cNvPr>
          <p:cNvSpPr txBox="1">
            <a:spLocks noChangeArrowheads="1"/>
          </p:cNvSpPr>
          <p:nvPr/>
        </p:nvSpPr>
        <p:spPr bwMode="auto">
          <a:xfrm>
            <a:off x="5070809" y="5395823"/>
            <a:ext cx="3921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1" u="none" strike="noStrike" kern="1200" cap="none" spc="0" normalizeH="0" baseline="0" noProof="0" dirty="0">
                <a:ln>
                  <a:noFill/>
                </a:ln>
                <a:solidFill>
                  <a:srgbClr val="000000"/>
                </a:solidFill>
                <a:effectLst/>
                <a:uLnTx/>
                <a:uFillTx/>
                <a:latin typeface="Symbol" panose="05050102010706020507" pitchFamily="18" charset="2"/>
                <a:ea typeface="+mn-ea"/>
                <a:cs typeface="+mn-cs"/>
              </a:rPr>
              <a:t>a</a:t>
            </a:r>
          </a:p>
        </p:txBody>
      </p:sp>
      <p:sp>
        <p:nvSpPr>
          <p:cNvPr id="9" name="TextBox 17">
            <a:extLst>
              <a:ext uri="{FF2B5EF4-FFF2-40B4-BE49-F238E27FC236}">
                <a16:creationId xmlns:a16="http://schemas.microsoft.com/office/drawing/2014/main" id="{9893699D-8EAD-B71C-D418-C4614FBBEF74}"/>
              </a:ext>
            </a:extLst>
          </p:cNvPr>
          <p:cNvSpPr txBox="1">
            <a:spLocks noChangeArrowheads="1"/>
          </p:cNvSpPr>
          <p:nvPr/>
        </p:nvSpPr>
        <p:spPr bwMode="auto">
          <a:xfrm>
            <a:off x="6168272" y="5404860"/>
            <a:ext cx="39211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400">
                <a:solidFill>
                  <a:schemeClr val="tx1"/>
                </a:solidFill>
                <a:latin typeface="Arial" panose="020B0604020202020204" pitchFamily="34" charset="0"/>
              </a:defRPr>
            </a:lvl4pPr>
            <a:lvl5pPr marL="2057400" indent="-228600">
              <a:spcBef>
                <a:spcPct val="20000"/>
              </a:spcBef>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0" i="1" u="none" strike="noStrike" kern="1200" cap="none" spc="0" normalizeH="0" baseline="0" noProof="0" dirty="0">
                <a:ln>
                  <a:noFill/>
                </a:ln>
                <a:solidFill>
                  <a:srgbClr val="000000"/>
                </a:solidFill>
                <a:effectLst/>
                <a:uLnTx/>
                <a:uFillTx/>
                <a:latin typeface="Symbol" panose="05050102010706020507" pitchFamily="18" charset="2"/>
                <a:ea typeface="+mn-ea"/>
                <a:cs typeface="+mn-cs"/>
              </a:rPr>
              <a:t>b</a:t>
            </a:r>
          </a:p>
        </p:txBody>
      </p:sp>
      <p:sp>
        <p:nvSpPr>
          <p:cNvPr id="11" name="左大括号 10">
            <a:extLst>
              <a:ext uri="{FF2B5EF4-FFF2-40B4-BE49-F238E27FC236}">
                <a16:creationId xmlns:a16="http://schemas.microsoft.com/office/drawing/2014/main" id="{BDE77BCB-EAB5-F8E2-46DD-07DD72CD64D8}"/>
              </a:ext>
            </a:extLst>
          </p:cNvPr>
          <p:cNvSpPr/>
          <p:nvPr/>
        </p:nvSpPr>
        <p:spPr>
          <a:xfrm rot="16200000">
            <a:off x="6275237" y="5271874"/>
            <a:ext cx="167852" cy="307355"/>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Rectangle 14">
            <a:extLst>
              <a:ext uri="{FF2B5EF4-FFF2-40B4-BE49-F238E27FC236}">
                <a16:creationId xmlns:a16="http://schemas.microsoft.com/office/drawing/2014/main" id="{410B95B7-22E4-AAEE-5572-0728C8D73CF6}"/>
              </a:ext>
            </a:extLst>
          </p:cNvPr>
          <p:cNvSpPr/>
          <p:nvPr/>
        </p:nvSpPr>
        <p:spPr>
          <a:xfrm>
            <a:off x="1945379" y="2926721"/>
            <a:ext cx="5455340" cy="341632"/>
          </a:xfrm>
          <a:prstGeom prst="rect">
            <a:avLst/>
          </a:prstGeom>
        </p:spPr>
        <p:txBody>
          <a:bodyPr wrap="none">
            <a:spAutoFit/>
          </a:bodyPr>
          <a:lstStyle/>
          <a:p>
            <a:pPr lvl="0" defTabSz="914400" fontAlgn="base">
              <a:lnSpc>
                <a:spcPct val="90000"/>
              </a:lnSpc>
              <a:spcBef>
                <a:spcPct val="20000"/>
              </a:spcBef>
              <a:spcAft>
                <a:spcPct val="0"/>
              </a:spcAft>
              <a:defRPr/>
            </a:pPr>
            <a:r>
              <a:rPr lang="zh-CN" altLang="en-US" kern="0" dirty="0">
                <a:solidFill>
                  <a:srgbClr val="000000"/>
                </a:solidFill>
                <a:latin typeface="Arial"/>
              </a:rPr>
              <a:t>根据</a:t>
            </a:r>
            <a:r>
              <a:rPr kumimoji="0" lang="zh-CN" altLang="en-US" b="0" i="0" u="none" strike="noStrike" kern="0" cap="none" spc="0" normalizeH="0" baseline="0" noProof="0" dirty="0">
                <a:ln>
                  <a:noFill/>
                </a:ln>
                <a:solidFill>
                  <a:srgbClr val="000000"/>
                </a:solidFill>
                <a:effectLst/>
                <a:uLnTx/>
                <a:uFillTx/>
                <a:latin typeface="Arial"/>
                <a:ea typeface="+mn-ea"/>
                <a:cs typeface="+mn-cs"/>
              </a:rPr>
              <a:t>三角恒等式化解上述公式</a:t>
            </a:r>
            <a:r>
              <a:rPr lang="en-US" altLang="zh-CN" kern="0" dirty="0">
                <a:solidFill>
                  <a:srgbClr val="000000"/>
                </a:solidFill>
              </a:rPr>
              <a:t>T</a:t>
            </a:r>
            <a:r>
              <a:rPr lang="en-US" altLang="en-US" kern="0" dirty="0">
                <a:solidFill>
                  <a:srgbClr val="000000"/>
                </a:solidFill>
              </a:rPr>
              <a:t>rigonometric identity</a:t>
            </a:r>
            <a:r>
              <a:rPr kumimoji="0" lang="en-US" altLang="en-US" b="0" i="0" u="none" strike="noStrike" kern="0" cap="none" spc="0" normalizeH="0" baseline="0" noProof="0" dirty="0">
                <a:ln>
                  <a:noFill/>
                </a:ln>
                <a:solidFill>
                  <a:srgbClr val="000000"/>
                </a:solidFill>
                <a:effectLst/>
                <a:uLnTx/>
                <a:uFillTx/>
                <a:latin typeface="Arial"/>
                <a:ea typeface="+mn-ea"/>
                <a:cs typeface="+mn-cs"/>
              </a:rPr>
              <a:t>:</a:t>
            </a:r>
          </a:p>
        </p:txBody>
      </p:sp>
      <p:sp>
        <p:nvSpPr>
          <p:cNvPr id="15" name="Rectangle 10">
            <a:extLst>
              <a:ext uri="{FF2B5EF4-FFF2-40B4-BE49-F238E27FC236}">
                <a16:creationId xmlns:a16="http://schemas.microsoft.com/office/drawing/2014/main" id="{213CEE0D-8224-B299-4243-F0A4C1712B44}"/>
              </a:ext>
            </a:extLst>
          </p:cNvPr>
          <p:cNvSpPr/>
          <p:nvPr/>
        </p:nvSpPr>
        <p:spPr>
          <a:xfrm>
            <a:off x="3197559" y="3677858"/>
            <a:ext cx="3746500" cy="341632"/>
          </a:xfrm>
          <a:prstGeom prst="rect">
            <a:avLst/>
          </a:prstGeom>
        </p:spPr>
        <p:txBody>
          <a:bodyPr wrap="square">
            <a:spAutoFit/>
          </a:body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0" lang="en-US" altLang="en-US" b="0" i="0" u="none" strike="noStrike" kern="0" cap="none" spc="0" normalizeH="0" baseline="0" noProof="0" dirty="0">
                <a:ln>
                  <a:noFill/>
                </a:ln>
                <a:solidFill>
                  <a:srgbClr val="000000"/>
                </a:solidFill>
                <a:effectLst/>
                <a:uLnTx/>
                <a:uFillTx/>
                <a:latin typeface="Arial"/>
                <a:ea typeface="+mn-ea"/>
                <a:cs typeface="+mn-cs"/>
              </a:rPr>
              <a:t>where </a:t>
            </a:r>
            <a:r>
              <a:rPr kumimoji="0" lang="en-US" altLang="en-US" b="0" i="1" u="none" strike="noStrike" kern="0" cap="none" spc="0" normalizeH="0" baseline="0" noProof="0" dirty="0">
                <a:ln>
                  <a:noFill/>
                </a:ln>
                <a:solidFill>
                  <a:srgbClr val="000000"/>
                </a:solidFill>
                <a:effectLst/>
                <a:uLnTx/>
                <a:uFillTx/>
                <a:latin typeface="Symbol" panose="05050102010706020507" pitchFamily="18" charset="2"/>
                <a:ea typeface="+mn-ea"/>
                <a:cs typeface="+mn-cs"/>
              </a:rPr>
              <a:t>a</a:t>
            </a:r>
            <a:r>
              <a:rPr kumimoji="0" lang="en-US" altLang="en-US" b="0" i="1"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 k</a:t>
            </a:r>
            <a:r>
              <a:rPr kumimoji="0" lang="en-US" altLang="en-US" b="0" i="0" u="none" strike="noStrike" kern="0" cap="none" spc="0" normalizeH="0" baseline="0" noProof="0" dirty="0">
                <a:ln>
                  <a:noFill/>
                </a:ln>
                <a:solidFill>
                  <a:srgbClr val="000000"/>
                </a:solidFill>
                <a:effectLst/>
                <a:uLnTx/>
                <a:uFillTx/>
                <a:latin typeface="Symbol" pitchFamily="18" charset="2"/>
                <a:ea typeface="+mn-ea"/>
                <a:cs typeface="+mn-cs"/>
              </a:rPr>
              <a:t> </a:t>
            </a:r>
            <a:r>
              <a:rPr kumimoji="0" lang="en-US" altLang="en-US" b="0" i="1"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x </a:t>
            </a:r>
            <a:r>
              <a:rPr kumimoji="0" lang="en-US" altLang="en-US" b="1" i="1" u="none" strike="noStrike" kern="1200" cap="none" spc="0" normalizeH="0" baseline="0" noProof="0" dirty="0">
                <a:ln>
                  <a:noFill/>
                </a:ln>
                <a:solidFill>
                  <a:srgbClr val="000000"/>
                </a:solidFill>
                <a:effectLst/>
                <a:uLnTx/>
                <a:uFillTx/>
                <a:latin typeface="Times New Roman"/>
                <a:ea typeface="+mn-ea"/>
                <a:cs typeface="Times New Roman"/>
              </a:rPr>
              <a:t>±</a:t>
            </a:r>
            <a:r>
              <a:rPr kumimoji="0" lang="en-US" altLang="en-US" b="0" i="1"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a:t>
            </a:r>
            <a:r>
              <a:rPr kumimoji="0" lang="en-US" altLang="en-US" b="0" i="1" u="none" strike="noStrike" kern="0" cap="none" spc="0" normalizeH="0" baseline="0" noProof="0" dirty="0">
                <a:ln>
                  <a:noFill/>
                </a:ln>
                <a:solidFill>
                  <a:srgbClr val="000000"/>
                </a:solidFill>
                <a:effectLst/>
                <a:uLnTx/>
                <a:uFillTx/>
                <a:latin typeface="Symbol" pitchFamily="18" charset="2"/>
                <a:ea typeface="+mn-ea"/>
                <a:cs typeface="+mn-cs"/>
              </a:rPr>
              <a:t>w</a:t>
            </a:r>
            <a:r>
              <a:rPr kumimoji="0" lang="en-US" altLang="en-US" b="0" i="0" u="none" strike="noStrike" kern="0" cap="none" spc="0" normalizeH="0" baseline="0" noProof="0" dirty="0">
                <a:ln>
                  <a:noFill/>
                </a:ln>
                <a:solidFill>
                  <a:srgbClr val="000000"/>
                </a:solidFill>
                <a:effectLst/>
                <a:uLnTx/>
                <a:uFillTx/>
                <a:latin typeface="Symbol" pitchFamily="18" charset="2"/>
                <a:ea typeface="+mn-ea"/>
                <a:cs typeface="+mn-cs"/>
              </a:rPr>
              <a:t> </a:t>
            </a:r>
            <a:r>
              <a:rPr kumimoji="0" lang="en-US" altLang="en-US" b="0" i="1"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t</a:t>
            </a:r>
            <a:r>
              <a:rPr kumimoji="0" lang="en-US" altLang="en-US" b="0" i="0" u="none" strike="noStrike" kern="0" cap="none" spc="0" normalizeH="0" baseline="0" noProof="0" dirty="0">
                <a:ln>
                  <a:noFill/>
                </a:ln>
                <a:solidFill>
                  <a:srgbClr val="000000"/>
                </a:solidFill>
                <a:effectLst/>
                <a:uLnTx/>
                <a:uFillTx/>
                <a:latin typeface="Arial"/>
                <a:ea typeface="+mn-ea"/>
                <a:cs typeface="+mn-cs"/>
              </a:rPr>
              <a:t> and </a:t>
            </a:r>
            <a:r>
              <a:rPr kumimoji="0" lang="en-US" altLang="en-US" b="0" i="1" u="none" strike="noStrike" kern="0" cap="none" spc="0" normalizeH="0" baseline="0" noProof="0" dirty="0">
                <a:ln>
                  <a:noFill/>
                </a:ln>
                <a:solidFill>
                  <a:srgbClr val="000000"/>
                </a:solidFill>
                <a:effectLst/>
                <a:uLnTx/>
                <a:uFillTx/>
                <a:latin typeface="Symbol" panose="05050102010706020507" pitchFamily="18" charset="2"/>
                <a:ea typeface="+mn-ea"/>
                <a:cs typeface="+mn-cs"/>
              </a:rPr>
              <a:t>b</a:t>
            </a:r>
            <a:r>
              <a:rPr kumimoji="0" lang="en-US" altLang="en-US" b="0" i="1" u="none" strike="noStrike" kern="0" cap="none" spc="0" normalizeH="0" baseline="0" noProof="0" dirty="0">
                <a:ln>
                  <a:noFill/>
                </a:ln>
                <a:solidFill>
                  <a:srgbClr val="000000"/>
                </a:solidFill>
                <a:effectLst/>
                <a:uLnTx/>
                <a:uFillTx/>
                <a:latin typeface="Times New Roman" panose="02020603050405020304" pitchFamily="18" charset="0"/>
                <a:ea typeface="+mn-ea"/>
                <a:cs typeface="+mn-cs"/>
              </a:rPr>
              <a:t> = </a:t>
            </a:r>
            <a:r>
              <a:rPr kumimoji="0" lang="en-US" altLang="en-US" b="0" i="1" u="none" strike="noStrike" kern="0" cap="none" spc="0" normalizeH="0" baseline="0" noProof="0" dirty="0">
                <a:ln>
                  <a:noFill/>
                </a:ln>
                <a:solidFill>
                  <a:srgbClr val="000000"/>
                </a:solidFill>
                <a:effectLst/>
                <a:uLnTx/>
                <a:uFillTx/>
                <a:latin typeface="Symbol" pitchFamily="18" charset="2"/>
                <a:ea typeface="+mn-ea"/>
                <a:cs typeface="+mn-cs"/>
              </a:rPr>
              <a:t>q.</a:t>
            </a:r>
            <a:endParaRPr kumimoji="0" lang="en-US" altLang="en-US" b="0" i="0" u="none" strike="noStrike" kern="0" cap="none" spc="0" normalizeH="0" baseline="0" noProof="0" dirty="0">
              <a:ln>
                <a:noFill/>
              </a:ln>
              <a:solidFill>
                <a:srgbClr val="000000"/>
              </a:solidFill>
              <a:effectLst/>
              <a:uLnTx/>
              <a:uFillTx/>
              <a:latin typeface="Arial"/>
              <a:ea typeface="+mn-ea"/>
              <a:cs typeface="+mn-cs"/>
            </a:endParaRPr>
          </a:p>
        </p:txBody>
      </p:sp>
      <p:sp>
        <p:nvSpPr>
          <p:cNvPr id="16" name="箭头: 右 15">
            <a:extLst>
              <a:ext uri="{FF2B5EF4-FFF2-40B4-BE49-F238E27FC236}">
                <a16:creationId xmlns:a16="http://schemas.microsoft.com/office/drawing/2014/main" id="{0E48EFEA-D352-927E-BEE6-CEC418CB6A52}"/>
              </a:ext>
            </a:extLst>
          </p:cNvPr>
          <p:cNvSpPr/>
          <p:nvPr/>
        </p:nvSpPr>
        <p:spPr>
          <a:xfrm rot="5400000">
            <a:off x="4537971" y="1531919"/>
            <a:ext cx="336531" cy="299039"/>
          </a:xfrm>
          <a:prstGeom prst="rightArrow">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7735820B-3F16-D183-5CEA-A16CBB73241D}"/>
              </a:ext>
            </a:extLst>
          </p:cNvPr>
          <p:cNvSpPr/>
          <p:nvPr/>
        </p:nvSpPr>
        <p:spPr>
          <a:xfrm>
            <a:off x="1537780" y="643426"/>
            <a:ext cx="6430029" cy="789654"/>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右 6">
            <a:extLst>
              <a:ext uri="{FF2B5EF4-FFF2-40B4-BE49-F238E27FC236}">
                <a16:creationId xmlns:a16="http://schemas.microsoft.com/office/drawing/2014/main" id="{A66557FD-6990-2C94-61D6-F27408B878E4}"/>
              </a:ext>
            </a:extLst>
          </p:cNvPr>
          <p:cNvSpPr/>
          <p:nvPr/>
        </p:nvSpPr>
        <p:spPr>
          <a:xfrm rot="5400000">
            <a:off x="4537971" y="2480014"/>
            <a:ext cx="336531" cy="299039"/>
          </a:xfrm>
          <a:prstGeom prst="rightArrow">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右 9">
            <a:extLst>
              <a:ext uri="{FF2B5EF4-FFF2-40B4-BE49-F238E27FC236}">
                <a16:creationId xmlns:a16="http://schemas.microsoft.com/office/drawing/2014/main" id="{0E48EFEA-D352-927E-BEE6-CEC418CB6A52}"/>
              </a:ext>
            </a:extLst>
          </p:cNvPr>
          <p:cNvSpPr/>
          <p:nvPr/>
        </p:nvSpPr>
        <p:spPr>
          <a:xfrm rot="5400000">
            <a:off x="4537971" y="4124141"/>
            <a:ext cx="336531" cy="299039"/>
          </a:xfrm>
          <a:prstGeom prst="rightArrow">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3946751658"/>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微软雅黑"/>
        <a:ea typeface="微软雅黑"/>
        <a:cs typeface=""/>
      </a:majorFont>
      <a:minorFont>
        <a:latin typeface="Arial"/>
        <a:ea typeface="微软雅黑"/>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14379</TotalTime>
  <Words>3536</Words>
  <Application>Microsoft Office PowerPoint</Application>
  <PresentationFormat>全屏显示(4:3)</PresentationFormat>
  <Paragraphs>341</Paragraphs>
  <Slides>24</Slides>
  <Notes>23</Notes>
  <HiddenSlides>0</HiddenSlides>
  <MMClips>1</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24</vt:i4>
      </vt:variant>
    </vt:vector>
  </HeadingPairs>
  <TitlesOfParts>
    <vt:vector size="36" baseType="lpstr">
      <vt:lpstr>KaTeX_Main</vt:lpstr>
      <vt:lpstr>KaTeX_Math</vt:lpstr>
      <vt:lpstr>ui-sans-serif</vt:lpstr>
      <vt:lpstr>微软雅黑</vt:lpstr>
      <vt:lpstr>幼圆</vt:lpstr>
      <vt:lpstr>Arial</vt:lpstr>
      <vt:lpstr>Calibri</vt:lpstr>
      <vt:lpstr>Cambria Math</vt:lpstr>
      <vt:lpstr>Symbol</vt:lpstr>
      <vt:lpstr>Times New Roman</vt:lpstr>
      <vt:lpstr>1_Office Theme</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Zongyin Yang</dc:creator>
  <cp:lastModifiedBy>Zongyin Yang</cp:lastModifiedBy>
  <cp:revision>686</cp:revision>
  <dcterms:created xsi:type="dcterms:W3CDTF">2020-10-30T01:47:51Z</dcterms:created>
  <dcterms:modified xsi:type="dcterms:W3CDTF">2025-03-04T12:18:36Z</dcterms:modified>
</cp:coreProperties>
</file>