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8" r:id="rId18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各位老师、同学大家好，我们小组汇报的题目是</a:t>
            </a:r>
            <a:r>
              <a:rPr lang="en-US" altLang="zh-CN"/>
              <a:t>“</a:t>
            </a:r>
            <a:r>
              <a:rPr lang="zh-CN" altLang="en-US"/>
              <a:t>涨价的尽头，是一块封装</a:t>
            </a:r>
            <a:r>
              <a:rPr lang="en-US" altLang="zh-CN"/>
              <a:t>”</a:t>
            </a:r>
            <a:r>
              <a:rPr lang="zh-CN" altLang="en-US"/>
              <a:t>。这次我们不单纯讲半导体技术，而是把英伟达</a:t>
            </a:r>
            <a:r>
              <a:rPr lang="en-US" altLang="zh-CN"/>
              <a:t> Rubin </a:t>
            </a:r>
            <a:r>
              <a:rPr lang="zh-CN" altLang="en-US"/>
              <a:t>这一代</a:t>
            </a:r>
            <a:r>
              <a:rPr lang="en-US" altLang="zh-CN"/>
              <a:t> AI </a:t>
            </a:r>
            <a:r>
              <a:rPr lang="zh-CN" altLang="en-US"/>
              <a:t>芯片的先进封装交付，当成一个</a:t>
            </a:r>
            <a:r>
              <a:rPr lang="en-US" altLang="zh-CN"/>
              <a:t> IT </a:t>
            </a:r>
            <a:r>
              <a:rPr lang="zh-CN" altLang="en-US"/>
              <a:t>项目管理案例来拆。它的核心交付目标是：围绕</a:t>
            </a:r>
            <a:r>
              <a:rPr lang="en-US" altLang="zh-CN"/>
              <a:t> Rubin </a:t>
            </a:r>
            <a:r>
              <a:rPr lang="zh-CN" altLang="en-US"/>
              <a:t>平台，完成集成</a:t>
            </a:r>
            <a:r>
              <a:rPr lang="en-US" altLang="zh-CN"/>
              <a:t> HBM4 </a:t>
            </a:r>
            <a:r>
              <a:rPr lang="zh-CN" altLang="en-US"/>
              <a:t>的先进封装方案，并在</a:t>
            </a:r>
            <a:r>
              <a:rPr lang="en-US" altLang="zh-CN"/>
              <a:t> 2026 </a:t>
            </a:r>
            <a:r>
              <a:rPr lang="zh-CN" altLang="en-US"/>
              <a:t>年左右具备量产交付能力。接下来我们会用四个视角展开：进度管理、质量管理、风险管理和成本管理。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是整场汇报的地图。我们把先进封装项目拆成四个问题：第一，什么时候交，也就是进度管理；第二，怎么保证交出来的东西良率够高，也就是质量管理；第三，什么因素会让项目交不出来，也就是风险管理；第四，交付这套封装到底要付出多大代价，也就是成本管理。后面的内容会沿着这四条线推进，而不是把先进封装当作单纯的技术名词介绍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我们先从一个直观现象切入：这一年内存和</a:t>
            </a:r>
            <a:r>
              <a:rPr lang="en-US" altLang="zh-CN"/>
              <a:t> AI </a:t>
            </a:r>
            <a:r>
              <a:rPr lang="zh-CN" altLang="en-US"/>
              <a:t>算力相关硬件明显涨价。涨价背后，一个重要原因是</a:t>
            </a:r>
            <a:r>
              <a:rPr lang="en-US" altLang="zh-CN"/>
              <a:t> HBM </a:t>
            </a:r>
            <a:r>
              <a:rPr lang="zh-CN" altLang="en-US"/>
              <a:t>进入了超级周期。</a:t>
            </a:r>
            <a:r>
              <a:rPr lang="en-US" altLang="zh-CN"/>
              <a:t>HBM </a:t>
            </a:r>
            <a:r>
              <a:rPr lang="zh-CN" altLang="en-US"/>
              <a:t>不是普通内存条，而是把多层</a:t>
            </a:r>
            <a:r>
              <a:rPr lang="en-US" altLang="zh-CN"/>
              <a:t> DRAM </a:t>
            </a:r>
            <a:r>
              <a:rPr lang="zh-CN" altLang="en-US"/>
              <a:t>通过</a:t>
            </a:r>
            <a:r>
              <a:rPr lang="en-US" altLang="zh-CN"/>
              <a:t> TSV </a:t>
            </a:r>
            <a:r>
              <a:rPr lang="zh-CN" altLang="en-US"/>
              <a:t>垂直堆叠起来，获得更高带宽和更低延迟。</a:t>
            </a:r>
            <a:r>
              <a:rPr lang="en-US" altLang="zh-CN"/>
              <a:t>Rubin </a:t>
            </a:r>
            <a:r>
              <a:rPr lang="zh-CN" altLang="en-US"/>
              <a:t>这一代平台对</a:t>
            </a:r>
            <a:r>
              <a:rPr lang="en-US" altLang="zh-CN"/>
              <a:t> HBM4 </a:t>
            </a:r>
            <a:r>
              <a:rPr lang="zh-CN" altLang="en-US"/>
              <a:t>的容量和带宽要求非常高，但</a:t>
            </a:r>
            <a:r>
              <a:rPr lang="en-US" altLang="zh-CN"/>
              <a:t> HBM </a:t>
            </a:r>
            <a:r>
              <a:rPr lang="zh-CN" altLang="en-US"/>
              <a:t>还不能单独发挥作用，它需要和</a:t>
            </a:r>
            <a:r>
              <a:rPr lang="en-US" altLang="zh-CN"/>
              <a:t> GPU </a:t>
            </a:r>
            <a:r>
              <a:rPr lang="zh-CN" altLang="en-US"/>
              <a:t>通过</a:t>
            </a:r>
            <a:r>
              <a:rPr lang="en-US" altLang="zh-CN"/>
              <a:t> CoWoS </a:t>
            </a:r>
            <a:r>
              <a:rPr lang="zh-CN" altLang="en-US"/>
              <a:t>这类先进封装集成在同一块基板上。所以先进封装成了</a:t>
            </a:r>
            <a:r>
              <a:rPr lang="en-US" altLang="zh-CN"/>
              <a:t> AI </a:t>
            </a:r>
            <a:r>
              <a:rPr lang="zh-CN" altLang="en-US"/>
              <a:t>算力的最后一公里，也自然引出了后面四个管理问题。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进入进度管理。这个项目不是</a:t>
            </a:r>
            <a:r>
              <a:rPr lang="en-US" altLang="zh-CN"/>
              <a:t>“</a:t>
            </a:r>
            <a:r>
              <a:rPr lang="zh-CN" altLang="en-US"/>
              <a:t>设计完就结束</a:t>
            </a:r>
            <a:r>
              <a:rPr lang="en-US" altLang="zh-CN"/>
              <a:t>”</a:t>
            </a:r>
            <a:r>
              <a:rPr lang="zh-CN" altLang="en-US"/>
              <a:t>，真正难的是把交付链条排出来。先进封装大致要经历四步：先备料，把裸片筛成</a:t>
            </a:r>
            <a:r>
              <a:rPr lang="en-US" altLang="zh-CN"/>
              <a:t> KGD</a:t>
            </a:r>
            <a:r>
              <a:rPr lang="zh-CN" altLang="en-US"/>
              <a:t>，也就是已知良好裸片；再锁定</a:t>
            </a:r>
            <a:r>
              <a:rPr lang="en-US" altLang="zh-CN"/>
              <a:t> HBM</a:t>
            </a:r>
            <a:r>
              <a:rPr lang="zh-CN" altLang="en-US"/>
              <a:t>、</a:t>
            </a:r>
            <a:r>
              <a:rPr lang="en-US" altLang="zh-CN"/>
              <a:t>CoWoS </a:t>
            </a:r>
            <a:r>
              <a:rPr lang="zh-CN" altLang="en-US"/>
              <a:t>和基板等关键资源；然后进行</a:t>
            </a:r>
            <a:r>
              <a:rPr lang="en-US" altLang="zh-CN"/>
              <a:t> 2.5D </a:t>
            </a:r>
            <a:r>
              <a:rPr lang="zh-CN" altLang="en-US"/>
              <a:t>集成和测试；最后进入量产验证与爬坡。这里的规律是：能并行的必须前移并行，不能赌的必须留出缓冲。否则一个前段物料延迟，就会拖住后面的集成和测试。</a:t>
            </a:r>
            <a:endParaRPr lang="zh-CN" altLang="en-US"/>
          </a:p>
          <a:p>
            <a:endParaRPr lang="en-US" altLang="zh-CN"/>
          </a:p>
          <a:p>
            <a:r>
              <a:rPr lang="en-US" altLang="zh-CN"/>
              <a:t>## </a:t>
            </a: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这一页进一步说明关键路径。对</a:t>
            </a:r>
            <a:r>
              <a:rPr lang="en-US" altLang="zh-CN"/>
              <a:t> Rubin </a:t>
            </a:r>
            <a:r>
              <a:rPr lang="zh-CN" altLang="en-US"/>
              <a:t>封装来说，关键路径不一定是芯片设计，而是</a:t>
            </a:r>
            <a:r>
              <a:rPr lang="en-US" altLang="zh-CN"/>
              <a:t> HBM4 </a:t>
            </a:r>
            <a:r>
              <a:rPr lang="zh-CN" altLang="en-US"/>
              <a:t>供货和</a:t>
            </a:r>
            <a:r>
              <a:rPr lang="en-US" altLang="zh-CN"/>
              <a:t> CoWoS </a:t>
            </a:r>
            <a:r>
              <a:rPr lang="zh-CN" altLang="en-US"/>
              <a:t>封装产能。因为</a:t>
            </a:r>
            <a:r>
              <a:rPr lang="en-US" altLang="zh-CN"/>
              <a:t> HBM4 </a:t>
            </a:r>
            <a:r>
              <a:rPr lang="zh-CN" altLang="en-US"/>
              <a:t>量产窗口、</a:t>
            </a:r>
            <a:r>
              <a:rPr lang="en-US" altLang="zh-CN"/>
              <a:t>CoWoS </a:t>
            </a:r>
            <a:r>
              <a:rPr lang="zh-CN" altLang="en-US"/>
              <a:t>产能爬坡、基板准备和可靠性验证彼此依赖，一旦某个环节晚到，后面就无法补回来。因此进度管理的重点不是简单压工期，而是提前锁定</a:t>
            </a:r>
            <a:r>
              <a:rPr lang="en-US" altLang="zh-CN"/>
              <a:t> HBM4 </a:t>
            </a:r>
            <a:r>
              <a:rPr lang="zh-CN" altLang="en-US"/>
              <a:t>和</a:t>
            </a:r>
            <a:r>
              <a:rPr lang="en-US" altLang="zh-CN"/>
              <a:t> CoWoS </a:t>
            </a:r>
            <a:r>
              <a:rPr lang="zh-CN" altLang="en-US"/>
              <a:t>产能，把基板、测试、备料这些环节并行推进，并把玻璃基板这类下一代路线放在储备位置，不能让它影响本代交付。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约</a:t>
            </a:r>
            <a:r>
              <a:rPr lang="en-US" altLang="zh-CN"/>
              <a:t>1min</a:t>
            </a:r>
            <a:br>
              <a:rPr lang="en-US" altLang="zh-CN"/>
            </a:br>
            <a:br>
              <a:rPr lang="en-US" altLang="zh-CN"/>
            </a:br>
            <a:r>
              <a:rPr lang="zh-CN" altLang="zh-CN"/>
              <a:t>进度</a:t>
            </a:r>
            <a:r>
              <a:rPr lang="zh-CN" altLang="en-US"/>
              <a:t>管理</a:t>
            </a:r>
            <a:r>
              <a:rPr lang="zh-CN" altLang="zh-CN"/>
              <a:t>告诉我们这套封装什么时候必须交出来;</a:t>
            </a:r>
            <a:r>
              <a:rPr lang="zh-CN" altLang="en-US"/>
              <a:t>而</a:t>
            </a:r>
            <a:r>
              <a:rPr lang="zh-CN" altLang="zh-CN"/>
              <a:t>真正决定能不能交出</a:t>
            </a:r>
            <a:r>
              <a:rPr lang="zh-CN" altLang="zh-CN" b="0"/>
              <a:t>合格</a:t>
            </a:r>
            <a:r>
              <a:rPr lang="zh-CN" altLang="zh-CN"/>
              <a:t>货</a:t>
            </a:r>
            <a:r>
              <a:rPr lang="zh-CN" altLang="en-US"/>
              <a:t>的，</a:t>
            </a:r>
            <a:r>
              <a:rPr lang="zh-CN" altLang="zh-CN"/>
              <a:t>是质量</a:t>
            </a:r>
            <a:r>
              <a:rPr lang="zh-CN" altLang="en-US"/>
              <a:t>管理</a:t>
            </a:r>
            <a:endParaRPr lang="en-US" altLang="zh-CN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t>先进封装的质量核心是良率。做到集成这一步，封装里已经装了一块贵的 GPU 裸片和好几摞 HBM4，一旦组装失败，这一整堆好料一起报废，一颗坏封装就能扔掉几千美元。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先看左边这张图。这也是为什么现在都把大芯片拆成小芯片，也就是 chiplet：同样一张晶圆、同样几个坏点，大芯片 monolithic 一个坏点就废掉一整颗，良率只有 66.7%；拆成小芯片后，一个坏点只废掉一颗小的，良率能到 97.3%，成本和风险都更低。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但是，如果先造小芯片，再将好几颗芯片集成到一个模块里，就需要考虑复合良率。模块良率</a:t>
            </a:r>
            <a:r>
              <a:rPr lang="zh-CN" altLang="en-US"/>
              <a:t>的</a:t>
            </a:r>
            <a:r>
              <a:t>约等于每颗相乘，</a:t>
            </a:r>
            <a:r>
              <a:rPr lang="zh-CN" altLang="en-US"/>
              <a:t>即</a:t>
            </a:r>
            <a:r>
              <a:t>Y_module ≈ (Y_die)^N。</a:t>
            </a:r>
            <a:r>
              <a:rPr lang="zh-CN" altLang="en-US"/>
              <a:t>如右图，当颗粒数上去以后</a:t>
            </a:r>
            <a:r>
              <a:t>，单颗</a:t>
            </a:r>
            <a:r>
              <a:rPr lang="zh-CN" altLang="en-US"/>
              <a:t>良率</a:t>
            </a:r>
            <a:r>
              <a:t>只要差一点点，整模块良率就断崖式下跌。所以单颗良率高根本不够，集成之后的复合良率才是真正的考验。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约</a:t>
            </a:r>
            <a:r>
              <a:rPr lang="en-US" altLang="zh-CN"/>
              <a:t>1min</a:t>
            </a:r>
            <a:br>
              <a:rPr lang="en-US" altLang="zh-CN"/>
            </a:br>
            <a:br>
              <a:rPr lang="en-US" altLang="zh-CN"/>
            </a:br>
            <a:r>
              <a:rPr lang="zh-CN" altLang="en-US"/>
              <a:t>如何解决“复合良率”问题</a:t>
            </a:r>
            <a:r>
              <a:t>？</a:t>
            </a:r>
            <a:r>
              <a:rPr lang="zh-CN" altLang="en-US"/>
              <a:t>一个比较显然的解决方法是，</a:t>
            </a:r>
            <a:r>
              <a:t>在集成之前，先保证放进去的每一颗</a:t>
            </a:r>
            <a:r>
              <a:rPr lang="en-US"/>
              <a:t>die</a:t>
            </a:r>
            <a:r>
              <a:t>都确定是好的。这就是 KGD，Known Good Die，已知良好裸片。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这张是台积电 CoWoS / 3DFabric 的流程：左边 SOC 晶圆先过一道 Wafer Sort，也就是 KGD CP，在切割、组装之前先把坏 die 筛掉；通过的才去 bumping、die saw，然后进 CoWoS 封装流程，包括贴片、键合、布线、塑封；最后还有一道 Stack Test，也就是 KGS CP，Known Good Stack，检查叠好的堆栈。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集成前的 KGD，堆叠后的 KGS</a:t>
            </a:r>
            <a:r>
              <a:rPr lang="zh-CN" altLang="en-US"/>
              <a:t>，在</a:t>
            </a:r>
            <a:r>
              <a:rPr lang="en-US" altLang="zh-CN"/>
              <a:t>CoWoS</a:t>
            </a:r>
            <a:r>
              <a:rPr lang="zh-CN" altLang="en-US"/>
              <a:t>前后同时把控了质量，</a:t>
            </a:r>
            <a:r>
              <a:t>不让复合良率崩掉</a:t>
            </a:r>
            <a:br>
              <a:rPr lang="en-US"/>
            </a:br>
            <a:br>
              <a:rPr lang="en-US"/>
            </a:br>
            <a:r>
              <a:rPr lang="en-US"/>
              <a:t>(</a:t>
            </a:r>
            <a:r>
              <a:rPr lang="zh-CN" altLang="zh-CN" sz="1200" kern="1200"/>
              <a:t>CoWoS</a:t>
            </a:r>
            <a:r>
              <a:rPr lang="zh-CN" altLang="zh-CN"/>
              <a:t>：全称是 </a:t>
            </a:r>
            <a:r>
              <a:rPr lang="zh-CN" altLang="zh-CN" sz="1200" kern="1200"/>
              <a:t>Chip-on-Wafer-on-Substrate</a:t>
            </a:r>
            <a:r>
              <a:rPr lang="zh-CN" altLang="zh-CN"/>
              <a:t>，意思是台积电的一种先进封装技术，把 GPU、HBM 等集成到一起。</a:t>
            </a:r>
            <a:br>
              <a:rPr lang="en-US" altLang="zh-CN"/>
            </a:br>
            <a:r>
              <a:rPr lang="zh-CN" altLang="zh-CN" sz="1200" kern="1200"/>
              <a:t>3DFabric</a:t>
            </a:r>
            <a:r>
              <a:rPr lang="zh-CN" altLang="zh-CN"/>
              <a:t>：台积电的 3D 封装平台名字。</a:t>
            </a:r>
            <a:br>
              <a:rPr lang="en-US" altLang="zh-CN"/>
            </a:br>
            <a:r>
              <a:rPr lang="zh-CN" altLang="zh-CN" sz="1200" kern="1200"/>
              <a:t>SOC </a:t>
            </a:r>
            <a:r>
              <a:rPr lang="zh-CN" altLang="zh-CN"/>
              <a:t>全称 </a:t>
            </a:r>
            <a:r>
              <a:rPr lang="zh-CN" altLang="zh-CN" sz="1200" kern="1200"/>
              <a:t>System on Chip</a:t>
            </a:r>
            <a:r>
              <a:rPr lang="zh-CN" altLang="zh-CN"/>
              <a:t>，系统级芯片。</a:t>
            </a:r>
            <a:r>
              <a:rPr lang="zh-CN" altLang="en-US"/>
              <a:t>）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约</a:t>
            </a:r>
            <a:r>
              <a:rPr lang="en-US" altLang="zh-CN"/>
              <a:t>1min</a:t>
            </a:r>
            <a:br>
              <a:rPr lang="en-US" altLang="zh-CN"/>
            </a:br>
            <a:br>
              <a:rPr lang="en-US" altLang="zh-CN"/>
            </a:br>
            <a:r>
              <a:rPr lang="en-US" altLang="zh-CN"/>
              <a:t>KGD </a:t>
            </a:r>
            <a:r>
              <a:rPr lang="zh-CN" altLang="en-US"/>
              <a:t>解决了“复合良率”的问题，但组装本身还会引入新缺陷，这里举三个例子。</a:t>
            </a:r>
            <a:endParaRPr lang="zh-CN" altLang="en-US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第一，翘曲</a:t>
            </a:r>
            <a:r>
              <a:rPr lang="zh-CN" altLang="en-US"/>
              <a:t>，</a:t>
            </a:r>
            <a:r>
              <a:t>封装过程中</a:t>
            </a:r>
            <a:r>
              <a:rPr lang="zh-CN" altLang="en-US"/>
              <a:t>，</a:t>
            </a:r>
            <a:r>
              <a:t>基板或中介层</a:t>
            </a:r>
            <a:r>
              <a:rPr lang="zh-CN" altLang="en-US"/>
              <a:t>会</a:t>
            </a:r>
            <a:r>
              <a:t>产生翘曲</a:t>
            </a:r>
            <a:r>
              <a:rPr lang="zh-CN" altLang="en-US"/>
              <a:t>，这就导致</a:t>
            </a:r>
            <a:r>
              <a:t>裸片会被挪出设计位置，导致对位不准、压不实。</a:t>
            </a:r>
            <a:r>
              <a:rPr lang="zh-CN" altLang="en-US"/>
              <a:t>可以用</a:t>
            </a:r>
            <a:r>
              <a:t>硅中介层和成熟基板工艺压低翘曲，并加强贴装对位控制。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第二，键合界面。</a:t>
            </a:r>
            <a:r>
              <a:rPr lang="zh-CN" altLang="en-US"/>
              <a:t>在</a:t>
            </a:r>
            <a:r>
              <a:t>铜对铜直接键合时，如果界面有灰尘、颗粒或表面凹凸，就会破坏贴合。</a:t>
            </a:r>
            <a:r>
              <a:rPr lang="zh-CN" altLang="en-US"/>
              <a:t>致使</a:t>
            </a:r>
            <a:r>
              <a:t>界面形成空洞，造成键合失效。</a:t>
            </a:r>
            <a:r>
              <a:rPr lang="zh-CN" altLang="en-US"/>
              <a:t>可以通过</a:t>
            </a:r>
            <a:r>
              <a:t>严控洁净度和键合工艺，再用界面检测确认是否存在空洞。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第三，可靠性</a:t>
            </a:r>
            <a:r>
              <a:rPr lang="zh-CN" altLang="en-US"/>
              <a:t>，</a:t>
            </a:r>
            <a:r>
              <a:t>器件在</a:t>
            </a:r>
            <a:r>
              <a:rPr lang="zh-CN" altLang="en-US"/>
              <a:t>使用</a:t>
            </a:r>
            <a:r>
              <a:t>中会反复经历冷热变化，也就是热循环冲击</a:t>
            </a:r>
            <a:r>
              <a:rPr lang="zh-CN" altLang="en-US"/>
              <a:t>，</a:t>
            </a:r>
            <a:r>
              <a:t>脆性的 IMC 或界面位置容易萌生裂纹，最后扩展成开裂失效。</a:t>
            </a:r>
            <a:r>
              <a:rPr lang="zh-CN" altLang="en-US"/>
              <a:t>可以</a:t>
            </a:r>
            <a:r>
              <a:t>通过热循环</a:t>
            </a:r>
            <a:r>
              <a:rPr lang="zh-CN" altLang="en-US"/>
              <a:t>结合光学检测进行</a:t>
            </a:r>
            <a:r>
              <a:t>可靠性测试</a:t>
            </a:r>
            <a:br>
              <a:rPr lang="en-US"/>
            </a:br>
            <a:br>
              <a:rPr lang="en-US"/>
            </a:br>
            <a:r>
              <a:rPr lang="zh-CN" altLang="en-US"/>
              <a:t>（质量</a:t>
            </a:r>
            <a:r>
              <a:rPr lang="zh-CN" altLang="zh-CN"/>
              <a:t>是我们想守住的底线;但有一连串威胁随时会让我们守不住、甚至交不出货</a:t>
            </a:r>
            <a:r>
              <a:rPr lang="zh-CN" altLang="en-US"/>
              <a:t>，所以需要风险管理）</a:t>
            </a:r>
            <a:br>
              <a:rPr lang="en-US" altLang="zh-CN"/>
            </a:br>
            <a:endParaRPr lang="en-US" alt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前面讲质量管理时，我们关心的是：怎么把良率做上去。到了风险管理，我们要换一个问题：有哪些事情，会让这个项目最后交不出来？</a:t>
            </a:r>
            <a:endParaRPr lang="zh-CN" altLang="en-US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我把它分成三层来看。第一层是技术风险。先进封装不是把芯片简单放在一起，而是</a:t>
            </a:r>
            <a:r>
              <a:rPr lang="en-US" altLang="zh-CN"/>
              <a:t> GPU</a:t>
            </a:r>
            <a:r>
              <a:rPr lang="zh-CN" altLang="en-US"/>
              <a:t>、</a:t>
            </a:r>
            <a:r>
              <a:rPr lang="en-US" altLang="zh-CN"/>
              <a:t>HBM</a:t>
            </a:r>
            <a:r>
              <a:rPr lang="zh-CN" altLang="en-US"/>
              <a:t>、基板、中介层、键合界面都集中在一个系统里。所以良率、翘曲、键合缺陷、散热压力，任何一个没压住，都会影响量产爬坡。</a:t>
            </a:r>
            <a:endParaRPr lang="zh-CN" altLang="en-US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第二层是供应链风险。</a:t>
            </a:r>
            <a:r>
              <a:rPr lang="en-US" altLang="zh-CN"/>
              <a:t>HBM4 </a:t>
            </a:r>
            <a:r>
              <a:rPr lang="zh-CN" altLang="en-US"/>
              <a:t>和</a:t>
            </a:r>
            <a:r>
              <a:rPr lang="en-US" altLang="zh-CN"/>
              <a:t> CoWoS </a:t>
            </a:r>
            <a:r>
              <a:rPr lang="zh-CN" altLang="en-US"/>
              <a:t>都是关键资源，而且供应商有限、产能紧张。也就是说，不是我们设计完成了，后面就一定能顺利生产。物料晚到、封装产能排不上，都会直接卡住项目进度。</a:t>
            </a:r>
            <a:endParaRPr lang="zh-CN" altLang="en-US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第三层是市场和政策风险。</a:t>
            </a:r>
            <a:r>
              <a:rPr lang="en-US" altLang="zh-CN"/>
              <a:t>AI </a:t>
            </a:r>
            <a:r>
              <a:rPr lang="zh-CN" altLang="en-US"/>
              <a:t>需求本身可能波动，出口管制也可能变化，国产替代路线也会带来竞争压力。</a:t>
            </a:r>
            <a:endParaRPr lang="zh-CN" altLang="en-US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这里最重要的一点是：这些风险不是孤立的。比如</a:t>
            </a:r>
            <a:r>
              <a:rPr lang="en-US" altLang="zh-CN"/>
              <a:t> HBM4 </a:t>
            </a:r>
            <a:r>
              <a:rPr lang="zh-CN" altLang="en-US"/>
              <a:t>晚到，验证时间就会被压缩；验证时间一压缩，质量问题又更容易拖到后面暴露。最后，一个局部问题，就会变成整个项目的交付风险。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所以，风险管理不能只是做一张风险清单，然后放在文档里。真正有用的是建立一座</a:t>
            </a:r>
            <a:r>
              <a:rPr lang="en-US" altLang="zh-CN"/>
              <a:t>“</a:t>
            </a:r>
            <a:r>
              <a:rPr lang="zh-CN" altLang="en-US"/>
              <a:t>风险控制塔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它的逻辑很简单：先盯住几个关键信号，比如良率、交期、产能和政策变化。每个信号都要有触发阈值。没有越线，就正常跟踪；一旦越线，就马上升级处理，不能等到下次周会再讨论。</a:t>
            </a:r>
            <a:endParaRPr lang="zh-CN" altLang="en-US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升级之后，对应四类动作。第一类是规避，比如提前签长约、锁定</a:t>
            </a:r>
            <a:r>
              <a:rPr lang="en-US" altLang="zh-CN"/>
              <a:t> HBM </a:t>
            </a:r>
            <a:r>
              <a:rPr lang="zh-CN" altLang="en-US"/>
              <a:t>和</a:t>
            </a:r>
            <a:r>
              <a:rPr lang="en-US" altLang="zh-CN"/>
              <a:t> CoWoS </a:t>
            </a:r>
            <a:r>
              <a:rPr lang="zh-CN" altLang="en-US"/>
              <a:t>产能。第二类是减轻，比如用</a:t>
            </a:r>
            <a:r>
              <a:rPr lang="en-US" altLang="zh-CN"/>
              <a:t> KGD </a:t>
            </a:r>
            <a:r>
              <a:rPr lang="zh-CN" altLang="en-US"/>
              <a:t>筛选、过程控制和液冷方案，降低技术失败的概率。第三类是转移，比如引入</a:t>
            </a:r>
            <a:r>
              <a:rPr lang="en-US" altLang="zh-CN"/>
              <a:t> OSAT </a:t>
            </a:r>
            <a:r>
              <a:rPr lang="zh-CN" altLang="en-US"/>
              <a:t>或二供，把单点供应风险分散掉。第四类是对冲，比如把玻璃基板和国产替代路线作为下一代储备。</a:t>
            </a:r>
            <a:endParaRPr lang="zh-CN" altLang="en-US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/>
              <a:t>最后还要强调一点：签了产能，不代表风险就消失了。良率爬坡、供应集中、政策变化，仍然是残余风险，必须持续复盘。控制塔的价值，就是让风险在真正变成延期之前，先被看见、被触发、被处理。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最后，我们再来谈一谈，用</a:t>
            </a:r>
            <a:r>
              <a:rPr lang="en-US" altLang="zh-CN"/>
              <a:t>CoWos</a:t>
            </a:r>
            <a:r>
              <a:rPr lang="zh-CN" altLang="en-US"/>
              <a:t>封装一块芯片，到底需要多少成本，一块先进封装的芯片，它的成本可以从多方面考虑，首先是原料，主要包括系统级芯片</a:t>
            </a:r>
            <a:r>
              <a:rPr lang="en-US" altLang="zh-CN"/>
              <a:t>SoC，</a:t>
            </a:r>
            <a:r>
              <a:rPr lang="zh-CN" altLang="en-US"/>
              <a:t>高带宽内存</a:t>
            </a:r>
            <a:r>
              <a:rPr lang="en-US" altLang="zh-CN"/>
              <a:t>HBM，</a:t>
            </a:r>
            <a:r>
              <a:rPr lang="zh-CN" altLang="en-US"/>
              <a:t>中介层和衬底，然后还有使用封装技术的平台成本、测试成品的成本，一般来说，</a:t>
            </a:r>
            <a:r>
              <a:rPr lang="en-US" altLang="zh-CN"/>
              <a:t>HBM</a:t>
            </a:r>
            <a:r>
              <a:rPr lang="zh-CN" altLang="en-US"/>
              <a:t>的物料成本和</a:t>
            </a:r>
            <a:r>
              <a:rPr lang="en-US" altLang="zh-CN"/>
              <a:t>CoWos</a:t>
            </a:r>
            <a:r>
              <a:rPr lang="zh-CN" altLang="en-US"/>
              <a:t>的封装成本占据大头，此外，还有良率这个隐形成本，在先进封装中，有时涉及多个芯片同时封装，这种情况下，随着良率的下降，成本会灾难性的上升，因此，在考虑成本时，应当优先考虑良率和交付，然后再考虑原料和平台的供应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然后我们可以从中介板的选择作为切入点，研究如何进行路线的取舍。目前，</a:t>
            </a:r>
            <a:r>
              <a:rPr lang="en-US" altLang="zh-CN"/>
              <a:t>CoWoS</a:t>
            </a:r>
            <a:r>
              <a:rPr lang="zh-CN" altLang="en-US"/>
              <a:t>封装有三种主流的方案，分别是</a:t>
            </a:r>
            <a:r>
              <a:rPr lang="en-US" altLang="zh-CN"/>
              <a:t>CoWoS-S，CoWoS-R</a:t>
            </a:r>
            <a:r>
              <a:rPr lang="zh-CN" altLang="en-US"/>
              <a:t>和</a:t>
            </a:r>
            <a:r>
              <a:rPr lang="en-US" altLang="zh-CN"/>
              <a:t>CoWoS-L，</a:t>
            </a:r>
            <a:r>
              <a:rPr lang="zh-CN" altLang="en-US"/>
              <a:t>经过分析，很容易发现，成本越高的方案，能够实现的性能越强，所以，我们需要再满足性能要求的条件下，尽可能地减少成本，因此，</a:t>
            </a:r>
            <a:r>
              <a:rPr lang="en-US" altLang="zh-CN"/>
              <a:t>CoWoS-L</a:t>
            </a:r>
            <a:r>
              <a:rPr lang="zh-CN" altLang="en-US"/>
              <a:t>兼顾高成本效益与高性能，成为了本代交付的主路径。在未来，玻璃基板代表新一代的方向，它在性能上理论更高、从长期来看有很大机会降低成本，但是还不够成熟。所以，我们最终的决定是，本代用 </a:t>
            </a:r>
            <a:r>
              <a:rPr lang="en-US" altLang="zh-CN"/>
              <a:t>CoWoS-L</a:t>
            </a:r>
            <a:r>
              <a:rPr lang="zh-CN" altLang="en-US"/>
              <a:t>确保交付，把玻璃基板作为储备路线，而不是为了追求先进性去牺牲交付确定性。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总的来说。给</a:t>
            </a:r>
            <a:r>
              <a:rPr lang="en-US" altLang="zh-CN"/>
              <a:t>Rubin</a:t>
            </a:r>
            <a:r>
              <a:rPr lang="zh-CN" altLang="en-US"/>
              <a:t>交付这套先进封装，本质上就是要管好四件事：在进度上，排清 </a:t>
            </a:r>
            <a:r>
              <a:rPr lang="en-US" altLang="zh-CN"/>
              <a:t>HBM4</a:t>
            </a:r>
            <a:r>
              <a:rPr lang="zh-CN" altLang="en-US"/>
              <a:t>和</a:t>
            </a:r>
            <a:r>
              <a:rPr lang="en-US" altLang="zh-CN"/>
              <a:t>CoWoS </a:t>
            </a:r>
            <a:r>
              <a:rPr lang="zh-CN" altLang="en-US"/>
              <a:t>这些关键路径；在质量上，守住复合良率，把坏的元件拦在集成前；在风险上，识别技术、供应链、市场和政策的多层约束；成本上，算清</a:t>
            </a:r>
            <a:r>
              <a:rPr lang="en-US" altLang="zh-CN"/>
              <a:t>HBM、</a:t>
            </a:r>
            <a:r>
              <a:rPr lang="zh-CN" altLang="en-US"/>
              <a:t>封装、基板、测试和良率之间的关系。先进封装不只是技术问题，同时也是</a:t>
            </a:r>
            <a:r>
              <a:rPr lang="en-US" altLang="zh-CN"/>
              <a:t>AI</a:t>
            </a:r>
            <a:r>
              <a:rPr lang="zh-CN" altLang="en-US"/>
              <a:t>算力能否按时落地的项目管理问题，谁能同时跑赢这四件事，谁就拿到了下⼀代</a:t>
            </a:r>
            <a:r>
              <a:rPr lang="en-US" altLang="zh-CN"/>
              <a:t>AI</a:t>
            </a:r>
            <a:r>
              <a:rPr lang="zh-CN" altLang="en-US"/>
              <a:t>芯⽚的⼊场券。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这是我们的小组</a:t>
            </a:r>
            <a:r>
              <a:rPr lang="zh-CN" altLang="en-US"/>
              <a:t>分工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我们的汇报到这里结束，</a:t>
            </a:r>
            <a:r>
              <a:rPr lang="zh-CN" altLang="en-US" dirty="0">
                <a:solidFill>
                  <a:srgbClr val="1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恳请各位</a:t>
            </a:r>
            <a:r>
              <a:rPr lang="en-US" dirty="0" err="1">
                <a:solidFill>
                  <a:srgbClr val="1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老师</a:t>
            </a:r>
            <a:r>
              <a:rPr lang="zh-CN" altLang="en-US" dirty="0">
                <a:solidFill>
                  <a:srgbClr val="1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、同学批评指正</a:t>
            </a:r>
            <a:r>
              <a:rPr lang="zh-CN" altLang="en-US" b="1" dirty="0">
                <a:solidFill>
                  <a:srgbClr val="1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  <a:sym typeface="+mn-ea"/>
              </a:rPr>
              <a:t>，</a:t>
            </a:r>
            <a:r>
              <a:rPr lang="zh-CN" altLang="en-US"/>
              <a:t>谢谢大家。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8" name="页脚占位符 7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（无边框）">
    <p:spTree>
      <p:nvGrpSpPr>
        <p:cNvPr id="1" name=""/>
        <p:cNvGrpSpPr/>
        <p:nvPr/>
      </p:nvGrpSpPr>
      <p:grpSpPr/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/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  <p:pic>
        <p:nvPicPr>
          <p:cNvPr id="5" name="图片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081337" y="6280150"/>
            <a:ext cx="9110663" cy="577850"/>
          </a:xfrm>
          <a:prstGeom prst="rect">
            <a:avLst/>
          </a:prstGeom>
          <a:ln>
            <a:noFill/>
          </a:ln>
        </p:spPr>
      </p:pic>
      <p:pic>
        <p:nvPicPr>
          <p:cNvPr id="6" name="Picture 7"/>
          <p:cNvPicPr>
            <a:picLocks noChangeAspect="1"/>
          </p:cNvPicPr>
          <p:nvPr/>
        </p:nvPicPr>
        <p:blipFill rotWithShape="1">
          <a:blip r:embed="rId3"/>
          <a:srcRect l="398" t="671" r="19285" b="51665"/>
          <a:stretch>
            <a:fillRect/>
          </a:stretch>
        </p:blipFill>
        <p:spPr>
          <a:xfrm>
            <a:off x="1" y="0"/>
            <a:ext cx="7388352" cy="32893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6" name="页脚占位符 5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/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/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/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二级</a:t>
            </a:r>
          </a:p>
          <a:p>
            <a:pPr>
              <a:buNone/>
            </a:pPr>
            <a:r>
              <a:t>三级</a:t>
            </a:r>
          </a:p>
          <a:p>
            <a:pPr>
              <a:buNone/>
            </a:pPr>
            <a:r>
              <a:t>四级</a:t>
            </a:r>
          </a:p>
          <a:p>
            <a:pPr>
              <a:buNone/>
            </a:pPr>
            <a:r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1" Type="http://schemas.openxmlformats.org/officeDocument/2006/relationships/notesSlide" Target="../notesSlides/notesSlide4.xml"/><Relationship Id="rId20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9" Type="http://schemas.openxmlformats.org/officeDocument/2006/relationships/image" Target="../media/image9.jpeg"/><Relationship Id="rId18" Type="http://schemas.openxmlformats.org/officeDocument/2006/relationships/image" Target="../media/image8.jpeg"/><Relationship Id="rId17" Type="http://schemas.openxmlformats.org/officeDocument/2006/relationships/image" Target="../media/image7.jpeg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image" Target="../media/image6.jpe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6" Type="http://schemas.openxmlformats.org/officeDocument/2006/relationships/notesSlide" Target="../notesSlides/notesSlide5.xml"/><Relationship Id="rId25" Type="http://schemas.openxmlformats.org/officeDocument/2006/relationships/slideLayout" Target="../slideLayouts/slideLayout7.xml"/><Relationship Id="rId24" Type="http://schemas.openxmlformats.org/officeDocument/2006/relationships/image" Target="../media/image12.jpeg"/><Relationship Id="rId23" Type="http://schemas.openxmlformats.org/officeDocument/2006/relationships/image" Target="../media/image11.jpeg"/><Relationship Id="rId22" Type="http://schemas.openxmlformats.org/officeDocument/2006/relationships/image" Target="../media/image10.jpeg"/><Relationship Id="rId21" Type="http://schemas.openxmlformats.org/officeDocument/2006/relationships/tags" Target="../tags/tag36.xml"/><Relationship Id="rId20" Type="http://schemas.openxmlformats.org/officeDocument/2006/relationships/tags" Target="../tags/tag35.xml"/><Relationship Id="rId2" Type="http://schemas.openxmlformats.org/officeDocument/2006/relationships/tags" Target="../tags/tag17.xml"/><Relationship Id="rId19" Type="http://schemas.openxmlformats.org/officeDocument/2006/relationships/tags" Target="../tags/tag34.xml"/><Relationship Id="rId18" Type="http://schemas.openxmlformats.org/officeDocument/2006/relationships/tags" Target="../tags/tag33.xml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tags" Target="../tags/tag27.xml"/><Relationship Id="rId11" Type="http://schemas.openxmlformats.org/officeDocument/2006/relationships/tags" Target="../tags/tag26.xml"/><Relationship Id="rId10" Type="http://schemas.openxmlformats.org/officeDocument/2006/relationships/tags" Target="../tags/tag25.xml"/><Relationship Id="rId1" Type="http://schemas.openxmlformats.org/officeDocument/2006/relationships/tags" Target="../tags/tag16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5.xml"/><Relationship Id="rId8" Type="http://schemas.openxmlformats.org/officeDocument/2006/relationships/tags" Target="../tags/tag44.xml"/><Relationship Id="rId7" Type="http://schemas.openxmlformats.org/officeDocument/2006/relationships/tags" Target="../tags/tag43.xml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4" Type="http://schemas.openxmlformats.org/officeDocument/2006/relationships/notesSlide" Target="../notesSlides/notesSlide14.xml"/><Relationship Id="rId43" Type="http://schemas.openxmlformats.org/officeDocument/2006/relationships/slideLayout" Target="../slideLayouts/slideLayout7.xml"/><Relationship Id="rId42" Type="http://schemas.openxmlformats.org/officeDocument/2006/relationships/tags" Target="../tags/tag78.xml"/><Relationship Id="rId41" Type="http://schemas.openxmlformats.org/officeDocument/2006/relationships/tags" Target="../tags/tag77.xml"/><Relationship Id="rId40" Type="http://schemas.openxmlformats.org/officeDocument/2006/relationships/tags" Target="../tags/tag76.xml"/><Relationship Id="rId4" Type="http://schemas.openxmlformats.org/officeDocument/2006/relationships/tags" Target="../tags/tag40.xml"/><Relationship Id="rId39" Type="http://schemas.openxmlformats.org/officeDocument/2006/relationships/tags" Target="../tags/tag75.xml"/><Relationship Id="rId38" Type="http://schemas.openxmlformats.org/officeDocument/2006/relationships/tags" Target="../tags/tag74.xml"/><Relationship Id="rId37" Type="http://schemas.openxmlformats.org/officeDocument/2006/relationships/tags" Target="../tags/tag73.xml"/><Relationship Id="rId36" Type="http://schemas.openxmlformats.org/officeDocument/2006/relationships/tags" Target="../tags/tag72.xml"/><Relationship Id="rId35" Type="http://schemas.openxmlformats.org/officeDocument/2006/relationships/tags" Target="../tags/tag71.xml"/><Relationship Id="rId34" Type="http://schemas.openxmlformats.org/officeDocument/2006/relationships/tags" Target="../tags/tag70.xml"/><Relationship Id="rId33" Type="http://schemas.openxmlformats.org/officeDocument/2006/relationships/tags" Target="../tags/tag69.xml"/><Relationship Id="rId32" Type="http://schemas.openxmlformats.org/officeDocument/2006/relationships/tags" Target="../tags/tag68.xml"/><Relationship Id="rId31" Type="http://schemas.openxmlformats.org/officeDocument/2006/relationships/tags" Target="../tags/tag67.xml"/><Relationship Id="rId30" Type="http://schemas.openxmlformats.org/officeDocument/2006/relationships/tags" Target="../tags/tag66.xml"/><Relationship Id="rId3" Type="http://schemas.openxmlformats.org/officeDocument/2006/relationships/tags" Target="../tags/tag39.xml"/><Relationship Id="rId29" Type="http://schemas.openxmlformats.org/officeDocument/2006/relationships/tags" Target="../tags/tag65.xml"/><Relationship Id="rId28" Type="http://schemas.openxmlformats.org/officeDocument/2006/relationships/tags" Target="../tags/tag64.xml"/><Relationship Id="rId27" Type="http://schemas.openxmlformats.org/officeDocument/2006/relationships/tags" Target="../tags/tag63.xml"/><Relationship Id="rId26" Type="http://schemas.openxmlformats.org/officeDocument/2006/relationships/tags" Target="../tags/tag62.xml"/><Relationship Id="rId25" Type="http://schemas.openxmlformats.org/officeDocument/2006/relationships/tags" Target="../tags/tag61.xml"/><Relationship Id="rId24" Type="http://schemas.openxmlformats.org/officeDocument/2006/relationships/tags" Target="../tags/tag60.xml"/><Relationship Id="rId23" Type="http://schemas.openxmlformats.org/officeDocument/2006/relationships/tags" Target="../tags/tag59.xml"/><Relationship Id="rId22" Type="http://schemas.openxmlformats.org/officeDocument/2006/relationships/tags" Target="../tags/tag58.xml"/><Relationship Id="rId21" Type="http://schemas.openxmlformats.org/officeDocument/2006/relationships/tags" Target="../tags/tag57.xml"/><Relationship Id="rId20" Type="http://schemas.openxmlformats.org/officeDocument/2006/relationships/tags" Target="../tags/tag56.xml"/><Relationship Id="rId2" Type="http://schemas.openxmlformats.org/officeDocument/2006/relationships/tags" Target="../tags/tag38.xml"/><Relationship Id="rId19" Type="http://schemas.openxmlformats.org/officeDocument/2006/relationships/tags" Target="../tags/tag55.xml"/><Relationship Id="rId18" Type="http://schemas.openxmlformats.org/officeDocument/2006/relationships/tags" Target="../tags/tag54.xml"/><Relationship Id="rId17" Type="http://schemas.openxmlformats.org/officeDocument/2006/relationships/tags" Target="../tags/tag53.xml"/><Relationship Id="rId16" Type="http://schemas.openxmlformats.org/officeDocument/2006/relationships/tags" Target="../tags/tag52.xml"/><Relationship Id="rId15" Type="http://schemas.openxmlformats.org/officeDocument/2006/relationships/tags" Target="../tags/tag51.xml"/><Relationship Id="rId14" Type="http://schemas.openxmlformats.org/officeDocument/2006/relationships/tags" Target="../tags/tag50.xml"/><Relationship Id="rId13" Type="http://schemas.openxmlformats.org/officeDocument/2006/relationships/tags" Target="../tags/tag49.xml"/><Relationship Id="rId12" Type="http://schemas.openxmlformats.org/officeDocument/2006/relationships/tags" Target="../tags/tag48.xml"/><Relationship Id="rId11" Type="http://schemas.openxmlformats.org/officeDocument/2006/relationships/tags" Target="../tags/tag47.xml"/><Relationship Id="rId10" Type="http://schemas.openxmlformats.org/officeDocument/2006/relationships/tags" Target="../tags/tag46.xml"/><Relationship Id="rId1" Type="http://schemas.openxmlformats.org/officeDocument/2006/relationships/tags" Target="../tags/tag3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685800" y="1524000"/>
            <a:ext cx="676275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涨价的尽头，是一块“封装”</a:t>
            </a:r>
            <a:endParaRPr sz="2850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85800" y="2095500"/>
            <a:ext cx="45720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7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先进封装案例 · IT项目管理汇报</a:t>
            </a:r>
            <a:endParaRPr sz="27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933450" y="3436620"/>
            <a:ext cx="91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73A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pic>
        <p:nvPicPr>
          <p:cNvPr id="20" name="图片 23"/>
          <p:cNvPicPr>
            <a:picLocks noChangeAspect="1"/>
          </p:cNvPicPr>
          <p:nvPr/>
        </p:nvPicPr>
        <p:blipFill>
          <a:blip r:embed="rId1"/>
          <a:srcRect l="926" r="926"/>
          <a:stretch>
            <a:fillRect/>
          </a:stretch>
        </p:blipFill>
        <p:spPr>
          <a:xfrm>
            <a:off x="6572250" y="2152650"/>
            <a:ext cx="5048250" cy="3429000"/>
          </a:xfrm>
          <a:prstGeom prst="rect">
            <a:avLst/>
          </a:prstGeom>
        </p:spPr>
      </p:pic>
      <p:sp>
        <p:nvSpPr>
          <p:cNvPr id="22" name="矩形 21"/>
          <p:cNvSpPr>
            <a:spLocks noGrp="1"/>
          </p:cNvSpPr>
          <p:nvPr/>
        </p:nvSpPr>
        <p:spPr>
          <a:xfrm>
            <a:off x="6477000" y="2057400"/>
            <a:ext cx="5238750" cy="3619500"/>
          </a:xfrm>
          <a:prstGeom prst="rect">
            <a:avLst/>
          </a:prstGeom>
          <a:solidFill>
            <a:srgbClr val="000000">
              <a:alpha val="0"/>
            </a:srgbClr>
          </a:solidFill>
          <a:ln w="19050">
            <a:solidFill>
              <a:srgbClr val="D9E7F5"/>
            </a:solidFill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640080" y="3436620"/>
            <a:ext cx="3803015" cy="2181225"/>
          </a:xfrm>
          <a:prstGeom prst="rect">
            <a:avLst/>
          </a:prstGeom>
          <a:solidFill>
            <a:srgbClr val="F7FBF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640080" y="3437255"/>
            <a:ext cx="76200" cy="2180590"/>
          </a:xfrm>
          <a:prstGeom prst="rect">
            <a:avLst/>
          </a:prstGeom>
          <a:solidFill>
            <a:srgbClr val="005BA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1060450" y="3563620"/>
            <a:ext cx="914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73A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80745" y="3418205"/>
            <a:ext cx="2686050" cy="13411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200000"/>
              </a:lnSpc>
              <a:buNone/>
              <a:defRPr sz="127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>
                <a:solidFill>
                  <a:srgbClr val="073A78"/>
                </a:solidFill>
              </a:rPr>
              <a:t>进度管理</a:t>
            </a:r>
            <a:r>
              <a:rPr sz="1600">
                <a:solidFill>
                  <a:srgbClr val="073A78"/>
                </a:solidFill>
              </a:rPr>
              <a:t>         </a:t>
            </a:r>
            <a:r>
              <a:rPr sz="1600">
                <a:solidFill>
                  <a:srgbClr val="073A78"/>
                </a:solidFill>
              </a:rPr>
              <a:t>李梓川</a:t>
            </a:r>
            <a:endParaRPr sz="1600">
              <a:solidFill>
                <a:srgbClr val="073A78"/>
              </a:solidFill>
            </a:endParaRPr>
          </a:p>
          <a:p>
            <a:pPr algn="l">
              <a:lnSpc>
                <a:spcPct val="200000"/>
              </a:lnSpc>
              <a:buNone/>
              <a:defRPr sz="127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73A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质量管理        </a:t>
            </a:r>
            <a:r>
              <a:rPr sz="1600" b="1">
                <a:solidFill>
                  <a:srgbClr val="073A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b="1">
                <a:solidFill>
                  <a:srgbClr val="073A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郑智瑄</a:t>
            </a:r>
            <a:endParaRPr sz="1600" b="1">
              <a:solidFill>
                <a:srgbClr val="073A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200000"/>
              </a:lnSpc>
              <a:buNone/>
              <a:defRPr sz="127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73A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风险管理         孙维奇</a:t>
            </a:r>
            <a:endParaRPr sz="1600" b="1">
              <a:solidFill>
                <a:srgbClr val="073A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200000"/>
              </a:lnSpc>
              <a:buNone/>
              <a:defRPr sz="127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73A7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成本管理         成琦艺峰 </a:t>
            </a:r>
            <a:endParaRPr sz="1600" b="1">
              <a:solidFill>
                <a:srgbClr val="073A7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" name="矩形 17"/>
          <p:cNvSpPr>
            <a:spLocks noGrp="1"/>
          </p:cNvSpPr>
          <p:nvPr/>
        </p:nvSpPr>
        <p:spPr>
          <a:xfrm>
            <a:off x="720000" y="1080000"/>
            <a:ext cx="9429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32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用四个项目管理视角拆 Rubin 封装交付</a:t>
            </a:r>
            <a:endParaRPr sz="2025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704850" y="1600200"/>
            <a:ext cx="2362200" cy="3257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04850" y="1600200"/>
            <a:ext cx="2362200" cy="66675"/>
          </a:xfrm>
          <a:prstGeom prst="rect">
            <a:avLst/>
          </a:prstGeom>
          <a:solidFill>
            <a:srgbClr val="005BA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857250" y="1828800"/>
            <a:ext cx="419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25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025" b="1">
              <a:solidFill>
                <a:srgbClr val="005B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1352550" y="18669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进度管理</a:t>
            </a:r>
            <a:endParaRPr sz="1500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7250" y="220980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什么时候交</a:t>
            </a:r>
            <a:endParaRPr sz="1600" b="1">
              <a:solidFill>
                <a:srgbClr val="005B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857250" y="2552700"/>
            <a:ext cx="2057400" cy="647700"/>
          </a:xfrm>
          <a:prstGeom prst="rect">
            <a:avLst/>
          </a:prstGeom>
          <a:solidFill>
            <a:srgbClr val="005BAC">
              <a:alpha val="7843"/>
            </a:srgbClr>
          </a:solidFill>
          <a:ln w="9525">
            <a:solidFill>
              <a:srgbClr val="005BAC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857250" y="2762250"/>
            <a:ext cx="2057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00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关键路径</a:t>
            </a:r>
            <a:endParaRPr sz="1500" b="1">
              <a:solidFill>
                <a:srgbClr val="005B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123950" y="3409950"/>
            <a:ext cx="1524000" cy="19050"/>
          </a:xfrm>
          <a:prstGeom prst="rect">
            <a:avLst/>
          </a:prstGeom>
          <a:solidFill>
            <a:srgbClr val="005BA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876300" y="3695700"/>
            <a:ext cx="2000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285750" indent="-285750" algn="l">
              <a:buChar char="•"/>
              <a:defRPr sz="990" b="0">
                <a:solidFill>
                  <a:srgbClr val="3440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440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交付拆成备料、KGD筛选、2.5D集成、测试和量产爬坡</a:t>
            </a:r>
            <a:endParaRPr sz="1200" b="0">
              <a:solidFill>
                <a:srgbClr val="3440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Char char="•"/>
              <a:defRPr sz="990" b="0">
                <a:solidFill>
                  <a:srgbClr val="3440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440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HBM4 与 CoWoS 是必须提前锁定的最长链</a:t>
            </a:r>
            <a:endParaRPr sz="1200" b="0">
              <a:solidFill>
                <a:srgbClr val="3440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3390900" y="1600200"/>
            <a:ext cx="2362200" cy="3257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3390900" y="1600200"/>
            <a:ext cx="2362200" cy="66675"/>
          </a:xfrm>
          <a:prstGeom prst="rect">
            <a:avLst/>
          </a:prstGeom>
          <a:solidFill>
            <a:srgbClr val="B83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3543300" y="1828800"/>
            <a:ext cx="419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25" b="1">
                <a:solidFill>
                  <a:srgbClr val="B8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B8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025" b="1">
              <a:solidFill>
                <a:srgbClr val="B8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4038600" y="18669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质量管理</a:t>
            </a:r>
            <a:endParaRPr sz="1500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3543300" y="220980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B8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B8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怎么保良率</a:t>
            </a:r>
            <a:endParaRPr sz="1600" b="1">
              <a:solidFill>
                <a:srgbClr val="B8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3543300" y="2552700"/>
            <a:ext cx="2057400" cy="647700"/>
          </a:xfrm>
          <a:prstGeom prst="rect">
            <a:avLst/>
          </a:prstGeom>
          <a:solidFill>
            <a:srgbClr val="B83232">
              <a:alpha val="7843"/>
            </a:srgbClr>
          </a:solidFill>
          <a:ln w="9525">
            <a:solidFill>
              <a:srgbClr val="B83232"/>
            </a:solidFill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3543300" y="2762250"/>
            <a:ext cx="2057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00" b="1">
                <a:solidFill>
                  <a:srgbClr val="B8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B8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复合良率</a:t>
            </a:r>
            <a:endParaRPr sz="1500" b="1">
              <a:solidFill>
                <a:srgbClr val="B8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3810000" y="3409950"/>
            <a:ext cx="1524000" cy="19050"/>
          </a:xfrm>
          <a:prstGeom prst="rect">
            <a:avLst/>
          </a:prstGeom>
          <a:solidFill>
            <a:srgbClr val="B8323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3562350" y="3695700"/>
            <a:ext cx="2000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 algn="l">
              <a:buChar char="•"/>
              <a:defRPr sz="990" b="0">
                <a:solidFill>
                  <a:srgbClr val="3440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440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翘曲、洁净度、无裂纹决定良率</a:t>
            </a:r>
            <a:endParaRPr sz="1200" b="0">
              <a:solidFill>
                <a:srgbClr val="3440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buChar char="•"/>
              <a:defRPr sz="990" b="0">
                <a:solidFill>
                  <a:srgbClr val="3440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440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KGD 前筛、过程控制和可靠性测试，把坏 die 拦在集成前</a:t>
            </a:r>
            <a:endParaRPr sz="1200" b="0">
              <a:solidFill>
                <a:srgbClr val="3440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76950" y="1600200"/>
            <a:ext cx="2362200" cy="3257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6076950" y="1600200"/>
            <a:ext cx="2362200" cy="66675"/>
          </a:xfrm>
          <a:prstGeom prst="rect">
            <a:avLst/>
          </a:prstGeom>
          <a:solidFill>
            <a:srgbClr val="4F8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6229350" y="1828800"/>
            <a:ext cx="419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25" b="1">
                <a:solidFill>
                  <a:srgbClr val="4F8F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4F8F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025" b="1">
              <a:solidFill>
                <a:srgbClr val="4F8F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724650" y="18669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风险管理</a:t>
            </a:r>
            <a:endParaRPr sz="1500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29350" y="220980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4F8F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4F8F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什么会交不出</a:t>
            </a:r>
            <a:endParaRPr sz="1600" b="1">
              <a:solidFill>
                <a:srgbClr val="4F8F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229350" y="2552700"/>
            <a:ext cx="2057400" cy="647700"/>
          </a:xfrm>
          <a:prstGeom prst="rect">
            <a:avLst/>
          </a:prstGeom>
          <a:solidFill>
            <a:srgbClr val="4F8F5B">
              <a:alpha val="7843"/>
            </a:srgbClr>
          </a:solidFill>
          <a:ln w="9525">
            <a:solidFill>
              <a:srgbClr val="4F8F5B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229350" y="2762250"/>
            <a:ext cx="2057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00" b="1">
                <a:solidFill>
                  <a:srgbClr val="4F8F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4F8F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三层风险</a:t>
            </a:r>
            <a:endParaRPr sz="1500" b="1">
              <a:solidFill>
                <a:srgbClr val="4F8F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496050" y="3409950"/>
            <a:ext cx="1524000" cy="19050"/>
          </a:xfrm>
          <a:prstGeom prst="rect">
            <a:avLst/>
          </a:prstGeom>
          <a:solidFill>
            <a:srgbClr val="4F8F5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248400" y="3695700"/>
            <a:ext cx="2000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 algn="l">
              <a:buChar char="•"/>
              <a:defRPr sz="990" b="0">
                <a:solidFill>
                  <a:srgbClr val="3440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440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技术、供应链、外部环境三层风险叠加</a:t>
            </a:r>
            <a:endParaRPr sz="1200" b="0">
              <a:solidFill>
                <a:srgbClr val="3440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buChar char="•"/>
              <a:defRPr sz="990" b="0">
                <a:solidFill>
                  <a:srgbClr val="3440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440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用规避、减轻、转移、对冲处理，并持续盯残余风险</a:t>
            </a:r>
            <a:endParaRPr sz="1200" b="0">
              <a:solidFill>
                <a:srgbClr val="3440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8763000" y="1600200"/>
            <a:ext cx="2362200" cy="32575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8763000" y="1600200"/>
            <a:ext cx="2362200" cy="66675"/>
          </a:xfrm>
          <a:prstGeom prst="rect">
            <a:avLst/>
          </a:prstGeom>
          <a:solidFill>
            <a:srgbClr val="ED7D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8915400" y="1828800"/>
            <a:ext cx="4191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25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025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9410700" y="186690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成本管理</a:t>
            </a:r>
            <a:endParaRPr sz="1500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8915400" y="2209800"/>
            <a:ext cx="1905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代价与降本</a:t>
            </a:r>
            <a:endParaRPr sz="16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矩形 66"/>
          <p:cNvSpPr>
            <a:spLocks noGrp="1"/>
          </p:cNvSpPr>
          <p:nvPr/>
        </p:nvSpPr>
        <p:spPr>
          <a:xfrm>
            <a:off x="8915400" y="2552700"/>
            <a:ext cx="2057400" cy="647700"/>
          </a:xfrm>
          <a:prstGeom prst="rect">
            <a:avLst/>
          </a:prstGeom>
          <a:solidFill>
            <a:srgbClr val="ED7D31">
              <a:alpha val="7843"/>
            </a:srgbClr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68" name="矩形 67"/>
          <p:cNvSpPr>
            <a:spLocks noGrp="1"/>
          </p:cNvSpPr>
          <p:nvPr/>
        </p:nvSpPr>
        <p:spPr>
          <a:xfrm>
            <a:off x="8915400" y="2762250"/>
            <a:ext cx="20574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良率 / 产能 / 路线</a:t>
            </a:r>
            <a:endParaRPr sz="15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9" name="矩形 68"/>
          <p:cNvSpPr>
            <a:spLocks noGrp="1"/>
          </p:cNvSpPr>
          <p:nvPr/>
        </p:nvSpPr>
        <p:spPr>
          <a:xfrm>
            <a:off x="9182100" y="3409950"/>
            <a:ext cx="1524000" cy="19050"/>
          </a:xfrm>
          <a:prstGeom prst="rect">
            <a:avLst/>
          </a:prstGeom>
          <a:solidFill>
            <a:srgbClr val="ED7D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0" name="矩形 69"/>
          <p:cNvSpPr>
            <a:spLocks noGrp="1"/>
          </p:cNvSpPr>
          <p:nvPr/>
        </p:nvSpPr>
        <p:spPr>
          <a:xfrm>
            <a:off x="8934450" y="3695700"/>
            <a:ext cx="2000250" cy="704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285750" indent="-285750" algn="l">
              <a:buChar char="•"/>
              <a:defRPr sz="990" b="0">
                <a:solidFill>
                  <a:srgbClr val="3440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440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CoWoS 与 HBM4 推高成本</a:t>
            </a:r>
            <a:endParaRPr sz="1200" b="0">
              <a:solidFill>
                <a:srgbClr val="3440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285750" indent="-285750" algn="l">
              <a:buChar char="•"/>
              <a:defRPr sz="990" b="0">
                <a:solidFill>
                  <a:srgbClr val="3440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3440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良率、面板级封装和玻璃基板是降本杠杆</a:t>
            </a:r>
            <a:endParaRPr sz="1200" b="0">
              <a:solidFill>
                <a:srgbClr val="34405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" name="矩形 70"/>
          <p:cNvSpPr>
            <a:spLocks noGrp="1"/>
          </p:cNvSpPr>
          <p:nvPr/>
        </p:nvSpPr>
        <p:spPr>
          <a:xfrm>
            <a:off x="2097405" y="5172075"/>
            <a:ext cx="8210550" cy="590550"/>
          </a:xfrm>
          <a:prstGeom prst="rect">
            <a:avLst/>
          </a:prstGeom>
          <a:solidFill>
            <a:schemeClr val="accent5">
              <a:lumMod val="75000"/>
              <a:alpha val="20000"/>
            </a:schemeClr>
          </a:solidFill>
          <a:ln w="9525">
            <a:noFill/>
            <a:prstDash val="solid"/>
          </a:ln>
        </p:spPr>
      </p:sp>
      <p:sp>
        <p:nvSpPr>
          <p:cNvPr id="72" name="矩形 71"/>
          <p:cNvSpPr>
            <a:spLocks noGrp="1"/>
          </p:cNvSpPr>
          <p:nvPr/>
        </p:nvSpPr>
        <p:spPr>
          <a:xfrm>
            <a:off x="2097405" y="5172075"/>
            <a:ext cx="66675" cy="590550"/>
          </a:xfrm>
          <a:prstGeom prst="rect">
            <a:avLst/>
          </a:prstGeom>
          <a:solidFill>
            <a:srgbClr val="005BA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3" name="矩形 72"/>
          <p:cNvSpPr>
            <a:spLocks noGrp="1"/>
          </p:cNvSpPr>
          <p:nvPr/>
        </p:nvSpPr>
        <p:spPr>
          <a:xfrm>
            <a:off x="2268855" y="5343525"/>
            <a:ext cx="8039735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90" b="1">
                <a:solidFill>
                  <a:srgbClr val="3B2D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主线：什么时候交（进度）→ 良率怎么保（质量）→ 什么会交不出（风险）→ 代价怎么降（成本</a:t>
            </a:r>
            <a:r>
              <a:rPr sz="1400" b="1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1400" b="1">
              <a:solidFill>
                <a:srgbClr val="0070C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1" name="手杖形箭头 150"/>
          <p:cNvSpPr>
            <a:spLocks noGrp="1"/>
          </p:cNvSpPr>
          <p:nvPr/>
        </p:nvSpPr>
        <p:spPr>
          <a:xfrm rot="10800000" flipH="1">
            <a:off x="4348480" y="2868295"/>
            <a:ext cx="6022975" cy="3158490"/>
          </a:xfrm>
          <a:prstGeom prst="uturnArrow">
            <a:avLst>
              <a:gd name="adj1" fmla="val 5865"/>
              <a:gd name="adj2" fmla="val 9871"/>
              <a:gd name="adj3" fmla="val 8245"/>
              <a:gd name="adj4" fmla="val 43750"/>
              <a:gd name="adj5" fmla="val 20568"/>
            </a:avLst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" name="文本框 3"/>
          <p:cNvSpPr>
            <a:spLocks noGrp="1"/>
          </p:cNvSpPr>
          <p:nvPr/>
        </p:nvSpPr>
        <p:spPr>
          <a:xfrm>
            <a:off x="9154795" y="180340"/>
            <a:ext cx="2215515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开场引入</a:t>
            </a:r>
            <a:endParaRPr sz="36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8521701" y="914399"/>
            <a:ext cx="3115242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9" name="矩形 18"/>
          <p:cNvSpPr>
            <a:spLocks noGrp="1"/>
          </p:cNvSpPr>
          <p:nvPr/>
        </p:nvSpPr>
        <p:spPr>
          <a:xfrm>
            <a:off x="720000" y="1080000"/>
            <a:ext cx="9429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32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涨价的尽头是一块“封装”：先进封装成了 AI 算力的最后一公里</a:t>
            </a:r>
            <a:endParaRPr sz="2025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736600" y="1682750"/>
            <a:ext cx="3533775" cy="3968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8" name="矩形 87"/>
          <p:cNvSpPr>
            <a:spLocks noGrp="1"/>
          </p:cNvSpPr>
          <p:nvPr/>
        </p:nvSpPr>
        <p:spPr>
          <a:xfrm>
            <a:off x="737235" y="1683385"/>
            <a:ext cx="3533140" cy="355600"/>
          </a:xfrm>
          <a:prstGeom prst="rect">
            <a:avLst/>
          </a:prstGeom>
          <a:solidFill>
            <a:srgbClr val="005BA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9" name="矩形 88"/>
          <p:cNvSpPr>
            <a:spLocks noGrp="1"/>
          </p:cNvSpPr>
          <p:nvPr/>
        </p:nvSpPr>
        <p:spPr>
          <a:xfrm>
            <a:off x="870261" y="1779476"/>
            <a:ext cx="1332765" cy="1777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>
            <a:lvl1pPr marL="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HBM堆叠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0" name="矩形 89"/>
          <p:cNvSpPr>
            <a:spLocks noGrp="1"/>
          </p:cNvSpPr>
          <p:nvPr/>
        </p:nvSpPr>
        <p:spPr>
          <a:xfrm>
            <a:off x="2849880" y="1781175"/>
            <a:ext cx="1214755" cy="21717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>
            <a:lvl1pPr marL="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TSV垂直互连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6" name="矩形 95"/>
          <p:cNvSpPr>
            <a:spLocks noGrp="1"/>
          </p:cNvSpPr>
          <p:nvPr/>
        </p:nvSpPr>
        <p:spPr>
          <a:xfrm>
            <a:off x="796925" y="3190875"/>
            <a:ext cx="3473450" cy="17176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>
            <a:lvl1pPr marL="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lnSpc>
                <a:spcPct val="150000"/>
              </a:lnSpc>
              <a:buChar char="•"/>
            </a:pPr>
            <a:r>
              <a:rPr sz="1400"/>
              <a:t>HBM 是多层 DRAM 通过 TSV 垂直堆叠。</a:t>
            </a:r>
            <a:endParaRPr sz="1400"/>
          </a:p>
          <a:p>
            <a:pPr marL="285750" indent="-285750">
              <a:lnSpc>
                <a:spcPct val="150000"/>
              </a:lnSpc>
              <a:buChar char="•"/>
            </a:pPr>
            <a:r>
              <a:rPr sz="1400"/>
              <a:t>Rubin 需要约 288GB HBM4 和 13TB/s 带宽。</a:t>
            </a:r>
            <a:endParaRPr sz="1400"/>
          </a:p>
          <a:p>
            <a:pPr marL="285750" indent="-285750">
              <a:lnSpc>
                <a:spcPct val="150000"/>
              </a:lnSpc>
              <a:buChar char="•"/>
            </a:pPr>
            <a:r>
              <a:rPr sz="1400"/>
              <a:t>AI 周期推高内存价格。</a:t>
            </a:r>
            <a:endParaRPr sz="1400"/>
          </a:p>
          <a:p>
            <a:pPr marL="285750" indent="-285750">
              <a:lnSpc>
                <a:spcPct val="150000"/>
              </a:lnSpc>
              <a:buChar char="•"/>
            </a:pPr>
            <a:r>
              <a:rPr sz="1400"/>
              <a:t>约束最终落到封装产能和良率。</a:t>
            </a:r>
            <a:endParaRPr sz="1400"/>
          </a:p>
        </p:txBody>
      </p:sp>
      <p:sp>
        <p:nvSpPr>
          <p:cNvPr id="98" name="矩形 97"/>
          <p:cNvSpPr>
            <a:spLocks noGrp="1"/>
          </p:cNvSpPr>
          <p:nvPr/>
        </p:nvSpPr>
        <p:spPr>
          <a:xfrm>
            <a:off x="1013460" y="5205095"/>
            <a:ext cx="297942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>
            <a:lvl1pPr marL="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42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HBM = stacked DRAM + TSV</a:t>
            </a:r>
            <a:endParaRPr sz="1600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8" name="矩形 117"/>
          <p:cNvSpPr>
            <a:spLocks noGrp="1"/>
          </p:cNvSpPr>
          <p:nvPr/>
        </p:nvSpPr>
        <p:spPr>
          <a:xfrm>
            <a:off x="4635500" y="1682115"/>
            <a:ext cx="3533775" cy="3968750"/>
          </a:xfrm>
          <a:prstGeom prst="rect">
            <a:avLst/>
          </a:prstGeom>
          <a:solidFill>
            <a:srgbClr val="FFFFFF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19" name="矩形 118"/>
          <p:cNvSpPr>
            <a:spLocks noGrp="1"/>
          </p:cNvSpPr>
          <p:nvPr/>
        </p:nvSpPr>
        <p:spPr>
          <a:xfrm>
            <a:off x="4636135" y="1682750"/>
            <a:ext cx="3533140" cy="355600"/>
          </a:xfrm>
          <a:prstGeom prst="rect">
            <a:avLst/>
          </a:prstGeom>
          <a:solidFill>
            <a:schemeClr val="accent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0" name="矩形 119"/>
          <p:cNvSpPr>
            <a:spLocks noGrp="1"/>
          </p:cNvSpPr>
          <p:nvPr/>
        </p:nvSpPr>
        <p:spPr>
          <a:xfrm>
            <a:off x="4769161" y="1778841"/>
            <a:ext cx="1332765" cy="177702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>
            <a:lvl1pPr marL="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CoWoS集成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1" name="矩形 120"/>
          <p:cNvSpPr>
            <a:spLocks noGrp="1"/>
          </p:cNvSpPr>
          <p:nvPr/>
        </p:nvSpPr>
        <p:spPr>
          <a:xfrm>
            <a:off x="7000734" y="1780315"/>
            <a:ext cx="962553" cy="1480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>
            <a:lvl1pPr marL="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2.5D封装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5" name="图片 1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71719" y="2075180"/>
            <a:ext cx="1809242" cy="1064260"/>
          </a:xfrm>
          <a:prstGeom prst="rect">
            <a:avLst/>
          </a:prstGeom>
        </p:spPr>
      </p:pic>
      <p:sp>
        <p:nvSpPr>
          <p:cNvPr id="128" name="矩形 127"/>
          <p:cNvSpPr>
            <a:spLocks noGrp="1"/>
          </p:cNvSpPr>
          <p:nvPr/>
        </p:nvSpPr>
        <p:spPr>
          <a:xfrm>
            <a:off x="4693920" y="3189605"/>
            <a:ext cx="3340735" cy="179832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>
            <a:lvl1pPr marL="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285750" indent="-285750">
              <a:lnSpc>
                <a:spcPct val="150000"/>
              </a:lnSpc>
              <a:buChar char="•"/>
            </a:pPr>
            <a:r>
              <a:rPr sz="1350"/>
              <a:t>CoWoS 把 GPU、HBM 和中介层放到同一块基板上。</a:t>
            </a:r>
            <a:endParaRPr sz="1350"/>
          </a:p>
          <a:p>
            <a:pPr marL="285750" indent="-285750">
              <a:lnSpc>
                <a:spcPct val="150000"/>
              </a:lnSpc>
              <a:buChar char="•"/>
            </a:pPr>
            <a:r>
              <a:rPr sz="1350"/>
              <a:t>它把算力与带宽连成系统</a:t>
            </a:r>
            <a:r>
              <a:rPr sz="1350"/>
              <a:t>，</a:t>
            </a:r>
            <a:r>
              <a:rPr sz="1350"/>
              <a:t>把供应链约束集中到封装产线。</a:t>
            </a:r>
            <a:endParaRPr sz="1350"/>
          </a:p>
          <a:p>
            <a:pPr marL="285750" indent="-285750">
              <a:lnSpc>
                <a:spcPct val="150000"/>
              </a:lnSpc>
              <a:buChar char="•"/>
            </a:pPr>
            <a:r>
              <a:rPr sz="1350"/>
              <a:t>封装成本因此被放大。</a:t>
            </a:r>
            <a:endParaRPr sz="1350"/>
          </a:p>
        </p:txBody>
      </p:sp>
      <p:sp>
        <p:nvSpPr>
          <p:cNvPr id="130" name="矩形 129"/>
          <p:cNvSpPr>
            <a:spLocks noGrp="1"/>
          </p:cNvSpPr>
          <p:nvPr/>
        </p:nvSpPr>
        <p:spPr>
          <a:xfrm>
            <a:off x="4868545" y="5198745"/>
            <a:ext cx="299148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>
            <a:lvl1pPr marL="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  <a:defRPr sz="142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+ HBM + Interposer</a:t>
            </a:r>
            <a:endParaRPr sz="1600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2" name="圆角右箭头 131"/>
          <p:cNvSpPr>
            <a:spLocks noGrp="1"/>
          </p:cNvSpPr>
          <p:nvPr/>
        </p:nvSpPr>
        <p:spPr>
          <a:xfrm rot="5400000">
            <a:off x="8020685" y="3486150"/>
            <a:ext cx="1572895" cy="1274445"/>
          </a:xfrm>
          <a:prstGeom prst="bentArrow">
            <a:avLst>
              <a:gd name="adj1" fmla="val 13741"/>
              <a:gd name="adj2" fmla="val 25000"/>
              <a:gd name="adj3" fmla="val 25000"/>
              <a:gd name="adj4" fmla="val 43750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33" name="下箭头 132"/>
          <p:cNvSpPr>
            <a:spLocks noGrp="1"/>
          </p:cNvSpPr>
          <p:nvPr/>
        </p:nvSpPr>
        <p:spPr>
          <a:xfrm>
            <a:off x="9965690" y="3557905"/>
            <a:ext cx="783590" cy="1350645"/>
          </a:xfrm>
          <a:prstGeom prst="down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pic>
        <p:nvPicPr>
          <p:cNvPr id="170" name="图片 1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221" y="1080135"/>
            <a:ext cx="1867853" cy="1245235"/>
          </a:xfrm>
          <a:prstGeom prst="rect">
            <a:avLst/>
          </a:prstGeom>
        </p:spPr>
      </p:pic>
      <p:sp>
        <p:nvSpPr>
          <p:cNvPr id="142" name="文本框 141"/>
          <p:cNvSpPr>
            <a:spLocks noGrp="1"/>
          </p:cNvSpPr>
          <p:nvPr/>
        </p:nvSpPr>
        <p:spPr>
          <a:xfrm>
            <a:off x="8700135" y="2414905"/>
            <a:ext cx="300164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价格上涨背后：</a:t>
            </a:r>
          </a:p>
          <a:p>
            <a:pPr marL="285750" indent="-285750">
              <a:buChar char="•"/>
            </a:pPr>
            <a:r>
              <a:t>HBM进入超级周期</a:t>
            </a:r>
          </a:p>
          <a:p>
            <a:pPr marL="285750" indent="-285750">
              <a:buChar char="•"/>
            </a:pPr>
            <a:r>
              <a:t>封装产能排到2026年底</a:t>
            </a:r>
          </a:p>
        </p:txBody>
      </p:sp>
      <p:sp>
        <p:nvSpPr>
          <p:cNvPr id="146" name="左右箭头 145"/>
          <p:cNvSpPr>
            <a:spLocks noGrp="1"/>
          </p:cNvSpPr>
          <p:nvPr/>
        </p:nvSpPr>
        <p:spPr>
          <a:xfrm>
            <a:off x="4045585" y="2613025"/>
            <a:ext cx="822960" cy="453390"/>
          </a:xfrm>
          <a:prstGeom prst="left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150" name="文本框 149"/>
          <p:cNvSpPr>
            <a:spLocks noGrp="1"/>
          </p:cNvSpPr>
          <p:nvPr/>
        </p:nvSpPr>
        <p:spPr>
          <a:xfrm>
            <a:off x="8458200" y="4837430"/>
            <a:ext cx="298704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sz="1400"/>
              <a:t>四个视角：</a:t>
            </a:r>
            <a:endParaRPr sz="1400"/>
          </a:p>
          <a:p>
            <a:r>
              <a:rPr sz="2000" b="1"/>
              <a:t>进度、质量、风险、成本</a:t>
            </a:r>
            <a:endParaRPr sz="2000" b="1"/>
          </a:p>
        </p:txBody>
      </p:sp>
      <p:sp>
        <p:nvSpPr>
          <p:cNvPr id="152" name="文本框 151"/>
          <p:cNvSpPr>
            <a:spLocks noGrp="1"/>
          </p:cNvSpPr>
          <p:nvPr/>
        </p:nvSpPr>
        <p:spPr>
          <a:xfrm>
            <a:off x="4455160" y="6139180"/>
            <a:ext cx="216217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sz="1350" b="1"/>
              <a:t>从涨价现象到项目主线</a:t>
            </a:r>
            <a:endParaRPr sz="1350" b="1"/>
          </a:p>
        </p:txBody>
      </p:sp>
      <p:sp>
        <p:nvSpPr>
          <p:cNvPr id="156" name="矩形 155"/>
          <p:cNvSpPr>
            <a:spLocks noGrp="1"/>
          </p:cNvSpPr>
          <p:nvPr/>
        </p:nvSpPr>
        <p:spPr>
          <a:xfrm>
            <a:off x="1811206" y="2196899"/>
            <a:ext cx="1178187" cy="628650"/>
          </a:xfrm>
          <a:prstGeom prst="rect">
            <a:avLst/>
          </a:prstGeom>
          <a:solidFill>
            <a:srgbClr val="F8FBF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157" name="矩形 156"/>
          <p:cNvSpPr>
            <a:spLocks noGrp="1"/>
          </p:cNvSpPr>
          <p:nvPr/>
        </p:nvSpPr>
        <p:spPr>
          <a:xfrm>
            <a:off x="1944556" y="2215949"/>
            <a:ext cx="911487" cy="66675"/>
          </a:xfrm>
          <a:prstGeom prst="rect">
            <a:avLst/>
          </a:prstGeom>
          <a:solidFill>
            <a:srgbClr val="F4B183"/>
          </a:solidFill>
          <a:ln w="7620">
            <a:solidFill>
              <a:srgbClr val="C55A11"/>
            </a:solidFill>
            <a:prstDash val="solid"/>
          </a:ln>
        </p:spPr>
      </p:sp>
      <p:sp>
        <p:nvSpPr>
          <p:cNvPr id="158" name="矩形 157"/>
          <p:cNvSpPr>
            <a:spLocks noGrp="1"/>
          </p:cNvSpPr>
          <p:nvPr/>
        </p:nvSpPr>
        <p:spPr>
          <a:xfrm>
            <a:off x="1944556" y="2301674"/>
            <a:ext cx="911487" cy="66675"/>
          </a:xfrm>
          <a:prstGeom prst="rect">
            <a:avLst/>
          </a:prstGeom>
          <a:solidFill>
            <a:srgbClr val="F8CBAD"/>
          </a:solidFill>
          <a:ln w="7620">
            <a:solidFill>
              <a:srgbClr val="C55A11"/>
            </a:solidFill>
            <a:prstDash val="solid"/>
          </a:ln>
        </p:spPr>
      </p:sp>
      <p:sp>
        <p:nvSpPr>
          <p:cNvPr id="159" name="矩形 158"/>
          <p:cNvSpPr>
            <a:spLocks noGrp="1"/>
          </p:cNvSpPr>
          <p:nvPr/>
        </p:nvSpPr>
        <p:spPr>
          <a:xfrm>
            <a:off x="1944556" y="2387399"/>
            <a:ext cx="911487" cy="66675"/>
          </a:xfrm>
          <a:prstGeom prst="rect">
            <a:avLst/>
          </a:prstGeom>
          <a:solidFill>
            <a:srgbClr val="F4B183"/>
          </a:solidFill>
          <a:ln w="7620">
            <a:solidFill>
              <a:srgbClr val="C55A11"/>
            </a:solidFill>
            <a:prstDash val="solid"/>
          </a:ln>
        </p:spPr>
      </p:sp>
      <p:sp>
        <p:nvSpPr>
          <p:cNvPr id="160" name="矩形 159"/>
          <p:cNvSpPr>
            <a:spLocks noGrp="1"/>
          </p:cNvSpPr>
          <p:nvPr/>
        </p:nvSpPr>
        <p:spPr>
          <a:xfrm>
            <a:off x="1944556" y="2473124"/>
            <a:ext cx="911487" cy="66675"/>
          </a:xfrm>
          <a:prstGeom prst="rect">
            <a:avLst/>
          </a:prstGeom>
          <a:solidFill>
            <a:srgbClr val="F8CBAD"/>
          </a:solidFill>
          <a:ln w="7620">
            <a:solidFill>
              <a:srgbClr val="C55A11"/>
            </a:solidFill>
            <a:prstDash val="solid"/>
          </a:ln>
        </p:spPr>
      </p:sp>
      <p:sp>
        <p:nvSpPr>
          <p:cNvPr id="161" name="矩形 160"/>
          <p:cNvSpPr>
            <a:spLocks noGrp="1"/>
          </p:cNvSpPr>
          <p:nvPr/>
        </p:nvSpPr>
        <p:spPr>
          <a:xfrm>
            <a:off x="1944556" y="2558849"/>
            <a:ext cx="911487" cy="66675"/>
          </a:xfrm>
          <a:prstGeom prst="rect">
            <a:avLst/>
          </a:prstGeom>
          <a:solidFill>
            <a:srgbClr val="F4B183"/>
          </a:solidFill>
          <a:ln w="7620">
            <a:solidFill>
              <a:srgbClr val="C55A11"/>
            </a:solidFill>
            <a:prstDash val="solid"/>
          </a:ln>
        </p:spPr>
      </p:sp>
      <p:sp>
        <p:nvSpPr>
          <p:cNvPr id="162" name="矩形 161"/>
          <p:cNvSpPr>
            <a:spLocks noGrp="1"/>
          </p:cNvSpPr>
          <p:nvPr/>
        </p:nvSpPr>
        <p:spPr>
          <a:xfrm>
            <a:off x="1944556" y="2644574"/>
            <a:ext cx="911487" cy="66675"/>
          </a:xfrm>
          <a:prstGeom prst="rect">
            <a:avLst/>
          </a:prstGeom>
          <a:solidFill>
            <a:srgbClr val="F8CBAD"/>
          </a:solidFill>
          <a:ln w="7620">
            <a:solidFill>
              <a:srgbClr val="C55A11"/>
            </a:solidFill>
            <a:prstDash val="solid"/>
          </a:ln>
        </p:spPr>
      </p:sp>
      <p:sp>
        <p:nvSpPr>
          <p:cNvPr id="163" name="直接连接符 162"/>
          <p:cNvSpPr>
            <a:spLocks noGrp="1"/>
          </p:cNvSpPr>
          <p:nvPr/>
        </p:nvSpPr>
        <p:spPr>
          <a:xfrm>
            <a:off x="2199772" y="2206424"/>
            <a:ext cx="0" cy="5143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005BAC"/>
            </a:solidFill>
            <a:prstDash val="solid"/>
          </a:ln>
        </p:spPr>
      </p:sp>
      <p:sp>
        <p:nvSpPr>
          <p:cNvPr id="164" name="直接连接符 163"/>
          <p:cNvSpPr>
            <a:spLocks noGrp="1"/>
          </p:cNvSpPr>
          <p:nvPr/>
        </p:nvSpPr>
        <p:spPr>
          <a:xfrm>
            <a:off x="2400300" y="2206424"/>
            <a:ext cx="0" cy="5143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005BAC"/>
            </a:solidFill>
            <a:prstDash val="solid"/>
          </a:ln>
        </p:spPr>
      </p:sp>
      <p:sp>
        <p:nvSpPr>
          <p:cNvPr id="2" name="直接连接符 1"/>
          <p:cNvSpPr>
            <a:spLocks noGrp="1"/>
          </p:cNvSpPr>
          <p:nvPr/>
        </p:nvSpPr>
        <p:spPr>
          <a:xfrm>
            <a:off x="2600827" y="2206424"/>
            <a:ext cx="0" cy="51435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005BAC"/>
            </a:solidFill>
            <a:prstDash val="solid"/>
          </a:ln>
        </p:spPr>
      </p:sp>
      <p:sp>
        <p:nvSpPr>
          <p:cNvPr id="166" name="矩形 165"/>
          <p:cNvSpPr>
            <a:spLocks noGrp="1"/>
          </p:cNvSpPr>
          <p:nvPr/>
        </p:nvSpPr>
        <p:spPr>
          <a:xfrm>
            <a:off x="1849306" y="2749349"/>
            <a:ext cx="1101987" cy="95250"/>
          </a:xfrm>
          <a:prstGeom prst="rect">
            <a:avLst/>
          </a:prstGeom>
          <a:solidFill>
            <a:srgbClr val="70AD47"/>
          </a:solidFill>
          <a:ln w="7620">
            <a:solidFill>
              <a:srgbClr val="548235"/>
            </a:solidFill>
            <a:prstDash val="solid"/>
          </a:ln>
        </p:spPr>
      </p:sp>
      <p:sp>
        <p:nvSpPr>
          <p:cNvPr id="167" name="矩形 166"/>
          <p:cNvSpPr>
            <a:spLocks noGrp="1"/>
          </p:cNvSpPr>
          <p:nvPr/>
        </p:nvSpPr>
        <p:spPr>
          <a:xfrm>
            <a:off x="2163313" y="2873174"/>
            <a:ext cx="473973" cy="76200"/>
          </a:xfrm>
          <a:prstGeom prst="rect">
            <a:avLst/>
          </a:prstGeom>
          <a:solidFill>
            <a:srgbClr val="4F7FD1"/>
          </a:solidFill>
          <a:ln w="7620">
            <a:solidFill>
              <a:srgbClr val="2F5597"/>
            </a:solidFill>
            <a:prstDash val="solid"/>
          </a:ln>
        </p:spPr>
      </p:sp>
      <p:sp>
        <p:nvSpPr>
          <p:cNvPr id="168" name="椭圆 167"/>
          <p:cNvSpPr>
            <a:spLocks noGrp="1"/>
          </p:cNvSpPr>
          <p:nvPr/>
        </p:nvSpPr>
        <p:spPr>
          <a:xfrm>
            <a:off x="1839781" y="2987474"/>
            <a:ext cx="57150" cy="57150"/>
          </a:xfrm>
          <a:prstGeom prst="ellipse">
            <a:avLst/>
          </a:prstGeom>
          <a:solidFill>
            <a:srgbClr val="BFBFBF"/>
          </a:solidFill>
          <a:ln w="4763">
            <a:solidFill>
              <a:srgbClr val="7F7F7F"/>
            </a:solidFill>
            <a:prstDash val="solid"/>
          </a:ln>
        </p:spPr>
      </p:sp>
      <p:sp>
        <p:nvSpPr>
          <p:cNvPr id="169" name="椭圆 168"/>
          <p:cNvSpPr>
            <a:spLocks noGrp="1"/>
          </p:cNvSpPr>
          <p:nvPr/>
        </p:nvSpPr>
        <p:spPr>
          <a:xfrm>
            <a:off x="2017096" y="2987474"/>
            <a:ext cx="57150" cy="57150"/>
          </a:xfrm>
          <a:prstGeom prst="ellipse">
            <a:avLst/>
          </a:prstGeom>
          <a:solidFill>
            <a:srgbClr val="BFBFBF"/>
          </a:solidFill>
          <a:ln w="4763">
            <a:solidFill>
              <a:srgbClr val="7F7F7F"/>
            </a:solidFill>
            <a:prstDash val="solid"/>
          </a:ln>
        </p:spPr>
      </p:sp>
      <p:sp>
        <p:nvSpPr>
          <p:cNvPr id="3" name="椭圆 2"/>
          <p:cNvSpPr>
            <a:spLocks noGrp="1"/>
          </p:cNvSpPr>
          <p:nvPr/>
        </p:nvSpPr>
        <p:spPr>
          <a:xfrm>
            <a:off x="2194410" y="2987474"/>
            <a:ext cx="57150" cy="57150"/>
          </a:xfrm>
          <a:prstGeom prst="ellipse">
            <a:avLst/>
          </a:prstGeom>
          <a:solidFill>
            <a:srgbClr val="BFBFBF"/>
          </a:solidFill>
          <a:ln w="4763">
            <a:solidFill>
              <a:srgbClr val="7F7F7F"/>
            </a:solidFill>
            <a:prstDash val="solid"/>
          </a:ln>
        </p:spPr>
      </p:sp>
      <p:sp>
        <p:nvSpPr>
          <p:cNvPr id="171" name="椭圆 170"/>
          <p:cNvSpPr>
            <a:spLocks noGrp="1"/>
          </p:cNvSpPr>
          <p:nvPr/>
        </p:nvSpPr>
        <p:spPr>
          <a:xfrm>
            <a:off x="2371725" y="2987474"/>
            <a:ext cx="57150" cy="57150"/>
          </a:xfrm>
          <a:prstGeom prst="ellipse">
            <a:avLst/>
          </a:prstGeom>
          <a:solidFill>
            <a:srgbClr val="BFBFBF"/>
          </a:solidFill>
          <a:ln w="4763">
            <a:solidFill>
              <a:srgbClr val="7F7F7F"/>
            </a:solidFill>
            <a:prstDash val="solid"/>
          </a:ln>
        </p:spPr>
      </p:sp>
      <p:sp>
        <p:nvSpPr>
          <p:cNvPr id="172" name="椭圆 171"/>
          <p:cNvSpPr>
            <a:spLocks noGrp="1"/>
          </p:cNvSpPr>
          <p:nvPr/>
        </p:nvSpPr>
        <p:spPr>
          <a:xfrm>
            <a:off x="2549039" y="2987474"/>
            <a:ext cx="57150" cy="57150"/>
          </a:xfrm>
          <a:prstGeom prst="ellipse">
            <a:avLst/>
          </a:prstGeom>
          <a:solidFill>
            <a:srgbClr val="BFBFBF"/>
          </a:solidFill>
          <a:ln w="4763">
            <a:solidFill>
              <a:srgbClr val="7F7F7F"/>
            </a:solidFill>
            <a:prstDash val="solid"/>
          </a:ln>
        </p:spPr>
      </p:sp>
      <p:sp>
        <p:nvSpPr>
          <p:cNvPr id="173" name="椭圆 172"/>
          <p:cNvSpPr>
            <a:spLocks noGrp="1"/>
          </p:cNvSpPr>
          <p:nvPr/>
        </p:nvSpPr>
        <p:spPr>
          <a:xfrm>
            <a:off x="2726354" y="2987474"/>
            <a:ext cx="57150" cy="57150"/>
          </a:xfrm>
          <a:prstGeom prst="ellipse">
            <a:avLst/>
          </a:prstGeom>
          <a:solidFill>
            <a:srgbClr val="BFBFBF"/>
          </a:solidFill>
          <a:ln w="4763">
            <a:solidFill>
              <a:srgbClr val="7F7F7F"/>
            </a:solidFill>
            <a:prstDash val="solid"/>
          </a:ln>
        </p:spPr>
      </p:sp>
      <p:sp>
        <p:nvSpPr>
          <p:cNvPr id="174" name="椭圆 173"/>
          <p:cNvSpPr>
            <a:spLocks noGrp="1"/>
          </p:cNvSpPr>
          <p:nvPr/>
        </p:nvSpPr>
        <p:spPr>
          <a:xfrm>
            <a:off x="2903668" y="2987474"/>
            <a:ext cx="57150" cy="57150"/>
          </a:xfrm>
          <a:prstGeom prst="ellipse">
            <a:avLst/>
          </a:prstGeom>
          <a:solidFill>
            <a:srgbClr val="BFBFBF"/>
          </a:solidFill>
          <a:ln w="4763">
            <a:solidFill>
              <a:srgbClr val="7F7F7F"/>
            </a:solidFill>
            <a:prstDash val="solid"/>
          </a:ln>
        </p:spPr>
      </p:sp>
      <p:sp>
        <p:nvSpPr>
          <p:cNvPr id="175" name="矩形 174"/>
          <p:cNvSpPr>
            <a:spLocks noGrp="1"/>
          </p:cNvSpPr>
          <p:nvPr/>
        </p:nvSpPr>
        <p:spPr>
          <a:xfrm>
            <a:off x="1944556" y="2082599"/>
            <a:ext cx="911487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" tIns="0" rIns="9525" bIns="0" anchor="ctr"/>
          <a:lstStyle/>
          <a:p>
            <a:pPr algn="ctr">
              <a:defRPr sz="64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stacked DRAM</a:t>
            </a:r>
            <a:endParaRPr sz="640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6" name="矩形 175"/>
          <p:cNvSpPr>
            <a:spLocks noGrp="1"/>
          </p:cNvSpPr>
          <p:nvPr/>
        </p:nvSpPr>
        <p:spPr>
          <a:xfrm>
            <a:off x="2894143" y="2330249"/>
            <a:ext cx="247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" tIns="0" rIns="9525" bIns="0" anchor="ctr"/>
          <a:lstStyle/>
          <a:p>
            <a:pPr algn="ctr">
              <a:defRPr sz="640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640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TSV</a:t>
            </a:r>
            <a:endParaRPr sz="640" b="1">
              <a:solidFill>
                <a:srgbClr val="005B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7" name="矩形 176"/>
          <p:cNvSpPr>
            <a:spLocks noGrp="1"/>
          </p:cNvSpPr>
          <p:nvPr/>
        </p:nvSpPr>
        <p:spPr>
          <a:xfrm>
            <a:off x="1868356" y="3082724"/>
            <a:ext cx="1063887" cy="95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9525" tIns="0" rIns="9525" bIns="0" anchor="ctr"/>
          <a:lstStyle/>
          <a:p>
            <a:pPr algn="ctr">
              <a:defRPr sz="565" b="0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565" b="0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logic / substrate</a:t>
            </a:r>
            <a:endParaRPr sz="565" b="0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>
            <a:spLocks noGrp="1"/>
          </p:cNvSpPr>
          <p:nvPr/>
        </p:nvSpPr>
        <p:spPr>
          <a:xfrm>
            <a:off x="8660130" y="180340"/>
            <a:ext cx="2710180" cy="645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 algn="r">
              <a:buNone/>
            </a:pPr>
            <a:r>
              <a:rPr sz="3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进度管理</a:t>
            </a:r>
            <a:endParaRPr sz="3600" b="1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直接连接符 4"/>
          <p:cNvSpPr>
            <a:spLocks noGrp="1"/>
          </p:cNvSpPr>
          <p:nvPr/>
        </p:nvSpPr>
        <p:spPr>
          <a:xfrm>
            <a:off x="8521701" y="914399"/>
            <a:ext cx="3115242" cy="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51" name="矩形 50"/>
          <p:cNvSpPr>
            <a:spLocks noGrp="1"/>
          </p:cNvSpPr>
          <p:nvPr/>
        </p:nvSpPr>
        <p:spPr>
          <a:xfrm>
            <a:off x="720000" y="1080000"/>
            <a:ext cx="94297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marL="0" indent="0" algn="l">
              <a:buNone/>
              <a:defRPr sz="232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KGD 到量产爬坡，进度控制层层前移</a:t>
            </a:r>
            <a:endParaRPr sz="2325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矩形 54"/>
          <p:cNvSpPr>
            <a:spLocks noGrp="1"/>
          </p:cNvSpPr>
          <p:nvPr/>
        </p:nvSpPr>
        <p:spPr>
          <a:xfrm>
            <a:off x="720090" y="1559560"/>
            <a:ext cx="1524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/>
          </a:bodyPr>
          <a:lstStyle/>
          <a:p>
            <a:pPr marL="0" indent="0" algn="l">
              <a:buNone/>
              <a:defRPr sz="15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交付时间线</a:t>
            </a:r>
            <a:endParaRPr sz="1500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矩形 57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143000" y="1809750"/>
            <a:ext cx="4476750" cy="685800"/>
          </a:xfrm>
          <a:prstGeom prst="rect">
            <a:avLst/>
          </a:prstGeom>
          <a:solidFill>
            <a:srgbClr val="FFF8F3"/>
          </a:solidFill>
          <a:ln w="9525">
            <a:solidFill>
              <a:srgbClr val="F3D4BF"/>
            </a:solidFill>
            <a:prstDash val="solid"/>
          </a:ln>
        </p:spPr>
      </p:sp>
      <p:sp>
        <p:nvSpPr>
          <p:cNvPr id="59" name="矩形 5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1143000" y="2609850"/>
            <a:ext cx="4476750" cy="685800"/>
          </a:xfrm>
          <a:prstGeom prst="rect">
            <a:avLst/>
          </a:prstGeom>
          <a:solidFill>
            <a:srgbClr val="FFF2F2"/>
          </a:solidFill>
          <a:ln w="9525">
            <a:solidFill>
              <a:srgbClr val="EFC7C7"/>
            </a:solidFill>
            <a:prstDash val="solid"/>
          </a:ln>
        </p:spPr>
      </p:sp>
      <p:sp>
        <p:nvSpPr>
          <p:cNvPr id="60" name="矩形 59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143000" y="3409950"/>
            <a:ext cx="4476750" cy="685800"/>
          </a:xfrm>
          <a:prstGeom prst="rect">
            <a:avLst/>
          </a:prstGeom>
          <a:solidFill>
            <a:srgbClr val="F5F7FB"/>
          </a:solidFill>
          <a:ln w="9525">
            <a:solidFill>
              <a:srgbClr val="D9E1EC"/>
            </a:solidFill>
            <a:prstDash val="solid"/>
          </a:ln>
        </p:spPr>
      </p:sp>
      <p:sp>
        <p:nvSpPr>
          <p:cNvPr id="61" name="矩形 60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143000" y="4210050"/>
            <a:ext cx="4476750" cy="685800"/>
          </a:xfrm>
          <a:prstGeom prst="rect">
            <a:avLst/>
          </a:prstGeom>
          <a:solidFill>
            <a:srgbClr val="F1F8F5"/>
          </a:solidFill>
          <a:ln w="9525">
            <a:solidFill>
              <a:srgbClr val="C7DFD4"/>
            </a:solidFill>
            <a:prstDash val="solid"/>
          </a:ln>
        </p:spPr>
      </p:sp>
      <p:sp>
        <p:nvSpPr>
          <p:cNvPr id="62" name="矩形 61" hidden="1"/>
          <p:cNvSpPr>
            <a:spLocks noGrp="1"/>
          </p:cNvSpPr>
          <p:nvPr/>
        </p:nvSpPr>
        <p:spPr>
          <a:xfrm>
            <a:off x="1257300" y="3429000"/>
            <a:ext cx="3905250" cy="19050"/>
          </a:xfrm>
          <a:prstGeom prst="rect">
            <a:avLst/>
          </a:prstGeom>
          <a:solidFill>
            <a:srgbClr val="4454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矩形 62" hidden="1"/>
          <p:cNvSpPr>
            <a:spLocks noGrp="1"/>
          </p:cNvSpPr>
          <p:nvPr/>
        </p:nvSpPr>
        <p:spPr>
          <a:xfrm>
            <a:off x="3209925" y="2152650"/>
            <a:ext cx="19050" cy="2552700"/>
          </a:xfrm>
          <a:prstGeom prst="rect">
            <a:avLst/>
          </a:prstGeom>
          <a:solidFill>
            <a:srgbClr val="44546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矩形 6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1314450" y="2038350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marL="0" indent="0" algn="ctr">
              <a:buNone/>
              <a:defRPr sz="1015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备料</a:t>
            </a:r>
            <a:endParaRPr sz="14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" name="矩形 6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14450" y="2864485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marL="0" indent="0" algn="ctr">
              <a:buNone/>
              <a:defRPr sz="1015" b="1">
                <a:solidFill>
                  <a:srgbClr val="B8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B8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集成</a:t>
            </a:r>
            <a:endParaRPr sz="1400" b="1">
              <a:solidFill>
                <a:srgbClr val="B8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" name="矩形 6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314450" y="3648075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marL="0" indent="0" algn="ctr">
              <a:buNone/>
              <a:defRPr sz="1015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测试</a:t>
            </a:r>
            <a:endParaRPr sz="1400" b="1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" name="矩形 66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314450" y="4431665"/>
            <a:ext cx="876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marL="0" indent="0" algn="ctr">
              <a:buNone/>
              <a:defRPr sz="1015" b="1">
                <a:solidFill>
                  <a:srgbClr val="4F8F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4F8F5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爬坡</a:t>
            </a:r>
            <a:endParaRPr sz="1400" b="1">
              <a:solidFill>
                <a:srgbClr val="4F8F5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矩形 73" hidden="1"/>
          <p:cNvSpPr>
            <a:spLocks noGrp="1"/>
          </p:cNvSpPr>
          <p:nvPr/>
        </p:nvSpPr>
        <p:spPr>
          <a:xfrm>
            <a:off x="1695450" y="2809875"/>
            <a:ext cx="120015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44546A"/>
            </a:solidFill>
            <a:prstDash val="solid"/>
          </a:ln>
        </p:spPr>
        <p:txBody>
          <a:bodyPr/>
          <a:lstStyle/>
          <a:p/>
        </p:txBody>
      </p:sp>
      <p:sp>
        <p:nvSpPr>
          <p:cNvPr id="75" name="矩形 7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2343150" y="1876425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marL="0" indent="0" algn="ctr">
              <a:buNone/>
              <a:defRPr sz="84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KGD筛选</a:t>
            </a:r>
            <a:endParaRPr sz="1600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6" name="矩形 75" hidden="1"/>
          <p:cNvSpPr>
            <a:spLocks noGrp="1"/>
          </p:cNvSpPr>
          <p:nvPr/>
        </p:nvSpPr>
        <p:spPr>
          <a:xfrm>
            <a:off x="3657600" y="2505075"/>
            <a:ext cx="120015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005BAC"/>
            </a:solidFill>
            <a:prstDash val="solid"/>
          </a:ln>
        </p:spPr>
      </p:sp>
      <p:sp>
        <p:nvSpPr>
          <p:cNvPr id="77" name="矩形 76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2343150" y="2676525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marL="0" indent="0" algn="ctr">
              <a:buNone/>
              <a:defRPr sz="84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产能锁定</a:t>
            </a:r>
            <a:endParaRPr sz="1600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8" name="矩形 77" hidden="1"/>
          <p:cNvSpPr>
            <a:spLocks noGrp="1"/>
          </p:cNvSpPr>
          <p:nvPr/>
        </p:nvSpPr>
        <p:spPr>
          <a:xfrm>
            <a:off x="3648075" y="2809875"/>
            <a:ext cx="120015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B83232"/>
            </a:solidFill>
            <a:prstDash val="solid"/>
          </a:ln>
        </p:spPr>
      </p:sp>
      <p:sp>
        <p:nvSpPr>
          <p:cNvPr id="79" name="矩形 78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2343150" y="3476625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marL="0" indent="0" algn="ctr">
              <a:buNone/>
              <a:defRPr sz="84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2.5D集成</a:t>
            </a:r>
            <a:endParaRPr sz="1600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0" name="矩形 79" hidden="1"/>
          <p:cNvSpPr>
            <a:spLocks noGrp="1"/>
          </p:cNvSpPr>
          <p:nvPr/>
        </p:nvSpPr>
        <p:spPr>
          <a:xfrm>
            <a:off x="3657600" y="3143250"/>
            <a:ext cx="120015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ED7D31"/>
            </a:solidFill>
            <a:prstDash val="solid"/>
          </a:ln>
        </p:spPr>
        <p:txBody>
          <a:bodyPr/>
          <a:lstStyle/>
          <a:p/>
        </p:txBody>
      </p:sp>
      <p:sp>
        <p:nvSpPr>
          <p:cNvPr id="81" name="矩形 80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343150" y="4276725"/>
            <a:ext cx="2952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Autofit/>
          </a:bodyPr>
          <a:lstStyle/>
          <a:p>
            <a:pPr marL="0" indent="0" algn="ctr">
              <a:buNone/>
              <a:defRPr sz="84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量产验证</a:t>
            </a:r>
            <a:endParaRPr sz="1600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2" name="矩形 81" hidden="1"/>
          <p:cNvSpPr>
            <a:spLocks noGrp="1"/>
          </p:cNvSpPr>
          <p:nvPr/>
        </p:nvSpPr>
        <p:spPr>
          <a:xfrm>
            <a:off x="3657600" y="3843020"/>
            <a:ext cx="120015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4F8F5B"/>
            </a:solidFill>
            <a:prstDash val="solid"/>
          </a:ln>
        </p:spPr>
      </p:sp>
      <p:sp>
        <p:nvSpPr>
          <p:cNvPr id="83" name="矩形 82" hidden="1"/>
          <p:cNvSpPr>
            <a:spLocks noGrp="1"/>
          </p:cNvSpPr>
          <p:nvPr/>
        </p:nvSpPr>
        <p:spPr>
          <a:xfrm>
            <a:off x="3714750" y="3909695"/>
            <a:ext cx="1085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sp>
        <p:nvSpPr>
          <p:cNvPr id="84" name="矩形 83" hidden="1"/>
          <p:cNvSpPr>
            <a:spLocks noGrp="1"/>
          </p:cNvSpPr>
          <p:nvPr/>
        </p:nvSpPr>
        <p:spPr>
          <a:xfrm>
            <a:off x="3657600" y="4219575"/>
            <a:ext cx="120015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85" name="矩形 84" hidden="1"/>
          <p:cNvSpPr>
            <a:spLocks noGrp="1"/>
          </p:cNvSpPr>
          <p:nvPr/>
        </p:nvSpPr>
        <p:spPr>
          <a:xfrm>
            <a:off x="3714750" y="4286250"/>
            <a:ext cx="1085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sp>
        <p:nvSpPr>
          <p:cNvPr id="86" name="矩形 85" hidden="1"/>
          <p:cNvSpPr>
            <a:spLocks noGrp="1"/>
          </p:cNvSpPr>
          <p:nvPr/>
        </p:nvSpPr>
        <p:spPr>
          <a:xfrm>
            <a:off x="1695450" y="4019550"/>
            <a:ext cx="1200150" cy="247650"/>
          </a:xfrm>
          <a:prstGeom prst="rect">
            <a:avLst/>
          </a:prstGeom>
          <a:solidFill>
            <a:srgbClr val="FFFFFF"/>
          </a:solidFill>
          <a:ln w="9525">
            <a:solidFill>
              <a:srgbClr val="44546A"/>
            </a:solidFill>
            <a:prstDash val="solid"/>
          </a:ln>
        </p:spPr>
      </p:sp>
      <p:sp>
        <p:nvSpPr>
          <p:cNvPr id="2" name="矩形 1" hidden="1"/>
          <p:cNvSpPr>
            <a:spLocks noGrp="1"/>
          </p:cNvSpPr>
          <p:nvPr/>
        </p:nvSpPr>
        <p:spPr>
          <a:xfrm>
            <a:off x="1752600" y="4086225"/>
            <a:ext cx="1085850" cy="114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143000" y="5095875"/>
            <a:ext cx="4476750" cy="7239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9525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143000" y="5095875"/>
            <a:ext cx="76200" cy="723900"/>
          </a:xfrm>
          <a:prstGeom prst="rect">
            <a:avLst/>
          </a:prstGeom>
          <a:solidFill>
            <a:schemeClr val="accent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/>
        </p:txBody>
      </p:sp>
      <p:sp>
        <p:nvSpPr>
          <p:cNvPr id="7" name="矩形 6" hidden="1"/>
          <p:cNvSpPr>
            <a:spLocks noGrp="1"/>
          </p:cNvSpPr>
          <p:nvPr/>
        </p:nvSpPr>
        <p:spPr>
          <a:xfrm>
            <a:off x="1504950" y="5480685"/>
            <a:ext cx="8191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4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314450" y="5124450"/>
            <a:ext cx="4229735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>
            <a:noAutofit/>
          </a:bodyPr>
          <a:lstStyle/>
          <a:p>
            <a:pPr marL="0" indent="0" algn="l">
              <a:lnSpc>
                <a:spcPct val="200000"/>
              </a:lnSpc>
              <a:buNone/>
              <a:defRPr sz="990" b="0">
                <a:solidFill>
                  <a:srgbClr val="34405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>
                <a:solidFill>
                  <a:srgbClr val="4472C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规律：能并行的前移并行，不能赌的留出缓冲</a:t>
            </a:r>
            <a:endParaRPr sz="1600" b="1">
              <a:solidFill>
                <a:srgbClr val="4472C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6612890" y="1762125"/>
            <a:ext cx="245745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6622415" y="2886075"/>
            <a:ext cx="2438400" cy="276225"/>
          </a:xfrm>
          <a:prstGeom prst="rect">
            <a:avLst/>
          </a:prstGeom>
          <a:solidFill>
            <a:srgbClr val="F3F7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6698615" y="2952750"/>
            <a:ext cx="22860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278"/>
          </a:bodyPr>
          <a:lstStyle/>
          <a:p>
            <a:pPr marL="0" indent="0" algn="l">
              <a:buNone/>
              <a:defRPr sz="71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CoWoS：成熟路径控节拍</a:t>
            </a:r>
            <a:endParaRPr sz="900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9260840" y="1762125"/>
            <a:ext cx="245745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9270365" y="2886075"/>
            <a:ext cx="2438400" cy="276225"/>
          </a:xfrm>
          <a:prstGeom prst="rect">
            <a:avLst/>
          </a:prstGeom>
          <a:solidFill>
            <a:srgbClr val="F3F7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346565" y="2952750"/>
            <a:ext cx="22860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278"/>
          </a:bodyPr>
          <a:lstStyle/>
          <a:p>
            <a:pPr marL="0" indent="0" algn="l">
              <a:buNone/>
              <a:defRPr sz="71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HBM4：先锁供货窗口</a:t>
            </a:r>
            <a:endParaRPr sz="900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6612890" y="3381375"/>
            <a:ext cx="245745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622415" y="4505325"/>
            <a:ext cx="2438400" cy="276225"/>
          </a:xfrm>
          <a:prstGeom prst="rect">
            <a:avLst/>
          </a:prstGeom>
          <a:solidFill>
            <a:srgbClr val="F3F7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698615" y="4572000"/>
            <a:ext cx="22860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278"/>
          </a:bodyPr>
          <a:lstStyle/>
          <a:p>
            <a:pPr marL="0" indent="0" algn="l">
              <a:buNone/>
              <a:defRPr sz="71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筛选测试：质量门前移</a:t>
            </a:r>
            <a:endParaRPr sz="900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9260840" y="3381375"/>
            <a:ext cx="2457450" cy="14097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2EF"/>
            </a:solidFill>
            <a:prstDash val="solid"/>
          </a:ln>
        </p:spPr>
      </p:sp>
      <p:pic>
        <p:nvPicPr>
          <p:cNvPr id="102" name="图片 22"/>
          <p:cNvPicPr>
            <a:picLocks noChangeAspect="1"/>
          </p:cNvPicPr>
          <p:nvPr/>
        </p:nvPicPr>
        <p:blipFill>
          <a:blip r:embed="rId13"/>
          <a:srcRect t="6008" b="6008"/>
          <a:stretch>
            <a:fillRect/>
          </a:stretch>
        </p:blipFill>
        <p:spPr>
          <a:xfrm>
            <a:off x="9346565" y="3396615"/>
            <a:ext cx="2360295" cy="1078865"/>
          </a:xfrm>
          <a:prstGeom prst="rect">
            <a:avLst/>
          </a:prstGeom>
        </p:spPr>
      </p:pic>
      <p:sp>
        <p:nvSpPr>
          <p:cNvPr id="106" name="矩形 105"/>
          <p:cNvSpPr>
            <a:spLocks noGrp="1"/>
          </p:cNvSpPr>
          <p:nvPr/>
        </p:nvSpPr>
        <p:spPr>
          <a:xfrm>
            <a:off x="9270365" y="4505325"/>
            <a:ext cx="2438400" cy="276225"/>
          </a:xfrm>
          <a:prstGeom prst="rect">
            <a:avLst/>
          </a:prstGeom>
          <a:solidFill>
            <a:srgbClr val="F3F7F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7" name="矩形 106"/>
          <p:cNvSpPr>
            <a:spLocks noGrp="1"/>
          </p:cNvSpPr>
          <p:nvPr/>
        </p:nvSpPr>
        <p:spPr>
          <a:xfrm>
            <a:off x="9346565" y="4572000"/>
            <a:ext cx="228600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>
            <a:normAutofit fontScale="90278"/>
          </a:bodyPr>
          <a:lstStyle/>
          <a:p>
            <a:pPr marL="0" indent="0" algn="l">
              <a:buNone/>
              <a:defRPr sz="71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Rubin平台：交付目标牵引</a:t>
            </a:r>
            <a:endParaRPr sz="900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8" name="直接箭头连接符 23" hidden="1"/>
          <p:cNvCxnSpPr/>
          <p:nvPr/>
        </p:nvCxnSpPr>
        <p:spPr>
          <a:xfrm flipH="1" flipV="1">
            <a:off x="1252220" y="1981200"/>
            <a:ext cx="5080" cy="32524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9" name="直接箭头连接符 24" hidden="1"/>
          <p:cNvCxnSpPr/>
          <p:nvPr/>
        </p:nvCxnSpPr>
        <p:spPr>
          <a:xfrm flipV="1">
            <a:off x="989330" y="4705350"/>
            <a:ext cx="4444365" cy="19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2343150" y="2143125"/>
            <a:ext cx="3048000" cy="2381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sz="1200">
                <a:solidFill>
                  <a:srgbClr val="44546A"/>
                </a:solidFill>
              </a:rPr>
              <a:t>先筛已知良好裸片，避免后段整包报废</a:t>
            </a:r>
            <a:endParaRPr sz="1200">
              <a:solidFill>
                <a:srgbClr val="44546A"/>
              </a:solidFill>
            </a:endParaRPr>
          </a:p>
        </p:txBody>
      </p:sp>
      <p:sp>
        <p:nvSpPr>
          <p:cNvPr id="29" name="文本框 28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2343150" y="3743325"/>
            <a:ext cx="3201670" cy="23812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sz="1200">
                <a:solidFill>
                  <a:srgbClr val="44546A"/>
                </a:solidFill>
              </a:rPr>
              <a:t>多颗 HBM 与 GPU 同基板集成，排程强依赖</a:t>
            </a:r>
            <a:endParaRPr sz="1200">
              <a:solidFill>
                <a:srgbClr val="44546A"/>
              </a:solidFill>
            </a:endParaRPr>
          </a:p>
        </p:txBody>
      </p:sp>
      <p:sp>
        <p:nvSpPr>
          <p:cNvPr id="34" name="文本框 33"/>
          <p:cNvSpPr>
            <a:spLocks noGrp="1"/>
          </p:cNvSpPr>
          <p:nvPr/>
        </p:nvSpPr>
        <p:spPr>
          <a:xfrm>
            <a:off x="6524625" y="4953000"/>
            <a:ext cx="5286375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t>✓ 备料、基板、测试并行推进</a:t>
            </a:r>
          </a:p>
          <a:p>
            <a:r>
              <a:t>✓ CoWoS-L 作为本代交付主路径</a:t>
            </a:r>
          </a:p>
          <a:p>
            <a:r>
              <a:t>✓ 玻璃基板留作下一代技术储备</a:t>
            </a:r>
          </a:p>
        </p:txBody>
      </p:sp>
      <p:sp>
        <p:nvSpPr>
          <p:cNvPr id="37" name="文本框 36" hidden="1"/>
          <p:cNvSpPr>
            <a:spLocks noGrp="1"/>
          </p:cNvSpPr>
          <p:nvPr/>
        </p:nvSpPr>
        <p:spPr>
          <a:xfrm>
            <a:off x="5691505" y="2505075"/>
            <a:ext cx="459740" cy="1132840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/>
        </p:txBody>
      </p:sp>
      <p:sp>
        <p:nvSpPr>
          <p:cNvPr id="38" name="丁字箭头 37" hidden="1"/>
          <p:cNvSpPr>
            <a:spLocks noGrp="1"/>
          </p:cNvSpPr>
          <p:nvPr/>
        </p:nvSpPr>
        <p:spPr>
          <a:xfrm rot="5400000">
            <a:off x="4311015" y="3420110"/>
            <a:ext cx="1191260" cy="902970"/>
          </a:xfrm>
          <a:prstGeom prst="leftRightUpArrow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</a:p>
        </p:txBody>
      </p:sp>
      <p:sp>
        <p:nvSpPr>
          <p:cNvPr id="41" name="文本框 40" hidden="1"/>
          <p:cNvSpPr>
            <a:spLocks noGrp="1"/>
          </p:cNvSpPr>
          <p:nvPr/>
        </p:nvSpPr>
        <p:spPr>
          <a:xfrm>
            <a:off x="5296535" y="3419475"/>
            <a:ext cx="398145" cy="1231265"/>
          </a:xfrm>
          <a:prstGeom prst="rect">
            <a:avLst/>
          </a:prstGeom>
          <a:noFill/>
        </p:spPr>
        <p:txBody>
          <a:bodyPr vert="eaVert" wrap="square">
            <a:spAutoFit/>
          </a:bodyPr>
          <a:lstStyle/>
          <a:p/>
        </p:txBody>
      </p:sp>
      <p:sp>
        <p:nvSpPr>
          <p:cNvPr id="42" name="右大括号 41" hidden="1"/>
          <p:cNvSpPr>
            <a:spLocks noGrp="1"/>
          </p:cNvSpPr>
          <p:nvPr/>
        </p:nvSpPr>
        <p:spPr>
          <a:xfrm>
            <a:off x="4857750" y="2571750"/>
            <a:ext cx="234950" cy="737870"/>
          </a:xfrm>
          <a:prstGeom prst="rightBrace">
            <a:avLst>
              <a:gd name="adj1" fmla="val 8333"/>
              <a:gd name="adj2" fmla="val 50000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buNone/>
            </a:pPr>
          </a:p>
        </p:txBody>
      </p:sp>
      <p:cxnSp>
        <p:nvCxnSpPr>
          <p:cNvPr id="118" name="直接箭头连接符 42" hidden="1"/>
          <p:cNvCxnSpPr/>
          <p:nvPr/>
        </p:nvCxnSpPr>
        <p:spPr>
          <a:xfrm>
            <a:off x="5102860" y="2940685"/>
            <a:ext cx="591820" cy="82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2343150" y="2927985"/>
            <a:ext cx="3201670" cy="3835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sz="1200">
                <a:solidFill>
                  <a:srgbClr val="44546A"/>
                </a:solidFill>
              </a:rPr>
              <a:t>HBM4、CoWoS 与 ABF 载板先锁窗口</a:t>
            </a:r>
            <a:endParaRPr sz="1200">
              <a:solidFill>
                <a:srgbClr val="44546A"/>
              </a:solidFill>
            </a:endParaRPr>
          </a:p>
        </p:txBody>
      </p:sp>
      <p:pic>
        <p:nvPicPr>
          <p:cNvPr id="120" name="图片 119"/>
          <p:cNvPicPr>
            <a:picLocks noChangeAspect="1"/>
          </p:cNvPicPr>
          <p:nvPr/>
        </p:nvPicPr>
        <p:blipFill>
          <a:blip r:embed="rId17"/>
          <a:srcRect t="5980" b="5980"/>
          <a:stretch>
            <a:fillRect/>
          </a:stretch>
        </p:blipFill>
        <p:spPr>
          <a:xfrm>
            <a:off x="6849745" y="2015490"/>
            <a:ext cx="2055495" cy="769620"/>
          </a:xfrm>
          <a:prstGeom prst="rect">
            <a:avLst/>
          </a:prstGeom>
        </p:spPr>
      </p:pic>
      <p:pic>
        <p:nvPicPr>
          <p:cNvPr id="121" name="图片 120"/>
          <p:cNvPicPr>
            <a:picLocks noChangeAspect="1"/>
          </p:cNvPicPr>
          <p:nvPr/>
        </p:nvPicPr>
        <p:blipFill>
          <a:blip r:embed="rId18"/>
          <a:srcRect t="980" b="980"/>
          <a:stretch>
            <a:fillRect/>
          </a:stretch>
        </p:blipFill>
        <p:spPr>
          <a:xfrm>
            <a:off x="9542304" y="1771650"/>
            <a:ext cx="1894523" cy="1114425"/>
          </a:xfrm>
          <a:prstGeom prst="rect">
            <a:avLst/>
          </a:prstGeom>
        </p:spPr>
      </p:pic>
      <p:pic>
        <p:nvPicPr>
          <p:cNvPr id="122" name="图片 121"/>
          <p:cNvPicPr>
            <a:picLocks noChangeAspect="1"/>
          </p:cNvPicPr>
          <p:nvPr/>
        </p:nvPicPr>
        <p:blipFill>
          <a:blip r:embed="rId19"/>
          <a:srcRect l="28913" r="28913"/>
          <a:stretch>
            <a:fillRect/>
          </a:stretch>
        </p:blipFill>
        <p:spPr>
          <a:xfrm>
            <a:off x="6698615" y="3425825"/>
            <a:ext cx="2362200" cy="10795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362200" y="4540250"/>
            <a:ext cx="30289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buClrTx/>
              <a:buSzTx/>
              <a:buFontTx/>
            </a:pPr>
            <a:r>
              <a:rPr sz="1200">
                <a:solidFill>
                  <a:srgbClr val="44546A"/>
                </a:solidFill>
              </a:rPr>
              <a:t>可靠性测试通过后才进入稳定交付</a:t>
            </a:r>
            <a:endParaRPr sz="1200">
              <a:solidFill>
                <a:srgbClr val="44546A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477250" y="171450"/>
            <a:ext cx="2952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36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进度管理</a:t>
            </a:r>
            <a:endParaRPr sz="36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8524875" y="914400"/>
            <a:ext cx="3114675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002060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14375" y="1095375"/>
            <a:ext cx="9620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32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关键路径不是设计图，而是 HBM4 与 CoWoS 的产能窗口</a:t>
            </a:r>
            <a:endParaRPr sz="2325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14375" y="15621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关键路径泳道</a:t>
            </a:r>
            <a:endParaRPr sz="1500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1524000" y="1857375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M1</a:t>
            </a:r>
            <a:endParaRPr sz="975" b="1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直接连接符 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857375" y="2095500"/>
            <a:ext cx="0" cy="2857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EDF2F7"/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2762250" y="1857375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M2</a:t>
            </a:r>
            <a:endParaRPr sz="975" b="1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直接连接符 8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3095625" y="2095500"/>
            <a:ext cx="0" cy="2857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EDF2F7"/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000500" y="1857375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M3</a:t>
            </a:r>
            <a:endParaRPr sz="975" b="1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直接连接符 10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4333875" y="2095500"/>
            <a:ext cx="0" cy="2857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EDF2F7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238750" y="1857375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M4</a:t>
            </a:r>
            <a:endParaRPr sz="975" b="1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直接连接符 12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5572125" y="2095500"/>
            <a:ext cx="0" cy="2857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EDF2F7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477000" y="1857375"/>
            <a:ext cx="685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M5</a:t>
            </a:r>
            <a:endParaRPr sz="975" b="1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直接连接符 14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810375" y="2095500"/>
            <a:ext cx="0" cy="285750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EDF2F7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20000" y="2314575"/>
            <a:ext cx="1000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供应锁定</a:t>
            </a:r>
            <a:endParaRPr sz="1125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矩形 16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1524000" y="2238375"/>
            <a:ext cx="5905500" cy="495300"/>
          </a:xfrm>
          <a:prstGeom prst="rect">
            <a:avLst/>
          </a:prstGeom>
          <a:solidFill>
            <a:srgbClr val="F7FAFC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1524000" y="2333625"/>
            <a:ext cx="2157095" cy="304800"/>
          </a:xfrm>
          <a:prstGeom prst="rect">
            <a:avLst/>
          </a:prstGeom>
          <a:solidFill>
            <a:srgbClr val="FFF8F3"/>
          </a:solidFill>
          <a:ln w="9525">
            <a:solidFill>
              <a:srgbClr val="ED7D31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1638300" y="2390775"/>
            <a:ext cx="204343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HBM4 / ABF / CoWoS 产能先锁</a:t>
            </a:r>
            <a:endParaRPr sz="975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20000" y="3121025"/>
            <a:ext cx="1000125" cy="254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封装集成</a:t>
            </a:r>
            <a:endParaRPr sz="1125" b="1">
              <a:solidFill>
                <a:srgbClr val="005B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1524000" y="3000375"/>
            <a:ext cx="5905500" cy="495300"/>
          </a:xfrm>
          <a:prstGeom prst="rect">
            <a:avLst/>
          </a:prstGeom>
          <a:solidFill>
            <a:srgbClr val="F7FAFC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2" name="矩形 21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2824163" y="3095625"/>
            <a:ext cx="2290763" cy="304800"/>
          </a:xfrm>
          <a:prstGeom prst="rect">
            <a:avLst/>
          </a:prstGeom>
          <a:solidFill>
            <a:srgbClr val="EAF3FB"/>
          </a:solidFill>
          <a:ln w="9525">
            <a:solidFill>
              <a:srgbClr val="005BAC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2820670" y="3162300"/>
            <a:ext cx="229425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GPU + HBM + Interposer 排程耦合</a:t>
            </a:r>
            <a:endParaRPr sz="975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矩形 23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20000" y="3838575"/>
            <a:ext cx="1000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70AD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70AD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可靠性测试</a:t>
            </a:r>
            <a:endParaRPr sz="1125" b="1">
              <a:solidFill>
                <a:srgbClr val="70AD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1524000" y="3762375"/>
            <a:ext cx="5905500" cy="495300"/>
          </a:xfrm>
          <a:prstGeom prst="rect">
            <a:avLst/>
          </a:prstGeom>
          <a:solidFill>
            <a:srgbClr val="F7FAFC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26" name="矩形 25"/>
          <p:cNvSpPr>
            <a:spLocks noGrp="1"/>
          </p:cNvSpPr>
          <p:nvPr>
            <p:custDataLst>
              <p:tags r:id="rId16"/>
            </p:custDataLst>
          </p:nvPr>
        </p:nvSpPr>
        <p:spPr>
          <a:xfrm>
            <a:off x="4619625" y="3857625"/>
            <a:ext cx="1547813" cy="304800"/>
          </a:xfrm>
          <a:prstGeom prst="rect">
            <a:avLst/>
          </a:prstGeom>
          <a:solidFill>
            <a:srgbClr val="F1F8F5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>
            <p:custDataLst>
              <p:tags r:id="rId17"/>
            </p:custDataLst>
          </p:nvPr>
        </p:nvSpPr>
        <p:spPr>
          <a:xfrm>
            <a:off x="4733925" y="3914775"/>
            <a:ext cx="135731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AOI、热循环、良率窗口</a:t>
            </a:r>
            <a:endParaRPr sz="975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720000" y="4600575"/>
            <a:ext cx="1000125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B8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B8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量产爬坡</a:t>
            </a:r>
            <a:endParaRPr sz="1125" b="1">
              <a:solidFill>
                <a:srgbClr val="B8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矩形 28"/>
          <p:cNvSpPr>
            <a:spLocks noGrp="1"/>
          </p:cNvSpPr>
          <p:nvPr>
            <p:custDataLst>
              <p:tags r:id="rId19"/>
            </p:custDataLst>
          </p:nvPr>
        </p:nvSpPr>
        <p:spPr>
          <a:xfrm>
            <a:off x="1524000" y="4524375"/>
            <a:ext cx="5905500" cy="495300"/>
          </a:xfrm>
          <a:prstGeom prst="rect">
            <a:avLst/>
          </a:prstGeom>
          <a:solidFill>
            <a:srgbClr val="F7FAFC"/>
          </a:solidFill>
          <a:ln w="9525">
            <a:solidFill>
              <a:srgbClr val="E1E8F0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>
            <p:custDataLst>
              <p:tags r:id="rId20"/>
            </p:custDataLst>
          </p:nvPr>
        </p:nvSpPr>
        <p:spPr>
          <a:xfrm>
            <a:off x="5672138" y="4619625"/>
            <a:ext cx="1547813" cy="304800"/>
          </a:xfrm>
          <a:prstGeom prst="rect">
            <a:avLst/>
          </a:prstGeom>
          <a:solidFill>
            <a:srgbClr val="FFF2F2"/>
          </a:solidFill>
          <a:ln w="9525">
            <a:solidFill>
              <a:srgbClr val="B83232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>
            <p:custDataLst>
              <p:tags r:id="rId21"/>
            </p:custDataLst>
          </p:nvPr>
        </p:nvSpPr>
        <p:spPr>
          <a:xfrm>
            <a:off x="5786438" y="4676775"/>
            <a:ext cx="1357313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7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7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通过质量门后释放交付</a:t>
            </a:r>
            <a:endParaRPr sz="975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22"/>
          <a:srcRect l="22958" t="25294" r="22572" b="27569"/>
          <a:stretch>
            <a:fillRect/>
          </a:stretch>
        </p:blipFill>
        <p:spPr>
          <a:xfrm>
            <a:off x="8505825" y="1847215"/>
            <a:ext cx="2739390" cy="155765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23"/>
          <a:srcRect t="16452" b="16452"/>
          <a:stretch>
            <a:fillRect/>
          </a:stretch>
        </p:blipFill>
        <p:spPr>
          <a:xfrm>
            <a:off x="8048625" y="3543300"/>
            <a:ext cx="1476375" cy="990600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715500" y="3782741"/>
            <a:ext cx="1476375" cy="511718"/>
          </a:xfrm>
          <a:prstGeom prst="rect">
            <a:avLst/>
          </a:prstGeom>
        </p:spPr>
      </p:pic>
      <p:sp>
        <p:nvSpPr>
          <p:cNvPr id="35" name="矩形 34"/>
          <p:cNvSpPr>
            <a:spLocks noGrp="1"/>
          </p:cNvSpPr>
          <p:nvPr/>
        </p:nvSpPr>
        <p:spPr>
          <a:xfrm>
            <a:off x="8048625" y="4743450"/>
            <a:ext cx="3872865" cy="1484630"/>
          </a:xfrm>
          <a:prstGeom prst="rect">
            <a:avLst/>
          </a:prstGeom>
          <a:solidFill>
            <a:srgbClr val="EAF3FB"/>
          </a:solidFill>
          <a:ln w="9525">
            <a:solidFill>
              <a:srgbClr val="D8E2EF"/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146415" y="4886325"/>
            <a:ext cx="9144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00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进度策略</a:t>
            </a:r>
            <a:endParaRPr sz="1400" b="1">
              <a:solidFill>
                <a:srgbClr val="005B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060815" y="4695825"/>
            <a:ext cx="3066415" cy="148526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marL="171450" indent="-171450" algn="l">
              <a:lnSpc>
                <a:spcPct val="200000"/>
              </a:lnSpc>
              <a:buFont typeface="Wingdings" panose="05000000000000000000" charset="0"/>
              <a:buChar char="ü"/>
              <a:defRPr sz="975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把能并行的任务前移</a:t>
            </a:r>
            <a:endParaRPr sz="160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lnSpc>
                <a:spcPct val="200000"/>
              </a:lnSpc>
              <a:buFont typeface="Wingdings" panose="05000000000000000000" charset="0"/>
              <a:buChar char="ü"/>
              <a:defRPr sz="975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不能赌的节点留缓冲</a:t>
            </a:r>
            <a:endParaRPr sz="160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0" indent="-171450" algn="l">
              <a:lnSpc>
                <a:spcPct val="200000"/>
              </a:lnSpc>
              <a:buFont typeface="Wingdings" panose="05000000000000000000" charset="0"/>
              <a:buChar char="ü"/>
              <a:defRPr sz="975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玻璃基板不压进本代关键路径</a:t>
            </a:r>
            <a:endParaRPr sz="160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pter-label"/>
          <p:cNvSpPr>
            <a:spLocks noGrp="1"/>
          </p:cNvSpPr>
          <p:nvPr/>
        </p:nvSpPr>
        <p:spPr>
          <a:xfrm>
            <a:off x="9172575" y="266700"/>
            <a:ext cx="23336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2925" b="1">
                <a:solidFill>
                  <a:srgbClr val="5656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5656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质量管理</a:t>
            </a:r>
            <a:endParaRPr sz="3600" b="1">
              <a:solidFill>
                <a:srgbClr val="5656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chapter-rule"/>
          <p:cNvSpPr>
            <a:spLocks noGrp="1"/>
          </p:cNvSpPr>
          <p:nvPr/>
        </p:nvSpPr>
        <p:spPr>
          <a:xfrm>
            <a:off x="8524875" y="914400"/>
            <a:ext cx="3124200" cy="19050"/>
          </a:xfrm>
          <a:prstGeom prst="rect">
            <a:avLst/>
          </a:prstGeom>
          <a:solidFill>
            <a:srgbClr val="0D2B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704850" y="1066800"/>
            <a:ext cx="10572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75" b="1">
                <a:solidFill>
                  <a:srgbClr val="0D2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D2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先进封装的质量核心是</a:t>
            </a:r>
            <a:r>
              <a:rPr sz="2175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良率</a:t>
            </a:r>
            <a:r>
              <a:rPr sz="2175" b="1">
                <a:solidFill>
                  <a:srgbClr val="0D2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，而最难的是“复合良率”</a:t>
            </a:r>
            <a:endParaRPr sz="2175" b="1">
              <a:solidFill>
                <a:srgbClr val="0D2B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image-panel"/>
          <p:cNvSpPr>
            <a:spLocks noGrp="1"/>
          </p:cNvSpPr>
          <p:nvPr/>
        </p:nvSpPr>
        <p:spPr>
          <a:xfrm>
            <a:off x="704850" y="1609725"/>
            <a:ext cx="5219700" cy="2876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C9DCEB"/>
            </a:solidFill>
            <a:prstDash val="solid"/>
          </a:ln>
        </p:spPr>
      </p:sp>
      <p:sp>
        <p:nvSpPr>
          <p:cNvPr id="5" name="panel-accent"/>
          <p:cNvSpPr>
            <a:spLocks noGrp="1"/>
          </p:cNvSpPr>
          <p:nvPr/>
        </p:nvSpPr>
        <p:spPr>
          <a:xfrm>
            <a:off x="704850" y="1609725"/>
            <a:ext cx="5219700" cy="47625"/>
          </a:xfrm>
          <a:prstGeom prst="rect">
            <a:avLst/>
          </a:prstGeom>
          <a:solidFill>
            <a:srgbClr val="0068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121" y="1724025"/>
            <a:ext cx="5013158" cy="2667000"/>
          </a:xfrm>
          <a:prstGeom prst="rect">
            <a:avLst/>
          </a:prstGeom>
        </p:spPr>
      </p:pic>
      <p:sp>
        <p:nvSpPr>
          <p:cNvPr id="8" name="image-panel"/>
          <p:cNvSpPr>
            <a:spLocks noGrp="1"/>
          </p:cNvSpPr>
          <p:nvPr/>
        </p:nvSpPr>
        <p:spPr>
          <a:xfrm>
            <a:off x="6286500" y="1609725"/>
            <a:ext cx="5219700" cy="28765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C9DCEB"/>
            </a:solidFill>
            <a:prstDash val="solid"/>
          </a:ln>
        </p:spPr>
      </p:sp>
      <p:sp>
        <p:nvSpPr>
          <p:cNvPr id="9" name="panel-accent"/>
          <p:cNvSpPr>
            <a:spLocks noGrp="1"/>
          </p:cNvSpPr>
          <p:nvPr/>
        </p:nvSpPr>
        <p:spPr>
          <a:xfrm>
            <a:off x="6286500" y="1609725"/>
            <a:ext cx="5219700" cy="47625"/>
          </a:xfrm>
          <a:prstGeom prst="rect">
            <a:avLst/>
          </a:prstGeom>
          <a:solidFill>
            <a:srgbClr val="159CA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图片 9"/>
          <p:cNvPicPr>
            <a:picLocks noChangeAspect="1"/>
          </p:cNvPicPr>
          <p:nvPr/>
        </p:nvPicPr>
        <p:blipFill>
          <a:blip r:embed="rId2"/>
          <a:srcRect t="5000"/>
          <a:stretch>
            <a:fillRect/>
          </a:stretch>
        </p:blipFill>
        <p:spPr>
          <a:xfrm>
            <a:off x="6584621" y="1714500"/>
            <a:ext cx="4510099" cy="2699306"/>
          </a:xfrm>
          <a:prstGeom prst="rect">
            <a:avLst/>
          </a:prstGeom>
        </p:spPr>
      </p:pic>
      <p:sp>
        <p:nvSpPr>
          <p:cNvPr id="6" name="slide01-bullet-rule"/>
          <p:cNvSpPr>
            <a:spLocks noGrp="1"/>
          </p:cNvSpPr>
          <p:nvPr/>
        </p:nvSpPr>
        <p:spPr>
          <a:xfrm>
            <a:off x="704850" y="4667250"/>
            <a:ext cx="10801350" cy="19050"/>
          </a:xfrm>
          <a:prstGeom prst="rect">
            <a:avLst/>
          </a:prstGeom>
          <a:solidFill>
            <a:srgbClr val="DDEA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bullet-2-marker"/>
          <p:cNvSpPr>
            <a:spLocks noGrp="1"/>
          </p:cNvSpPr>
          <p:nvPr/>
        </p:nvSpPr>
        <p:spPr>
          <a:xfrm>
            <a:off x="736566" y="4950619"/>
            <a:ext cx="216000" cy="216000"/>
          </a:xfrm>
          <a:prstGeom prst="rect">
            <a:avLst/>
          </a:prstGeom>
          <a:solidFill>
            <a:srgbClr val="007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bullet-2-text"/>
          <p:cNvSpPr>
            <a:spLocks noGrp="1"/>
          </p:cNvSpPr>
          <p:nvPr/>
        </p:nvSpPr>
        <p:spPr>
          <a:xfrm>
            <a:off x="1093871" y="4950619"/>
            <a:ext cx="4439373" cy="585787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lnSpc>
                <a:spcPct val="150000"/>
              </a:lnSpc>
              <a:buNone/>
              <a:defRPr sz="100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Chiplet 把坏点限制在小 die：</a:t>
            </a:r>
            <a:endParaRPr sz="2000" b="0">
              <a:solidFill>
                <a:srgbClr val="2436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None/>
              <a:defRPr sz="100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97.3% vs 单片 66.7%，成本风险更低</a:t>
            </a:r>
            <a:endParaRPr sz="2000" b="0">
              <a:solidFill>
                <a:srgbClr val="2436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bullet-3-text"/>
              <p:cNvSpPr>
                <a:spLocks noGrp="1"/>
              </p:cNvSpPr>
              <p:nvPr/>
            </p:nvSpPr>
            <p:spPr>
              <a:xfrm>
                <a:off x="6090781" y="4686300"/>
                <a:ext cx="5762624" cy="10668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 lIns="0" tIns="0" rIns="0" bIns="0" anchor="ctr"/>
              <a:lstStyle/>
              <a:p>
                <a:pPr lvl="1">
                  <a:lnSpc>
                    <a:spcPct val="150000"/>
                  </a:lnSpc>
                  <a:defRPr sz="1000" b="0">
                    <a:solidFill>
                      <a:srgbClr val="24364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  <a:r>
                  <a:rPr sz="2000">
                    <a:solidFill>
                      <a:srgbClr val="24364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但是，</a:t>
                </a:r>
                <a:r>
                  <a:rPr sz="2000" b="0">
                    <a:solidFill>
                      <a:srgbClr val="24364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多颗集成后：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24364B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Cambria Math" panose="02040503050406030204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24364B"/>
                            </a:solidFill>
                            <a:latin typeface="Cambria Math" panose="02040503050406030204"/>
                            <a:ea typeface="Cambria Math" panose="02040503050406030204"/>
                            <a:cs typeface="Cambria Math" panose="02040503050406030204"/>
                          </a:rPr>
                          <m:t>𝑌</m:t>
                        </m:r>
                      </m:e>
                      <m:sub>
                        <m:r>
                          <a:rPr lang="en-US" sz="2000" i="0">
                            <a:solidFill>
                              <a:srgbClr val="24364B"/>
                            </a:solidFill>
                            <a:latin typeface="Cambria Math" panose="02040503050406030204"/>
                            <a:ea typeface="Cambria Math" panose="02040503050406030204"/>
                            <a:cs typeface="Cambria Math" panose="02040503050406030204"/>
                          </a:rPr>
                          <m:t>𝑚𝑜𝑑𝑢𝑙𝑒</m:t>
                        </m:r>
                      </m:sub>
                    </m:sSub>
                    <m:r>
                      <a:rPr lang="en-US" sz="2000" i="1">
                        <a:solidFill>
                          <a:srgbClr val="24364B"/>
                        </a:solidFill>
                        <a:latin typeface="Cambria Math" panose="02040503050406030204"/>
                        <a:ea typeface="Cambria Math" panose="02040503050406030204"/>
                        <a:cs typeface="Cambria Math" panose="02040503050406030204"/>
                      </a:rPr>
                      <m:t>≈</m:t>
                    </m:r>
                    <m:sSup>
                      <m:sSupPr>
                        <m:ctrlPr>
                          <a:rPr lang="en-US" sz="2000" i="1">
                            <a:solidFill>
                              <a:srgbClr val="24364B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Cambria Math" panose="02040503050406030204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solidFill>
                                  <a:srgbClr val="24364B"/>
                                </a:solidFill>
                                <a:latin typeface="Cambria Math" panose="02040503050406030204" pitchFamily="18" charset="0"/>
                                <a:ea typeface="Cambria Math" panose="02040503050406030204"/>
                                <a:cs typeface="Cambria Math" panose="02040503050406030204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000" i="1">
                                    <a:solidFill>
                                      <a:srgbClr val="24364B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/>
                                    <a:cs typeface="Cambria Math" panose="02040503050406030204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solidFill>
                                      <a:srgbClr val="24364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Cambria Math" panose="02040503050406030204"/>
                                  </a:rPr>
                                  <m:t>𝑌</m:t>
                                </m:r>
                              </m:e>
                              <m:sub>
                                <m:r>
                                  <a:rPr lang="en-US" sz="2000" i="0">
                                    <a:solidFill>
                                      <a:srgbClr val="24364B"/>
                                    </a:solidFill>
                                    <a:latin typeface="Cambria Math" panose="02040503050406030204"/>
                                    <a:ea typeface="Cambria Math" panose="02040503050406030204"/>
                                    <a:cs typeface="Cambria Math" panose="02040503050406030204"/>
                                  </a:rPr>
                                  <m:t>𝑑𝑖𝑒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sz="2000" i="1">
                            <a:solidFill>
                              <a:srgbClr val="24364B"/>
                            </a:solidFill>
                            <a:latin typeface="Cambria Math" panose="02040503050406030204"/>
                            <a:ea typeface="Cambria Math" panose="02040503050406030204"/>
                            <a:cs typeface="Cambria Math" panose="02040503050406030204"/>
                          </a:rPr>
                          <m:t>𝑁</m:t>
                        </m:r>
                        <m:r>
                          <a:rPr lang="en-US" sz="2000" b="0" i="1" smtClean="0">
                            <a:solidFill>
                              <a:srgbClr val="24364B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Cambria Math" panose="02040503050406030204"/>
                          </a:rPr>
                          <m:t>_</m:t>
                        </m:r>
                        <m:r>
                          <m:rPr>
                            <m:sty m:val="p"/>
                          </m:rPr>
                          <a:rPr lang="en-US" sz="2000" b="0" i="1" smtClean="0">
                            <a:solidFill>
                              <a:srgbClr val="24364B"/>
                            </a:solidFill>
                            <a:latin typeface="Cambria Math" panose="02040503050406030204" pitchFamily="18" charset="0"/>
                            <a:ea typeface="Cambria Math" panose="02040503050406030204"/>
                            <a:cs typeface="Cambria Math" panose="02040503050406030204"/>
                          </a:rPr>
                          <m:t>die</m:t>
                        </m:r>
                      </m:sup>
                    </m:sSup>
                  </m:oMath>
                </a14:m>
                <a:endParaRPr sz="2000" b="0">
                  <a:solidFill>
                    <a:srgbClr val="24364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  <a:p>
                <a:pPr lvl="1">
                  <a:lnSpc>
                    <a:spcPct val="150000"/>
                  </a:lnSpc>
                  <a:defRPr sz="1000" b="0">
                    <a:solidFill>
                      <a:srgbClr val="24364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defRPr>
                </a:pPr>
                <a:r>
                  <a:rPr sz="2000">
                    <a:solidFill>
                      <a:srgbClr val="24364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即使单颗良率在99%，</a:t>
                </a:r>
                <a:r>
                  <a:rPr lang="en-US" sz="2000">
                    <a:solidFill>
                      <a:srgbClr val="24364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Die</a:t>
                </a:r>
                <a:r>
                  <a:rPr lang="zh-CN" altLang="en-US" sz="2000">
                    <a:solidFill>
                      <a:srgbClr val="24364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数高</a:t>
                </a:r>
                <a:r>
                  <a:rPr sz="2000" b="0">
                    <a:solidFill>
                      <a:srgbClr val="24364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时</a:t>
                </a:r>
                <a:r>
                  <a:rPr lang="zh-CN" altLang="en-US" sz="2000" b="0">
                    <a:solidFill>
                      <a:srgbClr val="24364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依旧</a:t>
                </a:r>
                <a:r>
                  <a:rPr sz="2000" b="0">
                    <a:solidFill>
                      <a:srgbClr val="24364B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断崖下跌</a:t>
                </a:r>
                <a:endParaRPr sz="2000" b="0">
                  <a:solidFill>
                    <a:srgbClr val="24364B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</mc:Choice>
        <mc:Fallback>
          <p:sp>
            <p:nvSpPr>
              <p:cNvPr id="18" name="bullet-3-tex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0781" y="4686300"/>
                <a:ext cx="5762624" cy="1066800"/>
              </a:xfrm>
              <a:prstGeom prst="rect">
                <a:avLst/>
              </a:prstGeom>
              <a:blipFill rotWithShape="1">
                <a:blip r:embed="rId3"/>
                <a:stretch>
                  <a:fillRect l="-86" t="-476" r="-80" b="-417"/>
                </a:stretch>
              </a:blip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bullet-2-marker"/>
          <p:cNvSpPr>
            <a:spLocks noGrp="1"/>
          </p:cNvSpPr>
          <p:nvPr/>
        </p:nvSpPr>
        <p:spPr>
          <a:xfrm>
            <a:off x="6178500" y="4931630"/>
            <a:ext cx="216000" cy="216000"/>
          </a:xfrm>
          <a:prstGeom prst="rect">
            <a:avLst/>
          </a:prstGeom>
          <a:solidFill>
            <a:srgbClr val="007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pter-label"/>
          <p:cNvSpPr>
            <a:spLocks noGrp="1"/>
          </p:cNvSpPr>
          <p:nvPr/>
        </p:nvSpPr>
        <p:spPr>
          <a:xfrm>
            <a:off x="9150350" y="247650"/>
            <a:ext cx="23336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2925" b="1">
                <a:solidFill>
                  <a:srgbClr val="5656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5656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质量管理</a:t>
            </a:r>
            <a:endParaRPr sz="3600" b="1">
              <a:solidFill>
                <a:srgbClr val="5656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chapter-rule"/>
          <p:cNvSpPr>
            <a:spLocks noGrp="1"/>
          </p:cNvSpPr>
          <p:nvPr/>
        </p:nvSpPr>
        <p:spPr>
          <a:xfrm>
            <a:off x="8524875" y="914400"/>
            <a:ext cx="3124200" cy="19050"/>
          </a:xfrm>
          <a:prstGeom prst="rect">
            <a:avLst/>
          </a:prstGeom>
          <a:solidFill>
            <a:srgbClr val="0D2B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1066800" y="1054502"/>
            <a:ext cx="10572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75" b="1">
                <a:solidFill>
                  <a:srgbClr val="0D2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KGD</a:t>
            </a:r>
            <a:r>
              <a:rPr sz="2175" b="1">
                <a:solidFill>
                  <a:srgbClr val="0D2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在集成之前先把坏 die 筛掉</a:t>
            </a:r>
            <a:endParaRPr sz="2175" b="1">
              <a:solidFill>
                <a:srgbClr val="0D2B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image-panel"/>
          <p:cNvSpPr>
            <a:spLocks noGrp="1"/>
          </p:cNvSpPr>
          <p:nvPr/>
        </p:nvSpPr>
        <p:spPr>
          <a:xfrm>
            <a:off x="1066800" y="1543050"/>
            <a:ext cx="10058400" cy="32194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C9DCEB"/>
            </a:solidFill>
            <a:prstDash val="solid"/>
          </a:ln>
        </p:spPr>
      </p:sp>
      <p:sp>
        <p:nvSpPr>
          <p:cNvPr id="5" name="panel-accent"/>
          <p:cNvSpPr>
            <a:spLocks noGrp="1"/>
          </p:cNvSpPr>
          <p:nvPr/>
        </p:nvSpPr>
        <p:spPr>
          <a:xfrm>
            <a:off x="1066800" y="1543050"/>
            <a:ext cx="10058400" cy="47625"/>
          </a:xfrm>
          <a:prstGeom prst="rect">
            <a:avLst/>
          </a:prstGeom>
          <a:solidFill>
            <a:srgbClr val="0068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0033" y="1657350"/>
            <a:ext cx="7431934" cy="3009900"/>
          </a:xfrm>
          <a:prstGeom prst="rect">
            <a:avLst/>
          </a:prstGeom>
        </p:spPr>
      </p:pic>
      <p:sp>
        <p:nvSpPr>
          <p:cNvPr id="8" name="slide02-bullet-rule"/>
          <p:cNvSpPr>
            <a:spLocks noGrp="1"/>
          </p:cNvSpPr>
          <p:nvPr/>
        </p:nvSpPr>
        <p:spPr>
          <a:xfrm>
            <a:off x="1066800" y="4905375"/>
            <a:ext cx="10058400" cy="19050"/>
          </a:xfrm>
          <a:prstGeom prst="rect">
            <a:avLst/>
          </a:prstGeom>
          <a:solidFill>
            <a:srgbClr val="DDEA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bullet-1-text"/>
          <p:cNvSpPr>
            <a:spLocks noGrp="1"/>
          </p:cNvSpPr>
          <p:nvPr/>
        </p:nvSpPr>
        <p:spPr>
          <a:xfrm>
            <a:off x="1504950" y="5105400"/>
            <a:ext cx="933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2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应对复合良率：质量前移，进集成的每颗都必须是 KGD</a:t>
            </a:r>
            <a:endParaRPr sz="2000" b="0">
              <a:solidFill>
                <a:srgbClr val="2436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bullet-3-text"/>
          <p:cNvSpPr>
            <a:spLocks noGrp="1"/>
          </p:cNvSpPr>
          <p:nvPr/>
        </p:nvSpPr>
        <p:spPr>
          <a:xfrm>
            <a:off x="1504950" y="5664150"/>
            <a:ext cx="933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2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集成前 KGD + 堆叠后 KGS</a:t>
            </a:r>
            <a:endParaRPr sz="2000" b="0">
              <a:solidFill>
                <a:srgbClr val="2436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bullet-2-marker"/>
          <p:cNvSpPr>
            <a:spLocks noGrp="1"/>
          </p:cNvSpPr>
          <p:nvPr/>
        </p:nvSpPr>
        <p:spPr>
          <a:xfrm>
            <a:off x="1136550" y="5159325"/>
            <a:ext cx="216000" cy="216000"/>
          </a:xfrm>
          <a:prstGeom prst="rect">
            <a:avLst/>
          </a:prstGeom>
          <a:solidFill>
            <a:srgbClr val="007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bullet-2-marker"/>
          <p:cNvSpPr>
            <a:spLocks noGrp="1"/>
          </p:cNvSpPr>
          <p:nvPr/>
        </p:nvSpPr>
        <p:spPr>
          <a:xfrm>
            <a:off x="1123287" y="5718075"/>
            <a:ext cx="216000" cy="216000"/>
          </a:xfrm>
          <a:prstGeom prst="rect">
            <a:avLst/>
          </a:prstGeom>
          <a:solidFill>
            <a:srgbClr val="007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hapter-label"/>
          <p:cNvSpPr>
            <a:spLocks noGrp="1"/>
          </p:cNvSpPr>
          <p:nvPr/>
        </p:nvSpPr>
        <p:spPr>
          <a:xfrm>
            <a:off x="9105900" y="254000"/>
            <a:ext cx="23336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2925" b="1">
                <a:solidFill>
                  <a:srgbClr val="5656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5656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质量管理</a:t>
            </a:r>
            <a:endParaRPr sz="3600" b="1">
              <a:solidFill>
                <a:srgbClr val="5656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chapter-rule"/>
          <p:cNvSpPr>
            <a:spLocks noGrp="1"/>
          </p:cNvSpPr>
          <p:nvPr/>
        </p:nvSpPr>
        <p:spPr>
          <a:xfrm>
            <a:off x="8524875" y="914400"/>
            <a:ext cx="3124200" cy="19050"/>
          </a:xfrm>
          <a:prstGeom prst="rect">
            <a:avLst/>
          </a:prstGeom>
          <a:solidFill>
            <a:srgbClr val="0D2B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866775" y="1100137"/>
            <a:ext cx="10572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75" b="1">
                <a:solidFill>
                  <a:srgbClr val="0D2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具体缺陷</a:t>
            </a:r>
            <a:r>
              <a:rPr sz="2175" b="1">
                <a:solidFill>
                  <a:srgbClr val="0D2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与解决方案</a:t>
            </a:r>
            <a:endParaRPr sz="2175" b="1">
              <a:solidFill>
                <a:srgbClr val="0D2B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image-panel"/>
          <p:cNvSpPr>
            <a:spLocks noGrp="1"/>
          </p:cNvSpPr>
          <p:nvPr/>
        </p:nvSpPr>
        <p:spPr>
          <a:xfrm>
            <a:off x="685800" y="1628775"/>
            <a:ext cx="32766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C9DCEB"/>
            </a:solidFill>
            <a:prstDash val="solid"/>
          </a:ln>
        </p:spPr>
      </p:sp>
      <p:sp>
        <p:nvSpPr>
          <p:cNvPr id="5" name="panel-accent"/>
          <p:cNvSpPr>
            <a:spLocks noGrp="1"/>
          </p:cNvSpPr>
          <p:nvPr/>
        </p:nvSpPr>
        <p:spPr>
          <a:xfrm>
            <a:off x="685800" y="1628775"/>
            <a:ext cx="3276600" cy="47625"/>
          </a:xfrm>
          <a:prstGeom prst="rect">
            <a:avLst/>
          </a:prstGeom>
          <a:solidFill>
            <a:srgbClr val="ED7D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050" y="2042985"/>
            <a:ext cx="3086100" cy="1457579"/>
          </a:xfrm>
          <a:prstGeom prst="rect">
            <a:avLst/>
          </a:prstGeom>
        </p:spPr>
      </p:pic>
      <p:sp>
        <p:nvSpPr>
          <p:cNvPr id="8" name="翘曲-label"/>
          <p:cNvSpPr>
            <a:spLocks noGrp="1"/>
          </p:cNvSpPr>
          <p:nvPr/>
        </p:nvSpPr>
        <p:spPr>
          <a:xfrm>
            <a:off x="685800" y="4038600"/>
            <a:ext cx="327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5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翘曲</a:t>
            </a:r>
            <a:endParaRPr sz="15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翘曲-body"/>
          <p:cNvSpPr>
            <a:spLocks noGrp="1"/>
          </p:cNvSpPr>
          <p:nvPr/>
        </p:nvSpPr>
        <p:spPr>
          <a:xfrm>
            <a:off x="914400" y="4476750"/>
            <a:ext cx="31432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3000"/>
              </a:lnSpc>
              <a:buNone/>
              <a:defRPr sz="1000" b="0">
                <a:solidFill>
                  <a:srgbClr val="26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成因：基板</a:t>
            </a:r>
            <a:r>
              <a:rPr lang="en-US" altLang="zh-CN"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中介层翘曲</a:t>
            </a:r>
            <a:endParaRPr lang="zh-CN" altLang="en-US" sz="1600" b="0">
              <a:solidFill>
                <a:srgbClr val="2032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000" b="0">
                <a:solidFill>
                  <a:srgbClr val="26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后果：裸片挪位、对不准</a:t>
            </a:r>
            <a:endParaRPr lang="zh-CN" altLang="en-US" sz="1600" b="0">
              <a:solidFill>
                <a:srgbClr val="2032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000" b="0">
                <a:solidFill>
                  <a:srgbClr val="26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解决方案：压翘曲 </a:t>
            </a:r>
            <a:r>
              <a:rPr lang="en-US" altLang="zh-CN"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lang="zh-CN" altLang="en-US"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对位控制</a:t>
            </a:r>
            <a:endParaRPr lang="zh-CN" altLang="en-US" sz="1600" b="0">
              <a:solidFill>
                <a:srgbClr val="2032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image-panel"/>
          <p:cNvSpPr>
            <a:spLocks noGrp="1"/>
          </p:cNvSpPr>
          <p:nvPr/>
        </p:nvSpPr>
        <p:spPr>
          <a:xfrm>
            <a:off x="4457700" y="1628775"/>
            <a:ext cx="32766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C9DCEB"/>
            </a:solidFill>
            <a:prstDash val="solid"/>
          </a:ln>
        </p:spPr>
      </p:sp>
      <p:sp>
        <p:nvSpPr>
          <p:cNvPr id="11" name="panel-accent"/>
          <p:cNvSpPr>
            <a:spLocks noGrp="1"/>
          </p:cNvSpPr>
          <p:nvPr/>
        </p:nvSpPr>
        <p:spPr>
          <a:xfrm>
            <a:off x="4457700" y="1628775"/>
            <a:ext cx="3276600" cy="47625"/>
          </a:xfrm>
          <a:prstGeom prst="rect">
            <a:avLst/>
          </a:prstGeom>
          <a:solidFill>
            <a:srgbClr val="0068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023" y="1743075"/>
            <a:ext cx="1355954" cy="2057400"/>
          </a:xfrm>
          <a:prstGeom prst="rect">
            <a:avLst/>
          </a:prstGeom>
        </p:spPr>
      </p:pic>
      <p:sp>
        <p:nvSpPr>
          <p:cNvPr id="14" name="键合界面-label"/>
          <p:cNvSpPr>
            <a:spLocks noGrp="1"/>
          </p:cNvSpPr>
          <p:nvPr/>
        </p:nvSpPr>
        <p:spPr>
          <a:xfrm>
            <a:off x="4457700" y="4038600"/>
            <a:ext cx="327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500" b="1">
                <a:solidFill>
                  <a:srgbClr val="0068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68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键合界面</a:t>
            </a:r>
            <a:endParaRPr sz="1500" b="1">
              <a:solidFill>
                <a:srgbClr val="0068B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键合界面-body"/>
          <p:cNvSpPr>
            <a:spLocks noGrp="1"/>
          </p:cNvSpPr>
          <p:nvPr/>
        </p:nvSpPr>
        <p:spPr>
          <a:xfrm>
            <a:off x="4734026" y="4531651"/>
            <a:ext cx="31432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3000"/>
              </a:lnSpc>
              <a:buNone/>
              <a:defRPr sz="1000" b="0">
                <a:solidFill>
                  <a:srgbClr val="26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成因：灰尘/凹凸进入界面</a:t>
            </a:r>
            <a:endParaRPr sz="1600" b="0">
              <a:solidFill>
                <a:srgbClr val="2032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000" b="0">
                <a:solidFill>
                  <a:srgbClr val="26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后果：界面空洞，键合失效</a:t>
            </a:r>
            <a:endParaRPr sz="1600" b="0">
              <a:solidFill>
                <a:srgbClr val="2032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000" b="0">
                <a:solidFill>
                  <a:srgbClr val="26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解决方案：洁净控制 + 界面检测</a:t>
            </a:r>
            <a:endParaRPr sz="1600" b="0">
              <a:solidFill>
                <a:srgbClr val="2032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image-panel"/>
          <p:cNvSpPr>
            <a:spLocks noGrp="1"/>
          </p:cNvSpPr>
          <p:nvPr/>
        </p:nvSpPr>
        <p:spPr>
          <a:xfrm>
            <a:off x="8229600" y="1628775"/>
            <a:ext cx="32766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C9DCEB"/>
            </a:solidFill>
            <a:prstDash val="solid"/>
          </a:ln>
        </p:spPr>
      </p:sp>
      <p:sp>
        <p:nvSpPr>
          <p:cNvPr id="6" name="panel-accent"/>
          <p:cNvSpPr>
            <a:spLocks noGrp="1"/>
          </p:cNvSpPr>
          <p:nvPr/>
        </p:nvSpPr>
        <p:spPr>
          <a:xfrm>
            <a:off x="8229600" y="1628775"/>
            <a:ext cx="3276600" cy="47625"/>
          </a:xfrm>
          <a:prstGeom prst="rect">
            <a:avLst/>
          </a:prstGeom>
          <a:solidFill>
            <a:srgbClr val="70A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1743075"/>
            <a:ext cx="2057400" cy="2057400"/>
          </a:xfrm>
          <a:prstGeom prst="rect">
            <a:avLst/>
          </a:prstGeom>
        </p:spPr>
      </p:pic>
      <p:sp>
        <p:nvSpPr>
          <p:cNvPr id="20" name="可靠性-label"/>
          <p:cNvSpPr>
            <a:spLocks noGrp="1"/>
          </p:cNvSpPr>
          <p:nvPr/>
        </p:nvSpPr>
        <p:spPr>
          <a:xfrm>
            <a:off x="8229600" y="4038600"/>
            <a:ext cx="327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500" b="1">
                <a:solidFill>
                  <a:srgbClr val="70AD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70AD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可靠性</a:t>
            </a:r>
            <a:endParaRPr sz="1500" b="1">
              <a:solidFill>
                <a:srgbClr val="70AD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可靠性-body"/>
          <p:cNvSpPr>
            <a:spLocks noGrp="1"/>
          </p:cNvSpPr>
          <p:nvPr/>
        </p:nvSpPr>
        <p:spPr>
          <a:xfrm>
            <a:off x="8677275" y="4581525"/>
            <a:ext cx="31432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3000"/>
              </a:lnSpc>
              <a:buNone/>
              <a:defRPr sz="1000" b="0">
                <a:solidFill>
                  <a:srgbClr val="26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成因：热循环反复冲击</a:t>
            </a:r>
            <a:endParaRPr sz="1600" b="0">
              <a:solidFill>
                <a:srgbClr val="2032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000" b="0">
                <a:solidFill>
                  <a:srgbClr val="26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后果：IMC/界面开裂</a:t>
            </a:r>
            <a:endParaRPr sz="1600" b="0">
              <a:solidFill>
                <a:srgbClr val="2032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000" b="0">
                <a:solidFill>
                  <a:srgbClr val="26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解决方案：热循环测试 + 光学检测</a:t>
            </a:r>
            <a:endParaRPr sz="1600" b="0">
              <a:solidFill>
                <a:srgbClr val="2032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bullet-2-marker"/>
          <p:cNvSpPr>
            <a:spLocks noGrp="1"/>
          </p:cNvSpPr>
          <p:nvPr/>
        </p:nvSpPr>
        <p:spPr>
          <a:xfrm>
            <a:off x="635825" y="4531651"/>
            <a:ext cx="144000" cy="144000"/>
          </a:xfrm>
          <a:prstGeom prst="rect">
            <a:avLst/>
          </a:prstGeom>
          <a:solidFill>
            <a:srgbClr val="007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bullet-2-marker"/>
          <p:cNvSpPr>
            <a:spLocks noGrp="1"/>
          </p:cNvSpPr>
          <p:nvPr/>
        </p:nvSpPr>
        <p:spPr>
          <a:xfrm>
            <a:off x="4359999" y="4603651"/>
            <a:ext cx="144000" cy="144000"/>
          </a:xfrm>
          <a:prstGeom prst="rect">
            <a:avLst/>
          </a:prstGeom>
          <a:solidFill>
            <a:srgbClr val="007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bullet-2-marker"/>
          <p:cNvSpPr>
            <a:spLocks noGrp="1"/>
          </p:cNvSpPr>
          <p:nvPr/>
        </p:nvSpPr>
        <p:spPr>
          <a:xfrm>
            <a:off x="8263601" y="4675651"/>
            <a:ext cx="144000" cy="144000"/>
          </a:xfrm>
          <a:prstGeom prst="rect">
            <a:avLst/>
          </a:prstGeom>
          <a:solidFill>
            <a:srgbClr val="007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chapter-label"/>
          <p:cNvSpPr>
            <a:spLocks noGrp="1"/>
          </p:cNvSpPr>
          <p:nvPr/>
        </p:nvSpPr>
        <p:spPr>
          <a:xfrm>
            <a:off x="9105900" y="247650"/>
            <a:ext cx="23336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2925" b="1">
                <a:solidFill>
                  <a:srgbClr val="5656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5656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风险管理</a:t>
            </a:r>
            <a:endParaRPr sz="3600" b="1">
              <a:solidFill>
                <a:srgbClr val="5656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chapter-rule"/>
          <p:cNvSpPr>
            <a:spLocks noGrp="1"/>
          </p:cNvSpPr>
          <p:nvPr/>
        </p:nvSpPr>
        <p:spPr>
          <a:xfrm>
            <a:off x="8524875" y="914400"/>
            <a:ext cx="3124200" cy="19050"/>
          </a:xfrm>
          <a:prstGeom prst="rect">
            <a:avLst/>
          </a:prstGeom>
          <a:solidFill>
            <a:srgbClr val="0D2B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866775" y="1100137"/>
            <a:ext cx="10572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75" b="1">
                <a:solidFill>
                  <a:srgbClr val="0D2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三层风险</a:t>
            </a:r>
            <a:r>
              <a:rPr sz="2175" b="1">
                <a:solidFill>
                  <a:srgbClr val="0D2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相互放大，最终都指向交付失败</a:t>
            </a:r>
            <a:endParaRPr sz="2175" b="1">
              <a:solidFill>
                <a:srgbClr val="0D2B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image-panel"/>
          <p:cNvSpPr>
            <a:spLocks noGrp="1"/>
          </p:cNvSpPr>
          <p:nvPr/>
        </p:nvSpPr>
        <p:spPr>
          <a:xfrm>
            <a:off x="685800" y="1628775"/>
            <a:ext cx="32766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C9DCEB"/>
            </a:solidFill>
            <a:prstDash val="solid"/>
          </a:ln>
        </p:spPr>
      </p:sp>
      <p:sp>
        <p:nvSpPr>
          <p:cNvPr id="5" name="panel-accent"/>
          <p:cNvSpPr>
            <a:spLocks noGrp="1"/>
          </p:cNvSpPr>
          <p:nvPr/>
        </p:nvSpPr>
        <p:spPr>
          <a:xfrm>
            <a:off x="685800" y="1628775"/>
            <a:ext cx="3276600" cy="47625"/>
          </a:xfrm>
          <a:prstGeom prst="rect">
            <a:avLst/>
          </a:prstGeom>
          <a:solidFill>
            <a:srgbClr val="ED7D31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图片 5"/>
          <p:cNvPicPr>
            <a:picLocks noChangeAspect="1"/>
          </p:cNvPicPr>
          <p:nvPr/>
        </p:nvPicPr>
        <p:blipFill>
          <a:blip r:embed="rId1"/>
          <a:srcRect l="597" r="597"/>
          <a:stretch>
            <a:fillRect/>
          </a:stretch>
        </p:blipFill>
        <p:spPr>
          <a:xfrm>
            <a:off x="781050" y="2042985"/>
            <a:ext cx="3086100" cy="1457579"/>
          </a:xfrm>
          <a:prstGeom prst="rect">
            <a:avLst/>
          </a:prstGeom>
        </p:spPr>
      </p:pic>
      <p:sp>
        <p:nvSpPr>
          <p:cNvPr id="8" name="翘曲-label"/>
          <p:cNvSpPr>
            <a:spLocks noGrp="1"/>
          </p:cNvSpPr>
          <p:nvPr/>
        </p:nvSpPr>
        <p:spPr>
          <a:xfrm>
            <a:off x="685800" y="4038600"/>
            <a:ext cx="327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5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技术风险</a:t>
            </a:r>
            <a:endParaRPr sz="150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翘曲-body"/>
          <p:cNvSpPr>
            <a:spLocks noGrp="1"/>
          </p:cNvSpPr>
          <p:nvPr/>
        </p:nvSpPr>
        <p:spPr>
          <a:xfrm>
            <a:off x="914400" y="4476750"/>
            <a:ext cx="31432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3000"/>
              </a:lnSpc>
              <a:buNone/>
              <a:defRPr sz="1000" b="0">
                <a:solidFill>
                  <a:srgbClr val="26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触发：良率、翘曲、散热</a:t>
            </a:r>
            <a:endParaRPr sz="1600" b="0">
              <a:solidFill>
                <a:srgbClr val="2032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000" b="0">
                <a:solidFill>
                  <a:srgbClr val="26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后果：返工、报废、爬坡延迟</a:t>
            </a:r>
            <a:endParaRPr sz="1600" b="0">
              <a:solidFill>
                <a:srgbClr val="2032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000" b="0">
                <a:solidFill>
                  <a:srgbClr val="26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监控：缺陷率、热阻、复合良率</a:t>
            </a:r>
            <a:endParaRPr sz="1600" b="0">
              <a:solidFill>
                <a:srgbClr val="2032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image-panel"/>
          <p:cNvSpPr>
            <a:spLocks noGrp="1"/>
          </p:cNvSpPr>
          <p:nvPr/>
        </p:nvSpPr>
        <p:spPr>
          <a:xfrm>
            <a:off x="4457700" y="1628775"/>
            <a:ext cx="32766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C9DCEB"/>
            </a:solidFill>
            <a:prstDash val="solid"/>
          </a:ln>
        </p:spPr>
      </p:sp>
      <p:sp>
        <p:nvSpPr>
          <p:cNvPr id="11" name="panel-accent"/>
          <p:cNvSpPr>
            <a:spLocks noGrp="1"/>
          </p:cNvSpPr>
          <p:nvPr/>
        </p:nvSpPr>
        <p:spPr>
          <a:xfrm>
            <a:off x="4457700" y="1628775"/>
            <a:ext cx="3276600" cy="47625"/>
          </a:xfrm>
          <a:prstGeom prst="rect">
            <a:avLst/>
          </a:prstGeom>
          <a:solidFill>
            <a:srgbClr val="0068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7" name="图片 11"/>
          <p:cNvPicPr>
            <a:picLocks noChangeAspect="1"/>
          </p:cNvPicPr>
          <p:nvPr/>
        </p:nvPicPr>
        <p:blipFill>
          <a:blip r:embed="rId2"/>
          <a:srcRect l="28350" r="28350"/>
          <a:stretch>
            <a:fillRect/>
          </a:stretch>
        </p:blipFill>
        <p:spPr>
          <a:xfrm>
            <a:off x="5418023" y="1743075"/>
            <a:ext cx="1355954" cy="2057400"/>
          </a:xfrm>
          <a:prstGeom prst="rect">
            <a:avLst/>
          </a:prstGeom>
        </p:spPr>
      </p:pic>
      <p:sp>
        <p:nvSpPr>
          <p:cNvPr id="14" name="键合界面-label"/>
          <p:cNvSpPr>
            <a:spLocks noGrp="1"/>
          </p:cNvSpPr>
          <p:nvPr/>
        </p:nvSpPr>
        <p:spPr>
          <a:xfrm>
            <a:off x="4457700" y="4038600"/>
            <a:ext cx="327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500" b="1">
                <a:solidFill>
                  <a:srgbClr val="0068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0068B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供应链风险</a:t>
            </a:r>
            <a:endParaRPr sz="1500" b="1">
              <a:solidFill>
                <a:srgbClr val="0068B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键合界面-body"/>
          <p:cNvSpPr>
            <a:spLocks noGrp="1"/>
          </p:cNvSpPr>
          <p:nvPr/>
        </p:nvSpPr>
        <p:spPr>
          <a:xfrm>
            <a:off x="4734026" y="4531651"/>
            <a:ext cx="31432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3000"/>
              </a:lnSpc>
              <a:buNone/>
              <a:defRPr sz="1000" b="0">
                <a:solidFill>
                  <a:srgbClr val="26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触发：HBM4、CoWoS 供给集中</a:t>
            </a:r>
            <a:endParaRPr sz="1600" b="0">
              <a:solidFill>
                <a:srgbClr val="2032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000" b="0">
                <a:solidFill>
                  <a:srgbClr val="26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后果：物料晚到、产能排队</a:t>
            </a:r>
            <a:endParaRPr sz="1600" b="0">
              <a:solidFill>
                <a:srgbClr val="2032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000" b="0">
                <a:solidFill>
                  <a:srgbClr val="26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监控：交期、份额、二供进度</a:t>
            </a:r>
            <a:endParaRPr sz="1600" b="0">
              <a:solidFill>
                <a:srgbClr val="2032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image-panel"/>
          <p:cNvSpPr>
            <a:spLocks noGrp="1"/>
          </p:cNvSpPr>
          <p:nvPr/>
        </p:nvSpPr>
        <p:spPr>
          <a:xfrm>
            <a:off x="8229600" y="1628775"/>
            <a:ext cx="3276600" cy="22669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C9DCEB"/>
            </a:solidFill>
            <a:prstDash val="solid"/>
          </a:ln>
        </p:spPr>
      </p:sp>
      <p:sp>
        <p:nvSpPr>
          <p:cNvPr id="6" name="panel-accent"/>
          <p:cNvSpPr>
            <a:spLocks noGrp="1"/>
          </p:cNvSpPr>
          <p:nvPr/>
        </p:nvSpPr>
        <p:spPr>
          <a:xfrm>
            <a:off x="8229600" y="1628775"/>
            <a:ext cx="3276600" cy="47625"/>
          </a:xfrm>
          <a:prstGeom prst="rect">
            <a:avLst/>
          </a:prstGeom>
          <a:solidFill>
            <a:srgbClr val="70AD4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2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1743075"/>
            <a:ext cx="2057400" cy="2057400"/>
          </a:xfrm>
          <a:prstGeom prst="rect">
            <a:avLst/>
          </a:prstGeom>
        </p:spPr>
      </p:pic>
      <p:sp>
        <p:nvSpPr>
          <p:cNvPr id="20" name="可靠性-label"/>
          <p:cNvSpPr>
            <a:spLocks noGrp="1"/>
          </p:cNvSpPr>
          <p:nvPr/>
        </p:nvSpPr>
        <p:spPr>
          <a:xfrm>
            <a:off x="8229600" y="4038600"/>
            <a:ext cx="32766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buNone/>
              <a:defRPr sz="1500" b="1">
                <a:solidFill>
                  <a:srgbClr val="70AD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70AD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市场政策风险</a:t>
            </a:r>
            <a:endParaRPr sz="1500" b="1">
              <a:solidFill>
                <a:srgbClr val="70AD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可靠性-body"/>
          <p:cNvSpPr>
            <a:spLocks noGrp="1"/>
          </p:cNvSpPr>
          <p:nvPr/>
        </p:nvSpPr>
        <p:spPr>
          <a:xfrm>
            <a:off x="8677275" y="4581525"/>
            <a:ext cx="3143250" cy="1123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lnSpc>
                <a:spcPct val="113000"/>
              </a:lnSpc>
              <a:buNone/>
              <a:defRPr sz="1000" b="0">
                <a:solidFill>
                  <a:srgbClr val="26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触发：需求波动、出口管制</a:t>
            </a:r>
            <a:endParaRPr sz="1600" b="0">
              <a:solidFill>
                <a:srgbClr val="2032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000" b="0">
                <a:solidFill>
                  <a:srgbClr val="26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后果：市场切换、方案返工</a:t>
            </a:r>
            <a:endParaRPr sz="1600" b="0">
              <a:solidFill>
                <a:srgbClr val="2032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13000"/>
              </a:lnSpc>
              <a:buNone/>
              <a:defRPr sz="1000" b="0">
                <a:solidFill>
                  <a:srgbClr val="26384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0">
                <a:solidFill>
                  <a:srgbClr val="20324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监控：订单、规则、替代成熟度</a:t>
            </a:r>
            <a:endParaRPr sz="1600" b="0">
              <a:solidFill>
                <a:srgbClr val="20324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bullet-2-marker"/>
          <p:cNvSpPr>
            <a:spLocks noGrp="1"/>
          </p:cNvSpPr>
          <p:nvPr/>
        </p:nvSpPr>
        <p:spPr>
          <a:xfrm>
            <a:off x="635825" y="4531651"/>
            <a:ext cx="144000" cy="144000"/>
          </a:xfrm>
          <a:prstGeom prst="rect">
            <a:avLst/>
          </a:prstGeom>
          <a:solidFill>
            <a:srgbClr val="007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bullet-2-marker"/>
          <p:cNvSpPr>
            <a:spLocks noGrp="1"/>
          </p:cNvSpPr>
          <p:nvPr/>
        </p:nvSpPr>
        <p:spPr>
          <a:xfrm>
            <a:off x="4359999" y="4603651"/>
            <a:ext cx="144000" cy="144000"/>
          </a:xfrm>
          <a:prstGeom prst="rect">
            <a:avLst/>
          </a:prstGeom>
          <a:solidFill>
            <a:srgbClr val="007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bullet-2-marker"/>
          <p:cNvSpPr>
            <a:spLocks noGrp="1"/>
          </p:cNvSpPr>
          <p:nvPr/>
        </p:nvSpPr>
        <p:spPr>
          <a:xfrm>
            <a:off x="8263601" y="4675651"/>
            <a:ext cx="144000" cy="144000"/>
          </a:xfrm>
          <a:prstGeom prst="rect">
            <a:avLst/>
          </a:prstGeom>
          <a:solidFill>
            <a:srgbClr val="007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chapter-label"/>
          <p:cNvSpPr>
            <a:spLocks noGrp="1"/>
          </p:cNvSpPr>
          <p:nvPr/>
        </p:nvSpPr>
        <p:spPr>
          <a:xfrm>
            <a:off x="9156700" y="247650"/>
            <a:ext cx="2333625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r">
              <a:buNone/>
              <a:defRPr sz="2925" b="1">
                <a:solidFill>
                  <a:srgbClr val="5656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5656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风险管理</a:t>
            </a:r>
            <a:endParaRPr sz="3600" b="1">
              <a:solidFill>
                <a:srgbClr val="5656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chapter-rule"/>
          <p:cNvSpPr>
            <a:spLocks noGrp="1"/>
          </p:cNvSpPr>
          <p:nvPr/>
        </p:nvSpPr>
        <p:spPr>
          <a:xfrm>
            <a:off x="8524875" y="914400"/>
            <a:ext cx="3124200" cy="19050"/>
          </a:xfrm>
          <a:prstGeom prst="rect">
            <a:avLst/>
          </a:prstGeom>
          <a:solidFill>
            <a:srgbClr val="0D2B5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title"/>
          <p:cNvSpPr>
            <a:spLocks noGrp="1"/>
          </p:cNvSpPr>
          <p:nvPr/>
        </p:nvSpPr>
        <p:spPr>
          <a:xfrm>
            <a:off x="1066800" y="1054502"/>
            <a:ext cx="105727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75" b="1">
                <a:solidFill>
                  <a:srgbClr val="0D2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风险控制塔</a:t>
            </a:r>
            <a:r>
              <a:rPr sz="2175" b="1">
                <a:solidFill>
                  <a:srgbClr val="0D2B5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—— 把风险动作嵌入交付链</a:t>
            </a:r>
            <a:endParaRPr sz="2175" b="1">
              <a:solidFill>
                <a:srgbClr val="0D2B5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image-panel"/>
          <p:cNvSpPr>
            <a:spLocks noGrp="1"/>
          </p:cNvSpPr>
          <p:nvPr/>
        </p:nvSpPr>
        <p:spPr>
          <a:xfrm>
            <a:off x="1066800" y="1543050"/>
            <a:ext cx="10058400" cy="321945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C9DCEB"/>
            </a:solidFill>
            <a:prstDash val="solid"/>
          </a:ln>
        </p:spPr>
      </p:sp>
      <p:sp>
        <p:nvSpPr>
          <p:cNvPr id="5" name="panel-accent"/>
          <p:cNvSpPr>
            <a:spLocks noGrp="1"/>
          </p:cNvSpPr>
          <p:nvPr/>
        </p:nvSpPr>
        <p:spPr>
          <a:xfrm>
            <a:off x="1066800" y="1543050"/>
            <a:ext cx="10058400" cy="47625"/>
          </a:xfrm>
          <a:prstGeom prst="rect">
            <a:avLst/>
          </a:prstGeom>
          <a:solidFill>
            <a:srgbClr val="0068B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2" name="图片 5"/>
          <p:cNvPicPr>
            <a:picLocks noChangeAspect="1"/>
          </p:cNvPicPr>
          <p:nvPr/>
        </p:nvPicPr>
        <p:blipFill>
          <a:blip r:embed="rId1"/>
          <a:srcRect l="617" r="617"/>
          <a:stretch>
            <a:fillRect/>
          </a:stretch>
        </p:blipFill>
        <p:spPr>
          <a:xfrm>
            <a:off x="2380033" y="1657350"/>
            <a:ext cx="7431934" cy="3009900"/>
          </a:xfrm>
          <a:prstGeom prst="rect">
            <a:avLst/>
          </a:prstGeom>
        </p:spPr>
      </p:pic>
      <p:sp>
        <p:nvSpPr>
          <p:cNvPr id="8" name="slide02-bullet-rule"/>
          <p:cNvSpPr>
            <a:spLocks noGrp="1"/>
          </p:cNvSpPr>
          <p:nvPr/>
        </p:nvSpPr>
        <p:spPr>
          <a:xfrm>
            <a:off x="1066800" y="4905375"/>
            <a:ext cx="10058400" cy="19050"/>
          </a:xfrm>
          <a:prstGeom prst="rect">
            <a:avLst/>
          </a:prstGeom>
          <a:solidFill>
            <a:srgbClr val="DDEAF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bullet-1-text"/>
          <p:cNvSpPr>
            <a:spLocks noGrp="1"/>
          </p:cNvSpPr>
          <p:nvPr/>
        </p:nvSpPr>
        <p:spPr>
          <a:xfrm>
            <a:off x="1504950" y="5105400"/>
            <a:ext cx="933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2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越线就升级：不等周会，不靠临时协调</a:t>
            </a:r>
            <a:endParaRPr sz="2000" b="0">
              <a:solidFill>
                <a:srgbClr val="2436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bullet-3-text"/>
          <p:cNvSpPr>
            <a:spLocks noGrp="1"/>
          </p:cNvSpPr>
          <p:nvPr/>
        </p:nvSpPr>
        <p:spPr>
          <a:xfrm>
            <a:off x="1504950" y="5664150"/>
            <a:ext cx="9334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l">
              <a:buNone/>
              <a:defRPr sz="102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00" b="0">
                <a:solidFill>
                  <a:srgbClr val="2436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四类动作预先授权；残余风险持续复盘</a:t>
            </a:r>
            <a:endParaRPr sz="2000" b="0">
              <a:solidFill>
                <a:srgbClr val="2436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bullet-2-marker"/>
          <p:cNvSpPr>
            <a:spLocks noGrp="1"/>
          </p:cNvSpPr>
          <p:nvPr/>
        </p:nvSpPr>
        <p:spPr>
          <a:xfrm>
            <a:off x="1136550" y="5159325"/>
            <a:ext cx="216000" cy="216000"/>
          </a:xfrm>
          <a:prstGeom prst="rect">
            <a:avLst/>
          </a:prstGeom>
          <a:solidFill>
            <a:srgbClr val="007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bullet-2-marker"/>
          <p:cNvSpPr>
            <a:spLocks noGrp="1"/>
          </p:cNvSpPr>
          <p:nvPr/>
        </p:nvSpPr>
        <p:spPr>
          <a:xfrm>
            <a:off x="1123287" y="5718075"/>
            <a:ext cx="216000" cy="216000"/>
          </a:xfrm>
          <a:prstGeom prst="rect">
            <a:avLst/>
          </a:prstGeom>
          <a:solidFill>
            <a:srgbClr val="0070C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477250" y="171450"/>
            <a:ext cx="2952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36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成本管理</a:t>
            </a:r>
            <a:endParaRPr sz="36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8524875" y="914400"/>
            <a:ext cx="3114675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002060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14375" y="1095375"/>
            <a:ext cx="9620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32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成本不是单项报价，而是由</a:t>
            </a:r>
            <a:r>
              <a:rPr lang="zh-CN" sz="232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原料成本</a:t>
            </a:r>
            <a:r>
              <a:rPr sz="232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zh-CN" sz="232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测试成本和</a:t>
            </a:r>
            <a:r>
              <a:rPr sz="232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良率共同决定</a:t>
            </a:r>
            <a:endParaRPr sz="2325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385" y="2482850"/>
            <a:ext cx="3863340" cy="2694940"/>
          </a:xfrm>
          <a:prstGeom prst="rect">
            <a:avLst/>
          </a:prstGeom>
        </p:spPr>
      </p:pic>
      <p:sp>
        <p:nvSpPr>
          <p:cNvPr id="43" name="等腰三角形 42"/>
          <p:cNvSpPr/>
          <p:nvPr/>
        </p:nvSpPr>
        <p:spPr>
          <a:xfrm>
            <a:off x="4539615" y="2020570"/>
            <a:ext cx="2599690" cy="3719195"/>
          </a:xfrm>
          <a:prstGeom prst="triangle">
            <a:avLst/>
          </a:prstGeom>
          <a:solidFill>
            <a:srgbClr val="B4CDD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4" name="直接连接符 43"/>
          <p:cNvCxnSpPr/>
          <p:nvPr/>
        </p:nvCxnSpPr>
        <p:spPr>
          <a:xfrm>
            <a:off x="4340860" y="5739765"/>
            <a:ext cx="363347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直接连接符 44"/>
          <p:cNvCxnSpPr/>
          <p:nvPr/>
        </p:nvCxnSpPr>
        <p:spPr>
          <a:xfrm>
            <a:off x="4340860" y="5037455"/>
            <a:ext cx="363347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4340860" y="4335145"/>
            <a:ext cx="363347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4340860" y="3632835"/>
            <a:ext cx="363347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/>
        </p:nvCxnSpPr>
        <p:spPr>
          <a:xfrm>
            <a:off x="4340860" y="2930525"/>
            <a:ext cx="363347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/>
        </p:nvSpPr>
        <p:spPr>
          <a:xfrm>
            <a:off x="4950460" y="5204460"/>
            <a:ext cx="177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HBM</a:t>
            </a:r>
            <a:endParaRPr lang="en-US" altLang="zh-CN"/>
          </a:p>
        </p:txBody>
      </p:sp>
      <p:sp>
        <p:nvSpPr>
          <p:cNvPr id="50" name="文本框 49"/>
          <p:cNvSpPr txBox="1"/>
          <p:nvPr/>
        </p:nvSpPr>
        <p:spPr>
          <a:xfrm>
            <a:off x="4646295" y="4502150"/>
            <a:ext cx="2385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CoWoS+</a:t>
            </a:r>
            <a:r>
              <a:rPr lang="zh-CN" altLang="en-US"/>
              <a:t>中介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51" name="文本框 50"/>
          <p:cNvSpPr txBox="1"/>
          <p:nvPr/>
        </p:nvSpPr>
        <p:spPr>
          <a:xfrm>
            <a:off x="4950460" y="3799840"/>
            <a:ext cx="177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SoC</a:t>
            </a:r>
            <a:endParaRPr lang="en-US" altLang="zh-CN"/>
          </a:p>
        </p:txBody>
      </p:sp>
      <p:sp>
        <p:nvSpPr>
          <p:cNvPr id="52" name="文本框 51"/>
          <p:cNvSpPr txBox="1"/>
          <p:nvPr/>
        </p:nvSpPr>
        <p:spPr>
          <a:xfrm>
            <a:off x="4950460" y="3097530"/>
            <a:ext cx="177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测试</a:t>
            </a:r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4950460" y="2486025"/>
            <a:ext cx="177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/>
              <a:t>其他</a:t>
            </a:r>
            <a:endParaRPr lang="zh-CN" altLang="en-US"/>
          </a:p>
        </p:txBody>
      </p:sp>
      <p:sp>
        <p:nvSpPr>
          <p:cNvPr id="54" name="文本框 53"/>
          <p:cNvSpPr txBox="1"/>
          <p:nvPr/>
        </p:nvSpPr>
        <p:spPr>
          <a:xfrm>
            <a:off x="7257415" y="5247005"/>
            <a:ext cx="177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b="1">
                <a:solidFill>
                  <a:srgbClr val="FF0000"/>
                </a:solidFill>
              </a:rPr>
              <a:t>45%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7257415" y="4502150"/>
            <a:ext cx="177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b="1">
                <a:solidFill>
                  <a:srgbClr val="FF0000"/>
                </a:solidFill>
              </a:rPr>
              <a:t>34%</a:t>
            </a:r>
            <a:endParaRPr lang="en-US" altLang="zh-CN" b="1">
              <a:solidFill>
                <a:srgbClr val="FF0000"/>
              </a:solidFill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7257415" y="3813175"/>
            <a:ext cx="177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/>
              <a:t>14%</a:t>
            </a:r>
            <a:endParaRPr lang="en-US" altLang="zh-CN"/>
          </a:p>
        </p:txBody>
      </p:sp>
      <p:sp>
        <p:nvSpPr>
          <p:cNvPr id="57" name="文本框 56"/>
          <p:cNvSpPr txBox="1"/>
          <p:nvPr/>
        </p:nvSpPr>
        <p:spPr>
          <a:xfrm>
            <a:off x="7257415" y="3124200"/>
            <a:ext cx="177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/>
              <a:t>5%</a:t>
            </a:r>
            <a:endParaRPr lang="en-US" altLang="zh-CN"/>
          </a:p>
        </p:txBody>
      </p:sp>
      <p:sp>
        <p:nvSpPr>
          <p:cNvPr id="59" name="文本框 58"/>
          <p:cNvSpPr txBox="1"/>
          <p:nvPr/>
        </p:nvSpPr>
        <p:spPr>
          <a:xfrm>
            <a:off x="7257415" y="2368550"/>
            <a:ext cx="177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/>
              <a:t>2%</a:t>
            </a:r>
            <a:endParaRPr lang="en-US" altLang="zh-CN"/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0" y="1664335"/>
            <a:ext cx="3810635" cy="314960"/>
          </a:xfrm>
          <a:prstGeom prst="rect">
            <a:avLst/>
          </a:prstGeom>
        </p:spPr>
      </p:pic>
      <p:sp>
        <p:nvSpPr>
          <p:cNvPr id="61" name="文本框 60"/>
          <p:cNvSpPr txBox="1"/>
          <p:nvPr/>
        </p:nvSpPr>
        <p:spPr>
          <a:xfrm>
            <a:off x="889000" y="5339715"/>
            <a:ext cx="24523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CoWoS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封装示意图</a:t>
            </a:r>
            <a:endParaRPr lang="zh-CN" altLang="en-US"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8856345" y="2169795"/>
            <a:ext cx="245237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需要</a:t>
            </a:r>
            <a:r>
              <a:rPr lang="en-US" altLang="zh-CN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1000vs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实际</a:t>
            </a:r>
            <a:r>
              <a:rPr lang="zh-CN" altLang="en-US" sz="1600"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</a:rPr>
              <a:t>生产</a:t>
            </a:r>
            <a:endParaRPr lang="zh-CN" altLang="en-US" sz="1600">
              <a:latin typeface="等线" panose="02010600030101010101" charset="-122"/>
              <a:ea typeface="等线" panose="02010600030101010101" charset="-122"/>
              <a:cs typeface="等线" panose="02010600030101010101" charset="-122"/>
            </a:endParaRPr>
          </a:p>
        </p:txBody>
      </p:sp>
      <p:pic>
        <p:nvPicPr>
          <p:cNvPr id="64" name="图片 63" descr="良率曲线"/>
          <p:cNvPicPr>
            <a:picLocks noChangeAspect="1"/>
          </p:cNvPicPr>
          <p:nvPr/>
        </p:nvPicPr>
        <p:blipFill>
          <a:blip r:embed="rId3"/>
          <a:srcRect l="4569" t="3630" r="6507" b="3130"/>
          <a:stretch>
            <a:fillRect/>
          </a:stretch>
        </p:blipFill>
        <p:spPr>
          <a:xfrm>
            <a:off x="8165465" y="2581275"/>
            <a:ext cx="3934460" cy="30956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477250" y="171450"/>
            <a:ext cx="2952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36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路线取舍</a:t>
            </a:r>
            <a:endParaRPr sz="36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8524875" y="914400"/>
            <a:ext cx="3114675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002060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14375" y="1095375"/>
            <a:ext cx="962025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32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32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CoWoS-L 是本代主路径，玻璃基板是下一代筹码</a:t>
            </a:r>
            <a:endParaRPr sz="2325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5925" y="1664335"/>
            <a:ext cx="3361055" cy="1358265"/>
          </a:xfrm>
          <a:prstGeom prst="rect">
            <a:avLst/>
          </a:prstGeom>
        </p:spPr>
      </p:pic>
      <p:pic>
        <p:nvPicPr>
          <p:cNvPr id="35" name="图片 3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55" y="3064510"/>
            <a:ext cx="3134360" cy="1397000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55" y="4590415"/>
            <a:ext cx="3126740" cy="1445895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3776980" y="1855470"/>
            <a:ext cx="219519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CoWoS-S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硅基板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等线" panose="02010600030101010101" charset="-122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最成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熟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等线" panose="02010600030101010101" charset="-122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性能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高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等线" panose="02010600030101010101" charset="-122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成本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高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3752850" y="3362325"/>
            <a:ext cx="283845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CoWoS-R 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有机材料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中介板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等线" panose="02010600030101010101" charset="-122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性能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中等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等线" panose="02010600030101010101" charset="-122"/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成本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低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776980" y="4905375"/>
            <a:ext cx="246253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buClrTx/>
              <a:buSzTx/>
              <a:buFontTx/>
            </a:pPr>
            <a:r>
              <a:rPr lang="en-US" altLang="zh-CN" sz="1600" b="1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CoWoS-L </a:t>
            </a:r>
            <a:r>
              <a:rPr lang="zh-CN" altLang="en-US" sz="1600" b="1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硅</a:t>
            </a:r>
            <a:r>
              <a:rPr lang="en-US" altLang="zh-CN" sz="1600" b="1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+</a:t>
            </a:r>
            <a:r>
              <a:rPr lang="zh-CN" altLang="en-US" sz="1600" b="1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有机材料</a:t>
            </a:r>
            <a:endParaRPr lang="zh-CN" altLang="en-US" sz="1600" b="1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等线" panose="02010600030101010101" charset="-122"/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性能较高</a:t>
            </a:r>
            <a:endParaRPr lang="zh-CN" altLang="en-US" sz="1600" b="1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等线" panose="02010600030101010101" charset="-122"/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zh-CN" altLang="en-US" sz="1600" b="1">
                <a:solidFill>
                  <a:schemeClr val="tx1"/>
                </a:solidFill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cs typeface="等线" panose="02010600030101010101" charset="-122"/>
                <a:sym typeface="+mn-ea"/>
              </a:rPr>
              <a:t>成本较低</a:t>
            </a:r>
            <a:endParaRPr lang="zh-CN" altLang="en-US" sz="1600" b="1">
              <a:solidFill>
                <a:schemeClr val="tx1"/>
              </a:solidFill>
              <a:highlight>
                <a:srgbClr val="FFFF00"/>
              </a:highlight>
              <a:latin typeface="微软雅黑" panose="020B0503020204020204" charset="-122"/>
              <a:ea typeface="微软雅黑" panose="020B0503020204020204" charset="-122"/>
              <a:cs typeface="等线" panose="02010600030101010101" charset="-122"/>
              <a:sym typeface="+mn-ea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477000" y="5525770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成熟度</a:t>
            </a:r>
            <a:endParaRPr sz="1050" b="1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矩形 40"/>
          <p:cNvSpPr>
            <a:spLocks noGrp="1"/>
          </p:cNvSpPr>
          <p:nvPr/>
        </p:nvSpPr>
        <p:spPr>
          <a:xfrm>
            <a:off x="6257925" y="1953895"/>
            <a:ext cx="8572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降本潜力</a:t>
            </a:r>
            <a:endParaRPr sz="1050" b="1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直接连接符 41"/>
          <p:cNvSpPr>
            <a:spLocks noGrp="1"/>
          </p:cNvSpPr>
          <p:nvPr/>
        </p:nvSpPr>
        <p:spPr>
          <a:xfrm>
            <a:off x="6905625" y="5382895"/>
            <a:ext cx="4762500" cy="0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102B50"/>
            </a:solidFill>
            <a:prstDash val="solid"/>
          </a:ln>
        </p:spPr>
      </p:sp>
      <p:sp>
        <p:nvSpPr>
          <p:cNvPr id="43" name="直接连接符 42"/>
          <p:cNvSpPr>
            <a:spLocks noGrp="1"/>
          </p:cNvSpPr>
          <p:nvPr/>
        </p:nvSpPr>
        <p:spPr>
          <a:xfrm>
            <a:off x="6905625" y="2287270"/>
            <a:ext cx="0" cy="3095625"/>
          </a:xfrm>
          <a:prstGeom prst="line">
            <a:avLst/>
          </a:prstGeom>
          <a:solidFill>
            <a:srgbClr val="000000">
              <a:alpha val="0"/>
            </a:srgbClr>
          </a:solidFill>
          <a:ln w="14288">
            <a:solidFill>
              <a:srgbClr val="102B50"/>
            </a:solidFill>
            <a:prstDash val="solid"/>
          </a:ln>
        </p:spPr>
      </p:sp>
      <p:sp>
        <p:nvSpPr>
          <p:cNvPr id="44" name="直接连接符 43"/>
          <p:cNvSpPr>
            <a:spLocks noGrp="1"/>
          </p:cNvSpPr>
          <p:nvPr/>
        </p:nvSpPr>
        <p:spPr>
          <a:xfrm>
            <a:off x="9286875" y="2287270"/>
            <a:ext cx="0" cy="3095625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5" name="直接连接符 44"/>
          <p:cNvSpPr>
            <a:spLocks noGrp="1"/>
          </p:cNvSpPr>
          <p:nvPr/>
        </p:nvSpPr>
        <p:spPr>
          <a:xfrm>
            <a:off x="6905625" y="3830320"/>
            <a:ext cx="47625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CBD5E1"/>
            </a:solidFill>
            <a:prstDash val="solid"/>
          </a:ln>
        </p:spPr>
      </p:sp>
      <p:sp>
        <p:nvSpPr>
          <p:cNvPr id="46" name="椭圆 45"/>
          <p:cNvSpPr>
            <a:spLocks noGrp="1"/>
          </p:cNvSpPr>
          <p:nvPr/>
        </p:nvSpPr>
        <p:spPr>
          <a:xfrm>
            <a:off x="10048875" y="4382770"/>
            <a:ext cx="1257300" cy="1257300"/>
          </a:xfrm>
          <a:prstGeom prst="ellipse">
            <a:avLst/>
          </a:prstGeom>
          <a:solidFill>
            <a:srgbClr val="005BAC">
              <a:alpha val="13333"/>
            </a:srgbClr>
          </a:solidFill>
          <a:ln w="19050">
            <a:solidFill>
              <a:srgbClr val="005BAC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0163175" y="4839970"/>
            <a:ext cx="10287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CoWoS-L</a:t>
            </a:r>
            <a:endParaRPr sz="1275" b="1">
              <a:solidFill>
                <a:srgbClr val="005B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10163175" y="5087620"/>
            <a:ext cx="10287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本代交付</a:t>
            </a:r>
            <a:endParaRPr sz="90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椭圆 48"/>
          <p:cNvSpPr>
            <a:spLocks noGrp="1"/>
          </p:cNvSpPr>
          <p:nvPr/>
        </p:nvSpPr>
        <p:spPr>
          <a:xfrm>
            <a:off x="8667750" y="2973070"/>
            <a:ext cx="1219200" cy="1219200"/>
          </a:xfrm>
          <a:prstGeom prst="ellipse">
            <a:avLst/>
          </a:prstGeom>
          <a:solidFill>
            <a:srgbClr val="ED7D31">
              <a:alpha val="13333"/>
            </a:srgbClr>
          </a:solidFill>
          <a:ln w="19050">
            <a:solidFill>
              <a:srgbClr val="ED7D31"/>
            </a:solidFill>
            <a:prstDash val="solid"/>
          </a:ln>
        </p:spPr>
      </p:sp>
      <p:sp>
        <p:nvSpPr>
          <p:cNvPr id="50" name="矩形 49"/>
          <p:cNvSpPr>
            <a:spLocks noGrp="1"/>
          </p:cNvSpPr>
          <p:nvPr/>
        </p:nvSpPr>
        <p:spPr>
          <a:xfrm>
            <a:off x="8782050" y="3411220"/>
            <a:ext cx="9906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面板级</a:t>
            </a:r>
            <a:endParaRPr sz="1275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矩形 50"/>
          <p:cNvSpPr>
            <a:spLocks noGrp="1"/>
          </p:cNvSpPr>
          <p:nvPr/>
        </p:nvSpPr>
        <p:spPr>
          <a:xfrm>
            <a:off x="8782050" y="3658870"/>
            <a:ext cx="9906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中期降本</a:t>
            </a:r>
            <a:endParaRPr sz="90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椭圆 51"/>
          <p:cNvSpPr>
            <a:spLocks noGrp="1"/>
          </p:cNvSpPr>
          <p:nvPr/>
        </p:nvSpPr>
        <p:spPr>
          <a:xfrm>
            <a:off x="7524750" y="2592070"/>
            <a:ext cx="1314450" cy="1314450"/>
          </a:xfrm>
          <a:prstGeom prst="ellipse">
            <a:avLst/>
          </a:prstGeom>
          <a:solidFill>
            <a:srgbClr val="70AD47">
              <a:alpha val="13333"/>
            </a:srgbClr>
          </a:solidFill>
          <a:ln w="19050">
            <a:solidFill>
              <a:srgbClr val="70AD47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7639050" y="3077845"/>
            <a:ext cx="1085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70AD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70AD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玻璃基板</a:t>
            </a:r>
            <a:endParaRPr sz="1275" b="1">
              <a:solidFill>
                <a:srgbClr val="70AD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7639050" y="3325495"/>
            <a:ext cx="10858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下一代储备</a:t>
            </a:r>
            <a:endParaRPr sz="90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椭圆 54"/>
          <p:cNvSpPr>
            <a:spLocks noGrp="1"/>
          </p:cNvSpPr>
          <p:nvPr/>
        </p:nvSpPr>
        <p:spPr>
          <a:xfrm>
            <a:off x="7715250" y="4430395"/>
            <a:ext cx="990600" cy="990600"/>
          </a:xfrm>
          <a:prstGeom prst="ellipse">
            <a:avLst/>
          </a:prstGeom>
          <a:solidFill>
            <a:srgbClr val="B83232">
              <a:alpha val="13333"/>
            </a:srgbClr>
          </a:solidFill>
          <a:ln w="19050">
            <a:solidFill>
              <a:srgbClr val="B83232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7829550" y="4754245"/>
            <a:ext cx="762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B8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B8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激进路线</a:t>
            </a:r>
            <a:endParaRPr sz="1275" b="1">
              <a:solidFill>
                <a:srgbClr val="B8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7829550" y="5001895"/>
            <a:ext cx="762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不进关键路径</a:t>
            </a:r>
            <a:endParaRPr sz="90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>
            <a:spLocks noGrp="1"/>
          </p:cNvSpPr>
          <p:nvPr/>
        </p:nvSpPr>
        <p:spPr>
          <a:xfrm>
            <a:off x="8477250" y="171450"/>
            <a:ext cx="2952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36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6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项目收束</a:t>
            </a:r>
            <a:endParaRPr sz="36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直接连接符 2"/>
          <p:cNvSpPr>
            <a:spLocks noGrp="1"/>
          </p:cNvSpPr>
          <p:nvPr/>
        </p:nvSpPr>
        <p:spPr>
          <a:xfrm>
            <a:off x="8524875" y="914400"/>
            <a:ext cx="3114675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002060"/>
            </a:solidFill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714375" y="1143000"/>
            <a:ext cx="9953625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进度、质量、风险、成本同时成立，Rubin 封装才交得出去</a:t>
            </a:r>
            <a:endParaRPr sz="2250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809625" y="1809750"/>
            <a:ext cx="4095750" cy="3143250"/>
          </a:xfrm>
          <a:prstGeom prst="rect">
            <a:avLst/>
          </a:prstGeom>
          <a:solidFill>
            <a:srgbClr val="FFFFFF"/>
          </a:solidFill>
          <a:ln w="11430">
            <a:solidFill>
              <a:srgbClr val="D8E2EF"/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1066800" y="2076450"/>
            <a:ext cx="1476375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交付结论</a:t>
            </a:r>
            <a:endParaRPr sz="1650" b="1">
              <a:solidFill>
                <a:srgbClr val="005B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1066800" y="2524125"/>
            <a:ext cx="3381375" cy="1104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Rubin 封装不是单靠一项技术押注，而是把关键路径、复合良率、供应链单点和成本路线同时管住。</a:t>
            </a:r>
            <a:endParaRPr sz="1650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066800" y="3857625"/>
            <a:ext cx="3238500" cy="19050"/>
          </a:xfrm>
          <a:prstGeom prst="rect">
            <a:avLst/>
          </a:prstGeom>
          <a:solidFill>
            <a:srgbClr val="005BAC"/>
          </a:solidFill>
          <a:ln w="0">
            <a:solidFill>
              <a:srgbClr val="005BAC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066800" y="4095750"/>
            <a:ext cx="33337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本代：CoWoS-L 保交付</a:t>
            </a:r>
            <a:endParaRPr sz="1350" b="1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buNone/>
              <a:defRPr sz="1350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下代：玻璃基板吃降本红利</a:t>
            </a:r>
            <a:endParaRPr sz="1350" b="1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5715000" y="1733550"/>
            <a:ext cx="4762500" cy="609600"/>
          </a:xfrm>
          <a:prstGeom prst="rect">
            <a:avLst/>
          </a:prstGeom>
          <a:solidFill>
            <a:srgbClr val="EAF3FB"/>
          </a:solidFill>
          <a:ln w="13335">
            <a:solidFill>
              <a:srgbClr val="005BAC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715000" y="1733550"/>
            <a:ext cx="723900" cy="609600"/>
          </a:xfrm>
          <a:prstGeom prst="rect">
            <a:avLst/>
          </a:prstGeom>
          <a:solidFill>
            <a:srgbClr val="005BAC"/>
          </a:solidFill>
          <a:ln w="0">
            <a:solidFill>
              <a:srgbClr val="005BAC"/>
            </a:solidFill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5848350" y="18669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6591300" y="182880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005BA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进度</a:t>
            </a:r>
            <a:endParaRPr sz="1350" b="1">
              <a:solidFill>
                <a:srgbClr val="005BA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448550" y="182880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HBM4 与 CoWoS 产能先锁</a:t>
            </a:r>
            <a:endParaRPr sz="1275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7448550" y="20764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4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把最长链变成可排程节点</a:t>
            </a:r>
            <a:endParaRPr sz="94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5715000" y="2609850"/>
            <a:ext cx="4762500" cy="609600"/>
          </a:xfrm>
          <a:prstGeom prst="rect">
            <a:avLst/>
          </a:prstGeom>
          <a:solidFill>
            <a:srgbClr val="F1F8F5"/>
          </a:solidFill>
          <a:ln w="13335">
            <a:solidFill>
              <a:srgbClr val="70AD47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5715000" y="2609850"/>
            <a:ext cx="723900" cy="609600"/>
          </a:xfrm>
          <a:prstGeom prst="rect">
            <a:avLst/>
          </a:prstGeom>
          <a:solidFill>
            <a:srgbClr val="70AD47"/>
          </a:solidFill>
          <a:ln w="0">
            <a:solidFill>
              <a:srgbClr val="70AD47"/>
            </a:solidFill>
            <a:prstDash val="solid"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5848350" y="27432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591300" y="270510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70AD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70AD4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质量</a:t>
            </a:r>
            <a:endParaRPr sz="1350" b="1">
              <a:solidFill>
                <a:srgbClr val="70AD4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7448550" y="270510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KGD 前筛 + 质量门前移</a:t>
            </a:r>
            <a:endParaRPr sz="1275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448550" y="29527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4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守住复合良率，避免整包报废</a:t>
            </a:r>
            <a:endParaRPr sz="94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715000" y="3486150"/>
            <a:ext cx="4762500" cy="609600"/>
          </a:xfrm>
          <a:prstGeom prst="rect">
            <a:avLst/>
          </a:prstGeom>
          <a:solidFill>
            <a:srgbClr val="FFF8F3"/>
          </a:solidFill>
          <a:ln w="13335">
            <a:solidFill>
              <a:srgbClr val="ED7D31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5715000" y="3486150"/>
            <a:ext cx="723900" cy="609600"/>
          </a:xfrm>
          <a:prstGeom prst="rect">
            <a:avLst/>
          </a:prstGeom>
          <a:solidFill>
            <a:srgbClr val="ED7D31"/>
          </a:solidFill>
          <a:ln w="0">
            <a:solidFill>
              <a:srgbClr val="ED7D31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5848350" y="36195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591300" y="358140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风险</a:t>
            </a:r>
            <a:endParaRPr sz="1350" b="1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448550" y="358140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 / 供应 / 外部风险可触发</a:t>
            </a:r>
            <a:endParaRPr sz="1275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48550" y="38290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4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规避、减轻、转移、对冲同步跑</a:t>
            </a:r>
            <a:endParaRPr sz="94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5715000" y="4362450"/>
            <a:ext cx="4762500" cy="609600"/>
          </a:xfrm>
          <a:prstGeom prst="rect">
            <a:avLst/>
          </a:prstGeom>
          <a:solidFill>
            <a:srgbClr val="FFF2F2"/>
          </a:solidFill>
          <a:ln w="13335">
            <a:solidFill>
              <a:srgbClr val="B83232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5715000" y="4362450"/>
            <a:ext cx="723900" cy="609600"/>
          </a:xfrm>
          <a:prstGeom prst="rect">
            <a:avLst/>
          </a:prstGeom>
          <a:solidFill>
            <a:srgbClr val="B83232"/>
          </a:solidFill>
          <a:ln w="0">
            <a:solidFill>
              <a:srgbClr val="B83232"/>
            </a:solidFill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5848350" y="4495800"/>
            <a:ext cx="4572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591300" y="4457700"/>
            <a:ext cx="762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B8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B8323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</a:t>
            </a:r>
            <a:endParaRPr sz="1350" b="1">
              <a:solidFill>
                <a:srgbClr val="B8323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7448550" y="4457700"/>
            <a:ext cx="2571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02B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良率降本，本代先保交付</a:t>
            </a:r>
            <a:endParaRPr sz="1275" b="1">
              <a:solidFill>
                <a:srgbClr val="102B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448550" y="4705350"/>
            <a:ext cx="2667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4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0" b="0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下代再导入玻璃基板规模效应</a:t>
            </a:r>
            <a:endParaRPr sz="940" b="0">
              <a:solidFill>
                <a:srgbClr val="4454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直接连接符 33"/>
          <p:cNvSpPr>
            <a:spLocks noGrp="1"/>
          </p:cNvSpPr>
          <p:nvPr/>
        </p:nvSpPr>
        <p:spPr>
          <a:xfrm>
            <a:off x="5143500" y="2038350"/>
            <a:ext cx="57150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005BAC"/>
            </a:solidFill>
            <a:prstDash val="solid"/>
          </a:ln>
        </p:spPr>
      </p:sp>
      <p:sp>
        <p:nvSpPr>
          <p:cNvPr id="35" name="直接连接符 34"/>
          <p:cNvSpPr>
            <a:spLocks noGrp="1"/>
          </p:cNvSpPr>
          <p:nvPr/>
        </p:nvSpPr>
        <p:spPr>
          <a:xfrm>
            <a:off x="5143500" y="2914650"/>
            <a:ext cx="57150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70AD47"/>
            </a:solidFill>
            <a:prstDash val="solid"/>
          </a:ln>
        </p:spPr>
      </p:sp>
      <p:sp>
        <p:nvSpPr>
          <p:cNvPr id="36" name="直接连接符 35"/>
          <p:cNvSpPr>
            <a:spLocks noGrp="1"/>
          </p:cNvSpPr>
          <p:nvPr/>
        </p:nvSpPr>
        <p:spPr>
          <a:xfrm>
            <a:off x="5143500" y="3790950"/>
            <a:ext cx="57150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ED7D31"/>
            </a:solidFill>
            <a:prstDash val="solid"/>
          </a:ln>
        </p:spPr>
      </p:sp>
      <p:sp>
        <p:nvSpPr>
          <p:cNvPr id="37" name="直接连接符 36"/>
          <p:cNvSpPr>
            <a:spLocks noGrp="1"/>
          </p:cNvSpPr>
          <p:nvPr/>
        </p:nvSpPr>
        <p:spPr>
          <a:xfrm>
            <a:off x="5143500" y="4667250"/>
            <a:ext cx="571500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B83232"/>
            </a:solidFill>
            <a:prstDash val="solid"/>
          </a:ln>
        </p:spPr>
      </p:sp>
      <p:sp>
        <p:nvSpPr>
          <p:cNvPr id="38" name="矩形 37"/>
          <p:cNvSpPr>
            <a:spLocks noGrp="1"/>
          </p:cNvSpPr>
          <p:nvPr/>
        </p:nvSpPr>
        <p:spPr>
          <a:xfrm>
            <a:off x="5715000" y="5429250"/>
            <a:ext cx="4762500" cy="457200"/>
          </a:xfrm>
          <a:prstGeom prst="rect">
            <a:avLst/>
          </a:prstGeom>
          <a:solidFill>
            <a:srgbClr val="102B50"/>
          </a:solidFill>
          <a:ln w="0">
            <a:solidFill>
              <a:srgbClr val="102B50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5981700" y="5543550"/>
            <a:ext cx="42291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谁能同时跑赢这四件事，谁就拿到下一代 AI 芯片的入场券</a:t>
            </a:r>
            <a:endParaRPr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" name="组合 2"/>
          <p:cNvGrpSpPr/>
          <p:nvPr>
            <p:custDataLst>
              <p:tags r:id="rId1"/>
            </p:custDataLst>
          </p:nvPr>
        </p:nvGrpSpPr>
        <p:grpSpPr>
          <a:xfrm>
            <a:off x="448310" y="2359025"/>
            <a:ext cx="2720975" cy="3246120"/>
            <a:chOff x="14209" y="3715"/>
            <a:chExt cx="4285" cy="5112"/>
          </a:xfrm>
        </p:grpSpPr>
        <p:sp>
          <p:nvSpPr>
            <p:cNvPr id="76" name="Shape 37"/>
            <p:cNvSpPr/>
            <p:nvPr>
              <p:custDataLst>
                <p:tags r:id="rId2"/>
              </p:custDataLst>
            </p:nvPr>
          </p:nvSpPr>
          <p:spPr>
            <a:xfrm>
              <a:off x="14209" y="3715"/>
              <a:ext cx="4285" cy="5112"/>
            </a:xfrm>
            <a:prstGeom prst="roundRect">
              <a:avLst>
                <a:gd name="adj" fmla="val 2688"/>
              </a:avLst>
            </a:prstGeom>
            <a:solidFill>
              <a:srgbClr val="FDFEFF"/>
            </a:solidFill>
            <a:ln w="12700">
              <a:solidFill>
                <a:srgbClr val="C9DAF2"/>
              </a:solidFill>
              <a:prstDash val="solid"/>
            </a:ln>
            <a:effectLst>
              <a:outerShdw blurRad="25400" dist="50800" dir="2700000" algn="bl" rotWithShape="0">
                <a:srgbClr val="B8C8E0">
                  <a:alpha val="15000"/>
                </a:srgbClr>
              </a:outerShdw>
            </a:effectLst>
          </p:spPr>
        </p:sp>
        <p:sp>
          <p:nvSpPr>
            <p:cNvPr id="77" name="Shape 38"/>
            <p:cNvSpPr/>
            <p:nvPr>
              <p:custDataLst>
                <p:tags r:id="rId3"/>
              </p:custDataLst>
            </p:nvPr>
          </p:nvSpPr>
          <p:spPr>
            <a:xfrm>
              <a:off x="14468" y="4363"/>
              <a:ext cx="1094" cy="0"/>
            </a:xfrm>
            <a:prstGeom prst="line">
              <a:avLst/>
            </a:prstGeom>
            <a:noFill/>
            <a:ln w="10160">
              <a:solidFill>
                <a:srgbClr val="C4D3E9"/>
              </a:solidFill>
              <a:prstDash val="solid"/>
            </a:ln>
          </p:spPr>
        </p:sp>
        <p:sp>
          <p:nvSpPr>
            <p:cNvPr id="78" name="Shape 39"/>
            <p:cNvSpPr/>
            <p:nvPr>
              <p:custDataLst>
                <p:tags r:id="rId4"/>
              </p:custDataLst>
            </p:nvPr>
          </p:nvSpPr>
          <p:spPr>
            <a:xfrm>
              <a:off x="17140" y="4363"/>
              <a:ext cx="1094" cy="0"/>
            </a:xfrm>
            <a:prstGeom prst="line">
              <a:avLst/>
            </a:prstGeom>
            <a:noFill/>
            <a:ln w="10160">
              <a:solidFill>
                <a:srgbClr val="C4D3E9"/>
              </a:solidFill>
              <a:prstDash val="solid"/>
            </a:ln>
          </p:spPr>
        </p:sp>
        <p:sp>
          <p:nvSpPr>
            <p:cNvPr id="79" name="Shape 40"/>
            <p:cNvSpPr/>
            <p:nvPr>
              <p:custDataLst>
                <p:tags r:id="rId5"/>
              </p:custDataLst>
            </p:nvPr>
          </p:nvSpPr>
          <p:spPr>
            <a:xfrm>
              <a:off x="16006" y="4018"/>
              <a:ext cx="691" cy="691"/>
            </a:xfrm>
            <a:prstGeom prst="ellipse">
              <a:avLst/>
            </a:prstGeom>
            <a:solidFill>
              <a:srgbClr val="1F6FE5"/>
            </a:solidFill>
            <a:ln w="15240">
              <a:solidFill>
                <a:srgbClr val="FFFFFF"/>
              </a:solidFill>
              <a:prstDash val="solid"/>
            </a:ln>
            <a:effectLst>
              <a:outerShdw blurRad="25400" dist="50800" dir="2700000" algn="bl" rotWithShape="0">
                <a:srgbClr val="7BA7E6">
                  <a:alpha val="22000"/>
                </a:srgbClr>
              </a:outerShdw>
            </a:effectLst>
          </p:spPr>
        </p:sp>
        <p:sp>
          <p:nvSpPr>
            <p:cNvPr id="80" name="Shape 41"/>
            <p:cNvSpPr/>
            <p:nvPr>
              <p:custDataLst>
                <p:tags r:id="rId6"/>
              </p:custDataLst>
            </p:nvPr>
          </p:nvSpPr>
          <p:spPr>
            <a:xfrm>
              <a:off x="16243" y="4212"/>
              <a:ext cx="216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81" name="Shape 42"/>
            <p:cNvSpPr/>
            <p:nvPr>
              <p:custDataLst>
                <p:tags r:id="rId7"/>
              </p:custDataLst>
            </p:nvPr>
          </p:nvSpPr>
          <p:spPr>
            <a:xfrm>
              <a:off x="16171" y="4442"/>
              <a:ext cx="360" cy="187"/>
            </a:xfrm>
            <a:prstGeom prst="roundRect">
              <a:avLst>
                <a:gd name="adj" fmla="val 30769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82" name="Text 43"/>
            <p:cNvSpPr/>
            <p:nvPr>
              <p:custDataLst>
                <p:tags r:id="rId8"/>
              </p:custDataLst>
            </p:nvPr>
          </p:nvSpPr>
          <p:spPr>
            <a:xfrm>
              <a:off x="14425" y="4954"/>
              <a:ext cx="3853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530" b="1" dirty="0">
                  <a:solidFill>
                    <a:srgbClr val="222B3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李梓川</a:t>
              </a:r>
              <a:endParaRPr lang="en-US" sz="1530" dirty="0"/>
            </a:p>
          </p:txBody>
        </p:sp>
        <p:sp>
          <p:nvSpPr>
            <p:cNvPr id="83" name="Text 44"/>
            <p:cNvSpPr/>
            <p:nvPr>
              <p:custDataLst>
                <p:tags r:id="rId9"/>
              </p:custDataLst>
            </p:nvPr>
          </p:nvSpPr>
          <p:spPr>
            <a:xfrm>
              <a:off x="14497" y="5789"/>
              <a:ext cx="3709" cy="83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3300" b="1" dirty="0">
                  <a:solidFill>
                    <a:srgbClr val="1F6FE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25%</a:t>
              </a:r>
              <a:endParaRPr lang="en-US" sz="3300" dirty="0"/>
            </a:p>
          </p:txBody>
        </p:sp>
        <p:sp>
          <p:nvSpPr>
            <p:cNvPr id="84" name="Shape 45"/>
            <p:cNvSpPr/>
            <p:nvPr>
              <p:custDataLst>
                <p:tags r:id="rId10"/>
              </p:custDataLst>
            </p:nvPr>
          </p:nvSpPr>
          <p:spPr>
            <a:xfrm>
              <a:off x="14526" y="6638"/>
              <a:ext cx="3651" cy="0"/>
            </a:xfrm>
            <a:prstGeom prst="line">
              <a:avLst/>
            </a:prstGeom>
            <a:noFill/>
            <a:ln w="10160">
              <a:solidFill>
                <a:srgbClr val="C4D3E9"/>
              </a:solidFill>
              <a:prstDash val="solid"/>
            </a:ln>
          </p:spPr>
        </p:sp>
        <p:sp>
          <p:nvSpPr>
            <p:cNvPr id="85" name="Text 46"/>
            <p:cNvSpPr/>
            <p:nvPr>
              <p:custDataLst>
                <p:tags r:id="rId11"/>
              </p:custDataLst>
            </p:nvPr>
          </p:nvSpPr>
          <p:spPr>
            <a:xfrm>
              <a:off x="14324" y="6941"/>
              <a:ext cx="4170" cy="175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rmAutofit/>
            </a:bodyPr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222B3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•  架构审校优化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222B3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•  </a:t>
              </a:r>
              <a:r>
                <a:rPr lang="zh-CN" altLang="en-US" sz="1300" dirty="0">
                  <a:solidFill>
                    <a:srgbClr val="222B3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“进度</a:t>
              </a:r>
              <a:r>
                <a:rPr lang="zh-CN" altLang="en-US" sz="1300" dirty="0">
                  <a:solidFill>
                    <a:srgbClr val="222B3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管理”</a:t>
              </a:r>
              <a:r>
                <a:rPr lang="en-US" sz="1300" dirty="0" err="1">
                  <a:solidFill>
                    <a:srgbClr val="222B3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部分PPT与文稿编写</a:t>
              </a:r>
              <a:endParaRPr lang="en-US" sz="1300" dirty="0"/>
            </a:p>
            <a:p>
              <a:pPr marL="0" indent="0">
                <a:buNone/>
              </a:pPr>
              <a:r>
                <a:rPr lang="en-US" sz="1300" dirty="0">
                  <a:solidFill>
                    <a:srgbClr val="222B3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•  PPT美化</a:t>
              </a:r>
              <a:endParaRPr lang="en-US" sz="1300" dirty="0"/>
            </a:p>
          </p:txBody>
        </p:sp>
      </p:grpSp>
      <p:sp>
        <p:nvSpPr>
          <p:cNvPr id="40" name="Text 0"/>
          <p:cNvSpPr/>
          <p:nvPr/>
        </p:nvSpPr>
        <p:spPr>
          <a:xfrm>
            <a:off x="482122" y="530354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41" name="Shape 2"/>
          <p:cNvSpPr/>
          <p:nvPr/>
        </p:nvSpPr>
        <p:spPr>
          <a:xfrm>
            <a:off x="2926080" y="1225296"/>
            <a:ext cx="6355080" cy="713232"/>
          </a:xfrm>
          <a:prstGeom prst="roundRect">
            <a:avLst>
              <a:gd name="adj" fmla="val 15385"/>
            </a:avLst>
          </a:prstGeom>
          <a:solidFill>
            <a:srgbClr val="F8FBFF"/>
          </a:solidFill>
          <a:ln w="12700">
            <a:solidFill>
              <a:srgbClr val="C9DAF2"/>
            </a:solidFill>
            <a:prstDash val="solid"/>
          </a:ln>
          <a:effectLst>
            <a:outerShdw blurRad="25400" dist="50800" dir="2700000" algn="bl" rotWithShape="0">
              <a:srgbClr val="B8C8E0">
                <a:alpha val="12000"/>
              </a:srgbClr>
            </a:outerShdw>
          </a:effectLst>
        </p:spPr>
      </p:sp>
      <p:sp>
        <p:nvSpPr>
          <p:cNvPr id="42" name="Shape 3"/>
          <p:cNvSpPr/>
          <p:nvPr/>
        </p:nvSpPr>
        <p:spPr>
          <a:xfrm>
            <a:off x="3493008" y="1344168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6E6FF"/>
            </a:solidFill>
            <a:prstDash val="solid"/>
          </a:ln>
        </p:spPr>
      </p:sp>
      <p:sp>
        <p:nvSpPr>
          <p:cNvPr id="43" name="Text 4"/>
          <p:cNvSpPr/>
          <p:nvPr/>
        </p:nvSpPr>
        <p:spPr>
          <a:xfrm>
            <a:off x="3557016" y="1417320"/>
            <a:ext cx="310896" cy="219456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1F6F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👥</a:t>
            </a:r>
            <a:endParaRPr lang="en-US" sz="1600" dirty="0"/>
          </a:p>
        </p:txBody>
      </p:sp>
      <p:sp>
        <p:nvSpPr>
          <p:cNvPr id="44" name="Text 5"/>
          <p:cNvSpPr/>
          <p:nvPr/>
        </p:nvSpPr>
        <p:spPr>
          <a:xfrm>
            <a:off x="4407408" y="1453896"/>
            <a:ext cx="2697480" cy="25603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/>
          </a:bodyPr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贡献占比：四位成员均为 </a:t>
            </a:r>
            <a:endParaRPr lang="en-US" sz="1700" dirty="0"/>
          </a:p>
        </p:txBody>
      </p:sp>
      <p:sp>
        <p:nvSpPr>
          <p:cNvPr id="45" name="Text 6"/>
          <p:cNvSpPr/>
          <p:nvPr/>
        </p:nvSpPr>
        <p:spPr>
          <a:xfrm>
            <a:off x="7104888" y="1371600"/>
            <a:ext cx="777240" cy="36576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fontScale="90000" lnSpcReduction="20000"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F6F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25%</a:t>
            </a:r>
            <a:endParaRPr lang="en-US" sz="2500" dirty="0"/>
          </a:p>
        </p:txBody>
      </p:sp>
      <p:grpSp>
        <p:nvGrpSpPr>
          <p:cNvPr id="2" name="组合 1"/>
          <p:cNvGrpSpPr/>
          <p:nvPr>
            <p:custDataLst>
              <p:tags r:id="rId12"/>
            </p:custDataLst>
          </p:nvPr>
        </p:nvGrpSpPr>
        <p:grpSpPr>
          <a:xfrm>
            <a:off x="8973820" y="2359025"/>
            <a:ext cx="2720340" cy="3246120"/>
            <a:chOff x="706" y="3715"/>
            <a:chExt cx="4284" cy="5112"/>
          </a:xfrm>
        </p:grpSpPr>
        <p:sp>
          <p:nvSpPr>
            <p:cNvPr id="46" name="Shape 7"/>
            <p:cNvSpPr/>
            <p:nvPr>
              <p:custDataLst>
                <p:tags r:id="rId13"/>
              </p:custDataLst>
            </p:nvPr>
          </p:nvSpPr>
          <p:spPr>
            <a:xfrm>
              <a:off x="706" y="3715"/>
              <a:ext cx="4285" cy="5112"/>
            </a:xfrm>
            <a:prstGeom prst="roundRect">
              <a:avLst>
                <a:gd name="adj" fmla="val 2688"/>
              </a:avLst>
            </a:prstGeom>
            <a:solidFill>
              <a:srgbClr val="FDFEFF"/>
            </a:solidFill>
            <a:ln w="12700">
              <a:solidFill>
                <a:srgbClr val="C9DAF2"/>
              </a:solidFill>
              <a:prstDash val="solid"/>
            </a:ln>
            <a:effectLst>
              <a:outerShdw blurRad="25400" dist="50800" dir="2700000" algn="bl" rotWithShape="0">
                <a:srgbClr val="B8C8E0">
                  <a:alpha val="15000"/>
                </a:srgbClr>
              </a:outerShdw>
            </a:effectLst>
          </p:spPr>
        </p:sp>
        <p:sp>
          <p:nvSpPr>
            <p:cNvPr id="47" name="Shape 8"/>
            <p:cNvSpPr/>
            <p:nvPr>
              <p:custDataLst>
                <p:tags r:id="rId14"/>
              </p:custDataLst>
            </p:nvPr>
          </p:nvSpPr>
          <p:spPr>
            <a:xfrm>
              <a:off x="965" y="4363"/>
              <a:ext cx="1094" cy="0"/>
            </a:xfrm>
            <a:prstGeom prst="line">
              <a:avLst/>
            </a:prstGeom>
            <a:noFill/>
            <a:ln w="10160">
              <a:solidFill>
                <a:srgbClr val="C4D3E9"/>
              </a:solidFill>
              <a:prstDash val="solid"/>
            </a:ln>
          </p:spPr>
        </p:sp>
        <p:sp>
          <p:nvSpPr>
            <p:cNvPr id="48" name="Shape 9"/>
            <p:cNvSpPr/>
            <p:nvPr>
              <p:custDataLst>
                <p:tags r:id="rId15"/>
              </p:custDataLst>
            </p:nvPr>
          </p:nvSpPr>
          <p:spPr>
            <a:xfrm>
              <a:off x="3637" y="4363"/>
              <a:ext cx="1094" cy="0"/>
            </a:xfrm>
            <a:prstGeom prst="line">
              <a:avLst/>
            </a:prstGeom>
            <a:noFill/>
            <a:ln w="10160">
              <a:solidFill>
                <a:srgbClr val="C4D3E9"/>
              </a:solidFill>
              <a:prstDash val="solid"/>
            </a:ln>
          </p:spPr>
        </p:sp>
        <p:sp>
          <p:nvSpPr>
            <p:cNvPr id="49" name="Shape 10"/>
            <p:cNvSpPr/>
            <p:nvPr>
              <p:custDataLst>
                <p:tags r:id="rId16"/>
              </p:custDataLst>
            </p:nvPr>
          </p:nvSpPr>
          <p:spPr>
            <a:xfrm>
              <a:off x="2503" y="4018"/>
              <a:ext cx="691" cy="691"/>
            </a:xfrm>
            <a:prstGeom prst="ellipse">
              <a:avLst/>
            </a:prstGeom>
            <a:solidFill>
              <a:srgbClr val="1F6FE5"/>
            </a:solidFill>
            <a:ln w="15240">
              <a:solidFill>
                <a:srgbClr val="FFFFFF"/>
              </a:solidFill>
              <a:prstDash val="solid"/>
            </a:ln>
            <a:effectLst>
              <a:outerShdw blurRad="25400" dist="50800" dir="2700000" algn="bl" rotWithShape="0">
                <a:srgbClr val="7BA7E6">
                  <a:alpha val="22000"/>
                </a:srgbClr>
              </a:outerShdw>
            </a:effectLst>
          </p:spPr>
        </p:sp>
        <p:sp>
          <p:nvSpPr>
            <p:cNvPr id="50" name="Shape 11"/>
            <p:cNvSpPr/>
            <p:nvPr>
              <p:custDataLst>
                <p:tags r:id="rId17"/>
              </p:custDataLst>
            </p:nvPr>
          </p:nvSpPr>
          <p:spPr>
            <a:xfrm>
              <a:off x="2740" y="4212"/>
              <a:ext cx="216" cy="2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1" name="Shape 12"/>
            <p:cNvSpPr/>
            <p:nvPr>
              <p:custDataLst>
                <p:tags r:id="rId18"/>
              </p:custDataLst>
            </p:nvPr>
          </p:nvSpPr>
          <p:spPr>
            <a:xfrm>
              <a:off x="2668" y="4442"/>
              <a:ext cx="360" cy="187"/>
            </a:xfrm>
            <a:prstGeom prst="roundRect">
              <a:avLst>
                <a:gd name="adj" fmla="val 30769"/>
              </a:avLst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52" name="Text 13"/>
            <p:cNvSpPr/>
            <p:nvPr>
              <p:custDataLst>
                <p:tags r:id="rId19"/>
              </p:custDataLst>
            </p:nvPr>
          </p:nvSpPr>
          <p:spPr>
            <a:xfrm>
              <a:off x="922" y="4954"/>
              <a:ext cx="3853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530" b="1" dirty="0">
                  <a:solidFill>
                    <a:srgbClr val="222B3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成琦艺峰</a:t>
              </a:r>
              <a:endParaRPr lang="en-US" sz="1530" dirty="0"/>
            </a:p>
          </p:txBody>
        </p:sp>
        <p:sp>
          <p:nvSpPr>
            <p:cNvPr id="53" name="Text 14"/>
            <p:cNvSpPr/>
            <p:nvPr>
              <p:custDataLst>
                <p:tags r:id="rId20"/>
              </p:custDataLst>
            </p:nvPr>
          </p:nvSpPr>
          <p:spPr>
            <a:xfrm>
              <a:off x="994" y="5789"/>
              <a:ext cx="3709" cy="83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rmAutofit lnSpcReduction="10000"/>
            </a:bodyPr>
            <a:lstStyle/>
            <a:p>
              <a:pPr marL="0" indent="0" algn="ctr">
                <a:buNone/>
              </a:pPr>
              <a:r>
                <a:rPr lang="en-US" sz="3300" b="1" dirty="0">
                  <a:solidFill>
                    <a:srgbClr val="1F6FE5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pitchFamily="34" charset="-120"/>
                </a:rPr>
                <a:t>25%</a:t>
              </a:r>
              <a:endParaRPr lang="en-US" sz="3300" dirty="0"/>
            </a:p>
          </p:txBody>
        </p:sp>
        <p:sp>
          <p:nvSpPr>
            <p:cNvPr id="54" name="Shape 15"/>
            <p:cNvSpPr/>
            <p:nvPr>
              <p:custDataLst>
                <p:tags r:id="rId21"/>
              </p:custDataLst>
            </p:nvPr>
          </p:nvSpPr>
          <p:spPr>
            <a:xfrm>
              <a:off x="1022" y="6638"/>
              <a:ext cx="3651" cy="0"/>
            </a:xfrm>
            <a:prstGeom prst="line">
              <a:avLst/>
            </a:prstGeom>
            <a:noFill/>
            <a:ln w="10160">
              <a:solidFill>
                <a:srgbClr val="C4D3E9"/>
              </a:solidFill>
              <a:prstDash val="solid"/>
            </a:ln>
          </p:spPr>
        </p:sp>
      </p:grpSp>
      <p:sp>
        <p:nvSpPr>
          <p:cNvPr id="55" name="Text 16"/>
          <p:cNvSpPr/>
          <p:nvPr>
            <p:custDataLst>
              <p:tags r:id="rId22"/>
            </p:custDataLst>
          </p:nvPr>
        </p:nvSpPr>
        <p:spPr>
          <a:xfrm>
            <a:off x="9042557" y="4377689"/>
            <a:ext cx="3025288" cy="11155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</a:t>
            </a:r>
            <a:r>
              <a:rPr lang="en-US" sz="1300" dirty="0" err="1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架构审校优化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</a:t>
            </a:r>
            <a:r>
              <a:rPr lang="zh-CN" alt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“成本</a:t>
            </a:r>
            <a:r>
              <a:rPr lang="zh-CN" alt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管理”</a:t>
            </a:r>
            <a:r>
              <a:rPr lang="en-US" sz="1300" dirty="0" err="1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部分PPT与文稿编写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</a:t>
            </a:r>
            <a:r>
              <a:rPr lang="en-US" sz="1300" dirty="0" err="1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PPT美化</a:t>
            </a:r>
            <a:endParaRPr lang="en-US" sz="1300" dirty="0"/>
          </a:p>
        </p:txBody>
      </p:sp>
      <p:sp>
        <p:nvSpPr>
          <p:cNvPr id="56" name="Shape 17"/>
          <p:cNvSpPr/>
          <p:nvPr>
            <p:custDataLst>
              <p:tags r:id="rId23"/>
            </p:custDataLst>
          </p:nvPr>
        </p:nvSpPr>
        <p:spPr>
          <a:xfrm>
            <a:off x="3306242" y="2359152"/>
            <a:ext cx="2721026" cy="3246120"/>
          </a:xfrm>
          <a:prstGeom prst="roundRect">
            <a:avLst>
              <a:gd name="adj" fmla="val 2688"/>
            </a:avLst>
          </a:prstGeom>
          <a:solidFill>
            <a:srgbClr val="FDFEFF"/>
          </a:solidFill>
          <a:ln w="12700">
            <a:solidFill>
              <a:srgbClr val="C9DAF2"/>
            </a:solidFill>
            <a:prstDash val="solid"/>
          </a:ln>
          <a:effectLst>
            <a:outerShdw blurRad="25400" dist="50800" dir="2700000" algn="bl" rotWithShape="0">
              <a:srgbClr val="B8C8E0">
                <a:alpha val="15000"/>
              </a:srgbClr>
            </a:outerShdw>
          </a:effectLst>
        </p:spPr>
      </p:sp>
      <p:sp>
        <p:nvSpPr>
          <p:cNvPr id="57" name="Shape 18"/>
          <p:cNvSpPr/>
          <p:nvPr>
            <p:custDataLst>
              <p:tags r:id="rId24"/>
            </p:custDataLst>
          </p:nvPr>
        </p:nvSpPr>
        <p:spPr>
          <a:xfrm>
            <a:off x="3470834" y="2770632"/>
            <a:ext cx="694944" cy="0"/>
          </a:xfrm>
          <a:prstGeom prst="line">
            <a:avLst/>
          </a:prstGeom>
          <a:noFill/>
          <a:ln w="10160">
            <a:solidFill>
              <a:srgbClr val="C4D3E9"/>
            </a:solidFill>
            <a:prstDash val="solid"/>
          </a:ln>
        </p:spPr>
      </p:sp>
      <p:sp>
        <p:nvSpPr>
          <p:cNvPr id="58" name="Shape 19"/>
          <p:cNvSpPr/>
          <p:nvPr>
            <p:custDataLst>
              <p:tags r:id="rId25"/>
            </p:custDataLst>
          </p:nvPr>
        </p:nvSpPr>
        <p:spPr>
          <a:xfrm>
            <a:off x="5167732" y="2770632"/>
            <a:ext cx="694944" cy="0"/>
          </a:xfrm>
          <a:prstGeom prst="line">
            <a:avLst/>
          </a:prstGeom>
          <a:noFill/>
          <a:ln w="10160">
            <a:solidFill>
              <a:srgbClr val="C4D3E9"/>
            </a:solidFill>
            <a:prstDash val="solid"/>
          </a:ln>
        </p:spPr>
      </p:sp>
      <p:sp>
        <p:nvSpPr>
          <p:cNvPr id="59" name="Shape 20"/>
          <p:cNvSpPr/>
          <p:nvPr>
            <p:custDataLst>
              <p:tags r:id="rId26"/>
            </p:custDataLst>
          </p:nvPr>
        </p:nvSpPr>
        <p:spPr>
          <a:xfrm>
            <a:off x="4447299" y="2551176"/>
            <a:ext cx="438912" cy="438912"/>
          </a:xfrm>
          <a:prstGeom prst="ellipse">
            <a:avLst/>
          </a:prstGeom>
          <a:solidFill>
            <a:srgbClr val="1F6FE5"/>
          </a:solidFill>
          <a:ln w="15240">
            <a:solidFill>
              <a:srgbClr val="FFFFFF"/>
            </a:solidFill>
            <a:prstDash val="solid"/>
          </a:ln>
          <a:effectLst>
            <a:outerShdw blurRad="25400" dist="50800" dir="2700000" algn="bl" rotWithShape="0">
              <a:srgbClr val="7BA7E6">
                <a:alpha val="22000"/>
              </a:srgbClr>
            </a:outerShdw>
          </a:effectLst>
        </p:spPr>
      </p:sp>
      <p:sp>
        <p:nvSpPr>
          <p:cNvPr id="60" name="Shape 21"/>
          <p:cNvSpPr/>
          <p:nvPr>
            <p:custDataLst>
              <p:tags r:id="rId27"/>
            </p:custDataLst>
          </p:nvPr>
        </p:nvSpPr>
        <p:spPr>
          <a:xfrm>
            <a:off x="4598175" y="267462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Shape 22"/>
          <p:cNvSpPr/>
          <p:nvPr>
            <p:custDataLst>
              <p:tags r:id="rId28"/>
            </p:custDataLst>
          </p:nvPr>
        </p:nvSpPr>
        <p:spPr>
          <a:xfrm>
            <a:off x="4552455" y="2820924"/>
            <a:ext cx="228600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Text 23"/>
          <p:cNvSpPr/>
          <p:nvPr>
            <p:custDataLst>
              <p:tags r:id="rId29"/>
            </p:custDataLst>
          </p:nvPr>
        </p:nvSpPr>
        <p:spPr>
          <a:xfrm>
            <a:off x="3443402" y="3145536"/>
            <a:ext cx="244670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 err="1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郑智瑄</a:t>
            </a:r>
            <a:endParaRPr lang="en-US" sz="1530" dirty="0"/>
          </a:p>
        </p:txBody>
      </p:sp>
      <p:sp>
        <p:nvSpPr>
          <p:cNvPr id="63" name="Text 24"/>
          <p:cNvSpPr/>
          <p:nvPr>
            <p:custDataLst>
              <p:tags r:id="rId30"/>
            </p:custDataLst>
          </p:nvPr>
        </p:nvSpPr>
        <p:spPr>
          <a:xfrm>
            <a:off x="3489122" y="3675888"/>
            <a:ext cx="235526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F6F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25%</a:t>
            </a:r>
            <a:endParaRPr lang="en-US" sz="3300" dirty="0"/>
          </a:p>
        </p:txBody>
      </p:sp>
      <p:sp>
        <p:nvSpPr>
          <p:cNvPr id="64" name="Shape 25"/>
          <p:cNvSpPr/>
          <p:nvPr>
            <p:custDataLst>
              <p:tags r:id="rId31"/>
            </p:custDataLst>
          </p:nvPr>
        </p:nvSpPr>
        <p:spPr>
          <a:xfrm>
            <a:off x="3507410" y="4215384"/>
            <a:ext cx="2318690" cy="0"/>
          </a:xfrm>
          <a:prstGeom prst="line">
            <a:avLst/>
          </a:prstGeom>
          <a:noFill/>
          <a:ln w="10160">
            <a:solidFill>
              <a:srgbClr val="C4D3E9"/>
            </a:solidFill>
            <a:prstDash val="solid"/>
          </a:ln>
        </p:spPr>
      </p:sp>
      <p:sp>
        <p:nvSpPr>
          <p:cNvPr id="65" name="Text 26"/>
          <p:cNvSpPr/>
          <p:nvPr>
            <p:custDataLst>
              <p:tags r:id="rId32"/>
            </p:custDataLst>
          </p:nvPr>
        </p:nvSpPr>
        <p:spPr>
          <a:xfrm>
            <a:off x="3377907" y="4443984"/>
            <a:ext cx="2647873" cy="11155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整体报告架构构思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</a:t>
            </a:r>
            <a:r>
              <a:rPr lang="zh-CN" alt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“质量</a:t>
            </a:r>
            <a:r>
              <a:rPr lang="zh-CN" alt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管理”</a:t>
            </a:r>
            <a:r>
              <a:rPr lang="en-US" sz="1300" dirty="0" err="1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部分PPT与文稿编写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PPT初稿整合</a:t>
            </a:r>
            <a:endParaRPr lang="en-US" sz="1300" dirty="0"/>
          </a:p>
        </p:txBody>
      </p:sp>
      <p:sp>
        <p:nvSpPr>
          <p:cNvPr id="66" name="Shape 27"/>
          <p:cNvSpPr/>
          <p:nvPr>
            <p:custDataLst>
              <p:tags r:id="rId33"/>
            </p:custDataLst>
          </p:nvPr>
        </p:nvSpPr>
        <p:spPr>
          <a:xfrm>
            <a:off x="6164428" y="2359152"/>
            <a:ext cx="2721026" cy="3246120"/>
          </a:xfrm>
          <a:prstGeom prst="roundRect">
            <a:avLst>
              <a:gd name="adj" fmla="val 2688"/>
            </a:avLst>
          </a:prstGeom>
          <a:solidFill>
            <a:srgbClr val="FDFEFF"/>
          </a:solidFill>
          <a:ln w="12700">
            <a:solidFill>
              <a:srgbClr val="C9DAF2"/>
            </a:solidFill>
            <a:prstDash val="solid"/>
          </a:ln>
          <a:effectLst>
            <a:outerShdw blurRad="25400" dist="50800" dir="2700000" algn="bl" rotWithShape="0">
              <a:srgbClr val="B8C8E0">
                <a:alpha val="15000"/>
              </a:srgbClr>
            </a:outerShdw>
          </a:effectLst>
        </p:spPr>
      </p:sp>
      <p:sp>
        <p:nvSpPr>
          <p:cNvPr id="67" name="Shape 28"/>
          <p:cNvSpPr/>
          <p:nvPr>
            <p:custDataLst>
              <p:tags r:id="rId34"/>
            </p:custDataLst>
          </p:nvPr>
        </p:nvSpPr>
        <p:spPr>
          <a:xfrm>
            <a:off x="6329020" y="2770632"/>
            <a:ext cx="694944" cy="0"/>
          </a:xfrm>
          <a:prstGeom prst="line">
            <a:avLst/>
          </a:prstGeom>
          <a:noFill/>
          <a:ln w="10160">
            <a:solidFill>
              <a:srgbClr val="C4D3E9"/>
            </a:solidFill>
            <a:prstDash val="solid"/>
          </a:ln>
        </p:spPr>
      </p:sp>
      <p:sp>
        <p:nvSpPr>
          <p:cNvPr id="68" name="Shape 29"/>
          <p:cNvSpPr/>
          <p:nvPr>
            <p:custDataLst>
              <p:tags r:id="rId35"/>
            </p:custDataLst>
          </p:nvPr>
        </p:nvSpPr>
        <p:spPr>
          <a:xfrm>
            <a:off x="8025917" y="2770632"/>
            <a:ext cx="694944" cy="0"/>
          </a:xfrm>
          <a:prstGeom prst="line">
            <a:avLst/>
          </a:prstGeom>
          <a:noFill/>
          <a:ln w="10160">
            <a:solidFill>
              <a:srgbClr val="C4D3E9"/>
            </a:solidFill>
            <a:prstDash val="solid"/>
          </a:ln>
        </p:spPr>
      </p:sp>
      <p:sp>
        <p:nvSpPr>
          <p:cNvPr id="69" name="Shape 30"/>
          <p:cNvSpPr/>
          <p:nvPr>
            <p:custDataLst>
              <p:tags r:id="rId36"/>
            </p:custDataLst>
          </p:nvPr>
        </p:nvSpPr>
        <p:spPr>
          <a:xfrm>
            <a:off x="7305485" y="2551176"/>
            <a:ext cx="438912" cy="438912"/>
          </a:xfrm>
          <a:prstGeom prst="ellipse">
            <a:avLst/>
          </a:prstGeom>
          <a:solidFill>
            <a:srgbClr val="1F6FE5"/>
          </a:solidFill>
          <a:ln w="15240">
            <a:solidFill>
              <a:srgbClr val="FFFFFF"/>
            </a:solidFill>
            <a:prstDash val="solid"/>
          </a:ln>
          <a:effectLst>
            <a:outerShdw blurRad="25400" dist="50800" dir="2700000" algn="bl" rotWithShape="0">
              <a:srgbClr val="7BA7E6">
                <a:alpha val="22000"/>
              </a:srgbClr>
            </a:outerShdw>
          </a:effectLst>
        </p:spPr>
      </p:sp>
      <p:sp>
        <p:nvSpPr>
          <p:cNvPr id="70" name="Shape 31"/>
          <p:cNvSpPr/>
          <p:nvPr>
            <p:custDataLst>
              <p:tags r:id="rId37"/>
            </p:custDataLst>
          </p:nvPr>
        </p:nvSpPr>
        <p:spPr>
          <a:xfrm>
            <a:off x="7456361" y="2674620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1" name="Shape 32"/>
          <p:cNvSpPr/>
          <p:nvPr>
            <p:custDataLst>
              <p:tags r:id="rId38"/>
            </p:custDataLst>
          </p:nvPr>
        </p:nvSpPr>
        <p:spPr>
          <a:xfrm>
            <a:off x="7410641" y="2820924"/>
            <a:ext cx="228600" cy="118872"/>
          </a:xfrm>
          <a:prstGeom prst="roundRect">
            <a:avLst>
              <a:gd name="adj" fmla="val 3076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2" name="Text 33"/>
          <p:cNvSpPr/>
          <p:nvPr>
            <p:custDataLst>
              <p:tags r:id="rId39"/>
            </p:custDataLst>
          </p:nvPr>
        </p:nvSpPr>
        <p:spPr>
          <a:xfrm>
            <a:off x="6301588" y="3145536"/>
            <a:ext cx="2446706" cy="29260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30" b="1" dirty="0" err="1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孙维奇（组长</a:t>
            </a:r>
            <a:r>
              <a:rPr lang="en-US" sz="1530" b="1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）</a:t>
            </a:r>
            <a:endParaRPr lang="en-US" sz="1530" dirty="0"/>
          </a:p>
        </p:txBody>
      </p:sp>
      <p:sp>
        <p:nvSpPr>
          <p:cNvPr id="73" name="Text 34"/>
          <p:cNvSpPr/>
          <p:nvPr>
            <p:custDataLst>
              <p:tags r:id="rId40"/>
            </p:custDataLst>
          </p:nvPr>
        </p:nvSpPr>
        <p:spPr>
          <a:xfrm>
            <a:off x="6347308" y="3675888"/>
            <a:ext cx="2355266" cy="530352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F6FE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25%</a:t>
            </a:r>
            <a:endParaRPr lang="en-US" sz="3300" dirty="0"/>
          </a:p>
        </p:txBody>
      </p:sp>
      <p:sp>
        <p:nvSpPr>
          <p:cNvPr id="74" name="Shape 35"/>
          <p:cNvSpPr/>
          <p:nvPr>
            <p:custDataLst>
              <p:tags r:id="rId41"/>
            </p:custDataLst>
          </p:nvPr>
        </p:nvSpPr>
        <p:spPr>
          <a:xfrm>
            <a:off x="6365596" y="4215384"/>
            <a:ext cx="2318690" cy="0"/>
          </a:xfrm>
          <a:prstGeom prst="line">
            <a:avLst/>
          </a:prstGeom>
          <a:noFill/>
          <a:ln w="10160">
            <a:solidFill>
              <a:srgbClr val="C4D3E9"/>
            </a:solidFill>
            <a:prstDash val="solid"/>
          </a:ln>
        </p:spPr>
      </p:sp>
      <p:sp>
        <p:nvSpPr>
          <p:cNvPr id="75" name="Text 36"/>
          <p:cNvSpPr/>
          <p:nvPr>
            <p:custDataLst>
              <p:tags r:id="rId42"/>
            </p:custDataLst>
          </p:nvPr>
        </p:nvSpPr>
        <p:spPr>
          <a:xfrm>
            <a:off x="6205120" y="4377691"/>
            <a:ext cx="2670619" cy="111556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统筹分工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架构审校优化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</a:t>
            </a:r>
            <a:r>
              <a:rPr lang="zh-CN" alt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“风险</a:t>
            </a:r>
            <a:r>
              <a:rPr lang="zh-CN" alt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管理”</a:t>
            </a:r>
            <a:r>
              <a:rPr lang="en-US" sz="1300" dirty="0" err="1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部分PPT与文稿编写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2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•  PPT美化</a:t>
            </a:r>
            <a:endParaRPr lang="en-US" sz="1300" dirty="0"/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8477250" y="171450"/>
            <a:ext cx="2952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36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6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分工</a:t>
            </a:r>
            <a:r>
              <a:rPr lang="zh-CN" sz="36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说明</a:t>
            </a:r>
            <a:endParaRPr lang="zh-CN" sz="36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直接连接符 87"/>
          <p:cNvSpPr>
            <a:spLocks noGrp="1"/>
          </p:cNvSpPr>
          <p:nvPr/>
        </p:nvSpPr>
        <p:spPr>
          <a:xfrm>
            <a:off x="8524875" y="914400"/>
            <a:ext cx="3114675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00206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" name="Text 0"/>
          <p:cNvSpPr/>
          <p:nvPr/>
        </p:nvSpPr>
        <p:spPr>
          <a:xfrm>
            <a:off x="482122" y="530354"/>
            <a:ext cx="2651760" cy="47548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endParaRPr lang="en-US" sz="4400" dirty="0"/>
          </a:p>
        </p:txBody>
      </p:sp>
      <p:sp>
        <p:nvSpPr>
          <p:cNvPr id="87" name="矩形 86"/>
          <p:cNvSpPr>
            <a:spLocks noGrp="1"/>
          </p:cNvSpPr>
          <p:nvPr/>
        </p:nvSpPr>
        <p:spPr>
          <a:xfrm>
            <a:off x="8477250" y="171450"/>
            <a:ext cx="2952750" cy="647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36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36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</a:t>
            </a:r>
            <a:r>
              <a:rPr lang="zh-CN" sz="3600" b="1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倾听</a:t>
            </a:r>
            <a:endParaRPr lang="zh-CN" sz="3600" b="1">
              <a:solidFill>
                <a:srgbClr val="59595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8" name="直接连接符 87"/>
          <p:cNvSpPr>
            <a:spLocks noGrp="1"/>
          </p:cNvSpPr>
          <p:nvPr/>
        </p:nvSpPr>
        <p:spPr>
          <a:xfrm>
            <a:off x="8524875" y="914400"/>
            <a:ext cx="3114675" cy="0"/>
          </a:xfrm>
          <a:prstGeom prst="line">
            <a:avLst/>
          </a:prstGeom>
          <a:solidFill>
            <a:srgbClr val="000000">
              <a:alpha val="0"/>
            </a:srgbClr>
          </a:solidFill>
          <a:ln w="19050">
            <a:solidFill>
              <a:srgbClr val="0020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098280" y="1188720"/>
            <a:ext cx="1737360" cy="1737360"/>
          </a:xfrm>
          <a:prstGeom prst="ellipse">
            <a:avLst/>
          </a:prstGeom>
          <a:solidFill>
            <a:srgbClr val="EAF4FF">
              <a:alpha val="35000"/>
            </a:srgbClr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4526280"/>
            <a:ext cx="685800" cy="685800"/>
          </a:xfrm>
          <a:prstGeom prst="ellipse">
            <a:avLst/>
          </a:prstGeom>
          <a:solidFill>
            <a:srgbClr val="EAF4FF">
              <a:alpha val="30000"/>
            </a:srgbClr>
          </a:solidFill>
          <a:ln w="12700">
            <a:solidFill>
              <a:srgbClr val="EAF4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300000">
            <a:off x="4754880" y="1188720"/>
            <a:ext cx="2834640" cy="2011680"/>
          </a:xfrm>
          <a:prstGeom prst="arc">
            <a:avLst/>
          </a:prstGeom>
          <a:solidFill>
            <a:srgbClr val="FFFFFF">
              <a:alpha val="0"/>
            </a:srgbClr>
          </a:solidFill>
          <a:ln w="15240">
            <a:solidFill>
              <a:srgbClr val="C8DCF7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00600" y="2240280"/>
            <a:ext cx="1783080" cy="146304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B7D6FF"/>
            </a:solidFill>
            <a:prstDash val="solid"/>
          </a:ln>
          <a:effectLst>
            <a:outerShdw blurRad="25400" dist="50800" dir="2700000" algn="bl" rotWithShape="0">
              <a:srgbClr val="7FB1F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30368" y="2468880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F73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5400" dirty="0"/>
          </a:p>
        </p:txBody>
      </p:sp>
      <p:sp>
        <p:nvSpPr>
          <p:cNvPr id="11" name="Shape 9"/>
          <p:cNvSpPr/>
          <p:nvPr/>
        </p:nvSpPr>
        <p:spPr>
          <a:xfrm>
            <a:off x="6903720" y="2395728"/>
            <a:ext cx="1691640" cy="1097280"/>
          </a:xfrm>
          <a:prstGeom prst="roundRect">
            <a:avLst>
              <a:gd name="adj" fmla="val 15000"/>
            </a:avLst>
          </a:prstGeom>
          <a:solidFill>
            <a:srgbClr val="A8CBFF">
              <a:alpha val="88000"/>
            </a:srgbClr>
          </a:solidFill>
          <a:ln w="12700">
            <a:solidFill>
              <a:srgbClr val="A8CB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78040" y="2633472"/>
            <a:ext cx="1143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···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4709160" y="3877056"/>
            <a:ext cx="3840480" cy="109728"/>
          </a:xfrm>
          <a:prstGeom prst="ellipse">
            <a:avLst/>
          </a:prstGeom>
          <a:solidFill>
            <a:srgbClr val="CFE2FF">
              <a:alpha val="90000"/>
            </a:srgbClr>
          </a:solidFill>
          <a:ln w="12700">
            <a:solidFill>
              <a:srgbClr val="CFE2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43100" y="4249643"/>
            <a:ext cx="845820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3600" b="1" dirty="0">
                <a:solidFill>
                  <a:srgbClr val="1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恳请各位</a:t>
            </a:r>
            <a:r>
              <a:rPr lang="en-US" sz="3600" b="1" dirty="0" err="1">
                <a:solidFill>
                  <a:srgbClr val="1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老师</a:t>
            </a:r>
            <a:r>
              <a:rPr lang="zh-CN" altLang="en-US" sz="3600" b="1" dirty="0">
                <a:solidFill>
                  <a:srgbClr val="1F73E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、同学批评指正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977640" y="4956048"/>
            <a:ext cx="4251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50" dirty="0"/>
          </a:p>
        </p:txBody>
      </p:sp>
      <p:sp>
        <p:nvSpPr>
          <p:cNvPr id="16" name="Shape 14"/>
          <p:cNvSpPr/>
          <p:nvPr/>
        </p:nvSpPr>
        <p:spPr>
          <a:xfrm>
            <a:off x="3337560" y="2816352"/>
            <a:ext cx="502920" cy="0"/>
          </a:xfrm>
          <a:prstGeom prst="line">
            <a:avLst/>
          </a:prstGeom>
          <a:noFill/>
          <a:ln w="38100">
            <a:solidFill>
              <a:srgbClr val="D5E7FF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098280" y="3547872"/>
            <a:ext cx="594360" cy="0"/>
          </a:xfrm>
          <a:prstGeom prst="line">
            <a:avLst/>
          </a:prstGeom>
          <a:noFill/>
          <a:ln w="38100">
            <a:solidFill>
              <a:srgbClr val="D5E7FF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4069080" y="1993392"/>
            <a:ext cx="118872" cy="118872"/>
          </a:xfrm>
          <a:prstGeom prst="ellipse">
            <a:avLst/>
          </a:prstGeom>
          <a:solidFill>
            <a:srgbClr val="A9CCFF"/>
          </a:solidFill>
          <a:ln w="12700">
            <a:solidFill>
              <a:srgbClr val="A9CCFF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3703320"/>
            <a:ext cx="100584" cy="100584"/>
          </a:xfrm>
          <a:prstGeom prst="ellipse">
            <a:avLst/>
          </a:prstGeom>
          <a:solidFill>
            <a:srgbClr val="A9CCFF"/>
          </a:solidFill>
          <a:ln w="12700">
            <a:solidFill>
              <a:srgbClr val="A9CC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69480" y="1691640"/>
            <a:ext cx="2011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9CC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+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480560" y="2148840"/>
            <a:ext cx="201168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9CC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pitchFamily="34" charset="-120"/>
              </a:rPr>
              <a:t>+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02920" y="6108192"/>
            <a:ext cx="11183112" cy="0"/>
          </a:xfrm>
          <a:prstGeom prst="line">
            <a:avLst/>
          </a:prstGeom>
          <a:noFill/>
          <a:ln w="12700">
            <a:solidFill>
              <a:srgbClr val="E3EFFD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3,&quot;left&quot;:90,&quot;top&quot;:142.5,&quot;width&quot;:352.5}"/>
</p:tagLst>
</file>

<file path=ppt/tags/tag2.xml><?xml version="1.0" encoding="utf-8"?>
<p:tagLst xmlns:p="http://schemas.openxmlformats.org/presentationml/2006/main">
  <p:tag name="KSO_WM_DIAGRAM_VIRTUALLY_FRAME" val="{&quot;height&quot;:243,&quot;left&quot;:90,&quot;top&quot;:142.5,&quot;width&quot;:352.5}"/>
</p:tagLst>
</file>

<file path=ppt/tags/tag3.xml><?xml version="1.0" encoding="utf-8"?>
<p:tagLst xmlns:p="http://schemas.openxmlformats.org/presentationml/2006/main">
  <p:tag name="KSO_WM_DIAGRAM_VIRTUALLY_FRAME" val="{&quot;height&quot;:243,&quot;left&quot;:90,&quot;top&quot;:142.5,&quot;width&quot;:352.5}"/>
</p:tagLst>
</file>

<file path=ppt/tags/tag4.xml><?xml version="1.0" encoding="utf-8"?>
<p:tagLst xmlns:p="http://schemas.openxmlformats.org/presentationml/2006/main">
  <p:tag name="KSO_WM_DIAGRAM_VIRTUALLY_FRAME" val="{&quot;height&quot;:243,&quot;left&quot;:90,&quot;top&quot;:142.5,&quot;width&quot;:352.5}"/>
</p:tagLst>
</file>

<file path=ppt/tags/tag5.xml><?xml version="1.0" encoding="utf-8"?>
<p:tagLst xmlns:p="http://schemas.openxmlformats.org/presentationml/2006/main">
  <p:tag name="KSO_WM_DIAGRAM_VIRTUALLY_FRAME" val="{&quot;height&quot;:243,&quot;left&quot;:90,&quot;top&quot;:142.5,&quot;width&quot;:352.5}"/>
</p:tagLst>
</file>

<file path=ppt/tags/tag6.xml><?xml version="1.0" encoding="utf-8"?>
<p:tagLst xmlns:p="http://schemas.openxmlformats.org/presentationml/2006/main">
  <p:tag name="KSO_WM_DIAGRAM_VIRTUALLY_FRAME" val="{&quot;height&quot;:243,&quot;left&quot;:90,&quot;top&quot;:142.5,&quot;width&quot;:352.5}"/>
</p:tagLst>
</file>

<file path=ppt/tags/tag7.xml><?xml version="1.0" encoding="utf-8"?>
<p:tagLst xmlns:p="http://schemas.openxmlformats.org/presentationml/2006/main">
  <p:tag name="KSO_WM_DIAGRAM_VIRTUALLY_FRAME" val="{&quot;height&quot;:243,&quot;left&quot;:90,&quot;top&quot;:142.5,&quot;width&quot;:352.5}"/>
</p:tagLst>
</file>

<file path=ppt/tags/tag8.xml><?xml version="1.0" encoding="utf-8"?>
<p:tagLst xmlns:p="http://schemas.openxmlformats.org/presentationml/2006/main">
  <p:tag name="KSO_WM_DIAGRAM_VIRTUALLY_FRAME" val="{&quot;height&quot;:243,&quot;left&quot;:90,&quot;top&quot;:142.5,&quot;width&quot;:352.5}"/>
</p:tagLst>
</file>

<file path=ppt/tags/tag9.xml><?xml version="1.0" encoding="utf-8"?>
<p:tagLst xmlns:p="http://schemas.openxmlformats.org/presentationml/2006/main">
  <p:tag name="KSO_WM_DIAGRAM_VIRTUALLY_FRAME" val="{&quot;height&quot;:243,&quot;left&quot;:90,&quot;top&quot;:142.5,&quot;width&quot;:352.5}"/>
</p:tagLst>
</file>

<file path=ppt/tags/tag10.xml><?xml version="1.0" encoding="utf-8"?>
<p:tagLst xmlns:p="http://schemas.openxmlformats.org/presentationml/2006/main">
  <p:tag name="KSO_WM_DIAGRAM_VIRTUALLY_FRAME" val="{&quot;height&quot;:243,&quot;left&quot;:90,&quot;top&quot;:142.5,&quot;width&quot;:352.5}"/>
</p:tagLst>
</file>

<file path=ppt/tags/tag11.xml><?xml version="1.0" encoding="utf-8"?>
<p:tagLst xmlns:p="http://schemas.openxmlformats.org/presentationml/2006/main">
  <p:tag name="KSO_WM_DIAGRAM_VIRTUALLY_FRAME" val="{&quot;height&quot;:243,&quot;left&quot;:90,&quot;top&quot;:142.5,&quot;width&quot;:352.5}"/>
</p:tagLst>
</file>

<file path=ppt/tags/tag12.xml><?xml version="1.0" encoding="utf-8"?>
<p:tagLst xmlns:p="http://schemas.openxmlformats.org/presentationml/2006/main">
  <p:tag name="KSO_WM_DIAGRAM_VIRTUALLY_FRAME" val="{&quot;height&quot;:243,&quot;left&quot;:90,&quot;top&quot;:142.5,&quot;width&quot;:352.5}"/>
</p:tagLst>
</file>

<file path=ppt/tags/tag13.xml><?xml version="1.0" encoding="utf-8"?>
<p:tagLst xmlns:p="http://schemas.openxmlformats.org/presentationml/2006/main">
  <p:tag name="KSO_WM_DIAGRAM_VIRTUALLY_FRAME" val="{&quot;height&quot;:243,&quot;left&quot;:90,&quot;top&quot;:142.5,&quot;width&quot;:352.5}"/>
</p:tagLst>
</file>

<file path=ppt/tags/tag14.xml><?xml version="1.0" encoding="utf-8"?>
<p:tagLst xmlns:p="http://schemas.openxmlformats.org/presentationml/2006/main">
  <p:tag name="KSO_WM_DIAGRAM_VIRTUALLY_FRAME" val="{&quot;height&quot;:243,&quot;left&quot;:90,&quot;top&quot;:142.5,&quot;width&quot;:352.5}"/>
</p:tagLst>
</file>

<file path=ppt/tags/tag15.xml><?xml version="1.0" encoding="utf-8"?>
<p:tagLst xmlns:p="http://schemas.openxmlformats.org/presentationml/2006/main">
  <p:tag name="KSO_WM_DIAGRAM_VIRTUALLY_FRAME" val="{&quot;height&quot;:243,&quot;left&quot;:90,&quot;top&quot;:142.5,&quot;width&quot;:352.5}"/>
</p:tagLst>
</file>

<file path=ppt/tags/tag16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17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18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19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20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21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22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23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24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25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26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27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28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29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30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31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32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33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34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35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36.xml><?xml version="1.0" encoding="utf-8"?>
<p:tagLst xmlns:p="http://schemas.openxmlformats.org/presentationml/2006/main">
  <p:tag name="KSO_WM_DIAGRAM_VIRTUALLY_FRAME" val="{&quot;height&quot;:230.25,&quot;left&quot;:42.25,&quot;top&quot;:165,&quot;width&quot;:542.75}"/>
</p:tagLst>
</file>

<file path=ppt/tags/tag37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38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39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40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41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42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43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44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45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46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47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48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49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50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51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52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53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54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55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56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57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58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59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60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61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62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63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64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65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66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67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68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69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70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71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72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73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74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75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76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77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ags/tag78.xml><?xml version="1.0" encoding="utf-8"?>
<p:tagLst xmlns:p="http://schemas.openxmlformats.org/presentationml/2006/main">
  <p:tag name="KSO_WM_DIAGRAM_VIRTUALLY_FRAME" val="{&quot;height&quot;:255.61000000000004,&quot;left&quot;:32.5,&quot;top&quot;:185.75,&quot;width&quot;:892.2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全部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全部微软雅黑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2459</Words>
  <Application>WPS 演示</Application>
  <PresentationFormat>Converted Presentation</PresentationFormat>
  <Paragraphs>412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Wingdings</vt:lpstr>
      <vt:lpstr>Cambria Math</vt:lpstr>
      <vt:lpstr>Cambria Math</vt:lpstr>
      <vt:lpstr>等线</vt:lpstr>
      <vt:lpstr>微软雅黑</vt:lpstr>
      <vt:lpstr>Arial Unicode MS</vt:lpstr>
      <vt:lpstr>Aptos Display</vt:lpstr>
      <vt:lpstr>Segoe UI Variable Display</vt:lpstr>
      <vt:lpstr>Aptos Display</vt:lpstr>
      <vt:lpstr>Aptos Display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孙维奇</cp:lastModifiedBy>
  <cp:revision>19</cp:revision>
  <dcterms:created xsi:type="dcterms:W3CDTF">2026-06-13T12:14:00Z</dcterms:created>
  <dcterms:modified xsi:type="dcterms:W3CDTF">2026-06-16T08:00:36Z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1085E4DA397845B1AAD25861D86696DD_12</vt:lpwstr>
  </property>
  <property fmtid="{D5CDD505-2E9C-101B-9397-08002B2CF9AE}" pid="3" name="KSOProductBuildVer">
    <vt:lpwstr>2052-12.1.0.25222</vt:lpwstr>
  </property>
</Properties>
</file>