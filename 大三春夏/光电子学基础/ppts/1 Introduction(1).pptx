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25" r:id="rId1"/>
  </p:sldMasterIdLst>
  <p:notesMasterIdLst>
    <p:notesMasterId r:id="rId43"/>
  </p:notesMasterIdLst>
  <p:handoutMasterIdLst>
    <p:handoutMasterId r:id="rId44"/>
  </p:handoutMasterIdLst>
  <p:sldIdLst>
    <p:sldId id="479" r:id="rId2"/>
    <p:sldId id="483" r:id="rId3"/>
    <p:sldId id="555" r:id="rId4"/>
    <p:sldId id="633" r:id="rId5"/>
    <p:sldId id="563" r:id="rId6"/>
    <p:sldId id="558" r:id="rId7"/>
    <p:sldId id="562" r:id="rId8"/>
    <p:sldId id="561" r:id="rId9"/>
    <p:sldId id="628" r:id="rId10"/>
    <p:sldId id="554" r:id="rId11"/>
    <p:sldId id="553" r:id="rId12"/>
    <p:sldId id="664" r:id="rId13"/>
    <p:sldId id="632" r:id="rId14"/>
    <p:sldId id="635" r:id="rId15"/>
    <p:sldId id="634" r:id="rId16"/>
    <p:sldId id="631" r:id="rId17"/>
    <p:sldId id="627" r:id="rId18"/>
    <p:sldId id="646" r:id="rId19"/>
    <p:sldId id="654" r:id="rId20"/>
    <p:sldId id="569" r:id="rId21"/>
    <p:sldId id="657" r:id="rId22"/>
    <p:sldId id="659" r:id="rId23"/>
    <p:sldId id="650" r:id="rId24"/>
    <p:sldId id="651" r:id="rId25"/>
    <p:sldId id="661" r:id="rId26"/>
    <p:sldId id="660" r:id="rId27"/>
    <p:sldId id="566" r:id="rId28"/>
    <p:sldId id="570" r:id="rId29"/>
    <p:sldId id="658" r:id="rId30"/>
    <p:sldId id="596" r:id="rId31"/>
    <p:sldId id="574" r:id="rId32"/>
    <p:sldId id="581" r:id="rId33"/>
    <p:sldId id="582" r:id="rId34"/>
    <p:sldId id="576" r:id="rId35"/>
    <p:sldId id="578" r:id="rId36"/>
    <p:sldId id="580" r:id="rId37"/>
    <p:sldId id="662" r:id="rId38"/>
    <p:sldId id="655" r:id="rId39"/>
    <p:sldId id="656" r:id="rId40"/>
    <p:sldId id="579" r:id="rId41"/>
    <p:sldId id="663"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E9E4"/>
    <a:srgbClr val="9E0000"/>
    <a:srgbClr val="FDD5D5"/>
    <a:srgbClr val="640E00"/>
    <a:srgbClr val="FED5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37" autoAdjust="0"/>
    <p:restoredTop sz="94660"/>
  </p:normalViewPr>
  <p:slideViewPr>
    <p:cSldViewPr snapToGrid="0">
      <p:cViewPr varScale="1">
        <p:scale>
          <a:sx n="91" d="100"/>
          <a:sy n="91" d="100"/>
        </p:scale>
        <p:origin x="141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2FED03B-8713-423C-851D-50A6C1177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0EEF400-8678-4702-8C69-AC0124F656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88B7A2-AE07-4777-BD5F-9EA6CD7E243A}" type="datetimeFigureOut">
              <a:rPr lang="en-US" smtClean="0"/>
              <a:t>2/20/2025</a:t>
            </a:fld>
            <a:endParaRPr lang="en-US"/>
          </a:p>
        </p:txBody>
      </p:sp>
      <p:sp>
        <p:nvSpPr>
          <p:cNvPr id="4" name="Footer Placeholder 3">
            <a:extLst>
              <a:ext uri="{FF2B5EF4-FFF2-40B4-BE49-F238E27FC236}">
                <a16:creationId xmlns:a16="http://schemas.microsoft.com/office/drawing/2014/main" id="{AE16B06D-7168-4094-AAF2-34BDECE207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2B5E041-D031-4590-9BD2-066A452568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F77D9D-0B32-498F-BF2A-3621F9DDCD43}" type="slidenum">
              <a:rPr lang="en-US" smtClean="0"/>
              <a:t>‹#›</a:t>
            </a:fld>
            <a:endParaRPr lang="en-US"/>
          </a:p>
        </p:txBody>
      </p:sp>
    </p:spTree>
    <p:extLst>
      <p:ext uri="{BB962C8B-B14F-4D97-AF65-F5344CB8AC3E}">
        <p14:creationId xmlns:p14="http://schemas.microsoft.com/office/powerpoint/2010/main" val="34996117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AF2513-D640-4369-B0B6-06CC860D0AC5}" type="datetimeFigureOut">
              <a:rPr lang="en-US" smtClean="0"/>
              <a:t>2/20/2025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D961B-05A6-47CD-9654-EAA20B766657}" type="slidenum">
              <a:rPr lang="en-US" smtClean="0"/>
              <a:t>‹#›</a:t>
            </a:fld>
            <a:endParaRPr lang="en-US"/>
          </a:p>
        </p:txBody>
      </p:sp>
    </p:spTree>
    <p:extLst>
      <p:ext uri="{BB962C8B-B14F-4D97-AF65-F5344CB8AC3E}">
        <p14:creationId xmlns:p14="http://schemas.microsoft.com/office/powerpoint/2010/main" val="230595508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310475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893743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3DE2D-6E0E-BB38-EABC-941131BD366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377EDB-76EC-3C0A-1F46-A2DF816ED02D}"/>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8A1E4D2E-516E-EF13-A336-5291C9F87943}"/>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8EF369A-D2E3-71D6-1976-E34C52DA70E0}"/>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81390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8621708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95079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210669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333394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066116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51795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88984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5CACA-2895-C3CB-1442-7F44F623F15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DE7D21-1460-EE89-9907-A3BCD0A8617A}"/>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88AE7F4D-CC9D-6BE6-503C-A730781159D4}"/>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D2C8C846-FA4B-F512-AE90-6B854D6F167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01565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40745-35B5-1AB3-4DF5-6FA000B15C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636FF1-8A42-2C8B-75CF-2E872A6182AF}"/>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BE7CD284-4BB0-F9FB-9823-30C4FF4F2A09}"/>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F51521D-D254-C862-0A8D-1873900C9DBB}"/>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3208225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95043-52C6-5992-A449-B2D83361AAF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C63034-F033-1630-CC25-776889B0CC57}"/>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D257F1C6-7F4E-E6EC-D7D2-62CCE4E4C03E}"/>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C7F917D6-967E-2BD3-91E4-B546C5F8A591}"/>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3292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C64FF-182F-22E8-118C-20FB007B39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C9500E-DB6E-911A-2695-B1A5B0273804}"/>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E417BE9F-16A6-6DDC-72E3-14717873A974}"/>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15DF375F-CAEB-8267-2D8C-F603A07F0D05}"/>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691822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CBDD7-67AE-4F5B-7FAF-9DA0544B9E7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D8C747-D8CD-7210-BBAC-E0648619543C}"/>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1E172B49-28B0-603E-A495-B29D02A7FF4D}"/>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AA6A3A2A-4042-6E41-64FE-0438A4E56B8B}"/>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241251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744746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0FC4D-812E-95C9-D31E-7F97DC06C4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965608-E61C-DF23-07F5-22A6A96478AF}"/>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3671E73C-EBAB-3FE9-8B77-430A0DFF7C56}"/>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F1FE117-898F-CDCA-C469-F563B51A049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716397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0FC4D-812E-95C9-D31E-7F97DC06C4D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965608-E61C-DF23-07F5-22A6A96478AF}"/>
              </a:ext>
            </a:extLst>
          </p:cNvPr>
          <p:cNvSpPr>
            <a:spLocks noGrp="1" noRot="1" noChangeAspect="1"/>
          </p:cNvSpPr>
          <p:nvPr>
            <p:ph type="sldImg"/>
          </p:nvPr>
        </p:nvSpPr>
        <p:spPr>
          <a:xfrm>
            <a:off x="1371600" y="1143000"/>
            <a:ext cx="4114800" cy="3086100"/>
          </a:xfrm>
        </p:spPr>
      </p:sp>
      <p:sp>
        <p:nvSpPr>
          <p:cNvPr id="3" name="备注占位符 2">
            <a:extLst>
              <a:ext uri="{FF2B5EF4-FFF2-40B4-BE49-F238E27FC236}">
                <a16:creationId xmlns:a16="http://schemas.microsoft.com/office/drawing/2014/main" id="{3671E73C-EBAB-3FE9-8B77-430A0DFF7C56}"/>
              </a:ext>
            </a:extLst>
          </p:cNvPr>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4F1FE117-898F-CDCA-C469-F563B51A049E}"/>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862682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529602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058703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658114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9244581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565234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086081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392702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138698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884343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6511743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232311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829189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3990762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137440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371088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01568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373233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293138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830633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3476174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8453756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GB" altLang="en-US"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8D198D2-E56C-44FC-AC96-0C4FD52F0C1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671726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Rectangle 3"/>
          <p:cNvSpPr/>
          <p:nvPr userDrawn="1"/>
        </p:nvSpPr>
        <p:spPr>
          <a:xfrm>
            <a:off x="0" y="-1"/>
            <a:ext cx="9144000" cy="535633"/>
          </a:xfrm>
          <a:prstGeom prst="rect">
            <a:avLst/>
          </a:prstGeom>
          <a:solidFill>
            <a:srgbClr val="255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5" name="文本框 4">
            <a:extLst>
              <a:ext uri="{FF2B5EF4-FFF2-40B4-BE49-F238E27FC236}">
                <a16:creationId xmlns:a16="http://schemas.microsoft.com/office/drawing/2014/main" id="{2DC5DAE3-429C-42DB-97F0-AD39CBCD7152}"/>
              </a:ext>
            </a:extLst>
          </p:cNvPr>
          <p:cNvSpPr txBox="1"/>
          <p:nvPr userDrawn="1"/>
        </p:nvSpPr>
        <p:spPr>
          <a:xfrm>
            <a:off x="7032349" y="6564442"/>
            <a:ext cx="1561146" cy="219291"/>
          </a:xfrm>
          <a:prstGeom prst="rect">
            <a:avLst/>
          </a:prstGeom>
          <a:noFill/>
        </p:spPr>
        <p:txBody>
          <a:bodyPr wrap="square" rtlCol="0">
            <a:spAutoFit/>
          </a:bodyPr>
          <a:lstStyle/>
          <a:p>
            <a:r>
              <a:rPr lang="en-GB" sz="800" i="0" dirty="0">
                <a:solidFill>
                  <a:schemeClr val="tx1">
                    <a:lumMod val="50000"/>
                    <a:lumOff val="50000"/>
                  </a:schemeClr>
                </a:solidFill>
              </a:rPr>
              <a:t>www.optoelectronicszju.com</a:t>
            </a:r>
          </a:p>
        </p:txBody>
      </p:sp>
      <p:cxnSp>
        <p:nvCxnSpPr>
          <p:cNvPr id="7" name="直接连接符 6">
            <a:extLst>
              <a:ext uri="{FF2B5EF4-FFF2-40B4-BE49-F238E27FC236}">
                <a16:creationId xmlns:a16="http://schemas.microsoft.com/office/drawing/2014/main" id="{9AFB3084-8C45-4CE7-BAD9-6E31676DB22E}"/>
              </a:ext>
            </a:extLst>
          </p:cNvPr>
          <p:cNvCxnSpPr>
            <a:cxnSpLocks/>
          </p:cNvCxnSpPr>
          <p:nvPr userDrawn="1"/>
        </p:nvCxnSpPr>
        <p:spPr>
          <a:xfrm>
            <a:off x="5930209" y="6572154"/>
            <a:ext cx="2459264" cy="0"/>
          </a:xfrm>
          <a:prstGeom prst="line">
            <a:avLst/>
          </a:prstGeom>
          <a:ln w="952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643D7414-6D27-4C12-A2F7-8BB79A5325D6}"/>
              </a:ext>
            </a:extLst>
          </p:cNvPr>
          <p:cNvSpPr txBox="1"/>
          <p:nvPr userDrawn="1"/>
        </p:nvSpPr>
        <p:spPr>
          <a:xfrm>
            <a:off x="5888123" y="6568347"/>
            <a:ext cx="1220477" cy="215444"/>
          </a:xfrm>
          <a:prstGeom prst="rect">
            <a:avLst/>
          </a:prstGeom>
          <a:noFill/>
        </p:spPr>
        <p:txBody>
          <a:bodyPr wrap="square" rtlCol="0">
            <a:spAutoFit/>
          </a:bodyPr>
          <a:lstStyle/>
          <a:p>
            <a:r>
              <a:rPr lang="zh-CN" altLang="en-US" sz="800" b="1" i="0" dirty="0">
                <a:solidFill>
                  <a:schemeClr val="tx1">
                    <a:lumMod val="50000"/>
                    <a:lumOff val="50000"/>
                  </a:schemeClr>
                </a:solidFill>
                <a:latin typeface="幼圆" panose="02010509060101010101" pitchFamily="49" charset="-122"/>
                <a:ea typeface="幼圆" panose="02010509060101010101" pitchFamily="49" charset="-122"/>
              </a:rPr>
              <a:t>浙江大学光电子研究组</a:t>
            </a:r>
            <a:endParaRPr lang="en-GB" sz="800" b="1" i="0" dirty="0">
              <a:solidFill>
                <a:schemeClr val="tx1">
                  <a:lumMod val="50000"/>
                  <a:lumOff val="50000"/>
                </a:schemeClr>
              </a:solidFill>
              <a:latin typeface="幼圆" panose="02010509060101010101" pitchFamily="49" charset="-122"/>
              <a:ea typeface="幼圆" panose="02010509060101010101" pitchFamily="49" charset="-122"/>
            </a:endParaRPr>
          </a:p>
        </p:txBody>
      </p:sp>
      <p:pic>
        <p:nvPicPr>
          <p:cNvPr id="10" name="Picture 9">
            <a:extLst>
              <a:ext uri="{FF2B5EF4-FFF2-40B4-BE49-F238E27FC236}">
                <a16:creationId xmlns:a16="http://schemas.microsoft.com/office/drawing/2014/main" id="{A4FCEC2C-122F-450E-A6DC-E6F63C651A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38094" y="6515890"/>
            <a:ext cx="1448927" cy="261160"/>
          </a:xfrm>
          <a:prstGeom prst="rect">
            <a:avLst/>
          </a:prstGeom>
        </p:spPr>
      </p:pic>
      <p:sp>
        <p:nvSpPr>
          <p:cNvPr id="2" name="TextBox 1">
            <a:extLst>
              <a:ext uri="{FF2B5EF4-FFF2-40B4-BE49-F238E27FC236}">
                <a16:creationId xmlns:a16="http://schemas.microsoft.com/office/drawing/2014/main" id="{59F6D9F7-53B9-4D42-A324-14F37B1BDADD}"/>
              </a:ext>
            </a:extLst>
          </p:cNvPr>
          <p:cNvSpPr txBox="1"/>
          <p:nvPr userDrawn="1"/>
        </p:nvSpPr>
        <p:spPr>
          <a:xfrm>
            <a:off x="8485123" y="6500051"/>
            <a:ext cx="609140" cy="276999"/>
          </a:xfrm>
          <a:prstGeom prst="rect">
            <a:avLst/>
          </a:prstGeom>
          <a:noFill/>
        </p:spPr>
        <p:txBody>
          <a:bodyPr wrap="square" rtlCol="0">
            <a:spAutoFit/>
          </a:bodyPr>
          <a:lstStyle/>
          <a:p>
            <a:fld id="{5DC27B55-73FB-40DB-940F-0D374B25B093}" type="slidenum">
              <a:rPr lang="en-US" sz="1200" smtClean="0">
                <a:solidFill>
                  <a:schemeClr val="bg2">
                    <a:lumMod val="50000"/>
                  </a:schemeClr>
                </a:solidFill>
                <a:latin typeface="Arial" panose="020B0604020202020204" pitchFamily="34" charset="0"/>
                <a:cs typeface="Arial" panose="020B0604020202020204" pitchFamily="34" charset="0"/>
              </a:rPr>
              <a:t>‹#›</a:t>
            </a:fld>
            <a:r>
              <a:rPr lang="en-US" sz="1200" dirty="0">
                <a:solidFill>
                  <a:schemeClr val="bg2">
                    <a:lumMod val="50000"/>
                  </a:schemeClr>
                </a:solidFill>
                <a:latin typeface="Arial" panose="020B0604020202020204" pitchFamily="34" charset="0"/>
                <a:cs typeface="Arial" panose="020B0604020202020204" pitchFamily="34" charset="0"/>
              </a:rPr>
              <a:t>/37</a:t>
            </a:r>
          </a:p>
        </p:txBody>
      </p:sp>
    </p:spTree>
    <p:extLst>
      <p:ext uri="{BB962C8B-B14F-4D97-AF65-F5344CB8AC3E}">
        <p14:creationId xmlns:p14="http://schemas.microsoft.com/office/powerpoint/2010/main" val="555958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DC5DAE3-429C-42DB-97F0-AD39CBCD7152}"/>
              </a:ext>
            </a:extLst>
          </p:cNvPr>
          <p:cNvSpPr txBox="1"/>
          <p:nvPr userDrawn="1"/>
        </p:nvSpPr>
        <p:spPr>
          <a:xfrm>
            <a:off x="7047656" y="6438186"/>
            <a:ext cx="1561146" cy="219291"/>
          </a:xfrm>
          <a:prstGeom prst="rect">
            <a:avLst/>
          </a:prstGeom>
          <a:noFill/>
        </p:spPr>
        <p:txBody>
          <a:bodyPr wrap="square" rtlCol="0">
            <a:spAutoFit/>
          </a:bodyPr>
          <a:lstStyle/>
          <a:p>
            <a:r>
              <a:rPr lang="en-GB" sz="800" i="0" dirty="0">
                <a:solidFill>
                  <a:schemeClr val="tx1">
                    <a:lumMod val="50000"/>
                    <a:lumOff val="50000"/>
                  </a:schemeClr>
                </a:solidFill>
              </a:rPr>
              <a:t>www.optoelectronicszju.com</a:t>
            </a:r>
          </a:p>
        </p:txBody>
      </p:sp>
      <p:cxnSp>
        <p:nvCxnSpPr>
          <p:cNvPr id="7" name="直接连接符 6">
            <a:extLst>
              <a:ext uri="{FF2B5EF4-FFF2-40B4-BE49-F238E27FC236}">
                <a16:creationId xmlns:a16="http://schemas.microsoft.com/office/drawing/2014/main" id="{9AFB3084-8C45-4CE7-BAD9-6E31676DB22E}"/>
              </a:ext>
            </a:extLst>
          </p:cNvPr>
          <p:cNvCxnSpPr>
            <a:cxnSpLocks/>
          </p:cNvCxnSpPr>
          <p:nvPr userDrawn="1"/>
        </p:nvCxnSpPr>
        <p:spPr>
          <a:xfrm>
            <a:off x="5945516" y="6445898"/>
            <a:ext cx="2459264" cy="0"/>
          </a:xfrm>
          <a:prstGeom prst="line">
            <a:avLst/>
          </a:prstGeom>
          <a:ln w="9525">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9" name="文本框 8">
            <a:extLst>
              <a:ext uri="{FF2B5EF4-FFF2-40B4-BE49-F238E27FC236}">
                <a16:creationId xmlns:a16="http://schemas.microsoft.com/office/drawing/2014/main" id="{643D7414-6D27-4C12-A2F7-8BB79A5325D6}"/>
              </a:ext>
            </a:extLst>
          </p:cNvPr>
          <p:cNvSpPr txBox="1"/>
          <p:nvPr userDrawn="1"/>
        </p:nvSpPr>
        <p:spPr>
          <a:xfrm>
            <a:off x="5903430" y="6442091"/>
            <a:ext cx="1220477" cy="215444"/>
          </a:xfrm>
          <a:prstGeom prst="rect">
            <a:avLst/>
          </a:prstGeom>
          <a:noFill/>
        </p:spPr>
        <p:txBody>
          <a:bodyPr wrap="square" rtlCol="0">
            <a:spAutoFit/>
          </a:bodyPr>
          <a:lstStyle/>
          <a:p>
            <a:r>
              <a:rPr lang="zh-CN" altLang="en-US" sz="800" b="1" i="0" dirty="0">
                <a:solidFill>
                  <a:schemeClr val="tx1">
                    <a:lumMod val="50000"/>
                    <a:lumOff val="50000"/>
                  </a:schemeClr>
                </a:solidFill>
                <a:latin typeface="幼圆" panose="02010509060101010101" pitchFamily="49" charset="-122"/>
                <a:ea typeface="幼圆" panose="02010509060101010101" pitchFamily="49" charset="-122"/>
              </a:rPr>
              <a:t>浙江大学光电子研究组</a:t>
            </a:r>
            <a:endParaRPr lang="en-GB" sz="800" b="1" i="0" dirty="0">
              <a:solidFill>
                <a:schemeClr val="tx1">
                  <a:lumMod val="50000"/>
                  <a:lumOff val="50000"/>
                </a:schemeClr>
              </a:solidFill>
              <a:latin typeface="幼圆" panose="02010509060101010101" pitchFamily="49" charset="-122"/>
              <a:ea typeface="幼圆" panose="02010509060101010101" pitchFamily="49" charset="-122"/>
            </a:endParaRPr>
          </a:p>
        </p:txBody>
      </p:sp>
      <p:pic>
        <p:nvPicPr>
          <p:cNvPr id="10" name="Picture 9">
            <a:extLst>
              <a:ext uri="{FF2B5EF4-FFF2-40B4-BE49-F238E27FC236}">
                <a16:creationId xmlns:a16="http://schemas.microsoft.com/office/drawing/2014/main" id="{A4FCEC2C-122F-450E-A6DC-E6F63C651A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53401" y="6389634"/>
            <a:ext cx="1448927" cy="261160"/>
          </a:xfrm>
          <a:prstGeom prst="rect">
            <a:avLst/>
          </a:prstGeom>
        </p:spPr>
      </p:pic>
      <p:pic>
        <p:nvPicPr>
          <p:cNvPr id="11" name="Picture 10">
            <a:extLst>
              <a:ext uri="{FF2B5EF4-FFF2-40B4-BE49-F238E27FC236}">
                <a16:creationId xmlns:a16="http://schemas.microsoft.com/office/drawing/2014/main" id="{4BC586DF-A652-4DEE-BFED-C9A13C22D1A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489765" y="6234797"/>
            <a:ext cx="528933" cy="528933"/>
          </a:xfrm>
          <a:prstGeom prst="rect">
            <a:avLst/>
          </a:prstGeom>
        </p:spPr>
      </p:pic>
    </p:spTree>
    <p:extLst>
      <p:ext uri="{BB962C8B-B14F-4D97-AF65-F5344CB8AC3E}">
        <p14:creationId xmlns:p14="http://schemas.microsoft.com/office/powerpoint/2010/main" val="1700831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9933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856881"/>
      </p:ext>
    </p:extLst>
  </p:cSld>
  <p:clrMap bg1="lt1" tx1="dk1" bg2="lt2" tx2="dk2" accent1="accent1" accent2="accent2" accent3="accent3" accent4="accent4" accent5="accent5" accent6="accent6" hlink="hlink" folHlink="folHlink"/>
  <p:sldLayoutIdLst>
    <p:sldLayoutId id="2147483838" r:id="rId1"/>
    <p:sldLayoutId id="2147483839" r:id="rId2"/>
    <p:sldLayoutId id="2147483837"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3.xml"/><Relationship Id="rId6" Type="http://schemas.openxmlformats.org/officeDocument/2006/relationships/hyperlink" Target="optoelectronicszju.com" TargetMode="External"/><Relationship Id="rId5" Type="http://schemas.openxmlformats.org/officeDocument/2006/relationships/hyperlink" Target="mailto:yangzongyin@zju.edu.cn"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www.youtube.com/watch?v=a-V7zVKYPlo" TargetMode="Externa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9.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7.jp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5.emf"/></Relationships>
</file>

<file path=ppt/slides/_rels/slide29.xml.rels><?xml version="1.0" encoding="UTF-8" standalone="yes"?>
<Relationships xmlns="http://schemas.openxmlformats.org/package/2006/relationships"><Relationship Id="rId3" Type="http://schemas.openxmlformats.org/officeDocument/2006/relationships/image" Target="../media/image17.jpg"/><Relationship Id="rId7" Type="http://schemas.openxmlformats.org/officeDocument/2006/relationships/image" Target="../media/image29.jp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8.jpg"/><Relationship Id="rId5" Type="http://schemas.openxmlformats.org/officeDocument/2006/relationships/image" Target="../media/image27.png"/><Relationship Id="rId4" Type="http://schemas.openxmlformats.org/officeDocument/2006/relationships/image" Target="../media/image26.jpg"/></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1.jp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3.jp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35.jpg"/></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8.jpg"/><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6.gif"/><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28681D-1331-4A4D-B3D4-917B209F5B69}"/>
              </a:ext>
            </a:extLst>
          </p:cNvPr>
          <p:cNvPicPr>
            <a:picLocks noChangeAspect="1"/>
          </p:cNvPicPr>
          <p:nvPr/>
        </p:nvPicPr>
        <p:blipFill rotWithShape="1">
          <a:blip r:embed="rId2">
            <a:extLst>
              <a:ext uri="{28A0092B-C50C-407E-A947-70E740481C1C}">
                <a14:useLocalDpi xmlns:a14="http://schemas.microsoft.com/office/drawing/2010/main" val="0"/>
              </a:ext>
            </a:extLst>
          </a:blip>
          <a:srcRect t="17968" b="9757"/>
          <a:stretch/>
        </p:blipFill>
        <p:spPr>
          <a:xfrm>
            <a:off x="0" y="957600"/>
            <a:ext cx="9144000" cy="1116733"/>
          </a:xfrm>
          <a:prstGeom prst="rect">
            <a:avLst/>
          </a:prstGeom>
        </p:spPr>
      </p:pic>
      <p:pic>
        <p:nvPicPr>
          <p:cNvPr id="3" name="Picture 2">
            <a:extLst>
              <a:ext uri="{FF2B5EF4-FFF2-40B4-BE49-F238E27FC236}">
                <a16:creationId xmlns:a16="http://schemas.microsoft.com/office/drawing/2014/main" id="{2E37FF98-0CEF-4B09-ADEE-D9C3C08E8F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8262" y="367392"/>
            <a:ext cx="1803065" cy="515161"/>
          </a:xfrm>
          <a:prstGeom prst="rect">
            <a:avLst/>
          </a:prstGeom>
        </p:spPr>
      </p:pic>
      <p:pic>
        <p:nvPicPr>
          <p:cNvPr id="10" name="Picture 9">
            <a:extLst>
              <a:ext uri="{FF2B5EF4-FFF2-40B4-BE49-F238E27FC236}">
                <a16:creationId xmlns:a16="http://schemas.microsoft.com/office/drawing/2014/main" id="{BC6DB705-7990-41D0-9679-E670917E46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420003"/>
            <a:ext cx="2274358" cy="409938"/>
          </a:xfrm>
          <a:prstGeom prst="rect">
            <a:avLst/>
          </a:prstGeom>
        </p:spPr>
      </p:pic>
      <p:sp>
        <p:nvSpPr>
          <p:cNvPr id="8" name="object 3">
            <a:extLst>
              <a:ext uri="{FF2B5EF4-FFF2-40B4-BE49-F238E27FC236}">
                <a16:creationId xmlns:a16="http://schemas.microsoft.com/office/drawing/2014/main" id="{7D84DD68-DA40-4669-8F41-E077D801DCB5}"/>
              </a:ext>
            </a:extLst>
          </p:cNvPr>
          <p:cNvSpPr txBox="1">
            <a:spLocks noChangeArrowheads="1"/>
          </p:cNvSpPr>
          <p:nvPr/>
        </p:nvSpPr>
        <p:spPr bwMode="auto">
          <a:xfrm>
            <a:off x="0" y="2469215"/>
            <a:ext cx="9144000"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algn="ctr"/>
            <a:r>
              <a:rPr lang="en-US" altLang="zh-CN" sz="2800" b="1" dirty="0">
                <a:solidFill>
                  <a:srgbClr val="0070C0"/>
                </a:solidFill>
                <a:latin typeface="微软雅黑" panose="020B0503020204020204" pitchFamily="34" charset="-122"/>
                <a:ea typeface="微软雅黑" panose="020B0503020204020204" pitchFamily="34" charset="-122"/>
                <a:cs typeface="Microsoft YaHei" charset="0"/>
              </a:rPr>
              <a:t>Fundamentals of Optoelectronics</a:t>
            </a:r>
          </a:p>
          <a:p>
            <a:pPr algn="ctr"/>
            <a:r>
              <a:rPr lang="zh-CN" altLang="en-US" sz="2800" b="1" dirty="0">
                <a:solidFill>
                  <a:srgbClr val="0070C0"/>
                </a:solidFill>
                <a:latin typeface="微软雅黑" panose="020B0503020204020204" pitchFamily="34" charset="-122"/>
                <a:ea typeface="微软雅黑" panose="020B0503020204020204" pitchFamily="34" charset="-122"/>
                <a:cs typeface="Microsoft YaHei" charset="0"/>
              </a:rPr>
              <a:t>（光电子学基础）</a:t>
            </a:r>
            <a:endParaRPr lang="en-US" altLang="zh-CN" sz="2800" b="1" dirty="0">
              <a:solidFill>
                <a:srgbClr val="0070C0"/>
              </a:solidFill>
              <a:latin typeface="微软雅黑" panose="020B0503020204020204" pitchFamily="34" charset="-122"/>
              <a:ea typeface="微软雅黑" panose="020B0503020204020204" pitchFamily="34" charset="-122"/>
              <a:cs typeface="Microsoft YaHei" charset="0"/>
            </a:endParaRPr>
          </a:p>
          <a:p>
            <a:pPr algn="ctr"/>
            <a:endParaRPr lang="en-US" altLang="zh-CN" sz="2400" b="1" dirty="0">
              <a:solidFill>
                <a:srgbClr val="0070C0"/>
              </a:solidFill>
              <a:latin typeface="微软雅黑" panose="020B0503020204020204" pitchFamily="34" charset="-122"/>
              <a:ea typeface="微软雅黑" panose="020B0503020204020204" pitchFamily="34" charset="-122"/>
              <a:cs typeface="Microsoft YaHei" charset="0"/>
            </a:endParaRPr>
          </a:p>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Prof. Zongyin Yang </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Microsoft YaHei" charset="0"/>
              </a:rPr>
              <a:t>杨宗银</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 College of Information Science and Electronic Engineering, </a:t>
            </a:r>
          </a:p>
          <a:p>
            <a:pPr algn="ct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rPr>
              <a:t>Zhejiang University </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Microsoft YaHei" charset="0"/>
              </a:rPr>
              <a:t>浙江大学信息与电子工程学院</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 name="object 3">
            <a:extLst>
              <a:ext uri="{FF2B5EF4-FFF2-40B4-BE49-F238E27FC236}">
                <a16:creationId xmlns:a16="http://schemas.microsoft.com/office/drawing/2014/main" id="{74D597F1-A8DA-DD99-AD4F-8CF28C8135E2}"/>
              </a:ext>
            </a:extLst>
          </p:cNvPr>
          <p:cNvSpPr txBox="1">
            <a:spLocks noChangeArrowheads="1"/>
          </p:cNvSpPr>
          <p:nvPr/>
        </p:nvSpPr>
        <p:spPr bwMode="auto">
          <a:xfrm>
            <a:off x="0" y="5900399"/>
            <a:ext cx="914400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algn="ct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2025</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 春夏学期</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object 3">
            <a:extLst>
              <a:ext uri="{FF2B5EF4-FFF2-40B4-BE49-F238E27FC236}">
                <a16:creationId xmlns:a16="http://schemas.microsoft.com/office/drawing/2014/main" id="{6C4B7BDA-A0F4-689F-FDEC-11F407361EDB}"/>
              </a:ext>
            </a:extLst>
          </p:cNvPr>
          <p:cNvSpPr txBox="1">
            <a:spLocks noChangeArrowheads="1"/>
          </p:cNvSpPr>
          <p:nvPr/>
        </p:nvSpPr>
        <p:spPr bwMode="auto">
          <a:xfrm>
            <a:off x="0" y="5006763"/>
            <a:ext cx="9144000" cy="695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algn="ctr">
              <a:lnSpc>
                <a:spcPct val="150000"/>
              </a:lnSpc>
            </a:pP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Email</a:t>
            </a: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hlinkClick r:id="rId5"/>
              </a:rPr>
              <a:t>yangzongyin@zju.edu.cn</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lnSpc>
                <a:spcPct val="150000"/>
              </a:lnSpc>
            </a:pP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rPr>
              <a:t>Website: </a:t>
            </a:r>
            <a:r>
              <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hlinkClick r:id="rId6" action="ppaction://hlinkfile"/>
              </a:rPr>
              <a:t>optoelectronicszju.com</a:t>
            </a:r>
            <a:endParaRPr lang="en-US" altLang="zh-CN"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30876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Self-introduction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2" name="直接连接符 8">
            <a:extLst>
              <a:ext uri="{FF2B5EF4-FFF2-40B4-BE49-F238E27FC236}">
                <a16:creationId xmlns:a16="http://schemas.microsoft.com/office/drawing/2014/main" id="{6AB484CE-E0AB-0463-7097-FEFFB3265CED}"/>
              </a:ext>
            </a:extLst>
          </p:cNvPr>
          <p:cNvCxnSpPr>
            <a:cxnSpLocks noChangeShapeType="1"/>
            <a:endCxn id="43" idx="4"/>
          </p:cNvCxnSpPr>
          <p:nvPr/>
        </p:nvCxnSpPr>
        <p:spPr bwMode="auto">
          <a:xfrm>
            <a:off x="2297249" y="919790"/>
            <a:ext cx="794" cy="5338219"/>
          </a:xfrm>
          <a:prstGeom prst="line">
            <a:avLst/>
          </a:prstGeom>
          <a:noFill/>
          <a:ln w="28575" algn="ctr">
            <a:solidFill>
              <a:schemeClr val="tx1">
                <a:lumMod val="65000"/>
                <a:lumOff val="35000"/>
              </a:schemeClr>
            </a:solidFill>
            <a:round/>
            <a:headEnd/>
            <a:tailEnd/>
          </a:ln>
          <a:effectLst/>
        </p:spPr>
      </p:cxnSp>
      <p:sp>
        <p:nvSpPr>
          <p:cNvPr id="3" name="Text Box 3">
            <a:extLst>
              <a:ext uri="{FF2B5EF4-FFF2-40B4-BE49-F238E27FC236}">
                <a16:creationId xmlns:a16="http://schemas.microsoft.com/office/drawing/2014/main" id="{E33122C4-4677-C48B-D1E5-CA0618AA3501}"/>
              </a:ext>
            </a:extLst>
          </p:cNvPr>
          <p:cNvSpPr txBox="1"/>
          <p:nvPr/>
        </p:nvSpPr>
        <p:spPr>
          <a:xfrm>
            <a:off x="3037024" y="2989890"/>
            <a:ext cx="3321050" cy="901700"/>
          </a:xfrm>
          <a:prstGeom prst="rect">
            <a:avLst/>
          </a:prstGeom>
          <a:noFill/>
        </p:spPr>
        <p:txBody>
          <a:bodyPr>
            <a:spAutoFit/>
          </a:bodyPr>
          <a:lstStyle/>
          <a:p>
            <a:pPr eaLnBrk="1" fontAlgn="auto" hangingPunct="1">
              <a:spcBef>
                <a:spcPts val="0"/>
              </a:spcBef>
              <a:spcAft>
                <a:spcPts val="0"/>
              </a:spcAft>
              <a:defRPr/>
            </a:pPr>
            <a:r>
              <a:rPr lang="zh-CN" altLang="en-US"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剑桥</a:t>
            </a:r>
            <a:r>
              <a:rPr lang="zh-CN" altLang="en-US"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大学，</a:t>
            </a:r>
            <a:r>
              <a:rPr lang="zh-CN" altLang="en-US" b="1" dirty="0">
                <a:solidFill>
                  <a:schemeClr val="accent6"/>
                </a:solidFill>
                <a:latin typeface="微软雅黑" panose="020B0503020204020204" pitchFamily="34" charset="-122"/>
                <a:ea typeface="微软雅黑" panose="020B0503020204020204" pitchFamily="34" charset="-122"/>
                <a:cs typeface="Arial" panose="020B0604020202020204" pitchFamily="34" charset="0"/>
              </a:rPr>
              <a:t>电子</a:t>
            </a:r>
            <a:r>
              <a:rPr lang="zh-CN" altLang="en-US"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工程，博士</a:t>
            </a:r>
            <a:endParaRPr lang="en-US" altLang="zh-CN"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a:p>
            <a:pPr marL="285750" indent="-285750" eaLnBrk="1" fontAlgn="auto" hangingPunct="1">
              <a:lnSpc>
                <a:spcPct val="130000"/>
              </a:lnSpc>
              <a:spcBef>
                <a:spcPts val="0"/>
              </a:spcBef>
              <a:spcAft>
                <a:spcPts val="0"/>
              </a:spcAft>
              <a:buFont typeface="Wingdings" panose="05000000000000000000" pitchFamily="2" charset="2"/>
              <a:buChar char="v"/>
              <a:defRPr/>
            </a:pPr>
            <a:r>
              <a:rPr lang="zh-CN" altLang="en-US" sz="1400" dirty="0">
                <a:latin typeface="微软雅黑" panose="020B0503020204020204" pitchFamily="34" charset="-122"/>
                <a:ea typeface="微软雅黑" panose="020B0503020204020204" pitchFamily="34" charset="-122"/>
                <a:cs typeface="Arial" panose="020B0604020202020204" pitchFamily="34" charset="0"/>
              </a:rPr>
              <a:t>导师：</a:t>
            </a:r>
            <a:r>
              <a:rPr lang="en-US" altLang="zh-CN" sz="1400" dirty="0" err="1">
                <a:latin typeface="微软雅黑" panose="020B0503020204020204" pitchFamily="34" charset="-122"/>
                <a:ea typeface="微软雅黑" panose="020B0503020204020204" pitchFamily="34" charset="-122"/>
                <a:cs typeface="Arial" panose="020B0604020202020204" pitchFamily="34" charset="0"/>
              </a:rPr>
              <a:t>Tawfique</a:t>
            </a:r>
            <a:r>
              <a:rPr lang="en-US" altLang="zh-CN" sz="1400" dirty="0">
                <a:latin typeface="微软雅黑" panose="020B0503020204020204" pitchFamily="34" charset="-122"/>
                <a:ea typeface="微软雅黑" panose="020B0503020204020204" pitchFamily="34" charset="-122"/>
                <a:cs typeface="Arial" panose="020B0604020202020204" pitchFamily="34" charset="0"/>
              </a:rPr>
              <a:t> Hasan </a:t>
            </a:r>
            <a:r>
              <a:rPr lang="zh-CN" altLang="en-US" sz="1400" dirty="0">
                <a:latin typeface="微软雅黑" panose="020B0503020204020204" pitchFamily="34" charset="-122"/>
                <a:ea typeface="微软雅黑" panose="020B0503020204020204" pitchFamily="34" charset="-122"/>
                <a:cs typeface="Arial" panose="020B0604020202020204" pitchFamily="34" charset="0"/>
              </a:rPr>
              <a:t>副系主任</a:t>
            </a:r>
            <a:endParaRPr lang="en-US" altLang="zh-CN" sz="1400" dirty="0">
              <a:latin typeface="微软雅黑" panose="020B0503020204020204" pitchFamily="34" charset="-122"/>
              <a:ea typeface="微软雅黑" panose="020B0503020204020204" pitchFamily="34" charset="-122"/>
              <a:cs typeface="Arial" panose="020B0604020202020204" pitchFamily="34" charset="0"/>
            </a:endParaRPr>
          </a:p>
          <a:p>
            <a:pPr marL="285750" indent="-285750" eaLnBrk="1" fontAlgn="auto" hangingPunct="1">
              <a:lnSpc>
                <a:spcPct val="130000"/>
              </a:lnSpc>
              <a:spcBef>
                <a:spcPts val="0"/>
              </a:spcBef>
              <a:spcAft>
                <a:spcPts val="0"/>
              </a:spcAft>
              <a:buFont typeface="Wingdings" panose="05000000000000000000" pitchFamily="2" charset="2"/>
              <a:buChar char="v"/>
              <a:defRPr/>
            </a:pPr>
            <a:r>
              <a:rPr lang="zh-CN" altLang="en-US" sz="1400" dirty="0">
                <a:latin typeface="微软雅黑" panose="020B0503020204020204" pitchFamily="34" charset="-122"/>
                <a:ea typeface="微软雅黑" panose="020B0503020204020204" pitchFamily="34" charset="-122"/>
                <a:cs typeface="Arial" panose="020B0604020202020204" pitchFamily="34" charset="0"/>
              </a:rPr>
              <a:t>剑桥大学</a:t>
            </a:r>
            <a:r>
              <a:rPr lang="zh-CN" altLang="en-US" sz="1400"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全额奖学金</a:t>
            </a:r>
            <a:r>
              <a:rPr lang="zh-CN" altLang="en-US" sz="1400" dirty="0">
                <a:latin typeface="微软雅黑" panose="020B0503020204020204" pitchFamily="34" charset="-122"/>
                <a:ea typeface="微软雅黑" panose="020B0503020204020204" pitchFamily="34" charset="-122"/>
                <a:cs typeface="Arial" panose="020B0604020202020204" pitchFamily="34" charset="0"/>
              </a:rPr>
              <a:t>，全球</a:t>
            </a:r>
            <a:r>
              <a:rPr lang="zh-CN" altLang="en-US" sz="1400"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仅</a:t>
            </a:r>
            <a:r>
              <a:rPr lang="en-US" altLang="zh-CN" sz="1400"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80</a:t>
            </a:r>
            <a:r>
              <a:rPr lang="zh-CN" altLang="en-US" sz="1400" dirty="0">
                <a:latin typeface="微软雅黑" panose="020B0503020204020204" pitchFamily="34" charset="-122"/>
                <a:ea typeface="微软雅黑" panose="020B0503020204020204" pitchFamily="34" charset="-122"/>
                <a:cs typeface="Arial" panose="020B0604020202020204" pitchFamily="34" charset="0"/>
              </a:rPr>
              <a:t>人 </a:t>
            </a:r>
            <a:endParaRPr lang="en-US" altLang="zh-CN" sz="14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Text Box 3">
            <a:extLst>
              <a:ext uri="{FF2B5EF4-FFF2-40B4-BE49-F238E27FC236}">
                <a16:creationId xmlns:a16="http://schemas.microsoft.com/office/drawing/2014/main" id="{4F15E81D-61A8-7673-0C76-287EAA41041C}"/>
              </a:ext>
            </a:extLst>
          </p:cNvPr>
          <p:cNvSpPr txBox="1">
            <a:spLocks noChangeArrowheads="1"/>
          </p:cNvSpPr>
          <p:nvPr/>
        </p:nvSpPr>
        <p:spPr bwMode="auto">
          <a:xfrm>
            <a:off x="104912" y="3026403"/>
            <a:ext cx="20272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GB"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2014</a:t>
            </a:r>
            <a:r>
              <a:rPr lang="en-US"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.10</a:t>
            </a:r>
            <a:r>
              <a:rPr lang="en-GB"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 – 2019.1 </a:t>
            </a:r>
          </a:p>
        </p:txBody>
      </p:sp>
      <p:sp>
        <p:nvSpPr>
          <p:cNvPr id="6" name="Rectangle 6">
            <a:extLst>
              <a:ext uri="{FF2B5EF4-FFF2-40B4-BE49-F238E27FC236}">
                <a16:creationId xmlns:a16="http://schemas.microsoft.com/office/drawing/2014/main" id="{C07041DB-6D1D-9072-821A-2B36E77BC0D2}"/>
              </a:ext>
            </a:extLst>
          </p:cNvPr>
          <p:cNvSpPr>
            <a:spLocks noChangeArrowheads="1"/>
          </p:cNvSpPr>
          <p:nvPr/>
        </p:nvSpPr>
        <p:spPr bwMode="auto">
          <a:xfrm>
            <a:off x="6289812" y="1139393"/>
            <a:ext cx="2509838" cy="1745478"/>
          </a:xfrm>
          <a:prstGeom prst="rect">
            <a:avLst/>
          </a:prstGeom>
          <a:noFill/>
          <a:ln w="127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30000"/>
              </a:lnSpc>
            </a:pPr>
            <a:r>
              <a:rPr lang="zh-CN" altLang="en-US" sz="1400" b="1">
                <a:solidFill>
                  <a:srgbClr val="C00000"/>
                </a:solidFill>
                <a:latin typeface="微软雅黑" panose="020B0503020204020204" pitchFamily="34" charset="-122"/>
                <a:ea typeface="微软雅黑" panose="020B0503020204020204" pitchFamily="34" charset="-122"/>
                <a:cs typeface="Arial" panose="020B0604020202020204" pitchFamily="34" charset="0"/>
              </a:rPr>
              <a:t>全国机械设计大赛一等奖</a:t>
            </a:r>
            <a:endParaRPr lang="en-GB" altLang="zh-CN" sz="1400" b="1">
              <a:solidFill>
                <a:srgbClr val="C00000"/>
              </a:solidFill>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30000"/>
              </a:lnSpc>
            </a:pPr>
            <a:r>
              <a:rPr lang="zh-CN" altLang="en-US" sz="1400">
                <a:solidFill>
                  <a:srgbClr val="000000"/>
                </a:solidFill>
                <a:latin typeface="微软雅黑" panose="020B0503020204020204" pitchFamily="34" charset="-122"/>
                <a:ea typeface="微软雅黑" panose="020B0503020204020204" pitchFamily="34" charset="-122"/>
                <a:cs typeface="Arial" panose="020B0604020202020204" pitchFamily="34" charset="0"/>
              </a:rPr>
              <a:t>浙大机器人大赛二等奖</a:t>
            </a:r>
            <a:endParaRPr lang="en-GB" altLang="zh-CN" sz="140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30000"/>
              </a:lnSpc>
            </a:pPr>
            <a:r>
              <a:rPr lang="zh-CN" altLang="en-US" sz="1400">
                <a:solidFill>
                  <a:srgbClr val="000000"/>
                </a:solidFill>
                <a:latin typeface="微软雅黑" panose="020B0503020204020204" pitchFamily="34" charset="-122"/>
                <a:ea typeface="微软雅黑" panose="020B0503020204020204" pitchFamily="34" charset="-122"/>
                <a:cs typeface="Arial" panose="020B0604020202020204" pitchFamily="34" charset="0"/>
              </a:rPr>
              <a:t>浙江省机械设计大赛二等奖</a:t>
            </a:r>
            <a:endParaRPr lang="en-GB" altLang="zh-CN" sz="140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30000"/>
              </a:lnSpc>
            </a:pPr>
            <a:r>
              <a:rPr lang="zh-CN" altLang="en-US" sz="1400">
                <a:solidFill>
                  <a:srgbClr val="000000"/>
                </a:solidFill>
                <a:latin typeface="微软雅黑" panose="020B0503020204020204" pitchFamily="34" charset="-122"/>
                <a:ea typeface="微软雅黑" panose="020B0503020204020204" pitchFamily="34" charset="-122"/>
                <a:cs typeface="Arial" panose="020B0604020202020204" pitchFamily="34" charset="0"/>
              </a:rPr>
              <a:t>浙大机械设计大赛二等奖</a:t>
            </a:r>
            <a:endParaRPr lang="en-GB" altLang="zh-CN" sz="140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30000"/>
              </a:lnSpc>
            </a:pPr>
            <a:r>
              <a:rPr lang="zh-CN" altLang="en-US" sz="1400">
                <a:solidFill>
                  <a:srgbClr val="000000"/>
                </a:solidFill>
                <a:latin typeface="微软雅黑" panose="020B0503020204020204" pitchFamily="34" charset="-122"/>
                <a:ea typeface="微软雅黑" panose="020B0503020204020204" pitchFamily="34" charset="-122"/>
                <a:cs typeface="Arial" panose="020B0604020202020204" pitchFamily="34" charset="0"/>
              </a:rPr>
              <a:t>浙大“挑战杯” 一等奖</a:t>
            </a:r>
            <a:endParaRPr lang="en-GB" altLang="zh-CN" sz="140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eaLnBrk="1" hangingPunct="1">
              <a:lnSpc>
                <a:spcPct val="130000"/>
              </a:lnSpc>
              <a:spcAft>
                <a:spcPts val="600"/>
              </a:spcAft>
            </a:pPr>
            <a:r>
              <a:rPr lang="zh-CN" altLang="en-US" sz="1400">
                <a:solidFill>
                  <a:srgbClr val="000000"/>
                </a:solidFill>
                <a:latin typeface="微软雅黑" panose="020B0503020204020204" pitchFamily="34" charset="-122"/>
                <a:ea typeface="微软雅黑" panose="020B0503020204020204" pitchFamily="34" charset="-122"/>
                <a:cs typeface="Arial" panose="020B0604020202020204" pitchFamily="34" charset="0"/>
              </a:rPr>
              <a:t>浙大电路焊接大赛特等奖</a:t>
            </a:r>
            <a:r>
              <a:rPr lang="en-US" altLang="zh-CN" sz="1400">
                <a:solidFill>
                  <a:srgbClr val="000000"/>
                </a:solidFill>
                <a:latin typeface="微软雅黑" panose="020B0503020204020204" pitchFamily="34" charset="-122"/>
                <a:ea typeface="微软雅黑" panose="020B0503020204020204" pitchFamily="34" charset="-122"/>
                <a:cs typeface="Arial" panose="020B0604020202020204" pitchFamily="34" charset="0"/>
              </a:rPr>
              <a:t>…</a:t>
            </a:r>
            <a:endParaRPr lang="en-GB" altLang="zh-CN" sz="140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7" name="直接连接符 82">
            <a:extLst>
              <a:ext uri="{FF2B5EF4-FFF2-40B4-BE49-F238E27FC236}">
                <a16:creationId xmlns:a16="http://schemas.microsoft.com/office/drawing/2014/main" id="{8D247F0C-73D5-728C-A03F-52B2EE3B995B}"/>
              </a:ext>
            </a:extLst>
          </p:cNvPr>
          <p:cNvCxnSpPr>
            <a:cxnSpLocks/>
          </p:cNvCxnSpPr>
          <p:nvPr/>
        </p:nvCxnSpPr>
        <p:spPr>
          <a:xfrm flipH="1">
            <a:off x="5946912" y="1865940"/>
            <a:ext cx="342900" cy="0"/>
          </a:xfrm>
          <a:prstGeom prst="line">
            <a:avLst/>
          </a:prstGeom>
          <a:ln w="12700">
            <a:solidFill>
              <a:srgbClr val="0070C0"/>
            </a:solidFill>
            <a:prstDash val="dash"/>
          </a:ln>
          <a:effectLst/>
        </p:spPr>
        <p:style>
          <a:lnRef idx="2">
            <a:schemeClr val="accent1"/>
          </a:lnRef>
          <a:fillRef idx="0">
            <a:schemeClr val="accent1"/>
          </a:fillRef>
          <a:effectRef idx="1">
            <a:schemeClr val="accent1"/>
          </a:effectRef>
          <a:fontRef idx="minor">
            <a:schemeClr val="tx1"/>
          </a:fontRef>
        </p:style>
      </p:cxnSp>
      <p:sp>
        <p:nvSpPr>
          <p:cNvPr id="8" name="Text Box 3">
            <a:extLst>
              <a:ext uri="{FF2B5EF4-FFF2-40B4-BE49-F238E27FC236}">
                <a16:creationId xmlns:a16="http://schemas.microsoft.com/office/drawing/2014/main" id="{0F08ED66-46C5-7FC2-CF8D-688A244CEA4C}"/>
              </a:ext>
            </a:extLst>
          </p:cNvPr>
          <p:cNvSpPr txBox="1">
            <a:spLocks noChangeArrowheads="1"/>
          </p:cNvSpPr>
          <p:nvPr/>
        </p:nvSpPr>
        <p:spPr bwMode="auto">
          <a:xfrm>
            <a:off x="241437" y="4723407"/>
            <a:ext cx="19002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GB"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2019</a:t>
            </a:r>
            <a:r>
              <a:rPr lang="en-US"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.7</a:t>
            </a:r>
            <a:r>
              <a:rPr lang="en-GB"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 – </a:t>
            </a:r>
            <a:r>
              <a:rPr lang="en-US" altLang="zh-CN">
                <a:solidFill>
                  <a:srgbClr val="000000"/>
                </a:solidFill>
                <a:latin typeface="微软雅黑" panose="020B0503020204020204" pitchFamily="34" charset="-122"/>
                <a:ea typeface="微软雅黑" panose="020B0503020204020204" pitchFamily="34" charset="-122"/>
                <a:cs typeface="Arial" panose="020B0604020202020204" pitchFamily="34" charset="0"/>
              </a:rPr>
              <a:t>2020.8</a:t>
            </a:r>
            <a:r>
              <a:rPr lang="en-GB"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 </a:t>
            </a:r>
          </a:p>
        </p:txBody>
      </p:sp>
      <p:sp>
        <p:nvSpPr>
          <p:cNvPr id="9" name="Text Box 3">
            <a:extLst>
              <a:ext uri="{FF2B5EF4-FFF2-40B4-BE49-F238E27FC236}">
                <a16:creationId xmlns:a16="http://schemas.microsoft.com/office/drawing/2014/main" id="{4A5AD698-DE66-8896-5B2C-1B323EFEC586}"/>
              </a:ext>
            </a:extLst>
          </p:cNvPr>
          <p:cNvSpPr txBox="1"/>
          <p:nvPr/>
        </p:nvSpPr>
        <p:spPr>
          <a:xfrm>
            <a:off x="3032262" y="4721819"/>
            <a:ext cx="4430712" cy="654410"/>
          </a:xfrm>
          <a:prstGeom prst="rect">
            <a:avLst/>
          </a:prstGeom>
          <a:noFill/>
        </p:spPr>
        <p:txBody>
          <a:bodyPr>
            <a:spAutoFit/>
          </a:bodyPr>
          <a:lstStyle/>
          <a:p>
            <a:pPr eaLnBrk="1" fontAlgn="auto" hangingPunct="1">
              <a:spcBef>
                <a:spcPts val="0"/>
              </a:spcBef>
              <a:spcAft>
                <a:spcPts val="0"/>
              </a:spcAft>
              <a:defRPr/>
            </a:pPr>
            <a:r>
              <a:rPr lang="zh-CN" altLang="en-US"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剑桥</a:t>
            </a:r>
            <a:r>
              <a:rPr lang="zh-CN" altLang="en-US"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大学，国王学院，研究员</a:t>
            </a:r>
            <a:endParaRPr lang="en-GB" altLang="zh-CN"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a:p>
            <a:pPr marL="285750" indent="-285750">
              <a:lnSpc>
                <a:spcPct val="150000"/>
              </a:lnSpc>
              <a:buFont typeface="Wingdings" panose="05000000000000000000" pitchFamily="2" charset="2"/>
              <a:buChar char="v"/>
              <a:defRPr/>
            </a:pPr>
            <a:r>
              <a:rPr lang="en-US" altLang="zh-CN" sz="1400" dirty="0">
                <a:latin typeface="微软雅黑" panose="020B0503020204020204" pitchFamily="34" charset="-122"/>
                <a:ea typeface="微软雅黑" panose="020B0503020204020204" pitchFamily="34" charset="-122"/>
                <a:cs typeface="Arial" panose="020B0604020202020204" pitchFamily="34" charset="0"/>
              </a:rPr>
              <a:t>Non-stipendiary Research Fellowship</a:t>
            </a:r>
          </a:p>
        </p:txBody>
      </p:sp>
      <p:sp>
        <p:nvSpPr>
          <p:cNvPr id="10" name="Text Box 3">
            <a:extLst>
              <a:ext uri="{FF2B5EF4-FFF2-40B4-BE49-F238E27FC236}">
                <a16:creationId xmlns:a16="http://schemas.microsoft.com/office/drawing/2014/main" id="{BA42FFAA-78CB-1E0D-881F-69CDD3BFDF27}"/>
              </a:ext>
            </a:extLst>
          </p:cNvPr>
          <p:cNvSpPr txBox="1">
            <a:spLocks noChangeArrowheads="1"/>
          </p:cNvSpPr>
          <p:nvPr/>
        </p:nvSpPr>
        <p:spPr bwMode="auto">
          <a:xfrm>
            <a:off x="3025912" y="1156328"/>
            <a:ext cx="33210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en-US" b="1">
                <a:solidFill>
                  <a:srgbClr val="000000"/>
                </a:solidFill>
                <a:latin typeface="微软雅黑" panose="020B0503020204020204" pitchFamily="34" charset="-122"/>
                <a:ea typeface="微软雅黑" panose="020B0503020204020204" pitchFamily="34" charset="-122"/>
                <a:cs typeface="Arial" panose="020B0604020202020204" pitchFamily="34" charset="0"/>
              </a:rPr>
              <a:t>浙江</a:t>
            </a:r>
            <a:r>
              <a:rPr lang="zh-CN"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大学，应用</a:t>
            </a:r>
            <a:r>
              <a:rPr lang="zh-CN" altLang="en-US" b="1">
                <a:solidFill>
                  <a:srgbClr val="7030A0"/>
                </a:solidFill>
                <a:latin typeface="微软雅黑" panose="020B0503020204020204" pitchFamily="34" charset="-122"/>
                <a:ea typeface="微软雅黑" panose="020B0503020204020204" pitchFamily="34" charset="-122"/>
                <a:cs typeface="Arial" panose="020B0604020202020204" pitchFamily="34" charset="0"/>
              </a:rPr>
              <a:t>生物</a:t>
            </a:r>
            <a:r>
              <a:rPr lang="zh-CN"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，本科</a:t>
            </a:r>
            <a:endParaRPr lang="en-GB"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1" name="Text Box 3">
            <a:extLst>
              <a:ext uri="{FF2B5EF4-FFF2-40B4-BE49-F238E27FC236}">
                <a16:creationId xmlns:a16="http://schemas.microsoft.com/office/drawing/2014/main" id="{B48528B1-7900-2AC0-B75C-B765C73D92E3}"/>
              </a:ext>
            </a:extLst>
          </p:cNvPr>
          <p:cNvSpPr txBox="1">
            <a:spLocks noChangeArrowheads="1"/>
          </p:cNvSpPr>
          <p:nvPr/>
        </p:nvSpPr>
        <p:spPr bwMode="auto">
          <a:xfrm>
            <a:off x="243024" y="1170615"/>
            <a:ext cx="1924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GB"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2005.9 – 2006.6 </a:t>
            </a:r>
          </a:p>
        </p:txBody>
      </p:sp>
      <p:sp>
        <p:nvSpPr>
          <p:cNvPr id="12" name="Text Box 3">
            <a:extLst>
              <a:ext uri="{FF2B5EF4-FFF2-40B4-BE49-F238E27FC236}">
                <a16:creationId xmlns:a16="http://schemas.microsoft.com/office/drawing/2014/main" id="{DA347F4A-E9DC-EA67-AB9D-6DFBF0471A8D}"/>
              </a:ext>
            </a:extLst>
          </p:cNvPr>
          <p:cNvSpPr txBox="1">
            <a:spLocks noChangeArrowheads="1"/>
          </p:cNvSpPr>
          <p:nvPr/>
        </p:nvSpPr>
        <p:spPr bwMode="auto">
          <a:xfrm>
            <a:off x="239849" y="2208840"/>
            <a:ext cx="1936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GB"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2009.9 – 2012.3 </a:t>
            </a:r>
          </a:p>
        </p:txBody>
      </p:sp>
      <p:sp>
        <p:nvSpPr>
          <p:cNvPr id="13" name="Text Box 3">
            <a:extLst>
              <a:ext uri="{FF2B5EF4-FFF2-40B4-BE49-F238E27FC236}">
                <a16:creationId xmlns:a16="http://schemas.microsoft.com/office/drawing/2014/main" id="{F59FD80F-7F57-B650-10E5-13643F7DB207}"/>
              </a:ext>
            </a:extLst>
          </p:cNvPr>
          <p:cNvSpPr txBox="1"/>
          <p:nvPr/>
        </p:nvSpPr>
        <p:spPr>
          <a:xfrm>
            <a:off x="3025912" y="2189790"/>
            <a:ext cx="3263900" cy="650875"/>
          </a:xfrm>
          <a:prstGeom prst="rect">
            <a:avLst/>
          </a:prstGeom>
          <a:noFill/>
        </p:spPr>
        <p:txBody>
          <a:bodyPr>
            <a:spAutoFit/>
          </a:bodyPr>
          <a:lstStyle/>
          <a:p>
            <a:pPr eaLnBrk="1" fontAlgn="auto" hangingPunct="1">
              <a:spcBef>
                <a:spcPts val="0"/>
              </a:spcBef>
              <a:spcAft>
                <a:spcPts val="0"/>
              </a:spcAft>
              <a:defRPr/>
            </a:pPr>
            <a:r>
              <a:rPr lang="zh-CN" altLang="en-US"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浙江</a:t>
            </a:r>
            <a:r>
              <a:rPr lang="zh-CN" altLang="en-US"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大学，</a:t>
            </a:r>
            <a:r>
              <a:rPr lang="zh-CN" altLang="en-US" b="1" dirty="0">
                <a:solidFill>
                  <a:srgbClr val="07E9E4"/>
                </a:solidFill>
                <a:latin typeface="微软雅黑" panose="020B0503020204020204" pitchFamily="34" charset="-122"/>
                <a:ea typeface="微软雅黑" panose="020B0503020204020204" pitchFamily="34" charset="-122"/>
                <a:cs typeface="Arial" panose="020B0604020202020204" pitchFamily="34" charset="0"/>
              </a:rPr>
              <a:t>光学</a:t>
            </a:r>
            <a:r>
              <a:rPr lang="zh-CN" altLang="en-US"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工程，硕士</a:t>
            </a:r>
            <a:endParaRPr lang="en-US" altLang="zh-CN"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a:p>
            <a:pPr marL="285750" indent="-285750" eaLnBrk="1" fontAlgn="auto" hangingPunct="1">
              <a:lnSpc>
                <a:spcPct val="150000"/>
              </a:lnSpc>
              <a:spcBef>
                <a:spcPts val="0"/>
              </a:spcBef>
              <a:spcAft>
                <a:spcPts val="0"/>
              </a:spcAft>
              <a:buFont typeface="Wingdings" panose="05000000000000000000" pitchFamily="2" charset="2"/>
              <a:buChar char="v"/>
              <a:defRPr/>
            </a:pPr>
            <a:r>
              <a:rPr lang="zh-CN" altLang="en-US" sz="1400" dirty="0">
                <a:latin typeface="微软雅黑" panose="020B0503020204020204" pitchFamily="34" charset="-122"/>
                <a:ea typeface="微软雅黑" panose="020B0503020204020204" pitchFamily="34" charset="-122"/>
                <a:cs typeface="Arial" panose="020B0604020202020204" pitchFamily="34" charset="0"/>
              </a:rPr>
              <a:t>导师：童利民 教授</a:t>
            </a:r>
            <a:endParaRPr lang="en-US" altLang="zh-CN" sz="1400" dirty="0">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Text Box 3">
            <a:extLst>
              <a:ext uri="{FF2B5EF4-FFF2-40B4-BE49-F238E27FC236}">
                <a16:creationId xmlns:a16="http://schemas.microsoft.com/office/drawing/2014/main" id="{E4B3CB77-9604-ADE8-0529-7BCAA720E2F7}"/>
              </a:ext>
            </a:extLst>
          </p:cNvPr>
          <p:cNvSpPr txBox="1">
            <a:spLocks noChangeArrowheads="1"/>
          </p:cNvSpPr>
          <p:nvPr/>
        </p:nvSpPr>
        <p:spPr bwMode="auto">
          <a:xfrm>
            <a:off x="3025912" y="1681790"/>
            <a:ext cx="29638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en-US" b="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浙江</a:t>
            </a:r>
            <a:r>
              <a:rPr lang="zh-CN"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大学，</a:t>
            </a:r>
            <a:r>
              <a:rPr lang="zh-CN" altLang="en-US" b="1" dirty="0">
                <a:solidFill>
                  <a:srgbClr val="0070C0"/>
                </a:solidFill>
                <a:latin typeface="微软雅黑" panose="020B0503020204020204" pitchFamily="34" charset="-122"/>
                <a:ea typeface="微软雅黑" panose="020B0503020204020204" pitchFamily="34" charset="-122"/>
                <a:cs typeface="Arial" panose="020B0604020202020204" pitchFamily="34" charset="0"/>
              </a:rPr>
              <a:t>机械</a:t>
            </a:r>
            <a:r>
              <a:rPr lang="zh-CN"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工程，本科</a:t>
            </a:r>
            <a:endParaRPr lang="en-GB"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5" name="Text Box 3">
            <a:extLst>
              <a:ext uri="{FF2B5EF4-FFF2-40B4-BE49-F238E27FC236}">
                <a16:creationId xmlns:a16="http://schemas.microsoft.com/office/drawing/2014/main" id="{246AD776-B341-4024-36A8-C92E8A2B9E42}"/>
              </a:ext>
            </a:extLst>
          </p:cNvPr>
          <p:cNvSpPr txBox="1">
            <a:spLocks noChangeArrowheads="1"/>
          </p:cNvSpPr>
          <p:nvPr/>
        </p:nvSpPr>
        <p:spPr bwMode="auto">
          <a:xfrm>
            <a:off x="243024" y="1694490"/>
            <a:ext cx="19240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GB"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2006.9 – 2009.6 </a:t>
            </a:r>
          </a:p>
        </p:txBody>
      </p:sp>
      <p:sp>
        <p:nvSpPr>
          <p:cNvPr id="16" name="Text Box 3">
            <a:extLst>
              <a:ext uri="{FF2B5EF4-FFF2-40B4-BE49-F238E27FC236}">
                <a16:creationId xmlns:a16="http://schemas.microsoft.com/office/drawing/2014/main" id="{EB0CA9C5-776E-7B0B-1AE2-C1D87C52AF6D}"/>
              </a:ext>
            </a:extLst>
          </p:cNvPr>
          <p:cNvSpPr txBox="1"/>
          <p:nvPr/>
        </p:nvSpPr>
        <p:spPr>
          <a:xfrm>
            <a:off x="3037024" y="4010653"/>
            <a:ext cx="4032250" cy="654050"/>
          </a:xfrm>
          <a:prstGeom prst="rect">
            <a:avLst/>
          </a:prstGeom>
          <a:noFill/>
        </p:spPr>
        <p:txBody>
          <a:bodyPr>
            <a:spAutoFit/>
          </a:bodyPr>
          <a:lstStyle/>
          <a:p>
            <a:pPr eaLnBrk="1" fontAlgn="auto" hangingPunct="1">
              <a:spcBef>
                <a:spcPts val="0"/>
              </a:spcBef>
              <a:spcAft>
                <a:spcPts val="0"/>
              </a:spcAft>
              <a:defRPr/>
            </a:pPr>
            <a:r>
              <a:rPr lang="zh-CN" altLang="en-US"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剑桥</a:t>
            </a:r>
            <a:r>
              <a:rPr lang="zh-CN" altLang="en-US"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大学，电子工程，博后</a:t>
            </a:r>
            <a:endParaRPr lang="en-US" altLang="zh-CN"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a:p>
            <a:pPr marL="285750" indent="-285750" eaLnBrk="1" fontAlgn="auto" hangingPunct="1">
              <a:lnSpc>
                <a:spcPct val="150000"/>
              </a:lnSpc>
              <a:spcBef>
                <a:spcPts val="0"/>
              </a:spcBef>
              <a:spcAft>
                <a:spcPts val="0"/>
              </a:spcAft>
              <a:buFont typeface="Wingdings" panose="05000000000000000000" pitchFamily="2" charset="2"/>
              <a:buChar char="v"/>
              <a:defRPr/>
            </a:pPr>
            <a:r>
              <a:rPr lang="zh-CN" altLang="en-US" sz="1400" dirty="0">
                <a:latin typeface="微软雅黑" panose="020B0503020204020204" pitchFamily="34" charset="-122"/>
                <a:ea typeface="微软雅黑" panose="020B0503020204020204" pitchFamily="34" charset="-122"/>
                <a:cs typeface="Arial" panose="020B0604020202020204" pitchFamily="34" charset="0"/>
              </a:rPr>
              <a:t>导师：</a:t>
            </a:r>
            <a:r>
              <a:rPr lang="en-US" altLang="zh-CN" sz="1400" dirty="0">
                <a:latin typeface="微软雅黑" panose="020B0503020204020204" pitchFamily="34" charset="-122"/>
                <a:ea typeface="微软雅黑" panose="020B0503020204020204" pitchFamily="34" charset="-122"/>
                <a:cs typeface="Arial" panose="020B0604020202020204" pitchFamily="34" charset="0"/>
              </a:rPr>
              <a:t>Andrea Ferrari </a:t>
            </a:r>
            <a:r>
              <a:rPr lang="zh-CN" altLang="en-US" sz="1400" dirty="0">
                <a:latin typeface="微软雅黑" panose="020B0503020204020204" pitchFamily="34" charset="-122"/>
                <a:ea typeface="微软雅黑" panose="020B0503020204020204" pitchFamily="34" charset="-122"/>
                <a:cs typeface="Arial" panose="020B0604020202020204" pitchFamily="34" charset="0"/>
              </a:rPr>
              <a:t>皇家工程院</a:t>
            </a:r>
            <a:r>
              <a:rPr lang="zh-CN" altLang="en-US" sz="1400"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院士</a:t>
            </a:r>
            <a:r>
              <a:rPr lang="en-US" altLang="zh-CN" sz="1400" dirty="0">
                <a:latin typeface="微软雅黑" panose="020B0503020204020204" pitchFamily="34" charset="-122"/>
                <a:ea typeface="微软雅黑" panose="020B0503020204020204" pitchFamily="34" charset="-122"/>
                <a:cs typeface="Arial" panose="020B0604020202020204" pitchFamily="34" charset="0"/>
              </a:rPr>
              <a:t> </a:t>
            </a:r>
          </a:p>
        </p:txBody>
      </p:sp>
      <p:sp>
        <p:nvSpPr>
          <p:cNvPr id="17" name="Text Box 3">
            <a:extLst>
              <a:ext uri="{FF2B5EF4-FFF2-40B4-BE49-F238E27FC236}">
                <a16:creationId xmlns:a16="http://schemas.microsoft.com/office/drawing/2014/main" id="{79F63B86-DA18-E1E1-AAC2-1130D3CC7DCD}"/>
              </a:ext>
            </a:extLst>
          </p:cNvPr>
          <p:cNvSpPr txBox="1">
            <a:spLocks noChangeArrowheads="1"/>
          </p:cNvSpPr>
          <p:nvPr/>
        </p:nvSpPr>
        <p:spPr bwMode="auto">
          <a:xfrm>
            <a:off x="239849" y="4034465"/>
            <a:ext cx="19192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GB"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2019</a:t>
            </a:r>
            <a:r>
              <a:rPr lang="en-US"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.4</a:t>
            </a:r>
            <a:r>
              <a:rPr lang="en-GB"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 – </a:t>
            </a:r>
            <a:r>
              <a:rPr lang="en-US" altLang="zh-CN">
                <a:solidFill>
                  <a:srgbClr val="000000"/>
                </a:solidFill>
                <a:latin typeface="微软雅黑" panose="020B0503020204020204" pitchFamily="34" charset="-122"/>
                <a:ea typeface="微软雅黑" panose="020B0503020204020204" pitchFamily="34" charset="-122"/>
                <a:cs typeface="Arial" panose="020B0604020202020204" pitchFamily="34" charset="0"/>
              </a:rPr>
              <a:t>2020.8</a:t>
            </a:r>
            <a:r>
              <a:rPr lang="en-GB" altLang="en-US">
                <a:solidFill>
                  <a:srgbClr val="000000"/>
                </a:solidFill>
                <a:latin typeface="微软雅黑" panose="020B0503020204020204" pitchFamily="34" charset="-122"/>
                <a:ea typeface="微软雅黑" panose="020B0503020204020204" pitchFamily="34" charset="-122"/>
                <a:cs typeface="Arial" panose="020B0604020202020204" pitchFamily="34" charset="0"/>
              </a:rPr>
              <a:t> </a:t>
            </a:r>
          </a:p>
        </p:txBody>
      </p:sp>
      <p:sp>
        <p:nvSpPr>
          <p:cNvPr id="19" name="Text Box 3">
            <a:extLst>
              <a:ext uri="{FF2B5EF4-FFF2-40B4-BE49-F238E27FC236}">
                <a16:creationId xmlns:a16="http://schemas.microsoft.com/office/drawing/2014/main" id="{86EE0D96-9CC8-047E-2D3C-4FD342C1F32C}"/>
              </a:ext>
            </a:extLst>
          </p:cNvPr>
          <p:cNvSpPr txBox="1">
            <a:spLocks noChangeArrowheads="1"/>
          </p:cNvSpPr>
          <p:nvPr/>
        </p:nvSpPr>
        <p:spPr bwMode="auto">
          <a:xfrm>
            <a:off x="243024" y="5446706"/>
            <a:ext cx="1970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GB"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2020</a:t>
            </a:r>
            <a:r>
              <a:rPr lang="en-US"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.9</a:t>
            </a:r>
            <a:r>
              <a:rPr lang="en-GB"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 </a:t>
            </a:r>
            <a:r>
              <a:rPr lang="en-US" altLang="zh-CN"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2024.8</a:t>
            </a:r>
            <a:r>
              <a:rPr lang="en-GB"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a:t>
            </a:r>
          </a:p>
        </p:txBody>
      </p:sp>
      <p:sp>
        <p:nvSpPr>
          <p:cNvPr id="20" name="Text Box 3">
            <a:extLst>
              <a:ext uri="{FF2B5EF4-FFF2-40B4-BE49-F238E27FC236}">
                <a16:creationId xmlns:a16="http://schemas.microsoft.com/office/drawing/2014/main" id="{5CE28384-2C08-84AA-50CB-96A0A74E32F6}"/>
              </a:ext>
            </a:extLst>
          </p:cNvPr>
          <p:cNvSpPr txBox="1">
            <a:spLocks noChangeArrowheads="1"/>
          </p:cNvSpPr>
          <p:nvPr/>
        </p:nvSpPr>
        <p:spPr bwMode="auto">
          <a:xfrm>
            <a:off x="3025912" y="689604"/>
            <a:ext cx="56349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zh-CN" altLang="en-US" dirty="0">
                <a:latin typeface="微软雅黑" panose="020B0503020204020204" pitchFamily="34" charset="-122"/>
                <a:ea typeface="微软雅黑" panose="020B0503020204020204" pitchFamily="34" charset="-122"/>
                <a:cs typeface="Arial" panose="020B0604020202020204" pitchFamily="34" charset="0"/>
              </a:rPr>
              <a:t>喜欢拆电器，制作小发明，梦想从事电子技术研究</a:t>
            </a:r>
            <a:endParaRPr lang="en-GB" altLang="en-US"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21" name="Picture 4">
            <a:extLst>
              <a:ext uri="{FF2B5EF4-FFF2-40B4-BE49-F238E27FC236}">
                <a16:creationId xmlns:a16="http://schemas.microsoft.com/office/drawing/2014/main" id="{438C836B-6F60-C932-527A-1DFE15220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5104" y="697084"/>
            <a:ext cx="312738"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 name="Group 75">
            <a:extLst>
              <a:ext uri="{FF2B5EF4-FFF2-40B4-BE49-F238E27FC236}">
                <a16:creationId xmlns:a16="http://schemas.microsoft.com/office/drawing/2014/main" id="{4B2C50D0-A165-CF82-8125-5FEFFB595D23}"/>
              </a:ext>
            </a:extLst>
          </p:cNvPr>
          <p:cNvGrpSpPr>
            <a:grpSpLocks/>
          </p:cNvGrpSpPr>
          <p:nvPr/>
        </p:nvGrpSpPr>
        <p:grpSpPr bwMode="auto">
          <a:xfrm>
            <a:off x="2206762" y="1261103"/>
            <a:ext cx="749300" cy="169862"/>
            <a:chOff x="2121701" y="1414945"/>
            <a:chExt cx="749579" cy="169277"/>
          </a:xfrm>
        </p:grpSpPr>
        <p:sp>
          <p:nvSpPr>
            <p:cNvPr id="23" name="直接连接符 71">
              <a:extLst>
                <a:ext uri="{FF2B5EF4-FFF2-40B4-BE49-F238E27FC236}">
                  <a16:creationId xmlns:a16="http://schemas.microsoft.com/office/drawing/2014/main" id="{6423F152-C0A7-E707-1990-6ED0C058C4F0}"/>
                </a:ext>
              </a:extLst>
            </p:cNvPr>
            <p:cNvSpPr>
              <a:spLocks noChangeShapeType="1"/>
            </p:cNvSpPr>
            <p:nvPr/>
          </p:nvSpPr>
          <p:spPr bwMode="auto">
            <a:xfrm flipH="1">
              <a:off x="2294802" y="1508284"/>
              <a:ext cx="576478" cy="0"/>
            </a:xfrm>
            <a:prstGeom prst="line">
              <a:avLst/>
            </a:prstGeom>
            <a:noFill/>
            <a:ln w="25400">
              <a:solidFill>
                <a:srgbClr val="7B0CC6"/>
              </a:solidFill>
              <a:prstDash val="sysDot"/>
              <a:round/>
              <a:headEnd type="oval" w="med" len="med"/>
              <a:tailEnd/>
            </a:ln>
          </p:spPr>
          <p:txBody>
            <a:bodyPr/>
            <a:lstStyle/>
            <a:p>
              <a:pPr defTabSz="914377" eaLnBrk="1" fontAlgn="auto" hangingPunct="1">
                <a:spcBef>
                  <a:spcPts val="0"/>
                </a:spcBef>
                <a:spcAft>
                  <a:spcPts val="0"/>
                </a:spcAft>
                <a:defRPr/>
              </a:pPr>
              <a:endParaRPr lang="zh-CN" altLang="en-US" kern="0">
                <a:solidFill>
                  <a:prstClr val="black"/>
                </a:solidFill>
                <a:latin typeface="Calibri"/>
                <a:ea typeface="宋体" panose="02010600030101010101" pitchFamily="2" charset="-122"/>
              </a:endParaRPr>
            </a:p>
          </p:txBody>
        </p:sp>
        <p:sp>
          <p:nvSpPr>
            <p:cNvPr id="24" name="Oval 14">
              <a:extLst>
                <a:ext uri="{FF2B5EF4-FFF2-40B4-BE49-F238E27FC236}">
                  <a16:creationId xmlns:a16="http://schemas.microsoft.com/office/drawing/2014/main" id="{327725FF-D5BC-D33C-24DC-431D4894FE97}"/>
                </a:ext>
              </a:extLst>
            </p:cNvPr>
            <p:cNvSpPr/>
            <p:nvPr/>
          </p:nvSpPr>
          <p:spPr>
            <a:xfrm>
              <a:off x="2121701" y="1414945"/>
              <a:ext cx="169925" cy="169277"/>
            </a:xfrm>
            <a:prstGeom prst="ellipse">
              <a:avLst/>
            </a:prstGeom>
            <a:solidFill>
              <a:schemeClr val="bg1"/>
            </a:solid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zh-CN">
                <a:solidFill>
                  <a:srgbClr val="FFFFFF"/>
                </a:solidFill>
                <a:ea typeface="宋体" panose="02010600030101010101" pitchFamily="2" charset="-122"/>
              </a:endParaRPr>
            </a:p>
          </p:txBody>
        </p:sp>
      </p:grpSp>
      <p:grpSp>
        <p:nvGrpSpPr>
          <p:cNvPr id="25" name="Group 39">
            <a:extLst>
              <a:ext uri="{FF2B5EF4-FFF2-40B4-BE49-F238E27FC236}">
                <a16:creationId xmlns:a16="http://schemas.microsoft.com/office/drawing/2014/main" id="{1936CD6C-35B6-D60E-19D7-2F7493A88BDF}"/>
              </a:ext>
            </a:extLst>
          </p:cNvPr>
          <p:cNvGrpSpPr>
            <a:grpSpLocks/>
          </p:cNvGrpSpPr>
          <p:nvPr/>
        </p:nvGrpSpPr>
        <p:grpSpPr bwMode="auto">
          <a:xfrm>
            <a:off x="2208349" y="1775453"/>
            <a:ext cx="763588" cy="169862"/>
            <a:chOff x="2123102" y="1806655"/>
            <a:chExt cx="762507" cy="169277"/>
          </a:xfrm>
        </p:grpSpPr>
        <p:sp>
          <p:nvSpPr>
            <p:cNvPr id="26" name="直接连接符 71">
              <a:extLst>
                <a:ext uri="{FF2B5EF4-FFF2-40B4-BE49-F238E27FC236}">
                  <a16:creationId xmlns:a16="http://schemas.microsoft.com/office/drawing/2014/main" id="{479D7560-78B4-C1DA-E22F-FD3165D9DFBC}"/>
                </a:ext>
              </a:extLst>
            </p:cNvPr>
            <p:cNvSpPr>
              <a:spLocks noChangeShapeType="1"/>
            </p:cNvSpPr>
            <p:nvPr/>
          </p:nvSpPr>
          <p:spPr bwMode="auto">
            <a:xfrm flipH="1" flipV="1">
              <a:off x="2272116" y="1898413"/>
              <a:ext cx="613493" cy="0"/>
            </a:xfrm>
            <a:prstGeom prst="line">
              <a:avLst/>
            </a:prstGeom>
            <a:noFill/>
            <a:ln w="25400">
              <a:solidFill>
                <a:srgbClr val="0070C0"/>
              </a:solidFill>
              <a:prstDash val="sysDot"/>
              <a:round/>
              <a:headEnd type="oval" w="med" len="med"/>
              <a:tailEnd/>
            </a:ln>
          </p:spPr>
          <p:txBody>
            <a:bodyPr/>
            <a:lstStyle/>
            <a:p>
              <a:pPr defTabSz="914377" eaLnBrk="1" fontAlgn="auto" hangingPunct="1">
                <a:spcBef>
                  <a:spcPts val="0"/>
                </a:spcBef>
                <a:spcAft>
                  <a:spcPts val="0"/>
                </a:spcAft>
                <a:defRPr/>
              </a:pPr>
              <a:endParaRPr lang="zh-CN" altLang="en-US" kern="0" dirty="0">
                <a:solidFill>
                  <a:prstClr val="black"/>
                </a:solidFill>
                <a:latin typeface="Calibri"/>
                <a:ea typeface="宋体" panose="02010600030101010101" pitchFamily="2" charset="-122"/>
              </a:endParaRPr>
            </a:p>
          </p:txBody>
        </p:sp>
        <p:sp>
          <p:nvSpPr>
            <p:cNvPr id="27" name="Oval 64">
              <a:extLst>
                <a:ext uri="{FF2B5EF4-FFF2-40B4-BE49-F238E27FC236}">
                  <a16:creationId xmlns:a16="http://schemas.microsoft.com/office/drawing/2014/main" id="{D3E71DBF-A4DB-C15F-18CB-6FA6B739EFDB}"/>
                </a:ext>
              </a:extLst>
            </p:cNvPr>
            <p:cNvSpPr/>
            <p:nvPr/>
          </p:nvSpPr>
          <p:spPr>
            <a:xfrm>
              <a:off x="2123102" y="1806655"/>
              <a:ext cx="169623" cy="169277"/>
            </a:xfrm>
            <a:prstGeom prst="ellipse">
              <a:avLst/>
            </a:prstGeom>
            <a:solidFill>
              <a:schemeClr val="bg1"/>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zh-CN">
                <a:solidFill>
                  <a:srgbClr val="FFFFFF"/>
                </a:solidFill>
                <a:ea typeface="宋体" panose="02010600030101010101" pitchFamily="2" charset="-122"/>
              </a:endParaRPr>
            </a:p>
          </p:txBody>
        </p:sp>
      </p:grpSp>
      <p:grpSp>
        <p:nvGrpSpPr>
          <p:cNvPr id="28" name="Group 19">
            <a:extLst>
              <a:ext uri="{FF2B5EF4-FFF2-40B4-BE49-F238E27FC236}">
                <a16:creationId xmlns:a16="http://schemas.microsoft.com/office/drawing/2014/main" id="{740FE889-6AA3-C352-468E-210AF1C09DBA}"/>
              </a:ext>
            </a:extLst>
          </p:cNvPr>
          <p:cNvGrpSpPr>
            <a:grpSpLocks/>
          </p:cNvGrpSpPr>
          <p:nvPr/>
        </p:nvGrpSpPr>
        <p:grpSpPr bwMode="auto">
          <a:xfrm>
            <a:off x="2208349" y="2289803"/>
            <a:ext cx="768350" cy="169862"/>
            <a:chOff x="2123102" y="2282905"/>
            <a:chExt cx="767322" cy="169277"/>
          </a:xfrm>
        </p:grpSpPr>
        <p:sp>
          <p:nvSpPr>
            <p:cNvPr id="29" name="直接连接符 63">
              <a:extLst>
                <a:ext uri="{FF2B5EF4-FFF2-40B4-BE49-F238E27FC236}">
                  <a16:creationId xmlns:a16="http://schemas.microsoft.com/office/drawing/2014/main" id="{AEEB619E-F84B-F206-F40A-9BA72E39939B}"/>
                </a:ext>
              </a:extLst>
            </p:cNvPr>
            <p:cNvSpPr>
              <a:spLocks noChangeShapeType="1"/>
            </p:cNvSpPr>
            <p:nvPr/>
          </p:nvSpPr>
          <p:spPr bwMode="auto">
            <a:xfrm flipH="1">
              <a:off x="2314933" y="2371499"/>
              <a:ext cx="575491" cy="0"/>
            </a:xfrm>
            <a:prstGeom prst="line">
              <a:avLst/>
            </a:prstGeom>
            <a:noFill/>
            <a:ln w="25400">
              <a:solidFill>
                <a:srgbClr val="07E9E4"/>
              </a:solidFill>
              <a:prstDash val="sysDot"/>
              <a:round/>
              <a:headEnd type="oval" w="med" len="med"/>
              <a:tailEnd/>
            </a:ln>
          </p:spPr>
          <p:txBody>
            <a:bodyPr/>
            <a:lstStyle/>
            <a:p>
              <a:pPr defTabSz="914377" eaLnBrk="1" fontAlgn="auto" hangingPunct="1">
                <a:spcBef>
                  <a:spcPts val="0"/>
                </a:spcBef>
                <a:spcAft>
                  <a:spcPts val="0"/>
                </a:spcAft>
                <a:defRPr/>
              </a:pPr>
              <a:endParaRPr lang="zh-CN" altLang="en-US" kern="0" dirty="0">
                <a:solidFill>
                  <a:prstClr val="black"/>
                </a:solidFill>
                <a:latin typeface="Calibri"/>
                <a:ea typeface="宋体" panose="02010600030101010101" pitchFamily="2" charset="-122"/>
              </a:endParaRPr>
            </a:p>
          </p:txBody>
        </p:sp>
        <p:sp>
          <p:nvSpPr>
            <p:cNvPr id="30" name="Oval 66">
              <a:extLst>
                <a:ext uri="{FF2B5EF4-FFF2-40B4-BE49-F238E27FC236}">
                  <a16:creationId xmlns:a16="http://schemas.microsoft.com/office/drawing/2014/main" id="{7A706D5A-2033-E8CF-D347-AB584E6BC822}"/>
                </a:ext>
              </a:extLst>
            </p:cNvPr>
            <p:cNvSpPr/>
            <p:nvPr/>
          </p:nvSpPr>
          <p:spPr>
            <a:xfrm>
              <a:off x="2123102" y="2282905"/>
              <a:ext cx="169636" cy="169277"/>
            </a:xfrm>
            <a:prstGeom prst="ellipse">
              <a:avLst/>
            </a:prstGeom>
            <a:solidFill>
              <a:schemeClr val="bg1"/>
            </a:solidFill>
            <a:ln w="28575">
              <a:solidFill>
                <a:srgbClr val="07E9E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zh-CN">
                <a:solidFill>
                  <a:srgbClr val="FFFFFF"/>
                </a:solidFill>
                <a:ea typeface="宋体" panose="02010600030101010101" pitchFamily="2" charset="-122"/>
              </a:endParaRPr>
            </a:p>
          </p:txBody>
        </p:sp>
      </p:grpSp>
      <p:grpSp>
        <p:nvGrpSpPr>
          <p:cNvPr id="31" name="Group 77">
            <a:extLst>
              <a:ext uri="{FF2B5EF4-FFF2-40B4-BE49-F238E27FC236}">
                <a16:creationId xmlns:a16="http://schemas.microsoft.com/office/drawing/2014/main" id="{8605A247-7F26-C0DF-10FB-083C5707BD70}"/>
              </a:ext>
            </a:extLst>
          </p:cNvPr>
          <p:cNvGrpSpPr>
            <a:grpSpLocks/>
          </p:cNvGrpSpPr>
          <p:nvPr/>
        </p:nvGrpSpPr>
        <p:grpSpPr bwMode="auto">
          <a:xfrm>
            <a:off x="2208349" y="3113715"/>
            <a:ext cx="760413" cy="168275"/>
            <a:chOff x="2130340" y="3025491"/>
            <a:chExt cx="760084" cy="169277"/>
          </a:xfrm>
        </p:grpSpPr>
        <p:sp>
          <p:nvSpPr>
            <p:cNvPr id="32" name="Oval 67">
              <a:extLst>
                <a:ext uri="{FF2B5EF4-FFF2-40B4-BE49-F238E27FC236}">
                  <a16:creationId xmlns:a16="http://schemas.microsoft.com/office/drawing/2014/main" id="{F7A78F5F-CB81-C6D7-5CA5-028DE762A725}"/>
                </a:ext>
              </a:extLst>
            </p:cNvPr>
            <p:cNvSpPr/>
            <p:nvPr/>
          </p:nvSpPr>
          <p:spPr>
            <a:xfrm>
              <a:off x="2130340" y="3025491"/>
              <a:ext cx="169790" cy="169277"/>
            </a:xfrm>
            <a:prstGeom prst="ellipse">
              <a:avLst/>
            </a:prstGeom>
            <a:solidFill>
              <a:schemeClr val="bg1"/>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zh-CN">
                <a:solidFill>
                  <a:srgbClr val="FFFFFF"/>
                </a:solidFill>
                <a:ea typeface="宋体" panose="02010600030101010101" pitchFamily="2" charset="-122"/>
              </a:endParaRPr>
            </a:p>
          </p:txBody>
        </p:sp>
        <p:sp>
          <p:nvSpPr>
            <p:cNvPr id="34" name="直接连接符 63">
              <a:extLst>
                <a:ext uri="{FF2B5EF4-FFF2-40B4-BE49-F238E27FC236}">
                  <a16:creationId xmlns:a16="http://schemas.microsoft.com/office/drawing/2014/main" id="{40276659-7A3C-2E1B-C268-FB08B6BF9E45}"/>
                </a:ext>
              </a:extLst>
            </p:cNvPr>
            <p:cNvSpPr>
              <a:spLocks noChangeShapeType="1"/>
            </p:cNvSpPr>
            <p:nvPr/>
          </p:nvSpPr>
          <p:spPr bwMode="auto">
            <a:xfrm flipH="1">
              <a:off x="2314410" y="3111726"/>
              <a:ext cx="576014" cy="0"/>
            </a:xfrm>
            <a:prstGeom prst="line">
              <a:avLst/>
            </a:prstGeom>
            <a:noFill/>
            <a:ln w="25400">
              <a:solidFill>
                <a:srgbClr val="00B050"/>
              </a:solidFill>
              <a:prstDash val="sysDot"/>
              <a:round/>
              <a:headEnd type="oval" w="med" len="med"/>
              <a:tailEnd/>
            </a:ln>
          </p:spPr>
          <p:txBody>
            <a:bodyPr/>
            <a:lstStyle/>
            <a:p>
              <a:pPr defTabSz="914377" eaLnBrk="1" fontAlgn="auto" hangingPunct="1">
                <a:spcBef>
                  <a:spcPts val="0"/>
                </a:spcBef>
                <a:spcAft>
                  <a:spcPts val="0"/>
                </a:spcAft>
                <a:defRPr/>
              </a:pPr>
              <a:endParaRPr lang="zh-CN" altLang="en-US" kern="0" dirty="0">
                <a:solidFill>
                  <a:prstClr val="black"/>
                </a:solidFill>
                <a:latin typeface="Calibri"/>
                <a:ea typeface="宋体" panose="02010600030101010101" pitchFamily="2" charset="-122"/>
              </a:endParaRPr>
            </a:p>
          </p:txBody>
        </p:sp>
      </p:grpSp>
      <p:grpSp>
        <p:nvGrpSpPr>
          <p:cNvPr id="35" name="Group 76">
            <a:extLst>
              <a:ext uri="{FF2B5EF4-FFF2-40B4-BE49-F238E27FC236}">
                <a16:creationId xmlns:a16="http://schemas.microsoft.com/office/drawing/2014/main" id="{7372F597-4A2B-C2FF-5A81-0D23F8BD325C}"/>
              </a:ext>
            </a:extLst>
          </p:cNvPr>
          <p:cNvGrpSpPr>
            <a:grpSpLocks/>
          </p:cNvGrpSpPr>
          <p:nvPr/>
        </p:nvGrpSpPr>
        <p:grpSpPr bwMode="auto">
          <a:xfrm>
            <a:off x="2208349" y="4128128"/>
            <a:ext cx="760413" cy="168275"/>
            <a:chOff x="2132443" y="3997759"/>
            <a:chExt cx="760084" cy="169277"/>
          </a:xfrm>
        </p:grpSpPr>
        <p:sp>
          <p:nvSpPr>
            <p:cNvPr id="36" name="Oval 69">
              <a:extLst>
                <a:ext uri="{FF2B5EF4-FFF2-40B4-BE49-F238E27FC236}">
                  <a16:creationId xmlns:a16="http://schemas.microsoft.com/office/drawing/2014/main" id="{456F774C-FEDE-8B2A-471A-101D076C07FC}"/>
                </a:ext>
              </a:extLst>
            </p:cNvPr>
            <p:cNvSpPr/>
            <p:nvPr/>
          </p:nvSpPr>
          <p:spPr>
            <a:xfrm>
              <a:off x="2132443" y="3997759"/>
              <a:ext cx="169790" cy="169277"/>
            </a:xfrm>
            <a:prstGeom prst="ellipse">
              <a:avLst/>
            </a:prstGeom>
            <a:solidFill>
              <a:schemeClr val="bg1"/>
            </a:solidFill>
            <a:ln w="285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zh-CN">
                <a:solidFill>
                  <a:srgbClr val="FFFFFF"/>
                </a:solidFill>
                <a:ea typeface="宋体" panose="02010600030101010101" pitchFamily="2" charset="-122"/>
              </a:endParaRPr>
            </a:p>
          </p:txBody>
        </p:sp>
        <p:sp>
          <p:nvSpPr>
            <p:cNvPr id="37" name="直接连接符 63">
              <a:extLst>
                <a:ext uri="{FF2B5EF4-FFF2-40B4-BE49-F238E27FC236}">
                  <a16:creationId xmlns:a16="http://schemas.microsoft.com/office/drawing/2014/main" id="{17D45FF4-3896-6DBF-B3CF-365F220BDAEB}"/>
                </a:ext>
              </a:extLst>
            </p:cNvPr>
            <p:cNvSpPr>
              <a:spLocks noChangeShapeType="1"/>
            </p:cNvSpPr>
            <p:nvPr/>
          </p:nvSpPr>
          <p:spPr bwMode="auto">
            <a:xfrm flipH="1">
              <a:off x="2316513" y="4088785"/>
              <a:ext cx="576014" cy="0"/>
            </a:xfrm>
            <a:prstGeom prst="line">
              <a:avLst/>
            </a:prstGeom>
            <a:noFill/>
            <a:ln w="25400">
              <a:solidFill>
                <a:schemeClr val="accent4">
                  <a:lumMod val="75000"/>
                </a:schemeClr>
              </a:solidFill>
              <a:prstDash val="sysDot"/>
              <a:round/>
              <a:headEnd type="oval" w="med" len="med"/>
              <a:tailEnd/>
            </a:ln>
          </p:spPr>
          <p:txBody>
            <a:bodyPr/>
            <a:lstStyle/>
            <a:p>
              <a:pPr defTabSz="914377" eaLnBrk="1" fontAlgn="auto" hangingPunct="1">
                <a:spcBef>
                  <a:spcPts val="0"/>
                </a:spcBef>
                <a:spcAft>
                  <a:spcPts val="0"/>
                </a:spcAft>
                <a:defRPr/>
              </a:pPr>
              <a:endParaRPr lang="zh-CN" altLang="en-US" kern="0" dirty="0">
                <a:solidFill>
                  <a:prstClr val="black"/>
                </a:solidFill>
                <a:latin typeface="Calibri"/>
                <a:ea typeface="宋体" panose="02010600030101010101" pitchFamily="2" charset="-122"/>
              </a:endParaRPr>
            </a:p>
          </p:txBody>
        </p:sp>
      </p:grpSp>
      <p:grpSp>
        <p:nvGrpSpPr>
          <p:cNvPr id="38" name="Group 80">
            <a:extLst>
              <a:ext uri="{FF2B5EF4-FFF2-40B4-BE49-F238E27FC236}">
                <a16:creationId xmlns:a16="http://schemas.microsoft.com/office/drawing/2014/main" id="{1785F915-6362-B1C7-8EE7-56EE69F3A9BB}"/>
              </a:ext>
            </a:extLst>
          </p:cNvPr>
          <p:cNvGrpSpPr>
            <a:grpSpLocks/>
          </p:cNvGrpSpPr>
          <p:nvPr/>
        </p:nvGrpSpPr>
        <p:grpSpPr bwMode="auto">
          <a:xfrm>
            <a:off x="2211524" y="4813894"/>
            <a:ext cx="760413" cy="168275"/>
            <a:chOff x="2125531" y="5057708"/>
            <a:chExt cx="760084" cy="169277"/>
          </a:xfrm>
        </p:grpSpPr>
        <p:sp>
          <p:nvSpPr>
            <p:cNvPr id="39" name="Oval 71">
              <a:extLst>
                <a:ext uri="{FF2B5EF4-FFF2-40B4-BE49-F238E27FC236}">
                  <a16:creationId xmlns:a16="http://schemas.microsoft.com/office/drawing/2014/main" id="{F8E0E546-4258-38ED-BBCB-3223F2324C34}"/>
                </a:ext>
              </a:extLst>
            </p:cNvPr>
            <p:cNvSpPr/>
            <p:nvPr/>
          </p:nvSpPr>
          <p:spPr>
            <a:xfrm>
              <a:off x="2125531" y="5057708"/>
              <a:ext cx="169790" cy="169277"/>
            </a:xfrm>
            <a:prstGeom prst="ellipse">
              <a:avLst/>
            </a:prstGeom>
            <a:solidFill>
              <a:schemeClr val="bg1"/>
            </a:solid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zh-CN">
                <a:solidFill>
                  <a:srgbClr val="FFFFFF"/>
                </a:solidFill>
                <a:ea typeface="宋体" panose="02010600030101010101" pitchFamily="2" charset="-122"/>
              </a:endParaRPr>
            </a:p>
          </p:txBody>
        </p:sp>
        <p:sp>
          <p:nvSpPr>
            <p:cNvPr id="40" name="直接连接符 63">
              <a:extLst>
                <a:ext uri="{FF2B5EF4-FFF2-40B4-BE49-F238E27FC236}">
                  <a16:creationId xmlns:a16="http://schemas.microsoft.com/office/drawing/2014/main" id="{AA91F6CA-46C0-04EB-1EF7-F8943124ED8A}"/>
                </a:ext>
              </a:extLst>
            </p:cNvPr>
            <p:cNvSpPr>
              <a:spLocks noChangeShapeType="1"/>
            </p:cNvSpPr>
            <p:nvPr/>
          </p:nvSpPr>
          <p:spPr bwMode="auto">
            <a:xfrm flipH="1">
              <a:off x="2309601" y="5148735"/>
              <a:ext cx="576014" cy="0"/>
            </a:xfrm>
            <a:prstGeom prst="line">
              <a:avLst/>
            </a:prstGeom>
            <a:noFill/>
            <a:ln w="25400">
              <a:solidFill>
                <a:schemeClr val="accent2">
                  <a:lumMod val="75000"/>
                </a:schemeClr>
              </a:solidFill>
              <a:prstDash val="sysDot"/>
              <a:round/>
              <a:headEnd type="oval" w="med" len="med"/>
              <a:tailEnd/>
            </a:ln>
          </p:spPr>
          <p:txBody>
            <a:bodyPr/>
            <a:lstStyle/>
            <a:p>
              <a:pPr defTabSz="914377" eaLnBrk="1" fontAlgn="auto" hangingPunct="1">
                <a:spcBef>
                  <a:spcPts val="0"/>
                </a:spcBef>
                <a:spcAft>
                  <a:spcPts val="0"/>
                </a:spcAft>
                <a:defRPr/>
              </a:pPr>
              <a:endParaRPr lang="zh-CN" altLang="en-US" kern="0" dirty="0">
                <a:solidFill>
                  <a:prstClr val="black"/>
                </a:solidFill>
                <a:latin typeface="Calibri"/>
                <a:ea typeface="宋体" panose="02010600030101010101" pitchFamily="2" charset="-122"/>
              </a:endParaRPr>
            </a:p>
          </p:txBody>
        </p:sp>
      </p:grpSp>
      <p:grpSp>
        <p:nvGrpSpPr>
          <p:cNvPr id="41" name="Group 18">
            <a:extLst>
              <a:ext uri="{FF2B5EF4-FFF2-40B4-BE49-F238E27FC236}">
                <a16:creationId xmlns:a16="http://schemas.microsoft.com/office/drawing/2014/main" id="{18695A1D-1AA3-9547-D8C6-615B83859F76}"/>
              </a:ext>
            </a:extLst>
          </p:cNvPr>
          <p:cNvGrpSpPr>
            <a:grpSpLocks/>
          </p:cNvGrpSpPr>
          <p:nvPr/>
        </p:nvGrpSpPr>
        <p:grpSpPr bwMode="auto">
          <a:xfrm>
            <a:off x="2213112" y="6089734"/>
            <a:ext cx="779462" cy="168275"/>
            <a:chOff x="2119220" y="5530617"/>
            <a:chExt cx="779137" cy="169277"/>
          </a:xfrm>
        </p:grpSpPr>
        <p:sp>
          <p:nvSpPr>
            <p:cNvPr id="42" name="直接连接符 63">
              <a:extLst>
                <a:ext uri="{FF2B5EF4-FFF2-40B4-BE49-F238E27FC236}">
                  <a16:creationId xmlns:a16="http://schemas.microsoft.com/office/drawing/2014/main" id="{12429E22-DD10-2C92-494D-044637FC393C}"/>
                </a:ext>
              </a:extLst>
            </p:cNvPr>
            <p:cNvSpPr>
              <a:spLocks noChangeShapeType="1"/>
            </p:cNvSpPr>
            <p:nvPr/>
          </p:nvSpPr>
          <p:spPr bwMode="auto">
            <a:xfrm flipH="1">
              <a:off x="2322335" y="5623240"/>
              <a:ext cx="576022" cy="0"/>
            </a:xfrm>
            <a:prstGeom prst="line">
              <a:avLst/>
            </a:prstGeom>
            <a:noFill/>
            <a:ln w="25400">
              <a:solidFill>
                <a:srgbClr val="C00000"/>
              </a:solidFill>
              <a:prstDash val="sysDot"/>
              <a:round/>
              <a:headEnd type="oval" w="med" len="med"/>
              <a:tailEnd/>
            </a:ln>
          </p:spPr>
          <p:txBody>
            <a:bodyPr/>
            <a:lstStyle/>
            <a:p>
              <a:pPr defTabSz="914377" eaLnBrk="1" fontAlgn="auto" hangingPunct="1">
                <a:spcBef>
                  <a:spcPts val="0"/>
                </a:spcBef>
                <a:spcAft>
                  <a:spcPts val="0"/>
                </a:spcAft>
                <a:defRPr/>
              </a:pPr>
              <a:endParaRPr lang="zh-CN" altLang="en-US" kern="0" dirty="0">
                <a:solidFill>
                  <a:prstClr val="black"/>
                </a:solidFill>
                <a:latin typeface="Calibri"/>
                <a:ea typeface="宋体" panose="02010600030101010101" pitchFamily="2" charset="-122"/>
              </a:endParaRPr>
            </a:p>
          </p:txBody>
        </p:sp>
        <p:sp>
          <p:nvSpPr>
            <p:cNvPr id="43" name="Oval 74">
              <a:extLst>
                <a:ext uri="{FF2B5EF4-FFF2-40B4-BE49-F238E27FC236}">
                  <a16:creationId xmlns:a16="http://schemas.microsoft.com/office/drawing/2014/main" id="{46B3DBC5-0FD1-0B86-B04E-FBCF84EB2A49}"/>
                </a:ext>
              </a:extLst>
            </p:cNvPr>
            <p:cNvSpPr/>
            <p:nvPr/>
          </p:nvSpPr>
          <p:spPr>
            <a:xfrm>
              <a:off x="2119220" y="5530617"/>
              <a:ext cx="169791" cy="169277"/>
            </a:xfrm>
            <a:prstGeom prst="ellipse">
              <a:avLst/>
            </a:prstGeom>
            <a:solidFill>
              <a:schemeClr val="bg1"/>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zh-CN">
                <a:solidFill>
                  <a:srgbClr val="FFFFFF"/>
                </a:solidFill>
                <a:ea typeface="宋体" panose="02010600030101010101" pitchFamily="2" charset="-122"/>
              </a:endParaRPr>
            </a:p>
          </p:txBody>
        </p:sp>
        <p:sp>
          <p:nvSpPr>
            <p:cNvPr id="44" name="Star: 5 Points 3">
              <a:extLst>
                <a:ext uri="{FF2B5EF4-FFF2-40B4-BE49-F238E27FC236}">
                  <a16:creationId xmlns:a16="http://schemas.microsoft.com/office/drawing/2014/main" id="{315379C5-A19A-19BA-BECD-0B6FCF4F7E65}"/>
                </a:ext>
              </a:extLst>
            </p:cNvPr>
            <p:cNvSpPr/>
            <p:nvPr/>
          </p:nvSpPr>
          <p:spPr>
            <a:xfrm>
              <a:off x="2130327" y="5543393"/>
              <a:ext cx="142815" cy="129354"/>
            </a:xfrm>
            <a:prstGeom prst="star5">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grpSp>
      <p:sp>
        <p:nvSpPr>
          <p:cNvPr id="45" name="Text Box 3">
            <a:extLst>
              <a:ext uri="{FF2B5EF4-FFF2-40B4-BE49-F238E27FC236}">
                <a16:creationId xmlns:a16="http://schemas.microsoft.com/office/drawing/2014/main" id="{C83F615B-2DAD-FC10-3E00-D16308074FDC}"/>
              </a:ext>
            </a:extLst>
          </p:cNvPr>
          <p:cNvSpPr txBox="1">
            <a:spLocks noChangeArrowheads="1"/>
          </p:cNvSpPr>
          <p:nvPr/>
        </p:nvSpPr>
        <p:spPr bwMode="auto">
          <a:xfrm>
            <a:off x="255724" y="673728"/>
            <a:ext cx="16700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GB"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1988.8 – </a:t>
            </a:r>
            <a:r>
              <a:rPr lang="zh-CN"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至今</a:t>
            </a:r>
            <a:r>
              <a:rPr lang="en-GB"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a:t>
            </a:r>
          </a:p>
        </p:txBody>
      </p:sp>
      <p:sp>
        <p:nvSpPr>
          <p:cNvPr id="46" name="Oval 14">
            <a:extLst>
              <a:ext uri="{FF2B5EF4-FFF2-40B4-BE49-F238E27FC236}">
                <a16:creationId xmlns:a16="http://schemas.microsoft.com/office/drawing/2014/main" id="{61E3CD7B-CE57-7F1A-65BD-798D3E2AB5A8}"/>
              </a:ext>
            </a:extLst>
          </p:cNvPr>
          <p:cNvSpPr/>
          <p:nvPr/>
        </p:nvSpPr>
        <p:spPr>
          <a:xfrm>
            <a:off x="2214699" y="783265"/>
            <a:ext cx="168275" cy="168275"/>
          </a:xfrm>
          <a:prstGeom prst="ellipse">
            <a:avLst/>
          </a:prstGeom>
          <a:solidFill>
            <a:schemeClr val="bg1"/>
          </a:solid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zh-CN">
              <a:solidFill>
                <a:srgbClr val="FFFFFF"/>
              </a:solidFill>
              <a:ea typeface="宋体" panose="02010600030101010101" pitchFamily="2" charset="-122"/>
            </a:endParaRPr>
          </a:p>
        </p:txBody>
      </p:sp>
      <p:pic>
        <p:nvPicPr>
          <p:cNvPr id="47" name="图片 46">
            <a:extLst>
              <a:ext uri="{FF2B5EF4-FFF2-40B4-BE49-F238E27FC236}">
                <a16:creationId xmlns:a16="http://schemas.microsoft.com/office/drawing/2014/main" id="{97212E94-7A20-5097-6D6B-28BEE8E099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47044" y="3567862"/>
            <a:ext cx="2214602" cy="1660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8" name="直接连接符 82">
            <a:extLst>
              <a:ext uri="{FF2B5EF4-FFF2-40B4-BE49-F238E27FC236}">
                <a16:creationId xmlns:a16="http://schemas.microsoft.com/office/drawing/2014/main" id="{4764F2CB-9832-88E0-801F-C62065E8CEEA}"/>
              </a:ext>
            </a:extLst>
          </p:cNvPr>
          <p:cNvCxnSpPr>
            <a:cxnSpLocks/>
          </p:cNvCxnSpPr>
          <p:nvPr/>
        </p:nvCxnSpPr>
        <p:spPr>
          <a:xfrm flipH="1">
            <a:off x="6124712" y="4904382"/>
            <a:ext cx="522332" cy="3175"/>
          </a:xfrm>
          <a:prstGeom prst="line">
            <a:avLst/>
          </a:prstGeom>
          <a:ln w="12700">
            <a:solidFill>
              <a:schemeClr val="accent2">
                <a:lumMod val="75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49" name="Rectangle 17">
            <a:extLst>
              <a:ext uri="{FF2B5EF4-FFF2-40B4-BE49-F238E27FC236}">
                <a16:creationId xmlns:a16="http://schemas.microsoft.com/office/drawing/2014/main" id="{DFBAF944-C286-4DEC-32F4-7A07109569DE}"/>
              </a:ext>
            </a:extLst>
          </p:cNvPr>
          <p:cNvSpPr/>
          <p:nvPr/>
        </p:nvSpPr>
        <p:spPr>
          <a:xfrm>
            <a:off x="6648633" y="3559550"/>
            <a:ext cx="2213015" cy="1660250"/>
          </a:xfrm>
          <a:prstGeom prst="rect">
            <a:avLst/>
          </a:prstGeom>
          <a:noFill/>
          <a:ln w="12700">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GB" altLang="zh-CN">
              <a:solidFill>
                <a:srgbClr val="FFFFFF"/>
              </a:solidFill>
              <a:ea typeface="宋体" panose="02010600030101010101" pitchFamily="2" charset="-122"/>
            </a:endParaRPr>
          </a:p>
        </p:txBody>
      </p:sp>
      <p:sp>
        <p:nvSpPr>
          <p:cNvPr id="50" name="Rectangle 6">
            <a:extLst>
              <a:ext uri="{FF2B5EF4-FFF2-40B4-BE49-F238E27FC236}">
                <a16:creationId xmlns:a16="http://schemas.microsoft.com/office/drawing/2014/main" id="{28F47E28-ABCD-CD18-FBE9-5308AC73B745}"/>
              </a:ext>
            </a:extLst>
          </p:cNvPr>
          <p:cNvSpPr/>
          <p:nvPr/>
        </p:nvSpPr>
        <p:spPr>
          <a:xfrm>
            <a:off x="6435775" y="3030874"/>
            <a:ext cx="2363876" cy="307777"/>
          </a:xfrm>
          <a:prstGeom prst="rect">
            <a:avLst/>
          </a:prstGeom>
          <a:ln w="12700">
            <a:solidFill>
              <a:srgbClr val="00B050"/>
            </a:solidFill>
          </a:ln>
        </p:spPr>
        <p:txBody>
          <a:bodyPr wrap="square">
            <a:spAutoFit/>
          </a:bodyPr>
          <a:lstStyle/>
          <a:p>
            <a:pPr>
              <a:spcAft>
                <a:spcPts val="600"/>
              </a:spcAft>
              <a:defRPr/>
            </a:pPr>
            <a:r>
              <a:rPr lang="zh-CN" altLang="en-US" sz="140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剑桥墨水公司</a:t>
            </a:r>
            <a:r>
              <a:rPr lang="zh-CN" altLang="en-US" sz="1400"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创始董事</a:t>
            </a:r>
            <a:endParaRPr lang="en-GB" altLang="zh-CN" sz="1400" b="1"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cxnSp>
        <p:nvCxnSpPr>
          <p:cNvPr id="51" name="直接连接符 80">
            <a:extLst>
              <a:ext uri="{FF2B5EF4-FFF2-40B4-BE49-F238E27FC236}">
                <a16:creationId xmlns:a16="http://schemas.microsoft.com/office/drawing/2014/main" id="{57EA5696-68FD-4144-31E2-D1A77E4399C7}"/>
              </a:ext>
            </a:extLst>
          </p:cNvPr>
          <p:cNvCxnSpPr>
            <a:cxnSpLocks/>
          </p:cNvCxnSpPr>
          <p:nvPr/>
        </p:nvCxnSpPr>
        <p:spPr>
          <a:xfrm>
            <a:off x="5946912" y="3187660"/>
            <a:ext cx="498617" cy="0"/>
          </a:xfrm>
          <a:prstGeom prst="line">
            <a:avLst/>
          </a:prstGeom>
          <a:ln w="12700">
            <a:solidFill>
              <a:srgbClr val="00B050"/>
            </a:solidFill>
            <a:prstDash val="dash"/>
          </a:ln>
          <a:effectLst/>
        </p:spPr>
        <p:style>
          <a:lnRef idx="2">
            <a:schemeClr val="accent1"/>
          </a:lnRef>
          <a:fillRef idx="0">
            <a:schemeClr val="accent1"/>
          </a:fillRef>
          <a:effectRef idx="1">
            <a:schemeClr val="accent1"/>
          </a:effectRef>
          <a:fontRef idx="minor">
            <a:schemeClr val="tx1"/>
          </a:fontRef>
        </p:style>
      </p:cxnSp>
      <p:sp>
        <p:nvSpPr>
          <p:cNvPr id="54" name="矩形 53">
            <a:extLst>
              <a:ext uri="{FF2B5EF4-FFF2-40B4-BE49-F238E27FC236}">
                <a16:creationId xmlns:a16="http://schemas.microsoft.com/office/drawing/2014/main" id="{C4942A72-1C71-0A0C-5AD2-9026113CBEEE}"/>
              </a:ext>
            </a:extLst>
          </p:cNvPr>
          <p:cNvSpPr/>
          <p:nvPr/>
        </p:nvSpPr>
        <p:spPr>
          <a:xfrm>
            <a:off x="4170522" y="1139392"/>
            <a:ext cx="1776390" cy="21992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 Box 3">
            <a:extLst>
              <a:ext uri="{FF2B5EF4-FFF2-40B4-BE49-F238E27FC236}">
                <a16:creationId xmlns:a16="http://schemas.microsoft.com/office/drawing/2014/main" id="{AC75CCEA-4674-F0FD-FA59-D2B8C291F239}"/>
              </a:ext>
            </a:extLst>
          </p:cNvPr>
          <p:cNvSpPr txBox="1"/>
          <p:nvPr/>
        </p:nvSpPr>
        <p:spPr>
          <a:xfrm>
            <a:off x="3032262" y="5459151"/>
            <a:ext cx="5974884" cy="369332"/>
          </a:xfrm>
          <a:prstGeom prst="rect">
            <a:avLst/>
          </a:prstGeom>
          <a:noFill/>
        </p:spPr>
        <p:txBody>
          <a:bodyPr wrap="square">
            <a:spAutoFit/>
          </a:bodyPr>
          <a:lstStyle/>
          <a:p>
            <a:pPr>
              <a:defRPr/>
            </a:pPr>
            <a:r>
              <a:rPr lang="zh-CN" altLang="en-US"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浙江</a:t>
            </a:r>
            <a:r>
              <a:rPr lang="zh-CN" altLang="en-US"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大学，信息与电子工程学院，“百人计划” 研究员</a:t>
            </a:r>
            <a:endParaRPr lang="en-GB" altLang="zh-CN"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53" name="Group 80">
            <a:extLst>
              <a:ext uri="{FF2B5EF4-FFF2-40B4-BE49-F238E27FC236}">
                <a16:creationId xmlns:a16="http://schemas.microsoft.com/office/drawing/2014/main" id="{4C4F804B-FAA3-3C0A-20C0-8C65F1BD20BE}"/>
              </a:ext>
            </a:extLst>
          </p:cNvPr>
          <p:cNvGrpSpPr>
            <a:grpSpLocks/>
          </p:cNvGrpSpPr>
          <p:nvPr/>
        </p:nvGrpSpPr>
        <p:grpSpPr bwMode="auto">
          <a:xfrm>
            <a:off x="2213825" y="5540884"/>
            <a:ext cx="760413" cy="168275"/>
            <a:chOff x="2125531" y="5057708"/>
            <a:chExt cx="760084" cy="169277"/>
          </a:xfrm>
        </p:grpSpPr>
        <p:sp>
          <p:nvSpPr>
            <p:cNvPr id="55" name="Oval 71">
              <a:extLst>
                <a:ext uri="{FF2B5EF4-FFF2-40B4-BE49-F238E27FC236}">
                  <a16:creationId xmlns:a16="http://schemas.microsoft.com/office/drawing/2014/main" id="{AEE7CF42-C803-E67F-1DB0-ACC4113B8E0D}"/>
                </a:ext>
              </a:extLst>
            </p:cNvPr>
            <p:cNvSpPr/>
            <p:nvPr/>
          </p:nvSpPr>
          <p:spPr>
            <a:xfrm>
              <a:off x="2125531" y="5057708"/>
              <a:ext cx="169790" cy="169277"/>
            </a:xfrm>
            <a:prstGeom prst="ellipse">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US" altLang="zh-CN">
                <a:solidFill>
                  <a:srgbClr val="FFFFFF"/>
                </a:solidFill>
                <a:ea typeface="宋体" panose="02010600030101010101" pitchFamily="2" charset="-122"/>
              </a:endParaRPr>
            </a:p>
          </p:txBody>
        </p:sp>
        <p:sp>
          <p:nvSpPr>
            <p:cNvPr id="56" name="直接连接符 63">
              <a:extLst>
                <a:ext uri="{FF2B5EF4-FFF2-40B4-BE49-F238E27FC236}">
                  <a16:creationId xmlns:a16="http://schemas.microsoft.com/office/drawing/2014/main" id="{7D39DEA2-DE9A-4199-9134-C1E744F39D33}"/>
                </a:ext>
              </a:extLst>
            </p:cNvPr>
            <p:cNvSpPr>
              <a:spLocks noChangeShapeType="1"/>
            </p:cNvSpPr>
            <p:nvPr/>
          </p:nvSpPr>
          <p:spPr bwMode="auto">
            <a:xfrm flipH="1">
              <a:off x="2309601" y="5148735"/>
              <a:ext cx="576014" cy="0"/>
            </a:xfrm>
            <a:prstGeom prst="line">
              <a:avLst/>
            </a:prstGeom>
            <a:noFill/>
            <a:ln w="25400">
              <a:solidFill>
                <a:srgbClr val="FF0000"/>
              </a:solidFill>
              <a:prstDash val="sysDot"/>
              <a:round/>
              <a:headEnd type="oval" w="med" len="med"/>
              <a:tailEnd/>
            </a:ln>
          </p:spPr>
          <p:txBody>
            <a:bodyPr/>
            <a:lstStyle/>
            <a:p>
              <a:pPr defTabSz="914377" eaLnBrk="1" fontAlgn="auto" hangingPunct="1">
                <a:spcBef>
                  <a:spcPts val="0"/>
                </a:spcBef>
                <a:spcAft>
                  <a:spcPts val="0"/>
                </a:spcAft>
                <a:defRPr/>
              </a:pPr>
              <a:endParaRPr lang="zh-CN" altLang="en-US" kern="0" dirty="0">
                <a:solidFill>
                  <a:prstClr val="black"/>
                </a:solidFill>
                <a:latin typeface="Calibri"/>
                <a:ea typeface="宋体" panose="02010600030101010101" pitchFamily="2" charset="-122"/>
              </a:endParaRPr>
            </a:p>
          </p:txBody>
        </p:sp>
      </p:grpSp>
      <p:sp>
        <p:nvSpPr>
          <p:cNvPr id="57" name="Text Box 3">
            <a:extLst>
              <a:ext uri="{FF2B5EF4-FFF2-40B4-BE49-F238E27FC236}">
                <a16:creationId xmlns:a16="http://schemas.microsoft.com/office/drawing/2014/main" id="{BC3283C8-75B5-6D49-5472-70C53A3EBDD2}"/>
              </a:ext>
            </a:extLst>
          </p:cNvPr>
          <p:cNvSpPr txBox="1">
            <a:spLocks noChangeArrowheads="1"/>
          </p:cNvSpPr>
          <p:nvPr/>
        </p:nvSpPr>
        <p:spPr bwMode="auto">
          <a:xfrm>
            <a:off x="244611" y="5997762"/>
            <a:ext cx="1970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GB"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2024</a:t>
            </a:r>
            <a:r>
              <a:rPr lang="en-US"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.8</a:t>
            </a:r>
            <a:r>
              <a:rPr lang="en-GB"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 </a:t>
            </a:r>
            <a:r>
              <a:rPr lang="zh-CN"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至今</a:t>
            </a:r>
            <a:r>
              <a:rPr lang="en-GB" altLang="en-US"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a:t>
            </a:r>
          </a:p>
        </p:txBody>
      </p:sp>
      <p:sp>
        <p:nvSpPr>
          <p:cNvPr id="58" name="Text Box 3">
            <a:extLst>
              <a:ext uri="{FF2B5EF4-FFF2-40B4-BE49-F238E27FC236}">
                <a16:creationId xmlns:a16="http://schemas.microsoft.com/office/drawing/2014/main" id="{9811D0FF-00BE-FE8B-57FF-CFB7FB8C540E}"/>
              </a:ext>
            </a:extLst>
          </p:cNvPr>
          <p:cNvSpPr txBox="1"/>
          <p:nvPr/>
        </p:nvSpPr>
        <p:spPr>
          <a:xfrm>
            <a:off x="3025912" y="5997762"/>
            <a:ext cx="5974884" cy="369332"/>
          </a:xfrm>
          <a:prstGeom prst="rect">
            <a:avLst/>
          </a:prstGeom>
          <a:noFill/>
        </p:spPr>
        <p:txBody>
          <a:bodyPr wrap="square">
            <a:spAutoFit/>
          </a:bodyPr>
          <a:lstStyle/>
          <a:p>
            <a:pPr>
              <a:defRPr/>
            </a:pPr>
            <a:r>
              <a:rPr lang="zh-CN" altLang="en-US" b="1"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浙江</a:t>
            </a:r>
            <a:r>
              <a:rPr lang="zh-CN" altLang="en-US"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大学，长聘教授，求是特聘教授</a:t>
            </a:r>
            <a:endParaRPr lang="en-GB" altLang="zh-CN"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597907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1000"/>
                                        <p:tgtEl>
                                          <p:spTgt spid="22"/>
                                        </p:tgtEl>
                                      </p:cBhvr>
                                    </p:animEffect>
                                    <p:anim calcmode="lin" valueType="num">
                                      <p:cBhvr>
                                        <p:cTn id="13" dur="1000" fill="hold"/>
                                        <p:tgtEl>
                                          <p:spTgt spid="22"/>
                                        </p:tgtEl>
                                        <p:attrNameLst>
                                          <p:attrName>ppt_x</p:attrName>
                                        </p:attrNameLst>
                                      </p:cBhvr>
                                      <p:tavLst>
                                        <p:tav tm="0">
                                          <p:val>
                                            <p:strVal val="#ppt_x"/>
                                          </p:val>
                                        </p:tav>
                                        <p:tav tm="100000">
                                          <p:val>
                                            <p:strVal val="#ppt_x"/>
                                          </p:val>
                                        </p:tav>
                                      </p:tavLst>
                                    </p:anim>
                                    <p:anim calcmode="lin" valueType="num">
                                      <p:cBhvr>
                                        <p:cTn id="14" dur="1000" fill="hold"/>
                                        <p:tgtEl>
                                          <p:spTgt spid="2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anim calcmode="lin" valueType="num">
                                      <p:cBhvr>
                                        <p:cTn id="23" dur="1000" fill="hold"/>
                                        <p:tgtEl>
                                          <p:spTgt spid="15"/>
                                        </p:tgtEl>
                                        <p:attrNameLst>
                                          <p:attrName>ppt_x</p:attrName>
                                        </p:attrNameLst>
                                      </p:cBhvr>
                                      <p:tavLst>
                                        <p:tav tm="0">
                                          <p:val>
                                            <p:strVal val="#ppt_x"/>
                                          </p:val>
                                        </p:tav>
                                        <p:tav tm="100000">
                                          <p:val>
                                            <p:strVal val="#ppt_x"/>
                                          </p:val>
                                        </p:tav>
                                      </p:tavLst>
                                    </p:anim>
                                    <p:anim calcmode="lin" valueType="num">
                                      <p:cBhvr>
                                        <p:cTn id="24" dur="1000" fill="hold"/>
                                        <p:tgtEl>
                                          <p:spTgt spid="15"/>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1000"/>
                                        <p:tgtEl>
                                          <p:spTgt spid="14"/>
                                        </p:tgtEl>
                                      </p:cBhvr>
                                    </p:animEffect>
                                    <p:anim calcmode="lin" valueType="num">
                                      <p:cBhvr>
                                        <p:cTn id="33" dur="1000" fill="hold"/>
                                        <p:tgtEl>
                                          <p:spTgt spid="14"/>
                                        </p:tgtEl>
                                        <p:attrNameLst>
                                          <p:attrName>ppt_x</p:attrName>
                                        </p:attrNameLst>
                                      </p:cBhvr>
                                      <p:tavLst>
                                        <p:tav tm="0">
                                          <p:val>
                                            <p:strVal val="#ppt_x"/>
                                          </p:val>
                                        </p:tav>
                                        <p:tav tm="100000">
                                          <p:val>
                                            <p:strVal val="#ppt_x"/>
                                          </p:val>
                                        </p:tav>
                                      </p:tavLst>
                                    </p:anim>
                                    <p:anim calcmode="lin" valueType="num">
                                      <p:cBhvr>
                                        <p:cTn id="34" dur="1000" fill="hold"/>
                                        <p:tgtEl>
                                          <p:spTgt spid="14"/>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1000"/>
                                        <p:tgtEl>
                                          <p:spTgt spid="6"/>
                                        </p:tgtEl>
                                      </p:cBhvr>
                                    </p:animEffect>
                                    <p:anim calcmode="lin" valueType="num">
                                      <p:cBhvr>
                                        <p:cTn id="43" dur="1000" fill="hold"/>
                                        <p:tgtEl>
                                          <p:spTgt spid="6"/>
                                        </p:tgtEl>
                                        <p:attrNameLst>
                                          <p:attrName>ppt_x</p:attrName>
                                        </p:attrNameLst>
                                      </p:cBhvr>
                                      <p:tavLst>
                                        <p:tav tm="0">
                                          <p:val>
                                            <p:strVal val="#ppt_x"/>
                                          </p:val>
                                        </p:tav>
                                        <p:tav tm="100000">
                                          <p:val>
                                            <p:strVal val="#ppt_x"/>
                                          </p:val>
                                        </p:tav>
                                      </p:tavLst>
                                    </p:anim>
                                    <p:anim calcmode="lin" valueType="num">
                                      <p:cBhvr>
                                        <p:cTn id="44" dur="1000" fill="hold"/>
                                        <p:tgtEl>
                                          <p:spTgt spid="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ppt_x</p:attrName>
                                        </p:attrNameLst>
                                      </p:cBhvr>
                                      <p:tavLst>
                                        <p:tav tm="0">
                                          <p:val>
                                            <p:strVal val="#ppt_x"/>
                                          </p:val>
                                        </p:tav>
                                        <p:tav tm="100000">
                                          <p:val>
                                            <p:strVal val="#ppt_x"/>
                                          </p:val>
                                        </p:tav>
                                      </p:tavLst>
                                    </p:anim>
                                    <p:anim calcmode="lin" valueType="num">
                                      <p:cBhvr>
                                        <p:cTn id="49" dur="100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1000"/>
                                        <p:tgtEl>
                                          <p:spTgt spid="28"/>
                                        </p:tgtEl>
                                      </p:cBhvr>
                                    </p:animEffect>
                                    <p:anim calcmode="lin" valueType="num">
                                      <p:cBhvr>
                                        <p:cTn id="53" dur="1000" fill="hold"/>
                                        <p:tgtEl>
                                          <p:spTgt spid="28"/>
                                        </p:tgtEl>
                                        <p:attrNameLst>
                                          <p:attrName>ppt_x</p:attrName>
                                        </p:attrNameLst>
                                      </p:cBhvr>
                                      <p:tavLst>
                                        <p:tav tm="0">
                                          <p:val>
                                            <p:strVal val="#ppt_x"/>
                                          </p:val>
                                        </p:tav>
                                        <p:tav tm="100000">
                                          <p:val>
                                            <p:strVal val="#ppt_x"/>
                                          </p:val>
                                        </p:tav>
                                      </p:tavLst>
                                    </p:anim>
                                    <p:anim calcmode="lin" valueType="num">
                                      <p:cBhvr>
                                        <p:cTn id="54" dur="1000" fill="hold"/>
                                        <p:tgtEl>
                                          <p:spTgt spid="28"/>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1000"/>
                                        <p:tgtEl>
                                          <p:spTgt spid="13"/>
                                        </p:tgtEl>
                                      </p:cBhvr>
                                    </p:animEffect>
                                    <p:anim calcmode="lin" valueType="num">
                                      <p:cBhvr>
                                        <p:cTn id="58" dur="1000" fill="hold"/>
                                        <p:tgtEl>
                                          <p:spTgt spid="13"/>
                                        </p:tgtEl>
                                        <p:attrNameLst>
                                          <p:attrName>ppt_x</p:attrName>
                                        </p:attrNameLst>
                                      </p:cBhvr>
                                      <p:tavLst>
                                        <p:tav tm="0">
                                          <p:val>
                                            <p:strVal val="#ppt_x"/>
                                          </p:val>
                                        </p:tav>
                                        <p:tav tm="100000">
                                          <p:val>
                                            <p:strVal val="#ppt_x"/>
                                          </p:val>
                                        </p:tav>
                                      </p:tavLst>
                                    </p:anim>
                                    <p:anim calcmode="lin" valueType="num">
                                      <p:cBhvr>
                                        <p:cTn id="59" dur="1000" fill="hold"/>
                                        <p:tgtEl>
                                          <p:spTgt spid="13"/>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fade">
                                      <p:cBhvr>
                                        <p:cTn id="62" dur="1000"/>
                                        <p:tgtEl>
                                          <p:spTgt spid="5"/>
                                        </p:tgtEl>
                                      </p:cBhvr>
                                    </p:animEffect>
                                    <p:anim calcmode="lin" valueType="num">
                                      <p:cBhvr>
                                        <p:cTn id="63" dur="1000" fill="hold"/>
                                        <p:tgtEl>
                                          <p:spTgt spid="5"/>
                                        </p:tgtEl>
                                        <p:attrNameLst>
                                          <p:attrName>ppt_x</p:attrName>
                                        </p:attrNameLst>
                                      </p:cBhvr>
                                      <p:tavLst>
                                        <p:tav tm="0">
                                          <p:val>
                                            <p:strVal val="#ppt_x"/>
                                          </p:val>
                                        </p:tav>
                                        <p:tav tm="100000">
                                          <p:val>
                                            <p:strVal val="#ppt_x"/>
                                          </p:val>
                                        </p:tav>
                                      </p:tavLst>
                                    </p:anim>
                                    <p:anim calcmode="lin" valueType="num">
                                      <p:cBhvr>
                                        <p:cTn id="64" dur="1000" fill="hold"/>
                                        <p:tgtEl>
                                          <p:spTgt spid="5"/>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1000"/>
                                        <p:tgtEl>
                                          <p:spTgt spid="31"/>
                                        </p:tgtEl>
                                      </p:cBhvr>
                                    </p:animEffect>
                                    <p:anim calcmode="lin" valueType="num">
                                      <p:cBhvr>
                                        <p:cTn id="68" dur="1000" fill="hold"/>
                                        <p:tgtEl>
                                          <p:spTgt spid="31"/>
                                        </p:tgtEl>
                                        <p:attrNameLst>
                                          <p:attrName>ppt_x</p:attrName>
                                        </p:attrNameLst>
                                      </p:cBhvr>
                                      <p:tavLst>
                                        <p:tav tm="0">
                                          <p:val>
                                            <p:strVal val="#ppt_x"/>
                                          </p:val>
                                        </p:tav>
                                        <p:tav tm="100000">
                                          <p:val>
                                            <p:strVal val="#ppt_x"/>
                                          </p:val>
                                        </p:tav>
                                      </p:tavLst>
                                    </p:anim>
                                    <p:anim calcmode="lin" valueType="num">
                                      <p:cBhvr>
                                        <p:cTn id="69" dur="1000" fill="hold"/>
                                        <p:tgtEl>
                                          <p:spTgt spid="31"/>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3"/>
                                        </p:tgtEl>
                                        <p:attrNameLst>
                                          <p:attrName>style.visibility</p:attrName>
                                        </p:attrNameLst>
                                      </p:cBhvr>
                                      <p:to>
                                        <p:strVal val="visible"/>
                                      </p:to>
                                    </p:set>
                                    <p:animEffect transition="in" filter="fade">
                                      <p:cBhvr>
                                        <p:cTn id="72" dur="1000"/>
                                        <p:tgtEl>
                                          <p:spTgt spid="3"/>
                                        </p:tgtEl>
                                      </p:cBhvr>
                                    </p:animEffect>
                                    <p:anim calcmode="lin" valueType="num">
                                      <p:cBhvr>
                                        <p:cTn id="73" dur="1000" fill="hold"/>
                                        <p:tgtEl>
                                          <p:spTgt spid="3"/>
                                        </p:tgtEl>
                                        <p:attrNameLst>
                                          <p:attrName>ppt_x</p:attrName>
                                        </p:attrNameLst>
                                      </p:cBhvr>
                                      <p:tavLst>
                                        <p:tav tm="0">
                                          <p:val>
                                            <p:strVal val="#ppt_x"/>
                                          </p:val>
                                        </p:tav>
                                        <p:tav tm="100000">
                                          <p:val>
                                            <p:strVal val="#ppt_x"/>
                                          </p:val>
                                        </p:tav>
                                      </p:tavLst>
                                    </p:anim>
                                    <p:anim calcmode="lin" valueType="num">
                                      <p:cBhvr>
                                        <p:cTn id="74" dur="1000" fill="hold"/>
                                        <p:tgtEl>
                                          <p:spTgt spid="3"/>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fade">
                                      <p:cBhvr>
                                        <p:cTn id="77" dur="1000"/>
                                        <p:tgtEl>
                                          <p:spTgt spid="51"/>
                                        </p:tgtEl>
                                      </p:cBhvr>
                                    </p:animEffect>
                                    <p:anim calcmode="lin" valueType="num">
                                      <p:cBhvr>
                                        <p:cTn id="78" dur="1000" fill="hold"/>
                                        <p:tgtEl>
                                          <p:spTgt spid="51"/>
                                        </p:tgtEl>
                                        <p:attrNameLst>
                                          <p:attrName>ppt_x</p:attrName>
                                        </p:attrNameLst>
                                      </p:cBhvr>
                                      <p:tavLst>
                                        <p:tav tm="0">
                                          <p:val>
                                            <p:strVal val="#ppt_x"/>
                                          </p:val>
                                        </p:tav>
                                        <p:tav tm="100000">
                                          <p:val>
                                            <p:strVal val="#ppt_x"/>
                                          </p:val>
                                        </p:tav>
                                      </p:tavLst>
                                    </p:anim>
                                    <p:anim calcmode="lin" valueType="num">
                                      <p:cBhvr>
                                        <p:cTn id="79" dur="1000" fill="hold"/>
                                        <p:tgtEl>
                                          <p:spTgt spid="51"/>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50"/>
                                        </p:tgtEl>
                                        <p:attrNameLst>
                                          <p:attrName>style.visibility</p:attrName>
                                        </p:attrNameLst>
                                      </p:cBhvr>
                                      <p:to>
                                        <p:strVal val="visible"/>
                                      </p:to>
                                    </p:set>
                                    <p:animEffect transition="in" filter="fade">
                                      <p:cBhvr>
                                        <p:cTn id="82" dur="1000"/>
                                        <p:tgtEl>
                                          <p:spTgt spid="50"/>
                                        </p:tgtEl>
                                      </p:cBhvr>
                                    </p:animEffect>
                                    <p:anim calcmode="lin" valueType="num">
                                      <p:cBhvr>
                                        <p:cTn id="83" dur="1000" fill="hold"/>
                                        <p:tgtEl>
                                          <p:spTgt spid="50"/>
                                        </p:tgtEl>
                                        <p:attrNameLst>
                                          <p:attrName>ppt_x</p:attrName>
                                        </p:attrNameLst>
                                      </p:cBhvr>
                                      <p:tavLst>
                                        <p:tav tm="0">
                                          <p:val>
                                            <p:strVal val="#ppt_x"/>
                                          </p:val>
                                        </p:tav>
                                        <p:tav tm="100000">
                                          <p:val>
                                            <p:strVal val="#ppt_x"/>
                                          </p:val>
                                        </p:tav>
                                      </p:tavLst>
                                    </p:anim>
                                    <p:anim calcmode="lin" valueType="num">
                                      <p:cBhvr>
                                        <p:cTn id="84"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17"/>
                                        </p:tgtEl>
                                        <p:attrNameLst>
                                          <p:attrName>style.visibility</p:attrName>
                                        </p:attrNameLst>
                                      </p:cBhvr>
                                      <p:to>
                                        <p:strVal val="visible"/>
                                      </p:to>
                                    </p:set>
                                    <p:animEffect transition="in" filter="fade">
                                      <p:cBhvr>
                                        <p:cTn id="89" dur="1000"/>
                                        <p:tgtEl>
                                          <p:spTgt spid="17"/>
                                        </p:tgtEl>
                                      </p:cBhvr>
                                    </p:animEffect>
                                    <p:anim calcmode="lin" valueType="num">
                                      <p:cBhvr>
                                        <p:cTn id="90" dur="1000" fill="hold"/>
                                        <p:tgtEl>
                                          <p:spTgt spid="17"/>
                                        </p:tgtEl>
                                        <p:attrNameLst>
                                          <p:attrName>ppt_x</p:attrName>
                                        </p:attrNameLst>
                                      </p:cBhvr>
                                      <p:tavLst>
                                        <p:tav tm="0">
                                          <p:val>
                                            <p:strVal val="#ppt_x"/>
                                          </p:val>
                                        </p:tav>
                                        <p:tav tm="100000">
                                          <p:val>
                                            <p:strVal val="#ppt_x"/>
                                          </p:val>
                                        </p:tav>
                                      </p:tavLst>
                                    </p:anim>
                                    <p:anim calcmode="lin" valueType="num">
                                      <p:cBhvr>
                                        <p:cTn id="91" dur="1000" fill="hold"/>
                                        <p:tgtEl>
                                          <p:spTgt spid="17"/>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1000"/>
                                        <p:tgtEl>
                                          <p:spTgt spid="35"/>
                                        </p:tgtEl>
                                      </p:cBhvr>
                                    </p:animEffect>
                                    <p:anim calcmode="lin" valueType="num">
                                      <p:cBhvr>
                                        <p:cTn id="95" dur="1000" fill="hold"/>
                                        <p:tgtEl>
                                          <p:spTgt spid="35"/>
                                        </p:tgtEl>
                                        <p:attrNameLst>
                                          <p:attrName>ppt_x</p:attrName>
                                        </p:attrNameLst>
                                      </p:cBhvr>
                                      <p:tavLst>
                                        <p:tav tm="0">
                                          <p:val>
                                            <p:strVal val="#ppt_x"/>
                                          </p:val>
                                        </p:tav>
                                        <p:tav tm="100000">
                                          <p:val>
                                            <p:strVal val="#ppt_x"/>
                                          </p:val>
                                        </p:tav>
                                      </p:tavLst>
                                    </p:anim>
                                    <p:anim calcmode="lin" valueType="num">
                                      <p:cBhvr>
                                        <p:cTn id="96" dur="1000" fill="hold"/>
                                        <p:tgtEl>
                                          <p:spTgt spid="35"/>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16"/>
                                        </p:tgtEl>
                                        <p:attrNameLst>
                                          <p:attrName>style.visibility</p:attrName>
                                        </p:attrNameLst>
                                      </p:cBhvr>
                                      <p:to>
                                        <p:strVal val="visible"/>
                                      </p:to>
                                    </p:set>
                                    <p:animEffect transition="in" filter="fade">
                                      <p:cBhvr>
                                        <p:cTn id="99" dur="1000"/>
                                        <p:tgtEl>
                                          <p:spTgt spid="16"/>
                                        </p:tgtEl>
                                      </p:cBhvr>
                                    </p:animEffect>
                                    <p:anim calcmode="lin" valueType="num">
                                      <p:cBhvr>
                                        <p:cTn id="100" dur="1000" fill="hold"/>
                                        <p:tgtEl>
                                          <p:spTgt spid="16"/>
                                        </p:tgtEl>
                                        <p:attrNameLst>
                                          <p:attrName>ppt_x</p:attrName>
                                        </p:attrNameLst>
                                      </p:cBhvr>
                                      <p:tavLst>
                                        <p:tav tm="0">
                                          <p:val>
                                            <p:strVal val="#ppt_x"/>
                                          </p:val>
                                        </p:tav>
                                        <p:tav tm="100000">
                                          <p:val>
                                            <p:strVal val="#ppt_x"/>
                                          </p:val>
                                        </p:tav>
                                      </p:tavLst>
                                    </p:anim>
                                    <p:anim calcmode="lin" valueType="num">
                                      <p:cBhvr>
                                        <p:cTn id="101" dur="1000" fill="hold"/>
                                        <p:tgtEl>
                                          <p:spTgt spid="16"/>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8"/>
                                        </p:tgtEl>
                                        <p:attrNameLst>
                                          <p:attrName>style.visibility</p:attrName>
                                        </p:attrNameLst>
                                      </p:cBhvr>
                                      <p:to>
                                        <p:strVal val="visible"/>
                                      </p:to>
                                    </p:set>
                                    <p:animEffect transition="in" filter="fade">
                                      <p:cBhvr>
                                        <p:cTn id="104" dur="1000"/>
                                        <p:tgtEl>
                                          <p:spTgt spid="8"/>
                                        </p:tgtEl>
                                      </p:cBhvr>
                                    </p:animEffect>
                                    <p:anim calcmode="lin" valueType="num">
                                      <p:cBhvr>
                                        <p:cTn id="105" dur="1000" fill="hold"/>
                                        <p:tgtEl>
                                          <p:spTgt spid="8"/>
                                        </p:tgtEl>
                                        <p:attrNameLst>
                                          <p:attrName>ppt_x</p:attrName>
                                        </p:attrNameLst>
                                      </p:cBhvr>
                                      <p:tavLst>
                                        <p:tav tm="0">
                                          <p:val>
                                            <p:strVal val="#ppt_x"/>
                                          </p:val>
                                        </p:tav>
                                        <p:tav tm="100000">
                                          <p:val>
                                            <p:strVal val="#ppt_x"/>
                                          </p:val>
                                        </p:tav>
                                      </p:tavLst>
                                    </p:anim>
                                    <p:anim calcmode="lin" valueType="num">
                                      <p:cBhvr>
                                        <p:cTn id="106" dur="1000" fill="hold"/>
                                        <p:tgtEl>
                                          <p:spTgt spid="8"/>
                                        </p:tgtEl>
                                        <p:attrNameLst>
                                          <p:attrName>ppt_y</p:attrName>
                                        </p:attrNameLst>
                                      </p:cBhvr>
                                      <p:tavLst>
                                        <p:tav tm="0">
                                          <p:val>
                                            <p:strVal val="#ppt_y+.1"/>
                                          </p:val>
                                        </p:tav>
                                        <p:tav tm="100000">
                                          <p:val>
                                            <p:strVal val="#ppt_y"/>
                                          </p:val>
                                        </p:tav>
                                      </p:tavLst>
                                    </p:anim>
                                  </p:childTnLst>
                                </p:cTn>
                              </p:par>
                              <p:par>
                                <p:cTn id="107" presetID="42" presetClass="entr" presetSubtype="0" fill="hold"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1000"/>
                                        <p:tgtEl>
                                          <p:spTgt spid="38"/>
                                        </p:tgtEl>
                                      </p:cBhvr>
                                    </p:animEffect>
                                    <p:anim calcmode="lin" valueType="num">
                                      <p:cBhvr>
                                        <p:cTn id="110" dur="1000" fill="hold"/>
                                        <p:tgtEl>
                                          <p:spTgt spid="38"/>
                                        </p:tgtEl>
                                        <p:attrNameLst>
                                          <p:attrName>ppt_x</p:attrName>
                                        </p:attrNameLst>
                                      </p:cBhvr>
                                      <p:tavLst>
                                        <p:tav tm="0">
                                          <p:val>
                                            <p:strVal val="#ppt_x"/>
                                          </p:val>
                                        </p:tav>
                                        <p:tav tm="100000">
                                          <p:val>
                                            <p:strVal val="#ppt_x"/>
                                          </p:val>
                                        </p:tav>
                                      </p:tavLst>
                                    </p:anim>
                                    <p:anim calcmode="lin" valueType="num">
                                      <p:cBhvr>
                                        <p:cTn id="111" dur="1000" fill="hold"/>
                                        <p:tgtEl>
                                          <p:spTgt spid="38"/>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9"/>
                                        </p:tgtEl>
                                        <p:attrNameLst>
                                          <p:attrName>style.visibility</p:attrName>
                                        </p:attrNameLst>
                                      </p:cBhvr>
                                      <p:to>
                                        <p:strVal val="visible"/>
                                      </p:to>
                                    </p:set>
                                    <p:animEffect transition="in" filter="fade">
                                      <p:cBhvr>
                                        <p:cTn id="114" dur="1000"/>
                                        <p:tgtEl>
                                          <p:spTgt spid="9"/>
                                        </p:tgtEl>
                                      </p:cBhvr>
                                    </p:animEffect>
                                    <p:anim calcmode="lin" valueType="num">
                                      <p:cBhvr>
                                        <p:cTn id="115" dur="1000" fill="hold"/>
                                        <p:tgtEl>
                                          <p:spTgt spid="9"/>
                                        </p:tgtEl>
                                        <p:attrNameLst>
                                          <p:attrName>ppt_x</p:attrName>
                                        </p:attrNameLst>
                                      </p:cBhvr>
                                      <p:tavLst>
                                        <p:tav tm="0">
                                          <p:val>
                                            <p:strVal val="#ppt_x"/>
                                          </p:val>
                                        </p:tav>
                                        <p:tav tm="100000">
                                          <p:val>
                                            <p:strVal val="#ppt_x"/>
                                          </p:val>
                                        </p:tav>
                                      </p:tavLst>
                                    </p:anim>
                                    <p:anim calcmode="lin" valueType="num">
                                      <p:cBhvr>
                                        <p:cTn id="116" dur="1000" fill="hold"/>
                                        <p:tgtEl>
                                          <p:spTgt spid="9"/>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19"/>
                                        </p:tgtEl>
                                        <p:attrNameLst>
                                          <p:attrName>style.visibility</p:attrName>
                                        </p:attrNameLst>
                                      </p:cBhvr>
                                      <p:to>
                                        <p:strVal val="visible"/>
                                      </p:to>
                                    </p:set>
                                    <p:animEffect transition="in" filter="fade">
                                      <p:cBhvr>
                                        <p:cTn id="119" dur="1000"/>
                                        <p:tgtEl>
                                          <p:spTgt spid="19"/>
                                        </p:tgtEl>
                                      </p:cBhvr>
                                    </p:animEffect>
                                    <p:anim calcmode="lin" valueType="num">
                                      <p:cBhvr>
                                        <p:cTn id="120" dur="1000" fill="hold"/>
                                        <p:tgtEl>
                                          <p:spTgt spid="19"/>
                                        </p:tgtEl>
                                        <p:attrNameLst>
                                          <p:attrName>ppt_x</p:attrName>
                                        </p:attrNameLst>
                                      </p:cBhvr>
                                      <p:tavLst>
                                        <p:tav tm="0">
                                          <p:val>
                                            <p:strVal val="#ppt_x"/>
                                          </p:val>
                                        </p:tav>
                                        <p:tav tm="100000">
                                          <p:val>
                                            <p:strVal val="#ppt_x"/>
                                          </p:val>
                                        </p:tav>
                                      </p:tavLst>
                                    </p:anim>
                                    <p:anim calcmode="lin" valueType="num">
                                      <p:cBhvr>
                                        <p:cTn id="121" dur="1000" fill="hold"/>
                                        <p:tgtEl>
                                          <p:spTgt spid="19"/>
                                        </p:tgtEl>
                                        <p:attrNameLst>
                                          <p:attrName>ppt_y</p:attrName>
                                        </p:attrNameLst>
                                      </p:cBhvr>
                                      <p:tavLst>
                                        <p:tav tm="0">
                                          <p:val>
                                            <p:strVal val="#ppt_y+.1"/>
                                          </p:val>
                                        </p:tav>
                                        <p:tav tm="100000">
                                          <p:val>
                                            <p:strVal val="#ppt_y"/>
                                          </p:val>
                                        </p:tav>
                                      </p:tavLst>
                                    </p:anim>
                                  </p:childTnLst>
                                </p:cTn>
                              </p:par>
                              <p:par>
                                <p:cTn id="122" presetID="42" presetClass="entr" presetSubtype="0" fill="hold" nodeType="withEffect">
                                  <p:stCondLst>
                                    <p:cond delay="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1000"/>
                                        <p:tgtEl>
                                          <p:spTgt spid="41"/>
                                        </p:tgtEl>
                                      </p:cBhvr>
                                    </p:animEffect>
                                    <p:anim calcmode="lin" valueType="num">
                                      <p:cBhvr>
                                        <p:cTn id="125" dur="1000" fill="hold"/>
                                        <p:tgtEl>
                                          <p:spTgt spid="41"/>
                                        </p:tgtEl>
                                        <p:attrNameLst>
                                          <p:attrName>ppt_x</p:attrName>
                                        </p:attrNameLst>
                                      </p:cBhvr>
                                      <p:tavLst>
                                        <p:tav tm="0">
                                          <p:val>
                                            <p:strVal val="#ppt_x"/>
                                          </p:val>
                                        </p:tav>
                                        <p:tav tm="100000">
                                          <p:val>
                                            <p:strVal val="#ppt_x"/>
                                          </p:val>
                                        </p:tav>
                                      </p:tavLst>
                                    </p:anim>
                                    <p:anim calcmode="lin" valueType="num">
                                      <p:cBhvr>
                                        <p:cTn id="126" dur="1000" fill="hold"/>
                                        <p:tgtEl>
                                          <p:spTgt spid="41"/>
                                        </p:tgtEl>
                                        <p:attrNameLst>
                                          <p:attrName>ppt_y</p:attrName>
                                        </p:attrNameLst>
                                      </p:cBhvr>
                                      <p:tavLst>
                                        <p:tav tm="0">
                                          <p:val>
                                            <p:strVal val="#ppt_y+.1"/>
                                          </p:val>
                                        </p:tav>
                                        <p:tav tm="100000">
                                          <p:val>
                                            <p:strVal val="#ppt_y"/>
                                          </p:val>
                                        </p:tav>
                                      </p:tavLst>
                                    </p:anim>
                                  </p:childTnLst>
                                </p:cTn>
                              </p:par>
                              <p:par>
                                <p:cTn id="127" presetID="42" presetClass="entr" presetSubtype="0" fill="hold" nodeType="withEffect">
                                  <p:stCondLst>
                                    <p:cond delay="0"/>
                                  </p:stCondLst>
                                  <p:childTnLst>
                                    <p:set>
                                      <p:cBhvr>
                                        <p:cTn id="128" dur="1" fill="hold">
                                          <p:stCondLst>
                                            <p:cond delay="0"/>
                                          </p:stCondLst>
                                        </p:cTn>
                                        <p:tgtEl>
                                          <p:spTgt spid="48"/>
                                        </p:tgtEl>
                                        <p:attrNameLst>
                                          <p:attrName>style.visibility</p:attrName>
                                        </p:attrNameLst>
                                      </p:cBhvr>
                                      <p:to>
                                        <p:strVal val="visible"/>
                                      </p:to>
                                    </p:set>
                                    <p:animEffect transition="in" filter="fade">
                                      <p:cBhvr>
                                        <p:cTn id="129" dur="1000"/>
                                        <p:tgtEl>
                                          <p:spTgt spid="48"/>
                                        </p:tgtEl>
                                      </p:cBhvr>
                                    </p:animEffect>
                                    <p:anim calcmode="lin" valueType="num">
                                      <p:cBhvr>
                                        <p:cTn id="130" dur="1000" fill="hold"/>
                                        <p:tgtEl>
                                          <p:spTgt spid="48"/>
                                        </p:tgtEl>
                                        <p:attrNameLst>
                                          <p:attrName>ppt_x</p:attrName>
                                        </p:attrNameLst>
                                      </p:cBhvr>
                                      <p:tavLst>
                                        <p:tav tm="0">
                                          <p:val>
                                            <p:strVal val="#ppt_x"/>
                                          </p:val>
                                        </p:tav>
                                        <p:tav tm="100000">
                                          <p:val>
                                            <p:strVal val="#ppt_x"/>
                                          </p:val>
                                        </p:tav>
                                      </p:tavLst>
                                    </p:anim>
                                    <p:anim calcmode="lin" valueType="num">
                                      <p:cBhvr>
                                        <p:cTn id="131" dur="1000" fill="hold"/>
                                        <p:tgtEl>
                                          <p:spTgt spid="48"/>
                                        </p:tgtEl>
                                        <p:attrNameLst>
                                          <p:attrName>ppt_y</p:attrName>
                                        </p:attrNameLst>
                                      </p:cBhvr>
                                      <p:tavLst>
                                        <p:tav tm="0">
                                          <p:val>
                                            <p:strVal val="#ppt_y+.1"/>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4" dur="1000"/>
                                        <p:tgtEl>
                                          <p:spTgt spid="49"/>
                                        </p:tgtEl>
                                      </p:cBhvr>
                                    </p:animEffect>
                                    <p:anim calcmode="lin" valueType="num">
                                      <p:cBhvr>
                                        <p:cTn id="135" dur="1000" fill="hold"/>
                                        <p:tgtEl>
                                          <p:spTgt spid="49"/>
                                        </p:tgtEl>
                                        <p:attrNameLst>
                                          <p:attrName>ppt_x</p:attrName>
                                        </p:attrNameLst>
                                      </p:cBhvr>
                                      <p:tavLst>
                                        <p:tav tm="0">
                                          <p:val>
                                            <p:strVal val="#ppt_x"/>
                                          </p:val>
                                        </p:tav>
                                        <p:tav tm="100000">
                                          <p:val>
                                            <p:strVal val="#ppt_x"/>
                                          </p:val>
                                        </p:tav>
                                      </p:tavLst>
                                    </p:anim>
                                    <p:anim calcmode="lin" valueType="num">
                                      <p:cBhvr>
                                        <p:cTn id="136" dur="1000" fill="hold"/>
                                        <p:tgtEl>
                                          <p:spTgt spid="49"/>
                                        </p:tgtEl>
                                        <p:attrNameLst>
                                          <p:attrName>ppt_y</p:attrName>
                                        </p:attrNameLst>
                                      </p:cBhvr>
                                      <p:tavLst>
                                        <p:tav tm="0">
                                          <p:val>
                                            <p:strVal val="#ppt_y+.1"/>
                                          </p:val>
                                        </p:tav>
                                        <p:tav tm="100000">
                                          <p:val>
                                            <p:strVal val="#ppt_y"/>
                                          </p:val>
                                        </p:tav>
                                      </p:tavLst>
                                    </p:anim>
                                  </p:childTnLst>
                                </p:cTn>
                              </p:par>
                              <p:par>
                                <p:cTn id="137" presetID="42" presetClass="entr" presetSubtype="0" fill="hold" nodeType="withEffect">
                                  <p:stCondLst>
                                    <p:cond delay="0"/>
                                  </p:stCondLst>
                                  <p:childTnLst>
                                    <p:set>
                                      <p:cBhvr>
                                        <p:cTn id="138" dur="1" fill="hold">
                                          <p:stCondLst>
                                            <p:cond delay="0"/>
                                          </p:stCondLst>
                                        </p:cTn>
                                        <p:tgtEl>
                                          <p:spTgt spid="47"/>
                                        </p:tgtEl>
                                        <p:attrNameLst>
                                          <p:attrName>style.visibility</p:attrName>
                                        </p:attrNameLst>
                                      </p:cBhvr>
                                      <p:to>
                                        <p:strVal val="visible"/>
                                      </p:to>
                                    </p:set>
                                    <p:animEffect transition="in" filter="fade">
                                      <p:cBhvr>
                                        <p:cTn id="139" dur="1000"/>
                                        <p:tgtEl>
                                          <p:spTgt spid="47"/>
                                        </p:tgtEl>
                                      </p:cBhvr>
                                    </p:animEffect>
                                    <p:anim calcmode="lin" valueType="num">
                                      <p:cBhvr>
                                        <p:cTn id="140" dur="1000" fill="hold"/>
                                        <p:tgtEl>
                                          <p:spTgt spid="47"/>
                                        </p:tgtEl>
                                        <p:attrNameLst>
                                          <p:attrName>ppt_x</p:attrName>
                                        </p:attrNameLst>
                                      </p:cBhvr>
                                      <p:tavLst>
                                        <p:tav tm="0">
                                          <p:val>
                                            <p:strVal val="#ppt_x"/>
                                          </p:val>
                                        </p:tav>
                                        <p:tav tm="100000">
                                          <p:val>
                                            <p:strVal val="#ppt_x"/>
                                          </p:val>
                                        </p:tav>
                                      </p:tavLst>
                                    </p:anim>
                                    <p:anim calcmode="lin" valueType="num">
                                      <p:cBhvr>
                                        <p:cTn id="141" dur="1000" fill="hold"/>
                                        <p:tgtEl>
                                          <p:spTgt spid="47"/>
                                        </p:tgtEl>
                                        <p:attrNameLst>
                                          <p:attrName>ppt_y</p:attrName>
                                        </p:attrNameLst>
                                      </p:cBhvr>
                                      <p:tavLst>
                                        <p:tav tm="0">
                                          <p:val>
                                            <p:strVal val="#ppt_y+.1"/>
                                          </p:val>
                                        </p:tav>
                                        <p:tav tm="100000">
                                          <p:val>
                                            <p:strVal val="#ppt_y"/>
                                          </p:val>
                                        </p:tav>
                                      </p:tavLst>
                                    </p:anim>
                                  </p:childTnLst>
                                </p:cTn>
                              </p:par>
                              <p:par>
                                <p:cTn id="142" presetID="1" presetClass="entr" presetSubtype="0" fill="hold" grpId="0" nodeType="withEffect">
                                  <p:stCondLst>
                                    <p:cond delay="0"/>
                                  </p:stCondLst>
                                  <p:childTnLst>
                                    <p:set>
                                      <p:cBhvr>
                                        <p:cTn id="143" dur="1" fill="hold">
                                          <p:stCondLst>
                                            <p:cond delay="0"/>
                                          </p:stCondLst>
                                        </p:cTn>
                                        <p:tgtEl>
                                          <p:spTgt spid="54"/>
                                        </p:tgtEl>
                                        <p:attrNameLst>
                                          <p:attrName>style.visibility</p:attrName>
                                        </p:attrNameLst>
                                      </p:cBhvr>
                                      <p:to>
                                        <p:strVal val="visible"/>
                                      </p:to>
                                    </p:set>
                                  </p:childTnLst>
                                </p:cTn>
                              </p:par>
                              <p:par>
                                <p:cTn id="144" presetID="42" presetClass="entr" presetSubtype="0" fill="hold" grpId="0" nodeType="withEffect">
                                  <p:stCondLst>
                                    <p:cond delay="0"/>
                                  </p:stCondLst>
                                  <p:childTnLst>
                                    <p:set>
                                      <p:cBhvr>
                                        <p:cTn id="145" dur="1" fill="hold">
                                          <p:stCondLst>
                                            <p:cond delay="0"/>
                                          </p:stCondLst>
                                        </p:cTn>
                                        <p:tgtEl>
                                          <p:spTgt spid="4"/>
                                        </p:tgtEl>
                                        <p:attrNameLst>
                                          <p:attrName>style.visibility</p:attrName>
                                        </p:attrNameLst>
                                      </p:cBhvr>
                                      <p:to>
                                        <p:strVal val="visible"/>
                                      </p:to>
                                    </p:set>
                                    <p:animEffect transition="in" filter="fade">
                                      <p:cBhvr>
                                        <p:cTn id="146" dur="1000"/>
                                        <p:tgtEl>
                                          <p:spTgt spid="4"/>
                                        </p:tgtEl>
                                      </p:cBhvr>
                                    </p:animEffect>
                                    <p:anim calcmode="lin" valueType="num">
                                      <p:cBhvr>
                                        <p:cTn id="147" dur="1000" fill="hold"/>
                                        <p:tgtEl>
                                          <p:spTgt spid="4"/>
                                        </p:tgtEl>
                                        <p:attrNameLst>
                                          <p:attrName>ppt_x</p:attrName>
                                        </p:attrNameLst>
                                      </p:cBhvr>
                                      <p:tavLst>
                                        <p:tav tm="0">
                                          <p:val>
                                            <p:strVal val="#ppt_x"/>
                                          </p:val>
                                        </p:tav>
                                        <p:tav tm="100000">
                                          <p:val>
                                            <p:strVal val="#ppt_x"/>
                                          </p:val>
                                        </p:tav>
                                      </p:tavLst>
                                    </p:anim>
                                    <p:anim calcmode="lin" valueType="num">
                                      <p:cBhvr>
                                        <p:cTn id="148" dur="1000" fill="hold"/>
                                        <p:tgtEl>
                                          <p:spTgt spid="4"/>
                                        </p:tgtEl>
                                        <p:attrNameLst>
                                          <p:attrName>ppt_y</p:attrName>
                                        </p:attrNameLst>
                                      </p:cBhvr>
                                      <p:tavLst>
                                        <p:tav tm="0">
                                          <p:val>
                                            <p:strVal val="#ppt_y+.1"/>
                                          </p:val>
                                        </p:tav>
                                        <p:tav tm="100000">
                                          <p:val>
                                            <p:strVal val="#ppt_y"/>
                                          </p:val>
                                        </p:tav>
                                      </p:tavLst>
                                    </p:anim>
                                  </p:childTnLst>
                                </p:cTn>
                              </p:par>
                              <p:par>
                                <p:cTn id="149" presetID="42" presetClass="entr" presetSubtype="0" fill="hold" nodeType="withEffect">
                                  <p:stCondLst>
                                    <p:cond delay="0"/>
                                  </p:stCondLst>
                                  <p:childTnLst>
                                    <p:set>
                                      <p:cBhvr>
                                        <p:cTn id="150" dur="1" fill="hold">
                                          <p:stCondLst>
                                            <p:cond delay="0"/>
                                          </p:stCondLst>
                                        </p:cTn>
                                        <p:tgtEl>
                                          <p:spTgt spid="53"/>
                                        </p:tgtEl>
                                        <p:attrNameLst>
                                          <p:attrName>style.visibility</p:attrName>
                                        </p:attrNameLst>
                                      </p:cBhvr>
                                      <p:to>
                                        <p:strVal val="visible"/>
                                      </p:to>
                                    </p:set>
                                    <p:animEffect transition="in" filter="fade">
                                      <p:cBhvr>
                                        <p:cTn id="151" dur="1000"/>
                                        <p:tgtEl>
                                          <p:spTgt spid="53"/>
                                        </p:tgtEl>
                                      </p:cBhvr>
                                    </p:animEffect>
                                    <p:anim calcmode="lin" valueType="num">
                                      <p:cBhvr>
                                        <p:cTn id="152" dur="1000" fill="hold"/>
                                        <p:tgtEl>
                                          <p:spTgt spid="53"/>
                                        </p:tgtEl>
                                        <p:attrNameLst>
                                          <p:attrName>ppt_x</p:attrName>
                                        </p:attrNameLst>
                                      </p:cBhvr>
                                      <p:tavLst>
                                        <p:tav tm="0">
                                          <p:val>
                                            <p:strVal val="#ppt_x"/>
                                          </p:val>
                                        </p:tav>
                                        <p:tav tm="100000">
                                          <p:val>
                                            <p:strVal val="#ppt_x"/>
                                          </p:val>
                                        </p:tav>
                                      </p:tavLst>
                                    </p:anim>
                                    <p:anim calcmode="lin" valueType="num">
                                      <p:cBhvr>
                                        <p:cTn id="153" dur="1000" fill="hold"/>
                                        <p:tgtEl>
                                          <p:spTgt spid="53"/>
                                        </p:tgtEl>
                                        <p:attrNameLst>
                                          <p:attrName>ppt_y</p:attrName>
                                        </p:attrNameLst>
                                      </p:cBhvr>
                                      <p:tavLst>
                                        <p:tav tm="0">
                                          <p:val>
                                            <p:strVal val="#ppt_y+.1"/>
                                          </p:val>
                                        </p:tav>
                                        <p:tav tm="100000">
                                          <p:val>
                                            <p:strVal val="#ppt_y"/>
                                          </p:val>
                                        </p:tav>
                                      </p:tavLst>
                                    </p:anim>
                                  </p:childTnLst>
                                </p:cTn>
                              </p:par>
                              <p:par>
                                <p:cTn id="154" presetID="42" presetClass="entr" presetSubtype="0" fill="hold" grpId="0" nodeType="withEffect">
                                  <p:stCondLst>
                                    <p:cond delay="0"/>
                                  </p:stCondLst>
                                  <p:childTnLst>
                                    <p:set>
                                      <p:cBhvr>
                                        <p:cTn id="155" dur="1" fill="hold">
                                          <p:stCondLst>
                                            <p:cond delay="0"/>
                                          </p:stCondLst>
                                        </p:cTn>
                                        <p:tgtEl>
                                          <p:spTgt spid="57"/>
                                        </p:tgtEl>
                                        <p:attrNameLst>
                                          <p:attrName>style.visibility</p:attrName>
                                        </p:attrNameLst>
                                      </p:cBhvr>
                                      <p:to>
                                        <p:strVal val="visible"/>
                                      </p:to>
                                    </p:set>
                                    <p:animEffect transition="in" filter="fade">
                                      <p:cBhvr>
                                        <p:cTn id="156" dur="1000"/>
                                        <p:tgtEl>
                                          <p:spTgt spid="57"/>
                                        </p:tgtEl>
                                      </p:cBhvr>
                                    </p:animEffect>
                                    <p:anim calcmode="lin" valueType="num">
                                      <p:cBhvr>
                                        <p:cTn id="157" dur="1000" fill="hold"/>
                                        <p:tgtEl>
                                          <p:spTgt spid="57"/>
                                        </p:tgtEl>
                                        <p:attrNameLst>
                                          <p:attrName>ppt_x</p:attrName>
                                        </p:attrNameLst>
                                      </p:cBhvr>
                                      <p:tavLst>
                                        <p:tav tm="0">
                                          <p:val>
                                            <p:strVal val="#ppt_x"/>
                                          </p:val>
                                        </p:tav>
                                        <p:tav tm="100000">
                                          <p:val>
                                            <p:strVal val="#ppt_x"/>
                                          </p:val>
                                        </p:tav>
                                      </p:tavLst>
                                    </p:anim>
                                    <p:anim calcmode="lin" valueType="num">
                                      <p:cBhvr>
                                        <p:cTn id="158" dur="1000" fill="hold"/>
                                        <p:tgtEl>
                                          <p:spTgt spid="57"/>
                                        </p:tgtEl>
                                        <p:attrNameLst>
                                          <p:attrName>ppt_y</p:attrName>
                                        </p:attrNameLst>
                                      </p:cBhvr>
                                      <p:tavLst>
                                        <p:tav tm="0">
                                          <p:val>
                                            <p:strVal val="#ppt_y+.1"/>
                                          </p:val>
                                        </p:tav>
                                        <p:tav tm="100000">
                                          <p:val>
                                            <p:strVal val="#ppt_y"/>
                                          </p:val>
                                        </p:tav>
                                      </p:tavLst>
                                    </p:anim>
                                  </p:childTnLst>
                                </p:cTn>
                              </p:par>
                              <p:par>
                                <p:cTn id="159" presetID="42" presetClass="entr" presetSubtype="0" fill="hold" grpId="0" nodeType="withEffect">
                                  <p:stCondLst>
                                    <p:cond delay="0"/>
                                  </p:stCondLst>
                                  <p:childTnLst>
                                    <p:set>
                                      <p:cBhvr>
                                        <p:cTn id="160" dur="1" fill="hold">
                                          <p:stCondLst>
                                            <p:cond delay="0"/>
                                          </p:stCondLst>
                                        </p:cTn>
                                        <p:tgtEl>
                                          <p:spTgt spid="58"/>
                                        </p:tgtEl>
                                        <p:attrNameLst>
                                          <p:attrName>style.visibility</p:attrName>
                                        </p:attrNameLst>
                                      </p:cBhvr>
                                      <p:to>
                                        <p:strVal val="visible"/>
                                      </p:to>
                                    </p:set>
                                    <p:animEffect transition="in" filter="fade">
                                      <p:cBhvr>
                                        <p:cTn id="161" dur="1000"/>
                                        <p:tgtEl>
                                          <p:spTgt spid="58"/>
                                        </p:tgtEl>
                                      </p:cBhvr>
                                    </p:animEffect>
                                    <p:anim calcmode="lin" valueType="num">
                                      <p:cBhvr>
                                        <p:cTn id="162" dur="1000" fill="hold"/>
                                        <p:tgtEl>
                                          <p:spTgt spid="58"/>
                                        </p:tgtEl>
                                        <p:attrNameLst>
                                          <p:attrName>ppt_x</p:attrName>
                                        </p:attrNameLst>
                                      </p:cBhvr>
                                      <p:tavLst>
                                        <p:tav tm="0">
                                          <p:val>
                                            <p:strVal val="#ppt_x"/>
                                          </p:val>
                                        </p:tav>
                                        <p:tav tm="100000">
                                          <p:val>
                                            <p:strVal val="#ppt_x"/>
                                          </p:val>
                                        </p:tav>
                                      </p:tavLst>
                                    </p:anim>
                                    <p:anim calcmode="lin" valueType="num">
                                      <p:cBhvr>
                                        <p:cTn id="163"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animBg="1"/>
      <p:bldP spid="8" grpId="0"/>
      <p:bldP spid="9" grpId="0"/>
      <p:bldP spid="10" grpId="0"/>
      <p:bldP spid="11" grpId="0"/>
      <p:bldP spid="12" grpId="0"/>
      <p:bldP spid="13" grpId="0"/>
      <p:bldP spid="14" grpId="0"/>
      <p:bldP spid="15" grpId="0"/>
      <p:bldP spid="16" grpId="0"/>
      <p:bldP spid="17" grpId="0"/>
      <p:bldP spid="19" grpId="0"/>
      <p:bldP spid="49" grpId="0" animBg="1"/>
      <p:bldP spid="50" grpId="0" animBg="1"/>
      <p:bldP spid="54" grpId="0" animBg="1"/>
      <p:bldP spid="4" grpId="0"/>
      <p:bldP spid="57" grpId="0"/>
      <p:bldP spid="5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Self-introduction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Rectangle 133">
            <a:extLst>
              <a:ext uri="{FF2B5EF4-FFF2-40B4-BE49-F238E27FC236}">
                <a16:creationId xmlns:a16="http://schemas.microsoft.com/office/drawing/2014/main" id="{393D1360-329C-9AE9-57ED-2F08B9F8F4F9}"/>
              </a:ext>
            </a:extLst>
          </p:cNvPr>
          <p:cNvSpPr>
            <a:spLocks noChangeArrowheads="1"/>
          </p:cNvSpPr>
          <p:nvPr/>
        </p:nvSpPr>
        <p:spPr bwMode="auto">
          <a:xfrm>
            <a:off x="208295" y="1437157"/>
            <a:ext cx="4230701" cy="4101685"/>
          </a:xfrm>
          <a:prstGeom prst="rect">
            <a:avLst/>
          </a:prstGeom>
          <a:noFill/>
          <a:ln>
            <a:noFill/>
          </a:ln>
          <a:effectLst/>
        </p:spPr>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eaLnBrk="1" fontAlgn="auto" hangingPunct="1">
              <a:spcBef>
                <a:spcPts val="1200"/>
              </a:spcBef>
              <a:spcAft>
                <a:spcPts val="0"/>
              </a:spcAft>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在</a:t>
            </a:r>
            <a:r>
              <a:rPr lang="en-US" altLang="zh-CN" sz="1200" dirty="0">
                <a:latin typeface="微软雅黑" panose="020B0503020204020204" pitchFamily="34" charset="-122"/>
                <a:ea typeface="微软雅黑" panose="020B0503020204020204" pitchFamily="34" charset="-122"/>
                <a:cs typeface="+mn-ea"/>
                <a:sym typeface="+mn-lt"/>
              </a:rPr>
              <a:t>Science, Nature Photonics, Nature Electronics</a:t>
            </a:r>
            <a:r>
              <a:rPr lang="zh-CN" altLang="en-US" sz="1200" dirty="0">
                <a:latin typeface="微软雅黑" panose="020B0503020204020204" pitchFamily="34" charset="-122"/>
                <a:ea typeface="微软雅黑" panose="020B0503020204020204" pitchFamily="34" charset="-122"/>
                <a:cs typeface="+mn-ea"/>
                <a:sym typeface="+mn-lt"/>
              </a:rPr>
              <a:t>，</a:t>
            </a:r>
            <a:r>
              <a:rPr lang="en-US" altLang="zh-CN" sz="1200" dirty="0">
                <a:latin typeface="微软雅黑" panose="020B0503020204020204" pitchFamily="34" charset="-122"/>
                <a:ea typeface="微软雅黑" panose="020B0503020204020204" pitchFamily="34" charset="-122"/>
                <a:cs typeface="+mn-ea"/>
                <a:sym typeface="+mn-lt"/>
              </a:rPr>
              <a:t>Nature Communications, Science Advances </a:t>
            </a:r>
            <a:r>
              <a:rPr lang="zh-CN" altLang="en-US" sz="1200" dirty="0">
                <a:latin typeface="微软雅黑" panose="020B0503020204020204" pitchFamily="34" charset="-122"/>
                <a:ea typeface="微软雅黑" panose="020B0503020204020204" pitchFamily="34" charset="-122"/>
                <a:cs typeface="+mn-ea"/>
                <a:sym typeface="+mn-lt"/>
              </a:rPr>
              <a:t>等期刊发表</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60</a:t>
            </a:r>
            <a:r>
              <a:rPr lang="zh-CN" altLang="en-US" sz="1200" dirty="0">
                <a:latin typeface="微软雅黑" panose="020B0503020204020204" pitchFamily="34" charset="-122"/>
                <a:ea typeface="微软雅黑" panose="020B0503020204020204" pitchFamily="34" charset="-122"/>
                <a:cs typeface="+mn-ea"/>
                <a:sym typeface="+mn-lt"/>
              </a:rPr>
              <a:t>余篇论文</a:t>
            </a:r>
            <a:endParaRPr lang="en-US" altLang="zh-CN" sz="1200" dirty="0">
              <a:latin typeface="微软雅黑" panose="020B0503020204020204" pitchFamily="34" charset="-122"/>
              <a:ea typeface="微软雅黑" panose="020B0503020204020204" pitchFamily="34" charset="-122"/>
              <a:cs typeface="+mn-ea"/>
              <a:sym typeface="+mn-lt"/>
            </a:endParaRPr>
          </a:p>
          <a:p>
            <a:pPr>
              <a:spcBef>
                <a:spcPts val="1200"/>
              </a:spcBef>
              <a:buSzPct val="80000"/>
              <a:buFont typeface="Wingdings" charset="2"/>
              <a:buChar char="u"/>
              <a:defRPr/>
            </a:pP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Science 3</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篇</a:t>
            </a:r>
            <a:r>
              <a:rPr lang="zh-CN" altLang="en-US" sz="1200" dirty="0">
                <a:latin typeface="微软雅黑" panose="020B0503020204020204" pitchFamily="34" charset="-122"/>
                <a:ea typeface="微软雅黑" panose="020B0503020204020204" pitchFamily="34" charset="-122"/>
                <a:cs typeface="+mn-ea"/>
                <a:sym typeface="+mn-lt"/>
              </a:rPr>
              <a:t>（一作</a:t>
            </a:r>
            <a:r>
              <a:rPr lang="en-US" altLang="zh-CN" sz="1200" dirty="0">
                <a:latin typeface="微软雅黑" panose="020B0503020204020204" pitchFamily="34" charset="-122"/>
                <a:ea typeface="微软雅黑" panose="020B0503020204020204" pitchFamily="34" charset="-122"/>
                <a:cs typeface="+mn-ea"/>
                <a:sym typeface="+mn-lt"/>
              </a:rPr>
              <a:t>×2</a:t>
            </a:r>
            <a:r>
              <a:rPr lang="zh-CN" altLang="en-US" sz="1200" dirty="0">
                <a:latin typeface="微软雅黑" panose="020B0503020204020204" pitchFamily="34" charset="-122"/>
                <a:ea typeface="微软雅黑" panose="020B0503020204020204" pitchFamily="34" charset="-122"/>
                <a:cs typeface="+mn-ea"/>
                <a:sym typeface="+mn-lt"/>
              </a:rPr>
              <a:t>）</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Nature Photon. ,</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 </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Science Advances,</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 </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Light,</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 </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Engineering </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通讯</a:t>
            </a:r>
            <a:r>
              <a:rPr lang="zh-CN" altLang="en-US" sz="1200" dirty="0">
                <a:latin typeface="微软雅黑" panose="020B0503020204020204" pitchFamily="34" charset="-122"/>
                <a:ea typeface="微软雅黑" panose="020B0503020204020204" pitchFamily="34" charset="-122"/>
                <a:cs typeface="+mn-ea"/>
                <a:sym typeface="+mn-lt"/>
              </a:rPr>
              <a:t>作者</a:t>
            </a:r>
          </a:p>
          <a:p>
            <a:pPr eaLnBrk="1" fontAlgn="auto" hangingPunct="1">
              <a:spcBef>
                <a:spcPts val="1200"/>
              </a:spcBef>
              <a:spcAft>
                <a:spcPts val="0"/>
              </a:spcAft>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中国专利</a:t>
            </a:r>
            <a:r>
              <a:rPr lang="en-US" altLang="zh-CN" sz="1200" b="1" dirty="0">
                <a:latin typeface="微软雅黑" panose="020B0503020204020204" pitchFamily="34" charset="-122"/>
                <a:ea typeface="微软雅黑" panose="020B0503020204020204" pitchFamily="34" charset="-122"/>
                <a:cs typeface="+mn-ea"/>
                <a:sym typeface="+mn-lt"/>
              </a:rPr>
              <a:t>20</a:t>
            </a:r>
            <a:r>
              <a:rPr lang="zh-CN" altLang="en-US" sz="1200" dirty="0">
                <a:latin typeface="微软雅黑" panose="020B0503020204020204" pitchFamily="34" charset="-122"/>
                <a:ea typeface="微软雅黑" panose="020B0503020204020204" pitchFamily="34" charset="-122"/>
                <a:cs typeface="+mn-ea"/>
                <a:sym typeface="+mn-lt"/>
              </a:rPr>
              <a:t>多项，申请英国专利</a:t>
            </a:r>
            <a:r>
              <a:rPr lang="en-US" altLang="zh-CN" sz="1200" b="1" dirty="0">
                <a:latin typeface="微软雅黑" panose="020B0503020204020204" pitchFamily="34" charset="-122"/>
                <a:ea typeface="微软雅黑" panose="020B0503020204020204" pitchFamily="34" charset="-122"/>
                <a:cs typeface="+mn-ea"/>
                <a:sym typeface="+mn-lt"/>
              </a:rPr>
              <a:t>2</a:t>
            </a:r>
            <a:r>
              <a:rPr lang="zh-CN" altLang="en-US" sz="1200" dirty="0">
                <a:latin typeface="微软雅黑" panose="020B0503020204020204" pitchFamily="34" charset="-122"/>
                <a:ea typeface="微软雅黑" panose="020B0503020204020204" pitchFamily="34" charset="-122"/>
                <a:cs typeface="+mn-ea"/>
                <a:sym typeface="+mn-lt"/>
              </a:rPr>
              <a:t>项，</a:t>
            </a:r>
            <a:r>
              <a:rPr lang="en-US" altLang="zh-CN" sz="1200" dirty="0">
                <a:latin typeface="微软雅黑" panose="020B0503020204020204" pitchFamily="34" charset="-122"/>
                <a:ea typeface="微软雅黑" panose="020B0503020204020204" pitchFamily="34" charset="-122"/>
                <a:cs typeface="+mn-ea"/>
                <a:sym typeface="+mn-lt"/>
              </a:rPr>
              <a:t>PCT</a:t>
            </a:r>
            <a:r>
              <a:rPr lang="zh-CN" altLang="en-US" sz="1200" dirty="0">
                <a:latin typeface="微软雅黑" panose="020B0503020204020204" pitchFamily="34" charset="-122"/>
                <a:ea typeface="微软雅黑" panose="020B0503020204020204" pitchFamily="34" charset="-122"/>
                <a:cs typeface="+mn-ea"/>
                <a:sym typeface="+mn-lt"/>
              </a:rPr>
              <a:t>专利</a:t>
            </a:r>
            <a:r>
              <a:rPr lang="en-US" altLang="zh-CN" sz="1200" b="1" dirty="0">
                <a:latin typeface="微软雅黑" panose="020B0503020204020204" pitchFamily="34" charset="-122"/>
                <a:ea typeface="微软雅黑" panose="020B0503020204020204" pitchFamily="34" charset="-122"/>
                <a:cs typeface="+mn-ea"/>
                <a:sym typeface="+mn-lt"/>
              </a:rPr>
              <a:t>4</a:t>
            </a:r>
            <a:r>
              <a:rPr lang="zh-CN" altLang="en-US" sz="1200" dirty="0">
                <a:latin typeface="微软雅黑" panose="020B0503020204020204" pitchFamily="34" charset="-122"/>
                <a:ea typeface="微软雅黑" panose="020B0503020204020204" pitchFamily="34" charset="-122"/>
                <a:cs typeface="+mn-ea"/>
                <a:sym typeface="+mn-lt"/>
              </a:rPr>
              <a:t>项</a:t>
            </a:r>
            <a:endParaRPr lang="en-US" altLang="zh-CN" sz="1200" dirty="0">
              <a:latin typeface="微软雅黑" panose="020B0503020204020204" pitchFamily="34" charset="-122"/>
              <a:ea typeface="微软雅黑" panose="020B0503020204020204" pitchFamily="34" charset="-122"/>
              <a:cs typeface="+mn-ea"/>
              <a:sym typeface="+mn-lt"/>
            </a:endParaRPr>
          </a:p>
          <a:p>
            <a:pPr eaLnBrk="1" fontAlgn="auto" hangingPunct="1">
              <a:spcBef>
                <a:spcPts val="1200"/>
              </a:spcBef>
              <a:spcAft>
                <a:spcPts val="0"/>
              </a:spcAft>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在</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Springer</a:t>
            </a:r>
            <a:r>
              <a:rPr lang="zh-CN" altLang="en-US" sz="1200" dirty="0">
                <a:latin typeface="微软雅黑" panose="020B0503020204020204" pitchFamily="34" charset="-122"/>
                <a:ea typeface="微软雅黑" panose="020B0503020204020204" pitchFamily="34" charset="-122"/>
                <a:cs typeface="+mn-ea"/>
                <a:sym typeface="+mn-lt"/>
              </a:rPr>
              <a:t>出版书本</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1</a:t>
            </a:r>
            <a:r>
              <a:rPr lang="zh-CN" altLang="en-US" sz="1200" dirty="0">
                <a:latin typeface="微软雅黑" panose="020B0503020204020204" pitchFamily="34" charset="-122"/>
                <a:ea typeface="微软雅黑" panose="020B0503020204020204" pitchFamily="34" charset="-122"/>
                <a:cs typeface="+mn-ea"/>
                <a:sym typeface="+mn-lt"/>
              </a:rPr>
              <a:t>部</a:t>
            </a:r>
            <a:endParaRPr lang="en-US" altLang="zh-CN" sz="1200" dirty="0">
              <a:latin typeface="微软雅黑" panose="020B0503020204020204" pitchFamily="34" charset="-122"/>
              <a:ea typeface="微软雅黑" panose="020B0503020204020204" pitchFamily="34" charset="-122"/>
              <a:cs typeface="+mn-ea"/>
              <a:sym typeface="+mn-lt"/>
            </a:endParaRPr>
          </a:p>
          <a:p>
            <a:pPr eaLnBrk="1" fontAlgn="auto" hangingPunct="1">
              <a:spcBef>
                <a:spcPts val="1200"/>
              </a:spcBef>
              <a:spcAft>
                <a:spcPts val="0"/>
              </a:spcAft>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担任</a:t>
            </a:r>
            <a:r>
              <a:rPr lang="en-US" altLang="zh-CN" sz="1200" dirty="0">
                <a:latin typeface="微软雅黑" panose="020B0503020204020204" pitchFamily="34" charset="-122"/>
                <a:ea typeface="微软雅黑" panose="020B0503020204020204" pitchFamily="34" charset="-122"/>
                <a:cs typeface="+mn-ea"/>
                <a:sym typeface="+mn-lt"/>
              </a:rPr>
              <a:t>INGEP2024</a:t>
            </a:r>
            <a:r>
              <a:rPr lang="zh-CN" altLang="en-US" sz="1200" dirty="0">
                <a:latin typeface="微软雅黑" panose="020B0503020204020204" pitchFamily="34" charset="-122"/>
                <a:ea typeface="微软雅黑" panose="020B0503020204020204" pitchFamily="34" charset="-122"/>
                <a:cs typeface="+mn-ea"/>
                <a:sym typeface="+mn-lt"/>
              </a:rPr>
              <a:t>国际会议</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执行主席</a:t>
            </a:r>
            <a:r>
              <a:rPr lang="zh-CN" altLang="en-US" sz="1200" dirty="0">
                <a:latin typeface="微软雅黑" panose="020B0503020204020204" pitchFamily="34" charset="-122"/>
                <a:ea typeface="微软雅黑" panose="020B0503020204020204" pitchFamily="34" charset="-122"/>
                <a:cs typeface="+mn-ea"/>
                <a:sym typeface="+mn-lt"/>
              </a:rPr>
              <a:t>，组织并担任</a:t>
            </a:r>
            <a:r>
              <a:rPr lang="en-US" altLang="zh-CN" sz="1200" dirty="0">
                <a:latin typeface="微软雅黑" panose="020B0503020204020204" pitchFamily="34" charset="-122"/>
                <a:ea typeface="微软雅黑" panose="020B0503020204020204" pitchFamily="34" charset="-122"/>
                <a:cs typeface="+mn-ea"/>
                <a:sym typeface="+mn-lt"/>
              </a:rPr>
              <a:t>OECC2023</a:t>
            </a:r>
            <a:r>
              <a:rPr lang="zh-CN" altLang="en-US" sz="1200" dirty="0">
                <a:latin typeface="微软雅黑" panose="020B0503020204020204" pitchFamily="34" charset="-122"/>
                <a:ea typeface="微软雅黑" panose="020B0503020204020204" pitchFamily="34" charset="-122"/>
                <a:cs typeface="+mn-ea"/>
                <a:sym typeface="+mn-lt"/>
              </a:rPr>
              <a:t>国际会议</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Workshop</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主席</a:t>
            </a:r>
            <a:r>
              <a:rPr lang="zh-CN" altLang="en-US" sz="1200" dirty="0">
                <a:latin typeface="微软雅黑" panose="020B0503020204020204" pitchFamily="34" charset="-122"/>
                <a:ea typeface="微软雅黑" panose="020B0503020204020204" pitchFamily="34" charset="-122"/>
                <a:cs typeface="+mn-ea"/>
                <a:sym typeface="+mn-lt"/>
              </a:rPr>
              <a:t>，受邀</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大会报告</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3</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次</a:t>
            </a:r>
            <a:r>
              <a:rPr lang="zh-CN" altLang="en-US" sz="1200" dirty="0">
                <a:latin typeface="微软雅黑" panose="020B0503020204020204" pitchFamily="34" charset="-122"/>
                <a:ea typeface="微软雅黑" panose="020B0503020204020204" pitchFamily="34" charset="-122"/>
                <a:cs typeface="+mn-ea"/>
                <a:sym typeface="+mn-lt"/>
              </a:rPr>
              <a:t>，</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华为</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STW</a:t>
            </a:r>
            <a:r>
              <a:rPr lang="zh-CN" altLang="en-US" sz="1200" dirty="0">
                <a:latin typeface="微软雅黑" panose="020B0503020204020204" pitchFamily="34" charset="-122"/>
                <a:ea typeface="微软雅黑" panose="020B0503020204020204" pitchFamily="34" charset="-122"/>
                <a:cs typeface="+mn-ea"/>
                <a:sym typeface="+mn-lt"/>
              </a:rPr>
              <a:t>会议</a:t>
            </a:r>
            <a:r>
              <a:rPr lang="en-US" altLang="zh-CN" sz="1200" dirty="0">
                <a:latin typeface="微软雅黑" panose="020B0503020204020204" pitchFamily="34" charset="-122"/>
                <a:ea typeface="微软雅黑" panose="020B0503020204020204" pitchFamily="34" charset="-122"/>
                <a:cs typeface="+mn-ea"/>
                <a:sym typeface="+mn-lt"/>
              </a:rPr>
              <a:t>1</a:t>
            </a:r>
            <a:r>
              <a:rPr lang="zh-CN" altLang="en-US" sz="1200" dirty="0">
                <a:latin typeface="微软雅黑" panose="020B0503020204020204" pitchFamily="34" charset="-122"/>
                <a:ea typeface="微软雅黑" panose="020B0503020204020204" pitchFamily="34" charset="-122"/>
                <a:cs typeface="+mn-ea"/>
                <a:sym typeface="+mn-lt"/>
              </a:rPr>
              <a:t>次，</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华为“罗马论坛”</a:t>
            </a:r>
            <a:r>
              <a:rPr lang="zh-CN" altLang="en-US" sz="1200" dirty="0">
                <a:latin typeface="微软雅黑" panose="020B0503020204020204" pitchFamily="34" charset="-122"/>
                <a:ea typeface="微软雅黑" panose="020B0503020204020204" pitchFamily="34" charset="-122"/>
                <a:cs typeface="+mn-ea"/>
                <a:sym typeface="+mn-lt"/>
              </a:rPr>
              <a:t>授课</a:t>
            </a:r>
          </a:p>
          <a:p>
            <a:pPr>
              <a:spcBef>
                <a:spcPts val="1200"/>
              </a:spcBef>
              <a:buSzPct val="80000"/>
              <a:buFont typeface="Wingdings" charset="2"/>
              <a:buChar char="u"/>
              <a:defRPr/>
            </a:pPr>
            <a:r>
              <a:rPr lang="en-US" altLang="zh-CN" sz="1200" dirty="0">
                <a:latin typeface="微软雅黑" panose="020B0503020204020204" pitchFamily="34" charset="-122"/>
                <a:ea typeface="微软雅黑" panose="020B0503020204020204" pitchFamily="34" charset="-122"/>
              </a:rPr>
              <a:t>Nature Nano., Nature Photon., Nature Commun., Science Advances </a:t>
            </a:r>
            <a:r>
              <a:rPr lang="zh-CN" altLang="en-US" sz="1200" dirty="0">
                <a:latin typeface="微软雅黑" panose="020B0503020204020204" pitchFamily="34" charset="-122"/>
                <a:ea typeface="微软雅黑" panose="020B0503020204020204" pitchFamily="34" charset="-122"/>
              </a:rPr>
              <a:t>等期刊的审稿人</a:t>
            </a:r>
            <a:endParaRPr lang="en-US" altLang="zh-CN" sz="1200" dirty="0">
              <a:latin typeface="微软雅黑" panose="020B0503020204020204" pitchFamily="34" charset="-122"/>
              <a:ea typeface="微软雅黑" panose="020B0503020204020204" pitchFamily="34" charset="-122"/>
            </a:endParaRPr>
          </a:p>
          <a:p>
            <a:pPr>
              <a:spcBef>
                <a:spcPts val="1200"/>
              </a:spcBef>
              <a:buSzPct val="80000"/>
              <a:buFont typeface="Wingdings" charset="2"/>
              <a:buChar char="u"/>
              <a:defRPr/>
            </a:pPr>
            <a:r>
              <a:rPr lang="en-US" altLang="zh-CN" sz="1200" dirty="0">
                <a:latin typeface="微软雅黑" panose="020B0503020204020204" pitchFamily="34" charset="-122"/>
                <a:ea typeface="微软雅黑" panose="020B0503020204020204" pitchFamily="34" charset="-122"/>
              </a:rPr>
              <a:t>The Innovation (IF=32.1), </a:t>
            </a:r>
            <a:r>
              <a:rPr lang="zh-CN" altLang="en-US" sz="1200" dirty="0">
                <a:latin typeface="微软雅黑" panose="020B0503020204020204" pitchFamily="34" charset="-122"/>
                <a:ea typeface="微软雅黑" panose="020B0503020204020204" pitchFamily="34" charset="-122"/>
              </a:rPr>
              <a:t>中国激光</a:t>
            </a:r>
            <a:r>
              <a:rPr lang="en-US" altLang="zh-CN" sz="1200" dirty="0">
                <a:latin typeface="微软雅黑" panose="020B0503020204020204" pitchFamily="34" charset="-122"/>
                <a:ea typeface="微软雅黑" panose="020B0503020204020204" pitchFamily="34" charset="-122"/>
              </a:rPr>
              <a:t>, FITEE </a:t>
            </a:r>
            <a:r>
              <a:rPr lang="zh-CN" altLang="en-US" sz="1200" dirty="0">
                <a:latin typeface="微软雅黑" panose="020B0503020204020204" pitchFamily="34" charset="-122"/>
                <a:ea typeface="微软雅黑" panose="020B0503020204020204" pitchFamily="34" charset="-122"/>
              </a:rPr>
              <a:t>等杂志青年编委</a:t>
            </a:r>
            <a:endParaRPr lang="en-US" altLang="zh-CN" sz="1200" dirty="0">
              <a:latin typeface="微软雅黑" panose="020B0503020204020204" pitchFamily="34" charset="-122"/>
              <a:ea typeface="微软雅黑" panose="020B0503020204020204" pitchFamily="34" charset="-122"/>
            </a:endParaRPr>
          </a:p>
          <a:p>
            <a:pPr>
              <a:spcBef>
                <a:spcPts val="1200"/>
              </a:spcBef>
              <a:buSzPct val="80000"/>
              <a:buFont typeface="Wingdings" charset="2"/>
              <a:buChar char="u"/>
              <a:defRPr/>
            </a:pPr>
            <a:r>
              <a:rPr lang="en-US" altLang="zh-CN" sz="1200" dirty="0">
                <a:latin typeface="微软雅黑" panose="020B0503020204020204" pitchFamily="34" charset="-122"/>
                <a:ea typeface="微软雅黑" panose="020B0503020204020204" pitchFamily="34" charset="-122"/>
              </a:rPr>
              <a:t>Journal of Physics D（IF=3.2）</a:t>
            </a:r>
            <a:r>
              <a:rPr lang="zh-CN" altLang="en-US" sz="1200" dirty="0">
                <a:latin typeface="微软雅黑" panose="020B0503020204020204" pitchFamily="34" charset="-122"/>
                <a:ea typeface="微软雅黑" panose="020B0503020204020204" pitchFamily="34" charset="-122"/>
              </a:rPr>
              <a:t>等期刊专题编辑</a:t>
            </a:r>
            <a:endParaRPr lang="en-US" altLang="zh-CN" sz="1200" dirty="0">
              <a:latin typeface="微软雅黑" panose="020B0503020204020204" pitchFamily="34" charset="-122"/>
              <a:ea typeface="微软雅黑" panose="020B0503020204020204" pitchFamily="34" charset="-122"/>
            </a:endParaRPr>
          </a:p>
        </p:txBody>
      </p:sp>
      <p:sp>
        <p:nvSpPr>
          <p:cNvPr id="52" name="TextBox 12">
            <a:extLst>
              <a:ext uri="{FF2B5EF4-FFF2-40B4-BE49-F238E27FC236}">
                <a16:creationId xmlns:a16="http://schemas.microsoft.com/office/drawing/2014/main" id="{4FD1D47C-98E6-2D5F-358A-C1AD26FC52A5}"/>
              </a:ext>
            </a:extLst>
          </p:cNvPr>
          <p:cNvSpPr txBox="1"/>
          <p:nvPr/>
        </p:nvSpPr>
        <p:spPr>
          <a:xfrm>
            <a:off x="947275" y="1041834"/>
            <a:ext cx="2912211" cy="338554"/>
          </a:xfrm>
          <a:prstGeom prst="rect">
            <a:avLst/>
          </a:prstGeom>
          <a:noFill/>
        </p:spPr>
        <p:txBody>
          <a:bodyPr wrap="square">
            <a:spAutoFit/>
          </a:bodyPr>
          <a:lstStyle/>
          <a:p>
            <a:pPr marL="342891" indent="-342891" eaLnBrk="1" fontAlgn="auto" hangingPunct="1">
              <a:spcBef>
                <a:spcPts val="0"/>
              </a:spcBef>
              <a:spcAft>
                <a:spcPts val="0"/>
              </a:spcAft>
              <a:buFont typeface="Wingdings" panose="05000000000000000000" pitchFamily="2" charset="2"/>
              <a:buChar char="q"/>
              <a:defRPr/>
            </a:pPr>
            <a:r>
              <a:rPr lang="zh-CN" altLang="en-US" sz="1600" b="1" dirty="0">
                <a:solidFill>
                  <a:schemeClr val="accent1">
                    <a:lumMod val="75000"/>
                  </a:schemeClr>
                </a:solidFill>
                <a:latin typeface="微软雅黑" panose="020B0503020204020204" pitchFamily="34" charset="-122"/>
                <a:ea typeface="微软雅黑" panose="020B0503020204020204" pitchFamily="34" charset="-122"/>
                <a:cs typeface="+mn-ea"/>
                <a:sym typeface="+mn-lt"/>
              </a:rPr>
              <a:t>发表论文、著作及专利</a:t>
            </a:r>
            <a:endParaRPr lang="en-US" sz="16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3" name="TextBox 13">
            <a:extLst>
              <a:ext uri="{FF2B5EF4-FFF2-40B4-BE49-F238E27FC236}">
                <a16:creationId xmlns:a16="http://schemas.microsoft.com/office/drawing/2014/main" id="{A8FCE5CA-200A-C60A-E8B2-91D514601091}"/>
              </a:ext>
            </a:extLst>
          </p:cNvPr>
          <p:cNvSpPr txBox="1"/>
          <p:nvPr/>
        </p:nvSpPr>
        <p:spPr>
          <a:xfrm>
            <a:off x="6000569" y="1056700"/>
            <a:ext cx="2335288" cy="338554"/>
          </a:xfrm>
          <a:prstGeom prst="rect">
            <a:avLst/>
          </a:prstGeom>
          <a:noFill/>
        </p:spPr>
        <p:txBody>
          <a:bodyPr wrap="square">
            <a:spAutoFit/>
          </a:bodyPr>
          <a:lstStyle/>
          <a:p>
            <a:pPr marL="342891" indent="-342891" eaLnBrk="1" fontAlgn="auto" hangingPunct="1">
              <a:spcBef>
                <a:spcPts val="0"/>
              </a:spcBef>
              <a:spcAft>
                <a:spcPts val="0"/>
              </a:spcAft>
              <a:buFont typeface="Wingdings" panose="05000000000000000000" pitchFamily="2" charset="2"/>
              <a:buChar char="q"/>
              <a:defRPr/>
            </a:pPr>
            <a:r>
              <a:rPr lang="zh-CN" altLang="en-US" sz="1600" b="1" dirty="0">
                <a:solidFill>
                  <a:schemeClr val="accent1">
                    <a:lumMod val="75000"/>
                  </a:schemeClr>
                </a:solidFill>
                <a:latin typeface="微软雅黑" panose="020B0503020204020204" pitchFamily="34" charset="-122"/>
                <a:ea typeface="微软雅黑" panose="020B0503020204020204" pitchFamily="34" charset="-122"/>
                <a:cs typeface="+mn-ea"/>
                <a:sym typeface="+mn-lt"/>
              </a:rPr>
              <a:t>学术兼职与荣誉</a:t>
            </a:r>
            <a:endParaRPr lang="en-US" sz="1600" b="1" dirty="0">
              <a:solidFill>
                <a:schemeClr val="accent1">
                  <a:lumMod val="75000"/>
                </a:schemeClr>
              </a:solidFill>
              <a:latin typeface="微软雅黑" panose="020B0503020204020204" pitchFamily="34" charset="-122"/>
              <a:ea typeface="微软雅黑" panose="020B0503020204020204" pitchFamily="34" charset="-122"/>
            </a:endParaRPr>
          </a:p>
        </p:txBody>
      </p:sp>
      <p:sp>
        <p:nvSpPr>
          <p:cNvPr id="55" name="Rectangle 133">
            <a:extLst>
              <a:ext uri="{FF2B5EF4-FFF2-40B4-BE49-F238E27FC236}">
                <a16:creationId xmlns:a16="http://schemas.microsoft.com/office/drawing/2014/main" id="{760E1714-4602-E153-C91E-415A0591276D}"/>
              </a:ext>
            </a:extLst>
          </p:cNvPr>
          <p:cNvSpPr>
            <a:spLocks noChangeArrowheads="1"/>
          </p:cNvSpPr>
          <p:nvPr/>
        </p:nvSpPr>
        <p:spPr bwMode="auto">
          <a:xfrm>
            <a:off x="4572000" y="1437157"/>
            <a:ext cx="4451256" cy="4558156"/>
          </a:xfrm>
          <a:prstGeom prst="rect">
            <a:avLst/>
          </a:prstGeom>
          <a:noFill/>
          <a:ln>
            <a:noFill/>
          </a:ln>
          <a:effectLst/>
        </p:spPr>
        <p:txBody>
          <a:bodyPr/>
          <a:lstStyle>
            <a:lvl1pPr marL="342900" indent="-342900">
              <a:spcBef>
                <a:spcPct val="20000"/>
              </a:spcBef>
              <a:buFont typeface="Arial" charset="0"/>
              <a:buChar char="•"/>
              <a:defRPr sz="3200">
                <a:solidFill>
                  <a:schemeClr val="tx1"/>
                </a:solidFill>
                <a:latin typeface="Calibri" pitchFamily="34" charset="0"/>
                <a:ea typeface="宋体" charset="-122"/>
              </a:defRPr>
            </a:lvl1pPr>
            <a:lvl2pPr marL="742950" indent="-285750">
              <a:spcBef>
                <a:spcPct val="20000"/>
              </a:spcBef>
              <a:buFont typeface="Arial" charset="0"/>
              <a:buChar char="–"/>
              <a:defRPr sz="2800">
                <a:solidFill>
                  <a:schemeClr val="tx1"/>
                </a:solidFill>
                <a:latin typeface="Calibri" pitchFamily="34" charset="0"/>
                <a:ea typeface="宋体" charset="-122"/>
              </a:defRPr>
            </a:lvl2pPr>
            <a:lvl3pPr marL="1143000" indent="-228600">
              <a:spcBef>
                <a:spcPct val="20000"/>
              </a:spcBef>
              <a:buFont typeface="Arial" charset="0"/>
              <a:buChar char="•"/>
              <a:defRPr sz="2400">
                <a:solidFill>
                  <a:schemeClr val="tx1"/>
                </a:solidFill>
                <a:latin typeface="Calibri" pitchFamily="34" charset="0"/>
                <a:ea typeface="宋体" charset="-122"/>
              </a:defRPr>
            </a:lvl3pPr>
            <a:lvl4pPr marL="1600200" indent="-228600">
              <a:spcBef>
                <a:spcPct val="20000"/>
              </a:spcBef>
              <a:buFont typeface="Arial" charset="0"/>
              <a:buChar char="–"/>
              <a:defRPr sz="2000">
                <a:solidFill>
                  <a:schemeClr val="tx1"/>
                </a:solidFill>
                <a:latin typeface="Calibri" pitchFamily="34" charset="0"/>
                <a:ea typeface="宋体" charset="-122"/>
              </a:defRPr>
            </a:lvl4pPr>
            <a:lvl5pPr marL="2057400" indent="-228600">
              <a:spcBef>
                <a:spcPct val="20000"/>
              </a:spcBef>
              <a:buFont typeface="Arial" charset="0"/>
              <a:buChar char="»"/>
              <a:defRPr sz="2000">
                <a:solidFill>
                  <a:schemeClr val="tx1"/>
                </a:solidFill>
                <a:latin typeface="Calibri" pitchFamily="34" charset="0"/>
                <a:ea typeface="宋体" charset="-122"/>
              </a:defRPr>
            </a:lvl5pPr>
            <a:lvl6pPr marL="25146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6pPr>
            <a:lvl7pPr marL="29718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7pPr>
            <a:lvl8pPr marL="34290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8pPr>
            <a:lvl9pPr marL="3886200" indent="-228600" eaLnBrk="0" fontAlgn="base" hangingPunct="0">
              <a:spcBef>
                <a:spcPct val="20000"/>
              </a:spcBef>
              <a:spcAft>
                <a:spcPct val="0"/>
              </a:spcAft>
              <a:buFont typeface="Arial" charset="0"/>
              <a:buChar char="»"/>
              <a:defRPr sz="2000">
                <a:solidFill>
                  <a:schemeClr val="tx1"/>
                </a:solidFill>
                <a:latin typeface="Calibri" pitchFamily="34" charset="0"/>
                <a:ea typeface="宋体" charset="-122"/>
              </a:defRPr>
            </a:lvl9pPr>
          </a:lstStyle>
          <a:p>
            <a:pPr eaLnBrk="1" fontAlgn="auto" hangingPunct="1">
              <a:spcBef>
                <a:spcPts val="1000"/>
              </a:spcBef>
              <a:spcAft>
                <a:spcPts val="0"/>
              </a:spcAft>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rPr>
              <a:t>国家优自奖“</a:t>
            </a:r>
            <a:r>
              <a:rPr lang="zh-CN" altLang="en-US" sz="1200" b="1" dirty="0">
                <a:solidFill>
                  <a:srgbClr val="C00000"/>
                </a:solidFill>
                <a:latin typeface="微软雅黑" panose="020B0503020204020204" pitchFamily="34" charset="-122"/>
                <a:ea typeface="微软雅黑" panose="020B0503020204020204" pitchFamily="34" charset="-122"/>
              </a:rPr>
              <a:t>特等奖</a:t>
            </a:r>
            <a:r>
              <a:rPr lang="zh-CN" altLang="en-US" sz="1200" dirty="0">
                <a:latin typeface="微软雅黑" panose="020B0503020204020204" pitchFamily="34" charset="-122"/>
                <a:ea typeface="微软雅黑" panose="020B0503020204020204" pitchFamily="34" charset="-122"/>
              </a:rPr>
              <a:t>”，近年来</a:t>
            </a:r>
            <a:r>
              <a:rPr lang="zh-CN" altLang="en-US" sz="1200" b="1" dirty="0">
                <a:solidFill>
                  <a:srgbClr val="C00000"/>
                </a:solidFill>
                <a:latin typeface="微软雅黑" panose="020B0503020204020204" pitchFamily="34" charset="-122"/>
                <a:ea typeface="微软雅黑" panose="020B0503020204020204" pitchFamily="34" charset="-122"/>
              </a:rPr>
              <a:t>英国</a:t>
            </a:r>
            <a:r>
              <a:rPr lang="zh-CN" altLang="en-US" sz="1200" dirty="0">
                <a:latin typeface="微软雅黑" panose="020B0503020204020204" pitchFamily="34" charset="-122"/>
                <a:ea typeface="微软雅黑" panose="020B0503020204020204" pitchFamily="34" charset="-122"/>
              </a:rPr>
              <a:t>理工科</a:t>
            </a:r>
            <a:r>
              <a:rPr lang="zh-CN" altLang="en-US" sz="1200" b="1" dirty="0">
                <a:solidFill>
                  <a:srgbClr val="C00000"/>
                </a:solidFill>
                <a:latin typeface="微软雅黑" panose="020B0503020204020204" pitchFamily="34" charset="-122"/>
                <a:ea typeface="微软雅黑" panose="020B0503020204020204" pitchFamily="34" charset="-122"/>
              </a:rPr>
              <a:t>首位</a:t>
            </a:r>
            <a:r>
              <a:rPr lang="zh-CN" altLang="en-US" sz="1200" dirty="0">
                <a:latin typeface="微软雅黑" panose="020B0503020204020204" pitchFamily="34" charset="-122"/>
                <a:ea typeface="微软雅黑" panose="020B0503020204020204" pitchFamily="34" charset="-122"/>
              </a:rPr>
              <a:t>获得者</a:t>
            </a:r>
            <a:endParaRPr lang="en-US" altLang="zh-CN" sz="1200" dirty="0">
              <a:latin typeface="微软雅黑" panose="020B0503020204020204" pitchFamily="34" charset="-122"/>
              <a:ea typeface="微软雅黑" panose="020B0503020204020204" pitchFamily="34" charset="-122"/>
            </a:endParaRPr>
          </a:p>
          <a:p>
            <a:pPr>
              <a:spcBef>
                <a:spcPts val="1000"/>
              </a:spcBef>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rPr>
              <a:t>浙江大学启真优秀青年学者；</a:t>
            </a:r>
            <a:r>
              <a:rPr lang="zh-CN" altLang="en-US" sz="1200" dirty="0">
                <a:latin typeface="微软雅黑" panose="020B0503020204020204" pitchFamily="34" charset="-122"/>
                <a:ea typeface="微软雅黑" panose="020B0503020204020204" pitchFamily="34" charset="-122"/>
                <a:cs typeface="+mn-ea"/>
                <a:sym typeface="+mn-lt"/>
              </a:rPr>
              <a:t>青年创新奖</a:t>
            </a:r>
            <a:endParaRPr lang="en-US" altLang="zh-CN" sz="1200" dirty="0">
              <a:latin typeface="微软雅黑" panose="020B0503020204020204" pitchFamily="34" charset="-122"/>
              <a:ea typeface="微软雅黑" panose="020B0503020204020204" pitchFamily="34" charset="-122"/>
              <a:cs typeface="+mn-ea"/>
              <a:sym typeface="+mn-lt"/>
            </a:endParaRPr>
          </a:p>
          <a:p>
            <a:pPr>
              <a:spcBef>
                <a:spcPts val="1000"/>
              </a:spcBef>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浙江大学校级</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优秀班主任，创新创业先进个人</a:t>
            </a:r>
            <a:endParaRPr lang="en-US" altLang="zh-CN" sz="1200" b="1" dirty="0">
              <a:solidFill>
                <a:srgbClr val="C00000"/>
              </a:solidFill>
              <a:latin typeface="微软雅黑" panose="020B0503020204020204" pitchFamily="34" charset="-122"/>
              <a:ea typeface="微软雅黑" panose="020B0503020204020204" pitchFamily="34" charset="-122"/>
              <a:cs typeface="+mn-ea"/>
              <a:sym typeface="+mn-lt"/>
            </a:endParaRPr>
          </a:p>
          <a:p>
            <a:pPr>
              <a:spcBef>
                <a:spcPts val="1000"/>
              </a:spcBef>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第八届中国国际“互联网</a:t>
            </a:r>
            <a:r>
              <a:rPr lang="en-US" altLang="zh-CN" sz="1200" dirty="0">
                <a:latin typeface="微软雅黑" panose="020B0503020204020204" pitchFamily="34" charset="-122"/>
                <a:ea typeface="微软雅黑" panose="020B0503020204020204" pitchFamily="34" charset="-122"/>
                <a:cs typeface="+mn-ea"/>
                <a:sym typeface="+mn-lt"/>
              </a:rPr>
              <a:t>+”</a:t>
            </a:r>
            <a:r>
              <a:rPr lang="zh-CN" altLang="en-US" sz="1200" dirty="0">
                <a:latin typeface="微软雅黑" panose="020B0503020204020204" pitchFamily="34" charset="-122"/>
                <a:ea typeface="微软雅黑" panose="020B0503020204020204" pitchFamily="34" charset="-122"/>
                <a:cs typeface="+mn-ea"/>
                <a:sym typeface="+mn-lt"/>
              </a:rPr>
              <a:t>创新创业大赛 </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全国金奖</a:t>
            </a:r>
            <a:endParaRPr lang="en-US" altLang="zh-CN" sz="1200" b="1" dirty="0">
              <a:solidFill>
                <a:srgbClr val="C00000"/>
              </a:solidFill>
              <a:latin typeface="微软雅黑" panose="020B0503020204020204" pitchFamily="34" charset="-122"/>
              <a:ea typeface="微软雅黑" panose="020B0503020204020204" pitchFamily="34" charset="-122"/>
              <a:cs typeface="+mn-ea"/>
              <a:sym typeface="+mn-lt"/>
            </a:endParaRPr>
          </a:p>
          <a:p>
            <a:pPr>
              <a:spcBef>
                <a:spcPts val="1000"/>
              </a:spcBef>
              <a:buSzPct val="80000"/>
              <a:buFont typeface="Wingdings" charset="2"/>
              <a:buChar char="u"/>
              <a:defRPr/>
            </a:pPr>
            <a:r>
              <a:rPr lang="en-US" altLang="zh-CN" sz="1200" dirty="0">
                <a:latin typeface="微软雅黑" panose="020B0503020204020204" pitchFamily="34" charset="-122"/>
                <a:ea typeface="微软雅黑" panose="020B0503020204020204" pitchFamily="34" charset="-122"/>
                <a:cs typeface="+mn-ea"/>
                <a:sym typeface="+mn-lt"/>
              </a:rPr>
              <a:t>2024</a:t>
            </a:r>
            <a:r>
              <a:rPr lang="zh-CN" altLang="en-US" sz="1200" dirty="0">
                <a:latin typeface="微软雅黑" panose="020B0503020204020204" pitchFamily="34" charset="-122"/>
                <a:ea typeface="微软雅黑" panose="020B0503020204020204" pitchFamily="34" charset="-122"/>
                <a:cs typeface="+mn-ea"/>
                <a:sym typeface="+mn-lt"/>
              </a:rPr>
              <a:t>中国国际大学生创新大赛</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全国金奖</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银奖</a:t>
            </a:r>
            <a:endParaRPr lang="en-US" altLang="zh-CN" sz="1200" b="1" dirty="0">
              <a:solidFill>
                <a:srgbClr val="C00000"/>
              </a:solidFill>
              <a:latin typeface="微软雅黑" panose="020B0503020204020204" pitchFamily="34" charset="-122"/>
              <a:ea typeface="微软雅黑" panose="020B0503020204020204" pitchFamily="34" charset="-122"/>
              <a:cs typeface="+mn-ea"/>
              <a:sym typeface="+mn-lt"/>
            </a:endParaRPr>
          </a:p>
          <a:p>
            <a:pPr>
              <a:spcBef>
                <a:spcPts val="1000"/>
              </a:spcBef>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第十四届“挑战杯”创业竞赛</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全国金奖</a:t>
            </a:r>
            <a:endParaRPr lang="en-US" altLang="zh-CN" sz="1200" b="1" dirty="0">
              <a:solidFill>
                <a:srgbClr val="C00000"/>
              </a:solidFill>
              <a:latin typeface="微软雅黑" panose="020B0503020204020204" pitchFamily="34" charset="-122"/>
              <a:ea typeface="微软雅黑" panose="020B0503020204020204" pitchFamily="34" charset="-122"/>
              <a:cs typeface="+mn-ea"/>
              <a:sym typeface="+mn-lt"/>
            </a:endParaRPr>
          </a:p>
          <a:p>
            <a:pPr>
              <a:spcBef>
                <a:spcPts val="1000"/>
              </a:spcBef>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浙江省国际大学生创新大赛</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金奖</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×4</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项</a:t>
            </a:r>
            <a:endParaRPr lang="en-US" altLang="zh-CN" sz="1200" b="1" dirty="0">
              <a:solidFill>
                <a:srgbClr val="C00000"/>
              </a:solidFill>
              <a:latin typeface="微软雅黑" panose="020B0503020204020204" pitchFamily="34" charset="-122"/>
              <a:ea typeface="微软雅黑" panose="020B0503020204020204" pitchFamily="34" charset="-122"/>
              <a:cs typeface="+mn-ea"/>
              <a:sym typeface="+mn-lt"/>
            </a:endParaRPr>
          </a:p>
          <a:p>
            <a:pPr>
              <a:spcBef>
                <a:spcPts val="1000"/>
              </a:spcBef>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第七、八（</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冠军</a:t>
            </a:r>
            <a:r>
              <a:rPr lang="zh-CN" altLang="en-US" sz="1200" dirty="0">
                <a:latin typeface="微软雅黑" panose="020B0503020204020204" pitchFamily="34" charset="-122"/>
                <a:ea typeface="微软雅黑" panose="020B0503020204020204" pitchFamily="34" charset="-122"/>
                <a:cs typeface="+mn-ea"/>
                <a:sym typeface="+mn-lt"/>
              </a:rPr>
              <a:t>）、九届 浙江省“互联网</a:t>
            </a:r>
            <a:r>
              <a:rPr lang="en-US" altLang="zh-CN" sz="1200" dirty="0">
                <a:latin typeface="微软雅黑" panose="020B0503020204020204" pitchFamily="34" charset="-122"/>
                <a:ea typeface="微软雅黑" panose="020B0503020204020204" pitchFamily="34" charset="-122"/>
                <a:cs typeface="+mn-ea"/>
                <a:sym typeface="+mn-lt"/>
              </a:rPr>
              <a:t>+”</a:t>
            </a:r>
            <a:r>
              <a:rPr lang="zh-CN" altLang="en-US" sz="1200" dirty="0">
                <a:latin typeface="微软雅黑" panose="020B0503020204020204" pitchFamily="34" charset="-122"/>
                <a:ea typeface="微软雅黑" panose="020B0503020204020204" pitchFamily="34" charset="-122"/>
                <a:cs typeface="+mn-ea"/>
                <a:sym typeface="+mn-lt"/>
              </a:rPr>
              <a:t> 大赛 </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金奖</a:t>
            </a:r>
            <a:endParaRPr lang="en-US" altLang="zh-CN" sz="1200" b="1" dirty="0">
              <a:solidFill>
                <a:srgbClr val="C00000"/>
              </a:solidFill>
              <a:latin typeface="微软雅黑" panose="020B0503020204020204" pitchFamily="34" charset="-122"/>
              <a:ea typeface="微软雅黑" panose="020B0503020204020204" pitchFamily="34" charset="-122"/>
              <a:cs typeface="+mn-ea"/>
              <a:sym typeface="+mn-lt"/>
            </a:endParaRPr>
          </a:p>
          <a:p>
            <a:pPr>
              <a:spcBef>
                <a:spcPts val="1000"/>
              </a:spcBef>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第十三、十四届浙江省“挑战杯” 创业计划竞赛 </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金奖</a:t>
            </a:r>
            <a:endParaRPr lang="en-US" altLang="zh-CN" sz="1200" b="1" dirty="0">
              <a:solidFill>
                <a:srgbClr val="C00000"/>
              </a:solidFill>
              <a:latin typeface="微软雅黑" panose="020B0503020204020204" pitchFamily="34" charset="-122"/>
              <a:ea typeface="微软雅黑" panose="020B0503020204020204" pitchFamily="34" charset="-122"/>
              <a:cs typeface="+mn-ea"/>
              <a:sym typeface="+mn-lt"/>
            </a:endParaRPr>
          </a:p>
          <a:p>
            <a:pPr>
              <a:spcBef>
                <a:spcPts val="1000"/>
              </a:spcBef>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rPr>
              <a:t>入选国家</a:t>
            </a:r>
            <a:r>
              <a:rPr lang="zh-CN" altLang="en-US" sz="1200" b="1" dirty="0">
                <a:solidFill>
                  <a:srgbClr val="C00000"/>
                </a:solidFill>
                <a:latin typeface="微软雅黑" panose="020B0503020204020204" pitchFamily="34" charset="-122"/>
                <a:ea typeface="微软雅黑" panose="020B0503020204020204" pitchFamily="34" charset="-122"/>
              </a:rPr>
              <a:t>海外优青</a:t>
            </a:r>
            <a:r>
              <a:rPr lang="zh-CN" altLang="en-US" sz="1200" dirty="0">
                <a:latin typeface="微软雅黑" panose="020B0503020204020204" pitchFamily="34" charset="-122"/>
                <a:ea typeface="微软雅黑" panose="020B0503020204020204" pitchFamily="34" charset="-122"/>
              </a:rPr>
              <a:t>；浙江省</a:t>
            </a:r>
            <a:r>
              <a:rPr lang="zh-CN" altLang="en-US" sz="1200" b="1" dirty="0">
                <a:solidFill>
                  <a:srgbClr val="C00000"/>
                </a:solidFill>
                <a:latin typeface="微软雅黑" panose="020B0503020204020204" pitchFamily="34" charset="-122"/>
                <a:ea typeface="微软雅黑" panose="020B0503020204020204" pitchFamily="34" charset="-122"/>
              </a:rPr>
              <a:t>创新长期</a:t>
            </a:r>
            <a:r>
              <a:rPr lang="zh-CN" altLang="en-US" sz="1200" dirty="0">
                <a:latin typeface="微软雅黑" panose="020B0503020204020204" pitchFamily="34" charset="-122"/>
                <a:ea typeface="微软雅黑" panose="020B0503020204020204" pitchFamily="34" charset="-122"/>
              </a:rPr>
              <a:t>项目（千人计划）</a:t>
            </a:r>
            <a:endParaRPr lang="en-US" altLang="zh-CN" sz="1200" dirty="0">
              <a:latin typeface="微软雅黑" panose="020B0503020204020204" pitchFamily="34" charset="-122"/>
              <a:ea typeface="微软雅黑" panose="020B0503020204020204" pitchFamily="34" charset="-122"/>
            </a:endParaRPr>
          </a:p>
          <a:p>
            <a:pPr eaLnBrk="1" fontAlgn="auto" hangingPunct="1">
              <a:spcBef>
                <a:spcPts val="1000"/>
              </a:spcBef>
              <a:spcAft>
                <a:spcPts val="0"/>
              </a:spcAft>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入选</a:t>
            </a:r>
            <a:r>
              <a:rPr lang="en-US" altLang="zh-CN" sz="1200" dirty="0">
                <a:latin typeface="微软雅黑" panose="020B0503020204020204" pitchFamily="34" charset="-122"/>
                <a:ea typeface="微软雅黑" panose="020B0503020204020204" pitchFamily="34" charset="-122"/>
                <a:cs typeface="+mn-ea"/>
                <a:sym typeface="+mn-lt"/>
              </a:rPr>
              <a:t>《</a:t>
            </a:r>
            <a:r>
              <a:rPr lang="zh-CN" altLang="en-US" sz="1200" dirty="0">
                <a:latin typeface="微软雅黑" panose="020B0503020204020204" pitchFamily="34" charset="-122"/>
                <a:ea typeface="微软雅黑" panose="020B0503020204020204" pitchFamily="34" charset="-122"/>
                <a:cs typeface="+mn-ea"/>
                <a:sym typeface="+mn-lt"/>
              </a:rPr>
              <a:t>麻省理工科技评论</a:t>
            </a:r>
            <a:r>
              <a:rPr lang="en-US" altLang="zh-CN" sz="1200" dirty="0">
                <a:latin typeface="微软雅黑" panose="020B0503020204020204" pitchFamily="34" charset="-122"/>
                <a:ea typeface="微软雅黑" panose="020B0503020204020204" pitchFamily="34" charset="-122"/>
                <a:cs typeface="+mn-ea"/>
                <a:sym typeface="+mn-lt"/>
              </a:rPr>
              <a:t>》</a:t>
            </a:r>
            <a:r>
              <a:rPr lang="zh-CN" altLang="en-US" sz="1200" dirty="0">
                <a:latin typeface="微软雅黑" panose="020B0503020204020204" pitchFamily="34" charset="-122"/>
                <a:ea typeface="微软雅黑" panose="020B0503020204020204" pitchFamily="34" charset="-122"/>
                <a:cs typeface="+mn-ea"/>
                <a:sym typeface="+mn-lt"/>
              </a:rPr>
              <a:t> </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35</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岁科技</a:t>
            </a:r>
            <a:r>
              <a:rPr lang="en-US" altLang="zh-CN" sz="1200" b="1" dirty="0">
                <a:solidFill>
                  <a:srgbClr val="C00000"/>
                </a:solidFill>
                <a:latin typeface="微软雅黑" panose="020B0503020204020204" pitchFamily="34" charset="-122"/>
                <a:ea typeface="微软雅黑" panose="020B0503020204020204" pitchFamily="34" charset="-122"/>
                <a:cs typeface="+mn-ea"/>
                <a:sym typeface="+mn-lt"/>
              </a:rPr>
              <a:t>35</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人 </a:t>
            </a:r>
            <a:r>
              <a:rPr lang="zh-CN" altLang="en-US" sz="1200" dirty="0">
                <a:latin typeface="微软雅黑" panose="020B0503020204020204" pitchFamily="34" charset="-122"/>
                <a:ea typeface="微软雅黑" panose="020B0503020204020204" pitchFamily="34" charset="-122"/>
                <a:cs typeface="+mn-ea"/>
                <a:sym typeface="+mn-lt"/>
              </a:rPr>
              <a:t>（</a:t>
            </a:r>
            <a:r>
              <a:rPr lang="en-US" altLang="zh-CN" sz="1200" dirty="0">
                <a:latin typeface="微软雅黑" panose="020B0503020204020204" pitchFamily="34" charset="-122"/>
                <a:ea typeface="微软雅黑" panose="020B0503020204020204" pitchFamily="34" charset="-122"/>
                <a:cs typeface="+mn-ea"/>
                <a:sym typeface="+mn-lt"/>
              </a:rPr>
              <a:t>TR35</a:t>
            </a:r>
            <a:r>
              <a:rPr lang="zh-CN" altLang="en-US" sz="1200" dirty="0">
                <a:latin typeface="微软雅黑" panose="020B0503020204020204" pitchFamily="34" charset="-122"/>
                <a:ea typeface="微软雅黑" panose="020B0503020204020204" pitchFamily="34" charset="-122"/>
                <a:cs typeface="+mn-ea"/>
                <a:sym typeface="+mn-lt"/>
              </a:rPr>
              <a:t>）</a:t>
            </a:r>
            <a:endParaRPr lang="en-US" altLang="zh-CN" sz="1200" dirty="0">
              <a:latin typeface="微软雅黑" panose="020B0503020204020204" pitchFamily="34" charset="-122"/>
              <a:ea typeface="微软雅黑" panose="020B0503020204020204" pitchFamily="34" charset="-122"/>
              <a:cs typeface="+mn-ea"/>
              <a:sym typeface="+mn-lt"/>
            </a:endParaRPr>
          </a:p>
          <a:p>
            <a:pPr eaLnBrk="1" fontAlgn="auto" hangingPunct="1">
              <a:spcBef>
                <a:spcPts val="1000"/>
              </a:spcBef>
              <a:spcAft>
                <a:spcPts val="0"/>
              </a:spcAft>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阿里巴巴达摩院“</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青橙奖</a:t>
            </a:r>
            <a:r>
              <a:rPr lang="zh-CN" altLang="en-US" sz="1200" dirty="0">
                <a:latin typeface="微软雅黑" panose="020B0503020204020204" pitchFamily="34" charset="-122"/>
                <a:ea typeface="微软雅黑" panose="020B0503020204020204" pitchFamily="34" charset="-122"/>
                <a:cs typeface="+mn-ea"/>
                <a:sym typeface="+mn-lt"/>
              </a:rPr>
              <a:t>”</a:t>
            </a:r>
            <a:endParaRPr lang="en-US" altLang="zh-CN" sz="1200" dirty="0">
              <a:latin typeface="微软雅黑" panose="020B0503020204020204" pitchFamily="34" charset="-122"/>
              <a:ea typeface="微软雅黑" panose="020B0503020204020204" pitchFamily="34" charset="-122"/>
              <a:cs typeface="+mn-ea"/>
              <a:sym typeface="+mn-lt"/>
            </a:endParaRPr>
          </a:p>
          <a:p>
            <a:pPr>
              <a:spcBef>
                <a:spcPts val="1000"/>
              </a:spcBef>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华为“</a:t>
            </a:r>
            <a:r>
              <a:rPr lang="zh-CN" altLang="en-US" sz="1200" b="1" dirty="0">
                <a:solidFill>
                  <a:srgbClr val="C00000"/>
                </a:solidFill>
                <a:latin typeface="微软雅黑" panose="020B0503020204020204" pitchFamily="34" charset="-122"/>
                <a:ea typeface="微软雅黑" panose="020B0503020204020204" pitchFamily="34" charset="-122"/>
                <a:cs typeface="+mn-ea"/>
                <a:sym typeface="+mn-lt"/>
              </a:rPr>
              <a:t>火花奖</a:t>
            </a:r>
            <a:r>
              <a:rPr lang="zh-CN" altLang="en-US" sz="1200" dirty="0">
                <a:latin typeface="微软雅黑" panose="020B0503020204020204" pitchFamily="34" charset="-122"/>
                <a:ea typeface="微软雅黑" panose="020B0503020204020204" pitchFamily="34" charset="-122"/>
                <a:cs typeface="+mn-ea"/>
                <a:sym typeface="+mn-lt"/>
              </a:rPr>
              <a:t>”（解决通讯光源识别难题，最高价值奖）</a:t>
            </a:r>
            <a:endParaRPr lang="en-US" altLang="zh-CN" sz="1200" dirty="0">
              <a:latin typeface="微软雅黑" panose="020B0503020204020204" pitchFamily="34" charset="-122"/>
              <a:ea typeface="微软雅黑" panose="020B0503020204020204" pitchFamily="34" charset="-122"/>
              <a:cs typeface="+mn-ea"/>
              <a:sym typeface="+mn-lt"/>
            </a:endParaRPr>
          </a:p>
          <a:p>
            <a:pPr eaLnBrk="1" fontAlgn="auto" hangingPunct="1">
              <a:spcBef>
                <a:spcPts val="1000"/>
              </a:spcBef>
              <a:spcAft>
                <a:spcPts val="0"/>
              </a:spcAft>
              <a:buSzPct val="80000"/>
              <a:buFont typeface="Wingdings" charset="2"/>
              <a:buChar char="u"/>
              <a:defRPr/>
            </a:pPr>
            <a:r>
              <a:rPr lang="zh-CN" altLang="en-US" sz="1200" dirty="0">
                <a:latin typeface="微软雅黑" panose="020B0503020204020204" pitchFamily="34" charset="-122"/>
                <a:ea typeface="微软雅黑" panose="020B0503020204020204" pitchFamily="34" charset="-122"/>
                <a:cs typeface="+mn-ea"/>
                <a:sym typeface="+mn-lt"/>
              </a:rPr>
              <a:t>国家自然科学基金专项人才计划 </a:t>
            </a:r>
            <a:r>
              <a:rPr lang="en-US" altLang="zh-CN" sz="1200" dirty="0">
                <a:latin typeface="微软雅黑" panose="020B0503020204020204" pitchFamily="34" charset="-122"/>
                <a:ea typeface="微软雅黑" panose="020B0503020204020204" pitchFamily="34" charset="-122"/>
                <a:cs typeface="+mn-ea"/>
                <a:sym typeface="+mn-lt"/>
              </a:rPr>
              <a:t>(2700</a:t>
            </a:r>
            <a:r>
              <a:rPr lang="zh-CN" altLang="en-US" sz="1200" dirty="0">
                <a:latin typeface="微软雅黑" panose="020B0503020204020204" pitchFamily="34" charset="-122"/>
                <a:ea typeface="微软雅黑" panose="020B0503020204020204" pitchFamily="34" charset="-122"/>
                <a:cs typeface="+mn-ea"/>
                <a:sym typeface="+mn-lt"/>
              </a:rPr>
              <a:t>万，</a:t>
            </a:r>
            <a:r>
              <a:rPr lang="en-US" altLang="zh-CN" sz="1200" dirty="0">
                <a:latin typeface="微软雅黑" panose="020B0503020204020204" pitchFamily="34" charset="-122"/>
                <a:ea typeface="微软雅黑" panose="020B0503020204020204" pitchFamily="34" charset="-122"/>
                <a:cs typeface="+mn-ea"/>
                <a:sym typeface="+mn-lt"/>
              </a:rPr>
              <a:t>9</a:t>
            </a:r>
            <a:r>
              <a:rPr lang="zh-CN" altLang="en-US" sz="1200" dirty="0">
                <a:latin typeface="微软雅黑" panose="020B0503020204020204" pitchFamily="34" charset="-122"/>
                <a:ea typeface="微软雅黑" panose="020B0503020204020204" pitchFamily="34" charset="-122"/>
                <a:cs typeface="+mn-ea"/>
                <a:sym typeface="+mn-lt"/>
              </a:rPr>
              <a:t>年，杰青</a:t>
            </a:r>
            <a:r>
              <a:rPr lang="en-US" altLang="zh-CN" sz="1200" dirty="0">
                <a:latin typeface="微软雅黑" panose="020B0503020204020204" pitchFamily="34" charset="-122"/>
                <a:ea typeface="微软雅黑" panose="020B0503020204020204" pitchFamily="34" charset="-122"/>
                <a:cs typeface="+mn-ea"/>
                <a:sym typeface="+mn-lt"/>
              </a:rPr>
              <a:t>+)</a:t>
            </a:r>
          </a:p>
        </p:txBody>
      </p:sp>
      <p:sp>
        <p:nvSpPr>
          <p:cNvPr id="56" name="Rectangle 17">
            <a:extLst>
              <a:ext uri="{FF2B5EF4-FFF2-40B4-BE49-F238E27FC236}">
                <a16:creationId xmlns:a16="http://schemas.microsoft.com/office/drawing/2014/main" id="{9B9E62A3-3CA9-41C0-FD7F-C6F124130542}"/>
              </a:ext>
            </a:extLst>
          </p:cNvPr>
          <p:cNvSpPr/>
          <p:nvPr/>
        </p:nvSpPr>
        <p:spPr>
          <a:xfrm>
            <a:off x="149919" y="965727"/>
            <a:ext cx="4289077" cy="5116290"/>
          </a:xfrm>
          <a:prstGeom prst="rect">
            <a:avLst/>
          </a:prstGeom>
          <a:no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GB" altLang="zh-CN" sz="1400">
              <a:solidFill>
                <a:srgbClr val="FFFFFF"/>
              </a:solidFill>
              <a:ea typeface="宋体" panose="02010600030101010101" pitchFamily="2" charset="-122"/>
            </a:endParaRPr>
          </a:p>
        </p:txBody>
      </p:sp>
      <p:sp>
        <p:nvSpPr>
          <p:cNvPr id="57" name="Rectangle 17">
            <a:extLst>
              <a:ext uri="{FF2B5EF4-FFF2-40B4-BE49-F238E27FC236}">
                <a16:creationId xmlns:a16="http://schemas.microsoft.com/office/drawing/2014/main" id="{CC79ECF7-B71B-604E-5246-E9296413C349}"/>
              </a:ext>
            </a:extLst>
          </p:cNvPr>
          <p:cNvSpPr/>
          <p:nvPr/>
        </p:nvSpPr>
        <p:spPr>
          <a:xfrm>
            <a:off x="4497372" y="965728"/>
            <a:ext cx="4555085" cy="5116290"/>
          </a:xfrm>
          <a:prstGeom prst="rect">
            <a:avLst/>
          </a:prstGeom>
          <a:no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ctr" eaLnBrk="1" hangingPunct="1">
              <a:defRPr/>
            </a:pPr>
            <a:endParaRPr lang="en-GB" altLang="zh-CN" sz="1400">
              <a:solidFill>
                <a:srgbClr val="FFFFFF"/>
              </a:solidFill>
              <a:ea typeface="宋体" panose="02010600030101010101" pitchFamily="2" charset="-122"/>
            </a:endParaRPr>
          </a:p>
        </p:txBody>
      </p:sp>
    </p:spTree>
    <p:extLst>
      <p:ext uri="{BB962C8B-B14F-4D97-AF65-F5344CB8AC3E}">
        <p14:creationId xmlns:p14="http://schemas.microsoft.com/office/powerpoint/2010/main" val="2973792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CCE13-ABED-4662-9D67-9D2FDFA4C07D}"/>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195286CB-9F77-0F4E-7D6B-7526EA0624B2}"/>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Self-introduction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aphicFrame>
        <p:nvGraphicFramePr>
          <p:cNvPr id="2" name="Table 21">
            <a:extLst>
              <a:ext uri="{FF2B5EF4-FFF2-40B4-BE49-F238E27FC236}">
                <a16:creationId xmlns:a16="http://schemas.microsoft.com/office/drawing/2014/main" id="{0739F4D3-0248-FEA1-4A1C-6D7A6C8AC13B}"/>
              </a:ext>
            </a:extLst>
          </p:cNvPr>
          <p:cNvGraphicFramePr>
            <a:graphicFrameLocks noGrp="1"/>
          </p:cNvGraphicFramePr>
          <p:nvPr>
            <p:extLst>
              <p:ext uri="{D42A27DB-BD31-4B8C-83A1-F6EECF244321}">
                <p14:modId xmlns:p14="http://schemas.microsoft.com/office/powerpoint/2010/main" val="844147891"/>
              </p:ext>
            </p:extLst>
          </p:nvPr>
        </p:nvGraphicFramePr>
        <p:xfrm>
          <a:off x="344999" y="2846502"/>
          <a:ext cx="8223953" cy="2785948"/>
        </p:xfrm>
        <a:graphic>
          <a:graphicData uri="http://schemas.openxmlformats.org/drawingml/2006/table">
            <a:tbl>
              <a:tblPr/>
              <a:tblGrid>
                <a:gridCol w="476899">
                  <a:extLst>
                    <a:ext uri="{9D8B030D-6E8A-4147-A177-3AD203B41FA5}">
                      <a16:colId xmlns:a16="http://schemas.microsoft.com/office/drawing/2014/main" val="20000"/>
                    </a:ext>
                  </a:extLst>
                </a:gridCol>
                <a:gridCol w="3833586">
                  <a:extLst>
                    <a:ext uri="{9D8B030D-6E8A-4147-A177-3AD203B41FA5}">
                      <a16:colId xmlns:a16="http://schemas.microsoft.com/office/drawing/2014/main" val="20001"/>
                    </a:ext>
                  </a:extLst>
                </a:gridCol>
                <a:gridCol w="3913468">
                  <a:extLst>
                    <a:ext uri="{9D8B030D-6E8A-4147-A177-3AD203B41FA5}">
                      <a16:colId xmlns:a16="http://schemas.microsoft.com/office/drawing/2014/main" val="20002"/>
                    </a:ext>
                  </a:extLst>
                </a:gridCol>
              </a:tblGrid>
              <a:tr h="362530">
                <a:tc rowSpan="8">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3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微型</a:t>
                      </a:r>
                      <a:r>
                        <a:rPr kumimoji="0" lang="zh-CN" altLang="en-US"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rPr>
                        <a:t>光谱仪</a:t>
                      </a:r>
                      <a:endParaRPr kumimoji="0" lang="en-GB" altLang="zh-CN"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88523" marR="88523" marT="44262" marB="4426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rPr>
                        <a:t>世界最小</a:t>
                      </a:r>
                      <a:r>
                        <a:rPr kumimoji="0" lang="zh-CN" altLang="en-US"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光谱仪</a:t>
                      </a:r>
                      <a:endParaRPr kumimoji="0" lang="en-GB" altLang="zh-CN"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Z. Yang </a:t>
                      </a:r>
                      <a:r>
                        <a:rPr kumimoji="0" lang="en-GB"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et al.</a:t>
                      </a:r>
                      <a:r>
                        <a:rPr kumimoji="0" lang="en-US"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kumimoji="0" lang="en-GB"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US" altLang="zh-CN" sz="1300" b="1" i="1"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Science</a:t>
                      </a:r>
                      <a:r>
                        <a:rPr kumimoji="0" lang="en-US" altLang="zh-CN" sz="1300" b="1" i="0"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 </a:t>
                      </a:r>
                      <a:r>
                        <a:rPr kumimoji="0" lang="en-US" altLang="zh-CN" sz="1300" b="0" i="0"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365, 1017 (2019)</a:t>
                      </a:r>
                      <a:endParaRPr kumimoji="0" lang="en-GB"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2530">
                <a:tc vMerge="1">
                  <a:txBody>
                    <a:bodyPr/>
                    <a:lstStyle/>
                    <a:p>
                      <a:endParaRPr lang="zh-CN" altLang="en-US"/>
                    </a:p>
                  </a:txBody>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rPr>
                        <a:t>建立</a:t>
                      </a:r>
                      <a:r>
                        <a:rPr kumimoji="0" lang="zh-CN" altLang="en-US"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光谱仪微型化的</a:t>
                      </a:r>
                      <a:r>
                        <a:rPr kumimoji="0" lang="zh-CN" altLang="en-US"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rPr>
                        <a:t>理论和技术体系</a:t>
                      </a:r>
                      <a:endParaRPr kumimoji="0" lang="en-GB" altLang="zh-CN"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Z. Yang </a:t>
                      </a:r>
                      <a:r>
                        <a:rPr kumimoji="0" lang="en-GB"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et al.</a:t>
                      </a:r>
                      <a:r>
                        <a:rPr kumimoji="0" lang="en-US"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kumimoji="0" lang="en-GB"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US" altLang="zh-CN" sz="1300" b="1" i="1"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Science</a:t>
                      </a:r>
                      <a:r>
                        <a:rPr kumimoji="0" lang="en-US" altLang="zh-CN" sz="1300" b="1" i="0"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 </a:t>
                      </a:r>
                      <a:r>
                        <a:rPr kumimoji="0" lang="en-US" altLang="zh-CN" sz="1300" b="0" i="0"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371, eabe0722 (2021)</a:t>
                      </a:r>
                      <a:r>
                        <a:rPr kumimoji="0" lang="zh-CN" altLang="en-US" sz="1300" b="0" i="0"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 </a:t>
                      </a:r>
                      <a:endParaRPr kumimoji="0" lang="en-GB"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endParaRP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5384">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rPr>
                        <a:t>时间编码</a:t>
                      </a:r>
                      <a:r>
                        <a:rPr kumimoji="0" lang="zh-CN" altLang="en-US"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范德华异质结</a:t>
                      </a:r>
                      <a:r>
                        <a:rPr kumimoji="0" lang="zh-CN" altLang="en-US"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rPr>
                        <a:t>光谱仪</a:t>
                      </a:r>
                      <a:endParaRPr kumimoji="0" lang="en-GB" altLang="zh-CN"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1"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Science </a:t>
                      </a:r>
                      <a:r>
                        <a:rPr kumimoji="0" lang="en-US"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378, 296-299 (2022) </a:t>
                      </a: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5384">
                <a:tc vMerge="1">
                  <a:txBody>
                    <a:bodyPr/>
                    <a:lstStyle/>
                    <a:p>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3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rPr>
                        <a:t>多维信息感知评论论文</a:t>
                      </a:r>
                      <a:endParaRPr kumimoji="0" lang="en-GB" altLang="zh-CN" sz="13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Z. Y. Yang</a:t>
                      </a:r>
                      <a:r>
                        <a:rPr kumimoji="0" lang="en-GB" altLang="zh-CN"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GB"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et al.</a:t>
                      </a:r>
                      <a:r>
                        <a:rPr kumimoji="0" lang="en-US"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kumimoji="0" lang="en-GB"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US" altLang="zh-CN" sz="1300" b="1"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Nature Photonics </a:t>
                      </a:r>
                      <a:r>
                        <a:rPr kumimoji="0" lang="en-US"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(2024)</a:t>
                      </a: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4331195"/>
                  </a:ext>
                </a:extLst>
              </a:tr>
              <a:tr h="36253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拓扑编码解决高</a:t>
                      </a:r>
                      <a:r>
                        <a:rPr kumimoji="0" lang="zh-CN" altLang="en-US"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rPr>
                        <a:t>分辨率与高灵敏度无法兼具的难题</a:t>
                      </a: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GB"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Z. Y. Yang</a:t>
                      </a:r>
                      <a:r>
                        <a:rPr kumimoji="0" lang="en-GB" altLang="zh-CN"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GB"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et al.</a:t>
                      </a:r>
                      <a:r>
                        <a:rPr kumimoji="0" lang="en-US"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kumimoji="0" lang="en-GB"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US" altLang="zh-CN" sz="1300" b="1"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Science Advances </a:t>
                      </a:r>
                      <a:r>
                        <a:rPr kumimoji="0" lang="en-US"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(2024)</a:t>
                      </a: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253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多体问题解决高</a:t>
                      </a:r>
                      <a:r>
                        <a:rPr kumimoji="0" lang="zh-CN" altLang="en-US"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rPr>
                        <a:t>分辨率和光谱范围无法兼具的难题</a:t>
                      </a:r>
                      <a:endParaRPr kumimoji="0" lang="en-GB" altLang="zh-CN"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…Z. Y. Yang</a:t>
                      </a:r>
                      <a:r>
                        <a:rPr kumimoji="0" lang="en-GB" altLang="zh-CN"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US" altLang="zh-CN" sz="1300" b="1"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Light science &amp; applications </a:t>
                      </a:r>
                      <a:r>
                        <a:rPr kumimoji="0" lang="en-US"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(2025)</a:t>
                      </a: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253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300" b="0"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飞秒激光加工宽光谱色散铌酸锂光栅结构</a:t>
                      </a:r>
                      <a:endParaRPr kumimoji="0" lang="en-GB" altLang="zh-CN" sz="1300" b="0"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GB"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…Z. Y. Yang</a:t>
                      </a:r>
                      <a:r>
                        <a:rPr kumimoji="0" lang="en-GB" altLang="zh-CN"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GB"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et al.</a:t>
                      </a:r>
                      <a:r>
                        <a:rPr kumimoji="0" lang="en-US"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kumimoji="0" lang="en-GB"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US" altLang="zh-CN" sz="1300" b="1"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Nature Commun.</a:t>
                      </a:r>
                      <a:r>
                        <a:rPr kumimoji="0" lang="en-US"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US"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(revision)</a:t>
                      </a: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23269373"/>
                  </a:ext>
                </a:extLst>
              </a:tr>
              <a:tr h="36253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基于应力调控的宽光谱范围光谱仪</a:t>
                      </a:r>
                      <a:endParaRPr kumimoji="0" lang="en-GB" altLang="zh-CN"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GB"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Z. Y. Yang</a:t>
                      </a:r>
                      <a:r>
                        <a:rPr kumimoji="0" lang="en-GB" altLang="zh-CN" sz="13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GB"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et al.</a:t>
                      </a:r>
                      <a:r>
                        <a:rPr kumimoji="0" lang="en-US"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kumimoji="0" lang="en-GB" altLang="zh-CN" sz="1300" b="0"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 </a:t>
                      </a:r>
                      <a:r>
                        <a:rPr kumimoji="0" lang="en-US" altLang="zh-CN" sz="1300" b="1" i="1"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Science Advances </a:t>
                      </a:r>
                      <a:r>
                        <a:rPr kumimoji="0" lang="en-US" altLang="zh-CN" sz="1300" b="0"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(revision)</a:t>
                      </a:r>
                    </a:p>
                  </a:txBody>
                  <a:tcPr marL="68060" marR="68060" marT="34032" marB="34032" anchor="ct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77821960"/>
                  </a:ext>
                </a:extLst>
              </a:tr>
            </a:tbl>
          </a:graphicData>
        </a:graphic>
      </p:graphicFrame>
      <p:graphicFrame>
        <p:nvGraphicFramePr>
          <p:cNvPr id="3" name="Table 21">
            <a:extLst>
              <a:ext uri="{FF2B5EF4-FFF2-40B4-BE49-F238E27FC236}">
                <a16:creationId xmlns:a16="http://schemas.microsoft.com/office/drawing/2014/main" id="{9984F943-7789-4BAB-51B4-6522B4A4D42F}"/>
              </a:ext>
            </a:extLst>
          </p:cNvPr>
          <p:cNvGraphicFramePr>
            <a:graphicFrameLocks noGrp="1"/>
          </p:cNvGraphicFramePr>
          <p:nvPr>
            <p:extLst>
              <p:ext uri="{D42A27DB-BD31-4B8C-83A1-F6EECF244321}">
                <p14:modId xmlns:p14="http://schemas.microsoft.com/office/powerpoint/2010/main" val="751311034"/>
              </p:ext>
            </p:extLst>
          </p:nvPr>
        </p:nvGraphicFramePr>
        <p:xfrm>
          <a:off x="344996" y="858453"/>
          <a:ext cx="8223956" cy="881004"/>
        </p:xfrm>
        <a:graphic>
          <a:graphicData uri="http://schemas.openxmlformats.org/drawingml/2006/table">
            <a:tbl>
              <a:tblPr firstRow="1" bandRow="1">
                <a:noFill/>
                <a:tableStyleId>{22838BEF-8BB2-4498-84A7-C5851F593DF1}</a:tableStyleId>
              </a:tblPr>
              <a:tblGrid>
                <a:gridCol w="478850">
                  <a:extLst>
                    <a:ext uri="{9D8B030D-6E8A-4147-A177-3AD203B41FA5}">
                      <a16:colId xmlns:a16="http://schemas.microsoft.com/office/drawing/2014/main" val="20000"/>
                    </a:ext>
                  </a:extLst>
                </a:gridCol>
                <a:gridCol w="3837054">
                  <a:extLst>
                    <a:ext uri="{9D8B030D-6E8A-4147-A177-3AD203B41FA5}">
                      <a16:colId xmlns:a16="http://schemas.microsoft.com/office/drawing/2014/main" val="20001"/>
                    </a:ext>
                  </a:extLst>
                </a:gridCol>
                <a:gridCol w="3908052">
                  <a:extLst>
                    <a:ext uri="{9D8B030D-6E8A-4147-A177-3AD203B41FA5}">
                      <a16:colId xmlns:a16="http://schemas.microsoft.com/office/drawing/2014/main" val="20002"/>
                    </a:ext>
                  </a:extLst>
                </a:gridCol>
              </a:tblGrid>
              <a:tr h="31909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300" b="0" kern="120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光谱</a:t>
                      </a:r>
                      <a:endParaRPr lang="en-US" altLang="zh-CN" sz="1300" b="0" kern="1200" dirty="0">
                        <a:solidFill>
                          <a:prstClr val="black"/>
                        </a:solidFill>
                        <a:latin typeface="微软雅黑" panose="020B0503020204020204" pitchFamily="34" charset="-122"/>
                        <a:ea typeface="微软雅黑" panose="020B0503020204020204" pitchFamily="34"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300" b="1" kern="1200" dirty="0">
                          <a:solidFill>
                            <a:srgbClr val="C00000"/>
                          </a:solidFill>
                          <a:latin typeface="微软雅黑" panose="020B0503020204020204" pitchFamily="34" charset="-122"/>
                          <a:ea typeface="微软雅黑" panose="020B0503020204020204" pitchFamily="34" charset="-122"/>
                          <a:cs typeface="Arial" panose="020B0604020202020204" pitchFamily="34" charset="0"/>
                        </a:rPr>
                        <a:t>材料</a:t>
                      </a:r>
                      <a:endParaRPr lang="de-DE" altLang="zh-CN" sz="1300" b="1" kern="1200" dirty="0">
                        <a:solidFill>
                          <a:srgbClr val="C00000"/>
                        </a:solidFill>
                        <a:latin typeface="微软雅黑" panose="020B0503020204020204" pitchFamily="34" charset="-122"/>
                        <a:ea typeface="微软雅黑" panose="020B0503020204020204" pitchFamily="34" charset="-122"/>
                        <a:cs typeface="Arial" panose="020B0604020202020204" pitchFamily="34" charset="0"/>
                      </a:endParaRPr>
                    </a:p>
                  </a:txBody>
                  <a:tcPr marL="88523" marR="88523" marT="44262" marB="44262"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300" b="0" kern="1200" dirty="0">
                          <a:solidFill>
                            <a:schemeClr val="dk1"/>
                          </a:solidFill>
                          <a:latin typeface="微软雅黑" panose="020B0503020204020204" pitchFamily="34" charset="-122"/>
                          <a:ea typeface="微软雅黑" panose="020B0503020204020204" pitchFamily="34" charset="-122"/>
                          <a:cs typeface="Arial" panose="020B0604020202020204" pitchFamily="34" charset="0"/>
                        </a:rPr>
                        <a:t>首次提出移动衬底法生长渐变半导体材料</a:t>
                      </a:r>
                      <a:endParaRPr lang="en-US" altLang="zh-CN" sz="1300" b="0" kern="120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a:txBody>
                  <a:tcPr marL="68067" marR="68067" marT="33992" marB="33992"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altLang="zh-CN" sz="1300" b="0" dirty="0">
                          <a:solidFill>
                            <a:prstClr val="black"/>
                          </a:solidFill>
                          <a:latin typeface="Arial" panose="020B0604020202020204" pitchFamily="34" charset="0"/>
                          <a:cs typeface="Arial" panose="020B0604020202020204" pitchFamily="34" charset="0"/>
                        </a:rPr>
                        <a:t>Z. Yang </a:t>
                      </a:r>
                      <a:r>
                        <a:rPr lang="it-IT" altLang="zh-CN" sz="1300" b="0" i="1" dirty="0">
                          <a:solidFill>
                            <a:prstClr val="black"/>
                          </a:solidFill>
                          <a:latin typeface="Arial" panose="020B0604020202020204" pitchFamily="34" charset="0"/>
                          <a:cs typeface="Arial" panose="020B0604020202020204" pitchFamily="34" charset="0"/>
                        </a:rPr>
                        <a:t>et al., </a:t>
                      </a:r>
                      <a:r>
                        <a:rPr lang="it-IT" altLang="zh-CN" sz="1300" b="1" i="1" dirty="0">
                          <a:solidFill>
                            <a:prstClr val="black"/>
                          </a:solidFill>
                          <a:latin typeface="Arial" panose="020B0604020202020204" pitchFamily="34" charset="0"/>
                          <a:cs typeface="Arial" panose="020B0604020202020204" pitchFamily="34" charset="0"/>
                        </a:rPr>
                        <a:t>Nano Lett. </a:t>
                      </a:r>
                      <a:r>
                        <a:rPr lang="it-IT" altLang="zh-CN" sz="1300" b="0" dirty="0">
                          <a:solidFill>
                            <a:prstClr val="black"/>
                          </a:solidFill>
                          <a:latin typeface="Arial" panose="020B0604020202020204" pitchFamily="34" charset="0"/>
                          <a:cs typeface="Arial" panose="020B0604020202020204" pitchFamily="34" charset="0"/>
                        </a:rPr>
                        <a:t>11, 5085 (2011)</a:t>
                      </a:r>
                      <a:endParaRPr lang="it-IT" altLang="zh-CN" sz="1300" b="0" dirty="0">
                        <a:solidFill>
                          <a:prstClr val="black"/>
                        </a:solidFill>
                        <a:latin typeface="Arial" panose="020B0604020202020204" pitchFamily="34" charset="0"/>
                        <a:ea typeface="宋体" panose="02010600030101010101" pitchFamily="2" charset="-122"/>
                        <a:cs typeface="Arial" panose="020B0604020202020204" pitchFamily="34" charset="0"/>
                      </a:endParaRPr>
                    </a:p>
                  </a:txBody>
                  <a:tcPr marL="68067" marR="68067" marT="33992" marB="33992" anchor="ctr">
                    <a:noFill/>
                  </a:tcPr>
                </a:tc>
                <a:extLst>
                  <a:ext uri="{0D108BD9-81ED-4DB2-BD59-A6C34878D82A}">
                    <a16:rowId xmlns:a16="http://schemas.microsoft.com/office/drawing/2014/main" val="10000"/>
                  </a:ext>
                </a:extLst>
              </a:tr>
              <a:tr h="462488">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a:solidFill>
                            <a:prstClr val="black"/>
                          </a:solidFill>
                          <a:latin typeface="Arial" panose="020B0604020202020204" pitchFamily="34" charset="0"/>
                          <a:cs typeface="Arial" panose="020B0604020202020204" pitchFamily="34" charset="0"/>
                        </a:rPr>
                        <a:t>Z. Y. Yang </a:t>
                      </a:r>
                      <a:r>
                        <a:rPr lang="en-GB" sz="1800" i="1" dirty="0">
                          <a:solidFill>
                            <a:prstClr val="black"/>
                          </a:solidFill>
                          <a:latin typeface="Arial" panose="020B0604020202020204" pitchFamily="34" charset="0"/>
                          <a:cs typeface="Arial" panose="020B0604020202020204" pitchFamily="34" charset="0"/>
                        </a:rPr>
                        <a:t>et al</a:t>
                      </a:r>
                      <a:r>
                        <a:rPr lang="en-GB" sz="1800" dirty="0">
                          <a:solidFill>
                            <a:prstClr val="black"/>
                          </a:solidFill>
                          <a:latin typeface="Arial" panose="020B0604020202020204" pitchFamily="34" charset="0"/>
                          <a:cs typeface="Arial" panose="020B0604020202020204" pitchFamily="34" charset="0"/>
                        </a:rPr>
                        <a:t>.</a:t>
                      </a:r>
                      <a:r>
                        <a:rPr lang="en-US" sz="1800" dirty="0">
                          <a:solidFill>
                            <a:prstClr val="black"/>
                          </a:solidFill>
                          <a:latin typeface="Arial" panose="020B0604020202020204" pitchFamily="34" charset="0"/>
                          <a:cs typeface="Arial" panose="020B0604020202020204" pitchFamily="34" charset="0"/>
                        </a:rPr>
                        <a:t>,</a:t>
                      </a:r>
                      <a:r>
                        <a:rPr lang="en-GB" sz="1800" dirty="0">
                          <a:solidFill>
                            <a:prstClr val="black"/>
                          </a:solidFill>
                          <a:latin typeface="Arial" panose="020B0604020202020204" pitchFamily="34" charset="0"/>
                          <a:cs typeface="Arial" panose="020B0604020202020204"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800" b="1" i="1" dirty="0">
                          <a:solidFill>
                            <a:prstClr val="black"/>
                          </a:solidFill>
                          <a:latin typeface="Arial" panose="020B0604020202020204" pitchFamily="34" charset="0"/>
                          <a:ea typeface="宋体" panose="02010600030101010101" pitchFamily="2" charset="-122"/>
                          <a:cs typeface="Arial" panose="020B0604020202020204" pitchFamily="34" charset="0"/>
                        </a:rPr>
                        <a:t>Science</a:t>
                      </a:r>
                      <a:r>
                        <a:rPr lang="en-US" altLang="zh-CN" sz="1800" dirty="0">
                          <a:solidFill>
                            <a:prstClr val="black"/>
                          </a:solidFill>
                          <a:latin typeface="Arial" panose="020B0604020202020204" pitchFamily="34" charset="0"/>
                          <a:ea typeface="宋体" panose="02010600030101010101" pitchFamily="2" charset="-122"/>
                          <a:cs typeface="Arial" panose="020B0604020202020204" pitchFamily="34" charset="0"/>
                        </a:rPr>
                        <a:t> 365, 1017 (2019)</a:t>
                      </a:r>
                      <a:endParaRPr lang="en-GB" sz="1800" dirty="0">
                        <a:solidFill>
                          <a:prstClr val="black"/>
                        </a:solidFill>
                        <a:latin typeface="Arial" panose="020B0604020202020204" pitchFamily="34" charset="0"/>
                        <a:cs typeface="Arial" panose="020B0604020202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300" b="0" kern="1200" dirty="0">
                          <a:solidFill>
                            <a:schemeClr val="dk1"/>
                          </a:solidFill>
                          <a:latin typeface="微软雅黑" panose="020B0503020204020204" pitchFamily="34" charset="-122"/>
                          <a:ea typeface="微软雅黑" panose="020B0503020204020204" pitchFamily="34" charset="-122"/>
                          <a:cs typeface="Arial" panose="020B0604020202020204" pitchFamily="34" charset="0"/>
                        </a:rPr>
                        <a:t>首次提出移动源法生长渐变半导体材料</a:t>
                      </a:r>
                      <a:endParaRPr lang="en-GB" altLang="zh-CN" sz="1300" b="0" kern="1200" dirty="0">
                        <a:solidFill>
                          <a:schemeClr val="dk1"/>
                        </a:solidFill>
                        <a:latin typeface="微软雅黑" panose="020B0503020204020204" pitchFamily="34" charset="-122"/>
                        <a:ea typeface="微软雅黑" panose="020B0503020204020204" pitchFamily="34" charset="-122"/>
                        <a:cs typeface="Arial" panose="020B0604020202020204" pitchFamily="34" charset="0"/>
                      </a:endParaRPr>
                    </a:p>
                  </a:txBody>
                  <a:tcPr marL="68067" marR="68067" marT="33992" marB="33992"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300" dirty="0">
                          <a:solidFill>
                            <a:prstClr val="black"/>
                          </a:solidFill>
                          <a:latin typeface="Arial" panose="020B0604020202020204" pitchFamily="34" charset="0"/>
                          <a:cs typeface="Arial" panose="020B0604020202020204" pitchFamily="34" charset="0"/>
                        </a:rPr>
                        <a:t>F. </a:t>
                      </a:r>
                      <a:r>
                        <a:rPr lang="de-DE" altLang="zh-CN" sz="1300" dirty="0">
                          <a:solidFill>
                            <a:prstClr val="black"/>
                          </a:solidFill>
                          <a:latin typeface="Arial" panose="020B0604020202020204" pitchFamily="34" charset="0"/>
                          <a:cs typeface="Arial" panose="020B0604020202020204" pitchFamily="34" charset="0"/>
                        </a:rPr>
                        <a:t>Gu</a:t>
                      </a:r>
                      <a:r>
                        <a:rPr lang="zh-CN" altLang="en-US" sz="1300" dirty="0">
                          <a:solidFill>
                            <a:prstClr val="black"/>
                          </a:solidFill>
                          <a:latin typeface="Arial" panose="020B0604020202020204" pitchFamily="34" charset="0"/>
                          <a:cs typeface="Arial" panose="020B0604020202020204" pitchFamily="34" charset="0"/>
                        </a:rPr>
                        <a:t>*</a:t>
                      </a:r>
                      <a:r>
                        <a:rPr lang="en-US" altLang="zh-CN" sz="1300" dirty="0">
                          <a:solidFill>
                            <a:prstClr val="black"/>
                          </a:solidFill>
                          <a:latin typeface="Arial" panose="020B0604020202020204" pitchFamily="34" charset="0"/>
                          <a:cs typeface="Arial" panose="020B0604020202020204" pitchFamily="34" charset="0"/>
                        </a:rPr>
                        <a:t>, </a:t>
                      </a:r>
                      <a:r>
                        <a:rPr lang="de-DE" altLang="zh-CN" sz="1300" dirty="0">
                          <a:solidFill>
                            <a:prstClr val="black"/>
                          </a:solidFill>
                          <a:latin typeface="Arial" panose="020B0604020202020204" pitchFamily="34" charset="0"/>
                          <a:cs typeface="Arial" panose="020B0604020202020204" pitchFamily="34" charset="0"/>
                        </a:rPr>
                        <a:t>Z. Yang</a:t>
                      </a:r>
                      <a:r>
                        <a:rPr lang="zh-CN" altLang="en-US" sz="1300" dirty="0">
                          <a:solidFill>
                            <a:prstClr val="black"/>
                          </a:solidFill>
                          <a:latin typeface="Arial" panose="020B0604020202020204" pitchFamily="34" charset="0"/>
                          <a:cs typeface="Arial" panose="020B0604020202020204" pitchFamily="34" charset="0"/>
                        </a:rPr>
                        <a:t>* </a:t>
                      </a:r>
                      <a:r>
                        <a:rPr lang="zh-CN" altLang="en-US" sz="1300" b="0" kern="1200" dirty="0">
                          <a:solidFill>
                            <a:prstClr val="black"/>
                          </a:solidFill>
                          <a:latin typeface="微软雅黑" panose="020B0503020204020204" pitchFamily="34" charset="-122"/>
                          <a:ea typeface="微软雅黑" panose="020B0503020204020204" pitchFamily="34" charset="-122"/>
                          <a:cs typeface="Arial" panose="020B0604020202020204" pitchFamily="34" charset="0"/>
                        </a:rPr>
                        <a:t>（并一）</a:t>
                      </a:r>
                      <a:r>
                        <a:rPr lang="de-DE" altLang="zh-CN" sz="1300" i="1" dirty="0">
                          <a:solidFill>
                            <a:prstClr val="black"/>
                          </a:solidFill>
                          <a:latin typeface="Arial" panose="020B0604020202020204" pitchFamily="34" charset="0"/>
                          <a:cs typeface="Arial" panose="020B0604020202020204" pitchFamily="34" charset="0"/>
                        </a:rPr>
                        <a:t>et al., </a:t>
                      </a:r>
                    </a:p>
                    <a:p>
                      <a:pPr marL="0" marR="0" lvl="0" indent="0" algn="ctr" defTabSz="914400" rtl="0" eaLnBrk="1" fontAlgn="auto" latinLnBrk="0" hangingPunct="1">
                        <a:lnSpc>
                          <a:spcPct val="100000"/>
                        </a:lnSpc>
                        <a:spcBef>
                          <a:spcPts val="0"/>
                        </a:spcBef>
                        <a:spcAft>
                          <a:spcPts val="0"/>
                        </a:spcAft>
                        <a:buClrTx/>
                        <a:buSzTx/>
                        <a:buFontTx/>
                        <a:buNone/>
                        <a:tabLst/>
                        <a:defRPr/>
                      </a:pPr>
                      <a:r>
                        <a:rPr lang="de-DE" altLang="zh-CN" sz="1300" b="1" i="1" dirty="0">
                          <a:solidFill>
                            <a:prstClr val="black"/>
                          </a:solidFill>
                          <a:latin typeface="Arial" panose="020B0604020202020204" pitchFamily="34" charset="0"/>
                          <a:cs typeface="Arial" panose="020B0604020202020204" pitchFamily="34" charset="0"/>
                        </a:rPr>
                        <a:t>J. Am. Chem. Soc. </a:t>
                      </a:r>
                      <a:r>
                        <a:rPr lang="de-DE" altLang="zh-CN" sz="1300" dirty="0">
                          <a:solidFill>
                            <a:prstClr val="black"/>
                          </a:solidFill>
                          <a:latin typeface="Arial" panose="020B0604020202020204" pitchFamily="34" charset="0"/>
                          <a:cs typeface="Arial" panose="020B0604020202020204" pitchFamily="34" charset="0"/>
                        </a:rPr>
                        <a:t>133, 2037 (2011)</a:t>
                      </a:r>
                    </a:p>
                  </a:txBody>
                  <a:tcPr marL="68067" marR="68067" marT="33992" marB="33992" anchor="ctr">
                    <a:noFill/>
                  </a:tcPr>
                </a:tc>
                <a:extLst>
                  <a:ext uri="{0D108BD9-81ED-4DB2-BD59-A6C34878D82A}">
                    <a16:rowId xmlns:a16="http://schemas.microsoft.com/office/drawing/2014/main" val="10001"/>
                  </a:ext>
                </a:extLst>
              </a:tr>
            </a:tbl>
          </a:graphicData>
        </a:graphic>
      </p:graphicFrame>
      <p:graphicFrame>
        <p:nvGraphicFramePr>
          <p:cNvPr id="5" name="Table 21">
            <a:extLst>
              <a:ext uri="{FF2B5EF4-FFF2-40B4-BE49-F238E27FC236}">
                <a16:creationId xmlns:a16="http://schemas.microsoft.com/office/drawing/2014/main" id="{30AA50A4-E70B-494E-2799-F499098BF2E6}"/>
              </a:ext>
            </a:extLst>
          </p:cNvPr>
          <p:cNvGraphicFramePr>
            <a:graphicFrameLocks noGrp="1"/>
          </p:cNvGraphicFramePr>
          <p:nvPr>
            <p:extLst>
              <p:ext uri="{D42A27DB-BD31-4B8C-83A1-F6EECF244321}">
                <p14:modId xmlns:p14="http://schemas.microsoft.com/office/powerpoint/2010/main" val="1630141844"/>
              </p:ext>
            </p:extLst>
          </p:nvPr>
        </p:nvGraphicFramePr>
        <p:xfrm>
          <a:off x="344996" y="1852478"/>
          <a:ext cx="8223951" cy="881004"/>
        </p:xfrm>
        <a:graphic>
          <a:graphicData uri="http://schemas.openxmlformats.org/drawingml/2006/table">
            <a:tbl>
              <a:tblPr/>
              <a:tblGrid>
                <a:gridCol w="480807">
                  <a:extLst>
                    <a:ext uri="{9D8B030D-6E8A-4147-A177-3AD203B41FA5}">
                      <a16:colId xmlns:a16="http://schemas.microsoft.com/office/drawing/2014/main" val="20000"/>
                    </a:ext>
                  </a:extLst>
                </a:gridCol>
                <a:gridCol w="3828747">
                  <a:extLst>
                    <a:ext uri="{9D8B030D-6E8A-4147-A177-3AD203B41FA5}">
                      <a16:colId xmlns:a16="http://schemas.microsoft.com/office/drawing/2014/main" val="20001"/>
                    </a:ext>
                  </a:extLst>
                </a:gridCol>
                <a:gridCol w="3914397">
                  <a:extLst>
                    <a:ext uri="{9D8B030D-6E8A-4147-A177-3AD203B41FA5}">
                      <a16:colId xmlns:a16="http://schemas.microsoft.com/office/drawing/2014/main" val="20002"/>
                    </a:ext>
                  </a:extLst>
                </a:gridCol>
              </a:tblGrid>
              <a:tr h="97411">
                <a:tc rowSpan="2">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光谱</a:t>
                      </a:r>
                      <a:r>
                        <a:rPr kumimoji="0" lang="zh-CN" altLang="en-US"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rPr>
                        <a:t>发光</a:t>
                      </a:r>
                      <a:endParaRPr kumimoji="0" lang="en-GB" altLang="zh-CN" sz="1300" b="1" i="0" u="none" strike="noStrike" cap="none" normalizeH="0" baseline="0" dirty="0">
                        <a:ln>
                          <a:noFill/>
                        </a:ln>
                        <a:solidFill>
                          <a:srgbClr val="C00000"/>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88523" marR="88523" marT="44262" marB="44262" anchor="ctr" horzOverflow="overflow">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ts val="600"/>
                        </a:spcAft>
                        <a:buClrTx/>
                        <a:buSzTx/>
                        <a:buFontTx/>
                        <a:buNone/>
                        <a:tabLst/>
                        <a:defRPr/>
                      </a:pPr>
                      <a:r>
                        <a:rPr kumimoji="0" lang="zh-CN" altLang="en-US" sz="1300" b="0" i="0" u="none" strike="noStrike" kern="1200"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最宽波长</a:t>
                      </a:r>
                      <a:r>
                        <a:rPr kumimoji="0" lang="zh-CN" altLang="en-US"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可调纳米激光器</a:t>
                      </a:r>
                      <a:endParaRPr kumimoji="0" lang="en-GB" altLang="zh-CN"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68060" marR="68060" marT="34046" marB="34046" anchor="ctr" horzOverflow="overflow">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ts val="600"/>
                        </a:spcAft>
                        <a:buClrTx/>
                        <a:buSzTx/>
                        <a:buFontTx/>
                        <a:buNone/>
                        <a:tabLst/>
                      </a:pPr>
                      <a:r>
                        <a:rPr kumimoji="0" lang="it-IT" altLang="zh-CN" sz="1300" b="0" i="0"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Z. Yang </a:t>
                      </a:r>
                      <a:r>
                        <a:rPr kumimoji="0" lang="it-IT" altLang="zh-CN" sz="1300" b="0" i="1"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et al., </a:t>
                      </a:r>
                      <a:r>
                        <a:rPr kumimoji="0" lang="it-IT" altLang="zh-CN" sz="1300" b="1" i="1"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Nano Lett. </a:t>
                      </a:r>
                      <a:r>
                        <a:rPr kumimoji="0" lang="it-IT" altLang="zh-CN" sz="1300" b="0" i="0"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14, 3153 (2014)</a:t>
                      </a:r>
                      <a:endParaRPr kumimoji="0" lang="zh-CN" altLang="en-US" sz="1300" b="0" i="0"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endParaRPr>
                    </a:p>
                  </a:txBody>
                  <a:tcPr marL="68060" marR="68060" marT="34046" marB="34046" anchor="ctr" horzOverflow="overflow">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4963">
                <a:tc vMerge="1">
                  <a:txBody>
                    <a:bodyPr/>
                    <a:lstStyle/>
                    <a:p>
                      <a:endParaRPr lang="zh-CN" altLang="en-US"/>
                    </a:p>
                  </a:txBody>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rPr>
                        <a:t>波长连续可调纳米激光器</a:t>
                      </a:r>
                      <a:endParaRPr kumimoji="0" lang="en-GB" altLang="zh-CN" sz="13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cs typeface="Arial" panose="020B0604020202020204" pitchFamily="34" charset="0"/>
                      </a:endParaRPr>
                    </a:p>
                  </a:txBody>
                  <a:tcPr marL="68060" marR="68060" marT="34046" marB="34046" anchor="ctr" horzOverflow="overflow">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lnTlToBr>
                      <a:noFill/>
                    </a:lnTlToBr>
                    <a:lnBlToTr>
                      <a:noFill/>
                    </a:lnBlToTr>
                    <a:no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300" b="0" i="0"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M. </a:t>
                      </a:r>
                      <a:r>
                        <a:rPr kumimoji="0" lang="de-DE" altLang="zh-CN" sz="1300" b="0" i="0"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Zhuge, Z. Yang </a:t>
                      </a:r>
                      <a:r>
                        <a:rPr kumimoji="0" lang="de-DE" altLang="zh-CN" sz="1300" b="0" i="1"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et al., </a:t>
                      </a:r>
                      <a:r>
                        <a:rPr kumimoji="0" lang="it-IT" altLang="zh-CN" sz="1300" b="1" i="1"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ACS Nano </a:t>
                      </a:r>
                      <a:r>
                        <a:rPr kumimoji="0" lang="it-IT" altLang="zh-CN" sz="1300" b="0" i="0"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rPr>
                        <a:t>13, 9965 (2019)</a:t>
                      </a:r>
                      <a:endParaRPr kumimoji="0" lang="en-US" altLang="zh-CN" sz="1300" b="0" i="0" u="none" strike="noStrike" cap="none" normalizeH="0" baseline="0" dirty="0">
                        <a:ln>
                          <a:noFill/>
                        </a:ln>
                        <a:solidFill>
                          <a:srgbClr val="000000"/>
                        </a:solidFill>
                        <a:effectLst/>
                        <a:latin typeface="Arial" panose="020B0604020202020204" pitchFamily="34" charset="0"/>
                        <a:ea typeface="+mn-ea"/>
                        <a:cs typeface="Arial" panose="020B0604020202020204" pitchFamily="34" charset="0"/>
                      </a:endParaRPr>
                    </a:p>
                  </a:txBody>
                  <a:tcPr marL="68060" marR="68060" marT="34046" marB="34046" anchor="ctr" horzOverflow="overflow">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6" name="文本框 5">
            <a:extLst>
              <a:ext uri="{FF2B5EF4-FFF2-40B4-BE49-F238E27FC236}">
                <a16:creationId xmlns:a16="http://schemas.microsoft.com/office/drawing/2014/main" id="{1F687F8B-4135-083B-EAF6-AEC7930C9858}"/>
              </a:ext>
            </a:extLst>
          </p:cNvPr>
          <p:cNvSpPr txBox="1"/>
          <p:nvPr/>
        </p:nvSpPr>
        <p:spPr>
          <a:xfrm>
            <a:off x="8703631" y="893571"/>
            <a:ext cx="436055" cy="1200329"/>
          </a:xfrm>
          <a:prstGeom prst="rect">
            <a:avLst/>
          </a:prstGeom>
          <a:noFill/>
        </p:spPr>
        <p:txBody>
          <a:bodyPr wrap="square">
            <a:spAutoFit/>
          </a:bodyPr>
          <a:lstStyle/>
          <a:p>
            <a:r>
              <a:rPr lang="zh-CN" altLang="en-US" sz="1200" kern="1200" dirty="0">
                <a:solidFill>
                  <a:schemeClr val="dk1"/>
                </a:solidFill>
                <a:latin typeface="微软雅黑" panose="020B0503020204020204" pitchFamily="34" charset="-122"/>
                <a:ea typeface="微软雅黑" panose="020B0503020204020204" pitchFamily="34" charset="-122"/>
                <a:cs typeface="Arial" panose="020B0604020202020204" pitchFamily="34" charset="0"/>
              </a:rPr>
              <a:t>浙大硕士期间</a:t>
            </a:r>
            <a:endParaRPr lang="zh-CN" altLang="en-US" sz="1200" dirty="0"/>
          </a:p>
        </p:txBody>
      </p:sp>
      <p:sp>
        <p:nvSpPr>
          <p:cNvPr id="7" name="文本框 6">
            <a:extLst>
              <a:ext uri="{FF2B5EF4-FFF2-40B4-BE49-F238E27FC236}">
                <a16:creationId xmlns:a16="http://schemas.microsoft.com/office/drawing/2014/main" id="{573DCB2D-4359-B38C-26E4-64F00F028EAD}"/>
              </a:ext>
            </a:extLst>
          </p:cNvPr>
          <p:cNvSpPr txBox="1"/>
          <p:nvPr/>
        </p:nvSpPr>
        <p:spPr>
          <a:xfrm>
            <a:off x="8707945" y="2174852"/>
            <a:ext cx="436055" cy="1200329"/>
          </a:xfrm>
          <a:prstGeom prst="rect">
            <a:avLst/>
          </a:prstGeom>
          <a:noFill/>
        </p:spPr>
        <p:txBody>
          <a:bodyPr wrap="square">
            <a:spAutoFit/>
          </a:bodyPr>
          <a:lstStyle/>
          <a:p>
            <a:r>
              <a:rPr lang="zh-CN" altLang="en-US" sz="1200" kern="1200" dirty="0">
                <a:solidFill>
                  <a:schemeClr val="dk1"/>
                </a:solidFill>
                <a:latin typeface="微软雅黑" panose="020B0503020204020204" pitchFamily="34" charset="-122"/>
                <a:ea typeface="微软雅黑" panose="020B0503020204020204" pitchFamily="34" charset="-122"/>
                <a:cs typeface="Arial" panose="020B0604020202020204" pitchFamily="34" charset="0"/>
              </a:rPr>
              <a:t>剑桥博士期间</a:t>
            </a:r>
            <a:endParaRPr lang="zh-CN" altLang="en-US" sz="1200" dirty="0"/>
          </a:p>
        </p:txBody>
      </p:sp>
      <p:sp>
        <p:nvSpPr>
          <p:cNvPr id="8" name="右大括号 7">
            <a:extLst>
              <a:ext uri="{FF2B5EF4-FFF2-40B4-BE49-F238E27FC236}">
                <a16:creationId xmlns:a16="http://schemas.microsoft.com/office/drawing/2014/main" id="{50D591D7-4D25-BF64-F124-4B8ED4092F97}"/>
              </a:ext>
            </a:extLst>
          </p:cNvPr>
          <p:cNvSpPr/>
          <p:nvPr/>
        </p:nvSpPr>
        <p:spPr>
          <a:xfrm>
            <a:off x="8659495" y="958850"/>
            <a:ext cx="73850" cy="1054099"/>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右大括号 8">
            <a:extLst>
              <a:ext uri="{FF2B5EF4-FFF2-40B4-BE49-F238E27FC236}">
                <a16:creationId xmlns:a16="http://schemas.microsoft.com/office/drawing/2014/main" id="{3E61B0ED-DD04-1B02-8EE5-DB007B5DE646}"/>
              </a:ext>
            </a:extLst>
          </p:cNvPr>
          <p:cNvSpPr/>
          <p:nvPr/>
        </p:nvSpPr>
        <p:spPr>
          <a:xfrm>
            <a:off x="8636445" y="2451100"/>
            <a:ext cx="45719" cy="57785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右大括号 9">
            <a:extLst>
              <a:ext uri="{FF2B5EF4-FFF2-40B4-BE49-F238E27FC236}">
                <a16:creationId xmlns:a16="http://schemas.microsoft.com/office/drawing/2014/main" id="{6F1522F0-4686-E8C0-5278-42A752CD927A}"/>
              </a:ext>
            </a:extLst>
          </p:cNvPr>
          <p:cNvSpPr/>
          <p:nvPr/>
        </p:nvSpPr>
        <p:spPr>
          <a:xfrm>
            <a:off x="8629781" y="3321051"/>
            <a:ext cx="73850" cy="2127249"/>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82F5F814-7E1E-BE66-C67D-8B2E2FC32369}"/>
              </a:ext>
            </a:extLst>
          </p:cNvPr>
          <p:cNvSpPr txBox="1"/>
          <p:nvPr/>
        </p:nvSpPr>
        <p:spPr>
          <a:xfrm>
            <a:off x="8707945" y="3692177"/>
            <a:ext cx="436055" cy="1384995"/>
          </a:xfrm>
          <a:prstGeom prst="rect">
            <a:avLst/>
          </a:prstGeom>
          <a:noFill/>
        </p:spPr>
        <p:txBody>
          <a:bodyPr wrap="square">
            <a:spAutoFit/>
          </a:bodyPr>
          <a:lstStyle/>
          <a:p>
            <a:r>
              <a:rPr lang="zh-CN" altLang="en-US" sz="1200" kern="1200" dirty="0">
                <a:solidFill>
                  <a:schemeClr val="dk1"/>
                </a:solidFill>
                <a:latin typeface="微软雅黑" panose="020B0503020204020204" pitchFamily="34" charset="-122"/>
                <a:ea typeface="微软雅黑" panose="020B0503020204020204" pitchFamily="34" charset="-122"/>
                <a:cs typeface="Arial" panose="020B0604020202020204" pitchFamily="34" charset="0"/>
              </a:rPr>
              <a:t>浙大独立</a:t>
            </a:r>
            <a:r>
              <a:rPr lang="en-US" altLang="zh-CN" sz="1200" kern="1200" dirty="0">
                <a:solidFill>
                  <a:schemeClr val="dk1"/>
                </a:solidFill>
                <a:latin typeface="微软雅黑" panose="020B0503020204020204" pitchFamily="34" charset="-122"/>
                <a:ea typeface="微软雅黑" panose="020B0503020204020204" pitchFamily="34" charset="-122"/>
                <a:cs typeface="Arial" panose="020B0604020202020204" pitchFamily="34" charset="0"/>
              </a:rPr>
              <a:t>PI</a:t>
            </a:r>
            <a:r>
              <a:rPr lang="zh-CN" altLang="en-US" sz="1200" kern="1200" dirty="0">
                <a:solidFill>
                  <a:schemeClr val="dk1"/>
                </a:solidFill>
                <a:latin typeface="微软雅黑" panose="020B0503020204020204" pitchFamily="34" charset="-122"/>
                <a:ea typeface="微软雅黑" panose="020B0503020204020204" pitchFamily="34" charset="-122"/>
                <a:cs typeface="Arial" panose="020B0604020202020204" pitchFamily="34" charset="0"/>
              </a:rPr>
              <a:t>成果</a:t>
            </a:r>
            <a:endParaRPr lang="zh-CN" altLang="en-US" sz="1200" dirty="0"/>
          </a:p>
        </p:txBody>
      </p:sp>
    </p:spTree>
    <p:extLst>
      <p:ext uri="{BB962C8B-B14F-4D97-AF65-F5344CB8AC3E}">
        <p14:creationId xmlns:p14="http://schemas.microsoft.com/office/powerpoint/2010/main" val="4139479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What is optoelectronics about?</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28BF51DB-2D7D-C97C-5987-D24C79EE76FC}"/>
              </a:ext>
            </a:extLst>
          </p:cNvPr>
          <p:cNvSpPr txBox="1"/>
          <p:nvPr/>
        </p:nvSpPr>
        <p:spPr>
          <a:xfrm>
            <a:off x="809538" y="680023"/>
            <a:ext cx="5237128"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(1) How does light interact with matter?</a:t>
            </a:r>
          </a:p>
        </p:txBody>
      </p:sp>
      <p:pic>
        <p:nvPicPr>
          <p:cNvPr id="7" name="图片 6">
            <a:extLst>
              <a:ext uri="{FF2B5EF4-FFF2-40B4-BE49-F238E27FC236}">
                <a16:creationId xmlns:a16="http://schemas.microsoft.com/office/drawing/2014/main" id="{494B9F30-1C35-F32A-02D9-B697C550A9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5371" y="1256783"/>
            <a:ext cx="2360331" cy="1756525"/>
          </a:xfrm>
          <a:prstGeom prst="rect">
            <a:avLst/>
          </a:prstGeom>
        </p:spPr>
      </p:pic>
      <p:sp>
        <p:nvSpPr>
          <p:cNvPr id="8" name="文本框 7">
            <a:extLst>
              <a:ext uri="{FF2B5EF4-FFF2-40B4-BE49-F238E27FC236}">
                <a16:creationId xmlns:a16="http://schemas.microsoft.com/office/drawing/2014/main" id="{48DA7E9F-FA93-51F7-B6F3-5FD39FEB9599}"/>
              </a:ext>
            </a:extLst>
          </p:cNvPr>
          <p:cNvSpPr txBox="1"/>
          <p:nvPr/>
        </p:nvSpPr>
        <p:spPr>
          <a:xfrm>
            <a:off x="809538" y="4099386"/>
            <a:ext cx="6913528"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(2) How can we create devices that manipulate light?</a:t>
            </a:r>
          </a:p>
        </p:txBody>
      </p:sp>
      <p:sp>
        <p:nvSpPr>
          <p:cNvPr id="9" name="文本框 8">
            <a:extLst>
              <a:ext uri="{FF2B5EF4-FFF2-40B4-BE49-F238E27FC236}">
                <a16:creationId xmlns:a16="http://schemas.microsoft.com/office/drawing/2014/main" id="{2EB36243-6A4E-2768-35D8-0984F031E4D5}"/>
              </a:ext>
            </a:extLst>
          </p:cNvPr>
          <p:cNvSpPr txBox="1"/>
          <p:nvPr/>
        </p:nvSpPr>
        <p:spPr>
          <a:xfrm>
            <a:off x="809538" y="4546761"/>
            <a:ext cx="7998902" cy="1631216"/>
          </a:xfrm>
          <a:prstGeom prst="rect">
            <a:avLst/>
          </a:prstGeom>
          <a:noFill/>
        </p:spPr>
        <p:txBody>
          <a:bodyPr wrap="square" rtlCol="0">
            <a:spAutoFit/>
          </a:bodyPr>
          <a:lstStyle/>
          <a:p>
            <a:pPr algn="just"/>
            <a:r>
              <a:rPr lang="en-US" sz="2000" dirty="0">
                <a:latin typeface="Arial" panose="020B0604020202020204" pitchFamily="34" charset="0"/>
                <a:cs typeface="Arial" panose="020B0604020202020204" pitchFamily="34" charset="0"/>
              </a:rPr>
              <a:t>Optoelectronics is the communication between optics and electronics, includes the study of hardware that converts electrical energy into light </a:t>
            </a:r>
            <a:r>
              <a:rPr lang="en-US" altLang="zh-CN" sz="2000" dirty="0">
                <a:latin typeface="Arial" panose="020B0604020202020204" pitchFamily="34" charset="0"/>
                <a:cs typeface="Arial" panose="020B0604020202020204" pitchFamily="34" charset="0"/>
              </a:rPr>
              <a:t>or</a:t>
            </a:r>
            <a:r>
              <a:rPr lang="en-US" sz="2000" dirty="0">
                <a:latin typeface="Arial" panose="020B0604020202020204" pitchFamily="34" charset="0"/>
                <a:cs typeface="Arial" panose="020B0604020202020204" pitchFamily="34" charset="0"/>
              </a:rPr>
              <a:t> light into energy. For example, </a:t>
            </a:r>
            <a:r>
              <a:rPr lang="en-US" sz="2000" b="1" dirty="0">
                <a:latin typeface="Arial" panose="020B0604020202020204" pitchFamily="34" charset="0"/>
                <a:cs typeface="Arial" panose="020B0604020202020204" pitchFamily="34" charset="0"/>
              </a:rPr>
              <a:t>LED lighting</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laser</a:t>
            </a:r>
            <a:r>
              <a:rPr lang="en-US" sz="2000" dirty="0">
                <a:latin typeface="Arial" panose="020B0604020202020204" pitchFamily="34" charset="0"/>
                <a:cs typeface="Arial" panose="020B0604020202020204" pitchFamily="34" charset="0"/>
              </a:rPr>
              <a:t> systems, </a:t>
            </a:r>
            <a:r>
              <a:rPr lang="en-US" sz="2000" b="1" dirty="0">
                <a:latin typeface="Arial" panose="020B0604020202020204" pitchFamily="34" charset="0"/>
                <a:cs typeface="Arial" panose="020B0604020202020204" pitchFamily="34" charset="0"/>
              </a:rPr>
              <a:t>fiber optic </a:t>
            </a:r>
            <a:r>
              <a:rPr lang="en-US" sz="2000" dirty="0">
                <a:latin typeface="Arial" panose="020B0604020202020204" pitchFamily="34" charset="0"/>
                <a:cs typeface="Arial" panose="020B0604020202020204" pitchFamily="34" charset="0"/>
              </a:rPr>
              <a:t>communications, </a:t>
            </a:r>
            <a:r>
              <a:rPr lang="en-US" sz="2000" b="1" dirty="0">
                <a:latin typeface="Arial" panose="020B0604020202020204" pitchFamily="34" charset="0"/>
                <a:cs typeface="Arial" panose="020B0604020202020204" pitchFamily="34" charset="0"/>
              </a:rPr>
              <a:t>photovoltaic</a:t>
            </a:r>
            <a:r>
              <a:rPr lang="en-US" sz="2000" dirty="0">
                <a:latin typeface="Arial" panose="020B0604020202020204" pitchFamily="34" charset="0"/>
                <a:cs typeface="Arial" panose="020B0604020202020204" pitchFamily="34" charset="0"/>
              </a:rPr>
              <a:t> (solar) systems, optical </a:t>
            </a:r>
            <a:r>
              <a:rPr lang="en-US" sz="2000" b="1" dirty="0">
                <a:latin typeface="Arial" panose="020B0604020202020204" pitchFamily="34" charset="0"/>
                <a:cs typeface="Arial" panose="020B0604020202020204" pitchFamily="34" charset="0"/>
              </a:rPr>
              <a:t>detectors</a:t>
            </a:r>
            <a:r>
              <a:rPr lang="en-US" sz="2000" dirty="0">
                <a:latin typeface="Arial" panose="020B0604020202020204" pitchFamily="34" charset="0"/>
                <a:cs typeface="Arial" panose="020B0604020202020204" pitchFamily="34" charset="0"/>
              </a:rPr>
              <a:t> that can source, detect, and control light. </a:t>
            </a:r>
          </a:p>
        </p:txBody>
      </p:sp>
      <p:sp>
        <p:nvSpPr>
          <p:cNvPr id="2" name="文本框 1">
            <a:extLst>
              <a:ext uri="{FF2B5EF4-FFF2-40B4-BE49-F238E27FC236}">
                <a16:creationId xmlns:a16="http://schemas.microsoft.com/office/drawing/2014/main" id="{AA1F621C-BAD8-678F-126C-65E435044715}"/>
              </a:ext>
            </a:extLst>
          </p:cNvPr>
          <p:cNvSpPr txBox="1"/>
          <p:nvPr/>
        </p:nvSpPr>
        <p:spPr>
          <a:xfrm>
            <a:off x="5567609" y="2135045"/>
            <a:ext cx="986863" cy="307777"/>
          </a:xfrm>
          <a:prstGeom prst="rect">
            <a:avLst/>
          </a:prstGeom>
          <a:noFill/>
        </p:spPr>
        <p:txBody>
          <a:bodyPr wrap="square" rtlCol="0">
            <a:spAutoFit/>
          </a:bodyPr>
          <a:lstStyle/>
          <a:p>
            <a:r>
              <a:rPr lang="en-US" altLang="zh-CN" sz="1400" dirty="0">
                <a:latin typeface="Arial" panose="020B0604020202020204" pitchFamily="34" charset="0"/>
                <a:cs typeface="Arial" panose="020B0604020202020204" pitchFamily="34" charset="0"/>
              </a:rPr>
              <a:t>Emission</a:t>
            </a:r>
            <a:endParaRPr lang="en-US" sz="1400" dirty="0">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B522A7E9-7385-EEF2-F411-051D9F3DD51A}"/>
              </a:ext>
            </a:extLst>
          </p:cNvPr>
          <p:cNvSpPr txBox="1"/>
          <p:nvPr/>
        </p:nvSpPr>
        <p:spPr>
          <a:xfrm>
            <a:off x="809538" y="3136807"/>
            <a:ext cx="7998902" cy="707886"/>
          </a:xfrm>
          <a:prstGeom prst="rect">
            <a:avLst/>
          </a:prstGeom>
          <a:noFill/>
        </p:spPr>
        <p:txBody>
          <a:bodyPr wrap="square" rtlCol="0">
            <a:spAutoFit/>
          </a:bodyPr>
          <a:lstStyle/>
          <a:p>
            <a:r>
              <a:rPr lang="en-US" altLang="zh-CN" sz="2000" dirty="0">
                <a:latin typeface="Arial" panose="020B0604020202020204" pitchFamily="34" charset="0"/>
                <a:cs typeface="Arial" panose="020B0604020202020204" pitchFamily="34" charset="0"/>
              </a:rPr>
              <a:t>Governed by </a:t>
            </a:r>
            <a:r>
              <a:rPr lang="en-US" altLang="zh-CN" sz="2000" b="1" dirty="0">
                <a:latin typeface="Arial" panose="020B0604020202020204" pitchFamily="34" charset="0"/>
                <a:cs typeface="Arial" panose="020B0604020202020204" pitchFamily="34" charset="0"/>
              </a:rPr>
              <a:t>Schrödinger equation</a:t>
            </a:r>
            <a:r>
              <a:rPr lang="en-US" altLang="zh-CN" sz="2000"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Maxwell’s equations </a:t>
            </a:r>
            <a:r>
              <a:rPr lang="en-US" altLang="zh-CN" sz="2000" dirty="0">
                <a:latin typeface="Arial" panose="020B0604020202020204" pitchFamily="34" charset="0"/>
                <a:cs typeface="Arial" panose="020B0604020202020204" pitchFamily="34" charset="0"/>
              </a:rPr>
              <a:t>and </a:t>
            </a:r>
            <a:r>
              <a:rPr lang="en-US" altLang="zh-CN" sz="2000" b="1" dirty="0">
                <a:latin typeface="Arial" panose="020B0604020202020204" pitchFamily="34" charset="0"/>
                <a:cs typeface="Arial" panose="020B0604020202020204" pitchFamily="34" charset="0"/>
              </a:rPr>
              <a:t>semiconductor equations </a:t>
            </a:r>
            <a:r>
              <a:rPr lang="en-US" altLang="zh-CN" sz="2000" dirty="0">
                <a:latin typeface="Arial" panose="020B0604020202020204" pitchFamily="34" charset="0"/>
                <a:cs typeface="Arial" panose="020B0604020202020204" pitchFamily="34" charset="0"/>
              </a:rPr>
              <a:t>and so on.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0803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Why do we learn optoelectronics?</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28BF51DB-2D7D-C97C-5987-D24C79EE76FC}"/>
              </a:ext>
            </a:extLst>
          </p:cNvPr>
          <p:cNvSpPr txBox="1"/>
          <p:nvPr/>
        </p:nvSpPr>
        <p:spPr>
          <a:xfrm>
            <a:off x="410632" y="676365"/>
            <a:ext cx="8322732" cy="1015663"/>
          </a:xfrm>
          <a:prstGeom prst="rect">
            <a:avLst/>
          </a:prstGeom>
          <a:noFill/>
        </p:spPr>
        <p:txBody>
          <a:bodyPr wrap="square" rtlCol="0">
            <a:spAutoFit/>
          </a:bodyPr>
          <a:lstStyle/>
          <a:p>
            <a:pPr algn="just"/>
            <a:r>
              <a:rPr lang="en-US" sz="2000" dirty="0">
                <a:latin typeface="Arial" panose="020B0604020202020204" pitchFamily="34" charset="0"/>
                <a:ea typeface="微软雅黑" panose="020B0503020204020204" pitchFamily="34" charset="-122"/>
                <a:cs typeface="Arial" panose="020B0604020202020204" pitchFamily="34" charset="0"/>
              </a:rPr>
              <a:t>(1) </a:t>
            </a:r>
            <a:r>
              <a:rPr lang="en-US" altLang="zh-CN" sz="2000" b="1" dirty="0">
                <a:latin typeface="Arial" panose="020B0604020202020204" pitchFamily="34" charset="0"/>
                <a:ea typeface="微软雅黑" panose="020B0503020204020204" pitchFamily="34" charset="-122"/>
                <a:cs typeface="Arial" panose="020B0604020202020204" pitchFamily="34" charset="0"/>
              </a:rPr>
              <a:t>Faster:</a:t>
            </a:r>
            <a:r>
              <a:rPr lang="zh-CN" altLang="en-US" sz="2000" b="1" dirty="0">
                <a:latin typeface="Arial" panose="020B0604020202020204" pitchFamily="34" charset="0"/>
                <a:ea typeface="微软雅黑" panose="020B0503020204020204" pitchFamily="34" charset="-122"/>
                <a:cs typeface="Arial" panose="020B0604020202020204" pitchFamily="34" charset="0"/>
              </a:rPr>
              <a:t> </a:t>
            </a:r>
            <a:r>
              <a:rPr lang="en-US" sz="2000" dirty="0">
                <a:latin typeface="Arial" panose="020B0604020202020204" pitchFamily="34" charset="0"/>
                <a:ea typeface="微软雅黑" panose="020B0503020204020204" pitchFamily="34" charset="-122"/>
                <a:cs typeface="Arial" panose="020B0604020202020204" pitchFamily="34" charset="0"/>
              </a:rPr>
              <a:t>The frequency of light waves is much higher than that of microwaves, so optoelectronic communication has a higher bandwidth than microwave communication. </a:t>
            </a:r>
          </a:p>
        </p:txBody>
      </p:sp>
      <p:sp>
        <p:nvSpPr>
          <p:cNvPr id="8" name="文本框 7">
            <a:extLst>
              <a:ext uri="{FF2B5EF4-FFF2-40B4-BE49-F238E27FC236}">
                <a16:creationId xmlns:a16="http://schemas.microsoft.com/office/drawing/2014/main" id="{48DA7E9F-FA93-51F7-B6F3-5FD39FEB9599}"/>
              </a:ext>
            </a:extLst>
          </p:cNvPr>
          <p:cNvSpPr txBox="1"/>
          <p:nvPr/>
        </p:nvSpPr>
        <p:spPr>
          <a:xfrm>
            <a:off x="410632" y="1735805"/>
            <a:ext cx="8322733" cy="1631216"/>
          </a:xfrm>
          <a:prstGeom prst="rect">
            <a:avLst/>
          </a:prstGeom>
          <a:noFill/>
        </p:spPr>
        <p:txBody>
          <a:bodyPr wrap="square" rtlCol="0">
            <a:spAutoFit/>
          </a:bodyPr>
          <a:lstStyle/>
          <a:p>
            <a:pPr algn="just"/>
            <a:r>
              <a:rPr lang="en-US" sz="2000" dirty="0">
                <a:latin typeface="Arial" panose="020B0604020202020204" pitchFamily="34" charset="0"/>
                <a:cs typeface="Arial" panose="020B0604020202020204" pitchFamily="34" charset="0"/>
              </a:rPr>
              <a:t>(2) </a:t>
            </a:r>
            <a:r>
              <a:rPr lang="en-US" sz="2000" b="1" dirty="0">
                <a:latin typeface="Arial" panose="020B0604020202020204" pitchFamily="34" charset="0"/>
                <a:cs typeface="Arial" panose="020B0604020202020204" pitchFamily="34" charset="0"/>
              </a:rPr>
              <a:t>Smaller: </a:t>
            </a:r>
            <a:r>
              <a:rPr lang="en-US" sz="2000" dirty="0">
                <a:latin typeface="Arial" panose="020B0604020202020204" pitchFamily="34" charset="0"/>
                <a:cs typeface="Arial" panose="020B0604020202020204" pitchFamily="34" charset="0"/>
              </a:rPr>
              <a:t>Optoelectronic devices are typically smaller than microwave devices because they operate at much higher frequencies and use much smaller wavelengths. This enables optoelectronic devices to be much smaller in size than microwave devices, which typically operate at lower frequencies and use longer wavelengths.</a:t>
            </a:r>
          </a:p>
        </p:txBody>
      </p:sp>
      <p:sp>
        <p:nvSpPr>
          <p:cNvPr id="3" name="文本框 2">
            <a:extLst>
              <a:ext uri="{FF2B5EF4-FFF2-40B4-BE49-F238E27FC236}">
                <a16:creationId xmlns:a16="http://schemas.microsoft.com/office/drawing/2014/main" id="{B740343D-A1F7-0720-0C48-FE59C284399B}"/>
              </a:ext>
            </a:extLst>
          </p:cNvPr>
          <p:cNvSpPr txBox="1"/>
          <p:nvPr/>
        </p:nvSpPr>
        <p:spPr>
          <a:xfrm>
            <a:off x="410632" y="4788695"/>
            <a:ext cx="8322733" cy="1631216"/>
          </a:xfrm>
          <a:prstGeom prst="rect">
            <a:avLst/>
          </a:prstGeom>
          <a:noFill/>
        </p:spPr>
        <p:txBody>
          <a:bodyPr wrap="square" rtlCol="0">
            <a:spAutoFit/>
          </a:bodyPr>
          <a:lstStyle/>
          <a:p>
            <a:pPr algn="just"/>
            <a:r>
              <a:rPr lang="en-US" sz="2000" dirty="0">
                <a:latin typeface="Arial" panose="020B0604020202020204" pitchFamily="34" charset="0"/>
                <a:cs typeface="Arial" panose="020B0604020202020204" pitchFamily="34" charset="0"/>
              </a:rPr>
              <a:t>(4) </a:t>
            </a:r>
            <a:r>
              <a:rPr lang="en-US" sz="2000" b="1" dirty="0">
                <a:latin typeface="Arial" panose="020B0604020202020204" pitchFamily="34" charset="0"/>
                <a:cs typeface="Arial" panose="020B0604020202020204" pitchFamily="34" charset="0"/>
              </a:rPr>
              <a:t>Cutting-edge: </a:t>
            </a:r>
            <a:r>
              <a:rPr lang="en-US" sz="2000" dirty="0">
                <a:latin typeface="Arial" panose="020B0604020202020204" pitchFamily="34" charset="0"/>
                <a:cs typeface="Arial" panose="020B0604020202020204" pitchFamily="34" charset="0"/>
              </a:rPr>
              <a:t>Optoelectronics is a relatively new field with many opportunities for innovation and discovery. Researchers are exploring new materials, devices, and techniques for improving the performance and efficiency of optoelectronic systems, which can lead to new applications and markets.</a:t>
            </a:r>
          </a:p>
        </p:txBody>
      </p:sp>
      <p:sp>
        <p:nvSpPr>
          <p:cNvPr id="2" name="文本框 1">
            <a:extLst>
              <a:ext uri="{FF2B5EF4-FFF2-40B4-BE49-F238E27FC236}">
                <a16:creationId xmlns:a16="http://schemas.microsoft.com/office/drawing/2014/main" id="{5AB6C32A-A07A-DEC3-4AF1-1B7A134FBE36}"/>
              </a:ext>
            </a:extLst>
          </p:cNvPr>
          <p:cNvSpPr txBox="1"/>
          <p:nvPr/>
        </p:nvSpPr>
        <p:spPr>
          <a:xfrm>
            <a:off x="410631" y="3410798"/>
            <a:ext cx="8322733" cy="1323439"/>
          </a:xfrm>
          <a:prstGeom prst="rect">
            <a:avLst/>
          </a:prstGeom>
          <a:noFill/>
        </p:spPr>
        <p:txBody>
          <a:bodyPr wrap="square" rtlCol="0">
            <a:spAutoFit/>
          </a:bodyPr>
          <a:lstStyle/>
          <a:p>
            <a:pPr algn="just"/>
            <a:r>
              <a:rPr lang="en-US" sz="2000" dirty="0">
                <a:latin typeface="Arial" panose="020B0604020202020204" pitchFamily="34" charset="0"/>
                <a:cs typeface="Arial" panose="020B0604020202020204" pitchFamily="34" charset="0"/>
              </a:rPr>
              <a:t>(3) </a:t>
            </a:r>
            <a:r>
              <a:rPr lang="en-US" altLang="zh-CN" sz="2000" b="1" dirty="0">
                <a:latin typeface="Arial" panose="020B0604020202020204" pitchFamily="34" charset="0"/>
                <a:cs typeface="Arial" panose="020B0604020202020204" pitchFamily="34" charset="0"/>
              </a:rPr>
              <a:t>Energy efficiency</a:t>
            </a:r>
            <a:r>
              <a:rPr lang="en-US" sz="2000" b="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Light-emitting diodes (LEDs) are optoelectronic devices that have revolutionized lighting by offering significantly higher energy efficiency and longer lifespans compared to traditional incandescent and fluorescent lighting. </a:t>
            </a:r>
          </a:p>
        </p:txBody>
      </p:sp>
    </p:spTree>
    <p:extLst>
      <p:ext uri="{BB962C8B-B14F-4D97-AF65-F5344CB8AC3E}">
        <p14:creationId xmlns:p14="http://schemas.microsoft.com/office/powerpoint/2010/main" val="25094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Tips on how to learn effectively</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文本框 2">
            <a:extLst>
              <a:ext uri="{FF2B5EF4-FFF2-40B4-BE49-F238E27FC236}">
                <a16:creationId xmlns:a16="http://schemas.microsoft.com/office/drawing/2014/main" id="{60002C3C-1DB9-D68D-35A1-FD1FB69FF8D3}"/>
              </a:ext>
            </a:extLst>
          </p:cNvPr>
          <p:cNvSpPr txBox="1"/>
          <p:nvPr/>
        </p:nvSpPr>
        <p:spPr>
          <a:xfrm>
            <a:off x="457200" y="637735"/>
            <a:ext cx="8586132" cy="5863144"/>
          </a:xfrm>
          <a:prstGeom prst="rect">
            <a:avLst/>
          </a:prstGeom>
          <a:noFill/>
        </p:spPr>
        <p:txBody>
          <a:bodyPr wrap="square">
            <a:spAutoFit/>
          </a:bodyPr>
          <a:lstStyle/>
          <a:p>
            <a:pPr algn="just">
              <a:spcAft>
                <a:spcPts val="600"/>
              </a:spcAft>
            </a:pPr>
            <a:r>
              <a:rPr lang="en-US" altLang="zh-CN" sz="2000" b="1" dirty="0">
                <a:latin typeface="Arial" panose="020B0604020202020204" pitchFamily="34" charset="0"/>
                <a:cs typeface="Arial" panose="020B0604020202020204" pitchFamily="34" charset="0"/>
              </a:rPr>
              <a:t>1.Break down the concepts: </a:t>
            </a:r>
            <a:r>
              <a:rPr lang="en-US" altLang="zh-CN" sz="2000" dirty="0">
                <a:latin typeface="Arial" panose="020B0604020202020204" pitchFamily="34" charset="0"/>
                <a:cs typeface="Arial" panose="020B0604020202020204" pitchFamily="34" charset="0"/>
              </a:rPr>
              <a:t>Breaking down the concept into smaller parts can make it easier to understand. Try to identify the key components of the concept and how they relate to each other.</a:t>
            </a:r>
            <a:endParaRPr lang="en-US" altLang="zh-CN" sz="2000" b="1" dirty="0">
              <a:latin typeface="Arial" panose="020B0604020202020204" pitchFamily="34" charset="0"/>
              <a:cs typeface="Arial" panose="020B0604020202020204" pitchFamily="34" charset="0"/>
            </a:endParaRPr>
          </a:p>
          <a:p>
            <a:pPr algn="just">
              <a:spcAft>
                <a:spcPts val="600"/>
              </a:spcAft>
            </a:pPr>
            <a:r>
              <a:rPr lang="en-US" altLang="zh-CN" sz="2000" b="1" dirty="0">
                <a:latin typeface="Arial" panose="020B0604020202020204" pitchFamily="34" charset="0"/>
                <a:cs typeface="Arial" panose="020B0604020202020204" pitchFamily="34" charset="0"/>
              </a:rPr>
              <a:t>2.Learning the history of physics: </a:t>
            </a:r>
            <a:r>
              <a:rPr lang="en-US" altLang="zh-CN" sz="2000" dirty="0">
                <a:latin typeface="Arial" panose="020B0604020202020204" pitchFamily="34" charset="0"/>
                <a:cs typeface="Arial" panose="020B0604020202020204" pitchFamily="34" charset="0"/>
              </a:rPr>
              <a:t>This can be a fascinating and enriching way to understand physics concepts. Knowing the history of physics allows you to understand the context in which the concepts were developed, and you can see how the concepts fit together into a bigger picture. You can understand the connections between different concepts and how they relate to each other. </a:t>
            </a:r>
            <a:r>
              <a:rPr lang="zh-CN" altLang="en-US" sz="2000" dirty="0">
                <a:latin typeface="Arial" panose="020B0604020202020204" pitchFamily="34" charset="0"/>
                <a:cs typeface="Arial" panose="020B0604020202020204" pitchFamily="34" charset="0"/>
              </a:rPr>
              <a:t>点到面。</a:t>
            </a:r>
            <a:endParaRPr lang="en-US" altLang="zh-CN" sz="2000" b="1" dirty="0">
              <a:latin typeface="Arial" panose="020B0604020202020204" pitchFamily="34" charset="0"/>
              <a:cs typeface="Arial" panose="020B0604020202020204" pitchFamily="34" charset="0"/>
            </a:endParaRPr>
          </a:p>
          <a:p>
            <a:pPr algn="just">
              <a:spcAft>
                <a:spcPts val="600"/>
              </a:spcAft>
            </a:pPr>
            <a:r>
              <a:rPr lang="en-US" altLang="zh-CN" sz="2000" b="1" dirty="0">
                <a:latin typeface="Arial" panose="020B0604020202020204" pitchFamily="34" charset="0"/>
                <a:cs typeface="Arial" panose="020B0604020202020204" pitchFamily="34" charset="0"/>
              </a:rPr>
              <a:t>3.Use multiple sources: </a:t>
            </a:r>
            <a:r>
              <a:rPr lang="en-US" altLang="zh-CN" sz="2000" dirty="0">
                <a:latin typeface="Arial" panose="020B0604020202020204" pitchFamily="34" charset="0"/>
                <a:cs typeface="Arial" panose="020B0604020202020204" pitchFamily="34" charset="0"/>
              </a:rPr>
              <a:t>Use multiple sources such as textbooks, online AI,</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resources (</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知乎</a:t>
            </a:r>
            <a:r>
              <a:rPr lang="en-US" altLang="zh-CN" sz="2000" dirty="0">
                <a:latin typeface="Arial" panose="020B0604020202020204" pitchFamily="34" charset="0"/>
                <a:cs typeface="Arial" panose="020B0604020202020204" pitchFamily="34" charset="0"/>
              </a:rPr>
              <a:t>) , video tutorials (</a:t>
            </a:r>
            <a:r>
              <a:rPr lang="en-US" altLang="zh-CN" sz="2000" dirty="0" err="1">
                <a:latin typeface="Arial" panose="020B0604020202020204" pitchFamily="34" charset="0"/>
                <a:cs typeface="Arial" panose="020B0604020202020204" pitchFamily="34" charset="0"/>
              </a:rPr>
              <a:t>Youtube</a:t>
            </a:r>
            <a:r>
              <a:rPr lang="en-US" altLang="zh-CN" sz="2000" dirty="0">
                <a:latin typeface="Arial" panose="020B0604020202020204" pitchFamily="34" charset="0"/>
                <a:cs typeface="Arial" panose="020B0604020202020204" pitchFamily="34" charset="0"/>
              </a:rPr>
              <a:t>), and peer-reviewed articles to gain a comprehensive understanding.</a:t>
            </a:r>
          </a:p>
          <a:p>
            <a:pPr algn="just"/>
            <a:r>
              <a:rPr lang="en-US" altLang="zh-CN" sz="2000" b="1" dirty="0">
                <a:latin typeface="Arial" panose="020B0604020202020204" pitchFamily="34" charset="0"/>
                <a:cs typeface="Arial" panose="020B0604020202020204" pitchFamily="34" charset="0"/>
              </a:rPr>
              <a:t>4.Practice with hands-on projects: </a:t>
            </a:r>
            <a:r>
              <a:rPr lang="en-US" altLang="zh-CN" sz="2000" dirty="0">
                <a:latin typeface="Arial" panose="020B0604020202020204" pitchFamily="34" charset="0"/>
                <a:cs typeface="Arial" panose="020B0604020202020204" pitchFamily="34" charset="0"/>
              </a:rPr>
              <a:t>Optoelectronics is a hands-on field, and the best way to learn is by doing. You can start by building simple circuits and devices, such as LED flashlights, photodiode sensors, and fiber optic communication systems. As you gain more experience, you can work on more advanced projects.</a:t>
            </a:r>
          </a:p>
          <a:p>
            <a:pPr algn="just"/>
            <a:endParaRPr lang="en-US" altLang="zh-C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9980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Goals of the course</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文本框 2">
            <a:extLst>
              <a:ext uri="{FF2B5EF4-FFF2-40B4-BE49-F238E27FC236}">
                <a16:creationId xmlns:a16="http://schemas.microsoft.com/office/drawing/2014/main" id="{60002C3C-1DB9-D68D-35A1-FD1FB69FF8D3}"/>
              </a:ext>
            </a:extLst>
          </p:cNvPr>
          <p:cNvSpPr txBox="1"/>
          <p:nvPr/>
        </p:nvSpPr>
        <p:spPr>
          <a:xfrm>
            <a:off x="1261418" y="1769448"/>
            <a:ext cx="6834832" cy="707886"/>
          </a:xfrm>
          <a:prstGeom prst="rect">
            <a:avLst/>
          </a:prstGeom>
          <a:noFill/>
        </p:spPr>
        <p:txBody>
          <a:bodyPr wrap="square">
            <a:spAutoFit/>
          </a:bodyPr>
          <a:lstStyle/>
          <a:p>
            <a:pPr algn="just"/>
            <a:r>
              <a:rPr lang="en-US" altLang="zh-CN" sz="2000" b="1" dirty="0">
                <a:latin typeface="Arial" panose="020B0604020202020204" pitchFamily="34" charset="0"/>
                <a:cs typeface="Arial" panose="020B0604020202020204" pitchFamily="34" charset="0"/>
              </a:rPr>
              <a:t>1. Learn the big picture of optics and electronics easily</a:t>
            </a:r>
          </a:p>
          <a:p>
            <a:pPr algn="ctr"/>
            <a:r>
              <a:rPr lang="zh-CN" altLang="en-US" sz="2000" b="1" dirty="0">
                <a:latin typeface="Arial" panose="020B0604020202020204" pitchFamily="34" charset="0"/>
                <a:cs typeface="Arial" panose="020B0604020202020204" pitchFamily="34" charset="0"/>
              </a:rPr>
              <a:t>草履虫也能听懂</a:t>
            </a:r>
            <a:endParaRPr lang="en-US" altLang="zh-CN" sz="2000" b="1" dirty="0">
              <a:latin typeface="Arial" panose="020B0604020202020204" pitchFamily="34" charset="0"/>
              <a:cs typeface="Arial" panose="020B0604020202020204" pitchFamily="34" charset="0"/>
            </a:endParaRPr>
          </a:p>
        </p:txBody>
      </p:sp>
      <p:sp>
        <p:nvSpPr>
          <p:cNvPr id="2" name="文本框 1">
            <a:extLst>
              <a:ext uri="{FF2B5EF4-FFF2-40B4-BE49-F238E27FC236}">
                <a16:creationId xmlns:a16="http://schemas.microsoft.com/office/drawing/2014/main" id="{AC97ADC6-64DE-59FB-257F-5EF624CF8194}"/>
              </a:ext>
            </a:extLst>
          </p:cNvPr>
          <p:cNvSpPr txBox="1"/>
          <p:nvPr/>
        </p:nvSpPr>
        <p:spPr>
          <a:xfrm>
            <a:off x="1261418" y="2987162"/>
            <a:ext cx="6589279" cy="400110"/>
          </a:xfrm>
          <a:prstGeom prst="rect">
            <a:avLst/>
          </a:prstGeom>
          <a:noFill/>
        </p:spPr>
        <p:txBody>
          <a:bodyPr wrap="square">
            <a:spAutoFit/>
          </a:bodyPr>
          <a:lstStyle/>
          <a:p>
            <a:pPr algn="ctr"/>
            <a:r>
              <a:rPr lang="en-US" altLang="zh-CN" sz="2000" b="1" dirty="0">
                <a:latin typeface="Arial" panose="020B0604020202020204" pitchFamily="34" charset="0"/>
                <a:cs typeface="Arial" panose="020B0604020202020204" pitchFamily="34" charset="0"/>
              </a:rPr>
              <a:t>2. Learn the simulation software</a:t>
            </a:r>
          </a:p>
        </p:txBody>
      </p:sp>
      <p:sp>
        <p:nvSpPr>
          <p:cNvPr id="4" name="文本框 3">
            <a:extLst>
              <a:ext uri="{FF2B5EF4-FFF2-40B4-BE49-F238E27FC236}">
                <a16:creationId xmlns:a16="http://schemas.microsoft.com/office/drawing/2014/main" id="{B6E57951-6240-16BB-B2A4-DC57CA093D5A}"/>
              </a:ext>
            </a:extLst>
          </p:cNvPr>
          <p:cNvSpPr txBox="1"/>
          <p:nvPr/>
        </p:nvSpPr>
        <p:spPr>
          <a:xfrm>
            <a:off x="1312218" y="4009512"/>
            <a:ext cx="6936432" cy="400110"/>
          </a:xfrm>
          <a:prstGeom prst="rect">
            <a:avLst/>
          </a:prstGeom>
          <a:noFill/>
        </p:spPr>
        <p:txBody>
          <a:bodyPr wrap="square">
            <a:spAutoFit/>
          </a:bodyPr>
          <a:lstStyle/>
          <a:p>
            <a:pPr algn="ctr"/>
            <a:r>
              <a:rPr lang="en-US" altLang="zh-CN" sz="2000" b="1" dirty="0">
                <a:latin typeface="Arial" panose="020B0604020202020204" pitchFamily="34" charset="0"/>
                <a:cs typeface="Arial" panose="020B0604020202020204" pitchFamily="34" charset="0"/>
              </a:rPr>
              <a:t>3. Learn how</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to</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give</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a</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presentation and write a report</a:t>
            </a:r>
          </a:p>
        </p:txBody>
      </p:sp>
    </p:spTree>
    <p:extLst>
      <p:ext uri="{BB962C8B-B14F-4D97-AF65-F5344CB8AC3E}">
        <p14:creationId xmlns:p14="http://schemas.microsoft.com/office/powerpoint/2010/main" val="3137658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Syllabus</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文本框 2">
            <a:extLst>
              <a:ext uri="{FF2B5EF4-FFF2-40B4-BE49-F238E27FC236}">
                <a16:creationId xmlns:a16="http://schemas.microsoft.com/office/drawing/2014/main" id="{60002C3C-1DB9-D68D-35A1-FD1FB69FF8D3}"/>
              </a:ext>
            </a:extLst>
          </p:cNvPr>
          <p:cNvSpPr txBox="1"/>
          <p:nvPr/>
        </p:nvSpPr>
        <p:spPr>
          <a:xfrm>
            <a:off x="476326" y="881594"/>
            <a:ext cx="8322732" cy="5016758"/>
          </a:xfrm>
          <a:prstGeom prst="rect">
            <a:avLst/>
          </a:prstGeom>
          <a:noFill/>
        </p:spPr>
        <p:txBody>
          <a:bodyPr wrap="square">
            <a:spAutoFit/>
          </a:bodyPr>
          <a:lstStyle/>
          <a:p>
            <a:pPr algn="just">
              <a:spcBef>
                <a:spcPts val="600"/>
              </a:spcBef>
            </a:pPr>
            <a:r>
              <a:rPr lang="en-US" altLang="zh-CN" sz="2000" b="1" dirty="0">
                <a:latin typeface="Arial" panose="020B0604020202020204" pitchFamily="34" charset="0"/>
                <a:cs typeface="Arial" panose="020B0604020202020204" pitchFamily="34" charset="0"/>
              </a:rPr>
              <a:t>1. Foundational Knowledge in Physics and Mathematics: </a:t>
            </a:r>
            <a:r>
              <a:rPr lang="en-US" altLang="zh-CN" sz="2000" dirty="0">
                <a:latin typeface="Arial" panose="020B0604020202020204" pitchFamily="34" charset="0"/>
                <a:cs typeface="Arial" panose="020B0604020202020204" pitchFamily="34" charset="0"/>
              </a:rPr>
              <a:t>Euler‘s formula</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Fourier transform</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Maxwell’s equations</a:t>
            </a:r>
            <a:r>
              <a:rPr lang="zh-CN" altLang="en-US" sz="2000" dirty="0">
                <a:latin typeface="Arial" panose="020B0604020202020204" pitchFamily="34" charset="0"/>
                <a:cs typeface="Arial" panose="020B0604020202020204" pitchFamily="34" charset="0"/>
              </a:rPr>
              <a:t>，</a:t>
            </a:r>
            <a:r>
              <a:rPr lang="en-US" altLang="zh-CN" sz="2000" dirty="0">
                <a:latin typeface="Arial" panose="020B0604020202020204" pitchFamily="34" charset="0"/>
                <a:cs typeface="Arial" panose="020B0604020202020204" pitchFamily="34" charset="0"/>
              </a:rPr>
              <a:t>Schrödinger equation,</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Band structures and so on. This forms the base for understanding how light interacts with electronic devices.</a:t>
            </a:r>
          </a:p>
          <a:p>
            <a:pPr algn="just"/>
            <a:endParaRPr lang="en-US" altLang="zh-CN" sz="2000" dirty="0">
              <a:latin typeface="Arial" panose="020B0604020202020204" pitchFamily="34" charset="0"/>
              <a:cs typeface="Arial" panose="020B0604020202020204" pitchFamily="34" charset="0"/>
            </a:endParaRPr>
          </a:p>
          <a:p>
            <a:pPr algn="just"/>
            <a:r>
              <a:rPr lang="en-US" altLang="zh-CN" sz="2000" b="1" dirty="0">
                <a:latin typeface="Arial" panose="020B0604020202020204" pitchFamily="34" charset="0"/>
                <a:cs typeface="Arial" panose="020B0604020202020204" pitchFamily="34" charset="0"/>
              </a:rPr>
              <a:t>2. Study the fundamental optoelectronic devices: </a:t>
            </a:r>
            <a:r>
              <a:rPr lang="en-US" altLang="zh-CN" sz="2000" dirty="0">
                <a:latin typeface="Arial" panose="020B0604020202020204" pitchFamily="34" charset="0"/>
                <a:cs typeface="Arial" panose="020B0604020202020204" pitchFamily="34" charset="0"/>
              </a:rPr>
              <a:t>light-emitting diodes (LEDs), photodiodes, photodetectors, laser diodes, optical fibers and spectrometers. I will also invite some experts to introduce the cutting-edge research in their fields which are related to optoelectronics.</a:t>
            </a:r>
          </a:p>
          <a:p>
            <a:pPr algn="just"/>
            <a:endParaRPr lang="en-US" altLang="zh-CN" sz="2000" b="1" dirty="0">
              <a:latin typeface="Arial" panose="020B0604020202020204" pitchFamily="34" charset="0"/>
              <a:cs typeface="Arial" panose="020B0604020202020204" pitchFamily="34" charset="0"/>
            </a:endParaRPr>
          </a:p>
          <a:p>
            <a:pPr algn="just"/>
            <a:r>
              <a:rPr lang="en-US" altLang="zh-CN" sz="2000" b="1" dirty="0">
                <a:latin typeface="Arial" panose="020B0604020202020204" pitchFamily="34" charset="0"/>
                <a:cs typeface="Arial" panose="020B0604020202020204" pitchFamily="34" charset="0"/>
              </a:rPr>
              <a:t>3. Learn the simulations, analysis, design and optimization of photonic devices: </a:t>
            </a:r>
            <a:r>
              <a:rPr lang="en-US" altLang="zh-CN" sz="2000" dirty="0">
                <a:latin typeface="Arial" panose="020B0604020202020204" pitchFamily="34" charset="0"/>
                <a:cs typeface="Arial" panose="020B0604020202020204" pitchFamily="34" charset="0"/>
              </a:rPr>
              <a:t>COMSOL,</a:t>
            </a:r>
            <a:r>
              <a:rPr lang="zh-CN" altLang="en-US" sz="2000" dirty="0">
                <a:latin typeface="Arial" panose="020B0604020202020204" pitchFamily="34" charset="0"/>
                <a:cs typeface="Arial" panose="020B0604020202020204" pitchFamily="34" charset="0"/>
              </a:rPr>
              <a:t> </a:t>
            </a:r>
            <a:r>
              <a:rPr lang="en-US" altLang="zh-CN" sz="2000" dirty="0">
                <a:latin typeface="Arial" panose="020B0604020202020204" pitchFamily="34" charset="0"/>
                <a:cs typeface="Arial" panose="020B0604020202020204" pitchFamily="34" charset="0"/>
              </a:rPr>
              <a:t>FDTD and MATLAB.</a:t>
            </a:r>
          </a:p>
          <a:p>
            <a:pPr algn="just"/>
            <a:endParaRPr lang="en-US" altLang="zh-CN" sz="2000" dirty="0">
              <a:latin typeface="Arial" panose="020B0604020202020204" pitchFamily="34" charset="0"/>
              <a:cs typeface="Arial" panose="020B0604020202020204" pitchFamily="34" charset="0"/>
            </a:endParaRPr>
          </a:p>
          <a:p>
            <a:pPr algn="just"/>
            <a:r>
              <a:rPr lang="en-US" altLang="zh-CN" sz="2000" b="1" dirty="0">
                <a:latin typeface="Arial" panose="020B0604020202020204" pitchFamily="34" charset="0"/>
                <a:cs typeface="Arial" panose="020B0604020202020204" pitchFamily="34" charset="0"/>
              </a:rPr>
              <a:t>4. Hands-On Projects: </a:t>
            </a:r>
            <a:r>
              <a:rPr lang="en-US" altLang="zh-CN" sz="2000" dirty="0">
                <a:latin typeface="Arial" panose="020B0604020202020204" pitchFamily="34" charset="0"/>
                <a:cs typeface="Arial" panose="020B0604020202020204" pitchFamily="34" charset="0"/>
              </a:rPr>
              <a:t>complete a computational spectrometer project. The project includes design and simulation of metamaterials, developing an algorithm to reconstruct the spectrum, and write a report.</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95915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Grading</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object 3">
            <a:extLst>
              <a:ext uri="{FF2B5EF4-FFF2-40B4-BE49-F238E27FC236}">
                <a16:creationId xmlns:a16="http://schemas.microsoft.com/office/drawing/2014/main" id="{16ACC223-85C8-4C3F-AABF-889019421989}"/>
              </a:ext>
            </a:extLst>
          </p:cNvPr>
          <p:cNvSpPr txBox="1">
            <a:spLocks noChangeArrowheads="1"/>
          </p:cNvSpPr>
          <p:nvPr/>
        </p:nvSpPr>
        <p:spPr bwMode="auto">
          <a:xfrm>
            <a:off x="1613263" y="1291812"/>
            <a:ext cx="7081925" cy="427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marL="457200" indent="-457200">
              <a:lnSpc>
                <a:spcPct val="150000"/>
              </a:lnSpc>
              <a:spcBef>
                <a:spcPts val="1200"/>
              </a:spcBef>
              <a:buFont typeface="Wingdings" panose="05000000000000000000" pitchFamily="2" charset="2"/>
              <a:buChar char="q"/>
            </a:pPr>
            <a:r>
              <a:rPr lang="en-US" altLang="zh-CN" sz="2400" b="1" dirty="0">
                <a:latin typeface="微软雅黑" panose="020B0503020204020204" pitchFamily="34" charset="-122"/>
                <a:ea typeface="微软雅黑" panose="020B0503020204020204" pitchFamily="34" charset="-122"/>
                <a:cs typeface="Microsoft YaHei" charset="0"/>
              </a:rPr>
              <a:t>1. Questions and answers =10% </a:t>
            </a:r>
            <a:r>
              <a:rPr lang="en-US" altLang="zh-CN" sz="2400" dirty="0">
                <a:latin typeface="微软雅黑" panose="020B0503020204020204" pitchFamily="34" charset="-122"/>
                <a:ea typeface="微软雅黑" panose="020B0503020204020204" pitchFamily="34" charset="-122"/>
                <a:cs typeface="Microsoft YaHei" charset="0"/>
              </a:rPr>
              <a:t>(Greek Letters, learned in the last class)</a:t>
            </a:r>
          </a:p>
          <a:p>
            <a:pPr marL="457200" indent="-457200">
              <a:lnSpc>
                <a:spcPct val="150000"/>
              </a:lnSpc>
              <a:spcBef>
                <a:spcPts val="1200"/>
              </a:spcBef>
              <a:buFont typeface="Wingdings" panose="05000000000000000000" pitchFamily="2" charset="2"/>
              <a:buChar char="q"/>
            </a:pPr>
            <a:r>
              <a:rPr lang="en-US" altLang="zh-CN" sz="2400" b="1" dirty="0">
                <a:latin typeface="微软雅黑" panose="020B0503020204020204" pitchFamily="34" charset="-122"/>
                <a:ea typeface="微软雅黑" panose="020B0503020204020204" pitchFamily="34" charset="-122"/>
              </a:rPr>
              <a:t>2. Presentation = 15% </a:t>
            </a:r>
            <a:r>
              <a:rPr lang="en-US" altLang="zh-CN" sz="2400" dirty="0">
                <a:latin typeface="微软雅黑" panose="020B0503020204020204" pitchFamily="34" charset="-122"/>
                <a:ea typeface="微软雅黑" panose="020B0503020204020204" pitchFamily="34" charset="-122"/>
              </a:rPr>
              <a:t>(Make presentations of journal papers)</a:t>
            </a:r>
          </a:p>
          <a:p>
            <a:pPr marL="457200" indent="-457200">
              <a:lnSpc>
                <a:spcPct val="150000"/>
              </a:lnSpc>
              <a:spcBef>
                <a:spcPts val="1200"/>
              </a:spcBef>
              <a:buFont typeface="Wingdings" panose="05000000000000000000" pitchFamily="2" charset="2"/>
              <a:buChar char="q"/>
            </a:pPr>
            <a:r>
              <a:rPr lang="en-US" altLang="zh-CN" sz="2400" b="1" dirty="0">
                <a:latin typeface="微软雅黑" panose="020B0503020204020204" pitchFamily="34" charset="-122"/>
                <a:ea typeface="微软雅黑" panose="020B0503020204020204" pitchFamily="34" charset="-122"/>
              </a:rPr>
              <a:t>3. Assignments = 20% </a:t>
            </a:r>
            <a:r>
              <a:rPr lang="en-US" altLang="zh-CN" sz="2400" dirty="0">
                <a:latin typeface="微软雅黑" panose="020B0503020204020204" pitchFamily="34" charset="-122"/>
                <a:ea typeface="微软雅黑" panose="020B0503020204020204" pitchFamily="34" charset="-122"/>
              </a:rPr>
              <a:t>(MATLAB project)</a:t>
            </a:r>
          </a:p>
          <a:p>
            <a:pPr marL="457200" indent="-457200">
              <a:lnSpc>
                <a:spcPct val="150000"/>
              </a:lnSpc>
              <a:spcBef>
                <a:spcPts val="1200"/>
              </a:spcBef>
              <a:buFont typeface="Wingdings" panose="05000000000000000000" pitchFamily="2" charset="2"/>
              <a:buChar char="q"/>
            </a:pPr>
            <a:r>
              <a:rPr lang="en-US" altLang="zh-CN" sz="2400" b="1" dirty="0">
                <a:latin typeface="微软雅黑" panose="020B0503020204020204" pitchFamily="34" charset="-122"/>
                <a:ea typeface="微软雅黑" panose="020B0503020204020204" pitchFamily="34" charset="-122"/>
              </a:rPr>
              <a:t>4. Final project =55%: </a:t>
            </a:r>
            <a:r>
              <a:rPr lang="en-US" altLang="zh-CN" sz="2400" dirty="0">
                <a:latin typeface="微软雅黑" panose="020B0503020204020204" pitchFamily="34" charset="-122"/>
                <a:ea typeface="微软雅黑" panose="020B0503020204020204" pitchFamily="34" charset="-122"/>
              </a:rPr>
              <a:t>(Simulation 15%, algorithm 15%, report 25%)</a:t>
            </a:r>
          </a:p>
        </p:txBody>
      </p:sp>
    </p:spTree>
    <p:extLst>
      <p:ext uri="{BB962C8B-B14F-4D97-AF65-F5344CB8AC3E}">
        <p14:creationId xmlns:p14="http://schemas.microsoft.com/office/powerpoint/2010/main" val="1516280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1. Roll call: Greek Letters</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025" name="Picture 1">
            <a:extLst>
              <a:ext uri="{FF2B5EF4-FFF2-40B4-BE49-F238E27FC236}">
                <a16:creationId xmlns:a16="http://schemas.microsoft.com/office/drawing/2014/main" id="{7CA40DF6-637F-6005-2DDE-FFFB903726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52" t="4952" r="4945" b="47599"/>
          <a:stretch/>
        </p:blipFill>
        <p:spPr bwMode="auto">
          <a:xfrm>
            <a:off x="180109" y="1594591"/>
            <a:ext cx="4370522" cy="37891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AAFA626B-6F26-EFA3-6151-BE581ECB6C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68" t="52401" r="4728" b="3921"/>
          <a:stretch/>
        </p:blipFill>
        <p:spPr bwMode="auto">
          <a:xfrm>
            <a:off x="4639550" y="1941957"/>
            <a:ext cx="4370522" cy="3487915"/>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extLst>
              <a:ext uri="{FF2B5EF4-FFF2-40B4-BE49-F238E27FC236}">
                <a16:creationId xmlns:a16="http://schemas.microsoft.com/office/drawing/2014/main" id="{44A5A6CE-D969-49C7-B637-17520C8B37EA}"/>
              </a:ext>
            </a:extLst>
          </p:cNvPr>
          <p:cNvSpPr/>
          <p:nvPr/>
        </p:nvSpPr>
        <p:spPr>
          <a:xfrm>
            <a:off x="2859724" y="759688"/>
            <a:ext cx="3382080" cy="369332"/>
          </a:xfrm>
          <a:prstGeom prst="rect">
            <a:avLst/>
          </a:prstGeom>
        </p:spPr>
        <p:txBody>
          <a:bodyPr wrap="none">
            <a:spAutoFit/>
          </a:bodyPr>
          <a:lstStyle/>
          <a:p>
            <a:r>
              <a:rPr lang="en-US" altLang="zh-CN" b="1" dirty="0">
                <a:hlinkClick r:id="rId4"/>
              </a:rPr>
              <a:t>Greek Alphabet Symbols List</a:t>
            </a:r>
            <a:endParaRPr lang="zh-CN" altLang="en-US" b="1" dirty="0"/>
          </a:p>
        </p:txBody>
      </p:sp>
    </p:spTree>
    <p:extLst>
      <p:ext uri="{BB962C8B-B14F-4D97-AF65-F5344CB8AC3E}">
        <p14:creationId xmlns:p14="http://schemas.microsoft.com/office/powerpoint/2010/main" val="1445643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CA189-FB59-299A-5C41-945DCD627382}"/>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1C554A70-70AB-CFD7-5B4D-B07F98D69C75}"/>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1. Roll call: Greek Letters</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4" name="24个希腊字母到底读啥  数学_物理老师直呼内行!">
            <a:hlinkClick r:id="" action="ppaction://media"/>
            <a:extLst>
              <a:ext uri="{FF2B5EF4-FFF2-40B4-BE49-F238E27FC236}">
                <a16:creationId xmlns:a16="http://schemas.microsoft.com/office/drawing/2014/main" id="{8DAF8B26-7DF5-5D45-8628-1EA41E75BCF1}"/>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69908" y="896573"/>
            <a:ext cx="9004183" cy="5064853"/>
          </a:xfrm>
          <a:prstGeom prst="rect">
            <a:avLst/>
          </a:prstGeom>
        </p:spPr>
      </p:pic>
    </p:spTree>
    <p:extLst>
      <p:ext uri="{BB962C8B-B14F-4D97-AF65-F5344CB8AC3E}">
        <p14:creationId xmlns:p14="http://schemas.microsoft.com/office/powerpoint/2010/main" val="2606737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2248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0BCCB-28F2-CB89-C43C-64C8DF36628B}"/>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68586834-4679-FA62-1539-72257E477ACC}"/>
              </a:ext>
            </a:extLst>
          </p:cNvPr>
          <p:cNvSpPr txBox="1"/>
          <p:nvPr/>
        </p:nvSpPr>
        <p:spPr>
          <a:xfrm>
            <a:off x="457200" y="671110"/>
            <a:ext cx="8418352" cy="5755422"/>
          </a:xfrm>
          <a:prstGeom prst="rect">
            <a:avLst/>
          </a:prstGeom>
          <a:noFill/>
        </p:spPr>
        <p:txBody>
          <a:bodyPr wrap="square">
            <a:spAutoFit/>
          </a:bodyPr>
          <a:lstStyle/>
          <a:p>
            <a:r>
              <a:rPr lang="en-US" altLang="zh-CN" sz="1600" b="1" dirty="0"/>
              <a:t>Introduction / Identify a problem: </a:t>
            </a:r>
            <a:r>
              <a:rPr lang="en-US" altLang="zh-CN" sz="1600" dirty="0"/>
              <a:t>Brief overview of the context or problem you are addressing. </a:t>
            </a:r>
            <a:r>
              <a:rPr lang="zh-CN" altLang="en-US" sz="1600" dirty="0"/>
              <a:t>为什么做这件事，普及陌生的概念，听众兴趣：自身相关，悬念，社会需要</a:t>
            </a:r>
            <a:endParaRPr lang="en-US" altLang="zh-CN" sz="1600" dirty="0"/>
          </a:p>
          <a:p>
            <a:endParaRPr lang="en-US" altLang="zh-CN" sz="1600" dirty="0"/>
          </a:p>
          <a:p>
            <a:r>
              <a:rPr lang="en-US" altLang="zh-CN" sz="1600" b="1" dirty="0"/>
              <a:t>Literature review / background: </a:t>
            </a:r>
            <a:r>
              <a:rPr lang="en-US" altLang="zh-CN" sz="1600" dirty="0"/>
              <a:t>Previous work, research, or theories relevant to the topic. </a:t>
            </a:r>
            <a:r>
              <a:rPr lang="zh-CN" altLang="en-US" sz="1600" dirty="0"/>
              <a:t>前人怎么做的（注意罗列，只列举和你要做的事情相关的部分）</a:t>
            </a:r>
            <a:endParaRPr lang="en-US" altLang="zh-CN" sz="1600" dirty="0"/>
          </a:p>
          <a:p>
            <a:endParaRPr lang="en-US" altLang="zh-CN" sz="1600" dirty="0"/>
          </a:p>
          <a:p>
            <a:r>
              <a:rPr lang="en-US" altLang="zh-CN" sz="1600" b="1" dirty="0"/>
              <a:t>Highlight the Challenges: </a:t>
            </a:r>
            <a:r>
              <a:rPr lang="en-US" altLang="zh-CN" sz="1600" dirty="0"/>
              <a:t>Identify and explain the main challenges encountered by other researchers. </a:t>
            </a:r>
            <a:r>
              <a:rPr lang="zh-CN" altLang="en-US" sz="1600" dirty="0"/>
              <a:t>该领域存在的问题，难点</a:t>
            </a:r>
            <a:endParaRPr lang="en-US" altLang="zh-CN" sz="1600" dirty="0"/>
          </a:p>
          <a:p>
            <a:endParaRPr lang="en-US" altLang="zh-CN" sz="1600" dirty="0"/>
          </a:p>
          <a:p>
            <a:r>
              <a:rPr lang="en-US" altLang="zh-CN" sz="1600" b="1" dirty="0"/>
              <a:t>Explain the Reasons Behind Challenges: </a:t>
            </a:r>
            <a:r>
              <a:rPr lang="en-US" altLang="zh-CN" sz="1600" dirty="0"/>
              <a:t>Dive deeper into why these challenges exist. </a:t>
            </a:r>
            <a:r>
              <a:rPr lang="zh-CN" altLang="en-US" sz="1600" dirty="0"/>
              <a:t>从难点中提炼科学问题，即难以解决的原因</a:t>
            </a:r>
            <a:endParaRPr lang="en-US" altLang="zh-CN" sz="1600" dirty="0"/>
          </a:p>
          <a:p>
            <a:endParaRPr lang="en-US" altLang="zh-CN" sz="1600" dirty="0"/>
          </a:p>
          <a:p>
            <a:r>
              <a:rPr lang="en-US" altLang="zh-CN" sz="1600" b="1" dirty="0"/>
              <a:t>Connection to Your Work</a:t>
            </a:r>
            <a:r>
              <a:rPr lang="en-US" altLang="zh-CN" sz="1600" dirty="0"/>
              <a:t>: Explain how your research/method contributes to addressing these challenges. </a:t>
            </a:r>
            <a:r>
              <a:rPr lang="zh-CN" altLang="en-US" sz="1600" dirty="0"/>
              <a:t>你去解决这些科学问题的创新方法是什么</a:t>
            </a:r>
            <a:endParaRPr lang="en-US" altLang="zh-CN" sz="1600" dirty="0"/>
          </a:p>
          <a:p>
            <a:endParaRPr lang="en-US" altLang="zh-CN" sz="1600" dirty="0"/>
          </a:p>
          <a:p>
            <a:r>
              <a:rPr lang="en-US" altLang="zh-CN" sz="1600" b="1" dirty="0"/>
              <a:t>Results: </a:t>
            </a:r>
            <a:r>
              <a:rPr lang="en-US" altLang="zh-CN" sz="1600" dirty="0"/>
              <a:t>Present the main results or conclusions from your work, research, or findings to support your research or a technical solution. </a:t>
            </a:r>
            <a:r>
              <a:rPr lang="zh-CN" altLang="en-US" sz="1600" dirty="0"/>
              <a:t>用结果证明你的假设或方法是可行的</a:t>
            </a:r>
            <a:endParaRPr lang="en-US" altLang="zh-CN" sz="1600" dirty="0"/>
          </a:p>
          <a:p>
            <a:endParaRPr lang="en-US" altLang="zh-CN" sz="1600" dirty="0"/>
          </a:p>
          <a:p>
            <a:r>
              <a:rPr lang="en-US" altLang="zh-CN" sz="1600" b="1" dirty="0"/>
              <a:t>Implications: </a:t>
            </a:r>
            <a:r>
              <a:rPr lang="en-US" altLang="zh-CN" sz="1600" dirty="0"/>
              <a:t>Highlight the significance. What does your work mean for the field, and what should be done next? </a:t>
            </a:r>
            <a:r>
              <a:rPr lang="zh-CN" altLang="en-US" sz="1600" dirty="0"/>
              <a:t>你的方法产生什么影响，潜在应用，后续工作</a:t>
            </a:r>
            <a:endParaRPr lang="en-US" altLang="zh-CN" sz="1600" dirty="0"/>
          </a:p>
          <a:p>
            <a:endParaRPr lang="en-US" altLang="zh-CN" sz="1600" dirty="0"/>
          </a:p>
          <a:p>
            <a:r>
              <a:rPr lang="en-US" altLang="zh-CN" sz="1600" b="1" dirty="0"/>
              <a:t>Summary of key findings</a:t>
            </a:r>
            <a:r>
              <a:rPr lang="en-US" altLang="zh-CN" sz="1600" dirty="0"/>
              <a:t>: Briefly revisit the most important points. </a:t>
            </a:r>
          </a:p>
          <a:p>
            <a:r>
              <a:rPr lang="zh-CN" altLang="en-US" sz="1600" dirty="0"/>
              <a:t>没听懂的或走神的听众还有最后一次机会可以补救</a:t>
            </a:r>
            <a:endParaRPr lang="en-US" altLang="zh-CN" sz="1600" dirty="0"/>
          </a:p>
        </p:txBody>
      </p:sp>
      <p:sp>
        <p:nvSpPr>
          <p:cNvPr id="5" name="标题 2">
            <a:extLst>
              <a:ext uri="{FF2B5EF4-FFF2-40B4-BE49-F238E27FC236}">
                <a16:creationId xmlns:a16="http://schemas.microsoft.com/office/drawing/2014/main" id="{E8D8DFE4-6F76-A912-8A7B-9DA844AB3D3B}"/>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 Presentation:</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Structure your presentation like a story</a:t>
            </a:r>
          </a:p>
          <a:p>
            <a:pPr algn="ct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3329090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884DF-E7C2-46A7-BFFA-4F93132A732E}"/>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DDA1AC3E-BFC1-1120-369E-1F9D5541F81D}"/>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2. Presentation:</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Key elements of a good presentation</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9C9EAF18-4A5C-5069-EF68-CBCCF97D920A}"/>
              </a:ext>
            </a:extLst>
          </p:cNvPr>
          <p:cNvSpPr txBox="1"/>
          <p:nvPr/>
        </p:nvSpPr>
        <p:spPr>
          <a:xfrm>
            <a:off x="463550" y="705535"/>
            <a:ext cx="8362950" cy="5632311"/>
          </a:xfrm>
          <a:prstGeom prst="rect">
            <a:avLst/>
          </a:prstGeom>
          <a:noFill/>
        </p:spPr>
        <p:txBody>
          <a:bodyPr wrap="square">
            <a:spAutoFit/>
          </a:bodyPr>
          <a:lstStyle/>
          <a:p>
            <a:r>
              <a:rPr lang="en-US" altLang="zh-CN" b="1" dirty="0"/>
              <a:t>Clear Structure: </a:t>
            </a:r>
            <a:r>
              <a:rPr lang="en-US" altLang="zh-CN" dirty="0"/>
              <a:t>A well-organized presentation with a logical flow is crucial. The audience should easily follow the progression from one point to the next. </a:t>
            </a:r>
          </a:p>
          <a:p>
            <a:r>
              <a:rPr lang="zh-CN" altLang="en-US" dirty="0"/>
              <a:t>故事逻辑</a:t>
            </a:r>
            <a:endParaRPr lang="en-US" altLang="zh-CN" dirty="0"/>
          </a:p>
          <a:p>
            <a:endParaRPr lang="en-US" altLang="zh-CN" dirty="0"/>
          </a:p>
          <a:p>
            <a:r>
              <a:rPr lang="en-US" altLang="zh-CN" b="1" dirty="0"/>
              <a:t>Concise Content: </a:t>
            </a:r>
            <a:r>
              <a:rPr lang="en-US" altLang="zh-CN" dirty="0"/>
              <a:t>Avoid overwhelming your audience with too much information. Stick to the key points that are most relevant to your purpose and audience.</a:t>
            </a:r>
          </a:p>
          <a:p>
            <a:r>
              <a:rPr lang="zh-CN" altLang="en-US" dirty="0"/>
              <a:t>简洁明了，直击听众关注的点</a:t>
            </a:r>
            <a:endParaRPr lang="en-US" altLang="zh-CN" dirty="0"/>
          </a:p>
          <a:p>
            <a:endParaRPr lang="en-US" altLang="zh-CN" dirty="0"/>
          </a:p>
          <a:p>
            <a:r>
              <a:rPr lang="en-US" altLang="zh-CN" b="1" dirty="0"/>
              <a:t>Simple, Clean Slides</a:t>
            </a:r>
            <a:r>
              <a:rPr lang="en-US" altLang="zh-CN" dirty="0"/>
              <a:t>: Clear slides: Don't overload your slides with text; use bullet points and visuals to aid understanding.</a:t>
            </a:r>
          </a:p>
          <a:p>
            <a:endParaRPr lang="en-US" altLang="zh-CN" dirty="0"/>
          </a:p>
          <a:p>
            <a:r>
              <a:rPr lang="en-US" altLang="zh-CN" b="1" dirty="0"/>
              <a:t>Consistent Design</a:t>
            </a:r>
            <a:r>
              <a:rPr lang="en-US" altLang="zh-CN" dirty="0"/>
              <a:t>: Use a consistent font, color scheme, and layout throughout the presentation for a professional look.</a:t>
            </a:r>
          </a:p>
          <a:p>
            <a:endParaRPr lang="en-US" altLang="zh-CN" dirty="0"/>
          </a:p>
          <a:p>
            <a:r>
              <a:rPr lang="en-US" altLang="zh-CN" b="1" dirty="0"/>
              <a:t>High-Quality Images</a:t>
            </a:r>
            <a:r>
              <a:rPr lang="en-US" altLang="zh-CN" dirty="0"/>
              <a:t>: Ensure any images or visuals used are clear, relevant, and high-quality. Avoid clutter.</a:t>
            </a:r>
          </a:p>
          <a:p>
            <a:endParaRPr lang="en-US" altLang="zh-CN" dirty="0"/>
          </a:p>
          <a:p>
            <a:r>
              <a:rPr lang="en-US" altLang="zh-CN" b="1" dirty="0"/>
              <a:t>References (professional):</a:t>
            </a:r>
            <a:r>
              <a:rPr lang="zh-CN" altLang="en-US" b="1" dirty="0"/>
              <a:t> </a:t>
            </a:r>
            <a:r>
              <a:rPr lang="en-US" altLang="zh-CN" dirty="0"/>
              <a:t>Cite the sources or research papers that you referenced in your presentation.</a:t>
            </a:r>
          </a:p>
          <a:p>
            <a:endParaRPr lang="en-US" altLang="zh-CN" dirty="0"/>
          </a:p>
        </p:txBody>
      </p:sp>
    </p:spTree>
    <p:extLst>
      <p:ext uri="{BB962C8B-B14F-4D97-AF65-F5344CB8AC3E}">
        <p14:creationId xmlns:p14="http://schemas.microsoft.com/office/powerpoint/2010/main" val="3609088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667AA-36FA-9ECB-A210-414B37DF11C7}"/>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31316D1A-FC44-71EB-F7AA-512D05BF1D97}"/>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3. Assignment:</a:t>
            </a:r>
            <a:r>
              <a:rPr lang="zh-CN" altLang="en-US"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Development of </a:t>
            </a:r>
            <a:r>
              <a:rPr lang="en-US" altLang="zh-CN" sz="2400" b="1" dirty="0" err="1">
                <a:solidFill>
                  <a:schemeClr val="bg1"/>
                </a:solidFill>
                <a:latin typeface="微软雅黑" panose="020B0503020204020204" pitchFamily="34" charset="-122"/>
                <a:ea typeface="微软雅黑" panose="020B0503020204020204" pitchFamily="34" charset="-122"/>
                <a:cs typeface="Arial" panose="020B0604020202020204" pitchFamily="34" charset="0"/>
              </a:rPr>
              <a:t>Matlab</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project</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C2B3F68A-A111-E7F1-0AA2-74B138857603}"/>
              </a:ext>
            </a:extLst>
          </p:cNvPr>
          <p:cNvPicPr>
            <a:picLocks noChangeAspect="1"/>
          </p:cNvPicPr>
          <p:nvPr/>
        </p:nvPicPr>
        <p:blipFill>
          <a:blip r:embed="rId3"/>
          <a:stretch>
            <a:fillRect/>
          </a:stretch>
        </p:blipFill>
        <p:spPr>
          <a:xfrm>
            <a:off x="562062" y="853495"/>
            <a:ext cx="8275739" cy="4967508"/>
          </a:xfrm>
          <a:prstGeom prst="rect">
            <a:avLst/>
          </a:prstGeom>
        </p:spPr>
      </p:pic>
    </p:spTree>
    <p:extLst>
      <p:ext uri="{BB962C8B-B14F-4D97-AF65-F5344CB8AC3E}">
        <p14:creationId xmlns:p14="http://schemas.microsoft.com/office/powerpoint/2010/main" val="1498963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21C1A-786D-F34E-1EBB-411565EC3048}"/>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65B1EF8C-B728-6414-A1C6-BFEB2EDD9DFB}"/>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4. Final project: How to summarize a paper/report</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5" name="图片 4">
            <a:extLst>
              <a:ext uri="{FF2B5EF4-FFF2-40B4-BE49-F238E27FC236}">
                <a16:creationId xmlns:a16="http://schemas.microsoft.com/office/drawing/2014/main" id="{2FEBCE7A-755A-5A49-ED5D-3CA3EAA70691}"/>
              </a:ext>
            </a:extLst>
          </p:cNvPr>
          <p:cNvPicPr>
            <a:picLocks noChangeAspect="1"/>
          </p:cNvPicPr>
          <p:nvPr/>
        </p:nvPicPr>
        <p:blipFill rotWithShape="1">
          <a:blip r:embed="rId3">
            <a:extLst>
              <a:ext uri="{28A0092B-C50C-407E-A947-70E740481C1C}">
                <a14:useLocalDpi xmlns:a14="http://schemas.microsoft.com/office/drawing/2010/main" val="0"/>
              </a:ext>
            </a:extLst>
          </a:blip>
          <a:srcRect t="21894" b="4458"/>
          <a:stretch/>
        </p:blipFill>
        <p:spPr>
          <a:xfrm>
            <a:off x="815245" y="666750"/>
            <a:ext cx="7769917" cy="4612132"/>
          </a:xfrm>
          <a:prstGeom prst="rect">
            <a:avLst/>
          </a:prstGeom>
        </p:spPr>
      </p:pic>
      <p:sp>
        <p:nvSpPr>
          <p:cNvPr id="3" name="文本框 2">
            <a:extLst>
              <a:ext uri="{FF2B5EF4-FFF2-40B4-BE49-F238E27FC236}">
                <a16:creationId xmlns:a16="http://schemas.microsoft.com/office/drawing/2014/main" id="{A85A729A-AE8F-5868-E48B-3231BB6CB2B8}"/>
              </a:ext>
            </a:extLst>
          </p:cNvPr>
          <p:cNvSpPr txBox="1"/>
          <p:nvPr/>
        </p:nvSpPr>
        <p:spPr>
          <a:xfrm>
            <a:off x="464753" y="5431998"/>
            <a:ext cx="8470900" cy="787075"/>
          </a:xfrm>
          <a:prstGeom prst="rect">
            <a:avLst/>
          </a:prstGeom>
          <a:noFill/>
        </p:spPr>
        <p:txBody>
          <a:bodyPr wrap="square">
            <a:spAutoFit/>
          </a:bodyPr>
          <a:lstStyle/>
          <a:p>
            <a:pPr>
              <a:lnSpc>
                <a:spcPct val="150000"/>
              </a:lnSpc>
            </a:pPr>
            <a:r>
              <a:rPr lang="zh-CN" altLang="en-US" sz="1600" dirty="0"/>
              <a:t>专家在看报告或申请书其实就在找几个点：存在什么问题，你的创新方法是什么，你的研究内容和结果，你的论文专利是结果的佐证而不是创新或者结果本身，应用前景怎么样。</a:t>
            </a:r>
          </a:p>
        </p:txBody>
      </p:sp>
    </p:spTree>
    <p:extLst>
      <p:ext uri="{BB962C8B-B14F-4D97-AF65-F5344CB8AC3E}">
        <p14:creationId xmlns:p14="http://schemas.microsoft.com/office/powerpoint/2010/main" val="718629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Reference books</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object 3">
            <a:extLst>
              <a:ext uri="{FF2B5EF4-FFF2-40B4-BE49-F238E27FC236}">
                <a16:creationId xmlns:a16="http://schemas.microsoft.com/office/drawing/2014/main" id="{16ACC223-85C8-4C3F-AABF-889019421989}"/>
              </a:ext>
            </a:extLst>
          </p:cNvPr>
          <p:cNvSpPr txBox="1">
            <a:spLocks noChangeArrowheads="1"/>
          </p:cNvSpPr>
          <p:nvPr/>
        </p:nvSpPr>
        <p:spPr bwMode="auto">
          <a:xfrm>
            <a:off x="1140982" y="1741520"/>
            <a:ext cx="7000875" cy="3638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tabLst>
                <a:tab pos="1125538" algn="l"/>
              </a:tabLst>
              <a:defRPr>
                <a:solidFill>
                  <a:schemeClr val="tx1"/>
                </a:solidFill>
                <a:latin typeface="Calibri" charset="0"/>
                <a:ea typeface="ＭＳ Ｐゴシック" charset="0"/>
              </a:defRPr>
            </a:lvl1pPr>
            <a:lvl2pPr marL="742950" indent="-285750">
              <a:tabLst>
                <a:tab pos="1125538" algn="l"/>
              </a:tabLst>
              <a:defRPr>
                <a:solidFill>
                  <a:schemeClr val="tx1"/>
                </a:solidFill>
                <a:latin typeface="Calibri" charset="0"/>
                <a:ea typeface="ＭＳ Ｐゴシック" charset="0"/>
              </a:defRPr>
            </a:lvl2pPr>
            <a:lvl3pPr marL="1143000" indent="-228600">
              <a:tabLst>
                <a:tab pos="1125538" algn="l"/>
              </a:tabLst>
              <a:defRPr>
                <a:solidFill>
                  <a:schemeClr val="tx1"/>
                </a:solidFill>
                <a:latin typeface="Calibri" charset="0"/>
                <a:ea typeface="ＭＳ Ｐゴシック" charset="0"/>
              </a:defRPr>
            </a:lvl3pPr>
            <a:lvl4pPr marL="1600200" indent="-228600">
              <a:tabLst>
                <a:tab pos="1125538" algn="l"/>
              </a:tabLst>
              <a:defRPr>
                <a:solidFill>
                  <a:schemeClr val="tx1"/>
                </a:solidFill>
                <a:latin typeface="Calibri" charset="0"/>
                <a:ea typeface="ＭＳ Ｐゴシック" charset="0"/>
              </a:defRPr>
            </a:lvl4pPr>
            <a:lvl5pPr marL="2057400" indent="-228600">
              <a:tabLst>
                <a:tab pos="1125538" algn="l"/>
              </a:tabLst>
              <a:defRPr>
                <a:solidFill>
                  <a:schemeClr val="tx1"/>
                </a:solidFill>
                <a:latin typeface="Calibri" charset="0"/>
                <a:ea typeface="ＭＳ Ｐゴシック" charset="0"/>
              </a:defRPr>
            </a:lvl5pPr>
            <a:lvl6pPr marL="2514600" indent="-228600" fontAlgn="base">
              <a:spcBef>
                <a:spcPct val="0"/>
              </a:spcBef>
              <a:spcAft>
                <a:spcPct val="0"/>
              </a:spcAft>
              <a:tabLst>
                <a:tab pos="1125538" algn="l"/>
              </a:tabLst>
              <a:defRPr>
                <a:solidFill>
                  <a:schemeClr val="tx1"/>
                </a:solidFill>
                <a:latin typeface="Calibri" charset="0"/>
                <a:ea typeface="ＭＳ Ｐゴシック" charset="0"/>
              </a:defRPr>
            </a:lvl6pPr>
            <a:lvl7pPr marL="2971800" indent="-228600" fontAlgn="base">
              <a:spcBef>
                <a:spcPct val="0"/>
              </a:spcBef>
              <a:spcAft>
                <a:spcPct val="0"/>
              </a:spcAft>
              <a:tabLst>
                <a:tab pos="1125538" algn="l"/>
              </a:tabLst>
              <a:defRPr>
                <a:solidFill>
                  <a:schemeClr val="tx1"/>
                </a:solidFill>
                <a:latin typeface="Calibri" charset="0"/>
                <a:ea typeface="ＭＳ Ｐゴシック" charset="0"/>
              </a:defRPr>
            </a:lvl7pPr>
            <a:lvl8pPr marL="3429000" indent="-228600" fontAlgn="base">
              <a:spcBef>
                <a:spcPct val="0"/>
              </a:spcBef>
              <a:spcAft>
                <a:spcPct val="0"/>
              </a:spcAft>
              <a:tabLst>
                <a:tab pos="1125538" algn="l"/>
              </a:tabLst>
              <a:defRPr>
                <a:solidFill>
                  <a:schemeClr val="tx1"/>
                </a:solidFill>
                <a:latin typeface="Calibri" charset="0"/>
                <a:ea typeface="ＭＳ Ｐゴシック" charset="0"/>
              </a:defRPr>
            </a:lvl8pPr>
            <a:lvl9pPr marL="3886200" indent="-228600" fontAlgn="base">
              <a:spcBef>
                <a:spcPct val="0"/>
              </a:spcBef>
              <a:spcAft>
                <a:spcPct val="0"/>
              </a:spcAft>
              <a:tabLst>
                <a:tab pos="1125538" algn="l"/>
              </a:tabLst>
              <a:defRPr>
                <a:solidFill>
                  <a:schemeClr val="tx1"/>
                </a:solidFill>
                <a:latin typeface="Calibri" charset="0"/>
                <a:ea typeface="ＭＳ Ｐゴシック" charset="0"/>
              </a:defRPr>
            </a:lvl9pPr>
          </a:lstStyle>
          <a:p>
            <a:pPr marL="457200" indent="-457200">
              <a:lnSpc>
                <a:spcPct val="150000"/>
              </a:lnSpc>
              <a:spcBef>
                <a:spcPts val="1200"/>
              </a:spcBef>
              <a:buFont typeface="Wingdings" panose="05000000000000000000" pitchFamily="2" charset="2"/>
              <a:buChar char="q"/>
            </a:pPr>
            <a:r>
              <a:rPr lang="en-US" altLang="zh-CN" sz="2000" b="1" dirty="0">
                <a:latin typeface="微软雅黑" panose="020B0503020204020204" pitchFamily="34" charset="-122"/>
                <a:ea typeface="微软雅黑" panose="020B0503020204020204" pitchFamily="34" charset="-122"/>
                <a:cs typeface="Microsoft YaHei" charset="0"/>
              </a:rPr>
              <a:t>Fundamentals of Photonics, Third Edition, </a:t>
            </a:r>
            <a:r>
              <a:rPr lang="fi-FI" altLang="zh-CN" sz="2000" b="1" dirty="0">
                <a:latin typeface="微软雅黑" panose="020B0503020204020204" pitchFamily="34" charset="-122"/>
                <a:ea typeface="微软雅黑" panose="020B0503020204020204" pitchFamily="34" charset="-122"/>
                <a:cs typeface="Microsoft YaHei" charset="0"/>
              </a:rPr>
              <a:t>Bahaa E. A. Saleh; Malvin Carl Teich, 2019.</a:t>
            </a:r>
            <a:endParaRPr lang="en-US" altLang="zh-CN" sz="2000" b="1" dirty="0">
              <a:latin typeface="微软雅黑" panose="020B0503020204020204" pitchFamily="34" charset="-122"/>
              <a:ea typeface="微软雅黑" panose="020B0503020204020204" pitchFamily="34" charset="-122"/>
              <a:cs typeface="Microsoft YaHei" charset="0"/>
            </a:endParaRPr>
          </a:p>
          <a:p>
            <a:pPr marL="457200" indent="-457200">
              <a:lnSpc>
                <a:spcPct val="150000"/>
              </a:lnSpc>
              <a:spcBef>
                <a:spcPts val="1200"/>
              </a:spcBef>
              <a:buFont typeface="Wingdings" panose="05000000000000000000" pitchFamily="2" charset="2"/>
              <a:buChar char="q"/>
            </a:pPr>
            <a:r>
              <a:rPr lang="en-US" altLang="zh-CN" sz="2000" b="1" dirty="0">
                <a:latin typeface="微软雅黑" panose="020B0503020204020204" pitchFamily="34" charset="-122"/>
                <a:ea typeface="微软雅黑" panose="020B0503020204020204" pitchFamily="34" charset="-122"/>
                <a:cs typeface="Microsoft YaHei" charset="0"/>
              </a:rPr>
              <a:t>Optoelectronics and Photonics: Principles and Practices, First Edition, S. O. </a:t>
            </a:r>
            <a:r>
              <a:rPr lang="en-US" altLang="zh-CN" sz="2000" b="1" dirty="0" err="1">
                <a:latin typeface="微软雅黑" panose="020B0503020204020204" pitchFamily="34" charset="-122"/>
                <a:ea typeface="微软雅黑" panose="020B0503020204020204" pitchFamily="34" charset="-122"/>
                <a:cs typeface="Microsoft YaHei" charset="0"/>
              </a:rPr>
              <a:t>Kasap</a:t>
            </a:r>
            <a:r>
              <a:rPr lang="en-US" altLang="zh-CN" sz="2000" b="1" dirty="0">
                <a:latin typeface="微软雅黑" panose="020B0503020204020204" pitchFamily="34" charset="-122"/>
                <a:ea typeface="微软雅黑" panose="020B0503020204020204" pitchFamily="34" charset="-122"/>
                <a:cs typeface="Microsoft YaHei" charset="0"/>
              </a:rPr>
              <a:t>, Prentice Hall, 2001.</a:t>
            </a:r>
          </a:p>
          <a:p>
            <a:pPr marL="457200" indent="-457200">
              <a:lnSpc>
                <a:spcPct val="150000"/>
              </a:lnSpc>
              <a:spcBef>
                <a:spcPts val="1200"/>
              </a:spcBef>
              <a:buFont typeface="Wingdings" panose="05000000000000000000" pitchFamily="2" charset="2"/>
              <a:buChar char="q"/>
            </a:pPr>
            <a:r>
              <a:rPr lang="zh-CN" altLang="en-US" sz="2000" b="1" dirty="0">
                <a:latin typeface="微软雅黑" panose="020B0503020204020204" pitchFamily="34" charset="-122"/>
                <a:ea typeface="微软雅黑" panose="020B0503020204020204" pitchFamily="34" charset="-122"/>
                <a:cs typeface="Microsoft YaHei" charset="0"/>
              </a:rPr>
              <a:t>半导体物理学，刘恩科编著</a:t>
            </a:r>
            <a:r>
              <a:rPr lang="en-US" altLang="zh-CN" sz="2000" b="1" dirty="0">
                <a:latin typeface="微软雅黑" panose="020B0503020204020204" pitchFamily="34" charset="-122"/>
                <a:ea typeface="微软雅黑" panose="020B0503020204020204" pitchFamily="34" charset="-122"/>
                <a:cs typeface="Microsoft YaHei" charset="0"/>
              </a:rPr>
              <a:t>. </a:t>
            </a:r>
            <a:r>
              <a:rPr lang="zh-CN" altLang="en-US" sz="2000" b="1" dirty="0">
                <a:latin typeface="微软雅黑" panose="020B0503020204020204" pitchFamily="34" charset="-122"/>
                <a:ea typeface="微软雅黑" panose="020B0503020204020204" pitchFamily="34" charset="-122"/>
                <a:cs typeface="Microsoft YaHei" charset="0"/>
              </a:rPr>
              <a:t>电子工业出版社， </a:t>
            </a:r>
            <a:r>
              <a:rPr lang="en-US" altLang="zh-CN" sz="2000" b="1" dirty="0">
                <a:latin typeface="微软雅黑" panose="020B0503020204020204" pitchFamily="34" charset="-122"/>
                <a:ea typeface="微软雅黑" panose="020B0503020204020204" pitchFamily="34" charset="-122"/>
                <a:cs typeface="Microsoft YaHei" charset="0"/>
              </a:rPr>
              <a:t>2008.</a:t>
            </a:r>
          </a:p>
          <a:p>
            <a:pPr marL="457200" indent="-457200">
              <a:lnSpc>
                <a:spcPct val="150000"/>
              </a:lnSpc>
              <a:spcBef>
                <a:spcPts val="1200"/>
              </a:spcBef>
              <a:buFont typeface="Wingdings" panose="05000000000000000000" pitchFamily="2" charset="2"/>
              <a:buChar char="q"/>
            </a:pPr>
            <a:r>
              <a:rPr lang="zh-CN" altLang="en-US" sz="2000" b="1" dirty="0">
                <a:latin typeface="微软雅黑" panose="020B0503020204020204" pitchFamily="34" charset="-122"/>
                <a:ea typeface="微软雅黑" panose="020B0503020204020204" pitchFamily="34" charset="-122"/>
                <a:cs typeface="Microsoft YaHei" charset="0"/>
              </a:rPr>
              <a:t>光电子技术基础，朱京平编著</a:t>
            </a:r>
            <a:r>
              <a:rPr lang="en-US" altLang="zh-CN" sz="2000" b="1" dirty="0">
                <a:latin typeface="微软雅黑" panose="020B0503020204020204" pitchFamily="34" charset="-122"/>
                <a:ea typeface="微软雅黑" panose="020B0503020204020204" pitchFamily="34" charset="-122"/>
                <a:cs typeface="Microsoft YaHei" charset="0"/>
              </a:rPr>
              <a:t>. </a:t>
            </a:r>
            <a:r>
              <a:rPr lang="zh-CN" altLang="en-US" sz="2000" b="1" dirty="0">
                <a:latin typeface="微软雅黑" panose="020B0503020204020204" pitchFamily="34" charset="-122"/>
                <a:ea typeface="微软雅黑" panose="020B0503020204020204" pitchFamily="34" charset="-122"/>
                <a:cs typeface="Microsoft YaHei" charset="0"/>
              </a:rPr>
              <a:t>科学出版社</a:t>
            </a:r>
            <a:r>
              <a:rPr lang="en-US" altLang="zh-CN" sz="2000" b="1" dirty="0">
                <a:latin typeface="微软雅黑" panose="020B0503020204020204" pitchFamily="34" charset="-122"/>
                <a:ea typeface="微软雅黑" panose="020B0503020204020204" pitchFamily="34" charset="-122"/>
                <a:cs typeface="Microsoft YaHei" charset="0"/>
              </a:rPr>
              <a:t>, 2003.</a:t>
            </a:r>
          </a:p>
        </p:txBody>
      </p:sp>
    </p:spTree>
    <p:extLst>
      <p:ext uri="{BB962C8B-B14F-4D97-AF65-F5344CB8AC3E}">
        <p14:creationId xmlns:p14="http://schemas.microsoft.com/office/powerpoint/2010/main" val="30141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4808C-DB98-5D25-318F-1B7AA61F91C4}"/>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3870F103-516B-63FB-7D30-C5280D41FCC9}"/>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Light – electromagnetic</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5" name="图片 14">
            <a:extLst>
              <a:ext uri="{FF2B5EF4-FFF2-40B4-BE49-F238E27FC236}">
                <a16:creationId xmlns:a16="http://schemas.microsoft.com/office/drawing/2014/main" id="{7901E713-4697-D127-CEC6-70F972736987}"/>
              </a:ext>
            </a:extLst>
          </p:cNvPr>
          <p:cNvPicPr>
            <a:picLocks noChangeAspect="1"/>
          </p:cNvPicPr>
          <p:nvPr/>
        </p:nvPicPr>
        <p:blipFill rotWithShape="1">
          <a:blip r:embed="rId3"/>
          <a:srcRect l="-717" r="655" b="4686"/>
          <a:stretch/>
        </p:blipFill>
        <p:spPr>
          <a:xfrm>
            <a:off x="100668" y="561936"/>
            <a:ext cx="8959443" cy="5155161"/>
          </a:xfrm>
          <a:prstGeom prst="rect">
            <a:avLst/>
          </a:prstGeom>
        </p:spPr>
      </p:pic>
      <p:sp>
        <p:nvSpPr>
          <p:cNvPr id="2" name="文本框 3">
            <a:extLst>
              <a:ext uri="{FF2B5EF4-FFF2-40B4-BE49-F238E27FC236}">
                <a16:creationId xmlns:a16="http://schemas.microsoft.com/office/drawing/2014/main" id="{4AB8BE5A-E126-358A-BCC4-4C6C284B8E4D}"/>
              </a:ext>
            </a:extLst>
          </p:cNvPr>
          <p:cNvSpPr txBox="1"/>
          <p:nvPr/>
        </p:nvSpPr>
        <p:spPr>
          <a:xfrm>
            <a:off x="582294" y="5765399"/>
            <a:ext cx="8331009"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The electromagnetic spectrum from low frequencies (long wavelengths) to high frequencies (short wavelengths).</a:t>
            </a:r>
            <a:endParaRPr lang="zh-CN" altLang="en-US" dirty="0"/>
          </a:p>
        </p:txBody>
      </p:sp>
    </p:spTree>
    <p:extLst>
      <p:ext uri="{BB962C8B-B14F-4D97-AF65-F5344CB8AC3E}">
        <p14:creationId xmlns:p14="http://schemas.microsoft.com/office/powerpoint/2010/main" val="3288074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4808C-DB98-5D25-318F-1B7AA61F91C4}"/>
            </a:ext>
          </a:extLst>
        </p:cNvPr>
        <p:cNvGrpSpPr/>
        <p:nvPr/>
      </p:nvGrpSpPr>
      <p:grpSpPr>
        <a:xfrm>
          <a:off x="0" y="0"/>
          <a:ext cx="0" cy="0"/>
          <a:chOff x="0" y="0"/>
          <a:chExt cx="0" cy="0"/>
        </a:xfrm>
      </p:grpSpPr>
      <p:sp>
        <p:nvSpPr>
          <p:cNvPr id="33" name="标题 2">
            <a:extLst>
              <a:ext uri="{FF2B5EF4-FFF2-40B4-BE49-F238E27FC236}">
                <a16:creationId xmlns:a16="http://schemas.microsoft.com/office/drawing/2014/main" id="{3870F103-516B-63FB-7D30-C5280D41FCC9}"/>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How Light and Matter are Studied: Spectra</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5" name="Picture 4">
            <a:extLst>
              <a:ext uri="{FF2B5EF4-FFF2-40B4-BE49-F238E27FC236}">
                <a16:creationId xmlns:a16="http://schemas.microsoft.com/office/drawing/2014/main" id="{1F9AFD88-2E37-4592-BD30-0FBF6CFD32A2}"/>
              </a:ext>
            </a:extLst>
          </p:cNvPr>
          <p:cNvPicPr>
            <a:picLocks noChangeAspect="1"/>
          </p:cNvPicPr>
          <p:nvPr/>
        </p:nvPicPr>
        <p:blipFill>
          <a:blip r:embed="rId3">
            <a:extLst>
              <a:ext uri="{28A0092B-C50C-407E-A947-70E740481C1C}">
                <a14:useLocalDpi xmlns:a14="http://schemas.microsoft.com/office/drawing/2010/main" val="0"/>
              </a:ext>
            </a:extLst>
          </a:blip>
          <a:srcRect t="65257"/>
          <a:stretch>
            <a:fillRect/>
          </a:stretch>
        </p:blipFill>
        <p:spPr bwMode="auto">
          <a:xfrm>
            <a:off x="2096300" y="5004490"/>
            <a:ext cx="6275387"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A00184C2-9B71-4329-A25C-C5D8539FA9AB}"/>
              </a:ext>
            </a:extLst>
          </p:cNvPr>
          <p:cNvSpPr txBox="1">
            <a:spLocks noChangeArrowheads="1"/>
          </p:cNvSpPr>
          <p:nvPr/>
        </p:nvSpPr>
        <p:spPr bwMode="auto">
          <a:xfrm>
            <a:off x="581825" y="2550215"/>
            <a:ext cx="8235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eaLnBrk="1" hangingPunct="1">
              <a:spcBef>
                <a:spcPct val="0"/>
              </a:spcBef>
            </a:pPr>
            <a:r>
              <a:rPr lang="en-US" altLang="en-US" dirty="0"/>
              <a:t>Some hot media (hot atomic gases) emit only a few frequencies of light: </a:t>
            </a:r>
          </a:p>
        </p:txBody>
      </p:sp>
      <p:sp>
        <p:nvSpPr>
          <p:cNvPr id="7" name="TextBox 6">
            <a:extLst>
              <a:ext uri="{FF2B5EF4-FFF2-40B4-BE49-F238E27FC236}">
                <a16:creationId xmlns:a16="http://schemas.microsoft.com/office/drawing/2014/main" id="{14519F09-78AD-4D59-9C0E-39DD7AFABF22}"/>
              </a:ext>
            </a:extLst>
          </p:cNvPr>
          <p:cNvSpPr txBox="1"/>
          <p:nvPr/>
        </p:nvSpPr>
        <p:spPr>
          <a:xfrm>
            <a:off x="581825" y="4494902"/>
            <a:ext cx="8332787" cy="708025"/>
          </a:xfrm>
          <a:prstGeom prst="rect">
            <a:avLst/>
          </a:prstGeom>
          <a:noFill/>
        </p:spPr>
        <p:txBody>
          <a:bodyPr>
            <a:spAutoFit/>
          </a:bodyPr>
          <a:lstStyle/>
          <a:p>
            <a:pPr eaLnBrk="1" hangingPunct="1">
              <a:defRPr/>
            </a:pPr>
            <a:r>
              <a:rPr lang="en-US" sz="2000" spc="-40" dirty="0">
                <a:latin typeface="Arial" charset="0"/>
              </a:rPr>
              <a:t>A cold gas absorbs some frequencies from light with a broad continuous spectrum:  </a:t>
            </a:r>
          </a:p>
        </p:txBody>
      </p:sp>
      <p:pic>
        <p:nvPicPr>
          <p:cNvPr id="8" name="Picture 7">
            <a:extLst>
              <a:ext uri="{FF2B5EF4-FFF2-40B4-BE49-F238E27FC236}">
                <a16:creationId xmlns:a16="http://schemas.microsoft.com/office/drawing/2014/main" id="{77992BEA-0051-459B-AC0C-C32EA5B7790F}"/>
              </a:ext>
            </a:extLst>
          </p:cNvPr>
          <p:cNvPicPr>
            <a:picLocks noChangeAspect="1"/>
          </p:cNvPicPr>
          <p:nvPr/>
        </p:nvPicPr>
        <p:blipFill>
          <a:blip r:embed="rId3">
            <a:extLst>
              <a:ext uri="{28A0092B-C50C-407E-A947-70E740481C1C}">
                <a14:useLocalDpi xmlns:a14="http://schemas.microsoft.com/office/drawing/2010/main" val="0"/>
              </a:ext>
            </a:extLst>
          </a:blip>
          <a:srcRect t="63" b="67401"/>
          <a:stretch>
            <a:fillRect/>
          </a:stretch>
        </p:blipFill>
        <p:spPr bwMode="auto">
          <a:xfrm>
            <a:off x="2096300" y="1272277"/>
            <a:ext cx="6275387"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DA3477D2-A6C2-4E15-B6C8-0DDAAA77AFB0}"/>
              </a:ext>
            </a:extLst>
          </p:cNvPr>
          <p:cNvPicPr>
            <a:picLocks noChangeAspect="1"/>
          </p:cNvPicPr>
          <p:nvPr/>
        </p:nvPicPr>
        <p:blipFill>
          <a:blip r:embed="rId3">
            <a:extLst>
              <a:ext uri="{28A0092B-C50C-407E-A947-70E740481C1C}">
                <a14:useLocalDpi xmlns:a14="http://schemas.microsoft.com/office/drawing/2010/main" val="0"/>
              </a:ext>
            </a:extLst>
          </a:blip>
          <a:srcRect t="30516" b="32475"/>
          <a:stretch>
            <a:fillRect/>
          </a:stretch>
        </p:blipFill>
        <p:spPr bwMode="auto">
          <a:xfrm>
            <a:off x="2096300" y="3067740"/>
            <a:ext cx="6275387"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73C46D15-41CB-4B97-82D5-4781F365E8D1}"/>
              </a:ext>
            </a:extLst>
          </p:cNvPr>
          <p:cNvSpPr txBox="1">
            <a:spLocks noChangeArrowheads="1"/>
          </p:cNvSpPr>
          <p:nvPr/>
        </p:nvSpPr>
        <p:spPr bwMode="auto">
          <a:xfrm>
            <a:off x="581825" y="753165"/>
            <a:ext cx="812323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defRPr sz="2000">
                <a:solidFill>
                  <a:schemeClr val="tx1"/>
                </a:solidFill>
                <a:latin typeface="Arial" panose="020B0604020202020204" pitchFamily="34" charset="0"/>
              </a:defRPr>
            </a:lvl1pPr>
            <a:lvl2pPr marL="742950" indent="-285750">
              <a:spcBef>
                <a:spcPct val="20000"/>
              </a:spcBef>
              <a:defRPr>
                <a:solidFill>
                  <a:schemeClr val="tx1"/>
                </a:solidFill>
                <a:latin typeface="Arial" panose="020B0604020202020204" pitchFamily="34" charset="0"/>
              </a:defRPr>
            </a:lvl2pPr>
            <a:lvl3pPr marL="1143000" indent="-228600">
              <a:spcBef>
                <a:spcPct val="20000"/>
              </a:spcBef>
              <a:defRPr sz="1600">
                <a:solidFill>
                  <a:schemeClr val="tx1"/>
                </a:solidFill>
                <a:latin typeface="Arial" panose="020B0604020202020204" pitchFamily="34" charset="0"/>
              </a:defRPr>
            </a:lvl3pPr>
            <a:lvl4pPr marL="1600200" indent="-228600">
              <a:spcBef>
                <a:spcPct val="20000"/>
              </a:spcBef>
              <a:defRPr sz="1400">
                <a:solidFill>
                  <a:schemeClr val="tx1"/>
                </a:solidFill>
                <a:latin typeface="Arial" panose="020B0604020202020204" pitchFamily="34" charset="0"/>
              </a:defRPr>
            </a:lvl4pPr>
            <a:lvl5pPr marL="2057400" indent="-228600">
              <a:spcBef>
                <a:spcPct val="20000"/>
              </a:spcBef>
              <a:defRPr sz="1200">
                <a:solidFill>
                  <a:schemeClr val="tx1"/>
                </a:solidFill>
                <a:latin typeface="Arial" panose="020B0604020202020204" pitchFamily="34" charset="0"/>
              </a:defRPr>
            </a:lvl5pPr>
            <a:lvl6pPr marL="2514600" indent="-228600" eaLnBrk="0" fontAlgn="base" hangingPunct="0">
              <a:spcBef>
                <a:spcPct val="20000"/>
              </a:spcBef>
              <a:spcAft>
                <a:spcPct val="0"/>
              </a:spcAft>
              <a:defRPr sz="1200">
                <a:solidFill>
                  <a:schemeClr val="tx1"/>
                </a:solidFill>
                <a:latin typeface="Arial" panose="020B0604020202020204" pitchFamily="34" charset="0"/>
              </a:defRPr>
            </a:lvl6pPr>
            <a:lvl7pPr marL="2971800" indent="-228600" eaLnBrk="0" fontAlgn="base" hangingPunct="0">
              <a:spcBef>
                <a:spcPct val="20000"/>
              </a:spcBef>
              <a:spcAft>
                <a:spcPct val="0"/>
              </a:spcAft>
              <a:defRPr sz="1200">
                <a:solidFill>
                  <a:schemeClr val="tx1"/>
                </a:solidFill>
                <a:latin typeface="Arial" panose="020B0604020202020204" pitchFamily="34" charset="0"/>
              </a:defRPr>
            </a:lvl7pPr>
            <a:lvl8pPr marL="3429000" indent="-228600" eaLnBrk="0" fontAlgn="base" hangingPunct="0">
              <a:spcBef>
                <a:spcPct val="20000"/>
              </a:spcBef>
              <a:spcAft>
                <a:spcPct val="0"/>
              </a:spcAft>
              <a:defRPr sz="1200">
                <a:solidFill>
                  <a:schemeClr val="tx1"/>
                </a:solidFill>
                <a:latin typeface="Arial" panose="020B0604020202020204" pitchFamily="34" charset="0"/>
              </a:defRPr>
            </a:lvl8pPr>
            <a:lvl9pPr marL="3886200" indent="-228600" eaLnBrk="0" fontAlgn="base" hangingPunct="0">
              <a:spcBef>
                <a:spcPct val="20000"/>
              </a:spcBef>
              <a:spcAft>
                <a:spcPct val="0"/>
              </a:spcAft>
              <a:defRPr sz="1200">
                <a:solidFill>
                  <a:schemeClr val="tx1"/>
                </a:solidFill>
                <a:latin typeface="Arial" panose="020B0604020202020204" pitchFamily="34" charset="0"/>
              </a:defRPr>
            </a:lvl9pPr>
          </a:lstStyle>
          <a:p>
            <a:pPr eaLnBrk="1" hangingPunct="1">
              <a:spcBef>
                <a:spcPct val="0"/>
              </a:spcBef>
            </a:pPr>
            <a:r>
              <a:rPr lang="en-US" altLang="en-US" dirty="0"/>
              <a:t>Some hot media emit light with broad continuous spectra (like a light bulb): </a:t>
            </a:r>
          </a:p>
        </p:txBody>
      </p:sp>
      <p:sp>
        <p:nvSpPr>
          <p:cNvPr id="11" name="TextBox 2">
            <a:extLst>
              <a:ext uri="{FF2B5EF4-FFF2-40B4-BE49-F238E27FC236}">
                <a16:creationId xmlns:a16="http://schemas.microsoft.com/office/drawing/2014/main" id="{CB103001-6139-4FC1-AAB1-0303977CBB1B}"/>
              </a:ext>
            </a:extLst>
          </p:cNvPr>
          <p:cNvSpPr txBox="1"/>
          <p:nvPr/>
        </p:nvSpPr>
        <p:spPr bwMode="auto">
          <a:xfrm>
            <a:off x="2961909" y="1770723"/>
            <a:ext cx="18449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eaLnBrk="1" hangingPunct="1">
              <a:spcBef>
                <a:spcPct val="50000"/>
              </a:spcBef>
            </a:pPr>
            <a:r>
              <a:rPr lang="en-US" sz="1600" dirty="0">
                <a:solidFill>
                  <a:schemeClr val="bg1"/>
                </a:solidFill>
              </a:rPr>
              <a:t>Spectrometer</a:t>
            </a:r>
          </a:p>
        </p:txBody>
      </p:sp>
      <p:sp>
        <p:nvSpPr>
          <p:cNvPr id="12" name="TextBox 10">
            <a:extLst>
              <a:ext uri="{FF2B5EF4-FFF2-40B4-BE49-F238E27FC236}">
                <a16:creationId xmlns:a16="http://schemas.microsoft.com/office/drawing/2014/main" id="{182D5748-C733-4714-9111-7F646370BE61}"/>
              </a:ext>
            </a:extLst>
          </p:cNvPr>
          <p:cNvSpPr txBox="1"/>
          <p:nvPr/>
        </p:nvSpPr>
        <p:spPr bwMode="auto">
          <a:xfrm>
            <a:off x="2961909" y="3739485"/>
            <a:ext cx="184498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eaLnBrk="1" hangingPunct="1">
              <a:spcBef>
                <a:spcPct val="50000"/>
              </a:spcBef>
            </a:pPr>
            <a:r>
              <a:rPr lang="en-US" sz="1600" dirty="0">
                <a:solidFill>
                  <a:schemeClr val="bg1"/>
                </a:solidFill>
              </a:rPr>
              <a:t>Spectrometer</a:t>
            </a:r>
          </a:p>
        </p:txBody>
      </p:sp>
    </p:spTree>
    <p:extLst>
      <p:ext uri="{BB962C8B-B14F-4D97-AF65-F5344CB8AC3E}">
        <p14:creationId xmlns:p14="http://schemas.microsoft.com/office/powerpoint/2010/main" val="250036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Various interactions of radiation with matter</a:t>
            </a:r>
          </a:p>
        </p:txBody>
      </p:sp>
      <p:pic>
        <p:nvPicPr>
          <p:cNvPr id="2" name="图片 1">
            <a:extLst>
              <a:ext uri="{FF2B5EF4-FFF2-40B4-BE49-F238E27FC236}">
                <a16:creationId xmlns:a16="http://schemas.microsoft.com/office/drawing/2014/main" id="{E8F99926-2E39-200B-CEFB-3CFBF8431DEB}"/>
              </a:ext>
            </a:extLst>
          </p:cNvPr>
          <p:cNvPicPr>
            <a:picLocks noChangeAspect="1"/>
          </p:cNvPicPr>
          <p:nvPr/>
        </p:nvPicPr>
        <p:blipFill>
          <a:blip r:embed="rId3"/>
          <a:stretch>
            <a:fillRect/>
          </a:stretch>
        </p:blipFill>
        <p:spPr>
          <a:xfrm>
            <a:off x="434370" y="1248631"/>
            <a:ext cx="8621342" cy="4641368"/>
          </a:xfrm>
          <a:prstGeom prst="rect">
            <a:avLst/>
          </a:prstGeom>
        </p:spPr>
      </p:pic>
      <p:sp>
        <p:nvSpPr>
          <p:cNvPr id="5" name="矩形 4">
            <a:extLst>
              <a:ext uri="{FF2B5EF4-FFF2-40B4-BE49-F238E27FC236}">
                <a16:creationId xmlns:a16="http://schemas.microsoft.com/office/drawing/2014/main" id="{5C2F4C16-ECB0-79CA-C7D8-4FFF581313BC}"/>
              </a:ext>
            </a:extLst>
          </p:cNvPr>
          <p:cNvSpPr/>
          <p:nvPr/>
        </p:nvSpPr>
        <p:spPr>
          <a:xfrm>
            <a:off x="1612801" y="2415277"/>
            <a:ext cx="3306040" cy="1249523"/>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308E8FE7-DF1C-BCF4-A525-66AF7D1B5AC4}"/>
              </a:ext>
            </a:extLst>
          </p:cNvPr>
          <p:cNvSpPr txBox="1"/>
          <p:nvPr/>
        </p:nvSpPr>
        <p:spPr>
          <a:xfrm>
            <a:off x="4918841" y="2720530"/>
            <a:ext cx="2452254" cy="646331"/>
          </a:xfrm>
          <a:prstGeom prst="rect">
            <a:avLst/>
          </a:prstGeom>
          <a:noFill/>
        </p:spPr>
        <p:txBody>
          <a:bodyPr wrap="square">
            <a:spAutoFit/>
          </a:bodyPr>
          <a:lstStyle/>
          <a:p>
            <a:r>
              <a:rPr lang="en-US" altLang="zh-CN" b="1" dirty="0">
                <a:solidFill>
                  <a:srgbClr val="00B050"/>
                </a:solidFill>
              </a:rPr>
              <a:t>Atomic spectroscopy</a:t>
            </a:r>
            <a:endParaRPr lang="zh-CN" altLang="en-US" b="1" dirty="0">
              <a:solidFill>
                <a:srgbClr val="00B050"/>
              </a:solidFill>
            </a:endParaRPr>
          </a:p>
        </p:txBody>
      </p:sp>
      <p:pic>
        <p:nvPicPr>
          <p:cNvPr id="7" name="图片 6">
            <a:extLst>
              <a:ext uri="{FF2B5EF4-FFF2-40B4-BE49-F238E27FC236}">
                <a16:creationId xmlns:a16="http://schemas.microsoft.com/office/drawing/2014/main" id="{0041246A-8C6A-4A29-BAA1-6F7913172916}"/>
              </a:ext>
            </a:extLst>
          </p:cNvPr>
          <p:cNvPicPr>
            <a:picLocks noChangeAspect="1"/>
          </p:cNvPicPr>
          <p:nvPr/>
        </p:nvPicPr>
        <p:blipFill rotWithShape="1">
          <a:blip r:embed="rId4">
            <a:extLst>
              <a:ext uri="{28A0092B-C50C-407E-A947-70E740481C1C}">
                <a14:useLocalDpi xmlns:a14="http://schemas.microsoft.com/office/drawing/2010/main" val="0"/>
              </a:ext>
            </a:extLst>
          </a:blip>
          <a:srcRect b="57447"/>
          <a:stretch/>
        </p:blipFill>
        <p:spPr>
          <a:xfrm rot="16200000">
            <a:off x="-1500553" y="3016543"/>
            <a:ext cx="4935263" cy="912554"/>
          </a:xfrm>
          <a:prstGeom prst="rect">
            <a:avLst/>
          </a:prstGeom>
        </p:spPr>
      </p:pic>
    </p:spTree>
    <p:extLst>
      <p:ext uri="{BB962C8B-B14F-4D97-AF65-F5344CB8AC3E}">
        <p14:creationId xmlns:p14="http://schemas.microsoft.com/office/powerpoint/2010/main" val="1384277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Atomic spectroscopy</a:t>
            </a:r>
          </a:p>
        </p:txBody>
      </p:sp>
      <p:pic>
        <p:nvPicPr>
          <p:cNvPr id="9" name="图片 8">
            <a:extLst>
              <a:ext uri="{FF2B5EF4-FFF2-40B4-BE49-F238E27FC236}">
                <a16:creationId xmlns:a16="http://schemas.microsoft.com/office/drawing/2014/main" id="{187FF55F-11C9-4506-AB3B-89E7339405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501" y="2100841"/>
            <a:ext cx="3988157" cy="2909648"/>
          </a:xfrm>
          <a:prstGeom prst="rect">
            <a:avLst/>
          </a:prstGeom>
        </p:spPr>
      </p:pic>
      <p:pic>
        <p:nvPicPr>
          <p:cNvPr id="13" name="图片 12">
            <a:extLst>
              <a:ext uri="{FF2B5EF4-FFF2-40B4-BE49-F238E27FC236}">
                <a16:creationId xmlns:a16="http://schemas.microsoft.com/office/drawing/2014/main" id="{6524CB08-6373-41DB-8135-8000830689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42743" y="2791483"/>
            <a:ext cx="4055460" cy="1706144"/>
          </a:xfrm>
          <a:prstGeom prst="rect">
            <a:avLst/>
          </a:prstGeom>
        </p:spPr>
      </p:pic>
      <p:sp>
        <p:nvSpPr>
          <p:cNvPr id="27" name="矩形 26">
            <a:extLst>
              <a:ext uri="{FF2B5EF4-FFF2-40B4-BE49-F238E27FC236}">
                <a16:creationId xmlns:a16="http://schemas.microsoft.com/office/drawing/2014/main" id="{3B70A52B-4D4E-448E-9CE1-C703DF247EBB}"/>
              </a:ext>
            </a:extLst>
          </p:cNvPr>
          <p:cNvSpPr/>
          <p:nvPr/>
        </p:nvSpPr>
        <p:spPr>
          <a:xfrm>
            <a:off x="687441" y="679837"/>
            <a:ext cx="8009803" cy="923330"/>
          </a:xfrm>
          <a:prstGeom prst="rect">
            <a:avLst/>
          </a:prstGeom>
        </p:spPr>
        <p:txBody>
          <a:bodyPr wrap="square">
            <a:spAutoFit/>
          </a:bodyPr>
          <a:lstStyle/>
          <a:p>
            <a:r>
              <a:rPr lang="en-US" altLang="zh-CN" dirty="0"/>
              <a:t>Atomic spectroscopy is the study of the electromagnetic radiation absorbed and emitted by atoms. Since unique elements have unique emission spectra, atomic spectroscopy is applied for determination of elemental compositions. </a:t>
            </a:r>
            <a:endParaRPr lang="zh-CN" altLang="en-US" dirty="0"/>
          </a:p>
        </p:txBody>
      </p:sp>
    </p:spTree>
    <p:extLst>
      <p:ext uri="{BB962C8B-B14F-4D97-AF65-F5344CB8AC3E}">
        <p14:creationId xmlns:p14="http://schemas.microsoft.com/office/powerpoint/2010/main" val="2526301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Various interactions of radiation with matter</a:t>
            </a:r>
          </a:p>
        </p:txBody>
      </p:sp>
      <p:pic>
        <p:nvPicPr>
          <p:cNvPr id="2" name="图片 1">
            <a:extLst>
              <a:ext uri="{FF2B5EF4-FFF2-40B4-BE49-F238E27FC236}">
                <a16:creationId xmlns:a16="http://schemas.microsoft.com/office/drawing/2014/main" id="{E8F99926-2E39-200B-CEFB-3CFBF8431DEB}"/>
              </a:ext>
            </a:extLst>
          </p:cNvPr>
          <p:cNvPicPr>
            <a:picLocks noChangeAspect="1"/>
          </p:cNvPicPr>
          <p:nvPr/>
        </p:nvPicPr>
        <p:blipFill>
          <a:blip r:embed="rId3"/>
          <a:stretch>
            <a:fillRect/>
          </a:stretch>
        </p:blipFill>
        <p:spPr>
          <a:xfrm>
            <a:off x="434370" y="1248631"/>
            <a:ext cx="8621342" cy="4641368"/>
          </a:xfrm>
          <a:prstGeom prst="rect">
            <a:avLst/>
          </a:prstGeom>
        </p:spPr>
      </p:pic>
      <p:sp>
        <p:nvSpPr>
          <p:cNvPr id="5" name="矩形 4">
            <a:extLst>
              <a:ext uri="{FF2B5EF4-FFF2-40B4-BE49-F238E27FC236}">
                <a16:creationId xmlns:a16="http://schemas.microsoft.com/office/drawing/2014/main" id="{5C2F4C16-ECB0-79CA-C7D8-4FFF581313BC}"/>
              </a:ext>
            </a:extLst>
          </p:cNvPr>
          <p:cNvSpPr/>
          <p:nvPr/>
        </p:nvSpPr>
        <p:spPr>
          <a:xfrm>
            <a:off x="2757599" y="3326400"/>
            <a:ext cx="4554891" cy="1116324"/>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308E8FE7-DF1C-BCF4-A525-66AF7D1B5AC4}"/>
              </a:ext>
            </a:extLst>
          </p:cNvPr>
          <p:cNvSpPr txBox="1"/>
          <p:nvPr/>
        </p:nvSpPr>
        <p:spPr>
          <a:xfrm>
            <a:off x="7407072" y="3561396"/>
            <a:ext cx="2452254" cy="646331"/>
          </a:xfrm>
          <a:prstGeom prst="rect">
            <a:avLst/>
          </a:prstGeom>
          <a:noFill/>
        </p:spPr>
        <p:txBody>
          <a:bodyPr wrap="square">
            <a:spAutoFit/>
          </a:bodyPr>
          <a:lstStyle/>
          <a:p>
            <a:r>
              <a:rPr lang="en-US" altLang="zh-CN" b="1" dirty="0">
                <a:solidFill>
                  <a:srgbClr val="00B050"/>
                </a:solidFill>
              </a:rPr>
              <a:t>Molecule spectroscopy</a:t>
            </a:r>
            <a:endParaRPr lang="zh-CN" altLang="en-US" b="1" dirty="0">
              <a:solidFill>
                <a:srgbClr val="00B050"/>
              </a:solidFill>
            </a:endParaRPr>
          </a:p>
        </p:txBody>
      </p:sp>
      <p:pic>
        <p:nvPicPr>
          <p:cNvPr id="7" name="图片 6">
            <a:extLst>
              <a:ext uri="{FF2B5EF4-FFF2-40B4-BE49-F238E27FC236}">
                <a16:creationId xmlns:a16="http://schemas.microsoft.com/office/drawing/2014/main" id="{0041246A-8C6A-4A29-BAA1-6F7913172916}"/>
              </a:ext>
            </a:extLst>
          </p:cNvPr>
          <p:cNvPicPr>
            <a:picLocks noChangeAspect="1"/>
          </p:cNvPicPr>
          <p:nvPr/>
        </p:nvPicPr>
        <p:blipFill rotWithShape="1">
          <a:blip r:embed="rId4">
            <a:extLst>
              <a:ext uri="{28A0092B-C50C-407E-A947-70E740481C1C}">
                <a14:useLocalDpi xmlns:a14="http://schemas.microsoft.com/office/drawing/2010/main" val="0"/>
              </a:ext>
            </a:extLst>
          </a:blip>
          <a:srcRect b="57447"/>
          <a:stretch/>
        </p:blipFill>
        <p:spPr>
          <a:xfrm rot="16200000">
            <a:off x="-1500553" y="3016543"/>
            <a:ext cx="4935263" cy="912554"/>
          </a:xfrm>
          <a:prstGeom prst="rect">
            <a:avLst/>
          </a:prstGeom>
        </p:spPr>
      </p:pic>
    </p:spTree>
    <p:extLst>
      <p:ext uri="{BB962C8B-B14F-4D97-AF65-F5344CB8AC3E}">
        <p14:creationId xmlns:p14="http://schemas.microsoft.com/office/powerpoint/2010/main" val="2506365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Vibrational Frequencies for Various Bonds</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Text Box 11">
            <a:extLst>
              <a:ext uri="{FF2B5EF4-FFF2-40B4-BE49-F238E27FC236}">
                <a16:creationId xmlns:a16="http://schemas.microsoft.com/office/drawing/2014/main" id="{27D0810A-B899-D105-9651-DCD6182509C8}"/>
              </a:ext>
            </a:extLst>
          </p:cNvPr>
          <p:cNvSpPr txBox="1">
            <a:spLocks noChangeArrowheads="1"/>
          </p:cNvSpPr>
          <p:nvPr/>
        </p:nvSpPr>
        <p:spPr bwMode="auto">
          <a:xfrm>
            <a:off x="503821" y="778617"/>
            <a:ext cx="7772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2"/>
                </a:solidFill>
                <a:latin typeface="Arial" panose="020B0604020202020204" pitchFamily="34" charset="0"/>
              </a:defRPr>
            </a:lvl1pPr>
            <a:lvl2pPr marL="742950" indent="-285750">
              <a:defRPr>
                <a:solidFill>
                  <a:schemeClr val="tx2"/>
                </a:solidFill>
                <a:latin typeface="Arial" panose="020B0604020202020204" pitchFamily="34" charset="0"/>
              </a:defRPr>
            </a:lvl2pPr>
            <a:lvl3pPr marL="1143000" indent="-228600">
              <a:defRPr>
                <a:solidFill>
                  <a:schemeClr val="tx2"/>
                </a:solidFill>
                <a:latin typeface="Arial" panose="020B0604020202020204" pitchFamily="34" charset="0"/>
              </a:defRPr>
            </a:lvl3pPr>
            <a:lvl4pPr marL="1600200" indent="-228600">
              <a:defRPr>
                <a:solidFill>
                  <a:schemeClr val="tx2"/>
                </a:solidFill>
                <a:latin typeface="Arial" panose="020B0604020202020204" pitchFamily="34" charset="0"/>
              </a:defRPr>
            </a:lvl4pPr>
            <a:lvl5pPr marL="2057400" indent="-228600">
              <a:defRPr>
                <a:solidFill>
                  <a:schemeClr val="tx2"/>
                </a:solidFill>
                <a:latin typeface="Arial" panose="020B0604020202020204" pitchFamily="34" charset="0"/>
              </a:defRPr>
            </a:lvl5pPr>
            <a:lvl6pPr marL="2514600" indent="-228600" eaLnBrk="0" fontAlgn="base" hangingPunct="0">
              <a:spcBef>
                <a:spcPct val="0"/>
              </a:spcBef>
              <a:spcAft>
                <a:spcPct val="0"/>
              </a:spcAft>
              <a:defRPr>
                <a:solidFill>
                  <a:schemeClr val="tx2"/>
                </a:solidFill>
                <a:latin typeface="Arial" panose="020B0604020202020204" pitchFamily="34" charset="0"/>
              </a:defRPr>
            </a:lvl6pPr>
            <a:lvl7pPr marL="2971800" indent="-228600" eaLnBrk="0" fontAlgn="base" hangingPunct="0">
              <a:spcBef>
                <a:spcPct val="0"/>
              </a:spcBef>
              <a:spcAft>
                <a:spcPct val="0"/>
              </a:spcAft>
              <a:defRPr>
                <a:solidFill>
                  <a:schemeClr val="tx2"/>
                </a:solidFill>
                <a:latin typeface="Arial" panose="020B0604020202020204" pitchFamily="34" charset="0"/>
              </a:defRPr>
            </a:lvl7pPr>
            <a:lvl8pPr marL="3429000" indent="-228600" eaLnBrk="0" fontAlgn="base" hangingPunct="0">
              <a:spcBef>
                <a:spcPct val="0"/>
              </a:spcBef>
              <a:spcAft>
                <a:spcPct val="0"/>
              </a:spcAft>
              <a:defRPr>
                <a:solidFill>
                  <a:schemeClr val="tx2"/>
                </a:solidFill>
                <a:latin typeface="Arial" panose="020B0604020202020204" pitchFamily="34" charset="0"/>
              </a:defRPr>
            </a:lvl8pPr>
            <a:lvl9pPr marL="3886200" indent="-228600" eaLnBrk="0" fontAlgn="base" hangingPunct="0">
              <a:spcBef>
                <a:spcPct val="0"/>
              </a:spcBef>
              <a:spcAft>
                <a:spcPct val="0"/>
              </a:spcAft>
              <a:defRPr>
                <a:solidFill>
                  <a:schemeClr val="tx2"/>
                </a:solidFill>
                <a:latin typeface="Arial" panose="020B0604020202020204" pitchFamily="34" charset="0"/>
              </a:defRPr>
            </a:lvl9pPr>
          </a:lstStyle>
          <a:p>
            <a:pPr>
              <a:spcBef>
                <a:spcPct val="50000"/>
              </a:spcBef>
            </a:pPr>
            <a:r>
              <a:rPr lang="en-US" altLang="en-US" sz="2000">
                <a:solidFill>
                  <a:schemeClr val="tx1"/>
                </a:solidFill>
              </a:rPr>
              <a:t>Different bonds have different vibrational frequencies (which are also affected by other nearby atoms).</a:t>
            </a:r>
          </a:p>
        </p:txBody>
      </p:sp>
      <p:sp>
        <p:nvSpPr>
          <p:cNvPr id="8" name="Text Box 12">
            <a:extLst>
              <a:ext uri="{FF2B5EF4-FFF2-40B4-BE49-F238E27FC236}">
                <a16:creationId xmlns:a16="http://schemas.microsoft.com/office/drawing/2014/main" id="{E2C8B874-306F-F76E-7338-7D716C52E9C8}"/>
              </a:ext>
            </a:extLst>
          </p:cNvPr>
          <p:cNvSpPr txBox="1">
            <a:spLocks noChangeArrowheads="1"/>
          </p:cNvSpPr>
          <p:nvPr/>
        </p:nvSpPr>
        <p:spPr bwMode="auto">
          <a:xfrm>
            <a:off x="761856" y="4604401"/>
            <a:ext cx="2353432"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2"/>
                </a:solidFill>
                <a:latin typeface="Arial" panose="020B0604020202020204" pitchFamily="34" charset="0"/>
              </a:defRPr>
            </a:lvl1pPr>
            <a:lvl2pPr marL="742950" indent="-285750">
              <a:defRPr>
                <a:solidFill>
                  <a:schemeClr val="tx2"/>
                </a:solidFill>
                <a:latin typeface="Arial" panose="020B0604020202020204" pitchFamily="34" charset="0"/>
              </a:defRPr>
            </a:lvl2pPr>
            <a:lvl3pPr marL="1143000" indent="-228600">
              <a:defRPr>
                <a:solidFill>
                  <a:schemeClr val="tx2"/>
                </a:solidFill>
                <a:latin typeface="Arial" panose="020B0604020202020204" pitchFamily="34" charset="0"/>
              </a:defRPr>
            </a:lvl3pPr>
            <a:lvl4pPr marL="1600200" indent="-228600">
              <a:defRPr>
                <a:solidFill>
                  <a:schemeClr val="tx2"/>
                </a:solidFill>
                <a:latin typeface="Arial" panose="020B0604020202020204" pitchFamily="34" charset="0"/>
              </a:defRPr>
            </a:lvl4pPr>
            <a:lvl5pPr marL="2057400" indent="-228600">
              <a:defRPr>
                <a:solidFill>
                  <a:schemeClr val="tx2"/>
                </a:solidFill>
                <a:latin typeface="Arial" panose="020B0604020202020204" pitchFamily="34" charset="0"/>
              </a:defRPr>
            </a:lvl5pPr>
            <a:lvl6pPr marL="2514600" indent="-228600" eaLnBrk="0" fontAlgn="base" hangingPunct="0">
              <a:spcBef>
                <a:spcPct val="0"/>
              </a:spcBef>
              <a:spcAft>
                <a:spcPct val="0"/>
              </a:spcAft>
              <a:defRPr>
                <a:solidFill>
                  <a:schemeClr val="tx2"/>
                </a:solidFill>
                <a:latin typeface="Arial" panose="020B0604020202020204" pitchFamily="34" charset="0"/>
              </a:defRPr>
            </a:lvl6pPr>
            <a:lvl7pPr marL="2971800" indent="-228600" eaLnBrk="0" fontAlgn="base" hangingPunct="0">
              <a:spcBef>
                <a:spcPct val="0"/>
              </a:spcBef>
              <a:spcAft>
                <a:spcPct val="0"/>
              </a:spcAft>
              <a:defRPr>
                <a:solidFill>
                  <a:schemeClr val="tx2"/>
                </a:solidFill>
                <a:latin typeface="Arial" panose="020B0604020202020204" pitchFamily="34" charset="0"/>
              </a:defRPr>
            </a:lvl7pPr>
            <a:lvl8pPr marL="3429000" indent="-228600" eaLnBrk="0" fontAlgn="base" hangingPunct="0">
              <a:spcBef>
                <a:spcPct val="0"/>
              </a:spcBef>
              <a:spcAft>
                <a:spcPct val="0"/>
              </a:spcAft>
              <a:defRPr>
                <a:solidFill>
                  <a:schemeClr val="tx2"/>
                </a:solidFill>
                <a:latin typeface="Arial" panose="020B0604020202020204" pitchFamily="34" charset="0"/>
              </a:defRPr>
            </a:lvl8pPr>
            <a:lvl9pPr marL="3886200" indent="-228600" eaLnBrk="0" fontAlgn="base" hangingPunct="0">
              <a:spcBef>
                <a:spcPct val="0"/>
              </a:spcBef>
              <a:spcAft>
                <a:spcPct val="0"/>
              </a:spcAft>
              <a:defRPr>
                <a:solidFill>
                  <a:schemeClr val="tx2"/>
                </a:solidFill>
                <a:latin typeface="Arial" panose="020B0604020202020204" pitchFamily="34" charset="0"/>
              </a:defRPr>
            </a:lvl9pPr>
          </a:lstStyle>
          <a:p>
            <a:pPr>
              <a:spcBef>
                <a:spcPct val="50000"/>
              </a:spcBef>
            </a:pPr>
            <a:r>
              <a:rPr lang="en-US" altLang="en-US" sz="2000" dirty="0">
                <a:solidFill>
                  <a:schemeClr val="tx1"/>
                </a:solidFill>
              </a:rPr>
              <a:t>Notice that bonds containing Hydrogen vibrate faster because H is lighter.</a:t>
            </a:r>
          </a:p>
        </p:txBody>
      </p:sp>
      <p:grpSp>
        <p:nvGrpSpPr>
          <p:cNvPr id="9" name="Group 15">
            <a:extLst>
              <a:ext uri="{FF2B5EF4-FFF2-40B4-BE49-F238E27FC236}">
                <a16:creationId xmlns:a16="http://schemas.microsoft.com/office/drawing/2014/main" id="{066F87CB-9282-2AA2-B7C8-252915A0E9BD}"/>
              </a:ext>
            </a:extLst>
          </p:cNvPr>
          <p:cNvGrpSpPr>
            <a:grpSpLocks/>
          </p:cNvGrpSpPr>
          <p:nvPr/>
        </p:nvGrpSpPr>
        <p:grpSpPr bwMode="auto">
          <a:xfrm>
            <a:off x="435558" y="1772392"/>
            <a:ext cx="8229600" cy="2471738"/>
            <a:chOff x="293" y="1552"/>
            <a:chExt cx="5184" cy="1557"/>
          </a:xfrm>
        </p:grpSpPr>
        <p:sp>
          <p:nvSpPr>
            <p:cNvPr id="10" name="Rectangle 6">
              <a:extLst>
                <a:ext uri="{FF2B5EF4-FFF2-40B4-BE49-F238E27FC236}">
                  <a16:creationId xmlns:a16="http://schemas.microsoft.com/office/drawing/2014/main" id="{08FDFFD6-62B4-C5E6-957F-D42E183DA5C4}"/>
                </a:ext>
              </a:extLst>
            </p:cNvPr>
            <p:cNvSpPr>
              <a:spLocks noChangeArrowheads="1"/>
            </p:cNvSpPr>
            <p:nvPr/>
          </p:nvSpPr>
          <p:spPr bwMode="auto">
            <a:xfrm>
              <a:off x="293" y="1552"/>
              <a:ext cx="5184" cy="1557"/>
            </a:xfrm>
            <a:prstGeom prst="rect">
              <a:avLst/>
            </a:prstGeom>
            <a:solidFill>
              <a:schemeClr val="bg1"/>
            </a:solidFill>
            <a:ln w="9525">
              <a:solidFill>
                <a:schemeClr val="bg1"/>
              </a:solidFill>
              <a:miter lim="800000"/>
              <a:headEnd/>
              <a:tailEnd/>
            </a:ln>
          </p:spPr>
          <p:txBody>
            <a:bodyPr wrap="none" anchor="ctr"/>
            <a:lstStyle>
              <a:lvl1pPr>
                <a:defRPr>
                  <a:solidFill>
                    <a:schemeClr val="tx2"/>
                  </a:solidFill>
                  <a:latin typeface="Arial" panose="020B0604020202020204" pitchFamily="34" charset="0"/>
                </a:defRPr>
              </a:lvl1pPr>
              <a:lvl2pPr marL="742950" indent="-285750">
                <a:defRPr>
                  <a:solidFill>
                    <a:schemeClr val="tx2"/>
                  </a:solidFill>
                  <a:latin typeface="Arial" panose="020B0604020202020204" pitchFamily="34" charset="0"/>
                </a:defRPr>
              </a:lvl2pPr>
              <a:lvl3pPr marL="1143000" indent="-228600">
                <a:defRPr>
                  <a:solidFill>
                    <a:schemeClr val="tx2"/>
                  </a:solidFill>
                  <a:latin typeface="Arial" panose="020B0604020202020204" pitchFamily="34" charset="0"/>
                </a:defRPr>
              </a:lvl3pPr>
              <a:lvl4pPr marL="1600200" indent="-228600">
                <a:defRPr>
                  <a:solidFill>
                    <a:schemeClr val="tx2"/>
                  </a:solidFill>
                  <a:latin typeface="Arial" panose="020B0604020202020204" pitchFamily="34" charset="0"/>
                </a:defRPr>
              </a:lvl4pPr>
              <a:lvl5pPr marL="2057400" indent="-228600">
                <a:defRPr>
                  <a:solidFill>
                    <a:schemeClr val="tx2"/>
                  </a:solidFill>
                  <a:latin typeface="Arial" panose="020B0604020202020204" pitchFamily="34" charset="0"/>
                </a:defRPr>
              </a:lvl5pPr>
              <a:lvl6pPr marL="2514600" indent="-228600" eaLnBrk="0" fontAlgn="base" hangingPunct="0">
                <a:spcBef>
                  <a:spcPct val="0"/>
                </a:spcBef>
                <a:spcAft>
                  <a:spcPct val="0"/>
                </a:spcAft>
                <a:defRPr>
                  <a:solidFill>
                    <a:schemeClr val="tx2"/>
                  </a:solidFill>
                  <a:latin typeface="Arial" panose="020B0604020202020204" pitchFamily="34" charset="0"/>
                </a:defRPr>
              </a:lvl6pPr>
              <a:lvl7pPr marL="2971800" indent="-228600" eaLnBrk="0" fontAlgn="base" hangingPunct="0">
                <a:spcBef>
                  <a:spcPct val="0"/>
                </a:spcBef>
                <a:spcAft>
                  <a:spcPct val="0"/>
                </a:spcAft>
                <a:defRPr>
                  <a:solidFill>
                    <a:schemeClr val="tx2"/>
                  </a:solidFill>
                  <a:latin typeface="Arial" panose="020B0604020202020204" pitchFamily="34" charset="0"/>
                </a:defRPr>
              </a:lvl7pPr>
              <a:lvl8pPr marL="3429000" indent="-228600" eaLnBrk="0" fontAlgn="base" hangingPunct="0">
                <a:spcBef>
                  <a:spcPct val="0"/>
                </a:spcBef>
                <a:spcAft>
                  <a:spcPct val="0"/>
                </a:spcAft>
                <a:defRPr>
                  <a:solidFill>
                    <a:schemeClr val="tx2"/>
                  </a:solidFill>
                  <a:latin typeface="Arial" panose="020B0604020202020204" pitchFamily="34" charset="0"/>
                </a:defRPr>
              </a:lvl8pPr>
              <a:lvl9pPr marL="3886200" indent="-228600" eaLnBrk="0" fontAlgn="base" hangingPunct="0">
                <a:spcBef>
                  <a:spcPct val="0"/>
                </a:spcBef>
                <a:spcAft>
                  <a:spcPct val="0"/>
                </a:spcAft>
                <a:defRPr>
                  <a:solidFill>
                    <a:schemeClr val="tx2"/>
                  </a:solidFill>
                  <a:latin typeface="Arial" panose="020B0604020202020204" pitchFamily="34" charset="0"/>
                </a:defRPr>
              </a:lvl9pPr>
            </a:lstStyle>
            <a:p>
              <a:endParaRPr lang="en-US" altLang="en-US"/>
            </a:p>
          </p:txBody>
        </p:sp>
        <p:pic>
          <p:nvPicPr>
            <p:cNvPr id="11" name="Picture 5" descr="IR_summary_version_2">
              <a:extLst>
                <a:ext uri="{FF2B5EF4-FFF2-40B4-BE49-F238E27FC236}">
                  <a16:creationId xmlns:a16="http://schemas.microsoft.com/office/drawing/2014/main" id="{12B95D44-95D4-064B-EE02-2DC405B9A8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 y="1679"/>
              <a:ext cx="4974" cy="1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8">
              <a:extLst>
                <a:ext uri="{FF2B5EF4-FFF2-40B4-BE49-F238E27FC236}">
                  <a16:creationId xmlns:a16="http://schemas.microsoft.com/office/drawing/2014/main" id="{7AD0C4AF-2D2A-445A-9EFB-F8554E65A8EB}"/>
                </a:ext>
              </a:extLst>
            </p:cNvPr>
            <p:cNvSpPr>
              <a:spLocks noChangeArrowheads="1"/>
            </p:cNvSpPr>
            <p:nvPr/>
          </p:nvSpPr>
          <p:spPr bwMode="auto">
            <a:xfrm>
              <a:off x="5115" y="2620"/>
              <a:ext cx="282" cy="95"/>
            </a:xfrm>
            <a:prstGeom prst="rect">
              <a:avLst/>
            </a:prstGeom>
            <a:solidFill>
              <a:schemeClr val="bg1"/>
            </a:solidFill>
            <a:ln w="9525">
              <a:solidFill>
                <a:schemeClr val="bg1"/>
              </a:solidFill>
              <a:miter lim="800000"/>
              <a:headEnd/>
              <a:tailEnd/>
            </a:ln>
          </p:spPr>
          <p:txBody>
            <a:bodyPr wrap="none" anchor="ctr"/>
            <a:lstStyle>
              <a:lvl1pPr>
                <a:defRPr>
                  <a:solidFill>
                    <a:schemeClr val="tx2"/>
                  </a:solidFill>
                  <a:latin typeface="Arial" panose="020B0604020202020204" pitchFamily="34" charset="0"/>
                </a:defRPr>
              </a:lvl1pPr>
              <a:lvl2pPr marL="742950" indent="-285750">
                <a:defRPr>
                  <a:solidFill>
                    <a:schemeClr val="tx2"/>
                  </a:solidFill>
                  <a:latin typeface="Arial" panose="020B0604020202020204" pitchFamily="34" charset="0"/>
                </a:defRPr>
              </a:lvl2pPr>
              <a:lvl3pPr marL="1143000" indent="-228600">
                <a:defRPr>
                  <a:solidFill>
                    <a:schemeClr val="tx2"/>
                  </a:solidFill>
                  <a:latin typeface="Arial" panose="020B0604020202020204" pitchFamily="34" charset="0"/>
                </a:defRPr>
              </a:lvl3pPr>
              <a:lvl4pPr marL="1600200" indent="-228600">
                <a:defRPr>
                  <a:solidFill>
                    <a:schemeClr val="tx2"/>
                  </a:solidFill>
                  <a:latin typeface="Arial" panose="020B0604020202020204" pitchFamily="34" charset="0"/>
                </a:defRPr>
              </a:lvl4pPr>
              <a:lvl5pPr marL="2057400" indent="-228600">
                <a:defRPr>
                  <a:solidFill>
                    <a:schemeClr val="tx2"/>
                  </a:solidFill>
                  <a:latin typeface="Arial" panose="020B0604020202020204" pitchFamily="34" charset="0"/>
                </a:defRPr>
              </a:lvl5pPr>
              <a:lvl6pPr marL="2514600" indent="-228600" eaLnBrk="0" fontAlgn="base" hangingPunct="0">
                <a:spcBef>
                  <a:spcPct val="0"/>
                </a:spcBef>
                <a:spcAft>
                  <a:spcPct val="0"/>
                </a:spcAft>
                <a:defRPr>
                  <a:solidFill>
                    <a:schemeClr val="tx2"/>
                  </a:solidFill>
                  <a:latin typeface="Arial" panose="020B0604020202020204" pitchFamily="34" charset="0"/>
                </a:defRPr>
              </a:lvl6pPr>
              <a:lvl7pPr marL="2971800" indent="-228600" eaLnBrk="0" fontAlgn="base" hangingPunct="0">
                <a:spcBef>
                  <a:spcPct val="0"/>
                </a:spcBef>
                <a:spcAft>
                  <a:spcPct val="0"/>
                </a:spcAft>
                <a:defRPr>
                  <a:solidFill>
                    <a:schemeClr val="tx2"/>
                  </a:solidFill>
                  <a:latin typeface="Arial" panose="020B0604020202020204" pitchFamily="34" charset="0"/>
                </a:defRPr>
              </a:lvl7pPr>
              <a:lvl8pPr marL="3429000" indent="-228600" eaLnBrk="0" fontAlgn="base" hangingPunct="0">
                <a:spcBef>
                  <a:spcPct val="0"/>
                </a:spcBef>
                <a:spcAft>
                  <a:spcPct val="0"/>
                </a:spcAft>
                <a:defRPr>
                  <a:solidFill>
                    <a:schemeClr val="tx2"/>
                  </a:solidFill>
                  <a:latin typeface="Arial" panose="020B0604020202020204" pitchFamily="34" charset="0"/>
                </a:defRPr>
              </a:lvl8pPr>
              <a:lvl9pPr marL="3886200" indent="-228600" eaLnBrk="0" fontAlgn="base" hangingPunct="0">
                <a:spcBef>
                  <a:spcPct val="0"/>
                </a:spcBef>
                <a:spcAft>
                  <a:spcPct val="0"/>
                </a:spcAft>
                <a:defRPr>
                  <a:solidFill>
                    <a:schemeClr val="tx2"/>
                  </a:solidFill>
                  <a:latin typeface="Arial" panose="020B0604020202020204" pitchFamily="34" charset="0"/>
                </a:defRPr>
              </a:lvl9pPr>
            </a:lstStyle>
            <a:p>
              <a:endParaRPr lang="en-US" altLang="en-US"/>
            </a:p>
          </p:txBody>
        </p:sp>
        <p:sp>
          <p:nvSpPr>
            <p:cNvPr id="13" name="Rectangle 9">
              <a:extLst>
                <a:ext uri="{FF2B5EF4-FFF2-40B4-BE49-F238E27FC236}">
                  <a16:creationId xmlns:a16="http://schemas.microsoft.com/office/drawing/2014/main" id="{12A19C96-7F36-C150-945A-EA8D31EC1B29}"/>
                </a:ext>
              </a:extLst>
            </p:cNvPr>
            <p:cNvSpPr>
              <a:spLocks noChangeArrowheads="1"/>
            </p:cNvSpPr>
            <p:nvPr/>
          </p:nvSpPr>
          <p:spPr bwMode="auto">
            <a:xfrm flipV="1">
              <a:off x="5280" y="2579"/>
              <a:ext cx="132" cy="68"/>
            </a:xfrm>
            <a:prstGeom prst="rect">
              <a:avLst/>
            </a:prstGeom>
            <a:solidFill>
              <a:schemeClr val="bg1"/>
            </a:solidFill>
            <a:ln w="9525">
              <a:solidFill>
                <a:schemeClr val="bg1"/>
              </a:solidFill>
              <a:miter lim="800000"/>
              <a:headEnd/>
              <a:tailEnd/>
            </a:ln>
          </p:spPr>
          <p:txBody>
            <a:bodyPr wrap="none" anchor="ctr"/>
            <a:lstStyle>
              <a:lvl1pPr>
                <a:defRPr>
                  <a:solidFill>
                    <a:schemeClr val="tx2"/>
                  </a:solidFill>
                  <a:latin typeface="Arial" panose="020B0604020202020204" pitchFamily="34" charset="0"/>
                </a:defRPr>
              </a:lvl1pPr>
              <a:lvl2pPr marL="742950" indent="-285750">
                <a:defRPr>
                  <a:solidFill>
                    <a:schemeClr val="tx2"/>
                  </a:solidFill>
                  <a:latin typeface="Arial" panose="020B0604020202020204" pitchFamily="34" charset="0"/>
                </a:defRPr>
              </a:lvl2pPr>
              <a:lvl3pPr marL="1143000" indent="-228600">
                <a:defRPr>
                  <a:solidFill>
                    <a:schemeClr val="tx2"/>
                  </a:solidFill>
                  <a:latin typeface="Arial" panose="020B0604020202020204" pitchFamily="34" charset="0"/>
                </a:defRPr>
              </a:lvl3pPr>
              <a:lvl4pPr marL="1600200" indent="-228600">
                <a:defRPr>
                  <a:solidFill>
                    <a:schemeClr val="tx2"/>
                  </a:solidFill>
                  <a:latin typeface="Arial" panose="020B0604020202020204" pitchFamily="34" charset="0"/>
                </a:defRPr>
              </a:lvl4pPr>
              <a:lvl5pPr marL="2057400" indent="-228600">
                <a:defRPr>
                  <a:solidFill>
                    <a:schemeClr val="tx2"/>
                  </a:solidFill>
                  <a:latin typeface="Arial" panose="020B0604020202020204" pitchFamily="34" charset="0"/>
                </a:defRPr>
              </a:lvl5pPr>
              <a:lvl6pPr marL="2514600" indent="-228600" eaLnBrk="0" fontAlgn="base" hangingPunct="0">
                <a:spcBef>
                  <a:spcPct val="0"/>
                </a:spcBef>
                <a:spcAft>
                  <a:spcPct val="0"/>
                </a:spcAft>
                <a:defRPr>
                  <a:solidFill>
                    <a:schemeClr val="tx2"/>
                  </a:solidFill>
                  <a:latin typeface="Arial" panose="020B0604020202020204" pitchFamily="34" charset="0"/>
                </a:defRPr>
              </a:lvl6pPr>
              <a:lvl7pPr marL="2971800" indent="-228600" eaLnBrk="0" fontAlgn="base" hangingPunct="0">
                <a:spcBef>
                  <a:spcPct val="0"/>
                </a:spcBef>
                <a:spcAft>
                  <a:spcPct val="0"/>
                </a:spcAft>
                <a:defRPr>
                  <a:solidFill>
                    <a:schemeClr val="tx2"/>
                  </a:solidFill>
                  <a:latin typeface="Arial" panose="020B0604020202020204" pitchFamily="34" charset="0"/>
                </a:defRPr>
              </a:lvl7pPr>
              <a:lvl8pPr marL="3429000" indent="-228600" eaLnBrk="0" fontAlgn="base" hangingPunct="0">
                <a:spcBef>
                  <a:spcPct val="0"/>
                </a:spcBef>
                <a:spcAft>
                  <a:spcPct val="0"/>
                </a:spcAft>
                <a:defRPr>
                  <a:solidFill>
                    <a:schemeClr val="tx2"/>
                  </a:solidFill>
                  <a:latin typeface="Arial" panose="020B0604020202020204" pitchFamily="34" charset="0"/>
                </a:defRPr>
              </a:lvl8pPr>
              <a:lvl9pPr marL="3886200" indent="-228600" eaLnBrk="0" fontAlgn="base" hangingPunct="0">
                <a:spcBef>
                  <a:spcPct val="0"/>
                </a:spcBef>
                <a:spcAft>
                  <a:spcPct val="0"/>
                </a:spcAft>
                <a:defRPr>
                  <a:solidFill>
                    <a:schemeClr val="tx2"/>
                  </a:solidFill>
                  <a:latin typeface="Arial" panose="020B0604020202020204" pitchFamily="34" charset="0"/>
                </a:defRPr>
              </a:lvl9pPr>
            </a:lstStyle>
            <a:p>
              <a:endParaRPr lang="en-US" altLang="en-US"/>
            </a:p>
          </p:txBody>
        </p:sp>
        <p:sp>
          <p:nvSpPr>
            <p:cNvPr id="14" name="Text Box 10">
              <a:extLst>
                <a:ext uri="{FF2B5EF4-FFF2-40B4-BE49-F238E27FC236}">
                  <a16:creationId xmlns:a16="http://schemas.microsoft.com/office/drawing/2014/main" id="{186B5E9F-98E8-A6E9-A4C9-C73A29E77EE6}"/>
                </a:ext>
              </a:extLst>
            </p:cNvPr>
            <p:cNvSpPr txBox="1">
              <a:spLocks noChangeArrowheads="1"/>
            </p:cNvSpPr>
            <p:nvPr/>
          </p:nvSpPr>
          <p:spPr bwMode="auto">
            <a:xfrm>
              <a:off x="3148" y="2844"/>
              <a:ext cx="13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2"/>
                  </a:solidFill>
                  <a:latin typeface="Arial" panose="020B0604020202020204" pitchFamily="34" charset="0"/>
                </a:defRPr>
              </a:lvl1pPr>
              <a:lvl2pPr marL="742950" indent="-285750">
                <a:defRPr>
                  <a:solidFill>
                    <a:schemeClr val="tx2"/>
                  </a:solidFill>
                  <a:latin typeface="Arial" panose="020B0604020202020204" pitchFamily="34" charset="0"/>
                </a:defRPr>
              </a:lvl2pPr>
              <a:lvl3pPr marL="1143000" indent="-228600">
                <a:defRPr>
                  <a:solidFill>
                    <a:schemeClr val="tx2"/>
                  </a:solidFill>
                  <a:latin typeface="Arial" panose="020B0604020202020204" pitchFamily="34" charset="0"/>
                </a:defRPr>
              </a:lvl3pPr>
              <a:lvl4pPr marL="1600200" indent="-228600">
                <a:defRPr>
                  <a:solidFill>
                    <a:schemeClr val="tx2"/>
                  </a:solidFill>
                  <a:latin typeface="Arial" panose="020B0604020202020204" pitchFamily="34" charset="0"/>
                </a:defRPr>
              </a:lvl4pPr>
              <a:lvl5pPr marL="2057400" indent="-228600">
                <a:defRPr>
                  <a:solidFill>
                    <a:schemeClr val="tx2"/>
                  </a:solidFill>
                  <a:latin typeface="Arial" panose="020B0604020202020204" pitchFamily="34" charset="0"/>
                </a:defRPr>
              </a:lvl5pPr>
              <a:lvl6pPr marL="2514600" indent="-228600" eaLnBrk="0" fontAlgn="base" hangingPunct="0">
                <a:spcBef>
                  <a:spcPct val="0"/>
                </a:spcBef>
                <a:spcAft>
                  <a:spcPct val="0"/>
                </a:spcAft>
                <a:defRPr>
                  <a:solidFill>
                    <a:schemeClr val="tx2"/>
                  </a:solidFill>
                  <a:latin typeface="Arial" panose="020B0604020202020204" pitchFamily="34" charset="0"/>
                </a:defRPr>
              </a:lvl6pPr>
              <a:lvl7pPr marL="2971800" indent="-228600" eaLnBrk="0" fontAlgn="base" hangingPunct="0">
                <a:spcBef>
                  <a:spcPct val="0"/>
                </a:spcBef>
                <a:spcAft>
                  <a:spcPct val="0"/>
                </a:spcAft>
                <a:defRPr>
                  <a:solidFill>
                    <a:schemeClr val="tx2"/>
                  </a:solidFill>
                  <a:latin typeface="Arial" panose="020B0604020202020204" pitchFamily="34" charset="0"/>
                </a:defRPr>
              </a:lvl7pPr>
              <a:lvl8pPr marL="3429000" indent="-228600" eaLnBrk="0" fontAlgn="base" hangingPunct="0">
                <a:spcBef>
                  <a:spcPct val="0"/>
                </a:spcBef>
                <a:spcAft>
                  <a:spcPct val="0"/>
                </a:spcAft>
                <a:defRPr>
                  <a:solidFill>
                    <a:schemeClr val="tx2"/>
                  </a:solidFill>
                  <a:latin typeface="Arial" panose="020B0604020202020204" pitchFamily="34" charset="0"/>
                </a:defRPr>
              </a:lvl8pPr>
              <a:lvl9pPr marL="3886200" indent="-228600" eaLnBrk="0" fontAlgn="base" hangingPunct="0">
                <a:spcBef>
                  <a:spcPct val="0"/>
                </a:spcBef>
                <a:spcAft>
                  <a:spcPct val="0"/>
                </a:spcAft>
                <a:defRPr>
                  <a:solidFill>
                    <a:schemeClr val="tx2"/>
                  </a:solidFill>
                  <a:latin typeface="Arial" panose="020B0604020202020204" pitchFamily="34" charset="0"/>
                </a:defRPr>
              </a:lvl9pPr>
            </a:lstStyle>
            <a:p>
              <a:pPr>
                <a:spcBef>
                  <a:spcPct val="50000"/>
                </a:spcBef>
              </a:pPr>
              <a:r>
                <a:rPr lang="en-US" altLang="en-US" dirty="0">
                  <a:solidFill>
                    <a:schemeClr val="tx1"/>
                  </a:solidFill>
                </a:rPr>
                <a:t>Wavenumber (cm</a:t>
              </a:r>
              <a:r>
                <a:rPr lang="en-US" altLang="en-US" baseline="30000" dirty="0">
                  <a:solidFill>
                    <a:schemeClr val="tx1"/>
                  </a:solidFill>
                </a:rPr>
                <a:t>-1</a:t>
              </a:r>
              <a:r>
                <a:rPr lang="en-US" altLang="en-US" dirty="0">
                  <a:solidFill>
                    <a:schemeClr val="tx1"/>
                  </a:solidFill>
                </a:rPr>
                <a:t>)</a:t>
              </a:r>
            </a:p>
          </p:txBody>
        </p:sp>
        <p:sp>
          <p:nvSpPr>
            <p:cNvPr id="15" name="Text Box 13">
              <a:extLst>
                <a:ext uri="{FF2B5EF4-FFF2-40B4-BE49-F238E27FC236}">
                  <a16:creationId xmlns:a16="http://schemas.microsoft.com/office/drawing/2014/main" id="{B3F0D7A3-B211-0E51-25FC-6688C6595B84}"/>
                </a:ext>
              </a:extLst>
            </p:cNvPr>
            <p:cNvSpPr txBox="1">
              <a:spLocks noChangeArrowheads="1"/>
            </p:cNvSpPr>
            <p:nvPr/>
          </p:nvSpPr>
          <p:spPr bwMode="auto">
            <a:xfrm>
              <a:off x="687" y="1633"/>
              <a:ext cx="21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2"/>
                  </a:solidFill>
                  <a:latin typeface="Arial" panose="020B0604020202020204" pitchFamily="34" charset="0"/>
                </a:defRPr>
              </a:lvl1pPr>
              <a:lvl2pPr marL="742950" indent="-285750">
                <a:defRPr>
                  <a:solidFill>
                    <a:schemeClr val="tx2"/>
                  </a:solidFill>
                  <a:latin typeface="Arial" panose="020B0604020202020204" pitchFamily="34" charset="0"/>
                </a:defRPr>
              </a:lvl2pPr>
              <a:lvl3pPr marL="1143000" indent="-228600">
                <a:defRPr>
                  <a:solidFill>
                    <a:schemeClr val="tx2"/>
                  </a:solidFill>
                  <a:latin typeface="Arial" panose="020B0604020202020204" pitchFamily="34" charset="0"/>
                </a:defRPr>
              </a:lvl3pPr>
              <a:lvl4pPr marL="1600200" indent="-228600">
                <a:defRPr>
                  <a:solidFill>
                    <a:schemeClr val="tx2"/>
                  </a:solidFill>
                  <a:latin typeface="Arial" panose="020B0604020202020204" pitchFamily="34" charset="0"/>
                </a:defRPr>
              </a:lvl4pPr>
              <a:lvl5pPr marL="2057400" indent="-228600">
                <a:defRPr>
                  <a:solidFill>
                    <a:schemeClr val="tx2"/>
                  </a:solidFill>
                  <a:latin typeface="Arial" panose="020B0604020202020204" pitchFamily="34" charset="0"/>
                </a:defRPr>
              </a:lvl5pPr>
              <a:lvl6pPr marL="2514600" indent="-228600" eaLnBrk="0" fontAlgn="base" hangingPunct="0">
                <a:spcBef>
                  <a:spcPct val="0"/>
                </a:spcBef>
                <a:spcAft>
                  <a:spcPct val="0"/>
                </a:spcAft>
                <a:defRPr>
                  <a:solidFill>
                    <a:schemeClr val="tx2"/>
                  </a:solidFill>
                  <a:latin typeface="Arial" panose="020B0604020202020204" pitchFamily="34" charset="0"/>
                </a:defRPr>
              </a:lvl6pPr>
              <a:lvl7pPr marL="2971800" indent="-228600" eaLnBrk="0" fontAlgn="base" hangingPunct="0">
                <a:spcBef>
                  <a:spcPct val="0"/>
                </a:spcBef>
                <a:spcAft>
                  <a:spcPct val="0"/>
                </a:spcAft>
                <a:defRPr>
                  <a:solidFill>
                    <a:schemeClr val="tx2"/>
                  </a:solidFill>
                  <a:latin typeface="Arial" panose="020B0604020202020204" pitchFamily="34" charset="0"/>
                </a:defRPr>
              </a:lvl7pPr>
              <a:lvl8pPr marL="3429000" indent="-228600" eaLnBrk="0" fontAlgn="base" hangingPunct="0">
                <a:spcBef>
                  <a:spcPct val="0"/>
                </a:spcBef>
                <a:spcAft>
                  <a:spcPct val="0"/>
                </a:spcAft>
                <a:defRPr>
                  <a:solidFill>
                    <a:schemeClr val="tx2"/>
                  </a:solidFill>
                  <a:latin typeface="Arial" panose="020B0604020202020204" pitchFamily="34" charset="0"/>
                </a:defRPr>
              </a:lvl8pPr>
              <a:lvl9pPr marL="3886200" indent="-228600" eaLnBrk="0" fontAlgn="base" hangingPunct="0">
                <a:spcBef>
                  <a:spcPct val="0"/>
                </a:spcBef>
                <a:spcAft>
                  <a:spcPct val="0"/>
                </a:spcAft>
                <a:defRPr>
                  <a:solidFill>
                    <a:schemeClr val="tx2"/>
                  </a:solidFill>
                  <a:latin typeface="Arial" panose="020B0604020202020204" pitchFamily="34" charset="0"/>
                </a:defRPr>
              </a:lvl9pPr>
            </a:lstStyle>
            <a:p>
              <a:pPr>
                <a:spcBef>
                  <a:spcPct val="50000"/>
                </a:spcBef>
              </a:pPr>
              <a:r>
                <a:rPr lang="en-US" altLang="en-US">
                  <a:solidFill>
                    <a:schemeClr val="tx1"/>
                  </a:solidFill>
                  <a:cs typeface="Arial" panose="020B0604020202020204" pitchFamily="34" charset="0"/>
                </a:rPr>
                <a:t>← </a:t>
              </a:r>
              <a:r>
                <a:rPr lang="en-US" altLang="en-US">
                  <a:solidFill>
                    <a:schemeClr val="tx1"/>
                  </a:solidFill>
                </a:rPr>
                <a:t>Higher energy (frequency)</a:t>
              </a:r>
            </a:p>
          </p:txBody>
        </p:sp>
      </p:grpSp>
      <p:sp>
        <p:nvSpPr>
          <p:cNvPr id="16" name="Text Box 12">
            <a:extLst>
              <a:ext uri="{FF2B5EF4-FFF2-40B4-BE49-F238E27FC236}">
                <a16:creationId xmlns:a16="http://schemas.microsoft.com/office/drawing/2014/main" id="{84B39183-AF4D-BB94-F7E9-5594C69EB3C1}"/>
              </a:ext>
            </a:extLst>
          </p:cNvPr>
          <p:cNvSpPr txBox="1">
            <a:spLocks noChangeArrowheads="1"/>
          </p:cNvSpPr>
          <p:nvPr/>
        </p:nvSpPr>
        <p:spPr bwMode="auto">
          <a:xfrm>
            <a:off x="3404955" y="4604401"/>
            <a:ext cx="3012827"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2"/>
                </a:solidFill>
                <a:latin typeface="Arial" panose="020B0604020202020204" pitchFamily="34" charset="0"/>
              </a:defRPr>
            </a:lvl1pPr>
            <a:lvl2pPr marL="742950" indent="-285750">
              <a:defRPr>
                <a:solidFill>
                  <a:schemeClr val="tx2"/>
                </a:solidFill>
                <a:latin typeface="Arial" panose="020B0604020202020204" pitchFamily="34" charset="0"/>
              </a:defRPr>
            </a:lvl2pPr>
            <a:lvl3pPr marL="1143000" indent="-228600">
              <a:defRPr>
                <a:solidFill>
                  <a:schemeClr val="tx2"/>
                </a:solidFill>
                <a:latin typeface="Arial" panose="020B0604020202020204" pitchFamily="34" charset="0"/>
              </a:defRPr>
            </a:lvl3pPr>
            <a:lvl4pPr marL="1600200" indent="-228600">
              <a:defRPr>
                <a:solidFill>
                  <a:schemeClr val="tx2"/>
                </a:solidFill>
                <a:latin typeface="Arial" panose="020B0604020202020204" pitchFamily="34" charset="0"/>
              </a:defRPr>
            </a:lvl4pPr>
            <a:lvl5pPr marL="2057400" indent="-228600">
              <a:defRPr>
                <a:solidFill>
                  <a:schemeClr val="tx2"/>
                </a:solidFill>
                <a:latin typeface="Arial" panose="020B0604020202020204" pitchFamily="34" charset="0"/>
              </a:defRPr>
            </a:lvl5pPr>
            <a:lvl6pPr marL="2514600" indent="-228600" eaLnBrk="0" fontAlgn="base" hangingPunct="0">
              <a:spcBef>
                <a:spcPct val="0"/>
              </a:spcBef>
              <a:spcAft>
                <a:spcPct val="0"/>
              </a:spcAft>
              <a:defRPr>
                <a:solidFill>
                  <a:schemeClr val="tx2"/>
                </a:solidFill>
                <a:latin typeface="Arial" panose="020B0604020202020204" pitchFamily="34" charset="0"/>
              </a:defRPr>
            </a:lvl6pPr>
            <a:lvl7pPr marL="2971800" indent="-228600" eaLnBrk="0" fontAlgn="base" hangingPunct="0">
              <a:spcBef>
                <a:spcPct val="0"/>
              </a:spcBef>
              <a:spcAft>
                <a:spcPct val="0"/>
              </a:spcAft>
              <a:defRPr>
                <a:solidFill>
                  <a:schemeClr val="tx2"/>
                </a:solidFill>
                <a:latin typeface="Arial" panose="020B0604020202020204" pitchFamily="34" charset="0"/>
              </a:defRPr>
            </a:lvl7pPr>
            <a:lvl8pPr marL="3429000" indent="-228600" eaLnBrk="0" fontAlgn="base" hangingPunct="0">
              <a:spcBef>
                <a:spcPct val="0"/>
              </a:spcBef>
              <a:spcAft>
                <a:spcPct val="0"/>
              </a:spcAft>
              <a:defRPr>
                <a:solidFill>
                  <a:schemeClr val="tx2"/>
                </a:solidFill>
                <a:latin typeface="Arial" panose="020B0604020202020204" pitchFamily="34" charset="0"/>
              </a:defRPr>
            </a:lvl8pPr>
            <a:lvl9pPr marL="3886200" indent="-228600" eaLnBrk="0" fontAlgn="base" hangingPunct="0">
              <a:spcBef>
                <a:spcPct val="0"/>
              </a:spcBef>
              <a:spcAft>
                <a:spcPct val="0"/>
              </a:spcAft>
              <a:defRPr>
                <a:solidFill>
                  <a:schemeClr val="tx2"/>
                </a:solidFill>
                <a:latin typeface="Arial" panose="020B0604020202020204" pitchFamily="34" charset="0"/>
              </a:defRPr>
            </a:lvl9pPr>
          </a:lstStyle>
          <a:p>
            <a:pPr>
              <a:spcBef>
                <a:spcPct val="50000"/>
              </a:spcBef>
            </a:pPr>
            <a:r>
              <a:rPr lang="en-US" altLang="en-US" sz="2000" dirty="0">
                <a:solidFill>
                  <a:schemeClr val="tx1"/>
                </a:solidFill>
              </a:rPr>
              <a:t>Triple bonds, of three pairs of electrons, have larger spring constants and hence higher vibrational frequencies.</a:t>
            </a:r>
          </a:p>
        </p:txBody>
      </p:sp>
      <p:cxnSp>
        <p:nvCxnSpPr>
          <p:cNvPr id="17" name="Straight Arrow Connector 2">
            <a:extLst>
              <a:ext uri="{FF2B5EF4-FFF2-40B4-BE49-F238E27FC236}">
                <a16:creationId xmlns:a16="http://schemas.microsoft.com/office/drawing/2014/main" id="{9EA2C535-606B-38BF-A02F-0DBA65DFE21F}"/>
              </a:ext>
            </a:extLst>
          </p:cNvPr>
          <p:cNvCxnSpPr/>
          <p:nvPr/>
        </p:nvCxnSpPr>
        <p:spPr bwMode="auto">
          <a:xfrm flipV="1">
            <a:off x="2121787" y="3680567"/>
            <a:ext cx="0" cy="855663"/>
          </a:xfrm>
          <a:prstGeom prst="straightConnector1">
            <a:avLst/>
          </a:prstGeom>
          <a:solidFill>
            <a:schemeClr val="accent1"/>
          </a:solidFill>
          <a:ln w="19050" cap="flat" cmpd="sng" algn="ctr">
            <a:solidFill>
              <a:schemeClr val="tx1"/>
            </a:solidFill>
            <a:prstDash val="solid"/>
            <a:round/>
            <a:headEnd type="none" w="med" len="med"/>
            <a:tailEnd type="arrow" w="med" len="med"/>
          </a:ln>
          <a:effectLst/>
        </p:spPr>
      </p:cxnSp>
      <p:cxnSp>
        <p:nvCxnSpPr>
          <p:cNvPr id="18" name="Straight Arrow Connector 14">
            <a:extLst>
              <a:ext uri="{FF2B5EF4-FFF2-40B4-BE49-F238E27FC236}">
                <a16:creationId xmlns:a16="http://schemas.microsoft.com/office/drawing/2014/main" id="{B9040D51-367B-5D3E-B72E-EDDB71F2F1B2}"/>
              </a:ext>
            </a:extLst>
          </p:cNvPr>
          <p:cNvCxnSpPr>
            <a:cxnSpLocks/>
          </p:cNvCxnSpPr>
          <p:nvPr/>
        </p:nvCxnSpPr>
        <p:spPr bwMode="auto">
          <a:xfrm flipV="1">
            <a:off x="7439023" y="3680567"/>
            <a:ext cx="0" cy="923834"/>
          </a:xfrm>
          <a:prstGeom prst="straightConnector1">
            <a:avLst/>
          </a:prstGeom>
          <a:solidFill>
            <a:schemeClr val="accent1"/>
          </a:solidFill>
          <a:ln w="19050" cap="flat" cmpd="sng" algn="ctr">
            <a:solidFill>
              <a:schemeClr val="tx1"/>
            </a:solidFill>
            <a:prstDash val="solid"/>
            <a:round/>
            <a:headEnd type="none" w="med" len="med"/>
            <a:tailEnd type="arrow" w="med" len="med"/>
          </a:ln>
          <a:effectLst/>
        </p:spPr>
      </p:cxnSp>
      <p:cxnSp>
        <p:nvCxnSpPr>
          <p:cNvPr id="19" name="Straight Arrow Connector 15">
            <a:extLst>
              <a:ext uri="{FF2B5EF4-FFF2-40B4-BE49-F238E27FC236}">
                <a16:creationId xmlns:a16="http://schemas.microsoft.com/office/drawing/2014/main" id="{75D35267-D309-3F51-BD1E-10D563A67550}"/>
              </a:ext>
            </a:extLst>
          </p:cNvPr>
          <p:cNvCxnSpPr>
            <a:cxnSpLocks/>
          </p:cNvCxnSpPr>
          <p:nvPr/>
        </p:nvCxnSpPr>
        <p:spPr bwMode="auto">
          <a:xfrm flipV="1">
            <a:off x="4534105" y="3564850"/>
            <a:ext cx="493607" cy="1062482"/>
          </a:xfrm>
          <a:prstGeom prst="straightConnector1">
            <a:avLst/>
          </a:prstGeom>
          <a:solidFill>
            <a:schemeClr val="accent1"/>
          </a:solidFill>
          <a:ln w="19050" cap="flat" cmpd="sng" algn="ctr">
            <a:solidFill>
              <a:schemeClr val="tx1"/>
            </a:solidFill>
            <a:prstDash val="solid"/>
            <a:round/>
            <a:headEnd type="none" w="med" len="med"/>
            <a:tailEnd type="arrow" w="med" len="med"/>
          </a:ln>
          <a:effectLst/>
        </p:spPr>
      </p:cxnSp>
      <p:sp>
        <p:nvSpPr>
          <p:cNvPr id="20" name="TextBox 6">
            <a:extLst>
              <a:ext uri="{FF2B5EF4-FFF2-40B4-BE49-F238E27FC236}">
                <a16:creationId xmlns:a16="http://schemas.microsoft.com/office/drawing/2014/main" id="{DF15F4D3-041D-15ED-2E65-CB8D71890E4C}"/>
              </a:ext>
            </a:extLst>
          </p:cNvPr>
          <p:cNvSpPr txBox="1"/>
          <p:nvPr/>
        </p:nvSpPr>
        <p:spPr bwMode="auto">
          <a:xfrm>
            <a:off x="6544099" y="4604401"/>
            <a:ext cx="2121055"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sz="2000" dirty="0">
                <a:solidFill>
                  <a:schemeClr val="tx1"/>
                </a:solidFill>
              </a:rPr>
              <a:t>Bonds involving heavier atoms, like carbon, vibrate more slowly.</a:t>
            </a:r>
            <a:endParaRPr lang="en-US" sz="2000" dirty="0">
              <a:solidFill>
                <a:schemeClr val="tx1"/>
              </a:solidFill>
            </a:endParaRPr>
          </a:p>
        </p:txBody>
      </p:sp>
    </p:spTree>
    <p:extLst>
      <p:ext uri="{BB962C8B-B14F-4D97-AF65-F5344CB8AC3E}">
        <p14:creationId xmlns:p14="http://schemas.microsoft.com/office/powerpoint/2010/main" val="349540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P spid="2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Water’s Vibrations</a:t>
            </a:r>
          </a:p>
        </p:txBody>
      </p:sp>
      <p:grpSp>
        <p:nvGrpSpPr>
          <p:cNvPr id="4" name="Group 7">
            <a:extLst>
              <a:ext uri="{FF2B5EF4-FFF2-40B4-BE49-F238E27FC236}">
                <a16:creationId xmlns:a16="http://schemas.microsoft.com/office/drawing/2014/main" id="{D77921B6-89A1-024B-A846-97C5DFE6ADB2}"/>
              </a:ext>
            </a:extLst>
          </p:cNvPr>
          <p:cNvGrpSpPr/>
          <p:nvPr/>
        </p:nvGrpSpPr>
        <p:grpSpPr>
          <a:xfrm>
            <a:off x="841673" y="701379"/>
            <a:ext cx="6207853" cy="5654471"/>
            <a:chOff x="2273416" y="456909"/>
            <a:chExt cx="6493079" cy="5944182"/>
          </a:xfrm>
        </p:grpSpPr>
        <p:grpSp>
          <p:nvGrpSpPr>
            <p:cNvPr id="5" name="Group 4">
              <a:extLst>
                <a:ext uri="{FF2B5EF4-FFF2-40B4-BE49-F238E27FC236}">
                  <a16:creationId xmlns:a16="http://schemas.microsoft.com/office/drawing/2014/main" id="{898E2724-B03C-87CC-333F-3C38849D1182}"/>
                </a:ext>
              </a:extLst>
            </p:cNvPr>
            <p:cNvGrpSpPr/>
            <p:nvPr/>
          </p:nvGrpSpPr>
          <p:grpSpPr>
            <a:xfrm>
              <a:off x="2273416" y="456909"/>
              <a:ext cx="6493079" cy="5944182"/>
              <a:chOff x="2298583" y="343949"/>
              <a:chExt cx="6493079" cy="5944182"/>
            </a:xfrm>
          </p:grpSpPr>
          <p:sp>
            <p:nvSpPr>
              <p:cNvPr id="21" name="Rectangle 3">
                <a:extLst>
                  <a:ext uri="{FF2B5EF4-FFF2-40B4-BE49-F238E27FC236}">
                    <a16:creationId xmlns:a16="http://schemas.microsoft.com/office/drawing/2014/main" id="{8210E4F7-9AF4-6461-F54E-6786D95EA88E}"/>
                  </a:ext>
                </a:extLst>
              </p:cNvPr>
              <p:cNvSpPr/>
              <p:nvPr/>
            </p:nvSpPr>
            <p:spPr bwMode="auto">
              <a:xfrm>
                <a:off x="2298583" y="343949"/>
                <a:ext cx="6493079" cy="594418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2"/>
                  </a:solidFill>
                  <a:effectLst/>
                  <a:latin typeface="Arial" charset="0"/>
                </a:endParaRPr>
              </a:p>
            </p:txBody>
          </p:sp>
          <p:pic>
            <p:nvPicPr>
              <p:cNvPr id="22" name="Picture 4" descr="The three vibrational modes of the water molecule and their fundamental frequencies in liquid water: symmetric stretching (v1), bending (v2) and asymmetric stretching (v3). The atoms move in the directions indicated by arrows. (b) Absorption spectrum of pure water (Hale and Querry, 1973; Segelstein, 1981; Pope and Fry, 1997). Peaks in the absorption spectrum correspond to the fundamental frequencies and higher harmonics of the vibrations of the water molecules. (c) Absorption spectrum of pure water in the visible and infrared region. Shoulders in the absorption spectrum correspond to the third, fourth, fifth, sixth and seventh harmonics of the symmetric and asymmetric stretch vibrations, as indicated.">
                <a:extLst>
                  <a:ext uri="{FF2B5EF4-FFF2-40B4-BE49-F238E27FC236}">
                    <a16:creationId xmlns:a16="http://schemas.microsoft.com/office/drawing/2014/main" id="{AA10A77E-AE9A-9EF5-5F00-4D5B471403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9082"/>
              <a:stretch/>
            </p:blipFill>
            <p:spPr bwMode="auto">
              <a:xfrm>
                <a:off x="2466078" y="569869"/>
                <a:ext cx="6121043" cy="5718262"/>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Rectangle 5">
              <a:extLst>
                <a:ext uri="{FF2B5EF4-FFF2-40B4-BE49-F238E27FC236}">
                  <a16:creationId xmlns:a16="http://schemas.microsoft.com/office/drawing/2014/main" id="{FF33EE44-24BC-1C3E-BED0-509B06EA281E}"/>
                </a:ext>
              </a:extLst>
            </p:cNvPr>
            <p:cNvSpPr/>
            <p:nvPr/>
          </p:nvSpPr>
          <p:spPr bwMode="auto">
            <a:xfrm>
              <a:off x="2440911" y="612396"/>
              <a:ext cx="243566" cy="22650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2"/>
                </a:solidFill>
                <a:effectLst/>
                <a:latin typeface="Arial" charset="0"/>
              </a:endParaRPr>
            </a:p>
          </p:txBody>
        </p:sp>
        <p:sp>
          <p:nvSpPr>
            <p:cNvPr id="7" name="Rectangle 6">
              <a:extLst>
                <a:ext uri="{FF2B5EF4-FFF2-40B4-BE49-F238E27FC236}">
                  <a16:creationId xmlns:a16="http://schemas.microsoft.com/office/drawing/2014/main" id="{0B6A9FC9-8259-DB7A-0C14-E5B817F08AD1}"/>
                </a:ext>
              </a:extLst>
            </p:cNvPr>
            <p:cNvSpPr/>
            <p:nvPr/>
          </p:nvSpPr>
          <p:spPr bwMode="auto">
            <a:xfrm>
              <a:off x="2440911" y="2711042"/>
              <a:ext cx="243566" cy="226503"/>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2"/>
                </a:solidFill>
                <a:effectLst/>
                <a:latin typeface="Arial" charset="0"/>
              </a:endParaRPr>
            </a:p>
          </p:txBody>
        </p:sp>
      </p:grpSp>
      <p:sp>
        <p:nvSpPr>
          <p:cNvPr id="23" name="TextBox 8">
            <a:extLst>
              <a:ext uri="{FF2B5EF4-FFF2-40B4-BE49-F238E27FC236}">
                <a16:creationId xmlns:a16="http://schemas.microsoft.com/office/drawing/2014/main" id="{C10D11C5-ADD6-9116-90F2-D6D1747FB19C}"/>
              </a:ext>
            </a:extLst>
          </p:cNvPr>
          <p:cNvSpPr txBox="1"/>
          <p:nvPr/>
        </p:nvSpPr>
        <p:spPr bwMode="auto">
          <a:xfrm>
            <a:off x="6853970" y="3636069"/>
            <a:ext cx="2232087"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spcBef>
                <a:spcPct val="50000"/>
              </a:spcBef>
            </a:pPr>
            <a:r>
              <a:rPr lang="en-US" sz="2000" dirty="0">
                <a:solidFill>
                  <a:schemeClr val="tx1"/>
                </a:solidFill>
              </a:rPr>
              <a:t>Note that each has a different frequency, and combinations of them are also possible.</a:t>
            </a:r>
          </a:p>
        </p:txBody>
      </p:sp>
      <p:cxnSp>
        <p:nvCxnSpPr>
          <p:cNvPr id="3" name="直接箭头连接符 2">
            <a:extLst>
              <a:ext uri="{FF2B5EF4-FFF2-40B4-BE49-F238E27FC236}">
                <a16:creationId xmlns:a16="http://schemas.microsoft.com/office/drawing/2014/main" id="{139EFAC3-E232-490E-9BA7-3D2AE26C2CBA}"/>
              </a:ext>
            </a:extLst>
          </p:cNvPr>
          <p:cNvCxnSpPr>
            <a:cxnSpLocks/>
          </p:cNvCxnSpPr>
          <p:nvPr/>
        </p:nvCxnSpPr>
        <p:spPr>
          <a:xfrm flipH="1">
            <a:off x="5299200" y="4581530"/>
            <a:ext cx="15547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92147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Various interactions of radiation with matter</a:t>
            </a:r>
          </a:p>
        </p:txBody>
      </p:sp>
      <p:pic>
        <p:nvPicPr>
          <p:cNvPr id="2" name="图片 1">
            <a:extLst>
              <a:ext uri="{FF2B5EF4-FFF2-40B4-BE49-F238E27FC236}">
                <a16:creationId xmlns:a16="http://schemas.microsoft.com/office/drawing/2014/main" id="{E8F99926-2E39-200B-CEFB-3CFBF8431DEB}"/>
              </a:ext>
            </a:extLst>
          </p:cNvPr>
          <p:cNvPicPr>
            <a:picLocks noChangeAspect="1"/>
          </p:cNvPicPr>
          <p:nvPr/>
        </p:nvPicPr>
        <p:blipFill>
          <a:blip r:embed="rId3"/>
          <a:stretch>
            <a:fillRect/>
          </a:stretch>
        </p:blipFill>
        <p:spPr>
          <a:xfrm>
            <a:off x="434370" y="1248631"/>
            <a:ext cx="8621342" cy="4641368"/>
          </a:xfrm>
          <a:prstGeom prst="rect">
            <a:avLst/>
          </a:prstGeom>
        </p:spPr>
      </p:pic>
      <p:sp>
        <p:nvSpPr>
          <p:cNvPr id="5" name="矩形 4">
            <a:extLst>
              <a:ext uri="{FF2B5EF4-FFF2-40B4-BE49-F238E27FC236}">
                <a16:creationId xmlns:a16="http://schemas.microsoft.com/office/drawing/2014/main" id="{5C2F4C16-ECB0-79CA-C7D8-4FFF581313BC}"/>
              </a:ext>
            </a:extLst>
          </p:cNvPr>
          <p:cNvSpPr/>
          <p:nvPr/>
        </p:nvSpPr>
        <p:spPr>
          <a:xfrm>
            <a:off x="4319999" y="4572000"/>
            <a:ext cx="4554891" cy="1116324"/>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308E8FE7-DF1C-BCF4-A525-66AF7D1B5AC4}"/>
              </a:ext>
            </a:extLst>
          </p:cNvPr>
          <p:cNvSpPr txBox="1"/>
          <p:nvPr/>
        </p:nvSpPr>
        <p:spPr>
          <a:xfrm>
            <a:off x="5275872" y="5806171"/>
            <a:ext cx="3205728" cy="369332"/>
          </a:xfrm>
          <a:prstGeom prst="rect">
            <a:avLst/>
          </a:prstGeom>
          <a:noFill/>
        </p:spPr>
        <p:txBody>
          <a:bodyPr wrap="square">
            <a:spAutoFit/>
          </a:bodyPr>
          <a:lstStyle/>
          <a:p>
            <a:r>
              <a:rPr lang="en-US" altLang="zh-CN" b="1" dirty="0">
                <a:solidFill>
                  <a:srgbClr val="00B050"/>
                </a:solidFill>
              </a:rPr>
              <a:t>Microwave spectroscopy</a:t>
            </a:r>
            <a:endParaRPr lang="zh-CN" altLang="en-US" b="1" dirty="0">
              <a:solidFill>
                <a:srgbClr val="00B050"/>
              </a:solidFill>
            </a:endParaRPr>
          </a:p>
        </p:txBody>
      </p:sp>
      <p:pic>
        <p:nvPicPr>
          <p:cNvPr id="7" name="图片 6">
            <a:extLst>
              <a:ext uri="{FF2B5EF4-FFF2-40B4-BE49-F238E27FC236}">
                <a16:creationId xmlns:a16="http://schemas.microsoft.com/office/drawing/2014/main" id="{0041246A-8C6A-4A29-BAA1-6F7913172916}"/>
              </a:ext>
            </a:extLst>
          </p:cNvPr>
          <p:cNvPicPr>
            <a:picLocks noChangeAspect="1"/>
          </p:cNvPicPr>
          <p:nvPr/>
        </p:nvPicPr>
        <p:blipFill rotWithShape="1">
          <a:blip r:embed="rId4">
            <a:extLst>
              <a:ext uri="{28A0092B-C50C-407E-A947-70E740481C1C}">
                <a14:useLocalDpi xmlns:a14="http://schemas.microsoft.com/office/drawing/2010/main" val="0"/>
              </a:ext>
            </a:extLst>
          </a:blip>
          <a:srcRect b="57447"/>
          <a:stretch/>
        </p:blipFill>
        <p:spPr>
          <a:xfrm rot="16200000">
            <a:off x="-1500553" y="3016543"/>
            <a:ext cx="4935263" cy="912554"/>
          </a:xfrm>
          <a:prstGeom prst="rect">
            <a:avLst/>
          </a:prstGeom>
        </p:spPr>
      </p:pic>
    </p:spTree>
    <p:extLst>
      <p:ext uri="{BB962C8B-B14F-4D97-AF65-F5344CB8AC3E}">
        <p14:creationId xmlns:p14="http://schemas.microsoft.com/office/powerpoint/2010/main" val="22053962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Microwave spectroscopy</a:t>
            </a:r>
          </a:p>
        </p:txBody>
      </p:sp>
      <p:sp>
        <p:nvSpPr>
          <p:cNvPr id="27" name="矩形 26">
            <a:extLst>
              <a:ext uri="{FF2B5EF4-FFF2-40B4-BE49-F238E27FC236}">
                <a16:creationId xmlns:a16="http://schemas.microsoft.com/office/drawing/2014/main" id="{3B70A52B-4D4E-448E-9CE1-C703DF247EBB}"/>
              </a:ext>
            </a:extLst>
          </p:cNvPr>
          <p:cNvSpPr/>
          <p:nvPr/>
        </p:nvSpPr>
        <p:spPr>
          <a:xfrm>
            <a:off x="521644" y="683062"/>
            <a:ext cx="8384756" cy="646331"/>
          </a:xfrm>
          <a:prstGeom prst="rect">
            <a:avLst/>
          </a:prstGeom>
        </p:spPr>
        <p:txBody>
          <a:bodyPr wrap="square">
            <a:spAutoFit/>
          </a:bodyPr>
          <a:lstStyle/>
          <a:p>
            <a:r>
              <a:rPr lang="en-US" altLang="zh-CN" dirty="0"/>
              <a:t>Microwave spectroscopy employs electromagnetic radiation at GHz frequencies, for the study of matter and</a:t>
            </a:r>
            <a:r>
              <a:rPr lang="zh-CN" altLang="en-US" dirty="0"/>
              <a:t> </a:t>
            </a:r>
            <a:r>
              <a:rPr lang="en-US" altLang="zh-CN" dirty="0"/>
              <a:t>is commonly used to probe the rotation of molecules.</a:t>
            </a:r>
            <a:endParaRPr lang="zh-CN" altLang="en-US" dirty="0"/>
          </a:p>
        </p:txBody>
      </p:sp>
      <p:pic>
        <p:nvPicPr>
          <p:cNvPr id="5" name="图片 4">
            <a:extLst>
              <a:ext uri="{FF2B5EF4-FFF2-40B4-BE49-F238E27FC236}">
                <a16:creationId xmlns:a16="http://schemas.microsoft.com/office/drawing/2014/main" id="{38D7BC79-AC78-435A-9358-F3FEC57EB4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4600" y="1793808"/>
            <a:ext cx="6063626" cy="3980592"/>
          </a:xfrm>
          <a:prstGeom prst="rect">
            <a:avLst/>
          </a:prstGeom>
        </p:spPr>
      </p:pic>
    </p:spTree>
    <p:extLst>
      <p:ext uri="{BB962C8B-B14F-4D97-AF65-F5344CB8AC3E}">
        <p14:creationId xmlns:p14="http://schemas.microsoft.com/office/powerpoint/2010/main" val="2967895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How does light interact with atom</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2050" name="Picture 2" descr="The Bohr Model's Orbits - Project On The Bohr Model">
            <a:extLst>
              <a:ext uri="{FF2B5EF4-FFF2-40B4-BE49-F238E27FC236}">
                <a16:creationId xmlns:a16="http://schemas.microsoft.com/office/drawing/2014/main" id="{8F5EE8F6-A43A-4469-F3E1-906F6BAB7F3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928"/>
          <a:stretch/>
        </p:blipFill>
        <p:spPr bwMode="auto">
          <a:xfrm>
            <a:off x="2408127" y="1164094"/>
            <a:ext cx="4593291" cy="2513657"/>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B2EF5A61-1367-C9BE-CA20-0B8467141228}"/>
              </a:ext>
            </a:extLst>
          </p:cNvPr>
          <p:cNvSpPr txBox="1"/>
          <p:nvPr/>
        </p:nvSpPr>
        <p:spPr>
          <a:xfrm>
            <a:off x="96336" y="692172"/>
            <a:ext cx="4762500" cy="584775"/>
          </a:xfrm>
          <a:prstGeom prst="rect">
            <a:avLst/>
          </a:prstGeom>
          <a:noFill/>
        </p:spPr>
        <p:txBody>
          <a:bodyPr wrap="square">
            <a:spAutoFit/>
          </a:bodyPr>
          <a:lstStyle/>
          <a:p>
            <a:r>
              <a:rPr lang="en-US" altLang="zh-CN" sz="1600" dirty="0">
                <a:latin typeface="Arial" panose="020B0604020202020204" pitchFamily="34" charset="0"/>
                <a:cs typeface="Arial" panose="020B0604020202020204" pitchFamily="34" charset="0"/>
              </a:rPr>
              <a:t>Photons are absorbed when an electron jumps from a low energy state to a high energy state. </a:t>
            </a:r>
            <a:endParaRPr lang="zh-CN" altLang="en-US" sz="1600" dirty="0">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A9F3EC6F-8DFD-30A3-E00D-583F1E8D015E}"/>
              </a:ext>
            </a:extLst>
          </p:cNvPr>
          <p:cNvSpPr txBox="1"/>
          <p:nvPr/>
        </p:nvSpPr>
        <p:spPr>
          <a:xfrm>
            <a:off x="4482615" y="692172"/>
            <a:ext cx="4661385" cy="584775"/>
          </a:xfrm>
          <a:prstGeom prst="rect">
            <a:avLst/>
          </a:prstGeom>
          <a:noFill/>
        </p:spPr>
        <p:txBody>
          <a:bodyPr wrap="square">
            <a:spAutoFit/>
          </a:bodyPr>
          <a:lstStyle/>
          <a:p>
            <a:pPr algn="l"/>
            <a:r>
              <a:rPr lang="en-US" altLang="zh-CN" sz="1600" dirty="0">
                <a:latin typeface="Arial" panose="020B0604020202020204" pitchFamily="34" charset="0"/>
                <a:cs typeface="Arial" panose="020B0604020202020204" pitchFamily="34" charset="0"/>
              </a:rPr>
              <a:t>Spontaneous emission is when an electron jumps from a high energy state to a low energy state.</a:t>
            </a:r>
          </a:p>
        </p:txBody>
      </p:sp>
      <p:sp>
        <p:nvSpPr>
          <p:cNvPr id="3" name="文本框 2">
            <a:extLst>
              <a:ext uri="{FF2B5EF4-FFF2-40B4-BE49-F238E27FC236}">
                <a16:creationId xmlns:a16="http://schemas.microsoft.com/office/drawing/2014/main" id="{23AB5B6C-FF0F-8053-0062-CA7873D6BE32}"/>
              </a:ext>
            </a:extLst>
          </p:cNvPr>
          <p:cNvSpPr txBox="1"/>
          <p:nvPr/>
        </p:nvSpPr>
        <p:spPr>
          <a:xfrm>
            <a:off x="345686" y="3677751"/>
            <a:ext cx="3656623" cy="1077218"/>
          </a:xfrm>
          <a:prstGeom prst="rect">
            <a:avLst/>
          </a:prstGeom>
          <a:noFill/>
        </p:spPr>
        <p:txBody>
          <a:bodyPr wrap="square">
            <a:spAutoFit/>
          </a:bodyPr>
          <a:lstStyle/>
          <a:p>
            <a:r>
              <a:rPr lang="en-US" altLang="zh-CN" sz="1600" dirty="0">
                <a:latin typeface="Arial" panose="020B0604020202020204" pitchFamily="34" charset="0"/>
                <a:cs typeface="Arial" panose="020B0604020202020204" pitchFamily="34" charset="0"/>
              </a:rPr>
              <a:t>The atoms only absorbed at the certain wavelengths because this corresponded to the difference between two energy levels. </a:t>
            </a:r>
            <a:endParaRPr lang="zh-CN" altLang="en-US" sz="1600" dirty="0">
              <a:latin typeface="Arial" panose="020B0604020202020204" pitchFamily="34" charset="0"/>
              <a:cs typeface="Arial" panose="020B0604020202020204" pitchFamily="34" charset="0"/>
            </a:endParaRPr>
          </a:p>
        </p:txBody>
      </p:sp>
      <p:sp>
        <p:nvSpPr>
          <p:cNvPr id="7" name="文本框 6">
            <a:extLst>
              <a:ext uri="{FF2B5EF4-FFF2-40B4-BE49-F238E27FC236}">
                <a16:creationId xmlns:a16="http://schemas.microsoft.com/office/drawing/2014/main" id="{07909DA1-448A-674C-00BE-2180050A3E3D}"/>
              </a:ext>
            </a:extLst>
          </p:cNvPr>
          <p:cNvSpPr txBox="1"/>
          <p:nvPr/>
        </p:nvSpPr>
        <p:spPr>
          <a:xfrm>
            <a:off x="345686" y="4867579"/>
            <a:ext cx="3656623" cy="1323439"/>
          </a:xfrm>
          <a:prstGeom prst="rect">
            <a:avLst/>
          </a:prstGeom>
          <a:noFill/>
        </p:spPr>
        <p:txBody>
          <a:bodyPr wrap="square">
            <a:spAutoFit/>
          </a:bodyPr>
          <a:lstStyle/>
          <a:p>
            <a:r>
              <a:rPr lang="en-US" altLang="zh-CN" sz="1600" dirty="0">
                <a:latin typeface="Arial" panose="020B0604020202020204" pitchFamily="34" charset="0"/>
                <a:cs typeface="Arial" panose="020B0604020202020204" pitchFamily="34" charset="0"/>
              </a:rPr>
              <a:t>The excited state atom eventually returns to the ground state by emitting radiation. The bright lines appear at exactly the same wavelength as the light that was absorbed.</a:t>
            </a:r>
            <a:endParaRPr lang="zh-CN" altLang="en-US" sz="1600" dirty="0">
              <a:latin typeface="Arial" panose="020B0604020202020204" pitchFamily="34" charset="0"/>
              <a:cs typeface="Arial" panose="020B0604020202020204" pitchFamily="34" charset="0"/>
            </a:endParaRPr>
          </a:p>
        </p:txBody>
      </p:sp>
      <p:pic>
        <p:nvPicPr>
          <p:cNvPr id="9" name="图片 8">
            <a:extLst>
              <a:ext uri="{FF2B5EF4-FFF2-40B4-BE49-F238E27FC236}">
                <a16:creationId xmlns:a16="http://schemas.microsoft.com/office/drawing/2014/main" id="{74DBA6D5-62C1-0B19-B77F-CEC6CD409491}"/>
              </a:ext>
            </a:extLst>
          </p:cNvPr>
          <p:cNvPicPr>
            <a:picLocks noChangeAspect="1"/>
          </p:cNvPicPr>
          <p:nvPr/>
        </p:nvPicPr>
        <p:blipFill rotWithShape="1">
          <a:blip r:embed="rId4"/>
          <a:srcRect t="7736" b="2618"/>
          <a:stretch/>
        </p:blipFill>
        <p:spPr>
          <a:xfrm>
            <a:off x="4076821" y="3523970"/>
            <a:ext cx="4593291" cy="2798322"/>
          </a:xfrm>
          <a:prstGeom prst="rect">
            <a:avLst/>
          </a:prstGeom>
        </p:spPr>
      </p:pic>
      <p:sp>
        <p:nvSpPr>
          <p:cNvPr id="10" name="矩形 9">
            <a:extLst>
              <a:ext uri="{FF2B5EF4-FFF2-40B4-BE49-F238E27FC236}">
                <a16:creationId xmlns:a16="http://schemas.microsoft.com/office/drawing/2014/main" id="{F2AB1255-B54D-21E5-6E50-1EA8E3FF24D2}"/>
              </a:ext>
            </a:extLst>
          </p:cNvPr>
          <p:cNvSpPr/>
          <p:nvPr/>
        </p:nvSpPr>
        <p:spPr>
          <a:xfrm>
            <a:off x="6889341" y="5881795"/>
            <a:ext cx="1706880" cy="48458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1351F480-44B9-58F4-29B2-63A350D91281}"/>
              </a:ext>
            </a:extLst>
          </p:cNvPr>
          <p:cNvPicPr>
            <a:picLocks noChangeAspect="1"/>
          </p:cNvPicPr>
          <p:nvPr/>
        </p:nvPicPr>
        <p:blipFill>
          <a:blip r:embed="rId5"/>
          <a:stretch>
            <a:fillRect/>
          </a:stretch>
        </p:blipFill>
        <p:spPr>
          <a:xfrm>
            <a:off x="6855569" y="1396122"/>
            <a:ext cx="2023199" cy="1819969"/>
          </a:xfrm>
          <a:prstGeom prst="rect">
            <a:avLst/>
          </a:prstGeom>
        </p:spPr>
      </p:pic>
      <p:sp>
        <p:nvSpPr>
          <p:cNvPr id="14" name="文本框 13">
            <a:extLst>
              <a:ext uri="{FF2B5EF4-FFF2-40B4-BE49-F238E27FC236}">
                <a16:creationId xmlns:a16="http://schemas.microsoft.com/office/drawing/2014/main" id="{E99CF423-1DE7-1493-F80F-966B86D319EC}"/>
              </a:ext>
            </a:extLst>
          </p:cNvPr>
          <p:cNvSpPr txBox="1"/>
          <p:nvPr/>
        </p:nvSpPr>
        <p:spPr>
          <a:xfrm>
            <a:off x="7164916" y="1400912"/>
            <a:ext cx="1602376" cy="369332"/>
          </a:xfrm>
          <a:prstGeom prst="rect">
            <a:avLst/>
          </a:prstGeom>
          <a:noFill/>
        </p:spPr>
        <p:txBody>
          <a:bodyPr wrap="square">
            <a:spAutoFit/>
          </a:bodyPr>
          <a:lstStyle/>
          <a:p>
            <a:r>
              <a:rPr lang="en-US" altLang="zh-CN" dirty="0">
                <a:solidFill>
                  <a:schemeClr val="bg1"/>
                </a:solidFill>
              </a:rPr>
              <a:t>Colorful gasses</a:t>
            </a:r>
            <a:endParaRPr lang="zh-CN" altLang="en-US" dirty="0">
              <a:solidFill>
                <a:schemeClr val="bg1"/>
              </a:solidFill>
            </a:endParaRPr>
          </a:p>
        </p:txBody>
      </p:sp>
    </p:spTree>
    <p:extLst>
      <p:ext uri="{BB962C8B-B14F-4D97-AF65-F5344CB8AC3E}">
        <p14:creationId xmlns:p14="http://schemas.microsoft.com/office/powerpoint/2010/main" val="2348128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4F19ED1C-62AA-B70F-BF62-A56C1244795B}"/>
              </a:ext>
            </a:extLst>
          </p:cNvPr>
          <p:cNvSpPr txBox="1"/>
          <p:nvPr/>
        </p:nvSpPr>
        <p:spPr>
          <a:xfrm>
            <a:off x="3982948" y="4869124"/>
            <a:ext cx="4962910" cy="584775"/>
          </a:xfrm>
          <a:prstGeom prst="rect">
            <a:avLst/>
          </a:prstGeom>
          <a:noFill/>
        </p:spPr>
        <p:txBody>
          <a:bodyPr wrap="square">
            <a:spAutoFit/>
          </a:bodyPr>
          <a:lstStyle/>
          <a:p>
            <a:r>
              <a:rPr lang="en-US" altLang="zh-CN" sz="1600" dirty="0">
                <a:latin typeface="Arial" panose="020B0604020202020204" pitchFamily="34" charset="0"/>
                <a:cs typeface="Arial" panose="020B0604020202020204" pitchFamily="34" charset="0"/>
              </a:rPr>
              <a:t>Astronomers use this fingerprint to determine the composition of distant stars</a:t>
            </a:r>
            <a:endParaRPr lang="zh-CN" altLang="en-US" sz="1600" dirty="0">
              <a:latin typeface="Arial" panose="020B0604020202020204" pitchFamily="34" charset="0"/>
              <a:cs typeface="Arial" panose="020B0604020202020204" pitchFamily="34" charset="0"/>
            </a:endParaRPr>
          </a:p>
        </p:txBody>
      </p:sp>
      <p:pic>
        <p:nvPicPr>
          <p:cNvPr id="13" name="图片 12">
            <a:extLst>
              <a:ext uri="{FF2B5EF4-FFF2-40B4-BE49-F238E27FC236}">
                <a16:creationId xmlns:a16="http://schemas.microsoft.com/office/drawing/2014/main" id="{D464148F-4822-F9DC-7997-040908DA5B9C}"/>
              </a:ext>
            </a:extLst>
          </p:cNvPr>
          <p:cNvPicPr>
            <a:picLocks noChangeAspect="1"/>
          </p:cNvPicPr>
          <p:nvPr/>
        </p:nvPicPr>
        <p:blipFill>
          <a:blip r:embed="rId3"/>
          <a:stretch>
            <a:fillRect/>
          </a:stretch>
        </p:blipFill>
        <p:spPr>
          <a:xfrm>
            <a:off x="3450368" y="1745673"/>
            <a:ext cx="5495490" cy="3008675"/>
          </a:xfrm>
          <a:prstGeom prst="rect">
            <a:avLst/>
          </a:prstGeom>
        </p:spPr>
      </p:pic>
      <p:pic>
        <p:nvPicPr>
          <p:cNvPr id="17" name="图片 16">
            <a:extLst>
              <a:ext uri="{FF2B5EF4-FFF2-40B4-BE49-F238E27FC236}">
                <a16:creationId xmlns:a16="http://schemas.microsoft.com/office/drawing/2014/main" id="{9A33FEA8-7E15-1B9F-F98C-4917E3F71FCD}"/>
              </a:ext>
            </a:extLst>
          </p:cNvPr>
          <p:cNvPicPr>
            <a:picLocks noChangeAspect="1"/>
          </p:cNvPicPr>
          <p:nvPr/>
        </p:nvPicPr>
        <p:blipFill>
          <a:blip r:embed="rId4"/>
          <a:stretch>
            <a:fillRect/>
          </a:stretch>
        </p:blipFill>
        <p:spPr>
          <a:xfrm>
            <a:off x="198142" y="1745673"/>
            <a:ext cx="3100481" cy="3008675"/>
          </a:xfrm>
          <a:prstGeom prst="rect">
            <a:avLst/>
          </a:prstGeom>
        </p:spPr>
      </p:pic>
      <p:sp>
        <p:nvSpPr>
          <p:cNvPr id="19" name="文本框 18">
            <a:extLst>
              <a:ext uri="{FF2B5EF4-FFF2-40B4-BE49-F238E27FC236}">
                <a16:creationId xmlns:a16="http://schemas.microsoft.com/office/drawing/2014/main" id="{341789AC-279F-8238-75C6-D1BBEE1BE59B}"/>
              </a:ext>
            </a:extLst>
          </p:cNvPr>
          <p:cNvSpPr txBox="1"/>
          <p:nvPr/>
        </p:nvSpPr>
        <p:spPr>
          <a:xfrm>
            <a:off x="348000" y="4869125"/>
            <a:ext cx="3244945" cy="584775"/>
          </a:xfrm>
          <a:prstGeom prst="rect">
            <a:avLst/>
          </a:prstGeom>
          <a:noFill/>
        </p:spPr>
        <p:txBody>
          <a:bodyPr wrap="square">
            <a:spAutoFit/>
          </a:bodyPr>
          <a:lstStyle/>
          <a:p>
            <a:r>
              <a:rPr lang="en-US" altLang="zh-CN" sz="1600" dirty="0">
                <a:latin typeface="Arial" panose="020B0604020202020204" pitchFamily="34" charset="0"/>
                <a:cs typeface="Arial" panose="020B0604020202020204" pitchFamily="34" charset="0"/>
              </a:rPr>
              <a:t>Each element has a unique pattern of colors called fingerprint.</a:t>
            </a:r>
            <a:endParaRPr lang="zh-CN" altLang="en-US" sz="1600" dirty="0">
              <a:latin typeface="Arial" panose="020B0604020202020204" pitchFamily="34" charset="0"/>
              <a:cs typeface="Arial" panose="020B0604020202020204" pitchFamily="34" charset="0"/>
            </a:endParaRPr>
          </a:p>
        </p:txBody>
      </p:sp>
      <p:sp>
        <p:nvSpPr>
          <p:cNvPr id="3" name="文本框 2">
            <a:extLst>
              <a:ext uri="{FF2B5EF4-FFF2-40B4-BE49-F238E27FC236}">
                <a16:creationId xmlns:a16="http://schemas.microsoft.com/office/drawing/2014/main" id="{99ACB53D-6802-8B71-B15A-1C0881A4BC63}"/>
              </a:ext>
            </a:extLst>
          </p:cNvPr>
          <p:cNvSpPr txBox="1"/>
          <p:nvPr/>
        </p:nvSpPr>
        <p:spPr>
          <a:xfrm>
            <a:off x="3982948" y="5527790"/>
            <a:ext cx="4572000" cy="338554"/>
          </a:xfrm>
          <a:prstGeom prst="rect">
            <a:avLst/>
          </a:prstGeom>
          <a:noFill/>
        </p:spPr>
        <p:txBody>
          <a:bodyPr wrap="square">
            <a:spAutoFit/>
          </a:bodyPr>
          <a:lstStyle/>
          <a:p>
            <a:r>
              <a:rPr lang="en-US" altLang="zh-CN" sz="1600" dirty="0"/>
              <a:t>Doppler effect on lines</a:t>
            </a:r>
            <a:r>
              <a:rPr lang="zh-CN" altLang="en-US" sz="1600" dirty="0"/>
              <a:t>：</a:t>
            </a:r>
            <a:r>
              <a:rPr lang="en-US" altLang="zh-CN" sz="1600" dirty="0"/>
              <a:t>radial velocity, spin</a:t>
            </a:r>
            <a:endParaRPr lang="zh-CN" altLang="en-US" sz="1600" dirty="0"/>
          </a:p>
        </p:txBody>
      </p:sp>
      <p:sp>
        <p:nvSpPr>
          <p:cNvPr id="8" name="矩形 7">
            <a:extLst>
              <a:ext uri="{FF2B5EF4-FFF2-40B4-BE49-F238E27FC236}">
                <a16:creationId xmlns:a16="http://schemas.microsoft.com/office/drawing/2014/main" id="{0806BB2D-D855-42B1-BB9B-E9EBA1E5FD7F}"/>
              </a:ext>
            </a:extLst>
          </p:cNvPr>
          <p:cNvSpPr/>
          <p:nvPr/>
        </p:nvSpPr>
        <p:spPr>
          <a:xfrm>
            <a:off x="680763" y="806488"/>
            <a:ext cx="7934206" cy="646331"/>
          </a:xfrm>
          <a:prstGeom prst="rect">
            <a:avLst/>
          </a:prstGeom>
        </p:spPr>
        <p:txBody>
          <a:bodyPr wrap="square">
            <a:spAutoFit/>
          </a:bodyPr>
          <a:lstStyle/>
          <a:p>
            <a:r>
              <a:rPr lang="en-US" altLang="zh-CN" dirty="0">
                <a:latin typeface="微软雅黑" panose="020B0503020204020204" pitchFamily="34" charset="-122"/>
                <a:ea typeface="微软雅黑" panose="020B0503020204020204" pitchFamily="34" charset="-122"/>
                <a:cs typeface="Arial" panose="020B0604020202020204" pitchFamily="34" charset="0"/>
              </a:rPr>
              <a:t>1814</a:t>
            </a:r>
            <a:r>
              <a:rPr lang="zh-CN" altLang="zh-CN" dirty="0">
                <a:latin typeface="微软雅黑" panose="020B0503020204020204" pitchFamily="34" charset="-122"/>
                <a:ea typeface="微软雅黑" panose="020B0503020204020204" pitchFamily="34" charset="-122"/>
                <a:cs typeface="Arial" panose="020B0604020202020204" pitchFamily="34" charset="0"/>
              </a:rPr>
              <a:t>年，德国物理学家夫琅禾费设计了包含狭缝、色散棱镜和观察镜的分光光学系统，用它来观察太阳光，并发现了太阳光谱中的吸收暗线</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zh-CN" dirty="0">
                <a:latin typeface="微软雅黑" panose="020B0503020204020204" pitchFamily="34" charset="-122"/>
                <a:ea typeface="微软雅黑" panose="020B0503020204020204" pitchFamily="34" charset="-122"/>
                <a:cs typeface="Arial" panose="020B0604020202020204" pitchFamily="34" charset="0"/>
              </a:rPr>
              <a:t>夫琅禾费线。</a:t>
            </a:r>
            <a:endParaRPr lang="zh-CN" altLang="en-US" dirty="0"/>
          </a:p>
        </p:txBody>
      </p:sp>
      <p:sp>
        <p:nvSpPr>
          <p:cNvPr id="9" name="标题 2">
            <a:extLst>
              <a:ext uri="{FF2B5EF4-FFF2-40B4-BE49-F238E27FC236}">
                <a16:creationId xmlns:a16="http://schemas.microsoft.com/office/drawing/2014/main" id="{28B6472C-6433-4B89-89D6-C24C98D482D5}"/>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Atomic spectroscopy application</a:t>
            </a:r>
          </a:p>
        </p:txBody>
      </p:sp>
    </p:spTree>
    <p:extLst>
      <p:ext uri="{BB962C8B-B14F-4D97-AF65-F5344CB8AC3E}">
        <p14:creationId xmlns:p14="http://schemas.microsoft.com/office/powerpoint/2010/main" val="10067972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Atomic spectroscopy application</a:t>
            </a:r>
          </a:p>
        </p:txBody>
      </p:sp>
      <p:sp>
        <p:nvSpPr>
          <p:cNvPr id="2" name="矩形 1">
            <a:extLst>
              <a:ext uri="{FF2B5EF4-FFF2-40B4-BE49-F238E27FC236}">
                <a16:creationId xmlns:a16="http://schemas.microsoft.com/office/drawing/2014/main" id="{BAA1AC37-6C40-4F76-B669-2D738BBCCC9A}"/>
              </a:ext>
            </a:extLst>
          </p:cNvPr>
          <p:cNvSpPr/>
          <p:nvPr/>
        </p:nvSpPr>
        <p:spPr>
          <a:xfrm>
            <a:off x="691843" y="513634"/>
            <a:ext cx="8001000" cy="874407"/>
          </a:xfrm>
          <a:prstGeom prst="rect">
            <a:avLst/>
          </a:prstGeom>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cs typeface="Arial" panose="020B0604020202020204" pitchFamily="34" charset="0"/>
              </a:rPr>
              <a:t>原子光谱仪： 原子吸收光谱仪（</a:t>
            </a:r>
            <a:r>
              <a:rPr lang="en-US" altLang="zh-CN" dirty="0">
                <a:latin typeface="微软雅黑" panose="020B0503020204020204" pitchFamily="34" charset="-122"/>
                <a:ea typeface="微软雅黑" panose="020B0503020204020204" pitchFamily="34" charset="-122"/>
                <a:cs typeface="Arial" panose="020B0604020202020204" pitchFamily="34" charset="0"/>
              </a:rPr>
              <a:t>AAS</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X</a:t>
            </a:r>
            <a:r>
              <a:rPr lang="zh-CN" altLang="en-US" dirty="0">
                <a:latin typeface="微软雅黑" panose="020B0503020204020204" pitchFamily="34" charset="-122"/>
                <a:ea typeface="微软雅黑" panose="020B0503020204020204" pitchFamily="34" charset="-122"/>
                <a:cs typeface="Arial" panose="020B0604020202020204" pitchFamily="34" charset="0"/>
              </a:rPr>
              <a:t>射线光谱仪（</a:t>
            </a:r>
            <a:r>
              <a:rPr lang="en-US" altLang="zh-CN" dirty="0">
                <a:latin typeface="微软雅黑" panose="020B0503020204020204" pitchFamily="34" charset="-122"/>
                <a:ea typeface="微软雅黑" panose="020B0503020204020204" pitchFamily="34" charset="-122"/>
                <a:cs typeface="Arial" panose="020B0604020202020204" pitchFamily="34" charset="0"/>
              </a:rPr>
              <a:t>XRF</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r>
              <a:rPr lang="en-US" altLang="zh-CN" dirty="0">
                <a:latin typeface="微软雅黑" panose="020B0503020204020204" pitchFamily="34" charset="-122"/>
                <a:ea typeface="微软雅黑" panose="020B0503020204020204" pitchFamily="34" charset="-122"/>
                <a:cs typeface="Arial" panose="020B0604020202020204" pitchFamily="34" charset="0"/>
              </a:rPr>
              <a:t>XRD</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en-US" altLang="zh-CN" dirty="0">
                <a:latin typeface="微软雅黑" panose="020B0503020204020204" pitchFamily="34" charset="-122"/>
                <a:ea typeface="微软雅黑" panose="020B0503020204020204" pitchFamily="34" charset="-122"/>
                <a:cs typeface="Arial" panose="020B0604020202020204" pitchFamily="34" charset="0"/>
              </a:rPr>
              <a:t>XPS</a:t>
            </a:r>
            <a:r>
              <a:rPr lang="zh-CN" altLang="en-US" dirty="0">
                <a:latin typeface="微软雅黑" panose="020B0503020204020204" pitchFamily="34" charset="-122"/>
                <a:ea typeface="微软雅黑" panose="020B0503020204020204" pitchFamily="34" charset="-122"/>
                <a:cs typeface="Arial" panose="020B0604020202020204" pitchFamily="34" charset="0"/>
              </a:rPr>
              <a:t>）、火花</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电弧</a:t>
            </a:r>
            <a:r>
              <a:rPr lang="en-US" altLang="zh-CN" dirty="0">
                <a:latin typeface="微软雅黑" panose="020B0503020204020204" pitchFamily="34" charset="-122"/>
                <a:ea typeface="微软雅黑" panose="020B0503020204020204" pitchFamily="34" charset="-122"/>
                <a:cs typeface="Arial" panose="020B0604020202020204" pitchFamily="34" charset="0"/>
              </a:rPr>
              <a:t>/</a:t>
            </a:r>
            <a:r>
              <a:rPr lang="zh-CN" altLang="en-US" dirty="0">
                <a:latin typeface="微软雅黑" panose="020B0503020204020204" pitchFamily="34" charset="-122"/>
                <a:ea typeface="微软雅黑" panose="020B0503020204020204" pitchFamily="34" charset="-122"/>
                <a:cs typeface="Arial" panose="020B0604020202020204" pitchFamily="34" charset="0"/>
              </a:rPr>
              <a:t>辉光放电光谱仪、等离子体光谱仪（</a:t>
            </a:r>
            <a:r>
              <a:rPr lang="en-US" altLang="zh-CN" dirty="0">
                <a:latin typeface="微软雅黑" panose="020B0503020204020204" pitchFamily="34" charset="-122"/>
                <a:ea typeface="微软雅黑" panose="020B0503020204020204" pitchFamily="34" charset="-122"/>
                <a:cs typeface="Arial" panose="020B0604020202020204" pitchFamily="34" charset="0"/>
              </a:rPr>
              <a:t>LIBS</a:t>
            </a:r>
            <a:r>
              <a:rPr lang="zh-CN" altLang="en-US" dirty="0">
                <a:latin typeface="微软雅黑" panose="020B0503020204020204" pitchFamily="34" charset="-122"/>
                <a:ea typeface="微软雅黑" panose="020B0503020204020204" pitchFamily="34" charset="-122"/>
                <a:cs typeface="Arial" panose="020B0604020202020204" pitchFamily="34" charset="0"/>
              </a:rPr>
              <a:t>和</a:t>
            </a:r>
            <a:r>
              <a:rPr lang="en-US" altLang="zh-CN" dirty="0">
                <a:latin typeface="微软雅黑" panose="020B0503020204020204" pitchFamily="34" charset="-122"/>
                <a:ea typeface="微软雅黑" panose="020B0503020204020204" pitchFamily="34" charset="-122"/>
                <a:cs typeface="Arial" panose="020B0604020202020204" pitchFamily="34" charset="0"/>
              </a:rPr>
              <a:t>ICP-OES</a:t>
            </a:r>
            <a:r>
              <a:rPr lang="zh-CN" altLang="en-US" dirty="0">
                <a:latin typeface="微软雅黑" panose="020B0503020204020204" pitchFamily="34" charset="-122"/>
                <a:ea typeface="微软雅黑" panose="020B0503020204020204" pitchFamily="34" charset="-122"/>
                <a:cs typeface="Arial" panose="020B0604020202020204" pitchFamily="34" charset="0"/>
              </a:rPr>
              <a:t>）</a:t>
            </a:r>
            <a:endParaRPr lang="en-US" altLang="zh-CN" dirty="0">
              <a:latin typeface="微软雅黑" panose="020B0503020204020204" pitchFamily="34" charset="-122"/>
              <a:ea typeface="微软雅黑" panose="020B0503020204020204" pitchFamily="34" charset="-122"/>
              <a:cs typeface="Arial" panose="020B0604020202020204" pitchFamily="34" charset="0"/>
            </a:endParaRPr>
          </a:p>
        </p:txBody>
      </p:sp>
      <p:pic>
        <p:nvPicPr>
          <p:cNvPr id="13" name="图片 12">
            <a:extLst>
              <a:ext uri="{FF2B5EF4-FFF2-40B4-BE49-F238E27FC236}">
                <a16:creationId xmlns:a16="http://schemas.microsoft.com/office/drawing/2014/main" id="{6524CB08-6373-41DB-8135-8000830689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4815" y="3500846"/>
            <a:ext cx="3548833" cy="1493005"/>
          </a:xfrm>
          <a:prstGeom prst="rect">
            <a:avLst/>
          </a:prstGeom>
        </p:spPr>
      </p:pic>
      <p:pic>
        <p:nvPicPr>
          <p:cNvPr id="17" name="图片 16">
            <a:extLst>
              <a:ext uri="{FF2B5EF4-FFF2-40B4-BE49-F238E27FC236}">
                <a16:creationId xmlns:a16="http://schemas.microsoft.com/office/drawing/2014/main" id="{C9B0D30B-FABC-40F8-837B-A31B5A1CA5A8}"/>
              </a:ext>
            </a:extLst>
          </p:cNvPr>
          <p:cNvPicPr>
            <a:picLocks noChangeAspect="1"/>
          </p:cNvPicPr>
          <p:nvPr/>
        </p:nvPicPr>
        <p:blipFill rotWithShape="1">
          <a:blip r:embed="rId4">
            <a:extLst>
              <a:ext uri="{28A0092B-C50C-407E-A947-70E740481C1C}">
                <a14:useLocalDpi xmlns:a14="http://schemas.microsoft.com/office/drawing/2010/main" val="0"/>
              </a:ext>
            </a:extLst>
          </a:blip>
          <a:srcRect l="16269" r="33240"/>
          <a:stretch/>
        </p:blipFill>
        <p:spPr>
          <a:xfrm>
            <a:off x="4854707" y="1680769"/>
            <a:ext cx="2592000" cy="1550775"/>
          </a:xfrm>
          <a:prstGeom prst="rect">
            <a:avLst/>
          </a:prstGeom>
        </p:spPr>
      </p:pic>
      <p:pic>
        <p:nvPicPr>
          <p:cNvPr id="19" name="图片 18">
            <a:extLst>
              <a:ext uri="{FF2B5EF4-FFF2-40B4-BE49-F238E27FC236}">
                <a16:creationId xmlns:a16="http://schemas.microsoft.com/office/drawing/2014/main" id="{E7559A15-F308-45E5-9097-555FE0307DF4}"/>
              </a:ext>
            </a:extLst>
          </p:cNvPr>
          <p:cNvPicPr>
            <a:picLocks noChangeAspect="1"/>
          </p:cNvPicPr>
          <p:nvPr/>
        </p:nvPicPr>
        <p:blipFill rotWithShape="1">
          <a:blip r:embed="rId5">
            <a:extLst>
              <a:ext uri="{28A0092B-C50C-407E-A947-70E740481C1C}">
                <a14:useLocalDpi xmlns:a14="http://schemas.microsoft.com/office/drawing/2010/main" val="0"/>
              </a:ext>
            </a:extLst>
          </a:blip>
          <a:srcRect b="30556"/>
          <a:stretch/>
        </p:blipFill>
        <p:spPr>
          <a:xfrm>
            <a:off x="7547542" y="1590871"/>
            <a:ext cx="1397301" cy="1617247"/>
          </a:xfrm>
          <a:prstGeom prst="rect">
            <a:avLst/>
          </a:prstGeom>
        </p:spPr>
      </p:pic>
      <p:pic>
        <p:nvPicPr>
          <p:cNvPr id="24" name="图片 23">
            <a:extLst>
              <a:ext uri="{FF2B5EF4-FFF2-40B4-BE49-F238E27FC236}">
                <a16:creationId xmlns:a16="http://schemas.microsoft.com/office/drawing/2014/main" id="{D0D59F29-A28A-4B1C-B815-7D08FFC812D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9157" y="1580589"/>
            <a:ext cx="4356958" cy="4669011"/>
          </a:xfrm>
          <a:prstGeom prst="rect">
            <a:avLst/>
          </a:prstGeom>
        </p:spPr>
      </p:pic>
      <p:pic>
        <p:nvPicPr>
          <p:cNvPr id="26" name="图片 25">
            <a:extLst>
              <a:ext uri="{FF2B5EF4-FFF2-40B4-BE49-F238E27FC236}">
                <a16:creationId xmlns:a16="http://schemas.microsoft.com/office/drawing/2014/main" id="{5D4EB122-8502-4AD9-8217-363AAC87480D}"/>
              </a:ext>
            </a:extLst>
          </p:cNvPr>
          <p:cNvPicPr>
            <a:picLocks noChangeAspect="1"/>
          </p:cNvPicPr>
          <p:nvPr/>
        </p:nvPicPr>
        <p:blipFill rotWithShape="1">
          <a:blip r:embed="rId7">
            <a:extLst>
              <a:ext uri="{28A0092B-C50C-407E-A947-70E740481C1C}">
                <a14:useLocalDpi xmlns:a14="http://schemas.microsoft.com/office/drawing/2010/main" val="0"/>
              </a:ext>
            </a:extLst>
          </a:blip>
          <a:srcRect r="-171"/>
          <a:stretch/>
        </p:blipFill>
        <p:spPr>
          <a:xfrm>
            <a:off x="3960001" y="5031855"/>
            <a:ext cx="2749157" cy="1269317"/>
          </a:xfrm>
          <a:prstGeom prst="rect">
            <a:avLst/>
          </a:prstGeom>
        </p:spPr>
      </p:pic>
      <p:sp>
        <p:nvSpPr>
          <p:cNvPr id="3" name="箭头: 右 2">
            <a:extLst>
              <a:ext uri="{FF2B5EF4-FFF2-40B4-BE49-F238E27FC236}">
                <a16:creationId xmlns:a16="http://schemas.microsoft.com/office/drawing/2014/main" id="{AE1D8403-5FB8-492F-9134-4CD1AFD48542}"/>
              </a:ext>
            </a:extLst>
          </p:cNvPr>
          <p:cNvSpPr/>
          <p:nvPr/>
        </p:nvSpPr>
        <p:spPr>
          <a:xfrm rot="18774956">
            <a:off x="6522685" y="5127137"/>
            <a:ext cx="475200" cy="2552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331236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6EA04F5-DFE9-32EC-3447-CFF1BAADC5ED}"/>
              </a:ext>
            </a:extLst>
          </p:cNvPr>
          <p:cNvPicPr>
            <a:picLocks noChangeAspect="1"/>
          </p:cNvPicPr>
          <p:nvPr/>
        </p:nvPicPr>
        <p:blipFill>
          <a:blip r:embed="rId3"/>
          <a:stretch>
            <a:fillRect/>
          </a:stretch>
        </p:blipFill>
        <p:spPr>
          <a:xfrm>
            <a:off x="830217" y="650684"/>
            <a:ext cx="7672433" cy="2326556"/>
          </a:xfrm>
          <a:prstGeom prst="rect">
            <a:avLst/>
          </a:prstGeom>
        </p:spPr>
      </p:pic>
      <p:sp>
        <p:nvSpPr>
          <p:cNvPr id="4" name="文本框 3">
            <a:extLst>
              <a:ext uri="{FF2B5EF4-FFF2-40B4-BE49-F238E27FC236}">
                <a16:creationId xmlns:a16="http://schemas.microsoft.com/office/drawing/2014/main" id="{E0A2A8B2-0901-C8E9-1743-056C34A263F4}"/>
              </a:ext>
            </a:extLst>
          </p:cNvPr>
          <p:cNvSpPr txBox="1"/>
          <p:nvPr/>
        </p:nvSpPr>
        <p:spPr>
          <a:xfrm>
            <a:off x="569867" y="3268761"/>
            <a:ext cx="4167233" cy="1477328"/>
          </a:xfrm>
          <a:prstGeom prst="rect">
            <a:avLst/>
          </a:prstGeom>
          <a:noFill/>
        </p:spPr>
        <p:txBody>
          <a:bodyPr wrap="square">
            <a:spAutoFit/>
          </a:bodyPr>
          <a:lstStyle/>
          <a:p>
            <a:r>
              <a:rPr lang="en-US" altLang="zh-CN" dirty="0"/>
              <a:t>A two-level system (left) can absorb light only at a certain energy (or wavelength). So the atomic absorption spectra consist of a series of sharp, well defined lines.  </a:t>
            </a:r>
            <a:endParaRPr lang="zh-CN" altLang="en-US" dirty="0"/>
          </a:p>
        </p:txBody>
      </p:sp>
      <p:sp>
        <p:nvSpPr>
          <p:cNvPr id="7" name="文本框 6">
            <a:extLst>
              <a:ext uri="{FF2B5EF4-FFF2-40B4-BE49-F238E27FC236}">
                <a16:creationId xmlns:a16="http://schemas.microsoft.com/office/drawing/2014/main" id="{F2409994-9AF3-CB91-F412-F0F86EC4F0C7}"/>
              </a:ext>
            </a:extLst>
          </p:cNvPr>
          <p:cNvSpPr txBox="1"/>
          <p:nvPr/>
        </p:nvSpPr>
        <p:spPr>
          <a:xfrm>
            <a:off x="569867" y="4746089"/>
            <a:ext cx="4167234" cy="1200329"/>
          </a:xfrm>
          <a:prstGeom prst="rect">
            <a:avLst/>
          </a:prstGeom>
          <a:noFill/>
        </p:spPr>
        <p:txBody>
          <a:bodyPr wrap="square">
            <a:spAutoFit/>
          </a:bodyPr>
          <a:lstStyle/>
          <a:p>
            <a:r>
              <a:rPr lang="en-US" altLang="zh-CN" dirty="0"/>
              <a:t>With an increasing number of energy levels (toward the right), a broader energy (or wavelength) range of light can be absorbed. </a:t>
            </a:r>
            <a:endParaRPr lang="zh-CN" altLang="en-US" dirty="0"/>
          </a:p>
        </p:txBody>
      </p:sp>
      <p:sp>
        <p:nvSpPr>
          <p:cNvPr id="11" name="标题 2">
            <a:extLst>
              <a:ext uri="{FF2B5EF4-FFF2-40B4-BE49-F238E27FC236}">
                <a16:creationId xmlns:a16="http://schemas.microsoft.com/office/drawing/2014/main" id="{107620A6-2D68-3623-6296-4522BC4FDE6F}"/>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How does light interact with matter?</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5" name="图片 4">
            <a:extLst>
              <a:ext uri="{FF2B5EF4-FFF2-40B4-BE49-F238E27FC236}">
                <a16:creationId xmlns:a16="http://schemas.microsoft.com/office/drawing/2014/main" id="{610C6DD6-1A53-4465-92AC-A2FDB49B11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7100" y="3449004"/>
            <a:ext cx="4056364" cy="2025650"/>
          </a:xfrm>
          <a:prstGeom prst="rect">
            <a:avLst/>
          </a:prstGeom>
        </p:spPr>
      </p:pic>
    </p:spTree>
    <p:extLst>
      <p:ext uri="{BB962C8B-B14F-4D97-AF65-F5344CB8AC3E}">
        <p14:creationId xmlns:p14="http://schemas.microsoft.com/office/powerpoint/2010/main" val="3263316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Light absorption in matter</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5" name="图片 4">
            <a:extLst>
              <a:ext uri="{FF2B5EF4-FFF2-40B4-BE49-F238E27FC236}">
                <a16:creationId xmlns:a16="http://schemas.microsoft.com/office/drawing/2014/main" id="{BCEFACB1-144B-DBEF-389D-C942C84E5505}"/>
              </a:ext>
            </a:extLst>
          </p:cNvPr>
          <p:cNvPicPr>
            <a:picLocks noChangeAspect="1"/>
          </p:cNvPicPr>
          <p:nvPr/>
        </p:nvPicPr>
        <p:blipFill>
          <a:blip r:embed="rId3"/>
          <a:stretch>
            <a:fillRect/>
          </a:stretch>
        </p:blipFill>
        <p:spPr>
          <a:xfrm>
            <a:off x="494344" y="1003033"/>
            <a:ext cx="3361637" cy="2425967"/>
          </a:xfrm>
          <a:prstGeom prst="rect">
            <a:avLst/>
          </a:prstGeom>
        </p:spPr>
      </p:pic>
      <p:sp>
        <p:nvSpPr>
          <p:cNvPr id="13" name="文本框 12">
            <a:extLst>
              <a:ext uri="{FF2B5EF4-FFF2-40B4-BE49-F238E27FC236}">
                <a16:creationId xmlns:a16="http://schemas.microsoft.com/office/drawing/2014/main" id="{9D81950F-7FE1-3450-8CFD-5EC7BE1204C7}"/>
              </a:ext>
            </a:extLst>
          </p:cNvPr>
          <p:cNvSpPr txBox="1"/>
          <p:nvPr/>
        </p:nvSpPr>
        <p:spPr>
          <a:xfrm>
            <a:off x="4100946" y="812800"/>
            <a:ext cx="4936836" cy="5355312"/>
          </a:xfrm>
          <a:prstGeom prst="rect">
            <a:avLst/>
          </a:prstGeom>
          <a:noFill/>
        </p:spPr>
        <p:txBody>
          <a:bodyPr wrap="square">
            <a:spAutoFit/>
          </a:bodyPr>
          <a:lstStyle/>
          <a:p>
            <a:r>
              <a:rPr lang="en-US" altLang="zh-CN" dirty="0"/>
              <a:t>When light waves hit a metal surface, they interact with the electrons in the metal atoms, causing the electrons to absorb some of the energy from the light waves.</a:t>
            </a:r>
          </a:p>
          <a:p>
            <a:endParaRPr lang="en-US" altLang="zh-CN" dirty="0"/>
          </a:p>
          <a:p>
            <a:r>
              <a:rPr lang="en-US" altLang="zh-CN" dirty="0"/>
              <a:t>The absorbed energy causes the electrons to become excited and move to a higher energy level within the metal atoms. However, because the excited electrons are not stable at this higher energy level, they quickly release the absorbed energy by emitting a new wave of light that is identical to the original incoming light wave.</a:t>
            </a:r>
          </a:p>
          <a:p>
            <a:endParaRPr lang="en-US" altLang="zh-CN" dirty="0"/>
          </a:p>
          <a:p>
            <a:r>
              <a:rPr lang="en-US" altLang="zh-CN" dirty="0"/>
              <a:t>This process of absorption and re-emission happens very quickly and repeatedly, which causes the incoming light waves to be reflected off the metal surface, rather than being absorbed or transmitted through it.</a:t>
            </a:r>
            <a:endParaRPr lang="zh-CN" altLang="en-US" dirty="0"/>
          </a:p>
        </p:txBody>
      </p:sp>
      <p:pic>
        <p:nvPicPr>
          <p:cNvPr id="15" name="图片 14">
            <a:extLst>
              <a:ext uri="{FF2B5EF4-FFF2-40B4-BE49-F238E27FC236}">
                <a16:creationId xmlns:a16="http://schemas.microsoft.com/office/drawing/2014/main" id="{93221CFD-5F17-F132-993C-AFF47736FA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343" y="3646884"/>
            <a:ext cx="3361637" cy="2521228"/>
          </a:xfrm>
          <a:prstGeom prst="rect">
            <a:avLst/>
          </a:prstGeom>
        </p:spPr>
      </p:pic>
    </p:spTree>
    <p:extLst>
      <p:ext uri="{BB962C8B-B14F-4D97-AF65-F5344CB8AC3E}">
        <p14:creationId xmlns:p14="http://schemas.microsoft.com/office/powerpoint/2010/main" val="19280243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Light absorption in matter</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9" name="图片 8">
            <a:extLst>
              <a:ext uri="{FF2B5EF4-FFF2-40B4-BE49-F238E27FC236}">
                <a16:creationId xmlns:a16="http://schemas.microsoft.com/office/drawing/2014/main" id="{A182B736-18E9-439B-216D-CB7695520A59}"/>
              </a:ext>
            </a:extLst>
          </p:cNvPr>
          <p:cNvPicPr>
            <a:picLocks noChangeAspect="1"/>
          </p:cNvPicPr>
          <p:nvPr/>
        </p:nvPicPr>
        <p:blipFill>
          <a:blip r:embed="rId3"/>
          <a:stretch>
            <a:fillRect/>
          </a:stretch>
        </p:blipFill>
        <p:spPr>
          <a:xfrm>
            <a:off x="1127237" y="686211"/>
            <a:ext cx="3032915" cy="3262334"/>
          </a:xfrm>
          <a:prstGeom prst="rect">
            <a:avLst/>
          </a:prstGeom>
        </p:spPr>
      </p:pic>
      <p:sp>
        <p:nvSpPr>
          <p:cNvPr id="13" name="文本框 12">
            <a:extLst>
              <a:ext uri="{FF2B5EF4-FFF2-40B4-BE49-F238E27FC236}">
                <a16:creationId xmlns:a16="http://schemas.microsoft.com/office/drawing/2014/main" id="{9D81950F-7FE1-3450-8CFD-5EC7BE1204C7}"/>
              </a:ext>
            </a:extLst>
          </p:cNvPr>
          <p:cNvSpPr txBox="1"/>
          <p:nvPr/>
        </p:nvSpPr>
        <p:spPr>
          <a:xfrm>
            <a:off x="595744" y="4055983"/>
            <a:ext cx="7901712" cy="2308324"/>
          </a:xfrm>
          <a:prstGeom prst="rect">
            <a:avLst/>
          </a:prstGeom>
          <a:noFill/>
        </p:spPr>
        <p:txBody>
          <a:bodyPr wrap="square">
            <a:spAutoFit/>
          </a:bodyPr>
          <a:lstStyle/>
          <a:p>
            <a:r>
              <a:rPr lang="en-US" altLang="zh-CN" dirty="0"/>
              <a:t>If the energy of light waves is less than energy of the band gap, it will not be absorbed. To absorb a photon, there must be an available energy level to accept the excited electron.</a:t>
            </a:r>
          </a:p>
          <a:p>
            <a:r>
              <a:rPr lang="en-US" altLang="zh-CN" dirty="0"/>
              <a:t>Insulators tend to have a very wide band gap, larger than the energy of visible photons. The light waves are able to pass through the glass without being significantly affected. </a:t>
            </a:r>
          </a:p>
          <a:p>
            <a:r>
              <a:rPr lang="en-US" altLang="zh-CN" dirty="0"/>
              <a:t>When light enters a medium like water, it interacts with the molecules in the water, causing it to be absorbed and then re-emitted by these molecules. </a:t>
            </a:r>
            <a:endParaRPr lang="zh-CN" altLang="en-US" dirty="0"/>
          </a:p>
        </p:txBody>
      </p:sp>
      <p:pic>
        <p:nvPicPr>
          <p:cNvPr id="3" name="图片 2">
            <a:extLst>
              <a:ext uri="{FF2B5EF4-FFF2-40B4-BE49-F238E27FC236}">
                <a16:creationId xmlns:a16="http://schemas.microsoft.com/office/drawing/2014/main" id="{6E8DB9B1-75FA-9D32-2FAA-49A9D01F34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850" y="770692"/>
            <a:ext cx="2949189" cy="3093372"/>
          </a:xfrm>
          <a:prstGeom prst="rect">
            <a:avLst/>
          </a:prstGeom>
        </p:spPr>
      </p:pic>
    </p:spTree>
    <p:extLst>
      <p:ext uri="{BB962C8B-B14F-4D97-AF65-F5344CB8AC3E}">
        <p14:creationId xmlns:p14="http://schemas.microsoft.com/office/powerpoint/2010/main" val="15816944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Light absorption in matter</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3" name="文本框 12">
            <a:extLst>
              <a:ext uri="{FF2B5EF4-FFF2-40B4-BE49-F238E27FC236}">
                <a16:creationId xmlns:a16="http://schemas.microsoft.com/office/drawing/2014/main" id="{9D81950F-7FE1-3450-8CFD-5EC7BE1204C7}"/>
              </a:ext>
            </a:extLst>
          </p:cNvPr>
          <p:cNvSpPr txBox="1"/>
          <p:nvPr/>
        </p:nvSpPr>
        <p:spPr>
          <a:xfrm>
            <a:off x="1736437" y="3913190"/>
            <a:ext cx="2835563" cy="646331"/>
          </a:xfrm>
          <a:prstGeom prst="rect">
            <a:avLst/>
          </a:prstGeom>
          <a:noFill/>
        </p:spPr>
        <p:txBody>
          <a:bodyPr wrap="square">
            <a:spAutoFit/>
          </a:bodyPr>
          <a:lstStyle/>
          <a:p>
            <a:r>
              <a:rPr lang="en-US" altLang="zh-CN" dirty="0"/>
              <a:t>Selectively transparent</a:t>
            </a:r>
          </a:p>
          <a:p>
            <a:endParaRPr lang="en-US" altLang="zh-CN" dirty="0"/>
          </a:p>
        </p:txBody>
      </p:sp>
      <p:pic>
        <p:nvPicPr>
          <p:cNvPr id="3" name="图片 2">
            <a:extLst>
              <a:ext uri="{FF2B5EF4-FFF2-40B4-BE49-F238E27FC236}">
                <a16:creationId xmlns:a16="http://schemas.microsoft.com/office/drawing/2014/main" id="{F18F9D25-186E-4111-56FE-0BCC1A6BB1DC}"/>
              </a:ext>
            </a:extLst>
          </p:cNvPr>
          <p:cNvPicPr>
            <a:picLocks noChangeAspect="1"/>
          </p:cNvPicPr>
          <p:nvPr/>
        </p:nvPicPr>
        <p:blipFill>
          <a:blip r:embed="rId3"/>
          <a:stretch>
            <a:fillRect/>
          </a:stretch>
        </p:blipFill>
        <p:spPr>
          <a:xfrm>
            <a:off x="302127" y="679057"/>
            <a:ext cx="4940783" cy="3195825"/>
          </a:xfrm>
          <a:prstGeom prst="rect">
            <a:avLst/>
          </a:prstGeom>
        </p:spPr>
      </p:pic>
      <p:sp>
        <p:nvSpPr>
          <p:cNvPr id="4" name="文本框 3">
            <a:extLst>
              <a:ext uri="{FF2B5EF4-FFF2-40B4-BE49-F238E27FC236}">
                <a16:creationId xmlns:a16="http://schemas.microsoft.com/office/drawing/2014/main" id="{82AF2EA8-D17F-0DB0-B15D-CD299B48AC88}"/>
              </a:ext>
            </a:extLst>
          </p:cNvPr>
          <p:cNvSpPr txBox="1"/>
          <p:nvPr/>
        </p:nvSpPr>
        <p:spPr>
          <a:xfrm>
            <a:off x="4725196" y="5564827"/>
            <a:ext cx="4267200" cy="646331"/>
          </a:xfrm>
          <a:prstGeom prst="rect">
            <a:avLst/>
          </a:prstGeom>
          <a:noFill/>
        </p:spPr>
        <p:txBody>
          <a:bodyPr wrap="square">
            <a:spAutoFit/>
          </a:bodyPr>
          <a:lstStyle/>
          <a:p>
            <a:r>
              <a:rPr lang="en-US" altLang="zh-CN" dirty="0"/>
              <a:t>Silicon does not absorb below the band gap energy of 1.14 eV (</a:t>
            </a:r>
            <a:r>
              <a:rPr lang="zh-CN" altLang="en-US" dirty="0"/>
              <a:t>≈</a:t>
            </a:r>
            <a:r>
              <a:rPr lang="en-US" altLang="zh-CN" dirty="0"/>
              <a:t>1100 nm)</a:t>
            </a:r>
            <a:endParaRPr lang="zh-CN" altLang="en-US" dirty="0"/>
          </a:p>
        </p:txBody>
      </p:sp>
      <p:pic>
        <p:nvPicPr>
          <p:cNvPr id="5" name="图片 4">
            <a:extLst>
              <a:ext uri="{FF2B5EF4-FFF2-40B4-BE49-F238E27FC236}">
                <a16:creationId xmlns:a16="http://schemas.microsoft.com/office/drawing/2014/main" id="{119AEDE4-E448-CD21-B77A-5A5F39DA8358}"/>
              </a:ext>
            </a:extLst>
          </p:cNvPr>
          <p:cNvPicPr>
            <a:picLocks noChangeAspect="1"/>
          </p:cNvPicPr>
          <p:nvPr/>
        </p:nvPicPr>
        <p:blipFill rotWithShape="1">
          <a:blip r:embed="rId4"/>
          <a:srcRect l="50687" b="7733"/>
          <a:stretch/>
        </p:blipFill>
        <p:spPr>
          <a:xfrm>
            <a:off x="5743863" y="754796"/>
            <a:ext cx="2099686" cy="1964298"/>
          </a:xfrm>
          <a:prstGeom prst="rect">
            <a:avLst/>
          </a:prstGeom>
        </p:spPr>
      </p:pic>
      <p:pic>
        <p:nvPicPr>
          <p:cNvPr id="6" name="图片 5">
            <a:extLst>
              <a:ext uri="{FF2B5EF4-FFF2-40B4-BE49-F238E27FC236}">
                <a16:creationId xmlns:a16="http://schemas.microsoft.com/office/drawing/2014/main" id="{041CDB4C-2294-5AB0-BF97-14B4B02B3A21}"/>
              </a:ext>
            </a:extLst>
          </p:cNvPr>
          <p:cNvPicPr>
            <a:picLocks noChangeAspect="1"/>
          </p:cNvPicPr>
          <p:nvPr/>
        </p:nvPicPr>
        <p:blipFill rotWithShape="1">
          <a:blip r:embed="rId4"/>
          <a:srcRect r="50687" b="7733"/>
          <a:stretch/>
        </p:blipFill>
        <p:spPr>
          <a:xfrm>
            <a:off x="5743863" y="3254207"/>
            <a:ext cx="2099686" cy="1964298"/>
          </a:xfrm>
          <a:prstGeom prst="rect">
            <a:avLst/>
          </a:prstGeom>
        </p:spPr>
      </p:pic>
      <p:sp>
        <p:nvSpPr>
          <p:cNvPr id="7" name="文本框 6">
            <a:extLst>
              <a:ext uri="{FF2B5EF4-FFF2-40B4-BE49-F238E27FC236}">
                <a16:creationId xmlns:a16="http://schemas.microsoft.com/office/drawing/2014/main" id="{8FED2B2B-FE47-B5AB-BFDA-25262833A3BE}"/>
              </a:ext>
            </a:extLst>
          </p:cNvPr>
          <p:cNvSpPr txBox="1"/>
          <p:nvPr/>
        </p:nvSpPr>
        <p:spPr>
          <a:xfrm>
            <a:off x="5743863" y="2719094"/>
            <a:ext cx="2347192" cy="369332"/>
          </a:xfrm>
          <a:prstGeom prst="rect">
            <a:avLst/>
          </a:prstGeom>
          <a:noFill/>
        </p:spPr>
        <p:txBody>
          <a:bodyPr wrap="square">
            <a:spAutoFit/>
          </a:bodyPr>
          <a:lstStyle/>
          <a:p>
            <a:r>
              <a:rPr lang="en-US" altLang="zh-CN" dirty="0"/>
              <a:t>Visible light camera</a:t>
            </a:r>
            <a:endParaRPr lang="zh-CN" altLang="en-US" dirty="0"/>
          </a:p>
        </p:txBody>
      </p:sp>
      <p:sp>
        <p:nvSpPr>
          <p:cNvPr id="8" name="文本框 7">
            <a:extLst>
              <a:ext uri="{FF2B5EF4-FFF2-40B4-BE49-F238E27FC236}">
                <a16:creationId xmlns:a16="http://schemas.microsoft.com/office/drawing/2014/main" id="{F3D3D6D5-189A-7FE9-4AEB-564586188376}"/>
              </a:ext>
            </a:extLst>
          </p:cNvPr>
          <p:cNvSpPr txBox="1"/>
          <p:nvPr/>
        </p:nvSpPr>
        <p:spPr>
          <a:xfrm>
            <a:off x="5978599" y="5195495"/>
            <a:ext cx="1837241" cy="369332"/>
          </a:xfrm>
          <a:prstGeom prst="rect">
            <a:avLst/>
          </a:prstGeom>
          <a:noFill/>
        </p:spPr>
        <p:txBody>
          <a:bodyPr wrap="square">
            <a:spAutoFit/>
          </a:bodyPr>
          <a:lstStyle/>
          <a:p>
            <a:r>
              <a:rPr lang="en-US" altLang="zh-CN" dirty="0"/>
              <a:t>Infrared camera</a:t>
            </a:r>
            <a:endParaRPr lang="zh-CN" altLang="en-US" dirty="0"/>
          </a:p>
        </p:txBody>
      </p:sp>
      <p:pic>
        <p:nvPicPr>
          <p:cNvPr id="9" name="图片 8">
            <a:extLst>
              <a:ext uri="{FF2B5EF4-FFF2-40B4-BE49-F238E27FC236}">
                <a16:creationId xmlns:a16="http://schemas.microsoft.com/office/drawing/2014/main" id="{BFD11DA9-C870-8094-7B54-F129EBCFB9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2470" y="4406604"/>
            <a:ext cx="2882274" cy="1804554"/>
          </a:xfrm>
          <a:prstGeom prst="rect">
            <a:avLst/>
          </a:prstGeom>
        </p:spPr>
      </p:pic>
    </p:spTree>
    <p:extLst>
      <p:ext uri="{BB962C8B-B14F-4D97-AF65-F5344CB8AC3E}">
        <p14:creationId xmlns:p14="http://schemas.microsoft.com/office/powerpoint/2010/main" val="21181032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0" y="75087"/>
            <a:ext cx="9144000"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Light absorption in matter</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136BC291-1B6E-2E55-F70D-17D0AA24F2FE}"/>
              </a:ext>
            </a:extLst>
          </p:cNvPr>
          <p:cNvPicPr>
            <a:picLocks noChangeAspect="1"/>
          </p:cNvPicPr>
          <p:nvPr/>
        </p:nvPicPr>
        <p:blipFill rotWithShape="1">
          <a:blip r:embed="rId3"/>
          <a:srcRect t="4932" b="3152"/>
          <a:stretch/>
        </p:blipFill>
        <p:spPr>
          <a:xfrm>
            <a:off x="1306945" y="796866"/>
            <a:ext cx="6271492" cy="4417062"/>
          </a:xfrm>
          <a:prstGeom prst="rect">
            <a:avLst/>
          </a:prstGeom>
        </p:spPr>
      </p:pic>
      <p:pic>
        <p:nvPicPr>
          <p:cNvPr id="10" name="图片 9">
            <a:extLst>
              <a:ext uri="{FF2B5EF4-FFF2-40B4-BE49-F238E27FC236}">
                <a16:creationId xmlns:a16="http://schemas.microsoft.com/office/drawing/2014/main" id="{497D4E3F-73E6-D65C-2A53-2903A09E0C85}"/>
              </a:ext>
            </a:extLst>
          </p:cNvPr>
          <p:cNvPicPr>
            <a:picLocks noChangeAspect="1"/>
          </p:cNvPicPr>
          <p:nvPr/>
        </p:nvPicPr>
        <p:blipFill>
          <a:blip r:embed="rId4"/>
          <a:stretch>
            <a:fillRect/>
          </a:stretch>
        </p:blipFill>
        <p:spPr>
          <a:xfrm>
            <a:off x="3697287" y="5665280"/>
            <a:ext cx="1749425" cy="425319"/>
          </a:xfrm>
          <a:prstGeom prst="rect">
            <a:avLst/>
          </a:prstGeom>
        </p:spPr>
      </p:pic>
      <p:sp>
        <p:nvSpPr>
          <p:cNvPr id="12" name="文本框 11">
            <a:extLst>
              <a:ext uri="{FF2B5EF4-FFF2-40B4-BE49-F238E27FC236}">
                <a16:creationId xmlns:a16="http://schemas.microsoft.com/office/drawing/2014/main" id="{FFFB9F01-2ED1-CB00-4EE6-8EC09842877C}"/>
              </a:ext>
            </a:extLst>
          </p:cNvPr>
          <p:cNvSpPr txBox="1"/>
          <p:nvPr/>
        </p:nvSpPr>
        <p:spPr>
          <a:xfrm>
            <a:off x="829395" y="5295948"/>
            <a:ext cx="7843549" cy="369332"/>
          </a:xfrm>
          <a:prstGeom prst="rect">
            <a:avLst/>
          </a:prstGeom>
          <a:noFill/>
        </p:spPr>
        <p:txBody>
          <a:bodyPr wrap="square">
            <a:spAutoFit/>
          </a:bodyPr>
          <a:lstStyle/>
          <a:p>
            <a:r>
              <a:rPr lang="en-US" altLang="zh-CN" dirty="0"/>
              <a:t>In direct band gap materials the absorption coefficient is described by:</a:t>
            </a:r>
            <a:endParaRPr lang="zh-CN" altLang="en-US" dirty="0"/>
          </a:p>
        </p:txBody>
      </p:sp>
    </p:spTree>
    <p:extLst>
      <p:ext uri="{BB962C8B-B14F-4D97-AF65-F5344CB8AC3E}">
        <p14:creationId xmlns:p14="http://schemas.microsoft.com/office/powerpoint/2010/main" val="19437649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标题 2">
            <a:extLst>
              <a:ext uri="{FF2B5EF4-FFF2-40B4-BE49-F238E27FC236}">
                <a16:creationId xmlns:a16="http://schemas.microsoft.com/office/drawing/2014/main" id="{35F2D01A-1C08-4ACD-B5AA-B79E5F6D91B9}"/>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Convert from electron volts (eV) to wavelength(nm)</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 name="文本框 3">
            <a:extLst>
              <a:ext uri="{FF2B5EF4-FFF2-40B4-BE49-F238E27FC236}">
                <a16:creationId xmlns:a16="http://schemas.microsoft.com/office/drawing/2014/main" id="{4C2A0B67-C165-57EE-8411-868A7F46D571}"/>
              </a:ext>
            </a:extLst>
          </p:cNvPr>
          <p:cNvSpPr txBox="1"/>
          <p:nvPr/>
        </p:nvSpPr>
        <p:spPr>
          <a:xfrm>
            <a:off x="1884218" y="2717289"/>
            <a:ext cx="5952836" cy="646331"/>
          </a:xfrm>
          <a:prstGeom prst="rect">
            <a:avLst/>
          </a:prstGeom>
          <a:noFill/>
        </p:spPr>
        <p:txBody>
          <a:bodyPr wrap="square">
            <a:spAutoFit/>
          </a:bodyPr>
          <a:lstStyle/>
          <a:p>
            <a:r>
              <a:rPr lang="en-US" altLang="zh-CN" b="1" dirty="0">
                <a:solidFill>
                  <a:srgbClr val="FF0000"/>
                </a:solidFill>
              </a:rPr>
              <a:t>Trick</a:t>
            </a:r>
            <a:r>
              <a:rPr lang="zh-CN" altLang="en-US" b="1" dirty="0">
                <a:solidFill>
                  <a:srgbClr val="FF0000"/>
                </a:solidFill>
              </a:rPr>
              <a:t>：</a:t>
            </a:r>
            <a:endParaRPr lang="en-US" altLang="zh-CN" b="1" dirty="0">
              <a:solidFill>
                <a:srgbClr val="FF0000"/>
              </a:solidFill>
            </a:endParaRPr>
          </a:p>
          <a:p>
            <a:r>
              <a:rPr lang="en-US" altLang="zh-CN" b="1" dirty="0">
                <a:solidFill>
                  <a:srgbClr val="FF0000"/>
                </a:solidFill>
              </a:rPr>
              <a:t>1240 </a:t>
            </a:r>
            <a:r>
              <a:rPr lang="en-US" altLang="zh-CN" b="1" dirty="0" err="1">
                <a:solidFill>
                  <a:srgbClr val="FF0000"/>
                </a:solidFill>
              </a:rPr>
              <a:t>eVnm</a:t>
            </a:r>
            <a:r>
              <a:rPr lang="en-US" altLang="zh-CN" b="1" dirty="0">
                <a:solidFill>
                  <a:srgbClr val="FF0000"/>
                </a:solidFill>
              </a:rPr>
              <a:t> ÷ (wavelength(nm)) = Energy in eV</a:t>
            </a:r>
            <a:endParaRPr lang="zh-CN" altLang="en-US" b="1" dirty="0">
              <a:solidFill>
                <a:srgbClr val="FF0000"/>
              </a:solidFill>
            </a:endParaRPr>
          </a:p>
        </p:txBody>
      </p:sp>
      <p:sp>
        <p:nvSpPr>
          <p:cNvPr id="6" name="文本框 5">
            <a:extLst>
              <a:ext uri="{FF2B5EF4-FFF2-40B4-BE49-F238E27FC236}">
                <a16:creationId xmlns:a16="http://schemas.microsoft.com/office/drawing/2014/main" id="{7578E5C0-7984-9EEE-13E3-F51116E94181}"/>
              </a:ext>
            </a:extLst>
          </p:cNvPr>
          <p:cNvSpPr txBox="1"/>
          <p:nvPr/>
        </p:nvSpPr>
        <p:spPr>
          <a:xfrm>
            <a:off x="3643745" y="1529765"/>
            <a:ext cx="1302327" cy="461665"/>
          </a:xfrm>
          <a:prstGeom prst="rect">
            <a:avLst/>
          </a:prstGeom>
          <a:noFill/>
        </p:spPr>
        <p:txBody>
          <a:bodyPr wrap="square">
            <a:spAutoFit/>
          </a:bodyPr>
          <a:lstStyle/>
          <a:p>
            <a:r>
              <a:rPr lang="en-US" altLang="zh-CN" sz="2400" i="1" dirty="0">
                <a:latin typeface="Times New Roman" panose="02020603050405020304" pitchFamily="18" charset="0"/>
                <a:cs typeface="Times New Roman" panose="02020603050405020304" pitchFamily="18" charset="0"/>
              </a:rPr>
              <a:t>E = </a:t>
            </a:r>
            <a:r>
              <a:rPr lang="en-US" altLang="zh-CN" sz="2400" i="1" dirty="0" err="1">
                <a:latin typeface="Times New Roman" panose="02020603050405020304" pitchFamily="18" charset="0"/>
                <a:cs typeface="Times New Roman" panose="02020603050405020304" pitchFamily="18" charset="0"/>
              </a:rPr>
              <a:t>hc</a:t>
            </a:r>
            <a:r>
              <a:rPr lang="en-US" altLang="zh-CN" sz="2400" i="1" dirty="0">
                <a:latin typeface="Times New Roman" panose="02020603050405020304" pitchFamily="18" charset="0"/>
                <a:cs typeface="Times New Roman" panose="02020603050405020304" pitchFamily="18" charset="0"/>
              </a:rPr>
              <a:t>/</a:t>
            </a:r>
            <a:r>
              <a:rPr lang="el-GR" altLang="zh-CN" sz="2400" i="1" dirty="0">
                <a:latin typeface="Times New Roman" panose="02020603050405020304" pitchFamily="18" charset="0"/>
                <a:cs typeface="Times New Roman" panose="02020603050405020304" pitchFamily="18" charset="0"/>
              </a:rPr>
              <a:t>λ</a:t>
            </a:r>
            <a:endParaRPr lang="zh-CN" altLang="en-US" sz="2400" i="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9725BDBA-94E7-7033-FD12-67AB324B7F96}"/>
              </a:ext>
            </a:extLst>
          </p:cNvPr>
          <p:cNvSpPr txBox="1"/>
          <p:nvPr/>
        </p:nvSpPr>
        <p:spPr>
          <a:xfrm>
            <a:off x="1921162" y="1965080"/>
            <a:ext cx="5301674" cy="369332"/>
          </a:xfrm>
          <a:prstGeom prst="rect">
            <a:avLst/>
          </a:prstGeom>
          <a:noFill/>
        </p:spPr>
        <p:txBody>
          <a:bodyPr wrap="square">
            <a:spAutoFit/>
          </a:bodyPr>
          <a:lstStyle/>
          <a:p>
            <a:r>
              <a:rPr lang="pt-BR" altLang="zh-CN" i="1" dirty="0">
                <a:latin typeface="Times New Roman" panose="02020603050405020304" pitchFamily="18" charset="0"/>
                <a:cs typeface="Times New Roman" panose="02020603050405020304" pitchFamily="18" charset="0"/>
              </a:rPr>
              <a:t>h</a:t>
            </a:r>
            <a:r>
              <a:rPr lang="pt-BR" altLang="zh-CN" dirty="0"/>
              <a:t> = Planck's constant = 4.135667516 x 10</a:t>
            </a:r>
            <a:r>
              <a:rPr lang="pt-BR" altLang="zh-CN" baseline="30000" dirty="0"/>
              <a:t>-15</a:t>
            </a:r>
            <a:r>
              <a:rPr lang="pt-BR" altLang="zh-CN" dirty="0"/>
              <a:t> </a:t>
            </a:r>
            <a:r>
              <a:rPr lang="pt-BR" altLang="zh-CN" b="1" dirty="0"/>
              <a:t>eV*s</a:t>
            </a:r>
            <a:endParaRPr lang="zh-CN" altLang="en-US" b="1" dirty="0"/>
          </a:p>
        </p:txBody>
      </p:sp>
      <p:sp>
        <p:nvSpPr>
          <p:cNvPr id="11" name="文本框 10">
            <a:extLst>
              <a:ext uri="{FF2B5EF4-FFF2-40B4-BE49-F238E27FC236}">
                <a16:creationId xmlns:a16="http://schemas.microsoft.com/office/drawing/2014/main" id="{D8BA519E-F8A8-5A1B-1770-916299E22466}"/>
              </a:ext>
            </a:extLst>
          </p:cNvPr>
          <p:cNvSpPr txBox="1"/>
          <p:nvPr/>
        </p:nvSpPr>
        <p:spPr>
          <a:xfrm>
            <a:off x="2350655" y="2268429"/>
            <a:ext cx="4572000" cy="369332"/>
          </a:xfrm>
          <a:prstGeom prst="rect">
            <a:avLst/>
          </a:prstGeom>
          <a:noFill/>
        </p:spPr>
        <p:txBody>
          <a:bodyPr wrap="square">
            <a:spAutoFit/>
          </a:bodyPr>
          <a:lstStyle/>
          <a:p>
            <a:r>
              <a:rPr lang="en-US" altLang="zh-CN" i="1" dirty="0">
                <a:latin typeface="Times New Roman" panose="02020603050405020304" pitchFamily="18" charset="0"/>
                <a:cs typeface="Times New Roman" panose="02020603050405020304" pitchFamily="18" charset="0"/>
              </a:rPr>
              <a:t>c </a:t>
            </a:r>
            <a:r>
              <a:rPr lang="en-US" altLang="zh-CN" dirty="0"/>
              <a:t>= speed of light = 299792458 </a:t>
            </a:r>
            <a:r>
              <a:rPr lang="en-US" altLang="zh-CN" b="1" dirty="0"/>
              <a:t>m/s</a:t>
            </a:r>
            <a:endParaRPr lang="zh-CN" altLang="en-US" b="1" dirty="0"/>
          </a:p>
        </p:txBody>
      </p:sp>
      <p:sp>
        <p:nvSpPr>
          <p:cNvPr id="13" name="文本框 12">
            <a:extLst>
              <a:ext uri="{FF2B5EF4-FFF2-40B4-BE49-F238E27FC236}">
                <a16:creationId xmlns:a16="http://schemas.microsoft.com/office/drawing/2014/main" id="{55A44F35-729A-774D-1EFB-68694F9AA307}"/>
              </a:ext>
            </a:extLst>
          </p:cNvPr>
          <p:cNvSpPr txBox="1"/>
          <p:nvPr/>
        </p:nvSpPr>
        <p:spPr>
          <a:xfrm>
            <a:off x="685799" y="616119"/>
            <a:ext cx="7689273" cy="923330"/>
          </a:xfrm>
          <a:prstGeom prst="rect">
            <a:avLst/>
          </a:prstGeom>
          <a:noFill/>
        </p:spPr>
        <p:txBody>
          <a:bodyPr wrap="square">
            <a:spAutoFit/>
          </a:bodyPr>
          <a:lstStyle/>
          <a:p>
            <a:r>
              <a:rPr lang="en-US" altLang="zh-CN" dirty="0"/>
              <a:t>Planck's constant gives the relationship between the energy of a photon and its frequency. Specifically, a photon's energy is equal to its frequency multiplied by the Planck constant.</a:t>
            </a:r>
            <a:endParaRPr lang="zh-CN" altLang="en-US" dirty="0"/>
          </a:p>
        </p:txBody>
      </p:sp>
      <p:sp>
        <p:nvSpPr>
          <p:cNvPr id="15" name="文本框 14">
            <a:extLst>
              <a:ext uri="{FF2B5EF4-FFF2-40B4-BE49-F238E27FC236}">
                <a16:creationId xmlns:a16="http://schemas.microsoft.com/office/drawing/2014/main" id="{4FC75F7E-9D2C-E7E8-B074-130A762D68C0}"/>
              </a:ext>
            </a:extLst>
          </p:cNvPr>
          <p:cNvSpPr txBox="1"/>
          <p:nvPr/>
        </p:nvSpPr>
        <p:spPr>
          <a:xfrm>
            <a:off x="6631707" y="4401792"/>
            <a:ext cx="2092038" cy="1200329"/>
          </a:xfrm>
          <a:prstGeom prst="rect">
            <a:avLst/>
          </a:prstGeom>
          <a:noFill/>
        </p:spPr>
        <p:txBody>
          <a:bodyPr wrap="square">
            <a:spAutoFit/>
          </a:bodyPr>
          <a:lstStyle/>
          <a:p>
            <a:r>
              <a:rPr lang="en-US" altLang="zh-CN" dirty="0" err="1"/>
              <a:t>eg.</a:t>
            </a:r>
            <a:r>
              <a:rPr lang="en-US" altLang="zh-CN" dirty="0"/>
              <a:t> </a:t>
            </a:r>
          </a:p>
          <a:p>
            <a:r>
              <a:rPr lang="en-US" altLang="zh-CN" dirty="0"/>
              <a:t>Silicon’s band gap is 1.1 eV ~ 1100 nm </a:t>
            </a:r>
            <a:endParaRPr lang="zh-CN" altLang="en-US" dirty="0"/>
          </a:p>
        </p:txBody>
      </p:sp>
      <p:pic>
        <p:nvPicPr>
          <p:cNvPr id="17" name="图片 16">
            <a:extLst>
              <a:ext uri="{FF2B5EF4-FFF2-40B4-BE49-F238E27FC236}">
                <a16:creationId xmlns:a16="http://schemas.microsoft.com/office/drawing/2014/main" id="{4A52898F-BB6B-2DD8-8866-2CEC33A00D95}"/>
              </a:ext>
            </a:extLst>
          </p:cNvPr>
          <p:cNvPicPr>
            <a:picLocks noChangeAspect="1"/>
          </p:cNvPicPr>
          <p:nvPr/>
        </p:nvPicPr>
        <p:blipFill>
          <a:blip r:embed="rId3"/>
          <a:stretch>
            <a:fillRect/>
          </a:stretch>
        </p:blipFill>
        <p:spPr>
          <a:xfrm>
            <a:off x="2466109" y="3633164"/>
            <a:ext cx="3971638" cy="2707309"/>
          </a:xfrm>
          <a:prstGeom prst="rect">
            <a:avLst/>
          </a:prstGeom>
        </p:spPr>
      </p:pic>
    </p:spTree>
    <p:extLst>
      <p:ext uri="{BB962C8B-B14F-4D97-AF65-F5344CB8AC3E}">
        <p14:creationId xmlns:p14="http://schemas.microsoft.com/office/powerpoint/2010/main" val="2954632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a:extLst>
              <a:ext uri="{FF2B5EF4-FFF2-40B4-BE49-F238E27FC236}">
                <a16:creationId xmlns:a16="http://schemas.microsoft.com/office/drawing/2014/main" id="{BAE16EB4-9528-00D1-8BE3-33CD46920369}"/>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Quiz</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 name="文本框 2">
            <a:extLst>
              <a:ext uri="{FF2B5EF4-FFF2-40B4-BE49-F238E27FC236}">
                <a16:creationId xmlns:a16="http://schemas.microsoft.com/office/drawing/2014/main" id="{9830F37A-1F75-F0FA-F10B-46059D29F2F2}"/>
              </a:ext>
            </a:extLst>
          </p:cNvPr>
          <p:cNvSpPr txBox="1"/>
          <p:nvPr/>
        </p:nvSpPr>
        <p:spPr>
          <a:xfrm>
            <a:off x="870939" y="1043589"/>
            <a:ext cx="4086802" cy="1754326"/>
          </a:xfrm>
          <a:prstGeom prst="rect">
            <a:avLst/>
          </a:prstGeom>
          <a:noFill/>
        </p:spPr>
        <p:txBody>
          <a:bodyPr wrap="square">
            <a:spAutoFit/>
          </a:bodyPr>
          <a:lstStyle/>
          <a:p>
            <a:r>
              <a:rPr lang="en-US" altLang="zh-CN" dirty="0"/>
              <a:t>The electrical conductivity of a semiconductor increases when an electromagnetic radiation of wavelength shorter than </a:t>
            </a:r>
            <a:r>
              <a:rPr lang="en-US" altLang="zh-CN" b="1" dirty="0"/>
              <a:t>514 nm </a:t>
            </a:r>
            <a:r>
              <a:rPr lang="en-US" altLang="zh-CN" dirty="0"/>
              <a:t>is incident on it. The band gap of the semiconductor is? eV</a:t>
            </a:r>
          </a:p>
        </p:txBody>
      </p:sp>
      <p:pic>
        <p:nvPicPr>
          <p:cNvPr id="6" name="图片 5">
            <a:extLst>
              <a:ext uri="{FF2B5EF4-FFF2-40B4-BE49-F238E27FC236}">
                <a16:creationId xmlns:a16="http://schemas.microsoft.com/office/drawing/2014/main" id="{36EA34BF-421D-2E92-4813-2587BDC99B68}"/>
              </a:ext>
            </a:extLst>
          </p:cNvPr>
          <p:cNvPicPr>
            <a:picLocks noChangeAspect="1"/>
          </p:cNvPicPr>
          <p:nvPr/>
        </p:nvPicPr>
        <p:blipFill>
          <a:blip r:embed="rId3"/>
          <a:stretch>
            <a:fillRect/>
          </a:stretch>
        </p:blipFill>
        <p:spPr>
          <a:xfrm>
            <a:off x="4087957" y="3534929"/>
            <a:ext cx="4543425" cy="2333625"/>
          </a:xfrm>
          <a:prstGeom prst="rect">
            <a:avLst/>
          </a:prstGeom>
        </p:spPr>
      </p:pic>
      <p:pic>
        <p:nvPicPr>
          <p:cNvPr id="8" name="图片 7">
            <a:extLst>
              <a:ext uri="{FF2B5EF4-FFF2-40B4-BE49-F238E27FC236}">
                <a16:creationId xmlns:a16="http://schemas.microsoft.com/office/drawing/2014/main" id="{ABF3B07C-F836-880A-B3CC-66A2021FF77F}"/>
              </a:ext>
            </a:extLst>
          </p:cNvPr>
          <p:cNvPicPr>
            <a:picLocks noChangeAspect="1"/>
          </p:cNvPicPr>
          <p:nvPr/>
        </p:nvPicPr>
        <p:blipFill>
          <a:blip r:embed="rId4"/>
          <a:stretch>
            <a:fillRect/>
          </a:stretch>
        </p:blipFill>
        <p:spPr>
          <a:xfrm>
            <a:off x="480579" y="3551094"/>
            <a:ext cx="3521150" cy="2333625"/>
          </a:xfrm>
          <a:prstGeom prst="rect">
            <a:avLst/>
          </a:prstGeom>
        </p:spPr>
      </p:pic>
      <p:pic>
        <p:nvPicPr>
          <p:cNvPr id="10" name="图片 9">
            <a:extLst>
              <a:ext uri="{FF2B5EF4-FFF2-40B4-BE49-F238E27FC236}">
                <a16:creationId xmlns:a16="http://schemas.microsoft.com/office/drawing/2014/main" id="{B6B7666F-5AA7-890D-D593-BCA8B11244DC}"/>
              </a:ext>
            </a:extLst>
          </p:cNvPr>
          <p:cNvPicPr>
            <a:picLocks noChangeAspect="1"/>
          </p:cNvPicPr>
          <p:nvPr/>
        </p:nvPicPr>
        <p:blipFill>
          <a:blip r:embed="rId5"/>
          <a:stretch>
            <a:fillRect/>
          </a:stretch>
        </p:blipFill>
        <p:spPr>
          <a:xfrm>
            <a:off x="5222541" y="800323"/>
            <a:ext cx="3339568" cy="2333625"/>
          </a:xfrm>
          <a:prstGeom prst="rect">
            <a:avLst/>
          </a:prstGeom>
        </p:spPr>
      </p:pic>
      <p:sp>
        <p:nvSpPr>
          <p:cNvPr id="12" name="文本框 11">
            <a:extLst>
              <a:ext uri="{FF2B5EF4-FFF2-40B4-BE49-F238E27FC236}">
                <a16:creationId xmlns:a16="http://schemas.microsoft.com/office/drawing/2014/main" id="{C2F4AF1A-643F-F066-AC1B-02CF640BF5D6}"/>
              </a:ext>
            </a:extLst>
          </p:cNvPr>
          <p:cNvSpPr txBox="1"/>
          <p:nvPr/>
        </p:nvSpPr>
        <p:spPr>
          <a:xfrm>
            <a:off x="2159630" y="2872506"/>
            <a:ext cx="1325170" cy="369332"/>
          </a:xfrm>
          <a:prstGeom prst="rect">
            <a:avLst/>
          </a:prstGeom>
          <a:noFill/>
        </p:spPr>
        <p:txBody>
          <a:bodyPr wrap="square">
            <a:spAutoFit/>
          </a:bodyPr>
          <a:lstStyle/>
          <a:p>
            <a:r>
              <a:rPr lang="en-US" altLang="zh-CN" dirty="0"/>
              <a:t>2.42 eV</a:t>
            </a:r>
          </a:p>
        </p:txBody>
      </p:sp>
    </p:spTree>
    <p:extLst>
      <p:ext uri="{BB962C8B-B14F-4D97-AF65-F5344CB8AC3E}">
        <p14:creationId xmlns:p14="http://schemas.microsoft.com/office/powerpoint/2010/main" val="2248852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a:extLst>
              <a:ext uri="{FF2B5EF4-FFF2-40B4-BE49-F238E27FC236}">
                <a16:creationId xmlns:a16="http://schemas.microsoft.com/office/drawing/2014/main" id="{BAE16EB4-9528-00D1-8BE3-33CD46920369}"/>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Vibrations and Rotations:  Fluorescence Spectroscopy</a:t>
            </a:r>
          </a:p>
        </p:txBody>
      </p:sp>
      <p:grpSp>
        <p:nvGrpSpPr>
          <p:cNvPr id="6" name="Group 71">
            <a:extLst>
              <a:ext uri="{FF2B5EF4-FFF2-40B4-BE49-F238E27FC236}">
                <a16:creationId xmlns:a16="http://schemas.microsoft.com/office/drawing/2014/main" id="{59E28010-8819-4857-AB64-9494BDE5BCC4}"/>
              </a:ext>
            </a:extLst>
          </p:cNvPr>
          <p:cNvGrpSpPr>
            <a:grpSpLocks/>
          </p:cNvGrpSpPr>
          <p:nvPr/>
        </p:nvGrpSpPr>
        <p:grpSpPr bwMode="auto">
          <a:xfrm>
            <a:off x="3619087" y="5038839"/>
            <a:ext cx="1903412" cy="369888"/>
            <a:chOff x="758" y="3562"/>
            <a:chExt cx="1199" cy="233"/>
          </a:xfrm>
        </p:grpSpPr>
        <p:sp>
          <p:nvSpPr>
            <p:cNvPr id="7" name="Line 42">
              <a:extLst>
                <a:ext uri="{FF2B5EF4-FFF2-40B4-BE49-F238E27FC236}">
                  <a16:creationId xmlns:a16="http://schemas.microsoft.com/office/drawing/2014/main" id="{C679A503-D03A-492B-9002-F6A7F2075C42}"/>
                </a:ext>
              </a:extLst>
            </p:cNvPr>
            <p:cNvSpPr>
              <a:spLocks noChangeShapeType="1"/>
            </p:cNvSpPr>
            <p:nvPr/>
          </p:nvSpPr>
          <p:spPr bwMode="auto">
            <a:xfrm>
              <a:off x="758" y="3795"/>
              <a:ext cx="1199"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 name="Line 43">
              <a:extLst>
                <a:ext uri="{FF2B5EF4-FFF2-40B4-BE49-F238E27FC236}">
                  <a16:creationId xmlns:a16="http://schemas.microsoft.com/office/drawing/2014/main" id="{3F6FC1B1-D54F-4325-9822-ACEBA504DFA7}"/>
                </a:ext>
              </a:extLst>
            </p:cNvPr>
            <p:cNvSpPr>
              <a:spLocks noChangeShapeType="1"/>
            </p:cNvSpPr>
            <p:nvPr/>
          </p:nvSpPr>
          <p:spPr bwMode="auto">
            <a:xfrm>
              <a:off x="758" y="3562"/>
              <a:ext cx="1199"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9" name="Line 44">
            <a:extLst>
              <a:ext uri="{FF2B5EF4-FFF2-40B4-BE49-F238E27FC236}">
                <a16:creationId xmlns:a16="http://schemas.microsoft.com/office/drawing/2014/main" id="{53969FC2-A0E3-4ACF-9789-DA93C2EB6D54}"/>
              </a:ext>
            </a:extLst>
          </p:cNvPr>
          <p:cNvSpPr>
            <a:spLocks noChangeShapeType="1"/>
          </p:cNvSpPr>
          <p:nvPr/>
        </p:nvSpPr>
        <p:spPr bwMode="auto">
          <a:xfrm flipV="1">
            <a:off x="4333303" y="3975214"/>
            <a:ext cx="0" cy="1433513"/>
          </a:xfrm>
          <a:prstGeom prst="line">
            <a:avLst/>
          </a:prstGeom>
          <a:noFill/>
          <a:ln w="57150">
            <a:solidFill>
              <a:srgbClr val="FF66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45">
            <a:extLst>
              <a:ext uri="{FF2B5EF4-FFF2-40B4-BE49-F238E27FC236}">
                <a16:creationId xmlns:a16="http://schemas.microsoft.com/office/drawing/2014/main" id="{0BCFAEDD-8D21-4183-B42D-6035534B38B1}"/>
              </a:ext>
            </a:extLst>
          </p:cNvPr>
          <p:cNvSpPr>
            <a:spLocks noChangeShapeType="1"/>
          </p:cNvSpPr>
          <p:nvPr/>
        </p:nvSpPr>
        <p:spPr bwMode="auto">
          <a:xfrm>
            <a:off x="4755578" y="3972039"/>
            <a:ext cx="0" cy="102393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Text Box 51">
            <a:extLst>
              <a:ext uri="{FF2B5EF4-FFF2-40B4-BE49-F238E27FC236}">
                <a16:creationId xmlns:a16="http://schemas.microsoft.com/office/drawing/2014/main" id="{5F324F3E-3321-423C-93D2-AD96A3C265F3}"/>
              </a:ext>
            </a:extLst>
          </p:cNvPr>
          <p:cNvSpPr txBox="1">
            <a:spLocks noChangeArrowheads="1"/>
          </p:cNvSpPr>
          <p:nvPr/>
        </p:nvSpPr>
        <p:spPr bwMode="auto">
          <a:xfrm>
            <a:off x="2996787" y="4953114"/>
            <a:ext cx="581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2"/>
                </a:solidFill>
                <a:latin typeface="Arial" panose="020B0604020202020204" pitchFamily="34" charset="0"/>
              </a:defRPr>
            </a:lvl1pPr>
            <a:lvl2pPr marL="742950" indent="-285750">
              <a:defRPr>
                <a:solidFill>
                  <a:schemeClr val="tx2"/>
                </a:solidFill>
                <a:latin typeface="Arial" panose="020B0604020202020204" pitchFamily="34" charset="0"/>
              </a:defRPr>
            </a:lvl2pPr>
            <a:lvl3pPr marL="1143000" indent="-228600">
              <a:defRPr>
                <a:solidFill>
                  <a:schemeClr val="tx2"/>
                </a:solidFill>
                <a:latin typeface="Arial" panose="020B0604020202020204" pitchFamily="34" charset="0"/>
              </a:defRPr>
            </a:lvl3pPr>
            <a:lvl4pPr marL="1600200" indent="-228600">
              <a:defRPr>
                <a:solidFill>
                  <a:schemeClr val="tx2"/>
                </a:solidFill>
                <a:latin typeface="Arial" panose="020B0604020202020204" pitchFamily="34" charset="0"/>
              </a:defRPr>
            </a:lvl4pPr>
            <a:lvl5pPr marL="2057400" indent="-228600">
              <a:defRPr>
                <a:solidFill>
                  <a:schemeClr val="tx2"/>
                </a:solidFill>
                <a:latin typeface="Arial" panose="020B0604020202020204" pitchFamily="34" charset="0"/>
              </a:defRPr>
            </a:lvl5pPr>
            <a:lvl6pPr marL="2514600" indent="-228600" eaLnBrk="0" fontAlgn="base" hangingPunct="0">
              <a:spcBef>
                <a:spcPct val="0"/>
              </a:spcBef>
              <a:spcAft>
                <a:spcPct val="0"/>
              </a:spcAft>
              <a:defRPr>
                <a:solidFill>
                  <a:schemeClr val="tx2"/>
                </a:solidFill>
                <a:latin typeface="Arial" panose="020B0604020202020204" pitchFamily="34" charset="0"/>
              </a:defRPr>
            </a:lvl6pPr>
            <a:lvl7pPr marL="2971800" indent="-228600" eaLnBrk="0" fontAlgn="base" hangingPunct="0">
              <a:spcBef>
                <a:spcPct val="0"/>
              </a:spcBef>
              <a:spcAft>
                <a:spcPct val="0"/>
              </a:spcAft>
              <a:defRPr>
                <a:solidFill>
                  <a:schemeClr val="tx2"/>
                </a:solidFill>
                <a:latin typeface="Arial" panose="020B0604020202020204" pitchFamily="34" charset="0"/>
              </a:defRPr>
            </a:lvl7pPr>
            <a:lvl8pPr marL="3429000" indent="-228600" eaLnBrk="0" fontAlgn="base" hangingPunct="0">
              <a:spcBef>
                <a:spcPct val="0"/>
              </a:spcBef>
              <a:spcAft>
                <a:spcPct val="0"/>
              </a:spcAft>
              <a:defRPr>
                <a:solidFill>
                  <a:schemeClr val="tx2"/>
                </a:solidFill>
                <a:latin typeface="Arial" panose="020B0604020202020204" pitchFamily="34" charset="0"/>
              </a:defRPr>
            </a:lvl8pPr>
            <a:lvl9pPr marL="3886200" indent="-228600" eaLnBrk="0" fontAlgn="base" hangingPunct="0">
              <a:spcBef>
                <a:spcPct val="0"/>
              </a:spcBef>
              <a:spcAft>
                <a:spcPct val="0"/>
              </a:spcAft>
              <a:defRPr>
                <a:solidFill>
                  <a:schemeClr val="tx2"/>
                </a:solidFill>
                <a:latin typeface="Arial" panose="020B0604020202020204" pitchFamily="34" charset="0"/>
              </a:defRPr>
            </a:lvl9pPr>
          </a:lstStyle>
          <a:p>
            <a:pPr>
              <a:spcBef>
                <a:spcPct val="50000"/>
              </a:spcBef>
            </a:pPr>
            <a:r>
              <a:rPr lang="en-US" altLang="en-US" sz="2400">
                <a:solidFill>
                  <a:schemeClr val="tx1"/>
                </a:solidFill>
                <a:latin typeface="Symbol" panose="05050102010706020507" pitchFamily="18" charset="2"/>
              </a:rPr>
              <a:t>D</a:t>
            </a:r>
            <a:r>
              <a:rPr lang="en-US" altLang="en-US" sz="2400" i="1">
                <a:solidFill>
                  <a:schemeClr val="tx1"/>
                </a:solidFill>
                <a:latin typeface="Times New Roman" panose="02020603050405020304" pitchFamily="18" charset="0"/>
              </a:rPr>
              <a:t>E</a:t>
            </a:r>
          </a:p>
        </p:txBody>
      </p:sp>
      <p:sp>
        <p:nvSpPr>
          <p:cNvPr id="12" name="Text Box 52">
            <a:extLst>
              <a:ext uri="{FF2B5EF4-FFF2-40B4-BE49-F238E27FC236}">
                <a16:creationId xmlns:a16="http://schemas.microsoft.com/office/drawing/2014/main" id="{A1511BE8-B59C-4C4E-A4A6-A7F5E469249E}"/>
              </a:ext>
            </a:extLst>
          </p:cNvPr>
          <p:cNvSpPr txBox="1">
            <a:spLocks noChangeArrowheads="1"/>
          </p:cNvSpPr>
          <p:nvPr/>
        </p:nvSpPr>
        <p:spPr bwMode="auto">
          <a:xfrm>
            <a:off x="2495155" y="4160841"/>
            <a:ext cx="10925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2"/>
                </a:solidFill>
                <a:latin typeface="Arial" panose="020B0604020202020204" pitchFamily="34" charset="0"/>
              </a:defRPr>
            </a:lvl1pPr>
            <a:lvl2pPr marL="742950" indent="-285750">
              <a:defRPr>
                <a:solidFill>
                  <a:schemeClr val="tx2"/>
                </a:solidFill>
                <a:latin typeface="Arial" panose="020B0604020202020204" pitchFamily="34" charset="0"/>
              </a:defRPr>
            </a:lvl2pPr>
            <a:lvl3pPr marL="1143000" indent="-228600">
              <a:defRPr>
                <a:solidFill>
                  <a:schemeClr val="tx2"/>
                </a:solidFill>
                <a:latin typeface="Arial" panose="020B0604020202020204" pitchFamily="34" charset="0"/>
              </a:defRPr>
            </a:lvl3pPr>
            <a:lvl4pPr marL="1600200" indent="-228600">
              <a:defRPr>
                <a:solidFill>
                  <a:schemeClr val="tx2"/>
                </a:solidFill>
                <a:latin typeface="Arial" panose="020B0604020202020204" pitchFamily="34" charset="0"/>
              </a:defRPr>
            </a:lvl4pPr>
            <a:lvl5pPr marL="2057400" indent="-228600">
              <a:defRPr>
                <a:solidFill>
                  <a:schemeClr val="tx2"/>
                </a:solidFill>
                <a:latin typeface="Arial" panose="020B0604020202020204" pitchFamily="34" charset="0"/>
              </a:defRPr>
            </a:lvl5pPr>
            <a:lvl6pPr marL="2514600" indent="-228600" eaLnBrk="0" fontAlgn="base" hangingPunct="0">
              <a:spcBef>
                <a:spcPct val="0"/>
              </a:spcBef>
              <a:spcAft>
                <a:spcPct val="0"/>
              </a:spcAft>
              <a:defRPr>
                <a:solidFill>
                  <a:schemeClr val="tx2"/>
                </a:solidFill>
                <a:latin typeface="Arial" panose="020B0604020202020204" pitchFamily="34" charset="0"/>
              </a:defRPr>
            </a:lvl6pPr>
            <a:lvl7pPr marL="2971800" indent="-228600" eaLnBrk="0" fontAlgn="base" hangingPunct="0">
              <a:spcBef>
                <a:spcPct val="0"/>
              </a:spcBef>
              <a:spcAft>
                <a:spcPct val="0"/>
              </a:spcAft>
              <a:defRPr>
                <a:solidFill>
                  <a:schemeClr val="tx2"/>
                </a:solidFill>
                <a:latin typeface="Arial" panose="020B0604020202020204" pitchFamily="34" charset="0"/>
              </a:defRPr>
            </a:lvl7pPr>
            <a:lvl8pPr marL="3429000" indent="-228600" eaLnBrk="0" fontAlgn="base" hangingPunct="0">
              <a:spcBef>
                <a:spcPct val="0"/>
              </a:spcBef>
              <a:spcAft>
                <a:spcPct val="0"/>
              </a:spcAft>
              <a:defRPr>
                <a:solidFill>
                  <a:schemeClr val="tx2"/>
                </a:solidFill>
                <a:latin typeface="Arial" panose="020B0604020202020204" pitchFamily="34" charset="0"/>
              </a:defRPr>
            </a:lvl8pPr>
            <a:lvl9pPr marL="3886200" indent="-228600" eaLnBrk="0" fontAlgn="base" hangingPunct="0">
              <a:spcBef>
                <a:spcPct val="0"/>
              </a:spcBef>
              <a:spcAft>
                <a:spcPct val="0"/>
              </a:spcAft>
              <a:defRPr>
                <a:solidFill>
                  <a:schemeClr val="tx2"/>
                </a:solidFill>
                <a:latin typeface="Arial" panose="020B0604020202020204" pitchFamily="34" charset="0"/>
              </a:defRPr>
            </a:lvl9pPr>
          </a:lstStyle>
          <a:p>
            <a:pPr algn="ctr">
              <a:spcBef>
                <a:spcPct val="50000"/>
              </a:spcBef>
            </a:pPr>
            <a:r>
              <a:rPr lang="en-US" altLang="en-US" dirty="0">
                <a:solidFill>
                  <a:schemeClr val="tx1"/>
                </a:solidFill>
              </a:rPr>
              <a:t>Input light</a:t>
            </a:r>
          </a:p>
        </p:txBody>
      </p:sp>
      <p:sp>
        <p:nvSpPr>
          <p:cNvPr id="13" name="Text Box 57">
            <a:extLst>
              <a:ext uri="{FF2B5EF4-FFF2-40B4-BE49-F238E27FC236}">
                <a16:creationId xmlns:a16="http://schemas.microsoft.com/office/drawing/2014/main" id="{1064D108-4381-4BEE-A2C8-852499B1794C}"/>
              </a:ext>
            </a:extLst>
          </p:cNvPr>
          <p:cNvSpPr txBox="1">
            <a:spLocks noChangeArrowheads="1"/>
          </p:cNvSpPr>
          <p:nvPr/>
        </p:nvSpPr>
        <p:spPr bwMode="auto">
          <a:xfrm>
            <a:off x="5469795" y="4160841"/>
            <a:ext cx="112859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2"/>
                </a:solidFill>
                <a:latin typeface="Arial" panose="020B0604020202020204" pitchFamily="34" charset="0"/>
              </a:defRPr>
            </a:lvl1pPr>
            <a:lvl2pPr marL="742950" indent="-285750">
              <a:defRPr>
                <a:solidFill>
                  <a:schemeClr val="tx2"/>
                </a:solidFill>
                <a:latin typeface="Arial" panose="020B0604020202020204" pitchFamily="34" charset="0"/>
              </a:defRPr>
            </a:lvl2pPr>
            <a:lvl3pPr marL="1143000" indent="-228600">
              <a:defRPr>
                <a:solidFill>
                  <a:schemeClr val="tx2"/>
                </a:solidFill>
                <a:latin typeface="Arial" panose="020B0604020202020204" pitchFamily="34" charset="0"/>
              </a:defRPr>
            </a:lvl3pPr>
            <a:lvl4pPr marL="1600200" indent="-228600">
              <a:defRPr>
                <a:solidFill>
                  <a:schemeClr val="tx2"/>
                </a:solidFill>
                <a:latin typeface="Arial" panose="020B0604020202020204" pitchFamily="34" charset="0"/>
              </a:defRPr>
            </a:lvl4pPr>
            <a:lvl5pPr marL="2057400" indent="-228600">
              <a:defRPr>
                <a:solidFill>
                  <a:schemeClr val="tx2"/>
                </a:solidFill>
                <a:latin typeface="Arial" panose="020B0604020202020204" pitchFamily="34" charset="0"/>
              </a:defRPr>
            </a:lvl5pPr>
            <a:lvl6pPr marL="2514600" indent="-228600" eaLnBrk="0" fontAlgn="base" hangingPunct="0">
              <a:spcBef>
                <a:spcPct val="0"/>
              </a:spcBef>
              <a:spcAft>
                <a:spcPct val="0"/>
              </a:spcAft>
              <a:defRPr>
                <a:solidFill>
                  <a:schemeClr val="tx2"/>
                </a:solidFill>
                <a:latin typeface="Arial" panose="020B0604020202020204" pitchFamily="34" charset="0"/>
              </a:defRPr>
            </a:lvl6pPr>
            <a:lvl7pPr marL="2971800" indent="-228600" eaLnBrk="0" fontAlgn="base" hangingPunct="0">
              <a:spcBef>
                <a:spcPct val="0"/>
              </a:spcBef>
              <a:spcAft>
                <a:spcPct val="0"/>
              </a:spcAft>
              <a:defRPr>
                <a:solidFill>
                  <a:schemeClr val="tx2"/>
                </a:solidFill>
                <a:latin typeface="Arial" panose="020B0604020202020204" pitchFamily="34" charset="0"/>
              </a:defRPr>
            </a:lvl7pPr>
            <a:lvl8pPr marL="3429000" indent="-228600" eaLnBrk="0" fontAlgn="base" hangingPunct="0">
              <a:spcBef>
                <a:spcPct val="0"/>
              </a:spcBef>
              <a:spcAft>
                <a:spcPct val="0"/>
              </a:spcAft>
              <a:defRPr>
                <a:solidFill>
                  <a:schemeClr val="tx2"/>
                </a:solidFill>
                <a:latin typeface="Arial" panose="020B0604020202020204" pitchFamily="34" charset="0"/>
              </a:defRPr>
            </a:lvl8pPr>
            <a:lvl9pPr marL="3886200" indent="-228600" eaLnBrk="0" fontAlgn="base" hangingPunct="0">
              <a:spcBef>
                <a:spcPct val="0"/>
              </a:spcBef>
              <a:spcAft>
                <a:spcPct val="0"/>
              </a:spcAft>
              <a:defRPr>
                <a:solidFill>
                  <a:schemeClr val="tx2"/>
                </a:solidFill>
                <a:latin typeface="Arial" panose="020B0604020202020204" pitchFamily="34" charset="0"/>
              </a:defRPr>
            </a:lvl9pPr>
          </a:lstStyle>
          <a:p>
            <a:pPr algn="ctr">
              <a:spcBef>
                <a:spcPct val="50000"/>
              </a:spcBef>
            </a:pPr>
            <a:r>
              <a:rPr lang="en-US" altLang="en-US" dirty="0">
                <a:solidFill>
                  <a:schemeClr val="tx1"/>
                </a:solidFill>
              </a:rPr>
              <a:t>Output light</a:t>
            </a:r>
          </a:p>
        </p:txBody>
      </p:sp>
      <p:sp>
        <p:nvSpPr>
          <p:cNvPr id="14" name="Line 58">
            <a:extLst>
              <a:ext uri="{FF2B5EF4-FFF2-40B4-BE49-F238E27FC236}">
                <a16:creationId xmlns:a16="http://schemas.microsoft.com/office/drawing/2014/main" id="{1FF15DBC-54DA-4179-9110-32F3AEF966CA}"/>
              </a:ext>
            </a:extLst>
          </p:cNvPr>
          <p:cNvSpPr>
            <a:spLocks noChangeShapeType="1"/>
          </p:cNvSpPr>
          <p:nvPr/>
        </p:nvSpPr>
        <p:spPr bwMode="auto">
          <a:xfrm flipH="1">
            <a:off x="4869091" y="4513078"/>
            <a:ext cx="766071" cy="0"/>
          </a:xfrm>
          <a:prstGeom prst="line">
            <a:avLst/>
          </a:prstGeom>
          <a:noFill/>
          <a:ln w="19050">
            <a:solidFill>
              <a:schemeClr val="tx1"/>
            </a:solidFill>
            <a:round/>
            <a:headEnd type="none" w="med" len="me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5" name="Line 70">
            <a:extLst>
              <a:ext uri="{FF2B5EF4-FFF2-40B4-BE49-F238E27FC236}">
                <a16:creationId xmlns:a16="http://schemas.microsoft.com/office/drawing/2014/main" id="{792E328B-E49D-4FF7-B3DD-59DDD85D747D}"/>
              </a:ext>
            </a:extLst>
          </p:cNvPr>
          <p:cNvSpPr>
            <a:spLocks noChangeShapeType="1"/>
          </p:cNvSpPr>
          <p:nvPr/>
        </p:nvSpPr>
        <p:spPr bwMode="auto">
          <a:xfrm>
            <a:off x="3619087" y="3967277"/>
            <a:ext cx="1903413"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TextBox 1">
            <a:extLst>
              <a:ext uri="{FF2B5EF4-FFF2-40B4-BE49-F238E27FC236}">
                <a16:creationId xmlns:a16="http://schemas.microsoft.com/office/drawing/2014/main" id="{D3A4A976-DAA2-4DDF-9904-FC2C7B6A6241}"/>
              </a:ext>
            </a:extLst>
          </p:cNvPr>
          <p:cNvSpPr txBox="1">
            <a:spLocks noChangeArrowheads="1"/>
          </p:cNvSpPr>
          <p:nvPr/>
        </p:nvSpPr>
        <p:spPr bwMode="auto">
          <a:xfrm>
            <a:off x="723776" y="910352"/>
            <a:ext cx="783113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2"/>
                </a:solidFill>
                <a:latin typeface="Arial" panose="020B0604020202020204" pitchFamily="34" charset="0"/>
              </a:defRPr>
            </a:lvl1pPr>
            <a:lvl2pPr marL="742950" indent="-285750">
              <a:defRPr>
                <a:solidFill>
                  <a:schemeClr val="tx2"/>
                </a:solidFill>
                <a:latin typeface="Arial" panose="020B0604020202020204" pitchFamily="34" charset="0"/>
              </a:defRPr>
            </a:lvl2pPr>
            <a:lvl3pPr marL="1143000" indent="-228600">
              <a:defRPr>
                <a:solidFill>
                  <a:schemeClr val="tx2"/>
                </a:solidFill>
                <a:latin typeface="Arial" panose="020B0604020202020204" pitchFamily="34" charset="0"/>
              </a:defRPr>
            </a:lvl3pPr>
            <a:lvl4pPr marL="1600200" indent="-228600">
              <a:defRPr>
                <a:solidFill>
                  <a:schemeClr val="tx2"/>
                </a:solidFill>
                <a:latin typeface="Arial" panose="020B0604020202020204" pitchFamily="34" charset="0"/>
              </a:defRPr>
            </a:lvl4pPr>
            <a:lvl5pPr marL="2057400" indent="-228600">
              <a:defRPr>
                <a:solidFill>
                  <a:schemeClr val="tx2"/>
                </a:solidFill>
                <a:latin typeface="Arial" panose="020B0604020202020204" pitchFamily="34" charset="0"/>
              </a:defRPr>
            </a:lvl5pPr>
            <a:lvl6pPr marL="2514600" indent="-228600" eaLnBrk="0" fontAlgn="base" hangingPunct="0">
              <a:spcBef>
                <a:spcPct val="0"/>
              </a:spcBef>
              <a:spcAft>
                <a:spcPct val="0"/>
              </a:spcAft>
              <a:defRPr>
                <a:solidFill>
                  <a:schemeClr val="tx2"/>
                </a:solidFill>
                <a:latin typeface="Arial" panose="020B0604020202020204" pitchFamily="34" charset="0"/>
              </a:defRPr>
            </a:lvl6pPr>
            <a:lvl7pPr marL="2971800" indent="-228600" eaLnBrk="0" fontAlgn="base" hangingPunct="0">
              <a:spcBef>
                <a:spcPct val="0"/>
              </a:spcBef>
              <a:spcAft>
                <a:spcPct val="0"/>
              </a:spcAft>
              <a:defRPr>
                <a:solidFill>
                  <a:schemeClr val="tx2"/>
                </a:solidFill>
                <a:latin typeface="Arial" panose="020B0604020202020204" pitchFamily="34" charset="0"/>
              </a:defRPr>
            </a:lvl7pPr>
            <a:lvl8pPr marL="3429000" indent="-228600" eaLnBrk="0" fontAlgn="base" hangingPunct="0">
              <a:spcBef>
                <a:spcPct val="0"/>
              </a:spcBef>
              <a:spcAft>
                <a:spcPct val="0"/>
              </a:spcAft>
              <a:defRPr>
                <a:solidFill>
                  <a:schemeClr val="tx2"/>
                </a:solidFill>
                <a:latin typeface="Arial" panose="020B0604020202020204" pitchFamily="34" charset="0"/>
              </a:defRPr>
            </a:lvl8pPr>
            <a:lvl9pPr marL="3886200" indent="-228600" eaLnBrk="0" fontAlgn="base" hangingPunct="0">
              <a:spcBef>
                <a:spcPct val="0"/>
              </a:spcBef>
              <a:spcAft>
                <a:spcPct val="0"/>
              </a:spcAft>
              <a:defRPr>
                <a:solidFill>
                  <a:schemeClr val="tx2"/>
                </a:solidFill>
                <a:latin typeface="Arial" panose="020B0604020202020204" pitchFamily="34" charset="0"/>
              </a:defRPr>
            </a:lvl9pPr>
          </a:lstStyle>
          <a:p>
            <a:pPr>
              <a:spcBef>
                <a:spcPts val="1200"/>
              </a:spcBef>
            </a:pPr>
            <a:r>
              <a:rPr lang="en-US" altLang="en-US" sz="2000" dirty="0">
                <a:solidFill>
                  <a:schemeClr val="tx1"/>
                </a:solidFill>
              </a:rPr>
              <a:t>Infrared and microwave spectroscopy allows the study of vibrational and rotational transitions and states.</a:t>
            </a:r>
          </a:p>
        </p:txBody>
      </p:sp>
      <p:sp>
        <p:nvSpPr>
          <p:cNvPr id="17" name="Rectangle 2">
            <a:extLst>
              <a:ext uri="{FF2B5EF4-FFF2-40B4-BE49-F238E27FC236}">
                <a16:creationId xmlns:a16="http://schemas.microsoft.com/office/drawing/2014/main" id="{5C0F2A69-D517-4B11-95A3-319C07BCC621}"/>
              </a:ext>
            </a:extLst>
          </p:cNvPr>
          <p:cNvSpPr/>
          <p:nvPr/>
        </p:nvSpPr>
        <p:spPr>
          <a:xfrm>
            <a:off x="722174" y="2769095"/>
            <a:ext cx="7776059" cy="1015663"/>
          </a:xfrm>
          <a:prstGeom prst="rect">
            <a:avLst/>
          </a:prstGeom>
        </p:spPr>
        <p:txBody>
          <a:bodyPr wrap="square">
            <a:spAutoFit/>
          </a:bodyPr>
          <a:lstStyle/>
          <a:p>
            <a:pPr lvl="0">
              <a:spcBef>
                <a:spcPts val="1200"/>
              </a:spcBef>
            </a:pPr>
            <a:r>
              <a:rPr lang="en-US" altLang="en-US" sz="2000" dirty="0">
                <a:solidFill>
                  <a:srgbClr val="000000"/>
                </a:solidFill>
              </a:rPr>
              <a:t>It’s easier to work in the visible or near-IR, exciting a molecule </a:t>
            </a:r>
            <a:r>
              <a:rPr lang="en-US" altLang="en-US" sz="2000" dirty="0">
                <a:solidFill>
                  <a:schemeClr val="tx1"/>
                </a:solidFill>
              </a:rPr>
              <a:t>to an electronically excited state and measuring the emitted light’s spectrum.</a:t>
            </a:r>
            <a:endParaRPr lang="en-US" altLang="en-US" sz="2000" dirty="0">
              <a:solidFill>
                <a:srgbClr val="000000"/>
              </a:solidFill>
            </a:endParaRPr>
          </a:p>
        </p:txBody>
      </p:sp>
      <p:sp>
        <p:nvSpPr>
          <p:cNvPr id="18" name="TextBox 3">
            <a:extLst>
              <a:ext uri="{FF2B5EF4-FFF2-40B4-BE49-F238E27FC236}">
                <a16:creationId xmlns:a16="http://schemas.microsoft.com/office/drawing/2014/main" id="{C9D115F4-F163-4903-BB5F-068DD5CB3302}"/>
              </a:ext>
            </a:extLst>
          </p:cNvPr>
          <p:cNvSpPr txBox="1"/>
          <p:nvPr/>
        </p:nvSpPr>
        <p:spPr bwMode="auto">
          <a:xfrm>
            <a:off x="722174" y="1846624"/>
            <a:ext cx="793265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ts val="1200"/>
              </a:spcBef>
            </a:pPr>
            <a:r>
              <a:rPr lang="en-US" altLang="en-US" sz="2000" dirty="0">
                <a:solidFill>
                  <a:schemeClr val="tx1"/>
                </a:solidFill>
              </a:rPr>
              <a:t>But it’s often difficult to generate and detect the required mid-IR or even microwave light.</a:t>
            </a:r>
          </a:p>
        </p:txBody>
      </p:sp>
      <p:sp>
        <p:nvSpPr>
          <p:cNvPr id="19" name="TextBox 1">
            <a:extLst>
              <a:ext uri="{FF2B5EF4-FFF2-40B4-BE49-F238E27FC236}">
                <a16:creationId xmlns:a16="http://schemas.microsoft.com/office/drawing/2014/main" id="{7BA39866-C5CA-48D9-B687-8E5552BA0C67}"/>
              </a:ext>
            </a:extLst>
          </p:cNvPr>
          <p:cNvSpPr txBox="1"/>
          <p:nvPr/>
        </p:nvSpPr>
        <p:spPr bwMode="auto">
          <a:xfrm>
            <a:off x="5576479" y="5208672"/>
            <a:ext cx="2143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l">
              <a:spcBef>
                <a:spcPct val="50000"/>
              </a:spcBef>
            </a:pPr>
            <a:r>
              <a:rPr lang="en-US" sz="2000" dirty="0">
                <a:solidFill>
                  <a:schemeClr val="tx1"/>
                </a:solidFill>
              </a:rPr>
              <a:t>0</a:t>
            </a:r>
          </a:p>
        </p:txBody>
      </p:sp>
      <p:sp>
        <p:nvSpPr>
          <p:cNvPr id="20" name="TextBox 4">
            <a:extLst>
              <a:ext uri="{FF2B5EF4-FFF2-40B4-BE49-F238E27FC236}">
                <a16:creationId xmlns:a16="http://schemas.microsoft.com/office/drawing/2014/main" id="{91C2FDEE-A58C-45BD-9B43-A27E75C25F4A}"/>
              </a:ext>
            </a:extLst>
          </p:cNvPr>
          <p:cNvSpPr txBox="1"/>
          <p:nvPr/>
        </p:nvSpPr>
        <p:spPr bwMode="auto">
          <a:xfrm>
            <a:off x="5576479" y="3775159"/>
            <a:ext cx="2143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l">
              <a:spcBef>
                <a:spcPct val="50000"/>
              </a:spcBef>
            </a:pPr>
            <a:r>
              <a:rPr lang="en-US" sz="2000" dirty="0">
                <a:solidFill>
                  <a:schemeClr val="tx1"/>
                </a:solidFill>
              </a:rPr>
              <a:t>2</a:t>
            </a:r>
          </a:p>
        </p:txBody>
      </p:sp>
      <p:sp>
        <p:nvSpPr>
          <p:cNvPr id="21" name="TextBox 6">
            <a:extLst>
              <a:ext uri="{FF2B5EF4-FFF2-40B4-BE49-F238E27FC236}">
                <a16:creationId xmlns:a16="http://schemas.microsoft.com/office/drawing/2014/main" id="{CCF6B59F-7877-4B26-839D-71C50FD64735}"/>
              </a:ext>
            </a:extLst>
          </p:cNvPr>
          <p:cNvSpPr txBox="1"/>
          <p:nvPr/>
        </p:nvSpPr>
        <p:spPr bwMode="auto">
          <a:xfrm>
            <a:off x="5576479" y="4838784"/>
            <a:ext cx="2143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l">
              <a:spcBef>
                <a:spcPct val="50000"/>
              </a:spcBef>
            </a:pPr>
            <a:r>
              <a:rPr lang="en-US" sz="2000" dirty="0">
                <a:solidFill>
                  <a:schemeClr val="tx1"/>
                </a:solidFill>
              </a:rPr>
              <a:t>1</a:t>
            </a:r>
          </a:p>
        </p:txBody>
      </p:sp>
      <p:sp>
        <p:nvSpPr>
          <p:cNvPr id="22" name="Line 58">
            <a:extLst>
              <a:ext uri="{FF2B5EF4-FFF2-40B4-BE49-F238E27FC236}">
                <a16:creationId xmlns:a16="http://schemas.microsoft.com/office/drawing/2014/main" id="{3E4B8679-A80D-48E3-BA47-3F65B0B5CA29}"/>
              </a:ext>
            </a:extLst>
          </p:cNvPr>
          <p:cNvSpPr>
            <a:spLocks noChangeShapeType="1"/>
          </p:cNvSpPr>
          <p:nvPr/>
        </p:nvSpPr>
        <p:spPr bwMode="auto">
          <a:xfrm>
            <a:off x="3393056" y="4520359"/>
            <a:ext cx="766071" cy="0"/>
          </a:xfrm>
          <a:prstGeom prst="line">
            <a:avLst/>
          </a:prstGeom>
          <a:noFill/>
          <a:ln w="19050">
            <a:solidFill>
              <a:schemeClr val="tx1"/>
            </a:solidFill>
            <a:round/>
            <a:headEnd type="none" w="med" len="med"/>
            <a:tailEnd type="arrow"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0285287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a:extLst>
              <a:ext uri="{FF2B5EF4-FFF2-40B4-BE49-F238E27FC236}">
                <a16:creationId xmlns:a16="http://schemas.microsoft.com/office/drawing/2014/main" id="{BAE16EB4-9528-00D1-8BE3-33CD46920369}"/>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Raman Scattering</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1026" name="Picture 2" descr="3.2. Raman spectroscopy">
            <a:extLst>
              <a:ext uri="{FF2B5EF4-FFF2-40B4-BE49-F238E27FC236}">
                <a16:creationId xmlns:a16="http://schemas.microsoft.com/office/drawing/2014/main" id="{7C00DE99-43EA-D535-3B20-7DE6F4837E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083" y="1051558"/>
            <a:ext cx="7224292" cy="46569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4535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a:extLst>
              <a:ext uri="{FF2B5EF4-FFF2-40B4-BE49-F238E27FC236}">
                <a16:creationId xmlns:a16="http://schemas.microsoft.com/office/drawing/2014/main" id="{BAE16EB4-9528-00D1-8BE3-33CD46920369}"/>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Raman Scattering</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grpSp>
        <p:nvGrpSpPr>
          <p:cNvPr id="4" name="Group 6">
            <a:extLst>
              <a:ext uri="{FF2B5EF4-FFF2-40B4-BE49-F238E27FC236}">
                <a16:creationId xmlns:a16="http://schemas.microsoft.com/office/drawing/2014/main" id="{A1895B7B-CDB5-428F-AFBC-856FBC0D3D2B}"/>
              </a:ext>
            </a:extLst>
          </p:cNvPr>
          <p:cNvGrpSpPr/>
          <p:nvPr/>
        </p:nvGrpSpPr>
        <p:grpSpPr>
          <a:xfrm>
            <a:off x="2136684" y="961137"/>
            <a:ext cx="5156887" cy="3896497"/>
            <a:chOff x="2174788" y="1771135"/>
            <a:chExt cx="5156887" cy="3896497"/>
          </a:xfrm>
        </p:grpSpPr>
        <p:pic>
          <p:nvPicPr>
            <p:cNvPr id="6" name="Picture 2" descr="IR and Raman spectra are complementary">
              <a:extLst>
                <a:ext uri="{FF2B5EF4-FFF2-40B4-BE49-F238E27FC236}">
                  <a16:creationId xmlns:a16="http://schemas.microsoft.com/office/drawing/2014/main" id="{424F85D5-B8E4-4843-8817-11BA56C0287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50" t="1808" r="4151" b="4985"/>
            <a:stretch/>
          </p:blipFill>
          <p:spPr bwMode="auto">
            <a:xfrm>
              <a:off x="2174788" y="1771135"/>
              <a:ext cx="5156887" cy="389649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2">
              <a:extLst>
                <a:ext uri="{FF2B5EF4-FFF2-40B4-BE49-F238E27FC236}">
                  <a16:creationId xmlns:a16="http://schemas.microsoft.com/office/drawing/2014/main" id="{3941BF75-3C39-4FCB-9D8D-91011EFBB598}"/>
                </a:ext>
              </a:extLst>
            </p:cNvPr>
            <p:cNvSpPr txBox="1"/>
            <p:nvPr/>
          </p:nvSpPr>
          <p:spPr bwMode="auto">
            <a:xfrm>
              <a:off x="3583459" y="2545491"/>
              <a:ext cx="15734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l">
                <a:spcBef>
                  <a:spcPct val="50000"/>
                </a:spcBef>
              </a:pPr>
              <a:r>
                <a:rPr lang="en-US" sz="2000" b="1" dirty="0">
                  <a:solidFill>
                    <a:srgbClr val="FF3D3D"/>
                  </a:solidFill>
                </a:rPr>
                <a:t>Absorption</a:t>
              </a:r>
            </a:p>
          </p:txBody>
        </p:sp>
        <p:sp>
          <p:nvSpPr>
            <p:cNvPr id="8" name="TextBox 3">
              <a:extLst>
                <a:ext uri="{FF2B5EF4-FFF2-40B4-BE49-F238E27FC236}">
                  <a16:creationId xmlns:a16="http://schemas.microsoft.com/office/drawing/2014/main" id="{56DF0480-1953-4239-8467-7DD482E86D4B}"/>
                </a:ext>
              </a:extLst>
            </p:cNvPr>
            <p:cNvSpPr txBox="1"/>
            <p:nvPr/>
          </p:nvSpPr>
          <p:spPr bwMode="auto">
            <a:xfrm>
              <a:off x="3566983" y="4477264"/>
              <a:ext cx="15734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tlCol="0">
              <a:spAutoFit/>
            </a:bodyPr>
            <a:lstStyle/>
            <a:p>
              <a:pPr algn="ctr">
                <a:spcBef>
                  <a:spcPct val="50000"/>
                </a:spcBef>
              </a:pPr>
              <a:r>
                <a:rPr lang="en-US" sz="2000" b="1" dirty="0">
                  <a:solidFill>
                    <a:srgbClr val="0000FF"/>
                  </a:solidFill>
                </a:rPr>
                <a:t>Raman</a:t>
              </a:r>
            </a:p>
          </p:txBody>
        </p:sp>
        <p:sp>
          <p:nvSpPr>
            <p:cNvPr id="9" name="Rectangle 5">
              <a:extLst>
                <a:ext uri="{FF2B5EF4-FFF2-40B4-BE49-F238E27FC236}">
                  <a16:creationId xmlns:a16="http://schemas.microsoft.com/office/drawing/2014/main" id="{43D657A6-366D-4EA6-BAF0-3493993C85BD}"/>
                </a:ext>
              </a:extLst>
            </p:cNvPr>
            <p:cNvSpPr/>
            <p:nvPr/>
          </p:nvSpPr>
          <p:spPr bwMode="auto">
            <a:xfrm>
              <a:off x="3179805" y="3328086"/>
              <a:ext cx="1960606" cy="51898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2"/>
                </a:solidFill>
                <a:effectLst/>
                <a:latin typeface="Arial" charset="0"/>
              </a:endParaRPr>
            </a:p>
          </p:txBody>
        </p:sp>
        <p:sp>
          <p:nvSpPr>
            <p:cNvPr id="10" name="TextBox 4">
              <a:extLst>
                <a:ext uri="{FF2B5EF4-FFF2-40B4-BE49-F238E27FC236}">
                  <a16:creationId xmlns:a16="http://schemas.microsoft.com/office/drawing/2014/main" id="{90F177A3-5022-480F-880A-093EF3EF94A1}"/>
                </a:ext>
              </a:extLst>
            </p:cNvPr>
            <p:cNvSpPr txBox="1"/>
            <p:nvPr/>
          </p:nvSpPr>
          <p:spPr bwMode="auto">
            <a:xfrm>
              <a:off x="3435178" y="3519328"/>
              <a:ext cx="2273643" cy="400110"/>
            </a:xfrm>
            <a:prstGeom prst="rect">
              <a:avLst/>
            </a:prstGeom>
            <a:solidFill>
              <a:schemeClr val="bg1"/>
            </a:solidFill>
            <a:ln>
              <a:noFill/>
            </a:ln>
          </p:spPr>
          <p:txBody>
            <a:bodyPr wrap="square" rtlCol="0">
              <a:spAutoFit/>
            </a:bodyPr>
            <a:lstStyle/>
            <a:p>
              <a:pPr algn="l">
                <a:spcBef>
                  <a:spcPct val="50000"/>
                </a:spcBef>
              </a:pPr>
              <a:r>
                <a:rPr lang="en-US" sz="2000" dirty="0">
                  <a:solidFill>
                    <a:schemeClr val="tx1"/>
                  </a:solidFill>
                </a:rPr>
                <a:t>Polystyrene film</a:t>
              </a:r>
            </a:p>
          </p:txBody>
        </p:sp>
      </p:grpSp>
      <p:sp>
        <p:nvSpPr>
          <p:cNvPr id="11" name="TextBox 8">
            <a:extLst>
              <a:ext uri="{FF2B5EF4-FFF2-40B4-BE49-F238E27FC236}">
                <a16:creationId xmlns:a16="http://schemas.microsoft.com/office/drawing/2014/main" id="{877A6A88-9E68-4F3A-9F63-797A6DF7D58A}"/>
              </a:ext>
            </a:extLst>
          </p:cNvPr>
          <p:cNvSpPr txBox="1"/>
          <p:nvPr/>
        </p:nvSpPr>
        <p:spPr bwMode="auto">
          <a:xfrm>
            <a:off x="700897" y="5188977"/>
            <a:ext cx="800305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sz="2000" dirty="0"/>
              <a:t>The Raman spectrum is background-free and less busy and so more easily identified in a medium containing additional molecular species.</a:t>
            </a:r>
          </a:p>
        </p:txBody>
      </p:sp>
    </p:spTree>
    <p:extLst>
      <p:ext uri="{BB962C8B-B14F-4D97-AF65-F5344CB8AC3E}">
        <p14:creationId xmlns:p14="http://schemas.microsoft.com/office/powerpoint/2010/main" val="933427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20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3FE94BD1-EFA9-5388-1C24-8175B39097F4}"/>
              </a:ext>
            </a:extLst>
          </p:cNvPr>
          <p:cNvSpPr txBox="1"/>
          <p:nvPr/>
        </p:nvSpPr>
        <p:spPr>
          <a:xfrm>
            <a:off x="2094742" y="4623096"/>
            <a:ext cx="1449483" cy="461665"/>
          </a:xfrm>
          <a:prstGeom prst="rect">
            <a:avLst/>
          </a:prstGeom>
          <a:noFill/>
        </p:spPr>
        <p:txBody>
          <a:bodyPr wrap="square">
            <a:spAutoFit/>
          </a:bodyPr>
          <a:lstStyle/>
          <a:p>
            <a:r>
              <a:rPr lang="en-US" altLang="zh-CN" sz="2400" dirty="0"/>
              <a:t>ṽ = 1/</a:t>
            </a:r>
            <a:r>
              <a:rPr lang="el-GR" altLang="zh-CN" sz="2400" dirty="0"/>
              <a:t>λ</a:t>
            </a:r>
            <a:endParaRPr lang="zh-CN" altLang="en-US" sz="2400" dirty="0"/>
          </a:p>
        </p:txBody>
      </p:sp>
      <p:pic>
        <p:nvPicPr>
          <p:cNvPr id="2" name="图片 1">
            <a:extLst>
              <a:ext uri="{FF2B5EF4-FFF2-40B4-BE49-F238E27FC236}">
                <a16:creationId xmlns:a16="http://schemas.microsoft.com/office/drawing/2014/main" id="{532B8C57-9D64-2788-4893-C8AB8591DB0F}"/>
              </a:ext>
            </a:extLst>
          </p:cNvPr>
          <p:cNvPicPr>
            <a:picLocks noChangeAspect="1"/>
          </p:cNvPicPr>
          <p:nvPr/>
        </p:nvPicPr>
        <p:blipFill rotWithShape="1">
          <a:blip r:embed="rId3"/>
          <a:srcRect t="7332"/>
          <a:stretch/>
        </p:blipFill>
        <p:spPr>
          <a:xfrm>
            <a:off x="1258682" y="1099946"/>
            <a:ext cx="6626635" cy="3338651"/>
          </a:xfrm>
          <a:prstGeom prst="rect">
            <a:avLst/>
          </a:prstGeom>
        </p:spPr>
      </p:pic>
      <p:sp>
        <p:nvSpPr>
          <p:cNvPr id="4" name="文本框 3">
            <a:extLst>
              <a:ext uri="{FF2B5EF4-FFF2-40B4-BE49-F238E27FC236}">
                <a16:creationId xmlns:a16="http://schemas.microsoft.com/office/drawing/2014/main" id="{4E79BB6A-170F-FDAF-DE8B-8348230A4186}"/>
              </a:ext>
            </a:extLst>
          </p:cNvPr>
          <p:cNvSpPr txBox="1"/>
          <p:nvPr/>
        </p:nvSpPr>
        <p:spPr>
          <a:xfrm>
            <a:off x="4098407" y="4530764"/>
            <a:ext cx="3722255" cy="646331"/>
          </a:xfrm>
          <a:prstGeom prst="rect">
            <a:avLst/>
          </a:prstGeom>
          <a:noFill/>
        </p:spPr>
        <p:txBody>
          <a:bodyPr wrap="square">
            <a:spAutoFit/>
          </a:bodyPr>
          <a:lstStyle/>
          <a:p>
            <a:r>
              <a:rPr lang="en-US" altLang="zh-CN" dirty="0"/>
              <a:t>λ = wavelength (m)=10</a:t>
            </a:r>
            <a:r>
              <a:rPr lang="en-US" altLang="zh-CN" baseline="30000" dirty="0"/>
              <a:t>9</a:t>
            </a:r>
            <a:r>
              <a:rPr lang="en-US" altLang="zh-CN" dirty="0"/>
              <a:t> nm</a:t>
            </a:r>
          </a:p>
          <a:p>
            <a:r>
              <a:rPr lang="en-US" altLang="zh-CN" dirty="0"/>
              <a:t>ṽ = wavenumber (m</a:t>
            </a:r>
            <a:r>
              <a:rPr lang="en-US" altLang="zh-CN" baseline="30000" dirty="0"/>
              <a:t>-1</a:t>
            </a:r>
            <a:r>
              <a:rPr lang="en-US" altLang="zh-CN" dirty="0"/>
              <a:t>)=10</a:t>
            </a:r>
            <a:r>
              <a:rPr lang="en-US" altLang="zh-CN" baseline="30000" dirty="0"/>
              <a:t>-2</a:t>
            </a:r>
            <a:r>
              <a:rPr lang="en-US" altLang="zh-CN" dirty="0"/>
              <a:t> cm</a:t>
            </a:r>
            <a:r>
              <a:rPr lang="en-US" altLang="zh-CN" baseline="30000" dirty="0"/>
              <a:t>-1</a:t>
            </a:r>
            <a:endParaRPr lang="zh-CN" altLang="en-US" dirty="0"/>
          </a:p>
        </p:txBody>
      </p:sp>
      <p:sp>
        <p:nvSpPr>
          <p:cNvPr id="5" name="标题 2">
            <a:extLst>
              <a:ext uri="{FF2B5EF4-FFF2-40B4-BE49-F238E27FC236}">
                <a16:creationId xmlns:a16="http://schemas.microsoft.com/office/drawing/2014/main" id="{BAE16EB4-9528-00D1-8BE3-33CD46920369}"/>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Convert from wavenumber (cm</a:t>
            </a:r>
            <a:r>
              <a:rPr lang="en-US" altLang="zh-CN" sz="2400" b="1" baseline="300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-1</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to wavelength (nm)</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文本框 6">
            <a:extLst>
              <a:ext uri="{FF2B5EF4-FFF2-40B4-BE49-F238E27FC236}">
                <a16:creationId xmlns:a16="http://schemas.microsoft.com/office/drawing/2014/main" id="{0123A993-A94E-D294-5B35-648F8A0B2AD9}"/>
              </a:ext>
            </a:extLst>
          </p:cNvPr>
          <p:cNvSpPr txBox="1"/>
          <p:nvPr/>
        </p:nvSpPr>
        <p:spPr>
          <a:xfrm>
            <a:off x="2020702" y="5322140"/>
            <a:ext cx="5208357" cy="646331"/>
          </a:xfrm>
          <a:prstGeom prst="rect">
            <a:avLst/>
          </a:prstGeom>
          <a:noFill/>
        </p:spPr>
        <p:txBody>
          <a:bodyPr wrap="square">
            <a:spAutoFit/>
          </a:bodyPr>
          <a:lstStyle/>
          <a:p>
            <a:r>
              <a:rPr lang="en-US" altLang="zh-CN" b="1" dirty="0">
                <a:solidFill>
                  <a:srgbClr val="FF0000"/>
                </a:solidFill>
              </a:rPr>
              <a:t>Trick</a:t>
            </a:r>
            <a:r>
              <a:rPr lang="zh-CN" altLang="en-US" b="1" dirty="0">
                <a:solidFill>
                  <a:srgbClr val="FF0000"/>
                </a:solidFill>
              </a:rPr>
              <a:t>：</a:t>
            </a:r>
            <a:endParaRPr lang="en-US" altLang="zh-CN" b="1" dirty="0">
              <a:solidFill>
                <a:srgbClr val="FF0000"/>
              </a:solidFill>
            </a:endParaRPr>
          </a:p>
          <a:p>
            <a:r>
              <a:rPr lang="en-US" altLang="zh-CN" b="1" dirty="0">
                <a:solidFill>
                  <a:srgbClr val="FF0000"/>
                </a:solidFill>
              </a:rPr>
              <a:t>10</a:t>
            </a:r>
            <a:r>
              <a:rPr lang="en-US" altLang="zh-CN" b="1" baseline="30000" dirty="0">
                <a:solidFill>
                  <a:srgbClr val="FF0000"/>
                </a:solidFill>
              </a:rPr>
              <a:t>7</a:t>
            </a:r>
            <a:r>
              <a:rPr lang="en-US" altLang="zh-CN" b="1" dirty="0">
                <a:solidFill>
                  <a:srgbClr val="FF0000"/>
                </a:solidFill>
              </a:rPr>
              <a:t>÷ (wavelength(nm)) = wavenumber in cm</a:t>
            </a:r>
            <a:r>
              <a:rPr lang="en-US" altLang="zh-CN" b="1" baseline="30000" dirty="0">
                <a:solidFill>
                  <a:srgbClr val="FF0000"/>
                </a:solidFill>
              </a:rPr>
              <a:t>-1</a:t>
            </a:r>
            <a:endParaRPr lang="zh-CN" altLang="en-US" b="1" baseline="30000" dirty="0">
              <a:solidFill>
                <a:srgbClr val="FF0000"/>
              </a:solidFill>
            </a:endParaRPr>
          </a:p>
        </p:txBody>
      </p:sp>
    </p:spTree>
    <p:extLst>
      <p:ext uri="{BB962C8B-B14F-4D97-AF65-F5344CB8AC3E}">
        <p14:creationId xmlns:p14="http://schemas.microsoft.com/office/powerpoint/2010/main" val="34912702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E79BB6A-170F-FDAF-DE8B-8348230A4186}"/>
              </a:ext>
            </a:extLst>
          </p:cNvPr>
          <p:cNvSpPr txBox="1"/>
          <p:nvPr/>
        </p:nvSpPr>
        <p:spPr>
          <a:xfrm>
            <a:off x="1348675" y="5039041"/>
            <a:ext cx="6724171" cy="646331"/>
          </a:xfrm>
          <a:prstGeom prst="rect">
            <a:avLst/>
          </a:prstGeom>
          <a:noFill/>
        </p:spPr>
        <p:txBody>
          <a:bodyPr wrap="square">
            <a:spAutoFit/>
          </a:bodyPr>
          <a:lstStyle/>
          <a:p>
            <a:r>
              <a:rPr lang="en-US" altLang="zh-CN" dirty="0"/>
              <a:t>The excitation wavelength is 785 nm. Can you calculate the wavelength of the Raman scattering wavenumber at 3000 cm</a:t>
            </a:r>
            <a:r>
              <a:rPr lang="en-US" altLang="zh-CN" baseline="30000" dirty="0"/>
              <a:t>-1</a:t>
            </a:r>
          </a:p>
        </p:txBody>
      </p:sp>
      <p:sp>
        <p:nvSpPr>
          <p:cNvPr id="5" name="标题 2">
            <a:extLst>
              <a:ext uri="{FF2B5EF4-FFF2-40B4-BE49-F238E27FC236}">
                <a16:creationId xmlns:a16="http://schemas.microsoft.com/office/drawing/2014/main" id="{BAE16EB4-9528-00D1-8BE3-33CD46920369}"/>
              </a:ext>
            </a:extLst>
          </p:cNvPr>
          <p:cNvSpPr txBox="1">
            <a:spLocks/>
          </p:cNvSpPr>
          <p:nvPr/>
        </p:nvSpPr>
        <p:spPr>
          <a:xfrm>
            <a:off x="-1" y="75087"/>
            <a:ext cx="9144001" cy="438547"/>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Convert from wavenumber (cm</a:t>
            </a:r>
            <a:r>
              <a:rPr lang="en-US" altLang="zh-CN" sz="2400" b="1" baseline="30000"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-1</a:t>
            </a:r>
            <a:r>
              <a:rPr lang="en-US"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rPr>
              <a:t>) to wavelength (nm)</a:t>
            </a:r>
            <a:endParaRPr lang="en-GB" altLang="zh-CN" sz="24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3" name="图片 2">
            <a:extLst>
              <a:ext uri="{FF2B5EF4-FFF2-40B4-BE49-F238E27FC236}">
                <a16:creationId xmlns:a16="http://schemas.microsoft.com/office/drawing/2014/main" id="{4CC50A9F-3688-CB51-8CF3-B77F98BC0654}"/>
              </a:ext>
            </a:extLst>
          </p:cNvPr>
          <p:cNvPicPr>
            <a:picLocks noChangeAspect="1"/>
          </p:cNvPicPr>
          <p:nvPr/>
        </p:nvPicPr>
        <p:blipFill>
          <a:blip r:embed="rId3"/>
          <a:stretch>
            <a:fillRect/>
          </a:stretch>
        </p:blipFill>
        <p:spPr>
          <a:xfrm>
            <a:off x="1862136" y="765101"/>
            <a:ext cx="5419725" cy="4163624"/>
          </a:xfrm>
          <a:prstGeom prst="rect">
            <a:avLst/>
          </a:prstGeom>
        </p:spPr>
      </p:pic>
    </p:spTree>
    <p:extLst>
      <p:ext uri="{BB962C8B-B14F-4D97-AF65-F5344CB8AC3E}">
        <p14:creationId xmlns:p14="http://schemas.microsoft.com/office/powerpoint/2010/main" val="2006725314"/>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微软雅黑"/>
        <a:ea typeface="微软雅黑"/>
        <a:cs typeface=""/>
      </a:majorFont>
      <a:minorFont>
        <a:latin typeface="Arial"/>
        <a:ea typeface="微软雅黑"/>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9217</TotalTime>
  <Words>3265</Words>
  <Application>Microsoft Office PowerPoint</Application>
  <PresentationFormat>全屏显示(4:3)</PresentationFormat>
  <Paragraphs>311</Paragraphs>
  <Slides>41</Slides>
  <Notes>40</Notes>
  <HiddenSlides>1</HiddenSlides>
  <MMClips>1</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41</vt:i4>
      </vt:variant>
    </vt:vector>
  </HeadingPairs>
  <TitlesOfParts>
    <vt:vector size="50" baseType="lpstr">
      <vt:lpstr>宋体</vt:lpstr>
      <vt:lpstr>微软雅黑</vt:lpstr>
      <vt:lpstr>幼圆</vt:lpstr>
      <vt:lpstr>Arial</vt:lpstr>
      <vt:lpstr>Calibri</vt:lpstr>
      <vt:lpstr>Symbol</vt:lpstr>
      <vt:lpstr>Times New Roman</vt:lpstr>
      <vt:lpstr>Wingdings</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Zongyin Yang</dc:creator>
  <cp:lastModifiedBy>Zongyin Yang</cp:lastModifiedBy>
  <cp:revision>600</cp:revision>
  <dcterms:created xsi:type="dcterms:W3CDTF">2020-10-30T01:47:51Z</dcterms:created>
  <dcterms:modified xsi:type="dcterms:W3CDTF">2025-02-20T07:33:20Z</dcterms:modified>
</cp:coreProperties>
</file>