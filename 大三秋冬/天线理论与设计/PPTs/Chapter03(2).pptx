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315" r:id="rId5"/>
    <p:sldId id="259" r:id="rId6"/>
    <p:sldId id="295" r:id="rId7"/>
    <p:sldId id="311" r:id="rId8"/>
    <p:sldId id="312" r:id="rId9"/>
    <p:sldId id="296" r:id="rId10"/>
    <p:sldId id="316" r:id="rId11"/>
    <p:sldId id="297" r:id="rId12"/>
    <p:sldId id="298" r:id="rId13"/>
    <p:sldId id="317" r:id="rId14"/>
    <p:sldId id="260" r:id="rId15"/>
    <p:sldId id="261" r:id="rId16"/>
    <p:sldId id="271" r:id="rId17"/>
    <p:sldId id="272" r:id="rId18"/>
    <p:sldId id="273" r:id="rId19"/>
    <p:sldId id="274" r:id="rId20"/>
    <p:sldId id="275" r:id="rId21"/>
    <p:sldId id="294" r:id="rId22"/>
    <p:sldId id="299" r:id="rId23"/>
    <p:sldId id="313" r:id="rId24"/>
    <p:sldId id="278" r:id="rId25"/>
    <p:sldId id="279" r:id="rId26"/>
    <p:sldId id="318" r:id="rId27"/>
    <p:sldId id="319" r:id="rId28"/>
    <p:sldId id="281" r:id="rId29"/>
    <p:sldId id="314" r:id="rId30"/>
    <p:sldId id="320" r:id="rId31"/>
    <p:sldId id="321" r:id="rId32"/>
    <p:sldId id="322" r:id="rId33"/>
    <p:sldId id="286" r:id="rId34"/>
    <p:sldId id="287" r:id="rId35"/>
    <p:sldId id="288" r:id="rId36"/>
    <p:sldId id="300" r:id="rId37"/>
    <p:sldId id="301" r:id="rId38"/>
    <p:sldId id="323" r:id="rId39"/>
    <p:sldId id="302" r:id="rId40"/>
    <p:sldId id="303" r:id="rId41"/>
    <p:sldId id="304" r:id="rId42"/>
  </p:sldIdLst>
  <p:sldSz cx="9144000" cy="6858000" type="screen4x3"/>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2" d="100"/>
          <a:sy n="102" d="100"/>
        </p:scale>
        <p:origin x="26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image" Target="../media/image5.wmf"/><Relationship Id="rId7" Type="http://schemas.openxmlformats.org/officeDocument/2006/relationships/image" Target="../media/image9.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4"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17.wmf"/><Relationship Id="rId7" Type="http://schemas.openxmlformats.org/officeDocument/2006/relationships/image" Target="../media/image21.w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5" Type="http://schemas.openxmlformats.org/officeDocument/2006/relationships/image" Target="../media/image27.wmf"/><Relationship Id="rId4"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47.wmf"/><Relationship Id="rId2" Type="http://schemas.openxmlformats.org/officeDocument/2006/relationships/image" Target="../media/image42.wmf"/><Relationship Id="rId1" Type="http://schemas.openxmlformats.org/officeDocument/2006/relationships/image" Target="../media/image41.wmf"/><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emf"/><Relationship Id="rId1" Type="http://schemas.openxmlformats.org/officeDocument/2006/relationships/image" Target="../media/image48.emf"/><Relationship Id="rId5" Type="http://schemas.openxmlformats.org/officeDocument/2006/relationships/image" Target="../media/image52.wmf"/><Relationship Id="rId4"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 Id="rId4" Type="http://schemas.openxmlformats.org/officeDocument/2006/relationships/image" Target="../media/image63.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5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 Id="rId4" Type="http://schemas.openxmlformats.org/officeDocument/2006/relationships/image" Target="../media/image6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1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2.wmf"/><Relationship Id="rId4" Type="http://schemas.openxmlformats.org/officeDocument/2006/relationships/image" Target="../media/image7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 Id="rId4" Type="http://schemas.openxmlformats.org/officeDocument/2006/relationships/image" Target="../media/image81.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85.wmf"/><Relationship Id="rId7" Type="http://schemas.openxmlformats.org/officeDocument/2006/relationships/image" Target="../media/image87.wmf"/><Relationship Id="rId2" Type="http://schemas.openxmlformats.org/officeDocument/2006/relationships/image" Target="../media/image16.wmf"/><Relationship Id="rId1" Type="http://schemas.openxmlformats.org/officeDocument/2006/relationships/image" Target="../media/image84.wmf"/><Relationship Id="rId6" Type="http://schemas.openxmlformats.org/officeDocument/2006/relationships/image" Target="../media/image20.wmf"/><Relationship Id="rId5" Type="http://schemas.openxmlformats.org/officeDocument/2006/relationships/image" Target="../media/image86.wmf"/><Relationship Id="rId4" Type="http://schemas.openxmlformats.org/officeDocument/2006/relationships/image" Target="../media/image18.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 Id="rId4" Type="http://schemas.openxmlformats.org/officeDocument/2006/relationships/image" Target="../media/image100.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 Id="rId4" Type="http://schemas.openxmlformats.org/officeDocument/2006/relationships/image" Target="../media/image10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内容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图片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垂直排列标题与文本">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pPr/>
              <a:t>2020-10-13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mall circular loop">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cstate="print"/>
          <a:srcRect/>
          <a:stretch>
            <a:fillRect/>
          </a:stretch>
        </p:blipFill>
        <p:spPr bwMode="auto">
          <a:xfrm>
            <a:off x="0" y="0"/>
            <a:ext cx="9144000" cy="1000125"/>
          </a:xfrm>
          <a:prstGeom prst="rect">
            <a:avLst/>
          </a:prstGeom>
          <a:noFill/>
          <a:ln w="9525">
            <a:noFill/>
            <a:miter lim="800000"/>
            <a:headEnd/>
            <a:tailEnd/>
          </a:ln>
        </p:spPr>
      </p:pic>
      <p:sp>
        <p:nvSpPr>
          <p:cNvPr id="3" name="标题 8"/>
          <p:cNvSpPr txBox="1">
            <a:spLocks/>
          </p:cNvSpPr>
          <p:nvPr userDrawn="1"/>
        </p:nvSpPr>
        <p:spPr>
          <a:xfrm>
            <a:off x="2339975" y="0"/>
            <a:ext cx="6804025" cy="981075"/>
          </a:xfrm>
          <a:prstGeom prst="rect">
            <a:avLst/>
          </a:prstGeom>
        </p:spPr>
        <p:txBody>
          <a:bodyPr anchor="ctr"/>
          <a:lstStyle/>
          <a:p>
            <a:pPr algn="r" eaLnBrk="0" hangingPunct="0">
              <a:defRPr/>
            </a:pPr>
            <a:r>
              <a:rPr lang="en-US" altLang="zh-CN" sz="4400" dirty="0">
                <a:solidFill>
                  <a:srgbClr val="FFFF00"/>
                </a:solidFill>
                <a:latin typeface="+mj-lt"/>
                <a:ea typeface="+mj-ea"/>
                <a:cs typeface="+mj-cs"/>
              </a:rPr>
              <a:t>Small Circular Loop</a:t>
            </a:r>
            <a:endParaRPr lang="zh-CN" altLang="en-US" sz="4400" dirty="0">
              <a:solidFill>
                <a:srgbClr val="FFFF00"/>
              </a:solidFill>
              <a:latin typeface="+mj-lt"/>
              <a:ea typeface="+mj-ea"/>
              <a:cs typeface="+mj-cs"/>
            </a:endParaRPr>
          </a:p>
        </p:txBody>
      </p:sp>
      <p:sp>
        <p:nvSpPr>
          <p:cNvPr id="4" name="日期占位符 3"/>
          <p:cNvSpPr>
            <a:spLocks noGrp="1"/>
          </p:cNvSpPr>
          <p:nvPr>
            <p:ph type="dt" sz="half" idx="10"/>
          </p:nvPr>
        </p:nvSpPr>
        <p:spPr/>
        <p:txBody>
          <a:bodyPr/>
          <a:lstStyle>
            <a:lvl1pPr>
              <a:defRPr smtClean="0"/>
            </a:lvl1pPr>
          </a:lstStyle>
          <a:p>
            <a:pPr>
              <a:defRPr/>
            </a:pPr>
            <a:fld id="{7FCECCEC-BAE1-45C1-81EF-A4062D855936}" type="datetime1">
              <a:rPr lang="zh-CN" altLang="en-US"/>
              <a:pPr>
                <a:defRPr/>
              </a:pPr>
              <a:t>2020-10-13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11BAF95-DCA5-49F0-A725-9C8CF233A2F0}"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2020-10-13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png"/><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wmf"/><Relationship Id="rId18" Type="http://schemas.openxmlformats.org/officeDocument/2006/relationships/oleObject" Target="../embeddings/oleObject9.bin"/><Relationship Id="rId3" Type="http://schemas.openxmlformats.org/officeDocument/2006/relationships/image" Target="../media/image1.png"/><Relationship Id="rId7" Type="http://schemas.openxmlformats.org/officeDocument/2006/relationships/image" Target="../media/image4.wmf"/><Relationship Id="rId12" Type="http://schemas.openxmlformats.org/officeDocument/2006/relationships/oleObject" Target="../embeddings/oleObject6.bin"/><Relationship Id="rId17" Type="http://schemas.openxmlformats.org/officeDocument/2006/relationships/image" Target="../media/image9.wmf"/><Relationship Id="rId2" Type="http://schemas.openxmlformats.org/officeDocument/2006/relationships/slideLayout" Target="../slideLayouts/slideLayout7.xml"/><Relationship Id="rId16" Type="http://schemas.openxmlformats.org/officeDocument/2006/relationships/oleObject" Target="../embeddings/oleObject8.bin"/><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6.wmf"/><Relationship Id="rId5" Type="http://schemas.openxmlformats.org/officeDocument/2006/relationships/image" Target="../media/image3.wmf"/><Relationship Id="rId15" Type="http://schemas.openxmlformats.org/officeDocument/2006/relationships/image" Target="../media/image8.wmf"/><Relationship Id="rId10" Type="http://schemas.openxmlformats.org/officeDocument/2006/relationships/oleObject" Target="../embeddings/oleObject5.bin"/><Relationship Id="rId19" Type="http://schemas.openxmlformats.org/officeDocument/2006/relationships/image" Target="../media/image10.wmf"/><Relationship Id="rId4" Type="http://schemas.openxmlformats.org/officeDocument/2006/relationships/oleObject" Target="../embeddings/oleObject2.bin"/><Relationship Id="rId9" Type="http://schemas.openxmlformats.org/officeDocument/2006/relationships/image" Target="../media/image5.wmf"/><Relationship Id="rId14" Type="http://schemas.openxmlformats.org/officeDocument/2006/relationships/oleObject" Target="../embeddings/oleObject7.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png"/><Relationship Id="rId7" Type="http://schemas.openxmlformats.org/officeDocument/2006/relationships/image" Target="../media/image12.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11.bin"/><Relationship Id="rId11" Type="http://schemas.openxmlformats.org/officeDocument/2006/relationships/image" Target="../media/image14.wmf"/><Relationship Id="rId5" Type="http://schemas.openxmlformats.org/officeDocument/2006/relationships/image" Target="../media/image11.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3.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19.wmf"/><Relationship Id="rId18" Type="http://schemas.openxmlformats.org/officeDocument/2006/relationships/oleObject" Target="../embeddings/oleObject21.bin"/><Relationship Id="rId3" Type="http://schemas.openxmlformats.org/officeDocument/2006/relationships/image" Target="../media/image1.png"/><Relationship Id="rId7" Type="http://schemas.openxmlformats.org/officeDocument/2006/relationships/image" Target="../media/image16.wmf"/><Relationship Id="rId12" Type="http://schemas.openxmlformats.org/officeDocument/2006/relationships/oleObject" Target="../embeddings/oleObject18.bin"/><Relationship Id="rId17" Type="http://schemas.openxmlformats.org/officeDocument/2006/relationships/image" Target="../media/image21.wmf"/><Relationship Id="rId2" Type="http://schemas.openxmlformats.org/officeDocument/2006/relationships/slideLayout" Target="../slideLayouts/slideLayout7.xml"/><Relationship Id="rId16" Type="http://schemas.openxmlformats.org/officeDocument/2006/relationships/oleObject" Target="../embeddings/oleObject20.bin"/><Relationship Id="rId1" Type="http://schemas.openxmlformats.org/officeDocument/2006/relationships/vmlDrawing" Target="../drawings/vmlDrawing4.vml"/><Relationship Id="rId6" Type="http://schemas.openxmlformats.org/officeDocument/2006/relationships/oleObject" Target="../embeddings/oleObject15.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20.wmf"/><Relationship Id="rId10" Type="http://schemas.openxmlformats.org/officeDocument/2006/relationships/oleObject" Target="../embeddings/oleObject17.bin"/><Relationship Id="rId19" Type="http://schemas.openxmlformats.org/officeDocument/2006/relationships/image" Target="../media/image22.wmf"/><Relationship Id="rId4" Type="http://schemas.openxmlformats.org/officeDocument/2006/relationships/oleObject" Target="../embeddings/oleObject14.bin"/><Relationship Id="rId9" Type="http://schemas.openxmlformats.org/officeDocument/2006/relationships/image" Target="../media/image17.wmf"/><Relationship Id="rId14" Type="http://schemas.openxmlformats.org/officeDocument/2006/relationships/oleObject" Target="../embeddings/oleObject19.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27.wmf"/><Relationship Id="rId3" Type="http://schemas.openxmlformats.org/officeDocument/2006/relationships/image" Target="../media/image1.png"/><Relationship Id="rId7" Type="http://schemas.openxmlformats.org/officeDocument/2006/relationships/image" Target="../media/image24.wmf"/><Relationship Id="rId12"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23.bin"/><Relationship Id="rId11" Type="http://schemas.openxmlformats.org/officeDocument/2006/relationships/image" Target="../media/image26.wmf"/><Relationship Id="rId5" Type="http://schemas.openxmlformats.org/officeDocument/2006/relationships/image" Target="../media/image23.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25.wmf"/></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28.bin"/><Relationship Id="rId5" Type="http://schemas.openxmlformats.org/officeDocument/2006/relationships/image" Target="../media/image28.wmf"/><Relationship Id="rId4" Type="http://schemas.openxmlformats.org/officeDocument/2006/relationships/oleObject" Target="../embeddings/oleObject27.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32.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30.bin"/><Relationship Id="rId5" Type="http://schemas.openxmlformats.org/officeDocument/2006/relationships/image" Target="../media/image1.png"/><Relationship Id="rId4" Type="http://schemas.openxmlformats.org/officeDocument/2006/relationships/image" Target="../media/image31.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1.png"/><Relationship Id="rId7" Type="http://schemas.openxmlformats.org/officeDocument/2006/relationships/image" Target="../media/image34.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2.bin"/><Relationship Id="rId5" Type="http://schemas.openxmlformats.org/officeDocument/2006/relationships/image" Target="../media/image33.wmf"/><Relationship Id="rId4" Type="http://schemas.openxmlformats.org/officeDocument/2006/relationships/oleObject" Target="../embeddings/oleObject31.bin"/><Relationship Id="rId9" Type="http://schemas.openxmlformats.org/officeDocument/2006/relationships/image" Target="../media/image35.wmf"/></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7.png"/><Relationship Id="rId5" Type="http://schemas.openxmlformats.org/officeDocument/2006/relationships/image" Target="../media/image36.wmf"/><Relationship Id="rId4" Type="http://schemas.openxmlformats.org/officeDocument/2006/relationships/oleObject" Target="../embeddings/oleObject34.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1.png"/><Relationship Id="rId7" Type="http://schemas.openxmlformats.org/officeDocument/2006/relationships/image" Target="../media/image39.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36.bin"/><Relationship Id="rId5" Type="http://schemas.openxmlformats.org/officeDocument/2006/relationships/image" Target="../media/image36.wmf"/><Relationship Id="rId4" Type="http://schemas.openxmlformats.org/officeDocument/2006/relationships/oleObject" Target="../embeddings/oleObject35.bin"/><Relationship Id="rId9" Type="http://schemas.openxmlformats.org/officeDocument/2006/relationships/image" Target="../media/image40.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45.wmf"/><Relationship Id="rId3" Type="http://schemas.openxmlformats.org/officeDocument/2006/relationships/image" Target="../media/image1.png"/><Relationship Id="rId7" Type="http://schemas.openxmlformats.org/officeDocument/2006/relationships/image" Target="../media/image42.wmf"/><Relationship Id="rId12" Type="http://schemas.openxmlformats.org/officeDocument/2006/relationships/oleObject" Target="../embeddings/oleObject42.bin"/><Relationship Id="rId17" Type="http://schemas.openxmlformats.org/officeDocument/2006/relationships/image" Target="../media/image47.wmf"/><Relationship Id="rId2" Type="http://schemas.openxmlformats.org/officeDocument/2006/relationships/slideLayout" Target="../slideLayouts/slideLayout7.xml"/><Relationship Id="rId16" Type="http://schemas.openxmlformats.org/officeDocument/2006/relationships/oleObject" Target="../embeddings/oleObject44.bin"/><Relationship Id="rId1" Type="http://schemas.openxmlformats.org/officeDocument/2006/relationships/vmlDrawing" Target="../drawings/vmlDrawing11.vml"/><Relationship Id="rId6" Type="http://schemas.openxmlformats.org/officeDocument/2006/relationships/oleObject" Target="../embeddings/oleObject39.bin"/><Relationship Id="rId11" Type="http://schemas.openxmlformats.org/officeDocument/2006/relationships/image" Target="../media/image44.wmf"/><Relationship Id="rId5" Type="http://schemas.openxmlformats.org/officeDocument/2006/relationships/image" Target="../media/image41.wmf"/><Relationship Id="rId15" Type="http://schemas.openxmlformats.org/officeDocument/2006/relationships/image" Target="../media/image46.w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43.wmf"/><Relationship Id="rId14" Type="http://schemas.openxmlformats.org/officeDocument/2006/relationships/oleObject" Target="../embeddings/oleObject43.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52.wmf"/><Relationship Id="rId3" Type="http://schemas.openxmlformats.org/officeDocument/2006/relationships/oleObject" Target="../embeddings/oleObject45.bin"/><Relationship Id="rId7" Type="http://schemas.openxmlformats.org/officeDocument/2006/relationships/image" Target="../media/image49.emf"/><Relationship Id="rId12"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46.bin"/><Relationship Id="rId11" Type="http://schemas.openxmlformats.org/officeDocument/2006/relationships/image" Target="../media/image51.wmf"/><Relationship Id="rId5" Type="http://schemas.openxmlformats.org/officeDocument/2006/relationships/image" Target="../media/image1.png"/><Relationship Id="rId10" Type="http://schemas.openxmlformats.org/officeDocument/2006/relationships/oleObject" Target="../embeddings/oleObject48.bin"/><Relationship Id="rId4" Type="http://schemas.openxmlformats.org/officeDocument/2006/relationships/image" Target="../media/image48.emf"/><Relationship Id="rId9" Type="http://schemas.openxmlformats.org/officeDocument/2006/relationships/image" Target="../media/image50.wmf"/></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0.bin"/><Relationship Id="rId7"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55.wmf"/><Relationship Id="rId5" Type="http://schemas.openxmlformats.org/officeDocument/2006/relationships/oleObject" Target="../embeddings/oleObject51.bin"/><Relationship Id="rId4" Type="http://schemas.openxmlformats.org/officeDocument/2006/relationships/image" Target="../media/image54.wm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2.bin"/><Relationship Id="rId7"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8.wmf"/><Relationship Id="rId5" Type="http://schemas.openxmlformats.org/officeDocument/2006/relationships/oleObject" Target="../embeddings/oleObject53.bin"/><Relationship Id="rId4" Type="http://schemas.openxmlformats.org/officeDocument/2006/relationships/image" Target="../media/image57.wmf"/></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1.wmf"/><Relationship Id="rId11" Type="http://schemas.openxmlformats.org/officeDocument/2006/relationships/image" Target="../media/image1.png"/><Relationship Id="rId5" Type="http://schemas.openxmlformats.org/officeDocument/2006/relationships/oleObject" Target="../embeddings/oleObject55.bin"/><Relationship Id="rId10" Type="http://schemas.openxmlformats.org/officeDocument/2006/relationships/image" Target="../media/image63.wmf"/><Relationship Id="rId4" Type="http://schemas.openxmlformats.org/officeDocument/2006/relationships/image" Target="../media/image60.wmf"/><Relationship Id="rId9" Type="http://schemas.openxmlformats.org/officeDocument/2006/relationships/oleObject" Target="../embeddings/oleObject57.bin"/></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4.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59.bin"/><Relationship Id="rId5" Type="http://schemas.openxmlformats.org/officeDocument/2006/relationships/image" Target="../media/image50.wmf"/><Relationship Id="rId4" Type="http://schemas.openxmlformats.org/officeDocument/2006/relationships/oleObject" Target="../embeddings/oleObject58.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image" Target="../media/image1.png"/><Relationship Id="rId7" Type="http://schemas.openxmlformats.org/officeDocument/2006/relationships/image" Target="../media/image66.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61.bin"/><Relationship Id="rId11" Type="http://schemas.openxmlformats.org/officeDocument/2006/relationships/image" Target="../media/image68.wmf"/><Relationship Id="rId5" Type="http://schemas.openxmlformats.org/officeDocument/2006/relationships/image" Target="../media/image65.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67.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image" Target="../media/image1.png"/><Relationship Id="rId4" Type="http://schemas.openxmlformats.org/officeDocument/2006/relationships/image" Target="../media/image69.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png"/><Relationship Id="rId5" Type="http://schemas.openxmlformats.org/officeDocument/2006/relationships/image" Target="../media/image71.png"/><Relationship Id="rId4" Type="http://schemas.openxmlformats.org/officeDocument/2006/relationships/image" Target="../media/image70.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68.bin"/><Relationship Id="rId3" Type="http://schemas.openxmlformats.org/officeDocument/2006/relationships/image" Target="../media/image1.png"/><Relationship Id="rId7" Type="http://schemas.openxmlformats.org/officeDocument/2006/relationships/image" Target="../media/image72.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67.bin"/><Relationship Id="rId5" Type="http://schemas.openxmlformats.org/officeDocument/2006/relationships/image" Target="../media/image10.wmf"/><Relationship Id="rId10" Type="http://schemas.openxmlformats.org/officeDocument/2006/relationships/oleObject" Target="../embeddings/oleObject69.bin"/><Relationship Id="rId4" Type="http://schemas.openxmlformats.org/officeDocument/2006/relationships/oleObject" Target="../embeddings/oleObject66.bin"/><Relationship Id="rId9" Type="http://schemas.openxmlformats.org/officeDocument/2006/relationships/image" Target="../media/image73.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1.png"/><Relationship Id="rId4" Type="http://schemas.openxmlformats.org/officeDocument/2006/relationships/image" Target="../media/image74.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oleObject" Target="../embeddings/oleObject71.bin"/><Relationship Id="rId7"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75.wmf"/><Relationship Id="rId11" Type="http://schemas.openxmlformats.org/officeDocument/2006/relationships/image" Target="../media/image77.wmf"/><Relationship Id="rId5" Type="http://schemas.openxmlformats.org/officeDocument/2006/relationships/oleObject" Target="../embeddings/oleObject72.bin"/><Relationship Id="rId10" Type="http://schemas.openxmlformats.org/officeDocument/2006/relationships/oleObject" Target="../embeddings/oleObject74.bin"/><Relationship Id="rId4" Type="http://schemas.openxmlformats.org/officeDocument/2006/relationships/image" Target="../media/image72.wmf"/><Relationship Id="rId9" Type="http://schemas.openxmlformats.org/officeDocument/2006/relationships/image" Target="../media/image76.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oleObject" Target="../embeddings/oleObject75.bin"/><Relationship Id="rId7"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79.wmf"/><Relationship Id="rId11" Type="http://schemas.openxmlformats.org/officeDocument/2006/relationships/image" Target="../media/image81.wmf"/><Relationship Id="rId5" Type="http://schemas.openxmlformats.org/officeDocument/2006/relationships/oleObject" Target="../embeddings/oleObject76.bin"/><Relationship Id="rId10" Type="http://schemas.openxmlformats.org/officeDocument/2006/relationships/oleObject" Target="../embeddings/oleObject78.bin"/><Relationship Id="rId4" Type="http://schemas.openxmlformats.org/officeDocument/2006/relationships/image" Target="../media/image78.wmf"/><Relationship Id="rId9" Type="http://schemas.openxmlformats.org/officeDocument/2006/relationships/image" Target="../media/image80.wmf"/></Relationships>
</file>

<file path=ppt/slides/_rels/slide3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85.wmf"/><Relationship Id="rId13" Type="http://schemas.openxmlformats.org/officeDocument/2006/relationships/oleObject" Target="../embeddings/oleObject84.bin"/><Relationship Id="rId18" Type="http://schemas.openxmlformats.org/officeDocument/2006/relationships/image" Target="../media/image22.wmf"/><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86.wmf"/><Relationship Id="rId17" Type="http://schemas.openxmlformats.org/officeDocument/2006/relationships/oleObject" Target="../embeddings/oleObject86.bin"/><Relationship Id="rId2" Type="http://schemas.openxmlformats.org/officeDocument/2006/relationships/slideLayout" Target="../slideLayouts/slideLayout7.xml"/><Relationship Id="rId16" Type="http://schemas.openxmlformats.org/officeDocument/2006/relationships/image" Target="../media/image87.wmf"/><Relationship Id="rId20" Type="http://schemas.openxmlformats.org/officeDocument/2006/relationships/image" Target="../media/image1.png"/><Relationship Id="rId1" Type="http://schemas.openxmlformats.org/officeDocument/2006/relationships/vmlDrawing" Target="../drawings/vmlDrawing24.vml"/><Relationship Id="rId6" Type="http://schemas.openxmlformats.org/officeDocument/2006/relationships/image" Target="../media/image16.wmf"/><Relationship Id="rId11" Type="http://schemas.openxmlformats.org/officeDocument/2006/relationships/oleObject" Target="../embeddings/oleObject83.bin"/><Relationship Id="rId5" Type="http://schemas.openxmlformats.org/officeDocument/2006/relationships/oleObject" Target="../embeddings/oleObject80.bin"/><Relationship Id="rId15" Type="http://schemas.openxmlformats.org/officeDocument/2006/relationships/oleObject" Target="../embeddings/oleObject85.bin"/><Relationship Id="rId10" Type="http://schemas.openxmlformats.org/officeDocument/2006/relationships/image" Target="../media/image18.wmf"/><Relationship Id="rId19" Type="http://schemas.openxmlformats.org/officeDocument/2006/relationships/image" Target="../media/image88.png"/><Relationship Id="rId4" Type="http://schemas.openxmlformats.org/officeDocument/2006/relationships/image" Target="../media/image84.wmf"/><Relationship Id="rId9" Type="http://schemas.openxmlformats.org/officeDocument/2006/relationships/oleObject" Target="../embeddings/oleObject82.bin"/><Relationship Id="rId14" Type="http://schemas.openxmlformats.org/officeDocument/2006/relationships/image" Target="../media/image20.wmf"/></Relationships>
</file>

<file path=ppt/slides/_rels/slide3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88.bin"/><Relationship Id="rId3" Type="http://schemas.openxmlformats.org/officeDocument/2006/relationships/image" Target="../media/image1.png"/><Relationship Id="rId7" Type="http://schemas.openxmlformats.org/officeDocument/2006/relationships/image" Target="../media/image90.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87.bin"/><Relationship Id="rId5" Type="http://schemas.openxmlformats.org/officeDocument/2006/relationships/image" Target="../media/image93.png"/><Relationship Id="rId4" Type="http://schemas.openxmlformats.org/officeDocument/2006/relationships/image" Target="../media/image92.png"/><Relationship Id="rId9" Type="http://schemas.openxmlformats.org/officeDocument/2006/relationships/image" Target="../media/image91.wmf"/></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1.png"/><Relationship Id="rId7"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94.wmf"/><Relationship Id="rId5" Type="http://schemas.openxmlformats.org/officeDocument/2006/relationships/oleObject" Target="../embeddings/oleObject89.bin"/><Relationship Id="rId4" Type="http://schemas.openxmlformats.org/officeDocument/2006/relationships/image" Target="../media/image96.png"/></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93.bin"/><Relationship Id="rId3" Type="http://schemas.openxmlformats.org/officeDocument/2006/relationships/image" Target="../media/image1.png"/><Relationship Id="rId7" Type="http://schemas.openxmlformats.org/officeDocument/2006/relationships/image" Target="../media/image98.wmf"/><Relationship Id="rId12" Type="http://schemas.openxmlformats.org/officeDocument/2006/relationships/image" Target="../media/image101.png"/><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92.bin"/><Relationship Id="rId11" Type="http://schemas.openxmlformats.org/officeDocument/2006/relationships/image" Target="../media/image100.wmf"/><Relationship Id="rId5" Type="http://schemas.openxmlformats.org/officeDocument/2006/relationships/image" Target="../media/image97.wmf"/><Relationship Id="rId10" Type="http://schemas.openxmlformats.org/officeDocument/2006/relationships/oleObject" Target="../embeddings/oleObject94.bin"/><Relationship Id="rId4" Type="http://schemas.openxmlformats.org/officeDocument/2006/relationships/oleObject" Target="../embeddings/oleObject91.bin"/><Relationship Id="rId9" Type="http://schemas.openxmlformats.org/officeDocument/2006/relationships/image" Target="../media/image99.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7.xml"/><Relationship Id="rId1" Type="http://schemas.openxmlformats.org/officeDocument/2006/relationships/vmlDrawing" Target="../drawings/vmlDrawing28.vml"/><Relationship Id="rId5" Type="http://schemas.openxmlformats.org/officeDocument/2006/relationships/image" Target="../media/image1.png"/><Relationship Id="rId4" Type="http://schemas.openxmlformats.org/officeDocument/2006/relationships/image" Target="../media/image102.wmf"/></Relationships>
</file>

<file path=ppt/slides/_rels/slide39.xml.rels><?xml version="1.0" encoding="UTF-8" standalone="yes"?>
<Relationships xmlns="http://schemas.openxmlformats.org/package/2006/relationships"><Relationship Id="rId8" Type="http://schemas.openxmlformats.org/officeDocument/2006/relationships/image" Target="../media/image104.wmf"/><Relationship Id="rId13" Type="http://schemas.openxmlformats.org/officeDocument/2006/relationships/image" Target="../media/image109.png"/><Relationship Id="rId3" Type="http://schemas.openxmlformats.org/officeDocument/2006/relationships/image" Target="../media/image1.png"/><Relationship Id="rId7" Type="http://schemas.openxmlformats.org/officeDocument/2006/relationships/oleObject" Target="../embeddings/oleObject97.bin"/><Relationship Id="rId12" Type="http://schemas.openxmlformats.org/officeDocument/2006/relationships/image" Target="../media/image105.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03.wmf"/><Relationship Id="rId11" Type="http://schemas.openxmlformats.org/officeDocument/2006/relationships/oleObject" Target="../embeddings/oleObject98.bin"/><Relationship Id="rId5" Type="http://schemas.openxmlformats.org/officeDocument/2006/relationships/oleObject" Target="../embeddings/oleObject96.bin"/><Relationship Id="rId15" Type="http://schemas.openxmlformats.org/officeDocument/2006/relationships/image" Target="../media/image102.wmf"/><Relationship Id="rId10" Type="http://schemas.openxmlformats.org/officeDocument/2006/relationships/image" Target="../media/image108.png"/><Relationship Id="rId4" Type="http://schemas.openxmlformats.org/officeDocument/2006/relationships/image" Target="../media/image106.png"/><Relationship Id="rId9" Type="http://schemas.openxmlformats.org/officeDocument/2006/relationships/image" Target="../media/image107.png"/><Relationship Id="rId14" Type="http://schemas.openxmlformats.org/officeDocument/2006/relationships/oleObject" Target="../embeddings/oleObject99.bin"/></Relationships>
</file>

<file path=ppt/slides/_rels/slide4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89" name="Rectangle 1"/>
          <p:cNvSpPr>
            <a:spLocks noChangeArrowheads="1"/>
          </p:cNvSpPr>
          <p:nvPr/>
        </p:nvSpPr>
        <p:spPr bwMode="auto">
          <a:xfrm>
            <a:off x="1259632" y="2550992"/>
            <a:ext cx="6715172" cy="169277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kumimoji="0" lang="en-US" altLang="zh-CN" sz="4000" i="0" u="none" strike="noStrike" cap="none" normalizeH="0" baseline="0" dirty="0" smtClean="0">
                <a:ln>
                  <a:noFill/>
                </a:ln>
                <a:solidFill>
                  <a:srgbClr val="FF0000"/>
                </a:solidFill>
                <a:effectLst/>
                <a:latin typeface="Times New Roman" pitchFamily="18" charset="0"/>
                <a:ea typeface="微软雅黑" pitchFamily="34" charset="-122"/>
                <a:cs typeface="Times New Roman" pitchFamily="18" charset="0"/>
              </a:rPr>
              <a:t>Auxiliary Potential Functions and Reciprocity Theorem</a:t>
            </a:r>
            <a:r>
              <a:rPr kumimoji="0" lang="en-US" altLang="zh-CN" sz="180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a:r>
            <a:br>
              <a:rPr kumimoji="0" lang="en-US" altLang="zh-CN" sz="180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br>
            <a:endParaRPr kumimoji="0" lang="en-US" altLang="zh-CN" sz="6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3" name="Picture 3"/>
          <p:cNvPicPr>
            <a:picLocks noChangeAspect="1" noChangeArrowheads="1"/>
          </p:cNvPicPr>
          <p:nvPr/>
        </p:nvPicPr>
        <p:blipFill>
          <a:blip r:embed="rId2" cstate="print"/>
          <a:srcRect/>
          <a:stretch>
            <a:fillRect/>
          </a:stretch>
        </p:blipFill>
        <p:spPr bwMode="auto">
          <a:xfrm>
            <a:off x="1" y="0"/>
            <a:ext cx="9144000" cy="1000125"/>
          </a:xfrm>
          <a:prstGeom prst="rect">
            <a:avLst/>
          </a:prstGeom>
          <a:noFill/>
          <a:ln w="9525">
            <a:noFill/>
            <a:miter lim="800000"/>
            <a:headEnd/>
            <a:tailEnd/>
          </a:ln>
          <a:effectLst/>
        </p:spPr>
      </p:pic>
      <p:sp>
        <p:nvSpPr>
          <p:cNvPr id="4" name="TextBox 3"/>
          <p:cNvSpPr txBox="1"/>
          <p:nvPr/>
        </p:nvSpPr>
        <p:spPr>
          <a:xfrm>
            <a:off x="2195736" y="5229200"/>
            <a:ext cx="4752528" cy="1200329"/>
          </a:xfrm>
          <a:prstGeom prst="rect">
            <a:avLst/>
          </a:prstGeom>
          <a:noFill/>
        </p:spPr>
        <p:txBody>
          <a:bodyPr wrap="square" rtlCol="0">
            <a:spAutoFit/>
          </a:bodyPr>
          <a:lstStyle/>
          <a:p>
            <a:pPr algn="ctr"/>
            <a:r>
              <a:rPr lang="en-US" altLang="zh-CN" sz="2400" dirty="0" smtClean="0"/>
              <a:t>Xing-Chang WEI</a:t>
            </a:r>
          </a:p>
          <a:p>
            <a:pPr algn="ctr"/>
            <a:r>
              <a:rPr lang="en-US" altLang="zh-CN" sz="2400" dirty="0" smtClean="0"/>
              <a:t>Zhejiang Univ., China</a:t>
            </a:r>
          </a:p>
          <a:p>
            <a:pPr algn="ctr"/>
            <a:r>
              <a:rPr lang="en-US" altLang="zh-CN" sz="2400" dirty="0" smtClean="0"/>
              <a:t>2011.12.05</a:t>
            </a:r>
            <a:endParaRPr lang="zh-CN" alt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5" name="Rectangle 1"/>
          <p:cNvSpPr>
            <a:spLocks noChangeArrowheads="1"/>
          </p:cNvSpPr>
          <p:nvPr/>
        </p:nvSpPr>
        <p:spPr bwMode="auto">
          <a:xfrm>
            <a:off x="857224" y="1668320"/>
            <a:ext cx="7643866" cy="43396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zh-CN" sz="23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Introduction</a:t>
            </a:r>
            <a:endParaRPr kumimoji="0" lang="en-US" altLang="zh-CN" sz="23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zh-CN" sz="23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The Vector Potential </a:t>
            </a:r>
            <a:r>
              <a:rPr kumimoji="0" lang="en-US" altLang="zh-CN" sz="2300" b="1" i="1"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A</a:t>
            </a:r>
            <a:r>
              <a:rPr kumimoji="0" lang="en-US" altLang="zh-CN" sz="23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for an Electric Current Source </a:t>
            </a:r>
            <a:r>
              <a:rPr kumimoji="0" lang="en-US" altLang="zh-CN" sz="2300" b="1" i="1"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J</a:t>
            </a:r>
            <a:endParaRPr kumimoji="0" lang="en-US" altLang="zh-CN" sz="2300" b="1" i="1"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457200" lvl="0" indent="-457200" eaLnBrk="0" fontAlgn="base" hangingPunct="0">
              <a:lnSpc>
                <a:spcPct val="150000"/>
              </a:lnSpc>
              <a:spcBef>
                <a:spcPct val="0"/>
              </a:spcBef>
              <a:spcAft>
                <a:spcPct val="0"/>
              </a:spcAft>
              <a:buFont typeface="+mj-lt"/>
              <a:buAutoNum type="arabicPeriod"/>
            </a:pPr>
            <a:r>
              <a:rPr lang="en-US" altLang="zh-CN" sz="2300" dirty="0" smtClean="0">
                <a:latin typeface="Times New Roman" pitchFamily="18" charset="0"/>
                <a:ea typeface="微软雅黑" pitchFamily="34" charset="-122"/>
                <a:cs typeface="Times New Roman" pitchFamily="18" charset="0"/>
              </a:rPr>
              <a:t>The Vector Potential </a:t>
            </a:r>
            <a:r>
              <a:rPr lang="en-US" altLang="zh-CN" sz="2300" b="1" i="1" dirty="0" smtClean="0">
                <a:latin typeface="Times New Roman" pitchFamily="18" charset="0"/>
                <a:ea typeface="微软雅黑" pitchFamily="34" charset="-122"/>
                <a:cs typeface="Times New Roman" pitchFamily="18" charset="0"/>
              </a:rPr>
              <a:t>F</a:t>
            </a:r>
            <a:r>
              <a:rPr lang="en-US" altLang="zh-CN" sz="2300" dirty="0" smtClean="0">
                <a:latin typeface="Times New Roman" pitchFamily="18" charset="0"/>
                <a:ea typeface="微软雅黑" pitchFamily="34" charset="-122"/>
                <a:cs typeface="Times New Roman" pitchFamily="18" charset="0"/>
              </a:rPr>
              <a:t> for an Magnetic Current Source </a:t>
            </a:r>
            <a:r>
              <a:rPr lang="en-US" altLang="zh-CN" sz="2300" b="1" i="1" dirty="0" smtClean="0">
                <a:latin typeface="Times New Roman" pitchFamily="18" charset="0"/>
                <a:ea typeface="微软雅黑" pitchFamily="34" charset="-122"/>
                <a:cs typeface="Times New Roman" pitchFamily="18" charset="0"/>
              </a:rPr>
              <a:t>M</a:t>
            </a:r>
            <a:endParaRPr lang="en-US" altLang="zh-CN" sz="2300" dirty="0" smtClean="0">
              <a:latin typeface="Times New Roman" pitchFamily="18" charset="0"/>
              <a:ea typeface="微软雅黑" pitchFamily="34" charset="-122"/>
              <a:cs typeface="Times New Roman" pitchFamily="18" charset="0"/>
            </a:endParaRPr>
          </a:p>
          <a:p>
            <a:pPr marL="457200" indent="-457200" eaLnBrk="0" fontAlgn="base" hangingPunct="0">
              <a:lnSpc>
                <a:spcPct val="150000"/>
              </a:lnSpc>
              <a:spcBef>
                <a:spcPct val="0"/>
              </a:spcBef>
              <a:spcAft>
                <a:spcPct val="0"/>
              </a:spcAft>
              <a:buFont typeface="+mj-lt"/>
              <a:buAutoNum type="arabicPeriod"/>
            </a:pPr>
            <a:r>
              <a:rPr lang="en-US" altLang="zh-CN" sz="2300" dirty="0" smtClean="0">
                <a:latin typeface="Times New Roman" pitchFamily="18" charset="0"/>
                <a:ea typeface="微软雅黑" pitchFamily="34" charset="-122"/>
                <a:cs typeface="Times New Roman" pitchFamily="18" charset="0"/>
              </a:rPr>
              <a:t>Solution of the Inhomogeneous Vector Potential Wave Equation</a:t>
            </a:r>
            <a:endParaRPr lang="en-US" altLang="zh-CN" sz="2300" dirty="0" smtClean="0">
              <a:latin typeface="Arial" pitchFamily="34" charset="0"/>
              <a:ea typeface="宋体" pitchFamily="2" charset="-122"/>
              <a:cs typeface="宋体" pitchFamily="2" charset="-122"/>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zh-CN" sz="23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Far-Field Radiation from Electric and Magnetic Currents</a:t>
            </a:r>
            <a:endParaRPr kumimoji="0" lang="en-US" altLang="zh-CN" sz="23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zh-CN" sz="23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Duality Theorem</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zh-CN" sz="23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Reciprocity Theorem</a:t>
            </a:r>
            <a:endParaRPr kumimoji="0" lang="en-US" altLang="zh-CN" sz="23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4" name="Picture 3"/>
          <p:cNvPicPr>
            <a:picLocks noChangeAspect="1" noChangeArrowheads="1"/>
          </p:cNvPicPr>
          <p:nvPr/>
        </p:nvPicPr>
        <p:blipFill>
          <a:blip r:embed="rId2" cstate="print"/>
          <a:srcRect/>
          <a:stretch>
            <a:fillRect/>
          </a:stretch>
        </p:blipFill>
        <p:spPr bwMode="auto">
          <a:xfrm>
            <a:off x="1" y="0"/>
            <a:ext cx="9144000" cy="1000125"/>
          </a:xfrm>
          <a:prstGeom prst="rect">
            <a:avLst/>
          </a:prstGeom>
          <a:noFill/>
          <a:ln w="9525">
            <a:noFill/>
            <a:miter lim="800000"/>
            <a:headEnd/>
            <a:tailEnd/>
          </a:ln>
          <a:effectLst/>
        </p:spPr>
      </p:pic>
      <p:sp>
        <p:nvSpPr>
          <p:cNvPr id="6" name="TextBox 5"/>
          <p:cNvSpPr txBox="1"/>
          <p:nvPr/>
        </p:nvSpPr>
        <p:spPr>
          <a:xfrm>
            <a:off x="2195736" y="116632"/>
            <a:ext cx="5040560" cy="769441"/>
          </a:xfrm>
          <a:prstGeom prst="rect">
            <a:avLst/>
          </a:prstGeom>
          <a:noFill/>
        </p:spPr>
        <p:txBody>
          <a:bodyPr wrap="square" rtlCol="0">
            <a:spAutoFit/>
          </a:bodyPr>
          <a:lstStyle/>
          <a:p>
            <a:pPr algn="ctr"/>
            <a:r>
              <a:rPr lang="en-US" altLang="zh-CN" sz="4400" dirty="0" smtClean="0">
                <a:solidFill>
                  <a:srgbClr val="FFFF00"/>
                </a:solidFill>
              </a:rPr>
              <a:t>Agenda</a:t>
            </a:r>
            <a:endParaRPr lang="zh-CN" altLang="en-US" sz="4400" dirty="0">
              <a:solidFill>
                <a:srgbClr val="FFFF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5841" name="Object 1"/>
          <p:cNvGraphicFramePr>
            <a:graphicFrameLocks noChangeAspect="1"/>
          </p:cNvGraphicFramePr>
          <p:nvPr/>
        </p:nvGraphicFramePr>
        <p:xfrm>
          <a:off x="1619672" y="1844824"/>
          <a:ext cx="6072230" cy="4523271"/>
        </p:xfrm>
        <a:graphic>
          <a:graphicData uri="http://schemas.openxmlformats.org/presentationml/2006/ole">
            <mc:AlternateContent xmlns:mc="http://schemas.openxmlformats.org/markup-compatibility/2006">
              <mc:Choice xmlns:v="urn:schemas-microsoft-com:vml" Requires="v">
                <p:oleObj spid="_x0000_s35844" name="Visio" r:id="rId3" imgW="4991068" imgH="3719415" progId="Visio.Drawing.11">
                  <p:embed/>
                </p:oleObj>
              </mc:Choice>
              <mc:Fallback>
                <p:oleObj name="Visio" r:id="rId3" imgW="4991068" imgH="3719415"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1844824"/>
                        <a:ext cx="6072230" cy="4523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3"/>
          <p:cNvPicPr>
            <a:picLocks noChangeAspect="1" noChangeArrowheads="1"/>
          </p:cNvPicPr>
          <p:nvPr/>
        </p:nvPicPr>
        <p:blipFill>
          <a:blip r:embed="rId5" cstate="print"/>
          <a:srcRect/>
          <a:stretch>
            <a:fillRect/>
          </a:stretch>
        </p:blipFill>
        <p:spPr bwMode="auto">
          <a:xfrm>
            <a:off x="1" y="0"/>
            <a:ext cx="9144000" cy="1000125"/>
          </a:xfrm>
          <a:prstGeom prst="rect">
            <a:avLst/>
          </a:prstGeom>
          <a:noFill/>
          <a:ln w="9525">
            <a:noFill/>
            <a:miter lim="800000"/>
            <a:headEnd/>
            <a:tailEnd/>
          </a:ln>
          <a:effectLst/>
        </p:spPr>
      </p:pic>
      <p:sp>
        <p:nvSpPr>
          <p:cNvPr id="7" name="TextBox 6"/>
          <p:cNvSpPr txBox="1"/>
          <p:nvPr/>
        </p:nvSpPr>
        <p:spPr>
          <a:xfrm>
            <a:off x="323528" y="1124744"/>
            <a:ext cx="8496944" cy="553998"/>
          </a:xfrm>
          <a:prstGeom prst="rect">
            <a:avLst/>
          </a:prstGeom>
          <a:noFill/>
        </p:spPr>
        <p:txBody>
          <a:bodyPr wrap="square" rtlCol="0">
            <a:spAutoFit/>
          </a:bodyPr>
          <a:lstStyle/>
          <a:p>
            <a:pPr algn="ctr"/>
            <a:r>
              <a:rPr lang="en-US" altLang="zh-CN" sz="3000" dirty="0" smtClean="0"/>
              <a:t>Two methods to solve the electric and magnetic fields</a:t>
            </a:r>
            <a:endParaRPr lang="zh-CN" altLang="en-US" sz="3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cstate="print"/>
          <a:srcRect/>
          <a:stretch>
            <a:fillRect/>
          </a:stretch>
        </p:blipFill>
        <p:spPr bwMode="auto">
          <a:xfrm>
            <a:off x="1" y="0"/>
            <a:ext cx="9144000" cy="1000125"/>
          </a:xfrm>
          <a:prstGeom prst="rect">
            <a:avLst/>
          </a:prstGeom>
          <a:noFill/>
          <a:ln w="9525">
            <a:noFill/>
            <a:miter lim="800000"/>
            <a:headEnd/>
            <a:tailEnd/>
          </a:ln>
          <a:effectLst/>
        </p:spPr>
      </p:pic>
      <p:sp>
        <p:nvSpPr>
          <p:cNvPr id="3" name="TextBox 2"/>
          <p:cNvSpPr txBox="1"/>
          <p:nvPr/>
        </p:nvSpPr>
        <p:spPr>
          <a:xfrm>
            <a:off x="611560" y="1628800"/>
            <a:ext cx="7848872" cy="4524315"/>
          </a:xfrm>
          <a:prstGeom prst="rect">
            <a:avLst/>
          </a:prstGeom>
          <a:noFill/>
        </p:spPr>
        <p:txBody>
          <a:bodyPr wrap="square" rtlCol="0">
            <a:spAutoFit/>
          </a:bodyPr>
          <a:lstStyle/>
          <a:p>
            <a:pPr marL="457200" indent="-457200">
              <a:buFont typeface="Wingdings" pitchFamily="2" charset="2"/>
              <a:buChar char="n"/>
            </a:pPr>
            <a:r>
              <a:rPr lang="en-US" altLang="zh-CN" sz="2400" dirty="0" smtClean="0">
                <a:latin typeface="Times New Roman" pitchFamily="18" charset="0"/>
                <a:cs typeface="Times New Roman" pitchFamily="18" charset="0"/>
              </a:rPr>
              <a:t>The most common vector potential functions are the </a:t>
            </a:r>
            <a:r>
              <a:rPr lang="en-US" altLang="zh-CN" sz="2400" b="1" i="1" dirty="0" smtClean="0">
                <a:latin typeface="Times New Roman" pitchFamily="18" charset="0"/>
                <a:cs typeface="Times New Roman" pitchFamily="18" charset="0"/>
              </a:rPr>
              <a:t>A</a:t>
            </a:r>
            <a:r>
              <a:rPr lang="en-US" altLang="zh-CN" sz="2400" b="1" dirty="0" smtClean="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a:t>
            </a:r>
            <a:r>
              <a:rPr lang="en-US" altLang="zh-CN" sz="2400" dirty="0" smtClean="0">
                <a:solidFill>
                  <a:srgbClr val="FF0000"/>
                </a:solidFill>
                <a:latin typeface="Times New Roman" pitchFamily="18" charset="0"/>
                <a:cs typeface="Times New Roman" pitchFamily="18" charset="0"/>
              </a:rPr>
              <a:t>magnetic vector potential</a:t>
            </a:r>
            <a:r>
              <a:rPr lang="en-US" altLang="zh-CN" sz="2400" dirty="0" smtClean="0">
                <a:latin typeface="Times New Roman" pitchFamily="18" charset="0"/>
                <a:cs typeface="Times New Roman" pitchFamily="18" charset="0"/>
              </a:rPr>
              <a:t>) and</a:t>
            </a:r>
            <a:r>
              <a:rPr lang="en-US" altLang="zh-CN" sz="2400" b="1" dirty="0" smtClean="0">
                <a:latin typeface="Times New Roman" pitchFamily="18" charset="0"/>
                <a:cs typeface="Times New Roman" pitchFamily="18" charset="0"/>
              </a:rPr>
              <a:t> </a:t>
            </a:r>
            <a:r>
              <a:rPr lang="en-US" altLang="zh-CN" sz="2400" b="1" i="1" dirty="0" smtClean="0">
                <a:latin typeface="Times New Roman" pitchFamily="18" charset="0"/>
                <a:cs typeface="Times New Roman" pitchFamily="18" charset="0"/>
              </a:rPr>
              <a:t>F</a:t>
            </a:r>
            <a:r>
              <a:rPr lang="en-US" altLang="zh-CN" sz="2400" b="1" dirty="0" smtClean="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a:t>
            </a:r>
            <a:r>
              <a:rPr lang="en-US" altLang="zh-CN" sz="2400" dirty="0" smtClean="0">
                <a:solidFill>
                  <a:srgbClr val="FF0000"/>
                </a:solidFill>
                <a:latin typeface="Times New Roman" pitchFamily="18" charset="0"/>
                <a:cs typeface="Times New Roman" pitchFamily="18" charset="0"/>
              </a:rPr>
              <a:t>electric vector potential</a:t>
            </a:r>
            <a:r>
              <a:rPr lang="en-US" altLang="zh-CN" sz="2400" dirty="0" smtClean="0">
                <a:latin typeface="Times New Roman" pitchFamily="18" charset="0"/>
                <a:cs typeface="Times New Roman" pitchFamily="18" charset="0"/>
              </a:rPr>
              <a:t>). Another pair is the </a:t>
            </a:r>
            <a:r>
              <a:rPr lang="en-US" altLang="zh-CN" sz="2400" dirty="0" smtClean="0">
                <a:solidFill>
                  <a:srgbClr val="FF0000"/>
                </a:solidFill>
                <a:latin typeface="Times New Roman" pitchFamily="18" charset="0"/>
                <a:cs typeface="Times New Roman" pitchFamily="18" charset="0"/>
              </a:rPr>
              <a:t>Hertz potentials</a:t>
            </a:r>
            <a:r>
              <a:rPr lang="en-US" altLang="zh-CN" sz="2400" dirty="0" smtClean="0">
                <a:latin typeface="Times New Roman" pitchFamily="18" charset="0"/>
                <a:cs typeface="Times New Roman" pitchFamily="18" charset="0"/>
              </a:rPr>
              <a:t> </a:t>
            </a:r>
            <a:r>
              <a:rPr lang="az-Cyrl-AZ" altLang="zh-CN" sz="2400" b="1" i="1" dirty="0" smtClean="0">
                <a:latin typeface="Times New Roman" pitchFamily="18" charset="0"/>
                <a:cs typeface="Times New Roman" pitchFamily="18" charset="0"/>
              </a:rPr>
              <a:t>П</a:t>
            </a:r>
            <a:r>
              <a:rPr lang="en-US" altLang="zh-CN" sz="2400" i="1" baseline="-25000" dirty="0" smtClean="0">
                <a:latin typeface="Times New Roman" pitchFamily="18" charset="0"/>
                <a:cs typeface="Times New Roman" pitchFamily="18" charset="0"/>
              </a:rPr>
              <a:t>e</a:t>
            </a:r>
            <a:r>
              <a:rPr lang="en-US" altLang="zh-CN" sz="2400" i="1" dirty="0" smtClean="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and</a:t>
            </a:r>
            <a:r>
              <a:rPr lang="en-US" altLang="zh-CN" sz="2400" i="1" dirty="0" smtClean="0">
                <a:latin typeface="Times New Roman" pitchFamily="18" charset="0"/>
                <a:cs typeface="Times New Roman" pitchFamily="18" charset="0"/>
              </a:rPr>
              <a:t> </a:t>
            </a:r>
            <a:r>
              <a:rPr lang="az-Cyrl-AZ" altLang="zh-CN" sz="2400" b="1" i="1" dirty="0" smtClean="0">
                <a:latin typeface="Times New Roman" pitchFamily="18" charset="0"/>
                <a:cs typeface="Times New Roman" pitchFamily="18" charset="0"/>
              </a:rPr>
              <a:t>П</a:t>
            </a:r>
            <a:r>
              <a:rPr lang="en-US" altLang="zh-CN" sz="2400" i="1" baseline="-25000" dirty="0" smtClean="0">
                <a:latin typeface="Times New Roman" pitchFamily="18" charset="0"/>
                <a:cs typeface="Times New Roman" pitchFamily="18" charset="0"/>
              </a:rPr>
              <a:t>h</a:t>
            </a:r>
            <a:r>
              <a:rPr lang="en-US" altLang="zh-CN" sz="2400" dirty="0" smtClean="0">
                <a:latin typeface="Times New Roman" pitchFamily="18" charset="0"/>
                <a:cs typeface="Times New Roman" pitchFamily="18" charset="0"/>
              </a:rPr>
              <a:t>. In this lesson, we only talk about </a:t>
            </a:r>
            <a:r>
              <a:rPr lang="en-US" altLang="zh-CN" sz="2400" b="1" i="1"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 and </a:t>
            </a:r>
            <a:r>
              <a:rPr lang="en-US" altLang="zh-CN" sz="2400" b="1" i="1" dirty="0" smtClean="0">
                <a:latin typeface="Times New Roman" pitchFamily="18" charset="0"/>
                <a:cs typeface="Times New Roman" pitchFamily="18" charset="0"/>
              </a:rPr>
              <a:t>F</a:t>
            </a:r>
            <a:r>
              <a:rPr lang="en-US" altLang="zh-CN" sz="2400" dirty="0" smtClean="0">
                <a:latin typeface="Times New Roman" pitchFamily="18" charset="0"/>
                <a:cs typeface="Times New Roman" pitchFamily="18" charset="0"/>
              </a:rPr>
              <a:t>. </a:t>
            </a:r>
          </a:p>
          <a:p>
            <a:pPr marL="457200" indent="-457200">
              <a:buFont typeface="Wingdings" pitchFamily="2" charset="2"/>
              <a:buChar char="n"/>
            </a:pPr>
            <a:r>
              <a:rPr lang="en-US" altLang="zh-CN" sz="2400" dirty="0" smtClean="0">
                <a:latin typeface="Times New Roman" pitchFamily="18" charset="0"/>
                <a:cs typeface="Times New Roman" pitchFamily="18" charset="0"/>
              </a:rPr>
              <a:t>Related to </a:t>
            </a:r>
            <a:r>
              <a:rPr lang="en-US" altLang="zh-CN" sz="2400" b="1" i="1"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 and </a:t>
            </a:r>
            <a:r>
              <a:rPr lang="en-US" altLang="zh-CN" sz="2400" b="1" i="1" dirty="0" smtClean="0">
                <a:latin typeface="Times New Roman" pitchFamily="18" charset="0"/>
                <a:cs typeface="Times New Roman" pitchFamily="18" charset="0"/>
              </a:rPr>
              <a:t>F</a:t>
            </a:r>
            <a:r>
              <a:rPr lang="en-US" altLang="zh-CN" sz="2400" dirty="0" smtClean="0">
                <a:latin typeface="Times New Roman" pitchFamily="18" charset="0"/>
                <a:cs typeface="Times New Roman" pitchFamily="18" charset="0"/>
              </a:rPr>
              <a:t> are </a:t>
            </a:r>
            <a:r>
              <a:rPr lang="el-GR" altLang="zh-CN" sz="2400" i="1" dirty="0" smtClean="0">
                <a:latin typeface="Times New Roman" pitchFamily="18" charset="0"/>
                <a:cs typeface="Times New Roman" pitchFamily="18" charset="0"/>
              </a:rPr>
              <a:t>φ</a:t>
            </a:r>
            <a:r>
              <a:rPr lang="en-US" altLang="zh-CN" sz="2400" dirty="0" smtClean="0">
                <a:latin typeface="Times New Roman" pitchFamily="18" charset="0"/>
                <a:cs typeface="Times New Roman" pitchFamily="18" charset="0"/>
              </a:rPr>
              <a:t> (</a:t>
            </a:r>
            <a:r>
              <a:rPr lang="en-US" altLang="zh-CN" sz="2400" dirty="0" smtClean="0">
                <a:solidFill>
                  <a:srgbClr val="FF0000"/>
                </a:solidFill>
                <a:latin typeface="Times New Roman" pitchFamily="18" charset="0"/>
                <a:cs typeface="Times New Roman" pitchFamily="18" charset="0"/>
              </a:rPr>
              <a:t>electric scalar potential</a:t>
            </a:r>
            <a:r>
              <a:rPr lang="en-US" altLang="zh-CN" sz="2400" dirty="0" smtClean="0">
                <a:latin typeface="Times New Roman" pitchFamily="18" charset="0"/>
                <a:cs typeface="Times New Roman" pitchFamily="18" charset="0"/>
              </a:rPr>
              <a:t>) and </a:t>
            </a:r>
            <a:r>
              <a:rPr lang="el-GR" altLang="zh-CN" sz="2400" i="1" dirty="0" smtClean="0">
                <a:latin typeface="Times New Roman" pitchFamily="18" charset="0"/>
                <a:cs typeface="Times New Roman" pitchFamily="18" charset="0"/>
              </a:rPr>
              <a:t>φ</a:t>
            </a:r>
            <a:r>
              <a:rPr lang="en-US" altLang="zh-CN" sz="2400" baseline="-25000" dirty="0" smtClean="0">
                <a:latin typeface="Times New Roman" pitchFamily="18" charset="0"/>
                <a:cs typeface="Times New Roman" pitchFamily="18" charset="0"/>
              </a:rPr>
              <a:t>m</a:t>
            </a:r>
            <a:r>
              <a:rPr lang="en-US" altLang="zh-CN" sz="2400" dirty="0" smtClean="0">
                <a:latin typeface="Times New Roman" pitchFamily="18" charset="0"/>
                <a:cs typeface="Times New Roman" pitchFamily="18" charset="0"/>
              </a:rPr>
              <a:t> (</a:t>
            </a:r>
            <a:r>
              <a:rPr lang="en-US" altLang="zh-CN" sz="2400" dirty="0" smtClean="0">
                <a:solidFill>
                  <a:srgbClr val="FF0000"/>
                </a:solidFill>
                <a:latin typeface="Times New Roman" pitchFamily="18" charset="0"/>
                <a:cs typeface="Times New Roman" pitchFamily="18" charset="0"/>
              </a:rPr>
              <a:t>magnetic scalar potential</a:t>
            </a:r>
            <a:r>
              <a:rPr lang="en-US" altLang="zh-CN" sz="2400" dirty="0" smtClean="0">
                <a:latin typeface="Times New Roman" pitchFamily="18" charset="0"/>
                <a:cs typeface="Times New Roman" pitchFamily="18" charset="0"/>
              </a:rPr>
              <a:t>) respectively. </a:t>
            </a:r>
          </a:p>
          <a:p>
            <a:pPr marL="457200" indent="-457200">
              <a:buFont typeface="Wingdings" pitchFamily="2" charset="2"/>
              <a:buChar char="n"/>
            </a:pPr>
            <a:r>
              <a:rPr lang="en-US" altLang="zh-CN" sz="2400" dirty="0" smtClean="0">
                <a:latin typeface="Times New Roman" pitchFamily="18" charset="0"/>
                <a:cs typeface="Times New Roman" pitchFamily="18" charset="0"/>
              </a:rPr>
              <a:t>All potentials are strictly mathematical tools, they do not present any physically measurable variables.</a:t>
            </a:r>
          </a:p>
          <a:p>
            <a:pPr marL="457200" indent="-457200">
              <a:buFont typeface="Wingdings" pitchFamily="2" charset="2"/>
              <a:buChar char="n"/>
            </a:pPr>
            <a:r>
              <a:rPr lang="en-US" altLang="zh-CN" sz="2400" dirty="0" smtClean="0">
                <a:latin typeface="Times New Roman" pitchFamily="18" charset="0"/>
                <a:cs typeface="Times New Roman" pitchFamily="18" charset="0"/>
              </a:rPr>
              <a:t>The most difficult operation in the two-step procedure is the integration to determine </a:t>
            </a:r>
            <a:r>
              <a:rPr lang="en-US" altLang="zh-CN" sz="2400" b="1" i="1" dirty="0" smtClean="0">
                <a:latin typeface="Times New Roman" pitchFamily="18" charset="0"/>
                <a:cs typeface="Times New Roman" pitchFamily="18" charset="0"/>
              </a:rPr>
              <a:t>A</a:t>
            </a:r>
            <a:r>
              <a:rPr lang="en-US" altLang="zh-CN" sz="2400" b="1" dirty="0" smtClean="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and</a:t>
            </a:r>
            <a:r>
              <a:rPr lang="en-US" altLang="zh-CN" sz="2400" b="1" dirty="0" smtClean="0">
                <a:latin typeface="Times New Roman" pitchFamily="18" charset="0"/>
                <a:cs typeface="Times New Roman" pitchFamily="18" charset="0"/>
              </a:rPr>
              <a:t> </a:t>
            </a:r>
            <a:r>
              <a:rPr lang="en-US" altLang="zh-CN" sz="2400" b="1" i="1" dirty="0" smtClean="0">
                <a:latin typeface="Times New Roman" pitchFamily="18" charset="0"/>
                <a:cs typeface="Times New Roman" pitchFamily="18" charset="0"/>
              </a:rPr>
              <a:t>F</a:t>
            </a:r>
            <a:r>
              <a:rPr lang="en-US" altLang="zh-CN" sz="2400" dirty="0" smtClean="0">
                <a:latin typeface="Times New Roman" pitchFamily="18" charset="0"/>
                <a:cs typeface="Times New Roman" pitchFamily="18" charset="0"/>
              </a:rPr>
              <a:t>.</a:t>
            </a:r>
            <a:r>
              <a:rPr lang="en-US" altLang="zh-CN" sz="2400" b="1" i="1" dirty="0" smtClean="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Once </a:t>
            </a:r>
            <a:r>
              <a:rPr lang="en-US" altLang="zh-CN" sz="2400" b="1" i="1" dirty="0" smtClean="0">
                <a:latin typeface="Times New Roman" pitchFamily="18" charset="0"/>
                <a:cs typeface="Times New Roman" pitchFamily="18" charset="0"/>
              </a:rPr>
              <a:t>A</a:t>
            </a:r>
            <a:r>
              <a:rPr lang="en-US" altLang="zh-CN" sz="2400" b="1" dirty="0" smtClean="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and</a:t>
            </a:r>
            <a:r>
              <a:rPr lang="en-US" altLang="zh-CN" sz="2400" b="1" dirty="0" smtClean="0">
                <a:latin typeface="Times New Roman" pitchFamily="18" charset="0"/>
                <a:cs typeface="Times New Roman" pitchFamily="18" charset="0"/>
              </a:rPr>
              <a:t> </a:t>
            </a:r>
            <a:r>
              <a:rPr lang="en-US" altLang="zh-CN" sz="2400" b="1" i="1" dirty="0" smtClean="0">
                <a:latin typeface="Times New Roman" pitchFamily="18" charset="0"/>
                <a:cs typeface="Times New Roman" pitchFamily="18" charset="0"/>
              </a:rPr>
              <a:t>F </a:t>
            </a:r>
            <a:r>
              <a:rPr lang="en-US" altLang="zh-CN" sz="2400" dirty="0" smtClean="0">
                <a:latin typeface="Times New Roman" pitchFamily="18" charset="0"/>
                <a:cs typeface="Times New Roman" pitchFamily="18" charset="0"/>
              </a:rPr>
              <a:t>are known, then </a:t>
            </a:r>
            <a:r>
              <a:rPr lang="en-US" altLang="zh-CN" sz="2400" b="1" i="1" dirty="0" smtClean="0">
                <a:latin typeface="Times New Roman" pitchFamily="18" charset="0"/>
                <a:cs typeface="Times New Roman" pitchFamily="18" charset="0"/>
              </a:rPr>
              <a:t>E</a:t>
            </a:r>
            <a:r>
              <a:rPr lang="en-US" altLang="zh-CN" sz="2400" dirty="0" smtClean="0">
                <a:latin typeface="Times New Roman" pitchFamily="18" charset="0"/>
                <a:cs typeface="Times New Roman" pitchFamily="18" charset="0"/>
              </a:rPr>
              <a:t> and </a:t>
            </a:r>
            <a:r>
              <a:rPr lang="en-US" altLang="zh-CN" sz="2400" b="1" i="1" dirty="0" smtClean="0">
                <a:latin typeface="Times New Roman" pitchFamily="18" charset="0"/>
                <a:cs typeface="Times New Roman" pitchFamily="18" charset="0"/>
              </a:rPr>
              <a:t>H</a:t>
            </a:r>
            <a:r>
              <a:rPr lang="en-US" altLang="zh-CN" sz="2400" dirty="0" smtClean="0">
                <a:latin typeface="Times New Roman" pitchFamily="18" charset="0"/>
                <a:cs typeface="Times New Roman" pitchFamily="18" charset="0"/>
              </a:rPr>
              <a:t> can be easily determined by differentiation.</a:t>
            </a:r>
            <a:endParaRPr lang="zh-CN" altLang="en-US" sz="2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5" name="TextBox 4"/>
          <p:cNvSpPr txBox="1"/>
          <p:nvPr/>
        </p:nvSpPr>
        <p:spPr>
          <a:xfrm>
            <a:off x="611560" y="1124744"/>
            <a:ext cx="8064896" cy="830997"/>
          </a:xfrm>
          <a:prstGeom prst="rect">
            <a:avLst/>
          </a:prstGeom>
          <a:noFill/>
        </p:spPr>
        <p:txBody>
          <a:bodyPr wrap="square" rtlCol="0">
            <a:spAutoFit/>
          </a:bodyPr>
          <a:lstStyle/>
          <a:p>
            <a:pPr algn="ctr"/>
            <a:r>
              <a:rPr lang="en-US" altLang="zh-CN" sz="2400" dirty="0" smtClean="0">
                <a:latin typeface="Times New Roman" pitchFamily="18" charset="0"/>
                <a:cs typeface="Times New Roman" pitchFamily="18" charset="0"/>
              </a:rPr>
              <a:t>Derive Magnetic Vector Potential </a:t>
            </a:r>
            <a:r>
              <a:rPr lang="en-US" altLang="zh-CN" sz="2400" b="1" i="1" dirty="0" smtClean="0">
                <a:latin typeface="Times New Roman" pitchFamily="18" charset="0"/>
                <a:cs typeface="Times New Roman" pitchFamily="18" charset="0"/>
              </a:rPr>
              <a:t>A </a:t>
            </a:r>
            <a:r>
              <a:rPr lang="en-US" altLang="zh-CN" sz="2400" dirty="0" smtClean="0">
                <a:latin typeface="Times New Roman" pitchFamily="18" charset="0"/>
                <a:cs typeface="Times New Roman" pitchFamily="18" charset="0"/>
              </a:rPr>
              <a:t>and Electrical Scalar Potential </a:t>
            </a:r>
            <a:r>
              <a:rPr lang="el-GR" altLang="zh-CN" sz="2400" i="1" dirty="0" smtClean="0">
                <a:latin typeface="Times New Roman" pitchFamily="18" charset="0"/>
                <a:cs typeface="Times New Roman" pitchFamily="18" charset="0"/>
              </a:rPr>
              <a:t>φ</a:t>
            </a:r>
            <a:endParaRPr lang="zh-CN" altLang="en-US" sz="2400" b="1" i="1" dirty="0">
              <a:latin typeface="Times New Roman" pitchFamily="18" charset="0"/>
              <a:cs typeface="Times New Roman" pitchFamily="18" charset="0"/>
            </a:endParaRPr>
          </a:p>
        </p:txBody>
      </p:sp>
      <p:sp>
        <p:nvSpPr>
          <p:cNvPr id="6" name="TextBox 5"/>
          <p:cNvSpPr txBox="1"/>
          <p:nvPr/>
        </p:nvSpPr>
        <p:spPr>
          <a:xfrm>
            <a:off x="683568" y="1785590"/>
            <a:ext cx="7056784"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The magnetic flux is always </a:t>
            </a:r>
            <a:r>
              <a:rPr lang="en-US" altLang="zh-CN" sz="2400" dirty="0" err="1" smtClean="0">
                <a:latin typeface="Times New Roman" pitchFamily="18" charset="0"/>
                <a:cs typeface="Times New Roman" pitchFamily="18" charset="0"/>
              </a:rPr>
              <a:t>solenoidal</a:t>
            </a:r>
            <a:r>
              <a:rPr lang="en-US" altLang="zh-CN" sz="2400" dirty="0" smtClean="0">
                <a:latin typeface="Times New Roman" pitchFamily="18" charset="0"/>
                <a:cs typeface="Times New Roman" pitchFamily="18" charset="0"/>
              </a:rPr>
              <a:t> (</a:t>
            </a:r>
            <a:r>
              <a:rPr lang="zh-CN" altLang="en-US" sz="2400" dirty="0" smtClean="0">
                <a:latin typeface="Times New Roman" pitchFamily="18" charset="0"/>
                <a:cs typeface="Times New Roman" pitchFamily="18" charset="0"/>
              </a:rPr>
              <a:t>无散场</a:t>
            </a:r>
            <a:r>
              <a:rPr lang="en-US" altLang="zh-CN" sz="2400" dirty="0" smtClean="0">
                <a:latin typeface="Times New Roman" pitchFamily="18" charset="0"/>
                <a:cs typeface="Times New Roman" pitchFamily="18" charset="0"/>
              </a:rPr>
              <a:t>)</a:t>
            </a:r>
            <a:endParaRPr lang="zh-CN" altLang="en-US" sz="2400" dirty="0">
              <a:latin typeface="Times New Roman" pitchFamily="18" charset="0"/>
              <a:cs typeface="Times New Roman" pitchFamily="18" charset="0"/>
            </a:endParaRPr>
          </a:p>
        </p:txBody>
      </p:sp>
      <p:graphicFrame>
        <p:nvGraphicFramePr>
          <p:cNvPr id="7" name="对象 6"/>
          <p:cNvGraphicFramePr>
            <a:graphicFrameLocks noChangeAspect="1"/>
          </p:cNvGraphicFramePr>
          <p:nvPr/>
        </p:nvGraphicFramePr>
        <p:xfrm>
          <a:off x="3995738" y="2319263"/>
          <a:ext cx="857250" cy="266700"/>
        </p:xfrm>
        <a:graphic>
          <a:graphicData uri="http://schemas.openxmlformats.org/presentationml/2006/ole">
            <mc:AlternateContent xmlns:mc="http://schemas.openxmlformats.org/markup-compatibility/2006">
              <mc:Choice xmlns:v="urn:schemas-microsoft-com:vml" Requires="v">
                <p:oleObj spid="_x0000_s58394" name="Equation" r:id="rId4" imgW="571320" imgH="177480" progId="Equation.DSMT4">
                  <p:embed/>
                </p:oleObj>
              </mc:Choice>
              <mc:Fallback>
                <p:oleObj name="Equation" r:id="rId4" imgW="571320" imgH="177480" progId="Equation.DSMT4">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738" y="2319263"/>
                        <a:ext cx="85725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0" name="组合 29"/>
          <p:cNvGrpSpPr/>
          <p:nvPr/>
        </p:nvGrpSpPr>
        <p:grpSpPr>
          <a:xfrm>
            <a:off x="755576" y="3471391"/>
            <a:ext cx="6336704" cy="461665"/>
            <a:chOff x="755576" y="3471391"/>
            <a:chExt cx="6336704" cy="461665"/>
          </a:xfrm>
        </p:grpSpPr>
        <p:graphicFrame>
          <p:nvGraphicFramePr>
            <p:cNvPr id="58372" name="Object 4"/>
            <p:cNvGraphicFramePr>
              <a:graphicFrameLocks noChangeAspect="1"/>
            </p:cNvGraphicFramePr>
            <p:nvPr/>
          </p:nvGraphicFramePr>
          <p:xfrm>
            <a:off x="5195888" y="3536950"/>
            <a:ext cx="1352550" cy="381000"/>
          </p:xfrm>
          <a:graphic>
            <a:graphicData uri="http://schemas.openxmlformats.org/presentationml/2006/ole">
              <mc:AlternateContent xmlns:mc="http://schemas.openxmlformats.org/markup-compatibility/2006">
                <mc:Choice xmlns:v="urn:schemas-microsoft-com:vml" Requires="v">
                  <p:oleObj spid="_x0000_s58395" name="Equation" r:id="rId6" imgW="901440" imgH="253800" progId="Equation.DSMT4">
                    <p:embed/>
                  </p:oleObj>
                </mc:Choice>
                <mc:Fallback>
                  <p:oleObj name="Equation" r:id="rId6" imgW="901440" imgH="25380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5888" y="3536950"/>
                          <a:ext cx="13525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755576" y="3471391"/>
              <a:ext cx="6336704"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because for any vector </a:t>
              </a:r>
              <a:r>
                <a:rPr lang="en-US" altLang="zh-CN" sz="2400" b="1" i="1"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 we have</a:t>
              </a:r>
              <a:endParaRPr lang="zh-CN" altLang="en-US" sz="2400" dirty="0">
                <a:latin typeface="Times New Roman" pitchFamily="18" charset="0"/>
                <a:cs typeface="Times New Roman" pitchFamily="18" charset="0"/>
              </a:endParaRPr>
            </a:p>
          </p:txBody>
        </p:sp>
      </p:grpSp>
      <p:grpSp>
        <p:nvGrpSpPr>
          <p:cNvPr id="31" name="组合 30"/>
          <p:cNvGrpSpPr/>
          <p:nvPr/>
        </p:nvGrpSpPr>
        <p:grpSpPr>
          <a:xfrm>
            <a:off x="755576" y="3903439"/>
            <a:ext cx="7416824" cy="956429"/>
            <a:chOff x="755576" y="3903439"/>
            <a:chExt cx="7416824" cy="956429"/>
          </a:xfrm>
        </p:grpSpPr>
        <p:sp>
          <p:nvSpPr>
            <p:cNvPr id="14" name="TextBox 13"/>
            <p:cNvSpPr txBox="1"/>
            <p:nvPr/>
          </p:nvSpPr>
          <p:spPr>
            <a:xfrm>
              <a:off x="755576" y="3903439"/>
              <a:ext cx="7416824"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Substituting (3-2) into Maxwell’s curl equation</a:t>
              </a:r>
              <a:endParaRPr lang="zh-CN" altLang="en-US" sz="2400" dirty="0">
                <a:latin typeface="Times New Roman" pitchFamily="18" charset="0"/>
                <a:cs typeface="Times New Roman" pitchFamily="18" charset="0"/>
              </a:endParaRPr>
            </a:p>
          </p:txBody>
        </p:sp>
        <p:graphicFrame>
          <p:nvGraphicFramePr>
            <p:cNvPr id="15" name="对象 14"/>
            <p:cNvGraphicFramePr>
              <a:graphicFrameLocks noChangeAspect="1"/>
            </p:cNvGraphicFramePr>
            <p:nvPr/>
          </p:nvGraphicFramePr>
          <p:xfrm>
            <a:off x="3730625" y="4479925"/>
            <a:ext cx="1390650" cy="304800"/>
          </p:xfrm>
          <a:graphic>
            <a:graphicData uri="http://schemas.openxmlformats.org/presentationml/2006/ole">
              <mc:AlternateContent xmlns:mc="http://schemas.openxmlformats.org/markup-compatibility/2006">
                <mc:Choice xmlns:v="urn:schemas-microsoft-com:vml" Requires="v">
                  <p:oleObj spid="_x0000_s58396" name="Equation" r:id="rId8" imgW="927000" imgH="203040" progId="Equation.DSMT4">
                    <p:embed/>
                  </p:oleObj>
                </mc:Choice>
                <mc:Fallback>
                  <p:oleObj name="Equation" r:id="rId8" imgW="927000" imgH="203040" progId="Equation.DSMT4">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0625" y="4479925"/>
                          <a:ext cx="139065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5652120" y="4398203"/>
              <a:ext cx="800219" cy="461665"/>
            </a:xfrm>
            <a:prstGeom prst="rect">
              <a:avLst/>
            </a:prstGeom>
            <a:noFill/>
          </p:spPr>
          <p:txBody>
            <a:bodyPr wrap="none" rtlCol="0">
              <a:spAutoFit/>
            </a:bodyPr>
            <a:lstStyle/>
            <a:p>
              <a:r>
                <a:rPr lang="en-US" altLang="zh-CN" sz="2400" dirty="0" smtClean="0">
                  <a:latin typeface="Times New Roman" pitchFamily="18" charset="0"/>
                  <a:cs typeface="Times New Roman" pitchFamily="18" charset="0"/>
                </a:rPr>
                <a:t>(3-3)</a:t>
              </a:r>
              <a:endParaRPr lang="zh-CN" altLang="en-US" sz="2400" dirty="0">
                <a:latin typeface="Times New Roman" pitchFamily="18" charset="0"/>
                <a:cs typeface="Times New Roman" pitchFamily="18" charset="0"/>
              </a:endParaRPr>
            </a:p>
          </p:txBody>
        </p:sp>
      </p:grpSp>
      <p:grpSp>
        <p:nvGrpSpPr>
          <p:cNvPr id="32" name="组合 31"/>
          <p:cNvGrpSpPr/>
          <p:nvPr/>
        </p:nvGrpSpPr>
        <p:grpSpPr>
          <a:xfrm>
            <a:off x="971600" y="4665910"/>
            <a:ext cx="5480739" cy="779314"/>
            <a:chOff x="971600" y="4665910"/>
            <a:chExt cx="5480739" cy="779314"/>
          </a:xfrm>
        </p:grpSpPr>
        <p:sp>
          <p:nvSpPr>
            <p:cNvPr id="19" name="TextBox 18"/>
            <p:cNvSpPr txBox="1"/>
            <p:nvPr/>
          </p:nvSpPr>
          <p:spPr>
            <a:xfrm>
              <a:off x="971600" y="4665910"/>
              <a:ext cx="194421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reduces  it to</a:t>
              </a:r>
              <a:endParaRPr lang="zh-CN" altLang="en-US" sz="2400" dirty="0">
                <a:latin typeface="Times New Roman" pitchFamily="18" charset="0"/>
                <a:cs typeface="Times New Roman" pitchFamily="18" charset="0"/>
              </a:endParaRPr>
            </a:p>
          </p:txBody>
        </p:sp>
        <p:graphicFrame>
          <p:nvGraphicFramePr>
            <p:cNvPr id="58375" name="Object 7"/>
            <p:cNvGraphicFramePr>
              <a:graphicFrameLocks noChangeAspect="1"/>
            </p:cNvGraphicFramePr>
            <p:nvPr/>
          </p:nvGraphicFramePr>
          <p:xfrm>
            <a:off x="3578225" y="5055567"/>
            <a:ext cx="1751013" cy="381000"/>
          </p:xfrm>
          <a:graphic>
            <a:graphicData uri="http://schemas.openxmlformats.org/presentationml/2006/ole">
              <mc:AlternateContent xmlns:mc="http://schemas.openxmlformats.org/markup-compatibility/2006">
                <mc:Choice xmlns:v="urn:schemas-microsoft-com:vml" Requires="v">
                  <p:oleObj spid="_x0000_s58397" name="Equation" r:id="rId10" imgW="1168200" imgH="253800" progId="Equation.DSMT4">
                    <p:embed/>
                  </p:oleObj>
                </mc:Choice>
                <mc:Fallback>
                  <p:oleObj name="Equation" r:id="rId10" imgW="1168200" imgH="253800" progId="Equation.DSMT4">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8225" y="5055567"/>
                          <a:ext cx="175101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Box 20"/>
            <p:cNvSpPr txBox="1"/>
            <p:nvPr/>
          </p:nvSpPr>
          <p:spPr>
            <a:xfrm>
              <a:off x="5652120" y="4983559"/>
              <a:ext cx="800219" cy="461665"/>
            </a:xfrm>
            <a:prstGeom prst="rect">
              <a:avLst/>
            </a:prstGeom>
            <a:noFill/>
          </p:spPr>
          <p:txBody>
            <a:bodyPr wrap="none" rtlCol="0">
              <a:spAutoFit/>
            </a:bodyPr>
            <a:lstStyle/>
            <a:p>
              <a:r>
                <a:rPr lang="en-US" altLang="zh-CN" sz="2400" dirty="0" smtClean="0">
                  <a:latin typeface="Times New Roman" pitchFamily="18" charset="0"/>
                  <a:cs typeface="Times New Roman" pitchFamily="18" charset="0"/>
                </a:rPr>
                <a:t>(3-5)</a:t>
              </a:r>
              <a:endParaRPr lang="zh-CN" altLang="en-US" sz="2400" dirty="0">
                <a:latin typeface="Times New Roman" pitchFamily="18" charset="0"/>
                <a:cs typeface="Times New Roman" pitchFamily="18" charset="0"/>
              </a:endParaRPr>
            </a:p>
          </p:txBody>
        </p:sp>
      </p:grpSp>
      <p:grpSp>
        <p:nvGrpSpPr>
          <p:cNvPr id="29" name="组合 28"/>
          <p:cNvGrpSpPr/>
          <p:nvPr/>
        </p:nvGrpSpPr>
        <p:grpSpPr>
          <a:xfrm>
            <a:off x="755576" y="2568386"/>
            <a:ext cx="7992888" cy="1004630"/>
            <a:chOff x="755576" y="2568386"/>
            <a:chExt cx="7992888" cy="1004630"/>
          </a:xfrm>
        </p:grpSpPr>
        <p:sp>
          <p:nvSpPr>
            <p:cNvPr id="8" name="TextBox 7"/>
            <p:cNvSpPr txBox="1"/>
            <p:nvPr/>
          </p:nvSpPr>
          <p:spPr>
            <a:xfrm>
              <a:off x="755576" y="2568386"/>
              <a:ext cx="7992888"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so that </a:t>
              </a:r>
              <a:r>
                <a:rPr lang="en-US" altLang="zh-CN" sz="2400" b="1" i="1" dirty="0" smtClean="0">
                  <a:latin typeface="Times New Roman" pitchFamily="18" charset="0"/>
                  <a:cs typeface="Times New Roman" pitchFamily="18" charset="0"/>
                </a:rPr>
                <a:t>B</a:t>
              </a:r>
              <a:r>
                <a:rPr lang="en-US" altLang="zh-CN" sz="2400" dirty="0" smtClean="0">
                  <a:latin typeface="Times New Roman" pitchFamily="18" charset="0"/>
                  <a:cs typeface="Times New Roman" pitchFamily="18" charset="0"/>
                </a:rPr>
                <a:t> can be represented as the curl of another vector </a:t>
              </a:r>
              <a:r>
                <a:rPr lang="en-US" altLang="zh-CN" sz="2400" b="1" i="1" dirty="0" smtClean="0">
                  <a:latin typeface="Times New Roman" pitchFamily="18" charset="0"/>
                  <a:cs typeface="Times New Roman" pitchFamily="18" charset="0"/>
                </a:rPr>
                <a:t>A</a:t>
              </a:r>
              <a:endParaRPr lang="zh-CN" altLang="en-US" sz="2400" b="1" i="1" dirty="0">
                <a:latin typeface="Times New Roman" pitchFamily="18" charset="0"/>
                <a:cs typeface="Times New Roman" pitchFamily="18" charset="0"/>
              </a:endParaRPr>
            </a:p>
          </p:txBody>
        </p:sp>
        <p:graphicFrame>
          <p:nvGraphicFramePr>
            <p:cNvPr id="9" name="对象 8"/>
            <p:cNvGraphicFramePr>
              <a:graphicFrameLocks noChangeAspect="1"/>
            </p:cNvGraphicFramePr>
            <p:nvPr/>
          </p:nvGraphicFramePr>
          <p:xfrm>
            <a:off x="1979712" y="3064966"/>
            <a:ext cx="1560513" cy="304800"/>
          </p:xfrm>
          <a:graphic>
            <a:graphicData uri="http://schemas.openxmlformats.org/presentationml/2006/ole">
              <mc:AlternateContent xmlns:mc="http://schemas.openxmlformats.org/markup-compatibility/2006">
                <mc:Choice xmlns:v="urn:schemas-microsoft-com:vml" Requires="v">
                  <p:oleObj spid="_x0000_s58398" name="Equation" r:id="rId12" imgW="1041120" imgH="203040" progId="Equation.DSMT4">
                    <p:embed/>
                  </p:oleObj>
                </mc:Choice>
                <mc:Fallback>
                  <p:oleObj name="Equation" r:id="rId12" imgW="1041120" imgH="203040" progId="Equation.DSMT4">
                    <p:embed/>
                    <p:pic>
                      <p:nvPicPr>
                        <p:cNvPr id="0"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79712" y="3064966"/>
                          <a:ext cx="1560513"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71" name="Object 3"/>
            <p:cNvGraphicFramePr>
              <a:graphicFrameLocks noChangeAspect="1"/>
            </p:cNvGraphicFramePr>
            <p:nvPr/>
          </p:nvGraphicFramePr>
          <p:xfrm>
            <a:off x="5292080" y="2932088"/>
            <a:ext cx="1238250" cy="628650"/>
          </p:xfrm>
          <a:graphic>
            <a:graphicData uri="http://schemas.openxmlformats.org/presentationml/2006/ole">
              <mc:AlternateContent xmlns:mc="http://schemas.openxmlformats.org/markup-compatibility/2006">
                <mc:Choice xmlns:v="urn:schemas-microsoft-com:vml" Requires="v">
                  <p:oleObj spid="_x0000_s58399" name="Equation" r:id="rId14" imgW="825480" imgH="419040" progId="Equation.DSMT4">
                    <p:embed/>
                  </p:oleObj>
                </mc:Choice>
                <mc:Fallback>
                  <p:oleObj name="Equation" r:id="rId14" imgW="825480" imgH="419040" progId="Equation.DSMT4">
                    <p:embed/>
                    <p:pic>
                      <p:nvPicPr>
                        <p:cNvPr id="0"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92080" y="2932088"/>
                          <a:ext cx="1238250"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572000" y="2967335"/>
              <a:ext cx="50405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or</a:t>
              </a:r>
              <a:endParaRPr lang="zh-CN" altLang="en-US" sz="2400" dirty="0">
                <a:latin typeface="Times New Roman" pitchFamily="18" charset="0"/>
                <a:cs typeface="Times New Roman" pitchFamily="18" charset="0"/>
              </a:endParaRPr>
            </a:p>
          </p:txBody>
        </p:sp>
        <p:sp>
          <p:nvSpPr>
            <p:cNvPr id="17" name="TextBox 16"/>
            <p:cNvSpPr txBox="1"/>
            <p:nvPr/>
          </p:nvSpPr>
          <p:spPr>
            <a:xfrm>
              <a:off x="3563888" y="2937718"/>
              <a:ext cx="800219" cy="461665"/>
            </a:xfrm>
            <a:prstGeom prst="rect">
              <a:avLst/>
            </a:prstGeom>
            <a:noFill/>
          </p:spPr>
          <p:txBody>
            <a:bodyPr wrap="none" rtlCol="0">
              <a:spAutoFit/>
            </a:bodyPr>
            <a:lstStyle/>
            <a:p>
              <a:r>
                <a:rPr lang="en-US" altLang="zh-CN" sz="2400" dirty="0" smtClean="0">
                  <a:latin typeface="Times New Roman" pitchFamily="18" charset="0"/>
                  <a:cs typeface="Times New Roman" pitchFamily="18" charset="0"/>
                </a:rPr>
                <a:t>(3-2)</a:t>
              </a:r>
              <a:endParaRPr lang="zh-CN" altLang="en-US" sz="2400" dirty="0">
                <a:latin typeface="Times New Roman" pitchFamily="18" charset="0"/>
                <a:cs typeface="Times New Roman" pitchFamily="18" charset="0"/>
              </a:endParaRPr>
            </a:p>
          </p:txBody>
        </p:sp>
        <p:sp>
          <p:nvSpPr>
            <p:cNvPr id="18" name="TextBox 17"/>
            <p:cNvSpPr txBox="1"/>
            <p:nvPr/>
          </p:nvSpPr>
          <p:spPr>
            <a:xfrm>
              <a:off x="6768430" y="3009726"/>
              <a:ext cx="936475" cy="461665"/>
            </a:xfrm>
            <a:prstGeom prst="rect">
              <a:avLst/>
            </a:prstGeom>
            <a:noFill/>
          </p:spPr>
          <p:txBody>
            <a:bodyPr wrap="none" rtlCol="0">
              <a:spAutoFit/>
            </a:bodyPr>
            <a:lstStyle/>
            <a:p>
              <a:r>
                <a:rPr lang="en-US" altLang="zh-CN" sz="2400" dirty="0" smtClean="0">
                  <a:latin typeface="Times New Roman" pitchFamily="18" charset="0"/>
                  <a:cs typeface="Times New Roman" pitchFamily="18" charset="0"/>
                </a:rPr>
                <a:t>(3-2a)</a:t>
              </a:r>
              <a:endParaRPr lang="zh-CN" altLang="en-US" sz="2400" dirty="0">
                <a:latin typeface="Times New Roman" pitchFamily="18" charset="0"/>
                <a:cs typeface="Times New Roman" pitchFamily="18" charset="0"/>
              </a:endParaRPr>
            </a:p>
          </p:txBody>
        </p:sp>
        <p:sp>
          <p:nvSpPr>
            <p:cNvPr id="27" name="圆角矩形 26"/>
            <p:cNvSpPr/>
            <p:nvPr/>
          </p:nvSpPr>
          <p:spPr>
            <a:xfrm>
              <a:off x="5220072" y="2996952"/>
              <a:ext cx="1440160" cy="57606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grpSp>
      <p:grpSp>
        <p:nvGrpSpPr>
          <p:cNvPr id="33" name="组合 32"/>
          <p:cNvGrpSpPr/>
          <p:nvPr/>
        </p:nvGrpSpPr>
        <p:grpSpPr>
          <a:xfrm>
            <a:off x="899592" y="5448706"/>
            <a:ext cx="7272808" cy="1337286"/>
            <a:chOff x="899592" y="5448706"/>
            <a:chExt cx="7272808" cy="1337286"/>
          </a:xfrm>
        </p:grpSpPr>
        <p:sp>
          <p:nvSpPr>
            <p:cNvPr id="22" name="TextBox 21"/>
            <p:cNvSpPr txBox="1"/>
            <p:nvPr/>
          </p:nvSpPr>
          <p:spPr>
            <a:xfrm>
              <a:off x="899592" y="5448706"/>
              <a:ext cx="7272808" cy="830997"/>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so that it can be represented as the gradient of another scalar </a:t>
              </a:r>
              <a:r>
                <a:rPr lang="el-GR" altLang="zh-CN" sz="2400" i="1" dirty="0" smtClean="0">
                  <a:latin typeface="Times New Roman" pitchFamily="18" charset="0"/>
                  <a:cs typeface="Times New Roman" pitchFamily="18" charset="0"/>
                </a:rPr>
                <a:t>φ</a:t>
              </a:r>
              <a:endParaRPr lang="zh-CN" altLang="en-US" sz="2400" i="1" dirty="0">
                <a:latin typeface="Times New Roman" pitchFamily="18" charset="0"/>
                <a:cs typeface="Times New Roman" pitchFamily="18" charset="0"/>
              </a:endParaRPr>
            </a:p>
          </p:txBody>
        </p:sp>
        <p:graphicFrame>
          <p:nvGraphicFramePr>
            <p:cNvPr id="58376" name="Object 8"/>
            <p:cNvGraphicFramePr>
              <a:graphicFrameLocks noChangeAspect="1"/>
            </p:cNvGraphicFramePr>
            <p:nvPr/>
          </p:nvGraphicFramePr>
          <p:xfrm>
            <a:off x="3821038" y="5991671"/>
            <a:ext cx="1543050" cy="304800"/>
          </p:xfrm>
          <a:graphic>
            <a:graphicData uri="http://schemas.openxmlformats.org/presentationml/2006/ole">
              <mc:AlternateContent xmlns:mc="http://schemas.openxmlformats.org/markup-compatibility/2006">
                <mc:Choice xmlns:v="urn:schemas-microsoft-com:vml" Requires="v">
                  <p:oleObj spid="_x0000_s58400" name="Equation" r:id="rId16" imgW="1028520" imgH="203040" progId="Equation.DSMT4">
                    <p:embed/>
                  </p:oleObj>
                </mc:Choice>
                <mc:Fallback>
                  <p:oleObj name="Equation" r:id="rId16" imgW="1028520" imgH="203040" progId="Equation.DSMT4">
                    <p:embed/>
                    <p:pic>
                      <p:nvPicPr>
                        <p:cNvPr id="0" name="Picture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21038" y="5991671"/>
                          <a:ext cx="154305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TextBox 22"/>
            <p:cNvSpPr txBox="1"/>
            <p:nvPr/>
          </p:nvSpPr>
          <p:spPr>
            <a:xfrm>
              <a:off x="5740041" y="5890046"/>
              <a:ext cx="800219" cy="461665"/>
            </a:xfrm>
            <a:prstGeom prst="rect">
              <a:avLst/>
            </a:prstGeom>
            <a:noFill/>
          </p:spPr>
          <p:txBody>
            <a:bodyPr wrap="none" rtlCol="0">
              <a:spAutoFit/>
            </a:bodyPr>
            <a:lstStyle/>
            <a:p>
              <a:r>
                <a:rPr lang="en-US" altLang="zh-CN" sz="2400" dirty="0" smtClean="0">
                  <a:latin typeface="Times New Roman" pitchFamily="18" charset="0"/>
                  <a:cs typeface="Times New Roman" pitchFamily="18" charset="0"/>
                </a:rPr>
                <a:t>(3-7)</a:t>
              </a:r>
              <a:endParaRPr lang="zh-CN" altLang="en-US" sz="2400" dirty="0">
                <a:latin typeface="Times New Roman" pitchFamily="18" charset="0"/>
                <a:cs typeface="Times New Roman" pitchFamily="18" charset="0"/>
              </a:endParaRPr>
            </a:p>
          </p:txBody>
        </p:sp>
        <p:graphicFrame>
          <p:nvGraphicFramePr>
            <p:cNvPr id="58377" name="Object 9"/>
            <p:cNvGraphicFramePr>
              <a:graphicFrameLocks noChangeAspect="1"/>
            </p:cNvGraphicFramePr>
            <p:nvPr/>
          </p:nvGraphicFramePr>
          <p:xfrm>
            <a:off x="3821038" y="6406951"/>
            <a:ext cx="1543050" cy="304800"/>
          </p:xfrm>
          <a:graphic>
            <a:graphicData uri="http://schemas.openxmlformats.org/presentationml/2006/ole">
              <mc:AlternateContent xmlns:mc="http://schemas.openxmlformats.org/markup-compatibility/2006">
                <mc:Choice xmlns:v="urn:schemas-microsoft-com:vml" Requires="v">
                  <p:oleObj spid="_x0000_s58401" name="Equation" r:id="rId18" imgW="1028520" imgH="203040" progId="Equation.DSMT4">
                    <p:embed/>
                  </p:oleObj>
                </mc:Choice>
                <mc:Fallback>
                  <p:oleObj name="Equation" r:id="rId18" imgW="1028520" imgH="203040" progId="Equation.DSMT4">
                    <p:embed/>
                    <p:pic>
                      <p:nvPicPr>
                        <p:cNvPr id="0" name="Picture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21038" y="6406951"/>
                          <a:ext cx="154305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TextBox 24"/>
            <p:cNvSpPr txBox="1"/>
            <p:nvPr/>
          </p:nvSpPr>
          <p:spPr>
            <a:xfrm>
              <a:off x="5724128" y="6279703"/>
              <a:ext cx="936475" cy="461665"/>
            </a:xfrm>
            <a:prstGeom prst="rect">
              <a:avLst/>
            </a:prstGeom>
            <a:noFill/>
          </p:spPr>
          <p:txBody>
            <a:bodyPr wrap="none" rtlCol="0">
              <a:spAutoFit/>
            </a:bodyPr>
            <a:lstStyle/>
            <a:p>
              <a:r>
                <a:rPr lang="en-US" altLang="zh-CN" sz="2400" dirty="0" smtClean="0">
                  <a:latin typeface="Times New Roman" pitchFamily="18" charset="0"/>
                  <a:cs typeface="Times New Roman" pitchFamily="18" charset="0"/>
                </a:rPr>
                <a:t>(3-7a)</a:t>
              </a:r>
              <a:endParaRPr lang="zh-CN" altLang="en-US" sz="2400" dirty="0">
                <a:latin typeface="Times New Roman" pitchFamily="18" charset="0"/>
                <a:cs typeface="Times New Roman" pitchFamily="18" charset="0"/>
              </a:endParaRPr>
            </a:p>
          </p:txBody>
        </p:sp>
        <p:sp>
          <p:nvSpPr>
            <p:cNvPr id="26" name="TextBox 25"/>
            <p:cNvSpPr txBox="1"/>
            <p:nvPr/>
          </p:nvSpPr>
          <p:spPr>
            <a:xfrm>
              <a:off x="2987824" y="6207695"/>
              <a:ext cx="576064"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or</a:t>
              </a:r>
              <a:endParaRPr lang="zh-CN" altLang="en-US" sz="2400" dirty="0">
                <a:latin typeface="Times New Roman" pitchFamily="18" charset="0"/>
                <a:cs typeface="Times New Roman" pitchFamily="18" charset="0"/>
              </a:endParaRPr>
            </a:p>
          </p:txBody>
        </p:sp>
        <p:sp>
          <p:nvSpPr>
            <p:cNvPr id="28" name="圆角矩形 27"/>
            <p:cNvSpPr/>
            <p:nvPr/>
          </p:nvSpPr>
          <p:spPr>
            <a:xfrm>
              <a:off x="3779912" y="6309320"/>
              <a:ext cx="1656184" cy="47667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edge">
                                      <p:cBhvr>
                                        <p:cTn id="7" dur="20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grpSp>
        <p:nvGrpSpPr>
          <p:cNvPr id="20" name="组合 19"/>
          <p:cNvGrpSpPr/>
          <p:nvPr/>
        </p:nvGrpSpPr>
        <p:grpSpPr>
          <a:xfrm>
            <a:off x="467544" y="3975447"/>
            <a:ext cx="7488832" cy="1253753"/>
            <a:chOff x="539552" y="3615407"/>
            <a:chExt cx="7488832" cy="1253753"/>
          </a:xfrm>
        </p:grpSpPr>
        <p:sp>
          <p:nvSpPr>
            <p:cNvPr id="10" name="TextBox 9"/>
            <p:cNvSpPr txBox="1"/>
            <p:nvPr/>
          </p:nvSpPr>
          <p:spPr>
            <a:xfrm>
              <a:off x="539552" y="3615407"/>
              <a:ext cx="7488832"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Substituting (3-13) into Maxwell’s equation leads to</a:t>
              </a:r>
              <a:endParaRPr lang="zh-CN" altLang="en-US" sz="2400" dirty="0">
                <a:latin typeface="Times New Roman" pitchFamily="18" charset="0"/>
                <a:cs typeface="Times New Roman" pitchFamily="18" charset="0"/>
              </a:endParaRPr>
            </a:p>
          </p:txBody>
        </p:sp>
        <p:graphicFrame>
          <p:nvGraphicFramePr>
            <p:cNvPr id="11" name="对象 10"/>
            <p:cNvGraphicFramePr>
              <a:graphicFrameLocks noChangeAspect="1"/>
            </p:cNvGraphicFramePr>
            <p:nvPr/>
          </p:nvGraphicFramePr>
          <p:xfrm>
            <a:off x="3059832" y="4365104"/>
            <a:ext cx="2057400" cy="411162"/>
          </p:xfrm>
          <a:graphic>
            <a:graphicData uri="http://schemas.openxmlformats.org/presentationml/2006/ole">
              <mc:AlternateContent xmlns:mc="http://schemas.openxmlformats.org/markup-compatibility/2006">
                <mc:Choice xmlns:v="urn:schemas-microsoft-com:vml" Requires="v">
                  <p:oleObj spid="_x0000_s66574" name="Equation" r:id="rId4" imgW="1143000" imgH="228600" progId="Equation.DSMT4">
                    <p:embed/>
                  </p:oleObj>
                </mc:Choice>
                <mc:Fallback>
                  <p:oleObj name="Equation" r:id="rId4" imgW="1143000" imgH="228600" progId="Equation.DSMT4">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832" y="4365104"/>
                          <a:ext cx="2057400"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11"/>
            <p:cNvSpPr txBox="1"/>
            <p:nvPr/>
          </p:nvSpPr>
          <p:spPr>
            <a:xfrm>
              <a:off x="6560984" y="4293096"/>
              <a:ext cx="954107" cy="461665"/>
            </a:xfrm>
            <a:prstGeom prst="rect">
              <a:avLst/>
            </a:prstGeom>
            <a:noFill/>
          </p:spPr>
          <p:txBody>
            <a:bodyPr wrap="none" rtlCol="0">
              <a:spAutoFit/>
            </a:bodyPr>
            <a:lstStyle/>
            <a:p>
              <a:r>
                <a:rPr lang="en-US" altLang="zh-CN" sz="2400" dirty="0" smtClean="0">
                  <a:latin typeface="Times New Roman" pitchFamily="18" charset="0"/>
                  <a:cs typeface="Times New Roman" pitchFamily="18" charset="0"/>
                </a:rPr>
                <a:t>(3-14)</a:t>
              </a:r>
              <a:endParaRPr lang="zh-CN" altLang="en-US" sz="2400" dirty="0">
                <a:latin typeface="Times New Roman" pitchFamily="18" charset="0"/>
                <a:cs typeface="Times New Roman" pitchFamily="18" charset="0"/>
              </a:endParaRPr>
            </a:p>
          </p:txBody>
        </p:sp>
        <p:sp>
          <p:nvSpPr>
            <p:cNvPr id="13" name="矩形 12"/>
            <p:cNvSpPr/>
            <p:nvPr/>
          </p:nvSpPr>
          <p:spPr>
            <a:xfrm>
              <a:off x="2987824" y="4221088"/>
              <a:ext cx="2232248"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grpSp>
      <p:grpSp>
        <p:nvGrpSpPr>
          <p:cNvPr id="17" name="组合 16"/>
          <p:cNvGrpSpPr/>
          <p:nvPr/>
        </p:nvGrpSpPr>
        <p:grpSpPr>
          <a:xfrm>
            <a:off x="395536" y="1652607"/>
            <a:ext cx="8352928" cy="2064425"/>
            <a:chOff x="467544" y="1292567"/>
            <a:chExt cx="8352928" cy="2064425"/>
          </a:xfrm>
        </p:grpSpPr>
        <p:sp>
          <p:nvSpPr>
            <p:cNvPr id="3" name="TextBox 2"/>
            <p:cNvSpPr txBox="1"/>
            <p:nvPr/>
          </p:nvSpPr>
          <p:spPr>
            <a:xfrm>
              <a:off x="467544" y="1292567"/>
              <a:ext cx="8352928" cy="1200329"/>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The curl of </a:t>
              </a:r>
              <a:r>
                <a:rPr lang="en-US" altLang="zh-CN" sz="2400" b="1" i="1"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 was defined, now we are at liberty to define the divergence of </a:t>
              </a:r>
              <a:r>
                <a:rPr lang="en-US" altLang="zh-CN" sz="2400" b="1" i="1"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 which is independent of its curl. We can define the following Lorentz condition</a:t>
              </a:r>
              <a:endParaRPr lang="zh-CN" altLang="en-US" sz="2400" dirty="0" smtClean="0">
                <a:latin typeface="Times New Roman" pitchFamily="18" charset="0"/>
                <a:cs typeface="Times New Roman" pitchFamily="18" charset="0"/>
              </a:endParaRPr>
            </a:p>
          </p:txBody>
        </p:sp>
        <p:graphicFrame>
          <p:nvGraphicFramePr>
            <p:cNvPr id="4" name="对象 3"/>
            <p:cNvGraphicFramePr>
              <a:graphicFrameLocks noChangeAspect="1"/>
            </p:cNvGraphicFramePr>
            <p:nvPr/>
          </p:nvGraphicFramePr>
          <p:xfrm>
            <a:off x="2195736" y="2802186"/>
            <a:ext cx="1804987" cy="365125"/>
          </p:xfrm>
          <a:graphic>
            <a:graphicData uri="http://schemas.openxmlformats.org/presentationml/2006/ole">
              <mc:AlternateContent xmlns:mc="http://schemas.openxmlformats.org/markup-compatibility/2006">
                <mc:Choice xmlns:v="urn:schemas-microsoft-com:vml" Requires="v">
                  <p:oleObj spid="_x0000_s66575" name="Equation" r:id="rId6" imgW="1002960" imgH="203040" progId="Equation.DSMT4">
                    <p:embed/>
                  </p:oleObj>
                </mc:Choice>
                <mc:Fallback>
                  <p:oleObj name="Equation" r:id="rId6" imgW="1002960" imgH="203040" progId="Equation.DSMT4">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736" y="2802186"/>
                          <a:ext cx="1804987"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3" name="Object 3"/>
            <p:cNvGraphicFramePr>
              <a:graphicFrameLocks noChangeAspect="1"/>
            </p:cNvGraphicFramePr>
            <p:nvPr/>
          </p:nvGraphicFramePr>
          <p:xfrm>
            <a:off x="4691161" y="2602929"/>
            <a:ext cx="1897063" cy="754063"/>
          </p:xfrm>
          <a:graphic>
            <a:graphicData uri="http://schemas.openxmlformats.org/presentationml/2006/ole">
              <mc:AlternateContent xmlns:mc="http://schemas.openxmlformats.org/markup-compatibility/2006">
                <mc:Choice xmlns:v="urn:schemas-microsoft-com:vml" Requires="v">
                  <p:oleObj spid="_x0000_s66576" name="Equation" r:id="rId8" imgW="1054080" imgH="419040" progId="Equation.DSMT4">
                    <p:embed/>
                  </p:oleObj>
                </mc:Choice>
                <mc:Fallback>
                  <p:oleObj name="Equation" r:id="rId8" imgW="1054080" imgH="419040" progId="Equation.DSMT4">
                    <p:embed/>
                    <p:pic>
                      <p:nvPicPr>
                        <p:cNvPr id="0"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91161" y="2602929"/>
                          <a:ext cx="1897063" cy="754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4067944" y="2708920"/>
              <a:ext cx="576064"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or</a:t>
              </a:r>
              <a:endParaRPr lang="zh-CN" altLang="en-US" sz="2400" dirty="0">
                <a:latin typeface="Times New Roman" pitchFamily="18" charset="0"/>
                <a:cs typeface="Times New Roman" pitchFamily="18" charset="0"/>
              </a:endParaRPr>
            </a:p>
          </p:txBody>
        </p:sp>
        <p:sp>
          <p:nvSpPr>
            <p:cNvPr id="9" name="TextBox 8"/>
            <p:cNvSpPr txBox="1"/>
            <p:nvPr/>
          </p:nvSpPr>
          <p:spPr>
            <a:xfrm>
              <a:off x="6880695" y="2708920"/>
              <a:ext cx="954107" cy="461665"/>
            </a:xfrm>
            <a:prstGeom prst="rect">
              <a:avLst/>
            </a:prstGeom>
            <a:noFill/>
          </p:spPr>
          <p:txBody>
            <a:bodyPr wrap="none" rtlCol="0">
              <a:spAutoFit/>
            </a:bodyPr>
            <a:lstStyle/>
            <a:p>
              <a:r>
                <a:rPr lang="en-US" altLang="zh-CN" sz="2400" dirty="0" smtClean="0">
                  <a:latin typeface="Times New Roman" pitchFamily="18" charset="0"/>
                  <a:cs typeface="Times New Roman" pitchFamily="18" charset="0"/>
                </a:rPr>
                <a:t>(3-13)</a:t>
              </a:r>
              <a:endParaRPr lang="zh-CN" altLang="en-US" sz="2400" dirty="0">
                <a:latin typeface="Times New Roman" pitchFamily="18" charset="0"/>
                <a:cs typeface="Times New Roman" pitchFamily="18" charset="0"/>
              </a:endParaRPr>
            </a:p>
          </p:txBody>
        </p:sp>
        <p:sp>
          <p:nvSpPr>
            <p:cNvPr id="14" name="矩形 13"/>
            <p:cNvSpPr/>
            <p:nvPr/>
          </p:nvSpPr>
          <p:spPr>
            <a:xfrm>
              <a:off x="4644008" y="2636912"/>
              <a:ext cx="2016224" cy="7200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grpSp>
      <p:grpSp>
        <p:nvGrpSpPr>
          <p:cNvPr id="21" name="组合 20"/>
          <p:cNvGrpSpPr/>
          <p:nvPr/>
        </p:nvGrpSpPr>
        <p:grpSpPr>
          <a:xfrm>
            <a:off x="467544" y="5415607"/>
            <a:ext cx="7007218" cy="1181745"/>
            <a:chOff x="539552" y="5055567"/>
            <a:chExt cx="7007218" cy="1181745"/>
          </a:xfrm>
        </p:grpSpPr>
        <p:sp>
          <p:nvSpPr>
            <p:cNvPr id="15" name="TextBox 14"/>
            <p:cNvSpPr txBox="1"/>
            <p:nvPr/>
          </p:nvSpPr>
          <p:spPr>
            <a:xfrm>
              <a:off x="539552" y="5055567"/>
              <a:ext cx="2088232"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In addition</a:t>
              </a:r>
              <a:endParaRPr lang="zh-CN" altLang="en-US" sz="2400" dirty="0">
                <a:latin typeface="Times New Roman" pitchFamily="18" charset="0"/>
                <a:cs typeface="Times New Roman" pitchFamily="18" charset="0"/>
              </a:endParaRPr>
            </a:p>
          </p:txBody>
        </p:sp>
        <p:graphicFrame>
          <p:nvGraphicFramePr>
            <p:cNvPr id="66565" name="Object 5"/>
            <p:cNvGraphicFramePr>
              <a:graphicFrameLocks noChangeAspect="1"/>
            </p:cNvGraphicFramePr>
            <p:nvPr/>
          </p:nvGraphicFramePr>
          <p:xfrm>
            <a:off x="2874243" y="5467350"/>
            <a:ext cx="3209925" cy="755650"/>
          </p:xfrm>
          <a:graphic>
            <a:graphicData uri="http://schemas.openxmlformats.org/presentationml/2006/ole">
              <mc:AlternateContent xmlns:mc="http://schemas.openxmlformats.org/markup-compatibility/2006">
                <mc:Choice xmlns:v="urn:schemas-microsoft-com:vml" Requires="v">
                  <p:oleObj spid="_x0000_s66577" name="Equation" r:id="rId10" imgW="1777680" imgH="419040" progId="Equation.DSMT4">
                    <p:embed/>
                  </p:oleObj>
                </mc:Choice>
                <mc:Fallback>
                  <p:oleObj name="Equation" r:id="rId10" imgW="1777680" imgH="419040" progId="Equation.DSMT4">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74243" y="5467350"/>
                          <a:ext cx="3209925"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矩形 17"/>
            <p:cNvSpPr/>
            <p:nvPr/>
          </p:nvSpPr>
          <p:spPr>
            <a:xfrm>
              <a:off x="2843808" y="5445224"/>
              <a:ext cx="3384376" cy="792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sp>
          <p:nvSpPr>
            <p:cNvPr id="19" name="TextBox 18"/>
            <p:cNvSpPr txBox="1"/>
            <p:nvPr/>
          </p:nvSpPr>
          <p:spPr>
            <a:xfrm>
              <a:off x="6592663" y="5589240"/>
              <a:ext cx="954107" cy="461665"/>
            </a:xfrm>
            <a:prstGeom prst="rect">
              <a:avLst/>
            </a:prstGeom>
            <a:noFill/>
          </p:spPr>
          <p:txBody>
            <a:bodyPr wrap="none" rtlCol="0">
              <a:spAutoFit/>
            </a:bodyPr>
            <a:lstStyle/>
            <a:p>
              <a:r>
                <a:rPr lang="en-US" altLang="zh-CN" sz="2400" dirty="0" smtClean="0">
                  <a:latin typeface="Times New Roman" pitchFamily="18" charset="0"/>
                  <a:cs typeface="Times New Roman" pitchFamily="18" charset="0"/>
                </a:rPr>
                <a:t>(3-15)</a:t>
              </a:r>
              <a:endParaRPr lang="zh-CN" altLang="en-US" sz="2400" dirty="0">
                <a:latin typeface="Times New Roman" pitchFamily="18" charset="0"/>
                <a:cs typeface="Times New Roman" pitchFamily="18" charset="0"/>
              </a:endParaRPr>
            </a:p>
          </p:txBody>
        </p:sp>
      </p:grpSp>
      <p:sp>
        <p:nvSpPr>
          <p:cNvPr id="22" name="矩形 21"/>
          <p:cNvSpPr/>
          <p:nvPr/>
        </p:nvSpPr>
        <p:spPr>
          <a:xfrm>
            <a:off x="787172" y="1239143"/>
            <a:ext cx="7112845" cy="461665"/>
          </a:xfrm>
          <a:prstGeom prst="rect">
            <a:avLst/>
          </a:prstGeom>
        </p:spPr>
        <p:txBody>
          <a:bodyPr wrap="none">
            <a:spAutoFit/>
          </a:bodyPr>
          <a:lstStyle/>
          <a:p>
            <a:r>
              <a:rPr lang="en-US" altLang="zh-CN" sz="2400" b="1" i="1"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 magnetic vector potential; </a:t>
            </a:r>
            <a:r>
              <a:rPr lang="el-GR" altLang="zh-CN" sz="2400" dirty="0" smtClean="0"/>
              <a:t>φ</a:t>
            </a:r>
            <a:r>
              <a:rPr lang="en-US" altLang="zh-CN" sz="2400" dirty="0" smtClean="0">
                <a:latin typeface="Times New Roman" pitchFamily="18" charset="0"/>
                <a:cs typeface="Times New Roman" pitchFamily="18" charset="0"/>
              </a:rPr>
              <a:t>: electric scalar potential</a:t>
            </a:r>
            <a:endParaRPr lang="zh-CN" altLang="en-US" sz="2400" dirty="0"/>
          </a:p>
        </p:txBody>
      </p:sp>
      <p:sp>
        <p:nvSpPr>
          <p:cNvPr id="23" name="TextBox 22"/>
          <p:cNvSpPr txBox="1"/>
          <p:nvPr/>
        </p:nvSpPr>
        <p:spPr>
          <a:xfrm>
            <a:off x="5220072" y="4571836"/>
            <a:ext cx="300082" cy="369332"/>
          </a:xfrm>
          <a:prstGeom prst="rect">
            <a:avLst/>
          </a:prstGeom>
          <a:noFill/>
        </p:spPr>
        <p:txBody>
          <a:bodyPr wrap="none" rtlCol="0">
            <a:spAutoFit/>
          </a:bodyPr>
          <a:lstStyle/>
          <a:p>
            <a:r>
              <a:rPr lang="en-US" altLang="zh-CN" dirty="0" smtClean="0"/>
              <a:t>*</a:t>
            </a:r>
            <a:endParaRPr lang="zh-CN" altLang="en-US" dirty="0"/>
          </a:p>
        </p:txBody>
      </p:sp>
      <p:sp>
        <p:nvSpPr>
          <p:cNvPr id="24" name="TextBox 23"/>
          <p:cNvSpPr txBox="1"/>
          <p:nvPr/>
        </p:nvSpPr>
        <p:spPr>
          <a:xfrm>
            <a:off x="7728302" y="1196752"/>
            <a:ext cx="300082" cy="369332"/>
          </a:xfrm>
          <a:prstGeom prst="rect">
            <a:avLst/>
          </a:prstGeom>
          <a:noFill/>
        </p:spPr>
        <p:txBody>
          <a:bodyPr wrap="none" rtlCol="0">
            <a:spAutoFit/>
          </a:bodyPr>
          <a:lstStyle/>
          <a:p>
            <a:r>
              <a:rPr lang="en-US" altLang="zh-CN" dirty="0" smtClean="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5" name="TextBox 4"/>
          <p:cNvSpPr txBox="1"/>
          <p:nvPr/>
        </p:nvSpPr>
        <p:spPr>
          <a:xfrm>
            <a:off x="288032" y="1196752"/>
            <a:ext cx="8532440" cy="461665"/>
          </a:xfrm>
          <a:prstGeom prst="rect">
            <a:avLst/>
          </a:prstGeom>
          <a:noFill/>
        </p:spPr>
        <p:txBody>
          <a:bodyPr wrap="square" rtlCol="0">
            <a:spAutoFit/>
          </a:bodyPr>
          <a:lstStyle/>
          <a:p>
            <a:pPr algn="ctr"/>
            <a:r>
              <a:rPr lang="en-US" altLang="zh-CN" sz="2400" dirty="0" smtClean="0">
                <a:latin typeface="Times New Roman" pitchFamily="18" charset="0"/>
                <a:cs typeface="Times New Roman" pitchFamily="18" charset="0"/>
              </a:rPr>
              <a:t>Derive Electric Vector Potential </a:t>
            </a:r>
            <a:r>
              <a:rPr lang="en-US" altLang="zh-CN" sz="2400" b="1" i="1" dirty="0" smtClean="0">
                <a:latin typeface="Times New Roman" pitchFamily="18" charset="0"/>
                <a:cs typeface="Times New Roman" pitchFamily="18" charset="0"/>
              </a:rPr>
              <a:t>F </a:t>
            </a:r>
            <a:r>
              <a:rPr lang="en-US" altLang="zh-CN" sz="2400" dirty="0" smtClean="0">
                <a:latin typeface="Times New Roman" pitchFamily="18" charset="0"/>
                <a:cs typeface="Times New Roman" pitchFamily="18" charset="0"/>
              </a:rPr>
              <a:t>and Magnetic Scalar Potential </a:t>
            </a:r>
            <a:r>
              <a:rPr lang="el-GR" altLang="zh-CN" sz="2400" dirty="0" smtClean="0">
                <a:latin typeface="Times New Roman" pitchFamily="18" charset="0"/>
                <a:cs typeface="Times New Roman" pitchFamily="18" charset="0"/>
              </a:rPr>
              <a:t>φ</a:t>
            </a:r>
            <a:r>
              <a:rPr lang="en-US" altLang="zh-CN" sz="2400" baseline="-25000" dirty="0" smtClean="0">
                <a:latin typeface="Times New Roman" pitchFamily="18" charset="0"/>
                <a:cs typeface="Times New Roman" pitchFamily="18" charset="0"/>
              </a:rPr>
              <a:t>m</a:t>
            </a:r>
            <a:endParaRPr lang="zh-CN" altLang="en-US" sz="2400" b="1" i="1" baseline="-25000" dirty="0">
              <a:latin typeface="Times New Roman" pitchFamily="18" charset="0"/>
              <a:cs typeface="Times New Roman" pitchFamily="18" charset="0"/>
            </a:endParaRPr>
          </a:p>
        </p:txBody>
      </p:sp>
      <p:sp>
        <p:nvSpPr>
          <p:cNvPr id="33" name="TextBox 32"/>
          <p:cNvSpPr txBox="1"/>
          <p:nvPr/>
        </p:nvSpPr>
        <p:spPr>
          <a:xfrm>
            <a:off x="251520" y="1700808"/>
            <a:ext cx="8676456" cy="2308324"/>
          </a:xfrm>
          <a:prstGeom prst="rect">
            <a:avLst/>
          </a:prstGeom>
          <a:noFill/>
        </p:spPr>
        <p:txBody>
          <a:bodyPr wrap="square" rtlCol="0">
            <a:spAutoFit/>
          </a:bodyPr>
          <a:lstStyle/>
          <a:p>
            <a:r>
              <a:rPr lang="en-US" altLang="zh-CN" sz="2400" dirty="0" smtClean="0">
                <a:solidFill>
                  <a:srgbClr val="FF0000"/>
                </a:solidFill>
                <a:latin typeface="Times New Roman" pitchFamily="18" charset="0"/>
                <a:cs typeface="Times New Roman" pitchFamily="18" charset="0"/>
              </a:rPr>
              <a:t>Magnetic current and charge </a:t>
            </a:r>
            <a:r>
              <a:rPr lang="en-US" altLang="zh-CN" sz="2400" dirty="0" smtClean="0">
                <a:latin typeface="Times New Roman" pitchFamily="18" charset="0"/>
                <a:cs typeface="Times New Roman" pitchFamily="18" charset="0"/>
              </a:rPr>
              <a:t>do not exist in the nature. However, during the analysis of EM problem, we can</a:t>
            </a:r>
          </a:p>
          <a:p>
            <a:pPr lvl="1">
              <a:buFont typeface="Wingdings" pitchFamily="2" charset="2"/>
              <a:buChar char="u"/>
            </a:pPr>
            <a:r>
              <a:rPr lang="en-US" altLang="zh-CN" sz="2400" dirty="0" smtClean="0">
                <a:latin typeface="Times New Roman" pitchFamily="18" charset="0"/>
                <a:cs typeface="Times New Roman" pitchFamily="18" charset="0"/>
              </a:rPr>
              <a:t>Define some </a:t>
            </a:r>
            <a:r>
              <a:rPr lang="en-US" altLang="zh-CN" sz="2400" dirty="0" smtClean="0">
                <a:solidFill>
                  <a:srgbClr val="FF0000"/>
                </a:solidFill>
                <a:latin typeface="Times New Roman" pitchFamily="18" charset="0"/>
                <a:cs typeface="Times New Roman" pitchFamily="18" charset="0"/>
              </a:rPr>
              <a:t>special electric current distribution</a:t>
            </a:r>
            <a:r>
              <a:rPr lang="en-US" altLang="zh-CN" sz="2400" dirty="0" smtClean="0">
                <a:latin typeface="Times New Roman" pitchFamily="18" charset="0"/>
                <a:cs typeface="Times New Roman" pitchFamily="18" charset="0"/>
              </a:rPr>
              <a:t> as magnetic current;</a:t>
            </a:r>
          </a:p>
          <a:p>
            <a:pPr lvl="1">
              <a:buFont typeface="Wingdings" pitchFamily="2" charset="2"/>
              <a:buChar char="u"/>
            </a:pPr>
            <a:r>
              <a:rPr lang="en-US" altLang="zh-CN" sz="2400" dirty="0" smtClean="0">
                <a:latin typeface="Times New Roman" pitchFamily="18" charset="0"/>
                <a:cs typeface="Times New Roman" pitchFamily="18" charset="0"/>
              </a:rPr>
              <a:t>Define </a:t>
            </a:r>
            <a:r>
              <a:rPr lang="en-US" altLang="zh-CN" sz="2400" b="1" i="1" dirty="0" smtClean="0">
                <a:solidFill>
                  <a:srgbClr val="FF0000"/>
                </a:solidFill>
                <a:latin typeface="Times New Roman" pitchFamily="18" charset="0"/>
                <a:cs typeface="Times New Roman" pitchFamily="18" charset="0"/>
              </a:rPr>
              <a:t>E</a:t>
            </a:r>
            <a:r>
              <a:rPr lang="en-US" altLang="zh-CN" sz="2400" dirty="0" smtClean="0">
                <a:solidFill>
                  <a:srgbClr val="FF0000"/>
                </a:solidFill>
                <a:latin typeface="Times New Roman" pitchFamily="18" charset="0"/>
                <a:cs typeface="Times New Roman" pitchFamily="18" charset="0"/>
              </a:rPr>
              <a:t> field distribution </a:t>
            </a:r>
            <a:r>
              <a:rPr lang="en-US" altLang="zh-CN" sz="2400" dirty="0" smtClean="0">
                <a:latin typeface="Times New Roman" pitchFamily="18" charset="0"/>
                <a:cs typeface="Times New Roman" pitchFamily="18" charset="0"/>
              </a:rPr>
              <a:t>as magnetic current when we use the volume or surface equivalence theorems.</a:t>
            </a:r>
            <a:endParaRPr lang="zh-CN" altLang="en-US" sz="2400" dirty="0">
              <a:latin typeface="Times New Roman" pitchFamily="18" charset="0"/>
              <a:cs typeface="Times New Roman" pitchFamily="18" charset="0"/>
            </a:endParaRPr>
          </a:p>
        </p:txBody>
      </p:sp>
      <p:graphicFrame>
        <p:nvGraphicFramePr>
          <p:cNvPr id="34" name="Object 4"/>
          <p:cNvGraphicFramePr>
            <a:graphicFrameLocks noChangeAspect="1"/>
          </p:cNvGraphicFramePr>
          <p:nvPr/>
        </p:nvGraphicFramePr>
        <p:xfrm>
          <a:off x="899592" y="4729360"/>
          <a:ext cx="1770063" cy="304800"/>
        </p:xfrm>
        <a:graphic>
          <a:graphicData uri="http://schemas.openxmlformats.org/presentationml/2006/ole">
            <mc:AlternateContent xmlns:mc="http://schemas.openxmlformats.org/markup-compatibility/2006">
              <mc:Choice xmlns:v="urn:schemas-microsoft-com:vml" Requires="v">
                <p:oleObj spid="_x0000_s81954" name="Equation" r:id="rId4" imgW="1180800" imgH="203040" progId="Equation.DSMT4">
                  <p:embed/>
                </p:oleObj>
              </mc:Choice>
              <mc:Fallback>
                <p:oleObj name="Equation" r:id="rId4" imgW="1180800" imgH="203040" progId="Equation.DSMT4">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592" y="4729360"/>
                        <a:ext cx="1770063"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3"/>
          <p:cNvGraphicFramePr>
            <a:graphicFrameLocks noChangeAspect="1"/>
          </p:cNvGraphicFramePr>
          <p:nvPr/>
        </p:nvGraphicFramePr>
        <p:xfrm>
          <a:off x="899592" y="5085184"/>
          <a:ext cx="1581150" cy="304800"/>
        </p:xfrm>
        <a:graphic>
          <a:graphicData uri="http://schemas.openxmlformats.org/presentationml/2006/ole">
            <mc:AlternateContent xmlns:mc="http://schemas.openxmlformats.org/markup-compatibility/2006">
              <mc:Choice xmlns:v="urn:schemas-microsoft-com:vml" Requires="v">
                <p:oleObj spid="_x0000_s81955" name="Equation" r:id="rId6" imgW="1054100" imgH="203200" progId="Equation.DSMT4">
                  <p:embed/>
                </p:oleObj>
              </mc:Choice>
              <mc:Fallback>
                <p:oleObj name="Equation" r:id="rId6" imgW="1054100" imgH="203200" progId="Equation.DSMT4">
                  <p:embed/>
                  <p:pic>
                    <p:nvPicPr>
                      <p:cNvPr id="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9592" y="5085184"/>
                        <a:ext cx="158115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2"/>
          <p:cNvGraphicFramePr>
            <a:graphicFrameLocks noChangeAspect="1"/>
          </p:cNvGraphicFramePr>
          <p:nvPr/>
        </p:nvGraphicFramePr>
        <p:xfrm>
          <a:off x="899592" y="5526890"/>
          <a:ext cx="857250" cy="266700"/>
        </p:xfrm>
        <a:graphic>
          <a:graphicData uri="http://schemas.openxmlformats.org/presentationml/2006/ole">
            <mc:AlternateContent xmlns:mc="http://schemas.openxmlformats.org/markup-compatibility/2006">
              <mc:Choice xmlns:v="urn:schemas-microsoft-com:vml" Requires="v">
                <p:oleObj spid="_x0000_s81956" name="Equation" r:id="rId8" imgW="571320" imgH="177480" progId="Equation.DSMT4">
                  <p:embed/>
                </p:oleObj>
              </mc:Choice>
              <mc:Fallback>
                <p:oleObj name="Equation" r:id="rId8" imgW="571320" imgH="177480" progId="Equation.DSMT4">
                  <p:embed/>
                  <p:pic>
                    <p:nvPicPr>
                      <p:cNvPr id="0"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9592" y="5526890"/>
                        <a:ext cx="85725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1"/>
          <p:cNvGraphicFramePr>
            <a:graphicFrameLocks noChangeAspect="1"/>
          </p:cNvGraphicFramePr>
          <p:nvPr/>
        </p:nvGraphicFramePr>
        <p:xfrm>
          <a:off x="899592" y="5958938"/>
          <a:ext cx="893762" cy="266700"/>
        </p:xfrm>
        <a:graphic>
          <a:graphicData uri="http://schemas.openxmlformats.org/presentationml/2006/ole">
            <mc:AlternateContent xmlns:mc="http://schemas.openxmlformats.org/markup-compatibility/2006">
              <mc:Choice xmlns:v="urn:schemas-microsoft-com:vml" Requires="v">
                <p:oleObj spid="_x0000_s81957" name="Equation" r:id="rId10" imgW="596880" imgH="177480" progId="Equation.DSMT4">
                  <p:embed/>
                </p:oleObj>
              </mc:Choice>
              <mc:Fallback>
                <p:oleObj name="Equation" r:id="rId10" imgW="596880" imgH="177480" progId="Equation.DSMT4">
                  <p:embed/>
                  <p:pic>
                    <p:nvPicPr>
                      <p:cNvPr id="0"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9592" y="5958938"/>
                        <a:ext cx="893762"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Object 12"/>
          <p:cNvGraphicFramePr>
            <a:graphicFrameLocks noChangeAspect="1"/>
          </p:cNvGraphicFramePr>
          <p:nvPr/>
        </p:nvGraphicFramePr>
        <p:xfrm>
          <a:off x="5937076" y="5150082"/>
          <a:ext cx="2019300" cy="304800"/>
        </p:xfrm>
        <a:graphic>
          <a:graphicData uri="http://schemas.openxmlformats.org/presentationml/2006/ole">
            <mc:AlternateContent xmlns:mc="http://schemas.openxmlformats.org/markup-compatibility/2006">
              <mc:Choice xmlns:v="urn:schemas-microsoft-com:vml" Requires="v">
                <p:oleObj spid="_x0000_s81958" name="Equation" r:id="rId12" imgW="1346040" imgH="203040" progId="Equation.DSMT4">
                  <p:embed/>
                </p:oleObj>
              </mc:Choice>
              <mc:Fallback>
                <p:oleObj name="Equation" r:id="rId12" imgW="1346040" imgH="203040" progId="Equation.DSMT4">
                  <p:embed/>
                  <p:pic>
                    <p:nvPicPr>
                      <p:cNvPr id="0"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37076" y="5150082"/>
                        <a:ext cx="20193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11"/>
          <p:cNvGraphicFramePr>
            <a:graphicFrameLocks noChangeAspect="1"/>
          </p:cNvGraphicFramePr>
          <p:nvPr/>
        </p:nvGraphicFramePr>
        <p:xfrm>
          <a:off x="5937076" y="4734802"/>
          <a:ext cx="1427163" cy="304800"/>
        </p:xfrm>
        <a:graphic>
          <a:graphicData uri="http://schemas.openxmlformats.org/presentationml/2006/ole">
            <mc:AlternateContent xmlns:mc="http://schemas.openxmlformats.org/markup-compatibility/2006">
              <mc:Choice xmlns:v="urn:schemas-microsoft-com:vml" Requires="v">
                <p:oleObj spid="_x0000_s81959" name="Equation" r:id="rId14" imgW="952087" imgH="203112" progId="Equation.DSMT4">
                  <p:embed/>
                </p:oleObj>
              </mc:Choice>
              <mc:Fallback>
                <p:oleObj name="Equation" r:id="rId14" imgW="952087" imgH="203112" progId="Equation.DSMT4">
                  <p:embed/>
                  <p:pic>
                    <p:nvPicPr>
                      <p:cNvPr id="0" name="Picture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37076" y="4734802"/>
                        <a:ext cx="1427163"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10"/>
          <p:cNvGraphicFramePr>
            <a:graphicFrameLocks noChangeAspect="1"/>
          </p:cNvGraphicFramePr>
          <p:nvPr/>
        </p:nvGraphicFramePr>
        <p:xfrm>
          <a:off x="5940152" y="5598898"/>
          <a:ext cx="895350" cy="266700"/>
        </p:xfrm>
        <a:graphic>
          <a:graphicData uri="http://schemas.openxmlformats.org/presentationml/2006/ole">
            <mc:AlternateContent xmlns:mc="http://schemas.openxmlformats.org/markup-compatibility/2006">
              <mc:Choice xmlns:v="urn:schemas-microsoft-com:vml" Requires="v">
                <p:oleObj spid="_x0000_s81960" name="Equation" r:id="rId16" imgW="596880" imgH="177480" progId="Equation.DSMT4">
                  <p:embed/>
                </p:oleObj>
              </mc:Choice>
              <mc:Fallback>
                <p:oleObj name="Equation" r:id="rId16" imgW="596880" imgH="177480" progId="Equation.DSMT4">
                  <p:embed/>
                  <p:pic>
                    <p:nvPicPr>
                      <p:cNvPr id="0" name="Picture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40152" y="5598898"/>
                        <a:ext cx="89535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Object 9"/>
          <p:cNvGraphicFramePr>
            <a:graphicFrameLocks noChangeAspect="1"/>
          </p:cNvGraphicFramePr>
          <p:nvPr/>
        </p:nvGraphicFramePr>
        <p:xfrm>
          <a:off x="6012160" y="6045201"/>
          <a:ext cx="855663" cy="266700"/>
        </p:xfrm>
        <a:graphic>
          <a:graphicData uri="http://schemas.openxmlformats.org/presentationml/2006/ole">
            <mc:AlternateContent xmlns:mc="http://schemas.openxmlformats.org/markup-compatibility/2006">
              <mc:Choice xmlns:v="urn:schemas-microsoft-com:vml" Requires="v">
                <p:oleObj spid="_x0000_s81961" name="Equation" r:id="rId18" imgW="571320" imgH="177480" progId="Equation.DSMT4">
                  <p:embed/>
                </p:oleObj>
              </mc:Choice>
              <mc:Fallback>
                <p:oleObj name="Equation" r:id="rId18" imgW="571320" imgH="177480" progId="Equation.DSMT4">
                  <p:embed/>
                  <p:pic>
                    <p:nvPicPr>
                      <p:cNvPr id="0" name="Picture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12160" y="6045201"/>
                        <a:ext cx="855663"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TextBox 41"/>
          <p:cNvSpPr txBox="1"/>
          <p:nvPr/>
        </p:nvSpPr>
        <p:spPr>
          <a:xfrm>
            <a:off x="611560" y="4074491"/>
            <a:ext cx="2952328" cy="400110"/>
          </a:xfrm>
          <a:prstGeom prst="rect">
            <a:avLst/>
          </a:prstGeom>
          <a:noFill/>
        </p:spPr>
        <p:txBody>
          <a:bodyPr wrap="square" rtlCol="0">
            <a:spAutoFit/>
          </a:bodyPr>
          <a:lstStyle/>
          <a:p>
            <a:r>
              <a:rPr lang="en-US" altLang="zh-CN" sz="2000" dirty="0" smtClean="0">
                <a:latin typeface="Times New Roman" pitchFamily="18" charset="0"/>
                <a:cs typeface="Times New Roman" pitchFamily="18" charset="0"/>
              </a:rPr>
              <a:t>Electric current </a:t>
            </a:r>
            <a:r>
              <a:rPr lang="en-US" altLang="zh-CN" sz="2000" b="1" i="1" dirty="0" smtClean="0">
                <a:solidFill>
                  <a:srgbClr val="FF0000"/>
                </a:solidFill>
                <a:latin typeface="Times New Roman" pitchFamily="18" charset="0"/>
                <a:cs typeface="Times New Roman" pitchFamily="18" charset="0"/>
              </a:rPr>
              <a:t>J</a:t>
            </a:r>
            <a:r>
              <a:rPr lang="en-US" altLang="zh-CN" sz="2000" dirty="0" smtClean="0">
                <a:latin typeface="Times New Roman" pitchFamily="18" charset="0"/>
                <a:cs typeface="Times New Roman" pitchFamily="18" charset="0"/>
              </a:rPr>
              <a:t> </a:t>
            </a:r>
            <a:endParaRPr lang="zh-CN" altLang="en-US" sz="2000" dirty="0" smtClean="0">
              <a:solidFill>
                <a:srgbClr val="FF0000"/>
              </a:solidFill>
              <a:latin typeface="Times New Roman" pitchFamily="18" charset="0"/>
              <a:cs typeface="Times New Roman" pitchFamily="18" charset="0"/>
            </a:endParaRPr>
          </a:p>
        </p:txBody>
      </p:sp>
      <p:sp>
        <p:nvSpPr>
          <p:cNvPr id="43" name="TextBox 42"/>
          <p:cNvSpPr txBox="1"/>
          <p:nvPr/>
        </p:nvSpPr>
        <p:spPr>
          <a:xfrm>
            <a:off x="5508104" y="4086685"/>
            <a:ext cx="2952328" cy="400110"/>
          </a:xfrm>
          <a:prstGeom prst="rect">
            <a:avLst/>
          </a:prstGeom>
          <a:noFill/>
        </p:spPr>
        <p:txBody>
          <a:bodyPr wrap="square" rtlCol="0">
            <a:spAutoFit/>
          </a:bodyPr>
          <a:lstStyle/>
          <a:p>
            <a:r>
              <a:rPr lang="en-US" altLang="zh-CN" sz="2000" dirty="0" smtClean="0">
                <a:latin typeface="Times New Roman" pitchFamily="18" charset="0"/>
                <a:cs typeface="Times New Roman" pitchFamily="18" charset="0"/>
              </a:rPr>
              <a:t>Magnetic current </a:t>
            </a:r>
            <a:r>
              <a:rPr lang="en-US" altLang="zh-CN" sz="2000" b="1" i="1" dirty="0" smtClean="0">
                <a:solidFill>
                  <a:srgbClr val="FF0000"/>
                </a:solidFill>
                <a:latin typeface="Times New Roman" pitchFamily="18" charset="0"/>
                <a:cs typeface="Times New Roman" pitchFamily="18" charset="0"/>
              </a:rPr>
              <a:t>M</a:t>
            </a:r>
            <a:endParaRPr lang="zh-CN" altLang="en-US" sz="2000" b="1" i="1" baseline="-25000" dirty="0" smtClean="0">
              <a:solidFill>
                <a:srgbClr val="FF0000"/>
              </a:solidFill>
              <a:latin typeface="Times New Roman" pitchFamily="18" charset="0"/>
              <a:cs typeface="Times New Roman" pitchFamily="18" charset="0"/>
            </a:endParaRPr>
          </a:p>
        </p:txBody>
      </p:sp>
      <p:sp>
        <p:nvSpPr>
          <p:cNvPr id="44" name="上弧形箭头 43"/>
          <p:cNvSpPr/>
          <p:nvPr/>
        </p:nvSpPr>
        <p:spPr bwMode="auto">
          <a:xfrm>
            <a:off x="3203848" y="4509120"/>
            <a:ext cx="2232248" cy="648072"/>
          </a:xfrm>
          <a:prstGeom prst="curvedDownArrow">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slide(fromLeft)">
                                      <p:cBhvr>
                                        <p:cTn id="7" dur="2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graphicFrame>
        <p:nvGraphicFramePr>
          <p:cNvPr id="11" name="对象 10"/>
          <p:cNvGraphicFramePr>
            <a:graphicFrameLocks noChangeAspect="1"/>
          </p:cNvGraphicFramePr>
          <p:nvPr/>
        </p:nvGraphicFramePr>
        <p:xfrm>
          <a:off x="4298876" y="4387850"/>
          <a:ext cx="2171700" cy="366713"/>
        </p:xfrm>
        <a:graphic>
          <a:graphicData uri="http://schemas.openxmlformats.org/presentationml/2006/ole">
            <mc:AlternateContent xmlns:mc="http://schemas.openxmlformats.org/markup-compatibility/2006">
              <mc:Choice xmlns:v="urn:schemas-microsoft-com:vml" Requires="v">
                <p:oleObj spid="_x0000_s82962" name="Equation" r:id="rId4" imgW="1206360" imgH="203040" progId="Equation.DSMT4">
                  <p:embed/>
                </p:oleObj>
              </mc:Choice>
              <mc:Fallback>
                <p:oleObj name="Equation" r:id="rId4" imgW="1206360" imgH="203040" progId="Equation.DSMT4">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8876" y="4387850"/>
                        <a:ext cx="2171700"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2"/>
          <p:cNvSpPr/>
          <p:nvPr/>
        </p:nvSpPr>
        <p:spPr>
          <a:xfrm>
            <a:off x="4283968" y="4221088"/>
            <a:ext cx="2232248"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6563" name="Object 3"/>
          <p:cNvGraphicFramePr>
            <a:graphicFrameLocks noChangeAspect="1"/>
          </p:cNvGraphicFramePr>
          <p:nvPr/>
        </p:nvGraphicFramePr>
        <p:xfrm>
          <a:off x="4242792" y="3068960"/>
          <a:ext cx="2057400" cy="754063"/>
        </p:xfrm>
        <a:graphic>
          <a:graphicData uri="http://schemas.openxmlformats.org/presentationml/2006/ole">
            <mc:AlternateContent xmlns:mc="http://schemas.openxmlformats.org/markup-compatibility/2006">
              <mc:Choice xmlns:v="urn:schemas-microsoft-com:vml" Requires="v">
                <p:oleObj spid="_x0000_s82963" name="Equation" r:id="rId6" imgW="1143000" imgH="419040" progId="Equation.DSMT4">
                  <p:embed/>
                </p:oleObj>
              </mc:Choice>
              <mc:Fallback>
                <p:oleObj name="Equation" r:id="rId6" imgW="1143000" imgH="41904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42792" y="3068960"/>
                        <a:ext cx="2057400" cy="754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矩形 13"/>
          <p:cNvSpPr/>
          <p:nvPr/>
        </p:nvSpPr>
        <p:spPr>
          <a:xfrm>
            <a:off x="4259113" y="1628800"/>
            <a:ext cx="1537023"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6565" name="Object 5"/>
          <p:cNvGraphicFramePr>
            <a:graphicFrameLocks noChangeAspect="1"/>
          </p:cNvGraphicFramePr>
          <p:nvPr/>
        </p:nvGraphicFramePr>
        <p:xfrm>
          <a:off x="3646264" y="5467350"/>
          <a:ext cx="3302000" cy="755650"/>
        </p:xfrm>
        <a:graphic>
          <a:graphicData uri="http://schemas.openxmlformats.org/presentationml/2006/ole">
            <mc:AlternateContent xmlns:mc="http://schemas.openxmlformats.org/markup-compatibility/2006">
              <mc:Choice xmlns:v="urn:schemas-microsoft-com:vml" Requires="v">
                <p:oleObj spid="_x0000_s82964" name="Equation" r:id="rId8" imgW="1828800" imgH="419040" progId="Equation.DSMT4">
                  <p:embed/>
                </p:oleObj>
              </mc:Choice>
              <mc:Fallback>
                <p:oleObj name="Equation" r:id="rId8" imgW="1828800" imgH="419040" progId="Equation.DSMT4">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6264" y="5467350"/>
                        <a:ext cx="330200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矩形 17"/>
          <p:cNvSpPr/>
          <p:nvPr/>
        </p:nvSpPr>
        <p:spPr>
          <a:xfrm>
            <a:off x="3635896" y="5445224"/>
            <a:ext cx="3384376" cy="792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0" name="Object 3"/>
          <p:cNvGraphicFramePr>
            <a:graphicFrameLocks noChangeAspect="1"/>
          </p:cNvGraphicFramePr>
          <p:nvPr/>
        </p:nvGraphicFramePr>
        <p:xfrm>
          <a:off x="4331121" y="1700807"/>
          <a:ext cx="1352550" cy="590550"/>
        </p:xfrm>
        <a:graphic>
          <a:graphicData uri="http://schemas.openxmlformats.org/presentationml/2006/ole">
            <mc:AlternateContent xmlns:mc="http://schemas.openxmlformats.org/markup-compatibility/2006">
              <mc:Choice xmlns:v="urn:schemas-microsoft-com:vml" Requires="v">
                <p:oleObj spid="_x0000_s82965" name="Equation" r:id="rId10" imgW="901440" imgH="393480" progId="Equation.DSMT4">
                  <p:embed/>
                </p:oleObj>
              </mc:Choice>
              <mc:Fallback>
                <p:oleObj name="Equation" r:id="rId10" imgW="901440" imgH="393480" progId="Equation.DSMT4">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31121" y="1700807"/>
                        <a:ext cx="1352550"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Box 21"/>
          <p:cNvSpPr txBox="1"/>
          <p:nvPr/>
        </p:nvSpPr>
        <p:spPr>
          <a:xfrm>
            <a:off x="539552" y="1700808"/>
            <a:ext cx="3312368"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Define Electric Vector </a:t>
            </a:r>
            <a:r>
              <a:rPr lang="en-US" altLang="zh-CN" sz="2400" b="1" i="1" dirty="0" smtClean="0">
                <a:latin typeface="Times New Roman" pitchFamily="18" charset="0"/>
                <a:cs typeface="Times New Roman" pitchFamily="18" charset="0"/>
              </a:rPr>
              <a:t>F</a:t>
            </a:r>
            <a:endParaRPr lang="zh-CN" altLang="en-US" sz="2400" b="1" i="1" dirty="0">
              <a:latin typeface="Times New Roman" pitchFamily="18" charset="0"/>
              <a:cs typeface="Times New Roman" pitchFamily="18" charset="0"/>
            </a:endParaRPr>
          </a:p>
        </p:txBody>
      </p:sp>
      <p:graphicFrame>
        <p:nvGraphicFramePr>
          <p:cNvPr id="23" name="Object 8"/>
          <p:cNvGraphicFramePr>
            <a:graphicFrameLocks noChangeAspect="1"/>
          </p:cNvGraphicFramePr>
          <p:nvPr/>
        </p:nvGraphicFramePr>
        <p:xfrm>
          <a:off x="4310905" y="2564903"/>
          <a:ext cx="1676400" cy="342900"/>
        </p:xfrm>
        <a:graphic>
          <a:graphicData uri="http://schemas.openxmlformats.org/presentationml/2006/ole">
            <mc:AlternateContent xmlns:mc="http://schemas.openxmlformats.org/markup-compatibility/2006">
              <mc:Choice xmlns:v="urn:schemas-microsoft-com:vml" Requires="v">
                <p:oleObj spid="_x0000_s82966" name="Equation" r:id="rId12" imgW="1117440" imgH="228600" progId="Equation.DSMT4">
                  <p:embed/>
                </p:oleObj>
              </mc:Choice>
              <mc:Fallback>
                <p:oleObj name="Equation" r:id="rId12" imgW="1117440" imgH="228600" progId="Equation.DSMT4">
                  <p:embed/>
                  <p:pic>
                    <p:nvPicPr>
                      <p:cNvPr id="0" name="Picture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10905" y="2564903"/>
                        <a:ext cx="16764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Box 23"/>
          <p:cNvSpPr txBox="1"/>
          <p:nvPr/>
        </p:nvSpPr>
        <p:spPr>
          <a:xfrm>
            <a:off x="395536" y="2492896"/>
            <a:ext cx="3960440"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Define Magnetic Potential </a:t>
            </a:r>
            <a:r>
              <a:rPr lang="el-GR" altLang="zh-CN" sz="2400" dirty="0" smtClean="0"/>
              <a:t>φ</a:t>
            </a:r>
            <a:r>
              <a:rPr lang="en-US" altLang="zh-CN" sz="2400" baseline="-25000" dirty="0" smtClean="0"/>
              <a:t>m</a:t>
            </a:r>
            <a:endParaRPr lang="zh-CN" altLang="en-US" sz="2400" b="1" i="1" baseline="-25000" dirty="0">
              <a:latin typeface="Times New Roman" pitchFamily="18" charset="0"/>
              <a:cs typeface="Times New Roman" pitchFamily="18" charset="0"/>
            </a:endParaRPr>
          </a:p>
        </p:txBody>
      </p:sp>
      <p:sp>
        <p:nvSpPr>
          <p:cNvPr id="25" name="矩形 24"/>
          <p:cNvSpPr/>
          <p:nvPr/>
        </p:nvSpPr>
        <p:spPr>
          <a:xfrm>
            <a:off x="538242" y="3327375"/>
            <a:ext cx="2377574" cy="461665"/>
          </a:xfrm>
          <a:prstGeom prst="rect">
            <a:avLst/>
          </a:prstGeom>
        </p:spPr>
        <p:txBody>
          <a:bodyPr wrap="none">
            <a:spAutoFit/>
          </a:bodyPr>
          <a:lstStyle/>
          <a:p>
            <a:r>
              <a:rPr lang="en-US" altLang="zh-CN" sz="2400" dirty="0" smtClean="0">
                <a:latin typeface="Times New Roman" pitchFamily="18" charset="0"/>
                <a:cs typeface="Times New Roman" pitchFamily="18" charset="0"/>
              </a:rPr>
              <a:t>Lorentz condition</a:t>
            </a:r>
            <a:endParaRPr lang="zh-CN" altLang="en-US" sz="2400" dirty="0">
              <a:latin typeface="Times New Roman" pitchFamily="18" charset="0"/>
              <a:cs typeface="Times New Roman" pitchFamily="18" charset="0"/>
            </a:endParaRPr>
          </a:p>
        </p:txBody>
      </p:sp>
      <p:sp>
        <p:nvSpPr>
          <p:cNvPr id="26" name="矩形 25"/>
          <p:cNvSpPr/>
          <p:nvPr/>
        </p:nvSpPr>
        <p:spPr>
          <a:xfrm>
            <a:off x="4259113" y="3140968"/>
            <a:ext cx="2113087"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323528" y="4293096"/>
            <a:ext cx="4032448" cy="461665"/>
          </a:xfrm>
          <a:prstGeom prst="rect">
            <a:avLst/>
          </a:prstGeom>
          <a:noFill/>
        </p:spPr>
        <p:txBody>
          <a:bodyPr wrap="square" rtlCol="0">
            <a:spAutoFit/>
          </a:bodyPr>
          <a:lstStyle/>
          <a:p>
            <a:r>
              <a:rPr lang="en-US" altLang="zh-CN" sz="2400" dirty="0" smtClean="0"/>
              <a:t>Finally, the potential equation</a:t>
            </a:r>
            <a:endParaRPr lang="zh-CN" altLang="en-US" sz="2400" dirty="0"/>
          </a:p>
        </p:txBody>
      </p:sp>
      <p:sp>
        <p:nvSpPr>
          <p:cNvPr id="28" name="TextBox 27"/>
          <p:cNvSpPr txBox="1"/>
          <p:nvPr/>
        </p:nvSpPr>
        <p:spPr>
          <a:xfrm>
            <a:off x="611560" y="5589240"/>
            <a:ext cx="2880320" cy="461665"/>
          </a:xfrm>
          <a:prstGeom prst="rect">
            <a:avLst/>
          </a:prstGeom>
          <a:noFill/>
        </p:spPr>
        <p:txBody>
          <a:bodyPr wrap="square" rtlCol="0">
            <a:spAutoFit/>
          </a:bodyPr>
          <a:lstStyle/>
          <a:p>
            <a:r>
              <a:rPr lang="en-US" altLang="zh-CN" sz="2400" dirty="0" smtClean="0"/>
              <a:t>H field is rewritten as</a:t>
            </a:r>
            <a:endParaRPr lang="zh-CN" altLang="en-US" sz="2400" dirty="0"/>
          </a:p>
        </p:txBody>
      </p:sp>
      <p:sp>
        <p:nvSpPr>
          <p:cNvPr id="19" name="矩形 18"/>
          <p:cNvSpPr/>
          <p:nvPr/>
        </p:nvSpPr>
        <p:spPr>
          <a:xfrm>
            <a:off x="4283968" y="2420888"/>
            <a:ext cx="1800200"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3" name="矩形 2"/>
          <p:cNvSpPr/>
          <p:nvPr/>
        </p:nvSpPr>
        <p:spPr>
          <a:xfrm>
            <a:off x="179512" y="1124744"/>
            <a:ext cx="8712968" cy="589072"/>
          </a:xfrm>
          <a:prstGeom prst="rect">
            <a:avLst/>
          </a:prstGeom>
        </p:spPr>
        <p:txBody>
          <a:bodyPr wrap="square">
            <a:spAutoFit/>
          </a:bodyPr>
          <a:lstStyle/>
          <a:p>
            <a:pPr marL="457200" indent="-457200" algn="ctr" eaLnBrk="0" fontAlgn="base" hangingPunct="0">
              <a:lnSpc>
                <a:spcPct val="150000"/>
              </a:lnSpc>
              <a:spcBef>
                <a:spcPct val="0"/>
              </a:spcBef>
              <a:spcAft>
                <a:spcPct val="0"/>
              </a:spcAft>
            </a:pPr>
            <a:r>
              <a:rPr lang="en-US" altLang="zh-CN" sz="2400" dirty="0" smtClean="0">
                <a:latin typeface="Times New Roman" pitchFamily="18" charset="0"/>
                <a:ea typeface="微软雅黑" pitchFamily="34" charset="-122"/>
                <a:cs typeface="Times New Roman" pitchFamily="18" charset="0"/>
              </a:rPr>
              <a:t>Solution of the Inhomogeneous Vector Potential Wave Equation</a:t>
            </a:r>
            <a:endParaRPr lang="en-US" altLang="zh-CN" sz="2400" dirty="0" smtClean="0">
              <a:latin typeface="Times New Roman" pitchFamily="18" charset="0"/>
              <a:ea typeface="宋体" pitchFamily="2" charset="-122"/>
              <a:cs typeface="Times New Roman" pitchFamily="18" charset="0"/>
            </a:endParaRPr>
          </a:p>
        </p:txBody>
      </p:sp>
      <p:grpSp>
        <p:nvGrpSpPr>
          <p:cNvPr id="14" name="组合 13"/>
          <p:cNvGrpSpPr/>
          <p:nvPr/>
        </p:nvGrpSpPr>
        <p:grpSpPr>
          <a:xfrm>
            <a:off x="539552" y="1916832"/>
            <a:ext cx="7992888" cy="1368152"/>
            <a:chOff x="539552" y="1916832"/>
            <a:chExt cx="7992888" cy="1368152"/>
          </a:xfrm>
        </p:grpSpPr>
        <p:sp>
          <p:nvSpPr>
            <p:cNvPr id="4" name="TextBox 3"/>
            <p:cNvSpPr txBox="1"/>
            <p:nvPr/>
          </p:nvSpPr>
          <p:spPr>
            <a:xfrm>
              <a:off x="539552" y="1916832"/>
              <a:ext cx="7992888" cy="830997"/>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Assume an </a:t>
              </a:r>
              <a:r>
                <a:rPr lang="en-US" altLang="zh-CN" sz="2400" dirty="0" smtClean="0">
                  <a:solidFill>
                    <a:srgbClr val="FF0000"/>
                  </a:solidFill>
                  <a:latin typeface="Times New Roman" pitchFamily="18" charset="0"/>
                  <a:cs typeface="Times New Roman" pitchFamily="18" charset="0"/>
                </a:rPr>
                <a:t>infinitesimal</a:t>
              </a:r>
              <a:r>
                <a:rPr lang="en-US" altLang="zh-CN" sz="2400" dirty="0" smtClean="0">
                  <a:latin typeface="Times New Roman" pitchFamily="18" charset="0"/>
                  <a:cs typeface="Times New Roman" pitchFamily="18" charset="0"/>
                </a:rPr>
                <a:t> source with current density </a:t>
              </a:r>
              <a:r>
                <a:rPr lang="en-US" altLang="zh-CN" sz="2400" i="1" dirty="0" smtClean="0">
                  <a:latin typeface="Times New Roman" pitchFamily="18" charset="0"/>
                  <a:cs typeface="Times New Roman" pitchFamily="18" charset="0"/>
                </a:rPr>
                <a:t>J</a:t>
              </a:r>
              <a:r>
                <a:rPr lang="en-US" altLang="zh-CN" sz="2400" i="1" baseline="-25000" dirty="0" smtClean="0">
                  <a:latin typeface="Times New Roman" pitchFamily="18" charset="0"/>
                  <a:cs typeface="Times New Roman" pitchFamily="18" charset="0"/>
                </a:rPr>
                <a:t>z</a:t>
              </a:r>
              <a:r>
                <a:rPr lang="en-US" altLang="zh-CN" sz="2400" dirty="0" smtClean="0">
                  <a:latin typeface="Times New Roman" pitchFamily="18" charset="0"/>
                  <a:cs typeface="Times New Roman" pitchFamily="18" charset="0"/>
                </a:rPr>
                <a:t>, only an </a:t>
              </a:r>
              <a:r>
                <a:rPr lang="en-US" altLang="zh-CN" sz="2400" i="1" dirty="0" err="1" smtClean="0">
                  <a:latin typeface="Times New Roman" pitchFamily="18" charset="0"/>
                  <a:cs typeface="Times New Roman" pitchFamily="18" charset="0"/>
                </a:rPr>
                <a:t>A</a:t>
              </a:r>
              <a:r>
                <a:rPr lang="en-US" altLang="zh-CN" sz="2400" i="1" baseline="-25000" dirty="0" err="1" smtClean="0">
                  <a:latin typeface="Times New Roman" pitchFamily="18" charset="0"/>
                  <a:cs typeface="Times New Roman" pitchFamily="18" charset="0"/>
                </a:rPr>
                <a:t>z</a:t>
              </a:r>
              <a:r>
                <a:rPr lang="en-US" altLang="zh-CN" sz="2400" dirty="0" smtClean="0">
                  <a:latin typeface="Times New Roman" pitchFamily="18" charset="0"/>
                  <a:cs typeface="Times New Roman" pitchFamily="18" charset="0"/>
                </a:rPr>
                <a:t> component will exist.</a:t>
              </a:r>
              <a:endParaRPr lang="zh-CN" altLang="en-US" sz="2400" i="1" baseline="-25000" dirty="0">
                <a:latin typeface="Times New Roman" pitchFamily="18" charset="0"/>
                <a:cs typeface="Times New Roman" pitchFamily="18" charset="0"/>
              </a:endParaRPr>
            </a:p>
          </p:txBody>
        </p:sp>
        <p:graphicFrame>
          <p:nvGraphicFramePr>
            <p:cNvPr id="5" name="对象 4"/>
            <p:cNvGraphicFramePr>
              <a:graphicFrameLocks noChangeAspect="1"/>
            </p:cNvGraphicFramePr>
            <p:nvPr/>
          </p:nvGraphicFramePr>
          <p:xfrm>
            <a:off x="3471863" y="2853184"/>
            <a:ext cx="2249487" cy="431800"/>
          </p:xfrm>
          <a:graphic>
            <a:graphicData uri="http://schemas.openxmlformats.org/presentationml/2006/ole">
              <mc:AlternateContent xmlns:mc="http://schemas.openxmlformats.org/markup-compatibility/2006">
                <mc:Choice xmlns:v="urn:schemas-microsoft-com:vml" Requires="v">
                  <p:oleObj spid="_x0000_s67593" name="Equation" r:id="rId4" imgW="1257120" imgH="241200" progId="Equation.DSMT4">
                    <p:embed/>
                  </p:oleObj>
                </mc:Choice>
                <mc:Fallback>
                  <p:oleObj name="Equation" r:id="rId4" imgW="1257120" imgH="24120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1863" y="2853184"/>
                          <a:ext cx="2249487"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5868144" y="2780928"/>
              <a:ext cx="122413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(3-31)</a:t>
              </a:r>
              <a:endParaRPr lang="zh-CN" altLang="en-US" sz="2400" dirty="0">
                <a:latin typeface="Times New Roman" pitchFamily="18" charset="0"/>
                <a:cs typeface="Times New Roman" pitchFamily="18" charset="0"/>
              </a:endParaRPr>
            </a:p>
          </p:txBody>
        </p:sp>
      </p:grpSp>
      <p:grpSp>
        <p:nvGrpSpPr>
          <p:cNvPr id="15" name="组合 14"/>
          <p:cNvGrpSpPr/>
          <p:nvPr/>
        </p:nvGrpSpPr>
        <p:grpSpPr>
          <a:xfrm>
            <a:off x="611560" y="3255367"/>
            <a:ext cx="7992888" cy="965796"/>
            <a:chOff x="611560" y="3255367"/>
            <a:chExt cx="7992888" cy="965796"/>
          </a:xfrm>
        </p:grpSpPr>
        <p:sp>
          <p:nvSpPr>
            <p:cNvPr id="7" name="TextBox 6"/>
            <p:cNvSpPr txBox="1"/>
            <p:nvPr/>
          </p:nvSpPr>
          <p:spPr>
            <a:xfrm>
              <a:off x="611560" y="3255367"/>
              <a:ext cx="7992888"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At source-free(</a:t>
              </a:r>
              <a:r>
                <a:rPr lang="zh-CN" altLang="en-US" sz="2400" dirty="0" smtClean="0">
                  <a:latin typeface="Times New Roman" pitchFamily="18" charset="0"/>
                  <a:cs typeface="Times New Roman" pitchFamily="18" charset="0"/>
                </a:rPr>
                <a:t>无源</a:t>
              </a:r>
              <a:r>
                <a:rPr lang="en-US" altLang="zh-CN" sz="2400" dirty="0" smtClean="0">
                  <a:latin typeface="Times New Roman" pitchFamily="18" charset="0"/>
                  <a:cs typeface="Times New Roman" pitchFamily="18" charset="0"/>
                </a:rPr>
                <a:t>) region, where </a:t>
              </a:r>
              <a:r>
                <a:rPr lang="en-US" altLang="zh-CN" sz="2400" i="1" dirty="0" smtClean="0">
                  <a:latin typeface="Times New Roman" pitchFamily="18" charset="0"/>
                  <a:cs typeface="Times New Roman" pitchFamily="18" charset="0"/>
                </a:rPr>
                <a:t>J</a:t>
              </a:r>
              <a:r>
                <a:rPr lang="en-US" altLang="zh-CN" sz="2400" i="1" baseline="-25000" dirty="0" smtClean="0">
                  <a:latin typeface="Times New Roman" pitchFamily="18" charset="0"/>
                  <a:cs typeface="Times New Roman" pitchFamily="18" charset="0"/>
                </a:rPr>
                <a:t>z</a:t>
              </a:r>
              <a:r>
                <a:rPr lang="en-US" altLang="zh-CN" sz="2400" dirty="0" smtClean="0">
                  <a:latin typeface="Times New Roman" pitchFamily="18" charset="0"/>
                  <a:cs typeface="Times New Roman" pitchFamily="18" charset="0"/>
                </a:rPr>
                <a:t>=0, (3-31) reduces to</a:t>
              </a:r>
              <a:endParaRPr lang="zh-CN" altLang="en-US" sz="2400" i="1" baseline="-25000" dirty="0">
                <a:latin typeface="Times New Roman" pitchFamily="18" charset="0"/>
                <a:cs typeface="Times New Roman" pitchFamily="18" charset="0"/>
              </a:endParaRPr>
            </a:p>
          </p:txBody>
        </p:sp>
        <p:graphicFrame>
          <p:nvGraphicFramePr>
            <p:cNvPr id="9" name="对象 8"/>
            <p:cNvGraphicFramePr>
              <a:graphicFrameLocks noChangeAspect="1"/>
            </p:cNvGraphicFramePr>
            <p:nvPr/>
          </p:nvGraphicFramePr>
          <p:xfrm>
            <a:off x="3687763" y="3789363"/>
            <a:ext cx="1817687" cy="431800"/>
          </p:xfrm>
          <a:graphic>
            <a:graphicData uri="http://schemas.openxmlformats.org/presentationml/2006/ole">
              <mc:AlternateContent xmlns:mc="http://schemas.openxmlformats.org/markup-compatibility/2006">
                <mc:Choice xmlns:v="urn:schemas-microsoft-com:vml" Requires="v">
                  <p:oleObj spid="_x0000_s67594" name="Equation" r:id="rId6" imgW="1015920" imgH="241200" progId="Equation.DSMT4">
                    <p:embed/>
                  </p:oleObj>
                </mc:Choice>
                <mc:Fallback>
                  <p:oleObj name="Equation" r:id="rId6" imgW="1015920" imgH="24120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87763" y="3789363"/>
                          <a:ext cx="1817687"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5868144" y="3717032"/>
              <a:ext cx="122413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(3-32)</a:t>
              </a:r>
              <a:endParaRPr lang="zh-CN" altLang="en-US" sz="2400" dirty="0">
                <a:latin typeface="Times New Roman" pitchFamily="18" charset="0"/>
                <a:cs typeface="Times New Roman" pitchFamily="18" charset="0"/>
              </a:endParaRPr>
            </a:p>
          </p:txBody>
        </p:sp>
      </p:grpSp>
      <p:pic>
        <p:nvPicPr>
          <p:cNvPr id="17" name="Picture 2"/>
          <p:cNvPicPr>
            <a:picLocks noChangeAspect="1" noChangeArrowheads="1"/>
          </p:cNvPicPr>
          <p:nvPr/>
        </p:nvPicPr>
        <p:blipFill>
          <a:blip r:embed="rId8" cstate="print">
            <a:clrChange>
              <a:clrFrom>
                <a:srgbClr val="FFFFFF"/>
              </a:clrFrom>
              <a:clrTo>
                <a:srgbClr val="FFFFFF">
                  <a:alpha val="0"/>
                </a:srgbClr>
              </a:clrTo>
            </a:clrChange>
          </a:blip>
          <a:srcRect/>
          <a:stretch>
            <a:fillRect/>
          </a:stretch>
        </p:blipFill>
        <p:spPr bwMode="auto">
          <a:xfrm>
            <a:off x="2051720" y="3886074"/>
            <a:ext cx="4173463" cy="2927302"/>
          </a:xfrm>
          <a:prstGeom prst="rect">
            <a:avLst/>
          </a:prstGeom>
          <a:noFill/>
          <a:ln w="9525">
            <a:noFill/>
            <a:miter lim="800000"/>
            <a:headEnd/>
            <a:tailEnd/>
          </a:ln>
        </p:spPr>
      </p:pic>
      <p:sp>
        <p:nvSpPr>
          <p:cNvPr id="18" name="TextBox 17"/>
          <p:cNvSpPr txBox="1"/>
          <p:nvPr/>
        </p:nvSpPr>
        <p:spPr>
          <a:xfrm>
            <a:off x="2843808" y="5363924"/>
            <a:ext cx="504056" cy="369332"/>
          </a:xfrm>
          <a:prstGeom prst="rect">
            <a:avLst/>
          </a:prstGeom>
          <a:noFill/>
        </p:spPr>
        <p:txBody>
          <a:bodyPr wrap="square" rtlCol="0">
            <a:spAutoFit/>
          </a:bodyPr>
          <a:lstStyle/>
          <a:p>
            <a:r>
              <a:rPr lang="en-US" altLang="zh-CN" i="1" dirty="0" err="1" smtClean="0">
                <a:solidFill>
                  <a:srgbClr val="FF0000"/>
                </a:solidFill>
                <a:latin typeface="Times New Roman" pitchFamily="18" charset="0"/>
                <a:cs typeface="Times New Roman" pitchFamily="18" charset="0"/>
              </a:rPr>
              <a:t>J</a:t>
            </a:r>
            <a:r>
              <a:rPr lang="en-US" altLang="zh-CN" i="1" baseline="-25000" dirty="0" err="1" smtClean="0">
                <a:solidFill>
                  <a:srgbClr val="FF0000"/>
                </a:solidFill>
                <a:latin typeface="Times New Roman" pitchFamily="18" charset="0"/>
                <a:cs typeface="Times New Roman" pitchFamily="18" charset="0"/>
              </a:rPr>
              <a:t>z</a:t>
            </a:r>
            <a:endParaRPr lang="zh-CN" altLang="en-US" i="1" baseline="-2500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95536" y="1628800"/>
            <a:ext cx="8496944" cy="1942475"/>
            <a:chOff x="539552" y="4150821"/>
            <a:chExt cx="8496944" cy="1942475"/>
          </a:xfrm>
        </p:grpSpPr>
        <p:sp>
          <p:nvSpPr>
            <p:cNvPr id="4" name="矩形 3"/>
            <p:cNvSpPr/>
            <p:nvPr/>
          </p:nvSpPr>
          <p:spPr>
            <a:xfrm>
              <a:off x="539552" y="4150821"/>
              <a:ext cx="8352928" cy="1200329"/>
            </a:xfrm>
            <a:prstGeom prst="rect">
              <a:avLst/>
            </a:prstGeom>
          </p:spPr>
          <p:txBody>
            <a:bodyPr wrap="square">
              <a:spAutoFit/>
            </a:bodyPr>
            <a:lstStyle/>
            <a:p>
              <a:r>
                <a:rPr lang="en-US" altLang="zh-CN" sz="2400" dirty="0" smtClean="0">
                  <a:latin typeface="Times New Roman" pitchFamily="18" charset="0"/>
                  <a:cs typeface="Times New Roman" pitchFamily="18" charset="0"/>
                </a:rPr>
                <a:t>Since in the limit the source is a point, it requires that </a:t>
              </a:r>
              <a:r>
                <a:rPr lang="en-US" altLang="zh-CN" sz="2400" i="1" dirty="0" err="1" smtClean="0">
                  <a:latin typeface="Times New Roman" pitchFamily="18" charset="0"/>
                  <a:cs typeface="Times New Roman" pitchFamily="18" charset="0"/>
                </a:rPr>
                <a:t>A</a:t>
              </a:r>
              <a:r>
                <a:rPr lang="en-US" altLang="zh-CN" sz="2400" i="1" baseline="-25000" dirty="0" err="1" smtClean="0">
                  <a:latin typeface="Times New Roman" pitchFamily="18" charset="0"/>
                  <a:cs typeface="Times New Roman" pitchFamily="18" charset="0"/>
                </a:rPr>
                <a:t>z</a:t>
              </a:r>
              <a:r>
                <a:rPr lang="en-US" altLang="zh-CN" sz="2400" dirty="0" smtClean="0">
                  <a:latin typeface="Times New Roman" pitchFamily="18" charset="0"/>
                  <a:cs typeface="Times New Roman" pitchFamily="18" charset="0"/>
                </a:rPr>
                <a:t> is not a function of direction (</a:t>
              </a:r>
              <a:r>
                <a:rPr lang="en-US" altLang="zh-CN" sz="2400" i="1" dirty="0" smtClean="0">
                  <a:latin typeface="Times New Roman" pitchFamily="18" charset="0"/>
                  <a:cs typeface="Times New Roman" pitchFamily="18" charset="0"/>
                </a:rPr>
                <a:t>θ</a:t>
              </a:r>
              <a:r>
                <a:rPr lang="en-US" altLang="zh-CN" sz="2400" dirty="0" smtClean="0">
                  <a:latin typeface="Times New Roman" pitchFamily="18" charset="0"/>
                  <a:cs typeface="Times New Roman" pitchFamily="18" charset="0"/>
                </a:rPr>
                <a:t> and </a:t>
              </a:r>
              <a:r>
                <a:rPr lang="en-US" altLang="zh-CN" sz="2400" i="1" dirty="0" smtClean="0">
                  <a:latin typeface="Times New Roman" pitchFamily="18" charset="0"/>
                  <a:cs typeface="Times New Roman" pitchFamily="18" charset="0"/>
                </a:rPr>
                <a:t>φ</a:t>
              </a:r>
              <a:r>
                <a:rPr lang="en-US" altLang="zh-CN" sz="2400" dirty="0" smtClean="0">
                  <a:latin typeface="Times New Roman" pitchFamily="18" charset="0"/>
                  <a:cs typeface="Times New Roman" pitchFamily="18" charset="0"/>
                </a:rPr>
                <a:t>); in a spherical coordinate system, </a:t>
              </a:r>
              <a:r>
                <a:rPr lang="en-US" altLang="zh-CN" sz="2400" i="1" dirty="0" err="1" smtClean="0">
                  <a:latin typeface="Times New Roman" pitchFamily="18" charset="0"/>
                  <a:cs typeface="Times New Roman" pitchFamily="18" charset="0"/>
                </a:rPr>
                <a:t>A</a:t>
              </a:r>
              <a:r>
                <a:rPr lang="en-US" altLang="zh-CN" sz="2400" i="1" baseline="-25000" dirty="0" err="1" smtClean="0">
                  <a:latin typeface="Times New Roman" pitchFamily="18" charset="0"/>
                  <a:cs typeface="Times New Roman" pitchFamily="18" charset="0"/>
                </a:rPr>
                <a:t>z</a:t>
              </a:r>
              <a:r>
                <a:rPr lang="en-US" altLang="zh-CN" sz="2400" dirty="0" smtClean="0">
                  <a:latin typeface="Times New Roman" pitchFamily="18" charset="0"/>
                  <a:cs typeface="Times New Roman" pitchFamily="18" charset="0"/>
                </a:rPr>
                <a:t> = </a:t>
              </a:r>
              <a:r>
                <a:rPr lang="en-US" altLang="zh-CN" sz="2400" i="1" dirty="0" err="1" smtClean="0">
                  <a:latin typeface="Times New Roman" pitchFamily="18" charset="0"/>
                  <a:cs typeface="Times New Roman" pitchFamily="18" charset="0"/>
                </a:rPr>
                <a:t>A</a:t>
              </a:r>
              <a:r>
                <a:rPr lang="en-US" altLang="zh-CN" sz="2400" i="1" baseline="-25000" dirty="0" err="1" smtClean="0">
                  <a:latin typeface="Times New Roman" pitchFamily="18" charset="0"/>
                  <a:cs typeface="Times New Roman" pitchFamily="18" charset="0"/>
                </a:rPr>
                <a:t>z</a:t>
              </a:r>
              <a:r>
                <a:rPr lang="en-US" altLang="zh-CN" sz="2400" dirty="0" smtClean="0">
                  <a:latin typeface="Times New Roman" pitchFamily="18" charset="0"/>
                  <a:cs typeface="Times New Roman" pitchFamily="18" charset="0"/>
                </a:rPr>
                <a:t>(</a:t>
              </a:r>
              <a:r>
                <a:rPr lang="en-US" altLang="zh-CN" sz="2400" i="1" dirty="0" smtClean="0">
                  <a:latin typeface="Times New Roman" pitchFamily="18" charset="0"/>
                  <a:cs typeface="Times New Roman" pitchFamily="18" charset="0"/>
                </a:rPr>
                <a:t>r</a:t>
              </a:r>
              <a:r>
                <a:rPr lang="en-US" altLang="zh-CN" sz="2400" dirty="0" smtClean="0">
                  <a:latin typeface="Times New Roman" pitchFamily="18" charset="0"/>
                  <a:cs typeface="Times New Roman" pitchFamily="18" charset="0"/>
                </a:rPr>
                <a:t>) where </a:t>
              </a:r>
              <a:r>
                <a:rPr lang="en-US" altLang="zh-CN" sz="2400" i="1" dirty="0" smtClean="0">
                  <a:latin typeface="Times New Roman" pitchFamily="18" charset="0"/>
                  <a:cs typeface="Times New Roman" pitchFamily="18" charset="0"/>
                </a:rPr>
                <a:t>r</a:t>
              </a:r>
              <a:r>
                <a:rPr lang="en-US" altLang="zh-CN" sz="2400" dirty="0" smtClean="0">
                  <a:latin typeface="Times New Roman" pitchFamily="18" charset="0"/>
                  <a:cs typeface="Times New Roman" pitchFamily="18" charset="0"/>
                </a:rPr>
                <a:t> is the radial distance</a:t>
              </a:r>
              <a:endParaRPr lang="zh-CN" altLang="en-US" sz="2400" dirty="0">
                <a:latin typeface="Times New Roman" pitchFamily="18" charset="0"/>
                <a:cs typeface="Times New Roman" pitchFamily="18" charset="0"/>
              </a:endParaRPr>
            </a:p>
          </p:txBody>
        </p:sp>
        <p:graphicFrame>
          <p:nvGraphicFramePr>
            <p:cNvPr id="5" name="Object 5"/>
            <p:cNvGraphicFramePr>
              <a:graphicFrameLocks noChangeAspect="1"/>
            </p:cNvGraphicFramePr>
            <p:nvPr/>
          </p:nvGraphicFramePr>
          <p:xfrm>
            <a:off x="1657350" y="5342409"/>
            <a:ext cx="5884863" cy="750887"/>
          </p:xfrm>
          <a:graphic>
            <a:graphicData uri="http://schemas.openxmlformats.org/presentationml/2006/ole">
              <mc:AlternateContent xmlns:mc="http://schemas.openxmlformats.org/markup-compatibility/2006">
                <mc:Choice xmlns:v="urn:schemas-microsoft-com:vml" Requires="v">
                  <p:oleObj spid="_x0000_s92169" name="Equation" r:id="rId3" imgW="3288960" imgH="419040" progId="Equation.DSMT4">
                    <p:embed/>
                  </p:oleObj>
                </mc:Choice>
                <mc:Fallback>
                  <p:oleObj name="Equation" r:id="rId3" imgW="3288960" imgH="41904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350" y="5342409"/>
                          <a:ext cx="5884863" cy="750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7812360" y="5487615"/>
              <a:ext cx="122413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(3-34)</a:t>
              </a:r>
              <a:endParaRPr lang="zh-CN" altLang="en-US" sz="2400" dirty="0">
                <a:latin typeface="Times New Roman" pitchFamily="18" charset="0"/>
                <a:cs typeface="Times New Roman" pitchFamily="18" charset="0"/>
              </a:endParaRPr>
            </a:p>
          </p:txBody>
        </p:sp>
      </p:grpSp>
      <p:pic>
        <p:nvPicPr>
          <p:cNvPr id="7" name="Picture 3"/>
          <p:cNvPicPr>
            <a:picLocks noChangeAspect="1" noChangeArrowheads="1"/>
          </p:cNvPicPr>
          <p:nvPr/>
        </p:nvPicPr>
        <p:blipFill>
          <a:blip r:embed="rId5" cstate="print"/>
          <a:srcRect/>
          <a:stretch>
            <a:fillRect/>
          </a:stretch>
        </p:blipFill>
        <p:spPr bwMode="auto">
          <a:xfrm>
            <a:off x="1" y="0"/>
            <a:ext cx="9144000" cy="1000125"/>
          </a:xfrm>
          <a:prstGeom prst="rect">
            <a:avLst/>
          </a:prstGeom>
          <a:noFill/>
          <a:ln w="9525">
            <a:noFill/>
            <a:miter lim="800000"/>
            <a:headEnd/>
            <a:tailEnd/>
          </a:ln>
          <a:effectLst/>
        </p:spPr>
      </p:pic>
      <p:sp>
        <p:nvSpPr>
          <p:cNvPr id="8" name="TextBox 7"/>
          <p:cNvSpPr txBox="1"/>
          <p:nvPr/>
        </p:nvSpPr>
        <p:spPr>
          <a:xfrm>
            <a:off x="755576" y="4077072"/>
            <a:ext cx="6984776" cy="830997"/>
          </a:xfrm>
          <a:prstGeom prst="rect">
            <a:avLst/>
          </a:prstGeom>
          <a:noFill/>
        </p:spPr>
        <p:txBody>
          <a:bodyPr wrap="square" rtlCol="0">
            <a:spAutoFit/>
          </a:bodyPr>
          <a:lstStyle/>
          <a:p>
            <a:r>
              <a:rPr lang="en-US" altLang="zh-CN" sz="2400" dirty="0" smtClean="0"/>
              <a:t>*                 in the spherical coordinates system can be found in Appendix VII, page1085</a:t>
            </a:r>
            <a:endParaRPr lang="zh-CN" altLang="en-US" sz="2400" dirty="0"/>
          </a:p>
        </p:txBody>
      </p:sp>
      <p:graphicFrame>
        <p:nvGraphicFramePr>
          <p:cNvPr id="9" name="对象 8"/>
          <p:cNvGraphicFramePr>
            <a:graphicFrameLocks noChangeAspect="1"/>
          </p:cNvGraphicFramePr>
          <p:nvPr/>
        </p:nvGraphicFramePr>
        <p:xfrm>
          <a:off x="993428" y="4076700"/>
          <a:ext cx="1130300" cy="469900"/>
        </p:xfrm>
        <a:graphic>
          <a:graphicData uri="http://schemas.openxmlformats.org/presentationml/2006/ole">
            <mc:AlternateContent xmlns:mc="http://schemas.openxmlformats.org/markup-compatibility/2006">
              <mc:Choice xmlns:v="urn:schemas-microsoft-com:vml" Requires="v">
                <p:oleObj spid="_x0000_s92170" name="Equation" r:id="rId6" imgW="660240" imgH="203040" progId="Equation.DSMT4">
                  <p:embed/>
                </p:oleObj>
              </mc:Choice>
              <mc:Fallback>
                <p:oleObj name="Equation" r:id="rId6" imgW="660240" imgH="20304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3428" y="4076700"/>
                        <a:ext cx="11303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3" name="矩形 2"/>
          <p:cNvSpPr/>
          <p:nvPr/>
        </p:nvSpPr>
        <p:spPr>
          <a:xfrm>
            <a:off x="251520" y="1259468"/>
            <a:ext cx="8748464" cy="461665"/>
          </a:xfrm>
          <a:prstGeom prst="rect">
            <a:avLst/>
          </a:prstGeom>
        </p:spPr>
        <p:txBody>
          <a:bodyPr wrap="square">
            <a:spAutoFit/>
          </a:bodyPr>
          <a:lstStyle/>
          <a:p>
            <a:r>
              <a:rPr lang="en-US" altLang="zh-CN" sz="2400" dirty="0" smtClean="0">
                <a:latin typeface="Times New Roman" pitchFamily="18" charset="0"/>
                <a:cs typeface="Times New Roman" pitchFamily="18" charset="0"/>
              </a:rPr>
              <a:t>The differential equation of (3-34) has two independent solutions</a:t>
            </a:r>
            <a:endParaRPr lang="zh-CN" altLang="en-US" sz="2400" dirty="0">
              <a:latin typeface="Times New Roman" pitchFamily="18" charset="0"/>
              <a:cs typeface="Times New Roman" pitchFamily="18" charset="0"/>
            </a:endParaRPr>
          </a:p>
        </p:txBody>
      </p:sp>
      <p:graphicFrame>
        <p:nvGraphicFramePr>
          <p:cNvPr id="4" name="对象 3"/>
          <p:cNvGraphicFramePr>
            <a:graphicFrameLocks noChangeAspect="1"/>
          </p:cNvGraphicFramePr>
          <p:nvPr/>
        </p:nvGraphicFramePr>
        <p:xfrm>
          <a:off x="1979712" y="1772816"/>
          <a:ext cx="1511300" cy="755650"/>
        </p:xfrm>
        <a:graphic>
          <a:graphicData uri="http://schemas.openxmlformats.org/presentationml/2006/ole">
            <mc:AlternateContent xmlns:mc="http://schemas.openxmlformats.org/markup-compatibility/2006">
              <mc:Choice xmlns:v="urn:schemas-microsoft-com:vml" Requires="v">
                <p:oleObj spid="_x0000_s68619" name="Equation" r:id="rId4" imgW="838080" imgH="419040" progId="Equation.DSMT4">
                  <p:embed/>
                </p:oleObj>
              </mc:Choice>
              <mc:Fallback>
                <p:oleObj name="Equation" r:id="rId4" imgW="838080" imgH="41904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712" y="1772816"/>
                        <a:ext cx="151130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1" name="Object 3"/>
          <p:cNvGraphicFramePr>
            <a:graphicFrameLocks noChangeAspect="1"/>
          </p:cNvGraphicFramePr>
          <p:nvPr/>
        </p:nvGraphicFramePr>
        <p:xfrm>
          <a:off x="1979712" y="2817366"/>
          <a:ext cx="1557338" cy="755650"/>
        </p:xfrm>
        <a:graphic>
          <a:graphicData uri="http://schemas.openxmlformats.org/presentationml/2006/ole">
            <mc:AlternateContent xmlns:mc="http://schemas.openxmlformats.org/markup-compatibility/2006">
              <mc:Choice xmlns:v="urn:schemas-microsoft-com:vml" Requires="v">
                <p:oleObj spid="_x0000_s68620" name="Equation" r:id="rId6" imgW="863280" imgH="419040" progId="Equation.DSMT4">
                  <p:embed/>
                </p:oleObj>
              </mc:Choice>
              <mc:Fallback>
                <p:oleObj name="Equation" r:id="rId6" imgW="863280" imgH="41904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712" y="2817366"/>
                        <a:ext cx="1557338"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6516216" y="1916832"/>
            <a:ext cx="122413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(3-35)</a:t>
            </a:r>
            <a:endParaRPr lang="zh-CN" altLang="en-US" sz="2400" dirty="0">
              <a:latin typeface="Times New Roman" pitchFamily="18" charset="0"/>
              <a:cs typeface="Times New Roman" pitchFamily="18" charset="0"/>
            </a:endParaRPr>
          </a:p>
        </p:txBody>
      </p:sp>
      <p:sp>
        <p:nvSpPr>
          <p:cNvPr id="8" name="矩形 7"/>
          <p:cNvSpPr/>
          <p:nvPr/>
        </p:nvSpPr>
        <p:spPr>
          <a:xfrm>
            <a:off x="3923928" y="1844824"/>
            <a:ext cx="2736304" cy="707886"/>
          </a:xfrm>
          <a:prstGeom prst="rect">
            <a:avLst/>
          </a:prstGeom>
        </p:spPr>
        <p:txBody>
          <a:bodyPr wrap="square">
            <a:spAutoFit/>
          </a:bodyPr>
          <a:lstStyle/>
          <a:p>
            <a:r>
              <a:rPr lang="en-US" altLang="zh-CN" sz="2000" dirty="0" smtClean="0">
                <a:latin typeface="Times New Roman" pitchFamily="18" charset="0"/>
                <a:cs typeface="Times New Roman" pitchFamily="18" charset="0"/>
              </a:rPr>
              <a:t>wave traveling along </a:t>
            </a:r>
            <a:r>
              <a:rPr lang="en-US" altLang="zh-CN" sz="2000" b="1" i="1" dirty="0" smtClean="0">
                <a:solidFill>
                  <a:srgbClr val="FF0000"/>
                </a:solidFill>
                <a:latin typeface="Times New Roman" pitchFamily="18" charset="0"/>
                <a:cs typeface="Times New Roman" pitchFamily="18" charset="0"/>
              </a:rPr>
              <a:t>r</a:t>
            </a:r>
            <a:r>
              <a:rPr lang="en-US" altLang="zh-CN" sz="2000" dirty="0" smtClean="0">
                <a:latin typeface="Times New Roman" pitchFamily="18" charset="0"/>
                <a:cs typeface="Times New Roman" pitchFamily="18" charset="0"/>
              </a:rPr>
              <a:t> direction</a:t>
            </a:r>
            <a:endParaRPr lang="zh-CN" altLang="en-US" sz="2000" dirty="0">
              <a:latin typeface="Times New Roman" pitchFamily="18" charset="0"/>
              <a:cs typeface="Times New Roman" pitchFamily="18" charset="0"/>
            </a:endParaRPr>
          </a:p>
        </p:txBody>
      </p:sp>
      <p:sp>
        <p:nvSpPr>
          <p:cNvPr id="9" name="矩形 8"/>
          <p:cNvSpPr/>
          <p:nvPr/>
        </p:nvSpPr>
        <p:spPr>
          <a:xfrm>
            <a:off x="3923928" y="2780928"/>
            <a:ext cx="2304256" cy="707886"/>
          </a:xfrm>
          <a:prstGeom prst="rect">
            <a:avLst/>
          </a:prstGeom>
        </p:spPr>
        <p:txBody>
          <a:bodyPr wrap="square">
            <a:spAutoFit/>
          </a:bodyPr>
          <a:lstStyle/>
          <a:p>
            <a:r>
              <a:rPr lang="en-US" altLang="zh-CN" sz="2000" dirty="0" smtClean="0">
                <a:latin typeface="Times New Roman" pitchFamily="18" charset="0"/>
                <a:cs typeface="Times New Roman" pitchFamily="18" charset="0"/>
              </a:rPr>
              <a:t>wave traveling along </a:t>
            </a:r>
            <a:r>
              <a:rPr lang="en-US" altLang="zh-CN" sz="2000" b="1" dirty="0" smtClean="0">
                <a:solidFill>
                  <a:srgbClr val="FF0000"/>
                </a:solidFill>
                <a:latin typeface="Times New Roman" pitchFamily="18" charset="0"/>
                <a:cs typeface="Times New Roman" pitchFamily="18" charset="0"/>
              </a:rPr>
              <a:t>-</a:t>
            </a:r>
            <a:r>
              <a:rPr lang="en-US" altLang="zh-CN" sz="2000" b="1" i="1" dirty="0" smtClean="0">
                <a:solidFill>
                  <a:srgbClr val="FF0000"/>
                </a:solidFill>
                <a:latin typeface="Times New Roman" pitchFamily="18" charset="0"/>
                <a:cs typeface="Times New Roman" pitchFamily="18" charset="0"/>
              </a:rPr>
              <a:t>r</a:t>
            </a:r>
            <a:r>
              <a:rPr lang="en-US" altLang="zh-CN" sz="2000" dirty="0" smtClean="0">
                <a:latin typeface="Times New Roman" pitchFamily="18" charset="0"/>
                <a:cs typeface="Times New Roman" pitchFamily="18" charset="0"/>
              </a:rPr>
              <a:t> direction</a:t>
            </a:r>
            <a:endParaRPr lang="zh-CN" altLang="en-US" sz="2000" dirty="0">
              <a:latin typeface="Times New Roman" pitchFamily="18" charset="0"/>
              <a:cs typeface="Times New Roman" pitchFamily="18" charset="0"/>
            </a:endParaRPr>
          </a:p>
        </p:txBody>
      </p:sp>
      <p:sp>
        <p:nvSpPr>
          <p:cNvPr id="10" name="矩形 9"/>
          <p:cNvSpPr/>
          <p:nvPr/>
        </p:nvSpPr>
        <p:spPr>
          <a:xfrm>
            <a:off x="395536" y="3573016"/>
            <a:ext cx="7128792" cy="461665"/>
          </a:xfrm>
          <a:prstGeom prst="rect">
            <a:avLst/>
          </a:prstGeom>
        </p:spPr>
        <p:txBody>
          <a:bodyPr wrap="square">
            <a:spAutoFit/>
          </a:bodyPr>
          <a:lstStyle/>
          <a:p>
            <a:r>
              <a:rPr lang="en-US" altLang="zh-CN" sz="2400" dirty="0" smtClean="0">
                <a:latin typeface="Times New Roman" pitchFamily="18" charset="0"/>
                <a:cs typeface="Times New Roman" pitchFamily="18" charset="0"/>
              </a:rPr>
              <a:t>In the static case (</a:t>
            </a:r>
            <a:r>
              <a:rPr lang="en-US" altLang="zh-CN" sz="2400" i="1" dirty="0" smtClean="0">
                <a:latin typeface="Times New Roman" pitchFamily="18" charset="0"/>
                <a:cs typeface="Times New Roman" pitchFamily="18" charset="0"/>
              </a:rPr>
              <a:t>ω</a:t>
            </a:r>
            <a:r>
              <a:rPr lang="en-US" altLang="zh-CN" sz="2400" dirty="0" smtClean="0">
                <a:latin typeface="Times New Roman" pitchFamily="18" charset="0"/>
                <a:cs typeface="Times New Roman" pitchFamily="18" charset="0"/>
              </a:rPr>
              <a:t> = 0, </a:t>
            </a:r>
            <a:r>
              <a:rPr lang="en-US" altLang="zh-CN" sz="2400" i="1" dirty="0" smtClean="0">
                <a:latin typeface="Times New Roman" pitchFamily="18" charset="0"/>
                <a:cs typeface="Times New Roman" pitchFamily="18" charset="0"/>
              </a:rPr>
              <a:t>k</a:t>
            </a:r>
            <a:r>
              <a:rPr lang="en-US" altLang="zh-CN" sz="2400" dirty="0" smtClean="0">
                <a:latin typeface="Times New Roman" pitchFamily="18" charset="0"/>
                <a:cs typeface="Times New Roman" pitchFamily="18" charset="0"/>
              </a:rPr>
              <a:t> = 0), (3-35) simplifies to</a:t>
            </a:r>
            <a:endParaRPr lang="zh-CN" altLang="en-US" sz="2400" dirty="0">
              <a:latin typeface="Times New Roman" pitchFamily="18" charset="0"/>
              <a:cs typeface="Times New Roman" pitchFamily="18" charset="0"/>
            </a:endParaRPr>
          </a:p>
        </p:txBody>
      </p:sp>
      <p:sp>
        <p:nvSpPr>
          <p:cNvPr id="11" name="TextBox 10"/>
          <p:cNvSpPr txBox="1"/>
          <p:nvPr/>
        </p:nvSpPr>
        <p:spPr>
          <a:xfrm>
            <a:off x="6516216" y="2895327"/>
            <a:ext cx="122413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(3-36)</a:t>
            </a:r>
            <a:endParaRPr lang="zh-CN" altLang="en-US" sz="2400" dirty="0">
              <a:latin typeface="Times New Roman" pitchFamily="18" charset="0"/>
              <a:cs typeface="Times New Roman" pitchFamily="18" charset="0"/>
            </a:endParaRPr>
          </a:p>
        </p:txBody>
      </p:sp>
      <p:sp>
        <p:nvSpPr>
          <p:cNvPr id="12" name="TextBox 11"/>
          <p:cNvSpPr txBox="1"/>
          <p:nvPr/>
        </p:nvSpPr>
        <p:spPr>
          <a:xfrm>
            <a:off x="7452320" y="1844824"/>
            <a:ext cx="1691680" cy="830997"/>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We choose (3-35)</a:t>
            </a:r>
            <a:endParaRPr lang="zh-CN" altLang="en-US" sz="2400" dirty="0">
              <a:latin typeface="Times New Roman" pitchFamily="18" charset="0"/>
              <a:cs typeface="Times New Roman" pitchFamily="18" charset="0"/>
            </a:endParaRPr>
          </a:p>
        </p:txBody>
      </p:sp>
      <p:graphicFrame>
        <p:nvGraphicFramePr>
          <p:cNvPr id="68612" name="Object 4"/>
          <p:cNvGraphicFramePr>
            <a:graphicFrameLocks noChangeAspect="1"/>
          </p:cNvGraphicFramePr>
          <p:nvPr/>
        </p:nvGraphicFramePr>
        <p:xfrm>
          <a:off x="2233613" y="4098925"/>
          <a:ext cx="1144587" cy="711200"/>
        </p:xfrm>
        <a:graphic>
          <a:graphicData uri="http://schemas.openxmlformats.org/presentationml/2006/ole">
            <mc:AlternateContent xmlns:mc="http://schemas.openxmlformats.org/markup-compatibility/2006">
              <mc:Choice xmlns:v="urn:schemas-microsoft-com:vml" Requires="v">
                <p:oleObj spid="_x0000_s68621" name="Equation" r:id="rId8" imgW="634680" imgH="393480" progId="Equation.DSMT4">
                  <p:embed/>
                </p:oleObj>
              </mc:Choice>
              <mc:Fallback>
                <p:oleObj name="Equation" r:id="rId8" imgW="634680" imgH="393480" progId="Equation.DSMT4">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33613" y="4098925"/>
                        <a:ext cx="1144587"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6516216" y="4221088"/>
            <a:ext cx="122413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(3-38)</a:t>
            </a:r>
            <a:endParaRPr lang="zh-CN" altLang="en-US" sz="2400" dirty="0">
              <a:latin typeface="Times New Roman" pitchFamily="18" charset="0"/>
              <a:cs typeface="Times New Roman" pitchFamily="18" charset="0"/>
            </a:endParaRPr>
          </a:p>
        </p:txBody>
      </p:sp>
      <p:grpSp>
        <p:nvGrpSpPr>
          <p:cNvPr id="23" name="组合 22"/>
          <p:cNvGrpSpPr/>
          <p:nvPr/>
        </p:nvGrpSpPr>
        <p:grpSpPr>
          <a:xfrm>
            <a:off x="323528" y="1772816"/>
            <a:ext cx="8496944" cy="4608512"/>
            <a:chOff x="323528" y="1772816"/>
            <a:chExt cx="8496944" cy="4608512"/>
          </a:xfrm>
        </p:grpSpPr>
        <p:grpSp>
          <p:nvGrpSpPr>
            <p:cNvPr id="22" name="组合 21"/>
            <p:cNvGrpSpPr/>
            <p:nvPr/>
          </p:nvGrpSpPr>
          <p:grpSpPr>
            <a:xfrm>
              <a:off x="323528" y="1772816"/>
              <a:ext cx="8496944" cy="4608512"/>
              <a:chOff x="323528" y="1772816"/>
              <a:chExt cx="8496944" cy="4608512"/>
            </a:xfrm>
          </p:grpSpPr>
          <p:sp>
            <p:nvSpPr>
              <p:cNvPr id="15" name="矩形 14"/>
              <p:cNvSpPr/>
              <p:nvPr/>
            </p:nvSpPr>
            <p:spPr>
              <a:xfrm>
                <a:off x="323528" y="4811668"/>
                <a:ext cx="8496944" cy="1569660"/>
              </a:xfrm>
              <a:prstGeom prst="rect">
                <a:avLst/>
              </a:prstGeom>
            </p:spPr>
            <p:txBody>
              <a:bodyPr wrap="square">
                <a:spAutoFit/>
              </a:bodyPr>
              <a:lstStyle/>
              <a:p>
                <a:pPr marL="457200" indent="-457200">
                  <a:buFont typeface="Wingdings" pitchFamily="2" charset="2"/>
                  <a:buChar char="n"/>
                </a:pPr>
                <a:r>
                  <a:rPr lang="en-US" altLang="zh-CN" sz="2400" dirty="0" smtClean="0">
                    <a:latin typeface="Times New Roman" pitchFamily="18" charset="0"/>
                    <a:cs typeface="Times New Roman" pitchFamily="18" charset="0"/>
                  </a:rPr>
                  <a:t>Thus in source-free region, the time-varying solution and the static solution of (3-35) and (3-38) differ only by the </a:t>
                </a:r>
                <a:r>
                  <a:rPr lang="en-US" altLang="zh-CN" sz="2400" b="1" i="1" dirty="0" smtClean="0">
                    <a:solidFill>
                      <a:srgbClr val="FF0000"/>
                    </a:solidFill>
                    <a:latin typeface="Times New Roman" pitchFamily="18" charset="0"/>
                    <a:cs typeface="Times New Roman" pitchFamily="18" charset="0"/>
                  </a:rPr>
                  <a:t>e</a:t>
                </a:r>
                <a:r>
                  <a:rPr lang="en-US" altLang="zh-CN" sz="2400" b="1" baseline="30000" dirty="0" smtClean="0">
                    <a:solidFill>
                      <a:srgbClr val="FF0000"/>
                    </a:solidFill>
                    <a:latin typeface="Times New Roman" pitchFamily="18" charset="0"/>
                    <a:cs typeface="Times New Roman" pitchFamily="18" charset="0"/>
                  </a:rPr>
                  <a:t>−</a:t>
                </a:r>
                <a:r>
                  <a:rPr lang="en-US" altLang="zh-CN" sz="2400" b="1" i="1" baseline="30000" dirty="0" err="1" smtClean="0">
                    <a:solidFill>
                      <a:srgbClr val="FF0000"/>
                    </a:solidFill>
                    <a:latin typeface="Times New Roman" pitchFamily="18" charset="0"/>
                    <a:cs typeface="Times New Roman" pitchFamily="18" charset="0"/>
                  </a:rPr>
                  <a:t>jkr</a:t>
                </a:r>
                <a:r>
                  <a:rPr lang="en-US" altLang="zh-CN" sz="2400" i="1" dirty="0" smtClean="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factor</a:t>
                </a:r>
              </a:p>
              <a:p>
                <a:pPr marL="457200" indent="-457200">
                  <a:buFont typeface="Wingdings" pitchFamily="2" charset="2"/>
                  <a:buChar char="n"/>
                </a:pPr>
                <a:r>
                  <a:rPr lang="en-US" altLang="zh-CN" sz="2400" dirty="0" smtClean="0">
                    <a:latin typeface="Times New Roman" pitchFamily="18" charset="0"/>
                    <a:cs typeface="Times New Roman" pitchFamily="18" charset="0"/>
                  </a:rPr>
                  <a:t>the time-varying solution of (3-35) can be obtained by multiplying the static solution of (3-38) by </a:t>
                </a:r>
                <a:r>
                  <a:rPr lang="en-US" altLang="zh-CN" sz="2400" b="1" i="1" dirty="0" smtClean="0">
                    <a:solidFill>
                      <a:srgbClr val="FF0000"/>
                    </a:solidFill>
                    <a:latin typeface="Times New Roman" pitchFamily="18" charset="0"/>
                    <a:cs typeface="Times New Roman" pitchFamily="18" charset="0"/>
                  </a:rPr>
                  <a:t>e</a:t>
                </a:r>
                <a:r>
                  <a:rPr lang="en-US" altLang="zh-CN" sz="2400" b="1" baseline="30000" dirty="0" smtClean="0">
                    <a:solidFill>
                      <a:srgbClr val="FF0000"/>
                    </a:solidFill>
                    <a:latin typeface="Times New Roman" pitchFamily="18" charset="0"/>
                    <a:cs typeface="Times New Roman" pitchFamily="18" charset="0"/>
                  </a:rPr>
                  <a:t>−</a:t>
                </a:r>
                <a:r>
                  <a:rPr lang="en-US" altLang="zh-CN" sz="2400" b="1" i="1" baseline="30000" dirty="0" err="1" smtClean="0">
                    <a:solidFill>
                      <a:srgbClr val="FF0000"/>
                    </a:solidFill>
                    <a:latin typeface="Times New Roman" pitchFamily="18" charset="0"/>
                    <a:cs typeface="Times New Roman" pitchFamily="18" charset="0"/>
                  </a:rPr>
                  <a:t>jkr</a:t>
                </a:r>
                <a:endParaRPr lang="zh-CN" altLang="en-US" sz="2400" dirty="0">
                  <a:latin typeface="Times New Roman" pitchFamily="18" charset="0"/>
                  <a:cs typeface="Times New Roman" pitchFamily="18" charset="0"/>
                </a:endParaRPr>
              </a:p>
            </p:txBody>
          </p:sp>
          <p:sp>
            <p:nvSpPr>
              <p:cNvPr id="16" name="椭圆 15"/>
              <p:cNvSpPr/>
              <p:nvPr/>
            </p:nvSpPr>
            <p:spPr>
              <a:xfrm>
                <a:off x="2987824" y="1772816"/>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sp>
            <p:nvSpPr>
              <p:cNvPr id="17" name="椭圆 16"/>
              <p:cNvSpPr/>
              <p:nvPr/>
            </p:nvSpPr>
            <p:spPr>
              <a:xfrm>
                <a:off x="3059832" y="4077072"/>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cxnSp>
            <p:nvCxnSpPr>
              <p:cNvPr id="19" name="直接连接符 18"/>
              <p:cNvCxnSpPr>
                <a:stCxn id="16" idx="4"/>
              </p:cNvCxnSpPr>
              <p:nvPr/>
            </p:nvCxnSpPr>
            <p:spPr>
              <a:xfrm flipH="1">
                <a:off x="2699792" y="2204864"/>
                <a:ext cx="504056" cy="2736304"/>
              </a:xfrm>
              <a:prstGeom prst="line">
                <a:avLst/>
              </a:prstGeom>
            </p:spPr>
            <p:style>
              <a:lnRef idx="3">
                <a:schemeClr val="accent2"/>
              </a:lnRef>
              <a:fillRef idx="0">
                <a:schemeClr val="accent2"/>
              </a:fillRef>
              <a:effectRef idx="2">
                <a:schemeClr val="accent2"/>
              </a:effectRef>
              <a:fontRef idx="minor">
                <a:schemeClr val="tx1"/>
              </a:fontRef>
            </p:style>
          </p:cxnSp>
        </p:grpSp>
        <p:cxnSp>
          <p:nvCxnSpPr>
            <p:cNvPr id="21" name="直接连接符 20"/>
            <p:cNvCxnSpPr>
              <a:stCxn id="17" idx="4"/>
            </p:cNvCxnSpPr>
            <p:nvPr/>
          </p:nvCxnSpPr>
          <p:spPr>
            <a:xfrm flipH="1">
              <a:off x="2699792" y="4509120"/>
              <a:ext cx="576064" cy="432048"/>
            </a:xfrm>
            <a:prstGeom prst="line">
              <a:avLst/>
            </a:prstGeom>
          </p:spPr>
          <p:style>
            <a:lnRef idx="3">
              <a:schemeClr val="accent2"/>
            </a:lnRef>
            <a:fillRef idx="0">
              <a:schemeClr val="accent2"/>
            </a:fillRef>
            <a:effectRef idx="2">
              <a:schemeClr val="accent2"/>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edge">
                                      <p:cBhvr>
                                        <p:cTn id="7"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3" name="矩形 2"/>
          <p:cNvSpPr/>
          <p:nvPr/>
        </p:nvSpPr>
        <p:spPr>
          <a:xfrm>
            <a:off x="467544" y="1196752"/>
            <a:ext cx="8208912" cy="830997"/>
          </a:xfrm>
          <a:prstGeom prst="rect">
            <a:avLst/>
          </a:prstGeom>
        </p:spPr>
        <p:txBody>
          <a:bodyPr wrap="square">
            <a:spAutoFit/>
          </a:bodyPr>
          <a:lstStyle/>
          <a:p>
            <a:r>
              <a:rPr lang="en-US" altLang="zh-CN" sz="2400" dirty="0" smtClean="0">
                <a:latin typeface="Times New Roman" pitchFamily="18" charset="0"/>
                <a:cs typeface="Times New Roman" pitchFamily="18" charset="0"/>
              </a:rPr>
              <a:t>In the presence of the source </a:t>
            </a:r>
            <a:r>
              <a:rPr lang="en-US" altLang="zh-CN" sz="2400" i="1" dirty="0" smtClean="0">
                <a:latin typeface="Times New Roman" pitchFamily="18" charset="0"/>
                <a:cs typeface="Times New Roman" pitchFamily="18" charset="0"/>
              </a:rPr>
              <a:t>(J</a:t>
            </a:r>
            <a:r>
              <a:rPr lang="en-US" altLang="zh-CN" sz="2400" i="1" baseline="-25000" dirty="0" smtClean="0">
                <a:latin typeface="Times New Roman" pitchFamily="18" charset="0"/>
                <a:cs typeface="Times New Roman" pitchFamily="18" charset="0"/>
              </a:rPr>
              <a:t>z</a:t>
            </a:r>
            <a:r>
              <a:rPr lang="en-US" altLang="zh-CN" sz="2400" i="1" dirty="0" smtClean="0">
                <a:latin typeface="Times New Roman" pitchFamily="18" charset="0"/>
                <a:cs typeface="Times New Roman" pitchFamily="18" charset="0"/>
              </a:rPr>
              <a:t> ≠0) </a:t>
            </a:r>
            <a:r>
              <a:rPr lang="en-US" altLang="zh-CN" sz="2400" dirty="0" smtClean="0">
                <a:latin typeface="Times New Roman" pitchFamily="18" charset="0"/>
                <a:cs typeface="Times New Roman" pitchFamily="18" charset="0"/>
              </a:rPr>
              <a:t>and </a:t>
            </a:r>
            <a:r>
              <a:rPr lang="en-US" altLang="zh-CN" sz="2400" i="1" dirty="0" smtClean="0">
                <a:latin typeface="Times New Roman" pitchFamily="18" charset="0"/>
                <a:cs typeface="Times New Roman" pitchFamily="18" charset="0"/>
              </a:rPr>
              <a:t>k</a:t>
            </a:r>
            <a:r>
              <a:rPr lang="en-US" altLang="zh-CN" sz="2400" dirty="0" smtClean="0">
                <a:latin typeface="Times New Roman" pitchFamily="18" charset="0"/>
                <a:cs typeface="Times New Roman" pitchFamily="18" charset="0"/>
              </a:rPr>
              <a:t> = 0, the wave equation of (3-31) reduces to</a:t>
            </a:r>
            <a:endParaRPr lang="zh-CN" altLang="en-US" sz="2400" dirty="0">
              <a:latin typeface="Times New Roman" pitchFamily="18" charset="0"/>
              <a:cs typeface="Times New Roman" pitchFamily="18" charset="0"/>
            </a:endParaRPr>
          </a:p>
        </p:txBody>
      </p:sp>
      <p:graphicFrame>
        <p:nvGraphicFramePr>
          <p:cNvPr id="69634" name="Object 2"/>
          <p:cNvGraphicFramePr>
            <a:graphicFrameLocks noChangeAspect="1"/>
          </p:cNvGraphicFramePr>
          <p:nvPr/>
        </p:nvGraphicFramePr>
        <p:xfrm>
          <a:off x="3779912" y="2204864"/>
          <a:ext cx="1500187" cy="431800"/>
        </p:xfrm>
        <a:graphic>
          <a:graphicData uri="http://schemas.openxmlformats.org/presentationml/2006/ole">
            <mc:AlternateContent xmlns:mc="http://schemas.openxmlformats.org/markup-compatibility/2006">
              <mc:Choice xmlns:v="urn:schemas-microsoft-com:vml" Requires="v">
                <p:oleObj spid="_x0000_s69637" name="Equation" r:id="rId4" imgW="838080" imgH="241200" progId="Equation.DSMT4">
                  <p:embed/>
                </p:oleObj>
              </mc:Choice>
              <mc:Fallback>
                <p:oleObj name="Equation" r:id="rId4" imgW="838080" imgH="24120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912" y="2204864"/>
                        <a:ext cx="1500187"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6516216" y="2204864"/>
            <a:ext cx="122413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(3-39)</a:t>
            </a:r>
            <a:endParaRPr lang="zh-CN" altLang="en-US" sz="2400" dirty="0">
              <a:latin typeface="Times New Roman" pitchFamily="18" charset="0"/>
              <a:cs typeface="Times New Roman" pitchFamily="18" charset="0"/>
            </a:endParaRPr>
          </a:p>
        </p:txBody>
      </p:sp>
      <p:sp>
        <p:nvSpPr>
          <p:cNvPr id="13" name="Rectangle 1"/>
          <p:cNvSpPr>
            <a:spLocks noChangeArrowheads="1"/>
          </p:cNvSpPr>
          <p:nvPr/>
        </p:nvSpPr>
        <p:spPr bwMode="auto">
          <a:xfrm>
            <a:off x="70868" y="2175247"/>
            <a:ext cx="4429124"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ctr" defTabSz="914400" rtl="0" eaLnBrk="1" fontAlgn="base" latinLnBrk="0" hangingPunct="1">
              <a:lnSpc>
                <a:spcPct val="100000"/>
              </a:lnSpc>
              <a:spcBef>
                <a:spcPct val="0"/>
              </a:spcBef>
              <a:spcAft>
                <a:spcPct val="0"/>
              </a:spcAft>
              <a:buClrTx/>
              <a:buSzTx/>
              <a:buFontTx/>
              <a:buNone/>
              <a:tabLst/>
            </a:pPr>
            <a:r>
              <a:rPr kumimoji="0" lang="en-US" altLang="zh-CN" sz="2400" b="0" i="0" strike="noStrike" cap="none" normalizeH="0" baseline="0" dirty="0" smtClean="0">
                <a:ln>
                  <a:noFill/>
                </a:ln>
                <a:solidFill>
                  <a:srgbClr val="FF0000"/>
                </a:solidFill>
                <a:effectLst/>
                <a:latin typeface="Times New Roman" pitchFamily="18" charset="0"/>
                <a:ea typeface="微软雅黑" pitchFamily="34" charset="-122"/>
                <a:cs typeface="Times New Roman" pitchFamily="18" charset="0"/>
              </a:rPr>
              <a:t>Poisson’s Equation</a:t>
            </a:r>
            <a:endParaRPr kumimoji="0" lang="en-US" altLang="zh-CN" sz="2400" b="0" i="0" strike="noStrike" cap="none" normalizeH="0" baseline="0" dirty="0" smtClean="0">
              <a:ln>
                <a:noFill/>
              </a:ln>
              <a:solidFill>
                <a:srgbClr val="FF0000"/>
              </a:solidFill>
              <a:effectLst/>
              <a:latin typeface="Times New Roman" pitchFamily="18" charset="0"/>
              <a:ea typeface="宋体" pitchFamily="2" charset="-122"/>
              <a:cs typeface="Times New Roman" pitchFamily="18" charset="0"/>
            </a:endParaRPr>
          </a:p>
        </p:txBody>
      </p:sp>
      <p:sp>
        <p:nvSpPr>
          <p:cNvPr id="16" name="矩形 15"/>
          <p:cNvSpPr/>
          <p:nvPr/>
        </p:nvSpPr>
        <p:spPr>
          <a:xfrm>
            <a:off x="683568" y="2795444"/>
            <a:ext cx="7488832" cy="1569660"/>
          </a:xfrm>
          <a:prstGeom prst="rect">
            <a:avLst/>
          </a:prstGeom>
        </p:spPr>
        <p:txBody>
          <a:bodyPr wrap="square">
            <a:spAutoFit/>
          </a:bodyPr>
          <a:lstStyle/>
          <a:p>
            <a:r>
              <a:rPr lang="en-US" altLang="zh-CN" sz="2400" dirty="0" smtClean="0">
                <a:latin typeface="Times New Roman" pitchFamily="18" charset="0"/>
                <a:cs typeface="Times New Roman" pitchFamily="18" charset="0"/>
              </a:rPr>
              <a:t>The solution of Poisson’s equation is widely documented.</a:t>
            </a:r>
          </a:p>
          <a:p>
            <a:r>
              <a:rPr lang="en-US" altLang="zh-CN" sz="2400" dirty="0" smtClean="0">
                <a:latin typeface="Times New Roman" pitchFamily="18" charset="0"/>
                <a:cs typeface="Times New Roman" pitchFamily="18" charset="0"/>
              </a:rPr>
              <a:t>The most familiar equation with Poisson’s form is that relating the scalar </a:t>
            </a:r>
            <a:r>
              <a:rPr lang="en-US" altLang="zh-CN" sz="2400" dirty="0" smtClean="0">
                <a:solidFill>
                  <a:srgbClr val="FF0000"/>
                </a:solidFill>
                <a:latin typeface="Times New Roman" pitchFamily="18" charset="0"/>
                <a:cs typeface="Times New Roman" pitchFamily="18" charset="0"/>
              </a:rPr>
              <a:t>electric potential</a:t>
            </a:r>
            <a:r>
              <a:rPr lang="en-US" altLang="zh-CN" sz="2400" dirty="0" smtClean="0">
                <a:latin typeface="Times New Roman" pitchFamily="18" charset="0"/>
                <a:cs typeface="Times New Roman" pitchFamily="18" charset="0"/>
              </a:rPr>
              <a:t> φ to the </a:t>
            </a:r>
            <a:r>
              <a:rPr lang="en-US" altLang="zh-CN" sz="2400" dirty="0" smtClean="0">
                <a:solidFill>
                  <a:srgbClr val="FF0000"/>
                </a:solidFill>
                <a:latin typeface="Times New Roman" pitchFamily="18" charset="0"/>
                <a:cs typeface="Times New Roman" pitchFamily="18" charset="0"/>
              </a:rPr>
              <a:t>electric charge density</a:t>
            </a:r>
            <a:r>
              <a:rPr lang="en-US" altLang="zh-CN" sz="2400" dirty="0" smtClean="0">
                <a:latin typeface="Times New Roman" pitchFamily="18" charset="0"/>
                <a:cs typeface="Times New Roman" pitchFamily="18" charset="0"/>
              </a:rPr>
              <a:t> </a:t>
            </a:r>
            <a:r>
              <a:rPr lang="en-US" altLang="zh-CN" sz="2400" i="1" dirty="0" smtClean="0">
                <a:latin typeface="Times New Roman" pitchFamily="18" charset="0"/>
                <a:cs typeface="Times New Roman" pitchFamily="18" charset="0"/>
              </a:rPr>
              <a:t>ρ</a:t>
            </a:r>
            <a:r>
              <a:rPr lang="en-US" altLang="zh-CN" sz="2400" dirty="0" smtClean="0">
                <a:latin typeface="Times New Roman" pitchFamily="18" charset="0"/>
                <a:cs typeface="Times New Roman" pitchFamily="18" charset="0"/>
              </a:rPr>
              <a:t>.</a:t>
            </a:r>
            <a:endParaRPr lang="zh-CN" altLang="en-US" sz="2400" dirty="0">
              <a:latin typeface="Times New Roman" pitchFamily="18" charset="0"/>
              <a:cs typeface="Times New Roman" pitchFamily="18" charset="0"/>
            </a:endParaRPr>
          </a:p>
        </p:txBody>
      </p:sp>
      <p:pic>
        <p:nvPicPr>
          <p:cNvPr id="69637" name="Picture 5"/>
          <p:cNvPicPr>
            <a:picLocks noChangeAspect="1" noChangeArrowheads="1"/>
          </p:cNvPicPr>
          <p:nvPr/>
        </p:nvPicPr>
        <p:blipFill>
          <a:blip r:embed="rId6" cstate="print"/>
          <a:srcRect/>
          <a:stretch>
            <a:fillRect/>
          </a:stretch>
        </p:blipFill>
        <p:spPr bwMode="auto">
          <a:xfrm>
            <a:off x="3491880" y="4180309"/>
            <a:ext cx="1762125" cy="904875"/>
          </a:xfrm>
          <a:prstGeom prst="rect">
            <a:avLst/>
          </a:prstGeom>
          <a:noFill/>
          <a:ln w="9525">
            <a:noFill/>
            <a:miter lim="800000"/>
            <a:headEnd/>
            <a:tailEnd/>
          </a:ln>
        </p:spPr>
      </p:pic>
      <p:pic>
        <p:nvPicPr>
          <p:cNvPr id="69638" name="Picture 6"/>
          <p:cNvPicPr>
            <a:picLocks noChangeAspect="1" noChangeArrowheads="1"/>
          </p:cNvPicPr>
          <p:nvPr/>
        </p:nvPicPr>
        <p:blipFill>
          <a:blip r:embed="rId7" cstate="print"/>
          <a:srcRect/>
          <a:stretch>
            <a:fillRect/>
          </a:stretch>
        </p:blipFill>
        <p:spPr bwMode="auto">
          <a:xfrm>
            <a:off x="3221335" y="5085184"/>
            <a:ext cx="2790825" cy="1133475"/>
          </a:xfrm>
          <a:prstGeom prst="rect">
            <a:avLst/>
          </a:prstGeom>
          <a:noFill/>
          <a:ln w="9525">
            <a:noFill/>
            <a:miter lim="800000"/>
            <a:headEnd/>
            <a:tailEnd/>
          </a:ln>
        </p:spPr>
      </p:pic>
      <p:sp>
        <p:nvSpPr>
          <p:cNvPr id="19" name="TextBox 18"/>
          <p:cNvSpPr txBox="1"/>
          <p:nvPr/>
        </p:nvSpPr>
        <p:spPr>
          <a:xfrm>
            <a:off x="827584" y="4839543"/>
            <a:ext cx="2520280" cy="461665"/>
          </a:xfrm>
          <a:prstGeom prst="rect">
            <a:avLst/>
          </a:prstGeom>
          <a:noFill/>
        </p:spPr>
        <p:txBody>
          <a:bodyPr wrap="square" rtlCol="0">
            <a:spAutoFit/>
          </a:bodyPr>
          <a:lstStyle/>
          <a:p>
            <a:r>
              <a:rPr lang="en-US" altLang="zh-CN" sz="2400" dirty="0" smtClean="0"/>
              <a:t>which solution is</a:t>
            </a:r>
            <a:endParaRPr lang="zh-CN" alt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graphicFrame>
        <p:nvGraphicFramePr>
          <p:cNvPr id="3" name="Object 2"/>
          <p:cNvGraphicFramePr>
            <a:graphicFrameLocks noChangeAspect="1"/>
          </p:cNvGraphicFramePr>
          <p:nvPr/>
        </p:nvGraphicFramePr>
        <p:xfrm>
          <a:off x="3779912" y="1772816"/>
          <a:ext cx="1500187" cy="431800"/>
        </p:xfrm>
        <a:graphic>
          <a:graphicData uri="http://schemas.openxmlformats.org/presentationml/2006/ole">
            <mc:AlternateContent xmlns:mc="http://schemas.openxmlformats.org/markup-compatibility/2006">
              <mc:Choice xmlns:v="urn:schemas-microsoft-com:vml" Requires="v">
                <p:oleObj spid="_x0000_s93195" name="Equation" r:id="rId4" imgW="838080" imgH="241200" progId="Equation.DSMT4">
                  <p:embed/>
                </p:oleObj>
              </mc:Choice>
              <mc:Fallback>
                <p:oleObj name="Equation" r:id="rId4" imgW="838080" imgH="24120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912" y="1772816"/>
                        <a:ext cx="1500187"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Box 3"/>
          <p:cNvSpPr txBox="1"/>
          <p:nvPr/>
        </p:nvSpPr>
        <p:spPr>
          <a:xfrm>
            <a:off x="6516216" y="1772816"/>
            <a:ext cx="122413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(3-39)</a:t>
            </a:r>
            <a:endParaRPr lang="zh-CN" altLang="en-US" sz="2400" dirty="0">
              <a:latin typeface="Times New Roman" pitchFamily="18" charset="0"/>
              <a:cs typeface="Times New Roman" pitchFamily="18" charset="0"/>
            </a:endParaRPr>
          </a:p>
        </p:txBody>
      </p:sp>
      <p:grpSp>
        <p:nvGrpSpPr>
          <p:cNvPr id="5" name="组合 4"/>
          <p:cNvGrpSpPr/>
          <p:nvPr/>
        </p:nvGrpSpPr>
        <p:grpSpPr>
          <a:xfrm>
            <a:off x="611560" y="2708920"/>
            <a:ext cx="7128792" cy="1296144"/>
            <a:chOff x="611560" y="2708920"/>
            <a:chExt cx="7128792" cy="1296144"/>
          </a:xfrm>
        </p:grpSpPr>
        <p:sp>
          <p:nvSpPr>
            <p:cNvPr id="6" name="TextBox 5"/>
            <p:cNvSpPr txBox="1"/>
            <p:nvPr/>
          </p:nvSpPr>
          <p:spPr>
            <a:xfrm>
              <a:off x="611560" y="2708920"/>
              <a:ext cx="3456384"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of which the solution is</a:t>
              </a:r>
              <a:endParaRPr lang="zh-CN" altLang="en-US" sz="2400" dirty="0">
                <a:latin typeface="Times New Roman" pitchFamily="18" charset="0"/>
                <a:cs typeface="Times New Roman" pitchFamily="18" charset="0"/>
              </a:endParaRPr>
            </a:p>
          </p:txBody>
        </p:sp>
        <p:graphicFrame>
          <p:nvGraphicFramePr>
            <p:cNvPr id="7" name="对象 6"/>
            <p:cNvGraphicFramePr>
              <a:graphicFrameLocks noChangeAspect="1"/>
            </p:cNvGraphicFramePr>
            <p:nvPr/>
          </p:nvGraphicFramePr>
          <p:xfrm>
            <a:off x="3707904" y="3206552"/>
            <a:ext cx="2054225" cy="798512"/>
          </p:xfrm>
          <a:graphic>
            <a:graphicData uri="http://schemas.openxmlformats.org/presentationml/2006/ole">
              <mc:AlternateContent xmlns:mc="http://schemas.openxmlformats.org/markup-compatibility/2006">
                <mc:Choice xmlns:v="urn:schemas-microsoft-com:vml" Requires="v">
                  <p:oleObj spid="_x0000_s93196" name="Equation" r:id="rId6" imgW="1143000" imgH="444240" progId="Equation.DSMT4">
                    <p:embed/>
                  </p:oleObj>
                </mc:Choice>
                <mc:Fallback>
                  <p:oleObj name="Equation" r:id="rId6" imgW="1143000" imgH="44424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7904" y="3206552"/>
                          <a:ext cx="2054225" cy="798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6516216" y="3255367"/>
              <a:ext cx="122413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(3-42)</a:t>
              </a:r>
              <a:endParaRPr lang="zh-CN" altLang="en-US" sz="2400" dirty="0">
                <a:latin typeface="Times New Roman" pitchFamily="18" charset="0"/>
                <a:cs typeface="Times New Roman" pitchFamily="18" charset="0"/>
              </a:endParaRPr>
            </a:p>
          </p:txBody>
        </p:sp>
      </p:grpSp>
      <p:grpSp>
        <p:nvGrpSpPr>
          <p:cNvPr id="9" name="组合 8"/>
          <p:cNvGrpSpPr/>
          <p:nvPr/>
        </p:nvGrpSpPr>
        <p:grpSpPr>
          <a:xfrm>
            <a:off x="395536" y="3966155"/>
            <a:ext cx="8046640" cy="1839109"/>
            <a:chOff x="395536" y="3966155"/>
            <a:chExt cx="8046640" cy="1839109"/>
          </a:xfrm>
        </p:grpSpPr>
        <p:sp>
          <p:nvSpPr>
            <p:cNvPr id="10" name="矩形 9"/>
            <p:cNvSpPr/>
            <p:nvPr/>
          </p:nvSpPr>
          <p:spPr>
            <a:xfrm>
              <a:off x="395536" y="3966155"/>
              <a:ext cx="8046640" cy="830997"/>
            </a:xfrm>
            <a:prstGeom prst="rect">
              <a:avLst/>
            </a:prstGeom>
          </p:spPr>
          <p:txBody>
            <a:bodyPr wrap="square">
              <a:spAutoFit/>
            </a:bodyPr>
            <a:lstStyle/>
            <a:p>
              <a:r>
                <a:rPr lang="en-US" altLang="zh-CN" sz="2400" dirty="0" smtClean="0">
                  <a:latin typeface="Times New Roman" pitchFamily="18" charset="0"/>
                  <a:cs typeface="Times New Roman" pitchFamily="18" charset="0"/>
                </a:rPr>
                <a:t>the time-varying solution can be obtained by multiplying the static solution of (3-42) by </a:t>
              </a:r>
              <a:r>
                <a:rPr lang="en-US" altLang="zh-CN" sz="2400" b="1" i="1" dirty="0" smtClean="0">
                  <a:solidFill>
                    <a:srgbClr val="FF0000"/>
                  </a:solidFill>
                  <a:latin typeface="Times New Roman" pitchFamily="18" charset="0"/>
                  <a:cs typeface="Times New Roman" pitchFamily="18" charset="0"/>
                </a:rPr>
                <a:t>e</a:t>
              </a:r>
              <a:r>
                <a:rPr lang="en-US" altLang="zh-CN" sz="2400" b="1" baseline="30000" dirty="0" smtClean="0">
                  <a:solidFill>
                    <a:srgbClr val="FF0000"/>
                  </a:solidFill>
                  <a:latin typeface="Times New Roman" pitchFamily="18" charset="0"/>
                  <a:cs typeface="Times New Roman" pitchFamily="18" charset="0"/>
                </a:rPr>
                <a:t>−</a:t>
              </a:r>
              <a:r>
                <a:rPr lang="en-US" altLang="zh-CN" sz="2400" b="1" i="1" baseline="30000" dirty="0" err="1" smtClean="0">
                  <a:solidFill>
                    <a:srgbClr val="FF0000"/>
                  </a:solidFill>
                  <a:latin typeface="Times New Roman" pitchFamily="18" charset="0"/>
                  <a:cs typeface="Times New Roman" pitchFamily="18" charset="0"/>
                </a:rPr>
                <a:t>jkr</a:t>
              </a:r>
              <a:endParaRPr lang="zh-CN" altLang="en-US" sz="2400" dirty="0">
                <a:latin typeface="Times New Roman" pitchFamily="18" charset="0"/>
                <a:cs typeface="Times New Roman" pitchFamily="18" charset="0"/>
              </a:endParaRPr>
            </a:p>
          </p:txBody>
        </p:sp>
        <p:graphicFrame>
          <p:nvGraphicFramePr>
            <p:cNvPr id="11" name="Object 4"/>
            <p:cNvGraphicFramePr>
              <a:graphicFrameLocks noChangeAspect="1"/>
            </p:cNvGraphicFramePr>
            <p:nvPr/>
          </p:nvGraphicFramePr>
          <p:xfrm>
            <a:off x="3457575" y="4911725"/>
            <a:ext cx="2555875" cy="842963"/>
          </p:xfrm>
          <a:graphic>
            <a:graphicData uri="http://schemas.openxmlformats.org/presentationml/2006/ole">
              <mc:AlternateContent xmlns:mc="http://schemas.openxmlformats.org/markup-compatibility/2006">
                <mc:Choice xmlns:v="urn:schemas-microsoft-com:vml" Requires="v">
                  <p:oleObj spid="_x0000_s93197" name="Equation" r:id="rId8" imgW="1422360" imgH="469800" progId="Equation.DSMT4">
                    <p:embed/>
                  </p:oleObj>
                </mc:Choice>
                <mc:Fallback>
                  <p:oleObj name="Equation" r:id="rId8" imgW="1422360" imgH="469800" progId="Equation.DSMT4">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57575" y="4911725"/>
                          <a:ext cx="2555875" cy="842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11"/>
            <p:cNvSpPr txBox="1"/>
            <p:nvPr/>
          </p:nvSpPr>
          <p:spPr>
            <a:xfrm>
              <a:off x="6516216" y="5127575"/>
              <a:ext cx="1224136" cy="461665"/>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(3-43)</a:t>
              </a:r>
              <a:endParaRPr lang="zh-CN" altLang="en-US" sz="2400" dirty="0">
                <a:latin typeface="Times New Roman" pitchFamily="18" charset="0"/>
                <a:cs typeface="Times New Roman" pitchFamily="18" charset="0"/>
              </a:endParaRPr>
            </a:p>
          </p:txBody>
        </p:sp>
        <p:sp>
          <p:nvSpPr>
            <p:cNvPr id="13" name="矩形 12"/>
            <p:cNvSpPr/>
            <p:nvPr/>
          </p:nvSpPr>
          <p:spPr>
            <a:xfrm>
              <a:off x="3347864" y="4869160"/>
              <a:ext cx="2736304" cy="9361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4"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graphicFrame>
        <p:nvGraphicFramePr>
          <p:cNvPr id="6" name="Object 8"/>
          <p:cNvGraphicFramePr>
            <a:graphicFrameLocks noChangeAspect="1"/>
          </p:cNvGraphicFramePr>
          <p:nvPr/>
        </p:nvGraphicFramePr>
        <p:xfrm>
          <a:off x="3274717" y="1665280"/>
          <a:ext cx="2833707" cy="500066"/>
        </p:xfrm>
        <a:graphic>
          <a:graphicData uri="http://schemas.openxmlformats.org/presentationml/2006/ole">
            <mc:AlternateContent xmlns:mc="http://schemas.openxmlformats.org/markup-compatibility/2006">
              <mc:Choice xmlns:v="urn:schemas-microsoft-com:vml" Requires="v">
                <p:oleObj spid="_x0000_s33815" name="Equation" r:id="rId4" imgW="1295400" imgH="228600" progId="Equation.DSMT4">
                  <p:embed/>
                </p:oleObj>
              </mc:Choice>
              <mc:Fallback>
                <p:oleObj name="Equation" r:id="rId4" imgW="1295400" imgH="22860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4717" y="1665280"/>
                        <a:ext cx="2833707"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3560469" y="2236784"/>
          <a:ext cx="2859439" cy="857256"/>
        </p:xfrm>
        <a:graphic>
          <a:graphicData uri="http://schemas.openxmlformats.org/presentationml/2006/ole">
            <mc:AlternateContent xmlns:mc="http://schemas.openxmlformats.org/markup-compatibility/2006">
              <mc:Choice xmlns:v="urn:schemas-microsoft-com:vml" Requires="v">
                <p:oleObj spid="_x0000_s33816" name="Equation" r:id="rId6" imgW="1574800" imgH="469900" progId="Equation.DSMT4">
                  <p:embed/>
                </p:oleObj>
              </mc:Choice>
              <mc:Fallback>
                <p:oleObj name="Equation" r:id="rId6" imgW="1574800" imgH="46990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0469" y="2236784"/>
                        <a:ext cx="2859439" cy="857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5"/>
          <p:cNvGraphicFramePr>
            <a:graphicFrameLocks noChangeAspect="1"/>
          </p:cNvGraphicFramePr>
          <p:nvPr/>
        </p:nvGraphicFramePr>
        <p:xfrm>
          <a:off x="3203279" y="3236916"/>
          <a:ext cx="2772170" cy="500066"/>
        </p:xfrm>
        <a:graphic>
          <a:graphicData uri="http://schemas.openxmlformats.org/presentationml/2006/ole">
            <mc:AlternateContent xmlns:mc="http://schemas.openxmlformats.org/markup-compatibility/2006">
              <mc:Choice xmlns:v="urn:schemas-microsoft-com:vml" Requires="v">
                <p:oleObj spid="_x0000_s33817" name="Equation" r:id="rId8" imgW="1308100" imgH="241300" progId="Equation.DSMT4">
                  <p:embed/>
                </p:oleObj>
              </mc:Choice>
              <mc:Fallback>
                <p:oleObj name="Equation" r:id="rId8" imgW="1308100" imgH="241300" progId="Equation.DSMT4">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3279" y="3236916"/>
                        <a:ext cx="2772170"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3"/>
          <p:cNvGraphicFramePr>
            <a:graphicFrameLocks noChangeAspect="1"/>
          </p:cNvGraphicFramePr>
          <p:nvPr/>
        </p:nvGraphicFramePr>
        <p:xfrm>
          <a:off x="3631907" y="3879858"/>
          <a:ext cx="2631698" cy="785818"/>
        </p:xfrm>
        <a:graphic>
          <a:graphicData uri="http://schemas.openxmlformats.org/presentationml/2006/ole">
            <mc:AlternateContent xmlns:mc="http://schemas.openxmlformats.org/markup-compatibility/2006">
              <mc:Choice xmlns:v="urn:schemas-microsoft-com:vml" Requires="v">
                <p:oleObj spid="_x0000_s33818" name="Equation" r:id="rId10" imgW="1587500" imgH="469900" progId="Equation.DSMT4">
                  <p:embed/>
                </p:oleObj>
              </mc:Choice>
              <mc:Fallback>
                <p:oleObj name="Equation" r:id="rId10" imgW="1587500" imgH="469900" progId="Equation.DSMT4">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31907" y="3879858"/>
                        <a:ext cx="2631698" cy="785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2"/>
          <p:cNvGraphicFramePr>
            <a:graphicFrameLocks noChangeAspect="1"/>
          </p:cNvGraphicFramePr>
          <p:nvPr/>
        </p:nvGraphicFramePr>
        <p:xfrm>
          <a:off x="3274717" y="4782720"/>
          <a:ext cx="2928958" cy="525898"/>
        </p:xfrm>
        <a:graphic>
          <a:graphicData uri="http://schemas.openxmlformats.org/presentationml/2006/ole">
            <mc:AlternateContent xmlns:mc="http://schemas.openxmlformats.org/markup-compatibility/2006">
              <mc:Choice xmlns:v="urn:schemas-microsoft-com:vml" Requires="v">
                <p:oleObj spid="_x0000_s33819" name="Equation" r:id="rId12" imgW="1270000" imgH="228600" progId="Equation.DSMT4">
                  <p:embed/>
                </p:oleObj>
              </mc:Choice>
              <mc:Fallback>
                <p:oleObj name="Equation" r:id="rId12" imgW="1270000" imgH="228600" progId="Equation.DSMT4">
                  <p:embed/>
                  <p:pic>
                    <p:nvPicPr>
                      <p:cNvPr id="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74717" y="4782720"/>
                        <a:ext cx="2928958" cy="5258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
          <p:cNvGraphicFramePr>
            <a:graphicFrameLocks noChangeAspect="1"/>
          </p:cNvGraphicFramePr>
          <p:nvPr/>
        </p:nvGraphicFramePr>
        <p:xfrm>
          <a:off x="3489031" y="5423465"/>
          <a:ext cx="2714644" cy="813847"/>
        </p:xfrm>
        <a:graphic>
          <a:graphicData uri="http://schemas.openxmlformats.org/presentationml/2006/ole">
            <mc:AlternateContent xmlns:mc="http://schemas.openxmlformats.org/markup-compatibility/2006">
              <mc:Choice xmlns:v="urn:schemas-microsoft-com:vml" Requires="v">
                <p:oleObj spid="_x0000_s33820" name="Equation" r:id="rId14" imgW="1574800" imgH="469900" progId="Equation.DSMT4">
                  <p:embed/>
                </p:oleObj>
              </mc:Choice>
              <mc:Fallback>
                <p:oleObj name="Equation" r:id="rId14" imgW="1574800" imgH="469900" progId="Equation.DSMT4">
                  <p:embed/>
                  <p:pic>
                    <p:nvPicPr>
                      <p:cNvPr id="0" name="Picture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89031" y="5423465"/>
                        <a:ext cx="2714644" cy="8138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AutoShape 4"/>
          <p:cNvSpPr>
            <a:spLocks noChangeShapeType="1"/>
          </p:cNvSpPr>
          <p:nvPr/>
        </p:nvSpPr>
        <p:spPr bwMode="auto">
          <a:xfrm>
            <a:off x="3131840" y="4737114"/>
            <a:ext cx="4680000" cy="0"/>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latin typeface="Times New Roman" pitchFamily="18" charset="0"/>
              <a:cs typeface="Times New Roman" pitchFamily="18" charset="0"/>
            </a:endParaRPr>
          </a:p>
        </p:txBody>
      </p:sp>
      <p:sp>
        <p:nvSpPr>
          <p:cNvPr id="13" name="AutoShape 7"/>
          <p:cNvSpPr>
            <a:spLocks noChangeShapeType="1"/>
          </p:cNvSpPr>
          <p:nvPr/>
        </p:nvSpPr>
        <p:spPr bwMode="auto">
          <a:xfrm>
            <a:off x="3131840" y="3165478"/>
            <a:ext cx="4680000" cy="0"/>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latin typeface="Times New Roman" pitchFamily="18" charset="0"/>
              <a:cs typeface="Times New Roman" pitchFamily="18" charset="0"/>
            </a:endParaRPr>
          </a:p>
        </p:txBody>
      </p:sp>
      <p:sp>
        <p:nvSpPr>
          <p:cNvPr id="14" name="Rectangle 10"/>
          <p:cNvSpPr>
            <a:spLocks noChangeArrowheads="1"/>
          </p:cNvSpPr>
          <p:nvPr/>
        </p:nvSpPr>
        <p:spPr bwMode="auto">
          <a:xfrm>
            <a:off x="6132237" y="1736718"/>
            <a:ext cx="2857488"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(source)    (3-44)</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5" name="Rectangle 12"/>
          <p:cNvSpPr>
            <a:spLocks noChangeArrowheads="1"/>
          </p:cNvSpPr>
          <p:nvPr/>
        </p:nvSpPr>
        <p:spPr bwMode="auto">
          <a:xfrm>
            <a:off x="8061095" y="2093908"/>
            <a:ext cx="135729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(3-46)     </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6" name="Rectangle 13"/>
          <p:cNvSpPr>
            <a:spLocks noChangeArrowheads="1"/>
          </p:cNvSpPr>
          <p:nvPr/>
        </p:nvSpPr>
        <p:spPr bwMode="auto">
          <a:xfrm>
            <a:off x="6132237" y="3236916"/>
            <a:ext cx="285752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(source)    (3-45)</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7" name="Rectangle 15"/>
          <p:cNvSpPr>
            <a:spLocks noChangeArrowheads="1"/>
          </p:cNvSpPr>
          <p:nvPr/>
        </p:nvSpPr>
        <p:spPr bwMode="auto">
          <a:xfrm>
            <a:off x="8061062" y="3608223"/>
            <a:ext cx="1214446"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(3-47)     </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8" name="Rectangle 16"/>
          <p:cNvSpPr>
            <a:spLocks noChangeArrowheads="1"/>
          </p:cNvSpPr>
          <p:nvPr/>
        </p:nvSpPr>
        <p:spPr bwMode="auto">
          <a:xfrm>
            <a:off x="6132237" y="4834811"/>
            <a:ext cx="3071834"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(source)    (3-31)</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9" name="Rectangle 17"/>
          <p:cNvSpPr>
            <a:spLocks noChangeArrowheads="1"/>
          </p:cNvSpPr>
          <p:nvPr/>
        </p:nvSpPr>
        <p:spPr bwMode="auto">
          <a:xfrm>
            <a:off x="7846749" y="5192001"/>
            <a:ext cx="142876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(3-43)     </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grpSp>
        <p:nvGrpSpPr>
          <p:cNvPr id="21" name="组合 20"/>
          <p:cNvGrpSpPr/>
          <p:nvPr/>
        </p:nvGrpSpPr>
        <p:grpSpPr>
          <a:xfrm>
            <a:off x="52388" y="1809296"/>
            <a:ext cx="3223468" cy="4104456"/>
            <a:chOff x="52388" y="1809296"/>
            <a:chExt cx="3223468" cy="4104456"/>
          </a:xfrm>
        </p:grpSpPr>
        <p:sp>
          <p:nvSpPr>
            <p:cNvPr id="20" name="左大括号 19"/>
            <p:cNvSpPr/>
            <p:nvPr/>
          </p:nvSpPr>
          <p:spPr>
            <a:xfrm>
              <a:off x="2411760" y="1809296"/>
              <a:ext cx="864096" cy="4104456"/>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graphicFrame>
          <p:nvGraphicFramePr>
            <p:cNvPr id="33800" name="Object 8"/>
            <p:cNvGraphicFramePr>
              <a:graphicFrameLocks noChangeAspect="1"/>
            </p:cNvGraphicFramePr>
            <p:nvPr/>
          </p:nvGraphicFramePr>
          <p:xfrm>
            <a:off x="52388" y="3141663"/>
            <a:ext cx="2759075" cy="719137"/>
          </p:xfrm>
          <a:graphic>
            <a:graphicData uri="http://schemas.openxmlformats.org/presentationml/2006/ole">
              <mc:AlternateContent xmlns:mc="http://schemas.openxmlformats.org/markup-compatibility/2006">
                <mc:Choice xmlns:v="urn:schemas-microsoft-com:vml" Requires="v">
                  <p:oleObj spid="_x0000_s33821" name="Equation" r:id="rId16" imgW="1295280" imgH="469800" progId="Equation.DSMT4">
                    <p:embed/>
                  </p:oleObj>
                </mc:Choice>
                <mc:Fallback>
                  <p:oleObj name="Equation" r:id="rId16" imgW="1295280" imgH="469800" progId="Equation.DSMT4">
                    <p:embed/>
                    <p:pic>
                      <p:nvPicPr>
                        <p:cNvPr id="0" name="Picture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388" y="3141663"/>
                          <a:ext cx="2759075"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edg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2769" name="Object 1"/>
          <p:cNvGraphicFramePr>
            <a:graphicFrameLocks noChangeAspect="1"/>
          </p:cNvGraphicFramePr>
          <p:nvPr/>
        </p:nvGraphicFramePr>
        <p:xfrm>
          <a:off x="5580112" y="1844824"/>
          <a:ext cx="3528392" cy="2808802"/>
        </p:xfrm>
        <a:graphic>
          <a:graphicData uri="http://schemas.openxmlformats.org/presentationml/2006/ole">
            <mc:AlternateContent xmlns:mc="http://schemas.openxmlformats.org/markup-compatibility/2006">
              <mc:Choice xmlns:v="urn:schemas-microsoft-com:vml" Requires="v">
                <p:oleObj spid="_x0000_s32784" name="Visio" r:id="rId3" imgW="4672946" imgH="3716985" progId="Visio.Drawing.11">
                  <p:embed/>
                </p:oleObj>
              </mc:Choice>
              <mc:Fallback>
                <p:oleObj name="Visio" r:id="rId3" imgW="4672946" imgH="3716985"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112" y="1844824"/>
                        <a:ext cx="3528392" cy="28088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1" name="Rectangle 3"/>
          <p:cNvSpPr>
            <a:spLocks noChangeArrowheads="1"/>
          </p:cNvSpPr>
          <p:nvPr/>
        </p:nvSpPr>
        <p:spPr bwMode="auto">
          <a:xfrm>
            <a:off x="4894232" y="1258307"/>
            <a:ext cx="428628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ctr" defTabSz="914400" rtl="0" eaLnBrk="1" fontAlgn="base" latinLnBrk="0" hangingPunct="1">
              <a:lnSpc>
                <a:spcPct val="100000"/>
              </a:lnSpc>
              <a:spcBef>
                <a:spcPct val="0"/>
              </a:spcBef>
              <a:spcAft>
                <a:spcPct val="0"/>
              </a:spcAft>
              <a:buClrTx/>
              <a:buSzTx/>
              <a:buFontTx/>
              <a:buNone/>
              <a:tabLst/>
            </a:pPr>
            <a:r>
              <a:rPr kumimoji="0" lang="en-US" altLang="zh-CN" sz="2400" b="0" i="0" strike="noStrike" cap="none" normalizeH="0" baseline="0" dirty="0" smtClean="0">
                <a:ln>
                  <a:noFill/>
                </a:ln>
                <a:solidFill>
                  <a:srgbClr val="FF0000"/>
                </a:solidFill>
                <a:effectLst/>
                <a:latin typeface="Times New Roman" pitchFamily="18" charset="0"/>
                <a:ea typeface="微软雅黑" pitchFamily="34" charset="-122"/>
                <a:cs typeface="Times New Roman" pitchFamily="18" charset="0"/>
              </a:rPr>
              <a:t>Source Not At Origin</a:t>
            </a:r>
            <a:endParaRPr kumimoji="0" lang="en-US" altLang="zh-CN" sz="2400" b="0" i="0" strike="noStrike" cap="none" normalizeH="0" baseline="0" dirty="0" smtClean="0">
              <a:ln>
                <a:noFill/>
              </a:ln>
              <a:solidFill>
                <a:srgbClr val="FF0000"/>
              </a:solidFill>
              <a:effectLst/>
              <a:latin typeface="Arial" pitchFamily="34" charset="0"/>
              <a:ea typeface="宋体" pitchFamily="2" charset="-122"/>
              <a:cs typeface="宋体" pitchFamily="2" charset="-122"/>
            </a:endParaRPr>
          </a:p>
        </p:txBody>
      </p:sp>
      <p:pic>
        <p:nvPicPr>
          <p:cNvPr id="5" name="Picture 3"/>
          <p:cNvPicPr>
            <a:picLocks noChangeAspect="1" noChangeArrowheads="1"/>
          </p:cNvPicPr>
          <p:nvPr/>
        </p:nvPicPr>
        <p:blipFill>
          <a:blip r:embed="rId5" cstate="print"/>
          <a:srcRect/>
          <a:stretch>
            <a:fillRect/>
          </a:stretch>
        </p:blipFill>
        <p:spPr bwMode="auto">
          <a:xfrm>
            <a:off x="1" y="0"/>
            <a:ext cx="9144000" cy="1000125"/>
          </a:xfrm>
          <a:prstGeom prst="rect">
            <a:avLst/>
          </a:prstGeom>
          <a:noFill/>
          <a:ln w="9525">
            <a:noFill/>
            <a:miter lim="800000"/>
            <a:headEnd/>
            <a:tailEnd/>
          </a:ln>
          <a:effectLst/>
        </p:spPr>
      </p:pic>
      <p:graphicFrame>
        <p:nvGraphicFramePr>
          <p:cNvPr id="2" name="Object 2"/>
          <p:cNvGraphicFramePr>
            <a:graphicFrameLocks noChangeAspect="1"/>
          </p:cNvGraphicFramePr>
          <p:nvPr/>
        </p:nvGraphicFramePr>
        <p:xfrm>
          <a:off x="755576" y="1988840"/>
          <a:ext cx="3143250" cy="2501900"/>
        </p:xfrm>
        <a:graphic>
          <a:graphicData uri="http://schemas.openxmlformats.org/presentationml/2006/ole">
            <mc:AlternateContent xmlns:mc="http://schemas.openxmlformats.org/markup-compatibility/2006">
              <mc:Choice xmlns:v="urn:schemas-microsoft-com:vml" Requires="v">
                <p:oleObj spid="_x0000_s32785" name="Visio" r:id="rId6" imgW="4672946" imgH="3716985" progId="Visio.Drawing.11">
                  <p:embed/>
                </p:oleObj>
              </mc:Choice>
              <mc:Fallback>
                <p:oleObj name="Visio" r:id="rId6" imgW="4672946" imgH="3716985" progId="Visio.Drawing.11">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576" y="1988840"/>
                        <a:ext cx="3143250" cy="2501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3"/>
          <p:cNvSpPr>
            <a:spLocks noChangeArrowheads="1"/>
          </p:cNvSpPr>
          <p:nvPr/>
        </p:nvSpPr>
        <p:spPr bwMode="auto">
          <a:xfrm>
            <a:off x="35496" y="1268760"/>
            <a:ext cx="428628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ctr" defTabSz="914400" rtl="0" eaLnBrk="1" fontAlgn="base" latinLnBrk="0" hangingPunct="1">
              <a:lnSpc>
                <a:spcPct val="100000"/>
              </a:lnSpc>
              <a:spcBef>
                <a:spcPct val="0"/>
              </a:spcBef>
              <a:spcAft>
                <a:spcPct val="0"/>
              </a:spcAft>
              <a:buClrTx/>
              <a:buSzTx/>
              <a:buFontTx/>
              <a:buNone/>
              <a:tabLst/>
            </a:pPr>
            <a:r>
              <a:rPr kumimoji="0" lang="en-US" altLang="zh-CN" sz="2400" b="0" i="0" strike="noStrike" cap="none" normalizeH="0" baseline="0" dirty="0" smtClean="0">
                <a:ln>
                  <a:noFill/>
                </a:ln>
                <a:solidFill>
                  <a:srgbClr val="FF0000"/>
                </a:solidFill>
                <a:effectLst/>
                <a:latin typeface="Times New Roman" pitchFamily="18" charset="0"/>
                <a:ea typeface="微软雅黑" pitchFamily="34" charset="-122"/>
                <a:cs typeface="Times New Roman" pitchFamily="18" charset="0"/>
              </a:rPr>
              <a:t>Source At Origin</a:t>
            </a:r>
            <a:endParaRPr kumimoji="0" lang="en-US" altLang="zh-CN" sz="2400" b="0" i="0" strike="noStrike" cap="none" normalizeH="0" baseline="0" dirty="0" smtClean="0">
              <a:ln>
                <a:noFill/>
              </a:ln>
              <a:solidFill>
                <a:srgbClr val="FF0000"/>
              </a:solidFill>
              <a:effectLst/>
              <a:latin typeface="Arial" pitchFamily="34" charset="0"/>
              <a:ea typeface="宋体" pitchFamily="2" charset="-122"/>
              <a:cs typeface="宋体" pitchFamily="2" charset="-122"/>
            </a:endParaRPr>
          </a:p>
        </p:txBody>
      </p:sp>
      <p:graphicFrame>
        <p:nvGraphicFramePr>
          <p:cNvPr id="8" name="Object 2"/>
          <p:cNvGraphicFramePr>
            <a:graphicFrameLocks noChangeAspect="1"/>
          </p:cNvGraphicFramePr>
          <p:nvPr/>
        </p:nvGraphicFramePr>
        <p:xfrm>
          <a:off x="5393432" y="4509120"/>
          <a:ext cx="3643064" cy="910044"/>
        </p:xfrm>
        <a:graphic>
          <a:graphicData uri="http://schemas.openxmlformats.org/presentationml/2006/ole">
            <mc:AlternateContent xmlns:mc="http://schemas.openxmlformats.org/markup-compatibility/2006">
              <mc:Choice xmlns:v="urn:schemas-microsoft-com:vml" Requires="v">
                <p:oleObj spid="_x0000_s32786" name="Equation" r:id="rId8" imgW="1485720" imgH="469800" progId="Equation.DSMT4">
                  <p:embed/>
                </p:oleObj>
              </mc:Choice>
              <mc:Fallback>
                <p:oleObj name="Equation" r:id="rId8" imgW="1485720" imgH="469800" progId="Equation.DSMT4">
                  <p:embed/>
                  <p:pic>
                    <p:nvPicPr>
                      <p:cNvPr id="0"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3432" y="4509120"/>
                        <a:ext cx="3643064" cy="9100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
          <p:cNvGraphicFramePr>
            <a:graphicFrameLocks noChangeAspect="1"/>
          </p:cNvGraphicFramePr>
          <p:nvPr/>
        </p:nvGraphicFramePr>
        <p:xfrm>
          <a:off x="701676" y="4581525"/>
          <a:ext cx="3731728" cy="863699"/>
        </p:xfrm>
        <a:graphic>
          <a:graphicData uri="http://schemas.openxmlformats.org/presentationml/2006/ole">
            <mc:AlternateContent xmlns:mc="http://schemas.openxmlformats.org/markup-compatibility/2006">
              <mc:Choice xmlns:v="urn:schemas-microsoft-com:vml" Requires="v">
                <p:oleObj spid="_x0000_s32787" name="Equation" r:id="rId10" imgW="1460160" imgH="469800" progId="Equation.DSMT4">
                  <p:embed/>
                </p:oleObj>
              </mc:Choice>
              <mc:Fallback>
                <p:oleObj name="Equation" r:id="rId10" imgW="1460160" imgH="469800" progId="Equation.DSMT4">
                  <p:embed/>
                  <p:pic>
                    <p:nvPicPr>
                      <p:cNvPr id="0"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1676" y="4581525"/>
                        <a:ext cx="3731728" cy="8636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6"/>
          <p:cNvSpPr>
            <a:spLocks noChangeArrowheads="1"/>
          </p:cNvSpPr>
          <p:nvPr/>
        </p:nvSpPr>
        <p:spPr bwMode="auto">
          <a:xfrm>
            <a:off x="6444208" y="5661248"/>
            <a:ext cx="1588166"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(3-49)</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1" name="Rectangle 7"/>
          <p:cNvSpPr>
            <a:spLocks noChangeArrowheads="1"/>
          </p:cNvSpPr>
          <p:nvPr/>
        </p:nvSpPr>
        <p:spPr bwMode="auto">
          <a:xfrm>
            <a:off x="1115616" y="5733256"/>
            <a:ext cx="3357554"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(3-48)</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aphicFrame>
        <p:nvGraphicFramePr>
          <p:cNvPr id="12" name="对象 11"/>
          <p:cNvGraphicFramePr>
            <a:graphicFrameLocks noChangeAspect="1"/>
          </p:cNvGraphicFramePr>
          <p:nvPr/>
        </p:nvGraphicFramePr>
        <p:xfrm>
          <a:off x="4139952" y="3933056"/>
          <a:ext cx="1187450" cy="457200"/>
        </p:xfrm>
        <a:graphic>
          <a:graphicData uri="http://schemas.openxmlformats.org/presentationml/2006/ole">
            <mc:AlternateContent xmlns:mc="http://schemas.openxmlformats.org/markup-compatibility/2006">
              <mc:Choice xmlns:v="urn:schemas-microsoft-com:vml" Requires="v">
                <p:oleObj spid="_x0000_s32788" name="Equation" r:id="rId12" imgW="660240" imgH="253800" progId="Equation.DSMT4">
                  <p:embed/>
                </p:oleObj>
              </mc:Choice>
              <mc:Fallback>
                <p:oleObj name="Equation" r:id="rId12" imgW="660240" imgH="253800" progId="Equation.DSMT4">
                  <p:embed/>
                  <p:pic>
                    <p:nvPicPr>
                      <p:cNvPr id="0" name="Picture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39952" y="3933056"/>
                        <a:ext cx="118745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1619672" y="1052736"/>
            <a:ext cx="6072198"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Volumetric Distributed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0" i="0" u="sng"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Current Densities</a:t>
            </a:r>
            <a:endParaRPr kumimoji="0" lang="en-US" altLang="zh-CN" sz="3200" b="0" i="0" u="sng"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3" name="图片 2"/>
          <p:cNvPicPr/>
          <p:nvPr/>
        </p:nvPicPr>
        <p:blipFill>
          <a:blip r:embed="rId2" cstate="print"/>
          <a:srcRect/>
          <a:stretch>
            <a:fillRect/>
          </a:stretch>
        </p:blipFill>
        <p:spPr bwMode="auto">
          <a:xfrm>
            <a:off x="1691680" y="2420888"/>
            <a:ext cx="6423369" cy="3961551"/>
          </a:xfrm>
          <a:prstGeom prst="rect">
            <a:avLst/>
          </a:prstGeom>
          <a:noFill/>
          <a:ln w="9525">
            <a:noFill/>
            <a:miter lim="800000"/>
            <a:headEnd/>
            <a:tailEnd/>
          </a:ln>
        </p:spPr>
      </p:pic>
      <p:pic>
        <p:nvPicPr>
          <p:cNvPr id="4"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5" name="TextBox 4"/>
          <p:cNvSpPr txBox="1"/>
          <p:nvPr/>
        </p:nvSpPr>
        <p:spPr>
          <a:xfrm>
            <a:off x="8232358" y="2996952"/>
            <a:ext cx="300082" cy="369332"/>
          </a:xfrm>
          <a:prstGeom prst="rect">
            <a:avLst/>
          </a:prstGeom>
          <a:noFill/>
        </p:spPr>
        <p:txBody>
          <a:bodyPr wrap="none" rtlCol="0">
            <a:spAutoFit/>
          </a:bodyPr>
          <a:lstStyle/>
          <a:p>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1285852" y="1500174"/>
            <a:ext cx="4786346" cy="175432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800100" algn="l" defTabSz="914400" rtl="0" eaLnBrk="1" fontAlgn="base" latinLnBrk="0" hangingPunct="1">
              <a:lnSpc>
                <a:spcPct val="15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When    </a:t>
            </a:r>
            <a:r>
              <a:rPr kumimoji="0" lang="en-US" altLang="zh-CN" sz="2400" b="0" i="0" u="sng"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J</a:t>
            </a: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has units of A/m</a:t>
            </a:r>
            <a:r>
              <a:rPr kumimoji="0" lang="en-US" altLang="zh-CN" sz="2400" b="0" i="0" u="none" strike="noStrike" cap="none" normalizeH="0" baseline="30000" dirty="0" smtClean="0">
                <a:ln>
                  <a:noFill/>
                </a:ln>
                <a:solidFill>
                  <a:schemeClr val="tx1"/>
                </a:solidFill>
                <a:effectLst/>
                <a:latin typeface="Times New Roman" pitchFamily="18" charset="0"/>
                <a:ea typeface="微软雅黑" pitchFamily="34" charset="-122"/>
                <a:cs typeface="Times New Roman" pitchFamily="18" charset="0"/>
              </a:rPr>
              <a:t>2</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800100" algn="l" defTabSz="914400" rtl="0" eaLnBrk="0" fontAlgn="base" latinLnBrk="0" hangingPunct="0">
              <a:lnSpc>
                <a:spcPct val="150000"/>
              </a:lnSpc>
              <a:spcBef>
                <a:spcPct val="0"/>
              </a:spcBef>
              <a:spcAft>
                <a:spcPct val="0"/>
              </a:spcAft>
              <a:buClrTx/>
              <a:buSzTx/>
              <a:buFontTx/>
              <a:buNone/>
              <a:tabLst/>
            </a:pPr>
            <a:r>
              <a:rPr kumimoji="0" lang="en-US" altLang="zh-CN" sz="2400" b="0" i="0"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a:t>
            </a:r>
            <a:r>
              <a:rPr kumimoji="0" lang="en-US" altLang="zh-CN" sz="2400" b="0" i="0" u="sng"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M</a:t>
            </a: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has units of V/m</a:t>
            </a:r>
            <a:r>
              <a:rPr kumimoji="0" lang="en-US" altLang="zh-CN" sz="2400" b="0" i="0" u="none" strike="noStrike" cap="none" normalizeH="0" baseline="30000" dirty="0" smtClean="0">
                <a:ln>
                  <a:noFill/>
                </a:ln>
                <a:solidFill>
                  <a:schemeClr val="tx1"/>
                </a:solidFill>
                <a:effectLst/>
                <a:latin typeface="Times New Roman" pitchFamily="18" charset="0"/>
                <a:ea typeface="微软雅黑" pitchFamily="34" charset="-122"/>
                <a:cs typeface="Times New Roman" pitchFamily="18" charset="0"/>
              </a:rPr>
              <a:t>2</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800100" algn="l" defTabSz="914400" rtl="0" eaLnBrk="0" fontAlgn="base" latinLnBrk="0" hangingPunct="0">
              <a:lnSpc>
                <a:spcPct val="15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Then</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21507" name="Rectangle 3"/>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latin typeface="Times New Roman" pitchFamily="18" charset="0"/>
              <a:cs typeface="Times New Roman" pitchFamily="18" charset="0"/>
            </a:endParaRPr>
          </a:p>
        </p:txBody>
      </p:sp>
      <p:graphicFrame>
        <p:nvGraphicFramePr>
          <p:cNvPr id="21506" name="Object 2"/>
          <p:cNvGraphicFramePr>
            <a:graphicFrameLocks noChangeAspect="1"/>
          </p:cNvGraphicFramePr>
          <p:nvPr/>
        </p:nvGraphicFramePr>
        <p:xfrm>
          <a:off x="2143108" y="3571876"/>
          <a:ext cx="2857520" cy="896359"/>
        </p:xfrm>
        <a:graphic>
          <a:graphicData uri="http://schemas.openxmlformats.org/presentationml/2006/ole">
            <mc:AlternateContent xmlns:mc="http://schemas.openxmlformats.org/markup-compatibility/2006">
              <mc:Choice xmlns:v="urn:schemas-microsoft-com:vml" Requires="v">
                <p:oleObj spid="_x0000_s21513" name="Equation" r:id="rId3" imgW="1511300" imgH="469900" progId="Equation.DSMT4">
                  <p:embed/>
                </p:oleObj>
              </mc:Choice>
              <mc:Fallback>
                <p:oleObj name="Equation" r:id="rId3" imgW="1511300" imgH="4699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08" y="3571876"/>
                        <a:ext cx="2857520" cy="8963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5500694" y="3857628"/>
            <a:ext cx="954107" cy="461665"/>
          </a:xfrm>
          <a:prstGeom prst="rect">
            <a:avLst/>
          </a:prstGeom>
        </p:spPr>
        <p:txBody>
          <a:bodyPr wrap="none">
            <a:spAutoFit/>
          </a:bodyPr>
          <a:lstStyle/>
          <a:p>
            <a:r>
              <a:rPr lang="en-US" altLang="zh-CN" sz="2400" dirty="0" smtClean="0">
                <a:latin typeface="Times New Roman" pitchFamily="18" charset="0"/>
                <a:cs typeface="Times New Roman" pitchFamily="18" charset="0"/>
              </a:rPr>
              <a:t>(3-27)</a:t>
            </a:r>
            <a:endParaRPr lang="zh-CN" altLang="en-US" sz="2400" dirty="0">
              <a:latin typeface="Times New Roman" pitchFamily="18" charset="0"/>
              <a:cs typeface="Times New Roman" pitchFamily="18" charset="0"/>
            </a:endParaRPr>
          </a:p>
        </p:txBody>
      </p:sp>
      <p:sp>
        <p:nvSpPr>
          <p:cNvPr id="21509" name="Rectangle 5"/>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latin typeface="Times New Roman" pitchFamily="18" charset="0"/>
              <a:cs typeface="Times New Roman" pitchFamily="18" charset="0"/>
            </a:endParaRPr>
          </a:p>
        </p:txBody>
      </p:sp>
      <p:graphicFrame>
        <p:nvGraphicFramePr>
          <p:cNvPr id="21508" name="Object 4"/>
          <p:cNvGraphicFramePr>
            <a:graphicFrameLocks noChangeAspect="1"/>
          </p:cNvGraphicFramePr>
          <p:nvPr/>
        </p:nvGraphicFramePr>
        <p:xfrm>
          <a:off x="2071670" y="4857760"/>
          <a:ext cx="2859438" cy="857256"/>
        </p:xfrm>
        <a:graphic>
          <a:graphicData uri="http://schemas.openxmlformats.org/presentationml/2006/ole">
            <mc:AlternateContent xmlns:mc="http://schemas.openxmlformats.org/markup-compatibility/2006">
              <mc:Choice xmlns:v="urn:schemas-microsoft-com:vml" Requires="v">
                <p:oleObj spid="_x0000_s21514" name="Equation" r:id="rId5" imgW="1574800" imgH="469900" progId="Equation.DSMT4">
                  <p:embed/>
                </p:oleObj>
              </mc:Choice>
              <mc:Fallback>
                <p:oleObj name="Equation" r:id="rId5" imgW="1574800" imgH="46990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1670" y="4857760"/>
                        <a:ext cx="2859438" cy="857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p:cNvSpPr/>
          <p:nvPr/>
        </p:nvSpPr>
        <p:spPr>
          <a:xfrm>
            <a:off x="5475281" y="5000636"/>
            <a:ext cx="954107" cy="461665"/>
          </a:xfrm>
          <a:prstGeom prst="rect">
            <a:avLst/>
          </a:prstGeom>
        </p:spPr>
        <p:txBody>
          <a:bodyPr wrap="none">
            <a:spAutoFit/>
          </a:bodyPr>
          <a:lstStyle/>
          <a:p>
            <a:r>
              <a:rPr lang="en-US" altLang="zh-CN" sz="2400" dirty="0" smtClean="0">
                <a:latin typeface="Times New Roman" pitchFamily="18" charset="0"/>
                <a:cs typeface="Times New Roman" pitchFamily="18" charset="0"/>
              </a:rPr>
              <a:t>(3-28)</a:t>
            </a:r>
            <a:endParaRPr lang="zh-CN" altLang="en-US" sz="2400" dirty="0">
              <a:latin typeface="Times New Roman" pitchFamily="18" charset="0"/>
              <a:cs typeface="Times New Roman" pitchFamily="18" charset="0"/>
            </a:endParaRPr>
          </a:p>
        </p:txBody>
      </p:sp>
      <p:pic>
        <p:nvPicPr>
          <p:cNvPr id="9" name="Picture 3"/>
          <p:cNvPicPr>
            <a:picLocks noChangeAspect="1" noChangeArrowheads="1"/>
          </p:cNvPicPr>
          <p:nvPr/>
        </p:nvPicPr>
        <p:blipFill>
          <a:blip r:embed="rId7" cstate="print"/>
          <a:srcRect/>
          <a:stretch>
            <a:fillRect/>
          </a:stretch>
        </p:blipFill>
        <p:spPr bwMode="auto">
          <a:xfrm>
            <a:off x="1" y="0"/>
            <a:ext cx="9144000" cy="1000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1" name="Rectangle 1"/>
          <p:cNvSpPr>
            <a:spLocks noChangeArrowheads="1"/>
          </p:cNvSpPr>
          <p:nvPr/>
        </p:nvSpPr>
        <p:spPr bwMode="auto">
          <a:xfrm>
            <a:off x="2483768" y="908720"/>
            <a:ext cx="4214842"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0" i="0"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Surface Distributed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0" i="0" u="sng"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Current Densities</a:t>
            </a:r>
            <a:endParaRPr kumimoji="0" lang="en-US" altLang="zh-CN" sz="3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3" name="图片 2"/>
          <p:cNvPicPr/>
          <p:nvPr/>
        </p:nvPicPr>
        <p:blipFill>
          <a:blip r:embed="rId2" cstate="print"/>
          <a:srcRect/>
          <a:stretch>
            <a:fillRect/>
          </a:stretch>
        </p:blipFill>
        <p:spPr bwMode="auto">
          <a:xfrm>
            <a:off x="1835696" y="2204864"/>
            <a:ext cx="6209055" cy="4327082"/>
          </a:xfrm>
          <a:prstGeom prst="rect">
            <a:avLst/>
          </a:prstGeom>
          <a:noFill/>
          <a:ln w="9525">
            <a:noFill/>
            <a:miter lim="800000"/>
            <a:headEnd/>
            <a:tailEnd/>
          </a:ln>
        </p:spPr>
      </p:pic>
      <p:pic>
        <p:nvPicPr>
          <p:cNvPr id="4"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5" name="TextBox 4"/>
          <p:cNvSpPr txBox="1"/>
          <p:nvPr/>
        </p:nvSpPr>
        <p:spPr>
          <a:xfrm>
            <a:off x="8304366" y="2348880"/>
            <a:ext cx="300082" cy="369332"/>
          </a:xfrm>
          <a:prstGeom prst="rect">
            <a:avLst/>
          </a:prstGeom>
          <a:noFill/>
        </p:spPr>
        <p:txBody>
          <a:bodyPr wrap="none" rtlCol="0">
            <a:spAutoFit/>
          </a:bodyPr>
          <a:lstStyle/>
          <a:p>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000100" y="1500174"/>
            <a:ext cx="4786346" cy="175432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800100" algn="l" defTabSz="914400" rtl="0" eaLnBrk="1" fontAlgn="base" latinLnBrk="0" hangingPunct="1">
              <a:lnSpc>
                <a:spcPct val="15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When    </a:t>
            </a:r>
            <a:r>
              <a:rPr kumimoji="0" lang="en-US" altLang="zh-CN" sz="2400" b="0" i="0" u="sng"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J</a:t>
            </a: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has units of A/m</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800100" algn="l" defTabSz="914400" rtl="0" eaLnBrk="0" fontAlgn="base" latinLnBrk="0" hangingPunct="0">
              <a:lnSpc>
                <a:spcPct val="150000"/>
              </a:lnSpc>
              <a:spcBef>
                <a:spcPct val="0"/>
              </a:spcBef>
              <a:spcAft>
                <a:spcPct val="0"/>
              </a:spcAft>
              <a:buClrTx/>
              <a:buSzTx/>
              <a:buFontTx/>
              <a:buNone/>
              <a:tabLst/>
            </a:pPr>
            <a:r>
              <a:rPr kumimoji="0" lang="en-US" altLang="zh-CN" sz="2400" b="0" i="0"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a:t>
            </a:r>
            <a:r>
              <a:rPr kumimoji="0" lang="en-US" altLang="zh-CN" sz="2400" b="0" i="0" u="sng"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M</a:t>
            </a: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has units of V/m</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800100" algn="l" defTabSz="914400" rtl="0" eaLnBrk="0" fontAlgn="base" latinLnBrk="0" hangingPunct="0">
              <a:lnSpc>
                <a:spcPct val="15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Then</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94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94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946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461" name="Object 5"/>
          <p:cNvGraphicFramePr>
            <a:graphicFrameLocks noChangeAspect="1"/>
          </p:cNvGraphicFramePr>
          <p:nvPr/>
        </p:nvGraphicFramePr>
        <p:xfrm>
          <a:off x="2428860" y="3717032"/>
          <a:ext cx="2428892" cy="852035"/>
        </p:xfrm>
        <a:graphic>
          <a:graphicData uri="http://schemas.openxmlformats.org/presentationml/2006/ole">
            <mc:AlternateContent xmlns:mc="http://schemas.openxmlformats.org/markup-compatibility/2006">
              <mc:Choice xmlns:v="urn:schemas-microsoft-com:vml" Requires="v">
                <p:oleObj spid="_x0000_s19468" name="Equation" r:id="rId3" imgW="1308100" imgH="457200" progId="Equation.DSMT4">
                  <p:embed/>
                </p:oleObj>
              </mc:Choice>
              <mc:Fallback>
                <p:oleObj name="Equation" r:id="rId3" imgW="1308100" imgH="457200" progId="Equation.DSMT4">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60" y="3717032"/>
                        <a:ext cx="2428892" cy="8520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463" name="Object 7"/>
          <p:cNvGraphicFramePr>
            <a:graphicFrameLocks noChangeAspect="1"/>
          </p:cNvGraphicFramePr>
          <p:nvPr/>
        </p:nvGraphicFramePr>
        <p:xfrm>
          <a:off x="2428859" y="4574287"/>
          <a:ext cx="2409299" cy="785819"/>
        </p:xfrm>
        <a:graphic>
          <a:graphicData uri="http://schemas.openxmlformats.org/presentationml/2006/ole">
            <mc:AlternateContent xmlns:mc="http://schemas.openxmlformats.org/markup-compatibility/2006">
              <mc:Choice xmlns:v="urn:schemas-microsoft-com:vml" Requires="v">
                <p:oleObj spid="_x0000_s19469" name="Equation" r:id="rId5" imgW="1397000" imgH="457200" progId="Equation.DSMT4">
                  <p:embed/>
                </p:oleObj>
              </mc:Choice>
              <mc:Fallback>
                <p:oleObj name="Equation" r:id="rId5" imgW="1397000" imgH="457200" progId="Equation.DSMT4">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8859" y="4574287"/>
                        <a:ext cx="2409299" cy="785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5" name="Rectangle 9"/>
          <p:cNvSpPr>
            <a:spLocks noChangeArrowheads="1"/>
          </p:cNvSpPr>
          <p:nvPr/>
        </p:nvSpPr>
        <p:spPr bwMode="auto">
          <a:xfrm>
            <a:off x="5643570" y="3885180"/>
            <a:ext cx="1214446"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(3-51)</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2" name="Rectangle 9"/>
          <p:cNvSpPr>
            <a:spLocks noChangeArrowheads="1"/>
          </p:cNvSpPr>
          <p:nvPr/>
        </p:nvSpPr>
        <p:spPr bwMode="auto">
          <a:xfrm>
            <a:off x="5643570" y="4755565"/>
            <a:ext cx="1214446"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(3-52)</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13" name="Picture 3"/>
          <p:cNvPicPr>
            <a:picLocks noChangeAspect="1" noChangeArrowheads="1"/>
          </p:cNvPicPr>
          <p:nvPr/>
        </p:nvPicPr>
        <p:blipFill>
          <a:blip r:embed="rId7" cstate="print"/>
          <a:srcRect/>
          <a:stretch>
            <a:fillRect/>
          </a:stretch>
        </p:blipFill>
        <p:spPr bwMode="auto">
          <a:xfrm>
            <a:off x="1" y="0"/>
            <a:ext cx="9144000" cy="1000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3" name="Rectangle 1"/>
          <p:cNvSpPr>
            <a:spLocks noChangeArrowheads="1"/>
          </p:cNvSpPr>
          <p:nvPr/>
        </p:nvSpPr>
        <p:spPr bwMode="auto">
          <a:xfrm>
            <a:off x="1619672" y="1412776"/>
            <a:ext cx="5786446"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0" i="0" u="sng"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Line Distributed Current</a:t>
            </a:r>
            <a:endParaRPr kumimoji="0" lang="en-US" altLang="zh-CN" sz="3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3" name="图片 2"/>
          <p:cNvPicPr/>
          <p:nvPr/>
        </p:nvPicPr>
        <p:blipFill>
          <a:blip r:embed="rId2" cstate="print"/>
          <a:srcRect/>
          <a:stretch>
            <a:fillRect/>
          </a:stretch>
        </p:blipFill>
        <p:spPr bwMode="auto">
          <a:xfrm>
            <a:off x="642910" y="2143116"/>
            <a:ext cx="7715304" cy="2928958"/>
          </a:xfrm>
          <a:prstGeom prst="rect">
            <a:avLst/>
          </a:prstGeom>
          <a:noFill/>
          <a:ln w="9525">
            <a:noFill/>
            <a:miter lim="800000"/>
            <a:headEnd/>
            <a:tailEnd/>
          </a:ln>
        </p:spPr>
      </p:pic>
      <p:pic>
        <p:nvPicPr>
          <p:cNvPr id="4"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000100" y="1500174"/>
            <a:ext cx="4786346" cy="175432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800100" algn="l" defTabSz="914400" rtl="0" eaLnBrk="1" fontAlgn="base" latinLnBrk="0" hangingPunct="1">
              <a:lnSpc>
                <a:spcPct val="15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When    </a:t>
            </a:r>
            <a:r>
              <a:rPr kumimoji="0" lang="en-US" altLang="zh-CN" sz="2400" b="0" i="0" u="sng"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J</a:t>
            </a: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has units of Amps</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800100" algn="l" defTabSz="914400" rtl="0" eaLnBrk="0" fontAlgn="base" latinLnBrk="0" hangingPunct="0">
              <a:lnSpc>
                <a:spcPct val="150000"/>
              </a:lnSpc>
              <a:spcBef>
                <a:spcPct val="0"/>
              </a:spcBef>
              <a:spcAft>
                <a:spcPct val="0"/>
              </a:spcAft>
              <a:buClrTx/>
              <a:buSzTx/>
              <a:buFontTx/>
              <a:buNone/>
              <a:tabLst/>
            </a:pPr>
            <a:r>
              <a:rPr kumimoji="0" lang="en-US" altLang="zh-CN" sz="2400" b="0" i="0"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a:t>
            </a:r>
            <a:r>
              <a:rPr kumimoji="0" lang="en-US" altLang="zh-CN" sz="2400" b="0" i="0" u="sng"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M</a:t>
            </a: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 has units of Volts</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800100" algn="l" defTabSz="914400" rtl="0" eaLnBrk="0" fontAlgn="base" latinLnBrk="0" hangingPunct="0">
              <a:lnSpc>
                <a:spcPct val="15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Then</a:t>
            </a:r>
            <a:endPar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94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457" name="Object 1"/>
          <p:cNvGraphicFramePr>
            <a:graphicFrameLocks noChangeAspect="1"/>
          </p:cNvGraphicFramePr>
          <p:nvPr/>
        </p:nvGraphicFramePr>
        <p:xfrm>
          <a:off x="2608263" y="3143250"/>
          <a:ext cx="927100" cy="441325"/>
        </p:xfrm>
        <a:graphic>
          <a:graphicData uri="http://schemas.openxmlformats.org/presentationml/2006/ole">
            <mc:AlternateContent xmlns:mc="http://schemas.openxmlformats.org/markup-compatibility/2006">
              <mc:Choice xmlns:v="urn:schemas-microsoft-com:vml" Requires="v">
                <p:oleObj spid="_x0000_s52241" name="Equation" r:id="rId3" imgW="482400" imgH="228600" progId="Equation.DSMT4">
                  <p:embed/>
                </p:oleObj>
              </mc:Choice>
              <mc:Fallback>
                <p:oleObj name="Equation" r:id="rId3" imgW="482400" imgH="228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8263" y="3143250"/>
                        <a:ext cx="9271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459" name="Object 3"/>
          <p:cNvGraphicFramePr>
            <a:graphicFrameLocks noChangeAspect="1"/>
          </p:cNvGraphicFramePr>
          <p:nvPr/>
        </p:nvGraphicFramePr>
        <p:xfrm>
          <a:off x="2500298" y="3714752"/>
          <a:ext cx="1071569" cy="428628"/>
        </p:xfrm>
        <a:graphic>
          <a:graphicData uri="http://schemas.openxmlformats.org/presentationml/2006/ole">
            <mc:AlternateContent xmlns:mc="http://schemas.openxmlformats.org/markup-compatibility/2006">
              <mc:Choice xmlns:v="urn:schemas-microsoft-com:vml" Requires="v">
                <p:oleObj spid="_x0000_s52242" name="Equation" r:id="rId5" imgW="571320" imgH="228600" progId="Equation.DSMT4">
                  <p:embed/>
                </p:oleObj>
              </mc:Choice>
              <mc:Fallback>
                <p:oleObj name="Equation" r:id="rId5" imgW="571320" imgH="2286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0298" y="3714752"/>
                        <a:ext cx="1071569"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946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9465" name="Rectangle 9"/>
          <p:cNvSpPr>
            <a:spLocks noChangeArrowheads="1"/>
          </p:cNvSpPr>
          <p:nvPr/>
        </p:nvSpPr>
        <p:spPr bwMode="auto">
          <a:xfrm>
            <a:off x="5643570" y="4382966"/>
            <a:ext cx="1214446"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(3-53)</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2" name="Rectangle 9"/>
          <p:cNvSpPr>
            <a:spLocks noChangeArrowheads="1"/>
          </p:cNvSpPr>
          <p:nvPr/>
        </p:nvSpPr>
        <p:spPr bwMode="auto">
          <a:xfrm>
            <a:off x="5643570" y="5253351"/>
            <a:ext cx="1214446"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(3-54)</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52231"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2230" name="Object 6"/>
          <p:cNvGraphicFramePr>
            <a:graphicFrameLocks noChangeAspect="1"/>
          </p:cNvGraphicFramePr>
          <p:nvPr/>
        </p:nvGraphicFramePr>
        <p:xfrm>
          <a:off x="2428860" y="4214818"/>
          <a:ext cx="2643205" cy="881070"/>
        </p:xfrm>
        <a:graphic>
          <a:graphicData uri="http://schemas.openxmlformats.org/presentationml/2006/ole">
            <mc:AlternateContent xmlns:mc="http://schemas.openxmlformats.org/markup-compatibility/2006">
              <mc:Choice xmlns:v="urn:schemas-microsoft-com:vml" Requires="v">
                <p:oleObj spid="_x0000_s52243" name="Equation" r:id="rId7" imgW="1219200" imgH="457200" progId="Equation.DSMT4">
                  <p:embed/>
                </p:oleObj>
              </mc:Choice>
              <mc:Fallback>
                <p:oleObj name="Equation" r:id="rId7" imgW="1219200" imgH="457200" progId="Equation.DSMT4">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8860" y="4214818"/>
                        <a:ext cx="2643205" cy="8810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2232" name="Object 8"/>
          <p:cNvGraphicFramePr>
            <a:graphicFrameLocks noChangeAspect="1"/>
          </p:cNvGraphicFramePr>
          <p:nvPr/>
        </p:nvGraphicFramePr>
        <p:xfrm>
          <a:off x="2357422" y="5072074"/>
          <a:ext cx="2643206" cy="857256"/>
        </p:xfrm>
        <a:graphic>
          <a:graphicData uri="http://schemas.openxmlformats.org/presentationml/2006/ole">
            <mc:AlternateContent xmlns:mc="http://schemas.openxmlformats.org/markup-compatibility/2006">
              <mc:Choice xmlns:v="urn:schemas-microsoft-com:vml" Requires="v">
                <p:oleObj spid="_x0000_s52244" name="Equation" r:id="rId9" imgW="1257300" imgH="457200" progId="Equation.DSMT4">
                  <p:embed/>
                </p:oleObj>
              </mc:Choice>
              <mc:Fallback>
                <p:oleObj name="Equation" r:id="rId9" imgW="1257300" imgH="457200" progId="Equation.DSMT4">
                  <p:embed/>
                  <p:pic>
                    <p:nvPicPr>
                      <p:cNvPr id="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57422" y="5072074"/>
                        <a:ext cx="2643206" cy="857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 name="Picture 3"/>
          <p:cNvPicPr>
            <a:picLocks noChangeAspect="1" noChangeArrowheads="1"/>
          </p:cNvPicPr>
          <p:nvPr/>
        </p:nvPicPr>
        <p:blipFill>
          <a:blip r:embed="rId11" cstate="print"/>
          <a:srcRect/>
          <a:stretch>
            <a:fillRect/>
          </a:stretch>
        </p:blipFill>
        <p:spPr bwMode="auto">
          <a:xfrm>
            <a:off x="1" y="0"/>
            <a:ext cx="9144000" cy="1000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3" name="TextBox 2"/>
          <p:cNvSpPr txBox="1"/>
          <p:nvPr/>
        </p:nvSpPr>
        <p:spPr>
          <a:xfrm>
            <a:off x="1691680" y="1124744"/>
            <a:ext cx="5040560" cy="584775"/>
          </a:xfrm>
          <a:prstGeom prst="rect">
            <a:avLst/>
          </a:prstGeom>
          <a:noFill/>
        </p:spPr>
        <p:txBody>
          <a:bodyPr wrap="square" rtlCol="0">
            <a:spAutoFit/>
          </a:bodyPr>
          <a:lstStyle/>
          <a:p>
            <a:pPr algn="ctr"/>
            <a:r>
              <a:rPr lang="en-US" altLang="zh-CN" sz="3200" dirty="0" smtClean="0">
                <a:solidFill>
                  <a:srgbClr val="FF0000"/>
                </a:solidFill>
                <a:latin typeface="Times New Roman" pitchFamily="18" charset="0"/>
                <a:cs typeface="Times New Roman" pitchFamily="18" charset="0"/>
              </a:rPr>
              <a:t>Summary</a:t>
            </a:r>
            <a:endParaRPr lang="zh-CN" altLang="en-US" sz="3200" dirty="0">
              <a:solidFill>
                <a:srgbClr val="FF0000"/>
              </a:solidFill>
              <a:latin typeface="Times New Roman" pitchFamily="18" charset="0"/>
              <a:cs typeface="Times New Roman" pitchFamily="18" charset="0"/>
            </a:endParaRPr>
          </a:p>
        </p:txBody>
      </p:sp>
      <p:sp>
        <p:nvSpPr>
          <p:cNvPr id="4" name="矩形 3"/>
          <p:cNvSpPr/>
          <p:nvPr/>
        </p:nvSpPr>
        <p:spPr>
          <a:xfrm>
            <a:off x="971600" y="1844824"/>
            <a:ext cx="7200800" cy="3046988"/>
          </a:xfrm>
          <a:prstGeom prst="rect">
            <a:avLst/>
          </a:prstGeom>
        </p:spPr>
        <p:txBody>
          <a:bodyPr wrap="square">
            <a:spAutoFit/>
          </a:bodyPr>
          <a:lstStyle/>
          <a:p>
            <a:pPr marL="457200" indent="-457200">
              <a:buFont typeface="+mj-lt"/>
              <a:buAutoNum type="arabicPeriod"/>
            </a:pPr>
            <a:r>
              <a:rPr lang="en-US" altLang="zh-CN" sz="2400" dirty="0" smtClean="0">
                <a:latin typeface="Times New Roman" pitchFamily="18" charset="0"/>
                <a:cs typeface="Times New Roman" pitchFamily="18" charset="0"/>
              </a:rPr>
              <a:t>Specify sources: electric current density </a:t>
            </a:r>
            <a:r>
              <a:rPr lang="en-US" altLang="zh-CN" sz="2400" b="1" i="1" dirty="0" smtClean="0">
                <a:latin typeface="Times New Roman" pitchFamily="18" charset="0"/>
                <a:cs typeface="Times New Roman" pitchFamily="18" charset="0"/>
              </a:rPr>
              <a:t>J</a:t>
            </a:r>
            <a:r>
              <a:rPr lang="en-US" altLang="zh-CN" sz="2400" dirty="0" smtClean="0">
                <a:latin typeface="Times New Roman" pitchFamily="18" charset="0"/>
                <a:cs typeface="Times New Roman" pitchFamily="18" charset="0"/>
              </a:rPr>
              <a:t> and magnetic current density </a:t>
            </a:r>
            <a:r>
              <a:rPr lang="en-US" altLang="zh-CN" sz="2400" b="1" i="1" dirty="0" smtClean="0">
                <a:latin typeface="Times New Roman" pitchFamily="18" charset="0"/>
                <a:cs typeface="Times New Roman" pitchFamily="18" charset="0"/>
              </a:rPr>
              <a:t>M</a:t>
            </a:r>
            <a:r>
              <a:rPr lang="en-US" altLang="zh-CN" sz="2400" dirty="0" smtClean="0">
                <a:latin typeface="Times New Roman" pitchFamily="18" charset="0"/>
                <a:cs typeface="Times New Roman" pitchFamily="18" charset="0"/>
              </a:rPr>
              <a:t>.</a:t>
            </a:r>
          </a:p>
          <a:p>
            <a:pPr marL="457200" indent="-457200">
              <a:buFont typeface="+mj-lt"/>
              <a:buAutoNum type="arabicPeriod"/>
            </a:pPr>
            <a:r>
              <a:rPr lang="en-US" altLang="zh-CN" sz="2400" dirty="0" smtClean="0">
                <a:latin typeface="Times New Roman" pitchFamily="18" charset="0"/>
                <a:cs typeface="Times New Roman" pitchFamily="18" charset="0"/>
              </a:rPr>
              <a:t>a. Find </a:t>
            </a:r>
            <a:r>
              <a:rPr lang="en-US" altLang="zh-CN" sz="2400" b="1" i="1"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 (due to </a:t>
            </a:r>
            <a:r>
              <a:rPr lang="en-US" altLang="zh-CN" sz="2400" b="1" i="1" dirty="0" smtClean="0">
                <a:latin typeface="Times New Roman" pitchFamily="18" charset="0"/>
                <a:cs typeface="Times New Roman" pitchFamily="18" charset="0"/>
              </a:rPr>
              <a:t>J</a:t>
            </a:r>
            <a:r>
              <a:rPr lang="en-US" altLang="zh-CN" sz="2400" dirty="0" smtClean="0">
                <a:latin typeface="Times New Roman" pitchFamily="18" charset="0"/>
                <a:cs typeface="Times New Roman" pitchFamily="18" charset="0"/>
              </a:rPr>
              <a:t>) using</a:t>
            </a:r>
          </a:p>
          <a:p>
            <a:pPr marL="457200" indent="-457200">
              <a:buFont typeface="+mj-lt"/>
              <a:buAutoNum type="arabicPeriod"/>
            </a:pPr>
            <a:endParaRPr lang="en-US" altLang="zh-CN" sz="2400" dirty="0" smtClean="0">
              <a:latin typeface="Times New Roman" pitchFamily="18" charset="0"/>
              <a:cs typeface="Times New Roman" pitchFamily="18" charset="0"/>
            </a:endParaRPr>
          </a:p>
          <a:p>
            <a:pPr marL="457200" indent="-457200">
              <a:buFont typeface="+mj-lt"/>
              <a:buAutoNum type="arabicPeriod"/>
            </a:pPr>
            <a:endParaRPr lang="en-US" altLang="zh-CN" sz="2400" dirty="0" smtClean="0">
              <a:latin typeface="Times New Roman" pitchFamily="18" charset="0"/>
              <a:cs typeface="Times New Roman" pitchFamily="18" charset="0"/>
            </a:endParaRPr>
          </a:p>
          <a:p>
            <a:pPr marL="457200" indent="-457200">
              <a:buFont typeface="+mj-lt"/>
              <a:buAutoNum type="arabicPeriod"/>
            </a:pPr>
            <a:endParaRPr lang="en-US" altLang="zh-CN" sz="2400" dirty="0" smtClean="0">
              <a:latin typeface="Times New Roman" pitchFamily="18" charset="0"/>
              <a:cs typeface="Times New Roman" pitchFamily="18" charset="0"/>
            </a:endParaRPr>
          </a:p>
          <a:p>
            <a:pPr marL="457200" indent="-457200">
              <a:buFont typeface="+mj-lt"/>
              <a:buAutoNum type="arabicPeriod"/>
            </a:pPr>
            <a:endParaRPr lang="en-US" altLang="zh-CN" sz="2400" dirty="0" smtClean="0">
              <a:latin typeface="Times New Roman" pitchFamily="18" charset="0"/>
              <a:cs typeface="Times New Roman" pitchFamily="18" charset="0"/>
            </a:endParaRPr>
          </a:p>
          <a:p>
            <a:pPr marL="457200" indent="-457200"/>
            <a:r>
              <a:rPr lang="en-US" altLang="zh-CN" sz="2400" dirty="0" smtClean="0">
                <a:latin typeface="Times New Roman" pitchFamily="18" charset="0"/>
                <a:cs typeface="Times New Roman" pitchFamily="18" charset="0"/>
              </a:rPr>
              <a:t>b. Find </a:t>
            </a:r>
            <a:r>
              <a:rPr lang="en-US" altLang="zh-CN" sz="2400" b="1" i="1" dirty="0" smtClean="0">
                <a:latin typeface="Times New Roman" pitchFamily="18" charset="0"/>
                <a:cs typeface="Times New Roman" pitchFamily="18" charset="0"/>
              </a:rPr>
              <a:t>F</a:t>
            </a:r>
            <a:r>
              <a:rPr lang="en-US" altLang="zh-CN" sz="2400" dirty="0" smtClean="0">
                <a:latin typeface="Times New Roman" pitchFamily="18" charset="0"/>
                <a:cs typeface="Times New Roman" pitchFamily="18" charset="0"/>
              </a:rPr>
              <a:t> (due to </a:t>
            </a:r>
            <a:r>
              <a:rPr lang="en-US" altLang="zh-CN" sz="2400" b="1" i="1" dirty="0" smtClean="0">
                <a:latin typeface="Times New Roman" pitchFamily="18" charset="0"/>
                <a:cs typeface="Times New Roman" pitchFamily="18" charset="0"/>
              </a:rPr>
              <a:t>M</a:t>
            </a:r>
            <a:r>
              <a:rPr lang="en-US" altLang="zh-CN" sz="2400" dirty="0" smtClean="0">
                <a:latin typeface="Times New Roman" pitchFamily="18" charset="0"/>
                <a:cs typeface="Times New Roman" pitchFamily="18" charset="0"/>
              </a:rPr>
              <a:t>) using</a:t>
            </a:r>
            <a:endParaRPr lang="zh-CN" altLang="en-US" sz="2400" dirty="0">
              <a:latin typeface="Times New Roman" pitchFamily="18" charset="0"/>
              <a:cs typeface="Times New Roman" pitchFamily="18" charset="0"/>
            </a:endParaRPr>
          </a:p>
        </p:txBody>
      </p:sp>
      <p:graphicFrame>
        <p:nvGraphicFramePr>
          <p:cNvPr id="70658" name="Object 2"/>
          <p:cNvGraphicFramePr>
            <a:graphicFrameLocks noChangeAspect="1"/>
          </p:cNvGraphicFramePr>
          <p:nvPr/>
        </p:nvGraphicFramePr>
        <p:xfrm>
          <a:off x="2339752" y="3284984"/>
          <a:ext cx="3643312" cy="911225"/>
        </p:xfrm>
        <a:graphic>
          <a:graphicData uri="http://schemas.openxmlformats.org/presentationml/2006/ole">
            <mc:AlternateContent xmlns:mc="http://schemas.openxmlformats.org/markup-compatibility/2006">
              <mc:Choice xmlns:v="urn:schemas-microsoft-com:vml" Requires="v">
                <p:oleObj spid="_x0000_s70667" name="Equation" r:id="rId4" imgW="1485720" imgH="469800" progId="Equation.DSMT4">
                  <p:embed/>
                </p:oleObj>
              </mc:Choice>
              <mc:Fallback>
                <p:oleObj name="Equation" r:id="rId4" imgW="1485720" imgH="46980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752" y="3284984"/>
                        <a:ext cx="3643312"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2"/>
          <p:cNvSpPr/>
          <p:nvPr/>
        </p:nvSpPr>
        <p:spPr>
          <a:xfrm>
            <a:off x="2123728" y="3212976"/>
            <a:ext cx="3960440" cy="10081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graphicFrame>
        <p:nvGraphicFramePr>
          <p:cNvPr id="16" name="Object 2"/>
          <p:cNvGraphicFramePr>
            <a:graphicFrameLocks noChangeAspect="1"/>
          </p:cNvGraphicFramePr>
          <p:nvPr/>
        </p:nvGraphicFramePr>
        <p:xfrm>
          <a:off x="2227263" y="5084763"/>
          <a:ext cx="3860800" cy="911225"/>
        </p:xfrm>
        <a:graphic>
          <a:graphicData uri="http://schemas.openxmlformats.org/presentationml/2006/ole">
            <mc:AlternateContent xmlns:mc="http://schemas.openxmlformats.org/markup-compatibility/2006">
              <mc:Choice xmlns:v="urn:schemas-microsoft-com:vml" Requires="v">
                <p:oleObj spid="_x0000_s70668" name="Equation" r:id="rId6" imgW="1574640" imgH="469800" progId="Equation.DSMT4">
                  <p:embed/>
                </p:oleObj>
              </mc:Choice>
              <mc:Fallback>
                <p:oleObj name="Equation" r:id="rId6" imgW="1574640" imgH="469800" progId="Equation.DSMT4">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7263" y="5084763"/>
                        <a:ext cx="3860800"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p:cNvSpPr/>
          <p:nvPr/>
        </p:nvSpPr>
        <p:spPr>
          <a:xfrm>
            <a:off x="2119738" y="5013176"/>
            <a:ext cx="3960440" cy="10081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3" name="矩形 2"/>
          <p:cNvSpPr/>
          <p:nvPr/>
        </p:nvSpPr>
        <p:spPr>
          <a:xfrm>
            <a:off x="539552" y="1268760"/>
            <a:ext cx="8280087" cy="461665"/>
          </a:xfrm>
          <a:prstGeom prst="rect">
            <a:avLst/>
          </a:prstGeom>
        </p:spPr>
        <p:txBody>
          <a:bodyPr wrap="none">
            <a:spAutoFit/>
          </a:bodyPr>
          <a:lstStyle/>
          <a:p>
            <a:pPr marL="457200" indent="-457200">
              <a:buFont typeface="+mj-lt"/>
              <a:buAutoNum type="arabicPeriod" startAt="3"/>
            </a:pPr>
            <a:r>
              <a:rPr lang="en-US" altLang="zh-CN" sz="2400" dirty="0" smtClean="0"/>
              <a:t>The total electric and magnetic fields are then determined by</a:t>
            </a:r>
            <a:endParaRPr lang="zh-CN" altLang="en-US" sz="2400" dirty="0"/>
          </a:p>
        </p:txBody>
      </p:sp>
      <p:graphicFrame>
        <p:nvGraphicFramePr>
          <p:cNvPr id="4" name="Object 5"/>
          <p:cNvGraphicFramePr>
            <a:graphicFrameLocks noChangeAspect="1"/>
          </p:cNvGraphicFramePr>
          <p:nvPr/>
        </p:nvGraphicFramePr>
        <p:xfrm>
          <a:off x="2601342" y="2874368"/>
          <a:ext cx="3325813" cy="755650"/>
        </p:xfrm>
        <a:graphic>
          <a:graphicData uri="http://schemas.openxmlformats.org/presentationml/2006/ole">
            <mc:AlternateContent xmlns:mc="http://schemas.openxmlformats.org/markup-compatibility/2006">
              <mc:Choice xmlns:v="urn:schemas-microsoft-com:vml" Requires="v">
                <p:oleObj spid="_x0000_s83984" name="Equation" r:id="rId4" imgW="1841400" imgH="419040" progId="Equation.DSMT4">
                  <p:embed/>
                </p:oleObj>
              </mc:Choice>
              <mc:Fallback>
                <p:oleObj name="Equation" r:id="rId4" imgW="1841400" imgH="41904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1342" y="2874368"/>
                        <a:ext cx="3325813"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2555776" y="2852936"/>
            <a:ext cx="3384376" cy="14401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Object 3"/>
          <p:cNvGraphicFramePr>
            <a:graphicFrameLocks noChangeAspect="1"/>
          </p:cNvGraphicFramePr>
          <p:nvPr/>
        </p:nvGraphicFramePr>
        <p:xfrm>
          <a:off x="2555776" y="4725144"/>
          <a:ext cx="1628775" cy="757238"/>
        </p:xfrm>
        <a:graphic>
          <a:graphicData uri="http://schemas.openxmlformats.org/presentationml/2006/ole">
            <mc:AlternateContent xmlns:mc="http://schemas.openxmlformats.org/markup-compatibility/2006">
              <mc:Choice xmlns:v="urn:schemas-microsoft-com:vml" Requires="v">
                <p:oleObj spid="_x0000_s83985" name="Equation" r:id="rId6" imgW="901440" imgH="419040" progId="Equation.DSMT4">
                  <p:embed/>
                </p:oleObj>
              </mc:Choice>
              <mc:Fallback>
                <p:oleObj name="Equation" r:id="rId6" imgW="901440" imgH="41904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776" y="4725144"/>
                        <a:ext cx="1628775" cy="757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2987824" y="1772816"/>
            <a:ext cx="1872208" cy="830997"/>
          </a:xfrm>
          <a:prstGeom prst="rect">
            <a:avLst/>
          </a:prstGeom>
          <a:noFill/>
        </p:spPr>
        <p:txBody>
          <a:bodyPr wrap="square" rtlCol="0">
            <a:spAutoFit/>
          </a:bodyPr>
          <a:lstStyle/>
          <a:p>
            <a:pPr algn="ctr"/>
            <a:r>
              <a:rPr lang="en-US" altLang="zh-CN" sz="2400" b="1" i="1" dirty="0" smtClean="0">
                <a:latin typeface="Times New Roman" pitchFamily="18" charset="0"/>
                <a:cs typeface="Times New Roman" pitchFamily="18" charset="0"/>
              </a:rPr>
              <a:t>E</a:t>
            </a:r>
            <a:r>
              <a:rPr lang="en-US" altLang="zh-CN" sz="2400" dirty="0" smtClean="0">
                <a:latin typeface="Times New Roman" pitchFamily="18" charset="0"/>
                <a:cs typeface="Times New Roman" pitchFamily="18" charset="0"/>
              </a:rPr>
              <a:t>=</a:t>
            </a:r>
            <a:r>
              <a:rPr lang="en-US" altLang="zh-CN" sz="2400" b="1" i="1" dirty="0" smtClean="0">
                <a:latin typeface="Times New Roman" pitchFamily="18" charset="0"/>
                <a:cs typeface="Times New Roman" pitchFamily="18" charset="0"/>
              </a:rPr>
              <a:t>E</a:t>
            </a:r>
            <a:r>
              <a:rPr lang="en-US" altLang="zh-CN" sz="2400" baseline="-25000"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a:t>
            </a:r>
            <a:r>
              <a:rPr lang="en-US" altLang="zh-CN" sz="2400" b="1" i="1" dirty="0" smtClean="0">
                <a:latin typeface="Times New Roman" pitchFamily="18" charset="0"/>
                <a:cs typeface="Times New Roman" pitchFamily="18" charset="0"/>
              </a:rPr>
              <a:t>E</a:t>
            </a:r>
            <a:r>
              <a:rPr lang="en-US" altLang="zh-CN" sz="2400" baseline="-25000" dirty="0" smtClean="0">
                <a:latin typeface="Times New Roman" pitchFamily="18" charset="0"/>
                <a:cs typeface="Times New Roman" pitchFamily="18" charset="0"/>
              </a:rPr>
              <a:t>F</a:t>
            </a:r>
          </a:p>
          <a:p>
            <a:pPr algn="ctr"/>
            <a:r>
              <a:rPr lang="en-US" altLang="zh-CN" sz="2400" b="1" i="1" dirty="0" smtClean="0">
                <a:latin typeface="Times New Roman" pitchFamily="18" charset="0"/>
                <a:cs typeface="Times New Roman" pitchFamily="18" charset="0"/>
              </a:rPr>
              <a:t>H</a:t>
            </a:r>
            <a:r>
              <a:rPr lang="en-US" altLang="zh-CN" sz="2400" dirty="0" smtClean="0">
                <a:latin typeface="Times New Roman" pitchFamily="18" charset="0"/>
                <a:cs typeface="Times New Roman" pitchFamily="18" charset="0"/>
              </a:rPr>
              <a:t>=</a:t>
            </a:r>
            <a:r>
              <a:rPr lang="en-US" altLang="zh-CN" sz="2400" b="1" i="1" dirty="0" smtClean="0">
                <a:latin typeface="Times New Roman" pitchFamily="18" charset="0"/>
                <a:cs typeface="Times New Roman" pitchFamily="18" charset="0"/>
              </a:rPr>
              <a:t>H</a:t>
            </a:r>
            <a:r>
              <a:rPr lang="en-US" altLang="zh-CN" sz="2400" baseline="-25000"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a:t>
            </a:r>
            <a:r>
              <a:rPr lang="en-US" altLang="zh-CN" sz="2400" b="1" i="1" dirty="0" smtClean="0">
                <a:latin typeface="Times New Roman" pitchFamily="18" charset="0"/>
                <a:cs typeface="Times New Roman" pitchFamily="18" charset="0"/>
              </a:rPr>
              <a:t>H</a:t>
            </a:r>
            <a:r>
              <a:rPr lang="en-US" altLang="zh-CN" sz="2400" baseline="-25000" dirty="0" smtClean="0">
                <a:latin typeface="Times New Roman" pitchFamily="18" charset="0"/>
                <a:cs typeface="Times New Roman" pitchFamily="18" charset="0"/>
              </a:rPr>
              <a:t>F</a:t>
            </a:r>
            <a:endParaRPr lang="zh-CN" altLang="en-US" sz="2400" baseline="-25000" dirty="0">
              <a:latin typeface="Times New Roman" pitchFamily="18" charset="0"/>
              <a:cs typeface="Times New Roman" pitchFamily="18" charset="0"/>
            </a:endParaRPr>
          </a:p>
        </p:txBody>
      </p:sp>
      <p:graphicFrame>
        <p:nvGraphicFramePr>
          <p:cNvPr id="16" name="Object 5"/>
          <p:cNvGraphicFramePr>
            <a:graphicFrameLocks noChangeAspect="1"/>
          </p:cNvGraphicFramePr>
          <p:nvPr/>
        </p:nvGraphicFramePr>
        <p:xfrm>
          <a:off x="2497138" y="5373216"/>
          <a:ext cx="3440112" cy="755650"/>
        </p:xfrm>
        <a:graphic>
          <a:graphicData uri="http://schemas.openxmlformats.org/presentationml/2006/ole">
            <mc:AlternateContent xmlns:mc="http://schemas.openxmlformats.org/markup-compatibility/2006">
              <mc:Choice xmlns:v="urn:schemas-microsoft-com:vml" Requires="v">
                <p:oleObj spid="_x0000_s83986" name="Equation" r:id="rId8" imgW="1904760" imgH="419040" progId="Equation.DSMT4">
                  <p:embed/>
                </p:oleObj>
              </mc:Choice>
              <mc:Fallback>
                <p:oleObj name="Equation" r:id="rId8" imgW="1904760" imgH="419040" progId="Equation.DSMT4">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7138" y="5373216"/>
                        <a:ext cx="3440112"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p:cNvSpPr/>
          <p:nvPr/>
        </p:nvSpPr>
        <p:spPr>
          <a:xfrm>
            <a:off x="2483768" y="4653136"/>
            <a:ext cx="3528392" cy="15121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 name="Object 3"/>
          <p:cNvGraphicFramePr>
            <a:graphicFrameLocks noChangeAspect="1"/>
          </p:cNvGraphicFramePr>
          <p:nvPr/>
        </p:nvGraphicFramePr>
        <p:xfrm>
          <a:off x="2617788" y="3644900"/>
          <a:ext cx="1466850" cy="590550"/>
        </p:xfrm>
        <a:graphic>
          <a:graphicData uri="http://schemas.openxmlformats.org/presentationml/2006/ole">
            <mc:AlternateContent xmlns:mc="http://schemas.openxmlformats.org/markup-compatibility/2006">
              <mc:Choice xmlns:v="urn:schemas-microsoft-com:vml" Requires="v">
                <p:oleObj spid="_x0000_s83987" name="Equation" r:id="rId10" imgW="977760" imgH="393480" progId="Equation.DSMT4">
                  <p:embed/>
                </p:oleObj>
              </mc:Choice>
              <mc:Fallback>
                <p:oleObj name="Equation" r:id="rId10" imgW="977760" imgH="393480" progId="Equation.DSMT4">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17788" y="3644900"/>
                        <a:ext cx="1466850"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1" name="Rectangle 1"/>
          <p:cNvSpPr>
            <a:spLocks noChangeArrowheads="1"/>
          </p:cNvSpPr>
          <p:nvPr/>
        </p:nvSpPr>
        <p:spPr bwMode="auto">
          <a:xfrm>
            <a:off x="2843808" y="1844824"/>
            <a:ext cx="2714644" cy="7694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400" b="0" i="0" strike="noStrike" cap="none" normalizeH="0" baseline="0" dirty="0" smtClean="0">
                <a:ln>
                  <a:noFill/>
                </a:ln>
                <a:effectLst/>
                <a:latin typeface="Times New Roman" pitchFamily="18" charset="0"/>
                <a:ea typeface="微软雅黑" pitchFamily="34" charset="-122"/>
                <a:cs typeface="Times New Roman" pitchFamily="18" charset="0"/>
              </a:rPr>
              <a:t>Far-Field</a:t>
            </a:r>
            <a:endParaRPr kumimoji="0" lang="en-US" altLang="zh-CN" sz="4400" b="0" i="0" strike="noStrike" cap="none" normalizeH="0" baseline="0" dirty="0" smtClean="0">
              <a:ln>
                <a:noFill/>
              </a:ln>
              <a:effectLst/>
              <a:latin typeface="Arial" pitchFamily="34" charset="0"/>
              <a:ea typeface="宋体" pitchFamily="2" charset="-122"/>
              <a:cs typeface="宋体" pitchFamily="2" charset="-122"/>
            </a:endParaRPr>
          </a:p>
        </p:txBody>
      </p:sp>
      <p:sp>
        <p:nvSpPr>
          <p:cNvPr id="15363"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362" name="Object 2"/>
          <p:cNvGraphicFramePr>
            <a:graphicFrameLocks noChangeAspect="1"/>
          </p:cNvGraphicFramePr>
          <p:nvPr/>
        </p:nvGraphicFramePr>
        <p:xfrm>
          <a:off x="3275856" y="2924944"/>
          <a:ext cx="2071702" cy="1308443"/>
        </p:xfrm>
        <a:graphic>
          <a:graphicData uri="http://schemas.openxmlformats.org/presentationml/2006/ole">
            <mc:AlternateContent xmlns:mc="http://schemas.openxmlformats.org/markup-compatibility/2006">
              <mc:Choice xmlns:v="urn:schemas-microsoft-com:vml" Requires="v">
                <p:oleObj spid="_x0000_s15365" name="Equation" r:id="rId3" imgW="723586" imgH="457002" progId="Equation.DSMT4">
                  <p:embed/>
                </p:oleObj>
              </mc:Choice>
              <mc:Fallback>
                <p:oleObj name="Equation" r:id="rId3" imgW="723586" imgH="457002"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856" y="2924944"/>
                        <a:ext cx="2071702" cy="13084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3"/>
          <p:cNvPicPr>
            <a:picLocks noChangeAspect="1" noChangeArrowheads="1"/>
          </p:cNvPicPr>
          <p:nvPr/>
        </p:nvPicPr>
        <p:blipFill>
          <a:blip r:embed="rId5" cstate="print"/>
          <a:srcRect/>
          <a:stretch>
            <a:fillRect/>
          </a:stretch>
        </p:blipFill>
        <p:spPr bwMode="auto">
          <a:xfrm>
            <a:off x="1" y="0"/>
            <a:ext cx="9144000" cy="1000125"/>
          </a:xfrm>
          <a:prstGeom prst="rect">
            <a:avLst/>
          </a:prstGeom>
          <a:noFill/>
          <a:ln w="9525">
            <a:noFill/>
            <a:miter lim="800000"/>
            <a:headEnd/>
            <a:tailEnd/>
          </a:ln>
          <a:effectLst/>
        </p:spPr>
      </p:pic>
      <p:sp>
        <p:nvSpPr>
          <p:cNvPr id="6" name="Rectangle 3"/>
          <p:cNvSpPr>
            <a:spLocks noChangeArrowheads="1"/>
          </p:cNvSpPr>
          <p:nvPr/>
        </p:nvSpPr>
        <p:spPr bwMode="auto">
          <a:xfrm>
            <a:off x="2000232" y="4335487"/>
            <a:ext cx="5072098"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D=Largest Dimension of the Antenna</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Rectangle 1"/>
          <p:cNvSpPr>
            <a:spLocks noChangeArrowheads="1"/>
          </p:cNvSpPr>
          <p:nvPr/>
        </p:nvSpPr>
        <p:spPr bwMode="auto">
          <a:xfrm>
            <a:off x="2339752" y="1124744"/>
            <a:ext cx="4071966"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0" i="0" strike="noStrike" cap="none" normalizeH="0" baseline="0" dirty="0" smtClean="0">
                <a:ln>
                  <a:noFill/>
                </a:ln>
                <a:effectLst/>
                <a:latin typeface="Times New Roman" pitchFamily="18" charset="0"/>
                <a:ea typeface="微软雅黑" pitchFamily="34" charset="-122"/>
                <a:cs typeface="Times New Roman" pitchFamily="18" charset="0"/>
              </a:rPr>
              <a:t>Far-Field</a:t>
            </a:r>
            <a:endParaRPr kumimoji="0" lang="en-US" altLang="zh-CN" sz="3200" b="0" i="0" strike="noStrike" cap="none" normalizeH="0" baseline="0" dirty="0" smtClean="0">
              <a:ln>
                <a:noFill/>
              </a:ln>
              <a:effectLst/>
              <a:latin typeface="Arial" pitchFamily="34" charset="0"/>
              <a:ea typeface="宋体" pitchFamily="2" charset="-122"/>
              <a:cs typeface="宋体" pitchFamily="2" charset="-122"/>
            </a:endParaRPr>
          </a:p>
        </p:txBody>
      </p:sp>
      <p:sp>
        <p:nvSpPr>
          <p:cNvPr id="14339"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338" name="Object 2"/>
          <p:cNvGraphicFramePr>
            <a:graphicFrameLocks noChangeAspect="1"/>
          </p:cNvGraphicFramePr>
          <p:nvPr/>
        </p:nvGraphicFramePr>
        <p:xfrm>
          <a:off x="2143109" y="1714488"/>
          <a:ext cx="6418520" cy="4726272"/>
        </p:xfrm>
        <a:graphic>
          <a:graphicData uri="http://schemas.openxmlformats.org/presentationml/2006/ole">
            <mc:AlternateContent xmlns:mc="http://schemas.openxmlformats.org/markup-compatibility/2006">
              <mc:Choice xmlns:v="urn:schemas-microsoft-com:vml" Requires="v">
                <p:oleObj spid="_x0000_s14341" name="Visio" r:id="rId3" imgW="4672868" imgH="3642408" progId="Visio.Drawing.11">
                  <p:embed/>
                </p:oleObj>
              </mc:Choice>
              <mc:Fallback>
                <p:oleObj name="Visio" r:id="rId3" imgW="4672868" imgH="3642408" progId="Visio.Drawing.11">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09" y="1714488"/>
                        <a:ext cx="6418520" cy="4726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图片 4"/>
          <p:cNvPicPr/>
          <p:nvPr/>
        </p:nvPicPr>
        <p:blipFill>
          <a:blip r:embed="rId5" cstate="print"/>
          <a:srcRect/>
          <a:stretch>
            <a:fillRect/>
          </a:stretch>
        </p:blipFill>
        <p:spPr bwMode="auto">
          <a:xfrm>
            <a:off x="2143108" y="2714620"/>
            <a:ext cx="1771650" cy="1447800"/>
          </a:xfrm>
          <a:prstGeom prst="rect">
            <a:avLst/>
          </a:prstGeom>
          <a:noFill/>
          <a:ln w="9525">
            <a:noFill/>
            <a:miter lim="800000"/>
            <a:headEnd/>
            <a:tailEnd/>
          </a:ln>
        </p:spPr>
      </p:pic>
      <p:pic>
        <p:nvPicPr>
          <p:cNvPr id="6" name="Picture 3"/>
          <p:cNvPicPr>
            <a:picLocks noChangeAspect="1" noChangeArrowheads="1"/>
          </p:cNvPicPr>
          <p:nvPr/>
        </p:nvPicPr>
        <p:blipFill>
          <a:blip r:embed="rId6" cstate="print"/>
          <a:srcRect/>
          <a:stretch>
            <a:fillRect/>
          </a:stretch>
        </p:blipFill>
        <p:spPr bwMode="auto">
          <a:xfrm>
            <a:off x="1" y="0"/>
            <a:ext cx="9144000" cy="1000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graphicFrame>
        <p:nvGraphicFramePr>
          <p:cNvPr id="3" name="Object 9"/>
          <p:cNvGraphicFramePr>
            <a:graphicFrameLocks noChangeAspect="1"/>
          </p:cNvGraphicFramePr>
          <p:nvPr/>
        </p:nvGraphicFramePr>
        <p:xfrm>
          <a:off x="3059832" y="1196752"/>
          <a:ext cx="2551784" cy="504056"/>
        </p:xfrm>
        <a:graphic>
          <a:graphicData uri="http://schemas.openxmlformats.org/presentationml/2006/ole">
            <mc:AlternateContent xmlns:mc="http://schemas.openxmlformats.org/markup-compatibility/2006">
              <mc:Choice xmlns:v="urn:schemas-microsoft-com:vml" Requires="v">
                <p:oleObj spid="_x0000_s99343" name="Equation" r:id="rId4" imgW="1028520" imgH="203040" progId="Equation.DSMT4">
                  <p:embed/>
                </p:oleObj>
              </mc:Choice>
              <mc:Fallback>
                <p:oleObj name="Equation" r:id="rId4" imgW="1028520" imgH="20304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832" y="1196752"/>
                        <a:ext cx="2551784"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Box 3"/>
          <p:cNvSpPr txBox="1"/>
          <p:nvPr/>
        </p:nvSpPr>
        <p:spPr>
          <a:xfrm>
            <a:off x="539552" y="1772816"/>
            <a:ext cx="7992888" cy="3785652"/>
          </a:xfrm>
          <a:prstGeom prst="rect">
            <a:avLst/>
          </a:prstGeom>
          <a:noFill/>
        </p:spPr>
        <p:txBody>
          <a:bodyPr wrap="square" rtlCol="0">
            <a:spAutoFit/>
          </a:bodyPr>
          <a:lstStyle/>
          <a:p>
            <a:pPr marL="457200" indent="-457200">
              <a:buFont typeface="Wingdings" pitchFamily="2" charset="2"/>
              <a:buChar char="n"/>
            </a:pPr>
            <a:r>
              <a:rPr lang="en-US" altLang="zh-CN" sz="2400" dirty="0" smtClean="0">
                <a:latin typeface="Times New Roman" pitchFamily="18" charset="0"/>
                <a:cs typeface="Times New Roman" pitchFamily="18" charset="0"/>
              </a:rPr>
              <a:t>In the far field region,        only contributes the </a:t>
            </a:r>
            <a:r>
              <a:rPr lang="en-US" altLang="zh-CN" sz="2400" i="1" dirty="0" smtClean="0">
                <a:latin typeface="Times New Roman" pitchFamily="18" charset="0"/>
                <a:cs typeface="Times New Roman" pitchFamily="18" charset="0"/>
              </a:rPr>
              <a:t>E</a:t>
            </a:r>
            <a:r>
              <a:rPr lang="en-US" altLang="zh-CN" sz="2400" i="1" baseline="-25000" dirty="0" smtClean="0">
                <a:latin typeface="Times New Roman" pitchFamily="18" charset="0"/>
                <a:cs typeface="Times New Roman" pitchFamily="18" charset="0"/>
              </a:rPr>
              <a:t>r</a:t>
            </a:r>
            <a:r>
              <a:rPr lang="en-US" altLang="zh-CN" sz="2400" dirty="0" smtClean="0">
                <a:latin typeface="Times New Roman" pitchFamily="18" charset="0"/>
                <a:cs typeface="Times New Roman" pitchFamily="18" charset="0"/>
              </a:rPr>
              <a:t> component (it contributes to the near field);</a:t>
            </a:r>
          </a:p>
          <a:p>
            <a:pPr marL="457200" indent="-457200">
              <a:buFont typeface="Wingdings" pitchFamily="2" charset="2"/>
              <a:buChar char="n"/>
            </a:pPr>
            <a:r>
              <a:rPr lang="en-US" altLang="zh-CN" sz="2400" i="1" dirty="0" smtClean="0">
                <a:latin typeface="Times New Roman" pitchFamily="18" charset="0"/>
                <a:cs typeface="Times New Roman" pitchFamily="18" charset="0"/>
              </a:rPr>
              <a:t>j</a:t>
            </a:r>
            <a:r>
              <a:rPr lang="el-GR" altLang="zh-CN" sz="2400" i="1" dirty="0" smtClean="0">
                <a:latin typeface="Times New Roman" pitchFamily="18" charset="0"/>
                <a:cs typeface="Times New Roman" pitchFamily="18" charset="0"/>
              </a:rPr>
              <a:t>ω</a:t>
            </a:r>
            <a:r>
              <a:rPr lang="en-US" altLang="zh-CN" sz="2400" b="1" i="1"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 contributes to all </a:t>
            </a:r>
            <a:r>
              <a:rPr lang="en-US" altLang="zh-CN" sz="2400" b="1" i="1" dirty="0" smtClean="0">
                <a:latin typeface="Times New Roman" pitchFamily="18" charset="0"/>
                <a:cs typeface="Times New Roman" pitchFamily="18" charset="0"/>
              </a:rPr>
              <a:t>E</a:t>
            </a:r>
            <a:r>
              <a:rPr lang="en-US" altLang="zh-CN" sz="2400" dirty="0" smtClean="0">
                <a:latin typeface="Times New Roman" pitchFamily="18" charset="0"/>
                <a:cs typeface="Times New Roman" pitchFamily="18" charset="0"/>
              </a:rPr>
              <a:t> components, including </a:t>
            </a:r>
            <a:r>
              <a:rPr lang="en-US" altLang="zh-CN" sz="2400" i="1" dirty="0" smtClean="0">
                <a:latin typeface="Times New Roman" pitchFamily="18" charset="0"/>
                <a:cs typeface="Times New Roman" pitchFamily="18" charset="0"/>
              </a:rPr>
              <a:t>E</a:t>
            </a:r>
            <a:r>
              <a:rPr lang="en-US" altLang="zh-CN" sz="2400" i="1" baseline="-25000" dirty="0" smtClean="0">
                <a:latin typeface="Times New Roman" pitchFamily="18" charset="0"/>
                <a:cs typeface="Times New Roman" pitchFamily="18" charset="0"/>
              </a:rPr>
              <a:t>r</a:t>
            </a:r>
            <a:r>
              <a:rPr lang="en-US" altLang="zh-CN" sz="2400" dirty="0" smtClean="0">
                <a:latin typeface="Times New Roman" pitchFamily="18" charset="0"/>
                <a:cs typeface="Times New Roman" pitchFamily="18" charset="0"/>
              </a:rPr>
              <a:t>, </a:t>
            </a:r>
            <a:r>
              <a:rPr lang="en-US" altLang="zh-CN" sz="2400" i="1" dirty="0" smtClean="0">
                <a:latin typeface="Times New Roman" pitchFamily="18" charset="0"/>
                <a:cs typeface="Times New Roman" pitchFamily="18" charset="0"/>
              </a:rPr>
              <a:t>E</a:t>
            </a:r>
            <a:r>
              <a:rPr lang="en-US" altLang="zh-CN" sz="2400" i="1" baseline="-25000" dirty="0" smtClean="0">
                <a:latin typeface="Times New Roman" pitchFamily="18" charset="0"/>
                <a:cs typeface="Times New Roman" pitchFamily="18" charset="0"/>
                <a:sym typeface="Symbol"/>
              </a:rPr>
              <a:t></a:t>
            </a:r>
            <a:r>
              <a:rPr lang="en-US" altLang="zh-CN" sz="2400" dirty="0" smtClean="0">
                <a:latin typeface="Times New Roman" pitchFamily="18" charset="0"/>
                <a:cs typeface="Times New Roman" pitchFamily="18" charset="0"/>
                <a:sym typeface="Symbol"/>
              </a:rPr>
              <a:t>, and </a:t>
            </a:r>
            <a:r>
              <a:rPr lang="en-US" altLang="zh-CN" sz="2400" i="1" dirty="0" smtClean="0">
                <a:latin typeface="Times New Roman" pitchFamily="18" charset="0"/>
                <a:cs typeface="Times New Roman" pitchFamily="18" charset="0"/>
                <a:sym typeface="Symbol"/>
              </a:rPr>
              <a:t>E</a:t>
            </a:r>
            <a:r>
              <a:rPr lang="el-GR" altLang="zh-CN" sz="2400" baseline="-25000" dirty="0" smtClean="0"/>
              <a:t>φ</a:t>
            </a:r>
            <a:r>
              <a:rPr lang="en-US" altLang="zh-CN" sz="2400" dirty="0" smtClean="0">
                <a:latin typeface="Times New Roman" pitchFamily="18" charset="0"/>
                <a:cs typeface="Times New Roman" pitchFamily="18" charset="0"/>
                <a:sym typeface="Symbol"/>
              </a:rPr>
              <a:t>.</a:t>
            </a:r>
          </a:p>
          <a:p>
            <a:pPr marL="457200" indent="-457200">
              <a:buFont typeface="Wingdings" pitchFamily="2" charset="2"/>
              <a:buChar char="n"/>
            </a:pPr>
            <a:r>
              <a:rPr lang="en-US" altLang="zh-CN" sz="2400" dirty="0" smtClean="0">
                <a:latin typeface="Times New Roman" pitchFamily="18" charset="0"/>
                <a:cs typeface="Times New Roman" pitchFamily="18" charset="0"/>
                <a:sym typeface="Symbol"/>
              </a:rPr>
              <a:t>Since in far field region E and H are TEM wave, </a:t>
            </a:r>
            <a:r>
              <a:rPr lang="en-US" altLang="zh-CN" sz="2400" i="1" dirty="0" smtClean="0">
                <a:latin typeface="Times New Roman" pitchFamily="18" charset="0"/>
                <a:cs typeface="Times New Roman" pitchFamily="18" charset="0"/>
                <a:sym typeface="Symbol"/>
              </a:rPr>
              <a:t>E</a:t>
            </a:r>
            <a:r>
              <a:rPr lang="en-US" altLang="zh-CN" sz="2400" i="1" baseline="-25000" dirty="0" smtClean="0">
                <a:latin typeface="Times New Roman" pitchFamily="18" charset="0"/>
                <a:cs typeface="Times New Roman" pitchFamily="18" charset="0"/>
                <a:sym typeface="Symbol"/>
              </a:rPr>
              <a:t>r</a:t>
            </a:r>
            <a:r>
              <a:rPr lang="en-US" altLang="zh-CN" sz="2400" dirty="0" smtClean="0">
                <a:latin typeface="Times New Roman" pitchFamily="18" charset="0"/>
                <a:cs typeface="Times New Roman" pitchFamily="18" charset="0"/>
                <a:sym typeface="Symbol"/>
              </a:rPr>
              <a:t> will be zero.- This requires that the </a:t>
            </a:r>
            <a:r>
              <a:rPr lang="en-US" altLang="zh-CN" sz="2400" i="1" dirty="0" smtClean="0">
                <a:latin typeface="Times New Roman" pitchFamily="18" charset="0"/>
                <a:cs typeface="Times New Roman" pitchFamily="18" charset="0"/>
                <a:sym typeface="Symbol"/>
              </a:rPr>
              <a:t>E</a:t>
            </a:r>
            <a:r>
              <a:rPr lang="en-US" altLang="zh-CN" sz="2400" i="1" baseline="-25000" dirty="0" smtClean="0">
                <a:latin typeface="Times New Roman" pitchFamily="18" charset="0"/>
                <a:cs typeface="Times New Roman" pitchFamily="18" charset="0"/>
                <a:sym typeface="Symbol"/>
              </a:rPr>
              <a:t>r</a:t>
            </a:r>
            <a:r>
              <a:rPr lang="en-US" altLang="zh-CN" sz="2400" dirty="0" smtClean="0">
                <a:latin typeface="Times New Roman" pitchFamily="18" charset="0"/>
                <a:cs typeface="Times New Roman" pitchFamily="18" charset="0"/>
                <a:sym typeface="Symbol"/>
              </a:rPr>
              <a:t> contributions from      and </a:t>
            </a:r>
            <a:r>
              <a:rPr lang="en-US" altLang="zh-CN" sz="2400" i="1" dirty="0" smtClean="0">
                <a:latin typeface="Times New Roman" pitchFamily="18" charset="0"/>
                <a:cs typeface="Times New Roman" pitchFamily="18" charset="0"/>
              </a:rPr>
              <a:t>j</a:t>
            </a:r>
            <a:r>
              <a:rPr lang="el-GR" altLang="zh-CN" sz="2400" i="1" dirty="0" smtClean="0">
                <a:latin typeface="Times New Roman" pitchFamily="18" charset="0"/>
                <a:cs typeface="Times New Roman" pitchFamily="18" charset="0"/>
              </a:rPr>
              <a:t>ω</a:t>
            </a:r>
            <a:r>
              <a:rPr lang="en-US" altLang="zh-CN" sz="2400" b="1" i="1"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 must cancel each other in the far field region.</a:t>
            </a:r>
          </a:p>
          <a:p>
            <a:pPr marL="457200" indent="-457200">
              <a:buFont typeface="Wingdings" pitchFamily="2" charset="2"/>
              <a:buChar char="n"/>
            </a:pPr>
            <a:r>
              <a:rPr lang="en-US" altLang="zh-CN" sz="2400" dirty="0" smtClean="0">
                <a:latin typeface="Times New Roman" pitchFamily="18" charset="0"/>
                <a:cs typeface="Times New Roman" pitchFamily="18" charset="0"/>
              </a:rPr>
              <a:t>Conclusion: when calculating far E field, we only consider the contributions from </a:t>
            </a:r>
            <a:r>
              <a:rPr lang="en-US" altLang="zh-CN" sz="2400" i="1" dirty="0" smtClean="0">
                <a:latin typeface="Times New Roman" pitchFamily="18" charset="0"/>
                <a:cs typeface="Times New Roman" pitchFamily="18" charset="0"/>
              </a:rPr>
              <a:t>j</a:t>
            </a:r>
            <a:r>
              <a:rPr lang="el-GR" altLang="zh-CN" sz="2400" i="1" dirty="0" smtClean="0">
                <a:latin typeface="Times New Roman" pitchFamily="18" charset="0"/>
                <a:cs typeface="Times New Roman" pitchFamily="18" charset="0"/>
              </a:rPr>
              <a:t>ω</a:t>
            </a:r>
            <a:r>
              <a:rPr lang="en-US" altLang="zh-CN" sz="2400" b="1" i="1" dirty="0" smtClean="0">
                <a:latin typeface="Times New Roman" pitchFamily="18" charset="0"/>
                <a:cs typeface="Times New Roman" pitchFamily="18" charset="0"/>
              </a:rPr>
              <a:t>A</a:t>
            </a:r>
            <a:r>
              <a:rPr lang="en-US" altLang="zh-CN" sz="2400" dirty="0" smtClean="0">
                <a:latin typeface="Times New Roman" pitchFamily="18" charset="0"/>
                <a:cs typeface="Times New Roman" pitchFamily="18" charset="0"/>
              </a:rPr>
              <a:t>. – this shows the benefit of using auxiliary functions</a:t>
            </a:r>
          </a:p>
        </p:txBody>
      </p:sp>
      <p:graphicFrame>
        <p:nvGraphicFramePr>
          <p:cNvPr id="99332" name="Object 4"/>
          <p:cNvGraphicFramePr>
            <a:graphicFrameLocks noChangeAspect="1"/>
          </p:cNvGraphicFramePr>
          <p:nvPr/>
        </p:nvGraphicFramePr>
        <p:xfrm>
          <a:off x="4367957" y="5312494"/>
          <a:ext cx="1500187" cy="1212850"/>
        </p:xfrm>
        <a:graphic>
          <a:graphicData uri="http://schemas.openxmlformats.org/presentationml/2006/ole">
            <mc:AlternateContent xmlns:mc="http://schemas.openxmlformats.org/markup-compatibility/2006">
              <mc:Choice xmlns:v="urn:schemas-microsoft-com:vml" Requires="v">
                <p:oleObj spid="_x0000_s99344" name="Equation" r:id="rId6" imgW="876240" imgH="711000" progId="Equation.DSMT4">
                  <p:embed/>
                </p:oleObj>
              </mc:Choice>
              <mc:Fallback>
                <p:oleObj name="Equation" r:id="rId6" imgW="876240" imgH="71100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67957" y="5312494"/>
                        <a:ext cx="1500187" cy="1212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3" name="Object 5"/>
          <p:cNvGraphicFramePr>
            <a:graphicFrameLocks noChangeAspect="1"/>
          </p:cNvGraphicFramePr>
          <p:nvPr/>
        </p:nvGraphicFramePr>
        <p:xfrm>
          <a:off x="3770144" y="1844824"/>
          <a:ext cx="513824" cy="432048"/>
        </p:xfrm>
        <a:graphic>
          <a:graphicData uri="http://schemas.openxmlformats.org/presentationml/2006/ole">
            <mc:AlternateContent xmlns:mc="http://schemas.openxmlformats.org/markup-compatibility/2006">
              <mc:Choice xmlns:v="urn:schemas-microsoft-com:vml" Requires="v">
                <p:oleObj spid="_x0000_s99345" name="Equation" r:id="rId8" imgW="241200" imgH="203040" progId="Equation.DSMT4">
                  <p:embed/>
                </p:oleObj>
              </mc:Choice>
              <mc:Fallback>
                <p:oleObj name="Equation" r:id="rId8" imgW="241200" imgH="203040" progId="Equation.DSMT4">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0144" y="1844824"/>
                        <a:ext cx="513824"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4" name="Object 6"/>
          <p:cNvGraphicFramePr>
            <a:graphicFrameLocks noChangeAspect="1"/>
          </p:cNvGraphicFramePr>
          <p:nvPr/>
        </p:nvGraphicFramePr>
        <p:xfrm>
          <a:off x="7081986" y="3645024"/>
          <a:ext cx="514350" cy="431800"/>
        </p:xfrm>
        <a:graphic>
          <a:graphicData uri="http://schemas.openxmlformats.org/presentationml/2006/ole">
            <mc:AlternateContent xmlns:mc="http://schemas.openxmlformats.org/markup-compatibility/2006">
              <mc:Choice xmlns:v="urn:schemas-microsoft-com:vml" Requires="v">
                <p:oleObj spid="_x0000_s99346" name="Equation" r:id="rId10" imgW="241200" imgH="203040" progId="Equation.DSMT4">
                  <p:embed/>
                </p:oleObj>
              </mc:Choice>
              <mc:Fallback>
                <p:oleObj name="Equation" r:id="rId10" imgW="241200" imgH="203040" progId="Equation.DSMT4">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81986" y="3645024"/>
                        <a:ext cx="5143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7008222" y="2204864"/>
            <a:ext cx="300082" cy="369332"/>
          </a:xfrm>
          <a:prstGeom prst="rect">
            <a:avLst/>
          </a:prstGeom>
          <a:noFill/>
        </p:spPr>
        <p:txBody>
          <a:bodyPr wrap="none" rtlCol="0">
            <a:spAutoFit/>
          </a:bodyPr>
          <a:lstStyle/>
          <a:p>
            <a:r>
              <a:rPr lang="en-US" altLang="zh-CN" dirty="0" smtClean="0"/>
              <a:t>*</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354" name="Object 2"/>
          <p:cNvGraphicFramePr>
            <a:graphicFrameLocks noChangeAspect="1"/>
          </p:cNvGraphicFramePr>
          <p:nvPr/>
        </p:nvGraphicFramePr>
        <p:xfrm>
          <a:off x="3059832" y="2348880"/>
          <a:ext cx="2464274" cy="504056"/>
        </p:xfrm>
        <a:graphic>
          <a:graphicData uri="http://schemas.openxmlformats.org/presentationml/2006/ole">
            <mc:AlternateContent xmlns:mc="http://schemas.openxmlformats.org/markup-compatibility/2006">
              <mc:Choice xmlns:v="urn:schemas-microsoft-com:vml" Requires="v">
                <p:oleObj spid="_x0000_s100357" name="Equation" r:id="rId3" imgW="1117440" imgH="228600" progId="Equation.DSMT4">
                  <p:embed/>
                </p:oleObj>
              </mc:Choice>
              <mc:Fallback>
                <p:oleObj name="Equation" r:id="rId3" imgW="1117440" imgH="2286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832" y="2348880"/>
                        <a:ext cx="2464274"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3"/>
          <p:cNvPicPr>
            <a:picLocks noChangeAspect="1" noChangeArrowheads="1"/>
          </p:cNvPicPr>
          <p:nvPr/>
        </p:nvPicPr>
        <p:blipFill>
          <a:blip r:embed="rId5" cstate="print"/>
          <a:srcRect/>
          <a:stretch>
            <a:fillRect/>
          </a:stretch>
        </p:blipFill>
        <p:spPr bwMode="auto">
          <a:xfrm>
            <a:off x="1" y="0"/>
            <a:ext cx="9144000" cy="1000125"/>
          </a:xfrm>
          <a:prstGeom prst="rect">
            <a:avLst/>
          </a:prstGeom>
          <a:noFill/>
          <a:ln w="9525">
            <a:noFill/>
            <a:miter lim="800000"/>
            <a:headEnd/>
            <a:tailEnd/>
          </a:ln>
          <a:effectLst/>
        </p:spPr>
      </p:pic>
      <p:sp>
        <p:nvSpPr>
          <p:cNvPr id="5" name="TextBox 4"/>
          <p:cNvSpPr txBox="1"/>
          <p:nvPr/>
        </p:nvSpPr>
        <p:spPr>
          <a:xfrm>
            <a:off x="827584" y="1340768"/>
            <a:ext cx="7416824" cy="830997"/>
          </a:xfrm>
          <a:prstGeom prst="rect">
            <a:avLst/>
          </a:prstGeom>
          <a:noFill/>
        </p:spPr>
        <p:txBody>
          <a:bodyPr wrap="square" rtlCol="0">
            <a:spAutoFit/>
          </a:bodyPr>
          <a:lstStyle/>
          <a:p>
            <a:r>
              <a:rPr lang="en-US" altLang="zh-CN" sz="2400" dirty="0" smtClean="0">
                <a:latin typeface="Times New Roman" pitchFamily="18" charset="0"/>
                <a:cs typeface="Times New Roman" pitchFamily="18" charset="0"/>
              </a:rPr>
              <a:t>Same conclusion can be draw for the far H field due to magnetic current </a:t>
            </a:r>
            <a:endParaRPr lang="zh-CN" altLang="en-US" sz="2400" dirty="0">
              <a:latin typeface="Times New Roman" pitchFamily="18" charset="0"/>
              <a:cs typeface="Times New Roman" pitchFamily="18" charset="0"/>
            </a:endParaRPr>
          </a:p>
        </p:txBody>
      </p:sp>
      <p:sp>
        <p:nvSpPr>
          <p:cNvPr id="6" name="矩形 5"/>
          <p:cNvSpPr/>
          <p:nvPr/>
        </p:nvSpPr>
        <p:spPr>
          <a:xfrm>
            <a:off x="1115616" y="3105835"/>
            <a:ext cx="7344816" cy="830997"/>
          </a:xfrm>
          <a:prstGeom prst="rect">
            <a:avLst/>
          </a:prstGeom>
        </p:spPr>
        <p:txBody>
          <a:bodyPr wrap="square">
            <a:spAutoFit/>
          </a:bodyPr>
          <a:lstStyle/>
          <a:p>
            <a:r>
              <a:rPr lang="en-US" altLang="zh-CN" sz="2400" dirty="0" smtClean="0">
                <a:latin typeface="Times New Roman" pitchFamily="18" charset="0"/>
                <a:cs typeface="Times New Roman" pitchFamily="18" charset="0"/>
              </a:rPr>
              <a:t>when calculating far H field, we only consider the contributions from </a:t>
            </a:r>
            <a:r>
              <a:rPr lang="en-US" altLang="zh-CN" sz="2400" i="1" dirty="0" smtClean="0">
                <a:latin typeface="Times New Roman" pitchFamily="18" charset="0"/>
                <a:cs typeface="Times New Roman" pitchFamily="18" charset="0"/>
              </a:rPr>
              <a:t>j</a:t>
            </a:r>
            <a:r>
              <a:rPr lang="el-GR" altLang="zh-CN" sz="2400" i="1" dirty="0" smtClean="0">
                <a:latin typeface="Times New Roman" pitchFamily="18" charset="0"/>
                <a:cs typeface="Times New Roman" pitchFamily="18" charset="0"/>
              </a:rPr>
              <a:t>ω</a:t>
            </a:r>
            <a:r>
              <a:rPr lang="en-US" altLang="zh-CN" sz="2400" b="1" i="1" dirty="0" smtClean="0">
                <a:latin typeface="Times New Roman" pitchFamily="18" charset="0"/>
                <a:cs typeface="Times New Roman" pitchFamily="18" charset="0"/>
              </a:rPr>
              <a:t>F</a:t>
            </a:r>
            <a:endParaRPr lang="zh-CN" altLang="en-US" sz="2400" dirty="0"/>
          </a:p>
        </p:txBody>
      </p:sp>
      <p:sp>
        <p:nvSpPr>
          <p:cNvPr id="7" name="TextBox 6"/>
          <p:cNvSpPr txBox="1"/>
          <p:nvPr/>
        </p:nvSpPr>
        <p:spPr>
          <a:xfrm>
            <a:off x="1115616" y="4523636"/>
            <a:ext cx="6624736" cy="1569660"/>
          </a:xfrm>
          <a:prstGeom prst="rect">
            <a:avLst/>
          </a:prstGeom>
          <a:noFill/>
        </p:spPr>
        <p:txBody>
          <a:bodyPr wrap="square" rtlCol="0">
            <a:spAutoFit/>
          </a:bodyPr>
          <a:lstStyle/>
          <a:p>
            <a:r>
              <a:rPr lang="en-US" altLang="zh-CN" sz="2400" dirty="0" smtClean="0"/>
              <a:t>Above conclusion is widely used in the CEM software (such as those based on </a:t>
            </a:r>
            <a:r>
              <a:rPr lang="en-US" altLang="zh-CN" sz="2400" dirty="0" err="1" smtClean="0"/>
              <a:t>MoM</a:t>
            </a:r>
            <a:r>
              <a:rPr lang="en-US" altLang="zh-CN" sz="2400" dirty="0" smtClean="0"/>
              <a:t>), where the EM field is calculated in the far field region – this reduces the computing time.</a:t>
            </a:r>
            <a:endParaRPr lang="zh-CN" alt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p>
        </p:txBody>
      </p:sp>
      <p:sp>
        <p:nvSpPr>
          <p:cNvPr id="12292" name="Rectangle 4"/>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p>
        </p:txBody>
      </p:sp>
      <p:sp>
        <p:nvSpPr>
          <p:cNvPr id="12295" name="Rectangle 7"/>
          <p:cNvSpPr>
            <a:spLocks noChangeArrowheads="1"/>
          </p:cNvSpPr>
          <p:nvPr/>
        </p:nvSpPr>
        <p:spPr bwMode="auto">
          <a:xfrm>
            <a:off x="4643438" y="1681451"/>
            <a:ext cx="4500562"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(for </a:t>
            </a:r>
            <a:r>
              <a:rPr lang="el-GR" altLang="zh-CN" sz="2400" dirty="0" smtClean="0"/>
              <a:t>θ</a:t>
            </a:r>
            <a:r>
              <a:rPr lang="en-US" altLang="zh-CN" sz="2400" dirty="0" smtClean="0">
                <a:latin typeface="Times New Roman" pitchFamily="18" charset="0"/>
                <a:ea typeface="微软雅黑" pitchFamily="34" charset="-122"/>
                <a:cs typeface="Times New Roman" pitchFamily="18" charset="0"/>
              </a:rPr>
              <a:t> and </a:t>
            </a:r>
            <a:r>
              <a:rPr lang="el-GR" altLang="zh-CN" sz="2400" dirty="0" smtClean="0"/>
              <a:t>φ</a:t>
            </a:r>
            <a:r>
              <a:rPr lang="en-US" altLang="zh-CN" sz="2400" dirty="0" smtClean="0">
                <a:latin typeface="Times New Roman" pitchFamily="18" charset="0"/>
                <a:ea typeface="微软雅黑" pitchFamily="34" charset="-122"/>
                <a:cs typeface="Times New Roman" pitchFamily="18" charset="0"/>
              </a:rPr>
              <a:t> components only)</a:t>
            </a:r>
            <a:r>
              <a:rPr lang="en-US" altLang="zh-CN" sz="2400" dirty="0" smtClean="0">
                <a:latin typeface="Arial" pitchFamily="34" charset="0"/>
                <a:ea typeface="宋体" pitchFamily="2" charset="-122"/>
                <a:cs typeface="宋体" pitchFamily="2" charset="-122"/>
              </a:rPr>
              <a:t> </a:t>
            </a:r>
          </a:p>
        </p:txBody>
      </p:sp>
      <p:sp>
        <p:nvSpPr>
          <p:cNvPr id="12299" name="Rectangle 11"/>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p>
        </p:txBody>
      </p:sp>
      <p:graphicFrame>
        <p:nvGraphicFramePr>
          <p:cNvPr id="12298" name="Object 10"/>
          <p:cNvGraphicFramePr>
            <a:graphicFrameLocks noChangeAspect="1"/>
          </p:cNvGraphicFramePr>
          <p:nvPr/>
        </p:nvGraphicFramePr>
        <p:xfrm>
          <a:off x="1357290" y="2428868"/>
          <a:ext cx="1500198" cy="1212117"/>
        </p:xfrm>
        <a:graphic>
          <a:graphicData uri="http://schemas.openxmlformats.org/presentationml/2006/ole">
            <mc:AlternateContent xmlns:mc="http://schemas.openxmlformats.org/markup-compatibility/2006">
              <mc:Choice xmlns:v="urn:schemas-microsoft-com:vml" Requires="v">
                <p:oleObj spid="_x0000_s12313" name="Equation" r:id="rId3" imgW="876240" imgH="711000" progId="Equation.DSMT4">
                  <p:embed/>
                </p:oleObj>
              </mc:Choice>
              <mc:Fallback>
                <p:oleObj name="Equation" r:id="rId3" imgW="876240" imgH="711000"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290" y="2428868"/>
                        <a:ext cx="1500198" cy="1212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1" name="Rectangle 13"/>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p>
        </p:txBody>
      </p:sp>
      <p:sp>
        <p:nvSpPr>
          <p:cNvPr id="12303" name="Rectangle 15"/>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p>
        </p:txBody>
      </p:sp>
      <p:graphicFrame>
        <p:nvGraphicFramePr>
          <p:cNvPr id="12302" name="Object 14"/>
          <p:cNvGraphicFramePr>
            <a:graphicFrameLocks noChangeAspect="1"/>
          </p:cNvGraphicFramePr>
          <p:nvPr/>
        </p:nvGraphicFramePr>
        <p:xfrm>
          <a:off x="1295400" y="4500563"/>
          <a:ext cx="2124075" cy="1957387"/>
        </p:xfrm>
        <a:graphic>
          <a:graphicData uri="http://schemas.openxmlformats.org/presentationml/2006/ole">
            <mc:AlternateContent xmlns:mc="http://schemas.openxmlformats.org/markup-compatibility/2006">
              <mc:Choice xmlns:v="urn:schemas-microsoft-com:vml" Requires="v">
                <p:oleObj spid="_x0000_s12314" name="Equation" r:id="rId5" imgW="1409400" imgH="1346040" progId="Equation.DSMT4">
                  <p:embed/>
                </p:oleObj>
              </mc:Choice>
              <mc:Fallback>
                <p:oleObj name="Equation" r:id="rId5" imgW="1409400" imgH="1346040" progId="Equation.DSMT4">
                  <p:embed/>
                  <p:pic>
                    <p:nvPicPr>
                      <p:cNvPr id="0"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4500563"/>
                        <a:ext cx="2124075" cy="1957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4" name="Rectangle 16"/>
          <p:cNvSpPr>
            <a:spLocks noChangeArrowheads="1"/>
          </p:cNvSpPr>
          <p:nvPr/>
        </p:nvSpPr>
        <p:spPr bwMode="auto">
          <a:xfrm>
            <a:off x="4643438" y="2739892"/>
            <a:ext cx="171448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(3-58a)</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9" name="Rectangle 7"/>
          <p:cNvSpPr>
            <a:spLocks noChangeArrowheads="1"/>
          </p:cNvSpPr>
          <p:nvPr/>
        </p:nvSpPr>
        <p:spPr bwMode="auto">
          <a:xfrm>
            <a:off x="4572000" y="3870758"/>
            <a:ext cx="4357718"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(for </a:t>
            </a:r>
            <a:r>
              <a:rPr lang="el-GR" altLang="zh-CN" sz="2400" dirty="0" smtClean="0"/>
              <a:t>θ</a:t>
            </a:r>
            <a:r>
              <a:rPr lang="en-US" altLang="zh-CN" sz="2400" dirty="0" smtClean="0">
                <a:latin typeface="Times New Roman" pitchFamily="18" charset="0"/>
                <a:ea typeface="微软雅黑" pitchFamily="34" charset="-122"/>
                <a:cs typeface="Times New Roman" pitchFamily="18" charset="0"/>
              </a:rPr>
              <a:t> and </a:t>
            </a:r>
            <a:r>
              <a:rPr lang="el-GR" altLang="zh-CN" sz="2400" dirty="0" smtClean="0"/>
              <a:t>φ</a:t>
            </a:r>
            <a:r>
              <a:rPr lang="en-US" altLang="zh-CN" sz="2400" dirty="0" smtClean="0">
                <a:latin typeface="Times New Roman" pitchFamily="18" charset="0"/>
                <a:ea typeface="微软雅黑" pitchFamily="34" charset="-122"/>
                <a:cs typeface="Times New Roman" pitchFamily="18" charset="0"/>
              </a:rPr>
              <a:t> components only)</a:t>
            </a:r>
            <a:r>
              <a:rPr lang="en-US" altLang="zh-CN" sz="2400" dirty="0" smtClean="0">
                <a:latin typeface="Arial" pitchFamily="34" charset="0"/>
                <a:ea typeface="宋体" pitchFamily="2" charset="-122"/>
                <a:cs typeface="宋体" pitchFamily="2" charset="-122"/>
              </a:rPr>
              <a:t> </a:t>
            </a:r>
          </a:p>
        </p:txBody>
      </p:sp>
      <p:sp>
        <p:nvSpPr>
          <p:cNvPr id="20" name="Rectangle 16"/>
          <p:cNvSpPr>
            <a:spLocks noChangeArrowheads="1"/>
          </p:cNvSpPr>
          <p:nvPr/>
        </p:nvSpPr>
        <p:spPr bwMode="auto">
          <a:xfrm>
            <a:off x="4643438" y="5097346"/>
            <a:ext cx="171448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(3-58b)</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16" name="Picture 3"/>
          <p:cNvPicPr>
            <a:picLocks noChangeAspect="1" noChangeArrowheads="1"/>
          </p:cNvPicPr>
          <p:nvPr/>
        </p:nvPicPr>
        <p:blipFill>
          <a:blip r:embed="rId7" cstate="print"/>
          <a:srcRect/>
          <a:stretch>
            <a:fillRect/>
          </a:stretch>
        </p:blipFill>
        <p:spPr bwMode="auto">
          <a:xfrm>
            <a:off x="1" y="0"/>
            <a:ext cx="9144000" cy="1000125"/>
          </a:xfrm>
          <a:prstGeom prst="rect">
            <a:avLst/>
          </a:prstGeom>
          <a:noFill/>
          <a:ln w="9525">
            <a:noFill/>
            <a:miter lim="800000"/>
            <a:headEnd/>
            <a:tailEnd/>
          </a:ln>
          <a:effectLst/>
        </p:spPr>
      </p:pic>
      <p:sp>
        <p:nvSpPr>
          <p:cNvPr id="17" name="矩形 16"/>
          <p:cNvSpPr/>
          <p:nvPr/>
        </p:nvSpPr>
        <p:spPr>
          <a:xfrm>
            <a:off x="1259632" y="2348880"/>
            <a:ext cx="1584176" cy="14401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115616" y="4797152"/>
            <a:ext cx="2160240" cy="17281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827584" y="980728"/>
            <a:ext cx="7272808" cy="584775"/>
          </a:xfrm>
          <a:prstGeom prst="rect">
            <a:avLst/>
          </a:prstGeom>
          <a:noFill/>
        </p:spPr>
        <p:txBody>
          <a:bodyPr wrap="square" rtlCol="0">
            <a:spAutoFit/>
          </a:bodyPr>
          <a:lstStyle/>
          <a:p>
            <a:pPr algn="ctr"/>
            <a:r>
              <a:rPr lang="en-US" altLang="zh-CN" sz="3200" dirty="0" smtClean="0">
                <a:latin typeface="Times New Roman" pitchFamily="18" charset="0"/>
                <a:cs typeface="Times New Roman" pitchFamily="18" charset="0"/>
              </a:rPr>
              <a:t>E and H fields due to </a:t>
            </a:r>
            <a:r>
              <a:rPr lang="en-US" altLang="zh-CN" sz="3200" b="1" i="1" dirty="0" smtClean="0">
                <a:solidFill>
                  <a:srgbClr val="FF0000"/>
                </a:solidFill>
                <a:latin typeface="Times New Roman" pitchFamily="18" charset="0"/>
                <a:cs typeface="Times New Roman" pitchFamily="18" charset="0"/>
              </a:rPr>
              <a:t>J</a:t>
            </a:r>
            <a:endParaRPr lang="zh-CN" altLang="en-US" sz="3200" b="1" i="1" dirty="0">
              <a:latin typeface="Times New Roman" pitchFamily="18" charset="0"/>
              <a:cs typeface="Times New Roman" pitchFamily="18" charset="0"/>
            </a:endParaRPr>
          </a:p>
        </p:txBody>
      </p:sp>
      <p:graphicFrame>
        <p:nvGraphicFramePr>
          <p:cNvPr id="2" name="Object 15"/>
          <p:cNvGraphicFramePr>
            <a:graphicFrameLocks noChangeAspect="1"/>
          </p:cNvGraphicFramePr>
          <p:nvPr/>
        </p:nvGraphicFramePr>
        <p:xfrm>
          <a:off x="1235075" y="1773238"/>
          <a:ext cx="1457325" cy="436562"/>
        </p:xfrm>
        <a:graphic>
          <a:graphicData uri="http://schemas.openxmlformats.org/presentationml/2006/ole">
            <mc:AlternateContent xmlns:mc="http://schemas.openxmlformats.org/markup-compatibility/2006">
              <mc:Choice xmlns:v="urn:schemas-microsoft-com:vml" Requires="v">
                <p:oleObj spid="_x0000_s12315" name="Equation" r:id="rId8" imgW="761760" imgH="228600" progId="Equation.DSMT4">
                  <p:embed/>
                </p:oleObj>
              </mc:Choice>
              <mc:Fallback>
                <p:oleObj name="Equation" r:id="rId8" imgW="761760" imgH="228600" progId="Equation.DSMT4">
                  <p:embed/>
                  <p:pic>
                    <p:nvPicPr>
                      <p:cNvPr id="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35075" y="1773238"/>
                        <a:ext cx="1457325"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16"/>
          <p:cNvGraphicFramePr>
            <a:graphicFrameLocks noChangeAspect="1"/>
          </p:cNvGraphicFramePr>
          <p:nvPr/>
        </p:nvGraphicFramePr>
        <p:xfrm>
          <a:off x="995363" y="3752850"/>
          <a:ext cx="3082925" cy="800100"/>
        </p:xfrm>
        <a:graphic>
          <a:graphicData uri="http://schemas.openxmlformats.org/presentationml/2006/ole">
            <mc:AlternateContent xmlns:mc="http://schemas.openxmlformats.org/markup-compatibility/2006">
              <mc:Choice xmlns:v="urn:schemas-microsoft-com:vml" Requires="v">
                <p:oleObj spid="_x0000_s12316" name="Equation" r:id="rId10" imgW="1612800" imgH="419040" progId="Equation.DSMT4">
                  <p:embed/>
                </p:oleObj>
              </mc:Choice>
              <mc:Fallback>
                <p:oleObj name="Equation" r:id="rId10" imgW="1612800" imgH="419040" progId="Equation.DSMT4">
                  <p:embed/>
                  <p:pic>
                    <p:nvPicPr>
                      <p:cNvPr id="0" name="Picture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5363" y="3752850"/>
                        <a:ext cx="3082925"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p>
        </p:txBody>
      </p:sp>
      <p:sp>
        <p:nvSpPr>
          <p:cNvPr id="12292" name="Rectangle 4"/>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p>
        </p:txBody>
      </p:sp>
      <p:sp>
        <p:nvSpPr>
          <p:cNvPr id="12295" name="Rectangle 7"/>
          <p:cNvSpPr>
            <a:spLocks noChangeArrowheads="1"/>
          </p:cNvSpPr>
          <p:nvPr/>
        </p:nvSpPr>
        <p:spPr bwMode="auto">
          <a:xfrm>
            <a:off x="4643438" y="1844824"/>
            <a:ext cx="4500562"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(for </a:t>
            </a:r>
            <a:r>
              <a:rPr lang="el-GR" altLang="zh-CN" sz="2400" dirty="0" smtClean="0"/>
              <a:t>θ</a:t>
            </a:r>
            <a:r>
              <a:rPr lang="en-US" altLang="zh-CN" sz="2400" dirty="0" smtClean="0">
                <a:latin typeface="Times New Roman" pitchFamily="18" charset="0"/>
                <a:ea typeface="微软雅黑" pitchFamily="34" charset="-122"/>
                <a:cs typeface="Times New Roman" pitchFamily="18" charset="0"/>
              </a:rPr>
              <a:t> and </a:t>
            </a:r>
            <a:r>
              <a:rPr lang="el-GR" altLang="zh-CN" sz="2400" dirty="0" smtClean="0"/>
              <a:t>φ</a:t>
            </a:r>
            <a:r>
              <a:rPr lang="en-US" altLang="zh-CN" sz="2400" dirty="0" smtClean="0">
                <a:latin typeface="Times New Roman" pitchFamily="18" charset="0"/>
                <a:ea typeface="微软雅黑" pitchFamily="34" charset="-122"/>
                <a:cs typeface="Times New Roman" pitchFamily="18" charset="0"/>
              </a:rPr>
              <a:t> components only)</a:t>
            </a:r>
            <a:r>
              <a:rPr lang="en-US" altLang="zh-CN" sz="2400" dirty="0" smtClean="0">
                <a:latin typeface="Arial" pitchFamily="34" charset="0"/>
                <a:ea typeface="宋体" pitchFamily="2" charset="-122"/>
                <a:cs typeface="宋体" pitchFamily="2" charset="-122"/>
              </a:rPr>
              <a:t> </a:t>
            </a:r>
          </a:p>
        </p:txBody>
      </p:sp>
      <p:sp>
        <p:nvSpPr>
          <p:cNvPr id="12299" name="Rectangle 11"/>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p>
        </p:txBody>
      </p:sp>
      <p:graphicFrame>
        <p:nvGraphicFramePr>
          <p:cNvPr id="12298" name="Object 10"/>
          <p:cNvGraphicFramePr>
            <a:graphicFrameLocks noChangeAspect="1"/>
          </p:cNvGraphicFramePr>
          <p:nvPr/>
        </p:nvGraphicFramePr>
        <p:xfrm>
          <a:off x="1325563" y="2592248"/>
          <a:ext cx="1565275" cy="1212850"/>
        </p:xfrm>
        <a:graphic>
          <a:graphicData uri="http://schemas.openxmlformats.org/presentationml/2006/ole">
            <mc:AlternateContent xmlns:mc="http://schemas.openxmlformats.org/markup-compatibility/2006">
              <mc:Choice xmlns:v="urn:schemas-microsoft-com:vml" Requires="v">
                <p:oleObj spid="_x0000_s85008" name="Equation" r:id="rId3" imgW="914400" imgH="711000" progId="Equation.DSMT4">
                  <p:embed/>
                </p:oleObj>
              </mc:Choice>
              <mc:Fallback>
                <p:oleObj name="Equation" r:id="rId3" imgW="914400" imgH="7110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5563" y="2592248"/>
                        <a:ext cx="1565275" cy="1212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1" name="Rectangle 13"/>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p>
        </p:txBody>
      </p:sp>
      <p:sp>
        <p:nvSpPr>
          <p:cNvPr id="12303" name="Rectangle 15"/>
          <p:cNvSpPr>
            <a:spLocks noChangeArrowheads="1"/>
          </p:cNvSpPr>
          <p:nvPr/>
        </p:nvSpPr>
        <p:spPr bwMode="auto">
          <a:xfrm>
            <a:off x="0" y="-2308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sz="2400"/>
          </a:p>
        </p:txBody>
      </p:sp>
      <p:graphicFrame>
        <p:nvGraphicFramePr>
          <p:cNvPr id="12302" name="Object 14"/>
          <p:cNvGraphicFramePr>
            <a:graphicFrameLocks noChangeAspect="1"/>
          </p:cNvGraphicFramePr>
          <p:nvPr/>
        </p:nvGraphicFramePr>
        <p:xfrm>
          <a:off x="1228725" y="4996433"/>
          <a:ext cx="2259013" cy="1108075"/>
        </p:xfrm>
        <a:graphic>
          <a:graphicData uri="http://schemas.openxmlformats.org/presentationml/2006/ole">
            <mc:AlternateContent xmlns:mc="http://schemas.openxmlformats.org/markup-compatibility/2006">
              <mc:Choice xmlns:v="urn:schemas-microsoft-com:vml" Requires="v">
                <p:oleObj spid="_x0000_s85009" name="Equation" r:id="rId5" imgW="1498320" imgH="761760" progId="Equation.DSMT4">
                  <p:embed/>
                </p:oleObj>
              </mc:Choice>
              <mc:Fallback>
                <p:oleObj name="Equation" r:id="rId5" imgW="1498320" imgH="76176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8725" y="4996433"/>
                        <a:ext cx="2259013"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7"/>
          <p:cNvSpPr>
            <a:spLocks noChangeArrowheads="1"/>
          </p:cNvSpPr>
          <p:nvPr/>
        </p:nvSpPr>
        <p:spPr bwMode="auto">
          <a:xfrm>
            <a:off x="4572000" y="4034131"/>
            <a:ext cx="4357718"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(for </a:t>
            </a:r>
            <a:r>
              <a:rPr lang="el-GR" altLang="zh-CN" sz="2400" dirty="0" smtClean="0"/>
              <a:t>θ</a:t>
            </a:r>
            <a:r>
              <a:rPr lang="en-US" altLang="zh-CN" sz="2400" dirty="0" smtClean="0">
                <a:latin typeface="Times New Roman" pitchFamily="18" charset="0"/>
                <a:ea typeface="微软雅黑" pitchFamily="34" charset="-122"/>
                <a:cs typeface="Times New Roman" pitchFamily="18" charset="0"/>
              </a:rPr>
              <a:t> and </a:t>
            </a:r>
            <a:r>
              <a:rPr lang="el-GR" altLang="zh-CN" sz="2400" dirty="0" smtClean="0"/>
              <a:t>φ</a:t>
            </a:r>
            <a:r>
              <a:rPr lang="en-US" altLang="zh-CN" sz="2400" dirty="0" smtClean="0">
                <a:latin typeface="Times New Roman" pitchFamily="18" charset="0"/>
                <a:ea typeface="微软雅黑" pitchFamily="34" charset="-122"/>
                <a:cs typeface="Times New Roman" pitchFamily="18" charset="0"/>
              </a:rPr>
              <a:t> components only)</a:t>
            </a:r>
            <a:r>
              <a:rPr lang="en-US" altLang="zh-CN" sz="2400" dirty="0" smtClean="0">
                <a:latin typeface="Arial" pitchFamily="34" charset="0"/>
                <a:ea typeface="宋体" pitchFamily="2" charset="-122"/>
                <a:cs typeface="宋体" pitchFamily="2" charset="-122"/>
              </a:rPr>
              <a:t> </a:t>
            </a:r>
          </a:p>
        </p:txBody>
      </p:sp>
      <p:pic>
        <p:nvPicPr>
          <p:cNvPr id="16" name="Picture 3"/>
          <p:cNvPicPr>
            <a:picLocks noChangeAspect="1" noChangeArrowheads="1"/>
          </p:cNvPicPr>
          <p:nvPr/>
        </p:nvPicPr>
        <p:blipFill>
          <a:blip r:embed="rId7" cstate="print"/>
          <a:srcRect/>
          <a:stretch>
            <a:fillRect/>
          </a:stretch>
        </p:blipFill>
        <p:spPr bwMode="auto">
          <a:xfrm>
            <a:off x="1" y="0"/>
            <a:ext cx="9144000" cy="1000125"/>
          </a:xfrm>
          <a:prstGeom prst="rect">
            <a:avLst/>
          </a:prstGeom>
          <a:noFill/>
          <a:ln w="9525">
            <a:noFill/>
            <a:miter lim="800000"/>
            <a:headEnd/>
            <a:tailEnd/>
          </a:ln>
          <a:effectLst/>
        </p:spPr>
      </p:pic>
      <p:sp>
        <p:nvSpPr>
          <p:cNvPr id="17" name="矩形 16"/>
          <p:cNvSpPr/>
          <p:nvPr/>
        </p:nvSpPr>
        <p:spPr>
          <a:xfrm>
            <a:off x="1259632" y="2512253"/>
            <a:ext cx="1584176" cy="14401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115616" y="4941168"/>
            <a:ext cx="2448272" cy="12961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827584" y="980728"/>
            <a:ext cx="7272808" cy="584775"/>
          </a:xfrm>
          <a:prstGeom prst="rect">
            <a:avLst/>
          </a:prstGeom>
          <a:noFill/>
        </p:spPr>
        <p:txBody>
          <a:bodyPr wrap="square" rtlCol="0">
            <a:spAutoFit/>
          </a:bodyPr>
          <a:lstStyle/>
          <a:p>
            <a:pPr algn="ctr"/>
            <a:r>
              <a:rPr lang="en-US" altLang="zh-CN" sz="3200" dirty="0" smtClean="0">
                <a:latin typeface="Times New Roman" pitchFamily="18" charset="0"/>
                <a:cs typeface="Times New Roman" pitchFamily="18" charset="0"/>
              </a:rPr>
              <a:t>E and H fields due to </a:t>
            </a:r>
            <a:r>
              <a:rPr lang="en-US" altLang="zh-CN" sz="3200" b="1" i="1" dirty="0" smtClean="0">
                <a:solidFill>
                  <a:srgbClr val="FF0000"/>
                </a:solidFill>
                <a:latin typeface="Times New Roman" pitchFamily="18" charset="0"/>
                <a:cs typeface="Times New Roman" pitchFamily="18" charset="0"/>
              </a:rPr>
              <a:t>M</a:t>
            </a:r>
            <a:endParaRPr lang="zh-CN" altLang="en-US" sz="3200" b="1" i="1" dirty="0">
              <a:latin typeface="Times New Roman" pitchFamily="18" charset="0"/>
              <a:cs typeface="Times New Roman" pitchFamily="18" charset="0"/>
            </a:endParaRPr>
          </a:p>
        </p:txBody>
      </p:sp>
      <p:graphicFrame>
        <p:nvGraphicFramePr>
          <p:cNvPr id="22" name="对象 21"/>
          <p:cNvGraphicFramePr>
            <a:graphicFrameLocks noChangeAspect="1"/>
          </p:cNvGraphicFramePr>
          <p:nvPr/>
        </p:nvGraphicFramePr>
        <p:xfrm>
          <a:off x="1187624" y="1936189"/>
          <a:ext cx="1553636" cy="436960"/>
        </p:xfrm>
        <a:graphic>
          <a:graphicData uri="http://schemas.openxmlformats.org/presentationml/2006/ole">
            <mc:AlternateContent xmlns:mc="http://schemas.openxmlformats.org/markup-compatibility/2006">
              <mc:Choice xmlns:v="urn:schemas-microsoft-com:vml" Requires="v">
                <p:oleObj spid="_x0000_s85010" name="Equation" r:id="rId8" imgW="812520" imgH="228600" progId="Equation.DSMT4">
                  <p:embed/>
                </p:oleObj>
              </mc:Choice>
              <mc:Fallback>
                <p:oleObj name="Equation" r:id="rId8" imgW="812520" imgH="228600" progId="Equation.DSMT4">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624" y="1936189"/>
                        <a:ext cx="1553636" cy="4369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nvGraphicFramePr>
        <p:xfrm>
          <a:off x="898525" y="4095750"/>
          <a:ext cx="3278188" cy="438150"/>
        </p:xfrm>
        <a:graphic>
          <a:graphicData uri="http://schemas.openxmlformats.org/presentationml/2006/ole">
            <mc:AlternateContent xmlns:mc="http://schemas.openxmlformats.org/markup-compatibility/2006">
              <mc:Choice xmlns:v="urn:schemas-microsoft-com:vml" Requires="v">
                <p:oleObj spid="_x0000_s85011" name="Equation" r:id="rId10" imgW="1714320" imgH="228600" progId="Equation.DSMT4">
                  <p:embed/>
                </p:oleObj>
              </mc:Choice>
              <mc:Fallback>
                <p:oleObj name="Equation" r:id="rId10" imgW="1714320" imgH="228600" progId="Equation.DSMT4">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8525" y="4095750"/>
                        <a:ext cx="3278188"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cstate="print"/>
          <a:tile tx="0" ty="0" sx="100000" sy="100000" flip="none" algn="tl"/>
        </a:blipFill>
        <a:effectLst/>
      </p:bgPr>
    </p:bg>
    <p:spTree>
      <p:nvGrpSpPr>
        <p:cNvPr id="1" name=""/>
        <p:cNvGrpSpPr/>
        <p:nvPr/>
      </p:nvGrpSpPr>
      <p:grpSpPr>
        <a:xfrm>
          <a:off x="0" y="0"/>
          <a:ext cx="0" cy="0"/>
          <a:chOff x="0" y="0"/>
          <a:chExt cx="0" cy="0"/>
        </a:xfrm>
      </p:grpSpPr>
      <p:sp>
        <p:nvSpPr>
          <p:cNvPr id="2" name="Puzzle1"/>
          <p:cNvSpPr>
            <a:spLocks noEditPoints="1" noChangeArrowheads="1"/>
          </p:cNvSpPr>
          <p:nvPr/>
        </p:nvSpPr>
        <p:spPr bwMode="auto">
          <a:xfrm>
            <a:off x="1449388" y="2406650"/>
            <a:ext cx="2855912" cy="1665288"/>
          </a:xfrm>
          <a:custGeom>
            <a:avLst/>
            <a:gdLst>
              <a:gd name="T0" fmla="*/ 16740 w 21600"/>
              <a:gd name="T1" fmla="*/ 21078 h 21600"/>
              <a:gd name="T2" fmla="*/ 16976 w 21600"/>
              <a:gd name="T3" fmla="*/ 521 h 21600"/>
              <a:gd name="T4" fmla="*/ 4725 w 21600"/>
              <a:gd name="T5" fmla="*/ 856 h 21600"/>
              <a:gd name="T6" fmla="*/ 5040 w 21600"/>
              <a:gd name="T7" fmla="*/ 21004 h 21600"/>
              <a:gd name="T8" fmla="*/ 10811 w 21600"/>
              <a:gd name="T9" fmla="*/ 12885 h 21600"/>
              <a:gd name="T10" fmla="*/ 10845 w 21600"/>
              <a:gd name="T11" fmla="*/ 8714 h 21600"/>
              <a:gd name="T12" fmla="*/ 21600 w 21600"/>
              <a:gd name="T13" fmla="*/ 10000 h 21600"/>
              <a:gd name="T14" fmla="*/ 56 w 21600"/>
              <a:gd name="T15" fmla="*/ 10000 h 21600"/>
              <a:gd name="T16" fmla="*/ 6086 w 21600"/>
              <a:gd name="T17" fmla="*/ 2569 h 21600"/>
              <a:gd name="T18" fmla="*/ 16132 w 21600"/>
              <a:gd name="T19" fmla="*/ 1955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rgbClr val="CCCCFF"/>
          </a:solidFill>
          <a:ln w="28575">
            <a:solidFill>
              <a:srgbClr val="000000"/>
            </a:solidFill>
            <a:miter lim="800000"/>
            <a:headEnd/>
            <a:tailEnd/>
          </a:ln>
        </p:spPr>
        <p:txBody>
          <a:bodyPr/>
          <a:lstStyle/>
          <a:p>
            <a:pPr algn="ctr"/>
            <a:r>
              <a:rPr lang="en-US" altLang="zh-CN" b="1">
                <a:solidFill>
                  <a:srgbClr val="FF3300"/>
                </a:solidFill>
                <a:ea typeface="宋体" pitchFamily="2" charset="-122"/>
              </a:rPr>
              <a:t>Uniqueness Theorem</a:t>
            </a:r>
          </a:p>
        </p:txBody>
      </p:sp>
      <p:sp>
        <p:nvSpPr>
          <p:cNvPr id="3" name="Rectangle 2"/>
          <p:cNvSpPr txBox="1">
            <a:spLocks noChangeArrowheads="1"/>
          </p:cNvSpPr>
          <p:nvPr/>
        </p:nvSpPr>
        <p:spPr>
          <a:xfrm>
            <a:off x="685800" y="609600"/>
            <a:ext cx="77724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4000" b="0" i="0" u="none" strike="noStrike" kern="1200" cap="none" spc="0" normalizeH="0" baseline="0" noProof="0" smtClean="0">
                <a:ln>
                  <a:noFill/>
                </a:ln>
                <a:solidFill>
                  <a:schemeClr val="tx1"/>
                </a:solidFill>
                <a:effectLst/>
                <a:uLnTx/>
                <a:uFillTx/>
                <a:latin typeface="+mj-lt"/>
                <a:ea typeface="宋体" pitchFamily="2" charset="-122"/>
                <a:cs typeface="+mj-cs"/>
              </a:rPr>
              <a:t>Electromagnetics: Core Theorems</a:t>
            </a:r>
            <a:endParaRPr kumimoji="0" lang="en-US" altLang="zh-CN" sz="4000" b="0" i="0" u="none" strike="noStrike" kern="1200" cap="none" spc="0" normalizeH="0" baseline="0" noProof="0">
              <a:ln>
                <a:noFill/>
              </a:ln>
              <a:solidFill>
                <a:schemeClr val="tx1"/>
              </a:solidFill>
              <a:effectLst/>
              <a:uLnTx/>
              <a:uFillTx/>
              <a:latin typeface="+mj-lt"/>
              <a:ea typeface="宋体" pitchFamily="2" charset="-122"/>
              <a:cs typeface="+mj-cs"/>
            </a:endParaRPr>
          </a:p>
        </p:txBody>
      </p:sp>
      <p:pic>
        <p:nvPicPr>
          <p:cNvPr id="4" name="Picture 4" descr="roundline_vert"/>
          <p:cNvPicPr>
            <a:picLocks noChangeAspect="1" noChangeArrowheads="1"/>
          </p:cNvPicPr>
          <p:nvPr/>
        </p:nvPicPr>
        <p:blipFill>
          <a:blip r:embed="rId3" cstate="print"/>
          <a:srcRect/>
          <a:stretch>
            <a:fillRect/>
          </a:stretch>
        </p:blipFill>
        <p:spPr bwMode="auto">
          <a:xfrm>
            <a:off x="381000" y="762000"/>
            <a:ext cx="8153400" cy="892175"/>
          </a:xfrm>
          <a:prstGeom prst="rect">
            <a:avLst/>
          </a:prstGeom>
          <a:noFill/>
        </p:spPr>
      </p:pic>
      <p:sp>
        <p:nvSpPr>
          <p:cNvPr id="5" name="Puzzle3"/>
          <p:cNvSpPr>
            <a:spLocks noEditPoints="1" noChangeArrowheads="1"/>
          </p:cNvSpPr>
          <p:nvPr/>
        </p:nvSpPr>
        <p:spPr bwMode="auto">
          <a:xfrm>
            <a:off x="3638550" y="1681163"/>
            <a:ext cx="1766888" cy="2398712"/>
          </a:xfrm>
          <a:custGeom>
            <a:avLst/>
            <a:gdLst>
              <a:gd name="T0" fmla="*/ 10391 w 21600"/>
              <a:gd name="T1" fmla="*/ 15806 h 21600"/>
              <a:gd name="T2" fmla="*/ 20551 w 21600"/>
              <a:gd name="T3" fmla="*/ 21088 h 21600"/>
              <a:gd name="T4" fmla="*/ 13180 w 21600"/>
              <a:gd name="T5" fmla="*/ 13801 h 21600"/>
              <a:gd name="T6" fmla="*/ 20551 w 21600"/>
              <a:gd name="T7" fmla="*/ 7025 h 21600"/>
              <a:gd name="T8" fmla="*/ 10500 w 21600"/>
              <a:gd name="T9" fmla="*/ 52 h 21600"/>
              <a:gd name="T10" fmla="*/ 692 w 21600"/>
              <a:gd name="T11" fmla="*/ 6802 h 21600"/>
              <a:gd name="T12" fmla="*/ 8064 w 21600"/>
              <a:gd name="T13" fmla="*/ 13526 h 21600"/>
              <a:gd name="T14" fmla="*/ 692 w 21600"/>
              <a:gd name="T15" fmla="*/ 21088 h 21600"/>
              <a:gd name="T16" fmla="*/ 2273 w 21600"/>
              <a:gd name="T17" fmla="*/ 7719 h 21600"/>
              <a:gd name="T18" fmla="*/ 19149 w 21600"/>
              <a:gd name="T19" fmla="*/ 202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rgbClr val="FFBE7D"/>
          </a:solidFill>
          <a:ln w="28575">
            <a:solidFill>
              <a:srgbClr val="000000"/>
            </a:solidFill>
            <a:miter lim="800000"/>
            <a:headEnd/>
            <a:tailEnd/>
          </a:ln>
        </p:spPr>
        <p:txBody>
          <a:bodyPr/>
          <a:lstStyle/>
          <a:p>
            <a:r>
              <a:rPr lang="en-US" altLang="zh-CN" b="1" dirty="0">
                <a:solidFill>
                  <a:srgbClr val="FF3300"/>
                </a:solidFill>
                <a:ea typeface="宋体" pitchFamily="2" charset="-122"/>
              </a:rPr>
              <a:t>Duality</a:t>
            </a:r>
          </a:p>
          <a:p>
            <a:r>
              <a:rPr lang="en-US" altLang="zh-CN" b="1" dirty="0">
                <a:solidFill>
                  <a:srgbClr val="FF3300"/>
                </a:solidFill>
                <a:ea typeface="宋体" pitchFamily="2" charset="-122"/>
              </a:rPr>
              <a:t>Principal</a:t>
            </a:r>
          </a:p>
        </p:txBody>
      </p:sp>
      <p:sp>
        <p:nvSpPr>
          <p:cNvPr id="6" name="灯片编号占位符 5"/>
          <p:cNvSpPr>
            <a:spLocks noGrp="1"/>
          </p:cNvSpPr>
          <p:nvPr>
            <p:ph type="sldNum" sz="quarter" idx="12"/>
          </p:nvPr>
        </p:nvSpPr>
        <p:spPr>
          <a:xfrm>
            <a:off x="6553200" y="6248400"/>
            <a:ext cx="1905000" cy="457200"/>
          </a:xfrm>
        </p:spPr>
        <p:txBody>
          <a:bodyPr/>
          <a:lstStyle/>
          <a:p>
            <a:fld id="{B3C3EFF5-E22A-4F49-B99C-ACCD24E2F8AB}" type="slidenum">
              <a:rPr lang="zh-CN" altLang="en-US"/>
              <a:pPr/>
              <a:t>30</a:t>
            </a:fld>
            <a:endParaRPr lang="en-US" altLang="zh-CN"/>
          </a:p>
        </p:txBody>
      </p:sp>
      <p:sp>
        <p:nvSpPr>
          <p:cNvPr id="7" name="Puzzle1"/>
          <p:cNvSpPr>
            <a:spLocks noEditPoints="1" noChangeArrowheads="1"/>
          </p:cNvSpPr>
          <p:nvPr/>
        </p:nvSpPr>
        <p:spPr bwMode="auto">
          <a:xfrm>
            <a:off x="6096000" y="4800600"/>
            <a:ext cx="2855913" cy="1665288"/>
          </a:xfrm>
          <a:custGeom>
            <a:avLst/>
            <a:gdLst>
              <a:gd name="T0" fmla="*/ 16740 w 21600"/>
              <a:gd name="T1" fmla="*/ 21078 h 21600"/>
              <a:gd name="T2" fmla="*/ 16976 w 21600"/>
              <a:gd name="T3" fmla="*/ 521 h 21600"/>
              <a:gd name="T4" fmla="*/ 4725 w 21600"/>
              <a:gd name="T5" fmla="*/ 856 h 21600"/>
              <a:gd name="T6" fmla="*/ 5040 w 21600"/>
              <a:gd name="T7" fmla="*/ 21004 h 21600"/>
              <a:gd name="T8" fmla="*/ 10811 w 21600"/>
              <a:gd name="T9" fmla="*/ 12885 h 21600"/>
              <a:gd name="T10" fmla="*/ 10845 w 21600"/>
              <a:gd name="T11" fmla="*/ 8714 h 21600"/>
              <a:gd name="T12" fmla="*/ 21600 w 21600"/>
              <a:gd name="T13" fmla="*/ 10000 h 21600"/>
              <a:gd name="T14" fmla="*/ 56 w 21600"/>
              <a:gd name="T15" fmla="*/ 10000 h 21600"/>
              <a:gd name="T16" fmla="*/ 6086 w 21600"/>
              <a:gd name="T17" fmla="*/ 2569 h 21600"/>
              <a:gd name="T18" fmla="*/ 16132 w 21600"/>
              <a:gd name="T19" fmla="*/ 1955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chemeClr val="folHlink">
              <a:alpha val="28000"/>
            </a:schemeClr>
          </a:solidFill>
          <a:ln w="28575">
            <a:noFill/>
            <a:miter lim="800000"/>
            <a:headEnd/>
            <a:tailEnd/>
          </a:ln>
        </p:spPr>
        <p:txBody>
          <a:bodyPr/>
          <a:lstStyle/>
          <a:p>
            <a:pPr algn="ctr"/>
            <a:endParaRPr lang="en-US" altLang="zh-CN" sz="3200" b="1">
              <a:solidFill>
                <a:srgbClr val="FF3300"/>
              </a:solidFill>
              <a:ea typeface="宋体" pitchFamily="2" charset="-122"/>
            </a:endParaRPr>
          </a:p>
        </p:txBody>
      </p:sp>
      <p:sp>
        <p:nvSpPr>
          <p:cNvPr id="8" name="Puzzle2"/>
          <p:cNvSpPr>
            <a:spLocks noEditPoints="1" noChangeArrowheads="1"/>
          </p:cNvSpPr>
          <p:nvPr/>
        </p:nvSpPr>
        <p:spPr bwMode="auto">
          <a:xfrm>
            <a:off x="3124200" y="3429000"/>
            <a:ext cx="2820988" cy="2185988"/>
          </a:xfrm>
          <a:custGeom>
            <a:avLst/>
            <a:gdLst>
              <a:gd name="T0" fmla="*/ 11 w 21600"/>
              <a:gd name="T1" fmla="*/ 13386 h 21600"/>
              <a:gd name="T2" fmla="*/ 4202 w 21600"/>
              <a:gd name="T3" fmla="*/ 21161 h 21600"/>
              <a:gd name="T4" fmla="*/ 10400 w 21600"/>
              <a:gd name="T5" fmla="*/ 13909 h 21600"/>
              <a:gd name="T6" fmla="*/ 16821 w 21600"/>
              <a:gd name="T7" fmla="*/ 21190 h 21600"/>
              <a:gd name="T8" fmla="*/ 21600 w 21600"/>
              <a:gd name="T9" fmla="*/ 15083 h 21600"/>
              <a:gd name="T10" fmla="*/ 16889 w 21600"/>
              <a:gd name="T11" fmla="*/ 5739 h 21600"/>
              <a:gd name="T12" fmla="*/ 10800 w 21600"/>
              <a:gd name="T13" fmla="*/ 28 h 21600"/>
              <a:gd name="T14" fmla="*/ 4202 w 21600"/>
              <a:gd name="T15" fmla="*/ 5894 h 21600"/>
              <a:gd name="T16" fmla="*/ 5388 w 21600"/>
              <a:gd name="T17" fmla="*/ 6742 h 21600"/>
              <a:gd name="T18" fmla="*/ 16177 w 21600"/>
              <a:gd name="T19" fmla="*/ 20441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4247" y="12354"/>
                </a:moveTo>
                <a:lnTo>
                  <a:pt x="4134" y="12468"/>
                </a:lnTo>
                <a:lnTo>
                  <a:pt x="4010" y="12581"/>
                </a:lnTo>
                <a:lnTo>
                  <a:pt x="3897" y="12637"/>
                </a:lnTo>
                <a:lnTo>
                  <a:pt x="3773" y="12694"/>
                </a:lnTo>
                <a:lnTo>
                  <a:pt x="3637" y="12694"/>
                </a:lnTo>
                <a:lnTo>
                  <a:pt x="3524" y="12694"/>
                </a:lnTo>
                <a:lnTo>
                  <a:pt x="3400" y="12665"/>
                </a:lnTo>
                <a:lnTo>
                  <a:pt x="3287" y="12609"/>
                </a:lnTo>
                <a:lnTo>
                  <a:pt x="3027" y="12496"/>
                </a:lnTo>
                <a:lnTo>
                  <a:pt x="2790" y="12340"/>
                </a:lnTo>
                <a:lnTo>
                  <a:pt x="2530" y="12142"/>
                </a:lnTo>
                <a:lnTo>
                  <a:pt x="2293" y="11987"/>
                </a:lnTo>
                <a:lnTo>
                  <a:pt x="2033" y="11817"/>
                </a:lnTo>
                <a:lnTo>
                  <a:pt x="1773" y="11676"/>
                </a:lnTo>
                <a:lnTo>
                  <a:pt x="1638" y="11662"/>
                </a:lnTo>
                <a:lnTo>
                  <a:pt x="1513" y="11634"/>
                </a:lnTo>
                <a:lnTo>
                  <a:pt x="1378" y="11634"/>
                </a:lnTo>
                <a:lnTo>
                  <a:pt x="1253" y="11634"/>
                </a:lnTo>
                <a:lnTo>
                  <a:pt x="1118" y="11662"/>
                </a:lnTo>
                <a:lnTo>
                  <a:pt x="971" y="11732"/>
                </a:lnTo>
                <a:lnTo>
                  <a:pt x="835" y="11817"/>
                </a:lnTo>
                <a:lnTo>
                  <a:pt x="711" y="11959"/>
                </a:lnTo>
                <a:lnTo>
                  <a:pt x="553" y="12086"/>
                </a:lnTo>
                <a:lnTo>
                  <a:pt x="429" y="12284"/>
                </a:lnTo>
                <a:lnTo>
                  <a:pt x="271" y="12524"/>
                </a:lnTo>
                <a:lnTo>
                  <a:pt x="146" y="12793"/>
                </a:lnTo>
                <a:lnTo>
                  <a:pt x="79" y="12962"/>
                </a:lnTo>
                <a:lnTo>
                  <a:pt x="33" y="13146"/>
                </a:lnTo>
                <a:lnTo>
                  <a:pt x="11" y="13386"/>
                </a:lnTo>
                <a:lnTo>
                  <a:pt x="11" y="13641"/>
                </a:lnTo>
                <a:lnTo>
                  <a:pt x="33" y="13881"/>
                </a:lnTo>
                <a:lnTo>
                  <a:pt x="101" y="14150"/>
                </a:lnTo>
                <a:lnTo>
                  <a:pt x="192" y="14404"/>
                </a:lnTo>
                <a:lnTo>
                  <a:pt x="293" y="14645"/>
                </a:lnTo>
                <a:lnTo>
                  <a:pt x="451" y="14857"/>
                </a:lnTo>
                <a:lnTo>
                  <a:pt x="621" y="15054"/>
                </a:lnTo>
                <a:lnTo>
                  <a:pt x="734" y="15125"/>
                </a:lnTo>
                <a:lnTo>
                  <a:pt x="835" y="15210"/>
                </a:lnTo>
                <a:lnTo>
                  <a:pt x="948" y="15267"/>
                </a:lnTo>
                <a:lnTo>
                  <a:pt x="1084" y="15323"/>
                </a:lnTo>
                <a:lnTo>
                  <a:pt x="1208" y="15351"/>
                </a:lnTo>
                <a:lnTo>
                  <a:pt x="1355" y="15380"/>
                </a:lnTo>
                <a:lnTo>
                  <a:pt x="1513" y="15380"/>
                </a:lnTo>
                <a:lnTo>
                  <a:pt x="1683" y="15380"/>
                </a:lnTo>
                <a:lnTo>
                  <a:pt x="1864" y="15351"/>
                </a:lnTo>
                <a:lnTo>
                  <a:pt x="2033" y="15323"/>
                </a:lnTo>
                <a:lnTo>
                  <a:pt x="2225" y="15238"/>
                </a:lnTo>
                <a:lnTo>
                  <a:pt x="2428" y="15153"/>
                </a:lnTo>
                <a:lnTo>
                  <a:pt x="2745" y="15026"/>
                </a:lnTo>
                <a:lnTo>
                  <a:pt x="3005" y="14913"/>
                </a:lnTo>
                <a:lnTo>
                  <a:pt x="3264" y="14828"/>
                </a:lnTo>
                <a:lnTo>
                  <a:pt x="3513" y="14800"/>
                </a:lnTo>
                <a:lnTo>
                  <a:pt x="3615" y="14828"/>
                </a:lnTo>
                <a:lnTo>
                  <a:pt x="3728" y="14857"/>
                </a:lnTo>
                <a:lnTo>
                  <a:pt x="3807" y="14913"/>
                </a:lnTo>
                <a:lnTo>
                  <a:pt x="3920" y="14998"/>
                </a:lnTo>
                <a:lnTo>
                  <a:pt x="4010" y="15097"/>
                </a:lnTo>
                <a:lnTo>
                  <a:pt x="4089" y="15238"/>
                </a:lnTo>
                <a:lnTo>
                  <a:pt x="4179" y="15408"/>
                </a:lnTo>
                <a:lnTo>
                  <a:pt x="4247" y="15620"/>
                </a:lnTo>
                <a:lnTo>
                  <a:pt x="4326" y="15860"/>
                </a:lnTo>
                <a:lnTo>
                  <a:pt x="4394" y="16129"/>
                </a:lnTo>
                <a:lnTo>
                  <a:pt x="4439" y="16440"/>
                </a:lnTo>
                <a:lnTo>
                  <a:pt x="4507" y="16737"/>
                </a:lnTo>
                <a:lnTo>
                  <a:pt x="4552" y="17090"/>
                </a:lnTo>
                <a:lnTo>
                  <a:pt x="4575" y="17443"/>
                </a:lnTo>
                <a:lnTo>
                  <a:pt x="4586" y="17825"/>
                </a:lnTo>
                <a:lnTo>
                  <a:pt x="4586" y="18193"/>
                </a:lnTo>
                <a:lnTo>
                  <a:pt x="4586" y="18574"/>
                </a:lnTo>
                <a:lnTo>
                  <a:pt x="4586" y="18984"/>
                </a:lnTo>
                <a:lnTo>
                  <a:pt x="4552" y="19366"/>
                </a:lnTo>
                <a:lnTo>
                  <a:pt x="4507" y="19748"/>
                </a:lnTo>
                <a:lnTo>
                  <a:pt x="4462" y="20129"/>
                </a:lnTo>
                <a:lnTo>
                  <a:pt x="4371" y="20483"/>
                </a:lnTo>
                <a:lnTo>
                  <a:pt x="4292" y="20836"/>
                </a:lnTo>
                <a:lnTo>
                  <a:pt x="4202" y="21161"/>
                </a:lnTo>
                <a:lnTo>
                  <a:pt x="4744" y="21161"/>
                </a:lnTo>
                <a:lnTo>
                  <a:pt x="5264" y="21161"/>
                </a:lnTo>
                <a:lnTo>
                  <a:pt x="5784" y="21161"/>
                </a:lnTo>
                <a:lnTo>
                  <a:pt x="6235" y="21161"/>
                </a:lnTo>
                <a:lnTo>
                  <a:pt x="6676" y="21161"/>
                </a:lnTo>
                <a:lnTo>
                  <a:pt x="7060" y="21161"/>
                </a:lnTo>
                <a:lnTo>
                  <a:pt x="7410" y="21161"/>
                </a:lnTo>
                <a:lnTo>
                  <a:pt x="7670" y="21161"/>
                </a:lnTo>
                <a:lnTo>
                  <a:pt x="8020" y="21020"/>
                </a:lnTo>
                <a:lnTo>
                  <a:pt x="8303" y="20893"/>
                </a:lnTo>
                <a:lnTo>
                  <a:pt x="8563" y="20695"/>
                </a:lnTo>
                <a:lnTo>
                  <a:pt x="8800" y="20511"/>
                </a:lnTo>
                <a:lnTo>
                  <a:pt x="8969" y="20285"/>
                </a:lnTo>
                <a:lnTo>
                  <a:pt x="9150" y="20045"/>
                </a:lnTo>
                <a:lnTo>
                  <a:pt x="9252" y="19804"/>
                </a:lnTo>
                <a:lnTo>
                  <a:pt x="9342" y="19550"/>
                </a:lnTo>
                <a:lnTo>
                  <a:pt x="9410" y="19281"/>
                </a:lnTo>
                <a:lnTo>
                  <a:pt x="9433" y="19013"/>
                </a:lnTo>
                <a:lnTo>
                  <a:pt x="9433" y="18744"/>
                </a:lnTo>
                <a:lnTo>
                  <a:pt x="9387" y="18504"/>
                </a:lnTo>
                <a:lnTo>
                  <a:pt x="9320" y="18221"/>
                </a:lnTo>
                <a:lnTo>
                  <a:pt x="9207" y="17981"/>
                </a:lnTo>
                <a:lnTo>
                  <a:pt x="9105" y="17740"/>
                </a:lnTo>
                <a:lnTo>
                  <a:pt x="8924" y="17514"/>
                </a:lnTo>
                <a:lnTo>
                  <a:pt x="8777" y="17274"/>
                </a:lnTo>
                <a:lnTo>
                  <a:pt x="8642" y="17034"/>
                </a:lnTo>
                <a:lnTo>
                  <a:pt x="8563" y="16765"/>
                </a:lnTo>
                <a:lnTo>
                  <a:pt x="8472" y="16468"/>
                </a:lnTo>
                <a:lnTo>
                  <a:pt x="8450" y="16157"/>
                </a:lnTo>
                <a:lnTo>
                  <a:pt x="8450" y="15860"/>
                </a:lnTo>
                <a:lnTo>
                  <a:pt x="8472" y="15563"/>
                </a:lnTo>
                <a:lnTo>
                  <a:pt x="8540" y="15267"/>
                </a:lnTo>
                <a:lnTo>
                  <a:pt x="8642" y="14998"/>
                </a:lnTo>
                <a:lnTo>
                  <a:pt x="8777" y="14729"/>
                </a:lnTo>
                <a:lnTo>
                  <a:pt x="8868" y="14616"/>
                </a:lnTo>
                <a:lnTo>
                  <a:pt x="8969" y="14475"/>
                </a:lnTo>
                <a:lnTo>
                  <a:pt x="9060" y="14376"/>
                </a:lnTo>
                <a:lnTo>
                  <a:pt x="9184" y="14291"/>
                </a:lnTo>
                <a:lnTo>
                  <a:pt x="9297" y="14206"/>
                </a:lnTo>
                <a:lnTo>
                  <a:pt x="9433" y="14121"/>
                </a:lnTo>
                <a:lnTo>
                  <a:pt x="9579" y="14051"/>
                </a:lnTo>
                <a:lnTo>
                  <a:pt x="9726" y="13994"/>
                </a:lnTo>
                <a:lnTo>
                  <a:pt x="9884" y="13938"/>
                </a:lnTo>
                <a:lnTo>
                  <a:pt x="10054" y="13909"/>
                </a:lnTo>
                <a:lnTo>
                  <a:pt x="10257" y="13881"/>
                </a:lnTo>
                <a:lnTo>
                  <a:pt x="10449" y="13881"/>
                </a:lnTo>
                <a:lnTo>
                  <a:pt x="10664" y="13881"/>
                </a:lnTo>
                <a:lnTo>
                  <a:pt x="10856" y="13909"/>
                </a:lnTo>
                <a:lnTo>
                  <a:pt x="11037" y="13966"/>
                </a:lnTo>
                <a:lnTo>
                  <a:pt x="11206" y="14023"/>
                </a:lnTo>
                <a:lnTo>
                  <a:pt x="11353" y="14093"/>
                </a:lnTo>
                <a:lnTo>
                  <a:pt x="11511" y="14178"/>
                </a:lnTo>
                <a:lnTo>
                  <a:pt x="11635" y="14263"/>
                </a:lnTo>
                <a:lnTo>
                  <a:pt x="11748" y="14376"/>
                </a:lnTo>
                <a:lnTo>
                  <a:pt x="11861" y="14475"/>
                </a:lnTo>
                <a:lnTo>
                  <a:pt x="11941" y="14616"/>
                </a:lnTo>
                <a:lnTo>
                  <a:pt x="12031" y="14758"/>
                </a:lnTo>
                <a:lnTo>
                  <a:pt x="12099" y="14885"/>
                </a:lnTo>
                <a:lnTo>
                  <a:pt x="12200" y="15210"/>
                </a:lnTo>
                <a:lnTo>
                  <a:pt x="12268" y="15507"/>
                </a:lnTo>
                <a:lnTo>
                  <a:pt x="12291" y="15832"/>
                </a:lnTo>
                <a:lnTo>
                  <a:pt x="12291" y="16157"/>
                </a:lnTo>
                <a:lnTo>
                  <a:pt x="12246" y="16482"/>
                </a:lnTo>
                <a:lnTo>
                  <a:pt x="12178" y="16807"/>
                </a:lnTo>
                <a:lnTo>
                  <a:pt x="12099" y="17090"/>
                </a:lnTo>
                <a:lnTo>
                  <a:pt x="12008" y="17330"/>
                </a:lnTo>
                <a:lnTo>
                  <a:pt x="11884" y="17542"/>
                </a:lnTo>
                <a:lnTo>
                  <a:pt x="11748" y="17712"/>
                </a:lnTo>
                <a:lnTo>
                  <a:pt x="11613" y="17839"/>
                </a:lnTo>
                <a:lnTo>
                  <a:pt x="11489" y="18037"/>
                </a:lnTo>
                <a:lnTo>
                  <a:pt x="11398" y="18221"/>
                </a:lnTo>
                <a:lnTo>
                  <a:pt x="11319" y="18447"/>
                </a:lnTo>
                <a:lnTo>
                  <a:pt x="11251" y="18659"/>
                </a:lnTo>
                <a:lnTo>
                  <a:pt x="11206" y="18900"/>
                </a:lnTo>
                <a:lnTo>
                  <a:pt x="11184" y="19154"/>
                </a:lnTo>
                <a:lnTo>
                  <a:pt x="11184" y="19423"/>
                </a:lnTo>
                <a:lnTo>
                  <a:pt x="11229" y="19663"/>
                </a:lnTo>
                <a:lnTo>
                  <a:pt x="11297" y="19903"/>
                </a:lnTo>
                <a:lnTo>
                  <a:pt x="11376" y="20158"/>
                </a:lnTo>
                <a:lnTo>
                  <a:pt x="11511" y="20398"/>
                </a:lnTo>
                <a:lnTo>
                  <a:pt x="11681" y="20610"/>
                </a:lnTo>
                <a:lnTo>
                  <a:pt x="11884" y="20808"/>
                </a:lnTo>
                <a:lnTo>
                  <a:pt x="12121" y="20992"/>
                </a:lnTo>
                <a:lnTo>
                  <a:pt x="12404" y="21161"/>
                </a:lnTo>
                <a:lnTo>
                  <a:pt x="12528" y="21190"/>
                </a:lnTo>
                <a:lnTo>
                  <a:pt x="12856" y="21274"/>
                </a:lnTo>
                <a:lnTo>
                  <a:pt x="13330" y="21373"/>
                </a:lnTo>
                <a:lnTo>
                  <a:pt x="13963" y="21486"/>
                </a:lnTo>
                <a:lnTo>
                  <a:pt x="14313" y="21543"/>
                </a:lnTo>
                <a:lnTo>
                  <a:pt x="14652" y="21571"/>
                </a:lnTo>
                <a:lnTo>
                  <a:pt x="15025" y="21600"/>
                </a:lnTo>
                <a:lnTo>
                  <a:pt x="15409" y="21600"/>
                </a:lnTo>
                <a:lnTo>
                  <a:pt x="15782" y="21600"/>
                </a:lnTo>
                <a:lnTo>
                  <a:pt x="16177" y="21571"/>
                </a:lnTo>
                <a:lnTo>
                  <a:pt x="16516" y="21486"/>
                </a:lnTo>
                <a:lnTo>
                  <a:pt x="16889" y="21402"/>
                </a:lnTo>
                <a:lnTo>
                  <a:pt x="16821" y="21190"/>
                </a:lnTo>
                <a:lnTo>
                  <a:pt x="16776" y="20935"/>
                </a:lnTo>
                <a:lnTo>
                  <a:pt x="16742" y="20667"/>
                </a:lnTo>
                <a:lnTo>
                  <a:pt x="16719" y="20370"/>
                </a:lnTo>
                <a:lnTo>
                  <a:pt x="16697" y="19719"/>
                </a:lnTo>
                <a:lnTo>
                  <a:pt x="16697" y="19013"/>
                </a:lnTo>
                <a:lnTo>
                  <a:pt x="16719" y="18306"/>
                </a:lnTo>
                <a:lnTo>
                  <a:pt x="16753" y="17599"/>
                </a:lnTo>
                <a:lnTo>
                  <a:pt x="16821" y="16949"/>
                </a:lnTo>
                <a:lnTo>
                  <a:pt x="16889" y="16383"/>
                </a:lnTo>
                <a:lnTo>
                  <a:pt x="16934" y="16129"/>
                </a:lnTo>
                <a:lnTo>
                  <a:pt x="17002" y="15945"/>
                </a:lnTo>
                <a:lnTo>
                  <a:pt x="17081" y="15790"/>
                </a:lnTo>
                <a:lnTo>
                  <a:pt x="17194" y="15648"/>
                </a:lnTo>
                <a:lnTo>
                  <a:pt x="17318" y="15563"/>
                </a:lnTo>
                <a:lnTo>
                  <a:pt x="17453" y="15507"/>
                </a:lnTo>
                <a:lnTo>
                  <a:pt x="17600" y="15450"/>
                </a:lnTo>
                <a:lnTo>
                  <a:pt x="17758" y="15450"/>
                </a:lnTo>
                <a:lnTo>
                  <a:pt x="17905" y="15479"/>
                </a:lnTo>
                <a:lnTo>
                  <a:pt x="18064" y="15535"/>
                </a:lnTo>
                <a:lnTo>
                  <a:pt x="18233" y="15620"/>
                </a:lnTo>
                <a:lnTo>
                  <a:pt x="18380" y="15733"/>
                </a:lnTo>
                <a:lnTo>
                  <a:pt x="18561" y="15832"/>
                </a:lnTo>
                <a:lnTo>
                  <a:pt x="18707" y="15973"/>
                </a:lnTo>
                <a:lnTo>
                  <a:pt x="18866" y="16129"/>
                </a:lnTo>
                <a:lnTo>
                  <a:pt x="18990" y="16327"/>
                </a:lnTo>
                <a:lnTo>
                  <a:pt x="19125" y="16482"/>
                </a:lnTo>
                <a:lnTo>
                  <a:pt x="19295" y="16624"/>
                </a:lnTo>
                <a:lnTo>
                  <a:pt x="19464" y="16737"/>
                </a:lnTo>
                <a:lnTo>
                  <a:pt x="19668" y="16807"/>
                </a:lnTo>
                <a:lnTo>
                  <a:pt x="19860" y="16836"/>
                </a:lnTo>
                <a:lnTo>
                  <a:pt x="20052" y="16864"/>
                </a:lnTo>
                <a:lnTo>
                  <a:pt x="20266" y="16836"/>
                </a:lnTo>
                <a:lnTo>
                  <a:pt x="20470" y="16793"/>
                </a:lnTo>
                <a:lnTo>
                  <a:pt x="20662" y="16708"/>
                </a:lnTo>
                <a:lnTo>
                  <a:pt x="20854" y="16567"/>
                </a:lnTo>
                <a:lnTo>
                  <a:pt x="21035" y="16412"/>
                </a:lnTo>
                <a:lnTo>
                  <a:pt x="21182" y="16214"/>
                </a:lnTo>
                <a:lnTo>
                  <a:pt x="21340" y="16002"/>
                </a:lnTo>
                <a:lnTo>
                  <a:pt x="21441" y="15733"/>
                </a:lnTo>
                <a:lnTo>
                  <a:pt x="21532" y="15436"/>
                </a:lnTo>
                <a:lnTo>
                  <a:pt x="21600" y="15083"/>
                </a:lnTo>
                <a:lnTo>
                  <a:pt x="21600" y="14885"/>
                </a:lnTo>
                <a:lnTo>
                  <a:pt x="21600" y="14729"/>
                </a:lnTo>
                <a:lnTo>
                  <a:pt x="21600" y="14531"/>
                </a:lnTo>
                <a:lnTo>
                  <a:pt x="21577" y="14376"/>
                </a:lnTo>
                <a:lnTo>
                  <a:pt x="21532" y="14206"/>
                </a:lnTo>
                <a:lnTo>
                  <a:pt x="21487" y="14051"/>
                </a:lnTo>
                <a:lnTo>
                  <a:pt x="21419" y="13909"/>
                </a:lnTo>
                <a:lnTo>
                  <a:pt x="21351" y="13768"/>
                </a:lnTo>
                <a:lnTo>
                  <a:pt x="21204" y="13500"/>
                </a:lnTo>
                <a:lnTo>
                  <a:pt x="21035" y="13287"/>
                </a:lnTo>
                <a:lnTo>
                  <a:pt x="20809" y="13090"/>
                </a:lnTo>
                <a:lnTo>
                  <a:pt x="20594" y="12962"/>
                </a:lnTo>
                <a:lnTo>
                  <a:pt x="20357" y="12821"/>
                </a:lnTo>
                <a:lnTo>
                  <a:pt x="20120" y="12764"/>
                </a:lnTo>
                <a:lnTo>
                  <a:pt x="19882" y="12708"/>
                </a:lnTo>
                <a:lnTo>
                  <a:pt x="19645" y="12736"/>
                </a:lnTo>
                <a:lnTo>
                  <a:pt x="19430" y="12793"/>
                </a:lnTo>
                <a:lnTo>
                  <a:pt x="19227" y="12906"/>
                </a:lnTo>
                <a:lnTo>
                  <a:pt x="19148" y="12962"/>
                </a:lnTo>
                <a:lnTo>
                  <a:pt x="19058" y="13047"/>
                </a:lnTo>
                <a:lnTo>
                  <a:pt x="18990" y="13146"/>
                </a:lnTo>
                <a:lnTo>
                  <a:pt x="18911" y="13259"/>
                </a:lnTo>
                <a:lnTo>
                  <a:pt x="18775" y="13471"/>
                </a:lnTo>
                <a:lnTo>
                  <a:pt x="18628" y="13641"/>
                </a:lnTo>
                <a:lnTo>
                  <a:pt x="18470" y="13740"/>
                </a:lnTo>
                <a:lnTo>
                  <a:pt x="18301" y="13825"/>
                </a:lnTo>
                <a:lnTo>
                  <a:pt x="18143" y="13853"/>
                </a:lnTo>
                <a:lnTo>
                  <a:pt x="17973" y="13881"/>
                </a:lnTo>
                <a:lnTo>
                  <a:pt x="17804" y="13853"/>
                </a:lnTo>
                <a:lnTo>
                  <a:pt x="17646" y="13796"/>
                </a:lnTo>
                <a:lnTo>
                  <a:pt x="17499" y="13726"/>
                </a:lnTo>
                <a:lnTo>
                  <a:pt x="17341" y="13641"/>
                </a:lnTo>
                <a:lnTo>
                  <a:pt x="17216" y="13528"/>
                </a:lnTo>
                <a:lnTo>
                  <a:pt x="17103" y="13386"/>
                </a:lnTo>
                <a:lnTo>
                  <a:pt x="17024" y="13259"/>
                </a:lnTo>
                <a:lnTo>
                  <a:pt x="16934" y="13118"/>
                </a:lnTo>
                <a:lnTo>
                  <a:pt x="16889" y="12991"/>
                </a:lnTo>
                <a:lnTo>
                  <a:pt x="16889" y="12849"/>
                </a:lnTo>
                <a:lnTo>
                  <a:pt x="16889" y="12383"/>
                </a:lnTo>
                <a:lnTo>
                  <a:pt x="16889" y="11662"/>
                </a:lnTo>
                <a:lnTo>
                  <a:pt x="16889" y="10701"/>
                </a:lnTo>
                <a:lnTo>
                  <a:pt x="16889" y="9640"/>
                </a:lnTo>
                <a:lnTo>
                  <a:pt x="16889" y="8566"/>
                </a:lnTo>
                <a:lnTo>
                  <a:pt x="16889" y="7478"/>
                </a:lnTo>
                <a:lnTo>
                  <a:pt x="16889" y="6502"/>
                </a:lnTo>
                <a:lnTo>
                  <a:pt x="16889" y="5739"/>
                </a:lnTo>
                <a:lnTo>
                  <a:pt x="16674" y="5894"/>
                </a:lnTo>
                <a:lnTo>
                  <a:pt x="16414" y="6036"/>
                </a:lnTo>
                <a:lnTo>
                  <a:pt x="16154" y="6177"/>
                </a:lnTo>
                <a:lnTo>
                  <a:pt x="15849" y="6248"/>
                </a:lnTo>
                <a:lnTo>
                  <a:pt x="15544" y="6304"/>
                </a:lnTo>
                <a:lnTo>
                  <a:pt x="15217" y="6332"/>
                </a:lnTo>
                <a:lnTo>
                  <a:pt x="14866" y="6361"/>
                </a:lnTo>
                <a:lnTo>
                  <a:pt x="14550" y="6361"/>
                </a:lnTo>
                <a:lnTo>
                  <a:pt x="14200" y="6332"/>
                </a:lnTo>
                <a:lnTo>
                  <a:pt x="13850" y="6276"/>
                </a:lnTo>
                <a:lnTo>
                  <a:pt x="13522" y="6219"/>
                </a:lnTo>
                <a:lnTo>
                  <a:pt x="13206" y="6149"/>
                </a:lnTo>
                <a:lnTo>
                  <a:pt x="12901" y="6064"/>
                </a:lnTo>
                <a:lnTo>
                  <a:pt x="12618" y="5951"/>
                </a:lnTo>
                <a:lnTo>
                  <a:pt x="12358" y="5838"/>
                </a:lnTo>
                <a:lnTo>
                  <a:pt x="12121" y="5739"/>
                </a:lnTo>
                <a:lnTo>
                  <a:pt x="11941" y="5626"/>
                </a:lnTo>
                <a:lnTo>
                  <a:pt x="11794" y="5513"/>
                </a:lnTo>
                <a:lnTo>
                  <a:pt x="11658" y="5414"/>
                </a:lnTo>
                <a:lnTo>
                  <a:pt x="11556" y="5301"/>
                </a:lnTo>
                <a:lnTo>
                  <a:pt x="11466" y="5187"/>
                </a:lnTo>
                <a:lnTo>
                  <a:pt x="11398" y="5089"/>
                </a:lnTo>
                <a:lnTo>
                  <a:pt x="11376" y="4947"/>
                </a:lnTo>
                <a:lnTo>
                  <a:pt x="11353" y="4834"/>
                </a:lnTo>
                <a:lnTo>
                  <a:pt x="11353" y="4707"/>
                </a:lnTo>
                <a:lnTo>
                  <a:pt x="11376" y="4565"/>
                </a:lnTo>
                <a:lnTo>
                  <a:pt x="11443" y="4410"/>
                </a:lnTo>
                <a:lnTo>
                  <a:pt x="11511" y="4240"/>
                </a:lnTo>
                <a:lnTo>
                  <a:pt x="11703" y="3887"/>
                </a:lnTo>
                <a:lnTo>
                  <a:pt x="11986" y="3505"/>
                </a:lnTo>
                <a:lnTo>
                  <a:pt x="12144" y="3265"/>
                </a:lnTo>
                <a:lnTo>
                  <a:pt x="12246" y="3025"/>
                </a:lnTo>
                <a:lnTo>
                  <a:pt x="12336" y="2756"/>
                </a:lnTo>
                <a:lnTo>
                  <a:pt x="12404" y="2445"/>
                </a:lnTo>
                <a:lnTo>
                  <a:pt x="12438" y="2176"/>
                </a:lnTo>
                <a:lnTo>
                  <a:pt x="12438" y="1880"/>
                </a:lnTo>
                <a:lnTo>
                  <a:pt x="12404" y="1583"/>
                </a:lnTo>
                <a:lnTo>
                  <a:pt x="12336" y="1314"/>
                </a:lnTo>
                <a:lnTo>
                  <a:pt x="12246" y="1046"/>
                </a:lnTo>
                <a:lnTo>
                  <a:pt x="12099" y="791"/>
                </a:lnTo>
                <a:lnTo>
                  <a:pt x="12008" y="692"/>
                </a:lnTo>
                <a:lnTo>
                  <a:pt x="11918" y="579"/>
                </a:lnTo>
                <a:lnTo>
                  <a:pt x="11816" y="466"/>
                </a:lnTo>
                <a:lnTo>
                  <a:pt x="11703" y="381"/>
                </a:lnTo>
                <a:lnTo>
                  <a:pt x="11579" y="310"/>
                </a:lnTo>
                <a:lnTo>
                  <a:pt x="11443" y="226"/>
                </a:lnTo>
                <a:lnTo>
                  <a:pt x="11297" y="169"/>
                </a:lnTo>
                <a:lnTo>
                  <a:pt x="11138" y="113"/>
                </a:lnTo>
                <a:lnTo>
                  <a:pt x="10969" y="56"/>
                </a:lnTo>
                <a:lnTo>
                  <a:pt x="10800" y="28"/>
                </a:lnTo>
                <a:lnTo>
                  <a:pt x="10619" y="28"/>
                </a:lnTo>
                <a:lnTo>
                  <a:pt x="10404" y="28"/>
                </a:lnTo>
                <a:lnTo>
                  <a:pt x="10257" y="28"/>
                </a:lnTo>
                <a:lnTo>
                  <a:pt x="10076" y="56"/>
                </a:lnTo>
                <a:lnTo>
                  <a:pt x="9952" y="84"/>
                </a:lnTo>
                <a:lnTo>
                  <a:pt x="9794" y="141"/>
                </a:lnTo>
                <a:lnTo>
                  <a:pt x="9692" y="226"/>
                </a:lnTo>
                <a:lnTo>
                  <a:pt x="9557" y="282"/>
                </a:lnTo>
                <a:lnTo>
                  <a:pt x="9455" y="381"/>
                </a:lnTo>
                <a:lnTo>
                  <a:pt x="9365" y="466"/>
                </a:lnTo>
                <a:lnTo>
                  <a:pt x="9274" y="579"/>
                </a:lnTo>
                <a:lnTo>
                  <a:pt x="9184" y="692"/>
                </a:lnTo>
                <a:lnTo>
                  <a:pt x="9128" y="791"/>
                </a:lnTo>
                <a:lnTo>
                  <a:pt x="9060" y="932"/>
                </a:lnTo>
                <a:lnTo>
                  <a:pt x="8969" y="1201"/>
                </a:lnTo>
                <a:lnTo>
                  <a:pt x="8913" y="1498"/>
                </a:lnTo>
                <a:lnTo>
                  <a:pt x="8890" y="1795"/>
                </a:lnTo>
                <a:lnTo>
                  <a:pt x="8890" y="2120"/>
                </a:lnTo>
                <a:lnTo>
                  <a:pt x="8913" y="2445"/>
                </a:lnTo>
                <a:lnTo>
                  <a:pt x="8969" y="2756"/>
                </a:lnTo>
                <a:lnTo>
                  <a:pt x="9060" y="3081"/>
                </a:lnTo>
                <a:lnTo>
                  <a:pt x="9173" y="3378"/>
                </a:lnTo>
                <a:lnTo>
                  <a:pt x="9297" y="3647"/>
                </a:lnTo>
                <a:lnTo>
                  <a:pt x="9466" y="3887"/>
                </a:lnTo>
                <a:lnTo>
                  <a:pt x="9579" y="4085"/>
                </a:lnTo>
                <a:lnTo>
                  <a:pt x="9670" y="4269"/>
                </a:lnTo>
                <a:lnTo>
                  <a:pt x="9726" y="4467"/>
                </a:lnTo>
                <a:lnTo>
                  <a:pt x="9771" y="4650"/>
                </a:lnTo>
                <a:lnTo>
                  <a:pt x="9771" y="4834"/>
                </a:lnTo>
                <a:lnTo>
                  <a:pt x="9749" y="5032"/>
                </a:lnTo>
                <a:lnTo>
                  <a:pt x="9715" y="5216"/>
                </a:lnTo>
                <a:lnTo>
                  <a:pt x="9625" y="5385"/>
                </a:lnTo>
                <a:lnTo>
                  <a:pt x="9534" y="5513"/>
                </a:lnTo>
                <a:lnTo>
                  <a:pt x="9410" y="5626"/>
                </a:lnTo>
                <a:lnTo>
                  <a:pt x="9229" y="5710"/>
                </a:lnTo>
                <a:lnTo>
                  <a:pt x="9060" y="5767"/>
                </a:lnTo>
                <a:lnTo>
                  <a:pt x="8845" y="5767"/>
                </a:lnTo>
                <a:lnTo>
                  <a:pt x="8585" y="5739"/>
                </a:lnTo>
                <a:lnTo>
                  <a:pt x="8325" y="5654"/>
                </a:lnTo>
                <a:lnTo>
                  <a:pt x="8020" y="5513"/>
                </a:lnTo>
                <a:lnTo>
                  <a:pt x="7840" y="5442"/>
                </a:lnTo>
                <a:lnTo>
                  <a:pt x="7648" y="5385"/>
                </a:lnTo>
                <a:lnTo>
                  <a:pt x="7433" y="5329"/>
                </a:lnTo>
                <a:lnTo>
                  <a:pt x="7241" y="5301"/>
                </a:lnTo>
                <a:lnTo>
                  <a:pt x="6755" y="5301"/>
                </a:lnTo>
                <a:lnTo>
                  <a:pt x="6281" y="5329"/>
                </a:lnTo>
                <a:lnTo>
                  <a:pt x="5784" y="5385"/>
                </a:lnTo>
                <a:lnTo>
                  <a:pt x="5264" y="5498"/>
                </a:lnTo>
                <a:lnTo>
                  <a:pt x="4744" y="5597"/>
                </a:lnTo>
                <a:lnTo>
                  <a:pt x="4247" y="5739"/>
                </a:lnTo>
                <a:lnTo>
                  <a:pt x="4202" y="5894"/>
                </a:lnTo>
                <a:lnTo>
                  <a:pt x="4202" y="6191"/>
                </a:lnTo>
                <a:lnTo>
                  <a:pt x="4202" y="6545"/>
                </a:lnTo>
                <a:lnTo>
                  <a:pt x="4225" y="6954"/>
                </a:lnTo>
                <a:lnTo>
                  <a:pt x="4315" y="7930"/>
                </a:lnTo>
                <a:lnTo>
                  <a:pt x="4394" y="9018"/>
                </a:lnTo>
                <a:lnTo>
                  <a:pt x="4439" y="9570"/>
                </a:lnTo>
                <a:lnTo>
                  <a:pt x="4462" y="10107"/>
                </a:lnTo>
                <a:lnTo>
                  <a:pt x="4484" y="10630"/>
                </a:lnTo>
                <a:lnTo>
                  <a:pt x="4507" y="11082"/>
                </a:lnTo>
                <a:lnTo>
                  <a:pt x="4484" y="11520"/>
                </a:lnTo>
                <a:lnTo>
                  <a:pt x="4439" y="11874"/>
                </a:lnTo>
                <a:lnTo>
                  <a:pt x="4394" y="12029"/>
                </a:lnTo>
                <a:lnTo>
                  <a:pt x="4349" y="12171"/>
                </a:lnTo>
                <a:lnTo>
                  <a:pt x="4315" y="12284"/>
                </a:lnTo>
                <a:lnTo>
                  <a:pt x="4247" y="12354"/>
                </a:lnTo>
                <a:close/>
              </a:path>
            </a:pathLst>
          </a:custGeom>
          <a:solidFill>
            <a:srgbClr val="FFFFCC"/>
          </a:solidFill>
          <a:ln w="28575">
            <a:solidFill>
              <a:srgbClr val="000000"/>
            </a:solidFill>
            <a:miter lim="800000"/>
            <a:headEnd/>
            <a:tailEnd/>
          </a:ln>
        </p:spPr>
        <p:txBody>
          <a:bodyPr/>
          <a:lstStyle/>
          <a:p>
            <a:r>
              <a:rPr lang="en-US" altLang="zh-CN" b="1" dirty="0">
                <a:solidFill>
                  <a:srgbClr val="FF3300"/>
                </a:solidFill>
                <a:ea typeface="宋体" pitchFamily="2" charset="-122"/>
              </a:rPr>
              <a:t>Equivalence </a:t>
            </a:r>
          </a:p>
          <a:p>
            <a:r>
              <a:rPr lang="en-US" altLang="zh-CN" b="1" dirty="0">
                <a:solidFill>
                  <a:srgbClr val="FF3300"/>
                </a:solidFill>
                <a:ea typeface="宋体" pitchFamily="2" charset="-122"/>
              </a:rPr>
              <a:t>Theorem</a:t>
            </a:r>
          </a:p>
          <a:p>
            <a:pPr algn="ctr"/>
            <a:endParaRPr lang="en-US" altLang="zh-CN" b="1" dirty="0">
              <a:solidFill>
                <a:srgbClr val="FF3300"/>
              </a:solidFill>
              <a:ea typeface="宋体" pitchFamily="2" charset="-122"/>
            </a:endParaRPr>
          </a:p>
        </p:txBody>
      </p:sp>
      <p:sp>
        <p:nvSpPr>
          <p:cNvPr id="9" name="Puzzle4"/>
          <p:cNvSpPr>
            <a:spLocks noEditPoints="1" noChangeArrowheads="1"/>
          </p:cNvSpPr>
          <p:nvPr/>
        </p:nvSpPr>
        <p:spPr bwMode="auto">
          <a:xfrm>
            <a:off x="2033588" y="3402013"/>
            <a:ext cx="1700212" cy="2794000"/>
          </a:xfrm>
          <a:custGeom>
            <a:avLst/>
            <a:gdLst>
              <a:gd name="T0" fmla="*/ 8307 w 21600"/>
              <a:gd name="T1" fmla="*/ 11593 h 21600"/>
              <a:gd name="T2" fmla="*/ 453 w 21600"/>
              <a:gd name="T3" fmla="*/ 16938 h 21600"/>
              <a:gd name="T4" fmla="*/ 11500 w 21600"/>
              <a:gd name="T5" fmla="*/ 21600 h 21600"/>
              <a:gd name="T6" fmla="*/ 20920 w 21600"/>
              <a:gd name="T7" fmla="*/ 16751 h 21600"/>
              <a:gd name="T8" fmla="*/ 13972 w 21600"/>
              <a:gd name="T9" fmla="*/ 10888 h 21600"/>
              <a:gd name="T10" fmla="*/ 21033 w 21600"/>
              <a:gd name="T11" fmla="*/ 4716 h 21600"/>
              <a:gd name="T12" fmla="*/ 11102 w 21600"/>
              <a:gd name="T13" fmla="*/ 11 h 21600"/>
              <a:gd name="T14" fmla="*/ 453 w 21600"/>
              <a:gd name="T15" fmla="*/ 4716 h 21600"/>
              <a:gd name="T16" fmla="*/ 2076 w 21600"/>
              <a:gd name="T17" fmla="*/ 5664 h 21600"/>
              <a:gd name="T18" fmla="*/ 20203 w 21600"/>
              <a:gd name="T19" fmla="*/ 1598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3813" y="10590"/>
                </a:moveTo>
                <a:lnTo>
                  <a:pt x="3927" y="10513"/>
                </a:lnTo>
                <a:lnTo>
                  <a:pt x="4078" y="10425"/>
                </a:lnTo>
                <a:lnTo>
                  <a:pt x="4210" y="10359"/>
                </a:lnTo>
                <a:lnTo>
                  <a:pt x="4361" y="10315"/>
                </a:lnTo>
                <a:lnTo>
                  <a:pt x="4682" y="10237"/>
                </a:lnTo>
                <a:lnTo>
                  <a:pt x="5041" y="10193"/>
                </a:lnTo>
                <a:lnTo>
                  <a:pt x="5456" y="10171"/>
                </a:lnTo>
                <a:lnTo>
                  <a:pt x="5853" y="10193"/>
                </a:lnTo>
                <a:lnTo>
                  <a:pt x="6249" y="10260"/>
                </a:lnTo>
                <a:lnTo>
                  <a:pt x="6646" y="10337"/>
                </a:lnTo>
                <a:lnTo>
                  <a:pt x="7004" y="10469"/>
                </a:lnTo>
                <a:lnTo>
                  <a:pt x="7363" y="10612"/>
                </a:lnTo>
                <a:lnTo>
                  <a:pt x="7665" y="10788"/>
                </a:lnTo>
                <a:lnTo>
                  <a:pt x="7911" y="10998"/>
                </a:lnTo>
                <a:lnTo>
                  <a:pt x="8024" y="11097"/>
                </a:lnTo>
                <a:lnTo>
                  <a:pt x="8137" y="11207"/>
                </a:lnTo>
                <a:lnTo>
                  <a:pt x="8194" y="11340"/>
                </a:lnTo>
                <a:lnTo>
                  <a:pt x="8269" y="11461"/>
                </a:lnTo>
                <a:lnTo>
                  <a:pt x="8307" y="11593"/>
                </a:lnTo>
                <a:lnTo>
                  <a:pt x="8307" y="11714"/>
                </a:lnTo>
                <a:lnTo>
                  <a:pt x="8307" y="11868"/>
                </a:lnTo>
                <a:lnTo>
                  <a:pt x="8307" y="12012"/>
                </a:lnTo>
                <a:lnTo>
                  <a:pt x="8194" y="12265"/>
                </a:lnTo>
                <a:lnTo>
                  <a:pt x="8062" y="12519"/>
                </a:lnTo>
                <a:lnTo>
                  <a:pt x="7873" y="12706"/>
                </a:lnTo>
                <a:lnTo>
                  <a:pt x="7627" y="12904"/>
                </a:lnTo>
                <a:lnTo>
                  <a:pt x="7363" y="13048"/>
                </a:lnTo>
                <a:lnTo>
                  <a:pt x="7080" y="13180"/>
                </a:lnTo>
                <a:lnTo>
                  <a:pt x="6759" y="13257"/>
                </a:lnTo>
                <a:lnTo>
                  <a:pt x="6419" y="13345"/>
                </a:lnTo>
                <a:lnTo>
                  <a:pt x="6098" y="13389"/>
                </a:lnTo>
                <a:lnTo>
                  <a:pt x="5739" y="13389"/>
                </a:lnTo>
                <a:lnTo>
                  <a:pt x="5418" y="13389"/>
                </a:lnTo>
                <a:lnTo>
                  <a:pt x="5079" y="13345"/>
                </a:lnTo>
                <a:lnTo>
                  <a:pt x="4758" y="13301"/>
                </a:lnTo>
                <a:lnTo>
                  <a:pt x="4474" y="13213"/>
                </a:lnTo>
                <a:lnTo>
                  <a:pt x="4172" y="13114"/>
                </a:lnTo>
                <a:lnTo>
                  <a:pt x="3965" y="12982"/>
                </a:lnTo>
                <a:lnTo>
                  <a:pt x="3738" y="12838"/>
                </a:lnTo>
                <a:lnTo>
                  <a:pt x="3493" y="12706"/>
                </a:lnTo>
                <a:lnTo>
                  <a:pt x="3228" y="12607"/>
                </a:lnTo>
                <a:lnTo>
                  <a:pt x="2945" y="12519"/>
                </a:lnTo>
                <a:lnTo>
                  <a:pt x="2700" y="12431"/>
                </a:lnTo>
                <a:lnTo>
                  <a:pt x="2397" y="12375"/>
                </a:lnTo>
                <a:lnTo>
                  <a:pt x="2152" y="12331"/>
                </a:lnTo>
                <a:lnTo>
                  <a:pt x="1888" y="12309"/>
                </a:lnTo>
                <a:lnTo>
                  <a:pt x="1642" y="12309"/>
                </a:lnTo>
                <a:lnTo>
                  <a:pt x="1397" y="12331"/>
                </a:lnTo>
                <a:lnTo>
                  <a:pt x="1170" y="12397"/>
                </a:lnTo>
                <a:lnTo>
                  <a:pt x="962" y="12453"/>
                </a:lnTo>
                <a:lnTo>
                  <a:pt x="774" y="12563"/>
                </a:lnTo>
                <a:lnTo>
                  <a:pt x="623" y="12684"/>
                </a:lnTo>
                <a:lnTo>
                  <a:pt x="528" y="12838"/>
                </a:lnTo>
                <a:lnTo>
                  <a:pt x="453" y="13026"/>
                </a:lnTo>
                <a:lnTo>
                  <a:pt x="339" y="13477"/>
                </a:lnTo>
                <a:lnTo>
                  <a:pt x="226" y="13984"/>
                </a:lnTo>
                <a:lnTo>
                  <a:pt x="151" y="14535"/>
                </a:lnTo>
                <a:lnTo>
                  <a:pt x="113" y="15075"/>
                </a:lnTo>
                <a:lnTo>
                  <a:pt x="113" y="15626"/>
                </a:lnTo>
                <a:lnTo>
                  <a:pt x="151" y="16133"/>
                </a:lnTo>
                <a:lnTo>
                  <a:pt x="188" y="16376"/>
                </a:lnTo>
                <a:lnTo>
                  <a:pt x="264" y="16585"/>
                </a:lnTo>
                <a:lnTo>
                  <a:pt x="339" y="16773"/>
                </a:lnTo>
                <a:lnTo>
                  <a:pt x="453" y="16938"/>
                </a:lnTo>
                <a:lnTo>
                  <a:pt x="1095" y="16883"/>
                </a:lnTo>
                <a:lnTo>
                  <a:pt x="1963" y="16795"/>
                </a:lnTo>
                <a:lnTo>
                  <a:pt x="2945" y="16751"/>
                </a:lnTo>
                <a:lnTo>
                  <a:pt x="3965" y="16706"/>
                </a:lnTo>
                <a:lnTo>
                  <a:pt x="5022" y="16684"/>
                </a:lnTo>
                <a:lnTo>
                  <a:pt x="5947" y="16684"/>
                </a:lnTo>
                <a:lnTo>
                  <a:pt x="6759" y="16706"/>
                </a:lnTo>
                <a:lnTo>
                  <a:pt x="7363" y="16751"/>
                </a:lnTo>
                <a:lnTo>
                  <a:pt x="7948" y="16839"/>
                </a:lnTo>
                <a:lnTo>
                  <a:pt x="8458" y="16916"/>
                </a:lnTo>
                <a:lnTo>
                  <a:pt x="8893" y="17026"/>
                </a:lnTo>
                <a:lnTo>
                  <a:pt x="9289" y="17158"/>
                </a:lnTo>
                <a:lnTo>
                  <a:pt x="9572" y="17280"/>
                </a:lnTo>
                <a:lnTo>
                  <a:pt x="9799" y="17412"/>
                </a:lnTo>
                <a:lnTo>
                  <a:pt x="9969" y="17555"/>
                </a:lnTo>
                <a:lnTo>
                  <a:pt x="10120" y="17687"/>
                </a:lnTo>
                <a:lnTo>
                  <a:pt x="10158" y="17831"/>
                </a:lnTo>
                <a:lnTo>
                  <a:pt x="10195" y="17974"/>
                </a:lnTo>
                <a:lnTo>
                  <a:pt x="10158" y="18128"/>
                </a:lnTo>
                <a:lnTo>
                  <a:pt x="10082" y="18271"/>
                </a:lnTo>
                <a:lnTo>
                  <a:pt x="9969" y="18426"/>
                </a:lnTo>
                <a:lnTo>
                  <a:pt x="9837" y="18569"/>
                </a:lnTo>
                <a:lnTo>
                  <a:pt x="9648" y="18701"/>
                </a:lnTo>
                <a:lnTo>
                  <a:pt x="9440" y="18822"/>
                </a:lnTo>
                <a:lnTo>
                  <a:pt x="9213" y="18999"/>
                </a:lnTo>
                <a:lnTo>
                  <a:pt x="9044" y="19186"/>
                </a:lnTo>
                <a:lnTo>
                  <a:pt x="8893" y="19395"/>
                </a:lnTo>
                <a:lnTo>
                  <a:pt x="8817" y="19627"/>
                </a:lnTo>
                <a:lnTo>
                  <a:pt x="8779" y="19858"/>
                </a:lnTo>
                <a:lnTo>
                  <a:pt x="8779" y="20112"/>
                </a:lnTo>
                <a:lnTo>
                  <a:pt x="8855" y="20354"/>
                </a:lnTo>
                <a:lnTo>
                  <a:pt x="8968" y="20586"/>
                </a:lnTo>
                <a:lnTo>
                  <a:pt x="9138" y="20817"/>
                </a:lnTo>
                <a:lnTo>
                  <a:pt x="9365" y="21026"/>
                </a:lnTo>
                <a:lnTo>
                  <a:pt x="9610" y="21192"/>
                </a:lnTo>
                <a:lnTo>
                  <a:pt x="9950" y="21368"/>
                </a:lnTo>
                <a:lnTo>
                  <a:pt x="10120" y="21445"/>
                </a:lnTo>
                <a:lnTo>
                  <a:pt x="10346" y="21511"/>
                </a:lnTo>
                <a:lnTo>
                  <a:pt x="10516" y="21555"/>
                </a:lnTo>
                <a:lnTo>
                  <a:pt x="10743" y="21600"/>
                </a:lnTo>
                <a:lnTo>
                  <a:pt x="10988" y="21644"/>
                </a:lnTo>
                <a:lnTo>
                  <a:pt x="11215" y="21666"/>
                </a:lnTo>
                <a:lnTo>
                  <a:pt x="11498" y="21666"/>
                </a:lnTo>
                <a:lnTo>
                  <a:pt x="11762" y="21666"/>
                </a:lnTo>
                <a:lnTo>
                  <a:pt x="12253" y="21644"/>
                </a:lnTo>
                <a:lnTo>
                  <a:pt x="12763" y="21577"/>
                </a:lnTo>
                <a:lnTo>
                  <a:pt x="13197" y="21467"/>
                </a:lnTo>
                <a:lnTo>
                  <a:pt x="13556" y="21346"/>
                </a:lnTo>
                <a:lnTo>
                  <a:pt x="13896" y="21192"/>
                </a:lnTo>
                <a:lnTo>
                  <a:pt x="14179" y="21026"/>
                </a:lnTo>
                <a:lnTo>
                  <a:pt x="14444" y="20839"/>
                </a:lnTo>
                <a:lnTo>
                  <a:pt x="14576" y="20641"/>
                </a:lnTo>
                <a:lnTo>
                  <a:pt x="14727" y="20431"/>
                </a:lnTo>
                <a:lnTo>
                  <a:pt x="14765" y="20200"/>
                </a:lnTo>
                <a:lnTo>
                  <a:pt x="14802" y="19991"/>
                </a:lnTo>
                <a:lnTo>
                  <a:pt x="14727" y="19759"/>
                </a:lnTo>
                <a:lnTo>
                  <a:pt x="14613" y="19550"/>
                </a:lnTo>
                <a:lnTo>
                  <a:pt x="14444" y="19307"/>
                </a:lnTo>
                <a:lnTo>
                  <a:pt x="14217" y="19098"/>
                </a:lnTo>
                <a:lnTo>
                  <a:pt x="13934" y="18911"/>
                </a:lnTo>
                <a:lnTo>
                  <a:pt x="13669" y="18745"/>
                </a:lnTo>
                <a:lnTo>
                  <a:pt x="13462" y="18547"/>
                </a:lnTo>
                <a:lnTo>
                  <a:pt x="13311" y="18337"/>
                </a:lnTo>
                <a:lnTo>
                  <a:pt x="13197" y="18150"/>
                </a:lnTo>
                <a:lnTo>
                  <a:pt x="13122" y="17941"/>
                </a:lnTo>
                <a:lnTo>
                  <a:pt x="13122" y="17720"/>
                </a:lnTo>
                <a:lnTo>
                  <a:pt x="13122" y="17533"/>
                </a:lnTo>
                <a:lnTo>
                  <a:pt x="13197" y="17346"/>
                </a:lnTo>
                <a:lnTo>
                  <a:pt x="13273" y="17158"/>
                </a:lnTo>
                <a:lnTo>
                  <a:pt x="13386" y="16982"/>
                </a:lnTo>
                <a:lnTo>
                  <a:pt x="13537" y="16839"/>
                </a:lnTo>
                <a:lnTo>
                  <a:pt x="13707" y="16706"/>
                </a:lnTo>
                <a:lnTo>
                  <a:pt x="13896" y="16607"/>
                </a:lnTo>
                <a:lnTo>
                  <a:pt x="14104" y="16519"/>
                </a:lnTo>
                <a:lnTo>
                  <a:pt x="14330" y="16453"/>
                </a:lnTo>
                <a:lnTo>
                  <a:pt x="14538" y="16431"/>
                </a:lnTo>
                <a:lnTo>
                  <a:pt x="14897" y="16453"/>
                </a:lnTo>
                <a:lnTo>
                  <a:pt x="15406" y="16497"/>
                </a:lnTo>
                <a:lnTo>
                  <a:pt x="16105" y="16541"/>
                </a:lnTo>
                <a:lnTo>
                  <a:pt x="16898" y="16607"/>
                </a:lnTo>
                <a:lnTo>
                  <a:pt x="17804" y="16651"/>
                </a:lnTo>
                <a:lnTo>
                  <a:pt x="18786" y="16684"/>
                </a:lnTo>
                <a:lnTo>
                  <a:pt x="19844" y="16728"/>
                </a:lnTo>
                <a:lnTo>
                  <a:pt x="20920" y="16751"/>
                </a:lnTo>
                <a:lnTo>
                  <a:pt x="21109" y="16497"/>
                </a:lnTo>
                <a:lnTo>
                  <a:pt x="21241" y="16222"/>
                </a:lnTo>
                <a:lnTo>
                  <a:pt x="21392" y="15946"/>
                </a:lnTo>
                <a:lnTo>
                  <a:pt x="21467" y="15648"/>
                </a:lnTo>
                <a:lnTo>
                  <a:pt x="21543" y="15351"/>
                </a:lnTo>
                <a:lnTo>
                  <a:pt x="21618" y="15042"/>
                </a:lnTo>
                <a:lnTo>
                  <a:pt x="21618" y="14745"/>
                </a:lnTo>
                <a:lnTo>
                  <a:pt x="21618" y="14447"/>
                </a:lnTo>
                <a:lnTo>
                  <a:pt x="21618" y="14150"/>
                </a:lnTo>
                <a:lnTo>
                  <a:pt x="21581" y="13852"/>
                </a:lnTo>
                <a:lnTo>
                  <a:pt x="21505" y="13577"/>
                </a:lnTo>
                <a:lnTo>
                  <a:pt x="21430" y="13301"/>
                </a:lnTo>
                <a:lnTo>
                  <a:pt x="21354" y="13048"/>
                </a:lnTo>
                <a:lnTo>
                  <a:pt x="21241" y="12816"/>
                </a:lnTo>
                <a:lnTo>
                  <a:pt x="21146" y="12607"/>
                </a:lnTo>
                <a:lnTo>
                  <a:pt x="21033" y="12431"/>
                </a:lnTo>
                <a:lnTo>
                  <a:pt x="20920" y="12265"/>
                </a:lnTo>
                <a:lnTo>
                  <a:pt x="20769" y="12144"/>
                </a:lnTo>
                <a:lnTo>
                  <a:pt x="20637" y="12034"/>
                </a:lnTo>
                <a:lnTo>
                  <a:pt x="20486" y="11946"/>
                </a:lnTo>
                <a:lnTo>
                  <a:pt x="20297" y="11891"/>
                </a:lnTo>
                <a:lnTo>
                  <a:pt x="20165" y="11846"/>
                </a:lnTo>
                <a:lnTo>
                  <a:pt x="19976" y="11824"/>
                </a:lnTo>
                <a:lnTo>
                  <a:pt x="19806" y="11802"/>
                </a:lnTo>
                <a:lnTo>
                  <a:pt x="19390" y="11824"/>
                </a:lnTo>
                <a:lnTo>
                  <a:pt x="18956" y="11891"/>
                </a:lnTo>
                <a:lnTo>
                  <a:pt x="18503" y="11968"/>
                </a:lnTo>
                <a:lnTo>
                  <a:pt x="17993" y="12078"/>
                </a:lnTo>
                <a:lnTo>
                  <a:pt x="17653" y="12144"/>
                </a:lnTo>
                <a:lnTo>
                  <a:pt x="17332" y="12199"/>
                </a:lnTo>
                <a:lnTo>
                  <a:pt x="17049" y="12221"/>
                </a:lnTo>
                <a:lnTo>
                  <a:pt x="16747" y="12243"/>
                </a:lnTo>
                <a:lnTo>
                  <a:pt x="16464" y="12243"/>
                </a:lnTo>
                <a:lnTo>
                  <a:pt x="16218" y="12243"/>
                </a:lnTo>
                <a:lnTo>
                  <a:pt x="15992" y="12221"/>
                </a:lnTo>
                <a:lnTo>
                  <a:pt x="15746" y="12199"/>
                </a:lnTo>
                <a:lnTo>
                  <a:pt x="15520" y="12155"/>
                </a:lnTo>
                <a:lnTo>
                  <a:pt x="15350" y="12122"/>
                </a:lnTo>
                <a:lnTo>
                  <a:pt x="15161" y="12056"/>
                </a:lnTo>
                <a:lnTo>
                  <a:pt x="14972" y="11990"/>
                </a:lnTo>
                <a:lnTo>
                  <a:pt x="14689" y="11846"/>
                </a:lnTo>
                <a:lnTo>
                  <a:pt x="14444" y="11670"/>
                </a:lnTo>
                <a:lnTo>
                  <a:pt x="14255" y="11483"/>
                </a:lnTo>
                <a:lnTo>
                  <a:pt x="14104" y="11295"/>
                </a:lnTo>
                <a:lnTo>
                  <a:pt x="14028" y="11086"/>
                </a:lnTo>
                <a:lnTo>
                  <a:pt x="13972" y="10888"/>
                </a:lnTo>
                <a:lnTo>
                  <a:pt x="13972" y="10700"/>
                </a:lnTo>
                <a:lnTo>
                  <a:pt x="14009" y="10513"/>
                </a:lnTo>
                <a:lnTo>
                  <a:pt x="14066" y="10359"/>
                </a:lnTo>
                <a:lnTo>
                  <a:pt x="14179" y="10215"/>
                </a:lnTo>
                <a:lnTo>
                  <a:pt x="14406" y="10006"/>
                </a:lnTo>
                <a:lnTo>
                  <a:pt x="14651" y="9830"/>
                </a:lnTo>
                <a:lnTo>
                  <a:pt x="14878" y="9686"/>
                </a:lnTo>
                <a:lnTo>
                  <a:pt x="15123" y="9554"/>
                </a:lnTo>
                <a:lnTo>
                  <a:pt x="15350" y="9477"/>
                </a:lnTo>
                <a:lnTo>
                  <a:pt x="15558" y="9411"/>
                </a:lnTo>
                <a:lnTo>
                  <a:pt x="15803" y="9345"/>
                </a:lnTo>
                <a:lnTo>
                  <a:pt x="16030" y="9323"/>
                </a:lnTo>
                <a:lnTo>
                  <a:pt x="16256" y="9301"/>
                </a:lnTo>
                <a:lnTo>
                  <a:pt x="16464" y="9323"/>
                </a:lnTo>
                <a:lnTo>
                  <a:pt x="16690" y="9345"/>
                </a:lnTo>
                <a:lnTo>
                  <a:pt x="16898" y="9367"/>
                </a:lnTo>
                <a:lnTo>
                  <a:pt x="17332" y="9477"/>
                </a:lnTo>
                <a:lnTo>
                  <a:pt x="17767" y="9598"/>
                </a:lnTo>
                <a:lnTo>
                  <a:pt x="18163" y="9731"/>
                </a:lnTo>
                <a:lnTo>
                  <a:pt x="18597" y="9874"/>
                </a:lnTo>
                <a:lnTo>
                  <a:pt x="18994" y="10006"/>
                </a:lnTo>
                <a:lnTo>
                  <a:pt x="19428" y="10083"/>
                </a:lnTo>
                <a:lnTo>
                  <a:pt x="19617" y="10127"/>
                </a:lnTo>
                <a:lnTo>
                  <a:pt x="19844" y="10149"/>
                </a:lnTo>
                <a:lnTo>
                  <a:pt x="20013" y="10149"/>
                </a:lnTo>
                <a:lnTo>
                  <a:pt x="20240" y="10127"/>
                </a:lnTo>
                <a:lnTo>
                  <a:pt x="20410" y="10105"/>
                </a:lnTo>
                <a:lnTo>
                  <a:pt x="20637" y="10061"/>
                </a:lnTo>
                <a:lnTo>
                  <a:pt x="20844" y="9984"/>
                </a:lnTo>
                <a:lnTo>
                  <a:pt x="21033" y="9896"/>
                </a:lnTo>
                <a:lnTo>
                  <a:pt x="21146" y="9830"/>
                </a:lnTo>
                <a:lnTo>
                  <a:pt x="21203" y="9753"/>
                </a:lnTo>
                <a:lnTo>
                  <a:pt x="21279" y="9642"/>
                </a:lnTo>
                <a:lnTo>
                  <a:pt x="21354" y="9521"/>
                </a:lnTo>
                <a:lnTo>
                  <a:pt x="21430" y="9246"/>
                </a:lnTo>
                <a:lnTo>
                  <a:pt x="21430" y="8904"/>
                </a:lnTo>
                <a:lnTo>
                  <a:pt x="21430" y="8540"/>
                </a:lnTo>
                <a:lnTo>
                  <a:pt x="21392" y="8144"/>
                </a:lnTo>
                <a:lnTo>
                  <a:pt x="21354" y="7714"/>
                </a:lnTo>
                <a:lnTo>
                  <a:pt x="21279" y="7295"/>
                </a:lnTo>
                <a:lnTo>
                  <a:pt x="21146" y="6446"/>
                </a:lnTo>
                <a:lnTo>
                  <a:pt x="20995" y="5686"/>
                </a:lnTo>
                <a:lnTo>
                  <a:pt x="20958" y="5366"/>
                </a:lnTo>
                <a:lnTo>
                  <a:pt x="20958" y="5091"/>
                </a:lnTo>
                <a:lnTo>
                  <a:pt x="20958" y="4860"/>
                </a:lnTo>
                <a:lnTo>
                  <a:pt x="21033" y="4716"/>
                </a:lnTo>
                <a:lnTo>
                  <a:pt x="20637" y="4860"/>
                </a:lnTo>
                <a:lnTo>
                  <a:pt x="20127" y="4992"/>
                </a:lnTo>
                <a:lnTo>
                  <a:pt x="19617" y="5069"/>
                </a:lnTo>
                <a:lnTo>
                  <a:pt x="19032" y="5157"/>
                </a:lnTo>
                <a:lnTo>
                  <a:pt x="18465" y="5201"/>
                </a:lnTo>
                <a:lnTo>
                  <a:pt x="17842" y="5245"/>
                </a:lnTo>
                <a:lnTo>
                  <a:pt x="17219" y="5267"/>
                </a:lnTo>
                <a:lnTo>
                  <a:pt x="16615" y="5267"/>
                </a:lnTo>
                <a:lnTo>
                  <a:pt x="15992" y="5245"/>
                </a:lnTo>
                <a:lnTo>
                  <a:pt x="15369" y="5201"/>
                </a:lnTo>
                <a:lnTo>
                  <a:pt x="14840" y="5157"/>
                </a:lnTo>
                <a:lnTo>
                  <a:pt x="14293" y="5091"/>
                </a:lnTo>
                <a:lnTo>
                  <a:pt x="13783" y="5014"/>
                </a:lnTo>
                <a:lnTo>
                  <a:pt x="13386" y="4926"/>
                </a:lnTo>
                <a:lnTo>
                  <a:pt x="13027" y="4815"/>
                </a:lnTo>
                <a:lnTo>
                  <a:pt x="12725" y="4716"/>
                </a:lnTo>
                <a:lnTo>
                  <a:pt x="12480" y="4606"/>
                </a:lnTo>
                <a:lnTo>
                  <a:pt x="12291" y="4496"/>
                </a:lnTo>
                <a:lnTo>
                  <a:pt x="12197" y="4397"/>
                </a:lnTo>
                <a:lnTo>
                  <a:pt x="12083" y="4286"/>
                </a:lnTo>
                <a:lnTo>
                  <a:pt x="12046" y="4187"/>
                </a:lnTo>
                <a:lnTo>
                  <a:pt x="12008" y="4077"/>
                </a:lnTo>
                <a:lnTo>
                  <a:pt x="12046" y="3967"/>
                </a:lnTo>
                <a:lnTo>
                  <a:pt x="12121" y="3868"/>
                </a:lnTo>
                <a:lnTo>
                  <a:pt x="12197" y="3735"/>
                </a:lnTo>
                <a:lnTo>
                  <a:pt x="12291" y="3614"/>
                </a:lnTo>
                <a:lnTo>
                  <a:pt x="12442" y="3482"/>
                </a:lnTo>
                <a:lnTo>
                  <a:pt x="12631" y="3361"/>
                </a:lnTo>
                <a:lnTo>
                  <a:pt x="13065" y="3085"/>
                </a:lnTo>
                <a:lnTo>
                  <a:pt x="13537" y="2766"/>
                </a:lnTo>
                <a:lnTo>
                  <a:pt x="13783" y="2578"/>
                </a:lnTo>
                <a:lnTo>
                  <a:pt x="13934" y="2380"/>
                </a:lnTo>
                <a:lnTo>
                  <a:pt x="14028" y="2171"/>
                </a:lnTo>
                <a:lnTo>
                  <a:pt x="14104" y="1961"/>
                </a:lnTo>
                <a:lnTo>
                  <a:pt x="14104" y="1730"/>
                </a:lnTo>
                <a:lnTo>
                  <a:pt x="14066" y="1498"/>
                </a:lnTo>
                <a:lnTo>
                  <a:pt x="13972" y="1267"/>
                </a:lnTo>
                <a:lnTo>
                  <a:pt x="13820" y="1057"/>
                </a:lnTo>
                <a:lnTo>
                  <a:pt x="13594" y="837"/>
                </a:lnTo>
                <a:lnTo>
                  <a:pt x="13386" y="628"/>
                </a:lnTo>
                <a:lnTo>
                  <a:pt x="13103" y="462"/>
                </a:lnTo>
                <a:lnTo>
                  <a:pt x="12763" y="308"/>
                </a:lnTo>
                <a:lnTo>
                  <a:pt x="12404" y="187"/>
                </a:lnTo>
                <a:lnTo>
                  <a:pt x="12008" y="77"/>
                </a:lnTo>
                <a:lnTo>
                  <a:pt x="11574" y="33"/>
                </a:lnTo>
                <a:lnTo>
                  <a:pt x="11102" y="11"/>
                </a:lnTo>
                <a:lnTo>
                  <a:pt x="10667" y="11"/>
                </a:lnTo>
                <a:lnTo>
                  <a:pt x="10233" y="77"/>
                </a:lnTo>
                <a:lnTo>
                  <a:pt x="9837" y="187"/>
                </a:lnTo>
                <a:lnTo>
                  <a:pt x="9440" y="286"/>
                </a:lnTo>
                <a:lnTo>
                  <a:pt x="9062" y="462"/>
                </a:lnTo>
                <a:lnTo>
                  <a:pt x="8741" y="628"/>
                </a:lnTo>
                <a:lnTo>
                  <a:pt x="8458" y="815"/>
                </a:lnTo>
                <a:lnTo>
                  <a:pt x="8232" y="1035"/>
                </a:lnTo>
                <a:lnTo>
                  <a:pt x="8062" y="1245"/>
                </a:lnTo>
                <a:lnTo>
                  <a:pt x="7911" y="1476"/>
                </a:lnTo>
                <a:lnTo>
                  <a:pt x="7835" y="1708"/>
                </a:lnTo>
                <a:lnTo>
                  <a:pt x="7797" y="1961"/>
                </a:lnTo>
                <a:lnTo>
                  <a:pt x="7835" y="2193"/>
                </a:lnTo>
                <a:lnTo>
                  <a:pt x="7948" y="2402"/>
                </a:lnTo>
                <a:lnTo>
                  <a:pt x="8062" y="2534"/>
                </a:lnTo>
                <a:lnTo>
                  <a:pt x="8175" y="2644"/>
                </a:lnTo>
                <a:lnTo>
                  <a:pt x="8269" y="2744"/>
                </a:lnTo>
                <a:lnTo>
                  <a:pt x="8420" y="2832"/>
                </a:lnTo>
                <a:lnTo>
                  <a:pt x="8704" y="3019"/>
                </a:lnTo>
                <a:lnTo>
                  <a:pt x="8968" y="3206"/>
                </a:lnTo>
                <a:lnTo>
                  <a:pt x="9138" y="3405"/>
                </a:lnTo>
                <a:lnTo>
                  <a:pt x="9327" y="3570"/>
                </a:lnTo>
                <a:lnTo>
                  <a:pt x="9440" y="3735"/>
                </a:lnTo>
                <a:lnTo>
                  <a:pt x="9516" y="3890"/>
                </a:lnTo>
                <a:lnTo>
                  <a:pt x="9534" y="4033"/>
                </a:lnTo>
                <a:lnTo>
                  <a:pt x="9534" y="4165"/>
                </a:lnTo>
                <a:lnTo>
                  <a:pt x="9516" y="4286"/>
                </a:lnTo>
                <a:lnTo>
                  <a:pt x="9440" y="4397"/>
                </a:lnTo>
                <a:lnTo>
                  <a:pt x="9327" y="4496"/>
                </a:lnTo>
                <a:lnTo>
                  <a:pt x="9176" y="4562"/>
                </a:lnTo>
                <a:lnTo>
                  <a:pt x="9006" y="4628"/>
                </a:lnTo>
                <a:lnTo>
                  <a:pt x="8779" y="4694"/>
                </a:lnTo>
                <a:lnTo>
                  <a:pt x="8534" y="4716"/>
                </a:lnTo>
                <a:lnTo>
                  <a:pt x="8232" y="4716"/>
                </a:lnTo>
                <a:lnTo>
                  <a:pt x="7118" y="4738"/>
                </a:lnTo>
                <a:lnTo>
                  <a:pt x="5947" y="4771"/>
                </a:lnTo>
                <a:lnTo>
                  <a:pt x="4795" y="4815"/>
                </a:lnTo>
                <a:lnTo>
                  <a:pt x="3681" y="4860"/>
                </a:lnTo>
                <a:lnTo>
                  <a:pt x="2662" y="4882"/>
                </a:lnTo>
                <a:lnTo>
                  <a:pt x="1755" y="4882"/>
                </a:lnTo>
                <a:lnTo>
                  <a:pt x="1359" y="4860"/>
                </a:lnTo>
                <a:lnTo>
                  <a:pt x="981" y="4837"/>
                </a:lnTo>
                <a:lnTo>
                  <a:pt x="698" y="4771"/>
                </a:lnTo>
                <a:lnTo>
                  <a:pt x="453" y="4716"/>
                </a:lnTo>
                <a:lnTo>
                  <a:pt x="453" y="5322"/>
                </a:lnTo>
                <a:lnTo>
                  <a:pt x="453" y="6083"/>
                </a:lnTo>
                <a:lnTo>
                  <a:pt x="453" y="6909"/>
                </a:lnTo>
                <a:lnTo>
                  <a:pt x="453" y="7780"/>
                </a:lnTo>
                <a:lnTo>
                  <a:pt x="453" y="8606"/>
                </a:lnTo>
                <a:lnTo>
                  <a:pt x="453" y="9345"/>
                </a:lnTo>
                <a:lnTo>
                  <a:pt x="453" y="9918"/>
                </a:lnTo>
                <a:lnTo>
                  <a:pt x="453" y="10282"/>
                </a:lnTo>
                <a:lnTo>
                  <a:pt x="490" y="10381"/>
                </a:lnTo>
                <a:lnTo>
                  <a:pt x="547" y="10491"/>
                </a:lnTo>
                <a:lnTo>
                  <a:pt x="660" y="10590"/>
                </a:lnTo>
                <a:lnTo>
                  <a:pt x="811" y="10700"/>
                </a:lnTo>
                <a:lnTo>
                  <a:pt x="981" y="10811"/>
                </a:lnTo>
                <a:lnTo>
                  <a:pt x="1208" y="10888"/>
                </a:lnTo>
                <a:lnTo>
                  <a:pt x="1453" y="10954"/>
                </a:lnTo>
                <a:lnTo>
                  <a:pt x="1718" y="11020"/>
                </a:lnTo>
                <a:lnTo>
                  <a:pt x="1963" y="11064"/>
                </a:lnTo>
                <a:lnTo>
                  <a:pt x="2265" y="11086"/>
                </a:lnTo>
                <a:lnTo>
                  <a:pt x="2548" y="11064"/>
                </a:lnTo>
                <a:lnTo>
                  <a:pt x="2794" y="11042"/>
                </a:lnTo>
                <a:lnTo>
                  <a:pt x="3096" y="10976"/>
                </a:lnTo>
                <a:lnTo>
                  <a:pt x="3341" y="10888"/>
                </a:lnTo>
                <a:lnTo>
                  <a:pt x="3606" y="10766"/>
                </a:lnTo>
                <a:lnTo>
                  <a:pt x="3813" y="10590"/>
                </a:lnTo>
                <a:close/>
              </a:path>
            </a:pathLst>
          </a:custGeom>
          <a:solidFill>
            <a:srgbClr val="D8EBB3"/>
          </a:solidFill>
          <a:ln w="28575">
            <a:solidFill>
              <a:srgbClr val="000000"/>
            </a:solidFill>
            <a:miter lim="800000"/>
            <a:headEnd/>
            <a:tailEnd/>
          </a:ln>
        </p:spPr>
        <p:txBody>
          <a:bodyPr/>
          <a:lstStyle/>
          <a:p>
            <a:pPr algn="ctr"/>
            <a:r>
              <a:rPr lang="en-US" altLang="zh-CN" b="1" dirty="0">
                <a:solidFill>
                  <a:srgbClr val="FF3300"/>
                </a:solidFill>
                <a:ea typeface="宋体" pitchFamily="2" charset="-122"/>
              </a:rPr>
              <a:t>Reciprocity</a:t>
            </a:r>
          </a:p>
          <a:p>
            <a:pPr algn="ctr"/>
            <a:endParaRPr lang="en-US" altLang="zh-CN" b="1" dirty="0">
              <a:solidFill>
                <a:srgbClr val="FF3300"/>
              </a:solidFill>
              <a:ea typeface="宋体" pitchFamily="2" charset="-122"/>
            </a:endParaRPr>
          </a:p>
          <a:p>
            <a:pPr algn="ctr"/>
            <a:endParaRPr lang="en-US" altLang="zh-CN" b="1" dirty="0">
              <a:solidFill>
                <a:srgbClr val="FF3300"/>
              </a:solidFill>
              <a:ea typeface="宋体" pitchFamily="2" charset="-122"/>
            </a:endParaRPr>
          </a:p>
          <a:p>
            <a:pPr algn="ctr"/>
            <a:r>
              <a:rPr lang="en-US" altLang="zh-CN" b="1" dirty="0">
                <a:solidFill>
                  <a:srgbClr val="FF3300"/>
                </a:solidFill>
                <a:ea typeface="宋体" pitchFamily="2" charset="-122"/>
              </a:rPr>
              <a:t>Theorem</a:t>
            </a:r>
          </a:p>
        </p:txBody>
      </p:sp>
      <p:sp>
        <p:nvSpPr>
          <p:cNvPr id="10" name="Puzzle4"/>
          <p:cNvSpPr>
            <a:spLocks noEditPoints="1" noChangeArrowheads="1"/>
          </p:cNvSpPr>
          <p:nvPr/>
        </p:nvSpPr>
        <p:spPr bwMode="auto">
          <a:xfrm>
            <a:off x="5297488" y="3397250"/>
            <a:ext cx="1700212" cy="2794000"/>
          </a:xfrm>
          <a:custGeom>
            <a:avLst/>
            <a:gdLst>
              <a:gd name="T0" fmla="*/ 8307 w 21600"/>
              <a:gd name="T1" fmla="*/ 11593 h 21600"/>
              <a:gd name="T2" fmla="*/ 453 w 21600"/>
              <a:gd name="T3" fmla="*/ 16938 h 21600"/>
              <a:gd name="T4" fmla="*/ 11500 w 21600"/>
              <a:gd name="T5" fmla="*/ 21600 h 21600"/>
              <a:gd name="T6" fmla="*/ 20920 w 21600"/>
              <a:gd name="T7" fmla="*/ 16751 h 21600"/>
              <a:gd name="T8" fmla="*/ 13972 w 21600"/>
              <a:gd name="T9" fmla="*/ 10888 h 21600"/>
              <a:gd name="T10" fmla="*/ 21033 w 21600"/>
              <a:gd name="T11" fmla="*/ 4716 h 21600"/>
              <a:gd name="T12" fmla="*/ 11102 w 21600"/>
              <a:gd name="T13" fmla="*/ 11 h 21600"/>
              <a:gd name="T14" fmla="*/ 453 w 21600"/>
              <a:gd name="T15" fmla="*/ 4716 h 21600"/>
              <a:gd name="T16" fmla="*/ 2076 w 21600"/>
              <a:gd name="T17" fmla="*/ 5664 h 21600"/>
              <a:gd name="T18" fmla="*/ 20203 w 21600"/>
              <a:gd name="T19" fmla="*/ 1598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3813" y="10590"/>
                </a:moveTo>
                <a:lnTo>
                  <a:pt x="3927" y="10513"/>
                </a:lnTo>
                <a:lnTo>
                  <a:pt x="4078" y="10425"/>
                </a:lnTo>
                <a:lnTo>
                  <a:pt x="4210" y="10359"/>
                </a:lnTo>
                <a:lnTo>
                  <a:pt x="4361" y="10315"/>
                </a:lnTo>
                <a:lnTo>
                  <a:pt x="4682" y="10237"/>
                </a:lnTo>
                <a:lnTo>
                  <a:pt x="5041" y="10193"/>
                </a:lnTo>
                <a:lnTo>
                  <a:pt x="5456" y="10171"/>
                </a:lnTo>
                <a:lnTo>
                  <a:pt x="5853" y="10193"/>
                </a:lnTo>
                <a:lnTo>
                  <a:pt x="6249" y="10260"/>
                </a:lnTo>
                <a:lnTo>
                  <a:pt x="6646" y="10337"/>
                </a:lnTo>
                <a:lnTo>
                  <a:pt x="7004" y="10469"/>
                </a:lnTo>
                <a:lnTo>
                  <a:pt x="7363" y="10612"/>
                </a:lnTo>
                <a:lnTo>
                  <a:pt x="7665" y="10788"/>
                </a:lnTo>
                <a:lnTo>
                  <a:pt x="7911" y="10998"/>
                </a:lnTo>
                <a:lnTo>
                  <a:pt x="8024" y="11097"/>
                </a:lnTo>
                <a:lnTo>
                  <a:pt x="8137" y="11207"/>
                </a:lnTo>
                <a:lnTo>
                  <a:pt x="8194" y="11340"/>
                </a:lnTo>
                <a:lnTo>
                  <a:pt x="8269" y="11461"/>
                </a:lnTo>
                <a:lnTo>
                  <a:pt x="8307" y="11593"/>
                </a:lnTo>
                <a:lnTo>
                  <a:pt x="8307" y="11714"/>
                </a:lnTo>
                <a:lnTo>
                  <a:pt x="8307" y="11868"/>
                </a:lnTo>
                <a:lnTo>
                  <a:pt x="8307" y="12012"/>
                </a:lnTo>
                <a:lnTo>
                  <a:pt x="8194" y="12265"/>
                </a:lnTo>
                <a:lnTo>
                  <a:pt x="8062" y="12519"/>
                </a:lnTo>
                <a:lnTo>
                  <a:pt x="7873" y="12706"/>
                </a:lnTo>
                <a:lnTo>
                  <a:pt x="7627" y="12904"/>
                </a:lnTo>
                <a:lnTo>
                  <a:pt x="7363" y="13048"/>
                </a:lnTo>
                <a:lnTo>
                  <a:pt x="7080" y="13180"/>
                </a:lnTo>
                <a:lnTo>
                  <a:pt x="6759" y="13257"/>
                </a:lnTo>
                <a:lnTo>
                  <a:pt x="6419" y="13345"/>
                </a:lnTo>
                <a:lnTo>
                  <a:pt x="6098" y="13389"/>
                </a:lnTo>
                <a:lnTo>
                  <a:pt x="5739" y="13389"/>
                </a:lnTo>
                <a:lnTo>
                  <a:pt x="5418" y="13389"/>
                </a:lnTo>
                <a:lnTo>
                  <a:pt x="5079" y="13345"/>
                </a:lnTo>
                <a:lnTo>
                  <a:pt x="4758" y="13301"/>
                </a:lnTo>
                <a:lnTo>
                  <a:pt x="4474" y="13213"/>
                </a:lnTo>
                <a:lnTo>
                  <a:pt x="4172" y="13114"/>
                </a:lnTo>
                <a:lnTo>
                  <a:pt x="3965" y="12982"/>
                </a:lnTo>
                <a:lnTo>
                  <a:pt x="3738" y="12838"/>
                </a:lnTo>
                <a:lnTo>
                  <a:pt x="3493" y="12706"/>
                </a:lnTo>
                <a:lnTo>
                  <a:pt x="3228" y="12607"/>
                </a:lnTo>
                <a:lnTo>
                  <a:pt x="2945" y="12519"/>
                </a:lnTo>
                <a:lnTo>
                  <a:pt x="2700" y="12431"/>
                </a:lnTo>
                <a:lnTo>
                  <a:pt x="2397" y="12375"/>
                </a:lnTo>
                <a:lnTo>
                  <a:pt x="2152" y="12331"/>
                </a:lnTo>
                <a:lnTo>
                  <a:pt x="1888" y="12309"/>
                </a:lnTo>
                <a:lnTo>
                  <a:pt x="1642" y="12309"/>
                </a:lnTo>
                <a:lnTo>
                  <a:pt x="1397" y="12331"/>
                </a:lnTo>
                <a:lnTo>
                  <a:pt x="1170" y="12397"/>
                </a:lnTo>
                <a:lnTo>
                  <a:pt x="962" y="12453"/>
                </a:lnTo>
                <a:lnTo>
                  <a:pt x="774" y="12563"/>
                </a:lnTo>
                <a:lnTo>
                  <a:pt x="623" y="12684"/>
                </a:lnTo>
                <a:lnTo>
                  <a:pt x="528" y="12838"/>
                </a:lnTo>
                <a:lnTo>
                  <a:pt x="453" y="13026"/>
                </a:lnTo>
                <a:lnTo>
                  <a:pt x="339" y="13477"/>
                </a:lnTo>
                <a:lnTo>
                  <a:pt x="226" y="13984"/>
                </a:lnTo>
                <a:lnTo>
                  <a:pt x="151" y="14535"/>
                </a:lnTo>
                <a:lnTo>
                  <a:pt x="113" y="15075"/>
                </a:lnTo>
                <a:lnTo>
                  <a:pt x="113" y="15626"/>
                </a:lnTo>
                <a:lnTo>
                  <a:pt x="151" y="16133"/>
                </a:lnTo>
                <a:lnTo>
                  <a:pt x="188" y="16376"/>
                </a:lnTo>
                <a:lnTo>
                  <a:pt x="264" y="16585"/>
                </a:lnTo>
                <a:lnTo>
                  <a:pt x="339" y="16773"/>
                </a:lnTo>
                <a:lnTo>
                  <a:pt x="453" y="16938"/>
                </a:lnTo>
                <a:lnTo>
                  <a:pt x="1095" y="16883"/>
                </a:lnTo>
                <a:lnTo>
                  <a:pt x="1963" y="16795"/>
                </a:lnTo>
                <a:lnTo>
                  <a:pt x="2945" y="16751"/>
                </a:lnTo>
                <a:lnTo>
                  <a:pt x="3965" y="16706"/>
                </a:lnTo>
                <a:lnTo>
                  <a:pt x="5022" y="16684"/>
                </a:lnTo>
                <a:lnTo>
                  <a:pt x="5947" y="16684"/>
                </a:lnTo>
                <a:lnTo>
                  <a:pt x="6759" y="16706"/>
                </a:lnTo>
                <a:lnTo>
                  <a:pt x="7363" y="16751"/>
                </a:lnTo>
                <a:lnTo>
                  <a:pt x="7948" y="16839"/>
                </a:lnTo>
                <a:lnTo>
                  <a:pt x="8458" y="16916"/>
                </a:lnTo>
                <a:lnTo>
                  <a:pt x="8893" y="17026"/>
                </a:lnTo>
                <a:lnTo>
                  <a:pt x="9289" y="17158"/>
                </a:lnTo>
                <a:lnTo>
                  <a:pt x="9572" y="17280"/>
                </a:lnTo>
                <a:lnTo>
                  <a:pt x="9799" y="17412"/>
                </a:lnTo>
                <a:lnTo>
                  <a:pt x="9969" y="17555"/>
                </a:lnTo>
                <a:lnTo>
                  <a:pt x="10120" y="17687"/>
                </a:lnTo>
                <a:lnTo>
                  <a:pt x="10158" y="17831"/>
                </a:lnTo>
                <a:lnTo>
                  <a:pt x="10195" y="17974"/>
                </a:lnTo>
                <a:lnTo>
                  <a:pt x="10158" y="18128"/>
                </a:lnTo>
                <a:lnTo>
                  <a:pt x="10082" y="18271"/>
                </a:lnTo>
                <a:lnTo>
                  <a:pt x="9969" y="18426"/>
                </a:lnTo>
                <a:lnTo>
                  <a:pt x="9837" y="18569"/>
                </a:lnTo>
                <a:lnTo>
                  <a:pt x="9648" y="18701"/>
                </a:lnTo>
                <a:lnTo>
                  <a:pt x="9440" y="18822"/>
                </a:lnTo>
                <a:lnTo>
                  <a:pt x="9213" y="18999"/>
                </a:lnTo>
                <a:lnTo>
                  <a:pt x="9044" y="19186"/>
                </a:lnTo>
                <a:lnTo>
                  <a:pt x="8893" y="19395"/>
                </a:lnTo>
                <a:lnTo>
                  <a:pt x="8817" y="19627"/>
                </a:lnTo>
                <a:lnTo>
                  <a:pt x="8779" y="19858"/>
                </a:lnTo>
                <a:lnTo>
                  <a:pt x="8779" y="20112"/>
                </a:lnTo>
                <a:lnTo>
                  <a:pt x="8855" y="20354"/>
                </a:lnTo>
                <a:lnTo>
                  <a:pt x="8968" y="20586"/>
                </a:lnTo>
                <a:lnTo>
                  <a:pt x="9138" y="20817"/>
                </a:lnTo>
                <a:lnTo>
                  <a:pt x="9365" y="21026"/>
                </a:lnTo>
                <a:lnTo>
                  <a:pt x="9610" y="21192"/>
                </a:lnTo>
                <a:lnTo>
                  <a:pt x="9950" y="21368"/>
                </a:lnTo>
                <a:lnTo>
                  <a:pt x="10120" y="21445"/>
                </a:lnTo>
                <a:lnTo>
                  <a:pt x="10346" y="21511"/>
                </a:lnTo>
                <a:lnTo>
                  <a:pt x="10516" y="21555"/>
                </a:lnTo>
                <a:lnTo>
                  <a:pt x="10743" y="21600"/>
                </a:lnTo>
                <a:lnTo>
                  <a:pt x="10988" y="21644"/>
                </a:lnTo>
                <a:lnTo>
                  <a:pt x="11215" y="21666"/>
                </a:lnTo>
                <a:lnTo>
                  <a:pt x="11498" y="21666"/>
                </a:lnTo>
                <a:lnTo>
                  <a:pt x="11762" y="21666"/>
                </a:lnTo>
                <a:lnTo>
                  <a:pt x="12253" y="21644"/>
                </a:lnTo>
                <a:lnTo>
                  <a:pt x="12763" y="21577"/>
                </a:lnTo>
                <a:lnTo>
                  <a:pt x="13197" y="21467"/>
                </a:lnTo>
                <a:lnTo>
                  <a:pt x="13556" y="21346"/>
                </a:lnTo>
                <a:lnTo>
                  <a:pt x="13896" y="21192"/>
                </a:lnTo>
                <a:lnTo>
                  <a:pt x="14179" y="21026"/>
                </a:lnTo>
                <a:lnTo>
                  <a:pt x="14444" y="20839"/>
                </a:lnTo>
                <a:lnTo>
                  <a:pt x="14576" y="20641"/>
                </a:lnTo>
                <a:lnTo>
                  <a:pt x="14727" y="20431"/>
                </a:lnTo>
                <a:lnTo>
                  <a:pt x="14765" y="20200"/>
                </a:lnTo>
                <a:lnTo>
                  <a:pt x="14802" y="19991"/>
                </a:lnTo>
                <a:lnTo>
                  <a:pt x="14727" y="19759"/>
                </a:lnTo>
                <a:lnTo>
                  <a:pt x="14613" y="19550"/>
                </a:lnTo>
                <a:lnTo>
                  <a:pt x="14444" y="19307"/>
                </a:lnTo>
                <a:lnTo>
                  <a:pt x="14217" y="19098"/>
                </a:lnTo>
                <a:lnTo>
                  <a:pt x="13934" y="18911"/>
                </a:lnTo>
                <a:lnTo>
                  <a:pt x="13669" y="18745"/>
                </a:lnTo>
                <a:lnTo>
                  <a:pt x="13462" y="18547"/>
                </a:lnTo>
                <a:lnTo>
                  <a:pt x="13311" y="18337"/>
                </a:lnTo>
                <a:lnTo>
                  <a:pt x="13197" y="18150"/>
                </a:lnTo>
                <a:lnTo>
                  <a:pt x="13122" y="17941"/>
                </a:lnTo>
                <a:lnTo>
                  <a:pt x="13122" y="17720"/>
                </a:lnTo>
                <a:lnTo>
                  <a:pt x="13122" y="17533"/>
                </a:lnTo>
                <a:lnTo>
                  <a:pt x="13197" y="17346"/>
                </a:lnTo>
                <a:lnTo>
                  <a:pt x="13273" y="17158"/>
                </a:lnTo>
                <a:lnTo>
                  <a:pt x="13386" y="16982"/>
                </a:lnTo>
                <a:lnTo>
                  <a:pt x="13537" y="16839"/>
                </a:lnTo>
                <a:lnTo>
                  <a:pt x="13707" y="16706"/>
                </a:lnTo>
                <a:lnTo>
                  <a:pt x="13896" y="16607"/>
                </a:lnTo>
                <a:lnTo>
                  <a:pt x="14104" y="16519"/>
                </a:lnTo>
                <a:lnTo>
                  <a:pt x="14330" y="16453"/>
                </a:lnTo>
                <a:lnTo>
                  <a:pt x="14538" y="16431"/>
                </a:lnTo>
                <a:lnTo>
                  <a:pt x="14897" y="16453"/>
                </a:lnTo>
                <a:lnTo>
                  <a:pt x="15406" y="16497"/>
                </a:lnTo>
                <a:lnTo>
                  <a:pt x="16105" y="16541"/>
                </a:lnTo>
                <a:lnTo>
                  <a:pt x="16898" y="16607"/>
                </a:lnTo>
                <a:lnTo>
                  <a:pt x="17804" y="16651"/>
                </a:lnTo>
                <a:lnTo>
                  <a:pt x="18786" y="16684"/>
                </a:lnTo>
                <a:lnTo>
                  <a:pt x="19844" y="16728"/>
                </a:lnTo>
                <a:lnTo>
                  <a:pt x="20920" y="16751"/>
                </a:lnTo>
                <a:lnTo>
                  <a:pt x="21109" y="16497"/>
                </a:lnTo>
                <a:lnTo>
                  <a:pt x="21241" y="16222"/>
                </a:lnTo>
                <a:lnTo>
                  <a:pt x="21392" y="15946"/>
                </a:lnTo>
                <a:lnTo>
                  <a:pt x="21467" y="15648"/>
                </a:lnTo>
                <a:lnTo>
                  <a:pt x="21543" y="15351"/>
                </a:lnTo>
                <a:lnTo>
                  <a:pt x="21618" y="15042"/>
                </a:lnTo>
                <a:lnTo>
                  <a:pt x="21618" y="14745"/>
                </a:lnTo>
                <a:lnTo>
                  <a:pt x="21618" y="14447"/>
                </a:lnTo>
                <a:lnTo>
                  <a:pt x="21618" y="14150"/>
                </a:lnTo>
                <a:lnTo>
                  <a:pt x="21581" y="13852"/>
                </a:lnTo>
                <a:lnTo>
                  <a:pt x="21505" y="13577"/>
                </a:lnTo>
                <a:lnTo>
                  <a:pt x="21430" y="13301"/>
                </a:lnTo>
                <a:lnTo>
                  <a:pt x="21354" y="13048"/>
                </a:lnTo>
                <a:lnTo>
                  <a:pt x="21241" y="12816"/>
                </a:lnTo>
                <a:lnTo>
                  <a:pt x="21146" y="12607"/>
                </a:lnTo>
                <a:lnTo>
                  <a:pt x="21033" y="12431"/>
                </a:lnTo>
                <a:lnTo>
                  <a:pt x="20920" y="12265"/>
                </a:lnTo>
                <a:lnTo>
                  <a:pt x="20769" y="12144"/>
                </a:lnTo>
                <a:lnTo>
                  <a:pt x="20637" y="12034"/>
                </a:lnTo>
                <a:lnTo>
                  <a:pt x="20486" y="11946"/>
                </a:lnTo>
                <a:lnTo>
                  <a:pt x="20297" y="11891"/>
                </a:lnTo>
                <a:lnTo>
                  <a:pt x="20165" y="11846"/>
                </a:lnTo>
                <a:lnTo>
                  <a:pt x="19976" y="11824"/>
                </a:lnTo>
                <a:lnTo>
                  <a:pt x="19806" y="11802"/>
                </a:lnTo>
                <a:lnTo>
                  <a:pt x="19390" y="11824"/>
                </a:lnTo>
                <a:lnTo>
                  <a:pt x="18956" y="11891"/>
                </a:lnTo>
                <a:lnTo>
                  <a:pt x="18503" y="11968"/>
                </a:lnTo>
                <a:lnTo>
                  <a:pt x="17993" y="12078"/>
                </a:lnTo>
                <a:lnTo>
                  <a:pt x="17653" y="12144"/>
                </a:lnTo>
                <a:lnTo>
                  <a:pt x="17332" y="12199"/>
                </a:lnTo>
                <a:lnTo>
                  <a:pt x="17049" y="12221"/>
                </a:lnTo>
                <a:lnTo>
                  <a:pt x="16747" y="12243"/>
                </a:lnTo>
                <a:lnTo>
                  <a:pt x="16464" y="12243"/>
                </a:lnTo>
                <a:lnTo>
                  <a:pt x="16218" y="12243"/>
                </a:lnTo>
                <a:lnTo>
                  <a:pt x="15992" y="12221"/>
                </a:lnTo>
                <a:lnTo>
                  <a:pt x="15746" y="12199"/>
                </a:lnTo>
                <a:lnTo>
                  <a:pt x="15520" y="12155"/>
                </a:lnTo>
                <a:lnTo>
                  <a:pt x="15350" y="12122"/>
                </a:lnTo>
                <a:lnTo>
                  <a:pt x="15161" y="12056"/>
                </a:lnTo>
                <a:lnTo>
                  <a:pt x="14972" y="11990"/>
                </a:lnTo>
                <a:lnTo>
                  <a:pt x="14689" y="11846"/>
                </a:lnTo>
                <a:lnTo>
                  <a:pt x="14444" y="11670"/>
                </a:lnTo>
                <a:lnTo>
                  <a:pt x="14255" y="11483"/>
                </a:lnTo>
                <a:lnTo>
                  <a:pt x="14104" y="11295"/>
                </a:lnTo>
                <a:lnTo>
                  <a:pt x="14028" y="11086"/>
                </a:lnTo>
                <a:lnTo>
                  <a:pt x="13972" y="10888"/>
                </a:lnTo>
                <a:lnTo>
                  <a:pt x="13972" y="10700"/>
                </a:lnTo>
                <a:lnTo>
                  <a:pt x="14009" y="10513"/>
                </a:lnTo>
                <a:lnTo>
                  <a:pt x="14066" y="10359"/>
                </a:lnTo>
                <a:lnTo>
                  <a:pt x="14179" y="10215"/>
                </a:lnTo>
                <a:lnTo>
                  <a:pt x="14406" y="10006"/>
                </a:lnTo>
                <a:lnTo>
                  <a:pt x="14651" y="9830"/>
                </a:lnTo>
                <a:lnTo>
                  <a:pt x="14878" y="9686"/>
                </a:lnTo>
                <a:lnTo>
                  <a:pt x="15123" y="9554"/>
                </a:lnTo>
                <a:lnTo>
                  <a:pt x="15350" y="9477"/>
                </a:lnTo>
                <a:lnTo>
                  <a:pt x="15558" y="9411"/>
                </a:lnTo>
                <a:lnTo>
                  <a:pt x="15803" y="9345"/>
                </a:lnTo>
                <a:lnTo>
                  <a:pt x="16030" y="9323"/>
                </a:lnTo>
                <a:lnTo>
                  <a:pt x="16256" y="9301"/>
                </a:lnTo>
                <a:lnTo>
                  <a:pt x="16464" y="9323"/>
                </a:lnTo>
                <a:lnTo>
                  <a:pt x="16690" y="9345"/>
                </a:lnTo>
                <a:lnTo>
                  <a:pt x="16898" y="9367"/>
                </a:lnTo>
                <a:lnTo>
                  <a:pt x="17332" y="9477"/>
                </a:lnTo>
                <a:lnTo>
                  <a:pt x="17767" y="9598"/>
                </a:lnTo>
                <a:lnTo>
                  <a:pt x="18163" y="9731"/>
                </a:lnTo>
                <a:lnTo>
                  <a:pt x="18597" y="9874"/>
                </a:lnTo>
                <a:lnTo>
                  <a:pt x="18994" y="10006"/>
                </a:lnTo>
                <a:lnTo>
                  <a:pt x="19428" y="10083"/>
                </a:lnTo>
                <a:lnTo>
                  <a:pt x="19617" y="10127"/>
                </a:lnTo>
                <a:lnTo>
                  <a:pt x="19844" y="10149"/>
                </a:lnTo>
                <a:lnTo>
                  <a:pt x="20013" y="10149"/>
                </a:lnTo>
                <a:lnTo>
                  <a:pt x="20240" y="10127"/>
                </a:lnTo>
                <a:lnTo>
                  <a:pt x="20410" y="10105"/>
                </a:lnTo>
                <a:lnTo>
                  <a:pt x="20637" y="10061"/>
                </a:lnTo>
                <a:lnTo>
                  <a:pt x="20844" y="9984"/>
                </a:lnTo>
                <a:lnTo>
                  <a:pt x="21033" y="9896"/>
                </a:lnTo>
                <a:lnTo>
                  <a:pt x="21146" y="9830"/>
                </a:lnTo>
                <a:lnTo>
                  <a:pt x="21203" y="9753"/>
                </a:lnTo>
                <a:lnTo>
                  <a:pt x="21279" y="9642"/>
                </a:lnTo>
                <a:lnTo>
                  <a:pt x="21354" y="9521"/>
                </a:lnTo>
                <a:lnTo>
                  <a:pt x="21430" y="9246"/>
                </a:lnTo>
                <a:lnTo>
                  <a:pt x="21430" y="8904"/>
                </a:lnTo>
                <a:lnTo>
                  <a:pt x="21430" y="8540"/>
                </a:lnTo>
                <a:lnTo>
                  <a:pt x="21392" y="8144"/>
                </a:lnTo>
                <a:lnTo>
                  <a:pt x="21354" y="7714"/>
                </a:lnTo>
                <a:lnTo>
                  <a:pt x="21279" y="7295"/>
                </a:lnTo>
                <a:lnTo>
                  <a:pt x="21146" y="6446"/>
                </a:lnTo>
                <a:lnTo>
                  <a:pt x="20995" y="5686"/>
                </a:lnTo>
                <a:lnTo>
                  <a:pt x="20958" y="5366"/>
                </a:lnTo>
                <a:lnTo>
                  <a:pt x="20958" y="5091"/>
                </a:lnTo>
                <a:lnTo>
                  <a:pt x="20958" y="4860"/>
                </a:lnTo>
                <a:lnTo>
                  <a:pt x="21033" y="4716"/>
                </a:lnTo>
                <a:lnTo>
                  <a:pt x="20637" y="4860"/>
                </a:lnTo>
                <a:lnTo>
                  <a:pt x="20127" y="4992"/>
                </a:lnTo>
                <a:lnTo>
                  <a:pt x="19617" y="5069"/>
                </a:lnTo>
                <a:lnTo>
                  <a:pt x="19032" y="5157"/>
                </a:lnTo>
                <a:lnTo>
                  <a:pt x="18465" y="5201"/>
                </a:lnTo>
                <a:lnTo>
                  <a:pt x="17842" y="5245"/>
                </a:lnTo>
                <a:lnTo>
                  <a:pt x="17219" y="5267"/>
                </a:lnTo>
                <a:lnTo>
                  <a:pt x="16615" y="5267"/>
                </a:lnTo>
                <a:lnTo>
                  <a:pt x="15992" y="5245"/>
                </a:lnTo>
                <a:lnTo>
                  <a:pt x="15369" y="5201"/>
                </a:lnTo>
                <a:lnTo>
                  <a:pt x="14840" y="5157"/>
                </a:lnTo>
                <a:lnTo>
                  <a:pt x="14293" y="5091"/>
                </a:lnTo>
                <a:lnTo>
                  <a:pt x="13783" y="5014"/>
                </a:lnTo>
                <a:lnTo>
                  <a:pt x="13386" y="4926"/>
                </a:lnTo>
                <a:lnTo>
                  <a:pt x="13027" y="4815"/>
                </a:lnTo>
                <a:lnTo>
                  <a:pt x="12725" y="4716"/>
                </a:lnTo>
                <a:lnTo>
                  <a:pt x="12480" y="4606"/>
                </a:lnTo>
                <a:lnTo>
                  <a:pt x="12291" y="4496"/>
                </a:lnTo>
                <a:lnTo>
                  <a:pt x="12197" y="4397"/>
                </a:lnTo>
                <a:lnTo>
                  <a:pt x="12083" y="4286"/>
                </a:lnTo>
                <a:lnTo>
                  <a:pt x="12046" y="4187"/>
                </a:lnTo>
                <a:lnTo>
                  <a:pt x="12008" y="4077"/>
                </a:lnTo>
                <a:lnTo>
                  <a:pt x="12046" y="3967"/>
                </a:lnTo>
                <a:lnTo>
                  <a:pt x="12121" y="3868"/>
                </a:lnTo>
                <a:lnTo>
                  <a:pt x="12197" y="3735"/>
                </a:lnTo>
                <a:lnTo>
                  <a:pt x="12291" y="3614"/>
                </a:lnTo>
                <a:lnTo>
                  <a:pt x="12442" y="3482"/>
                </a:lnTo>
                <a:lnTo>
                  <a:pt x="12631" y="3361"/>
                </a:lnTo>
                <a:lnTo>
                  <a:pt x="13065" y="3085"/>
                </a:lnTo>
                <a:lnTo>
                  <a:pt x="13537" y="2766"/>
                </a:lnTo>
                <a:lnTo>
                  <a:pt x="13783" y="2578"/>
                </a:lnTo>
                <a:lnTo>
                  <a:pt x="13934" y="2380"/>
                </a:lnTo>
                <a:lnTo>
                  <a:pt x="14028" y="2171"/>
                </a:lnTo>
                <a:lnTo>
                  <a:pt x="14104" y="1961"/>
                </a:lnTo>
                <a:lnTo>
                  <a:pt x="14104" y="1730"/>
                </a:lnTo>
                <a:lnTo>
                  <a:pt x="14066" y="1498"/>
                </a:lnTo>
                <a:lnTo>
                  <a:pt x="13972" y="1267"/>
                </a:lnTo>
                <a:lnTo>
                  <a:pt x="13820" y="1057"/>
                </a:lnTo>
                <a:lnTo>
                  <a:pt x="13594" y="837"/>
                </a:lnTo>
                <a:lnTo>
                  <a:pt x="13386" y="628"/>
                </a:lnTo>
                <a:lnTo>
                  <a:pt x="13103" y="462"/>
                </a:lnTo>
                <a:lnTo>
                  <a:pt x="12763" y="308"/>
                </a:lnTo>
                <a:lnTo>
                  <a:pt x="12404" y="187"/>
                </a:lnTo>
                <a:lnTo>
                  <a:pt x="12008" y="77"/>
                </a:lnTo>
                <a:lnTo>
                  <a:pt x="11574" y="33"/>
                </a:lnTo>
                <a:lnTo>
                  <a:pt x="11102" y="11"/>
                </a:lnTo>
                <a:lnTo>
                  <a:pt x="10667" y="11"/>
                </a:lnTo>
                <a:lnTo>
                  <a:pt x="10233" y="77"/>
                </a:lnTo>
                <a:lnTo>
                  <a:pt x="9837" y="187"/>
                </a:lnTo>
                <a:lnTo>
                  <a:pt x="9440" y="286"/>
                </a:lnTo>
                <a:lnTo>
                  <a:pt x="9062" y="462"/>
                </a:lnTo>
                <a:lnTo>
                  <a:pt x="8741" y="628"/>
                </a:lnTo>
                <a:lnTo>
                  <a:pt x="8458" y="815"/>
                </a:lnTo>
                <a:lnTo>
                  <a:pt x="8232" y="1035"/>
                </a:lnTo>
                <a:lnTo>
                  <a:pt x="8062" y="1245"/>
                </a:lnTo>
                <a:lnTo>
                  <a:pt x="7911" y="1476"/>
                </a:lnTo>
                <a:lnTo>
                  <a:pt x="7835" y="1708"/>
                </a:lnTo>
                <a:lnTo>
                  <a:pt x="7797" y="1961"/>
                </a:lnTo>
                <a:lnTo>
                  <a:pt x="7835" y="2193"/>
                </a:lnTo>
                <a:lnTo>
                  <a:pt x="7948" y="2402"/>
                </a:lnTo>
                <a:lnTo>
                  <a:pt x="8062" y="2534"/>
                </a:lnTo>
                <a:lnTo>
                  <a:pt x="8175" y="2644"/>
                </a:lnTo>
                <a:lnTo>
                  <a:pt x="8269" y="2744"/>
                </a:lnTo>
                <a:lnTo>
                  <a:pt x="8420" y="2832"/>
                </a:lnTo>
                <a:lnTo>
                  <a:pt x="8704" y="3019"/>
                </a:lnTo>
                <a:lnTo>
                  <a:pt x="8968" y="3206"/>
                </a:lnTo>
                <a:lnTo>
                  <a:pt x="9138" y="3405"/>
                </a:lnTo>
                <a:lnTo>
                  <a:pt x="9327" y="3570"/>
                </a:lnTo>
                <a:lnTo>
                  <a:pt x="9440" y="3735"/>
                </a:lnTo>
                <a:lnTo>
                  <a:pt x="9516" y="3890"/>
                </a:lnTo>
                <a:lnTo>
                  <a:pt x="9534" y="4033"/>
                </a:lnTo>
                <a:lnTo>
                  <a:pt x="9534" y="4165"/>
                </a:lnTo>
                <a:lnTo>
                  <a:pt x="9516" y="4286"/>
                </a:lnTo>
                <a:lnTo>
                  <a:pt x="9440" y="4397"/>
                </a:lnTo>
                <a:lnTo>
                  <a:pt x="9327" y="4496"/>
                </a:lnTo>
                <a:lnTo>
                  <a:pt x="9176" y="4562"/>
                </a:lnTo>
                <a:lnTo>
                  <a:pt x="9006" y="4628"/>
                </a:lnTo>
                <a:lnTo>
                  <a:pt x="8779" y="4694"/>
                </a:lnTo>
                <a:lnTo>
                  <a:pt x="8534" y="4716"/>
                </a:lnTo>
                <a:lnTo>
                  <a:pt x="8232" y="4716"/>
                </a:lnTo>
                <a:lnTo>
                  <a:pt x="7118" y="4738"/>
                </a:lnTo>
                <a:lnTo>
                  <a:pt x="5947" y="4771"/>
                </a:lnTo>
                <a:lnTo>
                  <a:pt x="4795" y="4815"/>
                </a:lnTo>
                <a:lnTo>
                  <a:pt x="3681" y="4860"/>
                </a:lnTo>
                <a:lnTo>
                  <a:pt x="2662" y="4882"/>
                </a:lnTo>
                <a:lnTo>
                  <a:pt x="1755" y="4882"/>
                </a:lnTo>
                <a:lnTo>
                  <a:pt x="1359" y="4860"/>
                </a:lnTo>
                <a:lnTo>
                  <a:pt x="981" y="4837"/>
                </a:lnTo>
                <a:lnTo>
                  <a:pt x="698" y="4771"/>
                </a:lnTo>
                <a:lnTo>
                  <a:pt x="453" y="4716"/>
                </a:lnTo>
                <a:lnTo>
                  <a:pt x="453" y="5322"/>
                </a:lnTo>
                <a:lnTo>
                  <a:pt x="453" y="6083"/>
                </a:lnTo>
                <a:lnTo>
                  <a:pt x="453" y="6909"/>
                </a:lnTo>
                <a:lnTo>
                  <a:pt x="453" y="7780"/>
                </a:lnTo>
                <a:lnTo>
                  <a:pt x="453" y="8606"/>
                </a:lnTo>
                <a:lnTo>
                  <a:pt x="453" y="9345"/>
                </a:lnTo>
                <a:lnTo>
                  <a:pt x="453" y="9918"/>
                </a:lnTo>
                <a:lnTo>
                  <a:pt x="453" y="10282"/>
                </a:lnTo>
                <a:lnTo>
                  <a:pt x="490" y="10381"/>
                </a:lnTo>
                <a:lnTo>
                  <a:pt x="547" y="10491"/>
                </a:lnTo>
                <a:lnTo>
                  <a:pt x="660" y="10590"/>
                </a:lnTo>
                <a:lnTo>
                  <a:pt x="811" y="10700"/>
                </a:lnTo>
                <a:lnTo>
                  <a:pt x="981" y="10811"/>
                </a:lnTo>
                <a:lnTo>
                  <a:pt x="1208" y="10888"/>
                </a:lnTo>
                <a:lnTo>
                  <a:pt x="1453" y="10954"/>
                </a:lnTo>
                <a:lnTo>
                  <a:pt x="1718" y="11020"/>
                </a:lnTo>
                <a:lnTo>
                  <a:pt x="1963" y="11064"/>
                </a:lnTo>
                <a:lnTo>
                  <a:pt x="2265" y="11086"/>
                </a:lnTo>
                <a:lnTo>
                  <a:pt x="2548" y="11064"/>
                </a:lnTo>
                <a:lnTo>
                  <a:pt x="2794" y="11042"/>
                </a:lnTo>
                <a:lnTo>
                  <a:pt x="3096" y="10976"/>
                </a:lnTo>
                <a:lnTo>
                  <a:pt x="3341" y="10888"/>
                </a:lnTo>
                <a:lnTo>
                  <a:pt x="3606" y="10766"/>
                </a:lnTo>
                <a:lnTo>
                  <a:pt x="3813" y="10590"/>
                </a:lnTo>
                <a:close/>
              </a:path>
            </a:pathLst>
          </a:custGeom>
          <a:solidFill>
            <a:srgbClr val="D8EBB3"/>
          </a:solidFill>
          <a:ln w="28575">
            <a:solidFill>
              <a:srgbClr val="000000"/>
            </a:solidFill>
            <a:miter lim="800000"/>
            <a:headEnd/>
            <a:tailEnd/>
          </a:ln>
        </p:spPr>
        <p:txBody>
          <a:bodyPr/>
          <a:lstStyle/>
          <a:p>
            <a:pPr algn="ctr"/>
            <a:r>
              <a:rPr lang="en-US" altLang="zh-CN" b="1">
                <a:solidFill>
                  <a:srgbClr val="FF3300"/>
                </a:solidFill>
                <a:ea typeface="宋体" pitchFamily="2" charset="-122"/>
              </a:rPr>
              <a:t>Huygens’</a:t>
            </a:r>
          </a:p>
          <a:p>
            <a:pPr algn="ctr"/>
            <a:endParaRPr lang="en-US" altLang="zh-CN" b="1">
              <a:solidFill>
                <a:srgbClr val="FF3300"/>
              </a:solidFill>
              <a:ea typeface="宋体" pitchFamily="2" charset="-122"/>
            </a:endParaRPr>
          </a:p>
          <a:p>
            <a:pPr algn="ctr"/>
            <a:endParaRPr lang="en-US" altLang="zh-CN" b="1">
              <a:solidFill>
                <a:srgbClr val="FF3300"/>
              </a:solidFill>
              <a:ea typeface="宋体" pitchFamily="2" charset="-122"/>
            </a:endParaRPr>
          </a:p>
          <a:p>
            <a:pPr algn="ctr"/>
            <a:r>
              <a:rPr lang="en-US" altLang="zh-CN" b="1">
                <a:solidFill>
                  <a:srgbClr val="FF3300"/>
                </a:solidFill>
                <a:ea typeface="宋体" pitchFamily="2" charset="-122"/>
              </a:rPr>
              <a:t> Principal</a:t>
            </a:r>
          </a:p>
        </p:txBody>
      </p:sp>
      <p:sp>
        <p:nvSpPr>
          <p:cNvPr id="11" name="Puzzle1"/>
          <p:cNvSpPr>
            <a:spLocks noEditPoints="1" noChangeArrowheads="1"/>
          </p:cNvSpPr>
          <p:nvPr/>
        </p:nvSpPr>
        <p:spPr bwMode="auto">
          <a:xfrm>
            <a:off x="4876800" y="2133600"/>
            <a:ext cx="2855913" cy="1665288"/>
          </a:xfrm>
          <a:custGeom>
            <a:avLst/>
            <a:gdLst>
              <a:gd name="T0" fmla="*/ 16740 w 21600"/>
              <a:gd name="T1" fmla="*/ 21078 h 21600"/>
              <a:gd name="T2" fmla="*/ 16976 w 21600"/>
              <a:gd name="T3" fmla="*/ 521 h 21600"/>
              <a:gd name="T4" fmla="*/ 4725 w 21600"/>
              <a:gd name="T5" fmla="*/ 856 h 21600"/>
              <a:gd name="T6" fmla="*/ 5040 w 21600"/>
              <a:gd name="T7" fmla="*/ 21004 h 21600"/>
              <a:gd name="T8" fmla="*/ 10811 w 21600"/>
              <a:gd name="T9" fmla="*/ 12885 h 21600"/>
              <a:gd name="T10" fmla="*/ 10845 w 21600"/>
              <a:gd name="T11" fmla="*/ 8714 h 21600"/>
              <a:gd name="T12" fmla="*/ 21600 w 21600"/>
              <a:gd name="T13" fmla="*/ 10000 h 21600"/>
              <a:gd name="T14" fmla="*/ 56 w 21600"/>
              <a:gd name="T15" fmla="*/ 10000 h 21600"/>
              <a:gd name="T16" fmla="*/ 6086 w 21600"/>
              <a:gd name="T17" fmla="*/ 2569 h 21600"/>
              <a:gd name="T18" fmla="*/ 16132 w 21600"/>
              <a:gd name="T19" fmla="*/ 1955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rgbClr val="C0C0C0">
              <a:alpha val="37000"/>
            </a:srgbClr>
          </a:solidFill>
          <a:ln w="28575">
            <a:noFill/>
            <a:miter lim="800000"/>
            <a:headEnd/>
            <a:tailEnd/>
          </a:ln>
        </p:spPr>
        <p:txBody>
          <a:bodyPr/>
          <a:lstStyle/>
          <a:p>
            <a:pPr algn="ctr"/>
            <a:endParaRPr lang="en-US" altLang="zh-CN" sz="3200" b="1">
              <a:solidFill>
                <a:srgbClr val="FF3300"/>
              </a:solidFill>
              <a:ea typeface="宋体" pitchFamily="2" charset="-122"/>
            </a:endParaRPr>
          </a:p>
        </p:txBody>
      </p:sp>
      <p:sp>
        <p:nvSpPr>
          <p:cNvPr id="12" name="Puzzle3"/>
          <p:cNvSpPr>
            <a:spLocks noEditPoints="1" noChangeArrowheads="1"/>
          </p:cNvSpPr>
          <p:nvPr/>
        </p:nvSpPr>
        <p:spPr bwMode="auto">
          <a:xfrm>
            <a:off x="304800" y="2514600"/>
            <a:ext cx="1766888" cy="2398713"/>
          </a:xfrm>
          <a:custGeom>
            <a:avLst/>
            <a:gdLst>
              <a:gd name="T0" fmla="*/ 10391 w 21600"/>
              <a:gd name="T1" fmla="*/ 15806 h 21600"/>
              <a:gd name="T2" fmla="*/ 20551 w 21600"/>
              <a:gd name="T3" fmla="*/ 21088 h 21600"/>
              <a:gd name="T4" fmla="*/ 13180 w 21600"/>
              <a:gd name="T5" fmla="*/ 13801 h 21600"/>
              <a:gd name="T6" fmla="*/ 20551 w 21600"/>
              <a:gd name="T7" fmla="*/ 7025 h 21600"/>
              <a:gd name="T8" fmla="*/ 10500 w 21600"/>
              <a:gd name="T9" fmla="*/ 52 h 21600"/>
              <a:gd name="T10" fmla="*/ 692 w 21600"/>
              <a:gd name="T11" fmla="*/ 6802 h 21600"/>
              <a:gd name="T12" fmla="*/ 8064 w 21600"/>
              <a:gd name="T13" fmla="*/ 13526 h 21600"/>
              <a:gd name="T14" fmla="*/ 692 w 21600"/>
              <a:gd name="T15" fmla="*/ 21088 h 21600"/>
              <a:gd name="T16" fmla="*/ 2273 w 21600"/>
              <a:gd name="T17" fmla="*/ 7719 h 21600"/>
              <a:gd name="T18" fmla="*/ 19149 w 21600"/>
              <a:gd name="T19" fmla="*/ 202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chemeClr val="folHlink">
              <a:alpha val="32001"/>
            </a:schemeClr>
          </a:solidFill>
          <a:ln w="28575">
            <a:noFill/>
            <a:miter lim="800000"/>
            <a:headEnd/>
            <a:tailEnd/>
          </a:ln>
        </p:spPr>
        <p:txBody>
          <a:bodyPr/>
          <a:lstStyle/>
          <a:p>
            <a:r>
              <a:rPr lang="en-US" altLang="zh-CN" b="1">
                <a:ea typeface="宋体" pitchFamily="2" charset="-122"/>
              </a:rPr>
              <a:t>Green’s Theorem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672" y="1196752"/>
            <a:ext cx="5832648" cy="584775"/>
          </a:xfrm>
          <a:prstGeom prst="rect">
            <a:avLst/>
          </a:prstGeom>
          <a:noFill/>
        </p:spPr>
        <p:txBody>
          <a:bodyPr wrap="square" rtlCol="0">
            <a:spAutoFit/>
          </a:bodyPr>
          <a:lstStyle/>
          <a:p>
            <a:pPr algn="ctr"/>
            <a:r>
              <a:rPr lang="en-US" altLang="zh-CN" sz="3200" dirty="0" smtClean="0"/>
              <a:t>Duality Theorem</a:t>
            </a:r>
            <a:endParaRPr lang="zh-CN" altLang="en-US" sz="3200" dirty="0" smtClean="0"/>
          </a:p>
        </p:txBody>
      </p:sp>
      <p:sp>
        <p:nvSpPr>
          <p:cNvPr id="3" name="矩形 2"/>
          <p:cNvSpPr/>
          <p:nvPr/>
        </p:nvSpPr>
        <p:spPr>
          <a:xfrm>
            <a:off x="323528" y="1700808"/>
            <a:ext cx="8640960" cy="1200329"/>
          </a:xfrm>
          <a:prstGeom prst="rect">
            <a:avLst/>
          </a:prstGeom>
        </p:spPr>
        <p:txBody>
          <a:bodyPr wrap="square">
            <a:spAutoFit/>
          </a:bodyPr>
          <a:lstStyle/>
          <a:p>
            <a:r>
              <a:rPr lang="en-US" altLang="zh-CN" dirty="0"/>
              <a:t>When two equations that describe the behavior of two different variables are of </a:t>
            </a:r>
            <a:r>
              <a:rPr lang="en-US" altLang="zh-CN" dirty="0" smtClean="0"/>
              <a:t>the same </a:t>
            </a:r>
            <a:r>
              <a:rPr lang="en-US" altLang="zh-CN" dirty="0"/>
              <a:t>mathematical form, their solutions will also be identical. The variables in the </a:t>
            </a:r>
            <a:r>
              <a:rPr lang="en-US" altLang="zh-CN" dirty="0" smtClean="0"/>
              <a:t>two equations </a:t>
            </a:r>
            <a:r>
              <a:rPr lang="en-US" altLang="zh-CN" dirty="0"/>
              <a:t>that occupy identical positions are known as </a:t>
            </a:r>
            <a:r>
              <a:rPr lang="en-US" altLang="zh-CN" dirty="0">
                <a:solidFill>
                  <a:srgbClr val="FF0000"/>
                </a:solidFill>
              </a:rPr>
              <a:t>dual quantities</a:t>
            </a:r>
            <a:r>
              <a:rPr lang="en-US" altLang="zh-CN" dirty="0"/>
              <a:t> and a </a:t>
            </a:r>
            <a:r>
              <a:rPr lang="en-US" altLang="zh-CN" dirty="0" smtClean="0"/>
              <a:t>solution of </a:t>
            </a:r>
            <a:r>
              <a:rPr lang="en-US" altLang="zh-CN" dirty="0"/>
              <a:t>one can be formed by a systematic interchange of symbols to the </a:t>
            </a:r>
            <a:r>
              <a:rPr lang="en-US" altLang="zh-CN" dirty="0" smtClean="0"/>
              <a:t>other.</a:t>
            </a:r>
            <a:endParaRPr lang="zh-CN" altLang="en-US" dirty="0"/>
          </a:p>
        </p:txBody>
      </p:sp>
      <p:graphicFrame>
        <p:nvGraphicFramePr>
          <p:cNvPr id="147460" name="Object 4"/>
          <p:cNvGraphicFramePr>
            <a:graphicFrameLocks noChangeAspect="1"/>
          </p:cNvGraphicFramePr>
          <p:nvPr/>
        </p:nvGraphicFramePr>
        <p:xfrm>
          <a:off x="899592" y="3937272"/>
          <a:ext cx="1770063" cy="304800"/>
        </p:xfrm>
        <a:graphic>
          <a:graphicData uri="http://schemas.openxmlformats.org/presentationml/2006/ole">
            <mc:AlternateContent xmlns:mc="http://schemas.openxmlformats.org/markup-compatibility/2006">
              <mc:Choice xmlns:v="urn:schemas-microsoft-com:vml" Requires="v">
                <p:oleObj spid="_x0000_s101402" name="Equation" r:id="rId3" imgW="1180800" imgH="203040" progId="Equation.DSMT4">
                  <p:embed/>
                </p:oleObj>
              </mc:Choice>
              <mc:Fallback>
                <p:oleObj name="Equation" r:id="rId3" imgW="1180800" imgH="20304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3937272"/>
                        <a:ext cx="1770063"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459" name="Object 3"/>
          <p:cNvGraphicFramePr>
            <a:graphicFrameLocks noChangeAspect="1"/>
          </p:cNvGraphicFramePr>
          <p:nvPr/>
        </p:nvGraphicFramePr>
        <p:xfrm>
          <a:off x="899592" y="4293096"/>
          <a:ext cx="1581150" cy="304800"/>
        </p:xfrm>
        <a:graphic>
          <a:graphicData uri="http://schemas.openxmlformats.org/presentationml/2006/ole">
            <mc:AlternateContent xmlns:mc="http://schemas.openxmlformats.org/markup-compatibility/2006">
              <mc:Choice xmlns:v="urn:schemas-microsoft-com:vml" Requires="v">
                <p:oleObj spid="_x0000_s101403" name="Equation" r:id="rId5" imgW="1054100" imgH="203200" progId="Equation.DSMT4">
                  <p:embed/>
                </p:oleObj>
              </mc:Choice>
              <mc:Fallback>
                <p:oleObj name="Equation" r:id="rId5" imgW="1054100" imgH="20320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4293096"/>
                        <a:ext cx="158115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458" name="Object 2"/>
          <p:cNvGraphicFramePr>
            <a:graphicFrameLocks noChangeAspect="1"/>
          </p:cNvGraphicFramePr>
          <p:nvPr/>
        </p:nvGraphicFramePr>
        <p:xfrm>
          <a:off x="899592" y="4704160"/>
          <a:ext cx="933450" cy="590550"/>
        </p:xfrm>
        <a:graphic>
          <a:graphicData uri="http://schemas.openxmlformats.org/presentationml/2006/ole">
            <mc:AlternateContent xmlns:mc="http://schemas.openxmlformats.org/markup-compatibility/2006">
              <mc:Choice xmlns:v="urn:schemas-microsoft-com:vml" Requires="v">
                <p:oleObj spid="_x0000_s101404" name="Equation" r:id="rId7" imgW="622080" imgH="393480" progId="Equation.DSMT4">
                  <p:embed/>
                </p:oleObj>
              </mc:Choice>
              <mc:Fallback>
                <p:oleObj name="Equation" r:id="rId7" imgW="622080" imgH="39348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9592" y="4704160"/>
                        <a:ext cx="933450"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457" name="Object 1"/>
          <p:cNvGraphicFramePr>
            <a:graphicFrameLocks noChangeAspect="1"/>
          </p:cNvGraphicFramePr>
          <p:nvPr/>
        </p:nvGraphicFramePr>
        <p:xfrm>
          <a:off x="899592" y="5331596"/>
          <a:ext cx="893762" cy="266700"/>
        </p:xfrm>
        <a:graphic>
          <a:graphicData uri="http://schemas.openxmlformats.org/presentationml/2006/ole">
            <mc:AlternateContent xmlns:mc="http://schemas.openxmlformats.org/markup-compatibility/2006">
              <mc:Choice xmlns:v="urn:schemas-microsoft-com:vml" Requires="v">
                <p:oleObj spid="_x0000_s101405" name="Equation" r:id="rId9" imgW="596880" imgH="177480" progId="Equation.DSMT4">
                  <p:embed/>
                </p:oleObj>
              </mc:Choice>
              <mc:Fallback>
                <p:oleObj name="Equation" r:id="rId9" imgW="596880" imgH="17748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9592" y="5331596"/>
                        <a:ext cx="893762"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7463" name="Rectangle 7"/>
          <p:cNvSpPr>
            <a:spLocks noChangeArrowheads="1"/>
          </p:cNvSpPr>
          <p:nvPr/>
        </p:nvSpPr>
        <p:spPr bwMode="auto">
          <a:xfrm>
            <a:off x="0" y="1314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7464" name="Rectangle 8"/>
          <p:cNvSpPr>
            <a:spLocks noChangeArrowheads="1"/>
          </p:cNvSpPr>
          <p:nvPr/>
        </p:nvSpPr>
        <p:spPr bwMode="auto">
          <a:xfrm>
            <a:off x="0" y="2162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7468" name="Object 12"/>
          <p:cNvGraphicFramePr>
            <a:graphicFrameLocks noChangeAspect="1"/>
          </p:cNvGraphicFramePr>
          <p:nvPr/>
        </p:nvGraphicFramePr>
        <p:xfrm>
          <a:off x="5937076" y="3937272"/>
          <a:ext cx="2019300" cy="304800"/>
        </p:xfrm>
        <a:graphic>
          <a:graphicData uri="http://schemas.openxmlformats.org/presentationml/2006/ole">
            <mc:AlternateContent xmlns:mc="http://schemas.openxmlformats.org/markup-compatibility/2006">
              <mc:Choice xmlns:v="urn:schemas-microsoft-com:vml" Requires="v">
                <p:oleObj spid="_x0000_s101406" name="Equation" r:id="rId11" imgW="1346200" imgH="203200" progId="Equation.DSMT4">
                  <p:embed/>
                </p:oleObj>
              </mc:Choice>
              <mc:Fallback>
                <p:oleObj name="Equation" r:id="rId11" imgW="1346200" imgH="203200" progId="Equation.DSMT4">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37076" y="3937272"/>
                        <a:ext cx="20193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467" name="Object 11"/>
          <p:cNvGraphicFramePr>
            <a:graphicFrameLocks noChangeAspect="1"/>
          </p:cNvGraphicFramePr>
          <p:nvPr/>
        </p:nvGraphicFramePr>
        <p:xfrm>
          <a:off x="5937076" y="4348336"/>
          <a:ext cx="1427163" cy="304800"/>
        </p:xfrm>
        <a:graphic>
          <a:graphicData uri="http://schemas.openxmlformats.org/presentationml/2006/ole">
            <mc:AlternateContent xmlns:mc="http://schemas.openxmlformats.org/markup-compatibility/2006">
              <mc:Choice xmlns:v="urn:schemas-microsoft-com:vml" Requires="v">
                <p:oleObj spid="_x0000_s101407" name="Equation" r:id="rId13" imgW="952087" imgH="203112" progId="Equation.DSMT4">
                  <p:embed/>
                </p:oleObj>
              </mc:Choice>
              <mc:Fallback>
                <p:oleObj name="Equation" r:id="rId13" imgW="952087" imgH="203112"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37076" y="4348336"/>
                        <a:ext cx="1427163"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466" name="Object 10"/>
          <p:cNvGraphicFramePr>
            <a:graphicFrameLocks noChangeAspect="1"/>
          </p:cNvGraphicFramePr>
          <p:nvPr/>
        </p:nvGraphicFramePr>
        <p:xfrm>
          <a:off x="5937076" y="4704160"/>
          <a:ext cx="1085850" cy="628650"/>
        </p:xfrm>
        <a:graphic>
          <a:graphicData uri="http://schemas.openxmlformats.org/presentationml/2006/ole">
            <mc:AlternateContent xmlns:mc="http://schemas.openxmlformats.org/markup-compatibility/2006">
              <mc:Choice xmlns:v="urn:schemas-microsoft-com:vml" Requires="v">
                <p:oleObj spid="_x0000_s101408" name="Equation" r:id="rId15" imgW="723600" imgH="419040" progId="Equation.DSMT4">
                  <p:embed/>
                </p:oleObj>
              </mc:Choice>
              <mc:Fallback>
                <p:oleObj name="Equation" r:id="rId15" imgW="723600" imgH="419040" progId="Equation.DSMT4">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37076" y="4704160"/>
                        <a:ext cx="1085850"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465" name="Object 9"/>
          <p:cNvGraphicFramePr>
            <a:graphicFrameLocks noChangeAspect="1"/>
          </p:cNvGraphicFramePr>
          <p:nvPr/>
        </p:nvGraphicFramePr>
        <p:xfrm>
          <a:off x="5937076" y="5331248"/>
          <a:ext cx="855663" cy="266700"/>
        </p:xfrm>
        <a:graphic>
          <a:graphicData uri="http://schemas.openxmlformats.org/presentationml/2006/ole">
            <mc:AlternateContent xmlns:mc="http://schemas.openxmlformats.org/markup-compatibility/2006">
              <mc:Choice xmlns:v="urn:schemas-microsoft-com:vml" Requires="v">
                <p:oleObj spid="_x0000_s101409" name="Equation" r:id="rId17" imgW="571320" imgH="177480" progId="Equation.DSMT4">
                  <p:embed/>
                </p:oleObj>
              </mc:Choice>
              <mc:Fallback>
                <p:oleObj name="Equation" r:id="rId17" imgW="571320" imgH="177480" progId="Equation.DSMT4">
                  <p:embed/>
                  <p:pic>
                    <p:nvPicPr>
                      <p:cNvPr id="0" name="Picture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937076" y="5331248"/>
                        <a:ext cx="855663"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7471" name="Rectangle 15"/>
          <p:cNvSpPr>
            <a:spLocks noChangeArrowheads="1"/>
          </p:cNvSpPr>
          <p:nvPr/>
        </p:nvSpPr>
        <p:spPr bwMode="auto">
          <a:xfrm>
            <a:off x="0" y="1314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7472" name="Rectangle 16"/>
          <p:cNvSpPr>
            <a:spLocks noChangeArrowheads="1"/>
          </p:cNvSpPr>
          <p:nvPr/>
        </p:nvSpPr>
        <p:spPr bwMode="auto">
          <a:xfrm>
            <a:off x="0" y="2190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TextBox 19"/>
          <p:cNvSpPr txBox="1"/>
          <p:nvPr/>
        </p:nvSpPr>
        <p:spPr>
          <a:xfrm>
            <a:off x="611560" y="3068960"/>
            <a:ext cx="2952328" cy="707886"/>
          </a:xfrm>
          <a:prstGeom prst="rect">
            <a:avLst/>
          </a:prstGeom>
          <a:noFill/>
        </p:spPr>
        <p:txBody>
          <a:bodyPr wrap="square" rtlCol="0">
            <a:spAutoFit/>
          </a:bodyPr>
          <a:lstStyle/>
          <a:p>
            <a:r>
              <a:rPr lang="en-US" altLang="zh-CN" sz="2000" dirty="0" smtClean="0">
                <a:latin typeface="Times New Roman" pitchFamily="18" charset="0"/>
                <a:cs typeface="Times New Roman" pitchFamily="18" charset="0"/>
              </a:rPr>
              <a:t>Electric current </a:t>
            </a:r>
            <a:r>
              <a:rPr lang="en-US" altLang="zh-CN" sz="2000" b="1" i="1" dirty="0" smtClean="0">
                <a:solidFill>
                  <a:srgbClr val="FF0000"/>
                </a:solidFill>
                <a:latin typeface="Times New Roman" pitchFamily="18" charset="0"/>
                <a:cs typeface="Times New Roman" pitchFamily="18" charset="0"/>
              </a:rPr>
              <a:t>J</a:t>
            </a:r>
            <a:r>
              <a:rPr lang="en-US" altLang="zh-CN" sz="2000" dirty="0" smtClean="0">
                <a:latin typeface="Times New Roman" pitchFamily="18" charset="0"/>
                <a:cs typeface="Times New Roman" pitchFamily="18" charset="0"/>
              </a:rPr>
              <a:t> and electric charge </a:t>
            </a:r>
            <a:r>
              <a:rPr lang="el-GR" altLang="zh-CN" sz="2000" i="1" dirty="0" smtClean="0">
                <a:solidFill>
                  <a:srgbClr val="FF0000"/>
                </a:solidFill>
                <a:latin typeface="Times New Roman" pitchFamily="18" charset="0"/>
                <a:cs typeface="Times New Roman" pitchFamily="18" charset="0"/>
              </a:rPr>
              <a:t>ρ</a:t>
            </a:r>
            <a:endParaRPr lang="zh-CN" altLang="en-US" sz="2000" i="1" dirty="0" smtClean="0">
              <a:solidFill>
                <a:srgbClr val="FF0000"/>
              </a:solidFill>
              <a:latin typeface="Times New Roman" pitchFamily="18" charset="0"/>
              <a:cs typeface="Times New Roman" pitchFamily="18" charset="0"/>
            </a:endParaRPr>
          </a:p>
        </p:txBody>
      </p:sp>
      <p:sp>
        <p:nvSpPr>
          <p:cNvPr id="21" name="TextBox 20"/>
          <p:cNvSpPr txBox="1"/>
          <p:nvPr/>
        </p:nvSpPr>
        <p:spPr>
          <a:xfrm>
            <a:off x="5508104" y="3081154"/>
            <a:ext cx="2952328" cy="707886"/>
          </a:xfrm>
          <a:prstGeom prst="rect">
            <a:avLst/>
          </a:prstGeom>
          <a:noFill/>
        </p:spPr>
        <p:txBody>
          <a:bodyPr wrap="square" rtlCol="0">
            <a:spAutoFit/>
          </a:bodyPr>
          <a:lstStyle/>
          <a:p>
            <a:r>
              <a:rPr lang="en-US" altLang="zh-CN" sz="2000" dirty="0" smtClean="0">
                <a:latin typeface="Times New Roman" pitchFamily="18" charset="0"/>
                <a:cs typeface="Times New Roman" pitchFamily="18" charset="0"/>
              </a:rPr>
              <a:t>Magnetic current </a:t>
            </a:r>
            <a:r>
              <a:rPr lang="en-US" altLang="zh-CN" sz="2000" b="1" i="1" dirty="0" smtClean="0">
                <a:solidFill>
                  <a:srgbClr val="FF0000"/>
                </a:solidFill>
                <a:latin typeface="Times New Roman" pitchFamily="18" charset="0"/>
                <a:cs typeface="Times New Roman" pitchFamily="18" charset="0"/>
              </a:rPr>
              <a:t>M</a:t>
            </a:r>
            <a:r>
              <a:rPr lang="en-US" altLang="zh-CN" sz="2000" dirty="0" smtClean="0">
                <a:solidFill>
                  <a:srgbClr val="FF0000"/>
                </a:solidFill>
                <a:latin typeface="Times New Roman" pitchFamily="18" charset="0"/>
                <a:cs typeface="Times New Roman" pitchFamily="18" charset="0"/>
              </a:rPr>
              <a:t> </a:t>
            </a:r>
            <a:r>
              <a:rPr lang="en-US" altLang="zh-CN" sz="2000" dirty="0" smtClean="0">
                <a:latin typeface="Times New Roman" pitchFamily="18" charset="0"/>
                <a:cs typeface="Times New Roman" pitchFamily="18" charset="0"/>
              </a:rPr>
              <a:t>and magnetic charge </a:t>
            </a:r>
            <a:r>
              <a:rPr lang="el-GR" altLang="zh-CN" sz="2000" i="1" dirty="0" smtClean="0">
                <a:solidFill>
                  <a:srgbClr val="FF0000"/>
                </a:solidFill>
                <a:latin typeface="Times New Roman" pitchFamily="18" charset="0"/>
                <a:cs typeface="Times New Roman" pitchFamily="18" charset="0"/>
              </a:rPr>
              <a:t>ρ</a:t>
            </a:r>
            <a:r>
              <a:rPr lang="en-US" altLang="zh-CN" sz="2000" i="1" baseline="-25000" dirty="0" smtClean="0">
                <a:solidFill>
                  <a:srgbClr val="FF0000"/>
                </a:solidFill>
                <a:latin typeface="Times New Roman" pitchFamily="18" charset="0"/>
                <a:cs typeface="Times New Roman" pitchFamily="18" charset="0"/>
              </a:rPr>
              <a:t>m</a:t>
            </a:r>
            <a:endParaRPr lang="zh-CN" altLang="en-US" sz="2000" i="1" baseline="-25000" dirty="0" smtClean="0">
              <a:solidFill>
                <a:srgbClr val="FF0000"/>
              </a:solidFill>
              <a:latin typeface="Times New Roman" pitchFamily="18" charset="0"/>
              <a:cs typeface="Times New Roman" pitchFamily="18" charset="0"/>
            </a:endParaRPr>
          </a:p>
        </p:txBody>
      </p:sp>
      <p:sp>
        <p:nvSpPr>
          <p:cNvPr id="23" name="上弧形箭头 22"/>
          <p:cNvSpPr/>
          <p:nvPr/>
        </p:nvSpPr>
        <p:spPr bwMode="auto">
          <a:xfrm>
            <a:off x="3203848" y="3717032"/>
            <a:ext cx="2232248" cy="648072"/>
          </a:xfrm>
          <a:prstGeom prst="curvedDownArrow">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47475" name="Picture 19"/>
          <p:cNvPicPr>
            <a:picLocks noChangeAspect="1" noChangeArrowheads="1"/>
          </p:cNvPicPr>
          <p:nvPr/>
        </p:nvPicPr>
        <p:blipFill>
          <a:blip r:embed="rId19" cstate="print"/>
          <a:srcRect/>
          <a:stretch>
            <a:fillRect/>
          </a:stretch>
        </p:blipFill>
        <p:spPr bwMode="auto">
          <a:xfrm>
            <a:off x="3779912" y="4077072"/>
            <a:ext cx="1205855" cy="1737850"/>
          </a:xfrm>
          <a:prstGeom prst="rect">
            <a:avLst/>
          </a:prstGeom>
          <a:noFill/>
          <a:ln w="9525">
            <a:noFill/>
            <a:miter lim="800000"/>
            <a:headEnd/>
            <a:tailEnd/>
          </a:ln>
        </p:spPr>
      </p:pic>
      <p:sp>
        <p:nvSpPr>
          <p:cNvPr id="26" name="矩形 25"/>
          <p:cNvSpPr/>
          <p:nvPr/>
        </p:nvSpPr>
        <p:spPr>
          <a:xfrm>
            <a:off x="251520" y="5879013"/>
            <a:ext cx="8424936" cy="646331"/>
          </a:xfrm>
          <a:prstGeom prst="rect">
            <a:avLst/>
          </a:prstGeom>
        </p:spPr>
        <p:txBody>
          <a:bodyPr wrap="square">
            <a:spAutoFit/>
          </a:bodyPr>
          <a:lstStyle/>
          <a:p>
            <a:pPr algn="just"/>
            <a:r>
              <a:rPr lang="en-US" altLang="zh-CN" dirty="0"/>
              <a:t>It must, however, be emphasized that this is purely </a:t>
            </a:r>
            <a:r>
              <a:rPr lang="en-US" altLang="zh-CN" dirty="0" smtClean="0"/>
              <a:t>mathematical, since </a:t>
            </a:r>
            <a:r>
              <a:rPr lang="en-US" altLang="zh-CN" dirty="0"/>
              <a:t>it is known, as of today, that there are no magnetic charges or currents in nature</a:t>
            </a:r>
            <a:endParaRPr lang="zh-CN" altLang="en-US" dirty="0"/>
          </a:p>
        </p:txBody>
      </p:sp>
      <p:pic>
        <p:nvPicPr>
          <p:cNvPr id="25" name="Picture 3"/>
          <p:cNvPicPr>
            <a:picLocks noChangeAspect="1" noChangeArrowheads="1"/>
          </p:cNvPicPr>
          <p:nvPr/>
        </p:nvPicPr>
        <p:blipFill>
          <a:blip r:embed="rId20" cstate="print"/>
          <a:srcRect/>
          <a:stretch>
            <a:fillRect/>
          </a:stretch>
        </p:blipFill>
        <p:spPr bwMode="auto">
          <a:xfrm>
            <a:off x="1" y="0"/>
            <a:ext cx="9144000" cy="100012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Left)">
                                      <p:cBhvr>
                                        <p:cTn id="7" dur="2000"/>
                                        <p:tgtEl>
                                          <p:spTgt spid="23"/>
                                        </p:tgtEl>
                                      </p:cBhvr>
                                    </p:animEffect>
                                  </p:childTnLst>
                                </p:cTn>
                              </p:par>
                            </p:childTnLst>
                          </p:cTn>
                        </p:par>
                        <p:par>
                          <p:cTn id="8" fill="hold">
                            <p:stCondLst>
                              <p:cond delay="2000"/>
                            </p:stCondLst>
                            <p:childTnLst>
                              <p:par>
                                <p:cTn id="9" presetID="12" presetClass="entr" presetSubtype="8" fill="hold" nodeType="afterEffect">
                                  <p:stCondLst>
                                    <p:cond delay="0"/>
                                  </p:stCondLst>
                                  <p:childTnLst>
                                    <p:set>
                                      <p:cBhvr>
                                        <p:cTn id="10" dur="1" fill="hold">
                                          <p:stCondLst>
                                            <p:cond delay="0"/>
                                          </p:stCondLst>
                                        </p:cTn>
                                        <p:tgtEl>
                                          <p:spTgt spid="147475"/>
                                        </p:tgtEl>
                                        <p:attrNameLst>
                                          <p:attrName>style.visibility</p:attrName>
                                        </p:attrNameLst>
                                      </p:cBhvr>
                                      <p:to>
                                        <p:strVal val="visible"/>
                                      </p:to>
                                    </p:set>
                                    <p:animEffect transition="in" filter="slide(fromLeft)">
                                      <p:cBhvr>
                                        <p:cTn id="11" dur="500"/>
                                        <p:tgtEl>
                                          <p:spTgt spid="147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箭头连接符 6"/>
          <p:cNvCxnSpPr/>
          <p:nvPr/>
        </p:nvCxnSpPr>
        <p:spPr>
          <a:xfrm flipV="1">
            <a:off x="2843808" y="2996952"/>
            <a:ext cx="2088232" cy="648072"/>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cxnSp>
        <p:nvCxnSpPr>
          <p:cNvPr id="8" name="直接箭头连接符 7"/>
          <p:cNvCxnSpPr/>
          <p:nvPr/>
        </p:nvCxnSpPr>
        <p:spPr>
          <a:xfrm>
            <a:off x="2771800" y="4725144"/>
            <a:ext cx="2304256" cy="792088"/>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pic>
        <p:nvPicPr>
          <p:cNvPr id="2" name="Picture 3"/>
          <p:cNvPicPr>
            <a:picLocks noChangeAspect="1" noChangeArrowheads="1"/>
          </p:cNvPicPr>
          <p:nvPr/>
        </p:nvPicPr>
        <p:blipFill>
          <a:blip r:embed="rId2" cstate="print"/>
          <a:srcRect/>
          <a:stretch>
            <a:fillRect/>
          </a:stretch>
        </p:blipFill>
        <p:spPr bwMode="auto">
          <a:xfrm>
            <a:off x="1" y="0"/>
            <a:ext cx="9144000" cy="1000125"/>
          </a:xfrm>
          <a:prstGeom prst="rect">
            <a:avLst/>
          </a:prstGeom>
          <a:noFill/>
          <a:ln w="9525">
            <a:noFill/>
            <a:miter lim="800000"/>
            <a:headEnd/>
            <a:tailEnd/>
          </a:ln>
          <a:effectLst/>
        </p:spPr>
      </p:pic>
      <p:sp>
        <p:nvSpPr>
          <p:cNvPr id="3" name="TextBox 2"/>
          <p:cNvSpPr txBox="1"/>
          <p:nvPr/>
        </p:nvSpPr>
        <p:spPr>
          <a:xfrm>
            <a:off x="1619672" y="1268760"/>
            <a:ext cx="5688632" cy="584775"/>
          </a:xfrm>
          <a:prstGeom prst="rect">
            <a:avLst/>
          </a:prstGeom>
          <a:noFill/>
        </p:spPr>
        <p:txBody>
          <a:bodyPr wrap="square" rtlCol="0">
            <a:spAutoFit/>
          </a:bodyPr>
          <a:lstStyle/>
          <a:p>
            <a:pPr algn="ctr"/>
            <a:r>
              <a:rPr lang="en-US" altLang="zh-CN" sz="3200" dirty="0" smtClean="0"/>
              <a:t>Examples of Duality Theorem</a:t>
            </a:r>
            <a:endParaRPr lang="zh-CN" altLang="en-US" sz="3200" dirty="0"/>
          </a:p>
        </p:txBody>
      </p:sp>
      <p:pic>
        <p:nvPicPr>
          <p:cNvPr id="102402"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907704" y="1945516"/>
            <a:ext cx="5267346" cy="4651836"/>
          </a:xfrm>
          <a:prstGeom prst="rect">
            <a:avLst/>
          </a:prstGeom>
          <a:noFill/>
          <a:ln w="9525">
            <a:noFill/>
            <a:miter lim="800000"/>
            <a:headEnd/>
            <a:tailEnd/>
          </a:ln>
        </p:spPr>
      </p:pic>
      <p:pic>
        <p:nvPicPr>
          <p:cNvPr id="5" name="Picture 19"/>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491880" y="3501008"/>
            <a:ext cx="1205855" cy="1737850"/>
          </a:xfrm>
          <a:prstGeom prst="rect">
            <a:avLst/>
          </a:prstGeom>
          <a:noFill/>
          <a:ln w="9525">
            <a:noFill/>
            <a:miter lim="800000"/>
            <a:headEnd/>
            <a:tailEnd/>
          </a:ln>
        </p:spPr>
      </p:pic>
      <p:sp>
        <p:nvSpPr>
          <p:cNvPr id="10" name="TextBox 9"/>
          <p:cNvSpPr txBox="1"/>
          <p:nvPr/>
        </p:nvSpPr>
        <p:spPr>
          <a:xfrm>
            <a:off x="1097390" y="5651956"/>
            <a:ext cx="3186578" cy="369332"/>
          </a:xfrm>
          <a:prstGeom prst="rect">
            <a:avLst/>
          </a:prstGeom>
          <a:noFill/>
        </p:spPr>
        <p:txBody>
          <a:bodyPr wrap="none" rtlCol="0">
            <a:spAutoFit/>
          </a:bodyPr>
          <a:lstStyle/>
          <a:p>
            <a:r>
              <a:rPr lang="en-US" altLang="zh-CN" dirty="0" smtClean="0"/>
              <a:t>Radiated E &amp; H fields are known</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9" name="Rectangle 1"/>
          <p:cNvSpPr>
            <a:spLocks noChangeArrowheads="1"/>
          </p:cNvSpPr>
          <p:nvPr/>
        </p:nvSpPr>
        <p:spPr bwMode="auto">
          <a:xfrm>
            <a:off x="2123728" y="2965218"/>
            <a:ext cx="3786214" cy="7078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000" i="0" u="none" strike="noStrike" cap="none" normalizeH="0" baseline="0" dirty="0" smtClean="0">
                <a:ln>
                  <a:noFill/>
                </a:ln>
                <a:effectLst/>
                <a:latin typeface="+mj-lt"/>
                <a:ea typeface="微软雅黑" pitchFamily="34" charset="-122"/>
                <a:cs typeface="Times New Roman" pitchFamily="18" charset="0"/>
              </a:rPr>
              <a:t>Reciprocity</a:t>
            </a:r>
            <a:endParaRPr kumimoji="0" lang="en-US" altLang="zh-CN" sz="4000" i="0" u="none" strike="noStrike" cap="none" normalizeH="0" baseline="0" dirty="0" smtClean="0">
              <a:ln>
                <a:noFill/>
              </a:ln>
              <a:effectLst/>
              <a:latin typeface="+mj-lt"/>
              <a:ea typeface="宋体" pitchFamily="2" charset="-122"/>
              <a:cs typeface="宋体" pitchFamily="2" charset="-122"/>
            </a:endParaRPr>
          </a:p>
        </p:txBody>
      </p:sp>
      <p:pic>
        <p:nvPicPr>
          <p:cNvPr id="3" name="Picture 3"/>
          <p:cNvPicPr>
            <a:picLocks noChangeAspect="1" noChangeArrowheads="1"/>
          </p:cNvPicPr>
          <p:nvPr/>
        </p:nvPicPr>
        <p:blipFill>
          <a:blip r:embed="rId2" cstate="print"/>
          <a:srcRect/>
          <a:stretch>
            <a:fillRect/>
          </a:stretch>
        </p:blipFill>
        <p:spPr bwMode="auto">
          <a:xfrm>
            <a:off x="1" y="0"/>
            <a:ext cx="9144000" cy="1000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4"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pic>
        <p:nvPicPr>
          <p:cNvPr id="6148" name="Picture 4"/>
          <p:cNvPicPr>
            <a:picLocks noChangeAspect="1" noChangeArrowheads="1"/>
          </p:cNvPicPr>
          <p:nvPr/>
        </p:nvPicPr>
        <p:blipFill>
          <a:blip r:embed="rId4" cstate="print"/>
          <a:srcRect/>
          <a:stretch>
            <a:fillRect/>
          </a:stretch>
        </p:blipFill>
        <p:spPr bwMode="auto">
          <a:xfrm>
            <a:off x="827584" y="2492896"/>
            <a:ext cx="3095497" cy="1296144"/>
          </a:xfrm>
          <a:prstGeom prst="rect">
            <a:avLst/>
          </a:prstGeom>
          <a:noFill/>
          <a:ln w="9525">
            <a:noFill/>
            <a:miter lim="800000"/>
            <a:headEnd/>
            <a:tailEnd/>
          </a:ln>
        </p:spPr>
      </p:pic>
      <p:pic>
        <p:nvPicPr>
          <p:cNvPr id="6149" name="Picture 5"/>
          <p:cNvPicPr>
            <a:picLocks noChangeAspect="1" noChangeArrowheads="1"/>
          </p:cNvPicPr>
          <p:nvPr/>
        </p:nvPicPr>
        <p:blipFill>
          <a:blip r:embed="rId5" cstate="print"/>
          <a:srcRect/>
          <a:stretch>
            <a:fillRect/>
          </a:stretch>
        </p:blipFill>
        <p:spPr bwMode="auto">
          <a:xfrm>
            <a:off x="4788024" y="2420888"/>
            <a:ext cx="3331853" cy="1368152"/>
          </a:xfrm>
          <a:prstGeom prst="rect">
            <a:avLst/>
          </a:prstGeom>
          <a:noFill/>
          <a:ln w="9525">
            <a:noFill/>
            <a:miter lim="800000"/>
            <a:headEnd/>
            <a:tailEnd/>
          </a:ln>
        </p:spPr>
      </p:pic>
      <p:sp>
        <p:nvSpPr>
          <p:cNvPr id="9" name="TextBox 8"/>
          <p:cNvSpPr txBox="1"/>
          <p:nvPr/>
        </p:nvSpPr>
        <p:spPr>
          <a:xfrm>
            <a:off x="1619672" y="1412776"/>
            <a:ext cx="5400600" cy="461665"/>
          </a:xfrm>
          <a:prstGeom prst="rect">
            <a:avLst/>
          </a:prstGeom>
          <a:noFill/>
        </p:spPr>
        <p:txBody>
          <a:bodyPr wrap="square" rtlCol="0">
            <a:spAutoFit/>
          </a:bodyPr>
          <a:lstStyle/>
          <a:p>
            <a:pPr algn="ctr"/>
            <a:r>
              <a:rPr lang="en-US" altLang="zh-CN" sz="2400" dirty="0" smtClean="0"/>
              <a:t>Reciprocity Theorems in Circuits</a:t>
            </a:r>
            <a:endParaRPr lang="zh-CN" altLang="en-US" sz="2400" dirty="0"/>
          </a:p>
        </p:txBody>
      </p:sp>
      <p:sp>
        <p:nvSpPr>
          <p:cNvPr id="10" name="TextBox 9"/>
          <p:cNvSpPr txBox="1"/>
          <p:nvPr/>
        </p:nvSpPr>
        <p:spPr>
          <a:xfrm>
            <a:off x="3347864" y="4437112"/>
            <a:ext cx="1800200" cy="461665"/>
          </a:xfrm>
          <a:prstGeom prst="rect">
            <a:avLst/>
          </a:prstGeom>
          <a:noFill/>
        </p:spPr>
        <p:txBody>
          <a:bodyPr wrap="square" rtlCol="0">
            <a:spAutoFit/>
          </a:bodyPr>
          <a:lstStyle/>
          <a:p>
            <a:pPr algn="ctr"/>
            <a:r>
              <a:rPr lang="en-US" altLang="zh-CN" sz="2400" i="1" dirty="0" smtClean="0">
                <a:latin typeface="Times New Roman" pitchFamily="18" charset="0"/>
                <a:cs typeface="Times New Roman" pitchFamily="18" charset="0"/>
              </a:rPr>
              <a:t>I</a:t>
            </a:r>
            <a:r>
              <a:rPr lang="en-US" altLang="zh-CN" sz="2400" baseline="-25000" dirty="0" smtClean="0">
                <a:latin typeface="Times New Roman" pitchFamily="18" charset="0"/>
                <a:cs typeface="Times New Roman" pitchFamily="18" charset="0"/>
              </a:rPr>
              <a:t>2 </a:t>
            </a:r>
            <a:r>
              <a:rPr lang="en-US" altLang="zh-CN" sz="2400" i="1" dirty="0" smtClean="0">
                <a:latin typeface="Times New Roman" pitchFamily="18" charset="0"/>
                <a:cs typeface="Times New Roman" pitchFamily="18" charset="0"/>
              </a:rPr>
              <a:t>V</a:t>
            </a:r>
            <a:r>
              <a:rPr lang="en-US" altLang="zh-CN" sz="2400" baseline="-25000" dirty="0" smtClean="0">
                <a:latin typeface="Times New Roman" pitchFamily="18" charset="0"/>
                <a:cs typeface="Times New Roman" pitchFamily="18" charset="0"/>
              </a:rPr>
              <a:t>1</a:t>
            </a:r>
            <a:r>
              <a:rPr lang="en-US" altLang="zh-CN" sz="2400" dirty="0" smtClean="0">
                <a:latin typeface="Times New Roman" pitchFamily="18" charset="0"/>
                <a:cs typeface="Times New Roman" pitchFamily="18" charset="0"/>
              </a:rPr>
              <a:t>=</a:t>
            </a:r>
            <a:r>
              <a:rPr lang="en-US" altLang="zh-CN" sz="2400" i="1" dirty="0" smtClean="0">
                <a:latin typeface="Times New Roman" pitchFamily="18" charset="0"/>
                <a:cs typeface="Times New Roman" pitchFamily="18" charset="0"/>
              </a:rPr>
              <a:t> I</a:t>
            </a:r>
            <a:r>
              <a:rPr lang="en-US" altLang="zh-CN" sz="2400" baseline="-25000" dirty="0" smtClean="0">
                <a:latin typeface="Times New Roman" pitchFamily="18" charset="0"/>
                <a:cs typeface="Times New Roman" pitchFamily="18" charset="0"/>
              </a:rPr>
              <a:t>1 </a:t>
            </a:r>
            <a:r>
              <a:rPr lang="en-US" altLang="zh-CN" sz="2400" i="1" dirty="0" smtClean="0">
                <a:latin typeface="Times New Roman" pitchFamily="18" charset="0"/>
                <a:cs typeface="Times New Roman" pitchFamily="18" charset="0"/>
              </a:rPr>
              <a:t>V</a:t>
            </a:r>
            <a:r>
              <a:rPr lang="en-US" altLang="zh-CN" sz="2400" baseline="-25000" dirty="0" smtClean="0">
                <a:latin typeface="Times New Roman" pitchFamily="18" charset="0"/>
                <a:cs typeface="Times New Roman" pitchFamily="18" charset="0"/>
              </a:rPr>
              <a:t>2</a:t>
            </a:r>
          </a:p>
        </p:txBody>
      </p:sp>
      <p:sp>
        <p:nvSpPr>
          <p:cNvPr id="15" name="TextBox 14"/>
          <p:cNvSpPr txBox="1"/>
          <p:nvPr/>
        </p:nvSpPr>
        <p:spPr>
          <a:xfrm>
            <a:off x="2915816" y="4077072"/>
            <a:ext cx="2880320" cy="461665"/>
          </a:xfrm>
          <a:prstGeom prst="rect">
            <a:avLst/>
          </a:prstGeom>
          <a:noFill/>
        </p:spPr>
        <p:txBody>
          <a:bodyPr wrap="square" rtlCol="0">
            <a:spAutoFit/>
          </a:bodyPr>
          <a:lstStyle/>
          <a:p>
            <a:r>
              <a:rPr lang="en-US" altLang="zh-CN" sz="2400" dirty="0" smtClean="0"/>
              <a:t>Reciprocity means </a:t>
            </a:r>
            <a:endParaRPr lang="zh-CN" altLang="en-US" sz="2400" dirty="0"/>
          </a:p>
        </p:txBody>
      </p:sp>
      <p:grpSp>
        <p:nvGrpSpPr>
          <p:cNvPr id="29" name="组合 28"/>
          <p:cNvGrpSpPr/>
          <p:nvPr/>
        </p:nvGrpSpPr>
        <p:grpSpPr>
          <a:xfrm>
            <a:off x="1403648" y="4077072"/>
            <a:ext cx="5947938" cy="1474713"/>
            <a:chOff x="1403648" y="4077072"/>
            <a:chExt cx="5947938" cy="1474713"/>
          </a:xfrm>
        </p:grpSpPr>
        <p:graphicFrame>
          <p:nvGraphicFramePr>
            <p:cNvPr id="12" name="对象 11"/>
            <p:cNvGraphicFramePr>
              <a:graphicFrameLocks noChangeAspect="1"/>
            </p:cNvGraphicFramePr>
            <p:nvPr/>
          </p:nvGraphicFramePr>
          <p:xfrm>
            <a:off x="5364088" y="4797152"/>
            <a:ext cx="1987498" cy="682575"/>
          </p:xfrm>
          <a:graphic>
            <a:graphicData uri="http://schemas.openxmlformats.org/presentationml/2006/ole">
              <mc:AlternateContent xmlns:mc="http://schemas.openxmlformats.org/markup-compatibility/2006">
                <mc:Choice xmlns:v="urn:schemas-microsoft-com:vml" Requires="v">
                  <p:oleObj spid="_x0000_s6156" name="Equation" r:id="rId6" imgW="1257120" imgH="431640" progId="Equation.DSMT4">
                    <p:embed/>
                  </p:oleObj>
                </mc:Choice>
                <mc:Fallback>
                  <p:oleObj name="Equation" r:id="rId6" imgW="1257120" imgH="431640" progId="Equation.DSMT4">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4088" y="4797152"/>
                          <a:ext cx="1987498" cy="682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51" name="Object 7"/>
            <p:cNvGraphicFramePr>
              <a:graphicFrameLocks noChangeAspect="1"/>
            </p:cNvGraphicFramePr>
            <p:nvPr/>
          </p:nvGraphicFramePr>
          <p:xfrm>
            <a:off x="1403648" y="4869160"/>
            <a:ext cx="2008187" cy="682625"/>
          </p:xfrm>
          <a:graphic>
            <a:graphicData uri="http://schemas.openxmlformats.org/presentationml/2006/ole">
              <mc:AlternateContent xmlns:mc="http://schemas.openxmlformats.org/markup-compatibility/2006">
                <mc:Choice xmlns:v="urn:schemas-microsoft-com:vml" Requires="v">
                  <p:oleObj spid="_x0000_s6157" name="Equation" r:id="rId8" imgW="1269720" imgH="431640" progId="Equation.DSMT4">
                    <p:embed/>
                  </p:oleObj>
                </mc:Choice>
                <mc:Fallback>
                  <p:oleObj name="Equation" r:id="rId8" imgW="1269720" imgH="431640" progId="Equation.DSMT4">
                    <p:embed/>
                    <p:pic>
                      <p:nvPicPr>
                        <p:cNvPr id="0"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3648" y="4869160"/>
                          <a:ext cx="2008187" cy="68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7" name="直接箭头连接符 16"/>
            <p:cNvCxnSpPr/>
            <p:nvPr/>
          </p:nvCxnSpPr>
          <p:spPr>
            <a:xfrm>
              <a:off x="2339752" y="4149080"/>
              <a:ext cx="0" cy="64807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8" name="直接箭头连接符 17"/>
            <p:cNvCxnSpPr/>
            <p:nvPr/>
          </p:nvCxnSpPr>
          <p:spPr>
            <a:xfrm>
              <a:off x="6444208" y="4077072"/>
              <a:ext cx="0" cy="64807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grpSp>
      <p:grpSp>
        <p:nvGrpSpPr>
          <p:cNvPr id="30" name="组合 29"/>
          <p:cNvGrpSpPr/>
          <p:nvPr/>
        </p:nvGrpSpPr>
        <p:grpSpPr>
          <a:xfrm>
            <a:off x="2699792" y="4941168"/>
            <a:ext cx="3672408" cy="1541785"/>
            <a:chOff x="2699792" y="4941168"/>
            <a:chExt cx="3672408" cy="1541785"/>
          </a:xfrm>
        </p:grpSpPr>
        <p:sp>
          <p:nvSpPr>
            <p:cNvPr id="14" name="TextBox 13"/>
            <p:cNvSpPr txBox="1"/>
            <p:nvPr/>
          </p:nvSpPr>
          <p:spPr>
            <a:xfrm>
              <a:off x="3419872" y="6021288"/>
              <a:ext cx="1800200" cy="461665"/>
            </a:xfrm>
            <a:prstGeom prst="rect">
              <a:avLst/>
            </a:prstGeom>
            <a:noFill/>
          </p:spPr>
          <p:txBody>
            <a:bodyPr wrap="square" rtlCol="0">
              <a:spAutoFit/>
            </a:bodyPr>
            <a:lstStyle/>
            <a:p>
              <a:pPr algn="ctr"/>
              <a:r>
                <a:rPr lang="en-US" altLang="zh-CN" sz="2400" i="1" dirty="0" smtClean="0">
                  <a:latin typeface="Times New Roman" pitchFamily="18" charset="0"/>
                  <a:cs typeface="Times New Roman" pitchFamily="18" charset="0"/>
                </a:rPr>
                <a:t>Z</a:t>
              </a:r>
              <a:r>
                <a:rPr lang="en-US" altLang="zh-CN" sz="2400" baseline="-25000" dirty="0" smtClean="0">
                  <a:latin typeface="Times New Roman" pitchFamily="18" charset="0"/>
                  <a:cs typeface="Times New Roman" pitchFamily="18" charset="0"/>
                </a:rPr>
                <a:t>12</a:t>
              </a:r>
              <a:r>
                <a:rPr lang="en-US" altLang="zh-CN" sz="2400" dirty="0" smtClean="0">
                  <a:latin typeface="Times New Roman" pitchFamily="18" charset="0"/>
                  <a:cs typeface="Times New Roman" pitchFamily="18" charset="0"/>
                </a:rPr>
                <a:t>=</a:t>
              </a:r>
              <a:r>
                <a:rPr lang="en-US" altLang="zh-CN" sz="2400" i="1" dirty="0" smtClean="0">
                  <a:latin typeface="Times New Roman" pitchFamily="18" charset="0"/>
                  <a:cs typeface="Times New Roman" pitchFamily="18" charset="0"/>
                </a:rPr>
                <a:t> Z</a:t>
              </a:r>
              <a:r>
                <a:rPr lang="en-US" altLang="zh-CN" sz="2400" baseline="-25000" dirty="0" smtClean="0">
                  <a:latin typeface="Times New Roman" pitchFamily="18" charset="0"/>
                  <a:cs typeface="Times New Roman" pitchFamily="18" charset="0"/>
                </a:rPr>
                <a:t>21</a:t>
              </a:r>
              <a:endParaRPr lang="zh-CN" altLang="en-US" sz="2400" dirty="0">
                <a:latin typeface="Times New Roman" pitchFamily="18" charset="0"/>
                <a:cs typeface="Times New Roman" pitchFamily="18" charset="0"/>
              </a:endParaRPr>
            </a:p>
          </p:txBody>
        </p:sp>
        <p:cxnSp>
          <p:nvCxnSpPr>
            <p:cNvPr id="19" name="直接箭头连接符 18"/>
            <p:cNvCxnSpPr>
              <a:endCxn id="14" idx="1"/>
            </p:cNvCxnSpPr>
            <p:nvPr/>
          </p:nvCxnSpPr>
          <p:spPr>
            <a:xfrm>
              <a:off x="2699792" y="5517232"/>
              <a:ext cx="720080" cy="734889"/>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1" name="直接箭头连接符 20"/>
            <p:cNvCxnSpPr>
              <a:endCxn id="14" idx="3"/>
            </p:cNvCxnSpPr>
            <p:nvPr/>
          </p:nvCxnSpPr>
          <p:spPr>
            <a:xfrm flipH="1">
              <a:off x="5220072" y="5589240"/>
              <a:ext cx="1152128" cy="662881"/>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5" name="直接箭头连接符 24"/>
            <p:cNvCxnSpPr>
              <a:endCxn id="14" idx="0"/>
            </p:cNvCxnSpPr>
            <p:nvPr/>
          </p:nvCxnSpPr>
          <p:spPr>
            <a:xfrm>
              <a:off x="4283968" y="4941168"/>
              <a:ext cx="36004" cy="108012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grpSp>
      <p:sp>
        <p:nvSpPr>
          <p:cNvPr id="20" name="TextBox 19"/>
          <p:cNvSpPr txBox="1"/>
          <p:nvPr/>
        </p:nvSpPr>
        <p:spPr>
          <a:xfrm>
            <a:off x="728144" y="2420888"/>
            <a:ext cx="747512" cy="369332"/>
          </a:xfrm>
          <a:prstGeom prst="rect">
            <a:avLst/>
          </a:prstGeom>
          <a:noFill/>
        </p:spPr>
        <p:txBody>
          <a:bodyPr wrap="none" rtlCol="0">
            <a:spAutoFit/>
          </a:bodyPr>
          <a:lstStyle/>
          <a:p>
            <a:r>
              <a:rPr lang="en-US" altLang="zh-CN" dirty="0" smtClean="0"/>
              <a:t>Port 1</a:t>
            </a:r>
            <a:endParaRPr lang="zh-CN" altLang="en-US" dirty="0"/>
          </a:p>
        </p:txBody>
      </p:sp>
      <p:sp>
        <p:nvSpPr>
          <p:cNvPr id="22" name="TextBox 21"/>
          <p:cNvSpPr txBox="1"/>
          <p:nvPr/>
        </p:nvSpPr>
        <p:spPr>
          <a:xfrm>
            <a:off x="3320432" y="2420888"/>
            <a:ext cx="747512" cy="369332"/>
          </a:xfrm>
          <a:prstGeom prst="rect">
            <a:avLst/>
          </a:prstGeom>
          <a:noFill/>
        </p:spPr>
        <p:txBody>
          <a:bodyPr wrap="none" rtlCol="0">
            <a:spAutoFit/>
          </a:bodyPr>
          <a:lstStyle/>
          <a:p>
            <a:r>
              <a:rPr lang="en-US" altLang="zh-CN" dirty="0" smtClean="0"/>
              <a:t>Port 2</a:t>
            </a:r>
            <a:endParaRPr lang="zh-CN" altLang="en-US" dirty="0"/>
          </a:p>
        </p:txBody>
      </p:sp>
      <p:sp>
        <p:nvSpPr>
          <p:cNvPr id="23" name="TextBox 22"/>
          <p:cNvSpPr txBox="1"/>
          <p:nvPr/>
        </p:nvSpPr>
        <p:spPr>
          <a:xfrm>
            <a:off x="4832600" y="2348880"/>
            <a:ext cx="747512" cy="369332"/>
          </a:xfrm>
          <a:prstGeom prst="rect">
            <a:avLst/>
          </a:prstGeom>
          <a:noFill/>
        </p:spPr>
        <p:txBody>
          <a:bodyPr wrap="none" rtlCol="0">
            <a:spAutoFit/>
          </a:bodyPr>
          <a:lstStyle/>
          <a:p>
            <a:r>
              <a:rPr lang="en-US" altLang="zh-CN" dirty="0" smtClean="0"/>
              <a:t>Port 1</a:t>
            </a:r>
            <a:endParaRPr lang="zh-CN" altLang="en-US" dirty="0"/>
          </a:p>
        </p:txBody>
      </p:sp>
      <p:sp>
        <p:nvSpPr>
          <p:cNvPr id="24" name="TextBox 23"/>
          <p:cNvSpPr txBox="1"/>
          <p:nvPr/>
        </p:nvSpPr>
        <p:spPr>
          <a:xfrm>
            <a:off x="7424888" y="2348880"/>
            <a:ext cx="747512" cy="369332"/>
          </a:xfrm>
          <a:prstGeom prst="rect">
            <a:avLst/>
          </a:prstGeom>
          <a:noFill/>
        </p:spPr>
        <p:txBody>
          <a:bodyPr wrap="none" rtlCol="0">
            <a:spAutoFit/>
          </a:bodyPr>
          <a:lstStyle/>
          <a:p>
            <a:r>
              <a:rPr lang="en-US" altLang="zh-CN" dirty="0" smtClean="0"/>
              <a:t>Port 2</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edge">
                                      <p:cBhvr>
                                        <p:cTn id="7" dur="20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edge">
                                      <p:cBhvr>
                                        <p:cTn id="12"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1" name="Rectangle 1"/>
          <p:cNvSpPr>
            <a:spLocks noChangeArrowheads="1"/>
          </p:cNvSpPr>
          <p:nvPr/>
        </p:nvSpPr>
        <p:spPr bwMode="auto">
          <a:xfrm>
            <a:off x="857224" y="2178835"/>
            <a:ext cx="7286676"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Transmitting &amp; receiving patterns are reciprocal provided the medium of wave propagation is linear.</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A. We usually analyze patterns in the transmitting mode</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B. We usually measure patterns in the receiving mode</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3" name="Picture 3"/>
          <p:cNvPicPr>
            <a:picLocks noChangeAspect="1" noChangeArrowheads="1"/>
          </p:cNvPicPr>
          <p:nvPr/>
        </p:nvPicPr>
        <p:blipFill>
          <a:blip r:embed="rId2" cstate="print"/>
          <a:srcRect/>
          <a:stretch>
            <a:fillRect/>
          </a:stretch>
        </p:blipFill>
        <p:spPr bwMode="auto">
          <a:xfrm>
            <a:off x="1" y="0"/>
            <a:ext cx="9144000" cy="1000125"/>
          </a:xfrm>
          <a:prstGeom prst="rect">
            <a:avLst/>
          </a:prstGeom>
          <a:noFill/>
          <a:ln w="9525">
            <a:noFill/>
            <a:miter lim="800000"/>
            <a:headEnd/>
            <a:tailEnd/>
          </a:ln>
          <a:effectLst/>
        </p:spPr>
      </p:pic>
      <p:sp>
        <p:nvSpPr>
          <p:cNvPr id="4" name="TextBox 3"/>
          <p:cNvSpPr txBox="1"/>
          <p:nvPr/>
        </p:nvSpPr>
        <p:spPr>
          <a:xfrm>
            <a:off x="1691680" y="1412776"/>
            <a:ext cx="5400600" cy="461665"/>
          </a:xfrm>
          <a:prstGeom prst="rect">
            <a:avLst/>
          </a:prstGeom>
          <a:noFill/>
        </p:spPr>
        <p:txBody>
          <a:bodyPr wrap="square" rtlCol="0">
            <a:spAutoFit/>
          </a:bodyPr>
          <a:lstStyle/>
          <a:p>
            <a:pPr algn="ctr"/>
            <a:r>
              <a:rPr lang="en-US" altLang="zh-CN" sz="2400" dirty="0" smtClean="0"/>
              <a:t>Reciprocity Theorems for Antennas</a:t>
            </a:r>
            <a:endParaRPr lang="zh-CN" altLang="en-US" sz="24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3" name="TextBox 2"/>
          <p:cNvSpPr txBox="1"/>
          <p:nvPr/>
        </p:nvSpPr>
        <p:spPr>
          <a:xfrm>
            <a:off x="1619672" y="1196752"/>
            <a:ext cx="5400600" cy="461665"/>
          </a:xfrm>
          <a:prstGeom prst="rect">
            <a:avLst/>
          </a:prstGeom>
          <a:noFill/>
        </p:spPr>
        <p:txBody>
          <a:bodyPr wrap="square" rtlCol="0">
            <a:spAutoFit/>
          </a:bodyPr>
          <a:lstStyle/>
          <a:p>
            <a:pPr algn="ctr"/>
            <a:r>
              <a:rPr lang="en-US" altLang="zh-CN" sz="2400" dirty="0" smtClean="0"/>
              <a:t>Reciprocity Theorems for EM Fields</a:t>
            </a:r>
            <a:endParaRPr lang="zh-CN" altLang="en-US" sz="2400" dirty="0"/>
          </a:p>
        </p:txBody>
      </p:sp>
      <p:pic>
        <p:nvPicPr>
          <p:cNvPr id="77826" name="Picture 2"/>
          <p:cNvPicPr>
            <a:picLocks noChangeAspect="1" noChangeArrowheads="1"/>
          </p:cNvPicPr>
          <p:nvPr/>
        </p:nvPicPr>
        <p:blipFill>
          <a:blip r:embed="rId4" cstate="print"/>
          <a:srcRect/>
          <a:stretch>
            <a:fillRect/>
          </a:stretch>
        </p:blipFill>
        <p:spPr bwMode="auto">
          <a:xfrm>
            <a:off x="5547150" y="3068960"/>
            <a:ext cx="3596850" cy="1918320"/>
          </a:xfrm>
          <a:prstGeom prst="rect">
            <a:avLst/>
          </a:prstGeom>
          <a:noFill/>
          <a:ln w="9525">
            <a:noFill/>
            <a:miter lim="800000"/>
            <a:headEnd/>
            <a:tailEnd/>
          </a:ln>
        </p:spPr>
      </p:pic>
      <p:sp>
        <p:nvSpPr>
          <p:cNvPr id="5" name="TextBox 4"/>
          <p:cNvSpPr txBox="1"/>
          <p:nvPr/>
        </p:nvSpPr>
        <p:spPr>
          <a:xfrm>
            <a:off x="251520" y="1700808"/>
            <a:ext cx="8460432" cy="1631216"/>
          </a:xfrm>
          <a:prstGeom prst="rect">
            <a:avLst/>
          </a:prstGeom>
          <a:noFill/>
        </p:spPr>
        <p:txBody>
          <a:bodyPr wrap="square" rtlCol="0">
            <a:spAutoFit/>
          </a:bodyPr>
          <a:lstStyle/>
          <a:p>
            <a:pPr algn="just"/>
            <a:r>
              <a:rPr lang="en-US" altLang="zh-CN" sz="2000" dirty="0" smtClean="0"/>
              <a:t>In a linear and isotropic medium, there exist two sets of sources </a:t>
            </a:r>
            <a:r>
              <a:rPr lang="en-US" altLang="zh-CN" sz="2000" b="1" i="1" dirty="0" smtClean="0">
                <a:latin typeface="Times New Roman" pitchFamily="18" charset="0"/>
                <a:cs typeface="Times New Roman" pitchFamily="18" charset="0"/>
              </a:rPr>
              <a:t>J</a:t>
            </a:r>
            <a:r>
              <a:rPr lang="en-US" altLang="zh-CN" sz="2000" baseline="-25000" dirty="0" smtClean="0">
                <a:latin typeface="Times New Roman" pitchFamily="18" charset="0"/>
                <a:cs typeface="Times New Roman" pitchFamily="18" charset="0"/>
              </a:rPr>
              <a:t>1</a:t>
            </a:r>
            <a:r>
              <a:rPr lang="en-US" altLang="zh-CN" sz="2000" dirty="0" smtClean="0"/>
              <a:t> and </a:t>
            </a:r>
            <a:r>
              <a:rPr lang="en-US" altLang="zh-CN" sz="2000" b="1" i="1" dirty="0" smtClean="0">
                <a:latin typeface="Times New Roman" pitchFamily="18" charset="0"/>
                <a:cs typeface="Times New Roman" pitchFamily="18" charset="0"/>
              </a:rPr>
              <a:t>J</a:t>
            </a:r>
            <a:r>
              <a:rPr lang="en-US" altLang="zh-CN" sz="2000" baseline="-25000" dirty="0" smtClean="0">
                <a:latin typeface="Times New Roman" pitchFamily="18" charset="0"/>
                <a:cs typeface="Times New Roman" pitchFamily="18" charset="0"/>
              </a:rPr>
              <a:t>2</a:t>
            </a:r>
            <a:r>
              <a:rPr lang="en-US" altLang="zh-CN" sz="2000" dirty="0" smtClean="0"/>
              <a:t>, which are allowed to radiate </a:t>
            </a:r>
            <a:r>
              <a:rPr lang="en-US" altLang="zh-CN" sz="2000" b="1" dirty="0" smtClean="0">
                <a:solidFill>
                  <a:srgbClr val="FF0000"/>
                </a:solidFill>
              </a:rPr>
              <a:t>simultaneously or individually</a:t>
            </a:r>
            <a:r>
              <a:rPr lang="en-US" altLang="zh-CN" sz="2000" dirty="0" smtClean="0"/>
              <a:t> inside the same medium at the same frequency. </a:t>
            </a:r>
            <a:r>
              <a:rPr lang="en-US" altLang="zh-CN" sz="2000" b="1" i="1" dirty="0" smtClean="0">
                <a:latin typeface="Times New Roman" pitchFamily="18" charset="0"/>
                <a:cs typeface="Times New Roman" pitchFamily="18" charset="0"/>
              </a:rPr>
              <a:t>J</a:t>
            </a:r>
            <a:r>
              <a:rPr lang="en-US" altLang="zh-CN" sz="2000" baseline="-25000" dirty="0" smtClean="0">
                <a:latin typeface="Times New Roman" pitchFamily="18" charset="0"/>
                <a:cs typeface="Times New Roman" pitchFamily="18" charset="0"/>
              </a:rPr>
              <a:t>1</a:t>
            </a:r>
            <a:r>
              <a:rPr lang="en-US" altLang="zh-CN" sz="2000" dirty="0" smtClean="0"/>
              <a:t> and </a:t>
            </a:r>
            <a:r>
              <a:rPr lang="en-US" altLang="zh-CN" sz="2000" b="1" i="1" dirty="0" smtClean="0">
                <a:latin typeface="Times New Roman" pitchFamily="18" charset="0"/>
                <a:cs typeface="Times New Roman" pitchFamily="18" charset="0"/>
              </a:rPr>
              <a:t>J</a:t>
            </a:r>
            <a:r>
              <a:rPr lang="en-US" altLang="zh-CN" sz="2000" baseline="-25000" dirty="0" smtClean="0">
                <a:latin typeface="Times New Roman" pitchFamily="18" charset="0"/>
                <a:cs typeface="Times New Roman" pitchFamily="18" charset="0"/>
              </a:rPr>
              <a:t>2</a:t>
            </a:r>
            <a:r>
              <a:rPr lang="en-US" altLang="zh-CN" sz="2000" dirty="0" smtClean="0"/>
              <a:t> produces fields (</a:t>
            </a:r>
            <a:r>
              <a:rPr lang="en-US" altLang="zh-CN" sz="2000" b="1" i="1" dirty="0" smtClean="0">
                <a:latin typeface="Times New Roman" pitchFamily="18" charset="0"/>
                <a:cs typeface="Times New Roman" pitchFamily="18" charset="0"/>
              </a:rPr>
              <a:t>E</a:t>
            </a:r>
            <a:r>
              <a:rPr lang="en-US" altLang="zh-CN" sz="2000" baseline="-25000" dirty="0" smtClean="0">
                <a:latin typeface="Times New Roman" pitchFamily="18" charset="0"/>
                <a:cs typeface="Times New Roman" pitchFamily="18" charset="0"/>
              </a:rPr>
              <a:t>1</a:t>
            </a:r>
            <a:r>
              <a:rPr lang="en-US" altLang="zh-CN" sz="2000" dirty="0" smtClean="0"/>
              <a:t>, </a:t>
            </a:r>
            <a:r>
              <a:rPr lang="en-US" altLang="zh-CN" sz="2000" b="1" i="1" dirty="0" smtClean="0">
                <a:latin typeface="Times New Roman" pitchFamily="18" charset="0"/>
                <a:cs typeface="Times New Roman" pitchFamily="18" charset="0"/>
              </a:rPr>
              <a:t>H</a:t>
            </a:r>
            <a:r>
              <a:rPr lang="en-US" altLang="zh-CN" sz="2000" baseline="-25000" dirty="0" smtClean="0">
                <a:latin typeface="Times New Roman" pitchFamily="18" charset="0"/>
                <a:cs typeface="Times New Roman" pitchFamily="18" charset="0"/>
              </a:rPr>
              <a:t>1</a:t>
            </a:r>
            <a:r>
              <a:rPr lang="en-US" altLang="zh-CN" sz="2000" dirty="0" smtClean="0"/>
              <a:t>) and (</a:t>
            </a:r>
            <a:r>
              <a:rPr lang="en-US" altLang="zh-CN" sz="2000" b="1" i="1" dirty="0" smtClean="0">
                <a:latin typeface="Times New Roman" pitchFamily="18" charset="0"/>
                <a:cs typeface="Times New Roman" pitchFamily="18" charset="0"/>
              </a:rPr>
              <a:t>E</a:t>
            </a:r>
            <a:r>
              <a:rPr lang="en-US" altLang="zh-CN" sz="2000" baseline="-25000" dirty="0" smtClean="0">
                <a:latin typeface="Times New Roman" pitchFamily="18" charset="0"/>
                <a:cs typeface="Times New Roman" pitchFamily="18" charset="0"/>
              </a:rPr>
              <a:t>2</a:t>
            </a:r>
            <a:r>
              <a:rPr lang="en-US" altLang="zh-CN" sz="2000" dirty="0" smtClean="0"/>
              <a:t>, </a:t>
            </a:r>
            <a:r>
              <a:rPr lang="en-US" altLang="zh-CN" sz="2000" b="1" i="1" dirty="0" smtClean="0">
                <a:latin typeface="Times New Roman" pitchFamily="18" charset="0"/>
                <a:cs typeface="Times New Roman" pitchFamily="18" charset="0"/>
              </a:rPr>
              <a:t>H</a:t>
            </a:r>
            <a:r>
              <a:rPr lang="en-US" altLang="zh-CN" sz="2000" baseline="-25000" dirty="0" smtClean="0">
                <a:latin typeface="Times New Roman" pitchFamily="18" charset="0"/>
                <a:cs typeface="Times New Roman" pitchFamily="18" charset="0"/>
              </a:rPr>
              <a:t>2</a:t>
            </a:r>
            <a:r>
              <a:rPr lang="en-US" altLang="zh-CN" sz="2000" dirty="0" smtClean="0"/>
              <a:t>), respectively.</a:t>
            </a:r>
          </a:p>
          <a:p>
            <a:pPr algn="just"/>
            <a:r>
              <a:rPr lang="en-US" altLang="zh-CN" sz="2000" dirty="0" smtClean="0"/>
              <a:t>From Maxwell’s curl equations we can get</a:t>
            </a:r>
            <a:endParaRPr lang="zh-CN" altLang="en-US" sz="2000" dirty="0"/>
          </a:p>
        </p:txBody>
      </p:sp>
      <p:graphicFrame>
        <p:nvGraphicFramePr>
          <p:cNvPr id="6" name="对象 5"/>
          <p:cNvGraphicFramePr>
            <a:graphicFrameLocks noChangeAspect="1"/>
          </p:cNvGraphicFramePr>
          <p:nvPr/>
        </p:nvGraphicFramePr>
        <p:xfrm>
          <a:off x="755576" y="3429000"/>
          <a:ext cx="3827463" cy="381000"/>
        </p:xfrm>
        <a:graphic>
          <a:graphicData uri="http://schemas.openxmlformats.org/presentationml/2006/ole">
            <mc:AlternateContent xmlns:mc="http://schemas.openxmlformats.org/markup-compatibility/2006">
              <mc:Choice xmlns:v="urn:schemas-microsoft-com:vml" Requires="v">
                <p:oleObj spid="_x0000_s77833" name="Equation" r:id="rId5" imgW="2552400" imgH="253800" progId="Equation.DSMT4">
                  <p:embed/>
                </p:oleObj>
              </mc:Choice>
              <mc:Fallback>
                <p:oleObj name="Equation" r:id="rId5" imgW="2552400" imgH="25380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576" y="3429000"/>
                        <a:ext cx="382746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611560" y="3861048"/>
            <a:ext cx="5040560" cy="830997"/>
          </a:xfrm>
          <a:prstGeom prst="rect">
            <a:avLst/>
          </a:prstGeom>
          <a:noFill/>
        </p:spPr>
        <p:txBody>
          <a:bodyPr wrap="square" rtlCol="0">
            <a:spAutoFit/>
          </a:bodyPr>
          <a:lstStyle/>
          <a:p>
            <a:r>
              <a:rPr lang="en-US" altLang="zh-CN" sz="2400" b="1" dirty="0" smtClean="0">
                <a:solidFill>
                  <a:srgbClr val="FF0000"/>
                </a:solidFill>
              </a:rPr>
              <a:t>Lorentz Reciprocity Theorem in differential form</a:t>
            </a:r>
            <a:endParaRPr lang="zh-CN" altLang="en-US" sz="2400" b="1" dirty="0">
              <a:solidFill>
                <a:srgbClr val="FF0000"/>
              </a:solidFill>
            </a:endParaRPr>
          </a:p>
        </p:txBody>
      </p:sp>
      <p:sp>
        <p:nvSpPr>
          <p:cNvPr id="8" name="Rectangle 16"/>
          <p:cNvSpPr>
            <a:spLocks noChangeArrowheads="1"/>
          </p:cNvSpPr>
          <p:nvPr/>
        </p:nvSpPr>
        <p:spPr bwMode="auto">
          <a:xfrm>
            <a:off x="4644008" y="3356992"/>
            <a:ext cx="1224706"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(3-60)</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9" name="TextBox 8"/>
          <p:cNvSpPr txBox="1"/>
          <p:nvPr/>
        </p:nvSpPr>
        <p:spPr>
          <a:xfrm>
            <a:off x="251520" y="4901098"/>
            <a:ext cx="8604448" cy="400110"/>
          </a:xfrm>
          <a:prstGeom prst="rect">
            <a:avLst/>
          </a:prstGeom>
          <a:noFill/>
        </p:spPr>
        <p:txBody>
          <a:bodyPr wrap="square" rtlCol="0">
            <a:spAutoFit/>
          </a:bodyPr>
          <a:lstStyle/>
          <a:p>
            <a:r>
              <a:rPr lang="en-US" altLang="zh-CN" sz="2000" dirty="0" smtClean="0"/>
              <a:t>Taking a volume integral of both sides of (3-60) and apply divergence theorem</a:t>
            </a:r>
            <a:endParaRPr lang="zh-CN" altLang="en-US" sz="2000" dirty="0"/>
          </a:p>
        </p:txBody>
      </p:sp>
      <p:graphicFrame>
        <p:nvGraphicFramePr>
          <p:cNvPr id="77828" name="Object 4"/>
          <p:cNvGraphicFramePr>
            <a:graphicFrameLocks noChangeAspect="1"/>
          </p:cNvGraphicFramePr>
          <p:nvPr/>
        </p:nvGraphicFramePr>
        <p:xfrm>
          <a:off x="755576" y="5445224"/>
          <a:ext cx="4951412" cy="571500"/>
        </p:xfrm>
        <a:graphic>
          <a:graphicData uri="http://schemas.openxmlformats.org/presentationml/2006/ole">
            <mc:AlternateContent xmlns:mc="http://schemas.openxmlformats.org/markup-compatibility/2006">
              <mc:Choice xmlns:v="urn:schemas-microsoft-com:vml" Requires="v">
                <p:oleObj spid="_x0000_s77834" name="Equation" r:id="rId7" imgW="3301920" imgH="380880" progId="Equation.DSMT4">
                  <p:embed/>
                </p:oleObj>
              </mc:Choice>
              <mc:Fallback>
                <p:oleObj name="Equation" r:id="rId7" imgW="3301920" imgH="38088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576" y="5445224"/>
                        <a:ext cx="4951412"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6"/>
          <p:cNvSpPr>
            <a:spLocks noChangeArrowheads="1"/>
          </p:cNvSpPr>
          <p:nvPr/>
        </p:nvSpPr>
        <p:spPr bwMode="auto">
          <a:xfrm>
            <a:off x="5867574" y="5373216"/>
            <a:ext cx="1224706"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(3-61)</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2" name="TextBox 11"/>
          <p:cNvSpPr txBox="1"/>
          <p:nvPr/>
        </p:nvSpPr>
        <p:spPr>
          <a:xfrm>
            <a:off x="1043608" y="5991671"/>
            <a:ext cx="6480720" cy="461665"/>
          </a:xfrm>
          <a:prstGeom prst="rect">
            <a:avLst/>
          </a:prstGeom>
          <a:noFill/>
        </p:spPr>
        <p:txBody>
          <a:bodyPr wrap="square" rtlCol="0">
            <a:spAutoFit/>
          </a:bodyPr>
          <a:lstStyle/>
          <a:p>
            <a:r>
              <a:rPr lang="en-US" altLang="zh-CN" sz="2400" b="1" dirty="0" smtClean="0">
                <a:solidFill>
                  <a:srgbClr val="FF0000"/>
                </a:solidFill>
              </a:rPr>
              <a:t>Lorentz Reciprocity Theorem in integral form</a:t>
            </a:r>
            <a:endParaRPr lang="zh-CN" altLang="en-US" sz="2400" b="1" dirty="0">
              <a:solidFill>
                <a:srgbClr val="FF0000"/>
              </a:solidFill>
            </a:endParaRPr>
          </a:p>
        </p:txBody>
      </p:sp>
      <p:cxnSp>
        <p:nvCxnSpPr>
          <p:cNvPr id="14" name="直接箭头连接符 13"/>
          <p:cNvCxnSpPr/>
          <p:nvPr/>
        </p:nvCxnSpPr>
        <p:spPr>
          <a:xfrm flipV="1">
            <a:off x="7236296" y="3356992"/>
            <a:ext cx="432048" cy="7920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5" name="TextBox 14"/>
          <p:cNvSpPr txBox="1"/>
          <p:nvPr/>
        </p:nvSpPr>
        <p:spPr>
          <a:xfrm>
            <a:off x="7105878" y="3563724"/>
            <a:ext cx="274434" cy="369332"/>
          </a:xfrm>
          <a:prstGeom prst="rect">
            <a:avLst/>
          </a:prstGeom>
          <a:noFill/>
        </p:spPr>
        <p:txBody>
          <a:bodyPr wrap="none" rtlCol="0">
            <a:spAutoFit/>
          </a:bodyPr>
          <a:lstStyle/>
          <a:p>
            <a:r>
              <a:rPr lang="en-US" altLang="zh-CN" i="1" dirty="0" smtClean="0">
                <a:latin typeface="Times New Roman" pitchFamily="18" charset="0"/>
                <a:cs typeface="Times New Roman" pitchFamily="18" charset="0"/>
              </a:rPr>
              <a:t>r</a:t>
            </a:r>
            <a:endParaRPr lang="zh-CN" altLang="en-US" i="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直接连接符 19"/>
          <p:cNvCxnSpPr/>
          <p:nvPr/>
        </p:nvCxnSpPr>
        <p:spPr>
          <a:xfrm flipV="1">
            <a:off x="3347864" y="4005064"/>
            <a:ext cx="360040" cy="432048"/>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flipV="1">
            <a:off x="6012160" y="4005064"/>
            <a:ext cx="360040" cy="432048"/>
          </a:xfrm>
          <a:prstGeom prst="line">
            <a:avLst/>
          </a:prstGeom>
        </p:spPr>
        <p:style>
          <a:lnRef idx="3">
            <a:schemeClr val="accent2"/>
          </a:lnRef>
          <a:fillRef idx="0">
            <a:schemeClr val="accent2"/>
          </a:fillRef>
          <a:effectRef idx="2">
            <a:schemeClr val="accent2"/>
          </a:effectRef>
          <a:fontRef idx="minor">
            <a:schemeClr val="tx1"/>
          </a:fontRef>
        </p:style>
      </p:cxnSp>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sp>
        <p:nvSpPr>
          <p:cNvPr id="3" name="TextBox 2"/>
          <p:cNvSpPr txBox="1"/>
          <p:nvPr/>
        </p:nvSpPr>
        <p:spPr>
          <a:xfrm>
            <a:off x="179512" y="1340768"/>
            <a:ext cx="8964488" cy="830997"/>
          </a:xfrm>
          <a:prstGeom prst="rect">
            <a:avLst/>
          </a:prstGeom>
          <a:noFill/>
        </p:spPr>
        <p:txBody>
          <a:bodyPr wrap="square" rtlCol="0">
            <a:spAutoFit/>
          </a:bodyPr>
          <a:lstStyle/>
          <a:p>
            <a:r>
              <a:rPr lang="en-US" altLang="zh-CN" sz="2400" dirty="0" smtClean="0"/>
              <a:t>Let S be a spherical surface and →∞ (</a:t>
            </a:r>
            <a:r>
              <a:rPr lang="en-US" altLang="zh-CN" sz="2400" i="1" dirty="0" smtClean="0"/>
              <a:t>S</a:t>
            </a:r>
            <a:r>
              <a:rPr lang="en-US" altLang="zh-CN" sz="2400" dirty="0" smtClean="0"/>
              <a:t> is in the far-field region of </a:t>
            </a:r>
            <a:r>
              <a:rPr lang="en-US" altLang="zh-CN" sz="2400" b="1" i="1" dirty="0" smtClean="0">
                <a:latin typeface="Times New Roman" pitchFamily="18" charset="0"/>
                <a:cs typeface="Times New Roman" pitchFamily="18" charset="0"/>
              </a:rPr>
              <a:t>J</a:t>
            </a:r>
            <a:r>
              <a:rPr lang="en-US" altLang="zh-CN" sz="2400" baseline="-25000" dirty="0" smtClean="0">
                <a:latin typeface="Times New Roman" pitchFamily="18" charset="0"/>
                <a:cs typeface="Times New Roman" pitchFamily="18" charset="0"/>
              </a:rPr>
              <a:t>1</a:t>
            </a:r>
            <a:r>
              <a:rPr lang="en-US" altLang="zh-CN" sz="2400" dirty="0" smtClean="0"/>
              <a:t> &amp; </a:t>
            </a:r>
            <a:r>
              <a:rPr lang="en-US" altLang="zh-CN" sz="2400" b="1" i="1" dirty="0" smtClean="0">
                <a:latin typeface="Times New Roman" pitchFamily="18" charset="0"/>
                <a:cs typeface="Times New Roman" pitchFamily="18" charset="0"/>
              </a:rPr>
              <a:t>J</a:t>
            </a:r>
            <a:r>
              <a:rPr lang="en-US" altLang="zh-CN" sz="2400" baseline="-25000" dirty="0" smtClean="0">
                <a:latin typeface="Times New Roman" pitchFamily="18" charset="0"/>
                <a:cs typeface="Times New Roman" pitchFamily="18" charset="0"/>
              </a:rPr>
              <a:t>2</a:t>
            </a:r>
            <a:r>
              <a:rPr lang="en-US" altLang="zh-CN" sz="2400" dirty="0" smtClean="0">
                <a:latin typeface="Times New Roman" pitchFamily="18" charset="0"/>
                <a:cs typeface="Times New Roman" pitchFamily="18" charset="0"/>
              </a:rPr>
              <a:t>)</a:t>
            </a:r>
            <a:endParaRPr lang="zh-CN" altLang="en-US" sz="2400" dirty="0"/>
          </a:p>
        </p:txBody>
      </p:sp>
      <p:graphicFrame>
        <p:nvGraphicFramePr>
          <p:cNvPr id="4" name="对象 3"/>
          <p:cNvGraphicFramePr>
            <a:graphicFrameLocks noChangeAspect="1"/>
          </p:cNvGraphicFramePr>
          <p:nvPr/>
        </p:nvGraphicFramePr>
        <p:xfrm>
          <a:off x="2339975" y="2060575"/>
          <a:ext cx="1277938" cy="411163"/>
        </p:xfrm>
        <a:graphic>
          <a:graphicData uri="http://schemas.openxmlformats.org/presentationml/2006/ole">
            <mc:AlternateContent xmlns:mc="http://schemas.openxmlformats.org/markup-compatibility/2006">
              <mc:Choice xmlns:v="urn:schemas-microsoft-com:vml" Requires="v">
                <p:oleObj spid="_x0000_s78863" name="Equation" r:id="rId4" imgW="711000" imgH="228600" progId="Equation.DSMT4">
                  <p:embed/>
                </p:oleObj>
              </mc:Choice>
              <mc:Fallback>
                <p:oleObj name="Equation" r:id="rId4" imgW="711000" imgH="22860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2060575"/>
                        <a:ext cx="1277938"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52" name="Object 4"/>
          <p:cNvGraphicFramePr>
            <a:graphicFrameLocks noChangeAspect="1"/>
          </p:cNvGraphicFramePr>
          <p:nvPr/>
        </p:nvGraphicFramePr>
        <p:xfrm>
          <a:off x="4520357" y="2060848"/>
          <a:ext cx="1347787" cy="411163"/>
        </p:xfrm>
        <a:graphic>
          <a:graphicData uri="http://schemas.openxmlformats.org/presentationml/2006/ole">
            <mc:AlternateContent xmlns:mc="http://schemas.openxmlformats.org/markup-compatibility/2006">
              <mc:Choice xmlns:v="urn:schemas-microsoft-com:vml" Requires="v">
                <p:oleObj spid="_x0000_s78864" name="Equation" r:id="rId6" imgW="749160" imgH="228600" progId="Equation.DSMT4">
                  <p:embed/>
                </p:oleObj>
              </mc:Choice>
              <mc:Fallback>
                <p:oleObj name="Equation" r:id="rId6" imgW="749160" imgH="22860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20357" y="2060848"/>
                        <a:ext cx="1347787"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3707904" y="1959223"/>
            <a:ext cx="655949" cy="461665"/>
          </a:xfrm>
          <a:prstGeom prst="rect">
            <a:avLst/>
          </a:prstGeom>
          <a:noFill/>
        </p:spPr>
        <p:txBody>
          <a:bodyPr wrap="none" rtlCol="0">
            <a:spAutoFit/>
          </a:bodyPr>
          <a:lstStyle/>
          <a:p>
            <a:r>
              <a:rPr lang="en-US" altLang="zh-CN" sz="2400" smtClean="0"/>
              <a:t>and</a:t>
            </a:r>
            <a:endParaRPr lang="zh-CN" altLang="en-US" sz="2400" dirty="0"/>
          </a:p>
        </p:txBody>
      </p:sp>
      <p:graphicFrame>
        <p:nvGraphicFramePr>
          <p:cNvPr id="78853" name="Object 5"/>
          <p:cNvGraphicFramePr>
            <a:graphicFrameLocks noChangeAspect="1"/>
          </p:cNvGraphicFramePr>
          <p:nvPr/>
        </p:nvGraphicFramePr>
        <p:xfrm>
          <a:off x="1542826" y="3100115"/>
          <a:ext cx="5405438" cy="1697037"/>
        </p:xfrm>
        <a:graphic>
          <a:graphicData uri="http://schemas.openxmlformats.org/presentationml/2006/ole">
            <mc:AlternateContent xmlns:mc="http://schemas.openxmlformats.org/markup-compatibility/2006">
              <mc:Choice xmlns:v="urn:schemas-microsoft-com:vml" Requires="v">
                <p:oleObj spid="_x0000_s78865" name="Equation" r:id="rId8" imgW="2997000" imgH="939600" progId="Equation.DSMT4">
                  <p:embed/>
                </p:oleObj>
              </mc:Choice>
              <mc:Fallback>
                <p:oleObj name="Equation" r:id="rId8" imgW="2997000" imgH="939600" progId="Equation.DSMT4">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2826" y="3100115"/>
                        <a:ext cx="5405438" cy="1697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755576" y="2420888"/>
            <a:ext cx="1728192" cy="461665"/>
          </a:xfrm>
          <a:prstGeom prst="rect">
            <a:avLst/>
          </a:prstGeom>
          <a:noFill/>
        </p:spPr>
        <p:txBody>
          <a:bodyPr wrap="square" rtlCol="0">
            <a:spAutoFit/>
          </a:bodyPr>
          <a:lstStyle/>
          <a:p>
            <a:r>
              <a:rPr lang="en-US" altLang="zh-CN" sz="2400" dirty="0" smtClean="0"/>
              <a:t>therefore</a:t>
            </a:r>
            <a:endParaRPr lang="zh-CN" altLang="en-US" sz="2400" dirty="0"/>
          </a:p>
        </p:txBody>
      </p:sp>
      <p:sp>
        <p:nvSpPr>
          <p:cNvPr id="10" name="TextBox 9"/>
          <p:cNvSpPr txBox="1"/>
          <p:nvPr/>
        </p:nvSpPr>
        <p:spPr>
          <a:xfrm>
            <a:off x="755576" y="4869160"/>
            <a:ext cx="3312368" cy="461665"/>
          </a:xfrm>
          <a:prstGeom prst="rect">
            <a:avLst/>
          </a:prstGeom>
          <a:noFill/>
        </p:spPr>
        <p:txBody>
          <a:bodyPr wrap="square" rtlCol="0">
            <a:spAutoFit/>
          </a:bodyPr>
          <a:lstStyle/>
          <a:p>
            <a:r>
              <a:rPr lang="en-US" altLang="zh-CN" sz="2400" dirty="0" smtClean="0"/>
              <a:t>(3-61) is reduced to</a:t>
            </a:r>
            <a:endParaRPr lang="zh-CN" altLang="en-US" sz="2400" dirty="0"/>
          </a:p>
        </p:txBody>
      </p:sp>
      <p:graphicFrame>
        <p:nvGraphicFramePr>
          <p:cNvPr id="78854" name="Object 6"/>
          <p:cNvGraphicFramePr>
            <a:graphicFrameLocks noChangeAspect="1"/>
          </p:cNvGraphicFramePr>
          <p:nvPr/>
        </p:nvGraphicFramePr>
        <p:xfrm>
          <a:off x="2547938" y="5435526"/>
          <a:ext cx="3092450" cy="687387"/>
        </p:xfrm>
        <a:graphic>
          <a:graphicData uri="http://schemas.openxmlformats.org/presentationml/2006/ole">
            <mc:AlternateContent xmlns:mc="http://schemas.openxmlformats.org/markup-compatibility/2006">
              <mc:Choice xmlns:v="urn:schemas-microsoft-com:vml" Requires="v">
                <p:oleObj spid="_x0000_s78866" name="Equation" r:id="rId10" imgW="1714320" imgH="380880" progId="Equation.DSMT4">
                  <p:embed/>
                </p:oleObj>
              </mc:Choice>
              <mc:Fallback>
                <p:oleObj name="Equation" r:id="rId10" imgW="1714320" imgH="380880" progId="Equation.DSMT4">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47938" y="5435526"/>
                        <a:ext cx="3092450" cy="687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8855" name="Picture 7"/>
          <p:cNvPicPr>
            <a:picLocks noChangeAspect="1" noChangeArrowheads="1"/>
          </p:cNvPicPr>
          <p:nvPr/>
        </p:nvPicPr>
        <p:blipFill>
          <a:blip r:embed="rId12" cstate="print"/>
          <a:srcRect/>
          <a:stretch>
            <a:fillRect/>
          </a:stretch>
        </p:blipFill>
        <p:spPr bwMode="auto">
          <a:xfrm>
            <a:off x="6000750" y="2420888"/>
            <a:ext cx="3143250" cy="1447800"/>
          </a:xfrm>
          <a:prstGeom prst="rect">
            <a:avLst/>
          </a:prstGeom>
          <a:noFill/>
          <a:ln w="9525">
            <a:noFill/>
            <a:miter lim="800000"/>
            <a:headEnd/>
            <a:tailEnd/>
          </a:ln>
        </p:spPr>
      </p:pic>
      <p:sp>
        <p:nvSpPr>
          <p:cNvPr id="15" name="TextBox 14"/>
          <p:cNvSpPr txBox="1"/>
          <p:nvPr/>
        </p:nvSpPr>
        <p:spPr>
          <a:xfrm>
            <a:off x="755576" y="1988840"/>
            <a:ext cx="1944216" cy="461665"/>
          </a:xfrm>
          <a:prstGeom prst="rect">
            <a:avLst/>
          </a:prstGeom>
          <a:noFill/>
        </p:spPr>
        <p:txBody>
          <a:bodyPr wrap="square" rtlCol="0">
            <a:spAutoFit/>
          </a:bodyPr>
          <a:lstStyle/>
          <a:p>
            <a:r>
              <a:rPr lang="en-US" altLang="zh-CN" sz="2400" dirty="0" smtClean="0"/>
              <a:t>TEM waves</a:t>
            </a:r>
            <a:endParaRPr lang="zh-CN" altLang="en-US" sz="2400" dirty="0"/>
          </a:p>
        </p:txBody>
      </p:sp>
      <p:cxnSp>
        <p:nvCxnSpPr>
          <p:cNvPr id="16" name="直接箭头连接符 15"/>
          <p:cNvCxnSpPr/>
          <p:nvPr/>
        </p:nvCxnSpPr>
        <p:spPr>
          <a:xfrm flipV="1">
            <a:off x="7308304" y="2420888"/>
            <a:ext cx="432048" cy="7920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8" name="TextBox 17"/>
          <p:cNvSpPr txBox="1"/>
          <p:nvPr/>
        </p:nvSpPr>
        <p:spPr>
          <a:xfrm>
            <a:off x="7177886" y="2627620"/>
            <a:ext cx="274434" cy="369332"/>
          </a:xfrm>
          <a:prstGeom prst="rect">
            <a:avLst/>
          </a:prstGeom>
          <a:noFill/>
        </p:spPr>
        <p:txBody>
          <a:bodyPr wrap="none" rtlCol="0">
            <a:spAutoFit/>
          </a:bodyPr>
          <a:lstStyle/>
          <a:p>
            <a:r>
              <a:rPr lang="en-US" altLang="zh-CN" i="1" dirty="0" smtClean="0">
                <a:latin typeface="Times New Roman" pitchFamily="18" charset="0"/>
                <a:cs typeface="Times New Roman" pitchFamily="18" charset="0"/>
              </a:rPr>
              <a:t>r</a:t>
            </a:r>
            <a:endParaRPr lang="zh-CN" altLang="en-US" i="1"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1772816"/>
            <a:ext cx="7632848" cy="461665"/>
          </a:xfrm>
          <a:prstGeom prst="rect">
            <a:avLst/>
          </a:prstGeom>
          <a:noFill/>
        </p:spPr>
        <p:txBody>
          <a:bodyPr wrap="square" rtlCol="0">
            <a:spAutoFit/>
          </a:bodyPr>
          <a:lstStyle/>
          <a:p>
            <a:r>
              <a:rPr lang="en-US" altLang="zh-CN" sz="2400" dirty="0" smtClean="0"/>
              <a:t>If both sources are constant line current </a:t>
            </a:r>
            <a:r>
              <a:rPr lang="en-US" altLang="zh-CN" sz="2400" i="1" dirty="0" smtClean="0">
                <a:latin typeface="Times New Roman" pitchFamily="18" charset="0"/>
                <a:cs typeface="Times New Roman" pitchFamily="18" charset="0"/>
              </a:rPr>
              <a:t>I</a:t>
            </a:r>
            <a:r>
              <a:rPr lang="en-US" altLang="zh-CN" sz="2400" baseline="-25000" dirty="0" smtClean="0">
                <a:latin typeface="Times New Roman" pitchFamily="18" charset="0"/>
                <a:cs typeface="Times New Roman" pitchFamily="18" charset="0"/>
              </a:rPr>
              <a:t>1</a:t>
            </a:r>
            <a:r>
              <a:rPr lang="en-US" altLang="zh-CN" sz="2400" dirty="0" smtClean="0"/>
              <a:t> and </a:t>
            </a:r>
            <a:r>
              <a:rPr lang="en-US" altLang="zh-CN" sz="2400" i="1" dirty="0" smtClean="0">
                <a:latin typeface="Times New Roman" pitchFamily="18" charset="0"/>
                <a:cs typeface="Times New Roman" pitchFamily="18" charset="0"/>
              </a:rPr>
              <a:t>I</a:t>
            </a:r>
            <a:r>
              <a:rPr lang="en-US" altLang="zh-CN" sz="2400" baseline="-25000" dirty="0" smtClean="0">
                <a:latin typeface="Times New Roman" pitchFamily="18" charset="0"/>
                <a:cs typeface="Times New Roman" pitchFamily="18" charset="0"/>
              </a:rPr>
              <a:t>2</a:t>
            </a:r>
            <a:endParaRPr lang="zh-CN" altLang="en-US" sz="2400" dirty="0"/>
          </a:p>
        </p:txBody>
      </p:sp>
      <p:graphicFrame>
        <p:nvGraphicFramePr>
          <p:cNvPr id="3" name="Object 8"/>
          <p:cNvGraphicFramePr>
            <a:graphicFrameLocks noChangeAspect="1"/>
          </p:cNvGraphicFramePr>
          <p:nvPr/>
        </p:nvGraphicFramePr>
        <p:xfrm>
          <a:off x="2819400" y="2492896"/>
          <a:ext cx="2565400" cy="709613"/>
        </p:xfrm>
        <a:graphic>
          <a:graphicData uri="http://schemas.openxmlformats.org/presentationml/2006/ole">
            <mc:AlternateContent xmlns:mc="http://schemas.openxmlformats.org/markup-compatibility/2006">
              <mc:Choice xmlns:v="urn:schemas-microsoft-com:vml" Requires="v">
                <p:oleObj spid="_x0000_s103429" name="Equation" r:id="rId3" imgW="1422360" imgH="393480" progId="Equation.DSMT4">
                  <p:embed/>
                </p:oleObj>
              </mc:Choice>
              <mc:Fallback>
                <p:oleObj name="Equation" r:id="rId3" imgW="1422360" imgH="39348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2492896"/>
                        <a:ext cx="2565400" cy="709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Box 3"/>
          <p:cNvSpPr txBox="1"/>
          <p:nvPr/>
        </p:nvSpPr>
        <p:spPr>
          <a:xfrm>
            <a:off x="179512" y="3140968"/>
            <a:ext cx="8676456" cy="830997"/>
          </a:xfrm>
          <a:prstGeom prst="rect">
            <a:avLst/>
          </a:prstGeom>
          <a:noFill/>
        </p:spPr>
        <p:txBody>
          <a:bodyPr wrap="square" rtlCol="0">
            <a:spAutoFit/>
          </a:bodyPr>
          <a:lstStyle/>
          <a:p>
            <a:r>
              <a:rPr lang="en-US" altLang="zh-CN" sz="2400" dirty="0" smtClean="0"/>
              <a:t>The unit of both sides is Watt, but they  does not present the power, they are defined as </a:t>
            </a:r>
            <a:r>
              <a:rPr lang="en-US" altLang="zh-CN" sz="2400" b="1" dirty="0" smtClean="0">
                <a:solidFill>
                  <a:srgbClr val="FF0000"/>
                </a:solidFill>
              </a:rPr>
              <a:t>Reaction</a:t>
            </a:r>
            <a:endParaRPr lang="zh-CN" altLang="en-US" sz="2400" b="1" dirty="0">
              <a:solidFill>
                <a:srgbClr val="FF0000"/>
              </a:solidFill>
            </a:endParaRPr>
          </a:p>
        </p:txBody>
      </p:sp>
      <p:pic>
        <p:nvPicPr>
          <p:cNvPr id="5" name="Picture 3"/>
          <p:cNvPicPr>
            <a:picLocks noChangeAspect="1" noChangeArrowheads="1"/>
          </p:cNvPicPr>
          <p:nvPr/>
        </p:nvPicPr>
        <p:blipFill>
          <a:blip r:embed="rId5" cstate="print"/>
          <a:srcRect/>
          <a:stretch>
            <a:fillRect/>
          </a:stretch>
        </p:blipFill>
        <p:spPr bwMode="auto">
          <a:xfrm>
            <a:off x="1" y="0"/>
            <a:ext cx="9144000" cy="1000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cstate="print"/>
          <a:srcRect/>
          <a:stretch>
            <a:fillRect/>
          </a:stretch>
        </p:blipFill>
        <p:spPr bwMode="auto">
          <a:xfrm>
            <a:off x="1" y="0"/>
            <a:ext cx="9144000" cy="1000125"/>
          </a:xfrm>
          <a:prstGeom prst="rect">
            <a:avLst/>
          </a:prstGeom>
          <a:noFill/>
          <a:ln w="9525">
            <a:noFill/>
            <a:miter lim="800000"/>
            <a:headEnd/>
            <a:tailEnd/>
          </a:ln>
          <a:effectLst/>
        </p:spPr>
      </p:pic>
      <p:grpSp>
        <p:nvGrpSpPr>
          <p:cNvPr id="8" name="组合 7"/>
          <p:cNvGrpSpPr/>
          <p:nvPr/>
        </p:nvGrpSpPr>
        <p:grpSpPr>
          <a:xfrm>
            <a:off x="2431107" y="2204864"/>
            <a:ext cx="5669285" cy="1276350"/>
            <a:chOff x="2339752" y="2420888"/>
            <a:chExt cx="5669285" cy="1276350"/>
          </a:xfrm>
        </p:grpSpPr>
        <p:pic>
          <p:nvPicPr>
            <p:cNvPr id="79875"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339752" y="2420888"/>
              <a:ext cx="4067175" cy="1276350"/>
            </a:xfrm>
            <a:prstGeom prst="rect">
              <a:avLst/>
            </a:prstGeom>
            <a:noFill/>
            <a:ln w="9525">
              <a:noFill/>
              <a:miter lim="800000"/>
              <a:headEnd/>
              <a:tailEnd/>
            </a:ln>
          </p:spPr>
        </p:pic>
        <p:graphicFrame>
          <p:nvGraphicFramePr>
            <p:cNvPr id="79877" name="Object 5"/>
            <p:cNvGraphicFramePr>
              <a:graphicFrameLocks noChangeAspect="1"/>
            </p:cNvGraphicFramePr>
            <p:nvPr/>
          </p:nvGraphicFramePr>
          <p:xfrm>
            <a:off x="6588224" y="2780928"/>
            <a:ext cx="1420813" cy="709613"/>
          </p:xfrm>
          <a:graphic>
            <a:graphicData uri="http://schemas.openxmlformats.org/presentationml/2006/ole">
              <mc:AlternateContent xmlns:mc="http://schemas.openxmlformats.org/markup-compatibility/2006">
                <mc:Choice xmlns:v="urn:schemas-microsoft-com:vml" Requires="v">
                  <p:oleObj spid="_x0000_s79891" name="Equation" r:id="rId5" imgW="787320" imgH="393480" progId="Equation.DSMT4">
                    <p:embed/>
                  </p:oleObj>
                </mc:Choice>
                <mc:Fallback>
                  <p:oleObj name="Equation" r:id="rId5" imgW="787320" imgH="39348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8224" y="2780928"/>
                          <a:ext cx="1420813" cy="709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 name="组合 10"/>
          <p:cNvGrpSpPr/>
          <p:nvPr/>
        </p:nvGrpSpPr>
        <p:grpSpPr>
          <a:xfrm>
            <a:off x="539552" y="2204864"/>
            <a:ext cx="5797103" cy="1276350"/>
            <a:chOff x="561058" y="4149080"/>
            <a:chExt cx="5797103" cy="1276350"/>
          </a:xfrm>
        </p:grpSpPr>
        <p:graphicFrame>
          <p:nvGraphicFramePr>
            <p:cNvPr id="79878" name="Object 6"/>
            <p:cNvGraphicFramePr>
              <a:graphicFrameLocks noChangeAspect="1"/>
            </p:cNvGraphicFramePr>
            <p:nvPr/>
          </p:nvGraphicFramePr>
          <p:xfrm>
            <a:off x="561058" y="4509120"/>
            <a:ext cx="1490662" cy="709612"/>
          </p:xfrm>
          <a:graphic>
            <a:graphicData uri="http://schemas.openxmlformats.org/presentationml/2006/ole">
              <mc:AlternateContent xmlns:mc="http://schemas.openxmlformats.org/markup-compatibility/2006">
                <mc:Choice xmlns:v="urn:schemas-microsoft-com:vml" Requires="v">
                  <p:oleObj spid="_x0000_s79892" name="Equation" r:id="rId7" imgW="825480" imgH="393480" progId="Equation.DSMT4">
                    <p:embed/>
                  </p:oleObj>
                </mc:Choice>
                <mc:Fallback>
                  <p:oleObj name="Equation" r:id="rId7" imgW="825480" imgH="393480" progId="Equation.DSMT4">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1058" y="4509120"/>
                          <a:ext cx="1490662" cy="709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9879" name="Picture 7"/>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2195736" y="4149080"/>
              <a:ext cx="4162425" cy="1276350"/>
            </a:xfrm>
            <a:prstGeom prst="rect">
              <a:avLst/>
            </a:prstGeom>
            <a:noFill/>
            <a:ln w="9525">
              <a:noFill/>
              <a:miter lim="800000"/>
              <a:headEnd/>
              <a:tailEnd/>
            </a:ln>
          </p:spPr>
        </p:pic>
      </p:grpSp>
      <p:pic>
        <p:nvPicPr>
          <p:cNvPr id="79880" name="Picture 8"/>
          <p:cNvPicPr>
            <a:picLocks noChangeAspect="1" noChangeArrowheads="1"/>
          </p:cNvPicPr>
          <p:nvPr/>
        </p:nvPicPr>
        <p:blipFill>
          <a:blip r:embed="rId10" cstate="print">
            <a:clrChange>
              <a:clrFrom>
                <a:srgbClr val="FFFFFF"/>
              </a:clrFrom>
              <a:clrTo>
                <a:srgbClr val="FFFFFF">
                  <a:alpha val="0"/>
                </a:srgbClr>
              </a:clrTo>
            </a:clrChange>
          </a:blip>
          <a:srcRect/>
          <a:stretch>
            <a:fillRect/>
          </a:stretch>
        </p:blipFill>
        <p:spPr bwMode="auto">
          <a:xfrm>
            <a:off x="2627784" y="2204864"/>
            <a:ext cx="3438525" cy="1276350"/>
          </a:xfrm>
          <a:prstGeom prst="rect">
            <a:avLst/>
          </a:prstGeom>
          <a:noFill/>
          <a:ln w="9525">
            <a:noFill/>
            <a:miter lim="800000"/>
            <a:headEnd/>
            <a:tailEnd/>
          </a:ln>
        </p:spPr>
      </p:pic>
      <p:graphicFrame>
        <p:nvGraphicFramePr>
          <p:cNvPr id="79881" name="Object 9"/>
          <p:cNvGraphicFramePr>
            <a:graphicFrameLocks noChangeAspect="1"/>
          </p:cNvGraphicFramePr>
          <p:nvPr>
            <p:extLst>
              <p:ext uri="{D42A27DB-BD31-4B8C-83A1-F6EECF244321}">
                <p14:modId xmlns:p14="http://schemas.microsoft.com/office/powerpoint/2010/main" val="419437801"/>
              </p:ext>
            </p:extLst>
          </p:nvPr>
        </p:nvGraphicFramePr>
        <p:xfrm>
          <a:off x="323528" y="4149080"/>
          <a:ext cx="4122738" cy="411162"/>
        </p:xfrm>
        <a:graphic>
          <a:graphicData uri="http://schemas.openxmlformats.org/presentationml/2006/ole">
            <mc:AlternateContent xmlns:mc="http://schemas.openxmlformats.org/markup-compatibility/2006">
              <mc:Choice xmlns:v="urn:schemas-microsoft-com:vml" Requires="v">
                <p:oleObj spid="_x0000_s79893" name="Equation" r:id="rId11" imgW="2286000" imgH="228600" progId="Equation.DSMT4">
                  <p:embed/>
                </p:oleObj>
              </mc:Choice>
              <mc:Fallback>
                <p:oleObj name="Equation" r:id="rId11" imgW="2286000" imgH="228600" progId="Equation.DSMT4">
                  <p:embed/>
                  <p:pic>
                    <p:nvPicPr>
                      <p:cNvPr id="0" name="Picture 9"/>
                      <p:cNvPicPr>
                        <a:picLocks noChangeAspect="1" noChangeArrowheads="1"/>
                      </p:cNvPicPr>
                      <p:nvPr/>
                    </p:nvPicPr>
                    <p:blipFill>
                      <a:blip r:embed="rId12"/>
                      <a:srcRect/>
                      <a:stretch>
                        <a:fillRect/>
                      </a:stretch>
                    </p:blipFill>
                    <p:spPr bwMode="auto">
                      <a:xfrm>
                        <a:off x="323528" y="4149080"/>
                        <a:ext cx="4122738"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8" name="组合 17"/>
          <p:cNvGrpSpPr/>
          <p:nvPr/>
        </p:nvGrpSpPr>
        <p:grpSpPr>
          <a:xfrm>
            <a:off x="4347047" y="3481214"/>
            <a:ext cx="3591539" cy="1892002"/>
            <a:chOff x="4347047" y="3481214"/>
            <a:chExt cx="3591539" cy="1892002"/>
          </a:xfrm>
        </p:grpSpPr>
        <p:pic>
          <p:nvPicPr>
            <p:cNvPr id="79882" name="Picture 10"/>
            <p:cNvPicPr>
              <a:picLocks noChangeAspect="1" noChangeArrowheads="1"/>
            </p:cNvPicPr>
            <p:nvPr/>
          </p:nvPicPr>
          <p:blipFill>
            <a:blip r:embed="rId13" cstate="print">
              <a:clrChange>
                <a:clrFrom>
                  <a:srgbClr val="FFFFFF"/>
                </a:clrFrom>
                <a:clrTo>
                  <a:srgbClr val="FFFFFF">
                    <a:alpha val="0"/>
                  </a:srgbClr>
                </a:clrTo>
              </a:clrChange>
            </a:blip>
            <a:srcRect/>
            <a:stretch>
              <a:fillRect/>
            </a:stretch>
          </p:blipFill>
          <p:spPr bwMode="auto">
            <a:xfrm>
              <a:off x="4427984" y="4221088"/>
              <a:ext cx="3510602" cy="1152128"/>
            </a:xfrm>
            <a:prstGeom prst="rect">
              <a:avLst/>
            </a:prstGeom>
            <a:noFill/>
            <a:ln w="9525">
              <a:noFill/>
              <a:miter lim="800000"/>
              <a:headEnd/>
              <a:tailEnd/>
            </a:ln>
          </p:spPr>
        </p:pic>
        <p:cxnSp>
          <p:nvCxnSpPr>
            <p:cNvPr id="17" name="直接箭头连接符 16"/>
            <p:cNvCxnSpPr>
              <a:stCxn id="79880" idx="2"/>
              <a:endCxn id="79882" idx="0"/>
            </p:cNvCxnSpPr>
            <p:nvPr/>
          </p:nvCxnSpPr>
          <p:spPr>
            <a:xfrm>
              <a:off x="4347047" y="3481214"/>
              <a:ext cx="1836238" cy="73987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grpSp>
      <p:grpSp>
        <p:nvGrpSpPr>
          <p:cNvPr id="22" name="组合 21"/>
          <p:cNvGrpSpPr/>
          <p:nvPr/>
        </p:nvGrpSpPr>
        <p:grpSpPr>
          <a:xfrm>
            <a:off x="1475656" y="4653136"/>
            <a:ext cx="1800200" cy="1850142"/>
            <a:chOff x="1475656" y="4653136"/>
            <a:chExt cx="1800200" cy="1850142"/>
          </a:xfrm>
        </p:grpSpPr>
        <p:sp>
          <p:nvSpPr>
            <p:cNvPr id="15" name="TextBox 14"/>
            <p:cNvSpPr txBox="1"/>
            <p:nvPr/>
          </p:nvSpPr>
          <p:spPr>
            <a:xfrm>
              <a:off x="1475656" y="5487615"/>
              <a:ext cx="1800200" cy="1015663"/>
            </a:xfrm>
            <a:prstGeom prst="rect">
              <a:avLst/>
            </a:prstGeom>
            <a:noFill/>
          </p:spPr>
          <p:txBody>
            <a:bodyPr wrap="square" rtlCol="0">
              <a:spAutoFit/>
            </a:bodyPr>
            <a:lstStyle/>
            <a:p>
              <a:pPr algn="ctr"/>
              <a:r>
                <a:rPr lang="en-US" altLang="zh-CN" dirty="0" smtClean="0">
                  <a:solidFill>
                    <a:srgbClr val="FF0000"/>
                  </a:solidFill>
                  <a:latin typeface="Times New Roman" pitchFamily="18" charset="0"/>
                  <a:cs typeface="Times New Roman" pitchFamily="18" charset="0"/>
                </a:rPr>
                <a:t>Reciprocity of circuit</a:t>
              </a:r>
            </a:p>
            <a:p>
              <a:pPr algn="ctr"/>
              <a:r>
                <a:rPr lang="en-US" altLang="zh-CN" sz="2400" i="1" dirty="0" smtClean="0">
                  <a:latin typeface="Times New Roman" pitchFamily="18" charset="0"/>
                  <a:cs typeface="Times New Roman" pitchFamily="18" charset="0"/>
                </a:rPr>
                <a:t>Z</a:t>
              </a:r>
              <a:r>
                <a:rPr lang="en-US" altLang="zh-CN" sz="2400" baseline="-25000" dirty="0" smtClean="0">
                  <a:latin typeface="Times New Roman" pitchFamily="18" charset="0"/>
                  <a:cs typeface="Times New Roman" pitchFamily="18" charset="0"/>
                </a:rPr>
                <a:t>12</a:t>
              </a:r>
              <a:r>
                <a:rPr lang="en-US" altLang="zh-CN" sz="2400" dirty="0" smtClean="0">
                  <a:latin typeface="Times New Roman" pitchFamily="18" charset="0"/>
                  <a:cs typeface="Times New Roman" pitchFamily="18" charset="0"/>
                </a:rPr>
                <a:t>=</a:t>
              </a:r>
              <a:r>
                <a:rPr lang="en-US" altLang="zh-CN" sz="2400" i="1" dirty="0" smtClean="0">
                  <a:latin typeface="Times New Roman" pitchFamily="18" charset="0"/>
                  <a:cs typeface="Times New Roman" pitchFamily="18" charset="0"/>
                </a:rPr>
                <a:t> Z</a:t>
              </a:r>
              <a:r>
                <a:rPr lang="en-US" altLang="zh-CN" sz="2400" baseline="-25000" dirty="0" smtClean="0">
                  <a:latin typeface="Times New Roman" pitchFamily="18" charset="0"/>
                  <a:cs typeface="Times New Roman" pitchFamily="18" charset="0"/>
                </a:rPr>
                <a:t>21</a:t>
              </a:r>
              <a:endParaRPr lang="zh-CN" altLang="en-US" sz="2400" dirty="0">
                <a:latin typeface="Times New Roman" pitchFamily="18" charset="0"/>
                <a:cs typeface="Times New Roman" pitchFamily="18" charset="0"/>
              </a:endParaRPr>
            </a:p>
          </p:txBody>
        </p:sp>
        <p:cxnSp>
          <p:nvCxnSpPr>
            <p:cNvPr id="20" name="直接箭头连接符 19"/>
            <p:cNvCxnSpPr>
              <a:endCxn id="15" idx="0"/>
            </p:cNvCxnSpPr>
            <p:nvPr/>
          </p:nvCxnSpPr>
          <p:spPr>
            <a:xfrm flipH="1">
              <a:off x="2375756" y="4653136"/>
              <a:ext cx="36004" cy="834479"/>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grpSp>
      <p:sp>
        <p:nvSpPr>
          <p:cNvPr id="21" name="TextBox 20"/>
          <p:cNvSpPr txBox="1"/>
          <p:nvPr/>
        </p:nvSpPr>
        <p:spPr>
          <a:xfrm>
            <a:off x="827584" y="1052736"/>
            <a:ext cx="7596336" cy="830997"/>
          </a:xfrm>
          <a:prstGeom prst="rect">
            <a:avLst/>
          </a:prstGeom>
          <a:noFill/>
        </p:spPr>
        <p:txBody>
          <a:bodyPr wrap="square" rtlCol="0">
            <a:spAutoFit/>
          </a:bodyPr>
          <a:lstStyle/>
          <a:p>
            <a:pPr algn="ctr"/>
            <a:r>
              <a:rPr lang="en-US" altLang="zh-CN" sz="2400" dirty="0" smtClean="0"/>
              <a:t>The equivalent circuit network of transmitting &amp; receiving antennas system and its reciprocity</a:t>
            </a:r>
            <a:endParaRPr lang="zh-CN" altLang="en-US" sz="2400" dirty="0"/>
          </a:p>
        </p:txBody>
      </p:sp>
      <p:sp>
        <p:nvSpPr>
          <p:cNvPr id="23" name="TextBox 22"/>
          <p:cNvSpPr txBox="1"/>
          <p:nvPr/>
        </p:nvSpPr>
        <p:spPr>
          <a:xfrm>
            <a:off x="3491880" y="5469031"/>
            <a:ext cx="5652120" cy="1200329"/>
          </a:xfrm>
          <a:prstGeom prst="rect">
            <a:avLst/>
          </a:prstGeom>
          <a:noFill/>
        </p:spPr>
        <p:txBody>
          <a:bodyPr wrap="square" rtlCol="0">
            <a:spAutoFit/>
          </a:bodyPr>
          <a:lstStyle/>
          <a:p>
            <a:r>
              <a:rPr lang="en-US" altLang="zh-CN" dirty="0" smtClean="0"/>
              <a:t>Beside the T &amp; R antennas system, for any circuit system(including RLCG) with two ports, we can prove:</a:t>
            </a:r>
          </a:p>
          <a:p>
            <a:r>
              <a:rPr lang="en-US" altLang="zh-CN" dirty="0" smtClean="0">
                <a:solidFill>
                  <a:srgbClr val="FF0000"/>
                </a:solidFill>
              </a:rPr>
              <a:t>Maxwell’s curl equations-&gt;reciprocity of EM fields-&gt;reciprocity of circuit </a:t>
            </a:r>
            <a:endParaRPr lang="zh-CN" altLang="en-US" dirty="0">
              <a:solidFill>
                <a:srgbClr val="FF0000"/>
              </a:solidFill>
            </a:endParaRPr>
          </a:p>
        </p:txBody>
      </p:sp>
      <p:grpSp>
        <p:nvGrpSpPr>
          <p:cNvPr id="25" name="组合 24"/>
          <p:cNvGrpSpPr/>
          <p:nvPr/>
        </p:nvGrpSpPr>
        <p:grpSpPr>
          <a:xfrm>
            <a:off x="251520" y="3429000"/>
            <a:ext cx="3816424" cy="792088"/>
            <a:chOff x="251520" y="3429000"/>
            <a:chExt cx="3816424" cy="792088"/>
          </a:xfrm>
        </p:grpSpPr>
        <p:graphicFrame>
          <p:nvGraphicFramePr>
            <p:cNvPr id="3" name="Object 10"/>
            <p:cNvGraphicFramePr>
              <a:graphicFrameLocks noChangeAspect="1"/>
            </p:cNvGraphicFramePr>
            <p:nvPr/>
          </p:nvGraphicFramePr>
          <p:xfrm>
            <a:off x="1502544" y="3511475"/>
            <a:ext cx="2565400" cy="709613"/>
          </p:xfrm>
          <a:graphic>
            <a:graphicData uri="http://schemas.openxmlformats.org/presentationml/2006/ole">
              <mc:AlternateContent xmlns:mc="http://schemas.openxmlformats.org/markup-compatibility/2006">
                <mc:Choice xmlns:v="urn:schemas-microsoft-com:vml" Requires="v">
                  <p:oleObj spid="_x0000_s79894" name="Equation" r:id="rId14" imgW="1422360" imgH="393480" progId="Equation.DSMT4">
                    <p:embed/>
                  </p:oleObj>
                </mc:Choice>
                <mc:Fallback>
                  <p:oleObj name="Equation" r:id="rId14" imgW="1422360" imgH="393480" progId="Equation.DSMT4">
                    <p:embed/>
                    <p:pic>
                      <p:nvPicPr>
                        <p:cNvPr id="0" name="Picture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02544" y="3511475"/>
                          <a:ext cx="2565400" cy="709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Box 23"/>
            <p:cNvSpPr txBox="1"/>
            <p:nvPr/>
          </p:nvSpPr>
          <p:spPr>
            <a:xfrm>
              <a:off x="251520" y="3429000"/>
              <a:ext cx="1368152" cy="646331"/>
            </a:xfrm>
            <a:prstGeom prst="rect">
              <a:avLst/>
            </a:prstGeom>
            <a:noFill/>
          </p:spPr>
          <p:txBody>
            <a:bodyPr wrap="square" rtlCol="0">
              <a:spAutoFit/>
            </a:bodyPr>
            <a:lstStyle/>
            <a:p>
              <a:r>
                <a:rPr lang="en-US" altLang="zh-CN" dirty="0" smtClean="0">
                  <a:solidFill>
                    <a:srgbClr val="FF0000"/>
                  </a:solidFill>
                </a:rPr>
                <a:t>Reciprocity of EM fields</a:t>
              </a:r>
              <a:endParaRPr lang="zh-CN" altLang="en-US"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9880"/>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8"/>
                                        </p:tgtEl>
                                        <p:attrNameLst>
                                          <p:attrName>style.visibility</p:attrName>
                                        </p:attrNameLst>
                                      </p:cBhvr>
                                      <p:to>
                                        <p:strVal val="hidden"/>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988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edge">
                                      <p:cBhvr>
                                        <p:cTn id="29" dur="10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20" presetClass="entr" presetSubtype="0"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edge">
                                      <p:cBhvr>
                                        <p:cTn id="34" dur="10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cstate="print"/>
          <a:srcRect/>
          <a:stretch>
            <a:fillRect/>
          </a:stretch>
        </p:blipFill>
        <p:spPr bwMode="auto">
          <a:xfrm>
            <a:off x="1" y="0"/>
            <a:ext cx="9144000" cy="1000125"/>
          </a:xfrm>
          <a:prstGeom prst="rect">
            <a:avLst/>
          </a:prstGeom>
          <a:noFill/>
          <a:ln w="9525">
            <a:noFill/>
            <a:miter lim="800000"/>
            <a:headEnd/>
            <a:tailEnd/>
          </a:ln>
          <a:effectLst/>
        </p:spPr>
      </p:pic>
      <p:sp>
        <p:nvSpPr>
          <p:cNvPr id="3" name="Rectangle 1"/>
          <p:cNvSpPr>
            <a:spLocks noChangeArrowheads="1"/>
          </p:cNvSpPr>
          <p:nvPr/>
        </p:nvSpPr>
        <p:spPr bwMode="auto">
          <a:xfrm>
            <a:off x="1043608" y="1052736"/>
            <a:ext cx="7000924"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ctr" defTabSz="914400" rtl="0" eaLnBrk="1" fontAlgn="base" latinLnBrk="0" hangingPunct="1">
              <a:lnSpc>
                <a:spcPct val="100000"/>
              </a:lnSpc>
              <a:spcBef>
                <a:spcPct val="0"/>
              </a:spcBef>
              <a:spcAft>
                <a:spcPct val="0"/>
              </a:spcAft>
              <a:buClrTx/>
              <a:buSzTx/>
              <a:buFontTx/>
              <a:buNone/>
              <a:tabLst/>
            </a:pPr>
            <a:r>
              <a:rPr kumimoji="0" lang="en-US" altLang="zh-CN" sz="3200" b="0" i="0"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Antenna Arrangement for Pattern </a:t>
            </a:r>
            <a:endParaRPr kumimoji="0" lang="en-US" altLang="zh-CN" sz="3200" b="0" i="0"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ctr" defTabSz="914400" rtl="0" eaLnBrk="0" fontAlgn="base" latinLnBrk="0" hangingPunct="0">
              <a:lnSpc>
                <a:spcPct val="100000"/>
              </a:lnSpc>
              <a:spcBef>
                <a:spcPct val="0"/>
              </a:spcBef>
              <a:spcAft>
                <a:spcPct val="0"/>
              </a:spcAft>
              <a:buClrTx/>
              <a:buSzTx/>
              <a:buFontTx/>
              <a:buNone/>
              <a:tabLst/>
            </a:pPr>
            <a:r>
              <a:rPr kumimoji="0" lang="en-US" altLang="zh-CN" sz="3200" b="0" i="0" strike="noStrike" cap="none" normalizeH="0" baseline="0" dirty="0" smtClean="0">
                <a:ln>
                  <a:noFill/>
                </a:ln>
                <a:solidFill>
                  <a:schemeClr val="tx1"/>
                </a:solidFill>
                <a:effectLst/>
                <a:latin typeface="Times New Roman" pitchFamily="18" charset="0"/>
                <a:ea typeface="微软雅黑" pitchFamily="34" charset="-122"/>
                <a:cs typeface="Times New Roman" pitchFamily="18" charset="0"/>
              </a:rPr>
              <a:t>Measurements &amp; Reciprocity Theorem</a:t>
            </a:r>
            <a:endParaRPr kumimoji="0" lang="en-US" altLang="zh-CN" sz="3200" b="0" i="0"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4" name="图片 3"/>
          <p:cNvPicPr/>
          <p:nvPr/>
        </p:nvPicPr>
        <p:blipFill>
          <a:blip r:embed="rId3" cstate="print"/>
          <a:srcRect/>
          <a:stretch>
            <a:fillRect/>
          </a:stretch>
        </p:blipFill>
        <p:spPr bwMode="auto">
          <a:xfrm>
            <a:off x="1331640" y="2276872"/>
            <a:ext cx="6357982" cy="3571900"/>
          </a:xfrm>
          <a:prstGeom prst="rect">
            <a:avLst/>
          </a:prstGeom>
          <a:noFill/>
          <a:ln w="9525">
            <a:noFill/>
            <a:miter lim="800000"/>
            <a:headEnd/>
            <a:tailEnd/>
          </a:ln>
        </p:spPr>
      </p:pic>
      <p:sp>
        <p:nvSpPr>
          <p:cNvPr id="5" name="矩形 4"/>
          <p:cNvSpPr/>
          <p:nvPr/>
        </p:nvSpPr>
        <p:spPr>
          <a:xfrm>
            <a:off x="3779912" y="4941168"/>
            <a:ext cx="1111202" cy="369332"/>
          </a:xfrm>
          <a:prstGeom prst="rect">
            <a:avLst/>
          </a:prstGeom>
        </p:spPr>
        <p:txBody>
          <a:bodyPr wrap="none">
            <a:spAutoFit/>
          </a:bodyPr>
          <a:lstStyle/>
          <a:p>
            <a:r>
              <a:rPr lang="en-US" altLang="zh-CN" i="1" dirty="0" smtClean="0"/>
              <a:t>V</a:t>
            </a:r>
            <a:r>
              <a:rPr lang="en-US" altLang="zh-CN" i="1" baseline="-25000" dirty="0" smtClean="0"/>
              <a:t>2oc</a:t>
            </a:r>
            <a:r>
              <a:rPr lang="en-US" altLang="zh-CN" i="1" dirty="0" smtClean="0"/>
              <a:t> = V</a:t>
            </a:r>
            <a:r>
              <a:rPr lang="en-US" altLang="zh-CN" i="1" baseline="-25000" dirty="0" smtClean="0"/>
              <a:t>1oc</a:t>
            </a:r>
            <a:endParaRPr lang="zh-CN" altLang="en-US" baseline="-25000" dirty="0"/>
          </a:p>
        </p:txBody>
      </p:sp>
      <p:sp>
        <p:nvSpPr>
          <p:cNvPr id="6" name="矩形 5"/>
          <p:cNvSpPr/>
          <p:nvPr/>
        </p:nvSpPr>
        <p:spPr>
          <a:xfrm>
            <a:off x="323528" y="5589240"/>
            <a:ext cx="8568952" cy="923330"/>
          </a:xfrm>
          <a:prstGeom prst="rect">
            <a:avLst/>
          </a:prstGeom>
        </p:spPr>
        <p:txBody>
          <a:bodyPr wrap="square">
            <a:spAutoFit/>
          </a:bodyPr>
          <a:lstStyle/>
          <a:p>
            <a:r>
              <a:rPr lang="en-US" altLang="zh-CN" dirty="0" smtClean="0"/>
              <a:t>The receiving mode of operation for the test antenna is most widely used to measure antenna patterns because the transmitting equipment is, in most cases, bulky and heavy while the receiver is small and lightweight</a:t>
            </a:r>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cstate="print"/>
          <a:srcRect/>
          <a:stretch>
            <a:fillRect/>
          </a:stretch>
        </p:blipFill>
        <p:spPr bwMode="auto">
          <a:xfrm>
            <a:off x="1" y="0"/>
            <a:ext cx="9144000" cy="1000125"/>
          </a:xfrm>
          <a:prstGeom prst="rect">
            <a:avLst/>
          </a:prstGeom>
          <a:noFill/>
          <a:ln w="9525">
            <a:noFill/>
            <a:miter lim="800000"/>
            <a:headEnd/>
            <a:tailEnd/>
          </a:ln>
          <a:effectLst/>
        </p:spPr>
      </p:pic>
      <p:sp>
        <p:nvSpPr>
          <p:cNvPr id="3" name="TextBox 2"/>
          <p:cNvSpPr txBox="1"/>
          <p:nvPr/>
        </p:nvSpPr>
        <p:spPr>
          <a:xfrm>
            <a:off x="1619672" y="1268760"/>
            <a:ext cx="5256584" cy="1077218"/>
          </a:xfrm>
          <a:prstGeom prst="rect">
            <a:avLst/>
          </a:prstGeom>
          <a:noFill/>
        </p:spPr>
        <p:txBody>
          <a:bodyPr wrap="square" rtlCol="0">
            <a:spAutoFit/>
          </a:bodyPr>
          <a:lstStyle/>
          <a:p>
            <a:r>
              <a:rPr lang="en-US" altLang="zh-CN" sz="3200" dirty="0" smtClean="0"/>
              <a:t>Homework</a:t>
            </a:r>
          </a:p>
          <a:p>
            <a:r>
              <a:rPr lang="en-US" altLang="zh-CN" sz="3200" dirty="0" smtClean="0"/>
              <a:t>Page 150</a:t>
            </a:r>
            <a:endParaRPr lang="zh-CN" altLang="en-US" sz="3200" dirty="0"/>
          </a:p>
        </p:txBody>
      </p:sp>
      <p:pic>
        <p:nvPicPr>
          <p:cNvPr id="104450" name="Picture 2"/>
          <p:cNvPicPr>
            <a:picLocks noChangeAspect="1" noChangeArrowheads="1"/>
          </p:cNvPicPr>
          <p:nvPr/>
        </p:nvPicPr>
        <p:blipFill>
          <a:blip r:embed="rId3" cstate="print"/>
          <a:srcRect r="-938"/>
          <a:stretch>
            <a:fillRect/>
          </a:stretch>
        </p:blipFill>
        <p:spPr bwMode="auto">
          <a:xfrm>
            <a:off x="1115616" y="4869160"/>
            <a:ext cx="3096344" cy="360040"/>
          </a:xfrm>
          <a:prstGeom prst="rect">
            <a:avLst/>
          </a:prstGeom>
          <a:noFill/>
          <a:ln w="9525">
            <a:noFill/>
            <a:miter lim="800000"/>
            <a:headEnd/>
            <a:tailEnd/>
          </a:ln>
        </p:spPr>
      </p:pic>
      <p:pic>
        <p:nvPicPr>
          <p:cNvPr id="104451" name="Picture 3"/>
          <p:cNvPicPr>
            <a:picLocks noChangeAspect="1" noChangeArrowheads="1"/>
          </p:cNvPicPr>
          <p:nvPr/>
        </p:nvPicPr>
        <p:blipFill>
          <a:blip r:embed="rId4" cstate="print"/>
          <a:srcRect/>
          <a:stretch>
            <a:fillRect/>
          </a:stretch>
        </p:blipFill>
        <p:spPr bwMode="auto">
          <a:xfrm>
            <a:off x="1043608" y="2492896"/>
            <a:ext cx="6136334" cy="360040"/>
          </a:xfrm>
          <a:prstGeom prst="rect">
            <a:avLst/>
          </a:prstGeom>
          <a:noFill/>
          <a:ln w="9525">
            <a:noFill/>
            <a:miter lim="800000"/>
            <a:headEnd/>
            <a:tailEnd/>
          </a:ln>
        </p:spPr>
      </p:pic>
      <p:pic>
        <p:nvPicPr>
          <p:cNvPr id="104452" name="Picture 4"/>
          <p:cNvPicPr>
            <a:picLocks noChangeAspect="1" noChangeArrowheads="1"/>
          </p:cNvPicPr>
          <p:nvPr/>
        </p:nvPicPr>
        <p:blipFill>
          <a:blip r:embed="rId5" cstate="print"/>
          <a:srcRect/>
          <a:stretch>
            <a:fillRect/>
          </a:stretch>
        </p:blipFill>
        <p:spPr bwMode="auto">
          <a:xfrm>
            <a:off x="2771800" y="2852936"/>
            <a:ext cx="4255236" cy="1158230"/>
          </a:xfrm>
          <a:prstGeom prst="rect">
            <a:avLst/>
          </a:prstGeom>
          <a:noFill/>
          <a:ln w="9525">
            <a:noFill/>
            <a:miter lim="800000"/>
            <a:headEnd/>
            <a:tailEnd/>
          </a:ln>
        </p:spPr>
      </p:pic>
      <p:pic>
        <p:nvPicPr>
          <p:cNvPr id="104453" name="Picture 5"/>
          <p:cNvPicPr>
            <a:picLocks noChangeAspect="1" noChangeArrowheads="1"/>
          </p:cNvPicPr>
          <p:nvPr/>
        </p:nvPicPr>
        <p:blipFill>
          <a:blip r:embed="rId6" cstate="print"/>
          <a:srcRect/>
          <a:stretch>
            <a:fillRect/>
          </a:stretch>
        </p:blipFill>
        <p:spPr bwMode="auto">
          <a:xfrm>
            <a:off x="2483768" y="4077072"/>
            <a:ext cx="5184576" cy="576064"/>
          </a:xfrm>
          <a:prstGeom prst="rect">
            <a:avLst/>
          </a:prstGeom>
          <a:noFill/>
          <a:ln w="9525">
            <a:noFill/>
            <a:miter lim="800000"/>
            <a:headEnd/>
            <a:tailEnd/>
          </a:ln>
        </p:spPr>
      </p:pic>
      <p:pic>
        <p:nvPicPr>
          <p:cNvPr id="104454" name="Picture 6"/>
          <p:cNvPicPr>
            <a:picLocks noChangeAspect="1" noChangeArrowheads="1"/>
          </p:cNvPicPr>
          <p:nvPr/>
        </p:nvPicPr>
        <p:blipFill>
          <a:blip r:embed="rId7" cstate="print"/>
          <a:srcRect/>
          <a:stretch>
            <a:fillRect/>
          </a:stretch>
        </p:blipFill>
        <p:spPr bwMode="auto">
          <a:xfrm>
            <a:off x="611560" y="5373216"/>
            <a:ext cx="7887429" cy="541015"/>
          </a:xfrm>
          <a:prstGeom prst="rect">
            <a:avLst/>
          </a:prstGeom>
          <a:noFill/>
          <a:ln w="9525">
            <a:noFill/>
            <a:miter lim="800000"/>
            <a:headEnd/>
            <a:tailEnd/>
          </a:ln>
        </p:spPr>
      </p:pic>
      <p:cxnSp>
        <p:nvCxnSpPr>
          <p:cNvPr id="10" name="直接连接符 9"/>
          <p:cNvCxnSpPr/>
          <p:nvPr/>
        </p:nvCxnSpPr>
        <p:spPr>
          <a:xfrm flipV="1">
            <a:off x="3131840" y="4941168"/>
            <a:ext cx="1008112" cy="216024"/>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dirty="0" smtClean="0">
            <a:latin typeface="Times New Roman" pitchFamily="18" charset="0"/>
            <a:cs typeface="Times New Roman" pitchFamily="18" charset="0"/>
          </a:defRPr>
        </a:defPPr>
      </a:lstStyle>
    </a:spDef>
  </a:objectDefaults>
  <a:extraClrSchemeLst/>
</a:theme>
</file>

<file path=docProps/app.xml><?xml version="1.0" encoding="utf-8"?>
<Properties xmlns="http://schemas.openxmlformats.org/officeDocument/2006/extended-properties" xmlns:vt="http://schemas.openxmlformats.org/officeDocument/2006/docPropsVTypes">
  <TotalTime>2683</TotalTime>
  <Words>1582</Words>
  <Application>Microsoft Office PowerPoint</Application>
  <PresentationFormat>全屏显示(4:3)</PresentationFormat>
  <Paragraphs>210</Paragraphs>
  <Slides>41</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3</vt:i4>
      </vt:variant>
      <vt:variant>
        <vt:lpstr>幻灯片标题</vt:lpstr>
      </vt:variant>
      <vt:variant>
        <vt:i4>41</vt:i4>
      </vt:variant>
    </vt:vector>
  </HeadingPairs>
  <TitlesOfParts>
    <vt:vector size="52" baseType="lpstr">
      <vt:lpstr>宋体</vt:lpstr>
      <vt:lpstr>微软雅黑</vt:lpstr>
      <vt:lpstr>Arial</vt:lpstr>
      <vt:lpstr>Calibri</vt:lpstr>
      <vt:lpstr>Symbol</vt:lpstr>
      <vt:lpstr>Times New Roman</vt:lpstr>
      <vt:lpstr>Wingdings</vt:lpstr>
      <vt:lpstr>Office 主题</vt:lpstr>
      <vt:lpstr>Visio</vt:lpstr>
      <vt:lpstr>Equation</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hgwang</cp:lastModifiedBy>
  <cp:revision>104</cp:revision>
  <dcterms:created xsi:type="dcterms:W3CDTF">2011-04-06T09:01:49Z</dcterms:created>
  <dcterms:modified xsi:type="dcterms:W3CDTF">2020-10-13T12:37:49Z</dcterms:modified>
</cp:coreProperties>
</file>