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1" r:id="rId3"/>
    <p:sldId id="257" r:id="rId4"/>
    <p:sldId id="258" r:id="rId5"/>
    <p:sldId id="261" r:id="rId6"/>
    <p:sldId id="262" r:id="rId7"/>
    <p:sldId id="263" r:id="rId8"/>
    <p:sldId id="266" r:id="rId9"/>
    <p:sldId id="268" r:id="rId10"/>
    <p:sldId id="267" r:id="rId11"/>
    <p:sldId id="270" r:id="rId12"/>
    <p:sldId id="269" r:id="rId13"/>
    <p:sldId id="272" r:id="rId14"/>
    <p:sldId id="277" r:id="rId15"/>
    <p:sldId id="274" r:id="rId16"/>
    <p:sldId id="276" r:id="rId17"/>
    <p:sldId id="275" r:id="rId18"/>
    <p:sldId id="278" r:id="rId19"/>
    <p:sldId id="279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3F89"/>
    <a:srgbClr val="FEF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78B72-C866-477E-B3EF-AF8C8F8D3D7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19EE05-12F2-4AE1-B348-CF5FA5401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874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ED525-CC09-7B6E-E926-892DCFD41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E7D6FC-D280-4E29-CBBA-4AAB662BE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E685EA-CA6D-310F-5F2A-BB0F8BC53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813C-620E-4AA2-8F03-F85058D4934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382B51-9688-EFAA-068A-360F7277C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8529F5-6248-D4EE-FA6A-B5E80186B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271F2-4E49-4AE9-8204-82C0CB408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316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498C32-BD78-DCAC-5706-E489D06FC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FB2692-0217-388B-394E-2BF19DFD1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98056A-EC8F-7268-E37E-822E8A324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813C-620E-4AA2-8F03-F85058D4934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F3EAAD-CCA8-3B44-F1CA-04DA2DE26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91BDA5-DFEB-7246-7ABB-6E6263192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271F2-4E49-4AE9-8204-82C0CB408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855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77A6C-D3B1-3117-9AF9-D1F8902C4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85BDB2-927D-5302-E9FA-92CC11F21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7B8A93-3E34-33BD-28F7-DB4F1248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813C-620E-4AA2-8F03-F85058D4934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0B376-BE87-22C0-9960-F50F6EF0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203157-1C77-DB17-A9F4-7C35A42D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271F2-4E49-4AE9-8204-82C0CB408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538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8BBB64-97A8-A5D5-89DC-C8E913E30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04FC54-F11B-F0B4-C456-4BC126E23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B7B06A-8CE4-928B-B324-F870FD360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609D4C-158A-C356-CADA-DAE537DF3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813C-620E-4AA2-8F03-F85058D4934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4AFCE9-05C6-4DE1-83B5-D7071BB6A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7154EA-2884-ACB1-D272-D22AF7C5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271F2-4E49-4AE9-8204-82C0CB408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907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32459-2533-6F73-2FD9-5054622B9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B6D64F-FA28-A633-78EF-F9B2CB20E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E0242F-694B-1C20-C644-32FBEB4FC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75AC801-C51D-2663-E11C-EC8E1BC9A3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BA51ED-59E2-BAFD-2F26-1747981C1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FD332C2-4418-6586-C23F-DAB174C83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813C-620E-4AA2-8F03-F85058D4934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C3EAB4-A6BF-CFAA-63A0-DF57DF6D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E470228-7EA3-1DEE-61BD-8AE56B5A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271F2-4E49-4AE9-8204-82C0CB408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57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D4CA7-6902-9A31-A326-96C30ACD5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CDF141-992F-E8A3-6452-3D9417BE1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813C-620E-4AA2-8F03-F85058D4934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45F8A0-747A-C030-31D6-A864F17C3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C4F013-09E0-5D1B-65A0-4EFE560B4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271F2-4E49-4AE9-8204-82C0CB408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753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E207A6-0F7B-5AE8-1354-6AFF3E01E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813C-620E-4AA2-8F03-F85058D4934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B6DD17-F47E-BE59-294B-0F3EA03A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28CAC3-D13D-AC01-F2C2-0BE71BB2C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271F2-4E49-4AE9-8204-82C0CB408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98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CE100-63F3-85CE-20F5-FAD1D0E0A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F3ED05-6481-F88C-0025-7F28CCEBF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C9E3EA-3EC4-81B6-7B28-CB8288D4F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347869-7745-351A-7AC4-EDF39A70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813C-620E-4AA2-8F03-F85058D4934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2CA052-B9C6-84AE-918E-239E370FC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BC4503-DC8D-6738-D5EF-38B6693D6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271F2-4E49-4AE9-8204-82C0CB408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09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50C00-5F2D-5459-14D4-510394CE0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FD29D6-2E2B-82B3-BEB2-C33D2606E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C608D3-D53B-5D26-EA09-491839EE4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EB186E-8759-3D4E-B890-E1FAD852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813C-620E-4AA2-8F03-F85058D4934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BB97EF-1553-FB92-0C7B-AD7C2D4A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0DCBBF-9FC3-F1A7-8BC8-D034F9AF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271F2-4E49-4AE9-8204-82C0CB408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42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A0198-4286-59F2-9BB7-0012EF43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D9ECA8-A940-4A0E-AAA1-27FA093D4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49D07-2CCD-AC61-25AD-A14BECE91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813C-620E-4AA2-8F03-F85058D4934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C9701F-A728-7A59-D99A-271948FF0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BF8FD7-7FCC-1956-41D7-C179313F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271F2-4E49-4AE9-8204-82C0CB408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204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15D20F-EF11-0E01-8F94-376501190D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CFA8E6-0548-A0C8-AC5A-ACF0C50C2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6D8310-E2F6-9996-B4B4-10F8F7D7C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813C-620E-4AA2-8F03-F85058D4934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01176-BFA4-C238-A657-05A20C198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5C7243-359F-B155-9865-E3183923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271F2-4E49-4AE9-8204-82C0CB408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737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0E7CA3-6DEB-161A-A9B8-7801AFEAB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2346FD-A760-9E16-C8D9-12E65F0BD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91E119-4D55-D61C-3836-9D8954789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C813C-620E-4AA2-8F03-F85058D4934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830920-CB95-39D0-3BBE-F1B625F65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03A64A-E7D5-D6E7-FDA4-AFF45A66A0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271F2-4E49-4AE9-8204-82C0CB408C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069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3239D36-6549-B591-887F-4D10E9E470AF}"/>
              </a:ext>
            </a:extLst>
          </p:cNvPr>
          <p:cNvSpPr/>
          <p:nvPr/>
        </p:nvSpPr>
        <p:spPr>
          <a:xfrm>
            <a:off x="0" y="1317523"/>
            <a:ext cx="12192000" cy="2035276"/>
          </a:xfrm>
          <a:prstGeom prst="rect">
            <a:avLst/>
          </a:prstGeom>
          <a:solidFill>
            <a:srgbClr val="0D3F89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2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集成电路原理与设计</a:t>
            </a:r>
            <a:endParaRPr lang="en-US" altLang="zh-CN" sz="7200" b="1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1ECF9C-B7A5-DD77-1AD6-2BD294255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3250"/>
            <a:ext cx="9144000" cy="119610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申佳欣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2025/11/1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C7BC5E21-D69B-7A6A-C630-AC00AEE7682E}"/>
              </a:ext>
            </a:extLst>
          </p:cNvPr>
          <p:cNvSpPr txBox="1">
            <a:spLocks/>
          </p:cNvSpPr>
          <p:nvPr/>
        </p:nvSpPr>
        <p:spPr>
          <a:xfrm>
            <a:off x="0" y="3600448"/>
            <a:ext cx="12192000" cy="753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dirty="0">
                <a:latin typeface="华文隶书" panose="02010800040101010101" pitchFamily="2" charset="-122"/>
                <a:ea typeface="华文隶书" panose="02010800040101010101" pitchFamily="2" charset="-122"/>
              </a:rPr>
              <a:t>期中辅学</a:t>
            </a:r>
            <a:endParaRPr lang="en-US" altLang="zh-CN" sz="4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5087D5D-2A2B-F5AD-EFB8-3F1049570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733" cy="106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57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BEDFD-D05F-F1EA-4F9B-E263EA96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E039267-0A51-2E74-80E4-6822EA08E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733" cy="10698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D079E26-ADEB-DEEA-BDB7-5C1A977ECC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648"/>
          <a:stretch>
            <a:fillRect/>
          </a:stretch>
        </p:blipFill>
        <p:spPr>
          <a:xfrm>
            <a:off x="269410" y="1234263"/>
            <a:ext cx="6622279" cy="381053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B9E2182-C2E7-2104-A34C-905C41CE90D1}"/>
              </a:ext>
            </a:extLst>
          </p:cNvPr>
          <p:cNvSpPr txBox="1"/>
          <p:nvPr/>
        </p:nvSpPr>
        <p:spPr>
          <a:xfrm>
            <a:off x="5815875" y="2584474"/>
            <a:ext cx="4762289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D3F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期中考试属于课堂测验的一部分</a:t>
            </a:r>
            <a:endParaRPr lang="en-US" altLang="zh-CN" sz="2400" b="1" dirty="0">
              <a:solidFill>
                <a:srgbClr val="0D3F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D3F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占比较低且难度不高</a:t>
            </a:r>
            <a:endParaRPr lang="en-US" altLang="zh-CN" sz="2400" b="1" dirty="0">
              <a:solidFill>
                <a:srgbClr val="0D3F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D3F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大家可以放轻松一些</a:t>
            </a:r>
          </a:p>
        </p:txBody>
      </p:sp>
    </p:spTree>
    <p:extLst>
      <p:ext uri="{BB962C8B-B14F-4D97-AF65-F5344CB8AC3E}">
        <p14:creationId xmlns:p14="http://schemas.microsoft.com/office/powerpoint/2010/main" val="2618374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07D1E5E-0FD6-53CB-277F-FE92009B4F85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Explain the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Abbreviations(English and Chinese) 3×15 = 45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54A671A-E02A-A414-8BBE-BD2093496330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34490FF-5BE8-5682-6A54-495366852421}"/>
                  </a:ext>
                </a:extLst>
              </p:cNvPr>
              <p:cNvSpPr txBox="1"/>
              <p:nvPr/>
            </p:nvSpPr>
            <p:spPr>
              <a:xfrm>
                <a:off x="245806" y="786581"/>
                <a:ext cx="11700387" cy="6345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e.g. 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例子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IC: Integrated Circuits 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集成电路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 CMOS          	   Complementary Metal Oxide Semiconductor 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互补金属氧化物半导体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 DSP		   Digital Signal Processor 	 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数字信号处理器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(3)  FPGA               Field Programmable Gate Array	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现场可编程逻辑门阵列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(4)  ASIC                Application Specific Integrated Circuit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专用集成电路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(5)  CVD 	   Chemical Vapor Deposition  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气相沉积法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(6)  SOI 		   Silicon on Insulator 	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绝缘体上硅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(7)  DRC/LVS 	   Design Rule Check   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设计规则检测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Layout Versus Schematics         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验证版图和逻辑图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(8) 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GS</m:t>
                        </m:r>
                      </m:sub>
                    </m:sSub>
                    <m:r>
                      <a:rPr lang="ar-AE" altLang="zh-CN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ar-AE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BD</m:t>
                        </m:r>
                      </m:sub>
                    </m:sSub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(9)  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Cascode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/Cascade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共源共栅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水平级联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(11) PTAT 	   Proportional to Absolute Temperature 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与绝对温度成正比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(12) ZTC 	   Zero Temperature Coefficient 	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零温度系数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(13) OTA 	   operational transconductance amplifier 	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跨导运算放大器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(14) 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SiP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	   System In a Package  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系统级封装</a:t>
                </a: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(15) ISSCC/JSSC	   IEEE International Solid-State Circuits Conference 	 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国际固态电路会议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IEEE Journal of Solid-State Circuits IEEE 	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固态电路学报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34490FF-5BE8-5682-6A54-495366852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06" y="786581"/>
                <a:ext cx="11700387" cy="6345327"/>
              </a:xfrm>
              <a:prstGeom prst="rect">
                <a:avLst/>
              </a:prstGeo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51C25E96-830D-C297-CCBA-4B4CEF973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77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FC1C-A7C8-DFF9-952C-3E8C9570B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41A03DE-5729-251A-D5BF-D91139A17E28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Explain the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Abbreviations(English and Chinese) 3×15 = 45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4CB59F4-3F65-E2CE-4070-11A83BB565E3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4B1380C6-BD9F-466A-6509-3A56AAE0F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DEC5E78-8281-F9B3-6FBB-747C1ADF5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91" y="1287573"/>
            <a:ext cx="11100618" cy="522382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8A61D1E-0C6A-7BE3-AAC0-263E1551F9CF}"/>
              </a:ext>
            </a:extLst>
          </p:cNvPr>
          <p:cNvSpPr txBox="1"/>
          <p:nvPr/>
        </p:nvSpPr>
        <p:spPr>
          <a:xfrm>
            <a:off x="0" y="80624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D3F89"/>
                </a:solidFill>
                <a:latin typeface="+mn-ea"/>
              </a:rPr>
              <a:t>集成电路名词解释</a:t>
            </a:r>
          </a:p>
        </p:txBody>
      </p:sp>
    </p:spTree>
    <p:extLst>
      <p:ext uri="{BB962C8B-B14F-4D97-AF65-F5344CB8AC3E}">
        <p14:creationId xmlns:p14="http://schemas.microsoft.com/office/powerpoint/2010/main" val="418383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C9ABC-74E1-497D-958C-A0E28BE6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92D4A7A-3204-4BD0-A5BA-7B5CF044E8F8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Explain the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Abbreviations(English and Chinese) 3×15 = 45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24DF467-5583-7FF0-BC1D-591451FF54C6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A3023A0B-BA82-B3CE-FE7B-DA691DEFF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B94CCA9-CFD0-31F4-841E-80215BF58A25}"/>
              </a:ext>
            </a:extLst>
          </p:cNvPr>
          <p:cNvSpPr txBox="1"/>
          <p:nvPr/>
        </p:nvSpPr>
        <p:spPr>
          <a:xfrm>
            <a:off x="0" y="80624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D3F89"/>
                </a:solidFill>
                <a:latin typeface="+mn-ea"/>
              </a:rPr>
              <a:t>集成电路名词解释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4A2C731-A00E-F4F9-0820-2664940C1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42" y="1287573"/>
            <a:ext cx="11375377" cy="511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16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4B3B8-170B-6328-05D8-B32D0F15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B85ED18-3712-32EC-215E-518F25F8AF1B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Explain the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Abbreviations(English and Chinese) 3×15 = 45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DB67CC0-16D9-7C7F-696C-B34495A3F749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8334563F-E313-BB6A-4F53-C49BE155E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83EAD8B-1CD1-84C6-8237-BDE84C11399F}"/>
              </a:ext>
            </a:extLst>
          </p:cNvPr>
          <p:cNvSpPr txBox="1"/>
          <p:nvPr/>
        </p:nvSpPr>
        <p:spPr>
          <a:xfrm>
            <a:off x="0" y="80624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D3F89"/>
                </a:solidFill>
                <a:latin typeface="+mn-ea"/>
              </a:rPr>
              <a:t>集成电路名词解释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BE406A-F325-44B3-1F24-FF50EAE67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59" y="1414792"/>
            <a:ext cx="11570682" cy="46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549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B2A9A-0AB7-24BE-34CF-E08D689C9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5ED030E-FBF7-4841-BDFE-A908471C3172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2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Short Questions 4×8 = 32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6BEC8EC-E9C7-F7C3-B870-08B9873D1171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3A7CB572-1A26-FF5C-78F5-9D0860DE2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FF50FFA-4FAE-852F-EAD0-945B1FDB85A5}"/>
              </a:ext>
            </a:extLst>
          </p:cNvPr>
          <p:cNvSpPr txBox="1"/>
          <p:nvPr/>
        </p:nvSpPr>
        <p:spPr>
          <a:xfrm>
            <a:off x="48126" y="786581"/>
            <a:ext cx="12095747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Moore's Law refers to Gordon Moore's perception that the number of 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transistors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(what) on a microchip 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doubles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(change how many times) every 18-24 month, though the cost of computers is halved.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(Analog/Digital) IC design differs greatly from digital IC design. Where 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digital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(analog/digital) IC design is mostly done at an abstracted level with HDL (Hardware Description Language), 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(analog/digital) IC design generally involves more personalized focus into each transistor, determining the sizing of each.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8DDB49B-BD12-4C28-620E-9B8E5C7B1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00" y="3131903"/>
            <a:ext cx="4808764" cy="362654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0C46CC4-27E4-DC0B-C565-4D59C3CDC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253" y="5670732"/>
            <a:ext cx="5097234" cy="104575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D512E025-B4CD-E774-ECB6-B8CF8D95A0C3}"/>
              </a:ext>
            </a:extLst>
          </p:cNvPr>
          <p:cNvGrpSpPr/>
          <p:nvPr/>
        </p:nvGrpSpPr>
        <p:grpSpPr>
          <a:xfrm>
            <a:off x="5190234" y="3131903"/>
            <a:ext cx="6953639" cy="1998359"/>
            <a:chOff x="5190234" y="3131903"/>
            <a:chExt cx="6953639" cy="1998359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93F9DC-2A4C-0DAF-03DB-5381380ED6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0234" y="3131903"/>
              <a:ext cx="6953639" cy="1998359"/>
            </a:xfrm>
            <a:prstGeom prst="rect">
              <a:avLst/>
            </a:prstGeom>
          </p:spPr>
        </p:pic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BC10438-2999-6F2F-EAF1-61B7DA335FDD}"/>
                </a:ext>
              </a:extLst>
            </p:cNvPr>
            <p:cNvCxnSpPr>
              <a:cxnSpLocks/>
            </p:cNvCxnSpPr>
            <p:nvPr/>
          </p:nvCxnSpPr>
          <p:spPr>
            <a:xfrm>
              <a:off x="5284269" y="4562375"/>
              <a:ext cx="2579571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6748ADB7-159A-642F-D0E0-6052188883DA}"/>
              </a:ext>
            </a:extLst>
          </p:cNvPr>
          <p:cNvSpPr txBox="1"/>
          <p:nvPr/>
        </p:nvSpPr>
        <p:spPr>
          <a:xfrm>
            <a:off x="5190234" y="5229539"/>
            <a:ext cx="6015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D3F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摩尔定律的三种版本（我们</a:t>
            </a:r>
            <a:r>
              <a:rPr lang="en-US" altLang="zh-CN" b="1" dirty="0">
                <a:solidFill>
                  <a:srgbClr val="0D3F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</a:t>
            </a:r>
            <a:r>
              <a:rPr lang="zh-CN" altLang="en-US" b="1" dirty="0">
                <a:solidFill>
                  <a:srgbClr val="0D3F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有自己的</a:t>
            </a:r>
            <a:r>
              <a:rPr lang="zh-CN" altLang="en-US" b="1" dirty="0">
                <a:solidFill>
                  <a:srgbClr val="0D3F8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“茴”的四种写法</a:t>
            </a:r>
            <a:r>
              <a:rPr lang="zh-CN" altLang="en-US" b="1" dirty="0">
                <a:solidFill>
                  <a:srgbClr val="0D3F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3688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3C66B-6E5D-757B-BD9A-81442B761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A1AFFCC-3EAE-A611-F330-0060AAA4FE4D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2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Short Questions 4×8 = 32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C764980-6563-7021-8549-6CDB8C5CEAA6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10AB8B2E-EDC4-94FA-170E-2124BE9FE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3466AB8-6075-0D0E-9177-FC3F108283EF}"/>
              </a:ext>
            </a:extLst>
          </p:cNvPr>
          <p:cNvSpPr txBox="1"/>
          <p:nvPr/>
        </p:nvSpPr>
        <p:spPr>
          <a:xfrm>
            <a:off x="48126" y="786581"/>
            <a:ext cx="12095747" cy="142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Modern CMOS technologies involve roughly the following operations: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Wafer Preparation: produce the proper type of substrate;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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lithography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(step name) precisely define each region by light;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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Oxidation, deposition and 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(what) implantation: add materials to the wafer;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 pitchFamily="18" charset="2"/>
              </a:rPr>
              <a:t>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Etching: remove materials from the wafer.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82E614-6EE0-A3C8-D0B7-937DD512B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33" y="2209791"/>
            <a:ext cx="5986758" cy="451557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271805D-CE2A-C278-0825-D8431A673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166" y="2556009"/>
            <a:ext cx="5612401" cy="100028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427E2DF-3B09-952F-6C17-55F4BC9BA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2931" y="5201924"/>
            <a:ext cx="5516612" cy="12039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990237D-8FF9-A779-BAA4-C58585E3A6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2931" y="3878946"/>
            <a:ext cx="5516612" cy="10003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3420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DF2CB-4871-5C3E-D89C-075E4B20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C05AC44-3986-14E9-2757-B02EF921D742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2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Short Questions 4×8 = 32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A3008A4-BB9A-4B2F-F1E9-69693EEFD38A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F3DA6B19-7DE4-C8DD-A0A4-B0AB7ECDE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19554C9-C0A8-19F6-0790-6671A6F1142E}"/>
              </a:ext>
            </a:extLst>
          </p:cNvPr>
          <p:cNvSpPr txBox="1"/>
          <p:nvPr/>
        </p:nvSpPr>
        <p:spPr>
          <a:xfrm>
            <a:off x="48126" y="786581"/>
            <a:ext cx="12095747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The type of transistors in the following figure.1 is 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FinFET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(Planar MOS/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FinFET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which is invented for 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(conventional/advanced) technology node like 14nm CMOS.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An NMOS transistor with a 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(lower/higher)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Vds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tends to work in saturation region. In saturation region, it usually has a 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(higher/lower) small signal resistance 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compared to linear region.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7FAB02D-DC25-51A8-2727-B9D2FC2E1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66" y="2774942"/>
            <a:ext cx="5213462" cy="3941545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571097DE-6918-87EC-889B-90421A4AAA22}"/>
              </a:ext>
            </a:extLst>
          </p:cNvPr>
          <p:cNvGrpSpPr/>
          <p:nvPr/>
        </p:nvGrpSpPr>
        <p:grpSpPr>
          <a:xfrm>
            <a:off x="5578096" y="3225451"/>
            <a:ext cx="6220612" cy="3040525"/>
            <a:chOff x="5458729" y="3117980"/>
            <a:chExt cx="6220612" cy="3040525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DD18C5C-184A-BC68-E941-BBFCB6A93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8729" y="3117980"/>
              <a:ext cx="4282130" cy="3040525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5FA6E8E-0155-D3FC-B7A3-BFA0DEDB9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91554" y="3401936"/>
              <a:ext cx="1987787" cy="1236306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09D9C05-6FA2-BCE2-2FD7-2DFAE0A73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07328" y="4922198"/>
              <a:ext cx="1556237" cy="732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8654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9EECB-DF11-BCAF-6BD6-2457F4DB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7806DFC-00FD-FB23-FB39-15A39D80081B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2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Short Questions 4×8 = 32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F564AA8-F388-1D6E-A441-0E9803015C2B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264D7818-9DBF-EA34-D33A-6412881CD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CCF9DBA-BCF7-AB9D-847C-C91BB7F7195B}"/>
              </a:ext>
            </a:extLst>
          </p:cNvPr>
          <p:cNvSpPr txBox="1"/>
          <p:nvPr/>
        </p:nvSpPr>
        <p:spPr>
          <a:xfrm>
            <a:off x="48126" y="786581"/>
            <a:ext cx="12095747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 An NMOS transistor (working at saturation region) at FF corner has a 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(lower/higher) threshold voltage (Vth) than at TT corner. The same transistor at SS corner has a 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(lower/higher) trans-conductance (g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than at TT corner.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74D449E-6B4F-E7A9-8D69-88726F1A5129}"/>
              </a:ext>
            </a:extLst>
          </p:cNvPr>
          <p:cNvSpPr txBox="1"/>
          <p:nvPr/>
        </p:nvSpPr>
        <p:spPr>
          <a:xfrm>
            <a:off x="4880629" y="2208573"/>
            <a:ext cx="7252376" cy="2543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</a:rPr>
              <a:t>不同批次晶圆上的同种元件性能存在差异（由于一片晶圆上同时存在</a:t>
            </a:r>
            <a:r>
              <a:rPr lang="en-US" altLang="zh-CN" dirty="0">
                <a:latin typeface="+mn-ea"/>
              </a:rPr>
              <a:t>NMOS/PMOS</a:t>
            </a:r>
            <a:r>
              <a:rPr lang="zh-CN" altLang="en-US" dirty="0">
                <a:latin typeface="+mn-ea"/>
              </a:rPr>
              <a:t>，所以需同时考虑它们的性能）</a:t>
            </a:r>
            <a:endParaRPr lang="en-US" altLang="zh-CN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</a:rPr>
              <a:t>这些元件面对相同环境条件变化时性能（速度）会有不同的变化，为了电路整体稳定，变化过于剧烈</a:t>
            </a:r>
            <a:r>
              <a:rPr lang="en-US" altLang="zh-CN" dirty="0">
                <a:latin typeface="+mn-ea"/>
              </a:rPr>
              <a:t>/</a:t>
            </a:r>
            <a:r>
              <a:rPr lang="zh-CN" altLang="en-US" dirty="0">
                <a:latin typeface="+mn-ea"/>
              </a:rPr>
              <a:t>超出可接受范围的元件需要报废</a:t>
            </a:r>
            <a:endParaRPr lang="en-US" altLang="zh-CN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+mn-ea"/>
              </a:rPr>
              <a:t>5-corner model</a:t>
            </a:r>
            <a:r>
              <a:rPr lang="zh-CN" altLang="en-US" dirty="0">
                <a:latin typeface="+mn-ea"/>
              </a:rPr>
              <a:t>：</a:t>
            </a:r>
            <a:r>
              <a:rPr lang="en-US" altLang="zh-CN" b="1" dirty="0">
                <a:solidFill>
                  <a:srgbClr val="0D3F89"/>
                </a:solidFill>
                <a:latin typeface="+mn-ea"/>
              </a:rPr>
              <a:t>TT</a:t>
            </a:r>
            <a:r>
              <a:rPr lang="zh-CN" altLang="en-US" b="1" dirty="0">
                <a:solidFill>
                  <a:srgbClr val="0D3F89"/>
                </a:solidFill>
                <a:latin typeface="+mn-ea"/>
              </a:rPr>
              <a:t>，</a:t>
            </a:r>
            <a:r>
              <a:rPr lang="en-US" altLang="zh-CN" b="1" dirty="0">
                <a:solidFill>
                  <a:srgbClr val="0D3F89"/>
                </a:solidFill>
                <a:latin typeface="+mn-ea"/>
              </a:rPr>
              <a:t>FF</a:t>
            </a:r>
            <a:r>
              <a:rPr lang="zh-CN" altLang="en-US" b="1" dirty="0">
                <a:solidFill>
                  <a:srgbClr val="0D3F89"/>
                </a:solidFill>
                <a:latin typeface="+mn-ea"/>
              </a:rPr>
              <a:t>，</a:t>
            </a:r>
            <a:r>
              <a:rPr lang="en-US" altLang="zh-CN" b="1" dirty="0">
                <a:solidFill>
                  <a:srgbClr val="0D3F89"/>
                </a:solidFill>
                <a:latin typeface="+mn-ea"/>
              </a:rPr>
              <a:t>SS</a:t>
            </a:r>
            <a:r>
              <a:rPr lang="zh-CN" altLang="en-US" b="1" dirty="0">
                <a:solidFill>
                  <a:srgbClr val="0D3F89"/>
                </a:solidFill>
                <a:latin typeface="+mn-ea"/>
              </a:rPr>
              <a:t>，</a:t>
            </a:r>
            <a:r>
              <a:rPr lang="en-US" altLang="zh-CN" b="1" dirty="0">
                <a:solidFill>
                  <a:srgbClr val="0D3F89"/>
                </a:solidFill>
                <a:latin typeface="+mn-ea"/>
              </a:rPr>
              <a:t>FS</a:t>
            </a:r>
            <a:r>
              <a:rPr lang="zh-CN" altLang="en-US" b="1" dirty="0">
                <a:solidFill>
                  <a:srgbClr val="0D3F89"/>
                </a:solidFill>
                <a:latin typeface="+mn-ea"/>
              </a:rPr>
              <a:t>，</a:t>
            </a:r>
            <a:r>
              <a:rPr lang="en-US" altLang="zh-CN" b="1" dirty="0">
                <a:solidFill>
                  <a:srgbClr val="0D3F89"/>
                </a:solidFill>
                <a:latin typeface="+mn-ea"/>
              </a:rPr>
              <a:t>SF 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前后两个字符分别对应 </a:t>
            </a:r>
            <a:r>
              <a:rPr lang="en-US" altLang="zh-CN" dirty="0">
                <a:latin typeface="+mn-ea"/>
              </a:rPr>
              <a:t>NMOS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>
                <a:latin typeface="+mn-ea"/>
              </a:rPr>
              <a:t>PMOS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b="1" dirty="0">
                <a:solidFill>
                  <a:srgbClr val="0D3F89"/>
                </a:solidFill>
                <a:latin typeface="+mn-ea"/>
              </a:rPr>
              <a:t>T</a:t>
            </a:r>
            <a:r>
              <a:rPr lang="en-US" altLang="zh-CN" dirty="0">
                <a:latin typeface="+mn-ea"/>
              </a:rPr>
              <a:t> (typical),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b="1" dirty="0">
                <a:solidFill>
                  <a:srgbClr val="0D3F89"/>
                </a:solidFill>
                <a:latin typeface="+mn-ea"/>
              </a:rPr>
              <a:t>S </a:t>
            </a:r>
            <a:r>
              <a:rPr lang="en-US" altLang="zh-CN" dirty="0">
                <a:latin typeface="+mn-ea"/>
              </a:rPr>
              <a:t>(slow)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b="1" dirty="0">
                <a:solidFill>
                  <a:srgbClr val="0D3F89"/>
                </a:solidFill>
                <a:latin typeface="+mn-ea"/>
              </a:rPr>
              <a:t>F</a:t>
            </a:r>
            <a:r>
              <a:rPr lang="en-US" altLang="zh-CN" dirty="0">
                <a:latin typeface="+mn-ea"/>
              </a:rPr>
              <a:t> (fast))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FEF9F76-FA63-B2EF-E943-27720B369ADA}"/>
              </a:ext>
            </a:extLst>
          </p:cNvPr>
          <p:cNvGrpSpPr/>
          <p:nvPr/>
        </p:nvGrpSpPr>
        <p:grpSpPr>
          <a:xfrm>
            <a:off x="472258" y="2208573"/>
            <a:ext cx="4408371" cy="4536664"/>
            <a:chOff x="468431" y="2208573"/>
            <a:chExt cx="4408371" cy="4536664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AE28CD87-35B5-7CE6-EE78-07BB640002A3}"/>
                </a:ext>
              </a:extLst>
            </p:cNvPr>
            <p:cNvGrpSpPr/>
            <p:nvPr/>
          </p:nvGrpSpPr>
          <p:grpSpPr>
            <a:xfrm>
              <a:off x="468431" y="2208573"/>
              <a:ext cx="4408371" cy="2555589"/>
              <a:chOff x="317633" y="3705613"/>
              <a:chExt cx="4408371" cy="2555589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B682C9F8-2D44-D644-05C4-ACE44603F82D}"/>
                  </a:ext>
                </a:extLst>
              </p:cNvPr>
              <p:cNvGrpSpPr/>
              <p:nvPr/>
            </p:nvGrpSpPr>
            <p:grpSpPr>
              <a:xfrm>
                <a:off x="317633" y="4074945"/>
                <a:ext cx="4129238" cy="2186257"/>
                <a:chOff x="-529390" y="503810"/>
                <a:chExt cx="8624235" cy="4849159"/>
              </a:xfrm>
            </p:grpSpPr>
            <p:pic>
              <p:nvPicPr>
                <p:cNvPr id="10" name="图片 9">
                  <a:extLst>
                    <a:ext uri="{FF2B5EF4-FFF2-40B4-BE49-F238E27FC236}">
                      <a16:creationId xmlns:a16="http://schemas.microsoft.com/office/drawing/2014/main" id="{0B435540-5ECE-EC74-2EB2-3EE18A9DBA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529390" y="503810"/>
                  <a:ext cx="8624235" cy="4849159"/>
                </a:xfrm>
                <a:prstGeom prst="rect">
                  <a:avLst/>
                </a:prstGeom>
              </p:spPr>
            </p:pic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AD6A0F05-63DC-6C21-759C-D635C1E1BF07}"/>
                    </a:ext>
                  </a:extLst>
                </p:cNvPr>
                <p:cNvSpPr/>
                <p:nvPr/>
              </p:nvSpPr>
              <p:spPr>
                <a:xfrm>
                  <a:off x="6756935" y="4803006"/>
                  <a:ext cx="1337910" cy="549963"/>
                </a:xfrm>
                <a:prstGeom prst="rect">
                  <a:avLst/>
                </a:prstGeom>
                <a:solidFill>
                  <a:srgbClr val="FEFEF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9F1608A-780C-70F2-5060-24AD4E02491D}"/>
                  </a:ext>
                </a:extLst>
              </p:cNvPr>
              <p:cNvSpPr txBox="1"/>
              <p:nvPr/>
            </p:nvSpPr>
            <p:spPr>
              <a:xfrm>
                <a:off x="317633" y="3705613"/>
                <a:ext cx="44083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0D3F8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教材 </a:t>
                </a:r>
                <a:r>
                  <a:rPr lang="en-US" altLang="zh-CN" b="1" dirty="0">
                    <a:solidFill>
                      <a:srgbClr val="0D3F8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17.4 </a:t>
                </a:r>
                <a:r>
                  <a:rPr lang="zh-CN" altLang="en-US" b="1" dirty="0">
                    <a:solidFill>
                      <a:srgbClr val="0D3F8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工艺角</a:t>
                </a:r>
                <a:r>
                  <a:rPr lang="en-US" altLang="zh-CN" b="1" dirty="0">
                    <a:solidFill>
                      <a:srgbClr val="0D3F8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b="1" dirty="0">
                    <a:solidFill>
                      <a:srgbClr val="0D3F8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非教材原图</a:t>
                </a:r>
                <a:r>
                  <a:rPr lang="en-US" altLang="zh-CN" b="1" dirty="0">
                    <a:solidFill>
                      <a:srgbClr val="0D3F8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lang="zh-CN" altLang="en-US" b="1" dirty="0">
                  <a:solidFill>
                    <a:srgbClr val="0D3F8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762465E6-E0AA-2998-D029-8F3DD00F3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3334" y="4764162"/>
              <a:ext cx="3764043" cy="1981075"/>
            </a:xfrm>
            <a:prstGeom prst="rect">
              <a:avLst/>
            </a:prstGeom>
          </p:spPr>
        </p:pic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11ADBBB-0E5F-9C2B-CBB1-92DB7EC26D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8703" y="4081112"/>
              <a:ext cx="346510" cy="1509614"/>
            </a:xfrm>
            <a:prstGeom prst="line">
              <a:avLst/>
            </a:prstGeom>
            <a:ln w="38100">
              <a:solidFill>
                <a:srgbClr val="FF0000"/>
              </a:solidFill>
              <a:prstDash val="solid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B321DC83-3159-EDCF-BDD7-267A10FBE774}"/>
                </a:ext>
              </a:extLst>
            </p:cNvPr>
            <p:cNvCxnSpPr>
              <a:cxnSpLocks/>
            </p:cNvCxnSpPr>
            <p:nvPr/>
          </p:nvCxnSpPr>
          <p:spPr>
            <a:xfrm>
              <a:off x="1549131" y="4168538"/>
              <a:ext cx="327795" cy="1422188"/>
            </a:xfrm>
            <a:prstGeom prst="line">
              <a:avLst/>
            </a:prstGeom>
            <a:ln w="38100">
              <a:solidFill>
                <a:srgbClr val="FF0000"/>
              </a:solidFill>
              <a:prstDash val="solid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219EB6AC-31ED-7180-6820-C64B03F97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334" y="5921657"/>
            <a:ext cx="3576734" cy="79483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C1628C4D-AB51-0244-93F8-3A697FA9C690}"/>
              </a:ext>
            </a:extLst>
          </p:cNvPr>
          <p:cNvSpPr txBox="1"/>
          <p:nvPr/>
        </p:nvSpPr>
        <p:spPr>
          <a:xfrm>
            <a:off x="10804236" y="5158973"/>
            <a:ext cx="123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D3F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教材</a:t>
            </a:r>
            <a:r>
              <a:rPr lang="en-US" altLang="zh-CN" b="1" dirty="0">
                <a:solidFill>
                  <a:srgbClr val="0D3F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P631</a:t>
            </a:r>
            <a:endParaRPr lang="zh-CN" altLang="en-US" b="1" dirty="0">
              <a:solidFill>
                <a:srgbClr val="0D3F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A3B58BC-3096-8AD9-B856-EF7B1094B882}"/>
              </a:ext>
            </a:extLst>
          </p:cNvPr>
          <p:cNvGrpSpPr/>
          <p:nvPr/>
        </p:nvGrpSpPr>
        <p:grpSpPr>
          <a:xfrm>
            <a:off x="5142273" y="4885079"/>
            <a:ext cx="5537049" cy="917120"/>
            <a:chOff x="5146098" y="4885079"/>
            <a:chExt cx="5537049" cy="917120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339E1CC6-6404-ED91-BFB6-D7FE1EF5F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-355" t="16235" r="355" b="35606"/>
            <a:stretch>
              <a:fillRect/>
            </a:stretch>
          </p:blipFill>
          <p:spPr>
            <a:xfrm>
              <a:off x="5146098" y="4885079"/>
              <a:ext cx="5537049" cy="91712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546C629B-6DEB-2218-189C-1A6EB0E83B9B}"/>
                </a:ext>
              </a:extLst>
            </p:cNvPr>
            <p:cNvCxnSpPr>
              <a:cxnSpLocks/>
            </p:cNvCxnSpPr>
            <p:nvPr/>
          </p:nvCxnSpPr>
          <p:spPr>
            <a:xfrm>
              <a:off x="6218334" y="5488977"/>
              <a:ext cx="4085872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42293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B69D3-F487-9C87-E4E6-B66E43A71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A760484-F776-DB14-A417-8765CFB511D8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2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Short Questions 4×8 = 32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9C94323-6086-3F90-C8BB-4521543CF4C6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D4A291FC-1109-B3F2-8481-750A4A60D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D556719-3642-4982-8632-DB34B84F5E8B}"/>
              </a:ext>
            </a:extLst>
          </p:cNvPr>
          <p:cNvSpPr txBox="1"/>
          <p:nvPr/>
        </p:nvSpPr>
        <p:spPr>
          <a:xfrm>
            <a:off x="48126" y="786581"/>
            <a:ext cx="12095747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(7) An NMOS transistor working as a switch has 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(higher/lower) resistance than a PMOS based switch. That is the reason why a transmission gate (consisting of a PMOS and an NMOS transistor) use a larger W/L ratio for 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PMOS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(NMOS/PMOS).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B2D7BB-5819-BD78-886E-062966854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39" y="2541858"/>
            <a:ext cx="7617781" cy="243598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5FDA097-097E-B4FA-C68F-B81BD79B7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026" y="5311123"/>
            <a:ext cx="3648802" cy="90856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0797458-4ED5-F421-DE41-ED319DD8F4CD}"/>
              </a:ext>
            </a:extLst>
          </p:cNvPr>
          <p:cNvSpPr txBox="1"/>
          <p:nvPr/>
        </p:nvSpPr>
        <p:spPr>
          <a:xfrm>
            <a:off x="5530646" y="5311123"/>
            <a:ext cx="5992761" cy="8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rgbClr val="0D3F89"/>
                </a:solidFill>
                <a:latin typeface="+mn-ea"/>
              </a:rPr>
              <a:t>NMOS </a:t>
            </a:r>
            <a:r>
              <a:rPr lang="zh-CN" altLang="en-US" dirty="0">
                <a:solidFill>
                  <a:srgbClr val="0F1115"/>
                </a:solidFill>
                <a:latin typeface="+mn-ea"/>
              </a:rPr>
              <a:t>的导电沟道由</a:t>
            </a:r>
            <a:r>
              <a:rPr lang="zh-CN" altLang="en-US" b="1" dirty="0">
                <a:solidFill>
                  <a:srgbClr val="0D3F89"/>
                </a:solidFill>
                <a:latin typeface="+mn-ea"/>
              </a:rPr>
              <a:t>电子</a:t>
            </a:r>
            <a:r>
              <a:rPr lang="zh-CN" altLang="en-US" dirty="0">
                <a:solidFill>
                  <a:srgbClr val="0F1115"/>
                </a:solidFill>
                <a:latin typeface="+mn-ea"/>
              </a:rPr>
              <a:t>形成，电子的迁移率 </a:t>
            </a:r>
            <a:r>
              <a:rPr lang="en-US" altLang="zh-CN" dirty="0">
                <a:solidFill>
                  <a:srgbClr val="0F1115"/>
                </a:solidFill>
                <a:latin typeface="+mn-ea"/>
              </a:rPr>
              <a:t>μₙ </a:t>
            </a:r>
            <a:r>
              <a:rPr lang="zh-CN" altLang="en-US" dirty="0">
                <a:solidFill>
                  <a:srgbClr val="0F1115"/>
                </a:solidFill>
                <a:latin typeface="+mn-ea"/>
              </a:rPr>
              <a:t>很高</a:t>
            </a:r>
            <a:endParaRPr lang="en-US" altLang="zh-CN" dirty="0">
              <a:solidFill>
                <a:srgbClr val="0F1115"/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rgbClr val="0D3F89"/>
                </a:solidFill>
                <a:latin typeface="+mn-ea"/>
              </a:rPr>
              <a:t>PMOS </a:t>
            </a:r>
            <a:r>
              <a:rPr lang="zh-CN" altLang="en-US" dirty="0">
                <a:solidFill>
                  <a:srgbClr val="0F1115"/>
                </a:solidFill>
                <a:latin typeface="+mn-ea"/>
              </a:rPr>
              <a:t>的导电沟道由</a:t>
            </a:r>
            <a:r>
              <a:rPr lang="zh-CN" altLang="en-US" b="1" dirty="0">
                <a:solidFill>
                  <a:srgbClr val="0D3F89"/>
                </a:solidFill>
                <a:latin typeface="+mn-ea"/>
              </a:rPr>
              <a:t>空穴</a:t>
            </a:r>
            <a:r>
              <a:rPr lang="zh-CN" altLang="en-US" dirty="0">
                <a:solidFill>
                  <a:srgbClr val="0F1115"/>
                </a:solidFill>
                <a:latin typeface="+mn-ea"/>
              </a:rPr>
              <a:t>形成，空穴的迁移率 </a:t>
            </a:r>
            <a:r>
              <a:rPr lang="en-US" altLang="zh-CN" dirty="0">
                <a:solidFill>
                  <a:srgbClr val="0F1115"/>
                </a:solidFill>
                <a:latin typeface="+mn-ea"/>
              </a:rPr>
              <a:t>μₚ </a:t>
            </a:r>
            <a:r>
              <a:rPr lang="zh-CN" altLang="en-US" dirty="0">
                <a:solidFill>
                  <a:srgbClr val="0F1115"/>
                </a:solidFill>
                <a:latin typeface="+mn-ea"/>
              </a:rPr>
              <a:t>较低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6A89CC2-2577-A1A1-E08B-0FA11ED2A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0158" y="2208573"/>
            <a:ext cx="4028550" cy="286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176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F7FD3-1382-C951-DB6F-ABCBF788B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C00B9DF-D0E9-6DB6-F4C9-DFA0B2B26AEE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2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Short Questions 4×8 = 32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F2694A5-3770-BEB7-01FD-43A3065A4B72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2A53411C-68A4-36B2-13D0-75F4B33D5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2C1DD7D-4030-49AA-61D6-62689F56AF9C}"/>
              </a:ext>
            </a:extLst>
          </p:cNvPr>
          <p:cNvSpPr txBox="1"/>
          <p:nvPr/>
        </p:nvSpPr>
        <p:spPr>
          <a:xfrm>
            <a:off x="48126" y="786581"/>
            <a:ext cx="12095747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 The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Vbe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following figure has a 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(positive/negative) temperature coefficient(TC), the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KVt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 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(positive/negative) TC. A bandgap reference provides a stable output voltage at both temperature and 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(what) range.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B3AE748-5710-5B3F-9387-B86AED18FADF}"/>
              </a:ext>
            </a:extLst>
          </p:cNvPr>
          <p:cNvGrpSpPr/>
          <p:nvPr/>
        </p:nvGrpSpPr>
        <p:grpSpPr>
          <a:xfrm>
            <a:off x="993355" y="3087159"/>
            <a:ext cx="2633882" cy="2417968"/>
            <a:chOff x="172956" y="2319689"/>
            <a:chExt cx="3513520" cy="317687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9C7A7DB-27F5-D1F7-B328-FE8940F5F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957" y="2319689"/>
              <a:ext cx="3513519" cy="269162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4D1F64A-3C9B-C8C3-D00F-2E4B377B691C}"/>
                </a:ext>
              </a:extLst>
            </p:cNvPr>
            <p:cNvSpPr txBox="1"/>
            <p:nvPr/>
          </p:nvSpPr>
          <p:spPr>
            <a:xfrm>
              <a:off x="172956" y="5011310"/>
              <a:ext cx="3513519" cy="4852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0D3F8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历年卷中残缺的电路图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7807EC65-95DE-9D65-A91F-8412CC2C5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311" y="2208573"/>
            <a:ext cx="5741353" cy="433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580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ABAB4-0CFA-BD19-AC26-6A3412106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3B1F303-31A0-4234-4035-C9EE4A25A325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3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Calculation 5+8+10 = 23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4A6A624-0D85-F76C-B1C0-DEA7E2CED20E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0F0B25D3-59B0-92C3-D9C8-49DB9E8CA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8BA3A89-C6EC-0E8F-9383-B5CC4C84AA50}"/>
              </a:ext>
            </a:extLst>
          </p:cNvPr>
          <p:cNvSpPr txBox="1"/>
          <p:nvPr/>
        </p:nvSpPr>
        <p:spPr>
          <a:xfrm>
            <a:off x="48126" y="786581"/>
            <a:ext cx="12095747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The Layout of a differential pair with PMOS current source loads in p-sub N-well technology is shown as the following figure. (5 pts)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Give the corresponding circuits schematics and mark the W/L sizes of each transistor. Assume λ=0.4μm.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 achieve better matching of the input pair (M2 and M3), draw an alternative layout configuration. (by using multiple transistors with smaller W/L)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AE3FC1B-E688-8468-DF3F-D60CA5665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150" y="3115342"/>
            <a:ext cx="3684771" cy="359489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862B4CF-E76E-4446-5C25-08FA88733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891" y="3109095"/>
            <a:ext cx="3601123" cy="360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28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7B4D0-65A8-CF39-1ED0-87F2D4E7D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90F55CF-EE39-1898-DA6B-268C5AA8616A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3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Calculation 5+8+10 = 23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031461D-EB61-9D74-BBAE-1E358FA053BD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05685BD8-F764-ADBE-ACED-9244FC557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D590308-FB8E-89A2-7021-C2DA4E1EBE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6539"/>
          <a:stretch>
            <a:fillRect/>
          </a:stretch>
        </p:blipFill>
        <p:spPr>
          <a:xfrm>
            <a:off x="305829" y="1437281"/>
            <a:ext cx="8540630" cy="140834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BEEDA19-4D83-14A9-2E71-96370D8D3A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741"/>
          <a:stretch>
            <a:fillRect/>
          </a:stretch>
        </p:blipFill>
        <p:spPr>
          <a:xfrm>
            <a:off x="4315884" y="2872179"/>
            <a:ext cx="2518848" cy="355082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4874EB5-B1DE-59F8-2502-D5DAFC3F6CA4}"/>
              </a:ext>
            </a:extLst>
          </p:cNvPr>
          <p:cNvSpPr txBox="1"/>
          <p:nvPr/>
        </p:nvSpPr>
        <p:spPr>
          <a:xfrm>
            <a:off x="0" y="888489"/>
            <a:ext cx="2960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D3F89"/>
                </a:solidFill>
                <a:latin typeface="+mn-ea"/>
              </a:rPr>
              <a:t>对应作业题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354C634-A659-D8F1-A08A-7F137E19E5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66" t="26691" r="20816" b="713"/>
          <a:stretch>
            <a:fillRect/>
          </a:stretch>
        </p:blipFill>
        <p:spPr>
          <a:xfrm>
            <a:off x="410215" y="2890192"/>
            <a:ext cx="3637936" cy="3645617"/>
          </a:xfrm>
          <a:prstGeom prst="rect">
            <a:avLst/>
          </a:prstGeom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D43A00A7-B5C7-ECD3-A39F-8852247A043D}"/>
              </a:ext>
            </a:extLst>
          </p:cNvPr>
          <p:cNvGrpSpPr/>
          <p:nvPr/>
        </p:nvGrpSpPr>
        <p:grpSpPr>
          <a:xfrm>
            <a:off x="8589339" y="2969112"/>
            <a:ext cx="3134877" cy="3561077"/>
            <a:chOff x="8376778" y="3059668"/>
            <a:chExt cx="3134877" cy="3561077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C23C6F23-62C9-E6A0-F687-F09F95379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2623"/>
            <a:stretch>
              <a:fillRect/>
            </a:stretch>
          </p:blipFill>
          <p:spPr>
            <a:xfrm>
              <a:off x="8444315" y="3506001"/>
              <a:ext cx="2960251" cy="1662208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21B17713-8605-48A2-C795-D51669DE2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76778" y="5168209"/>
              <a:ext cx="3134877" cy="1452536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9ABB267-BB33-B83D-FC12-C221521B993F}"/>
                </a:ext>
              </a:extLst>
            </p:cNvPr>
            <p:cNvSpPr txBox="1"/>
            <p:nvPr/>
          </p:nvSpPr>
          <p:spPr>
            <a:xfrm>
              <a:off x="8445167" y="3059668"/>
              <a:ext cx="2960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D3F8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教材 </a:t>
              </a:r>
              <a:r>
                <a:rPr lang="en-US" altLang="zh-CN" b="1" dirty="0">
                  <a:solidFill>
                    <a:srgbClr val="0D3F8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19.2.2 </a:t>
              </a:r>
              <a:r>
                <a:rPr lang="zh-CN" altLang="en-US" b="1" dirty="0">
                  <a:solidFill>
                    <a:srgbClr val="0D3F8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差动对匹配</a:t>
              </a: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F4B38909-770E-AC7D-8FDB-93C259A2B3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549" t="11051" b="60142"/>
          <a:stretch>
            <a:fillRect/>
          </a:stretch>
        </p:blipFill>
        <p:spPr>
          <a:xfrm>
            <a:off x="5924824" y="5619207"/>
            <a:ext cx="2355281" cy="109728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D321351-B7A6-88BE-7486-A88E3D5D67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5242" y="1029524"/>
            <a:ext cx="2270176" cy="177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39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1ADB6-92F3-17C8-3183-88F684331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699C56F-18A7-A6F4-D1DF-5F7C05C3E2BE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3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Calculation 5+8+10 = 23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8B345EF-2928-6AA9-BC5E-DED75FDF59A7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154889CE-F4B6-CE49-90BC-05445D692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45A8C40-7FE4-2737-A4C4-18747437AD35}"/>
                  </a:ext>
                </a:extLst>
              </p:cNvPr>
              <p:cNvSpPr txBox="1"/>
              <p:nvPr/>
            </p:nvSpPr>
            <p:spPr>
              <a:xfrm>
                <a:off x="48126" y="786581"/>
                <a:ext cx="12095747" cy="3268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An NMOS device is used within the topology shown in the following figure. The input Vin is 2 V. The current source draws a constant current of 50 </a:t>
                </a:r>
                <a:r>
                  <a:rPr lang="en-US" altLang="zh-CN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μA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R is a variable resistor between 10kΩ and 30 </a:t>
                </a:r>
                <a:r>
                  <a:rPr lang="en-US" altLang="zh-CN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Transistor M1 has following transistor parameters: </a:t>
                </a:r>
                <a:r>
                  <a:rPr lang="zh-CN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𝑘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′=110μA/V</a:t>
                </a:r>
                <a:r>
                  <a:rPr lang="en-US" altLang="zh-CN" sz="2000" b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𝑉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=0.7V, </a:t>
                </a:r>
                <a:r>
                  <a:rPr lang="zh-CN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𝑉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DSSAT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=0.6V, and has a W/L = 2.0μ/0.4μ. For simplicity, the body effect and channel length modulation can be neglected, </a:t>
                </a:r>
                <a:r>
                  <a:rPr lang="en-US" altLang="zh-CN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𝜆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=0,γ=0. (8 pts)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When 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l-GR" altLang="zh-CN" sz="20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l-GR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operation region,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ar-AE" sz="20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ar-AE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ar-AE" sz="20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ar-AE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For the case of 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l-GR" altLang="zh-CN" sz="20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l-GR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would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ar-AE" sz="20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ar-AE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increase or decrease if 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(when there is channel length effect)? and explain why.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45A8C40-7FE4-2737-A4C4-18747437A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6" y="786581"/>
                <a:ext cx="12095747" cy="3268652"/>
              </a:xfrm>
              <a:prstGeom prst="rect">
                <a:avLst/>
              </a:prstGeom>
              <a:blipFill>
                <a:blip r:embed="rId3"/>
                <a:stretch>
                  <a:fillRect l="-554" r="-504" b="-24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6B023646-7BC7-60D2-919C-AC12C96ED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753" y="4146801"/>
            <a:ext cx="4547014" cy="246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829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93828-F7C5-D35E-F2E7-F674E2C8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628DB55-9BFD-CA9F-132F-BB8930CB22BF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3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Calculation 5+8+10 = 23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F8005C6-A515-9DE8-6848-7A9EBA3F9A53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03B5ED3C-FD6E-D3D3-6985-B3D2741C0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478C9F0C-74D7-3039-065E-3CE6AC3B33B1}"/>
              </a:ext>
            </a:extLst>
          </p:cNvPr>
          <p:cNvGrpSpPr/>
          <p:nvPr/>
        </p:nvGrpSpPr>
        <p:grpSpPr>
          <a:xfrm>
            <a:off x="356988" y="1350154"/>
            <a:ext cx="11048430" cy="2456719"/>
            <a:chOff x="163629" y="1046877"/>
            <a:chExt cx="11048430" cy="2456719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4C64EFC-7BBE-AA2B-F6BB-FB50389C9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4337"/>
            <a:stretch>
              <a:fillRect/>
            </a:stretch>
          </p:blipFill>
          <p:spPr>
            <a:xfrm>
              <a:off x="163629" y="1046878"/>
              <a:ext cx="8248851" cy="2456718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E251614A-8FC7-CAEA-1780-6A7426AF8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9074" t="44770" r="29851"/>
            <a:stretch>
              <a:fillRect/>
            </a:stretch>
          </p:blipFill>
          <p:spPr>
            <a:xfrm>
              <a:off x="8412479" y="1046877"/>
              <a:ext cx="2799580" cy="2456717"/>
            </a:xfrm>
            <a:prstGeom prst="rect">
              <a:avLst/>
            </a:prstGeom>
          </p:spPr>
        </p:pic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4A2F3470-9DF8-67F8-1BC9-F70B60604D15}"/>
              </a:ext>
            </a:extLst>
          </p:cNvPr>
          <p:cNvSpPr txBox="1"/>
          <p:nvPr/>
        </p:nvSpPr>
        <p:spPr>
          <a:xfrm>
            <a:off x="0" y="888489"/>
            <a:ext cx="2960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D3F89"/>
                </a:solidFill>
                <a:latin typeface="+mn-ea"/>
              </a:rPr>
              <a:t>对应作业题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46741EB-DE80-D73E-817F-9453E79B20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0004" y="5887697"/>
            <a:ext cx="4041995" cy="60285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0D0BC8B-C948-0F08-6E72-71D0D05A4960}"/>
              </a:ext>
            </a:extLst>
          </p:cNvPr>
          <p:cNvSpPr txBox="1"/>
          <p:nvPr/>
        </p:nvSpPr>
        <p:spPr>
          <a:xfrm>
            <a:off x="8849073" y="4861515"/>
            <a:ext cx="2643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D3F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先假设电路处于饱和区，之后使用计算结果验证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CF1B499-EA3C-99C7-58B9-1CA4BAEAFA4F}"/>
              </a:ext>
            </a:extLst>
          </p:cNvPr>
          <p:cNvGrpSpPr/>
          <p:nvPr/>
        </p:nvGrpSpPr>
        <p:grpSpPr>
          <a:xfrm>
            <a:off x="356988" y="4016050"/>
            <a:ext cx="7931217" cy="2629035"/>
            <a:chOff x="356988" y="4016051"/>
            <a:chExt cx="7931217" cy="2629035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ED8E7B1-2FDB-CE73-A7E2-637380630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6988" y="4016051"/>
              <a:ext cx="7931217" cy="2629035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B4F332BE-4987-9E82-3C51-2DFE2F610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0879" t="64409" r="71593" b="27769"/>
            <a:stretch>
              <a:fillRect/>
            </a:stretch>
          </p:blipFill>
          <p:spPr>
            <a:xfrm>
              <a:off x="3022601" y="5695627"/>
              <a:ext cx="597101" cy="2056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5067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B03B0-5914-A34F-995E-1C96D488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F3F4AD0-A83F-82B9-15F4-E8D752166531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3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Calculation 5+8+10 = 23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4EBAEBD-B6A2-59D0-DBDB-E0F29B0F0AF7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D6519119-EC3B-2FCE-ECD0-BCD1AF3B5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59CC82C-71E5-5A40-58A8-5C0A4A73D9B5}"/>
              </a:ext>
            </a:extLst>
          </p:cNvPr>
          <p:cNvSpPr txBox="1"/>
          <p:nvPr/>
        </p:nvSpPr>
        <p:spPr>
          <a:xfrm>
            <a:off x="48126" y="786581"/>
            <a:ext cx="12095747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There are two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cascode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 mirror shown in the following figures. (10 pts)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Design M3 and M4 of (a) so that the output characteristics are identical to the circuit shown in Fig. (b). It is desired that IOUT is ideally 10uA.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9079137-72AB-7FEA-4135-88978EB4D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886" y="2324585"/>
            <a:ext cx="8316227" cy="384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86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D6A17-33D5-0343-8BAF-568AD0AA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684D224-B5F0-8381-2CC3-5480CE285D13}"/>
              </a:ext>
            </a:extLst>
          </p:cNvPr>
          <p:cNvSpPr txBox="1"/>
          <p:nvPr/>
        </p:nvSpPr>
        <p:spPr>
          <a:xfrm>
            <a:off x="1" y="141513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3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Calculation 5+8+10 = 23 pts</a:t>
            </a:r>
            <a:endParaRPr lang="zh-CN" altLang="en-US" sz="2800" b="1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C5DCF6B-BB2D-04CD-7C20-2613063FBEE1}"/>
              </a:ext>
            </a:extLst>
          </p:cNvPr>
          <p:cNvCxnSpPr/>
          <p:nvPr/>
        </p:nvCxnSpPr>
        <p:spPr>
          <a:xfrm>
            <a:off x="0" y="786581"/>
            <a:ext cx="12192000" cy="0"/>
          </a:xfrm>
          <a:prstGeom prst="line">
            <a:avLst/>
          </a:prstGeom>
          <a:ln w="38100">
            <a:solidFill>
              <a:srgbClr val="0D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B1FCFAF3-3458-FC60-8139-0DDD50668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18" y="1"/>
            <a:ext cx="786581" cy="7243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DA1795A-A147-EE9B-0B77-DFB8D6FEB2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4191"/>
          <a:stretch>
            <a:fillRect/>
          </a:stretch>
        </p:blipFill>
        <p:spPr>
          <a:xfrm>
            <a:off x="148621" y="1554484"/>
            <a:ext cx="8416978" cy="624452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B39A20E0-5DAC-2B2E-B728-D077C2150834}"/>
              </a:ext>
            </a:extLst>
          </p:cNvPr>
          <p:cNvGrpSpPr/>
          <p:nvPr/>
        </p:nvGrpSpPr>
        <p:grpSpPr>
          <a:xfrm>
            <a:off x="304801" y="2840316"/>
            <a:ext cx="8416978" cy="3601213"/>
            <a:chOff x="296061" y="2166548"/>
            <a:chExt cx="8416978" cy="3601213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AB4F4D5-7A04-B137-8387-C8D7E98D5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6061" y="2166548"/>
              <a:ext cx="8260798" cy="1657565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D18BA00F-AA36-C187-A76A-D045F517D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6061" y="3943480"/>
              <a:ext cx="8416978" cy="1824281"/>
            </a:xfrm>
            <a:prstGeom prst="rect">
              <a:avLst/>
            </a:prstGeom>
          </p:spPr>
        </p:pic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8026BEF5-99DD-C317-1340-CFD09D5A7C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88" t="15258" r="52284" b="7947"/>
          <a:stretch>
            <a:fillRect/>
          </a:stretch>
        </p:blipFill>
        <p:spPr>
          <a:xfrm>
            <a:off x="8713039" y="1008377"/>
            <a:ext cx="3174160" cy="273494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74E8FB3-459B-77BF-BA8C-8613EAFCE4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62" t="16331" r="10691" b="7317"/>
          <a:stretch>
            <a:fillRect/>
          </a:stretch>
        </p:blipFill>
        <p:spPr>
          <a:xfrm>
            <a:off x="8828541" y="3981539"/>
            <a:ext cx="2789152" cy="264064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8C9D24E-23F2-A766-EEB4-A140AA15FF3D}"/>
              </a:ext>
            </a:extLst>
          </p:cNvPr>
          <p:cNvSpPr txBox="1"/>
          <p:nvPr/>
        </p:nvSpPr>
        <p:spPr>
          <a:xfrm>
            <a:off x="0" y="888489"/>
            <a:ext cx="2960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D3F89"/>
                </a:solidFill>
                <a:latin typeface="+mn-ea"/>
              </a:rPr>
              <a:t>对应作业题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AFC957B-9D36-DD2B-D283-11A12AF99B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317" y="2401502"/>
            <a:ext cx="1151808" cy="31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21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77172-E60D-D29A-9706-010BC2844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2826BDC-AC42-7AA7-8734-F66B9B69306F}"/>
              </a:ext>
            </a:extLst>
          </p:cNvPr>
          <p:cNvSpPr/>
          <p:nvPr/>
        </p:nvSpPr>
        <p:spPr>
          <a:xfrm>
            <a:off x="0" y="1317523"/>
            <a:ext cx="12192000" cy="2035276"/>
          </a:xfrm>
          <a:prstGeom prst="rect">
            <a:avLst/>
          </a:prstGeom>
          <a:solidFill>
            <a:srgbClr val="0D3F89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2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谢谢大家</a:t>
            </a:r>
            <a:endParaRPr lang="en-US" altLang="zh-CN" sz="7200" b="1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23AC1E-E5E3-706D-02D6-3F1C1D6FA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3250"/>
            <a:ext cx="9144000" cy="119610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申佳欣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2025/11/1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872DC9D8-44F1-EE4D-8735-B1FAA3035077}"/>
              </a:ext>
            </a:extLst>
          </p:cNvPr>
          <p:cNvSpPr txBox="1">
            <a:spLocks/>
          </p:cNvSpPr>
          <p:nvPr/>
        </p:nvSpPr>
        <p:spPr>
          <a:xfrm>
            <a:off x="0" y="3600448"/>
            <a:ext cx="12192000" cy="753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dirty="0">
                <a:latin typeface="华文隶书" panose="02010800040101010101" pitchFamily="2" charset="-122"/>
                <a:ea typeface="华文隶书" panose="02010800040101010101" pitchFamily="2" charset="-122"/>
              </a:rPr>
              <a:t>集成电路期中辅学</a:t>
            </a:r>
            <a:endParaRPr lang="en-US" altLang="zh-CN" sz="4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4C0710C-A330-87C2-4212-053864535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733" cy="106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569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1317</Words>
  <Application>Microsoft Office PowerPoint</Application>
  <PresentationFormat>宽屏</PresentationFormat>
  <Paragraphs>77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等线</vt:lpstr>
      <vt:lpstr>等线 Light</vt:lpstr>
      <vt:lpstr>华文楷体</vt:lpstr>
      <vt:lpstr>华文隶书</vt:lpstr>
      <vt:lpstr>微软雅黑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jiaxin shen</dc:creator>
  <cp:lastModifiedBy>jiaxin shen</cp:lastModifiedBy>
  <cp:revision>52</cp:revision>
  <dcterms:created xsi:type="dcterms:W3CDTF">2025-10-31T13:02:50Z</dcterms:created>
  <dcterms:modified xsi:type="dcterms:W3CDTF">2025-11-01T07:22:30Z</dcterms:modified>
</cp:coreProperties>
</file>