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12.xml" ContentType="application/vnd.openxmlformats-officedocument.presentationml.tags+xml"/>
  <Override PartName="/ppt/notesSlides/notesSlide35.xml" ContentType="application/vnd.openxmlformats-officedocument.presentationml.notesSlide+xml"/>
  <Override PartName="/ppt/tags/tag13.xml" ContentType="application/vnd.openxmlformats-officedocument.presentationml.tags+xml"/>
  <Override PartName="/ppt/notesSlides/notesSlide36.xml" ContentType="application/vnd.openxmlformats-officedocument.presentationml.notesSlide+xml"/>
  <Override PartName="/ppt/tags/tag14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tags/tag17.xml" ContentType="application/vnd.openxmlformats-officedocument.presentationml.tags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tags/tag20.xml" ContentType="application/vnd.openxmlformats-officedocument.presentationml.tags+xml"/>
  <Override PartName="/ppt/notesSlides/notesSlide67.xml" ContentType="application/vnd.openxmlformats-officedocument.presentationml.notesSlide+xml"/>
  <Override PartName="/ppt/tags/tag21.xml" ContentType="application/vnd.openxmlformats-officedocument.presentationml.tags+xml"/>
  <Override PartName="/ppt/notesSlides/notesSlide68.xml" ContentType="application/vnd.openxmlformats-officedocument.presentationml.notesSlide+xml"/>
  <Override PartName="/ppt/tags/tag22.xml" ContentType="application/vnd.openxmlformats-officedocument.presentationml.tags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tags/tag23.xml" ContentType="application/vnd.openxmlformats-officedocument.presentationml.tags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9"/>
  </p:notesMasterIdLst>
  <p:handoutMasterIdLst>
    <p:handoutMasterId r:id="rId90"/>
  </p:handoutMasterIdLst>
  <p:sldIdLst>
    <p:sldId id="338" r:id="rId2"/>
    <p:sldId id="268" r:id="rId3"/>
    <p:sldId id="385" r:id="rId4"/>
    <p:sldId id="287" r:id="rId5"/>
    <p:sldId id="284" r:id="rId6"/>
    <p:sldId id="386" r:id="rId7"/>
    <p:sldId id="288" r:id="rId8"/>
    <p:sldId id="387" r:id="rId9"/>
    <p:sldId id="388" r:id="rId10"/>
    <p:sldId id="389" r:id="rId11"/>
    <p:sldId id="390" r:id="rId12"/>
    <p:sldId id="27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443" r:id="rId21"/>
    <p:sldId id="331" r:id="rId22"/>
    <p:sldId id="444" r:id="rId23"/>
    <p:sldId id="446" r:id="rId24"/>
    <p:sldId id="447" r:id="rId25"/>
    <p:sldId id="448" r:id="rId26"/>
    <p:sldId id="449" r:id="rId27"/>
    <p:sldId id="450" r:id="rId28"/>
    <p:sldId id="451" r:id="rId29"/>
    <p:sldId id="452" r:id="rId30"/>
    <p:sldId id="453" r:id="rId31"/>
    <p:sldId id="454" r:id="rId32"/>
    <p:sldId id="455" r:id="rId33"/>
    <p:sldId id="456" r:id="rId34"/>
    <p:sldId id="457" r:id="rId35"/>
    <p:sldId id="458" r:id="rId36"/>
    <p:sldId id="459" r:id="rId37"/>
    <p:sldId id="460" r:id="rId38"/>
    <p:sldId id="461" r:id="rId39"/>
    <p:sldId id="462" r:id="rId40"/>
    <p:sldId id="463" r:id="rId41"/>
    <p:sldId id="464" r:id="rId42"/>
    <p:sldId id="465" r:id="rId43"/>
    <p:sldId id="466" r:id="rId44"/>
    <p:sldId id="467" r:id="rId45"/>
    <p:sldId id="468" r:id="rId46"/>
    <p:sldId id="469" r:id="rId47"/>
    <p:sldId id="470" r:id="rId48"/>
    <p:sldId id="471" r:id="rId49"/>
    <p:sldId id="472" r:id="rId50"/>
    <p:sldId id="473" r:id="rId51"/>
    <p:sldId id="474" r:id="rId52"/>
    <p:sldId id="475" r:id="rId53"/>
    <p:sldId id="476" r:id="rId54"/>
    <p:sldId id="477" r:id="rId55"/>
    <p:sldId id="478" r:id="rId56"/>
    <p:sldId id="479" r:id="rId57"/>
    <p:sldId id="481" r:id="rId58"/>
    <p:sldId id="482" r:id="rId59"/>
    <p:sldId id="483" r:id="rId60"/>
    <p:sldId id="484" r:id="rId61"/>
    <p:sldId id="485" r:id="rId62"/>
    <p:sldId id="486" r:id="rId63"/>
    <p:sldId id="487" r:id="rId64"/>
    <p:sldId id="488" r:id="rId65"/>
    <p:sldId id="489" r:id="rId66"/>
    <p:sldId id="490" r:id="rId67"/>
    <p:sldId id="491" r:id="rId68"/>
    <p:sldId id="493" r:id="rId69"/>
    <p:sldId id="494" r:id="rId70"/>
    <p:sldId id="495" r:id="rId71"/>
    <p:sldId id="496" r:id="rId72"/>
    <p:sldId id="497" r:id="rId73"/>
    <p:sldId id="498" r:id="rId74"/>
    <p:sldId id="499" r:id="rId75"/>
    <p:sldId id="500" r:id="rId76"/>
    <p:sldId id="501" r:id="rId77"/>
    <p:sldId id="502" r:id="rId78"/>
    <p:sldId id="503" r:id="rId79"/>
    <p:sldId id="504" r:id="rId80"/>
    <p:sldId id="505" r:id="rId81"/>
    <p:sldId id="506" r:id="rId82"/>
    <p:sldId id="507" r:id="rId83"/>
    <p:sldId id="508" r:id="rId84"/>
    <p:sldId id="509" r:id="rId85"/>
    <p:sldId id="510" r:id="rId86"/>
    <p:sldId id="511" r:id="rId87"/>
    <p:sldId id="283" r:id="rId88"/>
  </p:sldIdLst>
  <p:sldSz cx="9144000" cy="6858000" type="screen4x3"/>
  <p:notesSz cx="7099300" cy="10234613"/>
  <p:custDataLst>
    <p:tags r:id="rId91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FFFF"/>
    <a:srgbClr val="66FF66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5"/>
    <p:restoredTop sz="94710"/>
  </p:normalViewPr>
  <p:slideViewPr>
    <p:cSldViewPr showGuides="1">
      <p:cViewPr varScale="1">
        <p:scale>
          <a:sx n="91" d="100"/>
          <a:sy n="91" d="100"/>
        </p:scale>
        <p:origin x="1324" y="48"/>
      </p:cViewPr>
      <p:guideLst>
        <p:guide orient="horz" pos="2192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68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handoutMaster" Target="handoutMasters/handout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页眉占位符 614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US" sz="1300"/>
              <a:t>Morgan Kaufmann Publishers</a:t>
            </a:r>
          </a:p>
        </p:txBody>
      </p:sp>
      <p:sp>
        <p:nvSpPr>
          <p:cNvPr id="6147" name="日期占位符 6146"/>
          <p:cNvSpPr>
            <a:spLocks noGrp="1"/>
          </p:cNvSpPr>
          <p:nvPr>
            <p:ph type="dt" sz="quarter" idx="1"/>
          </p:nvPr>
        </p:nvSpPr>
        <p:spPr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4">
              <a:rPr lang="en-US" sz="1300"/>
              <a:t>September 17, 2025</a:t>
            </a:fld>
            <a:endParaRPr lang="en-US" sz="1300"/>
          </a:p>
        </p:txBody>
      </p:sp>
      <p:sp>
        <p:nvSpPr>
          <p:cNvPr id="6148" name="页脚占位符 6147"/>
          <p:cNvSpPr>
            <a:spLocks noGrp="1"/>
          </p:cNvSpPr>
          <p:nvPr>
            <p:ph type="ftr" sz="quarter" idx="2"/>
          </p:nvPr>
        </p:nvSpPr>
        <p:spPr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US" sz="1300"/>
              <a:t>Chapter 2 — Instructions: Language of the Computer</a:t>
            </a:r>
          </a:p>
        </p:txBody>
      </p:sp>
      <p:sp>
        <p:nvSpPr>
          <p:cNvPr id="6149" name="灯片编号占位符 6148"/>
          <p:cNvSpPr>
            <a:spLocks noGrp="1"/>
          </p:cNvSpPr>
          <p:nvPr>
            <p:ph type="sldNum" sz="quarter" idx="3"/>
          </p:nvPr>
        </p:nvSpPr>
        <p:spPr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US" sz="1300"/>
              <a:t>‹#›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页眉占位符 819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US" sz="1300" dirty="0"/>
              <a:t>Morgan Kaufmann Publishers</a:t>
            </a:r>
          </a:p>
        </p:txBody>
      </p:sp>
      <p:sp>
        <p:nvSpPr>
          <p:cNvPr id="8195" name="日期占位符 8194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4">
              <a:rPr lang="en-US" sz="1300" dirty="0"/>
              <a:t>September 17, 2025</a:t>
            </a:fld>
            <a:endParaRPr lang="en-US" sz="1300" dirty="0"/>
          </a:p>
        </p:txBody>
      </p:sp>
      <p:sp>
        <p:nvSpPr>
          <p:cNvPr id="8196" name="幻灯片图像占位符 8195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文本占位符 8196"/>
          <p:cNvSpPr>
            <a:spLocks noGrp="1"/>
          </p:cNvSpPr>
          <p:nvPr>
            <p:ph type="body" sz="quarter" idx="3"/>
          </p:nvPr>
        </p:nvSpPr>
        <p:spPr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8198" name="页脚占位符 8197"/>
          <p:cNvSpPr>
            <a:spLocks noGrp="1"/>
          </p:cNvSpPr>
          <p:nvPr>
            <p:ph type="ftr" sz="quarter" idx="4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8199" name="灯片编号占位符 8198"/>
          <p:cNvSpPr>
            <a:spLocks noGrp="1"/>
          </p:cNvSpPr>
          <p:nvPr>
            <p:ph type="sldNum" sz="quarter" idx="5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US" sz="1300" dirty="0"/>
              <a:t>‹#›</a:t>
            </a:fld>
            <a:endParaRPr lang="en-US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lvl="0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1</a:t>
            </a:fld>
            <a:endParaRPr lang="en-US" sz="1300" dirty="0"/>
          </a:p>
        </p:txBody>
      </p:sp>
      <p:sp>
        <p:nvSpPr>
          <p:cNvPr id="84994" name="幻灯片图像占位符 8499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文本占位符 849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2</a:t>
            </a:fld>
            <a:endParaRPr lang="en-US" sz="1300" dirty="0"/>
          </a:p>
        </p:txBody>
      </p:sp>
      <p:sp>
        <p:nvSpPr>
          <p:cNvPr id="187394" name="幻灯片图像占位符 18739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7395" name="文本占位符 1873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3</a:t>
            </a:fld>
            <a:endParaRPr lang="en-US" sz="1300" dirty="0"/>
          </a:p>
        </p:txBody>
      </p:sp>
      <p:sp>
        <p:nvSpPr>
          <p:cNvPr id="187394" name="幻灯片图像占位符 18739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7395" name="文本占位符 1873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4</a:t>
            </a:fld>
            <a:endParaRPr lang="en-US" sz="1300" dirty="0"/>
          </a:p>
        </p:txBody>
      </p:sp>
      <p:sp>
        <p:nvSpPr>
          <p:cNvPr id="233474" name="幻灯片图像占位符 23347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3475" name="文本占位符 23347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5</a:t>
            </a:fld>
            <a:endParaRPr lang="en-US" sz="1300" dirty="0"/>
          </a:p>
        </p:txBody>
      </p:sp>
      <p:sp>
        <p:nvSpPr>
          <p:cNvPr id="225282" name="幻灯片图像占位符 22528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283" name="文本占位符 22528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6</a:t>
            </a:fld>
            <a:endParaRPr lang="en-US" sz="1300" dirty="0"/>
          </a:p>
        </p:txBody>
      </p:sp>
      <p:sp>
        <p:nvSpPr>
          <p:cNvPr id="225282" name="幻灯片图像占位符 22528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283" name="文本占位符 22528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7</a:t>
            </a:fld>
            <a:endParaRPr lang="en-US" sz="1300" dirty="0"/>
          </a:p>
        </p:txBody>
      </p:sp>
      <p:sp>
        <p:nvSpPr>
          <p:cNvPr id="247810" name="幻灯片图像占位符 24780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7811" name="文本占位符 24781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8</a:t>
            </a:fld>
            <a:endParaRPr lang="en-US" sz="1300" dirty="0"/>
          </a:p>
        </p:txBody>
      </p:sp>
      <p:sp>
        <p:nvSpPr>
          <p:cNvPr id="247810" name="幻灯片图像占位符 24780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7811" name="文本占位符 24781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9</a:t>
            </a:fld>
            <a:endParaRPr lang="en-US" sz="1300" dirty="0"/>
          </a:p>
        </p:txBody>
      </p:sp>
      <p:sp>
        <p:nvSpPr>
          <p:cNvPr id="247810" name="幻灯片图像占位符 24780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7811" name="文本占位符 24781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10</a:t>
            </a:fld>
            <a:endParaRPr lang="en-US" sz="1300" dirty="0"/>
          </a:p>
        </p:txBody>
      </p:sp>
      <p:sp>
        <p:nvSpPr>
          <p:cNvPr id="247810" name="幻灯片图像占位符 24780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7811" name="文本占位符 24781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11</a:t>
            </a:fld>
            <a:endParaRPr lang="en-US" sz="1300" dirty="0"/>
          </a:p>
        </p:txBody>
      </p:sp>
      <p:sp>
        <p:nvSpPr>
          <p:cNvPr id="187394" name="幻灯片图像占位符 18739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7395" name="文本占位符 1873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12</a:t>
            </a:fld>
            <a:endParaRPr lang="en-US" sz="1300" dirty="0"/>
          </a:p>
        </p:txBody>
      </p:sp>
      <p:sp>
        <p:nvSpPr>
          <p:cNvPr id="192514" name="幻灯片图像占位符 19251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2515" name="文本占位符 19251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13</a:t>
            </a:fld>
            <a:endParaRPr lang="en-US" sz="1300" dirty="0"/>
          </a:p>
        </p:txBody>
      </p:sp>
      <p:sp>
        <p:nvSpPr>
          <p:cNvPr id="233474" name="幻灯片图像占位符 23347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3475" name="文本占位符 23347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14</a:t>
            </a:fld>
            <a:endParaRPr lang="en-US" sz="1300" dirty="0"/>
          </a:p>
        </p:txBody>
      </p:sp>
      <p:sp>
        <p:nvSpPr>
          <p:cNvPr id="233474" name="幻灯片图像占位符 23347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3475" name="文本占位符 23347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15</a:t>
            </a:fld>
            <a:endParaRPr lang="en-US" sz="1300" dirty="0"/>
          </a:p>
        </p:txBody>
      </p:sp>
      <p:sp>
        <p:nvSpPr>
          <p:cNvPr id="233474" name="幻灯片图像占位符 23347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3475" name="文本占位符 23347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fld>
            <a:endParaRPr lang="en-US" altLang="zh-CN" sz="12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035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035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17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18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19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20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21</a:t>
            </a:fld>
            <a:endParaRPr lang="en-US" sz="1300" dirty="0"/>
          </a:p>
        </p:txBody>
      </p:sp>
      <p:sp>
        <p:nvSpPr>
          <p:cNvPr id="187394" name="幻灯片图像占位符 18739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7395" name="文本占位符 1873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22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23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24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25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26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27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28</a:t>
            </a:fld>
            <a:endParaRPr lang="en-US" altLang="zh-CN" sz="12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138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138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29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30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b="1" i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31</a:t>
            </a:fld>
            <a:endParaRPr lang="en-US" sz="13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32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33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34</a:t>
            </a:fld>
            <a:endParaRPr lang="en-US" altLang="zh-CN" sz="12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2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342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44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35</a:t>
            </a:fld>
            <a:endParaRPr lang="en-US" sz="13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36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37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38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39</a:t>
            </a:fld>
            <a:endParaRPr lang="en-US" altLang="zh-CN" sz="12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47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547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40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41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42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43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44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45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46</a:t>
            </a:fld>
            <a:endParaRPr lang="en-US" sz="1300" dirty="0"/>
          </a:p>
        </p:txBody>
      </p:sp>
      <p:sp>
        <p:nvSpPr>
          <p:cNvPr id="187394" name="幻灯片图像占位符 18739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7395" name="文本占位符 1873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47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48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49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50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51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52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53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54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55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56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57</a:t>
            </a:fld>
            <a:endParaRPr lang="en-US" sz="1300" dirty="0"/>
          </a:p>
        </p:txBody>
      </p:sp>
      <p:sp>
        <p:nvSpPr>
          <p:cNvPr id="187394" name="幻灯片图像占位符 18739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7395" name="文本占位符 1873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58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59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60</a:t>
            </a:fld>
            <a:endParaRPr lang="en-US" altLang="zh-CN" sz="12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4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854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61</a:t>
            </a:fld>
            <a:endParaRPr lang="en-US" altLang="zh-CN" sz="12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4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854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62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63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64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65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66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67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68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69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 txBox="1">
            <a:spLocks noGrp="1"/>
          </p:cNvSpPr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>
              <a:spcBef>
                <a:spcPct val="0"/>
              </a:spcBef>
              <a:buClrTx/>
              <a:buSzTx/>
              <a:buFontTx/>
            </a:pPr>
            <a:r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1.1    Introduction</a:t>
            </a:r>
          </a:p>
        </p:txBody>
      </p:sp>
      <p:sp>
        <p:nvSpPr>
          <p:cNvPr id="109571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70</a:t>
            </a:fld>
            <a:endParaRPr lang="en-US" altLang="zh-CN" sz="12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957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70</a:t>
            </a:fld>
            <a:endParaRPr lang="en-US" sz="13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 txBox="1">
            <a:spLocks noGrp="1"/>
          </p:cNvSpPr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>
              <a:spcBef>
                <a:spcPct val="0"/>
              </a:spcBef>
              <a:buClrTx/>
              <a:buSzTx/>
              <a:buFontTx/>
            </a:pPr>
            <a:r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1.1    Introduction</a:t>
            </a:r>
          </a:p>
        </p:txBody>
      </p:sp>
      <p:sp>
        <p:nvSpPr>
          <p:cNvPr id="110595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71</a:t>
            </a:fld>
            <a:endParaRPr lang="en-US" altLang="zh-CN" sz="12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059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059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71</a:t>
            </a:fld>
            <a:endParaRPr lang="en-US" sz="13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72</a:t>
            </a:fld>
            <a:endParaRPr lang="en-US" altLang="zh-CN" sz="12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162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162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73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74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75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76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77</a:t>
            </a:fld>
            <a:endParaRPr lang="en-US" altLang="zh-CN" sz="12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4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4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78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79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80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81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82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83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  <a:t>84</a:t>
            </a:fld>
            <a:endParaRPr lang="en-US" altLang="zh-CN" sz="12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366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85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86</a:t>
            </a:fld>
            <a:endParaRPr lang="en-US" sz="1300" dirty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lvl="0" defTabSz="967105"/>
            <a:r>
              <a:rPr lang="en-US" sz="1300" dirty="0"/>
              <a:t>Chapter 2 — Instructions: Language of the Computer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sz="1300" dirty="0"/>
              <a:t>87</a:t>
            </a:fld>
            <a:endParaRPr lang="en-US" sz="1300" dirty="0"/>
          </a:p>
        </p:txBody>
      </p:sp>
      <p:sp>
        <p:nvSpPr>
          <p:cNvPr id="223234" name="幻灯片图像占位符 22323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3235" name="文本占位符 22323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lstStyle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矩形 295937"/>
          <p:cNvSpPr/>
          <p:nvPr userDrawn="1"/>
        </p:nvSpPr>
        <p:spPr>
          <a:xfrm>
            <a:off x="1331595" y="1144588"/>
            <a:ext cx="28575" cy="5732462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939" name="标题 295938"/>
          <p:cNvSpPr>
            <a:spLocks noGrp="1"/>
          </p:cNvSpPr>
          <p:nvPr>
            <p:ph type="ctrTitle" hasCustomPrompt="1"/>
          </p:nvPr>
        </p:nvSpPr>
        <p:spPr>
          <a:xfrm>
            <a:off x="1864360" y="1844675"/>
            <a:ext cx="693420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lvl1pPr lvl="0">
              <a:buClrTx/>
              <a:buSzTx/>
              <a:buFontTx/>
              <a:defRPr>
                <a:latin typeface="Arial Black" panose="020B0A04020102020204" pitchFamily="34" charset="0"/>
              </a:defRPr>
            </a:lvl1pPr>
          </a:lstStyle>
          <a:p>
            <a:pPr lvl="0"/>
            <a:r>
              <a:rPr lang="en-AU" altLang="zh-CN" dirty="0"/>
              <a:t>Chapter …</a:t>
            </a:r>
          </a:p>
        </p:txBody>
      </p:sp>
      <p:sp>
        <p:nvSpPr>
          <p:cNvPr id="295940" name="副标题 295939"/>
          <p:cNvSpPr>
            <a:spLocks noGrp="1"/>
          </p:cNvSpPr>
          <p:nvPr>
            <p:ph type="subTitle" idx="1" hasCustomPrompt="1"/>
          </p:nvPr>
        </p:nvSpPr>
        <p:spPr>
          <a:xfrm>
            <a:off x="1877060" y="2924175"/>
            <a:ext cx="692785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lvl1pPr marL="0" lvl="0" indent="0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1pPr>
            <a:lvl2pPr marL="457200" lvl="1" indent="0" algn="ctr"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2pPr>
            <a:lvl3pPr marL="914400" lvl="2" indent="0" algn="ctr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3pPr>
            <a:lvl4pPr marL="1371600" lvl="3" indent="0" algn="ctr"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4pPr>
            <a:lvl5pPr marL="1828800" lvl="4" indent="0" algn="ctr"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5pPr>
          </a:lstStyle>
          <a:p>
            <a:pPr lvl="0"/>
            <a:r>
              <a:rPr lang="en-AU" altLang="zh-CN" dirty="0"/>
              <a:t>Subtitle</a:t>
            </a:r>
          </a:p>
        </p:txBody>
      </p:sp>
      <p:sp>
        <p:nvSpPr>
          <p:cNvPr id="295941" name="矩形 295940"/>
          <p:cNvSpPr/>
          <p:nvPr userDrawn="1"/>
        </p:nvSpPr>
        <p:spPr>
          <a:xfrm>
            <a:off x="1619885" y="198882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942" name="矩形 295941"/>
          <p:cNvSpPr/>
          <p:nvPr userDrawn="1"/>
        </p:nvSpPr>
        <p:spPr>
          <a:xfrm>
            <a:off x="1403985" y="2708910"/>
            <a:ext cx="7491730" cy="7620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943" name="矩形 295942"/>
          <p:cNvSpPr/>
          <p:nvPr userDrawn="1"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945" name="矩形 295944"/>
          <p:cNvSpPr/>
          <p:nvPr userDrawn="1"/>
        </p:nvSpPr>
        <p:spPr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946" name="矩形 295945"/>
          <p:cNvSpPr/>
          <p:nvPr userDrawn="1"/>
        </p:nvSpPr>
        <p:spPr>
          <a:xfrm>
            <a:off x="1331595" y="568325"/>
            <a:ext cx="28575" cy="5762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123" name="Picture 8" descr="zju-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950" y="1905"/>
            <a:ext cx="1127125" cy="112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 userDrawn="1"/>
        </p:nvSpPr>
        <p:spPr>
          <a:xfrm>
            <a:off x="1456690" y="0"/>
            <a:ext cx="75069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kern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Computer Organization &amp; Design</a:t>
            </a:r>
            <a:br>
              <a:rPr lang="en-US" altLang="zh-CN" kern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—The Hardware/Software Interface</a:t>
            </a:r>
            <a:br>
              <a:rPr lang="en-US" altLang="zh-CN" kern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RISC-V EDITION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5E0ABC-DEB8-F98E-12A2-8CFE18454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F69479-389A-B493-73BF-3D77BAAA68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2729" cy="5111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02359" y="1125538"/>
            <a:ext cx="4052729" cy="5111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A4A7B9-0CBD-3973-A2D1-4B53BB6E6B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0A5872-6851-3AAB-6C2E-841B3680F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5C5E54D-079A-540E-7B83-642CF85CC4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0B15AB5-245F-DC50-392D-F6354A830A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6D46B5-DAAE-3685-4BCF-77D5BB31F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8913E2-8E08-C976-1689-1C9B346DB8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AAEAA9-3EA4-4732-8F98-8923B72D79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7369" y="146050"/>
            <a:ext cx="2067719" cy="60912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83288" cy="60912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FDF3EC-0C2A-E0A3-965B-E29575455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8D64EE-1F83-AD1A-1114-E60568FAC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5364E7-F3B0-584F-C24B-88A619047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4B65BA-DD9D-30FB-F843-1DB9C96583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矩形 294913"/>
          <p:cNvSpPr/>
          <p:nvPr userDrawn="1"/>
        </p:nvSpPr>
        <p:spPr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4915" name="标题 294914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/>
            <a:r>
              <a:rPr lang="en-AU" altLang="zh-CN" dirty="0"/>
              <a:t>Click to edit Master title style</a:t>
            </a:r>
          </a:p>
        </p:txBody>
      </p:sp>
      <p:sp>
        <p:nvSpPr>
          <p:cNvPr id="294916" name="文本占位符 294915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51117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AU" altLang="zh-CN" dirty="0"/>
              <a:t>Click to edit Master text styles</a:t>
            </a:r>
          </a:p>
          <a:p>
            <a:pPr lvl="1"/>
            <a:r>
              <a:rPr lang="en-AU" altLang="zh-CN" dirty="0"/>
              <a:t>Second level</a:t>
            </a:r>
          </a:p>
          <a:p>
            <a:pPr lvl="2"/>
            <a:r>
              <a:rPr lang="en-AU" altLang="zh-CN" dirty="0"/>
              <a:t>Third level</a:t>
            </a:r>
          </a:p>
          <a:p>
            <a:pPr lvl="3"/>
            <a:r>
              <a:rPr lang="en-AU" altLang="zh-CN" dirty="0"/>
              <a:t>Fourth level</a:t>
            </a:r>
          </a:p>
          <a:p>
            <a:pPr lvl="4"/>
            <a:r>
              <a:rPr lang="en-AU" altLang="zh-CN" dirty="0"/>
              <a:t>Fifth level</a:t>
            </a:r>
          </a:p>
        </p:txBody>
      </p:sp>
      <p:sp>
        <p:nvSpPr>
          <p:cNvPr id="294919" name="矩形 294918"/>
          <p:cNvSpPr/>
          <p:nvPr userDrawn="1"/>
        </p:nvSpPr>
        <p:spPr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123" name="Picture 8" descr="zju-logo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7950" y="6324600"/>
            <a:ext cx="461645" cy="460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2632075" y="6356350"/>
            <a:ext cx="6311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  <p:hf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标题 63491"/>
          <p:cNvSpPr>
            <a:spLocks noGrp="1"/>
          </p:cNvSpPr>
          <p:nvPr>
            <p:ph type="ctrTitle"/>
          </p:nvPr>
        </p:nvSpPr>
        <p:spPr/>
        <p:txBody>
          <a:bodyPr anchor="t" anchorCtr="0">
            <a:spAutoFit/>
          </a:bodyPr>
          <a:lstStyle/>
          <a:p>
            <a:r>
              <a:rPr lang="en-US" altLang="zh-CN"/>
              <a:t>Chapter 2</a:t>
            </a:r>
          </a:p>
        </p:txBody>
      </p:sp>
      <p:sp>
        <p:nvSpPr>
          <p:cNvPr id="63493" name="副标题 63492"/>
          <p:cNvSpPr>
            <a:spLocks noGrp="1"/>
          </p:cNvSpPr>
          <p:nvPr>
            <p:ph type="subTitle" idx="1"/>
          </p:nvPr>
        </p:nvSpPr>
        <p:spPr/>
        <p:txBody>
          <a:bodyPr anchor="t" anchorCtr="0">
            <a:spAutoFit/>
          </a:bodyPr>
          <a:lstStyle/>
          <a:p>
            <a:r>
              <a:rPr lang="en-US" altLang="zh-CN"/>
              <a:t>Instructions: Language </a:t>
            </a:r>
          </a:p>
          <a:p>
            <a:r>
              <a:rPr lang="en-US" altLang="zh-CN"/>
              <a:t>of the Computer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sym typeface="+mn-ea"/>
              </a:rPr>
              <a:t>Language of  the computer</a:t>
            </a:r>
          </a:p>
          <a:p>
            <a:pPr lvl="1"/>
            <a:r>
              <a:rPr lang="en-US" altLang="zh-CN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sym typeface="+mn-ea"/>
              </a:rPr>
              <a:t>Instructions</a:t>
            </a:r>
            <a:endParaRPr lang="en-US" altLang="zh-CN" b="1" kern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sym typeface="+mn-ea"/>
            </a:endParaRPr>
          </a:p>
          <a:p>
            <a:pPr lvl="1"/>
            <a:r>
              <a:rPr lang="zh-CN" altLang="en-US"/>
              <a:t>Instruction set</a:t>
            </a:r>
          </a:p>
          <a:p>
            <a:pPr lvl="0"/>
            <a:r>
              <a:rPr lang="zh-CN" altLang="en-US"/>
              <a:t>Design goals</a:t>
            </a:r>
          </a:p>
          <a:p>
            <a:pPr lvl="1"/>
            <a:r>
              <a:rPr lang="zh-CN" altLang="en-US"/>
              <a:t>Maximize performance</a:t>
            </a:r>
          </a:p>
          <a:p>
            <a:pPr lvl="1"/>
            <a:r>
              <a:rPr lang="zh-CN" altLang="en-US"/>
              <a:t>Minimize cost</a:t>
            </a:r>
          </a:p>
          <a:p>
            <a:pPr lvl="1"/>
            <a:r>
              <a:rPr lang="zh-CN" altLang="en-US"/>
              <a:t>Reduce design time</a:t>
            </a:r>
          </a:p>
          <a:p>
            <a:pPr lvl="0"/>
            <a:r>
              <a:rPr lang="zh-CN" altLang="en-US"/>
              <a:t>Our chosen instruction set: RISC-V</a:t>
            </a:r>
          </a:p>
          <a:p>
            <a:pPr lvl="1"/>
            <a:r>
              <a:rPr lang="zh-CN" altLang="en-US"/>
              <a:t>developed at UC Berkeley starting in 2010</a:t>
            </a:r>
          </a:p>
        </p:txBody>
      </p:sp>
      <p:sp>
        <p:nvSpPr>
          <p:cNvPr id="186370" name="标题 18636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lstStyle/>
          <a:p>
            <a:r>
              <a:rPr lang="en-US" altLang="zh-CN"/>
              <a:t>Introduction</a:t>
            </a:r>
          </a:p>
        </p:txBody>
      </p:sp>
      <p:sp>
        <p:nvSpPr>
          <p:cNvPr id="186372" name="文本框 186371"/>
          <p:cNvSpPr txBox="1"/>
          <p:nvPr/>
        </p:nvSpPr>
        <p:spPr>
          <a:xfrm rot="5400000">
            <a:off x="8016875" y="760413"/>
            <a:ext cx="1887538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2.1 Introduction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4FA4CB-0730-C340-60C3-EF5BB56AF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标题 186369"/>
          <p:cNvSpPr>
            <a:spLocks noGrp="1"/>
          </p:cNvSpPr>
          <p:nvPr>
            <p:ph type="title"/>
          </p:nvPr>
        </p:nvSpPr>
        <p:spPr>
          <a:xfrm>
            <a:off x="684213" y="324485"/>
            <a:ext cx="8259762" cy="583565"/>
          </a:xfrm>
        </p:spPr>
        <p:txBody>
          <a:bodyPr anchor="b" anchorCtr="0">
            <a:spAutoFit/>
          </a:bodyPr>
          <a:lstStyle/>
          <a:p>
            <a:r>
              <a:rPr lang="en-US" altLang="zh-CN" sz="3200"/>
              <a:t>Operations of the Computer Hardware</a:t>
            </a:r>
          </a:p>
        </p:txBody>
      </p:sp>
      <p:sp>
        <p:nvSpPr>
          <p:cNvPr id="186372" name="文本框 186371"/>
          <p:cNvSpPr txBox="1"/>
          <p:nvPr/>
        </p:nvSpPr>
        <p:spPr>
          <a:xfrm rot="5400000">
            <a:off x="6638925" y="2139315"/>
            <a:ext cx="464439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2.2 Operations of the Computer Hardware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sym typeface="+mn-ea"/>
              </a:rPr>
              <a:t>Every computer must be able to perform arithmetic</a:t>
            </a:r>
          </a:p>
          <a:p>
            <a:pPr lvl="1"/>
            <a:r>
              <a:rPr lang="en-US" altLang="zh-CN" sz="2400" dirty="0">
                <a:sym typeface="+mn-ea"/>
              </a:rPr>
              <a:t>Only one operation per instruction</a:t>
            </a:r>
            <a:endParaRPr lang="en-US" altLang="zh-CN" sz="2400" b="1" kern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sym typeface="+mn-ea"/>
            </a:endParaRPr>
          </a:p>
          <a:p>
            <a:pPr lvl="1"/>
            <a:r>
              <a:rPr lang="en-US" altLang="zh-CN" sz="2400" dirty="0">
                <a:solidFill>
                  <a:srgbClr val="000000"/>
                </a:solidFill>
                <a:sym typeface="+mn-ea"/>
              </a:rPr>
              <a:t>Exactly three variables(add  a, b, c  // a=b+c)</a:t>
            </a:r>
            <a:endParaRPr lang="zh-CN" altLang="en-US" sz="2400"/>
          </a:p>
          <a:p>
            <a:pPr lvl="0"/>
            <a:r>
              <a:rPr lang="en-US" altLang="zh-CN" sz="2800" dirty="0">
                <a:solidFill>
                  <a:srgbClr val="000000"/>
                </a:solidFill>
                <a:sym typeface="+mn-ea"/>
              </a:rPr>
              <a:t>Design Principle 1</a:t>
            </a:r>
            <a:endParaRPr lang="zh-CN" altLang="en-US" sz="2800"/>
          </a:p>
          <a:p>
            <a:pPr lvl="1"/>
            <a:r>
              <a:rPr lang="en-US" altLang="zh-CN" sz="2400" dirty="0">
                <a:solidFill>
                  <a:srgbClr val="000000"/>
                </a:solidFill>
                <a:cs typeface="+mn-lt"/>
                <a:sym typeface="+mn-ea"/>
              </a:rPr>
              <a:t>Simplicity favors regularity(</a:t>
            </a:r>
            <a:r>
              <a:rPr lang="zh-CN" altLang="en-US" sz="2400" dirty="0">
                <a:solidFill>
                  <a:srgbClr val="000000"/>
                </a:solidFill>
                <a:cs typeface="+mn-lt"/>
                <a:sym typeface="+mn-ea"/>
              </a:rPr>
              <a:t>简单源自规整，指令包含</a:t>
            </a:r>
            <a:r>
              <a:rPr lang="en-US" altLang="zh-CN" sz="2400" dirty="0">
                <a:solidFill>
                  <a:srgbClr val="000000"/>
                </a:solidFill>
                <a:cs typeface="+mn-lt"/>
                <a:sym typeface="+mn-ea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cs typeface="+mn-lt"/>
                <a:sym typeface="+mn-ea"/>
              </a:rPr>
              <a:t>个操作数）</a:t>
            </a:r>
            <a:endParaRPr lang="zh-CN" altLang="en-US" sz="2400">
              <a:cs typeface="+mn-lt"/>
            </a:endParaRPr>
          </a:p>
          <a:p>
            <a:pPr lvl="0"/>
            <a:r>
              <a:rPr lang="en-US" altLang="zh-CN" sz="2800" dirty="0">
                <a:solidFill>
                  <a:srgbClr val="000000"/>
                </a:solidFill>
                <a:sym typeface="+mn-ea"/>
              </a:rPr>
              <a:t>Example(p71):Compiling two C assignment statements into RISC-V</a:t>
            </a:r>
            <a:endParaRPr lang="zh-CN" altLang="en-US" sz="2800"/>
          </a:p>
        </p:txBody>
      </p:sp>
      <p:sp>
        <p:nvSpPr>
          <p:cNvPr id="9220" name="Rectangle 5"/>
          <p:cNvSpPr/>
          <p:nvPr/>
        </p:nvSpPr>
        <p:spPr>
          <a:xfrm>
            <a:off x="4718685" y="5157470"/>
            <a:ext cx="2916555" cy="1014730"/>
          </a:xfrm>
          <a:prstGeom prst="rect">
            <a:avLst/>
          </a:prstGeom>
          <a:gradFill>
            <a:gsLst>
              <a:gs pos="50000">
                <a:srgbClr val="F8E786"/>
              </a:gs>
              <a:gs pos="0">
                <a:srgbClr val="FAEFAE"/>
              </a:gs>
              <a:gs pos="100000">
                <a:srgbClr val="F5DE5D"/>
              </a:gs>
            </a:gsLst>
            <a:lin scaled="1"/>
          </a:gra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lvl="1" algn="l" eaLnBrk="1" hangingPunct="1"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000000"/>
                </a:solidFill>
                <a:cs typeface="Arial" panose="020B0604020202020204" pitchFamily="34" charset="0"/>
              </a:rPr>
              <a:t>RISC-V</a:t>
            </a:r>
            <a:r>
              <a:rPr lang="en-US" altLang="zh-CN" sz="2400" b="0" dirty="0">
                <a:cs typeface="Arial" panose="020B0604020202020204" pitchFamily="34" charset="0"/>
              </a:rPr>
              <a:t> code:  </a:t>
            </a:r>
          </a:p>
          <a:p>
            <a:pPr lvl="1" algn="ctr" eaLnBrk="1" hangingPunct="1"/>
            <a:r>
              <a:rPr lang="en-US" altLang="zh-CN" b="0" dirty="0">
                <a:cs typeface="Arial" panose="020B0604020202020204" pitchFamily="34" charset="0"/>
              </a:rPr>
              <a:t>        </a:t>
            </a:r>
            <a:r>
              <a:rPr lang="en-US" altLang="zh-CN" dirty="0">
                <a:cs typeface="Arial" panose="020B0604020202020204" pitchFamily="34" charset="0"/>
              </a:rPr>
              <a:t>add  a, b, c</a:t>
            </a:r>
          </a:p>
          <a:p>
            <a:pPr lvl="1" algn="ctr" eaLnBrk="1" hangingPunct="1"/>
            <a:r>
              <a:rPr lang="en-US" altLang="zh-CN" dirty="0">
                <a:cs typeface="Arial" panose="020B0604020202020204" pitchFamily="34" charset="0"/>
              </a:rPr>
              <a:t>        sub  d, a, e</a:t>
            </a:r>
          </a:p>
        </p:txBody>
      </p:sp>
      <p:sp>
        <p:nvSpPr>
          <p:cNvPr id="2" name="Rectangle 5"/>
          <p:cNvSpPr/>
          <p:nvPr/>
        </p:nvSpPr>
        <p:spPr>
          <a:xfrm>
            <a:off x="1763395" y="5157470"/>
            <a:ext cx="2370455" cy="1014730"/>
          </a:xfrm>
          <a:prstGeom prst="rect">
            <a:avLst/>
          </a:prstGeom>
          <a:gradFill>
            <a:gsLst>
              <a:gs pos="50000">
                <a:srgbClr val="F8E786"/>
              </a:gs>
              <a:gs pos="0">
                <a:srgbClr val="FAEFAE"/>
              </a:gs>
              <a:gs pos="100000">
                <a:srgbClr val="F5DE5D"/>
              </a:gs>
            </a:gsLst>
            <a:lin scaled="1"/>
          </a:gra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lvl="1" eaLnBrk="1" hangingPunct="1"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0" dirty="0">
                <a:latin typeface="Arial" panose="020B0604020202020204" pitchFamily="34" charset="0"/>
              </a:rPr>
              <a:t> code:  </a:t>
            </a:r>
          </a:p>
          <a:p>
            <a:pPr lvl="1" eaLnBrk="1" hangingPunct="1"/>
            <a:r>
              <a:rPr lang="en-US" altLang="zh-CN" b="0" dirty="0">
                <a:latin typeface="Times New Roman" panose="02020603050405020304" pitchFamily="18" charset="0"/>
              </a:rPr>
              <a:t>        a = b + c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        d = a - 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A2D65D-6C1E-2475-CCB0-AFF21E48A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标题 232449"/>
          <p:cNvSpPr>
            <a:spLocks noGrp="1"/>
          </p:cNvSpPr>
          <p:nvPr>
            <p:ph type="title"/>
          </p:nvPr>
        </p:nvSpPr>
        <p:spPr>
          <a:xfrm>
            <a:off x="684213" y="386080"/>
            <a:ext cx="8259762" cy="521970"/>
          </a:xfrm>
        </p:spPr>
        <p:txBody>
          <a:bodyPr anchor="b" anchorCtr="0">
            <a:spAutoFit/>
          </a:bodyPr>
          <a:lstStyle/>
          <a:p>
            <a:r>
              <a:rPr lang="en-US" altLang="zh-CN" sz="2800"/>
              <a:t>Example:Compiling a complex C assignment</a:t>
            </a:r>
          </a:p>
        </p:txBody>
      </p:sp>
      <p:sp>
        <p:nvSpPr>
          <p:cNvPr id="232451" name="文本占位符 232450"/>
          <p:cNvSpPr>
            <a:spLocks noGrp="1"/>
          </p:cNvSpPr>
          <p:nvPr>
            <p:ph type="body" idx="1"/>
          </p:nvPr>
        </p:nvSpPr>
        <p:spPr>
          <a:xfrm>
            <a:off x="684530" y="1082675"/>
            <a:ext cx="8270875" cy="515493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C code: </a:t>
            </a:r>
            <a:endParaRPr lang="en-US" altLang="zh-CN" sz="2400"/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+mn-ea"/>
              </a:rPr>
              <a:t>f = ( g + h ) – ( i + j );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en-US" altLang="zh-CN" sz="2800" dirty="0">
                <a:sym typeface="+mn-ea"/>
              </a:rPr>
              <a:t>RISC-V code:</a:t>
            </a:r>
            <a:endParaRPr lang="en-US" altLang="zh-CN" sz="2800"/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+mn-ea"/>
              </a:rPr>
              <a:t>add  t0, g, h               // temporary variable t0 contains g + h</a:t>
            </a:r>
            <a:endParaRPr lang="en-US" altLang="zh-CN" sz="2400"/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+mn-ea"/>
              </a:rPr>
              <a:t>add  t1, i, j                 // temporary variable t1 contains i + j</a:t>
            </a:r>
            <a:endParaRPr lang="en-US" altLang="zh-CN" sz="2400"/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+mn-ea"/>
              </a:rPr>
              <a:t>sub  f, t0, t1               // f gets t0 – t1</a:t>
            </a:r>
            <a:endParaRPr lang="en-US" altLang="zh-CN" sz="2400"/>
          </a:p>
          <a:p>
            <a:pPr>
              <a:lnSpc>
                <a:spcPct val="90000"/>
              </a:lnSpc>
            </a:pPr>
            <a:endParaRPr lang="en-AU" altLang="zh-CN" sz="2400"/>
          </a:p>
        </p:txBody>
      </p:sp>
      <p:graphicFrame>
        <p:nvGraphicFramePr>
          <p:cNvPr id="334881" name="Group 3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55955" y="4368165"/>
          <a:ext cx="8159115" cy="1859280"/>
        </p:xfrm>
        <a:graphic>
          <a:graphicData uri="http://schemas.openxmlformats.org/drawingml/2006/table">
            <a:tbl>
              <a:tblPr/>
              <a:tblGrid>
                <a:gridCol w="156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5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5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Category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Instruction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Comments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Arithmetic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add a,b,c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a←b+c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Always three operands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subtract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sub a,b,c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a←b-c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Always three operands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269" name="Rectangle 29"/>
          <p:cNvSpPr/>
          <p:nvPr/>
        </p:nvSpPr>
        <p:spPr>
          <a:xfrm>
            <a:off x="2051685" y="3861435"/>
            <a:ext cx="43942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1" algn="ctr" eaLnBrk="1" hangingPunct="1"/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RISC-V assembly language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B39735-0677-C184-3DA8-72CC50B67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t>RISC-V operands</a:t>
            </a:r>
          </a:p>
        </p:txBody>
      </p:sp>
      <p:graphicFrame>
        <p:nvGraphicFramePr>
          <p:cNvPr id="340994" name="Group 2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539433" y="1124268"/>
          <a:ext cx="8138160" cy="3371215"/>
        </p:xfrm>
        <a:graphic>
          <a:graphicData uri="http://schemas.openxmlformats.org/drawingml/2006/table">
            <a:tbl>
              <a:tblPr/>
              <a:tblGrid>
                <a:gridCol w="1513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5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9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8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Comments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32 registers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x0-x31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Fast locations for data. In RISC-V, data must be in registers to perform arithmetic.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Register x0 always equals 0.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22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30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memory words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Memory[0],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Memory[4] ,  …… ,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Memory[4294967292]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Accessed only by data transfer instructions. RISC-V uses byte addresses, so sequential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word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accesses differ by 4. Memory holds data structures, arrays, and  spilled registers.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8F0D02-7360-BBBA-3EDA-944B7A11E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t>RISC-V assembly language</a:t>
            </a:r>
          </a:p>
        </p:txBody>
      </p:sp>
      <p:graphicFrame>
        <p:nvGraphicFramePr>
          <p:cNvPr id="341057" name="Group 6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84213" y="1125538"/>
          <a:ext cx="8270875" cy="3742387"/>
        </p:xfrm>
        <a:graphic>
          <a:graphicData uri="http://schemas.openxmlformats.org/drawingml/2006/table">
            <a:tbl>
              <a:tblPr/>
              <a:tblGrid>
                <a:gridCol w="1189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Category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Instruction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Comments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 row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_GB2312" pitchFamily="49" charset="-122"/>
                        </a:rPr>
                        <a:t>Arithmetic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add x5,x6,x7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+ x7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Add  two source register operands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subtract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sub x5,x6,x7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x5=x6 - x7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First source register subtracts second 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add immediate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addi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x5,x6,20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x5=x6+20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Used to add constants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150"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Data transfer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load word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lw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40(x6)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x5=Memory[x6+40]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word from memory to register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90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load word, unsigned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lwu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40(x6)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x5=Memory[x6+40]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Unsigned word from memory to register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1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store word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sw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40(x6)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Memory[x6+40]=x5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word from register to memory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1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load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halfword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lh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40(x6)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x5=Memory[x6+40]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Halfword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from memory to register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488998-E487-E550-3A9E-34589A3B09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Group 6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84213" y="1125538"/>
          <a:ext cx="8270875" cy="4383024"/>
        </p:xfrm>
        <a:graphic>
          <a:graphicData uri="http://schemas.openxmlformats.org/drawingml/2006/table">
            <a:tbl>
              <a:tblPr/>
              <a:tblGrid>
                <a:gridCol w="1189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2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Category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Instruction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Comments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 rowSpan="8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Data transfer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load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halfword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, unsigned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lhu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40(x6)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x5=Memory[x6+40]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Unsigned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halfword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from memory to register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store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halfword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sh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40(x6)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Memory[x6+40]=x5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halfword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from register to memory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load byte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lb x5, 40(x6)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x5=Memory[x6+40]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byte from memory to register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load byte, unsigned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lbu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40(x6)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x5=Memory[x6+40]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Unsigned byte from memory to register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store byte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sb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40(x6)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Memory[x6+40]=x5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byte from register to memory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6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load reserved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lr.w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x5,(x6)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x5=Memory[x6]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Load;1st half of atomic swap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2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store conditional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sc.w 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x7,x5,(x6)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Memory[x6]=x5;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x7 = 0/1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Store;2nd half of atomic swap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2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Load upper immediate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lui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x5,0x12345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x5=0x12345000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Loads 20-bits constant shifted left 12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3F4E19-F3B8-9D4C-7B37-7EB6CE8A7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41057" name="Group 6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84213" y="1125538"/>
          <a:ext cx="8270875" cy="5006295"/>
        </p:xfrm>
        <a:graphic>
          <a:graphicData uri="http://schemas.openxmlformats.org/drawingml/2006/table">
            <a:tbl>
              <a:tblPr/>
              <a:tblGrid>
                <a:gridCol w="1189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9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Category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Instruction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Comments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050">
                <a:tc rowSpan="6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_GB2312" pitchFamily="49" charset="-122"/>
                        </a:rPr>
                        <a:t>Logical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and x5, x6, x7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&amp; x7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Bit-by-bit AND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3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inclusive 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or x5,x6,x7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| x7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Bit-by-bit 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36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exclusive 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xor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x5,x6,x7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^ x7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Bit-by-bit XOR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26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and immediate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andi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x5,x6,20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&amp; 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Bit-by-bit AND reg. with constant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7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inclusive or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immediate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ori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x5,x6,20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| 20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Bit-by-bit OR reg. with constant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0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exclusive or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immediate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xori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x5,x6,20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^ 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Bit-by-bit XOR reg. with constant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361"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Shift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shift left logical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sll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x6, x7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&lt;&lt; x7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Shift left by register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1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shift right logical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srl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x6, x7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&gt;&gt; x7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Shift right by register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30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shift right arithmetic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sra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x6, x7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&gt;&gt; x7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Arithmetic shift right by register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962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shift left logical immediate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slli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x6, 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&lt;&lt; 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Shift left by immediate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54EA38-EC4A-D401-F10D-48B82530C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" name="Group 6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84213" y="1125538"/>
          <a:ext cx="8270875" cy="5012890"/>
        </p:xfrm>
        <a:graphic>
          <a:graphicData uri="http://schemas.openxmlformats.org/drawingml/2006/table">
            <a:tbl>
              <a:tblPr/>
              <a:tblGrid>
                <a:gridCol w="1189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9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Category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Instruction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Comments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356"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Shift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shift right logical immediate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srli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x5,x6,3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&gt;&gt;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Shift right by immediate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1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shift right arithmetic immediate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srai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x5,x6,3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&gt;&gt;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Arithmetic shift right by immediate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356">
                <a:tc rowSpan="6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Conditional branch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branch if equal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beq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x6, 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if(x5 == x6) go to PC+100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PC-relative branch if registers equal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7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branch if not equal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bne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x6, 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if(x5 != x6) go to PC+100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PC-relative branch if registers not equal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7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branch if less than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blt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x6, 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if(x5 &lt; x6) go to PC+100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PC-relative branch if registers less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8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branch if greater or equal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bge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x6, 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if(x5 &gt;= x6) go to PC+100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PC-relative branch if registers greater or equal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78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branch if less, unsigned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bltu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x6, 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if(x5 &gt;= x6) go to PC+100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PC-relative branch if registers less, unsigned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78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branch if greater or equal, unsigned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bgeu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x5, x6, 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if(x5 &gt;= x6) go to PC+100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PC-relative branch if registers greater or equal, unsigned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A99C81-465E-A7EE-527B-16CE68564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" name="Group 6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84213" y="1125538"/>
          <a:ext cx="8270875" cy="1566672"/>
        </p:xfrm>
        <a:graphic>
          <a:graphicData uri="http://schemas.openxmlformats.org/drawingml/2006/table">
            <a:tbl>
              <a:tblPr/>
              <a:tblGrid>
                <a:gridCol w="1189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9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Category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Instruction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Comments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898"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Unconditional branch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jump and link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jal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x1, 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x1 = PC + 4;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go to PC+100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PC-relative procedure call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89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jump and link register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jalr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 x1, 100(x5)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x1 = PC + 4;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go to x5+100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procedure return; indirect call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0C86AB-06D7-772F-314D-DFC147785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2" name="文本框 186371"/>
          <p:cNvSpPr txBox="1"/>
          <p:nvPr/>
        </p:nvSpPr>
        <p:spPr>
          <a:xfrm rot="5400000">
            <a:off x="6697345" y="2078990"/>
            <a:ext cx="4525645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2.3 Operands of the Computer Hardware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sym typeface="+mn-ea"/>
              </a:rPr>
              <a:t>Arithmetic instructions operands must be registers or immediate</a:t>
            </a:r>
          </a:p>
          <a:p>
            <a:pPr lvl="1"/>
            <a:r>
              <a:rPr lang="en-US" altLang="zh-CN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sym typeface="+mn-ea"/>
              </a:rPr>
              <a:t>32 registers in RISC-V</a:t>
            </a:r>
            <a:endParaRPr lang="en-US" altLang="zh-CN" dirty="0">
              <a:solidFill>
                <a:srgbClr val="000000"/>
              </a:solidFill>
              <a:sym typeface="+mn-ea"/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  <a:sym typeface="+mn-ea"/>
              </a:rPr>
              <a:t>32 bits for each register in RISC-V</a:t>
            </a:r>
          </a:p>
          <a:p>
            <a:pPr lvl="0"/>
            <a:r>
              <a:rPr lang="en-US" altLang="zh-CN" sz="3200" dirty="0">
                <a:solidFill>
                  <a:srgbClr val="000000"/>
                </a:solidFill>
                <a:sym typeface="+mn-ea"/>
              </a:rPr>
              <a:t>Design Principle 2</a:t>
            </a:r>
            <a:endParaRPr lang="zh-CN" altLang="en-US" sz="3200"/>
          </a:p>
          <a:p>
            <a:pPr lvl="1"/>
            <a:r>
              <a:rPr dirty="0">
                <a:solidFill>
                  <a:srgbClr val="000000"/>
                </a:solidFill>
                <a:cs typeface="+mn-lt"/>
                <a:sym typeface="+mn-ea"/>
              </a:rPr>
              <a:t>Smaller is faster（越少越快，寄存器个数一般不超过32个）</a:t>
            </a: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84213" y="262890"/>
            <a:ext cx="8259762" cy="645160"/>
          </a:xfrm>
        </p:spPr>
        <p:txBody>
          <a:bodyPr/>
          <a:lstStyle/>
          <a:p>
            <a:r>
              <a:rPr lang="zh-CN" altLang="en-US" sz="3600"/>
              <a:t>Operands of the Computer Hardware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CABEB2-EDA0-DA69-A9F9-1C45AB2442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标题 190465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anchor="b" anchorCtr="0">
            <a:spAutoFit/>
          </a:bodyPr>
          <a:lstStyle/>
          <a:p>
            <a:r>
              <a:rPr lang="en-US" altLang="zh-CN"/>
              <a:t>RISC-V register conventions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8435" name="表格 1843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3260" y="1124585"/>
          <a:ext cx="8281035" cy="4749800"/>
        </p:xfrm>
        <a:graphic>
          <a:graphicData uri="http://schemas.openxmlformats.org/drawingml/2006/table">
            <a:tbl>
              <a:tblPr/>
              <a:tblGrid>
                <a:gridCol w="127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4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6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7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668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Name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Register</a:t>
                      </a:r>
                    </a:p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Usage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Preserved</a:t>
                      </a:r>
                    </a:p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On call?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x0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The constant value 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n.a.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x1(ra)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Return address(link register)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yes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x2(sp)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Stack pointer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yes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x3(gp)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Global pointer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yes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x4(tp)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Thread pointer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yes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x5-x7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5-7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Temporaries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x8-x9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8-9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Saved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yes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x10-x17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10-17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Arguments/results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x18-x27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18-27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Saved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yes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x28-x31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28-31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Temporaries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B42C40-4490-B317-26AC-1E5E25CBF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标题 232449"/>
          <p:cNvSpPr>
            <a:spLocks noGrp="1"/>
          </p:cNvSpPr>
          <p:nvPr>
            <p:ph type="title"/>
          </p:nvPr>
        </p:nvSpPr>
        <p:spPr>
          <a:xfrm>
            <a:off x="684213" y="-45085"/>
            <a:ext cx="8259762" cy="953135"/>
          </a:xfrm>
        </p:spPr>
        <p:txBody>
          <a:bodyPr anchor="b" anchorCtr="0">
            <a:spAutoFit/>
          </a:bodyPr>
          <a:lstStyle/>
          <a:p>
            <a:r>
              <a:rPr lang="en-US" altLang="zh-CN" sz="2800"/>
              <a:t>Example:Compiling a C statement using registers</a:t>
            </a:r>
          </a:p>
        </p:txBody>
      </p:sp>
      <p:sp>
        <p:nvSpPr>
          <p:cNvPr id="232451" name="文本占位符 232450"/>
          <p:cNvSpPr>
            <a:spLocks noGrp="1"/>
          </p:cNvSpPr>
          <p:nvPr>
            <p:ph type="body" idx="1"/>
          </p:nvPr>
        </p:nvSpPr>
        <p:spPr>
          <a:xfrm>
            <a:off x="684530" y="1082675"/>
            <a:ext cx="8270875" cy="515493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/>
              <a:t>C code: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f = ( g + h ) – ( i + j )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 dirty="0">
                <a:sym typeface="+mn-ea"/>
              </a:rPr>
              <a:t>RISC-V code:</a:t>
            </a:r>
            <a:endParaRPr lang="en-US" altLang="zh-CN"/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add    x5, x20, x21     // register x5 contains g + h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add    x6, x22, x23     // register x6 contains i + j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sub    x19, x5, x6       // f gets x5 – x6, which is  ( g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				  +  h )  –  (  i  +  j  )</a:t>
            </a:r>
          </a:p>
          <a:p>
            <a:pPr>
              <a:lnSpc>
                <a:spcPct val="90000"/>
              </a:lnSpc>
            </a:pPr>
            <a:endParaRPr lang="en-AU" altLang="zh-CN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7E05ED-5607-7CD3-3E61-5151FFA65F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1" name="文本占位符 232450"/>
          <p:cNvSpPr>
            <a:spLocks noGrp="1"/>
          </p:cNvSpPr>
          <p:nvPr>
            <p:ph type="body" idx="1"/>
          </p:nvPr>
        </p:nvSpPr>
        <p:spPr>
          <a:xfrm>
            <a:off x="684530" y="1082675"/>
            <a:ext cx="8270875" cy="515493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Save complex data structures(Arrays and structures) 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sym typeface="+mn-ea"/>
              </a:rPr>
              <a:t>Data transfer instructions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Load: from memory to register;  load word ( lw )</a:t>
            </a:r>
          </a:p>
          <a:p>
            <a:pPr lvl="1">
              <a:lnSpc>
                <a:spcPct val="90000"/>
              </a:lnSpc>
            </a:pPr>
            <a:r>
              <a:rPr lang="en-AU" altLang="zh-CN" sz="2400">
                <a:latin typeface="Arial" panose="020B0604020202020204" pitchFamily="34" charset="0"/>
                <a:cs typeface="Arial" panose="020B0604020202020204" pitchFamily="34" charset="0"/>
              </a:rPr>
              <a:t>Store: from register to memory; store word( sw )</a:t>
            </a:r>
          </a:p>
          <a:p>
            <a:pPr lvl="0">
              <a:lnSpc>
                <a:spcPct val="90000"/>
              </a:lnSpc>
            </a:pPr>
            <a:r>
              <a:rPr lang="en-AU" altLang="zh-CN" sz="2800">
                <a:latin typeface="Arial" panose="020B0604020202020204" pitchFamily="34" charset="0"/>
                <a:cs typeface="Arial" panose="020B0604020202020204" pitchFamily="34" charset="0"/>
              </a:rPr>
              <a:t>Memory addresses and contents at those locations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Memory operands</a:t>
            </a:r>
          </a:p>
        </p:txBody>
      </p:sp>
      <p:pic>
        <p:nvPicPr>
          <p:cNvPr id="20483" name="Picture 3" descr="f03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975" y="3933190"/>
            <a:ext cx="4591685" cy="21837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9C8296-5B6F-40ED-C633-8062B8D66B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标题 232449"/>
          <p:cNvSpPr>
            <a:spLocks noGrp="1"/>
          </p:cNvSpPr>
          <p:nvPr>
            <p:ph type="title"/>
          </p:nvPr>
        </p:nvSpPr>
        <p:spPr>
          <a:xfrm>
            <a:off x="684213" y="-45085"/>
            <a:ext cx="8259762" cy="953135"/>
          </a:xfrm>
        </p:spPr>
        <p:txBody>
          <a:bodyPr anchor="b" anchorCtr="0">
            <a:spAutoFit/>
          </a:bodyPr>
          <a:lstStyle/>
          <a:p>
            <a:r>
              <a:rPr lang="en-US" altLang="zh-CN" sz="2800"/>
              <a:t>Example:Compiling with an operand in memory</a:t>
            </a:r>
            <a:br>
              <a:rPr lang="en-US" altLang="zh-CN" sz="2800"/>
            </a:br>
            <a:r>
              <a:rPr lang="en-US" altLang="zh-CN" sz="2800"/>
              <a:t>C code</a:t>
            </a:r>
          </a:p>
        </p:txBody>
      </p:sp>
      <p:sp>
        <p:nvSpPr>
          <p:cNvPr id="232451" name="文本占位符 232450"/>
          <p:cNvSpPr>
            <a:spLocks noGrp="1"/>
          </p:cNvSpPr>
          <p:nvPr>
            <p:ph type="body" idx="1"/>
          </p:nvPr>
        </p:nvSpPr>
        <p:spPr>
          <a:xfrm>
            <a:off x="684530" y="1082675"/>
            <a:ext cx="8270875" cy="515493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C code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  =  h  +  A[8] ;    	// A is an array of 100 words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 Assume: g --- x20  h --- x21  base address of A --- x22 )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sym typeface="+mn-ea"/>
              </a:rPr>
              <a:t>RISC-V code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400" dirty="0">
                <a:sym typeface="+mn-ea"/>
              </a:rPr>
              <a:t>lw       x9, 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32</a:t>
            </a:r>
            <a:r>
              <a:rPr lang="en-US" altLang="zh-CN" sz="2400" dirty="0">
                <a:sym typeface="+mn-ea"/>
              </a:rPr>
              <a:t>(x22)         // temporary reg x9 gets A[8]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400" dirty="0">
                <a:sym typeface="+mn-ea"/>
              </a:rPr>
              <a:t>add    x20, x21, x9        // g = h + A[8]</a:t>
            </a:r>
          </a:p>
          <a:p>
            <a:pPr lvl="1">
              <a:lnSpc>
                <a:spcPct val="90000"/>
              </a:lnSpc>
            </a:pPr>
            <a:r>
              <a:rPr lang="en-AU" altLang="zh-CN" sz="2400"/>
              <a:t>Offset: the constant in a data transfer instruction →32</a:t>
            </a:r>
          </a:p>
          <a:p>
            <a:pPr lvl="1">
              <a:lnSpc>
                <a:spcPct val="90000"/>
              </a:lnSpc>
            </a:pPr>
            <a:r>
              <a:rPr lang="en-AU" altLang="zh-CN" sz="2400"/>
              <a:t>Base register: the register added to form the address →x22</a:t>
            </a:r>
          </a:p>
          <a:p>
            <a:pPr lvl="0">
              <a:lnSpc>
                <a:spcPct val="90000"/>
              </a:lnSpc>
            </a:pPr>
            <a:r>
              <a:rPr lang="en-AU" altLang="zh-CN" sz="2800"/>
              <a:t>Byte/Half-word/word addressing</a:t>
            </a:r>
          </a:p>
          <a:p>
            <a:pPr lvl="0">
              <a:lnSpc>
                <a:spcPct val="90000"/>
              </a:lnSpc>
            </a:pPr>
            <a:r>
              <a:rPr lang="en-AU" altLang="zh-CN" sz="2800"/>
              <a:t>Alignment restriction</a:t>
            </a:r>
          </a:p>
          <a:p>
            <a:pPr lvl="0">
              <a:lnSpc>
                <a:spcPct val="90000"/>
              </a:lnSpc>
            </a:pPr>
            <a:r>
              <a:rPr lang="en-AU" altLang="zh-CN" sz="2800"/>
              <a:t>Endianness/byte order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1306E86-E196-4982-7636-0A3576F7B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Rot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marL="0" indent="0">
              <a:buNone/>
            </a:pPr>
            <a:r>
              <a:rPr lang="en-US" altLang="zh-CN" sz="2000" b="1" dirty="0"/>
              <a:t>struct {</a:t>
            </a:r>
          </a:p>
          <a:p>
            <a:pPr marL="0" indent="0">
              <a:buNone/>
            </a:pPr>
            <a:r>
              <a:rPr lang="en-US" altLang="zh-CN" sz="2000" b="1" dirty="0"/>
              <a:t>int a;</a:t>
            </a:r>
          </a:p>
          <a:p>
            <a:pPr marL="0" indent="0">
              <a:buNone/>
            </a:pPr>
            <a:r>
              <a:rPr lang="en-US" altLang="zh-CN" sz="2000" b="1" dirty="0"/>
              <a:t>char b;</a:t>
            </a:r>
          </a:p>
          <a:p>
            <a:pPr marL="0" indent="0">
              <a:buNone/>
            </a:pPr>
            <a:r>
              <a:rPr lang="en-US" altLang="zh-CN" sz="2000" b="1" dirty="0"/>
              <a:t>char c[2];</a:t>
            </a:r>
          </a:p>
          <a:p>
            <a:pPr marL="0" indent="0">
              <a:buNone/>
            </a:pPr>
            <a:r>
              <a:rPr lang="en-US" altLang="zh-CN" sz="2000" b="1" dirty="0"/>
              <a:t>char d[3]</a:t>
            </a:r>
          </a:p>
          <a:p>
            <a:pPr marL="0" indent="0">
              <a:buNone/>
            </a:pPr>
            <a:r>
              <a:rPr lang="en-US" altLang="zh-CN" sz="2000" b="1" dirty="0"/>
              <a:t>float e;</a:t>
            </a:r>
          </a:p>
          <a:p>
            <a:pPr marL="0" indent="0">
              <a:buNone/>
            </a:pPr>
            <a:r>
              <a:rPr lang="en-US" altLang="zh-CN" sz="2000" b="1" dirty="0"/>
              <a:t>}</a:t>
            </a:r>
          </a:p>
          <a:p>
            <a:pPr marL="0" indent="0">
              <a:buNone/>
            </a:pPr>
            <a:endParaRPr lang="en-US" altLang="zh-CN" sz="2000" b="1" dirty="0"/>
          </a:p>
        </p:txBody>
      </p:sp>
      <p:grpSp>
        <p:nvGrpSpPr>
          <p:cNvPr id="2" name="Group 42"/>
          <p:cNvGrpSpPr/>
          <p:nvPr/>
        </p:nvGrpSpPr>
        <p:grpSpPr>
          <a:xfrm>
            <a:off x="3348038" y="2060575"/>
            <a:ext cx="2881312" cy="1727200"/>
            <a:chOff x="2109" y="1298"/>
            <a:chExt cx="1815" cy="1088"/>
          </a:xfrm>
        </p:grpSpPr>
        <p:sp>
          <p:nvSpPr>
            <p:cNvPr id="22549" name="Rectangle 4"/>
            <p:cNvSpPr/>
            <p:nvPr/>
          </p:nvSpPr>
          <p:spPr>
            <a:xfrm>
              <a:off x="2109" y="2114"/>
              <a:ext cx="181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2550" name="Rectangle 5"/>
            <p:cNvSpPr/>
            <p:nvPr/>
          </p:nvSpPr>
          <p:spPr>
            <a:xfrm>
              <a:off x="2109" y="1842"/>
              <a:ext cx="45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2551" name="Rectangle 6"/>
            <p:cNvSpPr/>
            <p:nvPr/>
          </p:nvSpPr>
          <p:spPr>
            <a:xfrm>
              <a:off x="2109" y="1298"/>
              <a:ext cx="181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2552" name="Rectangle 10"/>
            <p:cNvSpPr/>
            <p:nvPr/>
          </p:nvSpPr>
          <p:spPr>
            <a:xfrm>
              <a:off x="2562" y="1842"/>
              <a:ext cx="45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c[0]</a:t>
              </a:r>
            </a:p>
          </p:txBody>
        </p:sp>
        <p:sp>
          <p:nvSpPr>
            <p:cNvPr id="22553" name="Rectangle 11"/>
            <p:cNvSpPr/>
            <p:nvPr/>
          </p:nvSpPr>
          <p:spPr>
            <a:xfrm>
              <a:off x="3016" y="1842"/>
              <a:ext cx="45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c[1]</a:t>
              </a:r>
            </a:p>
          </p:txBody>
        </p:sp>
        <p:sp>
          <p:nvSpPr>
            <p:cNvPr id="22554" name="Rectangle 12"/>
            <p:cNvSpPr/>
            <p:nvPr/>
          </p:nvSpPr>
          <p:spPr>
            <a:xfrm>
              <a:off x="3016" y="1570"/>
              <a:ext cx="454" cy="272"/>
            </a:xfrm>
            <a:prstGeom prst="rect">
              <a:avLst/>
            </a:prstGeom>
            <a:solidFill>
              <a:schemeClr val="hlink"/>
            </a:solidFill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No use</a:t>
              </a:r>
            </a:p>
          </p:txBody>
        </p:sp>
        <p:sp>
          <p:nvSpPr>
            <p:cNvPr id="22555" name="Rectangle 13"/>
            <p:cNvSpPr/>
            <p:nvPr/>
          </p:nvSpPr>
          <p:spPr>
            <a:xfrm>
              <a:off x="3470" y="1570"/>
              <a:ext cx="454" cy="272"/>
            </a:xfrm>
            <a:prstGeom prst="rect">
              <a:avLst/>
            </a:prstGeom>
            <a:solidFill>
              <a:schemeClr val="hlink"/>
            </a:solidFill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No use</a:t>
              </a:r>
            </a:p>
          </p:txBody>
        </p:sp>
        <p:sp>
          <p:nvSpPr>
            <p:cNvPr id="22556" name="Rectangle 14"/>
            <p:cNvSpPr/>
            <p:nvPr/>
          </p:nvSpPr>
          <p:spPr>
            <a:xfrm>
              <a:off x="3470" y="1842"/>
              <a:ext cx="45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d[0]</a:t>
              </a:r>
            </a:p>
          </p:txBody>
        </p:sp>
        <p:sp>
          <p:nvSpPr>
            <p:cNvPr id="22557" name="Rectangle 15"/>
            <p:cNvSpPr/>
            <p:nvPr/>
          </p:nvSpPr>
          <p:spPr>
            <a:xfrm>
              <a:off x="2109" y="1570"/>
              <a:ext cx="45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d[1]</a:t>
              </a:r>
            </a:p>
          </p:txBody>
        </p:sp>
        <p:sp>
          <p:nvSpPr>
            <p:cNvPr id="22558" name="Rectangle 16"/>
            <p:cNvSpPr/>
            <p:nvPr/>
          </p:nvSpPr>
          <p:spPr>
            <a:xfrm>
              <a:off x="2562" y="1570"/>
              <a:ext cx="45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d[2]</a:t>
              </a:r>
            </a:p>
          </p:txBody>
        </p:sp>
      </p:grpSp>
      <p:sp>
        <p:nvSpPr>
          <p:cNvPr id="22533" name="AutoShape 35"/>
          <p:cNvSpPr/>
          <p:nvPr/>
        </p:nvSpPr>
        <p:spPr>
          <a:xfrm>
            <a:off x="2411413" y="2565400"/>
            <a:ext cx="792162" cy="287338"/>
          </a:xfrm>
          <a:prstGeom prst="rightArrow">
            <a:avLst>
              <a:gd name="adj1" fmla="val 50000"/>
              <a:gd name="adj2" fmla="val 68922"/>
            </a:avLst>
          </a:prstGeom>
          <a:noFill/>
          <a:ln w="9525" cap="rnd" cmpd="sng">
            <a:solidFill>
              <a:srgbClr val="007A77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>
              <a:buClr>
                <a:schemeClr val="bg2"/>
              </a:buClr>
              <a:buSzPct val="75000"/>
            </a:pPr>
            <a:endParaRPr lang="zh-CN" altLang="en-US" sz="28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37" name="Text Box 36"/>
          <p:cNvSpPr txBox="1"/>
          <p:nvPr/>
        </p:nvSpPr>
        <p:spPr>
          <a:xfrm>
            <a:off x="6372225" y="4797425"/>
            <a:ext cx="2376488" cy="1337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bg2"/>
              </a:buClr>
              <a:buSzPct val="75000"/>
            </a:pPr>
            <a:r>
              <a:rPr lang="zh-CN" altLang="en-US" sz="18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因为一次只能读出</a:t>
            </a:r>
            <a:r>
              <a:rPr lang="en-US" altLang="zh-CN" sz="18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8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字节内存中的一行</a:t>
            </a:r>
          </a:p>
          <a:p>
            <a:pPr>
              <a:spcBef>
                <a:spcPct val="50000"/>
              </a:spcBef>
              <a:buClr>
                <a:schemeClr val="bg2"/>
              </a:buClr>
              <a:buSzPct val="75000"/>
            </a:pPr>
            <a:r>
              <a:rPr lang="zh-CN" altLang="en-US" sz="18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这样布局，</a:t>
            </a:r>
            <a:r>
              <a:rPr lang="en-US" altLang="zh-CN" sz="18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18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变量不能一次读出</a:t>
            </a:r>
          </a:p>
        </p:txBody>
      </p:sp>
      <p:grpSp>
        <p:nvGrpSpPr>
          <p:cNvPr id="3" name="Group 41"/>
          <p:cNvGrpSpPr/>
          <p:nvPr/>
        </p:nvGrpSpPr>
        <p:grpSpPr>
          <a:xfrm>
            <a:off x="3348038" y="4581525"/>
            <a:ext cx="2881312" cy="1727200"/>
            <a:chOff x="2109" y="2886"/>
            <a:chExt cx="1815" cy="1088"/>
          </a:xfrm>
        </p:grpSpPr>
        <p:sp>
          <p:nvSpPr>
            <p:cNvPr id="22538" name="Rectangle 4"/>
            <p:cNvSpPr/>
            <p:nvPr/>
          </p:nvSpPr>
          <p:spPr>
            <a:xfrm>
              <a:off x="2109" y="3702"/>
              <a:ext cx="181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2539" name="Rectangle 5"/>
            <p:cNvSpPr/>
            <p:nvPr/>
          </p:nvSpPr>
          <p:spPr>
            <a:xfrm>
              <a:off x="2109" y="3430"/>
              <a:ext cx="45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2540" name="Rectangle 6"/>
            <p:cNvSpPr/>
            <p:nvPr/>
          </p:nvSpPr>
          <p:spPr>
            <a:xfrm>
              <a:off x="2109" y="2886"/>
              <a:ext cx="907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2541" name="Rectangle 10"/>
            <p:cNvSpPr/>
            <p:nvPr/>
          </p:nvSpPr>
          <p:spPr>
            <a:xfrm>
              <a:off x="2562" y="3430"/>
              <a:ext cx="45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c[0]</a:t>
              </a:r>
            </a:p>
          </p:txBody>
        </p:sp>
        <p:sp>
          <p:nvSpPr>
            <p:cNvPr id="22542" name="Rectangle 11"/>
            <p:cNvSpPr/>
            <p:nvPr/>
          </p:nvSpPr>
          <p:spPr>
            <a:xfrm>
              <a:off x="3016" y="3430"/>
              <a:ext cx="45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c[1]</a:t>
              </a:r>
            </a:p>
          </p:txBody>
        </p:sp>
        <p:sp>
          <p:nvSpPr>
            <p:cNvPr id="22543" name="Rectangle 12"/>
            <p:cNvSpPr/>
            <p:nvPr/>
          </p:nvSpPr>
          <p:spPr>
            <a:xfrm>
              <a:off x="3016" y="2886"/>
              <a:ext cx="454" cy="272"/>
            </a:xfrm>
            <a:prstGeom prst="rect">
              <a:avLst/>
            </a:prstGeom>
            <a:solidFill>
              <a:schemeClr val="hlink"/>
            </a:solidFill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No use</a:t>
              </a:r>
            </a:p>
          </p:txBody>
        </p:sp>
        <p:sp>
          <p:nvSpPr>
            <p:cNvPr id="22544" name="Rectangle 13"/>
            <p:cNvSpPr/>
            <p:nvPr/>
          </p:nvSpPr>
          <p:spPr>
            <a:xfrm>
              <a:off x="3470" y="2886"/>
              <a:ext cx="454" cy="272"/>
            </a:xfrm>
            <a:prstGeom prst="rect">
              <a:avLst/>
            </a:prstGeom>
            <a:solidFill>
              <a:schemeClr val="hlink"/>
            </a:solidFill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No use</a:t>
              </a:r>
            </a:p>
          </p:txBody>
        </p:sp>
        <p:sp>
          <p:nvSpPr>
            <p:cNvPr id="22545" name="Rectangle 14"/>
            <p:cNvSpPr/>
            <p:nvPr/>
          </p:nvSpPr>
          <p:spPr>
            <a:xfrm>
              <a:off x="3470" y="3430"/>
              <a:ext cx="45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d[0]</a:t>
              </a:r>
            </a:p>
          </p:txBody>
        </p:sp>
        <p:sp>
          <p:nvSpPr>
            <p:cNvPr id="22546" name="Rectangle 15"/>
            <p:cNvSpPr/>
            <p:nvPr/>
          </p:nvSpPr>
          <p:spPr>
            <a:xfrm>
              <a:off x="2109" y="3158"/>
              <a:ext cx="45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d[1]</a:t>
              </a:r>
            </a:p>
          </p:txBody>
        </p:sp>
        <p:sp>
          <p:nvSpPr>
            <p:cNvPr id="22547" name="Rectangle 16"/>
            <p:cNvSpPr/>
            <p:nvPr/>
          </p:nvSpPr>
          <p:spPr>
            <a:xfrm>
              <a:off x="2562" y="3158"/>
              <a:ext cx="454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d[2]</a:t>
              </a:r>
            </a:p>
          </p:txBody>
        </p:sp>
        <p:sp>
          <p:nvSpPr>
            <p:cNvPr id="22548" name="Rectangle 6"/>
            <p:cNvSpPr/>
            <p:nvPr/>
          </p:nvSpPr>
          <p:spPr>
            <a:xfrm>
              <a:off x="3016" y="3158"/>
              <a:ext cx="907" cy="27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buClr>
                  <a:schemeClr val="bg2"/>
                </a:buClr>
                <a:buSzPct val="75000"/>
              </a:pPr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</p:grpSp>
      <p:sp>
        <p:nvSpPr>
          <p:cNvPr id="13351" name="Text Box 36"/>
          <p:cNvSpPr txBox="1"/>
          <p:nvPr/>
        </p:nvSpPr>
        <p:spPr>
          <a:xfrm>
            <a:off x="4427538" y="4149725"/>
            <a:ext cx="6477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bg2"/>
              </a:buClr>
              <a:buSzPct val="75000"/>
            </a:pPr>
            <a:r>
              <a:rPr lang="zh-CN" altLang="en-US" sz="18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错误</a:t>
            </a:r>
          </a:p>
        </p:txBody>
      </p:sp>
      <p:sp>
        <p:nvSpPr>
          <p:cNvPr id="13352" name="Text Box 36"/>
          <p:cNvSpPr txBox="1"/>
          <p:nvPr/>
        </p:nvSpPr>
        <p:spPr>
          <a:xfrm>
            <a:off x="4500563" y="1628775"/>
            <a:ext cx="6477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bg2"/>
              </a:buClr>
              <a:buSzPct val="75000"/>
            </a:pPr>
            <a:r>
              <a:rPr lang="zh-CN" altLang="en-US" sz="18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正确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Memory Alignment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4B1727-BA78-72E3-42AD-8E6CF52FF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133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2000" fill="hold"/>
                                        <p:tgtEl>
                                          <p:spTgt spid="133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7" grpId="0"/>
      <p:bldP spid="13351" grpId="0"/>
      <p:bldP spid="13351" grpId="1"/>
      <p:bldP spid="13352" grpId="0"/>
      <p:bldP spid="1335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dirty="0"/>
              <a:t>Big endian: Leftmost</a:t>
            </a:r>
          </a:p>
          <a:p>
            <a:pPr lvl="1"/>
            <a:r>
              <a:rPr lang="en-US" altLang="zh-CN" dirty="0"/>
              <a:t>PowerPC,IBM</a:t>
            </a:r>
          </a:p>
          <a:p>
            <a:pPr lvl="1"/>
            <a:r>
              <a:rPr lang="en-US" altLang="zh-CN" dirty="0"/>
              <a:t>01 02  = 258</a:t>
            </a:r>
          </a:p>
          <a:p>
            <a:r>
              <a:rPr lang="en-US" altLang="zh-CN" dirty="0"/>
              <a:t>Little endian: Rightmost</a:t>
            </a:r>
          </a:p>
          <a:p>
            <a:pPr lvl="1"/>
            <a:r>
              <a:rPr lang="en-US" altLang="zh-CN" dirty="0"/>
              <a:t>Intel,DEC</a:t>
            </a:r>
          </a:p>
          <a:p>
            <a:pPr lvl="1"/>
            <a:r>
              <a:rPr lang="en-US" altLang="zh-CN" dirty="0"/>
              <a:t>01 02  = 513</a:t>
            </a:r>
          </a:p>
          <a:p>
            <a:r>
              <a:rPr lang="en-US" altLang="zh-CN" dirty="0"/>
              <a:t>Bi-endian</a:t>
            </a:r>
          </a:p>
          <a:p>
            <a:pPr lvl="1"/>
            <a:r>
              <a:rPr lang="en-US" altLang="zh-CN" dirty="0"/>
              <a:t>MIPS,ARM</a:t>
            </a:r>
            <a:r>
              <a:rPr lang="en-US" dirty="0"/>
              <a:t>,</a:t>
            </a:r>
            <a:r>
              <a:rPr lang="en-US" altLang="zh-CN" dirty="0">
                <a:sym typeface="+mn-ea"/>
              </a:rPr>
              <a:t>RISC-V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2355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890" y="1125538"/>
            <a:ext cx="3152775" cy="44497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Endianness/byte order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AD81B8-C1CB-7469-5D0B-D34CB417DF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386080"/>
            <a:ext cx="8259762" cy="521970"/>
          </a:xfrm>
        </p:spPr>
        <p:txBody>
          <a:bodyPr/>
          <a:lstStyle/>
          <a:p>
            <a:r>
              <a:rPr lang="zh-CN" altLang="en-US" sz="2800"/>
              <a:t>Example(p77)</a:t>
            </a:r>
            <a:r>
              <a:rPr lang="en-US" altLang="zh-CN" sz="2800"/>
              <a:t>:</a:t>
            </a:r>
            <a:r>
              <a:rPr lang="zh-CN" altLang="en-US" sz="2800"/>
              <a:t>Compiling using load and store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C code:</a:t>
            </a:r>
          </a:p>
          <a:p>
            <a:pPr marL="457200" lvl="1" indent="0">
              <a:buNone/>
            </a:pPr>
            <a:r>
              <a:rPr lang="zh-CN" altLang="en-US" sz="2400"/>
              <a:t>A[12]  =  h  +  A[8] ;    // A is an array of 100 words</a:t>
            </a:r>
            <a:br>
              <a:rPr lang="zh-CN" altLang="en-US" sz="2400"/>
            </a:br>
            <a:r>
              <a:rPr lang="zh-CN" altLang="en-US" sz="2400"/>
              <a:t>( Assume: h --- x21   base address of A --- x22 )</a:t>
            </a:r>
            <a:endParaRPr lang="zh-CN" altLang="en-US"/>
          </a:p>
          <a:p>
            <a:r>
              <a:rPr lang="zh-CN" altLang="en-US"/>
              <a:t>RISC-V code:</a:t>
            </a:r>
          </a:p>
          <a:p>
            <a:pPr marL="457200" lvl="1" indent="0">
              <a:buNone/>
            </a:pPr>
            <a:r>
              <a:rPr lang="zh-CN" altLang="en-US" sz="2400"/>
              <a:t>lw       x9 , </a:t>
            </a:r>
            <a:r>
              <a:rPr lang="zh-CN" altLang="en-US" sz="2400">
                <a:solidFill>
                  <a:srgbClr val="FF0000"/>
                </a:solidFill>
              </a:rPr>
              <a:t>32</a:t>
            </a:r>
            <a:r>
              <a:rPr lang="zh-CN" altLang="en-US" sz="2400"/>
              <a:t>(x22)      // temporary reg x9 gets A[8]</a:t>
            </a:r>
          </a:p>
          <a:p>
            <a:pPr marL="457200" lvl="1" indent="0">
              <a:buNone/>
            </a:pPr>
            <a:r>
              <a:rPr lang="zh-CN" altLang="en-US" sz="2400"/>
              <a:t>add    x9, x21, x9        // temporary reg x9 gets h + A[8]</a:t>
            </a:r>
          </a:p>
          <a:p>
            <a:pPr marL="457200" lvl="1" indent="0">
              <a:buNone/>
            </a:pPr>
            <a:r>
              <a:rPr lang="zh-CN" altLang="en-US" sz="2400"/>
              <a:t>sw      x9, </a:t>
            </a:r>
            <a:r>
              <a:rPr lang="zh-CN" altLang="en-US" sz="2400">
                <a:solidFill>
                  <a:srgbClr val="FF0000"/>
                </a:solidFill>
              </a:rPr>
              <a:t>48</a:t>
            </a:r>
            <a:r>
              <a:rPr lang="zh-CN" altLang="en-US" sz="2400"/>
              <a:t>(x22)       // stores  h + A[8]  back into A[12]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799303-AC33-9B20-E7DD-1CBC2CA40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Registers are faster to access than memory</a:t>
            </a:r>
          </a:p>
          <a:p>
            <a:pPr>
              <a:lnSpc>
                <a:spcPct val="90000"/>
              </a:lnSpc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Operating on memory data requires loads and stores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More instructions to be executed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Compiler must use registers for variables as much as possible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Only spill to memory for less frequently used variables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Register optimization is important!</a:t>
            </a:r>
            <a:endParaRPr lang="en-US" altLang="zh-CN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Registers vs. Memory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E622DBE-A05E-E27D-7093-A1BA5AC476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84213" y="262890"/>
            <a:ext cx="8259762" cy="645160"/>
          </a:xfrm>
        </p:spPr>
        <p:txBody>
          <a:bodyPr/>
          <a:lstStyle/>
          <a:p>
            <a:r>
              <a:rPr lang="zh-CN" altLang="en-US" sz="3600"/>
              <a:t>Constant or immediate Operands</a:t>
            </a:r>
          </a:p>
        </p:txBody>
      </p:sp>
      <p:sp>
        <p:nvSpPr>
          <p:cNvPr id="26626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lvl="0">
              <a:lnSpc>
                <a:spcPct val="80000"/>
              </a:lnSpc>
            </a:pPr>
            <a:r>
              <a:rPr lang="en-US" altLang="zh-CN" sz="2400" dirty="0"/>
              <a:t>Many times a program will use a constant 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400" dirty="0"/>
              <a:t>in an operation</a:t>
            </a:r>
          </a:p>
          <a:p>
            <a:pPr lvl="1">
              <a:lnSpc>
                <a:spcPct val="80000"/>
              </a:lnSpc>
            </a:pPr>
            <a:r>
              <a:rPr lang="en-US" altLang="zh-CN" sz="1600" dirty="0"/>
              <a:t>Incrementing index to point to next element of array</a:t>
            </a:r>
          </a:p>
          <a:p>
            <a:pPr lvl="1">
              <a:lnSpc>
                <a:spcPct val="80000"/>
              </a:lnSpc>
            </a:pPr>
            <a:r>
              <a:rPr lang="en-US" altLang="zh-CN" sz="1600" dirty="0"/>
              <a:t>Add the constant 4 to register x22</a:t>
            </a:r>
          </a:p>
          <a:p>
            <a:pPr lvl="1">
              <a:lnSpc>
                <a:spcPct val="80000"/>
              </a:lnSpc>
            </a:pPr>
            <a:r>
              <a:rPr lang="en-US" altLang="zh-CN" sz="1600" dirty="0"/>
              <a:t>Assuming </a:t>
            </a:r>
            <a:r>
              <a:rPr lang="en-US" altLang="zh-CN" sz="1600" dirty="0">
                <a:solidFill>
                  <a:srgbClr val="FF3300"/>
                </a:solidFill>
              </a:rPr>
              <a:t>AddrConstants 4</a:t>
            </a:r>
            <a:r>
              <a:rPr lang="en-US" altLang="zh-CN" sz="1600" dirty="0"/>
              <a:t> is address</a:t>
            </a:r>
            <a:r>
              <a:rPr lang="en-US" altLang="zh-CN" sz="1600" dirty="0">
                <a:solidFill>
                  <a:srgbClr val="FF3300"/>
                </a:solidFill>
              </a:rPr>
              <a:t> pointer</a:t>
            </a:r>
            <a:r>
              <a:rPr lang="en-US" altLang="zh-CN" sz="1600" dirty="0"/>
              <a:t> of constant 4</a:t>
            </a:r>
            <a:endParaRPr lang="en-US" altLang="zh-CN" b="1" dirty="0"/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	</a:t>
            </a:r>
            <a:r>
              <a:rPr lang="en-US" altLang="zh-CN" sz="1800" dirty="0"/>
              <a:t>lw x9, AddrConstant4(x3)	// x9=constant 4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1800" dirty="0"/>
              <a:t>add x22, x22, x9	</a:t>
            </a:r>
            <a:endParaRPr lang="en-US" altLang="zh-CN" sz="1800" dirty="0">
              <a:solidFill>
                <a:srgbClr val="FF3300"/>
              </a:solidFill>
            </a:endParaRPr>
          </a:p>
          <a:p>
            <a:pPr lvl="0">
              <a:lnSpc>
                <a:spcPct val="80000"/>
              </a:lnSpc>
            </a:pPr>
            <a:r>
              <a:rPr lang="en-US" altLang="zh-CN" sz="2400" dirty="0"/>
              <a:t>Immediate: Other method for adding 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400" dirty="0"/>
              <a:t>constant 4 to x22</a:t>
            </a:r>
          </a:p>
          <a:p>
            <a:pPr lvl="1">
              <a:lnSpc>
                <a:spcPct val="80000"/>
              </a:lnSpc>
            </a:pPr>
            <a:r>
              <a:rPr lang="en-US" altLang="zh-CN" sz="1600" dirty="0"/>
              <a:t>Avoids the load instruction</a:t>
            </a:r>
          </a:p>
          <a:p>
            <a:pPr lvl="1">
              <a:lnSpc>
                <a:spcPct val="80000"/>
              </a:lnSpc>
            </a:pPr>
            <a:r>
              <a:rPr lang="en-US" altLang="zh-CN" sz="1600" dirty="0"/>
              <a:t>Offer versions of the instruction 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CN" sz="1800" dirty="0"/>
              <a:t>addi   x22, x22, 4		// x22= x22+ 4 </a:t>
            </a:r>
          </a:p>
          <a:p>
            <a:pPr lvl="0">
              <a:lnSpc>
                <a:spcPct val="80000"/>
              </a:lnSpc>
            </a:pPr>
            <a:r>
              <a:rPr lang="en-US" altLang="zh-CN" sz="2400" dirty="0"/>
              <a:t>Constant zero: a register x0</a:t>
            </a:r>
          </a:p>
          <a:p>
            <a:pPr>
              <a:lnSpc>
                <a:spcPct val="80000"/>
              </a:lnSpc>
            </a:pPr>
            <a:r>
              <a:rPr lang="en-US" altLang="zh-CN" sz="2400" b="1" i="1" dirty="0">
                <a:solidFill>
                  <a:srgbClr val="FF0000"/>
                </a:solidFill>
                <a:ea typeface="宋体" panose="02010600030101010101" pitchFamily="2" charset="-122"/>
              </a:rPr>
              <a:t>Make the common case fast</a:t>
            </a:r>
            <a:endParaRPr lang="en-US" altLang="zh-CN" sz="2400" b="1" i="1" dirty="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Constant operands occur frequently(it is  very common).</a:t>
            </a:r>
          </a:p>
          <a:p>
            <a:pPr lvl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Loading them from memory is very slow.</a:t>
            </a:r>
          </a:p>
        </p:txBody>
      </p:sp>
      <p:grpSp>
        <p:nvGrpSpPr>
          <p:cNvPr id="26627" name="Group 3"/>
          <p:cNvGrpSpPr/>
          <p:nvPr/>
        </p:nvGrpSpPr>
        <p:grpSpPr>
          <a:xfrm>
            <a:off x="7381240" y="1413193"/>
            <a:ext cx="1079500" cy="3024187"/>
            <a:chOff x="4967" y="391"/>
            <a:chExt cx="680" cy="1905"/>
          </a:xfrm>
        </p:grpSpPr>
        <p:sp>
          <p:nvSpPr>
            <p:cNvPr id="26631" name="Line 4"/>
            <p:cNvSpPr/>
            <p:nvPr/>
          </p:nvSpPr>
          <p:spPr>
            <a:xfrm>
              <a:off x="5193" y="436"/>
              <a:ext cx="0" cy="1860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2" name="Line 5"/>
            <p:cNvSpPr/>
            <p:nvPr/>
          </p:nvSpPr>
          <p:spPr>
            <a:xfrm>
              <a:off x="5647" y="391"/>
              <a:ext cx="0" cy="1905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3" name="Rectangle 6"/>
            <p:cNvSpPr/>
            <p:nvPr/>
          </p:nvSpPr>
          <p:spPr>
            <a:xfrm>
              <a:off x="5193" y="1071"/>
              <a:ext cx="454" cy="18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endParaRPr lang="zh-CN" altLang="en-US" sz="1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34" name="Rectangle 7"/>
            <p:cNvSpPr/>
            <p:nvPr/>
          </p:nvSpPr>
          <p:spPr>
            <a:xfrm>
              <a:off x="5193" y="1253"/>
              <a:ext cx="454" cy="18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6635" name="Rectangle 8"/>
            <p:cNvSpPr/>
            <p:nvPr/>
          </p:nvSpPr>
          <p:spPr>
            <a:xfrm>
              <a:off x="5193" y="1434"/>
              <a:ext cx="454" cy="18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6636" name="Line 9"/>
            <p:cNvSpPr/>
            <p:nvPr/>
          </p:nvSpPr>
          <p:spPr>
            <a:xfrm>
              <a:off x="5057" y="1616"/>
              <a:ext cx="137" cy="0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7" name="Rectangle 10"/>
            <p:cNvSpPr/>
            <p:nvPr/>
          </p:nvSpPr>
          <p:spPr>
            <a:xfrm>
              <a:off x="5193" y="1616"/>
              <a:ext cx="454" cy="18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6638" name="Rectangle 11"/>
            <p:cNvSpPr/>
            <p:nvPr/>
          </p:nvSpPr>
          <p:spPr>
            <a:xfrm>
              <a:off x="5193" y="618"/>
              <a:ext cx="454" cy="18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endParaRPr lang="zh-CN" altLang="en-US" sz="1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39" name="Line 12"/>
            <p:cNvSpPr/>
            <p:nvPr/>
          </p:nvSpPr>
          <p:spPr>
            <a:xfrm>
              <a:off x="4967" y="618"/>
              <a:ext cx="181" cy="0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40" name="Text Box 13"/>
            <p:cNvSpPr txBox="1"/>
            <p:nvPr/>
          </p:nvSpPr>
          <p:spPr>
            <a:xfrm>
              <a:off x="5239" y="845"/>
              <a:ext cx="363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….</a:t>
              </a:r>
            </a:p>
          </p:txBody>
        </p:sp>
      </p:grpSp>
      <p:sp>
        <p:nvSpPr>
          <p:cNvPr id="26628" name="Rectangle 14"/>
          <p:cNvSpPr/>
          <p:nvPr/>
        </p:nvSpPr>
        <p:spPr>
          <a:xfrm>
            <a:off x="6948170" y="1747203"/>
            <a:ext cx="397510" cy="3371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600" b="0" dirty="0">
                <a:solidFill>
                  <a:srgbClr val="000000"/>
                </a:solidFill>
                <a:latin typeface="Arial" panose="020B0604020202020204" pitchFamily="34" charset="0"/>
              </a:rPr>
              <a:t>x3</a:t>
            </a:r>
          </a:p>
        </p:txBody>
      </p:sp>
      <p:sp>
        <p:nvSpPr>
          <p:cNvPr id="26629" name="Freeform 15"/>
          <p:cNvSpPr/>
          <p:nvPr/>
        </p:nvSpPr>
        <p:spPr>
          <a:xfrm>
            <a:off x="3563620" y="2635885"/>
            <a:ext cx="3869055" cy="708660"/>
          </a:xfrm>
          <a:custGeom>
            <a:avLst/>
            <a:gdLst>
              <a:gd name="txL" fmla="*/ 0 w 2904"/>
              <a:gd name="txT" fmla="*/ 0 h 635"/>
              <a:gd name="txR" fmla="*/ 2904 w 2904"/>
              <a:gd name="txB" fmla="*/ 635 h 635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904" h="635">
                <a:moveTo>
                  <a:pt x="91" y="0"/>
                </a:moveTo>
                <a:cubicBezTo>
                  <a:pt x="114" y="38"/>
                  <a:pt x="137" y="76"/>
                  <a:pt x="182" y="91"/>
                </a:cubicBezTo>
                <a:cubicBezTo>
                  <a:pt x="227" y="106"/>
                  <a:pt x="0" y="91"/>
                  <a:pt x="363" y="91"/>
                </a:cubicBezTo>
                <a:cubicBezTo>
                  <a:pt x="726" y="91"/>
                  <a:pt x="1966" y="68"/>
                  <a:pt x="2359" y="91"/>
                </a:cubicBezTo>
                <a:cubicBezTo>
                  <a:pt x="2752" y="114"/>
                  <a:pt x="2654" y="174"/>
                  <a:pt x="2722" y="227"/>
                </a:cubicBezTo>
                <a:cubicBezTo>
                  <a:pt x="2790" y="280"/>
                  <a:pt x="2738" y="340"/>
                  <a:pt x="2768" y="408"/>
                </a:cubicBezTo>
                <a:cubicBezTo>
                  <a:pt x="2798" y="476"/>
                  <a:pt x="2851" y="555"/>
                  <a:pt x="2904" y="635"/>
                </a:cubicBezTo>
              </a:path>
            </a:pathLst>
          </a:custGeom>
          <a:noFill/>
          <a:ln w="9525" cap="rnd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30" name="Rectangle 16"/>
          <p:cNvSpPr/>
          <p:nvPr/>
        </p:nvSpPr>
        <p:spPr>
          <a:xfrm>
            <a:off x="6299518" y="3235325"/>
            <a:ext cx="1128395" cy="245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00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AddrConstants 4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E08517-7FCB-7530-3ECF-67F39F62A2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标题 186369"/>
          <p:cNvSpPr>
            <a:spLocks noGrp="1"/>
          </p:cNvSpPr>
          <p:nvPr>
            <p:ph type="title"/>
          </p:nvPr>
        </p:nvSpPr>
        <p:spPr>
          <a:xfrm>
            <a:off x="684213" y="201295"/>
            <a:ext cx="8259762" cy="706755"/>
          </a:xfrm>
        </p:spPr>
        <p:txBody>
          <a:bodyPr anchor="b" anchorCtr="0">
            <a:spAutoFit/>
          </a:bodyPr>
          <a:lstStyle/>
          <a:p>
            <a:r>
              <a:rPr lang="en-US" altLang="zh-CN" sz="4000"/>
              <a:t>signed and unsigned numbers</a:t>
            </a:r>
          </a:p>
        </p:txBody>
      </p:sp>
      <p:sp>
        <p:nvSpPr>
          <p:cNvPr id="186371" name="内容占位符 18637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Bits are just bits (no inherent meaning)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ym typeface="+mn-ea"/>
              </a:rPr>
              <a:t>conventions define relationship between bits and numbers</a:t>
            </a:r>
            <a:endParaRPr lang="en-US" altLang="zh-CN" b="1" dirty="0"/>
          </a:p>
          <a:p>
            <a:pPr>
              <a:lnSpc>
                <a:spcPct val="90000"/>
              </a:lnSpc>
            </a:pPr>
            <a:r>
              <a:rPr lang="en-US" altLang="zh-CN" sz="2800" dirty="0">
                <a:sym typeface="+mn-ea"/>
              </a:rPr>
              <a:t>Binary numbers (base 2)</a:t>
            </a:r>
            <a:br>
              <a:rPr lang="en-US" altLang="zh-CN" b="1" dirty="0">
                <a:sym typeface="+mn-ea"/>
              </a:rPr>
            </a:br>
            <a:r>
              <a:rPr lang="en-US" altLang="zh-CN" sz="2400" dirty="0">
                <a:sym typeface="+mn-ea"/>
              </a:rPr>
              <a:t>0000 0001 0010 0011 0100 0101 0110 0111 1000 1001...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decimal:  0...2</a:t>
            </a:r>
            <a:r>
              <a:rPr lang="en-US" altLang="zh-CN" sz="2400" baseline="30000" dirty="0">
                <a:sym typeface="+mn-ea"/>
              </a:rPr>
              <a:t>n</a:t>
            </a:r>
            <a:r>
              <a:rPr lang="en-US" altLang="zh-CN" sz="2400" dirty="0">
                <a:sym typeface="+mn-ea"/>
              </a:rPr>
              <a:t>-1</a:t>
            </a:r>
            <a:endParaRPr lang="en-US" altLang="zh-CN" b="1" dirty="0"/>
          </a:p>
          <a:p>
            <a:pPr>
              <a:lnSpc>
                <a:spcPct val="90000"/>
              </a:lnSpc>
            </a:pPr>
            <a:r>
              <a:rPr lang="en-US" altLang="zh-CN" sz="2800" dirty="0">
                <a:sym typeface="+mn-ea"/>
              </a:rPr>
              <a:t>Of course it gets more complicated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ym typeface="+mn-ea"/>
              </a:rPr>
              <a:t>numbers are finite (overflow)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ym typeface="+mn-ea"/>
              </a:rPr>
              <a:t>fractions and real numbers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ym typeface="+mn-ea"/>
              </a:rPr>
              <a:t>negative numbers</a:t>
            </a:r>
            <a:endParaRPr lang="en-US" altLang="zh-CN" b="1" dirty="0"/>
          </a:p>
          <a:p>
            <a:pPr>
              <a:lnSpc>
                <a:spcPct val="90000"/>
              </a:lnSpc>
            </a:pPr>
            <a:r>
              <a:rPr lang="en-US" altLang="zh-CN" sz="2800" dirty="0">
                <a:sym typeface="+mn-ea"/>
              </a:rPr>
              <a:t>How do we  represent negative numbers?</a:t>
            </a:r>
            <a:br>
              <a:rPr lang="en-US" altLang="zh-CN" b="1" dirty="0">
                <a:sym typeface="+mn-ea"/>
              </a:rPr>
            </a:br>
            <a:endParaRPr lang="en-US" altLang="zh-CN"/>
          </a:p>
        </p:txBody>
      </p:sp>
      <p:sp>
        <p:nvSpPr>
          <p:cNvPr id="186372" name="文本框 186371"/>
          <p:cNvSpPr txBox="1"/>
          <p:nvPr/>
        </p:nvSpPr>
        <p:spPr>
          <a:xfrm rot="5400000">
            <a:off x="7047865" y="1730375"/>
            <a:ext cx="382651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2.4 signed and unsigned numbers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FE8841-7FBD-5E02-6F3B-19F34CC5EB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lvl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kern="0" noProof="0" dirty="0">
                <a:ea typeface="宋体" panose="02010600030101010101" pitchFamily="2" charset="-122"/>
                <a:sym typeface="+mn-ea"/>
              </a:rPr>
              <a:t>Given an n-bit number</a:t>
            </a:r>
          </a:p>
          <a:p>
            <a:pPr lvl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zh-CN" sz="3200" kern="0" noProof="0" dirty="0">
              <a:ea typeface="宋体" panose="02010600030101010101" pitchFamily="2" charset="-122"/>
              <a:sym typeface="+mn-ea"/>
            </a:endParaRPr>
          </a:p>
          <a:p>
            <a:pPr lvl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zh-CN" sz="3200" dirty="0">
              <a:ea typeface="宋体" panose="02010600030101010101" pitchFamily="2" charset="-122"/>
            </a:endParaRPr>
          </a:p>
          <a:p>
            <a:pPr lvl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ea typeface="宋体" panose="02010600030101010101" pitchFamily="2" charset="-122"/>
              </a:rPr>
              <a:t>Range: 0 to +2</a:t>
            </a:r>
            <a:r>
              <a:rPr lang="en-US" altLang="zh-CN" sz="3200" baseline="30000" dirty="0">
                <a:ea typeface="宋体" panose="02010600030101010101" pitchFamily="2" charset="-122"/>
              </a:rPr>
              <a:t>n</a:t>
            </a:r>
            <a:r>
              <a:rPr lang="en-US" altLang="zh-CN" sz="3200" dirty="0">
                <a:ea typeface="宋体" panose="02010600030101010101" pitchFamily="2" charset="-122"/>
              </a:rPr>
              <a:t> – 1</a:t>
            </a:r>
            <a:endParaRPr lang="en-US" altLang="zh-CN" sz="2400" dirty="0"/>
          </a:p>
          <a:p>
            <a:pPr lvl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ea typeface="宋体" panose="02010600030101010101" pitchFamily="2" charset="-122"/>
              </a:rPr>
              <a:t>Example</a:t>
            </a:r>
            <a:endParaRPr lang="en-US" altLang="zh-CN" sz="2400" dirty="0"/>
          </a:p>
          <a:p>
            <a:pPr lvl="1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dirty="0"/>
              <a:t>0000 0000 0000 0000 0000 0000 0000 1011</a:t>
            </a:r>
            <a:r>
              <a:rPr lang="en-US" altLang="zh-CN" sz="2400" baseline="-25000" dirty="0"/>
              <a:t>2</a:t>
            </a:r>
            <a:br>
              <a:rPr lang="en-US" altLang="zh-CN" sz="2400" dirty="0"/>
            </a:br>
            <a:r>
              <a:rPr lang="en-US" altLang="zh-CN" sz="2400" dirty="0"/>
              <a:t>= 0 + … + 1×2</a:t>
            </a:r>
            <a:r>
              <a:rPr lang="en-US" altLang="zh-CN" sz="2400" baseline="30000" dirty="0"/>
              <a:t>3</a:t>
            </a:r>
            <a:r>
              <a:rPr lang="en-US" altLang="zh-CN" sz="2400" dirty="0"/>
              <a:t> + 0×2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 +1×2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 +1×2</a:t>
            </a:r>
            <a:r>
              <a:rPr lang="en-US" altLang="zh-CN" sz="2400" baseline="30000" dirty="0"/>
              <a:t>0</a:t>
            </a:r>
            <a:br>
              <a:rPr lang="en-US" altLang="zh-CN" sz="2400" dirty="0"/>
            </a:br>
            <a:r>
              <a:rPr lang="en-US" altLang="zh-CN" sz="2400" dirty="0"/>
              <a:t>= 0 + … + 8 + 0 + 2 + 1 = 11</a:t>
            </a:r>
            <a:r>
              <a:rPr lang="en-US" altLang="zh-CN" sz="2400" baseline="-25000" dirty="0"/>
              <a:t>10</a:t>
            </a:r>
            <a:endParaRPr lang="en-US" altLang="zh-CN" sz="2400" dirty="0"/>
          </a:p>
          <a:p>
            <a:pPr lvl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ea typeface="宋体" panose="02010600030101010101" pitchFamily="2" charset="-122"/>
              </a:rPr>
              <a:t>Using 64 bits</a:t>
            </a:r>
            <a:endParaRPr lang="en-US" altLang="zh-CN" sz="2400" dirty="0"/>
          </a:p>
          <a:p>
            <a:pPr lvl="1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dirty="0"/>
              <a:t>0 to 2</a:t>
            </a:r>
            <a:r>
              <a:rPr lang="en-US" altLang="zh-CN" sz="2400" baseline="30000" dirty="0"/>
              <a:t>64</a:t>
            </a:r>
            <a:r>
              <a:rPr lang="en-US" altLang="zh-CN" sz="2400" dirty="0"/>
              <a:t> -1(18,446,774,073,709,551,615)</a:t>
            </a:r>
          </a:p>
        </p:txBody>
      </p:sp>
      <p:graphicFrame>
        <p:nvGraphicFramePr>
          <p:cNvPr id="1026" name="Object 2"/>
          <p:cNvGraphicFramePr/>
          <p:nvPr/>
        </p:nvGraphicFramePr>
        <p:xfrm>
          <a:off x="1447800" y="1844675"/>
          <a:ext cx="601027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00630" imgH="241300" progId="Equation.3">
                  <p:embed/>
                </p:oleObj>
              </mc:Choice>
              <mc:Fallback>
                <p:oleObj r:id="rId3" imgW="2500630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1844675"/>
                        <a:ext cx="6010275" cy="57943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Unsigned Binary Integers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955D18-5DE3-2C5F-0815-63ECF93F3C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kern="0" noProof="0" dirty="0">
                <a:ea typeface="宋体" panose="02010600030101010101" pitchFamily="2" charset="-122"/>
                <a:sym typeface="+mn-ea"/>
              </a:rPr>
              <a:t>Given an n-bit number</a:t>
            </a:r>
            <a:endParaRPr lang="en-US" altLang="zh-CN" sz="3200" kern="0" noProof="0" dirty="0">
              <a:ea typeface="宋体" panose="02010600030101010101" pitchFamily="2" charset="-122"/>
              <a:sym typeface="+mn-ea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zh-CN" sz="3200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ea typeface="宋体" panose="02010600030101010101" pitchFamily="2" charset="-122"/>
              </a:rPr>
              <a:t>Range: –2</a:t>
            </a:r>
            <a:r>
              <a:rPr lang="en-US" altLang="zh-CN" sz="3200" baseline="30000" dirty="0">
                <a:ea typeface="宋体" panose="02010600030101010101" pitchFamily="2" charset="-122"/>
              </a:rPr>
              <a:t>n – 1</a:t>
            </a:r>
            <a:r>
              <a:rPr lang="en-US" altLang="zh-CN" sz="3200" dirty="0">
                <a:ea typeface="宋体" panose="02010600030101010101" pitchFamily="2" charset="-122"/>
              </a:rPr>
              <a:t> to +2</a:t>
            </a:r>
            <a:r>
              <a:rPr lang="en-US" altLang="zh-CN" sz="3200" baseline="30000" dirty="0">
                <a:ea typeface="宋体" panose="02010600030101010101" pitchFamily="2" charset="-122"/>
              </a:rPr>
              <a:t>n – 1</a:t>
            </a:r>
            <a:r>
              <a:rPr lang="en-US" altLang="zh-CN" sz="3200" dirty="0">
                <a:ea typeface="宋体" panose="02010600030101010101" pitchFamily="2" charset="-122"/>
              </a:rPr>
              <a:t> – 1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ea typeface="宋体" panose="02010600030101010101" pitchFamily="2" charset="-122"/>
              </a:rPr>
              <a:t>Example</a:t>
            </a: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400" dirty="0"/>
              <a:t>1111 1111 1111 1111 1111 1111 1111 1100</a:t>
            </a:r>
            <a:r>
              <a:rPr lang="en-US" altLang="zh-CN" sz="2400" baseline="-25000" dirty="0"/>
              <a:t>2</a:t>
            </a:r>
            <a:br>
              <a:rPr lang="en-US" altLang="zh-CN" sz="2400" dirty="0"/>
            </a:br>
            <a:r>
              <a:rPr lang="en-US" altLang="zh-CN" sz="2400" dirty="0"/>
              <a:t>= –1×2</a:t>
            </a:r>
            <a:r>
              <a:rPr lang="en-US" altLang="zh-CN" sz="2400" baseline="30000" dirty="0"/>
              <a:t>31</a:t>
            </a:r>
            <a:r>
              <a:rPr lang="en-US" altLang="zh-CN" sz="2400" dirty="0"/>
              <a:t> + 1×2</a:t>
            </a:r>
            <a:r>
              <a:rPr lang="en-US" altLang="zh-CN" sz="2400" baseline="30000" dirty="0"/>
              <a:t>30</a:t>
            </a:r>
            <a:r>
              <a:rPr lang="en-US" altLang="zh-CN" sz="2400" dirty="0"/>
              <a:t> + … + 1×2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 +0×2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 +0×2</a:t>
            </a:r>
            <a:r>
              <a:rPr lang="en-US" altLang="zh-CN" sz="2400" baseline="30000" dirty="0"/>
              <a:t>0</a:t>
            </a:r>
            <a:br>
              <a:rPr lang="en-US" altLang="zh-CN" sz="2400" dirty="0"/>
            </a:br>
            <a:r>
              <a:rPr lang="en-US" altLang="zh-CN" sz="2400" dirty="0"/>
              <a:t>= –2,147,483,648 + 2,147,483,644 = –4</a:t>
            </a:r>
            <a:r>
              <a:rPr lang="en-US" altLang="zh-CN" sz="2400" baseline="-25000" dirty="0"/>
              <a:t>10</a:t>
            </a:r>
            <a:endParaRPr lang="en-US" altLang="zh-CN"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ea typeface="宋体" panose="02010600030101010101" pitchFamily="2" charset="-122"/>
              </a:rPr>
              <a:t>Using 64 bits</a:t>
            </a:r>
          </a:p>
          <a:p>
            <a:pPr lvl="1" eaLnBrk="1" hangingPunct="1">
              <a:buClr>
                <a:schemeClr val="hlink"/>
              </a:buClr>
              <a:buSzPct val="55000"/>
            </a:pPr>
            <a:r>
              <a:rPr lang="en-US" altLang="zh-CN" sz="2400" dirty="0"/>
              <a:t>–9,223,372,036,854,775,808 to + 9,223,372,036,854,775,807</a:t>
            </a:r>
          </a:p>
        </p:txBody>
      </p:sp>
      <p:graphicFrame>
        <p:nvGraphicFramePr>
          <p:cNvPr id="2050" name="Object 3"/>
          <p:cNvGraphicFramePr/>
          <p:nvPr/>
        </p:nvGraphicFramePr>
        <p:xfrm>
          <a:off x="1460183" y="1701165"/>
          <a:ext cx="62230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89530" imgH="241300" progId="Equation.3">
                  <p:embed/>
                </p:oleObj>
              </mc:Choice>
              <mc:Fallback>
                <p:oleObj r:id="rId3" imgW="2589530" imgH="2413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60183" y="1701165"/>
                        <a:ext cx="6223000" cy="57943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84213" y="201295"/>
            <a:ext cx="8259762" cy="706755"/>
          </a:xfrm>
        </p:spPr>
        <p:txBody>
          <a:bodyPr/>
          <a:lstStyle/>
          <a:p>
            <a:r>
              <a:rPr lang="zh-CN" altLang="en-US" sz="4000"/>
              <a:t>2’s-Complement Signed Integers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AD35C3-3CC6-7E6D-016F-CECDF2B4A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defTabSz="914400">
              <a:lnSpc>
                <a:spcPct val="90000"/>
              </a:lnSpc>
              <a:tabLst>
                <a:tab pos="1341755" algn="l"/>
                <a:tab pos="2875280" algn="l"/>
              </a:tabLst>
            </a:pPr>
            <a:r>
              <a:rPr lang="en-US" altLang="zh-CN" sz="2800" dirty="0">
                <a:ea typeface="宋体" panose="02010600030101010101" pitchFamily="2" charset="-122"/>
              </a:rPr>
              <a:t>Bit 31 is sign bit in a 32-bits integer</a:t>
            </a:r>
          </a:p>
          <a:p>
            <a:pPr lvl="1" defTabSz="914400">
              <a:lnSpc>
                <a:spcPct val="90000"/>
              </a:lnSpc>
              <a:tabLst>
                <a:tab pos="1341755" algn="l"/>
                <a:tab pos="2875280" algn="l"/>
              </a:tabLst>
            </a:pPr>
            <a:r>
              <a:rPr lang="en-US" altLang="zh-CN" sz="2400" dirty="0"/>
              <a:t>1 for negative numbers</a:t>
            </a:r>
          </a:p>
          <a:p>
            <a:pPr lvl="1" defTabSz="914400">
              <a:lnSpc>
                <a:spcPct val="90000"/>
              </a:lnSpc>
              <a:tabLst>
                <a:tab pos="1341755" algn="l"/>
                <a:tab pos="2875280" algn="l"/>
              </a:tabLst>
            </a:pPr>
            <a:r>
              <a:rPr lang="en-US" altLang="zh-CN" sz="2400" dirty="0"/>
              <a:t>0 for non-negative numbers</a:t>
            </a:r>
          </a:p>
          <a:p>
            <a:pPr defTabSz="914400">
              <a:lnSpc>
                <a:spcPct val="90000"/>
              </a:lnSpc>
              <a:tabLst>
                <a:tab pos="1341755" algn="l"/>
                <a:tab pos="2875280" algn="l"/>
              </a:tabLst>
            </a:pPr>
            <a:r>
              <a:rPr lang="en-AU" altLang="zh-CN" sz="2800" dirty="0"/>
              <a:t>–(–2</a:t>
            </a:r>
            <a:r>
              <a:rPr lang="en-AU" altLang="zh-CN" sz="2800" baseline="30000" dirty="0"/>
              <a:t>n – 1</a:t>
            </a:r>
            <a:r>
              <a:rPr lang="en-AU" altLang="zh-CN" sz="2800" dirty="0"/>
              <a:t>) can’t be represented</a:t>
            </a:r>
          </a:p>
          <a:p>
            <a:pPr defTabSz="914400">
              <a:lnSpc>
                <a:spcPct val="90000"/>
              </a:lnSpc>
              <a:tabLst>
                <a:tab pos="1341755" algn="l"/>
                <a:tab pos="2875280" algn="l"/>
              </a:tabLst>
            </a:pPr>
            <a:r>
              <a:rPr lang="en-US" altLang="zh-CN" sz="2800" dirty="0">
                <a:ea typeface="宋体" panose="02010600030101010101" pitchFamily="2" charset="-122"/>
              </a:rPr>
              <a:t>Non-negative numbers have the same unsigned and 2s-complement representation</a:t>
            </a:r>
            <a:endParaRPr lang="en-AU" altLang="zh-CN" sz="2800" dirty="0"/>
          </a:p>
          <a:p>
            <a:pPr defTabSz="914400">
              <a:lnSpc>
                <a:spcPct val="90000"/>
              </a:lnSpc>
              <a:tabLst>
                <a:tab pos="1341755" algn="l"/>
                <a:tab pos="2875280" algn="l"/>
              </a:tabLst>
            </a:pPr>
            <a:r>
              <a:rPr lang="en-US" altLang="zh-CN" sz="2800" dirty="0">
                <a:ea typeface="宋体" panose="02010600030101010101" pitchFamily="2" charset="-122"/>
              </a:rPr>
              <a:t>Some specific numbers</a:t>
            </a:r>
          </a:p>
          <a:p>
            <a:pPr lvl="1" defTabSz="914400">
              <a:lnSpc>
                <a:spcPct val="90000"/>
              </a:lnSpc>
              <a:tabLst>
                <a:tab pos="1341755" algn="l"/>
                <a:tab pos="2875280" algn="l"/>
              </a:tabLst>
            </a:pPr>
            <a:r>
              <a:rPr lang="en-US" altLang="zh-CN" sz="2400" dirty="0"/>
              <a:t>  0:	0000 0000 … 0000</a:t>
            </a:r>
          </a:p>
          <a:p>
            <a:pPr lvl="1" defTabSz="914400">
              <a:lnSpc>
                <a:spcPct val="90000"/>
              </a:lnSpc>
              <a:tabLst>
                <a:tab pos="1341755" algn="l"/>
                <a:tab pos="2875280" algn="l"/>
              </a:tabLst>
            </a:pPr>
            <a:r>
              <a:rPr lang="en-AU" altLang="zh-CN" sz="2400" dirty="0"/>
              <a:t>–1:	1111 1111 … 1111</a:t>
            </a:r>
          </a:p>
          <a:p>
            <a:pPr lvl="1" defTabSz="914400">
              <a:lnSpc>
                <a:spcPct val="90000"/>
              </a:lnSpc>
              <a:tabLst>
                <a:tab pos="1341755" algn="l"/>
                <a:tab pos="2875280" algn="l"/>
              </a:tabLst>
            </a:pPr>
            <a:r>
              <a:rPr lang="en-US" altLang="zh-CN" sz="2400" dirty="0"/>
              <a:t>Most-negative:	1000 0000 … 0000</a:t>
            </a:r>
          </a:p>
          <a:p>
            <a:pPr lvl="1" defTabSz="914400">
              <a:lnSpc>
                <a:spcPct val="90000"/>
              </a:lnSpc>
              <a:tabLst>
                <a:tab pos="1341755" algn="l"/>
                <a:tab pos="2875280" algn="l"/>
              </a:tabLst>
            </a:pPr>
            <a:r>
              <a:rPr lang="en-US" altLang="zh-CN" sz="2400" dirty="0"/>
              <a:t>Most-positive:	0111 1111 … 1111</a:t>
            </a:r>
            <a:endParaRPr lang="en-AU" altLang="zh-CN" sz="24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201295"/>
            <a:ext cx="8259762" cy="706755"/>
          </a:xfrm>
        </p:spPr>
        <p:txBody>
          <a:bodyPr/>
          <a:lstStyle/>
          <a:p>
            <a:r>
              <a:rPr lang="zh-CN" altLang="en-US" sz="4000"/>
              <a:t>2’s-Complement Signed Integers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B584089-5DE8-57B9-888D-104A78F3A3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Complement and add 1</a:t>
            </a:r>
          </a:p>
          <a:p>
            <a:pPr lvl="1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Complement means 1 → 0, 0 → 1</a:t>
            </a:r>
          </a:p>
          <a:p>
            <a:pPr lvl="1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zh-CN" sz="2800" dirty="0">
              <a:latin typeface="Verdana" panose="020B0604030504040204" pitchFamily="34" charset="0"/>
              <a:ea typeface="宋体" panose="02010600030101010101" pitchFamily="2" charset="-122"/>
              <a:sym typeface="+mn-ea"/>
            </a:endParaRPr>
          </a:p>
          <a:p>
            <a:pPr lvl="1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ea typeface="宋体" panose="02010600030101010101" pitchFamily="2" charset="-122"/>
              </a:rPr>
              <a:t>Example: negate +2</a:t>
            </a:r>
          </a:p>
          <a:p>
            <a:pPr lvl="1" eaLnBrk="1" hangingPunct="1">
              <a:buClr>
                <a:schemeClr val="hlink"/>
              </a:buClr>
              <a:buSzPct val="55000"/>
            </a:pPr>
            <a:r>
              <a:rPr lang="en-US" altLang="zh-CN" sz="2800" dirty="0"/>
              <a:t>+2 = 0000 0000 … 0010</a:t>
            </a:r>
            <a:r>
              <a:rPr lang="en-US" altLang="zh-CN" sz="2800" baseline="-25000" dirty="0"/>
              <a:t>2</a:t>
            </a:r>
            <a:endParaRPr lang="en-US" altLang="zh-CN" sz="2800" dirty="0"/>
          </a:p>
          <a:p>
            <a:pPr lvl="1" eaLnBrk="1" hangingPunct="1">
              <a:buClr>
                <a:schemeClr val="hlink"/>
              </a:buClr>
              <a:buSzPct val="55000"/>
            </a:pPr>
            <a:r>
              <a:rPr lang="en-US" altLang="zh-CN" sz="2800" dirty="0"/>
              <a:t>–2 = 1111 1111 … 1101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+ 1</a:t>
            </a:r>
            <a:br>
              <a:rPr lang="en-US" altLang="zh-CN" sz="2800" dirty="0"/>
            </a:br>
            <a:r>
              <a:rPr lang="en-US" altLang="zh-CN" sz="2800" dirty="0"/>
              <a:t>     = 1111 1111 … 1110</a:t>
            </a:r>
            <a:r>
              <a:rPr lang="en-US" altLang="zh-CN" sz="2800" baseline="-25000" dirty="0"/>
              <a:t>2</a:t>
            </a:r>
          </a:p>
        </p:txBody>
      </p:sp>
      <p:graphicFrame>
        <p:nvGraphicFramePr>
          <p:cNvPr id="3074" name="Object 3"/>
          <p:cNvGraphicFramePr/>
          <p:nvPr/>
        </p:nvGraphicFramePr>
        <p:xfrm>
          <a:off x="1979295" y="2420620"/>
          <a:ext cx="35147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62100" imgH="508000" progId="Equation.3">
                  <p:embed/>
                </p:oleObj>
              </mc:Choice>
              <mc:Fallback>
                <p:oleObj r:id="rId3" imgW="1562100" imgH="5080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295" y="2420620"/>
                        <a:ext cx="3514725" cy="11430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Signed Negation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BCC42B-0460-ADC5-218D-B2D66F2AE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Representing a number using more bits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Preserve the numeric value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In RISC-V instruction set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latin typeface="Lucida Console" panose="020B0609040504020204" pitchFamily="49" charset="0"/>
              </a:rPr>
              <a:t>addi</a:t>
            </a:r>
            <a:r>
              <a:rPr lang="en-US" altLang="zh-CN" sz="2400" dirty="0"/>
              <a:t>: extend immediate value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latin typeface="Lucida Console" panose="020B0609040504020204" pitchFamily="49" charset="0"/>
              </a:rPr>
              <a:t>lb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Lucida Console" panose="020B0609040504020204" pitchFamily="49" charset="0"/>
              </a:rPr>
              <a:t>lh,lw</a:t>
            </a:r>
            <a:r>
              <a:rPr lang="en-US" altLang="zh-CN" sz="2400" dirty="0"/>
              <a:t>: extend loaded byte/halfword/word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latin typeface="Lucida Console" panose="020B0609040504020204" pitchFamily="49" charset="0"/>
              </a:rPr>
              <a:t>beq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Lucida Console" panose="020B0609040504020204" pitchFamily="49" charset="0"/>
              </a:rPr>
              <a:t>bne</a:t>
            </a:r>
            <a:r>
              <a:rPr lang="en-US" altLang="zh-CN" sz="2400" dirty="0"/>
              <a:t>: extend the displacement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Replicate the sign bit to the left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c.f. unsigned values: extend with 0s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Examples: 8-bit to 16-bit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+2: </a:t>
            </a:r>
            <a:r>
              <a:rPr lang="en-US" altLang="zh-CN" sz="2400" dirty="0">
                <a:solidFill>
                  <a:schemeClr val="hlink"/>
                </a:solidFill>
              </a:rPr>
              <a:t>0</a:t>
            </a:r>
            <a:r>
              <a:rPr lang="en-US" altLang="zh-CN" sz="2400" dirty="0"/>
              <a:t>000 0010 =&gt; </a:t>
            </a:r>
            <a:r>
              <a:rPr lang="en-US" altLang="zh-CN" sz="2400" dirty="0">
                <a:solidFill>
                  <a:schemeClr val="hlink"/>
                </a:solidFill>
              </a:rPr>
              <a:t>0000 0000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chemeClr val="hlink"/>
                </a:solidFill>
              </a:rPr>
              <a:t>0</a:t>
            </a:r>
            <a:r>
              <a:rPr lang="en-US" altLang="zh-CN" sz="2400" dirty="0"/>
              <a:t>000 0010</a:t>
            </a:r>
          </a:p>
          <a:p>
            <a:pPr lvl="1">
              <a:lnSpc>
                <a:spcPct val="90000"/>
              </a:lnSpc>
            </a:pPr>
            <a:r>
              <a:rPr lang="en-AU" altLang="zh-CN" sz="2400" dirty="0"/>
              <a:t>–2: </a:t>
            </a:r>
            <a:r>
              <a:rPr lang="en-AU" altLang="zh-CN" sz="2400" dirty="0">
                <a:solidFill>
                  <a:schemeClr val="hlink"/>
                </a:solidFill>
              </a:rPr>
              <a:t>1</a:t>
            </a:r>
            <a:r>
              <a:rPr lang="en-AU" altLang="zh-CN" sz="2400" dirty="0"/>
              <a:t>111 1110 =&gt; </a:t>
            </a:r>
            <a:r>
              <a:rPr lang="en-AU" altLang="zh-CN" sz="2400" dirty="0">
                <a:solidFill>
                  <a:schemeClr val="hlink"/>
                </a:solidFill>
              </a:rPr>
              <a:t>1111 1111</a:t>
            </a:r>
            <a:r>
              <a:rPr lang="en-AU" altLang="zh-CN" sz="2400" dirty="0"/>
              <a:t> </a:t>
            </a:r>
            <a:r>
              <a:rPr lang="en-AU" altLang="zh-CN" sz="2400" dirty="0">
                <a:solidFill>
                  <a:schemeClr val="hlink"/>
                </a:solidFill>
              </a:rPr>
              <a:t>1</a:t>
            </a:r>
            <a:r>
              <a:rPr lang="en-AU" altLang="zh-CN" sz="2400" dirty="0"/>
              <a:t>111 1110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Sign Extension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FFBFD7F-A891-8A31-5B28-FE2713CEE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Rot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sz="3200" dirty="0">
                <a:ea typeface="宋体" panose="02010600030101010101" pitchFamily="2" charset="-122"/>
              </a:rPr>
              <a:t>text characters</a:t>
            </a:r>
          </a:p>
          <a:p>
            <a:pPr lvl="1"/>
            <a:r>
              <a:rPr lang="en-US" altLang="zh-CN" sz="2800" dirty="0"/>
              <a:t>ASCII,GB2312,BIG5,Unicode(UTF-8)</a:t>
            </a:r>
          </a:p>
          <a:p>
            <a:r>
              <a:rPr lang="en-US" altLang="zh-CN" sz="3200" dirty="0"/>
              <a:t>Floating point numbers(IEEE754)</a:t>
            </a:r>
          </a:p>
          <a:p>
            <a:pPr lvl="1"/>
            <a:r>
              <a:rPr lang="en-US" altLang="zh-CN" dirty="0"/>
              <a:t>numeric calculations</a:t>
            </a:r>
          </a:p>
          <a:p>
            <a:pPr lvl="1"/>
            <a:r>
              <a:rPr lang="en-US" altLang="zh-CN" dirty="0"/>
              <a:t>Different grades of precision</a:t>
            </a:r>
          </a:p>
          <a:p>
            <a:pPr lvl="2"/>
            <a:r>
              <a:rPr lang="en-US" altLang="zh-CN" dirty="0"/>
              <a:t>Single precision </a:t>
            </a:r>
          </a:p>
          <a:p>
            <a:pPr lvl="2"/>
            <a:r>
              <a:rPr lang="en-US" altLang="zh-CN" dirty="0"/>
              <a:t>Double precision</a:t>
            </a:r>
          </a:p>
          <a:p>
            <a:pPr lvl="2"/>
            <a:r>
              <a:rPr lang="en-US" altLang="zh-CN" dirty="0"/>
              <a:t>Quadruple precision</a:t>
            </a:r>
          </a:p>
          <a:p>
            <a:r>
              <a:rPr lang="en-US" altLang="zh-CN" sz="3200" dirty="0">
                <a:ea typeface="宋体" panose="02010600030101010101" pitchFamily="2" charset="-122"/>
              </a:rPr>
              <a:t>Instructions in the Computer</a:t>
            </a:r>
          </a:p>
          <a:p>
            <a:pPr>
              <a:buNone/>
            </a:pPr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Other representations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FB09F29-EB46-C335-CF60-95C1179D33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All information in computer consists of  binary bits</a:t>
            </a:r>
          </a:p>
          <a:p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Mapping registers into numbers</a:t>
            </a:r>
          </a:p>
          <a:p>
            <a:pPr lvl="1"/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map registers </a:t>
            </a:r>
            <a:r>
              <a:rPr lang="en-US" altLang="zh-CN" sz="2400" b="1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x0 to x31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onto registers </a:t>
            </a:r>
            <a:r>
              <a:rPr lang="en-US" altLang="zh-CN" sz="2400" b="1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 to 31</a:t>
            </a:r>
          </a:p>
          <a:p>
            <a:pPr lvl="0"/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楷体_GB2312" pitchFamily="49" charset="-122"/>
                <a:sym typeface="+mn-ea"/>
              </a:rPr>
              <a:t>Example(p87):Translating assembly into machine instruction</a:t>
            </a:r>
          </a:p>
          <a:p>
            <a:pPr lvl="1"/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RISC-V code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add    x9, x20, x21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r>
              <a:rPr lang="en-US" altLang="zh-CN" sz="240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Decimal 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version of machine code</a:t>
            </a:r>
          </a:p>
          <a:p>
            <a:pPr marL="457200" lvl="1" indent="0">
              <a:buNone/>
            </a:pPr>
            <a:r>
              <a:rPr lang="en-US" altLang="zh-CN" sz="2000" u="sng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|        0      |     21     |     20     |     0       |       9     |       51     |</a:t>
            </a:r>
            <a:endParaRPr lang="en-US" altLang="zh-CN" sz="200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r>
              <a:rPr lang="en-US" altLang="zh-CN" sz="240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Binary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version of machine code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u="sng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|  0000000  |  10101  |  10100  |   000   |   01001   |  0110011  |</a:t>
            </a:r>
            <a:endParaRPr kumimoji="0" lang="en-US" altLang="zh-CN" sz="2000" b="0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7 bits         5 bits      5 bits     3 bits       5 bits       7 bits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4530" y="139700"/>
            <a:ext cx="8090535" cy="768350"/>
          </a:xfrm>
        </p:spPr>
        <p:txBody>
          <a:bodyPr wrap="square"/>
          <a:lstStyle/>
          <a:p>
            <a:r>
              <a:rPr lang="en-US" altLang="zh-CN"/>
              <a:t>R</a:t>
            </a:r>
            <a:r>
              <a:rPr lang="zh-CN" altLang="en-US"/>
              <a:t>epresenting Instructions</a:t>
            </a:r>
          </a:p>
        </p:txBody>
      </p:sp>
      <p:sp>
        <p:nvSpPr>
          <p:cNvPr id="193543" name="文本框 193542"/>
          <p:cNvSpPr txBox="1"/>
          <p:nvPr/>
        </p:nvSpPr>
        <p:spPr>
          <a:xfrm rot="5400000">
            <a:off x="6499860" y="2275840"/>
            <a:ext cx="49199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2.5 Representing Instructions in the computer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3E29EA-AE25-30BA-1B61-2C3B25C0F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RISC-V fields (format)</a:t>
            </a:r>
          </a:p>
        </p:txBody>
      </p:sp>
      <p:sp>
        <p:nvSpPr>
          <p:cNvPr id="32770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R-type or R-format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latin typeface="Arial Unicode MS" pitchFamily="34" charset="-122"/>
              </a:rPr>
              <a:t>   </a:t>
            </a:r>
            <a:r>
              <a:rPr lang="en-US" altLang="zh-CN" sz="2000" u="sng" dirty="0">
                <a:latin typeface="Arial" panose="020B0604020202020204" pitchFamily="34" charset="0"/>
                <a:cs typeface="Arial" panose="020B0604020202020204" pitchFamily="34" charset="0"/>
              </a:rPr>
              <a:t>|       funct7     |     rs2     |     rs1    |    funct3     |   rd     |    opcode     |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7 bits         5 bits       5 bits         3 bits        5 bits       7 bits</a:t>
            </a:r>
          </a:p>
          <a:p>
            <a:pPr lvl="1">
              <a:lnSpc>
                <a:spcPct val="90000"/>
              </a:lnSpc>
              <a:buNone/>
            </a:pPr>
            <a:endParaRPr lang="en-US" altLang="zh-CN" dirty="0">
              <a:latin typeface="Arial Unicode MS" pitchFamily="34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i="1" dirty="0"/>
              <a:t>opcode </a:t>
            </a:r>
            <a:r>
              <a:rPr lang="en-US" altLang="zh-CN" dirty="0"/>
              <a:t>: basic operation and format of an instruction.</a:t>
            </a:r>
          </a:p>
          <a:p>
            <a:pPr lvl="1">
              <a:lnSpc>
                <a:spcPct val="90000"/>
              </a:lnSpc>
            </a:pPr>
            <a:r>
              <a:rPr lang="en-US" altLang="zh-CN" i="1" dirty="0"/>
              <a:t>rd </a:t>
            </a:r>
            <a:r>
              <a:rPr lang="en-US" altLang="zh-CN" dirty="0"/>
              <a:t>: the register destination operand.</a:t>
            </a:r>
          </a:p>
          <a:p>
            <a:pPr lvl="1">
              <a:lnSpc>
                <a:spcPct val="90000"/>
              </a:lnSpc>
            </a:pPr>
            <a:r>
              <a:rPr lang="en-US" altLang="zh-CN" i="1" dirty="0"/>
              <a:t>funct3</a:t>
            </a:r>
            <a:r>
              <a:rPr lang="en-US" altLang="zh-CN" dirty="0"/>
              <a:t>: an additional opcode field.</a:t>
            </a:r>
          </a:p>
          <a:p>
            <a:pPr lvl="1">
              <a:lnSpc>
                <a:spcPct val="90000"/>
              </a:lnSpc>
            </a:pPr>
            <a:r>
              <a:rPr lang="en-US" altLang="zh-CN" i="1" dirty="0"/>
              <a:t>rs1</a:t>
            </a:r>
            <a:r>
              <a:rPr lang="en-US" altLang="zh-CN" dirty="0"/>
              <a:t>: the first register source operand.</a:t>
            </a:r>
          </a:p>
          <a:p>
            <a:pPr lvl="1">
              <a:lnSpc>
                <a:spcPct val="90000"/>
              </a:lnSpc>
            </a:pPr>
            <a:r>
              <a:rPr lang="en-US" altLang="zh-CN" i="1" dirty="0"/>
              <a:t>rs2</a:t>
            </a:r>
            <a:r>
              <a:rPr lang="en-US" altLang="zh-CN" dirty="0"/>
              <a:t>: the second register source operand.</a:t>
            </a:r>
          </a:p>
          <a:p>
            <a:pPr lvl="1">
              <a:lnSpc>
                <a:spcPct val="90000"/>
              </a:lnSpc>
            </a:pPr>
            <a:r>
              <a:rPr lang="en-US" altLang="zh-CN" i="1" dirty="0"/>
              <a:t>funct7</a:t>
            </a:r>
            <a:r>
              <a:rPr lang="en-US" altLang="zh-CN" dirty="0"/>
              <a:t>: an additional opcode field.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9AC526A-865F-3AAE-42C6-8C06BAF2D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RISC-V fields (format)</a:t>
            </a:r>
          </a:p>
        </p:txBody>
      </p:sp>
      <p:sp>
        <p:nvSpPr>
          <p:cNvPr id="33794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I-type or I-format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latin typeface="Arial Unicode MS" pitchFamily="34" charset="-122"/>
              </a:rPr>
              <a:t>   </a:t>
            </a:r>
            <a:r>
              <a:rPr lang="en-US" altLang="zh-CN" sz="2000" u="sng" dirty="0">
                <a:latin typeface="Arial" panose="020B0604020202020204" pitchFamily="34" charset="0"/>
                <a:cs typeface="Arial" panose="020B0604020202020204" pitchFamily="34" charset="0"/>
              </a:rPr>
              <a:t>|       immediate   |     rs1    |    funct3     |   rd     |    opcode     |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12 bits           5 bits       3 bits         5 bits       7 bits</a:t>
            </a:r>
            <a:endParaRPr lang="en-US" altLang="zh-CN" dirty="0">
              <a:latin typeface="Arial Unicode MS" pitchFamily="34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i="1" dirty="0"/>
              <a:t>immediate </a:t>
            </a:r>
            <a:r>
              <a:rPr lang="en-US" altLang="zh-CN" dirty="0"/>
              <a:t>: interpreted as a two’s complement value.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lw x9, 32(x22)</a:t>
            </a:r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S-type (store instruction)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u="sng" dirty="0">
                <a:latin typeface="Times New Roman" panose="02020603050405020304" pitchFamily="18" charset="0"/>
              </a:rPr>
              <a:t>| immediate[11:5] |     rs2     |     rs1    |    funct3     | immediate[4:0] |  opcode  |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7 bits           5 bits      5 bits     3 bits              5 bits           7 bits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sw x9, 32(x22)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F8BEA70-1B5D-357B-B705-FFF515B33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Principle 3</a:t>
            </a:r>
          </a:p>
          <a:p>
            <a:pPr lvl="1"/>
            <a:r>
              <a:rPr lang="en-US" altLang="zh-CN" sz="2400" b="1" i="1" dirty="0">
                <a:latin typeface="Arial Unicode MS" pitchFamily="34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 demands good compromises</a:t>
            </a:r>
            <a:endParaRPr lang="en-US" altLang="zh-CN" sz="2400" b="1" i="1" dirty="0">
              <a:solidFill>
                <a:srgbClr val="FF0066"/>
              </a:solidFill>
              <a:latin typeface="Arial Unicode MS" pitchFamily="34" charset="-122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All instructions in RISC-V have the same length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Conflict: same length ←--→ single instrucion</a:t>
            </a:r>
          </a:p>
          <a:p>
            <a:pPr>
              <a:buNone/>
            </a:pP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8DD6CF8-BC40-7621-02A2-A719B4C7CC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-45085"/>
            <a:ext cx="8259762" cy="953135"/>
          </a:xfrm>
        </p:spPr>
        <p:txBody>
          <a:bodyPr/>
          <a:lstStyle/>
          <a:p>
            <a:r>
              <a:rPr lang="zh-CN" altLang="en-US" sz="2800"/>
              <a:t>Example(p91)</a:t>
            </a:r>
            <a:r>
              <a:rPr lang="en-US" altLang="zh-CN" sz="2800"/>
              <a:t>:</a:t>
            </a:r>
            <a:r>
              <a:rPr lang="zh-CN" altLang="en-US" sz="2800"/>
              <a:t>Translating assembly into machine instruction</a:t>
            </a:r>
          </a:p>
        </p:txBody>
      </p:sp>
      <p:sp>
        <p:nvSpPr>
          <p:cNvPr id="35842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dirty="0"/>
              <a:t>C code:</a:t>
            </a:r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A[30]  =  h + A[30] + 1 ;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( Assume: h ---- x21        base address of A ---- x10 )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lvl="0"/>
            <a:r>
              <a:rPr lang="en-US" altLang="zh-CN" dirty="0"/>
              <a:t> RISC-V assembly code:</a:t>
            </a:r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lw  x9, 120(x10)      // temporary reg x9 gets A[30]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add  x9, x21, x9      // temporary reg x9 gets  h  +  A[30]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addi  x9, x9, 1         // temporary reg x9 gets  h  +  A[30]  +  1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sw  x9, 120(x10)     // stores h + A[30] + 1  back into A[30]</a:t>
            </a:r>
          </a:p>
          <a:p>
            <a:pPr lvl="0"/>
            <a:r>
              <a:rPr lang="en-US" altLang="zh-CN" dirty="0"/>
              <a:t> RISC-V machine language code:</a:t>
            </a:r>
          </a:p>
          <a:p>
            <a:pPr lvl="1"/>
            <a:r>
              <a:rPr lang="en-US" altLang="zh-CN" sz="2100" dirty="0"/>
              <a:t> Decimal version</a:t>
            </a:r>
            <a:endParaRPr lang="en-US" altLang="zh-CN" sz="1865" b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latin typeface="Arial Unicode MS" pitchFamily="34" charset="-122"/>
              </a:rPr>
              <a:t>	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u="sng" dirty="0">
                <a:latin typeface="Arial" panose="020B0604020202020204" pitchFamily="34" charset="0"/>
                <a:cs typeface="Arial" panose="020B0604020202020204" pitchFamily="34" charset="0"/>
              </a:rPr>
              <a:t>|       immediate   |     rs1    |    funct3     |   rd     |    opcode     |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120               10              2              9               3</a:t>
            </a:r>
            <a:endParaRPr lang="en-US" altLang="zh-CN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3"/>
          <p:cNvSpPr txBox="1"/>
          <p:nvPr/>
        </p:nvSpPr>
        <p:spPr>
          <a:xfrm>
            <a:off x="827088" y="5661025"/>
            <a:ext cx="720725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SzTx/>
              <a:buFontTx/>
            </a:pPr>
            <a:r>
              <a:rPr lang="en-US" altLang="zh-CN" b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lw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B266DC-D29F-4FA0-B267-0F53D6100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6866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latin typeface="Arial Unicode MS" pitchFamily="34" charset="-122"/>
              </a:rPr>
              <a:t>	</a:t>
            </a:r>
            <a:r>
              <a:rPr lang="en-US" altLang="zh-CN" sz="2000" u="sng" dirty="0">
                <a:latin typeface="Arial" panose="020B0604020202020204" pitchFamily="34" charset="0"/>
                <a:cs typeface="Arial" panose="020B0604020202020204" pitchFamily="34" charset="0"/>
              </a:rPr>
              <a:t>|       funct7     |     rs2     |     rs1    |    funct3     |   rd     |    opcode     |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0                  9            21             0               9              51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latin typeface="Arial Unicode MS" pitchFamily="34" charset="-122"/>
              </a:rPr>
              <a:t>   </a:t>
            </a:r>
            <a:r>
              <a:rPr lang="en-US" altLang="zh-CN" sz="2000" u="sng" dirty="0">
                <a:latin typeface="Arial" panose="020B0604020202020204" pitchFamily="34" charset="0"/>
                <a:cs typeface="Arial" panose="020B0604020202020204" pitchFamily="34" charset="0"/>
              </a:rPr>
              <a:t>|       immediate   |     rs1    |    funct3     |   rd     |    opcode     |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1                 9               0              9               19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2000" u="sng" dirty="0">
                <a:latin typeface="Arial" panose="020B0604020202020204" pitchFamily="34" charset="0"/>
                <a:cs typeface="Arial" panose="020B0604020202020204" pitchFamily="34" charset="0"/>
              </a:rPr>
              <a:t>|   im[11:5]   |     rs2     |     rs1    |    funct3     |   im[4:0]    |   opcode    |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3               9            10             2                     24             35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/>
              <a:t> Two </a:t>
            </a:r>
            <a:r>
              <a:rPr lang="en-US" altLang="zh-CN" b="1" dirty="0">
                <a:solidFill>
                  <a:srgbClr val="FF0000"/>
                </a:solidFill>
              </a:rPr>
              <a:t>key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principles</a:t>
            </a:r>
            <a:r>
              <a:rPr lang="en-US" altLang="zh-CN" dirty="0"/>
              <a:t> of today’s computers</a:t>
            </a:r>
          </a:p>
          <a:p>
            <a:pPr lvl="1"/>
            <a:r>
              <a:rPr lang="en-US" altLang="zh-CN" dirty="0"/>
              <a:t> Instructions are represented as numbers</a:t>
            </a:r>
          </a:p>
          <a:p>
            <a:pPr lvl="1"/>
            <a:r>
              <a:rPr lang="en-US" altLang="zh-CN" dirty="0"/>
              <a:t> Programs can be stored in memory like numbers</a:t>
            </a:r>
          </a:p>
          <a:p>
            <a:pPr lvl="1">
              <a:lnSpc>
                <a:spcPct val="90000"/>
              </a:lnSpc>
              <a:buNone/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6867" name="Text Box 3"/>
          <p:cNvSpPr txBox="1"/>
          <p:nvPr/>
        </p:nvSpPr>
        <p:spPr>
          <a:xfrm>
            <a:off x="539750" y="2132648"/>
            <a:ext cx="720725" cy="2298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SzTx/>
              <a:buFontTx/>
            </a:pPr>
            <a:r>
              <a:rPr lang="en-US" altLang="zh-CN" b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addi</a:t>
            </a:r>
          </a:p>
        </p:txBody>
      </p:sp>
      <p:sp>
        <p:nvSpPr>
          <p:cNvPr id="36868" name="AutoShape 3"/>
          <p:cNvSpPr/>
          <p:nvPr/>
        </p:nvSpPr>
        <p:spPr>
          <a:xfrm>
            <a:off x="3203893" y="5157470"/>
            <a:ext cx="3527425" cy="1008063"/>
          </a:xfrm>
          <a:prstGeom prst="cloudCallout">
            <a:avLst>
              <a:gd name="adj1" fmla="val -36543"/>
              <a:gd name="adj2" fmla="val -79165"/>
            </a:avLst>
          </a:prstGeom>
          <a:noFill/>
          <a:ln w="9525" cap="rnd" cmpd="sng">
            <a:solidFill>
              <a:srgbClr val="007A77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2400" b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Stored-program</a:t>
            </a:r>
          </a:p>
        </p:txBody>
      </p:sp>
      <p:sp>
        <p:nvSpPr>
          <p:cNvPr id="3" name="Text Box 3"/>
          <p:cNvSpPr txBox="1"/>
          <p:nvPr/>
        </p:nvSpPr>
        <p:spPr>
          <a:xfrm>
            <a:off x="539750" y="1484313"/>
            <a:ext cx="720725" cy="2298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SzTx/>
              <a:buFontTx/>
            </a:pPr>
            <a:r>
              <a:rPr lang="en-US" altLang="zh-CN" b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67995" y="2852738"/>
            <a:ext cx="720725" cy="2298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SzTx/>
              <a:buFontTx/>
            </a:pPr>
            <a:r>
              <a:rPr lang="en-US" altLang="zh-CN" b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F99527-A7CD-2789-E8C7-09B6A3BBE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Stored-program concept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530" y="1125855"/>
            <a:ext cx="3248025" cy="51117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11930" y="1125855"/>
            <a:ext cx="4942840" cy="5111750"/>
          </a:xfrm>
        </p:spPr>
        <p:txBody>
          <a:bodyPr/>
          <a:lstStyle/>
          <a:p>
            <a:r>
              <a:rPr lang="zh-CN" altLang="en-US" sz="2800"/>
              <a:t>Instructions represented in binary, just like data</a:t>
            </a:r>
          </a:p>
          <a:p>
            <a:r>
              <a:rPr lang="zh-CN" altLang="en-US" sz="2800"/>
              <a:t>Instructions and data stored in memory</a:t>
            </a:r>
          </a:p>
          <a:p>
            <a:r>
              <a:rPr lang="zh-CN" altLang="en-US" sz="2800"/>
              <a:t>Programs can operate on programs</a:t>
            </a:r>
          </a:p>
          <a:p>
            <a:pPr lvl="1"/>
            <a:r>
              <a:rPr lang="zh-CN" altLang="en-US" sz="2450"/>
              <a:t>e.g., compilers, linkers, …</a:t>
            </a:r>
          </a:p>
          <a:p>
            <a:r>
              <a:rPr lang="zh-CN" altLang="en-US" sz="2800"/>
              <a:t>Binary compatibility allows compiled programs to work on different computers</a:t>
            </a:r>
          </a:p>
          <a:p>
            <a:pPr lvl="1"/>
            <a:r>
              <a:rPr lang="zh-CN" altLang="en-US" sz="2450"/>
              <a:t>Standardized ISAs</a:t>
            </a:r>
          </a:p>
        </p:txBody>
      </p:sp>
      <p:sp>
        <p:nvSpPr>
          <p:cNvPr id="37891" name="Text Box 5"/>
          <p:cNvSpPr txBox="1"/>
          <p:nvPr/>
        </p:nvSpPr>
        <p:spPr>
          <a:xfrm>
            <a:off x="971233" y="1196975"/>
            <a:ext cx="2836545" cy="4603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folHlink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The BIG Picture</a:t>
            </a:r>
          </a:p>
        </p:txBody>
      </p:sp>
      <p:pic>
        <p:nvPicPr>
          <p:cNvPr id="37892" name="Picture 7" descr="f02-07-P3744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88" y="1988820"/>
            <a:ext cx="2908300" cy="3846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EAA957-EDD9-A216-E064-1144CAA69A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38915" name="表格 38914"/>
          <p:cNvGraphicFramePr/>
          <p:nvPr>
            <p:custDataLst>
              <p:tags r:id="rId1"/>
            </p:custDataLst>
          </p:nvPr>
        </p:nvGraphicFramePr>
        <p:xfrm>
          <a:off x="567055" y="1268730"/>
          <a:ext cx="8388350" cy="2951163"/>
        </p:xfrm>
        <a:graphic>
          <a:graphicData uri="http://schemas.openxmlformats.org/drawingml/2006/table">
            <a:tbl>
              <a:tblPr/>
              <a:tblGrid>
                <a:gridCol w="1192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00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8128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Name 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Format 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6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Example 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Comment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add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R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51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add x1, x2, x3 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sub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R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32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51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sub x1, x2, x3 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7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addi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1000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</a:t>
                      </a:r>
                      <a:endParaRPr lang="zh-CN" altLang="en-US" sz="1200" b="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19</a:t>
                      </a:r>
                      <a:endParaRPr lang="zh-CN" altLang="en-US" sz="1200" b="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addi x1,x2,1000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lw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1000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</a:t>
                      </a:r>
                      <a:endParaRPr lang="zh-CN" altLang="en-US" sz="1200" b="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3</a:t>
                      </a:r>
                      <a:endParaRPr lang="zh-CN" altLang="en-US" sz="1200" b="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lw x1, 1000(x2) 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sw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31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8</a:t>
                      </a:r>
                      <a:endParaRPr lang="zh-CN" altLang="en-US" sz="1200" b="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35</a:t>
                      </a:r>
                      <a:endParaRPr lang="zh-CN" altLang="en-US" sz="1200" b="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sw x1, 1000(x2) 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RISC-V instruction encoding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9BF79C-4D71-F6BE-FBB5-A29200C4C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45"/>
          <p:cNvSpPr>
            <a:spLocks noRot="1"/>
          </p:cNvSpPr>
          <p:nvPr/>
        </p:nvSpPr>
        <p:spPr>
          <a:xfrm>
            <a:off x="0" y="1628775"/>
            <a:ext cx="8864600" cy="34559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0" hangingPunct="0"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lang="zh-CN" altLang="en-US" sz="2600" b="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Operating some bits within word or individual bit</a:t>
            </a:r>
          </a:p>
        </p:txBody>
      </p:sp>
      <p:graphicFrame>
        <p:nvGraphicFramePr>
          <p:cNvPr id="39940" name="表格 39939"/>
          <p:cNvGraphicFramePr/>
          <p:nvPr>
            <p:custDataLst>
              <p:tags r:id="rId1"/>
            </p:custDataLst>
          </p:nvPr>
        </p:nvGraphicFramePr>
        <p:xfrm>
          <a:off x="682943" y="2274888"/>
          <a:ext cx="7975600" cy="3962400"/>
        </p:xfrm>
        <a:graphic>
          <a:graphicData uri="http://schemas.openxmlformats.org/drawingml/2006/table">
            <a:tbl>
              <a:tblPr/>
              <a:tblGrid>
                <a:gridCol w="3024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39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Logic operations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C operators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Java operators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rgbClr val="FF0066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RISC-V instructions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Shift left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&lt;&lt;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&lt;&lt;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solidFill>
                            <a:srgbClr val="FF0066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sll, slli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Shift right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&gt;&gt;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&gt;&gt;&gt;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solidFill>
                            <a:srgbClr val="FF0066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srl, srli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Shift right arithmetic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&gt;&gt;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&gt;&gt;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solidFill>
                            <a:srgbClr val="FF0066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sra, srai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Bit-by-bit AND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&amp;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&amp;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solidFill>
                            <a:srgbClr val="FF0066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and, andi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Bit-by-bit OR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|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|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solidFill>
                            <a:srgbClr val="FF0066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or, ori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9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Bit-by-bit XOR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^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^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i="1" dirty="0">
                          <a:solidFill>
                            <a:srgbClr val="FF0066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xor, xori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3543" name="文本框 193542"/>
          <p:cNvSpPr txBox="1"/>
          <p:nvPr/>
        </p:nvSpPr>
        <p:spPr>
          <a:xfrm rot="5400000">
            <a:off x="7687310" y="1088390"/>
            <a:ext cx="25450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2.6 Logical operations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Logical operations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756BA9-ACB1-5B64-9353-1C2613A5A3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0962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sz="2800" i="1" dirty="0">
                <a:solidFill>
                  <a:srgbClr val="FF3300"/>
                </a:solidFill>
              </a:rPr>
              <a:t>Shift</a:t>
            </a:r>
            <a:r>
              <a:rPr lang="en-US" altLang="zh-CN" sz="2800" dirty="0"/>
              <a:t> operator</a:t>
            </a: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</a:rPr>
              <a:t>Move  all the bits in a word to left or right, filling emptied bits with 0</a:t>
            </a: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</a:rPr>
              <a:t>Shifting left by </a:t>
            </a:r>
            <a:r>
              <a:rPr lang="en-US" altLang="zh-CN" sz="2200" b="1" i="1" dirty="0">
                <a:solidFill>
                  <a:srgbClr val="FF0066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</a:rPr>
              <a:t> is same result as multiplying by 2</a:t>
            </a:r>
            <a:r>
              <a:rPr lang="en-US" altLang="zh-CN" sz="2200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</a:p>
          <a:p>
            <a:pPr lvl="1"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0000 0000 0000 0000 0000 0000 0000 1001    	 (9)</a:t>
            </a:r>
            <a:r>
              <a:rPr lang="en-US" altLang="zh-CN" sz="2200" baseline="-25000" dirty="0">
                <a:latin typeface="Times New Roman" panose="02020603050405020304" pitchFamily="18" charset="0"/>
              </a:rPr>
              <a:t>10 </a:t>
            </a:r>
          </a:p>
          <a:p>
            <a:pPr lvl="1"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Shift left 4</a:t>
            </a:r>
          </a:p>
          <a:p>
            <a:pPr lvl="1"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0000 0000 0000 0000 0000 0000 1001 </a:t>
            </a:r>
            <a:r>
              <a:rPr lang="en-US" altLang="zh-CN" sz="2200" dirty="0">
                <a:solidFill>
                  <a:srgbClr val="FF0066"/>
                </a:solidFill>
                <a:latin typeface="Times New Roman" panose="02020603050405020304" pitchFamily="18" charset="0"/>
              </a:rPr>
              <a:t>0000</a:t>
            </a:r>
            <a:r>
              <a:rPr lang="en-US" altLang="zh-CN" sz="2200" dirty="0">
                <a:latin typeface="Times New Roman" panose="02020603050405020304" pitchFamily="18" charset="0"/>
              </a:rPr>
              <a:t>     (9×16=144)</a:t>
            </a:r>
            <a:r>
              <a:rPr lang="en-US" altLang="zh-CN" sz="2200" baseline="-25000" dirty="0">
                <a:latin typeface="Times New Roman" panose="02020603050405020304" pitchFamily="18" charset="0"/>
              </a:rPr>
              <a:t>10 </a:t>
            </a:r>
          </a:p>
          <a:p>
            <a:pPr lvl="1">
              <a:buNone/>
            </a:pPr>
            <a:endParaRPr lang="en-US" altLang="zh-CN" sz="2200" dirty="0">
              <a:latin typeface="Times New Roman" panose="02020603050405020304" pitchFamily="18" charset="0"/>
            </a:endParaRPr>
          </a:p>
          <a:p>
            <a:pPr lvl="1"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	slli x11, x19, 4	// reg x11=reg x19 &lt;&lt; 4 bit</a:t>
            </a:r>
          </a:p>
        </p:txBody>
      </p:sp>
      <p:sp>
        <p:nvSpPr>
          <p:cNvPr id="40963" name="Line 3"/>
          <p:cNvSpPr/>
          <p:nvPr/>
        </p:nvSpPr>
        <p:spPr>
          <a:xfrm flipH="1">
            <a:off x="2555875" y="4076700"/>
            <a:ext cx="3384550" cy="0"/>
          </a:xfrm>
          <a:prstGeom prst="line">
            <a:avLst/>
          </a:prstGeom>
          <a:ln w="57150" cap="rnd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40964" name="表格 40963"/>
          <p:cNvGraphicFramePr/>
          <p:nvPr>
            <p:custDataLst>
              <p:tags r:id="rId1"/>
            </p:custDataLst>
          </p:nvPr>
        </p:nvGraphicFramePr>
        <p:xfrm>
          <a:off x="971550" y="4869180"/>
          <a:ext cx="7560310" cy="1285875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1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0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immediate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rs1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funct3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rd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opcode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A207F41-8D54-990C-96AA-CB31BE6E72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1986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i="1" dirty="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operator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 is bit-by-bit</a:t>
            </a:r>
          </a:p>
          <a:p>
            <a:pPr lvl="2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Result=1 : both bits of the operands are 1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</a:p>
          <a:p>
            <a:pPr lvl="1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x2:</a:t>
            </a:r>
          </a:p>
          <a:p>
            <a:pPr lvl="1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0000 0000 0000 0000 0000 </a:t>
            </a:r>
            <a:r>
              <a:rPr lang="en-US" altLang="zh-CN" sz="2400" dirty="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01 0000 0000 	 </a:t>
            </a:r>
            <a:endParaRPr lang="en-US" altLang="zh-CN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x1:</a:t>
            </a:r>
          </a:p>
          <a:p>
            <a:pPr lvl="1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0000 0000 0000 0000 0011</a:t>
            </a:r>
            <a:r>
              <a:rPr lang="en-US" altLang="zh-CN" sz="2400" dirty="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2400" dirty="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0000 0000 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buNone/>
            </a:pPr>
            <a:endParaRPr lang="en-US" altLang="zh-CN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and x0, x1, x2		//reg x0=reg x1 &amp; reg x2</a:t>
            </a:r>
          </a:p>
          <a:p>
            <a:pPr lvl="1">
              <a:buNone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Result:</a:t>
            </a:r>
          </a:p>
          <a:p>
            <a:pPr lvl="1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0000 0000 0000 0000 00</a:t>
            </a:r>
            <a:r>
              <a:rPr lang="en-US" altLang="zh-CN" sz="2400" dirty="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i="1" dirty="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2400" dirty="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0000 0000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239844F-5280-3FA9-EF61-32EED418C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43" name="文本框 193542"/>
          <p:cNvSpPr txBox="1"/>
          <p:nvPr/>
        </p:nvSpPr>
        <p:spPr>
          <a:xfrm rot="5400000">
            <a:off x="6950710" y="1818640"/>
            <a:ext cx="40055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2.7 Instructions for making decisions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Branch instructions</a:t>
            </a:r>
          </a:p>
          <a:p>
            <a:pPr lvl="1"/>
            <a:r>
              <a:rPr lang="zh-CN" altLang="en-US" sz="2400"/>
              <a:t> beq  register1, register2, L1</a:t>
            </a:r>
          </a:p>
          <a:p>
            <a:pPr lvl="1"/>
            <a:r>
              <a:rPr lang="zh-CN" altLang="en-US" sz="2400"/>
              <a:t> bne  register1, register2, L1</a:t>
            </a:r>
          </a:p>
          <a:p>
            <a:r>
              <a:rPr lang="zh-CN" altLang="en-US" sz="2800"/>
              <a:t>Example</a:t>
            </a:r>
            <a:r>
              <a:rPr lang="en-US" altLang="zh-CN" sz="2800"/>
              <a:t>:</a:t>
            </a:r>
            <a:r>
              <a:rPr lang="zh-CN" altLang="en-US" sz="2800"/>
              <a:t>Compiling an if statement to a branch</a:t>
            </a:r>
            <a:endParaRPr lang="zh-CN" altLang="en-US" sz="2000"/>
          </a:p>
          <a:p>
            <a:pPr lvl="1"/>
            <a:r>
              <a:rPr lang="zh-CN" altLang="en-US" sz="2400"/>
              <a:t>C code:</a:t>
            </a:r>
            <a:r>
              <a:rPr lang="zh-CN" altLang="en-US" sz="2000">
                <a:sym typeface="+mn-ea"/>
              </a:rPr>
              <a:t>( Assume: f ~ j  ---- x19 ~ x23 )</a:t>
            </a:r>
            <a:endParaRPr lang="zh-CN" altLang="en-US"/>
          </a:p>
          <a:p>
            <a:pPr marL="0" indent="0">
              <a:buNone/>
            </a:pPr>
            <a:r>
              <a:rPr lang="en-US" altLang="zh-CN" sz="2000"/>
              <a:t>	</a:t>
            </a:r>
            <a:r>
              <a:rPr lang="zh-CN" altLang="en-US" sz="2000"/>
              <a:t>if ( i  = =  j )   f  =  g  +  h ; else f = g – h; </a:t>
            </a:r>
          </a:p>
          <a:p>
            <a:pPr lvl="1"/>
            <a:r>
              <a:rPr lang="zh-CN" altLang="en-US" sz="2400"/>
              <a:t>RISC-V assembly code:</a:t>
            </a:r>
            <a:r>
              <a:rPr lang="zh-CN" altLang="en-US"/>
              <a:t> </a:t>
            </a:r>
          </a:p>
          <a:p>
            <a:pPr marL="0" indent="0">
              <a:buNone/>
            </a:pPr>
            <a:r>
              <a:rPr lang="en-US" altLang="zh-CN" sz="2000"/>
              <a:t>	</a:t>
            </a:r>
            <a:r>
              <a:rPr lang="zh-CN" altLang="en-US" sz="2000"/>
              <a:t>bne  x22, x23, ELSE    // go to ELSE if  i != j</a:t>
            </a:r>
            <a:endParaRPr lang="zh-CN" altLang="en-US"/>
          </a:p>
          <a:p>
            <a:pPr marL="0" indent="0">
              <a:buNone/>
            </a:pPr>
            <a:r>
              <a:rPr lang="en-US" altLang="zh-CN" sz="2000"/>
              <a:t>	</a:t>
            </a:r>
            <a:r>
              <a:rPr lang="zh-CN" altLang="en-US" sz="2000"/>
              <a:t>add  x19, x20, x21      // f  =  g  +  h  ( skipped if  i  not equals  j )</a:t>
            </a:r>
          </a:p>
          <a:p>
            <a:pPr marL="0" indent="0">
              <a:buNone/>
            </a:pPr>
            <a:r>
              <a:rPr lang="en-US" altLang="zh-CN" sz="2000"/>
              <a:t>	</a:t>
            </a:r>
            <a:r>
              <a:rPr lang="zh-CN" altLang="en-US" sz="2000"/>
              <a:t>beq     x0, x0,  EXIT</a:t>
            </a:r>
          </a:p>
          <a:p>
            <a:pPr marL="0" indent="0">
              <a:buNone/>
            </a:pPr>
            <a:r>
              <a:rPr lang="en-US" altLang="zh-CN" sz="2000"/>
              <a:t>	</a:t>
            </a:r>
            <a:r>
              <a:rPr lang="zh-CN" altLang="en-US" sz="2000"/>
              <a:t>ELSE: sub x19, x20, x21   // f  =  g  -  h  ( skipped if  i  equals  j )</a:t>
            </a:r>
            <a:r>
              <a:rPr lang="en-US" altLang="zh-CN" sz="2000"/>
              <a:t> </a:t>
            </a:r>
            <a:r>
              <a:rPr lang="zh-CN" altLang="en-US" sz="2000"/>
              <a:t> </a:t>
            </a:r>
            <a:r>
              <a:rPr lang="en-US" altLang="zh-CN" sz="2000"/>
              <a:t>	</a:t>
            </a:r>
            <a:r>
              <a:rPr lang="zh-CN" altLang="en-US" sz="2000"/>
              <a:t>EXIT: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262890"/>
            <a:ext cx="8259762" cy="645160"/>
          </a:xfrm>
        </p:spPr>
        <p:txBody>
          <a:bodyPr/>
          <a:lstStyle/>
          <a:p>
            <a:r>
              <a:rPr lang="zh-CN" altLang="en-US" sz="3600"/>
              <a:t>Instructions for making decisions</a:t>
            </a:r>
          </a:p>
        </p:txBody>
      </p:sp>
      <p:grpSp>
        <p:nvGrpSpPr>
          <p:cNvPr id="5" name="Group 3"/>
          <p:cNvGrpSpPr/>
          <p:nvPr/>
        </p:nvGrpSpPr>
        <p:grpSpPr>
          <a:xfrm>
            <a:off x="6588125" y="2781300"/>
            <a:ext cx="2014484" cy="2022818"/>
            <a:chOff x="3651" y="663"/>
            <a:chExt cx="2260" cy="1860"/>
          </a:xfrm>
        </p:grpSpPr>
        <p:sp>
          <p:nvSpPr>
            <p:cNvPr id="6" name="AutoShape 4"/>
            <p:cNvSpPr/>
            <p:nvPr/>
          </p:nvSpPr>
          <p:spPr>
            <a:xfrm>
              <a:off x="4195" y="963"/>
              <a:ext cx="999" cy="408"/>
            </a:xfrm>
            <a:prstGeom prst="flowChartDecision">
              <a:avLst/>
            </a:prstGeom>
            <a:solidFill>
              <a:schemeClr val="bg2"/>
            </a:solidFill>
            <a:ln w="9525" cap="rnd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b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i==j?</a:t>
              </a:r>
            </a:p>
          </p:txBody>
        </p:sp>
        <p:sp>
          <p:nvSpPr>
            <p:cNvPr id="7" name="AutoShape 5"/>
            <p:cNvSpPr/>
            <p:nvPr/>
          </p:nvSpPr>
          <p:spPr>
            <a:xfrm>
              <a:off x="3651" y="1525"/>
              <a:ext cx="771" cy="317"/>
            </a:xfrm>
            <a:prstGeom prst="flowChartProcess">
              <a:avLst/>
            </a:prstGeom>
            <a:solidFill>
              <a:schemeClr val="bg2"/>
            </a:solidFill>
            <a:ln w="9525" cap="rnd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b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F=g+h</a:t>
              </a:r>
            </a:p>
          </p:txBody>
        </p:sp>
        <p:sp>
          <p:nvSpPr>
            <p:cNvPr id="8" name="AutoShape 6"/>
            <p:cNvSpPr/>
            <p:nvPr/>
          </p:nvSpPr>
          <p:spPr>
            <a:xfrm>
              <a:off x="4921" y="1525"/>
              <a:ext cx="881" cy="317"/>
            </a:xfrm>
            <a:prstGeom prst="flowChartProcess">
              <a:avLst/>
            </a:prstGeom>
            <a:solidFill>
              <a:schemeClr val="bg2"/>
            </a:solidFill>
            <a:ln w="9525" cap="rnd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b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F=g - h</a:t>
              </a:r>
            </a:p>
          </p:txBody>
        </p:sp>
        <p:sp>
          <p:nvSpPr>
            <p:cNvPr id="9" name="Freeform 7"/>
            <p:cNvSpPr/>
            <p:nvPr/>
          </p:nvSpPr>
          <p:spPr>
            <a:xfrm>
              <a:off x="5193" y="1162"/>
              <a:ext cx="182" cy="363"/>
            </a:xfrm>
            <a:custGeom>
              <a:avLst/>
              <a:gdLst>
                <a:gd name="txL" fmla="*/ 0 w 272"/>
                <a:gd name="txT" fmla="*/ 0 h 363"/>
                <a:gd name="txR" fmla="*/ 272 w 272"/>
                <a:gd name="txB" fmla="*/ 363 h 363"/>
              </a:gdLst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363"/>
                </a:cxn>
              </a:cxnLst>
              <a:rect l="txL" t="txT" r="txR" b="txB"/>
              <a:pathLst>
                <a:path w="272" h="363">
                  <a:moveTo>
                    <a:pt x="0" y="0"/>
                  </a:moveTo>
                  <a:lnTo>
                    <a:pt x="272" y="0"/>
                  </a:lnTo>
                  <a:lnTo>
                    <a:pt x="272" y="363"/>
                  </a:lnTo>
                </a:path>
              </a:pathLst>
            </a:custGeom>
            <a:noFill/>
            <a:ln w="9525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/>
          </p:nvSpPr>
          <p:spPr>
            <a:xfrm flipH="1">
              <a:off x="4013" y="1162"/>
              <a:ext cx="182" cy="363"/>
            </a:xfrm>
            <a:custGeom>
              <a:avLst/>
              <a:gdLst>
                <a:gd name="txL" fmla="*/ 0 w 272"/>
                <a:gd name="txT" fmla="*/ 0 h 363"/>
                <a:gd name="txR" fmla="*/ 272 w 272"/>
                <a:gd name="txB" fmla="*/ 363 h 363"/>
              </a:gdLst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363"/>
                </a:cxn>
              </a:cxnLst>
              <a:rect l="txL" t="txT" r="txR" b="txB"/>
              <a:pathLst>
                <a:path w="272" h="363">
                  <a:moveTo>
                    <a:pt x="0" y="0"/>
                  </a:moveTo>
                  <a:lnTo>
                    <a:pt x="272" y="0"/>
                  </a:lnTo>
                  <a:lnTo>
                    <a:pt x="272" y="363"/>
                  </a:lnTo>
                </a:path>
              </a:pathLst>
            </a:custGeom>
            <a:noFill/>
            <a:ln w="9525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>
            <a:xfrm>
              <a:off x="4014" y="1842"/>
              <a:ext cx="1315" cy="273"/>
            </a:xfrm>
            <a:custGeom>
              <a:avLst/>
              <a:gdLst>
                <a:gd name="txL" fmla="*/ 0 w 1179"/>
                <a:gd name="txT" fmla="*/ 0 h 409"/>
                <a:gd name="txR" fmla="*/ 1179 w 1179"/>
                <a:gd name="txB" fmla="*/ 409 h 409"/>
              </a:gdLst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9383" y="1"/>
                </a:cxn>
                <a:cxn ang="0">
                  <a:pos x="9383" y="0"/>
                </a:cxn>
              </a:cxnLst>
              <a:rect l="txL" t="txT" r="txR" b="txB"/>
              <a:pathLst>
                <a:path w="1179" h="409">
                  <a:moveTo>
                    <a:pt x="0" y="0"/>
                  </a:moveTo>
                  <a:lnTo>
                    <a:pt x="0" y="409"/>
                  </a:lnTo>
                  <a:lnTo>
                    <a:pt x="1179" y="409"/>
                  </a:lnTo>
                  <a:lnTo>
                    <a:pt x="1179" y="0"/>
                  </a:lnTo>
                </a:path>
              </a:pathLst>
            </a:custGeom>
            <a:noFill/>
            <a:ln w="9525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"/>
            <p:cNvSpPr/>
            <p:nvPr/>
          </p:nvSpPr>
          <p:spPr>
            <a:xfrm>
              <a:off x="4649" y="2115"/>
              <a:ext cx="0" cy="408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" name="Line 11"/>
            <p:cNvSpPr/>
            <p:nvPr/>
          </p:nvSpPr>
          <p:spPr>
            <a:xfrm>
              <a:off x="4694" y="663"/>
              <a:ext cx="0" cy="317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" name="Text Box 12"/>
            <p:cNvSpPr txBox="1"/>
            <p:nvPr/>
          </p:nvSpPr>
          <p:spPr>
            <a:xfrm>
              <a:off x="5103" y="845"/>
              <a:ext cx="808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 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!=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</a:p>
          </p:txBody>
        </p:sp>
        <p:sp>
          <p:nvSpPr>
            <p:cNvPr id="15" name="Text Box 13"/>
            <p:cNvSpPr txBox="1"/>
            <p:nvPr/>
          </p:nvSpPr>
          <p:spPr>
            <a:xfrm>
              <a:off x="4649" y="2149"/>
              <a:ext cx="862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Exit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: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4D12204-5431-DBD3-9B00-A17AFE2446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201295"/>
            <a:ext cx="8259762" cy="706755"/>
          </a:xfrm>
        </p:spPr>
        <p:txBody>
          <a:bodyPr/>
          <a:lstStyle/>
          <a:p>
            <a:r>
              <a:rPr lang="zh-CN" altLang="en-US" sz="4000"/>
              <a:t>Example</a:t>
            </a:r>
            <a:r>
              <a:rPr lang="en-US" altLang="zh-CN" sz="4000"/>
              <a:t>:</a:t>
            </a:r>
            <a:r>
              <a:rPr lang="zh-CN" altLang="en-US" sz="4000"/>
              <a:t>Compiling a while loop</a:t>
            </a:r>
          </a:p>
        </p:txBody>
      </p:sp>
      <p:sp>
        <p:nvSpPr>
          <p:cNvPr id="44034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marL="0" indent="0">
              <a:buNone/>
            </a:pPr>
            <a:r>
              <a:rPr lang="en-US" altLang="zh-CN" sz="2400" dirty="0"/>
              <a:t>( Assume: i and k--- x22 and x24      base of save --- x25 )</a:t>
            </a:r>
          </a:p>
          <a:p>
            <a:pPr lvl="0"/>
            <a:r>
              <a:rPr lang="en-US" altLang="zh-CN" dirty="0"/>
              <a:t> C code:</a:t>
            </a:r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while ( save[i]  = =  k )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i  +=  1 ;</a:t>
            </a:r>
          </a:p>
          <a:p>
            <a:pPr lvl="0"/>
            <a:r>
              <a:rPr lang="en-US" altLang="zh-CN" dirty="0"/>
              <a:t> RISC-V assembly code:</a:t>
            </a:r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Loop:  slli     x10, x22, 2          // Temp reg x10 = i  * 4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	          add     x10, x10, x25     //  x10  =  address of save[i]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	          lw      x9, 0(x10)            // x9 gets save[i]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bne    x9, x24, Exit       // go to Exit  if  save[i]  !=  k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addi    x22, x22, 1        //  i  +=   1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beq    x0, x0, Loop       // go to Loop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Exit: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F318582-C00A-0B9A-DD7E-E8663FC110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Other Compare Operation</a:t>
            </a:r>
          </a:p>
          <a:p>
            <a:pPr lvl="1"/>
            <a:r>
              <a:rPr lang="zh-CN" altLang="en-US"/>
              <a:t>blt : less than</a:t>
            </a:r>
          </a:p>
          <a:p>
            <a:pPr lvl="1"/>
            <a:r>
              <a:rPr lang="zh-CN" altLang="en-US"/>
              <a:t>bge: greater or equal</a:t>
            </a:r>
          </a:p>
          <a:p>
            <a:r>
              <a:rPr lang="zh-CN" altLang="en-US"/>
              <a:t>Unsigned Compare Operation version</a:t>
            </a:r>
          </a:p>
          <a:p>
            <a:pPr lvl="1"/>
            <a:r>
              <a:rPr lang="zh-CN" altLang="en-US"/>
              <a:t>bltu : less than</a:t>
            </a:r>
          </a:p>
          <a:p>
            <a:pPr lvl="1"/>
            <a:r>
              <a:rPr lang="zh-CN" altLang="en-US"/>
              <a:t>bgeu: greater or equal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9E38BD-DFAC-3D56-9FCF-2609BD01FA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内容占位符 4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dirty="0"/>
              <a:t>x5: 0xFFFFFFFF</a:t>
            </a:r>
          </a:p>
          <a:p>
            <a:r>
              <a:rPr lang="en-US" altLang="zh-CN" dirty="0"/>
              <a:t>x6: 0x00000001</a:t>
            </a:r>
          </a:p>
          <a:p>
            <a:endParaRPr lang="en-US" altLang="zh-CN" dirty="0"/>
          </a:p>
          <a:p>
            <a:r>
              <a:rPr lang="en-US" altLang="zh-CN" dirty="0"/>
              <a:t>blt x5,x6,Result </a:t>
            </a:r>
          </a:p>
          <a:p>
            <a:pPr lvl="1"/>
            <a:r>
              <a:rPr lang="en-US" altLang="zh-CN" dirty="0"/>
              <a:t>signed integer: ?</a:t>
            </a:r>
          </a:p>
          <a:p>
            <a:pPr lvl="1"/>
            <a:r>
              <a:rPr lang="en-US" altLang="zh-CN" dirty="0"/>
              <a:t>unsigned integer: ?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4213" y="201295"/>
            <a:ext cx="8259762" cy="706755"/>
          </a:xfrm>
        </p:spPr>
        <p:txBody>
          <a:bodyPr/>
          <a:lstStyle/>
          <a:p>
            <a:r>
              <a:rPr lang="zh-CN" altLang="en-US" sz="4000"/>
              <a:t>Signed vs unsigned comparison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03F090-E741-1D4A-CE7A-AB592AD6BA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Case/Switch Statement</a:t>
            </a:r>
          </a:p>
        </p:txBody>
      </p:sp>
      <p:sp>
        <p:nvSpPr>
          <p:cNvPr id="47106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sz="2800" dirty="0"/>
              <a:t>used to select one of many alternatives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sz="2800" dirty="0"/>
              <a:t>Example</a:t>
            </a:r>
            <a:endParaRPr lang="en-US" altLang="zh-CN" dirty="0"/>
          </a:p>
          <a:p>
            <a:pPr>
              <a:buNone/>
            </a:pPr>
            <a:r>
              <a:rPr lang="en-US" altLang="zh-CN" sz="2200" dirty="0"/>
              <a:t>		</a:t>
            </a:r>
            <a:r>
              <a:rPr lang="en-US" altLang="zh-CN" sz="2400" dirty="0"/>
              <a:t>Compiling a switch using </a:t>
            </a:r>
            <a:r>
              <a:rPr lang="en-US" altLang="zh-CN" sz="2400" b="1" i="1" dirty="0">
                <a:solidFill>
                  <a:srgbClr val="FF0066"/>
                </a:solidFill>
              </a:rPr>
              <a:t>jump address table</a:t>
            </a:r>
          </a:p>
          <a:p>
            <a:pPr>
              <a:buNone/>
            </a:pPr>
            <a:r>
              <a:rPr lang="en-US" altLang="zh-CN" sz="2400" dirty="0"/>
              <a:t>         ( Assume: f ~ k ---- x20 ~ x25       x5 contains 4 )</a:t>
            </a:r>
          </a:p>
          <a:p>
            <a:pPr lvl="1"/>
            <a:r>
              <a:rPr lang="en-US" altLang="zh-CN" sz="2400" dirty="0"/>
              <a:t> C code:</a:t>
            </a:r>
          </a:p>
          <a:p>
            <a:pPr lvl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switch ( k )  {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case  0 :    f  =  i  +  j ;  break ;     /*  k  =  0  */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case  1 :    f  =  g +  h ;  break ;    /*  k  =  1  */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case  2 :    f  =  g  -  h ;  break ;    /*  k  =  2  */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case  3 :    f  =  i  -  j ;  break ;      /*  k  =  3  */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}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206CABA-76EB-0D54-2EE0-E5A7FC8DC9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Jump-and-link register</a:t>
            </a:r>
          </a:p>
          <a:p>
            <a:pPr lvl="1"/>
            <a:r>
              <a:rPr lang="en-US" altLang="zh-CN" b="1" dirty="0">
                <a:solidFill>
                  <a:srgbClr val="FF0066"/>
                </a:solidFill>
                <a:latin typeface="Arial Black" panose="020B0A04020102020204" pitchFamily="34" charset="0"/>
                <a:sym typeface="+mn-ea"/>
              </a:rPr>
              <a:t>jalr x1,100(x6)</a:t>
            </a:r>
            <a:endParaRPr lang="zh-CN" altLang="en-US"/>
          </a:p>
          <a:p>
            <a:r>
              <a:rPr lang="zh-CN" altLang="en-US"/>
              <a:t>jump address table</a:t>
            </a:r>
          </a:p>
        </p:txBody>
      </p:sp>
      <p:graphicFrame>
        <p:nvGraphicFramePr>
          <p:cNvPr id="6" name="Group 3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61293" y="1484948"/>
          <a:ext cx="3602038" cy="4979988"/>
        </p:xfrm>
        <a:graphic>
          <a:graphicData uri="http://schemas.openxmlformats.org/drawingml/2006/table">
            <a:tbl>
              <a:tblPr/>
              <a:tblGrid>
                <a:gridCol w="1439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…………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538">
                <a:tc>
                  <a:txBody>
                    <a:bodyPr/>
                    <a:lstStyle/>
                    <a:p>
                      <a:pPr marL="0" marR="0" lvl="0" indent="0" algn="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P1 address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Program 1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…………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225">
                <a:tc>
                  <a:txBody>
                    <a:bodyPr/>
                    <a:lstStyle/>
                    <a:p>
                      <a:pPr marL="0" marR="0" lvl="0" indent="0" algn="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P2 address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Program 2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…………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225">
                <a:tc>
                  <a:txBody>
                    <a:bodyPr/>
                    <a:lstStyle/>
                    <a:p>
                      <a:pPr marL="0" marR="0" lvl="0" indent="0" algn="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P3 address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Program 3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…………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marL="0" marR="0" lvl="0" indent="0" algn="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P4 address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Program 4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…………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Group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498600" y="3575050"/>
          <a:ext cx="2665413" cy="2662239"/>
        </p:xfrm>
        <a:graphic>
          <a:graphicData uri="http://schemas.openxmlformats.org/drawingml/2006/table">
            <a:tbl>
              <a:tblPr/>
              <a:tblGrid>
                <a:gridCol w="78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k=0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P1 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k=1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P2 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k=2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P3 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k=3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P4 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Line 32"/>
          <p:cNvSpPr/>
          <p:nvPr/>
        </p:nvSpPr>
        <p:spPr>
          <a:xfrm>
            <a:off x="1355725" y="4068763"/>
            <a:ext cx="935038" cy="0"/>
          </a:xfrm>
          <a:prstGeom prst="line">
            <a:avLst/>
          </a:prstGeom>
          <a:ln w="9525" cap="rnd" cmpd="sng">
            <a:solidFill>
              <a:srgbClr val="007A77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" name="Rectangle 33"/>
          <p:cNvSpPr/>
          <p:nvPr/>
        </p:nvSpPr>
        <p:spPr>
          <a:xfrm>
            <a:off x="850900" y="3860800"/>
            <a:ext cx="46990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x6</a:t>
            </a:r>
          </a:p>
        </p:txBody>
      </p:sp>
      <p:sp>
        <p:nvSpPr>
          <p:cNvPr id="10" name="Freeform 71"/>
          <p:cNvSpPr/>
          <p:nvPr/>
        </p:nvSpPr>
        <p:spPr>
          <a:xfrm>
            <a:off x="4037013" y="1844675"/>
            <a:ext cx="2574925" cy="2447925"/>
          </a:xfrm>
          <a:custGeom>
            <a:avLst/>
            <a:gdLst>
              <a:gd name="txL" fmla="*/ 0 w 2223"/>
              <a:gd name="txT" fmla="*/ 0 h 1769"/>
              <a:gd name="txR" fmla="*/ 2223 w 2223"/>
              <a:gd name="txB" fmla="*/ 1769 h 1769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223" h="1769">
                <a:moveTo>
                  <a:pt x="0" y="1769"/>
                </a:moveTo>
                <a:cubicBezTo>
                  <a:pt x="336" y="1451"/>
                  <a:pt x="673" y="1134"/>
                  <a:pt x="907" y="862"/>
                </a:cubicBezTo>
                <a:cubicBezTo>
                  <a:pt x="1141" y="590"/>
                  <a:pt x="1187" y="272"/>
                  <a:pt x="1406" y="136"/>
                </a:cubicBezTo>
                <a:cubicBezTo>
                  <a:pt x="1625" y="0"/>
                  <a:pt x="1924" y="23"/>
                  <a:pt x="2223" y="46"/>
                </a:cubicBezTo>
              </a:path>
            </a:pathLst>
          </a:custGeom>
          <a:noFill/>
          <a:ln w="9525" cap="rnd" cmpd="sng">
            <a:solidFill>
              <a:srgbClr val="FF0000">
                <a:alpha val="100000"/>
              </a:srgbClr>
            </a:solidFill>
            <a:prstDash val="solid"/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72"/>
          <p:cNvSpPr/>
          <p:nvPr/>
        </p:nvSpPr>
        <p:spPr>
          <a:xfrm>
            <a:off x="4090988" y="2924175"/>
            <a:ext cx="2520950" cy="1800225"/>
          </a:xfrm>
          <a:custGeom>
            <a:avLst/>
            <a:gdLst>
              <a:gd name="txL" fmla="*/ 0 w 2223"/>
              <a:gd name="txT" fmla="*/ 0 h 1769"/>
              <a:gd name="txR" fmla="*/ 2223 w 2223"/>
              <a:gd name="txB" fmla="*/ 1769 h 1769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223" h="1769">
                <a:moveTo>
                  <a:pt x="0" y="1769"/>
                </a:moveTo>
                <a:cubicBezTo>
                  <a:pt x="336" y="1451"/>
                  <a:pt x="673" y="1134"/>
                  <a:pt x="907" y="862"/>
                </a:cubicBezTo>
                <a:cubicBezTo>
                  <a:pt x="1141" y="590"/>
                  <a:pt x="1187" y="272"/>
                  <a:pt x="1406" y="136"/>
                </a:cubicBezTo>
                <a:cubicBezTo>
                  <a:pt x="1625" y="0"/>
                  <a:pt x="1924" y="23"/>
                  <a:pt x="2223" y="46"/>
                </a:cubicBezTo>
              </a:path>
            </a:pathLst>
          </a:custGeom>
          <a:noFill/>
          <a:ln w="9525" cap="rnd" cmpd="sng">
            <a:solidFill>
              <a:srgbClr val="FF0000">
                <a:alpha val="100000"/>
              </a:srgbClr>
            </a:solidFill>
            <a:prstDash val="solid"/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73"/>
          <p:cNvSpPr/>
          <p:nvPr/>
        </p:nvSpPr>
        <p:spPr>
          <a:xfrm>
            <a:off x="4073525" y="4149725"/>
            <a:ext cx="2538413" cy="1008063"/>
          </a:xfrm>
          <a:custGeom>
            <a:avLst/>
            <a:gdLst>
              <a:gd name="txL" fmla="*/ 0 w 2223"/>
              <a:gd name="txT" fmla="*/ 0 h 1769"/>
              <a:gd name="txR" fmla="*/ 2223 w 2223"/>
              <a:gd name="txB" fmla="*/ 1769 h 1769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223" h="1769">
                <a:moveTo>
                  <a:pt x="0" y="1769"/>
                </a:moveTo>
                <a:cubicBezTo>
                  <a:pt x="336" y="1451"/>
                  <a:pt x="673" y="1134"/>
                  <a:pt x="907" y="862"/>
                </a:cubicBezTo>
                <a:cubicBezTo>
                  <a:pt x="1141" y="590"/>
                  <a:pt x="1187" y="272"/>
                  <a:pt x="1406" y="136"/>
                </a:cubicBezTo>
                <a:cubicBezTo>
                  <a:pt x="1625" y="0"/>
                  <a:pt x="1924" y="23"/>
                  <a:pt x="2223" y="46"/>
                </a:cubicBezTo>
              </a:path>
            </a:pathLst>
          </a:custGeom>
          <a:noFill/>
          <a:ln w="9525" cap="rnd" cmpd="sng">
            <a:solidFill>
              <a:srgbClr val="FF0000">
                <a:alpha val="100000"/>
              </a:srgbClr>
            </a:solidFill>
            <a:prstDash val="solid"/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74"/>
          <p:cNvSpPr/>
          <p:nvPr/>
        </p:nvSpPr>
        <p:spPr>
          <a:xfrm>
            <a:off x="4037013" y="5373688"/>
            <a:ext cx="2647950" cy="287337"/>
          </a:xfrm>
          <a:custGeom>
            <a:avLst/>
            <a:gdLst>
              <a:gd name="txL" fmla="*/ 0 w 2223"/>
              <a:gd name="txT" fmla="*/ 0 h 1769"/>
              <a:gd name="txR" fmla="*/ 2223 w 2223"/>
              <a:gd name="txB" fmla="*/ 1769 h 1769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223" h="1769">
                <a:moveTo>
                  <a:pt x="0" y="1769"/>
                </a:moveTo>
                <a:cubicBezTo>
                  <a:pt x="336" y="1451"/>
                  <a:pt x="673" y="1134"/>
                  <a:pt x="907" y="862"/>
                </a:cubicBezTo>
                <a:cubicBezTo>
                  <a:pt x="1141" y="590"/>
                  <a:pt x="1187" y="272"/>
                  <a:pt x="1406" y="136"/>
                </a:cubicBezTo>
                <a:cubicBezTo>
                  <a:pt x="1625" y="0"/>
                  <a:pt x="1924" y="23"/>
                  <a:pt x="2223" y="46"/>
                </a:cubicBezTo>
              </a:path>
            </a:pathLst>
          </a:custGeom>
          <a:noFill/>
          <a:ln w="9525" cap="rnd" cmpd="sng">
            <a:solidFill>
              <a:srgbClr val="FF0000">
                <a:alpha val="100000"/>
              </a:srgbClr>
            </a:solidFill>
            <a:prstDash val="solid"/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76"/>
          <p:cNvSpPr/>
          <p:nvPr/>
        </p:nvSpPr>
        <p:spPr>
          <a:xfrm>
            <a:off x="611188" y="2781300"/>
            <a:ext cx="2184400" cy="2244725"/>
          </a:xfrm>
          <a:custGeom>
            <a:avLst/>
            <a:gdLst>
              <a:gd name="txL" fmla="*/ 0 w 1330"/>
              <a:gd name="txT" fmla="*/ 0 h 1369"/>
              <a:gd name="txR" fmla="*/ 1330 w 1330"/>
              <a:gd name="txB" fmla="*/ 1369 h 1369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330" h="1369">
                <a:moveTo>
                  <a:pt x="1330" y="0"/>
                </a:moveTo>
                <a:cubicBezTo>
                  <a:pt x="1273" y="87"/>
                  <a:pt x="1217" y="174"/>
                  <a:pt x="1058" y="227"/>
                </a:cubicBezTo>
                <a:cubicBezTo>
                  <a:pt x="899" y="280"/>
                  <a:pt x="529" y="288"/>
                  <a:pt x="378" y="318"/>
                </a:cubicBezTo>
                <a:cubicBezTo>
                  <a:pt x="227" y="348"/>
                  <a:pt x="211" y="287"/>
                  <a:pt x="151" y="408"/>
                </a:cubicBezTo>
                <a:cubicBezTo>
                  <a:pt x="91" y="529"/>
                  <a:pt x="30" y="892"/>
                  <a:pt x="15" y="1043"/>
                </a:cubicBezTo>
                <a:cubicBezTo>
                  <a:pt x="0" y="1194"/>
                  <a:pt x="15" y="1263"/>
                  <a:pt x="60" y="1316"/>
                </a:cubicBezTo>
                <a:cubicBezTo>
                  <a:pt x="105" y="1369"/>
                  <a:pt x="211" y="1353"/>
                  <a:pt x="287" y="1361"/>
                </a:cubicBezTo>
                <a:cubicBezTo>
                  <a:pt x="363" y="1369"/>
                  <a:pt x="438" y="1365"/>
                  <a:pt x="514" y="1361"/>
                </a:cubicBezTo>
              </a:path>
            </a:pathLst>
          </a:custGeom>
          <a:noFill/>
          <a:ln w="9525" cap="rnd" cmpd="sng">
            <a:solidFill>
              <a:srgbClr val="FF0000">
                <a:alpha val="100000"/>
              </a:srgbClr>
            </a:solidFill>
            <a:prstDash val="solid"/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26EE6F1-B666-534F-8C82-FF25C72BDE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RISC-V assembly code:</a:t>
            </a:r>
          </a:p>
          <a:p>
            <a:pPr lvl="1"/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blt     x25, x0, Exit            // test if  k  &lt;  0 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bge   x25, x5, Exit            // if  k  &gt;=  4,  go to Exit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slli    x7, x25, 2                 // temp reg x7  =  4  *  k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add   x7, x7, x6                 // x7  =  address of JumpTable[k]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lw    x7, 0(x7)                    // x7 gets JumpTable[k]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jalr   x1, 0(x7)                   // jump  entrance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Exit: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4" name="Rectangle 2"/>
          <p:cNvSpPr/>
          <p:nvPr/>
        </p:nvSpPr>
        <p:spPr>
          <a:xfrm>
            <a:off x="2987675" y="3933190"/>
            <a:ext cx="5928995" cy="2357755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/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L0: add    x20, x23, x24   // k  =  0  so  f  gets  i  +  j</a:t>
            </a:r>
          </a:p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jalr     x0, 0(x1)           // end of this case so go to Exit </a:t>
            </a:r>
          </a:p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L1: add    x20, x21, x22   // k  =  1  so  f  gets  g  +  h</a:t>
            </a:r>
          </a:p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jalr     x0, 0(x1)           // end of this case so go to Exit </a:t>
            </a:r>
          </a:p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L2: sub    x20, x21, x22    // k  =  2  so  f  gets  g  -  h</a:t>
            </a:r>
          </a:p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jalr     x0, 0(x1)           // end of this case so go to Exit </a:t>
            </a:r>
          </a:p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L3: sub    x20, x23, x24    // k  =  3  so  f  gets  i  -  j</a:t>
            </a:r>
          </a:p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jalr     x0, 0(x1)            //end of  switch statement</a:t>
            </a:r>
          </a:p>
        </p:txBody>
      </p:sp>
      <p:sp>
        <p:nvSpPr>
          <p:cNvPr id="49156" name="Rectangle 4"/>
          <p:cNvSpPr/>
          <p:nvPr/>
        </p:nvSpPr>
        <p:spPr>
          <a:xfrm>
            <a:off x="611505" y="4004628"/>
            <a:ext cx="2287588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800" i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jump address table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Text Box 5"/>
          <p:cNvSpPr txBox="1"/>
          <p:nvPr/>
        </p:nvSpPr>
        <p:spPr>
          <a:xfrm>
            <a:off x="899795" y="4374515"/>
            <a:ext cx="1502410" cy="169735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ct val="60000"/>
              </a:spcBef>
              <a:buClr>
                <a:schemeClr val="hlink"/>
              </a:buClr>
              <a:buSzTx/>
              <a:buFontTx/>
            </a:pPr>
            <a:r>
              <a:rPr lang="en-US" altLang="zh-CN" b="0" dirty="0">
                <a:latin typeface="Arial" panose="020B0604020202020204" pitchFamily="34" charset="0"/>
                <a:ea typeface="宋体" panose="02010600030101010101" pitchFamily="2" charset="-122"/>
              </a:rPr>
              <a:t>L0:address</a:t>
            </a:r>
          </a:p>
          <a:p>
            <a:pPr algn="ctr">
              <a:spcBef>
                <a:spcPct val="60000"/>
              </a:spcBef>
              <a:buClr>
                <a:schemeClr val="hlink"/>
              </a:buClr>
              <a:buSzTx/>
              <a:buFontTx/>
            </a:pPr>
            <a:r>
              <a:rPr lang="en-US" altLang="zh-CN" b="0" dirty="0">
                <a:latin typeface="Arial" panose="020B0604020202020204" pitchFamily="34" charset="0"/>
                <a:ea typeface="宋体" panose="02010600030101010101" pitchFamily="2" charset="-122"/>
              </a:rPr>
              <a:t>L1:address</a:t>
            </a:r>
          </a:p>
          <a:p>
            <a:pPr algn="ctr">
              <a:spcBef>
                <a:spcPct val="60000"/>
              </a:spcBef>
              <a:buClr>
                <a:schemeClr val="hlink"/>
              </a:buClr>
              <a:buSzTx/>
              <a:buFontTx/>
            </a:pPr>
            <a:r>
              <a:rPr lang="en-US" altLang="zh-CN" b="0" dirty="0">
                <a:latin typeface="Arial" panose="020B0604020202020204" pitchFamily="34" charset="0"/>
                <a:ea typeface="宋体" panose="02010600030101010101" pitchFamily="2" charset="-122"/>
              </a:rPr>
              <a:t>L2: address</a:t>
            </a:r>
          </a:p>
          <a:p>
            <a:pPr algn="ctr">
              <a:spcBef>
                <a:spcPct val="60000"/>
              </a:spcBef>
              <a:buClr>
                <a:schemeClr val="hlink"/>
              </a:buClr>
              <a:buSzTx/>
              <a:buFontTx/>
            </a:pPr>
            <a:r>
              <a:rPr lang="en-US" altLang="zh-CN" b="0" dirty="0">
                <a:latin typeface="Arial" panose="020B0604020202020204" pitchFamily="34" charset="0"/>
                <a:ea typeface="宋体" panose="02010600030101010101" pitchFamily="2" charset="-122"/>
              </a:rPr>
              <a:t>L3:address</a:t>
            </a:r>
          </a:p>
        </p:txBody>
      </p:sp>
      <p:sp>
        <p:nvSpPr>
          <p:cNvPr id="49158" name="Freeform 6"/>
          <p:cNvSpPr/>
          <p:nvPr/>
        </p:nvSpPr>
        <p:spPr>
          <a:xfrm>
            <a:off x="1014095" y="3134360"/>
            <a:ext cx="322580" cy="939165"/>
          </a:xfrm>
          <a:custGeom>
            <a:avLst/>
            <a:gdLst>
              <a:gd name="txL" fmla="*/ 0 w 726"/>
              <a:gd name="txT" fmla="*/ 0 h 590"/>
              <a:gd name="txR" fmla="*/ 726 w 726"/>
              <a:gd name="txB" fmla="*/ 590 h 59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726" h="590">
                <a:moveTo>
                  <a:pt x="726" y="46"/>
                </a:moveTo>
                <a:cubicBezTo>
                  <a:pt x="582" y="23"/>
                  <a:pt x="439" y="0"/>
                  <a:pt x="318" y="91"/>
                </a:cubicBezTo>
                <a:cubicBezTo>
                  <a:pt x="197" y="182"/>
                  <a:pt x="53" y="507"/>
                  <a:pt x="0" y="590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ysDot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160" name="Line 8"/>
          <p:cNvSpPr/>
          <p:nvPr/>
        </p:nvSpPr>
        <p:spPr>
          <a:xfrm flipV="1">
            <a:off x="2484120" y="4869180"/>
            <a:ext cx="490855" cy="15240"/>
          </a:xfrm>
          <a:prstGeom prst="line">
            <a:avLst/>
          </a:prstGeom>
          <a:ln w="76200" cap="rnd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9159" name="Freeform 7"/>
          <p:cNvSpPr/>
          <p:nvPr/>
        </p:nvSpPr>
        <p:spPr>
          <a:xfrm rot="19500000">
            <a:off x="3067685" y="3341370"/>
            <a:ext cx="319405" cy="629285"/>
          </a:xfrm>
          <a:custGeom>
            <a:avLst/>
            <a:gdLst>
              <a:gd name="txL" fmla="*/ 0 w 332"/>
              <a:gd name="txT" fmla="*/ 0 h 318"/>
              <a:gd name="txR" fmla="*/ 332 w 332"/>
              <a:gd name="txB" fmla="*/ 318 h 318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332" h="318">
                <a:moveTo>
                  <a:pt x="8" y="0"/>
                </a:moveTo>
                <a:cubicBezTo>
                  <a:pt x="163" y="23"/>
                  <a:pt x="318" y="46"/>
                  <a:pt x="325" y="91"/>
                </a:cubicBezTo>
                <a:cubicBezTo>
                  <a:pt x="332" y="136"/>
                  <a:pt x="106" y="234"/>
                  <a:pt x="53" y="272"/>
                </a:cubicBezTo>
                <a:cubicBezTo>
                  <a:pt x="0" y="310"/>
                  <a:pt x="4" y="314"/>
                  <a:pt x="8" y="318"/>
                </a:cubicBezTo>
              </a:path>
            </a:pathLst>
          </a:custGeom>
          <a:noFill/>
          <a:ln w="5715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F6C14F-C601-6A67-3AAD-BF89F4B9D9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标题 186369"/>
          <p:cNvSpPr>
            <a:spLocks noGrp="1"/>
          </p:cNvSpPr>
          <p:nvPr>
            <p:ph type="title"/>
          </p:nvPr>
        </p:nvSpPr>
        <p:spPr>
          <a:xfrm>
            <a:off x="684213" y="386080"/>
            <a:ext cx="8259762" cy="521970"/>
          </a:xfrm>
        </p:spPr>
        <p:txBody>
          <a:bodyPr anchor="b" anchorCtr="0">
            <a:spAutoFit/>
          </a:bodyPr>
          <a:lstStyle/>
          <a:p>
            <a:r>
              <a:rPr lang="en-US" altLang="zh-CN" sz="2800"/>
              <a:t>Supporting Procedures in Computer Hardware</a:t>
            </a:r>
          </a:p>
        </p:txBody>
      </p:sp>
      <p:sp>
        <p:nvSpPr>
          <p:cNvPr id="186372" name="文本框 186371"/>
          <p:cNvSpPr txBox="1"/>
          <p:nvPr/>
        </p:nvSpPr>
        <p:spPr>
          <a:xfrm rot="5400000">
            <a:off x="6204585" y="2574925"/>
            <a:ext cx="551434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2.8 Supporting Procedures in Computer Hardware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Procedure/function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  --- be used to structure programs</a:t>
            </a:r>
          </a:p>
          <a:p>
            <a:pPr lvl="1"/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A stored subroutine that performs a specific task based on the parameters with which it is provided</a:t>
            </a:r>
          </a:p>
          <a:p>
            <a:pPr lvl="1"/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easier to understand,  allow code to be reused</a:t>
            </a:r>
          </a:p>
          <a:p>
            <a:pPr lvl="1"/>
            <a:r>
              <a:rPr lang="en-US" altLang="zh-CN" sz="2400" b="1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Six steps</a:t>
            </a:r>
          </a:p>
          <a:p>
            <a:pPr lvl="2"/>
            <a:r>
              <a:rPr lang="zh-CN" altLang="en-US" sz="1800">
                <a:latin typeface="Arial" panose="020B0604020202020204" pitchFamily="34" charset="0"/>
                <a:cs typeface="Arial" panose="020B0604020202020204" pitchFamily="34" charset="0"/>
              </a:rPr>
              <a:t>Place Parameters in a place where the procedure can access them</a:t>
            </a:r>
          </a:p>
          <a:p>
            <a:pPr lvl="2"/>
            <a:r>
              <a:rPr lang="zh-CN" altLang="en-US" sz="1800">
                <a:latin typeface="Arial" panose="020B0604020202020204" pitchFamily="34" charset="0"/>
                <a:cs typeface="Arial" panose="020B0604020202020204" pitchFamily="34" charset="0"/>
              </a:rPr>
              <a:t>Transfer control to the procedure</a:t>
            </a:r>
          </a:p>
          <a:p>
            <a:pPr lvl="2"/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Acquire the storage resources needed for the procedure</a:t>
            </a:r>
          </a:p>
          <a:p>
            <a:pPr lvl="2"/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Perform the desired task</a:t>
            </a:r>
          </a:p>
          <a:p>
            <a:pPr lvl="2"/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Place the result value in a place where the calling program can access it</a:t>
            </a:r>
          </a:p>
          <a:p>
            <a:pPr lvl="2"/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Return control to the point of origin</a:t>
            </a:r>
            <a:endParaRPr lang="zh-CN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2A0C5E1-BFDD-7994-80D5-42F7EB8904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1202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Registers for procedure calling</a:t>
            </a:r>
          </a:p>
          <a:p>
            <a:pPr lvl="1"/>
            <a:r>
              <a:rPr lang="en-US" altLang="zh-CN" sz="2400" dirty="0"/>
              <a:t>x10~ x17: eight argument registers to pass parameters or return values</a:t>
            </a:r>
          </a:p>
          <a:p>
            <a:pPr lvl="1"/>
            <a:r>
              <a:rPr lang="en-US" altLang="zh-CN" sz="2400" dirty="0"/>
              <a:t>x1: one return address register to return to origin point</a:t>
            </a:r>
          </a:p>
          <a:p>
            <a:r>
              <a:rPr lang="en-US" altLang="zh-CN" sz="2800" dirty="0"/>
              <a:t>Instruction for procedures:</a:t>
            </a:r>
            <a:r>
              <a:rPr lang="en-US" altLang="zh-CN" sz="2800" b="1" dirty="0">
                <a:solidFill>
                  <a:srgbClr val="FF0000"/>
                </a:solidFill>
              </a:rPr>
              <a:t> jal</a:t>
            </a:r>
            <a:r>
              <a:rPr lang="en-US" altLang="zh-CN" sz="2800" dirty="0"/>
              <a:t> ( jump-and-link )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</a:t>
            </a:r>
            <a:r>
              <a:rPr lang="en-US" altLang="zh-CN" sz="2400" dirty="0"/>
              <a:t>Caller:  </a:t>
            </a:r>
            <a:r>
              <a:rPr lang="en-US" altLang="zh-CN" sz="2400" b="1" dirty="0">
                <a:solidFill>
                  <a:srgbClr val="FF0000"/>
                </a:solidFill>
              </a:rPr>
              <a:t>jal   x1,ProcedureAddress</a:t>
            </a:r>
          </a:p>
          <a:p>
            <a:pPr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		</a:t>
            </a:r>
            <a:r>
              <a:rPr lang="en-US" altLang="zh-CN" sz="2400" dirty="0"/>
              <a:t>Callee:</a:t>
            </a:r>
            <a:r>
              <a:rPr lang="en-US" altLang="zh-CN" sz="2400" b="1" dirty="0">
                <a:solidFill>
                  <a:srgbClr val="FF0000"/>
                </a:solidFill>
              </a:rPr>
              <a:t>  jalr  x0, 0(x1)</a:t>
            </a:r>
          </a:p>
          <a:p>
            <a:r>
              <a:rPr lang="en-US" altLang="zh-CN" sz="2800" dirty="0"/>
              <a:t>Using more registers</a:t>
            </a:r>
            <a:endParaRPr lang="en-US" altLang="zh-CN" dirty="0"/>
          </a:p>
          <a:p>
            <a:pPr lvl="1"/>
            <a:r>
              <a:rPr lang="en-US" altLang="zh-CN" sz="2400" dirty="0"/>
              <a:t>Stack: ideal data structure for spilling registers</a:t>
            </a:r>
          </a:p>
          <a:p>
            <a:pPr lvl="2"/>
            <a:r>
              <a:rPr lang="en-US" altLang="zh-CN" sz="18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Push, pop</a:t>
            </a:r>
          </a:p>
          <a:p>
            <a:pPr lvl="2"/>
            <a:r>
              <a:rPr lang="en-US" altLang="zh-CN" sz="1800" dirty="0"/>
              <a:t> Stack pointer ( x2 or sp )</a:t>
            </a:r>
          </a:p>
        </p:txBody>
      </p:sp>
      <p:sp>
        <p:nvSpPr>
          <p:cNvPr id="51203" name="AutoShape 3"/>
          <p:cNvSpPr/>
          <p:nvPr/>
        </p:nvSpPr>
        <p:spPr>
          <a:xfrm>
            <a:off x="6876415" y="3284538"/>
            <a:ext cx="1655763" cy="576262"/>
          </a:xfrm>
          <a:prstGeom prst="wedgeEllipseCallout">
            <a:avLst>
              <a:gd name="adj1" fmla="val -239645"/>
              <a:gd name="adj2" fmla="val 25426"/>
            </a:avLst>
          </a:prstGeom>
          <a:noFill/>
          <a:ln w="9525" cap="flat" cmpd="sng">
            <a:solidFill>
              <a:srgbClr val="FF0000"/>
            </a:solidFill>
            <a:prstDash val="sysDot"/>
            <a:miter/>
            <a:headEnd type="none" w="med" len="med"/>
            <a:tailEnd type="none" w="med" len="med"/>
          </a:ln>
        </p:spPr>
        <p:txBody>
          <a:bodyPr lIns="0" rIns="0"/>
          <a:lstStyle/>
          <a:p>
            <a:pPr algn="ctr"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PC+4→x1</a:t>
            </a:r>
          </a:p>
        </p:txBody>
      </p:sp>
      <p:sp>
        <p:nvSpPr>
          <p:cNvPr id="51204" name="AutoShape 4"/>
          <p:cNvSpPr/>
          <p:nvPr/>
        </p:nvSpPr>
        <p:spPr>
          <a:xfrm>
            <a:off x="7020560" y="4149090"/>
            <a:ext cx="1656080" cy="756920"/>
          </a:xfrm>
          <a:prstGeom prst="wedgeEllipseCallout">
            <a:avLst>
              <a:gd name="adj1" fmla="val 13688"/>
              <a:gd name="adj2" fmla="val -114681"/>
            </a:avLst>
          </a:prstGeom>
          <a:noFill/>
          <a:ln w="9525" cap="flat" cmpd="sng">
            <a:solidFill>
              <a:schemeClr val="tx2"/>
            </a:solidFill>
            <a:prstDash val="dash"/>
            <a:miter/>
            <a:headEnd type="none" w="med" len="med"/>
            <a:tailEnd type="none" w="med" len="med"/>
          </a:ln>
        </p:spPr>
        <p:txBody>
          <a:bodyPr lIns="0" rIns="0"/>
          <a:lstStyle/>
          <a:p>
            <a:pPr algn="ctr"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Special registers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30AC411-B691-D3BC-C75F-9D90A260A8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386080"/>
            <a:ext cx="8259762" cy="521970"/>
          </a:xfrm>
        </p:spPr>
        <p:txBody>
          <a:bodyPr/>
          <a:lstStyle/>
          <a:p>
            <a:r>
              <a:rPr lang="zh-CN" altLang="en-US" sz="2800"/>
              <a:t>Example(p106)</a:t>
            </a:r>
            <a:r>
              <a:rPr lang="en-US" altLang="zh-CN" sz="2800"/>
              <a:t>:</a:t>
            </a:r>
            <a:r>
              <a:rPr lang="zh-CN" altLang="en-US" sz="2800"/>
              <a:t>Compiling a leaf procedure</a:t>
            </a:r>
          </a:p>
        </p:txBody>
      </p:sp>
      <p:sp>
        <p:nvSpPr>
          <p:cNvPr id="52226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</a:pPr>
            <a:r>
              <a:rPr lang="en-US" altLang="zh-CN" sz="2400" dirty="0"/>
              <a:t>C code:</a:t>
            </a:r>
            <a:r>
              <a:rPr lang="en-US" altLang="zh-CN" sz="2000" dirty="0">
                <a:sym typeface="+mn-ea"/>
              </a:rPr>
              <a:t>( Assume: f ---- x20)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	int leaf_example ( int g, int h, int  i, int  j )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{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		      int f ;           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f  =  ( g  +  h )  -  ( i  +  j ) 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return   f 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}</a:t>
            </a:r>
          </a:p>
          <a:p>
            <a:pPr lvl="1">
              <a:lnSpc>
                <a:spcPct val="90000"/>
              </a:lnSpc>
              <a:buNone/>
            </a:pPr>
            <a:endParaRPr lang="en-US" altLang="zh-CN" sz="2000" dirty="0">
              <a:latin typeface="Times New Roman" panose="02020603050405020304" pitchFamily="18" charset="0"/>
            </a:endParaRPr>
          </a:p>
          <a:p>
            <a:pPr lvl="0">
              <a:lnSpc>
                <a:spcPct val="90000"/>
              </a:lnSpc>
            </a:pPr>
            <a:r>
              <a:rPr lang="en-US" altLang="zh-CN" sz="2740" dirty="0"/>
              <a:t> RISC-V assembly code: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en-US" altLang="zh-CN" sz="2000" i="1" dirty="0">
                <a:latin typeface="Times New Roman" panose="02020603050405020304" pitchFamily="18" charset="0"/>
              </a:rPr>
              <a:t>addi     sp, sp,-12</a:t>
            </a:r>
            <a:r>
              <a:rPr lang="en-US" altLang="zh-CN" sz="2000" dirty="0">
                <a:latin typeface="Times New Roman" panose="02020603050405020304" pitchFamily="18" charset="0"/>
              </a:rPr>
              <a:t>            // adjust stack to make room for 3 items     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sw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x5</a:t>
            </a:r>
            <a:r>
              <a:rPr lang="en-US" altLang="zh-CN" sz="2000" dirty="0">
                <a:latin typeface="Times New Roman" panose="02020603050405020304" pitchFamily="18" charset="0"/>
              </a:rPr>
              <a:t>, 8(sp)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sw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x6</a:t>
            </a:r>
            <a:r>
              <a:rPr lang="en-US" altLang="zh-CN" sz="2000" dirty="0">
                <a:latin typeface="Times New Roman" panose="02020603050405020304" pitchFamily="18" charset="0"/>
              </a:rPr>
              <a:t>, 4(sp)               // save temporary register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x5,x6,x20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sw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x20</a:t>
            </a:r>
            <a:r>
              <a:rPr lang="en-US" altLang="zh-CN" sz="2000" dirty="0">
                <a:latin typeface="Times New Roman" panose="02020603050405020304" pitchFamily="18" charset="0"/>
              </a:rPr>
              <a:t>, 0(sp)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sym typeface="+mn-ea"/>
              </a:rPr>
              <a:t>	            add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x5</a:t>
            </a:r>
            <a:r>
              <a:rPr lang="en-US" altLang="zh-CN" sz="2000" dirty="0">
                <a:latin typeface="Times New Roman" panose="02020603050405020304" pitchFamily="18" charset="0"/>
                <a:sym typeface="+mn-ea"/>
              </a:rPr>
              <a:t>, x10, x11          // register x5 contains   g  +  h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2000" dirty="0">
              <a:latin typeface="Times New Roman" panose="02020603050405020304" pitchFamily="18" charset="0"/>
            </a:endParaRPr>
          </a:p>
        </p:txBody>
      </p:sp>
      <p:grpSp>
        <p:nvGrpSpPr>
          <p:cNvPr id="52228" name="Group 6"/>
          <p:cNvGrpSpPr/>
          <p:nvPr/>
        </p:nvGrpSpPr>
        <p:grpSpPr>
          <a:xfrm>
            <a:off x="5868353" y="2060893"/>
            <a:ext cx="2663825" cy="2230437"/>
            <a:chOff x="4196" y="346"/>
            <a:chExt cx="1360" cy="1405"/>
          </a:xfrm>
        </p:grpSpPr>
        <p:sp>
          <p:nvSpPr>
            <p:cNvPr id="52229" name="Line 7"/>
            <p:cNvSpPr/>
            <p:nvPr/>
          </p:nvSpPr>
          <p:spPr>
            <a:xfrm>
              <a:off x="4830" y="527"/>
              <a:ext cx="0" cy="1043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0" name="Line 8"/>
            <p:cNvSpPr/>
            <p:nvPr/>
          </p:nvSpPr>
          <p:spPr>
            <a:xfrm>
              <a:off x="5556" y="527"/>
              <a:ext cx="0" cy="1043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1" name="Rectangle 9"/>
            <p:cNvSpPr/>
            <p:nvPr/>
          </p:nvSpPr>
          <p:spPr>
            <a:xfrm>
              <a:off x="4830" y="663"/>
              <a:ext cx="726" cy="18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800" b="0" dirty="0">
                  <a:latin typeface="Arial" panose="020B0604020202020204" pitchFamily="34" charset="0"/>
                  <a:ea typeface="宋体" panose="02010600030101010101" pitchFamily="2" charset="-122"/>
                </a:rPr>
                <a:t>(x5)</a:t>
              </a:r>
            </a:p>
          </p:txBody>
        </p:sp>
        <p:sp>
          <p:nvSpPr>
            <p:cNvPr id="52232" name="Rectangle 10"/>
            <p:cNvSpPr/>
            <p:nvPr/>
          </p:nvSpPr>
          <p:spPr>
            <a:xfrm>
              <a:off x="4830" y="845"/>
              <a:ext cx="726" cy="18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800" b="0" dirty="0">
                  <a:latin typeface="Arial" panose="020B0604020202020204" pitchFamily="34" charset="0"/>
                  <a:ea typeface="宋体" panose="02010600030101010101" pitchFamily="2" charset="-122"/>
                </a:rPr>
                <a:t>(x6)</a:t>
              </a:r>
            </a:p>
          </p:txBody>
        </p:sp>
        <p:sp>
          <p:nvSpPr>
            <p:cNvPr id="52233" name="Rectangle 11"/>
            <p:cNvSpPr/>
            <p:nvPr/>
          </p:nvSpPr>
          <p:spPr>
            <a:xfrm>
              <a:off x="4830" y="1026"/>
              <a:ext cx="726" cy="182"/>
            </a:xfrm>
            <a:prstGeom prst="rect">
              <a:avLst/>
            </a:prstGeom>
            <a:noFill/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800" b="0" dirty="0">
                  <a:latin typeface="Arial" panose="020B0604020202020204" pitchFamily="34" charset="0"/>
                  <a:ea typeface="宋体" panose="02010600030101010101" pitchFamily="2" charset="-122"/>
                </a:rPr>
                <a:t>(x20)</a:t>
              </a:r>
            </a:p>
          </p:txBody>
        </p:sp>
        <p:sp>
          <p:nvSpPr>
            <p:cNvPr id="52234" name="Rectangle 12"/>
            <p:cNvSpPr/>
            <p:nvPr/>
          </p:nvSpPr>
          <p:spPr>
            <a:xfrm>
              <a:off x="4196" y="1117"/>
              <a:ext cx="544" cy="1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800" dirty="0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sp(-12)</a:t>
              </a:r>
            </a:p>
          </p:txBody>
        </p:sp>
        <p:sp>
          <p:nvSpPr>
            <p:cNvPr id="52235" name="Line 13"/>
            <p:cNvSpPr/>
            <p:nvPr/>
          </p:nvSpPr>
          <p:spPr>
            <a:xfrm>
              <a:off x="4685" y="1208"/>
              <a:ext cx="136" cy="0"/>
            </a:xfrm>
            <a:prstGeom prst="line">
              <a:avLst/>
            </a:prstGeom>
            <a:ln w="9525" cap="rnd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36" name="Rectangle 14"/>
            <p:cNvSpPr/>
            <p:nvPr/>
          </p:nvSpPr>
          <p:spPr>
            <a:xfrm>
              <a:off x="4196" y="346"/>
              <a:ext cx="544" cy="1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200" dirty="0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 address</a:t>
              </a:r>
            </a:p>
          </p:txBody>
        </p:sp>
        <p:sp>
          <p:nvSpPr>
            <p:cNvPr id="52237" name="Rectangle 15"/>
            <p:cNvSpPr/>
            <p:nvPr/>
          </p:nvSpPr>
          <p:spPr>
            <a:xfrm>
              <a:off x="4233" y="1570"/>
              <a:ext cx="544" cy="1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200" dirty="0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 address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606D3F-C685-618B-3B70-8F5C4FAD52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3250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add   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x6</a:t>
            </a:r>
            <a:r>
              <a:rPr lang="en-US" altLang="zh-CN" sz="1800" dirty="0">
                <a:latin typeface="Times New Roman" panose="02020603050405020304" pitchFamily="18" charset="0"/>
              </a:rPr>
              <a:t>, x12, x13      // register x6 contains   i  +  j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sub   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x20</a:t>
            </a:r>
            <a:r>
              <a:rPr lang="en-US" altLang="zh-CN" sz="1800" dirty="0">
                <a:latin typeface="Times New Roman" panose="02020603050405020304" pitchFamily="18" charset="0"/>
              </a:rPr>
              <a:t>, x5, x6        // f  =  x5-  x6, which is ( g  +  h ) – ( i  +  j 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add    x10, x20, x0      // returns  f  (  x10  =  x20  +  0)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lw   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x20</a:t>
            </a:r>
            <a:r>
              <a:rPr lang="en-US" altLang="zh-CN" sz="1800" dirty="0">
                <a:latin typeface="Times New Roman" panose="02020603050405020304" pitchFamily="18" charset="0"/>
              </a:rPr>
              <a:t>, 0(sp)            // restore register x20,x6,x5 for caller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lw   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x6</a:t>
            </a:r>
            <a:r>
              <a:rPr lang="en-US" altLang="zh-CN" sz="1800" dirty="0">
                <a:latin typeface="Times New Roman" panose="02020603050405020304" pitchFamily="18" charset="0"/>
              </a:rPr>
              <a:t>, 4(sp)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lw   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x5</a:t>
            </a:r>
            <a:r>
              <a:rPr lang="en-US" altLang="zh-CN" sz="1800" dirty="0">
                <a:latin typeface="Times New Roman" panose="02020603050405020304" pitchFamily="18" charset="0"/>
              </a:rPr>
              <a:t>, 8(sp)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addi  sp, sp, 12           // adjust stack to delete 3 items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jalr    x0, 0(x1)           // jump back to calling routine</a:t>
            </a:r>
          </a:p>
          <a:p>
            <a:pPr>
              <a:lnSpc>
                <a:spcPct val="90000"/>
              </a:lnSpc>
              <a:buNone/>
            </a:pPr>
            <a:endParaRPr lang="en-US" altLang="zh-CN" sz="18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/>
              <a:t>But maybe some of the three are not used by the caller.So,this way might be inefficient.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Two classes of registers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sz="1800" dirty="0"/>
              <a:t> </a:t>
            </a:r>
            <a:r>
              <a:rPr lang="en-US" altLang="zh-CN" sz="2000" dirty="0"/>
              <a:t>x5-x7 and x28-x31:    7 temporary registers , not preserved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/>
              <a:t> x8-x9 and x18-x27 :   12 saved registers, must be preserved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354BC58-7F26-BBA9-D379-BD86D489B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5" name="Group 3"/>
          <p:cNvGrpSpPr/>
          <p:nvPr/>
        </p:nvGrpSpPr>
        <p:grpSpPr>
          <a:xfrm>
            <a:off x="611823" y="1628775"/>
            <a:ext cx="8178800" cy="4083050"/>
            <a:chOff x="269" y="618"/>
            <a:chExt cx="5152" cy="2572"/>
          </a:xfrm>
        </p:grpSpPr>
        <p:sp>
          <p:nvSpPr>
            <p:cNvPr id="54276" name="Freeform 4"/>
            <p:cNvSpPr/>
            <p:nvPr/>
          </p:nvSpPr>
          <p:spPr>
            <a:xfrm>
              <a:off x="2576" y="1727"/>
              <a:ext cx="1255" cy="850"/>
            </a:xfrm>
            <a:custGeom>
              <a:avLst/>
              <a:gdLst>
                <a:gd name="txL" fmla="*/ 0 w 1255"/>
                <a:gd name="txT" fmla="*/ 0 h 850"/>
                <a:gd name="txR" fmla="*/ 1255 w 1255"/>
                <a:gd name="txB" fmla="*/ 850 h 850"/>
              </a:gdLst>
              <a:ahLst/>
              <a:cxnLst>
                <a:cxn ang="0">
                  <a:pos x="1252" y="845"/>
                </a:cxn>
                <a:cxn ang="0">
                  <a:pos x="0" y="850"/>
                </a:cxn>
                <a:cxn ang="0">
                  <a:pos x="0" y="0"/>
                </a:cxn>
                <a:cxn ang="0">
                  <a:pos x="1255" y="0"/>
                </a:cxn>
                <a:cxn ang="0">
                  <a:pos x="1255" y="850"/>
                </a:cxn>
                <a:cxn ang="0">
                  <a:pos x="1255" y="850"/>
                </a:cxn>
                <a:cxn ang="0">
                  <a:pos x="1252" y="845"/>
                </a:cxn>
              </a:cxnLst>
              <a:rect l="txL" t="txT" r="txR" b="txB"/>
              <a:pathLst>
                <a:path w="1255" h="850">
                  <a:moveTo>
                    <a:pt x="1252" y="845"/>
                  </a:moveTo>
                  <a:lnTo>
                    <a:pt x="0" y="850"/>
                  </a:lnTo>
                  <a:lnTo>
                    <a:pt x="0" y="0"/>
                  </a:lnTo>
                  <a:lnTo>
                    <a:pt x="1255" y="0"/>
                  </a:lnTo>
                  <a:lnTo>
                    <a:pt x="1255" y="850"/>
                  </a:lnTo>
                  <a:lnTo>
                    <a:pt x="1252" y="845"/>
                  </a:lnTo>
                  <a:close/>
                </a:path>
              </a:pathLst>
            </a:custGeom>
            <a:solidFill>
              <a:srgbClr val="F7C594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77" name="Line 5"/>
            <p:cNvSpPr/>
            <p:nvPr/>
          </p:nvSpPr>
          <p:spPr>
            <a:xfrm>
              <a:off x="2576" y="1727"/>
              <a:ext cx="1255" cy="1"/>
            </a:xfrm>
            <a:prstGeom prst="line">
              <a:avLst/>
            </a:prstGeom>
            <a:ln w="41275" cap="flat" cmpd="sng">
              <a:solidFill>
                <a:srgbClr val="EB75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78" name="Line 6"/>
            <p:cNvSpPr/>
            <p:nvPr/>
          </p:nvSpPr>
          <p:spPr>
            <a:xfrm>
              <a:off x="2572" y="2572"/>
              <a:ext cx="1259" cy="5"/>
            </a:xfrm>
            <a:prstGeom prst="line">
              <a:avLst/>
            </a:prstGeom>
            <a:ln w="41275" cap="flat" cmpd="sng">
              <a:solidFill>
                <a:srgbClr val="EB75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79" name="Freeform 7"/>
            <p:cNvSpPr/>
            <p:nvPr/>
          </p:nvSpPr>
          <p:spPr>
            <a:xfrm>
              <a:off x="2576" y="1992"/>
              <a:ext cx="1239" cy="5"/>
            </a:xfrm>
            <a:custGeom>
              <a:avLst/>
              <a:gdLst>
                <a:gd name="txL" fmla="*/ 0 w 1239"/>
                <a:gd name="txT" fmla="*/ 0 h 5"/>
                <a:gd name="txR" fmla="*/ 1239 w 1239"/>
                <a:gd name="txB" fmla="*/ 5 h 5"/>
              </a:gdLst>
              <a:ahLst/>
              <a:cxnLst>
                <a:cxn ang="0">
                  <a:pos x="0" y="0"/>
                </a:cxn>
                <a:cxn ang="0">
                  <a:pos x="1239" y="5"/>
                </a:cxn>
                <a:cxn ang="0">
                  <a:pos x="0" y="0"/>
                </a:cxn>
              </a:cxnLst>
              <a:rect l="txL" t="txT" r="txR" b="txB"/>
              <a:pathLst>
                <a:path w="1239" h="5">
                  <a:moveTo>
                    <a:pt x="0" y="0"/>
                  </a:moveTo>
                  <a:lnTo>
                    <a:pt x="1239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0" name="Line 8"/>
            <p:cNvSpPr/>
            <p:nvPr/>
          </p:nvSpPr>
          <p:spPr>
            <a:xfrm>
              <a:off x="2576" y="1992"/>
              <a:ext cx="1239" cy="5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1" name="Line 9"/>
            <p:cNvSpPr/>
            <p:nvPr/>
          </p:nvSpPr>
          <p:spPr>
            <a:xfrm>
              <a:off x="2576" y="2284"/>
              <a:ext cx="1239" cy="1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2" name="Rectangle 10"/>
            <p:cNvSpPr/>
            <p:nvPr/>
          </p:nvSpPr>
          <p:spPr>
            <a:xfrm>
              <a:off x="3977" y="1546"/>
              <a:ext cx="136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600" b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sp</a:t>
              </a:r>
              <a:endPara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283" name="Freeform 11"/>
            <p:cNvSpPr/>
            <p:nvPr/>
          </p:nvSpPr>
          <p:spPr>
            <a:xfrm>
              <a:off x="3828" y="785"/>
              <a:ext cx="3" cy="2144"/>
            </a:xfrm>
            <a:custGeom>
              <a:avLst/>
              <a:gdLst>
                <a:gd name="txL" fmla="*/ 0 w 3"/>
                <a:gd name="txT" fmla="*/ 0 h 2144"/>
                <a:gd name="txR" fmla="*/ 3 w 3"/>
                <a:gd name="txB" fmla="*/ 2144 h 2144"/>
              </a:gdLst>
              <a:ahLst/>
              <a:cxnLst>
                <a:cxn ang="0">
                  <a:pos x="0" y="0"/>
                </a:cxn>
                <a:cxn ang="0">
                  <a:pos x="3" y="2144"/>
                </a:cxn>
                <a:cxn ang="0">
                  <a:pos x="0" y="0"/>
                </a:cxn>
              </a:cxnLst>
              <a:rect l="txL" t="txT" r="txR" b="txB"/>
              <a:pathLst>
                <a:path w="3" h="2144">
                  <a:moveTo>
                    <a:pt x="0" y="0"/>
                  </a:moveTo>
                  <a:lnTo>
                    <a:pt x="3" y="2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4" name="Line 12"/>
            <p:cNvSpPr/>
            <p:nvPr/>
          </p:nvSpPr>
          <p:spPr>
            <a:xfrm>
              <a:off x="3834" y="786"/>
              <a:ext cx="3" cy="2144"/>
            </a:xfrm>
            <a:prstGeom prst="line">
              <a:avLst/>
            </a:prstGeom>
            <a:ln w="2063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5" name="Line 13"/>
            <p:cNvSpPr/>
            <p:nvPr/>
          </p:nvSpPr>
          <p:spPr>
            <a:xfrm>
              <a:off x="5420" y="799"/>
              <a:ext cx="1" cy="2126"/>
            </a:xfrm>
            <a:prstGeom prst="line">
              <a:avLst/>
            </a:prstGeom>
            <a:ln w="2063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6" name="Line 14"/>
            <p:cNvSpPr/>
            <p:nvPr/>
          </p:nvSpPr>
          <p:spPr>
            <a:xfrm>
              <a:off x="4468" y="1752"/>
              <a:ext cx="952" cy="0"/>
            </a:xfrm>
            <a:prstGeom prst="line">
              <a:avLst/>
            </a:prstGeom>
            <a:ln w="41275" cap="flat" cmpd="sng">
              <a:solidFill>
                <a:srgbClr val="EB75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7" name="Line 15"/>
            <p:cNvSpPr/>
            <p:nvPr/>
          </p:nvSpPr>
          <p:spPr>
            <a:xfrm>
              <a:off x="1941" y="799"/>
              <a:ext cx="1" cy="2126"/>
            </a:xfrm>
            <a:prstGeom prst="line">
              <a:avLst/>
            </a:prstGeom>
            <a:ln w="2063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8" name="Line 16"/>
            <p:cNvSpPr/>
            <p:nvPr/>
          </p:nvSpPr>
          <p:spPr>
            <a:xfrm flipV="1">
              <a:off x="1020" y="1742"/>
              <a:ext cx="921" cy="10"/>
            </a:xfrm>
            <a:prstGeom prst="line">
              <a:avLst/>
            </a:prstGeom>
            <a:ln w="41275" cap="flat" cmpd="sng">
              <a:solidFill>
                <a:srgbClr val="EB75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9" name="Rectangle 17"/>
            <p:cNvSpPr/>
            <p:nvPr/>
          </p:nvSpPr>
          <p:spPr>
            <a:xfrm>
              <a:off x="1328" y="3008"/>
              <a:ext cx="85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900" b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290" name="Rectangle 18"/>
            <p:cNvSpPr/>
            <p:nvPr/>
          </p:nvSpPr>
          <p:spPr>
            <a:xfrm>
              <a:off x="1387" y="3008"/>
              <a:ext cx="42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900" b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291" name="Rectangle 19"/>
            <p:cNvSpPr/>
            <p:nvPr/>
          </p:nvSpPr>
          <p:spPr>
            <a:xfrm>
              <a:off x="3158" y="3008"/>
              <a:ext cx="85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900" b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292" name="Rectangle 20"/>
            <p:cNvSpPr/>
            <p:nvPr/>
          </p:nvSpPr>
          <p:spPr>
            <a:xfrm>
              <a:off x="3216" y="3008"/>
              <a:ext cx="42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900" b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293" name="Rectangle 21"/>
            <p:cNvSpPr/>
            <p:nvPr/>
          </p:nvSpPr>
          <p:spPr>
            <a:xfrm>
              <a:off x="4876" y="3008"/>
              <a:ext cx="7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900" b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294" name="Rectangle 22"/>
            <p:cNvSpPr/>
            <p:nvPr/>
          </p:nvSpPr>
          <p:spPr>
            <a:xfrm>
              <a:off x="4932" y="3008"/>
              <a:ext cx="42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900" b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295" name="Line 23"/>
            <p:cNvSpPr/>
            <p:nvPr/>
          </p:nvSpPr>
          <p:spPr>
            <a:xfrm>
              <a:off x="2572" y="720"/>
              <a:ext cx="1" cy="2195"/>
            </a:xfrm>
            <a:prstGeom prst="line">
              <a:avLst/>
            </a:prstGeom>
            <a:ln w="2063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6" name="Freeform 24"/>
            <p:cNvSpPr/>
            <p:nvPr/>
          </p:nvSpPr>
          <p:spPr>
            <a:xfrm>
              <a:off x="931" y="1693"/>
              <a:ext cx="55" cy="79"/>
            </a:xfrm>
            <a:custGeom>
              <a:avLst/>
              <a:gdLst>
                <a:gd name="txL" fmla="*/ 0 w 55"/>
                <a:gd name="txT" fmla="*/ 0 h 79"/>
                <a:gd name="txR" fmla="*/ 55 w 55"/>
                <a:gd name="txB" fmla="*/ 79 h 79"/>
              </a:gdLst>
              <a:ahLst/>
              <a:cxnLst>
                <a:cxn ang="0">
                  <a:pos x="0" y="0"/>
                </a:cxn>
                <a:cxn ang="0">
                  <a:pos x="0" y="79"/>
                </a:cxn>
                <a:cxn ang="0">
                  <a:pos x="55" y="42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5" h="79">
                  <a:moveTo>
                    <a:pt x="0" y="0"/>
                  </a:moveTo>
                  <a:lnTo>
                    <a:pt x="0" y="79"/>
                  </a:lnTo>
                  <a:lnTo>
                    <a:pt x="55" y="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7" name="Line 25"/>
            <p:cNvSpPr/>
            <p:nvPr/>
          </p:nvSpPr>
          <p:spPr>
            <a:xfrm flipH="1">
              <a:off x="749" y="1739"/>
              <a:ext cx="227" cy="4"/>
            </a:xfrm>
            <a:prstGeom prst="line">
              <a:avLst/>
            </a:prstGeom>
            <a:ln w="20638" cap="flat" cmpd="sng">
              <a:solidFill>
                <a:srgbClr val="EB75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8" name="Freeform 26"/>
            <p:cNvSpPr/>
            <p:nvPr/>
          </p:nvSpPr>
          <p:spPr>
            <a:xfrm>
              <a:off x="2511" y="2400"/>
              <a:ext cx="55" cy="79"/>
            </a:xfrm>
            <a:custGeom>
              <a:avLst/>
              <a:gdLst>
                <a:gd name="txL" fmla="*/ 0 w 55"/>
                <a:gd name="txT" fmla="*/ 0 h 79"/>
                <a:gd name="txR" fmla="*/ 55 w 55"/>
                <a:gd name="txB" fmla="*/ 79 h 79"/>
              </a:gdLst>
              <a:ahLst/>
              <a:cxnLst>
                <a:cxn ang="0">
                  <a:pos x="0" y="0"/>
                </a:cxn>
                <a:cxn ang="0">
                  <a:pos x="0" y="79"/>
                </a:cxn>
                <a:cxn ang="0">
                  <a:pos x="55" y="42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0"/>
                </a:cxn>
              </a:cxnLst>
              <a:rect l="txL" t="txT" r="txR" b="txB"/>
              <a:pathLst>
                <a:path w="55" h="79">
                  <a:moveTo>
                    <a:pt x="0" y="0"/>
                  </a:moveTo>
                  <a:lnTo>
                    <a:pt x="0" y="79"/>
                  </a:lnTo>
                  <a:lnTo>
                    <a:pt x="55" y="42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9" name="Line 27"/>
            <p:cNvSpPr/>
            <p:nvPr/>
          </p:nvSpPr>
          <p:spPr>
            <a:xfrm flipH="1">
              <a:off x="2263" y="2442"/>
              <a:ext cx="257" cy="1"/>
            </a:xfrm>
            <a:prstGeom prst="line">
              <a:avLst/>
            </a:prstGeom>
            <a:ln w="20638" cap="flat" cmpd="sng">
              <a:solidFill>
                <a:srgbClr val="EB75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0" name="Freeform 28"/>
            <p:cNvSpPr/>
            <p:nvPr/>
          </p:nvSpPr>
          <p:spPr>
            <a:xfrm>
              <a:off x="4391" y="1602"/>
              <a:ext cx="55" cy="79"/>
            </a:xfrm>
            <a:custGeom>
              <a:avLst/>
              <a:gdLst>
                <a:gd name="txL" fmla="*/ 0 w 55"/>
                <a:gd name="txT" fmla="*/ 0 h 79"/>
                <a:gd name="txR" fmla="*/ 55 w 55"/>
                <a:gd name="txB" fmla="*/ 79 h 79"/>
              </a:gdLst>
              <a:ahLst/>
              <a:cxnLst>
                <a:cxn ang="0">
                  <a:pos x="0" y="0"/>
                </a:cxn>
                <a:cxn ang="0">
                  <a:pos x="3" y="79"/>
                </a:cxn>
                <a:cxn ang="0">
                  <a:pos x="55" y="42"/>
                </a:cxn>
                <a:cxn ang="0">
                  <a:pos x="3" y="5"/>
                </a:cxn>
                <a:cxn ang="0">
                  <a:pos x="3" y="5"/>
                </a:cxn>
                <a:cxn ang="0">
                  <a:pos x="0" y="0"/>
                </a:cxn>
              </a:cxnLst>
              <a:rect l="txL" t="txT" r="txR" b="txB"/>
              <a:pathLst>
                <a:path w="55" h="79">
                  <a:moveTo>
                    <a:pt x="0" y="0"/>
                  </a:moveTo>
                  <a:lnTo>
                    <a:pt x="3" y="79"/>
                  </a:lnTo>
                  <a:lnTo>
                    <a:pt x="55" y="42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1" name="Line 29"/>
            <p:cNvSpPr/>
            <p:nvPr/>
          </p:nvSpPr>
          <p:spPr>
            <a:xfrm flipH="1">
              <a:off x="4173" y="1644"/>
              <a:ext cx="227" cy="1"/>
            </a:xfrm>
            <a:prstGeom prst="line">
              <a:avLst/>
            </a:prstGeom>
            <a:ln w="20638" cap="flat" cmpd="sng">
              <a:solidFill>
                <a:srgbClr val="EB75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2" name="Line 30"/>
            <p:cNvSpPr/>
            <p:nvPr/>
          </p:nvSpPr>
          <p:spPr>
            <a:xfrm>
              <a:off x="1020" y="790"/>
              <a:ext cx="1" cy="2139"/>
            </a:xfrm>
            <a:prstGeom prst="line">
              <a:avLst/>
            </a:prstGeom>
            <a:ln w="2063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3" name="Line 31"/>
            <p:cNvSpPr/>
            <p:nvPr/>
          </p:nvSpPr>
          <p:spPr>
            <a:xfrm>
              <a:off x="4452" y="785"/>
              <a:ext cx="1" cy="2144"/>
            </a:xfrm>
            <a:prstGeom prst="line">
              <a:avLst/>
            </a:prstGeom>
            <a:ln w="2063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4" name="Text Box 32"/>
            <p:cNvSpPr txBox="1"/>
            <p:nvPr/>
          </p:nvSpPr>
          <p:spPr>
            <a:xfrm>
              <a:off x="2522" y="1752"/>
              <a:ext cx="1361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Content of register  x5</a:t>
              </a:r>
            </a:p>
          </p:txBody>
        </p:sp>
        <p:sp>
          <p:nvSpPr>
            <p:cNvPr id="54305" name="Text Box 33"/>
            <p:cNvSpPr txBox="1"/>
            <p:nvPr/>
          </p:nvSpPr>
          <p:spPr>
            <a:xfrm>
              <a:off x="2522" y="2069"/>
              <a:ext cx="1361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Content of register x6</a:t>
              </a:r>
            </a:p>
          </p:txBody>
        </p:sp>
        <p:sp>
          <p:nvSpPr>
            <p:cNvPr id="54306" name="Text Box 34"/>
            <p:cNvSpPr txBox="1"/>
            <p:nvPr/>
          </p:nvSpPr>
          <p:spPr>
            <a:xfrm>
              <a:off x="2522" y="2341"/>
              <a:ext cx="1448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Content of register x20</a:t>
              </a:r>
            </a:p>
          </p:txBody>
        </p:sp>
        <p:sp>
          <p:nvSpPr>
            <p:cNvPr id="54307" name="Rectangle 35"/>
            <p:cNvSpPr/>
            <p:nvPr/>
          </p:nvSpPr>
          <p:spPr>
            <a:xfrm>
              <a:off x="2015" y="2341"/>
              <a:ext cx="136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600" b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sp</a:t>
              </a:r>
              <a:endPara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308" name="Rectangle 36"/>
            <p:cNvSpPr/>
            <p:nvPr/>
          </p:nvSpPr>
          <p:spPr>
            <a:xfrm>
              <a:off x="523" y="1603"/>
              <a:ext cx="136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600" b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sp</a:t>
              </a:r>
              <a:endPara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309" name="Rectangle 37"/>
            <p:cNvSpPr/>
            <p:nvPr/>
          </p:nvSpPr>
          <p:spPr>
            <a:xfrm>
              <a:off x="269" y="618"/>
              <a:ext cx="823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dirty="0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 address</a:t>
              </a:r>
            </a:p>
          </p:txBody>
        </p:sp>
        <p:sp>
          <p:nvSpPr>
            <p:cNvPr id="54310" name="Rectangle 38"/>
            <p:cNvSpPr/>
            <p:nvPr/>
          </p:nvSpPr>
          <p:spPr>
            <a:xfrm>
              <a:off x="269" y="2886"/>
              <a:ext cx="798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dirty="0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 address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78105"/>
            <a:ext cx="8259762" cy="829945"/>
          </a:xfrm>
        </p:spPr>
        <p:txBody>
          <a:bodyPr/>
          <a:lstStyle/>
          <a:p>
            <a:r>
              <a:rPr lang="zh-CN" altLang="en-US" sz="2400"/>
              <a:t>The values of the stack pointer and stack before, during and after procedure call in Example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AC3C2D0-03B9-721B-BEC0-449C86BF3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-45085"/>
            <a:ext cx="8259762" cy="953135"/>
          </a:xfrm>
        </p:spPr>
        <p:txBody>
          <a:bodyPr/>
          <a:lstStyle/>
          <a:p>
            <a:r>
              <a:rPr lang="zh-CN" altLang="en-US" sz="2800"/>
              <a:t>Nested Procedures</a:t>
            </a:r>
            <a:r>
              <a:rPr lang="en-US" altLang="zh-CN" sz="2800"/>
              <a:t>:</a:t>
            </a:r>
            <a:r>
              <a:rPr lang="zh-CN" altLang="en-US" sz="2800"/>
              <a:t>Compiling a recursive procedure</a:t>
            </a:r>
          </a:p>
        </p:txBody>
      </p:sp>
      <p:sp>
        <p:nvSpPr>
          <p:cNvPr id="55298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</a:pPr>
            <a:r>
              <a:rPr lang="en-US" altLang="zh-CN" sz="1800" dirty="0"/>
              <a:t>C code for n!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      int   fact ( int   n )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      {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              if ( n  &lt;  1 )   return  ( 1 ) 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              else  return   ( n  *  fact ( n  -  1 ) ) 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      } </a:t>
            </a:r>
          </a:p>
          <a:p>
            <a:pPr lvl="0">
              <a:lnSpc>
                <a:spcPct val="90000"/>
              </a:lnSpc>
            </a:pPr>
            <a:r>
              <a:rPr lang="en-US" altLang="zh-CN" sz="2055" dirty="0"/>
              <a:t>RISC-V assembly code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fact:    addi    sp, sp, -8                       // adjust stack for 2 items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sw    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x1</a:t>
            </a:r>
            <a:r>
              <a:rPr lang="en-US" altLang="zh-CN" sz="1800" dirty="0">
                <a:latin typeface="Times New Roman" panose="02020603050405020304" pitchFamily="18" charset="0"/>
              </a:rPr>
              <a:t>, 4(sp)                         // save the return address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sw    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x10</a:t>
            </a:r>
            <a:r>
              <a:rPr lang="en-US" altLang="zh-CN" sz="1800" dirty="0">
                <a:latin typeface="Times New Roman" panose="02020603050405020304" pitchFamily="18" charset="0"/>
              </a:rPr>
              <a:t>, 0(sp)                       // save the argument  n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addi   x5, x10, -1                     // x5 = n  -  1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bge    x5, x0, L1                      // if  n  &gt;=  1, go to L1(</a:t>
            </a:r>
            <a:r>
              <a:rPr lang="en-US" altLang="zh-CN" sz="1800" dirty="0">
                <a:solidFill>
                  <a:srgbClr val="FF33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		 addi    x10, x0, 1                      // return 1 if n &lt;1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addi    sp, sp, 8                         // Recover sp (Why not recover x1and x10 ?)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jalr      x0, 0(x1)                       // return to caller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  <a:sym typeface="+mn-ea"/>
              </a:rPr>
              <a:t>     L1:      addi   x10, x10, -1                    // n  &gt;=  1: argument gets ( n  -  1 )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		</a:t>
            </a:r>
            <a:r>
              <a:rPr lang="en-US" altLang="zh-CN" sz="1800" dirty="0">
                <a:latin typeface="Times New Roman" panose="02020603050405020304" pitchFamily="18" charset="0"/>
                <a:sym typeface="+mn-ea"/>
              </a:rPr>
              <a:t>jal   x1, fact                               // call fact with ( n  -  1 )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54C2DF-DED6-9A82-D068-14FF68058B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6322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		       add   x6, x10, x0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  lw    x10, 0(sp)                       // restore argument n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  lw    x1, 4(sp)                         // restore the return address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  addi   sp, sp, 8                        // adjust stack pointer to pop 2 items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  mul   x10, x10, x6                  // return  n</a:t>
            </a:r>
            <a:r>
              <a:rPr lang="en-US" altLang="zh-CN" sz="1800" baseline="-1000" dirty="0">
                <a:latin typeface="Times New Roman" panose="02020603050405020304" pitchFamily="18" charset="0"/>
              </a:rPr>
              <a:t>*</a:t>
            </a:r>
            <a:r>
              <a:rPr lang="en-US" altLang="zh-CN" sz="1800" dirty="0">
                <a:latin typeface="Times New Roman" panose="02020603050405020304" pitchFamily="18" charset="0"/>
              </a:rPr>
              <a:t>fact ( n  -  1 )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  jalr  x0,  0(x1)                        // return to the  caller</a:t>
            </a:r>
          </a:p>
          <a:p>
            <a:pPr>
              <a:lnSpc>
                <a:spcPct val="90000"/>
              </a:lnSpc>
            </a:pPr>
            <a:endParaRPr lang="en-US" altLang="zh-CN" sz="2000" dirty="0"/>
          </a:p>
          <a:p>
            <a:pPr>
              <a:lnSpc>
                <a:spcPct val="90000"/>
              </a:lnSpc>
            </a:pPr>
            <a:r>
              <a:rPr lang="en-US" altLang="zh-CN" sz="2800" dirty="0"/>
              <a:t>Why x10 is saved? Why x1 is saved?</a:t>
            </a:r>
          </a:p>
          <a:p>
            <a:pPr>
              <a:lnSpc>
                <a:spcPct val="90000"/>
              </a:lnSpc>
            </a:pPr>
            <a:r>
              <a:rPr lang="en-US" altLang="zh-CN" sz="2800" dirty="0"/>
              <a:t>Preserved things across a procedure call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Saved registers, stack pointer register( sp ),return address register( x1 ), stack above the stack pointer</a:t>
            </a:r>
          </a:p>
          <a:p>
            <a:pPr>
              <a:lnSpc>
                <a:spcPct val="90000"/>
              </a:lnSpc>
            </a:pPr>
            <a:r>
              <a:rPr lang="en-US" altLang="zh-CN" sz="2800" dirty="0"/>
              <a:t>Not preserved things across a procedure call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Temporary registers, argument registers( x10 ~ x17),return value registers ( x10 ~ x17), stack below the stack pointer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6CE3594-A24D-1733-2FE0-61E26612B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Storage class of C variables</a:t>
            </a:r>
          </a:p>
          <a:p>
            <a:pPr lvl="1"/>
            <a:r>
              <a:rPr lang="zh-CN" altLang="en-US"/>
              <a:t> automatic</a:t>
            </a:r>
          </a:p>
          <a:p>
            <a:pPr lvl="1"/>
            <a:r>
              <a:rPr lang="zh-CN" altLang="en-US"/>
              <a:t> static</a:t>
            </a:r>
          </a:p>
          <a:p>
            <a:r>
              <a:rPr lang="zh-CN" altLang="en-US"/>
              <a:t> Procedure frame and frame pointer ( x8 or fp )</a:t>
            </a:r>
          </a:p>
          <a:p>
            <a:pPr lvl="1"/>
            <a:r>
              <a:rPr lang="zh-CN" altLang="en-US"/>
              <a:t> The importance of fp</a:t>
            </a:r>
          </a:p>
          <a:p>
            <a:pPr lvl="1"/>
            <a:r>
              <a:rPr lang="zh-CN" altLang="en-US"/>
              <a:t> automatic</a:t>
            </a:r>
          </a:p>
          <a:p>
            <a:r>
              <a:rPr lang="zh-CN" altLang="en-US"/>
              <a:t> Global pointer ( x3 or gp )</a:t>
            </a:r>
          </a:p>
          <a:p>
            <a:pPr lvl="1"/>
            <a:r>
              <a:rPr lang="zh-CN" altLang="en-US"/>
              <a:t>  static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F8413E-17F8-5042-9DC9-D1A82823AD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sym typeface="+mn-ea"/>
              </a:rPr>
              <a:t>Allocating Space for New Data on the 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Stack</a:t>
            </a:r>
            <a:endParaRPr lang="zh-CN" altLang="en-US" sz="2800"/>
          </a:p>
          <a:p>
            <a:pPr lvl="1"/>
            <a:r>
              <a:rPr lang="en-US" altLang="zh-CN" sz="2400" dirty="0">
                <a:sym typeface="+mn-ea"/>
              </a:rPr>
              <a:t>Procedure frame/activation record</a:t>
            </a:r>
            <a:endParaRPr lang="en-US" altLang="zh-CN" dirty="0">
              <a:sym typeface="+mn-ea"/>
            </a:endParaRPr>
          </a:p>
          <a:p>
            <a:pPr lvl="2"/>
            <a:r>
              <a:rPr lang="en-US" altLang="zh-CN" sz="2000" dirty="0">
                <a:sym typeface="+mn-ea"/>
              </a:rPr>
              <a:t>The segment of stack containing a procedure’s saved registers and local variables</a:t>
            </a:r>
            <a:endParaRPr lang="zh-CN" altLang="en-US" sz="2000"/>
          </a:p>
          <a:p>
            <a:pPr lvl="1"/>
            <a:r>
              <a:rPr lang="en-US" altLang="zh-CN" sz="2400" dirty="0">
                <a:sym typeface="+mn-ea"/>
              </a:rPr>
              <a:t>Frame pointer</a:t>
            </a:r>
          </a:p>
          <a:p>
            <a:pPr lvl="2"/>
            <a:r>
              <a:rPr lang="en-US" altLang="zh-CN" sz="2000" dirty="0">
                <a:sym typeface="+mn-ea"/>
              </a:rPr>
              <a:t>A value denoting the location of saved register and local variables for a given procedure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</p:txBody>
      </p:sp>
      <p:grpSp>
        <p:nvGrpSpPr>
          <p:cNvPr id="58372" name="Group 4"/>
          <p:cNvGrpSpPr/>
          <p:nvPr/>
        </p:nvGrpSpPr>
        <p:grpSpPr>
          <a:xfrm>
            <a:off x="2267585" y="3994785"/>
            <a:ext cx="2016125" cy="2387600"/>
            <a:chOff x="1066" y="2251"/>
            <a:chExt cx="1270" cy="1633"/>
          </a:xfrm>
        </p:grpSpPr>
        <p:sp>
          <p:nvSpPr>
            <p:cNvPr id="58396" name="Rectangle 5"/>
            <p:cNvSpPr/>
            <p:nvPr/>
          </p:nvSpPr>
          <p:spPr>
            <a:xfrm>
              <a:off x="1429" y="2296"/>
              <a:ext cx="907" cy="363"/>
            </a:xfrm>
            <a:prstGeom prst="rect">
              <a:avLst/>
            </a:prstGeom>
            <a:solidFill>
              <a:schemeClr val="folHlink"/>
            </a:solidFill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8397" name="Text Box 6"/>
            <p:cNvSpPr txBox="1"/>
            <p:nvPr/>
          </p:nvSpPr>
          <p:spPr>
            <a:xfrm>
              <a:off x="1066" y="2251"/>
              <a:ext cx="453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fp→</a:t>
              </a:r>
            </a:p>
          </p:txBody>
        </p:sp>
        <p:sp>
          <p:nvSpPr>
            <p:cNvPr id="58398" name="Text Box 7"/>
            <p:cNvSpPr txBox="1"/>
            <p:nvPr/>
          </p:nvSpPr>
          <p:spPr>
            <a:xfrm>
              <a:off x="1066" y="2523"/>
              <a:ext cx="453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sp→</a:t>
              </a:r>
            </a:p>
          </p:txBody>
        </p:sp>
        <p:sp>
          <p:nvSpPr>
            <p:cNvPr id="58399" name="Line 8"/>
            <p:cNvSpPr/>
            <p:nvPr/>
          </p:nvSpPr>
          <p:spPr>
            <a:xfrm>
              <a:off x="1429" y="2251"/>
              <a:ext cx="0" cy="1633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0" name="Line 9"/>
            <p:cNvSpPr/>
            <p:nvPr/>
          </p:nvSpPr>
          <p:spPr>
            <a:xfrm>
              <a:off x="2336" y="2251"/>
              <a:ext cx="0" cy="1633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8373" name="Group 10"/>
          <p:cNvGrpSpPr/>
          <p:nvPr/>
        </p:nvGrpSpPr>
        <p:grpSpPr>
          <a:xfrm>
            <a:off x="6660515" y="3994785"/>
            <a:ext cx="2016125" cy="2387600"/>
            <a:chOff x="1066" y="2251"/>
            <a:chExt cx="1270" cy="1633"/>
          </a:xfrm>
        </p:grpSpPr>
        <p:sp>
          <p:nvSpPr>
            <p:cNvPr id="58391" name="Rectangle 11"/>
            <p:cNvSpPr/>
            <p:nvPr/>
          </p:nvSpPr>
          <p:spPr>
            <a:xfrm>
              <a:off x="1429" y="2296"/>
              <a:ext cx="907" cy="363"/>
            </a:xfrm>
            <a:prstGeom prst="rect">
              <a:avLst/>
            </a:prstGeom>
            <a:solidFill>
              <a:schemeClr val="folHlink"/>
            </a:solidFill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8392" name="Text Box 12"/>
            <p:cNvSpPr txBox="1"/>
            <p:nvPr/>
          </p:nvSpPr>
          <p:spPr>
            <a:xfrm>
              <a:off x="1066" y="2251"/>
              <a:ext cx="453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fp→</a:t>
              </a:r>
            </a:p>
          </p:txBody>
        </p:sp>
        <p:sp>
          <p:nvSpPr>
            <p:cNvPr id="58393" name="Text Box 13"/>
            <p:cNvSpPr txBox="1"/>
            <p:nvPr/>
          </p:nvSpPr>
          <p:spPr>
            <a:xfrm>
              <a:off x="1066" y="2523"/>
              <a:ext cx="453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sp→</a:t>
              </a:r>
            </a:p>
          </p:txBody>
        </p:sp>
        <p:sp>
          <p:nvSpPr>
            <p:cNvPr id="58394" name="Line 14"/>
            <p:cNvSpPr/>
            <p:nvPr/>
          </p:nvSpPr>
          <p:spPr>
            <a:xfrm>
              <a:off x="1429" y="2251"/>
              <a:ext cx="0" cy="1633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5" name="Line 15"/>
            <p:cNvSpPr/>
            <p:nvPr/>
          </p:nvSpPr>
          <p:spPr>
            <a:xfrm>
              <a:off x="2336" y="2251"/>
              <a:ext cx="0" cy="1633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8374" name="Text Box 16"/>
          <p:cNvSpPr txBox="1"/>
          <p:nvPr/>
        </p:nvSpPr>
        <p:spPr>
          <a:xfrm>
            <a:off x="825500" y="3861435"/>
            <a:ext cx="151320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Tx/>
              <a:buFontTx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High address</a:t>
            </a:r>
          </a:p>
        </p:txBody>
      </p:sp>
      <p:sp>
        <p:nvSpPr>
          <p:cNvPr id="58375" name="Text Box 17"/>
          <p:cNvSpPr txBox="1"/>
          <p:nvPr/>
        </p:nvSpPr>
        <p:spPr>
          <a:xfrm>
            <a:off x="827405" y="5960110"/>
            <a:ext cx="137541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Tx/>
              <a:buFontTx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Low address</a:t>
            </a:r>
          </a:p>
        </p:txBody>
      </p:sp>
      <p:grpSp>
        <p:nvGrpSpPr>
          <p:cNvPr id="58376" name="Group 18"/>
          <p:cNvGrpSpPr/>
          <p:nvPr/>
        </p:nvGrpSpPr>
        <p:grpSpPr>
          <a:xfrm>
            <a:off x="4426585" y="3994785"/>
            <a:ext cx="2162175" cy="2387600"/>
            <a:chOff x="2426" y="2115"/>
            <a:chExt cx="1362" cy="1633"/>
          </a:xfrm>
        </p:grpSpPr>
        <p:sp>
          <p:nvSpPr>
            <p:cNvPr id="58380" name="Rectangle 19"/>
            <p:cNvSpPr/>
            <p:nvPr/>
          </p:nvSpPr>
          <p:spPr>
            <a:xfrm>
              <a:off x="2789" y="2160"/>
              <a:ext cx="907" cy="363"/>
            </a:xfrm>
            <a:prstGeom prst="rect">
              <a:avLst/>
            </a:prstGeom>
            <a:solidFill>
              <a:schemeClr val="folHlink"/>
            </a:solidFill>
            <a:ln w="9525" cap="rnd" cmpd="sng">
              <a:solidFill>
                <a:srgbClr val="007A7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8381" name="Text Box 20"/>
            <p:cNvSpPr txBox="1"/>
            <p:nvPr/>
          </p:nvSpPr>
          <p:spPr>
            <a:xfrm>
              <a:off x="2453" y="2459"/>
              <a:ext cx="453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fp→</a:t>
              </a:r>
            </a:p>
          </p:txBody>
        </p:sp>
        <p:sp>
          <p:nvSpPr>
            <p:cNvPr id="58382" name="Text Box 21"/>
            <p:cNvSpPr txBox="1"/>
            <p:nvPr/>
          </p:nvSpPr>
          <p:spPr>
            <a:xfrm>
              <a:off x="2426" y="3249"/>
              <a:ext cx="453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sp→</a:t>
              </a:r>
            </a:p>
          </p:txBody>
        </p:sp>
        <p:sp>
          <p:nvSpPr>
            <p:cNvPr id="58383" name="Line 22"/>
            <p:cNvSpPr/>
            <p:nvPr/>
          </p:nvSpPr>
          <p:spPr>
            <a:xfrm>
              <a:off x="2789" y="2115"/>
              <a:ext cx="0" cy="1633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4" name="Line 23"/>
            <p:cNvSpPr/>
            <p:nvPr/>
          </p:nvSpPr>
          <p:spPr>
            <a:xfrm>
              <a:off x="3696" y="2115"/>
              <a:ext cx="0" cy="1633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5" name="Line 24"/>
            <p:cNvSpPr/>
            <p:nvPr/>
          </p:nvSpPr>
          <p:spPr>
            <a:xfrm>
              <a:off x="2789" y="2840"/>
              <a:ext cx="907" cy="0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6" name="Text Box 25"/>
            <p:cNvSpPr txBox="1"/>
            <p:nvPr/>
          </p:nvSpPr>
          <p:spPr>
            <a:xfrm>
              <a:off x="2744" y="2568"/>
              <a:ext cx="1044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Saved argument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r>
                <a:rPr lang="en-US" altLang="zh-CN" sz="800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(if any)</a:t>
              </a:r>
            </a:p>
          </p:txBody>
        </p:sp>
        <p:sp>
          <p:nvSpPr>
            <p:cNvPr id="58387" name="Line 26"/>
            <p:cNvSpPr/>
            <p:nvPr/>
          </p:nvSpPr>
          <p:spPr>
            <a:xfrm>
              <a:off x="2789" y="3067"/>
              <a:ext cx="907" cy="0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8" name="Text Box 27"/>
            <p:cNvSpPr txBox="1"/>
            <p:nvPr/>
          </p:nvSpPr>
          <p:spPr>
            <a:xfrm>
              <a:off x="2744" y="2831"/>
              <a:ext cx="1044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Saved return address</a:t>
              </a:r>
            </a:p>
          </p:txBody>
        </p:sp>
        <p:sp>
          <p:nvSpPr>
            <p:cNvPr id="58389" name="Line 28"/>
            <p:cNvSpPr/>
            <p:nvPr/>
          </p:nvSpPr>
          <p:spPr>
            <a:xfrm>
              <a:off x="2789" y="3385"/>
              <a:ext cx="907" cy="0"/>
            </a:xfrm>
            <a:prstGeom prst="line">
              <a:avLst/>
            </a:prstGeom>
            <a:ln w="9525" cap="rnd" cmpd="sng">
              <a:solidFill>
                <a:srgbClr val="007A7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0" name="Text Box 29"/>
            <p:cNvSpPr txBox="1"/>
            <p:nvPr/>
          </p:nvSpPr>
          <p:spPr>
            <a:xfrm>
              <a:off x="2725" y="3067"/>
              <a:ext cx="1044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Local arrays and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>
                  <a:schemeClr val="hlink"/>
                </a:buClr>
                <a:buSzTx/>
                <a:buFontTx/>
              </a:pPr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structures(if any)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9DB8193-C992-13D3-216F-42903E31BE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sym typeface="+mn-ea"/>
              </a:rPr>
              <a:t>Allocating Space for New Data on the 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Heap</a:t>
            </a:r>
            <a:endParaRPr lang="zh-CN" altLang="en-US" sz="28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</p:txBody>
      </p:sp>
      <p:pic>
        <p:nvPicPr>
          <p:cNvPr id="59395" name="Picture 3" descr="f03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075" y="1844675"/>
            <a:ext cx="5027930" cy="4692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1B9AAE3-BBC1-1DBD-75E1-2375C5EF1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264160"/>
            <a:ext cx="8259762" cy="643890"/>
          </a:xfrm>
        </p:spPr>
        <p:txBody>
          <a:bodyPr vert="horz" wrap="square" lIns="91430" tIns="45715" rIns="91430" bIns="45715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RISC-V register conventions</a:t>
            </a:r>
          </a:p>
        </p:txBody>
      </p:sp>
      <p:graphicFrame>
        <p:nvGraphicFramePr>
          <p:cNvPr id="60419" name="内容占位符 60418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83895" y="1196975"/>
          <a:ext cx="8203565" cy="4749800"/>
        </p:xfrm>
        <a:graphic>
          <a:graphicData uri="http://schemas.openxmlformats.org/drawingml/2006/table">
            <a:tbl>
              <a:tblPr/>
              <a:tblGrid>
                <a:gridCol w="1261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668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Name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Register</a:t>
                      </a:r>
                    </a:p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Usage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Preserved</a:t>
                      </a:r>
                    </a:p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On call?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x0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The constant value 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n.a.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x1(ra)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Return address(link register)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yes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x2(sp)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Stack pointer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yes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x3(gp)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Global pointer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yes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x4(tp)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Thread pointer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yes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x5-x7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5-7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Temporaries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x8-x9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8-9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Saved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yes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x10-x17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10-17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Arguments/results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x18-x27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18-27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Saved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yes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x28-x31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28-31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Temporaries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6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8922AA6-BEE0-38E0-6073-CC8BC836D0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2" name="文本框 186371"/>
          <p:cNvSpPr txBox="1"/>
          <p:nvPr/>
        </p:nvSpPr>
        <p:spPr>
          <a:xfrm rot="5400000">
            <a:off x="6204585" y="2574925"/>
            <a:ext cx="551434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2.9 Communication with people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communication with people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ASCII (American Standard Code for Information Interchange)</a:t>
            </a:r>
          </a:p>
          <a:p>
            <a:r>
              <a:rPr lang="zh-CN" altLang="en-US" sz="2400"/>
              <a:t>Instructions for moving bytes in RISC-V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Load byte unsigned ( lbu ):</a:t>
            </a:r>
          </a:p>
          <a:p>
            <a:pPr marL="457200" lvl="1" indent="0">
              <a:buNone/>
            </a:pP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	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lbu   x12, 0(x10)         	// read byte from source</a:t>
            </a:r>
            <a:endParaRPr lang="zh-CN" altLang="en-US" sz="1800" dirty="0">
              <a:latin typeface="Verdana" panose="020B0604030504040204" pitchFamily="34" charset="0"/>
              <a:ea typeface="宋体" panose="02010600030101010101" pitchFamily="2" charset="-122"/>
              <a:sym typeface="+mn-ea"/>
            </a:endParaRPr>
          </a:p>
          <a:p>
            <a:pPr lvl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Store byte ( sb ):</a:t>
            </a:r>
          </a:p>
          <a:p>
            <a:pPr marL="457200" lvl="1" indent="0"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sb   x12, 0(x10)                  // write byte to destination</a:t>
            </a:r>
            <a:endParaRPr lang="zh-CN" altLang="en-US"/>
          </a:p>
          <a:p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Three choices for representing a string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Place the length of the string in the first position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An accompanying variable has the length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A character in the  last position to mark the end of a string</a:t>
            </a:r>
            <a:endParaRPr lang="en-US" altLang="zh-CN" sz="200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  <a:sym typeface="+mn-ea"/>
            </a:endParaRPr>
          </a:p>
          <a:p>
            <a:r>
              <a:rPr lang="zh-CN" altLang="en-US" sz="2400"/>
              <a:t>C uses the third choice</a:t>
            </a:r>
          </a:p>
          <a:p>
            <a:pPr lvl="1"/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Terminate a string with a byte whose value is 0 ( null in ASCII )</a:t>
            </a:r>
            <a:endParaRPr lang="zh-CN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2133B6-73DF-56C0-CA26-04FDAE70C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386080"/>
            <a:ext cx="8259762" cy="521970"/>
          </a:xfrm>
        </p:spPr>
        <p:txBody>
          <a:bodyPr/>
          <a:lstStyle/>
          <a:p>
            <a:r>
              <a:rPr lang="zh-CN" altLang="en-US" sz="280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2800">
                <a:latin typeface="Arial" panose="020B0604020202020204" pitchFamily="34" charset="0"/>
                <a:cs typeface="Arial" panose="020B0604020202020204" pitchFamily="34" charset="0"/>
              </a:rPr>
              <a:t>Compiling a string copy procedure</a:t>
            </a:r>
          </a:p>
        </p:txBody>
      </p:sp>
      <p:sp>
        <p:nvSpPr>
          <p:cNvPr id="62466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80000"/>
              </a:lnSpc>
            </a:pPr>
            <a:r>
              <a:rPr lang="zh-CN" altLang="en-US" dirty="0"/>
              <a:t> </a:t>
            </a:r>
            <a:r>
              <a:rPr lang="en-US" altLang="zh-CN" dirty="0"/>
              <a:t>C code:y→x</a:t>
            </a:r>
            <a:r>
              <a:rPr lang="en-US" altLang="zh-CN" dirty="0">
                <a:sym typeface="+mn-ea"/>
              </a:rPr>
              <a:t>( Assume: i  ---- x19 )</a:t>
            </a:r>
            <a:endParaRPr lang="en-US" altLang="zh-CN" dirty="0"/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void    strcpy ( char    x[  ] ,    char    y[  ] )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{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size_t    i ;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i  =  0 ;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while ( ( x[ i ]  =  y[ i ] )  != ‘\ 0’ )       /* copy and test byte  */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i  +=  1 ;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} </a:t>
            </a:r>
          </a:p>
          <a:p>
            <a:pPr lvl="0">
              <a:lnSpc>
                <a:spcPct val="80000"/>
              </a:lnSpc>
            </a:pPr>
            <a:r>
              <a:rPr lang="en-US" altLang="zh-CN" dirty="0"/>
              <a:t> RISC-V assembly code: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strcpy:   addi   sp, sp, -4              		// adjust stack for 1 more item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sw     x19, 0(sp)                        	// save x19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add    x19, x0, x0                     	// i  =  0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L1:        add   x5, x19, x11                   	// address of y[ i ] in x5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lbu   x6, 0(x5)                         	// x6  =  y [ i ]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add   x7, x19, x10                    	// address of x[ i ] in x7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sb    x6, 0(x7)                          	// x[ i ]  =  y[ i ]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EC0D726-F66C-3AFA-0738-959E7D87F7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3490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</a:rPr>
              <a:t>                                </a:t>
            </a:r>
            <a:r>
              <a:rPr lang="en-US" altLang="zh-CN" sz="1800" dirty="0">
                <a:latin typeface="Times New Roman" panose="02020603050405020304" pitchFamily="18" charset="0"/>
              </a:rPr>
              <a:t>beq     x6, x0,  L2</a:t>
            </a:r>
            <a:r>
              <a:rPr lang="zh-CN" altLang="en-US" sz="1800" dirty="0">
                <a:latin typeface="Times New Roman" panose="02020603050405020304" pitchFamily="18" charset="0"/>
              </a:rPr>
              <a:t>                  </a:t>
            </a:r>
            <a:r>
              <a:rPr lang="en-US" altLang="zh-CN" sz="1800" dirty="0">
                <a:latin typeface="Times New Roman" panose="02020603050405020304" pitchFamily="18" charset="0"/>
              </a:rPr>
              <a:t>// if  y[ i ]  ==  0, go to L2 </a:t>
            </a: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			addi    x19, x19, 1                 //  i  =  i  +  1</a:t>
            </a: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            jal    x0,  L1                         // go to L1 </a:t>
            </a: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 L2:     lw      x19, 0(sp)                    // restore x19</a:t>
            </a: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            addi     sp, sp, 4                    // pop 1 word off stack</a:t>
            </a: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              jalr    x0,  0(x1)                    // return</a:t>
            </a:r>
          </a:p>
          <a:p>
            <a:pPr lvl="0"/>
            <a:r>
              <a:rPr lang="en-US" altLang="zh-CN" dirty="0"/>
              <a:t>Optimization for example</a:t>
            </a:r>
          </a:p>
          <a:p>
            <a:pPr lvl="1"/>
            <a:r>
              <a:rPr lang="en-US" altLang="zh-CN" dirty="0"/>
              <a:t> strcpy is a leaf procedure</a:t>
            </a:r>
          </a:p>
          <a:p>
            <a:pPr lvl="1"/>
            <a:r>
              <a:rPr lang="en-US" altLang="zh-CN" dirty="0"/>
              <a:t> Allocate  i  to a temporary register x28</a:t>
            </a:r>
          </a:p>
          <a:p>
            <a:r>
              <a:rPr lang="en-US" altLang="zh-CN" dirty="0"/>
              <a:t>For a leaf procedure</a:t>
            </a:r>
          </a:p>
          <a:p>
            <a:pPr lvl="1"/>
            <a:r>
              <a:rPr lang="en-US" altLang="zh-CN" dirty="0"/>
              <a:t> The compiler exhausts all temporary registers </a:t>
            </a:r>
          </a:p>
          <a:p>
            <a:pPr lvl="1"/>
            <a:r>
              <a:rPr lang="en-US" altLang="zh-CN" dirty="0"/>
              <a:t> Then use the registers it must save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A344E58-66FE-AC2F-8D0D-959B2E754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40" name="文本框 219139"/>
          <p:cNvSpPr txBox="1"/>
          <p:nvPr/>
        </p:nvSpPr>
        <p:spPr>
          <a:xfrm rot="5400000">
            <a:off x="5743575" y="3048635"/>
            <a:ext cx="6464935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2.10 RISC-V Addressing for Wide Immediate and Addresses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Wide Immediate addressing</a:t>
            </a:r>
          </a:p>
          <a:p>
            <a:pPr lvl="1"/>
            <a:r>
              <a:rPr lang="zh-CN" altLang="en-US" sz="2400"/>
              <a:t>most constants is short and fit into 12-bit field, sometimes they are bigger.</a:t>
            </a:r>
            <a:endParaRPr lang="zh-CN" altLang="en-US"/>
          </a:p>
          <a:p>
            <a:pPr lvl="1"/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Set upper 20 bits of a constants in a register with </a:t>
            </a:r>
            <a:r>
              <a:rPr lang="en-US" altLang="zh-CN" sz="2400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load upper immediate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(</a:t>
            </a:r>
            <a:r>
              <a:rPr lang="en-US" altLang="zh-CN" sz="240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lui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), it uses a new instruction format (U-type)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sym typeface="+mn-ea"/>
              </a:rPr>
              <a:t> 		</a:t>
            </a:r>
            <a:r>
              <a:rPr lang="en-US" altLang="zh-CN" sz="2400" u="sng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|       </a:t>
            </a:r>
            <a:r>
              <a:rPr lang="en-US" altLang="zh-CN" sz="2400" u="sng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imm</a:t>
            </a:r>
            <a:r>
              <a:rPr lang="en-US" altLang="zh-CN" sz="2400" u="sng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[31:12]     |    rd     |    </a:t>
            </a:r>
            <a:r>
              <a:rPr lang="en-US" altLang="zh-CN" sz="2400" u="sng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opcode</a:t>
            </a:r>
            <a:r>
              <a:rPr lang="en-US" altLang="zh-CN" sz="2400" u="sng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     |</a:t>
            </a:r>
            <a:endParaRPr kumimoji="0" lang="en-US" altLang="zh-CN" sz="2400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Arial Unicode MS" pitchFamily="34" charset="-122"/>
              <a:cs typeface="Arial" panose="020B0604020202020204" pitchFamily="34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                       20bits              5 bits       7 bits</a:t>
            </a:r>
          </a:p>
          <a:p>
            <a:pPr lvl="1"/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Loading a 32-bit Constant ( x19 = 0x12345678)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lui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x19 , 0x12345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addi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x19, x19, 0x678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sym typeface="+mn-ea"/>
              </a:rPr>
              <a:t>Note:Why</a:t>
            </a:r>
            <a:r>
              <a:rPr lang="en-US" altLang="zh-CN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sym typeface="+mn-ea"/>
              </a:rPr>
              <a:t> does it need two steps?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-45085"/>
            <a:ext cx="8259762" cy="953135"/>
          </a:xfrm>
        </p:spPr>
        <p:txBody>
          <a:bodyPr/>
          <a:lstStyle/>
          <a:p>
            <a:r>
              <a:rPr lang="zh-CN" altLang="en-US" sz="2800"/>
              <a:t>RISC-V Addressing for Wide Immediate and Addresses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16EB7-0CB6-ABA8-B6EB-73D2BF6AD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40" name="文本框 219139"/>
          <p:cNvSpPr txBox="1"/>
          <p:nvPr/>
        </p:nvSpPr>
        <p:spPr>
          <a:xfrm rot="5400000">
            <a:off x="5743575" y="3048635"/>
            <a:ext cx="6464935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2.10 RISC-V Addressing for Wide Immediate and Addresses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Addressing in branches</a:t>
            </a:r>
          </a:p>
          <a:p>
            <a:pPr lvl="1"/>
            <a:r>
              <a:rPr lang="zh-CN" altLang="en-US" sz="2400"/>
              <a:t>SB-type: bne  x10,  x11,  2000</a:t>
            </a:r>
          </a:p>
          <a:p>
            <a:pPr lvl="1"/>
            <a:endParaRPr lang="zh-CN" altLang="en-US" sz="2400"/>
          </a:p>
          <a:p>
            <a:pPr lvl="1"/>
            <a:endParaRPr lang="zh-CN" altLang="en-US" sz="2400"/>
          </a:p>
          <a:p>
            <a:pPr marL="914400" lvl="2" indent="0">
              <a:buNone/>
            </a:pPr>
            <a:endParaRPr lang="zh-CN" altLang="en-US" sz="2055"/>
          </a:p>
          <a:p>
            <a:pPr lvl="1"/>
            <a:r>
              <a:rPr lang="en-US" altLang="zh-CN" sz="240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UJ-type:jal  x0, 2000</a:t>
            </a:r>
          </a:p>
          <a:p>
            <a:pPr lvl="1"/>
            <a:endParaRPr lang="en-US" altLang="zh-CN" sz="240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en-US" altLang="zh-CN" sz="240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457200" lvl="1" indent="0">
              <a:buNone/>
            </a:pPr>
            <a:endParaRPr lang="en-US" altLang="zh-CN" sz="240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PC-relative addressing : PC = PC + Branch offset</a:t>
            </a: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 altLang="zh-CN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76910" y="2275205"/>
          <a:ext cx="8019415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0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2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2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42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400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111110</a:t>
                      </a:r>
                      <a:endParaRPr lang="zh-CN" alt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01011</a:t>
                      </a:r>
                      <a:endParaRPr lang="zh-CN" alt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01010</a:t>
                      </a:r>
                      <a:endParaRPr lang="zh-CN" alt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endParaRPr lang="zh-CN" alt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CN" alt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1100111</a:t>
                      </a:r>
                      <a:endParaRPr lang="zh-CN" alt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imm</a:t>
                      </a:r>
                      <a:r>
                        <a:rPr lang="en-US" altLang="zh-CN" sz="1400" dirty="0"/>
                        <a:t>[12]</a:t>
                      </a:r>
                      <a:endParaRPr lang="zh-CN" altLang="en-US" sz="1400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imm[10:5</a:t>
                      </a:r>
                      <a:r>
                        <a:rPr lang="en-US" altLang="zh-CN" sz="1400" dirty="0"/>
                        <a:t>]</a:t>
                      </a:r>
                      <a:endParaRPr lang="zh-CN" altLang="en-US" sz="1400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rs2</a:t>
                      </a:r>
                      <a:endParaRPr lang="zh-CN" altLang="en-US" sz="1400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funct3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imm[4:1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[11]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opcode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83895" y="3933190"/>
          <a:ext cx="8012430" cy="742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5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1111101000</a:t>
                      </a:r>
                      <a:endParaRPr lang="zh-CN" alt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00000000</a:t>
                      </a:r>
                      <a:endParaRPr lang="zh-CN" alt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  <a:endParaRPr lang="zh-CN" alt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1101111</a:t>
                      </a:r>
                      <a:endParaRPr lang="zh-CN" alt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imm</a:t>
                      </a:r>
                      <a:r>
                        <a:rPr lang="en-US" altLang="zh-CN" sz="1400" dirty="0"/>
                        <a:t>[20]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[10:1]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[11]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[19:12]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opcode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D346F4-EE9A-67CD-C4A2-44EBB03B8A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-45085"/>
            <a:ext cx="8259762" cy="953135"/>
          </a:xfrm>
        </p:spPr>
        <p:txBody>
          <a:bodyPr/>
          <a:lstStyle/>
          <a:p>
            <a:r>
              <a:rPr lang="zh-CN" altLang="en-US" sz="2800"/>
              <a:t>Example (p123)</a:t>
            </a:r>
            <a:r>
              <a:rPr lang="en-US" altLang="zh-CN" sz="2800"/>
              <a:t>:</a:t>
            </a:r>
            <a:r>
              <a:rPr lang="zh-CN" altLang="en-US" sz="2800"/>
              <a:t>Show branch offset in machine language</a:t>
            </a:r>
          </a:p>
        </p:txBody>
      </p:sp>
      <p:sp>
        <p:nvSpPr>
          <p:cNvPr id="66562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dirty="0"/>
              <a:t>C language (p100):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sz="2000" dirty="0"/>
              <a:t>while (save[i]==k)  i=i+1;</a:t>
            </a:r>
            <a:endParaRPr lang="en-US" altLang="zh-CN" dirty="0"/>
          </a:p>
          <a:p>
            <a:pPr lvl="0"/>
            <a:r>
              <a:rPr lang="en-US" altLang="zh-CN" dirty="0"/>
              <a:t>RISC-V assembler code :</a:t>
            </a:r>
          </a:p>
          <a:p>
            <a:pPr marL="0" lvl="0" indent="0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Loop:  slli  x10, x22, 2          	// temp reg x10  =  4  *  i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add  x10, x10, x25     	// x10  =  address of save[i]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lw  x9, 0(x10)            	// temp reg x9  =  save[i]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bne  x9, x24, Exit        	// go to Exit  if  save[i]  !=  k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addi  x22, x22, 1           	//  i  =   i  +  1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beq   x0,  x0,  Loop      	// go to Loop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Exit: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A6B99C-2041-7998-72A9-FF6EEC658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7586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lvl="0"/>
            <a:r>
              <a:rPr lang="zh-CN" altLang="en-US" dirty="0"/>
              <a:t> </a:t>
            </a:r>
            <a:r>
              <a:rPr lang="en-US" altLang="zh-CN" dirty="0"/>
              <a:t>Assembled instructions and their addresses:</a:t>
            </a: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80000    </a:t>
            </a:r>
            <a:r>
              <a:rPr lang="en-US" altLang="zh-CN" sz="1800" u="sng" dirty="0">
                <a:latin typeface="Times New Roman" panose="02020603050405020304" pitchFamily="18" charset="0"/>
              </a:rPr>
              <a:t>|        0      |     2       |     22     |     1       |      10    |       19     |</a:t>
            </a: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80004    </a:t>
            </a:r>
            <a:r>
              <a:rPr lang="en-US" altLang="zh-CN" sz="1800" u="sng" dirty="0">
                <a:latin typeface="Times New Roman" panose="02020603050405020304" pitchFamily="18" charset="0"/>
              </a:rPr>
              <a:t>|        0      |      25    |     10     |     0       |       10   |       51     |</a:t>
            </a: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80008    </a:t>
            </a:r>
            <a:r>
              <a:rPr lang="en-US" altLang="zh-CN" sz="1800" u="sng" dirty="0">
                <a:latin typeface="Times New Roman" panose="02020603050405020304" pitchFamily="18" charset="0"/>
              </a:rPr>
              <a:t>|        0      |      0      |     10     |     3       |       9     |       3       |</a:t>
            </a: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80012    </a:t>
            </a:r>
            <a:r>
              <a:rPr lang="en-US" altLang="zh-CN" sz="1800" u="sng" dirty="0">
                <a:latin typeface="Times New Roman" panose="02020603050405020304" pitchFamily="18" charset="0"/>
              </a:rPr>
              <a:t>|        0      |      24    |     9       |     1       |       12   |       103   |</a:t>
            </a: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	          80016    </a:t>
            </a:r>
            <a:r>
              <a:rPr lang="en-US" altLang="zh-CN" sz="1800" u="sng" dirty="0">
                <a:latin typeface="Times New Roman" panose="02020603050405020304" pitchFamily="18" charset="0"/>
              </a:rPr>
              <a:t>|        0      |      1      |     22     |     0       |       22   |       19     |</a:t>
            </a: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	          80020    </a:t>
            </a:r>
            <a:r>
              <a:rPr lang="en-US" altLang="zh-CN" sz="1800" u="sng" dirty="0">
                <a:latin typeface="Times New Roman" panose="02020603050405020304" pitchFamily="18" charset="0"/>
              </a:rPr>
              <a:t>|     127     |      0      |     0       |     0       |       13   |       99     |</a:t>
            </a: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</a:t>
            </a:r>
            <a:r>
              <a:rPr lang="en-US" altLang="zh-CN" sz="1800" b="1" dirty="0">
                <a:latin typeface="Times New Roman" panose="02020603050405020304" pitchFamily="18" charset="0"/>
              </a:rPr>
              <a:t>80024</a:t>
            </a:r>
            <a:r>
              <a:rPr lang="en-US" altLang="zh-CN" sz="1800" dirty="0">
                <a:latin typeface="Times New Roman" panose="02020603050405020304" pitchFamily="18" charset="0"/>
              </a:rPr>
              <a:t>          </a:t>
            </a:r>
            <a:r>
              <a:rPr lang="en-US" altLang="zh-CN" sz="1800" b="1" dirty="0">
                <a:latin typeface="Times New Roman" panose="02020603050405020304" pitchFamily="18" charset="0"/>
              </a:rPr>
              <a:t>. . . 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</a:t>
            </a:r>
          </a:p>
          <a:p>
            <a:pPr lvl="0"/>
            <a:r>
              <a:rPr lang="en-US" altLang="zh-CN" dirty="0"/>
              <a:t> Modification: </a:t>
            </a:r>
          </a:p>
          <a:p>
            <a:pPr lvl="1"/>
            <a:r>
              <a:rPr lang="en-US" altLang="zh-CN" sz="2100" dirty="0"/>
              <a:t> All RISC-V instructions are 4 bytes long</a:t>
            </a:r>
          </a:p>
          <a:p>
            <a:pPr lvl="1"/>
            <a:r>
              <a:rPr lang="en-US" altLang="zh-CN" sz="2100" dirty="0"/>
              <a:t> PC-relative addressing refers to the number of halfwords</a:t>
            </a:r>
          </a:p>
        </p:txBody>
      </p:sp>
      <p:sp>
        <p:nvSpPr>
          <p:cNvPr id="67587" name="Text Box 3"/>
          <p:cNvSpPr txBox="1"/>
          <p:nvPr/>
        </p:nvSpPr>
        <p:spPr>
          <a:xfrm>
            <a:off x="972185" y="2204720"/>
            <a:ext cx="647700" cy="1937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buClr>
                <a:schemeClr val="hlink"/>
              </a:buClr>
              <a:buSzTx/>
              <a:buFontTx/>
            </a:pPr>
            <a:r>
              <a:rPr lang="en-US" altLang="zh-CN" sz="160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slli</a:t>
            </a:r>
          </a:p>
          <a:p>
            <a:pPr>
              <a:spcBef>
                <a:spcPct val="30000"/>
              </a:spcBef>
              <a:buClr>
                <a:schemeClr val="hlink"/>
              </a:buClr>
              <a:buSzTx/>
              <a:buFontTx/>
            </a:pPr>
            <a:r>
              <a:rPr lang="en-US" altLang="zh-CN" sz="160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</a:t>
            </a:r>
          </a:p>
          <a:p>
            <a:pPr>
              <a:spcBef>
                <a:spcPct val="30000"/>
              </a:spcBef>
              <a:buClr>
                <a:schemeClr val="hlink"/>
              </a:buClr>
              <a:buSzTx/>
              <a:buFontTx/>
            </a:pPr>
            <a:r>
              <a:rPr lang="en-US" altLang="zh-CN" sz="160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lw</a:t>
            </a:r>
          </a:p>
          <a:p>
            <a:pPr>
              <a:spcBef>
                <a:spcPct val="30000"/>
              </a:spcBef>
              <a:buClr>
                <a:schemeClr val="hlink"/>
              </a:buClr>
              <a:buSzTx/>
              <a:buFontTx/>
            </a:pPr>
            <a:r>
              <a:rPr lang="en-US" altLang="zh-CN" sz="160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bne</a:t>
            </a:r>
          </a:p>
          <a:p>
            <a:pPr>
              <a:spcBef>
                <a:spcPct val="30000"/>
              </a:spcBef>
              <a:buClr>
                <a:schemeClr val="hlink"/>
              </a:buClr>
              <a:buSzTx/>
              <a:buFontTx/>
            </a:pPr>
            <a:r>
              <a:rPr lang="en-US" altLang="zh-CN" sz="160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addi</a:t>
            </a:r>
          </a:p>
          <a:p>
            <a:pPr>
              <a:spcBef>
                <a:spcPct val="30000"/>
              </a:spcBef>
              <a:buClr>
                <a:schemeClr val="hlink"/>
              </a:buClr>
              <a:buSzTx/>
              <a:buFontTx/>
            </a:pPr>
            <a:r>
              <a:rPr lang="en-US" altLang="zh-CN" sz="160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beq</a:t>
            </a:r>
          </a:p>
        </p:txBody>
      </p:sp>
      <p:sp>
        <p:nvSpPr>
          <p:cNvPr id="67588" name="AutoShape 4"/>
          <p:cNvSpPr/>
          <p:nvPr/>
        </p:nvSpPr>
        <p:spPr>
          <a:xfrm>
            <a:off x="3203893" y="4364990"/>
            <a:ext cx="5473700" cy="647700"/>
          </a:xfrm>
          <a:prstGeom prst="wedgeEllipseCallout">
            <a:avLst>
              <a:gd name="adj1" fmla="val 5145"/>
              <a:gd name="adj2" fmla="val -208137"/>
            </a:avLst>
          </a:prstGeom>
          <a:noFill/>
          <a:ln w="9525" cap="rnd" cmpd="sng">
            <a:solidFill>
              <a:srgbClr val="007A77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PC+offset=80012+6*2=80024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79DECC-6AC7-F9C0-6261-55944694E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8610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dirty="0">
                <a:solidFill>
                  <a:schemeClr val="tx1"/>
                </a:solidFill>
              </a:rPr>
              <a:t>While  branch target is far away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Inserts an unconditional jump to target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Invert the condition so that the branch decides whether to skip the jump</a:t>
            </a:r>
          </a:p>
          <a:p>
            <a:r>
              <a:rPr lang="en-US" altLang="zh-CN" dirty="0"/>
              <a:t> Example: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Branching far away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en-US" altLang="zh-CN" sz="2400" dirty="0"/>
              <a:t>Given a branch: </a:t>
            </a:r>
            <a:r>
              <a:rPr lang="en-US" altLang="zh-CN" dirty="0"/>
              <a:t> </a:t>
            </a:r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beq   x10, x0, L1</a:t>
            </a:r>
          </a:p>
          <a:p>
            <a:pPr lvl="1"/>
            <a:r>
              <a:rPr lang="en-US" altLang="zh-CN" sz="2400" dirty="0"/>
              <a:t>Rewrite it to offer a much greater branching distance:</a:t>
            </a:r>
            <a:endParaRPr lang="en-US" altLang="zh-CN" dirty="0"/>
          </a:p>
          <a:p>
            <a:pPr lvl="2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bne    x10, x0, L2</a:t>
            </a:r>
          </a:p>
          <a:p>
            <a:pPr lvl="2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jal     x0,   L1</a:t>
            </a:r>
          </a:p>
          <a:p>
            <a:pPr lvl="2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L2:</a:t>
            </a:r>
            <a:endParaRPr lang="en-US" altLang="zh-CN" sz="1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227DFEB-2B97-57E3-882D-00F4964CE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9634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RISC-V addressing mode summary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Immediate addressing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 x5,x6,4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 addressing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x5,x6,x7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 addressing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lw x5,100(x6)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PC-relative addressing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beq x5,x6,L1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EBD6BC-CE1A-E8E2-6B01-38D55A52A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324485"/>
            <a:ext cx="8259762" cy="583565"/>
          </a:xfrm>
        </p:spPr>
        <p:txBody>
          <a:bodyPr/>
          <a:lstStyle/>
          <a:p>
            <a:r>
              <a:rPr lang="zh-CN" altLang="en-US" sz="3200"/>
              <a:t>Example (p127)</a:t>
            </a:r>
            <a:r>
              <a:rPr lang="en-US" altLang="zh-CN" sz="3200"/>
              <a:t>:</a:t>
            </a:r>
            <a:r>
              <a:rPr lang="zh-CN" altLang="en-US" sz="3200"/>
              <a:t>Decoding machine code</a:t>
            </a:r>
          </a:p>
        </p:txBody>
      </p:sp>
      <p:sp>
        <p:nvSpPr>
          <p:cNvPr id="70658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dirty="0"/>
              <a:t>Machine instruction (0x00578833)</a:t>
            </a:r>
          </a:p>
          <a:p>
            <a:pPr lvl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		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0000 0000 0101 0111 1000 1000 0011 0011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0"/>
            <a:r>
              <a:rPr lang="en-US" altLang="zh-CN" dirty="0"/>
              <a:t> Decoding</a:t>
            </a:r>
          </a:p>
          <a:p>
            <a:pPr lvl="1"/>
            <a:r>
              <a:rPr lang="en-US" altLang="zh-CN" sz="2400" dirty="0"/>
              <a:t>Determine the operation from opcode</a:t>
            </a:r>
            <a:endParaRPr lang="en-US" altLang="zh-CN" sz="2100" dirty="0"/>
          </a:p>
          <a:p>
            <a:pPr lvl="2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opcode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0110011       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R-type arithmetic instruction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</a:t>
            </a:r>
            <a:r>
              <a:rPr lang="en-US" altLang="zh-CN" sz="2000" u="sng" dirty="0">
                <a:latin typeface="Arial" panose="020B0604020202020204" pitchFamily="34" charset="0"/>
                <a:cs typeface="Arial" panose="020B0604020202020204" pitchFamily="34" charset="0"/>
              </a:rPr>
              <a:t>|       funct7     |     rs2     |     rs1    |    funct3     |   rd     |    opcode     |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0000000       00101      01111         000        10000     0110011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funct7 and funct3 are all 0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instruction</a:t>
            </a:r>
          </a:p>
          <a:p>
            <a:pPr lvl="1"/>
            <a:r>
              <a:rPr lang="en-US" altLang="zh-CN" sz="2400" dirty="0"/>
              <a:t>Determine other fields</a:t>
            </a:r>
          </a:p>
          <a:p>
            <a:pPr lvl="2"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rs2: x5;     rs1: x15;      rd: x16   			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lvl="1"/>
            <a:r>
              <a:rPr lang="en-US" altLang="zh-CN" sz="2400" dirty="0"/>
              <a:t>Show the assembly instruction</a:t>
            </a:r>
          </a:p>
          <a:p>
            <a:pPr lvl="2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add  x16, x15, x5   </a:t>
            </a:r>
            <a:r>
              <a:rPr lang="en-US" altLang="zh-CN" sz="1800" dirty="0"/>
              <a:t>(Note: add rd,rs1,rs2)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E1BEBAE-33ED-736B-2F16-29E95B1F98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5165" y="1125855"/>
          <a:ext cx="8270875" cy="513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4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Format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Instruction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Opcode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Funct3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Funct6/7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rowSpan="10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R-type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add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0110011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0000000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sub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0110011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0100000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sll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0110011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0000000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xor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0110011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0000000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srl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0110011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0000000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6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sra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0110011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0000000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0110011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0000000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and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0110011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0000000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79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lr.w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0110011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0001000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sc.w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0110011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0001100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324485"/>
            <a:ext cx="8259762" cy="583565"/>
          </a:xfrm>
        </p:spPr>
        <p:txBody>
          <a:bodyPr/>
          <a:lstStyle/>
          <a:p>
            <a:r>
              <a:rPr lang="zh-CN" altLang="en-US" sz="3200"/>
              <a:t>Summary of RISC-V instruction encoding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451616C-C851-E9AB-EA16-2F765615D9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7705" y="1125855"/>
          <a:ext cx="82677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3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3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3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3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Opcode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Funct3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Funct6/7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 rowSpan="15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I-type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n.a</a:t>
                      </a:r>
                      <a:r>
                        <a:rPr lang="en-US" altLang="zh-CN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lh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n.a</a:t>
                      </a:r>
                      <a:r>
                        <a:rPr lang="en-US" altLang="zh-CN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lw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n.a</a:t>
                      </a:r>
                      <a:r>
                        <a:rPr lang="en-US" altLang="zh-CN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n.a</a:t>
                      </a:r>
                      <a:r>
                        <a:rPr lang="en-US" altLang="zh-CN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lbu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n.a</a:t>
                      </a:r>
                      <a:r>
                        <a:rPr lang="en-US" altLang="zh-CN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lhu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n.a</a:t>
                      </a:r>
                      <a:r>
                        <a:rPr lang="en-US" altLang="zh-CN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lwu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n.a</a:t>
                      </a:r>
                      <a:r>
                        <a:rPr lang="en-US" altLang="zh-CN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addi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0010011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n.a</a:t>
                      </a:r>
                      <a:r>
                        <a:rPr lang="en-US" altLang="zh-CN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slli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0010011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xori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0010011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n.a</a:t>
                      </a:r>
                      <a:r>
                        <a:rPr lang="en-US" altLang="zh-CN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srli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0010011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srai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0010011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010000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0010011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n.a</a:t>
                      </a:r>
                      <a:r>
                        <a:rPr lang="en-US" altLang="zh-CN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andi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0010011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n.a</a:t>
                      </a:r>
                      <a:r>
                        <a:rPr lang="en-US" altLang="zh-CN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jalr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1100111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n.a</a:t>
                      </a:r>
                      <a:r>
                        <a:rPr lang="en-US" altLang="zh-CN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20C57D-2D1E-B2E3-B787-331E3269F4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84530" y="1125855"/>
          <a:ext cx="8270875" cy="510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Opcode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Funct3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Funct6/7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/>
                        <a:t>S-type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sb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0100011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0100011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sw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0100011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0100011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80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SB-type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beq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1100111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bne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1100111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7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blt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1100111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3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bge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1100111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bltu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1100111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7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bgeu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1100111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U-type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lui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0110111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UJ-type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jal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1101111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n.a</a:t>
                      </a:r>
                      <a:r>
                        <a:rPr lang="en-US" altLang="zh-CN" sz="18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5EF4D7-336C-9330-C586-215919FE2D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Grp="1" noRot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sz="2400" dirty="0">
                <a:solidFill>
                  <a:srgbClr val="000000"/>
                </a:solidFill>
              </a:rPr>
              <a:t>cause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</a:rPr>
              <a:t>multiprocessors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</a:rPr>
              <a:t>task preemption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</a:rPr>
              <a:t>interrupt</a:t>
            </a:r>
          </a:p>
          <a:p>
            <a:r>
              <a:rPr lang="en-US" altLang="zh-CN" sz="2400" dirty="0">
                <a:solidFill>
                  <a:srgbClr val="000000"/>
                </a:solidFill>
              </a:rPr>
              <a:t>result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</a:rPr>
              <a:t>data race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</a:rPr>
              <a:t>resources race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</a:rPr>
              <a:t>Critical region</a:t>
            </a:r>
          </a:p>
          <a:p>
            <a:r>
              <a:rPr lang="en-US" altLang="zh-CN" sz="2400" dirty="0">
                <a:solidFill>
                  <a:srgbClr val="000000"/>
                </a:solidFill>
              </a:rPr>
              <a:t>solution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</a:rPr>
              <a:t>synchronization</a:t>
            </a:r>
          </a:p>
          <a:p>
            <a:pPr lvl="2"/>
            <a:r>
              <a:rPr lang="en-US" altLang="zh-CN" sz="1800" dirty="0">
                <a:solidFill>
                  <a:srgbClr val="000000"/>
                </a:solidFill>
              </a:rPr>
              <a:t>mutual exclusion</a:t>
            </a:r>
            <a:r>
              <a:rPr lang="zh-CN" altLang="en-US" sz="1800" dirty="0">
                <a:solidFill>
                  <a:srgbClr val="000000"/>
                </a:solidFill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</a:rPr>
              <a:t>semaphore …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</a:rPr>
              <a:t>hardware level</a:t>
            </a:r>
          </a:p>
          <a:p>
            <a:pPr lvl="2"/>
            <a:r>
              <a:rPr lang="en-US" altLang="zh-CN" sz="1800" dirty="0">
                <a:solidFill>
                  <a:srgbClr val="000000"/>
                </a:solidFill>
              </a:rPr>
              <a:t>atomic exchange or atomic swap (instructions in RISC-V: lr.w and sc.w)</a:t>
            </a:r>
          </a:p>
          <a:p>
            <a:pPr lvl="2">
              <a:buNone/>
            </a:pPr>
            <a:endParaRPr lang="en-US" altLang="zh-CN" sz="1800" dirty="0">
              <a:solidFill>
                <a:srgbClr val="000000"/>
              </a:solidFill>
            </a:endParaRPr>
          </a:p>
        </p:txBody>
      </p:sp>
      <p:sp>
        <p:nvSpPr>
          <p:cNvPr id="219140" name="文本框 219139"/>
          <p:cNvSpPr txBox="1"/>
          <p:nvPr/>
        </p:nvSpPr>
        <p:spPr>
          <a:xfrm rot="5400000">
            <a:off x="6214110" y="2562225"/>
            <a:ext cx="5492115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2.11 Parallelism and Instructions: Synchronization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386080"/>
            <a:ext cx="8259762" cy="521970"/>
          </a:xfrm>
        </p:spPr>
        <p:txBody>
          <a:bodyPr/>
          <a:lstStyle/>
          <a:p>
            <a:r>
              <a:rPr lang="zh-CN" altLang="en-US" sz="2800"/>
              <a:t>Parallelism and Instructions: Synchronization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33DD971-DFFA-4D4D-9328-1883C4C21C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a pair of instructions</a:t>
            </a:r>
          </a:p>
          <a:p>
            <a:pPr lvl="1"/>
            <a:r>
              <a:rPr lang="zh-CN" altLang="en-US" sz="2400" b="1">
                <a:solidFill>
                  <a:srgbClr val="FF0000"/>
                </a:solidFill>
              </a:rPr>
              <a:t>lr.w</a:t>
            </a:r>
            <a:r>
              <a:rPr lang="zh-CN" altLang="en-US" sz="2400"/>
              <a:t>: load-reserved word</a:t>
            </a:r>
          </a:p>
          <a:p>
            <a:pPr lvl="1"/>
            <a:r>
              <a:rPr lang="zh-CN" altLang="en-US" sz="2400" b="1">
                <a:solidFill>
                  <a:srgbClr val="FF0000"/>
                </a:solidFill>
              </a:rPr>
              <a:t>sc.w</a:t>
            </a:r>
            <a:r>
              <a:rPr lang="zh-CN" altLang="en-US" sz="2400"/>
              <a:t>: store-conditional word. If the contents of the memory location specified by lr.w are changed before the sc.w to the same address occurs, then the store-conditional fails and does not write the value to memory.</a:t>
            </a:r>
          </a:p>
          <a:p>
            <a:pPr lvl="0"/>
            <a:r>
              <a:rPr lang="zh-CN" altLang="en-US" sz="2800"/>
              <a:t>Example</a:t>
            </a:r>
            <a:r>
              <a:rPr lang="en-US" altLang="zh-CN" sz="2800"/>
              <a:t>:</a:t>
            </a:r>
            <a:r>
              <a:rPr lang="zh-CN" altLang="en-US" sz="2800"/>
              <a:t>implements an atomic exchange</a:t>
            </a:r>
          </a:p>
          <a:p>
            <a:pPr marL="457200" lvl="1" indent="0">
              <a:buNone/>
            </a:pPr>
            <a:r>
              <a:rPr lang="zh-CN" altLang="en-US" sz="2000"/>
              <a:t>again:  lr.w  x10, (x20)                  	// load reserved</a:t>
            </a:r>
          </a:p>
          <a:p>
            <a:pPr marL="457200" lvl="1" indent="0">
              <a:buNone/>
            </a:pPr>
            <a:r>
              <a:rPr lang="zh-CN" altLang="en-US" sz="2000"/>
              <a:t>            sc.w  x11,  x23 , (x20)	// store conditional</a:t>
            </a:r>
          </a:p>
          <a:p>
            <a:pPr marL="457200" lvl="1" indent="0">
              <a:buNone/>
            </a:pPr>
            <a:r>
              <a:rPr lang="zh-CN" altLang="en-US" sz="2000"/>
              <a:t>            bne  x11,  x0, again		// branch if store fails</a:t>
            </a:r>
          </a:p>
          <a:p>
            <a:pPr marL="457200" lvl="1" indent="0">
              <a:buNone/>
            </a:pPr>
            <a:r>
              <a:rPr lang="zh-CN" altLang="en-US" sz="2000"/>
              <a:t>            addi  x23, x10, 0		// put loaded value in x23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43F501-0901-E9FC-EF79-034F771E9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40" name="文本框 219139"/>
          <p:cNvSpPr txBox="1"/>
          <p:nvPr/>
        </p:nvSpPr>
        <p:spPr>
          <a:xfrm rot="5400000">
            <a:off x="6737985" y="2038350"/>
            <a:ext cx="4444365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2.12 Translating and Starting a Program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4213" y="262890"/>
            <a:ext cx="8259762" cy="645160"/>
          </a:xfrm>
        </p:spPr>
        <p:txBody>
          <a:bodyPr/>
          <a:lstStyle/>
          <a:p>
            <a:r>
              <a:rPr lang="zh-CN" altLang="en-US" sz="3600"/>
              <a:t>Translating and Starting a Program</a:t>
            </a:r>
          </a:p>
        </p:txBody>
      </p:sp>
      <p:pic>
        <p:nvPicPr>
          <p:cNvPr id="4" name="Picture 5" descr="f032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1595" y="1196975"/>
            <a:ext cx="6335395" cy="510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443A6D-4CD6-C0EF-B100-19C2257D85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sz="2000" b="1" dirty="0"/>
              <a:t>Compiling</a:t>
            </a:r>
          </a:p>
          <a:p>
            <a:pPr lvl="1"/>
            <a:r>
              <a:rPr lang="en-US" altLang="zh-CN" sz="1800" dirty="0"/>
              <a:t> C program  </a:t>
            </a:r>
            <a:r>
              <a:rPr lang="en-US" altLang="zh-CN" sz="1800" dirty="0">
                <a:sym typeface="Wingdings" panose="05000000000000000000" pitchFamily="2" charset="2"/>
              </a:rPr>
              <a:t>  assembly language program</a:t>
            </a:r>
            <a:endParaRPr lang="en-US" altLang="zh-CN" sz="1800" dirty="0"/>
          </a:p>
          <a:p>
            <a:r>
              <a:rPr lang="en-US" altLang="zh-CN" sz="2000" b="1" dirty="0"/>
              <a:t>Assembling</a:t>
            </a:r>
          </a:p>
          <a:p>
            <a:pPr lvl="1"/>
            <a:r>
              <a:rPr lang="en-US" altLang="zh-CN" sz="1800" dirty="0"/>
              <a:t>Assembly language program </a:t>
            </a:r>
            <a:r>
              <a:rPr lang="en-US" altLang="zh-CN" sz="1800" dirty="0">
                <a:sym typeface="Wingdings" panose="05000000000000000000" pitchFamily="2" charset="2"/>
              </a:rPr>
              <a:t>  machine language module</a:t>
            </a:r>
          </a:p>
          <a:p>
            <a:pPr lvl="1"/>
            <a:r>
              <a:rPr lang="en-US" altLang="zh-CN" sz="1800" dirty="0">
                <a:solidFill>
                  <a:srgbClr val="FF0000"/>
                </a:solidFill>
              </a:rPr>
              <a:t>pseudoinstructions</a:t>
            </a:r>
          </a:p>
          <a:p>
            <a:pPr marL="457200" lvl="1" indent="0"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	</a:t>
            </a:r>
            <a:r>
              <a:rPr lang="en-US" altLang="zh-CN" sz="1600" dirty="0">
                <a:solidFill>
                  <a:srgbClr val="FF0000"/>
                </a:solidFill>
                <a:cs typeface="+mn-ea"/>
              </a:rPr>
              <a:t>li x9, 123 			// load immediate value 123 into register x9</a:t>
            </a:r>
          </a:p>
          <a:p>
            <a:pPr marL="457200" lvl="1" indent="0">
              <a:buNone/>
            </a:pPr>
            <a:r>
              <a:rPr lang="en-US" altLang="zh-CN" sz="1600" dirty="0">
                <a:solidFill>
                  <a:srgbClr val="FF0000"/>
                </a:solidFill>
                <a:cs typeface="+mn-ea"/>
              </a:rPr>
              <a:t>	</a:t>
            </a:r>
            <a:r>
              <a:rPr lang="en-US" altLang="zh-CN" sz="1600" dirty="0">
                <a:cs typeface="+mn-ea"/>
              </a:rPr>
              <a:t>addi x9, x0, 123</a:t>
            </a:r>
          </a:p>
          <a:p>
            <a:pPr lvl="2"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mv x10,x11		// register x10 gets register x11</a:t>
            </a:r>
          </a:p>
          <a:p>
            <a:pPr lvl="2">
              <a:buNone/>
            </a:pPr>
            <a:r>
              <a:rPr lang="en-US" altLang="zh-CN" sz="1600" dirty="0"/>
              <a:t>add  x10, x11, x0 	</a:t>
            </a:r>
          </a:p>
          <a:p>
            <a:pPr lvl="1"/>
            <a:r>
              <a:rPr lang="en-US" altLang="zh-CN" sz="1800" dirty="0">
                <a:solidFill>
                  <a:srgbClr val="FF0000"/>
                </a:solidFill>
              </a:rPr>
              <a:t>Symbol table</a:t>
            </a:r>
          </a:p>
          <a:p>
            <a:pPr lvl="2"/>
            <a:r>
              <a:rPr lang="en-US" altLang="zh-CN" sz="1800" dirty="0"/>
              <a:t>A table that matches name of lables to the addresses of the memory words that instructions occupy.</a:t>
            </a:r>
          </a:p>
          <a:p>
            <a:pPr lvl="1"/>
            <a:r>
              <a:rPr lang="en-US" altLang="zh-CN" sz="1800" dirty="0"/>
              <a:t>Object file of UNIX (six distinct pieces)</a:t>
            </a:r>
          </a:p>
          <a:p>
            <a:pPr lvl="2"/>
            <a:r>
              <a:rPr lang="en-US" altLang="zh-CN" sz="1800" dirty="0"/>
              <a:t>object file header—</a:t>
            </a:r>
            <a:r>
              <a:rPr lang="en-US" altLang="zh-CN" sz="1800" dirty="0">
                <a:solidFill>
                  <a:srgbClr val="FF0000"/>
                </a:solidFill>
              </a:rPr>
              <a:t>size </a:t>
            </a:r>
            <a:r>
              <a:rPr lang="en-US" altLang="zh-CN" sz="1800" dirty="0"/>
              <a:t>and </a:t>
            </a:r>
            <a:r>
              <a:rPr lang="en-US" altLang="zh-CN" sz="1800" dirty="0">
                <a:solidFill>
                  <a:srgbClr val="FF0000"/>
                </a:solidFill>
              </a:rPr>
              <a:t>position</a:t>
            </a:r>
            <a:r>
              <a:rPr lang="en-US" altLang="zh-CN" sz="1800" dirty="0"/>
              <a:t> of the other pieces</a:t>
            </a:r>
          </a:p>
          <a:p>
            <a:pPr lvl="2"/>
            <a:r>
              <a:rPr lang="en-US" altLang="zh-CN" sz="1800" dirty="0">
                <a:solidFill>
                  <a:srgbClr val="FF0000"/>
                </a:solidFill>
              </a:rPr>
              <a:t>Text</a:t>
            </a:r>
            <a:r>
              <a:rPr lang="en-US" altLang="zh-CN" sz="1800" dirty="0"/>
              <a:t> segment </a:t>
            </a:r>
          </a:p>
          <a:p>
            <a:pPr lvl="2"/>
            <a:r>
              <a:rPr lang="en-US" altLang="zh-CN" sz="1800" dirty="0">
                <a:solidFill>
                  <a:srgbClr val="FF0000"/>
                </a:solidFill>
              </a:rPr>
              <a:t>static data segment</a:t>
            </a:r>
            <a:r>
              <a:rPr lang="en-US" altLang="zh-CN" sz="1800" dirty="0"/>
              <a:t> and </a:t>
            </a:r>
            <a:r>
              <a:rPr lang="en-US" altLang="zh-CN" sz="1800" dirty="0">
                <a:solidFill>
                  <a:srgbClr val="FF0066"/>
                </a:solidFill>
              </a:rPr>
              <a:t>dynamic data</a:t>
            </a:r>
          </a:p>
        </p:txBody>
      </p:sp>
      <p:sp>
        <p:nvSpPr>
          <p:cNvPr id="77827" name="AutoShape 3"/>
          <p:cNvSpPr/>
          <p:nvPr/>
        </p:nvSpPr>
        <p:spPr>
          <a:xfrm>
            <a:off x="6443980" y="1124585"/>
            <a:ext cx="2233295" cy="885190"/>
          </a:xfrm>
          <a:prstGeom prst="cloudCallout">
            <a:avLst>
              <a:gd name="adj1" fmla="val -40474"/>
              <a:gd name="adj2" fmla="val 72094"/>
            </a:avLst>
          </a:prstGeom>
          <a:noFill/>
          <a:ln w="9525" cap="rnd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sz="2400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object file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324485"/>
            <a:ext cx="8259762" cy="583565"/>
          </a:xfrm>
        </p:spPr>
        <p:txBody>
          <a:bodyPr/>
          <a:lstStyle/>
          <a:p>
            <a:r>
              <a:rPr lang="zh-CN" altLang="en-US" sz="3200"/>
              <a:t>Start a C program in a file on disk to run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C86465D-F0F3-672C-D685-003029788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8850" name="Rectangle 2"/>
          <p:cNvSpPr>
            <a:spLocks noGrp="1"/>
          </p:cNvSpPr>
          <p:nvPr>
            <p:ph sz="half" idx="1"/>
          </p:nvPr>
        </p:nvSpPr>
        <p:spPr>
          <a:xfrm>
            <a:off x="684530" y="1125855"/>
            <a:ext cx="2653665" cy="5111750"/>
          </a:xfrm>
        </p:spPr>
        <p:txBody>
          <a:bodyPr vert="horz" wrap="square" lIns="91430" tIns="45715" rIns="91430" bIns="45715" anchor="t" anchorCtr="0"/>
          <a:lstStyle/>
          <a:p>
            <a:pPr lvl="0"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The relocation information: </a:t>
            </a:r>
            <a:r>
              <a:rPr lang="en-US" altLang="zh-CN" sz="1750" dirty="0"/>
              <a:t>identifies absolute addresses of instruction and data words when the program is loaded into memory</a:t>
            </a:r>
            <a:endParaRPr lang="en-US" altLang="zh-CN" sz="2100" dirty="0"/>
          </a:p>
          <a:p>
            <a:pPr lvl="0"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symbol table</a:t>
            </a:r>
          </a:p>
          <a:p>
            <a:pPr lvl="0"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debugging</a:t>
            </a:r>
            <a:br>
              <a:rPr lang="en-US" altLang="zh-CN" sz="2000" dirty="0">
                <a:solidFill>
                  <a:schemeClr val="tx1"/>
                </a:solidFill>
              </a:rPr>
            </a:br>
            <a:r>
              <a:rPr lang="en-US" altLang="zh-CN" sz="2000" dirty="0">
                <a:solidFill>
                  <a:schemeClr val="tx1"/>
                </a:solidFill>
              </a:rPr>
              <a:t>information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half" idx="2"/>
            <p:custDataLst>
              <p:tags r:id="rId1"/>
            </p:custDataLst>
          </p:nvPr>
        </p:nvGraphicFramePr>
        <p:xfrm>
          <a:off x="3435350" y="1125855"/>
          <a:ext cx="5519420" cy="5111115"/>
        </p:xfrm>
        <a:graphic>
          <a:graphicData uri="http://schemas.openxmlformats.org/drawingml/2006/table">
            <a:tbl>
              <a:tblPr/>
              <a:tblGrid>
                <a:gridCol w="1415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6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34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Object file header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b="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b="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70">
                <a:tc row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b="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Procedure A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Text size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100</a:t>
                      </a:r>
                      <a:r>
                        <a:rPr lang="en-US" altLang="zh-CN" sz="1200" baseline="-250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hex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Data size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20</a:t>
                      </a:r>
                      <a:r>
                        <a:rPr lang="en-US" altLang="zh-CN" sz="1200" baseline="-250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hex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0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Text segment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Address 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instruction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340">
                <a:tc row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b="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solidFill>
                            <a:srgbClr val="FF0066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lw x10, 0(gp)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0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jal  x1, 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……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--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05"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Data segment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(X)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……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……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05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Relocation information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Address 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Instruction type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Dependency 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7340"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b="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lw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solidFill>
                            <a:srgbClr val="FF0066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0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jal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70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b="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Symbol table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label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Address 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6705"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b="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solidFill>
                            <a:srgbClr val="FF0066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--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67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200" dirty="0">
                          <a:latin typeface="Verdana" panose="020B0604030504040204" pitchFamily="34" charset="0"/>
                          <a:ea typeface="楷体_GB2312" pitchFamily="49" charset="-122"/>
                        </a:rPr>
                        <a:t>--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itchFamily="34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Clr>
                          <a:schemeClr val="bg2"/>
                        </a:buClr>
                        <a:buSzPct val="75000"/>
                        <a:buNone/>
                      </a:pPr>
                      <a:endParaRPr lang="zh-CN" altLang="en-US" sz="1200" dirty="0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F46EDED-3393-2E94-2236-018463022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9874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sz="2800" b="1" dirty="0"/>
              <a:t>Linking</a:t>
            </a:r>
          </a:p>
          <a:p>
            <a:pPr lvl="1"/>
            <a:r>
              <a:rPr lang="en-US" altLang="zh-CN" sz="2000" dirty="0"/>
              <a:t>Object modules(including library routine) </a:t>
            </a:r>
            <a:r>
              <a:rPr lang="en-US" altLang="zh-CN" sz="2000" dirty="0">
                <a:sym typeface="Wingdings" panose="05000000000000000000" pitchFamily="2" charset="2"/>
              </a:rPr>
              <a:t>  </a:t>
            </a:r>
            <a:r>
              <a:rPr lang="en-US" altLang="zh-CN" sz="2000" b="1" dirty="0">
                <a:solidFill>
                  <a:srgbClr val="FF0066"/>
                </a:solidFill>
                <a:sym typeface="Wingdings" panose="05000000000000000000" pitchFamily="2" charset="2"/>
              </a:rPr>
              <a:t>executable program</a:t>
            </a:r>
          </a:p>
          <a:p>
            <a:pPr lvl="1"/>
            <a:r>
              <a:rPr lang="en-US" altLang="zh-CN" sz="2000" dirty="0"/>
              <a:t>3 step of Link</a:t>
            </a:r>
          </a:p>
          <a:p>
            <a:pPr lvl="2"/>
            <a:r>
              <a:rPr lang="en-US" altLang="zh-CN" sz="1600" dirty="0"/>
              <a:t> </a:t>
            </a:r>
            <a:r>
              <a:rPr lang="en-US" altLang="zh-CN" sz="1800" dirty="0"/>
              <a:t>Place code and data modules symbolically in memory</a:t>
            </a:r>
          </a:p>
          <a:p>
            <a:pPr lvl="2"/>
            <a:r>
              <a:rPr lang="en-US" altLang="zh-CN" sz="1800" dirty="0"/>
              <a:t> Determine the addresses of data and instruction labels</a:t>
            </a:r>
          </a:p>
          <a:p>
            <a:pPr lvl="2"/>
            <a:r>
              <a:rPr lang="en-US" altLang="zh-CN" sz="1800" dirty="0"/>
              <a:t> Patch</a:t>
            </a:r>
            <a:r>
              <a:rPr lang="en-US" altLang="zh-CN" sz="1600" dirty="0"/>
              <a:t> </a:t>
            </a:r>
            <a:r>
              <a:rPr lang="en-US" altLang="zh-CN" sz="1800" dirty="0"/>
              <a:t>both the internal and external references (</a:t>
            </a:r>
            <a:r>
              <a:rPr lang="en-US" altLang="zh-CN" sz="1800" b="1" dirty="0">
                <a:solidFill>
                  <a:srgbClr val="FF0066"/>
                </a:solidFill>
              </a:rPr>
              <a:t>Address of invoke</a:t>
            </a:r>
            <a:r>
              <a:rPr lang="en-US" altLang="zh-CN" sz="1800" dirty="0"/>
              <a:t>)</a:t>
            </a:r>
          </a:p>
        </p:txBody>
      </p:sp>
      <p:sp>
        <p:nvSpPr>
          <p:cNvPr id="79875" name="Freeform 3"/>
          <p:cNvSpPr/>
          <p:nvPr/>
        </p:nvSpPr>
        <p:spPr>
          <a:xfrm>
            <a:off x="4694238" y="5619750"/>
            <a:ext cx="2465387" cy="1588"/>
          </a:xfrm>
          <a:custGeom>
            <a:avLst/>
            <a:gdLst>
              <a:gd name="txL" fmla="*/ 0 w 1553"/>
              <a:gd name="txT" fmla="*/ 0 h 1588"/>
              <a:gd name="txR" fmla="*/ 1553 w 1553"/>
              <a:gd name="txB" fmla="*/ 1588 h 1588"/>
            </a:gdLst>
            <a:ahLst/>
            <a:cxnLst>
              <a:cxn ang="0">
                <a:pos x="0" y="0"/>
              </a:cxn>
              <a:cxn ang="0">
                <a:pos x="2147483647" y="0"/>
              </a:cxn>
              <a:cxn ang="0">
                <a:pos x="0" y="0"/>
              </a:cxn>
            </a:cxnLst>
            <a:rect l="txL" t="txT" r="txR" b="txB"/>
            <a:pathLst>
              <a:path w="1553" h="1588">
                <a:moveTo>
                  <a:pt x="0" y="0"/>
                </a:moveTo>
                <a:lnTo>
                  <a:pt x="15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9876" name="Group 4"/>
          <p:cNvGrpSpPr/>
          <p:nvPr/>
        </p:nvGrpSpPr>
        <p:grpSpPr>
          <a:xfrm>
            <a:off x="3364865" y="3717290"/>
            <a:ext cx="5124450" cy="2472394"/>
            <a:chOff x="2101" y="2255"/>
            <a:chExt cx="3228" cy="2099"/>
          </a:xfrm>
        </p:grpSpPr>
        <p:grpSp>
          <p:nvGrpSpPr>
            <p:cNvPr id="79878" name="Group 5"/>
            <p:cNvGrpSpPr/>
            <p:nvPr/>
          </p:nvGrpSpPr>
          <p:grpSpPr>
            <a:xfrm>
              <a:off x="2101" y="2255"/>
              <a:ext cx="3228" cy="2099"/>
              <a:chOff x="1292" y="2069"/>
              <a:chExt cx="3228" cy="2099"/>
            </a:xfrm>
          </p:grpSpPr>
          <p:sp>
            <p:nvSpPr>
              <p:cNvPr id="79881" name="Freeform 6"/>
              <p:cNvSpPr/>
              <p:nvPr/>
            </p:nvSpPr>
            <p:spPr>
              <a:xfrm>
                <a:off x="2971" y="2109"/>
                <a:ext cx="1549" cy="1865"/>
              </a:xfrm>
              <a:custGeom>
                <a:avLst/>
                <a:gdLst>
                  <a:gd name="txL" fmla="*/ 0 w 1549"/>
                  <a:gd name="txT" fmla="*/ 0 h 1870"/>
                  <a:gd name="txR" fmla="*/ 1549 w 1549"/>
                  <a:gd name="txB" fmla="*/ 1870 h 1870"/>
                </a:gdLst>
                <a:ahLst/>
                <a:cxnLst>
                  <a:cxn ang="0">
                    <a:pos x="1549" y="1773"/>
                  </a:cxn>
                  <a:cxn ang="0">
                    <a:pos x="1549" y="0"/>
                  </a:cxn>
                  <a:cxn ang="0">
                    <a:pos x="0" y="0"/>
                  </a:cxn>
                  <a:cxn ang="0">
                    <a:pos x="0" y="1775"/>
                  </a:cxn>
                  <a:cxn ang="0">
                    <a:pos x="1549" y="1775"/>
                  </a:cxn>
                  <a:cxn ang="0">
                    <a:pos x="1549" y="1775"/>
                  </a:cxn>
                  <a:cxn ang="0">
                    <a:pos x="1549" y="1773"/>
                  </a:cxn>
                </a:cxnLst>
                <a:rect l="txL" t="txT" r="txR" b="txB"/>
                <a:pathLst>
                  <a:path w="1549" h="1870">
                    <a:moveTo>
                      <a:pt x="1549" y="1868"/>
                    </a:moveTo>
                    <a:lnTo>
                      <a:pt x="1549" y="0"/>
                    </a:lnTo>
                    <a:lnTo>
                      <a:pt x="0" y="0"/>
                    </a:lnTo>
                    <a:lnTo>
                      <a:pt x="0" y="1870"/>
                    </a:lnTo>
                    <a:lnTo>
                      <a:pt x="1549" y="1870"/>
                    </a:lnTo>
                    <a:lnTo>
                      <a:pt x="1549" y="1868"/>
                    </a:lnTo>
                    <a:close/>
                  </a:path>
                </a:pathLst>
              </a:custGeom>
              <a:solidFill>
                <a:srgbClr val="F7C594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2" name="Freeform 7"/>
              <p:cNvSpPr/>
              <p:nvPr/>
            </p:nvSpPr>
            <p:spPr>
              <a:xfrm>
                <a:off x="2971" y="2109"/>
                <a:ext cx="1549" cy="1870"/>
              </a:xfrm>
              <a:custGeom>
                <a:avLst/>
                <a:gdLst>
                  <a:gd name="txL" fmla="*/ 0 w 1549"/>
                  <a:gd name="txT" fmla="*/ 0 h 1870"/>
                  <a:gd name="txR" fmla="*/ 1549 w 1549"/>
                  <a:gd name="txB" fmla="*/ 1870 h 1870"/>
                </a:gdLst>
                <a:ahLst/>
                <a:cxnLst>
                  <a:cxn ang="0">
                    <a:pos x="1549" y="1868"/>
                  </a:cxn>
                  <a:cxn ang="0">
                    <a:pos x="1549" y="0"/>
                  </a:cxn>
                  <a:cxn ang="0">
                    <a:pos x="0" y="0"/>
                  </a:cxn>
                  <a:cxn ang="0">
                    <a:pos x="0" y="1870"/>
                  </a:cxn>
                  <a:cxn ang="0">
                    <a:pos x="1549" y="1870"/>
                  </a:cxn>
                  <a:cxn ang="0">
                    <a:pos x="1549" y="1870"/>
                  </a:cxn>
                </a:cxnLst>
                <a:rect l="txL" t="txT" r="txR" b="txB"/>
                <a:pathLst>
                  <a:path w="1549" h="1870">
                    <a:moveTo>
                      <a:pt x="1549" y="1868"/>
                    </a:moveTo>
                    <a:lnTo>
                      <a:pt x="1549" y="0"/>
                    </a:lnTo>
                    <a:lnTo>
                      <a:pt x="0" y="0"/>
                    </a:lnTo>
                    <a:lnTo>
                      <a:pt x="0" y="1870"/>
                    </a:lnTo>
                    <a:lnTo>
                      <a:pt x="1549" y="1870"/>
                    </a:lnTo>
                  </a:path>
                </a:pathLst>
              </a:custGeom>
              <a:noFill/>
              <a:ln w="2540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3" name="Line 8"/>
              <p:cNvSpPr/>
              <p:nvPr/>
            </p:nvSpPr>
            <p:spPr>
              <a:xfrm>
                <a:off x="2957" y="3339"/>
                <a:ext cx="1553" cy="1"/>
              </a:xfrm>
              <a:prstGeom prst="line">
                <a:avLst/>
              </a:prstGeom>
              <a:ln w="254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9884" name="Rectangle 9"/>
              <p:cNvSpPr/>
              <p:nvPr/>
            </p:nvSpPr>
            <p:spPr>
              <a:xfrm>
                <a:off x="2709" y="3933"/>
                <a:ext cx="80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  <a:buClr>
                    <a:schemeClr val="hlink"/>
                  </a:buClr>
                  <a:buSzTx/>
                  <a:buFontTx/>
                </a:pPr>
                <a:r>
                  <a:rPr lang="en-US" altLang="zh-CN" sz="1800" b="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85" name="Freeform 10"/>
              <p:cNvSpPr/>
              <p:nvPr/>
            </p:nvSpPr>
            <p:spPr>
              <a:xfrm>
                <a:off x="2957" y="3326"/>
                <a:ext cx="1553" cy="3"/>
              </a:xfrm>
              <a:custGeom>
                <a:avLst/>
                <a:gdLst>
                  <a:gd name="txL" fmla="*/ 0 w 1553"/>
                  <a:gd name="txT" fmla="*/ 0 h 3"/>
                  <a:gd name="txR" fmla="*/ 1553 w 1553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1553" y="3"/>
                  </a:cxn>
                  <a:cxn ang="0">
                    <a:pos x="0" y="0"/>
                  </a:cxn>
                </a:cxnLst>
                <a:rect l="txL" t="txT" r="txR" b="txB"/>
                <a:pathLst>
                  <a:path w="1553" h="3">
                    <a:moveTo>
                      <a:pt x="0" y="0"/>
                    </a:moveTo>
                    <a:lnTo>
                      <a:pt x="155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6" name="Line 11"/>
              <p:cNvSpPr/>
              <p:nvPr/>
            </p:nvSpPr>
            <p:spPr>
              <a:xfrm>
                <a:off x="2957" y="3022"/>
                <a:ext cx="1553" cy="3"/>
              </a:xfrm>
              <a:prstGeom prst="line">
                <a:avLst/>
              </a:prstGeom>
              <a:ln w="254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9887" name="Freeform 12"/>
              <p:cNvSpPr/>
              <p:nvPr/>
            </p:nvSpPr>
            <p:spPr>
              <a:xfrm>
                <a:off x="2957" y="3757"/>
                <a:ext cx="1553" cy="222"/>
              </a:xfrm>
              <a:custGeom>
                <a:avLst/>
                <a:gdLst>
                  <a:gd name="txL" fmla="*/ 0 w 1553"/>
                  <a:gd name="txT" fmla="*/ 0 h 222"/>
                  <a:gd name="txR" fmla="*/ 1553 w 1553"/>
                  <a:gd name="txB" fmla="*/ 222 h 222"/>
                </a:gdLst>
                <a:ahLst/>
                <a:cxnLst>
                  <a:cxn ang="0">
                    <a:pos x="0" y="0"/>
                  </a:cxn>
                  <a:cxn ang="0">
                    <a:pos x="4" y="222"/>
                  </a:cxn>
                  <a:cxn ang="0">
                    <a:pos x="1553" y="222"/>
                  </a:cxn>
                  <a:cxn ang="0">
                    <a:pos x="1553" y="2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0" y="0"/>
                  </a:cxn>
                </a:cxnLst>
                <a:rect l="txL" t="txT" r="txR" b="txB"/>
                <a:pathLst>
                  <a:path w="1553" h="222">
                    <a:moveTo>
                      <a:pt x="0" y="0"/>
                    </a:moveTo>
                    <a:lnTo>
                      <a:pt x="4" y="222"/>
                    </a:lnTo>
                    <a:lnTo>
                      <a:pt x="1553" y="222"/>
                    </a:lnTo>
                    <a:lnTo>
                      <a:pt x="1553" y="2"/>
                    </a:lnTo>
                    <a:lnTo>
                      <a:pt x="4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8" name="Freeform 13"/>
              <p:cNvSpPr/>
              <p:nvPr/>
            </p:nvSpPr>
            <p:spPr>
              <a:xfrm>
                <a:off x="2966" y="3757"/>
                <a:ext cx="1553" cy="222"/>
              </a:xfrm>
              <a:custGeom>
                <a:avLst/>
                <a:gdLst>
                  <a:gd name="txL" fmla="*/ 0 w 1553"/>
                  <a:gd name="txT" fmla="*/ 0 h 222"/>
                  <a:gd name="txR" fmla="*/ 1553 w 1553"/>
                  <a:gd name="txB" fmla="*/ 222 h 222"/>
                </a:gdLst>
                <a:ahLst/>
                <a:cxnLst>
                  <a:cxn ang="0">
                    <a:pos x="0" y="0"/>
                  </a:cxn>
                  <a:cxn ang="0">
                    <a:pos x="4" y="222"/>
                  </a:cxn>
                  <a:cxn ang="0">
                    <a:pos x="1553" y="222"/>
                  </a:cxn>
                  <a:cxn ang="0">
                    <a:pos x="1553" y="2"/>
                  </a:cxn>
                  <a:cxn ang="0">
                    <a:pos x="4" y="2"/>
                  </a:cxn>
                  <a:cxn ang="0">
                    <a:pos x="4" y="2"/>
                  </a:cxn>
                </a:cxnLst>
                <a:rect l="txL" t="txT" r="txR" b="txB"/>
                <a:pathLst>
                  <a:path w="1553" h="222">
                    <a:moveTo>
                      <a:pt x="0" y="0"/>
                    </a:moveTo>
                    <a:lnTo>
                      <a:pt x="4" y="222"/>
                    </a:lnTo>
                    <a:lnTo>
                      <a:pt x="1553" y="222"/>
                    </a:lnTo>
                    <a:lnTo>
                      <a:pt x="1553" y="2"/>
                    </a:lnTo>
                    <a:lnTo>
                      <a:pt x="4" y="2"/>
                    </a:lnTo>
                  </a:path>
                </a:pathLst>
              </a:custGeom>
              <a:noFill/>
              <a:ln w="2540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9889" name="Group 14"/>
              <p:cNvGrpSpPr/>
              <p:nvPr/>
            </p:nvGrpSpPr>
            <p:grpSpPr>
              <a:xfrm>
                <a:off x="1339" y="2069"/>
                <a:ext cx="1606" cy="260"/>
                <a:chOff x="1339" y="2069"/>
                <a:chExt cx="1606" cy="260"/>
              </a:xfrm>
            </p:grpSpPr>
            <p:sp>
              <p:nvSpPr>
                <p:cNvPr id="79906" name="Rectangle 15"/>
                <p:cNvSpPr/>
                <p:nvPr/>
              </p:nvSpPr>
              <p:spPr>
                <a:xfrm>
                  <a:off x="1339" y="2069"/>
                  <a:ext cx="203" cy="23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spcBef>
                      <a:spcPct val="0"/>
                    </a:spcBef>
                    <a:buClr>
                      <a:schemeClr val="hlink"/>
                    </a:buClr>
                    <a:buSzTx/>
                    <a:buFontTx/>
                  </a:pPr>
                  <a:r>
                    <a:rPr lang="en-US" altLang="zh-CN" sz="1800" b="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sp</a:t>
                  </a:r>
                  <a:endParaRPr lang="en-US" altLang="zh-CN" sz="1800" b="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9907" name="Rectangle 16"/>
                <p:cNvSpPr/>
                <p:nvPr/>
              </p:nvSpPr>
              <p:spPr>
                <a:xfrm>
                  <a:off x="2040" y="2094"/>
                  <a:ext cx="905" cy="23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spcBef>
                      <a:spcPct val="0"/>
                    </a:spcBef>
                    <a:buClr>
                      <a:schemeClr val="hlink"/>
                    </a:buClr>
                    <a:buSzTx/>
                    <a:buFontTx/>
                  </a:pPr>
                  <a:r>
                    <a:rPr lang="en-US" altLang="zh-CN" sz="1800" b="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7FFF FFFc</a:t>
                  </a:r>
                  <a:r>
                    <a:rPr lang="en-US" altLang="zh-CN" sz="1800" b="0" baseline="-25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hex</a:t>
                  </a:r>
                  <a:r>
                    <a:rPr lang="en-US" altLang="zh-CN" sz="1800" b="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 </a:t>
                  </a:r>
                  <a:endParaRPr lang="en-US" altLang="zh-CN" sz="1800" b="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9908" name="Freeform 17"/>
                <p:cNvSpPr/>
                <p:nvPr/>
              </p:nvSpPr>
              <p:spPr>
                <a:xfrm>
                  <a:off x="1967" y="2150"/>
                  <a:ext cx="69" cy="40"/>
                </a:xfrm>
                <a:custGeom>
                  <a:avLst/>
                  <a:gdLst>
                    <a:gd name="txL" fmla="*/ 0 w 69"/>
                    <a:gd name="txT" fmla="*/ 0 h 40"/>
                    <a:gd name="txR" fmla="*/ 69 w 69"/>
                    <a:gd name="txB" fmla="*/ 40 h 40"/>
                  </a:gdLst>
                  <a:ahLst/>
                  <a:cxnLst>
                    <a:cxn ang="0">
                      <a:pos x="0" y="0"/>
                    </a:cxn>
                    <a:cxn ang="0">
                      <a:pos x="0" y="40"/>
                    </a:cxn>
                    <a:cxn ang="0">
                      <a:pos x="69" y="2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69" h="40">
                      <a:moveTo>
                        <a:pt x="0" y="0"/>
                      </a:moveTo>
                      <a:lnTo>
                        <a:pt x="0" y="40"/>
                      </a:lnTo>
                      <a:lnTo>
                        <a:pt x="69" y="20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B7500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909" name="Line 18"/>
                <p:cNvSpPr/>
                <p:nvPr/>
              </p:nvSpPr>
              <p:spPr>
                <a:xfrm>
                  <a:off x="1609" y="2166"/>
                  <a:ext cx="381" cy="8"/>
                </a:xfrm>
                <a:prstGeom prst="line">
                  <a:avLst/>
                </a:prstGeom>
                <a:ln w="25400" cap="flat" cmpd="sng">
                  <a:solidFill>
                    <a:srgbClr val="EB75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9890" name="Group 19"/>
              <p:cNvGrpSpPr/>
              <p:nvPr/>
            </p:nvGrpSpPr>
            <p:grpSpPr>
              <a:xfrm>
                <a:off x="1292" y="3022"/>
                <a:ext cx="1645" cy="280"/>
                <a:chOff x="1565" y="2024"/>
                <a:chExt cx="1645" cy="280"/>
              </a:xfrm>
            </p:grpSpPr>
            <p:sp>
              <p:nvSpPr>
                <p:cNvPr id="79902" name="Rectangle 20"/>
                <p:cNvSpPr/>
                <p:nvPr/>
              </p:nvSpPr>
              <p:spPr>
                <a:xfrm>
                  <a:off x="1565" y="2069"/>
                  <a:ext cx="162" cy="23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spcBef>
                      <a:spcPct val="0"/>
                    </a:spcBef>
                    <a:buClr>
                      <a:schemeClr val="hlink"/>
                    </a:buClr>
                    <a:buSzTx/>
                    <a:buFontTx/>
                  </a:pPr>
                  <a:r>
                    <a:rPr lang="en-US" altLang="zh-CN" sz="1800" b="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gp</a:t>
                  </a:r>
                  <a:endParaRPr lang="en-US" altLang="zh-CN" sz="1800" b="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9903" name="Rectangle 21"/>
                <p:cNvSpPr/>
                <p:nvPr/>
              </p:nvSpPr>
              <p:spPr>
                <a:xfrm>
                  <a:off x="2336" y="2024"/>
                  <a:ext cx="87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spcBef>
                      <a:spcPct val="0"/>
                    </a:spcBef>
                    <a:buClr>
                      <a:schemeClr val="hlink"/>
                    </a:buClr>
                    <a:buSzTx/>
                    <a:buFontTx/>
                  </a:pPr>
                  <a:r>
                    <a:rPr lang="en-US" altLang="zh-CN" sz="1800" b="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1000 8000</a:t>
                  </a:r>
                  <a:r>
                    <a:rPr lang="en-US" altLang="zh-CN" sz="1800" b="0" baseline="-25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hex</a:t>
                  </a:r>
                  <a:r>
                    <a:rPr lang="en-US" altLang="zh-CN" sz="1800" b="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 </a:t>
                  </a:r>
                  <a:endParaRPr lang="en-US" altLang="zh-CN" sz="1800" b="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9904" name="Freeform 22"/>
                <p:cNvSpPr/>
                <p:nvPr/>
              </p:nvSpPr>
              <p:spPr>
                <a:xfrm>
                  <a:off x="2222" y="2102"/>
                  <a:ext cx="69" cy="40"/>
                </a:xfrm>
                <a:custGeom>
                  <a:avLst/>
                  <a:gdLst>
                    <a:gd name="txL" fmla="*/ 0 w 69"/>
                    <a:gd name="txT" fmla="*/ 0 h 40"/>
                    <a:gd name="txR" fmla="*/ 69 w 69"/>
                    <a:gd name="txB" fmla="*/ 40 h 40"/>
                  </a:gdLst>
                  <a:ahLst/>
                  <a:cxnLst>
                    <a:cxn ang="0">
                      <a:pos x="0" y="0"/>
                    </a:cxn>
                    <a:cxn ang="0">
                      <a:pos x="0" y="40"/>
                    </a:cxn>
                    <a:cxn ang="0">
                      <a:pos x="69" y="2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69" h="40">
                      <a:moveTo>
                        <a:pt x="0" y="0"/>
                      </a:moveTo>
                      <a:lnTo>
                        <a:pt x="0" y="40"/>
                      </a:lnTo>
                      <a:lnTo>
                        <a:pt x="69" y="20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B7500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905" name="Line 23"/>
                <p:cNvSpPr/>
                <p:nvPr/>
              </p:nvSpPr>
              <p:spPr>
                <a:xfrm>
                  <a:off x="1882" y="2115"/>
                  <a:ext cx="381" cy="8"/>
                </a:xfrm>
                <a:prstGeom prst="line">
                  <a:avLst/>
                </a:prstGeom>
                <a:ln w="25400" cap="flat" cmpd="sng">
                  <a:solidFill>
                    <a:srgbClr val="EB75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9891" name="Group 24"/>
              <p:cNvGrpSpPr/>
              <p:nvPr/>
            </p:nvGrpSpPr>
            <p:grpSpPr>
              <a:xfrm>
                <a:off x="1292" y="3657"/>
                <a:ext cx="1645" cy="280"/>
                <a:chOff x="1565" y="2024"/>
                <a:chExt cx="1645" cy="280"/>
              </a:xfrm>
            </p:grpSpPr>
            <p:sp>
              <p:nvSpPr>
                <p:cNvPr id="79898" name="Rectangle 25"/>
                <p:cNvSpPr/>
                <p:nvPr/>
              </p:nvSpPr>
              <p:spPr>
                <a:xfrm>
                  <a:off x="1565" y="2069"/>
                  <a:ext cx="200" cy="23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spcBef>
                      <a:spcPct val="0"/>
                    </a:spcBef>
                    <a:buClr>
                      <a:schemeClr val="hlink"/>
                    </a:buClr>
                    <a:buSzTx/>
                    <a:buFontTx/>
                  </a:pPr>
                  <a:r>
                    <a:rPr lang="en-US" altLang="zh-CN" sz="1800" b="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PC</a:t>
                  </a:r>
                  <a:endParaRPr lang="en-US" altLang="zh-CN" sz="1800" b="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9899" name="Rectangle 26"/>
                <p:cNvSpPr/>
                <p:nvPr/>
              </p:nvSpPr>
              <p:spPr>
                <a:xfrm>
                  <a:off x="2336" y="2024"/>
                  <a:ext cx="87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spcBef>
                      <a:spcPct val="0"/>
                    </a:spcBef>
                    <a:buClr>
                      <a:schemeClr val="hlink"/>
                    </a:buClr>
                    <a:buSzTx/>
                    <a:buFontTx/>
                  </a:pPr>
                  <a:r>
                    <a:rPr lang="en-US" altLang="zh-CN" sz="1800" b="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0040 0000</a:t>
                  </a:r>
                  <a:r>
                    <a:rPr lang="en-US" altLang="zh-CN" sz="1800" b="0" baseline="-25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hex</a:t>
                  </a:r>
                  <a:r>
                    <a:rPr lang="en-US" altLang="zh-CN" sz="1800" b="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 </a:t>
                  </a:r>
                  <a:endParaRPr lang="en-US" altLang="zh-CN" sz="1800" b="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9900" name="Freeform 27"/>
                <p:cNvSpPr/>
                <p:nvPr/>
              </p:nvSpPr>
              <p:spPr>
                <a:xfrm>
                  <a:off x="2222" y="2102"/>
                  <a:ext cx="69" cy="40"/>
                </a:xfrm>
                <a:custGeom>
                  <a:avLst/>
                  <a:gdLst>
                    <a:gd name="txL" fmla="*/ 0 w 69"/>
                    <a:gd name="txT" fmla="*/ 0 h 40"/>
                    <a:gd name="txR" fmla="*/ 69 w 69"/>
                    <a:gd name="txB" fmla="*/ 40 h 40"/>
                  </a:gdLst>
                  <a:ahLst/>
                  <a:cxnLst>
                    <a:cxn ang="0">
                      <a:pos x="0" y="0"/>
                    </a:cxn>
                    <a:cxn ang="0">
                      <a:pos x="0" y="40"/>
                    </a:cxn>
                    <a:cxn ang="0">
                      <a:pos x="69" y="2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69" h="40">
                      <a:moveTo>
                        <a:pt x="0" y="0"/>
                      </a:moveTo>
                      <a:lnTo>
                        <a:pt x="0" y="40"/>
                      </a:lnTo>
                      <a:lnTo>
                        <a:pt x="69" y="20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B7500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901" name="Line 28"/>
                <p:cNvSpPr/>
                <p:nvPr/>
              </p:nvSpPr>
              <p:spPr>
                <a:xfrm>
                  <a:off x="1882" y="2115"/>
                  <a:ext cx="381" cy="8"/>
                </a:xfrm>
                <a:prstGeom prst="line">
                  <a:avLst/>
                </a:prstGeom>
                <a:ln w="25400" cap="flat" cmpd="sng">
                  <a:solidFill>
                    <a:srgbClr val="EB75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9892" name="Rectangle 29"/>
              <p:cNvSpPr/>
              <p:nvPr/>
            </p:nvSpPr>
            <p:spPr>
              <a:xfrm>
                <a:off x="3379" y="2795"/>
                <a:ext cx="880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  <a:buClr>
                    <a:schemeClr val="hlink"/>
                  </a:buClr>
                  <a:buSzTx/>
                  <a:buFontTx/>
                </a:pPr>
                <a:r>
                  <a:rPr lang="en-US" altLang="zh-CN" sz="1800" b="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Dynamic data</a:t>
                </a:r>
                <a:endParaRPr lang="en-US" altLang="zh-CN" sz="1800" b="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93" name="Rectangle 30"/>
              <p:cNvSpPr/>
              <p:nvPr/>
            </p:nvSpPr>
            <p:spPr>
              <a:xfrm>
                <a:off x="3470" y="2160"/>
                <a:ext cx="360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  <a:buClr>
                    <a:schemeClr val="hlink"/>
                  </a:buClr>
                  <a:buSzTx/>
                  <a:buFontTx/>
                </a:pPr>
                <a:r>
                  <a:rPr lang="en-US" altLang="zh-CN" sz="1800" b="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Stack</a:t>
                </a:r>
                <a:endParaRPr lang="en-US" altLang="zh-CN" sz="1800" b="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94" name="Rectangle 31"/>
              <p:cNvSpPr/>
              <p:nvPr/>
            </p:nvSpPr>
            <p:spPr>
              <a:xfrm>
                <a:off x="3379" y="3113"/>
                <a:ext cx="680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  <a:buClr>
                    <a:schemeClr val="hlink"/>
                  </a:buClr>
                  <a:buSzTx/>
                  <a:buFontTx/>
                </a:pPr>
                <a:r>
                  <a:rPr lang="en-US" altLang="zh-CN" sz="1800" b="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Static data</a:t>
                </a:r>
                <a:endParaRPr lang="en-US" altLang="zh-CN" sz="1800" b="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95" name="Rectangle 32"/>
              <p:cNvSpPr/>
              <p:nvPr/>
            </p:nvSpPr>
            <p:spPr>
              <a:xfrm>
                <a:off x="3515" y="3793"/>
                <a:ext cx="616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  <a:buClr>
                    <a:schemeClr val="hlink"/>
                  </a:buClr>
                  <a:buSzTx/>
                  <a:buFontTx/>
                </a:pPr>
                <a:r>
                  <a:rPr lang="en-US" altLang="zh-CN" sz="1800" b="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Reserved</a:t>
                </a:r>
                <a:endParaRPr lang="en-US" altLang="zh-CN" sz="1800" b="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96" name="Rectangle 33"/>
              <p:cNvSpPr/>
              <p:nvPr/>
            </p:nvSpPr>
            <p:spPr>
              <a:xfrm>
                <a:off x="3560" y="3475"/>
                <a:ext cx="280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  <a:buClr>
                    <a:schemeClr val="hlink"/>
                  </a:buClr>
                  <a:buSzTx/>
                  <a:buFontTx/>
                </a:pPr>
                <a:r>
                  <a:rPr lang="en-US" altLang="zh-CN" sz="1800" b="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Text</a:t>
                </a:r>
                <a:endParaRPr lang="en-US" altLang="zh-CN" sz="1800" b="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97" name="Rectangle 34"/>
              <p:cNvSpPr/>
              <p:nvPr/>
            </p:nvSpPr>
            <p:spPr>
              <a:xfrm>
                <a:off x="2091" y="3249"/>
                <a:ext cx="834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  <a:buClr>
                    <a:schemeClr val="hlink"/>
                  </a:buClr>
                  <a:buSzTx/>
                  <a:buFontTx/>
                </a:pPr>
                <a:r>
                  <a:rPr lang="en-US" altLang="zh-CN" sz="1800" b="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1000 0000</a:t>
                </a:r>
                <a:r>
                  <a:rPr lang="en-US" altLang="zh-CN" sz="1800" b="0" baseline="-250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hex</a:t>
                </a:r>
              </a:p>
            </p:txBody>
          </p:sp>
        </p:grpSp>
        <p:sp>
          <p:nvSpPr>
            <p:cNvPr id="79879" name="Line 35"/>
            <p:cNvSpPr/>
            <p:nvPr/>
          </p:nvSpPr>
          <p:spPr>
            <a:xfrm>
              <a:off x="4468" y="2522"/>
              <a:ext cx="0" cy="182"/>
            </a:xfrm>
            <a:prstGeom prst="line">
              <a:avLst/>
            </a:prstGeom>
            <a:ln w="28575" cap="rnd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9880" name="Line 36"/>
            <p:cNvSpPr/>
            <p:nvPr/>
          </p:nvSpPr>
          <p:spPr>
            <a:xfrm flipV="1">
              <a:off x="4468" y="2795"/>
              <a:ext cx="0" cy="181"/>
            </a:xfrm>
            <a:prstGeom prst="line">
              <a:avLst/>
            </a:prstGeom>
            <a:ln w="28575" cap="rnd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9877" name="Rectangle 38"/>
          <p:cNvSpPr/>
          <p:nvPr/>
        </p:nvSpPr>
        <p:spPr>
          <a:xfrm>
            <a:off x="1115695" y="4437380"/>
            <a:ext cx="214312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>
                <a:schemeClr val="hlink"/>
              </a:buClr>
              <a:buSzTx/>
              <a:buFontTx/>
            </a:pPr>
            <a:r>
              <a:rPr lang="en-US" altLang="zh-CN" b="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RISC-v memory allocation for program and data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E254FEB-7ABF-A692-5922-1B7AA08506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</a:pPr>
            <a:r>
              <a:rPr lang="en-US" altLang="zh-CN" b="1" dirty="0"/>
              <a:t>Loading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Determine size of text and data segments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Create an address space large enough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Copy instructions and data from executable file to memory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Copy parameters (if any) to the main program onto the stack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Initialize registers and set sp to the first free location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Jump to a start-up routine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E5E6478-D8C0-F883-220B-27C27D697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Rot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000000"/>
                </a:solidFill>
              </a:rPr>
              <a:t>Three general steps for translating C procedures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000000"/>
                </a:solidFill>
              </a:rPr>
              <a:t>Allocate registers to program variables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000000"/>
                </a:solidFill>
              </a:rPr>
              <a:t>Produce code for the body of the procedures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000000"/>
                </a:solidFill>
              </a:rPr>
              <a:t>Preserve registers across the  procedures invocation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sz="2800" dirty="0">
                <a:solidFill>
                  <a:srgbClr val="000000"/>
                </a:solidFill>
              </a:rPr>
              <a:t>Procedure </a:t>
            </a:r>
            <a:r>
              <a:rPr lang="en-US" altLang="zh-CN" sz="2800" i="1" dirty="0">
                <a:solidFill>
                  <a:srgbClr val="000000"/>
                </a:solidFill>
              </a:rPr>
              <a:t>swap</a:t>
            </a:r>
            <a:endParaRPr lang="en-US" altLang="zh-CN" i="1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000000"/>
                </a:solidFill>
              </a:rPr>
              <a:t>C code</a:t>
            </a:r>
            <a:endParaRPr lang="en-US" altLang="zh-CN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void   swap ( int  v[  ] ,  size_t  k )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{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int  temp 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temp  =  v[ k ] 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v[ k ] =  v[ k + 1 ] 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v[ k + 1 ]  =  temp 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}</a:t>
            </a:r>
          </a:p>
        </p:txBody>
      </p:sp>
      <p:sp>
        <p:nvSpPr>
          <p:cNvPr id="219140" name="文本框 219139"/>
          <p:cNvSpPr txBox="1"/>
          <p:nvPr/>
        </p:nvSpPr>
        <p:spPr>
          <a:xfrm rot="5400000">
            <a:off x="6516370" y="2259330"/>
            <a:ext cx="488696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2.13 A C Sort Example To Put it All Together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324485"/>
            <a:ext cx="8259762" cy="583565"/>
          </a:xfrm>
        </p:spPr>
        <p:txBody>
          <a:bodyPr/>
          <a:lstStyle/>
          <a:p>
            <a:r>
              <a:rPr lang="zh-CN" altLang="en-US" sz="3200"/>
              <a:t>A C Sort Example To Put it All Together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3D8819B-3E8F-C4A9-0182-A4BA49F99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2946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lvl="0"/>
            <a:r>
              <a:rPr lang="en-US" altLang="zh-CN" sz="2800" dirty="0"/>
              <a:t>Register allocation for </a:t>
            </a:r>
            <a:r>
              <a:rPr lang="en-US" altLang="zh-CN" sz="2800" i="1" dirty="0"/>
              <a:t>swap</a:t>
            </a:r>
          </a:p>
          <a:p>
            <a:pPr lvl="1">
              <a:buNone/>
            </a:pPr>
            <a:r>
              <a:rPr lang="en-US" altLang="zh-CN" i="1" dirty="0"/>
              <a:t>  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v ---- x10      k ---- x11       temp  ---- x5</a:t>
            </a:r>
            <a:endParaRPr lang="en-US" altLang="zh-CN" dirty="0"/>
          </a:p>
          <a:p>
            <a:pPr lvl="0"/>
            <a:r>
              <a:rPr lang="en-US" altLang="zh-CN" sz="2800" i="1" dirty="0"/>
              <a:t>swap </a:t>
            </a:r>
            <a:r>
              <a:rPr lang="en-US" altLang="zh-CN" sz="2800" dirty="0"/>
              <a:t>is a leaf procedure, nothing to preserve</a:t>
            </a:r>
          </a:p>
          <a:p>
            <a:pPr lvl="0"/>
            <a:r>
              <a:rPr lang="en-US" altLang="zh-CN" sz="2800" dirty="0"/>
              <a:t>RISC-V code for the procedure </a:t>
            </a:r>
            <a:r>
              <a:rPr lang="en-US" altLang="zh-CN" sz="2800" i="1" dirty="0"/>
              <a:t>swap</a:t>
            </a:r>
          </a:p>
          <a:p>
            <a:pPr lvl="1"/>
            <a:r>
              <a:rPr lang="en-US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Procedure body</a:t>
            </a:r>
            <a:endParaRPr lang="en-US" altLang="zh-CN" sz="2100" i="1" dirty="0"/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swap:    slli    x6,  x11, 2               //   x6  =  k  *  4  </a:t>
            </a:r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		           add    x6,  x10, x6            //   x6  =  v  +  ( k  *  4 )</a:t>
            </a:r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		           lw       x5, 0(x6)               //   x5 ← v[ k ]</a:t>
            </a:r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lw       x7,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(x6)               //   x7 ← v[ k + 1 ]    </a:t>
            </a:r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sw      x7, 0(x6)                //   v[k+1] → v[ k ]</a:t>
            </a:r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      sw      x5,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(x6)                //   v[k] → v[ k + 1 ] </a:t>
            </a:r>
          </a:p>
          <a:p>
            <a:pPr lvl="1"/>
            <a:r>
              <a:rPr lang="en-US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Procedure return</a:t>
            </a:r>
            <a:endParaRPr lang="en-US" altLang="zh-CN" sz="2100" i="1" dirty="0"/>
          </a:p>
          <a:p>
            <a:pPr lvl="1">
              <a:buNone/>
            </a:pPr>
            <a:r>
              <a:rPr lang="en-US" altLang="zh-CN" sz="1800" dirty="0">
                <a:latin typeface="Arial Unicode MS" pitchFamily="34" charset="-122"/>
              </a:rPr>
              <a:t>         </a:t>
            </a:r>
            <a:r>
              <a:rPr lang="en-US" altLang="zh-CN" sz="1800" dirty="0">
                <a:latin typeface="Times New Roman" panose="02020603050405020304" pitchFamily="18" charset="0"/>
              </a:rPr>
              <a:t>jalr    x0,   0(x1)                //    return to calling routine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EFA1CFB-A401-9154-8F8C-6E8004271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3970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</a:pPr>
            <a:r>
              <a:rPr lang="en-US" altLang="zh-CN" sz="2800" dirty="0"/>
              <a:t>Procedure </a:t>
            </a:r>
            <a:r>
              <a:rPr lang="en-US" altLang="zh-CN" sz="2800" b="1" i="1" dirty="0">
                <a:solidFill>
                  <a:srgbClr val="FF0000"/>
                </a:solidFill>
              </a:rPr>
              <a:t>sort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C code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void  sort (int  v[  ] ,    size_t    n )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{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size_t    i ,  j 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for ( i  =  0 ; i  &lt;  n ; i + =  1 ) {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for ( j  =  i  -  1 ; j  &gt;=  0  &amp;&amp;  v[j]  &gt;  v[j+1] ; j -=  1 )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   swap ( v ,  j ) 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}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}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Register allocation</a:t>
            </a:r>
            <a:r>
              <a:rPr lang="en-US" altLang="zh-CN" sz="2400" dirty="0"/>
              <a:t> for </a:t>
            </a:r>
            <a:r>
              <a:rPr lang="en-US" altLang="zh-CN" sz="2400" i="1" dirty="0"/>
              <a:t>sort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400" i="1" dirty="0"/>
              <a:t>  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v ---- x10      n ---- x11       i ---- x19      j ---- x20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Passing parameters</a:t>
            </a:r>
            <a:r>
              <a:rPr lang="en-US" altLang="zh-CN" sz="2400" dirty="0"/>
              <a:t> in </a:t>
            </a:r>
            <a:r>
              <a:rPr lang="en-US" altLang="zh-CN" sz="2400" i="1" dirty="0"/>
              <a:t>sort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Preserving registers</a:t>
            </a:r>
            <a:r>
              <a:rPr lang="en-US" altLang="zh-CN" sz="2400" dirty="0"/>
              <a:t> in </a:t>
            </a:r>
            <a:r>
              <a:rPr lang="en-US" altLang="zh-CN" sz="2400" i="1" dirty="0"/>
              <a:t>sort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   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x1,x19,x20,x21,x22</a:t>
            </a:r>
          </a:p>
        </p:txBody>
      </p:sp>
      <p:sp>
        <p:nvSpPr>
          <p:cNvPr id="83971" name="Text Box 3"/>
          <p:cNvSpPr txBox="1"/>
          <p:nvPr/>
        </p:nvSpPr>
        <p:spPr>
          <a:xfrm>
            <a:off x="6877050" y="836613"/>
            <a:ext cx="12954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Tx/>
              <a:buFontTx/>
            </a:pPr>
            <a:endParaRPr lang="zh-CN" altLang="en-US" sz="14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96292" name="Group 4"/>
          <p:cNvGraphicFramePr>
            <a:graphicFrameLocks noGrp="1"/>
          </p:cNvGraphicFramePr>
          <p:nvPr/>
        </p:nvGraphicFramePr>
        <p:xfrm>
          <a:off x="7451725" y="1700213"/>
          <a:ext cx="1103313" cy="2808289"/>
        </p:xfrm>
        <a:graphic>
          <a:graphicData uri="http://schemas.openxmlformats.org/drawingml/2006/table">
            <a:tbl>
              <a:tblPr/>
              <a:tblGrid>
                <a:gridCol w="110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V[0]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V[1]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V[2]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V[n-1]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3986" name="AutoShape 18"/>
          <p:cNvSpPr/>
          <p:nvPr/>
        </p:nvSpPr>
        <p:spPr>
          <a:xfrm>
            <a:off x="7235825" y="1916113"/>
            <a:ext cx="215900" cy="574675"/>
          </a:xfrm>
          <a:prstGeom prst="curvedRightArrow">
            <a:avLst>
              <a:gd name="adj1" fmla="val 43157"/>
              <a:gd name="adj2" fmla="val 126976"/>
              <a:gd name="adj3" fmla="val 40680"/>
            </a:avLst>
          </a:prstGeom>
          <a:solidFill>
            <a:srgbClr val="FF0000"/>
          </a:solidFill>
          <a:ln w="9525" cap="rnd" cmpd="sng">
            <a:solidFill>
              <a:srgbClr val="007A77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3987" name="AutoShape 19"/>
          <p:cNvSpPr/>
          <p:nvPr/>
        </p:nvSpPr>
        <p:spPr>
          <a:xfrm flipH="1" flipV="1">
            <a:off x="8604250" y="1844675"/>
            <a:ext cx="215900" cy="574675"/>
          </a:xfrm>
          <a:prstGeom prst="curvedRightArrow">
            <a:avLst>
              <a:gd name="adj1" fmla="val 43157"/>
              <a:gd name="adj2" fmla="val 126976"/>
              <a:gd name="adj3" fmla="val 40680"/>
            </a:avLst>
          </a:prstGeom>
          <a:solidFill>
            <a:srgbClr val="FF0000"/>
          </a:solidFill>
          <a:ln w="9525" cap="rnd" cmpd="sng">
            <a:solidFill>
              <a:srgbClr val="007A77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3988" name="Text Box 20"/>
          <p:cNvSpPr txBox="1"/>
          <p:nvPr/>
        </p:nvSpPr>
        <p:spPr>
          <a:xfrm>
            <a:off x="5867400" y="1557338"/>
            <a:ext cx="15843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Tx/>
              <a:buFontTx/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 V[0]&gt; V[1]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76B991C-CBE5-A814-4B51-C0326A1B28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4994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lvl="0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Code for the procedure </a:t>
            </a:r>
            <a:r>
              <a:rPr lang="en-US" altLang="zh-CN" sz="2400" i="1" dirty="0">
                <a:solidFill>
                  <a:schemeClr val="tx1"/>
                </a:solidFill>
              </a:rPr>
              <a:t>sort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Saving registers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sort:        addi    sp,  sp, -20         // make room on stack for 5 registers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sw       x1, 16(sp)          // save return address on stack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sw       x22, 12(sp)        // save x22 on stack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sw       x21, 8(sp)          // save x21 on stack 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sw       x20,  4(sp)         // save x20 on stack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sw       x19,  0(sp)         // save x19 on stack 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Procedure body{Outer loop   {Inner loop}   }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Restoring registers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exit1:      lw     x19,  0(sp)              // restore x19 from stack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lw      x20,  4(sp)             // restore x20 from stack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lw      x21,  8(sp)             // restore x21 from stack 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lw      x22, 12(sp)            // restore x22 from stack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lw      x1, 16(sp)              // restore return address from stack 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addi  sp, sp, 20               // restore stack pointer</a:t>
            </a:r>
            <a:endParaRPr lang="en-US" altLang="zh-CN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Procedure return</a:t>
            </a:r>
            <a:endParaRPr lang="en-US" altLang="zh-CN" sz="233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jalr    x0,   0(x0)             // return to calling routine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9693C80-46F9-32B3-DA8F-69DF19447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6018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lvl="0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for Procedure body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 loop : first for loop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for ( i  =  0 ; i  &lt;  n ; i + =  1 ) {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90000"/>
              </a:lnSpc>
            </a:pPr>
            <a:r>
              <a:rPr lang="en-US" altLang="zh-CN" sz="216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Move parameters</a:t>
            </a:r>
          </a:p>
          <a:p>
            <a:pPr lvl="3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mv   x21, x10         		//  copy parameter x10 into x21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mv  x22, x11         		//  copy parameter x11 into x22</a:t>
            </a:r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2">
              <a:lnSpc>
                <a:spcPct val="90000"/>
              </a:lnSpc>
            </a:pPr>
            <a:r>
              <a:rPr lang="en-US" altLang="zh-CN" sz="216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Outer loop</a:t>
            </a:r>
            <a:endParaRPr lang="en-US" altLang="zh-CN" sz="216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90000"/>
              </a:lnSpc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li  x19, 0                		//  i = 0 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for1tst:    bge   x19, x22, exit1   		// go to exit1 if i &gt;= n</a:t>
            </a:r>
          </a:p>
          <a:p>
            <a:pPr lvl="3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………………</a:t>
            </a:r>
          </a:p>
          <a:p>
            <a:pPr lvl="3">
              <a:lnSpc>
                <a:spcPct val="90000"/>
              </a:lnSpc>
              <a:buNone/>
            </a:pP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body of first for loop is second </a:t>
            </a:r>
            <a:r>
              <a:rPr lang="en-US" altLang="zh-CN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</a:p>
          <a:p>
            <a:pPr lvl="3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………………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		    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addi  x19, x19, 1           	//  i = i + 1 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j     for1tst                   		//  jump to test of outer loop 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exit1:</a:t>
            </a:r>
            <a:r>
              <a:rPr lang="en-US" altLang="zh-CN" sz="18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86019" name="Freeform 3"/>
          <p:cNvSpPr/>
          <p:nvPr/>
        </p:nvSpPr>
        <p:spPr>
          <a:xfrm>
            <a:off x="1259840" y="4300855"/>
            <a:ext cx="2626995" cy="1734185"/>
          </a:xfrm>
          <a:custGeom>
            <a:avLst/>
            <a:gdLst>
              <a:gd name="txL" fmla="*/ 0 w 1852"/>
              <a:gd name="txT" fmla="*/ 0 h 817"/>
              <a:gd name="txR" fmla="*/ 1852 w 1852"/>
              <a:gd name="txB" fmla="*/ 817 h 817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852" h="817">
                <a:moveTo>
                  <a:pt x="1852" y="0"/>
                </a:moveTo>
                <a:cubicBezTo>
                  <a:pt x="1761" y="34"/>
                  <a:pt x="1671" y="68"/>
                  <a:pt x="1399" y="136"/>
                </a:cubicBezTo>
                <a:cubicBezTo>
                  <a:pt x="1127" y="204"/>
                  <a:pt x="438" y="295"/>
                  <a:pt x="219" y="408"/>
                </a:cubicBezTo>
                <a:cubicBezTo>
                  <a:pt x="0" y="521"/>
                  <a:pt x="106" y="749"/>
                  <a:pt x="83" y="817"/>
                </a:cubicBezTo>
              </a:path>
            </a:pathLst>
          </a:custGeom>
          <a:noFill/>
          <a:ln w="19050" cap="flat" cmpd="sng">
            <a:solidFill>
              <a:srgbClr val="FF0000">
                <a:alpha val="100000"/>
              </a:srgbClr>
            </a:solidFill>
            <a:prstDash val="sysDot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DA93963-C708-AEFD-F13D-7D4968D4A1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7042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 loop 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second 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of first 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loop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( j = i - 1 ; j &gt;= 0  &amp;&amp;  v[j] &gt; v[j+1] ; j- = 1 ){</a:t>
            </a:r>
            <a:endParaRPr lang="en-US" altLang="zh-CN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90000"/>
              </a:lnSpc>
              <a:buNone/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lvl="3">
              <a:lnSpc>
                <a:spcPct val="90000"/>
              </a:lnSpc>
              <a:buNone/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addi  x20, x19, -1        	//  j = i - 1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for2tst:  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blt   x20, x0, exit2             	// go to exit2 if  j &lt; 0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slli    x5, x20, 2                 	// x5 = j * 4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       add    x5, x21, x5        	//  x5 = the address of v[j]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lw    x6, 0(x5)            	//  x6 = v[j]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lw    x7, 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(x5)            	//  x7 = v[j + 1]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blt   x6, x7, exit2  		//  go to exit2 if v[j] &lt; v[j+1]</a:t>
            </a:r>
          </a:p>
          <a:p>
            <a:pPr lvl="3">
              <a:lnSpc>
                <a:spcPct val="90000"/>
              </a:lnSpc>
              <a:buNone/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    ………………</a:t>
            </a:r>
          </a:p>
          <a:p>
            <a:pPr lvl="3">
              <a:lnSpc>
                <a:spcPct val="90000"/>
              </a:lnSpc>
              <a:buNone/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body of 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second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 loop </a:t>
            </a:r>
            <a:r>
              <a:rPr lang="zh-CN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90000"/>
              </a:lnSpc>
              <a:buNone/>
            </a:pPr>
            <a:r>
              <a:rPr lang="zh-CN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	   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     ………………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	       addi  x20, x20, -1                 	//  j = j - 1 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j       for2tst                           	//  jump to test of inner loop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exit2: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7043" name="Freeform 3"/>
          <p:cNvSpPr/>
          <p:nvPr/>
        </p:nvSpPr>
        <p:spPr>
          <a:xfrm>
            <a:off x="1259840" y="4338320"/>
            <a:ext cx="2393315" cy="1682115"/>
          </a:xfrm>
          <a:custGeom>
            <a:avLst/>
            <a:gdLst>
              <a:gd name="txL" fmla="*/ 0 w 1852"/>
              <a:gd name="txT" fmla="*/ 0 h 817"/>
              <a:gd name="txR" fmla="*/ 1852 w 1852"/>
              <a:gd name="txB" fmla="*/ 817 h 817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852" h="817">
                <a:moveTo>
                  <a:pt x="1852" y="0"/>
                </a:moveTo>
                <a:cubicBezTo>
                  <a:pt x="1761" y="34"/>
                  <a:pt x="1671" y="68"/>
                  <a:pt x="1399" y="136"/>
                </a:cubicBezTo>
                <a:cubicBezTo>
                  <a:pt x="1127" y="204"/>
                  <a:pt x="438" y="295"/>
                  <a:pt x="219" y="408"/>
                </a:cubicBezTo>
                <a:cubicBezTo>
                  <a:pt x="0" y="521"/>
                  <a:pt x="106" y="749"/>
                  <a:pt x="83" y="817"/>
                </a:cubicBezTo>
              </a:path>
            </a:pathLst>
          </a:custGeom>
          <a:noFill/>
          <a:ln w="19050" cap="flat" cmpd="sng">
            <a:solidFill>
              <a:srgbClr val="FF0000">
                <a:alpha val="100000"/>
              </a:srgbClr>
            </a:solidFill>
            <a:prstDash val="sysDot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7C52415-E542-86AA-3552-BCC4ED98B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8066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 lvl="2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of second 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loop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90000"/>
              </a:lnSpc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parameters and call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mv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x10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x21           //  first swap parameter v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mv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x11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x20           //  second swap parameter j  </a:t>
            </a:r>
          </a:p>
          <a:p>
            <a:pPr lvl="3">
              <a:lnSpc>
                <a:spcPct val="90000"/>
              </a:lnSpc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 function swap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jal   x1, swap</a:t>
            </a:r>
            <a:endParaRPr lang="en-US" altLang="zh-CN" sz="18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Notice: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Why are x10 and x11 saved?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x10 is the base of the array v. x10 will be used repeatedly and might be(actually not here) changed by the procedure swap.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x11 is the size of the array v. x11 will be used repeatedly and changed before the procedure swap is called.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Why are they not pushed to stack?</a:t>
            </a:r>
            <a:r>
              <a:rPr lang="en-US" altLang="zh-CN" sz="1750" dirty="0"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Register variable is faster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C563CB0-5138-D5A4-A588-EC31948D1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/>
          <p:cNvSpPr>
            <a:spLocks noGrp="1" noRot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000000"/>
                </a:solidFill>
              </a:rPr>
              <a:t>Two C procedures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000000"/>
                </a:solidFill>
              </a:rPr>
              <a:t>Array version</a:t>
            </a:r>
            <a:endParaRPr lang="en-US" altLang="zh-CN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void  clear1 ( int  array[ ], size_t  size )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{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siaze_t    i;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for ( i  =  0 ; i  &lt;  size ;  i  =  i  +  1 )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array[i] = 0;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} 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000000"/>
                </a:solidFill>
              </a:rPr>
              <a:t>Pointer version</a:t>
            </a:r>
            <a:endParaRPr lang="en-US" altLang="zh-CN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void  clear2 ( int  *array, size_t  size )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{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int  *p;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for ( p  =  &amp;array[0] ;  p  &lt;  &amp;array[size] ;  p  =  p  +  1 )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*p  =  0;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</p:txBody>
      </p:sp>
      <p:sp>
        <p:nvSpPr>
          <p:cNvPr id="219140" name="文本框 219139"/>
          <p:cNvSpPr txBox="1"/>
          <p:nvPr/>
        </p:nvSpPr>
        <p:spPr>
          <a:xfrm rot="5400000">
            <a:off x="7322185" y="1454150"/>
            <a:ext cx="3275965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2.14 Arrays versus Pointers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lstStyle/>
          <a:p>
            <a:r>
              <a:rPr lang="zh-CN" altLang="en-US"/>
              <a:t>Arrays versus Pointers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85F8AD0-6770-8247-4DCA-A84F1115CC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0114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r>
              <a:rPr lang="en-US" altLang="zh-CN" sz="2800" dirty="0"/>
              <a:t>Assembly code for clear-1 procedure (</a:t>
            </a:r>
            <a:r>
              <a:rPr lang="en-US" altLang="zh-CN" sz="2800" dirty="0">
                <a:solidFill>
                  <a:srgbClr val="FF0000"/>
                </a:solidFill>
              </a:rPr>
              <a:t>array version</a:t>
            </a:r>
            <a:r>
              <a:rPr lang="en-US" altLang="zh-CN" sz="2800" dirty="0"/>
              <a:t>)</a:t>
            </a:r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mv   x5, x0           	//  i = 0  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loop1:  slli    x6, x5, 2              	//  x6 = i * 4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add    x7, x10, x6         	//  x7 = address of array[ i ]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sw     x0, 0(x7)         	//  array[ i ] = 0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addi   x5, x5, 1             	//  i = i +1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blt    x5, x11, loop1  	//  if ( i  &lt;  size ) go to  loop1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	     jalr   x0, 0(x1)</a:t>
            </a:r>
          </a:p>
          <a:p>
            <a:pPr lvl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		</a:t>
            </a:r>
          </a:p>
          <a:p>
            <a:pPr lvl="1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This code works as long as 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greater than 0.</a:t>
            </a:r>
          </a:p>
          <a:p>
            <a:pPr lvl="1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(In this case,the loop will be executed once even though the value of the size parameter is invalid. Actually,size &gt;0 must be checked at first)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EDE41FF-B7E3-1DEA-ADBD-453076ACD6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1138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30" tIns="45715" rIns="91430" bIns="45715" anchor="t" anchorCtr="0"/>
          <a:lstStyle/>
          <a:p>
            <a:pPr>
              <a:lnSpc>
                <a:spcPct val="90000"/>
              </a:lnSpc>
            </a:pPr>
            <a:r>
              <a:rPr lang="en-US" altLang="zh-CN" sz="2800" dirty="0"/>
              <a:t>Assembly code for clear-2 procedure (</a:t>
            </a:r>
            <a:r>
              <a:rPr lang="en-US" altLang="zh-CN" sz="2800" b="1" dirty="0">
                <a:solidFill>
                  <a:srgbClr val="FF0000"/>
                </a:solidFill>
              </a:rPr>
              <a:t>pointer version</a:t>
            </a:r>
            <a:r>
              <a:rPr lang="en-US" altLang="zh-CN" sz="2800" dirty="0"/>
              <a:t>)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mv   x5, x10              	// p  =  the start address of the array[] 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	    slli     x6, x11, 2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add    x7, x10, x6         	// 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x7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 &amp;array[size](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address of array[size] 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loop2:  sw     x0, 0(x5)         	// Memory[ p ]  =  0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addi   x5, x5, 4             	// p  =  p  +  4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bltu    x5, x7, loop2  	// if ( p  &lt;  &amp;array[size] )  go to  loop2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	    jalr   x0,  0(x1)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code works as long as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greater than 0.</a:t>
            </a:r>
            <a:endParaRPr lang="en-US" altLang="zh-CN" dirty="0">
              <a:solidFill>
                <a:srgbClr val="FF0000"/>
              </a:solidFill>
              <a:latin typeface="Arial Unicode MS" pitchFamily="34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/>
              <a:t>Compare the two versions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Array version has the “multiply” and add inside loop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Pointer version reduces instructions/iteration from </a:t>
            </a:r>
            <a:r>
              <a:rPr lang="en-US" altLang="zh-CN" sz="2000" dirty="0">
                <a:solidFill>
                  <a:srgbClr val="FF0000"/>
                </a:solidFill>
              </a:rPr>
              <a:t>5</a:t>
            </a:r>
            <a:r>
              <a:rPr lang="en-US" altLang="zh-CN" sz="2000" dirty="0"/>
              <a:t> to 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</a:p>
          <a:p>
            <a:pPr>
              <a:lnSpc>
                <a:spcPct val="90000"/>
              </a:lnSpc>
            </a:pPr>
            <a:r>
              <a:rPr lang="en-US" altLang="zh-CN" sz="2800" dirty="0"/>
              <a:t>For modern compliers,both ways are the same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726F04D-6E27-AA0A-16B6-D2EF20E876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标题 219137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 anchor="b" anchorCtr="0">
            <a:spAutoFit/>
          </a:bodyPr>
          <a:lstStyle/>
          <a:p>
            <a:r>
              <a:rPr lang="en-US" altLang="zh-CN"/>
              <a:t>Concluding Remarks</a:t>
            </a:r>
            <a:endParaRPr lang="en-AU" altLang="zh-CN"/>
          </a:p>
        </p:txBody>
      </p:sp>
      <p:sp>
        <p:nvSpPr>
          <p:cNvPr id="219139" name="文本占位符 21913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/>
              <a:t>Two principles of stored-program computers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Use instructions as numbers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Use alterable memory for programs</a:t>
            </a:r>
          </a:p>
          <a:p>
            <a:pPr>
              <a:lnSpc>
                <a:spcPct val="90000"/>
              </a:lnSpc>
            </a:pPr>
            <a:r>
              <a:rPr lang="en-US" altLang="zh-CN"/>
              <a:t>Three design principles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Simplicity favors regularity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Smaller is faster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Good design demands good compromises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CN"/>
          </a:p>
        </p:txBody>
      </p:sp>
      <p:sp>
        <p:nvSpPr>
          <p:cNvPr id="219140" name="文本框 219139"/>
          <p:cNvSpPr txBox="1"/>
          <p:nvPr/>
        </p:nvSpPr>
        <p:spPr>
          <a:xfrm rot="5400000">
            <a:off x="7441565" y="1334135"/>
            <a:ext cx="303657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2.23 Concluding Remarks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286540-589D-D3CE-FFDE-8FBC01659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Chapter 2 — Instructions: Language of the Computer —</a:t>
            </a:r>
            <a:fld id="{7D9BB5D0-35E4-459D-AEF3-FE4D7C45CC19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E0NWRmMzVhNTY5Y2FiMzY2OGM1ZWRkMzQwMWFiMz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657.5007874015746,&quot;width&quot;:266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657.5007874015746,&quot;width&quot;:266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9eca3ba-5261-48ef-89c4-7eb0e400ac0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17d4613-51d6-414c-af7b-4953cc9079ff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196bb4d-b7e6-44da-bfdf-15b49545661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088da4b-38f5-4e27-b1e7-e405c5191abf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451155e-2e5c-47d0-bad0-4b294e09a85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2876edc-0115-47f2-bb3a-7a4aeea68af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59127e4-8279-4592-8e6c-a12d2ff6e4ca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04b1321-ca19-41d4-8118-d6e480ca2c0c}"/>
  <p:tag name="TABLE_ENDDRAG_ORIGIN_RECT" val="652*347"/>
  <p:tag name="TABLE_ENDDRAG_RECT" val="53*88*652*34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f75f7f7-22e4-46f0-88d2-eb808b2d728c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5a7cb04-b64a-4055-b10c-698a1d70375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d12fb33-9eb5-492a-9e2b-f9557e001ee6}"/>
  <p:tag name="TABLE_ENDDRAG_ORIGIN_RECT" val="595*101"/>
  <p:tag name="TABLE_ENDDRAG_RECT" val="70*400*595*10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fca33de-0aa7-4350-876f-c281db50b9ba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2b2e534-8abd-47fc-a012-6087238f146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dd2c57d-245e-4e20-94e9-a797bfe1ffe4}"/>
  <p:tag name="TABLE_ENDDRAG_ORIGIN_RECT" val="645*346"/>
  <p:tag name="TABLE_ENDDRAG_RECT" val="53*98*645*34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9d6b28e-590e-41ce-ac78-e498e70ae822}"/>
  <p:tag name="TABLE_ENDDRAG_ORIGIN_RECT" val="631*61"/>
  <p:tag name="TABLE_ENDDRAG_RECT" val="53*179*631*6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56c7ccd-f323-4110-a9ba-3b6d5fb7d36f}"/>
  <p:tag name="TABLE_ENDDRAG_ORIGIN_RECT" val="630*58"/>
  <p:tag name="TABLE_ENDDRAG_RECT" val="53*304*630*5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5076e98-e151-4edf-bc93-ec8aa0db3efe}"/>
  <p:tag name="TABLE_ENDDRAG_ORIGIN_RECT" val="651*402"/>
  <p:tag name="TABLE_ENDDRAG_RECT" val="53*88*651*40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d4d4019-3cdd-40e3-af64-153a4699d4e3}"/>
  <p:tag name="TABLE_ENDDRAG_ORIGIN_RECT" val="651*397"/>
  <p:tag name="TABLE_ENDDRAG_RECT" val="54*88*651*39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91ef388-81e6-465b-99a2-093156ed5be2}"/>
  <p:tag name="TABLE_ENDDRAG_ORIGIN_RECT" val="651*391"/>
  <p:tag name="TABLE_ENDDRAG_RECT" val="53*88*651*39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06cc461-f212-4c4e-b330-4dcf0fc789c9}"/>
  <p:tag name="TABLE_ENDDRAG_ORIGIN_RECT" val="434*402"/>
  <p:tag name="TABLE_ENDDRAG_RECT" val="270*88*434*402"/>
</p:tagLst>
</file>

<file path=ppt/theme/theme1.xml><?xml version="1.0" encoding="utf-8"?>
<a:theme xmlns:a="http://schemas.openxmlformats.org/drawingml/2006/main" name="2_Blends">
  <a:themeElements>
    <a:clrScheme name="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5"/>
      </a:accent5>
      <a:accent6>
        <a:srgbClr val="ACACAC"/>
      </a:accent6>
      <a:hlink>
        <a:srgbClr val="91AFBF"/>
      </a:hlink>
      <a:folHlink>
        <a:srgbClr val="ECEAAC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10353</Words>
  <Application>Microsoft Office PowerPoint</Application>
  <PresentationFormat>全屏显示(4:3)</PresentationFormat>
  <Paragraphs>1790</Paragraphs>
  <Slides>87</Slides>
  <Notes>87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87</vt:i4>
      </vt:variant>
    </vt:vector>
  </HeadingPairs>
  <TitlesOfParts>
    <vt:vector size="97" baseType="lpstr">
      <vt:lpstr>Arial Unicode MS</vt:lpstr>
      <vt:lpstr>宋体</vt:lpstr>
      <vt:lpstr>Arial</vt:lpstr>
      <vt:lpstr>Arial Black</vt:lpstr>
      <vt:lpstr>Lucida Console</vt:lpstr>
      <vt:lpstr>Times New Roman</vt:lpstr>
      <vt:lpstr>Verdana</vt:lpstr>
      <vt:lpstr>Wingdings</vt:lpstr>
      <vt:lpstr>2_Blends</vt:lpstr>
      <vt:lpstr>Equation.3</vt:lpstr>
      <vt:lpstr>Chapter 2</vt:lpstr>
      <vt:lpstr>Introduction</vt:lpstr>
      <vt:lpstr>Operations of the Computer Hardware</vt:lpstr>
      <vt:lpstr>Example:Compiling a complex C assignment</vt:lpstr>
      <vt:lpstr>RISC-V operands</vt:lpstr>
      <vt:lpstr>RISC-V assembly language</vt:lpstr>
      <vt:lpstr>PowerPoint 演示文稿</vt:lpstr>
      <vt:lpstr>PowerPoint 演示文稿</vt:lpstr>
      <vt:lpstr>PowerPoint 演示文稿</vt:lpstr>
      <vt:lpstr>PowerPoint 演示文稿</vt:lpstr>
      <vt:lpstr>Operands of the Computer Hardware</vt:lpstr>
      <vt:lpstr>RISC-V register conventions</vt:lpstr>
      <vt:lpstr>Example:Compiling a C statement using registers</vt:lpstr>
      <vt:lpstr>Memory operands</vt:lpstr>
      <vt:lpstr>Example:Compiling with an operand in memory C code</vt:lpstr>
      <vt:lpstr>Memory Alignment</vt:lpstr>
      <vt:lpstr>Endianness/byte order</vt:lpstr>
      <vt:lpstr>Example(p77):Compiling using load and store</vt:lpstr>
      <vt:lpstr>Registers vs. Memory</vt:lpstr>
      <vt:lpstr>Constant or immediate Operands</vt:lpstr>
      <vt:lpstr>signed and unsigned numbers</vt:lpstr>
      <vt:lpstr>Unsigned Binary Integers</vt:lpstr>
      <vt:lpstr>2’s-Complement Signed Integers</vt:lpstr>
      <vt:lpstr>2’s-Complement Signed Integers</vt:lpstr>
      <vt:lpstr>Signed Negation</vt:lpstr>
      <vt:lpstr>Sign Extension</vt:lpstr>
      <vt:lpstr>Other representations</vt:lpstr>
      <vt:lpstr>Representing Instructions</vt:lpstr>
      <vt:lpstr>RISC-V fields (format)</vt:lpstr>
      <vt:lpstr>RISC-V fields (format)</vt:lpstr>
      <vt:lpstr>PowerPoint 演示文稿</vt:lpstr>
      <vt:lpstr>Example(p91):Translating assembly into machine instruction</vt:lpstr>
      <vt:lpstr>PowerPoint 演示文稿</vt:lpstr>
      <vt:lpstr>Stored-program concept</vt:lpstr>
      <vt:lpstr>RISC-V instruction encoding</vt:lpstr>
      <vt:lpstr>Logical operations</vt:lpstr>
      <vt:lpstr>PowerPoint 演示文稿</vt:lpstr>
      <vt:lpstr>PowerPoint 演示文稿</vt:lpstr>
      <vt:lpstr>Instructions for making decisions</vt:lpstr>
      <vt:lpstr>Example:Compiling a while loop</vt:lpstr>
      <vt:lpstr>PowerPoint 演示文稿</vt:lpstr>
      <vt:lpstr>Signed vs unsigned comparison</vt:lpstr>
      <vt:lpstr>Case/Switch Statement</vt:lpstr>
      <vt:lpstr>PowerPoint 演示文稿</vt:lpstr>
      <vt:lpstr>PowerPoint 演示文稿</vt:lpstr>
      <vt:lpstr>Supporting Procedures in Computer Hardware</vt:lpstr>
      <vt:lpstr>PowerPoint 演示文稿</vt:lpstr>
      <vt:lpstr>Example(p106):Compiling a leaf procedure</vt:lpstr>
      <vt:lpstr>PowerPoint 演示文稿</vt:lpstr>
      <vt:lpstr>The values of the stack pointer and stack before, during and after procedure call in Example</vt:lpstr>
      <vt:lpstr>Nested Procedures:Compiling a recursive procedure</vt:lpstr>
      <vt:lpstr>PowerPoint 演示文稿</vt:lpstr>
      <vt:lpstr>PowerPoint 演示文稿</vt:lpstr>
      <vt:lpstr>PowerPoint 演示文稿</vt:lpstr>
      <vt:lpstr>PowerPoint 演示文稿</vt:lpstr>
      <vt:lpstr>RISC-V register conventions</vt:lpstr>
      <vt:lpstr>communication with people</vt:lpstr>
      <vt:lpstr>Example:Compiling a string copy procedure</vt:lpstr>
      <vt:lpstr>PowerPoint 演示文稿</vt:lpstr>
      <vt:lpstr>RISC-V Addressing for Wide Immediate and Addresses</vt:lpstr>
      <vt:lpstr>PowerPoint 演示文稿</vt:lpstr>
      <vt:lpstr>Example (p123):Show branch offset in machine language</vt:lpstr>
      <vt:lpstr>PowerPoint 演示文稿</vt:lpstr>
      <vt:lpstr>PowerPoint 演示文稿</vt:lpstr>
      <vt:lpstr>PowerPoint 演示文稿</vt:lpstr>
      <vt:lpstr>Example (p127):Decoding machine code</vt:lpstr>
      <vt:lpstr>Summary of RISC-V instruction encoding</vt:lpstr>
      <vt:lpstr>PowerPoint 演示文稿</vt:lpstr>
      <vt:lpstr>PowerPoint 演示文稿</vt:lpstr>
      <vt:lpstr>Parallelism and Instructions: Synchronization</vt:lpstr>
      <vt:lpstr>PowerPoint 演示文稿</vt:lpstr>
      <vt:lpstr>Translating and Starting a Program</vt:lpstr>
      <vt:lpstr>Start a C program in a file on disk to run</vt:lpstr>
      <vt:lpstr>PowerPoint 演示文稿</vt:lpstr>
      <vt:lpstr>PowerPoint 演示文稿</vt:lpstr>
      <vt:lpstr>PowerPoint 演示文稿</vt:lpstr>
      <vt:lpstr>A C Sort Example To Put it All Together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Arrays versus Pointers</vt:lpstr>
      <vt:lpstr>PowerPoint 演示文稿</vt:lpstr>
      <vt:lpstr>PowerPoint 演示文稿</vt:lpstr>
      <vt:lpstr>Concluding Remarks</vt:lpstr>
    </vt:vector>
  </TitlesOfParts>
  <Company>Ashenden Designs Pty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Rosetta Demostrator Project MASC, Adelaide University and Ashenden Designs</dc:title>
  <dc:creator>Peter J. Ashenden</dc:creator>
  <cp:lastModifiedBy>zwf zwf</cp:lastModifiedBy>
  <cp:revision>169</cp:revision>
  <dcterms:created xsi:type="dcterms:W3CDTF">2001-07-25T06:45:00Z</dcterms:created>
  <dcterms:modified xsi:type="dcterms:W3CDTF">2025-09-17T06:11:44Z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4AA7EBB76C2B4C459FBD2A8E465C1866</vt:lpwstr>
  </property>
  <property fmtid="{D5CDD505-2E9C-101B-9397-08002B2CF9AE}" pid="3" name="KSOProductBuildVer">
    <vt:lpwstr>2052-11.1.0.12165</vt:lpwstr>
  </property>
</Properties>
</file>