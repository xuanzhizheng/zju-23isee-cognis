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56"/>
  </p:notesMasterIdLst>
  <p:handoutMasterIdLst>
    <p:handoutMasterId r:id="rId57"/>
  </p:handoutMasterIdLst>
  <p:sldIdLst>
    <p:sldId id="279" r:id="rId2"/>
    <p:sldId id="374" r:id="rId3"/>
    <p:sldId id="278" r:id="rId4"/>
    <p:sldId id="412" r:id="rId5"/>
    <p:sldId id="351" r:id="rId6"/>
    <p:sldId id="416" r:id="rId7"/>
    <p:sldId id="414" r:id="rId8"/>
    <p:sldId id="415" r:id="rId9"/>
    <p:sldId id="407" r:id="rId10"/>
    <p:sldId id="408" r:id="rId11"/>
    <p:sldId id="409" r:id="rId12"/>
    <p:sldId id="410" r:id="rId13"/>
    <p:sldId id="411" r:id="rId14"/>
    <p:sldId id="375" r:id="rId15"/>
    <p:sldId id="417" r:id="rId16"/>
    <p:sldId id="418" r:id="rId17"/>
    <p:sldId id="356" r:id="rId18"/>
    <p:sldId id="543" r:id="rId19"/>
    <p:sldId id="280" r:id="rId20"/>
    <p:sldId id="341" r:id="rId21"/>
    <p:sldId id="390" r:id="rId22"/>
    <p:sldId id="376" r:id="rId23"/>
    <p:sldId id="299" r:id="rId24"/>
    <p:sldId id="377" r:id="rId25"/>
    <p:sldId id="378" r:id="rId26"/>
    <p:sldId id="419" r:id="rId27"/>
    <p:sldId id="382" r:id="rId28"/>
    <p:sldId id="383" r:id="rId29"/>
    <p:sldId id="401" r:id="rId30"/>
    <p:sldId id="403" r:id="rId31"/>
    <p:sldId id="404" r:id="rId32"/>
    <p:sldId id="402" r:id="rId33"/>
    <p:sldId id="384" r:id="rId34"/>
    <p:sldId id="362" r:id="rId35"/>
    <p:sldId id="363" r:id="rId36"/>
    <p:sldId id="386" r:id="rId37"/>
    <p:sldId id="366" r:id="rId38"/>
    <p:sldId id="367" r:id="rId39"/>
    <p:sldId id="306" r:id="rId40"/>
    <p:sldId id="420" r:id="rId41"/>
    <p:sldId id="290" r:id="rId42"/>
    <p:sldId id="387" r:id="rId43"/>
    <p:sldId id="388" r:id="rId44"/>
    <p:sldId id="389" r:id="rId45"/>
    <p:sldId id="398" r:id="rId46"/>
    <p:sldId id="544" r:id="rId47"/>
    <p:sldId id="393" r:id="rId48"/>
    <p:sldId id="545" r:id="rId49"/>
    <p:sldId id="394" r:id="rId50"/>
    <p:sldId id="399" r:id="rId51"/>
    <p:sldId id="333" r:id="rId52"/>
    <p:sldId id="546" r:id="rId53"/>
    <p:sldId id="547" r:id="rId54"/>
    <p:sldId id="400" r:id="rId5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4400" b="1" kern="1200">
        <a:solidFill>
          <a:schemeClr val="hlink"/>
        </a:solidFill>
        <a:latin typeface="Arial" charset="0"/>
        <a:ea typeface="宋体" charset="0"/>
        <a:cs typeface="宋体" charset="0"/>
      </a:defRPr>
    </a:lvl1pPr>
    <a:lvl2pPr marL="457200" algn="l" rtl="0" fontAlgn="base">
      <a:spcBef>
        <a:spcPct val="0"/>
      </a:spcBef>
      <a:spcAft>
        <a:spcPct val="0"/>
      </a:spcAft>
      <a:defRPr sz="4400" b="1" kern="1200">
        <a:solidFill>
          <a:schemeClr val="hlink"/>
        </a:solidFill>
        <a:latin typeface="Arial" charset="0"/>
        <a:ea typeface="宋体" charset="0"/>
        <a:cs typeface="宋体" charset="0"/>
      </a:defRPr>
    </a:lvl2pPr>
    <a:lvl3pPr marL="914400" algn="l" rtl="0" fontAlgn="base">
      <a:spcBef>
        <a:spcPct val="0"/>
      </a:spcBef>
      <a:spcAft>
        <a:spcPct val="0"/>
      </a:spcAft>
      <a:defRPr sz="4400" b="1" kern="1200">
        <a:solidFill>
          <a:schemeClr val="hlink"/>
        </a:solidFill>
        <a:latin typeface="Arial" charset="0"/>
        <a:ea typeface="宋体" charset="0"/>
        <a:cs typeface="宋体" charset="0"/>
      </a:defRPr>
    </a:lvl3pPr>
    <a:lvl4pPr marL="1371600" algn="l" rtl="0" fontAlgn="base">
      <a:spcBef>
        <a:spcPct val="0"/>
      </a:spcBef>
      <a:spcAft>
        <a:spcPct val="0"/>
      </a:spcAft>
      <a:defRPr sz="4400" b="1" kern="1200">
        <a:solidFill>
          <a:schemeClr val="hlink"/>
        </a:solidFill>
        <a:latin typeface="Arial" charset="0"/>
        <a:ea typeface="宋体" charset="0"/>
        <a:cs typeface="宋体" charset="0"/>
      </a:defRPr>
    </a:lvl4pPr>
    <a:lvl5pPr marL="1828800" algn="l" rtl="0" fontAlgn="base">
      <a:spcBef>
        <a:spcPct val="0"/>
      </a:spcBef>
      <a:spcAft>
        <a:spcPct val="0"/>
      </a:spcAft>
      <a:defRPr sz="4400" b="1" kern="1200">
        <a:solidFill>
          <a:schemeClr val="hlink"/>
        </a:solidFill>
        <a:latin typeface="Arial" charset="0"/>
        <a:ea typeface="宋体" charset="0"/>
        <a:cs typeface="宋体" charset="0"/>
      </a:defRPr>
    </a:lvl5pPr>
    <a:lvl6pPr marL="2286000" algn="l" defTabSz="457200" rtl="0" eaLnBrk="1" latinLnBrk="0" hangingPunct="1">
      <a:defRPr sz="4400" b="1" kern="1200">
        <a:solidFill>
          <a:schemeClr val="hlink"/>
        </a:solidFill>
        <a:latin typeface="Arial" charset="0"/>
        <a:ea typeface="宋体" charset="0"/>
        <a:cs typeface="宋体" charset="0"/>
      </a:defRPr>
    </a:lvl6pPr>
    <a:lvl7pPr marL="2743200" algn="l" defTabSz="457200" rtl="0" eaLnBrk="1" latinLnBrk="0" hangingPunct="1">
      <a:defRPr sz="4400" b="1" kern="1200">
        <a:solidFill>
          <a:schemeClr val="hlink"/>
        </a:solidFill>
        <a:latin typeface="Arial" charset="0"/>
        <a:ea typeface="宋体" charset="0"/>
        <a:cs typeface="宋体" charset="0"/>
      </a:defRPr>
    </a:lvl7pPr>
    <a:lvl8pPr marL="3200400" algn="l" defTabSz="457200" rtl="0" eaLnBrk="1" latinLnBrk="0" hangingPunct="1">
      <a:defRPr sz="4400" b="1" kern="1200">
        <a:solidFill>
          <a:schemeClr val="hlink"/>
        </a:solidFill>
        <a:latin typeface="Arial" charset="0"/>
        <a:ea typeface="宋体" charset="0"/>
        <a:cs typeface="宋体" charset="0"/>
      </a:defRPr>
    </a:lvl8pPr>
    <a:lvl9pPr marL="3657600" algn="l" defTabSz="457200" rtl="0" eaLnBrk="1" latinLnBrk="0" hangingPunct="1">
      <a:defRPr sz="4400" b="1" kern="1200">
        <a:solidFill>
          <a:schemeClr val="hlink"/>
        </a:solidFill>
        <a:latin typeface="Arial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66"/>
    <a:srgbClr val="3333CC"/>
    <a:srgbClr val="D0F0F4"/>
    <a:srgbClr val="CCF0D5"/>
    <a:srgbClr val="B5E9C3"/>
    <a:srgbClr val="F6F7D9"/>
    <a:srgbClr val="FF0000"/>
    <a:srgbClr val="D02C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280" y="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37" d="100"/>
          <a:sy n="37" d="100"/>
        </p:scale>
        <p:origin x="-1090" y="-5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image" Target="../media/image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 b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 b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 b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 b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EE745050-7073-9B4A-B6B6-79B76CF2C4F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34689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 b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 b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0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 b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 b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7F19159E-40B3-5643-8EF7-715B51474DD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10036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charset="0"/>
        <a:cs typeface="宋体" charset="0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charset="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charset="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charset="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F19159E-40B3-5643-8EF7-715B51474DDC}" type="slidenum">
              <a:rPr lang="zh-CN" altLang="en-US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64555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F19159E-40B3-5643-8EF7-715B51474DDC}" type="slidenum">
              <a:rPr lang="zh-CN" altLang="en-US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466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400" b="0">
                <a:solidFill>
                  <a:schemeClr val="tx1"/>
                </a:solidFill>
                <a:latin typeface="Times New Roman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 b="0">
                <a:solidFill>
                  <a:schemeClr val="tx1"/>
                </a:solidFill>
                <a:latin typeface="Times New Roman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 b="0">
                  <a:solidFill>
                    <a:schemeClr val="tx1"/>
                  </a:solidFill>
                  <a:latin typeface="Times New Roman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 b="0">
                  <a:solidFill>
                    <a:schemeClr val="tx1"/>
                  </a:solidFill>
                  <a:latin typeface="Times New Roman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 b="0">
                  <a:solidFill>
                    <a:schemeClr val="tx1"/>
                  </a:solidFill>
                  <a:latin typeface="Times New Roman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 b="0">
                  <a:solidFill>
                    <a:schemeClr val="tx1"/>
                  </a:solidFill>
                  <a:latin typeface="Times New Roman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 b="0">
                  <a:solidFill>
                    <a:schemeClr val="tx1"/>
                  </a:solidFill>
                  <a:latin typeface="Times New Roman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 b="0">
                  <a:solidFill>
                    <a:schemeClr val="tx1"/>
                  </a:solidFill>
                  <a:latin typeface="Times New Roman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 b="0">
                  <a:solidFill>
                    <a:schemeClr val="tx1"/>
                  </a:solidFill>
                  <a:latin typeface="Times New Roman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 b="0">
                  <a:solidFill>
                    <a:schemeClr val="tx1"/>
                  </a:solidFill>
                  <a:latin typeface="Times New Roman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 b="0">
                  <a:solidFill>
                    <a:schemeClr val="tx1"/>
                  </a:solidFill>
                  <a:latin typeface="Times New Roman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 b="0">
                  <a:solidFill>
                    <a:schemeClr val="tx1"/>
                  </a:solidFill>
                  <a:latin typeface="Times New Roman" charset="0"/>
                </a:endParaRPr>
              </a:p>
            </p:txBody>
          </p:sp>
        </p:grpSp>
      </p:grpSp>
      <p:sp>
        <p:nvSpPr>
          <p:cNvPr id="17921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7922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charset="0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E1FF7A-5714-4D43-857F-CE72840C0C4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067540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AB1252-F3DC-1A4A-ADCF-564D35C599D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273408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00D4B5-822C-C64E-A736-EF81B451983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182041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F0FAEA-75D1-1B4A-95FD-B14DF3F5B56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507814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4E0DE6-FD00-3A41-A739-EEC96216DCB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866246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8790CE-A21B-754F-86C0-8C216BFE0BC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1330274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9937C7-7627-6840-B6EC-4AB2B2D5224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657416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A5AD9-CD12-0D4E-8010-7A10732F474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506582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A4AD65-0175-FB46-96BD-46F416FAE53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931474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3CF08E-5E3F-CE4D-8A73-6E09B7DB4BB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017736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FE6EE2-0C07-D44D-B68B-F928503E868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406404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817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latin typeface="Arial Black" charset="0"/>
              </a:defRPr>
            </a:lvl1pPr>
          </a:lstStyle>
          <a:p>
            <a:pPr>
              <a:defRPr/>
            </a:pPr>
            <a:fld id="{AEB042E5-1D5D-B242-9D1D-5F8600E3B1A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78181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400" b="0">
                <a:solidFill>
                  <a:schemeClr val="tx1"/>
                </a:solidFill>
                <a:latin typeface="Times New Roman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 b="0">
                <a:solidFill>
                  <a:schemeClr val="tx1"/>
                </a:solidFill>
                <a:latin typeface="Times New Roman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 b="0"/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 b="0"/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 b="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 b="0"/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 b="0">
                <a:solidFill>
                  <a:schemeClr val="tx1"/>
                </a:solidFill>
                <a:latin typeface="Times New Roman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 b="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 b="0">
                <a:solidFill>
                  <a:schemeClr val="accent2"/>
                </a:solidFill>
              </a:endParaRPr>
            </a:p>
          </p:txBody>
        </p:sp>
      </p:grpSp>
      <p:sp>
        <p:nvSpPr>
          <p:cNvPr id="178190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7819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819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charset="0"/>
          <a:ea typeface="宋体" charset="0"/>
          <a:cs typeface="宋体" charset="0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charset="0"/>
          <a:ea typeface="宋体" charset="0"/>
          <a:cs typeface="宋体" charset="0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charset="0"/>
          <a:ea typeface="宋体" charset="0"/>
          <a:cs typeface="宋体" charset="0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charset="0"/>
          <a:ea typeface="宋体" charset="0"/>
          <a:cs typeface="宋体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charset="0"/>
          <a:ea typeface="宋体" charset="0"/>
          <a:cs typeface="宋体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charset="0"/>
          <a:ea typeface="宋体" charset="0"/>
          <a:cs typeface="宋体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charset="0"/>
          <a:ea typeface="宋体" charset="0"/>
          <a:cs typeface="宋体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charset="0"/>
          <a:ea typeface="宋体" charset="0"/>
          <a:cs typeface="宋体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charset="0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charset="0"/>
        <a:buChar char="¨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charset="0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charset="0"/>
        <a:buChar char="¨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charset="0"/>
        <a:buChar char="§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charset="0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charset="0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charset="0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charset="0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.png"/><Relationship Id="rId5" Type="http://schemas.openxmlformats.org/officeDocument/2006/relationships/oleObject" Target="../embeddings/oleObject5.bin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oleObject" Target="../embeddings/oleObject7.bin"/><Relationship Id="rId4" Type="http://schemas.openxmlformats.org/officeDocument/2006/relationships/image" Target="../media/image4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8.bin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6.wm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450" y="333375"/>
            <a:ext cx="5630863" cy="99060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latin typeface="宋体" charset="0"/>
              </a:rPr>
              <a:t>第 四 章  循环结构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628775"/>
            <a:ext cx="8642350" cy="4608513"/>
          </a:xfrm>
        </p:spPr>
        <p:txBody>
          <a:bodyPr/>
          <a:lstStyle/>
          <a:p>
            <a:pPr marL="0" indent="0">
              <a:buFont typeface="Wingdings" charset="0"/>
              <a:buNone/>
              <a:defRPr/>
            </a:pPr>
            <a:r>
              <a:rPr lang="en-US" altLang="zh-CN" dirty="0"/>
              <a:t>4.1</a:t>
            </a:r>
            <a:r>
              <a:rPr lang="zh-CN" altLang="en-US" dirty="0"/>
              <a:t> 用格雷戈里公式求</a:t>
            </a:r>
            <a:r>
              <a:rPr lang="en-US" altLang="zh-CN" dirty="0"/>
              <a:t>π</a:t>
            </a:r>
            <a:r>
              <a:rPr lang="zh-CN" altLang="en-US" dirty="0"/>
              <a:t>的近似值 (</a:t>
            </a:r>
            <a:r>
              <a:rPr lang="en-US" altLang="zh-CN" dirty="0"/>
              <a:t>while</a:t>
            </a:r>
            <a:r>
              <a:rPr lang="zh-CN" altLang="en-US" dirty="0"/>
              <a:t>语句)</a:t>
            </a:r>
          </a:p>
          <a:p>
            <a:pPr marL="0" indent="0" algn="just">
              <a:spcBef>
                <a:spcPct val="100000"/>
              </a:spcBef>
              <a:buFont typeface="Wingdings" charset="0"/>
              <a:buNone/>
              <a:defRPr/>
            </a:pPr>
            <a:r>
              <a:rPr lang="en-US" altLang="zh-CN" dirty="0"/>
              <a:t>4.2</a:t>
            </a:r>
            <a:r>
              <a:rPr lang="zh-CN" altLang="en-US" dirty="0"/>
              <a:t> 统计一个整数的位数 (</a:t>
            </a:r>
            <a:r>
              <a:rPr lang="en-US" altLang="zh-CN" dirty="0"/>
              <a:t>do-while</a:t>
            </a:r>
            <a:r>
              <a:rPr lang="zh-CN" altLang="en-US" dirty="0"/>
              <a:t>语句)</a:t>
            </a:r>
          </a:p>
          <a:p>
            <a:pPr marL="0" indent="0" algn="just">
              <a:spcBef>
                <a:spcPct val="100000"/>
              </a:spcBef>
              <a:buFont typeface="Wingdings" charset="0"/>
              <a:buNone/>
              <a:defRPr/>
            </a:pPr>
            <a:r>
              <a:rPr lang="en-US" altLang="zh-CN" dirty="0"/>
              <a:t>4.3</a:t>
            </a:r>
            <a:r>
              <a:rPr lang="zh-CN" dirty="0"/>
              <a:t> 判断素数</a:t>
            </a:r>
            <a:r>
              <a:rPr lang="zh-CN" altLang="en-US" dirty="0"/>
              <a:t> (</a:t>
            </a:r>
            <a:r>
              <a:rPr lang="en-US" altLang="zh-CN" dirty="0"/>
              <a:t>break </a:t>
            </a:r>
            <a:r>
              <a:rPr lang="zh-CN" altLang="en-US" dirty="0"/>
              <a:t>和 </a:t>
            </a:r>
            <a:r>
              <a:rPr lang="en-US" altLang="zh-CN" dirty="0"/>
              <a:t>continue </a:t>
            </a:r>
            <a:r>
              <a:rPr lang="zh-CN" altLang="en-US" dirty="0"/>
              <a:t>语句)</a:t>
            </a:r>
          </a:p>
          <a:p>
            <a:pPr marL="0" indent="0" algn="just">
              <a:spcBef>
                <a:spcPct val="100000"/>
              </a:spcBef>
              <a:buFont typeface="Wingdings" charset="0"/>
              <a:buNone/>
              <a:defRPr/>
            </a:pPr>
            <a:r>
              <a:rPr lang="en-US" altLang="zh-CN" dirty="0"/>
              <a:t>4.4</a:t>
            </a:r>
            <a:r>
              <a:rPr lang="zh-CN" altLang="en-US" dirty="0"/>
              <a:t> 求</a:t>
            </a:r>
            <a:r>
              <a:rPr lang="en-US" altLang="zh-CN" dirty="0"/>
              <a:t>1! + 2! + … + n!</a:t>
            </a:r>
            <a:r>
              <a:rPr lang="zh-CN" altLang="en-US" dirty="0"/>
              <a:t> (循环嵌套)</a:t>
            </a:r>
          </a:p>
          <a:p>
            <a:pPr marL="0" indent="0" algn="just">
              <a:spcBef>
                <a:spcPct val="100000"/>
              </a:spcBef>
              <a:buFont typeface="Wingdings" charset="0"/>
              <a:buNone/>
              <a:defRPr/>
            </a:pPr>
            <a:r>
              <a:rPr lang="en-US" altLang="zh-CN" dirty="0"/>
              <a:t>4.5</a:t>
            </a:r>
            <a:r>
              <a:rPr lang="zh-CN" altLang="en-US" dirty="0"/>
              <a:t> 循环结构程序设计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304800"/>
            <a:ext cx="4373563" cy="91440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 algn="ctr">
              <a:defRPr/>
            </a:pPr>
            <a:r>
              <a:rPr lang="zh-CN" altLang="en-US"/>
              <a:t>本章要点</a:t>
            </a:r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534400" cy="5105400"/>
          </a:xfrm>
        </p:spPr>
        <p:txBody>
          <a:bodyPr/>
          <a:lstStyle/>
          <a:p>
            <a:pPr algn="just">
              <a:lnSpc>
                <a:spcPct val="90000"/>
              </a:lnSpc>
              <a:spcBef>
                <a:spcPct val="100000"/>
              </a:spcBef>
              <a:defRPr/>
            </a:pPr>
            <a:r>
              <a:rPr lang="zh-CN" altLang="en-US" sz="2800" dirty="0"/>
              <a:t>什么是循环? 为什么要使用循环? 如何实现循环?</a:t>
            </a:r>
          </a:p>
          <a:p>
            <a:pPr algn="just">
              <a:lnSpc>
                <a:spcPct val="90000"/>
              </a:lnSpc>
              <a:spcBef>
                <a:spcPct val="100000"/>
              </a:spcBef>
              <a:defRPr/>
            </a:pPr>
            <a:r>
              <a:rPr lang="zh-CN" altLang="en-US" sz="2800" dirty="0"/>
              <a:t>实现循环时，如何确定循环条件和循环体?</a:t>
            </a:r>
          </a:p>
          <a:p>
            <a:pPr algn="just">
              <a:lnSpc>
                <a:spcPct val="90000"/>
              </a:lnSpc>
              <a:spcBef>
                <a:spcPct val="100000"/>
              </a:spcBef>
              <a:defRPr/>
            </a:pPr>
            <a:r>
              <a:rPr lang="zh-CN" altLang="en-US" sz="2800" dirty="0"/>
              <a:t>怎样使用</a:t>
            </a:r>
            <a:r>
              <a:rPr lang="en-US" altLang="zh-CN" sz="2800" dirty="0"/>
              <a:t>while</a:t>
            </a:r>
            <a:r>
              <a:rPr lang="zh-CN" altLang="en-US" sz="2800" dirty="0"/>
              <a:t>和</a:t>
            </a:r>
            <a:r>
              <a:rPr lang="en-US" altLang="zh-CN" sz="2800" dirty="0"/>
              <a:t>do-while</a:t>
            </a:r>
            <a:r>
              <a:rPr lang="zh-CN" altLang="en-US" sz="2800" dirty="0"/>
              <a:t>语句实现次数不确定的循环?</a:t>
            </a:r>
          </a:p>
          <a:p>
            <a:pPr algn="just">
              <a:lnSpc>
                <a:spcPct val="90000"/>
              </a:lnSpc>
              <a:spcBef>
                <a:spcPct val="100000"/>
              </a:spcBef>
              <a:defRPr/>
            </a:pPr>
            <a:r>
              <a:rPr lang="en-US" altLang="zh-CN" sz="2800" dirty="0"/>
              <a:t>while</a:t>
            </a:r>
            <a:r>
              <a:rPr lang="zh-CN" altLang="en-US" sz="2800" dirty="0"/>
              <a:t>和</a:t>
            </a:r>
            <a:r>
              <a:rPr lang="en-US" altLang="zh-CN" sz="2800" dirty="0"/>
              <a:t>do-while</a:t>
            </a:r>
            <a:r>
              <a:rPr lang="zh-CN" altLang="en-US" sz="2800" dirty="0"/>
              <a:t>语句有什么不同?</a:t>
            </a:r>
          </a:p>
          <a:p>
            <a:pPr algn="just">
              <a:lnSpc>
                <a:spcPct val="90000"/>
              </a:lnSpc>
              <a:spcBef>
                <a:spcPct val="100000"/>
              </a:spcBef>
              <a:defRPr/>
            </a:pPr>
            <a:r>
              <a:rPr lang="zh-CN" altLang="en-US" sz="2800" dirty="0"/>
              <a:t>如何使用</a:t>
            </a:r>
            <a:r>
              <a:rPr lang="en-US" altLang="zh-CN" sz="2800" dirty="0"/>
              <a:t>break</a:t>
            </a:r>
            <a:r>
              <a:rPr lang="zh-CN" altLang="en-US" sz="2800" dirty="0"/>
              <a:t>语句处理多循环条件?</a:t>
            </a:r>
          </a:p>
          <a:p>
            <a:pPr algn="just">
              <a:lnSpc>
                <a:spcPct val="90000"/>
              </a:lnSpc>
              <a:spcBef>
                <a:spcPct val="100000"/>
              </a:spcBef>
              <a:defRPr/>
            </a:pPr>
            <a:r>
              <a:rPr lang="zh-CN" altLang="en-US" sz="2800" dirty="0"/>
              <a:t>如何实现多重循环?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4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4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4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4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4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4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4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4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4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4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4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4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215900" y="422275"/>
            <a:ext cx="8604250" cy="99060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en-US" altLang="zh-CN" dirty="0"/>
              <a:t>4.1</a:t>
            </a:r>
            <a:r>
              <a:rPr lang="zh-CN" altLang="en-US" dirty="0"/>
              <a:t> 用格里高利公式求</a:t>
            </a:r>
            <a:r>
              <a:rPr lang="en-US" altLang="zh-CN" dirty="0"/>
              <a:t>π</a:t>
            </a:r>
            <a:r>
              <a:rPr lang="zh-CN" altLang="en-US" dirty="0"/>
              <a:t>的近似值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524000"/>
            <a:ext cx="7770813" cy="4724400"/>
          </a:xfrm>
          <a:ln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>
              <a:buNone/>
              <a:defRPr/>
            </a:pPr>
            <a:r>
              <a:rPr lang="zh-CN" altLang="en-US" dirty="0"/>
              <a:t>例</a:t>
            </a:r>
            <a:r>
              <a:rPr lang="en-US" altLang="zh-CN" dirty="0"/>
              <a:t>4-1 </a:t>
            </a:r>
            <a:r>
              <a:rPr lang="zh-CN" altLang="en-US" dirty="0"/>
              <a:t>使用格雷戈里公式求</a:t>
            </a:r>
            <a:r>
              <a:rPr lang="en-US" altLang="zh-CN" dirty="0"/>
              <a:t>π</a:t>
            </a:r>
            <a:r>
              <a:rPr lang="zh-CN" altLang="en-US" dirty="0"/>
              <a:t>的近似值，要求精确到最后一项的绝对值小于</a:t>
            </a:r>
            <a:r>
              <a:rPr lang="zh-CN" altLang="zh-CN" dirty="0"/>
              <a:t>给定精度</a:t>
            </a:r>
            <a:r>
              <a:rPr lang="en-US" altLang="zh-CN" dirty="0"/>
              <a:t>eps</a:t>
            </a:r>
            <a:r>
              <a:rPr lang="zh-CN" altLang="en-US" dirty="0"/>
              <a:t>。</a:t>
            </a:r>
          </a:p>
          <a:p>
            <a:pPr>
              <a:buFont typeface="Wingdings" charset="0"/>
              <a:buNone/>
              <a:defRPr/>
            </a:pPr>
            <a:endParaRPr lang="zh-CN" altLang="en-US" dirty="0"/>
          </a:p>
          <a:p>
            <a:pPr>
              <a:buFont typeface="Wingdings" charset="0"/>
              <a:buNone/>
              <a:defRPr/>
            </a:pPr>
            <a:endParaRPr lang="zh-CN" altLang="en-US" dirty="0"/>
          </a:p>
          <a:p>
            <a:pPr algn="just">
              <a:spcBef>
                <a:spcPct val="50000"/>
              </a:spcBef>
              <a:buFont typeface="Wingdings" charset="0"/>
              <a:buNone/>
              <a:defRPr/>
            </a:pPr>
            <a:r>
              <a:rPr lang="en-US" altLang="zh-CN" dirty="0"/>
              <a:t>4.1.1</a:t>
            </a:r>
            <a:r>
              <a:rPr lang="zh-CN" altLang="en-US" dirty="0"/>
              <a:t>  程序解析</a:t>
            </a:r>
          </a:p>
          <a:p>
            <a:pPr algn="just">
              <a:spcBef>
                <a:spcPct val="50000"/>
              </a:spcBef>
              <a:buFont typeface="Wingdings" charset="0"/>
              <a:buNone/>
              <a:defRPr/>
            </a:pPr>
            <a:r>
              <a:rPr lang="en-US" altLang="zh-CN" dirty="0"/>
              <a:t>4.1.2</a:t>
            </a:r>
            <a:r>
              <a:rPr lang="zh-CN" altLang="en-US" dirty="0"/>
              <a:t>  </a:t>
            </a:r>
            <a:r>
              <a:rPr lang="en-US" altLang="zh-CN" dirty="0"/>
              <a:t>while</a:t>
            </a:r>
            <a:r>
              <a:rPr lang="zh-CN" altLang="en-US" dirty="0"/>
              <a:t>语句 </a:t>
            </a:r>
          </a:p>
          <a:p>
            <a:pPr algn="just">
              <a:spcBef>
                <a:spcPct val="50000"/>
              </a:spcBef>
              <a:buFont typeface="Wingdings" charset="0"/>
              <a:buNone/>
              <a:defRPr/>
            </a:pPr>
            <a:endParaRPr lang="zh-CN" dirty="0"/>
          </a:p>
        </p:txBody>
      </p:sp>
      <p:sp>
        <p:nvSpPr>
          <p:cNvPr id="2" name="Rectangle 159">
            <a:extLst>
              <a:ext uri="{FF2B5EF4-FFF2-40B4-BE49-F238E27FC236}">
                <a16:creationId xmlns:a16="http://schemas.microsoft.com/office/drawing/2014/main" xmlns="" id="{A3FE2AE3-959C-4311-99F5-F4220E2C4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xmlns="" id="{0197CB76-12BB-4B35-B830-40D5923D62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271588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90" r:id="rId3" imgW="1422400" imgH="393700" progId="Equation.3">
                  <p:embed/>
                </p:oleObj>
              </mc:Choice>
              <mc:Fallback>
                <p:oleObj r:id="rId3" imgW="1422400" imgH="393700" progId="Equation.3">
                  <p:embed/>
                  <p:pic>
                    <p:nvPicPr>
                      <p:cNvPr id="0" name="Object 1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271588" cy="347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61">
            <a:extLst>
              <a:ext uri="{FF2B5EF4-FFF2-40B4-BE49-F238E27FC236}">
                <a16:creationId xmlns:a16="http://schemas.microsoft.com/office/drawing/2014/main" xmlns="" id="{3C82C7CC-0220-4FC7-91D7-0A223C3EC25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267744" y="6011861"/>
            <a:ext cx="904125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xmlns="" id="{282FAE23-3953-4E1E-AEE1-D23450C062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0327950"/>
              </p:ext>
            </p:extLst>
          </p:nvPr>
        </p:nvGraphicFramePr>
        <p:xfrm>
          <a:off x="2051720" y="3317094"/>
          <a:ext cx="2993235" cy="8183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91" r:id="rId5" imgW="1422400" imgH="393700" progId="Equation.3">
                  <p:embed/>
                </p:oleObj>
              </mc:Choice>
              <mc:Fallback>
                <p:oleObj r:id="rId5" imgW="1422400" imgH="393700" progId="Equation.3">
                  <p:embed/>
                  <p:pic>
                    <p:nvPicPr>
                      <p:cNvPr id="0" name="Object 1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3317094"/>
                        <a:ext cx="2993235" cy="81837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81075"/>
            <a:ext cx="5567363" cy="1368425"/>
          </a:xfrm>
        </p:spPr>
        <p:txBody>
          <a:bodyPr/>
          <a:lstStyle/>
          <a:p>
            <a:pPr algn="just">
              <a:buNone/>
              <a:defRPr/>
            </a:pPr>
            <a:r>
              <a:rPr lang="zh-CN" altLang="en-US" sz="2800" dirty="0"/>
              <a:t>例</a:t>
            </a:r>
            <a:r>
              <a:rPr lang="en-US" altLang="zh-CN" sz="2800" dirty="0"/>
              <a:t>4-1 </a:t>
            </a:r>
            <a:r>
              <a:rPr lang="zh-CN" altLang="en-US" sz="2800" dirty="0"/>
              <a:t>使用格雷戈里公式求</a:t>
            </a:r>
            <a:r>
              <a:rPr lang="en-US" altLang="zh-CN" sz="2800" dirty="0"/>
              <a:t>π</a:t>
            </a:r>
            <a:r>
              <a:rPr lang="zh-CN" altLang="en-US" sz="2800" dirty="0"/>
              <a:t>的近似值，要求精确到最后一项的绝对值小于</a:t>
            </a:r>
            <a:r>
              <a:rPr lang="zh-CN" altLang="zh-CN" sz="2800" dirty="0"/>
              <a:t>给定精度</a:t>
            </a:r>
            <a:r>
              <a:rPr lang="en-US" altLang="zh-CN" sz="2800" dirty="0"/>
              <a:t>eps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algn="just">
              <a:buFont typeface="Wingdings" charset="0"/>
              <a:buNone/>
              <a:defRPr/>
            </a:pPr>
            <a:endParaRPr lang="zh-CN" altLang="en-US" sz="2800" dirty="0"/>
          </a:p>
        </p:txBody>
      </p:sp>
      <p:sp>
        <p:nvSpPr>
          <p:cNvPr id="120838" name="Rectangle 6"/>
          <p:cNvSpPr>
            <a:spLocks noGrp="1" noChangeArrowheads="1"/>
          </p:cNvSpPr>
          <p:nvPr>
            <p:ph type="title"/>
          </p:nvPr>
        </p:nvSpPr>
        <p:spPr>
          <a:xfrm>
            <a:off x="457200" y="287338"/>
            <a:ext cx="8075613" cy="83820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en-US" altLang="zh-CN" sz="3600" dirty="0"/>
              <a:t>4.1.1</a:t>
            </a:r>
            <a:r>
              <a:rPr lang="zh-CN" altLang="en-US" sz="3600" dirty="0"/>
              <a:t>  程序解析－求</a:t>
            </a:r>
            <a:r>
              <a:rPr lang="en-US" altLang="zh-CN" sz="3600" dirty="0"/>
              <a:t>π</a:t>
            </a:r>
            <a:r>
              <a:rPr lang="zh-CN" altLang="en-US" sz="3600" dirty="0"/>
              <a:t>的近似值</a:t>
            </a:r>
          </a:p>
        </p:txBody>
      </p:sp>
      <p:sp>
        <p:nvSpPr>
          <p:cNvPr id="2" name="矩形 1"/>
          <p:cNvSpPr/>
          <p:nvPr/>
        </p:nvSpPr>
        <p:spPr>
          <a:xfrm>
            <a:off x="179388" y="2349500"/>
            <a:ext cx="6337300" cy="4419671"/>
          </a:xfrm>
          <a:prstGeom prst="rect">
            <a:avLst/>
          </a:prstGeom>
          <a:ln>
            <a:solidFill>
              <a:schemeClr val="bg2"/>
            </a:solidFill>
            <a:prstDash val="sysDot"/>
          </a:ln>
        </p:spPr>
        <p:txBody>
          <a:bodyPr>
            <a:spAutoFit/>
          </a:bodyPr>
          <a:lstStyle/>
          <a:p>
            <a:pPr marL="377825" indent="-377825" algn="just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例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2-8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+mn-ea"/>
              </a:rPr>
              <a:t>求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+mn-ea"/>
              </a:rPr>
              <a:t>1-1/3+1/5-… 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+mn-ea"/>
              </a:rPr>
              <a:t>的前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+mn-ea"/>
              </a:rPr>
              <a:t>n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+mn-ea"/>
              </a:rPr>
              <a:t>项和</a:t>
            </a:r>
            <a:endParaRPr lang="en-US" altLang="zh-CN" sz="2400" dirty="0">
              <a:solidFill>
                <a:srgbClr val="000000"/>
              </a:solidFill>
              <a:latin typeface="+mn-lt"/>
              <a:ea typeface="+mn-ea"/>
            </a:endParaRPr>
          </a:p>
          <a:p>
            <a:pPr marL="377825" indent="-377825" algn="just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flag = 1;</a:t>
            </a:r>
          </a:p>
          <a:p>
            <a:pPr marL="377825" indent="-377825" algn="just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denominator = 1;</a:t>
            </a:r>
          </a:p>
          <a:p>
            <a:pPr marL="377825" indent="-377825" algn="just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item</a:t>
            </a:r>
            <a:r>
              <a:rPr lang="zh-CN" altLang="en-US" sz="2400" dirty="0">
                <a:latin typeface="Arial" pitchFamily="34" charset="0"/>
                <a:ea typeface="宋体" pitchFamily="2" charset="-122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=</a:t>
            </a:r>
            <a:r>
              <a:rPr lang="zh-CN" altLang="en-US" sz="2400" dirty="0">
                <a:latin typeface="Arial" pitchFamily="34" charset="0"/>
                <a:ea typeface="宋体" pitchFamily="2" charset="-122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1;</a:t>
            </a:r>
          </a:p>
          <a:p>
            <a:pPr marL="377825" indent="-377825" algn="just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sum = 0 ; </a:t>
            </a:r>
          </a:p>
          <a:p>
            <a:pPr marL="377825" indent="-377825" algn="just">
              <a:lnSpc>
                <a:spcPct val="90000"/>
              </a:lnSpc>
              <a:buFont typeface="Wingdings" pitchFamily="2" charset="2"/>
              <a:buNone/>
              <a:defRPr/>
            </a:pPr>
            <a:endParaRPr lang="en-US" altLang="zh-CN" sz="24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377825" indent="-377825" algn="just">
              <a:lnSpc>
                <a:spcPct val="90000"/>
              </a:lnSpc>
              <a:buFont typeface="Wingdings" pitchFamily="2" charset="2"/>
              <a:buNone/>
              <a:defRPr/>
            </a:pPr>
            <a:endParaRPr lang="en-US" altLang="zh-CN" sz="24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377825" indent="-377825" algn="just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solidFill>
                  <a:srgbClr val="CC0066"/>
                </a:solidFill>
                <a:latin typeface="Arial" pitchFamily="34" charset="0"/>
                <a:ea typeface="宋体" pitchFamily="2" charset="-122"/>
              </a:rPr>
              <a:t>for (</a:t>
            </a:r>
            <a:r>
              <a:rPr lang="en-US" altLang="zh-CN" sz="2400" dirty="0" err="1">
                <a:solidFill>
                  <a:srgbClr val="CC0066"/>
                </a:solidFill>
                <a:latin typeface="Arial" pitchFamily="34" charset="0"/>
                <a:ea typeface="宋体" pitchFamily="2" charset="-122"/>
              </a:rPr>
              <a:t>i</a:t>
            </a:r>
            <a:r>
              <a:rPr lang="en-US" altLang="zh-CN" sz="2400" dirty="0">
                <a:solidFill>
                  <a:srgbClr val="CC0066"/>
                </a:solidFill>
                <a:latin typeface="Arial" pitchFamily="34" charset="0"/>
                <a:ea typeface="宋体" pitchFamily="2" charset="-122"/>
              </a:rPr>
              <a:t> = 1; </a:t>
            </a:r>
            <a:r>
              <a:rPr lang="en-US" altLang="zh-CN" sz="2400" dirty="0" err="1">
                <a:solidFill>
                  <a:srgbClr val="CC0066"/>
                </a:solidFill>
              </a:rPr>
              <a:t>i</a:t>
            </a:r>
            <a:r>
              <a:rPr lang="en-US" altLang="zh-CN" sz="2400" dirty="0">
                <a:solidFill>
                  <a:srgbClr val="CC0066"/>
                </a:solidFill>
                <a:latin typeface="Arial" pitchFamily="34" charset="0"/>
                <a:ea typeface="宋体" pitchFamily="2" charset="-122"/>
              </a:rPr>
              <a:t> </a:t>
            </a:r>
            <a:r>
              <a:rPr lang="en-US" altLang="zh-CN" sz="2400" dirty="0">
                <a:solidFill>
                  <a:srgbClr val="CC0066"/>
                </a:solidFill>
              </a:rPr>
              <a:t>&lt;</a:t>
            </a:r>
            <a:r>
              <a:rPr lang="en-US" altLang="zh-CN" sz="2400" dirty="0">
                <a:solidFill>
                  <a:srgbClr val="CC0066"/>
                </a:solidFill>
                <a:latin typeface="Arial" pitchFamily="34" charset="0"/>
                <a:ea typeface="宋体" pitchFamily="2" charset="-122"/>
              </a:rPr>
              <a:t>= n; </a:t>
            </a:r>
            <a:r>
              <a:rPr lang="en-US" altLang="zh-CN" sz="2400" dirty="0" err="1">
                <a:solidFill>
                  <a:srgbClr val="CC0066"/>
                </a:solidFill>
                <a:latin typeface="Arial" pitchFamily="34" charset="0"/>
                <a:ea typeface="宋体" pitchFamily="2" charset="-122"/>
              </a:rPr>
              <a:t>i</a:t>
            </a:r>
            <a:r>
              <a:rPr lang="en-US" altLang="zh-CN" sz="2400" dirty="0">
                <a:solidFill>
                  <a:srgbClr val="CC0066"/>
                </a:solidFill>
                <a:latin typeface="Arial" pitchFamily="34" charset="0"/>
                <a:ea typeface="宋体" pitchFamily="2" charset="-122"/>
              </a:rPr>
              <a:t>++)</a:t>
            </a:r>
            <a:r>
              <a:rPr lang="en-US" altLang="zh-CN" sz="24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     {</a:t>
            </a:r>
          </a:p>
          <a:p>
            <a:pPr marL="377825" indent="-377825" algn="just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  </a:t>
            </a:r>
            <a:r>
              <a:rPr lang="zh-CN" altLang="zh-CN" sz="24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sum = sum + item ;  </a:t>
            </a:r>
          </a:p>
          <a:p>
            <a:pPr marL="377825" indent="-377825" algn="just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    flag = -flag; </a:t>
            </a:r>
          </a:p>
          <a:p>
            <a:pPr marL="377825" indent="-377825" algn="just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    denominator = denominator + 2;</a:t>
            </a:r>
          </a:p>
          <a:p>
            <a:pPr marL="377825" indent="-377825" algn="just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    item = flag * 1.0 / denominator;</a:t>
            </a:r>
          </a:p>
          <a:p>
            <a:pPr marL="377825" indent="-377825" algn="just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}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5885218" y="2924175"/>
            <a:ext cx="2717090" cy="2456699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  <a:defRPr/>
            </a:pPr>
            <a:r>
              <a:rPr kumimoji="1" lang="zh-CN" altLang="en-US" sz="2400" dirty="0">
                <a:solidFill>
                  <a:schemeClr val="tx1"/>
                </a:solidFill>
              </a:rPr>
              <a:t>循环结束条件：</a:t>
            </a:r>
            <a:endParaRPr kumimoji="1" lang="en-US" altLang="zh-CN" sz="2400" dirty="0">
              <a:solidFill>
                <a:schemeClr val="tx1"/>
              </a:solidFill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  <a:defRPr/>
            </a:pPr>
            <a:r>
              <a:rPr kumimoji="1" lang="en-US" altLang="zh-CN" sz="2400" dirty="0">
                <a:solidFill>
                  <a:schemeClr val="tx1"/>
                </a:solidFill>
              </a:rPr>
              <a:t>|item| &lt; eps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  <a:defRPr/>
            </a:pPr>
            <a:endParaRPr kumimoji="1" lang="en-US" altLang="zh-CN" sz="2400" dirty="0">
              <a:solidFill>
                <a:schemeClr val="tx1"/>
              </a:solidFill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  <a:defRPr/>
            </a:pPr>
            <a:r>
              <a:rPr kumimoji="1" lang="zh-CN" altLang="en-US" sz="2400" dirty="0">
                <a:solidFill>
                  <a:schemeClr val="tx1"/>
                </a:solidFill>
              </a:rPr>
              <a:t>循环条件：</a:t>
            </a:r>
            <a:endParaRPr kumimoji="1" lang="en-US" altLang="zh-CN" sz="2400" dirty="0">
              <a:solidFill>
                <a:schemeClr val="tx1"/>
              </a:solidFill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  <a:defRPr/>
            </a:pPr>
            <a:r>
              <a:rPr kumimoji="1" lang="en-US" altLang="zh-CN" sz="2400" dirty="0">
                <a:solidFill>
                  <a:schemeClr val="tx1"/>
                </a:solidFill>
              </a:rPr>
              <a:t>|item| &gt;= eps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  <a:defRPr/>
            </a:pPr>
            <a:r>
              <a:rPr kumimoji="1" lang="en-US" altLang="zh-CN" sz="2400" dirty="0">
                <a:solidFill>
                  <a:schemeClr val="tx1"/>
                </a:solidFill>
              </a:rPr>
              <a:t>fabs(item) &gt;= eps</a:t>
            </a:r>
          </a:p>
        </p:txBody>
      </p:sp>
      <p:sp>
        <p:nvSpPr>
          <p:cNvPr id="4" name="矩形 3"/>
          <p:cNvSpPr/>
          <p:nvPr/>
        </p:nvSpPr>
        <p:spPr>
          <a:xfrm>
            <a:off x="179388" y="4221163"/>
            <a:ext cx="3816548" cy="430212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  <a:defRPr/>
            </a:pPr>
            <a:r>
              <a:rPr kumimoji="1" lang="en-US" altLang="zh-CN" sz="2400" dirty="0">
                <a:solidFill>
                  <a:schemeClr val="tx1"/>
                </a:solidFill>
              </a:rPr>
              <a:t>while (fabs(item) &gt;= eps)</a:t>
            </a:r>
            <a:endParaRPr lang="zh-CN" altLang="en-US" sz="2400" dirty="0"/>
          </a:p>
        </p:txBody>
      </p:sp>
      <p:sp>
        <p:nvSpPr>
          <p:cNvPr id="18440" name="文本框 14"/>
          <p:cNvSpPr txBox="1">
            <a:spLocks noChangeArrowheads="1"/>
          </p:cNvSpPr>
          <p:nvPr/>
        </p:nvSpPr>
        <p:spPr bwMode="auto">
          <a:xfrm>
            <a:off x="-1076325" y="-317500"/>
            <a:ext cx="185737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400" b="1">
                <a:solidFill>
                  <a:schemeClr val="hlink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sz="4400" b="1">
                <a:solidFill>
                  <a:schemeClr val="hlink"/>
                </a:solidFill>
                <a:latin typeface="Arial" charset="0"/>
                <a:ea typeface="宋体" charset="0"/>
              </a:defRPr>
            </a:lvl2pPr>
            <a:lvl3pPr marL="1143000" indent="-228600">
              <a:defRPr sz="4400" b="1">
                <a:solidFill>
                  <a:schemeClr val="hlink"/>
                </a:solidFill>
                <a:latin typeface="Arial" charset="0"/>
                <a:ea typeface="宋体" charset="0"/>
              </a:defRPr>
            </a:lvl3pPr>
            <a:lvl4pPr marL="1600200" indent="-228600">
              <a:defRPr sz="4400" b="1">
                <a:solidFill>
                  <a:schemeClr val="hlink"/>
                </a:solidFill>
                <a:latin typeface="Arial" charset="0"/>
                <a:ea typeface="宋体" charset="0"/>
              </a:defRPr>
            </a:lvl4pPr>
            <a:lvl5pPr marL="2057400" indent="-228600">
              <a:defRPr sz="4400" b="1">
                <a:solidFill>
                  <a:schemeClr val="hlink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charset="0"/>
                <a:ea typeface="宋体" charset="0"/>
              </a:defRPr>
            </a:lvl9pPr>
          </a:lstStyle>
          <a:p>
            <a:endParaRPr kumimoji="1" lang="zh-CN" altLang="en-US"/>
          </a:p>
        </p:txBody>
      </p:sp>
      <p:sp>
        <p:nvSpPr>
          <p:cNvPr id="23" name="Line 11"/>
          <p:cNvSpPr>
            <a:spLocks noChangeShapeType="1"/>
          </p:cNvSpPr>
          <p:nvPr/>
        </p:nvSpPr>
        <p:spPr bwMode="auto">
          <a:xfrm flipV="1">
            <a:off x="179388" y="4868863"/>
            <a:ext cx="33131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xmlns="" id="{8E806C8A-B612-4B6C-B28A-2EBEA3A71C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6808701"/>
              </p:ext>
            </p:extLst>
          </p:nvPr>
        </p:nvGraphicFramePr>
        <p:xfrm>
          <a:off x="6125167" y="1103345"/>
          <a:ext cx="2682283" cy="733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56" r:id="rId3" imgW="1422400" imgH="393700" progId="Equation.3">
                  <p:embed/>
                </p:oleObj>
              </mc:Choice>
              <mc:Fallback>
                <p:oleObj r:id="rId3" imgW="1422400" imgH="393700" progId="Equation.3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xmlns="" id="{282FAE23-3953-4E1E-AEE1-D23450C062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5167" y="1103345"/>
                        <a:ext cx="2682283" cy="7333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6" grpId="0" build="p" animBg="1"/>
      <p:bldP spid="4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2275" y="1072877"/>
            <a:ext cx="7174061" cy="5668491"/>
          </a:xfrm>
        </p:spPr>
        <p:txBody>
          <a:bodyPr/>
          <a:lstStyle/>
          <a:p>
            <a:pPr algn="just">
              <a:lnSpc>
                <a:spcPct val="70000"/>
              </a:lnSpc>
              <a:buFont typeface="Wingdings" charset="0"/>
              <a:buNone/>
              <a:defRPr/>
            </a:pPr>
            <a:r>
              <a:rPr lang="en-US" altLang="zh-CN" sz="2400" dirty="0"/>
              <a:t>#</a:t>
            </a:r>
            <a:r>
              <a:rPr lang="zh-CN" altLang="en-US" sz="2400" dirty="0"/>
              <a:t> </a:t>
            </a:r>
            <a:r>
              <a:rPr lang="en-US" altLang="zh-CN" sz="2400" dirty="0"/>
              <a:t>include &lt;</a:t>
            </a:r>
            <a:r>
              <a:rPr lang="en-US" altLang="zh-CN" sz="2400" dirty="0" err="1"/>
              <a:t>math.h</a:t>
            </a:r>
            <a:r>
              <a:rPr lang="en-US" altLang="zh-CN" sz="2400" dirty="0"/>
              <a:t>&gt;</a:t>
            </a:r>
          </a:p>
          <a:p>
            <a:pPr algn="just">
              <a:lnSpc>
                <a:spcPct val="70000"/>
              </a:lnSpc>
              <a:buFont typeface="Wingdings" charset="0"/>
              <a:buNone/>
              <a:defRPr/>
            </a:pPr>
            <a:r>
              <a:rPr lang="en-US" altLang="zh-CN" sz="2400" dirty="0" err="1"/>
              <a:t>int</a:t>
            </a:r>
            <a:r>
              <a:rPr lang="en-US" altLang="zh-CN" sz="2400" dirty="0"/>
              <a:t> main</a:t>
            </a:r>
            <a:r>
              <a:rPr lang="zh-CN" altLang="en-US" sz="2400" dirty="0"/>
              <a:t> </a:t>
            </a:r>
            <a:r>
              <a:rPr lang="en-US" altLang="zh-CN" sz="2400" dirty="0"/>
              <a:t>(void)</a:t>
            </a:r>
          </a:p>
          <a:p>
            <a:pPr algn="just">
              <a:lnSpc>
                <a:spcPct val="70000"/>
              </a:lnSpc>
              <a:buFont typeface="Wingdings" charset="0"/>
              <a:buNone/>
              <a:defRPr/>
            </a:pPr>
            <a:r>
              <a:rPr lang="en-US" altLang="zh-CN" sz="2400" dirty="0"/>
              <a:t>{</a:t>
            </a:r>
          </a:p>
          <a:p>
            <a:pPr lvl="1" algn="just">
              <a:lnSpc>
                <a:spcPct val="70000"/>
              </a:lnSpc>
              <a:buNone/>
              <a:defRPr/>
            </a:pPr>
            <a:r>
              <a:rPr lang="en-US" altLang="zh-CN" sz="2400" dirty="0"/>
              <a:t>int denominator, flag;      </a:t>
            </a:r>
          </a:p>
          <a:p>
            <a:pPr lvl="1" algn="just">
              <a:lnSpc>
                <a:spcPct val="70000"/>
              </a:lnSpc>
              <a:buNone/>
              <a:defRPr/>
            </a:pPr>
            <a:r>
              <a:rPr lang="en-US" altLang="zh-CN" sz="2400" dirty="0"/>
              <a:t>double item, pi;</a:t>
            </a:r>
            <a:endParaRPr lang="zh-CN" altLang="en-US" sz="2400" dirty="0"/>
          </a:p>
          <a:p>
            <a:pPr lvl="1" algn="just">
              <a:lnSpc>
                <a:spcPct val="70000"/>
              </a:lnSpc>
              <a:buNone/>
              <a:defRPr/>
            </a:pPr>
            <a:r>
              <a:rPr lang="en-US" altLang="zh-CN" sz="2400" dirty="0"/>
              <a:t>flag = 1; denominator = 1; </a:t>
            </a:r>
            <a:r>
              <a:rPr lang="en-US" altLang="zh-CN" sz="2400" dirty="0">
                <a:solidFill>
                  <a:schemeClr val="bg2"/>
                </a:solidFill>
              </a:rPr>
              <a:t>item = 1.0;</a:t>
            </a:r>
            <a:r>
              <a:rPr lang="zh-CN" sz="2400" dirty="0"/>
              <a:t> </a:t>
            </a:r>
            <a:r>
              <a:rPr lang="en-US" altLang="zh-CN" sz="2400" dirty="0"/>
              <a:t>pi = 0;</a:t>
            </a:r>
            <a:endParaRPr lang="zh-CN" altLang="en-US" sz="2400" dirty="0"/>
          </a:p>
          <a:p>
            <a:pPr lvl="1" algn="just">
              <a:lnSpc>
                <a:spcPct val="70000"/>
              </a:lnSpc>
              <a:buNone/>
              <a:defRPr/>
            </a:pPr>
            <a:r>
              <a:rPr lang="en-US" altLang="zh-CN" sz="2400" dirty="0">
                <a:solidFill>
                  <a:srgbClr val="CC0066"/>
                </a:solidFill>
              </a:rPr>
              <a:t>while</a:t>
            </a:r>
            <a:r>
              <a:rPr lang="zh-CN" altLang="en-US" sz="2400" dirty="0">
                <a:solidFill>
                  <a:srgbClr val="CC0066"/>
                </a:solidFill>
              </a:rPr>
              <a:t> </a:t>
            </a:r>
            <a:r>
              <a:rPr lang="en-US" altLang="zh-CN" sz="2400" dirty="0">
                <a:solidFill>
                  <a:srgbClr val="CC0066"/>
                </a:solidFill>
              </a:rPr>
              <a:t>(fabs (item) &gt;= eps)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/>
              <a:t>{   </a:t>
            </a:r>
          </a:p>
          <a:p>
            <a:pPr lvl="1" algn="just">
              <a:lnSpc>
                <a:spcPct val="70000"/>
              </a:lnSpc>
              <a:buNone/>
              <a:defRPr/>
            </a:pPr>
            <a:r>
              <a:rPr lang="en-US" altLang="zh-CN" sz="2400" dirty="0"/>
              <a:t>	  pi = pi + item; </a:t>
            </a:r>
            <a:endParaRPr lang="zh-CN" altLang="en-US" sz="2400" dirty="0"/>
          </a:p>
          <a:p>
            <a:pPr lvl="1" algn="just">
              <a:lnSpc>
                <a:spcPct val="70000"/>
              </a:lnSpc>
              <a:buNone/>
              <a:defRPr/>
            </a:pPr>
            <a:r>
              <a:rPr lang="zh-CN" altLang="en-US" sz="2400" dirty="0"/>
              <a:t>     </a:t>
            </a:r>
            <a:r>
              <a:rPr lang="en-US" altLang="zh-CN" sz="2400" dirty="0"/>
              <a:t>flag = -flag; </a:t>
            </a:r>
            <a:endParaRPr lang="zh-CN" altLang="en-US" sz="2400" dirty="0"/>
          </a:p>
          <a:p>
            <a:pPr lvl="1" algn="just">
              <a:lnSpc>
                <a:spcPct val="70000"/>
              </a:lnSpc>
              <a:buNone/>
              <a:defRPr/>
            </a:pPr>
            <a:r>
              <a:rPr lang="zh-CN" altLang="en-US" sz="2400" dirty="0"/>
              <a:t>     </a:t>
            </a:r>
            <a:r>
              <a:rPr lang="en-US" altLang="zh-CN" sz="2400" dirty="0"/>
              <a:t>denominator = denominator +</a:t>
            </a:r>
            <a:r>
              <a:rPr lang="zh-CN" altLang="en-US" sz="2400" dirty="0"/>
              <a:t> </a:t>
            </a:r>
            <a:r>
              <a:rPr lang="en-US" altLang="zh-CN" sz="2400" dirty="0"/>
              <a:t>2; </a:t>
            </a:r>
          </a:p>
          <a:p>
            <a:pPr lvl="1" algn="just">
              <a:lnSpc>
                <a:spcPct val="70000"/>
              </a:lnSpc>
              <a:buNone/>
              <a:defRPr/>
            </a:pPr>
            <a:r>
              <a:rPr lang="zh-CN" altLang="en-US" sz="2400" dirty="0"/>
              <a:t> </a:t>
            </a:r>
            <a:r>
              <a:rPr lang="en-US" altLang="zh-CN" sz="2400" dirty="0"/>
              <a:t>    item = flag * 1.0 / denominator;</a:t>
            </a:r>
            <a:endParaRPr lang="zh-CN" altLang="en-US" sz="2400" dirty="0"/>
          </a:p>
          <a:p>
            <a:pPr lvl="1" algn="just">
              <a:lnSpc>
                <a:spcPct val="70000"/>
              </a:lnSpc>
              <a:buNone/>
              <a:defRPr/>
            </a:pPr>
            <a:r>
              <a:rPr lang="en-US" altLang="zh-CN" sz="2400" dirty="0"/>
              <a:t>}</a:t>
            </a:r>
          </a:p>
          <a:p>
            <a:pPr lvl="1" algn="just">
              <a:lnSpc>
                <a:spcPct val="70000"/>
              </a:lnSpc>
              <a:buNone/>
              <a:defRPr/>
            </a:pPr>
            <a:r>
              <a:rPr lang="en-US" altLang="zh-CN" sz="2400" dirty="0"/>
              <a:t>pi = pi + item; </a:t>
            </a:r>
            <a:endParaRPr lang="zh-CN" altLang="en-US" sz="2400" dirty="0"/>
          </a:p>
          <a:p>
            <a:pPr lvl="1" algn="just">
              <a:lnSpc>
                <a:spcPct val="70000"/>
              </a:lnSpc>
              <a:buNone/>
              <a:defRPr/>
            </a:pPr>
            <a:r>
              <a:rPr lang="en-US" altLang="zh-CN" sz="2400" dirty="0"/>
              <a:t>pi = pi * 4; </a:t>
            </a:r>
          </a:p>
          <a:p>
            <a:pPr lvl="1" algn="just">
              <a:lnSpc>
                <a:spcPct val="70000"/>
              </a:lnSpc>
              <a:buNone/>
              <a:defRPr/>
            </a:pPr>
            <a:r>
              <a:rPr lang="en-US" altLang="zh-CN" sz="2400" dirty="0" err="1"/>
              <a:t>printf</a:t>
            </a:r>
            <a:r>
              <a:rPr lang="en-US" altLang="zh-CN" sz="2400" dirty="0"/>
              <a:t> (</a:t>
            </a:r>
            <a:r>
              <a:rPr lang="en-US" altLang="zh-CN" sz="2400" dirty="0">
                <a:latin typeface="Arial" pitchFamily="34" charset="0"/>
                <a:ea typeface="宋体" pitchFamily="2" charset="-122"/>
              </a:rPr>
              <a:t>"</a:t>
            </a:r>
            <a:r>
              <a:rPr lang="en-US" altLang="zh-CN" sz="2400" dirty="0"/>
              <a:t>pi = %.4f\n</a:t>
            </a:r>
            <a:r>
              <a:rPr lang="en-US" altLang="zh-CN" sz="2400" dirty="0">
                <a:latin typeface="Arial" pitchFamily="34" charset="0"/>
                <a:ea typeface="宋体" pitchFamily="2" charset="-122"/>
              </a:rPr>
              <a:t>"</a:t>
            </a:r>
            <a:r>
              <a:rPr lang="en-US" altLang="zh-CN" sz="2400" dirty="0"/>
              <a:t>, pi);</a:t>
            </a:r>
          </a:p>
          <a:p>
            <a:pPr lvl="1" algn="just">
              <a:lnSpc>
                <a:spcPct val="70000"/>
              </a:lnSpc>
              <a:buNone/>
              <a:defRPr/>
            </a:pPr>
            <a:r>
              <a:rPr lang="en-US" altLang="zh-CN" sz="2400" dirty="0"/>
              <a:t>return 0;</a:t>
            </a:r>
          </a:p>
          <a:p>
            <a:pPr algn="just">
              <a:lnSpc>
                <a:spcPct val="70000"/>
              </a:lnSpc>
              <a:buFont typeface="Wingdings" charset="0"/>
              <a:buNone/>
              <a:defRPr/>
            </a:pPr>
            <a:r>
              <a:rPr lang="en-US" altLang="zh-CN" sz="2400" dirty="0"/>
              <a:t>}</a:t>
            </a:r>
            <a:endParaRPr lang="zh-CN" altLang="en-US" sz="2400" dirty="0"/>
          </a:p>
        </p:txBody>
      </p:sp>
      <p:sp>
        <p:nvSpPr>
          <p:cNvPr id="120838" name="Rectangle 6"/>
          <p:cNvSpPr>
            <a:spLocks noGrp="1" noChangeArrowheads="1"/>
          </p:cNvSpPr>
          <p:nvPr>
            <p:ph type="title"/>
          </p:nvPr>
        </p:nvSpPr>
        <p:spPr>
          <a:xfrm>
            <a:off x="457200" y="287338"/>
            <a:ext cx="8075613" cy="83820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zh-CN" altLang="en-US" sz="3600" dirty="0"/>
              <a:t>例</a:t>
            </a:r>
            <a:r>
              <a:rPr lang="en-US" altLang="zh-CN" sz="3600" dirty="0"/>
              <a:t>4-1</a:t>
            </a:r>
            <a:r>
              <a:rPr lang="zh-CN" altLang="en-US" sz="3600" dirty="0"/>
              <a:t>源程序－求</a:t>
            </a:r>
            <a:r>
              <a:rPr lang="en-US" altLang="zh-CN" sz="3600" dirty="0"/>
              <a:t>π</a:t>
            </a:r>
            <a:r>
              <a:rPr lang="zh-CN" altLang="en-US" sz="3600" dirty="0"/>
              <a:t>的近似值</a:t>
            </a:r>
          </a:p>
        </p:txBody>
      </p:sp>
      <p:sp>
        <p:nvSpPr>
          <p:cNvPr id="120839" name="Rectangle 7"/>
          <p:cNvSpPr>
            <a:spLocks noChangeArrowheads="1"/>
          </p:cNvSpPr>
          <p:nvPr/>
        </p:nvSpPr>
        <p:spPr bwMode="auto">
          <a:xfrm>
            <a:off x="5891864" y="1072877"/>
            <a:ext cx="2853581" cy="941796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Enter eps: </a:t>
            </a:r>
            <a:r>
              <a:rPr lang="en-US" altLang="zh-CN" sz="2400" dirty="0">
                <a:solidFill>
                  <a:srgbClr val="CC0066"/>
                </a:solidFill>
              </a:rPr>
              <a:t>0.0001</a:t>
            </a:r>
            <a:endParaRPr kumimoji="1" lang="en-US" altLang="zh-CN" sz="2400" dirty="0">
              <a:solidFill>
                <a:srgbClr val="CC0066"/>
              </a:solidFill>
            </a:endParaRPr>
          </a:p>
          <a:p>
            <a:pPr>
              <a:spcBef>
                <a:spcPct val="30000"/>
              </a:spcBef>
              <a:defRPr/>
            </a:pPr>
            <a:r>
              <a:rPr kumimoji="1" lang="en-US" altLang="zh-CN" sz="2400" dirty="0">
                <a:solidFill>
                  <a:schemeClr val="tx1"/>
                </a:solidFill>
              </a:rPr>
              <a:t>pi = 3.1418</a:t>
            </a:r>
            <a:r>
              <a:rPr kumimoji="1" lang="en-US" altLang="zh-CN" sz="2400" dirty="0">
                <a:solidFill>
                  <a:schemeClr val="tx1"/>
                </a:solidFill>
                <a:cs typeface="Arial Unicode MS" charset="0"/>
              </a:rPr>
              <a:t> </a:t>
            </a:r>
          </a:p>
        </p:txBody>
      </p:sp>
      <p:sp>
        <p:nvSpPr>
          <p:cNvPr id="120841" name="Rectangle 9"/>
          <p:cNvSpPr>
            <a:spLocks noChangeArrowheads="1"/>
          </p:cNvSpPr>
          <p:nvPr/>
        </p:nvSpPr>
        <p:spPr bwMode="auto">
          <a:xfrm>
            <a:off x="5508625" y="3213100"/>
            <a:ext cx="3252814" cy="523220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800" dirty="0" err="1">
                <a:solidFill>
                  <a:schemeClr val="tx1"/>
                </a:solidFill>
              </a:rPr>
              <a:t>fabs</a:t>
            </a:r>
            <a:r>
              <a:rPr kumimoji="1" lang="zh-CN" altLang="en-US" sz="2800" dirty="0">
                <a:solidFill>
                  <a:schemeClr val="tx1"/>
                </a:solidFill>
              </a:rPr>
              <a:t> </a:t>
            </a:r>
            <a:r>
              <a:rPr kumimoji="1" lang="en-US" altLang="zh-CN" sz="2800" dirty="0">
                <a:solidFill>
                  <a:schemeClr val="tx1"/>
                </a:solidFill>
              </a:rPr>
              <a:t>(item) &lt; eps?</a:t>
            </a:r>
            <a:endParaRPr kumimoji="1"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xmlns="" id="{365CF247-2BD2-4B05-BFB4-8A30C863F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7527" y="5077237"/>
            <a:ext cx="4248471" cy="707886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zh-CN" sz="2000" dirty="0">
                <a:solidFill>
                  <a:schemeClr val="tx1"/>
                </a:solidFill>
              </a:rPr>
              <a:t>从第</a:t>
            </a:r>
            <a:r>
              <a:rPr lang="en-US" altLang="zh-CN" sz="2000" dirty="0">
                <a:solidFill>
                  <a:schemeClr val="tx1"/>
                </a:solidFill>
              </a:rPr>
              <a:t>1</a:t>
            </a:r>
            <a:r>
              <a:rPr lang="zh-CN" altLang="zh-CN" sz="2000" dirty="0">
                <a:solidFill>
                  <a:schemeClr val="tx1"/>
                </a:solidFill>
              </a:rPr>
              <a:t>项到倒数第</a:t>
            </a:r>
            <a:r>
              <a:rPr lang="en-US" altLang="zh-CN" sz="2000" dirty="0">
                <a:solidFill>
                  <a:schemeClr val="tx1"/>
                </a:solidFill>
              </a:rPr>
              <a:t>2</a:t>
            </a:r>
            <a:r>
              <a:rPr lang="zh-CN" altLang="zh-CN" sz="2000" dirty="0">
                <a:solidFill>
                  <a:schemeClr val="tx1"/>
                </a:solidFill>
              </a:rPr>
              <a:t>项</a:t>
            </a:r>
            <a:r>
              <a:rPr lang="zh-CN" altLang="en-US" sz="2000" dirty="0">
                <a:solidFill>
                  <a:schemeClr val="tx1"/>
                </a:solidFill>
              </a:rPr>
              <a:t>：</a:t>
            </a:r>
            <a:r>
              <a:rPr lang="en-US" altLang="zh-CN" sz="2000" dirty="0">
                <a:solidFill>
                  <a:schemeClr val="tx1"/>
                </a:solidFill>
              </a:rPr>
              <a:t>|item| </a:t>
            </a:r>
            <a:r>
              <a:rPr lang="zh-CN" altLang="zh-CN" sz="2000" dirty="0">
                <a:solidFill>
                  <a:schemeClr val="tx1"/>
                </a:solidFill>
              </a:rPr>
              <a:t>≥</a:t>
            </a:r>
            <a:r>
              <a:rPr lang="en-US" altLang="zh-CN" sz="2000" dirty="0">
                <a:solidFill>
                  <a:schemeClr val="tx1"/>
                </a:solidFill>
              </a:rPr>
              <a:t> eps</a:t>
            </a:r>
          </a:p>
          <a:p>
            <a:pPr>
              <a:defRPr/>
            </a:pPr>
            <a:r>
              <a:rPr lang="zh-CN" altLang="zh-CN" sz="2000" dirty="0">
                <a:solidFill>
                  <a:schemeClr val="tx1"/>
                </a:solidFill>
              </a:rPr>
              <a:t>最后一项</a:t>
            </a:r>
            <a:r>
              <a:rPr lang="zh-CN" altLang="en-US" sz="2000" dirty="0">
                <a:solidFill>
                  <a:schemeClr val="tx1"/>
                </a:solidFill>
              </a:rPr>
              <a:t>：</a:t>
            </a:r>
            <a:r>
              <a:rPr lang="en-US" altLang="zh-CN" sz="2000" dirty="0">
                <a:solidFill>
                  <a:schemeClr val="tx1"/>
                </a:solidFill>
              </a:rPr>
              <a:t> |item| &lt; eps</a:t>
            </a:r>
            <a:endParaRPr kumimoji="1" lang="zh-CN" alt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08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08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08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0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9" grpId="0" animBg="1" autoUpdateAnimBg="0"/>
      <p:bldP spid="120841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4622800" cy="83820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 algn="just">
              <a:defRPr/>
            </a:pPr>
            <a:r>
              <a:rPr lang="en-US" altLang="zh-CN" dirty="0"/>
              <a:t>4.1.2 while </a:t>
            </a:r>
            <a:r>
              <a:rPr lang="zh-CN" altLang="en-US" dirty="0"/>
              <a:t>语句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268413"/>
            <a:ext cx="4002087" cy="1052512"/>
          </a:xfrm>
        </p:spPr>
        <p:txBody>
          <a:bodyPr>
            <a:spAutoFit/>
          </a:bodyPr>
          <a:lstStyle/>
          <a:p>
            <a:pPr algn="just">
              <a:buFont typeface="Wingdings" charset="0"/>
              <a:buNone/>
              <a:defRPr/>
            </a:pPr>
            <a:r>
              <a:rPr lang="en-US" altLang="zh-CN" dirty="0"/>
              <a:t>while (</a:t>
            </a:r>
            <a:r>
              <a:rPr lang="zh-CN" altLang="en-US" dirty="0">
                <a:solidFill>
                  <a:srgbClr val="CC0066"/>
                </a:solidFill>
              </a:rPr>
              <a:t>条件</a:t>
            </a:r>
            <a:r>
              <a:rPr lang="zh-CN" altLang="en-US" dirty="0"/>
              <a:t>)</a:t>
            </a:r>
            <a:endParaRPr lang="zh-CN" altLang="en-US" dirty="0">
              <a:solidFill>
                <a:srgbClr val="CC0066"/>
              </a:solidFill>
            </a:endParaRPr>
          </a:p>
          <a:p>
            <a:pPr algn="just">
              <a:lnSpc>
                <a:spcPct val="70000"/>
              </a:lnSpc>
              <a:buFont typeface="Wingdings" charset="0"/>
              <a:buNone/>
              <a:defRPr/>
            </a:pPr>
            <a:r>
              <a:rPr lang="zh-CN" altLang="en-US" dirty="0"/>
              <a:t>      </a:t>
            </a:r>
            <a:r>
              <a:rPr lang="zh-CN" altLang="en-US" dirty="0">
                <a:solidFill>
                  <a:schemeClr val="bg2"/>
                </a:solidFill>
              </a:rPr>
              <a:t>循环体语句</a:t>
            </a:r>
            <a:r>
              <a:rPr lang="zh-CN" altLang="en-US" dirty="0"/>
              <a:t>;</a:t>
            </a:r>
            <a:r>
              <a:rPr lang="zh-CN" altLang="en-US" dirty="0">
                <a:latin typeface="宋体" charset="0"/>
              </a:rPr>
              <a:t>     </a:t>
            </a:r>
          </a:p>
        </p:txBody>
      </p:sp>
      <p:graphicFrame>
        <p:nvGraphicFramePr>
          <p:cNvPr id="59407" name="Object 15"/>
          <p:cNvGraphicFramePr>
            <a:graphicFrameLocks noChangeAspect="1"/>
          </p:cNvGraphicFramePr>
          <p:nvPr/>
        </p:nvGraphicFramePr>
        <p:xfrm>
          <a:off x="5646738" y="1757363"/>
          <a:ext cx="2832100" cy="450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20" name="位图图像" r:id="rId3" imgW="1819080" imgH="2898000" progId="PBrush">
                  <p:embed/>
                </p:oleObj>
              </mc:Choice>
              <mc:Fallback>
                <p:oleObj name="位图图像" r:id="rId3" imgW="1819080" imgH="2898000" progId="PBrush">
                  <p:embed/>
                  <p:pic>
                    <p:nvPicPr>
                      <p:cNvPr id="0" name="Picture 2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6738" y="1757363"/>
                        <a:ext cx="2832100" cy="450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7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9460" name="Group 68"/>
          <p:cNvGrpSpPr>
            <a:grpSpLocks/>
          </p:cNvGrpSpPr>
          <p:nvPr/>
        </p:nvGrpSpPr>
        <p:grpSpPr bwMode="auto">
          <a:xfrm>
            <a:off x="685800" y="2514600"/>
            <a:ext cx="2743200" cy="2895600"/>
            <a:chOff x="1869" y="4088"/>
            <a:chExt cx="2762" cy="3104"/>
          </a:xfrm>
        </p:grpSpPr>
        <p:sp>
          <p:nvSpPr>
            <p:cNvPr id="20490" name="Text Box 69"/>
            <p:cNvSpPr txBox="1">
              <a:spLocks noChangeArrowheads="1"/>
            </p:cNvSpPr>
            <p:nvPr/>
          </p:nvSpPr>
          <p:spPr bwMode="auto">
            <a:xfrm>
              <a:off x="2777" y="5044"/>
              <a:ext cx="1080" cy="4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 eaLnBrk="0" hangingPunct="0"/>
              <a:r>
                <a:rPr lang="zh-CN" altLang="en-US" sz="1600" dirty="0">
                  <a:solidFill>
                    <a:schemeClr val="tx1"/>
                  </a:solidFill>
                  <a:latin typeface="Times New Roman" charset="0"/>
                </a:rPr>
                <a:t>真</a:t>
              </a:r>
            </a:p>
          </p:txBody>
        </p:sp>
        <p:sp>
          <p:nvSpPr>
            <p:cNvPr id="20491" name="Text Box 70"/>
            <p:cNvSpPr txBox="1">
              <a:spLocks noChangeArrowheads="1"/>
            </p:cNvSpPr>
            <p:nvPr/>
          </p:nvSpPr>
          <p:spPr bwMode="auto">
            <a:xfrm>
              <a:off x="3716" y="4424"/>
              <a:ext cx="915" cy="4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 eaLnBrk="0" hangingPunct="0"/>
              <a:r>
                <a:rPr lang="zh-CN" altLang="en-US" sz="1600">
                  <a:solidFill>
                    <a:schemeClr val="tx1"/>
                  </a:solidFill>
                  <a:latin typeface="Times New Roman" charset="0"/>
                </a:rPr>
                <a:t>假</a:t>
              </a:r>
            </a:p>
          </p:txBody>
        </p:sp>
        <p:sp>
          <p:nvSpPr>
            <p:cNvPr id="20492" name="Line 71"/>
            <p:cNvSpPr>
              <a:spLocks noChangeShapeType="1"/>
            </p:cNvSpPr>
            <p:nvPr/>
          </p:nvSpPr>
          <p:spPr bwMode="auto">
            <a:xfrm>
              <a:off x="3111" y="5080"/>
              <a:ext cx="0" cy="2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493" name="Group 72"/>
            <p:cNvGrpSpPr>
              <a:grpSpLocks/>
            </p:cNvGrpSpPr>
            <p:nvPr/>
          </p:nvGrpSpPr>
          <p:grpSpPr bwMode="auto">
            <a:xfrm>
              <a:off x="1869" y="4088"/>
              <a:ext cx="2687" cy="3104"/>
              <a:chOff x="1869" y="4088"/>
              <a:chExt cx="2687" cy="3104"/>
            </a:xfrm>
          </p:grpSpPr>
          <p:sp>
            <p:nvSpPr>
              <p:cNvPr id="20494" name="Text Box 73"/>
              <p:cNvSpPr txBox="1">
                <a:spLocks noChangeArrowheads="1"/>
              </p:cNvSpPr>
              <p:nvPr/>
            </p:nvSpPr>
            <p:spPr bwMode="auto">
              <a:xfrm>
                <a:off x="2264" y="6786"/>
                <a:ext cx="1887" cy="40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  <a:cs typeface="宋体" charset="0"/>
                  </a:defRPr>
                </a:lvl1pPr>
                <a:lvl2pPr marL="742950" indent="-285750"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algn="ctr" eaLnBrk="0" hangingPunct="0"/>
                <a:r>
                  <a:rPr lang="en-US" altLang="zh-CN" sz="1600">
                    <a:solidFill>
                      <a:schemeClr val="tx1"/>
                    </a:solidFill>
                    <a:latin typeface="Times New Roman" charset="0"/>
                  </a:rPr>
                  <a:t>while</a:t>
                </a:r>
                <a:r>
                  <a:rPr lang="zh-CN" altLang="en-US" sz="1600">
                    <a:solidFill>
                      <a:schemeClr val="tx1"/>
                    </a:solidFill>
                    <a:latin typeface="Times New Roman" charset="0"/>
                  </a:rPr>
                  <a:t>下一条语句</a:t>
                </a:r>
              </a:p>
            </p:txBody>
          </p:sp>
          <p:sp>
            <p:nvSpPr>
              <p:cNvPr id="20495" name="Line 74"/>
              <p:cNvSpPr>
                <a:spLocks noChangeShapeType="1"/>
              </p:cNvSpPr>
              <p:nvPr/>
            </p:nvSpPr>
            <p:spPr bwMode="auto">
              <a:xfrm>
                <a:off x="3111" y="408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496" name="AutoShape 75"/>
              <p:cNvSpPr>
                <a:spLocks noChangeArrowheads="1"/>
              </p:cNvSpPr>
              <p:nvPr/>
            </p:nvSpPr>
            <p:spPr bwMode="auto">
              <a:xfrm>
                <a:off x="2206" y="4416"/>
                <a:ext cx="1815" cy="666"/>
              </a:xfrm>
              <a:prstGeom prst="flowChartDecision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hangingPunct="0"/>
                <a:r>
                  <a:rPr lang="zh-CN" altLang="en-US" sz="1600">
                    <a:solidFill>
                      <a:schemeClr val="tx1"/>
                    </a:solidFill>
                    <a:latin typeface="Times New Roman" charset="0"/>
                  </a:rPr>
                  <a:t>表达式</a:t>
                </a:r>
              </a:p>
            </p:txBody>
          </p:sp>
          <p:sp>
            <p:nvSpPr>
              <p:cNvPr id="59468" name="Rectangle 76"/>
              <p:cNvSpPr>
                <a:spLocks noChangeArrowheads="1"/>
              </p:cNvSpPr>
              <p:nvPr/>
            </p:nvSpPr>
            <p:spPr bwMode="auto">
              <a:xfrm>
                <a:off x="2449" y="5368"/>
                <a:ext cx="1335" cy="39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eaLnBrk="0" hangingPunct="0">
                  <a:defRPr/>
                </a:pPr>
                <a:r>
                  <a:rPr lang="zh-CN" altLang="en-US" sz="1600">
                    <a:solidFill>
                      <a:schemeClr val="tx1"/>
                    </a:solidFill>
                    <a:latin typeface="Times New Roman" charset="0"/>
                  </a:rPr>
                  <a:t>循环体语句</a:t>
                </a:r>
              </a:p>
            </p:txBody>
          </p:sp>
          <p:sp>
            <p:nvSpPr>
              <p:cNvPr id="59469" name="Freeform 77"/>
              <p:cNvSpPr>
                <a:spLocks/>
              </p:cNvSpPr>
              <p:nvPr/>
            </p:nvSpPr>
            <p:spPr bwMode="auto">
              <a:xfrm>
                <a:off x="3191" y="4755"/>
                <a:ext cx="1365" cy="2028"/>
              </a:xfrm>
              <a:custGeom>
                <a:avLst/>
                <a:gdLst>
                  <a:gd name="T0" fmla="*/ 840 w 1365"/>
                  <a:gd name="T1" fmla="*/ 0 h 2028"/>
                  <a:gd name="T2" fmla="*/ 1365 w 1365"/>
                  <a:gd name="T3" fmla="*/ 0 h 2028"/>
                  <a:gd name="T4" fmla="*/ 1365 w 1365"/>
                  <a:gd name="T5" fmla="*/ 1560 h 2028"/>
                  <a:gd name="T6" fmla="*/ 0 w 1365"/>
                  <a:gd name="T7" fmla="*/ 1560 h 2028"/>
                  <a:gd name="T8" fmla="*/ 0 w 1365"/>
                  <a:gd name="T9" fmla="*/ 2028 h 20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5" h="2028">
                    <a:moveTo>
                      <a:pt x="840" y="0"/>
                    </a:moveTo>
                    <a:lnTo>
                      <a:pt x="1365" y="0"/>
                    </a:lnTo>
                    <a:lnTo>
                      <a:pt x="1365" y="1560"/>
                    </a:lnTo>
                    <a:lnTo>
                      <a:pt x="0" y="1560"/>
                    </a:lnTo>
                    <a:lnTo>
                      <a:pt x="0" y="2028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9470" name="Freeform 78"/>
              <p:cNvSpPr>
                <a:spLocks/>
              </p:cNvSpPr>
              <p:nvPr/>
            </p:nvSpPr>
            <p:spPr bwMode="auto">
              <a:xfrm>
                <a:off x="1869" y="4350"/>
                <a:ext cx="1260" cy="1942"/>
              </a:xfrm>
              <a:custGeom>
                <a:avLst/>
                <a:gdLst>
                  <a:gd name="T0" fmla="*/ 1260 w 1260"/>
                  <a:gd name="T1" fmla="*/ 1248 h 1716"/>
                  <a:gd name="T2" fmla="*/ 1260 w 1260"/>
                  <a:gd name="T3" fmla="*/ 1716 h 1716"/>
                  <a:gd name="T4" fmla="*/ 0 w 1260"/>
                  <a:gd name="T5" fmla="*/ 1716 h 1716"/>
                  <a:gd name="T6" fmla="*/ 0 w 1260"/>
                  <a:gd name="T7" fmla="*/ 0 h 1716"/>
                  <a:gd name="T8" fmla="*/ 1155 w 1260"/>
                  <a:gd name="T9" fmla="*/ 0 h 17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60" h="1716">
                    <a:moveTo>
                      <a:pt x="1260" y="1248"/>
                    </a:moveTo>
                    <a:lnTo>
                      <a:pt x="1260" y="1716"/>
                    </a:lnTo>
                    <a:lnTo>
                      <a:pt x="0" y="1716"/>
                    </a:lnTo>
                    <a:lnTo>
                      <a:pt x="0" y="0"/>
                    </a:lnTo>
                    <a:lnTo>
                      <a:pt x="1155" y="0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</p:grpSp>
      <p:sp>
        <p:nvSpPr>
          <p:cNvPr id="59473" name="Rectangle 81"/>
          <p:cNvSpPr>
            <a:spLocks noChangeArrowheads="1"/>
          </p:cNvSpPr>
          <p:nvPr/>
        </p:nvSpPr>
        <p:spPr bwMode="auto">
          <a:xfrm>
            <a:off x="3810000" y="2895600"/>
            <a:ext cx="16208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rgbClr val="CC0066"/>
                </a:solidFill>
                <a:latin typeface="华文行楷"/>
                <a:ea typeface="华文行楷"/>
                <a:cs typeface="华文行楷"/>
              </a:rPr>
              <a:t>循环条件</a:t>
            </a:r>
            <a:endParaRPr kumimoji="1" lang="zh-CN" altLang="en-US" sz="2800" dirty="0">
              <a:solidFill>
                <a:schemeClr val="bg2"/>
              </a:solidFill>
              <a:latin typeface="华文行楷"/>
              <a:ea typeface="华文行楷"/>
              <a:cs typeface="华文行楷"/>
            </a:endParaRPr>
          </a:p>
        </p:txBody>
      </p:sp>
      <p:sp>
        <p:nvSpPr>
          <p:cNvPr id="59474" name="Rectangle 82"/>
          <p:cNvSpPr>
            <a:spLocks noChangeArrowheads="1"/>
          </p:cNvSpPr>
          <p:nvPr/>
        </p:nvSpPr>
        <p:spPr bwMode="auto">
          <a:xfrm>
            <a:off x="3962400" y="3962400"/>
            <a:ext cx="12557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2800" dirty="0">
                <a:solidFill>
                  <a:schemeClr val="bg2"/>
                </a:solidFill>
                <a:latin typeface="华文行楷"/>
                <a:ea typeface="华文行楷"/>
                <a:cs typeface="华文行楷"/>
              </a:rPr>
              <a:t>循环体</a:t>
            </a:r>
          </a:p>
        </p:txBody>
      </p:sp>
      <p:sp>
        <p:nvSpPr>
          <p:cNvPr id="59478" name="Line 86"/>
          <p:cNvSpPr>
            <a:spLocks noChangeShapeType="1"/>
          </p:cNvSpPr>
          <p:nvPr/>
        </p:nvSpPr>
        <p:spPr bwMode="auto">
          <a:xfrm flipH="1">
            <a:off x="4427538" y="1412875"/>
            <a:ext cx="1008062" cy="576263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59479" name="Rectangle 87"/>
          <p:cNvSpPr>
            <a:spLocks noChangeArrowheads="1"/>
          </p:cNvSpPr>
          <p:nvPr/>
        </p:nvSpPr>
        <p:spPr bwMode="auto">
          <a:xfrm>
            <a:off x="5651500" y="1125538"/>
            <a:ext cx="1612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2800" dirty="0">
                <a:solidFill>
                  <a:schemeClr val="bg2"/>
                </a:solidFill>
                <a:ea typeface="仿宋_GB2312" charset="0"/>
                <a:cs typeface="仿宋_GB2312" charset="0"/>
              </a:rPr>
              <a:t>一条语句</a:t>
            </a:r>
          </a:p>
        </p:txBody>
      </p:sp>
      <p:graphicFrame>
        <p:nvGraphicFramePr>
          <p:cNvPr id="20" name="Object 15"/>
          <p:cNvGraphicFramePr>
            <a:graphicFrameLocks noChangeAspect="1"/>
          </p:cNvGraphicFramePr>
          <p:nvPr/>
        </p:nvGraphicFramePr>
        <p:xfrm>
          <a:off x="5638800" y="1752600"/>
          <a:ext cx="2847975" cy="451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21" name="位图图像" r:id="rId5" imgW="1838095" imgH="2914286" progId="PBrush">
                  <p:embed/>
                </p:oleObj>
              </mc:Choice>
              <mc:Fallback>
                <p:oleObj name="位图图像" r:id="rId5" imgW="1838095" imgH="2914286" progId="PBrush">
                  <p:embed/>
                  <p:pic>
                    <p:nvPicPr>
                      <p:cNvPr id="0" name="Picture 2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752600"/>
                        <a:ext cx="2847975" cy="451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7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59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59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0" dur="2000"/>
                                        <p:tgtEl>
                                          <p:spTgt spid="5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59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59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/>
      <p:bldP spid="59473" grpId="0"/>
      <p:bldP spid="59474" grpId="0"/>
      <p:bldP spid="59478" grpId="0" animBg="1"/>
      <p:bldP spid="5947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5715000" cy="1219200"/>
          </a:xfrm>
        </p:spPr>
        <p:txBody>
          <a:bodyPr/>
          <a:lstStyle/>
          <a:p>
            <a:pPr algn="just">
              <a:buFont typeface="Wingdings" charset="0"/>
              <a:buNone/>
              <a:defRPr/>
            </a:pPr>
            <a:r>
              <a:rPr lang="en-US" altLang="zh-CN" dirty="0"/>
              <a:t>while </a:t>
            </a:r>
            <a:r>
              <a:rPr lang="zh-CN" altLang="en-US" dirty="0"/>
              <a:t>语句和</a:t>
            </a:r>
            <a:r>
              <a:rPr lang="en-US" altLang="zh-CN" dirty="0"/>
              <a:t> for </a:t>
            </a:r>
            <a:r>
              <a:rPr lang="zh-CN" altLang="en-US" dirty="0"/>
              <a:t>语句</a:t>
            </a:r>
          </a:p>
          <a:p>
            <a:pPr marL="949325" lvl="1" algn="just">
              <a:buFont typeface="Wingdings" charset="0"/>
              <a:buNone/>
              <a:defRPr/>
            </a:pPr>
            <a:r>
              <a:rPr lang="zh-CN" altLang="en-US" dirty="0"/>
              <a:t>都是在循环前先判断条件</a:t>
            </a:r>
          </a:p>
        </p:txBody>
      </p:sp>
      <p:sp>
        <p:nvSpPr>
          <p:cNvPr id="121860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457200"/>
            <a:ext cx="5173663" cy="68580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 algn="just">
              <a:defRPr/>
            </a:pPr>
            <a:r>
              <a:rPr lang="en-US" altLang="zh-CN"/>
              <a:t>while </a:t>
            </a:r>
            <a:r>
              <a:rPr lang="zh-CN" altLang="en-US"/>
              <a:t>语句说明</a:t>
            </a:r>
          </a:p>
        </p:txBody>
      </p:sp>
      <p:sp>
        <p:nvSpPr>
          <p:cNvPr id="121861" name="Rectangle 5"/>
          <p:cNvSpPr>
            <a:spLocks noChangeArrowheads="1"/>
          </p:cNvSpPr>
          <p:nvPr/>
        </p:nvSpPr>
        <p:spPr bwMode="auto">
          <a:xfrm>
            <a:off x="4176713" y="3886200"/>
            <a:ext cx="4572000" cy="2579688"/>
          </a:xfrm>
          <a:prstGeom prst="rect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spcBef>
                <a:spcPct val="20000"/>
              </a:spcBef>
              <a:defRPr/>
            </a:pPr>
            <a:r>
              <a:rPr kumimoji="1" lang="zh-CN" altLang="en-US" sz="2800" dirty="0">
                <a:solidFill>
                  <a:srgbClr val="660066"/>
                </a:solidFill>
              </a:rPr>
              <a:t>表达式</a:t>
            </a:r>
            <a:r>
              <a:rPr kumimoji="1" lang="en-US" altLang="zh-CN" sz="2800" dirty="0">
                <a:solidFill>
                  <a:srgbClr val="660066"/>
                </a:solidFill>
              </a:rPr>
              <a:t>1</a:t>
            </a:r>
            <a:r>
              <a:rPr kumimoji="1" lang="zh-CN" altLang="en-US" sz="2800" dirty="0">
                <a:solidFill>
                  <a:schemeClr val="tx1"/>
                </a:solidFill>
              </a:rPr>
              <a:t>；</a:t>
            </a:r>
          </a:p>
          <a:p>
            <a:pPr lvl="1">
              <a:spcBef>
                <a:spcPct val="20000"/>
              </a:spcBef>
              <a:defRPr/>
            </a:pPr>
            <a:r>
              <a:rPr kumimoji="1" lang="en-US" altLang="zh-CN" sz="2800" dirty="0">
                <a:solidFill>
                  <a:schemeClr val="tx1"/>
                </a:solidFill>
              </a:rPr>
              <a:t>while (</a:t>
            </a:r>
            <a:r>
              <a:rPr kumimoji="1" lang="zh-CN" altLang="en-US" sz="2800" dirty="0">
                <a:solidFill>
                  <a:srgbClr val="CC0066"/>
                </a:solidFill>
              </a:rPr>
              <a:t>表达式</a:t>
            </a:r>
            <a:r>
              <a:rPr kumimoji="1" lang="en-US" altLang="zh-CN" sz="2800" dirty="0">
                <a:solidFill>
                  <a:srgbClr val="CC0066"/>
                </a:solidFill>
              </a:rPr>
              <a:t>2</a:t>
            </a:r>
            <a:r>
              <a:rPr kumimoji="1" lang="en-US" altLang="zh-CN" sz="2800" dirty="0">
                <a:solidFill>
                  <a:schemeClr val="tx1"/>
                </a:solidFill>
              </a:rPr>
              <a:t>)</a:t>
            </a:r>
            <a:r>
              <a:rPr kumimoji="1" lang="zh-CN" altLang="en-US" sz="2800" dirty="0">
                <a:solidFill>
                  <a:schemeClr val="tx1"/>
                </a:solidFill>
              </a:rPr>
              <a:t> </a:t>
            </a:r>
            <a:r>
              <a:rPr kumimoji="1" lang="en-US" altLang="zh-CN" sz="2800" dirty="0">
                <a:solidFill>
                  <a:schemeClr val="tx1"/>
                </a:solidFill>
              </a:rPr>
              <a:t>{</a:t>
            </a:r>
            <a:endParaRPr kumimoji="1" lang="zh-CN" altLang="en-US" sz="2800" dirty="0">
              <a:solidFill>
                <a:schemeClr val="tx1"/>
              </a:solidFill>
            </a:endParaRPr>
          </a:p>
          <a:p>
            <a:pPr lvl="1">
              <a:spcBef>
                <a:spcPct val="20000"/>
              </a:spcBef>
              <a:defRPr/>
            </a:pPr>
            <a:r>
              <a:rPr kumimoji="1" lang="zh-CN" altLang="en-US" sz="2800" dirty="0">
                <a:solidFill>
                  <a:schemeClr val="tx1"/>
                </a:solidFill>
              </a:rPr>
              <a:t>    </a:t>
            </a:r>
            <a:r>
              <a:rPr kumimoji="1" lang="en-US" altLang="zh-CN" sz="2800" dirty="0">
                <a:solidFill>
                  <a:srgbClr val="00007D"/>
                </a:solidFill>
              </a:rPr>
              <a:t>for</a:t>
            </a:r>
            <a:r>
              <a:rPr kumimoji="1" lang="zh-CN" altLang="en-US" sz="2800" dirty="0">
                <a:solidFill>
                  <a:srgbClr val="00007D"/>
                </a:solidFill>
              </a:rPr>
              <a:t>的循环体语句</a:t>
            </a:r>
            <a:r>
              <a:rPr kumimoji="1" lang="zh-CN" altLang="en-US" sz="2800" dirty="0">
                <a:solidFill>
                  <a:schemeClr val="tx1"/>
                </a:solidFill>
              </a:rPr>
              <a:t>；</a:t>
            </a:r>
          </a:p>
          <a:p>
            <a:pPr lvl="1">
              <a:spcBef>
                <a:spcPct val="20000"/>
              </a:spcBef>
              <a:defRPr/>
            </a:pPr>
            <a:r>
              <a:rPr kumimoji="1" lang="zh-CN" altLang="en-US" sz="2800" dirty="0">
                <a:solidFill>
                  <a:schemeClr val="tx1"/>
                </a:solidFill>
              </a:rPr>
              <a:t>    </a:t>
            </a:r>
            <a:r>
              <a:rPr kumimoji="1" lang="zh-CN" altLang="en-US" sz="2800" dirty="0">
                <a:solidFill>
                  <a:srgbClr val="FF0000"/>
                </a:solidFill>
              </a:rPr>
              <a:t>表达式</a:t>
            </a:r>
            <a:r>
              <a:rPr kumimoji="1" lang="en-US" altLang="zh-CN" sz="2800" dirty="0">
                <a:solidFill>
                  <a:srgbClr val="FF0000"/>
                </a:solidFill>
              </a:rPr>
              <a:t>3</a:t>
            </a:r>
            <a:r>
              <a:rPr kumimoji="1" lang="zh-CN" altLang="en-US" sz="2800" dirty="0">
                <a:solidFill>
                  <a:schemeClr val="tx1"/>
                </a:solidFill>
              </a:rPr>
              <a:t>；</a:t>
            </a:r>
          </a:p>
          <a:p>
            <a:pPr lvl="1">
              <a:spcBef>
                <a:spcPct val="20000"/>
              </a:spcBef>
              <a:defRPr/>
            </a:pPr>
            <a:r>
              <a:rPr kumimoji="1" lang="en-US" altLang="zh-CN" sz="2800" dirty="0">
                <a:solidFill>
                  <a:schemeClr val="tx1"/>
                </a:solidFill>
              </a:rPr>
              <a:t>}</a:t>
            </a:r>
            <a:endParaRPr kumimoji="1"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121862" name="Rectangle 6"/>
          <p:cNvSpPr>
            <a:spLocks noChangeArrowheads="1"/>
          </p:cNvSpPr>
          <p:nvPr/>
        </p:nvSpPr>
        <p:spPr bwMode="auto">
          <a:xfrm>
            <a:off x="457200" y="2438400"/>
            <a:ext cx="6019800" cy="187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 algn="just">
              <a:spcBef>
                <a:spcPct val="20000"/>
              </a:spcBef>
              <a:buClr>
                <a:schemeClr val="accent1"/>
              </a:buClr>
              <a:buSzPct val="70000"/>
              <a:buFont typeface="Monotype Sorts" charset="0"/>
              <a:buNone/>
              <a:defRPr/>
            </a:pPr>
            <a:r>
              <a:rPr kumimoji="1" lang="zh-CN" altLang="en-US" sz="3200" dirty="0">
                <a:solidFill>
                  <a:schemeClr val="tx1"/>
                </a:solidFill>
              </a:rPr>
              <a:t>把</a:t>
            </a:r>
            <a:r>
              <a:rPr kumimoji="1" lang="en-US" altLang="zh-CN" sz="3200" dirty="0">
                <a:solidFill>
                  <a:schemeClr val="tx1"/>
                </a:solidFill>
              </a:rPr>
              <a:t> for </a:t>
            </a:r>
            <a:r>
              <a:rPr kumimoji="1" lang="zh-CN" altLang="en-US" sz="3200" dirty="0">
                <a:solidFill>
                  <a:schemeClr val="tx1"/>
                </a:solidFill>
              </a:rPr>
              <a:t>语句改写成</a:t>
            </a:r>
            <a:r>
              <a:rPr kumimoji="1" lang="en-US" altLang="zh-CN" sz="3200" dirty="0">
                <a:solidFill>
                  <a:schemeClr val="tx1"/>
                </a:solidFill>
              </a:rPr>
              <a:t> while </a:t>
            </a:r>
            <a:r>
              <a:rPr kumimoji="1" lang="zh-CN" altLang="en-US" sz="3200" dirty="0">
                <a:solidFill>
                  <a:schemeClr val="tx1"/>
                </a:solidFill>
              </a:rPr>
              <a:t>语句</a:t>
            </a:r>
          </a:p>
          <a:p>
            <a:pPr lvl="1">
              <a:spcBef>
                <a:spcPct val="50000"/>
              </a:spcBef>
              <a:defRPr/>
            </a:pPr>
            <a:r>
              <a:rPr kumimoji="1" lang="en-US" altLang="zh-CN" sz="2800" dirty="0">
                <a:solidFill>
                  <a:schemeClr val="tx1"/>
                </a:solidFill>
              </a:rPr>
              <a:t>for (</a:t>
            </a:r>
            <a:r>
              <a:rPr kumimoji="1" lang="zh-CN" altLang="en-US" sz="2800" dirty="0">
                <a:solidFill>
                  <a:srgbClr val="660066"/>
                </a:solidFill>
              </a:rPr>
              <a:t>表达式</a:t>
            </a:r>
            <a:r>
              <a:rPr kumimoji="1" lang="en-US" altLang="zh-CN" sz="2800" dirty="0">
                <a:solidFill>
                  <a:srgbClr val="660066"/>
                </a:solidFill>
              </a:rPr>
              <a:t>1</a:t>
            </a:r>
            <a:r>
              <a:rPr kumimoji="1" lang="zh-CN" altLang="en-US" sz="2800" dirty="0">
                <a:solidFill>
                  <a:schemeClr val="tx1"/>
                </a:solidFill>
              </a:rPr>
              <a:t>; </a:t>
            </a:r>
            <a:r>
              <a:rPr lang="zh-CN" altLang="en-US" sz="2800" dirty="0">
                <a:solidFill>
                  <a:srgbClr val="CC0066"/>
                </a:solidFill>
              </a:rPr>
              <a:t>表达式</a:t>
            </a:r>
            <a:r>
              <a:rPr lang="en-US" altLang="zh-CN" sz="2800" dirty="0">
                <a:solidFill>
                  <a:srgbClr val="CC0066"/>
                </a:solidFill>
              </a:rPr>
              <a:t>2</a:t>
            </a:r>
            <a:r>
              <a:rPr kumimoji="1" lang="zh-CN" altLang="en-US" sz="2800" dirty="0">
                <a:solidFill>
                  <a:schemeClr val="tx1"/>
                </a:solidFill>
              </a:rPr>
              <a:t>; </a:t>
            </a:r>
            <a:r>
              <a:rPr kumimoji="1" lang="zh-CN" altLang="en-US" sz="2800" dirty="0">
                <a:solidFill>
                  <a:srgbClr val="FF0000"/>
                </a:solidFill>
              </a:rPr>
              <a:t>表达式</a:t>
            </a:r>
            <a:r>
              <a:rPr kumimoji="1" lang="en-US" altLang="zh-CN" sz="2800" dirty="0">
                <a:solidFill>
                  <a:srgbClr val="FF0000"/>
                </a:solidFill>
              </a:rPr>
              <a:t>3</a:t>
            </a:r>
            <a:r>
              <a:rPr kumimoji="1" lang="zh-CN" altLang="en-US" sz="2800" dirty="0">
                <a:solidFill>
                  <a:schemeClr val="tx1"/>
                </a:solidFill>
              </a:rPr>
              <a:t>)</a:t>
            </a:r>
          </a:p>
          <a:p>
            <a:pPr lvl="1">
              <a:spcBef>
                <a:spcPct val="50000"/>
              </a:spcBef>
              <a:defRPr/>
            </a:pPr>
            <a:r>
              <a:rPr kumimoji="1" lang="zh-CN" altLang="en-US" sz="2800" dirty="0">
                <a:solidFill>
                  <a:schemeClr val="tx1"/>
                </a:solidFill>
              </a:rPr>
              <a:t>      </a:t>
            </a:r>
            <a:r>
              <a:rPr kumimoji="1" lang="zh-CN" altLang="en-US" sz="2800" dirty="0">
                <a:solidFill>
                  <a:schemeClr val="bg2"/>
                </a:solidFill>
              </a:rPr>
              <a:t>循环体语句</a:t>
            </a:r>
            <a:endParaRPr kumimoji="1" lang="en-US" altLang="zh-CN" sz="2800" dirty="0">
              <a:solidFill>
                <a:schemeClr val="bg2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ACDAD601-484D-433C-AE78-A7F7826C4C8B}"/>
              </a:ext>
            </a:extLst>
          </p:cNvPr>
          <p:cNvSpPr/>
          <p:nvPr/>
        </p:nvSpPr>
        <p:spPr>
          <a:xfrm>
            <a:off x="323528" y="5105470"/>
            <a:ext cx="3456384" cy="707886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r>
              <a:rPr lang="zh-CN" altLang="en-US" sz="2000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前提：</a:t>
            </a:r>
            <a:r>
              <a:rPr lang="en-US" altLang="zh-CN" sz="2000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for</a:t>
            </a:r>
            <a:r>
              <a:rPr lang="zh-CN" altLang="zh-CN" sz="2000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的循环体语句中没有使用</a:t>
            </a:r>
            <a:r>
              <a:rPr lang="en-US" altLang="zh-CN" sz="2000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continue</a:t>
            </a:r>
            <a:r>
              <a:rPr lang="zh-CN" altLang="zh-CN" sz="2000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语句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18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18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18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18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1" grpId="0" animBg="1" autoUpdateAnimBg="0"/>
      <p:bldP spid="121862" grpId="0" autoUpdateAnimBg="0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5516563" cy="99060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en-US" altLang="zh-CN"/>
              <a:t>while </a:t>
            </a:r>
            <a:r>
              <a:rPr lang="zh-CN" altLang="en-US"/>
              <a:t>和 </a:t>
            </a:r>
            <a:r>
              <a:rPr lang="en-US" altLang="zh-CN"/>
              <a:t>for </a:t>
            </a:r>
            <a:r>
              <a:rPr lang="zh-CN" altLang="en-US"/>
              <a:t>的比较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1052512"/>
            <a:ext cx="5297016" cy="1974851"/>
          </a:xfrm>
          <a:ln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lvl="1" algn="just">
              <a:lnSpc>
                <a:spcPct val="90000"/>
              </a:lnSpc>
              <a:buFont typeface="Wingdings" charset="0"/>
              <a:buNone/>
              <a:defRPr/>
            </a:pPr>
            <a:r>
              <a:rPr lang="en-US" altLang="zh-CN" dirty="0"/>
              <a:t>sum = 0;</a:t>
            </a:r>
          </a:p>
          <a:p>
            <a:pPr lvl="1" algn="just">
              <a:lnSpc>
                <a:spcPct val="90000"/>
              </a:lnSpc>
              <a:buFont typeface="Wingdings" charset="0"/>
              <a:buNone/>
              <a:defRPr/>
            </a:pPr>
            <a:r>
              <a:rPr lang="en-US" altLang="zh-CN" dirty="0"/>
              <a:t>for (</a:t>
            </a:r>
            <a:r>
              <a:rPr lang="en-US" altLang="zh-CN" dirty="0" err="1">
                <a:solidFill>
                  <a:srgbClr val="660066"/>
                </a:solidFill>
              </a:rPr>
              <a:t>i</a:t>
            </a:r>
            <a:r>
              <a:rPr lang="en-US" altLang="zh-CN" dirty="0">
                <a:solidFill>
                  <a:srgbClr val="660066"/>
                </a:solidFill>
              </a:rPr>
              <a:t> = 1</a:t>
            </a:r>
            <a:r>
              <a:rPr lang="en-US" altLang="zh-CN" dirty="0"/>
              <a:t>; </a:t>
            </a:r>
            <a:r>
              <a:rPr lang="en-US" altLang="zh-CN" dirty="0" err="1">
                <a:solidFill>
                  <a:srgbClr val="CC0066"/>
                </a:solidFill>
              </a:rPr>
              <a:t>i</a:t>
            </a:r>
            <a:r>
              <a:rPr lang="en-US" altLang="zh-CN" dirty="0">
                <a:solidFill>
                  <a:srgbClr val="CC0066"/>
                </a:solidFill>
              </a:rPr>
              <a:t> &lt;= 10</a:t>
            </a:r>
            <a:r>
              <a:rPr lang="en-US" altLang="zh-CN" dirty="0"/>
              <a:t>; </a:t>
            </a:r>
            <a:r>
              <a:rPr lang="en-US" altLang="zh-CN" dirty="0" err="1">
                <a:solidFill>
                  <a:srgbClr val="FF0000"/>
                </a:solidFill>
              </a:rPr>
              <a:t>i</a:t>
            </a:r>
            <a:r>
              <a:rPr lang="en-US" altLang="zh-CN" dirty="0">
                <a:solidFill>
                  <a:srgbClr val="FF0000"/>
                </a:solidFill>
              </a:rPr>
              <a:t>++</a:t>
            </a:r>
            <a:r>
              <a:rPr lang="en-US" altLang="zh-CN" dirty="0"/>
              <a:t>){</a:t>
            </a:r>
          </a:p>
          <a:p>
            <a:pPr lvl="1">
              <a:lnSpc>
                <a:spcPct val="90000"/>
              </a:lnSpc>
              <a:buFont typeface="Wingdings" charset="0"/>
              <a:buNone/>
              <a:defRPr/>
            </a:pPr>
            <a:r>
              <a:rPr lang="en-US" altLang="zh-CN" dirty="0">
                <a:solidFill>
                  <a:srgbClr val="3333CC"/>
                </a:solidFill>
              </a:rPr>
              <a:t>    </a:t>
            </a:r>
            <a:r>
              <a:rPr lang="en-US" altLang="zh-CN" dirty="0">
                <a:solidFill>
                  <a:schemeClr val="bg2"/>
                </a:solidFill>
              </a:rPr>
              <a:t>sum = sum + </a:t>
            </a:r>
            <a:r>
              <a:rPr lang="en-US" altLang="zh-CN" dirty="0" err="1">
                <a:solidFill>
                  <a:schemeClr val="bg2"/>
                </a:solidFill>
              </a:rPr>
              <a:t>i</a:t>
            </a:r>
            <a:r>
              <a:rPr lang="en-US" altLang="zh-CN" dirty="0"/>
              <a:t>; </a:t>
            </a:r>
          </a:p>
          <a:p>
            <a:pPr lvl="1">
              <a:lnSpc>
                <a:spcPct val="90000"/>
              </a:lnSpc>
              <a:buFont typeface="Wingdings" charset="0"/>
              <a:buNone/>
              <a:defRPr/>
            </a:pPr>
            <a:r>
              <a:rPr lang="en-US" altLang="zh-CN" dirty="0"/>
              <a:t>}</a:t>
            </a:r>
          </a:p>
        </p:txBody>
      </p:sp>
      <p:sp>
        <p:nvSpPr>
          <p:cNvPr id="60422" name="Rectangle 6"/>
          <p:cNvSpPr>
            <a:spLocks noChangeArrowheads="1"/>
          </p:cNvSpPr>
          <p:nvPr/>
        </p:nvSpPr>
        <p:spPr bwMode="auto">
          <a:xfrm>
            <a:off x="1268743" y="3236912"/>
            <a:ext cx="7448550" cy="341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spcBef>
                <a:spcPct val="50000"/>
              </a:spcBef>
              <a:defRPr/>
            </a:pPr>
            <a:r>
              <a:rPr lang="en-US" altLang="zh-CN" sz="2800" dirty="0">
                <a:solidFill>
                  <a:schemeClr val="tx1"/>
                </a:solidFill>
              </a:rPr>
              <a:t>sum  = 0;</a:t>
            </a:r>
          </a:p>
          <a:p>
            <a:pPr lvl="1">
              <a:spcBef>
                <a:spcPct val="50000"/>
              </a:spcBef>
              <a:defRPr/>
            </a:pPr>
            <a:r>
              <a:rPr lang="en-US" altLang="zh-CN" sz="2800" dirty="0" err="1">
                <a:solidFill>
                  <a:srgbClr val="660066"/>
                </a:solidFill>
              </a:rPr>
              <a:t>i</a:t>
            </a:r>
            <a:r>
              <a:rPr lang="en-US" altLang="zh-CN" sz="2800" dirty="0">
                <a:solidFill>
                  <a:srgbClr val="660066"/>
                </a:solidFill>
              </a:rPr>
              <a:t> = 1</a:t>
            </a:r>
            <a:r>
              <a:rPr kumimoji="1" lang="en-US" altLang="zh-CN" sz="2800" dirty="0">
                <a:solidFill>
                  <a:schemeClr val="tx1"/>
                </a:solidFill>
              </a:rPr>
              <a:t>;                     /*</a:t>
            </a:r>
            <a:r>
              <a:rPr kumimoji="1" lang="en-US" altLang="zh-CN" sz="2800" dirty="0">
                <a:solidFill>
                  <a:srgbClr val="3333CC"/>
                </a:solidFill>
              </a:rPr>
              <a:t> </a:t>
            </a:r>
            <a:r>
              <a:rPr kumimoji="1" lang="zh-CN" altLang="en-US" sz="2800" dirty="0">
                <a:solidFill>
                  <a:schemeClr val="bg2"/>
                </a:solidFill>
                <a:ea typeface="仿宋_GB2312" charset="0"/>
                <a:cs typeface="仿宋_GB2312" charset="0"/>
              </a:rPr>
              <a:t>循环变量赋初值</a:t>
            </a:r>
            <a:r>
              <a:rPr kumimoji="1" lang="en-US" altLang="zh-CN" sz="2800" dirty="0">
                <a:solidFill>
                  <a:schemeClr val="bg2"/>
                </a:solidFill>
                <a:ea typeface="仿宋_GB2312" charset="0"/>
                <a:cs typeface="仿宋_GB2312" charset="0"/>
              </a:rPr>
              <a:t> </a:t>
            </a:r>
            <a:r>
              <a:rPr kumimoji="1" lang="en-US" altLang="zh-CN" sz="2800" dirty="0">
                <a:solidFill>
                  <a:srgbClr val="000000"/>
                </a:solidFill>
                <a:ea typeface="仿宋_GB2312" charset="0"/>
                <a:cs typeface="仿宋_GB2312" charset="0"/>
              </a:rPr>
              <a:t>*/</a:t>
            </a:r>
            <a:endParaRPr kumimoji="1" lang="zh-CN" sz="2800" dirty="0">
              <a:solidFill>
                <a:srgbClr val="000000"/>
              </a:solidFill>
              <a:ea typeface="仿宋_GB2312" charset="0"/>
              <a:cs typeface="仿宋_GB2312" charset="0"/>
            </a:endParaRPr>
          </a:p>
          <a:p>
            <a:pPr lvl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sz="2800" dirty="0">
                <a:solidFill>
                  <a:schemeClr val="tx1"/>
                </a:solidFill>
              </a:rPr>
              <a:t>while (</a:t>
            </a:r>
            <a:r>
              <a:rPr lang="en-US" altLang="zh-CN" sz="2800" dirty="0" err="1">
                <a:solidFill>
                  <a:srgbClr val="CC0066"/>
                </a:solidFill>
              </a:rPr>
              <a:t>i</a:t>
            </a:r>
            <a:r>
              <a:rPr lang="en-US" altLang="zh-CN" sz="2800" dirty="0">
                <a:solidFill>
                  <a:srgbClr val="CC0066"/>
                </a:solidFill>
              </a:rPr>
              <a:t> &lt;= 10</a:t>
            </a:r>
            <a:r>
              <a:rPr kumimoji="1" lang="en-US" altLang="zh-CN" sz="2800" dirty="0">
                <a:solidFill>
                  <a:schemeClr val="tx1"/>
                </a:solidFill>
              </a:rPr>
              <a:t>){               /* </a:t>
            </a:r>
            <a:r>
              <a:rPr kumimoji="1" lang="zh-CN" altLang="en-US" sz="2800" dirty="0">
                <a:solidFill>
                  <a:schemeClr val="bg2"/>
                </a:solidFill>
                <a:ea typeface="仿宋_GB2312" charset="0"/>
                <a:cs typeface="仿宋_GB2312" charset="0"/>
              </a:rPr>
              <a:t>循环条件</a:t>
            </a:r>
            <a:r>
              <a:rPr kumimoji="1" lang="en-US" altLang="zh-CN" sz="2800" dirty="0">
                <a:solidFill>
                  <a:schemeClr val="bg2"/>
                </a:solidFill>
                <a:ea typeface="仿宋_GB2312" charset="0"/>
                <a:cs typeface="仿宋_GB2312" charset="0"/>
              </a:rPr>
              <a:t> </a:t>
            </a:r>
            <a:r>
              <a:rPr kumimoji="1" lang="en-US" altLang="zh-CN" sz="2800" dirty="0">
                <a:solidFill>
                  <a:srgbClr val="000000"/>
                </a:solidFill>
                <a:ea typeface="仿宋_GB2312" charset="0"/>
                <a:cs typeface="仿宋_GB2312" charset="0"/>
              </a:rPr>
              <a:t>*/</a:t>
            </a:r>
            <a:endParaRPr kumimoji="1" lang="zh-CN" altLang="en-US" sz="2800" dirty="0">
              <a:solidFill>
                <a:schemeClr val="bg2"/>
              </a:solidFill>
              <a:ea typeface="仿宋_GB2312" charset="0"/>
              <a:cs typeface="仿宋_GB2312" charset="0"/>
            </a:endParaRPr>
          </a:p>
          <a:p>
            <a:pPr lvl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zh-CN" sz="2800" dirty="0">
                <a:solidFill>
                  <a:schemeClr val="tx1"/>
                </a:solidFill>
              </a:rPr>
              <a:t>   </a:t>
            </a:r>
            <a:r>
              <a:rPr kumimoji="1" lang="en-US" altLang="zh-CN" sz="2800" dirty="0">
                <a:solidFill>
                  <a:schemeClr val="tx1"/>
                </a:solidFill>
              </a:rPr>
              <a:t> </a:t>
            </a:r>
            <a:r>
              <a:rPr kumimoji="1" lang="en-US" altLang="zh-CN" sz="2800" dirty="0">
                <a:solidFill>
                  <a:schemeClr val="bg2"/>
                </a:solidFill>
              </a:rPr>
              <a:t>sum = sum + </a:t>
            </a:r>
            <a:r>
              <a:rPr kumimoji="1" lang="en-US" altLang="zh-CN" sz="2800" dirty="0" err="1">
                <a:solidFill>
                  <a:schemeClr val="bg2"/>
                </a:solidFill>
              </a:rPr>
              <a:t>i</a:t>
            </a:r>
            <a:r>
              <a:rPr kumimoji="1" lang="en-US" altLang="zh-CN" sz="2800" dirty="0">
                <a:solidFill>
                  <a:schemeClr val="tx1"/>
                </a:solidFill>
              </a:rPr>
              <a:t>;</a:t>
            </a:r>
          </a:p>
          <a:p>
            <a:pPr lvl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sz="2800" dirty="0">
                <a:solidFill>
                  <a:schemeClr val="tx1"/>
                </a:solidFill>
              </a:rPr>
              <a:t>    </a:t>
            </a:r>
            <a:r>
              <a:rPr lang="en-US" altLang="zh-CN" sz="2800" dirty="0" err="1">
                <a:solidFill>
                  <a:srgbClr val="FF0000"/>
                </a:solidFill>
              </a:rPr>
              <a:t>i</a:t>
            </a:r>
            <a:r>
              <a:rPr lang="en-US" altLang="zh-CN" sz="2800" dirty="0">
                <a:solidFill>
                  <a:srgbClr val="FF0000"/>
                </a:solidFill>
              </a:rPr>
              <a:t>++</a:t>
            </a:r>
            <a:r>
              <a:rPr kumimoji="1" lang="en-US" altLang="zh-CN" sz="2800" dirty="0">
                <a:solidFill>
                  <a:schemeClr val="tx1"/>
                </a:solidFill>
              </a:rPr>
              <a:t>;                 /* </a:t>
            </a:r>
            <a:r>
              <a:rPr kumimoji="1" lang="zh-CN" altLang="en-US" sz="2800" dirty="0">
                <a:solidFill>
                  <a:schemeClr val="bg2"/>
                </a:solidFill>
                <a:ea typeface="仿宋_GB2312" charset="0"/>
                <a:cs typeface="仿宋_GB2312" charset="0"/>
              </a:rPr>
              <a:t>循环变量的改变</a:t>
            </a:r>
            <a:r>
              <a:rPr kumimoji="1" lang="en-US" altLang="zh-CN" sz="2800" dirty="0">
                <a:solidFill>
                  <a:schemeClr val="bg2"/>
                </a:solidFill>
                <a:ea typeface="仿宋_GB2312" charset="0"/>
                <a:cs typeface="仿宋_GB2312" charset="0"/>
              </a:rPr>
              <a:t> </a:t>
            </a:r>
            <a:r>
              <a:rPr kumimoji="1" lang="en-US" altLang="zh-CN" sz="2800" dirty="0">
                <a:solidFill>
                  <a:srgbClr val="000000"/>
                </a:solidFill>
                <a:ea typeface="仿宋_GB2312" charset="0"/>
                <a:cs typeface="仿宋_GB2312" charset="0"/>
              </a:rPr>
              <a:t>*/</a:t>
            </a:r>
            <a:endParaRPr kumimoji="1" lang="zh-CN" sz="2800" dirty="0">
              <a:solidFill>
                <a:schemeClr val="bg2"/>
              </a:solidFill>
              <a:ea typeface="仿宋_GB2312" charset="0"/>
              <a:cs typeface="仿宋_GB2312" charset="0"/>
            </a:endParaRPr>
          </a:p>
          <a:p>
            <a:pPr lvl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sz="2800" dirty="0">
                <a:solidFill>
                  <a:schemeClr val="tx1"/>
                </a:solidFill>
              </a:rPr>
              <a:t>}</a:t>
            </a:r>
            <a:endParaRPr kumimoji="1"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60423" name="Rectangle 7"/>
          <p:cNvSpPr>
            <a:spLocks noChangeArrowheads="1"/>
          </p:cNvSpPr>
          <p:nvPr/>
        </p:nvSpPr>
        <p:spPr bwMode="auto">
          <a:xfrm>
            <a:off x="426707" y="5045075"/>
            <a:ext cx="1268413" cy="5318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2800" dirty="0">
                <a:solidFill>
                  <a:schemeClr val="bg2"/>
                </a:solidFill>
                <a:latin typeface="华文行楷"/>
                <a:ea typeface="华文行楷"/>
                <a:cs typeface="华文行楷"/>
              </a:rPr>
              <a:t>循环体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0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0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2" grpId="0"/>
      <p:bldP spid="604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313" y="404813"/>
            <a:ext cx="4319587" cy="792162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统计学生的成绩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1125538"/>
            <a:ext cx="8640763" cy="5445125"/>
          </a:xfrm>
        </p:spPr>
        <p:txBody>
          <a:bodyPr/>
          <a:lstStyle/>
          <a:p>
            <a:pPr marL="0" indent="0">
              <a:buFont typeface="Wingdings" charset="0"/>
              <a:buNone/>
              <a:defRPr/>
            </a:pPr>
            <a:r>
              <a:rPr lang="zh-CN" altLang="en-US" dirty="0">
                <a:ea typeface="黑体" charset="0"/>
                <a:cs typeface="黑体" charset="0"/>
              </a:rPr>
              <a:t>例4-2 </a:t>
            </a:r>
            <a:r>
              <a:rPr lang="zh-CN" altLang="en-US" dirty="0"/>
              <a:t>从键盘输入一批学生的成绩，计算平均成绩，并统计不及格学生的人数。</a:t>
            </a:r>
            <a:endParaRPr lang="en-US" altLang="zh-CN" dirty="0"/>
          </a:p>
          <a:p>
            <a:pPr marL="400050" lvl="1" indent="0">
              <a:buFont typeface="Wingdings" charset="0"/>
              <a:buNone/>
              <a:defRPr/>
            </a:pPr>
            <a:r>
              <a:rPr lang="zh-CN" altLang="en-US" dirty="0">
                <a:solidFill>
                  <a:srgbClr val="000000"/>
                </a:solidFill>
              </a:rPr>
              <a:t>例</a:t>
            </a:r>
            <a:r>
              <a:rPr lang="en-US" altLang="zh-CN" dirty="0">
                <a:solidFill>
                  <a:srgbClr val="000000"/>
                </a:solidFill>
              </a:rPr>
              <a:t>3-3 </a:t>
            </a:r>
            <a:r>
              <a:rPr lang="zh-CN" altLang="en-US" dirty="0">
                <a:solidFill>
                  <a:srgbClr val="000000"/>
                </a:solidFill>
              </a:rPr>
              <a:t>输入一个正整数</a:t>
            </a:r>
            <a:r>
              <a:rPr lang="en-US" altLang="zh-CN" dirty="0">
                <a:solidFill>
                  <a:srgbClr val="000000"/>
                </a:solidFill>
              </a:rPr>
              <a:t>n</a:t>
            </a:r>
            <a:r>
              <a:rPr lang="zh-CN" altLang="en-US" dirty="0">
                <a:solidFill>
                  <a:srgbClr val="000000"/>
                </a:solidFill>
              </a:rPr>
              <a:t>，再输入</a:t>
            </a:r>
            <a:r>
              <a:rPr lang="en-US" altLang="zh-CN" dirty="0">
                <a:solidFill>
                  <a:srgbClr val="000000"/>
                </a:solidFill>
              </a:rPr>
              <a:t>n</a:t>
            </a:r>
            <a:r>
              <a:rPr lang="zh-CN" altLang="en-US" dirty="0">
                <a:solidFill>
                  <a:srgbClr val="000000"/>
                </a:solidFill>
              </a:rPr>
              <a:t>个学生的成绩，计算平均分，并统计不及格成绩的个数。</a:t>
            </a:r>
            <a:endParaRPr lang="en-US" altLang="zh-CN" dirty="0">
              <a:solidFill>
                <a:srgbClr val="000000"/>
              </a:solidFill>
            </a:endParaRPr>
          </a:p>
          <a:p>
            <a:pPr lvl="1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total = 0;</a:t>
            </a:r>
          </a:p>
          <a:p>
            <a:pPr lvl="1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count = 0;</a:t>
            </a:r>
          </a:p>
          <a:p>
            <a:pPr lvl="1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for (</a:t>
            </a:r>
            <a:r>
              <a:rPr lang="en-US" altLang="zh-CN" dirty="0" err="1">
                <a:solidFill>
                  <a:srgbClr val="000000"/>
                </a:solidFill>
              </a:rPr>
              <a:t>i</a:t>
            </a:r>
            <a:r>
              <a:rPr lang="en-US" altLang="zh-CN" dirty="0">
                <a:solidFill>
                  <a:srgbClr val="000000"/>
                </a:solidFill>
              </a:rPr>
              <a:t> = 1; </a:t>
            </a:r>
            <a:r>
              <a:rPr lang="en-US" altLang="zh-CN" dirty="0" err="1">
                <a:solidFill>
                  <a:srgbClr val="000000"/>
                </a:solidFill>
              </a:rPr>
              <a:t>i</a:t>
            </a:r>
            <a:r>
              <a:rPr lang="en-US" altLang="zh-CN" dirty="0">
                <a:solidFill>
                  <a:srgbClr val="000000"/>
                </a:solidFill>
              </a:rPr>
              <a:t> &lt;= n; </a:t>
            </a:r>
            <a:r>
              <a:rPr lang="en-US" altLang="zh-CN" dirty="0" err="1">
                <a:solidFill>
                  <a:srgbClr val="000000"/>
                </a:solidFill>
              </a:rPr>
              <a:t>i</a:t>
            </a:r>
            <a:r>
              <a:rPr lang="en-US" altLang="zh-CN" dirty="0">
                <a:solidFill>
                  <a:srgbClr val="000000"/>
                </a:solidFill>
              </a:rPr>
              <a:t>++){</a:t>
            </a:r>
          </a:p>
          <a:p>
            <a:pPr lvl="1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     </a:t>
            </a:r>
            <a:r>
              <a:rPr lang="en-US" altLang="zh-CN" dirty="0" err="1">
                <a:solidFill>
                  <a:srgbClr val="000000"/>
                </a:solidFill>
              </a:rPr>
              <a:t>scanf</a:t>
            </a:r>
            <a:r>
              <a:rPr lang="en-US" altLang="zh-CN" dirty="0">
                <a:solidFill>
                  <a:srgbClr val="000000"/>
                </a:solidFill>
              </a:rPr>
              <a:t> ("%lf", &amp;score); </a:t>
            </a:r>
          </a:p>
          <a:p>
            <a:pPr lvl="1">
              <a:spcBef>
                <a:spcPts val="0"/>
              </a:spcBef>
              <a:buNone/>
              <a:defRPr/>
            </a:pPr>
            <a:r>
              <a:rPr lang="zh-CN" altLang="zh-CN" dirty="0">
                <a:solidFill>
                  <a:srgbClr val="000000"/>
                </a:solidFill>
              </a:rPr>
              <a:t> </a:t>
            </a:r>
            <a:r>
              <a:rPr lang="zh-CN" altLang="en-US" dirty="0">
                <a:solidFill>
                  <a:srgbClr val="000000"/>
                </a:solidFill>
              </a:rPr>
              <a:t>    </a:t>
            </a:r>
            <a:r>
              <a:rPr lang="en-US" altLang="zh-CN" dirty="0">
                <a:solidFill>
                  <a:srgbClr val="000000"/>
                </a:solidFill>
              </a:rPr>
              <a:t>total = total + score; </a:t>
            </a:r>
          </a:p>
          <a:p>
            <a:pPr lvl="1">
              <a:spcBef>
                <a:spcPts val="0"/>
              </a:spcBef>
              <a:buNone/>
              <a:defRPr/>
            </a:pPr>
            <a:r>
              <a:rPr lang="zh-CN" altLang="zh-CN" dirty="0">
                <a:solidFill>
                  <a:srgbClr val="000000"/>
                </a:solidFill>
              </a:rPr>
              <a:t> </a:t>
            </a:r>
            <a:r>
              <a:rPr lang="zh-CN" altLang="en-US" dirty="0">
                <a:solidFill>
                  <a:srgbClr val="000000"/>
                </a:solidFill>
              </a:rPr>
              <a:t>  </a:t>
            </a:r>
            <a:r>
              <a:rPr lang="en-US" altLang="zh-CN" dirty="0">
                <a:solidFill>
                  <a:srgbClr val="000000"/>
                </a:solidFill>
              </a:rPr>
              <a:t>  </a:t>
            </a:r>
            <a:r>
              <a:rPr kumimoji="1" lang="en-US" altLang="zh-CN" dirty="0">
                <a:solidFill>
                  <a:srgbClr val="000000"/>
                </a:solidFill>
              </a:rPr>
              <a:t>if (</a:t>
            </a:r>
            <a:r>
              <a:rPr lang="en-US" altLang="zh-CN" dirty="0">
                <a:solidFill>
                  <a:srgbClr val="000000"/>
                </a:solidFill>
              </a:rPr>
              <a:t>score</a:t>
            </a:r>
            <a:r>
              <a:rPr kumimoji="1" lang="en-US" altLang="zh-CN" dirty="0">
                <a:solidFill>
                  <a:srgbClr val="000000"/>
                </a:solidFill>
              </a:rPr>
              <a:t> &lt; 60){</a:t>
            </a:r>
          </a:p>
          <a:p>
            <a:pPr lvl="1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            count++;}</a:t>
            </a:r>
          </a:p>
          <a:p>
            <a:pPr lvl="1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}</a:t>
            </a:r>
            <a:endParaRPr lang="en-US" altLang="zh-CN" dirty="0"/>
          </a:p>
          <a:p>
            <a:pPr marL="0" indent="0">
              <a:buFont typeface="Wingdings" charset="0"/>
              <a:buNone/>
              <a:defRPr/>
            </a:pPr>
            <a:endParaRPr kumimoji="1" lang="zh-CN" altLang="en-US" dirty="0"/>
          </a:p>
        </p:txBody>
      </p:sp>
      <p:sp>
        <p:nvSpPr>
          <p:cNvPr id="5" name="笑脸 4"/>
          <p:cNvSpPr/>
          <p:nvPr/>
        </p:nvSpPr>
        <p:spPr bwMode="auto">
          <a:xfrm>
            <a:off x="7019925" y="4437063"/>
            <a:ext cx="914400" cy="914400"/>
          </a:xfrm>
          <a:prstGeom prst="smileyFac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5867400" y="3860800"/>
            <a:ext cx="2160588" cy="962025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  <a:defRPr/>
            </a:pPr>
            <a:r>
              <a:rPr kumimoji="1" lang="zh-CN" altLang="en-US" sz="2800" dirty="0">
                <a:solidFill>
                  <a:schemeClr val="tx1"/>
                </a:solidFill>
              </a:rPr>
              <a:t>如何确定</a:t>
            </a:r>
            <a:endParaRPr kumimoji="1" lang="en-US" altLang="zh-CN" sz="2800" dirty="0">
              <a:solidFill>
                <a:schemeClr val="tx1"/>
              </a:solidFill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  <a:defRPr/>
            </a:pPr>
            <a:r>
              <a:rPr kumimoji="1" lang="zh-CN" altLang="en-US" sz="2800" dirty="0">
                <a:solidFill>
                  <a:schemeClr val="tx1"/>
                </a:solidFill>
              </a:rPr>
              <a:t>循环条件？</a:t>
            </a:r>
            <a:endParaRPr kumimoji="1" lang="en-US" altLang="zh-CN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313" y="549275"/>
            <a:ext cx="7416800" cy="792163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分析</a:t>
            </a:r>
            <a:r>
              <a:rPr lang="en-US" altLang="zh-CN" dirty="0"/>
              <a:t>-</a:t>
            </a:r>
            <a:r>
              <a:rPr lang="zh-CN" altLang="en-US" dirty="0"/>
              <a:t>统计成绩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388" y="1412875"/>
            <a:ext cx="8785225" cy="4797425"/>
          </a:xfrm>
        </p:spPr>
        <p:txBody>
          <a:bodyPr/>
          <a:lstStyle/>
          <a:p>
            <a:pPr marL="0" indent="0">
              <a:buFont typeface="Wingdings" charset="0"/>
              <a:buNone/>
              <a:defRPr/>
            </a:pPr>
            <a:r>
              <a:rPr lang="zh-CN" altLang="en-US" dirty="0"/>
              <a:t>从键盘输入一批学生的成绩，计算平均成绩，并统计不及格学生的人数。</a:t>
            </a:r>
            <a:endParaRPr lang="en-US" altLang="zh-CN" dirty="0"/>
          </a:p>
          <a:p>
            <a:pPr algn="just">
              <a:defRPr/>
            </a:pPr>
            <a:r>
              <a:rPr lang="zh-CN" altLang="en-US" dirty="0"/>
              <a:t>确定循环条件</a:t>
            </a:r>
          </a:p>
          <a:p>
            <a:pPr lvl="1" algn="just">
              <a:defRPr/>
            </a:pPr>
            <a:r>
              <a:rPr lang="zh-CN" altLang="en-US" dirty="0"/>
              <a:t>不知道输入数据的个数，无法事先确定循环次数；</a:t>
            </a:r>
          </a:p>
          <a:p>
            <a:pPr lvl="1" algn="just">
              <a:defRPr/>
            </a:pPr>
            <a:r>
              <a:rPr lang="zh-CN" altLang="en-US" dirty="0"/>
              <a:t>用一个</a:t>
            </a:r>
            <a:r>
              <a:rPr lang="zh-CN" altLang="en-US" dirty="0">
                <a:solidFill>
                  <a:schemeClr val="bg2"/>
                </a:solidFill>
              </a:rPr>
              <a:t>特殊的数据</a:t>
            </a:r>
            <a:r>
              <a:rPr lang="zh-CN" altLang="en-US" dirty="0"/>
              <a:t>作为正常输入数据的结束标志，比如选用一个负数作为结束标志</a:t>
            </a:r>
            <a:r>
              <a:rPr lang="zh-CN" altLang="zh-CN" dirty="0"/>
              <a:t>。</a:t>
            </a:r>
            <a:endParaRPr lang="en-US" altLang="en-US" dirty="0"/>
          </a:p>
          <a:p>
            <a:pPr marL="457200" lvl="1" indent="0" algn="just">
              <a:buNone/>
              <a:defRPr/>
            </a:pPr>
            <a:r>
              <a:rPr lang="en-US" altLang="en-US" dirty="0" err="1"/>
              <a:t>循环结束条件：</a:t>
            </a:r>
            <a:r>
              <a:rPr lang="en-US" altLang="zh-CN" dirty="0" err="1">
                <a:solidFill>
                  <a:srgbClr val="000000"/>
                </a:solidFill>
              </a:rPr>
              <a:t>score</a:t>
            </a:r>
            <a:r>
              <a:rPr lang="en-US" altLang="en-US" dirty="0"/>
              <a:t> &lt; 0</a:t>
            </a:r>
          </a:p>
          <a:p>
            <a:pPr marL="457200" lvl="1" indent="0" algn="just">
              <a:buNone/>
              <a:defRPr/>
            </a:pPr>
            <a:r>
              <a:rPr lang="en-US" altLang="en-US" dirty="0" err="1"/>
              <a:t>循环条件</a:t>
            </a:r>
            <a:r>
              <a:rPr lang="zh-CN" altLang="en-US" dirty="0"/>
              <a:t>：</a:t>
            </a:r>
            <a:r>
              <a:rPr lang="en-US" altLang="zh-CN" dirty="0">
                <a:solidFill>
                  <a:srgbClr val="000000"/>
                </a:solidFill>
              </a:rPr>
              <a:t>score</a:t>
            </a:r>
            <a:r>
              <a:rPr lang="en-US" altLang="zh-CN" dirty="0"/>
              <a:t> &gt;= 0</a:t>
            </a:r>
          </a:p>
          <a:p>
            <a:pPr marL="400050" lvl="1" indent="0">
              <a:buFont typeface="Wingdings" charset="0"/>
              <a:buNone/>
              <a:defRPr/>
            </a:pPr>
            <a:endParaRPr lang="en-US" altLang="zh-CN" dirty="0"/>
          </a:p>
          <a:p>
            <a:pPr marL="0" indent="0">
              <a:buFont typeface="Wingdings" charset="0"/>
              <a:buNone/>
              <a:defRPr/>
            </a:pPr>
            <a:endParaRPr kumimoji="1" lang="zh-CN" altLang="en-US" dirty="0"/>
          </a:p>
        </p:txBody>
      </p:sp>
      <p:sp>
        <p:nvSpPr>
          <p:cNvPr id="5" name="笑脸 4"/>
          <p:cNvSpPr/>
          <p:nvPr/>
        </p:nvSpPr>
        <p:spPr bwMode="auto">
          <a:xfrm>
            <a:off x="7019925" y="4437063"/>
            <a:ext cx="914400" cy="914400"/>
          </a:xfrm>
          <a:prstGeom prst="smileyFac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313" y="404813"/>
            <a:ext cx="7416800" cy="792162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程序段</a:t>
            </a:r>
            <a:r>
              <a:rPr lang="en-US" altLang="zh-CN" dirty="0"/>
              <a:t>-</a:t>
            </a:r>
            <a:r>
              <a:rPr lang="zh-CN" altLang="en-US" dirty="0"/>
              <a:t>统计成绩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825" y="1196975"/>
            <a:ext cx="4465638" cy="4752975"/>
          </a:xfrm>
        </p:spPr>
        <p:txBody>
          <a:bodyPr/>
          <a:lstStyle/>
          <a:p>
            <a:pPr>
              <a:spcBef>
                <a:spcPts val="0"/>
              </a:spcBef>
              <a:buFont typeface="Wingdings" charset="0"/>
              <a:buNone/>
              <a:defRPr/>
            </a:pPr>
            <a:endParaRPr lang="en-US" altLang="zh-CN" sz="2800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800" dirty="0">
                <a:solidFill>
                  <a:srgbClr val="000000"/>
                </a:solidFill>
              </a:rPr>
              <a:t>total = 0; </a:t>
            </a:r>
          </a:p>
          <a:p>
            <a:pPr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800" dirty="0">
                <a:solidFill>
                  <a:srgbClr val="000000"/>
                </a:solidFill>
              </a:rPr>
              <a:t>count = 0;</a:t>
            </a:r>
          </a:p>
          <a:p>
            <a:pPr>
              <a:spcBef>
                <a:spcPts val="0"/>
              </a:spcBef>
              <a:buFont typeface="Wingdings" charset="0"/>
              <a:buNone/>
              <a:defRPr/>
            </a:pPr>
            <a:endParaRPr lang="en-US" altLang="zh-CN" sz="2800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800" dirty="0">
                <a:solidFill>
                  <a:srgbClr val="CC0066"/>
                </a:solidFill>
              </a:rPr>
              <a:t>for (</a:t>
            </a:r>
            <a:r>
              <a:rPr lang="en-US" altLang="zh-CN" sz="2800" dirty="0" err="1">
                <a:solidFill>
                  <a:srgbClr val="CC0066"/>
                </a:solidFill>
              </a:rPr>
              <a:t>i</a:t>
            </a:r>
            <a:r>
              <a:rPr lang="en-US" altLang="zh-CN" sz="2800" dirty="0">
                <a:solidFill>
                  <a:srgbClr val="CC0066"/>
                </a:solidFill>
              </a:rPr>
              <a:t> = 1; </a:t>
            </a:r>
            <a:r>
              <a:rPr lang="en-US" altLang="zh-CN" sz="2800" dirty="0" err="1">
                <a:solidFill>
                  <a:srgbClr val="CC0066"/>
                </a:solidFill>
              </a:rPr>
              <a:t>i</a:t>
            </a:r>
            <a:r>
              <a:rPr lang="en-US" altLang="zh-CN" sz="2800" dirty="0">
                <a:solidFill>
                  <a:srgbClr val="CC0066"/>
                </a:solidFill>
              </a:rPr>
              <a:t> &lt;= n; </a:t>
            </a:r>
            <a:r>
              <a:rPr lang="en-US" altLang="zh-CN" sz="2800" dirty="0" err="1">
                <a:solidFill>
                  <a:srgbClr val="CC0066"/>
                </a:solidFill>
              </a:rPr>
              <a:t>i</a:t>
            </a:r>
            <a:r>
              <a:rPr lang="en-US" altLang="zh-CN" sz="2800" dirty="0">
                <a:solidFill>
                  <a:srgbClr val="CC0066"/>
                </a:solidFill>
              </a:rPr>
              <a:t>++)</a:t>
            </a:r>
            <a:r>
              <a:rPr lang="en-US" altLang="zh-CN" sz="2800" dirty="0">
                <a:solidFill>
                  <a:srgbClr val="000000"/>
                </a:solidFill>
              </a:rPr>
              <a:t>{</a:t>
            </a:r>
          </a:p>
          <a:p>
            <a:pPr>
              <a:spcBef>
                <a:spcPts val="0"/>
              </a:spcBef>
              <a:buNone/>
              <a:defRPr/>
            </a:pPr>
            <a:r>
              <a:rPr lang="en-US" altLang="zh-CN" sz="2800" dirty="0">
                <a:solidFill>
                  <a:srgbClr val="000000"/>
                </a:solidFill>
              </a:rPr>
              <a:t>    </a:t>
            </a:r>
            <a:r>
              <a:rPr lang="en-US" altLang="zh-CN" sz="2800" dirty="0" err="1">
                <a:solidFill>
                  <a:schemeClr val="bg2"/>
                </a:solidFill>
              </a:rPr>
              <a:t>scanf</a:t>
            </a:r>
            <a:r>
              <a:rPr lang="en-US" altLang="zh-CN" sz="2800" dirty="0">
                <a:solidFill>
                  <a:schemeClr val="bg2"/>
                </a:solidFill>
              </a:rPr>
              <a:t> ("%lf", &amp;score);</a:t>
            </a:r>
          </a:p>
          <a:p>
            <a:pPr>
              <a:spcBef>
                <a:spcPts val="0"/>
              </a:spcBef>
              <a:buNone/>
              <a:defRPr/>
            </a:pPr>
            <a:r>
              <a:rPr lang="zh-CN" altLang="zh-CN" sz="2800" dirty="0">
                <a:solidFill>
                  <a:srgbClr val="000000"/>
                </a:solidFill>
              </a:rPr>
              <a:t> </a:t>
            </a:r>
            <a:r>
              <a:rPr lang="zh-CN" altLang="en-US" sz="2800" dirty="0">
                <a:solidFill>
                  <a:srgbClr val="000000"/>
                </a:solidFill>
              </a:rPr>
              <a:t>  </a:t>
            </a:r>
            <a:r>
              <a:rPr lang="en-US" altLang="zh-CN" sz="2800" dirty="0">
                <a:solidFill>
                  <a:srgbClr val="000000"/>
                </a:solidFill>
              </a:rPr>
              <a:t>total = total + score; </a:t>
            </a:r>
          </a:p>
          <a:p>
            <a:pPr>
              <a:spcBef>
                <a:spcPts val="0"/>
              </a:spcBef>
              <a:buFont typeface="Wingdings" charset="0"/>
              <a:buNone/>
              <a:defRPr/>
            </a:pPr>
            <a:endParaRPr lang="en-US" altLang="zh-CN" sz="2800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buNone/>
              <a:defRPr/>
            </a:pPr>
            <a:r>
              <a:rPr lang="zh-CN" altLang="zh-CN" sz="2800" dirty="0">
                <a:solidFill>
                  <a:srgbClr val="000000"/>
                </a:solidFill>
              </a:rPr>
              <a:t> </a:t>
            </a:r>
            <a:r>
              <a:rPr lang="zh-CN" altLang="en-US" sz="2800" dirty="0">
                <a:solidFill>
                  <a:srgbClr val="000000"/>
                </a:solidFill>
              </a:rPr>
              <a:t>  </a:t>
            </a:r>
            <a:r>
              <a:rPr kumimoji="1" lang="en-US" altLang="zh-CN" sz="2800" dirty="0">
                <a:solidFill>
                  <a:srgbClr val="000000"/>
                </a:solidFill>
              </a:rPr>
              <a:t>if (</a:t>
            </a:r>
            <a:r>
              <a:rPr lang="en-US" altLang="zh-CN" sz="2800" dirty="0">
                <a:solidFill>
                  <a:srgbClr val="000000"/>
                </a:solidFill>
              </a:rPr>
              <a:t>score</a:t>
            </a:r>
            <a:r>
              <a:rPr kumimoji="1" lang="en-US" altLang="zh-CN" sz="2800" dirty="0">
                <a:solidFill>
                  <a:srgbClr val="000000"/>
                </a:solidFill>
              </a:rPr>
              <a:t> &lt; 60){</a:t>
            </a:r>
          </a:p>
          <a:p>
            <a:pPr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800" dirty="0">
                <a:solidFill>
                  <a:srgbClr val="000000"/>
                </a:solidFill>
              </a:rPr>
              <a:t>        count++;}</a:t>
            </a:r>
          </a:p>
          <a:p>
            <a:pPr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800" dirty="0">
                <a:solidFill>
                  <a:srgbClr val="000000"/>
                </a:solidFill>
              </a:rPr>
              <a:t>}</a:t>
            </a:r>
            <a:endParaRPr kumimoji="1" lang="zh-CN" altLang="en-US" sz="2800" dirty="0"/>
          </a:p>
        </p:txBody>
      </p:sp>
      <p:sp>
        <p:nvSpPr>
          <p:cNvPr id="5" name="笑脸 4"/>
          <p:cNvSpPr/>
          <p:nvPr/>
        </p:nvSpPr>
        <p:spPr bwMode="auto">
          <a:xfrm>
            <a:off x="7019925" y="4437063"/>
            <a:ext cx="914400" cy="914400"/>
          </a:xfrm>
          <a:prstGeom prst="smileyFac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4572000" y="1196975"/>
            <a:ext cx="4427538" cy="5400675"/>
          </a:xfrm>
          <a:prstGeom prst="rect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charset="0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charset="0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charset="0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0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endParaRPr lang="en-US" altLang="zh-CN" sz="2800" dirty="0">
              <a:solidFill>
                <a:schemeClr val="bg2"/>
              </a:solidFill>
            </a:endParaRP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800" dirty="0"/>
              <a:t>total = 0;</a:t>
            </a: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800" dirty="0"/>
              <a:t>count = 0;</a:t>
            </a:r>
            <a:endParaRPr lang="zh-CN" altLang="en-US" sz="2800" dirty="0"/>
          </a:p>
          <a:p>
            <a:pPr>
              <a:spcBef>
                <a:spcPts val="0"/>
              </a:spcBef>
              <a:buFont typeface="Wingdings" charset="0"/>
              <a:buNone/>
              <a:defRPr/>
            </a:pPr>
            <a:endParaRPr lang="en-US" altLang="zh-CN" sz="2800" dirty="0">
              <a:solidFill>
                <a:srgbClr val="00007D"/>
              </a:solidFill>
            </a:endParaRPr>
          </a:p>
          <a:p>
            <a:pPr>
              <a:spcBef>
                <a:spcPts val="0"/>
              </a:spcBef>
              <a:buNone/>
              <a:defRPr/>
            </a:pPr>
            <a:r>
              <a:rPr lang="en-US" altLang="zh-CN" sz="2800" dirty="0">
                <a:solidFill>
                  <a:srgbClr val="CC0066"/>
                </a:solidFill>
              </a:rPr>
              <a:t>while (score &gt;= 0)</a:t>
            </a:r>
            <a:r>
              <a:rPr lang="en-US" altLang="zh-CN" sz="2800" dirty="0"/>
              <a:t> { </a:t>
            </a:r>
            <a:endParaRPr lang="zh-CN" altLang="en-US" sz="2800" dirty="0">
              <a:solidFill>
                <a:schemeClr val="bg2"/>
              </a:solidFill>
            </a:endParaRP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zh-CN" sz="2800" dirty="0"/>
              <a:t>	</a:t>
            </a:r>
            <a:endParaRPr lang="en-US" altLang="zh-CN" sz="2800" dirty="0"/>
          </a:p>
          <a:p>
            <a:pPr algn="just">
              <a:spcBef>
                <a:spcPts val="0"/>
              </a:spcBef>
              <a:buNone/>
              <a:defRPr/>
            </a:pPr>
            <a:r>
              <a:rPr lang="en-US" altLang="zh-CN" sz="2800" dirty="0"/>
              <a:t>   total  = total + </a:t>
            </a:r>
            <a:r>
              <a:rPr lang="en-US" altLang="zh-CN" sz="2800" dirty="0">
                <a:solidFill>
                  <a:srgbClr val="000000"/>
                </a:solidFill>
              </a:rPr>
              <a:t>score</a:t>
            </a:r>
            <a:r>
              <a:rPr lang="en-US" altLang="zh-CN" sz="2800" dirty="0"/>
              <a:t>; </a:t>
            </a:r>
            <a:endParaRPr lang="zh-CN" altLang="en-US" sz="2800" dirty="0"/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800" dirty="0"/>
              <a:t>  </a:t>
            </a:r>
            <a:r>
              <a:rPr lang="en-US" altLang="zh-CN" sz="2800" dirty="0">
                <a:solidFill>
                  <a:schemeClr val="bg2"/>
                </a:solidFill>
              </a:rPr>
              <a:t> </a:t>
            </a:r>
          </a:p>
          <a:p>
            <a:pPr algn="just">
              <a:spcBef>
                <a:spcPts val="0"/>
              </a:spcBef>
              <a:buNone/>
              <a:defRPr/>
            </a:pPr>
            <a:r>
              <a:rPr lang="en-US" altLang="zh-CN" sz="2800" dirty="0"/>
              <a:t>	if (</a:t>
            </a:r>
            <a:r>
              <a:rPr lang="en-US" altLang="zh-CN" sz="2800" dirty="0">
                <a:solidFill>
                  <a:srgbClr val="000000"/>
                </a:solidFill>
              </a:rPr>
              <a:t>score</a:t>
            </a:r>
            <a:r>
              <a:rPr lang="en-US" altLang="zh-CN" sz="2800" dirty="0"/>
              <a:t> &lt; 60){</a:t>
            </a: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800" dirty="0"/>
              <a:t>       count++; }</a:t>
            </a:r>
            <a:endParaRPr lang="zh-CN" altLang="en-US" sz="2800" dirty="0"/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zh-CN" altLang="en-US" sz="2800" dirty="0"/>
              <a:t>  </a:t>
            </a:r>
            <a:endParaRPr lang="zh-CN" altLang="en-US" sz="2800" dirty="0">
              <a:solidFill>
                <a:srgbClr val="00007D"/>
              </a:solidFill>
            </a:endParaRP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800" dirty="0"/>
              <a:t>}</a:t>
            </a:r>
            <a:endParaRPr lang="zh-CN" altLang="en-US" sz="2800" dirty="0"/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zh-CN" altLang="en-US" sz="2800" dirty="0"/>
              <a:t>	</a:t>
            </a:r>
            <a:endParaRPr lang="en-US" altLang="zh-CN" sz="2800" dirty="0"/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4572000" y="2492375"/>
            <a:ext cx="40147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dirty="0" err="1">
                <a:solidFill>
                  <a:schemeClr val="bg2"/>
                </a:solidFill>
              </a:rPr>
              <a:t>scanf</a:t>
            </a:r>
            <a:r>
              <a:rPr lang="en-US" altLang="zh-CN" sz="2800" dirty="0">
                <a:solidFill>
                  <a:schemeClr val="bg2"/>
                </a:solidFill>
              </a:rPr>
              <a:t> ("%</a:t>
            </a:r>
            <a:r>
              <a:rPr lang="en-US" altLang="zh-CN" sz="2800" dirty="0" err="1">
                <a:solidFill>
                  <a:schemeClr val="bg2"/>
                </a:solidFill>
              </a:rPr>
              <a:t>lf</a:t>
            </a:r>
            <a:r>
              <a:rPr lang="en-US" altLang="zh-CN" sz="2800" dirty="0">
                <a:solidFill>
                  <a:schemeClr val="bg2"/>
                </a:solidFill>
              </a:rPr>
              <a:t>", &amp;score);</a:t>
            </a:r>
            <a:endParaRPr lang="zh-CN" altLang="en-US" sz="2800" dirty="0">
              <a:solidFill>
                <a:schemeClr val="bg2"/>
              </a:solidFill>
            </a:endParaRP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5003800" y="5516563"/>
            <a:ext cx="40147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dirty="0" err="1">
                <a:solidFill>
                  <a:srgbClr val="00007D"/>
                </a:solidFill>
              </a:rPr>
              <a:t>scanf</a:t>
            </a:r>
            <a:r>
              <a:rPr lang="en-US" altLang="zh-CN" sz="2800" dirty="0">
                <a:solidFill>
                  <a:srgbClr val="00007D"/>
                </a:solidFill>
              </a:rPr>
              <a:t> ("%</a:t>
            </a:r>
            <a:r>
              <a:rPr lang="en-US" altLang="zh-CN" sz="2800" dirty="0" err="1">
                <a:solidFill>
                  <a:srgbClr val="00007D"/>
                </a:solidFill>
              </a:rPr>
              <a:t>lf</a:t>
            </a:r>
            <a:r>
              <a:rPr lang="en-US" altLang="zh-CN" sz="2800" dirty="0">
                <a:solidFill>
                  <a:srgbClr val="00007D"/>
                </a:solidFill>
              </a:rPr>
              <a:t>", &amp;</a:t>
            </a:r>
            <a:r>
              <a:rPr lang="en-US" altLang="zh-CN" sz="2800" dirty="0">
                <a:solidFill>
                  <a:schemeClr val="bg2"/>
                </a:solidFill>
              </a:rPr>
              <a:t>score)</a:t>
            </a:r>
            <a:r>
              <a:rPr lang="en-US" altLang="zh-CN" sz="2800" dirty="0">
                <a:solidFill>
                  <a:srgbClr val="00007D"/>
                </a:solidFill>
              </a:rPr>
              <a:t>;</a:t>
            </a:r>
            <a:endParaRPr lang="zh-CN" altLang="en-US" sz="2800" dirty="0">
              <a:solidFill>
                <a:srgbClr val="00007D"/>
              </a:solidFill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4572000" y="1196975"/>
            <a:ext cx="16716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>
                <a:solidFill>
                  <a:schemeClr val="bg2"/>
                </a:solidFill>
              </a:rPr>
              <a:t>num = 0;</a:t>
            </a:r>
            <a:endParaRPr lang="zh-CN" altLang="en-US" sz="2800"/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4932363" y="4149725"/>
            <a:ext cx="15811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>
                <a:solidFill>
                  <a:schemeClr val="bg2"/>
                </a:solidFill>
              </a:rPr>
              <a:t>num ++;</a:t>
            </a:r>
            <a:endParaRPr lang="zh-CN" altLang="en-US" sz="2800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4878388" y="3284538"/>
            <a:ext cx="40147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dirty="0" err="1">
                <a:solidFill>
                  <a:srgbClr val="00007D"/>
                </a:solidFill>
              </a:rPr>
              <a:t>scanf</a:t>
            </a:r>
            <a:r>
              <a:rPr lang="en-US" altLang="zh-CN" sz="2800" dirty="0">
                <a:solidFill>
                  <a:srgbClr val="00007D"/>
                </a:solidFill>
              </a:rPr>
              <a:t> ("%</a:t>
            </a:r>
            <a:r>
              <a:rPr lang="en-US" altLang="zh-CN" sz="2800" dirty="0" err="1">
                <a:solidFill>
                  <a:srgbClr val="00007D"/>
                </a:solidFill>
              </a:rPr>
              <a:t>lf</a:t>
            </a:r>
            <a:r>
              <a:rPr lang="en-US" altLang="zh-CN" sz="2800" dirty="0">
                <a:solidFill>
                  <a:srgbClr val="00007D"/>
                </a:solidFill>
              </a:rPr>
              <a:t>", &amp;</a:t>
            </a:r>
            <a:r>
              <a:rPr lang="en-US" altLang="zh-CN" sz="2800" dirty="0">
                <a:solidFill>
                  <a:schemeClr val="bg2"/>
                </a:solidFill>
              </a:rPr>
              <a:t>score</a:t>
            </a:r>
            <a:r>
              <a:rPr lang="en-US" altLang="zh-CN" sz="2800" dirty="0">
                <a:solidFill>
                  <a:srgbClr val="00007D"/>
                </a:solidFill>
              </a:rPr>
              <a:t>);</a:t>
            </a:r>
            <a:endParaRPr lang="zh-CN" altLang="en-US" sz="2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07904" y="188913"/>
            <a:ext cx="5400600" cy="863824"/>
          </a:xfrm>
        </p:spPr>
        <p:txBody>
          <a:bodyPr/>
          <a:lstStyle/>
          <a:p>
            <a:pPr>
              <a:defRPr/>
            </a:pPr>
            <a:r>
              <a:rPr lang="zh-CN" altLang="en-US" sz="4000" dirty="0"/>
              <a:t>例</a:t>
            </a:r>
            <a:r>
              <a:rPr lang="en-US" altLang="zh-CN" sz="4000" dirty="0"/>
              <a:t>4-2</a:t>
            </a:r>
            <a:r>
              <a:rPr lang="zh-CN" altLang="en-US" sz="4000" dirty="0"/>
              <a:t> 源程序</a:t>
            </a:r>
            <a:r>
              <a:rPr lang="en-US" altLang="zh-CN" sz="4000" dirty="0"/>
              <a:t>-</a:t>
            </a:r>
            <a:r>
              <a:rPr lang="zh-CN" altLang="en-US" sz="4000" dirty="0"/>
              <a:t>统计成绩</a:t>
            </a:r>
            <a:endParaRPr kumimoji="1" lang="zh-CN" alt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6632"/>
            <a:ext cx="7416378" cy="6741368"/>
          </a:xfrm>
        </p:spPr>
        <p:txBody>
          <a:bodyPr/>
          <a:lstStyle/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zh-CN" altLang="en-US" sz="2000" dirty="0"/>
              <a:t>#</a:t>
            </a:r>
            <a:r>
              <a:rPr lang="en-US" altLang="zh-CN" sz="2000" dirty="0"/>
              <a:t> include &lt;</a:t>
            </a:r>
            <a:r>
              <a:rPr lang="en-US" altLang="zh-CN" sz="2000" dirty="0" err="1"/>
              <a:t>stdio.h</a:t>
            </a:r>
            <a:r>
              <a:rPr lang="en-US" altLang="zh-CN" sz="2000" dirty="0"/>
              <a:t>&gt;</a:t>
            </a: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000" dirty="0" err="1"/>
              <a:t>int</a:t>
            </a:r>
            <a:r>
              <a:rPr lang="en-US" altLang="zh-CN" sz="2000" dirty="0"/>
              <a:t> main (void)</a:t>
            </a: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000" dirty="0"/>
              <a:t>{   int count, </a:t>
            </a:r>
            <a:r>
              <a:rPr lang="en-US" altLang="zh-CN" sz="2000" dirty="0">
                <a:solidFill>
                  <a:schemeClr val="bg2"/>
                </a:solidFill>
              </a:rPr>
              <a:t>num;</a:t>
            </a:r>
            <a:r>
              <a:rPr lang="en-US" altLang="zh-CN" sz="2000" dirty="0"/>
              <a:t> double score, total; </a:t>
            </a: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zh-CN" altLang="en-US" sz="2000" dirty="0"/>
              <a:t>	</a:t>
            </a:r>
            <a:r>
              <a:rPr lang="en-US" altLang="zh-CN" sz="2000" dirty="0" err="1">
                <a:solidFill>
                  <a:srgbClr val="00007D"/>
                </a:solidFill>
              </a:rPr>
              <a:t>num</a:t>
            </a:r>
            <a:r>
              <a:rPr lang="en-US" altLang="zh-CN" sz="2000" dirty="0">
                <a:solidFill>
                  <a:srgbClr val="00007D"/>
                </a:solidFill>
              </a:rPr>
              <a:t> = 0;</a:t>
            </a:r>
            <a:r>
              <a:rPr lang="en-US" altLang="zh-CN" sz="2000" dirty="0"/>
              <a:t> total = 0; count=0;</a:t>
            </a: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000" dirty="0"/>
              <a:t>	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 ("Enter scores: \n"); </a:t>
            </a:r>
            <a:endParaRPr lang="zh-CN" altLang="en-US" sz="2000" dirty="0"/>
          </a:p>
          <a:p>
            <a:pPr>
              <a:spcBef>
                <a:spcPts val="0"/>
              </a:spcBef>
              <a:buFont typeface="Wingdings" charset="0"/>
              <a:buNone/>
              <a:defRPr/>
            </a:pPr>
            <a:r>
              <a:rPr lang="zh-CN" altLang="en-US" sz="2000" dirty="0"/>
              <a:t>	</a:t>
            </a:r>
            <a:r>
              <a:rPr lang="en-US" altLang="zh-CN" sz="2000" dirty="0" err="1">
                <a:solidFill>
                  <a:srgbClr val="00007D"/>
                </a:solidFill>
              </a:rPr>
              <a:t>scanf</a:t>
            </a:r>
            <a:r>
              <a:rPr lang="en-US" altLang="zh-CN" sz="2000" dirty="0">
                <a:solidFill>
                  <a:srgbClr val="00007D"/>
                </a:solidFill>
              </a:rPr>
              <a:t> ("%lf", &amp;score);  </a:t>
            </a:r>
            <a:r>
              <a:rPr lang="en-US" altLang="zh-CN" sz="2000" dirty="0"/>
              <a:t>   /* </a:t>
            </a:r>
            <a:r>
              <a:rPr lang="zh-CN" altLang="en-US" sz="2000" dirty="0"/>
              <a:t>输入第1个数*/</a:t>
            </a:r>
            <a:br>
              <a:rPr lang="zh-CN" altLang="en-US" sz="2000" dirty="0"/>
            </a:br>
            <a:r>
              <a:rPr lang="en-US" altLang="zh-CN" sz="2000" dirty="0">
                <a:solidFill>
                  <a:srgbClr val="CC0066"/>
                </a:solidFill>
              </a:rPr>
              <a:t>while (score &gt;= 0)</a:t>
            </a:r>
            <a:r>
              <a:rPr lang="en-US" altLang="zh-CN" sz="2000" dirty="0"/>
              <a:t> {         </a:t>
            </a:r>
            <a:r>
              <a:rPr lang="en-US" altLang="zh-CN" sz="2000" dirty="0">
                <a:solidFill>
                  <a:schemeClr val="bg2"/>
                </a:solidFill>
              </a:rPr>
              <a:t>/* </a:t>
            </a:r>
            <a:r>
              <a:rPr lang="zh-CN" altLang="en-US" sz="2000" dirty="0">
                <a:solidFill>
                  <a:schemeClr val="bg2"/>
                </a:solidFill>
              </a:rPr>
              <a:t>输入负数，循环结束 */</a:t>
            </a: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zh-CN" altLang="zh-CN" sz="2000" dirty="0"/>
              <a:t>	   </a:t>
            </a:r>
            <a:r>
              <a:rPr lang="en-US" altLang="zh-CN" sz="2000" dirty="0"/>
              <a:t> total  = total + score; </a:t>
            </a:r>
            <a:endParaRPr lang="zh-CN" altLang="en-US" sz="2000" dirty="0"/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zh-CN" altLang="en-US" sz="2000" dirty="0"/>
              <a:t>	   </a:t>
            </a:r>
            <a:r>
              <a:rPr lang="en-US" altLang="zh-CN" sz="2000" dirty="0"/>
              <a:t> </a:t>
            </a:r>
            <a:r>
              <a:rPr lang="en-US" altLang="zh-CN" sz="2000" dirty="0" err="1">
                <a:solidFill>
                  <a:srgbClr val="00007D"/>
                </a:solidFill>
              </a:rPr>
              <a:t>num</a:t>
            </a:r>
            <a:r>
              <a:rPr lang="en-US" altLang="zh-CN" sz="2000" dirty="0">
                <a:solidFill>
                  <a:srgbClr val="00007D"/>
                </a:solidFill>
              </a:rPr>
              <a:t>++;</a:t>
            </a:r>
            <a:r>
              <a:rPr lang="en-US" altLang="zh-CN" sz="2000" dirty="0"/>
              <a:t> </a:t>
            </a: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000" dirty="0"/>
              <a:t>	    if (score &lt; 60) {</a:t>
            </a: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000" dirty="0"/>
              <a:t>             count++; </a:t>
            </a: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000" dirty="0"/>
              <a:t>         }</a:t>
            </a:r>
            <a:endParaRPr lang="zh-CN" altLang="en-US" sz="2000" dirty="0"/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zh-CN" altLang="en-US" sz="2000" dirty="0"/>
              <a:t>         </a:t>
            </a:r>
            <a:r>
              <a:rPr lang="en-US" altLang="zh-CN" sz="2000" dirty="0" err="1">
                <a:solidFill>
                  <a:srgbClr val="00007D"/>
                </a:solidFill>
              </a:rPr>
              <a:t>scanf</a:t>
            </a:r>
            <a:r>
              <a:rPr lang="en-US" altLang="zh-CN" sz="2000" dirty="0">
                <a:solidFill>
                  <a:srgbClr val="00007D"/>
                </a:solidFill>
              </a:rPr>
              <a:t> ("%lf", &amp;score);</a:t>
            </a:r>
            <a:endParaRPr lang="zh-CN" altLang="en-US" sz="2000" dirty="0">
              <a:solidFill>
                <a:srgbClr val="00007D"/>
              </a:solidFill>
            </a:endParaRP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zh-CN" altLang="en-US" sz="2000" dirty="0"/>
              <a:t>	</a:t>
            </a:r>
            <a:r>
              <a:rPr lang="en-US" altLang="zh-CN" sz="2000" dirty="0"/>
              <a:t>}</a:t>
            </a:r>
            <a:endParaRPr lang="zh-CN" altLang="en-US" sz="2000" dirty="0"/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zh-CN" altLang="en-US" sz="2000" dirty="0"/>
              <a:t>	</a:t>
            </a:r>
            <a:r>
              <a:rPr lang="en-US" altLang="zh-CN" sz="2000" dirty="0"/>
              <a:t>if (num != 0) {</a:t>
            </a: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000" dirty="0"/>
              <a:t>         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("Average is %.2f\n", total/num);</a:t>
            </a: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000" dirty="0"/>
              <a:t>         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("Number of failures is %d\n", count); </a:t>
            </a: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000" dirty="0"/>
              <a:t>     } else {</a:t>
            </a: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000" dirty="0"/>
              <a:t>         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("Average is 0\n");</a:t>
            </a: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000" dirty="0"/>
              <a:t>    }</a:t>
            </a: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000" dirty="0"/>
              <a:t>    return 0;</a:t>
            </a: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000" dirty="0"/>
              <a:t>}</a:t>
            </a:r>
          </a:p>
        </p:txBody>
      </p:sp>
      <p:sp>
        <p:nvSpPr>
          <p:cNvPr id="5" name="笑脸 4"/>
          <p:cNvSpPr/>
          <p:nvPr/>
        </p:nvSpPr>
        <p:spPr bwMode="auto">
          <a:xfrm>
            <a:off x="7019925" y="4437063"/>
            <a:ext cx="914400" cy="914400"/>
          </a:xfrm>
          <a:prstGeom prst="smileyFac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7" name="Rectangle 6"/>
          <p:cNvSpPr>
            <a:spLocks noChangeArrowheads="1"/>
          </p:cNvSpPr>
          <p:nvPr/>
        </p:nvSpPr>
        <p:spPr bwMode="auto">
          <a:xfrm>
            <a:off x="4067175" y="2708275"/>
            <a:ext cx="4824413" cy="120015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altLang="zh-CN" sz="2400" dirty="0">
                <a:solidFill>
                  <a:schemeClr val="tx1"/>
                </a:solidFill>
              </a:rPr>
              <a:t>Enter scores: </a:t>
            </a:r>
            <a:r>
              <a:rPr kumimoji="1" lang="en-US" altLang="zh-CN" sz="2400" dirty="0">
                <a:solidFill>
                  <a:srgbClr val="CC0066"/>
                </a:solidFill>
              </a:rPr>
              <a:t>67 88 73 54 82 -1</a:t>
            </a:r>
          </a:p>
          <a:p>
            <a:pPr>
              <a:defRPr/>
            </a:pPr>
            <a:r>
              <a:rPr kumimoji="1" lang="en-US" altLang="zh-CN" sz="2400" dirty="0">
                <a:solidFill>
                  <a:schemeClr val="tx1"/>
                </a:solidFill>
              </a:rPr>
              <a:t>Average is 72.80</a:t>
            </a:r>
          </a:p>
          <a:p>
            <a:pPr>
              <a:defRPr/>
            </a:pPr>
            <a:r>
              <a:rPr kumimoji="1" lang="en-US" altLang="zh-CN" sz="2400" dirty="0">
                <a:solidFill>
                  <a:schemeClr val="tx1"/>
                </a:solidFill>
              </a:rPr>
              <a:t>Number of failures is 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28666" y="404813"/>
            <a:ext cx="3779838" cy="1439862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小结</a:t>
            </a:r>
            <a:r>
              <a:rPr lang="en-US" altLang="zh-CN" dirty="0"/>
              <a:t>-</a:t>
            </a:r>
            <a:r>
              <a:rPr lang="zh-CN" altLang="en-US" dirty="0"/>
              <a:t>常见的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zh-CN" altLang="en-US" dirty="0"/>
              <a:t>循环控制方式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373235"/>
            <a:ext cx="7272808" cy="6584157"/>
          </a:xfrm>
        </p:spPr>
        <p:txBody>
          <a:bodyPr/>
          <a:lstStyle/>
          <a:p>
            <a:pPr algn="just">
              <a:lnSpc>
                <a:spcPct val="90000"/>
              </a:lnSpc>
              <a:spcBef>
                <a:spcPts val="0"/>
              </a:spcBef>
              <a:defRPr/>
            </a:pPr>
            <a:r>
              <a:rPr lang="zh-CN" altLang="en-US" sz="2800" dirty="0"/>
              <a:t>计数控制的循环（第</a:t>
            </a:r>
            <a:r>
              <a:rPr lang="en-US" altLang="zh-CN" sz="2800" dirty="0"/>
              <a:t>2.4</a:t>
            </a:r>
            <a:r>
              <a:rPr lang="zh-CN" altLang="en-US" sz="2800" dirty="0"/>
              <a:t>节）</a:t>
            </a:r>
            <a:endParaRPr lang="en-US" altLang="zh-CN" sz="2800" dirty="0"/>
          </a:p>
          <a:p>
            <a:pPr marL="400050" lvl="1" indent="0" algn="just">
              <a:lnSpc>
                <a:spcPct val="9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dirty="0"/>
              <a:t>sum = 0;</a:t>
            </a:r>
          </a:p>
          <a:p>
            <a:pPr marL="400050" lvl="1" indent="0" algn="just">
              <a:lnSpc>
                <a:spcPct val="9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dirty="0">
                <a:solidFill>
                  <a:srgbClr val="CC0066"/>
                </a:solidFill>
              </a:rPr>
              <a:t>for (</a:t>
            </a:r>
            <a:r>
              <a:rPr lang="en-US" altLang="zh-CN" dirty="0" err="1">
                <a:solidFill>
                  <a:srgbClr val="CC0066"/>
                </a:solidFill>
              </a:rPr>
              <a:t>i</a:t>
            </a:r>
            <a:r>
              <a:rPr lang="en-US" altLang="zh-CN" dirty="0">
                <a:solidFill>
                  <a:srgbClr val="CC0066"/>
                </a:solidFill>
              </a:rPr>
              <a:t> = 1; </a:t>
            </a:r>
            <a:r>
              <a:rPr lang="en-US" altLang="zh-CN" dirty="0" err="1">
                <a:solidFill>
                  <a:srgbClr val="CC0066"/>
                </a:solidFill>
              </a:rPr>
              <a:t>i</a:t>
            </a:r>
            <a:r>
              <a:rPr lang="en-US" altLang="zh-CN" dirty="0">
                <a:solidFill>
                  <a:srgbClr val="CC0066"/>
                </a:solidFill>
              </a:rPr>
              <a:t> &lt;= n; </a:t>
            </a:r>
            <a:r>
              <a:rPr lang="en-US" altLang="zh-CN" dirty="0" err="1">
                <a:solidFill>
                  <a:srgbClr val="CC0066"/>
                </a:solidFill>
              </a:rPr>
              <a:t>i</a:t>
            </a:r>
            <a:r>
              <a:rPr lang="en-US" altLang="zh-CN" dirty="0">
                <a:solidFill>
                  <a:srgbClr val="CC0066"/>
                </a:solidFill>
              </a:rPr>
              <a:t>++)</a:t>
            </a:r>
            <a:r>
              <a:rPr lang="en-US" altLang="zh-CN" dirty="0"/>
              <a:t>{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dirty="0"/>
              <a:t>    sum = sum + </a:t>
            </a:r>
            <a:r>
              <a:rPr lang="en-US" altLang="zh-CN" dirty="0" err="1"/>
              <a:t>i</a:t>
            </a:r>
            <a:r>
              <a:rPr lang="en-US" altLang="zh-CN" dirty="0"/>
              <a:t>;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dirty="0"/>
              <a:t>}</a:t>
            </a:r>
          </a:p>
          <a:p>
            <a:pPr algn="just">
              <a:lnSpc>
                <a:spcPct val="90000"/>
              </a:lnSpc>
              <a:spcBef>
                <a:spcPts val="0"/>
              </a:spcBef>
              <a:defRPr/>
            </a:pPr>
            <a:r>
              <a:rPr lang="zh-CN" altLang="en-US" sz="2800" dirty="0"/>
              <a:t>计算值控制的循环（例</a:t>
            </a:r>
            <a:r>
              <a:rPr lang="en-US" altLang="zh-CN" sz="2800" dirty="0"/>
              <a:t>4-1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pPr lvl="1" algn="just">
              <a:lnSpc>
                <a:spcPct val="9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dirty="0"/>
              <a:t>item = 1.0;</a:t>
            </a:r>
            <a:r>
              <a:rPr lang="zh-CN" altLang="zh-CN" dirty="0"/>
              <a:t> </a:t>
            </a:r>
            <a:endParaRPr lang="zh-CN" altLang="en-US" dirty="0"/>
          </a:p>
          <a:p>
            <a:pPr lvl="1" algn="just">
              <a:lnSpc>
                <a:spcPct val="9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dirty="0">
                <a:solidFill>
                  <a:srgbClr val="CC0066"/>
                </a:solidFill>
              </a:rPr>
              <a:t>while</a:t>
            </a:r>
            <a:r>
              <a:rPr lang="zh-CN" altLang="en-US" dirty="0">
                <a:solidFill>
                  <a:srgbClr val="CC0066"/>
                </a:solidFill>
              </a:rPr>
              <a:t> </a:t>
            </a:r>
            <a:r>
              <a:rPr lang="en-US" altLang="zh-CN" dirty="0">
                <a:solidFill>
                  <a:srgbClr val="CC0066"/>
                </a:solidFill>
              </a:rPr>
              <a:t>(fabs (item) &gt;= eps)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{   </a:t>
            </a:r>
          </a:p>
          <a:p>
            <a:pPr lvl="1" algn="just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n-US" altLang="zh-CN" dirty="0"/>
              <a:t>      ……</a:t>
            </a:r>
          </a:p>
          <a:p>
            <a:pPr lvl="1" algn="just">
              <a:lnSpc>
                <a:spcPct val="9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dirty="0"/>
              <a:t>	  item = flag * 1.0 / denominator; </a:t>
            </a:r>
            <a:endParaRPr lang="zh-CN" altLang="en-US" dirty="0"/>
          </a:p>
          <a:p>
            <a:pPr lvl="1" algn="just">
              <a:lnSpc>
                <a:spcPct val="9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zh-CN" altLang="en-US" dirty="0"/>
              <a:t> </a:t>
            </a:r>
            <a:r>
              <a:rPr lang="en-US" altLang="zh-CN" dirty="0"/>
              <a:t>}</a:t>
            </a:r>
          </a:p>
          <a:p>
            <a:pPr algn="just">
              <a:lnSpc>
                <a:spcPct val="90000"/>
              </a:lnSpc>
              <a:spcBef>
                <a:spcPts val="0"/>
              </a:spcBef>
              <a:defRPr/>
            </a:pPr>
            <a:r>
              <a:rPr lang="zh-CN" altLang="en-US" sz="2800" dirty="0"/>
              <a:t>输入值控制的循环 伪数据（例</a:t>
            </a:r>
            <a:r>
              <a:rPr lang="en-US" altLang="zh-CN" sz="2800" dirty="0"/>
              <a:t>4-2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dirty="0" err="1">
                <a:solidFill>
                  <a:srgbClr val="00007D"/>
                </a:solidFill>
              </a:rPr>
              <a:t>scanf</a:t>
            </a:r>
            <a:r>
              <a:rPr lang="en-US" altLang="zh-CN" dirty="0">
                <a:solidFill>
                  <a:srgbClr val="00007D"/>
                </a:solidFill>
              </a:rPr>
              <a:t> ("%lf", &amp;score);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dirty="0">
                <a:solidFill>
                  <a:srgbClr val="CC0066"/>
                </a:solidFill>
              </a:rPr>
              <a:t>while (score &gt;= 0)</a:t>
            </a:r>
            <a:r>
              <a:rPr lang="en-US" altLang="zh-CN" dirty="0"/>
              <a:t> { </a:t>
            </a:r>
            <a:endParaRPr lang="zh-CN" altLang="en-US" dirty="0">
              <a:solidFill>
                <a:schemeClr val="bg2"/>
              </a:solidFill>
            </a:endParaRPr>
          </a:p>
          <a:p>
            <a:pPr lvl="1" algn="just">
              <a:lnSpc>
                <a:spcPct val="9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zh-CN" altLang="zh-CN" dirty="0"/>
              <a:t>	 </a:t>
            </a:r>
            <a:r>
              <a:rPr lang="en-US" altLang="zh-CN" dirty="0"/>
              <a:t> ……</a:t>
            </a:r>
            <a:endParaRPr lang="zh-CN" altLang="en-US" dirty="0"/>
          </a:p>
          <a:p>
            <a:pPr lvl="1" algn="just">
              <a:lnSpc>
                <a:spcPct val="9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zh-CN" altLang="en-US" dirty="0"/>
              <a:t>   </a:t>
            </a:r>
            <a:r>
              <a:rPr lang="en-US" altLang="zh-CN" dirty="0" err="1">
                <a:solidFill>
                  <a:srgbClr val="00007D"/>
                </a:solidFill>
              </a:rPr>
              <a:t>scanf</a:t>
            </a:r>
            <a:r>
              <a:rPr lang="en-US" altLang="zh-CN" dirty="0">
                <a:solidFill>
                  <a:srgbClr val="00007D"/>
                </a:solidFill>
              </a:rPr>
              <a:t> ("%lf", &amp;score);</a:t>
            </a:r>
            <a:endParaRPr lang="zh-CN" altLang="en-US" dirty="0">
              <a:solidFill>
                <a:srgbClr val="00007D"/>
              </a:solidFill>
            </a:endParaRPr>
          </a:p>
          <a:p>
            <a:pPr lvl="1" algn="just">
              <a:lnSpc>
                <a:spcPct val="9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dirty="0"/>
              <a:t>}</a:t>
            </a:r>
            <a:endParaRPr kumimoji="1"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404813"/>
            <a:ext cx="6635750" cy="99060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en-US" altLang="zh-CN" dirty="0"/>
              <a:t>4.2</a:t>
            </a:r>
            <a:r>
              <a:rPr lang="zh-CN" altLang="en-US" dirty="0"/>
              <a:t> 统计一个整数的位数</a:t>
            </a:r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524000"/>
            <a:ext cx="7697788" cy="3705225"/>
          </a:xfrm>
          <a:ln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zh-CN" altLang="en-US" dirty="0"/>
              <a:t>例</a:t>
            </a:r>
            <a:r>
              <a:rPr lang="en-US" altLang="zh-CN" dirty="0"/>
              <a:t>4-3 </a:t>
            </a:r>
            <a:r>
              <a:rPr lang="zh-CN" altLang="en-US" dirty="0"/>
              <a:t>从键盘读入一个整数，统计该数的位数。</a:t>
            </a:r>
          </a:p>
          <a:p>
            <a:pPr>
              <a:buFont typeface="Wingdings" charset="0"/>
              <a:buNone/>
              <a:defRPr/>
            </a:pPr>
            <a:endParaRPr lang="zh-CN" altLang="en-US" dirty="0"/>
          </a:p>
          <a:p>
            <a:pPr>
              <a:buFont typeface="Wingdings" charset="0"/>
              <a:buNone/>
              <a:defRPr/>
            </a:pPr>
            <a:r>
              <a:rPr lang="en-US" altLang="zh-CN" dirty="0"/>
              <a:t>4.2.1</a:t>
            </a:r>
            <a:r>
              <a:rPr lang="zh-CN" altLang="en-US" dirty="0"/>
              <a:t>  程序解析</a:t>
            </a:r>
          </a:p>
          <a:p>
            <a:pPr algn="just">
              <a:spcBef>
                <a:spcPct val="50000"/>
              </a:spcBef>
              <a:buFont typeface="Wingdings" charset="0"/>
              <a:buNone/>
              <a:defRPr/>
            </a:pPr>
            <a:r>
              <a:rPr lang="en-US" altLang="zh-CN" dirty="0"/>
              <a:t>4.2.2</a:t>
            </a:r>
            <a:r>
              <a:rPr lang="zh-CN" altLang="en-US" dirty="0"/>
              <a:t>  </a:t>
            </a:r>
            <a:r>
              <a:rPr lang="en-US" altLang="zh-CN" dirty="0"/>
              <a:t>do - while</a:t>
            </a:r>
            <a:r>
              <a:rPr lang="zh-CN" altLang="en-US" dirty="0"/>
              <a:t>语句 </a:t>
            </a:r>
          </a:p>
          <a:p>
            <a:pPr algn="just">
              <a:spcBef>
                <a:spcPct val="50000"/>
              </a:spcBef>
              <a:buFont typeface="Wingdings" charset="0"/>
              <a:buNone/>
              <a:defRPr/>
            </a:pPr>
            <a:endParaRPr lang="zh-CN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6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6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6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6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025525"/>
            <a:ext cx="8352928" cy="5643835"/>
          </a:xfrm>
        </p:spPr>
        <p:txBody>
          <a:bodyPr/>
          <a:lstStyle/>
          <a:p>
            <a:pPr marL="187325" indent="-187325" algn="just">
              <a:buFont typeface="Wingdings" charset="0"/>
              <a:buNone/>
              <a:defRPr/>
            </a:pPr>
            <a:r>
              <a:rPr lang="zh-CN" altLang="en-US" sz="2800" dirty="0"/>
              <a:t>例</a:t>
            </a:r>
            <a:r>
              <a:rPr lang="en-US" altLang="zh-CN" sz="2800" dirty="0"/>
              <a:t>4-3 </a:t>
            </a:r>
            <a:r>
              <a:rPr lang="zh-CN" altLang="en-US" sz="2800" dirty="0"/>
              <a:t>从键盘读入一个整数，统计该数的位数。</a:t>
            </a:r>
            <a:endParaRPr lang="en-US" altLang="zh-CN" sz="2800" dirty="0"/>
          </a:p>
          <a:p>
            <a:pPr marL="187325" indent="-187325" algn="just">
              <a:buNone/>
              <a:defRPr/>
            </a:pPr>
            <a:r>
              <a:rPr lang="zh-CN" altLang="en-US" sz="2800" dirty="0"/>
              <a:t>分析：</a:t>
            </a:r>
            <a:r>
              <a:rPr lang="en-US" altLang="en-US" sz="2800" dirty="0"/>
              <a:t>以</a:t>
            </a:r>
            <a:r>
              <a:rPr lang="en-US" altLang="zh-CN" sz="2800" dirty="0">
                <a:solidFill>
                  <a:srgbClr val="CC0066"/>
                </a:solidFill>
              </a:rPr>
              <a:t>495</a:t>
            </a:r>
            <a:r>
              <a:rPr lang="zh-CN" altLang="en-US" sz="2800" dirty="0"/>
              <a:t>为例，自右向左，一位一位地数：</a:t>
            </a:r>
            <a:endParaRPr lang="en-US" altLang="zh-CN" sz="2800" dirty="0"/>
          </a:p>
          <a:p>
            <a:pPr lvl="1" indent="-342900" algn="just">
              <a:spcBef>
                <a:spcPts val="0"/>
              </a:spcBef>
              <a:defRPr/>
            </a:pPr>
            <a:r>
              <a:rPr lang="zh-CN" altLang="en-US" sz="2400" dirty="0"/>
              <a:t>从个位数开始数；</a:t>
            </a:r>
            <a:endParaRPr lang="en-US" altLang="zh-CN" sz="2400" dirty="0"/>
          </a:p>
          <a:p>
            <a:pPr marL="800100" lvl="2" indent="0" algn="just">
              <a:spcBef>
                <a:spcPts val="0"/>
              </a:spcBef>
              <a:buFont typeface="Wingdings" charset="0"/>
              <a:buNone/>
              <a:defRPr/>
            </a:pPr>
            <a:r>
              <a:rPr lang="zh-CN" altLang="en-US" sz="2000" dirty="0"/>
              <a:t>第</a:t>
            </a:r>
            <a:r>
              <a:rPr lang="en-US" altLang="zh-CN" sz="2000" dirty="0"/>
              <a:t>1</a:t>
            </a:r>
            <a:r>
              <a:rPr lang="zh-CN" altLang="en-US" sz="2000" dirty="0"/>
              <a:t>次数出</a:t>
            </a:r>
            <a:r>
              <a:rPr lang="zh-CN" altLang="zh-CN" sz="2000" dirty="0"/>
              <a:t>：</a:t>
            </a:r>
            <a:r>
              <a:rPr lang="en-US" altLang="zh-CN" sz="2000" dirty="0"/>
              <a:t>5</a:t>
            </a:r>
            <a:r>
              <a:rPr lang="zh-CN" altLang="en-US" sz="2000" dirty="0"/>
              <a:t>（</a:t>
            </a:r>
            <a:r>
              <a:rPr lang="en-US" altLang="zh-CN" sz="2000" dirty="0"/>
              <a:t>495%10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1" indent="-342900" algn="just">
              <a:spcBef>
                <a:spcPts val="0"/>
              </a:spcBef>
              <a:defRPr/>
            </a:pPr>
            <a:r>
              <a:rPr lang="zh-CN" altLang="en-US" sz="2400" dirty="0"/>
              <a:t>数好一位，就划掉该数字，得到一个新数</a:t>
            </a:r>
            <a:r>
              <a:rPr lang="en-US" altLang="zh-CN" sz="2400" dirty="0"/>
              <a:t>49</a:t>
            </a:r>
            <a:r>
              <a:rPr lang="zh-CN" altLang="en-US" sz="2400" dirty="0"/>
              <a:t>；</a:t>
            </a:r>
            <a:r>
              <a:rPr lang="en-US" altLang="zh-CN" sz="2400" dirty="0"/>
              <a:t>49</a:t>
            </a:r>
            <a:r>
              <a:rPr lang="en-US" altLang="zh-CN" sz="2400" strike="dblStrike" dirty="0">
                <a:solidFill>
                  <a:srgbClr val="800000"/>
                </a:solidFill>
              </a:rPr>
              <a:t>5</a:t>
            </a:r>
          </a:p>
          <a:p>
            <a:pPr marL="800100" lvl="2" indent="0" algn="just">
              <a:spcBef>
                <a:spcPts val="0"/>
              </a:spcBef>
              <a:buFont typeface="Wingdings" charset="0"/>
              <a:buNone/>
              <a:defRPr/>
            </a:pPr>
            <a:r>
              <a:rPr lang="zh-CN" altLang="en-US" sz="2000" dirty="0"/>
              <a:t>舍去</a:t>
            </a:r>
            <a:r>
              <a:rPr lang="en-US" altLang="zh-CN" sz="2000" dirty="0"/>
              <a:t>5</a:t>
            </a:r>
            <a:r>
              <a:rPr lang="zh-CN" altLang="en-US" sz="2000" dirty="0"/>
              <a:t>，得到新数</a:t>
            </a:r>
            <a:r>
              <a:rPr lang="en-US" altLang="zh-CN" sz="2000" dirty="0"/>
              <a:t>49</a:t>
            </a:r>
            <a:r>
              <a:rPr lang="zh-CN" altLang="en-US" sz="2000" dirty="0"/>
              <a:t>（</a:t>
            </a:r>
            <a:r>
              <a:rPr lang="en-US" altLang="zh-CN" sz="2000" dirty="0"/>
              <a:t>495 / 10 = 49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marL="857250" lvl="1" indent="-457200" algn="just">
              <a:spcBef>
                <a:spcPts val="0"/>
              </a:spcBef>
              <a:defRPr/>
            </a:pPr>
            <a:r>
              <a:rPr lang="zh-CN" altLang="en-US" sz="2400" dirty="0">
                <a:solidFill>
                  <a:schemeClr val="bg2"/>
                </a:solidFill>
              </a:rPr>
              <a:t>继续从新数的个位数开始数；</a:t>
            </a:r>
            <a:endParaRPr lang="en-US" altLang="zh-CN" sz="2400" dirty="0">
              <a:solidFill>
                <a:schemeClr val="bg2"/>
              </a:solidFill>
            </a:endParaRPr>
          </a:p>
          <a:p>
            <a:pPr marL="800100" lvl="2" indent="0" algn="just">
              <a:spcBef>
                <a:spcPts val="0"/>
              </a:spcBef>
              <a:buFont typeface="Wingdings" charset="0"/>
              <a:buNone/>
              <a:defRPr/>
            </a:pPr>
            <a:r>
              <a:rPr lang="zh-CN" altLang="en-US" sz="2000" dirty="0">
                <a:solidFill>
                  <a:schemeClr val="bg2"/>
                </a:solidFill>
              </a:rPr>
              <a:t>第</a:t>
            </a:r>
            <a:r>
              <a:rPr lang="en-US" altLang="zh-CN" sz="2000" dirty="0">
                <a:solidFill>
                  <a:schemeClr val="bg2"/>
                </a:solidFill>
              </a:rPr>
              <a:t>2</a:t>
            </a:r>
            <a:r>
              <a:rPr lang="zh-CN" altLang="en-US" sz="2000" dirty="0">
                <a:solidFill>
                  <a:schemeClr val="bg2"/>
                </a:solidFill>
              </a:rPr>
              <a:t>次数出：</a:t>
            </a:r>
            <a:r>
              <a:rPr lang="en-US" altLang="zh-CN" sz="2000" dirty="0">
                <a:solidFill>
                  <a:schemeClr val="bg2"/>
                </a:solidFill>
              </a:rPr>
              <a:t>9</a:t>
            </a:r>
            <a:r>
              <a:rPr lang="zh-CN" altLang="en-US" sz="2000" dirty="0">
                <a:solidFill>
                  <a:schemeClr val="bg2"/>
                </a:solidFill>
              </a:rPr>
              <a:t>（</a:t>
            </a:r>
            <a:r>
              <a:rPr lang="en-US" altLang="zh-CN" sz="2000" dirty="0">
                <a:solidFill>
                  <a:schemeClr val="bg2"/>
                </a:solidFill>
              </a:rPr>
              <a:t>49%10</a:t>
            </a:r>
            <a:r>
              <a:rPr lang="zh-CN" altLang="en-US" sz="2000" dirty="0">
                <a:solidFill>
                  <a:schemeClr val="bg2"/>
                </a:solidFill>
              </a:rPr>
              <a:t>）</a:t>
            </a:r>
            <a:endParaRPr lang="en-US" altLang="zh-CN" sz="2000" dirty="0">
              <a:solidFill>
                <a:schemeClr val="bg2"/>
              </a:solidFill>
            </a:endParaRPr>
          </a:p>
          <a:p>
            <a:pPr marL="857250" lvl="1" indent="-457200" algn="just">
              <a:spcBef>
                <a:spcPts val="0"/>
              </a:spcBef>
              <a:defRPr/>
            </a:pPr>
            <a:r>
              <a:rPr lang="zh-CN" altLang="en-US" sz="2400" dirty="0">
                <a:solidFill>
                  <a:schemeClr val="bg2"/>
                </a:solidFill>
              </a:rPr>
              <a:t>数好一位，就划去该数字，再得到一个新数</a:t>
            </a:r>
            <a:r>
              <a:rPr lang="en-US" altLang="zh-CN" sz="2400" dirty="0">
                <a:solidFill>
                  <a:schemeClr val="bg2"/>
                </a:solidFill>
              </a:rPr>
              <a:t>4</a:t>
            </a:r>
            <a:r>
              <a:rPr lang="zh-CN" altLang="en-US" sz="2400" dirty="0">
                <a:solidFill>
                  <a:schemeClr val="bg2"/>
                </a:solidFill>
              </a:rPr>
              <a:t>；</a:t>
            </a:r>
            <a:r>
              <a:rPr lang="en-US" altLang="zh-CN" sz="2400" dirty="0">
                <a:solidFill>
                  <a:schemeClr val="bg2"/>
                </a:solidFill>
              </a:rPr>
              <a:t>4</a:t>
            </a:r>
            <a:r>
              <a:rPr lang="en-US" altLang="zh-CN" sz="2400" strike="dblStrike" dirty="0">
                <a:solidFill>
                  <a:srgbClr val="660066"/>
                </a:solidFill>
              </a:rPr>
              <a:t>95</a:t>
            </a:r>
          </a:p>
          <a:p>
            <a:pPr marL="800100" lvl="2" indent="0" algn="just">
              <a:spcBef>
                <a:spcPts val="0"/>
              </a:spcBef>
              <a:buFont typeface="Wingdings" charset="0"/>
              <a:buNone/>
              <a:defRPr/>
            </a:pPr>
            <a:r>
              <a:rPr lang="zh-CN" altLang="en-US" sz="2000" dirty="0">
                <a:solidFill>
                  <a:schemeClr val="bg2"/>
                </a:solidFill>
              </a:rPr>
              <a:t>舍去</a:t>
            </a:r>
            <a:r>
              <a:rPr lang="en-US" altLang="zh-CN" sz="2000" dirty="0">
                <a:solidFill>
                  <a:schemeClr val="bg2"/>
                </a:solidFill>
              </a:rPr>
              <a:t>9</a:t>
            </a:r>
            <a:r>
              <a:rPr lang="zh-CN" altLang="en-US" sz="2000" dirty="0">
                <a:solidFill>
                  <a:schemeClr val="bg2"/>
                </a:solidFill>
              </a:rPr>
              <a:t>，得到新数</a:t>
            </a:r>
            <a:r>
              <a:rPr lang="en-US" altLang="zh-CN" sz="2000" dirty="0">
                <a:solidFill>
                  <a:schemeClr val="bg2"/>
                </a:solidFill>
              </a:rPr>
              <a:t>4</a:t>
            </a:r>
            <a:r>
              <a:rPr lang="zh-CN" altLang="en-US" sz="2000" dirty="0">
                <a:solidFill>
                  <a:schemeClr val="bg2"/>
                </a:solidFill>
              </a:rPr>
              <a:t>（</a:t>
            </a:r>
            <a:r>
              <a:rPr lang="en-US" altLang="zh-CN" sz="2000" dirty="0">
                <a:solidFill>
                  <a:schemeClr val="bg2"/>
                </a:solidFill>
              </a:rPr>
              <a:t>49 / 10 = 4</a:t>
            </a:r>
            <a:r>
              <a:rPr lang="zh-CN" altLang="en-US" sz="2000" dirty="0">
                <a:solidFill>
                  <a:schemeClr val="bg2"/>
                </a:solidFill>
              </a:rPr>
              <a:t>）</a:t>
            </a:r>
            <a:endParaRPr lang="en-US" altLang="zh-CN" sz="2000" dirty="0">
              <a:solidFill>
                <a:schemeClr val="bg2"/>
              </a:solidFill>
            </a:endParaRPr>
          </a:p>
          <a:p>
            <a:pPr marL="857250" lvl="1" indent="-457200" algn="just">
              <a:spcBef>
                <a:spcPts val="0"/>
              </a:spcBef>
              <a:defRPr/>
            </a:pPr>
            <a:r>
              <a:rPr lang="zh-CN" altLang="en-US" sz="2400" dirty="0"/>
              <a:t>继续从新数的个位数开始数；</a:t>
            </a:r>
            <a:endParaRPr lang="en-US" altLang="zh-CN" sz="2400" dirty="0"/>
          </a:p>
          <a:p>
            <a:pPr marL="800100" lvl="2" indent="0" algn="just">
              <a:spcBef>
                <a:spcPts val="0"/>
              </a:spcBef>
              <a:buFont typeface="Wingdings" charset="0"/>
              <a:buNone/>
              <a:defRPr/>
            </a:pPr>
            <a:r>
              <a:rPr lang="zh-CN" altLang="en-US" sz="2000" dirty="0"/>
              <a:t>第</a:t>
            </a:r>
            <a:r>
              <a:rPr lang="en-US" altLang="zh-CN" sz="2000" dirty="0"/>
              <a:t>3</a:t>
            </a:r>
            <a:r>
              <a:rPr lang="zh-CN" altLang="en-US" sz="2000" dirty="0"/>
              <a:t>次数出：</a:t>
            </a:r>
            <a:r>
              <a:rPr lang="en-US" altLang="zh-CN" sz="2000" dirty="0"/>
              <a:t>4</a:t>
            </a:r>
            <a:r>
              <a:rPr lang="zh-CN" altLang="en-US" sz="2000" dirty="0"/>
              <a:t>（</a:t>
            </a:r>
            <a:r>
              <a:rPr lang="en-US" altLang="zh-CN" sz="2000" dirty="0"/>
              <a:t>4%10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marL="857250" lvl="1" indent="-457200" algn="just">
              <a:spcBef>
                <a:spcPts val="0"/>
              </a:spcBef>
              <a:defRPr/>
            </a:pPr>
            <a:r>
              <a:rPr lang="zh-CN" altLang="en-US" sz="2400" dirty="0"/>
              <a:t>数好一位，就划去该数字，再得到一个新数</a:t>
            </a:r>
            <a:r>
              <a:rPr lang="en-US" altLang="zh-CN" sz="2400" dirty="0"/>
              <a:t>0</a:t>
            </a:r>
            <a:r>
              <a:rPr lang="zh-CN" altLang="en-US" sz="2400" dirty="0"/>
              <a:t>；</a:t>
            </a:r>
            <a:r>
              <a:rPr lang="en-US" altLang="zh-CN" sz="2400" strike="dblStrike" dirty="0">
                <a:solidFill>
                  <a:srgbClr val="800000"/>
                </a:solidFill>
              </a:rPr>
              <a:t>495</a:t>
            </a:r>
          </a:p>
          <a:p>
            <a:pPr marL="800100" lvl="2" indent="0" algn="just">
              <a:spcBef>
                <a:spcPts val="0"/>
              </a:spcBef>
              <a:buFont typeface="Wingdings" charset="0"/>
              <a:buNone/>
              <a:defRPr/>
            </a:pPr>
            <a:r>
              <a:rPr lang="zh-CN" altLang="en-US" sz="2000" dirty="0"/>
              <a:t>舍去</a:t>
            </a:r>
            <a:r>
              <a:rPr lang="en-US" altLang="zh-CN" sz="2000" dirty="0"/>
              <a:t>4</a:t>
            </a:r>
            <a:r>
              <a:rPr lang="zh-CN" altLang="en-US" sz="2000" dirty="0"/>
              <a:t>，得到新数</a:t>
            </a:r>
            <a:r>
              <a:rPr lang="en-US" altLang="zh-CN" sz="2000" dirty="0"/>
              <a:t>0</a:t>
            </a:r>
            <a:r>
              <a:rPr lang="zh-CN" altLang="en-US" sz="2000" dirty="0"/>
              <a:t>（</a:t>
            </a:r>
            <a:r>
              <a:rPr lang="en-US" altLang="zh-CN" sz="2000" dirty="0"/>
              <a:t>4 / 10 = 0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1" indent="-342900" algn="just">
              <a:spcBef>
                <a:spcPts val="0"/>
              </a:spcBef>
              <a:defRPr/>
            </a:pPr>
            <a:r>
              <a:rPr lang="zh-CN" altLang="en-US" sz="2400" dirty="0">
                <a:solidFill>
                  <a:schemeClr val="bg2"/>
                </a:solidFill>
              </a:rPr>
              <a:t>全部数好，全部划去，遇零结束。共重复</a:t>
            </a:r>
            <a:r>
              <a:rPr lang="en-US" altLang="zh-CN" sz="2400" dirty="0">
                <a:solidFill>
                  <a:schemeClr val="bg2"/>
                </a:solidFill>
              </a:rPr>
              <a:t>3</a:t>
            </a:r>
            <a:r>
              <a:rPr lang="zh-CN" altLang="en-US" sz="2400" dirty="0">
                <a:solidFill>
                  <a:schemeClr val="bg2"/>
                </a:solidFill>
              </a:rPr>
              <a:t>次，</a:t>
            </a:r>
            <a:r>
              <a:rPr lang="en-US" altLang="zh-CN" sz="2400" dirty="0">
                <a:solidFill>
                  <a:schemeClr val="bg2"/>
                </a:solidFill>
              </a:rPr>
              <a:t>3</a:t>
            </a:r>
            <a:r>
              <a:rPr lang="zh-CN" altLang="en-US" sz="2400" dirty="0">
                <a:solidFill>
                  <a:schemeClr val="bg2"/>
                </a:solidFill>
              </a:rPr>
              <a:t>位数。</a:t>
            </a:r>
            <a:endParaRPr lang="en-US" altLang="zh-CN" sz="2400" dirty="0">
              <a:solidFill>
                <a:schemeClr val="bg2"/>
              </a:solidFill>
            </a:endParaRPr>
          </a:p>
          <a:p>
            <a:pPr marL="857250" lvl="1" indent="-457200" algn="just">
              <a:defRPr/>
            </a:pPr>
            <a:endParaRPr lang="en-US" altLang="zh-CN" dirty="0"/>
          </a:p>
          <a:p>
            <a:pPr marL="800100" lvl="2" indent="0" algn="just">
              <a:buFont typeface="Wingdings" charset="0"/>
              <a:buNone/>
              <a:defRPr/>
            </a:pPr>
            <a:endParaRPr lang="en-US" altLang="zh-CN" sz="2000" dirty="0"/>
          </a:p>
          <a:p>
            <a:pPr lvl="1" indent="-342900" algn="just">
              <a:defRPr/>
            </a:pPr>
            <a:endParaRPr lang="en-US" altLang="zh-CN" sz="2400" dirty="0"/>
          </a:p>
        </p:txBody>
      </p:sp>
      <p:sp>
        <p:nvSpPr>
          <p:cNvPr id="125957" name="Rectangle 5"/>
          <p:cNvSpPr>
            <a:spLocks noGrp="1" noChangeArrowheads="1"/>
          </p:cNvSpPr>
          <p:nvPr>
            <p:ph type="title"/>
          </p:nvPr>
        </p:nvSpPr>
        <p:spPr>
          <a:xfrm>
            <a:off x="457200" y="334963"/>
            <a:ext cx="8218488" cy="646112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3600" dirty="0"/>
              <a:t>4.2.1</a:t>
            </a:r>
            <a:r>
              <a:rPr lang="zh-CN" altLang="en-US" sz="3600" dirty="0"/>
              <a:t>  程序解析</a:t>
            </a:r>
            <a:r>
              <a:rPr lang="en-US" altLang="zh-CN" sz="3600" dirty="0"/>
              <a:t>-</a:t>
            </a:r>
            <a:r>
              <a:rPr lang="zh-CN" altLang="en-US" sz="3600" dirty="0"/>
              <a:t>统计一个整数的位数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5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59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259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259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259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259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259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259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404813"/>
            <a:ext cx="5545138" cy="60960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zh-CN" altLang="en-US" sz="3600" dirty="0"/>
              <a:t>算法</a:t>
            </a:r>
            <a:r>
              <a:rPr lang="en-US" altLang="zh-CN" sz="3600" dirty="0"/>
              <a:t>-</a:t>
            </a:r>
            <a:r>
              <a:rPr lang="zh-CN" altLang="en-US" sz="3600" dirty="0"/>
              <a:t>统计一个整数的位数</a:t>
            </a:r>
            <a:endParaRPr lang="zh-CN" altLang="en-US" dirty="0"/>
          </a:p>
        </p:txBody>
      </p:sp>
      <p:sp>
        <p:nvSpPr>
          <p:cNvPr id="161796" name="Text Box 4"/>
          <p:cNvSpPr txBox="1">
            <a:spLocks noChangeArrowheads="1"/>
          </p:cNvSpPr>
          <p:nvPr/>
        </p:nvSpPr>
        <p:spPr bwMode="auto">
          <a:xfrm>
            <a:off x="3132138" y="1484313"/>
            <a:ext cx="5040312" cy="1385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altLang="zh-CN" sz="2800" dirty="0">
                <a:solidFill>
                  <a:schemeClr val="bg2"/>
                </a:solidFill>
                <a:latin typeface="+mn-lt"/>
              </a:rPr>
              <a:t>495</a:t>
            </a:r>
            <a:r>
              <a:rPr lang="zh-CN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+mn-lt"/>
              </a:rPr>
              <a:t>% 10 = 5</a:t>
            </a:r>
            <a:r>
              <a:rPr lang="zh-CN" sz="2800" dirty="0">
                <a:solidFill>
                  <a:schemeClr val="tx1"/>
                </a:solidFill>
                <a:latin typeface="+mn-lt"/>
              </a:rPr>
              <a:t>     </a:t>
            </a:r>
            <a:r>
              <a:rPr lang="en-US" altLang="zh-CN" sz="2800" dirty="0">
                <a:solidFill>
                  <a:schemeClr val="tx1"/>
                </a:solidFill>
                <a:latin typeface="+mn-lt"/>
              </a:rPr>
              <a:t>495 / 10 = </a:t>
            </a:r>
            <a:r>
              <a:rPr lang="en-US" altLang="zh-CN" sz="2800" dirty="0">
                <a:solidFill>
                  <a:srgbClr val="00007D"/>
                </a:solidFill>
                <a:latin typeface="+mn-lt"/>
              </a:rPr>
              <a:t>49</a:t>
            </a:r>
            <a:endParaRPr lang="zh-CN" sz="2800" dirty="0">
              <a:solidFill>
                <a:srgbClr val="00007D"/>
              </a:solidFill>
              <a:latin typeface="+mn-lt"/>
            </a:endParaRPr>
          </a:p>
          <a:p>
            <a:pPr eaLnBrk="0" hangingPunct="0">
              <a:defRPr/>
            </a:pPr>
            <a:r>
              <a:rPr lang="en-US" altLang="zh-CN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sz="2800" dirty="0">
                <a:solidFill>
                  <a:srgbClr val="00007D"/>
                </a:solidFill>
              </a:rPr>
              <a:t>49</a:t>
            </a:r>
            <a:r>
              <a:rPr lang="zh-CN" altLang="zh-CN" sz="2800" dirty="0">
                <a:solidFill>
                  <a:schemeClr val="tx1"/>
                </a:solidFill>
              </a:rPr>
              <a:t> </a:t>
            </a:r>
            <a:r>
              <a:rPr lang="en-US" altLang="zh-CN" sz="2800" dirty="0">
                <a:solidFill>
                  <a:schemeClr val="tx1"/>
                </a:solidFill>
              </a:rPr>
              <a:t>% 10 = 9</a:t>
            </a:r>
            <a:r>
              <a:rPr lang="zh-CN" altLang="zh-CN" sz="2800" dirty="0">
                <a:solidFill>
                  <a:schemeClr val="tx1"/>
                </a:solidFill>
              </a:rPr>
              <a:t>     </a:t>
            </a:r>
            <a:r>
              <a:rPr lang="en-US" altLang="zh-CN" sz="2800" dirty="0">
                <a:solidFill>
                  <a:schemeClr val="tx1"/>
                </a:solidFill>
              </a:rPr>
              <a:t>  49 / 10 = </a:t>
            </a:r>
            <a:r>
              <a:rPr lang="en-US" altLang="zh-CN" sz="2800" dirty="0">
                <a:solidFill>
                  <a:srgbClr val="00007D"/>
                </a:solidFill>
              </a:rPr>
              <a:t>4</a:t>
            </a:r>
            <a:endParaRPr lang="zh-CN" sz="2800" dirty="0">
              <a:solidFill>
                <a:srgbClr val="00007D"/>
              </a:solidFill>
              <a:latin typeface="+mn-lt"/>
            </a:endParaRPr>
          </a:p>
          <a:p>
            <a:pPr eaLnBrk="0" hangingPunct="0">
              <a:defRPr/>
            </a:pPr>
            <a:r>
              <a:rPr lang="zh-CN" altLang="en-US" sz="2800" dirty="0">
                <a:solidFill>
                  <a:schemeClr val="tx1"/>
                </a:solidFill>
                <a:latin typeface="+mn-lt"/>
              </a:rPr>
              <a:t>  </a:t>
            </a:r>
            <a:r>
              <a:rPr lang="en-US" altLang="zh-CN" sz="2800" dirty="0">
                <a:solidFill>
                  <a:srgbClr val="00007D"/>
                </a:solidFill>
              </a:rPr>
              <a:t>4</a:t>
            </a:r>
            <a:r>
              <a:rPr lang="zh-CN" altLang="zh-CN" sz="2800" dirty="0">
                <a:solidFill>
                  <a:schemeClr val="tx1"/>
                </a:solidFill>
              </a:rPr>
              <a:t> </a:t>
            </a:r>
            <a:r>
              <a:rPr lang="en-US" altLang="zh-CN" sz="2800" dirty="0">
                <a:solidFill>
                  <a:schemeClr val="tx1"/>
                </a:solidFill>
              </a:rPr>
              <a:t>% 10 = 4</a:t>
            </a:r>
            <a:r>
              <a:rPr lang="zh-CN" altLang="zh-CN" sz="2800" dirty="0">
                <a:solidFill>
                  <a:schemeClr val="tx1"/>
                </a:solidFill>
              </a:rPr>
              <a:t>     </a:t>
            </a:r>
            <a:r>
              <a:rPr lang="en-US" altLang="zh-CN" sz="2800" dirty="0">
                <a:solidFill>
                  <a:schemeClr val="tx1"/>
                </a:solidFill>
              </a:rPr>
              <a:t>    4 / 10 = </a:t>
            </a:r>
            <a:r>
              <a:rPr lang="en-US" altLang="zh-CN" sz="2800" dirty="0">
                <a:solidFill>
                  <a:srgbClr val="00007D"/>
                </a:solidFill>
              </a:rPr>
              <a:t>0</a:t>
            </a:r>
            <a:endParaRPr lang="zh-CN" sz="2800" dirty="0">
              <a:solidFill>
                <a:srgbClr val="00007D"/>
              </a:solidFill>
              <a:latin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22563" y="1052513"/>
            <a:ext cx="2928937" cy="400050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digit = </a:t>
            </a:r>
            <a:r>
              <a:rPr lang="en-US" altLang="zh-CN" sz="2400" dirty="0" err="1">
                <a:solidFill>
                  <a:schemeClr val="tx1"/>
                </a:solidFill>
              </a:rPr>
              <a:t>numbr</a:t>
            </a:r>
            <a:r>
              <a:rPr lang="en-US" altLang="zh-CN" sz="2400" dirty="0">
                <a:solidFill>
                  <a:schemeClr val="tx1"/>
                </a:solidFill>
              </a:rPr>
              <a:t> % 10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0724" name="文本框 1"/>
          <p:cNvSpPr txBox="1">
            <a:spLocks noChangeArrowheads="1"/>
          </p:cNvSpPr>
          <p:nvPr/>
        </p:nvSpPr>
        <p:spPr bwMode="auto">
          <a:xfrm>
            <a:off x="10760075" y="4040188"/>
            <a:ext cx="1841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400" b="1">
                <a:solidFill>
                  <a:schemeClr val="hlink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sz="4400" b="1">
                <a:solidFill>
                  <a:schemeClr val="hlink"/>
                </a:solidFill>
                <a:latin typeface="Arial" charset="0"/>
                <a:ea typeface="宋体" charset="0"/>
              </a:defRPr>
            </a:lvl2pPr>
            <a:lvl3pPr marL="1143000" indent="-228600">
              <a:defRPr sz="4400" b="1">
                <a:solidFill>
                  <a:schemeClr val="hlink"/>
                </a:solidFill>
                <a:latin typeface="Arial" charset="0"/>
                <a:ea typeface="宋体" charset="0"/>
              </a:defRPr>
            </a:lvl3pPr>
            <a:lvl4pPr marL="1600200" indent="-228600">
              <a:defRPr sz="4400" b="1">
                <a:solidFill>
                  <a:schemeClr val="hlink"/>
                </a:solidFill>
                <a:latin typeface="Arial" charset="0"/>
                <a:ea typeface="宋体" charset="0"/>
              </a:defRPr>
            </a:lvl4pPr>
            <a:lvl5pPr marL="2057400" indent="-228600">
              <a:defRPr sz="4400" b="1">
                <a:solidFill>
                  <a:schemeClr val="hlink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charset="0"/>
                <a:ea typeface="宋体" charset="0"/>
              </a:defRPr>
            </a:lvl9pPr>
          </a:lstStyle>
          <a:p>
            <a:endParaRPr kumimoji="1"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724525" y="1052513"/>
            <a:ext cx="3384550" cy="400050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number = number / 10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23850" y="2689225"/>
            <a:ext cx="3168650" cy="523875"/>
          </a:xfrm>
          <a:prstGeom prst="rect">
            <a:avLst/>
          </a:prstGeom>
          <a:solidFill>
            <a:schemeClr val="accent3"/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sz="2800" dirty="0">
                <a:solidFill>
                  <a:srgbClr val="CC0066"/>
                </a:solidFill>
              </a:rPr>
              <a:t>number</a:t>
            </a:r>
            <a:r>
              <a:rPr lang="zh-CN" altLang="en-US" sz="2800" dirty="0">
                <a:solidFill>
                  <a:srgbClr val="CC0066"/>
                </a:solidFill>
              </a:rPr>
              <a:t> </a:t>
            </a:r>
            <a:r>
              <a:rPr lang="en-US" altLang="en-US" sz="2800" dirty="0">
                <a:solidFill>
                  <a:srgbClr val="CC0066"/>
                </a:solidFill>
              </a:rPr>
              <a:t>=</a:t>
            </a:r>
            <a:r>
              <a:rPr lang="zh-CN" altLang="en-US" sz="2800" dirty="0">
                <a:solidFill>
                  <a:srgbClr val="CC0066"/>
                </a:solidFill>
              </a:rPr>
              <a:t> </a:t>
            </a:r>
            <a:r>
              <a:rPr lang="en-US" altLang="zh-CN" sz="2800" dirty="0">
                <a:solidFill>
                  <a:srgbClr val="CC0066"/>
                </a:solidFill>
              </a:rPr>
              <a:t>0</a:t>
            </a:r>
            <a:r>
              <a:rPr lang="zh-CN" altLang="en-US" sz="2800" dirty="0">
                <a:solidFill>
                  <a:srgbClr val="CC0066"/>
                </a:solidFill>
              </a:rPr>
              <a:t> </a:t>
            </a:r>
            <a:r>
              <a:rPr lang="zh-CN" altLang="en-US" sz="2800" dirty="0">
                <a:solidFill>
                  <a:srgbClr val="000000"/>
                </a:solidFill>
              </a:rPr>
              <a:t>结束</a:t>
            </a:r>
          </a:p>
        </p:txBody>
      </p:sp>
      <p:sp>
        <p:nvSpPr>
          <p:cNvPr id="12" name="矩形 11"/>
          <p:cNvSpPr/>
          <p:nvPr/>
        </p:nvSpPr>
        <p:spPr>
          <a:xfrm>
            <a:off x="323528" y="1412776"/>
            <a:ext cx="2664296" cy="523220"/>
          </a:xfrm>
          <a:prstGeom prst="rect">
            <a:avLst/>
          </a:prstGeom>
          <a:solidFill>
            <a:schemeClr val="accent3"/>
          </a:solidFill>
        </p:spPr>
        <p:txBody>
          <a:bodyPr>
            <a:spAutoFit/>
            <a:scene3d>
              <a:camera prst="orthographicFront"/>
              <a:lightRig rig="threePt" dir="t"/>
            </a:scene3d>
            <a:sp3d extrusionH="57150">
              <a:bevelT w="82550" h="38100" prst="coolSlant"/>
              <a:bevelB w="57150" h="38100" prst="artDeco"/>
            </a:sp3d>
          </a:bodyPr>
          <a:lstStyle/>
          <a:p>
            <a:pPr>
              <a:defRPr/>
            </a:pPr>
            <a:r>
              <a:rPr lang="en-US" altLang="en-US" sz="2800" dirty="0">
                <a:solidFill>
                  <a:srgbClr val="CC0066"/>
                </a:solidFill>
              </a:rPr>
              <a:t>number</a:t>
            </a:r>
            <a:r>
              <a:rPr lang="zh-CN" altLang="en-US" sz="2800" dirty="0">
                <a:solidFill>
                  <a:srgbClr val="CC0066"/>
                </a:solidFill>
              </a:rPr>
              <a:t> </a:t>
            </a:r>
            <a:r>
              <a:rPr lang="en-US" altLang="en-US" sz="2800" dirty="0">
                <a:solidFill>
                  <a:srgbClr val="CC0066"/>
                </a:solidFill>
              </a:rPr>
              <a:t>=</a:t>
            </a:r>
            <a:r>
              <a:rPr lang="zh-CN" altLang="en-US" sz="2800" dirty="0">
                <a:solidFill>
                  <a:srgbClr val="CC0066"/>
                </a:solidFill>
              </a:rPr>
              <a:t> </a:t>
            </a:r>
            <a:r>
              <a:rPr lang="en-US" altLang="zh-CN" sz="2800" dirty="0">
                <a:solidFill>
                  <a:srgbClr val="CC0066"/>
                </a:solidFill>
              </a:rPr>
              <a:t>495</a:t>
            </a:r>
            <a:endParaRPr lang="zh-CN" altLang="en-US" sz="2800" dirty="0">
              <a:solidFill>
                <a:srgbClr val="CC0066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23528" y="1844824"/>
            <a:ext cx="2808312" cy="523220"/>
          </a:xfrm>
          <a:prstGeom prst="rect">
            <a:avLst/>
          </a:prstGeom>
          <a:solidFill>
            <a:schemeClr val="accent3"/>
          </a:solidFill>
        </p:spPr>
        <p:txBody>
          <a:bodyPr>
            <a:spAutoFit/>
            <a:scene3d>
              <a:camera prst="orthographicFront"/>
              <a:lightRig rig="threePt" dir="t"/>
            </a:scene3d>
            <a:sp3d extrusionH="57150">
              <a:bevelT w="82550" h="38100" prst="coolSlant"/>
              <a:bevelB w="57150" h="38100" prst="artDeco"/>
            </a:sp3d>
          </a:bodyPr>
          <a:lstStyle/>
          <a:p>
            <a:pPr>
              <a:defRPr/>
            </a:pPr>
            <a:r>
              <a:rPr lang="en-US" altLang="en-US" sz="2800" dirty="0">
                <a:solidFill>
                  <a:srgbClr val="CC0066"/>
                </a:solidFill>
              </a:rPr>
              <a:t>number</a:t>
            </a:r>
            <a:r>
              <a:rPr lang="zh-CN" altLang="en-US" sz="2800" dirty="0">
                <a:solidFill>
                  <a:srgbClr val="CC0066"/>
                </a:solidFill>
              </a:rPr>
              <a:t> </a:t>
            </a:r>
            <a:r>
              <a:rPr lang="en-US" altLang="en-US" sz="2800" dirty="0">
                <a:solidFill>
                  <a:srgbClr val="CC0066"/>
                </a:solidFill>
              </a:rPr>
              <a:t>=</a:t>
            </a:r>
            <a:r>
              <a:rPr lang="zh-CN" altLang="en-US" sz="2800" dirty="0">
                <a:solidFill>
                  <a:srgbClr val="CC0066"/>
                </a:solidFill>
              </a:rPr>
              <a:t> </a:t>
            </a:r>
            <a:r>
              <a:rPr lang="en-US" altLang="zh-CN" sz="2800" dirty="0">
                <a:solidFill>
                  <a:srgbClr val="CC0066"/>
                </a:solidFill>
              </a:rPr>
              <a:t>49</a:t>
            </a:r>
            <a:endParaRPr lang="zh-CN" altLang="en-US" sz="2800" dirty="0">
              <a:solidFill>
                <a:srgbClr val="CC0066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23528" y="2276872"/>
            <a:ext cx="2808312" cy="523220"/>
          </a:xfrm>
          <a:prstGeom prst="rect">
            <a:avLst/>
          </a:prstGeom>
          <a:solidFill>
            <a:schemeClr val="accent3"/>
          </a:solidFill>
        </p:spPr>
        <p:txBody>
          <a:bodyPr>
            <a:spAutoFit/>
            <a:scene3d>
              <a:camera prst="orthographicFront"/>
              <a:lightRig rig="threePt" dir="t"/>
            </a:scene3d>
            <a:sp3d extrusionH="57150">
              <a:bevelT w="82550" h="38100" prst="coolSlant"/>
              <a:bevelB w="57150" h="38100" prst="artDeco"/>
            </a:sp3d>
          </a:bodyPr>
          <a:lstStyle/>
          <a:p>
            <a:pPr>
              <a:defRPr/>
            </a:pPr>
            <a:r>
              <a:rPr lang="en-US" altLang="en-US" sz="2800" dirty="0">
                <a:solidFill>
                  <a:srgbClr val="CC0066"/>
                </a:solidFill>
              </a:rPr>
              <a:t>number</a:t>
            </a:r>
            <a:r>
              <a:rPr lang="zh-CN" altLang="en-US" sz="2800" dirty="0">
                <a:solidFill>
                  <a:srgbClr val="CC0066"/>
                </a:solidFill>
              </a:rPr>
              <a:t> </a:t>
            </a:r>
            <a:r>
              <a:rPr lang="en-US" altLang="en-US" sz="2800" dirty="0">
                <a:solidFill>
                  <a:srgbClr val="CC0066"/>
                </a:solidFill>
              </a:rPr>
              <a:t>=</a:t>
            </a:r>
            <a:r>
              <a:rPr lang="zh-CN" altLang="en-US" sz="2800" dirty="0">
                <a:solidFill>
                  <a:srgbClr val="CC0066"/>
                </a:solidFill>
              </a:rPr>
              <a:t> </a:t>
            </a:r>
            <a:r>
              <a:rPr lang="en-US" altLang="zh-CN" sz="2800" dirty="0">
                <a:solidFill>
                  <a:srgbClr val="CC0066"/>
                </a:solidFill>
              </a:rPr>
              <a:t>4</a:t>
            </a:r>
            <a:endParaRPr lang="zh-CN" altLang="en-US" sz="2800" dirty="0">
              <a:solidFill>
                <a:srgbClr val="CC0066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36513" y="3141663"/>
            <a:ext cx="5040313" cy="3473450"/>
          </a:xfrm>
        </p:spPr>
        <p:txBody>
          <a:bodyPr/>
          <a:lstStyle/>
          <a:p>
            <a:pPr>
              <a:spcBef>
                <a:spcPts val="0"/>
              </a:spcBef>
              <a:defRPr/>
            </a:pPr>
            <a:r>
              <a:rPr kumimoji="1" lang="zh-CN" altLang="en-US" sz="2800" dirty="0"/>
              <a:t>循环结束条件</a:t>
            </a:r>
            <a:endParaRPr kumimoji="1" lang="en-US" altLang="zh-CN" sz="2800" dirty="0"/>
          </a:p>
          <a:p>
            <a:pPr marL="400050" lvl="1" indent="0">
              <a:spcBef>
                <a:spcPts val="0"/>
              </a:spcBef>
              <a:buFont typeface="Wingdings" charset="0"/>
              <a:buNone/>
              <a:defRPr/>
            </a:pPr>
            <a:r>
              <a:rPr kumimoji="1" lang="en-US" altLang="zh-CN" dirty="0"/>
              <a:t>number == 0</a:t>
            </a:r>
          </a:p>
          <a:p>
            <a:pPr>
              <a:spcBef>
                <a:spcPts val="0"/>
              </a:spcBef>
              <a:defRPr/>
            </a:pPr>
            <a:r>
              <a:rPr kumimoji="1" lang="zh-CN" altLang="en-US" sz="2800" dirty="0"/>
              <a:t>循环条件</a:t>
            </a:r>
            <a:endParaRPr kumimoji="1" lang="en-US" altLang="zh-CN" sz="2800" dirty="0"/>
          </a:p>
          <a:p>
            <a:pPr marL="400050" lvl="1" indent="0">
              <a:spcBef>
                <a:spcPts val="0"/>
              </a:spcBef>
              <a:buFont typeface="Wingdings" charset="0"/>
              <a:buNone/>
              <a:defRPr/>
            </a:pPr>
            <a:r>
              <a:rPr kumimoji="1" lang="en-US" altLang="zh-CN" dirty="0"/>
              <a:t>number != 0</a:t>
            </a:r>
          </a:p>
          <a:p>
            <a:pPr>
              <a:spcBef>
                <a:spcPts val="0"/>
              </a:spcBef>
              <a:defRPr/>
            </a:pPr>
            <a:r>
              <a:rPr kumimoji="1" lang="zh-CN" altLang="en-US" sz="2800" dirty="0"/>
              <a:t>循环体</a:t>
            </a:r>
            <a:endParaRPr kumimoji="1" lang="en-US" altLang="zh-CN" sz="2800" dirty="0"/>
          </a:p>
          <a:p>
            <a:pPr lvl="1">
              <a:spcBef>
                <a:spcPts val="0"/>
              </a:spcBef>
              <a:defRPr/>
            </a:pPr>
            <a:r>
              <a:rPr kumimoji="1" lang="en-US" altLang="zh-CN" dirty="0"/>
              <a:t>digit = number %10</a:t>
            </a:r>
          </a:p>
          <a:p>
            <a:pPr lvl="1">
              <a:spcBef>
                <a:spcPts val="0"/>
              </a:spcBef>
              <a:defRPr/>
            </a:pPr>
            <a:r>
              <a:rPr kumimoji="1" lang="en-US" altLang="zh-CN" dirty="0"/>
              <a:t>number = number / 10</a:t>
            </a:r>
          </a:p>
          <a:p>
            <a:pPr lvl="1">
              <a:spcBef>
                <a:spcPts val="0"/>
              </a:spcBef>
              <a:defRPr/>
            </a:pPr>
            <a:r>
              <a:rPr kumimoji="1" lang="en-US" altLang="zh-CN" dirty="0"/>
              <a:t>count ++</a:t>
            </a:r>
            <a:endParaRPr kumimoji="1" lang="zh-CN" altLang="en-US" dirty="0"/>
          </a:p>
        </p:txBody>
      </p:sp>
      <p:sp>
        <p:nvSpPr>
          <p:cNvPr id="17" name="Rectangle 8"/>
          <p:cNvSpPr>
            <a:spLocks noChangeArrowheads="1"/>
          </p:cNvSpPr>
          <p:nvPr/>
        </p:nvSpPr>
        <p:spPr bwMode="auto">
          <a:xfrm>
            <a:off x="5938838" y="404813"/>
            <a:ext cx="2665412" cy="487362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kumimoji="1" lang="en-US" altLang="zh-CN" sz="2800">
                <a:solidFill>
                  <a:schemeClr val="tx1"/>
                </a:solidFill>
              </a:rPr>
              <a:t>number = 0?</a:t>
            </a:r>
          </a:p>
        </p:txBody>
      </p:sp>
      <p:sp>
        <p:nvSpPr>
          <p:cNvPr id="18" name="Text Box 6"/>
          <p:cNvSpPr txBox="1">
            <a:spLocks noChangeArrowheads="1"/>
          </p:cNvSpPr>
          <p:nvPr/>
        </p:nvSpPr>
        <p:spPr bwMode="auto">
          <a:xfrm>
            <a:off x="4427538" y="1471613"/>
            <a:ext cx="4752975" cy="2678112"/>
          </a:xfrm>
          <a:prstGeom prst="rect">
            <a:avLst/>
          </a:prstGeom>
          <a:solidFill>
            <a:schemeClr val="accent3">
              <a:lumMod val="85000"/>
            </a:schemeClr>
          </a:solidFill>
          <a:ln w="12700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800" dirty="0">
                <a:solidFill>
                  <a:schemeClr val="tx1"/>
                </a:solidFill>
              </a:rPr>
              <a:t>count = 0;</a:t>
            </a:r>
          </a:p>
          <a:p>
            <a:pPr>
              <a:defRPr/>
            </a:pPr>
            <a:r>
              <a:rPr lang="en-US" altLang="zh-CN" sz="2800" dirty="0">
                <a:solidFill>
                  <a:schemeClr val="tx1"/>
                </a:solidFill>
              </a:rPr>
              <a:t>do{</a:t>
            </a:r>
          </a:p>
          <a:p>
            <a:pPr>
              <a:defRPr/>
            </a:pPr>
            <a:r>
              <a:rPr lang="en-US" altLang="zh-CN" sz="2800" dirty="0">
                <a:solidFill>
                  <a:schemeClr val="tx1"/>
                </a:solidFill>
              </a:rPr>
              <a:t>    </a:t>
            </a:r>
            <a:r>
              <a:rPr kumimoji="1" lang="en-US" altLang="zh-CN" sz="2800" dirty="0">
                <a:solidFill>
                  <a:schemeClr val="tx1"/>
                </a:solidFill>
              </a:rPr>
              <a:t>digit = number % 10</a:t>
            </a:r>
            <a:endParaRPr lang="en-US" altLang="zh-CN" sz="28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zh-CN" sz="2800" dirty="0">
                <a:solidFill>
                  <a:schemeClr val="tx1"/>
                </a:solidFill>
              </a:rPr>
              <a:t>    number  = number / 10;</a:t>
            </a:r>
          </a:p>
          <a:p>
            <a:pPr>
              <a:defRPr/>
            </a:pPr>
            <a:r>
              <a:rPr lang="en-US" altLang="zh-CN" sz="2800" dirty="0">
                <a:solidFill>
                  <a:schemeClr val="tx1"/>
                </a:solidFill>
              </a:rPr>
              <a:t>    count ++;</a:t>
            </a:r>
          </a:p>
          <a:p>
            <a:pPr>
              <a:defRPr/>
            </a:pPr>
            <a:r>
              <a:rPr lang="en-US" altLang="zh-CN" sz="2800" dirty="0">
                <a:solidFill>
                  <a:schemeClr val="tx1"/>
                </a:solidFill>
              </a:rPr>
              <a:t> } while (number != 0);</a:t>
            </a:r>
          </a:p>
        </p:txBody>
      </p:sp>
      <p:sp>
        <p:nvSpPr>
          <p:cNvPr id="19" name="Text Box 6"/>
          <p:cNvSpPr txBox="1">
            <a:spLocks noChangeArrowheads="1"/>
          </p:cNvSpPr>
          <p:nvPr/>
        </p:nvSpPr>
        <p:spPr bwMode="auto">
          <a:xfrm>
            <a:off x="4427538" y="4135438"/>
            <a:ext cx="4752975" cy="2678112"/>
          </a:xfrm>
          <a:prstGeom prst="rect">
            <a:avLst/>
          </a:prstGeom>
          <a:solidFill>
            <a:schemeClr val="accent5"/>
          </a:solidFill>
          <a:ln w="12700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800" dirty="0">
                <a:solidFill>
                  <a:schemeClr val="tx1"/>
                </a:solidFill>
              </a:rPr>
              <a:t>count = 0;</a:t>
            </a:r>
          </a:p>
          <a:p>
            <a:pPr>
              <a:defRPr/>
            </a:pPr>
            <a:r>
              <a:rPr lang="en-US" altLang="zh-CN" sz="2800" dirty="0">
                <a:solidFill>
                  <a:schemeClr val="tx1"/>
                </a:solidFill>
              </a:rPr>
              <a:t>while (number != 0){</a:t>
            </a:r>
          </a:p>
          <a:p>
            <a:pPr>
              <a:defRPr/>
            </a:pPr>
            <a:r>
              <a:rPr lang="en-US" altLang="zh-CN" sz="2800" dirty="0">
                <a:solidFill>
                  <a:schemeClr val="tx1"/>
                </a:solidFill>
              </a:rPr>
              <a:t>    </a:t>
            </a:r>
            <a:r>
              <a:rPr kumimoji="1" lang="en-US" altLang="zh-CN" sz="2800" dirty="0">
                <a:solidFill>
                  <a:schemeClr val="tx1"/>
                </a:solidFill>
              </a:rPr>
              <a:t>digit = number %10</a:t>
            </a:r>
            <a:endParaRPr lang="en-US" altLang="zh-CN" sz="28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zh-CN" sz="2800" dirty="0">
                <a:solidFill>
                  <a:schemeClr val="tx1"/>
                </a:solidFill>
              </a:rPr>
              <a:t>    number = number / 10;</a:t>
            </a:r>
          </a:p>
          <a:p>
            <a:pPr>
              <a:defRPr/>
            </a:pPr>
            <a:r>
              <a:rPr lang="en-US" altLang="zh-CN" sz="2800" dirty="0">
                <a:solidFill>
                  <a:schemeClr val="tx1"/>
                </a:solidFill>
              </a:rPr>
              <a:t>    count ++;</a:t>
            </a:r>
          </a:p>
          <a:p>
            <a:pPr>
              <a:defRPr/>
            </a:pPr>
            <a:r>
              <a:rPr lang="en-US" altLang="zh-CN" sz="2800" dirty="0">
                <a:solidFill>
                  <a:schemeClr val="tx1"/>
                </a:solidFill>
              </a:rPr>
              <a:t> 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3" grpId="0" build="p"/>
      <p:bldP spid="17" grpId="0" animBg="1"/>
      <p:bldP spid="18" grpId="0" animBg="1" autoUpdateAnimBg="0"/>
      <p:bldP spid="19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404813"/>
            <a:ext cx="6697663" cy="6237287"/>
          </a:xfrm>
        </p:spPr>
        <p:txBody>
          <a:bodyPr/>
          <a:lstStyle/>
          <a:p>
            <a:pPr marL="187325" indent="-187325" algn="just">
              <a:spcBef>
                <a:spcPts val="300"/>
              </a:spcBef>
              <a:buFont typeface="Wingdings" charset="0"/>
              <a:buNone/>
              <a:defRPr/>
            </a:pPr>
            <a:r>
              <a:rPr lang="en-US" altLang="zh-CN" sz="2400" dirty="0" err="1"/>
              <a:t>int</a:t>
            </a:r>
            <a:r>
              <a:rPr lang="en-US" altLang="zh-CN" sz="2400" dirty="0"/>
              <a:t> main</a:t>
            </a:r>
            <a:r>
              <a:rPr lang="zh-CN" altLang="en-US" sz="2400" dirty="0"/>
              <a:t> </a:t>
            </a:r>
            <a:r>
              <a:rPr lang="en-US" altLang="zh-CN" sz="2400" dirty="0"/>
              <a:t>(void)</a:t>
            </a:r>
          </a:p>
          <a:p>
            <a:pPr marL="187325" indent="-187325" algn="just">
              <a:spcBef>
                <a:spcPts val="300"/>
              </a:spcBef>
              <a:buFont typeface="Wingdings" charset="0"/>
              <a:buNone/>
              <a:defRPr/>
            </a:pPr>
            <a:r>
              <a:rPr lang="en-US" altLang="zh-CN" sz="2400" dirty="0"/>
              <a:t>{ 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count, number; </a:t>
            </a:r>
            <a:endParaRPr lang="zh-CN" altLang="en-US" sz="2400" dirty="0"/>
          </a:p>
          <a:p>
            <a:pPr lvl="1" indent="-365125" algn="just">
              <a:spcBef>
                <a:spcPts val="300"/>
              </a:spcBef>
              <a:buFont typeface="Wingdings" charset="0"/>
              <a:buNone/>
              <a:defRPr/>
            </a:pPr>
            <a:r>
              <a:rPr lang="en-US" altLang="zh-CN" sz="2400" dirty="0" err="1"/>
              <a:t>printf</a:t>
            </a:r>
            <a:r>
              <a:rPr lang="en-US" altLang="zh-CN" sz="2400" dirty="0"/>
              <a:t> ("Enter a number: ");</a:t>
            </a:r>
            <a:endParaRPr lang="zh-CN" altLang="en-US" sz="2400" dirty="0"/>
          </a:p>
          <a:p>
            <a:pPr lvl="1" indent="-365125" algn="just">
              <a:spcBef>
                <a:spcPts val="300"/>
              </a:spcBef>
              <a:buFont typeface="Wingdings" charset="0"/>
              <a:buNone/>
              <a:defRPr/>
            </a:pPr>
            <a:r>
              <a:rPr lang="en-US" altLang="zh-CN" sz="2400" dirty="0" err="1"/>
              <a:t>scanf</a:t>
            </a:r>
            <a:r>
              <a:rPr lang="en-US" altLang="zh-CN" sz="2400" dirty="0"/>
              <a:t> ("%d", &amp;number) ;</a:t>
            </a:r>
          </a:p>
          <a:p>
            <a:pPr lvl="1" indent="-365125" algn="just">
              <a:spcBef>
                <a:spcPts val="300"/>
              </a:spcBef>
              <a:buFont typeface="Wingdings" charset="0"/>
              <a:buNone/>
              <a:defRPr/>
            </a:pPr>
            <a:r>
              <a:rPr lang="en-US" altLang="zh-CN" sz="2400" dirty="0"/>
              <a:t>if (number &lt; 0){</a:t>
            </a:r>
          </a:p>
          <a:p>
            <a:pPr lvl="1" indent="-365125" algn="just">
              <a:spcBef>
                <a:spcPts val="300"/>
              </a:spcBef>
              <a:buFont typeface="Wingdings" charset="0"/>
              <a:buNone/>
              <a:defRPr/>
            </a:pPr>
            <a:r>
              <a:rPr lang="en-US" altLang="zh-CN" sz="2400" dirty="0"/>
              <a:t>   </a:t>
            </a:r>
            <a:r>
              <a:rPr lang="zh-CN" altLang="en-US" sz="2400" dirty="0"/>
              <a:t> </a:t>
            </a:r>
            <a:r>
              <a:rPr lang="en-US" altLang="zh-CN" sz="2400" dirty="0"/>
              <a:t>number = -number;</a:t>
            </a:r>
          </a:p>
          <a:p>
            <a:pPr lvl="1" indent="-365125" algn="just">
              <a:spcBef>
                <a:spcPts val="300"/>
              </a:spcBef>
              <a:buFont typeface="Wingdings" charset="0"/>
              <a:buNone/>
              <a:defRPr/>
            </a:pPr>
            <a:r>
              <a:rPr lang="en-US" altLang="zh-CN" sz="2400" dirty="0"/>
              <a:t>} </a:t>
            </a:r>
          </a:p>
          <a:p>
            <a:pPr lvl="1" indent="-365125" algn="just">
              <a:spcBef>
                <a:spcPts val="300"/>
              </a:spcBef>
              <a:buNone/>
              <a:defRPr/>
            </a:pPr>
            <a:r>
              <a:rPr lang="en-US" altLang="zh-CN" sz="2400" dirty="0"/>
              <a:t>count = 0;</a:t>
            </a:r>
          </a:p>
          <a:p>
            <a:pPr lvl="1" indent="-365125" algn="just">
              <a:spcBef>
                <a:spcPts val="300"/>
              </a:spcBef>
              <a:buFont typeface="Wingdings" charset="0"/>
              <a:buNone/>
              <a:defRPr/>
            </a:pPr>
            <a:r>
              <a:rPr lang="en-US" altLang="zh-CN" sz="2400" dirty="0">
                <a:solidFill>
                  <a:srgbClr val="CC0066"/>
                </a:solidFill>
              </a:rPr>
              <a:t>do</a:t>
            </a:r>
            <a:r>
              <a:rPr lang="en-US" altLang="zh-CN" sz="2400" dirty="0"/>
              <a:t> {</a:t>
            </a:r>
            <a:endParaRPr lang="zh-CN" altLang="en-US" sz="2400" dirty="0"/>
          </a:p>
          <a:p>
            <a:pPr lvl="1" indent="-365125" algn="just">
              <a:spcBef>
                <a:spcPts val="300"/>
              </a:spcBef>
              <a:buFont typeface="Wingdings" charset="0"/>
              <a:buNone/>
              <a:defRPr/>
            </a:pPr>
            <a:r>
              <a:rPr lang="zh-CN" altLang="en-US" sz="2400" dirty="0"/>
              <a:t>     </a:t>
            </a:r>
            <a:r>
              <a:rPr lang="en-US" altLang="zh-CN" sz="2400" dirty="0">
                <a:solidFill>
                  <a:srgbClr val="00007D"/>
                </a:solidFill>
              </a:rPr>
              <a:t>number = number / 10; 		</a:t>
            </a:r>
          </a:p>
          <a:p>
            <a:pPr lvl="1" indent="-365125" algn="just">
              <a:spcBef>
                <a:spcPts val="300"/>
              </a:spcBef>
              <a:buFont typeface="Wingdings" charset="0"/>
              <a:buNone/>
              <a:defRPr/>
            </a:pPr>
            <a:r>
              <a:rPr lang="zh-CN" altLang="en-US" sz="2400" dirty="0">
                <a:solidFill>
                  <a:srgbClr val="00007D"/>
                </a:solidFill>
              </a:rPr>
              <a:t>   </a:t>
            </a:r>
            <a:r>
              <a:rPr lang="en-US" altLang="zh-CN" sz="2400" dirty="0">
                <a:solidFill>
                  <a:srgbClr val="00007D"/>
                </a:solidFill>
              </a:rPr>
              <a:t>  count ++;</a:t>
            </a:r>
            <a:r>
              <a:rPr lang="en-US" altLang="zh-CN" sz="2400" dirty="0"/>
              <a:t>	</a:t>
            </a:r>
            <a:endParaRPr lang="zh-CN" altLang="en-US" sz="2400" dirty="0"/>
          </a:p>
          <a:p>
            <a:pPr lvl="1" indent="-365125" algn="just">
              <a:spcBef>
                <a:spcPts val="300"/>
              </a:spcBef>
              <a:buFont typeface="Wingdings" charset="0"/>
              <a:buNone/>
              <a:defRPr/>
            </a:pPr>
            <a:r>
              <a:rPr lang="en-US" altLang="zh-CN" sz="2400" dirty="0"/>
              <a:t>}</a:t>
            </a:r>
            <a:r>
              <a:rPr lang="zh-CN" altLang="en-US" sz="2400" dirty="0"/>
              <a:t> </a:t>
            </a:r>
            <a:r>
              <a:rPr lang="en-US" altLang="zh-CN" sz="2400" dirty="0">
                <a:solidFill>
                  <a:srgbClr val="CC0066"/>
                </a:solidFill>
              </a:rPr>
              <a:t>while (number != 0)</a:t>
            </a:r>
            <a:r>
              <a:rPr lang="en-US" altLang="zh-CN" sz="2400" dirty="0"/>
              <a:t>;</a:t>
            </a:r>
            <a:endParaRPr lang="zh-CN" altLang="en-US" sz="2400" dirty="0"/>
          </a:p>
          <a:p>
            <a:pPr lvl="1" indent="-365125" algn="just">
              <a:spcBef>
                <a:spcPts val="300"/>
              </a:spcBef>
              <a:buFont typeface="Wingdings" charset="0"/>
              <a:buNone/>
              <a:defRPr/>
            </a:pPr>
            <a:r>
              <a:rPr lang="en-US" altLang="zh-CN" sz="2400" dirty="0" err="1"/>
              <a:t>printf</a:t>
            </a:r>
            <a:r>
              <a:rPr lang="en-US" altLang="zh-CN" sz="2400" dirty="0"/>
              <a:t> ("It contains %d digits.\n", count);</a:t>
            </a:r>
          </a:p>
          <a:p>
            <a:pPr marL="187325" indent="-187325" algn="just">
              <a:spcBef>
                <a:spcPts val="300"/>
              </a:spcBef>
              <a:buFont typeface="Wingdings" charset="0"/>
              <a:buNone/>
              <a:defRPr/>
            </a:pPr>
            <a:r>
              <a:rPr lang="en-US" altLang="zh-CN" sz="2400" dirty="0"/>
              <a:t>     return 0;</a:t>
            </a:r>
          </a:p>
          <a:p>
            <a:pPr marL="187325" indent="-187325" algn="just">
              <a:spcBef>
                <a:spcPts val="300"/>
              </a:spcBef>
              <a:buFont typeface="Wingdings" charset="0"/>
              <a:buNone/>
              <a:defRPr/>
            </a:pPr>
            <a:r>
              <a:rPr lang="en-US" altLang="zh-CN" sz="2400" dirty="0"/>
              <a:t>}</a:t>
            </a:r>
            <a:endParaRPr lang="zh-CN" altLang="en-US" sz="2400" dirty="0"/>
          </a:p>
        </p:txBody>
      </p:sp>
      <p:sp>
        <p:nvSpPr>
          <p:cNvPr id="125957" name="Rectangle 5"/>
          <p:cNvSpPr>
            <a:spLocks noGrp="1" noChangeArrowheads="1"/>
          </p:cNvSpPr>
          <p:nvPr>
            <p:ph type="title"/>
          </p:nvPr>
        </p:nvSpPr>
        <p:spPr>
          <a:xfrm>
            <a:off x="3851920" y="337806"/>
            <a:ext cx="4770078" cy="584775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dirty="0"/>
              <a:t>例</a:t>
            </a:r>
            <a:r>
              <a:rPr lang="en-US" altLang="zh-CN" sz="3200" dirty="0"/>
              <a:t>4-3 </a:t>
            </a:r>
            <a:r>
              <a:rPr lang="zh-CN" altLang="en-US" sz="3200" dirty="0"/>
              <a:t>源程序</a:t>
            </a:r>
            <a:r>
              <a:rPr lang="en-US" altLang="zh-CN" sz="3200" dirty="0"/>
              <a:t>1 </a:t>
            </a:r>
            <a:r>
              <a:rPr lang="zh-CN" altLang="en-US" sz="3200" dirty="0"/>
              <a:t>统计位数</a:t>
            </a:r>
          </a:p>
        </p:txBody>
      </p:sp>
      <p:sp>
        <p:nvSpPr>
          <p:cNvPr id="125958" name="Rectangle 6"/>
          <p:cNvSpPr>
            <a:spLocks noChangeArrowheads="1"/>
          </p:cNvSpPr>
          <p:nvPr/>
        </p:nvSpPr>
        <p:spPr bwMode="auto">
          <a:xfrm>
            <a:off x="4948238" y="1124744"/>
            <a:ext cx="3008312" cy="80645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kumimoji="1" lang="en-US" altLang="zh-CN" sz="2000" dirty="0">
                <a:solidFill>
                  <a:schemeClr val="tx1"/>
                </a:solidFill>
                <a:cs typeface="Arial" charset="0"/>
              </a:rPr>
              <a:t>Enter a number: </a:t>
            </a:r>
            <a:r>
              <a:rPr kumimoji="1" lang="en-US" altLang="zh-CN" sz="2000" dirty="0">
                <a:solidFill>
                  <a:srgbClr val="CC0066"/>
                </a:solidFill>
                <a:cs typeface="Arial Unicode MS" charset="0"/>
              </a:rPr>
              <a:t>12534</a:t>
            </a:r>
          </a:p>
          <a:p>
            <a:pPr>
              <a:spcBef>
                <a:spcPct val="30000"/>
              </a:spcBef>
              <a:defRPr/>
            </a:pPr>
            <a:r>
              <a:rPr kumimoji="1" lang="en-US" altLang="zh-CN" sz="2000" dirty="0">
                <a:solidFill>
                  <a:schemeClr val="tx1"/>
                </a:solidFill>
                <a:cs typeface="Arial" charset="0"/>
              </a:rPr>
              <a:t>It contains 5 digits.</a:t>
            </a:r>
          </a:p>
        </p:txBody>
      </p:sp>
      <p:sp>
        <p:nvSpPr>
          <p:cNvPr id="125959" name="Rectangle 7"/>
          <p:cNvSpPr>
            <a:spLocks noChangeArrowheads="1"/>
          </p:cNvSpPr>
          <p:nvPr/>
        </p:nvSpPr>
        <p:spPr bwMode="auto">
          <a:xfrm>
            <a:off x="5493270" y="1988840"/>
            <a:ext cx="2751138" cy="80645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kumimoji="1" lang="en-US" altLang="zh-CN" sz="2000">
                <a:solidFill>
                  <a:schemeClr val="tx1"/>
                </a:solidFill>
                <a:cs typeface="Arial" charset="0"/>
              </a:rPr>
              <a:t>Enter a number: </a:t>
            </a:r>
            <a:r>
              <a:rPr kumimoji="1" lang="en-US" altLang="zh-CN" sz="2000">
                <a:solidFill>
                  <a:srgbClr val="CC0066"/>
                </a:solidFill>
                <a:cs typeface="Arial Unicode MS" charset="0"/>
              </a:rPr>
              <a:t>-99</a:t>
            </a:r>
          </a:p>
          <a:p>
            <a:pPr>
              <a:spcBef>
                <a:spcPct val="30000"/>
              </a:spcBef>
              <a:defRPr/>
            </a:pPr>
            <a:r>
              <a:rPr kumimoji="1" lang="en-US" altLang="zh-CN" sz="2000">
                <a:solidFill>
                  <a:schemeClr val="tx1"/>
                </a:solidFill>
                <a:cs typeface="Arial" charset="0"/>
              </a:rPr>
              <a:t>It contains 2 digits.</a:t>
            </a:r>
          </a:p>
        </p:txBody>
      </p:sp>
      <p:sp>
        <p:nvSpPr>
          <p:cNvPr id="125960" name="Rectangle 8"/>
          <p:cNvSpPr>
            <a:spLocks noChangeArrowheads="1"/>
          </p:cNvSpPr>
          <p:nvPr/>
        </p:nvSpPr>
        <p:spPr bwMode="auto">
          <a:xfrm>
            <a:off x="5868045" y="2838574"/>
            <a:ext cx="2592387" cy="80645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kumimoji="1" lang="en-US" altLang="zh-CN" sz="2000" dirty="0">
                <a:solidFill>
                  <a:schemeClr val="tx1"/>
                </a:solidFill>
                <a:cs typeface="Arial" charset="0"/>
              </a:rPr>
              <a:t>Enter a number: </a:t>
            </a:r>
            <a:r>
              <a:rPr kumimoji="1" lang="en-US" altLang="zh-CN" sz="2000" dirty="0">
                <a:solidFill>
                  <a:srgbClr val="CC0066"/>
                </a:solidFill>
                <a:cs typeface="Arial Unicode MS" charset="0"/>
              </a:rPr>
              <a:t>0</a:t>
            </a:r>
          </a:p>
          <a:p>
            <a:pPr>
              <a:spcBef>
                <a:spcPct val="30000"/>
              </a:spcBef>
              <a:defRPr/>
            </a:pPr>
            <a:r>
              <a:rPr kumimoji="1" lang="en-US" altLang="zh-CN" sz="2000" dirty="0">
                <a:solidFill>
                  <a:schemeClr val="tx1"/>
                </a:solidFill>
                <a:cs typeface="Arial" charset="0"/>
              </a:rPr>
              <a:t>It contains 1 digits.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650182" y="4921883"/>
            <a:ext cx="18466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5294634" y="3784391"/>
            <a:ext cx="3525838" cy="2431435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10000"/>
              </a:spcBef>
              <a:defRPr/>
            </a:pPr>
            <a:r>
              <a:rPr kumimoji="1" lang="en-US" altLang="zh-CN" sz="2000" dirty="0">
                <a:solidFill>
                  <a:schemeClr val="tx1"/>
                </a:solidFill>
              </a:rPr>
              <a:t>count = 0;</a:t>
            </a:r>
          </a:p>
          <a:p>
            <a:pPr>
              <a:spcBef>
                <a:spcPct val="10000"/>
              </a:spcBef>
              <a:defRPr/>
            </a:pPr>
            <a:endParaRPr kumimoji="1" lang="en-US" altLang="zh-CN" sz="2000" dirty="0">
              <a:solidFill>
                <a:schemeClr val="tx1"/>
              </a:solidFill>
            </a:endParaRPr>
          </a:p>
          <a:p>
            <a:pPr>
              <a:spcBef>
                <a:spcPct val="10000"/>
              </a:spcBef>
              <a:defRPr/>
            </a:pPr>
            <a:endParaRPr kumimoji="1" lang="en-US" altLang="zh-CN" sz="2000" dirty="0">
              <a:solidFill>
                <a:schemeClr val="tx1"/>
              </a:solidFill>
            </a:endParaRPr>
          </a:p>
          <a:p>
            <a:pPr>
              <a:spcBef>
                <a:spcPct val="10000"/>
              </a:spcBef>
              <a:defRPr/>
            </a:pPr>
            <a:r>
              <a:rPr kumimoji="1" lang="en-US" altLang="zh-CN" sz="2000" dirty="0">
                <a:solidFill>
                  <a:schemeClr val="tx1"/>
                </a:solidFill>
              </a:rPr>
              <a:t>while (number != 0) {</a:t>
            </a:r>
            <a:endParaRPr kumimoji="1" lang="zh-CN" altLang="en-US" sz="2000" dirty="0">
              <a:solidFill>
                <a:schemeClr val="tx1"/>
              </a:solidFill>
            </a:endParaRPr>
          </a:p>
          <a:p>
            <a:pPr>
              <a:spcBef>
                <a:spcPct val="10000"/>
              </a:spcBef>
              <a:defRPr/>
            </a:pPr>
            <a:r>
              <a:rPr kumimoji="1" lang="zh-CN" altLang="en-US" sz="2000" dirty="0">
                <a:solidFill>
                  <a:schemeClr val="tx1"/>
                </a:solidFill>
              </a:rPr>
              <a:t>      </a:t>
            </a:r>
            <a:r>
              <a:rPr kumimoji="1" lang="en-US" altLang="zh-CN" sz="2000" dirty="0">
                <a:solidFill>
                  <a:schemeClr val="tx1"/>
                </a:solidFill>
              </a:rPr>
              <a:t>number = number / 10;</a:t>
            </a:r>
          </a:p>
          <a:p>
            <a:pPr>
              <a:spcBef>
                <a:spcPct val="10000"/>
              </a:spcBef>
              <a:defRPr/>
            </a:pPr>
            <a:r>
              <a:rPr kumimoji="1" lang="zh-CN" altLang="en-US" sz="2000" dirty="0">
                <a:solidFill>
                  <a:schemeClr val="tx1"/>
                </a:solidFill>
              </a:rPr>
              <a:t>      </a:t>
            </a:r>
            <a:r>
              <a:rPr kumimoji="1" lang="en-US" altLang="zh-CN" sz="2000" dirty="0">
                <a:solidFill>
                  <a:schemeClr val="tx1"/>
                </a:solidFill>
              </a:rPr>
              <a:t>count ++;</a:t>
            </a:r>
          </a:p>
          <a:p>
            <a:pPr>
              <a:spcBef>
                <a:spcPct val="10000"/>
              </a:spcBef>
              <a:defRPr/>
            </a:pPr>
            <a:r>
              <a:rPr kumimoji="1" lang="en-US" altLang="zh-CN" sz="2000" dirty="0">
                <a:solidFill>
                  <a:schemeClr val="tx1"/>
                </a:solidFill>
              </a:rPr>
              <a:t>}</a:t>
            </a:r>
            <a:endParaRPr kumimoji="1"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5292080" y="4130496"/>
            <a:ext cx="219573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10000"/>
              </a:spcBef>
              <a:defRPr/>
            </a:pPr>
            <a:r>
              <a:rPr kumimoji="1" lang="en-US" altLang="zh-CN" sz="2000" dirty="0">
                <a:solidFill>
                  <a:schemeClr val="tx1"/>
                </a:solidFill>
              </a:rPr>
              <a:t>if (number == 0){</a:t>
            </a:r>
          </a:p>
          <a:p>
            <a:pPr>
              <a:spcBef>
                <a:spcPct val="10000"/>
              </a:spcBef>
              <a:defRPr/>
            </a:pPr>
            <a:r>
              <a:rPr kumimoji="1" lang="en-US" altLang="zh-CN" sz="2000" dirty="0">
                <a:solidFill>
                  <a:schemeClr val="tx1"/>
                </a:solidFill>
              </a:rPr>
              <a:t>    count = 1;}</a:t>
            </a:r>
            <a:endParaRPr lang="zh-CN" altLang="en-US" sz="20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59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59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59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59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59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59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8" grpId="0" animBg="1" autoUpdateAnimBg="0"/>
      <p:bldP spid="125959" grpId="0" animBg="1" autoUpdateAnimBg="0"/>
      <p:bldP spid="125960" grpId="0" animBg="1" autoUpdateAnimBg="0"/>
      <p:bldP spid="9" grpId="0" animBg="1" autoUpdateAnimBg="0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404813"/>
            <a:ext cx="6985471" cy="6237287"/>
          </a:xfrm>
        </p:spPr>
        <p:txBody>
          <a:bodyPr/>
          <a:lstStyle/>
          <a:p>
            <a:pPr marL="187325" indent="-187325" algn="just">
              <a:spcBef>
                <a:spcPts val="300"/>
              </a:spcBef>
              <a:buFont typeface="Wingdings" charset="0"/>
              <a:buNone/>
              <a:defRPr/>
            </a:pPr>
            <a:r>
              <a:rPr lang="en-US" altLang="zh-CN" sz="2400" dirty="0" err="1"/>
              <a:t>int</a:t>
            </a:r>
            <a:r>
              <a:rPr lang="en-US" altLang="zh-CN" sz="2400" dirty="0"/>
              <a:t> main</a:t>
            </a:r>
            <a:r>
              <a:rPr lang="zh-CN" altLang="en-US" sz="2400" dirty="0"/>
              <a:t> </a:t>
            </a:r>
            <a:r>
              <a:rPr lang="en-US" altLang="zh-CN" sz="2400" dirty="0"/>
              <a:t>(void)</a:t>
            </a:r>
          </a:p>
          <a:p>
            <a:pPr marL="187325" indent="-187325" algn="just">
              <a:spcBef>
                <a:spcPts val="300"/>
              </a:spcBef>
              <a:buFont typeface="Wingdings" charset="0"/>
              <a:buNone/>
              <a:defRPr/>
            </a:pPr>
            <a:r>
              <a:rPr lang="en-US" altLang="zh-CN" sz="2400" dirty="0"/>
              <a:t>{  int count, number, </a:t>
            </a:r>
            <a:r>
              <a:rPr lang="en-US" altLang="zh-CN" sz="2400" dirty="0" err="1">
                <a:solidFill>
                  <a:srgbClr val="CC0066"/>
                </a:solidFill>
              </a:rPr>
              <a:t>t_number</a:t>
            </a:r>
            <a:r>
              <a:rPr lang="en-US" altLang="zh-CN" sz="2400" dirty="0"/>
              <a:t>;</a:t>
            </a:r>
            <a:endParaRPr lang="zh-CN" altLang="en-US" sz="2400" dirty="0"/>
          </a:p>
          <a:p>
            <a:pPr lvl="1" indent="-365125" algn="just">
              <a:spcBef>
                <a:spcPts val="300"/>
              </a:spcBef>
              <a:buFont typeface="Wingdings" charset="0"/>
              <a:buNone/>
              <a:defRPr/>
            </a:pPr>
            <a:r>
              <a:rPr lang="en-US" altLang="zh-CN" sz="2400" dirty="0" err="1"/>
              <a:t>printf</a:t>
            </a:r>
            <a:r>
              <a:rPr lang="en-US" altLang="zh-CN" sz="2400" dirty="0"/>
              <a:t> ("Enter a number: ");</a:t>
            </a:r>
            <a:endParaRPr lang="zh-CN" altLang="en-US" sz="2400" dirty="0"/>
          </a:p>
          <a:p>
            <a:pPr lvl="1" indent="-365125" algn="just">
              <a:spcBef>
                <a:spcPts val="300"/>
              </a:spcBef>
              <a:buFont typeface="Wingdings" charset="0"/>
              <a:buNone/>
              <a:defRPr/>
            </a:pPr>
            <a:r>
              <a:rPr lang="en-US" altLang="zh-CN" sz="2400" dirty="0" err="1"/>
              <a:t>scanf</a:t>
            </a:r>
            <a:r>
              <a:rPr lang="en-US" altLang="zh-CN" sz="2400" dirty="0"/>
              <a:t> ("%d", &amp;number) ;</a:t>
            </a:r>
          </a:p>
          <a:p>
            <a:pPr lvl="1" indent="-365125" algn="just">
              <a:spcBef>
                <a:spcPts val="300"/>
              </a:spcBef>
              <a:buFont typeface="Wingdings" charset="0"/>
              <a:buNone/>
              <a:defRPr/>
            </a:pPr>
            <a:r>
              <a:rPr lang="en-US" altLang="zh-CN" sz="2400" dirty="0" err="1">
                <a:solidFill>
                  <a:srgbClr val="CC0066"/>
                </a:solidFill>
              </a:rPr>
              <a:t>t_number</a:t>
            </a:r>
            <a:r>
              <a:rPr lang="en-US" altLang="zh-CN" sz="2400" dirty="0"/>
              <a:t> = number;</a:t>
            </a:r>
          </a:p>
          <a:p>
            <a:pPr lvl="1" indent="-365125" algn="just">
              <a:spcBef>
                <a:spcPts val="300"/>
              </a:spcBef>
              <a:buFont typeface="Wingdings" charset="0"/>
              <a:buNone/>
              <a:defRPr/>
            </a:pPr>
            <a:r>
              <a:rPr lang="en-US" altLang="zh-CN" sz="2400" dirty="0"/>
              <a:t>if (</a:t>
            </a:r>
            <a:r>
              <a:rPr lang="en-US" altLang="zh-CN" sz="2400" dirty="0" err="1">
                <a:solidFill>
                  <a:srgbClr val="CC0066"/>
                </a:solidFill>
              </a:rPr>
              <a:t>t_number</a:t>
            </a:r>
            <a:r>
              <a:rPr lang="en-US" altLang="zh-CN" sz="2400" dirty="0"/>
              <a:t> &lt; 0){</a:t>
            </a:r>
          </a:p>
          <a:p>
            <a:pPr lvl="1" indent="-365125" algn="just">
              <a:spcBef>
                <a:spcPts val="300"/>
              </a:spcBef>
              <a:buFont typeface="Wingdings" charset="0"/>
              <a:buNone/>
              <a:defRPr/>
            </a:pPr>
            <a:r>
              <a:rPr lang="en-US" altLang="zh-CN" sz="2400" dirty="0"/>
              <a:t>     </a:t>
            </a:r>
            <a:r>
              <a:rPr lang="en-US" altLang="zh-CN" sz="2400" dirty="0" err="1">
                <a:solidFill>
                  <a:srgbClr val="CC0066"/>
                </a:solidFill>
              </a:rPr>
              <a:t>t_number</a:t>
            </a:r>
            <a:r>
              <a:rPr lang="en-US" altLang="zh-CN" sz="2400" dirty="0"/>
              <a:t> = -</a:t>
            </a:r>
            <a:r>
              <a:rPr lang="en-US" altLang="zh-CN" sz="2400" dirty="0">
                <a:solidFill>
                  <a:srgbClr val="CC0066"/>
                </a:solidFill>
              </a:rPr>
              <a:t> </a:t>
            </a:r>
            <a:r>
              <a:rPr lang="en-US" altLang="zh-CN" sz="2400" dirty="0" err="1">
                <a:solidFill>
                  <a:srgbClr val="CC0066"/>
                </a:solidFill>
              </a:rPr>
              <a:t>t_number</a:t>
            </a:r>
            <a:r>
              <a:rPr lang="en-US" altLang="zh-CN" sz="2400" dirty="0"/>
              <a:t>;</a:t>
            </a:r>
          </a:p>
          <a:p>
            <a:pPr lvl="1" indent="-365125" algn="just">
              <a:spcBef>
                <a:spcPts val="300"/>
              </a:spcBef>
              <a:buFont typeface="Wingdings" charset="0"/>
              <a:buNone/>
              <a:defRPr/>
            </a:pPr>
            <a:r>
              <a:rPr lang="en-US" altLang="zh-CN" sz="2400" dirty="0"/>
              <a:t>} </a:t>
            </a:r>
          </a:p>
          <a:p>
            <a:pPr lvl="1" indent="-365125" algn="just">
              <a:spcBef>
                <a:spcPts val="300"/>
              </a:spcBef>
              <a:buNone/>
              <a:defRPr/>
            </a:pPr>
            <a:r>
              <a:rPr lang="en-US" altLang="zh-CN" sz="2400" dirty="0"/>
              <a:t>count = 0;</a:t>
            </a:r>
          </a:p>
          <a:p>
            <a:pPr lvl="1" indent="-365125" algn="just">
              <a:spcBef>
                <a:spcPts val="300"/>
              </a:spcBef>
              <a:buFont typeface="Wingdings" charset="0"/>
              <a:buNone/>
              <a:defRPr/>
            </a:pPr>
            <a:r>
              <a:rPr lang="en-US" altLang="zh-CN" sz="2400" dirty="0"/>
              <a:t>do {</a:t>
            </a:r>
            <a:endParaRPr lang="zh-CN" altLang="en-US" sz="2400" dirty="0"/>
          </a:p>
          <a:p>
            <a:pPr lvl="1" indent="-365125" algn="just">
              <a:spcBef>
                <a:spcPts val="300"/>
              </a:spcBef>
              <a:buFont typeface="Wingdings" charset="0"/>
              <a:buNone/>
              <a:defRPr/>
            </a:pPr>
            <a:r>
              <a:rPr lang="zh-CN" altLang="en-US" sz="2400" dirty="0"/>
              <a:t>      </a:t>
            </a:r>
            <a:r>
              <a:rPr lang="en-US" altLang="zh-CN" sz="2400" dirty="0" err="1">
                <a:solidFill>
                  <a:srgbClr val="CC0066"/>
                </a:solidFill>
              </a:rPr>
              <a:t>t_number</a:t>
            </a:r>
            <a:r>
              <a:rPr lang="en-US" altLang="zh-CN" sz="2400" dirty="0">
                <a:solidFill>
                  <a:srgbClr val="00007D"/>
                </a:solidFill>
              </a:rPr>
              <a:t> = </a:t>
            </a:r>
            <a:r>
              <a:rPr lang="en-US" altLang="zh-CN" sz="2400" dirty="0" err="1">
                <a:solidFill>
                  <a:srgbClr val="CC0066"/>
                </a:solidFill>
              </a:rPr>
              <a:t>t_number</a:t>
            </a:r>
            <a:r>
              <a:rPr lang="en-US" altLang="zh-CN" sz="2400" dirty="0">
                <a:solidFill>
                  <a:srgbClr val="00007D"/>
                </a:solidFill>
              </a:rPr>
              <a:t> / 10; 		</a:t>
            </a:r>
          </a:p>
          <a:p>
            <a:pPr lvl="1" indent="-365125" algn="just">
              <a:spcBef>
                <a:spcPts val="300"/>
              </a:spcBef>
              <a:buFont typeface="Wingdings" charset="0"/>
              <a:buNone/>
              <a:defRPr/>
            </a:pPr>
            <a:r>
              <a:rPr lang="zh-CN" altLang="en-US" sz="2400" dirty="0">
                <a:solidFill>
                  <a:srgbClr val="00007D"/>
                </a:solidFill>
              </a:rPr>
              <a:t>   </a:t>
            </a:r>
            <a:r>
              <a:rPr lang="en-US" altLang="zh-CN" sz="2400" dirty="0">
                <a:solidFill>
                  <a:srgbClr val="00007D"/>
                </a:solidFill>
              </a:rPr>
              <a:t>   count ++;</a:t>
            </a:r>
            <a:r>
              <a:rPr lang="en-US" altLang="zh-CN" sz="2400" dirty="0"/>
              <a:t>	</a:t>
            </a:r>
            <a:endParaRPr lang="zh-CN" altLang="en-US" sz="2400" dirty="0"/>
          </a:p>
          <a:p>
            <a:pPr lvl="1" indent="-365125" algn="just">
              <a:spcBef>
                <a:spcPts val="300"/>
              </a:spcBef>
              <a:buFont typeface="Wingdings" charset="0"/>
              <a:buNone/>
              <a:defRPr/>
            </a:pPr>
            <a:r>
              <a:rPr lang="en-US" altLang="zh-CN" sz="2400" dirty="0"/>
              <a:t>}</a:t>
            </a:r>
            <a:r>
              <a:rPr lang="zh-CN" altLang="en-US" sz="2400" dirty="0"/>
              <a:t> </a:t>
            </a:r>
            <a:r>
              <a:rPr lang="en-US" altLang="zh-CN" sz="2400" dirty="0"/>
              <a:t>while (</a:t>
            </a:r>
            <a:r>
              <a:rPr lang="en-US" altLang="zh-CN" sz="2400" dirty="0" err="1">
                <a:solidFill>
                  <a:srgbClr val="CC0066"/>
                </a:solidFill>
              </a:rPr>
              <a:t>t_number</a:t>
            </a:r>
            <a:r>
              <a:rPr lang="en-US" altLang="zh-CN" sz="2400" dirty="0"/>
              <a:t> != 0);</a:t>
            </a:r>
            <a:endParaRPr lang="zh-CN" altLang="en-US" sz="2400" dirty="0"/>
          </a:p>
          <a:p>
            <a:pPr lvl="1" indent="-365125" algn="just">
              <a:spcBef>
                <a:spcPts val="300"/>
              </a:spcBef>
              <a:buFont typeface="Wingdings" charset="0"/>
              <a:buNone/>
              <a:defRPr/>
            </a:pPr>
            <a:r>
              <a:rPr lang="en-US" altLang="zh-CN" sz="2400" dirty="0" err="1"/>
              <a:t>printf</a:t>
            </a:r>
            <a:r>
              <a:rPr lang="en-US" altLang="zh-CN" sz="2400" dirty="0"/>
              <a:t> ("It contains %d digits.\n", count);</a:t>
            </a:r>
          </a:p>
          <a:p>
            <a:pPr marL="187325" indent="-187325" algn="just">
              <a:spcBef>
                <a:spcPts val="300"/>
              </a:spcBef>
              <a:buFont typeface="Wingdings" charset="0"/>
              <a:buNone/>
              <a:defRPr/>
            </a:pPr>
            <a:r>
              <a:rPr lang="en-US" altLang="zh-CN" sz="2400" dirty="0"/>
              <a:t>     return 0;</a:t>
            </a:r>
          </a:p>
          <a:p>
            <a:pPr marL="187325" indent="-187325" algn="just">
              <a:spcBef>
                <a:spcPts val="300"/>
              </a:spcBef>
              <a:buFont typeface="Wingdings" charset="0"/>
              <a:buNone/>
              <a:defRPr/>
            </a:pPr>
            <a:r>
              <a:rPr lang="en-US" altLang="zh-CN" sz="2400" dirty="0"/>
              <a:t>}</a:t>
            </a:r>
            <a:endParaRPr lang="zh-CN" altLang="en-US" sz="2400" dirty="0"/>
          </a:p>
        </p:txBody>
      </p:sp>
      <p:sp>
        <p:nvSpPr>
          <p:cNvPr id="125957" name="Rectangle 5"/>
          <p:cNvSpPr>
            <a:spLocks noGrp="1" noChangeArrowheads="1"/>
          </p:cNvSpPr>
          <p:nvPr>
            <p:ph type="title"/>
          </p:nvPr>
        </p:nvSpPr>
        <p:spPr>
          <a:xfrm>
            <a:off x="5796136" y="648055"/>
            <a:ext cx="3242890" cy="584775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hlink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dirty="0"/>
              <a:t>例</a:t>
            </a:r>
            <a:r>
              <a:rPr lang="en-US" altLang="zh-CN" sz="3200" dirty="0"/>
              <a:t>4-3 </a:t>
            </a:r>
            <a:r>
              <a:rPr lang="zh-CN" altLang="en-US" sz="3200" dirty="0" smtClean="0"/>
              <a:t>源程序</a:t>
            </a:r>
            <a:r>
              <a:rPr lang="en-US" altLang="zh-CN" sz="3200" dirty="0" smtClean="0"/>
              <a:t>2</a:t>
            </a:r>
            <a:endParaRPr lang="zh-CN" altLang="en-US" sz="3200" dirty="0"/>
          </a:p>
        </p:txBody>
      </p:sp>
      <p:sp>
        <p:nvSpPr>
          <p:cNvPr id="2" name="文本框 1"/>
          <p:cNvSpPr txBox="1"/>
          <p:nvPr/>
        </p:nvSpPr>
        <p:spPr>
          <a:xfrm>
            <a:off x="6650182" y="4921883"/>
            <a:ext cx="18466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xmlns="" id="{D74E25E9-E0C8-4288-9A4B-2F3B2D2C90F9}"/>
              </a:ext>
            </a:extLst>
          </p:cNvPr>
          <p:cNvSpPr/>
          <p:nvPr/>
        </p:nvSpPr>
        <p:spPr>
          <a:xfrm>
            <a:off x="5940152" y="2060848"/>
            <a:ext cx="2348720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dirty="0"/>
              <a:t>保护输入数据</a:t>
            </a:r>
            <a:endParaRPr lang="en-US" altLang="zh-CN" sz="2800" b="1" dirty="0"/>
          </a:p>
          <a:p>
            <a:r>
              <a:rPr lang="en-US" altLang="zh-CN" sz="2800" b="1" dirty="0"/>
              <a:t>number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152215010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28600"/>
            <a:ext cx="5894388" cy="99060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en-US" altLang="zh-CN" dirty="0"/>
              <a:t>4.2.2 do - while </a:t>
            </a:r>
            <a:r>
              <a:rPr lang="zh-CN" altLang="en-US" dirty="0"/>
              <a:t>语句</a:t>
            </a:r>
            <a:endParaRPr lang="zh-CN" altLang="en-US" dirty="0">
              <a:latin typeface="宋体" charset="0"/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125538"/>
            <a:ext cx="4010025" cy="1828800"/>
          </a:xfrm>
        </p:spPr>
        <p:txBody>
          <a:bodyPr/>
          <a:lstStyle/>
          <a:p>
            <a:pPr algn="just">
              <a:buFont typeface="Wingdings" charset="0"/>
              <a:buNone/>
              <a:defRPr/>
            </a:pPr>
            <a:r>
              <a:rPr lang="en-US" altLang="zh-CN" dirty="0">
                <a:solidFill>
                  <a:srgbClr val="CC0066"/>
                </a:solidFill>
              </a:rPr>
              <a:t>do</a:t>
            </a:r>
            <a:r>
              <a:rPr lang="en-US" altLang="zh-CN" dirty="0"/>
              <a:t> {</a:t>
            </a:r>
          </a:p>
          <a:p>
            <a:pPr algn="just">
              <a:buFont typeface="Wingdings" charset="0"/>
              <a:buNone/>
              <a:defRPr/>
            </a:pPr>
            <a:r>
              <a:rPr lang="en-US" altLang="zh-CN" dirty="0"/>
              <a:t>	</a:t>
            </a:r>
            <a:r>
              <a:rPr lang="zh-CN" altLang="en-US" dirty="0"/>
              <a:t>循环体语句</a:t>
            </a:r>
          </a:p>
          <a:p>
            <a:pPr algn="just">
              <a:lnSpc>
                <a:spcPct val="80000"/>
              </a:lnSpc>
              <a:buFont typeface="Wingdings" charset="0"/>
              <a:buNone/>
              <a:defRPr/>
            </a:pPr>
            <a:r>
              <a:rPr lang="en-US" altLang="zh-CN" dirty="0"/>
              <a:t>} </a:t>
            </a:r>
            <a:r>
              <a:rPr lang="en-US" altLang="zh-CN" dirty="0">
                <a:solidFill>
                  <a:srgbClr val="CC0066"/>
                </a:solidFill>
              </a:rPr>
              <a:t>while </a:t>
            </a:r>
            <a:r>
              <a:rPr lang="en-US" altLang="zh-CN" dirty="0"/>
              <a:t>(</a:t>
            </a:r>
            <a:r>
              <a:rPr lang="zh-CN" altLang="en-US" dirty="0"/>
              <a:t>表达式)</a:t>
            </a:r>
          </a:p>
        </p:txBody>
      </p:sp>
      <p:sp>
        <p:nvSpPr>
          <p:cNvPr id="44054" name="AutoShape 22"/>
          <p:cNvSpPr>
            <a:spLocks noChangeArrowheads="1"/>
          </p:cNvSpPr>
          <p:nvPr/>
        </p:nvSpPr>
        <p:spPr bwMode="auto">
          <a:xfrm>
            <a:off x="7451725" y="1124744"/>
            <a:ext cx="1447800" cy="533400"/>
          </a:xfrm>
          <a:prstGeom prst="wedgeRectCallout">
            <a:avLst>
              <a:gd name="adj1" fmla="val -63708"/>
              <a:gd name="adj2" fmla="val 149403"/>
            </a:avLst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kumimoji="1" lang="zh-CN" altLang="en-US" sz="2400">
                <a:solidFill>
                  <a:schemeClr val="tx1"/>
                </a:solidFill>
                <a:latin typeface="Times New Roman" charset="0"/>
              </a:rPr>
              <a:t>先循环</a:t>
            </a:r>
          </a:p>
        </p:txBody>
      </p:sp>
      <p:sp>
        <p:nvSpPr>
          <p:cNvPr id="44055" name="AutoShape 23"/>
          <p:cNvSpPr>
            <a:spLocks noChangeArrowheads="1"/>
          </p:cNvSpPr>
          <p:nvPr/>
        </p:nvSpPr>
        <p:spPr bwMode="auto">
          <a:xfrm>
            <a:off x="3276600" y="3644106"/>
            <a:ext cx="1447800" cy="533400"/>
          </a:xfrm>
          <a:prstGeom prst="wedgeRectCallout">
            <a:avLst>
              <a:gd name="adj1" fmla="val 116667"/>
              <a:gd name="adj2" fmla="val -106546"/>
            </a:avLst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kumimoji="1" lang="zh-CN" altLang="en-US" sz="2400">
                <a:solidFill>
                  <a:schemeClr val="tx1"/>
                </a:solidFill>
                <a:latin typeface="Times New Roman" charset="0"/>
              </a:rPr>
              <a:t>后判断</a:t>
            </a:r>
          </a:p>
        </p:txBody>
      </p:sp>
      <p:sp>
        <p:nvSpPr>
          <p:cNvPr id="32773" name="Text Box 25"/>
          <p:cNvSpPr txBox="1">
            <a:spLocks noChangeArrowheads="1"/>
          </p:cNvSpPr>
          <p:nvPr/>
        </p:nvSpPr>
        <p:spPr bwMode="auto">
          <a:xfrm>
            <a:off x="6300788" y="3490144"/>
            <a:ext cx="423862" cy="3921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400" b="1">
                <a:solidFill>
                  <a:schemeClr val="hlink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sz="4400" b="1">
                <a:solidFill>
                  <a:schemeClr val="hlink"/>
                </a:solidFill>
                <a:latin typeface="Arial" charset="0"/>
                <a:ea typeface="宋体" charset="0"/>
              </a:defRPr>
            </a:lvl2pPr>
            <a:lvl3pPr marL="1143000" indent="-228600">
              <a:defRPr sz="4400" b="1">
                <a:solidFill>
                  <a:schemeClr val="hlink"/>
                </a:solidFill>
                <a:latin typeface="Arial" charset="0"/>
                <a:ea typeface="宋体" charset="0"/>
              </a:defRPr>
            </a:lvl3pPr>
            <a:lvl4pPr marL="1600200" indent="-228600">
              <a:defRPr sz="4400" b="1">
                <a:solidFill>
                  <a:schemeClr val="hlink"/>
                </a:solidFill>
                <a:latin typeface="Arial" charset="0"/>
                <a:ea typeface="宋体" charset="0"/>
              </a:defRPr>
            </a:lvl4pPr>
            <a:lvl5pPr marL="2057400" indent="-228600">
              <a:defRPr sz="4400" b="1">
                <a:solidFill>
                  <a:schemeClr val="hlink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charset="0"/>
                <a:ea typeface="宋体" charset="0"/>
              </a:defRPr>
            </a:lvl9pPr>
          </a:lstStyle>
          <a:p>
            <a:pPr algn="ctr" eaLnBrk="0" hangingPunct="0"/>
            <a:r>
              <a:rPr lang="zh-CN" altLang="en-US" sz="2000">
                <a:solidFill>
                  <a:schemeClr val="tx1"/>
                </a:solidFill>
              </a:rPr>
              <a:t>真</a:t>
            </a:r>
          </a:p>
        </p:txBody>
      </p:sp>
      <p:sp>
        <p:nvSpPr>
          <p:cNvPr id="32774" name="Text Box 26"/>
          <p:cNvSpPr txBox="1">
            <a:spLocks noChangeArrowheads="1"/>
          </p:cNvSpPr>
          <p:nvPr/>
        </p:nvSpPr>
        <p:spPr bwMode="auto">
          <a:xfrm>
            <a:off x="7519988" y="2809106"/>
            <a:ext cx="581025" cy="3937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400" b="1">
                <a:solidFill>
                  <a:schemeClr val="hlink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sz="4400" b="1">
                <a:solidFill>
                  <a:schemeClr val="hlink"/>
                </a:solidFill>
                <a:latin typeface="Arial" charset="0"/>
                <a:ea typeface="宋体" charset="0"/>
              </a:defRPr>
            </a:lvl2pPr>
            <a:lvl3pPr marL="1143000" indent="-228600">
              <a:defRPr sz="4400" b="1">
                <a:solidFill>
                  <a:schemeClr val="hlink"/>
                </a:solidFill>
                <a:latin typeface="Arial" charset="0"/>
                <a:ea typeface="宋体" charset="0"/>
              </a:defRPr>
            </a:lvl3pPr>
            <a:lvl4pPr marL="1600200" indent="-228600">
              <a:defRPr sz="4400" b="1">
                <a:solidFill>
                  <a:schemeClr val="hlink"/>
                </a:solidFill>
                <a:latin typeface="Arial" charset="0"/>
                <a:ea typeface="宋体" charset="0"/>
              </a:defRPr>
            </a:lvl4pPr>
            <a:lvl5pPr marL="2057400" indent="-228600">
              <a:defRPr sz="4400" b="1">
                <a:solidFill>
                  <a:schemeClr val="hlink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charset="0"/>
                <a:ea typeface="宋体" charset="0"/>
              </a:defRPr>
            </a:lvl9pPr>
          </a:lstStyle>
          <a:p>
            <a:pPr algn="ctr" eaLnBrk="0" hangingPunct="0"/>
            <a:r>
              <a:rPr lang="zh-CN" altLang="en-US" sz="2000">
                <a:solidFill>
                  <a:schemeClr val="tx1"/>
                </a:solidFill>
              </a:rPr>
              <a:t>假</a:t>
            </a:r>
          </a:p>
        </p:txBody>
      </p:sp>
      <p:sp>
        <p:nvSpPr>
          <p:cNvPr id="32775" name="AutoShape 27"/>
          <p:cNvSpPr>
            <a:spLocks noChangeArrowheads="1"/>
          </p:cNvSpPr>
          <p:nvPr/>
        </p:nvSpPr>
        <p:spPr bwMode="auto">
          <a:xfrm>
            <a:off x="5651500" y="2926581"/>
            <a:ext cx="2235200" cy="604838"/>
          </a:xfrm>
          <a:prstGeom prst="flowChartDecision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zh-CN" altLang="en-US" sz="2000">
                <a:solidFill>
                  <a:schemeClr val="tx1"/>
                </a:solidFill>
              </a:rPr>
              <a:t>表达式</a:t>
            </a:r>
          </a:p>
        </p:txBody>
      </p:sp>
      <p:sp>
        <p:nvSpPr>
          <p:cNvPr id="44060" name="Rectangle 28"/>
          <p:cNvSpPr>
            <a:spLocks noChangeArrowheads="1"/>
          </p:cNvSpPr>
          <p:nvPr/>
        </p:nvSpPr>
        <p:spPr bwMode="auto">
          <a:xfrm>
            <a:off x="5867400" y="2312219"/>
            <a:ext cx="1728788" cy="3905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hangingPunct="0">
              <a:defRPr/>
            </a:pPr>
            <a:r>
              <a:rPr lang="zh-CN" altLang="en-US" sz="2000" dirty="0">
                <a:solidFill>
                  <a:schemeClr val="tx1"/>
                </a:solidFill>
              </a:rPr>
              <a:t>循环体语句</a:t>
            </a:r>
          </a:p>
        </p:txBody>
      </p:sp>
      <p:sp>
        <p:nvSpPr>
          <p:cNvPr id="32777" name="Line 29"/>
          <p:cNvSpPr>
            <a:spLocks noChangeShapeType="1"/>
          </p:cNvSpPr>
          <p:nvPr/>
        </p:nvSpPr>
        <p:spPr bwMode="auto">
          <a:xfrm>
            <a:off x="6748463" y="2709094"/>
            <a:ext cx="1587" cy="257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8" name="Line 30"/>
          <p:cNvSpPr>
            <a:spLocks noChangeShapeType="1"/>
          </p:cNvSpPr>
          <p:nvPr/>
        </p:nvSpPr>
        <p:spPr bwMode="auto">
          <a:xfrm>
            <a:off x="6748463" y="3531419"/>
            <a:ext cx="0" cy="4524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9" name="Line 31"/>
          <p:cNvSpPr>
            <a:spLocks noChangeShapeType="1"/>
          </p:cNvSpPr>
          <p:nvPr/>
        </p:nvSpPr>
        <p:spPr bwMode="auto">
          <a:xfrm>
            <a:off x="6732588" y="1872481"/>
            <a:ext cx="0" cy="4524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0" name="Line 32"/>
          <p:cNvSpPr>
            <a:spLocks noChangeShapeType="1"/>
          </p:cNvSpPr>
          <p:nvPr/>
        </p:nvSpPr>
        <p:spPr bwMode="auto">
          <a:xfrm>
            <a:off x="5148263" y="3983856"/>
            <a:ext cx="1600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1" name="Line 33"/>
          <p:cNvSpPr>
            <a:spLocks noChangeShapeType="1"/>
          </p:cNvSpPr>
          <p:nvPr/>
        </p:nvSpPr>
        <p:spPr bwMode="auto">
          <a:xfrm flipV="1">
            <a:off x="5148263" y="2109019"/>
            <a:ext cx="0" cy="18653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2" name="Line 34"/>
          <p:cNvSpPr>
            <a:spLocks noChangeShapeType="1"/>
          </p:cNvSpPr>
          <p:nvPr/>
        </p:nvSpPr>
        <p:spPr bwMode="auto">
          <a:xfrm>
            <a:off x="5148263" y="2089944"/>
            <a:ext cx="1600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3" name="Line 35"/>
          <p:cNvSpPr>
            <a:spLocks noChangeShapeType="1"/>
          </p:cNvSpPr>
          <p:nvPr/>
        </p:nvSpPr>
        <p:spPr bwMode="auto">
          <a:xfrm flipV="1">
            <a:off x="7740650" y="3228206"/>
            <a:ext cx="608013" cy="127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4" name="Line 36"/>
          <p:cNvSpPr>
            <a:spLocks noChangeShapeType="1"/>
          </p:cNvSpPr>
          <p:nvPr/>
        </p:nvSpPr>
        <p:spPr bwMode="auto">
          <a:xfrm>
            <a:off x="8348663" y="3228206"/>
            <a:ext cx="0" cy="9064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5" name="Line 37"/>
          <p:cNvSpPr>
            <a:spLocks noChangeShapeType="1"/>
          </p:cNvSpPr>
          <p:nvPr/>
        </p:nvSpPr>
        <p:spPr bwMode="auto">
          <a:xfrm>
            <a:off x="6748463" y="4134669"/>
            <a:ext cx="1600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6" name="Line 38"/>
          <p:cNvSpPr>
            <a:spLocks noChangeShapeType="1"/>
          </p:cNvSpPr>
          <p:nvPr/>
        </p:nvSpPr>
        <p:spPr bwMode="auto">
          <a:xfrm flipH="1">
            <a:off x="6732588" y="4134669"/>
            <a:ext cx="15875" cy="4032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71" name="Rectangle 39"/>
          <p:cNvSpPr>
            <a:spLocks noChangeArrowheads="1"/>
          </p:cNvSpPr>
          <p:nvPr/>
        </p:nvSpPr>
        <p:spPr bwMode="auto">
          <a:xfrm>
            <a:off x="5292725" y="4536306"/>
            <a:ext cx="2881313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hangingPunct="0">
              <a:defRPr/>
            </a:pPr>
            <a:r>
              <a:rPr lang="en-US" altLang="zh-CN" sz="2000">
                <a:solidFill>
                  <a:schemeClr val="tx1"/>
                </a:solidFill>
              </a:rPr>
              <a:t>do-while</a:t>
            </a:r>
            <a:r>
              <a:rPr lang="zh-CN" altLang="en-US" sz="2000">
                <a:solidFill>
                  <a:schemeClr val="tx1"/>
                </a:solidFill>
              </a:rPr>
              <a:t>的下一条语句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54" grpId="0" animBg="1" autoUpdateAnimBg="0"/>
      <p:bldP spid="44055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762000" y="1143000"/>
            <a:ext cx="7543800" cy="1600200"/>
          </a:xfrm>
        </p:spPr>
        <p:txBody>
          <a:bodyPr/>
          <a:lstStyle/>
          <a:p>
            <a:pPr algn="just">
              <a:defRPr/>
            </a:pPr>
            <a:r>
              <a:rPr lang="en-US" altLang="zh-CN" sz="2800" dirty="0"/>
              <a:t>while:</a:t>
            </a:r>
            <a:r>
              <a:rPr lang="en-US" altLang="zh-CN" sz="2800" dirty="0">
                <a:latin typeface="宋体" charset="0"/>
              </a:rPr>
              <a:t> </a:t>
            </a:r>
            <a:r>
              <a:rPr lang="zh-CN" altLang="en-US" sz="2800" dirty="0">
                <a:latin typeface="宋体" charset="0"/>
              </a:rPr>
              <a:t>先判别条件，再决定是否循环；</a:t>
            </a:r>
          </a:p>
          <a:p>
            <a:pPr algn="just">
              <a:defRPr/>
            </a:pPr>
            <a:r>
              <a:rPr lang="en-US" altLang="zh-CN" sz="2800" dirty="0"/>
              <a:t>do-while</a:t>
            </a:r>
            <a:r>
              <a:rPr lang="en-US" altLang="zh-CN" sz="2800" dirty="0">
                <a:latin typeface="宋体" charset="0"/>
              </a:rPr>
              <a:t>:</a:t>
            </a:r>
            <a:r>
              <a:rPr lang="zh-CN" altLang="en-US" sz="2800" dirty="0">
                <a:latin typeface="宋体" charset="0"/>
              </a:rPr>
              <a:t>先至少循环一次，然后再根据条件决定是否继续循环。</a:t>
            </a:r>
          </a:p>
        </p:txBody>
      </p:sp>
      <p:sp>
        <p:nvSpPr>
          <p:cNvPr id="108561" name="Rectangle 17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7067550" cy="639763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en-US" altLang="zh-CN"/>
              <a:t>while </a:t>
            </a:r>
            <a:r>
              <a:rPr lang="zh-CN" altLang="en-US"/>
              <a:t>和 </a:t>
            </a:r>
            <a:r>
              <a:rPr lang="en-US" altLang="zh-CN"/>
              <a:t>do-while </a:t>
            </a:r>
            <a:r>
              <a:rPr lang="zh-CN" altLang="en-US"/>
              <a:t>的比较</a:t>
            </a:r>
          </a:p>
        </p:txBody>
      </p:sp>
      <p:grpSp>
        <p:nvGrpSpPr>
          <p:cNvPr id="33795" name="Group 19"/>
          <p:cNvGrpSpPr>
            <a:grpSpLocks/>
          </p:cNvGrpSpPr>
          <p:nvPr/>
        </p:nvGrpSpPr>
        <p:grpSpPr bwMode="auto">
          <a:xfrm>
            <a:off x="990600" y="2819400"/>
            <a:ext cx="3200400" cy="2895600"/>
            <a:chOff x="1977" y="4866"/>
            <a:chExt cx="3960" cy="2993"/>
          </a:xfrm>
        </p:grpSpPr>
        <p:sp>
          <p:nvSpPr>
            <p:cNvPr id="33807" name="Text Box 20"/>
            <p:cNvSpPr txBox="1">
              <a:spLocks noChangeArrowheads="1"/>
            </p:cNvSpPr>
            <p:nvPr/>
          </p:nvSpPr>
          <p:spPr bwMode="auto">
            <a:xfrm>
              <a:off x="3590" y="6538"/>
              <a:ext cx="525" cy="4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 eaLnBrk="0" hangingPunct="0"/>
              <a:r>
                <a:rPr lang="zh-CN" altLang="en-US" sz="1400">
                  <a:solidFill>
                    <a:schemeClr val="tx1"/>
                  </a:solidFill>
                </a:rPr>
                <a:t>真</a:t>
              </a:r>
            </a:p>
          </p:txBody>
        </p:sp>
        <p:sp>
          <p:nvSpPr>
            <p:cNvPr id="33808" name="Text Box 21"/>
            <p:cNvSpPr txBox="1">
              <a:spLocks noChangeArrowheads="1"/>
            </p:cNvSpPr>
            <p:nvPr/>
          </p:nvSpPr>
          <p:spPr bwMode="auto">
            <a:xfrm>
              <a:off x="4860" y="5964"/>
              <a:ext cx="720" cy="4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 eaLnBrk="0" hangingPunct="0"/>
              <a:r>
                <a:rPr lang="zh-CN" altLang="en-US" sz="1400">
                  <a:solidFill>
                    <a:schemeClr val="tx1"/>
                  </a:solidFill>
                </a:rPr>
                <a:t>假</a:t>
              </a:r>
            </a:p>
          </p:txBody>
        </p:sp>
        <p:sp>
          <p:nvSpPr>
            <p:cNvPr id="33809" name="AutoShape 22"/>
            <p:cNvSpPr>
              <a:spLocks noChangeArrowheads="1"/>
            </p:cNvSpPr>
            <p:nvPr/>
          </p:nvSpPr>
          <p:spPr bwMode="auto">
            <a:xfrm>
              <a:off x="2865" y="5956"/>
              <a:ext cx="2172" cy="624"/>
            </a:xfrm>
            <a:prstGeom prst="flowChartDecis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hangingPunct="0"/>
              <a:r>
                <a:rPr lang="zh-CN" altLang="en-US" sz="1600">
                  <a:solidFill>
                    <a:schemeClr val="tx1"/>
                  </a:solidFill>
                </a:rPr>
                <a:t>表达式</a:t>
              </a:r>
            </a:p>
          </p:txBody>
        </p:sp>
        <p:sp>
          <p:nvSpPr>
            <p:cNvPr id="108567" name="Rectangle 23"/>
            <p:cNvSpPr>
              <a:spLocks noChangeArrowheads="1"/>
            </p:cNvSpPr>
            <p:nvPr/>
          </p:nvSpPr>
          <p:spPr bwMode="auto">
            <a:xfrm>
              <a:off x="3271" y="5321"/>
              <a:ext cx="1395" cy="4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hangingPunct="0">
                <a:defRPr/>
              </a:pPr>
              <a:r>
                <a:rPr lang="zh-CN" altLang="en-US" sz="1400">
                  <a:solidFill>
                    <a:schemeClr val="tx1"/>
                  </a:solidFill>
                </a:rPr>
                <a:t>循环体语句</a:t>
              </a:r>
            </a:p>
          </p:txBody>
        </p:sp>
        <p:sp>
          <p:nvSpPr>
            <p:cNvPr id="33811" name="Line 24"/>
            <p:cNvSpPr>
              <a:spLocks noChangeShapeType="1"/>
            </p:cNvSpPr>
            <p:nvPr/>
          </p:nvSpPr>
          <p:spPr bwMode="auto">
            <a:xfrm>
              <a:off x="3957" y="5730"/>
              <a:ext cx="1" cy="2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2" name="Line 25"/>
            <p:cNvSpPr>
              <a:spLocks noChangeShapeType="1"/>
            </p:cNvSpPr>
            <p:nvPr/>
          </p:nvSpPr>
          <p:spPr bwMode="auto">
            <a:xfrm>
              <a:off x="3957" y="6580"/>
              <a:ext cx="0" cy="4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3" name="Line 26"/>
            <p:cNvSpPr>
              <a:spLocks noChangeShapeType="1"/>
            </p:cNvSpPr>
            <p:nvPr/>
          </p:nvSpPr>
          <p:spPr bwMode="auto">
            <a:xfrm>
              <a:off x="3937" y="4866"/>
              <a:ext cx="0" cy="4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4" name="Line 27"/>
            <p:cNvSpPr>
              <a:spLocks noChangeShapeType="1"/>
            </p:cNvSpPr>
            <p:nvPr/>
          </p:nvSpPr>
          <p:spPr bwMode="auto">
            <a:xfrm>
              <a:off x="1977" y="7048"/>
              <a:ext cx="19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5" name="Line 28"/>
            <p:cNvSpPr>
              <a:spLocks noChangeShapeType="1"/>
            </p:cNvSpPr>
            <p:nvPr/>
          </p:nvSpPr>
          <p:spPr bwMode="auto">
            <a:xfrm flipV="1">
              <a:off x="1977" y="5110"/>
              <a:ext cx="0" cy="19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6" name="Line 29"/>
            <p:cNvSpPr>
              <a:spLocks noChangeShapeType="1"/>
            </p:cNvSpPr>
            <p:nvPr/>
          </p:nvSpPr>
          <p:spPr bwMode="auto">
            <a:xfrm>
              <a:off x="1977" y="5120"/>
              <a:ext cx="19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7" name="Line 30"/>
            <p:cNvSpPr>
              <a:spLocks noChangeShapeType="1"/>
            </p:cNvSpPr>
            <p:nvPr/>
          </p:nvSpPr>
          <p:spPr bwMode="auto">
            <a:xfrm>
              <a:off x="5037" y="6268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8" name="Line 31"/>
            <p:cNvSpPr>
              <a:spLocks noChangeShapeType="1"/>
            </p:cNvSpPr>
            <p:nvPr/>
          </p:nvSpPr>
          <p:spPr bwMode="auto">
            <a:xfrm>
              <a:off x="5937" y="6268"/>
              <a:ext cx="0" cy="9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9" name="Line 32"/>
            <p:cNvSpPr>
              <a:spLocks noChangeShapeType="1"/>
            </p:cNvSpPr>
            <p:nvPr/>
          </p:nvSpPr>
          <p:spPr bwMode="auto">
            <a:xfrm>
              <a:off x="3957" y="7204"/>
              <a:ext cx="19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0" name="Line 33"/>
            <p:cNvSpPr>
              <a:spLocks noChangeShapeType="1"/>
            </p:cNvSpPr>
            <p:nvPr/>
          </p:nvSpPr>
          <p:spPr bwMode="auto">
            <a:xfrm>
              <a:off x="3957" y="7204"/>
              <a:ext cx="2" cy="3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578" name="Rectangle 34"/>
            <p:cNvSpPr>
              <a:spLocks noChangeArrowheads="1"/>
            </p:cNvSpPr>
            <p:nvPr/>
          </p:nvSpPr>
          <p:spPr bwMode="auto">
            <a:xfrm>
              <a:off x="2698" y="7485"/>
              <a:ext cx="2518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hangingPunct="0">
                <a:defRPr/>
              </a:pPr>
              <a:r>
                <a:rPr lang="en-US" altLang="zh-CN" sz="1200">
                  <a:solidFill>
                    <a:schemeClr val="tx1"/>
                  </a:solidFill>
                </a:rPr>
                <a:t>do-while</a:t>
              </a:r>
              <a:r>
                <a:rPr lang="zh-CN" altLang="en-US" sz="1200">
                  <a:solidFill>
                    <a:schemeClr val="tx1"/>
                  </a:solidFill>
                </a:rPr>
                <a:t>的下一条语句</a:t>
              </a:r>
            </a:p>
          </p:txBody>
        </p:sp>
      </p:grpSp>
      <p:grpSp>
        <p:nvGrpSpPr>
          <p:cNvPr id="33796" name="Group 47"/>
          <p:cNvGrpSpPr>
            <a:grpSpLocks/>
          </p:cNvGrpSpPr>
          <p:nvPr/>
        </p:nvGrpSpPr>
        <p:grpSpPr bwMode="auto">
          <a:xfrm>
            <a:off x="5181600" y="2819400"/>
            <a:ext cx="2743200" cy="2895600"/>
            <a:chOff x="3264" y="1776"/>
            <a:chExt cx="1728" cy="1824"/>
          </a:xfrm>
        </p:grpSpPr>
        <p:sp>
          <p:nvSpPr>
            <p:cNvPr id="33797" name="Text Box 36"/>
            <p:cNvSpPr txBox="1">
              <a:spLocks noChangeArrowheads="1"/>
            </p:cNvSpPr>
            <p:nvPr/>
          </p:nvSpPr>
          <p:spPr bwMode="auto">
            <a:xfrm>
              <a:off x="3832" y="2338"/>
              <a:ext cx="676" cy="2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 eaLnBrk="0" hangingPunct="0"/>
              <a:r>
                <a:rPr lang="zh-CN" altLang="en-US" sz="1600">
                  <a:solidFill>
                    <a:schemeClr val="tx1"/>
                  </a:solidFill>
                  <a:latin typeface="Times New Roman" charset="0"/>
                </a:rPr>
                <a:t>真</a:t>
              </a:r>
            </a:p>
          </p:txBody>
        </p:sp>
        <p:sp>
          <p:nvSpPr>
            <p:cNvPr id="33798" name="Text Box 37"/>
            <p:cNvSpPr txBox="1">
              <a:spLocks noChangeArrowheads="1"/>
            </p:cNvSpPr>
            <p:nvPr/>
          </p:nvSpPr>
          <p:spPr bwMode="auto">
            <a:xfrm>
              <a:off x="4420" y="1973"/>
              <a:ext cx="572" cy="23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 eaLnBrk="0" hangingPunct="0"/>
              <a:r>
                <a:rPr lang="zh-CN" altLang="en-US" sz="1600">
                  <a:solidFill>
                    <a:schemeClr val="tx1"/>
                  </a:solidFill>
                  <a:latin typeface="Times New Roman" charset="0"/>
                </a:rPr>
                <a:t>假</a:t>
              </a:r>
            </a:p>
          </p:txBody>
        </p:sp>
        <p:sp>
          <p:nvSpPr>
            <p:cNvPr id="33799" name="Line 38"/>
            <p:cNvSpPr>
              <a:spLocks noChangeShapeType="1"/>
            </p:cNvSpPr>
            <p:nvPr/>
          </p:nvSpPr>
          <p:spPr bwMode="auto">
            <a:xfrm>
              <a:off x="4041" y="2359"/>
              <a:ext cx="0" cy="1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3800" name="Group 46"/>
            <p:cNvGrpSpPr>
              <a:grpSpLocks/>
            </p:cNvGrpSpPr>
            <p:nvPr/>
          </p:nvGrpSpPr>
          <p:grpSpPr bwMode="auto">
            <a:xfrm>
              <a:off x="3264" y="1776"/>
              <a:ext cx="1681" cy="1824"/>
              <a:chOff x="3264" y="1776"/>
              <a:chExt cx="1681" cy="1824"/>
            </a:xfrm>
          </p:grpSpPr>
          <p:sp>
            <p:nvSpPr>
              <p:cNvPr id="33801" name="Text Box 40"/>
              <p:cNvSpPr txBox="1">
                <a:spLocks noChangeArrowheads="1"/>
              </p:cNvSpPr>
              <p:nvPr/>
            </p:nvSpPr>
            <p:spPr bwMode="auto">
              <a:xfrm>
                <a:off x="3424" y="3361"/>
                <a:ext cx="1319" cy="23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  <a:cs typeface="宋体" charset="0"/>
                  </a:defRPr>
                </a:lvl1pPr>
                <a:lvl2pPr marL="742950" indent="-285750"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algn="ctr" eaLnBrk="0" hangingPunct="0"/>
                <a:r>
                  <a:rPr lang="en-US" altLang="zh-CN" sz="1600">
                    <a:solidFill>
                      <a:schemeClr val="tx1"/>
                    </a:solidFill>
                    <a:latin typeface="Times New Roman" charset="0"/>
                  </a:rPr>
                  <a:t>while</a:t>
                </a:r>
                <a:r>
                  <a:rPr lang="zh-CN" altLang="en-US" sz="1600">
                    <a:solidFill>
                      <a:schemeClr val="tx1"/>
                    </a:solidFill>
                    <a:latin typeface="Times New Roman" charset="0"/>
                  </a:rPr>
                  <a:t>的下一条语句</a:t>
                </a:r>
              </a:p>
            </p:txBody>
          </p:sp>
          <p:sp>
            <p:nvSpPr>
              <p:cNvPr id="33802" name="Line 41"/>
              <p:cNvSpPr>
                <a:spLocks noChangeShapeType="1"/>
              </p:cNvSpPr>
              <p:nvPr/>
            </p:nvSpPr>
            <p:spPr bwMode="auto">
              <a:xfrm>
                <a:off x="4041" y="1776"/>
                <a:ext cx="0" cy="19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03" name="AutoShape 42"/>
              <p:cNvSpPr>
                <a:spLocks noChangeArrowheads="1"/>
              </p:cNvSpPr>
              <p:nvPr/>
            </p:nvSpPr>
            <p:spPr bwMode="auto">
              <a:xfrm>
                <a:off x="3475" y="1969"/>
                <a:ext cx="1135" cy="391"/>
              </a:xfrm>
              <a:prstGeom prst="flowChartDecision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hangingPunct="0"/>
                <a:r>
                  <a:rPr lang="zh-CN" altLang="en-US" sz="1600">
                    <a:solidFill>
                      <a:schemeClr val="tx1"/>
                    </a:solidFill>
                    <a:latin typeface="Times New Roman" charset="0"/>
                  </a:rPr>
                  <a:t>表达式</a:t>
                </a:r>
              </a:p>
            </p:txBody>
          </p:sp>
          <p:sp>
            <p:nvSpPr>
              <p:cNvPr id="108587" name="Rectangle 43"/>
              <p:cNvSpPr>
                <a:spLocks noChangeArrowheads="1"/>
              </p:cNvSpPr>
              <p:nvPr/>
            </p:nvSpPr>
            <p:spPr bwMode="auto">
              <a:xfrm>
                <a:off x="3627" y="2528"/>
                <a:ext cx="835" cy="23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eaLnBrk="0" hangingPunct="0">
                  <a:defRPr/>
                </a:pPr>
                <a:r>
                  <a:rPr lang="zh-CN" altLang="en-US" sz="1600">
                    <a:solidFill>
                      <a:schemeClr val="tx1"/>
                    </a:solidFill>
                    <a:latin typeface="Times New Roman" charset="0"/>
                  </a:rPr>
                  <a:t>循环体语句</a:t>
                </a:r>
              </a:p>
            </p:txBody>
          </p:sp>
          <p:sp>
            <p:nvSpPr>
              <p:cNvPr id="108588" name="Freeform 44"/>
              <p:cNvSpPr>
                <a:spLocks/>
              </p:cNvSpPr>
              <p:nvPr/>
            </p:nvSpPr>
            <p:spPr bwMode="auto">
              <a:xfrm>
                <a:off x="4091" y="2168"/>
                <a:ext cx="854" cy="1192"/>
              </a:xfrm>
              <a:custGeom>
                <a:avLst/>
                <a:gdLst>
                  <a:gd name="T0" fmla="*/ 840 w 1365"/>
                  <a:gd name="T1" fmla="*/ 0 h 2028"/>
                  <a:gd name="T2" fmla="*/ 1365 w 1365"/>
                  <a:gd name="T3" fmla="*/ 0 h 2028"/>
                  <a:gd name="T4" fmla="*/ 1365 w 1365"/>
                  <a:gd name="T5" fmla="*/ 1560 h 2028"/>
                  <a:gd name="T6" fmla="*/ 0 w 1365"/>
                  <a:gd name="T7" fmla="*/ 1560 h 2028"/>
                  <a:gd name="T8" fmla="*/ 0 w 1365"/>
                  <a:gd name="T9" fmla="*/ 2028 h 20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5" h="2028">
                    <a:moveTo>
                      <a:pt x="840" y="0"/>
                    </a:moveTo>
                    <a:lnTo>
                      <a:pt x="1365" y="0"/>
                    </a:lnTo>
                    <a:lnTo>
                      <a:pt x="1365" y="1560"/>
                    </a:lnTo>
                    <a:lnTo>
                      <a:pt x="0" y="1560"/>
                    </a:lnTo>
                    <a:lnTo>
                      <a:pt x="0" y="2028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08589" name="Freeform 45"/>
              <p:cNvSpPr>
                <a:spLocks/>
              </p:cNvSpPr>
              <p:nvPr/>
            </p:nvSpPr>
            <p:spPr bwMode="auto">
              <a:xfrm>
                <a:off x="3264" y="1930"/>
                <a:ext cx="788" cy="1141"/>
              </a:xfrm>
              <a:custGeom>
                <a:avLst/>
                <a:gdLst>
                  <a:gd name="T0" fmla="*/ 1260 w 1260"/>
                  <a:gd name="T1" fmla="*/ 1248 h 1716"/>
                  <a:gd name="T2" fmla="*/ 1260 w 1260"/>
                  <a:gd name="T3" fmla="*/ 1716 h 1716"/>
                  <a:gd name="T4" fmla="*/ 0 w 1260"/>
                  <a:gd name="T5" fmla="*/ 1716 h 1716"/>
                  <a:gd name="T6" fmla="*/ 0 w 1260"/>
                  <a:gd name="T7" fmla="*/ 0 h 1716"/>
                  <a:gd name="T8" fmla="*/ 1155 w 1260"/>
                  <a:gd name="T9" fmla="*/ 0 h 17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60" h="1716">
                    <a:moveTo>
                      <a:pt x="1260" y="1248"/>
                    </a:moveTo>
                    <a:lnTo>
                      <a:pt x="1260" y="1716"/>
                    </a:lnTo>
                    <a:lnTo>
                      <a:pt x="0" y="1716"/>
                    </a:lnTo>
                    <a:lnTo>
                      <a:pt x="0" y="0"/>
                    </a:lnTo>
                    <a:lnTo>
                      <a:pt x="1155" y="0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85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85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8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36839"/>
            <a:ext cx="8534400" cy="60960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zh-CN" altLang="en-US" sz="3600" dirty="0"/>
              <a:t>例</a:t>
            </a:r>
            <a:r>
              <a:rPr lang="en-US" altLang="zh-CN" sz="3600" dirty="0"/>
              <a:t>4</a:t>
            </a:r>
            <a:r>
              <a:rPr lang="zh-CN" altLang="en-US" sz="3600" dirty="0"/>
              <a:t>-</a:t>
            </a:r>
            <a:r>
              <a:rPr lang="en-US" altLang="zh-CN" sz="3600" dirty="0"/>
              <a:t>4  </a:t>
            </a:r>
            <a:r>
              <a:rPr lang="zh-CN" altLang="en-US" sz="3600" dirty="0"/>
              <a:t>将一个整数逆序输出</a:t>
            </a:r>
            <a:endParaRPr lang="zh-CN" altLang="en-US" dirty="0"/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6553200" cy="533400"/>
          </a:xfrm>
        </p:spPr>
        <p:txBody>
          <a:bodyPr/>
          <a:lstStyle/>
          <a:p>
            <a:pPr algn="just">
              <a:buFont typeface="Wingdings" charset="0"/>
              <a:buNone/>
              <a:defRPr/>
            </a:pPr>
            <a:r>
              <a:rPr lang="zh-CN" altLang="en-US" sz="2800" dirty="0">
                <a:latin typeface="Times New Roman" charset="0"/>
              </a:rPr>
              <a:t>确定：</a:t>
            </a:r>
            <a:r>
              <a:rPr lang="zh-CN" altLang="en-US" sz="2800" dirty="0">
                <a:solidFill>
                  <a:srgbClr val="CC0066"/>
                </a:solidFill>
                <a:latin typeface="Times New Roman" charset="0"/>
              </a:rPr>
              <a:t>循环条件</a:t>
            </a:r>
            <a:r>
              <a:rPr lang="zh-CN" altLang="en-US" sz="2800" dirty="0">
                <a:latin typeface="Times New Roman" charset="0"/>
              </a:rPr>
              <a:t>和</a:t>
            </a:r>
            <a:r>
              <a:rPr lang="zh-CN" altLang="en-US" sz="2800" dirty="0">
                <a:solidFill>
                  <a:srgbClr val="CC0066"/>
                </a:solidFill>
                <a:latin typeface="Times New Roman" charset="0"/>
              </a:rPr>
              <a:t>循环体(循环不变式</a:t>
            </a:r>
            <a:r>
              <a:rPr lang="en-US" altLang="zh-CN" sz="2800" dirty="0">
                <a:solidFill>
                  <a:srgbClr val="CC0066"/>
                </a:solidFill>
                <a:latin typeface="Times New Roman" charset="0"/>
              </a:rPr>
              <a:t>)</a:t>
            </a:r>
            <a:endParaRPr lang="zh-CN" sz="2800" dirty="0">
              <a:solidFill>
                <a:srgbClr val="CC0066"/>
              </a:solidFill>
              <a:latin typeface="Times New Roman" charset="0"/>
            </a:endParaRPr>
          </a:p>
        </p:txBody>
      </p:sp>
      <p:sp>
        <p:nvSpPr>
          <p:cNvPr id="161796" name="Text Box 4"/>
          <p:cNvSpPr txBox="1">
            <a:spLocks noChangeArrowheads="1"/>
          </p:cNvSpPr>
          <p:nvPr/>
        </p:nvSpPr>
        <p:spPr bwMode="auto">
          <a:xfrm>
            <a:off x="304800" y="1524000"/>
            <a:ext cx="8083550" cy="2678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 eaLnBrk="0" hangingPunct="0"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          12345    5   4   3   2   1</a:t>
            </a:r>
          </a:p>
          <a:p>
            <a:pPr lvl="1" eaLnBrk="0" hangingPunct="0">
              <a:defRPr/>
            </a:pP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lvl="1" eaLnBrk="0" hangingPunct="0">
              <a:defRPr/>
            </a:pPr>
            <a:r>
              <a:rPr lang="zh-CN" sz="2400" dirty="0">
                <a:solidFill>
                  <a:schemeClr val="tx1"/>
                </a:solidFill>
                <a:latin typeface="+mn-lt"/>
              </a:rPr>
              <a:t>12345 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% </a:t>
            </a:r>
            <a:r>
              <a:rPr lang="zh-CN" sz="2400" dirty="0">
                <a:solidFill>
                  <a:schemeClr val="tx1"/>
                </a:solidFill>
                <a:latin typeface="+mn-lt"/>
              </a:rPr>
              <a:t>10 = 5      12345 /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zh-CN" sz="2400" dirty="0">
                <a:solidFill>
                  <a:schemeClr val="tx1"/>
                </a:solidFill>
                <a:latin typeface="+mn-lt"/>
              </a:rPr>
              <a:t>10 =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zh-CN" sz="2400" dirty="0">
                <a:solidFill>
                  <a:schemeClr val="tx1"/>
                </a:solidFill>
                <a:latin typeface="+mn-lt"/>
              </a:rPr>
              <a:t>1234</a:t>
            </a:r>
          </a:p>
          <a:p>
            <a:pPr lvl="1" eaLnBrk="0" hangingPunct="0"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  </a:t>
            </a:r>
            <a:r>
              <a:rPr lang="zh-CN" sz="2400" dirty="0">
                <a:solidFill>
                  <a:schemeClr val="tx1"/>
                </a:solidFill>
                <a:latin typeface="+mn-lt"/>
              </a:rPr>
              <a:t>1234 %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zh-CN" sz="2400" dirty="0">
                <a:solidFill>
                  <a:schemeClr val="tx1"/>
                </a:solidFill>
                <a:latin typeface="+mn-lt"/>
              </a:rPr>
              <a:t>10 = 4      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  </a:t>
            </a:r>
            <a:r>
              <a:rPr lang="zh-CN" sz="2400" dirty="0">
                <a:solidFill>
                  <a:schemeClr val="tx1"/>
                </a:solidFill>
                <a:latin typeface="+mn-lt"/>
              </a:rPr>
              <a:t>1234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zh-CN" sz="2400" dirty="0">
                <a:solidFill>
                  <a:schemeClr val="tx1"/>
                </a:solidFill>
                <a:latin typeface="+mn-lt"/>
              </a:rPr>
              <a:t>/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zh-CN" sz="2400" dirty="0">
                <a:solidFill>
                  <a:schemeClr val="tx1"/>
                </a:solidFill>
                <a:latin typeface="+mn-lt"/>
              </a:rPr>
              <a:t>10 =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zh-CN" sz="2400" dirty="0">
                <a:solidFill>
                  <a:schemeClr val="tx1"/>
                </a:solidFill>
                <a:latin typeface="+mn-lt"/>
              </a:rPr>
              <a:t>123</a:t>
            </a:r>
          </a:p>
          <a:p>
            <a:pPr lvl="1" eaLnBrk="0" hangingPunct="0"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    </a:t>
            </a:r>
            <a:r>
              <a:rPr lang="zh-CN" sz="2400" dirty="0">
                <a:solidFill>
                  <a:schemeClr val="tx1"/>
                </a:solidFill>
                <a:latin typeface="+mn-lt"/>
              </a:rPr>
              <a:t>123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zh-CN" sz="2400" dirty="0">
                <a:solidFill>
                  <a:schemeClr val="tx1"/>
                </a:solidFill>
                <a:latin typeface="+mn-lt"/>
              </a:rPr>
              <a:t>%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zh-CN" sz="2400" dirty="0">
                <a:solidFill>
                  <a:schemeClr val="tx1"/>
                </a:solidFill>
                <a:latin typeface="+mn-lt"/>
              </a:rPr>
              <a:t>10 = 3         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zh-CN" sz="2400" dirty="0">
                <a:solidFill>
                  <a:schemeClr val="tx1"/>
                </a:solidFill>
                <a:latin typeface="+mn-lt"/>
              </a:rPr>
              <a:t>123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zh-CN" sz="2400" dirty="0">
                <a:solidFill>
                  <a:schemeClr val="tx1"/>
                </a:solidFill>
                <a:latin typeface="+mn-lt"/>
              </a:rPr>
              <a:t>/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zh-CN" sz="2400" dirty="0">
                <a:solidFill>
                  <a:schemeClr val="tx1"/>
                </a:solidFill>
                <a:latin typeface="+mn-lt"/>
              </a:rPr>
              <a:t>10 =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zh-CN" sz="2400" dirty="0">
                <a:solidFill>
                  <a:schemeClr val="tx1"/>
                </a:solidFill>
                <a:latin typeface="+mn-lt"/>
              </a:rPr>
              <a:t>12</a:t>
            </a:r>
          </a:p>
          <a:p>
            <a:pPr lvl="1" eaLnBrk="0" hangingPunct="0"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      </a:t>
            </a:r>
            <a:r>
              <a:rPr lang="zh-CN" sz="2400" dirty="0">
                <a:solidFill>
                  <a:schemeClr val="tx1"/>
                </a:solidFill>
                <a:latin typeface="+mn-lt"/>
              </a:rPr>
              <a:t>12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zh-CN" sz="2400" dirty="0">
                <a:solidFill>
                  <a:schemeClr val="tx1"/>
                </a:solidFill>
                <a:latin typeface="+mn-lt"/>
              </a:rPr>
              <a:t>%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zh-CN" sz="2400" dirty="0">
                <a:solidFill>
                  <a:schemeClr val="tx1"/>
                </a:solidFill>
                <a:latin typeface="+mn-lt"/>
              </a:rPr>
              <a:t>10 = 2      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      </a:t>
            </a:r>
            <a:r>
              <a:rPr lang="zh-CN" sz="2400" dirty="0">
                <a:solidFill>
                  <a:schemeClr val="tx1"/>
                </a:solidFill>
                <a:latin typeface="+mn-lt"/>
              </a:rPr>
              <a:t>12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zh-CN" sz="2400" dirty="0">
                <a:solidFill>
                  <a:schemeClr val="tx1"/>
                </a:solidFill>
                <a:latin typeface="+mn-lt"/>
              </a:rPr>
              <a:t>/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zh-CN" sz="2400" dirty="0">
                <a:solidFill>
                  <a:schemeClr val="tx1"/>
                </a:solidFill>
                <a:latin typeface="+mn-lt"/>
              </a:rPr>
              <a:t>10 =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zh-CN" sz="2400" dirty="0">
                <a:solidFill>
                  <a:schemeClr val="tx1"/>
                </a:solidFill>
                <a:latin typeface="+mn-lt"/>
              </a:rPr>
              <a:t>1</a:t>
            </a:r>
          </a:p>
          <a:p>
            <a:pPr lvl="1" eaLnBrk="0" hangingPunct="0"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        </a:t>
            </a:r>
            <a:r>
              <a:rPr lang="zh-CN" sz="2400" dirty="0">
                <a:solidFill>
                  <a:schemeClr val="tx1"/>
                </a:solidFill>
                <a:latin typeface="+mn-lt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zh-CN" sz="2400" dirty="0">
                <a:solidFill>
                  <a:schemeClr val="tx1"/>
                </a:solidFill>
                <a:latin typeface="+mn-lt"/>
              </a:rPr>
              <a:t>%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zh-CN" sz="2400" dirty="0">
                <a:solidFill>
                  <a:schemeClr val="tx1"/>
                </a:solidFill>
                <a:latin typeface="+mn-lt"/>
              </a:rPr>
              <a:t>10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zh-CN" sz="2400" dirty="0">
                <a:solidFill>
                  <a:schemeClr val="tx1"/>
                </a:solidFill>
                <a:latin typeface="+mn-lt"/>
              </a:rPr>
              <a:t>=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zh-CN" sz="2400" dirty="0">
                <a:solidFill>
                  <a:schemeClr val="tx1"/>
                </a:solidFill>
                <a:latin typeface="+mn-lt"/>
              </a:rPr>
              <a:t>1    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          </a:t>
            </a:r>
            <a:r>
              <a:rPr lang="zh-CN" sz="2400" dirty="0">
                <a:solidFill>
                  <a:schemeClr val="tx1"/>
                </a:solidFill>
                <a:latin typeface="+mn-lt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zh-CN" sz="2400" dirty="0">
                <a:solidFill>
                  <a:schemeClr val="tx1"/>
                </a:solidFill>
                <a:latin typeface="+mn-lt"/>
              </a:rPr>
              <a:t>/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zh-CN" sz="2400" dirty="0">
                <a:solidFill>
                  <a:schemeClr val="tx1"/>
                </a:solidFill>
                <a:latin typeface="+mn-lt"/>
              </a:rPr>
              <a:t>10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zh-CN" sz="2400" dirty="0">
                <a:solidFill>
                  <a:schemeClr val="tx1"/>
                </a:solidFill>
                <a:latin typeface="+mn-lt"/>
              </a:rPr>
              <a:t>=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zh-CN" sz="2400" dirty="0">
                <a:solidFill>
                  <a:schemeClr val="tx1"/>
                </a:solidFill>
                <a:latin typeface="+mn-lt"/>
              </a:rPr>
              <a:t>0 </a:t>
            </a:r>
            <a:r>
              <a:rPr lang="zh-CN" sz="2400" dirty="0">
                <a:solidFill>
                  <a:schemeClr val="bg2"/>
                </a:solidFill>
                <a:latin typeface="+mn-lt"/>
              </a:rPr>
              <a:t>结束</a:t>
            </a:r>
            <a:endParaRPr kumimoji="1" lang="zh-CN" altLang="en-US" sz="24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61797" name="Text Box 5"/>
          <p:cNvSpPr txBox="1">
            <a:spLocks noChangeArrowheads="1"/>
          </p:cNvSpPr>
          <p:nvPr/>
        </p:nvSpPr>
        <p:spPr bwMode="auto">
          <a:xfrm>
            <a:off x="237340" y="4215511"/>
            <a:ext cx="4199384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F0D5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r>
              <a:rPr lang="zh-CN" altLang="en-US" sz="2400" dirty="0">
                <a:solidFill>
                  <a:schemeClr val="tx1"/>
                </a:solidFill>
              </a:rPr>
              <a:t>循环不变式   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digit = number % 10</a:t>
            </a:r>
          </a:p>
          <a:p>
            <a:pPr lvl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number = number / 10</a:t>
            </a:r>
            <a:endParaRPr kumimoji="1" lang="en-US" altLang="zh-CN" sz="24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r>
              <a:rPr lang="zh-CN" altLang="en-US" sz="2400" dirty="0">
                <a:solidFill>
                  <a:schemeClr val="tx1"/>
                </a:solidFill>
              </a:rPr>
              <a:t>循环结束条件 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  <a:spcBef>
                <a:spcPct val="50000"/>
              </a:spcBef>
              <a:defRPr/>
            </a:pPr>
            <a:r>
              <a:rPr lang="zh-CN" altLang="en-US" sz="2400" dirty="0">
                <a:solidFill>
                  <a:schemeClr val="tx1"/>
                </a:solidFill>
              </a:rPr>
              <a:t> </a:t>
            </a:r>
            <a:r>
              <a:rPr lang="en-US" altLang="zh-CN" sz="2400" dirty="0">
                <a:solidFill>
                  <a:schemeClr val="tx1"/>
                </a:solidFill>
              </a:rPr>
              <a:t>number == 0</a:t>
            </a:r>
          </a:p>
        </p:txBody>
      </p:sp>
      <p:sp>
        <p:nvSpPr>
          <p:cNvPr id="161798" name="Text Box 6"/>
          <p:cNvSpPr txBox="1">
            <a:spLocks noChangeArrowheads="1"/>
          </p:cNvSpPr>
          <p:nvPr/>
        </p:nvSpPr>
        <p:spPr bwMode="auto">
          <a:xfrm>
            <a:off x="5027596" y="4278313"/>
            <a:ext cx="3886200" cy="2295525"/>
          </a:xfrm>
          <a:prstGeom prst="rect">
            <a:avLst/>
          </a:prstGeom>
          <a:noFill/>
          <a:ln w="12700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F0D5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 err="1">
                <a:solidFill>
                  <a:schemeClr val="tx1"/>
                </a:solidFill>
              </a:rPr>
              <a:t>scanf</a:t>
            </a:r>
            <a:r>
              <a:rPr lang="en-US" altLang="zh-CN" sz="2400" dirty="0">
                <a:solidFill>
                  <a:schemeClr val="tx1"/>
                </a:solidFill>
              </a:rPr>
              <a:t> ( "%d", &amp;number );</a:t>
            </a:r>
          </a:p>
          <a:p>
            <a:pPr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do{</a:t>
            </a:r>
          </a:p>
          <a:p>
            <a:pPr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     digit = number %10;</a:t>
            </a:r>
          </a:p>
          <a:p>
            <a:pPr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     number = number / 10;</a:t>
            </a:r>
          </a:p>
          <a:p>
            <a:pPr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     </a:t>
            </a:r>
            <a:r>
              <a:rPr lang="en-US" altLang="zh-CN" sz="2400" dirty="0" err="1">
                <a:solidFill>
                  <a:schemeClr val="tx1"/>
                </a:solidFill>
              </a:rPr>
              <a:t>printf</a:t>
            </a:r>
            <a:r>
              <a:rPr lang="en-US" altLang="zh-CN" sz="2400" dirty="0">
                <a:solidFill>
                  <a:schemeClr val="tx1"/>
                </a:solidFill>
              </a:rPr>
              <a:t> ( "%d  ", digit );</a:t>
            </a:r>
          </a:p>
          <a:p>
            <a:pPr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} while ( number != 0 )</a:t>
            </a:r>
          </a:p>
        </p:txBody>
      </p:sp>
    </p:spTree>
    <p:extLst>
      <p:ext uri="{BB962C8B-B14F-4D97-AF65-F5344CB8AC3E}">
        <p14:creationId xmlns:p14="http://schemas.microsoft.com/office/powerpoint/2010/main" val="9247222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1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1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1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1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1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1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1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1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17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17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17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17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1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1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6" grpId="0" build="p" bldLvl="2" autoUpdateAnimBg="0"/>
      <p:bldP spid="161797" grpId="0" autoUpdateAnimBg="0"/>
      <p:bldP spid="161798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476250"/>
            <a:ext cx="5267325" cy="99060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en-US" altLang="zh-CN" dirty="0"/>
              <a:t>4.3</a:t>
            </a:r>
            <a:r>
              <a:rPr lang="zh-CN" altLang="en-US" dirty="0"/>
              <a:t> 判断素数</a:t>
            </a:r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556792"/>
            <a:ext cx="8134672" cy="3777208"/>
          </a:xfrm>
          <a:ln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zh-CN" altLang="en-US" dirty="0"/>
              <a:t>例</a:t>
            </a:r>
            <a:r>
              <a:rPr lang="en-US" altLang="zh-CN" dirty="0"/>
              <a:t>4-5</a:t>
            </a:r>
            <a:r>
              <a:rPr lang="zh-CN" altLang="en-US" dirty="0"/>
              <a:t> 输入一个正整数</a:t>
            </a:r>
            <a:r>
              <a:rPr lang="en-US" altLang="zh-CN" dirty="0"/>
              <a:t>m，</a:t>
            </a:r>
            <a:r>
              <a:rPr lang="zh-CN" altLang="en-US" dirty="0"/>
              <a:t>判断它是否为素数。素数就是只能被</a:t>
            </a:r>
            <a:r>
              <a:rPr lang="en-US" altLang="zh-CN" dirty="0"/>
              <a:t>1</a:t>
            </a:r>
            <a:r>
              <a:rPr lang="zh-CN" altLang="en-US" dirty="0"/>
              <a:t>和自身整除的正整数，</a:t>
            </a:r>
            <a:r>
              <a:rPr lang="en-US" altLang="zh-CN" dirty="0"/>
              <a:t>1</a:t>
            </a:r>
            <a:r>
              <a:rPr lang="zh-CN" altLang="en-US" dirty="0"/>
              <a:t>不是素数，</a:t>
            </a:r>
            <a:r>
              <a:rPr lang="en-US" altLang="zh-CN" dirty="0"/>
              <a:t>2</a:t>
            </a:r>
            <a:r>
              <a:rPr lang="zh-CN" altLang="en-US" dirty="0"/>
              <a:t>是素数。</a:t>
            </a:r>
          </a:p>
          <a:p>
            <a:pPr>
              <a:buFont typeface="Wingdings" charset="0"/>
              <a:buNone/>
              <a:defRPr/>
            </a:pPr>
            <a:endParaRPr lang="zh-CN" altLang="en-US" dirty="0"/>
          </a:p>
          <a:p>
            <a:pPr>
              <a:buFont typeface="Wingdings" charset="0"/>
              <a:buNone/>
              <a:defRPr/>
            </a:pPr>
            <a:r>
              <a:rPr lang="en-US" altLang="zh-CN" dirty="0"/>
              <a:t>4.3.1</a:t>
            </a:r>
            <a:r>
              <a:rPr lang="zh-CN" altLang="en-US" dirty="0"/>
              <a:t>  程序解析</a:t>
            </a:r>
          </a:p>
          <a:p>
            <a:pPr algn="just">
              <a:spcBef>
                <a:spcPct val="50000"/>
              </a:spcBef>
              <a:buFont typeface="Wingdings" charset="0"/>
              <a:buNone/>
              <a:defRPr/>
            </a:pPr>
            <a:r>
              <a:rPr lang="en-US" altLang="zh-CN" dirty="0"/>
              <a:t>4.3.2</a:t>
            </a:r>
            <a:r>
              <a:rPr lang="zh-CN" altLang="en-US" dirty="0"/>
              <a:t>   </a:t>
            </a:r>
            <a:r>
              <a:rPr lang="en-US" altLang="zh-CN" dirty="0"/>
              <a:t>break </a:t>
            </a:r>
            <a:r>
              <a:rPr lang="zh-CN" altLang="en-US" dirty="0"/>
              <a:t>语句 和 </a:t>
            </a:r>
            <a:r>
              <a:rPr lang="en-US" altLang="zh-CN" dirty="0"/>
              <a:t>continue </a:t>
            </a:r>
            <a:r>
              <a:rPr lang="zh-CN" altLang="en-US" dirty="0"/>
              <a:t>语句</a:t>
            </a:r>
            <a:endParaRPr lang="zh-CN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59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7772400" cy="91440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en-US" altLang="zh-CN" dirty="0"/>
              <a:t>4.3.1</a:t>
            </a:r>
            <a:r>
              <a:rPr lang="zh-CN" altLang="en-US" dirty="0"/>
              <a:t> 程序解析－判断素数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043136"/>
            <a:ext cx="8839200" cy="5410200"/>
          </a:xfrm>
        </p:spPr>
        <p:txBody>
          <a:bodyPr/>
          <a:lstStyle/>
          <a:p>
            <a:pPr lvl="1" algn="just">
              <a:lnSpc>
                <a:spcPct val="90000"/>
              </a:lnSpc>
              <a:buFont typeface="Wingdings" charset="0"/>
              <a:buNone/>
              <a:defRPr/>
            </a:pPr>
            <a:r>
              <a:rPr lang="zh-CN" dirty="0"/>
              <a:t>算法：除了</a:t>
            </a:r>
            <a:r>
              <a:rPr lang="en-US" altLang="zh-CN" dirty="0"/>
              <a:t> 1 </a:t>
            </a:r>
            <a:r>
              <a:rPr lang="zh-CN" altLang="en-US" dirty="0"/>
              <a:t>和</a:t>
            </a:r>
            <a:r>
              <a:rPr lang="en-US" altLang="zh-CN" dirty="0"/>
              <a:t> m</a:t>
            </a:r>
            <a:r>
              <a:rPr lang="zh-CN" altLang="en-US" dirty="0"/>
              <a:t>，不能被其它数整除。</a:t>
            </a:r>
          </a:p>
          <a:p>
            <a:pPr lvl="1" algn="just">
              <a:lnSpc>
                <a:spcPct val="90000"/>
              </a:lnSpc>
              <a:buFont typeface="Wingdings" charset="0"/>
              <a:buNone/>
              <a:defRPr/>
            </a:pPr>
            <a:r>
              <a:rPr lang="zh-CN" altLang="en-US" dirty="0"/>
              <a:t>设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取值 </a:t>
            </a:r>
            <a:r>
              <a:rPr lang="en-US" altLang="zh-CN" dirty="0"/>
              <a:t>[2, m-1]  </a:t>
            </a:r>
          </a:p>
          <a:p>
            <a:pPr lvl="2" algn="just">
              <a:lnSpc>
                <a:spcPct val="90000"/>
              </a:lnSpc>
              <a:defRPr/>
            </a:pPr>
            <a:r>
              <a:rPr lang="zh-CN" altLang="en-US" sz="2800" dirty="0"/>
              <a:t>如果</a:t>
            </a:r>
            <a:r>
              <a:rPr lang="en-US" altLang="zh-CN" sz="2800" dirty="0"/>
              <a:t>m</a:t>
            </a:r>
            <a:r>
              <a:rPr lang="zh-CN" altLang="en-US" sz="2800" dirty="0"/>
              <a:t>不能被该区间上的任何一个数整除，即对每个</a:t>
            </a:r>
            <a:r>
              <a:rPr lang="en-US" altLang="zh-CN" sz="2800" dirty="0" err="1"/>
              <a:t>i，m%i</a:t>
            </a:r>
            <a:r>
              <a:rPr lang="en-US" altLang="zh-CN" sz="2800" dirty="0"/>
              <a:t> </a:t>
            </a:r>
            <a:r>
              <a:rPr lang="zh-CN" altLang="en-US" sz="2800" dirty="0"/>
              <a:t>都不为0，则</a:t>
            </a:r>
            <a:r>
              <a:rPr lang="en-US" altLang="zh-CN" sz="2800" dirty="0"/>
              <a:t>m</a:t>
            </a:r>
            <a:r>
              <a:rPr lang="zh-CN" altLang="en-US" sz="2800" dirty="0"/>
              <a:t>是素数</a:t>
            </a:r>
          </a:p>
          <a:p>
            <a:pPr lvl="2" algn="just">
              <a:lnSpc>
                <a:spcPct val="90000"/>
              </a:lnSpc>
              <a:defRPr/>
            </a:pPr>
            <a:r>
              <a:rPr lang="zh-CN" altLang="en-US" sz="2800" dirty="0"/>
              <a:t>只要找到一个</a:t>
            </a:r>
            <a:r>
              <a:rPr lang="en-US" altLang="zh-CN" sz="2800" dirty="0" err="1"/>
              <a:t>i</a:t>
            </a:r>
            <a:r>
              <a:rPr lang="en-US" altLang="zh-CN" sz="2800" dirty="0"/>
              <a:t>，</a:t>
            </a:r>
            <a:r>
              <a:rPr lang="zh-CN" altLang="en-US" sz="2800" dirty="0"/>
              <a:t>使</a:t>
            </a:r>
            <a:r>
              <a:rPr lang="en-US" altLang="zh-CN" sz="2800" dirty="0" err="1"/>
              <a:t>m%i</a:t>
            </a:r>
            <a:r>
              <a:rPr lang="zh-CN" altLang="en-US" sz="2800" dirty="0"/>
              <a:t>为0，则</a:t>
            </a:r>
            <a:r>
              <a:rPr lang="en-US" altLang="zh-CN" sz="2800" dirty="0"/>
              <a:t>m</a:t>
            </a:r>
            <a:r>
              <a:rPr lang="zh-CN" altLang="en-US" sz="2800" dirty="0"/>
              <a:t>肯定不是素数</a:t>
            </a:r>
          </a:p>
          <a:p>
            <a:pPr lvl="2" algn="just">
              <a:lnSpc>
                <a:spcPct val="90000"/>
              </a:lnSpc>
              <a:defRPr/>
            </a:pPr>
            <a:endParaRPr lang="zh-CN" dirty="0"/>
          </a:p>
          <a:p>
            <a:pPr lvl="1" algn="just">
              <a:lnSpc>
                <a:spcPct val="90000"/>
              </a:lnSpc>
              <a:buFont typeface="Wingdings" charset="0"/>
              <a:buNone/>
              <a:defRPr/>
            </a:pPr>
            <a:r>
              <a:rPr lang="en-US" altLang="zh-CN" dirty="0"/>
              <a:t>    m                     %2     %3     %4    %5      %(m-1)</a:t>
            </a:r>
          </a:p>
          <a:p>
            <a:pPr lvl="1" algn="just">
              <a:lnSpc>
                <a:spcPct val="90000"/>
              </a:lnSpc>
              <a:buFont typeface="Wingdings" charset="0"/>
              <a:buNone/>
              <a:defRPr/>
            </a:pPr>
            <a:r>
              <a:rPr lang="zh-CN" dirty="0"/>
              <a:t>不是素数 </a:t>
            </a:r>
            <a:r>
              <a:rPr lang="en-US" altLang="zh-CN" dirty="0"/>
              <a:t> ||</a:t>
            </a:r>
            <a:r>
              <a:rPr lang="zh-CN" altLang="en-US" dirty="0"/>
              <a:t>    </a:t>
            </a:r>
            <a:r>
              <a:rPr lang="en-US" altLang="zh-CN" dirty="0"/>
              <a:t>      </a:t>
            </a:r>
            <a:r>
              <a:rPr lang="zh-CN" altLang="en-US" dirty="0"/>
              <a:t>=</a:t>
            </a:r>
            <a:r>
              <a:rPr lang="en-US" altLang="zh-CN" dirty="0"/>
              <a:t>0</a:t>
            </a:r>
            <a:r>
              <a:rPr lang="zh-CN" altLang="en-US" dirty="0"/>
              <a:t>      =</a:t>
            </a:r>
            <a:r>
              <a:rPr lang="en-US" altLang="zh-CN" dirty="0"/>
              <a:t>0</a:t>
            </a:r>
            <a:endParaRPr lang="zh-CN" altLang="en-US" dirty="0"/>
          </a:p>
          <a:p>
            <a:pPr lvl="1" algn="just">
              <a:lnSpc>
                <a:spcPct val="90000"/>
              </a:lnSpc>
              <a:buFont typeface="Wingdings" charset="0"/>
              <a:buNone/>
              <a:defRPr/>
            </a:pPr>
            <a:r>
              <a:rPr lang="en-US" altLang="zh-CN" dirty="0"/>
              <a:t>   </a:t>
            </a:r>
            <a:r>
              <a:rPr lang="zh-CN" dirty="0"/>
              <a:t>是素数 </a:t>
            </a:r>
            <a:r>
              <a:rPr lang="en-US" altLang="zh-CN" dirty="0"/>
              <a:t>&amp;&amp;</a:t>
            </a:r>
            <a:r>
              <a:rPr lang="zh-CN" altLang="en-US" dirty="0"/>
              <a:t>    </a:t>
            </a:r>
            <a:r>
              <a:rPr lang="en-US" altLang="zh-CN" dirty="0"/>
              <a:t>    </a:t>
            </a:r>
            <a:r>
              <a:rPr lang="zh-CN" altLang="en-US" dirty="0"/>
              <a:t>!=</a:t>
            </a:r>
            <a:r>
              <a:rPr lang="en-US" altLang="zh-CN" dirty="0"/>
              <a:t>0</a:t>
            </a:r>
            <a:r>
              <a:rPr lang="zh-CN" altLang="en-US" dirty="0"/>
              <a:t>     !=</a:t>
            </a:r>
            <a:r>
              <a:rPr lang="en-US" altLang="zh-CN" dirty="0"/>
              <a:t>0</a:t>
            </a:r>
            <a:r>
              <a:rPr lang="zh-CN" altLang="en-US" dirty="0"/>
              <a:t>  </a:t>
            </a:r>
            <a:endParaRPr lang="en-US" altLang="zh-CN" dirty="0"/>
          </a:p>
          <a:p>
            <a:pPr lvl="1" algn="just">
              <a:lnSpc>
                <a:spcPct val="90000"/>
              </a:lnSpc>
              <a:buFont typeface="Wingdings" charset="0"/>
              <a:buNone/>
              <a:defRPr/>
            </a:pPr>
            <a:endParaRPr lang="en-US" altLang="zh-CN" dirty="0"/>
          </a:p>
          <a:p>
            <a:pPr lvl="1" algn="just">
              <a:lnSpc>
                <a:spcPct val="90000"/>
              </a:lnSpc>
              <a:buFont typeface="Wingdings" charset="0"/>
              <a:buNone/>
              <a:defRPr/>
            </a:pPr>
            <a:r>
              <a:rPr lang="en-US" altLang="zh-CN" dirty="0"/>
              <a:t>m</a:t>
            </a:r>
            <a:r>
              <a:rPr lang="zh-CN" altLang="en-US" dirty="0"/>
              <a:t>不可能被大于 </a:t>
            </a:r>
            <a:r>
              <a:rPr lang="en-US" altLang="zh-CN" dirty="0"/>
              <a:t>m/2 </a:t>
            </a:r>
            <a:r>
              <a:rPr lang="zh-CN" altLang="en-US" dirty="0"/>
              <a:t>的数整除</a:t>
            </a:r>
          </a:p>
          <a:p>
            <a:pPr lvl="2" algn="just">
              <a:lnSpc>
                <a:spcPct val="90000"/>
              </a:lnSpc>
              <a:buNone/>
              <a:defRPr/>
            </a:pPr>
            <a:r>
              <a:rPr lang="zh-CN" altLang="en-US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取值 </a:t>
            </a:r>
            <a:r>
              <a:rPr lang="en-US" altLang="zh-CN" dirty="0"/>
              <a:t>[2</a:t>
            </a:r>
            <a:r>
              <a:rPr lang="zh-CN" altLang="en-US" dirty="0"/>
              <a:t>, </a:t>
            </a:r>
            <a:r>
              <a:rPr lang="en-US" altLang="zh-CN" dirty="0"/>
              <a:t>m-1] 、 [2</a:t>
            </a:r>
            <a:r>
              <a:rPr lang="zh-CN" altLang="en-US" dirty="0"/>
              <a:t>, </a:t>
            </a:r>
            <a:r>
              <a:rPr lang="en-US" altLang="zh-CN" dirty="0"/>
              <a:t>m/2] 、 [2</a:t>
            </a:r>
            <a:r>
              <a:rPr lang="zh-CN" altLang="en-US" dirty="0"/>
              <a:t>,         </a:t>
            </a:r>
            <a:r>
              <a:rPr lang="en-US" altLang="zh-CN" dirty="0"/>
              <a:t>]</a:t>
            </a:r>
            <a:r>
              <a:rPr lang="zh-CN" altLang="en-US" dirty="0"/>
              <a:t>、</a:t>
            </a:r>
            <a:r>
              <a:rPr lang="en-US" altLang="zh-CN" dirty="0"/>
              <a:t> [2</a:t>
            </a:r>
            <a:r>
              <a:rPr lang="zh-CN" altLang="en-US" dirty="0"/>
              <a:t>,         </a:t>
            </a:r>
            <a:r>
              <a:rPr lang="en-US" altLang="zh-CN" dirty="0"/>
              <a:t>+1 ]</a:t>
            </a:r>
            <a:endParaRPr lang="zh-CN" altLang="en-US" dirty="0"/>
          </a:p>
        </p:txBody>
      </p:sp>
      <p:graphicFrame>
        <p:nvGraphicFramePr>
          <p:cNvPr id="6350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7106697"/>
              </p:ext>
            </p:extLst>
          </p:nvPr>
        </p:nvGraphicFramePr>
        <p:xfrm>
          <a:off x="5652120" y="5989786"/>
          <a:ext cx="6096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98" name="公式" r:id="rId3" imgW="279279" imgH="215806" progId="Equation.3">
                  <p:embed/>
                </p:oleObj>
              </mc:Choice>
              <mc:Fallback>
                <p:oleObj name="公式" r:id="rId3" imgW="279279" imgH="215806" progId="Equation.3">
                  <p:embed/>
                  <p:pic>
                    <p:nvPicPr>
                      <p:cNvPr id="0" name="Picture 1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2120" y="5989786"/>
                        <a:ext cx="609600" cy="463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03" name="Rectangle 15"/>
          <p:cNvSpPr>
            <a:spLocks noChangeArrowheads="1"/>
          </p:cNvSpPr>
          <p:nvPr/>
        </p:nvSpPr>
        <p:spPr bwMode="auto">
          <a:xfrm>
            <a:off x="502443" y="1484784"/>
            <a:ext cx="8174013" cy="2315935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lIns="90488" tIns="44450" rIns="90488" bIns="44450"/>
          <a:lstStyle/>
          <a:p>
            <a:pPr marL="342900" algn="just">
              <a:lnSpc>
                <a:spcPct val="90000"/>
              </a:lnSpc>
              <a:spcBef>
                <a:spcPct val="5000"/>
              </a:spcBef>
              <a:buClr>
                <a:schemeClr val="bg2"/>
              </a:buClr>
              <a:buSzPct val="75000"/>
              <a:buFont typeface="Wingdings" charset="0"/>
              <a:buNone/>
              <a:defRPr/>
            </a:pPr>
            <a:r>
              <a:rPr lang="en-US" altLang="zh-CN" sz="2800" dirty="0">
                <a:solidFill>
                  <a:schemeClr val="tx1"/>
                </a:solidFill>
              </a:rPr>
              <a:t>limit = sqrt(m) + 1;    /* </a:t>
            </a:r>
            <a:r>
              <a:rPr lang="zh-CN" altLang="en-US" sz="2800" dirty="0">
                <a:solidFill>
                  <a:schemeClr val="tx1"/>
                </a:solidFill>
              </a:rPr>
              <a:t>考虑浮点数运算误差 </a:t>
            </a:r>
            <a:r>
              <a:rPr lang="en-US" altLang="zh-CN" sz="2800" dirty="0">
                <a:solidFill>
                  <a:schemeClr val="tx1"/>
                </a:solidFill>
              </a:rPr>
              <a:t>*/</a:t>
            </a:r>
          </a:p>
          <a:p>
            <a:pPr marL="342900" algn="just">
              <a:lnSpc>
                <a:spcPct val="90000"/>
              </a:lnSpc>
              <a:spcBef>
                <a:spcPct val="5000"/>
              </a:spcBef>
              <a:buClr>
                <a:schemeClr val="bg2"/>
              </a:buClr>
              <a:buSzPct val="75000"/>
              <a:buFont typeface="Wingdings" charset="0"/>
              <a:buNone/>
              <a:defRPr/>
            </a:pPr>
            <a:r>
              <a:rPr lang="en-US" altLang="zh-CN" sz="2800" dirty="0">
                <a:solidFill>
                  <a:schemeClr val="tx1"/>
                </a:solidFill>
              </a:rPr>
              <a:t>for (</a:t>
            </a:r>
            <a:r>
              <a:rPr lang="en-US" altLang="zh-CN" sz="2800" dirty="0" err="1">
                <a:solidFill>
                  <a:schemeClr val="tx1"/>
                </a:solidFill>
              </a:rPr>
              <a:t>i</a:t>
            </a:r>
            <a:r>
              <a:rPr lang="en-US" altLang="zh-CN" sz="2800" dirty="0">
                <a:solidFill>
                  <a:schemeClr val="tx1"/>
                </a:solidFill>
              </a:rPr>
              <a:t> = 2; </a:t>
            </a:r>
            <a:r>
              <a:rPr lang="en-US" altLang="zh-CN" sz="2800" dirty="0" err="1">
                <a:solidFill>
                  <a:schemeClr val="tx1"/>
                </a:solidFill>
              </a:rPr>
              <a:t>i</a:t>
            </a:r>
            <a:r>
              <a:rPr lang="en-US" altLang="zh-CN" sz="2800" dirty="0">
                <a:solidFill>
                  <a:schemeClr val="tx1"/>
                </a:solidFill>
              </a:rPr>
              <a:t> &lt;= limit; </a:t>
            </a:r>
            <a:r>
              <a:rPr lang="en-US" altLang="zh-CN" sz="2800" dirty="0" err="1">
                <a:solidFill>
                  <a:schemeClr val="tx1"/>
                </a:solidFill>
              </a:rPr>
              <a:t>i</a:t>
            </a:r>
            <a:r>
              <a:rPr lang="en-US" altLang="zh-CN" sz="2800" dirty="0">
                <a:solidFill>
                  <a:schemeClr val="tx1"/>
                </a:solidFill>
              </a:rPr>
              <a:t>++)</a:t>
            </a:r>
          </a:p>
          <a:p>
            <a:pPr marL="342900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  <a:defRPr/>
            </a:pPr>
            <a:r>
              <a:rPr lang="en-US" altLang="zh-CN" sz="2800" dirty="0">
                <a:solidFill>
                  <a:schemeClr val="tx1"/>
                </a:solidFill>
              </a:rPr>
              <a:t>      if (m % </a:t>
            </a:r>
            <a:r>
              <a:rPr lang="en-US" altLang="zh-CN" sz="2800" dirty="0" err="1">
                <a:solidFill>
                  <a:schemeClr val="tx1"/>
                </a:solidFill>
              </a:rPr>
              <a:t>i</a:t>
            </a:r>
            <a:r>
              <a:rPr lang="en-US" altLang="zh-CN" sz="2800" dirty="0">
                <a:solidFill>
                  <a:schemeClr val="tx1"/>
                </a:solidFill>
              </a:rPr>
              <a:t> == 0) break;</a:t>
            </a:r>
          </a:p>
          <a:p>
            <a:pPr marL="342900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  <a:defRPr/>
            </a:pPr>
            <a:r>
              <a:rPr lang="en-US" altLang="zh-CN" sz="2800" dirty="0">
                <a:solidFill>
                  <a:schemeClr val="tx1"/>
                </a:solidFill>
              </a:rPr>
              <a:t>if (</a:t>
            </a:r>
            <a:r>
              <a:rPr lang="en-US" altLang="zh-CN" sz="2800" dirty="0" err="1">
                <a:solidFill>
                  <a:schemeClr val="tx1"/>
                </a:solidFill>
              </a:rPr>
              <a:t>i</a:t>
            </a:r>
            <a:r>
              <a:rPr lang="en-US" altLang="zh-CN" sz="2800" dirty="0">
                <a:solidFill>
                  <a:schemeClr val="tx1"/>
                </a:solidFill>
              </a:rPr>
              <a:t> &gt; m/2) </a:t>
            </a:r>
            <a:r>
              <a:rPr lang="en-US" altLang="zh-CN" sz="2800" dirty="0" err="1">
                <a:solidFill>
                  <a:schemeClr val="tx1"/>
                </a:solidFill>
              </a:rPr>
              <a:t>printf</a:t>
            </a:r>
            <a:r>
              <a:rPr lang="en-US" altLang="zh-CN" sz="2800" dirty="0">
                <a:solidFill>
                  <a:schemeClr val="tx1"/>
                </a:solidFill>
              </a:rPr>
              <a:t> ("yes\n")</a:t>
            </a:r>
          </a:p>
          <a:p>
            <a:pPr marL="342900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  <a:defRPr/>
            </a:pPr>
            <a:r>
              <a:rPr lang="en-US" altLang="zh-CN" sz="2800" dirty="0">
                <a:solidFill>
                  <a:schemeClr val="tx1"/>
                </a:solidFill>
              </a:rPr>
              <a:t>else </a:t>
            </a:r>
            <a:r>
              <a:rPr lang="en-US" altLang="zh-CN" sz="2800" dirty="0" err="1">
                <a:solidFill>
                  <a:schemeClr val="tx1"/>
                </a:solidFill>
              </a:rPr>
              <a:t>printf</a:t>
            </a:r>
            <a:r>
              <a:rPr lang="en-US" altLang="zh-CN" sz="2800" dirty="0">
                <a:solidFill>
                  <a:schemeClr val="tx1"/>
                </a:solidFill>
              </a:rPr>
              <a:t> ("no\n");</a:t>
            </a:r>
          </a:p>
        </p:txBody>
      </p:sp>
      <p:graphicFrame>
        <p:nvGraphicFramePr>
          <p:cNvPr id="8" name="Object 13">
            <a:extLst>
              <a:ext uri="{FF2B5EF4-FFF2-40B4-BE49-F238E27FC236}">
                <a16:creationId xmlns:a16="http://schemas.microsoft.com/office/drawing/2014/main" xmlns="" id="{C1FCF05F-D72C-4C32-ADF6-D79159D023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4474314"/>
              </p:ext>
            </p:extLst>
          </p:nvPr>
        </p:nvGraphicFramePr>
        <p:xfrm>
          <a:off x="7236296" y="5989786"/>
          <a:ext cx="6096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99" name="公式" r:id="rId5" imgW="279279" imgH="215806" progId="Equation.3">
                  <p:embed/>
                </p:oleObj>
              </mc:Choice>
              <mc:Fallback>
                <p:oleObj name="公式" r:id="rId5" imgW="279279" imgH="215806" progId="Equation.3">
                  <p:embed/>
                  <p:pic>
                    <p:nvPicPr>
                      <p:cNvPr id="6350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6296" y="5989786"/>
                        <a:ext cx="609600" cy="463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3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3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3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3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3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3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3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3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uiExpand="1" build="p" bldLvl="3" autoUpdateAnimBg="0"/>
      <p:bldP spid="63503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87784" y="988864"/>
            <a:ext cx="6660480" cy="5752504"/>
          </a:xfrm>
        </p:spPr>
        <p:txBody>
          <a:bodyPr/>
          <a:lstStyle/>
          <a:p>
            <a:pPr marL="187325" indent="-187325" algn="just">
              <a:buFont typeface="Wingdings" charset="0"/>
              <a:buNone/>
              <a:defRPr/>
            </a:pPr>
            <a:r>
              <a:rPr lang="en-US" altLang="zh-CN" sz="2400" dirty="0"/>
              <a:t>int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, limit, m;</a:t>
            </a:r>
            <a:endParaRPr lang="zh-CN" altLang="en-US" sz="2400" dirty="0"/>
          </a:p>
          <a:p>
            <a:pPr marL="187325" indent="-187325" algn="just">
              <a:buNone/>
              <a:defRPr/>
            </a:pPr>
            <a:r>
              <a:rPr lang="en-US" altLang="zh-CN" sz="2400" dirty="0" err="1"/>
              <a:t>scanf</a:t>
            </a:r>
            <a:r>
              <a:rPr lang="en-US" altLang="zh-CN" sz="2400" dirty="0"/>
              <a:t> ("%d", &amp;m);  	</a:t>
            </a:r>
          </a:p>
          <a:p>
            <a:pPr marL="187325" indent="-187325" algn="just">
              <a:buNone/>
              <a:defRPr/>
            </a:pPr>
            <a:r>
              <a:rPr lang="en-US" altLang="zh-CN" sz="2400" dirty="0"/>
              <a:t>if(m &lt;= 1){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 ("No!\n");</a:t>
            </a:r>
          </a:p>
          <a:p>
            <a:pPr marL="187325" indent="-187325" algn="just">
              <a:buNone/>
              <a:defRPr/>
            </a:pPr>
            <a:r>
              <a:rPr lang="en-US" altLang="zh-CN" sz="2400" dirty="0"/>
              <a:t>}else if(m == 2){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 ("Yes!\n"); </a:t>
            </a:r>
          </a:p>
          <a:p>
            <a:pPr marL="187325" indent="-187325" algn="just">
              <a:buNone/>
              <a:defRPr/>
            </a:pPr>
            <a:r>
              <a:rPr lang="en-US" altLang="zh-CN" sz="2400" dirty="0"/>
              <a:t>}else{ </a:t>
            </a:r>
          </a:p>
          <a:p>
            <a:pPr marL="587375" lvl="1" indent="-187325" algn="just">
              <a:buNone/>
              <a:defRPr/>
            </a:pPr>
            <a:r>
              <a:rPr lang="en-US" altLang="zh-CN" sz="2400" dirty="0"/>
              <a:t>limit = sqrt(m) + 1;  </a:t>
            </a:r>
          </a:p>
          <a:p>
            <a:pPr marL="587375" lvl="1" indent="-187325" algn="just">
              <a:buNone/>
              <a:defRPr/>
            </a:pPr>
            <a:r>
              <a:rPr lang="en-US" altLang="zh-CN" sz="2400" dirty="0"/>
              <a:t>for 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= 2; </a:t>
            </a:r>
            <a:r>
              <a:rPr lang="en-US" altLang="zh-CN" sz="2400" dirty="0" err="1">
                <a:solidFill>
                  <a:schemeClr val="bg2"/>
                </a:solidFill>
              </a:rPr>
              <a:t>i</a:t>
            </a:r>
            <a:r>
              <a:rPr lang="en-US" altLang="zh-CN" sz="2400" dirty="0">
                <a:solidFill>
                  <a:schemeClr val="bg2"/>
                </a:solidFill>
              </a:rPr>
              <a:t> &lt;= limit</a:t>
            </a:r>
            <a:r>
              <a:rPr lang="en-US" altLang="zh-CN" sz="2400" dirty="0"/>
              <a:t>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++){      	</a:t>
            </a:r>
            <a:endParaRPr lang="zh-CN" altLang="en-US" sz="2400" dirty="0"/>
          </a:p>
          <a:p>
            <a:pPr marL="587375" lvl="1" indent="-187325" algn="just">
              <a:buNone/>
              <a:defRPr/>
            </a:pPr>
            <a:r>
              <a:rPr lang="zh-CN" altLang="en-US" sz="2400" dirty="0"/>
              <a:t>    </a:t>
            </a:r>
            <a:r>
              <a:rPr lang="en-US" altLang="zh-CN" sz="2400" dirty="0">
                <a:solidFill>
                  <a:srgbClr val="CC0066"/>
                </a:solidFill>
              </a:rPr>
              <a:t>if (m % </a:t>
            </a:r>
            <a:r>
              <a:rPr lang="en-US" altLang="zh-CN" sz="2400" dirty="0" err="1">
                <a:solidFill>
                  <a:srgbClr val="CC0066"/>
                </a:solidFill>
              </a:rPr>
              <a:t>i</a:t>
            </a:r>
            <a:r>
              <a:rPr lang="en-US" altLang="zh-CN" sz="2400" dirty="0">
                <a:solidFill>
                  <a:srgbClr val="CC0066"/>
                </a:solidFill>
              </a:rPr>
              <a:t> == 0){</a:t>
            </a:r>
          </a:p>
          <a:p>
            <a:pPr marL="587375" lvl="1" indent="-187325" algn="just">
              <a:buNone/>
              <a:defRPr/>
            </a:pPr>
            <a:r>
              <a:rPr lang="en-US" altLang="zh-CN" sz="2400" dirty="0">
                <a:solidFill>
                  <a:srgbClr val="CC0066"/>
                </a:solidFill>
              </a:rPr>
              <a:t>            break; }</a:t>
            </a:r>
          </a:p>
          <a:p>
            <a:pPr marL="587375" lvl="1" indent="-187325" algn="just">
              <a:buNone/>
              <a:defRPr/>
            </a:pPr>
            <a:r>
              <a:rPr lang="en-US" altLang="zh-CN" sz="2400" dirty="0"/>
              <a:t>}</a:t>
            </a:r>
          </a:p>
          <a:p>
            <a:pPr marL="587375" lvl="1" indent="-187325" algn="just">
              <a:buNone/>
              <a:defRPr/>
            </a:pPr>
            <a:r>
              <a:rPr lang="en-US" altLang="zh-CN" sz="2400" dirty="0"/>
              <a:t>if 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&gt; limit)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 ("Yes!\n"); </a:t>
            </a:r>
          </a:p>
          <a:p>
            <a:pPr marL="587375" lvl="1" indent="-187325" algn="just">
              <a:lnSpc>
                <a:spcPct val="80000"/>
              </a:lnSpc>
              <a:buNone/>
              <a:defRPr/>
            </a:pPr>
            <a:r>
              <a:rPr lang="en-US" altLang="zh-CN" sz="2400" dirty="0"/>
              <a:t>else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 ("No!\n"); </a:t>
            </a:r>
          </a:p>
          <a:p>
            <a:pPr marL="187325" indent="-187325" algn="just">
              <a:lnSpc>
                <a:spcPct val="80000"/>
              </a:lnSpc>
              <a:buFont typeface="Wingdings" charset="0"/>
              <a:buNone/>
              <a:defRPr/>
            </a:pPr>
            <a:r>
              <a:rPr lang="en-US" altLang="zh-CN" sz="2400" dirty="0"/>
              <a:t>} </a:t>
            </a:r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404376"/>
            <a:ext cx="4978400" cy="584775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 dirty="0"/>
              <a:t>例</a:t>
            </a:r>
            <a:r>
              <a:rPr lang="en-US" altLang="zh-CN" sz="3200" dirty="0"/>
              <a:t>4-5 </a:t>
            </a:r>
            <a:r>
              <a:rPr lang="zh-CN" altLang="en-US" sz="3200" dirty="0"/>
              <a:t>源程序段</a:t>
            </a:r>
            <a:r>
              <a:rPr lang="en-US" altLang="zh-CN" sz="3200" dirty="0"/>
              <a:t>1-</a:t>
            </a:r>
            <a:r>
              <a:rPr lang="zh-CN" altLang="en-US" sz="3200" dirty="0"/>
              <a:t>判断素数</a:t>
            </a:r>
          </a:p>
        </p:txBody>
      </p:sp>
      <p:sp>
        <p:nvSpPr>
          <p:cNvPr id="148484" name="Rectangle 4"/>
          <p:cNvSpPr>
            <a:spLocks noChangeArrowheads="1"/>
          </p:cNvSpPr>
          <p:nvPr/>
        </p:nvSpPr>
        <p:spPr bwMode="auto">
          <a:xfrm>
            <a:off x="5654791" y="679299"/>
            <a:ext cx="996082" cy="80645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kumimoji="1" lang="en-US" altLang="zh-CN" sz="2000" dirty="0">
                <a:solidFill>
                  <a:srgbClr val="CC0066"/>
                </a:solidFill>
                <a:cs typeface="Arial Unicode MS" charset="0"/>
              </a:rPr>
              <a:t>9</a:t>
            </a:r>
          </a:p>
          <a:p>
            <a:pPr>
              <a:spcBef>
                <a:spcPct val="30000"/>
              </a:spcBef>
              <a:defRPr/>
            </a:pPr>
            <a:r>
              <a:rPr kumimoji="1" lang="en-US" altLang="zh-CN" sz="2000" dirty="0">
                <a:solidFill>
                  <a:schemeClr val="tx1"/>
                </a:solidFill>
                <a:cs typeface="Arial" charset="0"/>
              </a:rPr>
              <a:t>No!</a:t>
            </a:r>
          </a:p>
        </p:txBody>
      </p:sp>
      <p:sp>
        <p:nvSpPr>
          <p:cNvPr id="148485" name="Rectangle 5"/>
          <p:cNvSpPr>
            <a:spLocks noChangeArrowheads="1"/>
          </p:cNvSpPr>
          <p:nvPr/>
        </p:nvSpPr>
        <p:spPr bwMode="auto">
          <a:xfrm>
            <a:off x="7092280" y="997222"/>
            <a:ext cx="1023392" cy="80645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kumimoji="1" lang="en-US" altLang="zh-CN" sz="2000" dirty="0">
                <a:solidFill>
                  <a:srgbClr val="CC0066"/>
                </a:solidFill>
                <a:cs typeface="Arial Unicode MS" charset="0"/>
              </a:rPr>
              <a:t>11</a:t>
            </a:r>
          </a:p>
          <a:p>
            <a:pPr>
              <a:spcBef>
                <a:spcPct val="30000"/>
              </a:spcBef>
              <a:defRPr/>
            </a:pPr>
            <a:r>
              <a:rPr kumimoji="1" lang="en-US" altLang="zh-CN" sz="2000" dirty="0">
                <a:solidFill>
                  <a:schemeClr val="tx1"/>
                </a:solidFill>
                <a:cs typeface="Arial" charset="0"/>
              </a:rPr>
              <a:t>Yes</a:t>
            </a:r>
          </a:p>
        </p:txBody>
      </p:sp>
      <p:sp>
        <p:nvSpPr>
          <p:cNvPr id="148490" name="Rectangle 10"/>
          <p:cNvSpPr>
            <a:spLocks noChangeArrowheads="1"/>
          </p:cNvSpPr>
          <p:nvPr/>
        </p:nvSpPr>
        <p:spPr bwMode="auto">
          <a:xfrm>
            <a:off x="4716016" y="3828504"/>
            <a:ext cx="2743200" cy="871537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10000"/>
              </a:spcBef>
              <a:defRPr/>
            </a:pPr>
            <a:r>
              <a:rPr kumimoji="1" lang="zh-CN" altLang="en-US" sz="2400" dirty="0">
                <a:solidFill>
                  <a:schemeClr val="tx1"/>
                </a:solidFill>
              </a:rPr>
              <a:t>循环条件</a:t>
            </a:r>
            <a:r>
              <a:rPr kumimoji="1" lang="en-US" altLang="zh-CN" sz="2400" dirty="0">
                <a:solidFill>
                  <a:schemeClr val="tx1"/>
                </a:solidFill>
              </a:rPr>
              <a:t>?</a:t>
            </a:r>
            <a:endParaRPr kumimoji="1" lang="zh-CN" altLang="en-US" sz="2400" dirty="0">
              <a:solidFill>
                <a:schemeClr val="tx1"/>
              </a:solidFill>
            </a:endParaRPr>
          </a:p>
          <a:p>
            <a:pPr>
              <a:spcBef>
                <a:spcPct val="10000"/>
              </a:spcBef>
              <a:defRPr/>
            </a:pPr>
            <a:r>
              <a:rPr kumimoji="1" lang="zh-CN" altLang="en-US" sz="2400" dirty="0">
                <a:solidFill>
                  <a:schemeClr val="tx1"/>
                </a:solidFill>
              </a:rPr>
              <a:t>循环的结束条件</a:t>
            </a:r>
            <a:r>
              <a:rPr kumimoji="1" lang="en-US" altLang="zh-CN" sz="2400" dirty="0">
                <a:solidFill>
                  <a:schemeClr val="tx1"/>
                </a:solidFill>
              </a:rPr>
              <a:t>?</a:t>
            </a:r>
            <a:endParaRPr kumimoji="1"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6152832" y="1984935"/>
            <a:ext cx="1023392" cy="80645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kumimoji="1" lang="en-US" altLang="zh-CN" sz="2000" dirty="0">
                <a:solidFill>
                  <a:srgbClr val="CC0066"/>
                </a:solidFill>
                <a:cs typeface="Arial Unicode MS" charset="0"/>
              </a:rPr>
              <a:t>1</a:t>
            </a:r>
          </a:p>
          <a:p>
            <a:pPr>
              <a:spcBef>
                <a:spcPct val="30000"/>
              </a:spcBef>
              <a:defRPr/>
            </a:pPr>
            <a:r>
              <a:rPr kumimoji="1" lang="en-US" altLang="zh-CN" sz="2000" dirty="0">
                <a:solidFill>
                  <a:schemeClr val="tx1"/>
                </a:solidFill>
                <a:cs typeface="Arial" charset="0"/>
              </a:rPr>
              <a:t>No!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7740352" y="2312021"/>
            <a:ext cx="1008112" cy="800219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kumimoji="1" lang="en-US" altLang="zh-CN" sz="2000" dirty="0">
                <a:solidFill>
                  <a:srgbClr val="CC0066"/>
                </a:solidFill>
                <a:cs typeface="Arial Unicode MS" charset="0"/>
              </a:rPr>
              <a:t>2</a:t>
            </a:r>
          </a:p>
          <a:p>
            <a:pPr>
              <a:spcBef>
                <a:spcPct val="30000"/>
              </a:spcBef>
              <a:defRPr/>
            </a:pPr>
            <a:r>
              <a:rPr kumimoji="1" lang="en-US" altLang="zh-CN" sz="2000" dirty="0">
                <a:solidFill>
                  <a:schemeClr val="tx1"/>
                </a:solidFill>
                <a:cs typeface="Arial" charset="0"/>
              </a:rPr>
              <a:t>Yes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8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8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8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8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4" grpId="0" animBg="1" autoUpdateAnimBg="0"/>
      <p:bldP spid="148485" grpId="0" animBg="1" autoUpdateAnimBg="0"/>
      <p:bldP spid="148490" grpId="0" animBg="1" autoUpdateAnimBg="0"/>
      <p:bldP spid="9" grpId="0" animBg="1" autoUpdateAnimBg="0"/>
      <p:bldP spid="10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50" y="228600"/>
            <a:ext cx="4110038" cy="91440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US" altLang="zh-CN" sz="4000"/>
              <a:t>4.3.2 break </a:t>
            </a:r>
            <a:r>
              <a:rPr lang="zh-CN" altLang="en-US" sz="4000"/>
              <a:t>语句</a:t>
            </a: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438" y="1052513"/>
            <a:ext cx="3725862" cy="3024187"/>
          </a:xfrm>
        </p:spPr>
        <p:txBody>
          <a:bodyPr/>
          <a:lstStyle/>
          <a:p>
            <a:pPr>
              <a:buFontTx/>
              <a:buNone/>
              <a:defRPr/>
            </a:pPr>
            <a:r>
              <a:rPr lang="en-US" altLang="zh-CN" sz="2800" dirty="0"/>
              <a:t>while</a:t>
            </a:r>
            <a:r>
              <a:rPr lang="zh-CN" altLang="en-US" sz="2800" dirty="0"/>
              <a:t> </a:t>
            </a:r>
            <a:r>
              <a:rPr lang="en-US" altLang="zh-CN" sz="2800" dirty="0"/>
              <a:t>(</a:t>
            </a:r>
            <a:r>
              <a:rPr lang="zh-CN" altLang="en-US" sz="2800" dirty="0"/>
              <a:t>  </a:t>
            </a:r>
            <a:r>
              <a:rPr lang="en-US" altLang="zh-CN" sz="2800" dirty="0" err="1">
                <a:solidFill>
                  <a:schemeClr val="bg2"/>
                </a:solidFill>
              </a:rPr>
              <a:t>exp</a:t>
            </a:r>
            <a:r>
              <a:rPr lang="zh-CN" altLang="en-US" sz="2800" dirty="0"/>
              <a:t>  </a:t>
            </a:r>
            <a:r>
              <a:rPr lang="en-US" altLang="zh-CN" sz="2800" dirty="0"/>
              <a:t>){</a:t>
            </a:r>
            <a:endParaRPr lang="zh-CN" altLang="en-US" sz="2800" dirty="0"/>
          </a:p>
          <a:p>
            <a:pPr lvl="1">
              <a:buFontTx/>
              <a:buNone/>
              <a:defRPr/>
            </a:pPr>
            <a:r>
              <a:rPr lang="zh-CN" altLang="en-US" dirty="0"/>
              <a:t>   语句</a:t>
            </a:r>
            <a:r>
              <a:rPr lang="en-US" altLang="zh-CN" dirty="0"/>
              <a:t>1</a:t>
            </a:r>
            <a:endParaRPr lang="zh-CN" altLang="en-US" dirty="0"/>
          </a:p>
          <a:p>
            <a:pPr lvl="1">
              <a:buFontTx/>
              <a:buNone/>
              <a:defRPr/>
            </a:pPr>
            <a:r>
              <a:rPr lang="zh-CN" altLang="en-US" dirty="0"/>
              <a:t>   </a:t>
            </a:r>
            <a:r>
              <a:rPr lang="en-US" altLang="zh-CN" dirty="0"/>
              <a:t>if (</a:t>
            </a:r>
            <a:r>
              <a:rPr lang="zh-CN" altLang="en-US" dirty="0"/>
              <a:t>  </a:t>
            </a:r>
            <a:r>
              <a:rPr lang="en-US" altLang="zh-CN" dirty="0" err="1">
                <a:solidFill>
                  <a:srgbClr val="CC0066"/>
                </a:solidFill>
              </a:rPr>
              <a:t>expb</a:t>
            </a:r>
            <a:r>
              <a:rPr lang="zh-CN" altLang="en-US" dirty="0"/>
              <a:t>  </a:t>
            </a:r>
            <a:r>
              <a:rPr lang="en-US" altLang="zh-CN" dirty="0"/>
              <a:t>) </a:t>
            </a:r>
          </a:p>
          <a:p>
            <a:pPr lvl="1">
              <a:buFontTx/>
              <a:buNone/>
              <a:defRPr/>
            </a:pPr>
            <a:r>
              <a:rPr lang="en-US" altLang="zh-CN" i="1" dirty="0"/>
              <a:t>        break</a:t>
            </a:r>
            <a:r>
              <a:rPr lang="en-US" altLang="zh-CN" dirty="0"/>
              <a:t>;</a:t>
            </a:r>
          </a:p>
          <a:p>
            <a:pPr lvl="1">
              <a:buFontTx/>
              <a:buNone/>
              <a:defRPr/>
            </a:pPr>
            <a:r>
              <a:rPr lang="en-US" altLang="zh-CN" dirty="0"/>
              <a:t>   </a:t>
            </a:r>
            <a:r>
              <a:rPr lang="zh-CN" altLang="en-US" dirty="0"/>
              <a:t>语句</a:t>
            </a:r>
            <a:r>
              <a:rPr lang="en-US" altLang="zh-CN" dirty="0"/>
              <a:t>2</a:t>
            </a:r>
            <a:endParaRPr lang="zh-CN" altLang="en-US" dirty="0"/>
          </a:p>
          <a:p>
            <a:pPr>
              <a:buFontTx/>
              <a:buNone/>
              <a:defRPr/>
            </a:pPr>
            <a:r>
              <a:rPr lang="en-US" altLang="zh-CN" sz="2800" dirty="0"/>
              <a:t>}</a:t>
            </a:r>
            <a:endParaRPr lang="zh-CN" altLang="en-US" sz="2800" dirty="0">
              <a:latin typeface="Times New Roman" charset="0"/>
            </a:endParaRPr>
          </a:p>
        </p:txBody>
      </p:sp>
      <p:grpSp>
        <p:nvGrpSpPr>
          <p:cNvPr id="149532" name="Group 28"/>
          <p:cNvGrpSpPr>
            <a:grpSpLocks/>
          </p:cNvGrpSpPr>
          <p:nvPr/>
        </p:nvGrpSpPr>
        <p:grpSpPr bwMode="auto">
          <a:xfrm>
            <a:off x="4787900" y="1828800"/>
            <a:ext cx="3733800" cy="5029200"/>
            <a:chOff x="2976" y="960"/>
            <a:chExt cx="2352" cy="3168"/>
          </a:xfrm>
        </p:grpSpPr>
        <p:sp>
          <p:nvSpPr>
            <p:cNvPr id="37899" name="Text Box 5"/>
            <p:cNvSpPr txBox="1">
              <a:spLocks noChangeArrowheads="1"/>
            </p:cNvSpPr>
            <p:nvPr/>
          </p:nvSpPr>
          <p:spPr bwMode="auto">
            <a:xfrm>
              <a:off x="4224" y="1728"/>
              <a:ext cx="480" cy="2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9pPr>
            </a:lstStyle>
            <a:p>
              <a:pPr algn="just" eaLnBrk="0" hangingPunct="0"/>
              <a:r>
                <a:rPr lang="zh-CN" altLang="en-US" sz="2000">
                  <a:solidFill>
                    <a:schemeClr val="tx1"/>
                  </a:solidFill>
                  <a:latin typeface="Times New Roman" charset="0"/>
                </a:rPr>
                <a:t>真</a:t>
              </a:r>
              <a:endParaRPr lang="zh-CN" altLang="en-US" sz="900">
                <a:solidFill>
                  <a:schemeClr val="tx1"/>
                </a:solidFill>
                <a:latin typeface="Times New Roman" charset="0"/>
              </a:endParaRPr>
            </a:p>
          </p:txBody>
        </p:sp>
        <p:sp>
          <p:nvSpPr>
            <p:cNvPr id="37900" name="Rectangle 6"/>
            <p:cNvSpPr>
              <a:spLocks noChangeArrowheads="1"/>
            </p:cNvSpPr>
            <p:nvPr/>
          </p:nvSpPr>
          <p:spPr bwMode="auto">
            <a:xfrm>
              <a:off x="2976" y="1928"/>
              <a:ext cx="2064" cy="1336"/>
            </a:xfrm>
            <a:prstGeom prst="rect">
              <a:avLst/>
            </a:prstGeom>
            <a:solidFill>
              <a:srgbClr val="FFFFFF"/>
            </a:solidFill>
            <a:ln w="9525" cap="rnd">
              <a:solidFill>
                <a:schemeClr val="bg2"/>
              </a:solidFill>
              <a:prstDash val="sysDot"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1" name="Text Box 7"/>
            <p:cNvSpPr txBox="1">
              <a:spLocks noChangeArrowheads="1"/>
            </p:cNvSpPr>
            <p:nvPr/>
          </p:nvSpPr>
          <p:spPr bwMode="auto">
            <a:xfrm>
              <a:off x="4704" y="1296"/>
              <a:ext cx="336" cy="23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9pPr>
            </a:lstStyle>
            <a:p>
              <a:pPr algn="just" eaLnBrk="0" hangingPunct="0"/>
              <a:r>
                <a:rPr lang="zh-CN" altLang="en-US" sz="2000">
                  <a:solidFill>
                    <a:schemeClr val="tx1"/>
                  </a:solidFill>
                  <a:latin typeface="Times New Roman" charset="0"/>
                </a:rPr>
                <a:t>假</a:t>
              </a:r>
              <a:endParaRPr lang="zh-CN" altLang="en-US" sz="900">
                <a:solidFill>
                  <a:schemeClr val="tx1"/>
                </a:solidFill>
                <a:latin typeface="Times New Roman" charset="0"/>
              </a:endParaRPr>
            </a:p>
          </p:txBody>
        </p:sp>
        <p:sp>
          <p:nvSpPr>
            <p:cNvPr id="37902" name="AutoShape 8"/>
            <p:cNvSpPr>
              <a:spLocks noChangeArrowheads="1"/>
            </p:cNvSpPr>
            <p:nvPr/>
          </p:nvSpPr>
          <p:spPr bwMode="auto">
            <a:xfrm>
              <a:off x="3120" y="1440"/>
              <a:ext cx="1488" cy="384"/>
            </a:xfrm>
            <a:prstGeom prst="flowChartDecis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hangingPunct="0"/>
              <a:r>
                <a:rPr lang="en-US" altLang="zh-CN" sz="2000" dirty="0">
                  <a:solidFill>
                    <a:schemeClr val="tx1"/>
                  </a:solidFill>
                  <a:latin typeface="Times New Roman" charset="0"/>
                </a:rPr>
                <a:t> </a:t>
              </a:r>
              <a:r>
                <a:rPr lang="en-US" altLang="zh-CN" sz="2000" dirty="0" err="1">
                  <a:solidFill>
                    <a:schemeClr val="bg2"/>
                  </a:solidFill>
                </a:rPr>
                <a:t>exp</a:t>
              </a:r>
              <a:endParaRPr lang="zh-CN" altLang="en-US" sz="1000" dirty="0">
                <a:solidFill>
                  <a:schemeClr val="bg2"/>
                </a:solidFill>
              </a:endParaRPr>
            </a:p>
          </p:txBody>
        </p:sp>
        <p:sp>
          <p:nvSpPr>
            <p:cNvPr id="149513" name="Rectangle 9"/>
            <p:cNvSpPr>
              <a:spLocks noChangeArrowheads="1"/>
            </p:cNvSpPr>
            <p:nvPr/>
          </p:nvSpPr>
          <p:spPr bwMode="auto">
            <a:xfrm>
              <a:off x="3600" y="1968"/>
              <a:ext cx="576" cy="2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 eaLnBrk="0" hangingPunct="0">
                <a:defRPr/>
              </a:pPr>
              <a:r>
                <a:rPr lang="zh-CN" altLang="en-US" sz="2000" dirty="0">
                  <a:solidFill>
                    <a:schemeClr val="tx1"/>
                  </a:solidFill>
                </a:rPr>
                <a:t>语句</a:t>
              </a:r>
              <a:r>
                <a:rPr lang="en-US" altLang="zh-CN" sz="20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7904" name="Line 10"/>
            <p:cNvSpPr>
              <a:spLocks noChangeShapeType="1"/>
            </p:cNvSpPr>
            <p:nvPr/>
          </p:nvSpPr>
          <p:spPr bwMode="auto">
            <a:xfrm>
              <a:off x="3888" y="960"/>
              <a:ext cx="0" cy="45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5" name="Line 11"/>
            <p:cNvSpPr>
              <a:spLocks noChangeShapeType="1"/>
            </p:cNvSpPr>
            <p:nvPr/>
          </p:nvSpPr>
          <p:spPr bwMode="auto">
            <a:xfrm>
              <a:off x="3887" y="1800"/>
              <a:ext cx="1" cy="1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6" name="Line 12"/>
            <p:cNvSpPr>
              <a:spLocks noChangeShapeType="1"/>
            </p:cNvSpPr>
            <p:nvPr/>
          </p:nvSpPr>
          <p:spPr bwMode="auto">
            <a:xfrm>
              <a:off x="3840" y="2208"/>
              <a:ext cx="1" cy="1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7" name="Line 13"/>
            <p:cNvSpPr>
              <a:spLocks noChangeShapeType="1"/>
            </p:cNvSpPr>
            <p:nvPr/>
          </p:nvSpPr>
          <p:spPr bwMode="auto">
            <a:xfrm>
              <a:off x="3840" y="2736"/>
              <a:ext cx="1" cy="1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8" name="Text Box 14"/>
            <p:cNvSpPr txBox="1">
              <a:spLocks noChangeArrowheads="1"/>
            </p:cNvSpPr>
            <p:nvPr/>
          </p:nvSpPr>
          <p:spPr bwMode="auto">
            <a:xfrm>
              <a:off x="3504" y="2688"/>
              <a:ext cx="192" cy="1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9pPr>
            </a:lstStyle>
            <a:p>
              <a:pPr algn="just" eaLnBrk="0" hangingPunct="0"/>
              <a:r>
                <a:rPr lang="zh-CN" altLang="en-US" sz="2000">
                  <a:solidFill>
                    <a:schemeClr val="tx1"/>
                  </a:solidFill>
                  <a:latin typeface="Times New Roman" charset="0"/>
                </a:rPr>
                <a:t>假</a:t>
              </a:r>
            </a:p>
          </p:txBody>
        </p:sp>
        <p:sp>
          <p:nvSpPr>
            <p:cNvPr id="37909" name="AutoShape 15"/>
            <p:cNvSpPr>
              <a:spLocks noChangeArrowheads="1"/>
            </p:cNvSpPr>
            <p:nvPr/>
          </p:nvSpPr>
          <p:spPr bwMode="auto">
            <a:xfrm>
              <a:off x="3408" y="2400"/>
              <a:ext cx="912" cy="350"/>
            </a:xfrm>
            <a:prstGeom prst="flowChartDecis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lang="en-US" altLang="zh-CN" sz="1800" dirty="0" err="1">
                  <a:solidFill>
                    <a:srgbClr val="CC0066"/>
                  </a:solidFill>
                </a:rPr>
                <a:t>expb</a:t>
              </a:r>
              <a:endParaRPr lang="en-US" altLang="zh-CN" sz="1800" dirty="0">
                <a:solidFill>
                  <a:srgbClr val="CC0066"/>
                </a:solidFill>
              </a:endParaRPr>
            </a:p>
          </p:txBody>
        </p:sp>
        <p:sp>
          <p:nvSpPr>
            <p:cNvPr id="149520" name="Rectangle 16"/>
            <p:cNvSpPr>
              <a:spLocks noChangeArrowheads="1"/>
            </p:cNvSpPr>
            <p:nvPr/>
          </p:nvSpPr>
          <p:spPr bwMode="auto">
            <a:xfrm>
              <a:off x="3552" y="2942"/>
              <a:ext cx="672" cy="2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 eaLnBrk="0" hangingPunct="0">
                <a:defRPr/>
              </a:pPr>
              <a:r>
                <a:rPr lang="zh-CN" altLang="en-US" sz="900" dirty="0">
                  <a:solidFill>
                    <a:schemeClr val="tx1"/>
                  </a:solidFill>
                </a:rPr>
                <a:t> </a:t>
              </a:r>
              <a:r>
                <a:rPr lang="zh-CN" altLang="en-US" sz="2000" dirty="0">
                  <a:solidFill>
                    <a:schemeClr val="tx1"/>
                  </a:solidFill>
                </a:rPr>
                <a:t>语句</a:t>
              </a:r>
              <a:r>
                <a:rPr lang="en-US" altLang="zh-CN" sz="2000" dirty="0">
                  <a:solidFill>
                    <a:schemeClr val="tx1"/>
                  </a:solidFill>
                </a:rPr>
                <a:t>2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49521" name="Text Box 17"/>
            <p:cNvSpPr txBox="1">
              <a:spLocks noChangeArrowheads="1"/>
            </p:cNvSpPr>
            <p:nvPr/>
          </p:nvSpPr>
          <p:spPr bwMode="auto">
            <a:xfrm>
              <a:off x="4740" y="2160"/>
              <a:ext cx="349" cy="8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1" lang="zh-CN" altLang="en-US" sz="2400" dirty="0">
                  <a:solidFill>
                    <a:schemeClr val="bg2"/>
                  </a:solidFill>
                  <a:latin typeface="Times New Roman" charset="0"/>
                  <a:ea typeface="黑体" charset="0"/>
                  <a:cs typeface="黑体" charset="0"/>
                </a:rPr>
                <a:t>循环体</a:t>
              </a:r>
              <a:endParaRPr kumimoji="1" lang="zh-CN" altLang="en-US" sz="2400" dirty="0">
                <a:solidFill>
                  <a:schemeClr val="bg2"/>
                </a:solidFill>
                <a:latin typeface="Times New Roman" charset="0"/>
              </a:endParaRPr>
            </a:p>
          </p:txBody>
        </p:sp>
        <p:sp>
          <p:nvSpPr>
            <p:cNvPr id="149522" name="Freeform 18"/>
            <p:cNvSpPr>
              <a:spLocks/>
            </p:cNvSpPr>
            <p:nvPr/>
          </p:nvSpPr>
          <p:spPr bwMode="auto">
            <a:xfrm>
              <a:off x="4368" y="2592"/>
              <a:ext cx="240" cy="1200"/>
            </a:xfrm>
            <a:custGeom>
              <a:avLst/>
              <a:gdLst>
                <a:gd name="T0" fmla="*/ 0 w 240"/>
                <a:gd name="T1" fmla="*/ 0 h 1056"/>
                <a:gd name="T2" fmla="*/ 240 w 240"/>
                <a:gd name="T3" fmla="*/ 0 h 1056"/>
                <a:gd name="T4" fmla="*/ 240 w 240"/>
                <a:gd name="T5" fmla="*/ 1056 h 10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0" h="1056">
                  <a:moveTo>
                    <a:pt x="0" y="0"/>
                  </a:moveTo>
                  <a:lnTo>
                    <a:pt x="240" y="0"/>
                  </a:lnTo>
                  <a:lnTo>
                    <a:pt x="240" y="1056"/>
                  </a:lnTo>
                </a:path>
              </a:pathLst>
            </a:custGeom>
            <a:noFill/>
            <a:ln w="28575" cmpd="sng">
              <a:solidFill>
                <a:schemeClr val="bg2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7913" name="Text Box 19"/>
            <p:cNvSpPr txBox="1">
              <a:spLocks noChangeArrowheads="1"/>
            </p:cNvSpPr>
            <p:nvPr/>
          </p:nvSpPr>
          <p:spPr bwMode="auto">
            <a:xfrm>
              <a:off x="4272" y="2256"/>
              <a:ext cx="444" cy="2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hlink"/>
                  </a:solidFill>
                  <a:latin typeface="Arial" charset="0"/>
                  <a:ea typeface="宋体" charset="0"/>
                </a:defRPr>
              </a:lvl9pPr>
            </a:lstStyle>
            <a:p>
              <a:pPr algn="just" eaLnBrk="0" hangingPunct="0"/>
              <a:r>
                <a:rPr lang="zh-CN" altLang="en-US" sz="2000">
                  <a:solidFill>
                    <a:srgbClr val="CC0066"/>
                  </a:solidFill>
                  <a:latin typeface="Times New Roman" charset="0"/>
                </a:rPr>
                <a:t>真</a:t>
              </a:r>
              <a:endParaRPr lang="en-US" altLang="zh-CN" sz="2000">
                <a:solidFill>
                  <a:srgbClr val="CC0066"/>
                </a:solidFill>
                <a:latin typeface="Times New Roman" charset="0"/>
              </a:endParaRPr>
            </a:p>
          </p:txBody>
        </p:sp>
        <p:cxnSp>
          <p:nvCxnSpPr>
            <p:cNvPr id="149524" name="AutoShape 20"/>
            <p:cNvCxnSpPr>
              <a:cxnSpLocks noChangeShapeType="1"/>
              <a:stCxn id="149520" idx="2"/>
              <a:endCxn id="37902" idx="1"/>
            </p:cNvCxnSpPr>
            <p:nvPr/>
          </p:nvCxnSpPr>
          <p:spPr bwMode="auto">
            <a:xfrm rot="16200000" flipV="1">
              <a:off x="2712" y="2040"/>
              <a:ext cx="1584" cy="768"/>
            </a:xfrm>
            <a:prstGeom prst="bentConnector4">
              <a:avLst>
                <a:gd name="adj1" fmla="val -33333"/>
                <a:gd name="adj2" fmla="val 149866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49525" name="AutoShape 21"/>
            <p:cNvCxnSpPr>
              <a:cxnSpLocks noChangeShapeType="1"/>
              <a:stCxn id="37902" idx="3"/>
            </p:cNvCxnSpPr>
            <p:nvPr/>
          </p:nvCxnSpPr>
          <p:spPr bwMode="auto">
            <a:xfrm>
              <a:off x="4608" y="1632"/>
              <a:ext cx="720" cy="2160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49526" name="Line 22"/>
            <p:cNvSpPr>
              <a:spLocks noChangeShapeType="1"/>
            </p:cNvSpPr>
            <p:nvPr/>
          </p:nvSpPr>
          <p:spPr bwMode="auto">
            <a:xfrm flipH="1">
              <a:off x="4320" y="3792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49527" name="Line 23"/>
            <p:cNvSpPr>
              <a:spLocks noChangeShapeType="1"/>
            </p:cNvSpPr>
            <p:nvPr/>
          </p:nvSpPr>
          <p:spPr bwMode="auto">
            <a:xfrm>
              <a:off x="4320" y="3792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49529" name="Rectangle 25"/>
          <p:cNvSpPr>
            <a:spLocks noChangeArrowheads="1"/>
          </p:cNvSpPr>
          <p:nvPr/>
        </p:nvSpPr>
        <p:spPr bwMode="auto">
          <a:xfrm>
            <a:off x="3962400" y="76200"/>
            <a:ext cx="4876800" cy="173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accent1"/>
              </a:buClr>
              <a:buSzPct val="70000"/>
              <a:buFont typeface="Monotype Sorts" charset="0"/>
              <a:buNone/>
              <a:defRPr/>
            </a:pPr>
            <a:r>
              <a:rPr kumimoji="1" lang="en-US" altLang="zh-CN" sz="2400" dirty="0">
                <a:solidFill>
                  <a:schemeClr val="tx1"/>
                </a:solidFill>
              </a:rPr>
              <a:t>for (</a:t>
            </a:r>
            <a:r>
              <a:rPr kumimoji="1" lang="en-US" altLang="zh-CN" sz="2400" dirty="0" err="1">
                <a:solidFill>
                  <a:schemeClr val="tx1"/>
                </a:solidFill>
              </a:rPr>
              <a:t>i</a:t>
            </a:r>
            <a:r>
              <a:rPr kumimoji="1" lang="en-US" altLang="zh-CN" sz="2400" dirty="0">
                <a:solidFill>
                  <a:schemeClr val="tx1"/>
                </a:solidFill>
              </a:rPr>
              <a:t> = 2; </a:t>
            </a:r>
            <a:r>
              <a:rPr kumimoji="1" lang="en-US" altLang="zh-CN" sz="2400" dirty="0" err="1">
                <a:solidFill>
                  <a:schemeClr val="bg2"/>
                </a:solidFill>
              </a:rPr>
              <a:t>i</a:t>
            </a:r>
            <a:r>
              <a:rPr kumimoji="1" lang="en-US" altLang="zh-CN" sz="2400" dirty="0">
                <a:solidFill>
                  <a:schemeClr val="bg2"/>
                </a:solidFill>
              </a:rPr>
              <a:t> &lt;= limit</a:t>
            </a:r>
            <a:r>
              <a:rPr kumimoji="1" lang="en-US" altLang="zh-CN" sz="2400" dirty="0">
                <a:solidFill>
                  <a:schemeClr val="tx1"/>
                </a:solidFill>
              </a:rPr>
              <a:t>; </a:t>
            </a:r>
            <a:r>
              <a:rPr kumimoji="1" lang="en-US" altLang="zh-CN" sz="2400" dirty="0" err="1">
                <a:solidFill>
                  <a:schemeClr val="tx1"/>
                </a:solidFill>
              </a:rPr>
              <a:t>i</a:t>
            </a:r>
            <a:r>
              <a:rPr kumimoji="1" lang="en-US" altLang="zh-CN" sz="2400" dirty="0">
                <a:solidFill>
                  <a:schemeClr val="tx1"/>
                </a:solidFill>
              </a:rPr>
              <a:t>++)</a:t>
            </a:r>
            <a:endParaRPr kumimoji="1" lang="zh-CN" altLang="en-US" sz="2400" dirty="0">
              <a:solidFill>
                <a:schemeClr val="tx1"/>
              </a:solidFill>
            </a:endParaRPr>
          </a:p>
          <a:p>
            <a:pPr>
              <a:spcBef>
                <a:spcPct val="20000"/>
              </a:spcBef>
              <a:buClr>
                <a:schemeClr val="accent1"/>
              </a:buClr>
              <a:buSzPct val="70000"/>
              <a:buFont typeface="Monotype Sorts" charset="0"/>
              <a:buNone/>
              <a:defRPr/>
            </a:pPr>
            <a:r>
              <a:rPr kumimoji="1" lang="zh-CN" altLang="en-US" sz="2400" dirty="0">
                <a:solidFill>
                  <a:schemeClr val="tx1"/>
                </a:solidFill>
              </a:rPr>
              <a:t>   </a:t>
            </a:r>
            <a:r>
              <a:rPr kumimoji="1" lang="en-US" altLang="zh-CN" sz="2400" dirty="0">
                <a:solidFill>
                  <a:schemeClr val="tx1"/>
                </a:solidFill>
              </a:rPr>
              <a:t>if (m % </a:t>
            </a:r>
            <a:r>
              <a:rPr kumimoji="1" lang="en-US" altLang="zh-CN" sz="2400" dirty="0" err="1">
                <a:solidFill>
                  <a:schemeClr val="tx1"/>
                </a:solidFill>
              </a:rPr>
              <a:t>i</a:t>
            </a:r>
            <a:r>
              <a:rPr kumimoji="1" lang="en-US" altLang="zh-CN" sz="2400" dirty="0">
                <a:solidFill>
                  <a:schemeClr val="tx1"/>
                </a:solidFill>
              </a:rPr>
              <a:t> == 0)  </a:t>
            </a:r>
            <a:r>
              <a:rPr kumimoji="1" lang="en-US" altLang="zh-CN" sz="2400" dirty="0">
                <a:solidFill>
                  <a:srgbClr val="CC0066"/>
                </a:solidFill>
              </a:rPr>
              <a:t>break</a:t>
            </a:r>
            <a:r>
              <a:rPr kumimoji="1" lang="en-US" altLang="zh-CN" sz="2400" dirty="0">
                <a:solidFill>
                  <a:schemeClr val="tx1"/>
                </a:solidFill>
              </a:rPr>
              <a:t>; </a:t>
            </a: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70000"/>
              <a:buFont typeface="Monotype Sorts" charset="0"/>
              <a:buNone/>
              <a:defRPr/>
            </a:pPr>
            <a:r>
              <a:rPr kumimoji="1" lang="en-US" altLang="zh-CN" sz="2400" dirty="0">
                <a:solidFill>
                  <a:schemeClr val="tx1"/>
                </a:solidFill>
              </a:rPr>
              <a:t>if (</a:t>
            </a:r>
            <a:r>
              <a:rPr kumimoji="1" lang="en-US" altLang="zh-CN" sz="2400" dirty="0" err="1">
                <a:solidFill>
                  <a:schemeClr val="tx1"/>
                </a:solidFill>
              </a:rPr>
              <a:t>i</a:t>
            </a:r>
            <a:r>
              <a:rPr kumimoji="1" lang="en-US" altLang="zh-CN" sz="2400" dirty="0">
                <a:solidFill>
                  <a:schemeClr val="tx1"/>
                </a:solidFill>
              </a:rPr>
              <a:t> &gt; limit ) </a:t>
            </a:r>
            <a:r>
              <a:rPr kumimoji="1" lang="zh-CN" altLang="en-US" sz="2400" dirty="0">
                <a:solidFill>
                  <a:schemeClr val="tx1"/>
                </a:solidFill>
              </a:rPr>
              <a:t> </a:t>
            </a:r>
            <a:r>
              <a:rPr kumimoji="1" lang="en-US" altLang="zh-CN" sz="2400" dirty="0" err="1">
                <a:solidFill>
                  <a:schemeClr val="tx1"/>
                </a:solidFill>
              </a:rPr>
              <a:t>printf</a:t>
            </a:r>
            <a:r>
              <a:rPr kumimoji="1" lang="en-US" altLang="zh-CN" sz="2400" dirty="0">
                <a:solidFill>
                  <a:schemeClr val="tx1"/>
                </a:solidFill>
              </a:rPr>
              <a:t>("Yes!");  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charset="0"/>
              <a:buNone/>
              <a:defRPr/>
            </a:pPr>
            <a:r>
              <a:rPr kumimoji="1" lang="en-US" altLang="zh-CN" sz="2400" dirty="0">
                <a:solidFill>
                  <a:schemeClr val="tx1"/>
                </a:solidFill>
              </a:rPr>
              <a:t>else   </a:t>
            </a:r>
            <a:r>
              <a:rPr kumimoji="1" lang="en-US" altLang="zh-CN" sz="2400" dirty="0" err="1">
                <a:solidFill>
                  <a:schemeClr val="tx1"/>
                </a:solidFill>
              </a:rPr>
              <a:t>printf</a:t>
            </a:r>
            <a:r>
              <a:rPr kumimoji="1" lang="en-US" altLang="zh-CN" sz="2400" dirty="0">
                <a:solidFill>
                  <a:schemeClr val="tx1"/>
                </a:solidFill>
              </a:rPr>
              <a:t>("No!\n"); </a:t>
            </a:r>
          </a:p>
        </p:txBody>
      </p:sp>
      <p:sp>
        <p:nvSpPr>
          <p:cNvPr id="149533" name="Rectangle 29"/>
          <p:cNvSpPr>
            <a:spLocks noChangeArrowheads="1"/>
          </p:cNvSpPr>
          <p:nvPr/>
        </p:nvSpPr>
        <p:spPr bwMode="auto">
          <a:xfrm>
            <a:off x="381000" y="4114800"/>
            <a:ext cx="3759200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kumimoji="1" lang="zh-CN" altLang="en-US" sz="2800" dirty="0">
                <a:solidFill>
                  <a:schemeClr val="tx1"/>
                </a:solidFill>
              </a:rPr>
              <a:t>当循环有多个出口时：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kumimoji="1" lang="zh-CN" altLang="en-US" sz="2800" dirty="0">
                <a:solidFill>
                  <a:schemeClr val="tx1"/>
                </a:solidFill>
              </a:rPr>
              <a:t>共同表示循环条件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kumimoji="1" lang="zh-CN" altLang="en-US" sz="2800" dirty="0">
                <a:solidFill>
                  <a:schemeClr val="tx1"/>
                </a:solidFill>
              </a:rPr>
              <a:t>区分结束条件</a:t>
            </a:r>
            <a:endParaRPr lang="zh-CN" altLang="en-US" sz="28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149534" name="Rectangle 30"/>
          <p:cNvSpPr>
            <a:spLocks noChangeArrowheads="1"/>
          </p:cNvSpPr>
          <p:nvPr/>
        </p:nvSpPr>
        <p:spPr bwMode="auto">
          <a:xfrm>
            <a:off x="3886200" y="990600"/>
            <a:ext cx="4191000" cy="838200"/>
          </a:xfrm>
          <a:prstGeom prst="rect">
            <a:avLst/>
          </a:prstGeom>
          <a:noFill/>
          <a:ln w="9525" cap="rnd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grpSp>
        <p:nvGrpSpPr>
          <p:cNvPr id="149537" name="Group 33"/>
          <p:cNvGrpSpPr>
            <a:grpSpLocks/>
          </p:cNvGrpSpPr>
          <p:nvPr/>
        </p:nvGrpSpPr>
        <p:grpSpPr bwMode="auto">
          <a:xfrm>
            <a:off x="2971800" y="1828800"/>
            <a:ext cx="1371600" cy="3657600"/>
            <a:chOff x="1872" y="1152"/>
            <a:chExt cx="864" cy="2304"/>
          </a:xfrm>
        </p:grpSpPr>
        <p:sp>
          <p:nvSpPr>
            <p:cNvPr id="149535" name="Line 31"/>
            <p:cNvSpPr>
              <a:spLocks noChangeShapeType="1"/>
            </p:cNvSpPr>
            <p:nvPr/>
          </p:nvSpPr>
          <p:spPr bwMode="auto">
            <a:xfrm>
              <a:off x="1872" y="3456"/>
              <a:ext cx="384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49536" name="Line 32"/>
            <p:cNvSpPr>
              <a:spLocks noChangeShapeType="1"/>
            </p:cNvSpPr>
            <p:nvPr/>
          </p:nvSpPr>
          <p:spPr bwMode="auto">
            <a:xfrm flipV="1">
              <a:off x="2256" y="1152"/>
              <a:ext cx="480" cy="230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1465847" y="1052736"/>
            <a:ext cx="80189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err="1">
                <a:solidFill>
                  <a:schemeClr val="bg2"/>
                </a:solidFill>
              </a:rPr>
              <a:t>exp</a:t>
            </a:r>
            <a:endParaRPr lang="zh-CN" altLang="en-US" sz="2800" dirty="0"/>
          </a:p>
        </p:txBody>
      </p:sp>
      <p:sp>
        <p:nvSpPr>
          <p:cNvPr id="3" name="矩形 2"/>
          <p:cNvSpPr/>
          <p:nvPr/>
        </p:nvSpPr>
        <p:spPr>
          <a:xfrm>
            <a:off x="1550001" y="2086630"/>
            <a:ext cx="10227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 err="1">
                <a:solidFill>
                  <a:srgbClr val="CC0066"/>
                </a:solidFill>
              </a:rPr>
              <a:t>expb</a:t>
            </a:r>
            <a:endParaRPr lang="zh-CN" altLang="en-US" sz="2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9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9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9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9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9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9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9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9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9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9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9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9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9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9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7" grpId="0" uiExpand="1"/>
      <p:bldP spid="149533" grpId="0" build="p" autoUpdateAnimBg="0"/>
      <p:bldP spid="149534" grpId="0" animBg="1"/>
      <p:bldP spid="2" grpId="0"/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3" name="Rectangle 3"/>
          <p:cNvSpPr>
            <a:spLocks noGrp="1" noChangeArrowheads="1"/>
          </p:cNvSpPr>
          <p:nvPr>
            <p:ph type="title"/>
          </p:nvPr>
        </p:nvSpPr>
        <p:spPr>
          <a:xfrm>
            <a:off x="683568" y="415117"/>
            <a:ext cx="5400600" cy="707886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4000" dirty="0"/>
              <a:t>练习</a:t>
            </a:r>
            <a:r>
              <a:rPr lang="en-US" altLang="zh-CN" sz="4000" dirty="0"/>
              <a:t>-</a:t>
            </a:r>
            <a:r>
              <a:rPr lang="zh-CN" altLang="en-US" sz="4000" dirty="0"/>
              <a:t>输出结果是什么？</a:t>
            </a:r>
          </a:p>
        </p:txBody>
      </p:sp>
      <p:sp>
        <p:nvSpPr>
          <p:cNvPr id="148487" name="Rectangle 7"/>
          <p:cNvSpPr>
            <a:spLocks noChangeArrowheads="1"/>
          </p:cNvSpPr>
          <p:nvPr/>
        </p:nvSpPr>
        <p:spPr bwMode="auto">
          <a:xfrm>
            <a:off x="2771800" y="4077072"/>
            <a:ext cx="6048672" cy="2234458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10000"/>
              </a:spcBef>
              <a:defRPr/>
            </a:pPr>
            <a:r>
              <a:rPr kumimoji="1" lang="en-US" altLang="zh-CN" sz="2400" b="0" dirty="0">
                <a:solidFill>
                  <a:schemeClr val="tx1"/>
                </a:solidFill>
              </a:rPr>
              <a:t>for (</a:t>
            </a:r>
            <a:r>
              <a:rPr kumimoji="1" lang="en-US" altLang="zh-CN" sz="2400" b="0" dirty="0" err="1">
                <a:solidFill>
                  <a:schemeClr val="tx1"/>
                </a:solidFill>
              </a:rPr>
              <a:t>i</a:t>
            </a:r>
            <a:r>
              <a:rPr kumimoji="1" lang="en-US" altLang="zh-CN" sz="2400" b="0" dirty="0">
                <a:solidFill>
                  <a:schemeClr val="tx1"/>
                </a:solidFill>
              </a:rPr>
              <a:t> = 2; </a:t>
            </a:r>
            <a:r>
              <a:rPr kumimoji="1" lang="en-US" altLang="zh-CN" sz="2400" b="0" dirty="0" err="1">
                <a:solidFill>
                  <a:schemeClr val="tx1"/>
                </a:solidFill>
              </a:rPr>
              <a:t>i</a:t>
            </a:r>
            <a:r>
              <a:rPr kumimoji="1" lang="en-US" altLang="zh-CN" sz="2400" b="0" dirty="0">
                <a:solidFill>
                  <a:schemeClr val="tx1"/>
                </a:solidFill>
              </a:rPr>
              <a:t> &lt;= limit; </a:t>
            </a:r>
            <a:r>
              <a:rPr kumimoji="1" lang="en-US" altLang="zh-CN" sz="2400" b="0" dirty="0" err="1">
                <a:solidFill>
                  <a:schemeClr val="tx1"/>
                </a:solidFill>
              </a:rPr>
              <a:t>i</a:t>
            </a:r>
            <a:r>
              <a:rPr kumimoji="1" lang="en-US" altLang="zh-CN" sz="2400" b="0" dirty="0">
                <a:solidFill>
                  <a:schemeClr val="tx1"/>
                </a:solidFill>
              </a:rPr>
              <a:t>++)      	</a:t>
            </a:r>
            <a:endParaRPr kumimoji="1" lang="zh-CN" altLang="en-US" sz="2400" b="0" dirty="0">
              <a:solidFill>
                <a:schemeClr val="tx1"/>
              </a:solidFill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70000"/>
              <a:buFont typeface="Monotype Sorts" charset="0"/>
              <a:buNone/>
              <a:defRPr/>
            </a:pPr>
            <a:r>
              <a:rPr kumimoji="1" lang="zh-CN" altLang="en-US" sz="2400" b="0" dirty="0">
                <a:solidFill>
                  <a:schemeClr val="tx1"/>
                </a:solidFill>
              </a:rPr>
              <a:t>  </a:t>
            </a:r>
            <a:r>
              <a:rPr kumimoji="1" lang="en-US" altLang="zh-CN" sz="2400" b="0" dirty="0">
                <a:solidFill>
                  <a:schemeClr val="tx1"/>
                </a:solidFill>
              </a:rPr>
              <a:t>if (m % </a:t>
            </a:r>
            <a:r>
              <a:rPr kumimoji="1" lang="en-US" altLang="zh-CN" sz="2400" b="0" dirty="0" err="1">
                <a:solidFill>
                  <a:schemeClr val="tx1"/>
                </a:solidFill>
              </a:rPr>
              <a:t>i</a:t>
            </a:r>
            <a:r>
              <a:rPr kumimoji="1" lang="en-US" altLang="zh-CN" sz="2400" b="0" dirty="0">
                <a:solidFill>
                  <a:schemeClr val="tx1"/>
                </a:solidFill>
              </a:rPr>
              <a:t> == 0)</a:t>
            </a: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70000"/>
              <a:buFont typeface="Monotype Sorts" charset="0"/>
              <a:buNone/>
              <a:defRPr/>
            </a:pPr>
            <a:r>
              <a:rPr kumimoji="1" lang="en-US" altLang="zh-CN" sz="2400" b="0" dirty="0">
                <a:solidFill>
                  <a:schemeClr val="tx1"/>
                </a:solidFill>
              </a:rPr>
              <a:t>        </a:t>
            </a:r>
            <a:r>
              <a:rPr kumimoji="1" lang="en-US" altLang="zh-CN" sz="2400" b="0" dirty="0" err="1">
                <a:solidFill>
                  <a:schemeClr val="tx1"/>
                </a:solidFill>
              </a:rPr>
              <a:t>printf</a:t>
            </a:r>
            <a:r>
              <a:rPr kumimoji="1" lang="en-US" altLang="zh-CN" sz="2400" b="0" dirty="0">
                <a:solidFill>
                  <a:schemeClr val="tx1"/>
                </a:solidFill>
              </a:rPr>
              <a:t> ("No!\n");</a:t>
            </a: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70000"/>
              <a:buFont typeface="Monotype Sorts" charset="0"/>
              <a:buNone/>
              <a:defRPr/>
            </a:pPr>
            <a:r>
              <a:rPr kumimoji="1" lang="en-US" altLang="zh-CN" sz="2400" b="0" dirty="0">
                <a:solidFill>
                  <a:schemeClr val="tx1"/>
                </a:solidFill>
              </a:rPr>
              <a:t>  else</a:t>
            </a: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70000"/>
              <a:buFont typeface="Monotype Sorts" charset="0"/>
              <a:buNone/>
              <a:defRPr/>
            </a:pPr>
            <a:r>
              <a:rPr kumimoji="1" lang="en-US" altLang="zh-CN" sz="2400" b="0" dirty="0">
                <a:solidFill>
                  <a:schemeClr val="tx1"/>
                </a:solidFill>
              </a:rPr>
              <a:t>        </a:t>
            </a:r>
            <a:r>
              <a:rPr kumimoji="1" lang="en-US" altLang="zh-CN" sz="2400" b="0" dirty="0" err="1">
                <a:solidFill>
                  <a:schemeClr val="tx1"/>
                </a:solidFill>
              </a:rPr>
              <a:t>printf</a:t>
            </a:r>
            <a:r>
              <a:rPr kumimoji="1" lang="en-US" altLang="zh-CN" sz="2400" b="0" dirty="0">
                <a:solidFill>
                  <a:schemeClr val="tx1"/>
                </a:solidFill>
              </a:rPr>
              <a:t> ("Yes! \n");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139952" y="1268760"/>
            <a:ext cx="4833289" cy="2016224"/>
          </a:xfrm>
        </p:spPr>
        <p:txBody>
          <a:bodyPr/>
          <a:lstStyle/>
          <a:p>
            <a:pPr>
              <a:buClr>
                <a:schemeClr val="accent1"/>
              </a:buClr>
              <a:buSzPct val="70000"/>
              <a:buNone/>
              <a:defRPr/>
            </a:pPr>
            <a:r>
              <a:rPr kumimoji="1" lang="en-US" altLang="zh-CN" sz="2800" dirty="0"/>
              <a:t>for (</a:t>
            </a:r>
            <a:r>
              <a:rPr kumimoji="1" lang="en-US" altLang="zh-CN" sz="2800" dirty="0" err="1"/>
              <a:t>i</a:t>
            </a:r>
            <a:r>
              <a:rPr kumimoji="1" lang="en-US" altLang="zh-CN" sz="2800" dirty="0"/>
              <a:t> = 2; </a:t>
            </a:r>
            <a:r>
              <a:rPr kumimoji="1" lang="en-US" altLang="zh-CN" sz="2800" dirty="0" err="1">
                <a:solidFill>
                  <a:schemeClr val="bg2"/>
                </a:solidFill>
              </a:rPr>
              <a:t>i</a:t>
            </a:r>
            <a:r>
              <a:rPr kumimoji="1" lang="en-US" altLang="zh-CN" sz="2800" dirty="0">
                <a:solidFill>
                  <a:schemeClr val="bg2"/>
                </a:solidFill>
              </a:rPr>
              <a:t> &lt;= limit</a:t>
            </a:r>
            <a:r>
              <a:rPr kumimoji="1" lang="en-US" altLang="zh-CN" sz="2800" dirty="0"/>
              <a:t>; </a:t>
            </a:r>
            <a:r>
              <a:rPr kumimoji="1" lang="en-US" altLang="zh-CN" sz="2800" dirty="0" err="1"/>
              <a:t>i</a:t>
            </a:r>
            <a:r>
              <a:rPr kumimoji="1" lang="en-US" altLang="zh-CN" sz="2800" dirty="0"/>
              <a:t>++)</a:t>
            </a:r>
            <a:endParaRPr kumimoji="1" lang="zh-CN" altLang="en-US" sz="2800" dirty="0"/>
          </a:p>
          <a:p>
            <a:pPr>
              <a:buClr>
                <a:schemeClr val="accent1"/>
              </a:buClr>
              <a:buSzPct val="70000"/>
              <a:buNone/>
              <a:defRPr/>
            </a:pPr>
            <a:r>
              <a:rPr kumimoji="1" lang="zh-CN" altLang="en-US" sz="2800" dirty="0"/>
              <a:t>   </a:t>
            </a:r>
            <a:r>
              <a:rPr kumimoji="1" lang="en-US" altLang="zh-CN" sz="2800" dirty="0"/>
              <a:t>if (m % i == 0)  </a:t>
            </a:r>
            <a:r>
              <a:rPr kumimoji="1" lang="en-US" altLang="zh-CN" sz="2800" dirty="0">
                <a:solidFill>
                  <a:srgbClr val="CC0066"/>
                </a:solidFill>
              </a:rPr>
              <a:t>break</a:t>
            </a:r>
            <a:r>
              <a:rPr kumimoji="1" lang="en-US" altLang="zh-CN" sz="2800" dirty="0"/>
              <a:t>; </a:t>
            </a:r>
          </a:p>
          <a:p>
            <a:pPr algn="just">
              <a:buClr>
                <a:schemeClr val="accent1"/>
              </a:buClr>
              <a:buSzPct val="70000"/>
              <a:buNone/>
              <a:defRPr/>
            </a:pPr>
            <a:r>
              <a:rPr kumimoji="1" lang="en-US" altLang="zh-CN" sz="2800" dirty="0"/>
              <a:t>if (</a:t>
            </a:r>
            <a:r>
              <a:rPr kumimoji="1" lang="en-US" altLang="zh-CN" sz="2800" dirty="0" err="1"/>
              <a:t>i</a:t>
            </a:r>
            <a:r>
              <a:rPr kumimoji="1" lang="en-US" altLang="zh-CN" sz="2800" dirty="0"/>
              <a:t> &gt; limit ) </a:t>
            </a:r>
            <a:r>
              <a:rPr kumimoji="1" lang="zh-CN" altLang="en-US" sz="2800" dirty="0"/>
              <a:t> </a:t>
            </a:r>
            <a:r>
              <a:rPr kumimoji="1" lang="en-US" altLang="zh-CN" sz="2800" dirty="0" err="1"/>
              <a:t>printf</a:t>
            </a:r>
            <a:r>
              <a:rPr kumimoji="1" lang="en-US" altLang="zh-CN" sz="2800" dirty="0"/>
              <a:t>("Yes!");  </a:t>
            </a:r>
          </a:p>
          <a:p>
            <a:pPr algn="just">
              <a:lnSpc>
                <a:spcPct val="80000"/>
              </a:lnSpc>
              <a:buClr>
                <a:schemeClr val="accent1"/>
              </a:buClr>
              <a:buSzPct val="70000"/>
              <a:buNone/>
              <a:defRPr/>
            </a:pPr>
            <a:r>
              <a:rPr kumimoji="1" lang="en-US" altLang="zh-CN" sz="2800" dirty="0"/>
              <a:t>else   </a:t>
            </a:r>
            <a:r>
              <a:rPr kumimoji="1" lang="en-US" altLang="zh-CN" sz="2800" dirty="0" err="1"/>
              <a:t>printf</a:t>
            </a:r>
            <a:r>
              <a:rPr kumimoji="1" lang="en-US" altLang="zh-CN" sz="2800" dirty="0"/>
              <a:t>("No!\n"); </a:t>
            </a:r>
          </a:p>
        </p:txBody>
      </p:sp>
      <p:sp>
        <p:nvSpPr>
          <p:cNvPr id="10" name="Rectangle 34"/>
          <p:cNvSpPr>
            <a:spLocks noChangeArrowheads="1"/>
          </p:cNvSpPr>
          <p:nvPr/>
        </p:nvSpPr>
        <p:spPr bwMode="auto">
          <a:xfrm>
            <a:off x="251521" y="1124744"/>
            <a:ext cx="3528392" cy="2808288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lIns="90488" tIns="44450" rIns="90488" bIns="44450"/>
          <a:lstStyle/>
          <a:p>
            <a:pPr marL="342900" indent="-342900" algn="just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for (</a:t>
            </a:r>
            <a:r>
              <a:rPr lang="en-US" altLang="zh-CN" sz="2400" dirty="0" err="1">
                <a:solidFill>
                  <a:schemeClr val="tx1"/>
                </a:solidFill>
              </a:rPr>
              <a:t>i</a:t>
            </a:r>
            <a:r>
              <a:rPr lang="en-US" altLang="zh-CN" sz="2400" dirty="0">
                <a:solidFill>
                  <a:schemeClr val="tx1"/>
                </a:solidFill>
              </a:rPr>
              <a:t> = 2; </a:t>
            </a:r>
            <a:r>
              <a:rPr lang="en-US" altLang="zh-CN" sz="2400" dirty="0" err="1">
                <a:solidFill>
                  <a:schemeClr val="tx1"/>
                </a:solidFill>
              </a:rPr>
              <a:t>i</a:t>
            </a:r>
            <a:r>
              <a:rPr lang="en-US" altLang="zh-CN" sz="2400" dirty="0">
                <a:solidFill>
                  <a:schemeClr val="tx1"/>
                </a:solidFill>
              </a:rPr>
              <a:t> &lt;= limit; </a:t>
            </a:r>
            <a:r>
              <a:rPr lang="en-US" altLang="zh-CN" sz="2400" dirty="0" err="1">
                <a:solidFill>
                  <a:schemeClr val="tx1"/>
                </a:solidFill>
              </a:rPr>
              <a:t>i</a:t>
            </a:r>
            <a:r>
              <a:rPr lang="en-US" altLang="zh-CN" sz="2400" dirty="0">
                <a:solidFill>
                  <a:schemeClr val="tx1"/>
                </a:solidFill>
              </a:rPr>
              <a:t>++)</a:t>
            </a:r>
          </a:p>
          <a:p>
            <a:pPr marL="342900" indent="-342900" algn="just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  <a:defRPr/>
            </a:pPr>
            <a:r>
              <a:rPr lang="en-US" altLang="zh-CN" sz="2400" dirty="0">
                <a:solidFill>
                  <a:schemeClr val="tx1"/>
                </a:solidFill>
                <a:cs typeface="Arial Unicode MS" charset="0"/>
              </a:rPr>
              <a:t>    if (</a:t>
            </a:r>
            <a:r>
              <a:rPr lang="en-US" altLang="zh-CN" sz="2400" dirty="0" err="1">
                <a:solidFill>
                  <a:schemeClr val="tx1"/>
                </a:solidFill>
                <a:cs typeface="Arial Unicode MS" charset="0"/>
              </a:rPr>
              <a:t>m%i</a:t>
            </a:r>
            <a:r>
              <a:rPr lang="en-US" altLang="zh-CN" sz="2400" dirty="0">
                <a:solidFill>
                  <a:schemeClr val="tx1"/>
                </a:solidFill>
                <a:cs typeface="Arial Unicode MS" charset="0"/>
              </a:rPr>
              <a:t> == 0){</a:t>
            </a:r>
          </a:p>
          <a:p>
            <a:pPr marL="342900" indent="-342900" algn="just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  <a:defRPr/>
            </a:pPr>
            <a:r>
              <a:rPr lang="en-US" altLang="zh-CN" sz="2400" dirty="0">
                <a:solidFill>
                  <a:schemeClr val="tx1"/>
                </a:solidFill>
                <a:cs typeface="Arial Unicode MS" charset="0"/>
              </a:rPr>
              <a:t>        </a:t>
            </a:r>
            <a:r>
              <a:rPr lang="en-US" altLang="zh-CN" sz="2400" dirty="0" err="1">
                <a:solidFill>
                  <a:schemeClr val="tx1"/>
                </a:solidFill>
                <a:cs typeface="Arial Unicode MS" charset="0"/>
              </a:rPr>
              <a:t>printf</a:t>
            </a:r>
            <a:r>
              <a:rPr lang="en-US" altLang="zh-CN" sz="2400" dirty="0">
                <a:solidFill>
                  <a:schemeClr val="tx1"/>
                </a:solidFill>
                <a:cs typeface="Arial Unicode MS" charset="0"/>
              </a:rPr>
              <a:t>("No!\n");</a:t>
            </a:r>
          </a:p>
          <a:p>
            <a:pPr marL="342900" indent="-342900" algn="just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  <a:defRPr/>
            </a:pPr>
            <a:r>
              <a:rPr lang="en-US" altLang="zh-CN" sz="2400" dirty="0">
                <a:solidFill>
                  <a:schemeClr val="tx1"/>
                </a:solidFill>
                <a:cs typeface="Arial Unicode MS" charset="0"/>
              </a:rPr>
              <a:t>        break;  </a:t>
            </a:r>
          </a:p>
          <a:p>
            <a:pPr marL="342900" indent="-342900" algn="just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  <a:defRPr/>
            </a:pPr>
            <a:r>
              <a:rPr lang="en-US" altLang="zh-CN" sz="2400" dirty="0">
                <a:solidFill>
                  <a:schemeClr val="tx1"/>
                </a:solidFill>
                <a:cs typeface="Arial Unicode MS" charset="0"/>
              </a:rPr>
              <a:t>    }</a:t>
            </a:r>
          </a:p>
          <a:p>
            <a:pPr marL="342900" indent="-342900" algn="just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  <a:defRPr/>
            </a:pPr>
            <a:r>
              <a:rPr lang="en-US" altLang="zh-CN" sz="2400" dirty="0" err="1">
                <a:solidFill>
                  <a:schemeClr val="tx1"/>
                </a:solidFill>
                <a:cs typeface="Arial Unicode MS" charset="0"/>
              </a:rPr>
              <a:t>printf</a:t>
            </a:r>
            <a:r>
              <a:rPr lang="en-US" altLang="zh-CN" sz="2400" dirty="0">
                <a:solidFill>
                  <a:schemeClr val="tx1"/>
                </a:solidFill>
                <a:cs typeface="Arial Unicode MS" charset="0"/>
              </a:rPr>
              <a:t>("Yes!");  </a:t>
            </a: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6300192" y="332656"/>
            <a:ext cx="2508250" cy="80645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kumimoji="1" lang="en-US" altLang="zh-CN" sz="2000" dirty="0">
                <a:solidFill>
                  <a:schemeClr val="tx1"/>
                </a:solidFill>
                <a:cs typeface="Arial" charset="0"/>
              </a:rPr>
              <a:t>Enter a number: </a:t>
            </a:r>
            <a:r>
              <a:rPr kumimoji="1" lang="en-US" altLang="zh-CN" sz="2000" dirty="0">
                <a:solidFill>
                  <a:srgbClr val="CC0066"/>
                </a:solidFill>
                <a:cs typeface="Arial Unicode MS" charset="0"/>
              </a:rPr>
              <a:t>9</a:t>
            </a:r>
          </a:p>
          <a:p>
            <a:pPr>
              <a:spcBef>
                <a:spcPct val="30000"/>
              </a:spcBef>
              <a:defRPr/>
            </a:pPr>
            <a:r>
              <a:rPr kumimoji="1" lang="en-US" altLang="zh-CN" sz="2000" dirty="0">
                <a:solidFill>
                  <a:schemeClr val="tx1"/>
                </a:solidFill>
                <a:cs typeface="Arial" charset="0"/>
              </a:rPr>
              <a:t>No!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51520" y="4221088"/>
            <a:ext cx="2508250" cy="1200329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kumimoji="1" lang="en-US" altLang="zh-CN" sz="2000" dirty="0">
                <a:solidFill>
                  <a:schemeClr val="tx1"/>
                </a:solidFill>
                <a:cs typeface="Arial" charset="0"/>
              </a:rPr>
              <a:t>Enter a number: </a:t>
            </a:r>
            <a:r>
              <a:rPr kumimoji="1" lang="en-US" altLang="zh-CN" sz="2000" dirty="0">
                <a:solidFill>
                  <a:srgbClr val="CC0066"/>
                </a:solidFill>
                <a:cs typeface="Arial Unicode MS" charset="0"/>
              </a:rPr>
              <a:t>9</a:t>
            </a:r>
          </a:p>
          <a:p>
            <a:pPr>
              <a:spcBef>
                <a:spcPct val="30000"/>
              </a:spcBef>
              <a:defRPr/>
            </a:pPr>
            <a:r>
              <a:rPr kumimoji="1" lang="en-US" altLang="zh-CN" sz="2000" dirty="0">
                <a:solidFill>
                  <a:schemeClr val="tx1"/>
                </a:solidFill>
                <a:cs typeface="Arial" charset="0"/>
              </a:rPr>
              <a:t>No!</a:t>
            </a:r>
          </a:p>
          <a:p>
            <a:pPr>
              <a:spcBef>
                <a:spcPct val="30000"/>
              </a:spcBef>
              <a:defRPr/>
            </a:pPr>
            <a:r>
              <a:rPr kumimoji="1" lang="en-US" altLang="zh-CN" sz="2000" dirty="0">
                <a:solidFill>
                  <a:schemeClr val="tx1"/>
                </a:solidFill>
                <a:cs typeface="Arial" charset="0"/>
              </a:rPr>
              <a:t>Yes!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300192" y="4221088"/>
            <a:ext cx="2508250" cy="160043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kumimoji="1" lang="en-US" altLang="zh-CN" sz="2000" dirty="0">
                <a:solidFill>
                  <a:schemeClr val="tx1"/>
                </a:solidFill>
                <a:cs typeface="Arial" charset="0"/>
              </a:rPr>
              <a:t>Enter a number: </a:t>
            </a:r>
            <a:r>
              <a:rPr kumimoji="1" lang="en-US" altLang="zh-CN" sz="2000" dirty="0">
                <a:solidFill>
                  <a:srgbClr val="CC0066"/>
                </a:solidFill>
                <a:cs typeface="Arial Unicode MS" charset="0"/>
              </a:rPr>
              <a:t>9</a:t>
            </a:r>
            <a:endParaRPr kumimoji="1" lang="en-US" altLang="zh-CN" sz="2000" dirty="0">
              <a:solidFill>
                <a:schemeClr val="tx1"/>
              </a:solidFill>
              <a:cs typeface="Arial" charset="0"/>
            </a:endParaRPr>
          </a:p>
          <a:p>
            <a:pPr>
              <a:spcBef>
                <a:spcPct val="30000"/>
              </a:spcBef>
              <a:defRPr/>
            </a:pPr>
            <a:r>
              <a:rPr kumimoji="1" lang="en-US" altLang="zh-CN" sz="2000" dirty="0">
                <a:solidFill>
                  <a:schemeClr val="tx1"/>
                </a:solidFill>
                <a:cs typeface="Arial" charset="0"/>
              </a:rPr>
              <a:t>Yes!</a:t>
            </a:r>
          </a:p>
          <a:p>
            <a:pPr>
              <a:spcBef>
                <a:spcPct val="30000"/>
              </a:spcBef>
              <a:defRPr/>
            </a:pPr>
            <a:r>
              <a:rPr kumimoji="1" lang="en-US" altLang="zh-CN" sz="2000" dirty="0">
                <a:solidFill>
                  <a:schemeClr val="tx1"/>
                </a:solidFill>
                <a:cs typeface="Arial" charset="0"/>
              </a:rPr>
              <a:t>No!</a:t>
            </a:r>
          </a:p>
          <a:p>
            <a:pPr>
              <a:spcBef>
                <a:spcPct val="30000"/>
              </a:spcBef>
              <a:defRPr/>
            </a:pPr>
            <a:r>
              <a:rPr kumimoji="1" lang="en-US" altLang="zh-CN" sz="2000" dirty="0">
                <a:solidFill>
                  <a:schemeClr val="tx1"/>
                </a:solidFill>
                <a:cs typeface="Arial" charset="0"/>
              </a:rPr>
              <a:t>Yes!</a:t>
            </a:r>
          </a:p>
        </p:txBody>
      </p:sp>
    </p:spTree>
    <p:extLst>
      <p:ext uri="{BB962C8B-B14F-4D97-AF65-F5344CB8AC3E}">
        <p14:creationId xmlns:p14="http://schemas.microsoft.com/office/powerpoint/2010/main" val="37332342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8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8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7" grpId="0" animBg="1" autoUpdateAnimBg="0"/>
      <p:bldP spid="10" grpId="0" animBg="1" autoUpdateAnimBg="0"/>
      <p:bldP spid="7" grpId="0" build="p" animBg="1" autoUpdateAnimBg="0"/>
      <p:bldP spid="8" grpId="0" build="p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4038600" cy="91440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US" altLang="zh-CN" dirty="0"/>
              <a:t>continue </a:t>
            </a:r>
            <a:r>
              <a:rPr lang="zh-CN" altLang="en-US" dirty="0"/>
              <a:t>语句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600200"/>
            <a:ext cx="4249738" cy="3268663"/>
          </a:xfrm>
        </p:spPr>
        <p:txBody>
          <a:bodyPr/>
          <a:lstStyle/>
          <a:p>
            <a:pPr lvl="1">
              <a:buFontTx/>
              <a:buNone/>
              <a:defRPr/>
            </a:pPr>
            <a:r>
              <a:rPr lang="en-US" altLang="zh-CN" dirty="0"/>
              <a:t>while (</a:t>
            </a:r>
            <a:r>
              <a:rPr lang="en-US" altLang="zh-CN" dirty="0" err="1">
                <a:solidFill>
                  <a:schemeClr val="bg2"/>
                </a:solidFill>
              </a:rPr>
              <a:t>exp</a:t>
            </a:r>
            <a:r>
              <a:rPr lang="en-US" altLang="zh-CN" dirty="0"/>
              <a:t>){</a:t>
            </a:r>
            <a:endParaRPr lang="zh-CN" altLang="en-US" dirty="0"/>
          </a:p>
          <a:p>
            <a:pPr lvl="2">
              <a:buNone/>
              <a:defRPr/>
            </a:pPr>
            <a:r>
              <a:rPr lang="zh-CN" altLang="en-US" sz="2800" dirty="0"/>
              <a:t>语句</a:t>
            </a:r>
            <a:r>
              <a:rPr lang="en-US" altLang="zh-CN" sz="2800" dirty="0"/>
              <a:t>1</a:t>
            </a:r>
            <a:endParaRPr lang="zh-CN" altLang="en-US" sz="2800" dirty="0"/>
          </a:p>
          <a:p>
            <a:pPr lvl="2">
              <a:buNone/>
              <a:defRPr/>
            </a:pPr>
            <a:r>
              <a:rPr lang="en-US" altLang="zh-CN" sz="2800" dirty="0"/>
              <a:t>if (</a:t>
            </a:r>
            <a:r>
              <a:rPr lang="en-US" altLang="zh-CN" sz="2800" dirty="0" err="1">
                <a:solidFill>
                  <a:srgbClr val="CC0066"/>
                </a:solidFill>
              </a:rPr>
              <a:t>expb</a:t>
            </a:r>
            <a:r>
              <a:rPr lang="en-US" altLang="zh-CN" sz="2800" dirty="0"/>
              <a:t>)  </a:t>
            </a:r>
          </a:p>
          <a:p>
            <a:pPr lvl="3">
              <a:buNone/>
              <a:defRPr/>
            </a:pPr>
            <a:r>
              <a:rPr lang="en-US" altLang="zh-CN" sz="2800" dirty="0"/>
              <a:t>c</a:t>
            </a:r>
            <a:r>
              <a:rPr lang="en-US" altLang="zh-CN" sz="2800" i="1" dirty="0"/>
              <a:t>ontinue</a:t>
            </a:r>
            <a:r>
              <a:rPr lang="en-US" altLang="zh-CN" sz="2800" dirty="0"/>
              <a:t>;</a:t>
            </a:r>
          </a:p>
          <a:p>
            <a:pPr lvl="2">
              <a:buNone/>
              <a:defRPr/>
            </a:pPr>
            <a:r>
              <a:rPr lang="zh-CN" altLang="en-US" sz="2800" dirty="0"/>
              <a:t>语句</a:t>
            </a:r>
            <a:r>
              <a:rPr lang="en-US" altLang="zh-CN" sz="2800" dirty="0"/>
              <a:t>2</a:t>
            </a:r>
            <a:endParaRPr lang="zh-CN" altLang="en-US" sz="2800" dirty="0"/>
          </a:p>
          <a:p>
            <a:pPr lvl="1">
              <a:buFontTx/>
              <a:buNone/>
              <a:defRPr/>
            </a:pPr>
            <a:r>
              <a:rPr lang="en-US" altLang="zh-CN" dirty="0"/>
              <a:t>}</a:t>
            </a:r>
            <a:endParaRPr lang="zh-CN" altLang="en-US" dirty="0">
              <a:latin typeface="Times New Roman" charset="0"/>
            </a:endParaRPr>
          </a:p>
        </p:txBody>
      </p:sp>
      <p:grpSp>
        <p:nvGrpSpPr>
          <p:cNvPr id="38915" name="Group 48"/>
          <p:cNvGrpSpPr>
            <a:grpSpLocks/>
          </p:cNvGrpSpPr>
          <p:nvPr/>
        </p:nvGrpSpPr>
        <p:grpSpPr bwMode="auto">
          <a:xfrm>
            <a:off x="4953000" y="304800"/>
            <a:ext cx="3733800" cy="5029200"/>
            <a:chOff x="3072" y="768"/>
            <a:chExt cx="2352" cy="3168"/>
          </a:xfrm>
        </p:grpSpPr>
        <p:grpSp>
          <p:nvGrpSpPr>
            <p:cNvPr id="38917" name="Group 47"/>
            <p:cNvGrpSpPr>
              <a:grpSpLocks/>
            </p:cNvGrpSpPr>
            <p:nvPr/>
          </p:nvGrpSpPr>
          <p:grpSpPr bwMode="auto">
            <a:xfrm>
              <a:off x="3072" y="768"/>
              <a:ext cx="2352" cy="3168"/>
              <a:chOff x="3072" y="768"/>
              <a:chExt cx="2352" cy="3168"/>
            </a:xfrm>
          </p:grpSpPr>
          <p:sp>
            <p:nvSpPr>
              <p:cNvPr id="38919" name="Text Box 27"/>
              <p:cNvSpPr txBox="1">
                <a:spLocks noChangeArrowheads="1"/>
              </p:cNvSpPr>
              <p:nvPr/>
            </p:nvSpPr>
            <p:spPr bwMode="auto">
              <a:xfrm>
                <a:off x="4320" y="1536"/>
                <a:ext cx="480" cy="27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  <a:cs typeface="宋体" charset="0"/>
                  </a:defRPr>
                </a:lvl1pPr>
                <a:lvl2pPr marL="742950" indent="-285750"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algn="just" eaLnBrk="0" hangingPunct="0"/>
                <a:r>
                  <a:rPr lang="zh-CN" altLang="en-US" sz="2000">
                    <a:solidFill>
                      <a:schemeClr val="tx1"/>
                    </a:solidFill>
                    <a:latin typeface="Times New Roman" charset="0"/>
                  </a:rPr>
                  <a:t>真</a:t>
                </a:r>
                <a:endParaRPr lang="zh-CN" altLang="en-US" sz="900">
                  <a:solidFill>
                    <a:schemeClr val="tx1"/>
                  </a:solidFill>
                  <a:latin typeface="Times New Roman" charset="0"/>
                </a:endParaRPr>
              </a:p>
            </p:txBody>
          </p:sp>
          <p:sp>
            <p:nvSpPr>
              <p:cNvPr id="38920" name="Rectangle 28"/>
              <p:cNvSpPr>
                <a:spLocks noChangeArrowheads="1"/>
              </p:cNvSpPr>
              <p:nvPr/>
            </p:nvSpPr>
            <p:spPr bwMode="auto">
              <a:xfrm>
                <a:off x="3072" y="1736"/>
                <a:ext cx="2064" cy="1336"/>
              </a:xfrm>
              <a:prstGeom prst="rect">
                <a:avLst/>
              </a:prstGeom>
              <a:solidFill>
                <a:srgbClr val="FFFFFF"/>
              </a:solidFill>
              <a:ln w="9525" cap="rnd">
                <a:solidFill>
                  <a:schemeClr val="bg2"/>
                </a:solidFill>
                <a:prstDash val="sysDot"/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21" name="Text Box 29"/>
              <p:cNvSpPr txBox="1">
                <a:spLocks noChangeArrowheads="1"/>
              </p:cNvSpPr>
              <p:nvPr/>
            </p:nvSpPr>
            <p:spPr bwMode="auto">
              <a:xfrm>
                <a:off x="4800" y="1104"/>
                <a:ext cx="336" cy="23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  <a:cs typeface="宋体" charset="0"/>
                  </a:defRPr>
                </a:lvl1pPr>
                <a:lvl2pPr marL="742950" indent="-285750"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algn="just" eaLnBrk="0" hangingPunct="0"/>
                <a:r>
                  <a:rPr lang="zh-CN" altLang="en-US" sz="2000">
                    <a:solidFill>
                      <a:schemeClr val="tx1"/>
                    </a:solidFill>
                    <a:latin typeface="Times New Roman" charset="0"/>
                  </a:rPr>
                  <a:t>假</a:t>
                </a:r>
                <a:endParaRPr lang="zh-CN" altLang="en-US" sz="900">
                  <a:solidFill>
                    <a:schemeClr val="tx1"/>
                  </a:solidFill>
                  <a:latin typeface="Times New Roman" charset="0"/>
                </a:endParaRPr>
              </a:p>
            </p:txBody>
          </p:sp>
          <p:sp>
            <p:nvSpPr>
              <p:cNvPr id="38922" name="AutoShape 30"/>
              <p:cNvSpPr>
                <a:spLocks noChangeArrowheads="1"/>
              </p:cNvSpPr>
              <p:nvPr/>
            </p:nvSpPr>
            <p:spPr bwMode="auto">
              <a:xfrm>
                <a:off x="3216" y="1248"/>
                <a:ext cx="1488" cy="384"/>
              </a:xfrm>
              <a:prstGeom prst="flowChartDecision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hangingPunct="0"/>
                <a:r>
                  <a:rPr lang="en-US" altLang="zh-CN" sz="2000">
                    <a:solidFill>
                      <a:schemeClr val="bg2"/>
                    </a:solidFill>
                  </a:rPr>
                  <a:t>exp</a:t>
                </a:r>
                <a:endParaRPr lang="zh-CN" altLang="en-US" sz="1000">
                  <a:solidFill>
                    <a:schemeClr val="bg2"/>
                  </a:solidFill>
                </a:endParaRPr>
              </a:p>
            </p:txBody>
          </p:sp>
          <p:sp>
            <p:nvSpPr>
              <p:cNvPr id="153631" name="Rectangle 31"/>
              <p:cNvSpPr>
                <a:spLocks noChangeArrowheads="1"/>
              </p:cNvSpPr>
              <p:nvPr/>
            </p:nvSpPr>
            <p:spPr bwMode="auto">
              <a:xfrm>
                <a:off x="3696" y="1776"/>
                <a:ext cx="576" cy="27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just" eaLnBrk="0" hangingPunct="0">
                  <a:defRPr/>
                </a:pPr>
                <a:r>
                  <a:rPr lang="zh-CN" altLang="en-US" sz="2000" dirty="0">
                    <a:solidFill>
                      <a:schemeClr val="tx1"/>
                    </a:solidFill>
                  </a:rPr>
                  <a:t>语句1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924" name="Line 32"/>
              <p:cNvSpPr>
                <a:spLocks noChangeShapeType="1"/>
              </p:cNvSpPr>
              <p:nvPr/>
            </p:nvSpPr>
            <p:spPr bwMode="auto">
              <a:xfrm>
                <a:off x="3984" y="768"/>
                <a:ext cx="0" cy="4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25" name="Line 33"/>
              <p:cNvSpPr>
                <a:spLocks noChangeShapeType="1"/>
              </p:cNvSpPr>
              <p:nvPr/>
            </p:nvSpPr>
            <p:spPr bwMode="auto">
              <a:xfrm>
                <a:off x="3983" y="1608"/>
                <a:ext cx="1" cy="1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26" name="Line 34"/>
              <p:cNvSpPr>
                <a:spLocks noChangeShapeType="1"/>
              </p:cNvSpPr>
              <p:nvPr/>
            </p:nvSpPr>
            <p:spPr bwMode="auto">
              <a:xfrm>
                <a:off x="3936" y="2016"/>
                <a:ext cx="1" cy="1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27" name="Line 35"/>
              <p:cNvSpPr>
                <a:spLocks noChangeShapeType="1"/>
              </p:cNvSpPr>
              <p:nvPr/>
            </p:nvSpPr>
            <p:spPr bwMode="auto">
              <a:xfrm>
                <a:off x="3936" y="2544"/>
                <a:ext cx="1" cy="1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28" name="Text Box 36"/>
              <p:cNvSpPr txBox="1">
                <a:spLocks noChangeArrowheads="1"/>
              </p:cNvSpPr>
              <p:nvPr/>
            </p:nvSpPr>
            <p:spPr bwMode="auto">
              <a:xfrm>
                <a:off x="3600" y="2496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  <a:cs typeface="宋体" charset="0"/>
                  </a:defRPr>
                </a:lvl1pPr>
                <a:lvl2pPr marL="742950" indent="-285750"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algn="just" eaLnBrk="0" hangingPunct="0"/>
                <a:r>
                  <a:rPr lang="zh-CN" altLang="en-US" sz="2000">
                    <a:solidFill>
                      <a:schemeClr val="tx1"/>
                    </a:solidFill>
                    <a:latin typeface="Times New Roman" charset="0"/>
                  </a:rPr>
                  <a:t>假</a:t>
                </a:r>
              </a:p>
            </p:txBody>
          </p:sp>
          <p:sp>
            <p:nvSpPr>
              <p:cNvPr id="38929" name="AutoShape 37"/>
              <p:cNvSpPr>
                <a:spLocks noChangeArrowheads="1"/>
              </p:cNvSpPr>
              <p:nvPr/>
            </p:nvSpPr>
            <p:spPr bwMode="auto">
              <a:xfrm>
                <a:off x="3331" y="2208"/>
                <a:ext cx="1270" cy="350"/>
              </a:xfrm>
              <a:prstGeom prst="flowChartDecision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hangingPunct="0"/>
                <a:r>
                  <a:rPr lang="en-US" altLang="zh-CN" sz="2000">
                    <a:solidFill>
                      <a:srgbClr val="CC0066"/>
                    </a:solidFill>
                  </a:rPr>
                  <a:t>expb</a:t>
                </a:r>
              </a:p>
            </p:txBody>
          </p:sp>
          <p:sp>
            <p:nvSpPr>
              <p:cNvPr id="153638" name="Rectangle 38"/>
              <p:cNvSpPr>
                <a:spLocks noChangeArrowheads="1"/>
              </p:cNvSpPr>
              <p:nvPr/>
            </p:nvSpPr>
            <p:spPr bwMode="auto">
              <a:xfrm>
                <a:off x="3648" y="2750"/>
                <a:ext cx="672" cy="27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just" eaLnBrk="0" hangingPunct="0">
                  <a:defRPr/>
                </a:pPr>
                <a:r>
                  <a:rPr lang="zh-CN" altLang="en-US" sz="900" dirty="0">
                    <a:solidFill>
                      <a:schemeClr val="tx1"/>
                    </a:solidFill>
                  </a:rPr>
                  <a:t> 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语句2</a:t>
                </a:r>
              </a:p>
            </p:txBody>
          </p:sp>
          <p:sp>
            <p:nvSpPr>
              <p:cNvPr id="153639" name="Text Box 39"/>
              <p:cNvSpPr txBox="1">
                <a:spLocks noChangeArrowheads="1"/>
              </p:cNvSpPr>
              <p:nvPr/>
            </p:nvSpPr>
            <p:spPr bwMode="auto">
              <a:xfrm>
                <a:off x="4836" y="1968"/>
                <a:ext cx="349" cy="10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eaVert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kumimoji="1" lang="zh-CN" altLang="en-US" sz="2400" dirty="0">
                    <a:solidFill>
                      <a:schemeClr val="bg2"/>
                    </a:solidFill>
                    <a:latin typeface="Times New Roman" charset="0"/>
                    <a:ea typeface="黑体" charset="0"/>
                    <a:cs typeface="黑体" charset="0"/>
                  </a:rPr>
                  <a:t>循环体</a:t>
                </a:r>
                <a:endParaRPr kumimoji="1" lang="zh-CN" altLang="en-US" sz="2400" dirty="0">
                  <a:solidFill>
                    <a:schemeClr val="bg2"/>
                  </a:solidFill>
                  <a:latin typeface="Times New Roman" charset="0"/>
                </a:endParaRPr>
              </a:p>
            </p:txBody>
          </p:sp>
          <p:sp>
            <p:nvSpPr>
              <p:cNvPr id="153640" name="Freeform 40"/>
              <p:cNvSpPr>
                <a:spLocks/>
              </p:cNvSpPr>
              <p:nvPr/>
            </p:nvSpPr>
            <p:spPr bwMode="auto">
              <a:xfrm>
                <a:off x="4464" y="2400"/>
                <a:ext cx="240" cy="1104"/>
              </a:xfrm>
              <a:custGeom>
                <a:avLst/>
                <a:gdLst>
                  <a:gd name="T0" fmla="*/ 0 w 240"/>
                  <a:gd name="T1" fmla="*/ 0 h 1056"/>
                  <a:gd name="T2" fmla="*/ 240 w 240"/>
                  <a:gd name="T3" fmla="*/ 0 h 1056"/>
                  <a:gd name="T4" fmla="*/ 240 w 240"/>
                  <a:gd name="T5" fmla="*/ 1056 h 10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0" h="1056">
                    <a:moveTo>
                      <a:pt x="0" y="0"/>
                    </a:moveTo>
                    <a:lnTo>
                      <a:pt x="240" y="0"/>
                    </a:lnTo>
                    <a:lnTo>
                      <a:pt x="240" y="1056"/>
                    </a:lnTo>
                  </a:path>
                </a:pathLst>
              </a:custGeom>
              <a:noFill/>
              <a:ln w="38100" cmpd="sng">
                <a:solidFill>
                  <a:schemeClr val="bg2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8933" name="Text Box 41"/>
              <p:cNvSpPr txBox="1">
                <a:spLocks noChangeArrowheads="1"/>
              </p:cNvSpPr>
              <p:nvPr/>
            </p:nvSpPr>
            <p:spPr bwMode="auto">
              <a:xfrm>
                <a:off x="4368" y="2064"/>
                <a:ext cx="444" cy="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  <a:cs typeface="宋体" charset="0"/>
                  </a:defRPr>
                </a:lvl1pPr>
                <a:lvl2pPr marL="742950" indent="-285750"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hlink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algn="just" eaLnBrk="0" hangingPunct="0"/>
                <a:r>
                  <a:rPr lang="zh-CN" altLang="en-US" sz="2000">
                    <a:solidFill>
                      <a:srgbClr val="CC0066"/>
                    </a:solidFill>
                    <a:latin typeface="Times New Roman" charset="0"/>
                  </a:rPr>
                  <a:t>真</a:t>
                </a:r>
                <a:endParaRPr lang="en-US" altLang="zh-CN" sz="2000">
                  <a:solidFill>
                    <a:srgbClr val="CC0066"/>
                  </a:solidFill>
                  <a:latin typeface="Times New Roman" charset="0"/>
                </a:endParaRPr>
              </a:p>
            </p:txBody>
          </p:sp>
          <p:cxnSp>
            <p:nvCxnSpPr>
              <p:cNvPr id="153642" name="AutoShape 42"/>
              <p:cNvCxnSpPr>
                <a:cxnSpLocks noChangeShapeType="1"/>
                <a:stCxn id="153638" idx="2"/>
                <a:endCxn id="38922" idx="1"/>
              </p:cNvCxnSpPr>
              <p:nvPr/>
            </p:nvCxnSpPr>
            <p:spPr bwMode="auto">
              <a:xfrm rot="16200000" flipV="1">
                <a:off x="2808" y="1848"/>
                <a:ext cx="1584" cy="768"/>
              </a:xfrm>
              <a:prstGeom prst="bentConnector4">
                <a:avLst>
                  <a:gd name="adj1" fmla="val -33333"/>
                  <a:gd name="adj2" fmla="val 149866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53643" name="AutoShape 43"/>
              <p:cNvCxnSpPr>
                <a:cxnSpLocks noChangeShapeType="1"/>
                <a:stCxn id="38922" idx="3"/>
              </p:cNvCxnSpPr>
              <p:nvPr/>
            </p:nvCxnSpPr>
            <p:spPr bwMode="auto">
              <a:xfrm>
                <a:off x="4704" y="1440"/>
                <a:ext cx="720" cy="2160"/>
              </a:xfrm>
              <a:prstGeom prst="bentConnector2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sp>
            <p:nvSpPr>
              <p:cNvPr id="153644" name="Line 44"/>
              <p:cNvSpPr>
                <a:spLocks noChangeShapeType="1"/>
              </p:cNvSpPr>
              <p:nvPr/>
            </p:nvSpPr>
            <p:spPr bwMode="auto">
              <a:xfrm flipH="1">
                <a:off x="4416" y="3600"/>
                <a:ext cx="10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53645" name="Line 45"/>
              <p:cNvSpPr>
                <a:spLocks noChangeShapeType="1"/>
              </p:cNvSpPr>
              <p:nvPr/>
            </p:nvSpPr>
            <p:spPr bwMode="auto">
              <a:xfrm>
                <a:off x="4416" y="3600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153646" name="Line 46"/>
            <p:cNvSpPr>
              <a:spLocks noChangeShapeType="1"/>
            </p:cNvSpPr>
            <p:nvPr/>
          </p:nvSpPr>
          <p:spPr bwMode="auto">
            <a:xfrm flipH="1">
              <a:off x="3984" y="3504"/>
              <a:ext cx="72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53649" name="Rectangle 49"/>
          <p:cNvSpPr>
            <a:spLocks noChangeArrowheads="1"/>
          </p:cNvSpPr>
          <p:nvPr/>
        </p:nvSpPr>
        <p:spPr bwMode="auto">
          <a:xfrm>
            <a:off x="685800" y="5459413"/>
            <a:ext cx="70262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kumimoji="1" lang="zh-CN" altLang="en-US" sz="2800">
                <a:solidFill>
                  <a:schemeClr val="tx1"/>
                </a:solidFill>
              </a:rPr>
              <a:t>跳过</a:t>
            </a:r>
            <a:r>
              <a:rPr kumimoji="1" lang="en-US" altLang="zh-CN" sz="2800">
                <a:solidFill>
                  <a:schemeClr val="tx1"/>
                </a:solidFill>
              </a:rPr>
              <a:t>continue</a:t>
            </a:r>
            <a:r>
              <a:rPr kumimoji="1" lang="zh-CN" altLang="en-US" sz="2800">
                <a:solidFill>
                  <a:schemeClr val="tx1"/>
                </a:solidFill>
              </a:rPr>
              <a:t>后面的语句，继续下一次循环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9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5343525" cy="91440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en-US" altLang="zh-CN" dirty="0"/>
              <a:t>break</a:t>
            </a:r>
            <a:r>
              <a:rPr lang="zh-CN" altLang="en-US" dirty="0"/>
              <a:t>和</a:t>
            </a:r>
            <a:r>
              <a:rPr lang="en-US" altLang="zh-CN" dirty="0"/>
              <a:t>continue</a:t>
            </a:r>
            <a:endParaRPr lang="zh-CN" altLang="en-US" dirty="0"/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4267200" cy="4876800"/>
          </a:xfrm>
        </p:spPr>
        <p:txBody>
          <a:bodyPr/>
          <a:lstStyle/>
          <a:p>
            <a:pPr algn="just">
              <a:lnSpc>
                <a:spcPct val="90000"/>
              </a:lnSpc>
              <a:buFont typeface="Wingdings" charset="0"/>
              <a:buNone/>
              <a:defRPr/>
            </a:pPr>
            <a:r>
              <a:rPr lang="zh-CN" altLang="en-US" sz="2800" dirty="0"/>
              <a:t>#</a:t>
            </a:r>
            <a:r>
              <a:rPr lang="en-US" altLang="zh-CN" sz="2800" dirty="0"/>
              <a:t> 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</a:p>
          <a:p>
            <a:pPr algn="just">
              <a:lnSpc>
                <a:spcPct val="90000"/>
              </a:lnSpc>
              <a:buFont typeface="Wingdings" charset="0"/>
              <a:buNone/>
              <a:defRPr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 (void)</a:t>
            </a:r>
          </a:p>
          <a:p>
            <a:pPr algn="just">
              <a:lnSpc>
                <a:spcPct val="90000"/>
              </a:lnSpc>
              <a:buFont typeface="Wingdings" charset="0"/>
              <a:buNone/>
              <a:defRPr/>
            </a:pPr>
            <a:r>
              <a:rPr lang="en-US" altLang="zh-CN" sz="2800" dirty="0"/>
              <a:t>{  char c;</a:t>
            </a:r>
          </a:p>
          <a:p>
            <a:pPr algn="just">
              <a:lnSpc>
                <a:spcPct val="90000"/>
              </a:lnSpc>
              <a:buFont typeface="Wingdings" charset="0"/>
              <a:buNone/>
              <a:defRPr/>
            </a:pPr>
            <a:r>
              <a:rPr lang="en-US" altLang="zh-CN" sz="2800" dirty="0"/>
              <a:t>  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;</a:t>
            </a:r>
          </a:p>
          <a:p>
            <a:pPr algn="just">
              <a:lnSpc>
                <a:spcPct val="90000"/>
              </a:lnSpc>
              <a:buFont typeface="Wingdings" charset="0"/>
              <a:buNone/>
              <a:defRPr/>
            </a:pPr>
            <a:r>
              <a:rPr lang="en-US" altLang="zh-CN" sz="2800" dirty="0"/>
              <a:t>   for (</a:t>
            </a:r>
            <a:r>
              <a:rPr lang="en-US" altLang="zh-CN" sz="2800" dirty="0" err="1"/>
              <a:t>i</a:t>
            </a:r>
            <a:r>
              <a:rPr lang="en-US" altLang="zh-CN" sz="2800" dirty="0"/>
              <a:t> = 0;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 &lt; 10;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++) {</a:t>
            </a:r>
            <a:endParaRPr lang="zh-CN" altLang="en-US" sz="2800" dirty="0"/>
          </a:p>
          <a:p>
            <a:pPr algn="just">
              <a:lnSpc>
                <a:spcPct val="90000"/>
              </a:lnSpc>
              <a:buFont typeface="Wingdings" charset="0"/>
              <a:buNone/>
              <a:defRPr/>
            </a:pPr>
            <a:r>
              <a:rPr lang="en-US" altLang="zh-CN" sz="2800" dirty="0"/>
              <a:t>       c = </a:t>
            </a:r>
            <a:r>
              <a:rPr lang="en-US" altLang="zh-CN" sz="2800" dirty="0" err="1"/>
              <a:t>getchar</a:t>
            </a:r>
            <a:r>
              <a:rPr lang="en-US" altLang="zh-CN" sz="2800" dirty="0"/>
              <a:t> ();</a:t>
            </a:r>
          </a:p>
          <a:p>
            <a:pPr algn="just">
              <a:lnSpc>
                <a:spcPct val="90000"/>
              </a:lnSpc>
              <a:buFont typeface="Wingdings" charset="0"/>
              <a:buNone/>
              <a:defRPr/>
            </a:pPr>
            <a:r>
              <a:rPr lang="en-US" altLang="zh-CN" sz="2800" dirty="0"/>
              <a:t>       if (c == '\n') </a:t>
            </a:r>
            <a:r>
              <a:rPr lang="en-US" altLang="zh-CN" sz="2800" dirty="0">
                <a:solidFill>
                  <a:srgbClr val="CC0066"/>
                </a:solidFill>
              </a:rPr>
              <a:t>break</a:t>
            </a:r>
            <a:r>
              <a:rPr lang="en-US" altLang="zh-CN" sz="2800" dirty="0"/>
              <a:t>;      </a:t>
            </a:r>
            <a:endParaRPr lang="en-US" altLang="zh-CN" sz="2800" dirty="0">
              <a:solidFill>
                <a:srgbClr val="FF0066"/>
              </a:solidFill>
            </a:endParaRPr>
          </a:p>
          <a:p>
            <a:pPr algn="just">
              <a:lnSpc>
                <a:spcPct val="90000"/>
              </a:lnSpc>
              <a:buFont typeface="Wingdings" charset="0"/>
              <a:buNone/>
              <a:defRPr/>
            </a:pPr>
            <a:r>
              <a:rPr lang="en-US" altLang="zh-CN" sz="2800" dirty="0"/>
              <a:t>       </a:t>
            </a:r>
            <a:r>
              <a:rPr lang="en-US" altLang="zh-CN" sz="2800" dirty="0" err="1"/>
              <a:t>putchar</a:t>
            </a:r>
            <a:r>
              <a:rPr lang="en-US" altLang="zh-CN" sz="2800" dirty="0"/>
              <a:t> (c);    </a:t>
            </a:r>
            <a:endParaRPr lang="zh-CN" altLang="en-US" sz="2800" dirty="0"/>
          </a:p>
          <a:p>
            <a:pPr algn="just">
              <a:lnSpc>
                <a:spcPct val="90000"/>
              </a:lnSpc>
              <a:buFont typeface="Wingdings" charset="0"/>
              <a:buNone/>
              <a:defRPr/>
            </a:pPr>
            <a:r>
              <a:rPr lang="zh-CN" sz="2800" dirty="0"/>
              <a:t>   </a:t>
            </a:r>
            <a:r>
              <a:rPr lang="en-US" altLang="zh-CN" sz="2800" dirty="0"/>
              <a:t>}</a:t>
            </a:r>
            <a:endParaRPr lang="zh-CN" sz="2800" dirty="0"/>
          </a:p>
          <a:p>
            <a:pPr algn="just">
              <a:lnSpc>
                <a:spcPct val="90000"/>
              </a:lnSpc>
              <a:buFont typeface="Wingdings" charset="0"/>
              <a:buNone/>
              <a:defRPr/>
            </a:pPr>
            <a:r>
              <a:rPr lang="en-US" altLang="zh-CN" sz="2800" dirty="0"/>
              <a:t>}</a:t>
            </a:r>
            <a:endParaRPr lang="zh-CN" altLang="en-US" sz="2800" dirty="0"/>
          </a:p>
        </p:txBody>
      </p:sp>
      <p:sp>
        <p:nvSpPr>
          <p:cNvPr id="154632" name="Rectangle 8"/>
          <p:cNvSpPr>
            <a:spLocks noChangeArrowheads="1"/>
          </p:cNvSpPr>
          <p:nvPr/>
        </p:nvSpPr>
        <p:spPr bwMode="auto">
          <a:xfrm>
            <a:off x="6400800" y="990600"/>
            <a:ext cx="1371600" cy="1291379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kumimoji="1" lang="en-US" altLang="zh-CN" sz="2400" dirty="0" err="1">
                <a:solidFill>
                  <a:srgbClr val="CC0066"/>
                </a:solidFill>
              </a:rPr>
              <a:t>abc</a:t>
            </a:r>
            <a:r>
              <a:rPr kumimoji="1" lang="en-US" altLang="zh-CN" sz="2400" dirty="0">
                <a:solidFill>
                  <a:srgbClr val="CC0066"/>
                </a:solidFill>
                <a:sym typeface="Symbol" charset="0"/>
              </a:rPr>
              <a:t>↙</a:t>
            </a:r>
            <a:endParaRPr kumimoji="1" lang="en-US" altLang="zh-CN" sz="2400" dirty="0">
              <a:solidFill>
                <a:srgbClr val="CC0066"/>
              </a:solidFill>
            </a:endParaRPr>
          </a:p>
          <a:p>
            <a:pPr>
              <a:lnSpc>
                <a:spcPct val="60000"/>
              </a:lnSpc>
              <a:spcBef>
                <a:spcPct val="50000"/>
              </a:spcBef>
              <a:defRPr/>
            </a:pPr>
            <a:r>
              <a:rPr kumimoji="1" lang="en-US" altLang="zh-CN" sz="2400" dirty="0" err="1" smtClean="0">
                <a:solidFill>
                  <a:srgbClr val="CC0066"/>
                </a:solidFill>
              </a:rPr>
              <a:t>efgh</a:t>
            </a:r>
            <a:r>
              <a:rPr kumimoji="1" lang="en-US" altLang="zh-CN" sz="2400" dirty="0" smtClean="0">
                <a:solidFill>
                  <a:srgbClr val="CC0066"/>
                </a:solidFill>
                <a:sym typeface="Symbol" charset="0"/>
              </a:rPr>
              <a:t>↙</a:t>
            </a:r>
            <a:endParaRPr kumimoji="1" lang="en-US" altLang="zh-CN" sz="2400" dirty="0">
              <a:solidFill>
                <a:srgbClr val="CC0066"/>
              </a:solidFill>
            </a:endParaRPr>
          </a:p>
          <a:p>
            <a:pPr>
              <a:lnSpc>
                <a:spcPct val="60000"/>
              </a:lnSpc>
              <a:spcBef>
                <a:spcPct val="50000"/>
              </a:spcBef>
              <a:defRPr/>
            </a:pPr>
            <a:r>
              <a:rPr kumimoji="1" lang="en-US" altLang="zh-CN" sz="2400" dirty="0">
                <a:solidFill>
                  <a:srgbClr val="CC0066"/>
                </a:solidFill>
              </a:rPr>
              <a:t>123 </a:t>
            </a:r>
            <a:r>
              <a:rPr kumimoji="1" lang="en-US" altLang="zh-CN" sz="2400" dirty="0">
                <a:solidFill>
                  <a:srgbClr val="CC0066"/>
                </a:solidFill>
                <a:sym typeface="Symbol" charset="0"/>
              </a:rPr>
              <a:t>↙</a:t>
            </a:r>
          </a:p>
        </p:txBody>
      </p:sp>
      <p:sp>
        <p:nvSpPr>
          <p:cNvPr id="154633" name="Rectangle 9"/>
          <p:cNvSpPr>
            <a:spLocks noChangeArrowheads="1"/>
          </p:cNvSpPr>
          <p:nvPr/>
        </p:nvSpPr>
        <p:spPr bwMode="auto">
          <a:xfrm>
            <a:off x="6400800" y="2460625"/>
            <a:ext cx="1371600" cy="4699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kumimoji="1" lang="en-US" altLang="zh-CN" sz="2400">
                <a:solidFill>
                  <a:schemeClr val="tx1"/>
                </a:solidFill>
              </a:rPr>
              <a:t>abc</a:t>
            </a:r>
            <a:endParaRPr kumimoji="1" lang="en-US" altLang="zh-CN" sz="2400">
              <a:solidFill>
                <a:schemeClr val="tx1"/>
              </a:solidFill>
              <a:sym typeface="Symbol" charset="0"/>
            </a:endParaRPr>
          </a:p>
        </p:txBody>
      </p:sp>
      <p:sp>
        <p:nvSpPr>
          <p:cNvPr id="154634" name="Rectangle 10"/>
          <p:cNvSpPr>
            <a:spLocks noChangeArrowheads="1"/>
          </p:cNvSpPr>
          <p:nvPr/>
        </p:nvSpPr>
        <p:spPr bwMode="auto">
          <a:xfrm>
            <a:off x="5940425" y="4254500"/>
            <a:ext cx="1584325" cy="4699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kumimoji="1" lang="en-US" altLang="zh-CN" sz="2400">
                <a:solidFill>
                  <a:schemeClr val="tx1"/>
                </a:solidFill>
              </a:rPr>
              <a:t>abcefgh1</a:t>
            </a:r>
          </a:p>
        </p:txBody>
      </p:sp>
      <p:sp>
        <p:nvSpPr>
          <p:cNvPr id="154635" name="Rectangle 11"/>
          <p:cNvSpPr>
            <a:spLocks noChangeArrowheads="1"/>
          </p:cNvSpPr>
          <p:nvPr/>
        </p:nvSpPr>
        <p:spPr bwMode="auto">
          <a:xfrm>
            <a:off x="3228975" y="4191000"/>
            <a:ext cx="1630363" cy="519113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800" b="0" dirty="0">
                <a:solidFill>
                  <a:schemeClr val="tx1"/>
                </a:solidFill>
              </a:rPr>
              <a:t>continue;</a:t>
            </a:r>
            <a:endParaRPr kumimoji="1" lang="zh-CN" altLang="en-US" sz="28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46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4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46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4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4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4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33" grpId="0" animBg="1" autoUpdateAnimBg="0"/>
      <p:bldP spid="154634" grpId="0" animBg="1" autoUpdateAnimBg="0"/>
      <p:bldP spid="154635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6855296" cy="91440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en-US" altLang="zh-CN" dirty="0"/>
              <a:t>for/while</a:t>
            </a:r>
            <a:r>
              <a:rPr lang="zh-CN" altLang="en-US" dirty="0"/>
              <a:t>的差异</a:t>
            </a:r>
            <a:r>
              <a:rPr lang="en-US" altLang="zh-CN" dirty="0"/>
              <a:t>- continue</a:t>
            </a:r>
            <a:r>
              <a:rPr lang="zh-CN" altLang="en-US" dirty="0"/>
              <a:t> </a:t>
            </a:r>
          </a:p>
        </p:txBody>
      </p:sp>
      <p:sp>
        <p:nvSpPr>
          <p:cNvPr id="182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1" y="1216025"/>
            <a:ext cx="6840437" cy="575841"/>
          </a:xfrm>
        </p:spPr>
        <p:txBody>
          <a:bodyPr/>
          <a:lstStyle/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zh-CN" sz="2800" dirty="0"/>
              <a:t>输出</a:t>
            </a:r>
            <a:r>
              <a:rPr lang="en-US" altLang="zh-CN" sz="2800" dirty="0"/>
              <a:t>100~200</a:t>
            </a:r>
            <a:r>
              <a:rPr lang="zh-CN" altLang="en-US" sz="2800" dirty="0"/>
              <a:t>之间所有能被</a:t>
            </a:r>
            <a:r>
              <a:rPr lang="en-US" altLang="zh-CN" sz="2800" dirty="0"/>
              <a:t>3</a:t>
            </a:r>
            <a:r>
              <a:rPr lang="zh-CN" altLang="en-US" sz="2800" dirty="0"/>
              <a:t>整除的数</a:t>
            </a: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endParaRPr lang="zh-CN" altLang="en-US" sz="2800" dirty="0"/>
          </a:p>
        </p:txBody>
      </p:sp>
      <p:sp>
        <p:nvSpPr>
          <p:cNvPr id="182280" name="Text Box 8"/>
          <p:cNvSpPr txBox="1">
            <a:spLocks noChangeArrowheads="1"/>
          </p:cNvSpPr>
          <p:nvPr/>
        </p:nvSpPr>
        <p:spPr bwMode="auto">
          <a:xfrm>
            <a:off x="323850" y="1829817"/>
            <a:ext cx="4680197" cy="181588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dirty="0">
                <a:solidFill>
                  <a:schemeClr val="tx1"/>
                </a:solidFill>
              </a:rPr>
              <a:t>for (</a:t>
            </a:r>
            <a:r>
              <a:rPr lang="en-US" altLang="zh-CN" sz="2800" dirty="0" err="1">
                <a:solidFill>
                  <a:schemeClr val="tx1"/>
                </a:solidFill>
              </a:rPr>
              <a:t>i</a:t>
            </a:r>
            <a:r>
              <a:rPr lang="en-US" altLang="zh-CN" sz="2800" dirty="0">
                <a:solidFill>
                  <a:schemeClr val="tx1"/>
                </a:solidFill>
              </a:rPr>
              <a:t> = 100; </a:t>
            </a:r>
            <a:r>
              <a:rPr lang="en-US" altLang="zh-CN" sz="2800" dirty="0" err="1">
                <a:solidFill>
                  <a:schemeClr val="tx1"/>
                </a:solidFill>
              </a:rPr>
              <a:t>i</a:t>
            </a:r>
            <a:r>
              <a:rPr lang="en-US" altLang="zh-CN" sz="2800" dirty="0">
                <a:solidFill>
                  <a:schemeClr val="tx1"/>
                </a:solidFill>
              </a:rPr>
              <a:t> &lt;= 200; </a:t>
            </a:r>
            <a:r>
              <a:rPr lang="en-US" altLang="zh-CN" sz="2800" dirty="0" err="1">
                <a:solidFill>
                  <a:schemeClr val="tx1"/>
                </a:solidFill>
              </a:rPr>
              <a:t>i</a:t>
            </a:r>
            <a:r>
              <a:rPr lang="en-US" altLang="zh-CN" sz="2800" dirty="0">
                <a:solidFill>
                  <a:schemeClr val="tx1"/>
                </a:solidFill>
              </a:rPr>
              <a:t>++){</a:t>
            </a:r>
          </a:p>
          <a:p>
            <a:pPr>
              <a:defRPr/>
            </a:pPr>
            <a:r>
              <a:rPr lang="en-US" altLang="zh-CN" sz="2800" dirty="0">
                <a:solidFill>
                  <a:schemeClr val="tx1"/>
                </a:solidFill>
              </a:rPr>
              <a:t>    if (</a:t>
            </a:r>
            <a:r>
              <a:rPr lang="en-US" altLang="zh-CN" sz="2800" dirty="0" err="1">
                <a:solidFill>
                  <a:schemeClr val="tx1"/>
                </a:solidFill>
              </a:rPr>
              <a:t>i</a:t>
            </a:r>
            <a:r>
              <a:rPr lang="en-US" altLang="zh-CN" sz="2800" dirty="0">
                <a:solidFill>
                  <a:schemeClr val="tx1"/>
                </a:solidFill>
              </a:rPr>
              <a:t> % 3 == 0)  </a:t>
            </a:r>
          </a:p>
          <a:p>
            <a:pPr>
              <a:defRPr/>
            </a:pPr>
            <a:r>
              <a:rPr lang="en-US" altLang="zh-CN" sz="2800" dirty="0">
                <a:solidFill>
                  <a:schemeClr val="tx1"/>
                </a:solidFill>
              </a:rPr>
              <a:t>        </a:t>
            </a:r>
            <a:r>
              <a:rPr lang="en-US" altLang="zh-CN" sz="2800" dirty="0" err="1">
                <a:solidFill>
                  <a:schemeClr val="tx1"/>
                </a:solidFill>
              </a:rPr>
              <a:t>printf</a:t>
            </a:r>
            <a:r>
              <a:rPr lang="en-US" altLang="zh-CN" sz="2800" dirty="0">
                <a:solidFill>
                  <a:schemeClr val="tx1"/>
                </a:solidFill>
              </a:rPr>
              <a:t> ("%d  ", </a:t>
            </a:r>
            <a:r>
              <a:rPr lang="en-US" altLang="zh-CN" sz="2800" dirty="0" err="1">
                <a:solidFill>
                  <a:schemeClr val="tx1"/>
                </a:solidFill>
              </a:rPr>
              <a:t>i</a:t>
            </a:r>
            <a:r>
              <a:rPr lang="en-US" altLang="zh-CN" sz="2800" dirty="0">
                <a:solidFill>
                  <a:schemeClr val="tx1"/>
                </a:solidFill>
              </a:rPr>
              <a:t>);</a:t>
            </a:r>
          </a:p>
          <a:p>
            <a:pPr>
              <a:defRPr/>
            </a:pPr>
            <a:r>
              <a:rPr lang="en-US" altLang="zh-CN" sz="28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269FE18E-B0F9-4368-A058-3C124A4FB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974" y="3789040"/>
            <a:ext cx="4320157" cy="223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charset="0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charset="0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charset="0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0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altLang="zh-CN" sz="2800" kern="0" dirty="0"/>
              <a:t>for(</a:t>
            </a:r>
            <a:r>
              <a:rPr lang="en-US" altLang="zh-CN" sz="2800" kern="0" dirty="0" err="1"/>
              <a:t>i</a:t>
            </a:r>
            <a:r>
              <a:rPr lang="en-US" altLang="zh-CN" sz="2800" kern="0" dirty="0"/>
              <a:t> = 100;i &lt;= 200; </a:t>
            </a:r>
            <a:r>
              <a:rPr lang="en-US" altLang="zh-CN" sz="2800" kern="0" dirty="0" err="1"/>
              <a:t>i</a:t>
            </a:r>
            <a:r>
              <a:rPr lang="en-US" altLang="zh-CN" sz="2800" kern="0" dirty="0"/>
              <a:t>++){</a:t>
            </a:r>
          </a:p>
          <a:p>
            <a:pPr lvl="1">
              <a:lnSpc>
                <a:spcPct val="80000"/>
              </a:lnSpc>
              <a:buNone/>
              <a:defRPr/>
            </a:pPr>
            <a:r>
              <a:rPr lang="en-US" altLang="zh-CN" kern="0" dirty="0"/>
              <a:t>if ( </a:t>
            </a:r>
            <a:r>
              <a:rPr lang="en-US" altLang="zh-CN" kern="0" dirty="0" err="1"/>
              <a:t>i</a:t>
            </a:r>
            <a:r>
              <a:rPr lang="en-US" altLang="zh-CN" kern="0" dirty="0"/>
              <a:t> % 3 != 0 )</a:t>
            </a:r>
          </a:p>
          <a:p>
            <a:pPr lvl="2">
              <a:lnSpc>
                <a:spcPct val="80000"/>
              </a:lnSpc>
              <a:buNone/>
              <a:defRPr/>
            </a:pPr>
            <a:r>
              <a:rPr lang="en-US" altLang="zh-CN" sz="2800" kern="0" dirty="0"/>
              <a:t>continue; </a:t>
            </a:r>
          </a:p>
          <a:p>
            <a:pPr lvl="1">
              <a:lnSpc>
                <a:spcPct val="80000"/>
              </a:lnSpc>
              <a:buNone/>
              <a:defRPr/>
            </a:pPr>
            <a:r>
              <a:rPr lang="en-US" altLang="zh-CN" kern="0" dirty="0" err="1"/>
              <a:t>printf</a:t>
            </a:r>
            <a:r>
              <a:rPr lang="en-US" altLang="zh-CN" kern="0" dirty="0"/>
              <a:t> ("%d ", </a:t>
            </a:r>
            <a:r>
              <a:rPr lang="en-US" altLang="zh-CN" kern="0" dirty="0" err="1"/>
              <a:t>i</a:t>
            </a:r>
            <a:r>
              <a:rPr lang="en-US" altLang="zh-CN" kern="0" dirty="0"/>
              <a:t>);</a:t>
            </a: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altLang="zh-CN" sz="2800" kern="0" dirty="0"/>
              <a:t>}</a:t>
            </a:r>
            <a:endParaRPr lang="zh-CN" altLang="en-US" sz="2800" kern="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xmlns="" id="{A71BA1AD-C1F8-4507-8773-4D9AF3C96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0739" y="1864891"/>
            <a:ext cx="3649410" cy="3436318"/>
          </a:xfrm>
          <a:prstGeom prst="rect">
            <a:avLst/>
          </a:prstGeom>
          <a:noFill/>
          <a:ln>
            <a:solidFill>
              <a:srgbClr val="CC0066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charset="0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charset="0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charset="0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0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altLang="zh-CN" sz="2800" kern="0" dirty="0" err="1"/>
              <a:t>i</a:t>
            </a:r>
            <a:r>
              <a:rPr lang="en-US" altLang="zh-CN" sz="2800" kern="0" dirty="0"/>
              <a:t> = 100;</a:t>
            </a: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altLang="zh-CN" sz="2800" kern="0" dirty="0"/>
              <a:t>while(</a:t>
            </a:r>
            <a:r>
              <a:rPr lang="en-US" altLang="zh-CN" sz="2800" kern="0" dirty="0" err="1"/>
              <a:t>i</a:t>
            </a:r>
            <a:r>
              <a:rPr lang="en-US" altLang="zh-CN" sz="2800" kern="0" dirty="0"/>
              <a:t> &lt;= 200){</a:t>
            </a:r>
          </a:p>
          <a:p>
            <a:pPr lvl="1">
              <a:lnSpc>
                <a:spcPct val="80000"/>
              </a:lnSpc>
              <a:buNone/>
              <a:defRPr/>
            </a:pPr>
            <a:r>
              <a:rPr lang="en-US" altLang="zh-CN" kern="0" dirty="0"/>
              <a:t>if ( </a:t>
            </a:r>
            <a:r>
              <a:rPr lang="en-US" altLang="zh-CN" kern="0" dirty="0" err="1"/>
              <a:t>i</a:t>
            </a:r>
            <a:r>
              <a:rPr lang="en-US" altLang="zh-CN" kern="0" dirty="0"/>
              <a:t> % 3 != 0 )</a:t>
            </a:r>
          </a:p>
          <a:p>
            <a:pPr lvl="2">
              <a:lnSpc>
                <a:spcPct val="80000"/>
              </a:lnSpc>
              <a:buNone/>
              <a:defRPr/>
            </a:pPr>
            <a:r>
              <a:rPr lang="en-US" altLang="zh-CN" sz="2800" kern="0" dirty="0"/>
              <a:t>continue; </a:t>
            </a:r>
          </a:p>
          <a:p>
            <a:pPr lvl="1">
              <a:lnSpc>
                <a:spcPct val="80000"/>
              </a:lnSpc>
              <a:buNone/>
              <a:defRPr/>
            </a:pPr>
            <a:r>
              <a:rPr lang="en-US" altLang="zh-CN" kern="0" dirty="0" err="1"/>
              <a:t>printf</a:t>
            </a:r>
            <a:r>
              <a:rPr lang="en-US" altLang="zh-CN" kern="0" dirty="0"/>
              <a:t> ("%d ", </a:t>
            </a:r>
            <a:r>
              <a:rPr lang="en-US" altLang="zh-CN" kern="0" dirty="0" err="1"/>
              <a:t>i</a:t>
            </a:r>
            <a:r>
              <a:rPr lang="en-US" altLang="zh-CN" kern="0" dirty="0"/>
              <a:t>);</a:t>
            </a:r>
          </a:p>
          <a:p>
            <a:pPr lvl="1">
              <a:lnSpc>
                <a:spcPct val="80000"/>
              </a:lnSpc>
              <a:buNone/>
              <a:defRPr/>
            </a:pPr>
            <a:r>
              <a:rPr lang="en-US" altLang="zh-CN" kern="0" dirty="0" err="1"/>
              <a:t>i</a:t>
            </a:r>
            <a:r>
              <a:rPr lang="en-US" altLang="zh-CN" kern="0" dirty="0"/>
              <a:t>++;</a:t>
            </a: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altLang="zh-CN" sz="2800" kern="0" dirty="0"/>
              <a:t>}</a:t>
            </a: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endParaRPr lang="zh-CN" altLang="en-US" sz="2800" kern="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111C9B0C-48AA-4926-A1B1-D0F30D49F28E}"/>
              </a:ext>
            </a:extLst>
          </p:cNvPr>
          <p:cNvSpPr/>
          <p:nvPr/>
        </p:nvSpPr>
        <p:spPr>
          <a:xfrm>
            <a:off x="2339752" y="5661248"/>
            <a:ext cx="4392488" cy="707886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r>
              <a:rPr lang="en-US" altLang="zh-CN" sz="2000" kern="1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zh-CN" altLang="en-US" sz="2000" kern="1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kern="1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while</a:t>
            </a:r>
            <a:r>
              <a:rPr lang="zh-CN" altLang="en-US" sz="2000" kern="1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等价的前提：</a:t>
            </a:r>
            <a:endParaRPr lang="en-US" altLang="zh-CN" sz="2000" kern="100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000" kern="1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for</a:t>
            </a:r>
            <a:r>
              <a:rPr lang="zh-CN" altLang="zh-CN" sz="2000" kern="1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的循环体语句中没有使用</a:t>
            </a:r>
            <a:r>
              <a:rPr lang="en-US" altLang="zh-CN" sz="2000" kern="1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continue</a:t>
            </a:r>
            <a:endParaRPr lang="zh-CN" alt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AD31859B-402A-42D6-A39E-138017B6FDA8}"/>
              </a:ext>
            </a:extLst>
          </p:cNvPr>
          <p:cNvSpPr/>
          <p:nvPr/>
        </p:nvSpPr>
        <p:spPr>
          <a:xfrm>
            <a:off x="6948264" y="4581128"/>
            <a:ext cx="1440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CC0066"/>
                </a:solidFill>
              </a:rPr>
              <a:t>死循环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2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80" grpId="0" animBg="1"/>
      <p:bldP spid="7" grpId="0"/>
      <p:bldP spid="8" grpId="0" animBg="1"/>
      <p:bldP spid="10" grpId="0" animBg="1"/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333375"/>
            <a:ext cx="8229600" cy="450850"/>
          </a:xfrm>
        </p:spPr>
        <p:txBody>
          <a:bodyPr/>
          <a:lstStyle/>
          <a:p>
            <a:pPr>
              <a:defRPr/>
            </a:pP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4-6-1 </a:t>
            </a:r>
            <a:r>
              <a:rPr lang="zh-CN" altLang="en-US" sz="2800" dirty="0">
                <a:solidFill>
                  <a:schemeClr val="tx1"/>
                </a:solidFill>
              </a:rPr>
              <a:t>简单的猜数游戏，最多允许猜</a:t>
            </a:r>
            <a:r>
              <a:rPr lang="zh-CN" altLang="zh-CN" sz="2800" dirty="0">
                <a:solidFill>
                  <a:schemeClr val="tx1"/>
                </a:solidFill>
              </a:rPr>
              <a:t>7</a:t>
            </a:r>
            <a:r>
              <a:rPr lang="zh-CN" altLang="en-US" sz="2800" dirty="0">
                <a:solidFill>
                  <a:schemeClr val="tx1"/>
                </a:solidFill>
              </a:rPr>
              <a:t>次。</a:t>
            </a:r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765175"/>
            <a:ext cx="8497887" cy="5903913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sz="2000" dirty="0"/>
              <a:t>int  count = 0,</a:t>
            </a:r>
            <a:r>
              <a:rPr lang="zh-CN" altLang="en-US" sz="2000" dirty="0"/>
              <a:t> </a:t>
            </a:r>
            <a:r>
              <a:rPr lang="en-US" altLang="zh-CN" sz="2000" dirty="0"/>
              <a:t>flag, </a:t>
            </a:r>
            <a:r>
              <a:rPr lang="en-US" altLang="zh-CN" sz="2000" dirty="0" err="1"/>
              <a:t>mynumber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yournumber</a:t>
            </a:r>
            <a:r>
              <a:rPr lang="en-US" altLang="zh-CN" sz="2000" dirty="0"/>
              <a:t>;            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sz="2000" dirty="0" err="1"/>
              <a:t>mynumber</a:t>
            </a:r>
            <a:r>
              <a:rPr lang="en-US" altLang="zh-CN" sz="2000" dirty="0"/>
              <a:t> = 38;   /* </a:t>
            </a:r>
            <a:r>
              <a:rPr lang="zh-CN" altLang="en-US" sz="2000" dirty="0"/>
              <a:t>计算机指定被猜的数 *</a:t>
            </a:r>
            <a:r>
              <a:rPr lang="en-US" altLang="zh-CN" sz="2000" dirty="0"/>
              <a:t>/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rgbClr val="CC0066"/>
                </a:solidFill>
              </a:rPr>
              <a:t>flag = 0</a:t>
            </a:r>
            <a:r>
              <a:rPr lang="en-US" altLang="zh-CN" sz="2000" dirty="0"/>
              <a:t>;	     /* flag: </a:t>
            </a:r>
            <a:r>
              <a:rPr lang="zh-CN" altLang="en-US" sz="2000" dirty="0"/>
              <a:t>为</a:t>
            </a:r>
            <a:r>
              <a:rPr lang="en-US" altLang="zh-CN" sz="2000" dirty="0"/>
              <a:t>0</a:t>
            </a:r>
            <a:r>
              <a:rPr lang="zh-CN" altLang="en-US" sz="2000" dirty="0"/>
              <a:t>表示没猜中，为</a:t>
            </a:r>
            <a:r>
              <a:rPr lang="en-US" altLang="zh-CN" sz="2000" dirty="0"/>
              <a:t>1</a:t>
            </a:r>
            <a:r>
              <a:rPr lang="zh-CN" altLang="en-US" sz="2000" dirty="0"/>
              <a:t>表示猜中了*</a:t>
            </a:r>
            <a:r>
              <a:rPr lang="en-US" altLang="zh-CN" sz="2000" dirty="0"/>
              <a:t>/</a:t>
            </a:r>
          </a:p>
          <a:p>
            <a:pPr marL="0" indent="0">
              <a:buNone/>
            </a:pPr>
            <a:r>
              <a:rPr lang="en-US" altLang="zh-CN" sz="2000" dirty="0"/>
              <a:t>while (count &lt; 7){         	  /* </a:t>
            </a:r>
            <a:r>
              <a:rPr lang="zh-CN" altLang="zh-CN" sz="2000" dirty="0"/>
              <a:t>最多能猜</a:t>
            </a:r>
            <a:r>
              <a:rPr lang="en-US" altLang="zh-CN" sz="2000" dirty="0"/>
              <a:t>7</a:t>
            </a:r>
            <a:r>
              <a:rPr lang="zh-CN" altLang="zh-CN" sz="2000" dirty="0"/>
              <a:t>次</a:t>
            </a:r>
            <a:r>
              <a:rPr lang="en-US" altLang="zh-CN" sz="2000" dirty="0"/>
              <a:t> */</a:t>
            </a:r>
            <a:endParaRPr lang="zh-CN" altLang="zh-CN" sz="2000" dirty="0"/>
          </a:p>
          <a:p>
            <a:pPr marL="400050" lvl="1" indent="0">
              <a:buNone/>
            </a:pPr>
            <a:r>
              <a:rPr lang="en-US" altLang="zh-CN" sz="2000" dirty="0" err="1"/>
              <a:t>printf</a:t>
            </a:r>
            <a:r>
              <a:rPr lang="en-US" altLang="zh-CN" sz="2000" dirty="0"/>
              <a:t> ("Enter your number: ");     </a:t>
            </a:r>
          </a:p>
          <a:p>
            <a:pPr marL="400050" lvl="1" indent="0">
              <a:buNone/>
            </a:pPr>
            <a:r>
              <a:rPr lang="en-US" altLang="zh-CN" sz="2000" dirty="0" err="1"/>
              <a:t>scanf</a:t>
            </a:r>
            <a:r>
              <a:rPr lang="en-US" altLang="zh-CN" sz="2000" dirty="0"/>
              <a:t> ("%d", &amp;</a:t>
            </a:r>
            <a:r>
              <a:rPr lang="en-US" altLang="zh-CN" sz="2000" dirty="0" err="1"/>
              <a:t>yournumber</a:t>
            </a:r>
            <a:r>
              <a:rPr lang="en-US" altLang="zh-CN" sz="2000" dirty="0"/>
              <a:t>);</a:t>
            </a:r>
            <a:endParaRPr lang="zh-CN" altLang="zh-CN" sz="2000" dirty="0"/>
          </a:p>
          <a:p>
            <a:pPr marL="400050" lvl="1" indent="0">
              <a:buNone/>
            </a:pPr>
            <a:r>
              <a:rPr lang="en-US" altLang="zh-CN" sz="2000" dirty="0"/>
              <a:t>count++; </a:t>
            </a:r>
            <a:endParaRPr lang="zh-CN" altLang="zh-CN" sz="2000" dirty="0"/>
          </a:p>
          <a:p>
            <a:pPr marL="400050" lvl="1" indent="0">
              <a:buNone/>
            </a:pPr>
            <a:r>
              <a:rPr lang="en-US" altLang="zh-CN" sz="2000" dirty="0"/>
              <a:t>if ( </a:t>
            </a:r>
            <a:r>
              <a:rPr lang="en-US" altLang="zh-CN" sz="2000" dirty="0" err="1"/>
              <a:t>yournumber</a:t>
            </a:r>
            <a:r>
              <a:rPr lang="en-US" altLang="zh-CN" sz="2000" dirty="0"/>
              <a:t> == </a:t>
            </a:r>
            <a:r>
              <a:rPr lang="en-US" altLang="zh-CN" sz="2000" dirty="0" err="1"/>
              <a:t>mynumber</a:t>
            </a:r>
            <a:r>
              <a:rPr lang="en-US" altLang="zh-CN" sz="2000" dirty="0"/>
              <a:t> ) {      /* </a:t>
            </a:r>
            <a:r>
              <a:rPr lang="zh-CN" altLang="zh-CN" sz="2000" dirty="0"/>
              <a:t>若相等，显示猜中</a:t>
            </a:r>
            <a:r>
              <a:rPr lang="en-US" altLang="zh-CN" sz="2000" dirty="0"/>
              <a:t> */</a:t>
            </a:r>
            <a:endParaRPr lang="zh-CN" altLang="zh-CN" sz="2000" dirty="0"/>
          </a:p>
          <a:p>
            <a:pPr marL="400050" lvl="1" indent="0"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 ("Lucky You!\n");</a:t>
            </a:r>
            <a:endParaRPr lang="zh-CN" altLang="zh-CN" sz="2000" dirty="0"/>
          </a:p>
          <a:p>
            <a:pPr marL="400050" lvl="1" indent="0">
              <a:buNone/>
            </a:pPr>
            <a:r>
              <a:rPr lang="en-US" altLang="zh-CN" sz="2000" dirty="0"/>
              <a:t>    </a:t>
            </a:r>
            <a:r>
              <a:rPr lang="en-US" altLang="zh-CN" sz="2000" dirty="0">
                <a:solidFill>
                  <a:srgbClr val="CC0066"/>
                </a:solidFill>
              </a:rPr>
              <a:t>flag = 1</a:t>
            </a:r>
            <a:r>
              <a:rPr lang="en-US" altLang="zh-CN" sz="2000" dirty="0"/>
              <a:t>;</a:t>
            </a:r>
            <a:endParaRPr lang="zh-CN" altLang="zh-CN" sz="2000" dirty="0"/>
          </a:p>
          <a:p>
            <a:pPr marL="400050" lvl="1" indent="0">
              <a:buNone/>
            </a:pPr>
            <a:r>
              <a:rPr lang="en-US" altLang="zh-CN" sz="2000" dirty="0"/>
              <a:t>    break;                       /* </a:t>
            </a:r>
            <a:r>
              <a:rPr lang="zh-CN" altLang="zh-CN" sz="2000" dirty="0"/>
              <a:t>已猜中，终止循环</a:t>
            </a:r>
            <a:r>
              <a:rPr lang="en-US" altLang="zh-CN" sz="2000" dirty="0"/>
              <a:t> */</a:t>
            </a:r>
          </a:p>
          <a:p>
            <a:pPr marL="400050" lvl="1" indent="0">
              <a:buNone/>
            </a:pPr>
            <a:r>
              <a:rPr lang="en-US" altLang="zh-CN" sz="2000" dirty="0"/>
              <a:t>}else if ( </a:t>
            </a:r>
            <a:r>
              <a:rPr lang="en-US" altLang="zh-CN" sz="2000" dirty="0" err="1"/>
              <a:t>yournumber</a:t>
            </a:r>
            <a:r>
              <a:rPr lang="en-US" altLang="zh-CN" sz="2000" dirty="0"/>
              <a:t> &gt; </a:t>
            </a:r>
            <a:r>
              <a:rPr lang="en-US" altLang="zh-CN" sz="2000" dirty="0" err="1"/>
              <a:t>mynumber</a:t>
            </a:r>
            <a:r>
              <a:rPr lang="en-US" altLang="zh-CN" sz="2000" dirty="0"/>
              <a:t> )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("Too big\n");</a:t>
            </a:r>
            <a:endParaRPr lang="zh-CN" altLang="zh-CN" sz="2000" dirty="0"/>
          </a:p>
          <a:p>
            <a:pPr marL="400050" lvl="1" indent="0">
              <a:buNone/>
            </a:pPr>
            <a:r>
              <a:rPr lang="en-US" altLang="zh-CN" sz="2000" dirty="0"/>
              <a:t>else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("Too small\n");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dirty="0"/>
              <a:t>}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dirty="0"/>
              <a:t>if ( </a:t>
            </a:r>
            <a:r>
              <a:rPr lang="en-US" altLang="zh-CN" sz="2000" dirty="0">
                <a:solidFill>
                  <a:srgbClr val="CC0066"/>
                </a:solidFill>
              </a:rPr>
              <a:t>flag == 0</a:t>
            </a:r>
            <a:r>
              <a:rPr lang="en-US" altLang="zh-CN" sz="2000" dirty="0"/>
              <a:t> )                 	/* </a:t>
            </a:r>
            <a:r>
              <a:rPr lang="zh-CN" altLang="zh-CN" sz="2000" dirty="0"/>
              <a:t>超过</a:t>
            </a:r>
            <a:r>
              <a:rPr lang="en-US" altLang="zh-CN" sz="2000" dirty="0"/>
              <a:t>7</a:t>
            </a:r>
            <a:r>
              <a:rPr lang="zh-CN" altLang="zh-CN" sz="2000" dirty="0"/>
              <a:t>次还没猜中，提示游戏结束 </a:t>
            </a:r>
            <a:r>
              <a:rPr lang="en-US" altLang="zh-CN" sz="2000" dirty="0"/>
              <a:t>*/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dirty="0"/>
              <a:t>    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 ("Game Over!\n"); </a:t>
            </a:r>
            <a:endParaRPr lang="zh-CN" altLang="zh-CN" sz="2000" dirty="0"/>
          </a:p>
          <a:p>
            <a:pPr marL="0" indent="0">
              <a:spcBef>
                <a:spcPts val="0"/>
              </a:spcBef>
              <a:buNone/>
              <a:defRPr/>
            </a:pPr>
            <a:endParaRPr lang="en-US" altLang="zh-CN" sz="2000" dirty="0"/>
          </a:p>
          <a:p>
            <a:pPr marL="457200" lvl="1" indent="0">
              <a:spcBef>
                <a:spcPts val="0"/>
              </a:spcBef>
              <a:buNone/>
              <a:defRPr/>
            </a:pPr>
            <a:endParaRPr lang="zh-CN" altLang="en-US" sz="2000" dirty="0"/>
          </a:p>
        </p:txBody>
      </p:sp>
      <p:sp>
        <p:nvSpPr>
          <p:cNvPr id="41987" name="文本框 1"/>
          <p:cNvSpPr txBox="1">
            <a:spLocks noChangeArrowheads="1"/>
          </p:cNvSpPr>
          <p:nvPr/>
        </p:nvSpPr>
        <p:spPr bwMode="auto">
          <a:xfrm>
            <a:off x="10736263" y="2420938"/>
            <a:ext cx="18415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400" b="1">
                <a:solidFill>
                  <a:schemeClr val="hlink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sz="4400" b="1">
                <a:solidFill>
                  <a:schemeClr val="hlink"/>
                </a:solidFill>
                <a:latin typeface="Arial" charset="0"/>
                <a:ea typeface="宋体" charset="0"/>
              </a:defRPr>
            </a:lvl2pPr>
            <a:lvl3pPr marL="1143000" indent="-228600">
              <a:defRPr sz="4400" b="1">
                <a:solidFill>
                  <a:schemeClr val="hlink"/>
                </a:solidFill>
                <a:latin typeface="Arial" charset="0"/>
                <a:ea typeface="宋体" charset="0"/>
              </a:defRPr>
            </a:lvl3pPr>
            <a:lvl4pPr marL="1600200" indent="-228600">
              <a:defRPr sz="4400" b="1">
                <a:solidFill>
                  <a:schemeClr val="hlink"/>
                </a:solidFill>
                <a:latin typeface="Arial" charset="0"/>
                <a:ea typeface="宋体" charset="0"/>
              </a:defRPr>
            </a:lvl4pPr>
            <a:lvl5pPr marL="2057400" indent="-228600">
              <a:defRPr sz="4400" b="1">
                <a:solidFill>
                  <a:schemeClr val="hlink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charset="0"/>
                <a:ea typeface="宋体" charset="0"/>
              </a:defRPr>
            </a:lvl9pPr>
          </a:lstStyle>
          <a:p>
            <a:endParaRPr kumimoji="1"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454" y="981075"/>
            <a:ext cx="5147618" cy="5761038"/>
          </a:xfrm>
        </p:spPr>
        <p:txBody>
          <a:bodyPr/>
          <a:lstStyle/>
          <a:p>
            <a:pPr marL="187325" indent="-187325" algn="just">
              <a:buNone/>
              <a:defRPr/>
            </a:pPr>
            <a:r>
              <a:rPr lang="en-US" altLang="zh-CN" sz="2400" dirty="0"/>
              <a:t>int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, limit, m;</a:t>
            </a:r>
            <a:endParaRPr lang="zh-CN" altLang="en-US" sz="2400" dirty="0"/>
          </a:p>
          <a:p>
            <a:pPr marL="187325" indent="-187325" algn="just">
              <a:buNone/>
              <a:defRPr/>
            </a:pPr>
            <a:r>
              <a:rPr lang="en-US" altLang="zh-CN" sz="2400" dirty="0" err="1"/>
              <a:t>scanf</a:t>
            </a:r>
            <a:r>
              <a:rPr lang="en-US" altLang="zh-CN" sz="2400" dirty="0"/>
              <a:t> ("%d", &amp;m);  	</a:t>
            </a:r>
          </a:p>
          <a:p>
            <a:pPr marL="187325" indent="-187325" algn="just">
              <a:buNone/>
              <a:defRPr/>
            </a:pPr>
            <a:r>
              <a:rPr lang="en-US" altLang="zh-CN" sz="2400" dirty="0"/>
              <a:t>if(m &lt;= 1)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 ("No!\n");</a:t>
            </a:r>
          </a:p>
          <a:p>
            <a:pPr marL="187325" indent="-187325" algn="just">
              <a:buNone/>
              <a:defRPr/>
            </a:pPr>
            <a:r>
              <a:rPr lang="en-US" altLang="zh-CN" sz="2400" dirty="0"/>
              <a:t>else if(m == 2)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 ("Yes!\n"); </a:t>
            </a:r>
          </a:p>
          <a:p>
            <a:pPr marL="187325" indent="-187325" algn="just">
              <a:buNone/>
              <a:defRPr/>
            </a:pPr>
            <a:r>
              <a:rPr lang="en-US" altLang="zh-CN" sz="2400" dirty="0"/>
              <a:t>else{ </a:t>
            </a:r>
          </a:p>
          <a:p>
            <a:pPr marL="587375" lvl="1" indent="-187325" algn="just">
              <a:buNone/>
              <a:defRPr/>
            </a:pPr>
            <a:r>
              <a:rPr lang="en-US" altLang="zh-CN" sz="2400" dirty="0"/>
              <a:t>limit = sqrt(m) + 1;  </a:t>
            </a:r>
          </a:p>
          <a:p>
            <a:pPr marL="587375" lvl="1" indent="-187325" algn="just">
              <a:buNone/>
              <a:defRPr/>
            </a:pPr>
            <a:r>
              <a:rPr lang="en-US" altLang="zh-CN" sz="2400" dirty="0"/>
              <a:t>for 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= 2; </a:t>
            </a:r>
            <a:r>
              <a:rPr lang="en-US" altLang="zh-CN" sz="2400" dirty="0" err="1">
                <a:solidFill>
                  <a:schemeClr val="bg2"/>
                </a:solidFill>
              </a:rPr>
              <a:t>i</a:t>
            </a:r>
            <a:r>
              <a:rPr lang="en-US" altLang="zh-CN" sz="2400" dirty="0">
                <a:solidFill>
                  <a:schemeClr val="bg2"/>
                </a:solidFill>
              </a:rPr>
              <a:t> &lt;= limit</a:t>
            </a:r>
            <a:r>
              <a:rPr lang="en-US" altLang="zh-CN" sz="2400" dirty="0"/>
              <a:t>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++)   	</a:t>
            </a:r>
            <a:endParaRPr lang="zh-CN" altLang="en-US" sz="2400" dirty="0"/>
          </a:p>
          <a:p>
            <a:pPr marL="587375" lvl="1" indent="-187325" algn="just">
              <a:buNone/>
              <a:defRPr/>
            </a:pPr>
            <a:r>
              <a:rPr lang="zh-CN" altLang="en-US" sz="2400" dirty="0"/>
              <a:t>    </a:t>
            </a:r>
            <a:r>
              <a:rPr lang="en-US" altLang="zh-CN" sz="2400" dirty="0">
                <a:solidFill>
                  <a:srgbClr val="CC0066"/>
                </a:solidFill>
              </a:rPr>
              <a:t>if (m % </a:t>
            </a:r>
            <a:r>
              <a:rPr lang="en-US" altLang="zh-CN" sz="2400" dirty="0" err="1">
                <a:solidFill>
                  <a:srgbClr val="CC0066"/>
                </a:solidFill>
              </a:rPr>
              <a:t>i</a:t>
            </a:r>
            <a:r>
              <a:rPr lang="en-US" altLang="zh-CN" sz="2400" dirty="0">
                <a:solidFill>
                  <a:srgbClr val="CC0066"/>
                </a:solidFill>
              </a:rPr>
              <a:t> == 0){</a:t>
            </a:r>
          </a:p>
          <a:p>
            <a:pPr marL="587375" lvl="1" indent="-187325" algn="just">
              <a:buNone/>
              <a:defRPr/>
            </a:pPr>
            <a:r>
              <a:rPr lang="en-US" altLang="zh-CN" sz="2400" dirty="0">
                <a:solidFill>
                  <a:srgbClr val="CC0066"/>
                </a:solidFill>
              </a:rPr>
              <a:t>            break; </a:t>
            </a:r>
          </a:p>
          <a:p>
            <a:pPr marL="587375" lvl="1" indent="-187325" algn="just">
              <a:buNone/>
              <a:defRPr/>
            </a:pPr>
            <a:r>
              <a:rPr lang="en-US" altLang="zh-CN" sz="2400" dirty="0">
                <a:solidFill>
                  <a:srgbClr val="CC0066"/>
                </a:solidFill>
              </a:rPr>
              <a:t>     }</a:t>
            </a:r>
            <a:endParaRPr lang="en-US" altLang="zh-CN" sz="2400" dirty="0"/>
          </a:p>
          <a:p>
            <a:pPr marL="587375" lvl="1" indent="-187325" algn="just">
              <a:buNone/>
              <a:defRPr/>
            </a:pPr>
            <a:r>
              <a:rPr lang="en-US" altLang="zh-CN" sz="2400" dirty="0"/>
              <a:t>if 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&gt; limit)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 ("Yes!\n"); </a:t>
            </a:r>
          </a:p>
          <a:p>
            <a:pPr marL="587375" lvl="1" indent="-187325" algn="just">
              <a:lnSpc>
                <a:spcPct val="80000"/>
              </a:lnSpc>
              <a:buNone/>
              <a:defRPr/>
            </a:pPr>
            <a:r>
              <a:rPr lang="en-US" altLang="zh-CN" sz="2400" dirty="0"/>
              <a:t>else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 ("No!\n"); </a:t>
            </a:r>
          </a:p>
          <a:p>
            <a:pPr marL="187325" indent="-187325" algn="just">
              <a:lnSpc>
                <a:spcPct val="80000"/>
              </a:lnSpc>
              <a:buNone/>
              <a:defRPr/>
            </a:pPr>
            <a:r>
              <a:rPr lang="en-US" altLang="zh-CN" sz="2400" dirty="0"/>
              <a:t>}</a:t>
            </a:r>
            <a:endParaRPr lang="zh-CN" altLang="en-US" sz="2400" dirty="0"/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title"/>
          </p:nvPr>
        </p:nvSpPr>
        <p:spPr>
          <a:xfrm>
            <a:off x="-36512" y="404525"/>
            <a:ext cx="4968552" cy="584775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dirty="0"/>
              <a:t>例</a:t>
            </a:r>
            <a:r>
              <a:rPr lang="en-US" altLang="zh-CN" sz="3200" dirty="0"/>
              <a:t>4-5</a:t>
            </a:r>
            <a:r>
              <a:rPr lang="zh-CN" altLang="en-US" sz="3200" dirty="0"/>
              <a:t>源程序段</a:t>
            </a:r>
            <a:r>
              <a:rPr lang="en-US" altLang="zh-CN" sz="3200" dirty="0"/>
              <a:t>2-</a:t>
            </a:r>
            <a:r>
              <a:rPr lang="zh-CN" altLang="en-US" sz="3200" dirty="0"/>
              <a:t>判断素数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4822628" y="404525"/>
            <a:ext cx="4248918" cy="619282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charset="0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charset="0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charset="0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0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87325" indent="-187325" algn="just">
              <a:lnSpc>
                <a:spcPct val="11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dirty="0"/>
              <a:t>int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, </a:t>
            </a:r>
            <a:r>
              <a:rPr lang="en-US" altLang="zh-CN" sz="2400" dirty="0">
                <a:solidFill>
                  <a:srgbClr val="CC0066"/>
                </a:solidFill>
              </a:rPr>
              <a:t>flag</a:t>
            </a:r>
            <a:r>
              <a:rPr lang="en-US" altLang="zh-CN" sz="2400" dirty="0"/>
              <a:t>, limit, m;</a:t>
            </a:r>
          </a:p>
          <a:p>
            <a:pPr marL="187325" indent="-187325" algn="just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 err="1"/>
              <a:t>scanf</a:t>
            </a:r>
            <a:r>
              <a:rPr lang="en-US" altLang="zh-CN" sz="2400" dirty="0"/>
              <a:t> ("%d", &amp;m);</a:t>
            </a:r>
          </a:p>
          <a:p>
            <a:pPr marL="187325" indent="-187325" algn="just">
              <a:lnSpc>
                <a:spcPct val="11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dirty="0"/>
              <a:t>if (m &lt;= 1)</a:t>
            </a:r>
            <a:r>
              <a:rPr lang="en-US" altLang="zh-CN" sz="2400" dirty="0">
                <a:solidFill>
                  <a:srgbClr val="CC0066"/>
                </a:solidFill>
              </a:rPr>
              <a:t> flag = 0</a:t>
            </a:r>
            <a:r>
              <a:rPr lang="en-US" altLang="zh-CN" sz="2400" dirty="0"/>
              <a:t>;</a:t>
            </a:r>
          </a:p>
          <a:p>
            <a:pPr marL="187325" indent="-187325" algn="just">
              <a:lnSpc>
                <a:spcPct val="11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dirty="0"/>
              <a:t>else if(m == 2)  </a:t>
            </a:r>
            <a:r>
              <a:rPr lang="en-US" altLang="zh-CN" sz="2400" dirty="0">
                <a:solidFill>
                  <a:srgbClr val="CC0066"/>
                </a:solidFill>
              </a:rPr>
              <a:t>flag = 1</a:t>
            </a:r>
            <a:r>
              <a:rPr lang="en-US" altLang="zh-CN" sz="2400" dirty="0"/>
              <a:t>;</a:t>
            </a:r>
          </a:p>
          <a:p>
            <a:pPr marL="187325" indent="-187325" algn="just">
              <a:lnSpc>
                <a:spcPct val="11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dirty="0"/>
              <a:t>else{</a:t>
            </a:r>
          </a:p>
          <a:p>
            <a:pPr marL="187325" indent="-187325" algn="just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/>
              <a:t>    </a:t>
            </a:r>
            <a:r>
              <a:rPr lang="en-US" altLang="zh-CN" sz="2400" dirty="0">
                <a:solidFill>
                  <a:srgbClr val="CC0066"/>
                </a:solidFill>
              </a:rPr>
              <a:t>flag = 1</a:t>
            </a:r>
            <a:r>
              <a:rPr lang="en-US" altLang="zh-CN" sz="2400" dirty="0"/>
              <a:t>;</a:t>
            </a:r>
          </a:p>
          <a:p>
            <a:pPr marL="187325" indent="-187325" algn="just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/>
              <a:t>    limit = sqrt(m) + 1;</a:t>
            </a:r>
          </a:p>
          <a:p>
            <a:pPr marL="187325" indent="-187325" algn="just">
              <a:lnSpc>
                <a:spcPct val="11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dirty="0"/>
              <a:t>    for 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= 2; </a:t>
            </a:r>
            <a:r>
              <a:rPr lang="en-US" altLang="zh-CN" sz="2400" dirty="0" err="1">
                <a:solidFill>
                  <a:schemeClr val="bg2"/>
                </a:solidFill>
              </a:rPr>
              <a:t>i</a:t>
            </a:r>
            <a:r>
              <a:rPr lang="en-US" altLang="zh-CN" sz="2400" dirty="0">
                <a:solidFill>
                  <a:schemeClr val="bg2"/>
                </a:solidFill>
              </a:rPr>
              <a:t> &lt;= limit</a:t>
            </a:r>
            <a:r>
              <a:rPr lang="en-US" altLang="zh-CN" sz="2400" dirty="0"/>
              <a:t>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++)</a:t>
            </a:r>
            <a:endParaRPr lang="zh-CN" altLang="en-US" sz="2400" dirty="0"/>
          </a:p>
          <a:p>
            <a:pPr marL="187325" indent="-187325" algn="just">
              <a:lnSpc>
                <a:spcPct val="11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zh-CN" altLang="en-US" sz="2400" dirty="0"/>
              <a:t>         </a:t>
            </a:r>
            <a:r>
              <a:rPr lang="en-US" altLang="zh-CN" sz="2400" dirty="0">
                <a:solidFill>
                  <a:srgbClr val="CC0066"/>
                </a:solidFill>
              </a:rPr>
              <a:t>if (m % i == 0){</a:t>
            </a:r>
          </a:p>
          <a:p>
            <a:pPr marL="187325" indent="-187325" algn="just">
              <a:lnSpc>
                <a:spcPct val="11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dirty="0">
                <a:solidFill>
                  <a:srgbClr val="CC0066"/>
                </a:solidFill>
              </a:rPr>
              <a:t>             flag = 0;</a:t>
            </a:r>
          </a:p>
          <a:p>
            <a:pPr marL="187325" indent="-187325" algn="just">
              <a:lnSpc>
                <a:spcPct val="11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dirty="0">
                <a:solidFill>
                  <a:srgbClr val="CC0066"/>
                </a:solidFill>
              </a:rPr>
              <a:t>             break;  </a:t>
            </a:r>
          </a:p>
          <a:p>
            <a:pPr marL="187325" indent="-187325" algn="just">
              <a:lnSpc>
                <a:spcPct val="11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dirty="0">
                <a:solidFill>
                  <a:srgbClr val="CC0066"/>
                </a:solidFill>
              </a:rPr>
              <a:t>         }</a:t>
            </a:r>
          </a:p>
          <a:p>
            <a:pPr marL="187325" indent="-187325" algn="just">
              <a:lnSpc>
                <a:spcPct val="11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dirty="0"/>
              <a:t>}</a:t>
            </a:r>
          </a:p>
          <a:p>
            <a:pPr marL="187325" indent="-187325" algn="just">
              <a:lnSpc>
                <a:spcPct val="11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dirty="0"/>
              <a:t>if (</a:t>
            </a:r>
            <a:r>
              <a:rPr lang="en-US" altLang="zh-CN" sz="2400" dirty="0">
                <a:solidFill>
                  <a:srgbClr val="CC0066"/>
                </a:solidFill>
              </a:rPr>
              <a:t>flag == 1</a:t>
            </a:r>
            <a:r>
              <a:rPr lang="en-US" altLang="zh-CN" sz="2400" dirty="0"/>
              <a:t>)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 ("Yes\n"); </a:t>
            </a:r>
          </a:p>
          <a:p>
            <a:pPr marL="187325" indent="-187325" algn="just">
              <a:lnSpc>
                <a:spcPct val="11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dirty="0"/>
              <a:t>else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 ("No\n");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333375"/>
            <a:ext cx="8229600" cy="450850"/>
          </a:xfrm>
        </p:spPr>
        <p:txBody>
          <a:bodyPr/>
          <a:lstStyle/>
          <a:p>
            <a:pPr>
              <a:defRPr/>
            </a:pP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4-6-2 </a:t>
            </a:r>
            <a:r>
              <a:rPr lang="zh-CN" altLang="en-US" sz="2800" dirty="0">
                <a:solidFill>
                  <a:schemeClr val="tx1"/>
                </a:solidFill>
              </a:rPr>
              <a:t>简单的猜数游戏</a:t>
            </a:r>
            <a:r>
              <a:rPr lang="en-US" altLang="zh-CN" sz="2800" dirty="0">
                <a:solidFill>
                  <a:schemeClr val="tx1"/>
                </a:solidFill>
              </a:rPr>
              <a:t>，</a:t>
            </a:r>
            <a:r>
              <a:rPr lang="zh-CN" altLang="en-US" sz="2800" dirty="0">
                <a:solidFill>
                  <a:schemeClr val="tx1"/>
                </a:solidFill>
              </a:rPr>
              <a:t>最多允许猜</a:t>
            </a:r>
            <a:r>
              <a:rPr lang="zh-CN" altLang="zh-CN" sz="2800" dirty="0">
                <a:solidFill>
                  <a:schemeClr val="tx1"/>
                </a:solidFill>
              </a:rPr>
              <a:t>7</a:t>
            </a:r>
            <a:r>
              <a:rPr lang="zh-CN" altLang="en-US" sz="2800" dirty="0">
                <a:solidFill>
                  <a:schemeClr val="tx1"/>
                </a:solidFill>
              </a:rPr>
              <a:t>次。</a:t>
            </a:r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891010"/>
            <a:ext cx="8497639" cy="5778350"/>
          </a:xfrm>
        </p:spPr>
        <p:txBody>
          <a:bodyPr/>
          <a:lstStyle/>
          <a:p>
            <a:pPr>
              <a:lnSpc>
                <a:spcPct val="105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000" dirty="0"/>
              <a:t># include &lt;</a:t>
            </a:r>
            <a:r>
              <a:rPr lang="en-US" altLang="zh-CN" sz="2000" dirty="0" err="1">
                <a:solidFill>
                  <a:schemeClr val="bg2"/>
                </a:solidFill>
              </a:rPr>
              <a:t>stdlib.h</a:t>
            </a:r>
            <a:r>
              <a:rPr lang="en-US" altLang="zh-CN" sz="2000" dirty="0"/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000" dirty="0"/>
              <a:t># include &lt;</a:t>
            </a:r>
            <a:r>
              <a:rPr lang="en-US" altLang="zh-CN" sz="2000" dirty="0" err="1">
                <a:solidFill>
                  <a:srgbClr val="00007D"/>
                </a:solidFill>
              </a:rPr>
              <a:t>time.h</a:t>
            </a:r>
            <a:r>
              <a:rPr lang="en-US" altLang="zh-CN" sz="2000" dirty="0"/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000" dirty="0" err="1"/>
              <a:t>int</a:t>
            </a:r>
            <a:r>
              <a:rPr lang="en-US" altLang="zh-CN" sz="2000" dirty="0"/>
              <a:t> main (void)</a:t>
            </a:r>
          </a:p>
          <a:p>
            <a:pPr>
              <a:lnSpc>
                <a:spcPct val="105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000" dirty="0"/>
              <a:t>{</a:t>
            </a:r>
            <a:r>
              <a:rPr lang="zh-CN" altLang="zh-CN" sz="2000" dirty="0"/>
              <a:t> </a:t>
            </a:r>
            <a:r>
              <a:rPr lang="zh-CN" altLang="en-US" sz="2000" dirty="0"/>
              <a:t>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count = 0,</a:t>
            </a:r>
            <a:r>
              <a:rPr lang="zh-CN" altLang="en-US" sz="2000" dirty="0"/>
              <a:t> </a:t>
            </a:r>
            <a:r>
              <a:rPr lang="en-US" altLang="zh-CN" sz="2000" dirty="0"/>
              <a:t>flag</a:t>
            </a:r>
            <a:r>
              <a:rPr lang="zh-CN" altLang="en-US" sz="2000" dirty="0"/>
              <a:t> </a:t>
            </a:r>
            <a:r>
              <a:rPr lang="en-US" altLang="zh-CN" sz="2000" dirty="0"/>
              <a:t>=</a:t>
            </a:r>
            <a:r>
              <a:rPr lang="zh-CN" altLang="en-US" sz="2000" dirty="0"/>
              <a:t> </a:t>
            </a:r>
            <a:r>
              <a:rPr lang="en-US" altLang="zh-CN" sz="2000" dirty="0"/>
              <a:t>0, </a:t>
            </a:r>
            <a:r>
              <a:rPr lang="en-US" altLang="zh-CN" sz="2000" dirty="0" err="1"/>
              <a:t>mynumber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yournumber</a:t>
            </a:r>
            <a:r>
              <a:rPr lang="en-US" altLang="zh-CN" sz="2000" dirty="0"/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zh-CN" altLang="zh-CN" sz="2000" dirty="0"/>
              <a:t> </a:t>
            </a:r>
            <a:r>
              <a:rPr lang="zh-CN" altLang="en-US" sz="2000" dirty="0">
                <a:solidFill>
                  <a:srgbClr val="800000"/>
                </a:solidFill>
              </a:rPr>
              <a:t>  </a:t>
            </a:r>
            <a:r>
              <a:rPr lang="en-US" altLang="zh-CN" sz="2000" dirty="0" err="1">
                <a:solidFill>
                  <a:srgbClr val="CC0066"/>
                </a:solidFill>
              </a:rPr>
              <a:t>srand</a:t>
            </a:r>
            <a:r>
              <a:rPr lang="en-US" altLang="zh-CN" sz="2000" dirty="0">
                <a:solidFill>
                  <a:srgbClr val="CC0066"/>
                </a:solidFill>
              </a:rPr>
              <a:t> (time(0))</a:t>
            </a:r>
            <a:r>
              <a:rPr lang="en-US" altLang="zh-CN" sz="2000" dirty="0"/>
              <a:t>; </a:t>
            </a:r>
          </a:p>
          <a:p>
            <a:pPr>
              <a:lnSpc>
                <a:spcPct val="105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zh-CN" altLang="zh-CN" sz="2000" dirty="0"/>
              <a:t> </a:t>
            </a:r>
            <a:r>
              <a:rPr lang="zh-CN" altLang="en-US" sz="2000" dirty="0"/>
              <a:t>  </a:t>
            </a:r>
            <a:r>
              <a:rPr lang="en-US" altLang="zh-CN" sz="2000" dirty="0" err="1"/>
              <a:t>mynumber</a:t>
            </a:r>
            <a:r>
              <a:rPr lang="en-US" altLang="zh-CN" sz="2000" dirty="0"/>
              <a:t> = </a:t>
            </a:r>
            <a:r>
              <a:rPr lang="en-US" altLang="zh-CN" sz="2000" dirty="0">
                <a:solidFill>
                  <a:srgbClr val="CC0066"/>
                </a:solidFill>
              </a:rPr>
              <a:t>rand () % 100 + 1</a:t>
            </a:r>
            <a:r>
              <a:rPr lang="en-US" altLang="zh-CN" sz="2000" dirty="0"/>
              <a:t>; /* </a:t>
            </a:r>
            <a:r>
              <a:rPr lang="zh-CN" altLang="en-US" sz="2000" dirty="0"/>
              <a:t>随机产生一个</a:t>
            </a:r>
            <a:r>
              <a:rPr lang="en-US" altLang="zh-CN" sz="2000" dirty="0"/>
              <a:t>1~100</a:t>
            </a:r>
            <a:r>
              <a:rPr lang="zh-CN" altLang="en-US" sz="2000" dirty="0"/>
              <a:t>之间的被猜数</a:t>
            </a:r>
            <a:r>
              <a:rPr lang="en-US" altLang="zh-CN" sz="2000" dirty="0"/>
              <a:t> </a:t>
            </a:r>
            <a:r>
              <a:rPr lang="zh-CN" altLang="en-US" sz="2000" dirty="0"/>
              <a:t>*</a:t>
            </a:r>
            <a:r>
              <a:rPr lang="en-US" altLang="zh-CN" sz="2000" dirty="0"/>
              <a:t>/</a:t>
            </a:r>
          </a:p>
          <a:p>
            <a:pPr>
              <a:lnSpc>
                <a:spcPct val="105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zh-CN" altLang="zh-CN" sz="2000" dirty="0"/>
              <a:t> </a:t>
            </a:r>
            <a:r>
              <a:rPr lang="zh-CN" altLang="en-US" sz="2000" dirty="0"/>
              <a:t>  </a:t>
            </a:r>
            <a:r>
              <a:rPr lang="en-US" altLang="zh-CN" sz="2000" dirty="0">
                <a:solidFill>
                  <a:schemeClr val="bg2"/>
                </a:solidFill>
              </a:rPr>
              <a:t>while (count &lt; 7)</a:t>
            </a:r>
            <a:r>
              <a:rPr lang="en-US" altLang="zh-CN" sz="2000" dirty="0"/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000" dirty="0"/>
              <a:t>      </a:t>
            </a:r>
            <a:r>
              <a:rPr lang="zh-CN" altLang="en-US" sz="2000" dirty="0"/>
              <a:t> 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 ("Enter your number: "); </a:t>
            </a:r>
          </a:p>
          <a:p>
            <a:pPr>
              <a:lnSpc>
                <a:spcPct val="105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000" dirty="0"/>
              <a:t>        </a:t>
            </a:r>
            <a:r>
              <a:rPr lang="en-US" altLang="zh-CN" sz="2000" dirty="0" err="1"/>
              <a:t>scanf</a:t>
            </a:r>
            <a:r>
              <a:rPr lang="en-US" altLang="zh-CN" sz="2000" dirty="0"/>
              <a:t> ("%d", &amp;</a:t>
            </a:r>
            <a:r>
              <a:rPr lang="en-US" altLang="zh-CN" sz="2000" dirty="0" err="1"/>
              <a:t>yournumber</a:t>
            </a:r>
            <a:r>
              <a:rPr lang="en-US" altLang="zh-CN" sz="2000" dirty="0"/>
              <a:t>);</a:t>
            </a:r>
          </a:p>
          <a:p>
            <a:pPr>
              <a:lnSpc>
                <a:spcPct val="105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000" dirty="0"/>
              <a:t>      </a:t>
            </a:r>
            <a:r>
              <a:rPr lang="zh-CN" altLang="en-US" sz="2000" dirty="0"/>
              <a:t>  </a:t>
            </a:r>
            <a:r>
              <a:rPr lang="en-US" altLang="zh-CN" sz="2000" dirty="0">
                <a:solidFill>
                  <a:srgbClr val="00007D"/>
                </a:solidFill>
              </a:rPr>
              <a:t>count++</a:t>
            </a:r>
            <a:r>
              <a:rPr lang="en-US" altLang="zh-CN" sz="2000" dirty="0"/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000" dirty="0"/>
              <a:t>      </a:t>
            </a:r>
            <a:r>
              <a:rPr lang="zh-CN" altLang="en-US" sz="2000" dirty="0"/>
              <a:t>  </a:t>
            </a:r>
            <a:r>
              <a:rPr lang="en-US" altLang="zh-CN" sz="2000" dirty="0"/>
              <a:t>if (</a:t>
            </a:r>
            <a:r>
              <a:rPr lang="en-US" altLang="zh-CN" sz="2000" dirty="0" err="1"/>
              <a:t>yournumber</a:t>
            </a:r>
            <a:r>
              <a:rPr lang="en-US" altLang="zh-CN" sz="2000" dirty="0"/>
              <a:t> == </a:t>
            </a:r>
            <a:r>
              <a:rPr lang="en-US" altLang="zh-CN" sz="2000" dirty="0" err="1"/>
              <a:t>mynumber</a:t>
            </a:r>
            <a:r>
              <a:rPr lang="en-US" altLang="zh-CN" sz="2000" dirty="0"/>
              <a:t>) {</a:t>
            </a:r>
          </a:p>
          <a:p>
            <a:pPr>
              <a:lnSpc>
                <a:spcPct val="105000"/>
              </a:lnSpc>
              <a:spcBef>
                <a:spcPts val="0"/>
              </a:spcBef>
              <a:buNone/>
              <a:defRPr/>
            </a:pPr>
            <a:r>
              <a:rPr lang="en-US" altLang="zh-CN" sz="2000" dirty="0"/>
              <a:t>         </a:t>
            </a:r>
            <a:r>
              <a:rPr lang="zh-CN" altLang="en-US" sz="2000" dirty="0"/>
              <a:t> 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 ("Lucky You!\n");</a:t>
            </a:r>
            <a:r>
              <a:rPr lang="zh-CN" altLang="zh-CN" sz="2000" dirty="0"/>
              <a:t> </a:t>
            </a:r>
            <a:r>
              <a:rPr lang="zh-CN" altLang="en-US" sz="2000" dirty="0"/>
              <a:t> </a:t>
            </a:r>
            <a:r>
              <a:rPr lang="en-US" altLang="zh-CN" sz="2000" dirty="0">
                <a:solidFill>
                  <a:schemeClr val="bg2"/>
                </a:solidFill>
              </a:rPr>
              <a:t>flag = 1</a:t>
            </a:r>
            <a:r>
              <a:rPr lang="en-US" altLang="zh-CN" sz="2000" dirty="0"/>
              <a:t>;</a:t>
            </a:r>
            <a:r>
              <a:rPr lang="zh-CN" altLang="zh-CN" sz="2000" dirty="0"/>
              <a:t> </a:t>
            </a:r>
            <a:r>
              <a:rPr lang="zh-CN" altLang="en-US" sz="2000" dirty="0"/>
              <a:t> </a:t>
            </a:r>
            <a:r>
              <a:rPr lang="en-US" altLang="zh-CN" sz="2000" dirty="0">
                <a:solidFill>
                  <a:srgbClr val="CC0066"/>
                </a:solidFill>
              </a:rPr>
              <a:t>break</a:t>
            </a:r>
            <a:r>
              <a:rPr lang="en-US" altLang="zh-CN" sz="2000" dirty="0"/>
              <a:t>; </a:t>
            </a:r>
          </a:p>
          <a:p>
            <a:pPr>
              <a:lnSpc>
                <a:spcPct val="105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000" dirty="0"/>
              <a:t>     </a:t>
            </a:r>
            <a:r>
              <a:rPr lang="zh-CN" altLang="en-US" sz="2000" dirty="0"/>
              <a:t> </a:t>
            </a:r>
            <a:r>
              <a:rPr lang="en-US" altLang="zh-CN" sz="2000" dirty="0"/>
              <a:t> </a:t>
            </a:r>
            <a:r>
              <a:rPr lang="zh-CN" altLang="en-US" sz="2000" dirty="0"/>
              <a:t> </a:t>
            </a:r>
            <a:r>
              <a:rPr lang="en-US" altLang="zh-CN" sz="2000" dirty="0"/>
              <a:t>} else if (</a:t>
            </a:r>
            <a:r>
              <a:rPr lang="en-US" altLang="zh-CN" sz="2000" dirty="0" err="1"/>
              <a:t>yournumber</a:t>
            </a:r>
            <a:r>
              <a:rPr lang="en-US" altLang="zh-CN" sz="2000" dirty="0"/>
              <a:t> &gt; </a:t>
            </a:r>
            <a:r>
              <a:rPr lang="en-US" altLang="zh-CN" sz="2000" dirty="0" err="1"/>
              <a:t>mynumber</a:t>
            </a:r>
            <a:r>
              <a:rPr lang="en-US" altLang="zh-CN" sz="2000" dirty="0"/>
              <a:t> )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 ("Too big\n");</a:t>
            </a:r>
          </a:p>
          <a:p>
            <a:pPr>
              <a:lnSpc>
                <a:spcPct val="105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000" dirty="0"/>
              <a:t>        else</a:t>
            </a:r>
            <a:r>
              <a:rPr lang="zh-CN" altLang="zh-CN" sz="2000" dirty="0"/>
              <a:t>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 ("Too small\n");</a:t>
            </a:r>
          </a:p>
          <a:p>
            <a:pPr>
              <a:lnSpc>
                <a:spcPct val="105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zh-CN" altLang="en-US" sz="2000" dirty="0"/>
              <a:t>   </a:t>
            </a:r>
            <a:r>
              <a:rPr lang="en-US" altLang="zh-CN" sz="2000" dirty="0">
                <a:solidFill>
                  <a:srgbClr val="00007D"/>
                </a:solidFill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zh-CN" altLang="en-US" sz="2000" dirty="0"/>
              <a:t>   </a:t>
            </a:r>
            <a:r>
              <a:rPr lang="en-US" altLang="zh-CN" sz="2000" dirty="0"/>
              <a:t>if</a:t>
            </a:r>
            <a:r>
              <a:rPr lang="zh-CN" altLang="en-US" sz="2000" dirty="0"/>
              <a:t> 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rgbClr val="00007D"/>
                </a:solidFill>
              </a:rPr>
              <a:t>flag ==</a:t>
            </a:r>
            <a:r>
              <a:rPr lang="zh-CN" altLang="en-US" sz="2000" dirty="0">
                <a:solidFill>
                  <a:srgbClr val="00007D"/>
                </a:solidFill>
              </a:rPr>
              <a:t> </a:t>
            </a:r>
            <a:r>
              <a:rPr lang="en-US" altLang="zh-CN" sz="2000" dirty="0">
                <a:solidFill>
                  <a:srgbClr val="00007D"/>
                </a:solidFill>
              </a:rPr>
              <a:t>0</a:t>
            </a:r>
            <a:r>
              <a:rPr lang="en-US" altLang="zh-CN" sz="2000" dirty="0"/>
              <a:t>)</a:t>
            </a:r>
            <a:r>
              <a:rPr lang="zh-CN" altLang="zh-CN" sz="2000" dirty="0"/>
              <a:t> </a:t>
            </a:r>
            <a:r>
              <a:rPr lang="zh-CN" altLang="en-US" sz="2000" dirty="0"/>
              <a:t>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 ("Game Over!\n");</a:t>
            </a:r>
          </a:p>
          <a:p>
            <a:pPr>
              <a:lnSpc>
                <a:spcPct val="105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000" dirty="0"/>
              <a:t>  </a:t>
            </a:r>
            <a:r>
              <a:rPr lang="zh-CN" altLang="en-US" sz="2000" dirty="0"/>
              <a:t> </a:t>
            </a:r>
            <a:r>
              <a:rPr lang="en-US" altLang="zh-CN" sz="2000" dirty="0"/>
              <a:t>return 0;</a:t>
            </a:r>
          </a:p>
          <a:p>
            <a:pPr>
              <a:lnSpc>
                <a:spcPct val="105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000" dirty="0"/>
              <a:t>}</a:t>
            </a:r>
            <a:endParaRPr lang="zh-CN" altLang="en-US" sz="2000" dirty="0"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9725"/>
            <a:ext cx="8075613" cy="76835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dirty="0"/>
              <a:t>4.4</a:t>
            </a:r>
            <a:r>
              <a:rPr lang="zh-CN" altLang="en-US" dirty="0"/>
              <a:t>  求</a:t>
            </a:r>
            <a:r>
              <a:rPr lang="en-US" altLang="zh-CN" dirty="0"/>
              <a:t>1</a:t>
            </a:r>
            <a:r>
              <a:rPr lang="zh-CN" altLang="en-US" dirty="0"/>
              <a:t>! + </a:t>
            </a:r>
            <a:r>
              <a:rPr lang="en-US" altLang="zh-CN" dirty="0"/>
              <a:t>2</a:t>
            </a:r>
            <a:r>
              <a:rPr lang="zh-CN" altLang="en-US" dirty="0"/>
              <a:t>! + … + </a:t>
            </a:r>
            <a:r>
              <a:rPr lang="en-US" altLang="zh-CN" dirty="0"/>
              <a:t>n</a:t>
            </a:r>
            <a:r>
              <a:rPr lang="zh-CN" altLang="en-US" dirty="0"/>
              <a:t>!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196752"/>
            <a:ext cx="7706816" cy="5256584"/>
          </a:xfrm>
          <a:ln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lvl="1" algn="just">
              <a:lnSpc>
                <a:spcPct val="90000"/>
              </a:lnSpc>
              <a:buFont typeface="Wingdings" charset="0"/>
              <a:buNone/>
              <a:defRPr/>
            </a:pPr>
            <a:r>
              <a:rPr lang="en-US" altLang="zh-CN" dirty="0"/>
              <a:t>sum = 0;</a:t>
            </a:r>
          </a:p>
          <a:p>
            <a:pPr lvl="1" algn="just">
              <a:lnSpc>
                <a:spcPct val="90000"/>
              </a:lnSpc>
              <a:buFont typeface="Wingdings" charset="0"/>
              <a:buNone/>
              <a:defRPr/>
            </a:pPr>
            <a:r>
              <a:rPr lang="en-US" altLang="zh-CN" dirty="0"/>
              <a:t>for (</a:t>
            </a:r>
            <a:r>
              <a:rPr lang="en-US" altLang="zh-CN" dirty="0" err="1"/>
              <a:t>i</a:t>
            </a:r>
            <a:r>
              <a:rPr lang="en-US" altLang="zh-CN" dirty="0"/>
              <a:t> = 1; </a:t>
            </a:r>
            <a:r>
              <a:rPr lang="en-US" altLang="zh-CN" dirty="0" err="1"/>
              <a:t>i</a:t>
            </a:r>
            <a:r>
              <a:rPr lang="en-US" altLang="zh-CN" dirty="0"/>
              <a:t> &lt;= n; </a:t>
            </a:r>
            <a:r>
              <a:rPr lang="en-US" altLang="zh-CN" dirty="0" err="1"/>
              <a:t>i</a:t>
            </a:r>
            <a:r>
              <a:rPr lang="en-US" altLang="zh-CN" dirty="0"/>
              <a:t>++){</a:t>
            </a:r>
          </a:p>
          <a:p>
            <a:pPr lvl="1" algn="just">
              <a:lnSpc>
                <a:spcPct val="90000"/>
              </a:lnSpc>
              <a:buFont typeface="Wingdings" charset="0"/>
              <a:buNone/>
              <a:defRPr/>
            </a:pPr>
            <a:r>
              <a:rPr lang="en-US" altLang="zh-CN" dirty="0"/>
              <a:t>    </a:t>
            </a:r>
            <a:r>
              <a:rPr lang="en-US" altLang="zh-CN" dirty="0">
                <a:solidFill>
                  <a:srgbClr val="CC0066"/>
                </a:solidFill>
              </a:rPr>
              <a:t>item = </a:t>
            </a:r>
            <a:r>
              <a:rPr lang="en-US" altLang="zh-CN" dirty="0" err="1">
                <a:solidFill>
                  <a:srgbClr val="CC0066"/>
                </a:solidFill>
              </a:rPr>
              <a:t>i</a:t>
            </a:r>
            <a:r>
              <a:rPr lang="en-US" altLang="zh-CN" dirty="0">
                <a:solidFill>
                  <a:srgbClr val="CC0066"/>
                </a:solidFill>
              </a:rPr>
              <a:t> !</a:t>
            </a:r>
          </a:p>
          <a:p>
            <a:pPr lvl="1" algn="just">
              <a:lnSpc>
                <a:spcPct val="90000"/>
              </a:lnSpc>
              <a:buFont typeface="Wingdings" charset="0"/>
              <a:buNone/>
              <a:defRPr/>
            </a:pPr>
            <a:r>
              <a:rPr lang="en-US" altLang="zh-CN" dirty="0"/>
              <a:t>    sum = sum + item;</a:t>
            </a:r>
          </a:p>
          <a:p>
            <a:pPr lvl="1" algn="just">
              <a:lnSpc>
                <a:spcPct val="90000"/>
              </a:lnSpc>
              <a:buFont typeface="Wingdings" charset="0"/>
              <a:buNone/>
              <a:defRPr/>
            </a:pPr>
            <a:r>
              <a:rPr lang="en-US" altLang="zh-CN" dirty="0"/>
              <a:t>}</a:t>
            </a:r>
            <a:endParaRPr lang="zh-CN" altLang="en-US" dirty="0"/>
          </a:p>
          <a:p>
            <a:pPr lvl="1" algn="just">
              <a:lnSpc>
                <a:spcPct val="90000"/>
              </a:lnSpc>
              <a:buFont typeface="Wingdings" charset="0"/>
              <a:buNone/>
              <a:defRPr/>
            </a:pPr>
            <a:endParaRPr lang="zh-CN" altLang="en-US" dirty="0"/>
          </a:p>
          <a:p>
            <a:pPr>
              <a:buFont typeface="Wingdings" charset="0"/>
              <a:buNone/>
              <a:defRPr/>
            </a:pPr>
            <a:r>
              <a:rPr lang="en-US" altLang="zh-CN" dirty="0"/>
              <a:t>4.4.1</a:t>
            </a:r>
            <a:r>
              <a:rPr lang="zh-CN" altLang="en-US" dirty="0"/>
              <a:t>  程序解析</a:t>
            </a:r>
          </a:p>
          <a:p>
            <a:pPr lvl="1">
              <a:buFont typeface="Wingdings" charset="0"/>
              <a:buNone/>
              <a:defRPr/>
            </a:pPr>
            <a:r>
              <a:rPr lang="zh-CN" altLang="en-US" dirty="0"/>
              <a:t>调用函数 </a:t>
            </a:r>
            <a:r>
              <a:rPr lang="en-US" altLang="zh-CN" dirty="0"/>
              <a:t>fact(</a:t>
            </a:r>
            <a:r>
              <a:rPr lang="en-US" altLang="zh-CN" dirty="0" err="1"/>
              <a:t>i</a:t>
            </a:r>
            <a:r>
              <a:rPr lang="en-US" altLang="zh-CN" dirty="0"/>
              <a:t>) </a:t>
            </a:r>
            <a:r>
              <a:rPr lang="zh-CN" altLang="en-US" dirty="0"/>
              <a:t>计算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的阶乘</a:t>
            </a:r>
          </a:p>
          <a:p>
            <a:pPr>
              <a:buFont typeface="Wingdings" charset="0"/>
              <a:buNone/>
              <a:defRPr/>
            </a:pPr>
            <a:r>
              <a:rPr lang="en-US" altLang="zh-CN" dirty="0"/>
              <a:t>4.4.2</a:t>
            </a:r>
            <a:r>
              <a:rPr lang="zh-CN" altLang="en-US" dirty="0"/>
              <a:t> 嵌套循环</a:t>
            </a:r>
          </a:p>
          <a:p>
            <a:pPr lvl="1">
              <a:buFont typeface="Wingdings" charset="0"/>
              <a:buNone/>
              <a:defRPr/>
            </a:pPr>
            <a:r>
              <a:rPr lang="zh-CN" altLang="en-US" dirty="0"/>
              <a:t>用循环计算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的阶乘</a:t>
            </a:r>
            <a:endParaRPr lang="zh-CN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565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565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5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5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5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5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5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5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5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5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5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5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5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5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5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5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5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5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5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5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1" grpId="0" build="p" animBg="1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145139"/>
            <a:ext cx="4703440" cy="5194238"/>
          </a:xfrm>
        </p:spPr>
        <p:txBody>
          <a:bodyPr/>
          <a:lstStyle/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zh-CN" altLang="en-US" sz="2400" dirty="0"/>
              <a:t>#</a:t>
            </a:r>
            <a:r>
              <a:rPr lang="en-US" altLang="zh-CN" sz="2400" dirty="0"/>
              <a:t> include &lt;</a:t>
            </a:r>
            <a:r>
              <a:rPr lang="en-US" altLang="zh-CN" sz="2400" dirty="0" err="1"/>
              <a:t>stdio.h</a:t>
            </a:r>
            <a:r>
              <a:rPr lang="en-US" altLang="zh-CN" sz="2400" dirty="0"/>
              <a:t>&gt;</a:t>
            </a: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dirty="0"/>
              <a:t>double fact (int n); </a:t>
            </a: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dirty="0"/>
              <a:t>int main (void)</a:t>
            </a: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dirty="0"/>
              <a:t>{	 int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, n;</a:t>
            </a: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dirty="0"/>
              <a:t>     double sum;</a:t>
            </a:r>
          </a:p>
          <a:p>
            <a:pPr marL="0" indent="0">
              <a:buNone/>
            </a:pPr>
            <a:r>
              <a:rPr lang="en-US" altLang="zh-CN" sz="2400" dirty="0"/>
              <a:t>    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("Enter n: ");</a:t>
            </a:r>
          </a:p>
          <a:p>
            <a:pPr marL="0" indent="0">
              <a:buNone/>
            </a:pPr>
            <a:r>
              <a:rPr lang="en-US" altLang="zh-CN" sz="2400" dirty="0"/>
              <a:t>     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("%d", &amp;n);</a:t>
            </a: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dirty="0"/>
              <a:t>	 sum = 0;</a:t>
            </a: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dirty="0"/>
              <a:t>     for (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= 1;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&lt;= n;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++ ){</a:t>
            </a: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dirty="0"/>
              <a:t>	     sum = sum + </a:t>
            </a:r>
            <a:r>
              <a:rPr lang="en-US" altLang="zh-CN" sz="2400" dirty="0">
                <a:solidFill>
                  <a:srgbClr val="CC0066"/>
                </a:solidFill>
              </a:rPr>
              <a:t>fact (</a:t>
            </a:r>
            <a:r>
              <a:rPr lang="en-US" altLang="zh-CN" sz="2400" dirty="0" err="1">
                <a:solidFill>
                  <a:srgbClr val="CC0066"/>
                </a:solidFill>
              </a:rPr>
              <a:t>i</a:t>
            </a:r>
            <a:r>
              <a:rPr lang="en-US" altLang="zh-CN" sz="2400" dirty="0">
                <a:solidFill>
                  <a:srgbClr val="CC0066"/>
                </a:solidFill>
              </a:rPr>
              <a:t>)</a:t>
            </a:r>
            <a:r>
              <a:rPr lang="en-US" altLang="zh-CN" sz="2400" dirty="0"/>
              <a:t>;</a:t>
            </a: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dirty="0"/>
              <a:t>     }</a:t>
            </a:r>
            <a:endParaRPr lang="zh-CN" altLang="en-US" sz="2400" dirty="0"/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zh-CN" altLang="en-US" sz="2400" dirty="0"/>
              <a:t>   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 ("sum = %.0f\n", sum);</a:t>
            </a: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dirty="0"/>
              <a:t>    return 0;</a:t>
            </a: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dirty="0"/>
              <a:t>}</a:t>
            </a:r>
            <a:endParaRPr lang="zh-CN" altLang="en-US" sz="2400" dirty="0"/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endParaRPr lang="zh-CN" altLang="en-US" sz="2400" dirty="0"/>
          </a:p>
        </p:txBody>
      </p:sp>
      <p:sp>
        <p:nvSpPr>
          <p:cNvPr id="132100" name="Rectangle 4"/>
          <p:cNvSpPr>
            <a:spLocks noGrp="1" noChangeArrowheads="1"/>
          </p:cNvSpPr>
          <p:nvPr>
            <p:ph type="title"/>
          </p:nvPr>
        </p:nvSpPr>
        <p:spPr>
          <a:xfrm>
            <a:off x="179387" y="250987"/>
            <a:ext cx="8785101" cy="873758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en-US" altLang="zh-CN" sz="4000" dirty="0"/>
              <a:t>4.4.1</a:t>
            </a:r>
            <a:r>
              <a:rPr lang="zh-CN" altLang="en-US" sz="4000" dirty="0"/>
              <a:t>  程序解析  求</a:t>
            </a:r>
            <a:r>
              <a:rPr lang="en-US" altLang="zh-CN" sz="4000" dirty="0"/>
              <a:t>1! + 2! + …. + n!</a:t>
            </a:r>
          </a:p>
        </p:txBody>
      </p:sp>
      <p:sp>
        <p:nvSpPr>
          <p:cNvPr id="132101" name="Text Box 5"/>
          <p:cNvSpPr txBox="1">
            <a:spLocks noChangeArrowheads="1"/>
          </p:cNvSpPr>
          <p:nvPr/>
        </p:nvSpPr>
        <p:spPr bwMode="auto">
          <a:xfrm>
            <a:off x="3923928" y="1124745"/>
            <a:ext cx="3456384" cy="8309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Enter n: </a:t>
            </a:r>
            <a:r>
              <a:rPr lang="en-US" altLang="zh-CN" sz="2400" dirty="0">
                <a:solidFill>
                  <a:srgbClr val="CC0066"/>
                </a:solidFill>
              </a:rPr>
              <a:t>15</a:t>
            </a:r>
          </a:p>
          <a:p>
            <a:pPr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Sum = 1401602636313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xmlns="" id="{47610DBC-5AE6-4BFA-AB20-FEAD40FC1A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3722" y="2132856"/>
            <a:ext cx="3970766" cy="4474157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charset="0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charset="0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charset="0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0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kern="0" dirty="0"/>
              <a:t>double fact (int n)</a:t>
            </a:r>
            <a:endParaRPr lang="zh-CN" altLang="en-US" sz="2400" kern="0" dirty="0">
              <a:solidFill>
                <a:srgbClr val="FF0000"/>
              </a:solidFill>
            </a:endParaRP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kern="0" dirty="0"/>
              <a:t>{</a:t>
            </a:r>
            <a:r>
              <a:rPr lang="zh-CN" altLang="en-US" sz="2400" kern="0" dirty="0"/>
              <a:t>   </a:t>
            </a:r>
            <a:r>
              <a:rPr lang="en-US" altLang="zh-CN" sz="2400" kern="0" dirty="0"/>
              <a:t> </a:t>
            </a: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kern="0" dirty="0"/>
              <a:t>     int </a:t>
            </a:r>
            <a:r>
              <a:rPr lang="en-US" altLang="zh-CN" sz="2400" kern="0" dirty="0" err="1"/>
              <a:t>i</a:t>
            </a:r>
            <a:r>
              <a:rPr lang="en-US" altLang="zh-CN" sz="2400" kern="0" dirty="0"/>
              <a:t>;</a:t>
            </a: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kern="0" dirty="0"/>
              <a:t>     double result;</a:t>
            </a: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kern="0" dirty="0"/>
              <a:t> </a:t>
            </a: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kern="0" dirty="0"/>
              <a:t>	 if(n &lt; 0) return 0;</a:t>
            </a:r>
          </a:p>
          <a:p>
            <a:pPr algn="just">
              <a:spcBef>
                <a:spcPts val="0"/>
              </a:spcBef>
              <a:buNone/>
              <a:defRPr/>
            </a:pPr>
            <a:r>
              <a:rPr lang="en-US" altLang="zh-CN" sz="2400" kern="0" dirty="0"/>
              <a:t>     result = 1;</a:t>
            </a:r>
            <a:endParaRPr lang="zh-CN" altLang="en-US" sz="2400" kern="0" dirty="0"/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zh-CN" altLang="en-US" sz="2400" kern="0" dirty="0"/>
              <a:t>     </a:t>
            </a:r>
            <a:r>
              <a:rPr lang="en-US" altLang="zh-CN" sz="2400" kern="0" dirty="0"/>
              <a:t>for ( </a:t>
            </a:r>
            <a:r>
              <a:rPr lang="en-US" altLang="zh-CN" sz="2400" kern="0" dirty="0" err="1"/>
              <a:t>i</a:t>
            </a:r>
            <a:r>
              <a:rPr lang="en-US" altLang="zh-CN" sz="2400" kern="0" dirty="0"/>
              <a:t> = 1; </a:t>
            </a:r>
            <a:r>
              <a:rPr lang="en-US" altLang="zh-CN" sz="2400" kern="0" dirty="0" err="1"/>
              <a:t>i</a:t>
            </a:r>
            <a:r>
              <a:rPr lang="en-US" altLang="zh-CN" sz="2400" kern="0" dirty="0"/>
              <a:t> &lt;= n; </a:t>
            </a:r>
            <a:r>
              <a:rPr lang="en-US" altLang="zh-CN" sz="2400" kern="0" dirty="0" err="1"/>
              <a:t>i</a:t>
            </a:r>
            <a:r>
              <a:rPr lang="en-US" altLang="zh-CN" sz="2400" kern="0" dirty="0"/>
              <a:t>++){</a:t>
            </a: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kern="0" dirty="0"/>
              <a:t>	       result = result * </a:t>
            </a:r>
            <a:r>
              <a:rPr lang="en-US" altLang="zh-CN" sz="2400" kern="0" dirty="0" err="1"/>
              <a:t>i</a:t>
            </a:r>
            <a:r>
              <a:rPr lang="en-US" altLang="zh-CN" sz="2400" kern="0" dirty="0"/>
              <a:t> ;</a:t>
            </a: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kern="0" dirty="0"/>
              <a:t>      }</a:t>
            </a: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kern="0" dirty="0"/>
              <a:t>      return  result ; </a:t>
            </a: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kern="0" dirty="0"/>
              <a:t>}</a:t>
            </a:r>
            <a:endParaRPr lang="zh-CN" altLang="en-US" sz="2400" kern="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2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2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10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23850" y="404813"/>
            <a:ext cx="4895850" cy="76200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en-US" altLang="zh-CN" dirty="0"/>
              <a:t>4.4.2</a:t>
            </a:r>
            <a:r>
              <a:rPr lang="zh-CN" altLang="en-US" dirty="0"/>
              <a:t>  嵌套循环</a:t>
            </a:r>
          </a:p>
        </p:txBody>
      </p:sp>
      <p:sp>
        <p:nvSpPr>
          <p:cNvPr id="1331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589868" y="548680"/>
            <a:ext cx="4086910" cy="2016224"/>
          </a:xfrm>
        </p:spPr>
        <p:txBody>
          <a:bodyPr/>
          <a:lstStyle/>
          <a:p>
            <a:pPr algn="just">
              <a:spcBef>
                <a:spcPts val="300"/>
              </a:spcBef>
              <a:buFont typeface="Wingdings" charset="0"/>
              <a:buNone/>
              <a:defRPr/>
            </a:pPr>
            <a:r>
              <a:rPr lang="en-US" altLang="zh-CN" sz="2400" dirty="0"/>
              <a:t>sum = 0;</a:t>
            </a:r>
          </a:p>
          <a:p>
            <a:pPr algn="just">
              <a:spcBef>
                <a:spcPts val="300"/>
              </a:spcBef>
              <a:buFont typeface="Wingdings" charset="0"/>
              <a:buNone/>
              <a:defRPr/>
            </a:pPr>
            <a:r>
              <a:rPr lang="en-US" altLang="zh-CN" sz="2400" dirty="0"/>
              <a:t>for (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= 1;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&lt;= n;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++ ){</a:t>
            </a:r>
          </a:p>
          <a:p>
            <a:pPr algn="just"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dirty="0"/>
              <a:t>    </a:t>
            </a:r>
            <a:r>
              <a:rPr lang="en-US" altLang="zh-CN" sz="2400" dirty="0">
                <a:solidFill>
                  <a:srgbClr val="CC0066"/>
                </a:solidFill>
              </a:rPr>
              <a:t>item = </a:t>
            </a:r>
            <a:r>
              <a:rPr lang="en-US" altLang="zh-CN" sz="2400" dirty="0" err="1">
                <a:solidFill>
                  <a:srgbClr val="CC0066"/>
                </a:solidFill>
              </a:rPr>
              <a:t>i</a:t>
            </a:r>
            <a:r>
              <a:rPr lang="en-US" altLang="zh-CN" sz="2400" dirty="0">
                <a:solidFill>
                  <a:srgbClr val="CC0066"/>
                </a:solidFill>
              </a:rPr>
              <a:t> !</a:t>
            </a:r>
          </a:p>
          <a:p>
            <a:pPr algn="just">
              <a:spcBef>
                <a:spcPts val="300"/>
              </a:spcBef>
              <a:buFont typeface="Wingdings" charset="0"/>
              <a:buNone/>
              <a:defRPr/>
            </a:pPr>
            <a:r>
              <a:rPr lang="en-US" altLang="zh-CN" sz="2400" dirty="0"/>
              <a:t>    sum = sum + item;</a:t>
            </a:r>
          </a:p>
          <a:p>
            <a:pPr algn="just">
              <a:spcBef>
                <a:spcPts val="300"/>
              </a:spcBef>
              <a:buFont typeface="Wingdings" charset="0"/>
              <a:buNone/>
              <a:defRPr/>
            </a:pPr>
            <a:r>
              <a:rPr lang="en-US" altLang="zh-CN" sz="2400" dirty="0"/>
              <a:t>}</a:t>
            </a:r>
            <a:endParaRPr lang="zh-CN" altLang="en-US" sz="2400" dirty="0"/>
          </a:p>
        </p:txBody>
      </p:sp>
      <p:sp>
        <p:nvSpPr>
          <p:cNvPr id="133126" name="Text Box 1030"/>
          <p:cNvSpPr txBox="1">
            <a:spLocks noChangeArrowheads="1"/>
          </p:cNvSpPr>
          <p:nvPr/>
        </p:nvSpPr>
        <p:spPr bwMode="auto">
          <a:xfrm>
            <a:off x="179512" y="2896844"/>
            <a:ext cx="8640960" cy="3124443"/>
          </a:xfrm>
          <a:prstGeom prst="rect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0" hangingPunct="0"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sum = 0;</a:t>
            </a:r>
          </a:p>
          <a:p>
            <a:pPr algn="just" eaLnBrk="0" hangingPunct="0"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for ( </a:t>
            </a:r>
            <a:r>
              <a:rPr lang="en-US" altLang="zh-CN" sz="2400" dirty="0" err="1">
                <a:solidFill>
                  <a:schemeClr val="tx1"/>
                </a:solidFill>
              </a:rPr>
              <a:t>i</a:t>
            </a:r>
            <a:r>
              <a:rPr lang="en-US" altLang="zh-CN" sz="2400" dirty="0">
                <a:solidFill>
                  <a:schemeClr val="tx1"/>
                </a:solidFill>
              </a:rPr>
              <a:t> = 1; </a:t>
            </a:r>
            <a:r>
              <a:rPr lang="en-US" altLang="zh-CN" sz="2400" dirty="0" err="1">
                <a:solidFill>
                  <a:schemeClr val="tx1"/>
                </a:solidFill>
              </a:rPr>
              <a:t>i</a:t>
            </a:r>
            <a:r>
              <a:rPr lang="en-US" altLang="zh-CN" sz="2400" dirty="0">
                <a:solidFill>
                  <a:schemeClr val="tx1"/>
                </a:solidFill>
              </a:rPr>
              <a:t> &lt;= n; </a:t>
            </a:r>
            <a:r>
              <a:rPr lang="en-US" altLang="zh-CN" sz="2400" dirty="0" err="1">
                <a:solidFill>
                  <a:schemeClr val="tx1"/>
                </a:solidFill>
              </a:rPr>
              <a:t>i</a:t>
            </a:r>
            <a:r>
              <a:rPr lang="en-US" altLang="zh-CN" sz="2400" dirty="0">
                <a:solidFill>
                  <a:schemeClr val="tx1"/>
                </a:solidFill>
              </a:rPr>
              <a:t>++ ) {   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lvl="1" algn="just" eaLnBrk="0" hangingPunct="0">
              <a:defRPr/>
            </a:pPr>
            <a:r>
              <a:rPr lang="en-US" altLang="zh-CN" sz="2400" dirty="0">
                <a:solidFill>
                  <a:schemeClr val="bg2"/>
                </a:solidFill>
              </a:rPr>
              <a:t>item = 1;                         /*  </a:t>
            </a:r>
            <a:r>
              <a:rPr lang="zh-CN" altLang="en-US" sz="2400" dirty="0">
                <a:solidFill>
                  <a:schemeClr val="bg2"/>
                </a:solidFill>
              </a:rPr>
              <a:t>每次求阶乘都从1开始 */</a:t>
            </a:r>
            <a:r>
              <a:rPr lang="en-US" altLang="zh-CN" sz="2400" dirty="0">
                <a:solidFill>
                  <a:schemeClr val="bg2"/>
                </a:solidFill>
              </a:rPr>
              <a:t>       	</a:t>
            </a:r>
          </a:p>
          <a:p>
            <a:pPr lvl="1" algn="just" eaLnBrk="0" hangingPunct="0">
              <a:defRPr/>
            </a:pPr>
            <a:r>
              <a:rPr lang="en-US" altLang="zh-CN" sz="2400" dirty="0">
                <a:solidFill>
                  <a:schemeClr val="bg2"/>
                </a:solidFill>
              </a:rPr>
              <a:t>for (j = 1; j &lt;= </a:t>
            </a:r>
            <a:r>
              <a:rPr lang="en-US" altLang="zh-CN" sz="2400" dirty="0" err="1">
                <a:solidFill>
                  <a:schemeClr val="bg2"/>
                </a:solidFill>
              </a:rPr>
              <a:t>i</a:t>
            </a:r>
            <a:r>
              <a:rPr lang="en-US" altLang="zh-CN" sz="2400" dirty="0">
                <a:solidFill>
                  <a:schemeClr val="bg2"/>
                </a:solidFill>
              </a:rPr>
              <a:t>; </a:t>
            </a:r>
            <a:r>
              <a:rPr lang="en-US" altLang="zh-CN" sz="2400" dirty="0" err="1">
                <a:solidFill>
                  <a:schemeClr val="bg2"/>
                </a:solidFill>
              </a:rPr>
              <a:t>j++</a:t>
            </a:r>
            <a:r>
              <a:rPr lang="en-US" altLang="zh-CN" sz="2400" dirty="0">
                <a:solidFill>
                  <a:schemeClr val="bg2"/>
                </a:solidFill>
              </a:rPr>
              <a:t>){     /* </a:t>
            </a:r>
            <a:r>
              <a:rPr lang="zh-CN" altLang="en-US" sz="2400" dirty="0">
                <a:solidFill>
                  <a:schemeClr val="bg2"/>
                </a:solidFill>
              </a:rPr>
              <a:t>内层循环算出 </a:t>
            </a:r>
            <a:r>
              <a:rPr lang="en-US" altLang="zh-CN" sz="2400" dirty="0">
                <a:solidFill>
                  <a:schemeClr val="bg2"/>
                </a:solidFill>
              </a:rPr>
              <a:t>item = </a:t>
            </a:r>
            <a:r>
              <a:rPr lang="en-US" altLang="zh-CN" sz="2400" dirty="0" err="1">
                <a:solidFill>
                  <a:schemeClr val="bg2"/>
                </a:solidFill>
              </a:rPr>
              <a:t>i</a:t>
            </a:r>
            <a:r>
              <a:rPr lang="en-US" altLang="zh-CN" sz="2400" dirty="0">
                <a:solidFill>
                  <a:schemeClr val="bg2"/>
                </a:solidFill>
              </a:rPr>
              <a:t>! */</a:t>
            </a:r>
          </a:p>
          <a:p>
            <a:pPr lvl="2" algn="just" eaLnBrk="0" hangingPunct="0">
              <a:defRPr/>
            </a:pPr>
            <a:r>
              <a:rPr lang="en-US" altLang="zh-CN" sz="2400" dirty="0">
                <a:solidFill>
                  <a:schemeClr val="bg2"/>
                </a:solidFill>
              </a:rPr>
              <a:t>item = item * j;</a:t>
            </a:r>
          </a:p>
          <a:p>
            <a:pPr lvl="1" algn="just" eaLnBrk="0" hangingPunct="0">
              <a:defRPr/>
            </a:pPr>
            <a:r>
              <a:rPr lang="en-US" altLang="zh-CN" sz="2400" dirty="0">
                <a:solidFill>
                  <a:schemeClr val="bg2"/>
                </a:solidFill>
              </a:rPr>
              <a:t>}</a:t>
            </a:r>
          </a:p>
          <a:p>
            <a:pPr lvl="1" algn="just" eaLnBrk="0" hangingPunct="0"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sum = sum + item;  </a:t>
            </a:r>
          </a:p>
          <a:p>
            <a:pPr algn="just" eaLnBrk="0" hangingPunct="0"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}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6" grpId="0" animBg="1" autoUpdateAnimBg="0"/>
      <p:bldP spid="133126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2843808" y="332656"/>
            <a:ext cx="6265267" cy="91440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zh-CN" altLang="en-US" dirty="0"/>
              <a:t>讨论</a:t>
            </a:r>
            <a:r>
              <a:rPr lang="en-US" altLang="zh-CN" dirty="0"/>
              <a:t>-</a:t>
            </a:r>
            <a:r>
              <a:rPr lang="zh-CN" altLang="en-US" dirty="0"/>
              <a:t>内层循环的初始化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04" y="1236663"/>
            <a:ext cx="4536504" cy="3920529"/>
          </a:xfrm>
        </p:spPr>
        <p:txBody>
          <a:bodyPr/>
          <a:lstStyle/>
          <a:p>
            <a:pPr algn="just" eaLnBrk="0" hangingPunct="0">
              <a:spcBef>
                <a:spcPts val="0"/>
              </a:spcBef>
              <a:buClrTx/>
              <a:buSzTx/>
              <a:buFontTx/>
              <a:buNone/>
              <a:defRPr/>
            </a:pPr>
            <a:endParaRPr lang="en-US" altLang="zh-CN" sz="2800" dirty="0"/>
          </a:p>
          <a:p>
            <a:pPr algn="just" eaLnBrk="0" hangingPunct="0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800" dirty="0"/>
              <a:t>sum = 0;</a:t>
            </a:r>
          </a:p>
          <a:p>
            <a:pPr algn="just" eaLnBrk="0" hangingPunct="0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800" dirty="0"/>
              <a:t>for (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 = 1;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 &lt;= n;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++ ) {   </a:t>
            </a:r>
            <a:endParaRPr lang="zh-CN" altLang="en-US" sz="2800" dirty="0"/>
          </a:p>
          <a:p>
            <a:pPr algn="just" eaLnBrk="0" hangingPunct="0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zh-CN" altLang="en-US" sz="2800" dirty="0"/>
              <a:t>      </a:t>
            </a:r>
            <a:r>
              <a:rPr lang="en-US" altLang="zh-CN" sz="2800" dirty="0">
                <a:solidFill>
                  <a:srgbClr val="CC0066"/>
                </a:solidFill>
              </a:rPr>
              <a:t>item = 1</a:t>
            </a:r>
            <a:r>
              <a:rPr lang="en-US" altLang="zh-CN" sz="2800" dirty="0"/>
              <a:t>; </a:t>
            </a:r>
            <a:r>
              <a:rPr lang="en-US" altLang="zh-CN" sz="2800" dirty="0">
                <a:solidFill>
                  <a:srgbClr val="FF0000"/>
                </a:solidFill>
              </a:rPr>
              <a:t>         	</a:t>
            </a:r>
          </a:p>
          <a:p>
            <a:pPr algn="just" eaLnBrk="0" hangingPunct="0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rgbClr val="FF0000"/>
                </a:solidFill>
              </a:rPr>
              <a:t>    </a:t>
            </a:r>
            <a:r>
              <a:rPr lang="en-US" altLang="zh-CN" sz="2800" dirty="0">
                <a:solidFill>
                  <a:srgbClr val="FF0000"/>
                </a:solidFill>
              </a:rPr>
              <a:t>  </a:t>
            </a:r>
            <a:r>
              <a:rPr lang="en-US" altLang="zh-CN" sz="2800" dirty="0"/>
              <a:t>for (j = 1; j &lt;=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; j++){</a:t>
            </a:r>
          </a:p>
          <a:p>
            <a:pPr algn="just" eaLnBrk="0" hangingPunct="0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800" dirty="0"/>
              <a:t>	   	  item = item * j;</a:t>
            </a:r>
          </a:p>
          <a:p>
            <a:pPr algn="just" eaLnBrk="0" hangingPunct="0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800" dirty="0"/>
              <a:t>       }</a:t>
            </a:r>
          </a:p>
          <a:p>
            <a:pPr algn="just" eaLnBrk="0" hangingPunct="0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800" dirty="0"/>
              <a:t>       sum = sum + item;  </a:t>
            </a:r>
          </a:p>
          <a:p>
            <a:pPr algn="just" eaLnBrk="0" hangingPunct="0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800" dirty="0"/>
              <a:t>}</a:t>
            </a:r>
            <a:endParaRPr lang="zh-CN" altLang="en-US" sz="2800" dirty="0"/>
          </a:p>
        </p:txBody>
      </p:sp>
      <p:sp>
        <p:nvSpPr>
          <p:cNvPr id="157700" name="Rectangle 4"/>
          <p:cNvSpPr>
            <a:spLocks noChangeArrowheads="1"/>
          </p:cNvSpPr>
          <p:nvPr/>
        </p:nvSpPr>
        <p:spPr bwMode="auto">
          <a:xfrm>
            <a:off x="179388" y="1176933"/>
            <a:ext cx="311174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2800" dirty="0">
                <a:solidFill>
                  <a:schemeClr val="tx1"/>
                </a:solidFill>
              </a:rPr>
              <a:t>求</a:t>
            </a:r>
            <a:r>
              <a:rPr kumimoji="1" lang="en-US" altLang="zh-CN" sz="2800" dirty="0">
                <a:solidFill>
                  <a:schemeClr val="tx1"/>
                </a:solidFill>
              </a:rPr>
              <a:t>1!</a:t>
            </a:r>
            <a:r>
              <a:rPr kumimoji="1" lang="zh-CN" altLang="en-US" sz="2800" dirty="0">
                <a:solidFill>
                  <a:schemeClr val="tx1"/>
                </a:solidFill>
              </a:rPr>
              <a:t> + </a:t>
            </a:r>
            <a:r>
              <a:rPr kumimoji="1" lang="en-US" altLang="zh-CN" sz="2800" dirty="0">
                <a:solidFill>
                  <a:schemeClr val="tx1"/>
                </a:solidFill>
              </a:rPr>
              <a:t>2!</a:t>
            </a:r>
            <a:r>
              <a:rPr kumimoji="1" lang="zh-CN" altLang="en-US" sz="2800" dirty="0">
                <a:solidFill>
                  <a:schemeClr val="tx1"/>
                </a:solidFill>
              </a:rPr>
              <a:t> + …</a:t>
            </a:r>
            <a:r>
              <a:rPr kumimoji="1" lang="en-US" altLang="zh-CN" sz="2800" dirty="0">
                <a:solidFill>
                  <a:schemeClr val="tx1"/>
                </a:solidFill>
              </a:rPr>
              <a:t> </a:t>
            </a:r>
            <a:r>
              <a:rPr kumimoji="1" lang="zh-CN" altLang="en-US" sz="2800" dirty="0">
                <a:solidFill>
                  <a:schemeClr val="tx1"/>
                </a:solidFill>
              </a:rPr>
              <a:t>+ </a:t>
            </a:r>
            <a:r>
              <a:rPr kumimoji="1" lang="en-US" altLang="zh-CN" sz="2800" dirty="0">
                <a:solidFill>
                  <a:schemeClr val="tx1"/>
                </a:solidFill>
              </a:rPr>
              <a:t>n!</a:t>
            </a:r>
            <a:endParaRPr kumimoji="1"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157701" name="Rectangle 5"/>
          <p:cNvSpPr>
            <a:spLocks noChangeArrowheads="1"/>
          </p:cNvSpPr>
          <p:nvPr/>
        </p:nvSpPr>
        <p:spPr bwMode="auto">
          <a:xfrm>
            <a:off x="4644008" y="1268760"/>
            <a:ext cx="4320480" cy="3960440"/>
          </a:xfrm>
          <a:prstGeom prst="rect">
            <a:avLst/>
          </a:prstGeom>
          <a:noFill/>
          <a:ln w="9525" cap="rnd">
            <a:solidFill>
              <a:schemeClr val="tx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txBody>
          <a:bodyPr/>
          <a:lstStyle/>
          <a:p>
            <a:pPr marL="342900" indent="-342900" algn="just">
              <a:spcBef>
                <a:spcPts val="0"/>
              </a:spcBef>
              <a:buClr>
                <a:schemeClr val="accent1"/>
              </a:buClr>
              <a:buSzPct val="70000"/>
              <a:buFont typeface="Monotype Sorts" charset="0"/>
              <a:buNone/>
            </a:pPr>
            <a:r>
              <a:rPr lang="en-US" altLang="zh-CN" sz="2800" dirty="0">
                <a:solidFill>
                  <a:srgbClr val="CC0066"/>
                </a:solidFill>
              </a:rPr>
              <a:t>item = 1</a:t>
            </a:r>
            <a:r>
              <a:rPr kumimoji="1" lang="en-US" altLang="zh-CN" sz="2800" dirty="0">
                <a:solidFill>
                  <a:schemeClr val="tx1"/>
                </a:solidFill>
              </a:rPr>
              <a:t>;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marL="342900" indent="-342900" algn="just">
              <a:spcBef>
                <a:spcPts val="0"/>
              </a:spcBef>
              <a:buClr>
                <a:schemeClr val="accent1"/>
              </a:buClr>
              <a:buSzPct val="70000"/>
              <a:buFont typeface="Monotype Sorts" charset="0"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sum = 0;</a:t>
            </a:r>
            <a:endParaRPr kumimoji="1" lang="en-US" altLang="zh-CN" sz="2800" dirty="0">
              <a:solidFill>
                <a:schemeClr val="tx1"/>
              </a:solidFill>
            </a:endParaRPr>
          </a:p>
          <a:p>
            <a:pPr marL="342900" indent="-342900" algn="just">
              <a:spcBef>
                <a:spcPts val="0"/>
              </a:spcBef>
              <a:buClr>
                <a:schemeClr val="accent1"/>
              </a:buClr>
              <a:buSzPct val="70000"/>
              <a:buFont typeface="Monotype Sorts" charset="0"/>
              <a:buNone/>
            </a:pPr>
            <a:r>
              <a:rPr kumimoji="1" lang="en-US" altLang="zh-CN" sz="2800" dirty="0">
                <a:solidFill>
                  <a:schemeClr val="tx1"/>
                </a:solidFill>
              </a:rPr>
              <a:t>for( </a:t>
            </a:r>
            <a:r>
              <a:rPr kumimoji="1" lang="en-US" altLang="zh-CN" sz="2800" dirty="0" err="1">
                <a:solidFill>
                  <a:schemeClr val="tx1"/>
                </a:solidFill>
              </a:rPr>
              <a:t>i</a:t>
            </a:r>
            <a:r>
              <a:rPr kumimoji="1" lang="en-US" altLang="zh-CN" sz="2800" dirty="0">
                <a:solidFill>
                  <a:schemeClr val="tx1"/>
                </a:solidFill>
              </a:rPr>
              <a:t> = 1; </a:t>
            </a:r>
            <a:r>
              <a:rPr kumimoji="1" lang="en-US" altLang="zh-CN" sz="2800" dirty="0" err="1">
                <a:solidFill>
                  <a:schemeClr val="tx1"/>
                </a:solidFill>
              </a:rPr>
              <a:t>i</a:t>
            </a:r>
            <a:r>
              <a:rPr kumimoji="1" lang="en-US" altLang="zh-CN" sz="2800" dirty="0">
                <a:solidFill>
                  <a:schemeClr val="tx1"/>
                </a:solidFill>
              </a:rPr>
              <a:t> &lt;= n; </a:t>
            </a:r>
            <a:r>
              <a:rPr kumimoji="1" lang="en-US" altLang="zh-CN" sz="2800" dirty="0" err="1">
                <a:solidFill>
                  <a:schemeClr val="tx1"/>
                </a:solidFill>
              </a:rPr>
              <a:t>i</a:t>
            </a:r>
            <a:r>
              <a:rPr kumimoji="1" lang="en-US" altLang="zh-CN" sz="2800" dirty="0">
                <a:solidFill>
                  <a:schemeClr val="tx1"/>
                </a:solidFill>
              </a:rPr>
              <a:t>++ ){</a:t>
            </a:r>
          </a:p>
          <a:p>
            <a:pPr marL="342900" indent="-342900" algn="just">
              <a:spcBef>
                <a:spcPts val="0"/>
              </a:spcBef>
              <a:buClr>
                <a:schemeClr val="accent1"/>
              </a:buClr>
              <a:buSzPct val="70000"/>
              <a:buFont typeface="Monotype Sorts" charset="0"/>
              <a:buNone/>
            </a:pPr>
            <a:endParaRPr kumimoji="1" lang="en-US" altLang="zh-CN" sz="2800" dirty="0">
              <a:solidFill>
                <a:schemeClr val="tx1"/>
              </a:solidFill>
            </a:endParaRPr>
          </a:p>
          <a:p>
            <a:pPr marL="342900" indent="-342900" algn="just">
              <a:spcBef>
                <a:spcPts val="0"/>
              </a:spcBef>
              <a:buClr>
                <a:schemeClr val="accent1"/>
              </a:buClr>
              <a:buSzPct val="70000"/>
              <a:buFont typeface="Monotype Sorts" charset="0"/>
              <a:buNone/>
            </a:pPr>
            <a:r>
              <a:rPr kumimoji="1" lang="en-US" altLang="zh-CN" sz="2800" dirty="0">
                <a:solidFill>
                  <a:schemeClr val="tx1"/>
                </a:solidFill>
              </a:rPr>
              <a:t>      for (j = 1; j &lt;= </a:t>
            </a:r>
            <a:r>
              <a:rPr kumimoji="1" lang="en-US" altLang="zh-CN" sz="2800" dirty="0" err="1">
                <a:solidFill>
                  <a:schemeClr val="tx1"/>
                </a:solidFill>
              </a:rPr>
              <a:t>i</a:t>
            </a:r>
            <a:r>
              <a:rPr kumimoji="1" lang="en-US" altLang="zh-CN" sz="2800" dirty="0">
                <a:solidFill>
                  <a:schemeClr val="tx1"/>
                </a:solidFill>
              </a:rPr>
              <a:t>; j++){</a:t>
            </a:r>
          </a:p>
          <a:p>
            <a:pPr marL="342900" indent="-342900" algn="just">
              <a:spcBef>
                <a:spcPts val="0"/>
              </a:spcBef>
              <a:buClr>
                <a:schemeClr val="accent1"/>
              </a:buClr>
              <a:buSzPct val="70000"/>
              <a:buFont typeface="Monotype Sorts" charset="0"/>
              <a:buNone/>
            </a:pPr>
            <a:r>
              <a:rPr kumimoji="1" lang="en-US" altLang="zh-CN" sz="2800" dirty="0">
                <a:solidFill>
                  <a:schemeClr val="tx1"/>
                </a:solidFill>
              </a:rPr>
              <a:t>         item = item * j;</a:t>
            </a:r>
          </a:p>
          <a:p>
            <a:pPr marL="342900" indent="-342900" algn="just">
              <a:spcBef>
                <a:spcPts val="0"/>
              </a:spcBef>
              <a:buClr>
                <a:schemeClr val="accent1"/>
              </a:buClr>
              <a:buSzPct val="70000"/>
              <a:buFont typeface="Monotype Sorts" charset="0"/>
              <a:buNone/>
            </a:pPr>
            <a:r>
              <a:rPr kumimoji="1" lang="en-US" altLang="zh-CN" sz="2800" dirty="0">
                <a:solidFill>
                  <a:schemeClr val="tx1"/>
                </a:solidFill>
              </a:rPr>
              <a:t>      }</a:t>
            </a:r>
          </a:p>
          <a:p>
            <a:pPr marL="342900" indent="-342900" algn="just">
              <a:spcBef>
                <a:spcPts val="0"/>
              </a:spcBef>
              <a:buClr>
                <a:schemeClr val="accent1"/>
              </a:buClr>
              <a:buSzPct val="70000"/>
              <a:buFont typeface="Monotype Sorts" charset="0"/>
              <a:buNone/>
            </a:pPr>
            <a:r>
              <a:rPr kumimoji="1" lang="en-US" altLang="zh-CN" sz="2800" dirty="0">
                <a:solidFill>
                  <a:schemeClr val="tx1"/>
                </a:solidFill>
              </a:rPr>
              <a:t>      sum = sum + item; </a:t>
            </a:r>
          </a:p>
          <a:p>
            <a:pPr marL="342900" indent="-342900" algn="just">
              <a:spcBef>
                <a:spcPts val="0"/>
              </a:spcBef>
              <a:buClr>
                <a:schemeClr val="accent1"/>
              </a:buClr>
              <a:buSzPct val="70000"/>
              <a:buFont typeface="Monotype Sorts" charset="0"/>
              <a:buNone/>
            </a:pPr>
            <a:r>
              <a:rPr kumimoji="1" lang="en-US" altLang="zh-CN" sz="2800" dirty="0">
                <a:solidFill>
                  <a:schemeClr val="tx1"/>
                </a:solidFill>
              </a:rPr>
              <a:t>}</a:t>
            </a:r>
            <a:endParaRPr kumimoji="1"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157702" name="Rectangle 6"/>
          <p:cNvSpPr>
            <a:spLocks noChangeArrowheads="1"/>
          </p:cNvSpPr>
          <p:nvPr/>
        </p:nvSpPr>
        <p:spPr bwMode="auto">
          <a:xfrm>
            <a:off x="2627784" y="5348634"/>
            <a:ext cx="6336704" cy="528638"/>
          </a:xfrm>
          <a:prstGeom prst="rect">
            <a:avLst/>
          </a:prstGeom>
          <a:solidFill>
            <a:schemeClr val="accent5"/>
          </a:solidFill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1" lang="zh-CN" altLang="en-US" sz="2800" dirty="0">
                <a:solidFill>
                  <a:schemeClr val="tx1"/>
                </a:solidFill>
              </a:rPr>
              <a:t>求</a:t>
            </a:r>
            <a:r>
              <a:rPr kumimoji="1" lang="en-US" altLang="zh-CN" sz="2800" dirty="0">
                <a:solidFill>
                  <a:schemeClr val="tx1"/>
                </a:solidFill>
              </a:rPr>
              <a:t>1!</a:t>
            </a:r>
            <a:r>
              <a:rPr kumimoji="1" lang="zh-CN" altLang="en-US" sz="2800" dirty="0">
                <a:solidFill>
                  <a:schemeClr val="tx1"/>
                </a:solidFill>
              </a:rPr>
              <a:t>+ </a:t>
            </a:r>
            <a:r>
              <a:rPr kumimoji="1" lang="en-US" altLang="zh-CN" sz="2800" dirty="0">
                <a:solidFill>
                  <a:schemeClr val="tx1"/>
                </a:solidFill>
              </a:rPr>
              <a:t>1!</a:t>
            </a:r>
            <a:r>
              <a:rPr kumimoji="1" lang="zh-CN" altLang="en-US" sz="2800" dirty="0">
                <a:solidFill>
                  <a:schemeClr val="tx1"/>
                </a:solidFill>
              </a:rPr>
              <a:t>*</a:t>
            </a:r>
            <a:r>
              <a:rPr kumimoji="1" lang="en-US" altLang="zh-CN" sz="2800" dirty="0">
                <a:solidFill>
                  <a:schemeClr val="tx1"/>
                </a:solidFill>
              </a:rPr>
              <a:t>2!</a:t>
            </a:r>
            <a:r>
              <a:rPr kumimoji="1" lang="zh-CN" altLang="en-US" sz="2800" dirty="0">
                <a:solidFill>
                  <a:schemeClr val="tx1"/>
                </a:solidFill>
              </a:rPr>
              <a:t> + </a:t>
            </a:r>
            <a:r>
              <a:rPr kumimoji="1" lang="zh-CN" altLang="en-US" sz="2800" dirty="0">
                <a:solidFill>
                  <a:schemeClr val="tx1"/>
                </a:solidFill>
                <a:latin typeface="Arial"/>
              </a:rPr>
              <a:t>……</a:t>
            </a:r>
            <a:r>
              <a:rPr kumimoji="1" lang="zh-CN" altLang="en-US" sz="2800" dirty="0">
                <a:solidFill>
                  <a:schemeClr val="tx1"/>
                </a:solidFill>
              </a:rPr>
              <a:t> + </a:t>
            </a:r>
            <a:r>
              <a:rPr kumimoji="1" lang="en-US" altLang="zh-CN" sz="2800" dirty="0">
                <a:solidFill>
                  <a:schemeClr val="tx1"/>
                </a:solidFill>
              </a:rPr>
              <a:t>1!</a:t>
            </a:r>
            <a:r>
              <a:rPr kumimoji="1" lang="zh-CN" altLang="en-US" sz="2800" dirty="0">
                <a:solidFill>
                  <a:schemeClr val="tx1"/>
                </a:solidFill>
              </a:rPr>
              <a:t>*</a:t>
            </a:r>
            <a:r>
              <a:rPr kumimoji="1" lang="en-US" altLang="zh-CN" sz="2800" dirty="0">
                <a:solidFill>
                  <a:schemeClr val="tx1"/>
                </a:solidFill>
              </a:rPr>
              <a:t>2!</a:t>
            </a:r>
            <a:r>
              <a:rPr kumimoji="1" lang="zh-CN" altLang="en-US" sz="2800" dirty="0">
                <a:solidFill>
                  <a:schemeClr val="tx1"/>
                </a:solidFill>
              </a:rPr>
              <a:t>*</a:t>
            </a:r>
            <a:r>
              <a:rPr kumimoji="1" lang="zh-CN" altLang="en-US" sz="2800" dirty="0">
                <a:solidFill>
                  <a:schemeClr val="tx1"/>
                </a:solidFill>
                <a:latin typeface="Arial"/>
              </a:rPr>
              <a:t>……</a:t>
            </a:r>
            <a:r>
              <a:rPr kumimoji="1" lang="zh-CN" altLang="en-US" sz="2800" dirty="0">
                <a:solidFill>
                  <a:schemeClr val="tx1"/>
                </a:solidFill>
              </a:rPr>
              <a:t>*</a:t>
            </a:r>
            <a:r>
              <a:rPr kumimoji="1" lang="en-US" altLang="zh-CN" sz="2800" dirty="0">
                <a:solidFill>
                  <a:schemeClr val="tx1"/>
                </a:solidFill>
              </a:rPr>
              <a:t>n!</a:t>
            </a:r>
            <a:r>
              <a:rPr kumimoji="1" lang="zh-CN" altLang="en-US" sz="2800" dirty="0">
                <a:solidFill>
                  <a:schemeClr val="tx1"/>
                </a:solidFill>
              </a:rPr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7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7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00" grpId="0" autoUpdateAnimBg="0"/>
      <p:bldP spid="157701" grpId="0" animBg="1" autoUpdateAnimBg="0"/>
      <p:bldP spid="157702" grpId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676872" y="228600"/>
            <a:ext cx="6503640" cy="91440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zh-CN" altLang="en-US" dirty="0"/>
              <a:t>分析嵌套循环的执行过程</a:t>
            </a:r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692696"/>
            <a:ext cx="4830688" cy="4032448"/>
          </a:xfrm>
        </p:spPr>
        <p:txBody>
          <a:bodyPr/>
          <a:lstStyle/>
          <a:p>
            <a:pPr algn="just" eaLnBrk="0" hangingPunct="0">
              <a:spcBef>
                <a:spcPts val="30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sum = 0;</a:t>
            </a:r>
          </a:p>
          <a:p>
            <a:pPr algn="just" eaLnBrk="0" hangingPunct="0">
              <a:spcBef>
                <a:spcPts val="30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CC0066"/>
                </a:solidFill>
              </a:rPr>
              <a:t>for(</a:t>
            </a:r>
            <a:r>
              <a:rPr lang="en-US" altLang="zh-CN" dirty="0" err="1">
                <a:solidFill>
                  <a:srgbClr val="CC0066"/>
                </a:solidFill>
              </a:rPr>
              <a:t>i</a:t>
            </a:r>
            <a:r>
              <a:rPr lang="en-US" altLang="zh-CN" dirty="0">
                <a:solidFill>
                  <a:srgbClr val="CC0066"/>
                </a:solidFill>
              </a:rPr>
              <a:t> = 1; </a:t>
            </a:r>
            <a:r>
              <a:rPr lang="en-US" altLang="zh-CN" dirty="0" err="1">
                <a:solidFill>
                  <a:srgbClr val="CC0066"/>
                </a:solidFill>
              </a:rPr>
              <a:t>i</a:t>
            </a:r>
            <a:r>
              <a:rPr lang="en-US" altLang="zh-CN" dirty="0">
                <a:solidFill>
                  <a:srgbClr val="CC0066"/>
                </a:solidFill>
              </a:rPr>
              <a:t> &lt;= </a:t>
            </a:r>
            <a:r>
              <a:rPr lang="en-US" altLang="zh-CN" dirty="0">
                <a:solidFill>
                  <a:srgbClr val="CC0066"/>
                </a:solidFill>
              </a:rPr>
              <a:t>n</a:t>
            </a:r>
            <a:r>
              <a:rPr lang="en-US" altLang="zh-CN" dirty="0" smtClean="0">
                <a:solidFill>
                  <a:srgbClr val="CC0066"/>
                </a:solidFill>
              </a:rPr>
              <a:t>; </a:t>
            </a:r>
            <a:r>
              <a:rPr lang="en-US" altLang="zh-CN" dirty="0" err="1">
                <a:solidFill>
                  <a:srgbClr val="CC0066"/>
                </a:solidFill>
              </a:rPr>
              <a:t>i</a:t>
            </a:r>
            <a:r>
              <a:rPr lang="en-US" altLang="zh-CN" dirty="0">
                <a:solidFill>
                  <a:srgbClr val="CC0066"/>
                </a:solidFill>
              </a:rPr>
              <a:t>++) </a:t>
            </a:r>
            <a:r>
              <a:rPr lang="en-US" altLang="zh-CN" dirty="0"/>
              <a:t>{   </a:t>
            </a:r>
            <a:endParaRPr lang="zh-CN" altLang="en-US" dirty="0"/>
          </a:p>
          <a:p>
            <a:pPr algn="just" eaLnBrk="0" hangingPunct="0">
              <a:spcBef>
                <a:spcPts val="300"/>
              </a:spcBef>
              <a:buClrTx/>
              <a:buSzTx/>
              <a:buFontTx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/>
              <a:t>item = 1;</a:t>
            </a:r>
            <a:r>
              <a:rPr lang="en-US" altLang="zh-CN" dirty="0">
                <a:solidFill>
                  <a:srgbClr val="FF0000"/>
                </a:solidFill>
              </a:rPr>
              <a:t>          	</a:t>
            </a:r>
          </a:p>
          <a:p>
            <a:pPr algn="just" eaLnBrk="0" hangingPunct="0">
              <a:spcBef>
                <a:spcPts val="300"/>
              </a:spcBef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srgbClr val="FF0000"/>
                </a:solidFill>
              </a:rPr>
              <a:t>    </a:t>
            </a:r>
            <a:r>
              <a:rPr lang="en-US" altLang="zh-CN" dirty="0">
                <a:solidFill>
                  <a:schemeClr val="bg2"/>
                </a:solidFill>
              </a:rPr>
              <a:t>for (j = 1; j &lt;= </a:t>
            </a:r>
            <a:r>
              <a:rPr lang="en-US" altLang="zh-CN" dirty="0" err="1">
                <a:solidFill>
                  <a:schemeClr val="bg2"/>
                </a:solidFill>
              </a:rPr>
              <a:t>i</a:t>
            </a:r>
            <a:r>
              <a:rPr lang="en-US" altLang="zh-CN" dirty="0">
                <a:solidFill>
                  <a:schemeClr val="bg2"/>
                </a:solidFill>
              </a:rPr>
              <a:t>; j++)</a:t>
            </a:r>
          </a:p>
          <a:p>
            <a:pPr algn="just" eaLnBrk="0" hangingPunct="0">
              <a:spcBef>
                <a:spcPts val="30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chemeClr val="accent2"/>
                </a:solidFill>
              </a:rPr>
              <a:t>	   	</a:t>
            </a:r>
            <a:r>
              <a:rPr lang="en-US" altLang="zh-CN" dirty="0">
                <a:solidFill>
                  <a:schemeClr val="bg2"/>
                </a:solidFill>
              </a:rPr>
              <a:t>item = item * j;</a:t>
            </a:r>
          </a:p>
          <a:p>
            <a:pPr algn="just" eaLnBrk="0" hangingPunct="0">
              <a:spcBef>
                <a:spcPts val="300"/>
              </a:spcBef>
              <a:buClrTx/>
              <a:buSzTx/>
              <a:buFontTx/>
              <a:buNone/>
              <a:defRPr/>
            </a:pPr>
            <a:r>
              <a:rPr lang="en-US" altLang="zh-CN" dirty="0"/>
              <a:t>    sum = sum + item;  </a:t>
            </a:r>
          </a:p>
          <a:p>
            <a:pPr algn="just" eaLnBrk="0" hangingPunct="0">
              <a:spcBef>
                <a:spcPts val="30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CC0066"/>
                </a:solidFill>
              </a:rPr>
              <a:t>}</a:t>
            </a:r>
            <a:endParaRPr lang="zh-CN" altLang="en-US" dirty="0">
              <a:solidFill>
                <a:srgbClr val="CC0066"/>
              </a:solidFill>
            </a:endParaRPr>
          </a:p>
        </p:txBody>
      </p:sp>
      <p:sp>
        <p:nvSpPr>
          <p:cNvPr id="136196" name="Rectangle 4"/>
          <p:cNvSpPr>
            <a:spLocks noChangeArrowheads="1"/>
          </p:cNvSpPr>
          <p:nvPr/>
        </p:nvSpPr>
        <p:spPr bwMode="auto">
          <a:xfrm>
            <a:off x="1828800" y="4221088"/>
            <a:ext cx="5767536" cy="2297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  <a:buSzPct val="70000"/>
              <a:defRPr/>
            </a:pPr>
            <a:r>
              <a:rPr kumimoji="1" lang="zh-CN" altLang="en-US" sz="2800" dirty="0">
                <a:solidFill>
                  <a:schemeClr val="tx1"/>
                </a:solidFill>
              </a:rPr>
              <a:t>外层循环变量 </a:t>
            </a:r>
            <a:r>
              <a:rPr kumimoji="1" lang="en-US" altLang="zh-CN" sz="2800" dirty="0" err="1">
                <a:solidFill>
                  <a:srgbClr val="CC0066"/>
                </a:solidFill>
              </a:rPr>
              <a:t>i</a:t>
            </a:r>
            <a:r>
              <a:rPr kumimoji="1" lang="en-US" altLang="zh-CN" sz="2800" dirty="0">
                <a:solidFill>
                  <a:srgbClr val="CC0066"/>
                </a:solidFill>
              </a:rPr>
              <a:t> </a:t>
            </a:r>
            <a:r>
              <a:rPr kumimoji="1" lang="zh-CN" altLang="en-US" sz="2800" dirty="0">
                <a:solidFill>
                  <a:schemeClr val="tx1"/>
                </a:solidFill>
              </a:rPr>
              <a:t>的每个值</a:t>
            </a:r>
          </a:p>
          <a:p>
            <a:pPr lvl="1">
              <a:lnSpc>
                <a:spcPct val="90000"/>
              </a:lnSpc>
              <a:spcBef>
                <a:spcPct val="50000"/>
              </a:spcBef>
              <a:defRPr/>
            </a:pPr>
            <a:r>
              <a:rPr kumimoji="1" lang="zh-CN" altLang="en-US" sz="2800" dirty="0">
                <a:solidFill>
                  <a:schemeClr val="tx1"/>
                </a:solidFill>
              </a:rPr>
              <a:t>内层循环变量 </a:t>
            </a:r>
            <a:r>
              <a:rPr kumimoji="1" lang="en-US" altLang="zh-CN" sz="2800" dirty="0">
                <a:solidFill>
                  <a:schemeClr val="bg2"/>
                </a:solidFill>
              </a:rPr>
              <a:t>j </a:t>
            </a:r>
            <a:r>
              <a:rPr kumimoji="1" lang="zh-CN" altLang="en-US" sz="2800" dirty="0">
                <a:solidFill>
                  <a:schemeClr val="tx1"/>
                </a:solidFill>
              </a:rPr>
              <a:t>变化一个轮次；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  <a:buSzPct val="70000"/>
              <a:defRPr/>
            </a:pPr>
            <a:r>
              <a:rPr kumimoji="1" lang="zh-CN" altLang="en-US" sz="2800" dirty="0">
                <a:solidFill>
                  <a:schemeClr val="tx1"/>
                </a:solidFill>
              </a:rPr>
              <a:t>内外层循环变量的名字不能相同</a:t>
            </a:r>
          </a:p>
          <a:p>
            <a:pPr lvl="1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  <a:buSzPct val="70000"/>
              <a:buFont typeface="Monotype Sorts" charset="0"/>
              <a:buNone/>
              <a:defRPr/>
            </a:pPr>
            <a:r>
              <a:rPr kumimoji="1" lang="zh-CN" altLang="en-US" sz="2800" dirty="0">
                <a:solidFill>
                  <a:schemeClr val="tx1"/>
                </a:solidFill>
              </a:rPr>
              <a:t>分别用 </a:t>
            </a:r>
            <a:r>
              <a:rPr kumimoji="1" lang="en-US" altLang="zh-CN" sz="2800" dirty="0" err="1">
                <a:solidFill>
                  <a:srgbClr val="CC0066"/>
                </a:solidFill>
              </a:rPr>
              <a:t>i</a:t>
            </a:r>
            <a:r>
              <a:rPr kumimoji="1" lang="en-US" altLang="zh-CN" sz="2800" dirty="0">
                <a:solidFill>
                  <a:schemeClr val="tx1"/>
                </a:solidFill>
              </a:rPr>
              <a:t> </a:t>
            </a:r>
            <a:r>
              <a:rPr kumimoji="1" lang="zh-CN" altLang="en-US" sz="2800" dirty="0">
                <a:solidFill>
                  <a:schemeClr val="tx1"/>
                </a:solidFill>
              </a:rPr>
              <a:t>和 </a:t>
            </a:r>
            <a:r>
              <a:rPr kumimoji="1" lang="en-US" altLang="zh-CN" sz="2800" dirty="0">
                <a:solidFill>
                  <a:schemeClr val="bg2"/>
                </a:solidFill>
              </a:rPr>
              <a:t>j</a:t>
            </a:r>
            <a:endParaRPr kumimoji="1" lang="zh-CN" altLang="en-US" sz="2800" dirty="0">
              <a:solidFill>
                <a:schemeClr val="bg2"/>
              </a:solidFill>
            </a:endParaRPr>
          </a:p>
        </p:txBody>
      </p:sp>
      <p:sp>
        <p:nvSpPr>
          <p:cNvPr id="136197" name="Freeform 5"/>
          <p:cNvSpPr>
            <a:spLocks/>
          </p:cNvSpPr>
          <p:nvPr/>
        </p:nvSpPr>
        <p:spPr bwMode="auto">
          <a:xfrm>
            <a:off x="5292725" y="1494458"/>
            <a:ext cx="650875" cy="2654622"/>
          </a:xfrm>
          <a:custGeom>
            <a:avLst/>
            <a:gdLst>
              <a:gd name="T0" fmla="*/ 0 w 146"/>
              <a:gd name="T1" fmla="*/ 0 h 526"/>
              <a:gd name="T2" fmla="*/ 144 w 146"/>
              <a:gd name="T3" fmla="*/ 0 h 526"/>
              <a:gd name="T4" fmla="*/ 146 w 146"/>
              <a:gd name="T5" fmla="*/ 526 h 526"/>
              <a:gd name="T6" fmla="*/ 50 w 146"/>
              <a:gd name="T7" fmla="*/ 526 h 5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6" h="526">
                <a:moveTo>
                  <a:pt x="0" y="0"/>
                </a:moveTo>
                <a:cubicBezTo>
                  <a:pt x="48" y="0"/>
                  <a:pt x="96" y="0"/>
                  <a:pt x="144" y="0"/>
                </a:cubicBezTo>
                <a:lnTo>
                  <a:pt x="146" y="526"/>
                </a:lnTo>
                <a:lnTo>
                  <a:pt x="50" y="526"/>
                </a:lnTo>
              </a:path>
            </a:pathLst>
          </a:custGeom>
          <a:noFill/>
          <a:ln w="38100">
            <a:solidFill>
              <a:srgbClr val="CC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36199" name="Freeform 7"/>
          <p:cNvSpPr>
            <a:spLocks/>
          </p:cNvSpPr>
          <p:nvPr/>
        </p:nvSpPr>
        <p:spPr bwMode="auto">
          <a:xfrm>
            <a:off x="4965626" y="2492896"/>
            <a:ext cx="398462" cy="720080"/>
          </a:xfrm>
          <a:custGeom>
            <a:avLst/>
            <a:gdLst>
              <a:gd name="T0" fmla="*/ 0 w 146"/>
              <a:gd name="T1" fmla="*/ 0 h 526"/>
              <a:gd name="T2" fmla="*/ 144 w 146"/>
              <a:gd name="T3" fmla="*/ 0 h 526"/>
              <a:gd name="T4" fmla="*/ 146 w 146"/>
              <a:gd name="T5" fmla="*/ 526 h 526"/>
              <a:gd name="T6" fmla="*/ 50 w 146"/>
              <a:gd name="T7" fmla="*/ 526 h 5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6" h="526">
                <a:moveTo>
                  <a:pt x="0" y="0"/>
                </a:moveTo>
                <a:cubicBezTo>
                  <a:pt x="48" y="0"/>
                  <a:pt x="96" y="0"/>
                  <a:pt x="144" y="0"/>
                </a:cubicBezTo>
                <a:lnTo>
                  <a:pt x="146" y="526"/>
                </a:lnTo>
                <a:lnTo>
                  <a:pt x="50" y="526"/>
                </a:lnTo>
              </a:path>
            </a:pathLst>
          </a:custGeom>
          <a:noFill/>
          <a:ln w="254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6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6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6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6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6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6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6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6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6" grpId="0" build="p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2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0746106"/>
              </p:ext>
            </p:extLst>
          </p:nvPr>
        </p:nvGraphicFramePr>
        <p:xfrm>
          <a:off x="107504" y="3429000"/>
          <a:ext cx="8729663" cy="325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18" name="文档" r:id="rId4" imgW="4495800" imgH="1677924" progId="Word.Document.8">
                  <p:embed/>
                </p:oleObj>
              </mc:Choice>
              <mc:Fallback>
                <p:oleObj name="文档" r:id="rId4" imgW="4495800" imgH="1677924" progId="Word.Document.8">
                  <p:embed/>
                  <p:pic>
                    <p:nvPicPr>
                      <p:cNvPr id="0" name="Picture 1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04" y="3429000"/>
                        <a:ext cx="8729663" cy="325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7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1043608" y="975692"/>
            <a:ext cx="601980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defRPr/>
            </a:pPr>
            <a:r>
              <a:rPr lang="en-US" altLang="zh-CN" sz="2800" dirty="0">
                <a:solidFill>
                  <a:schemeClr val="tx1"/>
                </a:solidFill>
              </a:rPr>
              <a:t>for (</a:t>
            </a:r>
            <a:r>
              <a:rPr lang="en-US" altLang="zh-CN" sz="2800" dirty="0" err="1">
                <a:solidFill>
                  <a:schemeClr val="tx1"/>
                </a:solidFill>
              </a:rPr>
              <a:t>i</a:t>
            </a:r>
            <a:r>
              <a:rPr lang="en-US" altLang="zh-CN" sz="2800" dirty="0">
                <a:solidFill>
                  <a:schemeClr val="tx1"/>
                </a:solidFill>
              </a:rPr>
              <a:t> = 1; </a:t>
            </a:r>
            <a:r>
              <a:rPr lang="en-US" altLang="zh-CN" sz="2800" dirty="0" err="1">
                <a:solidFill>
                  <a:schemeClr val="tx1"/>
                </a:solidFill>
              </a:rPr>
              <a:t>i</a:t>
            </a:r>
            <a:r>
              <a:rPr lang="en-US" altLang="zh-CN" sz="2800" dirty="0">
                <a:solidFill>
                  <a:schemeClr val="tx1"/>
                </a:solidFill>
              </a:rPr>
              <a:t> &lt;= </a:t>
            </a:r>
            <a:r>
              <a:rPr lang="en-US" altLang="zh-CN" sz="2800" dirty="0">
                <a:solidFill>
                  <a:schemeClr val="tx1"/>
                </a:solidFill>
              </a:rPr>
              <a:t>n</a:t>
            </a:r>
            <a:r>
              <a:rPr lang="en-US" altLang="zh-CN" sz="2800" dirty="0" smtClean="0">
                <a:solidFill>
                  <a:schemeClr val="tx1"/>
                </a:solidFill>
              </a:rPr>
              <a:t>; </a:t>
            </a:r>
            <a:r>
              <a:rPr lang="en-US" altLang="zh-CN" sz="2800" dirty="0" err="1">
                <a:solidFill>
                  <a:schemeClr val="tx1"/>
                </a:solidFill>
              </a:rPr>
              <a:t>i</a:t>
            </a:r>
            <a:r>
              <a:rPr lang="en-US" altLang="zh-CN" sz="2800" dirty="0">
                <a:solidFill>
                  <a:schemeClr val="tx1"/>
                </a:solidFill>
              </a:rPr>
              <a:t>++){</a:t>
            </a:r>
          </a:p>
          <a:p>
            <a:pPr algn="just" eaLnBrk="0" hangingPunct="0">
              <a:defRPr/>
            </a:pPr>
            <a:r>
              <a:rPr lang="en-US" altLang="zh-CN" sz="2800" dirty="0">
                <a:solidFill>
                  <a:schemeClr val="tx1"/>
                </a:solidFill>
              </a:rPr>
              <a:t>    for (j = 1; j &lt;= </a:t>
            </a:r>
            <a:r>
              <a:rPr lang="en-US" altLang="zh-CN" sz="2800" dirty="0" err="1">
                <a:solidFill>
                  <a:schemeClr val="tx1"/>
                </a:solidFill>
              </a:rPr>
              <a:t>i</a:t>
            </a:r>
            <a:r>
              <a:rPr lang="en-US" altLang="zh-CN" sz="2800" dirty="0">
                <a:solidFill>
                  <a:schemeClr val="tx1"/>
                </a:solidFill>
              </a:rPr>
              <a:t>; </a:t>
            </a:r>
            <a:r>
              <a:rPr lang="en-US" altLang="zh-CN" sz="2800" dirty="0" err="1">
                <a:solidFill>
                  <a:schemeClr val="tx1"/>
                </a:solidFill>
              </a:rPr>
              <a:t>j++</a:t>
            </a:r>
            <a:r>
              <a:rPr lang="en-US" altLang="zh-CN" sz="2800" dirty="0">
                <a:solidFill>
                  <a:schemeClr val="tx1"/>
                </a:solidFill>
              </a:rPr>
              <a:t>){		</a:t>
            </a:r>
          </a:p>
          <a:p>
            <a:pPr algn="just" eaLnBrk="0" hangingPunct="0">
              <a:defRPr/>
            </a:pPr>
            <a:r>
              <a:rPr lang="en-US" altLang="zh-CN" sz="2800" dirty="0">
                <a:solidFill>
                  <a:schemeClr val="tx1"/>
                </a:solidFill>
              </a:rPr>
              <a:t>        </a:t>
            </a:r>
            <a:r>
              <a:rPr lang="en-US" altLang="zh-CN" sz="2800" dirty="0" err="1">
                <a:solidFill>
                  <a:schemeClr val="tx1"/>
                </a:solidFill>
              </a:rPr>
              <a:t>printf</a:t>
            </a:r>
            <a:r>
              <a:rPr lang="en-US" altLang="zh-CN" sz="2800" dirty="0">
                <a:solidFill>
                  <a:schemeClr val="tx1"/>
                </a:solidFill>
              </a:rPr>
              <a:t> ("%d %d\n", </a:t>
            </a:r>
            <a:r>
              <a:rPr lang="en-US" altLang="zh-CN" sz="2800" dirty="0" err="1">
                <a:solidFill>
                  <a:schemeClr val="tx1"/>
                </a:solidFill>
              </a:rPr>
              <a:t>i</a:t>
            </a:r>
            <a:r>
              <a:rPr lang="en-US" altLang="zh-CN" sz="2800" dirty="0">
                <a:solidFill>
                  <a:schemeClr val="tx1"/>
                </a:solidFill>
              </a:rPr>
              <a:t>, j );</a:t>
            </a:r>
          </a:p>
          <a:p>
            <a:pPr algn="just" eaLnBrk="0" hangingPunct="0">
              <a:defRPr/>
            </a:pPr>
            <a:r>
              <a:rPr lang="en-US" altLang="zh-CN" sz="2800" dirty="0">
                <a:solidFill>
                  <a:schemeClr val="tx1"/>
                </a:solidFill>
              </a:rPr>
              <a:t>    }</a:t>
            </a:r>
          </a:p>
          <a:p>
            <a:pPr algn="just" eaLnBrk="0" hangingPunct="0">
              <a:defRPr/>
            </a:pPr>
            <a:r>
              <a:rPr lang="en-US" altLang="zh-CN" sz="2800" dirty="0">
                <a:solidFill>
                  <a:schemeClr val="tx1"/>
                </a:solidFill>
              </a:rPr>
              <a:t>}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676872" y="228600"/>
            <a:ext cx="6503640" cy="9144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charset="0"/>
                <a:ea typeface="宋体" charset="0"/>
                <a:cs typeface="宋体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charset="0"/>
                <a:ea typeface="宋体" charset="0"/>
                <a:cs typeface="宋体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charset="0"/>
                <a:ea typeface="宋体" charset="0"/>
                <a:cs typeface="宋体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charset="0"/>
                <a:ea typeface="宋体" charset="0"/>
                <a:cs typeface="宋体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charset="0"/>
                <a:ea typeface="宋体" charset="0"/>
                <a:cs typeface="宋体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charset="0"/>
                <a:ea typeface="宋体" charset="0"/>
                <a:cs typeface="宋体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charset="0"/>
                <a:ea typeface="宋体" charset="0"/>
                <a:cs typeface="宋体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Arial" charset="0"/>
                <a:ea typeface="宋体" charset="0"/>
                <a:cs typeface="宋体" charset="0"/>
              </a:defRPr>
            </a:lvl9pPr>
          </a:lstStyle>
          <a:p>
            <a:pPr>
              <a:defRPr/>
            </a:pPr>
            <a:r>
              <a:rPr lang="zh-CN" altLang="en-US" dirty="0"/>
              <a:t>练习</a:t>
            </a:r>
            <a:r>
              <a:rPr lang="en-US" altLang="zh-CN" dirty="0"/>
              <a:t>-</a:t>
            </a:r>
            <a:r>
              <a:rPr lang="en-US" altLang="en-US" dirty="0"/>
              <a:t>运行结果是什么？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7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7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332656"/>
            <a:ext cx="6406480" cy="72008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en-US" altLang="zh-CN" dirty="0"/>
              <a:t>4.5</a:t>
            </a:r>
            <a:r>
              <a:rPr lang="zh-CN" altLang="en-US" dirty="0"/>
              <a:t>  循环结构程序设计</a:t>
            </a:r>
          </a:p>
        </p:txBody>
      </p:sp>
      <p:sp>
        <p:nvSpPr>
          <p:cNvPr id="7065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57200" y="1052736"/>
            <a:ext cx="8363272" cy="5661248"/>
          </a:xfrm>
        </p:spPr>
        <p:txBody>
          <a:bodyPr/>
          <a:lstStyle/>
          <a:p>
            <a:pPr algn="just">
              <a:lnSpc>
                <a:spcPct val="120000"/>
              </a:lnSpc>
              <a:spcBef>
                <a:spcPts val="600"/>
              </a:spcBef>
              <a:defRPr/>
            </a:pPr>
            <a:r>
              <a:rPr lang="zh-CN" altLang="en-US" dirty="0"/>
              <a:t>循环程序的实现要点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defRPr/>
            </a:pPr>
            <a:r>
              <a:rPr lang="zh-CN" altLang="en-US" dirty="0">
                <a:latin typeface="宋体" charset="0"/>
              </a:rPr>
              <a:t>归纳出</a:t>
            </a:r>
            <a:r>
              <a:rPr lang="zh-CN" altLang="en-US" dirty="0"/>
              <a:t>哪些操作需要反复执行？</a:t>
            </a:r>
            <a:r>
              <a:rPr lang="zh-CN" altLang="en-US" b="0" dirty="0">
                <a:latin typeface="宋体" charset="0"/>
              </a:rPr>
              <a:t> </a:t>
            </a:r>
            <a:r>
              <a:rPr lang="zh-CN" altLang="en-US" dirty="0">
                <a:solidFill>
                  <a:schemeClr val="bg2"/>
                </a:solidFill>
              </a:rPr>
              <a:t>循环体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defRPr/>
            </a:pPr>
            <a:r>
              <a:rPr lang="zh-CN" altLang="en-US" dirty="0"/>
              <a:t>这些操作在什么情况下重复执行</a:t>
            </a:r>
            <a:r>
              <a:rPr lang="zh-CN" altLang="en-US" dirty="0">
                <a:latin typeface="宋体" charset="0"/>
              </a:rPr>
              <a:t>？</a:t>
            </a:r>
            <a:r>
              <a:rPr lang="zh-CN" altLang="en-US" dirty="0"/>
              <a:t> </a:t>
            </a:r>
            <a:r>
              <a:rPr lang="zh-CN" altLang="en-US" dirty="0">
                <a:solidFill>
                  <a:srgbClr val="CC0066"/>
                </a:solidFill>
              </a:rPr>
              <a:t>循环条件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defRPr/>
            </a:pPr>
            <a:r>
              <a:rPr lang="zh-CN" altLang="en-US" dirty="0"/>
              <a:t>常见的循环控制方式</a:t>
            </a:r>
            <a:endParaRPr lang="en-US" altLang="zh-CN" dirty="0"/>
          </a:p>
          <a:p>
            <a:pPr lvl="1" algn="just">
              <a:lnSpc>
                <a:spcPct val="120000"/>
              </a:lnSpc>
              <a:spcBef>
                <a:spcPts val="600"/>
              </a:spcBef>
              <a:defRPr/>
            </a:pPr>
            <a:r>
              <a:rPr lang="zh-CN" altLang="en-US" dirty="0"/>
              <a:t>计数控制、计算值控制</a:t>
            </a:r>
            <a:r>
              <a:rPr lang="zh-CN" altLang="zh-CN" dirty="0"/>
              <a:t>、</a:t>
            </a:r>
            <a:r>
              <a:rPr lang="zh-CN" altLang="en-US" dirty="0"/>
              <a:t>输入值控制</a:t>
            </a:r>
            <a:endParaRPr lang="en-US" altLang="zh-CN" dirty="0"/>
          </a:p>
          <a:p>
            <a:pPr lvl="1" algn="just">
              <a:lnSpc>
                <a:spcPct val="120000"/>
              </a:lnSpc>
              <a:spcBef>
                <a:spcPts val="600"/>
              </a:spcBef>
              <a:defRPr/>
            </a:pPr>
            <a:r>
              <a:rPr lang="zh-CN" altLang="en-US" dirty="0"/>
              <a:t>多重</a:t>
            </a:r>
            <a:r>
              <a:rPr lang="en-US" altLang="en-US" dirty="0"/>
              <a:t>控制</a:t>
            </a:r>
            <a:r>
              <a:rPr lang="zh-CN" altLang="en-US" dirty="0"/>
              <a:t>（计数控制</a:t>
            </a:r>
            <a:r>
              <a:rPr lang="en-US" altLang="zh-CN" dirty="0"/>
              <a:t>+</a:t>
            </a:r>
            <a:r>
              <a:rPr lang="zh-CN" altLang="en-US" dirty="0"/>
              <a:t>计算值控制，</a:t>
            </a:r>
            <a:r>
              <a:rPr lang="en-US" altLang="zh-CN" dirty="0"/>
              <a:t>……</a:t>
            </a:r>
            <a:r>
              <a:rPr lang="zh-CN" altLang="en-US" dirty="0"/>
              <a:t>）</a:t>
            </a:r>
            <a:endParaRPr lang="en-US" altLang="zh-CN" dirty="0"/>
          </a:p>
          <a:p>
            <a:pPr algn="just">
              <a:lnSpc>
                <a:spcPct val="120000"/>
              </a:lnSpc>
              <a:spcBef>
                <a:spcPts val="600"/>
              </a:spcBef>
              <a:defRPr/>
            </a:pPr>
            <a:r>
              <a:rPr lang="zh-CN" altLang="en-US" dirty="0"/>
              <a:t>选用合适的循环语句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buNone/>
              <a:defRPr/>
            </a:pPr>
            <a:r>
              <a:rPr lang="en-US" altLang="zh-CN" dirty="0"/>
              <a:t>for  while   do-while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build="p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560" y="260797"/>
            <a:ext cx="5400600" cy="935955"/>
          </a:xfrm>
        </p:spPr>
        <p:txBody>
          <a:bodyPr/>
          <a:lstStyle/>
          <a:p>
            <a:pPr>
              <a:defRPr/>
            </a:pPr>
            <a:r>
              <a:rPr lang="zh-CN" altLang="en-US" sz="4000" dirty="0"/>
              <a:t>常见的循环控制方式</a:t>
            </a:r>
            <a:endParaRPr kumimoji="1" lang="zh-CN" alt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8899" y="1052736"/>
            <a:ext cx="8533581" cy="5544616"/>
          </a:xfrm>
        </p:spPr>
        <p:txBody>
          <a:bodyPr/>
          <a:lstStyle/>
          <a:p>
            <a:pPr algn="just">
              <a:lnSpc>
                <a:spcPct val="80000"/>
              </a:lnSpc>
              <a:spcBef>
                <a:spcPts val="0"/>
              </a:spcBef>
              <a:defRPr/>
            </a:pPr>
            <a:r>
              <a:rPr lang="zh-CN" altLang="en-US" sz="2400" dirty="0"/>
              <a:t>计数控制：</a:t>
            </a:r>
            <a:r>
              <a:rPr lang="en-US" altLang="zh-CN" sz="2400" dirty="0"/>
              <a:t> </a:t>
            </a:r>
            <a:r>
              <a:rPr lang="zh-CN" altLang="en-US" sz="2400" dirty="0"/>
              <a:t>第</a:t>
            </a:r>
            <a:r>
              <a:rPr lang="en-US" altLang="zh-CN" sz="2400" dirty="0"/>
              <a:t>2.4</a:t>
            </a:r>
            <a:r>
              <a:rPr lang="zh-CN" altLang="en-US" sz="2400" dirty="0"/>
              <a:t>节</a:t>
            </a:r>
            <a:r>
              <a:rPr lang="en-US" altLang="zh-CN" sz="2400" dirty="0"/>
              <a:t>, </a:t>
            </a:r>
            <a:r>
              <a:rPr lang="zh-CN" altLang="en-US" sz="2400" dirty="0"/>
              <a:t>例</a:t>
            </a:r>
            <a:r>
              <a:rPr lang="en-US" altLang="zh-CN" sz="2400" dirty="0"/>
              <a:t>4-6, 4-7, 4-9, 4-11, 4-12</a:t>
            </a:r>
          </a:p>
          <a:p>
            <a:pPr marL="400050" lvl="1" indent="0" algn="just">
              <a:lnSpc>
                <a:spcPct val="8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dirty="0"/>
              <a:t>sum = 0;</a:t>
            </a:r>
          </a:p>
          <a:p>
            <a:pPr marL="400050" lvl="1" indent="0" algn="just">
              <a:lnSpc>
                <a:spcPct val="8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dirty="0">
                <a:solidFill>
                  <a:srgbClr val="CC0066"/>
                </a:solidFill>
              </a:rPr>
              <a:t>for (</a:t>
            </a:r>
            <a:r>
              <a:rPr lang="en-US" altLang="zh-CN" sz="2400" dirty="0" err="1">
                <a:solidFill>
                  <a:srgbClr val="CC0066"/>
                </a:solidFill>
              </a:rPr>
              <a:t>i</a:t>
            </a:r>
            <a:r>
              <a:rPr lang="en-US" altLang="zh-CN" sz="2400" dirty="0">
                <a:solidFill>
                  <a:srgbClr val="CC0066"/>
                </a:solidFill>
              </a:rPr>
              <a:t> = 1; </a:t>
            </a:r>
            <a:r>
              <a:rPr lang="en-US" altLang="zh-CN" sz="2400" dirty="0" err="1">
                <a:solidFill>
                  <a:srgbClr val="CC0066"/>
                </a:solidFill>
              </a:rPr>
              <a:t>i</a:t>
            </a:r>
            <a:r>
              <a:rPr lang="en-US" altLang="zh-CN" sz="2400" dirty="0">
                <a:solidFill>
                  <a:srgbClr val="CC0066"/>
                </a:solidFill>
              </a:rPr>
              <a:t> &lt;= n; </a:t>
            </a:r>
            <a:r>
              <a:rPr lang="en-US" altLang="zh-CN" sz="2400" dirty="0" err="1">
                <a:solidFill>
                  <a:srgbClr val="CC0066"/>
                </a:solidFill>
              </a:rPr>
              <a:t>i</a:t>
            </a:r>
            <a:r>
              <a:rPr lang="en-US" altLang="zh-CN" sz="2400" dirty="0">
                <a:solidFill>
                  <a:srgbClr val="CC0066"/>
                </a:solidFill>
              </a:rPr>
              <a:t>++)</a:t>
            </a:r>
            <a:r>
              <a:rPr lang="en-US" altLang="zh-CN" sz="2400" dirty="0"/>
              <a:t>{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dirty="0"/>
              <a:t>    sum = sum + fact 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);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dirty="0"/>
              <a:t>}</a:t>
            </a:r>
          </a:p>
          <a:p>
            <a:pPr algn="just">
              <a:lnSpc>
                <a:spcPct val="80000"/>
              </a:lnSpc>
              <a:spcBef>
                <a:spcPts val="0"/>
              </a:spcBef>
              <a:defRPr/>
            </a:pPr>
            <a:r>
              <a:rPr lang="zh-CN" altLang="en-US" sz="2400" dirty="0"/>
              <a:t>计算值控制：例</a:t>
            </a:r>
            <a:r>
              <a:rPr lang="en-US" altLang="zh-CN" sz="2400" dirty="0"/>
              <a:t>4-1, 4-3, 4-4</a:t>
            </a:r>
          </a:p>
          <a:p>
            <a:pPr lvl="1" algn="just">
              <a:lnSpc>
                <a:spcPct val="8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dirty="0"/>
              <a:t>item = 1.0;</a:t>
            </a:r>
            <a:r>
              <a:rPr lang="zh-CN" altLang="zh-CN" sz="2400" dirty="0"/>
              <a:t> </a:t>
            </a:r>
            <a:endParaRPr lang="zh-CN" altLang="en-US" sz="2400" dirty="0"/>
          </a:p>
          <a:p>
            <a:pPr lvl="1" algn="just">
              <a:lnSpc>
                <a:spcPct val="8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zh-CN" altLang="zh-CN" sz="2400" dirty="0"/>
              <a:t> </a:t>
            </a:r>
            <a:r>
              <a:rPr lang="en-US" altLang="zh-CN" sz="2400" dirty="0">
                <a:solidFill>
                  <a:srgbClr val="CC0066"/>
                </a:solidFill>
              </a:rPr>
              <a:t>while</a:t>
            </a:r>
            <a:r>
              <a:rPr lang="zh-CN" altLang="en-US" sz="2400" dirty="0">
                <a:solidFill>
                  <a:srgbClr val="CC0066"/>
                </a:solidFill>
              </a:rPr>
              <a:t> </a:t>
            </a:r>
            <a:r>
              <a:rPr lang="en-US" altLang="zh-CN" sz="2400" dirty="0">
                <a:solidFill>
                  <a:srgbClr val="CC0066"/>
                </a:solidFill>
              </a:rPr>
              <a:t>(</a:t>
            </a:r>
            <a:r>
              <a:rPr lang="en-US" altLang="zh-CN" sz="2400" dirty="0" err="1">
                <a:solidFill>
                  <a:srgbClr val="CC0066"/>
                </a:solidFill>
              </a:rPr>
              <a:t>fabs</a:t>
            </a:r>
            <a:r>
              <a:rPr lang="en-US" altLang="zh-CN" sz="2400" dirty="0">
                <a:solidFill>
                  <a:srgbClr val="CC0066"/>
                </a:solidFill>
              </a:rPr>
              <a:t> (item) &gt;= 0.0001)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/>
              <a:t>{   </a:t>
            </a:r>
          </a:p>
          <a:p>
            <a:pPr lvl="1" algn="just">
              <a:lnSpc>
                <a:spcPct val="8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dirty="0"/>
              <a:t>	  item = flag * 1.0 / denominator; </a:t>
            </a:r>
            <a:endParaRPr lang="zh-CN" altLang="en-US" sz="2400" dirty="0"/>
          </a:p>
          <a:p>
            <a:pPr lvl="1" algn="just">
              <a:lnSpc>
                <a:spcPct val="8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zh-CN" altLang="en-US" sz="2400" dirty="0"/>
              <a:t>   </a:t>
            </a:r>
            <a:r>
              <a:rPr lang="en-US" altLang="zh-CN" sz="2400" dirty="0"/>
              <a:t>……</a:t>
            </a:r>
            <a:endParaRPr lang="zh-CN" altLang="en-US" sz="2400" dirty="0"/>
          </a:p>
          <a:p>
            <a:pPr lvl="1" algn="just">
              <a:lnSpc>
                <a:spcPct val="8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zh-CN" altLang="en-US" sz="2400" dirty="0"/>
              <a:t> </a:t>
            </a:r>
            <a:r>
              <a:rPr lang="en-US" altLang="zh-CN" sz="2400" dirty="0"/>
              <a:t>}</a:t>
            </a:r>
          </a:p>
          <a:p>
            <a:pPr algn="just">
              <a:lnSpc>
                <a:spcPct val="80000"/>
              </a:lnSpc>
              <a:spcBef>
                <a:spcPts val="0"/>
              </a:spcBef>
              <a:defRPr/>
            </a:pPr>
            <a:r>
              <a:rPr lang="zh-CN" altLang="en-US" sz="2400" dirty="0"/>
              <a:t>输入值控制为主：例</a:t>
            </a:r>
            <a:r>
              <a:rPr lang="en-US" altLang="zh-CN" sz="2400" dirty="0"/>
              <a:t>4-2, 4-8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dirty="0" err="1">
                <a:solidFill>
                  <a:srgbClr val="00007D"/>
                </a:solidFill>
              </a:rPr>
              <a:t>scanf</a:t>
            </a:r>
            <a:r>
              <a:rPr lang="en-US" altLang="zh-CN" sz="2400" dirty="0">
                <a:solidFill>
                  <a:srgbClr val="00007D"/>
                </a:solidFill>
              </a:rPr>
              <a:t> ("%lf", &amp;score);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dirty="0">
                <a:solidFill>
                  <a:srgbClr val="CC0066"/>
                </a:solidFill>
              </a:rPr>
              <a:t>while (score &gt;= 0)</a:t>
            </a:r>
            <a:r>
              <a:rPr lang="en-US" altLang="zh-CN" sz="2400" dirty="0"/>
              <a:t> { </a:t>
            </a:r>
            <a:endParaRPr lang="zh-CN" altLang="en-US" sz="2400" dirty="0">
              <a:solidFill>
                <a:schemeClr val="bg2"/>
              </a:solidFill>
            </a:endParaRPr>
          </a:p>
          <a:p>
            <a:pPr lvl="1" algn="just">
              <a:lnSpc>
                <a:spcPct val="8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zh-CN" altLang="zh-CN" sz="2400" dirty="0"/>
              <a:t>	 </a:t>
            </a:r>
            <a:r>
              <a:rPr lang="en-US" altLang="zh-CN" sz="2400" dirty="0"/>
              <a:t> ……</a:t>
            </a:r>
            <a:endParaRPr lang="zh-CN" altLang="en-US" sz="2400" dirty="0"/>
          </a:p>
          <a:p>
            <a:pPr lvl="1" algn="just">
              <a:lnSpc>
                <a:spcPct val="8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zh-CN" altLang="en-US" sz="2400" dirty="0"/>
              <a:t>   </a:t>
            </a:r>
            <a:r>
              <a:rPr lang="en-US" altLang="zh-CN" sz="2400" dirty="0" err="1">
                <a:solidFill>
                  <a:srgbClr val="00007D"/>
                </a:solidFill>
              </a:rPr>
              <a:t>scanf</a:t>
            </a:r>
            <a:r>
              <a:rPr lang="en-US" altLang="zh-CN" sz="2400" dirty="0">
                <a:solidFill>
                  <a:srgbClr val="00007D"/>
                </a:solidFill>
              </a:rPr>
              <a:t> ("%lf", &amp;score);</a:t>
            </a:r>
            <a:endParaRPr lang="zh-CN" altLang="en-US" sz="2400" dirty="0">
              <a:solidFill>
                <a:srgbClr val="00007D"/>
              </a:solidFill>
            </a:endParaRPr>
          </a:p>
          <a:p>
            <a:pPr lvl="1" algn="just">
              <a:lnSpc>
                <a:spcPct val="8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dirty="0"/>
              <a:t>}</a:t>
            </a:r>
          </a:p>
          <a:p>
            <a:pPr algn="just">
              <a:lnSpc>
                <a:spcPct val="80000"/>
              </a:lnSpc>
              <a:spcBef>
                <a:spcPts val="0"/>
              </a:spcBef>
              <a:defRPr/>
            </a:pPr>
            <a:r>
              <a:rPr lang="zh-CN" altLang="en-US" sz="2400" dirty="0"/>
              <a:t>计数控制</a:t>
            </a:r>
            <a:r>
              <a:rPr lang="en-US" altLang="zh-CN" sz="2400" dirty="0"/>
              <a:t>+</a:t>
            </a:r>
            <a:r>
              <a:rPr lang="zh-CN" altLang="en-US" sz="2400" dirty="0"/>
              <a:t>计算值控制：例</a:t>
            </a:r>
            <a:r>
              <a:rPr lang="en-US" altLang="zh-CN" sz="2400" dirty="0"/>
              <a:t>4-5, 4-6, 4-10</a:t>
            </a:r>
            <a:endParaRPr kumimoji="1" lang="zh-CN" altLang="en-US" sz="2400" dirty="0"/>
          </a:p>
        </p:txBody>
      </p:sp>
      <p:sp>
        <p:nvSpPr>
          <p:cNvPr id="5" name="笑脸 4"/>
          <p:cNvSpPr/>
          <p:nvPr/>
        </p:nvSpPr>
        <p:spPr bwMode="auto">
          <a:xfrm>
            <a:off x="7019925" y="4437063"/>
            <a:ext cx="914400" cy="914400"/>
          </a:xfrm>
          <a:prstGeom prst="smileyFac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2789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228600"/>
            <a:ext cx="6092825" cy="99060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zh-CN" altLang="en-US" dirty="0"/>
              <a:t>循环语句的选择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052736"/>
            <a:ext cx="8784976" cy="5328592"/>
          </a:xfrm>
        </p:spPr>
        <p:txBody>
          <a:bodyPr/>
          <a:lstStyle/>
          <a:p>
            <a:pPr algn="just">
              <a:defRPr/>
            </a:pPr>
            <a:r>
              <a:rPr lang="zh-CN" altLang="en-US" dirty="0"/>
              <a:t>主要</a:t>
            </a:r>
            <a:r>
              <a:rPr lang="zh-CN" altLang="en-US" dirty="0">
                <a:latin typeface="宋体" charset="0"/>
              </a:rPr>
              <a:t>考虑因素</a:t>
            </a:r>
            <a:r>
              <a:rPr lang="en-US" altLang="zh-CN" dirty="0">
                <a:latin typeface="宋体" charset="0"/>
              </a:rPr>
              <a:t>-</a:t>
            </a:r>
            <a:r>
              <a:rPr lang="zh-CN" altLang="en-US" dirty="0">
                <a:latin typeface="宋体" charset="0"/>
              </a:rPr>
              <a:t>循环控制方式</a:t>
            </a:r>
          </a:p>
          <a:p>
            <a:pPr lvl="1" algn="just">
              <a:defRPr/>
            </a:pPr>
            <a:r>
              <a:rPr lang="zh-CN" altLang="en-US" dirty="0">
                <a:latin typeface="宋体" charset="0"/>
              </a:rPr>
              <a:t>事先给定循环次数，首选 </a:t>
            </a:r>
            <a:r>
              <a:rPr lang="en-US" altLang="zh-CN" dirty="0"/>
              <a:t>for</a:t>
            </a:r>
            <a:endParaRPr lang="zh-CN" altLang="en-US" dirty="0">
              <a:latin typeface="宋体" charset="0"/>
            </a:endParaRPr>
          </a:p>
          <a:p>
            <a:pPr lvl="1" algn="just">
              <a:defRPr/>
            </a:pPr>
            <a:r>
              <a:rPr lang="zh-CN" altLang="en-US" dirty="0"/>
              <a:t>通过其他条件控制循环，考虑 </a:t>
            </a:r>
            <a:r>
              <a:rPr lang="en-US" altLang="zh-CN" dirty="0"/>
              <a:t>while</a:t>
            </a:r>
            <a:r>
              <a:rPr lang="zh-CN" altLang="en-US" dirty="0"/>
              <a:t>或 </a:t>
            </a:r>
            <a:r>
              <a:rPr lang="en-US" altLang="zh-CN" dirty="0"/>
              <a:t>do-while</a:t>
            </a:r>
          </a:p>
          <a:p>
            <a:pPr lvl="1" algn="just">
              <a:buFont typeface="Wingdings" charset="0"/>
              <a:buNone/>
              <a:defRPr/>
            </a:pPr>
            <a:r>
              <a:rPr lang="en-US" altLang="zh-CN" dirty="0"/>
              <a:t>if（</a:t>
            </a:r>
            <a:r>
              <a:rPr lang="zh-CN" altLang="en-US" dirty="0"/>
              <a:t>循环次数已知）</a:t>
            </a:r>
          </a:p>
          <a:p>
            <a:pPr lvl="1" algn="just">
              <a:buFont typeface="Wingdings" charset="0"/>
              <a:buNone/>
              <a:defRPr/>
            </a:pPr>
            <a:r>
              <a:rPr lang="zh-CN" altLang="en-US" dirty="0"/>
              <a:t>	 使用 </a:t>
            </a:r>
            <a:r>
              <a:rPr lang="en-US" altLang="zh-CN" dirty="0">
                <a:solidFill>
                  <a:srgbClr val="CC0066"/>
                </a:solidFill>
              </a:rPr>
              <a:t>for</a:t>
            </a:r>
            <a:r>
              <a:rPr lang="zh-CN" altLang="en-US" dirty="0">
                <a:solidFill>
                  <a:srgbClr val="CC0066"/>
                </a:solidFill>
              </a:rPr>
              <a:t> </a:t>
            </a:r>
            <a:r>
              <a:rPr lang="zh-CN" altLang="en-US" dirty="0"/>
              <a:t>语句</a:t>
            </a:r>
          </a:p>
          <a:p>
            <a:pPr lvl="1" algn="just">
              <a:buFont typeface="Wingdings" charset="0"/>
              <a:buNone/>
              <a:defRPr/>
            </a:pPr>
            <a:r>
              <a:rPr lang="en-US" altLang="zh-CN" dirty="0"/>
              <a:t>else		  /* </a:t>
            </a:r>
            <a:r>
              <a:rPr lang="zh-CN" altLang="en-US" dirty="0"/>
              <a:t>循环次数未知 */</a:t>
            </a:r>
          </a:p>
          <a:p>
            <a:pPr lvl="1" algn="just">
              <a:buFont typeface="Wingdings" charset="0"/>
              <a:buNone/>
              <a:defRPr/>
            </a:pPr>
            <a:r>
              <a:rPr lang="zh-CN" altLang="en-US" dirty="0"/>
              <a:t>		</a:t>
            </a:r>
            <a:r>
              <a:rPr lang="en-US" altLang="zh-CN" dirty="0"/>
              <a:t>if  (</a:t>
            </a:r>
            <a:r>
              <a:rPr lang="zh-CN" altLang="en-US" dirty="0"/>
              <a:t>循环条件在进入循环时明确)</a:t>
            </a:r>
          </a:p>
          <a:p>
            <a:pPr lvl="1" algn="just">
              <a:buFont typeface="Wingdings" charset="0"/>
              <a:buNone/>
              <a:defRPr/>
            </a:pPr>
            <a:r>
              <a:rPr lang="zh-CN" altLang="en-US" dirty="0"/>
              <a:t>			使用 </a:t>
            </a:r>
            <a:r>
              <a:rPr lang="en-US" altLang="zh-CN" dirty="0">
                <a:solidFill>
                  <a:srgbClr val="CC0066"/>
                </a:solidFill>
              </a:rPr>
              <a:t>while</a:t>
            </a:r>
            <a:r>
              <a:rPr lang="zh-CN" altLang="en-US" dirty="0">
                <a:solidFill>
                  <a:srgbClr val="CC0066"/>
                </a:solidFill>
              </a:rPr>
              <a:t> </a:t>
            </a:r>
            <a:r>
              <a:rPr lang="zh-CN" altLang="en-US" dirty="0"/>
              <a:t>语句</a:t>
            </a:r>
          </a:p>
          <a:p>
            <a:pPr lvl="1" algn="just">
              <a:buFont typeface="Wingdings" charset="0"/>
              <a:buNone/>
              <a:defRPr/>
            </a:pPr>
            <a:r>
              <a:rPr lang="zh-CN" altLang="en-US" dirty="0"/>
              <a:t>		</a:t>
            </a:r>
            <a:r>
              <a:rPr lang="en-US" altLang="zh-CN" dirty="0"/>
              <a:t>else 	 /* </a:t>
            </a:r>
            <a:r>
              <a:rPr lang="zh-CN" altLang="en-US" dirty="0"/>
              <a:t>循环条件需要在循环体中明确 */</a:t>
            </a:r>
          </a:p>
          <a:p>
            <a:pPr lvl="1" algn="just">
              <a:buFont typeface="Wingdings" charset="0"/>
              <a:buNone/>
              <a:defRPr/>
            </a:pPr>
            <a:r>
              <a:rPr lang="zh-CN" altLang="en-US" dirty="0"/>
              <a:t>			使用 </a:t>
            </a:r>
            <a:r>
              <a:rPr lang="en-US" altLang="zh-CN" dirty="0">
                <a:solidFill>
                  <a:srgbClr val="CC0066"/>
                </a:solidFill>
              </a:rPr>
              <a:t>do-while</a:t>
            </a:r>
            <a:r>
              <a:rPr lang="zh-CN" altLang="en-US" dirty="0">
                <a:solidFill>
                  <a:srgbClr val="CC0066"/>
                </a:solidFill>
              </a:rPr>
              <a:t> </a:t>
            </a:r>
            <a:r>
              <a:rPr lang="zh-CN" altLang="en-US" dirty="0"/>
              <a:t>语句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42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42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42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42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build="p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980728"/>
            <a:ext cx="7696200" cy="5764212"/>
          </a:xfrm>
        </p:spPr>
        <p:txBody>
          <a:bodyPr/>
          <a:lstStyle/>
          <a:p>
            <a:pPr algn="just">
              <a:lnSpc>
                <a:spcPct val="80000"/>
              </a:lnSpc>
              <a:buFont typeface="Wingdings" charset="0"/>
              <a:buNone/>
              <a:defRPr/>
            </a:pPr>
            <a:r>
              <a:rPr lang="zh-CN" altLang="en-US" sz="2400" dirty="0"/>
              <a:t>#</a:t>
            </a:r>
            <a:r>
              <a:rPr lang="en-US" altLang="zh-CN" sz="2400" dirty="0"/>
              <a:t>include &lt;</a:t>
            </a:r>
            <a:r>
              <a:rPr lang="en-US" altLang="zh-CN" sz="2400" dirty="0" err="1"/>
              <a:t>stdio.h</a:t>
            </a:r>
            <a:r>
              <a:rPr lang="en-US" altLang="zh-CN" sz="2400" dirty="0"/>
              <a:t>&gt;</a:t>
            </a:r>
          </a:p>
          <a:p>
            <a:pPr algn="just">
              <a:lnSpc>
                <a:spcPct val="80000"/>
              </a:lnSpc>
              <a:buFont typeface="Wingdings" charset="0"/>
              <a:buNone/>
              <a:defRPr/>
            </a:pPr>
            <a:r>
              <a:rPr lang="en-US" altLang="zh-CN" sz="2400" dirty="0" err="1"/>
              <a:t>int</a:t>
            </a:r>
            <a:r>
              <a:rPr lang="en-US" altLang="zh-CN" sz="2400" dirty="0"/>
              <a:t> main(void)</a:t>
            </a:r>
          </a:p>
          <a:p>
            <a:pPr algn="just">
              <a:lnSpc>
                <a:spcPct val="80000"/>
              </a:lnSpc>
              <a:buFont typeface="Wingdings" charset="0"/>
              <a:buNone/>
              <a:defRPr/>
            </a:pPr>
            <a:r>
              <a:rPr lang="en-US" altLang="zh-CN" sz="2400" dirty="0"/>
              <a:t>{ 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, mark, max, n;  </a:t>
            </a:r>
            <a:endParaRPr lang="zh-CN" altLang="en-US" sz="2400" dirty="0"/>
          </a:p>
          <a:p>
            <a:pPr algn="just">
              <a:lnSpc>
                <a:spcPct val="80000"/>
              </a:lnSpc>
              <a:buFont typeface="Wingdings" charset="0"/>
              <a:buNone/>
              <a:defRPr/>
            </a:pPr>
            <a:r>
              <a:rPr lang="zh-CN" sz="2400" dirty="0"/>
              <a:t>  </a:t>
            </a:r>
            <a:r>
              <a:rPr lang="en-US" altLang="zh-CN" sz="2400" dirty="0"/>
              <a:t>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("Enter n: "); </a:t>
            </a:r>
            <a:r>
              <a:rPr lang="zh-CN" altLang="en-US" sz="2400" dirty="0"/>
              <a:t>   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 ("%d", &amp;n); </a:t>
            </a:r>
            <a:endParaRPr lang="zh-CN" altLang="en-US" sz="2400" dirty="0"/>
          </a:p>
          <a:p>
            <a:pPr algn="just">
              <a:lnSpc>
                <a:spcPct val="80000"/>
              </a:lnSpc>
              <a:buFont typeface="Wingdings" charset="0"/>
              <a:buNone/>
              <a:defRPr/>
            </a:pPr>
            <a:r>
              <a:rPr lang="en-US" altLang="zh-CN" sz="2400" dirty="0"/>
              <a:t>  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("Enter %d marks: ", n);</a:t>
            </a:r>
          </a:p>
          <a:p>
            <a:pPr algn="just">
              <a:lnSpc>
                <a:spcPct val="80000"/>
              </a:lnSpc>
              <a:buFont typeface="Wingdings" charset="0"/>
              <a:buNone/>
              <a:defRPr/>
            </a:pPr>
            <a:r>
              <a:rPr lang="en-US" altLang="zh-CN" sz="2400" dirty="0"/>
              <a:t>   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 ("%d", &amp;mark);   	         /* </a:t>
            </a:r>
            <a:r>
              <a:rPr lang="zh-CN" altLang="en-US" sz="2400" dirty="0"/>
              <a:t>读入第一个成绩 */</a:t>
            </a:r>
          </a:p>
          <a:p>
            <a:pPr algn="just">
              <a:lnSpc>
                <a:spcPct val="80000"/>
              </a:lnSpc>
              <a:buFont typeface="Wingdings" charset="0"/>
              <a:buNone/>
              <a:defRPr/>
            </a:pPr>
            <a:r>
              <a:rPr lang="zh-CN" altLang="en-US" sz="2400" dirty="0"/>
              <a:t>   </a:t>
            </a:r>
            <a:r>
              <a:rPr lang="en-US" altLang="zh-CN" sz="2400" dirty="0"/>
              <a:t>max = mark;                  /* </a:t>
            </a:r>
            <a:r>
              <a:rPr lang="zh-CN" altLang="en-US" sz="2400" dirty="0"/>
              <a:t>假设第一个成绩是最高分 */</a:t>
            </a:r>
          </a:p>
          <a:p>
            <a:pPr algn="just">
              <a:lnSpc>
                <a:spcPct val="80000"/>
              </a:lnSpc>
              <a:buFont typeface="Wingdings" charset="0"/>
              <a:buNone/>
              <a:defRPr/>
            </a:pPr>
            <a:r>
              <a:rPr lang="zh-CN" altLang="en-US" sz="2400" dirty="0"/>
              <a:t>   </a:t>
            </a:r>
            <a:r>
              <a:rPr lang="en-US" altLang="zh-CN" sz="2400" dirty="0">
                <a:solidFill>
                  <a:schemeClr val="bg2"/>
                </a:solidFill>
              </a:rPr>
              <a:t>for (</a:t>
            </a:r>
            <a:r>
              <a:rPr lang="en-US" altLang="zh-CN" sz="2400" dirty="0" err="1">
                <a:solidFill>
                  <a:schemeClr val="bg2"/>
                </a:solidFill>
              </a:rPr>
              <a:t>i</a:t>
            </a:r>
            <a:r>
              <a:rPr lang="en-US" altLang="zh-CN" sz="2400" dirty="0">
                <a:solidFill>
                  <a:schemeClr val="bg2"/>
                </a:solidFill>
              </a:rPr>
              <a:t> = 1; </a:t>
            </a:r>
            <a:r>
              <a:rPr lang="en-US" altLang="zh-CN" sz="2400" dirty="0" err="1">
                <a:solidFill>
                  <a:schemeClr val="bg2"/>
                </a:solidFill>
              </a:rPr>
              <a:t>i</a:t>
            </a:r>
            <a:r>
              <a:rPr lang="en-US" altLang="zh-CN" sz="2400" dirty="0">
                <a:solidFill>
                  <a:schemeClr val="bg2"/>
                </a:solidFill>
              </a:rPr>
              <a:t> </a:t>
            </a:r>
            <a:r>
              <a:rPr lang="en-US" altLang="zh-CN" sz="2400" dirty="0">
                <a:solidFill>
                  <a:srgbClr val="CC0066"/>
                </a:solidFill>
              </a:rPr>
              <a:t>&lt;</a:t>
            </a:r>
            <a:r>
              <a:rPr lang="en-US" altLang="zh-CN" sz="2400" dirty="0">
                <a:solidFill>
                  <a:schemeClr val="bg2"/>
                </a:solidFill>
              </a:rPr>
              <a:t> n; </a:t>
            </a:r>
            <a:r>
              <a:rPr lang="en-US" altLang="zh-CN" sz="2400" dirty="0" err="1">
                <a:solidFill>
                  <a:schemeClr val="bg2"/>
                </a:solidFill>
              </a:rPr>
              <a:t>i</a:t>
            </a:r>
            <a:r>
              <a:rPr lang="en-US" altLang="zh-CN" sz="2400" dirty="0">
                <a:solidFill>
                  <a:schemeClr val="bg2"/>
                </a:solidFill>
              </a:rPr>
              <a:t>++ )</a:t>
            </a:r>
            <a:r>
              <a:rPr lang="en-US" altLang="zh-CN" sz="2400" dirty="0"/>
              <a:t>{     </a:t>
            </a:r>
          </a:p>
          <a:p>
            <a:pPr algn="just">
              <a:lnSpc>
                <a:spcPct val="80000"/>
              </a:lnSpc>
              <a:buFont typeface="Wingdings" charset="0"/>
              <a:buNone/>
              <a:defRPr/>
            </a:pPr>
            <a:r>
              <a:rPr lang="zh-CN" altLang="en-US" sz="2400" dirty="0"/>
              <a:t>        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 ("%d", &amp;mark);   </a:t>
            </a:r>
            <a:endParaRPr lang="zh-CN" altLang="en-US" sz="2400" dirty="0"/>
          </a:p>
          <a:p>
            <a:pPr algn="just">
              <a:lnSpc>
                <a:spcPct val="80000"/>
              </a:lnSpc>
              <a:buFont typeface="Wingdings" charset="0"/>
              <a:buNone/>
              <a:defRPr/>
            </a:pPr>
            <a:r>
              <a:rPr lang="zh-CN" altLang="en-US" sz="2400" dirty="0"/>
              <a:t>   </a:t>
            </a:r>
            <a:r>
              <a:rPr lang="en-US" altLang="zh-CN" sz="2400" dirty="0"/>
              <a:t>     if (max &lt; mark){</a:t>
            </a:r>
            <a:endParaRPr lang="zh-CN" altLang="en-US" sz="2400" dirty="0"/>
          </a:p>
          <a:p>
            <a:pPr algn="just">
              <a:lnSpc>
                <a:spcPct val="80000"/>
              </a:lnSpc>
              <a:buFont typeface="Wingdings" charset="0"/>
              <a:buNone/>
              <a:defRPr/>
            </a:pPr>
            <a:r>
              <a:rPr lang="zh-CN" altLang="en-US" sz="2400" dirty="0"/>
              <a:t>            </a:t>
            </a:r>
            <a:r>
              <a:rPr lang="en-US" altLang="zh-CN" sz="2400" dirty="0"/>
              <a:t>max = mark;</a:t>
            </a:r>
            <a:endParaRPr lang="zh-CN" altLang="en-US" sz="2400" dirty="0"/>
          </a:p>
          <a:p>
            <a:pPr algn="just">
              <a:lnSpc>
                <a:spcPct val="80000"/>
              </a:lnSpc>
              <a:buFont typeface="Wingdings" charset="0"/>
              <a:buNone/>
              <a:defRPr/>
            </a:pPr>
            <a:r>
              <a:rPr lang="en-US" altLang="zh-CN" sz="2400" dirty="0"/>
              <a:t>        </a:t>
            </a:r>
            <a:r>
              <a:rPr lang="en-US" altLang="zh-CN" sz="2400" dirty="0">
                <a:solidFill>
                  <a:schemeClr val="bg2"/>
                </a:solidFill>
              </a:rPr>
              <a:t>}</a:t>
            </a:r>
            <a:r>
              <a:rPr lang="zh-CN" altLang="en-US" sz="2400" dirty="0"/>
              <a:t> </a:t>
            </a:r>
            <a:r>
              <a:rPr lang="zh-CN" altLang="en-US" sz="2400" dirty="0">
                <a:solidFill>
                  <a:schemeClr val="bg2"/>
                </a:solidFill>
              </a:rPr>
              <a:t> </a:t>
            </a:r>
            <a:r>
              <a:rPr lang="en-US" altLang="zh-CN" sz="2400" dirty="0">
                <a:solidFill>
                  <a:schemeClr val="bg2"/>
                </a:solidFill>
              </a:rPr>
              <a:t>   </a:t>
            </a:r>
          </a:p>
          <a:p>
            <a:pPr algn="just">
              <a:lnSpc>
                <a:spcPct val="80000"/>
              </a:lnSpc>
              <a:buFont typeface="Wingdings" charset="0"/>
              <a:buNone/>
              <a:defRPr/>
            </a:pPr>
            <a:r>
              <a:rPr lang="en-US" altLang="zh-CN" sz="2400" dirty="0">
                <a:solidFill>
                  <a:schemeClr val="bg2"/>
                </a:solidFill>
              </a:rPr>
              <a:t>   } </a:t>
            </a:r>
            <a:endParaRPr lang="zh-CN" altLang="en-US" sz="2400" dirty="0">
              <a:solidFill>
                <a:schemeClr val="bg2"/>
              </a:solidFill>
            </a:endParaRPr>
          </a:p>
          <a:p>
            <a:pPr algn="just">
              <a:lnSpc>
                <a:spcPct val="80000"/>
              </a:lnSpc>
              <a:buFont typeface="Wingdings" charset="0"/>
              <a:buNone/>
              <a:defRPr/>
            </a:pPr>
            <a:r>
              <a:rPr lang="zh-CN" altLang="en-US" sz="2400" dirty="0"/>
              <a:t>  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("Max = %d\n", max);</a:t>
            </a:r>
          </a:p>
          <a:p>
            <a:pPr algn="just">
              <a:lnSpc>
                <a:spcPct val="80000"/>
              </a:lnSpc>
              <a:buFont typeface="Wingdings" charset="0"/>
              <a:buNone/>
              <a:defRPr/>
            </a:pPr>
            <a:r>
              <a:rPr lang="en-US" altLang="zh-CN" sz="2400" dirty="0"/>
              <a:t>   return 0;</a:t>
            </a:r>
          </a:p>
          <a:p>
            <a:pPr algn="just">
              <a:lnSpc>
                <a:spcPct val="80000"/>
              </a:lnSpc>
              <a:buFont typeface="Wingdings" charset="0"/>
              <a:buNone/>
              <a:defRPr/>
            </a:pPr>
            <a:r>
              <a:rPr lang="en-US" altLang="zh-CN" sz="2400" dirty="0"/>
              <a:t>}</a:t>
            </a:r>
            <a:endParaRPr lang="zh-CN" altLang="en-US" sz="2400" dirty="0"/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title"/>
          </p:nvPr>
        </p:nvSpPr>
        <p:spPr>
          <a:xfrm>
            <a:off x="113506" y="218728"/>
            <a:ext cx="8231187" cy="76200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zh-CN" altLang="en-US" sz="3200" dirty="0"/>
              <a:t>例</a:t>
            </a:r>
            <a:r>
              <a:rPr lang="en-US" altLang="zh-CN" sz="3200" dirty="0"/>
              <a:t>4-8 </a:t>
            </a:r>
            <a:r>
              <a:rPr lang="zh-CN" altLang="en-US" sz="3200" dirty="0"/>
              <a:t>输入一批学生的成绩，求最高分(</a:t>
            </a:r>
            <a:r>
              <a:rPr lang="en-US" altLang="zh-CN" sz="3200" dirty="0"/>
              <a:t>for)</a:t>
            </a:r>
          </a:p>
        </p:txBody>
      </p:sp>
      <p:grpSp>
        <p:nvGrpSpPr>
          <p:cNvPr id="158731" name="Group 11"/>
          <p:cNvGrpSpPr>
            <a:grpSpLocks/>
          </p:cNvGrpSpPr>
          <p:nvPr/>
        </p:nvGrpSpPr>
        <p:grpSpPr bwMode="auto">
          <a:xfrm>
            <a:off x="4953000" y="4343400"/>
            <a:ext cx="2282825" cy="457200"/>
            <a:chOff x="3120" y="2736"/>
            <a:chExt cx="1330" cy="288"/>
          </a:xfrm>
        </p:grpSpPr>
        <p:sp>
          <p:nvSpPr>
            <p:cNvPr id="54282" name="Rectangle 5"/>
            <p:cNvSpPr>
              <a:spLocks noChangeArrowheads="1"/>
            </p:cNvSpPr>
            <p:nvPr/>
          </p:nvSpPr>
          <p:spPr bwMode="auto">
            <a:xfrm>
              <a:off x="3120" y="2736"/>
              <a:ext cx="133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 algn="just">
                <a:spcBef>
                  <a:spcPct val="20000"/>
                </a:spcBef>
                <a:buClr>
                  <a:schemeClr val="accent2"/>
                </a:buClr>
                <a:buFont typeface="Wingdings" charset="0"/>
                <a:buNone/>
              </a:pPr>
              <a:r>
                <a:rPr kumimoji="1" lang="en-US" altLang="zh-CN" sz="2000">
                  <a:solidFill>
                    <a:schemeClr val="tx1"/>
                  </a:solidFill>
                  <a:ea typeface="仿宋_GB2312" charset="0"/>
                  <a:cs typeface="仿宋_GB2312" charset="0"/>
                </a:rPr>
                <a:t>mark            </a:t>
              </a:r>
              <a:r>
                <a:rPr kumimoji="1" lang="en-US" altLang="zh-CN" sz="2000">
                  <a:solidFill>
                    <a:schemeClr val="bg2"/>
                  </a:solidFill>
                  <a:ea typeface="仿宋_GB2312" charset="0"/>
                  <a:cs typeface="仿宋_GB2312" charset="0"/>
                </a:rPr>
                <a:t>max</a:t>
              </a:r>
            </a:p>
          </p:txBody>
        </p:sp>
        <p:sp>
          <p:nvSpPr>
            <p:cNvPr id="158726" name="Line 6"/>
            <p:cNvSpPr>
              <a:spLocks noChangeShapeType="1"/>
            </p:cNvSpPr>
            <p:nvPr/>
          </p:nvSpPr>
          <p:spPr bwMode="auto">
            <a:xfrm flipH="1">
              <a:off x="3648" y="2880"/>
              <a:ext cx="3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58727" name="AutoShape 7"/>
          <p:cNvSpPr>
            <a:spLocks/>
          </p:cNvSpPr>
          <p:nvPr/>
        </p:nvSpPr>
        <p:spPr bwMode="auto">
          <a:xfrm>
            <a:off x="7010400" y="4572000"/>
            <a:ext cx="228600" cy="609600"/>
          </a:xfrm>
          <a:prstGeom prst="rightBrace">
            <a:avLst>
              <a:gd name="adj1" fmla="val 222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58728" name="Rectangle 8"/>
          <p:cNvSpPr>
            <a:spLocks noChangeArrowheads="1"/>
          </p:cNvSpPr>
          <p:nvPr/>
        </p:nvSpPr>
        <p:spPr bwMode="auto">
          <a:xfrm>
            <a:off x="7300913" y="4724400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kumimoji="1" lang="en-US" altLang="zh-CN" sz="2000">
                <a:solidFill>
                  <a:schemeClr val="bg2"/>
                </a:solidFill>
                <a:ea typeface="仿宋_GB2312" charset="0"/>
                <a:cs typeface="仿宋_GB2312" charset="0"/>
              </a:rPr>
              <a:t>max</a:t>
            </a:r>
            <a:endParaRPr kumimoji="1" lang="zh-CN" altLang="en-US" sz="2000">
              <a:solidFill>
                <a:schemeClr val="bg2"/>
              </a:solidFill>
              <a:ea typeface="仿宋_GB2312" charset="0"/>
              <a:cs typeface="仿宋_GB2312" charset="0"/>
            </a:endParaRPr>
          </a:p>
        </p:txBody>
      </p:sp>
      <p:sp>
        <p:nvSpPr>
          <p:cNvPr id="158729" name="Rectangle 9"/>
          <p:cNvSpPr>
            <a:spLocks noChangeArrowheads="1"/>
          </p:cNvSpPr>
          <p:nvPr/>
        </p:nvSpPr>
        <p:spPr bwMode="auto">
          <a:xfrm>
            <a:off x="6302375" y="5000625"/>
            <a:ext cx="790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kumimoji="1" lang="en-US" altLang="zh-CN" sz="2000">
                <a:solidFill>
                  <a:schemeClr val="tx1"/>
                </a:solidFill>
              </a:rPr>
              <a:t>mark</a:t>
            </a:r>
            <a:endParaRPr kumimoji="1" lang="zh-CN" altLang="en-US" sz="2000">
              <a:solidFill>
                <a:schemeClr val="tx1"/>
              </a:solidFill>
            </a:endParaRPr>
          </a:p>
        </p:txBody>
      </p:sp>
      <p:sp>
        <p:nvSpPr>
          <p:cNvPr id="158730" name="Oval 10"/>
          <p:cNvSpPr>
            <a:spLocks noChangeArrowheads="1"/>
          </p:cNvSpPr>
          <p:nvPr/>
        </p:nvSpPr>
        <p:spPr bwMode="auto">
          <a:xfrm>
            <a:off x="6248400" y="4038600"/>
            <a:ext cx="1828800" cy="1600200"/>
          </a:xfrm>
          <a:prstGeom prst="ellipse">
            <a:avLst/>
          </a:prstGeom>
          <a:noFill/>
          <a:ln w="1905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58732" name="Rectangle 12"/>
          <p:cNvSpPr>
            <a:spLocks noChangeArrowheads="1"/>
          </p:cNvSpPr>
          <p:nvPr/>
        </p:nvSpPr>
        <p:spPr bwMode="auto">
          <a:xfrm>
            <a:off x="5489575" y="842745"/>
            <a:ext cx="3622675" cy="1203325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kumimoji="1" lang="en-US" altLang="zh-CN" sz="2000" dirty="0">
                <a:solidFill>
                  <a:schemeClr val="tx1"/>
                </a:solidFill>
                <a:cs typeface="Arial" charset="0"/>
              </a:rPr>
              <a:t>Enter n: </a:t>
            </a:r>
            <a:r>
              <a:rPr kumimoji="1" lang="en-US" altLang="zh-CN" sz="2000" dirty="0">
                <a:solidFill>
                  <a:srgbClr val="CC0066"/>
                </a:solidFill>
                <a:cs typeface="Arial Unicode MS" charset="0"/>
              </a:rPr>
              <a:t>5</a:t>
            </a:r>
          </a:p>
          <a:p>
            <a:pPr>
              <a:spcBef>
                <a:spcPct val="30000"/>
              </a:spcBef>
              <a:defRPr/>
            </a:pPr>
            <a:r>
              <a:rPr kumimoji="1" lang="en-US" altLang="zh-CN" sz="2000" dirty="0">
                <a:solidFill>
                  <a:schemeClr val="tx1"/>
                </a:solidFill>
                <a:cs typeface="Arial Unicode MS" charset="0"/>
              </a:rPr>
              <a:t>Enter 5 maks:</a:t>
            </a:r>
            <a:r>
              <a:rPr kumimoji="1" lang="en-US" altLang="zh-CN" sz="2000" dirty="0">
                <a:solidFill>
                  <a:srgbClr val="CC0066"/>
                </a:solidFill>
                <a:cs typeface="Arial" charset="0"/>
              </a:rPr>
              <a:t>67 88 73 54 82</a:t>
            </a:r>
          </a:p>
          <a:p>
            <a:pPr>
              <a:spcBef>
                <a:spcPct val="30000"/>
              </a:spcBef>
              <a:defRPr/>
            </a:pPr>
            <a:r>
              <a:rPr kumimoji="1" lang="en-US" altLang="zh-CN" sz="2000" dirty="0">
                <a:solidFill>
                  <a:schemeClr val="tx1"/>
                </a:solidFill>
                <a:cs typeface="Arial" charset="0"/>
              </a:rPr>
              <a:t>Max = 88</a:t>
            </a:r>
          </a:p>
        </p:txBody>
      </p:sp>
      <p:sp>
        <p:nvSpPr>
          <p:cNvPr id="158733" name="Rectangle 13"/>
          <p:cNvSpPr>
            <a:spLocks noChangeArrowheads="1"/>
          </p:cNvSpPr>
          <p:nvPr/>
        </p:nvSpPr>
        <p:spPr bwMode="auto">
          <a:xfrm>
            <a:off x="5364163" y="5734050"/>
            <a:ext cx="1524000" cy="80645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kumimoji="1" lang="en-US" altLang="zh-CN" sz="2000">
                <a:solidFill>
                  <a:schemeClr val="tx1"/>
                </a:solidFill>
                <a:cs typeface="Arial" charset="0"/>
              </a:rPr>
              <a:t>Enter n: </a:t>
            </a:r>
            <a:r>
              <a:rPr kumimoji="1" lang="en-US" altLang="zh-CN" sz="2000">
                <a:solidFill>
                  <a:srgbClr val="CC0066"/>
                </a:solidFill>
                <a:cs typeface="Arial Unicode MS" charset="0"/>
              </a:rPr>
              <a:t>0</a:t>
            </a:r>
          </a:p>
          <a:p>
            <a:pPr>
              <a:spcBef>
                <a:spcPct val="30000"/>
              </a:spcBef>
              <a:defRPr/>
            </a:pPr>
            <a:endParaRPr kumimoji="1" lang="en-US" altLang="zh-CN" sz="2000">
              <a:solidFill>
                <a:srgbClr val="CC0066"/>
              </a:solidFill>
              <a:cs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8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8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8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8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8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8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8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8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8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8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8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8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8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8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7" grpId="0" animBg="1"/>
      <p:bldP spid="158728" grpId="0" autoUpdateAnimBg="0"/>
      <p:bldP spid="158729" grpId="0" autoUpdateAnimBg="0"/>
      <p:bldP spid="158730" grpId="0" animBg="1"/>
      <p:bldP spid="158732" grpId="0" animBg="1" autoUpdateAnimBg="0"/>
      <p:bldP spid="158733" grpId="0" animBg="1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8145" y="908720"/>
            <a:ext cx="7136184" cy="5949280"/>
          </a:xfrm>
        </p:spPr>
        <p:txBody>
          <a:bodyPr/>
          <a:lstStyle/>
          <a:p>
            <a:pPr algn="just">
              <a:lnSpc>
                <a:spcPct val="90000"/>
              </a:lnSpc>
              <a:buFont typeface="Wingdings" charset="0"/>
              <a:buNone/>
              <a:defRPr/>
            </a:pPr>
            <a:r>
              <a:rPr lang="zh-CN" altLang="en-US" sz="2400" dirty="0"/>
              <a:t>#</a:t>
            </a:r>
            <a:r>
              <a:rPr lang="en-US" altLang="zh-CN" sz="2400" dirty="0"/>
              <a:t>include &lt;</a:t>
            </a:r>
            <a:r>
              <a:rPr lang="en-US" altLang="zh-CN" sz="2400" dirty="0" err="1"/>
              <a:t>stdio.h</a:t>
            </a:r>
            <a:r>
              <a:rPr lang="en-US" altLang="zh-CN" sz="2400" dirty="0"/>
              <a:t>&gt;</a:t>
            </a:r>
          </a:p>
          <a:p>
            <a:pPr algn="just">
              <a:lnSpc>
                <a:spcPct val="90000"/>
              </a:lnSpc>
              <a:buFont typeface="Wingdings" charset="0"/>
              <a:buNone/>
              <a:defRPr/>
            </a:pPr>
            <a:r>
              <a:rPr lang="en-US" altLang="zh-CN" sz="2400" dirty="0" err="1"/>
              <a:t>int</a:t>
            </a:r>
            <a:r>
              <a:rPr lang="en-US" altLang="zh-CN" sz="2400" dirty="0"/>
              <a:t> main(void)</a:t>
            </a:r>
          </a:p>
          <a:p>
            <a:pPr algn="just">
              <a:lnSpc>
                <a:spcPct val="90000"/>
              </a:lnSpc>
              <a:buFont typeface="Wingdings" charset="0"/>
              <a:buNone/>
              <a:defRPr/>
            </a:pPr>
            <a:r>
              <a:rPr lang="en-US" altLang="zh-CN" sz="2400" dirty="0"/>
              <a:t>{    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mark, max; </a:t>
            </a:r>
          </a:p>
          <a:p>
            <a:pPr algn="just">
              <a:lnSpc>
                <a:spcPct val="90000"/>
              </a:lnSpc>
              <a:buFont typeface="Wingdings" charset="0"/>
              <a:buNone/>
              <a:defRPr/>
            </a:pPr>
            <a:r>
              <a:rPr lang="en-US" altLang="zh-CN" sz="2400" dirty="0"/>
              <a:t>      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(“Enter marks:"); </a:t>
            </a:r>
            <a:endParaRPr lang="zh-CN" altLang="en-US" sz="2400" dirty="0"/>
          </a:p>
          <a:p>
            <a:pPr algn="just">
              <a:lnSpc>
                <a:spcPct val="90000"/>
              </a:lnSpc>
              <a:buFont typeface="Wingdings" charset="0"/>
              <a:buNone/>
              <a:defRPr/>
            </a:pPr>
            <a:r>
              <a:rPr lang="en-US" altLang="zh-CN" sz="2400" dirty="0"/>
              <a:t>       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 ("%d", &amp;mark);   /* </a:t>
            </a:r>
            <a:r>
              <a:rPr lang="zh-CN" altLang="en-US" sz="2400" dirty="0"/>
              <a:t>读入第一个成绩 */</a:t>
            </a:r>
          </a:p>
          <a:p>
            <a:pPr algn="just">
              <a:lnSpc>
                <a:spcPct val="90000"/>
              </a:lnSpc>
              <a:buFont typeface="Wingdings" charset="0"/>
              <a:buNone/>
              <a:defRPr/>
            </a:pPr>
            <a:r>
              <a:rPr lang="zh-CN" altLang="en-US" sz="2400" dirty="0"/>
              <a:t>       </a:t>
            </a:r>
            <a:r>
              <a:rPr lang="en-US" altLang="zh-CN" sz="2400" dirty="0"/>
              <a:t>max = mark;          /* </a:t>
            </a:r>
            <a:r>
              <a:rPr lang="zh-CN" altLang="en-US" sz="2400" dirty="0"/>
              <a:t>假设第一个成绩最高分 */</a:t>
            </a:r>
          </a:p>
          <a:p>
            <a:pPr algn="just">
              <a:lnSpc>
                <a:spcPct val="90000"/>
              </a:lnSpc>
              <a:buFont typeface="Wingdings" charset="0"/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       </a:t>
            </a:r>
            <a:r>
              <a:rPr lang="en-US" altLang="zh-CN" sz="2400" dirty="0">
                <a:solidFill>
                  <a:schemeClr val="bg2"/>
                </a:solidFill>
              </a:rPr>
              <a:t>while (</a:t>
            </a:r>
            <a:r>
              <a:rPr lang="en-US" altLang="zh-CN" sz="2400" dirty="0">
                <a:solidFill>
                  <a:srgbClr val="CC0066"/>
                </a:solidFill>
              </a:rPr>
              <a:t>mark &gt;= 0</a:t>
            </a:r>
            <a:r>
              <a:rPr lang="en-US" altLang="zh-CN" sz="2400" dirty="0">
                <a:solidFill>
                  <a:schemeClr val="bg2"/>
                </a:solidFill>
              </a:rPr>
              <a:t>)</a:t>
            </a:r>
            <a:r>
              <a:rPr lang="en-US" altLang="zh-CN" sz="2400" dirty="0">
                <a:solidFill>
                  <a:srgbClr val="00007D"/>
                </a:solidFill>
              </a:rPr>
              <a:t>{</a:t>
            </a:r>
          </a:p>
          <a:p>
            <a:pPr algn="just">
              <a:lnSpc>
                <a:spcPct val="90000"/>
              </a:lnSpc>
              <a:buFont typeface="Wingdings" charset="0"/>
              <a:buNone/>
              <a:defRPr/>
            </a:pPr>
            <a:r>
              <a:rPr lang="en-US" altLang="zh-CN" sz="2400" dirty="0"/>
              <a:t>            if(max &lt; mark){</a:t>
            </a:r>
            <a:r>
              <a:rPr lang="zh-CN" altLang="en-US" sz="2400" dirty="0"/>
              <a:t> </a:t>
            </a:r>
          </a:p>
          <a:p>
            <a:pPr algn="just">
              <a:lnSpc>
                <a:spcPct val="90000"/>
              </a:lnSpc>
              <a:buFont typeface="Wingdings" charset="0"/>
              <a:buNone/>
              <a:defRPr/>
            </a:pPr>
            <a:r>
              <a:rPr lang="zh-CN" altLang="en-US" sz="2400" dirty="0"/>
              <a:t>                  </a:t>
            </a:r>
            <a:r>
              <a:rPr lang="en-US" altLang="zh-CN" sz="2400" dirty="0"/>
              <a:t>max = mark ; </a:t>
            </a:r>
          </a:p>
          <a:p>
            <a:pPr algn="just">
              <a:lnSpc>
                <a:spcPct val="90000"/>
              </a:lnSpc>
              <a:buFont typeface="Wingdings" charset="0"/>
              <a:buNone/>
              <a:defRPr/>
            </a:pPr>
            <a:r>
              <a:rPr lang="en-US" altLang="zh-CN" sz="2400" dirty="0"/>
              <a:t>             }</a:t>
            </a:r>
            <a:endParaRPr lang="zh-CN" altLang="en-US" sz="2400" dirty="0"/>
          </a:p>
          <a:p>
            <a:pPr algn="just">
              <a:lnSpc>
                <a:spcPct val="90000"/>
              </a:lnSpc>
              <a:buFont typeface="Wingdings" charset="0"/>
              <a:buNone/>
              <a:defRPr/>
            </a:pPr>
            <a:r>
              <a:rPr lang="zh-CN" altLang="en-US" sz="2400" dirty="0"/>
              <a:t>             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 ("%d", &amp;mark );</a:t>
            </a:r>
            <a:endParaRPr lang="zh-CN" altLang="en-US" sz="2400" dirty="0"/>
          </a:p>
          <a:p>
            <a:pPr algn="just">
              <a:lnSpc>
                <a:spcPct val="90000"/>
              </a:lnSpc>
              <a:buFont typeface="Wingdings" charset="0"/>
              <a:buNone/>
              <a:defRPr/>
            </a:pPr>
            <a:r>
              <a:rPr lang="zh-CN" altLang="en-US" sz="2400" dirty="0"/>
              <a:t>   </a:t>
            </a:r>
            <a:r>
              <a:rPr lang="zh-CN" altLang="en-US" sz="2400" dirty="0">
                <a:solidFill>
                  <a:srgbClr val="00007D"/>
                </a:solidFill>
              </a:rPr>
              <a:t>    </a:t>
            </a:r>
            <a:r>
              <a:rPr lang="en-US" altLang="zh-CN" sz="2400" dirty="0">
                <a:solidFill>
                  <a:srgbClr val="00007D"/>
                </a:solidFill>
              </a:rPr>
              <a:t>}</a:t>
            </a:r>
            <a:r>
              <a:rPr lang="zh-CN" altLang="en-US" sz="2400" dirty="0"/>
              <a:t>;</a:t>
            </a:r>
          </a:p>
          <a:p>
            <a:pPr algn="just">
              <a:lnSpc>
                <a:spcPct val="90000"/>
              </a:lnSpc>
              <a:buFont typeface="Wingdings" charset="0"/>
              <a:buNone/>
              <a:defRPr/>
            </a:pPr>
            <a:r>
              <a:rPr lang="zh-CN" altLang="en-US" sz="2400" dirty="0"/>
              <a:t>      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("Max = %d\n", max);</a:t>
            </a:r>
          </a:p>
          <a:p>
            <a:pPr algn="just">
              <a:lnSpc>
                <a:spcPct val="90000"/>
              </a:lnSpc>
              <a:buFont typeface="Wingdings" charset="0"/>
              <a:buNone/>
              <a:defRPr/>
            </a:pPr>
            <a:r>
              <a:rPr lang="en-US" altLang="zh-CN" sz="2400" dirty="0"/>
              <a:t>       return 0;</a:t>
            </a:r>
          </a:p>
          <a:p>
            <a:pPr algn="just">
              <a:lnSpc>
                <a:spcPct val="90000"/>
              </a:lnSpc>
              <a:buFont typeface="Wingdings" charset="0"/>
              <a:buNone/>
              <a:defRPr/>
            </a:pPr>
            <a:r>
              <a:rPr lang="en-US" altLang="zh-CN" sz="2400" dirty="0"/>
              <a:t>}</a:t>
            </a:r>
            <a:endParaRPr lang="zh-CN" altLang="en-US" sz="2400" dirty="0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title"/>
          </p:nvPr>
        </p:nvSpPr>
        <p:spPr>
          <a:xfrm>
            <a:off x="228600" y="290513"/>
            <a:ext cx="8520113" cy="76200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zh-CN" altLang="en-US" sz="3200" dirty="0"/>
              <a:t>例</a:t>
            </a:r>
            <a:r>
              <a:rPr lang="en-US" altLang="zh-CN" sz="3200" dirty="0"/>
              <a:t>4</a:t>
            </a:r>
            <a:r>
              <a:rPr lang="zh-CN" altLang="en-US" sz="3200" dirty="0"/>
              <a:t>-</a:t>
            </a:r>
            <a:r>
              <a:rPr lang="en-US" altLang="zh-CN" sz="3200" dirty="0"/>
              <a:t>8 </a:t>
            </a:r>
            <a:r>
              <a:rPr lang="zh-CN" altLang="en-US" sz="3200" dirty="0"/>
              <a:t>输入一批学生的成绩，求最高分(</a:t>
            </a:r>
            <a:r>
              <a:rPr lang="en-US" altLang="zh-CN" sz="3200" dirty="0"/>
              <a:t>while)</a:t>
            </a:r>
          </a:p>
        </p:txBody>
      </p:sp>
      <p:sp>
        <p:nvSpPr>
          <p:cNvPr id="159755" name="Rectangle 11"/>
          <p:cNvSpPr>
            <a:spLocks noChangeArrowheads="1"/>
          </p:cNvSpPr>
          <p:nvPr/>
        </p:nvSpPr>
        <p:spPr bwMode="auto">
          <a:xfrm>
            <a:off x="3995738" y="1125538"/>
            <a:ext cx="4608512" cy="944562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kumimoji="1" lang="en-US" altLang="zh-CN" sz="2400">
                <a:solidFill>
                  <a:schemeClr val="tx1"/>
                </a:solidFill>
              </a:rPr>
              <a:t>Enter marks:</a:t>
            </a:r>
            <a:r>
              <a:rPr kumimoji="1" lang="en-US" altLang="zh-CN" sz="2400">
                <a:solidFill>
                  <a:srgbClr val="CC0066"/>
                </a:solidFill>
                <a:cs typeface="Arial" charset="0"/>
              </a:rPr>
              <a:t>67 88 73 54 82 -1</a:t>
            </a:r>
          </a:p>
          <a:p>
            <a:pPr>
              <a:spcBef>
                <a:spcPct val="30000"/>
              </a:spcBef>
              <a:defRPr/>
            </a:pPr>
            <a:r>
              <a:rPr kumimoji="1" lang="en-US" altLang="zh-CN" sz="2400">
                <a:solidFill>
                  <a:schemeClr val="tx1"/>
                </a:solidFill>
                <a:cs typeface="Arial" charset="0"/>
              </a:rPr>
              <a:t>Max = 88</a:t>
            </a:r>
          </a:p>
        </p:txBody>
      </p:sp>
      <p:sp>
        <p:nvSpPr>
          <p:cNvPr id="159756" name="Rectangle 12"/>
          <p:cNvSpPr>
            <a:spLocks noChangeArrowheads="1"/>
          </p:cNvSpPr>
          <p:nvPr/>
        </p:nvSpPr>
        <p:spPr bwMode="auto">
          <a:xfrm>
            <a:off x="5867400" y="3933825"/>
            <a:ext cx="2638425" cy="94456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kumimoji="1" lang="en-US" altLang="zh-CN" sz="2400">
                <a:solidFill>
                  <a:schemeClr val="tx1"/>
                </a:solidFill>
              </a:rPr>
              <a:t>Enter marks:</a:t>
            </a:r>
            <a:r>
              <a:rPr kumimoji="1" lang="en-US" altLang="zh-CN" sz="2400">
                <a:solidFill>
                  <a:srgbClr val="CC0066"/>
                </a:solidFill>
                <a:cs typeface="Arial Unicode MS" charset="0"/>
              </a:rPr>
              <a:t>-1</a:t>
            </a:r>
          </a:p>
          <a:p>
            <a:pPr>
              <a:spcBef>
                <a:spcPct val="30000"/>
              </a:spcBef>
              <a:defRPr/>
            </a:pPr>
            <a:endParaRPr kumimoji="1" lang="en-US" altLang="zh-CN" sz="2400">
              <a:solidFill>
                <a:srgbClr val="CC0066"/>
              </a:solidFill>
              <a:cs typeface="Arial Unicode MS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9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9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9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9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55" grpId="0" animBg="1" autoUpdateAnimBg="0"/>
      <p:bldP spid="159756" grpId="0" animBg="1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46914" y="1052736"/>
            <a:ext cx="5919192" cy="5675312"/>
          </a:xfrm>
        </p:spPr>
        <p:txBody>
          <a:bodyPr/>
          <a:lstStyle/>
          <a:p>
            <a:pPr algn="just">
              <a:buFont typeface="Wingdings" charset="0"/>
              <a:buNone/>
              <a:defRPr/>
            </a:pPr>
            <a:r>
              <a:rPr lang="zh-CN" altLang="en-US" sz="2400" dirty="0"/>
              <a:t>#</a:t>
            </a:r>
            <a:r>
              <a:rPr lang="en-US" altLang="zh-CN" sz="2400" dirty="0"/>
              <a:t>include &lt;</a:t>
            </a:r>
            <a:r>
              <a:rPr lang="en-US" altLang="zh-CN" sz="2400" dirty="0" err="1"/>
              <a:t>stdio.h</a:t>
            </a:r>
            <a:r>
              <a:rPr lang="en-US" altLang="zh-CN" sz="2400" dirty="0"/>
              <a:t>&gt;</a:t>
            </a:r>
          </a:p>
          <a:p>
            <a:pPr algn="just">
              <a:buFont typeface="Wingdings" charset="0"/>
              <a:buNone/>
              <a:defRPr/>
            </a:pPr>
            <a:r>
              <a:rPr lang="en-US" altLang="zh-CN" sz="2400" dirty="0" err="1"/>
              <a:t>int</a:t>
            </a:r>
            <a:r>
              <a:rPr lang="en-US" altLang="zh-CN" sz="2400" dirty="0"/>
              <a:t> main(void)</a:t>
            </a:r>
          </a:p>
          <a:p>
            <a:pPr algn="just">
              <a:buFont typeface="Wingdings" charset="0"/>
              <a:buNone/>
              <a:defRPr/>
            </a:pPr>
            <a:r>
              <a:rPr lang="en-US" altLang="zh-CN" sz="2400" dirty="0"/>
              <a:t>{     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mark, max; </a:t>
            </a:r>
            <a:endParaRPr lang="zh-CN" altLang="en-US" sz="2400" dirty="0"/>
          </a:p>
          <a:p>
            <a:pPr algn="just">
              <a:buFont typeface="Wingdings" charset="0"/>
              <a:buNone/>
              <a:defRPr/>
            </a:pPr>
            <a:r>
              <a:rPr lang="zh-CN" altLang="en-US" sz="2400" dirty="0"/>
              <a:t>        </a:t>
            </a:r>
            <a:r>
              <a:rPr lang="en-US" altLang="zh-CN" sz="2400" dirty="0">
                <a:solidFill>
                  <a:srgbClr val="CC0066"/>
                </a:solidFill>
              </a:rPr>
              <a:t>max = -1</a:t>
            </a:r>
            <a:r>
              <a:rPr lang="en-US" altLang="zh-CN" sz="2400" dirty="0"/>
              <a:t>;    /* </a:t>
            </a:r>
            <a:r>
              <a:rPr lang="zh-CN" altLang="en-US" sz="2400" dirty="0"/>
              <a:t>给</a:t>
            </a:r>
            <a:r>
              <a:rPr lang="en-US" altLang="zh-CN" sz="2400" dirty="0"/>
              <a:t>max</a:t>
            </a:r>
            <a:r>
              <a:rPr lang="zh-CN" altLang="en-US" sz="2400" dirty="0"/>
              <a:t>赋一个小初值*/</a:t>
            </a:r>
          </a:p>
          <a:p>
            <a:pPr algn="just">
              <a:buFont typeface="Wingdings" charset="0"/>
              <a:buNone/>
              <a:defRPr/>
            </a:pPr>
            <a:r>
              <a:rPr lang="zh-CN" altLang="en-US" sz="2400" dirty="0"/>
              <a:t>       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 ( "Enter marks: " ); </a:t>
            </a:r>
            <a:endParaRPr lang="zh-CN" altLang="en-US" sz="2400" dirty="0"/>
          </a:p>
          <a:p>
            <a:pPr algn="just">
              <a:buFont typeface="Wingdings" charset="0"/>
              <a:buNone/>
              <a:defRPr/>
            </a:pPr>
            <a:r>
              <a:rPr lang="zh-CN" altLang="en-US" sz="2400" dirty="0"/>
              <a:t>        </a:t>
            </a:r>
            <a:r>
              <a:rPr lang="en-US" altLang="zh-CN" sz="2400" dirty="0">
                <a:solidFill>
                  <a:schemeClr val="bg2"/>
                </a:solidFill>
              </a:rPr>
              <a:t>do </a:t>
            </a:r>
            <a:r>
              <a:rPr lang="en-US" altLang="zh-CN" sz="2400" dirty="0"/>
              <a:t>{ </a:t>
            </a:r>
          </a:p>
          <a:p>
            <a:pPr algn="just">
              <a:buFont typeface="Wingdings" charset="0"/>
              <a:buNone/>
              <a:defRPr/>
            </a:pPr>
            <a:r>
              <a:rPr lang="en-US" altLang="zh-CN" sz="2400" dirty="0"/>
              <a:t>                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 ( "%d", &amp;mark );</a:t>
            </a:r>
            <a:endParaRPr lang="zh-CN" altLang="en-US" sz="2400" dirty="0"/>
          </a:p>
          <a:p>
            <a:pPr algn="just">
              <a:buFont typeface="Wingdings" charset="0"/>
              <a:buNone/>
              <a:defRPr/>
            </a:pPr>
            <a:r>
              <a:rPr lang="zh-CN" altLang="en-US" sz="2400" dirty="0"/>
              <a:t>                </a:t>
            </a:r>
            <a:r>
              <a:rPr lang="en-US" altLang="zh-CN" sz="2400" dirty="0"/>
              <a:t>if ( max &lt; mark ){ </a:t>
            </a:r>
            <a:endParaRPr lang="zh-CN" altLang="en-US" sz="2400" dirty="0"/>
          </a:p>
          <a:p>
            <a:pPr algn="just">
              <a:buFont typeface="Wingdings" charset="0"/>
              <a:buNone/>
              <a:defRPr/>
            </a:pPr>
            <a:r>
              <a:rPr lang="zh-CN" altLang="en-US" sz="2400" dirty="0"/>
              <a:t>                      </a:t>
            </a:r>
            <a:r>
              <a:rPr lang="en-US" altLang="zh-CN" sz="2400" dirty="0"/>
              <a:t>max = mark; </a:t>
            </a:r>
          </a:p>
          <a:p>
            <a:pPr algn="just">
              <a:buFont typeface="Wingdings" charset="0"/>
              <a:buNone/>
              <a:defRPr/>
            </a:pPr>
            <a:r>
              <a:rPr lang="en-US" altLang="zh-CN" sz="2400" dirty="0"/>
              <a:t>                 }</a:t>
            </a:r>
            <a:endParaRPr lang="zh-CN" altLang="en-US" sz="2400" dirty="0"/>
          </a:p>
          <a:p>
            <a:pPr algn="just">
              <a:buFont typeface="Wingdings" charset="0"/>
              <a:buNone/>
              <a:defRPr/>
            </a:pPr>
            <a:r>
              <a:rPr lang="zh-CN" altLang="en-US" sz="2400" dirty="0"/>
              <a:t>        </a:t>
            </a:r>
            <a:r>
              <a:rPr lang="en-US" altLang="zh-CN" sz="2400" dirty="0"/>
              <a:t>}</a:t>
            </a:r>
            <a:r>
              <a:rPr lang="zh-CN" altLang="en-US" sz="2400" dirty="0"/>
              <a:t> </a:t>
            </a:r>
            <a:r>
              <a:rPr lang="en-US" altLang="zh-CN" sz="2400" dirty="0">
                <a:solidFill>
                  <a:schemeClr val="bg2"/>
                </a:solidFill>
              </a:rPr>
              <a:t>while </a:t>
            </a:r>
            <a:r>
              <a:rPr lang="en-US" altLang="zh-CN" sz="2400" dirty="0"/>
              <a:t>( mark &gt;= 0 );         </a:t>
            </a:r>
          </a:p>
          <a:p>
            <a:pPr algn="just">
              <a:buFont typeface="Wingdings" charset="0"/>
              <a:buNone/>
              <a:defRPr/>
            </a:pPr>
            <a:r>
              <a:rPr lang="en-US" altLang="zh-CN" sz="2400" dirty="0"/>
              <a:t>       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 ( "Max = %d\n ", max);</a:t>
            </a:r>
          </a:p>
          <a:p>
            <a:pPr algn="just">
              <a:buFont typeface="Wingdings" charset="0"/>
              <a:buNone/>
              <a:defRPr/>
            </a:pPr>
            <a:r>
              <a:rPr lang="en-US" altLang="zh-CN" sz="2400" dirty="0"/>
              <a:t>}</a:t>
            </a:r>
            <a:endParaRPr lang="zh-CN" altLang="en-US" sz="2400" dirty="0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title"/>
          </p:nvPr>
        </p:nvSpPr>
        <p:spPr>
          <a:xfrm>
            <a:off x="220588" y="394606"/>
            <a:ext cx="8915400" cy="76200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zh-CN" altLang="en-US" sz="3200" dirty="0"/>
              <a:t>例</a:t>
            </a:r>
            <a:r>
              <a:rPr lang="en-US" altLang="zh-CN" sz="3200" dirty="0"/>
              <a:t>4</a:t>
            </a:r>
            <a:r>
              <a:rPr lang="zh-CN" altLang="en-US" sz="3200" dirty="0"/>
              <a:t>-</a:t>
            </a:r>
            <a:r>
              <a:rPr lang="en-US" altLang="zh-CN" sz="3200" dirty="0"/>
              <a:t>8 </a:t>
            </a:r>
            <a:r>
              <a:rPr lang="zh-CN" altLang="en-US" sz="3200" dirty="0"/>
              <a:t>输入一批学生的成绩，求最高分(</a:t>
            </a:r>
            <a:r>
              <a:rPr lang="en-US" altLang="zh-CN" sz="3200" dirty="0"/>
              <a:t>do-while)</a:t>
            </a:r>
          </a:p>
        </p:txBody>
      </p:sp>
      <p:sp>
        <p:nvSpPr>
          <p:cNvPr id="160772" name="Rectangle 4"/>
          <p:cNvSpPr>
            <a:spLocks noChangeArrowheads="1"/>
          </p:cNvSpPr>
          <p:nvPr/>
        </p:nvSpPr>
        <p:spPr bwMode="auto">
          <a:xfrm>
            <a:off x="4067175" y="1260475"/>
            <a:ext cx="4695825" cy="94456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kumimoji="1" lang="en-US" altLang="zh-CN" sz="2400">
                <a:solidFill>
                  <a:schemeClr val="tx1"/>
                </a:solidFill>
              </a:rPr>
              <a:t>Enter marks: </a:t>
            </a:r>
            <a:r>
              <a:rPr kumimoji="1" lang="en-US" altLang="zh-CN" sz="2400">
                <a:solidFill>
                  <a:srgbClr val="CC0066"/>
                </a:solidFill>
                <a:cs typeface="Arial" charset="0"/>
              </a:rPr>
              <a:t>67 88 73 54 82 -1</a:t>
            </a:r>
          </a:p>
          <a:p>
            <a:pPr>
              <a:spcBef>
                <a:spcPct val="30000"/>
              </a:spcBef>
              <a:defRPr/>
            </a:pPr>
            <a:r>
              <a:rPr kumimoji="1" lang="en-US" altLang="zh-CN" sz="2400">
                <a:solidFill>
                  <a:schemeClr val="tx1"/>
                </a:solidFill>
                <a:cs typeface="Arial" charset="0"/>
              </a:rPr>
              <a:t>Max = 88</a:t>
            </a:r>
          </a:p>
        </p:txBody>
      </p:sp>
      <p:sp>
        <p:nvSpPr>
          <p:cNvPr id="160773" name="Rectangle 5"/>
          <p:cNvSpPr>
            <a:spLocks noChangeArrowheads="1"/>
          </p:cNvSpPr>
          <p:nvPr/>
        </p:nvSpPr>
        <p:spPr bwMode="auto">
          <a:xfrm>
            <a:off x="5795963" y="3505200"/>
            <a:ext cx="2814637" cy="94456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kumimoji="1" lang="en-US" altLang="zh-CN" sz="2400">
                <a:solidFill>
                  <a:schemeClr val="tx1"/>
                </a:solidFill>
              </a:rPr>
              <a:t>Enter marks: </a:t>
            </a:r>
            <a:r>
              <a:rPr kumimoji="1" lang="en-US" altLang="zh-CN" sz="2400">
                <a:solidFill>
                  <a:srgbClr val="CC0066"/>
                </a:solidFill>
                <a:cs typeface="Arial Unicode MS" charset="0"/>
              </a:rPr>
              <a:t>-1</a:t>
            </a:r>
          </a:p>
          <a:p>
            <a:pPr>
              <a:spcBef>
                <a:spcPct val="30000"/>
              </a:spcBef>
              <a:defRPr/>
            </a:pPr>
            <a:endParaRPr kumimoji="1" lang="en-US" altLang="zh-CN" sz="2400">
              <a:solidFill>
                <a:srgbClr val="D02CC0"/>
              </a:solidFill>
              <a:cs typeface="Arial Unicode MS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0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0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0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0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2" grpId="0" animBg="1" autoUpdateAnimBg="0"/>
      <p:bldP spid="160773" grpId="0" animBg="1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404664"/>
            <a:ext cx="7272808" cy="823912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zh-CN" altLang="en-US" sz="4000" dirty="0"/>
              <a:t>例</a:t>
            </a:r>
            <a:r>
              <a:rPr lang="en-US" altLang="zh-CN" sz="4000" dirty="0"/>
              <a:t>4-9 Fibonacci</a:t>
            </a:r>
            <a:r>
              <a:rPr lang="zh-CN" altLang="en-US" sz="4000" dirty="0"/>
              <a:t>数列问题</a:t>
            </a:r>
            <a:endParaRPr lang="en-US" altLang="zh-CN" sz="4000" dirty="0"/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80231"/>
            <a:ext cx="8244408" cy="3588929"/>
          </a:xfrm>
        </p:spPr>
        <p:txBody>
          <a:bodyPr/>
          <a:lstStyle/>
          <a:p>
            <a:pPr algn="just">
              <a:buNone/>
              <a:defRPr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输出斐波那契（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Fibonacci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）数列的前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项，每行输出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个。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None/>
              <a:defRPr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任一项数字是前两项的和，最开始两项均为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dirty="0"/>
          </a:p>
          <a:p>
            <a:pPr algn="just">
              <a:buFont typeface="Wingdings" charset="0"/>
              <a:buNone/>
              <a:defRPr/>
            </a:pPr>
            <a:r>
              <a:rPr lang="en-US" altLang="zh-CN" sz="2800" dirty="0"/>
              <a:t>1</a:t>
            </a:r>
            <a:r>
              <a:rPr lang="zh-CN" altLang="en-US" sz="2800" dirty="0"/>
              <a:t>,    </a:t>
            </a:r>
            <a:r>
              <a:rPr lang="en-US" altLang="zh-CN" sz="2800" dirty="0"/>
              <a:t>1</a:t>
            </a:r>
            <a:r>
              <a:rPr lang="zh-CN" altLang="en-US" sz="2800" dirty="0"/>
              <a:t>,   </a:t>
            </a:r>
            <a:r>
              <a:rPr lang="en-US" altLang="zh-CN" sz="2800" dirty="0"/>
              <a:t>2</a:t>
            </a:r>
            <a:r>
              <a:rPr lang="zh-CN" altLang="en-US" sz="2800" dirty="0"/>
              <a:t>,</a:t>
            </a:r>
            <a:r>
              <a:rPr lang="en-US" altLang="zh-CN" sz="2800" dirty="0"/>
              <a:t>   3</a:t>
            </a:r>
            <a:r>
              <a:rPr lang="zh-CN" altLang="en-US" sz="2800" dirty="0"/>
              <a:t>,   </a:t>
            </a:r>
            <a:r>
              <a:rPr lang="en-US" altLang="zh-CN" sz="2800" dirty="0"/>
              <a:t>5</a:t>
            </a:r>
            <a:r>
              <a:rPr lang="zh-CN" altLang="en-US" sz="2800" dirty="0"/>
              <a:t>,  </a:t>
            </a:r>
            <a:r>
              <a:rPr lang="en-US" altLang="zh-CN" sz="2800" dirty="0"/>
              <a:t> 8</a:t>
            </a:r>
            <a:r>
              <a:rPr lang="zh-CN" altLang="en-US" sz="2800" dirty="0"/>
              <a:t>,   </a:t>
            </a:r>
            <a:r>
              <a:rPr lang="en-US" altLang="zh-CN" sz="2800" dirty="0"/>
              <a:t>13, ……</a:t>
            </a:r>
          </a:p>
          <a:p>
            <a:pPr algn="just">
              <a:buFont typeface="Wingdings" charset="0"/>
              <a:buNone/>
              <a:defRPr/>
            </a:pPr>
            <a:r>
              <a:rPr lang="en-US" altLang="zh-CN" sz="2800" dirty="0"/>
              <a:t>x1  x2   x</a:t>
            </a:r>
          </a:p>
          <a:p>
            <a:pPr algn="just">
              <a:buFont typeface="Wingdings" charset="0"/>
              <a:buNone/>
              <a:defRPr/>
            </a:pPr>
            <a:r>
              <a:rPr lang="zh-CN" altLang="en-US" sz="2800" dirty="0"/>
              <a:t>      </a:t>
            </a:r>
            <a:r>
              <a:rPr lang="en-US" altLang="zh-CN" sz="2800" dirty="0"/>
              <a:t>x1  x2   x</a:t>
            </a:r>
          </a:p>
        </p:txBody>
      </p:sp>
      <p:sp>
        <p:nvSpPr>
          <p:cNvPr id="174086" name="Rectangle 6"/>
          <p:cNvSpPr>
            <a:spLocks noChangeArrowheads="1"/>
          </p:cNvSpPr>
          <p:nvPr/>
        </p:nvSpPr>
        <p:spPr bwMode="auto">
          <a:xfrm>
            <a:off x="4932040" y="4077072"/>
            <a:ext cx="3456384" cy="1972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42900" indent="-342900" algn="just">
              <a:spcBef>
                <a:spcPct val="5000"/>
              </a:spcBef>
              <a:defRPr/>
            </a:pPr>
            <a:r>
              <a:rPr kumimoji="1" lang="en-US" altLang="zh-CN" sz="2800" dirty="0">
                <a:solidFill>
                  <a:schemeClr val="tx1"/>
                </a:solidFill>
              </a:rPr>
              <a:t>x1</a:t>
            </a:r>
            <a:r>
              <a:rPr kumimoji="1" lang="zh-CN" altLang="en-US" sz="2800" dirty="0">
                <a:solidFill>
                  <a:schemeClr val="tx1"/>
                </a:solidFill>
              </a:rPr>
              <a:t> = </a:t>
            </a:r>
            <a:r>
              <a:rPr kumimoji="1" lang="en-US" altLang="zh-CN" sz="2800" dirty="0">
                <a:solidFill>
                  <a:schemeClr val="tx1"/>
                </a:solidFill>
              </a:rPr>
              <a:t>x2 = 1;</a:t>
            </a:r>
          </a:p>
          <a:p>
            <a:pPr marL="342900" indent="-342900" algn="just">
              <a:spcBef>
                <a:spcPct val="5000"/>
              </a:spcBef>
              <a:defRPr/>
            </a:pPr>
            <a:r>
              <a:rPr kumimoji="1" lang="en-US" altLang="zh-CN" sz="2800" dirty="0">
                <a:solidFill>
                  <a:schemeClr val="tx1"/>
                </a:solidFill>
              </a:rPr>
              <a:t>x = x1 + x2;</a:t>
            </a:r>
          </a:p>
          <a:p>
            <a:pPr marL="342900" indent="-342900" algn="just">
              <a:spcBef>
                <a:spcPct val="5000"/>
              </a:spcBef>
              <a:defRPr/>
            </a:pPr>
            <a:r>
              <a:rPr kumimoji="1" lang="en-US" altLang="zh-CN" sz="2800" dirty="0">
                <a:solidFill>
                  <a:schemeClr val="tx1"/>
                </a:solidFill>
              </a:rPr>
              <a:t>x1 = x2;</a:t>
            </a:r>
          </a:p>
          <a:p>
            <a:pPr marL="342900" indent="-342900" algn="just">
              <a:spcBef>
                <a:spcPct val="5000"/>
              </a:spcBef>
              <a:defRPr/>
            </a:pPr>
            <a:r>
              <a:rPr kumimoji="1" lang="en-US" altLang="zh-CN" sz="2800" dirty="0">
                <a:solidFill>
                  <a:schemeClr val="tx1"/>
                </a:solidFill>
              </a:rPr>
              <a:t>x2</a:t>
            </a:r>
            <a:r>
              <a:rPr kumimoji="1" lang="zh-CN" altLang="en-US" sz="2800" dirty="0">
                <a:solidFill>
                  <a:schemeClr val="tx1"/>
                </a:solidFill>
              </a:rPr>
              <a:t> = </a:t>
            </a:r>
            <a:r>
              <a:rPr kumimoji="1" lang="en-US" altLang="zh-CN" sz="2800" dirty="0">
                <a:solidFill>
                  <a:schemeClr val="tx1"/>
                </a:solidFill>
              </a:rPr>
              <a:t>x;</a:t>
            </a:r>
            <a:endParaRPr kumimoji="1" lang="zh-CN" sz="2800" dirty="0">
              <a:solidFill>
                <a:schemeClr val="tx1"/>
              </a:solidFill>
            </a:endParaRP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xmlns="" id="{BB818A08-68B4-47A7-B85A-CD101822ACF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-145970"/>
            <a:ext cx="8244408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输入正整数</a:t>
            </a: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xmlns="" id="{1CB5741E-1CC1-4A66-AB90-F9EC5457D2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-91439"/>
          <a:ext cx="566803" cy="457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29" r:id="rId3" imgW="621760" imgH="177646" progId="Equation.DSMT4">
                  <p:embed/>
                </p:oleObj>
              </mc:Choice>
              <mc:Fallback>
                <p:oleObj r:id="rId3" imgW="621760" imgH="177646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xmlns="" id="{1CB5741E-1CC1-4A66-AB90-F9EC5457D2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-91439"/>
                        <a:ext cx="566803" cy="457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998655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40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40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40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40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40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40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40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40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3" grpId="0" uiExpand="1" build="p" bldLvl="2" autoUpdateAnimBg="0"/>
      <p:bldP spid="174086" grpId="0" build="p" bldLvl="2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25005" y="260350"/>
            <a:ext cx="8028384" cy="823912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zh-CN" altLang="en-US" sz="4000" dirty="0"/>
              <a:t>例</a:t>
            </a:r>
            <a:r>
              <a:rPr lang="en-US" altLang="zh-CN" sz="4000" dirty="0"/>
              <a:t>4-9 </a:t>
            </a:r>
            <a:r>
              <a:rPr lang="zh-CN" altLang="en-US" sz="4000" dirty="0"/>
              <a:t>源程序段</a:t>
            </a:r>
            <a:r>
              <a:rPr lang="en-US" altLang="zh-CN" sz="4000" dirty="0"/>
              <a:t>-</a:t>
            </a:r>
            <a:r>
              <a:rPr lang="zh-CN" altLang="en-US" sz="4000" dirty="0"/>
              <a:t>求</a:t>
            </a:r>
            <a:r>
              <a:rPr lang="en-US" altLang="zh-CN" sz="4000" dirty="0"/>
              <a:t>Fibonacci</a:t>
            </a:r>
            <a:r>
              <a:rPr lang="zh-CN" altLang="en-US" sz="4000" dirty="0"/>
              <a:t>数列</a:t>
            </a:r>
            <a:endParaRPr lang="en-US" altLang="zh-CN" sz="4000" dirty="0"/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5516" y="1024295"/>
            <a:ext cx="8676964" cy="5789081"/>
          </a:xfr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dirty="0" err="1"/>
              <a:t>printf</a:t>
            </a:r>
            <a:r>
              <a:rPr lang="en-US" altLang="zh-CN" sz="2400" dirty="0"/>
              <a:t>("Enter n: ");       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 ("%d", &amp;n);</a:t>
            </a:r>
            <a:endParaRPr lang="zh-CN" altLang="zh-CN" sz="2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dirty="0"/>
              <a:t>if(n &lt; 1 || n &gt; 46) 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("Invalid.\n");</a:t>
            </a:r>
            <a:endParaRPr lang="zh-CN" altLang="zh-CN" sz="2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dirty="0"/>
              <a:t>else if (n == 1) 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 ("%10d", 1);         /* </a:t>
            </a:r>
            <a:r>
              <a:rPr lang="zh-CN" altLang="zh-CN" sz="2400" dirty="0"/>
              <a:t>输出第</a:t>
            </a:r>
            <a:r>
              <a:rPr lang="en-US" altLang="zh-CN" sz="2400" dirty="0"/>
              <a:t>1</a:t>
            </a:r>
            <a:r>
              <a:rPr lang="zh-CN" altLang="zh-CN" sz="2400" dirty="0"/>
              <a:t>项</a:t>
            </a:r>
            <a:r>
              <a:rPr lang="en-US" altLang="zh-CN" sz="2400" dirty="0"/>
              <a:t> */</a:t>
            </a:r>
            <a:endParaRPr lang="zh-CN" altLang="zh-CN" sz="2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dirty="0"/>
              <a:t>else{</a:t>
            </a:r>
            <a:endParaRPr lang="zh-CN" altLang="zh-CN" sz="2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dirty="0"/>
              <a:t>        x1 = 1; x2 = 1;                                  /* </a:t>
            </a:r>
            <a:r>
              <a:rPr lang="zh-CN" altLang="zh-CN" sz="2400" dirty="0"/>
              <a:t>头两项都是</a:t>
            </a:r>
            <a:r>
              <a:rPr lang="en-US" altLang="zh-CN" sz="2400" dirty="0"/>
              <a:t>1 */</a:t>
            </a:r>
            <a:endParaRPr lang="zh-CN" altLang="zh-CN" sz="2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dirty="0"/>
              <a:t>       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 ("%10d%10d", x1, x2);	 /* </a:t>
            </a:r>
            <a:r>
              <a:rPr lang="zh-CN" altLang="zh-CN" sz="2400" dirty="0"/>
              <a:t>先输出头两项</a:t>
            </a:r>
            <a:r>
              <a:rPr lang="en-US" altLang="zh-CN" sz="2400" dirty="0"/>
              <a:t> */</a:t>
            </a:r>
            <a:endParaRPr lang="zh-CN" altLang="zh-CN" sz="2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dirty="0"/>
              <a:t>        for 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= 3;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&lt;= n;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++) {     	/* </a:t>
            </a:r>
            <a:r>
              <a:rPr lang="zh-CN" altLang="zh-CN" sz="2400" dirty="0"/>
              <a:t>循环输出后</a:t>
            </a:r>
            <a:r>
              <a:rPr lang="en-US" altLang="zh-CN" sz="2400" dirty="0"/>
              <a:t>n-2</a:t>
            </a:r>
            <a:r>
              <a:rPr lang="zh-CN" altLang="zh-CN" sz="2400" dirty="0"/>
              <a:t>项</a:t>
            </a:r>
            <a:r>
              <a:rPr lang="en-US" altLang="zh-CN" sz="2400" dirty="0"/>
              <a:t> */</a:t>
            </a:r>
            <a:endParaRPr lang="zh-CN" altLang="zh-CN" sz="2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dirty="0"/>
              <a:t>             x = x1 + x2;               	/* </a:t>
            </a:r>
            <a:r>
              <a:rPr lang="zh-CN" altLang="zh-CN" sz="2400" dirty="0"/>
              <a:t>计算新项</a:t>
            </a:r>
            <a:r>
              <a:rPr lang="en-US" altLang="zh-CN" sz="2400" dirty="0"/>
              <a:t> */</a:t>
            </a:r>
            <a:endParaRPr lang="zh-CN" altLang="zh-CN" sz="2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dirty="0"/>
              <a:t>            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("%10d", x); </a:t>
            </a:r>
            <a:endParaRPr lang="zh-CN" altLang="zh-CN" sz="2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dirty="0"/>
              <a:t>             if(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% 5 == 0)   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("\n"); </a:t>
            </a:r>
            <a:endParaRPr lang="zh-CN" altLang="zh-CN" sz="2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dirty="0"/>
              <a:t>             x1 = x2;       x2 = x;    </a:t>
            </a:r>
            <a:endParaRPr lang="zh-CN" altLang="zh-CN" sz="2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dirty="0"/>
              <a:t>   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dirty="0"/>
              <a:t>}</a:t>
            </a:r>
            <a:endParaRPr lang="zh-CN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596892450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60960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zh-CN" altLang="en-US" sz="4000" dirty="0"/>
              <a:t>例</a:t>
            </a:r>
            <a:r>
              <a:rPr lang="en-US" altLang="zh-CN" sz="4000" dirty="0"/>
              <a:t>4</a:t>
            </a:r>
            <a:r>
              <a:rPr lang="zh-CN" altLang="en-US" sz="4000" dirty="0"/>
              <a:t>-</a:t>
            </a:r>
            <a:r>
              <a:rPr lang="en-US" altLang="zh-CN" sz="4000" dirty="0"/>
              <a:t>10 </a:t>
            </a:r>
            <a:r>
              <a:rPr lang="zh-CN" altLang="en-US" sz="4000" dirty="0"/>
              <a:t>素数问题</a:t>
            </a: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9532" y="1052736"/>
            <a:ext cx="8424936" cy="4032448"/>
          </a:xfrm>
        </p:spPr>
        <p:txBody>
          <a:bodyPr/>
          <a:lstStyle/>
          <a:p>
            <a:pPr algn="just">
              <a:lnSpc>
                <a:spcPct val="90000"/>
              </a:lnSpc>
              <a:buNone/>
              <a:defRPr/>
            </a:pPr>
            <a:r>
              <a:rPr lang="zh-CN" altLang="zh-CN" dirty="0"/>
              <a:t>输入</a:t>
            </a:r>
            <a:r>
              <a:rPr lang="en-US" altLang="zh-CN" dirty="0"/>
              <a:t>2</a:t>
            </a:r>
            <a:r>
              <a:rPr lang="zh-CN" altLang="zh-CN" dirty="0"/>
              <a:t>个正整数</a:t>
            </a:r>
            <a:r>
              <a:rPr lang="en-US" altLang="zh-CN" dirty="0"/>
              <a:t>m</a:t>
            </a:r>
            <a:r>
              <a:rPr lang="zh-CN" altLang="zh-CN" dirty="0"/>
              <a:t>和</a:t>
            </a:r>
            <a:r>
              <a:rPr lang="en-US" altLang="zh-CN" dirty="0"/>
              <a:t>n</a:t>
            </a:r>
            <a:r>
              <a:rPr lang="zh-CN" altLang="en-US" dirty="0"/>
              <a:t>（</a:t>
            </a:r>
            <a:r>
              <a:rPr lang="en-US" altLang="zh-CN" dirty="0"/>
              <a:t>1&lt;=m&lt;=n&lt;=500</a:t>
            </a:r>
            <a:r>
              <a:rPr lang="zh-CN" altLang="en-US" dirty="0"/>
              <a:t>），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输出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之间的全部素数，每行输出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  <a:buNone/>
              <a:defRPr/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素数就是只能被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和自身整除的正整数，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不是素数，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是素数。</a:t>
            </a:r>
            <a:r>
              <a:rPr lang="zh-CN" altLang="en-US" sz="3200" dirty="0"/>
              <a:t> 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algn="just">
              <a:lnSpc>
                <a:spcPct val="90000"/>
              </a:lnSpc>
              <a:buFont typeface="Wingdings" charset="0"/>
              <a:buNone/>
              <a:defRPr/>
            </a:pPr>
            <a:endParaRPr lang="en-US" altLang="zh-CN" dirty="0"/>
          </a:p>
          <a:p>
            <a:pPr algn="just">
              <a:lnSpc>
                <a:spcPct val="90000"/>
              </a:lnSpc>
              <a:buFont typeface="Wingdings" charset="0"/>
              <a:buNone/>
              <a:defRPr/>
            </a:pPr>
            <a:r>
              <a:rPr lang="en-US" altLang="zh-CN" dirty="0"/>
              <a:t>for (k = m; k &lt;= n; k++)</a:t>
            </a:r>
          </a:p>
          <a:p>
            <a:pPr algn="just">
              <a:lnSpc>
                <a:spcPct val="90000"/>
              </a:lnSpc>
              <a:buFont typeface="Wingdings" charset="0"/>
              <a:buNone/>
              <a:defRPr/>
            </a:pPr>
            <a:r>
              <a:rPr lang="en-US" altLang="zh-CN" dirty="0"/>
              <a:t>    if (</a:t>
            </a:r>
            <a:r>
              <a:rPr lang="en-US" altLang="zh-CN" dirty="0">
                <a:solidFill>
                  <a:srgbClr val="CC0066"/>
                </a:solidFill>
              </a:rPr>
              <a:t>k</a:t>
            </a:r>
            <a:r>
              <a:rPr lang="zh-CN" altLang="en-US" dirty="0">
                <a:solidFill>
                  <a:srgbClr val="CC0066"/>
                </a:solidFill>
              </a:rPr>
              <a:t>是素数</a:t>
            </a:r>
            <a:r>
              <a:rPr lang="zh-CN" altLang="en-US" dirty="0"/>
              <a:t>)  </a:t>
            </a:r>
            <a:r>
              <a:rPr lang="en-US" altLang="zh-CN" dirty="0" err="1"/>
              <a:t>printf</a:t>
            </a:r>
            <a:r>
              <a:rPr lang="en-US" altLang="zh-CN" dirty="0"/>
              <a:t>( "%d", k);</a:t>
            </a:r>
            <a:endParaRPr lang="zh-CN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1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932040" y="299119"/>
            <a:ext cx="3707904" cy="60960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zh-CN" altLang="en-US" sz="3200" dirty="0"/>
              <a:t>例</a:t>
            </a:r>
            <a:r>
              <a:rPr lang="en-US" altLang="zh-CN" sz="3200" dirty="0"/>
              <a:t>4</a:t>
            </a:r>
            <a:r>
              <a:rPr lang="zh-CN" altLang="en-US" sz="3200" dirty="0"/>
              <a:t>-</a:t>
            </a:r>
            <a:r>
              <a:rPr lang="en-US" altLang="zh-CN" sz="3200" dirty="0"/>
              <a:t>10 </a:t>
            </a:r>
            <a:r>
              <a:rPr lang="zh-CN" altLang="en-US" sz="3200" dirty="0"/>
              <a:t>素数问题</a:t>
            </a: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04" y="548825"/>
            <a:ext cx="3979717" cy="752905"/>
          </a:xfrm>
          <a:ln>
            <a:solidFill>
              <a:schemeClr val="tx1"/>
            </a:solidFill>
          </a:ln>
        </p:spPr>
        <p:txBody>
          <a:bodyPr/>
          <a:lstStyle/>
          <a:p>
            <a:pPr algn="just">
              <a:lnSpc>
                <a:spcPct val="90000"/>
              </a:lnSpc>
              <a:buNone/>
              <a:defRPr/>
            </a:pPr>
            <a:r>
              <a:rPr lang="en-US" altLang="zh-CN" sz="2000" dirty="0"/>
              <a:t>for (k = m; k &lt;= n; k++)</a:t>
            </a:r>
          </a:p>
          <a:p>
            <a:pPr algn="just">
              <a:lnSpc>
                <a:spcPct val="90000"/>
              </a:lnSpc>
              <a:buNone/>
              <a:defRPr/>
            </a:pPr>
            <a:r>
              <a:rPr lang="en-US" altLang="zh-CN" sz="2000" dirty="0"/>
              <a:t>    if (</a:t>
            </a:r>
            <a:r>
              <a:rPr lang="en-US" altLang="zh-CN" sz="2000" dirty="0">
                <a:solidFill>
                  <a:srgbClr val="CC0066"/>
                </a:solidFill>
              </a:rPr>
              <a:t>k</a:t>
            </a:r>
            <a:r>
              <a:rPr lang="zh-CN" altLang="en-US" sz="2000" dirty="0">
                <a:solidFill>
                  <a:srgbClr val="CC0066"/>
                </a:solidFill>
              </a:rPr>
              <a:t>是素数</a:t>
            </a:r>
            <a:r>
              <a:rPr lang="zh-CN" altLang="en-US" sz="2000" dirty="0"/>
              <a:t>) 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 "%d", k);</a:t>
            </a:r>
            <a:endParaRPr lang="zh-CN" sz="2000" dirty="0"/>
          </a:p>
        </p:txBody>
      </p:sp>
      <p:sp>
        <p:nvSpPr>
          <p:cNvPr id="165898" name="Rectangle 10"/>
          <p:cNvSpPr>
            <a:spLocks noChangeArrowheads="1"/>
          </p:cNvSpPr>
          <p:nvPr/>
        </p:nvSpPr>
        <p:spPr bwMode="auto">
          <a:xfrm>
            <a:off x="4308585" y="925278"/>
            <a:ext cx="4835415" cy="5805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42900" indent="-342900" algn="just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lang="en-US" altLang="zh-CN" sz="2400" dirty="0" err="1">
                <a:solidFill>
                  <a:schemeClr val="tx1"/>
                </a:solidFill>
              </a:rPr>
              <a:t>scanf</a:t>
            </a:r>
            <a:r>
              <a:rPr lang="en-US" altLang="zh-CN" sz="2400" dirty="0">
                <a:solidFill>
                  <a:schemeClr val="tx1"/>
                </a:solidFill>
              </a:rPr>
              <a:t> ("%</a:t>
            </a:r>
            <a:r>
              <a:rPr lang="en-US" altLang="zh-CN" sz="2400" dirty="0" err="1">
                <a:solidFill>
                  <a:schemeClr val="tx1"/>
                </a:solidFill>
              </a:rPr>
              <a:t>d%d</a:t>
            </a:r>
            <a:r>
              <a:rPr lang="en-US" altLang="zh-CN" sz="2400" dirty="0">
                <a:solidFill>
                  <a:schemeClr val="tx1"/>
                </a:solidFill>
              </a:rPr>
              <a:t>", &amp;m, &amp;n);</a:t>
            </a:r>
          </a:p>
          <a:p>
            <a:r>
              <a:rPr lang="en-US" altLang="zh-CN" sz="2400" dirty="0">
                <a:solidFill>
                  <a:schemeClr val="tx1"/>
                </a:solidFill>
              </a:rPr>
              <a:t>if(m &lt; 1 || n &gt; 500 || m &gt; n){</a:t>
            </a:r>
            <a:endParaRPr lang="zh-CN" altLang="zh-CN" sz="2400" dirty="0">
              <a:solidFill>
                <a:schemeClr val="tx1"/>
              </a:solidFill>
            </a:endParaRPr>
          </a:p>
          <a:p>
            <a:r>
              <a:rPr lang="en-US" altLang="zh-CN" sz="2400" dirty="0">
                <a:solidFill>
                  <a:schemeClr val="tx1"/>
                </a:solidFill>
              </a:rPr>
              <a:t>     </a:t>
            </a:r>
            <a:r>
              <a:rPr lang="en-US" altLang="zh-CN" sz="2400" dirty="0" err="1">
                <a:solidFill>
                  <a:schemeClr val="tx1"/>
                </a:solidFill>
              </a:rPr>
              <a:t>printf</a:t>
            </a:r>
            <a:r>
              <a:rPr lang="en-US" altLang="zh-CN" sz="2400" dirty="0">
                <a:solidFill>
                  <a:schemeClr val="tx1"/>
                </a:solidFill>
              </a:rPr>
              <a:t>("Invalid.\n");</a:t>
            </a:r>
            <a:endParaRPr lang="zh-CN" altLang="zh-CN" sz="2400" dirty="0">
              <a:solidFill>
                <a:schemeClr val="tx1"/>
              </a:solidFill>
            </a:endParaRPr>
          </a:p>
          <a:p>
            <a:r>
              <a:rPr lang="en-US" altLang="zh-CN" sz="2400" dirty="0">
                <a:solidFill>
                  <a:schemeClr val="tx1"/>
                </a:solidFill>
              </a:rPr>
              <a:t>}else{</a:t>
            </a:r>
            <a:endParaRPr lang="zh-CN" altLang="zh-CN" sz="2400" dirty="0">
              <a:solidFill>
                <a:schemeClr val="tx1"/>
              </a:solidFill>
            </a:endParaRPr>
          </a:p>
          <a:p>
            <a:pPr marL="342900" indent="-342900" algn="just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   for ( k = m; k &lt;= n; k++ ){</a:t>
            </a:r>
          </a:p>
          <a:p>
            <a:pPr marL="342900" indent="-342900" algn="just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       /*</a:t>
            </a:r>
            <a:r>
              <a:rPr lang="zh-CN" altLang="en-US" sz="2400" dirty="0">
                <a:solidFill>
                  <a:srgbClr val="CC0066"/>
                </a:solidFill>
              </a:rPr>
              <a:t>判断</a:t>
            </a:r>
            <a:r>
              <a:rPr lang="en-US" altLang="zh-CN" sz="2400" dirty="0">
                <a:solidFill>
                  <a:srgbClr val="CC0066"/>
                </a:solidFill>
              </a:rPr>
              <a:t>k</a:t>
            </a:r>
            <a:r>
              <a:rPr lang="zh-CN" altLang="en-US" sz="2400" dirty="0">
                <a:solidFill>
                  <a:srgbClr val="CC0066"/>
                </a:solidFill>
              </a:rPr>
              <a:t>是否为素数的程序段</a:t>
            </a:r>
            <a:r>
              <a:rPr lang="en-US" altLang="zh-CN" sz="2400" dirty="0">
                <a:solidFill>
                  <a:srgbClr val="CC0066"/>
                </a:solidFill>
              </a:rPr>
              <a:t>*/</a:t>
            </a:r>
          </a:p>
          <a:p>
            <a:pPr marL="342900" indent="-342900" algn="just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       if (</a:t>
            </a:r>
            <a:r>
              <a:rPr lang="en-US" altLang="zh-CN" sz="2400" dirty="0">
                <a:solidFill>
                  <a:srgbClr val="CC0066"/>
                </a:solidFill>
              </a:rPr>
              <a:t>flag == 1</a:t>
            </a:r>
            <a:r>
              <a:rPr lang="en-US" altLang="zh-CN" sz="2400" dirty="0">
                <a:solidFill>
                  <a:schemeClr val="tx1"/>
                </a:solidFill>
              </a:rPr>
              <a:t>) {</a:t>
            </a:r>
          </a:p>
          <a:p>
            <a:pPr marL="342900" indent="-342900" algn="just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           </a:t>
            </a:r>
            <a:r>
              <a:rPr lang="en-US" altLang="zh-CN" sz="2400" dirty="0" err="1">
                <a:solidFill>
                  <a:schemeClr val="tx1"/>
                </a:solidFill>
              </a:rPr>
              <a:t>printf</a:t>
            </a:r>
            <a:r>
              <a:rPr lang="en-US" altLang="zh-CN" sz="2400" dirty="0">
                <a:solidFill>
                  <a:schemeClr val="tx1"/>
                </a:solidFill>
              </a:rPr>
              <a:t>("%6d", k);</a:t>
            </a:r>
          </a:p>
          <a:p>
            <a:pPr marL="342900" indent="-342900" algn="just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           count</a:t>
            </a:r>
            <a:r>
              <a:rPr lang="en-US" altLang="zh-CN" sz="2400" dirty="0" smtClean="0">
                <a:solidFill>
                  <a:schemeClr val="tx1"/>
                </a:solidFill>
              </a:rPr>
              <a:t>++;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342900" indent="-342900" algn="just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           if(count % 10 == 0)</a:t>
            </a:r>
          </a:p>
          <a:p>
            <a:pPr marL="342900" indent="-342900" algn="just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                </a:t>
            </a:r>
            <a:r>
              <a:rPr lang="en-US" altLang="zh-CN" sz="2400" dirty="0" err="1">
                <a:solidFill>
                  <a:schemeClr val="tx1"/>
                </a:solidFill>
              </a:rPr>
              <a:t>printf</a:t>
            </a:r>
            <a:r>
              <a:rPr lang="en-US" altLang="zh-CN" sz="2400" dirty="0">
                <a:solidFill>
                  <a:schemeClr val="tx1"/>
                </a:solidFill>
              </a:rPr>
              <a:t>("\n");</a:t>
            </a:r>
          </a:p>
          <a:p>
            <a:pPr marL="342900" indent="-342900" algn="just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        }</a:t>
            </a:r>
          </a:p>
          <a:p>
            <a:pPr marL="342900" indent="-342900" algn="just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   }</a:t>
            </a:r>
          </a:p>
          <a:p>
            <a:pPr marL="342900" indent="-342900" algn="just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xmlns="" id="{B9D31590-B46D-4858-BD20-820AB3B32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146" y="1484784"/>
            <a:ext cx="3888432" cy="494218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charset="0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charset="0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charset="0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0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87325" indent="-187325" algn="just">
              <a:lnSpc>
                <a:spcPct val="11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dirty="0"/>
              <a:t>if (k &lt;= 1)</a:t>
            </a:r>
            <a:r>
              <a:rPr lang="en-US" altLang="zh-CN" sz="2400" dirty="0">
                <a:solidFill>
                  <a:srgbClr val="CC0066"/>
                </a:solidFill>
              </a:rPr>
              <a:t> flag = 0</a:t>
            </a:r>
            <a:r>
              <a:rPr lang="en-US" altLang="zh-CN" sz="2400" dirty="0"/>
              <a:t>;</a:t>
            </a:r>
          </a:p>
          <a:p>
            <a:pPr marL="187325" indent="-187325" algn="just">
              <a:lnSpc>
                <a:spcPct val="11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dirty="0"/>
              <a:t>else if (k == 2)  </a:t>
            </a:r>
            <a:r>
              <a:rPr lang="en-US" altLang="zh-CN" sz="2400" dirty="0">
                <a:solidFill>
                  <a:srgbClr val="CC0066"/>
                </a:solidFill>
              </a:rPr>
              <a:t>flag = 1</a:t>
            </a:r>
            <a:r>
              <a:rPr lang="en-US" altLang="zh-CN" sz="2400" dirty="0"/>
              <a:t>;</a:t>
            </a:r>
          </a:p>
          <a:p>
            <a:pPr marL="187325" indent="-187325" algn="just">
              <a:lnSpc>
                <a:spcPct val="11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dirty="0"/>
              <a:t>else{</a:t>
            </a:r>
          </a:p>
          <a:p>
            <a:pPr marL="187325" indent="-187325" algn="just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/>
              <a:t>    </a:t>
            </a:r>
            <a:r>
              <a:rPr lang="en-US" altLang="zh-CN" sz="2400" dirty="0">
                <a:solidFill>
                  <a:srgbClr val="CC0066"/>
                </a:solidFill>
              </a:rPr>
              <a:t>flag = 1</a:t>
            </a:r>
            <a:r>
              <a:rPr lang="en-US" altLang="zh-CN" sz="2400" dirty="0"/>
              <a:t>;</a:t>
            </a:r>
          </a:p>
          <a:p>
            <a:pPr marL="187325" indent="-187325" algn="just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/>
              <a:t>    limit = sqrt(k) + 1;</a:t>
            </a:r>
          </a:p>
          <a:p>
            <a:pPr marL="187325" indent="-187325" algn="just">
              <a:lnSpc>
                <a:spcPct val="11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dirty="0"/>
              <a:t>    for 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= 2; </a:t>
            </a:r>
            <a:r>
              <a:rPr lang="en-US" altLang="zh-CN" sz="2400" dirty="0" err="1">
                <a:solidFill>
                  <a:schemeClr val="bg2"/>
                </a:solidFill>
              </a:rPr>
              <a:t>i</a:t>
            </a:r>
            <a:r>
              <a:rPr lang="en-US" altLang="zh-CN" sz="2400" dirty="0">
                <a:solidFill>
                  <a:schemeClr val="bg2"/>
                </a:solidFill>
              </a:rPr>
              <a:t> &lt;= limit</a:t>
            </a:r>
            <a:r>
              <a:rPr lang="en-US" altLang="zh-CN" sz="2400" dirty="0"/>
              <a:t>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++)</a:t>
            </a:r>
            <a:endParaRPr lang="zh-CN" altLang="en-US" sz="2400" dirty="0"/>
          </a:p>
          <a:p>
            <a:pPr marL="187325" indent="-187325" algn="just">
              <a:lnSpc>
                <a:spcPct val="11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zh-CN" altLang="en-US" sz="2400" dirty="0"/>
              <a:t>         </a:t>
            </a:r>
            <a:r>
              <a:rPr lang="en-US" altLang="zh-CN" sz="2400" dirty="0">
                <a:solidFill>
                  <a:srgbClr val="CC0066"/>
                </a:solidFill>
              </a:rPr>
              <a:t>if (k % i == 0){</a:t>
            </a:r>
          </a:p>
          <a:p>
            <a:pPr marL="187325" indent="-187325" algn="just">
              <a:lnSpc>
                <a:spcPct val="11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dirty="0">
                <a:solidFill>
                  <a:srgbClr val="CC0066"/>
                </a:solidFill>
              </a:rPr>
              <a:t>             flag = 0;</a:t>
            </a:r>
          </a:p>
          <a:p>
            <a:pPr marL="187325" indent="-187325" algn="just">
              <a:lnSpc>
                <a:spcPct val="11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dirty="0">
                <a:solidFill>
                  <a:srgbClr val="CC0066"/>
                </a:solidFill>
              </a:rPr>
              <a:t>             break;  </a:t>
            </a:r>
          </a:p>
          <a:p>
            <a:pPr marL="187325" indent="-187325" algn="just">
              <a:lnSpc>
                <a:spcPct val="11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dirty="0">
                <a:solidFill>
                  <a:srgbClr val="CC0066"/>
                </a:solidFill>
              </a:rPr>
              <a:t>         }</a:t>
            </a:r>
          </a:p>
          <a:p>
            <a:pPr marL="187325" indent="-187325" algn="just">
              <a:lnSpc>
                <a:spcPct val="11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altLang="zh-CN" sz="2400" dirty="0"/>
              <a:t>}</a:t>
            </a:r>
          </a:p>
          <a:p>
            <a:pPr marL="187325" indent="-187325" algn="just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/>
              <a:t>if (</a:t>
            </a:r>
            <a:r>
              <a:rPr lang="en-US" altLang="zh-CN" sz="2400" dirty="0">
                <a:solidFill>
                  <a:srgbClr val="CC0066"/>
                </a:solidFill>
              </a:rPr>
              <a:t>flag == 1</a:t>
            </a:r>
            <a:r>
              <a:rPr lang="en-US" altLang="zh-CN" sz="2400" dirty="0"/>
              <a:t>)  /</a:t>
            </a:r>
            <a:r>
              <a:rPr lang="zh-CN" altLang="en-US" sz="2400" dirty="0"/>
              <a:t>*</a:t>
            </a:r>
            <a:r>
              <a:rPr lang="en-US" altLang="zh-CN" sz="2400" dirty="0">
                <a:solidFill>
                  <a:srgbClr val="CC0066"/>
                </a:solidFill>
              </a:rPr>
              <a:t>k</a:t>
            </a:r>
            <a:r>
              <a:rPr lang="zh-CN" altLang="en-US" sz="2400" dirty="0">
                <a:solidFill>
                  <a:srgbClr val="CC0066"/>
                </a:solidFill>
              </a:rPr>
              <a:t>是素数</a:t>
            </a:r>
            <a:r>
              <a:rPr lang="zh-CN" altLang="en-US" sz="2400" dirty="0"/>
              <a:t>*</a:t>
            </a:r>
            <a:r>
              <a:rPr lang="en-US" altLang="zh-CN" sz="24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41332615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5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5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8" grpId="0"/>
      <p:bldP spid="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>
          <a:xfrm>
            <a:off x="5364088" y="116632"/>
            <a:ext cx="3779912" cy="60960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zh-CN" altLang="en-US" sz="3600" dirty="0"/>
              <a:t>例4-</a:t>
            </a:r>
            <a:r>
              <a:rPr lang="en-US" altLang="zh-CN" sz="3600" dirty="0"/>
              <a:t>10  </a:t>
            </a:r>
            <a:r>
              <a:rPr lang="zh-CN" altLang="en-US" sz="3600" dirty="0"/>
              <a:t>源程序段</a:t>
            </a:r>
            <a:endParaRPr lang="zh-CN" altLang="en-US" dirty="0"/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045" y="-7360"/>
            <a:ext cx="8712968" cy="6858000"/>
          </a:xfr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 err="1"/>
              <a:t>printf</a:t>
            </a:r>
            <a:r>
              <a:rPr lang="en-US" altLang="zh-CN" sz="1800" dirty="0"/>
              <a:t>("Enter m n: ");  </a:t>
            </a:r>
            <a:r>
              <a:rPr lang="en-US" altLang="zh-CN" sz="1800" dirty="0" err="1"/>
              <a:t>scanf</a:t>
            </a:r>
            <a:r>
              <a:rPr lang="en-US" altLang="zh-CN" sz="1800" dirty="0"/>
              <a:t> ("%</a:t>
            </a:r>
            <a:r>
              <a:rPr lang="en-US" altLang="zh-CN" sz="1800" dirty="0" err="1"/>
              <a:t>d%d</a:t>
            </a:r>
            <a:r>
              <a:rPr lang="en-US" altLang="zh-CN" sz="1800" dirty="0"/>
              <a:t>", &amp;m, &amp;n);</a:t>
            </a:r>
            <a:endParaRPr lang="zh-CN" altLang="zh-CN" sz="18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/>
              <a:t>if(m &lt; 1 || n &gt; 500 || m &gt; n)  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("Invalid.\n");</a:t>
            </a:r>
            <a:endParaRPr lang="zh-CN" altLang="zh-CN" sz="18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/>
              <a:t>else{</a:t>
            </a:r>
            <a:endParaRPr lang="zh-CN" altLang="zh-CN" sz="18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/>
              <a:t>      for(k = m; k &lt;= n; k++){</a:t>
            </a:r>
            <a:endParaRPr lang="zh-CN" altLang="zh-CN" sz="18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/>
              <a:t>          </a:t>
            </a:r>
            <a:r>
              <a:rPr lang="en-US" altLang="zh-CN" sz="1800" dirty="0">
                <a:solidFill>
                  <a:schemeClr val="bg2"/>
                </a:solidFill>
              </a:rPr>
              <a:t> if (k &lt;= 1) flag = 0; </a:t>
            </a:r>
            <a:endParaRPr lang="zh-CN" altLang="zh-CN" sz="1800" dirty="0">
              <a:solidFill>
                <a:schemeClr val="bg2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chemeClr val="bg2"/>
                </a:solidFill>
              </a:rPr>
              <a:t>           else if (k == 2) flag = 1;</a:t>
            </a:r>
            <a:endParaRPr lang="zh-CN" altLang="zh-CN" sz="1800" dirty="0">
              <a:solidFill>
                <a:schemeClr val="bg2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chemeClr val="bg2"/>
                </a:solidFill>
              </a:rPr>
              <a:t>           else{  </a:t>
            </a:r>
            <a:endParaRPr lang="zh-CN" altLang="zh-CN" sz="1800" dirty="0">
              <a:solidFill>
                <a:schemeClr val="bg2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chemeClr val="bg2"/>
                </a:solidFill>
              </a:rPr>
              <a:t>              	   flag = 1;		/* </a:t>
            </a:r>
            <a:r>
              <a:rPr lang="zh-CN" altLang="zh-CN" sz="1800" dirty="0">
                <a:solidFill>
                  <a:schemeClr val="bg2"/>
                </a:solidFill>
              </a:rPr>
              <a:t>先假设</a:t>
            </a:r>
            <a:r>
              <a:rPr lang="en-US" altLang="zh-CN" sz="1800" dirty="0">
                <a:solidFill>
                  <a:schemeClr val="bg2"/>
                </a:solidFill>
              </a:rPr>
              <a:t>k</a:t>
            </a:r>
            <a:r>
              <a:rPr lang="zh-CN" altLang="zh-CN" sz="1800" dirty="0">
                <a:solidFill>
                  <a:schemeClr val="bg2"/>
                </a:solidFill>
              </a:rPr>
              <a:t>是素数</a:t>
            </a:r>
            <a:r>
              <a:rPr lang="en-US" altLang="zh-CN" sz="1800" dirty="0">
                <a:solidFill>
                  <a:schemeClr val="bg2"/>
                </a:solidFill>
              </a:rPr>
              <a:t> */</a:t>
            </a:r>
            <a:endParaRPr lang="zh-CN" altLang="zh-CN" sz="1800" dirty="0">
              <a:solidFill>
                <a:schemeClr val="bg2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chemeClr val="bg2"/>
                </a:solidFill>
              </a:rPr>
              <a:t>            	   limit = sqrt(k) + 1;</a:t>
            </a:r>
            <a:endParaRPr lang="zh-CN" altLang="zh-CN" sz="1800" dirty="0">
              <a:solidFill>
                <a:schemeClr val="bg2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chemeClr val="bg2"/>
                </a:solidFill>
              </a:rPr>
              <a:t>            	   for(</a:t>
            </a:r>
            <a:r>
              <a:rPr lang="en-US" altLang="zh-CN" sz="1800" dirty="0" err="1">
                <a:solidFill>
                  <a:schemeClr val="bg2"/>
                </a:solidFill>
              </a:rPr>
              <a:t>i</a:t>
            </a:r>
            <a:r>
              <a:rPr lang="en-US" altLang="zh-CN" sz="1800" dirty="0">
                <a:solidFill>
                  <a:schemeClr val="bg2"/>
                </a:solidFill>
              </a:rPr>
              <a:t> = 2; </a:t>
            </a:r>
            <a:r>
              <a:rPr lang="en-US" altLang="zh-CN" sz="1800" dirty="0" err="1">
                <a:solidFill>
                  <a:schemeClr val="bg2"/>
                </a:solidFill>
              </a:rPr>
              <a:t>i</a:t>
            </a:r>
            <a:r>
              <a:rPr lang="en-US" altLang="zh-CN" sz="1800" dirty="0">
                <a:solidFill>
                  <a:schemeClr val="bg2"/>
                </a:solidFill>
              </a:rPr>
              <a:t> &lt;= limit; </a:t>
            </a:r>
            <a:r>
              <a:rPr lang="en-US" altLang="zh-CN" sz="1800" dirty="0" err="1">
                <a:solidFill>
                  <a:schemeClr val="bg2"/>
                </a:solidFill>
              </a:rPr>
              <a:t>i</a:t>
            </a:r>
            <a:r>
              <a:rPr lang="en-US" altLang="zh-CN" sz="1800" dirty="0">
                <a:solidFill>
                  <a:schemeClr val="bg2"/>
                </a:solidFill>
              </a:rPr>
              <a:t>++) </a:t>
            </a:r>
            <a:endParaRPr lang="zh-CN" altLang="zh-CN" sz="1800" dirty="0">
              <a:solidFill>
                <a:schemeClr val="bg2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chemeClr val="bg2"/>
                </a:solidFill>
              </a:rPr>
              <a:t>                         if(k % </a:t>
            </a:r>
            <a:r>
              <a:rPr lang="en-US" altLang="zh-CN" sz="1800" dirty="0" err="1">
                <a:solidFill>
                  <a:schemeClr val="bg2"/>
                </a:solidFill>
              </a:rPr>
              <a:t>i</a:t>
            </a:r>
            <a:r>
              <a:rPr lang="en-US" altLang="zh-CN" sz="1800" dirty="0">
                <a:solidFill>
                  <a:schemeClr val="bg2"/>
                </a:solidFill>
              </a:rPr>
              <a:t> == 0){	/* </a:t>
            </a:r>
            <a:r>
              <a:rPr lang="zh-CN" altLang="zh-CN" sz="1800" dirty="0">
                <a:solidFill>
                  <a:schemeClr val="bg2"/>
                </a:solidFill>
              </a:rPr>
              <a:t>若</a:t>
            </a:r>
            <a:r>
              <a:rPr lang="en-US" altLang="zh-CN" sz="1800" dirty="0">
                <a:solidFill>
                  <a:schemeClr val="bg2"/>
                </a:solidFill>
              </a:rPr>
              <a:t>k</a:t>
            </a:r>
            <a:r>
              <a:rPr lang="zh-CN" altLang="zh-CN" sz="1800" dirty="0">
                <a:solidFill>
                  <a:schemeClr val="bg2"/>
                </a:solidFill>
              </a:rPr>
              <a:t>能被某个</a:t>
            </a:r>
            <a:r>
              <a:rPr lang="en-US" altLang="zh-CN" sz="1800" dirty="0" err="1">
                <a:solidFill>
                  <a:schemeClr val="bg2"/>
                </a:solidFill>
              </a:rPr>
              <a:t>i</a:t>
            </a:r>
            <a:r>
              <a:rPr lang="zh-CN" altLang="zh-CN" sz="1800" dirty="0">
                <a:solidFill>
                  <a:schemeClr val="bg2"/>
                </a:solidFill>
              </a:rPr>
              <a:t>整除，则</a:t>
            </a:r>
            <a:r>
              <a:rPr lang="en-US" altLang="zh-CN" sz="1800" dirty="0">
                <a:solidFill>
                  <a:schemeClr val="bg2"/>
                </a:solidFill>
              </a:rPr>
              <a:t>k</a:t>
            </a:r>
            <a:r>
              <a:rPr lang="zh-CN" altLang="zh-CN" sz="1800" dirty="0">
                <a:solidFill>
                  <a:schemeClr val="bg2"/>
                </a:solidFill>
              </a:rPr>
              <a:t>不是素数</a:t>
            </a:r>
            <a:r>
              <a:rPr lang="en-US" altLang="zh-CN" sz="1800" dirty="0">
                <a:solidFill>
                  <a:schemeClr val="bg2"/>
                </a:solidFill>
              </a:rPr>
              <a:t> */</a:t>
            </a:r>
            <a:endParaRPr lang="zh-CN" altLang="zh-CN" sz="1800" dirty="0">
              <a:solidFill>
                <a:schemeClr val="bg2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chemeClr val="bg2"/>
                </a:solidFill>
              </a:rPr>
              <a:t>                    	 flag = 0;	/* </a:t>
            </a:r>
            <a:r>
              <a:rPr lang="zh-CN" altLang="zh-CN" sz="1800" dirty="0">
                <a:solidFill>
                  <a:schemeClr val="bg2"/>
                </a:solidFill>
              </a:rPr>
              <a:t>置</a:t>
            </a:r>
            <a:r>
              <a:rPr lang="en-US" altLang="zh-CN" sz="1800" dirty="0">
                <a:solidFill>
                  <a:schemeClr val="bg2"/>
                </a:solidFill>
              </a:rPr>
              <a:t>flag</a:t>
            </a:r>
            <a:r>
              <a:rPr lang="zh-CN" altLang="zh-CN" sz="1800" dirty="0">
                <a:solidFill>
                  <a:schemeClr val="bg2"/>
                </a:solidFill>
              </a:rPr>
              <a:t>为</a:t>
            </a:r>
            <a:r>
              <a:rPr lang="en-US" altLang="zh-CN" sz="1800" dirty="0">
                <a:solidFill>
                  <a:schemeClr val="bg2"/>
                </a:solidFill>
              </a:rPr>
              <a:t> 0 */</a:t>
            </a:r>
            <a:endParaRPr lang="zh-CN" altLang="zh-CN" sz="1800" dirty="0">
              <a:solidFill>
                <a:schemeClr val="bg2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chemeClr val="bg2"/>
                </a:solidFill>
              </a:rPr>
              <a:t>                    	 break;		/* </a:t>
            </a:r>
            <a:r>
              <a:rPr lang="zh-CN" altLang="zh-CN" sz="1800" dirty="0">
                <a:solidFill>
                  <a:schemeClr val="bg2"/>
                </a:solidFill>
              </a:rPr>
              <a:t>提前结束循环</a:t>
            </a:r>
            <a:r>
              <a:rPr lang="en-US" altLang="zh-CN" sz="1800" dirty="0">
                <a:solidFill>
                  <a:schemeClr val="bg2"/>
                </a:solidFill>
              </a:rPr>
              <a:t> */</a:t>
            </a:r>
            <a:endParaRPr lang="zh-CN" altLang="zh-CN" sz="1800" dirty="0">
              <a:solidFill>
                <a:schemeClr val="bg2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chemeClr val="bg2"/>
                </a:solidFill>
              </a:rPr>
              <a:t>                          }  </a:t>
            </a:r>
            <a:endParaRPr lang="zh-CN" altLang="zh-CN" sz="1800" dirty="0">
              <a:solidFill>
                <a:schemeClr val="bg2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chemeClr val="bg2"/>
                </a:solidFill>
              </a:rPr>
              <a:t>            }</a:t>
            </a:r>
            <a:endParaRPr lang="zh-CN" altLang="zh-CN" sz="1800" dirty="0">
              <a:solidFill>
                <a:schemeClr val="bg2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/>
              <a:t>           if (</a:t>
            </a:r>
            <a:r>
              <a:rPr lang="en-US" altLang="zh-CN" sz="1800" dirty="0">
                <a:solidFill>
                  <a:srgbClr val="CC0066"/>
                </a:solidFill>
              </a:rPr>
              <a:t>flag == 1</a:t>
            </a:r>
            <a:r>
              <a:rPr lang="en-US" altLang="zh-CN" sz="1800" dirty="0"/>
              <a:t>){          		/* </a:t>
            </a:r>
            <a:r>
              <a:rPr lang="zh-CN" altLang="zh-CN" sz="1800" dirty="0"/>
              <a:t>如果</a:t>
            </a:r>
            <a:r>
              <a:rPr lang="en-US" altLang="zh-CN" sz="1800" dirty="0"/>
              <a:t>k</a:t>
            </a:r>
            <a:r>
              <a:rPr lang="zh-CN" altLang="zh-CN" sz="1800" dirty="0"/>
              <a:t>是素数</a:t>
            </a:r>
            <a:r>
              <a:rPr lang="en-US" altLang="zh-CN" sz="1800" dirty="0"/>
              <a:t> */</a:t>
            </a:r>
            <a:endParaRPr lang="zh-CN" altLang="zh-CN" sz="18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/>
              <a:t>        	 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("%6d", k);  	 /* </a:t>
            </a:r>
            <a:r>
              <a:rPr lang="zh-CN" altLang="zh-CN" sz="1800" dirty="0"/>
              <a:t>输出</a:t>
            </a:r>
            <a:r>
              <a:rPr lang="en-US" altLang="zh-CN" sz="1800" dirty="0"/>
              <a:t>k */</a:t>
            </a:r>
            <a:endParaRPr lang="zh-CN" altLang="zh-CN" sz="18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/>
              <a:t>        	 count++;        		 /* </a:t>
            </a:r>
            <a:r>
              <a:rPr lang="zh-CN" altLang="zh-CN" sz="1800" dirty="0"/>
              <a:t>累加已经输出的素数个数</a:t>
            </a:r>
            <a:r>
              <a:rPr lang="en-US" altLang="zh-CN" sz="1800" dirty="0"/>
              <a:t> */</a:t>
            </a:r>
            <a:endParaRPr lang="zh-CN" altLang="zh-CN" sz="18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/>
              <a:t>        	 if(count % 10 == 0)</a:t>
            </a:r>
            <a:r>
              <a:rPr lang="zh-CN" altLang="en-US" sz="1800" dirty="0"/>
              <a:t> 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("\n");  </a:t>
            </a:r>
            <a:endParaRPr lang="zh-CN" altLang="zh-CN" sz="18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/>
              <a:t>          }</a:t>
            </a:r>
            <a:endParaRPr lang="zh-CN" altLang="zh-CN" sz="18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/>
              <a:t>    }</a:t>
            </a:r>
            <a:endParaRPr lang="zh-CN" altLang="zh-CN" sz="1800" dirty="0"/>
          </a:p>
        </p:txBody>
      </p:sp>
      <p:sp>
        <p:nvSpPr>
          <p:cNvPr id="166918" name="Text Box 6"/>
          <p:cNvSpPr txBox="1">
            <a:spLocks noChangeArrowheads="1"/>
          </p:cNvSpPr>
          <p:nvPr/>
        </p:nvSpPr>
        <p:spPr bwMode="auto">
          <a:xfrm>
            <a:off x="3775966" y="848393"/>
            <a:ext cx="5415521" cy="10156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dirty="0">
                <a:solidFill>
                  <a:schemeClr val="tx1"/>
                </a:solidFill>
              </a:rPr>
              <a:t>Enter m n: </a:t>
            </a:r>
            <a:r>
              <a:rPr lang="en-US" altLang="zh-CN" sz="2000" dirty="0">
                <a:solidFill>
                  <a:srgbClr val="CC0066"/>
                </a:solidFill>
              </a:rPr>
              <a:t>1 50</a:t>
            </a:r>
          </a:p>
          <a:p>
            <a:pPr>
              <a:defRPr/>
            </a:pPr>
            <a:r>
              <a:rPr lang="en-US" altLang="zh-CN" sz="2000" dirty="0">
                <a:solidFill>
                  <a:schemeClr val="tx1"/>
                </a:solidFill>
              </a:rPr>
              <a:t>2     3      5      7     11    13    17    19    23    29</a:t>
            </a:r>
          </a:p>
          <a:p>
            <a:pPr>
              <a:defRPr/>
            </a:pPr>
            <a:r>
              <a:rPr lang="en-US" altLang="zh-CN" sz="2000" dirty="0">
                <a:solidFill>
                  <a:schemeClr val="tx1"/>
                </a:solidFill>
              </a:rPr>
              <a:t>31  37   41    43    47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6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6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476672"/>
            <a:ext cx="7651576" cy="60960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zh-CN" altLang="en-US" sz="4000" dirty="0"/>
              <a:t>例</a:t>
            </a:r>
            <a:r>
              <a:rPr lang="en-US" altLang="zh-CN" sz="4000" dirty="0"/>
              <a:t>4-11</a:t>
            </a:r>
            <a:r>
              <a:rPr lang="zh-CN" altLang="en-US" sz="4000" dirty="0"/>
              <a:t>古典算术问题－搬砖问题</a:t>
            </a:r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158280"/>
            <a:ext cx="8229600" cy="1524000"/>
          </a:xfrm>
        </p:spPr>
        <p:txBody>
          <a:bodyPr/>
          <a:lstStyle/>
          <a:p>
            <a:pPr lvl="1" eaLnBrk="0" hangingPunct="0">
              <a:spcBef>
                <a:spcPct val="0"/>
              </a:spcBef>
              <a:buFontTx/>
              <a:buNone/>
              <a:defRPr/>
            </a:pPr>
            <a:r>
              <a:rPr lang="zh-CN" altLang="en-US" dirty="0"/>
              <a:t>某地需要搬运砖块，已知男人一人搬3块，女人一人搬2块，小孩两人搬一块。</a:t>
            </a:r>
          </a:p>
          <a:p>
            <a:pPr lvl="1" eaLnBrk="0" hangingPunct="0">
              <a:spcBef>
                <a:spcPct val="0"/>
              </a:spcBef>
              <a:buFontTx/>
              <a:buNone/>
              <a:defRPr/>
            </a:pPr>
            <a:r>
              <a:rPr lang="zh-CN" altLang="en-US" dirty="0"/>
              <a:t>问用</a:t>
            </a:r>
            <a:r>
              <a:rPr lang="en-US" altLang="zh-CN" dirty="0"/>
              <a:t>n</a:t>
            </a:r>
            <a:r>
              <a:rPr lang="zh-CN" altLang="en-US" dirty="0"/>
              <a:t>人正好搬</a:t>
            </a:r>
            <a:r>
              <a:rPr lang="en-US" altLang="zh-CN" dirty="0"/>
              <a:t>n</a:t>
            </a:r>
            <a:r>
              <a:rPr lang="zh-CN" altLang="en-US" dirty="0"/>
              <a:t>块砖，有多少种搬法？</a:t>
            </a:r>
            <a:endParaRPr lang="en-US" altLang="zh-CN" dirty="0"/>
          </a:p>
        </p:txBody>
      </p:sp>
      <p:sp>
        <p:nvSpPr>
          <p:cNvPr id="61443" name="Rectangle 6"/>
          <p:cNvSpPr>
            <a:spLocks noChangeArrowheads="1"/>
          </p:cNvSpPr>
          <p:nvPr/>
        </p:nvSpPr>
        <p:spPr bwMode="auto">
          <a:xfrm>
            <a:off x="215008" y="2492896"/>
            <a:ext cx="8928992" cy="436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SzPct val="70000"/>
              <a:buFont typeface="Monotype Sorts" charset="0"/>
              <a:buNone/>
            </a:pPr>
            <a:r>
              <a:rPr kumimoji="1" lang="en-US" altLang="zh-CN" sz="2400" dirty="0" err="1">
                <a:solidFill>
                  <a:schemeClr val="tx1"/>
                </a:solidFill>
              </a:rPr>
              <a:t>cnt</a:t>
            </a:r>
            <a:r>
              <a:rPr kumimoji="1" lang="en-US" altLang="zh-CN" sz="2400" dirty="0">
                <a:solidFill>
                  <a:schemeClr val="tx1"/>
                </a:solidFill>
              </a:rPr>
              <a:t> = 0;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SzPct val="70000"/>
              <a:buFont typeface="Monotype Sorts" charset="0"/>
              <a:buNone/>
            </a:pPr>
            <a:r>
              <a:rPr kumimoji="1" lang="en-US" altLang="zh-CN" sz="2400" dirty="0">
                <a:solidFill>
                  <a:schemeClr val="tx1"/>
                </a:solidFill>
              </a:rPr>
              <a:t>for ( men = 0; men &lt;= n; men++ ){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SzPct val="70000"/>
              <a:buFont typeface="Monotype Sorts" charset="0"/>
              <a:buNone/>
            </a:pPr>
            <a:r>
              <a:rPr kumimoji="1" lang="en-US" altLang="zh-CN" sz="2400" dirty="0">
                <a:solidFill>
                  <a:schemeClr val="tx1"/>
                </a:solidFill>
              </a:rPr>
              <a:t>   for ( women = 0; women &lt;= n; women++ ){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SzPct val="70000"/>
              <a:buFont typeface="Monotype Sorts" charset="0"/>
              <a:buNone/>
            </a:pPr>
            <a:r>
              <a:rPr kumimoji="1" lang="en-US" altLang="zh-CN" sz="2400" dirty="0">
                <a:solidFill>
                  <a:schemeClr val="tx1"/>
                </a:solidFill>
              </a:rPr>
              <a:t>      for ( child = 0; child &lt;= n; child++ ){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SzPct val="70000"/>
              <a:buFont typeface="Monotype Sorts" charset="0"/>
              <a:buNone/>
            </a:pPr>
            <a:r>
              <a:rPr kumimoji="1" lang="en-US" altLang="zh-CN" sz="2000" dirty="0">
                <a:solidFill>
                  <a:schemeClr val="tx1"/>
                </a:solidFill>
              </a:rPr>
              <a:t>           </a:t>
            </a:r>
            <a:r>
              <a:rPr kumimoji="1" lang="en-US" altLang="zh-CN" sz="2000" dirty="0">
                <a:solidFill>
                  <a:srgbClr val="CC0066"/>
                </a:solidFill>
              </a:rPr>
              <a:t>if ((</a:t>
            </a:r>
            <a:r>
              <a:rPr kumimoji="1" lang="en-US" altLang="zh-CN" sz="2000" dirty="0" err="1">
                <a:solidFill>
                  <a:srgbClr val="CC0066"/>
                </a:solidFill>
              </a:rPr>
              <a:t>men+women+child</a:t>
            </a:r>
            <a:r>
              <a:rPr kumimoji="1" lang="en-US" altLang="zh-CN" sz="2000" dirty="0">
                <a:solidFill>
                  <a:srgbClr val="CC0066"/>
                </a:solidFill>
              </a:rPr>
              <a:t>==n) &amp;&amp; (men*3+women*2+child*0.5==n))</a:t>
            </a:r>
            <a:r>
              <a:rPr kumimoji="1" lang="en-US" altLang="zh-CN" sz="2000" dirty="0">
                <a:solidFill>
                  <a:schemeClr val="tx1"/>
                </a:solidFill>
              </a:rPr>
              <a:t>{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SzPct val="70000"/>
              <a:buFont typeface="Monotype Sorts" charset="0"/>
              <a:buNone/>
            </a:pPr>
            <a:r>
              <a:rPr kumimoji="1" lang="en-US" altLang="zh-CN" sz="2000" dirty="0">
                <a:solidFill>
                  <a:schemeClr val="tx1"/>
                </a:solidFill>
              </a:rPr>
              <a:t>               </a:t>
            </a:r>
            <a:r>
              <a:rPr kumimoji="1" lang="en-US" altLang="zh-CN" sz="2000" dirty="0" err="1">
                <a:solidFill>
                  <a:schemeClr val="tx1"/>
                </a:solidFill>
              </a:rPr>
              <a:t>printf</a:t>
            </a:r>
            <a:r>
              <a:rPr kumimoji="1" lang="en-US" altLang="zh-CN" sz="2000" dirty="0">
                <a:solidFill>
                  <a:schemeClr val="tx1"/>
                </a:solidFill>
              </a:rPr>
              <a:t>("men=%d  women=%d  child=%d\n", men, women, child);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SzPct val="70000"/>
              <a:buFont typeface="Monotype Sorts" charset="0"/>
              <a:buNone/>
            </a:pPr>
            <a:r>
              <a:rPr kumimoji="1" lang="en-US" altLang="zh-CN" sz="2000" dirty="0">
                <a:solidFill>
                  <a:schemeClr val="tx1"/>
                </a:solidFill>
              </a:rPr>
              <a:t>               </a:t>
            </a:r>
            <a:r>
              <a:rPr kumimoji="1" lang="en-US" altLang="zh-CN" sz="2000" dirty="0" err="1">
                <a:solidFill>
                  <a:schemeClr val="tx1"/>
                </a:solidFill>
              </a:rPr>
              <a:t>cnt</a:t>
            </a:r>
            <a:r>
              <a:rPr kumimoji="1" lang="en-US" altLang="zh-CN" sz="2000" dirty="0">
                <a:solidFill>
                  <a:schemeClr val="tx1"/>
                </a:solidFill>
              </a:rPr>
              <a:t>++;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SzPct val="70000"/>
              <a:buFont typeface="Monotype Sorts" charset="0"/>
              <a:buNone/>
            </a:pPr>
            <a:r>
              <a:rPr kumimoji="1" lang="en-US" altLang="zh-CN" sz="2000" dirty="0">
                <a:solidFill>
                  <a:schemeClr val="tx1"/>
                </a:solidFill>
              </a:rPr>
              <a:t>           }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SzPct val="70000"/>
              <a:buFont typeface="Monotype Sorts" charset="0"/>
              <a:buNone/>
            </a:pPr>
            <a:r>
              <a:rPr kumimoji="1" lang="en-US" altLang="zh-CN" sz="2400" dirty="0">
                <a:solidFill>
                  <a:schemeClr val="tx1"/>
                </a:solidFill>
              </a:rPr>
              <a:t>        }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SzPct val="70000"/>
              <a:buFont typeface="Monotype Sorts" charset="0"/>
              <a:buNone/>
            </a:pPr>
            <a:r>
              <a:rPr kumimoji="1" lang="en-US" altLang="zh-CN" sz="2400" dirty="0">
                <a:solidFill>
                  <a:schemeClr val="tx1"/>
                </a:solidFill>
              </a:rPr>
              <a:t>    }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SzPct val="70000"/>
              <a:buFont typeface="Monotype Sorts" charset="0"/>
              <a:buNone/>
            </a:pPr>
            <a:r>
              <a:rPr kumimoji="1" lang="en-US" altLang="zh-CN" sz="2400" dirty="0">
                <a:solidFill>
                  <a:schemeClr val="tx1"/>
                </a:solidFill>
              </a:rPr>
              <a:t>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050"/>
          <p:cNvSpPr>
            <a:spLocks noGrp="1" noChangeArrowheads="1"/>
          </p:cNvSpPr>
          <p:nvPr>
            <p:ph type="title"/>
          </p:nvPr>
        </p:nvSpPr>
        <p:spPr>
          <a:xfrm>
            <a:off x="5159808" y="338415"/>
            <a:ext cx="3829050" cy="76200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zh-CN" altLang="en-US" sz="3600" dirty="0"/>
              <a:t>例</a:t>
            </a:r>
            <a:r>
              <a:rPr lang="en-US" altLang="zh-CN" sz="3600" dirty="0"/>
              <a:t>4-11 </a:t>
            </a:r>
            <a:r>
              <a:rPr lang="zh-CN" altLang="en-US" sz="3600" dirty="0"/>
              <a:t>源程序段2</a:t>
            </a:r>
          </a:p>
        </p:txBody>
      </p:sp>
      <p:sp>
        <p:nvSpPr>
          <p:cNvPr id="100355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107504" y="445464"/>
            <a:ext cx="9252520" cy="339973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err="1"/>
              <a:t>limit_m</a:t>
            </a:r>
            <a:r>
              <a:rPr lang="en-US" altLang="zh-CN" sz="2000" dirty="0"/>
              <a:t> = n/3;   </a:t>
            </a:r>
            <a:r>
              <a:rPr lang="en-US" altLang="zh-CN" sz="2000" dirty="0" err="1"/>
              <a:t>limit_w</a:t>
            </a:r>
            <a:r>
              <a:rPr lang="en-US" altLang="zh-CN" sz="2000" dirty="0"/>
              <a:t> = n/2;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dirty="0"/>
              <a:t>for(men = 0; men &lt;= </a:t>
            </a:r>
            <a:r>
              <a:rPr lang="en-US" altLang="zh-CN" sz="2000" dirty="0" err="1"/>
              <a:t>limit_m</a:t>
            </a:r>
            <a:r>
              <a:rPr lang="en-US" altLang="zh-CN" sz="2000" dirty="0"/>
              <a:t>; men++){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dirty="0"/>
              <a:t>     for(women = 0; women &lt;= </a:t>
            </a:r>
            <a:r>
              <a:rPr lang="en-US" altLang="zh-CN" sz="2000" dirty="0" err="1"/>
              <a:t>limit_w</a:t>
            </a:r>
            <a:r>
              <a:rPr lang="en-US" altLang="zh-CN" sz="2000" dirty="0"/>
              <a:t>; women++){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dirty="0"/>
              <a:t>         child = n - men - women; 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dirty="0"/>
              <a:t>         if((men*3 + women*2 + child*0.5 == n)){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dirty="0"/>
              <a:t>           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("men=%d, women=%d, children=%d\n", men, women, child);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dirty="0"/>
              <a:t>        }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dirty="0"/>
              <a:t>    }</a:t>
            </a:r>
          </a:p>
          <a:p>
            <a:pPr marL="0" indent="0">
              <a:buNone/>
            </a:pPr>
            <a:r>
              <a:rPr lang="en-US" altLang="zh-CN" sz="2000" dirty="0"/>
              <a:t>}</a:t>
            </a:r>
            <a:endParaRPr lang="zh-CN" altLang="zh-CN" sz="2000" dirty="0"/>
          </a:p>
        </p:txBody>
      </p:sp>
      <p:sp>
        <p:nvSpPr>
          <p:cNvPr id="100359" name="Rectangle 2055"/>
          <p:cNvSpPr>
            <a:spLocks noChangeArrowheads="1"/>
          </p:cNvSpPr>
          <p:nvPr/>
        </p:nvSpPr>
        <p:spPr bwMode="auto">
          <a:xfrm>
            <a:off x="5821426" y="2924944"/>
            <a:ext cx="2505814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2800" dirty="0">
                <a:solidFill>
                  <a:schemeClr val="bg2"/>
                </a:solidFill>
                <a:ea typeface="仿宋_GB2312" charset="0"/>
                <a:cs typeface="仿宋_GB2312" charset="0"/>
              </a:rPr>
              <a:t>比较循环次数</a:t>
            </a:r>
            <a:endParaRPr kumimoji="1" lang="en-US" altLang="zh-CN" sz="2800" dirty="0">
              <a:solidFill>
                <a:schemeClr val="bg2"/>
              </a:solidFill>
              <a:ea typeface="仿宋_GB2312" charset="0"/>
              <a:cs typeface="仿宋_GB2312" charset="0"/>
            </a:endParaRPr>
          </a:p>
          <a:p>
            <a:pPr>
              <a:defRPr/>
            </a:pPr>
            <a:r>
              <a:rPr kumimoji="1" lang="en-US" altLang="zh-CN" sz="2800" dirty="0">
                <a:solidFill>
                  <a:schemeClr val="bg2"/>
                </a:solidFill>
                <a:ea typeface="仿宋_GB2312" charset="0"/>
                <a:cs typeface="仿宋_GB2312" charset="0"/>
              </a:rPr>
              <a:t>n=45</a:t>
            </a:r>
          </a:p>
          <a:p>
            <a:pPr>
              <a:defRPr/>
            </a:pPr>
            <a:r>
              <a:rPr kumimoji="1" lang="en-US" altLang="zh-CN" sz="2800" dirty="0">
                <a:solidFill>
                  <a:schemeClr val="bg2"/>
                </a:solidFill>
                <a:ea typeface="仿宋_GB2312" charset="0"/>
                <a:cs typeface="仿宋_GB2312" charset="0"/>
              </a:rPr>
              <a:t>97336</a:t>
            </a:r>
            <a:r>
              <a:rPr kumimoji="1" lang="zh-CN" altLang="en-US" sz="2800" dirty="0">
                <a:solidFill>
                  <a:schemeClr val="bg2"/>
                </a:solidFill>
                <a:ea typeface="仿宋_GB2312" charset="0"/>
                <a:cs typeface="仿宋_GB2312" charset="0"/>
              </a:rPr>
              <a:t>与</a:t>
            </a:r>
            <a:r>
              <a:rPr kumimoji="1" lang="en-US" altLang="zh-CN" sz="2800" dirty="0">
                <a:solidFill>
                  <a:schemeClr val="bg2"/>
                </a:solidFill>
                <a:ea typeface="仿宋_GB2312" charset="0"/>
                <a:cs typeface="仿宋_GB2312" charset="0"/>
              </a:rPr>
              <a:t>368</a:t>
            </a:r>
            <a:r>
              <a:rPr kumimoji="1" lang="zh-CN" altLang="en-US" sz="2800" dirty="0">
                <a:solidFill>
                  <a:schemeClr val="bg2"/>
                </a:solidFill>
                <a:ea typeface="仿宋_GB2312" charset="0"/>
                <a:cs typeface="仿宋_GB2312" charset="0"/>
              </a:rPr>
              <a:t>次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xmlns="" id="{C1940BD5-6F13-4407-9689-43F82D47C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3856624"/>
            <a:ext cx="8881354" cy="2884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>
              <a:spcBef>
                <a:spcPts val="0"/>
              </a:spcBef>
              <a:buClr>
                <a:schemeClr val="accent1"/>
              </a:buClr>
              <a:buSzPct val="70000"/>
            </a:pPr>
            <a:r>
              <a:rPr kumimoji="1" lang="en-US" altLang="zh-CN" sz="2000" dirty="0">
                <a:solidFill>
                  <a:schemeClr val="tx1"/>
                </a:solidFill>
              </a:rPr>
              <a:t>for ( men = 0; men &lt;= n; men++ ){</a:t>
            </a:r>
          </a:p>
          <a:p>
            <a:pPr algn="just">
              <a:spcBef>
                <a:spcPts val="0"/>
              </a:spcBef>
              <a:buClr>
                <a:schemeClr val="accent1"/>
              </a:buClr>
              <a:buSzPct val="70000"/>
            </a:pPr>
            <a:r>
              <a:rPr kumimoji="1" lang="en-US" altLang="zh-CN" sz="2000" dirty="0">
                <a:solidFill>
                  <a:schemeClr val="tx1"/>
                </a:solidFill>
              </a:rPr>
              <a:t>   for ( women = 0; women &lt;= n; women++ ){</a:t>
            </a:r>
          </a:p>
          <a:p>
            <a:pPr algn="just">
              <a:spcBef>
                <a:spcPts val="0"/>
              </a:spcBef>
              <a:buClr>
                <a:schemeClr val="accent1"/>
              </a:buClr>
              <a:buSzPct val="70000"/>
            </a:pPr>
            <a:r>
              <a:rPr kumimoji="1" lang="en-US" altLang="zh-CN" sz="2000" dirty="0">
                <a:solidFill>
                  <a:schemeClr val="tx1"/>
                </a:solidFill>
              </a:rPr>
              <a:t>      for ( child = 0; child &lt;= n; child++ ){</a:t>
            </a:r>
          </a:p>
          <a:p>
            <a:pPr algn="just">
              <a:spcBef>
                <a:spcPts val="0"/>
              </a:spcBef>
              <a:buClr>
                <a:schemeClr val="accent1"/>
              </a:buClr>
              <a:buSzPct val="70000"/>
            </a:pPr>
            <a:r>
              <a:rPr kumimoji="1" lang="en-US" altLang="zh-CN" sz="2000" dirty="0">
                <a:solidFill>
                  <a:schemeClr val="tx1"/>
                </a:solidFill>
              </a:rPr>
              <a:t>           </a:t>
            </a:r>
            <a:r>
              <a:rPr kumimoji="1" lang="en-US" altLang="zh-CN" sz="2000" dirty="0">
                <a:solidFill>
                  <a:srgbClr val="CC0066"/>
                </a:solidFill>
              </a:rPr>
              <a:t>if ((</a:t>
            </a:r>
            <a:r>
              <a:rPr kumimoji="1" lang="en-US" altLang="zh-CN" sz="2000" dirty="0" err="1">
                <a:solidFill>
                  <a:srgbClr val="CC0066"/>
                </a:solidFill>
              </a:rPr>
              <a:t>men+women+child</a:t>
            </a:r>
            <a:r>
              <a:rPr kumimoji="1" lang="en-US" altLang="zh-CN" sz="2000" dirty="0">
                <a:solidFill>
                  <a:srgbClr val="CC0066"/>
                </a:solidFill>
              </a:rPr>
              <a:t>==n) &amp;&amp; (men*3+women*2+child*0.5==n))</a:t>
            </a:r>
            <a:r>
              <a:rPr kumimoji="1" lang="en-US" altLang="zh-CN" sz="2000" dirty="0">
                <a:solidFill>
                  <a:schemeClr val="tx1"/>
                </a:solidFill>
              </a:rPr>
              <a:t>{</a:t>
            </a:r>
          </a:p>
          <a:p>
            <a:pPr algn="just">
              <a:spcBef>
                <a:spcPts val="0"/>
              </a:spcBef>
              <a:buClr>
                <a:schemeClr val="accent1"/>
              </a:buClr>
              <a:buSzPct val="70000"/>
            </a:pPr>
            <a:r>
              <a:rPr kumimoji="1" lang="en-US" altLang="zh-CN" sz="2000" dirty="0">
                <a:solidFill>
                  <a:schemeClr val="tx1"/>
                </a:solidFill>
              </a:rPr>
              <a:t>               </a:t>
            </a:r>
            <a:r>
              <a:rPr kumimoji="1" lang="en-US" altLang="zh-CN" sz="2000" dirty="0" err="1">
                <a:solidFill>
                  <a:schemeClr val="tx1"/>
                </a:solidFill>
              </a:rPr>
              <a:t>printf</a:t>
            </a:r>
            <a:r>
              <a:rPr kumimoji="1" lang="en-US" altLang="zh-CN" sz="2000" dirty="0">
                <a:solidFill>
                  <a:schemeClr val="tx1"/>
                </a:solidFill>
              </a:rPr>
              <a:t>("men=%d  women=%d  child=%d\n", men, women, child);</a:t>
            </a:r>
          </a:p>
          <a:p>
            <a:pPr algn="just">
              <a:spcBef>
                <a:spcPts val="0"/>
              </a:spcBef>
              <a:buClr>
                <a:schemeClr val="accent1"/>
              </a:buClr>
              <a:buSzPct val="70000"/>
            </a:pPr>
            <a:r>
              <a:rPr kumimoji="1" lang="en-US" altLang="zh-CN" sz="2000" dirty="0">
                <a:solidFill>
                  <a:schemeClr val="tx1"/>
                </a:solidFill>
              </a:rPr>
              <a:t>           }</a:t>
            </a:r>
          </a:p>
          <a:p>
            <a:pPr algn="just">
              <a:spcBef>
                <a:spcPts val="0"/>
              </a:spcBef>
              <a:buClr>
                <a:schemeClr val="accent1"/>
              </a:buClr>
              <a:buSzPct val="70000"/>
            </a:pPr>
            <a:r>
              <a:rPr kumimoji="1" lang="en-US" altLang="zh-CN" sz="2000" dirty="0">
                <a:solidFill>
                  <a:schemeClr val="tx1"/>
                </a:solidFill>
              </a:rPr>
              <a:t>      }</a:t>
            </a:r>
          </a:p>
          <a:p>
            <a:pPr algn="just">
              <a:spcBef>
                <a:spcPts val="0"/>
              </a:spcBef>
              <a:buClr>
                <a:schemeClr val="accent1"/>
              </a:buClr>
              <a:buSzPct val="70000"/>
            </a:pPr>
            <a:r>
              <a:rPr kumimoji="1" lang="en-US" altLang="zh-CN" sz="2000" dirty="0">
                <a:solidFill>
                  <a:schemeClr val="tx1"/>
                </a:solidFill>
              </a:rPr>
              <a:t>   }</a:t>
            </a:r>
          </a:p>
          <a:p>
            <a:pPr algn="just">
              <a:spcBef>
                <a:spcPts val="0"/>
              </a:spcBef>
              <a:buClr>
                <a:schemeClr val="accent1"/>
              </a:buClr>
              <a:buSzPct val="70000"/>
            </a:pPr>
            <a:r>
              <a:rPr kumimoji="1" lang="en-US" altLang="zh-CN" sz="2000" dirty="0">
                <a:solidFill>
                  <a:schemeClr val="tx1"/>
                </a:solidFill>
              </a:rPr>
              <a:t>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5" grpId="0" uiExpand="1" build="p"/>
      <p:bldP spid="100359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548680"/>
            <a:ext cx="7651576" cy="60960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zh-CN" altLang="en-US" sz="4000" dirty="0"/>
              <a:t>例</a:t>
            </a:r>
            <a:r>
              <a:rPr lang="en-US" altLang="zh-CN" sz="4000" dirty="0"/>
              <a:t>4-12  </a:t>
            </a:r>
            <a:r>
              <a:rPr lang="zh-CN" altLang="en-US" sz="4000" dirty="0"/>
              <a:t>找零钱问题</a:t>
            </a:r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293018"/>
            <a:ext cx="8280598" cy="1658739"/>
          </a:xfrm>
        </p:spPr>
        <p:txBody>
          <a:bodyPr/>
          <a:lstStyle/>
          <a:p>
            <a:pPr marL="0" indent="0">
              <a:buNone/>
            </a:pPr>
            <a:r>
              <a:rPr lang="zh-CN" altLang="zh-CN" sz="2800" dirty="0"/>
              <a:t>有足够数量的</a:t>
            </a:r>
            <a:r>
              <a:rPr lang="en-US" altLang="zh-CN" sz="2800" dirty="0"/>
              <a:t>5</a:t>
            </a:r>
            <a:r>
              <a:rPr lang="zh-CN" altLang="zh-CN" sz="2800" dirty="0"/>
              <a:t>分、</a:t>
            </a:r>
            <a:r>
              <a:rPr lang="en-US" altLang="zh-CN" sz="2800" dirty="0"/>
              <a:t>2</a:t>
            </a:r>
            <a:r>
              <a:rPr lang="zh-CN" altLang="zh-CN" sz="2800" dirty="0"/>
              <a:t>分和</a:t>
            </a:r>
            <a:r>
              <a:rPr lang="en-US" altLang="zh-CN" sz="2800" dirty="0"/>
              <a:t>1</a:t>
            </a:r>
            <a:r>
              <a:rPr lang="zh-CN" altLang="zh-CN" sz="2800" dirty="0"/>
              <a:t>分的硬币，现在要用这些硬币来支付一笔小于</a:t>
            </a:r>
            <a:r>
              <a:rPr lang="en-US" altLang="zh-CN" sz="2800" dirty="0"/>
              <a:t>1</a:t>
            </a:r>
            <a:r>
              <a:rPr lang="zh-CN" altLang="zh-CN" sz="2800" dirty="0"/>
              <a:t>元的零钱</a:t>
            </a:r>
            <a:r>
              <a:rPr lang="en-US" altLang="zh-CN" sz="2800" dirty="0"/>
              <a:t>money</a:t>
            </a:r>
            <a:r>
              <a:rPr lang="zh-CN" altLang="zh-CN" sz="2800" dirty="0"/>
              <a:t>，问至少要用多少个硬币？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zh-CN" sz="2800" dirty="0"/>
              <a:t>输入零钱，输出硬币的总数量和相应面额的硬币数量。</a:t>
            </a:r>
          </a:p>
          <a:p>
            <a:pPr lvl="1" eaLnBrk="0" hangingPunct="0">
              <a:spcBef>
                <a:spcPct val="0"/>
              </a:spcBef>
              <a:buFontTx/>
              <a:buNone/>
              <a:defRPr/>
            </a:pPr>
            <a:endParaRPr lang="en-US" altLang="zh-CN" dirty="0"/>
          </a:p>
        </p:txBody>
      </p:sp>
      <p:sp>
        <p:nvSpPr>
          <p:cNvPr id="61443" name="Rectangle 6"/>
          <p:cNvSpPr>
            <a:spLocks noChangeArrowheads="1"/>
          </p:cNvSpPr>
          <p:nvPr/>
        </p:nvSpPr>
        <p:spPr bwMode="auto">
          <a:xfrm>
            <a:off x="429688" y="3905506"/>
            <a:ext cx="8534800" cy="2259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zh-CN" sz="2800" dirty="0">
                <a:solidFill>
                  <a:schemeClr val="tx1"/>
                </a:solidFill>
              </a:rPr>
              <a:t>硬币总数最小</a:t>
            </a:r>
            <a:r>
              <a:rPr lang="zh-CN" altLang="en-US" sz="2800" dirty="0">
                <a:solidFill>
                  <a:schemeClr val="tx1"/>
                </a:solidFill>
              </a:rPr>
              <a:t>：</a:t>
            </a:r>
            <a:r>
              <a:rPr lang="zh-CN" altLang="zh-CN" sz="2800" dirty="0">
                <a:solidFill>
                  <a:schemeClr val="tx1"/>
                </a:solidFill>
              </a:rPr>
              <a:t>优先考虑使用面值大的硬币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lvl="1"/>
            <a:r>
              <a:rPr lang="zh-CN" altLang="zh-CN" sz="2800" dirty="0">
                <a:solidFill>
                  <a:schemeClr val="tx1"/>
                </a:solidFill>
              </a:rPr>
              <a:t>采用三重循环嵌套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lvl="1"/>
            <a:r>
              <a:rPr lang="zh-CN" altLang="zh-CN" sz="2800" dirty="0">
                <a:solidFill>
                  <a:schemeClr val="tx1"/>
                </a:solidFill>
              </a:rPr>
              <a:t>按照</a:t>
            </a:r>
            <a:r>
              <a:rPr lang="en-US" altLang="zh-CN" sz="2800" dirty="0">
                <a:solidFill>
                  <a:schemeClr val="tx1"/>
                </a:solidFill>
              </a:rPr>
              <a:t>5</a:t>
            </a:r>
            <a:r>
              <a:rPr lang="zh-CN" altLang="zh-CN" sz="2800" dirty="0">
                <a:solidFill>
                  <a:schemeClr val="tx1"/>
                </a:solidFill>
              </a:rPr>
              <a:t>分、</a:t>
            </a:r>
            <a:r>
              <a:rPr lang="en-US" altLang="zh-CN" sz="2800" dirty="0">
                <a:solidFill>
                  <a:schemeClr val="tx1"/>
                </a:solidFill>
              </a:rPr>
              <a:t>2</a:t>
            </a:r>
            <a:r>
              <a:rPr lang="zh-CN" altLang="zh-CN" sz="2800" dirty="0">
                <a:solidFill>
                  <a:schemeClr val="tx1"/>
                </a:solidFill>
              </a:rPr>
              <a:t>分和</a:t>
            </a:r>
            <a:r>
              <a:rPr lang="en-US" altLang="zh-CN" sz="2800" dirty="0">
                <a:solidFill>
                  <a:schemeClr val="tx1"/>
                </a:solidFill>
              </a:rPr>
              <a:t>1</a:t>
            </a:r>
            <a:r>
              <a:rPr lang="zh-CN" altLang="zh-CN" sz="2800" dirty="0">
                <a:solidFill>
                  <a:schemeClr val="tx1"/>
                </a:solidFill>
              </a:rPr>
              <a:t>分的顺序，</a:t>
            </a:r>
            <a:r>
              <a:rPr lang="zh-CN" altLang="en-US" sz="2800" dirty="0">
                <a:solidFill>
                  <a:schemeClr val="tx1"/>
                </a:solidFill>
              </a:rPr>
              <a:t>从</a:t>
            </a:r>
            <a:r>
              <a:rPr lang="zh-CN" altLang="zh-CN" sz="2800" dirty="0">
                <a:solidFill>
                  <a:schemeClr val="tx1"/>
                </a:solidFill>
              </a:rPr>
              <a:t>上限</a:t>
            </a:r>
            <a:r>
              <a:rPr lang="en-US" altLang="zh-CN" sz="2800" dirty="0">
                <a:solidFill>
                  <a:schemeClr val="tx1"/>
                </a:solidFill>
              </a:rPr>
              <a:t>(money/</a:t>
            </a:r>
            <a:r>
              <a:rPr lang="zh-CN" altLang="en-US" sz="2800" dirty="0">
                <a:solidFill>
                  <a:schemeClr val="tx1"/>
                </a:solidFill>
              </a:rPr>
              <a:t>币值</a:t>
            </a:r>
            <a:r>
              <a:rPr lang="en-US" altLang="zh-CN" sz="2800" dirty="0">
                <a:solidFill>
                  <a:schemeClr val="tx1"/>
                </a:solidFill>
              </a:rPr>
              <a:t>)</a:t>
            </a:r>
            <a:r>
              <a:rPr lang="zh-CN" altLang="zh-CN" sz="2800" dirty="0">
                <a:solidFill>
                  <a:schemeClr val="tx1"/>
                </a:solidFill>
              </a:rPr>
              <a:t>到下限</a:t>
            </a:r>
            <a:r>
              <a:rPr lang="en-US" altLang="zh-CN" sz="2800" dirty="0">
                <a:solidFill>
                  <a:schemeClr val="tx1"/>
                </a:solidFill>
              </a:rPr>
              <a:t>(0)</a:t>
            </a:r>
          </a:p>
        </p:txBody>
      </p:sp>
    </p:spTree>
    <p:extLst>
      <p:ext uri="{BB962C8B-B14F-4D97-AF65-F5344CB8AC3E}">
        <p14:creationId xmlns:p14="http://schemas.microsoft.com/office/powerpoint/2010/main" val="5950788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25005" y="260350"/>
            <a:ext cx="8028384" cy="823912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zh-CN" altLang="en-US" sz="4000" dirty="0"/>
              <a:t>例</a:t>
            </a:r>
            <a:r>
              <a:rPr lang="en-US" altLang="zh-CN" sz="4000" dirty="0"/>
              <a:t>4-12 </a:t>
            </a:r>
            <a:r>
              <a:rPr lang="zh-CN" altLang="en-US" sz="4000" dirty="0"/>
              <a:t>源程序段</a:t>
            </a:r>
            <a:r>
              <a:rPr lang="en-US" altLang="zh-CN" sz="4000" dirty="0"/>
              <a:t>-</a:t>
            </a:r>
            <a:r>
              <a:rPr lang="zh-CN" altLang="en-US" sz="4000" dirty="0"/>
              <a:t>找零钱</a:t>
            </a:r>
            <a:endParaRPr lang="en-US" altLang="zh-CN" sz="4000" dirty="0"/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630" y="1137083"/>
            <a:ext cx="8928739" cy="5460567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CC0066"/>
                </a:solidFill>
              </a:rPr>
              <a:t>flag = 1; </a:t>
            </a:r>
            <a:r>
              <a:rPr lang="en-US" altLang="zh-CN" sz="2400" dirty="0"/>
              <a:t>     /* flag</a:t>
            </a:r>
            <a:r>
              <a:rPr lang="zh-CN" altLang="zh-CN" sz="2400"/>
              <a:t>表示是否中止</a:t>
            </a:r>
            <a:r>
              <a:rPr lang="zh-CN" altLang="zh-CN" sz="2400" dirty="0"/>
              <a:t>嵌套循环 </a:t>
            </a:r>
            <a:r>
              <a:rPr lang="en-US" altLang="zh-CN" sz="2400" dirty="0"/>
              <a:t>*/</a:t>
            </a:r>
            <a:endParaRPr lang="zh-CN" altLang="zh-CN" sz="24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 err="1"/>
              <a:t>printf</a:t>
            </a:r>
            <a:r>
              <a:rPr lang="en-US" altLang="zh-CN" sz="2400" dirty="0"/>
              <a:t>("Enter money: ");    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("%d", &amp;money);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/>
              <a:t>for (n5 = money/5;</a:t>
            </a:r>
            <a:r>
              <a:rPr lang="en-US" altLang="zh-CN" sz="2400" dirty="0">
                <a:solidFill>
                  <a:srgbClr val="CC0066"/>
                </a:solidFill>
              </a:rPr>
              <a:t> (n5 &gt;= 0) &amp;&amp; (flag == 1)</a:t>
            </a:r>
            <a:r>
              <a:rPr lang="en-US" altLang="zh-CN" sz="2400" dirty="0"/>
              <a:t>; n5--)</a:t>
            </a:r>
            <a:endParaRPr lang="zh-CN" altLang="zh-CN" sz="24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/>
              <a:t>   for (n2 = (money-n5*5)/2; </a:t>
            </a:r>
            <a:r>
              <a:rPr lang="en-US" altLang="zh-CN" sz="2400" dirty="0">
                <a:solidFill>
                  <a:srgbClr val="CC0066"/>
                </a:solidFill>
              </a:rPr>
              <a:t>(n2 &gt;= 0) &amp;&amp; (flag == 1)</a:t>
            </a:r>
            <a:r>
              <a:rPr lang="en-US" altLang="zh-CN" sz="2400" dirty="0"/>
              <a:t>; n2--)</a:t>
            </a:r>
            <a:endParaRPr lang="zh-CN" altLang="zh-CN" sz="24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/>
              <a:t>      for (n1 = money-n5*5-n2*2; </a:t>
            </a:r>
            <a:r>
              <a:rPr lang="en-US" altLang="zh-CN" sz="2400" dirty="0">
                <a:solidFill>
                  <a:srgbClr val="CC0066"/>
                </a:solidFill>
              </a:rPr>
              <a:t>(n1 &gt;=0) &amp;&amp; (flag == 1)</a:t>
            </a:r>
            <a:r>
              <a:rPr lang="en-US" altLang="zh-CN" sz="2400" dirty="0"/>
              <a:t>; n1--)</a:t>
            </a:r>
            <a:endParaRPr lang="zh-CN" altLang="zh-CN" sz="24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/>
              <a:t>          if ((n5*5 + n2*2 + n1) == money) {</a:t>
            </a:r>
            <a:endParaRPr lang="zh-CN" altLang="zh-CN" sz="24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/>
              <a:t>                  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("fen5:%d, fen2:%d, fen1:%d, total:%d\n", n5, n2, n1, n1+n2+n5);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/>
              <a:t>             </a:t>
            </a:r>
            <a:r>
              <a:rPr lang="en-US" altLang="zh-CN" sz="2000" dirty="0"/>
              <a:t>/* </a:t>
            </a:r>
            <a:r>
              <a:rPr lang="zh-CN" altLang="zh-CN" sz="2000" dirty="0"/>
              <a:t>置</a:t>
            </a:r>
            <a:r>
              <a:rPr lang="en-US" altLang="zh-CN" sz="2000" dirty="0"/>
              <a:t>flag</a:t>
            </a:r>
            <a:r>
              <a:rPr lang="zh-CN" altLang="zh-CN" sz="2000" dirty="0"/>
              <a:t>为</a:t>
            </a:r>
            <a:r>
              <a:rPr lang="en-US" altLang="zh-CN" sz="2000" dirty="0"/>
              <a:t> 0</a:t>
            </a:r>
            <a:r>
              <a:rPr lang="zh-CN" altLang="zh-CN" sz="2000" dirty="0"/>
              <a:t>，则三重循环的条件都不满足，中止嵌套循环</a:t>
            </a:r>
            <a:r>
              <a:rPr lang="en-US" altLang="zh-CN" sz="2000" dirty="0"/>
              <a:t> */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/>
              <a:t>             flag = 0; 	</a:t>
            </a:r>
            <a:endParaRPr lang="zh-CN" altLang="zh-CN" sz="24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/>
              <a:t>         }</a:t>
            </a:r>
            <a:endParaRPr lang="zh-CN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073488028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5266928" cy="739552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本章总结</a:t>
            </a:r>
          </a:p>
        </p:txBody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196752"/>
            <a:ext cx="8507288" cy="5256584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rgbClr val="000000"/>
                </a:solidFill>
              </a:rPr>
              <a:t>循环结构以及循环执行机制</a:t>
            </a:r>
          </a:p>
          <a:p>
            <a:pPr lvl="1">
              <a:defRPr/>
            </a:pPr>
            <a:r>
              <a:rPr lang="en-US" altLang="zh-CN" dirty="0">
                <a:solidFill>
                  <a:srgbClr val="000000"/>
                </a:solidFill>
              </a:rPr>
              <a:t>while</a:t>
            </a:r>
            <a:r>
              <a:rPr lang="zh-CN" altLang="zh-CN" dirty="0" err="1">
                <a:solidFill>
                  <a:srgbClr val="000000"/>
                </a:solidFill>
              </a:rPr>
              <a:t> </a:t>
            </a:r>
            <a:r>
              <a:rPr lang="en-US" altLang="zh-CN" dirty="0">
                <a:solidFill>
                  <a:srgbClr val="000000"/>
                </a:solidFill>
              </a:rPr>
              <a:t>do-while</a:t>
            </a:r>
            <a:r>
              <a:rPr lang="zh-CN" altLang="en-US" dirty="0">
                <a:solidFill>
                  <a:srgbClr val="000000"/>
                </a:solidFill>
              </a:rPr>
              <a:t> </a:t>
            </a:r>
            <a:r>
              <a:rPr lang="en-US" altLang="zh-CN" dirty="0">
                <a:solidFill>
                  <a:srgbClr val="000000"/>
                </a:solidFill>
              </a:rPr>
              <a:t>for</a:t>
            </a: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</a:rPr>
              <a:t>break</a:t>
            </a:r>
            <a:r>
              <a:rPr lang="zh-CN" altLang="en-US" dirty="0">
                <a:solidFill>
                  <a:srgbClr val="000000"/>
                </a:solidFill>
              </a:rPr>
              <a:t>与</a:t>
            </a:r>
            <a:r>
              <a:rPr lang="en-US" altLang="zh-CN" dirty="0">
                <a:solidFill>
                  <a:srgbClr val="000000"/>
                </a:solidFill>
              </a:rPr>
              <a:t>continue</a:t>
            </a:r>
            <a:r>
              <a:rPr lang="zh-CN" altLang="en-US" dirty="0">
                <a:solidFill>
                  <a:srgbClr val="000000"/>
                </a:solidFill>
              </a:rPr>
              <a:t>语句</a:t>
            </a:r>
          </a:p>
          <a:p>
            <a:pPr>
              <a:defRPr/>
            </a:pPr>
            <a:r>
              <a:rPr lang="zh-CN" altLang="en-US" dirty="0">
                <a:solidFill>
                  <a:srgbClr val="000000"/>
                </a:solidFill>
              </a:rPr>
              <a:t>嵌套循环</a:t>
            </a:r>
            <a:endParaRPr lang="en-US" altLang="zh-CN" dirty="0">
              <a:solidFill>
                <a:srgbClr val="000000"/>
              </a:solidFill>
            </a:endParaRPr>
          </a:p>
          <a:p>
            <a:pPr>
              <a:defRPr/>
            </a:pPr>
            <a:r>
              <a:rPr lang="zh-CN" altLang="en-US" dirty="0"/>
              <a:t>综合程序设计（循环结构）</a:t>
            </a:r>
            <a:endParaRPr lang="zh-CN" altLang="en-US" dirty="0">
              <a:solidFill>
                <a:srgbClr val="000000"/>
              </a:solidFill>
            </a:endParaRPr>
          </a:p>
          <a:p>
            <a:pPr>
              <a:defRPr/>
            </a:pPr>
            <a:r>
              <a:rPr lang="zh-CN" altLang="en-US" dirty="0">
                <a:solidFill>
                  <a:srgbClr val="000000"/>
                </a:solidFill>
              </a:rPr>
              <a:t>常用算法</a:t>
            </a:r>
            <a:endParaRPr lang="en-US" altLang="zh-CN" dirty="0">
              <a:solidFill>
                <a:srgbClr val="000000"/>
              </a:solidFill>
            </a:endParaRPr>
          </a:p>
          <a:p>
            <a:pPr lvl="1">
              <a:defRPr/>
            </a:pPr>
            <a:r>
              <a:rPr lang="zh-CN" altLang="en-US" dirty="0">
                <a:solidFill>
                  <a:srgbClr val="000000"/>
                </a:solidFill>
              </a:rPr>
              <a:t>例题：求</a:t>
            </a:r>
            <a:r>
              <a:rPr lang="en-US" altLang="zh-CN" dirty="0">
                <a:solidFill>
                  <a:srgbClr val="000000"/>
                </a:solidFill>
              </a:rPr>
              <a:t>π</a:t>
            </a:r>
            <a:r>
              <a:rPr lang="zh-CN" altLang="en-US" dirty="0">
                <a:solidFill>
                  <a:srgbClr val="000000"/>
                </a:solidFill>
              </a:rPr>
              <a:t>、拆分整数、求素数、猜数、求最值、求</a:t>
            </a:r>
            <a:r>
              <a:rPr lang="en-US" altLang="zh-CN" dirty="0" err="1">
                <a:solidFill>
                  <a:srgbClr val="000000"/>
                </a:solidFill>
              </a:rPr>
              <a:t>fibonacci</a:t>
            </a:r>
            <a:r>
              <a:rPr lang="zh-CN" altLang="en-US">
                <a:solidFill>
                  <a:srgbClr val="000000"/>
                </a:solidFill>
              </a:rPr>
              <a:t>、找零钱</a:t>
            </a:r>
            <a:endParaRPr lang="en-US" altLang="zh-CN" dirty="0">
              <a:solidFill>
                <a:srgbClr val="000000"/>
              </a:solidFill>
            </a:endParaRPr>
          </a:p>
          <a:p>
            <a:pPr lvl="1">
              <a:defRPr/>
            </a:pPr>
            <a:r>
              <a:rPr lang="zh-CN" altLang="en-US" dirty="0">
                <a:solidFill>
                  <a:srgbClr val="000000"/>
                </a:solidFill>
              </a:rPr>
              <a:t>习题：求水仙花数、求最大公约数</a:t>
            </a:r>
            <a:r>
              <a:rPr lang="en-US" altLang="zh-CN" dirty="0">
                <a:solidFill>
                  <a:srgbClr val="000000"/>
                </a:solidFill>
              </a:rPr>
              <a:t>/</a:t>
            </a:r>
            <a:r>
              <a:rPr lang="zh-CN" altLang="en-US" dirty="0">
                <a:solidFill>
                  <a:srgbClr val="000000"/>
                </a:solidFill>
              </a:rPr>
              <a:t>最小公倍数、求</a:t>
            </a:r>
            <a:r>
              <a:rPr lang="en-US" altLang="zh-CN" dirty="0" err="1">
                <a:solidFill>
                  <a:srgbClr val="000000"/>
                </a:solidFill>
              </a:rPr>
              <a:t>ddd</a:t>
            </a:r>
            <a:endParaRPr lang="en-US" altLang="zh-CN" dirty="0">
              <a:solidFill>
                <a:srgbClr val="000000"/>
              </a:solidFill>
            </a:endParaRPr>
          </a:p>
          <a:p>
            <a:pPr lvl="1">
              <a:defRPr/>
            </a:pPr>
            <a:endParaRPr lang="zh-CN" altLang="en-US" sz="2400" dirty="0">
              <a:solidFill>
                <a:srgbClr val="000000"/>
              </a:solidFill>
            </a:endParaRPr>
          </a:p>
        </p:txBody>
      </p:sp>
      <p:sp>
        <p:nvSpPr>
          <p:cNvPr id="181252" name="Text Box 4"/>
          <p:cNvSpPr txBox="1">
            <a:spLocks noChangeArrowheads="1"/>
          </p:cNvSpPr>
          <p:nvPr/>
        </p:nvSpPr>
        <p:spPr bwMode="auto">
          <a:xfrm>
            <a:off x="3131840" y="1268760"/>
            <a:ext cx="5852884" cy="1938992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1"/>
            </a:solidFill>
            <a:prstDash val="sysDot"/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spAutoFit/>
          </a:bodyPr>
          <a:lstStyle/>
          <a:p>
            <a:pPr marL="342900" indent="-342900">
              <a:buFont typeface="Arial"/>
              <a:buChar char="•"/>
              <a:defRPr/>
            </a:pPr>
            <a:r>
              <a:rPr lang="zh-CN" altLang="en-US" sz="2400" dirty="0">
                <a:solidFill>
                  <a:srgbClr val="000000"/>
                </a:solidFill>
              </a:rPr>
              <a:t>理解 </a:t>
            </a:r>
            <a:r>
              <a:rPr lang="en-US" altLang="zh-CN" sz="2400" dirty="0">
                <a:solidFill>
                  <a:srgbClr val="000000"/>
                </a:solidFill>
              </a:rPr>
              <a:t>while</a:t>
            </a:r>
            <a:r>
              <a:rPr lang="zh-CN" altLang="en-US" sz="2400" dirty="0">
                <a:solidFill>
                  <a:srgbClr val="000000"/>
                </a:solidFill>
              </a:rPr>
              <a:t>和 </a:t>
            </a:r>
            <a:r>
              <a:rPr lang="en-US" altLang="zh-CN" sz="2400" dirty="0">
                <a:solidFill>
                  <a:srgbClr val="000000"/>
                </a:solidFill>
              </a:rPr>
              <a:t>do-while</a:t>
            </a:r>
            <a:r>
              <a:rPr lang="zh-CN" altLang="en-US" sz="2400" dirty="0">
                <a:solidFill>
                  <a:srgbClr val="000000"/>
                </a:solidFill>
              </a:rPr>
              <a:t>的执行机制；</a:t>
            </a:r>
          </a:p>
          <a:p>
            <a:pPr marL="342900" indent="-342900">
              <a:buFont typeface="Arial"/>
              <a:buChar char="•"/>
              <a:defRPr/>
            </a:pPr>
            <a:r>
              <a:rPr lang="zh-CN" altLang="en-US" sz="2400" dirty="0">
                <a:solidFill>
                  <a:srgbClr val="000000"/>
                </a:solidFill>
              </a:rPr>
              <a:t>掌握 </a:t>
            </a:r>
            <a:r>
              <a:rPr lang="en-US" altLang="zh-CN" sz="2400" dirty="0">
                <a:solidFill>
                  <a:srgbClr val="000000"/>
                </a:solidFill>
              </a:rPr>
              <a:t>break </a:t>
            </a:r>
            <a:r>
              <a:rPr lang="zh-CN" altLang="en-US" sz="2400" dirty="0">
                <a:solidFill>
                  <a:srgbClr val="000000"/>
                </a:solidFill>
              </a:rPr>
              <a:t>和 </a:t>
            </a:r>
            <a:r>
              <a:rPr lang="en-US" altLang="zh-CN" sz="2400" dirty="0">
                <a:solidFill>
                  <a:srgbClr val="000000"/>
                </a:solidFill>
              </a:rPr>
              <a:t>continue </a:t>
            </a:r>
            <a:r>
              <a:rPr lang="zh-CN" altLang="en-US" sz="2400" dirty="0">
                <a:solidFill>
                  <a:srgbClr val="000000"/>
                </a:solidFill>
              </a:rPr>
              <a:t>的作用方式；</a:t>
            </a:r>
          </a:p>
          <a:p>
            <a:pPr marL="342900" indent="-342900">
              <a:buFont typeface="Arial"/>
              <a:buChar char="•"/>
              <a:defRPr/>
            </a:pPr>
            <a:r>
              <a:rPr lang="zh-CN" altLang="en-US" sz="2400" dirty="0">
                <a:solidFill>
                  <a:srgbClr val="000000"/>
                </a:solidFill>
              </a:rPr>
              <a:t>掌握嵌套循环的执行机制与设计方法；</a:t>
            </a:r>
          </a:p>
          <a:p>
            <a:pPr marL="342900" indent="-342900">
              <a:buFont typeface="Arial"/>
              <a:buChar char="•"/>
              <a:defRPr/>
            </a:pPr>
            <a:r>
              <a:rPr lang="zh-CN" altLang="en-US" sz="2400" dirty="0">
                <a:solidFill>
                  <a:srgbClr val="000000"/>
                </a:solidFill>
              </a:rPr>
              <a:t>能熟练循环语句编写循环结构类的程序； 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marL="342900" indent="-342900">
              <a:buFont typeface="Arial"/>
              <a:buChar char="•"/>
              <a:defRPr/>
            </a:pPr>
            <a:r>
              <a:rPr lang="zh-CN" altLang="en-US" sz="2400" dirty="0">
                <a:solidFill>
                  <a:srgbClr val="000000"/>
                </a:solidFill>
              </a:rPr>
              <a:t>熟练掌握常用算法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1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1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1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1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1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1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1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1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1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1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1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1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1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1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1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1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18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1" grpId="0" build="p"/>
      <p:bldP spid="181252" grpId="0" animBg="1"/>
    </p:bldLst>
  </p:timing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宋体"/>
      </a:majorFont>
      <a:minorFont>
        <a:latin typeface="Arial"/>
        <a:ea typeface="宋体"/>
        <a:cs typeface="宋体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 xmlns="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xmlns="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 xmlns="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400" b="1" i="0" u="none" strike="noStrike" cap="none" normalizeH="0" baseline="0">
            <a:ln>
              <a:noFill/>
            </a:ln>
            <a:solidFill>
              <a:schemeClr val="hlink"/>
            </a:solidFill>
            <a:effectLst/>
            <a:latin typeface="Arial" charset="0"/>
            <a:ea typeface="宋体" charset="0"/>
            <a:cs typeface="宋体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 xmlns="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xmlns="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 xmlns="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400" b="1" i="0" u="none" strike="noStrike" cap="none" normalizeH="0" baseline="0">
            <a:ln>
              <a:noFill/>
            </a:ln>
            <a:solidFill>
              <a:schemeClr val="hlink"/>
            </a:solidFill>
            <a:effectLst/>
            <a:latin typeface="Arial" charset="0"/>
            <a:ea typeface="宋体" charset="0"/>
            <a:cs typeface="宋体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4751</TotalTime>
  <Words>4833</Words>
  <Application>Microsoft Office PowerPoint</Application>
  <PresentationFormat>全屏显示(4:3)</PresentationFormat>
  <Paragraphs>901</Paragraphs>
  <Slides>54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54</vt:i4>
      </vt:variant>
    </vt:vector>
  </HeadingPairs>
  <TitlesOfParts>
    <vt:vector size="71" baseType="lpstr">
      <vt:lpstr>Arial Unicode MS</vt:lpstr>
      <vt:lpstr>Monotype Sorts</vt:lpstr>
      <vt:lpstr>仿宋_GB2312</vt:lpstr>
      <vt:lpstr>黑体</vt:lpstr>
      <vt:lpstr>华文行楷</vt:lpstr>
      <vt:lpstr>宋体</vt:lpstr>
      <vt:lpstr>Arial</vt:lpstr>
      <vt:lpstr>Arial Black</vt:lpstr>
      <vt:lpstr>Symbol</vt:lpstr>
      <vt:lpstr>Times New Roman</vt:lpstr>
      <vt:lpstr>Wingdings</vt:lpstr>
      <vt:lpstr>Pixel</vt:lpstr>
      <vt:lpstr>Equation.3</vt:lpstr>
      <vt:lpstr>位图图像</vt:lpstr>
      <vt:lpstr>公式</vt:lpstr>
      <vt:lpstr>文档</vt:lpstr>
      <vt:lpstr>Equation.DSMT4</vt:lpstr>
      <vt:lpstr>第 四 章  循环结构</vt:lpstr>
      <vt:lpstr>本章要点</vt:lpstr>
      <vt:lpstr>4.1 用格里高利公式求π的近似值</vt:lpstr>
      <vt:lpstr>4.1.1  程序解析－求π的近似值</vt:lpstr>
      <vt:lpstr>例4-1源程序－求π的近似值</vt:lpstr>
      <vt:lpstr>4.1.2 while 语句</vt:lpstr>
      <vt:lpstr>while 语句说明</vt:lpstr>
      <vt:lpstr>while 和 for 的比较</vt:lpstr>
      <vt:lpstr>统计学生的成绩</vt:lpstr>
      <vt:lpstr>分析-统计成绩</vt:lpstr>
      <vt:lpstr>程序段-统计成绩</vt:lpstr>
      <vt:lpstr>例4-2 源程序-统计成绩</vt:lpstr>
      <vt:lpstr>小结-常见的 循环控制方式</vt:lpstr>
      <vt:lpstr>4.2 统计一个整数的位数</vt:lpstr>
      <vt:lpstr>4.2.1  程序解析-统计一个整数的位数</vt:lpstr>
      <vt:lpstr>算法-统计一个整数的位数</vt:lpstr>
      <vt:lpstr>例4-3 源程序1 统计位数</vt:lpstr>
      <vt:lpstr>例4-3 源程序2</vt:lpstr>
      <vt:lpstr>4.2.2 do - while 语句</vt:lpstr>
      <vt:lpstr>while 和 do-while 的比较</vt:lpstr>
      <vt:lpstr>例4-4  将一个整数逆序输出</vt:lpstr>
      <vt:lpstr>4.3 判断素数</vt:lpstr>
      <vt:lpstr>4.3.1 程序解析－判断素数</vt:lpstr>
      <vt:lpstr>例4-5 源程序段1-判断素数</vt:lpstr>
      <vt:lpstr>4.3.2 break 语句</vt:lpstr>
      <vt:lpstr>练习-输出结果是什么？</vt:lpstr>
      <vt:lpstr>continue 语句</vt:lpstr>
      <vt:lpstr>break和continue</vt:lpstr>
      <vt:lpstr>for/while的差异- continue </vt:lpstr>
      <vt:lpstr>例4-6-1 简单的猜数游戏，最多允许猜7次。</vt:lpstr>
      <vt:lpstr>例4-5源程序段2-判断素数</vt:lpstr>
      <vt:lpstr>例4-6-2 简单的猜数游戏，最多允许猜7次。</vt:lpstr>
      <vt:lpstr>4.4  求1! + 2! + … + n!</vt:lpstr>
      <vt:lpstr>4.4.1  程序解析  求1! + 2! + …. + n!</vt:lpstr>
      <vt:lpstr>4.4.2  嵌套循环</vt:lpstr>
      <vt:lpstr>讨论-内层循环的初始化</vt:lpstr>
      <vt:lpstr>分析嵌套循环的执行过程</vt:lpstr>
      <vt:lpstr>PowerPoint 演示文稿</vt:lpstr>
      <vt:lpstr>4.5  循环结构程序设计</vt:lpstr>
      <vt:lpstr>常见的循环控制方式</vt:lpstr>
      <vt:lpstr>循环语句的选择</vt:lpstr>
      <vt:lpstr>例4-8 输入一批学生的成绩，求最高分(for)</vt:lpstr>
      <vt:lpstr>例4-8 输入一批学生的成绩，求最高分(while)</vt:lpstr>
      <vt:lpstr>例4-8 输入一批学生的成绩，求最高分(do-while)</vt:lpstr>
      <vt:lpstr>例4-9 Fibonacci数列问题</vt:lpstr>
      <vt:lpstr>例4-9 源程序段-求Fibonacci数列</vt:lpstr>
      <vt:lpstr>例4-10 素数问题</vt:lpstr>
      <vt:lpstr>例4-10 素数问题</vt:lpstr>
      <vt:lpstr>例4-10  源程序段</vt:lpstr>
      <vt:lpstr>例4-11古典算术问题－搬砖问题</vt:lpstr>
      <vt:lpstr>例4-11 源程序段2</vt:lpstr>
      <vt:lpstr>例4-12  找零钱问题</vt:lpstr>
      <vt:lpstr>例4-12 源程序段-找零钱</vt:lpstr>
      <vt:lpstr>本章总结</vt:lpstr>
    </vt:vector>
  </TitlesOfParts>
  <Manager/>
  <Company> 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chap3 循环结构</dc:title>
  <dc:creator>yangqf</dc:creator>
  <cp:lastModifiedBy>zhangyong</cp:lastModifiedBy>
  <cp:revision>1169</cp:revision>
  <dcterms:created xsi:type="dcterms:W3CDTF">1998-03-04T14:16:10Z</dcterms:created>
  <dcterms:modified xsi:type="dcterms:W3CDTF">2020-10-15T05:00:39Z</dcterms:modified>
</cp:coreProperties>
</file>