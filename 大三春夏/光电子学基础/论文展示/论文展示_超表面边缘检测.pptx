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9" r:id="rId7"/>
    <p:sldId id="262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189" autoAdjust="0"/>
  </p:normalViewPr>
  <p:slideViewPr>
    <p:cSldViewPr snapToGrid="0" snapToObjects="1">
      <p:cViewPr varScale="1">
        <p:scale>
          <a:sx n="48" d="100"/>
          <a:sy n="48" d="100"/>
        </p:scale>
        <p:origin x="134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F8CE4-1EFD-416C-B9BF-9136F31ECBC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21534-358D-45FA-B5B7-077A6A84A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6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大家好。今天我为大家介绍一篇由美国西北大学电气与计算机工程系发表在 </a:t>
            </a:r>
            <a:r>
              <a:rPr lang="en-US" altLang="zh-CN"/>
              <a:t>Nature Communications 2023 </a:t>
            </a:r>
            <a:r>
              <a:rPr lang="zh-CN" altLang="en-US"/>
              <a:t>年的论文，题目是</a:t>
            </a:r>
            <a:r>
              <a:rPr lang="en-US" altLang="zh-CN"/>
              <a:t>"Metasurface Enabled Broadband All-Optical Edge Detection in Visible Frequencies"</a:t>
            </a:r>
            <a:r>
              <a:rPr lang="zh-CN" altLang="en-US"/>
              <a:t>意即</a:t>
            </a:r>
            <a:r>
              <a:rPr lang="en-US" altLang="zh-CN"/>
              <a:t>"</a:t>
            </a:r>
            <a:r>
              <a:rPr lang="zh-CN" altLang="en-US"/>
              <a:t>超表面实现可见光频段宽带全光边缘检测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用一句话概括而言，这篇论文做的事情是：</a:t>
            </a:r>
            <a:r>
              <a:rPr lang="en-US" altLang="zh-CN"/>
              <a:t>“</a:t>
            </a:r>
            <a:r>
              <a:rPr lang="zh-CN" altLang="en-US"/>
              <a:t>研发了一块特殊的纳米薄片，即 </a:t>
            </a:r>
            <a:r>
              <a:rPr lang="en-US" altLang="zh-CN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Metasurface</a:t>
            </a:r>
            <a:r>
              <a:rPr lang="en-US" altLang="zh-CN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/>
              <a:t>超表面，实现了</a:t>
            </a:r>
            <a:r>
              <a:rPr lang="en-US" altLang="zh-CN" b="1"/>
              <a:t>Edge Detection </a:t>
            </a:r>
            <a:r>
              <a:rPr lang="zh-CN" altLang="en-US"/>
              <a:t>边缘检测 。而本篇文章的优势就在于其频带宽，且在普通白光下就能工作，即</a:t>
            </a:r>
            <a:r>
              <a:rPr lang="en-US" altLang="zh-CN" b="1"/>
              <a:t>Broadband</a:t>
            </a:r>
            <a:r>
              <a:rPr lang="zh-CN" altLang="en-US" b="1"/>
              <a:t>，</a:t>
            </a:r>
            <a:r>
              <a:rPr lang="en-US" altLang="zh-CN" b="1"/>
              <a:t>All-Optical</a:t>
            </a:r>
            <a:r>
              <a:rPr lang="en-US" altLang="zh-CN"/>
              <a:t>“</a:t>
            </a:r>
          </a:p>
          <a:p>
            <a:endParaRPr lang="en-US" altLang="zh-CN"/>
          </a:p>
          <a:p>
            <a:r>
              <a:rPr lang="en-US" altLang="zh-CN"/>
              <a:t>0:45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1534-358D-45FA-B5B7-077A6A84AB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863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首先，让我们回答两个问题：什么是边缘检测？为什么要用光学来实现边缘检测？</a:t>
            </a:r>
            <a:br>
              <a:rPr lang="en-US" altLang="zh-CN"/>
            </a:br>
            <a:endParaRPr lang="en-US" altLang="zh-CN"/>
          </a:p>
          <a:p>
            <a:r>
              <a:rPr lang="zh-CN" altLang="en-US"/>
              <a:t>边缘，也就是图像中亮度或颜色发生剧烈变化的区域，</a:t>
            </a:r>
            <a:r>
              <a:rPr lang="zh-CN" altLang="en-US" b="1"/>
              <a:t>像 </a:t>
            </a:r>
            <a:r>
              <a:rPr lang="en-US" altLang="zh-CN" b="1"/>
              <a:t>PPT </a:t>
            </a:r>
            <a:r>
              <a:rPr lang="zh-CN" altLang="en-US" b="1"/>
              <a:t>右侧概念图所示</a:t>
            </a:r>
            <a:r>
              <a:rPr lang="zh-CN" altLang="en-US"/>
              <a:t>，从</a:t>
            </a:r>
            <a:r>
              <a:rPr lang="en-US" altLang="zh-CN"/>
              <a:t>input</a:t>
            </a:r>
            <a:r>
              <a:rPr lang="zh-CN" altLang="en-US"/>
              <a:t>到</a:t>
            </a:r>
            <a:r>
              <a:rPr lang="en-US" altLang="zh-CN"/>
              <a:t>output</a:t>
            </a:r>
            <a:r>
              <a:rPr lang="zh-CN" altLang="en-US"/>
              <a:t>就实现了一个边缘检测，而这样的边缘检测是计算机视觉、医学影像、自动驾驶等众多现代技术的基石。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传统的边缘检测方法依赖数字信号处理，比如经典的卷积神经网络。这些方法速度受处理器时钟频率限制，消耗大量电能，同时会存在数模转换中的延时。随着实时处理和低功耗需求的不断增加，这些限制愈加突出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全光学计算提供了一条截然不同的路径：用光本身完成运算，无需 </a:t>
            </a:r>
            <a:r>
              <a:rPr lang="en-US" altLang="zh-CN"/>
              <a:t>A/D </a:t>
            </a:r>
            <a:r>
              <a:rPr lang="zh-CN" altLang="en-US"/>
              <a:t>转换，几乎零功耗完成边缘提取</a:t>
            </a:r>
            <a:r>
              <a:rPr lang="en-US" altLang="zh-CN"/>
              <a:t>——</a:t>
            </a:r>
            <a:r>
              <a:rPr lang="zh-CN" altLang="en-US" b="1"/>
              <a:t>还是像 </a:t>
            </a:r>
            <a:r>
              <a:rPr lang="en-US" altLang="zh-CN" b="1"/>
              <a:t>PPT </a:t>
            </a:r>
            <a:r>
              <a:rPr lang="zh-CN" altLang="en-US" b="1"/>
              <a:t>右侧概念图所示</a:t>
            </a:r>
            <a:r>
              <a:rPr lang="zh-CN" altLang="en-US"/>
              <a:t>，核心思路非常直观：输入一张包含字母</a:t>
            </a:r>
            <a:r>
              <a:rPr lang="en-US" altLang="zh-CN"/>
              <a:t>"A"</a:t>
            </a:r>
            <a:r>
              <a:rPr lang="zh-CN" altLang="en-US"/>
              <a:t>的图像，让光线穿过一块超表面，输出侧就直接呈现出字母</a:t>
            </a:r>
            <a:r>
              <a:rPr lang="en-US" altLang="zh-CN"/>
              <a:t>"A"</a:t>
            </a:r>
            <a:r>
              <a:rPr lang="zh-CN" altLang="en-US"/>
              <a:t>的轮廓线，背景消失，只剩边缘，整个过程不需要任何电路运算。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好，谈了这么多，所以应该如何实现边缘检测？其实很好理解，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边缘检测的数学本质就是对图像做空间微分，边缘对应着图像亮度的剧烈变化，而亮度的变化率正是导数。因此，对图像实施空间微分就能自动提取轮廓，实现边缘检测，而这就引出了全光学计算发展的两条主流路径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2:45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b="0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第一种是基于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4f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光学系统的（关于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4f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光学系统我会在下一页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详细讲解），第二种是基于超表面的共振方案，我查找到了两篇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2019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年的论文，分别以这两篇论文为例：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/>
          </a:p>
          <a:p>
            <a:r>
              <a:rPr lang="zh-CN" altLang="en-US"/>
              <a:t>如左图所示，</a:t>
            </a:r>
            <a:r>
              <a:rPr lang="en-US" altLang="zh-CN"/>
              <a:t>Zhou </a:t>
            </a:r>
            <a:r>
              <a:rPr lang="zh-CN" altLang="en-US"/>
              <a:t>等人在</a:t>
            </a:r>
            <a:r>
              <a:rPr lang="en-US" altLang="zh-CN"/>
              <a:t>4f</a:t>
            </a:r>
            <a:r>
              <a:rPr lang="zh-CN" altLang="en-US"/>
              <a:t>系统的基础上，利用一个</a:t>
            </a:r>
            <a:r>
              <a:rPr lang="en-US" altLang="zh-CN"/>
              <a:t>PB</a:t>
            </a:r>
            <a:r>
              <a:rPr lang="zh-CN" altLang="en-US"/>
              <a:t>相位超表面，将待测的线偏振入射光分解为向相反方向偏折的左旋（</a:t>
            </a:r>
            <a:r>
              <a:rPr lang="en-US" altLang="zh-CN"/>
              <a:t>LCP</a:t>
            </a:r>
            <a:r>
              <a:rPr lang="zh-CN" altLang="en-US"/>
              <a:t>）和右旋（</a:t>
            </a:r>
            <a:r>
              <a:rPr lang="en-US" altLang="zh-CN"/>
              <a:t>RCP</a:t>
            </a:r>
            <a:r>
              <a:rPr lang="zh-CN" altLang="en-US"/>
              <a:t>）圆偏振分量。这两个分量经后置偏振分析器重新干涉相减，输出场就可以像公式这样，实现了沿</a:t>
            </a:r>
            <a:r>
              <a:rPr lang="en-US" altLang="zh-CN"/>
              <a:t>x</a:t>
            </a:r>
            <a:r>
              <a:rPr lang="zh-CN" altLang="en-US"/>
              <a:t>方向的一阶空间微分。然而，这种方案需要相干激光和特定偏振态；且方向性强，对</a:t>
            </a:r>
            <a:r>
              <a:rPr lang="en-US" altLang="zh-CN"/>
              <a:t>y</a:t>
            </a:r>
            <a:r>
              <a:rPr lang="zh-CN" altLang="en-US"/>
              <a:t>方向的边缘不敏感。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如右图所示，</a:t>
            </a:r>
            <a:r>
              <a:rPr lang="en-US" altLang="zh-CN"/>
              <a:t>Cordaro</a:t>
            </a:r>
            <a:r>
              <a:rPr lang="zh-CN" altLang="en-US"/>
              <a:t> 等人利用硅纳米梁阵列的 </a:t>
            </a:r>
            <a:r>
              <a:rPr lang="en-US" altLang="zh-CN"/>
              <a:t>Fano</a:t>
            </a:r>
            <a:r>
              <a:rPr lang="zh-CN" altLang="en-US"/>
              <a:t>共振，如右图是透射率与波长的关系，随入射角增大，共振峰向短波方向移动（蓝移）。在固定工作波长也就是红色虚线处，法向入射时，也就是紫线，恰在共振极小，透射率小；斜入射时，也就是黄线，偏离共振，透射率较大，也就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实现了空间微分，然而，如图，工作波长被共振线宽锁定，带宽仅数纳米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而本文将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4f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系统与非共振铝纳米环超表面相结合，对应着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相干激光，偏振态，各向异性与工作波长短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实现了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白光兼容、偏振无关、各向同性与宽带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四大突破。接下来我将从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4f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系统与超表面两个方面讲述其实现原理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/>
              <a:t>（</a:t>
            </a:r>
            <a:r>
              <a:rPr lang="en-US" altLang="zh-CN"/>
              <a:t>PB</a:t>
            </a:r>
            <a:r>
              <a:rPr lang="zh-CN" altLang="en-US"/>
              <a:t>相位：旋转纳米单元的取向来控制相位，根据推导，旋转纳米单元角度</a:t>
            </a:r>
            <a:r>
              <a:rPr lang="en-US" altLang="zh-CN"/>
              <a:t>θ</a:t>
            </a:r>
            <a:r>
              <a:rPr lang="zh-CN" altLang="en-US"/>
              <a:t>就会产生</a:t>
            </a:r>
            <a:r>
              <a:rPr lang="en-US" altLang="zh-CN"/>
              <a:t>2θ</a:t>
            </a:r>
            <a:r>
              <a:rPr lang="zh-CN" altLang="en-US"/>
              <a:t>的相位，还有共振相位，如右图，由于透射率变化，相位也会产生极大变化，传输相位，这个好理解，就是我们上课所讲的，光在介质中传播，光程的积累会产生相位差）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这篇工作的核心是 </a:t>
            </a:r>
            <a:r>
              <a:rPr lang="en-US" altLang="zh-CN"/>
              <a:t>4f </a:t>
            </a:r>
            <a:r>
              <a:rPr lang="zh-CN" altLang="en-US"/>
              <a:t>系统。如右图上所示，</a:t>
            </a:r>
            <a:r>
              <a:rPr lang="en-US" altLang="zh-CN"/>
              <a:t>4f </a:t>
            </a:r>
            <a:r>
              <a:rPr lang="zh-CN" altLang="en-US"/>
              <a:t>系统由两个焦距均为 </a:t>
            </a:r>
            <a:r>
              <a:rPr lang="en-US" altLang="zh-CN"/>
              <a:t>f </a:t>
            </a:r>
            <a:r>
              <a:rPr lang="zh-CN" altLang="en-US"/>
              <a:t>的透镜组成，物面（在此图中为振幅掩模）在第一个透镜前方 </a:t>
            </a:r>
            <a:r>
              <a:rPr lang="en-US" altLang="zh-CN"/>
              <a:t>f </a:t>
            </a:r>
            <a:r>
              <a:rPr lang="zh-CN" altLang="en-US"/>
              <a:t>处，超表面置于两透镜正中的傅里叶平面，像面（在此图中为</a:t>
            </a:r>
            <a:r>
              <a:rPr lang="en-US" altLang="zh-CN"/>
              <a:t>CCD</a:t>
            </a:r>
            <a:r>
              <a:rPr lang="zh-CN" altLang="en-US"/>
              <a:t>）位于第二个透镜后方 </a:t>
            </a:r>
            <a:r>
              <a:rPr lang="en-US" altLang="zh-CN"/>
              <a:t>f </a:t>
            </a:r>
            <a:r>
              <a:rPr lang="zh-CN" altLang="en-US"/>
              <a:t>处。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由左下图的公式可以推出，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透镜执行的数学运算正是二维傅里叶变换，所以如右图下所示，图像经过第一个透镜时由空间变为空间频率，而在经过第二个透镜时由空间频率变回空间，类似于我们学的时域到频域，再从频域到时域的转换，而为了实现空间上的二阶微分，需要让超表面在傅里叶平面的传递函数为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t(r) ~ -r²(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这个负号仅是数学上与拉普拉斯算子对齐所必需的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相位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详细的来讲，由于光衍射的原理，光在经过图像变化剧烈的地方会产生偏折，如果一束平行光直射进一幅均匀图像，因为没有任何偏转，它经过透镜后会精确地汇聚在焦点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也就是傅里叶平面上的原点（光轴中心）。所以这种直射光，对应傅里叶平面上的原点，零空间频率，也就是画面中完全均匀、没有任何变化的背景成分。反过来，对于图像里那些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突然变亮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突然变暗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边缘，光经过时会产生较大偏折，故在经过透镜后不会落在傅里叶平面的原点，而是会被偏折到傅里叶平面上远离光轴的位置，这些光对应的正是高空间频率成分，也就是画面中的边缘部分。因此，只要实现这个二次函数，也就是在傅里叶平面上挡住中心（低频）、放行边缘（高频），图像里的轮廓就自然被提取出来了。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那这个超表面是如何构建的呢？大致可以分成三步，第一步，在一维上进行仿真，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条宽在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nm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 nm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之间渐变，周期固定。</a:t>
            </a:r>
            <a:r>
              <a:rPr lang="zh-CN" altLang="en-US"/>
              <a:t>如右图</a:t>
            </a:r>
            <a:r>
              <a:rPr lang="en-US" altLang="zh-CN"/>
              <a:t>a</a:t>
            </a:r>
            <a:r>
              <a:rPr lang="zh-CN" altLang="en-US"/>
              <a:t>，论文通过沉积在 </a:t>
            </a:r>
            <a:r>
              <a:rPr lang="en-US" altLang="zh-CN"/>
              <a:t>SiO₂ </a:t>
            </a:r>
            <a:r>
              <a:rPr lang="zh-CN" altLang="en-US"/>
              <a:t>衬底上的铝条构建超表面，作者通过商业仿真软件</a:t>
            </a:r>
            <a:r>
              <a:rPr lang="en-US" altLang="zh-CN"/>
              <a:t>FDTD</a:t>
            </a:r>
            <a:r>
              <a:rPr lang="zh-CN" altLang="en-US"/>
              <a:t>对不同宽度铝条的传输幅度和相位进行扫描，筛选出在 </a:t>
            </a:r>
            <a:r>
              <a:rPr lang="en-US" altLang="zh-CN"/>
              <a:t>450 nm</a:t>
            </a:r>
            <a:r>
              <a:rPr lang="zh-CN" altLang="en-US"/>
              <a:t>、</a:t>
            </a:r>
            <a:r>
              <a:rPr lang="en-US" altLang="zh-CN"/>
              <a:t>550 nm</a:t>
            </a:r>
            <a:r>
              <a:rPr lang="zh-CN" altLang="en-US"/>
              <a:t>、</a:t>
            </a:r>
            <a:r>
              <a:rPr lang="en-US" altLang="zh-CN"/>
              <a:t>660 nm </a:t>
            </a:r>
            <a:r>
              <a:rPr lang="zh-CN" altLang="en-US"/>
              <a:t>三个代表性波长均满足目标传递函数的单元集合，建立</a:t>
            </a:r>
            <a:r>
              <a:rPr lang="en-US" altLang="zh-CN"/>
              <a:t>“</a:t>
            </a:r>
            <a:r>
              <a:rPr lang="zh-CN" altLang="en-US"/>
              <a:t>单元库</a:t>
            </a:r>
            <a:r>
              <a:rPr lang="en-US" altLang="zh-CN"/>
              <a:t>”</a:t>
            </a:r>
            <a:r>
              <a:rPr lang="zh-CN" altLang="en-US"/>
              <a:t>，如右图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。之后，作者从这个库中选取合适的单元，通过空间排布，来最好地逼近二阶空间微分的目标透射率响应公式。</a:t>
            </a:r>
            <a:endParaRPr lang="en-US" altLang="zh-CN"/>
          </a:p>
          <a:p>
            <a:br>
              <a:rPr lang="en-US" altLang="zh-CN"/>
            </a:br>
            <a:r>
              <a:rPr lang="zh-CN" altLang="en-US"/>
              <a:t>如右图</a:t>
            </a:r>
            <a:r>
              <a:rPr lang="en-US" altLang="zh-CN"/>
              <a:t>d,e,f,</a:t>
            </a:r>
            <a:r>
              <a:rPr lang="zh-CN" altLang="en-US"/>
              <a:t>黑色实线</a:t>
            </a:r>
            <a:r>
              <a:rPr lang="en-US" altLang="zh-CN"/>
              <a:t>/</a:t>
            </a:r>
            <a:r>
              <a:rPr lang="zh-CN" altLang="en-US"/>
              <a:t>虚线分别是透射率，相位的理想曲线，蓝色原点与红色圆点为仿真结果，这曲线就是我们之前所说的负二次函数曲线，其中的负在这里就表现为</a:t>
            </a:r>
            <a:r>
              <a:rPr lang="en-US" altLang="zh-CN"/>
              <a:t>180</a:t>
            </a:r>
            <a:r>
              <a:rPr lang="zh-CN" altLang="en-US"/>
              <a:t>度相位，二次函数就是透射率，最终，仿真曲线与理想曲线吻合较好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8</a:t>
            </a:r>
            <a:r>
              <a:rPr lang="zh-CN" altLang="en-US"/>
              <a:t>：</a:t>
            </a:r>
            <a:r>
              <a:rPr lang="en-US" altLang="zh-CN"/>
              <a:t>15</a:t>
            </a:r>
            <a:r>
              <a:rPr lang="zh-CN" altLang="en-US"/>
              <a:t>（</a:t>
            </a:r>
            <a:r>
              <a:rPr lang="en-US" altLang="zh-CN"/>
              <a:t>1:30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6180-B0D1-5A33-A500-6DDB084C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D05DC-203E-2FC0-9BBA-4769D0D19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87E5E-B7CA-5FD8-21A9-CE9C5F60A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第二步，在之前的一维单元库基础上，本论文通过</a:t>
            </a:r>
            <a:r>
              <a:rPr lang="zh-CN" altLang="en-US" b="0"/>
              <a:t>坐标变换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→ r = √(x²+y²)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，将一维铝条阵列映射为器件直径为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mm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的三维同心铝环结构，如右图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。这一变换使器件具有圆柱对称性，天然实现各向同性与偏振无关。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/>
              <a:t>右图</a:t>
            </a:r>
            <a:r>
              <a:rPr lang="en-US" altLang="zh-CN"/>
              <a:t>(b)</a:t>
            </a:r>
            <a:r>
              <a:rPr lang="zh-CN" altLang="en-US"/>
              <a:t>至</a:t>
            </a:r>
            <a:r>
              <a:rPr lang="en-US" altLang="zh-CN"/>
              <a:t>(h)</a:t>
            </a:r>
            <a:r>
              <a:rPr lang="zh-CN" altLang="en-US"/>
              <a:t>为该完整三维器件在 </a:t>
            </a:r>
            <a:r>
              <a:rPr lang="en-US" altLang="zh-CN"/>
              <a:t>FDTD </a:t>
            </a:r>
            <a:r>
              <a:rPr lang="zh-CN" altLang="en-US"/>
              <a:t>环境下的全波仿真光场图 。在 </a:t>
            </a:r>
            <a:r>
              <a:rPr lang="en-US" altLang="zh-CN"/>
              <a:t>450</a:t>
            </a:r>
            <a:r>
              <a:rPr lang="zh-CN" altLang="en-US"/>
              <a:t>、</a:t>
            </a:r>
            <a:r>
              <a:rPr lang="en-US" altLang="zh-CN"/>
              <a:t>550 </a:t>
            </a:r>
            <a:r>
              <a:rPr lang="zh-CN" altLang="en-US"/>
              <a:t>与 </a:t>
            </a:r>
            <a:r>
              <a:rPr lang="en-US" altLang="zh-CN"/>
              <a:t>660 nm </a:t>
            </a:r>
            <a:r>
              <a:rPr lang="zh-CN" altLang="en-US"/>
              <a:t>三个入射波长下，器件的出射场振幅与相位分布均展现出了完美的圆柱对称性。验证了如前所说的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各向同性与偏振无关。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B15F2-6ECF-0B11-AE65-966E8B029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91606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第三步，在理论与数值验证完毕后，研究人员通过电子束光刻（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）与金属剥离（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Lift-off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）工艺完成了超表面的物理制备，简单来说，我们先</a:t>
            </a:r>
            <a:r>
              <a:rPr lang="zh-CN" altLang="en-US"/>
              <a:t>涂布电子束光刻胶，然后用电子束写入图案并显影，并在整个样品表面蒸镀铝薄膜，最后用丙酮超声溶解掉剩余光刻胶，其上的铝随之脱落，就留下直接附着在衬底上的铝环图案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右上方的图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为制备器件的扫描电子显微镜（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）形貌表征 。高倍图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表明了加工出的同心铝环结构具有优异的均一性。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展现了显微光谱系统实测的径向空间透射率曲线 。实验数据有力地证明，在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 nm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（蓝线）与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660 nm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（红线）波长下，器件的实际透射率分布与理想的二阶微分目标曲线高度重合 。尽管在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 nm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的短波段（紫虚线），由于加工精度的极限，器件外围透射率发生了小幅偏离与隆起，但其曲线整体依然保持了滤除低空间频率、放行高空间频率的单调特性 。因此，器件在该波段依然能够作为高通空间滤波器，实现有效的边缘检测 。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1:30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最后，本论文通过两个实验完成了实验验证，在第一个实验中，论文在标准的 </a:t>
            </a:r>
            <a:r>
              <a:rPr lang="en-US" altLang="zh-CN"/>
              <a:t>4f </a:t>
            </a:r>
            <a:r>
              <a:rPr lang="zh-CN" altLang="en-US"/>
              <a:t>光学系统中，使用了两台分立的氦氖激光器进行了相干光照明测试。其中，</a:t>
            </a:r>
            <a:r>
              <a:rPr lang="en-US" altLang="zh-CN"/>
              <a:t>543.5 nm </a:t>
            </a:r>
            <a:r>
              <a:rPr lang="zh-CN" altLang="en-US"/>
              <a:t>绿光光源是随机偏振的 ，而 </a:t>
            </a:r>
            <a:r>
              <a:rPr lang="en-US" altLang="zh-CN"/>
              <a:t>633 nm </a:t>
            </a:r>
            <a:r>
              <a:rPr lang="zh-CN" altLang="en-US"/>
              <a:t>的红光光源则是线偏振的，如图</a:t>
            </a:r>
            <a:r>
              <a:rPr lang="en-US" altLang="zh-CN"/>
              <a:t>b~i</a:t>
            </a:r>
            <a:r>
              <a:rPr lang="zh-CN" altLang="en-US"/>
              <a:t>，有趣的是，左边的这个猫科动物头像采用的是西北大学体育代表队“西北野猫队”的</a:t>
            </a:r>
            <a:r>
              <a:rPr lang="en-US" altLang="zh-CN"/>
              <a:t>logo</a:t>
            </a:r>
            <a:r>
              <a:rPr lang="zh-CN" altLang="en-US"/>
              <a:t>，而右边的则是西北大学即</a:t>
            </a:r>
            <a:r>
              <a:rPr lang="en-US" altLang="zh-CN"/>
              <a:t>Northwestern University</a:t>
            </a:r>
            <a:r>
              <a:rPr lang="zh-CN" altLang="en-US"/>
              <a:t>的官方</a:t>
            </a:r>
            <a:r>
              <a:rPr lang="en-US" altLang="zh-CN"/>
              <a:t>logo</a:t>
            </a:r>
            <a:r>
              <a:rPr lang="zh-CN" altLang="en-US"/>
              <a:t>首字母“</a:t>
            </a:r>
            <a:r>
              <a:rPr lang="en-US" altLang="zh-CN"/>
              <a:t>N”</a:t>
            </a:r>
            <a:r>
              <a:rPr lang="zh-CN" altLang="en-US"/>
              <a:t>；我们可以看到，在两种完全不同偏振态的激励下，器件均实现了良好的边缘检测，这从实验层面上严密地印证了该圆柱对称器件的极化无偏特性。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其中，图 </a:t>
            </a:r>
            <a:r>
              <a:rPr lang="en-US" altLang="zh-CN"/>
              <a:t>4j, k</a:t>
            </a:r>
            <a:r>
              <a:rPr lang="zh-CN" altLang="en-US"/>
              <a:t>是沿着图</a:t>
            </a:r>
            <a:r>
              <a:rPr lang="en-US" altLang="zh-CN"/>
              <a:t>d</a:t>
            </a:r>
            <a:r>
              <a:rPr lang="zh-CN" altLang="en-US"/>
              <a:t>，</a:t>
            </a:r>
            <a:r>
              <a:rPr lang="en-US" altLang="zh-CN"/>
              <a:t>e</a:t>
            </a:r>
            <a:r>
              <a:rPr lang="zh-CN" altLang="en-US"/>
              <a:t>，</a:t>
            </a:r>
            <a:r>
              <a:rPr lang="en-US" altLang="zh-CN"/>
              <a:t>h</a:t>
            </a:r>
            <a:r>
              <a:rPr lang="zh-CN" altLang="en-US"/>
              <a:t>，</a:t>
            </a:r>
            <a:r>
              <a:rPr lang="en-US" altLang="zh-CN"/>
              <a:t>i</a:t>
            </a:r>
            <a:r>
              <a:rPr lang="zh-CN" altLang="en-US"/>
              <a:t>取的水平截面强度曲线，原本参考图像即蓝线的斜率较大处，在边缘检测后均以尖峰的形式显现了，说明良好的实现了空间微分的效果。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11</a:t>
            </a:r>
            <a:r>
              <a:rPr lang="zh-CN" altLang="en-US"/>
              <a:t>：</a:t>
            </a:r>
            <a:r>
              <a:rPr lang="en-US" altLang="zh-CN"/>
              <a:t>45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00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1534-358D-45FA-B5B7-077A6A84AB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67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在第二个实验中，为了进一步验证器件在严苛的真实物理场景下的鲁棒性，作者移除了相干激光光源，将其替换为普通的氙弧灯，该光源产生的是覆盖整个可见光频段的宽谱、非相干且非偏振的连续白光，其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相干直径仅约为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8lambda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，相干直径：光能明显发生干涉现象的最大直径，</a:t>
            </a:r>
            <a:r>
              <a:rPr lang="zh-CN" altLang="en-US"/>
              <a:t>通俗地讲，只有在这个“直径”范围内的光，可以看作是“步调一致”的，而该光仅在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8lambda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内步调一致，证明了其非相干特性，如图左侧</a:t>
            </a:r>
            <a:r>
              <a:rPr lang="zh-CN" altLang="en-US"/>
              <a:t>图白光照明测试结果。在如此低相干性的复杂宽带照明条件下，超表面依然清晰地提取出了目标图像的高频轮廓信息。这充分证明了该器件在非相干光场中的强大空间滤波能力。</a:t>
            </a:r>
            <a:endParaRPr lang="en-US" altLang="zh-CN"/>
          </a:p>
          <a:p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作者在进行了测算后，得到右下图的数据，参考图像的对比度为 </a:t>
            </a:r>
            <a:r>
              <a:rPr lang="en-US" altLang="zh-CN"/>
              <a:t>95%</a:t>
            </a:r>
            <a:r>
              <a:rPr lang="zh-CN" altLang="en-US"/>
              <a:t>，而边缘提取后的图像对比度仍有</a:t>
            </a:r>
            <a:r>
              <a:rPr lang="en-US" altLang="zh-CN"/>
              <a:t>45% </a:t>
            </a:r>
            <a:r>
              <a:rPr lang="zh-CN" altLang="en-US"/>
              <a:t>，说明高亮边缘与暗背景之间仍有良好的可辨识度。同时，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在传输效率，也就是</a:t>
            </a:r>
            <a:r>
              <a:rPr lang="zh-CN" altLang="en-US"/>
              <a:t>经过器件处理后输出的有效光信号”与“输入器件的总光信号”之间的相对强度比例这个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指标上，本项工作峰值效率高达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48%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，平均效率也达到了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37%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。相比于传统窄带共振超表面方案通常低于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的效率 ，该设计在透射效率上实现了数量级的跨越。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1534-358D-45FA-B5B7-077A6A84AB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680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最后，我将对本篇论文的工作进行系统性的总结。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该研究从底层光学原理出发，巧妙地将</a:t>
            </a:r>
            <a:r>
              <a:rPr lang="en-US" altLang="zh-CN"/>
              <a:t>4f</a:t>
            </a:r>
            <a:r>
              <a:rPr lang="zh-CN" altLang="en-US"/>
              <a:t>光学系统与非共振超表面相结合。彻底打破了原有全光计算技术带宽极窄、依赖特定偏振态以及必须依附于相干激光的三大物理瓶颈，首次在实验上实现了覆盖 </a:t>
            </a:r>
            <a:r>
              <a:rPr lang="en-US" altLang="zh-CN"/>
              <a:t>450 nm </a:t>
            </a:r>
            <a:r>
              <a:rPr lang="zh-CN" altLang="en-US"/>
              <a:t>至 </a:t>
            </a:r>
            <a:r>
              <a:rPr lang="en-US" altLang="zh-CN"/>
              <a:t>660 nm</a:t>
            </a:r>
            <a:r>
              <a:rPr lang="zh-CN" altLang="en-US"/>
              <a:t>，甚至延伸至近红外波段的宽带全光边缘检测 。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当然，现阶段的工作仍存在一定的局限性。例如，受限于电子束光刻（</a:t>
            </a:r>
            <a:r>
              <a:rPr lang="en-US" altLang="zh-CN"/>
              <a:t>EBL</a:t>
            </a:r>
            <a:r>
              <a:rPr lang="zh-CN" altLang="en-US"/>
              <a:t>）的最小特征尺寸，器件在 </a:t>
            </a:r>
            <a:r>
              <a:rPr lang="en-US" altLang="zh-CN"/>
              <a:t>450 nm </a:t>
            </a:r>
            <a:r>
              <a:rPr lang="zh-CN" altLang="en-US"/>
              <a:t>短波长下的表现仍有提升空间 。未来若引入更为先进的纳米压印（</a:t>
            </a:r>
            <a:r>
              <a:rPr lang="en-US" altLang="zh-CN"/>
              <a:t>NIL</a:t>
            </a:r>
            <a:r>
              <a:rPr lang="zh-CN" altLang="en-US"/>
              <a:t>）等大规模制备工艺，或采用多层结构设计，其平均效率与短波长响应有望得到进一步优化。此外，将其与片上光子集成电路相融合，也具有广阔的研究前景。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总而言之，这项研究为未来低功耗、超高速的机器视觉、医学成像及自动驾驶底层硬件，提供了一种可行的革命性方案。</a:t>
            </a:r>
          </a:p>
          <a:p>
            <a:endParaRPr lang="en-US"/>
          </a:p>
          <a:p>
            <a:r>
              <a:rPr lang="en-US" altLang="zh-CN"/>
              <a:t>14</a:t>
            </a:r>
            <a:r>
              <a:rPr lang="zh-CN" altLang="en-US"/>
              <a:t>：</a:t>
            </a:r>
            <a:r>
              <a:rPr lang="en-US" altLang="zh-CN"/>
              <a:t>15</a:t>
            </a:r>
            <a:r>
              <a:rPr lang="zh-CN" altLang="en-US"/>
              <a:t>（</a:t>
            </a:r>
            <a:r>
              <a:rPr lang="en-US" altLang="zh-CN"/>
              <a:t>1:00</a:t>
            </a:r>
            <a:r>
              <a:rPr lang="zh-CN" altLang="en-US"/>
              <a:t>）</a:t>
            </a:r>
            <a:endParaRPr lang="en-US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我的汇报完毕，欢迎老师批评指正，谢谢。”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Q1</a:t>
            </a:r>
            <a:r>
              <a:rPr lang="zh-CN" altLang="en-US"/>
              <a:t>：用一句话阐明此篇论文的创新点</a:t>
            </a:r>
            <a:endParaRPr lang="en-US" altLang="zh-CN"/>
          </a:p>
          <a:p>
            <a:r>
              <a:rPr lang="en-US" altLang="zh-CN"/>
              <a:t>A1</a:t>
            </a:r>
            <a:r>
              <a:rPr lang="zh-CN" altLang="en-US"/>
              <a:t>：首次将</a:t>
            </a:r>
            <a:r>
              <a:rPr lang="en-US" altLang="zh-CN"/>
              <a:t>4f</a:t>
            </a:r>
            <a:r>
              <a:rPr lang="zh-CN" altLang="en-US"/>
              <a:t>光学系统与非共振振幅响应相结合。打破了原有全光计算技术带宽极窄、依赖特定偏振态以及必须依附于相干激光的三大物理瓶颈，实现了全光边缘检测 </a:t>
            </a:r>
            <a:endParaRPr lang="en-US" altLang="zh-CN"/>
          </a:p>
          <a:p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Q2</a:t>
            </a:r>
            <a:r>
              <a:rPr lang="zh-CN" altLang="en-US"/>
              <a:t>：什么是</a:t>
            </a:r>
            <a:r>
              <a:rPr lang="en-US" altLang="zh-CN"/>
              <a:t>PB</a:t>
            </a:r>
            <a:r>
              <a:rPr lang="zh-CN" altLang="en-US"/>
              <a:t>相位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/>
              <a:t>A2</a:t>
            </a:r>
            <a:r>
              <a:rPr lang="zh-CN" altLang="en-US" b="0"/>
              <a:t>：</a:t>
            </a:r>
            <a:r>
              <a:rPr lang="en-US" altLang="zh-CN"/>
              <a:t>PB</a:t>
            </a:r>
            <a:r>
              <a:rPr lang="zh-CN" altLang="en-US"/>
              <a:t>相位：旋转纳米单元的取向来控制相位，根据推导，旋转纳米单元角度</a:t>
            </a:r>
            <a:r>
              <a:rPr lang="en-US" altLang="zh-CN"/>
              <a:t>θ</a:t>
            </a:r>
            <a:r>
              <a:rPr lang="zh-CN" altLang="en-US"/>
              <a:t>就会产生</a:t>
            </a:r>
            <a:r>
              <a:rPr lang="en-US" altLang="zh-CN"/>
              <a:t>2θ</a:t>
            </a:r>
            <a:r>
              <a:rPr lang="zh-CN" altLang="en-US"/>
              <a:t>的相位，还有共振相位，如右图，由于透射率变化，相位也会产生极大变化，传输相位，这个好理解，就是我们上课所讲的，光在介质中传播，光程的积累会产生相位差</a:t>
            </a:r>
            <a:endParaRPr lang="en-US" altLang="zh-CN" b="0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1534-358D-45FA-B5B7-077A6A84AB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3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xiaohui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793" y="-346977"/>
            <a:ext cx="2258571" cy="15568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7472" y="960120"/>
            <a:ext cx="82296" cy="467868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5487" y="960120"/>
            <a:ext cx="45719" cy="4678680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8813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B2A"/>
                </a:solidFill>
                <a:latin typeface="Times New Roman"/>
              </a:rPr>
              <a:t>Metasurface Enabled Broadband
All-Optical Edge Detection in Visible Frequencies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518" y="3238902"/>
            <a:ext cx="10881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5BBB"/>
                </a:solidFill>
                <a:latin typeface="Times New Roman"/>
              </a:rPr>
              <a:t>Nature Communications  | 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55567"/>
            <a:ext cx="10332720" cy="20116"/>
          </a:xfrm>
          <a:prstGeom prst="rect">
            <a:avLst/>
          </a:prstGeom>
          <a:solidFill>
            <a:srgbClr val="C0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886838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22364F"/>
                </a:solidFill>
                <a:latin typeface="Times New Roman"/>
              </a:rPr>
              <a:t>Ibrahim Tanriover  ·  Sina Abedini Dereshgi  ·  Koray Aydin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743" y="4299854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5A6E86"/>
                </a:solidFill>
                <a:latin typeface="Times New Roman"/>
              </a:rPr>
              <a:t>Department of Electrical &amp; Computer Engineering, Northwestern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806689"/>
            <a:ext cx="10332720" cy="20116"/>
          </a:xfrm>
          <a:prstGeom prst="rect">
            <a:avLst/>
          </a:prstGeom>
          <a:solidFill>
            <a:srgbClr val="C0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167" y="4905485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sz="2000" b="0" i="0">
                <a:solidFill>
                  <a:srgbClr val="22364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0" i="0">
                <a:solidFill>
                  <a:srgbClr val="22364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郑智瑄</a:t>
            </a:r>
            <a:r>
              <a:rPr sz="2000" b="0" i="0">
                <a:solidFill>
                  <a:srgbClr val="22364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sz="2000" b="0" i="0">
                <a:solidFill>
                  <a:srgbClr val="22364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April 16, 2026</a:t>
            </a:r>
            <a:endParaRPr sz="2000" b="0" i="0">
              <a:solidFill>
                <a:srgbClr val="22364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DF1B4AFC-539C-499F-48D6-6EB091FB72E5}"/>
              </a:ext>
            </a:extLst>
          </p:cNvPr>
          <p:cNvSpPr txBox="1"/>
          <p:nvPr/>
        </p:nvSpPr>
        <p:spPr>
          <a:xfrm>
            <a:off x="655167" y="2312606"/>
            <a:ext cx="10881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>
                <a:latin typeface="楷体" panose="02010609060101010101" pitchFamily="49" charset="-122"/>
                <a:ea typeface="楷体" panose="02010609060101010101" pitchFamily="49" charset="-122"/>
              </a:rPr>
              <a:t>超表面实现可见光频段宽带全光边缘检测</a:t>
            </a:r>
            <a:endParaRPr sz="3800" b="1" i="0">
              <a:solidFill>
                <a:srgbClr val="0D1B2A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41DDF13-4D0D-E7A3-E63D-A880A70E1858}"/>
              </a:ext>
            </a:extLst>
          </p:cNvPr>
          <p:cNvGrpSpPr/>
          <p:nvPr/>
        </p:nvGrpSpPr>
        <p:grpSpPr>
          <a:xfrm>
            <a:off x="438912" y="1591056"/>
            <a:ext cx="6309360" cy="1182627"/>
            <a:chOff x="438912" y="1591056"/>
            <a:chExt cx="5943600" cy="1182627"/>
          </a:xfrm>
        </p:grpSpPr>
        <p:sp>
          <p:nvSpPr>
            <p:cNvPr id="6" name="TextBox 5"/>
            <p:cNvSpPr txBox="1"/>
            <p:nvPr/>
          </p:nvSpPr>
          <p:spPr>
            <a:xfrm>
              <a:off x="438912" y="1591056"/>
              <a:ext cx="201168" cy="52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1" i="0">
                  <a:solidFill>
                    <a:srgbClr val="003F87"/>
                  </a:solidFill>
                  <a:latin typeface="Times New Roman"/>
                </a:rPr>
                <a:t>›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8368" y="1591056"/>
              <a:ext cx="572414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Edge detection: fundamental operation in </a:t>
              </a:r>
              <a:r>
                <a:rPr sz="2000" b="1" i="0">
                  <a:solidFill>
                    <a:srgbClr val="FF0000"/>
                  </a:solidFill>
                  <a:latin typeface="Times New Roman"/>
                </a:rPr>
                <a:t>computer vision</a:t>
              </a:r>
              <a:r>
                <a:rPr lang="en-US" sz="1700" b="1" i="0">
                  <a:solidFill>
                    <a:srgbClr val="FF0000"/>
                  </a:solidFill>
                  <a:latin typeface="Times New Roman"/>
                </a:rPr>
                <a:t>(</a:t>
              </a:r>
              <a:r>
                <a:rPr lang="zh-CN" altLang="en-US" sz="1700" b="1" i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计算机视觉</a:t>
              </a:r>
              <a:r>
                <a:rPr lang="en-US" sz="1700" b="1" i="0">
                  <a:solidFill>
                    <a:srgbClr val="FF0000"/>
                  </a:solidFill>
                  <a:latin typeface="Times New Roman"/>
                </a:rPr>
                <a:t>)</a:t>
              </a:r>
              <a:r>
                <a:rPr sz="2000" b="1" i="0">
                  <a:solidFill>
                    <a:srgbClr val="FF0000"/>
                  </a:solidFill>
                  <a:latin typeface="Times New Roman"/>
                </a:rPr>
                <a:t>, medical imaging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/>
                </a:rPr>
                <a:t> </a:t>
              </a:r>
              <a:r>
                <a:rPr lang="en-US" altLang="zh-CN" sz="1700" b="1">
                  <a:solidFill>
                    <a:srgbClr val="FF0000"/>
                  </a:solidFill>
                  <a:latin typeface="Times New Roman"/>
                </a:rPr>
                <a:t>(</a:t>
              </a:r>
              <a:r>
                <a:rPr lang="zh-CN" altLang="en-US" sz="17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医学影像</a:t>
              </a:r>
              <a:r>
                <a:rPr lang="en-US" altLang="zh-CN" sz="1700" b="1">
                  <a:solidFill>
                    <a:srgbClr val="FF0000"/>
                  </a:solidFill>
                  <a:latin typeface="Times New Roman"/>
                </a:rPr>
                <a:t>)</a:t>
              </a:r>
              <a:r>
                <a:rPr sz="1700" b="1" i="0">
                  <a:solidFill>
                    <a:srgbClr val="FF0000"/>
                  </a:solidFill>
                  <a:latin typeface="Times New Roman"/>
                </a:rPr>
                <a:t> </a:t>
              </a:r>
              <a:r>
                <a:rPr sz="2000" b="1" i="0">
                  <a:solidFill>
                    <a:srgbClr val="FF0000"/>
                  </a:solidFill>
                  <a:latin typeface="Times New Roman"/>
                </a:rPr>
                <a:t>&amp; autonomous driving</a:t>
              </a:r>
              <a:r>
                <a:rPr kumimoji="0" lang="en-US" altLang="zh-CN" sz="1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 (</a:t>
              </a:r>
              <a:r>
                <a:rPr lang="zh-CN" altLang="en-US" sz="17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自动驾驶</a:t>
              </a:r>
              <a:r>
                <a:rPr kumimoji="0" lang="en-US" altLang="zh-CN" sz="1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+mn-ea"/>
                  <a:cs typeface="+mn-cs"/>
                </a:rPr>
                <a:t>)</a:t>
              </a:r>
              <a:endParaRPr sz="2000" b="1" i="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952" y="2252476"/>
              <a:ext cx="201168" cy="52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550" b="0" i="0">
                  <a:solidFill>
                    <a:srgbClr val="4080C0"/>
                  </a:solidFill>
                  <a:latin typeface="Times New Roman"/>
                </a:rPr>
                <a:t>–</a:t>
              </a:r>
              <a:endParaRPr sz="1550" b="0" i="0">
                <a:solidFill>
                  <a:srgbClr val="4080C0"/>
                </a:solidFill>
                <a:latin typeface="Times New Roman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14A0B8E-6D69-F00B-9B75-F2AFD0934291}"/>
              </a:ext>
            </a:extLst>
          </p:cNvPr>
          <p:cNvGrpSpPr/>
          <p:nvPr/>
        </p:nvGrpSpPr>
        <p:grpSpPr>
          <a:xfrm>
            <a:off x="438912" y="2939148"/>
            <a:ext cx="5943600" cy="1263615"/>
            <a:chOff x="438912" y="2651759"/>
            <a:chExt cx="5943600" cy="1263615"/>
          </a:xfrm>
        </p:grpSpPr>
        <p:sp>
          <p:nvSpPr>
            <p:cNvPr id="10" name="TextBox 9"/>
            <p:cNvSpPr txBox="1"/>
            <p:nvPr/>
          </p:nvSpPr>
          <p:spPr>
            <a:xfrm>
              <a:off x="438912" y="2651759"/>
              <a:ext cx="201168" cy="52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1" i="0">
                  <a:solidFill>
                    <a:srgbClr val="003F87"/>
                  </a:solidFill>
                  <a:latin typeface="Times New Roman"/>
                </a:rPr>
                <a:t>›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8368" y="2651759"/>
              <a:ext cx="572414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Traditional digital methods (Sobel, Laplacian, CNNs) face </a:t>
              </a:r>
              <a:r>
                <a:rPr sz="2000" b="1" i="0">
                  <a:solidFill>
                    <a:srgbClr val="FF0000"/>
                  </a:solidFill>
                  <a:latin typeface="Times New Roman"/>
                </a:rPr>
                <a:t>inherent bottlenecks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8952" y="3339303"/>
              <a:ext cx="201168" cy="52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8408" y="3339303"/>
              <a:ext cx="5404104" cy="576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22364F"/>
                  </a:solidFill>
                  <a:latin typeface="Times New Roman"/>
                </a:rPr>
                <a:t>Speed bounded by processor clock; high power consumption; A/D conversion latency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6EA61B0-BD60-7CA2-C5F3-2BF397CFC94B}"/>
              </a:ext>
            </a:extLst>
          </p:cNvPr>
          <p:cNvGrpSpPr/>
          <p:nvPr/>
        </p:nvGrpSpPr>
        <p:grpSpPr>
          <a:xfrm>
            <a:off x="438912" y="4443991"/>
            <a:ext cx="5943600" cy="1254905"/>
            <a:chOff x="438912" y="3712462"/>
            <a:chExt cx="5943600" cy="1254905"/>
          </a:xfrm>
        </p:grpSpPr>
        <p:sp>
          <p:nvSpPr>
            <p:cNvPr id="16" name="TextBox 15"/>
            <p:cNvSpPr txBox="1"/>
            <p:nvPr/>
          </p:nvSpPr>
          <p:spPr>
            <a:xfrm>
              <a:off x="758952" y="4391296"/>
              <a:ext cx="201168" cy="52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8912" y="3712462"/>
              <a:ext cx="201168" cy="5212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1" i="0">
                  <a:solidFill>
                    <a:srgbClr val="003F87"/>
                  </a:solidFill>
                  <a:latin typeface="Times New Roman"/>
                </a:rPr>
                <a:t>›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8368" y="3712462"/>
              <a:ext cx="572414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000" b="1" i="0">
                  <a:solidFill>
                    <a:srgbClr val="FF0000"/>
                  </a:solidFill>
                  <a:latin typeface="Times New Roman"/>
                </a:rPr>
                <a:t>All-optical computing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/>
                </a:rPr>
                <a:t> </a:t>
              </a:r>
              <a:r>
                <a:rPr kumimoji="0" lang="en-US" altLang="zh-CN" sz="1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rPr>
                <a:t>(</a:t>
              </a:r>
              <a:r>
                <a:rPr lang="zh-CN" altLang="en-US" sz="17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全光学计算</a:t>
              </a:r>
              <a:r>
                <a:rPr kumimoji="0" lang="en-US" altLang="zh-CN" sz="17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宋体" panose="02010600030101010101" pitchFamily="2" charset="-122"/>
                  <a:cs typeface="+mn-cs"/>
                </a:rPr>
                <a:t>)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/>
                </a:rPr>
                <a:t> </a:t>
              </a:r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: computation performed directly by light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78408" y="4391296"/>
              <a:ext cx="5404104" cy="576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22364F"/>
                  </a:solidFill>
                  <a:latin typeface="Times New Roman"/>
                </a:rPr>
                <a:t>Speed of light, near-zero power — no digital conversion required</a:t>
              </a:r>
            </a:p>
          </p:txBody>
        </p:sp>
      </p:grpSp>
      <p:pic>
        <p:nvPicPr>
          <p:cNvPr id="20" name="Picture 19" descr="Co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423413"/>
            <a:ext cx="4839919" cy="3657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56832" y="5167661"/>
            <a:ext cx="50593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Concept (Cordaro 2019): a single metasurface maps input image directly to edge-detected output — all-optical, no digital 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pic>
        <p:nvPicPr>
          <p:cNvPr id="3" name="Picture 2" descr="xiaohui_converted.png">
            <a:extLst>
              <a:ext uri="{FF2B5EF4-FFF2-40B4-BE49-F238E27FC236}">
                <a16:creationId xmlns:a16="http://schemas.microsoft.com/office/drawing/2014/main" id="{449A946E-B8EB-5BA4-FF65-C144125CD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Motivation: Prior Approaches &amp; Their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92465"/>
            <a:ext cx="609904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003F87"/>
                </a:solidFill>
                <a:latin typeface="Times New Roman"/>
              </a:rPr>
              <a:t>① Zhou et al., PNAS 2019  —  PB-phase </a:t>
            </a:r>
            <a:r>
              <a:rPr lang="en-US" sz="1650" b="1" i="0">
                <a:solidFill>
                  <a:srgbClr val="003F87"/>
                </a:solidFill>
                <a:latin typeface="Times New Roman"/>
              </a:rPr>
              <a:t>4f</a:t>
            </a:r>
            <a:r>
              <a:rPr sz="1650" b="1" i="0">
                <a:solidFill>
                  <a:srgbClr val="003F87"/>
                </a:solidFill>
                <a:latin typeface="Times New Roman"/>
              </a:rPr>
              <a:t>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938528"/>
            <a:ext cx="5394960" cy="20116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029968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51755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D1B2A"/>
                </a:solidFill>
                <a:latin typeface="Times New Roman"/>
              </a:rPr>
              <a:t>PB-phase metasurface deflects LCP and RCP in opposite directions (lateral shift 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25484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" y="2525484"/>
            <a:ext cx="5199443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0000"/>
                </a:solidFill>
                <a:latin typeface="Times New Roman"/>
              </a:rPr>
              <a:t>Requires coherent laser</a:t>
            </a:r>
            <a:r>
              <a:rPr sz="1400" b="1" i="0">
                <a:solidFill>
                  <a:srgbClr val="FF0000"/>
                </a:solidFill>
                <a:latin typeface="Times New Roman"/>
              </a:rPr>
              <a:t> </a:t>
            </a:r>
            <a:r>
              <a:rPr lang="zh-CN" altLang="en-US" sz="1400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（相干激光）</a:t>
            </a:r>
            <a:r>
              <a:rPr sz="1550" b="1" i="0">
                <a:solidFill>
                  <a:srgbClr val="FF0000"/>
                </a:solidFill>
                <a:latin typeface="Times New Roman"/>
              </a:rPr>
              <a:t>+ polarizer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（偏振器）</a:t>
            </a:r>
            <a:r>
              <a:rPr sz="1550" b="1" i="0">
                <a:solidFill>
                  <a:srgbClr val="FF0000"/>
                </a:solidFill>
                <a:latin typeface="Times New Roman"/>
              </a:rPr>
              <a:t>; anisotropic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（各向异性）</a:t>
            </a:r>
            <a:r>
              <a:rPr sz="1550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sz="1550" b="1" i="0">
                <a:solidFill>
                  <a:srgbClr val="FF0000"/>
                </a:solidFill>
                <a:latin typeface="Times New Roman"/>
              </a:rPr>
              <a:t>(x-direction only)</a:t>
            </a:r>
          </a:p>
        </p:txBody>
      </p:sp>
      <p:pic>
        <p:nvPicPr>
          <p:cNvPr id="14" name="Picture 13" descr="Zh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869" y="3571803"/>
            <a:ext cx="3460107" cy="2174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09344" y="5715010"/>
            <a:ext cx="3090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LP light → LCP &amp; RCP separated laterally → interference → ∂E/∂x  [Zhou 2019]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7811" y="1591059"/>
            <a:ext cx="657801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B83010"/>
                </a:solidFill>
                <a:latin typeface="Times New Roman"/>
              </a:rPr>
              <a:t>② Cordaro et al., Nano Lett. 2019  —  Resonant metasurface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1938528"/>
            <a:ext cx="5415991" cy="20116"/>
          </a:xfrm>
          <a:prstGeom prst="rect">
            <a:avLst/>
          </a:prstGeom>
          <a:solidFill>
            <a:srgbClr val="B8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2029968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029968"/>
            <a:ext cx="519653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D1B2A"/>
                </a:solidFill>
                <a:latin typeface="Times New Roman"/>
              </a:rPr>
              <a:t>Silicon nanobeam Fano resonance: guided-mode resonance wavelength shifts with angle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551608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551608"/>
            <a:ext cx="5196535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D1B2A"/>
                </a:solidFill>
                <a:latin typeface="Times New Roman"/>
              </a:rPr>
              <a:t>No 4f lenses needed — but </a:t>
            </a:r>
            <a:r>
              <a:rPr sz="1550" b="1" i="0">
                <a:solidFill>
                  <a:srgbClr val="FF0000"/>
                </a:solidFill>
                <a:latin typeface="Times New Roman"/>
              </a:rPr>
              <a:t>bandwidth limited to ∼few nm</a:t>
            </a:r>
            <a:r>
              <a:rPr lang="zh-CN" altLang="en-US" sz="1400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（带宽限制）</a:t>
            </a:r>
            <a:r>
              <a:rPr sz="1400" b="1" i="0">
                <a:solidFill>
                  <a:srgbClr val="FF0000"/>
                </a:solidFill>
                <a:latin typeface="Times New Roman"/>
              </a:rPr>
              <a:t> </a:t>
            </a:r>
            <a:r>
              <a:rPr sz="1550" b="1" i="0">
                <a:solidFill>
                  <a:srgbClr val="0D1B2A"/>
                </a:solidFill>
                <a:latin typeface="Times New Roman"/>
              </a:rPr>
              <a:t>(resonance line-width)</a:t>
            </a:r>
          </a:p>
        </p:txBody>
      </p:sp>
      <p:pic>
        <p:nvPicPr>
          <p:cNvPr id="25" name="Picture 24" descr="Co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317" y="3213117"/>
            <a:ext cx="3895814" cy="244879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6297" y="5725972"/>
            <a:ext cx="2820620" cy="493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Fano resonance spectra vs. angle; </a:t>
            </a:r>
            <a:endParaRPr lang="en-US" sz="1300" b="0" i="1">
              <a:solidFill>
                <a:srgbClr val="5A6E86"/>
              </a:solidFill>
              <a:latin typeface="Times New Roman"/>
            </a:endParaRPr>
          </a:p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at fixed λ (red dashed), [Cordaro 2019]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31949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Motivation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2A7D137-D41D-4520-74E5-9048F0E710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36" b="52127"/>
          <a:stretch>
            <a:fillRect/>
          </a:stretch>
        </p:blipFill>
        <p:spPr>
          <a:xfrm>
            <a:off x="1107897" y="3016029"/>
            <a:ext cx="3880049" cy="567204"/>
          </a:xfrm>
          <a:prstGeom prst="rect">
            <a:avLst/>
          </a:prstGeom>
        </p:spPr>
      </p:pic>
      <p:pic>
        <p:nvPicPr>
          <p:cNvPr id="3" name="Picture 2" descr="xiaohui_converted.png">
            <a:extLst>
              <a:ext uri="{FF2B5EF4-FFF2-40B4-BE49-F238E27FC236}">
                <a16:creationId xmlns:a16="http://schemas.microsoft.com/office/drawing/2014/main" id="{6044BFF6-3D7D-55D9-CA7E-B74B1AFE0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D1B2A"/>
                </a:solidFill>
                <a:latin typeface="Times New Roman"/>
              </a:rPr>
              <a:t>Working Principle</a:t>
            </a:r>
            <a:r>
              <a:rPr lang="zh-CN" altLang="en-US" sz="3000" b="1">
                <a:solidFill>
                  <a:srgbClr val="0D1B2A"/>
                </a:solidFill>
                <a:latin typeface="Times New Roman"/>
              </a:rPr>
              <a:t> </a:t>
            </a:r>
            <a:r>
              <a:rPr lang="en-US" altLang="zh-CN" sz="3000" b="1">
                <a:solidFill>
                  <a:srgbClr val="0D1B2A"/>
                </a:solidFill>
                <a:latin typeface="Times New Roman"/>
              </a:rPr>
              <a:t>: 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4f System &amp; Spatial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591056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44439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4f system: two lenses (focal length f); metasurface at the Fourier plane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C8C3B6D-912E-0219-BDD3-268E59EBC0D8}"/>
              </a:ext>
            </a:extLst>
          </p:cNvPr>
          <p:cNvGrpSpPr/>
          <p:nvPr/>
        </p:nvGrpSpPr>
        <p:grpSpPr>
          <a:xfrm>
            <a:off x="723246" y="2256383"/>
            <a:ext cx="4343400" cy="548640"/>
            <a:chOff x="740664" y="2317346"/>
            <a:chExt cx="4343400" cy="548640"/>
          </a:xfrm>
        </p:grpSpPr>
        <p:sp>
          <p:nvSpPr>
            <p:cNvPr id="10" name="TextBox 9"/>
            <p:cNvSpPr txBox="1"/>
            <p:nvPr/>
          </p:nvSpPr>
          <p:spPr>
            <a:xfrm>
              <a:off x="740664" y="2317346"/>
              <a:ext cx="201168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60120" y="2317346"/>
              <a:ext cx="412394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Low spatial freq. (smooth BG) near optical axis; high freq. (edges) far from axis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6330" y="3099381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4443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Target transfer function:  </a:t>
            </a:r>
            <a:r>
              <a:rPr sz="2000" b="1" i="0">
                <a:solidFill>
                  <a:srgbClr val="FF0000"/>
                </a:solidFill>
                <a:latin typeface="Times New Roman"/>
              </a:rPr>
              <a:t>t(r) ~ </a:t>
            </a:r>
            <a:r>
              <a:rPr lang="en-US" sz="2000" b="1" i="0">
                <a:solidFill>
                  <a:srgbClr val="FF0000"/>
                </a:solidFill>
                <a:latin typeface="Times New Roman"/>
              </a:rPr>
              <a:t>-</a:t>
            </a:r>
            <a:r>
              <a:rPr sz="2000" b="1" i="0">
                <a:solidFill>
                  <a:srgbClr val="FF0000"/>
                </a:solidFill>
                <a:latin typeface="Times New Roman"/>
              </a:rP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463398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463398"/>
            <a:ext cx="41239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0000"/>
                </a:solidFill>
                <a:latin typeface="Times New Roman"/>
              </a:rPr>
              <a:t>Equivalent to the Laplacian:  I_out ∝ |∇²I_in|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774291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774291"/>
            <a:ext cx="4123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364F"/>
                </a:solidFill>
                <a:latin typeface="Times New Roman"/>
              </a:rPr>
              <a:t>Background suppressed; sharp edges enhanced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3898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699" y="5657059"/>
            <a:ext cx="62526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1">
                <a:solidFill>
                  <a:srgbClr val="5A6E86"/>
                </a:solidFill>
                <a:latin typeface="Times New Roman"/>
              </a:rPr>
              <a:t>Fig. 4 | (a) 4f optical system setup with amplitude mask and metasurface at Fourier plane</a:t>
            </a:r>
            <a:r>
              <a:rPr lang="en-US" sz="1300" i="1">
                <a:solidFill>
                  <a:srgbClr val="5A6E86"/>
                </a:solidFill>
                <a:latin typeface="Times New Roman"/>
              </a:rPr>
              <a:t>,</a:t>
            </a:r>
          </a:p>
          <a:p>
            <a:pPr algn="l"/>
            <a:r>
              <a:rPr lang="en-US" sz="1300" b="0" i="1">
                <a:solidFill>
                  <a:srgbClr val="5A6E86"/>
                </a:solidFill>
                <a:latin typeface="Times New Roman"/>
              </a:rPr>
              <a:t>[Tanriover 2023]</a:t>
            </a:r>
            <a:endParaRPr sz="1300" b="0" i="1">
              <a:solidFill>
                <a:srgbClr val="5A6E86"/>
              </a:solidFill>
              <a:latin typeface="Times New Roman"/>
            </a:endParaRPr>
          </a:p>
        </p:txBody>
      </p:sp>
      <p:pic>
        <p:nvPicPr>
          <p:cNvPr id="3" name="Picture 21" descr="Metasurface enabled broadband all optical-7.png">
            <a:extLst>
              <a:ext uri="{FF2B5EF4-FFF2-40B4-BE49-F238E27FC236}">
                <a16:creationId xmlns:a16="http://schemas.microsoft.com/office/drawing/2014/main" id="{5412F796-B261-E96D-94B5-BE886D90D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485398"/>
            <a:ext cx="6632143" cy="1839575"/>
          </a:xfrm>
          <a:prstGeom prst="rect">
            <a:avLst/>
          </a:prstGeom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D6569DE2-F027-6AC4-E350-CB5D2685DB2B}"/>
              </a:ext>
            </a:extLst>
          </p:cNvPr>
          <p:cNvGrpSpPr/>
          <p:nvPr/>
        </p:nvGrpSpPr>
        <p:grpSpPr>
          <a:xfrm>
            <a:off x="7001121" y="3375366"/>
            <a:ext cx="814252" cy="658754"/>
            <a:chOff x="7001121" y="3733798"/>
            <a:chExt cx="814252" cy="753332"/>
          </a:xfrm>
        </p:grpSpPr>
        <p:sp>
          <p:nvSpPr>
            <p:cNvPr id="37" name="左大括号 36">
              <a:extLst>
                <a:ext uri="{FF2B5EF4-FFF2-40B4-BE49-F238E27FC236}">
                  <a16:creationId xmlns:a16="http://schemas.microsoft.com/office/drawing/2014/main" id="{6E9B00E4-60FD-646D-639A-36926853E3D5}"/>
                </a:ext>
              </a:extLst>
            </p:cNvPr>
            <p:cNvSpPr/>
            <p:nvPr/>
          </p:nvSpPr>
          <p:spPr>
            <a:xfrm rot="16200000">
              <a:off x="7257153" y="3477766"/>
              <a:ext cx="302187" cy="814252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C735AE79-8758-6B49-00B7-8C3462B7400A}"/>
                </a:ext>
              </a:extLst>
            </p:cNvPr>
            <p:cNvSpPr txBox="1"/>
            <p:nvPr/>
          </p:nvSpPr>
          <p:spPr>
            <a:xfrm>
              <a:off x="7267385" y="4087020"/>
              <a:ext cx="2817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i="0">
                  <a:solidFill>
                    <a:srgbClr val="0D1B2A"/>
                  </a:solidFill>
                  <a:latin typeface="Times New Roman"/>
                </a:rPr>
                <a:t>f</a:t>
              </a:r>
              <a:endParaRPr sz="2000" b="1" i="0">
                <a:solidFill>
                  <a:srgbClr val="0D1B2A"/>
                </a:solidFill>
                <a:latin typeface="Times New Roman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5363A33-D3EE-16F8-311A-75AC75DDB98D}"/>
              </a:ext>
            </a:extLst>
          </p:cNvPr>
          <p:cNvGrpSpPr/>
          <p:nvPr/>
        </p:nvGrpSpPr>
        <p:grpSpPr>
          <a:xfrm>
            <a:off x="7967773" y="3367851"/>
            <a:ext cx="814252" cy="658754"/>
            <a:chOff x="7001121" y="3733798"/>
            <a:chExt cx="814252" cy="753332"/>
          </a:xfrm>
        </p:grpSpPr>
        <p:sp>
          <p:nvSpPr>
            <p:cNvPr id="46" name="左大括号 45">
              <a:extLst>
                <a:ext uri="{FF2B5EF4-FFF2-40B4-BE49-F238E27FC236}">
                  <a16:creationId xmlns:a16="http://schemas.microsoft.com/office/drawing/2014/main" id="{2BD00A21-9B57-246D-74CD-04F04F7D791F}"/>
                </a:ext>
              </a:extLst>
            </p:cNvPr>
            <p:cNvSpPr/>
            <p:nvPr/>
          </p:nvSpPr>
          <p:spPr>
            <a:xfrm rot="16200000">
              <a:off x="7257153" y="3477766"/>
              <a:ext cx="302187" cy="814252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TextBox 12">
              <a:extLst>
                <a:ext uri="{FF2B5EF4-FFF2-40B4-BE49-F238E27FC236}">
                  <a16:creationId xmlns:a16="http://schemas.microsoft.com/office/drawing/2014/main" id="{5DC28F2F-B558-E18E-70B3-1EDD7EA07AC5}"/>
                </a:ext>
              </a:extLst>
            </p:cNvPr>
            <p:cNvSpPr txBox="1"/>
            <p:nvPr/>
          </p:nvSpPr>
          <p:spPr>
            <a:xfrm>
              <a:off x="7267385" y="4087020"/>
              <a:ext cx="2817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i="0">
                  <a:solidFill>
                    <a:srgbClr val="0D1B2A"/>
                  </a:solidFill>
                  <a:latin typeface="Times New Roman"/>
                </a:rPr>
                <a:t>f</a:t>
              </a:r>
              <a:endParaRPr sz="2000" b="1" i="0">
                <a:solidFill>
                  <a:srgbClr val="0D1B2A"/>
                </a:solidFill>
                <a:latin typeface="Times New Roman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266370C-E0EC-1A70-E64F-DCEEA807ECAB}"/>
              </a:ext>
            </a:extLst>
          </p:cNvPr>
          <p:cNvGrpSpPr/>
          <p:nvPr/>
        </p:nvGrpSpPr>
        <p:grpSpPr>
          <a:xfrm>
            <a:off x="8965623" y="3378412"/>
            <a:ext cx="814252" cy="658754"/>
            <a:chOff x="7001121" y="3733798"/>
            <a:chExt cx="814252" cy="753332"/>
          </a:xfrm>
        </p:grpSpPr>
        <p:sp>
          <p:nvSpPr>
            <p:cNvPr id="49" name="左大括号 48">
              <a:extLst>
                <a:ext uri="{FF2B5EF4-FFF2-40B4-BE49-F238E27FC236}">
                  <a16:creationId xmlns:a16="http://schemas.microsoft.com/office/drawing/2014/main" id="{4C5B264C-1EEF-AC4C-FECC-73011A79BEFD}"/>
                </a:ext>
              </a:extLst>
            </p:cNvPr>
            <p:cNvSpPr/>
            <p:nvPr/>
          </p:nvSpPr>
          <p:spPr>
            <a:xfrm rot="16200000">
              <a:off x="7257153" y="3477766"/>
              <a:ext cx="302187" cy="814252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TextBox 12">
              <a:extLst>
                <a:ext uri="{FF2B5EF4-FFF2-40B4-BE49-F238E27FC236}">
                  <a16:creationId xmlns:a16="http://schemas.microsoft.com/office/drawing/2014/main" id="{391F9A19-28CD-2F66-A69A-C3E491E61033}"/>
                </a:ext>
              </a:extLst>
            </p:cNvPr>
            <p:cNvSpPr txBox="1"/>
            <p:nvPr/>
          </p:nvSpPr>
          <p:spPr>
            <a:xfrm>
              <a:off x="7267385" y="4087020"/>
              <a:ext cx="2817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i="0">
                  <a:solidFill>
                    <a:srgbClr val="0D1B2A"/>
                  </a:solidFill>
                  <a:latin typeface="Times New Roman"/>
                </a:rPr>
                <a:t>f</a:t>
              </a:r>
              <a:endParaRPr sz="2000" b="1" i="0">
                <a:solidFill>
                  <a:srgbClr val="0D1B2A"/>
                </a:solidFill>
                <a:latin typeface="Times New Roman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C3B9D96-65A7-B492-8D03-120DB36F04BB}"/>
              </a:ext>
            </a:extLst>
          </p:cNvPr>
          <p:cNvGrpSpPr/>
          <p:nvPr/>
        </p:nvGrpSpPr>
        <p:grpSpPr>
          <a:xfrm>
            <a:off x="9980406" y="3367851"/>
            <a:ext cx="814252" cy="658754"/>
            <a:chOff x="7001121" y="3733798"/>
            <a:chExt cx="814252" cy="753332"/>
          </a:xfrm>
        </p:grpSpPr>
        <p:sp>
          <p:nvSpPr>
            <p:cNvPr id="52" name="左大括号 51">
              <a:extLst>
                <a:ext uri="{FF2B5EF4-FFF2-40B4-BE49-F238E27FC236}">
                  <a16:creationId xmlns:a16="http://schemas.microsoft.com/office/drawing/2014/main" id="{8373587E-32D9-5EF0-667B-F1D21D5FB805}"/>
                </a:ext>
              </a:extLst>
            </p:cNvPr>
            <p:cNvSpPr/>
            <p:nvPr/>
          </p:nvSpPr>
          <p:spPr>
            <a:xfrm rot="16200000">
              <a:off x="7257153" y="3477766"/>
              <a:ext cx="302187" cy="814252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8F0DED0B-A604-94FF-A624-968A7DEDFFF4}"/>
                </a:ext>
              </a:extLst>
            </p:cNvPr>
            <p:cNvSpPr txBox="1"/>
            <p:nvPr/>
          </p:nvSpPr>
          <p:spPr>
            <a:xfrm>
              <a:off x="7267385" y="4087020"/>
              <a:ext cx="2817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i="0">
                  <a:solidFill>
                    <a:srgbClr val="0D1B2A"/>
                  </a:solidFill>
                  <a:latin typeface="Times New Roman"/>
                </a:rPr>
                <a:t>f</a:t>
              </a:r>
              <a:endParaRPr sz="2000" b="1" i="0">
                <a:solidFill>
                  <a:srgbClr val="0D1B2A"/>
                </a:solidFill>
                <a:latin typeface="Times New Roman"/>
              </a:endParaRPr>
            </a:p>
          </p:txBody>
        </p:sp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462B31A1-27F0-B284-4ED2-AEDD294FA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8" y="4290558"/>
            <a:ext cx="5525872" cy="15468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6F9A683-8C85-8931-62DD-F420CC368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108" y="3983176"/>
            <a:ext cx="5260496" cy="1658626"/>
          </a:xfrm>
          <a:prstGeom prst="rect">
            <a:avLst/>
          </a:prstGeom>
        </p:spPr>
      </p:pic>
      <p:pic>
        <p:nvPicPr>
          <p:cNvPr id="8" name="Picture 2" descr="xiaohui_converted.png">
            <a:extLst>
              <a:ext uri="{FF2B5EF4-FFF2-40B4-BE49-F238E27FC236}">
                <a16:creationId xmlns:a16="http://schemas.microsoft.com/office/drawing/2014/main" id="{567315A2-94FB-EA77-8DC8-8D4CC5B4F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Device Design (1/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3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): 1D Strip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3113" y="1808775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569" y="1808775"/>
            <a:ext cx="3803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Step 1 — 1D unit cell design: Al strips on SiO₂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5A18F20-F7F8-9A05-F59D-78D3C842B909}"/>
              </a:ext>
            </a:extLst>
          </p:cNvPr>
          <p:cNvGrpSpPr/>
          <p:nvPr/>
        </p:nvGrpSpPr>
        <p:grpSpPr>
          <a:xfrm>
            <a:off x="663153" y="2565553"/>
            <a:ext cx="3703320" cy="1078992"/>
            <a:chOff x="663153" y="2339127"/>
            <a:chExt cx="3703320" cy="1078992"/>
          </a:xfrm>
        </p:grpSpPr>
        <p:sp>
          <p:nvSpPr>
            <p:cNvPr id="8" name="TextBox 7"/>
            <p:cNvSpPr txBox="1"/>
            <p:nvPr/>
          </p:nvSpPr>
          <p:spPr>
            <a:xfrm>
              <a:off x="663153" y="2339127"/>
              <a:ext cx="201168" cy="512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82609" y="2339127"/>
              <a:ext cx="3483864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Strip width 0–500 nm (fixed period); </a:t>
              </a:r>
              <a:r>
                <a:rPr lang="en-US" sz="1500" b="0" i="0">
                  <a:solidFill>
                    <a:srgbClr val="22364F"/>
                  </a:solidFill>
                  <a:latin typeface="Times New Roman"/>
                </a:rPr>
                <a:t>FDTD</a:t>
              </a:r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 sweeps 450 / 550 / 660 nm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53" y="2851191"/>
              <a:ext cx="201168" cy="512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2609" y="2851191"/>
              <a:ext cx="3483864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Builds a unit-cell library: pick widths that satisfy t(x) </a:t>
              </a:r>
              <a:r>
                <a:rPr lang="en-US" sz="1500" b="0" i="0">
                  <a:solidFill>
                    <a:srgbClr val="22364F"/>
                  </a:solidFill>
                  <a:latin typeface="Times New Roman"/>
                </a:rPr>
                <a:t>~</a:t>
              </a:r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 –x²</a:t>
              </a:r>
            </a:p>
          </p:txBody>
        </p:sp>
      </p:grpSp>
      <p:pic>
        <p:nvPicPr>
          <p:cNvPr id="22" name="Picture 21" descr="Metasurface enabled broadband all optica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1" y="1571807"/>
            <a:ext cx="7363663" cy="384144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0016" y="5561292"/>
            <a:ext cx="71793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Fig. </a:t>
            </a:r>
            <a:r>
              <a:rPr lang="en-US" sz="1300" b="0" i="1">
                <a:solidFill>
                  <a:srgbClr val="5A6E86"/>
                </a:solidFill>
                <a:latin typeface="Times New Roman"/>
              </a:rPr>
              <a:t>1</a:t>
            </a:r>
            <a:r>
              <a:rPr sz="1300" b="0" i="1">
                <a:solidFill>
                  <a:srgbClr val="5A6E86"/>
                </a:solidFill>
                <a:latin typeface="Times New Roman"/>
              </a:rPr>
              <a:t> | 1D unit-cell schematic &amp; </a:t>
            </a:r>
            <a:r>
              <a:rPr lang="en-US" sz="1300" b="0" i="1">
                <a:solidFill>
                  <a:srgbClr val="5A6E86"/>
                </a:solidFill>
                <a:latin typeface="Times New Roman"/>
              </a:rPr>
              <a:t>FDTD</a:t>
            </a:r>
            <a:r>
              <a:rPr sz="1300" b="0" i="1">
                <a:solidFill>
                  <a:srgbClr val="5A6E86"/>
                </a:solidFill>
                <a:latin typeface="Times New Roman"/>
              </a:rPr>
              <a:t> amplitude/phase at 450/550/660 nm</a:t>
            </a:r>
            <a:r>
              <a:rPr lang="en-US" sz="1300" b="0" i="1">
                <a:solidFill>
                  <a:srgbClr val="5A6E86"/>
                </a:solidFill>
                <a:latin typeface="Times New Roman"/>
              </a:rPr>
              <a:t>, [Tanriover 2023]</a:t>
            </a:r>
            <a:r>
              <a:rPr sz="1300" b="0" i="1">
                <a:solidFill>
                  <a:srgbClr val="5A6E86"/>
                </a:solidFill>
                <a:latin typeface="Times New Roman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5847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pic>
        <p:nvPicPr>
          <p:cNvPr id="12" name="Picture 2" descr="xiaohui_converted.png">
            <a:extLst>
              <a:ext uri="{FF2B5EF4-FFF2-40B4-BE49-F238E27FC236}">
                <a16:creationId xmlns:a16="http://schemas.microsoft.com/office/drawing/2014/main" id="{E6B8A167-8722-D217-BF03-B118A3D12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0724-311F-5D3C-857D-D7DF3C10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903F00-F56C-4550-56E3-E5737BA0F70F}"/>
              </a:ext>
            </a:extLst>
          </p:cNvPr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1A948-4F5A-F5D9-7FA9-780740466A50}"/>
              </a:ext>
            </a:extLst>
          </p:cNvPr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Device Design (</a:t>
            </a:r>
            <a:r>
              <a:rPr lang="en-US" sz="3000" b="1">
                <a:solidFill>
                  <a:srgbClr val="0D1B2A"/>
                </a:solidFill>
                <a:latin typeface="Times New Roman"/>
              </a:rPr>
              <a:t>2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/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3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): From 1D Strip Array to 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3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D Concentric Rings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33A88-CCEA-E93A-1FAF-834C817EB84E}"/>
              </a:ext>
            </a:extLst>
          </p:cNvPr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1C19E5-4AF7-F0EB-D9A0-B922A104467A}"/>
              </a:ext>
            </a:extLst>
          </p:cNvPr>
          <p:cNvSpPr txBox="1"/>
          <p:nvPr/>
        </p:nvSpPr>
        <p:spPr>
          <a:xfrm>
            <a:off x="294975" y="1787867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A1F5C-377E-B2B9-70B3-7C72D1D1AA8D}"/>
              </a:ext>
            </a:extLst>
          </p:cNvPr>
          <p:cNvSpPr txBox="1"/>
          <p:nvPr/>
        </p:nvSpPr>
        <p:spPr>
          <a:xfrm>
            <a:off x="514431" y="1787867"/>
            <a:ext cx="3803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Step 2 — Coordinate transform: x → </a:t>
            </a:r>
            <a:r>
              <a:rPr sz="2000" b="1" i="0">
                <a:solidFill>
                  <a:srgbClr val="FF0000"/>
                </a:solidFill>
                <a:latin typeface="Times New Roman"/>
              </a:rPr>
              <a:t>r = √(x²+y²)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5A49657-C19A-C0D4-7DBD-5FD1AF8A6965}"/>
              </a:ext>
            </a:extLst>
          </p:cNvPr>
          <p:cNvGrpSpPr/>
          <p:nvPr/>
        </p:nvGrpSpPr>
        <p:grpSpPr>
          <a:xfrm>
            <a:off x="615015" y="2507334"/>
            <a:ext cx="3703320" cy="1296894"/>
            <a:chOff x="758952" y="3675888"/>
            <a:chExt cx="3703320" cy="129689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B382DE-18F2-7E5E-25A7-808C21FD4405}"/>
                </a:ext>
              </a:extLst>
            </p:cNvPr>
            <p:cNvSpPr txBox="1"/>
            <p:nvPr/>
          </p:nvSpPr>
          <p:spPr>
            <a:xfrm>
              <a:off x="758952" y="3675888"/>
              <a:ext cx="201168" cy="512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1F9DAC-C588-7437-7F1C-A1D5B8991F15}"/>
                </a:ext>
              </a:extLst>
            </p:cNvPr>
            <p:cNvSpPr txBox="1"/>
            <p:nvPr/>
          </p:nvSpPr>
          <p:spPr>
            <a:xfrm>
              <a:off x="978408" y="3675888"/>
              <a:ext cx="3483864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1D strip array (varying width along x) mapped to </a:t>
              </a:r>
              <a:r>
                <a:rPr lang="en-US" sz="1500">
                  <a:solidFill>
                    <a:srgbClr val="22364F"/>
                  </a:solidFill>
                  <a:latin typeface="Times New Roman"/>
                </a:rPr>
                <a:t>3</a:t>
              </a:r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D concentric Al rings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2F09C2B-D715-7535-FF5F-EA5599F9D9C8}"/>
                </a:ext>
              </a:extLst>
            </p:cNvPr>
            <p:cNvSpPr txBox="1"/>
            <p:nvPr/>
          </p:nvSpPr>
          <p:spPr>
            <a:xfrm>
              <a:off x="758952" y="4187952"/>
              <a:ext cx="201168" cy="512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72B2E2-05A4-B858-86D0-B1E09A452B16}"/>
                </a:ext>
              </a:extLst>
            </p:cNvPr>
            <p:cNvSpPr txBox="1"/>
            <p:nvPr/>
          </p:nvSpPr>
          <p:spPr>
            <a:xfrm>
              <a:off x="978408" y="4187952"/>
              <a:ext cx="3483864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500" b="0" i="0">
                  <a:solidFill>
                    <a:srgbClr val="22364F"/>
                  </a:solidFill>
                  <a:latin typeface="Times New Roman"/>
                </a:rPr>
                <a:t>Ring width decreases radially — achieves target amplitude profile, cylindrically symmetric</a:t>
              </a:r>
              <a:endParaRPr sz="1500" b="0" i="0">
                <a:solidFill>
                  <a:srgbClr val="22364F"/>
                </a:solidFill>
                <a:latin typeface="Times New Roman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F869929-925D-91CA-3948-5FE7BC6F59DE}"/>
              </a:ext>
            </a:extLst>
          </p:cNvPr>
          <p:cNvSpPr txBox="1"/>
          <p:nvPr/>
        </p:nvSpPr>
        <p:spPr>
          <a:xfrm>
            <a:off x="268848" y="3872703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FF25E0-3F66-4504-E1AB-46CC6EA8B386}"/>
              </a:ext>
            </a:extLst>
          </p:cNvPr>
          <p:cNvSpPr txBox="1"/>
          <p:nvPr/>
        </p:nvSpPr>
        <p:spPr>
          <a:xfrm>
            <a:off x="488303" y="3872703"/>
            <a:ext cx="4228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Result: </a:t>
            </a:r>
            <a:r>
              <a:rPr sz="2000" b="1" i="0">
                <a:solidFill>
                  <a:srgbClr val="FF0000"/>
                </a:solidFill>
                <a:latin typeface="Times New Roman"/>
              </a:rPr>
              <a:t>isotropic</a:t>
            </a:r>
            <a:r>
              <a:rPr lang="zh-CN" altLang="en-US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（各向同性）</a:t>
            </a:r>
            <a:r>
              <a:rPr sz="2000" b="1" i="0">
                <a:solidFill>
                  <a:srgbClr val="FF0000"/>
                </a:solidFill>
                <a:latin typeface="Times New Roman"/>
              </a:rPr>
              <a:t>, polarization-independent </a:t>
            </a:r>
            <a:r>
              <a:rPr lang="zh-CN" altLang="en-US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（偏振无关）</a:t>
            </a:r>
            <a:r>
              <a:rPr sz="2000" b="1" i="0">
                <a:solidFill>
                  <a:srgbClr val="0D1B2A"/>
                </a:solidFill>
                <a:latin typeface="Times New Roman"/>
              </a:rPr>
              <a:t>device (diameter 2 mm)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60F202E-B7CE-69D6-8FEB-DACF13B0765A}"/>
              </a:ext>
            </a:extLst>
          </p:cNvPr>
          <p:cNvGrpSpPr/>
          <p:nvPr/>
        </p:nvGrpSpPr>
        <p:grpSpPr>
          <a:xfrm>
            <a:off x="588888" y="4876936"/>
            <a:ext cx="3703320" cy="566928"/>
            <a:chOff x="758952" y="5230368"/>
            <a:chExt cx="3703320" cy="56692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6D69AB-008A-9D83-F1E7-13F37A85ECFA}"/>
                </a:ext>
              </a:extLst>
            </p:cNvPr>
            <p:cNvSpPr txBox="1"/>
            <p:nvPr/>
          </p:nvSpPr>
          <p:spPr>
            <a:xfrm>
              <a:off x="758952" y="5230368"/>
              <a:ext cx="201168" cy="512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4080C0"/>
                  </a:solidFill>
                  <a:latin typeface="Times New Roman"/>
                </a:rPr>
                <a:t>–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E0B3F8-BE50-ECA0-6A6A-40A5AF708CDD}"/>
                </a:ext>
              </a:extLst>
            </p:cNvPr>
            <p:cNvSpPr txBox="1"/>
            <p:nvPr/>
          </p:nvSpPr>
          <p:spPr>
            <a:xfrm>
              <a:off x="978408" y="5230368"/>
              <a:ext cx="3483864" cy="566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0" i="0">
                  <a:solidFill>
                    <a:srgbClr val="22364F"/>
                  </a:solidFill>
                  <a:latin typeface="Times New Roman"/>
                </a:rPr>
                <a:t>Identical transfer function for any polarization direction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F3BB365-B283-45C5-DB69-A62C6628ED8C}"/>
              </a:ext>
            </a:extLst>
          </p:cNvPr>
          <p:cNvSpPr txBox="1"/>
          <p:nvPr/>
        </p:nvSpPr>
        <p:spPr>
          <a:xfrm>
            <a:off x="5022578" y="4954856"/>
            <a:ext cx="725393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00" i="1">
                <a:solidFill>
                  <a:srgbClr val="5A6E86"/>
                </a:solidFill>
                <a:latin typeface="Times New Roman"/>
              </a:rPr>
              <a:t>Fig. 2 | 3D device layout, FDTD amplitude/phase maps at 450/550/660 nm, [Tanriover 2023]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0BE34B-7ECC-8CCB-30E5-A7D3078FC100}"/>
              </a:ext>
            </a:extLst>
          </p:cNvPr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53E5F-DED4-8DBC-D829-FBA3FA241E5A}"/>
              </a:ext>
            </a:extLst>
          </p:cNvPr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3C62A4-26AD-0BBD-766D-2AB5558C12E8}"/>
              </a:ext>
            </a:extLst>
          </p:cNvPr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CD2336-0A6B-2FE6-65EE-032399D8B9C7}"/>
              </a:ext>
            </a:extLst>
          </p:cNvPr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4960E7-C3E7-3C4B-9638-41AA278400CC}"/>
              </a:ext>
            </a:extLst>
          </p:cNvPr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DE2DC7-AC72-B0F0-CA6A-BC0514415CA7}"/>
              </a:ext>
            </a:extLst>
          </p:cNvPr>
          <p:cNvSpPr/>
          <p:nvPr/>
        </p:nvSpPr>
        <p:spPr>
          <a:xfrm>
            <a:off x="6095847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55C2D5-BF32-292A-6268-DCD2DC2FC889}"/>
              </a:ext>
            </a:extLst>
          </p:cNvPr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14D3D8-7E55-54E6-9A6B-36220F78C1CA}"/>
              </a:ext>
            </a:extLst>
          </p:cNvPr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CCC385-FA9C-7FC4-0AF6-6E838045AA72}"/>
              </a:ext>
            </a:extLst>
          </p:cNvPr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77097FEA-87A0-8289-5A57-B08518DB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8" y="1535380"/>
            <a:ext cx="7471251" cy="3310939"/>
          </a:xfrm>
          <a:prstGeom prst="rect">
            <a:avLst/>
          </a:prstGeom>
        </p:spPr>
      </p:pic>
      <p:pic>
        <p:nvPicPr>
          <p:cNvPr id="3" name="Picture 2" descr="xiaohui_converted.png">
            <a:extLst>
              <a:ext uri="{FF2B5EF4-FFF2-40B4-BE49-F238E27FC236}">
                <a16:creationId xmlns:a16="http://schemas.microsoft.com/office/drawing/2014/main" id="{1F472D47-E28D-C5DD-CB60-C8CD7F6A9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76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Device Design (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3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/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3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): 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Fabrication &amp; Optical Characterization</a:t>
            </a:r>
            <a:endParaRPr sz="3000" b="1" i="0">
              <a:solidFill>
                <a:srgbClr val="0D1B2A"/>
              </a:solidFill>
              <a:latin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9576" y="1826189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031" y="1826189"/>
            <a:ext cx="4079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>
                <a:solidFill>
                  <a:srgbClr val="0D1B2A"/>
                </a:solidFill>
                <a:latin typeface="Times New Roman"/>
              </a:rPr>
              <a:t>Sample Fabrication</a:t>
            </a:r>
            <a:endParaRPr sz="2000" b="1" i="0">
              <a:solidFill>
                <a:srgbClr val="0D1B2A"/>
              </a:solidFill>
              <a:latin typeface="Times New Roma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pic>
        <p:nvPicPr>
          <p:cNvPr id="3" name="Picture 25" descr="Metasurface enabled broadband all optical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75" y="1354405"/>
            <a:ext cx="5368290" cy="4162795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981CDB09-6503-3E4A-D9AE-730EB0386E00}"/>
              </a:ext>
            </a:extLst>
          </p:cNvPr>
          <p:cNvSpPr txBox="1"/>
          <p:nvPr/>
        </p:nvSpPr>
        <p:spPr>
          <a:xfrm>
            <a:off x="5195623" y="5617162"/>
            <a:ext cx="61395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300" b="0" i="1">
                <a:solidFill>
                  <a:srgbClr val="5A6E86"/>
                </a:solidFill>
                <a:latin typeface="Times New Roman"/>
              </a:rPr>
              <a:t>Fig. 3 | SEM images (a–c) and radial transmission profile (d) at 450/550/660 nm compared with target response T_req, [Tanriover 2023]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7766" y="3697345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33" name="TextBox 18"/>
          <p:cNvSpPr txBox="1"/>
          <p:nvPr/>
        </p:nvSpPr>
        <p:spPr>
          <a:xfrm>
            <a:off x="497222" y="3697345"/>
            <a:ext cx="5132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0000"/>
                </a:solidFill>
                <a:latin typeface="Times New Roman"/>
              </a:rPr>
              <a:t>SEM </a:t>
            </a:r>
            <a:r>
              <a:rPr sz="2000" b="1" i="0">
                <a:solidFill>
                  <a:srgbClr val="0D1B2A"/>
                </a:solidFill>
                <a:latin typeface="Times New Roman"/>
              </a:rPr>
              <a:t>(Fig. 3a–c): </a:t>
            </a:r>
            <a:r>
              <a:rPr lang="en-US" sz="2000" b="1" i="0">
                <a:solidFill>
                  <a:srgbClr val="0D1B2A"/>
                </a:solidFill>
                <a:latin typeface="Times New Roman"/>
              </a:rPr>
              <a:t>Uniform concentric Al rings; width decreases from center outward</a:t>
            </a:r>
            <a:endParaRPr sz="2000" b="1" i="0">
              <a:solidFill>
                <a:srgbClr val="0D1B2A"/>
              </a:solidFill>
              <a:latin typeface="Times New Roman"/>
            </a:endParaRPr>
          </a:p>
        </p:txBody>
      </p:sp>
      <p:sp>
        <p:nvSpPr>
          <p:cNvPr id="34" name="TextBox 19"/>
          <p:cNvSpPr txBox="1"/>
          <p:nvPr/>
        </p:nvSpPr>
        <p:spPr>
          <a:xfrm>
            <a:off x="285351" y="4597374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35" name="TextBox 20"/>
          <p:cNvSpPr txBox="1"/>
          <p:nvPr/>
        </p:nvSpPr>
        <p:spPr>
          <a:xfrm>
            <a:off x="466306" y="4569102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Transmission profile (Fig. 3d):</a:t>
            </a:r>
          </a:p>
        </p:txBody>
      </p:sp>
      <p:sp>
        <p:nvSpPr>
          <p:cNvPr id="37" name="TextBox 21"/>
          <p:cNvSpPr txBox="1"/>
          <p:nvPr/>
        </p:nvSpPr>
        <p:spPr>
          <a:xfrm>
            <a:off x="566890" y="491395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38" name="TextBox 22"/>
          <p:cNvSpPr txBox="1"/>
          <p:nvPr/>
        </p:nvSpPr>
        <p:spPr>
          <a:xfrm>
            <a:off x="786346" y="4913959"/>
            <a:ext cx="3666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364F"/>
                </a:solidFill>
                <a:latin typeface="Times New Roman"/>
              </a:rPr>
              <a:t>550 nm &amp; 660 nm: measured T closely </a:t>
            </a:r>
            <a:r>
              <a:rPr sz="1400" b="0" i="0">
                <a:solidFill>
                  <a:srgbClr val="FF0000"/>
                </a:solidFill>
                <a:latin typeface="Times New Roman"/>
              </a:rPr>
              <a:t>matches </a:t>
            </a:r>
            <a:r>
              <a:rPr sz="1400" b="0" i="0">
                <a:solidFill>
                  <a:srgbClr val="22364F"/>
                </a:solidFill>
                <a:latin typeface="Times New Roman"/>
              </a:rPr>
              <a:t>simulated target T_req</a:t>
            </a:r>
          </a:p>
        </p:txBody>
      </p:sp>
      <p:sp>
        <p:nvSpPr>
          <p:cNvPr id="39" name="TextBox 23"/>
          <p:cNvSpPr txBox="1"/>
          <p:nvPr/>
        </p:nvSpPr>
        <p:spPr>
          <a:xfrm>
            <a:off x="566890" y="537115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40" name="TextBox 24"/>
          <p:cNvSpPr txBox="1"/>
          <p:nvPr/>
        </p:nvSpPr>
        <p:spPr>
          <a:xfrm>
            <a:off x="786346" y="5371159"/>
            <a:ext cx="3666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364F"/>
                </a:solidFill>
                <a:latin typeface="Times New Roman"/>
              </a:rPr>
              <a:t>450 nm: peripheral T slightly elevated, but edge detection </a:t>
            </a:r>
            <a:r>
              <a:rPr sz="1400" b="0" i="0">
                <a:solidFill>
                  <a:srgbClr val="FF0000"/>
                </a:solidFill>
                <a:latin typeface="Times New Roman"/>
              </a:rPr>
              <a:t>remains functional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D7AD9DFE-8C24-A751-5C72-29ABD884AA79}"/>
              </a:ext>
            </a:extLst>
          </p:cNvPr>
          <p:cNvSpPr txBox="1"/>
          <p:nvPr/>
        </p:nvSpPr>
        <p:spPr>
          <a:xfrm>
            <a:off x="711926" y="222629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8BD907FE-C544-B516-289C-A4C0898FBE92}"/>
              </a:ext>
            </a:extLst>
          </p:cNvPr>
          <p:cNvSpPr txBox="1"/>
          <p:nvPr/>
        </p:nvSpPr>
        <p:spPr>
          <a:xfrm>
            <a:off x="931382" y="2226299"/>
            <a:ext cx="3666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FF0000"/>
                </a:solidFill>
                <a:latin typeface="Times New Roman"/>
              </a:rPr>
              <a:t>E-beam lithography (EBL)</a:t>
            </a:r>
            <a:r>
              <a:rPr lang="en-US" sz="1400" b="0" i="0">
                <a:solidFill>
                  <a:srgbClr val="22364F"/>
                </a:solidFill>
                <a:latin typeface="Times New Roman"/>
              </a:rPr>
              <a:t> and </a:t>
            </a:r>
            <a:r>
              <a:rPr lang="en-US" sz="1400" b="0" i="0">
                <a:solidFill>
                  <a:srgbClr val="FF0000"/>
                </a:solidFill>
                <a:latin typeface="Times New Roman"/>
              </a:rPr>
              <a:t>Al lift-off </a:t>
            </a:r>
            <a:r>
              <a:rPr lang="en-US" sz="1400" b="0" i="0">
                <a:solidFill>
                  <a:srgbClr val="22364F"/>
                </a:solidFill>
                <a:latin typeface="Times New Roman"/>
              </a:rPr>
              <a:t>on SiO₂ substrate</a:t>
            </a:r>
            <a:endParaRPr sz="1400" b="0" i="0">
              <a:solidFill>
                <a:srgbClr val="22364F"/>
              </a:solidFill>
              <a:latin typeface="Times New Roman"/>
            </a:endParaRP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C440851F-C903-A9DF-1B35-8915617B8B38}"/>
              </a:ext>
            </a:extLst>
          </p:cNvPr>
          <p:cNvSpPr txBox="1"/>
          <p:nvPr/>
        </p:nvSpPr>
        <p:spPr>
          <a:xfrm>
            <a:off x="704225" y="2684647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1D8E3734-A619-FC6A-D111-207E3FEFAF83}"/>
              </a:ext>
            </a:extLst>
          </p:cNvPr>
          <p:cNvSpPr txBox="1"/>
          <p:nvPr/>
        </p:nvSpPr>
        <p:spPr>
          <a:xfrm>
            <a:off x="923681" y="2684647"/>
            <a:ext cx="3666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22364F"/>
                </a:solidFill>
                <a:latin typeface="Times New Roman"/>
              </a:rPr>
              <a:t>Spin-coat electron beam resist, write the pattern via electron beam lithography, and develop</a:t>
            </a:r>
            <a:endParaRPr sz="1400" b="0" i="0">
              <a:solidFill>
                <a:srgbClr val="22364F"/>
              </a:solidFill>
              <a:latin typeface="Times New Roman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0B462613-4040-690F-EC1D-CA509B0AB79A}"/>
              </a:ext>
            </a:extLst>
          </p:cNvPr>
          <p:cNvSpPr txBox="1"/>
          <p:nvPr/>
        </p:nvSpPr>
        <p:spPr>
          <a:xfrm>
            <a:off x="741188" y="3174669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0C5B9054-F045-A5F5-2677-BB187056DD87}"/>
              </a:ext>
            </a:extLst>
          </p:cNvPr>
          <p:cNvSpPr txBox="1"/>
          <p:nvPr/>
        </p:nvSpPr>
        <p:spPr>
          <a:xfrm>
            <a:off x="942356" y="3175633"/>
            <a:ext cx="3666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22364F"/>
                </a:solidFill>
                <a:latin typeface="Times New Roman"/>
              </a:rPr>
              <a:t>Deposit an aluminum film over the sample, then perform lift-off to leave the ring pattern</a:t>
            </a:r>
          </a:p>
        </p:txBody>
      </p:sp>
      <p:pic>
        <p:nvPicPr>
          <p:cNvPr id="8" name="Picture 2" descr="xiaohui_converted.png">
            <a:extLst>
              <a:ext uri="{FF2B5EF4-FFF2-40B4-BE49-F238E27FC236}">
                <a16:creationId xmlns:a16="http://schemas.microsoft.com/office/drawing/2014/main" id="{57734015-B097-07C9-B7C7-F0EF92620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Experiments (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1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/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2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): HeNe Laser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591056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3803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Times New Roman"/>
              </a:rPr>
              <a:t>HeNe Laser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氦氖激光器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sz="2000" b="1" i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" y="2140593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0593"/>
            <a:ext cx="3803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With metasurface inserted: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89370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89370"/>
            <a:ext cx="348386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0" i="0">
                <a:solidFill>
                  <a:srgbClr val="22364F"/>
                </a:solidFill>
                <a:latin typeface="Times New Roman"/>
              </a:rPr>
              <a:t>The </a:t>
            </a:r>
            <a:r>
              <a:rPr lang="en-US" sz="1550" b="0" i="0">
                <a:solidFill>
                  <a:srgbClr val="FF0000"/>
                </a:solidFill>
                <a:latin typeface="Times New Roman"/>
              </a:rPr>
              <a:t>543.5 nm green </a:t>
            </a:r>
            <a:r>
              <a:rPr lang="en-US" sz="1550" b="0" i="0">
                <a:solidFill>
                  <a:srgbClr val="22364F"/>
                </a:solidFill>
                <a:latin typeface="Times New Roman"/>
              </a:rPr>
              <a:t>light source is </a:t>
            </a:r>
            <a:r>
              <a:rPr lang="en-US" sz="1550" b="0" i="0">
                <a:solidFill>
                  <a:srgbClr val="FF0000"/>
                </a:solidFill>
                <a:latin typeface="Times New Roman"/>
              </a:rPr>
              <a:t>randomly polarized</a:t>
            </a:r>
            <a:endParaRPr sz="1550" b="0" i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3076270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076270"/>
            <a:ext cx="348386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0" i="0">
                <a:solidFill>
                  <a:srgbClr val="22364F"/>
                </a:solidFill>
                <a:latin typeface="Times New Roman"/>
              </a:rPr>
              <a:t>the </a:t>
            </a:r>
            <a:r>
              <a:rPr lang="en-US" sz="1550" b="0" i="0">
                <a:solidFill>
                  <a:srgbClr val="FF0000"/>
                </a:solidFill>
                <a:latin typeface="Times New Roman"/>
              </a:rPr>
              <a:t>633 nm red</a:t>
            </a:r>
            <a:r>
              <a:rPr lang="en-US" sz="1550" b="0" i="0">
                <a:solidFill>
                  <a:srgbClr val="22364F"/>
                </a:solidFill>
                <a:latin typeface="Times New Roman"/>
              </a:rPr>
              <a:t> light source is </a:t>
            </a:r>
            <a:r>
              <a:rPr lang="en-US" sz="1550" b="0" i="0">
                <a:solidFill>
                  <a:srgbClr val="FF0000"/>
                </a:solidFill>
                <a:latin typeface="Times New Roman"/>
              </a:rPr>
              <a:t>linearly</a:t>
            </a:r>
            <a:r>
              <a:rPr lang="en-US" sz="1550" b="0" i="0">
                <a:solidFill>
                  <a:srgbClr val="22364F"/>
                </a:solidFill>
                <a:latin typeface="Times New Roman"/>
              </a:rPr>
              <a:t> </a:t>
            </a:r>
            <a:r>
              <a:rPr lang="en-US" sz="1550" b="0" i="0">
                <a:solidFill>
                  <a:srgbClr val="FF0000"/>
                </a:solidFill>
                <a:latin typeface="Times New Roman"/>
              </a:rPr>
              <a:t>polarized</a:t>
            </a:r>
            <a:endParaRPr sz="1550" b="0" i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6329" y="4371362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85" y="4371362"/>
            <a:ext cx="43055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Horizontal cross-sections (Fig. 4j, k):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737555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737555"/>
            <a:ext cx="348386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2364F"/>
                </a:solidFill>
                <a:latin typeface="Times New Roman"/>
              </a:rPr>
              <a:t>Flat-top intensity profile </a:t>
            </a:r>
            <a:r>
              <a:rPr sz="1550" b="0" i="0">
                <a:latin typeface="Times New Roman"/>
              </a:rPr>
              <a:t>→</a:t>
            </a:r>
            <a:r>
              <a:rPr sz="1550" b="0" i="0">
                <a:solidFill>
                  <a:srgbClr val="FF0000"/>
                </a:solidFill>
                <a:latin typeface="Times New Roman"/>
              </a:rPr>
              <a:t> two sharp peaks at edge</a:t>
            </a:r>
            <a:r>
              <a:rPr sz="1550" b="0" i="0">
                <a:solidFill>
                  <a:srgbClr val="22364F"/>
                </a:solidFill>
                <a:latin typeface="Times New Roman"/>
              </a:rPr>
              <a:t> 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277051"/>
            <a:ext cx="2011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277051"/>
            <a:ext cx="348386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2364F"/>
                </a:solidFill>
                <a:latin typeface="Times New Roman"/>
              </a:rPr>
              <a:t>Accurate edge localization confirmed at both wavelengths</a:t>
            </a:r>
          </a:p>
        </p:txBody>
      </p:sp>
      <p:pic>
        <p:nvPicPr>
          <p:cNvPr id="22" name="Picture 21" descr="Metasurface enabled broadband all optical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934" y="1479498"/>
            <a:ext cx="6349114" cy="43945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78264" y="5963265"/>
            <a:ext cx="796045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Fig. 4b–k | Reference &amp; edge-detected images at 543.5 nm and 633 nm; horizontal cross-sections</a:t>
            </a:r>
            <a:r>
              <a:rPr lang="en-US" sz="1300" b="0" i="1">
                <a:solidFill>
                  <a:srgbClr val="5A6E86"/>
                </a:solidFill>
                <a:latin typeface="Times New Roman"/>
              </a:rPr>
              <a:t>, [Tanriover 2023]</a:t>
            </a:r>
            <a:endParaRPr sz="1300" b="0" i="1">
              <a:solidFill>
                <a:srgbClr val="5A6E86"/>
              </a:solidFill>
              <a:latin typeface="Times New Roman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7796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Experiments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CF5E0108-D2A9-8AD1-7BFD-B6F510903694}"/>
              </a:ext>
            </a:extLst>
          </p:cNvPr>
          <p:cNvSpPr txBox="1"/>
          <p:nvPr/>
        </p:nvSpPr>
        <p:spPr>
          <a:xfrm>
            <a:off x="768370" y="3715080"/>
            <a:ext cx="229113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723D507B-ACAF-A44D-BA0F-AE391135234C}"/>
              </a:ext>
            </a:extLst>
          </p:cNvPr>
          <p:cNvSpPr txBox="1"/>
          <p:nvPr/>
        </p:nvSpPr>
        <p:spPr>
          <a:xfrm>
            <a:off x="987826" y="3715080"/>
            <a:ext cx="396781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0" i="0">
                <a:latin typeface="Times New Roman"/>
              </a:rPr>
              <a:t>543.5 nm (green) &amp; 633 nm (red): </a:t>
            </a:r>
            <a:r>
              <a:rPr lang="en-US" sz="1550" b="0" i="0">
                <a:solidFill>
                  <a:srgbClr val="22364F"/>
                </a:solidFill>
                <a:latin typeface="Times New Roman"/>
              </a:rPr>
              <a:t>both wavelengths yield </a:t>
            </a:r>
            <a:r>
              <a:rPr lang="en-US" sz="1550" b="0" i="0">
                <a:solidFill>
                  <a:srgbClr val="FF0000"/>
                </a:solidFill>
                <a:latin typeface="Times New Roman"/>
              </a:rPr>
              <a:t>high-quality edge detection</a:t>
            </a:r>
          </a:p>
        </p:txBody>
      </p:sp>
      <p:pic>
        <p:nvPicPr>
          <p:cNvPr id="3" name="Picture 2" descr="xiaohui_converted.png">
            <a:extLst>
              <a:ext uri="{FF2B5EF4-FFF2-40B4-BE49-F238E27FC236}">
                <a16:creationId xmlns:a16="http://schemas.microsoft.com/office/drawing/2014/main" id="{7684269C-4449-7932-C03F-2ED0EB053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Experiments (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2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/</a:t>
            </a:r>
            <a:r>
              <a:rPr lang="en-US" sz="3000" b="1" i="0">
                <a:solidFill>
                  <a:srgbClr val="0D1B2A"/>
                </a:solidFill>
                <a:latin typeface="Times New Roman"/>
              </a:rPr>
              <a:t>2</a:t>
            </a:r>
            <a:r>
              <a:rPr sz="3000" b="1" i="0">
                <a:solidFill>
                  <a:srgbClr val="0D1B2A"/>
                </a:solidFill>
                <a:latin typeface="Times New Roman"/>
              </a:rPr>
              <a:t>): Broadband White-Light &amp;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etasurface enabled broadband all optical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51" y="1620145"/>
            <a:ext cx="3693033" cy="3948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6884" y="5709334"/>
            <a:ext cx="537752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E86"/>
                </a:solidFill>
                <a:latin typeface="Times New Roman"/>
              </a:rPr>
              <a:t>Fig. 5 | Xe arc-lamp (broadband, incoherent, unpolarized): reference (a, b) and edge-detected (c, d) for 'N' letter and Wildcats logo</a:t>
            </a:r>
            <a:r>
              <a:rPr lang="en-US" sz="1300" b="0" i="1">
                <a:solidFill>
                  <a:srgbClr val="5A6E86"/>
                </a:solidFill>
                <a:latin typeface="Times New Roman"/>
              </a:rPr>
              <a:t>, [Tanriover 2023]</a:t>
            </a:r>
            <a:endParaRPr sz="1300" b="0" i="1">
              <a:solidFill>
                <a:srgbClr val="5A6E86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60000" y="1391937"/>
            <a:ext cx="52422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03F87"/>
                </a:solidFill>
                <a:latin typeface="Times New Roman"/>
              </a:rPr>
              <a:t>White-light experiment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9996" y="1895855"/>
            <a:ext cx="5242255" cy="20116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25164" y="2004713"/>
            <a:ext cx="201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4620" y="1985463"/>
            <a:ext cx="54768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Source: </a:t>
            </a:r>
            <a:r>
              <a:rPr sz="2000" b="1" i="0">
                <a:solidFill>
                  <a:srgbClr val="FF0000"/>
                </a:solidFill>
                <a:latin typeface="Times New Roman"/>
              </a:rPr>
              <a:t>Xe arc lamp</a:t>
            </a:r>
            <a:r>
              <a:rPr lang="en-US" sz="2000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氙弧灯</a:t>
            </a:r>
            <a:r>
              <a:rPr lang="en-US" altLang="zh-CN" sz="2000" b="1" i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sz="2000" b="1" i="0">
              <a:solidFill>
                <a:srgbClr val="0D1B2A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8745" y="2367855"/>
            <a:ext cx="201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80C0"/>
                </a:solidFill>
                <a:latin typeface="Times New Roman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201" y="2367855"/>
            <a:ext cx="470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0000"/>
                </a:solidFill>
                <a:latin typeface="Times New Roman"/>
              </a:rPr>
              <a:t>Incoherent,</a:t>
            </a:r>
            <a:r>
              <a:rPr sz="1400" b="0" i="0">
                <a:solidFill>
                  <a:srgbClr val="22364F"/>
                </a:solidFill>
                <a:latin typeface="Times New Roman"/>
              </a:rPr>
              <a:t> unpolarized, broadband — real-world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7747" y="2651752"/>
            <a:ext cx="239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1498" y="2643913"/>
            <a:ext cx="5991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Coherence diameter ~ </a:t>
            </a:r>
            <a:r>
              <a:rPr lang="en-US" sz="2000" b="1" i="0">
                <a:solidFill>
                  <a:srgbClr val="0D1B2A"/>
                </a:solidFill>
                <a:latin typeface="Times New Roman"/>
              </a:rPr>
              <a:t>8</a:t>
            </a:r>
            <a:r>
              <a:rPr sz="2000" b="1" i="0">
                <a:solidFill>
                  <a:srgbClr val="0D1B2A"/>
                </a:solidFill>
                <a:latin typeface="Times New Roman"/>
              </a:rPr>
              <a:t>λ (far below coherent laser)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837" y="3067281"/>
            <a:ext cx="233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1498" y="3057453"/>
            <a:ext cx="5831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Times New Roman"/>
              </a:rPr>
              <a:t>Clear edge detection achieved with white light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CB7ADB3-ECDD-BB56-468C-2C5A0591EC8F}"/>
              </a:ext>
            </a:extLst>
          </p:cNvPr>
          <p:cNvGrpSpPr/>
          <p:nvPr/>
        </p:nvGrpSpPr>
        <p:grpSpPr>
          <a:xfrm>
            <a:off x="5925933" y="3510032"/>
            <a:ext cx="5249786" cy="2659598"/>
            <a:chOff x="6740741" y="3850930"/>
            <a:chExt cx="5249786" cy="2659598"/>
          </a:xfrm>
        </p:grpSpPr>
        <p:sp>
          <p:nvSpPr>
            <p:cNvPr id="19" name="TextBox 18"/>
            <p:cNvSpPr txBox="1"/>
            <p:nvPr/>
          </p:nvSpPr>
          <p:spPr>
            <a:xfrm>
              <a:off x="6740741" y="3850930"/>
              <a:ext cx="5242255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50" b="1" i="0">
                  <a:solidFill>
                    <a:srgbClr val="003F87"/>
                  </a:solidFill>
                  <a:latin typeface="Times New Roman"/>
                </a:rPr>
                <a:t>Efficiency Metrics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40741" y="4216690"/>
              <a:ext cx="5242255" cy="20116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740741" y="4326418"/>
              <a:ext cx="5242255" cy="420624"/>
            </a:xfrm>
            <a:prstGeom prst="rect">
              <a:avLst/>
            </a:prstGeom>
            <a:solidFill>
              <a:srgbClr val="F0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32181" y="4372138"/>
              <a:ext cx="3962095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0D1B2A"/>
                  </a:solidFill>
                  <a:latin typeface="Times New Roman"/>
                </a:rPr>
                <a:t>Image contrast — reference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740741" y="4765330"/>
              <a:ext cx="5242255" cy="420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32181" y="4809310"/>
              <a:ext cx="3962095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0D1B2A"/>
                  </a:solidFill>
                  <a:latin typeface="Times New Roman"/>
                </a:rPr>
                <a:t>Image contrast — edge detected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785812" y="4811050"/>
              <a:ext cx="10972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50" b="1" i="0">
                  <a:solidFill>
                    <a:srgbClr val="003F87"/>
                  </a:solidFill>
                  <a:latin typeface="Times New Roman"/>
                </a:rPr>
                <a:t>45</a:t>
              </a:r>
              <a:r>
                <a:rPr lang="en-US" sz="1650" b="1" i="0">
                  <a:solidFill>
                    <a:srgbClr val="003F87"/>
                  </a:solidFill>
                  <a:latin typeface="Times New Roman"/>
                </a:rPr>
                <a:t> %</a:t>
              </a:r>
              <a:endParaRPr sz="1650" b="1" i="0">
                <a:solidFill>
                  <a:srgbClr val="003F87"/>
                </a:solidFill>
                <a:latin typeface="Times New Roman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740741" y="5204242"/>
              <a:ext cx="5242255" cy="420624"/>
            </a:xfrm>
            <a:prstGeom prst="rect">
              <a:avLst/>
            </a:prstGeom>
            <a:solidFill>
              <a:srgbClr val="F0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32181" y="5249962"/>
              <a:ext cx="3962095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0D1B2A"/>
                  </a:solidFill>
                  <a:latin typeface="Times New Roman"/>
                </a:rPr>
                <a:t>Peak efficiency  (η_peak)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794276" y="5249962"/>
              <a:ext cx="1097280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50" b="1" i="0">
                  <a:solidFill>
                    <a:srgbClr val="003F87"/>
                  </a:solidFill>
                  <a:latin typeface="Times New Roman"/>
                </a:rPr>
                <a:t>48 %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740741" y="5643154"/>
              <a:ext cx="5242255" cy="420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832181" y="5688874"/>
              <a:ext cx="3962095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0D1B2A"/>
                  </a:solidFill>
                  <a:latin typeface="Times New Roman"/>
                </a:rPr>
                <a:t>Average efficiency  (η_avg)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794276" y="5688874"/>
              <a:ext cx="1097280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50" b="1" i="0">
                  <a:solidFill>
                    <a:srgbClr val="003F87"/>
                  </a:solidFill>
                  <a:latin typeface="Times New Roman"/>
                </a:rPr>
                <a:t>37 %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748272" y="6089904"/>
              <a:ext cx="5242255" cy="420624"/>
            </a:xfrm>
            <a:prstGeom prst="rect">
              <a:avLst/>
            </a:prstGeom>
            <a:solidFill>
              <a:srgbClr val="F0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39712" y="6135624"/>
              <a:ext cx="3962095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50" b="0" i="0">
                  <a:solidFill>
                    <a:srgbClr val="0D1B2A"/>
                  </a:solidFill>
                  <a:latin typeface="Times New Roman"/>
                </a:rPr>
                <a:t>Prior-art peak efficiency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801807" y="6135624"/>
              <a:ext cx="1097280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sz="1650" b="1" i="0">
                  <a:solidFill>
                    <a:srgbClr val="003F87"/>
                  </a:solidFill>
                  <a:latin typeface="Times New Roman"/>
                </a:rPr>
                <a:t>&lt; 1 %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7796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Experiments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  <p:pic>
        <p:nvPicPr>
          <p:cNvPr id="7" name="Picture 2" descr="xiaohui_converted.png">
            <a:extLst>
              <a:ext uri="{FF2B5EF4-FFF2-40B4-BE49-F238E27FC236}">
                <a16:creationId xmlns:a16="http://schemas.microsoft.com/office/drawing/2014/main" id="{07B1461F-D36A-55BF-FD3B-326656509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  <p:sp>
        <p:nvSpPr>
          <p:cNvPr id="45" name="TextBox 28">
            <a:extLst>
              <a:ext uri="{FF2B5EF4-FFF2-40B4-BE49-F238E27FC236}">
                <a16:creationId xmlns:a16="http://schemas.microsoft.com/office/drawing/2014/main" id="{88F5EE93-850A-D7D9-ED96-0E8AFA6253D4}"/>
              </a:ext>
            </a:extLst>
          </p:cNvPr>
          <p:cNvSpPr txBox="1"/>
          <p:nvPr/>
        </p:nvSpPr>
        <p:spPr>
          <a:xfrm>
            <a:off x="9979466" y="4028522"/>
            <a:ext cx="109728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50" b="1">
                <a:solidFill>
                  <a:srgbClr val="003F87"/>
                </a:solidFill>
                <a:latin typeface="Times New Roman"/>
              </a:rPr>
              <a:t>95</a:t>
            </a:r>
            <a:r>
              <a:rPr sz="1650" b="1" i="0">
                <a:solidFill>
                  <a:srgbClr val="003F87"/>
                </a:solidFill>
                <a:latin typeface="Times New Roman"/>
              </a:rPr>
              <a:t> 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113138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Times New Roman"/>
              </a:rPr>
              <a:t>Discussion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444752"/>
            <a:ext cx="2743200" cy="34747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FF8F89C-86CE-D2E0-423D-CE379B7FBC88}"/>
              </a:ext>
            </a:extLst>
          </p:cNvPr>
          <p:cNvGrpSpPr/>
          <p:nvPr/>
        </p:nvGrpSpPr>
        <p:grpSpPr>
          <a:xfrm>
            <a:off x="419957" y="1561795"/>
            <a:ext cx="3654451" cy="2549217"/>
            <a:chOff x="438912" y="1696934"/>
            <a:chExt cx="3291840" cy="3015297"/>
          </a:xfrm>
        </p:grpSpPr>
        <p:sp>
          <p:nvSpPr>
            <p:cNvPr id="6" name="Rectangle 5"/>
            <p:cNvSpPr/>
            <p:nvPr/>
          </p:nvSpPr>
          <p:spPr>
            <a:xfrm>
              <a:off x="438912" y="1696934"/>
              <a:ext cx="3291840" cy="493776"/>
            </a:xfrm>
            <a:prstGeom prst="rect">
              <a:avLst/>
            </a:prstGeom>
            <a:solidFill>
              <a:srgbClr val="003F87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30352" y="1770086"/>
              <a:ext cx="3163823" cy="47326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  <a:latin typeface="Times New Roman"/>
                </a:rPr>
                <a:t>Performance Metric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8912" y="2190710"/>
              <a:ext cx="3291840" cy="493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0352" y="2263862"/>
              <a:ext cx="3163823" cy="47326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Operating bandwidth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912" y="2684486"/>
              <a:ext cx="3291840" cy="493776"/>
            </a:xfrm>
            <a:prstGeom prst="rect">
              <a:avLst/>
            </a:prstGeom>
            <a:solidFill>
              <a:srgbClr val="F4F7FB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0352" y="2757639"/>
              <a:ext cx="3163823" cy="47326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Polarization dependence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38912" y="3178262"/>
              <a:ext cx="3291840" cy="493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0352" y="3251414"/>
              <a:ext cx="3163823" cy="47326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Coherence requirement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38912" y="3672038"/>
              <a:ext cx="3291840" cy="493776"/>
            </a:xfrm>
            <a:prstGeom prst="rect">
              <a:avLst/>
            </a:prstGeom>
            <a:solidFill>
              <a:srgbClr val="F4F7FB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352" y="3745191"/>
              <a:ext cx="3163823" cy="47326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Peak efficiency  η_peak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38912" y="4165814"/>
              <a:ext cx="3291840" cy="493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0352" y="4238968"/>
              <a:ext cx="3163823" cy="47326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Average efficiency  η_avg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19662" y="4750846"/>
            <a:ext cx="113138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F87"/>
                </a:solidFill>
                <a:latin typeface="Times New Roman"/>
              </a:rPr>
              <a:t>Limitations &amp; Future Directions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5171654"/>
            <a:ext cx="2743200" cy="2743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8491" y="5255301"/>
            <a:ext cx="2011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697" y="5245676"/>
            <a:ext cx="11094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Times New Roman"/>
              </a:rPr>
              <a:t>Fabrication: </a:t>
            </a:r>
            <a:r>
              <a:rPr b="1" i="0">
                <a:solidFill>
                  <a:srgbClr val="FF0000"/>
                </a:solidFill>
                <a:latin typeface="Times New Roman"/>
              </a:rPr>
              <a:t>EBL min. feature size limits </a:t>
            </a:r>
            <a:r>
              <a:rPr b="1" i="0">
                <a:solidFill>
                  <a:srgbClr val="0D1B2A"/>
                </a:solidFill>
                <a:latin typeface="Times New Roman"/>
              </a:rPr>
              <a:t>450 nm performance; advanced nanofabrication (NIL) to address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6268934"/>
            <a:ext cx="2011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8697" y="5525233"/>
            <a:ext cx="11094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D1B2A"/>
                </a:solidFill>
                <a:latin typeface="Times New Roman"/>
              </a:rPr>
              <a:t>Integration: </a:t>
            </a:r>
            <a:r>
              <a:rPr b="1" i="0">
                <a:solidFill>
                  <a:srgbClr val="FF0000"/>
                </a:solidFill>
                <a:latin typeface="Times New Roman"/>
              </a:rPr>
              <a:t>combine with on-chip </a:t>
            </a:r>
            <a:r>
              <a:rPr b="1" i="0">
                <a:solidFill>
                  <a:srgbClr val="0D1B2A"/>
                </a:solidFill>
                <a:latin typeface="Times New Roman"/>
              </a:rPr>
              <a:t>photonic circuits for compact, low-power edge-detection hardware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430B5C6-24C8-D324-C561-2D1F43DD55F0}"/>
              </a:ext>
            </a:extLst>
          </p:cNvPr>
          <p:cNvGrpSpPr/>
          <p:nvPr/>
        </p:nvGrpSpPr>
        <p:grpSpPr>
          <a:xfrm>
            <a:off x="475487" y="4232585"/>
            <a:ext cx="11313871" cy="475488"/>
            <a:chOff x="430981" y="1555918"/>
            <a:chExt cx="11313871" cy="475488"/>
          </a:xfrm>
        </p:grpSpPr>
        <p:sp>
          <p:nvSpPr>
            <p:cNvPr id="50" name="Rectangle 49"/>
            <p:cNvSpPr/>
            <p:nvPr/>
          </p:nvSpPr>
          <p:spPr>
            <a:xfrm>
              <a:off x="430981" y="1555918"/>
              <a:ext cx="11313871" cy="475488"/>
            </a:xfrm>
            <a:prstGeom prst="rect">
              <a:avLst/>
            </a:prstGeom>
            <a:solidFill>
              <a:srgbClr val="003F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13861" y="1638214"/>
              <a:ext cx="10984687" cy="330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550" b="1">
                  <a:solidFill>
                    <a:srgbClr val="FFFFFF"/>
                  </a:solidFill>
                  <a:latin typeface="Times New Roman"/>
                </a:rPr>
                <a:t>4f system </a:t>
              </a:r>
              <a:r>
                <a:rPr sz="1550" b="1" i="0">
                  <a:solidFill>
                    <a:srgbClr val="FFFFFF"/>
                  </a:solidFill>
                  <a:latin typeface="Times New Roman"/>
                </a:rPr>
                <a:t>× </a:t>
              </a:r>
              <a:r>
                <a:rPr lang="en-US" altLang="zh-CN" sz="1550" b="1">
                  <a:solidFill>
                    <a:srgbClr val="FFFFFF"/>
                  </a:solidFill>
                  <a:latin typeface="Times New Roman"/>
                </a:rPr>
                <a:t>Non-resonant Al-ring metasurface </a:t>
              </a:r>
              <a:r>
                <a:rPr sz="1550" b="1" i="0">
                  <a:solidFill>
                    <a:srgbClr val="FFFFFF"/>
                  </a:solidFill>
                  <a:latin typeface="Times New Roman"/>
                </a:rPr>
                <a:t>=  All-optical visible-light edge detection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68525" y="6368033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0474" y="6368033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2423" y="6368033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4372" y="6368033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59745" y="6313932"/>
            <a:ext cx="2031949" cy="54406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43">
            <a:extLst>
              <a:ext uri="{FF2B5EF4-FFF2-40B4-BE49-F238E27FC236}">
                <a16:creationId xmlns:a16="http://schemas.microsoft.com/office/drawing/2014/main" id="{ABE5A956-828B-1094-A019-59EAF6CC9796}"/>
              </a:ext>
            </a:extLst>
          </p:cNvPr>
          <p:cNvSpPr txBox="1"/>
          <p:nvPr/>
        </p:nvSpPr>
        <p:spPr>
          <a:xfrm>
            <a:off x="390188" y="5566125"/>
            <a:ext cx="2011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F87"/>
                </a:solidFill>
                <a:latin typeface="Times New Roman"/>
              </a:rPr>
              <a:t>›</a:t>
            </a:r>
          </a:p>
        </p:txBody>
      </p:sp>
      <p:pic>
        <p:nvPicPr>
          <p:cNvPr id="46" name="Picture 2" descr="xiaohui_converted.png">
            <a:extLst>
              <a:ext uri="{FF2B5EF4-FFF2-40B4-BE49-F238E27FC236}">
                <a16:creationId xmlns:a16="http://schemas.microsoft.com/office/drawing/2014/main" id="{12EE84BE-D0A1-3644-DD30-0A4A532CC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793" y="-360040"/>
            <a:ext cx="2258571" cy="1556821"/>
          </a:xfrm>
          <a:prstGeom prst="rect">
            <a:avLst/>
          </a:prstGeom>
        </p:spPr>
      </p:pic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5343B7B3-FBC6-F3EC-B54F-DA551C0F6409}"/>
              </a:ext>
            </a:extLst>
          </p:cNvPr>
          <p:cNvGrpSpPr/>
          <p:nvPr/>
        </p:nvGrpSpPr>
        <p:grpSpPr>
          <a:xfrm>
            <a:off x="7937426" y="1564331"/>
            <a:ext cx="3857476" cy="2549217"/>
            <a:chOff x="12711781" y="3429000"/>
            <a:chExt cx="3857476" cy="2549217"/>
          </a:xfrm>
        </p:grpSpPr>
        <p:sp>
          <p:nvSpPr>
            <p:cNvPr id="80" name="Rectangle 7"/>
            <p:cNvSpPr/>
            <p:nvPr/>
          </p:nvSpPr>
          <p:spPr>
            <a:xfrm>
              <a:off x="12711781" y="3429000"/>
              <a:ext cx="3857476" cy="417452"/>
            </a:xfrm>
            <a:prstGeom prst="rect">
              <a:avLst/>
            </a:prstGeom>
            <a:solidFill>
              <a:srgbClr val="003F87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1" name="TextBox 8"/>
            <p:cNvSpPr txBox="1"/>
            <p:nvPr/>
          </p:nvSpPr>
          <p:spPr>
            <a:xfrm>
              <a:off x="12813293" y="3490845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  <a:latin typeface="Times New Roman"/>
                </a:rPr>
                <a:t>This Work</a:t>
              </a:r>
            </a:p>
          </p:txBody>
        </p:sp>
        <p:sp>
          <p:nvSpPr>
            <p:cNvPr id="82" name="Rectangle 13"/>
            <p:cNvSpPr/>
            <p:nvPr/>
          </p:nvSpPr>
          <p:spPr>
            <a:xfrm>
              <a:off x="12711781" y="3846452"/>
              <a:ext cx="3857476" cy="417452"/>
            </a:xfrm>
            <a:prstGeom prst="rect">
              <a:avLst/>
            </a:prstGeom>
            <a:solidFill>
              <a:srgbClr val="E0EEE4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3" name="TextBox 14"/>
            <p:cNvSpPr txBox="1"/>
            <p:nvPr/>
          </p:nvSpPr>
          <p:spPr>
            <a:xfrm>
              <a:off x="12813293" y="3908297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450–660 nm + near-IR</a:t>
              </a:r>
            </a:p>
          </p:txBody>
        </p:sp>
        <p:sp>
          <p:nvSpPr>
            <p:cNvPr id="84" name="Rectangle 19"/>
            <p:cNvSpPr/>
            <p:nvPr/>
          </p:nvSpPr>
          <p:spPr>
            <a:xfrm>
              <a:off x="12711781" y="4263904"/>
              <a:ext cx="3857476" cy="417452"/>
            </a:xfrm>
            <a:prstGeom prst="rect">
              <a:avLst/>
            </a:prstGeom>
            <a:solidFill>
              <a:srgbClr val="E0EEE4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5" name="TextBox 20"/>
            <p:cNvSpPr txBox="1"/>
            <p:nvPr/>
          </p:nvSpPr>
          <p:spPr>
            <a:xfrm>
              <a:off x="12813293" y="4325750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None (isotropic)</a:t>
              </a:r>
            </a:p>
          </p:txBody>
        </p:sp>
        <p:sp>
          <p:nvSpPr>
            <p:cNvPr id="86" name="Rectangle 25"/>
            <p:cNvSpPr/>
            <p:nvPr/>
          </p:nvSpPr>
          <p:spPr>
            <a:xfrm>
              <a:off x="12711781" y="4681356"/>
              <a:ext cx="3857476" cy="417452"/>
            </a:xfrm>
            <a:prstGeom prst="rect">
              <a:avLst/>
            </a:prstGeom>
            <a:solidFill>
              <a:srgbClr val="E0EEE4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7" name="TextBox 26"/>
            <p:cNvSpPr txBox="1"/>
            <p:nvPr/>
          </p:nvSpPr>
          <p:spPr>
            <a:xfrm>
              <a:off x="12813293" y="4743201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None — white light OK</a:t>
              </a:r>
            </a:p>
          </p:txBody>
        </p:sp>
        <p:sp>
          <p:nvSpPr>
            <p:cNvPr id="88" name="Rectangle 31"/>
            <p:cNvSpPr/>
            <p:nvPr/>
          </p:nvSpPr>
          <p:spPr>
            <a:xfrm>
              <a:off x="12711781" y="5098809"/>
              <a:ext cx="3857476" cy="417452"/>
            </a:xfrm>
            <a:prstGeom prst="rect">
              <a:avLst/>
            </a:prstGeom>
            <a:solidFill>
              <a:srgbClr val="E0EEE4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9" name="TextBox 32"/>
            <p:cNvSpPr txBox="1"/>
            <p:nvPr/>
          </p:nvSpPr>
          <p:spPr>
            <a:xfrm>
              <a:off x="12813293" y="5160654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48 %</a:t>
              </a:r>
            </a:p>
          </p:txBody>
        </p:sp>
        <p:sp>
          <p:nvSpPr>
            <p:cNvPr id="90" name="Rectangle 37"/>
            <p:cNvSpPr/>
            <p:nvPr/>
          </p:nvSpPr>
          <p:spPr>
            <a:xfrm>
              <a:off x="12711781" y="5516261"/>
              <a:ext cx="3857476" cy="417452"/>
            </a:xfrm>
            <a:prstGeom prst="rect">
              <a:avLst/>
            </a:prstGeom>
            <a:solidFill>
              <a:srgbClr val="E0EEE4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1" name="TextBox 38"/>
            <p:cNvSpPr txBox="1"/>
            <p:nvPr/>
          </p:nvSpPr>
          <p:spPr>
            <a:xfrm>
              <a:off x="12813293" y="5578107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0D1B2A"/>
                  </a:solidFill>
                  <a:latin typeface="Times New Roman"/>
                </a:rPr>
                <a:t>37 %</a:t>
              </a: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F2E24ABD-EF21-8F9D-5BB1-6FF1E7906442}"/>
              </a:ext>
            </a:extLst>
          </p:cNvPr>
          <p:cNvGrpSpPr/>
          <p:nvPr/>
        </p:nvGrpSpPr>
        <p:grpSpPr>
          <a:xfrm>
            <a:off x="4081598" y="1560470"/>
            <a:ext cx="3857476" cy="2549217"/>
            <a:chOff x="4027322" y="1561005"/>
            <a:chExt cx="3857476" cy="2549217"/>
          </a:xfrm>
        </p:grpSpPr>
        <p:sp>
          <p:nvSpPr>
            <p:cNvPr id="92" name="Rectangle 9"/>
            <p:cNvSpPr/>
            <p:nvPr/>
          </p:nvSpPr>
          <p:spPr>
            <a:xfrm>
              <a:off x="4027322" y="1561005"/>
              <a:ext cx="3857476" cy="417452"/>
            </a:xfrm>
            <a:prstGeom prst="rect">
              <a:avLst/>
            </a:prstGeom>
            <a:solidFill>
              <a:srgbClr val="003F87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3" name="TextBox 10"/>
            <p:cNvSpPr txBox="1"/>
            <p:nvPr/>
          </p:nvSpPr>
          <p:spPr>
            <a:xfrm>
              <a:off x="4128835" y="1622850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 i="0">
                  <a:solidFill>
                    <a:srgbClr val="FFFFFF"/>
                  </a:solidFill>
                  <a:latin typeface="Times New Roman"/>
                </a:rPr>
                <a:t>Typical Prior Art</a:t>
              </a:r>
            </a:p>
          </p:txBody>
        </p:sp>
        <p:sp>
          <p:nvSpPr>
            <p:cNvPr id="94" name="Rectangle 15"/>
            <p:cNvSpPr/>
            <p:nvPr/>
          </p:nvSpPr>
          <p:spPr>
            <a:xfrm>
              <a:off x="4027322" y="1978457"/>
              <a:ext cx="3857476" cy="4174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5" name="TextBox 16"/>
            <p:cNvSpPr txBox="1"/>
            <p:nvPr/>
          </p:nvSpPr>
          <p:spPr>
            <a:xfrm>
              <a:off x="4128835" y="2040302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Single or few nm</a:t>
              </a:r>
            </a:p>
          </p:txBody>
        </p:sp>
        <p:sp>
          <p:nvSpPr>
            <p:cNvPr id="96" name="Rectangle 21"/>
            <p:cNvSpPr/>
            <p:nvPr/>
          </p:nvSpPr>
          <p:spPr>
            <a:xfrm>
              <a:off x="4027322" y="2395909"/>
              <a:ext cx="3857476" cy="417452"/>
            </a:xfrm>
            <a:prstGeom prst="rect">
              <a:avLst/>
            </a:prstGeom>
            <a:solidFill>
              <a:srgbClr val="F4F7FB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7" name="TextBox 22"/>
            <p:cNvSpPr txBox="1"/>
            <p:nvPr/>
          </p:nvSpPr>
          <p:spPr>
            <a:xfrm>
              <a:off x="4128835" y="2457755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Present</a:t>
              </a:r>
            </a:p>
          </p:txBody>
        </p:sp>
        <p:sp>
          <p:nvSpPr>
            <p:cNvPr id="98" name="Rectangle 27"/>
            <p:cNvSpPr/>
            <p:nvPr/>
          </p:nvSpPr>
          <p:spPr>
            <a:xfrm>
              <a:off x="4027322" y="2813361"/>
              <a:ext cx="3857476" cy="4174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9" name="TextBox 28"/>
            <p:cNvSpPr txBox="1"/>
            <p:nvPr/>
          </p:nvSpPr>
          <p:spPr>
            <a:xfrm>
              <a:off x="4128835" y="2875206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Coherent laser</a:t>
              </a:r>
            </a:p>
          </p:txBody>
        </p:sp>
        <p:sp>
          <p:nvSpPr>
            <p:cNvPr id="100" name="Rectangle 33"/>
            <p:cNvSpPr/>
            <p:nvPr/>
          </p:nvSpPr>
          <p:spPr>
            <a:xfrm>
              <a:off x="4027322" y="3230814"/>
              <a:ext cx="3857476" cy="417452"/>
            </a:xfrm>
            <a:prstGeom prst="rect">
              <a:avLst/>
            </a:prstGeom>
            <a:solidFill>
              <a:srgbClr val="F4F7FB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1" name="TextBox 34"/>
            <p:cNvSpPr txBox="1"/>
            <p:nvPr/>
          </p:nvSpPr>
          <p:spPr>
            <a:xfrm>
              <a:off x="4128835" y="3292659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&lt; 1 %</a:t>
              </a:r>
            </a:p>
          </p:txBody>
        </p:sp>
        <p:sp>
          <p:nvSpPr>
            <p:cNvPr id="102" name="Rectangle 39"/>
            <p:cNvSpPr/>
            <p:nvPr/>
          </p:nvSpPr>
          <p:spPr>
            <a:xfrm>
              <a:off x="4027322" y="3648266"/>
              <a:ext cx="3857476" cy="4174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D0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3" name="TextBox 40"/>
            <p:cNvSpPr txBox="1"/>
            <p:nvPr/>
          </p:nvSpPr>
          <p:spPr>
            <a:xfrm>
              <a:off x="4128835" y="3710112"/>
              <a:ext cx="3715358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0" i="0">
                  <a:solidFill>
                    <a:srgbClr val="0D1B2A"/>
                  </a:solidFill>
                  <a:latin typeface="Times New Roman"/>
                </a:rPr>
                <a:t>N/A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91695" cy="27432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1645920"/>
            <a:ext cx="82296" cy="27432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5488" y="1645920"/>
            <a:ext cx="32004" cy="2743200"/>
          </a:xfrm>
          <a:prstGeom prst="rect">
            <a:avLst/>
          </a:prstGeom>
          <a:solidFill>
            <a:srgbClr val="1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D1B2A"/>
                </a:solidFill>
                <a:latin typeface="Times New Roman"/>
              </a:rPr>
              <a:t>Thank you for Listening!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2989"/>
            <a:ext cx="8081554" cy="45719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518265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5A6E86"/>
                </a:solidFill>
                <a:latin typeface="Times New Roman"/>
              </a:rPr>
              <a:t>Questions &amp; Discussion Welcome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291072"/>
            <a:ext cx="12191695" cy="228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8525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474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2423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Design &amp; Fab.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4372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6321" y="6373368"/>
            <a:ext cx="1958797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6E85"/>
                </a:solidFill>
                <a:latin typeface="Times New Roman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3887</Words>
  <Application>Microsoft Office PowerPoint</Application>
  <PresentationFormat>宽屏</PresentationFormat>
  <Paragraphs>297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楷体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执正 玄</cp:lastModifiedBy>
  <cp:revision>166</cp:revision>
  <dcterms:created xsi:type="dcterms:W3CDTF">2013-01-27T09:14:16Z</dcterms:created>
  <dcterms:modified xsi:type="dcterms:W3CDTF">2026-04-15T14:08:56Z</dcterms:modified>
  <cp:category/>
</cp:coreProperties>
</file>