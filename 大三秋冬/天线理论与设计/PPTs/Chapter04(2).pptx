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6"/>
  </p:notesMasterIdLst>
  <p:sldIdLst>
    <p:sldId id="504" r:id="rId2"/>
    <p:sldId id="505" r:id="rId3"/>
    <p:sldId id="506" r:id="rId4"/>
    <p:sldId id="507" r:id="rId5"/>
    <p:sldId id="508" r:id="rId6"/>
    <p:sldId id="509" r:id="rId7"/>
    <p:sldId id="510" r:id="rId8"/>
    <p:sldId id="256" r:id="rId9"/>
    <p:sldId id="257" r:id="rId10"/>
    <p:sldId id="503" r:id="rId11"/>
    <p:sldId id="258" r:id="rId12"/>
    <p:sldId id="259" r:id="rId13"/>
    <p:sldId id="260" r:id="rId14"/>
    <p:sldId id="261" r:id="rId15"/>
    <p:sldId id="262" r:id="rId16"/>
    <p:sldId id="263" r:id="rId17"/>
    <p:sldId id="265" r:id="rId18"/>
    <p:sldId id="267" r:id="rId19"/>
    <p:sldId id="268" r:id="rId20"/>
    <p:sldId id="269" r:id="rId21"/>
    <p:sldId id="270" r:id="rId22"/>
    <p:sldId id="272" r:id="rId23"/>
    <p:sldId id="273" r:id="rId24"/>
    <p:sldId id="274" r:id="rId25"/>
    <p:sldId id="275" r:id="rId26"/>
    <p:sldId id="276" r:id="rId27"/>
    <p:sldId id="511" r:id="rId28"/>
    <p:sldId id="497" r:id="rId29"/>
    <p:sldId id="498" r:id="rId30"/>
    <p:sldId id="280" r:id="rId31"/>
    <p:sldId id="281" r:id="rId32"/>
    <p:sldId id="283" r:id="rId33"/>
    <p:sldId id="284" r:id="rId34"/>
    <p:sldId id="513" r:id="rId35"/>
    <p:sldId id="512" r:id="rId36"/>
    <p:sldId id="285" r:id="rId37"/>
    <p:sldId id="287" r:id="rId38"/>
    <p:sldId id="289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88" r:id="rId47"/>
    <p:sldId id="298" r:id="rId48"/>
    <p:sldId id="299" r:id="rId49"/>
    <p:sldId id="302" r:id="rId50"/>
    <p:sldId id="303" r:id="rId51"/>
    <p:sldId id="304" r:id="rId52"/>
    <p:sldId id="305" r:id="rId53"/>
    <p:sldId id="308" r:id="rId54"/>
    <p:sldId id="309" r:id="rId55"/>
    <p:sldId id="311" r:id="rId56"/>
    <p:sldId id="312" r:id="rId57"/>
    <p:sldId id="334" r:id="rId58"/>
    <p:sldId id="335" r:id="rId59"/>
    <p:sldId id="336" r:id="rId60"/>
    <p:sldId id="337" r:id="rId61"/>
    <p:sldId id="338" r:id="rId62"/>
    <p:sldId id="339" r:id="rId63"/>
    <p:sldId id="340" r:id="rId64"/>
    <p:sldId id="342" r:id="rId65"/>
    <p:sldId id="343" r:id="rId66"/>
    <p:sldId id="344" r:id="rId67"/>
    <p:sldId id="345" r:id="rId68"/>
    <p:sldId id="346" r:id="rId69"/>
    <p:sldId id="347" r:id="rId70"/>
    <p:sldId id="348" r:id="rId71"/>
    <p:sldId id="349" r:id="rId72"/>
    <p:sldId id="351" r:id="rId73"/>
    <p:sldId id="353" r:id="rId74"/>
    <p:sldId id="355" r:id="rId75"/>
    <p:sldId id="358" r:id="rId76"/>
    <p:sldId id="356" r:id="rId77"/>
    <p:sldId id="357" r:id="rId78"/>
    <p:sldId id="354" r:id="rId79"/>
    <p:sldId id="359" r:id="rId80"/>
    <p:sldId id="360" r:id="rId81"/>
    <p:sldId id="361" r:id="rId82"/>
    <p:sldId id="362" r:id="rId83"/>
    <p:sldId id="499" r:id="rId84"/>
    <p:sldId id="363" r:id="rId85"/>
    <p:sldId id="364" r:id="rId86"/>
    <p:sldId id="371" r:id="rId87"/>
    <p:sldId id="372" r:id="rId88"/>
    <p:sldId id="373" r:id="rId89"/>
    <p:sldId id="374" r:id="rId90"/>
    <p:sldId id="375" r:id="rId91"/>
    <p:sldId id="376" r:id="rId92"/>
    <p:sldId id="377" r:id="rId93"/>
    <p:sldId id="379" r:id="rId94"/>
    <p:sldId id="380" r:id="rId95"/>
    <p:sldId id="394" r:id="rId96"/>
    <p:sldId id="395" r:id="rId97"/>
    <p:sldId id="396" r:id="rId98"/>
    <p:sldId id="397" r:id="rId99"/>
    <p:sldId id="500" r:id="rId100"/>
    <p:sldId id="501" r:id="rId101"/>
    <p:sldId id="398" r:id="rId102"/>
    <p:sldId id="401" r:id="rId103"/>
    <p:sldId id="405" r:id="rId104"/>
    <p:sldId id="413" r:id="rId105"/>
    <p:sldId id="406" r:id="rId106"/>
    <p:sldId id="409" r:id="rId107"/>
    <p:sldId id="410" r:id="rId108"/>
    <p:sldId id="411" r:id="rId109"/>
    <p:sldId id="412" r:id="rId110"/>
    <p:sldId id="416" r:id="rId111"/>
    <p:sldId id="417" r:id="rId112"/>
    <p:sldId id="420" r:id="rId113"/>
    <p:sldId id="421" r:id="rId114"/>
    <p:sldId id="424" r:id="rId115"/>
    <p:sldId id="425" r:id="rId116"/>
    <p:sldId id="426" r:id="rId117"/>
    <p:sldId id="427" r:id="rId118"/>
    <p:sldId id="428" r:id="rId119"/>
    <p:sldId id="429" r:id="rId120"/>
    <p:sldId id="439" r:id="rId121"/>
    <p:sldId id="441" r:id="rId122"/>
    <p:sldId id="458" r:id="rId123"/>
    <p:sldId id="443" r:id="rId124"/>
    <p:sldId id="444" r:id="rId125"/>
    <p:sldId id="445" r:id="rId126"/>
    <p:sldId id="446" r:id="rId127"/>
    <p:sldId id="448" r:id="rId128"/>
    <p:sldId id="449" r:id="rId129"/>
    <p:sldId id="451" r:id="rId130"/>
    <p:sldId id="452" r:id="rId131"/>
    <p:sldId id="454" r:id="rId132"/>
    <p:sldId id="455" r:id="rId133"/>
    <p:sldId id="456" r:id="rId134"/>
    <p:sldId id="461" r:id="rId135"/>
    <p:sldId id="462" r:id="rId136"/>
    <p:sldId id="463" r:id="rId137"/>
    <p:sldId id="464" r:id="rId138"/>
    <p:sldId id="466" r:id="rId139"/>
    <p:sldId id="467" r:id="rId140"/>
    <p:sldId id="468" r:id="rId141"/>
    <p:sldId id="483" r:id="rId142"/>
    <p:sldId id="484" r:id="rId143"/>
    <p:sldId id="485" r:id="rId144"/>
    <p:sldId id="502" r:id="rId145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0A5"/>
    <a:srgbClr val="007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63" autoAdjust="0"/>
    <p:restoredTop sz="94750" autoAdjust="0"/>
  </p:normalViewPr>
  <p:slideViewPr>
    <p:cSldViewPr>
      <p:cViewPr varScale="1">
        <p:scale>
          <a:sx n="91" d="100"/>
          <a:sy n="91" d="100"/>
        </p:scale>
        <p:origin x="7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79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3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8666B076-9D84-46F3-8ACA-90E676DBDA88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DB829DC8-37DC-44B6-9A21-72A714E3A5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90039-256E-42D2-B208-59DCE1E529C6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0D578-7F03-4D7F-B8C9-84872C21A8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83FF7-7D37-449F-9DDC-2E7B4651EBF1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1237F-57E7-4774-9BC7-F7C47A3166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DA5C5-F8B3-4896-BC11-3B533B1C9348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5F3A3-C7C6-44E0-A582-D52C20F523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9FB05-AFAB-41EB-A9D1-13F0EF448141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9A732-04B8-421B-9899-6EDD285F9A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30B3E4-EF95-4325-8295-F2C3B24835EF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9EF7C-40EC-44E7-B6E8-D61528012D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E8820-B735-43BE-BF65-63643FC33054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0E959-E8D2-434C-86D1-5009E45339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CF28C-ECAF-454F-952D-6D63CC847C39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35C0E-8668-40B2-8633-6CEF884A14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C1CE6-58C3-4631-8412-11D9FDFD94BB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5EC66-8000-47FA-BFCA-8975959EE5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E2786-3425-4CB0-8797-EB2E8F694529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A6B7B-0576-45E6-A290-F649D819AD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F4907-F44A-40A6-899D-96717FD9C3DE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4CC5F-17F8-4D3B-A5D4-06F8186B22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97E85-DCD9-40B4-B863-238F60EAAC27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953AC-D23D-4FB4-AE05-CC9AE5D8394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76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558C75-2CB0-451F-B0C8-9938E6E24AB9}" type="datetimeFigureOut">
              <a:rPr lang="zh-CN" altLang="en-US"/>
              <a:pPr>
                <a:defRPr/>
              </a:pPr>
              <a:t>2019-10-07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BB2F553-A03A-47A4-87CB-9F4E146711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2.pn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2.pn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2.png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20" Type="http://schemas.openxmlformats.org/officeDocument/2006/relationships/image" Target="../media/image25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Rabbit-ears_dipole_antenna_with_UHF_loop_20090204.jpg" TargetMode="External"/><Relationship Id="rId7" Type="http://schemas.openxmlformats.org/officeDocument/2006/relationships/image" Target="../media/image3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59.wmf"/><Relationship Id="rId3" Type="http://schemas.openxmlformats.org/officeDocument/2006/relationships/image" Target="../media/image62.png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0" Type="http://schemas.openxmlformats.org/officeDocument/2006/relationships/image" Target="../media/image60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63.png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7.wmf"/><Relationship Id="rId22" Type="http://schemas.openxmlformats.org/officeDocument/2006/relationships/image" Target="../media/image6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66.png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67.png"/><Relationship Id="rId4" Type="http://schemas.openxmlformats.org/officeDocument/2006/relationships/image" Target="../media/image2.png"/><Relationship Id="rId9" Type="http://schemas.openxmlformats.org/officeDocument/2006/relationships/image" Target="../media/image6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46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49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5.png"/><Relationship Id="rId5" Type="http://schemas.openxmlformats.org/officeDocument/2006/relationships/image" Target="../media/image94.wmf"/><Relationship Id="rId4" Type="http://schemas.openxmlformats.org/officeDocument/2006/relationships/oleObject" Target="../embeddings/oleObject5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7.png"/><Relationship Id="rId5" Type="http://schemas.openxmlformats.org/officeDocument/2006/relationships/image" Target="../media/image96.wmf"/><Relationship Id="rId4" Type="http://schemas.openxmlformats.org/officeDocument/2006/relationships/oleObject" Target="../embeddings/oleObject52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94.wmf"/><Relationship Id="rId4" Type="http://schemas.openxmlformats.org/officeDocument/2006/relationships/oleObject" Target="../embeddings/oleObject53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slide" Target="slide6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7" Type="http://schemas.openxmlformats.org/officeDocument/2006/relationships/image" Target="../media/image16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7" Type="http://schemas.openxmlformats.org/officeDocument/2006/relationships/image" Target="../media/image17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e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algn="r" eaLnBrk="1" hangingPunct="1"/>
            <a:r>
              <a:rPr lang="en-US" altLang="zh-CN" sz="4000" smtClean="0">
                <a:solidFill>
                  <a:srgbClr val="FFFF00"/>
                </a:solidFill>
              </a:rPr>
              <a:t>Review of Last Lesson</a:t>
            </a:r>
            <a:endParaRPr lang="zh-CN" altLang="en-US" sz="4000" smtClean="0">
              <a:solidFill>
                <a:srgbClr val="FFFF00"/>
              </a:solidFill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619250" y="1844675"/>
          <a:ext cx="6072188" cy="452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4" imgW="4991068" imgH="3719415" progId="Visio.Drawing.11">
                  <p:embed/>
                </p:oleObj>
              </mc:Choice>
              <mc:Fallback>
                <p:oleObj name="Visio" r:id="rId4" imgW="4991068" imgH="371941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844675"/>
                        <a:ext cx="6072188" cy="452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Review of Last Lesson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4" name="TextBox 3"/>
          <p:cNvSpPr txBox="1">
            <a:spLocks noChangeArrowheads="1"/>
          </p:cNvSpPr>
          <p:nvPr/>
        </p:nvSpPr>
        <p:spPr bwMode="auto">
          <a:xfrm>
            <a:off x="1692275" y="1125538"/>
            <a:ext cx="50403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5" name="矩形 4"/>
          <p:cNvSpPr>
            <a:spLocks noChangeArrowheads="1"/>
          </p:cNvSpPr>
          <p:nvPr/>
        </p:nvSpPr>
        <p:spPr bwMode="auto">
          <a:xfrm>
            <a:off x="971550" y="1844675"/>
            <a:ext cx="7200900" cy="30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Calibri" pitchFamily="34" charset="0"/>
              <a:buAutoNum type="arabicPeriod"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Specify sources: electric current density 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and magnetic current density 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buFont typeface="Calibri" pitchFamily="34" charset="0"/>
              <a:buAutoNum type="arabicPeriod"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a. Find 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(due to 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) using</a:t>
            </a:r>
          </a:p>
          <a:p>
            <a:pPr marL="457200" indent="-457200">
              <a:buFont typeface="Calibri" pitchFamily="34" charset="0"/>
              <a:buAutoNum type="arabicPeriod"/>
            </a:pPr>
            <a:endParaRPr lang="en-US" altLang="zh-CN" sz="240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Calibri" pitchFamily="34" charset="0"/>
              <a:buAutoNum type="arabicPeriod"/>
            </a:pPr>
            <a:endParaRPr lang="en-US" altLang="zh-CN" sz="240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Calibri" pitchFamily="34" charset="0"/>
              <a:buAutoNum type="arabicPeriod"/>
            </a:pPr>
            <a:endParaRPr lang="en-US" altLang="zh-CN" sz="240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Calibri" pitchFamily="34" charset="0"/>
              <a:buAutoNum type="arabicPeriod"/>
            </a:pPr>
            <a:endParaRPr lang="en-US" altLang="zh-CN" sz="240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b. Find 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(due to 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) using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339975" y="3284538"/>
          <a:ext cx="36433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4" imgW="1485720" imgH="469800" progId="Equation.DSMT4">
                  <p:embed/>
                </p:oleObj>
              </mc:Choice>
              <mc:Fallback>
                <p:oleObj name="Equation" r:id="rId4" imgW="1485720" imgH="469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284538"/>
                        <a:ext cx="3643313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124075" y="3213100"/>
            <a:ext cx="3960813" cy="1008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227263" y="5084763"/>
          <a:ext cx="38608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6" imgW="1574640" imgH="469800" progId="Equation.DSMT4">
                  <p:embed/>
                </p:oleObj>
              </mc:Choice>
              <mc:Fallback>
                <p:oleObj name="Equation" r:id="rId6" imgW="1574640" imgH="46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5084763"/>
                        <a:ext cx="3860800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119313" y="5013325"/>
            <a:ext cx="3960812" cy="1008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Review of Last Lesson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80" name="矩形 3"/>
          <p:cNvSpPr>
            <a:spLocks noChangeArrowheads="1"/>
          </p:cNvSpPr>
          <p:nvPr/>
        </p:nvSpPr>
        <p:spPr bwMode="auto">
          <a:xfrm>
            <a:off x="539750" y="1268413"/>
            <a:ext cx="8280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Calibri" pitchFamily="34" charset="0"/>
              <a:buAutoNum type="arabicPeriod" startAt="3"/>
            </a:pPr>
            <a:r>
              <a:rPr lang="en-US" altLang="zh-CN" sz="2400"/>
              <a:t>The total electric and magnetic fields are then determined by</a:t>
            </a:r>
            <a:endParaRPr lang="zh-CN" altLang="en-US" sz="240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601913" y="2874963"/>
          <a:ext cx="33258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4" imgW="1841400" imgH="419040" progId="Equation.DSMT4">
                  <p:embed/>
                </p:oleObj>
              </mc:Choice>
              <mc:Fallback>
                <p:oleObj name="Equation" r:id="rId4" imgW="1841400" imgH="419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913" y="2874963"/>
                        <a:ext cx="3325812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555875" y="2852738"/>
            <a:ext cx="3384550" cy="143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2555875" y="4724400"/>
          <a:ext cx="162877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6" imgW="901440" imgH="419040" progId="Equation.DSMT4">
                  <p:embed/>
                </p:oleObj>
              </mc:Choice>
              <mc:Fallback>
                <p:oleObj name="Equation" r:id="rId6" imgW="90144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724400"/>
                        <a:ext cx="1628775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Box 7"/>
          <p:cNvSpPr txBox="1">
            <a:spLocks noChangeArrowheads="1"/>
          </p:cNvSpPr>
          <p:nvPr/>
        </p:nvSpPr>
        <p:spPr bwMode="auto">
          <a:xfrm>
            <a:off x="2987675" y="1773238"/>
            <a:ext cx="1871663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400" baseline="-2500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2400" baseline="-25000">
                <a:latin typeface="Times New Roman" pitchFamily="18" charset="0"/>
                <a:cs typeface="Times New Roman" pitchFamily="18" charset="0"/>
              </a:rPr>
              <a:t>F</a:t>
            </a:r>
          </a:p>
          <a:p>
            <a:pPr algn="ctr"/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400" baseline="-2500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sz="2400" baseline="-25000">
                <a:latin typeface="Times New Roman" pitchFamily="18" charset="0"/>
                <a:cs typeface="Times New Roman" pitchFamily="18" charset="0"/>
              </a:rPr>
              <a:t>F</a:t>
            </a:r>
            <a:endParaRPr lang="zh-CN" altLang="en-US" sz="2400" baseline="-250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2497138" y="5373688"/>
          <a:ext cx="34401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8" imgW="1904760" imgH="419040" progId="Equation.DSMT4">
                  <p:embed/>
                </p:oleObj>
              </mc:Choice>
              <mc:Fallback>
                <p:oleObj name="Equation" r:id="rId8" imgW="190476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5373688"/>
                        <a:ext cx="3440112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484438" y="4652963"/>
            <a:ext cx="3527425" cy="1512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2617788" y="3644900"/>
          <a:ext cx="14668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10" imgW="977760" imgH="393480" progId="Equation.DSMT4">
                  <p:embed/>
                </p:oleObj>
              </mc:Choice>
              <mc:Fallback>
                <p:oleObj name="Equation" r:id="rId10" imgW="97776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3644900"/>
                        <a:ext cx="14668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Review of Last Lesson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357313" y="2428875"/>
          <a:ext cx="150018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4" imgW="876240" imgH="711000" progId="Equation.DSMT4">
                  <p:embed/>
                </p:oleObj>
              </mc:Choice>
              <mc:Fallback>
                <p:oleObj name="Equation" r:id="rId4" imgW="876240" imgH="711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428875"/>
                        <a:ext cx="1500187" cy="121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295400" y="4500563"/>
          <a:ext cx="2124075" cy="195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6" imgW="1409400" imgH="1346040" progId="Equation.DSMT4">
                  <p:embed/>
                </p:oleObj>
              </mc:Choice>
              <mc:Fallback>
                <p:oleObj name="Equation" r:id="rId6" imgW="1409400" imgH="1346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500563"/>
                        <a:ext cx="2124075" cy="1957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16"/>
          <p:cNvSpPr>
            <a:spLocks noChangeArrowheads="1"/>
          </p:cNvSpPr>
          <p:nvPr/>
        </p:nvSpPr>
        <p:spPr bwMode="auto">
          <a:xfrm>
            <a:off x="4643438" y="2740025"/>
            <a:ext cx="1714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(3-58a)</a:t>
            </a:r>
            <a:endParaRPr lang="en-US" altLang="zh-CN" sz="240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105" name="Rectangle 7"/>
          <p:cNvSpPr>
            <a:spLocks noChangeArrowheads="1"/>
          </p:cNvSpPr>
          <p:nvPr/>
        </p:nvSpPr>
        <p:spPr bwMode="auto">
          <a:xfrm>
            <a:off x="4572000" y="3870325"/>
            <a:ext cx="43576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(for </a:t>
            </a:r>
            <a:r>
              <a:rPr lang="el-GR" altLang="zh-CN" sz="2400">
                <a:ea typeface="微软雅黑" pitchFamily="34" charset="-122"/>
                <a:cs typeface="Times New Roman" pitchFamily="18" charset="0"/>
              </a:rPr>
              <a:t>θ</a:t>
            </a:r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and </a:t>
            </a:r>
            <a:r>
              <a:rPr lang="el-GR" altLang="zh-CN" sz="2400"/>
              <a:t>φ</a:t>
            </a:r>
            <a:r>
              <a:rPr lang="en-US" altLang="zh-CN" sz="2400">
                <a:latin typeface="Times New Roman" pitchFamily="18" charset="0"/>
                <a:ea typeface="微软雅黑" pitchFamily="34" charset="-122"/>
              </a:rPr>
              <a:t> components only)</a:t>
            </a:r>
            <a:r>
              <a:rPr lang="en-US" altLang="zh-CN" sz="2400"/>
              <a:t> </a:t>
            </a:r>
          </a:p>
        </p:txBody>
      </p:sp>
      <p:sp>
        <p:nvSpPr>
          <p:cNvPr id="4106" name="Rectangle 16"/>
          <p:cNvSpPr>
            <a:spLocks noChangeArrowheads="1"/>
          </p:cNvSpPr>
          <p:nvPr/>
        </p:nvSpPr>
        <p:spPr bwMode="auto">
          <a:xfrm>
            <a:off x="4643438" y="5097463"/>
            <a:ext cx="1714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(3-58b)</a:t>
            </a:r>
            <a:endParaRPr lang="en-US" altLang="zh-CN" sz="2400"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58888" y="2349500"/>
            <a:ext cx="1584325" cy="1439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16013" y="4797425"/>
            <a:ext cx="2160587" cy="172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09" name="TextBox 11"/>
          <p:cNvSpPr txBox="1">
            <a:spLocks noChangeArrowheads="1"/>
          </p:cNvSpPr>
          <p:nvPr/>
        </p:nvSpPr>
        <p:spPr bwMode="auto">
          <a:xfrm>
            <a:off x="827088" y="981075"/>
            <a:ext cx="72739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E and H far fields due to </a:t>
            </a:r>
            <a:r>
              <a:rPr lang="en-US" altLang="zh-CN" sz="32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endParaRPr lang="zh-CN" altLang="en-US" sz="3200" b="1" i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100" name="Object 5"/>
          <p:cNvGraphicFramePr>
            <a:graphicFrameLocks noChangeAspect="1"/>
          </p:cNvGraphicFramePr>
          <p:nvPr/>
        </p:nvGraphicFramePr>
        <p:xfrm>
          <a:off x="995363" y="3752850"/>
          <a:ext cx="3082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8" imgW="1612800" imgH="419040" progId="Equation.DSMT4">
                  <p:embed/>
                </p:oleObj>
              </mc:Choice>
              <mc:Fallback>
                <p:oleObj name="Equation" r:id="rId8" imgW="161280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3752850"/>
                        <a:ext cx="308292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/>
          <p:cNvGraphicFramePr>
            <a:graphicFrameLocks noChangeAspect="1"/>
          </p:cNvGraphicFramePr>
          <p:nvPr/>
        </p:nvGraphicFramePr>
        <p:xfrm>
          <a:off x="965200" y="1716088"/>
          <a:ext cx="24542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10" imgW="1091880" imgH="228600" progId="Equation.DSMT4">
                  <p:embed/>
                </p:oleObj>
              </mc:Choice>
              <mc:Fallback>
                <p:oleObj name="Equation" r:id="rId10" imgW="109188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1716088"/>
                        <a:ext cx="2454275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矩形 15"/>
          <p:cNvSpPr>
            <a:spLocks noChangeArrowheads="1"/>
          </p:cNvSpPr>
          <p:nvPr/>
        </p:nvSpPr>
        <p:spPr bwMode="auto">
          <a:xfrm>
            <a:off x="4019550" y="1773238"/>
            <a:ext cx="43926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only contributes the 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i="1" baseline="-250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 component in far field</a:t>
            </a:r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916238" y="1700213"/>
            <a:ext cx="503237" cy="504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9" name="直接箭头连接符 18"/>
          <p:cNvCxnSpPr>
            <a:stCxn id="17" idx="6"/>
            <a:endCxn id="4110" idx="1"/>
          </p:cNvCxnSpPr>
          <p:nvPr/>
        </p:nvCxnSpPr>
        <p:spPr>
          <a:xfrm>
            <a:off x="3419475" y="1952625"/>
            <a:ext cx="600075" cy="47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Review of Last Lesson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325563" y="2592388"/>
          <a:ext cx="1565275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4" imgW="914400" imgH="711000" progId="Equation.DSMT4">
                  <p:embed/>
                </p:oleObj>
              </mc:Choice>
              <mc:Fallback>
                <p:oleObj name="Equation" r:id="rId4" imgW="914400" imgH="711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592388"/>
                        <a:ext cx="1565275" cy="121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228725" y="4995863"/>
          <a:ext cx="2259013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6" imgW="1498320" imgH="761760" progId="Equation.DSMT4">
                  <p:embed/>
                </p:oleObj>
              </mc:Choice>
              <mc:Fallback>
                <p:oleObj name="Equation" r:id="rId6" imgW="1498320" imgH="7617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4995863"/>
                        <a:ext cx="2259013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4572000" y="4033838"/>
            <a:ext cx="43576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(for </a:t>
            </a:r>
            <a:r>
              <a:rPr lang="el-GR" altLang="zh-CN" sz="2400">
                <a:ea typeface="微软雅黑" pitchFamily="34" charset="-122"/>
                <a:cs typeface="Times New Roman" pitchFamily="18" charset="0"/>
              </a:rPr>
              <a:t>θ</a:t>
            </a:r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and </a:t>
            </a:r>
            <a:r>
              <a:rPr lang="el-GR" altLang="zh-CN" sz="2400"/>
              <a:t>φ</a:t>
            </a:r>
            <a:r>
              <a:rPr lang="en-US" altLang="zh-CN" sz="2400">
                <a:latin typeface="Times New Roman" pitchFamily="18" charset="0"/>
                <a:ea typeface="微软雅黑" pitchFamily="34" charset="-122"/>
              </a:rPr>
              <a:t> components only)</a:t>
            </a:r>
            <a:r>
              <a:rPr lang="en-US" altLang="zh-CN" sz="2400"/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1258888" y="2513013"/>
            <a:ext cx="1584325" cy="143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16013" y="4941888"/>
            <a:ext cx="2447925" cy="1295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31" name="TextBox 9"/>
          <p:cNvSpPr txBox="1">
            <a:spLocks noChangeArrowheads="1"/>
          </p:cNvSpPr>
          <p:nvPr/>
        </p:nvSpPr>
        <p:spPr bwMode="auto">
          <a:xfrm>
            <a:off x="827088" y="981075"/>
            <a:ext cx="72739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E and H far fields due to </a:t>
            </a:r>
            <a:r>
              <a:rPr lang="en-US" altLang="zh-CN" sz="32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3200" b="1" i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124" name="Object 5"/>
          <p:cNvGraphicFramePr>
            <a:graphicFrameLocks noChangeAspect="1"/>
          </p:cNvGraphicFramePr>
          <p:nvPr/>
        </p:nvGraphicFramePr>
        <p:xfrm>
          <a:off x="898525" y="4095750"/>
          <a:ext cx="32781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8" imgW="1714320" imgH="228600" progId="Equation.DSMT4">
                  <p:embed/>
                </p:oleObj>
              </mc:Choice>
              <mc:Fallback>
                <p:oleObj name="Equation" r:id="rId8" imgW="171432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4095750"/>
                        <a:ext cx="32781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6"/>
          <p:cNvGraphicFramePr>
            <a:graphicFrameLocks noChangeAspect="1"/>
          </p:cNvGraphicFramePr>
          <p:nvPr/>
        </p:nvGraphicFramePr>
        <p:xfrm>
          <a:off x="827088" y="1844675"/>
          <a:ext cx="24653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10" imgW="1117440" imgH="228600" progId="Equation.DSMT4">
                  <p:embed/>
                </p:oleObj>
              </mc:Choice>
              <mc:Fallback>
                <p:oleObj name="Equation" r:id="rId10" imgW="11174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44675"/>
                        <a:ext cx="2465387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矩形 13"/>
          <p:cNvSpPr>
            <a:spLocks noChangeArrowheads="1"/>
          </p:cNvSpPr>
          <p:nvPr/>
        </p:nvSpPr>
        <p:spPr bwMode="auto">
          <a:xfrm>
            <a:off x="3803650" y="1916113"/>
            <a:ext cx="45593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only contributes the 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i="1" baseline="-250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 component in far field</a:t>
            </a:r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627313" y="1844675"/>
            <a:ext cx="576262" cy="504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6" name="直接箭头连接符 15"/>
          <p:cNvCxnSpPr>
            <a:stCxn id="15" idx="6"/>
            <a:endCxn id="5132" idx="1"/>
          </p:cNvCxnSpPr>
          <p:nvPr/>
        </p:nvCxnSpPr>
        <p:spPr>
          <a:xfrm>
            <a:off x="3203575" y="2097088"/>
            <a:ext cx="600075" cy="47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Review of Last Lesson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56" name="TextBox 3"/>
          <p:cNvSpPr txBox="1">
            <a:spLocks noChangeArrowheads="1"/>
          </p:cNvSpPr>
          <p:nvPr/>
        </p:nvSpPr>
        <p:spPr bwMode="auto">
          <a:xfrm>
            <a:off x="1619250" y="1196975"/>
            <a:ext cx="58324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/>
              <a:t>Duality Theorem</a:t>
            </a:r>
            <a:endParaRPr lang="zh-CN" altLang="en-US" sz="320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900113" y="3476625"/>
          <a:ext cx="177006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4" imgW="1180800" imgH="203040" progId="Equation.DSMT4">
                  <p:embed/>
                </p:oleObj>
              </mc:Choice>
              <mc:Fallback>
                <p:oleObj name="Equation" r:id="rId4" imgW="118080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476625"/>
                        <a:ext cx="1770062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900113" y="3832225"/>
          <a:ext cx="1581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6" imgW="1054100" imgH="203200" progId="Equation.DSMT4">
                  <p:embed/>
                </p:oleObj>
              </mc:Choice>
              <mc:Fallback>
                <p:oleObj name="Equation" r:id="rId6" imgW="1054100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832225"/>
                        <a:ext cx="15811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900113" y="4243388"/>
          <a:ext cx="9334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8" imgW="622080" imgH="393480" progId="Equation.DSMT4">
                  <p:embed/>
                </p:oleObj>
              </mc:Choice>
              <mc:Fallback>
                <p:oleObj name="Equation" r:id="rId8" imgW="62208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243388"/>
                        <a:ext cx="9334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900113" y="4870450"/>
          <a:ext cx="893762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10" imgW="596880" imgH="177480" progId="Equation.DSMT4">
                  <p:embed/>
                </p:oleObj>
              </mc:Choice>
              <mc:Fallback>
                <p:oleObj name="Equation" r:id="rId10" imgW="596880" imgH="177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870450"/>
                        <a:ext cx="893762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Rectangle 7"/>
          <p:cNvSpPr>
            <a:spLocks noChangeArrowheads="1"/>
          </p:cNvSpPr>
          <p:nvPr/>
        </p:nvSpPr>
        <p:spPr bwMode="auto">
          <a:xfrm>
            <a:off x="0" y="13144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8" name="Rectangle 8"/>
          <p:cNvSpPr>
            <a:spLocks noChangeArrowheads="1"/>
          </p:cNvSpPr>
          <p:nvPr/>
        </p:nvSpPr>
        <p:spPr bwMode="auto">
          <a:xfrm>
            <a:off x="0" y="1700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5937250" y="3476625"/>
          <a:ext cx="2019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12" imgW="1346200" imgH="203200" progId="Equation.DSMT4">
                  <p:embed/>
                </p:oleObj>
              </mc:Choice>
              <mc:Fallback>
                <p:oleObj name="Equation" r:id="rId12" imgW="1346200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3476625"/>
                        <a:ext cx="2019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5937250" y="3886200"/>
          <a:ext cx="14271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14" imgW="952087" imgH="203112" progId="Equation.DSMT4">
                  <p:embed/>
                </p:oleObj>
              </mc:Choice>
              <mc:Fallback>
                <p:oleObj name="Equation" r:id="rId14" imgW="952087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3886200"/>
                        <a:ext cx="142716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5937250" y="4243388"/>
          <a:ext cx="10858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Equation" r:id="rId16" imgW="723600" imgH="419040" progId="Equation.DSMT4">
                  <p:embed/>
                </p:oleObj>
              </mc:Choice>
              <mc:Fallback>
                <p:oleObj name="Equation" r:id="rId16" imgW="72360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243388"/>
                        <a:ext cx="10858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5937250" y="4870450"/>
          <a:ext cx="85566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Equation" r:id="rId18" imgW="571320" imgH="177480" progId="Equation.DSMT4">
                  <p:embed/>
                </p:oleObj>
              </mc:Choice>
              <mc:Fallback>
                <p:oleObj name="Equation" r:id="rId18" imgW="57132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870450"/>
                        <a:ext cx="855663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0" y="13144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0" y="17287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61" name="TextBox 17"/>
          <p:cNvSpPr txBox="1">
            <a:spLocks noChangeArrowheads="1"/>
          </p:cNvSpPr>
          <p:nvPr/>
        </p:nvSpPr>
        <p:spPr bwMode="auto">
          <a:xfrm>
            <a:off x="611188" y="2608263"/>
            <a:ext cx="295275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Electric current </a:t>
            </a:r>
            <a:r>
              <a:rPr lang="en-US" altLang="zh-CN" sz="20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 and electric charge </a:t>
            </a:r>
            <a:r>
              <a:rPr lang="el-GR" altLang="zh-CN" sz="20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ρ</a:t>
            </a:r>
            <a:endParaRPr lang="zh-CN" altLang="en-US" sz="2000" i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62" name="TextBox 18"/>
          <p:cNvSpPr txBox="1">
            <a:spLocks noChangeArrowheads="1"/>
          </p:cNvSpPr>
          <p:nvPr/>
        </p:nvSpPr>
        <p:spPr bwMode="auto">
          <a:xfrm>
            <a:off x="5508625" y="2619375"/>
            <a:ext cx="29511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Magnetic current </a:t>
            </a:r>
            <a:r>
              <a:rPr lang="en-US" altLang="zh-CN" sz="20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and magnetic charge </a:t>
            </a:r>
            <a:r>
              <a:rPr lang="el-GR" altLang="zh-CN" sz="20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ρ</a:t>
            </a:r>
            <a:r>
              <a:rPr lang="en-US" altLang="zh-CN" sz="2000" i="1" baseline="-25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2000" i="1" baseline="-25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上弧形箭头 19"/>
          <p:cNvSpPr/>
          <p:nvPr/>
        </p:nvSpPr>
        <p:spPr bwMode="auto">
          <a:xfrm>
            <a:off x="3203575" y="3255963"/>
            <a:ext cx="2232025" cy="647700"/>
          </a:xfrm>
          <a:prstGeom prst="curvedDown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1" name="Picture 19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779838" y="3616325"/>
            <a:ext cx="1206500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Review of Last Lesson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676" name="Rectangle 1"/>
          <p:cNvSpPr>
            <a:spLocks noChangeArrowheads="1"/>
          </p:cNvSpPr>
          <p:nvPr/>
        </p:nvSpPr>
        <p:spPr bwMode="auto">
          <a:xfrm>
            <a:off x="857250" y="2195513"/>
            <a:ext cx="7286625" cy="397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Provided the medium of wave propagation is linear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Transmitting patterns &amp; receiving patterns of one antenna are the same.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 pair of transmitting and receiving antennas can be equivalent to a two-ports network with their impedance parameter z</a:t>
            </a:r>
            <a:r>
              <a:rPr lang="en-US" altLang="zh-CN" sz="2400" baseline="-250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12</a:t>
            </a:r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</a:t>
            </a:r>
            <a:r>
              <a:rPr lang="en-US" altLang="zh-CN" sz="2400" i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z</a:t>
            </a:r>
            <a:r>
              <a:rPr lang="en-US" altLang="zh-CN" sz="2400" baseline="-250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21</a:t>
            </a:r>
            <a:r>
              <a:rPr lang="en-US" altLang="zh-CN" sz="240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endParaRPr lang="en-US" altLang="zh-CN" sz="2400">
              <a:cs typeface="Times New Roman" pitchFamily="18" charset="0"/>
            </a:endParaRPr>
          </a:p>
        </p:txBody>
      </p:sp>
      <p:sp>
        <p:nvSpPr>
          <p:cNvPr id="28677" name="TextBox 4"/>
          <p:cNvSpPr txBox="1">
            <a:spLocks noChangeArrowheads="1"/>
          </p:cNvSpPr>
          <p:nvPr/>
        </p:nvSpPr>
        <p:spPr bwMode="auto">
          <a:xfrm>
            <a:off x="1692275" y="1412875"/>
            <a:ext cx="5400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400"/>
              <a:t>Reciprocity Theorems for Antennas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6" descr="http://hardware.mydrivers.com/Img/20100729/1150592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773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0" name="标题 1"/>
          <p:cNvSpPr>
            <a:spLocks noGrp="1"/>
          </p:cNvSpPr>
          <p:nvPr>
            <p:ph type="ctrTitle"/>
          </p:nvPr>
        </p:nvSpPr>
        <p:spPr>
          <a:xfrm>
            <a:off x="685800" y="1576388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 sz="8000" smtClean="0">
                <a:solidFill>
                  <a:srgbClr val="00B050"/>
                </a:solidFill>
              </a:rPr>
              <a:t>Chapter 4</a:t>
            </a:r>
            <a:endParaRPr lang="zh-CN" altLang="en-US" sz="8000" smtClean="0">
              <a:solidFill>
                <a:srgbClr val="00B050"/>
              </a:solidFill>
            </a:endParaRPr>
          </a:p>
        </p:txBody>
      </p:sp>
      <p:sp>
        <p:nvSpPr>
          <p:cNvPr id="29701" name="副标题 2"/>
          <p:cNvSpPr>
            <a:spLocks noGrp="1"/>
          </p:cNvSpPr>
          <p:nvPr>
            <p:ph type="subTitle" idx="1"/>
          </p:nvPr>
        </p:nvSpPr>
        <p:spPr>
          <a:xfrm>
            <a:off x="755650" y="3644900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zh-CN" sz="4800" b="1" smtClean="0">
                <a:solidFill>
                  <a:srgbClr val="1B50A5"/>
                </a:solidFill>
              </a:rPr>
              <a:t>Linear Wire Antennas</a:t>
            </a:r>
            <a:endParaRPr lang="zh-CN" altLang="en-US" sz="4800" b="1" smtClean="0">
              <a:solidFill>
                <a:srgbClr val="1B50A5"/>
              </a:solidFill>
            </a:endParaRPr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2627313" y="5756275"/>
            <a:ext cx="4752975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rgbClr val="FFFF00"/>
                </a:solidFill>
              </a:rPr>
              <a:t>Xing-Chang WEI</a:t>
            </a:r>
          </a:p>
          <a:p>
            <a:pPr algn="ctr"/>
            <a:r>
              <a:rPr lang="en-US" altLang="zh-CN" sz="2400">
                <a:solidFill>
                  <a:srgbClr val="FFFF00"/>
                </a:solidFill>
              </a:rPr>
              <a:t>Zhejiang Univ., China</a:t>
            </a:r>
          </a:p>
          <a:p>
            <a:pPr algn="ctr"/>
            <a:r>
              <a:rPr lang="en-US" altLang="zh-CN" sz="2400">
                <a:solidFill>
                  <a:srgbClr val="FFFF00"/>
                </a:solidFill>
              </a:rPr>
              <a:t>2011.12.07</a:t>
            </a:r>
            <a:endParaRPr lang="zh-CN" altLang="en-US" sz="240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solidFill>
                  <a:srgbClr val="FFFF00"/>
                </a:solidFill>
              </a:rPr>
              <a:t>Agenda</a:t>
            </a:r>
            <a:endParaRPr lang="zh-CN" altLang="en-US" sz="4000" smtClean="0">
              <a:solidFill>
                <a:srgbClr val="FFFF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4400" dirty="0" smtClean="0"/>
              <a:t>Infinitesimal dipole</a:t>
            </a:r>
            <a:endParaRPr lang="zh-CN" altLang="zh-CN" sz="4400" dirty="0" smtClean="0"/>
          </a:p>
          <a:p>
            <a:pPr lvl="1">
              <a:defRPr/>
            </a:pPr>
            <a:r>
              <a:rPr lang="en-US" altLang="zh-CN" dirty="0" smtClean="0"/>
              <a:t>Radiated Field, 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Power Density and Radiation Resistance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Near-Field Region, Intermediate-Field Region and Far-Field Region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Directivity</a:t>
            </a:r>
            <a:endParaRPr lang="zh-CN" altLang="zh-CN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4400" dirty="0" smtClean="0"/>
              <a:t>Small Dipole</a:t>
            </a:r>
            <a:endParaRPr lang="zh-CN" altLang="zh-CN" sz="4400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4400" dirty="0" smtClean="0"/>
              <a:t>Finite Length Dipole</a:t>
            </a:r>
            <a:endParaRPr lang="zh-CN" altLang="zh-CN" sz="4400" dirty="0" smtClean="0"/>
          </a:p>
          <a:p>
            <a:pPr lvl="1">
              <a:defRPr/>
            </a:pPr>
            <a:r>
              <a:rPr lang="en-US" altLang="zh-CN" dirty="0" smtClean="0"/>
              <a:t>Current Distribution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Radiated Field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Power Density and Radiation Resistance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Directivity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Input Resistance</a:t>
            </a:r>
            <a:endParaRPr lang="zh-CN" altLang="zh-CN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4400" dirty="0" smtClean="0"/>
              <a:t>Half-Wavelength Dipole</a:t>
            </a:r>
            <a:endParaRPr lang="zh-CN" altLang="zh-CN" sz="4400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4400" dirty="0" smtClean="0"/>
              <a:t>Linear Elements Near or on Infinite Perfect Conductors</a:t>
            </a:r>
            <a:endParaRPr lang="zh-CN" altLang="zh-CN" sz="4400" dirty="0" smtClean="0"/>
          </a:p>
          <a:p>
            <a:pPr lvl="1">
              <a:defRPr/>
            </a:pPr>
            <a:r>
              <a:rPr lang="en-US" altLang="zh-CN" dirty="0" smtClean="0"/>
              <a:t>Image theory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Vertical Electric Dipole</a:t>
            </a:r>
            <a:endParaRPr lang="zh-CN" altLang="zh-CN" dirty="0" smtClean="0"/>
          </a:p>
          <a:p>
            <a:pPr lvl="1">
              <a:defRPr/>
            </a:pPr>
            <a:r>
              <a:rPr lang="en-US" altLang="zh-CN" dirty="0" smtClean="0"/>
              <a:t>Horizontal Electric Dipole</a:t>
            </a:r>
            <a:endParaRPr lang="zh-CN" altLang="zh-CN" dirty="0" smtClean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4400" dirty="0" smtClean="0"/>
              <a:t>Linear Antennas for Mobile Communication Systems</a:t>
            </a:r>
            <a:endParaRPr lang="zh-CN" altLang="zh-CN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0" y="0"/>
            <a:ext cx="9144000" cy="98107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Introduction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748" name="矩形 4"/>
          <p:cNvSpPr>
            <a:spLocks noChangeArrowheads="1"/>
          </p:cNvSpPr>
          <p:nvPr/>
        </p:nvSpPr>
        <p:spPr bwMode="auto">
          <a:xfrm>
            <a:off x="611188" y="1268413"/>
            <a:ext cx="81375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en-US" altLang="zh-CN" sz="2400"/>
              <a:t>Wire antennas are the oldest, simplest, and cheapest antennas;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2400"/>
              <a:t>Wire Antennas have many applications</a:t>
            </a:r>
            <a:endParaRPr lang="zh-CN" altLang="en-US" sz="2400"/>
          </a:p>
        </p:txBody>
      </p:sp>
      <p:pic>
        <p:nvPicPr>
          <p:cNvPr id="31749" name="Picture 4" descr="http://upload.wikimedia.org/wikipedia/commons/thumb/2/22/Rabbit-ears_dipole_antenna_with_UHF_loop_20090204.jpg/170px-Rabbit-ears_dipole_antenna_with_UHF_loop_20090204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238" y="3141663"/>
            <a:ext cx="16192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0" name="矩形 7"/>
          <p:cNvSpPr>
            <a:spLocks noChangeArrowheads="1"/>
          </p:cNvSpPr>
          <p:nvPr/>
        </p:nvSpPr>
        <p:spPr bwMode="auto">
          <a:xfrm>
            <a:off x="250825" y="5591175"/>
            <a:ext cx="29352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A "rabbit-ears" antenna with a UHF loop antenna.</a:t>
            </a:r>
          </a:p>
        </p:txBody>
      </p:sp>
      <p:pic>
        <p:nvPicPr>
          <p:cNvPr id="31751" name="Picture 8" descr="http://img.directindustry.com/images_di/photo-g/biconical-antenna-with-folding-elements-47331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2708275"/>
            <a:ext cx="2701925" cy="171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2" name="Picture 12" descr="http://www.eefocus.com/data/09-05/27_1242631138/1242704336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43213" y="3357563"/>
            <a:ext cx="2089150" cy="202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3" name="TextBox 13"/>
          <p:cNvSpPr txBox="1">
            <a:spLocks noChangeArrowheads="1"/>
          </p:cNvSpPr>
          <p:nvPr/>
        </p:nvSpPr>
        <p:spPr bwMode="auto">
          <a:xfrm>
            <a:off x="3059113" y="5445125"/>
            <a:ext cx="20891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Embedded Chip Antenna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54" name="Picture 14" descr="http://www.foxnews.com/images/340033/1_61_rfid_tag_2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00788" y="4652963"/>
            <a:ext cx="21717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5" name="TextBox 15"/>
          <p:cNvSpPr txBox="1">
            <a:spLocks noChangeArrowheads="1"/>
          </p:cNvSpPr>
          <p:nvPr/>
        </p:nvSpPr>
        <p:spPr bwMode="auto">
          <a:xfrm>
            <a:off x="6300788" y="6308725"/>
            <a:ext cx="23034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RFID Antenna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71550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solidFill>
                  <a:srgbClr val="FFFF00"/>
                </a:solidFill>
              </a:rPr>
              <a:t>Infinitesimal dipole</a:t>
            </a:r>
            <a:endParaRPr lang="zh-CN" altLang="en-US" sz="4000" smtClean="0">
              <a:solidFill>
                <a:srgbClr val="FFFF00"/>
              </a:solidFill>
            </a:endParaRPr>
          </a:p>
        </p:txBody>
      </p:sp>
      <p:pic>
        <p:nvPicPr>
          <p:cNvPr id="3277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000250" y="1557338"/>
            <a:ext cx="6604000" cy="4143375"/>
          </a:xfrm>
        </p:spPr>
      </p:pic>
      <p:sp>
        <p:nvSpPr>
          <p:cNvPr id="32773" name="TextBox 4"/>
          <p:cNvSpPr txBox="1">
            <a:spLocks noChangeArrowheads="1"/>
          </p:cNvSpPr>
          <p:nvPr/>
        </p:nvSpPr>
        <p:spPr bwMode="auto">
          <a:xfrm>
            <a:off x="4000500" y="5570538"/>
            <a:ext cx="1054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Fig.4.1(a)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32774" name="TextBox 6"/>
          <p:cNvSpPr txBox="1">
            <a:spLocks noChangeArrowheads="1"/>
          </p:cNvSpPr>
          <p:nvPr/>
        </p:nvSpPr>
        <p:spPr bwMode="auto">
          <a:xfrm>
            <a:off x="179388" y="2276475"/>
            <a:ext cx="381635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An infinitesimal dipole means </a:t>
            </a:r>
            <a:r>
              <a:rPr lang="en-US" altLang="zh-CN" sz="2400" i="1">
                <a:latin typeface="Times New Roman" pitchFamily="18" charset="0"/>
                <a:cs typeface="Times New Roman" pitchFamily="18" charset="0"/>
              </a:rPr>
              <a:t>l&lt;&lt;</a:t>
            </a:r>
            <a:r>
              <a:rPr lang="el-GR" altLang="zh-CN" sz="2400" i="1">
                <a:latin typeface="Times New Roman" pitchFamily="18" charset="0"/>
                <a:cs typeface="Times New Roman" pitchFamily="18" charset="0"/>
              </a:rPr>
              <a:t>λ</a:t>
            </a:r>
            <a:endParaRPr lang="en-US" altLang="zh-CN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The end plates are used to provide capacitive loading in order to  maintain the uniform current.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5" name="TextBox 6"/>
          <p:cNvSpPr txBox="1">
            <a:spLocks noChangeArrowheads="1"/>
          </p:cNvSpPr>
          <p:nvPr/>
        </p:nvSpPr>
        <p:spPr bwMode="auto">
          <a:xfrm>
            <a:off x="7118350" y="2349500"/>
            <a:ext cx="18462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Observation point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395288" y="1125538"/>
            <a:ext cx="8229600" cy="638175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Electric Field Orientation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5" y="1785938"/>
            <a:ext cx="7643813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6" name="TextBox 4"/>
          <p:cNvSpPr txBox="1">
            <a:spLocks noChangeArrowheads="1"/>
          </p:cNvSpPr>
          <p:nvPr/>
        </p:nvSpPr>
        <p:spPr bwMode="auto">
          <a:xfrm>
            <a:off x="3929063" y="6357938"/>
            <a:ext cx="10652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Fig.4.1(b)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3379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571500" y="2003425"/>
            <a:ext cx="8143875" cy="423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539750" y="909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Calculation of Radiated Fields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标题 1"/>
          <p:cNvSpPr>
            <a:spLocks noGrp="1"/>
          </p:cNvSpPr>
          <p:nvPr>
            <p:ph type="title"/>
          </p:nvPr>
        </p:nvSpPr>
        <p:spPr>
          <a:xfrm>
            <a:off x="539750" y="990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Step one: determine the current source</a:t>
            </a:r>
            <a:br>
              <a:rPr lang="en-US" altLang="zh-CN" sz="3200" smtClean="0">
                <a:solidFill>
                  <a:srgbClr val="002060"/>
                </a:solidFill>
              </a:rPr>
            </a:br>
            <a:r>
              <a:rPr lang="en-US" altLang="zh-CN" sz="3200" smtClean="0">
                <a:solidFill>
                  <a:srgbClr val="002060"/>
                </a:solidFill>
              </a:rPr>
              <a:t>Frequency and Time Domain Current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pic>
        <p:nvPicPr>
          <p:cNvPr id="717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170" name="Object 5"/>
          <p:cNvGraphicFramePr>
            <a:graphicFrameLocks noChangeAspect="1"/>
          </p:cNvGraphicFramePr>
          <p:nvPr/>
        </p:nvGraphicFramePr>
        <p:xfrm>
          <a:off x="2843213" y="2492375"/>
          <a:ext cx="21224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4" imgW="672840" imgH="228600" progId="Equation.DSMT4">
                  <p:embed/>
                </p:oleObj>
              </mc:Choice>
              <mc:Fallback>
                <p:oleObj name="Equation" r:id="rId4" imgW="67284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492375"/>
                        <a:ext cx="2122487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6"/>
          <p:cNvGraphicFramePr>
            <a:graphicFrameLocks noChangeAspect="1"/>
          </p:cNvGraphicFramePr>
          <p:nvPr/>
        </p:nvGraphicFramePr>
        <p:xfrm>
          <a:off x="2627313" y="3789363"/>
          <a:ext cx="39179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6" imgW="1130040" imgH="228600" progId="Equation.DSMT4">
                  <p:embed/>
                </p:oleObj>
              </mc:Choice>
              <mc:Fallback>
                <p:oleObj name="Equation" r:id="rId6" imgW="11300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789363"/>
                        <a:ext cx="3917950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Box 6"/>
          <p:cNvSpPr txBox="1">
            <a:spLocks noChangeArrowheads="1"/>
          </p:cNvSpPr>
          <p:nvPr/>
        </p:nvSpPr>
        <p:spPr bwMode="auto">
          <a:xfrm>
            <a:off x="5580063" y="2463800"/>
            <a:ext cx="129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(4-1)</a:t>
            </a:r>
            <a:endParaRPr lang="zh-CN" altLang="en-US" sz="2400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标题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1008063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Step two: Vector Potential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pic>
        <p:nvPicPr>
          <p:cNvPr id="819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194" name="Object 5"/>
          <p:cNvGraphicFramePr>
            <a:graphicFrameLocks noChangeAspect="1"/>
          </p:cNvGraphicFramePr>
          <p:nvPr/>
        </p:nvGraphicFramePr>
        <p:xfrm>
          <a:off x="1838325" y="1946275"/>
          <a:ext cx="5110163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4" imgW="1701720" imgH="469800" progId="Equation.DSMT4">
                  <p:embed/>
                </p:oleObj>
              </mc:Choice>
              <mc:Fallback>
                <p:oleObj name="Equation" r:id="rId4" imgW="170172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1946275"/>
                        <a:ext cx="5110163" cy="1411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ChangeAspect="1"/>
          </p:cNvGraphicFramePr>
          <p:nvPr/>
        </p:nvGraphicFramePr>
        <p:xfrm>
          <a:off x="539750" y="4149725"/>
          <a:ext cx="8029575" cy="255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6" imgW="2793960" imgH="888840" progId="Equation.DSMT4">
                  <p:embed/>
                </p:oleObj>
              </mc:Choice>
              <mc:Fallback>
                <p:oleObj name="Equation" r:id="rId6" imgW="2793960" imgH="8888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149725"/>
                        <a:ext cx="8029575" cy="2554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7308850" y="2390775"/>
            <a:ext cx="1295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(4-2)</a:t>
            </a:r>
            <a:endParaRPr lang="zh-CN" altLang="en-US" sz="2400"/>
          </a:p>
        </p:txBody>
      </p:sp>
      <p:sp>
        <p:nvSpPr>
          <p:cNvPr id="8199" name="TextBox 9"/>
          <p:cNvSpPr txBox="1">
            <a:spLocks noChangeArrowheads="1"/>
          </p:cNvSpPr>
          <p:nvPr/>
        </p:nvSpPr>
        <p:spPr bwMode="auto">
          <a:xfrm>
            <a:off x="250825" y="3317875"/>
            <a:ext cx="8605838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=|</a:t>
            </a:r>
            <a:r>
              <a:rPr lang="en-US" altLang="zh-CN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4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4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'| .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Assume the observation distance </a:t>
            </a:r>
            <a:r>
              <a:rPr lang="en-US" altLang="zh-CN" sz="24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is large enough than the dipole length </a:t>
            </a:r>
            <a:r>
              <a:rPr lang="en-US" altLang="zh-CN" sz="2400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, which means </a:t>
            </a:r>
            <a:r>
              <a:rPr lang="en-US" altLang="zh-CN" sz="24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zh-CN" sz="24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 * not for the far field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457200" y="908050"/>
            <a:ext cx="8229600" cy="890588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Dipole and Geometry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5" y="1809750"/>
            <a:ext cx="7286625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3714750" y="6143625"/>
            <a:ext cx="1054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Fig.4.4(a)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3584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847" name="TextBox 6"/>
          <p:cNvSpPr txBox="1">
            <a:spLocks noChangeArrowheads="1"/>
          </p:cNvSpPr>
          <p:nvPr/>
        </p:nvSpPr>
        <p:spPr bwMode="auto">
          <a:xfrm>
            <a:off x="6110288" y="1916113"/>
            <a:ext cx="18462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Observation point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contrast="20000"/>
          </a:blip>
          <a:srcRect t="38319"/>
          <a:stretch>
            <a:fillRect/>
          </a:stretch>
        </p:blipFill>
        <p:spPr>
          <a:xfrm>
            <a:off x="1000125" y="3268663"/>
            <a:ext cx="6858000" cy="2643187"/>
          </a:xfrm>
        </p:spPr>
      </p:pic>
      <p:pic>
        <p:nvPicPr>
          <p:cNvPr id="922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2627313" y="1989138"/>
          <a:ext cx="3355975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5" imgW="1117440" imgH="419040" progId="Equation.DSMT4">
                  <p:embed/>
                </p:oleObj>
              </mc:Choice>
              <mc:Fallback>
                <p:oleObj name="Equation" r:id="rId5" imgW="111744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989138"/>
                        <a:ext cx="3355975" cy="1258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标题 1"/>
          <p:cNvSpPr>
            <a:spLocks noGrp="1"/>
          </p:cNvSpPr>
          <p:nvPr>
            <p:ph type="title"/>
          </p:nvPr>
        </p:nvSpPr>
        <p:spPr>
          <a:xfrm>
            <a:off x="457200" y="954088"/>
            <a:ext cx="8229600" cy="890587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Cartesian Coordinates-&gt;Spherical Coordinates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 t="29263"/>
          <a:stretch>
            <a:fillRect/>
          </a:stretch>
        </p:blipFill>
        <p:spPr bwMode="auto">
          <a:xfrm>
            <a:off x="971550" y="2924175"/>
            <a:ext cx="7000875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2627313" y="1844675"/>
          <a:ext cx="2611437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5" imgW="1117440" imgH="419040" progId="Equation.DSMT4">
                  <p:embed/>
                </p:oleObj>
              </mc:Choice>
              <mc:Fallback>
                <p:oleObj name="Equation" r:id="rId5" imgW="111744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844675"/>
                        <a:ext cx="2611437" cy="979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标题 1"/>
          <p:cNvSpPr>
            <a:spLocks noGrp="1"/>
          </p:cNvSpPr>
          <p:nvPr>
            <p:ph type="title"/>
          </p:nvPr>
        </p:nvSpPr>
        <p:spPr>
          <a:xfrm>
            <a:off x="457200" y="954088"/>
            <a:ext cx="8229600" cy="890587"/>
          </a:xfrm>
        </p:spPr>
        <p:txBody>
          <a:bodyPr/>
          <a:lstStyle/>
          <a:p>
            <a:pPr eaLnBrk="1" hangingPunct="1"/>
            <a:r>
              <a:rPr lang="en-US" altLang="zh-CN" sz="3200" b="1" i="1" smtClean="0">
                <a:solidFill>
                  <a:srgbClr val="002060"/>
                </a:solidFill>
              </a:rPr>
              <a:t>A</a:t>
            </a:r>
            <a:r>
              <a:rPr lang="en-US" altLang="zh-CN" sz="3200" smtClean="0">
                <a:solidFill>
                  <a:srgbClr val="002060"/>
                </a:solidFill>
              </a:rPr>
              <a:t> under Spherical Coordinates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sp>
        <p:nvSpPr>
          <p:cNvPr id="6" name="右弧形箭头 5"/>
          <p:cNvSpPr/>
          <p:nvPr/>
        </p:nvSpPr>
        <p:spPr>
          <a:xfrm>
            <a:off x="5508625" y="2276475"/>
            <a:ext cx="576263" cy="86518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247" name="Picture 6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00338" y="4806950"/>
            <a:ext cx="1871662" cy="205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" name="标题 1"/>
          <p:cNvSpPr>
            <a:spLocks noGrp="1"/>
          </p:cNvSpPr>
          <p:nvPr>
            <p:ph type="title"/>
          </p:nvPr>
        </p:nvSpPr>
        <p:spPr>
          <a:xfrm>
            <a:off x="457200" y="1098550"/>
            <a:ext cx="8229600" cy="890588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Step Three: Calculate E &amp; H</a:t>
            </a:r>
            <a:br>
              <a:rPr lang="en-US" altLang="zh-CN" sz="3200" smtClean="0">
                <a:solidFill>
                  <a:srgbClr val="002060"/>
                </a:solidFill>
              </a:rPr>
            </a:br>
            <a:r>
              <a:rPr lang="en-US" altLang="zh-CN" sz="3200" smtClean="0">
                <a:solidFill>
                  <a:srgbClr val="002060"/>
                </a:solidFill>
              </a:rPr>
              <a:t>Magnetic Field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6869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38" y="2276475"/>
            <a:ext cx="702945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6300" y="1898650"/>
            <a:ext cx="614362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9" name="标题 1"/>
          <p:cNvSpPr>
            <a:spLocks noGrp="1"/>
          </p:cNvSpPr>
          <p:nvPr>
            <p:ph type="title"/>
          </p:nvPr>
        </p:nvSpPr>
        <p:spPr>
          <a:xfrm>
            <a:off x="457200" y="954088"/>
            <a:ext cx="8229600" cy="890587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Electric Field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1266" name="Object 6"/>
          <p:cNvGraphicFramePr>
            <a:graphicFrameLocks noChangeAspect="1"/>
          </p:cNvGraphicFramePr>
          <p:nvPr/>
        </p:nvGraphicFramePr>
        <p:xfrm>
          <a:off x="6748463" y="1744663"/>
          <a:ext cx="22161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5" imgW="838080" imgH="419040" progId="Equation.DSMT4">
                  <p:embed/>
                </p:oleObj>
              </mc:Choice>
              <mc:Fallback>
                <p:oleObj name="Equation" r:id="rId5" imgW="838080" imgH="41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1744663"/>
                        <a:ext cx="2216150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2" name="标题 1"/>
          <p:cNvSpPr>
            <a:spLocks noGrp="1"/>
          </p:cNvSpPr>
          <p:nvPr>
            <p:ph type="title"/>
          </p:nvPr>
        </p:nvSpPr>
        <p:spPr>
          <a:xfrm>
            <a:off x="457200" y="954088"/>
            <a:ext cx="8229600" cy="890587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2060"/>
                </a:solidFill>
              </a:rPr>
              <a:t>Radiated Fields – Summary</a:t>
            </a:r>
            <a:br>
              <a:rPr lang="en-US" altLang="zh-CN" sz="3200" smtClean="0">
                <a:solidFill>
                  <a:srgbClr val="002060"/>
                </a:solidFill>
              </a:rPr>
            </a:br>
            <a:r>
              <a:rPr lang="en-US" altLang="zh-CN" sz="3200" smtClean="0">
                <a:solidFill>
                  <a:srgbClr val="002060"/>
                </a:solidFill>
              </a:rPr>
              <a:t>for all regions</a:t>
            </a:r>
            <a:endParaRPr lang="zh-CN" altLang="en-US" sz="3200" smtClean="0">
              <a:solidFill>
                <a:srgbClr val="002060"/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290" name="Object 6"/>
          <p:cNvGraphicFramePr>
            <a:graphicFrameLocks noChangeAspect="1"/>
          </p:cNvGraphicFramePr>
          <p:nvPr/>
        </p:nvGraphicFramePr>
        <p:xfrm>
          <a:off x="1955800" y="2144713"/>
          <a:ext cx="4919663" cy="358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4" imgW="2438280" imgH="1777680" progId="Equation.DSMT4">
                  <p:embed/>
                </p:oleObj>
              </mc:Choice>
              <mc:Fallback>
                <p:oleObj name="Equation" r:id="rId4" imgW="2438280" imgH="17776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2144713"/>
                        <a:ext cx="4919663" cy="358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Box 6"/>
          <p:cNvSpPr txBox="1">
            <a:spLocks noChangeArrowheads="1"/>
          </p:cNvSpPr>
          <p:nvPr/>
        </p:nvSpPr>
        <p:spPr bwMode="auto">
          <a:xfrm>
            <a:off x="6948488" y="2174875"/>
            <a:ext cx="14398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(4-10a)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5" name="TextBox 7"/>
          <p:cNvSpPr txBox="1">
            <a:spLocks noChangeArrowheads="1"/>
          </p:cNvSpPr>
          <p:nvPr/>
        </p:nvSpPr>
        <p:spPr bwMode="auto">
          <a:xfrm>
            <a:off x="6948488" y="3543300"/>
            <a:ext cx="14398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(4-10b)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6" name="TextBox 8"/>
          <p:cNvSpPr txBox="1">
            <a:spLocks noChangeArrowheads="1"/>
          </p:cNvSpPr>
          <p:nvPr/>
        </p:nvSpPr>
        <p:spPr bwMode="auto">
          <a:xfrm>
            <a:off x="6948488" y="5272088"/>
            <a:ext cx="143986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(4-10c)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7" name="TextBox 9"/>
          <p:cNvSpPr txBox="1">
            <a:spLocks noChangeArrowheads="1"/>
          </p:cNvSpPr>
          <p:nvPr/>
        </p:nvSpPr>
        <p:spPr bwMode="auto">
          <a:xfrm>
            <a:off x="6948488" y="4406900"/>
            <a:ext cx="14398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(4-8b)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矩形 3"/>
          <p:cNvSpPr>
            <a:spLocks noChangeArrowheads="1"/>
          </p:cNvSpPr>
          <p:nvPr/>
        </p:nvSpPr>
        <p:spPr bwMode="auto">
          <a:xfrm>
            <a:off x="792163" y="1290638"/>
            <a:ext cx="7451725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000">
                <a:solidFill>
                  <a:srgbClr val="FF0000"/>
                </a:solidFill>
              </a:rPr>
              <a:t>Power Density</a:t>
            </a:r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1692275" y="2276475"/>
          <a:ext cx="5572125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4" imgW="2374560" imgH="1473120" progId="Equation.DSMT4">
                  <p:embed/>
                </p:oleObj>
              </mc:Choice>
              <mc:Fallback>
                <p:oleObj name="Equation" r:id="rId4" imgW="2374560" imgH="14731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276475"/>
                        <a:ext cx="5572125" cy="345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Box 6"/>
          <p:cNvSpPr txBox="1">
            <a:spLocks noChangeArrowheads="1"/>
          </p:cNvSpPr>
          <p:nvPr/>
        </p:nvSpPr>
        <p:spPr bwMode="auto">
          <a:xfrm>
            <a:off x="6659563" y="4365625"/>
            <a:ext cx="15843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(4-11)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 t="15199"/>
          <a:stretch>
            <a:fillRect/>
          </a:stretch>
        </p:blipFill>
        <p:spPr bwMode="auto">
          <a:xfrm>
            <a:off x="1071563" y="2516188"/>
            <a:ext cx="7000875" cy="393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1331913" y="1919288"/>
          <a:ext cx="22653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5" imgW="965160" imgH="253800" progId="Equation.DSMT4">
                  <p:embed/>
                </p:oleObj>
              </mc:Choice>
              <mc:Fallback>
                <p:oleObj name="Equation" r:id="rId5" imgW="96516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19288"/>
                        <a:ext cx="2265362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矩形 5"/>
          <p:cNvSpPr>
            <a:spLocks noChangeArrowheads="1"/>
          </p:cNvSpPr>
          <p:nvPr/>
        </p:nvSpPr>
        <p:spPr bwMode="auto">
          <a:xfrm>
            <a:off x="792163" y="1290638"/>
            <a:ext cx="7451725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000">
                <a:solidFill>
                  <a:srgbClr val="FF0000"/>
                </a:solidFill>
              </a:rPr>
              <a:t>Power Density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365" name="矩形 4"/>
          <p:cNvSpPr>
            <a:spLocks noChangeArrowheads="1"/>
          </p:cNvSpPr>
          <p:nvPr/>
        </p:nvSpPr>
        <p:spPr bwMode="auto">
          <a:xfrm>
            <a:off x="792163" y="1290638"/>
            <a:ext cx="7451725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000">
                <a:solidFill>
                  <a:srgbClr val="FF0000"/>
                </a:solidFill>
              </a:rPr>
              <a:t>Radiated Power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2124075" y="2060575"/>
          <a:ext cx="4392613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4" imgW="2057400" imgH="1904760" progId="Equation.DSMT4">
                  <p:embed/>
                </p:oleObj>
              </mc:Choice>
              <mc:Fallback>
                <p:oleObj name="Equation" r:id="rId4" imgW="2057400" imgH="1904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060575"/>
                        <a:ext cx="4392613" cy="406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Box 6"/>
          <p:cNvSpPr txBox="1">
            <a:spLocks noChangeArrowheads="1"/>
          </p:cNvSpPr>
          <p:nvPr/>
        </p:nvSpPr>
        <p:spPr bwMode="auto">
          <a:xfrm>
            <a:off x="5940425" y="4941888"/>
            <a:ext cx="13684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(4-14)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457200" y="10874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Outwardly Flowing Complex Power from Infinitesimal Dipole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/>
          <a:stretch>
            <a:fillRect/>
          </a:stretch>
        </p:blipFill>
        <p:spPr bwMode="auto">
          <a:xfrm>
            <a:off x="428625" y="2420938"/>
            <a:ext cx="8358188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457200" y="115728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Outwardly Flowing Complex Power from Infinitesimal Dipole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785813" y="2668588"/>
            <a:ext cx="7500937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00563" y="3429000"/>
            <a:ext cx="2519362" cy="792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5" name="Picture 2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525" y="4508500"/>
            <a:ext cx="3267075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6" name="Picture 2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15013" y="409575"/>
            <a:ext cx="3149600" cy="323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052513" y="1106488"/>
          <a:ext cx="26463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Equation" r:id="rId5" imgW="1765080" imgH="253800" progId="Equation.DSMT4">
                  <p:embed/>
                </p:oleObj>
              </mc:Choice>
              <mc:Fallback>
                <p:oleObj name="Equation" r:id="rId5" imgW="1765080" imgH="253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1106488"/>
                        <a:ext cx="26463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187450" y="4797425"/>
          <a:ext cx="16573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Equation" r:id="rId7" imgW="1104900" imgH="393700" progId="Equation.DSMT4">
                  <p:embed/>
                </p:oleObj>
              </mc:Choice>
              <mc:Fallback>
                <p:oleObj name="Equation" r:id="rId7" imgW="11049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797425"/>
                        <a:ext cx="16573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111250" y="3933825"/>
          <a:ext cx="21129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Equation" r:id="rId9" imgW="1409400" imgH="393480" progId="Equation.DSMT4">
                  <p:embed/>
                </p:oleObj>
              </mc:Choice>
              <mc:Fallback>
                <p:oleObj name="Equation" r:id="rId9" imgW="140940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3933825"/>
                        <a:ext cx="2112963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1223963" y="3054350"/>
          <a:ext cx="19796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11" imgW="1320227" imgH="393529" progId="Equation.DSMT4">
                  <p:embed/>
                </p:oleObj>
              </mc:Choice>
              <mc:Fallback>
                <p:oleObj name="Equation" r:id="rId11" imgW="1320227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3054350"/>
                        <a:ext cx="1979612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1258888" y="2190750"/>
          <a:ext cx="18669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quation" r:id="rId13" imgW="1244600" imgH="393700" progId="Equation.DSMT4">
                  <p:embed/>
                </p:oleObj>
              </mc:Choice>
              <mc:Fallback>
                <p:oleObj name="Equation" r:id="rId13" imgW="12446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90750"/>
                        <a:ext cx="18669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TextBox 14"/>
          <p:cNvSpPr txBox="1">
            <a:spLocks noChangeArrowheads="1"/>
          </p:cNvSpPr>
          <p:nvPr/>
        </p:nvSpPr>
        <p:spPr bwMode="auto">
          <a:xfrm>
            <a:off x="323850" y="404813"/>
            <a:ext cx="59039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According to the Poynting Theorem, we get</a:t>
            </a:r>
            <a:endParaRPr lang="zh-CN" altLang="en-US" sz="2400"/>
          </a:p>
        </p:txBody>
      </p:sp>
      <p:sp>
        <p:nvSpPr>
          <p:cNvPr id="16404" name="TextBox 15"/>
          <p:cNvSpPr txBox="1">
            <a:spLocks noChangeArrowheads="1"/>
          </p:cNvSpPr>
          <p:nvPr/>
        </p:nvSpPr>
        <p:spPr bwMode="auto">
          <a:xfrm>
            <a:off x="323850" y="1628775"/>
            <a:ext cx="11525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Where </a:t>
            </a:r>
            <a:endParaRPr lang="zh-CN" altLang="en-US"/>
          </a:p>
        </p:txBody>
      </p:sp>
      <p:sp>
        <p:nvSpPr>
          <p:cNvPr id="16405" name="TextBox 16"/>
          <p:cNvSpPr txBox="1">
            <a:spLocks noChangeArrowheads="1"/>
          </p:cNvSpPr>
          <p:nvPr/>
        </p:nvSpPr>
        <p:spPr bwMode="auto">
          <a:xfrm>
            <a:off x="323850" y="1916113"/>
            <a:ext cx="55435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Averaged stored electric energy inside volume V</a:t>
            </a:r>
            <a:endParaRPr lang="zh-CN" altLang="en-US"/>
          </a:p>
        </p:txBody>
      </p:sp>
      <p:sp>
        <p:nvSpPr>
          <p:cNvPr id="16406" name="TextBox 17"/>
          <p:cNvSpPr txBox="1">
            <a:spLocks noChangeArrowheads="1"/>
          </p:cNvSpPr>
          <p:nvPr/>
        </p:nvSpPr>
        <p:spPr bwMode="auto">
          <a:xfrm>
            <a:off x="323850" y="2700338"/>
            <a:ext cx="57610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Averaged stored magnetic energy inside volume V</a:t>
            </a:r>
            <a:endParaRPr lang="zh-CN" altLang="en-US"/>
          </a:p>
        </p:txBody>
      </p:sp>
      <p:sp>
        <p:nvSpPr>
          <p:cNvPr id="16407" name="TextBox 18"/>
          <p:cNvSpPr txBox="1">
            <a:spLocks noChangeArrowheads="1"/>
          </p:cNvSpPr>
          <p:nvPr/>
        </p:nvSpPr>
        <p:spPr bwMode="auto">
          <a:xfrm>
            <a:off x="323850" y="3708400"/>
            <a:ext cx="49688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Power flowing out forward volume V</a:t>
            </a:r>
            <a:endParaRPr lang="zh-CN" altLang="en-US"/>
          </a:p>
        </p:txBody>
      </p:sp>
      <p:sp>
        <p:nvSpPr>
          <p:cNvPr id="16408" name="TextBox 19"/>
          <p:cNvSpPr txBox="1">
            <a:spLocks noChangeArrowheads="1"/>
          </p:cNvSpPr>
          <p:nvPr/>
        </p:nvSpPr>
        <p:spPr bwMode="auto">
          <a:xfrm>
            <a:off x="323850" y="4500563"/>
            <a:ext cx="49688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Ohm loss of the antenna</a:t>
            </a:r>
            <a:endParaRPr lang="zh-CN" altLang="en-US"/>
          </a:p>
        </p:txBody>
      </p:sp>
      <p:sp>
        <p:nvSpPr>
          <p:cNvPr id="16409" name="TextBox 20"/>
          <p:cNvSpPr txBox="1">
            <a:spLocks noChangeArrowheads="1"/>
          </p:cNvSpPr>
          <p:nvPr/>
        </p:nvSpPr>
        <p:spPr bwMode="auto">
          <a:xfrm>
            <a:off x="323850" y="5291138"/>
            <a:ext cx="4968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Power flowing into the volume V</a:t>
            </a:r>
            <a:endParaRPr lang="zh-CN" altLang="en-US"/>
          </a:p>
        </p:txBody>
      </p:sp>
      <p:grpSp>
        <p:nvGrpSpPr>
          <p:cNvPr id="2" name="组合 39"/>
          <p:cNvGrpSpPr>
            <a:grpSpLocks/>
          </p:cNvGrpSpPr>
          <p:nvPr/>
        </p:nvGrpSpPr>
        <p:grpSpPr bwMode="auto">
          <a:xfrm>
            <a:off x="4284663" y="2565400"/>
            <a:ext cx="2663825" cy="3384550"/>
            <a:chOff x="4283968" y="2564904"/>
            <a:chExt cx="2664296" cy="3384376"/>
          </a:xfrm>
        </p:grpSpPr>
        <p:cxnSp>
          <p:nvCxnSpPr>
            <p:cNvPr id="23" name="直接箭头连接符 22"/>
            <p:cNvCxnSpPr/>
            <p:nvPr/>
          </p:nvCxnSpPr>
          <p:spPr>
            <a:xfrm flipH="1">
              <a:off x="5795535" y="2564904"/>
              <a:ext cx="1152729" cy="338437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16394" name="Object 7"/>
            <p:cNvGraphicFramePr>
              <a:graphicFrameLocks noChangeAspect="1"/>
            </p:cNvGraphicFramePr>
            <p:nvPr/>
          </p:nvGraphicFramePr>
          <p:xfrm>
            <a:off x="4283968" y="5157788"/>
            <a:ext cx="1528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8" name="Equation" r:id="rId15" imgW="1346040" imgH="393480" progId="Equation.DSMT4">
                    <p:embed/>
                  </p:oleObj>
                </mc:Choice>
                <mc:Fallback>
                  <p:oleObj name="Equation" r:id="rId15" imgW="1346040" imgH="3934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5157788"/>
                          <a:ext cx="1528762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40"/>
          <p:cNvGrpSpPr>
            <a:grpSpLocks/>
          </p:cNvGrpSpPr>
          <p:nvPr/>
        </p:nvGrpSpPr>
        <p:grpSpPr bwMode="auto">
          <a:xfrm>
            <a:off x="6269038" y="1773238"/>
            <a:ext cx="966787" cy="3024187"/>
            <a:chOff x="6269509" y="1772816"/>
            <a:chExt cx="966787" cy="3024336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6875934" y="1772816"/>
              <a:ext cx="288925" cy="3024336"/>
            </a:xfrm>
            <a:prstGeom prst="line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16393" name="Object 8"/>
            <p:cNvGraphicFramePr>
              <a:graphicFrameLocks noChangeAspect="1"/>
            </p:cNvGraphicFramePr>
            <p:nvPr/>
          </p:nvGraphicFramePr>
          <p:xfrm>
            <a:off x="6269509" y="4149725"/>
            <a:ext cx="966787" cy="44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9" name="Equation" r:id="rId17" imgW="850680" imgH="393480" progId="Equation.DSMT4">
                    <p:embed/>
                  </p:oleObj>
                </mc:Choice>
                <mc:Fallback>
                  <p:oleObj name="Equation" r:id="rId17" imgW="850680" imgH="3934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9509" y="4149725"/>
                          <a:ext cx="966787" cy="4460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41"/>
          <p:cNvGrpSpPr>
            <a:grpSpLocks/>
          </p:cNvGrpSpPr>
          <p:nvPr/>
        </p:nvGrpSpPr>
        <p:grpSpPr bwMode="auto">
          <a:xfrm>
            <a:off x="6948488" y="1268413"/>
            <a:ext cx="2162175" cy="3889375"/>
            <a:chOff x="6948488" y="1268760"/>
            <a:chExt cx="2162175" cy="3888432"/>
          </a:xfrm>
        </p:grpSpPr>
        <p:cxnSp>
          <p:nvCxnSpPr>
            <p:cNvPr id="29" name="直接箭头连接符 28"/>
            <p:cNvCxnSpPr/>
            <p:nvPr/>
          </p:nvCxnSpPr>
          <p:spPr>
            <a:xfrm>
              <a:off x="8459788" y="1268760"/>
              <a:ext cx="0" cy="388843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308850" y="1268760"/>
              <a:ext cx="935038" cy="3888432"/>
            </a:xfrm>
            <a:prstGeom prst="line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16392" name="Object 9"/>
            <p:cNvGraphicFramePr>
              <a:graphicFrameLocks noChangeAspect="1"/>
            </p:cNvGraphicFramePr>
            <p:nvPr/>
          </p:nvGraphicFramePr>
          <p:xfrm>
            <a:off x="6948488" y="3716338"/>
            <a:ext cx="2162175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0" name="Equation" r:id="rId19" imgW="1904760" imgH="393480" progId="Equation.DSMT4">
                    <p:embed/>
                  </p:oleObj>
                </mc:Choice>
                <mc:Fallback>
                  <p:oleObj name="Equation" r:id="rId19" imgW="1904760" imgH="39348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8488" y="3716338"/>
                          <a:ext cx="2162175" cy="4460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91" name="Object 10"/>
          <p:cNvGraphicFramePr>
            <a:graphicFrameLocks noChangeAspect="1"/>
          </p:cNvGraphicFramePr>
          <p:nvPr/>
        </p:nvGraphicFramePr>
        <p:xfrm>
          <a:off x="1077913" y="5646738"/>
          <a:ext cx="21891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21" imgW="1460160" imgH="393480" progId="Equation.DSMT4">
                  <p:embed/>
                </p:oleObj>
              </mc:Choice>
              <mc:Fallback>
                <p:oleObj name="Equation" r:id="rId21" imgW="146016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5646738"/>
                        <a:ext cx="2189162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184900" y="6021388"/>
            <a:ext cx="26352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6350" indent="-6350">
              <a:defRPr/>
            </a:pPr>
            <a:r>
              <a:rPr lang="en-US" altLang="zh-CN" dirty="0">
                <a:latin typeface="+mj-lt"/>
                <a:cs typeface="Times New Roman" pitchFamily="18" charset="0"/>
              </a:rPr>
              <a:t>Thevenin Equivalent of a transmitting antenna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08275"/>
            <a:ext cx="6750050" cy="414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415" name="矩形 4"/>
          <p:cNvSpPr>
            <a:spLocks noChangeArrowheads="1"/>
          </p:cNvSpPr>
          <p:nvPr/>
        </p:nvSpPr>
        <p:spPr bwMode="auto">
          <a:xfrm>
            <a:off x="0" y="981075"/>
            <a:ext cx="896461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400"/>
              <a:t>Near-Field Region(reactive near field), Intermediate-Field Region(radiating near field) and Far-Field Region</a:t>
            </a:r>
            <a:endParaRPr lang="zh-CN" altLang="en-US" sz="2400"/>
          </a:p>
        </p:txBody>
      </p:sp>
      <p:pic>
        <p:nvPicPr>
          <p:cNvPr id="17416" name="Picture 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9F9F8"/>
              </a:clrFrom>
              <a:clrTo>
                <a:srgbClr val="F9F9F8">
                  <a:alpha val="0"/>
                </a:srgbClr>
              </a:clrTo>
            </a:clrChange>
            <a:lum contrast="40000"/>
          </a:blip>
          <a:srcRect r="13600"/>
          <a:stretch>
            <a:fillRect/>
          </a:stretch>
        </p:blipFill>
        <p:spPr bwMode="auto">
          <a:xfrm>
            <a:off x="5842000" y="1412875"/>
            <a:ext cx="3302000" cy="249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619250" y="3068638"/>
          <a:ext cx="64928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6" imgW="393480" imgH="469800" progId="Equation.DSMT4">
                  <p:embed/>
                </p:oleObj>
              </mc:Choice>
              <mc:Fallback>
                <p:oleObj name="Equation" r:id="rId6" imgW="393480" imgH="469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068638"/>
                        <a:ext cx="64928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4"/>
          <p:cNvGraphicFramePr>
            <a:graphicFrameLocks noChangeAspect="1"/>
          </p:cNvGraphicFramePr>
          <p:nvPr/>
        </p:nvGraphicFramePr>
        <p:xfrm>
          <a:off x="4572000" y="5084763"/>
          <a:ext cx="3349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8" imgW="203040" imgH="393480" progId="Equation.DSMT4">
                  <p:embed/>
                </p:oleObj>
              </mc:Choice>
              <mc:Fallback>
                <p:oleObj name="Equation" r:id="rId8" imgW="20304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084763"/>
                        <a:ext cx="334963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0"/>
          <p:cNvGrpSpPr>
            <a:grpSpLocks/>
          </p:cNvGrpSpPr>
          <p:nvPr/>
        </p:nvGrpSpPr>
        <p:grpSpPr bwMode="auto">
          <a:xfrm>
            <a:off x="2266950" y="2349500"/>
            <a:ext cx="6408738" cy="2808288"/>
            <a:chOff x="2268367" y="2348880"/>
            <a:chExt cx="6407347" cy="2808312"/>
          </a:xfrm>
        </p:grpSpPr>
        <p:cxnSp>
          <p:nvCxnSpPr>
            <p:cNvPr id="17" name="直接连接符 16"/>
            <p:cNvCxnSpPr>
              <a:stCxn id="22" idx="4"/>
            </p:cNvCxnSpPr>
            <p:nvPr/>
          </p:nvCxnSpPr>
          <p:spPr>
            <a:xfrm flipH="1">
              <a:off x="4644339" y="3788755"/>
              <a:ext cx="2809265" cy="1368437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8315429" y="2348880"/>
              <a:ext cx="360285" cy="4318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7237751" y="3212487"/>
              <a:ext cx="431706" cy="57626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3" name="直接连接符 22"/>
            <p:cNvCxnSpPr>
              <a:stCxn id="21" idx="4"/>
            </p:cNvCxnSpPr>
            <p:nvPr/>
          </p:nvCxnSpPr>
          <p:spPr>
            <a:xfrm flipH="1">
              <a:off x="2268367" y="2780684"/>
              <a:ext cx="6226411" cy="71914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418" name="TextBox 31"/>
          <p:cNvSpPr txBox="1">
            <a:spLocks noChangeArrowheads="1"/>
          </p:cNvSpPr>
          <p:nvPr/>
        </p:nvSpPr>
        <p:spPr bwMode="auto">
          <a:xfrm>
            <a:off x="3132138" y="6488113"/>
            <a:ext cx="863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kr</a:t>
            </a:r>
            <a:endParaRPr lang="zh-CN" altLang="en-US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9" name="TextBox 32"/>
          <p:cNvSpPr txBox="1">
            <a:spLocks noChangeArrowheads="1"/>
          </p:cNvSpPr>
          <p:nvPr/>
        </p:nvSpPr>
        <p:spPr bwMode="auto">
          <a:xfrm rot="-5400000">
            <a:off x="-27781" y="4356894"/>
            <a:ext cx="13604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>
                <a:latin typeface="Times New Roman" pitchFamily="18" charset="0"/>
                <a:cs typeface="Times New Roman" pitchFamily="18" charset="0"/>
              </a:rPr>
              <a:t>Magnitude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3"/>
          <p:cNvPicPr>
            <a:picLocks noChangeAspect="1" noChangeArrowheads="1"/>
          </p:cNvPicPr>
          <p:nvPr/>
        </p:nvPicPr>
        <p:blipFill>
          <a:blip r:embed="rId2" cstate="print"/>
          <a:srcRect b="6282"/>
          <a:stretch>
            <a:fillRect/>
          </a:stretch>
        </p:blipFill>
        <p:spPr bwMode="auto">
          <a:xfrm>
            <a:off x="1042988" y="1628775"/>
            <a:ext cx="6750050" cy="388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941" name="TextBox 8"/>
          <p:cNvSpPr txBox="1">
            <a:spLocks noChangeArrowheads="1"/>
          </p:cNvSpPr>
          <p:nvPr/>
        </p:nvSpPr>
        <p:spPr bwMode="auto">
          <a:xfrm>
            <a:off x="1116013" y="5445125"/>
            <a:ext cx="13684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Near-Field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&lt;&lt;1)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42" name="TextBox 9"/>
          <p:cNvSpPr txBox="1">
            <a:spLocks noChangeArrowheads="1"/>
          </p:cNvSpPr>
          <p:nvPr/>
        </p:nvSpPr>
        <p:spPr bwMode="auto">
          <a:xfrm>
            <a:off x="2771775" y="5300663"/>
            <a:ext cx="1008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kr=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43" name="TextBox 10"/>
          <p:cNvSpPr txBox="1">
            <a:spLocks noChangeArrowheads="1"/>
          </p:cNvSpPr>
          <p:nvPr/>
        </p:nvSpPr>
        <p:spPr bwMode="auto">
          <a:xfrm>
            <a:off x="3563938" y="5445125"/>
            <a:ext cx="1728787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Intermediate-Field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&gt;1)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44" name="TextBox 11"/>
          <p:cNvSpPr txBox="1">
            <a:spLocks noChangeArrowheads="1"/>
          </p:cNvSpPr>
          <p:nvPr/>
        </p:nvSpPr>
        <p:spPr bwMode="auto">
          <a:xfrm>
            <a:off x="5651500" y="5445125"/>
            <a:ext cx="13684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Far-Field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&gt;&gt;1)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 t="12495"/>
          <a:stretch>
            <a:fillRect/>
          </a:stretch>
        </p:blipFill>
        <p:spPr bwMode="auto">
          <a:xfrm>
            <a:off x="971550" y="1844675"/>
            <a:ext cx="7143750" cy="39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965" name="TextBox 5"/>
          <p:cNvSpPr txBox="1">
            <a:spLocks noChangeArrowheads="1"/>
          </p:cNvSpPr>
          <p:nvPr/>
        </p:nvSpPr>
        <p:spPr bwMode="auto">
          <a:xfrm>
            <a:off x="1835150" y="1341438"/>
            <a:ext cx="4897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&lt;&lt;1  (Near-Field)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 t="11633"/>
          <a:stretch>
            <a:fillRect/>
          </a:stretch>
        </p:blipFill>
        <p:spPr bwMode="auto">
          <a:xfrm>
            <a:off x="1042988" y="2133600"/>
            <a:ext cx="7000875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989" name="TextBox 5"/>
          <p:cNvSpPr txBox="1">
            <a:spLocks noChangeArrowheads="1"/>
          </p:cNvSpPr>
          <p:nvPr/>
        </p:nvSpPr>
        <p:spPr bwMode="auto">
          <a:xfrm>
            <a:off x="1835150" y="1341438"/>
            <a:ext cx="4897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&lt;&lt;1  (Near-Field)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90" name="TextBox 6"/>
          <p:cNvSpPr txBox="1">
            <a:spLocks noChangeArrowheads="1"/>
          </p:cNvSpPr>
          <p:nvPr/>
        </p:nvSpPr>
        <p:spPr bwMode="auto">
          <a:xfrm>
            <a:off x="7524750" y="4005263"/>
            <a:ext cx="1295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Dominant power is  Reactive power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437" name="TextBox 4"/>
          <p:cNvSpPr txBox="1">
            <a:spLocks noChangeArrowheads="1"/>
          </p:cNvSpPr>
          <p:nvPr/>
        </p:nvSpPr>
        <p:spPr bwMode="auto">
          <a:xfrm>
            <a:off x="1835150" y="1341438"/>
            <a:ext cx="4897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&gt;&gt;1  (Far-Field)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7235825" y="3933825"/>
            <a:ext cx="16922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TEM Wave</a:t>
            </a:r>
            <a:endParaRPr lang="zh-CN" altLang="en-US">
              <a:solidFill>
                <a:srgbClr val="FF0000"/>
              </a:solidFill>
            </a:endParaRPr>
          </a:p>
        </p:txBody>
      </p:sp>
      <p:graphicFrame>
        <p:nvGraphicFramePr>
          <p:cNvPr id="18434" name="Object 8"/>
          <p:cNvGraphicFramePr>
            <a:graphicFrameLocks noChangeAspect="1"/>
          </p:cNvGraphicFramePr>
          <p:nvPr/>
        </p:nvGraphicFramePr>
        <p:xfrm>
          <a:off x="1951038" y="2349500"/>
          <a:ext cx="4803775" cy="324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4" imgW="2298600" imgH="1549080" progId="Equation.DSMT4">
                  <p:embed/>
                </p:oleObj>
              </mc:Choice>
              <mc:Fallback>
                <p:oleObj name="Equation" r:id="rId4" imgW="2298600" imgH="15490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038" y="2349500"/>
                        <a:ext cx="4803775" cy="324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Box 8"/>
          <p:cNvSpPr txBox="1">
            <a:spLocks noChangeArrowheads="1"/>
          </p:cNvSpPr>
          <p:nvPr/>
        </p:nvSpPr>
        <p:spPr bwMode="auto">
          <a:xfrm>
            <a:off x="5651500" y="2852738"/>
            <a:ext cx="9540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(4-26)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 t="12904"/>
          <a:stretch>
            <a:fillRect/>
          </a:stretch>
        </p:blipFill>
        <p:spPr bwMode="auto">
          <a:xfrm>
            <a:off x="857250" y="2276475"/>
            <a:ext cx="7038975" cy="379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013" name="TextBox 4"/>
          <p:cNvSpPr txBox="1">
            <a:spLocks noChangeArrowheads="1"/>
          </p:cNvSpPr>
          <p:nvPr/>
        </p:nvSpPr>
        <p:spPr bwMode="auto">
          <a:xfrm>
            <a:off x="1835150" y="1341438"/>
            <a:ext cx="4897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&gt;&gt;1  (Far-Field)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014" name="TextBox 5"/>
          <p:cNvSpPr txBox="1">
            <a:spLocks noChangeArrowheads="1"/>
          </p:cNvSpPr>
          <p:nvPr/>
        </p:nvSpPr>
        <p:spPr bwMode="auto">
          <a:xfrm>
            <a:off x="5508625" y="5373688"/>
            <a:ext cx="17272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Dominant power is real power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TextBox 2"/>
          <p:cNvSpPr txBox="1">
            <a:spLocks noChangeArrowheads="1"/>
          </p:cNvSpPr>
          <p:nvPr/>
        </p:nvSpPr>
        <p:spPr bwMode="auto">
          <a:xfrm>
            <a:off x="1476375" y="2230438"/>
            <a:ext cx="6119813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Far Field Parameters:</a:t>
            </a:r>
          </a:p>
          <a:p>
            <a:pPr>
              <a:buFont typeface="Arial" charset="0"/>
              <a:buChar char="•"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Radiation Resistance</a:t>
            </a:r>
          </a:p>
          <a:p>
            <a:pPr>
              <a:buFont typeface="Arial" charset="0"/>
              <a:buChar char="•"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Directivity</a:t>
            </a:r>
          </a:p>
          <a:p>
            <a:pPr>
              <a:buFont typeface="Arial" charset="0"/>
              <a:buChar char="•"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Effective Area</a:t>
            </a:r>
          </a:p>
          <a:p>
            <a:pPr>
              <a:buFont typeface="Arial" charset="0"/>
              <a:buChar char="•"/>
            </a:pP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Effective Length</a:t>
            </a:r>
            <a:endParaRPr lang="zh-CN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>
          <a:xfrm>
            <a:off x="571500" y="1714500"/>
            <a:ext cx="7858125" cy="4286250"/>
          </a:xfrm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061" name="矩形 4"/>
          <p:cNvSpPr>
            <a:spLocks noChangeArrowheads="1"/>
          </p:cNvSpPr>
          <p:nvPr/>
        </p:nvSpPr>
        <p:spPr bwMode="auto">
          <a:xfrm>
            <a:off x="2627313" y="1125538"/>
            <a:ext cx="40576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</a:rPr>
              <a:t>Radiation Resistance</a:t>
            </a:r>
            <a:endParaRPr lang="zh-CN" altLang="en-US" sz="3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6477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Directivity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1547813" y="2133600"/>
            <a:ext cx="5451475" cy="403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6086" name="TextBox 5"/>
          <p:cNvSpPr txBox="1">
            <a:spLocks noChangeArrowheads="1"/>
          </p:cNvSpPr>
          <p:nvPr/>
        </p:nvSpPr>
        <p:spPr bwMode="auto">
          <a:xfrm>
            <a:off x="6011863" y="3933825"/>
            <a:ext cx="24479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In far-field region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 t="21091"/>
          <a:stretch>
            <a:fillRect/>
          </a:stretch>
        </p:blipFill>
        <p:spPr bwMode="auto">
          <a:xfrm>
            <a:off x="1357313" y="2708275"/>
            <a:ext cx="6858000" cy="37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9F9F8"/>
              </a:clrFrom>
              <a:clrTo>
                <a:srgbClr val="F9F9F8">
                  <a:alpha val="0"/>
                </a:srgbClr>
              </a:clrTo>
            </a:clrChange>
            <a:lum contrast="30000"/>
          </a:blip>
          <a:srcRect t="43594" r="55109" b="29724"/>
          <a:stretch>
            <a:fillRect/>
          </a:stretch>
        </p:blipFill>
        <p:spPr bwMode="auto">
          <a:xfrm>
            <a:off x="5003800" y="3429000"/>
            <a:ext cx="2690813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0" name="标题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6477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Directivity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3" cstate="print">
            <a:lum contrast="30000"/>
          </a:blip>
          <a:srcRect/>
          <a:stretch>
            <a:fillRect/>
          </a:stretch>
        </p:blipFill>
        <p:spPr bwMode="auto">
          <a:xfrm>
            <a:off x="1000125" y="2420938"/>
            <a:ext cx="7172325" cy="410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462" name="标题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6477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Maximum Effective Area </a:t>
            </a:r>
            <a:r>
              <a:rPr lang="en-US" altLang="zh-CN" sz="3200" i="1" smtClean="0">
                <a:solidFill>
                  <a:srgbClr val="C00000"/>
                </a:solidFill>
              </a:rPr>
              <a:t>A</a:t>
            </a:r>
            <a:r>
              <a:rPr lang="en-US" altLang="zh-CN" sz="3200" i="1" baseline="-25000" smtClean="0">
                <a:solidFill>
                  <a:srgbClr val="C00000"/>
                </a:solidFill>
              </a:rPr>
              <a:t>em</a:t>
            </a:r>
            <a:endParaRPr lang="zh-CN" altLang="en-US" sz="3200" i="1" baseline="-25000" smtClean="0">
              <a:solidFill>
                <a:srgbClr val="C00000"/>
              </a:solidFill>
            </a:endParaRPr>
          </a:p>
        </p:txBody>
      </p:sp>
      <p:graphicFrame>
        <p:nvGraphicFramePr>
          <p:cNvPr id="19458" name="Object 6"/>
          <p:cNvGraphicFramePr>
            <a:graphicFrameLocks noChangeAspect="1"/>
          </p:cNvGraphicFramePr>
          <p:nvPr/>
        </p:nvGraphicFramePr>
        <p:xfrm>
          <a:off x="1409700" y="1773238"/>
          <a:ext cx="36671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5" imgW="1777680" imgH="419040" progId="Equation.DSMT4">
                  <p:embed/>
                </p:oleObj>
              </mc:Choice>
              <mc:Fallback>
                <p:oleObj name="Equation" r:id="rId5" imgW="1777680" imgH="41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1773238"/>
                        <a:ext cx="36671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/>
          <p:cNvCxnSpPr/>
          <p:nvPr/>
        </p:nvCxnSpPr>
        <p:spPr>
          <a:xfrm flipV="1">
            <a:off x="3708400" y="1916113"/>
            <a:ext cx="215900" cy="6492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4356100" y="1989138"/>
            <a:ext cx="215900" cy="6477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4787900" y="1989138"/>
            <a:ext cx="215900" cy="6477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485" name="TextBox 4"/>
          <p:cNvSpPr txBox="1">
            <a:spLocks noChangeArrowheads="1"/>
          </p:cNvSpPr>
          <p:nvPr/>
        </p:nvSpPr>
        <p:spPr bwMode="auto">
          <a:xfrm>
            <a:off x="2124075" y="1196975"/>
            <a:ext cx="44640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</a:rPr>
              <a:t>Vector Effective Length</a:t>
            </a:r>
            <a:endParaRPr lang="zh-CN" altLang="en-US" sz="3200">
              <a:solidFill>
                <a:srgbClr val="FF0000"/>
              </a:solidFill>
            </a:endParaRPr>
          </a:p>
        </p:txBody>
      </p:sp>
      <p:pic>
        <p:nvPicPr>
          <p:cNvPr id="20486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088" y="4508500"/>
            <a:ext cx="2811462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4213" y="1916113"/>
            <a:ext cx="2798762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8" name="矩形 7"/>
          <p:cNvSpPr>
            <a:spLocks noChangeArrowheads="1"/>
          </p:cNvSpPr>
          <p:nvPr/>
        </p:nvSpPr>
        <p:spPr bwMode="auto">
          <a:xfrm>
            <a:off x="4140200" y="2316163"/>
            <a:ext cx="489585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2400"/>
              <a:t>            :the length of a thin straight conductor oriented </a:t>
            </a:r>
            <a:r>
              <a:rPr lang="en-US" altLang="zh-CN" sz="2400">
                <a:solidFill>
                  <a:srgbClr val="FF0000"/>
                </a:solidFill>
              </a:rPr>
              <a:t>perpendicular</a:t>
            </a:r>
            <a:r>
              <a:rPr lang="en-US" altLang="zh-CN" sz="2400"/>
              <a:t> to the given direction 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altLang="zh-CN" sz="2400" i="1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l-GR" altLang="zh-CN" sz="2400" i="1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CN" sz="2400"/>
              <a:t>and </a:t>
            </a:r>
            <a:r>
              <a:rPr lang="en-US" altLang="zh-CN" sz="2400">
                <a:solidFill>
                  <a:srgbClr val="FF0000"/>
                </a:solidFill>
              </a:rPr>
              <a:t>parallel</a:t>
            </a:r>
            <a:r>
              <a:rPr lang="en-US" altLang="zh-CN" sz="2400"/>
              <a:t> to the antenna polarization, having a </a:t>
            </a:r>
            <a:r>
              <a:rPr lang="en-US" altLang="zh-CN" sz="2400">
                <a:solidFill>
                  <a:srgbClr val="FF0000"/>
                </a:solidFill>
              </a:rPr>
              <a:t>uniform current </a:t>
            </a:r>
            <a:r>
              <a:rPr lang="en-US" altLang="zh-CN" sz="2400"/>
              <a:t>equal to that at the antenna terminals and producing the </a:t>
            </a:r>
            <a:r>
              <a:rPr lang="en-US" altLang="zh-CN" sz="2400">
                <a:solidFill>
                  <a:srgbClr val="FF0000"/>
                </a:solidFill>
              </a:rPr>
              <a:t>same</a:t>
            </a:r>
            <a:r>
              <a:rPr lang="en-US" altLang="zh-CN" sz="2400"/>
              <a:t> far-field strength as the antenna in that direction.</a:t>
            </a:r>
            <a:endParaRPr lang="zh-CN" altLang="en-US" sz="2400"/>
          </a:p>
        </p:txBody>
      </p:sp>
      <p:cxnSp>
        <p:nvCxnSpPr>
          <p:cNvPr id="9" name="直接连接符 8"/>
          <p:cNvCxnSpPr/>
          <p:nvPr/>
        </p:nvCxnSpPr>
        <p:spPr>
          <a:xfrm>
            <a:off x="3348038" y="2276475"/>
            <a:ext cx="215900" cy="230505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0482" name="Object 6"/>
          <p:cNvGraphicFramePr>
            <a:graphicFrameLocks noChangeAspect="1"/>
          </p:cNvGraphicFramePr>
          <p:nvPr/>
        </p:nvGraphicFramePr>
        <p:xfrm>
          <a:off x="4211638" y="2370138"/>
          <a:ext cx="8207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6" imgW="482400" imgH="228600" progId="Equation.DSMT4">
                  <p:embed/>
                </p:oleObj>
              </mc:Choice>
              <mc:Fallback>
                <p:oleObj name="Equation" r:id="rId6" imgW="4824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370138"/>
                        <a:ext cx="82073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>
            <a:lum contrast="30000"/>
          </a:blip>
          <a:srcRect/>
          <a:stretch>
            <a:fillRect/>
          </a:stretch>
        </p:blipFill>
        <p:spPr bwMode="auto">
          <a:xfrm>
            <a:off x="1285875" y="1714500"/>
            <a:ext cx="6000750" cy="392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33" name="TextBox 4"/>
          <p:cNvSpPr txBox="1">
            <a:spLocks noChangeArrowheads="1"/>
          </p:cNvSpPr>
          <p:nvPr/>
        </p:nvSpPr>
        <p:spPr bwMode="auto">
          <a:xfrm>
            <a:off x="2124075" y="1196975"/>
            <a:ext cx="44640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</a:rPr>
              <a:t>Vector Effective Length</a:t>
            </a:r>
            <a:endParaRPr lang="zh-CN" alt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1506" name="Object 6"/>
          <p:cNvGraphicFramePr>
            <a:graphicFrameLocks noChangeAspect="1"/>
          </p:cNvGraphicFramePr>
          <p:nvPr/>
        </p:nvGraphicFramePr>
        <p:xfrm>
          <a:off x="1476375" y="2205038"/>
          <a:ext cx="57054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4" imgW="2692080" imgH="419040" progId="Equation.DSMT4">
                  <p:embed/>
                </p:oleObj>
              </mc:Choice>
              <mc:Fallback>
                <p:oleObj name="Equation" r:id="rId4" imgW="2692080" imgH="41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205038"/>
                        <a:ext cx="5705475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7"/>
          <p:cNvGraphicFramePr>
            <a:graphicFrameLocks noChangeAspect="1"/>
          </p:cNvGraphicFramePr>
          <p:nvPr/>
        </p:nvGraphicFramePr>
        <p:xfrm>
          <a:off x="2965450" y="3402013"/>
          <a:ext cx="24479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6" imgW="1155600" imgH="253800" progId="Equation.DSMT4">
                  <p:embed/>
                </p:oleObj>
              </mc:Choice>
              <mc:Fallback>
                <p:oleObj name="Equation" r:id="rId6" imgW="1155600" imgH="253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3402013"/>
                        <a:ext cx="2447925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Box 6"/>
          <p:cNvSpPr txBox="1">
            <a:spLocks noChangeArrowheads="1"/>
          </p:cNvSpPr>
          <p:nvPr/>
        </p:nvSpPr>
        <p:spPr bwMode="auto">
          <a:xfrm>
            <a:off x="0" y="1052513"/>
            <a:ext cx="91440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000"/>
              <a:t>Vector effective length is calculated at </a:t>
            </a:r>
            <a:r>
              <a:rPr lang="en-US" altLang="zh-CN" sz="3000" b="1">
                <a:solidFill>
                  <a:srgbClr val="FF0000"/>
                </a:solidFill>
              </a:rPr>
              <a:t>transmitting mode</a:t>
            </a:r>
            <a:endParaRPr lang="zh-CN" altLang="en-US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>
            <a:lum contrast="30000"/>
          </a:blip>
          <a:srcRect/>
          <a:stretch>
            <a:fillRect/>
          </a:stretch>
        </p:blipFill>
        <p:spPr bwMode="auto">
          <a:xfrm>
            <a:off x="571500" y="1643063"/>
            <a:ext cx="80010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>
            <a:lum contrast="30000"/>
          </a:blip>
          <a:srcRect/>
          <a:stretch>
            <a:fillRect/>
          </a:stretch>
        </p:blipFill>
        <p:spPr bwMode="auto">
          <a:xfrm>
            <a:off x="1000125" y="1714500"/>
            <a:ext cx="7072313" cy="478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1785938"/>
            <a:ext cx="65341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000125" y="1714500"/>
            <a:ext cx="66960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457200" y="11588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Far-field Radiation Characteristics of an Infinitesimal Dipole – Summary</a:t>
            </a:r>
            <a:br>
              <a:rPr lang="en-US" altLang="zh-CN" sz="3200" smtClean="0">
                <a:solidFill>
                  <a:srgbClr val="C00000"/>
                </a:solidFill>
              </a:rPr>
            </a:br>
            <a:endParaRPr lang="zh-CN" altLang="en-US" sz="2400" smtClean="0">
              <a:solidFill>
                <a:srgbClr val="C00000"/>
              </a:solidFill>
            </a:endParaRPr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Infinitesimal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253" name="TextBox 5"/>
          <p:cNvSpPr txBox="1">
            <a:spLocks noChangeArrowheads="1"/>
          </p:cNvSpPr>
          <p:nvPr/>
        </p:nvSpPr>
        <p:spPr bwMode="auto">
          <a:xfrm>
            <a:off x="2700338" y="2852738"/>
            <a:ext cx="3341687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514350" indent="-514350">
              <a:buFont typeface="Wingdings" pitchFamily="2" charset="2"/>
              <a:buChar char="n"/>
            </a:pP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3200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=sin</a:t>
            </a:r>
            <a:r>
              <a:rPr lang="en-US" altLang="zh-CN" sz="32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32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</a:t>
            </a:r>
          </a:p>
          <a:p>
            <a:pPr marL="514350" indent="-514350">
              <a:buFont typeface="Wingdings" pitchFamily="2" charset="2"/>
              <a:buChar char="n"/>
            </a:pP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3200" i="1" baseline="-250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=80</a:t>
            </a:r>
            <a:r>
              <a:rPr lang="el-GR" altLang="zh-CN" sz="3200" i="1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altLang="zh-CN" sz="32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32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</a:t>
            </a:r>
            <a:r>
              <a:rPr lang="el-GR" altLang="zh-CN" sz="32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λ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r>
              <a:rPr lang="en-US" altLang="zh-CN" sz="3200" baseline="30000">
                <a:latin typeface="Times New Roman" pitchFamily="18" charset="0"/>
                <a:cs typeface="Times New Roman" pitchFamily="18" charset="0"/>
              </a:rPr>
              <a:t>2</a:t>
            </a:r>
            <a:endParaRPr lang="en-US" altLang="zh-CN" sz="32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514350" indent="-514350">
              <a:buFont typeface="Wingdings" pitchFamily="2" charset="2"/>
              <a:buChar char="n"/>
            </a:pP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3200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=1.5=1.76dB</a:t>
            </a:r>
          </a:p>
          <a:p>
            <a:pPr marL="514350" indent="-514350">
              <a:buFont typeface="Wingdings" pitchFamily="2" charset="2"/>
              <a:buChar char="n"/>
            </a:pP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3200" i="1" baseline="-25000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=0.119</a:t>
            </a:r>
            <a:r>
              <a:rPr lang="el-GR" altLang="zh-CN" sz="32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l-GR" altLang="zh-CN" sz="32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λ</a:t>
            </a:r>
            <a:r>
              <a:rPr lang="en-US" altLang="zh-CN" sz="3200" baseline="30000">
                <a:latin typeface="Times New Roman" pitchFamily="18" charset="0"/>
                <a:cs typeface="Times New Roman" pitchFamily="18" charset="0"/>
              </a:rPr>
              <a:t>2</a:t>
            </a:r>
            <a:endParaRPr lang="en-US" altLang="zh-CN" sz="320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" pitchFamily="2" charset="2"/>
              <a:buChar char="n"/>
            </a:pP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3200" i="1" baseline="-2500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sz="3200" i="1">
                <a:latin typeface="Times New Roman" pitchFamily="18" charset="0"/>
                <a:cs typeface="Times New Roman" pitchFamily="18" charset="0"/>
              </a:rPr>
              <a:t>=l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en-US" altLang="zh-CN" sz="32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</a:t>
            </a:r>
            <a:endParaRPr lang="zh-CN" altLang="en-US" sz="3200" i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457200" y="10525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C00000"/>
                </a:solidFill>
              </a:rPr>
              <a:t>Dipole and Geometry </a:t>
            </a:r>
            <a:endParaRPr lang="zh-CN" altLang="en-US" smtClean="0">
              <a:solidFill>
                <a:srgbClr val="C00000"/>
              </a:solidFill>
            </a:endParaRPr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971550" y="2060575"/>
            <a:ext cx="7448550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Small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916238" y="3141663"/>
            <a:ext cx="719137" cy="647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916238" y="4941888"/>
            <a:ext cx="719137" cy="647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0" name="直接箭头连接符 9"/>
          <p:cNvCxnSpPr>
            <a:stCxn id="7" idx="2"/>
          </p:cNvCxnSpPr>
          <p:nvPr/>
        </p:nvCxnSpPr>
        <p:spPr>
          <a:xfrm flipH="1">
            <a:off x="1619250" y="3465513"/>
            <a:ext cx="1296988" cy="7556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8" idx="2"/>
          </p:cNvCxnSpPr>
          <p:nvPr/>
        </p:nvCxnSpPr>
        <p:spPr>
          <a:xfrm flipH="1" flipV="1">
            <a:off x="1619250" y="4292600"/>
            <a:ext cx="1296988" cy="9731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282" name="TextBox 13"/>
          <p:cNvSpPr txBox="1">
            <a:spLocks noChangeArrowheads="1"/>
          </p:cNvSpPr>
          <p:nvPr/>
        </p:nvSpPr>
        <p:spPr bwMode="auto">
          <a:xfrm>
            <a:off x="179388" y="3933825"/>
            <a:ext cx="165576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l&lt;&lt;lambda;</a:t>
            </a:r>
          </a:p>
          <a:p>
            <a:r>
              <a:rPr lang="en-US" altLang="zh-CN">
                <a:solidFill>
                  <a:srgbClr val="FF0000"/>
                </a:solidFill>
              </a:rPr>
              <a:t>No end plates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457200" y="87312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Current Distribution of Small Dipole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2" cstate="print">
            <a:lum contrast="30000"/>
          </a:blip>
          <a:srcRect/>
          <a:stretch>
            <a:fillRect/>
          </a:stretch>
        </p:blipFill>
        <p:spPr bwMode="auto">
          <a:xfrm>
            <a:off x="1428750" y="2241550"/>
            <a:ext cx="7072313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0" name="TextBox 3"/>
          <p:cNvSpPr txBox="1">
            <a:spLocks noChangeArrowheads="1"/>
          </p:cNvSpPr>
          <p:nvPr/>
        </p:nvSpPr>
        <p:spPr bwMode="auto">
          <a:xfrm>
            <a:off x="4000500" y="6143625"/>
            <a:ext cx="10652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Fig.4.4(b)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5530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Small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 b="31282"/>
          <a:stretch>
            <a:fillRect/>
          </a:stretch>
        </p:blipFill>
        <p:spPr bwMode="auto">
          <a:xfrm>
            <a:off x="1031875" y="2852738"/>
            <a:ext cx="6996113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Small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325" name="TextBox 4"/>
          <p:cNvSpPr txBox="1">
            <a:spLocks noChangeArrowheads="1"/>
          </p:cNvSpPr>
          <p:nvPr/>
        </p:nvSpPr>
        <p:spPr bwMode="auto">
          <a:xfrm>
            <a:off x="468313" y="1125538"/>
            <a:ext cx="813593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Since the current distribution of a small dipole is not uniform, the analysis of its radiation field is more complex than that of the infinitsimal dipole. Here, only the far field is considered.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857250" y="1785938"/>
            <a:ext cx="721995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Small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7349" name="TextBox 4"/>
          <p:cNvSpPr txBox="1">
            <a:spLocks noChangeArrowheads="1"/>
          </p:cNvSpPr>
          <p:nvPr/>
        </p:nvSpPr>
        <p:spPr bwMode="auto">
          <a:xfrm>
            <a:off x="2555875" y="1125538"/>
            <a:ext cx="36718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Radiation Resistance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785813" y="1714500"/>
            <a:ext cx="742950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Small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8373" name="TextBox 4"/>
          <p:cNvSpPr txBox="1">
            <a:spLocks noChangeArrowheads="1"/>
          </p:cNvSpPr>
          <p:nvPr/>
        </p:nvSpPr>
        <p:spPr bwMode="auto">
          <a:xfrm>
            <a:off x="1331913" y="1125538"/>
            <a:ext cx="6985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Directivity and maximum effective area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457200" y="11160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C00000"/>
                </a:solidFill>
              </a:rPr>
              <a:t>Dipole and Geometry</a:t>
            </a:r>
            <a:endParaRPr lang="zh-CN" altLang="en-US" smtClean="0">
              <a:solidFill>
                <a:srgbClr val="C00000"/>
              </a:solidFill>
            </a:endParaRP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013" y="2133600"/>
            <a:ext cx="7358062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6" name="TextBox 3"/>
          <p:cNvSpPr txBox="1">
            <a:spLocks noChangeArrowheads="1"/>
          </p:cNvSpPr>
          <p:nvPr/>
        </p:nvSpPr>
        <p:spPr bwMode="auto">
          <a:xfrm>
            <a:off x="3714750" y="6072188"/>
            <a:ext cx="10652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Fig.4.5(a)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5939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标题 1"/>
          <p:cNvSpPr>
            <a:spLocks noGrp="1"/>
          </p:cNvSpPr>
          <p:nvPr>
            <p:ph type="title"/>
          </p:nvPr>
        </p:nvSpPr>
        <p:spPr>
          <a:xfrm>
            <a:off x="457200" y="1133475"/>
            <a:ext cx="8229600" cy="639763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Ideal Current Distribution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530" name="Object 7"/>
          <p:cNvGraphicFramePr>
            <a:graphicFrameLocks noChangeAspect="1"/>
          </p:cNvGraphicFramePr>
          <p:nvPr/>
        </p:nvGraphicFramePr>
        <p:xfrm>
          <a:off x="3924300" y="2276475"/>
          <a:ext cx="4210050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4" imgW="2565360" imgH="965160" progId="Equation.DSMT4">
                  <p:embed/>
                </p:oleObj>
              </mc:Choice>
              <mc:Fallback>
                <p:oleObj name="Equation" r:id="rId4" imgW="2565360" imgH="9651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276475"/>
                        <a:ext cx="4210050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4" name="Picture 8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1188" y="2420938"/>
            <a:ext cx="3976687" cy="352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5" name="TextBox 10"/>
          <p:cNvSpPr txBox="1">
            <a:spLocks noChangeArrowheads="1"/>
          </p:cNvSpPr>
          <p:nvPr/>
        </p:nvSpPr>
        <p:spPr bwMode="auto">
          <a:xfrm>
            <a:off x="6875463" y="3860800"/>
            <a:ext cx="1225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(4-56)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57200" y="1089025"/>
            <a:ext cx="8229600" cy="5397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Vector Potential</a:t>
            </a:r>
            <a:endParaRPr lang="zh-CN" altLang="en-US" sz="32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3554" name="Object 5"/>
          <p:cNvGraphicFramePr>
            <a:graphicFrameLocks noChangeAspect="1"/>
          </p:cNvGraphicFramePr>
          <p:nvPr/>
        </p:nvGraphicFramePr>
        <p:xfrm>
          <a:off x="2124075" y="1773238"/>
          <a:ext cx="40322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4" imgW="1714320" imgH="469800" progId="Equation.DSMT4">
                  <p:embed/>
                </p:oleObj>
              </mc:Choice>
              <mc:Fallback>
                <p:oleObj name="Equation" r:id="rId4" imgW="171432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773238"/>
                        <a:ext cx="403225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8" name="Picture 2"/>
          <p:cNvPicPr>
            <a:picLocks noChangeAspect="1" noChangeArrowheads="1"/>
          </p:cNvPicPr>
          <p:nvPr/>
        </p:nvPicPr>
        <p:blipFill>
          <a:blip r:embed="rId6" cstate="print">
            <a:lum contrast="20000"/>
          </a:blip>
          <a:srcRect t="8278" b="33305"/>
          <a:stretch>
            <a:fillRect/>
          </a:stretch>
        </p:blipFill>
        <p:spPr bwMode="auto">
          <a:xfrm>
            <a:off x="1187450" y="4581525"/>
            <a:ext cx="5905500" cy="207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63713" y="2852738"/>
            <a:ext cx="53911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0" name="TextBox 8"/>
          <p:cNvSpPr txBox="1">
            <a:spLocks noChangeArrowheads="1"/>
          </p:cNvSpPr>
          <p:nvPr/>
        </p:nvSpPr>
        <p:spPr bwMode="auto">
          <a:xfrm>
            <a:off x="7019925" y="4586288"/>
            <a:ext cx="2052638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The calculation is a little complex, in the following, let us only consider the far-field region</a:t>
            </a:r>
            <a:endParaRPr lang="zh-CN" altLang="en-US"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85938" y="2714625"/>
            <a:ext cx="54483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1196975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 smtClean="0">
                <a:solidFill>
                  <a:srgbClr val="C00000"/>
                </a:solidFill>
              </a:rPr>
              <a:t>Finite Dipole Geometry &amp;Far-field Approximations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6144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73238"/>
            <a:ext cx="7358063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4" name="TextBox 3"/>
          <p:cNvSpPr txBox="1">
            <a:spLocks noChangeArrowheads="1"/>
          </p:cNvSpPr>
          <p:nvPr/>
        </p:nvSpPr>
        <p:spPr bwMode="auto">
          <a:xfrm>
            <a:off x="3714750" y="6072188"/>
            <a:ext cx="10652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Fig.4.5(b)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6144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1447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43663" y="2852738"/>
            <a:ext cx="2527300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标题 1"/>
          <p:cNvSpPr txBox="1">
            <a:spLocks/>
          </p:cNvSpPr>
          <p:nvPr/>
        </p:nvSpPr>
        <p:spPr bwMode="auto">
          <a:xfrm>
            <a:off x="6264275" y="2349500"/>
            <a:ext cx="287972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2000" dirty="0">
                <a:latin typeface="+mj-lt"/>
                <a:ea typeface="+mj-ea"/>
                <a:cs typeface="+mj-cs"/>
              </a:rPr>
              <a:t>Far-Field Approximation</a:t>
            </a:r>
            <a:endParaRPr lang="zh-CN" altLang="en-US" sz="20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2468" name="TextBox 5"/>
          <p:cNvSpPr txBox="1">
            <a:spLocks noChangeArrowheads="1"/>
          </p:cNvSpPr>
          <p:nvPr/>
        </p:nvSpPr>
        <p:spPr bwMode="auto">
          <a:xfrm>
            <a:off x="468313" y="1268413"/>
            <a:ext cx="82804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The whole finite dipole is divided into many segments, each segment is taken as an infinitesimal dipole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246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2275" y="1989138"/>
            <a:ext cx="661035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0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005263"/>
            <a:ext cx="3021013" cy="253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349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1341438"/>
            <a:ext cx="66675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3" name="TextBox 6"/>
          <p:cNvSpPr txBox="1">
            <a:spLocks noChangeArrowheads="1"/>
          </p:cNvSpPr>
          <p:nvPr/>
        </p:nvSpPr>
        <p:spPr bwMode="auto">
          <a:xfrm>
            <a:off x="827088" y="6165850"/>
            <a:ext cx="76327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The finite dipole is taken as an array of infinitesimal dipoles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标题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Ideal Sinusoidal Current Distribution</a:t>
            </a:r>
            <a:endParaRPr lang="zh-CN" altLang="en-US" sz="3600" smtClean="0">
              <a:solidFill>
                <a:srgbClr val="C00000"/>
              </a:solidFill>
            </a:endParaRPr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4578" name="Object 5"/>
          <p:cNvGraphicFramePr>
            <a:graphicFrameLocks noChangeAspect="1"/>
          </p:cNvGraphicFramePr>
          <p:nvPr/>
        </p:nvGraphicFramePr>
        <p:xfrm>
          <a:off x="1187450" y="2349500"/>
          <a:ext cx="6505575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4" imgW="2565360" imgH="965160" progId="Equation.DSMT4">
                  <p:embed/>
                </p:oleObj>
              </mc:Choice>
              <mc:Fallback>
                <p:oleObj name="Equation" r:id="rId4" imgW="2565360" imgH="9651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349500"/>
                        <a:ext cx="6505575" cy="244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571500" y="1714500"/>
            <a:ext cx="7572375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476375" y="1844675"/>
            <a:ext cx="65722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1547813" y="1196975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Radiated Far-Field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2027238"/>
            <a:ext cx="6929438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65" name="TextBox 4"/>
          <p:cNvSpPr txBox="1">
            <a:spLocks noChangeArrowheads="1"/>
          </p:cNvSpPr>
          <p:nvPr/>
        </p:nvSpPr>
        <p:spPr bwMode="auto">
          <a:xfrm>
            <a:off x="1692275" y="1549400"/>
            <a:ext cx="50403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Far-Field Power Density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66" name="TextBox 5"/>
          <p:cNvSpPr txBox="1">
            <a:spLocks noChangeArrowheads="1"/>
          </p:cNvSpPr>
          <p:nvPr/>
        </p:nvSpPr>
        <p:spPr bwMode="auto">
          <a:xfrm>
            <a:off x="1763713" y="1052513"/>
            <a:ext cx="56880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Far Field Parameters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63713" y="1773238"/>
            <a:ext cx="6591300" cy="464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7589" name="TextBox 4"/>
          <p:cNvSpPr txBox="1">
            <a:spLocks noChangeArrowheads="1"/>
          </p:cNvSpPr>
          <p:nvPr/>
        </p:nvSpPr>
        <p:spPr bwMode="auto">
          <a:xfrm>
            <a:off x="1908175" y="1196975"/>
            <a:ext cx="50403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Far-Field Radiation Intensity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643063" y="1916113"/>
            <a:ext cx="6076950" cy="458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1785938"/>
            <a:ext cx="643890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9637" name="TextBox 4"/>
          <p:cNvSpPr txBox="1">
            <a:spLocks noChangeArrowheads="1"/>
          </p:cNvSpPr>
          <p:nvPr/>
        </p:nvSpPr>
        <p:spPr bwMode="auto">
          <a:xfrm>
            <a:off x="1763713" y="1125538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Radiation Pattern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963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9700" y="2420938"/>
            <a:ext cx="2771775" cy="276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83200" y="5445125"/>
            <a:ext cx="38608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413" y="6096000"/>
            <a:ext cx="4067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59" name="TextBox 3"/>
          <p:cNvSpPr txBox="1">
            <a:spLocks noChangeArrowheads="1"/>
          </p:cNvSpPr>
          <p:nvPr/>
        </p:nvSpPr>
        <p:spPr bwMode="auto">
          <a:xfrm>
            <a:off x="6372225" y="4221163"/>
            <a:ext cx="10652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Fig.4.7(a)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5513" y="2349500"/>
            <a:ext cx="43211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0663" name="TextBox 6"/>
          <p:cNvSpPr txBox="1">
            <a:spLocks noChangeArrowheads="1"/>
          </p:cNvSpPr>
          <p:nvPr/>
        </p:nvSpPr>
        <p:spPr bwMode="auto">
          <a:xfrm>
            <a:off x="1763713" y="1125538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Radiation Pattern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664" name="矩形 7"/>
          <p:cNvSpPr>
            <a:spLocks noChangeArrowheads="1"/>
          </p:cNvSpPr>
          <p:nvPr/>
        </p:nvSpPr>
        <p:spPr bwMode="auto">
          <a:xfrm>
            <a:off x="250825" y="1700213"/>
            <a:ext cx="849788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As the length of the dipole increases beyond one wavelength (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zh-CN"/>
              <a:t>), the number of lobes begin to increase.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88" y="2286000"/>
            <a:ext cx="5429250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/>
          <a:stretch>
            <a:fillRect/>
          </a:stretch>
        </p:blipFill>
        <p:spPr bwMode="auto">
          <a:xfrm>
            <a:off x="2286000" y="1857375"/>
            <a:ext cx="50006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4" name="TextBox 3"/>
          <p:cNvSpPr txBox="1">
            <a:spLocks noChangeArrowheads="1"/>
          </p:cNvSpPr>
          <p:nvPr/>
        </p:nvSpPr>
        <p:spPr bwMode="auto">
          <a:xfrm>
            <a:off x="6786563" y="6143625"/>
            <a:ext cx="10652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Fig.4.7(b)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7168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1785938"/>
            <a:ext cx="6500813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709" name="TextBox 4"/>
          <p:cNvSpPr txBox="1">
            <a:spLocks noChangeArrowheads="1"/>
          </p:cNvSpPr>
          <p:nvPr/>
        </p:nvSpPr>
        <p:spPr bwMode="auto">
          <a:xfrm>
            <a:off x="1763713" y="1125538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Radiated Power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143000" y="1785938"/>
            <a:ext cx="6810375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3733" name="TextBox 4"/>
          <p:cNvSpPr txBox="1">
            <a:spLocks noChangeArrowheads="1"/>
          </p:cNvSpPr>
          <p:nvPr/>
        </p:nvSpPr>
        <p:spPr bwMode="auto">
          <a:xfrm>
            <a:off x="1763713" y="1125538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Radiated Power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042988" y="2905125"/>
            <a:ext cx="676275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4757" name="TextBox 4"/>
          <p:cNvSpPr txBox="1">
            <a:spLocks noChangeArrowheads="1"/>
          </p:cNvSpPr>
          <p:nvPr/>
        </p:nvSpPr>
        <p:spPr bwMode="auto">
          <a:xfrm>
            <a:off x="1763713" y="1125538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Radiation Resistance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758" name="TextBox 5"/>
          <p:cNvSpPr txBox="1">
            <a:spLocks noChangeArrowheads="1"/>
          </p:cNvSpPr>
          <p:nvPr/>
        </p:nvSpPr>
        <p:spPr bwMode="auto">
          <a:xfrm>
            <a:off x="7740650" y="5013325"/>
            <a:ext cx="11525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Can not be derived form </a:t>
            </a:r>
            <a:r>
              <a:rPr lang="en-US" altLang="zh-CN" sz="20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000" baseline="-25000">
                <a:latin typeface="Times New Roman" pitchFamily="18" charset="0"/>
                <a:cs typeface="Times New Roman" pitchFamily="18" charset="0"/>
              </a:rPr>
              <a:t>rad</a:t>
            </a:r>
            <a:endParaRPr lang="zh-CN" altLang="en-US" sz="2000" baseline="-25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4759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9F9F8"/>
              </a:clrFrom>
              <a:clrTo>
                <a:srgbClr val="F9F9F8">
                  <a:alpha val="0"/>
                </a:srgbClr>
              </a:clrTo>
            </a:clrChange>
            <a:lum contrast="20000"/>
          </a:blip>
          <a:srcRect/>
          <a:stretch>
            <a:fillRect/>
          </a:stretch>
        </p:blipFill>
        <p:spPr bwMode="auto">
          <a:xfrm>
            <a:off x="3059113" y="1700213"/>
            <a:ext cx="2376487" cy="177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60" name="TextBox 7"/>
          <p:cNvSpPr txBox="1">
            <a:spLocks noChangeArrowheads="1"/>
          </p:cNvSpPr>
          <p:nvPr/>
        </p:nvSpPr>
        <p:spPr bwMode="auto">
          <a:xfrm>
            <a:off x="395288" y="5084763"/>
            <a:ext cx="12969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i="1" baseline="-2500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=R</a:t>
            </a:r>
            <a:r>
              <a:rPr lang="en-US" altLang="zh-CN" i="1" baseline="-250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+jX</a:t>
            </a:r>
            <a:r>
              <a:rPr lang="en-US" altLang="zh-CN" i="1" baseline="-25000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i="1" baseline="-25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071563" y="1714500"/>
            <a:ext cx="6929437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5781" name="TextBox 4"/>
          <p:cNvSpPr txBox="1">
            <a:spLocks noChangeArrowheads="1"/>
          </p:cNvSpPr>
          <p:nvPr/>
        </p:nvSpPr>
        <p:spPr bwMode="auto">
          <a:xfrm>
            <a:off x="684213" y="1268413"/>
            <a:ext cx="56880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400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4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CN" sz="2400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400" i="1" baseline="-2500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are cosine and sine integrals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 t="9747"/>
          <a:stretch>
            <a:fillRect/>
          </a:stretch>
        </p:blipFill>
        <p:spPr bwMode="auto">
          <a:xfrm>
            <a:off x="642938" y="2060575"/>
            <a:ext cx="7500937" cy="386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6805" name="TextBox 4"/>
          <p:cNvSpPr txBox="1">
            <a:spLocks noChangeArrowheads="1"/>
          </p:cNvSpPr>
          <p:nvPr/>
        </p:nvSpPr>
        <p:spPr bwMode="auto">
          <a:xfrm>
            <a:off x="1763713" y="1125538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Directivity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214438" y="1714500"/>
            <a:ext cx="6486525" cy="421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7829" name="TextBox 4"/>
          <p:cNvSpPr txBox="1">
            <a:spLocks noChangeArrowheads="1"/>
          </p:cNvSpPr>
          <p:nvPr/>
        </p:nvSpPr>
        <p:spPr bwMode="auto">
          <a:xfrm>
            <a:off x="1763713" y="1125538"/>
            <a:ext cx="5040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Directivity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395288" y="8366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Directivity and Radiation /Input Resistance 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7885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438" y="1700213"/>
            <a:ext cx="833437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5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8854" name="TextBox 6"/>
          <p:cNvSpPr txBox="1">
            <a:spLocks noChangeArrowheads="1"/>
          </p:cNvSpPr>
          <p:nvPr/>
        </p:nvSpPr>
        <p:spPr bwMode="auto">
          <a:xfrm>
            <a:off x="2700338" y="5084763"/>
            <a:ext cx="11080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resonance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928688" y="1857375"/>
            <a:ext cx="6843712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643063" y="1928813"/>
            <a:ext cx="6762750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>
          <a:xfrm>
            <a:off x="468313" y="10525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Ideal Sinusoidal Current Distribution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81923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85938" y="2143125"/>
            <a:ext cx="609917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>
          <a:xfrm>
            <a:off x="468313" y="8366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Current Distributions Along the Length of a Linear Wire Antenna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sp>
        <p:nvSpPr>
          <p:cNvPr id="82947" name="TextBox 3"/>
          <p:cNvSpPr txBox="1">
            <a:spLocks noChangeArrowheads="1"/>
          </p:cNvSpPr>
          <p:nvPr/>
        </p:nvSpPr>
        <p:spPr bwMode="auto">
          <a:xfrm>
            <a:off x="6786563" y="6072188"/>
            <a:ext cx="8016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Fig.4.8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8294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295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8438" y="1844675"/>
            <a:ext cx="3705225" cy="490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>
          <a:xfrm>
            <a:off x="3924300" y="2708275"/>
            <a:ext cx="4895850" cy="1143000"/>
          </a:xfrm>
        </p:spPr>
        <p:txBody>
          <a:bodyPr/>
          <a:lstStyle/>
          <a:p>
            <a:pPr algn="just" eaLnBrk="1" hangingPunct="1"/>
            <a:r>
              <a:rPr lang="en-US" altLang="zh-CN" sz="2400" smtClean="0"/>
              <a:t>Current Distribution of a Linear Wire Antenna When Current Maximum</a:t>
            </a:r>
            <a:br>
              <a:rPr lang="en-US" altLang="zh-CN" sz="2400" smtClean="0"/>
            </a:br>
            <a:r>
              <a:rPr lang="en-US" altLang="zh-CN" sz="2400" smtClean="0"/>
              <a:t>Does not Occur at the Input Terminals</a:t>
            </a:r>
            <a:endParaRPr lang="zh-CN" altLang="en-US" sz="2400" smtClean="0"/>
          </a:p>
        </p:txBody>
      </p:sp>
      <p:sp>
        <p:nvSpPr>
          <p:cNvPr id="83971" name="TextBox 3"/>
          <p:cNvSpPr txBox="1">
            <a:spLocks noChangeArrowheads="1"/>
          </p:cNvSpPr>
          <p:nvPr/>
        </p:nvSpPr>
        <p:spPr bwMode="auto">
          <a:xfrm>
            <a:off x="4000500" y="6286500"/>
            <a:ext cx="9191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Fig.4.10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3974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412875"/>
            <a:ext cx="403225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250" y="1844675"/>
            <a:ext cx="5743575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7" name="TextBox 5"/>
          <p:cNvSpPr txBox="1">
            <a:spLocks noChangeArrowheads="1"/>
          </p:cNvSpPr>
          <p:nvPr/>
        </p:nvSpPr>
        <p:spPr bwMode="auto">
          <a:xfrm>
            <a:off x="2195513" y="1125538"/>
            <a:ext cx="44640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Input Impedance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143000" y="1857375"/>
            <a:ext cx="70008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021" name="TextBox 4"/>
          <p:cNvSpPr txBox="1">
            <a:spLocks noChangeArrowheads="1"/>
          </p:cNvSpPr>
          <p:nvPr/>
        </p:nvSpPr>
        <p:spPr bwMode="auto">
          <a:xfrm>
            <a:off x="2195513" y="1125538"/>
            <a:ext cx="44640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Input Impedance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857250" y="1714500"/>
            <a:ext cx="7181850" cy="421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8068" name="TextBox 4"/>
          <p:cNvSpPr txBox="1">
            <a:spLocks noChangeArrowheads="1"/>
          </p:cNvSpPr>
          <p:nvPr/>
        </p:nvSpPr>
        <p:spPr bwMode="auto">
          <a:xfrm>
            <a:off x="900113" y="1412875"/>
            <a:ext cx="77755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Nonideal current distribution of Finite Dipole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069" name="TextBox 5"/>
          <p:cNvSpPr txBox="1">
            <a:spLocks noChangeArrowheads="1"/>
          </p:cNvSpPr>
          <p:nvPr/>
        </p:nvSpPr>
        <p:spPr bwMode="auto">
          <a:xfrm>
            <a:off x="1042988" y="2420938"/>
            <a:ext cx="7345362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Not sine distribution due to radiation*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Finite Feed Gap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Accurate calculation of current need numerical methods, such Moment Method (MoM), Finite Element Method (FEM), and Finite Difference Time Domain Method (FDTD).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755650" y="1484313"/>
            <a:ext cx="7358063" cy="464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827088" y="1341438"/>
            <a:ext cx="714375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Finite 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2214563"/>
            <a:ext cx="54197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/>
          <a:stretch>
            <a:fillRect/>
          </a:stretch>
        </p:blipFill>
        <p:spPr bwMode="auto">
          <a:xfrm>
            <a:off x="684213" y="3213100"/>
            <a:ext cx="508635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2165" name="Picture 2"/>
          <p:cNvPicPr>
            <a:picLocks noChangeAspect="1" noChangeArrowheads="1"/>
          </p:cNvPicPr>
          <p:nvPr/>
        </p:nvPicPr>
        <p:blipFill>
          <a:blip r:embed="rId5" cstate="print">
            <a:lum contrast="20000"/>
          </a:blip>
          <a:srcRect b="63345"/>
          <a:stretch>
            <a:fillRect/>
          </a:stretch>
        </p:blipFill>
        <p:spPr bwMode="auto">
          <a:xfrm>
            <a:off x="900113" y="1557338"/>
            <a:ext cx="6572250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6" name="TextBox 5"/>
          <p:cNvSpPr txBox="1">
            <a:spLocks noChangeArrowheads="1"/>
          </p:cNvSpPr>
          <p:nvPr/>
        </p:nvSpPr>
        <p:spPr bwMode="auto">
          <a:xfrm>
            <a:off x="5435600" y="3284538"/>
            <a:ext cx="936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kl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altLang="zh-CN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endParaRPr lang="zh-CN" altLang="en-US" sz="24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67" name="TextBox 6"/>
          <p:cNvSpPr txBox="1">
            <a:spLocks noChangeArrowheads="1"/>
          </p:cNvSpPr>
          <p:nvPr/>
        </p:nvSpPr>
        <p:spPr bwMode="auto">
          <a:xfrm>
            <a:off x="5651500" y="5661025"/>
            <a:ext cx="16573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TEM Wave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68" name="TextBox 7"/>
          <p:cNvSpPr txBox="1">
            <a:spLocks noChangeArrowheads="1"/>
          </p:cNvSpPr>
          <p:nvPr/>
        </p:nvSpPr>
        <p:spPr bwMode="auto">
          <a:xfrm>
            <a:off x="827088" y="1125538"/>
            <a:ext cx="77771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Radiated Far-Field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285875" y="1714500"/>
            <a:ext cx="6638925" cy="426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1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3189" name="TextBox 4"/>
          <p:cNvSpPr txBox="1">
            <a:spLocks noChangeArrowheads="1"/>
          </p:cNvSpPr>
          <p:nvPr/>
        </p:nvSpPr>
        <p:spPr bwMode="auto">
          <a:xfrm>
            <a:off x="827088" y="1125538"/>
            <a:ext cx="77771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 Density and Radiation Intensity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071563" y="1785938"/>
            <a:ext cx="7072312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4213" name="TextBox 4"/>
          <p:cNvSpPr txBox="1">
            <a:spLocks noChangeArrowheads="1"/>
          </p:cNvSpPr>
          <p:nvPr/>
        </p:nvSpPr>
        <p:spPr bwMode="auto">
          <a:xfrm>
            <a:off x="827088" y="1125538"/>
            <a:ext cx="77771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Radiated Power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928688" y="1785938"/>
            <a:ext cx="7681912" cy="407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2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5237" name="TextBox 4"/>
          <p:cNvSpPr txBox="1">
            <a:spLocks noChangeArrowheads="1"/>
          </p:cNvSpPr>
          <p:nvPr/>
        </p:nvSpPr>
        <p:spPr bwMode="auto">
          <a:xfrm>
            <a:off x="827088" y="1125538"/>
            <a:ext cx="77771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Directivity and Radiation Resistance</a:t>
            </a:r>
            <a:endParaRPr lang="zh-CN" altLang="en-US" sz="32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357313" y="1857375"/>
            <a:ext cx="62293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/>
          <a:stretch>
            <a:fillRect/>
          </a:stretch>
        </p:blipFill>
        <p:spPr bwMode="auto">
          <a:xfrm>
            <a:off x="1857375" y="1928813"/>
            <a:ext cx="6553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1714500"/>
            <a:ext cx="51911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8307" name="Picture 3"/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/>
          <a:stretch>
            <a:fillRect/>
          </a:stretch>
        </p:blipFill>
        <p:spPr bwMode="auto">
          <a:xfrm>
            <a:off x="1785938" y="2428875"/>
            <a:ext cx="5643562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308" name="TextBox 4"/>
          <p:cNvSpPr txBox="1">
            <a:spLocks noChangeArrowheads="1"/>
          </p:cNvSpPr>
          <p:nvPr/>
        </p:nvSpPr>
        <p:spPr bwMode="auto">
          <a:xfrm>
            <a:off x="6643688" y="6143625"/>
            <a:ext cx="11699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Fig.2.13(a)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9830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>
          <a:xfrm>
            <a:off x="468313" y="9175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Three-Dimensional Directivity Pattern of a </a:t>
            </a:r>
            <a:r>
              <a:rPr lang="el-GR" altLang="zh-CN" sz="3200" smtClean="0">
                <a:solidFill>
                  <a:srgbClr val="C00000"/>
                </a:solidFill>
              </a:rPr>
              <a:t>λ</a:t>
            </a:r>
            <a:r>
              <a:rPr lang="en-US" altLang="zh-CN" sz="3200" smtClean="0">
                <a:solidFill>
                  <a:srgbClr val="C00000"/>
                </a:solidFill>
              </a:rPr>
              <a:t>/2 Dipole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99331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20000"/>
          </a:blip>
          <a:srcRect/>
          <a:stretch>
            <a:fillRect/>
          </a:stretch>
        </p:blipFill>
        <p:spPr bwMode="auto">
          <a:xfrm>
            <a:off x="1500188" y="2060575"/>
            <a:ext cx="5391150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2" name="TextBox 3"/>
          <p:cNvSpPr txBox="1">
            <a:spLocks noChangeArrowheads="1"/>
          </p:cNvSpPr>
          <p:nvPr/>
        </p:nvSpPr>
        <p:spPr bwMode="auto">
          <a:xfrm>
            <a:off x="6643688" y="6143625"/>
            <a:ext cx="11699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Fig.2.13(b)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9933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Half-Wavelength Dipole</a:t>
            </a:r>
            <a:endParaRPr lang="zh-CN" altLang="en-US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00188" y="1857375"/>
            <a:ext cx="591502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643063" y="1785938"/>
            <a:ext cx="7072312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331913" y="1557338"/>
            <a:ext cx="65722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5013" y="2571750"/>
            <a:ext cx="51339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2005013" y="2571750"/>
            <a:ext cx="51339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214438" y="1785938"/>
            <a:ext cx="66865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00188" y="1785938"/>
            <a:ext cx="64770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2143125" y="2286000"/>
            <a:ext cx="4791075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2"/>
          <p:cNvSpPr>
            <a:spLocks noGrp="1"/>
          </p:cNvSpPr>
          <p:nvPr>
            <p:ph type="title"/>
          </p:nvPr>
        </p:nvSpPr>
        <p:spPr>
          <a:xfrm>
            <a:off x="468313" y="8366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Actual and Equivalent Problems</a:t>
            </a:r>
            <a:endParaRPr lang="zh-CN" altLang="en-US" sz="3200" smtClean="0">
              <a:solidFill>
                <a:srgbClr val="C00000"/>
              </a:solidFill>
            </a:endParaRPr>
          </a:p>
        </p:txBody>
      </p:sp>
      <p:pic>
        <p:nvPicPr>
          <p:cNvPr id="1075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88" y="2000250"/>
            <a:ext cx="73533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75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38" y="2214563"/>
            <a:ext cx="6257925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47" name="TextBox 3"/>
          <p:cNvSpPr txBox="1">
            <a:spLocks noChangeArrowheads="1"/>
          </p:cNvSpPr>
          <p:nvPr/>
        </p:nvSpPr>
        <p:spPr bwMode="auto">
          <a:xfrm>
            <a:off x="3929063" y="6286500"/>
            <a:ext cx="11699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Fig.4.14(a)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08548" name="标题 4"/>
          <p:cNvSpPr>
            <a:spLocks noGrp="1"/>
          </p:cNvSpPr>
          <p:nvPr>
            <p:ph type="title"/>
          </p:nvPr>
        </p:nvSpPr>
        <p:spPr>
          <a:xfrm>
            <a:off x="468313" y="9810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C00000"/>
                </a:solidFill>
              </a:rPr>
              <a:t>Vertical Infinitesimal Dipole above Infinite Electric Conductor (PEC)</a:t>
            </a:r>
            <a:endParaRPr lang="zh-CN" altLang="en-US" sz="3200" smtClean="0"/>
          </a:p>
        </p:txBody>
      </p:sp>
      <p:pic>
        <p:nvPicPr>
          <p:cNvPr id="10854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71625" y="1714500"/>
            <a:ext cx="642937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468313" y="1052513"/>
            <a:ext cx="8229600" cy="7207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Radiated Far-Field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Box 2"/>
          <p:cNvSpPr txBox="1">
            <a:spLocks noChangeArrowheads="1"/>
          </p:cNvSpPr>
          <p:nvPr/>
        </p:nvSpPr>
        <p:spPr bwMode="auto">
          <a:xfrm>
            <a:off x="6227763" y="2349500"/>
            <a:ext cx="11699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Fig.4.14(b)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10595" name="标题 4"/>
          <p:cNvSpPr>
            <a:spLocks noGrp="1"/>
          </p:cNvSpPr>
          <p:nvPr>
            <p:ph type="title"/>
          </p:nvPr>
        </p:nvSpPr>
        <p:spPr>
          <a:xfrm>
            <a:off x="468313" y="10525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Vertical Electric Dipole above Infinite Electric Conductor(PEC)</a:t>
            </a:r>
            <a:endParaRPr lang="zh-CN" altLang="en-US" sz="3600" smtClean="0"/>
          </a:p>
        </p:txBody>
      </p:sp>
      <p:pic>
        <p:nvPicPr>
          <p:cNvPr id="11059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0598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989138"/>
            <a:ext cx="7386637" cy="427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599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47" t="74779" r="60922" b="3157"/>
          <a:stretch>
            <a:fillRect/>
          </a:stretch>
        </p:blipFill>
        <p:spPr bwMode="auto">
          <a:xfrm>
            <a:off x="6300788" y="4437063"/>
            <a:ext cx="2016125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600" name="Picture 2"/>
          <p:cNvPicPr>
            <a:picLocks noChangeAspect="1" noChangeArrowheads="1"/>
          </p:cNvPicPr>
          <p:nvPr/>
        </p:nvPicPr>
        <p:blipFill>
          <a:blip r:embed="rId5" cstate="print">
            <a:lum contrast="20000"/>
          </a:blip>
          <a:srcRect t="67645" r="25969"/>
          <a:stretch>
            <a:fillRect/>
          </a:stretch>
        </p:blipFill>
        <p:spPr bwMode="auto">
          <a:xfrm>
            <a:off x="5651500" y="5445125"/>
            <a:ext cx="3338513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00188" y="1928813"/>
            <a:ext cx="646747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357313" y="1857375"/>
            <a:ext cx="654367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468313" y="1052513"/>
            <a:ext cx="8229600" cy="7207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Radiated Far-Field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63" y="2143125"/>
            <a:ext cx="6500812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667" name="TextBox 2"/>
          <p:cNvSpPr txBox="1">
            <a:spLocks noChangeArrowheads="1"/>
          </p:cNvSpPr>
          <p:nvPr/>
        </p:nvSpPr>
        <p:spPr bwMode="auto">
          <a:xfrm>
            <a:off x="4214813" y="6215063"/>
            <a:ext cx="9191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Fig.4.15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1366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标题 4"/>
          <p:cNvSpPr txBox="1">
            <a:spLocks/>
          </p:cNvSpPr>
          <p:nvPr/>
        </p:nvSpPr>
        <p:spPr>
          <a:xfrm>
            <a:off x="468313" y="1052513"/>
            <a:ext cx="8229600" cy="7207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Radiation Pattern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75" y="2071688"/>
            <a:ext cx="6786563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691" name="TextBox 3"/>
          <p:cNvSpPr txBox="1">
            <a:spLocks noChangeArrowheads="1"/>
          </p:cNvSpPr>
          <p:nvPr/>
        </p:nvSpPr>
        <p:spPr bwMode="auto">
          <a:xfrm>
            <a:off x="4214813" y="6286500"/>
            <a:ext cx="9191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Fig.4.16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14692" name="标题 4"/>
          <p:cNvSpPr>
            <a:spLocks noGrp="1"/>
          </p:cNvSpPr>
          <p:nvPr>
            <p:ph type="title"/>
          </p:nvPr>
        </p:nvSpPr>
        <p:spPr>
          <a:xfrm>
            <a:off x="539750" y="9810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Scalloping of Amplitude Pattern of Vertical Dipole</a:t>
            </a:r>
            <a:endParaRPr lang="zh-CN" altLang="en-US" sz="3600" smtClean="0">
              <a:solidFill>
                <a:srgbClr val="C00000"/>
              </a:solidFill>
            </a:endParaRPr>
          </a:p>
        </p:txBody>
      </p:sp>
      <p:pic>
        <p:nvPicPr>
          <p:cNvPr id="11469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357313" y="1785938"/>
            <a:ext cx="6929437" cy="464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 b="42316"/>
          <a:stretch>
            <a:fillRect/>
          </a:stretch>
        </p:blipFill>
        <p:spPr bwMode="auto">
          <a:xfrm>
            <a:off x="1357313" y="1643063"/>
            <a:ext cx="6210300" cy="2433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468313" y="1052513"/>
            <a:ext cx="8229600" cy="7207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Radiated Power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132138" y="2852738"/>
            <a:ext cx="576262" cy="360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1763713" y="4221163"/>
          <a:ext cx="51943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5" imgW="1993680" imgH="469800" progId="Equation.DSMT4">
                  <p:embed/>
                </p:oleObj>
              </mc:Choice>
              <mc:Fallback>
                <p:oleObj name="Equation" r:id="rId5" imgW="1993680" imgH="46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221163"/>
                        <a:ext cx="5194300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8" name="Picture 2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9F9F8"/>
              </a:clrFrom>
              <a:clrTo>
                <a:srgbClr val="F9F9F8">
                  <a:alpha val="0"/>
                </a:srgbClr>
              </a:clrTo>
            </a:clrChange>
            <a:lum contrast="20000"/>
          </a:blip>
          <a:srcRect t="25620" b="44971"/>
          <a:stretch>
            <a:fillRect/>
          </a:stretch>
        </p:blipFill>
        <p:spPr bwMode="auto">
          <a:xfrm>
            <a:off x="1589088" y="5373688"/>
            <a:ext cx="6438900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428750" y="1714500"/>
            <a:ext cx="655320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468313" y="1052513"/>
            <a:ext cx="8229600" cy="7207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Radiation Intensity and Directivity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00188" y="2214563"/>
            <a:ext cx="645795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468313" y="1052513"/>
            <a:ext cx="8229600" cy="7207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Radiation Resistance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357313" y="1714500"/>
            <a:ext cx="64008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0" y="2857500"/>
            <a:ext cx="600075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788" name="TextBox 3"/>
          <p:cNvSpPr txBox="1">
            <a:spLocks noChangeArrowheads="1"/>
          </p:cNvSpPr>
          <p:nvPr/>
        </p:nvSpPr>
        <p:spPr bwMode="auto">
          <a:xfrm>
            <a:off x="7643813" y="6072188"/>
            <a:ext cx="9191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Fig.4.18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1878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8791" name="TextBox 8"/>
          <p:cNvSpPr txBox="1">
            <a:spLocks noChangeArrowheads="1"/>
          </p:cNvSpPr>
          <p:nvPr/>
        </p:nvSpPr>
        <p:spPr bwMode="auto">
          <a:xfrm>
            <a:off x="5795963" y="6484938"/>
            <a:ext cx="12969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altLang="zh-CN" sz="2000" i="1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/50</a:t>
            </a:r>
            <a:endParaRPr lang="zh-CN" altLang="en-US" sz="200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组合 17"/>
          <p:cNvGrpSpPr>
            <a:grpSpLocks/>
          </p:cNvGrpSpPr>
          <p:nvPr/>
        </p:nvGrpSpPr>
        <p:grpSpPr bwMode="auto">
          <a:xfrm>
            <a:off x="0" y="4005263"/>
            <a:ext cx="9324975" cy="1295400"/>
            <a:chOff x="0" y="4005064"/>
            <a:chExt cx="9324528" cy="1296144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84319" y="5301208"/>
              <a:ext cx="4032057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484319" y="5229729"/>
              <a:ext cx="4032057" cy="0"/>
            </a:xfrm>
            <a:prstGeom prst="line">
              <a:avLst/>
            </a:prstGeom>
            <a:ln>
              <a:prstDash val="sys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8795" name="TextBox 10"/>
            <p:cNvSpPr txBox="1">
              <a:spLocks noChangeArrowheads="1"/>
            </p:cNvSpPr>
            <p:nvPr/>
          </p:nvSpPr>
          <p:spPr bwMode="auto">
            <a:xfrm>
              <a:off x="6516216" y="4005064"/>
              <a:ext cx="2808312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000">
                  <a:latin typeface="Times New Roman" pitchFamily="18" charset="0"/>
                  <a:cs typeface="Times New Roman" pitchFamily="18" charset="0"/>
                </a:rPr>
                <a:t>Radiation resistance of isolated infinitesimal dipole</a:t>
              </a:r>
              <a:endParaRPr lang="zh-CN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6444941" y="4869160"/>
              <a:ext cx="792125" cy="36056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8797" name="TextBox 13"/>
            <p:cNvSpPr txBox="1">
              <a:spLocks noChangeArrowheads="1"/>
            </p:cNvSpPr>
            <p:nvPr/>
          </p:nvSpPr>
          <p:spPr bwMode="auto">
            <a:xfrm>
              <a:off x="0" y="4077072"/>
              <a:ext cx="2339752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000">
                  <a:latin typeface="Times New Roman" pitchFamily="18" charset="0"/>
                  <a:cs typeface="Times New Roman" pitchFamily="18" charset="0"/>
                </a:rPr>
                <a:t>Directivity of isolated infinitesimal dipole</a:t>
              </a:r>
              <a:endParaRPr lang="zh-CN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6" name="直接箭头连接符 15"/>
            <p:cNvCxnSpPr>
              <a:endCxn id="118797" idx="2"/>
            </p:cNvCxnSpPr>
            <p:nvPr/>
          </p:nvCxnSpPr>
          <p:spPr>
            <a:xfrm flipH="1" flipV="1">
              <a:off x="1169932" y="5093126"/>
              <a:ext cx="1385821" cy="20808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714375" y="1785938"/>
            <a:ext cx="785812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258888" y="1773238"/>
            <a:ext cx="6019800" cy="435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8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428750" y="1714500"/>
            <a:ext cx="54578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357438"/>
            <a:ext cx="6715125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860" name="TextBox 3"/>
          <p:cNvSpPr txBox="1">
            <a:spLocks noChangeArrowheads="1"/>
          </p:cNvSpPr>
          <p:nvPr/>
        </p:nvSpPr>
        <p:spPr bwMode="auto">
          <a:xfrm>
            <a:off x="3857625" y="6215063"/>
            <a:ext cx="11699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Fig.4.19(a)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2186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785813" y="1857375"/>
            <a:ext cx="7572375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8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3" cstate="print">
            <a:lum contrast="20000"/>
          </a:blip>
          <a:srcRect t="36090" b="20222"/>
          <a:stretch>
            <a:fillRect/>
          </a:stretch>
        </p:blipFill>
        <p:spPr bwMode="auto">
          <a:xfrm>
            <a:off x="1476375" y="4581525"/>
            <a:ext cx="6162675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630" name="TextBox 6"/>
          <p:cNvSpPr txBox="1">
            <a:spLocks noChangeArrowheads="1"/>
          </p:cNvSpPr>
          <p:nvPr/>
        </p:nvSpPr>
        <p:spPr bwMode="auto">
          <a:xfrm>
            <a:off x="1692275" y="1557338"/>
            <a:ext cx="554355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where the length of monopole and dipole are </a:t>
            </a:r>
            <a:r>
              <a:rPr lang="el-GR" altLang="zh-CN" sz="240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/4 and </a:t>
            </a:r>
            <a:r>
              <a:rPr lang="el-GR" altLang="zh-CN" sz="240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/2 respectively.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1" name="TextBox 7"/>
          <p:cNvSpPr txBox="1">
            <a:spLocks noChangeArrowheads="1"/>
          </p:cNvSpPr>
          <p:nvPr/>
        </p:nvSpPr>
        <p:spPr bwMode="auto">
          <a:xfrm>
            <a:off x="1908175" y="2492375"/>
            <a:ext cx="4248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aseline="-25000">
                <a:latin typeface="Times New Roman" pitchFamily="18" charset="0"/>
                <a:cs typeface="Times New Roman" pitchFamily="18" charset="0"/>
              </a:rPr>
              <a:t>rad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(monopole)=1/2P</a:t>
            </a:r>
            <a:r>
              <a:rPr lang="en-US" altLang="zh-CN" sz="2400" baseline="-25000">
                <a:latin typeface="Times New Roman" pitchFamily="18" charset="0"/>
                <a:cs typeface="Times New Roman" pitchFamily="18" charset="0"/>
              </a:rPr>
              <a:t>rad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(dipole)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标题 4"/>
          <p:cNvSpPr txBox="1">
            <a:spLocks/>
          </p:cNvSpPr>
          <p:nvPr/>
        </p:nvSpPr>
        <p:spPr>
          <a:xfrm>
            <a:off x="468313" y="1052513"/>
            <a:ext cx="8229600" cy="7207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3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Monopole vs. Dipole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6626" name="Object 4"/>
          <p:cNvGraphicFramePr>
            <a:graphicFrameLocks noChangeAspect="1"/>
          </p:cNvGraphicFramePr>
          <p:nvPr/>
        </p:nvGraphicFramePr>
        <p:xfrm>
          <a:off x="2771775" y="2997200"/>
          <a:ext cx="1789113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5" imgW="977760" imgH="838080" progId="Equation.DSMT4">
                  <p:embed/>
                </p:oleObj>
              </mc:Choice>
              <mc:Fallback>
                <p:oleObj name="Equation" r:id="rId5" imgW="977760" imgH="8380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997200"/>
                        <a:ext cx="1789113" cy="153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3" name="Picture 3"/>
          <p:cNvPicPr>
            <a:picLocks noChangeAspect="1" noChangeArrowheads="1"/>
          </p:cNvPicPr>
          <p:nvPr/>
        </p:nvPicPr>
        <p:blipFill>
          <a:blip r:embed="rId7" cstate="print">
            <a:lum contrast="20000"/>
          </a:blip>
          <a:srcRect t="38693"/>
          <a:stretch>
            <a:fillRect/>
          </a:stretch>
        </p:blipFill>
        <p:spPr bwMode="auto">
          <a:xfrm>
            <a:off x="1619250" y="6286500"/>
            <a:ext cx="248602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1785938"/>
            <a:ext cx="58864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1714500"/>
            <a:ext cx="65913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49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3063" y="2428875"/>
            <a:ext cx="5067300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4932" name="TextBox 3"/>
          <p:cNvSpPr txBox="1">
            <a:spLocks noChangeArrowheads="1"/>
          </p:cNvSpPr>
          <p:nvPr/>
        </p:nvSpPr>
        <p:spPr bwMode="auto">
          <a:xfrm>
            <a:off x="3643313" y="6357938"/>
            <a:ext cx="9191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Fig.4.22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2493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Antennas for Mobile Communication Systems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2519363" y="2352675"/>
            <a:ext cx="41052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75" y="1785938"/>
            <a:ext cx="6858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9" name="TextBox 2"/>
          <p:cNvSpPr txBox="1">
            <a:spLocks noChangeArrowheads="1"/>
          </p:cNvSpPr>
          <p:nvPr/>
        </p:nvSpPr>
        <p:spPr bwMode="auto">
          <a:xfrm>
            <a:off x="3929063" y="6286500"/>
            <a:ext cx="1143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Fig.4.24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2698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2000250"/>
            <a:ext cx="714375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003" name="TextBox 2"/>
          <p:cNvSpPr txBox="1">
            <a:spLocks noChangeArrowheads="1"/>
          </p:cNvSpPr>
          <p:nvPr/>
        </p:nvSpPr>
        <p:spPr bwMode="auto">
          <a:xfrm>
            <a:off x="3929063" y="6286500"/>
            <a:ext cx="1143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Fig.4.25(a)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2800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1890713"/>
            <a:ext cx="6858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7" name="TextBox 3"/>
          <p:cNvSpPr txBox="1">
            <a:spLocks noChangeArrowheads="1"/>
          </p:cNvSpPr>
          <p:nvPr/>
        </p:nvSpPr>
        <p:spPr bwMode="auto">
          <a:xfrm>
            <a:off x="3929063" y="6072188"/>
            <a:ext cx="1143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Fig.4.25(b)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2902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357313" y="1714500"/>
            <a:ext cx="62960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0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00188" y="1714500"/>
            <a:ext cx="661035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1824038"/>
            <a:ext cx="742950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2099" name="TextBox 2"/>
          <p:cNvSpPr txBox="1">
            <a:spLocks noChangeArrowheads="1"/>
          </p:cNvSpPr>
          <p:nvPr/>
        </p:nvSpPr>
        <p:spPr bwMode="auto">
          <a:xfrm>
            <a:off x="4143375" y="6215063"/>
            <a:ext cx="9191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Fig.4.26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3210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5" y="1928813"/>
            <a:ext cx="7786688" cy="435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23" name="TextBox 2"/>
          <p:cNvSpPr txBox="1">
            <a:spLocks noChangeArrowheads="1"/>
          </p:cNvSpPr>
          <p:nvPr/>
        </p:nvSpPr>
        <p:spPr bwMode="auto">
          <a:xfrm>
            <a:off x="4071938" y="6286500"/>
            <a:ext cx="9191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Fig.4.28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331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500188" y="1928813"/>
            <a:ext cx="6105525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4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88" y="1714500"/>
            <a:ext cx="7648575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5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428750" y="1857375"/>
            <a:ext cx="6581775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285875" y="1928813"/>
            <a:ext cx="681037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428750" y="1785938"/>
            <a:ext cx="665797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643063" y="1928813"/>
            <a:ext cx="65627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9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38" y="2071688"/>
            <a:ext cx="6786562" cy="450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0291" name="TextBox 3"/>
          <p:cNvSpPr txBox="1">
            <a:spLocks noChangeArrowheads="1"/>
          </p:cNvSpPr>
          <p:nvPr/>
        </p:nvSpPr>
        <p:spPr bwMode="auto">
          <a:xfrm>
            <a:off x="4071938" y="6488113"/>
            <a:ext cx="9191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Fig.4.29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40292" name="标题 4"/>
          <p:cNvSpPr>
            <a:spLocks noGrp="1"/>
          </p:cNvSpPr>
          <p:nvPr>
            <p:ph type="title"/>
          </p:nvPr>
        </p:nvSpPr>
        <p:spPr>
          <a:xfrm>
            <a:off x="468313" y="10525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Radiation Resistance and Directivity</a:t>
            </a:r>
            <a:endParaRPr lang="zh-CN" altLang="en-US" sz="3600" smtClean="0">
              <a:solidFill>
                <a:srgbClr val="C00000"/>
              </a:solidFill>
            </a:endParaRPr>
          </a:p>
        </p:txBody>
      </p:sp>
      <p:pic>
        <p:nvPicPr>
          <p:cNvPr id="14029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714500" y="1714500"/>
            <a:ext cx="50673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25" y="2357438"/>
            <a:ext cx="70008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1316" name="TextBox 3"/>
          <p:cNvSpPr txBox="1">
            <a:spLocks noChangeArrowheads="1"/>
          </p:cNvSpPr>
          <p:nvPr/>
        </p:nvSpPr>
        <p:spPr bwMode="auto">
          <a:xfrm>
            <a:off x="4071938" y="6488113"/>
            <a:ext cx="9191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Fig.4.30</a:t>
            </a:r>
            <a:endParaRPr lang="zh-CN" altLang="en-US">
              <a:latin typeface="Calibri" pitchFamily="34" charset="0"/>
            </a:endParaRPr>
          </a:p>
        </p:txBody>
      </p:sp>
      <p:pic>
        <p:nvPicPr>
          <p:cNvPr id="14131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2"/>
          <p:cNvSpPr>
            <a:spLocks noGrp="1"/>
          </p:cNvSpPr>
          <p:nvPr>
            <p:ph type="title"/>
          </p:nvPr>
        </p:nvSpPr>
        <p:spPr>
          <a:xfrm>
            <a:off x="468313" y="12684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Modeling of the Effect of Earth on Antenna Systems</a:t>
            </a:r>
            <a:endParaRPr lang="zh-CN" altLang="en-US" sz="3600" smtClean="0">
              <a:solidFill>
                <a:srgbClr val="C00000"/>
              </a:solidFill>
            </a:endParaRPr>
          </a:p>
        </p:txBody>
      </p:sp>
      <p:pic>
        <p:nvPicPr>
          <p:cNvPr id="142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286000"/>
            <a:ext cx="688657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234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标题 2"/>
          <p:cNvSpPr>
            <a:spLocks noGrp="1"/>
          </p:cNvSpPr>
          <p:nvPr>
            <p:ph type="title"/>
          </p:nvPr>
        </p:nvSpPr>
        <p:spPr>
          <a:xfrm>
            <a:off x="468313" y="9810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Effect of Imperfectly Conducting </a:t>
            </a:r>
            <a:r>
              <a:rPr lang="zh-CN" altLang="en-US" sz="3600" smtClean="0">
                <a:solidFill>
                  <a:srgbClr val="C00000"/>
                </a:solidFill>
              </a:rPr>
              <a:t>，</a:t>
            </a:r>
            <a:r>
              <a:rPr lang="en-US" altLang="zh-CN" sz="3600" smtClean="0">
                <a:solidFill>
                  <a:srgbClr val="C00000"/>
                </a:solidFill>
              </a:rPr>
              <a:t>Flat Earth</a:t>
            </a:r>
            <a:endParaRPr lang="zh-CN" altLang="en-US" sz="3600" smtClean="0"/>
          </a:p>
        </p:txBody>
      </p:sp>
      <p:pic>
        <p:nvPicPr>
          <p:cNvPr id="143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75" y="2143125"/>
            <a:ext cx="702945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6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2"/>
          <p:cNvSpPr>
            <a:spLocks noGrp="1"/>
          </p:cNvSpPr>
          <p:nvPr>
            <p:ph type="title"/>
          </p:nvPr>
        </p:nvSpPr>
        <p:spPr>
          <a:xfrm>
            <a:off x="468313" y="9810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Effect of Imperfectly Conducting </a:t>
            </a:r>
            <a:r>
              <a:rPr lang="zh-CN" altLang="en-US" sz="3600" smtClean="0">
                <a:solidFill>
                  <a:srgbClr val="C00000"/>
                </a:solidFill>
              </a:rPr>
              <a:t>，</a:t>
            </a:r>
            <a:r>
              <a:rPr lang="en-US" altLang="zh-CN" sz="3600" smtClean="0">
                <a:solidFill>
                  <a:srgbClr val="C00000"/>
                </a:solidFill>
              </a:rPr>
              <a:t>Flat Earth</a:t>
            </a:r>
            <a:endParaRPr lang="zh-CN" altLang="en-US" sz="3600" smtClean="0"/>
          </a:p>
        </p:txBody>
      </p:sp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5" y="2214563"/>
            <a:ext cx="74199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38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2000250" y="2143125"/>
            <a:ext cx="51625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313" y="2000250"/>
            <a:ext cx="6215062" cy="392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6435" name="TextBox 3"/>
          <p:cNvSpPr txBox="1">
            <a:spLocks noChangeArrowheads="1"/>
          </p:cNvSpPr>
          <p:nvPr/>
        </p:nvSpPr>
        <p:spPr bwMode="auto">
          <a:xfrm>
            <a:off x="4000500" y="6072188"/>
            <a:ext cx="11699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Fig.4.33(a)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46436" name="标题 4"/>
          <p:cNvSpPr>
            <a:spLocks noGrp="1"/>
          </p:cNvSpPr>
          <p:nvPr>
            <p:ph type="title"/>
          </p:nvPr>
        </p:nvSpPr>
        <p:spPr>
          <a:xfrm>
            <a:off x="468313" y="8366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Reflection From A Flat Surface</a:t>
            </a:r>
            <a:endParaRPr lang="zh-CN" altLang="en-US" sz="3600" smtClean="0"/>
          </a:p>
        </p:txBody>
      </p:sp>
      <p:pic>
        <p:nvPicPr>
          <p:cNvPr id="14643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1214438" y="2071688"/>
            <a:ext cx="6500812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459" name="TextBox 3"/>
          <p:cNvSpPr txBox="1">
            <a:spLocks noChangeArrowheads="1"/>
          </p:cNvSpPr>
          <p:nvPr/>
        </p:nvSpPr>
        <p:spPr bwMode="auto">
          <a:xfrm>
            <a:off x="3714750" y="6286500"/>
            <a:ext cx="11699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</a:rPr>
              <a:t>Fig.4.33(a)</a:t>
            </a:r>
            <a:endParaRPr lang="zh-CN" altLang="en-US">
              <a:latin typeface="Calibri" pitchFamily="34" charset="0"/>
            </a:endParaRPr>
          </a:p>
        </p:txBody>
      </p:sp>
      <p:sp>
        <p:nvSpPr>
          <p:cNvPr id="147460" name="标题 4"/>
          <p:cNvSpPr>
            <a:spLocks noGrp="1"/>
          </p:cNvSpPr>
          <p:nvPr>
            <p:ph type="title"/>
          </p:nvPr>
        </p:nvSpPr>
        <p:spPr>
          <a:xfrm>
            <a:off x="468313" y="10525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solidFill>
                  <a:srgbClr val="C00000"/>
                </a:solidFill>
              </a:rPr>
              <a:t>Reflection From A Spherical Surface</a:t>
            </a:r>
            <a:endParaRPr lang="zh-CN" altLang="en-US" sz="3600" smtClean="0">
              <a:solidFill>
                <a:srgbClr val="C00000"/>
              </a:solidFill>
            </a:endParaRPr>
          </a:p>
        </p:txBody>
      </p:sp>
      <p:pic>
        <p:nvPicPr>
          <p:cNvPr id="14746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 txBox="1">
            <a:spLocks/>
          </p:cNvSpPr>
          <p:nvPr/>
        </p:nvSpPr>
        <p:spPr bwMode="auto">
          <a:xfrm>
            <a:off x="2411413" y="0"/>
            <a:ext cx="6732587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Linear Elements Near or on Infinite Perfect Conductors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0" y="0"/>
            <a:ext cx="914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Homeworks</a:t>
            </a:r>
            <a:endParaRPr lang="zh-CN" altLang="en-US" sz="32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8484" name="TextBox 5"/>
          <p:cNvSpPr txBox="1">
            <a:spLocks noChangeArrowheads="1"/>
          </p:cNvSpPr>
          <p:nvPr/>
        </p:nvSpPr>
        <p:spPr bwMode="auto">
          <a:xfrm>
            <a:off x="971550" y="1341438"/>
            <a:ext cx="72739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Page 219, 4.1, 4.5(only calculate (a)), 4.29,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848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213" y="2419350"/>
            <a:ext cx="3344862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8486" name="TextBox 5"/>
          <p:cNvSpPr txBox="1">
            <a:spLocks noChangeArrowheads="1"/>
          </p:cNvSpPr>
          <p:nvPr/>
        </p:nvSpPr>
        <p:spPr bwMode="auto">
          <a:xfrm>
            <a:off x="900113" y="2276475"/>
            <a:ext cx="25923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HFSS Simulation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487" name="TextBox 6"/>
          <p:cNvSpPr txBox="1">
            <a:spLocks noChangeArrowheads="1"/>
          </p:cNvSpPr>
          <p:nvPr/>
        </p:nvSpPr>
        <p:spPr bwMode="auto">
          <a:xfrm>
            <a:off x="468313" y="5013325"/>
            <a:ext cx="32400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Frequency: 200MHz-400MHz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488" name="TextBox 7"/>
          <p:cNvSpPr txBox="1">
            <a:spLocks noChangeArrowheads="1"/>
          </p:cNvSpPr>
          <p:nvPr/>
        </p:nvSpPr>
        <p:spPr bwMode="auto">
          <a:xfrm>
            <a:off x="900113" y="5373688"/>
            <a:ext cx="7416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altLang="zh-CN">
                <a:latin typeface="Times New Roman" pitchFamily="18" charset="0"/>
                <a:cs typeface="Times New Roman" pitchFamily="18" charset="0"/>
              </a:rPr>
              <a:t>To find:</a:t>
            </a:r>
          </a:p>
          <a:p>
            <a:pPr marL="342900" indent="-342900">
              <a:buFont typeface="Wingdings" pitchFamily="2" charset="2"/>
              <a:buChar char="n"/>
            </a:pPr>
            <a:r>
              <a:rPr lang="en-US" altLang="zh-CN">
                <a:latin typeface="Times New Roman" pitchFamily="18" charset="0"/>
                <a:cs typeface="Times New Roman" pitchFamily="18" charset="0"/>
              </a:rPr>
              <a:t>Zin and VSWR (when this monopole is connected to a 50Ohm transmission line) for the whole frequency band</a:t>
            </a:r>
          </a:p>
          <a:p>
            <a:pPr marL="342900" indent="-342900">
              <a:buFont typeface="Wingdings" pitchFamily="2" charset="2"/>
              <a:buChar char="n"/>
            </a:pPr>
            <a:r>
              <a:rPr lang="en-US" altLang="zh-CN">
                <a:latin typeface="Times New Roman" pitchFamily="18" charset="0"/>
                <a:cs typeface="Times New Roman" pitchFamily="18" charset="0"/>
              </a:rPr>
              <a:t>Radiation Pattern @300MHz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arrow"/>
        </a:ln>
      </a:spPr>
      <a:bodyPr/>
      <a:lstStyle/>
      <a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3443</TotalTime>
  <Words>1737</Words>
  <Application>Microsoft Office PowerPoint</Application>
  <PresentationFormat>全屏显示(4:3)</PresentationFormat>
  <Paragraphs>372</Paragraphs>
  <Slides>144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144</vt:i4>
      </vt:variant>
    </vt:vector>
  </HeadingPairs>
  <TitlesOfParts>
    <vt:vector size="154" baseType="lpstr"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</vt:lpstr>
      <vt:lpstr>Visio</vt:lpstr>
      <vt:lpstr>Equation</vt:lpstr>
      <vt:lpstr>Review of Last Lesson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Chapter 4</vt:lpstr>
      <vt:lpstr>Agenda</vt:lpstr>
      <vt:lpstr>PowerPoint 演示文稿</vt:lpstr>
      <vt:lpstr>Infinitesimal dipole</vt:lpstr>
      <vt:lpstr>Electric Field Orientation</vt:lpstr>
      <vt:lpstr>Calculation of Radiated Fields</vt:lpstr>
      <vt:lpstr>Step one: determine the current source Frequency and Time Domain Current</vt:lpstr>
      <vt:lpstr>Step two: Vector Potential</vt:lpstr>
      <vt:lpstr>Dipole and Geometry</vt:lpstr>
      <vt:lpstr>Cartesian Coordinates-&gt;Spherical Coordinates</vt:lpstr>
      <vt:lpstr>A under Spherical Coordinates</vt:lpstr>
      <vt:lpstr>Step Three: Calculate E &amp; H Magnetic Field</vt:lpstr>
      <vt:lpstr>Electric Field</vt:lpstr>
      <vt:lpstr>Radiated Fields – Summary for all regions</vt:lpstr>
      <vt:lpstr>PowerPoint 演示文稿</vt:lpstr>
      <vt:lpstr>PowerPoint 演示文稿</vt:lpstr>
      <vt:lpstr>PowerPoint 演示文稿</vt:lpstr>
      <vt:lpstr>Outwardly Flowing Complex Power from Infinitesimal Dipole</vt:lpstr>
      <vt:lpstr>Outwardly Flowing Complex Power from Infinitesimal Dipole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Directivity</vt:lpstr>
      <vt:lpstr>Directivity</vt:lpstr>
      <vt:lpstr>Maximum Effective Area Aem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Far-field Radiation Characteristics of an Infinitesimal Dipole – Summary </vt:lpstr>
      <vt:lpstr>Dipole and Geometry </vt:lpstr>
      <vt:lpstr>Current Distribution of Small Dipole</vt:lpstr>
      <vt:lpstr>PowerPoint 演示文稿</vt:lpstr>
      <vt:lpstr>PowerPoint 演示文稿</vt:lpstr>
      <vt:lpstr>PowerPoint 演示文稿</vt:lpstr>
      <vt:lpstr>Dipole and Geometry</vt:lpstr>
      <vt:lpstr>Ideal Current Distribution</vt:lpstr>
      <vt:lpstr>PowerPoint 演示文稿</vt:lpstr>
      <vt:lpstr>PowerPoint 演示文稿</vt:lpstr>
      <vt:lpstr>Finite Dipole Geometry &amp;Far-field Approximations</vt:lpstr>
      <vt:lpstr>PowerPoint 演示文稿</vt:lpstr>
      <vt:lpstr>PowerPoint 演示文稿</vt:lpstr>
      <vt:lpstr>Ideal Sinusoidal Current Distribution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Directivity and Radiation /Input Resistance </vt:lpstr>
      <vt:lpstr>PowerPoint 演示文稿</vt:lpstr>
      <vt:lpstr>PowerPoint 演示文稿</vt:lpstr>
      <vt:lpstr>Ideal Sinusoidal Current Distribution</vt:lpstr>
      <vt:lpstr>Current Distributions Along the Length of a Linear Wire Antenna</vt:lpstr>
      <vt:lpstr>Current Distribution of a Linear Wire Antenna When Current Maximum Does not Occur at the Input Terminals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Three-Dimensional Directivity Pattern of a λ/2 Dipole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Actual and Equivalent Problems</vt:lpstr>
      <vt:lpstr>Vertical Infinitesimal Dipole above Infinite Electric Conductor (PEC)</vt:lpstr>
      <vt:lpstr>PowerPoint 演示文稿</vt:lpstr>
      <vt:lpstr>Vertical Electric Dipole above Infinite Electric Conductor(PEC)</vt:lpstr>
      <vt:lpstr>PowerPoint 演示文稿</vt:lpstr>
      <vt:lpstr>PowerPoint 演示文稿</vt:lpstr>
      <vt:lpstr>PowerPoint 演示文稿</vt:lpstr>
      <vt:lpstr>Scalloping of Amplitude Pattern of Vertical Dipole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Radiation Resistance and Directivity</vt:lpstr>
      <vt:lpstr>PowerPoint 演示文稿</vt:lpstr>
      <vt:lpstr>Modeling of the Effect of Earth on Antenna Systems</vt:lpstr>
      <vt:lpstr>Effect of Imperfectly Conducting ，Flat Earth</vt:lpstr>
      <vt:lpstr>Effect of Imperfectly Conducting ，Flat Earth</vt:lpstr>
      <vt:lpstr>PowerPoint 演示文稿</vt:lpstr>
      <vt:lpstr>Reflection From A Flat Surface</vt:lpstr>
      <vt:lpstr>Reflection From A Spherical Surface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ALEX</dc:creator>
  <cp:lastModifiedBy>hgwang</cp:lastModifiedBy>
  <cp:revision>118</cp:revision>
  <dcterms:created xsi:type="dcterms:W3CDTF">2011-10-29T08:42:51Z</dcterms:created>
  <dcterms:modified xsi:type="dcterms:W3CDTF">2019-10-07T14:38:07Z</dcterms:modified>
</cp:coreProperties>
</file>